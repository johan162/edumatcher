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900" r:id="rId4"/>
    <p:sldId id="901" r:id="rId5"/>
    <p:sldId id="902" r:id="rId6"/>
    <p:sldId id="903" r:id="rId7"/>
    <p:sldId id="904" r:id="rId8"/>
    <p:sldId id="907" r:id="rId9"/>
    <p:sldId id="905" r:id="rId10"/>
    <p:sldId id="906"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6021F-EA13-E44A-9476-6661B6116C2C}" v="1" dt="2026-08-07T05:45:46.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96"/>
    <p:restoredTop sz="81164"/>
  </p:normalViewPr>
  <p:slideViewPr>
    <p:cSldViewPr snapToGrid="0">
      <p:cViewPr varScale="1">
        <p:scale>
          <a:sx n="136" d="100"/>
          <a:sy n="136" d="100"/>
        </p:scale>
        <p:origin x="1552" y="184"/>
      </p:cViewPr>
      <p:guideLst/>
    </p:cSldViewPr>
  </p:slideViewPr>
  <p:notesTextViewPr>
    <p:cViewPr>
      <p:scale>
        <a:sx n="130" d="100"/>
        <a:sy n="13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How to use this deck</a:t>
            </a:r>
          </a:p>
          <a:p>
            <a:r>
              <a:rPr lang="en-US" dirty="0"/>
              <a:t>This is a visual, worked-example guide to implied (synthetic) orders in a matching engine. It is built for beginners: no prior markets knowledge is assumed, and every idea is shown with concrete numbers before it is generalised.</a:t>
            </a:r>
          </a:p>
          <a:p>
            <a:r>
              <a:rPr lang="en-US" b="1" dirty="0"/>
              <a:t>The one-sentence idea</a:t>
            </a:r>
          </a:p>
          <a:p>
            <a:r>
              <a:rPr lang="en-US" dirty="0"/>
              <a:t>A matching engine can take real orders resting in one instrument and automatically re-express them as live quotes in a related instrument. That re-expression is an implied order.</a:t>
            </a:r>
          </a:p>
          <a:p>
            <a:r>
              <a:rPr lang="en-US" b="1" dirty="0"/>
              <a:t>Key terms</a:t>
            </a:r>
          </a:p>
          <a:p>
            <a:r>
              <a:rPr lang="en-US" dirty="0"/>
              <a:t>Matching engine: the exchange software that stores resting orders and pairs buyers with sellers. Liquidity: the orders actually available to trade against right now. Synthetic / implied: a quote calculated from other real orders, not typed in directly by a trader.</a:t>
            </a:r>
          </a:p>
          <a:p>
            <a:r>
              <a:rPr lang="en-US" dirty="0"/>
              <a:t>Emphasise up front: implication never creates liquidity that does not already exist. We prove this carefully in Section VI.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this slide is</a:t>
            </a:r>
          </a:p>
          <a:p>
            <a:r>
              <a:rPr lang="en-US" dirty="0"/>
              <a:t>A roadmap of the whole session. Walk the audience through the six stops so they have a mental map: the order book, spreads and combos, Implied IN, Implied OUT, why it is powerful, and the catch.</a:t>
            </a:r>
          </a:p>
          <a:p>
            <a:r>
              <a:rPr lang="en-US" b="1" dirty="0"/>
              <a:t>Emphasise the arc</a:t>
            </a:r>
          </a:p>
          <a:p>
            <a:r>
              <a:rPr lang="en-US" dirty="0"/>
              <a:t>The story moves from a problem (liquidity stranded in separate books) to a mechanism (implication) to a caveat (no new liquidity, and depth must be capped). Everything hangs on that arc.</a:t>
            </a:r>
          </a:p>
          <a:p>
            <a:r>
              <a:rPr lang="en-US" b="1" dirty="0"/>
              <a:t>Key terms to flag now</a:t>
            </a:r>
          </a:p>
          <a:p>
            <a:r>
              <a:rPr lang="en-US" dirty="0"/>
              <a:t>Order book: the list of resting buy and sell orders for one instrument. Outright: a single instrument traded on its own. Spread / combo: one instrument defined as a combination of legs. We define each properly when we reach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A short primer for readers new to futures. Before we can talk about spreads and implication, the audience needs to know that oil does not trade as one thing: it trades by delivery month, and a combo order bundles two months together.</a:t>
            </a:r>
          </a:p>
          <a:p>
            <a:r>
              <a:rPr lang="en-US" b="1" dirty="0"/>
              <a:t>Key terms</a:t>
            </a:r>
          </a:p>
          <a:p>
            <a:r>
              <a:rPr lang="en-US" dirty="0"/>
              <a:t>Dated instrument: a contract for delivery in a specific named month. Combo (spread) order: a single order that trades two dated months together in a fixed ratio.</a:t>
            </a:r>
          </a:p>
          <a:p>
            <a:r>
              <a:rPr lang="en-US" dirty="0"/>
              <a:t>Keep this light. The goal is intuition, not precision. The real machinery starts in Section I.</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Six monthly WTI crude contracts, each with its own price. The point: an oil future is not just 'oil' - it is a barrel for delivery in a named month, and each month is a separate instrument with its own order book.</a:t>
            </a:r>
          </a:p>
          <a:p>
            <a:r>
              <a:rPr lang="en-US" b="1" dirty="0"/>
              <a:t>Emphasise</a:t>
            </a:r>
          </a:p>
          <a:p>
            <a:r>
              <a:rPr lang="en-US" dirty="0"/>
              <a:t>Because March oil and June oil are different instruments, you can buy one and sell the other independently. That independence is what later lets us build a spread between them.</a:t>
            </a:r>
          </a:p>
          <a:p>
            <a:r>
              <a:rPr lang="en-US" b="1" dirty="0"/>
              <a:t>Key terms</a:t>
            </a:r>
          </a:p>
          <a:p>
            <a:r>
              <a:rPr lang="en-US" dirty="0"/>
              <a:t>Future / futures contract: an agreement to buy or sell a set quantity for delivery on a future date. WTI Crude: a common US crude oil benchmark. Delivery month: the month the barrels are actually settled. Prices shown are illustrative, in dollars per barrel.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Why the same barrel costs more for a later month. March sits at 78.20, June at 79.10. The gap reflects the cost and the expectations of holding oil across time.</a:t>
            </a:r>
          </a:p>
          <a:p>
            <a:r>
              <a:rPr lang="en-US" b="1" dirty="0"/>
              <a:t>The three drivers</a:t>
            </a:r>
          </a:p>
          <a:p>
            <a:r>
              <a:rPr lang="en-US" dirty="0"/>
              <a:t>Storage and insurance: holding barrels until June costs money. Financing: cash tied up in a barrel could have earned interest elsewhere. Seasonality and outlook: expected supply and demand differ by month.</a:t>
            </a:r>
          </a:p>
          <a:p>
            <a:r>
              <a:rPr lang="en-US" b="1" dirty="0"/>
              <a:t>Key term: contango</a:t>
            </a:r>
          </a:p>
          <a:p>
            <a:r>
              <a:rPr lang="en-US" dirty="0"/>
              <a:t>Contango is when later months are more expensive than nearer months (June &gt; March), the situation drawn here. The opposite - later cheaper than nearer - is called backwardation. The month-to-month price difference is exactly what a spread trades.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A combo (spread) order bundles two legs - buy March and sell June - into ONE instrument that fills together in a fixed 1:1 ratio, priced as a single number: combo price = March - June.</a:t>
            </a:r>
          </a:p>
          <a:p>
            <a:r>
              <a:rPr lang="en-US" b="1" dirty="0"/>
              <a:t>Why it matters</a:t>
            </a:r>
          </a:p>
          <a:p>
            <a:r>
              <a:rPr lang="en-US" dirty="0"/>
              <a:t>One number to quote and one fill for both legs means no legging risk: you never end up holding one leg without the other. You are trading the relationship between the two months, not the outright direction of oil.</a:t>
            </a:r>
          </a:p>
          <a:p>
            <a:r>
              <a:rPr lang="en-US" b="1" dirty="0"/>
              <a:t>Key terms</a:t>
            </a:r>
          </a:p>
          <a:p>
            <a:r>
              <a:rPr lang="en-US" dirty="0"/>
              <a:t>Leg: one of the individual instruments inside a combo. Ratio: how many of each leg trade together (here 1:1). Legging risk: the danger of getting one leg done while the other moves away - defined fully on the workaround slide.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Walk the numbers</a:t>
            </a:r>
          </a:p>
          <a:p>
            <a:r>
              <a:rPr lang="en-US" dirty="0"/>
              <a:t>Buying one Mar-Jun combo fills both legs at once: buy the March leg at 78.20 and sell the June leg at 79.10. The combo price is March minus June = 78.20 - 79.10 = -0.90.</a:t>
            </a:r>
          </a:p>
          <a:p>
            <a:r>
              <a:rPr lang="en-US" b="1" dirty="0"/>
              <a:t>Reading a negative spread</a:t>
            </a:r>
          </a:p>
          <a:p>
            <a:r>
              <a:rPr lang="en-US" dirty="0"/>
              <a:t>A price of -0.90 simply means March is 0.90 cheaper than June; you 'pay' -0.90 for the spread. After the fill you are long the March-June time spread - one fill, both legs, no legging risk.</a:t>
            </a:r>
          </a:p>
          <a:p>
            <a:r>
              <a:rPr lang="en-US" b="1" dirty="0"/>
              <a:t>How you physically pay a negative price</a:t>
            </a:r>
          </a:p>
          <a:p>
            <a:r>
              <a:rPr lang="en-US" dirty="0"/>
              <a:t>The combo is not a single payment - it is two real cash flows, one per leg. Buying the combo means: buy the March leg, so you pay out 78.20 per barrel; and sell the June leg, so you receive 79.10 per barrel. Net the two and you actually COLLECT 79.10 - 78.20 = 0.90 per barrel. So 'paying -0.90' does not mean cash leaves your pocket - it means the two legs net to a 0.90 credit in your </a:t>
            </a:r>
            <a:r>
              <a:rPr lang="en-US" dirty="0" err="1"/>
              <a:t>favour</a:t>
            </a:r>
            <a:r>
              <a:rPr lang="en-US" dirty="0"/>
              <a:t>, because the leg you sell (June) is dearer than the leg you buy (March). Per standard 1,000-barrel contract that is about a 900 dollar net credit at the fill.</a:t>
            </a:r>
          </a:p>
          <a:p>
            <a:r>
              <a:rPr lang="en-US" b="1" dirty="0"/>
              <a:t>Is that credit free money? No</a:t>
            </a:r>
          </a:p>
          <a:p>
            <a:r>
              <a:rPr lang="en-US" dirty="0"/>
              <a:t>The 0.90 you collect is your entry level, not profit. You now hold a long March-June spread (long March, short June) opened at -0.90, and from here it is marked to market: you gain only if the spread rises - that is, if March strengthens relative to June. You close by selling the spread (sell March, buy June); if you close at, say, -0.50, you made 0.40 per barrel. In practice futures move cash through margin and daily settlement rather than one up-front payment, but the netting direction is exactly this: the dearer leg you sold funds the cheaper leg you bought.</a:t>
            </a:r>
          </a:p>
          <a:p>
            <a:r>
              <a:rPr lang="en-US" b="1" dirty="0"/>
              <a:t>What if it had been +0.90 instead</a:t>
            </a:r>
          </a:p>
          <a:p>
            <a:r>
              <a:rPr lang="en-US" dirty="0"/>
              <a:t>A price of +0.90 flips the sign: March would be 0.90 DEARER than June (June the cheaper leg). Buying the same combo - buy March, sell June - now means you pay the higher price for March and receive the lower price for June, so the two legs net to a 0.90 DEBIT: cash actually leaves your pocket (about 900 dollars per contract). The position and its profit direction are identical - long the spread still profits if March gains on June - only the entry cash flow changes from a credit to a debit. In short, the sign of the spread price tells you which leg is pricier, and therefore whether opening the trade pays you or costs you at the moment of the fill; the magnitude (0.90) is how far apart the two months are.</a:t>
            </a:r>
          </a:p>
          <a:p>
            <a:r>
              <a:rPr lang="en-US" b="1" dirty="0"/>
              <a:t>Key term: time spread</a:t>
            </a:r>
          </a:p>
          <a:p>
            <a:r>
              <a:rPr lang="en-US" dirty="0"/>
              <a:t>A time (calendar) spread is a position in the price difference between two delivery months of the same product. Prices here are illustrative, in dollars per barrel.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Where we are</a:t>
            </a:r>
          </a:p>
          <a:p>
            <a:r>
              <a:rPr lang="en-US" dirty="0"/>
              <a:t>Last slide you bought one Mar-Jun combo and became LONG the time spread at an entry price of -0.90 (March 78.20 minus June 79.10). Holding the spread is not the goal in itself - you now need to close it to turn a paper gain into a </a:t>
            </a:r>
            <a:r>
              <a:rPr lang="en-US" dirty="0" err="1"/>
              <a:t>realised</a:t>
            </a:r>
            <a:r>
              <a:rPr lang="en-US" dirty="0"/>
              <a:t> one. This slide shows how.</a:t>
            </a:r>
          </a:p>
          <a:p>
            <a:r>
              <a:rPr lang="en-US" b="1" dirty="0"/>
              <a:t>What 'long the spread' pays off on</a:t>
            </a:r>
          </a:p>
          <a:p>
            <a:r>
              <a:rPr lang="en-US" dirty="0"/>
              <a:t>Being long the March-June spread means you profit when the spread RISES - that is, when March gains on June (March strengthens relative to June, or June weakens relative to March). You do not need either outright price to go any particular way; only the DIFFERENCE between them matters.</a:t>
            </a:r>
          </a:p>
          <a:p>
            <a:r>
              <a:rPr lang="en-US" b="1" dirty="0"/>
              <a:t>The market moves in your </a:t>
            </a:r>
            <a:r>
              <a:rPr lang="en-US" b="1" dirty="0" err="1"/>
              <a:t>favour</a:t>
            </a:r>
            <a:endParaRPr lang="en-US" b="1" dirty="0"/>
          </a:p>
          <a:p>
            <a:r>
              <a:rPr lang="en-US" dirty="0"/>
              <a:t>Say March rallies from 78.20 to 78.70 while June stays at 79.10. The spread revalues to 78.70 - 79.10 = -0.40. It has moved from -0.90 up to -0.40: still negative, but 0.50 higher (less negative) than where you bought it. 'The spread rose' simply means this number went up.</a:t>
            </a:r>
          </a:p>
          <a:p>
            <a:r>
              <a:rPr lang="en-US" b="1" dirty="0" err="1"/>
              <a:t>Realising</a:t>
            </a:r>
            <a:r>
              <a:rPr lang="en-US" b="1" dirty="0"/>
              <a:t> the profit: sell the spread back</a:t>
            </a:r>
          </a:p>
          <a:p>
            <a:r>
              <a:rPr lang="en-US" dirty="0"/>
              <a:t>To take profit you close the position by SELLING one Mar-Jun combo - the exact mirror of the buy. Selling the spread means sell the March leg and buy back the June leg, in one fill, again with no legging risk. You close at the current level of -0.40, having originally opened at -0.90.</a:t>
            </a:r>
          </a:p>
          <a:p>
            <a:r>
              <a:rPr lang="en-US" b="1" dirty="0"/>
              <a:t>The P&amp;L arithmetic</a:t>
            </a:r>
          </a:p>
          <a:p>
            <a:r>
              <a:rPr lang="en-US" dirty="0"/>
              <a:t>Profit on a long spread = exit price minus entry price = -0.40 - (-0.90) = +0.50 per barrel. Subtracting a negative adds it back, which is why closing at a higher (less negative) level than you paid produces a gain. At a standard 1,000-barrel contract, 0.50 per barrel is about +500 dollars. Had the spread instead fallen - say to -1.20 - the same formula gives -1.20 - (-0.90) = -0.30 per barrel, a loss; the direction of the spread is everything.</a:t>
            </a:r>
          </a:p>
          <a:p>
            <a:r>
              <a:rPr lang="en-US" b="1" dirty="0"/>
              <a:t>Key terms</a:t>
            </a:r>
          </a:p>
          <a:p>
            <a:r>
              <a:rPr lang="en-US" dirty="0" err="1"/>
              <a:t>Realise</a:t>
            </a:r>
            <a:r>
              <a:rPr lang="en-US" dirty="0"/>
              <a:t> / take profit: close an open position so the mark-to-market gain becomes cash. Mirror trade: the opposite order that flattens your position (here, sell the combo you earlier bought). Long a spread profits when the spread widens upward; short a spread profits when it falls. Prices are illustrative, in dollars per barrel.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problem, set up</a:t>
            </a:r>
          </a:p>
          <a:p>
            <a:r>
              <a:rPr lang="en-US" dirty="0"/>
              <a:t>You want to trade the March-June spread. Both outright books are full of resting orders, yet the spread's own book is empty - there is nothing to trade against. The spread looks dead even though the legs are liquid.</a:t>
            </a:r>
          </a:p>
          <a:p>
            <a:r>
              <a:rPr lang="en-US" b="1" dirty="0"/>
              <a:t>Emphasise</a:t>
            </a:r>
          </a:p>
          <a:p>
            <a:r>
              <a:rPr lang="en-US" dirty="0"/>
              <a:t>The liquidity is not missing; it is locked inside the two leg books. Anyone looking only at the spread book cannot see it. This is the stranded-liquidity problem implied orders solve.</a:t>
            </a:r>
          </a:p>
          <a:p>
            <a:r>
              <a:rPr lang="en-US" b="1" dirty="0"/>
              <a:t>Key terms</a:t>
            </a:r>
          </a:p>
          <a:p>
            <a:r>
              <a:rPr lang="en-US" dirty="0"/>
              <a:t>Resting order: an order sitting in the book waiting to trade. Ask: an offer to sell. Bid: an offer to buy. Empty book: no resting bids or asks in that instrument.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workaround and its danger</a:t>
            </a:r>
          </a:p>
          <a:p>
            <a:r>
              <a:rPr lang="en-US" dirty="0"/>
              <a:t>With no market in the spread, your only option is to leg in: send two separate orders and fill them one at a time. The three cards show how that goes wrong - buy March at 100, turn to sell June, but June's bid has slipped from 97 to 95 while you acted.</a:t>
            </a:r>
          </a:p>
          <a:p>
            <a:r>
              <a:rPr lang="en-US" b="1" dirty="0"/>
              <a:t>The cost</a:t>
            </a:r>
          </a:p>
          <a:p>
            <a:r>
              <a:rPr lang="en-US" dirty="0"/>
              <a:t>Instead of a spread of 3 (100 - 97), you end up paying 5 (100 - 95), or you sit half-done with a naked leg. That is legging risk.</a:t>
            </a:r>
          </a:p>
          <a:p>
            <a:r>
              <a:rPr lang="en-US" b="1" dirty="0"/>
              <a:t>Key term: legging risk</a:t>
            </a:r>
          </a:p>
          <a:p>
            <a:r>
              <a:rPr lang="en-US" dirty="0"/>
              <a:t>Legging risk is the risk that, when filling a multi-leg trade one leg at a time, the market moves between fills - leaving you at a worse combined price or with an unintended open position. This motivates the engine's solution on the next slide.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is claiming</a:t>
            </a:r>
          </a:p>
          <a:p>
            <a:r>
              <a:rPr lang="en-US" dirty="0"/>
              <a:t>Even though the March–June spread has no orders of its own, the matching engine can still publish a live two-sided market in it: a bid of 1 and an ask of 3. Neither price is typed in by a trader — both are calculated entirely from the real orders already resting in the two outright leg books.</a:t>
            </a:r>
          </a:p>
          <a:p>
            <a:r>
              <a:rPr lang="en-US" b="1" dirty="0"/>
              <a:t>The inputs (best prices in each leg)</a:t>
            </a:r>
          </a:p>
          <a:p>
            <a:r>
              <a:rPr lang="en-US" dirty="0"/>
              <a:t>March: best bid 99, best ask 100.  June: best bid 97, best ask 98. The spread is defined as March minus June, so buying the spread = buy March + sell June, and selling the spread = sell March + buy June.</a:t>
            </a:r>
          </a:p>
          <a:p>
            <a:r>
              <a:rPr lang="en-US" b="1" dirty="0"/>
              <a:t>Why the implied BID is 1</a:t>
            </a:r>
          </a:p>
          <a:p>
            <a:r>
              <a:rPr lang="en-US" dirty="0"/>
              <a:t>The bid is the best price at which someone could SELL the spread using the legs. Selling the spread means sell March and buy June: you sell March into its best bid of 99 and buy June at its best ask of 98. Net = 99 - 98 = 1. So there is effectively a buyer of the spread standing at 1 — that is the implied bid.</a:t>
            </a:r>
          </a:p>
          <a:p>
            <a:r>
              <a:rPr lang="en-US" b="1" dirty="0"/>
              <a:t>Why the implied ASK is 3</a:t>
            </a:r>
          </a:p>
          <a:p>
            <a:r>
              <a:rPr lang="en-US" dirty="0"/>
              <a:t>The ask is the best price at which someone could BUY the spread using the legs. Buying the spread means buy March and sell June: you buy March at its best ask of 100 and sell June into its best bid of 97. Net cost = 100 - 97 = 3. So the spread can be bought at 3 — that is the implied ask.</a:t>
            </a:r>
          </a:p>
          <a:p>
            <a:r>
              <a:rPr lang="en-US" b="1" dirty="0"/>
              <a:t>The formula in one line</a:t>
            </a:r>
          </a:p>
          <a:p>
            <a:r>
              <a:rPr lang="en-US" dirty="0"/>
              <a:t>Implied spread bid = March bid - June ask = 99 - 98 = 1. Implied spread ask = March ask - June bid = 100 - 97 = 3. Each side pairs the sell price of one leg with the buy price of the other; the 1-to-3 gap is simply the two leg bid-ask spreads added together.</a:t>
            </a:r>
          </a:p>
          <a:p>
            <a:r>
              <a:rPr lang="en-US" b="1" dirty="0"/>
              <a:t>The point to stress</a:t>
            </a:r>
          </a:p>
          <a:p>
            <a:r>
              <a:rPr lang="en-US" dirty="0"/>
              <a:t>Nothing here is invented. Every implied price is backed by real orders already sitting in the March and June books, and the implied size can only be as large as the smaller of the two leg orders behind it, since both legs must trade together. If a leg order is cancelled or filled, the implied bid or ask instantly changes or disappears — the engine is re-expressing existing liquidity in a new instrument, not creating any.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Foundations. Before implication makes sense we need three building blocks: the order book, the outright instrument, and the spread built on top of outrights. This section defines each with numbers.</a:t>
            </a:r>
          </a:p>
          <a:p>
            <a:r>
              <a:rPr lang="en-US" dirty="0"/>
              <a:t>Tell the audience these terms will recur constantly - it is worth getting them solid here.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A single instrument's order book. Each row is a price level; the size number is how much quantity is resting there. Asks (people willing to sell) sit above; bids (people willing to buy) sit below.</a:t>
            </a:r>
          </a:p>
          <a:p>
            <a:r>
              <a:rPr lang="en-US" b="1" dirty="0"/>
              <a:t>How matching works</a:t>
            </a:r>
          </a:p>
          <a:p>
            <a:r>
              <a:rPr lang="en-US" dirty="0"/>
              <a:t>A trade happens when a buyer and seller agree on price - the highest bid meets the lowest ask. The lowest ask is the best price to buy at; the highest bid is the best price to sell at.</a:t>
            </a:r>
          </a:p>
          <a:p>
            <a:r>
              <a:rPr lang="en-US" b="1" dirty="0"/>
              <a:t>Key terms</a:t>
            </a:r>
          </a:p>
          <a:p>
            <a:r>
              <a:rPr lang="en-US" dirty="0"/>
              <a:t>Price level: a price at which one or more orders rest. Size: quantity available at that level. Ask / offer: willingness to sell. Bid: willingness to buy. Match / fill: when two opposite orders trade.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An outright is just one instrument, bought or sold on its own - here the March crude future. Its price stands alone, hence 'outright'. Two directions (buy or sell), one instrument.</a:t>
            </a:r>
          </a:p>
          <a:p>
            <a:r>
              <a:rPr lang="en-US" b="1" dirty="0"/>
              <a:t>Read the book</a:t>
            </a:r>
          </a:p>
          <a:p>
            <a:r>
              <a:rPr lang="en-US" dirty="0"/>
              <a:t>In March's live book the best market is: buy at 100 (best ask), sell at 99 (best bid). Keep these numbers in mind - the same March/June books recur through the Implied IN section.</a:t>
            </a:r>
          </a:p>
          <a:p>
            <a:r>
              <a:rPr lang="en-US" b="1" dirty="0"/>
              <a:t>Key term: outright</a:t>
            </a:r>
          </a:p>
          <a:p>
            <a:r>
              <a:rPr lang="en-US" dirty="0"/>
              <a:t>Outright: a standalone instrument whose price is quoted directly, as opposed to a spread whose price is defined relative to its legs.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The best ask (100, where you buy) and best bid (99, where you sell), and the gap between them: the bid-ask spread, 100 - 99 = 1.</a:t>
            </a:r>
          </a:p>
          <a:p>
            <a:r>
              <a:rPr lang="en-US" b="1" dirty="0"/>
              <a:t>Why it matters</a:t>
            </a:r>
          </a:p>
          <a:p>
            <a:r>
              <a:rPr lang="en-US" dirty="0"/>
              <a:t>The bid-ask spread is the cost a taker pays to cross the market immediately. Tighter is better for traders - and implied orders help tighten it, which is the whole payoff later.</a:t>
            </a:r>
          </a:p>
          <a:p>
            <a:r>
              <a:rPr lang="en-US" b="1" dirty="0"/>
              <a:t>Key terms</a:t>
            </a:r>
          </a:p>
          <a:p>
            <a:r>
              <a:rPr lang="en-US" dirty="0"/>
              <a:t>Best bid: highest price anyone will buy at. Best ask: lowest price anyone will sell at. Bid-ask spread: best ask minus best bid. Taker: someone who crosses the spread to trade now, versus a maker who posts a resting order. Note: 'bid-ask spread' is a different use of the word 'spread' from a calendar spread.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A spread is ONE tradeable instrument made of TWO legs. Definition on the slide: Spread = March - June. Buying it does both trades at once in fixed proportion.</a:t>
            </a:r>
          </a:p>
          <a:p>
            <a:r>
              <a:rPr lang="en-US" b="1" dirty="0"/>
              <a:t>The two directions</a:t>
            </a:r>
          </a:p>
          <a:p>
            <a:r>
              <a:rPr lang="en-US" dirty="0"/>
              <a:t>Buy the spread = buy March + sell June. Sell the spread = sell March + buy June. One price, two legs. This decomposition is the key to every implied calculation that follows.</a:t>
            </a:r>
          </a:p>
          <a:p>
            <a:r>
              <a:rPr lang="en-US" b="1" dirty="0"/>
              <a:t>Key term: calendar spread</a:t>
            </a:r>
          </a:p>
          <a:p>
            <a:r>
              <a:rPr lang="en-US" dirty="0"/>
              <a:t>Calendar (time) spread: a spread between two delivery months of the same product. It is quoted as the price difference, so its value can be small or even negative.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traders quote spreads directly</a:t>
            </a:r>
          </a:p>
          <a:p>
            <a:r>
              <a:rPr lang="en-US" dirty="0"/>
              <a:t>Three reasons: rolling positions (move exposure from an expiring month to the next in one trade), trading relationships (bet on the gap between months, not outright direction), and lower leg risk (both legs fill together, avoiding being half-done).</a:t>
            </a:r>
          </a:p>
          <a:p>
            <a:r>
              <a:rPr lang="en-US" b="1" dirty="0"/>
              <a:t>The hook into the problem</a:t>
            </a:r>
          </a:p>
          <a:p>
            <a:r>
              <a:rPr lang="en-US" dirty="0"/>
              <a:t>Because spreads trade in their own right, they need their own order book - and that is exactly where liquidity gets stranded. This sets up the fragmentation problem on the next slide.</a:t>
            </a:r>
          </a:p>
          <a:p>
            <a:r>
              <a:rPr lang="en-US" b="1" dirty="0"/>
              <a:t>Key term: rolling</a:t>
            </a:r>
          </a:p>
          <a:p>
            <a:r>
              <a:rPr lang="en-US" dirty="0"/>
              <a:t>Rolling: closing a position in a nearer month and reopening it in a later month, commonly done as a single spread trade.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The fragmentation problem. Each instrument has its own walled-off book. A spread trader and two outright traders may want exactly matching business yet never see each other, because their orders live in different books.</a:t>
            </a:r>
          </a:p>
          <a:p>
            <a:r>
              <a:rPr lang="en-US" b="1" dirty="0"/>
              <a:t>Emphasise</a:t>
            </a:r>
          </a:p>
          <a:p>
            <a:r>
              <a:rPr lang="en-US" dirty="0"/>
              <a:t>The March and June books are deep and liquid; the spread book is thin or empty. The willingness to trade exists - it is just scattered across separate books. Implication is the bridge between them.</a:t>
            </a:r>
          </a:p>
          <a:p>
            <a:r>
              <a:rPr lang="en-US" b="1" dirty="0"/>
              <a:t>Key term: fragmentation</a:t>
            </a:r>
          </a:p>
          <a:p>
            <a:r>
              <a:rPr lang="en-US" dirty="0"/>
              <a:t>Fragmentation: liquidity split across multiple separate books so that naturally matching interest does not meet.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The problem made concrete. We take a specific trade that clearly should happen and show that, without help, the separate books cannot find each other. This builds the motivation before we introduce the mechanism.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Concrete scenario: March and June books are both liquid, but the March-June spread book shows no bids and no asks. A customer wants to buy the spread at a fair price and sees nothing - to them the market looks dead.</a:t>
            </a:r>
          </a:p>
          <a:p>
            <a:r>
              <a:rPr lang="en-US" b="1" dirty="0"/>
              <a:t>Emphasise</a:t>
            </a:r>
          </a:p>
          <a:p>
            <a:r>
              <a:rPr lang="en-US" dirty="0"/>
              <a:t>Note the best prices we will reuse: March best bid 99 / best ask 100; June best bid 97 / best ask 98. Everything in Section III is built from exactly these numbers.</a:t>
            </a:r>
          </a:p>
          <a:p>
            <a:r>
              <a:rPr lang="en-US" b="1" dirty="0"/>
              <a:t>Key term reminder</a:t>
            </a:r>
          </a:p>
          <a:p>
            <a:r>
              <a:rPr lang="en-US" dirty="0"/>
              <a:t>Two-sided market: a book that has both a bid and an ask. The spread here is currently one-sided (in fact zero-sided): empty.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key insight</a:t>
            </a:r>
          </a:p>
          <a:p>
            <a:r>
              <a:rPr lang="en-US" dirty="0"/>
              <a:t>Combine the leg books and the spread is already tradeable. To sell the spread synthetically: sell March into its best bid (99) and buy June from its best ask (98). Net spread = 99 - 98 = 1. So the spread is sellable at 1.</a:t>
            </a:r>
          </a:p>
          <a:p>
            <a:r>
              <a:rPr lang="en-US" b="1" dirty="0"/>
              <a:t>Emphasise</a:t>
            </a:r>
          </a:p>
          <a:p>
            <a:r>
              <a:rPr lang="en-US" dirty="0"/>
              <a:t>The willingness to trade already exists, parked in the March and June books. Nothing new is created. The only missing piece is someone to post that price in the spread book automatically - which is what the engine does.</a:t>
            </a:r>
          </a:p>
          <a:p>
            <a:r>
              <a:rPr lang="en-US" b="1" dirty="0"/>
              <a:t>Key term: synthetic</a:t>
            </a:r>
          </a:p>
          <a:p>
            <a:r>
              <a:rPr lang="en-US" dirty="0"/>
              <a:t>Synthetic quote: a price constructed from other real orders rather than posted directly. Here the synthetic spread bid of 1 is backed by the real March bid and June ask.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framing question</a:t>
            </a:r>
          </a:p>
          <a:p>
            <a:r>
              <a:rPr lang="en-US" dirty="0"/>
              <a:t>If the orders needed to make a market already exist in related books, why should a trader have to find and combine them by hand? Answer: they should not. The matching engine does it for them - continuously and automatically.</a:t>
            </a:r>
          </a:p>
          <a:p>
            <a:r>
              <a:rPr lang="en-US" b="1" dirty="0"/>
              <a:t>The reveal</a:t>
            </a:r>
          </a:p>
          <a:p>
            <a:r>
              <a:rPr lang="en-US" dirty="0"/>
              <a:t>The engine publishes implied orders: synthetic quotes derived from real ones in other instruments. This is the definition the rest of the deck unpacks.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Formal definition</a:t>
            </a:r>
          </a:p>
          <a:p>
            <a:r>
              <a:rPr lang="en-US" dirty="0"/>
              <a:t>An implied order is a synthetic bid or ask the engine posts in one instrument, derived from real resting orders in related instruments, and executable only by trading those real orders.</a:t>
            </a:r>
          </a:p>
          <a:p>
            <a:r>
              <a:rPr lang="en-US" b="1" dirty="0"/>
              <a:t>Three properties to stress</a:t>
            </a:r>
          </a:p>
          <a:p>
            <a:r>
              <a:rPr lang="en-US" dirty="0"/>
              <a:t>Real-backed: every implied order points to specific real orders behind it. Automatic: it is recalculated live as the underlying books change. Disappears: if the real orders vanish, the implied one instantly vanishes too.</a:t>
            </a:r>
          </a:p>
          <a:p>
            <a:r>
              <a:rPr lang="en-US" b="1" dirty="0"/>
              <a:t>Why this matters</a:t>
            </a:r>
          </a:p>
          <a:p>
            <a:r>
              <a:rPr lang="en-US" dirty="0"/>
              <a:t>These three properties are exactly why implication adds no new liquidity - a point we prove in Section VI. Plant the seed now.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Implied IN: turning real outright leg orders into a synthetic quote in the spread book. 'IN' because liquidity flows INTO the combined (spread) instrument from its legs.</a:t>
            </a:r>
          </a:p>
          <a:p>
            <a:r>
              <a:rPr lang="en-US" dirty="0"/>
              <a:t>We will build the spread's bid and its ask from the March and June books, step by step.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The two leg books we will use, with best prices pulled out: March bid 99, March ask 100; June bid 97, June ask 98. Spread is defined as March - June.</a:t>
            </a:r>
          </a:p>
          <a:p>
            <a:r>
              <a:rPr lang="en-US" b="1" dirty="0"/>
              <a:t>What is coming</a:t>
            </a:r>
          </a:p>
          <a:p>
            <a:r>
              <a:rPr lang="en-US" dirty="0"/>
              <a:t>Over the next two slides we imply the spread's bid and ask from these four best prices. Encourage the audience to keep the four numbers in view.</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Build the implied spread BID</a:t>
            </a:r>
          </a:p>
          <a:p>
            <a:r>
              <a:rPr lang="en-US" dirty="0"/>
              <a:t>The implied bid is the best price at which the spread can be SOLD using the legs. Selling the spread means sell March (hit the March bid, 99) and buy June (lift the June ask, 98). So implied spread bid = 99 - 98 = 1.</a:t>
            </a:r>
          </a:p>
          <a:p>
            <a:r>
              <a:rPr lang="en-US" b="1" dirty="0"/>
              <a:t>Formula and size</a:t>
            </a:r>
          </a:p>
          <a:p>
            <a:r>
              <a:rPr lang="en-US" dirty="0"/>
              <a:t>Implied spread bid = March bid - June ask. The available size is limited by the smaller of the two leg orders: size = min(10, 18) = 10. You cannot trade more spread than the thinner leg supports.</a:t>
            </a:r>
          </a:p>
          <a:p>
            <a:r>
              <a:rPr lang="en-US" b="1" dirty="0"/>
              <a:t>Key term: implied bid</a:t>
            </a:r>
          </a:p>
          <a:p>
            <a:r>
              <a:rPr lang="en-US" dirty="0"/>
              <a:t>Implied bid: a synthetic buy-side price the engine shows, here meaning 'someone can be sold to at 1' via the legs.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Build the implied spread ASK</a:t>
            </a:r>
          </a:p>
          <a:p>
            <a:r>
              <a:rPr lang="en-US" dirty="0"/>
              <a:t>The implied ask is the best price at which the spread can be BOUGHT using the legs. Buying the spread means buy March (lift the March ask, 100) and sell June (hit the June bid, 97). So implied spread ask = 100 - 97 = 3.</a:t>
            </a:r>
          </a:p>
          <a:p>
            <a:r>
              <a:rPr lang="en-US" b="1" dirty="0"/>
              <a:t>Formula and size</a:t>
            </a:r>
          </a:p>
          <a:p>
            <a:r>
              <a:rPr lang="en-US" dirty="0"/>
              <a:t>Implied spread ask = March ask - June bid. Size = min(30, 15) = 15, again capped by the smaller leg.</a:t>
            </a:r>
          </a:p>
          <a:p>
            <a:r>
              <a:rPr lang="en-US" b="1" dirty="0"/>
              <a:t>Tie it together</a:t>
            </a:r>
          </a:p>
          <a:p>
            <a:r>
              <a:rPr lang="en-US" dirty="0"/>
              <a:t>We now have both sides: implied bid 1, implied ask 3 - a full two-sided spread market conjured from the leg books. The 1-to-3 gap is just the two leg bid-ask spreads added together.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Before and after</a:t>
            </a:r>
          </a:p>
          <a:p>
            <a:r>
              <a:rPr lang="en-US" dirty="0"/>
              <a:t>Before, the spread book was empty. After, it shows a live two-sided market - ask 3 (size 15) and bid 1 (size 10) - entirely implied. Every price here is backed by real March and June orders.</a:t>
            </a:r>
          </a:p>
          <a:p>
            <a:r>
              <a:rPr lang="en-US" b="1" dirty="0"/>
              <a:t>Emphasise</a:t>
            </a:r>
          </a:p>
          <a:p>
            <a:r>
              <a:rPr lang="en-US" dirty="0"/>
              <a:t>Nothing was typed into the spread book by any trader. The engine created a visible, tradeable market purely by re-expressing orders that already existed in the legs.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Watch it execute</a:t>
            </a:r>
          </a:p>
          <a:p>
            <a:r>
              <a:rPr lang="en-US" dirty="0"/>
              <a:t>A customer sells 10 of the spread at the implied bid of 1. The engine unwinds that single order into the real books: the March bidder buys March at 99, the June offerer sells June at 98, and the customer nets a spread of 1.</a:t>
            </a:r>
          </a:p>
          <a:p>
            <a:r>
              <a:rPr lang="en-US" b="1" dirty="0"/>
              <a:t>The punchline</a:t>
            </a:r>
          </a:p>
          <a:p>
            <a:r>
              <a:rPr lang="en-US" dirty="0"/>
              <a:t>Three parties trade in one instant. The implied bid was just a convenient face on orders that were already there. No extra participant and no extra liquidity were needed.</a:t>
            </a:r>
          </a:p>
          <a:p>
            <a:r>
              <a:rPr lang="en-US" b="1" dirty="0"/>
              <a:t>Key term: unwind</a:t>
            </a:r>
          </a:p>
          <a:p>
            <a:r>
              <a:rPr lang="en-US" dirty="0"/>
              <a:t>Unwind: the engine translating a fill in the implied instrument into the matching real trades in the underlying leg books.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Summary of Implied IN</a:t>
            </a:r>
          </a:p>
          <a:p>
            <a:r>
              <a:rPr lang="en-US" dirty="0"/>
              <a:t>Real leg orders become an implied spread quote. 'IN' because liquidity flows INTO the combined instrument from its legs.</a:t>
            </a:r>
          </a:p>
          <a:p>
            <a:r>
              <a:rPr lang="en-US" b="1" dirty="0"/>
              <a:t>The two formulas to remember</a:t>
            </a:r>
          </a:p>
          <a:p>
            <a:r>
              <a:rPr lang="en-US" dirty="0"/>
              <a:t>Implied spread BID = March bid - June ask. Implied spread ASK = March ask - June bid. Every Implied IN calculation is just these subtractions on best prices.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Implied OUT: the reverse direction. A real spread order plus one real leg imply a synthetic quote in the other outright. 'OUT' because liquidity flows OUT of the combined instrument into an outright leg.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Now the spread book is NOT empty: someone is bidding the spread at 2 (buy March, sell June), size 10. Combined with a real June order, we will turn that into a March outright bid.</a:t>
            </a:r>
          </a:p>
          <a:p>
            <a:r>
              <a:rPr lang="en-US" b="1" dirty="0"/>
              <a:t>The setup to watch</a:t>
            </a:r>
          </a:p>
          <a:p>
            <a:r>
              <a:rPr lang="en-US" dirty="0"/>
              <a:t>March's own best bid is only 98 - weak. Watch the implied bid improve it on the next slide. June best bid is 97.</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Build the implied MARCH bid</a:t>
            </a:r>
          </a:p>
          <a:p>
            <a:r>
              <a:rPr lang="en-US" dirty="0"/>
              <a:t>The spread buyer needs to buy March and sell June. Hand the 'sell June' leg to a real June buyer at the June bid of 97; what remains is a March bid. Implied March bid = spread 2 + 97 = 99.</a:t>
            </a:r>
          </a:p>
          <a:p>
            <a:r>
              <a:rPr lang="en-US" b="1" dirty="0"/>
              <a:t>Emphasise</a:t>
            </a:r>
          </a:p>
          <a:p>
            <a:r>
              <a:rPr lang="en-US" dirty="0"/>
              <a:t>The synthetic bid of 99 betters March's real book (which was only 98). Implication does not just fill empty books - it can tighten an existing one.</a:t>
            </a:r>
          </a:p>
          <a:p>
            <a:r>
              <a:rPr lang="en-US" b="1" dirty="0"/>
              <a:t>Formula</a:t>
            </a:r>
          </a:p>
          <a:p>
            <a:r>
              <a:rPr lang="en-US" dirty="0"/>
              <a:t>Implied A bid = Spread bid + B bid (here March bid = spread + June bid). It is the same subtraction logic rearranged.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Watch it execute</a:t>
            </a:r>
          </a:p>
          <a:p>
            <a:r>
              <a:rPr lang="en-US" dirty="0"/>
              <a:t>A seller hits the implied March bid of 99 with 10 lots. The engine routes it: the incoming seller sells March at 99; the spread bidder buys March at 99 and sells June at 97; the June bidder buys June at 97. The spread bidder nets 99 - 97 = 2, exactly as posted.</a:t>
            </a:r>
          </a:p>
          <a:p>
            <a:r>
              <a:rPr lang="en-US" b="1" dirty="0"/>
              <a:t>The punchline</a:t>
            </a:r>
          </a:p>
          <a:p>
            <a:r>
              <a:rPr lang="en-US" dirty="0"/>
              <a:t>The spread order and the June order already existed. The implied March bid simply let a March seller reach them. Again: re-expression, not creation.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All implication is arithmetic on best prices</a:t>
            </a:r>
          </a:p>
          <a:p>
            <a:r>
              <a:rPr lang="en-US" dirty="0"/>
              <a:t>For Spread = A - B, there are four building blocks. IN: implied spread bid = A bid - B ask; implied spread ask = A ask - B bid. OUT: implied A bid = spread bid + B bid; implied B ask = A ask - spread bid.</a:t>
            </a:r>
          </a:p>
          <a:p>
            <a:r>
              <a:rPr lang="en-US" b="1" dirty="0"/>
              <a:t>The single principle</a:t>
            </a:r>
          </a:p>
          <a:p>
            <a:r>
              <a:rPr lang="en-US" dirty="0"/>
              <a:t>Every case reshuffles real orders across instruments so that a posted price is guaranteed to be executable. If you remember the decomposition (buy spread = buy A + sell B), you can re-derive any of these on the spot.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Summary of Implied OUT</a:t>
            </a:r>
          </a:p>
          <a:p>
            <a:r>
              <a:rPr lang="en-US" dirty="0"/>
              <a:t>A spread order plus a real leg becomes an implied outright quote. 'OUT' because liquidity flows OUT of the combined instrument into an outright leg.</a:t>
            </a:r>
          </a:p>
          <a:p>
            <a:r>
              <a:rPr lang="en-US" b="1" dirty="0"/>
              <a:t>IN and OUT together</a:t>
            </a:r>
          </a:p>
          <a:p>
            <a:r>
              <a:rPr lang="en-US" dirty="0"/>
              <a:t>IN and OUT are two directions of the same bridge. Running both continuously keeps every related book in sync automatically - a change anywhere refreshes implied prices everywhere.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Why implication is so powerful. Taken in combination across many instruments, it makes markets tighter, deeper-looking, and more likely to fill - all from the same underlying orders.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core payoff</a:t>
            </a:r>
          </a:p>
          <a:p>
            <a:r>
              <a:rPr lang="en-US" dirty="0"/>
              <a:t>Add implied quotes to a book and the best bid/ask can only stay the same or improve, never worsen. Here a real-only market of bid 98 / ask 101 (3 wide) becomes bid 99 / ask 100 (1 wide) once implieds are included.</a:t>
            </a:r>
          </a:p>
          <a:p>
            <a:r>
              <a:rPr lang="en-US" b="1" dirty="0"/>
              <a:t>Emphasise</a:t>
            </a:r>
          </a:p>
          <a:p>
            <a:r>
              <a:rPr lang="en-US" dirty="0"/>
              <a:t>Same underlying orders, a much tighter market. Takers pay less to cross. The improvement is free in the sense that it uses liquidity that already existed.</a:t>
            </a:r>
          </a:p>
          <a:p>
            <a:r>
              <a:rPr lang="en-US" b="1" dirty="0"/>
              <a:t>Key term: market width</a:t>
            </a:r>
          </a:p>
          <a:p>
            <a:r>
              <a:rPr lang="en-US" dirty="0"/>
              <a:t>Width: the size of the bid-ask spread. A '1-wide' market is tighter (better) than a '3-wide' one.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In a strip of months, every outright and every spread can imply into the others - a connected mesh (green = outright, cyan = spread). A single new leg order can refresh implied prices across many books at once.</a:t>
            </a:r>
          </a:p>
          <a:p>
            <a:r>
              <a:rPr lang="en-US" b="1" dirty="0"/>
              <a:t>Emphasise</a:t>
            </a:r>
          </a:p>
          <a:p>
            <a:r>
              <a:rPr lang="en-US" dirty="0"/>
              <a:t>This connectivity is why implication scales: one order does work everywhere. It is also why the workload grows - the setup for Section VII.</a:t>
            </a:r>
          </a:p>
          <a:p>
            <a:r>
              <a:rPr lang="en-US" b="1" dirty="0"/>
              <a:t>Key term: strip</a:t>
            </a:r>
          </a:p>
          <a:p>
            <a:r>
              <a:rPr lang="en-US" dirty="0"/>
              <a:t>Strip: a set of consecutive delivery months of the same product, together with the spreads between them.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Implied-from-implied</a:t>
            </a:r>
          </a:p>
          <a:p>
            <a:r>
              <a:rPr lang="en-US" dirty="0"/>
              <a:t>An implied order can itself feed the next implication - a chain across instruments. Level 0: Mar and Jun legs. Level 1: imply the Mar-Jun spread. Level 2: add the Jun-Sep spread. Level 3: imply the Mar-Sep spread.</a:t>
            </a:r>
          </a:p>
          <a:p>
            <a:r>
              <a:rPr lang="en-US" b="1" dirty="0"/>
              <a:t>The trade-off preview</a:t>
            </a:r>
          </a:p>
          <a:p>
            <a:r>
              <a:rPr lang="en-US" dirty="0"/>
              <a:t>Each extra level unlocks prices no single book could show, but also multiplies the work the engine must do. That cost is the subject of Section VII.</a:t>
            </a:r>
          </a:p>
          <a:p>
            <a:r>
              <a:rPr lang="en-US" b="1" dirty="0"/>
              <a:t>Key term: implication depth</a:t>
            </a:r>
          </a:p>
          <a:p>
            <a:r>
              <a:rPr lang="en-US" dirty="0"/>
              <a:t>Implication depth (levels): how many chained implications the engine is allowed to build on top of each other.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The single most important idea in the deck: no liquidity is created. Implication re-expresses existing liquidity; it never invents it. If the audience remembers one thing, make it this.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Myth versus reality</a:t>
            </a:r>
          </a:p>
          <a:p>
            <a:r>
              <a:rPr lang="en-US" dirty="0"/>
              <a:t>The myth: implied orders conjure extra liquidity out of thin air, making the market deeper than the real orders justify. This is false.</a:t>
            </a:r>
          </a:p>
          <a:p>
            <a:r>
              <a:rPr lang="en-US" b="1" dirty="0"/>
              <a:t>The reality</a:t>
            </a:r>
          </a:p>
          <a:p>
            <a:r>
              <a:rPr lang="en-US" dirty="0"/>
              <a:t>Every implied order is just real orders wearing a different label. Trade the implied and you trade the reals - exactly once. It is re-expression, not creation.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Backed one-to-one</a:t>
            </a:r>
          </a:p>
          <a:p>
            <a:r>
              <a:rPr lang="en-US" dirty="0"/>
              <a:t>Peel back any implied quote and you find specific real orders behind it. The implied spread bid at 1 is backed by the real March bid (99 x 10) and the real June ask (98 x 18).</a:t>
            </a:r>
          </a:p>
          <a:p>
            <a:r>
              <a:rPr lang="en-US" b="1" dirty="0"/>
              <a:t>Size is capped</a:t>
            </a:r>
          </a:p>
          <a:p>
            <a:r>
              <a:rPr lang="en-US" dirty="0"/>
              <a:t>There is no hidden inventory. The implied size is capped by the smallest real order behind it - here 10, the smaller of 10 and 18. You can never trade more implied than the thinnest leg supports.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Implieds are live calculations</a:t>
            </a:r>
          </a:p>
          <a:p>
            <a:r>
              <a:rPr lang="en-US" dirty="0"/>
              <a:t>Implied quotes are not stored liquidity - they are live calculations. Remove an input and the output disappears instantly. Before: March bid 99x10 and June ask 98x18 support an implied spread bid at 1. After the March bid cancels, the implied spread bid vanishes.</a:t>
            </a:r>
          </a:p>
          <a:p>
            <a:r>
              <a:rPr lang="en-US" b="1" dirty="0"/>
              <a:t>Emphasise</a:t>
            </a:r>
          </a:p>
          <a:p>
            <a:r>
              <a:rPr lang="en-US" dirty="0"/>
              <a:t>This is the proof that nothing is stored or double-held. An implied order exists only for as long as the real orders behind it do.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 double-counting</a:t>
            </a:r>
          </a:p>
          <a:p>
            <a:r>
              <a:rPr lang="en-US" dirty="0"/>
              <a:t>The engine guarantees each real order is consumed at most once. The March bid at 99 can be reached two ways: directly (someone sells March) or via the implied spread bid. Either path is allowed - but only one can happen.</a:t>
            </a:r>
          </a:p>
          <a:p>
            <a:r>
              <a:rPr lang="en-US" b="1" dirty="0"/>
              <a:t>The rule</a:t>
            </a:r>
          </a:p>
          <a:p>
            <a:r>
              <a:rPr lang="en-US" dirty="0"/>
              <a:t>The moment the order fills either way, it is removed from the book, so its liquidity is counted exactly once. Implication reshuffles who trades with whom; it never lets the same order trade twice.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Section purpose</a:t>
            </a:r>
          </a:p>
          <a:p>
            <a:r>
              <a:rPr lang="en-US" dirty="0"/>
              <a:t>The cost of going deep. Implication is not free to compute: more levels multiply the engine's workload. This section explains why, and why real platforms deliberately cap the number of levels.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the slide shows</a:t>
            </a:r>
          </a:p>
          <a:p>
            <a:r>
              <a:rPr lang="en-US" dirty="0"/>
              <a:t>Each added level of implication multiplies the combinations the engine must compute and keep current. The bars (x1, x2, x5, x9, x14) show combinations rising faster than linearly with depth - quickly into the thousands for a busy strip.</a:t>
            </a:r>
          </a:p>
          <a:p>
            <a:r>
              <a:rPr lang="en-US" b="1" dirty="0"/>
              <a:t>Key term: combinatorial explosion</a:t>
            </a:r>
          </a:p>
          <a:p>
            <a:r>
              <a:rPr lang="en-US" dirty="0"/>
              <a:t>Combinatorial explosion: the number of combinations grows so fast with each added level that it rapidly becomes impractical to compute them all. The exact figures are illustrative; the shape of the curve is the point.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Three real costs</a:t>
            </a:r>
          </a:p>
          <a:p>
            <a:r>
              <a:rPr lang="en-US" dirty="0"/>
              <a:t>Latency: every book change can trigger a cascade of re-calculations before the next order is processed. Compute: thousands of potential implieds must be generated, priced, and ranked continuously. Complexity: deeper chains are harder to audit, risk-check, and reason about when something breaks.</a:t>
            </a:r>
          </a:p>
          <a:p>
            <a:r>
              <a:rPr lang="en-US" b="1" dirty="0"/>
              <a:t>Emphasise</a:t>
            </a:r>
          </a:p>
          <a:p>
            <a:r>
              <a:rPr lang="en-US" dirty="0"/>
              <a:t>The engine has only microseconds per order. Unbounded implication depth would blow that budget - so depth has to be bounded.</a:t>
            </a:r>
          </a:p>
          <a:p>
            <a:r>
              <a:rPr lang="en-US" b="1" dirty="0"/>
              <a:t>Key term: latency</a:t>
            </a:r>
          </a:p>
          <a:p>
            <a:r>
              <a:rPr lang="en-US" dirty="0"/>
              <a:t>Latency: the time the engine takes to process an event. In modern matching engines it is measured in microseconds, and it is a hard constraint.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engineering choice</a:t>
            </a:r>
          </a:p>
          <a:p>
            <a:r>
              <a:rPr lang="en-US" dirty="0"/>
              <a:t>Exchanges limit implication to a small number of levels - often 1 to 2, sometimes a few more - capturing most of the benefit for a fraction of the cost. Levels 1-2 give most of the tightening; 3-4 show sharply diminishing returns; 5+ is rarely worth the latency.</a:t>
            </a:r>
          </a:p>
          <a:p>
            <a:r>
              <a:rPr lang="en-US" b="1" dirty="0"/>
              <a:t>Emphasise</a:t>
            </a:r>
          </a:p>
          <a:p>
            <a:r>
              <a:rPr lang="en-US" dirty="0"/>
              <a:t>The cap is a deliberate trade-off: near-all of the liquidity benefit, with bounded and predictable latency. It is a design decision, not a limitation of the idea.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Four things to remember</a:t>
            </a:r>
          </a:p>
          <a:p>
            <a:r>
              <a:rPr lang="en-US" dirty="0"/>
              <a:t>One: implied orders connect books, letting outright and spread traders reach each other automatically. Two: IN and OUT are one bridge - legs imply spreads (IN), spreads plus a leg imply outrights (OUT).</a:t>
            </a:r>
          </a:p>
          <a:p>
            <a:r>
              <a:rPr lang="en-US" dirty="0"/>
              <a:t>Three: no liquidity is created - every implied is backed 1:1 by real orders and vanishes when they do. Four: depth is capped on purpose, because combinatorial cost forces platforms to limit implication levels.</a:t>
            </a:r>
          </a:p>
          <a:p>
            <a:r>
              <a:rPr lang="en-US" b="1" dirty="0"/>
              <a:t>Close on the big idea</a:t>
            </a:r>
          </a:p>
          <a:p>
            <a:r>
              <a:rPr lang="en-US" dirty="0"/>
              <a:t>Implication is a smarter view of the same orders - never extra orders. That single sentence is the whole deck.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Reference slide</a:t>
            </a:r>
          </a:p>
          <a:p>
            <a:r>
              <a:rPr lang="en-US" dirty="0"/>
              <a:t>A glossary the audience can return to. Walk through the terms briefly: outright (a single instrument traded on its own); spread/combo (one instrument defined as a combination of legs, e.g. March - June); best bid/ask (highest price to sell at / lowest price to buy at).</a:t>
            </a:r>
          </a:p>
          <a:p>
            <a:r>
              <a:rPr lang="en-US" dirty="0"/>
              <a:t>Implied IN (spread quote derived from the outright leg books); Implied OUT (outright quote derived from a spread order plus a real leg); implication depth (how many chained levels the engine allows).</a:t>
            </a:r>
          </a:p>
          <a:p>
            <a:r>
              <a:rPr lang="en-US" b="1" dirty="0"/>
              <a:t>Wrap up</a:t>
            </a:r>
          </a:p>
          <a:p>
            <a:r>
              <a:rPr lang="en-US" dirty="0"/>
              <a:t>The audience now has the full picture: what implied orders are, how they are built, why they help, and why they are bounded.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3171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D10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920240"/>
            <a:ext cx="7863840" cy="12801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D101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280160" y="2286000"/>
            <a:ext cx="7315200" cy="10972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98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1170432"/>
            <a:ext cx="7315200" cy="274320"/>
          </a:xfrm>
          <a:prstGeom prst="rect">
            <a:avLst/>
          </a:prstGeom>
          <a:noFill/>
          <a:ln/>
        </p:spPr>
        <p:txBody>
          <a:bodyPr wrap="square" lIns="0" tIns="0" rIns="0" bIns="0" rtlCol="0" anchor="t"/>
          <a:lstStyle/>
          <a:p>
            <a:pPr marL="0" indent="0" algn="l">
              <a:buNone/>
            </a:pPr>
            <a:r>
              <a:rPr lang="en-US" sz="1200" b="1" kern="0" spc="400" dirty="0">
                <a:solidFill>
                  <a:srgbClr val="35E07E"/>
                </a:solidFill>
                <a:latin typeface="Segoe UI" pitchFamily="34" charset="0"/>
                <a:ea typeface="Segoe UI" pitchFamily="34" charset="-122"/>
                <a:cs typeface="Segoe UI" pitchFamily="34" charset="-120"/>
              </a:rPr>
              <a:t>A VISUAL, WORKED-EXAMPLE GUIDE</a:t>
            </a:r>
            <a:endParaRPr lang="en-US" sz="1200" dirty="0"/>
          </a:p>
        </p:txBody>
      </p:sp>
      <p:sp>
        <p:nvSpPr>
          <p:cNvPr id="3" name="Text 0"/>
          <p:cNvSpPr>
            <a:spLocks noGrp="1"/>
          </p:cNvSpPr>
          <p:nvPr>
            <p:ph type="title" idx="100" hasCustomPrompt="1"/>
          </p:nvPr>
        </p:nvSpPr>
        <p:spPr>
          <a:xfrm>
            <a:off x="640080" y="1920240"/>
            <a:ext cx="7863840" cy="1280160"/>
          </a:xfrm>
          <a:prstGeom prst="rect">
            <a:avLst/>
          </a:prstGeom>
          <a:noFill/>
          <a:ln/>
        </p:spPr>
        <p:txBody>
          <a:bodyPr wrap="square" lIns="0" tIns="0" rIns="0" bIns="0" rtlCol="0" anchor="t"/>
          <a:lstStyle/>
          <a:p>
            <a:pPr marL="0" indent="0" algn="l">
              <a:buNone/>
            </a:pPr>
            <a:r>
              <a:rPr lang="en-US" sz="5200" b="1" dirty="0">
                <a:solidFill>
                  <a:srgbClr val="FFFFFF"/>
                </a:solidFill>
                <a:latin typeface="Segoe UI" pitchFamily="34" charset="0"/>
                <a:ea typeface="Segoe UI" pitchFamily="34" charset="-122"/>
                <a:cs typeface="Segoe UI" pitchFamily="34" charset="-120"/>
              </a:rPr>
              <a:t>Implied Orders</a:t>
            </a:r>
            <a:endParaRPr lang="en-US" sz="5200" dirty="0"/>
          </a:p>
        </p:txBody>
      </p:sp>
      <p:sp>
        <p:nvSpPr>
          <p:cNvPr id="4" name="Text 2"/>
          <p:cNvSpPr/>
          <p:nvPr/>
        </p:nvSpPr>
        <p:spPr>
          <a:xfrm>
            <a:off x="658368" y="2761488"/>
            <a:ext cx="7132320" cy="777240"/>
          </a:xfrm>
          <a:prstGeom prst="rect">
            <a:avLst/>
          </a:prstGeom>
          <a:noFill/>
          <a:ln/>
        </p:spPr>
        <p:txBody>
          <a:bodyPr wrap="square" lIns="0" tIns="0" rIns="0" bIns="0" rtlCol="0" anchor="t"/>
          <a:lstStyle/>
          <a:p>
            <a:pPr marL="0" indent="0" algn="l">
              <a:lnSpc>
                <a:spcPts val="2400"/>
              </a:lnSpc>
              <a:buNone/>
            </a:pPr>
            <a:r>
              <a:rPr lang="en-US" sz="1600" dirty="0">
                <a:solidFill>
                  <a:srgbClr val="D8DEE9"/>
                </a:solidFill>
                <a:latin typeface="Segoe UI" pitchFamily="34" charset="0"/>
                <a:ea typeface="Segoe UI" pitchFamily="34" charset="-122"/>
                <a:cs typeface="Segoe UI" pitchFamily="34" charset="-120"/>
              </a:rPr>
              <a:t>How a matching engine builds synthetic liquidity from the orders that already exist — explained from the ground up.</a:t>
            </a:r>
            <a:endParaRPr lang="en-US" sz="1600" dirty="0"/>
          </a:p>
        </p:txBody>
      </p:sp>
      <p:sp>
        <p:nvSpPr>
          <p:cNvPr id="5" name="chip">
            <a:extLst>
              <a:ext uri="{C183D7F6-B498-43B3-948B-1728B52AA6E4}">
                <adec:decorative xmlns:adec="http://schemas.microsoft.com/office/drawing/2017/decorative" val="1"/>
              </a:ext>
            </a:extLst>
          </p:cNvPr>
          <p:cNvSpPr/>
          <p:nvPr/>
        </p:nvSpPr>
        <p:spPr>
          <a:xfrm>
            <a:off x="658368" y="3840480"/>
            <a:ext cx="1874520" cy="384048"/>
          </a:xfrm>
          <a:prstGeom prst="roundRect">
            <a:avLst>
              <a:gd name="adj" fmla="val 11905"/>
            </a:avLst>
          </a:prstGeom>
          <a:solidFill>
            <a:srgbClr val="1B212C"/>
          </a:solidFill>
          <a:ln w="12700">
            <a:solidFill>
              <a:srgbClr val="1E7D48"/>
            </a:solidFill>
            <a:prstDash val="solid"/>
          </a:ln>
        </p:spPr>
        <p:txBody>
          <a:bodyPr/>
          <a:lstStyle/>
          <a:p>
            <a:endParaRPr lang="en-SE"/>
          </a:p>
        </p:txBody>
      </p:sp>
      <p:sp>
        <p:nvSpPr>
          <p:cNvPr id="6" name="Text 4"/>
          <p:cNvSpPr/>
          <p:nvPr/>
        </p:nvSpPr>
        <p:spPr>
          <a:xfrm>
            <a:off x="658368" y="3840480"/>
            <a:ext cx="1874520" cy="384048"/>
          </a:xfrm>
          <a:prstGeom prst="rect">
            <a:avLst/>
          </a:prstGeom>
          <a:noFill/>
          <a:ln/>
        </p:spPr>
        <p:txBody>
          <a:bodyPr wrap="square" lIns="0" tIns="0" rIns="0" bIns="0" rtlCol="0" anchor="ctr"/>
          <a:lstStyle/>
          <a:p>
            <a:pPr marL="0" indent="0" algn="ctr">
              <a:buNone/>
            </a:pPr>
            <a:r>
              <a:rPr lang="en-US" sz="1100" b="1" dirty="0">
                <a:solidFill>
                  <a:srgbClr val="35E07E"/>
                </a:solidFill>
                <a:latin typeface="Consolas" pitchFamily="34" charset="0"/>
                <a:ea typeface="Consolas" pitchFamily="34" charset="-122"/>
                <a:cs typeface="Consolas" pitchFamily="34" charset="-120"/>
              </a:rPr>
              <a:t>Implied IN</a:t>
            </a:r>
            <a:endParaRPr lang="en-US" sz="1100" dirty="0"/>
          </a:p>
        </p:txBody>
      </p:sp>
      <p:sp>
        <p:nvSpPr>
          <p:cNvPr id="7" name="chip">
            <a:extLst>
              <a:ext uri="{C183D7F6-B498-43B3-948B-1728B52AA6E4}">
                <adec:decorative xmlns:adec="http://schemas.microsoft.com/office/drawing/2017/decorative" val="1"/>
              </a:ext>
            </a:extLst>
          </p:cNvPr>
          <p:cNvSpPr/>
          <p:nvPr/>
        </p:nvSpPr>
        <p:spPr>
          <a:xfrm>
            <a:off x="2670048" y="3840480"/>
            <a:ext cx="1965960" cy="384048"/>
          </a:xfrm>
          <a:prstGeom prst="roundRect">
            <a:avLst>
              <a:gd name="adj" fmla="val 11905"/>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2670048" y="3840480"/>
            <a:ext cx="1965960" cy="384048"/>
          </a:xfrm>
          <a:prstGeom prst="rect">
            <a:avLst/>
          </a:prstGeom>
          <a:noFill/>
          <a:ln/>
        </p:spPr>
        <p:txBody>
          <a:bodyPr wrap="square" lIns="0" tIns="0" rIns="0" bIns="0" rtlCol="0" anchor="ctr"/>
          <a:lstStyle/>
          <a:p>
            <a:pPr marL="0" indent="0" algn="ctr">
              <a:buNone/>
            </a:pPr>
            <a:r>
              <a:rPr lang="en-US" sz="1100" b="1" dirty="0">
                <a:solidFill>
                  <a:srgbClr val="3AD1E6"/>
                </a:solidFill>
                <a:latin typeface="Consolas" pitchFamily="34" charset="0"/>
                <a:ea typeface="Consolas" pitchFamily="34" charset="-122"/>
                <a:cs typeface="Consolas" pitchFamily="34" charset="-120"/>
              </a:rPr>
              <a:t>Implied OUT</a:t>
            </a:r>
            <a:endParaRPr lang="en-US" sz="1100" dirty="0"/>
          </a:p>
        </p:txBody>
      </p:sp>
      <p:sp>
        <p:nvSpPr>
          <p:cNvPr id="9" name="chip">
            <a:extLst>
              <a:ext uri="{C183D7F6-B498-43B3-948B-1728B52AA6E4}">
                <adec:decorative xmlns:adec="http://schemas.microsoft.com/office/drawing/2017/decorative" val="1"/>
              </a:ext>
            </a:extLst>
          </p:cNvPr>
          <p:cNvSpPr/>
          <p:nvPr/>
        </p:nvSpPr>
        <p:spPr>
          <a:xfrm>
            <a:off x="4773168" y="3840480"/>
            <a:ext cx="2514600" cy="384048"/>
          </a:xfrm>
          <a:prstGeom prst="roundRect">
            <a:avLst>
              <a:gd name="adj" fmla="val 11905"/>
            </a:avLst>
          </a:prstGeom>
          <a:solidFill>
            <a:srgbClr val="1B212C"/>
          </a:solidFill>
          <a:ln w="12700">
            <a:solidFill>
              <a:srgbClr val="2C3644"/>
            </a:solidFill>
            <a:prstDash val="solid"/>
          </a:ln>
        </p:spPr>
        <p:txBody>
          <a:bodyPr/>
          <a:lstStyle/>
          <a:p>
            <a:endParaRPr lang="en-SE"/>
          </a:p>
        </p:txBody>
      </p:sp>
      <p:sp>
        <p:nvSpPr>
          <p:cNvPr id="10" name="Text 8"/>
          <p:cNvSpPr/>
          <p:nvPr/>
        </p:nvSpPr>
        <p:spPr>
          <a:xfrm>
            <a:off x="4773168" y="3840480"/>
            <a:ext cx="2514600" cy="384048"/>
          </a:xfrm>
          <a:prstGeom prst="rect">
            <a:avLst/>
          </a:prstGeom>
          <a:noFill/>
          <a:ln/>
        </p:spPr>
        <p:txBody>
          <a:bodyPr wrap="square" lIns="0" tIns="0" rIns="0" bIns="0" rtlCol="0" anchor="ctr"/>
          <a:lstStyle/>
          <a:p>
            <a:pPr marL="0" indent="0" algn="ctr">
              <a:buNone/>
            </a:pPr>
            <a:r>
              <a:rPr lang="en-US" sz="1100" b="1" dirty="0">
                <a:solidFill>
                  <a:srgbClr val="FBB24B"/>
                </a:solidFill>
                <a:latin typeface="Consolas" pitchFamily="34" charset="0"/>
                <a:ea typeface="Consolas" pitchFamily="34" charset="-122"/>
                <a:cs typeface="Consolas" pitchFamily="34" charset="-120"/>
              </a:rPr>
              <a:t>No new liquidity</a:t>
            </a:r>
            <a:endParaRPr lang="en-US" sz="1100" dirty="0"/>
          </a:p>
        </p:txBody>
      </p:sp>
      <p:sp>
        <p:nvSpPr>
          <p:cNvPr id="11" name="Text 9"/>
          <p:cNvSpPr/>
          <p:nvPr/>
        </p:nvSpPr>
        <p:spPr>
          <a:xfrm>
            <a:off x="658368" y="4389120"/>
            <a:ext cx="7315200" cy="274320"/>
          </a:xfrm>
          <a:prstGeom prst="rect">
            <a:avLst/>
          </a:prstGeom>
          <a:noFill/>
          <a:ln/>
        </p:spPr>
        <p:txBody>
          <a:bodyPr wrap="square" lIns="0" tIns="0" rIns="0" bIns="0" rtlCol="0" anchor="t"/>
          <a:lstStyle/>
          <a:p>
            <a:pPr marL="0" indent="0" algn="l">
              <a:buNone/>
            </a:pPr>
            <a:r>
              <a:rPr lang="en-US" sz="1100" dirty="0">
                <a:solidFill>
                  <a:srgbClr val="8B96A8"/>
                </a:solidFill>
                <a:latin typeface="Segoe UI" pitchFamily="34" charset="0"/>
                <a:ea typeface="Segoe UI" pitchFamily="34" charset="-122"/>
                <a:cs typeface="Segoe UI" pitchFamily="34" charset="-120"/>
              </a:rPr>
              <a:t>Est. reading: a full session  ·  Level: beginner</a:t>
            </a:r>
            <a:endParaRPr lang="en-US" sz="1100" dirty="0"/>
          </a:p>
        </p:txBody>
      </p:sp>
      <p:sp>
        <p:nvSpPr>
          <p:cNvPr id="12" name="TextBox 11">
            <a:extLst>
              <a:ext uri="{FF2B5EF4-FFF2-40B4-BE49-F238E27FC236}">
                <a16:creationId xmlns:a16="http://schemas.microsoft.com/office/drawing/2014/main" id="{CD12FA3E-28DF-FE2A-678F-B3ADCC9CCFE1}"/>
              </a:ext>
            </a:extLst>
          </p:cNvPr>
          <p:cNvSpPr txBox="1"/>
          <p:nvPr/>
        </p:nvSpPr>
        <p:spPr>
          <a:xfrm>
            <a:off x="7280420" y="4550309"/>
            <a:ext cx="1704513" cy="369332"/>
          </a:xfrm>
          <a:prstGeom prst="rect">
            <a:avLst/>
          </a:prstGeom>
          <a:noFill/>
        </p:spPr>
        <p:txBody>
          <a:bodyPr wrap="square" rtlCol="0">
            <a:spAutoFit/>
          </a:bodyPr>
          <a:lstStyle/>
          <a:p>
            <a:r>
              <a:rPr lang="en-SE" i="1" dirty="0">
                <a:solidFill>
                  <a:schemeClr val="bg1">
                    <a:lumMod val="50000"/>
                  </a:schemeClr>
                </a:solidFill>
              </a:rPr>
              <a:t>J. Persson,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What you'll walk away understanding</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START HERE</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02</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85800" y="1609344"/>
            <a:ext cx="914400" cy="457200"/>
          </a:xfrm>
          <a:prstGeom prst="rect">
            <a:avLst/>
          </a:prstGeom>
          <a:noFill/>
          <a:ln/>
        </p:spPr>
        <p:txBody>
          <a:bodyPr wrap="square" lIns="0" tIns="0" rIns="0" bIns="0" rtlCol="0" anchor="t"/>
          <a:lstStyle/>
          <a:p>
            <a:pPr marL="0" indent="0" algn="l">
              <a:buNone/>
            </a:pPr>
            <a:r>
              <a:rPr lang="en-US" sz="2600" b="1" dirty="0">
                <a:solidFill>
                  <a:srgbClr val="35E07E"/>
                </a:solidFill>
                <a:latin typeface="Consolas" pitchFamily="34" charset="0"/>
                <a:ea typeface="Consolas" pitchFamily="34" charset="-122"/>
                <a:cs typeface="Consolas" pitchFamily="34" charset="-120"/>
              </a:rPr>
              <a:t>01</a:t>
            </a:r>
            <a:endParaRPr lang="en-US" sz="2600" dirty="0"/>
          </a:p>
        </p:txBody>
      </p:sp>
      <p:sp>
        <p:nvSpPr>
          <p:cNvPr id="8" name="Text 6"/>
          <p:cNvSpPr/>
          <p:nvPr/>
        </p:nvSpPr>
        <p:spPr>
          <a:xfrm>
            <a:off x="685800" y="2066544"/>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The order book</a:t>
            </a:r>
            <a:endParaRPr lang="en-US" sz="1450" dirty="0"/>
          </a:p>
        </p:txBody>
      </p:sp>
      <p:sp>
        <p:nvSpPr>
          <p:cNvPr id="9" name="Text 7"/>
          <p:cNvSpPr/>
          <p:nvPr/>
        </p:nvSpPr>
        <p:spPr>
          <a:xfrm>
            <a:off x="685800" y="2377440"/>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How buy and sell interest is stored and matched.</a:t>
            </a:r>
            <a:endParaRPr lang="en-US" sz="1100" dirty="0"/>
          </a:p>
        </p:txBody>
      </p:sp>
      <p:sp>
        <p:nvSpPr>
          <p:cNvPr id="10" name="panel">
            <a:extLst>
              <a:ext uri="{C183D7F6-B498-43B3-948B-1728B52AA6E4}">
                <adec:decorative xmlns:adec="http://schemas.microsoft.com/office/drawing/2017/decorative" val="1"/>
              </a:ext>
            </a:extLst>
          </p:cNvPr>
          <p:cNvSpPr/>
          <p:nvPr/>
        </p:nvSpPr>
        <p:spPr>
          <a:xfrm>
            <a:off x="3291840" y="1463040"/>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11" name="Text 9"/>
          <p:cNvSpPr/>
          <p:nvPr/>
        </p:nvSpPr>
        <p:spPr>
          <a:xfrm>
            <a:off x="3474720" y="1609344"/>
            <a:ext cx="914400" cy="457200"/>
          </a:xfrm>
          <a:prstGeom prst="rect">
            <a:avLst/>
          </a:prstGeom>
          <a:noFill/>
          <a:ln/>
        </p:spPr>
        <p:txBody>
          <a:bodyPr wrap="square" lIns="0" tIns="0" rIns="0" bIns="0" rtlCol="0" anchor="t"/>
          <a:lstStyle/>
          <a:p>
            <a:pPr marL="0" indent="0" algn="l">
              <a:buNone/>
            </a:pPr>
            <a:r>
              <a:rPr lang="en-US" sz="2600" b="1" dirty="0">
                <a:solidFill>
                  <a:srgbClr val="35E07E"/>
                </a:solidFill>
                <a:latin typeface="Consolas" pitchFamily="34" charset="0"/>
                <a:ea typeface="Consolas" pitchFamily="34" charset="-122"/>
                <a:cs typeface="Consolas" pitchFamily="34" charset="-120"/>
              </a:rPr>
              <a:t>02</a:t>
            </a:r>
            <a:endParaRPr lang="en-US" sz="2600" dirty="0"/>
          </a:p>
        </p:txBody>
      </p:sp>
      <p:sp>
        <p:nvSpPr>
          <p:cNvPr id="12" name="Text 10"/>
          <p:cNvSpPr/>
          <p:nvPr/>
        </p:nvSpPr>
        <p:spPr>
          <a:xfrm>
            <a:off x="3474720" y="2066544"/>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Spreads &amp; combos</a:t>
            </a:r>
            <a:endParaRPr lang="en-US" sz="1450" dirty="0"/>
          </a:p>
        </p:txBody>
      </p:sp>
      <p:sp>
        <p:nvSpPr>
          <p:cNvPr id="13" name="Text 11"/>
          <p:cNvSpPr/>
          <p:nvPr/>
        </p:nvSpPr>
        <p:spPr>
          <a:xfrm>
            <a:off x="3474720" y="2377440"/>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Instruments built from two or more other instruments.</a:t>
            </a:r>
            <a:endParaRPr lang="en-US" sz="1100" dirty="0"/>
          </a:p>
        </p:txBody>
      </p:sp>
      <p:sp>
        <p:nvSpPr>
          <p:cNvPr id="14" name="panel">
            <a:extLst>
              <a:ext uri="{C183D7F6-B498-43B3-948B-1728B52AA6E4}">
                <adec:decorative xmlns:adec="http://schemas.microsoft.com/office/drawing/2017/decorative" val="1"/>
              </a:ext>
            </a:extLst>
          </p:cNvPr>
          <p:cNvSpPr/>
          <p:nvPr/>
        </p:nvSpPr>
        <p:spPr>
          <a:xfrm>
            <a:off x="6080760" y="1463040"/>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15" name="Text 13"/>
          <p:cNvSpPr/>
          <p:nvPr/>
        </p:nvSpPr>
        <p:spPr>
          <a:xfrm>
            <a:off x="6263640" y="1609344"/>
            <a:ext cx="914400" cy="457200"/>
          </a:xfrm>
          <a:prstGeom prst="rect">
            <a:avLst/>
          </a:prstGeom>
          <a:noFill/>
          <a:ln/>
        </p:spPr>
        <p:txBody>
          <a:bodyPr wrap="square" lIns="0" tIns="0" rIns="0" bIns="0" rtlCol="0" anchor="t"/>
          <a:lstStyle/>
          <a:p>
            <a:pPr marL="0" indent="0" algn="l">
              <a:buNone/>
            </a:pPr>
            <a:r>
              <a:rPr lang="en-US" sz="2600" b="1" dirty="0">
                <a:solidFill>
                  <a:srgbClr val="3AD1E6"/>
                </a:solidFill>
                <a:latin typeface="Consolas" pitchFamily="34" charset="0"/>
                <a:ea typeface="Consolas" pitchFamily="34" charset="-122"/>
                <a:cs typeface="Consolas" pitchFamily="34" charset="-120"/>
              </a:rPr>
              <a:t>03</a:t>
            </a:r>
            <a:endParaRPr lang="en-US" sz="2600" dirty="0"/>
          </a:p>
        </p:txBody>
      </p:sp>
      <p:sp>
        <p:nvSpPr>
          <p:cNvPr id="16" name="Text 14"/>
          <p:cNvSpPr/>
          <p:nvPr/>
        </p:nvSpPr>
        <p:spPr>
          <a:xfrm>
            <a:off x="6263640" y="2066544"/>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Implied IN</a:t>
            </a:r>
            <a:endParaRPr lang="en-US" sz="1450" dirty="0"/>
          </a:p>
        </p:txBody>
      </p:sp>
      <p:sp>
        <p:nvSpPr>
          <p:cNvPr id="17" name="Text 15"/>
          <p:cNvSpPr/>
          <p:nvPr/>
        </p:nvSpPr>
        <p:spPr>
          <a:xfrm>
            <a:off x="6263640" y="2377440"/>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Turning outright leg orders into a spread quote.</a:t>
            </a:r>
            <a:endParaRPr lang="en-US" sz="1100" dirty="0"/>
          </a:p>
        </p:txBody>
      </p:sp>
      <p:sp>
        <p:nvSpPr>
          <p:cNvPr id="18" name="panel">
            <a:extLst>
              <a:ext uri="{C183D7F6-B498-43B3-948B-1728B52AA6E4}">
                <adec:decorative xmlns:adec="http://schemas.microsoft.com/office/drawing/2017/decorative" val="1"/>
              </a:ext>
            </a:extLst>
          </p:cNvPr>
          <p:cNvSpPr/>
          <p:nvPr/>
        </p:nvSpPr>
        <p:spPr>
          <a:xfrm>
            <a:off x="502920" y="3081528"/>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19" name="Text 17"/>
          <p:cNvSpPr/>
          <p:nvPr/>
        </p:nvSpPr>
        <p:spPr>
          <a:xfrm>
            <a:off x="685800" y="3227832"/>
            <a:ext cx="914400" cy="457200"/>
          </a:xfrm>
          <a:prstGeom prst="rect">
            <a:avLst/>
          </a:prstGeom>
          <a:noFill/>
          <a:ln/>
        </p:spPr>
        <p:txBody>
          <a:bodyPr wrap="square" lIns="0" tIns="0" rIns="0" bIns="0" rtlCol="0" anchor="t"/>
          <a:lstStyle/>
          <a:p>
            <a:pPr marL="0" indent="0" algn="l">
              <a:buNone/>
            </a:pPr>
            <a:r>
              <a:rPr lang="en-US" sz="2600" b="1" dirty="0">
                <a:solidFill>
                  <a:srgbClr val="3AD1E6"/>
                </a:solidFill>
                <a:latin typeface="Consolas" pitchFamily="34" charset="0"/>
                <a:ea typeface="Consolas" pitchFamily="34" charset="-122"/>
                <a:cs typeface="Consolas" pitchFamily="34" charset="-120"/>
              </a:rPr>
              <a:t>04</a:t>
            </a:r>
            <a:endParaRPr lang="en-US" sz="2600" dirty="0"/>
          </a:p>
        </p:txBody>
      </p:sp>
      <p:sp>
        <p:nvSpPr>
          <p:cNvPr id="20" name="Text 18"/>
          <p:cNvSpPr/>
          <p:nvPr/>
        </p:nvSpPr>
        <p:spPr>
          <a:xfrm>
            <a:off x="685800" y="3685032"/>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Implied OUT</a:t>
            </a:r>
            <a:endParaRPr lang="en-US" sz="1450" dirty="0"/>
          </a:p>
        </p:txBody>
      </p:sp>
      <p:sp>
        <p:nvSpPr>
          <p:cNvPr id="21" name="Text 19"/>
          <p:cNvSpPr/>
          <p:nvPr/>
        </p:nvSpPr>
        <p:spPr>
          <a:xfrm>
            <a:off x="685800" y="3995928"/>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Turning a spread + a leg into an outright quote.</a:t>
            </a:r>
            <a:endParaRPr lang="en-US" sz="1100" dirty="0"/>
          </a:p>
        </p:txBody>
      </p:sp>
      <p:sp>
        <p:nvSpPr>
          <p:cNvPr id="22" name="panel">
            <a:extLst>
              <a:ext uri="{C183D7F6-B498-43B3-948B-1728B52AA6E4}">
                <adec:decorative xmlns:adec="http://schemas.microsoft.com/office/drawing/2017/decorative" val="1"/>
              </a:ext>
            </a:extLst>
          </p:cNvPr>
          <p:cNvSpPr/>
          <p:nvPr/>
        </p:nvSpPr>
        <p:spPr>
          <a:xfrm>
            <a:off x="3291840" y="3081528"/>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23" name="Text 21"/>
          <p:cNvSpPr/>
          <p:nvPr/>
        </p:nvSpPr>
        <p:spPr>
          <a:xfrm>
            <a:off x="3474720" y="3227832"/>
            <a:ext cx="914400" cy="457200"/>
          </a:xfrm>
          <a:prstGeom prst="rect">
            <a:avLst/>
          </a:prstGeom>
          <a:noFill/>
          <a:ln/>
        </p:spPr>
        <p:txBody>
          <a:bodyPr wrap="square" lIns="0" tIns="0" rIns="0" bIns="0" rtlCol="0" anchor="t"/>
          <a:lstStyle/>
          <a:p>
            <a:pPr marL="0" indent="0" algn="l">
              <a:buNone/>
            </a:pPr>
            <a:r>
              <a:rPr lang="en-US" sz="2600" b="1" dirty="0">
                <a:solidFill>
                  <a:srgbClr val="FBB24B"/>
                </a:solidFill>
                <a:latin typeface="Consolas" pitchFamily="34" charset="0"/>
                <a:ea typeface="Consolas" pitchFamily="34" charset="-122"/>
                <a:cs typeface="Consolas" pitchFamily="34" charset="-120"/>
              </a:rPr>
              <a:t>05</a:t>
            </a:r>
            <a:endParaRPr lang="en-US" sz="2600" dirty="0"/>
          </a:p>
        </p:txBody>
      </p:sp>
      <p:sp>
        <p:nvSpPr>
          <p:cNvPr id="24" name="Text 22"/>
          <p:cNvSpPr/>
          <p:nvPr/>
        </p:nvSpPr>
        <p:spPr>
          <a:xfrm>
            <a:off x="3474720" y="3685032"/>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Why it's powerful</a:t>
            </a:r>
            <a:endParaRPr lang="en-US" sz="1450" dirty="0"/>
          </a:p>
        </p:txBody>
      </p:sp>
      <p:sp>
        <p:nvSpPr>
          <p:cNvPr id="25" name="Text 23"/>
          <p:cNvSpPr/>
          <p:nvPr/>
        </p:nvSpPr>
        <p:spPr>
          <a:xfrm>
            <a:off x="3474720" y="3995928"/>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Tighter markets and more fills — for free.</a:t>
            </a:r>
            <a:endParaRPr lang="en-US" sz="1100" dirty="0"/>
          </a:p>
        </p:txBody>
      </p:sp>
      <p:sp>
        <p:nvSpPr>
          <p:cNvPr id="26" name="panel">
            <a:extLst>
              <a:ext uri="{C183D7F6-B498-43B3-948B-1728B52AA6E4}">
                <adec:decorative xmlns:adec="http://schemas.microsoft.com/office/drawing/2017/decorative" val="1"/>
              </a:ext>
            </a:extLst>
          </p:cNvPr>
          <p:cNvSpPr/>
          <p:nvPr/>
        </p:nvSpPr>
        <p:spPr>
          <a:xfrm>
            <a:off x="6080760" y="3081528"/>
            <a:ext cx="2606040" cy="1417320"/>
          </a:xfrm>
          <a:prstGeom prst="roundRect">
            <a:avLst>
              <a:gd name="adj" fmla="val 3871"/>
            </a:avLst>
          </a:prstGeom>
          <a:solidFill>
            <a:srgbClr val="1B212C"/>
          </a:solidFill>
          <a:ln w="12700">
            <a:solidFill>
              <a:srgbClr val="2C3644"/>
            </a:solidFill>
            <a:prstDash val="solid"/>
          </a:ln>
        </p:spPr>
        <p:txBody>
          <a:bodyPr/>
          <a:lstStyle/>
          <a:p>
            <a:endParaRPr lang="en-SE"/>
          </a:p>
        </p:txBody>
      </p:sp>
      <p:sp>
        <p:nvSpPr>
          <p:cNvPr id="27" name="Text 25"/>
          <p:cNvSpPr/>
          <p:nvPr/>
        </p:nvSpPr>
        <p:spPr>
          <a:xfrm>
            <a:off x="6263640" y="3227832"/>
            <a:ext cx="914400" cy="457200"/>
          </a:xfrm>
          <a:prstGeom prst="rect">
            <a:avLst/>
          </a:prstGeom>
          <a:noFill/>
          <a:ln/>
        </p:spPr>
        <p:txBody>
          <a:bodyPr wrap="square" lIns="0" tIns="0" rIns="0" bIns="0" rtlCol="0" anchor="t"/>
          <a:lstStyle/>
          <a:p>
            <a:pPr marL="0" indent="0" algn="l">
              <a:buNone/>
            </a:pPr>
            <a:r>
              <a:rPr lang="en-US" sz="2600" b="1" dirty="0">
                <a:solidFill>
                  <a:srgbClr val="FBB24B"/>
                </a:solidFill>
                <a:latin typeface="Consolas" pitchFamily="34" charset="0"/>
                <a:ea typeface="Consolas" pitchFamily="34" charset="-122"/>
                <a:cs typeface="Consolas" pitchFamily="34" charset="-120"/>
              </a:rPr>
              <a:t>06</a:t>
            </a:r>
            <a:endParaRPr lang="en-US" sz="2600" dirty="0"/>
          </a:p>
        </p:txBody>
      </p:sp>
      <p:sp>
        <p:nvSpPr>
          <p:cNvPr id="28" name="Text 26"/>
          <p:cNvSpPr/>
          <p:nvPr/>
        </p:nvSpPr>
        <p:spPr>
          <a:xfrm>
            <a:off x="6263640" y="3685032"/>
            <a:ext cx="2240280" cy="310896"/>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The catch</a:t>
            </a:r>
            <a:endParaRPr lang="en-US" sz="1450" dirty="0"/>
          </a:p>
        </p:txBody>
      </p:sp>
      <p:sp>
        <p:nvSpPr>
          <p:cNvPr id="29" name="Text 27"/>
          <p:cNvSpPr/>
          <p:nvPr/>
        </p:nvSpPr>
        <p:spPr>
          <a:xfrm>
            <a:off x="6263640" y="3995928"/>
            <a:ext cx="2240280" cy="45720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No new liquidity, and why depth must be capped.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PRIMER</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Dated instruments &amp; combos</a:t>
            </a:r>
            <a:endParaRPr lang="en-US" sz="3400" dirty="0"/>
          </a:p>
        </p:txBody>
      </p:sp>
      <p:sp>
        <p:nvSpPr>
          <p:cNvPr id="20" name="Text 18"/>
          <p:cNvSpPr/>
          <p:nvPr/>
        </p:nvSpPr>
        <p:spPr>
          <a:xfrm>
            <a:off x="1298448" y="3310128"/>
            <a:ext cx="6583680" cy="82296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Why oil trades by delivery month — and how a single combo order bundles two months into one.</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 dated instrument settles in a specific month</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PRIMER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04</a:t>
            </a:r>
            <a:endParaRPr lang="en-US" sz="850" dirty="0"/>
          </a:p>
        </p:txBody>
      </p:sp>
      <p:sp>
        <p:nvSpPr>
          <p:cNvPr id="6" name="Text 4"/>
          <p:cNvSpPr/>
          <p:nvPr/>
        </p:nvSpPr>
        <p:spPr>
          <a:xfrm>
            <a:off x="502920" y="1417320"/>
            <a:ext cx="8092440" cy="548640"/>
          </a:xfrm>
          <a:prstGeom prst="rect">
            <a:avLst/>
          </a:prstGeom>
          <a:noFill/>
          <a:ln/>
        </p:spPr>
        <p:txBody>
          <a:bodyPr wrap="square" lIns="0" tIns="0" rIns="0" bIns="0" rtlCol="0" anchor="t"/>
          <a:lstStyle/>
          <a:p>
            <a:pPr marL="0" indent="0" algn="l">
              <a:lnSpc>
                <a:spcPts val="2000"/>
              </a:lnSpc>
              <a:buNone/>
            </a:pPr>
            <a:r>
              <a:rPr lang="en-US" sz="1400" dirty="0">
                <a:solidFill>
                  <a:srgbClr val="D8DEE9"/>
                </a:solidFill>
                <a:latin typeface="Segoe UI" pitchFamily="34" charset="0"/>
                <a:ea typeface="Segoe UI" pitchFamily="34" charset="-122"/>
                <a:cs typeface="Segoe UI" pitchFamily="34" charset="-120"/>
              </a:rPr>
              <a:t>An oil future isn't just “oil” — it's a barrel for delivery in a named month. Each month is a separate contract with its own price and its own order book.</a:t>
            </a:r>
            <a:endParaRPr lang="en-US" sz="1400" dirty="0"/>
          </a:p>
        </p:txBody>
      </p:sp>
      <p:sp>
        <p:nvSpPr>
          <p:cNvPr id="7" name="panel">
            <a:extLst>
              <a:ext uri="{C183D7F6-B498-43B3-948B-1728B52AA6E4}">
                <adec:decorative xmlns:adec="http://schemas.microsoft.com/office/drawing/2017/decorative" val="1"/>
              </a:ext>
            </a:extLst>
          </p:cNvPr>
          <p:cNvSpPr/>
          <p:nvPr/>
        </p:nvSpPr>
        <p:spPr>
          <a:xfrm>
            <a:off x="566928" y="2194560"/>
            <a:ext cx="1234440" cy="1371600"/>
          </a:xfrm>
          <a:prstGeom prst="roundRect">
            <a:avLst>
              <a:gd name="adj" fmla="val 4444"/>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566928" y="2340864"/>
            <a:ext cx="1234440" cy="320040"/>
          </a:xfrm>
          <a:prstGeom prst="rect">
            <a:avLst/>
          </a:prstGeom>
          <a:noFill/>
          <a:ln/>
        </p:spPr>
        <p:txBody>
          <a:bodyPr wrap="square" lIns="0" tIns="0" rIns="0" bIns="0" rtlCol="0" anchor="t"/>
          <a:lstStyle/>
          <a:p>
            <a:pPr marL="0" indent="0" algn="ctr">
              <a:buNone/>
            </a:pPr>
            <a:r>
              <a:rPr lang="en-US" sz="1600" b="1" dirty="0">
                <a:solidFill>
                  <a:srgbClr val="FFFFFF"/>
                </a:solidFill>
                <a:latin typeface="Consolas" pitchFamily="34" charset="0"/>
                <a:ea typeface="Consolas" pitchFamily="34" charset="-122"/>
                <a:cs typeface="Consolas" pitchFamily="34" charset="-120"/>
              </a:rPr>
              <a:t>FEB</a:t>
            </a:r>
            <a:endParaRPr lang="en-US" sz="1600" dirty="0"/>
          </a:p>
        </p:txBody>
      </p:sp>
      <p:sp>
        <p:nvSpPr>
          <p:cNvPr id="9" name="Text 7"/>
          <p:cNvSpPr/>
          <p:nvPr/>
        </p:nvSpPr>
        <p:spPr>
          <a:xfrm>
            <a:off x="566928"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10" name="Text 8"/>
          <p:cNvSpPr/>
          <p:nvPr/>
        </p:nvSpPr>
        <p:spPr>
          <a:xfrm>
            <a:off x="566928" y="2980944"/>
            <a:ext cx="1234440" cy="411480"/>
          </a:xfrm>
          <a:prstGeom prst="rect">
            <a:avLst/>
          </a:prstGeom>
          <a:noFill/>
          <a:ln/>
        </p:spPr>
        <p:txBody>
          <a:bodyPr wrap="square" lIns="0" tIns="0" rIns="0" bIns="0" rtlCol="0" anchor="t"/>
          <a:lstStyle/>
          <a:p>
            <a:pPr marL="0" indent="0" algn="ctr">
              <a:buNone/>
            </a:pPr>
            <a:r>
              <a:rPr lang="en-US" sz="1900" b="1" dirty="0">
                <a:solidFill>
                  <a:srgbClr val="D8DEE9"/>
                </a:solidFill>
                <a:latin typeface="Consolas" pitchFamily="34" charset="0"/>
                <a:ea typeface="Consolas" pitchFamily="34" charset="-122"/>
                <a:cs typeface="Consolas" pitchFamily="34" charset="-120"/>
              </a:rPr>
              <a:t>$77.8</a:t>
            </a:r>
            <a:endParaRPr lang="en-US" sz="1900" dirty="0"/>
          </a:p>
        </p:txBody>
      </p:sp>
      <p:sp>
        <p:nvSpPr>
          <p:cNvPr id="11" name="panel">
            <a:extLst>
              <a:ext uri="{C183D7F6-B498-43B3-948B-1728B52AA6E4}">
                <adec:decorative xmlns:adec="http://schemas.microsoft.com/office/drawing/2017/decorative" val="1"/>
              </a:ext>
            </a:extLst>
          </p:cNvPr>
          <p:cNvSpPr/>
          <p:nvPr/>
        </p:nvSpPr>
        <p:spPr>
          <a:xfrm>
            <a:off x="1929384" y="2194560"/>
            <a:ext cx="1234440" cy="1371600"/>
          </a:xfrm>
          <a:prstGeom prst="roundRect">
            <a:avLst>
              <a:gd name="adj" fmla="val 4444"/>
            </a:avLst>
          </a:prstGeom>
          <a:solidFill>
            <a:srgbClr val="10251C"/>
          </a:solidFill>
          <a:ln w="12700">
            <a:solidFill>
              <a:srgbClr val="3AD1E6"/>
            </a:solidFill>
            <a:prstDash val="solid"/>
          </a:ln>
        </p:spPr>
        <p:txBody>
          <a:bodyPr/>
          <a:lstStyle/>
          <a:p>
            <a:endParaRPr lang="en-SE"/>
          </a:p>
        </p:txBody>
      </p:sp>
      <p:sp>
        <p:nvSpPr>
          <p:cNvPr id="12" name="Text 10"/>
          <p:cNvSpPr/>
          <p:nvPr/>
        </p:nvSpPr>
        <p:spPr>
          <a:xfrm>
            <a:off x="1929384" y="2340864"/>
            <a:ext cx="1234440" cy="320040"/>
          </a:xfrm>
          <a:prstGeom prst="rect">
            <a:avLst/>
          </a:prstGeom>
          <a:noFill/>
          <a:ln/>
        </p:spPr>
        <p:txBody>
          <a:bodyPr wrap="square" lIns="0" tIns="0" rIns="0" bIns="0" rtlCol="0" anchor="t"/>
          <a:lstStyle/>
          <a:p>
            <a:pPr marL="0" indent="0" algn="ctr">
              <a:buNone/>
            </a:pPr>
            <a:r>
              <a:rPr lang="en-US" sz="1600" b="1" dirty="0">
                <a:solidFill>
                  <a:srgbClr val="3AD1E6"/>
                </a:solidFill>
                <a:latin typeface="Consolas" pitchFamily="34" charset="0"/>
                <a:ea typeface="Consolas" pitchFamily="34" charset="-122"/>
                <a:cs typeface="Consolas" pitchFamily="34" charset="-120"/>
              </a:rPr>
              <a:t>MAR</a:t>
            </a:r>
            <a:endParaRPr lang="en-US" sz="1600" dirty="0"/>
          </a:p>
        </p:txBody>
      </p:sp>
      <p:sp>
        <p:nvSpPr>
          <p:cNvPr id="13" name="Text 11"/>
          <p:cNvSpPr/>
          <p:nvPr/>
        </p:nvSpPr>
        <p:spPr>
          <a:xfrm>
            <a:off x="1929384"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14" name="Text 12"/>
          <p:cNvSpPr/>
          <p:nvPr/>
        </p:nvSpPr>
        <p:spPr>
          <a:xfrm>
            <a:off x="1929384" y="2980944"/>
            <a:ext cx="1234440" cy="411480"/>
          </a:xfrm>
          <a:prstGeom prst="rect">
            <a:avLst/>
          </a:prstGeom>
          <a:noFill/>
          <a:ln/>
        </p:spPr>
        <p:txBody>
          <a:bodyPr wrap="square" lIns="0" tIns="0" rIns="0" bIns="0" rtlCol="0" anchor="t"/>
          <a:lstStyle/>
          <a:p>
            <a:pPr marL="0" indent="0" algn="ctr">
              <a:buNone/>
            </a:pPr>
            <a:r>
              <a:rPr lang="en-US" sz="1900" b="1" dirty="0">
                <a:solidFill>
                  <a:srgbClr val="FFFFFF"/>
                </a:solidFill>
                <a:latin typeface="Consolas" pitchFamily="34" charset="0"/>
                <a:ea typeface="Consolas" pitchFamily="34" charset="-122"/>
                <a:cs typeface="Consolas" pitchFamily="34" charset="-120"/>
              </a:rPr>
              <a:t>$78.2</a:t>
            </a:r>
            <a:endParaRPr lang="en-US" sz="1900" dirty="0"/>
          </a:p>
        </p:txBody>
      </p:sp>
      <p:sp>
        <p:nvSpPr>
          <p:cNvPr id="15" name="panel">
            <a:extLst>
              <a:ext uri="{C183D7F6-B498-43B3-948B-1728B52AA6E4}">
                <adec:decorative xmlns:adec="http://schemas.microsoft.com/office/drawing/2017/decorative" val="1"/>
              </a:ext>
            </a:extLst>
          </p:cNvPr>
          <p:cNvSpPr/>
          <p:nvPr/>
        </p:nvSpPr>
        <p:spPr>
          <a:xfrm>
            <a:off x="3291840" y="2194560"/>
            <a:ext cx="1234440" cy="1371600"/>
          </a:xfrm>
          <a:prstGeom prst="roundRect">
            <a:avLst>
              <a:gd name="adj" fmla="val 4444"/>
            </a:avLst>
          </a:prstGeom>
          <a:solidFill>
            <a:srgbClr val="1B212C"/>
          </a:solidFill>
          <a:ln w="12700">
            <a:solidFill>
              <a:srgbClr val="2C3644"/>
            </a:solidFill>
            <a:prstDash val="solid"/>
          </a:ln>
        </p:spPr>
        <p:txBody>
          <a:bodyPr/>
          <a:lstStyle/>
          <a:p>
            <a:endParaRPr lang="en-SE"/>
          </a:p>
        </p:txBody>
      </p:sp>
      <p:sp>
        <p:nvSpPr>
          <p:cNvPr id="16" name="Text 14"/>
          <p:cNvSpPr/>
          <p:nvPr/>
        </p:nvSpPr>
        <p:spPr>
          <a:xfrm>
            <a:off x="3291840" y="2340864"/>
            <a:ext cx="1234440" cy="320040"/>
          </a:xfrm>
          <a:prstGeom prst="rect">
            <a:avLst/>
          </a:prstGeom>
          <a:noFill/>
          <a:ln/>
        </p:spPr>
        <p:txBody>
          <a:bodyPr wrap="square" lIns="0" tIns="0" rIns="0" bIns="0" rtlCol="0" anchor="t"/>
          <a:lstStyle/>
          <a:p>
            <a:pPr marL="0" indent="0" algn="ctr">
              <a:buNone/>
            </a:pPr>
            <a:r>
              <a:rPr lang="en-US" sz="1600" b="1" dirty="0">
                <a:solidFill>
                  <a:srgbClr val="FFFFFF"/>
                </a:solidFill>
                <a:latin typeface="Consolas" pitchFamily="34" charset="0"/>
                <a:ea typeface="Consolas" pitchFamily="34" charset="-122"/>
                <a:cs typeface="Consolas" pitchFamily="34" charset="-120"/>
              </a:rPr>
              <a:t>APR</a:t>
            </a:r>
            <a:endParaRPr lang="en-US" sz="1600" dirty="0"/>
          </a:p>
        </p:txBody>
      </p:sp>
      <p:sp>
        <p:nvSpPr>
          <p:cNvPr id="17" name="Text 15"/>
          <p:cNvSpPr/>
          <p:nvPr/>
        </p:nvSpPr>
        <p:spPr>
          <a:xfrm>
            <a:off x="3291840"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18" name="Text 16"/>
          <p:cNvSpPr/>
          <p:nvPr/>
        </p:nvSpPr>
        <p:spPr>
          <a:xfrm>
            <a:off x="3291840" y="2980944"/>
            <a:ext cx="1234440" cy="411480"/>
          </a:xfrm>
          <a:prstGeom prst="rect">
            <a:avLst/>
          </a:prstGeom>
          <a:noFill/>
          <a:ln/>
        </p:spPr>
        <p:txBody>
          <a:bodyPr wrap="square" lIns="0" tIns="0" rIns="0" bIns="0" rtlCol="0" anchor="t"/>
          <a:lstStyle/>
          <a:p>
            <a:pPr marL="0" indent="0" algn="ctr">
              <a:buNone/>
            </a:pPr>
            <a:r>
              <a:rPr lang="en-US" sz="1900" b="1" dirty="0">
                <a:solidFill>
                  <a:srgbClr val="D8DEE9"/>
                </a:solidFill>
                <a:latin typeface="Consolas" pitchFamily="34" charset="0"/>
                <a:ea typeface="Consolas" pitchFamily="34" charset="-122"/>
                <a:cs typeface="Consolas" pitchFamily="34" charset="-120"/>
              </a:rPr>
              <a:t>$78.5</a:t>
            </a:r>
            <a:endParaRPr lang="en-US" sz="1900" dirty="0"/>
          </a:p>
        </p:txBody>
      </p:sp>
      <p:sp>
        <p:nvSpPr>
          <p:cNvPr id="19" name="panel">
            <a:extLst>
              <a:ext uri="{C183D7F6-B498-43B3-948B-1728B52AA6E4}">
                <adec:decorative xmlns:adec="http://schemas.microsoft.com/office/drawing/2017/decorative" val="1"/>
              </a:ext>
            </a:extLst>
          </p:cNvPr>
          <p:cNvSpPr/>
          <p:nvPr/>
        </p:nvSpPr>
        <p:spPr>
          <a:xfrm>
            <a:off x="4654296" y="2194560"/>
            <a:ext cx="1234440" cy="1371600"/>
          </a:xfrm>
          <a:prstGeom prst="roundRect">
            <a:avLst>
              <a:gd name="adj" fmla="val 4444"/>
            </a:avLst>
          </a:prstGeom>
          <a:solidFill>
            <a:srgbClr val="1B212C"/>
          </a:solidFill>
          <a:ln w="12700">
            <a:solidFill>
              <a:srgbClr val="2C3644"/>
            </a:solidFill>
            <a:prstDash val="solid"/>
          </a:ln>
        </p:spPr>
        <p:txBody>
          <a:bodyPr/>
          <a:lstStyle/>
          <a:p>
            <a:endParaRPr lang="en-SE"/>
          </a:p>
        </p:txBody>
      </p:sp>
      <p:sp>
        <p:nvSpPr>
          <p:cNvPr id="20" name="Text 18"/>
          <p:cNvSpPr/>
          <p:nvPr/>
        </p:nvSpPr>
        <p:spPr>
          <a:xfrm>
            <a:off x="4654296" y="2340864"/>
            <a:ext cx="1234440" cy="320040"/>
          </a:xfrm>
          <a:prstGeom prst="rect">
            <a:avLst/>
          </a:prstGeom>
          <a:noFill/>
          <a:ln/>
        </p:spPr>
        <p:txBody>
          <a:bodyPr wrap="square" lIns="0" tIns="0" rIns="0" bIns="0" rtlCol="0" anchor="t"/>
          <a:lstStyle/>
          <a:p>
            <a:pPr marL="0" indent="0" algn="ctr">
              <a:buNone/>
            </a:pPr>
            <a:r>
              <a:rPr lang="en-US" sz="1600" b="1" dirty="0">
                <a:solidFill>
                  <a:srgbClr val="FFFFFF"/>
                </a:solidFill>
                <a:latin typeface="Consolas" pitchFamily="34" charset="0"/>
                <a:ea typeface="Consolas" pitchFamily="34" charset="-122"/>
                <a:cs typeface="Consolas" pitchFamily="34" charset="-120"/>
              </a:rPr>
              <a:t>MAY</a:t>
            </a:r>
            <a:endParaRPr lang="en-US" sz="1600" dirty="0"/>
          </a:p>
        </p:txBody>
      </p:sp>
      <p:sp>
        <p:nvSpPr>
          <p:cNvPr id="21" name="Text 19"/>
          <p:cNvSpPr/>
          <p:nvPr/>
        </p:nvSpPr>
        <p:spPr>
          <a:xfrm>
            <a:off x="4654296"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22" name="Text 20"/>
          <p:cNvSpPr/>
          <p:nvPr/>
        </p:nvSpPr>
        <p:spPr>
          <a:xfrm>
            <a:off x="4654296" y="2980944"/>
            <a:ext cx="1234440" cy="411480"/>
          </a:xfrm>
          <a:prstGeom prst="rect">
            <a:avLst/>
          </a:prstGeom>
          <a:noFill/>
          <a:ln/>
        </p:spPr>
        <p:txBody>
          <a:bodyPr wrap="square" lIns="0" tIns="0" rIns="0" bIns="0" rtlCol="0" anchor="t"/>
          <a:lstStyle/>
          <a:p>
            <a:pPr marL="0" indent="0" algn="ctr">
              <a:buNone/>
            </a:pPr>
            <a:r>
              <a:rPr lang="en-US" sz="1900" b="1" dirty="0">
                <a:solidFill>
                  <a:srgbClr val="D8DEE9"/>
                </a:solidFill>
                <a:latin typeface="Consolas" pitchFamily="34" charset="0"/>
                <a:ea typeface="Consolas" pitchFamily="34" charset="-122"/>
                <a:cs typeface="Consolas" pitchFamily="34" charset="-120"/>
              </a:rPr>
              <a:t>$78.8</a:t>
            </a:r>
            <a:endParaRPr lang="en-US" sz="1900" dirty="0"/>
          </a:p>
        </p:txBody>
      </p:sp>
      <p:sp>
        <p:nvSpPr>
          <p:cNvPr id="23" name="panel">
            <a:extLst>
              <a:ext uri="{C183D7F6-B498-43B3-948B-1728B52AA6E4}">
                <adec:decorative xmlns:adec="http://schemas.microsoft.com/office/drawing/2017/decorative" val="1"/>
              </a:ext>
            </a:extLst>
          </p:cNvPr>
          <p:cNvSpPr/>
          <p:nvPr/>
        </p:nvSpPr>
        <p:spPr>
          <a:xfrm>
            <a:off x="6016752" y="2194560"/>
            <a:ext cx="1234440" cy="1371600"/>
          </a:xfrm>
          <a:prstGeom prst="roundRect">
            <a:avLst>
              <a:gd name="adj" fmla="val 4444"/>
            </a:avLst>
          </a:prstGeom>
          <a:solidFill>
            <a:srgbClr val="10251C"/>
          </a:solidFill>
          <a:ln w="12700">
            <a:solidFill>
              <a:srgbClr val="3AD1E6"/>
            </a:solidFill>
            <a:prstDash val="solid"/>
          </a:ln>
        </p:spPr>
        <p:txBody>
          <a:bodyPr/>
          <a:lstStyle/>
          <a:p>
            <a:endParaRPr lang="en-SE"/>
          </a:p>
        </p:txBody>
      </p:sp>
      <p:sp>
        <p:nvSpPr>
          <p:cNvPr id="24" name="Text 22"/>
          <p:cNvSpPr/>
          <p:nvPr/>
        </p:nvSpPr>
        <p:spPr>
          <a:xfrm>
            <a:off x="6016752" y="2340864"/>
            <a:ext cx="1234440" cy="320040"/>
          </a:xfrm>
          <a:prstGeom prst="rect">
            <a:avLst/>
          </a:prstGeom>
          <a:noFill/>
          <a:ln/>
        </p:spPr>
        <p:txBody>
          <a:bodyPr wrap="square" lIns="0" tIns="0" rIns="0" bIns="0" rtlCol="0" anchor="t"/>
          <a:lstStyle/>
          <a:p>
            <a:pPr marL="0" indent="0" algn="ctr">
              <a:buNone/>
            </a:pPr>
            <a:r>
              <a:rPr lang="en-US" sz="1600" b="1" dirty="0">
                <a:solidFill>
                  <a:srgbClr val="3AD1E6"/>
                </a:solidFill>
                <a:latin typeface="Consolas" pitchFamily="34" charset="0"/>
                <a:ea typeface="Consolas" pitchFamily="34" charset="-122"/>
                <a:cs typeface="Consolas" pitchFamily="34" charset="-120"/>
              </a:rPr>
              <a:t>JUN</a:t>
            </a:r>
            <a:endParaRPr lang="en-US" sz="1600" dirty="0"/>
          </a:p>
        </p:txBody>
      </p:sp>
      <p:sp>
        <p:nvSpPr>
          <p:cNvPr id="25" name="Text 23"/>
          <p:cNvSpPr/>
          <p:nvPr/>
        </p:nvSpPr>
        <p:spPr>
          <a:xfrm>
            <a:off x="6016752"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26" name="Text 24"/>
          <p:cNvSpPr/>
          <p:nvPr/>
        </p:nvSpPr>
        <p:spPr>
          <a:xfrm>
            <a:off x="6016752" y="2980944"/>
            <a:ext cx="1234440" cy="411480"/>
          </a:xfrm>
          <a:prstGeom prst="rect">
            <a:avLst/>
          </a:prstGeom>
          <a:noFill/>
          <a:ln/>
        </p:spPr>
        <p:txBody>
          <a:bodyPr wrap="square" lIns="0" tIns="0" rIns="0" bIns="0" rtlCol="0" anchor="t"/>
          <a:lstStyle/>
          <a:p>
            <a:pPr marL="0" indent="0" algn="ctr">
              <a:buNone/>
            </a:pPr>
            <a:r>
              <a:rPr lang="en-US" sz="1900" b="1" dirty="0">
                <a:solidFill>
                  <a:srgbClr val="FFFFFF"/>
                </a:solidFill>
                <a:latin typeface="Consolas" pitchFamily="34" charset="0"/>
                <a:ea typeface="Consolas" pitchFamily="34" charset="-122"/>
                <a:cs typeface="Consolas" pitchFamily="34" charset="-120"/>
              </a:rPr>
              <a:t>$79.1</a:t>
            </a:r>
            <a:endParaRPr lang="en-US" sz="1900" dirty="0"/>
          </a:p>
        </p:txBody>
      </p:sp>
      <p:sp>
        <p:nvSpPr>
          <p:cNvPr id="27" name="panel">
            <a:extLst>
              <a:ext uri="{C183D7F6-B498-43B3-948B-1728B52AA6E4}">
                <adec:decorative xmlns:adec="http://schemas.microsoft.com/office/drawing/2017/decorative" val="1"/>
              </a:ext>
            </a:extLst>
          </p:cNvPr>
          <p:cNvSpPr/>
          <p:nvPr/>
        </p:nvSpPr>
        <p:spPr>
          <a:xfrm>
            <a:off x="7379208" y="2194560"/>
            <a:ext cx="1234440" cy="1371600"/>
          </a:xfrm>
          <a:prstGeom prst="roundRect">
            <a:avLst>
              <a:gd name="adj" fmla="val 4444"/>
            </a:avLst>
          </a:prstGeom>
          <a:solidFill>
            <a:srgbClr val="1B212C"/>
          </a:solidFill>
          <a:ln w="12700">
            <a:solidFill>
              <a:srgbClr val="2C3644"/>
            </a:solidFill>
            <a:prstDash val="solid"/>
          </a:ln>
        </p:spPr>
        <p:txBody>
          <a:bodyPr/>
          <a:lstStyle/>
          <a:p>
            <a:endParaRPr lang="en-SE"/>
          </a:p>
        </p:txBody>
      </p:sp>
      <p:sp>
        <p:nvSpPr>
          <p:cNvPr id="28" name="Text 26"/>
          <p:cNvSpPr/>
          <p:nvPr/>
        </p:nvSpPr>
        <p:spPr>
          <a:xfrm>
            <a:off x="7379208" y="2340864"/>
            <a:ext cx="1234440" cy="320040"/>
          </a:xfrm>
          <a:prstGeom prst="rect">
            <a:avLst/>
          </a:prstGeom>
          <a:noFill/>
          <a:ln/>
        </p:spPr>
        <p:txBody>
          <a:bodyPr wrap="square" lIns="0" tIns="0" rIns="0" bIns="0" rtlCol="0" anchor="t"/>
          <a:lstStyle/>
          <a:p>
            <a:pPr marL="0" indent="0" algn="ctr">
              <a:buNone/>
            </a:pPr>
            <a:r>
              <a:rPr lang="en-US" sz="1600" b="1" dirty="0">
                <a:solidFill>
                  <a:srgbClr val="FFFFFF"/>
                </a:solidFill>
                <a:latin typeface="Consolas" pitchFamily="34" charset="0"/>
                <a:ea typeface="Consolas" pitchFamily="34" charset="-122"/>
                <a:cs typeface="Consolas" pitchFamily="34" charset="-120"/>
              </a:rPr>
              <a:t>JUL</a:t>
            </a:r>
            <a:endParaRPr lang="en-US" sz="1600" dirty="0"/>
          </a:p>
        </p:txBody>
      </p:sp>
      <p:sp>
        <p:nvSpPr>
          <p:cNvPr id="29" name="Text 27"/>
          <p:cNvSpPr/>
          <p:nvPr/>
        </p:nvSpPr>
        <p:spPr>
          <a:xfrm>
            <a:off x="7379208" y="2706624"/>
            <a:ext cx="1234440" cy="228600"/>
          </a:xfrm>
          <a:prstGeom prst="rect">
            <a:avLst/>
          </a:prstGeom>
          <a:noFill/>
          <a:ln/>
        </p:spPr>
        <p:txBody>
          <a:bodyPr wrap="square" lIns="0" tIns="0" rIns="0" bIns="0" rtlCol="0" anchor="t"/>
          <a:lstStyle/>
          <a:p>
            <a:pPr marL="0" indent="0" algn="ctr">
              <a:buNone/>
            </a:pPr>
            <a:r>
              <a:rPr lang="en-US" sz="850" dirty="0">
                <a:solidFill>
                  <a:srgbClr val="8B96A8"/>
                </a:solidFill>
                <a:latin typeface="Segoe UI" pitchFamily="34" charset="0"/>
                <a:ea typeface="Segoe UI" pitchFamily="34" charset="-122"/>
                <a:cs typeface="Segoe UI" pitchFamily="34" charset="-120"/>
              </a:rPr>
              <a:t>WTI Crude</a:t>
            </a:r>
            <a:endParaRPr lang="en-US" sz="850" dirty="0"/>
          </a:p>
        </p:txBody>
      </p:sp>
      <p:sp>
        <p:nvSpPr>
          <p:cNvPr id="30" name="Text 28"/>
          <p:cNvSpPr/>
          <p:nvPr/>
        </p:nvSpPr>
        <p:spPr>
          <a:xfrm>
            <a:off x="7379208" y="2980944"/>
            <a:ext cx="1234440" cy="411480"/>
          </a:xfrm>
          <a:prstGeom prst="rect">
            <a:avLst/>
          </a:prstGeom>
          <a:noFill/>
          <a:ln/>
        </p:spPr>
        <p:txBody>
          <a:bodyPr wrap="square" lIns="0" tIns="0" rIns="0" bIns="0" rtlCol="0" anchor="t"/>
          <a:lstStyle/>
          <a:p>
            <a:pPr marL="0" indent="0" algn="ctr">
              <a:buNone/>
            </a:pPr>
            <a:r>
              <a:rPr lang="en-US" sz="1900" b="1" dirty="0">
                <a:solidFill>
                  <a:srgbClr val="D8DEE9"/>
                </a:solidFill>
                <a:latin typeface="Consolas" pitchFamily="34" charset="0"/>
                <a:ea typeface="Consolas" pitchFamily="34" charset="-122"/>
                <a:cs typeface="Consolas" pitchFamily="34" charset="-120"/>
              </a:rPr>
              <a:t>$79.3</a:t>
            </a:r>
            <a:endParaRPr lang="en-US" sz="1900" dirty="0"/>
          </a:p>
        </p:txBody>
      </p:sp>
      <p:sp>
        <p:nvSpPr>
          <p:cNvPr id="31" name="Text 29"/>
          <p:cNvSpPr/>
          <p:nvPr/>
        </p:nvSpPr>
        <p:spPr>
          <a:xfrm>
            <a:off x="566928" y="3703320"/>
            <a:ext cx="3657600" cy="274320"/>
          </a:xfrm>
          <a:prstGeom prst="rect">
            <a:avLst/>
          </a:prstGeom>
          <a:noFill/>
          <a:ln/>
        </p:spPr>
        <p:txBody>
          <a:bodyPr wrap="square" lIns="0" tIns="0" rIns="0" bIns="0" rtlCol="0" anchor="t"/>
          <a:lstStyle/>
          <a:p>
            <a:pPr marL="0" indent="0" algn="l">
              <a:buNone/>
            </a:pPr>
            <a:r>
              <a:rPr lang="en-US" sz="1000" i="1" dirty="0">
                <a:solidFill>
                  <a:srgbClr val="8B96A8"/>
                </a:solidFill>
                <a:latin typeface="Segoe UI" pitchFamily="34" charset="0"/>
                <a:ea typeface="Segoe UI" pitchFamily="34" charset="-122"/>
                <a:cs typeface="Segoe UI" pitchFamily="34" charset="-120"/>
              </a:rPr>
              <a:t>Illustrative WTI prices, $/barrel.</a:t>
            </a:r>
            <a:endParaRPr lang="en-US" sz="1000" dirty="0"/>
          </a:p>
        </p:txBody>
      </p:sp>
      <p:sp>
        <p:nvSpPr>
          <p:cNvPr id="32" name="panel">
            <a:extLst>
              <a:ext uri="{C183D7F6-B498-43B3-948B-1728B52AA6E4}">
                <adec:decorative xmlns:adec="http://schemas.microsoft.com/office/drawing/2017/decorative" val="1"/>
              </a:ext>
            </a:extLst>
          </p:cNvPr>
          <p:cNvSpPr/>
          <p:nvPr/>
        </p:nvSpPr>
        <p:spPr>
          <a:xfrm>
            <a:off x="566928" y="4069080"/>
            <a:ext cx="8028432" cy="594360"/>
          </a:xfrm>
          <a:prstGeom prst="roundRect">
            <a:avLst>
              <a:gd name="adj" fmla="val 9231"/>
            </a:avLst>
          </a:prstGeom>
          <a:solidFill>
            <a:srgbClr val="1B212C"/>
          </a:solidFill>
          <a:ln w="12700">
            <a:solidFill>
              <a:srgbClr val="2C3644"/>
            </a:solidFill>
            <a:prstDash val="solid"/>
          </a:ln>
        </p:spPr>
        <p:txBody>
          <a:bodyPr/>
          <a:lstStyle/>
          <a:p>
            <a:endParaRPr lang="en-SE"/>
          </a:p>
        </p:txBody>
      </p:sp>
      <p:sp>
        <p:nvSpPr>
          <p:cNvPr id="33" name="Text 31"/>
          <p:cNvSpPr/>
          <p:nvPr/>
        </p:nvSpPr>
        <p:spPr>
          <a:xfrm>
            <a:off x="731520" y="4069080"/>
            <a:ext cx="7726680" cy="594360"/>
          </a:xfrm>
          <a:prstGeom prst="rect">
            <a:avLst/>
          </a:prstGeom>
          <a:noFill/>
          <a:ln/>
        </p:spPr>
        <p:txBody>
          <a:bodyPr wrap="square" lIns="0" tIns="0" rIns="0" bIns="0" rtlCol="0" anchor="ctr"/>
          <a:lstStyle/>
          <a:p>
            <a:pPr marL="0" indent="0" algn="l">
              <a:lnSpc>
                <a:spcPts val="1600"/>
              </a:lnSpc>
              <a:buNone/>
            </a:pPr>
            <a:r>
              <a:rPr lang="en-US" sz="1250" dirty="0">
                <a:solidFill>
                  <a:srgbClr val="D8DEE9"/>
                </a:solidFill>
                <a:latin typeface="Segoe UI" pitchFamily="34" charset="0"/>
                <a:ea typeface="Segoe UI" pitchFamily="34" charset="-122"/>
                <a:cs typeface="Segoe UI" pitchFamily="34" charset="-120"/>
              </a:rPr>
              <a:t>“March oil” and “June oil” are two different instruments — you can buy one and sell the other independently.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Why March and June don't cost the same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PRIMER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05</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The price gap between months reflects the cost and expectations of holding oil over time.</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965960"/>
            <a:ext cx="3977640" cy="2651760"/>
          </a:xfrm>
          <a:prstGeom prst="roundRect">
            <a:avLst>
              <a:gd name="adj" fmla="val 2069"/>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093976"/>
            <a:ext cx="3657600" cy="228600"/>
          </a:xfrm>
          <a:prstGeom prst="rect">
            <a:avLst/>
          </a:prstGeom>
          <a:noFill/>
          <a:ln/>
        </p:spPr>
        <p:txBody>
          <a:bodyPr wrap="square" lIns="0" tIns="0" rIns="0" bIns="0" rtlCol="0" anchor="t"/>
          <a:lstStyle/>
          <a:p>
            <a:pPr marL="0" indent="0" algn="l">
              <a:buNone/>
            </a:pPr>
            <a:r>
              <a:rPr lang="en-US" sz="1000" b="1" kern="0" spc="100" dirty="0">
                <a:solidFill>
                  <a:srgbClr val="35E07E"/>
                </a:solidFill>
                <a:latin typeface="Segoe UI" pitchFamily="34" charset="0"/>
                <a:ea typeface="Segoe UI" pitchFamily="34" charset="-122"/>
                <a:cs typeface="Segoe UI" pitchFamily="34" charset="-120"/>
              </a:rPr>
              <a:t>THE SAME BARREL, TWO DATES</a:t>
            </a:r>
            <a:endParaRPr lang="en-US" sz="1000" dirty="0"/>
          </a:p>
        </p:txBody>
      </p:sp>
      <p:sp>
        <p:nvSpPr>
          <p:cNvPr id="9" name="bar">
            <a:extLst>
              <a:ext uri="{C183D7F6-B498-43B3-948B-1728B52AA6E4}">
                <adec:decorative xmlns:adec="http://schemas.microsoft.com/office/drawing/2017/decorative" val="1"/>
              </a:ext>
            </a:extLst>
          </p:cNvPr>
          <p:cNvSpPr/>
          <p:nvPr/>
        </p:nvSpPr>
        <p:spPr>
          <a:xfrm>
            <a:off x="1417320" y="3026664"/>
            <a:ext cx="777240" cy="1179576"/>
          </a:xfrm>
          <a:prstGeom prst="rect">
            <a:avLst/>
          </a:prstGeom>
          <a:solidFill>
            <a:srgbClr val="35E07E"/>
          </a:solidFill>
          <a:ln/>
        </p:spPr>
        <p:txBody>
          <a:bodyPr/>
          <a:lstStyle/>
          <a:p>
            <a:endParaRPr lang="en-SE"/>
          </a:p>
        </p:txBody>
      </p:sp>
      <p:sp>
        <p:nvSpPr>
          <p:cNvPr id="10" name="Text 8"/>
          <p:cNvSpPr/>
          <p:nvPr/>
        </p:nvSpPr>
        <p:spPr>
          <a:xfrm>
            <a:off x="1280160" y="2734056"/>
            <a:ext cx="1051560" cy="274320"/>
          </a:xfrm>
          <a:prstGeom prst="rect">
            <a:avLst/>
          </a:prstGeom>
          <a:noFill/>
          <a:ln/>
        </p:spPr>
        <p:txBody>
          <a:bodyPr wrap="square" lIns="0" tIns="0" rIns="0" bIns="0" rtlCol="0" anchor="t"/>
          <a:lstStyle/>
          <a:p>
            <a:pPr marL="0" indent="0" algn="ctr">
              <a:buNone/>
            </a:pPr>
            <a:r>
              <a:rPr lang="en-US" sz="1400" b="1" dirty="0">
                <a:solidFill>
                  <a:srgbClr val="FFFFFF"/>
                </a:solidFill>
                <a:latin typeface="Consolas" pitchFamily="34" charset="0"/>
                <a:ea typeface="Consolas" pitchFamily="34" charset="-122"/>
                <a:cs typeface="Consolas" pitchFamily="34" charset="-120"/>
              </a:rPr>
              <a:t>$78.20</a:t>
            </a:r>
            <a:endParaRPr lang="en-US" sz="1400" dirty="0"/>
          </a:p>
        </p:txBody>
      </p:sp>
      <p:sp>
        <p:nvSpPr>
          <p:cNvPr id="11" name="Text 9"/>
          <p:cNvSpPr/>
          <p:nvPr/>
        </p:nvSpPr>
        <p:spPr>
          <a:xfrm>
            <a:off x="1280160" y="4261104"/>
            <a:ext cx="1051560" cy="228600"/>
          </a:xfrm>
          <a:prstGeom prst="rect">
            <a:avLst/>
          </a:prstGeom>
          <a:noFill/>
          <a:ln/>
        </p:spPr>
        <p:txBody>
          <a:bodyPr wrap="square" lIns="0" tIns="0" rIns="0" bIns="0" rtlCol="0" anchor="t"/>
          <a:lstStyle/>
          <a:p>
            <a:pPr marL="0" indent="0" algn="ctr">
              <a:buNone/>
            </a:pPr>
            <a:r>
              <a:rPr lang="en-US" sz="1100" dirty="0">
                <a:solidFill>
                  <a:srgbClr val="8B96A8"/>
                </a:solidFill>
                <a:latin typeface="Consolas" pitchFamily="34" charset="0"/>
                <a:ea typeface="Consolas" pitchFamily="34" charset="-122"/>
                <a:cs typeface="Consolas" pitchFamily="34" charset="-120"/>
              </a:rPr>
              <a:t>MARCH</a:t>
            </a:r>
            <a:endParaRPr lang="en-US" sz="1100" dirty="0"/>
          </a:p>
        </p:txBody>
      </p:sp>
      <p:sp>
        <p:nvSpPr>
          <p:cNvPr id="12" name="bar">
            <a:extLst>
              <a:ext uri="{C183D7F6-B498-43B3-948B-1728B52AA6E4}">
                <adec:decorative xmlns:adec="http://schemas.microsoft.com/office/drawing/2017/decorative" val="1"/>
              </a:ext>
            </a:extLst>
          </p:cNvPr>
          <p:cNvSpPr/>
          <p:nvPr/>
        </p:nvSpPr>
        <p:spPr>
          <a:xfrm>
            <a:off x="2788920" y="2834640"/>
            <a:ext cx="777240" cy="1371600"/>
          </a:xfrm>
          <a:prstGeom prst="rect">
            <a:avLst/>
          </a:prstGeom>
          <a:solidFill>
            <a:srgbClr val="3AD1E6"/>
          </a:solidFill>
          <a:ln/>
        </p:spPr>
        <p:txBody>
          <a:bodyPr/>
          <a:lstStyle/>
          <a:p>
            <a:endParaRPr lang="en-SE"/>
          </a:p>
        </p:txBody>
      </p:sp>
      <p:sp>
        <p:nvSpPr>
          <p:cNvPr id="13" name="Text 11"/>
          <p:cNvSpPr/>
          <p:nvPr/>
        </p:nvSpPr>
        <p:spPr>
          <a:xfrm>
            <a:off x="2651760" y="2542032"/>
            <a:ext cx="1051560" cy="274320"/>
          </a:xfrm>
          <a:prstGeom prst="rect">
            <a:avLst/>
          </a:prstGeom>
          <a:noFill/>
          <a:ln/>
        </p:spPr>
        <p:txBody>
          <a:bodyPr wrap="square" lIns="0" tIns="0" rIns="0" bIns="0" rtlCol="0" anchor="t"/>
          <a:lstStyle/>
          <a:p>
            <a:pPr marL="0" indent="0" algn="ctr">
              <a:buNone/>
            </a:pPr>
            <a:r>
              <a:rPr lang="en-US" sz="1400" b="1" dirty="0">
                <a:solidFill>
                  <a:srgbClr val="FFFFFF"/>
                </a:solidFill>
                <a:latin typeface="Consolas" pitchFamily="34" charset="0"/>
                <a:ea typeface="Consolas" pitchFamily="34" charset="-122"/>
                <a:cs typeface="Consolas" pitchFamily="34" charset="-120"/>
              </a:rPr>
              <a:t>$79.10</a:t>
            </a:r>
            <a:endParaRPr lang="en-US" sz="1400" dirty="0"/>
          </a:p>
        </p:txBody>
      </p:sp>
      <p:sp>
        <p:nvSpPr>
          <p:cNvPr id="14" name="Text 12"/>
          <p:cNvSpPr/>
          <p:nvPr/>
        </p:nvSpPr>
        <p:spPr>
          <a:xfrm>
            <a:off x="2651760" y="4261104"/>
            <a:ext cx="1051560" cy="228600"/>
          </a:xfrm>
          <a:prstGeom prst="rect">
            <a:avLst/>
          </a:prstGeom>
          <a:noFill/>
          <a:ln/>
        </p:spPr>
        <p:txBody>
          <a:bodyPr wrap="square" lIns="0" tIns="0" rIns="0" bIns="0" rtlCol="0" anchor="t"/>
          <a:lstStyle/>
          <a:p>
            <a:pPr marL="0" indent="0" algn="ctr">
              <a:buNone/>
            </a:pPr>
            <a:r>
              <a:rPr lang="en-US" sz="1100" dirty="0">
                <a:solidFill>
                  <a:srgbClr val="8B96A8"/>
                </a:solidFill>
                <a:latin typeface="Consolas" pitchFamily="34" charset="0"/>
                <a:ea typeface="Consolas" pitchFamily="34" charset="-122"/>
                <a:cs typeface="Consolas" pitchFamily="34" charset="-120"/>
              </a:rPr>
              <a:t>JUNE</a:t>
            </a:r>
            <a:endParaRPr lang="en-US" sz="1100" dirty="0"/>
          </a:p>
        </p:txBody>
      </p:sp>
      <p:sp>
        <p:nvSpPr>
          <p:cNvPr id="15" name="arrow">
            <a:extLst>
              <a:ext uri="{C183D7F6-B498-43B3-948B-1728B52AA6E4}">
                <adec:decorative xmlns:adec="http://schemas.microsoft.com/office/drawing/2017/decorative" val="1"/>
              </a:ext>
            </a:extLst>
          </p:cNvPr>
          <p:cNvSpPr/>
          <p:nvPr/>
        </p:nvSpPr>
        <p:spPr>
          <a:xfrm>
            <a:off x="2331720" y="2971800"/>
            <a:ext cx="384048" cy="0"/>
          </a:xfrm>
          <a:prstGeom prst="line">
            <a:avLst/>
          </a:prstGeom>
          <a:noFill/>
          <a:ln w="25400">
            <a:solidFill>
              <a:srgbClr val="8B96A8"/>
            </a:solidFill>
            <a:prstDash val="solid"/>
            <a:tailEnd type="triangle"/>
          </a:ln>
        </p:spPr>
        <p:txBody>
          <a:bodyPr/>
          <a:lstStyle/>
          <a:p>
            <a:endParaRPr lang="en-SE"/>
          </a:p>
        </p:txBody>
      </p:sp>
      <p:sp>
        <p:nvSpPr>
          <p:cNvPr id="16" name="Text 14"/>
          <p:cNvSpPr/>
          <p:nvPr/>
        </p:nvSpPr>
        <p:spPr>
          <a:xfrm>
            <a:off x="2103120" y="2423160"/>
            <a:ext cx="2194560" cy="274320"/>
          </a:xfrm>
          <a:prstGeom prst="rect">
            <a:avLst/>
          </a:prstGeom>
          <a:noFill/>
          <a:ln/>
        </p:spPr>
        <p:txBody>
          <a:bodyPr wrap="square" lIns="0" tIns="0" rIns="0" bIns="0" rtlCol="0" anchor="t"/>
          <a:lstStyle/>
          <a:p>
            <a:pPr marL="0" indent="0" algn="ctr">
              <a:buNone/>
            </a:pPr>
            <a:r>
              <a:rPr lang="en-US" sz="1000" i="1" dirty="0">
                <a:solidFill>
                  <a:srgbClr val="FBB24B"/>
                </a:solidFill>
                <a:latin typeface="Segoe UI" pitchFamily="34" charset="0"/>
                <a:ea typeface="Segoe UI" pitchFamily="34" charset="-122"/>
                <a:cs typeface="Segoe UI" pitchFamily="34" charset="-120"/>
              </a:rPr>
              <a:t>later month dearer</a:t>
            </a:r>
            <a:endParaRPr lang="en-US" sz="1000" dirty="0"/>
          </a:p>
        </p:txBody>
      </p:sp>
      <p:sp>
        <p:nvSpPr>
          <p:cNvPr id="17" name="panel">
            <a:extLst>
              <a:ext uri="{C183D7F6-B498-43B3-948B-1728B52AA6E4}">
                <adec:decorative xmlns:adec="http://schemas.microsoft.com/office/drawing/2017/decorative" val="1"/>
              </a:ext>
            </a:extLst>
          </p:cNvPr>
          <p:cNvSpPr/>
          <p:nvPr/>
        </p:nvSpPr>
        <p:spPr>
          <a:xfrm>
            <a:off x="4663440" y="1965960"/>
            <a:ext cx="3931920" cy="2651760"/>
          </a:xfrm>
          <a:prstGeom prst="roundRect">
            <a:avLst>
              <a:gd name="adj" fmla="val 2069"/>
            </a:avLst>
          </a:prstGeom>
          <a:solidFill>
            <a:srgbClr val="1B212C"/>
          </a:solidFill>
          <a:ln w="12700">
            <a:solidFill>
              <a:srgbClr val="2C3644"/>
            </a:solidFill>
            <a:prstDash val="solid"/>
          </a:ln>
        </p:spPr>
        <p:txBody>
          <a:bodyPr/>
          <a:lstStyle/>
          <a:p>
            <a:endParaRPr lang="en-SE"/>
          </a:p>
        </p:txBody>
      </p:sp>
      <p:sp>
        <p:nvSpPr>
          <p:cNvPr id="18" name="Text 16"/>
          <p:cNvSpPr/>
          <p:nvPr/>
        </p:nvSpPr>
        <p:spPr>
          <a:xfrm>
            <a:off x="4846320" y="2093976"/>
            <a:ext cx="3657600" cy="228600"/>
          </a:xfrm>
          <a:prstGeom prst="rect">
            <a:avLst/>
          </a:prstGeom>
          <a:noFill/>
          <a:ln/>
        </p:spPr>
        <p:txBody>
          <a:bodyPr wrap="square" lIns="0" tIns="0" rIns="0" bIns="0" rtlCol="0" anchor="t"/>
          <a:lstStyle/>
          <a:p>
            <a:pPr marL="0" indent="0" algn="l">
              <a:buNone/>
            </a:pPr>
            <a:r>
              <a:rPr lang="en-US" sz="1000" b="1" kern="0" spc="100" dirty="0">
                <a:solidFill>
                  <a:srgbClr val="3AD1E6"/>
                </a:solidFill>
                <a:latin typeface="Segoe UI" pitchFamily="34" charset="0"/>
                <a:ea typeface="Segoe UI" pitchFamily="34" charset="-122"/>
                <a:cs typeface="Segoe UI" pitchFamily="34" charset="-120"/>
              </a:rPr>
              <a:t>WHAT DRIVES THE GAP</a:t>
            </a:r>
            <a:endParaRPr lang="en-US" sz="1000" dirty="0"/>
          </a:p>
        </p:txBody>
      </p:sp>
      <p:sp>
        <p:nvSpPr>
          <p:cNvPr id="19" name="dot">
            <a:extLst>
              <a:ext uri="{C183D7F6-B498-43B3-948B-1728B52AA6E4}">
                <adec:decorative xmlns:adec="http://schemas.microsoft.com/office/drawing/2017/decorative" val="1"/>
              </a:ext>
            </a:extLst>
          </p:cNvPr>
          <p:cNvSpPr/>
          <p:nvPr/>
        </p:nvSpPr>
        <p:spPr>
          <a:xfrm>
            <a:off x="4846320" y="2523744"/>
            <a:ext cx="146304" cy="146304"/>
          </a:xfrm>
          <a:prstGeom prst="ellipse">
            <a:avLst/>
          </a:prstGeom>
          <a:solidFill>
            <a:srgbClr val="35E07E"/>
          </a:solidFill>
          <a:ln/>
        </p:spPr>
        <p:txBody>
          <a:bodyPr/>
          <a:lstStyle/>
          <a:p>
            <a:endParaRPr lang="en-SE"/>
          </a:p>
        </p:txBody>
      </p:sp>
      <p:sp>
        <p:nvSpPr>
          <p:cNvPr id="20" name="Text 18"/>
          <p:cNvSpPr/>
          <p:nvPr/>
        </p:nvSpPr>
        <p:spPr>
          <a:xfrm>
            <a:off x="5120640" y="2468880"/>
            <a:ext cx="3383280" cy="274320"/>
          </a:xfrm>
          <a:prstGeom prst="rect">
            <a:avLst/>
          </a:prstGeom>
          <a:noFill/>
          <a:ln/>
        </p:spPr>
        <p:txBody>
          <a:bodyPr wrap="square" lIns="0" tIns="0" rIns="0" bIns="0" rtlCol="0" anchor="t"/>
          <a:lstStyle/>
          <a:p>
            <a:pPr marL="0" indent="0" algn="l">
              <a:buNone/>
            </a:pPr>
            <a:r>
              <a:rPr lang="en-US" sz="1250" b="1" dirty="0">
                <a:solidFill>
                  <a:srgbClr val="FFFFFF"/>
                </a:solidFill>
                <a:latin typeface="Segoe UI" pitchFamily="34" charset="0"/>
                <a:ea typeface="Segoe UI" pitchFamily="34" charset="-122"/>
                <a:cs typeface="Segoe UI" pitchFamily="34" charset="-120"/>
              </a:rPr>
              <a:t>Storage &amp; insurance</a:t>
            </a:r>
            <a:endParaRPr lang="en-US" sz="1250" dirty="0"/>
          </a:p>
        </p:txBody>
      </p:sp>
      <p:sp>
        <p:nvSpPr>
          <p:cNvPr id="21" name="Text 19"/>
          <p:cNvSpPr/>
          <p:nvPr/>
        </p:nvSpPr>
        <p:spPr>
          <a:xfrm>
            <a:off x="5120640" y="2724912"/>
            <a:ext cx="3383280" cy="274320"/>
          </a:xfrm>
          <a:prstGeom prst="rect">
            <a:avLst/>
          </a:prstGeom>
          <a:noFill/>
          <a:ln/>
        </p:spPr>
        <p:txBody>
          <a:bodyPr wrap="square" lIns="0" tIns="0" rIns="0" bIns="0" rtlCol="0" anchor="t"/>
          <a:lstStyle/>
          <a:p>
            <a:pPr marL="0" indent="0" algn="l">
              <a:buNone/>
            </a:pPr>
            <a:r>
              <a:rPr lang="en-US" sz="1050" dirty="0">
                <a:solidFill>
                  <a:srgbClr val="8B96A8"/>
                </a:solidFill>
                <a:latin typeface="Segoe UI" pitchFamily="34" charset="0"/>
                <a:ea typeface="Segoe UI" pitchFamily="34" charset="-122"/>
                <a:cs typeface="Segoe UI" pitchFamily="34" charset="-120"/>
              </a:rPr>
              <a:t>holding barrels until June costs money</a:t>
            </a:r>
            <a:endParaRPr lang="en-US" sz="1050" dirty="0"/>
          </a:p>
        </p:txBody>
      </p:sp>
      <p:sp>
        <p:nvSpPr>
          <p:cNvPr id="22" name="dot">
            <a:extLst>
              <a:ext uri="{C183D7F6-B498-43B3-948B-1728B52AA6E4}">
                <adec:decorative xmlns:adec="http://schemas.microsoft.com/office/drawing/2017/decorative" val="1"/>
              </a:ext>
            </a:extLst>
          </p:cNvPr>
          <p:cNvSpPr/>
          <p:nvPr/>
        </p:nvSpPr>
        <p:spPr>
          <a:xfrm>
            <a:off x="4846320" y="3090672"/>
            <a:ext cx="146304" cy="146304"/>
          </a:xfrm>
          <a:prstGeom prst="ellipse">
            <a:avLst/>
          </a:prstGeom>
          <a:solidFill>
            <a:srgbClr val="3AD1E6"/>
          </a:solidFill>
          <a:ln/>
        </p:spPr>
        <p:txBody>
          <a:bodyPr/>
          <a:lstStyle/>
          <a:p>
            <a:endParaRPr lang="en-SE"/>
          </a:p>
        </p:txBody>
      </p:sp>
      <p:sp>
        <p:nvSpPr>
          <p:cNvPr id="23" name="Text 21"/>
          <p:cNvSpPr/>
          <p:nvPr/>
        </p:nvSpPr>
        <p:spPr>
          <a:xfrm>
            <a:off x="5120640" y="3035808"/>
            <a:ext cx="3383280" cy="274320"/>
          </a:xfrm>
          <a:prstGeom prst="rect">
            <a:avLst/>
          </a:prstGeom>
          <a:noFill/>
          <a:ln/>
        </p:spPr>
        <p:txBody>
          <a:bodyPr wrap="square" lIns="0" tIns="0" rIns="0" bIns="0" rtlCol="0" anchor="t"/>
          <a:lstStyle/>
          <a:p>
            <a:pPr marL="0" indent="0" algn="l">
              <a:buNone/>
            </a:pPr>
            <a:r>
              <a:rPr lang="en-US" sz="1250" b="1" dirty="0">
                <a:solidFill>
                  <a:srgbClr val="FFFFFF"/>
                </a:solidFill>
                <a:latin typeface="Segoe UI" pitchFamily="34" charset="0"/>
                <a:ea typeface="Segoe UI" pitchFamily="34" charset="-122"/>
                <a:cs typeface="Segoe UI" pitchFamily="34" charset="-120"/>
              </a:rPr>
              <a:t>Financing</a:t>
            </a:r>
            <a:endParaRPr lang="en-US" sz="1250" dirty="0"/>
          </a:p>
        </p:txBody>
      </p:sp>
      <p:sp>
        <p:nvSpPr>
          <p:cNvPr id="24" name="Text 22"/>
          <p:cNvSpPr/>
          <p:nvPr/>
        </p:nvSpPr>
        <p:spPr>
          <a:xfrm>
            <a:off x="5120640" y="3291840"/>
            <a:ext cx="3383280" cy="274320"/>
          </a:xfrm>
          <a:prstGeom prst="rect">
            <a:avLst/>
          </a:prstGeom>
          <a:noFill/>
          <a:ln/>
        </p:spPr>
        <p:txBody>
          <a:bodyPr wrap="square" lIns="0" tIns="0" rIns="0" bIns="0" rtlCol="0" anchor="t"/>
          <a:lstStyle/>
          <a:p>
            <a:pPr marL="0" indent="0" algn="l">
              <a:buNone/>
            </a:pPr>
            <a:r>
              <a:rPr lang="en-US" sz="1050" dirty="0">
                <a:solidFill>
                  <a:srgbClr val="8B96A8"/>
                </a:solidFill>
                <a:latin typeface="Segoe UI" pitchFamily="34" charset="0"/>
                <a:ea typeface="Segoe UI" pitchFamily="34" charset="-122"/>
                <a:cs typeface="Segoe UI" pitchFamily="34" charset="-120"/>
              </a:rPr>
              <a:t>cash tied up in the barrel earns interest elsewhere</a:t>
            </a:r>
            <a:endParaRPr lang="en-US" sz="1050" dirty="0"/>
          </a:p>
        </p:txBody>
      </p:sp>
      <p:sp>
        <p:nvSpPr>
          <p:cNvPr id="25" name="dot">
            <a:extLst>
              <a:ext uri="{C183D7F6-B498-43B3-948B-1728B52AA6E4}">
                <adec:decorative xmlns:adec="http://schemas.microsoft.com/office/drawing/2017/decorative" val="1"/>
              </a:ext>
            </a:extLst>
          </p:cNvPr>
          <p:cNvSpPr/>
          <p:nvPr/>
        </p:nvSpPr>
        <p:spPr>
          <a:xfrm>
            <a:off x="4846320" y="3657600"/>
            <a:ext cx="146304" cy="146304"/>
          </a:xfrm>
          <a:prstGeom prst="ellipse">
            <a:avLst/>
          </a:prstGeom>
          <a:solidFill>
            <a:srgbClr val="FBB24B"/>
          </a:solidFill>
          <a:ln/>
        </p:spPr>
        <p:txBody>
          <a:bodyPr/>
          <a:lstStyle/>
          <a:p>
            <a:endParaRPr lang="en-SE"/>
          </a:p>
        </p:txBody>
      </p:sp>
      <p:sp>
        <p:nvSpPr>
          <p:cNvPr id="26" name="Text 24"/>
          <p:cNvSpPr/>
          <p:nvPr/>
        </p:nvSpPr>
        <p:spPr>
          <a:xfrm>
            <a:off x="5120640" y="3602736"/>
            <a:ext cx="3383280" cy="274320"/>
          </a:xfrm>
          <a:prstGeom prst="rect">
            <a:avLst/>
          </a:prstGeom>
          <a:noFill/>
          <a:ln/>
        </p:spPr>
        <p:txBody>
          <a:bodyPr wrap="square" lIns="0" tIns="0" rIns="0" bIns="0" rtlCol="0" anchor="t"/>
          <a:lstStyle/>
          <a:p>
            <a:pPr marL="0" indent="0" algn="l">
              <a:buNone/>
            </a:pPr>
            <a:r>
              <a:rPr lang="en-US" sz="1250" b="1" dirty="0">
                <a:solidFill>
                  <a:srgbClr val="FFFFFF"/>
                </a:solidFill>
                <a:latin typeface="Segoe UI" pitchFamily="34" charset="0"/>
                <a:ea typeface="Segoe UI" pitchFamily="34" charset="-122"/>
                <a:cs typeface="Segoe UI" pitchFamily="34" charset="-120"/>
              </a:rPr>
              <a:t>Seasonality &amp; outlook</a:t>
            </a:r>
            <a:endParaRPr lang="en-US" sz="1250" dirty="0"/>
          </a:p>
        </p:txBody>
      </p:sp>
      <p:sp>
        <p:nvSpPr>
          <p:cNvPr id="27" name="Text 25"/>
          <p:cNvSpPr/>
          <p:nvPr/>
        </p:nvSpPr>
        <p:spPr>
          <a:xfrm>
            <a:off x="5120640" y="3858768"/>
            <a:ext cx="3383280" cy="274320"/>
          </a:xfrm>
          <a:prstGeom prst="rect">
            <a:avLst/>
          </a:prstGeom>
          <a:noFill/>
          <a:ln/>
        </p:spPr>
        <p:txBody>
          <a:bodyPr wrap="square" lIns="0" tIns="0" rIns="0" bIns="0" rtlCol="0" anchor="t"/>
          <a:lstStyle/>
          <a:p>
            <a:pPr marL="0" indent="0" algn="l">
              <a:buNone/>
            </a:pPr>
            <a:r>
              <a:rPr lang="en-US" sz="1050" dirty="0">
                <a:solidFill>
                  <a:srgbClr val="8B96A8"/>
                </a:solidFill>
                <a:latin typeface="Segoe UI" pitchFamily="34" charset="0"/>
                <a:ea typeface="Segoe UI" pitchFamily="34" charset="-122"/>
                <a:cs typeface="Segoe UI" pitchFamily="34" charset="-120"/>
              </a:rPr>
              <a:t>expected supply and demand shift by month</a:t>
            </a:r>
            <a:endParaRPr lang="en-US" sz="1050" dirty="0"/>
          </a:p>
        </p:txBody>
      </p:sp>
      <p:sp>
        <p:nvSpPr>
          <p:cNvPr id="28" name="rule">
            <a:extLst>
              <a:ext uri="{C183D7F6-B498-43B3-948B-1728B52AA6E4}">
                <adec:decorative xmlns:adec="http://schemas.microsoft.com/office/drawing/2017/decorative" val="1"/>
              </a:ext>
            </a:extLst>
          </p:cNvPr>
          <p:cNvSpPr/>
          <p:nvPr/>
        </p:nvSpPr>
        <p:spPr>
          <a:xfrm>
            <a:off x="4846320" y="4160520"/>
            <a:ext cx="3566160" cy="0"/>
          </a:xfrm>
          <a:prstGeom prst="line">
            <a:avLst/>
          </a:prstGeom>
          <a:noFill/>
          <a:ln w="12700">
            <a:solidFill>
              <a:srgbClr val="2C3644"/>
            </a:solidFill>
            <a:prstDash val="solid"/>
          </a:ln>
        </p:spPr>
        <p:txBody>
          <a:bodyPr/>
          <a:lstStyle/>
          <a:p>
            <a:endParaRPr lang="en-SE"/>
          </a:p>
        </p:txBody>
      </p:sp>
      <p:sp>
        <p:nvSpPr>
          <p:cNvPr id="29" name="Text 27"/>
          <p:cNvSpPr/>
          <p:nvPr/>
        </p:nvSpPr>
        <p:spPr>
          <a:xfrm>
            <a:off x="4800600" y="4251960"/>
            <a:ext cx="3657600" cy="365760"/>
          </a:xfrm>
          <a:prstGeom prst="rect">
            <a:avLst/>
          </a:prstGeom>
          <a:noFill/>
          <a:ln/>
        </p:spPr>
        <p:txBody>
          <a:bodyPr wrap="square" lIns="0" tIns="0" rIns="0" bIns="0" rtlCol="0" anchor="ctr"/>
          <a:lstStyle/>
          <a:p>
            <a:pPr marL="0" indent="0" algn="l">
              <a:buNone/>
            </a:pPr>
            <a:r>
              <a:rPr lang="en-US" sz="1300" dirty="0">
                <a:solidFill>
                  <a:srgbClr val="8B96A8"/>
                </a:solidFill>
                <a:latin typeface="Consolas" pitchFamily="34" charset="0"/>
                <a:ea typeface="Consolas" pitchFamily="34" charset="-122"/>
                <a:cs typeface="Consolas" pitchFamily="34" charset="-120"/>
              </a:rPr>
              <a:t>June &gt; March  →  </a:t>
            </a:r>
            <a:r>
              <a:rPr lang="en-US" sz="1300" b="1" dirty="0">
                <a:solidFill>
                  <a:srgbClr val="FBB24B"/>
                </a:solidFill>
                <a:latin typeface="Consolas" pitchFamily="34" charset="0"/>
                <a:ea typeface="Consolas" pitchFamily="34" charset="-122"/>
                <a:cs typeface="Consolas" pitchFamily="34" charset="-120"/>
              </a:rPr>
              <a:t>“contango”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 combo order trades two months at once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PRIMER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06</a:t>
            </a:r>
            <a:endParaRPr lang="en-US" sz="850" dirty="0"/>
          </a:p>
        </p:txBody>
      </p:sp>
      <p:sp>
        <p:nvSpPr>
          <p:cNvPr id="6" name="Text 4"/>
          <p:cNvSpPr/>
          <p:nvPr/>
        </p:nvSpPr>
        <p:spPr>
          <a:xfrm>
            <a:off x="502920" y="1417320"/>
            <a:ext cx="8092440" cy="548640"/>
          </a:xfrm>
          <a:prstGeom prst="rect">
            <a:avLst/>
          </a:prstGeom>
          <a:noFill/>
          <a:ln/>
        </p:spPr>
        <p:txBody>
          <a:bodyPr wrap="square" lIns="0" tIns="0" rIns="0" bIns="0" rtlCol="0" anchor="t"/>
          <a:lstStyle/>
          <a:p>
            <a:pPr marL="0" indent="0" algn="l">
              <a:lnSpc>
                <a:spcPts val="2000"/>
              </a:lnSpc>
              <a:buNone/>
            </a:pPr>
            <a:r>
              <a:rPr lang="en-US" sz="1400" dirty="0">
                <a:solidFill>
                  <a:srgbClr val="D8DEE9"/>
                </a:solidFill>
                <a:latin typeface="Segoe UI" pitchFamily="34" charset="0"/>
                <a:ea typeface="Segoe UI" pitchFamily="34" charset="-122"/>
                <a:cs typeface="Segoe UI" pitchFamily="34" charset="-120"/>
              </a:rPr>
              <a:t>Instead of sending two separate orders, a combo (spread) order bundles both legs into ONE instrument that fills together, in a fixed 1:1 ratio.</a:t>
            </a:r>
            <a:endParaRPr lang="en-US" sz="1400" dirty="0"/>
          </a:p>
        </p:txBody>
      </p:sp>
      <p:sp>
        <p:nvSpPr>
          <p:cNvPr id="7" name="panel">
            <a:extLst>
              <a:ext uri="{C183D7F6-B498-43B3-948B-1728B52AA6E4}">
                <adec:decorative xmlns:adec="http://schemas.microsoft.com/office/drawing/2017/decorative" val="1"/>
              </a:ext>
            </a:extLst>
          </p:cNvPr>
          <p:cNvSpPr/>
          <p:nvPr/>
        </p:nvSpPr>
        <p:spPr>
          <a:xfrm>
            <a:off x="502920" y="2148840"/>
            <a:ext cx="3931920" cy="2377440"/>
          </a:xfrm>
          <a:prstGeom prst="roundRect">
            <a:avLst>
              <a:gd name="adj" fmla="val 2308"/>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267712"/>
            <a:ext cx="3474720" cy="228600"/>
          </a:xfrm>
          <a:prstGeom prst="rect">
            <a:avLst/>
          </a:prstGeom>
          <a:noFill/>
          <a:ln/>
        </p:spPr>
        <p:txBody>
          <a:bodyPr wrap="square" lIns="0" tIns="0" rIns="0" bIns="0" rtlCol="0" anchor="t"/>
          <a:lstStyle/>
          <a:p>
            <a:pPr marL="0" indent="0" algn="l">
              <a:buNone/>
            </a:pPr>
            <a:r>
              <a:rPr lang="en-US" sz="1000" b="1" kern="0" spc="200" dirty="0">
                <a:solidFill>
                  <a:srgbClr val="3AD1E6"/>
                </a:solidFill>
                <a:latin typeface="Segoe UI" pitchFamily="34" charset="0"/>
                <a:ea typeface="Segoe UI" pitchFamily="34" charset="-122"/>
                <a:cs typeface="Segoe UI" pitchFamily="34" charset="-120"/>
              </a:rPr>
              <a:t>TWO LEGS, ONE TICKET</a:t>
            </a:r>
            <a:endParaRPr lang="en-US" sz="1000" dirty="0"/>
          </a:p>
        </p:txBody>
      </p:sp>
      <p:sp>
        <p:nvSpPr>
          <p:cNvPr id="9" name="chip">
            <a:extLst>
              <a:ext uri="{C183D7F6-B498-43B3-948B-1728B52AA6E4}">
                <adec:decorative xmlns:adec="http://schemas.microsoft.com/office/drawing/2017/decorative" val="1"/>
              </a:ext>
            </a:extLst>
          </p:cNvPr>
          <p:cNvSpPr/>
          <p:nvPr/>
        </p:nvSpPr>
        <p:spPr>
          <a:xfrm>
            <a:off x="731520" y="2651760"/>
            <a:ext cx="1554480" cy="548640"/>
          </a:xfrm>
          <a:prstGeom prst="roundRect">
            <a:avLst>
              <a:gd name="adj" fmla="val 8333"/>
            </a:avLst>
          </a:prstGeom>
          <a:solidFill>
            <a:srgbClr val="222B39"/>
          </a:solidFill>
          <a:ln w="12700">
            <a:solidFill>
              <a:srgbClr val="1E7D48"/>
            </a:solidFill>
            <a:prstDash val="solid"/>
          </a:ln>
        </p:spPr>
        <p:txBody>
          <a:bodyPr/>
          <a:lstStyle/>
          <a:p>
            <a:endParaRPr lang="en-SE"/>
          </a:p>
        </p:txBody>
      </p:sp>
      <p:sp>
        <p:nvSpPr>
          <p:cNvPr id="10" name="Text 8"/>
          <p:cNvSpPr/>
          <p:nvPr/>
        </p:nvSpPr>
        <p:spPr>
          <a:xfrm>
            <a:off x="731520" y="2651760"/>
            <a:ext cx="1554480" cy="548640"/>
          </a:xfrm>
          <a:prstGeom prst="rect">
            <a:avLst/>
          </a:prstGeom>
          <a:noFill/>
          <a:ln/>
        </p:spPr>
        <p:txBody>
          <a:bodyPr wrap="square" lIns="0" tIns="0" rIns="0" bIns="0" rtlCol="0" anchor="ctr"/>
          <a:lstStyle/>
          <a:p>
            <a:pPr marL="0" indent="0" algn="ctr">
              <a:buNone/>
            </a:pPr>
            <a:r>
              <a:rPr lang="en-US" sz="1100" b="1" dirty="0">
                <a:solidFill>
                  <a:srgbClr val="35E07E"/>
                </a:solidFill>
                <a:latin typeface="Consolas" pitchFamily="34" charset="0"/>
                <a:ea typeface="Consolas" pitchFamily="34" charset="-122"/>
                <a:cs typeface="Consolas" pitchFamily="34" charset="-120"/>
              </a:rPr>
              <a:t>Buy March</a:t>
            </a:r>
            <a:endParaRPr lang="en-US" sz="1100" dirty="0"/>
          </a:p>
        </p:txBody>
      </p:sp>
      <p:sp>
        <p:nvSpPr>
          <p:cNvPr id="11" name="chip">
            <a:extLst>
              <a:ext uri="{C183D7F6-B498-43B3-948B-1728B52AA6E4}">
                <adec:decorative xmlns:adec="http://schemas.microsoft.com/office/drawing/2017/decorative" val="1"/>
              </a:ext>
            </a:extLst>
          </p:cNvPr>
          <p:cNvSpPr/>
          <p:nvPr/>
        </p:nvSpPr>
        <p:spPr>
          <a:xfrm>
            <a:off x="2743200" y="2651760"/>
            <a:ext cx="1554480" cy="548640"/>
          </a:xfrm>
          <a:prstGeom prst="roundRect">
            <a:avLst>
              <a:gd name="adj" fmla="val 8333"/>
            </a:avLst>
          </a:prstGeom>
          <a:solidFill>
            <a:srgbClr val="222B39"/>
          </a:solidFill>
          <a:ln w="12700">
            <a:solidFill>
              <a:srgbClr val="2C3644"/>
            </a:solidFill>
            <a:prstDash val="solid"/>
          </a:ln>
        </p:spPr>
        <p:txBody>
          <a:bodyPr/>
          <a:lstStyle/>
          <a:p>
            <a:endParaRPr lang="en-SE"/>
          </a:p>
        </p:txBody>
      </p:sp>
      <p:sp>
        <p:nvSpPr>
          <p:cNvPr id="12" name="Text 10"/>
          <p:cNvSpPr/>
          <p:nvPr/>
        </p:nvSpPr>
        <p:spPr>
          <a:xfrm>
            <a:off x="2743200" y="2651760"/>
            <a:ext cx="1554480" cy="548640"/>
          </a:xfrm>
          <a:prstGeom prst="rect">
            <a:avLst/>
          </a:prstGeom>
          <a:noFill/>
          <a:ln/>
        </p:spPr>
        <p:txBody>
          <a:bodyPr wrap="square" lIns="0" tIns="0" rIns="0" bIns="0" rtlCol="0" anchor="ctr"/>
          <a:lstStyle/>
          <a:p>
            <a:pPr marL="0" indent="0" algn="ctr">
              <a:buNone/>
            </a:pPr>
            <a:r>
              <a:rPr lang="en-US" sz="1100" b="1" dirty="0">
                <a:solidFill>
                  <a:srgbClr val="FF5C6C"/>
                </a:solidFill>
                <a:latin typeface="Consolas" pitchFamily="34" charset="0"/>
                <a:ea typeface="Consolas" pitchFamily="34" charset="-122"/>
                <a:cs typeface="Consolas" pitchFamily="34" charset="-120"/>
              </a:rPr>
              <a:t>Sell June</a:t>
            </a:r>
            <a:endParaRPr lang="en-US" sz="1100" dirty="0"/>
          </a:p>
        </p:txBody>
      </p:sp>
      <p:sp>
        <p:nvSpPr>
          <p:cNvPr id="13" name="arrow">
            <a:extLst>
              <a:ext uri="{C183D7F6-B498-43B3-948B-1728B52AA6E4}">
                <adec:decorative xmlns:adec="http://schemas.microsoft.com/office/drawing/2017/decorative" val="1"/>
              </a:ext>
            </a:extLst>
          </p:cNvPr>
          <p:cNvSpPr/>
          <p:nvPr/>
        </p:nvSpPr>
        <p:spPr>
          <a:xfrm>
            <a:off x="2286000" y="2926080"/>
            <a:ext cx="457200" cy="0"/>
          </a:xfrm>
          <a:prstGeom prst="line">
            <a:avLst/>
          </a:prstGeom>
          <a:noFill/>
          <a:ln w="25400">
            <a:solidFill>
              <a:srgbClr val="8B96A8"/>
            </a:solidFill>
            <a:prstDash val="solid"/>
            <a:headEnd type="triangle"/>
            <a:tailEnd type="triangle"/>
          </a:ln>
        </p:spPr>
        <p:txBody>
          <a:bodyPr/>
          <a:lstStyle/>
          <a:p>
            <a:endParaRPr lang="en-SE"/>
          </a:p>
        </p:txBody>
      </p:sp>
      <p:sp>
        <p:nvSpPr>
          <p:cNvPr id="14" name="combo">
            <a:extLst>
              <a:ext uri="{C183D7F6-B498-43B3-948B-1728B52AA6E4}">
                <adec:decorative xmlns:adec="http://schemas.microsoft.com/office/drawing/2017/decorative" val="1"/>
              </a:ext>
            </a:extLst>
          </p:cNvPr>
          <p:cNvSpPr/>
          <p:nvPr/>
        </p:nvSpPr>
        <p:spPr>
          <a:xfrm>
            <a:off x="1737360" y="3429000"/>
            <a:ext cx="1828800" cy="658368"/>
          </a:xfrm>
          <a:prstGeom prst="ellipse">
            <a:avLst/>
          </a:prstGeom>
          <a:solidFill>
            <a:srgbClr val="10251C"/>
          </a:solidFill>
          <a:ln w="19050">
            <a:solidFill>
              <a:srgbClr val="3AD1E6"/>
            </a:solidFill>
            <a:prstDash val="solid"/>
          </a:ln>
        </p:spPr>
        <p:txBody>
          <a:bodyPr/>
          <a:lstStyle/>
          <a:p>
            <a:endParaRPr lang="en-SE"/>
          </a:p>
        </p:txBody>
      </p:sp>
      <p:sp>
        <p:nvSpPr>
          <p:cNvPr id="15" name="Text 13"/>
          <p:cNvSpPr/>
          <p:nvPr/>
        </p:nvSpPr>
        <p:spPr>
          <a:xfrm>
            <a:off x="1737360" y="3429000"/>
            <a:ext cx="1828800" cy="658368"/>
          </a:xfrm>
          <a:prstGeom prst="rect">
            <a:avLst/>
          </a:prstGeom>
          <a:noFill/>
          <a:ln/>
        </p:spPr>
        <p:txBody>
          <a:bodyPr wrap="square" lIns="0" tIns="0" rIns="0" bIns="0" rtlCol="0" anchor="ctr"/>
          <a:lstStyle/>
          <a:p>
            <a:pPr marL="0" indent="0" algn="ctr">
              <a:buNone/>
            </a:pPr>
            <a:r>
              <a:rPr lang="en-US" sz="1250" b="1" dirty="0">
                <a:solidFill>
                  <a:srgbClr val="3AD1E6"/>
                </a:solidFill>
                <a:latin typeface="Consolas" pitchFamily="34" charset="0"/>
                <a:ea typeface="Consolas" pitchFamily="34" charset="-122"/>
                <a:cs typeface="Consolas" pitchFamily="34" charset="-120"/>
              </a:rPr>
              <a:t>Mar–Jun combo</a:t>
            </a:r>
            <a:endParaRPr lang="en-US" sz="1250" dirty="0"/>
          </a:p>
        </p:txBody>
      </p:sp>
      <p:sp>
        <p:nvSpPr>
          <p:cNvPr id="16" name="arrow">
            <a:extLst>
              <a:ext uri="{C183D7F6-B498-43B3-948B-1728B52AA6E4}">
                <adec:decorative xmlns:adec="http://schemas.microsoft.com/office/drawing/2017/decorative" val="1"/>
              </a:ext>
            </a:extLst>
          </p:cNvPr>
          <p:cNvSpPr/>
          <p:nvPr/>
        </p:nvSpPr>
        <p:spPr>
          <a:xfrm>
            <a:off x="1508760" y="3200400"/>
            <a:ext cx="0" cy="201168"/>
          </a:xfrm>
          <a:prstGeom prst="line">
            <a:avLst/>
          </a:prstGeom>
          <a:noFill/>
          <a:ln w="19050">
            <a:solidFill>
              <a:srgbClr val="8B96A8"/>
            </a:solidFill>
            <a:prstDash val="solid"/>
            <a:tailEnd type="triangle"/>
          </a:ln>
        </p:spPr>
        <p:txBody>
          <a:bodyPr/>
          <a:lstStyle/>
          <a:p>
            <a:endParaRPr lang="en-SE"/>
          </a:p>
        </p:txBody>
      </p:sp>
      <p:sp>
        <p:nvSpPr>
          <p:cNvPr id="17" name="arrow">
            <a:extLst>
              <a:ext uri="{C183D7F6-B498-43B3-948B-1728B52AA6E4}">
                <adec:decorative xmlns:adec="http://schemas.microsoft.com/office/drawing/2017/decorative" val="1"/>
              </a:ext>
            </a:extLst>
          </p:cNvPr>
          <p:cNvSpPr/>
          <p:nvPr/>
        </p:nvSpPr>
        <p:spPr>
          <a:xfrm>
            <a:off x="3520440" y="3200400"/>
            <a:ext cx="0" cy="201168"/>
          </a:xfrm>
          <a:prstGeom prst="line">
            <a:avLst/>
          </a:prstGeom>
          <a:noFill/>
          <a:ln w="19050">
            <a:solidFill>
              <a:srgbClr val="8B96A8"/>
            </a:solidFill>
            <a:prstDash val="solid"/>
            <a:tailEnd type="triangle"/>
          </a:ln>
        </p:spPr>
        <p:txBody>
          <a:bodyPr/>
          <a:lstStyle/>
          <a:p>
            <a:endParaRPr lang="en-SE"/>
          </a:p>
        </p:txBody>
      </p:sp>
      <p:sp>
        <p:nvSpPr>
          <p:cNvPr id="18" name="panel">
            <a:extLst>
              <a:ext uri="{C183D7F6-B498-43B3-948B-1728B52AA6E4}">
                <adec:decorative xmlns:adec="http://schemas.microsoft.com/office/drawing/2017/decorative" val="1"/>
              </a:ext>
            </a:extLst>
          </p:cNvPr>
          <p:cNvSpPr/>
          <p:nvPr/>
        </p:nvSpPr>
        <p:spPr>
          <a:xfrm>
            <a:off x="4663440" y="2148840"/>
            <a:ext cx="3931920" cy="2377440"/>
          </a:xfrm>
          <a:prstGeom prst="roundRect">
            <a:avLst>
              <a:gd name="adj" fmla="val 2308"/>
            </a:avLst>
          </a:prstGeom>
          <a:solidFill>
            <a:srgbClr val="1B212C"/>
          </a:solidFill>
          <a:ln w="12700">
            <a:solidFill>
              <a:srgbClr val="2C3644"/>
            </a:solidFill>
            <a:prstDash val="solid"/>
          </a:ln>
        </p:spPr>
        <p:txBody>
          <a:bodyPr/>
          <a:lstStyle/>
          <a:p>
            <a:endParaRPr lang="en-SE"/>
          </a:p>
        </p:txBody>
      </p:sp>
      <p:sp>
        <p:nvSpPr>
          <p:cNvPr id="19" name="Text 17"/>
          <p:cNvSpPr/>
          <p:nvPr/>
        </p:nvSpPr>
        <p:spPr>
          <a:xfrm>
            <a:off x="4846320" y="2267712"/>
            <a:ext cx="3474720" cy="228600"/>
          </a:xfrm>
          <a:prstGeom prst="rect">
            <a:avLst/>
          </a:prstGeom>
          <a:noFill/>
          <a:ln/>
        </p:spPr>
        <p:txBody>
          <a:bodyPr wrap="square" lIns="0" tIns="0" rIns="0" bIns="0" rtlCol="0" anchor="t"/>
          <a:lstStyle/>
          <a:p>
            <a:pPr marL="0" indent="0" algn="l">
              <a:buNone/>
            </a:pPr>
            <a:r>
              <a:rPr lang="en-US" sz="1000" b="1" kern="0" spc="200" dirty="0">
                <a:solidFill>
                  <a:srgbClr val="35E07E"/>
                </a:solidFill>
                <a:latin typeface="Segoe UI" pitchFamily="34" charset="0"/>
                <a:ea typeface="Segoe UI" pitchFamily="34" charset="-122"/>
                <a:cs typeface="Segoe UI" pitchFamily="34" charset="-120"/>
              </a:rPr>
              <a:t>HOW IT'S PRICED</a:t>
            </a:r>
            <a:endParaRPr lang="en-US" sz="1000" dirty="0"/>
          </a:p>
        </p:txBody>
      </p:sp>
      <p:sp>
        <p:nvSpPr>
          <p:cNvPr id="20" name="Text 18"/>
          <p:cNvSpPr/>
          <p:nvPr/>
        </p:nvSpPr>
        <p:spPr>
          <a:xfrm>
            <a:off x="4800600" y="2606040"/>
            <a:ext cx="36576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Consolas" pitchFamily="34" charset="0"/>
                <a:ea typeface="Consolas" pitchFamily="34" charset="-122"/>
                <a:cs typeface="Consolas" pitchFamily="34" charset="-120"/>
              </a:rPr>
              <a:t>combo price = March − June</a:t>
            </a:r>
            <a:endParaRPr lang="en-US" sz="1500" dirty="0"/>
          </a:p>
        </p:txBody>
      </p:sp>
      <p:sp>
        <p:nvSpPr>
          <p:cNvPr id="21" name="Text 19"/>
          <p:cNvSpPr/>
          <p:nvPr/>
        </p:nvSpPr>
        <p:spPr>
          <a:xfrm>
            <a:off x="4846320" y="3017520"/>
            <a:ext cx="3566160" cy="274320"/>
          </a:xfrm>
          <a:prstGeom prst="rect">
            <a:avLst/>
          </a:prstGeom>
          <a:noFill/>
          <a:ln/>
        </p:spPr>
        <p:txBody>
          <a:bodyPr wrap="square" lIns="0" tIns="0" rIns="0" bIns="0" rtlCol="0" anchor="t"/>
          <a:lstStyle/>
          <a:p>
            <a:pPr marL="0" indent="0" algn="l">
              <a:buNone/>
            </a:pPr>
            <a:r>
              <a:rPr lang="en-US" sz="1200" dirty="0">
                <a:solidFill>
                  <a:srgbClr val="D8DEE9"/>
                </a:solidFill>
                <a:latin typeface="Segoe UI" pitchFamily="34" charset="0"/>
                <a:ea typeface="Segoe UI" pitchFamily="34" charset="-122"/>
                <a:cs typeface="Segoe UI" pitchFamily="34" charset="-120"/>
              </a:rPr>
              <a:t>One number to quote, one fill for both legs.</a:t>
            </a:r>
            <a:endParaRPr lang="en-US" sz="1200" dirty="0"/>
          </a:p>
        </p:txBody>
      </p:sp>
      <p:sp>
        <p:nvSpPr>
          <p:cNvPr id="22" name="dot">
            <a:extLst>
              <a:ext uri="{C183D7F6-B498-43B3-948B-1728B52AA6E4}">
                <adec:decorative xmlns:adec="http://schemas.microsoft.com/office/drawing/2017/decorative" val="1"/>
              </a:ext>
            </a:extLst>
          </p:cNvPr>
          <p:cNvSpPr/>
          <p:nvPr/>
        </p:nvSpPr>
        <p:spPr>
          <a:xfrm>
            <a:off x="4846320" y="3520440"/>
            <a:ext cx="146304" cy="146304"/>
          </a:xfrm>
          <a:prstGeom prst="ellipse">
            <a:avLst/>
          </a:prstGeom>
          <a:solidFill>
            <a:srgbClr val="35E07E"/>
          </a:solidFill>
          <a:ln/>
        </p:spPr>
        <p:txBody>
          <a:bodyPr/>
          <a:lstStyle/>
          <a:p>
            <a:endParaRPr lang="en-SE"/>
          </a:p>
        </p:txBody>
      </p:sp>
      <p:sp>
        <p:nvSpPr>
          <p:cNvPr id="23" name="Text 21"/>
          <p:cNvSpPr/>
          <p:nvPr/>
        </p:nvSpPr>
        <p:spPr>
          <a:xfrm>
            <a:off x="5120640" y="3429000"/>
            <a:ext cx="3383280" cy="457200"/>
          </a:xfrm>
          <a:prstGeom prst="rect">
            <a:avLst/>
          </a:prstGeom>
          <a:noFill/>
          <a:ln/>
        </p:spPr>
        <p:txBody>
          <a:bodyPr wrap="square" lIns="0" tIns="0" rIns="0" bIns="0" rtlCol="0" anchor="t"/>
          <a:lstStyle/>
          <a:p>
            <a:pPr marL="0" indent="0" algn="l">
              <a:lnSpc>
                <a:spcPts val="1500"/>
              </a:lnSpc>
              <a:buNone/>
            </a:pPr>
            <a:r>
              <a:rPr lang="en-US" sz="1150" dirty="0">
                <a:solidFill>
                  <a:srgbClr val="D8DEE9"/>
                </a:solidFill>
                <a:latin typeface="Segoe UI" pitchFamily="34" charset="0"/>
                <a:ea typeface="Segoe UI" pitchFamily="34" charset="-122"/>
                <a:cs typeface="Segoe UI" pitchFamily="34" charset="-120"/>
              </a:rPr>
              <a:t>No “legging risk” — you never get one leg without the other.</a:t>
            </a:r>
            <a:endParaRPr lang="en-US" sz="1150" dirty="0"/>
          </a:p>
        </p:txBody>
      </p:sp>
      <p:sp>
        <p:nvSpPr>
          <p:cNvPr id="24" name="dot">
            <a:extLst>
              <a:ext uri="{C183D7F6-B498-43B3-948B-1728B52AA6E4}">
                <adec:decorative xmlns:adec="http://schemas.microsoft.com/office/drawing/2017/decorative" val="1"/>
              </a:ext>
            </a:extLst>
          </p:cNvPr>
          <p:cNvSpPr/>
          <p:nvPr/>
        </p:nvSpPr>
        <p:spPr>
          <a:xfrm>
            <a:off x="4846320" y="4114800"/>
            <a:ext cx="146304" cy="146304"/>
          </a:xfrm>
          <a:prstGeom prst="ellipse">
            <a:avLst/>
          </a:prstGeom>
          <a:solidFill>
            <a:srgbClr val="3AD1E6"/>
          </a:solidFill>
          <a:ln/>
        </p:spPr>
        <p:txBody>
          <a:bodyPr/>
          <a:lstStyle/>
          <a:p>
            <a:endParaRPr lang="en-SE"/>
          </a:p>
        </p:txBody>
      </p:sp>
      <p:sp>
        <p:nvSpPr>
          <p:cNvPr id="25" name="Text 23"/>
          <p:cNvSpPr/>
          <p:nvPr/>
        </p:nvSpPr>
        <p:spPr>
          <a:xfrm>
            <a:off x="5120640" y="4023360"/>
            <a:ext cx="3383280" cy="457200"/>
          </a:xfrm>
          <a:prstGeom prst="rect">
            <a:avLst/>
          </a:prstGeom>
          <a:noFill/>
          <a:ln/>
        </p:spPr>
        <p:txBody>
          <a:bodyPr wrap="square" lIns="0" tIns="0" rIns="0" bIns="0" rtlCol="0" anchor="t"/>
          <a:lstStyle/>
          <a:p>
            <a:pPr marL="0" indent="0" algn="l">
              <a:lnSpc>
                <a:spcPts val="1500"/>
              </a:lnSpc>
              <a:buNone/>
            </a:pPr>
            <a:r>
              <a:rPr lang="en-US" sz="1150" dirty="0">
                <a:solidFill>
                  <a:srgbClr val="D8DEE9"/>
                </a:solidFill>
                <a:latin typeface="Segoe UI" pitchFamily="34" charset="0"/>
                <a:ea typeface="Segoe UI" pitchFamily="34" charset="-122"/>
                <a:cs typeface="Segoe UI" pitchFamily="34" charset="-120"/>
              </a:rPr>
              <a:t>You trade the relationship between months, not oil's outright direction.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Worked example: buying the Mar–Jun combo</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PRIMER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dirty="0">
                <a:solidFill>
                  <a:srgbClr val="35E07E"/>
                </a:solidFill>
                <a:latin typeface="Consolas" pitchFamily="34" charset="0"/>
                <a:ea typeface="Consolas" pitchFamily="34" charset="-122"/>
                <a:cs typeface="Consolas" pitchFamily="34" charset="-120"/>
              </a:rPr>
              <a:t>07</a:t>
            </a:r>
            <a:endParaRPr lang="en-US" sz="850" dirty="0"/>
          </a:p>
        </p:txBody>
      </p:sp>
      <p:sp>
        <p:nvSpPr>
          <p:cNvPr id="6" name="Text 4"/>
          <p:cNvSpPr/>
          <p:nvPr/>
        </p:nvSpPr>
        <p:spPr>
          <a:xfrm>
            <a:off x="502920" y="1417320"/>
            <a:ext cx="809244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You buy 1 Mar–Jun combo. With March at 78.20 and June at 79.10, the two legs fill together:</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874520"/>
            <a:ext cx="5074920" cy="2606040"/>
          </a:xfrm>
          <a:prstGeom prst="roundRect">
            <a:avLst>
              <a:gd name="adj" fmla="val 2105"/>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084832"/>
            <a:ext cx="310896" cy="310896"/>
          </a:xfrm>
          <a:prstGeom prst="ellipse">
            <a:avLst/>
          </a:prstGeom>
          <a:solidFill>
            <a:srgbClr val="35E07E"/>
          </a:solidFill>
          <a:ln/>
        </p:spPr>
        <p:txBody>
          <a:bodyPr/>
          <a:lstStyle/>
          <a:p>
            <a:endParaRPr lang="en-SE"/>
          </a:p>
        </p:txBody>
      </p:sp>
      <p:sp>
        <p:nvSpPr>
          <p:cNvPr id="9" name="Text 7"/>
          <p:cNvSpPr/>
          <p:nvPr/>
        </p:nvSpPr>
        <p:spPr>
          <a:xfrm>
            <a:off x="685800" y="2084832"/>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A</a:t>
            </a:r>
            <a:endParaRPr lang="en-US" sz="1300" dirty="0"/>
          </a:p>
        </p:txBody>
      </p:sp>
      <p:sp>
        <p:nvSpPr>
          <p:cNvPr id="10" name="Text 8"/>
          <p:cNvSpPr/>
          <p:nvPr/>
        </p:nvSpPr>
        <p:spPr>
          <a:xfrm>
            <a:off x="1143000" y="2121408"/>
            <a:ext cx="4206240" cy="274320"/>
          </a:xfrm>
          <a:prstGeom prst="rect">
            <a:avLst/>
          </a:prstGeom>
          <a:noFill/>
          <a:ln/>
        </p:spPr>
        <p:txBody>
          <a:bodyPr wrap="square" lIns="0" tIns="0" rIns="0" bIns="0" rtlCol="0" anchor="t"/>
          <a:lstStyle/>
          <a:p>
            <a:pPr marL="0" indent="0" algn="l">
              <a:buNone/>
            </a:pPr>
            <a:r>
              <a:rPr lang="en-US" sz="1300" b="1" dirty="0">
                <a:solidFill>
                  <a:srgbClr val="FFFFFF"/>
                </a:solidFill>
                <a:latin typeface="Segoe UI" pitchFamily="34" charset="0"/>
                <a:ea typeface="Segoe UI" pitchFamily="34" charset="-122"/>
                <a:cs typeface="Segoe UI" pitchFamily="34" charset="-120"/>
              </a:rPr>
              <a:t>Buy the March leg</a:t>
            </a:r>
            <a:endParaRPr lang="en-US" sz="1300" dirty="0"/>
          </a:p>
        </p:txBody>
      </p:sp>
      <p:sp>
        <p:nvSpPr>
          <p:cNvPr id="11" name="Text 9"/>
          <p:cNvSpPr/>
          <p:nvPr/>
        </p:nvSpPr>
        <p:spPr>
          <a:xfrm>
            <a:off x="1143000" y="2414016"/>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fill @ </a:t>
            </a:r>
            <a:r>
              <a:rPr lang="en-US" sz="1350" b="1" dirty="0">
                <a:solidFill>
                  <a:srgbClr val="35E07E"/>
                </a:solidFill>
                <a:latin typeface="Consolas" pitchFamily="34" charset="0"/>
                <a:ea typeface="Consolas" pitchFamily="34" charset="-122"/>
                <a:cs typeface="Consolas" pitchFamily="34" charset="-120"/>
              </a:rPr>
              <a:t>78.20</a:t>
            </a:r>
            <a:endParaRPr lang="en-US" sz="1350" dirty="0"/>
          </a:p>
        </p:txBody>
      </p:sp>
      <p:sp>
        <p:nvSpPr>
          <p:cNvPr id="12" name="step">
            <a:extLst>
              <a:ext uri="{C183D7F6-B498-43B3-948B-1728B52AA6E4}">
                <adec:decorative xmlns:adec="http://schemas.microsoft.com/office/drawing/2017/decorative" val="1"/>
              </a:ext>
            </a:extLst>
          </p:cNvPr>
          <p:cNvSpPr/>
          <p:nvPr/>
        </p:nvSpPr>
        <p:spPr>
          <a:xfrm>
            <a:off x="685800" y="2907792"/>
            <a:ext cx="310896" cy="310896"/>
          </a:xfrm>
          <a:prstGeom prst="ellipse">
            <a:avLst/>
          </a:prstGeom>
          <a:solidFill>
            <a:srgbClr val="FF5C6C"/>
          </a:solidFill>
          <a:ln/>
        </p:spPr>
        <p:txBody>
          <a:bodyPr/>
          <a:lstStyle/>
          <a:p>
            <a:endParaRPr lang="en-SE"/>
          </a:p>
        </p:txBody>
      </p:sp>
      <p:sp>
        <p:nvSpPr>
          <p:cNvPr id="13" name="Text 11"/>
          <p:cNvSpPr/>
          <p:nvPr/>
        </p:nvSpPr>
        <p:spPr>
          <a:xfrm>
            <a:off x="685800" y="2907792"/>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B</a:t>
            </a:r>
            <a:endParaRPr lang="en-US" sz="1300" dirty="0"/>
          </a:p>
        </p:txBody>
      </p:sp>
      <p:sp>
        <p:nvSpPr>
          <p:cNvPr id="14" name="Text 12"/>
          <p:cNvSpPr/>
          <p:nvPr/>
        </p:nvSpPr>
        <p:spPr>
          <a:xfrm>
            <a:off x="1143000" y="2944368"/>
            <a:ext cx="4206240" cy="274320"/>
          </a:xfrm>
          <a:prstGeom prst="rect">
            <a:avLst/>
          </a:prstGeom>
          <a:noFill/>
          <a:ln/>
        </p:spPr>
        <p:txBody>
          <a:bodyPr wrap="square" lIns="0" tIns="0" rIns="0" bIns="0" rtlCol="0" anchor="t"/>
          <a:lstStyle/>
          <a:p>
            <a:pPr marL="0" indent="0" algn="l">
              <a:buNone/>
            </a:pPr>
            <a:r>
              <a:rPr lang="en-US" sz="1300" b="1" dirty="0">
                <a:solidFill>
                  <a:srgbClr val="FFFFFF"/>
                </a:solidFill>
                <a:latin typeface="Segoe UI" pitchFamily="34" charset="0"/>
                <a:ea typeface="Segoe UI" pitchFamily="34" charset="-122"/>
                <a:cs typeface="Segoe UI" pitchFamily="34" charset="-120"/>
              </a:rPr>
              <a:t>Sell the June leg</a:t>
            </a:r>
            <a:endParaRPr lang="en-US" sz="1300" dirty="0"/>
          </a:p>
        </p:txBody>
      </p:sp>
      <p:sp>
        <p:nvSpPr>
          <p:cNvPr id="15" name="Text 13"/>
          <p:cNvSpPr/>
          <p:nvPr/>
        </p:nvSpPr>
        <p:spPr>
          <a:xfrm>
            <a:off x="1143000" y="3236976"/>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fill @ </a:t>
            </a:r>
            <a:r>
              <a:rPr lang="en-US" sz="1350" b="1" dirty="0">
                <a:solidFill>
                  <a:srgbClr val="FF5C6C"/>
                </a:solidFill>
                <a:latin typeface="Consolas" pitchFamily="34" charset="0"/>
                <a:ea typeface="Consolas" pitchFamily="34" charset="-122"/>
                <a:cs typeface="Consolas" pitchFamily="34" charset="-120"/>
              </a:rPr>
              <a:t>79.10</a:t>
            </a:r>
            <a:endParaRPr lang="en-US" sz="1350" dirty="0"/>
          </a:p>
        </p:txBody>
      </p:sp>
      <p:sp>
        <p:nvSpPr>
          <p:cNvPr id="16" name="rule">
            <a:extLst>
              <a:ext uri="{C183D7F6-B498-43B3-948B-1728B52AA6E4}">
                <adec:decorative xmlns:adec="http://schemas.microsoft.com/office/drawing/2017/decorative" val="1"/>
              </a:ext>
            </a:extLst>
          </p:cNvPr>
          <p:cNvSpPr/>
          <p:nvPr/>
        </p:nvSpPr>
        <p:spPr>
          <a:xfrm>
            <a:off x="1143000" y="3675888"/>
            <a:ext cx="4206240" cy="0"/>
          </a:xfrm>
          <a:prstGeom prst="line">
            <a:avLst/>
          </a:prstGeom>
          <a:noFill/>
          <a:ln w="12700">
            <a:solidFill>
              <a:srgbClr val="2C3644"/>
            </a:solidFill>
            <a:prstDash val="solid"/>
          </a:ln>
        </p:spPr>
        <p:txBody>
          <a:bodyPr/>
          <a:lstStyle/>
          <a:p>
            <a:endParaRPr lang="en-SE"/>
          </a:p>
        </p:txBody>
      </p:sp>
      <p:sp>
        <p:nvSpPr>
          <p:cNvPr id="17" name="step">
            <a:extLst>
              <a:ext uri="{C183D7F6-B498-43B3-948B-1728B52AA6E4}">
                <adec:decorative xmlns:adec="http://schemas.microsoft.com/office/drawing/2017/decorative" val="1"/>
              </a:ext>
            </a:extLst>
          </p:cNvPr>
          <p:cNvSpPr/>
          <p:nvPr/>
        </p:nvSpPr>
        <p:spPr>
          <a:xfrm>
            <a:off x="685800" y="3794760"/>
            <a:ext cx="310896" cy="310896"/>
          </a:xfrm>
          <a:prstGeom prst="ellipse">
            <a:avLst/>
          </a:prstGeom>
          <a:solidFill>
            <a:srgbClr val="3AD1E6"/>
          </a:solidFill>
          <a:ln/>
        </p:spPr>
        <p:txBody>
          <a:bodyPr/>
          <a:lstStyle/>
          <a:p>
            <a:endParaRPr lang="en-SE"/>
          </a:p>
        </p:txBody>
      </p:sp>
      <p:sp>
        <p:nvSpPr>
          <p:cNvPr id="18" name="Text 16"/>
          <p:cNvSpPr/>
          <p:nvPr/>
        </p:nvSpPr>
        <p:spPr>
          <a:xfrm>
            <a:off x="685800" y="379476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a:t>
            </a:r>
            <a:endParaRPr lang="en-US" sz="1300" dirty="0"/>
          </a:p>
        </p:txBody>
      </p:sp>
      <p:sp>
        <p:nvSpPr>
          <p:cNvPr id="19" name="Text 17"/>
          <p:cNvSpPr/>
          <p:nvPr/>
        </p:nvSpPr>
        <p:spPr>
          <a:xfrm>
            <a:off x="1143000" y="3813048"/>
            <a:ext cx="429768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combo price = 78.20 − 79.10 = </a:t>
            </a:r>
            <a:r>
              <a:rPr lang="en-US" sz="1350" b="1" dirty="0">
                <a:solidFill>
                  <a:srgbClr val="3AD1E6"/>
                </a:solidFill>
                <a:latin typeface="Consolas" pitchFamily="34" charset="0"/>
                <a:ea typeface="Consolas" pitchFamily="34" charset="-122"/>
                <a:cs typeface="Consolas" pitchFamily="34" charset="-120"/>
              </a:rPr>
              <a:t>−0.90</a:t>
            </a:r>
            <a:endParaRPr lang="en-US" sz="1350" dirty="0"/>
          </a:p>
        </p:txBody>
      </p:sp>
      <p:sp>
        <p:nvSpPr>
          <p:cNvPr id="20" name="panel">
            <a:extLst>
              <a:ext uri="{C183D7F6-B498-43B3-948B-1728B52AA6E4}">
                <adec:decorative xmlns:adec="http://schemas.microsoft.com/office/drawing/2017/decorative" val="1"/>
              </a:ext>
            </a:extLst>
          </p:cNvPr>
          <p:cNvSpPr/>
          <p:nvPr/>
        </p:nvSpPr>
        <p:spPr>
          <a:xfrm>
            <a:off x="5806440" y="1874520"/>
            <a:ext cx="2788920" cy="2606040"/>
          </a:xfrm>
          <a:prstGeom prst="roundRect">
            <a:avLst>
              <a:gd name="adj" fmla="val 2105"/>
            </a:avLst>
          </a:prstGeom>
          <a:solidFill>
            <a:srgbClr val="10251C"/>
          </a:solidFill>
          <a:ln w="12700">
            <a:solidFill>
              <a:srgbClr val="3AD1E6"/>
            </a:solidFill>
            <a:prstDash val="solid"/>
          </a:ln>
        </p:spPr>
        <p:txBody>
          <a:bodyPr/>
          <a:lstStyle/>
          <a:p>
            <a:endParaRPr lang="en-SE"/>
          </a:p>
        </p:txBody>
      </p:sp>
      <p:sp>
        <p:nvSpPr>
          <p:cNvPr id="21" name="Text 19"/>
          <p:cNvSpPr/>
          <p:nvPr/>
        </p:nvSpPr>
        <p:spPr>
          <a:xfrm>
            <a:off x="5943600" y="2148840"/>
            <a:ext cx="2560320" cy="274320"/>
          </a:xfrm>
          <a:prstGeom prst="rect">
            <a:avLst/>
          </a:prstGeom>
          <a:noFill/>
          <a:ln/>
        </p:spPr>
        <p:txBody>
          <a:bodyPr wrap="square" lIns="0" tIns="0" rIns="0" bIns="0" rtlCol="0" anchor="t"/>
          <a:lstStyle/>
          <a:p>
            <a:pPr marL="0" indent="0" algn="ctr">
              <a:buNone/>
            </a:pPr>
            <a:r>
              <a:rPr lang="en-US" sz="1100" b="1" kern="0" spc="100" dirty="0">
                <a:solidFill>
                  <a:srgbClr val="3AD1E6"/>
                </a:solidFill>
                <a:latin typeface="Segoe UI" pitchFamily="34" charset="0"/>
                <a:ea typeface="Segoe UI" pitchFamily="34" charset="-122"/>
                <a:cs typeface="Segoe UI" pitchFamily="34" charset="-120"/>
              </a:rPr>
              <a:t>YOU PAID</a:t>
            </a:r>
            <a:endParaRPr lang="en-US" sz="1100" dirty="0"/>
          </a:p>
        </p:txBody>
      </p:sp>
      <p:sp>
        <p:nvSpPr>
          <p:cNvPr id="22" name="Text 20"/>
          <p:cNvSpPr/>
          <p:nvPr/>
        </p:nvSpPr>
        <p:spPr>
          <a:xfrm>
            <a:off x="5806440" y="2468880"/>
            <a:ext cx="2788920" cy="822960"/>
          </a:xfrm>
          <a:prstGeom prst="rect">
            <a:avLst/>
          </a:prstGeom>
          <a:noFill/>
          <a:ln/>
        </p:spPr>
        <p:txBody>
          <a:bodyPr wrap="square" lIns="0" tIns="0" rIns="0" bIns="0" rtlCol="0" anchor="t"/>
          <a:lstStyle/>
          <a:p>
            <a:pPr marL="0" indent="0" algn="ctr">
              <a:buNone/>
            </a:pPr>
            <a:r>
              <a:rPr lang="en-US" sz="4400" b="1" dirty="0">
                <a:solidFill>
                  <a:srgbClr val="3AD1E6"/>
                </a:solidFill>
                <a:latin typeface="Consolas" pitchFamily="34" charset="0"/>
                <a:ea typeface="Consolas" pitchFamily="34" charset="-122"/>
                <a:cs typeface="Consolas" pitchFamily="34" charset="-120"/>
              </a:rPr>
              <a:t>−0.90</a:t>
            </a:r>
            <a:endParaRPr lang="en-US" sz="4400" dirty="0"/>
          </a:p>
        </p:txBody>
      </p:sp>
      <p:sp>
        <p:nvSpPr>
          <p:cNvPr id="23" name="Text 21"/>
          <p:cNvSpPr/>
          <p:nvPr/>
        </p:nvSpPr>
        <p:spPr>
          <a:xfrm>
            <a:off x="5806440" y="3246120"/>
            <a:ext cx="2788920" cy="274320"/>
          </a:xfrm>
          <a:prstGeom prst="rect">
            <a:avLst/>
          </a:prstGeom>
          <a:noFill/>
          <a:ln/>
        </p:spPr>
        <p:txBody>
          <a:bodyPr wrap="square" lIns="0" tIns="0" rIns="0" bIns="0" rtlCol="0" anchor="t"/>
          <a:lstStyle/>
          <a:p>
            <a:pPr marL="0" indent="0" algn="ctr">
              <a:buNone/>
            </a:pPr>
            <a:r>
              <a:rPr lang="en-US" sz="1100" i="1" dirty="0">
                <a:solidFill>
                  <a:srgbClr val="8B96A8"/>
                </a:solidFill>
                <a:latin typeface="Segoe UI" pitchFamily="34" charset="0"/>
                <a:ea typeface="Segoe UI" pitchFamily="34" charset="-122"/>
                <a:cs typeface="Segoe UI" pitchFamily="34" charset="-120"/>
              </a:rPr>
              <a:t>for the spread</a:t>
            </a:r>
            <a:endParaRPr lang="en-US" sz="1100" dirty="0"/>
          </a:p>
        </p:txBody>
      </p:sp>
      <p:sp>
        <p:nvSpPr>
          <p:cNvPr id="24" name="rule">
            <a:extLst>
              <a:ext uri="{C183D7F6-B498-43B3-948B-1728B52AA6E4}">
                <adec:decorative xmlns:adec="http://schemas.microsoft.com/office/drawing/2017/decorative" val="1"/>
              </a:ext>
            </a:extLst>
          </p:cNvPr>
          <p:cNvSpPr/>
          <p:nvPr/>
        </p:nvSpPr>
        <p:spPr>
          <a:xfrm>
            <a:off x="6035040" y="3657600"/>
            <a:ext cx="2331720" cy="0"/>
          </a:xfrm>
          <a:prstGeom prst="line">
            <a:avLst/>
          </a:prstGeom>
          <a:noFill/>
          <a:ln w="12700">
            <a:solidFill>
              <a:srgbClr val="2C3644"/>
            </a:solidFill>
            <a:prstDash val="solid"/>
          </a:ln>
        </p:spPr>
        <p:txBody>
          <a:bodyPr/>
          <a:lstStyle/>
          <a:p>
            <a:endParaRPr lang="en-SE"/>
          </a:p>
        </p:txBody>
      </p:sp>
      <p:sp>
        <p:nvSpPr>
          <p:cNvPr id="25" name="Text 23"/>
          <p:cNvSpPr/>
          <p:nvPr/>
        </p:nvSpPr>
        <p:spPr>
          <a:xfrm>
            <a:off x="5943600" y="3749040"/>
            <a:ext cx="2514600" cy="685800"/>
          </a:xfrm>
          <a:prstGeom prst="rect">
            <a:avLst/>
          </a:prstGeom>
          <a:noFill/>
          <a:ln/>
        </p:spPr>
        <p:txBody>
          <a:bodyPr wrap="square" lIns="0" tIns="0" rIns="0" bIns="0" rtlCol="0" anchor="t"/>
          <a:lstStyle/>
          <a:p>
            <a:pPr marL="0" indent="0" algn="ctr">
              <a:lnSpc>
                <a:spcPts val="1500"/>
              </a:lnSpc>
              <a:buNone/>
            </a:pPr>
            <a:r>
              <a:rPr lang="en-US" sz="1100" dirty="0">
                <a:solidFill>
                  <a:srgbClr val="D8DEE9"/>
                </a:solidFill>
                <a:latin typeface="Segoe UI" pitchFamily="34" charset="0"/>
                <a:ea typeface="Segoe UI" pitchFamily="34" charset="-122"/>
                <a:cs typeface="Segoe UI" pitchFamily="34" charset="-120"/>
              </a:rPr>
              <a:t>You are now LONG the March–June time spread — one fill, both legs, no legging risk.</a:t>
            </a:r>
            <a:endParaRPr lang="en-US" sz="1100" dirty="0"/>
          </a:p>
        </p:txBody>
      </p:sp>
      <p:sp>
        <p:nvSpPr>
          <p:cNvPr id="26" name="Text 24"/>
          <p:cNvSpPr/>
          <p:nvPr/>
        </p:nvSpPr>
        <p:spPr>
          <a:xfrm>
            <a:off x="502920" y="4553712"/>
            <a:ext cx="3657600" cy="228600"/>
          </a:xfrm>
          <a:prstGeom prst="rect">
            <a:avLst/>
          </a:prstGeom>
          <a:noFill/>
          <a:ln/>
        </p:spPr>
        <p:txBody>
          <a:bodyPr wrap="square" lIns="0" tIns="0" rIns="0" bIns="0" rtlCol="0" anchor="t"/>
          <a:lstStyle/>
          <a:p>
            <a:pPr marL="0" indent="0" algn="l">
              <a:buNone/>
            </a:pPr>
            <a:r>
              <a:rPr lang="en-US" sz="950" i="1" dirty="0">
                <a:solidFill>
                  <a:srgbClr val="8B96A8"/>
                </a:solidFill>
                <a:latin typeface="Segoe UI" pitchFamily="34" charset="0"/>
                <a:ea typeface="Segoe UI" pitchFamily="34" charset="-122"/>
                <a:cs typeface="Segoe UI" pitchFamily="34" charset="-120"/>
              </a:rPr>
              <a:t>Illustrative prices, $/barrel.</a:t>
            </a:r>
            <a:endParaRPr lang="en-US" sz="950" dirty="0"/>
          </a:p>
        </p:txBody>
      </p:sp>
      <p:sp>
        <p:nvSpPr>
          <p:cNvPr id="27" name="Text 25"/>
          <p:cNvSpPr/>
          <p:nvPr/>
        </p:nvSpPr>
        <p:spPr>
          <a:xfrm>
            <a:off x="1143000" y="4197096"/>
            <a:ext cx="4297680" cy="228600"/>
          </a:xfrm>
          <a:prstGeom prst="rect">
            <a:avLst/>
          </a:prstGeom>
          <a:noFill/>
          <a:ln/>
        </p:spPr>
        <p:txBody>
          <a:bodyPr wrap="square" lIns="0" tIns="0" rIns="0" bIns="0" rtlCol="0" anchor="ctr"/>
          <a:lstStyle/>
          <a:p>
            <a:pPr marL="0" indent="0" algn="l">
              <a:buNone/>
            </a:pPr>
            <a:r>
              <a:rPr lang="en-US" sz="1100">
                <a:solidFill>
                  <a:srgbClr val="8B96A8"/>
                </a:solidFill>
                <a:latin typeface="Consolas" pitchFamily="34" charset="0"/>
                <a:ea typeface="Consolas" pitchFamily="34" charset="-122"/>
                <a:cs typeface="Consolas" pitchFamily="34" charset="-120"/>
              </a:rPr>
              <a:t>net cash = +79.10 − 78.20 = </a:t>
            </a:r>
            <a:r>
              <a:rPr lang="en-US" sz="1100" b="1">
                <a:solidFill>
                  <a:srgbClr val="35E07E"/>
                </a:solidFill>
                <a:latin typeface="Consolas" pitchFamily="34" charset="0"/>
                <a:ea typeface="Consolas" pitchFamily="34" charset="-122"/>
                <a:cs typeface="Consolas" pitchFamily="34" charset="-120"/>
              </a:rPr>
              <a:t>+0.90 credit</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b">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a:solidFill>
                  <a:srgbClr val="FFFFFF"/>
                </a:solidFill>
                <a:latin typeface="Segoe UI" pitchFamily="34" charset="0"/>
                <a:ea typeface="Segoe UI" pitchFamily="34" charset="-122"/>
                <a:cs typeface="Segoe UI" pitchFamily="34" charset="-120"/>
              </a:rPr>
              <a:t>Closing the trade: how you take profit</a:t>
            </a:r>
            <a:endParaRPr lang="en-US" sz="260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a:solidFill>
                  <a:srgbClr val="35E07E"/>
                </a:solidFill>
                <a:latin typeface="Segoe UI" pitchFamily="34" charset="0"/>
                <a:ea typeface="Segoe UI" pitchFamily="34" charset="-122"/>
                <a:cs typeface="Segoe UI" pitchFamily="34" charset="-120"/>
              </a:rPr>
              <a:t>PRIMER · 5</a:t>
            </a:r>
            <a:endParaRPr lang="en-US" sz="110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a:solidFill>
                  <a:srgbClr val="8B96A8"/>
                </a:solidFill>
                <a:latin typeface="Segoe UI" pitchFamily="34" charset="0"/>
                <a:ea typeface="Segoe UI" pitchFamily="34" charset="-122"/>
                <a:cs typeface="Segoe UI" pitchFamily="34" charset="-120"/>
              </a:rPr>
              <a:t>IMPLIED ORDERS  ·  A BEGINNER'S GUIDE</a:t>
            </a:r>
            <a:endParaRPr lang="en-US" sz="80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08</a:t>
            </a:r>
            <a:endParaRPr lang="en-US" sz="850"/>
          </a:p>
        </p:txBody>
      </p:sp>
      <p:sp>
        <p:nvSpPr>
          <p:cNvPr id="6" name="Text 4"/>
          <p:cNvSpPr/>
          <p:nvPr/>
        </p:nvSpPr>
        <p:spPr>
          <a:xfrm>
            <a:off x="502920" y="1417320"/>
            <a:ext cx="8092440" cy="320040"/>
          </a:xfrm>
          <a:prstGeom prst="rect">
            <a:avLst/>
          </a:prstGeom>
          <a:noFill/>
          <a:ln/>
        </p:spPr>
        <p:txBody>
          <a:bodyPr wrap="square" lIns="0" tIns="0" rIns="0" bIns="0" rtlCol="0" anchor="t"/>
          <a:lstStyle/>
          <a:p>
            <a:pPr marL="0" indent="0" algn="l">
              <a:buNone/>
            </a:pPr>
            <a:r>
              <a:rPr lang="en-US" sz="1350">
                <a:solidFill>
                  <a:srgbClr val="D8DEE9"/>
                </a:solidFill>
                <a:latin typeface="Segoe UI" pitchFamily="34" charset="0"/>
                <a:ea typeface="Segoe UI" pitchFamily="34" charset="-122"/>
                <a:cs typeface="Segoe UI" pitchFamily="34" charset="-120"/>
              </a:rPr>
              <a:t>You are long the spread at −0.90. To take profit you sell it back later — at a higher (less negative) price.</a:t>
            </a:r>
            <a:endParaRPr lang="en-US" sz="1350"/>
          </a:p>
        </p:txBody>
      </p:sp>
      <p:sp>
        <p:nvSpPr>
          <p:cNvPr id="7" name="panel">
            <a:extLst>
              <a:ext uri="{C183D7F6-B498-43B3-948B-1728B52AA6E4}">
                <adec:decorative xmlns:adec="http://schemas.microsoft.com/office/drawing/2017/decorative" val="1"/>
              </a:ext>
            </a:extLst>
          </p:cNvPr>
          <p:cNvSpPr/>
          <p:nvPr/>
        </p:nvSpPr>
        <p:spPr>
          <a:xfrm>
            <a:off x="502920" y="1874520"/>
            <a:ext cx="5074920" cy="2606040"/>
          </a:xfrm>
          <a:prstGeom prst="roundRect">
            <a:avLst>
              <a:gd name="adj" fmla="val 2105"/>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084832"/>
            <a:ext cx="310896" cy="310896"/>
          </a:xfrm>
          <a:prstGeom prst="ellipse">
            <a:avLst/>
          </a:prstGeom>
          <a:solidFill>
            <a:srgbClr val="35E07E"/>
          </a:solidFill>
          <a:ln/>
        </p:spPr>
        <p:txBody>
          <a:bodyPr/>
          <a:lstStyle/>
          <a:p>
            <a:endParaRPr lang="en-SE"/>
          </a:p>
        </p:txBody>
      </p:sp>
      <p:sp>
        <p:nvSpPr>
          <p:cNvPr id="9" name="Text 7"/>
          <p:cNvSpPr/>
          <p:nvPr/>
        </p:nvSpPr>
        <p:spPr>
          <a:xfrm>
            <a:off x="685800" y="2084832"/>
            <a:ext cx="310896" cy="310896"/>
          </a:xfrm>
          <a:prstGeom prst="rect">
            <a:avLst/>
          </a:prstGeom>
          <a:noFill/>
          <a:ln/>
        </p:spPr>
        <p:txBody>
          <a:bodyPr wrap="square" lIns="0" tIns="0" rIns="0" bIns="0" rtlCol="0" anchor="ctr"/>
          <a:lstStyle/>
          <a:p>
            <a:pPr marL="0" indent="0" algn="ctr">
              <a:buNone/>
            </a:pPr>
            <a:r>
              <a:rPr lang="en-US" sz="1300" b="1">
                <a:solidFill>
                  <a:srgbClr val="0D1016"/>
                </a:solidFill>
                <a:latin typeface="Consolas" pitchFamily="34" charset="0"/>
                <a:ea typeface="Consolas" pitchFamily="34" charset="-122"/>
                <a:cs typeface="Consolas" pitchFamily="34" charset="-120"/>
              </a:rPr>
              <a:t>1</a:t>
            </a:r>
            <a:endParaRPr lang="en-US" sz="1300"/>
          </a:p>
        </p:txBody>
      </p:sp>
      <p:sp>
        <p:nvSpPr>
          <p:cNvPr id="10" name="Text 8"/>
          <p:cNvSpPr/>
          <p:nvPr/>
        </p:nvSpPr>
        <p:spPr>
          <a:xfrm>
            <a:off x="1143000" y="2121408"/>
            <a:ext cx="4206240" cy="274320"/>
          </a:xfrm>
          <a:prstGeom prst="rect">
            <a:avLst/>
          </a:prstGeom>
          <a:noFill/>
          <a:ln/>
        </p:spPr>
        <p:txBody>
          <a:bodyPr wrap="square" lIns="0" tIns="0" rIns="0" bIns="0" rtlCol="0" anchor="t"/>
          <a:lstStyle/>
          <a:p>
            <a:pPr marL="0" indent="0" algn="l">
              <a:buNone/>
            </a:pPr>
            <a:r>
              <a:rPr lang="en-US" sz="1300" b="1">
                <a:solidFill>
                  <a:srgbClr val="FFFFFF"/>
                </a:solidFill>
                <a:latin typeface="Segoe UI" pitchFamily="34" charset="0"/>
                <a:ea typeface="Segoe UI" pitchFamily="34" charset="-122"/>
                <a:cs typeface="Segoe UI" pitchFamily="34" charset="-120"/>
              </a:rPr>
              <a:t>You are long the spread</a:t>
            </a:r>
            <a:endParaRPr lang="en-US" sz="1300"/>
          </a:p>
        </p:txBody>
      </p:sp>
      <p:sp>
        <p:nvSpPr>
          <p:cNvPr id="11" name="Text 9"/>
          <p:cNvSpPr/>
          <p:nvPr/>
        </p:nvSpPr>
        <p:spPr>
          <a:xfrm>
            <a:off x="1143000" y="2414016"/>
            <a:ext cx="4206240" cy="365760"/>
          </a:xfrm>
          <a:prstGeom prst="rect">
            <a:avLst/>
          </a:prstGeom>
          <a:noFill/>
          <a:ln/>
        </p:spPr>
        <p:txBody>
          <a:bodyPr wrap="square" lIns="0" tIns="0" rIns="0" bIns="0" rtlCol="0" anchor="ctr"/>
          <a:lstStyle/>
          <a:p>
            <a:pPr marL="0" indent="0" algn="l">
              <a:buNone/>
            </a:pPr>
            <a:r>
              <a:rPr lang="en-US" sz="1350">
                <a:solidFill>
                  <a:srgbClr val="8B96A8"/>
                </a:solidFill>
                <a:latin typeface="Consolas" pitchFamily="34" charset="0"/>
                <a:ea typeface="Consolas" pitchFamily="34" charset="-122"/>
                <a:cs typeface="Consolas" pitchFamily="34" charset="-120"/>
              </a:rPr>
              <a:t>entry @ </a:t>
            </a:r>
            <a:r>
              <a:rPr lang="en-US" sz="1350" b="1">
                <a:solidFill>
                  <a:srgbClr val="3AD1E6"/>
                </a:solidFill>
                <a:latin typeface="Consolas" pitchFamily="34" charset="0"/>
                <a:ea typeface="Consolas" pitchFamily="34" charset="-122"/>
                <a:cs typeface="Consolas" pitchFamily="34" charset="-120"/>
              </a:rPr>
              <a:t>−0.90</a:t>
            </a:r>
            <a:endParaRPr lang="en-US" sz="1350"/>
          </a:p>
        </p:txBody>
      </p:sp>
      <p:sp>
        <p:nvSpPr>
          <p:cNvPr id="12" name="step">
            <a:extLst>
              <a:ext uri="{C183D7F6-B498-43B3-948B-1728B52AA6E4}">
                <adec:decorative xmlns:adec="http://schemas.microsoft.com/office/drawing/2017/decorative" val="1"/>
              </a:ext>
            </a:extLst>
          </p:cNvPr>
          <p:cNvSpPr/>
          <p:nvPr/>
        </p:nvSpPr>
        <p:spPr>
          <a:xfrm>
            <a:off x="685800" y="2907792"/>
            <a:ext cx="310896" cy="310896"/>
          </a:xfrm>
          <a:prstGeom prst="ellipse">
            <a:avLst/>
          </a:prstGeom>
          <a:solidFill>
            <a:srgbClr val="3AD1E6"/>
          </a:solidFill>
          <a:ln/>
        </p:spPr>
        <p:txBody>
          <a:bodyPr/>
          <a:lstStyle/>
          <a:p>
            <a:endParaRPr lang="en-SE"/>
          </a:p>
        </p:txBody>
      </p:sp>
      <p:sp>
        <p:nvSpPr>
          <p:cNvPr id="13" name="Text 11"/>
          <p:cNvSpPr/>
          <p:nvPr/>
        </p:nvSpPr>
        <p:spPr>
          <a:xfrm>
            <a:off x="685800" y="2907792"/>
            <a:ext cx="310896" cy="310896"/>
          </a:xfrm>
          <a:prstGeom prst="rect">
            <a:avLst/>
          </a:prstGeom>
          <a:noFill/>
          <a:ln/>
        </p:spPr>
        <p:txBody>
          <a:bodyPr wrap="square" lIns="0" tIns="0" rIns="0" bIns="0" rtlCol="0" anchor="ctr"/>
          <a:lstStyle/>
          <a:p>
            <a:pPr marL="0" indent="0" algn="ctr">
              <a:buNone/>
            </a:pPr>
            <a:r>
              <a:rPr lang="en-US" sz="1300" b="1">
                <a:solidFill>
                  <a:srgbClr val="0D1016"/>
                </a:solidFill>
                <a:latin typeface="Consolas" pitchFamily="34" charset="0"/>
                <a:ea typeface="Consolas" pitchFamily="34" charset="-122"/>
                <a:cs typeface="Consolas" pitchFamily="34" charset="-120"/>
              </a:rPr>
              <a:t>2</a:t>
            </a:r>
            <a:endParaRPr lang="en-US" sz="1300"/>
          </a:p>
        </p:txBody>
      </p:sp>
      <p:sp>
        <p:nvSpPr>
          <p:cNvPr id="14" name="Text 12"/>
          <p:cNvSpPr/>
          <p:nvPr/>
        </p:nvSpPr>
        <p:spPr>
          <a:xfrm>
            <a:off x="1143000" y="2944368"/>
            <a:ext cx="4206240" cy="274320"/>
          </a:xfrm>
          <a:prstGeom prst="rect">
            <a:avLst/>
          </a:prstGeom>
          <a:noFill/>
          <a:ln/>
        </p:spPr>
        <p:txBody>
          <a:bodyPr wrap="square" lIns="0" tIns="0" rIns="0" bIns="0" rtlCol="0" anchor="t"/>
          <a:lstStyle/>
          <a:p>
            <a:pPr marL="0" indent="0" algn="l">
              <a:buNone/>
            </a:pPr>
            <a:r>
              <a:rPr lang="en-US" sz="1300" b="1">
                <a:solidFill>
                  <a:srgbClr val="FFFFFF"/>
                </a:solidFill>
                <a:latin typeface="Segoe UI" pitchFamily="34" charset="0"/>
                <a:ea typeface="Segoe UI" pitchFamily="34" charset="-122"/>
                <a:cs typeface="Segoe UI" pitchFamily="34" charset="-120"/>
              </a:rPr>
              <a:t>March strengthens vs June</a:t>
            </a:r>
            <a:endParaRPr lang="en-US" sz="1300"/>
          </a:p>
        </p:txBody>
      </p:sp>
      <p:sp>
        <p:nvSpPr>
          <p:cNvPr id="15" name="Text 13"/>
          <p:cNvSpPr/>
          <p:nvPr/>
        </p:nvSpPr>
        <p:spPr>
          <a:xfrm>
            <a:off x="1143000" y="3236976"/>
            <a:ext cx="4206240" cy="365760"/>
          </a:xfrm>
          <a:prstGeom prst="rect">
            <a:avLst/>
          </a:prstGeom>
          <a:noFill/>
          <a:ln/>
        </p:spPr>
        <p:txBody>
          <a:bodyPr wrap="square" lIns="0" tIns="0" rIns="0" bIns="0" rtlCol="0" anchor="ctr"/>
          <a:lstStyle/>
          <a:p>
            <a:pPr marL="0" indent="0" algn="l">
              <a:buNone/>
            </a:pPr>
            <a:r>
              <a:rPr lang="en-US" sz="1350">
                <a:solidFill>
                  <a:srgbClr val="8B96A8"/>
                </a:solidFill>
                <a:latin typeface="Consolas" pitchFamily="34" charset="0"/>
                <a:ea typeface="Consolas" pitchFamily="34" charset="-122"/>
                <a:cs typeface="Consolas" pitchFamily="34" charset="-120"/>
              </a:rPr>
              <a:t>spread now = 78.70 − 79.10 = </a:t>
            </a:r>
            <a:r>
              <a:rPr lang="en-US" sz="1350" b="1">
                <a:solidFill>
                  <a:srgbClr val="3AD1E6"/>
                </a:solidFill>
                <a:latin typeface="Consolas" pitchFamily="34" charset="0"/>
                <a:ea typeface="Consolas" pitchFamily="34" charset="-122"/>
                <a:cs typeface="Consolas" pitchFamily="34" charset="-120"/>
              </a:rPr>
              <a:t>−0.40</a:t>
            </a:r>
            <a:endParaRPr lang="en-US" sz="1350"/>
          </a:p>
        </p:txBody>
      </p:sp>
      <p:sp>
        <p:nvSpPr>
          <p:cNvPr id="16" name="rule">
            <a:extLst>
              <a:ext uri="{C183D7F6-B498-43B3-948B-1728B52AA6E4}">
                <adec:decorative xmlns:adec="http://schemas.microsoft.com/office/drawing/2017/decorative" val="1"/>
              </a:ext>
            </a:extLst>
          </p:cNvPr>
          <p:cNvSpPr/>
          <p:nvPr/>
        </p:nvSpPr>
        <p:spPr>
          <a:xfrm>
            <a:off x="1143000" y="3675888"/>
            <a:ext cx="4206240" cy="0"/>
          </a:xfrm>
          <a:prstGeom prst="line">
            <a:avLst/>
          </a:prstGeom>
          <a:noFill/>
          <a:ln w="12700">
            <a:solidFill>
              <a:srgbClr val="2C3644"/>
            </a:solidFill>
            <a:prstDash val="solid"/>
          </a:ln>
        </p:spPr>
        <p:txBody>
          <a:bodyPr/>
          <a:lstStyle/>
          <a:p>
            <a:endParaRPr lang="en-SE"/>
          </a:p>
        </p:txBody>
      </p:sp>
      <p:sp>
        <p:nvSpPr>
          <p:cNvPr id="17" name="step">
            <a:extLst>
              <a:ext uri="{C183D7F6-B498-43B3-948B-1728B52AA6E4}">
                <adec:decorative xmlns:adec="http://schemas.microsoft.com/office/drawing/2017/decorative" val="1"/>
              </a:ext>
            </a:extLst>
          </p:cNvPr>
          <p:cNvSpPr/>
          <p:nvPr/>
        </p:nvSpPr>
        <p:spPr>
          <a:xfrm>
            <a:off x="685800" y="3794760"/>
            <a:ext cx="310896" cy="310896"/>
          </a:xfrm>
          <a:prstGeom prst="ellipse">
            <a:avLst/>
          </a:prstGeom>
          <a:solidFill>
            <a:srgbClr val="35E07E"/>
          </a:solidFill>
          <a:ln/>
        </p:spPr>
        <p:txBody>
          <a:bodyPr/>
          <a:lstStyle/>
          <a:p>
            <a:endParaRPr lang="en-SE"/>
          </a:p>
        </p:txBody>
      </p:sp>
      <p:sp>
        <p:nvSpPr>
          <p:cNvPr id="18" name="Text 16"/>
          <p:cNvSpPr/>
          <p:nvPr/>
        </p:nvSpPr>
        <p:spPr>
          <a:xfrm>
            <a:off x="685800" y="3794760"/>
            <a:ext cx="310896" cy="310896"/>
          </a:xfrm>
          <a:prstGeom prst="rect">
            <a:avLst/>
          </a:prstGeom>
          <a:noFill/>
          <a:ln/>
        </p:spPr>
        <p:txBody>
          <a:bodyPr wrap="square" lIns="0" tIns="0" rIns="0" bIns="0" rtlCol="0" anchor="ctr"/>
          <a:lstStyle/>
          <a:p>
            <a:pPr marL="0" indent="0" algn="ctr">
              <a:buNone/>
            </a:pPr>
            <a:r>
              <a:rPr lang="en-US" sz="1300" b="1">
                <a:solidFill>
                  <a:srgbClr val="0D1016"/>
                </a:solidFill>
                <a:latin typeface="Consolas" pitchFamily="34" charset="0"/>
                <a:ea typeface="Consolas" pitchFamily="34" charset="-122"/>
                <a:cs typeface="Consolas" pitchFamily="34" charset="-120"/>
              </a:rPr>
              <a:t>=</a:t>
            </a:r>
            <a:endParaRPr lang="en-US" sz="1300"/>
          </a:p>
        </p:txBody>
      </p:sp>
      <p:sp>
        <p:nvSpPr>
          <p:cNvPr id="28" name="Text 26"/>
          <p:cNvSpPr/>
          <p:nvPr/>
        </p:nvSpPr>
        <p:spPr>
          <a:xfrm>
            <a:off x="1143000" y="3794760"/>
            <a:ext cx="4206240" cy="274320"/>
          </a:xfrm>
          <a:prstGeom prst="rect">
            <a:avLst/>
          </a:prstGeom>
          <a:noFill/>
          <a:ln/>
        </p:spPr>
        <p:txBody>
          <a:bodyPr wrap="square" lIns="0" tIns="0" rIns="0" bIns="0" rtlCol="0" anchor="t"/>
          <a:lstStyle/>
          <a:p>
            <a:pPr marL="0" indent="0" algn="l">
              <a:buNone/>
            </a:pPr>
            <a:r>
              <a:rPr lang="en-US" sz="1300" b="1">
                <a:solidFill>
                  <a:srgbClr val="FFFFFF"/>
                </a:solidFill>
                <a:latin typeface="Segoe UI" pitchFamily="34" charset="0"/>
                <a:ea typeface="Segoe UI" pitchFamily="34" charset="-122"/>
                <a:cs typeface="Segoe UI" pitchFamily="34" charset="-120"/>
              </a:rPr>
              <a:t>Sell the spread to close</a:t>
            </a:r>
            <a:endParaRPr lang="en-US" sz="1300"/>
          </a:p>
        </p:txBody>
      </p:sp>
      <p:sp>
        <p:nvSpPr>
          <p:cNvPr id="19" name="Text 17"/>
          <p:cNvSpPr/>
          <p:nvPr/>
        </p:nvSpPr>
        <p:spPr>
          <a:xfrm>
            <a:off x="1143000" y="4078224"/>
            <a:ext cx="4297680" cy="274320"/>
          </a:xfrm>
          <a:prstGeom prst="rect">
            <a:avLst/>
          </a:prstGeom>
          <a:noFill/>
          <a:ln/>
        </p:spPr>
        <p:txBody>
          <a:bodyPr wrap="square" lIns="0" tIns="0" rIns="0" bIns="0" rtlCol="0" anchor="ctr"/>
          <a:lstStyle/>
          <a:p>
            <a:pPr marL="0" indent="0" algn="l">
              <a:buNone/>
            </a:pPr>
            <a:r>
              <a:rPr lang="en-US" sz="1350">
                <a:solidFill>
                  <a:srgbClr val="8B96A8"/>
                </a:solidFill>
                <a:latin typeface="Consolas" pitchFamily="34" charset="0"/>
                <a:ea typeface="Consolas" pitchFamily="34" charset="-122"/>
                <a:cs typeface="Consolas" pitchFamily="34" charset="-120"/>
              </a:rPr>
              <a:t>profit = −0.40 − (−0.90) = </a:t>
            </a:r>
            <a:r>
              <a:rPr lang="en-US" sz="1350" b="1">
                <a:solidFill>
                  <a:srgbClr val="35E07E"/>
                </a:solidFill>
                <a:latin typeface="Consolas" pitchFamily="34" charset="0"/>
                <a:ea typeface="Consolas" pitchFamily="34" charset="-122"/>
                <a:cs typeface="Consolas" pitchFamily="34" charset="-120"/>
              </a:rPr>
              <a:t>+0.50</a:t>
            </a:r>
            <a:endParaRPr lang="en-US" sz="1350"/>
          </a:p>
        </p:txBody>
      </p:sp>
      <p:sp>
        <p:nvSpPr>
          <p:cNvPr id="20" name="panel">
            <a:extLst>
              <a:ext uri="{C183D7F6-B498-43B3-948B-1728B52AA6E4}">
                <adec:decorative xmlns:adec="http://schemas.microsoft.com/office/drawing/2017/decorative" val="1"/>
              </a:ext>
            </a:extLst>
          </p:cNvPr>
          <p:cNvSpPr/>
          <p:nvPr/>
        </p:nvSpPr>
        <p:spPr>
          <a:xfrm>
            <a:off x="5806440" y="1874520"/>
            <a:ext cx="2788920" cy="2606040"/>
          </a:xfrm>
          <a:prstGeom prst="roundRect">
            <a:avLst>
              <a:gd name="adj" fmla="val 2105"/>
            </a:avLst>
          </a:prstGeom>
          <a:solidFill>
            <a:srgbClr val="10251C"/>
          </a:solidFill>
          <a:ln w="12700">
            <a:solidFill>
              <a:srgbClr val="35E07E"/>
            </a:solidFill>
            <a:prstDash val="solid"/>
          </a:ln>
        </p:spPr>
        <p:txBody>
          <a:bodyPr/>
          <a:lstStyle/>
          <a:p>
            <a:endParaRPr lang="en-SE"/>
          </a:p>
        </p:txBody>
      </p:sp>
      <p:sp>
        <p:nvSpPr>
          <p:cNvPr id="21" name="Text 19"/>
          <p:cNvSpPr/>
          <p:nvPr/>
        </p:nvSpPr>
        <p:spPr>
          <a:xfrm>
            <a:off x="5943600" y="2148840"/>
            <a:ext cx="2560320" cy="274320"/>
          </a:xfrm>
          <a:prstGeom prst="rect">
            <a:avLst/>
          </a:prstGeom>
          <a:noFill/>
          <a:ln/>
        </p:spPr>
        <p:txBody>
          <a:bodyPr wrap="square" lIns="0" tIns="0" rIns="0" bIns="0" rtlCol="0" anchor="t"/>
          <a:lstStyle/>
          <a:p>
            <a:pPr marL="0" indent="0" algn="ctr">
              <a:buNone/>
            </a:pPr>
            <a:r>
              <a:rPr lang="en-US" sz="1100" b="1" kern="0" spc="100">
                <a:solidFill>
                  <a:srgbClr val="35E07E"/>
                </a:solidFill>
                <a:latin typeface="Segoe UI" pitchFamily="34" charset="0"/>
                <a:ea typeface="Segoe UI" pitchFamily="34" charset="-122"/>
                <a:cs typeface="Segoe UI" pitchFamily="34" charset="-120"/>
              </a:rPr>
              <a:t>YOU MADE</a:t>
            </a:r>
            <a:endParaRPr lang="en-US" sz="1100"/>
          </a:p>
        </p:txBody>
      </p:sp>
      <p:sp>
        <p:nvSpPr>
          <p:cNvPr id="22" name="Text 20"/>
          <p:cNvSpPr/>
          <p:nvPr/>
        </p:nvSpPr>
        <p:spPr>
          <a:xfrm>
            <a:off x="5806440" y="2468880"/>
            <a:ext cx="2788920" cy="822960"/>
          </a:xfrm>
          <a:prstGeom prst="rect">
            <a:avLst/>
          </a:prstGeom>
          <a:noFill/>
          <a:ln/>
        </p:spPr>
        <p:txBody>
          <a:bodyPr wrap="square" lIns="0" tIns="0" rIns="0" bIns="0" rtlCol="0" anchor="t"/>
          <a:lstStyle/>
          <a:p>
            <a:pPr marL="0" indent="0" algn="ctr">
              <a:buNone/>
            </a:pPr>
            <a:r>
              <a:rPr lang="en-US" sz="4400" b="1">
                <a:solidFill>
                  <a:srgbClr val="35E07E"/>
                </a:solidFill>
                <a:latin typeface="Consolas" pitchFamily="34" charset="0"/>
                <a:ea typeface="Consolas" pitchFamily="34" charset="-122"/>
                <a:cs typeface="Consolas" pitchFamily="34" charset="-120"/>
              </a:rPr>
              <a:t>+0.50</a:t>
            </a:r>
            <a:endParaRPr lang="en-US" sz="4400"/>
          </a:p>
        </p:txBody>
      </p:sp>
      <p:sp>
        <p:nvSpPr>
          <p:cNvPr id="23" name="Text 21"/>
          <p:cNvSpPr/>
          <p:nvPr/>
        </p:nvSpPr>
        <p:spPr>
          <a:xfrm>
            <a:off x="5806440" y="3246120"/>
            <a:ext cx="2788920" cy="274320"/>
          </a:xfrm>
          <a:prstGeom prst="rect">
            <a:avLst/>
          </a:prstGeom>
          <a:noFill/>
          <a:ln/>
        </p:spPr>
        <p:txBody>
          <a:bodyPr wrap="square" lIns="0" tIns="0" rIns="0" bIns="0" rtlCol="0" anchor="t"/>
          <a:lstStyle/>
          <a:p>
            <a:pPr marL="0" indent="0" algn="ctr">
              <a:buNone/>
            </a:pPr>
            <a:r>
              <a:rPr lang="en-US" sz="1100" i="1">
                <a:solidFill>
                  <a:srgbClr val="8B96A8"/>
                </a:solidFill>
                <a:latin typeface="Segoe UI" pitchFamily="34" charset="0"/>
                <a:ea typeface="Segoe UI" pitchFamily="34" charset="-122"/>
                <a:cs typeface="Segoe UI" pitchFamily="34" charset="-120"/>
              </a:rPr>
              <a:t>per barrel</a:t>
            </a:r>
            <a:endParaRPr lang="en-US" sz="1100"/>
          </a:p>
        </p:txBody>
      </p:sp>
      <p:sp>
        <p:nvSpPr>
          <p:cNvPr id="24" name="rule">
            <a:extLst>
              <a:ext uri="{C183D7F6-B498-43B3-948B-1728B52AA6E4}">
                <adec:decorative xmlns:adec="http://schemas.microsoft.com/office/drawing/2017/decorative" val="1"/>
              </a:ext>
            </a:extLst>
          </p:cNvPr>
          <p:cNvSpPr/>
          <p:nvPr/>
        </p:nvSpPr>
        <p:spPr>
          <a:xfrm>
            <a:off x="6035040" y="3657600"/>
            <a:ext cx="2331720" cy="0"/>
          </a:xfrm>
          <a:prstGeom prst="line">
            <a:avLst/>
          </a:prstGeom>
          <a:noFill/>
          <a:ln w="12700">
            <a:solidFill>
              <a:srgbClr val="2C3644"/>
            </a:solidFill>
            <a:prstDash val="solid"/>
          </a:ln>
        </p:spPr>
        <p:txBody>
          <a:bodyPr/>
          <a:lstStyle/>
          <a:p>
            <a:endParaRPr lang="en-SE"/>
          </a:p>
        </p:txBody>
      </p:sp>
      <p:sp>
        <p:nvSpPr>
          <p:cNvPr id="25" name="Text 23"/>
          <p:cNvSpPr/>
          <p:nvPr/>
        </p:nvSpPr>
        <p:spPr>
          <a:xfrm>
            <a:off x="5943600" y="3749040"/>
            <a:ext cx="2514600" cy="685800"/>
          </a:xfrm>
          <a:prstGeom prst="rect">
            <a:avLst/>
          </a:prstGeom>
          <a:noFill/>
          <a:ln/>
        </p:spPr>
        <p:txBody>
          <a:bodyPr wrap="square" lIns="0" tIns="0" rIns="0" bIns="0" rtlCol="0" anchor="t"/>
          <a:lstStyle/>
          <a:p>
            <a:pPr marL="0" indent="0" algn="ctr">
              <a:lnSpc>
                <a:spcPts val="1500"/>
              </a:lnSpc>
              <a:buNone/>
            </a:pPr>
            <a:r>
              <a:rPr lang="en-US" sz="1100">
                <a:solidFill>
                  <a:srgbClr val="D8DEE9"/>
                </a:solidFill>
                <a:latin typeface="Segoe UI" pitchFamily="34" charset="0"/>
                <a:ea typeface="Segoe UI" pitchFamily="34" charset="-122"/>
                <a:cs typeface="Segoe UI" pitchFamily="34" charset="-120"/>
              </a:rPr>
              <a:t>≈ +$500 per 1,000-bbl contract — you sold the spread back at its higher value.</a:t>
            </a:r>
            <a:endParaRPr lang="en-US" sz="1100"/>
          </a:p>
        </p:txBody>
      </p:sp>
      <p:sp>
        <p:nvSpPr>
          <p:cNvPr id="26" name="Text 24"/>
          <p:cNvSpPr/>
          <p:nvPr/>
        </p:nvSpPr>
        <p:spPr>
          <a:xfrm>
            <a:off x="502920" y="4553712"/>
            <a:ext cx="5074920" cy="228600"/>
          </a:xfrm>
          <a:prstGeom prst="rect">
            <a:avLst/>
          </a:prstGeom>
          <a:noFill/>
          <a:ln/>
        </p:spPr>
        <p:txBody>
          <a:bodyPr wrap="square" lIns="0" tIns="0" rIns="0" bIns="0" rtlCol="0" anchor="t"/>
          <a:lstStyle/>
          <a:p>
            <a:pPr marL="0" indent="0" algn="l">
              <a:buNone/>
            </a:pPr>
            <a:r>
              <a:rPr lang="en-US" sz="950" i="1">
                <a:solidFill>
                  <a:srgbClr val="8B96A8"/>
                </a:solidFill>
                <a:latin typeface="Segoe UI" pitchFamily="34" charset="0"/>
                <a:ea typeface="Segoe UI" pitchFamily="34" charset="-122"/>
                <a:cs typeface="Segoe UI" pitchFamily="34" charset="-120"/>
              </a:rPr>
              <a:t>Illustrative prices, $/barrel. A long spread profits when the spread rises.</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Two liquid legs — but no market in the spread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PROBLEM</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09</a:t>
            </a:r>
            <a:endParaRPr lang="en-US" sz="850" dirty="0"/>
          </a:p>
        </p:txBody>
      </p:sp>
      <p:sp>
        <p:nvSpPr>
          <p:cNvPr id="6" name="Text 4"/>
          <p:cNvSpPr/>
          <p:nvPr/>
        </p:nvSpPr>
        <p:spPr>
          <a:xfrm>
            <a:off x="502920" y="1371600"/>
            <a:ext cx="8092440" cy="548640"/>
          </a:xfrm>
          <a:prstGeom prst="rect">
            <a:avLst/>
          </a:prstGeom>
          <a:noFill/>
          <a:ln/>
        </p:spPr>
        <p:txBody>
          <a:bodyPr wrap="square" lIns="0" tIns="0" rIns="0" bIns="0" rtlCol="0" anchor="t"/>
          <a:lstStyle/>
          <a:p>
            <a:pPr marL="0" indent="0" algn="l">
              <a:lnSpc>
                <a:spcPts val="1800"/>
              </a:lnSpc>
              <a:buNone/>
            </a:pPr>
            <a:r>
              <a:rPr lang="en-US" sz="1350" dirty="0">
                <a:solidFill>
                  <a:srgbClr val="D8DEE9"/>
                </a:solidFill>
                <a:latin typeface="Segoe UI" pitchFamily="34" charset="0"/>
                <a:ea typeface="Segoe UI" pitchFamily="34" charset="-122"/>
                <a:cs typeface="Segoe UI" pitchFamily="34" charset="-120"/>
              </a:rPr>
              <a:t>You want to trade the March–June spread. Both outright books are full of resting orders — yet the spread's own book is empty. There is simply nothing to trade against.</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121408"/>
            <a:ext cx="2468880" cy="1645920"/>
          </a:xfrm>
          <a:prstGeom prst="roundRect">
            <a:avLst>
              <a:gd name="adj" fmla="val 3333"/>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30936" y="2176272"/>
            <a:ext cx="2212848"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MARCH  (real)</a:t>
            </a:r>
            <a:endParaRPr lang="en-US" sz="1100" dirty="0"/>
          </a:p>
        </p:txBody>
      </p:sp>
      <p:sp>
        <p:nvSpPr>
          <p:cNvPr id="9" name="Text 7"/>
          <p:cNvSpPr/>
          <p:nvPr/>
        </p:nvSpPr>
        <p:spPr>
          <a:xfrm>
            <a:off x="630936" y="2432304"/>
            <a:ext cx="1110996" cy="164592"/>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10" name="Text 8"/>
          <p:cNvSpPr/>
          <p:nvPr/>
        </p:nvSpPr>
        <p:spPr>
          <a:xfrm>
            <a:off x="2148840" y="2432304"/>
            <a:ext cx="694944" cy="164592"/>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1" name="depth">
            <a:extLst>
              <a:ext uri="{C183D7F6-B498-43B3-948B-1728B52AA6E4}">
                <adec:decorative xmlns:adec="http://schemas.microsoft.com/office/drawing/2017/decorative" val="1"/>
              </a:ext>
            </a:extLst>
          </p:cNvPr>
          <p:cNvSpPr/>
          <p:nvPr/>
        </p:nvSpPr>
        <p:spPr>
          <a:xfrm>
            <a:off x="2138390" y="2615184"/>
            <a:ext cx="705394" cy="173736"/>
          </a:xfrm>
          <a:prstGeom prst="rect">
            <a:avLst/>
          </a:prstGeom>
          <a:solidFill>
            <a:srgbClr val="FF5C6C">
              <a:alpha val="26000"/>
            </a:srgbClr>
          </a:solidFill>
          <a:ln/>
        </p:spPr>
        <p:txBody>
          <a:bodyPr/>
          <a:lstStyle/>
          <a:p>
            <a:endParaRPr lang="en-SE"/>
          </a:p>
        </p:txBody>
      </p:sp>
      <p:sp>
        <p:nvSpPr>
          <p:cNvPr id="12" name="Text 10"/>
          <p:cNvSpPr/>
          <p:nvPr/>
        </p:nvSpPr>
        <p:spPr>
          <a:xfrm>
            <a:off x="649224" y="2596896"/>
            <a:ext cx="1188720" cy="256032"/>
          </a:xfrm>
          <a:prstGeom prst="rect">
            <a:avLst/>
          </a:prstGeom>
          <a:noFill/>
          <a:ln/>
        </p:spPr>
        <p:txBody>
          <a:bodyPr wrap="square" lIns="0" tIns="0" rIns="0" bIns="0" rtlCol="0" anchor="ctr"/>
          <a:lstStyle/>
          <a:p>
            <a:pPr marL="0" indent="0" algn="l">
              <a:buNone/>
            </a:pPr>
            <a:r>
              <a:rPr lang="en-US" sz="1200" b="1" dirty="0">
                <a:solidFill>
                  <a:srgbClr val="FF5C6C"/>
                </a:solidFill>
                <a:latin typeface="Consolas" pitchFamily="34" charset="0"/>
                <a:ea typeface="Consolas" pitchFamily="34" charset="-122"/>
                <a:cs typeface="Consolas" pitchFamily="34" charset="-120"/>
              </a:rPr>
              <a:t>100.5</a:t>
            </a:r>
            <a:endParaRPr lang="en-US" sz="1200" dirty="0"/>
          </a:p>
        </p:txBody>
      </p:sp>
      <p:sp>
        <p:nvSpPr>
          <p:cNvPr id="13" name="Text 11"/>
          <p:cNvSpPr/>
          <p:nvPr/>
        </p:nvSpPr>
        <p:spPr>
          <a:xfrm>
            <a:off x="2148840" y="2596896"/>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8</a:t>
            </a:r>
            <a:endParaRPr lang="en-US" sz="1100" dirty="0"/>
          </a:p>
        </p:txBody>
      </p:sp>
      <p:sp>
        <p:nvSpPr>
          <p:cNvPr id="14" name="depth">
            <a:extLst>
              <a:ext uri="{C183D7F6-B498-43B3-948B-1728B52AA6E4}">
                <adec:decorative xmlns:adec="http://schemas.microsoft.com/office/drawing/2017/decorative" val="1"/>
              </a:ext>
            </a:extLst>
          </p:cNvPr>
          <p:cNvSpPr/>
          <p:nvPr/>
        </p:nvSpPr>
        <p:spPr>
          <a:xfrm>
            <a:off x="1785693" y="2871216"/>
            <a:ext cx="1058091" cy="173736"/>
          </a:xfrm>
          <a:prstGeom prst="rect">
            <a:avLst/>
          </a:prstGeom>
          <a:solidFill>
            <a:srgbClr val="FF5C6C">
              <a:alpha val="26000"/>
            </a:srgbClr>
          </a:solidFill>
          <a:ln/>
        </p:spPr>
        <p:txBody>
          <a:bodyPr/>
          <a:lstStyle/>
          <a:p>
            <a:endParaRPr lang="en-SE"/>
          </a:p>
        </p:txBody>
      </p:sp>
      <p:sp>
        <p:nvSpPr>
          <p:cNvPr id="15" name="Text 13"/>
          <p:cNvSpPr/>
          <p:nvPr/>
        </p:nvSpPr>
        <p:spPr>
          <a:xfrm>
            <a:off x="649224" y="2852928"/>
            <a:ext cx="1188720" cy="256032"/>
          </a:xfrm>
          <a:prstGeom prst="rect">
            <a:avLst/>
          </a:prstGeom>
          <a:noFill/>
          <a:ln/>
        </p:spPr>
        <p:txBody>
          <a:bodyPr wrap="square" lIns="0" tIns="0" rIns="0" bIns="0" rtlCol="0" anchor="ctr"/>
          <a:lstStyle/>
          <a:p>
            <a:pPr marL="0" indent="0" algn="l">
              <a:buNone/>
            </a:pPr>
            <a:r>
              <a:rPr lang="en-US" sz="1200" b="1" dirty="0">
                <a:solidFill>
                  <a:srgbClr val="FF5C6C"/>
                </a:solidFill>
                <a:latin typeface="Consolas" pitchFamily="34" charset="0"/>
                <a:ea typeface="Consolas" pitchFamily="34" charset="-122"/>
                <a:cs typeface="Consolas" pitchFamily="34" charset="-120"/>
              </a:rPr>
              <a:t>100</a:t>
            </a:r>
            <a:endParaRPr lang="en-US" sz="1200" dirty="0"/>
          </a:p>
        </p:txBody>
      </p:sp>
      <p:sp>
        <p:nvSpPr>
          <p:cNvPr id="16" name="Text 14"/>
          <p:cNvSpPr/>
          <p:nvPr/>
        </p:nvSpPr>
        <p:spPr>
          <a:xfrm>
            <a:off x="2148840" y="2852928"/>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12</a:t>
            </a:r>
            <a:endParaRPr lang="en-US" sz="1100" dirty="0"/>
          </a:p>
        </p:txBody>
      </p:sp>
      <p:sp>
        <p:nvSpPr>
          <p:cNvPr id="17" name="rule">
            <a:extLst>
              <a:ext uri="{C183D7F6-B498-43B3-948B-1728B52AA6E4}">
                <adec:decorative xmlns:adec="http://schemas.microsoft.com/office/drawing/2017/decorative" val="1"/>
              </a:ext>
            </a:extLst>
          </p:cNvPr>
          <p:cNvSpPr/>
          <p:nvPr/>
        </p:nvSpPr>
        <p:spPr>
          <a:xfrm>
            <a:off x="649224" y="3136392"/>
            <a:ext cx="2176272" cy="0"/>
          </a:xfrm>
          <a:prstGeom prst="line">
            <a:avLst/>
          </a:prstGeom>
          <a:noFill/>
          <a:ln w="12700">
            <a:solidFill>
              <a:srgbClr val="2C3644"/>
            </a:solidFill>
            <a:prstDash val="dash"/>
          </a:ln>
        </p:spPr>
        <p:txBody>
          <a:bodyPr/>
          <a:lstStyle/>
          <a:p>
            <a:endParaRPr lang="en-SE"/>
          </a:p>
        </p:txBody>
      </p:sp>
      <p:sp>
        <p:nvSpPr>
          <p:cNvPr id="18" name="depth">
            <a:extLst>
              <a:ext uri="{C183D7F6-B498-43B3-948B-1728B52AA6E4}">
                <adec:decorative xmlns:adec="http://schemas.microsoft.com/office/drawing/2017/decorative" val="1"/>
              </a:ext>
            </a:extLst>
          </p:cNvPr>
          <p:cNvSpPr/>
          <p:nvPr/>
        </p:nvSpPr>
        <p:spPr>
          <a:xfrm>
            <a:off x="1962041" y="3182112"/>
            <a:ext cx="881743" cy="173736"/>
          </a:xfrm>
          <a:prstGeom prst="rect">
            <a:avLst/>
          </a:prstGeom>
          <a:solidFill>
            <a:srgbClr val="35E07E">
              <a:alpha val="26000"/>
            </a:srgbClr>
          </a:solidFill>
          <a:ln/>
        </p:spPr>
        <p:txBody>
          <a:bodyPr/>
          <a:lstStyle/>
          <a:p>
            <a:endParaRPr lang="en-SE"/>
          </a:p>
        </p:txBody>
      </p:sp>
      <p:sp>
        <p:nvSpPr>
          <p:cNvPr id="19" name="Text 17"/>
          <p:cNvSpPr/>
          <p:nvPr/>
        </p:nvSpPr>
        <p:spPr>
          <a:xfrm>
            <a:off x="649224" y="3163824"/>
            <a:ext cx="1188720" cy="256032"/>
          </a:xfrm>
          <a:prstGeom prst="rect">
            <a:avLst/>
          </a:prstGeom>
          <a:noFill/>
          <a:ln/>
        </p:spPr>
        <p:txBody>
          <a:bodyPr wrap="square" lIns="0" tIns="0" rIns="0" bIns="0" rtlCol="0" anchor="ctr"/>
          <a:lstStyle/>
          <a:p>
            <a:pPr marL="0" indent="0" algn="l">
              <a:buNone/>
            </a:pPr>
            <a:r>
              <a:rPr lang="en-US" sz="1200" b="1" dirty="0">
                <a:solidFill>
                  <a:srgbClr val="35E07E"/>
                </a:solidFill>
                <a:latin typeface="Consolas" pitchFamily="34" charset="0"/>
                <a:ea typeface="Consolas" pitchFamily="34" charset="-122"/>
                <a:cs typeface="Consolas" pitchFamily="34" charset="-120"/>
              </a:rPr>
              <a:t>99</a:t>
            </a:r>
            <a:endParaRPr lang="en-US" sz="1200" dirty="0"/>
          </a:p>
        </p:txBody>
      </p:sp>
      <p:sp>
        <p:nvSpPr>
          <p:cNvPr id="20" name="Text 18"/>
          <p:cNvSpPr/>
          <p:nvPr/>
        </p:nvSpPr>
        <p:spPr>
          <a:xfrm>
            <a:off x="2148840" y="3163824"/>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10</a:t>
            </a:r>
            <a:endParaRPr lang="en-US" sz="1100" dirty="0"/>
          </a:p>
        </p:txBody>
      </p:sp>
      <p:sp>
        <p:nvSpPr>
          <p:cNvPr id="21" name="depth">
            <a:extLst>
              <a:ext uri="{C183D7F6-B498-43B3-948B-1728B52AA6E4}">
                <adec:decorative xmlns:adec="http://schemas.microsoft.com/office/drawing/2017/decorative" val="1"/>
              </a:ext>
            </a:extLst>
          </p:cNvPr>
          <p:cNvSpPr/>
          <p:nvPr/>
        </p:nvSpPr>
        <p:spPr>
          <a:xfrm>
            <a:off x="1609344" y="3438144"/>
            <a:ext cx="1234440" cy="173736"/>
          </a:xfrm>
          <a:prstGeom prst="rect">
            <a:avLst/>
          </a:prstGeom>
          <a:solidFill>
            <a:srgbClr val="35E07E">
              <a:alpha val="26000"/>
            </a:srgbClr>
          </a:solidFill>
          <a:ln/>
        </p:spPr>
        <p:txBody>
          <a:bodyPr/>
          <a:lstStyle/>
          <a:p>
            <a:endParaRPr lang="en-SE"/>
          </a:p>
        </p:txBody>
      </p:sp>
      <p:sp>
        <p:nvSpPr>
          <p:cNvPr id="22" name="Text 20"/>
          <p:cNvSpPr/>
          <p:nvPr/>
        </p:nvSpPr>
        <p:spPr>
          <a:xfrm>
            <a:off x="649224" y="3419856"/>
            <a:ext cx="1188720" cy="256032"/>
          </a:xfrm>
          <a:prstGeom prst="rect">
            <a:avLst/>
          </a:prstGeom>
          <a:noFill/>
          <a:ln/>
        </p:spPr>
        <p:txBody>
          <a:bodyPr wrap="square" lIns="0" tIns="0" rIns="0" bIns="0" rtlCol="0" anchor="ctr"/>
          <a:lstStyle/>
          <a:p>
            <a:pPr marL="0" indent="0" algn="l">
              <a:buNone/>
            </a:pPr>
            <a:r>
              <a:rPr lang="en-US" sz="1200" b="1" dirty="0">
                <a:solidFill>
                  <a:srgbClr val="35E07E"/>
                </a:solidFill>
                <a:latin typeface="Consolas" pitchFamily="34" charset="0"/>
                <a:ea typeface="Consolas" pitchFamily="34" charset="-122"/>
                <a:cs typeface="Consolas" pitchFamily="34" charset="-120"/>
              </a:rPr>
              <a:t>98.5</a:t>
            </a:r>
            <a:endParaRPr lang="en-US" sz="1200" dirty="0"/>
          </a:p>
        </p:txBody>
      </p:sp>
      <p:sp>
        <p:nvSpPr>
          <p:cNvPr id="23" name="Text 21"/>
          <p:cNvSpPr/>
          <p:nvPr/>
        </p:nvSpPr>
        <p:spPr>
          <a:xfrm>
            <a:off x="2148840" y="3419856"/>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14</a:t>
            </a:r>
            <a:endParaRPr lang="en-US" sz="1100" dirty="0"/>
          </a:p>
        </p:txBody>
      </p:sp>
      <p:sp>
        <p:nvSpPr>
          <p:cNvPr id="24" name="panel">
            <a:extLst>
              <a:ext uri="{C183D7F6-B498-43B3-948B-1728B52AA6E4}">
                <adec:decorative xmlns:adec="http://schemas.microsoft.com/office/drawing/2017/decorative" val="1"/>
              </a:ext>
            </a:extLst>
          </p:cNvPr>
          <p:cNvSpPr/>
          <p:nvPr/>
        </p:nvSpPr>
        <p:spPr>
          <a:xfrm>
            <a:off x="3108960" y="2121408"/>
            <a:ext cx="2468880" cy="1645920"/>
          </a:xfrm>
          <a:prstGeom prst="roundRect">
            <a:avLst>
              <a:gd name="adj" fmla="val 3333"/>
            </a:avLst>
          </a:prstGeom>
          <a:solidFill>
            <a:srgbClr val="1B212C"/>
          </a:solidFill>
          <a:ln w="12700">
            <a:solidFill>
              <a:srgbClr val="2C3644"/>
            </a:solidFill>
            <a:prstDash val="solid"/>
          </a:ln>
        </p:spPr>
        <p:txBody>
          <a:bodyPr/>
          <a:lstStyle/>
          <a:p>
            <a:endParaRPr lang="en-SE"/>
          </a:p>
        </p:txBody>
      </p:sp>
      <p:sp>
        <p:nvSpPr>
          <p:cNvPr id="25" name="Text 23"/>
          <p:cNvSpPr/>
          <p:nvPr/>
        </p:nvSpPr>
        <p:spPr>
          <a:xfrm>
            <a:off x="3236976" y="2176272"/>
            <a:ext cx="2212848"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JUNE  (real)</a:t>
            </a:r>
            <a:endParaRPr lang="en-US" sz="1100" dirty="0"/>
          </a:p>
        </p:txBody>
      </p:sp>
      <p:sp>
        <p:nvSpPr>
          <p:cNvPr id="26" name="Text 24"/>
          <p:cNvSpPr/>
          <p:nvPr/>
        </p:nvSpPr>
        <p:spPr>
          <a:xfrm>
            <a:off x="3236976" y="2432304"/>
            <a:ext cx="1110996" cy="164592"/>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27" name="Text 25"/>
          <p:cNvSpPr/>
          <p:nvPr/>
        </p:nvSpPr>
        <p:spPr>
          <a:xfrm>
            <a:off x="4754880" y="2432304"/>
            <a:ext cx="694944" cy="164592"/>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28" name="depth">
            <a:extLst>
              <a:ext uri="{C183D7F6-B498-43B3-948B-1728B52AA6E4}">
                <adec:decorative xmlns:adec="http://schemas.microsoft.com/office/drawing/2017/decorative" val="1"/>
              </a:ext>
            </a:extLst>
          </p:cNvPr>
          <p:cNvSpPr/>
          <p:nvPr/>
        </p:nvSpPr>
        <p:spPr>
          <a:xfrm>
            <a:off x="4695444" y="2615184"/>
            <a:ext cx="754380" cy="173736"/>
          </a:xfrm>
          <a:prstGeom prst="rect">
            <a:avLst/>
          </a:prstGeom>
          <a:solidFill>
            <a:srgbClr val="FF5C6C">
              <a:alpha val="26000"/>
            </a:srgbClr>
          </a:solidFill>
          <a:ln/>
        </p:spPr>
        <p:txBody>
          <a:bodyPr/>
          <a:lstStyle/>
          <a:p>
            <a:endParaRPr lang="en-SE"/>
          </a:p>
        </p:txBody>
      </p:sp>
      <p:sp>
        <p:nvSpPr>
          <p:cNvPr id="29" name="Text 27"/>
          <p:cNvSpPr/>
          <p:nvPr/>
        </p:nvSpPr>
        <p:spPr>
          <a:xfrm>
            <a:off x="3255264" y="2596896"/>
            <a:ext cx="1188720" cy="256032"/>
          </a:xfrm>
          <a:prstGeom prst="rect">
            <a:avLst/>
          </a:prstGeom>
          <a:noFill/>
          <a:ln/>
        </p:spPr>
        <p:txBody>
          <a:bodyPr wrap="square" lIns="0" tIns="0" rIns="0" bIns="0" rtlCol="0" anchor="ctr"/>
          <a:lstStyle/>
          <a:p>
            <a:pPr marL="0" indent="0" algn="l">
              <a:buNone/>
            </a:pPr>
            <a:r>
              <a:rPr lang="en-US" sz="1200" b="1" dirty="0">
                <a:solidFill>
                  <a:srgbClr val="FF5C6C"/>
                </a:solidFill>
                <a:latin typeface="Consolas" pitchFamily="34" charset="0"/>
                <a:ea typeface="Consolas" pitchFamily="34" charset="-122"/>
                <a:cs typeface="Consolas" pitchFamily="34" charset="-120"/>
              </a:rPr>
              <a:t>98.5</a:t>
            </a:r>
            <a:endParaRPr lang="en-US" sz="1200" dirty="0"/>
          </a:p>
        </p:txBody>
      </p:sp>
      <p:sp>
        <p:nvSpPr>
          <p:cNvPr id="30" name="Text 28"/>
          <p:cNvSpPr/>
          <p:nvPr/>
        </p:nvSpPr>
        <p:spPr>
          <a:xfrm>
            <a:off x="4754880" y="2596896"/>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11</a:t>
            </a:r>
            <a:endParaRPr lang="en-US" sz="1100" dirty="0"/>
          </a:p>
        </p:txBody>
      </p:sp>
      <p:sp>
        <p:nvSpPr>
          <p:cNvPr id="31" name="depth">
            <a:extLst>
              <a:ext uri="{C183D7F6-B498-43B3-948B-1728B52AA6E4}">
                <adec:decorative xmlns:adec="http://schemas.microsoft.com/office/drawing/2017/decorative" val="1"/>
              </a:ext>
            </a:extLst>
          </p:cNvPr>
          <p:cNvSpPr/>
          <p:nvPr/>
        </p:nvSpPr>
        <p:spPr>
          <a:xfrm>
            <a:off x="4215384" y="2871216"/>
            <a:ext cx="1234440" cy="173736"/>
          </a:xfrm>
          <a:prstGeom prst="rect">
            <a:avLst/>
          </a:prstGeom>
          <a:solidFill>
            <a:srgbClr val="FF5C6C">
              <a:alpha val="26000"/>
            </a:srgbClr>
          </a:solidFill>
          <a:ln/>
        </p:spPr>
        <p:txBody>
          <a:bodyPr/>
          <a:lstStyle/>
          <a:p>
            <a:endParaRPr lang="en-SE"/>
          </a:p>
        </p:txBody>
      </p:sp>
      <p:sp>
        <p:nvSpPr>
          <p:cNvPr id="32" name="Text 30"/>
          <p:cNvSpPr/>
          <p:nvPr/>
        </p:nvSpPr>
        <p:spPr>
          <a:xfrm>
            <a:off x="3255264" y="2852928"/>
            <a:ext cx="1188720" cy="256032"/>
          </a:xfrm>
          <a:prstGeom prst="rect">
            <a:avLst/>
          </a:prstGeom>
          <a:noFill/>
          <a:ln/>
        </p:spPr>
        <p:txBody>
          <a:bodyPr wrap="square" lIns="0" tIns="0" rIns="0" bIns="0" rtlCol="0" anchor="ctr"/>
          <a:lstStyle/>
          <a:p>
            <a:pPr marL="0" indent="0" algn="l">
              <a:buNone/>
            </a:pPr>
            <a:r>
              <a:rPr lang="en-US" sz="1200" b="1" dirty="0">
                <a:solidFill>
                  <a:srgbClr val="FF5C6C"/>
                </a:solidFill>
                <a:latin typeface="Consolas" pitchFamily="34" charset="0"/>
                <a:ea typeface="Consolas" pitchFamily="34" charset="-122"/>
                <a:cs typeface="Consolas" pitchFamily="34" charset="-120"/>
              </a:rPr>
              <a:t>98</a:t>
            </a:r>
            <a:endParaRPr lang="en-US" sz="1200" dirty="0"/>
          </a:p>
        </p:txBody>
      </p:sp>
      <p:sp>
        <p:nvSpPr>
          <p:cNvPr id="33" name="Text 31"/>
          <p:cNvSpPr/>
          <p:nvPr/>
        </p:nvSpPr>
        <p:spPr>
          <a:xfrm>
            <a:off x="4754880" y="2852928"/>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18</a:t>
            </a:r>
            <a:endParaRPr lang="en-US" sz="1100" dirty="0"/>
          </a:p>
        </p:txBody>
      </p:sp>
      <p:sp>
        <p:nvSpPr>
          <p:cNvPr id="34" name="rule">
            <a:extLst>
              <a:ext uri="{C183D7F6-B498-43B3-948B-1728B52AA6E4}">
                <adec:decorative xmlns:adec="http://schemas.microsoft.com/office/drawing/2017/decorative" val="1"/>
              </a:ext>
            </a:extLst>
          </p:cNvPr>
          <p:cNvSpPr/>
          <p:nvPr/>
        </p:nvSpPr>
        <p:spPr>
          <a:xfrm>
            <a:off x="3255264" y="3136392"/>
            <a:ext cx="2176272" cy="0"/>
          </a:xfrm>
          <a:prstGeom prst="line">
            <a:avLst/>
          </a:prstGeom>
          <a:noFill/>
          <a:ln w="12700">
            <a:solidFill>
              <a:srgbClr val="2C3644"/>
            </a:solidFill>
            <a:prstDash val="dash"/>
          </a:ln>
        </p:spPr>
        <p:txBody>
          <a:bodyPr/>
          <a:lstStyle/>
          <a:p>
            <a:endParaRPr lang="en-SE"/>
          </a:p>
        </p:txBody>
      </p:sp>
      <p:sp>
        <p:nvSpPr>
          <p:cNvPr id="35" name="depth">
            <a:extLst>
              <a:ext uri="{C183D7F6-B498-43B3-948B-1728B52AA6E4}">
                <adec:decorative xmlns:adec="http://schemas.microsoft.com/office/drawing/2017/decorative" val="1"/>
              </a:ext>
            </a:extLst>
          </p:cNvPr>
          <p:cNvSpPr/>
          <p:nvPr/>
        </p:nvSpPr>
        <p:spPr>
          <a:xfrm>
            <a:off x="4421124" y="3182112"/>
            <a:ext cx="1028700" cy="173736"/>
          </a:xfrm>
          <a:prstGeom prst="rect">
            <a:avLst/>
          </a:prstGeom>
          <a:solidFill>
            <a:srgbClr val="35E07E">
              <a:alpha val="26000"/>
            </a:srgbClr>
          </a:solidFill>
          <a:ln/>
        </p:spPr>
        <p:txBody>
          <a:bodyPr/>
          <a:lstStyle/>
          <a:p>
            <a:endParaRPr lang="en-SE"/>
          </a:p>
        </p:txBody>
      </p:sp>
      <p:sp>
        <p:nvSpPr>
          <p:cNvPr id="36" name="Text 34"/>
          <p:cNvSpPr/>
          <p:nvPr/>
        </p:nvSpPr>
        <p:spPr>
          <a:xfrm>
            <a:off x="3255264" y="3163824"/>
            <a:ext cx="1188720" cy="256032"/>
          </a:xfrm>
          <a:prstGeom prst="rect">
            <a:avLst/>
          </a:prstGeom>
          <a:noFill/>
          <a:ln/>
        </p:spPr>
        <p:txBody>
          <a:bodyPr wrap="square" lIns="0" tIns="0" rIns="0" bIns="0" rtlCol="0" anchor="ctr"/>
          <a:lstStyle/>
          <a:p>
            <a:pPr marL="0" indent="0" algn="l">
              <a:buNone/>
            </a:pPr>
            <a:r>
              <a:rPr lang="en-US" sz="1200" b="1" dirty="0">
                <a:solidFill>
                  <a:srgbClr val="35E07E"/>
                </a:solidFill>
                <a:latin typeface="Consolas" pitchFamily="34" charset="0"/>
                <a:ea typeface="Consolas" pitchFamily="34" charset="-122"/>
                <a:cs typeface="Consolas" pitchFamily="34" charset="-120"/>
              </a:rPr>
              <a:t>97</a:t>
            </a:r>
            <a:endParaRPr lang="en-US" sz="1200" dirty="0"/>
          </a:p>
        </p:txBody>
      </p:sp>
      <p:sp>
        <p:nvSpPr>
          <p:cNvPr id="37" name="Text 35"/>
          <p:cNvSpPr/>
          <p:nvPr/>
        </p:nvSpPr>
        <p:spPr>
          <a:xfrm>
            <a:off x="4754880" y="3163824"/>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15</a:t>
            </a:r>
            <a:endParaRPr lang="en-US" sz="1100" dirty="0"/>
          </a:p>
        </p:txBody>
      </p:sp>
      <p:sp>
        <p:nvSpPr>
          <p:cNvPr id="38" name="depth">
            <a:extLst>
              <a:ext uri="{C183D7F6-B498-43B3-948B-1728B52AA6E4}">
                <adec:decorative xmlns:adec="http://schemas.microsoft.com/office/drawing/2017/decorative" val="1"/>
              </a:ext>
            </a:extLst>
          </p:cNvPr>
          <p:cNvSpPr/>
          <p:nvPr/>
        </p:nvSpPr>
        <p:spPr>
          <a:xfrm>
            <a:off x="4832604" y="3438144"/>
            <a:ext cx="617220" cy="173736"/>
          </a:xfrm>
          <a:prstGeom prst="rect">
            <a:avLst/>
          </a:prstGeom>
          <a:solidFill>
            <a:srgbClr val="35E07E">
              <a:alpha val="26000"/>
            </a:srgbClr>
          </a:solidFill>
          <a:ln/>
        </p:spPr>
        <p:txBody>
          <a:bodyPr/>
          <a:lstStyle/>
          <a:p>
            <a:endParaRPr lang="en-SE"/>
          </a:p>
        </p:txBody>
      </p:sp>
      <p:sp>
        <p:nvSpPr>
          <p:cNvPr id="39" name="Text 37"/>
          <p:cNvSpPr/>
          <p:nvPr/>
        </p:nvSpPr>
        <p:spPr>
          <a:xfrm>
            <a:off x="3255264" y="3419856"/>
            <a:ext cx="1188720" cy="256032"/>
          </a:xfrm>
          <a:prstGeom prst="rect">
            <a:avLst/>
          </a:prstGeom>
          <a:noFill/>
          <a:ln/>
        </p:spPr>
        <p:txBody>
          <a:bodyPr wrap="square" lIns="0" tIns="0" rIns="0" bIns="0" rtlCol="0" anchor="ctr"/>
          <a:lstStyle/>
          <a:p>
            <a:pPr marL="0" indent="0" algn="l">
              <a:buNone/>
            </a:pPr>
            <a:r>
              <a:rPr lang="en-US" sz="1200" b="1" dirty="0">
                <a:solidFill>
                  <a:srgbClr val="35E07E"/>
                </a:solidFill>
                <a:latin typeface="Consolas" pitchFamily="34" charset="0"/>
                <a:ea typeface="Consolas" pitchFamily="34" charset="-122"/>
                <a:cs typeface="Consolas" pitchFamily="34" charset="-120"/>
              </a:rPr>
              <a:t>96.5</a:t>
            </a:r>
            <a:endParaRPr lang="en-US" sz="1200" dirty="0"/>
          </a:p>
        </p:txBody>
      </p:sp>
      <p:sp>
        <p:nvSpPr>
          <p:cNvPr id="40" name="Text 38"/>
          <p:cNvSpPr/>
          <p:nvPr/>
        </p:nvSpPr>
        <p:spPr>
          <a:xfrm>
            <a:off x="4754880" y="3419856"/>
            <a:ext cx="676656" cy="256032"/>
          </a:xfrm>
          <a:prstGeom prst="rect">
            <a:avLst/>
          </a:prstGeom>
          <a:noFill/>
          <a:ln/>
        </p:spPr>
        <p:txBody>
          <a:bodyPr wrap="square" lIns="0" tIns="0" rIns="0" bIns="0" rtlCol="0" anchor="ctr"/>
          <a:lstStyle/>
          <a:p>
            <a:pPr marL="0" indent="0" algn="r">
              <a:buNone/>
            </a:pPr>
            <a:r>
              <a:rPr lang="en-US" sz="1100" dirty="0">
                <a:solidFill>
                  <a:srgbClr val="FFFFFF"/>
                </a:solidFill>
                <a:latin typeface="Consolas" pitchFamily="34" charset="0"/>
                <a:ea typeface="Consolas" pitchFamily="34" charset="-122"/>
                <a:cs typeface="Consolas" pitchFamily="34" charset="-120"/>
              </a:rPr>
              <a:t>9</a:t>
            </a:r>
            <a:endParaRPr lang="en-US" sz="1100" dirty="0"/>
          </a:p>
        </p:txBody>
      </p:sp>
      <p:sp>
        <p:nvSpPr>
          <p:cNvPr id="41" name="panel">
            <a:extLst>
              <a:ext uri="{C183D7F6-B498-43B3-948B-1728B52AA6E4}">
                <adec:decorative xmlns:adec="http://schemas.microsoft.com/office/drawing/2017/decorative" val="1"/>
              </a:ext>
            </a:extLst>
          </p:cNvPr>
          <p:cNvSpPr/>
          <p:nvPr/>
        </p:nvSpPr>
        <p:spPr>
          <a:xfrm>
            <a:off x="5806440" y="2121408"/>
            <a:ext cx="2788920" cy="1645920"/>
          </a:xfrm>
          <a:prstGeom prst="roundRect">
            <a:avLst>
              <a:gd name="adj" fmla="val 3333"/>
            </a:avLst>
          </a:prstGeom>
          <a:solidFill>
            <a:srgbClr val="1A1213"/>
          </a:solidFill>
          <a:ln w="12700">
            <a:solidFill>
              <a:srgbClr val="FF5C6C"/>
            </a:solidFill>
            <a:prstDash val="solid"/>
          </a:ln>
        </p:spPr>
        <p:txBody>
          <a:bodyPr/>
          <a:lstStyle/>
          <a:p>
            <a:endParaRPr lang="en-SE"/>
          </a:p>
        </p:txBody>
      </p:sp>
      <p:sp>
        <p:nvSpPr>
          <p:cNvPr id="42" name="Text 40"/>
          <p:cNvSpPr/>
          <p:nvPr/>
        </p:nvSpPr>
        <p:spPr>
          <a:xfrm>
            <a:off x="5934456" y="2176272"/>
            <a:ext cx="2532888" cy="274320"/>
          </a:xfrm>
          <a:prstGeom prst="rect">
            <a:avLst/>
          </a:prstGeom>
          <a:noFill/>
          <a:ln/>
        </p:spPr>
        <p:txBody>
          <a:bodyPr wrap="square" lIns="0" tIns="0" rIns="0" bIns="0" rtlCol="0" anchor="ctr"/>
          <a:lstStyle/>
          <a:p>
            <a:pPr marL="0" indent="0" algn="l">
              <a:buNone/>
            </a:pPr>
            <a:r>
              <a:rPr lang="en-US" sz="1100" b="1" dirty="0">
                <a:solidFill>
                  <a:srgbClr val="FF5C6C"/>
                </a:solidFill>
                <a:latin typeface="Segoe UI" pitchFamily="34" charset="0"/>
                <a:ea typeface="Segoe UI" pitchFamily="34" charset="-122"/>
                <a:cs typeface="Segoe UI" pitchFamily="34" charset="-120"/>
              </a:rPr>
              <a:t>MARCH–JUNE SPREAD</a:t>
            </a:r>
            <a:endParaRPr lang="en-US" sz="1100" dirty="0"/>
          </a:p>
        </p:txBody>
      </p:sp>
      <p:sp>
        <p:nvSpPr>
          <p:cNvPr id="43" name="rule">
            <a:extLst>
              <a:ext uri="{C183D7F6-B498-43B3-948B-1728B52AA6E4}">
                <adec:decorative xmlns:adec="http://schemas.microsoft.com/office/drawing/2017/decorative" val="1"/>
              </a:ext>
            </a:extLst>
          </p:cNvPr>
          <p:cNvSpPr/>
          <p:nvPr/>
        </p:nvSpPr>
        <p:spPr>
          <a:xfrm>
            <a:off x="5952744" y="2505456"/>
            <a:ext cx="2496312" cy="0"/>
          </a:xfrm>
          <a:prstGeom prst="line">
            <a:avLst/>
          </a:prstGeom>
          <a:noFill/>
          <a:ln w="12700">
            <a:solidFill>
              <a:srgbClr val="2C3644"/>
            </a:solidFill>
            <a:prstDash val="solid"/>
          </a:ln>
        </p:spPr>
        <p:txBody>
          <a:bodyPr/>
          <a:lstStyle/>
          <a:p>
            <a:endParaRPr lang="en-SE"/>
          </a:p>
        </p:txBody>
      </p:sp>
      <p:sp>
        <p:nvSpPr>
          <p:cNvPr id="44" name="Text 42"/>
          <p:cNvSpPr/>
          <p:nvPr/>
        </p:nvSpPr>
        <p:spPr>
          <a:xfrm>
            <a:off x="5806440" y="2651760"/>
            <a:ext cx="2788920" cy="292608"/>
          </a:xfrm>
          <a:prstGeom prst="rect">
            <a:avLst/>
          </a:prstGeom>
          <a:noFill/>
          <a:ln/>
        </p:spPr>
        <p:txBody>
          <a:bodyPr wrap="square" lIns="0" tIns="0" rIns="0" bIns="0" rtlCol="0" anchor="t"/>
          <a:lstStyle/>
          <a:p>
            <a:pPr marL="0" indent="0" algn="ctr">
              <a:buNone/>
            </a:pPr>
            <a:r>
              <a:rPr lang="en-US" sz="1250" i="1" dirty="0">
                <a:solidFill>
                  <a:srgbClr val="8B96A8"/>
                </a:solidFill>
                <a:latin typeface="Consolas" pitchFamily="34" charset="0"/>
                <a:ea typeface="Consolas" pitchFamily="34" charset="-122"/>
                <a:cs typeface="Consolas" pitchFamily="34" charset="-120"/>
              </a:rPr>
              <a:t>— no asks —</a:t>
            </a:r>
            <a:endParaRPr lang="en-US" sz="1250" dirty="0"/>
          </a:p>
        </p:txBody>
      </p:sp>
      <p:sp>
        <p:nvSpPr>
          <p:cNvPr id="45" name="Text 43"/>
          <p:cNvSpPr/>
          <p:nvPr/>
        </p:nvSpPr>
        <p:spPr>
          <a:xfrm>
            <a:off x="5806440" y="2962656"/>
            <a:ext cx="2788920" cy="292608"/>
          </a:xfrm>
          <a:prstGeom prst="rect">
            <a:avLst/>
          </a:prstGeom>
          <a:noFill/>
          <a:ln/>
        </p:spPr>
        <p:txBody>
          <a:bodyPr wrap="square" lIns="0" tIns="0" rIns="0" bIns="0" rtlCol="0" anchor="t"/>
          <a:lstStyle/>
          <a:p>
            <a:pPr marL="0" indent="0" algn="ctr">
              <a:buNone/>
            </a:pPr>
            <a:r>
              <a:rPr lang="en-US" sz="1250" i="1" dirty="0">
                <a:solidFill>
                  <a:srgbClr val="8B96A8"/>
                </a:solidFill>
                <a:latin typeface="Consolas" pitchFamily="34" charset="0"/>
                <a:ea typeface="Consolas" pitchFamily="34" charset="-122"/>
                <a:cs typeface="Consolas" pitchFamily="34" charset="-120"/>
              </a:rPr>
              <a:t>— no bids —</a:t>
            </a:r>
            <a:endParaRPr lang="en-US" sz="1250" dirty="0"/>
          </a:p>
        </p:txBody>
      </p:sp>
      <p:sp>
        <p:nvSpPr>
          <p:cNvPr id="47" name="Text 45"/>
          <p:cNvSpPr/>
          <p:nvPr/>
        </p:nvSpPr>
        <p:spPr>
          <a:xfrm>
            <a:off x="5806440" y="3328416"/>
            <a:ext cx="2788920" cy="365760"/>
          </a:xfrm>
          <a:prstGeom prst="rect">
            <a:avLst/>
          </a:prstGeom>
          <a:noFill/>
          <a:ln/>
        </p:spPr>
        <p:txBody>
          <a:bodyPr wrap="square" lIns="0" tIns="0" rIns="0" bIns="0" rtlCol="0" anchor="t"/>
          <a:lstStyle/>
          <a:p>
            <a:pPr marL="0" indent="0" algn="ctr">
              <a:buNone/>
            </a:pPr>
            <a:r>
              <a:rPr lang="en-US" sz="1900" b="1" dirty="0">
                <a:solidFill>
                  <a:srgbClr val="FF5C6C"/>
                </a:solidFill>
                <a:latin typeface="Consolas" pitchFamily="34" charset="0"/>
                <a:ea typeface="Consolas" pitchFamily="34" charset="-122"/>
                <a:cs typeface="Consolas" pitchFamily="34" charset="-120"/>
              </a:rPr>
              <a:t>EMPTY</a:t>
            </a:r>
            <a:endParaRPr lang="en-US" sz="1900" dirty="0"/>
          </a:p>
        </p:txBody>
      </p:sp>
      <p:sp>
        <p:nvSpPr>
          <p:cNvPr id="49" name="panel">
            <a:extLst>
              <a:ext uri="{C183D7F6-B498-43B3-948B-1728B52AA6E4}">
                <adec:decorative xmlns:adec="http://schemas.microsoft.com/office/drawing/2017/decorative" val="1"/>
              </a:ext>
            </a:extLst>
          </p:cNvPr>
          <p:cNvSpPr/>
          <p:nvPr/>
        </p:nvSpPr>
        <p:spPr>
          <a:xfrm>
            <a:off x="502920" y="4023360"/>
            <a:ext cx="8092440" cy="658368"/>
          </a:xfrm>
          <a:prstGeom prst="roundRect">
            <a:avLst>
              <a:gd name="adj" fmla="val 8333"/>
            </a:avLst>
          </a:prstGeom>
          <a:solidFill>
            <a:srgbClr val="1B212C"/>
          </a:solidFill>
          <a:ln w="12700">
            <a:solidFill>
              <a:srgbClr val="2C3644"/>
            </a:solidFill>
            <a:prstDash val="solid"/>
          </a:ln>
        </p:spPr>
        <p:txBody>
          <a:bodyPr/>
          <a:lstStyle/>
          <a:p>
            <a:endParaRPr lang="en-SE"/>
          </a:p>
        </p:txBody>
      </p:sp>
      <p:sp>
        <p:nvSpPr>
          <p:cNvPr id="50" name="dot">
            <a:extLst>
              <a:ext uri="{C183D7F6-B498-43B3-948B-1728B52AA6E4}">
                <adec:decorative xmlns:adec="http://schemas.microsoft.com/office/drawing/2017/decorative" val="1"/>
              </a:ext>
            </a:extLst>
          </p:cNvPr>
          <p:cNvSpPr/>
          <p:nvPr/>
        </p:nvSpPr>
        <p:spPr>
          <a:xfrm>
            <a:off x="713232" y="4279392"/>
            <a:ext cx="146304" cy="146304"/>
          </a:xfrm>
          <a:prstGeom prst="ellipse">
            <a:avLst/>
          </a:prstGeom>
          <a:solidFill>
            <a:srgbClr val="FBB24B"/>
          </a:solidFill>
          <a:ln/>
        </p:spPr>
        <p:txBody>
          <a:bodyPr/>
          <a:lstStyle/>
          <a:p>
            <a:endParaRPr lang="en-SE"/>
          </a:p>
        </p:txBody>
      </p:sp>
      <p:sp>
        <p:nvSpPr>
          <p:cNvPr id="51" name="Text 49"/>
          <p:cNvSpPr/>
          <p:nvPr/>
        </p:nvSpPr>
        <p:spPr>
          <a:xfrm>
            <a:off x="960120" y="4023360"/>
            <a:ext cx="7498080" cy="658368"/>
          </a:xfrm>
          <a:prstGeom prst="rect">
            <a:avLst/>
          </a:prstGeom>
          <a:noFill/>
          <a:ln/>
        </p:spPr>
        <p:txBody>
          <a:bodyPr wrap="square" lIns="0" tIns="0" rIns="0" bIns="0" rtlCol="0" anchor="ctr"/>
          <a:lstStyle/>
          <a:p>
            <a:pPr marL="0" indent="0" algn="l">
              <a:lnSpc>
                <a:spcPts val="1600"/>
              </a:lnSpc>
              <a:buNone/>
            </a:pPr>
            <a:r>
              <a:rPr lang="en-US" sz="1250" dirty="0">
                <a:solidFill>
                  <a:srgbClr val="D8DEE9"/>
                </a:solidFill>
                <a:latin typeface="Segoe UI" pitchFamily="34" charset="0"/>
                <a:ea typeface="Segoe UI" pitchFamily="34" charset="-122"/>
                <a:cs typeface="Segoe UI" pitchFamily="34" charset="-120"/>
              </a:rPr>
              <a:t>Same barrels, same traders — but the liquidity is locked inside the two leg books. To anyone looking only at the spread, the market looks dead.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Your only option: leg in by hand — and hope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WORKAROUND</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10</a:t>
            </a:r>
            <a:endParaRPr lang="en-US" sz="850" dirty="0"/>
          </a:p>
        </p:txBody>
      </p:sp>
      <p:sp>
        <p:nvSpPr>
          <p:cNvPr id="6" name="Text 4"/>
          <p:cNvSpPr/>
          <p:nvPr/>
        </p:nvSpPr>
        <p:spPr>
          <a:xfrm>
            <a:off x="502920" y="1371600"/>
            <a:ext cx="8092440" cy="548640"/>
          </a:xfrm>
          <a:prstGeom prst="rect">
            <a:avLst/>
          </a:prstGeom>
          <a:noFill/>
          <a:ln/>
        </p:spPr>
        <p:txBody>
          <a:bodyPr wrap="square" lIns="0" tIns="0" rIns="0" bIns="0" rtlCol="0" anchor="t"/>
          <a:lstStyle/>
          <a:p>
            <a:pPr marL="0" indent="0" algn="l">
              <a:lnSpc>
                <a:spcPts val="1800"/>
              </a:lnSpc>
              <a:buNone/>
            </a:pPr>
            <a:r>
              <a:rPr lang="en-US" sz="1350" dirty="0">
                <a:solidFill>
                  <a:srgbClr val="D8DEE9"/>
                </a:solidFill>
                <a:latin typeface="Segoe UI" pitchFamily="34" charset="0"/>
                <a:ea typeface="Segoe UI" pitchFamily="34" charset="-122"/>
                <a:cs typeface="Segoe UI" pitchFamily="34" charset="-120"/>
              </a:rPr>
              <a:t>With no market in the spread, you must send two separate orders and fill them one at a time. In between the fills, prices can move against you.</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194560"/>
            <a:ext cx="2395728" cy="1572768"/>
          </a:xfrm>
          <a:prstGeom prst="roundRect">
            <a:avLst>
              <a:gd name="adj" fmla="val 3488"/>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377440"/>
            <a:ext cx="310896" cy="310896"/>
          </a:xfrm>
          <a:prstGeom prst="ellipse">
            <a:avLst/>
          </a:prstGeom>
          <a:solidFill>
            <a:srgbClr val="35E07E"/>
          </a:solidFill>
          <a:ln/>
        </p:spPr>
        <p:txBody>
          <a:bodyPr/>
          <a:lstStyle/>
          <a:p>
            <a:endParaRPr lang="en-SE"/>
          </a:p>
        </p:txBody>
      </p:sp>
      <p:sp>
        <p:nvSpPr>
          <p:cNvPr id="9" name="Text 7"/>
          <p:cNvSpPr/>
          <p:nvPr/>
        </p:nvSpPr>
        <p:spPr>
          <a:xfrm>
            <a:off x="685800" y="23774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106424" y="2395728"/>
            <a:ext cx="1664208" cy="292608"/>
          </a:xfrm>
          <a:prstGeom prst="rect">
            <a:avLst/>
          </a:prstGeom>
          <a:noFill/>
          <a:ln/>
        </p:spPr>
        <p:txBody>
          <a:bodyPr wrap="square" lIns="0" tIns="0" rIns="0" bIns="0" rtlCol="0" anchor="ctr"/>
          <a:lstStyle/>
          <a:p>
            <a:pPr marL="0" indent="0" algn="l">
              <a:buNone/>
            </a:pPr>
            <a:r>
              <a:rPr lang="en-US" sz="1300" b="1" dirty="0">
                <a:solidFill>
                  <a:srgbClr val="FFFFFF"/>
                </a:solidFill>
                <a:latin typeface="Segoe UI" pitchFamily="34" charset="0"/>
                <a:ea typeface="Segoe UI" pitchFamily="34" charset="-122"/>
                <a:cs typeface="Segoe UI" pitchFamily="34" charset="-120"/>
              </a:rPr>
              <a:t>Buy the March leg</a:t>
            </a:r>
            <a:endParaRPr lang="en-US" sz="1300" dirty="0"/>
          </a:p>
        </p:txBody>
      </p:sp>
      <p:sp>
        <p:nvSpPr>
          <p:cNvPr id="11" name="Text 9"/>
          <p:cNvSpPr/>
          <p:nvPr/>
        </p:nvSpPr>
        <p:spPr>
          <a:xfrm>
            <a:off x="685800" y="2852928"/>
            <a:ext cx="2029968" cy="365760"/>
          </a:xfrm>
          <a:prstGeom prst="rect">
            <a:avLst/>
          </a:prstGeom>
          <a:noFill/>
          <a:ln/>
        </p:spPr>
        <p:txBody>
          <a:bodyPr wrap="square" lIns="0" tIns="0" rIns="0" bIns="0" rtlCol="0" anchor="ctr"/>
          <a:lstStyle/>
          <a:p>
            <a:pPr marL="0" indent="0" algn="l">
              <a:buNone/>
            </a:pPr>
            <a:r>
              <a:rPr lang="en-US" sz="1350" b="1" dirty="0">
                <a:solidFill>
                  <a:srgbClr val="35E07E"/>
                </a:solidFill>
                <a:latin typeface="Consolas" pitchFamily="34" charset="0"/>
                <a:ea typeface="Consolas" pitchFamily="34" charset="-122"/>
                <a:cs typeface="Consolas" pitchFamily="34" charset="-120"/>
              </a:rPr>
              <a:t>FILLED @ 100</a:t>
            </a:r>
            <a:endParaRPr lang="en-US" sz="1350" dirty="0"/>
          </a:p>
        </p:txBody>
      </p:sp>
      <p:sp>
        <p:nvSpPr>
          <p:cNvPr id="12" name="Text 10"/>
          <p:cNvSpPr/>
          <p:nvPr/>
        </p:nvSpPr>
        <p:spPr>
          <a:xfrm>
            <a:off x="685800" y="3218688"/>
            <a:ext cx="2029968" cy="502920"/>
          </a:xfrm>
          <a:prstGeom prst="rect">
            <a:avLst/>
          </a:prstGeom>
          <a:noFill/>
          <a:ln/>
        </p:spPr>
        <p:txBody>
          <a:bodyPr wrap="square" lIns="0" tIns="0" rIns="0" bIns="0" rtlCol="0" anchor="t"/>
          <a:lstStyle/>
          <a:p>
            <a:pPr marL="0" indent="0" algn="l">
              <a:lnSpc>
                <a:spcPts val="1400"/>
              </a:lnSpc>
              <a:buNone/>
            </a:pPr>
            <a:r>
              <a:rPr lang="en-US" sz="1050" dirty="0">
                <a:solidFill>
                  <a:srgbClr val="8B96A8"/>
                </a:solidFill>
                <a:latin typeface="Segoe UI" pitchFamily="34" charset="0"/>
                <a:ea typeface="Segoe UI" pitchFamily="34" charset="-122"/>
                <a:cs typeface="Segoe UI" pitchFamily="34" charset="-120"/>
              </a:rPr>
              <a:t>You are now long March, as planned.</a:t>
            </a:r>
            <a:endParaRPr lang="en-US" sz="1050" dirty="0"/>
          </a:p>
        </p:txBody>
      </p:sp>
      <p:sp>
        <p:nvSpPr>
          <p:cNvPr id="13" name="arrow">
            <a:extLst>
              <a:ext uri="{C183D7F6-B498-43B3-948B-1728B52AA6E4}">
                <adec:decorative xmlns:adec="http://schemas.microsoft.com/office/drawing/2017/decorative" val="1"/>
              </a:ext>
            </a:extLst>
          </p:cNvPr>
          <p:cNvSpPr/>
          <p:nvPr/>
        </p:nvSpPr>
        <p:spPr>
          <a:xfrm>
            <a:off x="2916936" y="2980944"/>
            <a:ext cx="201168" cy="0"/>
          </a:xfrm>
          <a:prstGeom prst="line">
            <a:avLst/>
          </a:prstGeom>
          <a:noFill/>
          <a:ln w="25400">
            <a:solidFill>
              <a:srgbClr val="8B96A8"/>
            </a:solidFill>
            <a:prstDash val="solid"/>
            <a:tailEnd type="triangle"/>
          </a:ln>
        </p:spPr>
        <p:txBody>
          <a:bodyPr/>
          <a:lstStyle/>
          <a:p>
            <a:endParaRPr lang="en-SE"/>
          </a:p>
        </p:txBody>
      </p:sp>
      <p:sp>
        <p:nvSpPr>
          <p:cNvPr id="14" name="panel">
            <a:extLst>
              <a:ext uri="{C183D7F6-B498-43B3-948B-1728B52AA6E4}">
                <adec:decorative xmlns:adec="http://schemas.microsoft.com/office/drawing/2017/decorative" val="1"/>
              </a:ext>
            </a:extLst>
          </p:cNvPr>
          <p:cNvSpPr/>
          <p:nvPr/>
        </p:nvSpPr>
        <p:spPr>
          <a:xfrm>
            <a:off x="3127248" y="2194560"/>
            <a:ext cx="2395728" cy="1572768"/>
          </a:xfrm>
          <a:prstGeom prst="roundRect">
            <a:avLst>
              <a:gd name="adj" fmla="val 3488"/>
            </a:avLst>
          </a:prstGeom>
          <a:solidFill>
            <a:srgbClr val="1B212C"/>
          </a:solidFill>
          <a:ln w="12700">
            <a:solidFill>
              <a:srgbClr val="FBB24B"/>
            </a:solidFill>
            <a:prstDash val="solid"/>
          </a:ln>
        </p:spPr>
        <p:txBody>
          <a:bodyPr/>
          <a:lstStyle/>
          <a:p>
            <a:endParaRPr lang="en-SE"/>
          </a:p>
        </p:txBody>
      </p:sp>
      <p:sp>
        <p:nvSpPr>
          <p:cNvPr id="15" name="step">
            <a:extLst>
              <a:ext uri="{C183D7F6-B498-43B3-948B-1728B52AA6E4}">
                <adec:decorative xmlns:adec="http://schemas.microsoft.com/office/drawing/2017/decorative" val="1"/>
              </a:ext>
            </a:extLst>
          </p:cNvPr>
          <p:cNvSpPr/>
          <p:nvPr/>
        </p:nvSpPr>
        <p:spPr>
          <a:xfrm>
            <a:off x="3310128" y="2377440"/>
            <a:ext cx="310896" cy="310896"/>
          </a:xfrm>
          <a:prstGeom prst="ellipse">
            <a:avLst/>
          </a:prstGeom>
          <a:solidFill>
            <a:srgbClr val="FBB24B"/>
          </a:solidFill>
          <a:ln/>
        </p:spPr>
        <p:txBody>
          <a:bodyPr/>
          <a:lstStyle/>
          <a:p>
            <a:endParaRPr lang="en-SE"/>
          </a:p>
        </p:txBody>
      </p:sp>
      <p:sp>
        <p:nvSpPr>
          <p:cNvPr id="16" name="Text 14"/>
          <p:cNvSpPr/>
          <p:nvPr/>
        </p:nvSpPr>
        <p:spPr>
          <a:xfrm>
            <a:off x="3310128" y="23774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2</a:t>
            </a:r>
            <a:endParaRPr lang="en-US" sz="1300" dirty="0"/>
          </a:p>
        </p:txBody>
      </p:sp>
      <p:sp>
        <p:nvSpPr>
          <p:cNvPr id="17" name="Text 15"/>
          <p:cNvSpPr/>
          <p:nvPr/>
        </p:nvSpPr>
        <p:spPr>
          <a:xfrm>
            <a:off x="3730752" y="2395728"/>
            <a:ext cx="1664208" cy="292608"/>
          </a:xfrm>
          <a:prstGeom prst="rect">
            <a:avLst/>
          </a:prstGeom>
          <a:noFill/>
          <a:ln/>
        </p:spPr>
        <p:txBody>
          <a:bodyPr wrap="square" lIns="0" tIns="0" rIns="0" bIns="0" rtlCol="0" anchor="ctr"/>
          <a:lstStyle/>
          <a:p>
            <a:pPr marL="0" indent="0" algn="l">
              <a:buNone/>
            </a:pPr>
            <a:r>
              <a:rPr lang="en-US" sz="1300" b="1" dirty="0">
                <a:solidFill>
                  <a:srgbClr val="FFFFFF"/>
                </a:solidFill>
                <a:latin typeface="Segoe UI" pitchFamily="34" charset="0"/>
                <a:ea typeface="Segoe UI" pitchFamily="34" charset="-122"/>
                <a:cs typeface="Segoe UI" pitchFamily="34" charset="-120"/>
              </a:rPr>
              <a:t>Turn to sell June</a:t>
            </a:r>
            <a:endParaRPr lang="en-US" sz="1300" dirty="0"/>
          </a:p>
        </p:txBody>
      </p:sp>
      <p:sp>
        <p:nvSpPr>
          <p:cNvPr id="18" name="Text 16"/>
          <p:cNvSpPr/>
          <p:nvPr/>
        </p:nvSpPr>
        <p:spPr>
          <a:xfrm>
            <a:off x="3310128" y="2852928"/>
            <a:ext cx="2029968" cy="365760"/>
          </a:xfrm>
          <a:prstGeom prst="rect">
            <a:avLst/>
          </a:prstGeom>
          <a:noFill/>
          <a:ln/>
        </p:spPr>
        <p:txBody>
          <a:bodyPr wrap="square" lIns="0" tIns="0" rIns="0" bIns="0" rtlCol="0" anchor="ctr"/>
          <a:lstStyle/>
          <a:p>
            <a:pPr marL="0" indent="0" algn="l">
              <a:buNone/>
            </a:pPr>
            <a:r>
              <a:rPr lang="en-US" sz="1350" b="1" dirty="0">
                <a:solidFill>
                  <a:srgbClr val="FBB24B"/>
                </a:solidFill>
                <a:latin typeface="Consolas" pitchFamily="34" charset="0"/>
                <a:ea typeface="Consolas" pitchFamily="34" charset="-122"/>
                <a:cs typeface="Consolas" pitchFamily="34" charset="-120"/>
              </a:rPr>
              <a:t>BID 97 → 95</a:t>
            </a:r>
            <a:endParaRPr lang="en-US" sz="1350" dirty="0"/>
          </a:p>
        </p:txBody>
      </p:sp>
      <p:sp>
        <p:nvSpPr>
          <p:cNvPr id="19" name="Text 17"/>
          <p:cNvSpPr/>
          <p:nvPr/>
        </p:nvSpPr>
        <p:spPr>
          <a:xfrm>
            <a:off x="3310128" y="3218688"/>
            <a:ext cx="2029968" cy="502920"/>
          </a:xfrm>
          <a:prstGeom prst="rect">
            <a:avLst/>
          </a:prstGeom>
          <a:noFill/>
          <a:ln/>
        </p:spPr>
        <p:txBody>
          <a:bodyPr wrap="square" lIns="0" tIns="0" rIns="0" bIns="0" rtlCol="0" anchor="t"/>
          <a:lstStyle/>
          <a:p>
            <a:pPr marL="0" indent="0" algn="l">
              <a:lnSpc>
                <a:spcPts val="1400"/>
              </a:lnSpc>
              <a:buNone/>
            </a:pPr>
            <a:r>
              <a:rPr lang="en-US" sz="1050" dirty="0">
                <a:solidFill>
                  <a:srgbClr val="8B96A8"/>
                </a:solidFill>
                <a:latin typeface="Segoe UI" pitchFamily="34" charset="0"/>
                <a:ea typeface="Segoe UI" pitchFamily="34" charset="-122"/>
                <a:cs typeface="Segoe UI" pitchFamily="34" charset="-120"/>
              </a:rPr>
              <a:t>The market didn't wait — June's bid slipped while you acted.</a:t>
            </a:r>
            <a:endParaRPr lang="en-US" sz="1050" dirty="0"/>
          </a:p>
        </p:txBody>
      </p:sp>
      <p:sp>
        <p:nvSpPr>
          <p:cNvPr id="20" name="arrow">
            <a:extLst>
              <a:ext uri="{C183D7F6-B498-43B3-948B-1728B52AA6E4}">
                <adec:decorative xmlns:adec="http://schemas.microsoft.com/office/drawing/2017/decorative" val="1"/>
              </a:ext>
            </a:extLst>
          </p:cNvPr>
          <p:cNvSpPr/>
          <p:nvPr/>
        </p:nvSpPr>
        <p:spPr>
          <a:xfrm>
            <a:off x="5541264" y="2980944"/>
            <a:ext cx="201168" cy="0"/>
          </a:xfrm>
          <a:prstGeom prst="line">
            <a:avLst/>
          </a:prstGeom>
          <a:noFill/>
          <a:ln w="25400">
            <a:solidFill>
              <a:srgbClr val="8B96A8"/>
            </a:solidFill>
            <a:prstDash val="solid"/>
            <a:tailEnd type="triangle"/>
          </a:ln>
        </p:spPr>
        <p:txBody>
          <a:bodyPr/>
          <a:lstStyle/>
          <a:p>
            <a:endParaRPr lang="en-SE"/>
          </a:p>
        </p:txBody>
      </p:sp>
      <p:sp>
        <p:nvSpPr>
          <p:cNvPr id="21" name="panel">
            <a:extLst>
              <a:ext uri="{C183D7F6-B498-43B3-948B-1728B52AA6E4}">
                <adec:decorative xmlns:adec="http://schemas.microsoft.com/office/drawing/2017/decorative" val="1"/>
              </a:ext>
            </a:extLst>
          </p:cNvPr>
          <p:cNvSpPr/>
          <p:nvPr/>
        </p:nvSpPr>
        <p:spPr>
          <a:xfrm>
            <a:off x="5751576" y="2194560"/>
            <a:ext cx="2395728" cy="1572768"/>
          </a:xfrm>
          <a:prstGeom prst="roundRect">
            <a:avLst>
              <a:gd name="adj" fmla="val 3488"/>
            </a:avLst>
          </a:prstGeom>
          <a:solidFill>
            <a:srgbClr val="1B212C"/>
          </a:solidFill>
          <a:ln w="12700">
            <a:solidFill>
              <a:srgbClr val="FF5C6C"/>
            </a:solidFill>
            <a:prstDash val="solid"/>
          </a:ln>
        </p:spPr>
        <p:txBody>
          <a:bodyPr/>
          <a:lstStyle/>
          <a:p>
            <a:endParaRPr lang="en-SE"/>
          </a:p>
        </p:txBody>
      </p:sp>
      <p:sp>
        <p:nvSpPr>
          <p:cNvPr id="22" name="step">
            <a:extLst>
              <a:ext uri="{C183D7F6-B498-43B3-948B-1728B52AA6E4}">
                <adec:decorative xmlns:adec="http://schemas.microsoft.com/office/drawing/2017/decorative" val="1"/>
              </a:ext>
            </a:extLst>
          </p:cNvPr>
          <p:cNvSpPr/>
          <p:nvPr/>
        </p:nvSpPr>
        <p:spPr>
          <a:xfrm>
            <a:off x="5934456" y="2377440"/>
            <a:ext cx="310896" cy="310896"/>
          </a:xfrm>
          <a:prstGeom prst="ellipse">
            <a:avLst/>
          </a:prstGeom>
          <a:solidFill>
            <a:srgbClr val="FF5C6C"/>
          </a:solidFill>
          <a:ln/>
        </p:spPr>
        <p:txBody>
          <a:bodyPr/>
          <a:lstStyle/>
          <a:p>
            <a:endParaRPr lang="en-SE"/>
          </a:p>
        </p:txBody>
      </p:sp>
      <p:sp>
        <p:nvSpPr>
          <p:cNvPr id="23" name="Text 21"/>
          <p:cNvSpPr/>
          <p:nvPr/>
        </p:nvSpPr>
        <p:spPr>
          <a:xfrm>
            <a:off x="5934456" y="23774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a:t>
            </a:r>
            <a:endParaRPr lang="en-US" sz="1300" dirty="0"/>
          </a:p>
        </p:txBody>
      </p:sp>
      <p:sp>
        <p:nvSpPr>
          <p:cNvPr id="24" name="Text 22"/>
          <p:cNvSpPr/>
          <p:nvPr/>
        </p:nvSpPr>
        <p:spPr>
          <a:xfrm>
            <a:off x="6355080" y="2395728"/>
            <a:ext cx="1664208" cy="292608"/>
          </a:xfrm>
          <a:prstGeom prst="rect">
            <a:avLst/>
          </a:prstGeom>
          <a:noFill/>
          <a:ln/>
        </p:spPr>
        <p:txBody>
          <a:bodyPr wrap="square" lIns="0" tIns="0" rIns="0" bIns="0" rtlCol="0" anchor="ctr"/>
          <a:lstStyle/>
          <a:p>
            <a:pPr marL="0" indent="0" algn="l">
              <a:buNone/>
            </a:pPr>
            <a:r>
              <a:rPr lang="en-US" sz="1300" b="1" dirty="0">
                <a:solidFill>
                  <a:srgbClr val="FFFFFF"/>
                </a:solidFill>
                <a:latin typeface="Segoe UI" pitchFamily="34" charset="0"/>
                <a:ea typeface="Segoe UI" pitchFamily="34" charset="-122"/>
                <a:cs typeface="Segoe UI" pitchFamily="34" charset="-120"/>
              </a:rPr>
              <a:t>Half-done &amp; exposed</a:t>
            </a:r>
            <a:endParaRPr lang="en-US" sz="1300" dirty="0"/>
          </a:p>
        </p:txBody>
      </p:sp>
      <p:sp>
        <p:nvSpPr>
          <p:cNvPr id="25" name="Text 23"/>
          <p:cNvSpPr/>
          <p:nvPr/>
        </p:nvSpPr>
        <p:spPr>
          <a:xfrm>
            <a:off x="5934456" y="2852928"/>
            <a:ext cx="2029968" cy="365760"/>
          </a:xfrm>
          <a:prstGeom prst="rect">
            <a:avLst/>
          </a:prstGeom>
          <a:noFill/>
          <a:ln/>
        </p:spPr>
        <p:txBody>
          <a:bodyPr wrap="square" lIns="0" tIns="0" rIns="0" bIns="0" rtlCol="0" anchor="ctr"/>
          <a:lstStyle/>
          <a:p>
            <a:pPr marL="0" indent="0" algn="l">
              <a:buNone/>
            </a:pPr>
            <a:r>
              <a:rPr lang="en-US" sz="1350" b="1" dirty="0">
                <a:solidFill>
                  <a:srgbClr val="FF5C6C"/>
                </a:solidFill>
                <a:latin typeface="Consolas" pitchFamily="34" charset="0"/>
                <a:ea typeface="Consolas" pitchFamily="34" charset="-122"/>
                <a:cs typeface="Consolas" pitchFamily="34" charset="-120"/>
              </a:rPr>
              <a:t>SPREAD COST 5, NOT 3</a:t>
            </a:r>
            <a:endParaRPr lang="en-US" sz="1350" dirty="0"/>
          </a:p>
        </p:txBody>
      </p:sp>
      <p:sp>
        <p:nvSpPr>
          <p:cNvPr id="26" name="Text 24"/>
          <p:cNvSpPr/>
          <p:nvPr/>
        </p:nvSpPr>
        <p:spPr>
          <a:xfrm>
            <a:off x="5934456" y="3218688"/>
            <a:ext cx="2029968" cy="502920"/>
          </a:xfrm>
          <a:prstGeom prst="rect">
            <a:avLst/>
          </a:prstGeom>
          <a:noFill/>
          <a:ln/>
        </p:spPr>
        <p:txBody>
          <a:bodyPr wrap="square" lIns="0" tIns="0" rIns="0" bIns="0" rtlCol="0" anchor="t"/>
          <a:lstStyle/>
          <a:p>
            <a:pPr marL="0" indent="0" algn="l">
              <a:lnSpc>
                <a:spcPts val="1400"/>
              </a:lnSpc>
              <a:buNone/>
            </a:pPr>
            <a:r>
              <a:rPr lang="en-US" sz="1050" dirty="0">
                <a:solidFill>
                  <a:srgbClr val="8B96A8"/>
                </a:solidFill>
                <a:latin typeface="Segoe UI" pitchFamily="34" charset="0"/>
                <a:ea typeface="Segoe UI" pitchFamily="34" charset="-122"/>
                <a:cs typeface="Segoe UI" pitchFamily="34" charset="-120"/>
              </a:rPr>
              <a:t>Sell worse, or sit with a naked leg you never wanted.</a:t>
            </a:r>
            <a:endParaRPr lang="en-US" sz="1050" dirty="0"/>
          </a:p>
        </p:txBody>
      </p:sp>
      <p:sp>
        <p:nvSpPr>
          <p:cNvPr id="27" name="panel">
            <a:extLst>
              <a:ext uri="{C183D7F6-B498-43B3-948B-1728B52AA6E4}">
                <adec:decorative xmlns:adec="http://schemas.microsoft.com/office/drawing/2017/decorative" val="1"/>
              </a:ext>
            </a:extLst>
          </p:cNvPr>
          <p:cNvSpPr/>
          <p:nvPr/>
        </p:nvSpPr>
        <p:spPr>
          <a:xfrm>
            <a:off x="502920" y="4023360"/>
            <a:ext cx="8092440" cy="658368"/>
          </a:xfrm>
          <a:prstGeom prst="roundRect">
            <a:avLst>
              <a:gd name="adj" fmla="val 8333"/>
            </a:avLst>
          </a:prstGeom>
          <a:solidFill>
            <a:srgbClr val="1A1213"/>
          </a:solidFill>
          <a:ln w="12700">
            <a:solidFill>
              <a:srgbClr val="FF5C6C"/>
            </a:solidFill>
            <a:prstDash val="solid"/>
          </a:ln>
        </p:spPr>
        <p:txBody>
          <a:bodyPr/>
          <a:lstStyle/>
          <a:p>
            <a:endParaRPr lang="en-SE"/>
          </a:p>
        </p:txBody>
      </p:sp>
      <p:sp>
        <p:nvSpPr>
          <p:cNvPr id="28" name="Text 26"/>
          <p:cNvSpPr/>
          <p:nvPr/>
        </p:nvSpPr>
        <p:spPr>
          <a:xfrm>
            <a:off x="713232" y="4023360"/>
            <a:ext cx="2011680" cy="658368"/>
          </a:xfrm>
          <a:prstGeom prst="rect">
            <a:avLst/>
          </a:prstGeom>
          <a:noFill/>
          <a:ln/>
        </p:spPr>
        <p:txBody>
          <a:bodyPr wrap="square" lIns="0" tIns="0" rIns="0" bIns="0" rtlCol="0" anchor="ctr"/>
          <a:lstStyle/>
          <a:p>
            <a:pPr marL="0" indent="0" algn="l">
              <a:buNone/>
            </a:pPr>
            <a:r>
              <a:rPr lang="en-US" sz="1200" b="1" kern="0" spc="100" dirty="0">
                <a:solidFill>
                  <a:srgbClr val="FF5C6C"/>
                </a:solidFill>
                <a:latin typeface="Consolas" pitchFamily="34" charset="0"/>
                <a:ea typeface="Consolas" pitchFamily="34" charset="-122"/>
                <a:cs typeface="Consolas" pitchFamily="34" charset="-120"/>
              </a:rPr>
              <a:t>LEGGING RISK</a:t>
            </a:r>
            <a:endParaRPr lang="en-US" sz="1200" dirty="0"/>
          </a:p>
        </p:txBody>
      </p:sp>
      <p:sp>
        <p:nvSpPr>
          <p:cNvPr id="29" name="Text 27"/>
          <p:cNvSpPr/>
          <p:nvPr/>
        </p:nvSpPr>
        <p:spPr>
          <a:xfrm>
            <a:off x="2331720" y="4023360"/>
            <a:ext cx="6126480" cy="658368"/>
          </a:xfrm>
          <a:prstGeom prst="rect">
            <a:avLst/>
          </a:prstGeom>
          <a:noFill/>
          <a:ln/>
        </p:spPr>
        <p:txBody>
          <a:bodyPr wrap="square" lIns="0" tIns="0" rIns="0" bIns="0" rtlCol="0" anchor="ctr"/>
          <a:lstStyle/>
          <a:p>
            <a:pPr marL="0" indent="0" algn="l">
              <a:lnSpc>
                <a:spcPts val="1600"/>
              </a:lnSpc>
              <a:buNone/>
            </a:pPr>
            <a:r>
              <a:rPr lang="en-US" sz="1250" dirty="0">
                <a:solidFill>
                  <a:srgbClr val="D8DEE9"/>
                </a:solidFill>
                <a:latin typeface="Segoe UI" pitchFamily="34" charset="0"/>
                <a:ea typeface="Segoe UI" pitchFamily="34" charset="-122"/>
                <a:cs typeface="Segoe UI" pitchFamily="34" charset="-120"/>
              </a:rPr>
              <a:t>You can end up with one leg done and the other away from you — a worse spread, or an open position you never intended to hold.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Liquidity you can't see — until the engine connects it</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IDEA IN 30 SECONDS</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11</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508760"/>
            <a:ext cx="2148840" cy="1115568"/>
          </a:xfrm>
          <a:prstGeom prst="roundRect">
            <a:avLst>
              <a:gd name="adj" fmla="val 4918"/>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30936" y="1554480"/>
            <a:ext cx="189280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  (real)</a:t>
            </a:r>
            <a:endParaRPr lang="en-US" sz="1150" dirty="0"/>
          </a:p>
        </p:txBody>
      </p:sp>
      <p:sp>
        <p:nvSpPr>
          <p:cNvPr id="8" name="Text 6"/>
          <p:cNvSpPr/>
          <p:nvPr/>
        </p:nvSpPr>
        <p:spPr>
          <a:xfrm>
            <a:off x="630936" y="1819656"/>
            <a:ext cx="966978"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9" name="Text 7"/>
          <p:cNvSpPr/>
          <p:nvPr/>
        </p:nvSpPr>
        <p:spPr>
          <a:xfrm>
            <a:off x="1737360" y="181965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0" name="depth">
            <a:extLst>
              <a:ext uri="{C183D7F6-B498-43B3-948B-1728B52AA6E4}">
                <adec:decorative xmlns:adec="http://schemas.microsoft.com/office/drawing/2017/decorative" val="1"/>
              </a:ext>
            </a:extLst>
          </p:cNvPr>
          <p:cNvSpPr/>
          <p:nvPr/>
        </p:nvSpPr>
        <p:spPr>
          <a:xfrm>
            <a:off x="1773936" y="1997964"/>
            <a:ext cx="731520" cy="182880"/>
          </a:xfrm>
          <a:prstGeom prst="rect">
            <a:avLst/>
          </a:prstGeom>
          <a:solidFill>
            <a:srgbClr val="FF5C6C">
              <a:alpha val="26000"/>
            </a:srgbClr>
          </a:solidFill>
          <a:ln/>
        </p:spPr>
        <p:txBody>
          <a:bodyPr/>
          <a:lstStyle/>
          <a:p>
            <a:endParaRPr lang="en-SE"/>
          </a:p>
        </p:txBody>
      </p:sp>
      <p:sp>
        <p:nvSpPr>
          <p:cNvPr id="11" name="Text 9"/>
          <p:cNvSpPr/>
          <p:nvPr/>
        </p:nvSpPr>
        <p:spPr>
          <a:xfrm>
            <a:off x="649224" y="198424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12" name="Text 10"/>
          <p:cNvSpPr/>
          <p:nvPr/>
        </p:nvSpPr>
        <p:spPr>
          <a:xfrm>
            <a:off x="1737360" y="198424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13" name="rule">
            <a:extLst>
              <a:ext uri="{C183D7F6-B498-43B3-948B-1728B52AA6E4}">
                <adec:decorative xmlns:adec="http://schemas.microsoft.com/office/drawing/2017/decorative" val="1"/>
              </a:ext>
            </a:extLst>
          </p:cNvPr>
          <p:cNvSpPr/>
          <p:nvPr/>
        </p:nvSpPr>
        <p:spPr>
          <a:xfrm>
            <a:off x="649224" y="2258568"/>
            <a:ext cx="1856232" cy="0"/>
          </a:xfrm>
          <a:prstGeom prst="line">
            <a:avLst/>
          </a:prstGeom>
          <a:noFill/>
          <a:ln w="12700">
            <a:solidFill>
              <a:srgbClr val="2C3644"/>
            </a:solidFill>
            <a:prstDash val="dash"/>
          </a:ln>
        </p:spPr>
        <p:txBody>
          <a:bodyPr/>
          <a:lstStyle/>
          <a:p>
            <a:endParaRPr lang="en-SE"/>
          </a:p>
        </p:txBody>
      </p:sp>
      <p:sp>
        <p:nvSpPr>
          <p:cNvPr id="14" name="depth">
            <a:extLst>
              <a:ext uri="{C183D7F6-B498-43B3-948B-1728B52AA6E4}">
                <adec:decorative xmlns:adec="http://schemas.microsoft.com/office/drawing/2017/decorative" val="1"/>
              </a:ext>
            </a:extLst>
          </p:cNvPr>
          <p:cNvSpPr/>
          <p:nvPr/>
        </p:nvSpPr>
        <p:spPr>
          <a:xfrm>
            <a:off x="1895856" y="2290572"/>
            <a:ext cx="609600" cy="182880"/>
          </a:xfrm>
          <a:prstGeom prst="rect">
            <a:avLst/>
          </a:prstGeom>
          <a:solidFill>
            <a:srgbClr val="35E07E">
              <a:alpha val="26000"/>
            </a:srgbClr>
          </a:solidFill>
          <a:ln/>
        </p:spPr>
        <p:txBody>
          <a:bodyPr/>
          <a:lstStyle/>
          <a:p>
            <a:endParaRPr lang="en-SE"/>
          </a:p>
        </p:txBody>
      </p:sp>
      <p:sp>
        <p:nvSpPr>
          <p:cNvPr id="15" name="Text 13"/>
          <p:cNvSpPr/>
          <p:nvPr/>
        </p:nvSpPr>
        <p:spPr>
          <a:xfrm>
            <a:off x="649224" y="2276856"/>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6" name="Text 14"/>
          <p:cNvSpPr/>
          <p:nvPr/>
        </p:nvSpPr>
        <p:spPr>
          <a:xfrm>
            <a:off x="1737360" y="2276856"/>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17" name="panel">
            <a:extLst>
              <a:ext uri="{C183D7F6-B498-43B3-948B-1728B52AA6E4}">
                <adec:decorative xmlns:adec="http://schemas.microsoft.com/office/drawing/2017/decorative" val="1"/>
              </a:ext>
            </a:extLst>
          </p:cNvPr>
          <p:cNvSpPr/>
          <p:nvPr/>
        </p:nvSpPr>
        <p:spPr>
          <a:xfrm>
            <a:off x="2880360" y="1508760"/>
            <a:ext cx="2148840" cy="1115568"/>
          </a:xfrm>
          <a:prstGeom prst="roundRect">
            <a:avLst>
              <a:gd name="adj" fmla="val 4918"/>
            </a:avLst>
          </a:prstGeom>
          <a:solidFill>
            <a:srgbClr val="1B212C"/>
          </a:solidFill>
          <a:ln w="12700">
            <a:solidFill>
              <a:srgbClr val="2C3644"/>
            </a:solidFill>
            <a:prstDash val="solid"/>
          </a:ln>
        </p:spPr>
        <p:txBody>
          <a:bodyPr/>
          <a:lstStyle/>
          <a:p>
            <a:endParaRPr lang="en-SE"/>
          </a:p>
        </p:txBody>
      </p:sp>
      <p:sp>
        <p:nvSpPr>
          <p:cNvPr id="18" name="Text 16"/>
          <p:cNvSpPr/>
          <p:nvPr/>
        </p:nvSpPr>
        <p:spPr>
          <a:xfrm>
            <a:off x="3008376" y="1554480"/>
            <a:ext cx="189280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JUNE  (real)</a:t>
            </a:r>
            <a:endParaRPr lang="en-US" sz="1150" dirty="0"/>
          </a:p>
        </p:txBody>
      </p:sp>
      <p:sp>
        <p:nvSpPr>
          <p:cNvPr id="19" name="Text 17"/>
          <p:cNvSpPr/>
          <p:nvPr/>
        </p:nvSpPr>
        <p:spPr>
          <a:xfrm>
            <a:off x="3008376" y="1819656"/>
            <a:ext cx="966978"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20" name="Text 18"/>
          <p:cNvSpPr/>
          <p:nvPr/>
        </p:nvSpPr>
        <p:spPr>
          <a:xfrm>
            <a:off x="4114800" y="181965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21" name="depth">
            <a:extLst>
              <a:ext uri="{C183D7F6-B498-43B3-948B-1728B52AA6E4}">
                <adec:decorative xmlns:adec="http://schemas.microsoft.com/office/drawing/2017/decorative" val="1"/>
              </a:ext>
            </a:extLst>
          </p:cNvPr>
          <p:cNvSpPr/>
          <p:nvPr/>
        </p:nvSpPr>
        <p:spPr>
          <a:xfrm>
            <a:off x="4151376" y="1997964"/>
            <a:ext cx="731520" cy="182880"/>
          </a:xfrm>
          <a:prstGeom prst="rect">
            <a:avLst/>
          </a:prstGeom>
          <a:solidFill>
            <a:srgbClr val="FF5C6C">
              <a:alpha val="26000"/>
            </a:srgbClr>
          </a:solidFill>
          <a:ln/>
        </p:spPr>
        <p:txBody>
          <a:bodyPr/>
          <a:lstStyle/>
          <a:p>
            <a:endParaRPr lang="en-SE"/>
          </a:p>
        </p:txBody>
      </p:sp>
      <p:sp>
        <p:nvSpPr>
          <p:cNvPr id="22" name="Text 20"/>
          <p:cNvSpPr/>
          <p:nvPr/>
        </p:nvSpPr>
        <p:spPr>
          <a:xfrm>
            <a:off x="3026664" y="198424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98</a:t>
            </a:r>
            <a:endParaRPr lang="en-US" sz="1250" dirty="0"/>
          </a:p>
        </p:txBody>
      </p:sp>
      <p:sp>
        <p:nvSpPr>
          <p:cNvPr id="23" name="Text 21"/>
          <p:cNvSpPr/>
          <p:nvPr/>
        </p:nvSpPr>
        <p:spPr>
          <a:xfrm>
            <a:off x="4114800" y="198424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18</a:t>
            </a:r>
            <a:endParaRPr lang="en-US" sz="1150" dirty="0"/>
          </a:p>
        </p:txBody>
      </p:sp>
      <p:sp>
        <p:nvSpPr>
          <p:cNvPr id="24" name="rule">
            <a:extLst>
              <a:ext uri="{C183D7F6-B498-43B3-948B-1728B52AA6E4}">
                <adec:decorative xmlns:adec="http://schemas.microsoft.com/office/drawing/2017/decorative" val="1"/>
              </a:ext>
            </a:extLst>
          </p:cNvPr>
          <p:cNvSpPr/>
          <p:nvPr/>
        </p:nvSpPr>
        <p:spPr>
          <a:xfrm>
            <a:off x="3026664" y="2258568"/>
            <a:ext cx="1856232" cy="0"/>
          </a:xfrm>
          <a:prstGeom prst="line">
            <a:avLst/>
          </a:prstGeom>
          <a:noFill/>
          <a:ln w="12700">
            <a:solidFill>
              <a:srgbClr val="2C3644"/>
            </a:solidFill>
            <a:prstDash val="dash"/>
          </a:ln>
        </p:spPr>
        <p:txBody>
          <a:bodyPr/>
          <a:lstStyle/>
          <a:p>
            <a:endParaRPr lang="en-SE"/>
          </a:p>
        </p:txBody>
      </p:sp>
      <p:sp>
        <p:nvSpPr>
          <p:cNvPr id="25" name="depth">
            <a:extLst>
              <a:ext uri="{C183D7F6-B498-43B3-948B-1728B52AA6E4}">
                <adec:decorative xmlns:adec="http://schemas.microsoft.com/office/drawing/2017/decorative" val="1"/>
              </a:ext>
            </a:extLst>
          </p:cNvPr>
          <p:cNvSpPr/>
          <p:nvPr/>
        </p:nvSpPr>
        <p:spPr>
          <a:xfrm>
            <a:off x="4273296" y="2290572"/>
            <a:ext cx="609600" cy="182880"/>
          </a:xfrm>
          <a:prstGeom prst="rect">
            <a:avLst/>
          </a:prstGeom>
          <a:solidFill>
            <a:srgbClr val="35E07E">
              <a:alpha val="26000"/>
            </a:srgbClr>
          </a:solidFill>
          <a:ln/>
        </p:spPr>
        <p:txBody>
          <a:bodyPr/>
          <a:lstStyle/>
          <a:p>
            <a:endParaRPr lang="en-SE"/>
          </a:p>
        </p:txBody>
      </p:sp>
      <p:sp>
        <p:nvSpPr>
          <p:cNvPr id="26" name="Text 24"/>
          <p:cNvSpPr/>
          <p:nvPr/>
        </p:nvSpPr>
        <p:spPr>
          <a:xfrm>
            <a:off x="3026664" y="2276856"/>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97</a:t>
            </a:r>
            <a:endParaRPr lang="en-US" sz="1250" dirty="0"/>
          </a:p>
        </p:txBody>
      </p:sp>
      <p:sp>
        <p:nvSpPr>
          <p:cNvPr id="27" name="Text 25"/>
          <p:cNvSpPr/>
          <p:nvPr/>
        </p:nvSpPr>
        <p:spPr>
          <a:xfrm>
            <a:off x="4114800" y="2276856"/>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15</a:t>
            </a:r>
            <a:endParaRPr lang="en-US" sz="1150" dirty="0"/>
          </a:p>
        </p:txBody>
      </p:sp>
      <p:sp>
        <p:nvSpPr>
          <p:cNvPr id="28" name="panel">
            <a:extLst>
              <a:ext uri="{C183D7F6-B498-43B3-948B-1728B52AA6E4}">
                <adec:decorative xmlns:adec="http://schemas.microsoft.com/office/drawing/2017/decorative" val="1"/>
              </a:ext>
            </a:extLst>
          </p:cNvPr>
          <p:cNvSpPr/>
          <p:nvPr/>
        </p:nvSpPr>
        <p:spPr>
          <a:xfrm>
            <a:off x="5394960" y="1508760"/>
            <a:ext cx="3200400" cy="1481328"/>
          </a:xfrm>
          <a:prstGeom prst="roundRect">
            <a:avLst>
              <a:gd name="adj" fmla="val 3704"/>
            </a:avLst>
          </a:prstGeom>
          <a:solidFill>
            <a:srgbClr val="1B212C"/>
          </a:solidFill>
          <a:ln w="12700">
            <a:solidFill>
              <a:srgbClr val="2C3644"/>
            </a:solidFill>
            <a:prstDash val="solid"/>
          </a:ln>
        </p:spPr>
        <p:txBody>
          <a:bodyPr/>
          <a:lstStyle/>
          <a:p>
            <a:endParaRPr lang="en-SE"/>
          </a:p>
        </p:txBody>
      </p:sp>
      <p:sp>
        <p:nvSpPr>
          <p:cNvPr id="29" name="Text 27"/>
          <p:cNvSpPr/>
          <p:nvPr/>
        </p:nvSpPr>
        <p:spPr>
          <a:xfrm>
            <a:off x="5522976" y="1554480"/>
            <a:ext cx="2926080" cy="274320"/>
          </a:xfrm>
          <a:prstGeom prst="rect">
            <a:avLst/>
          </a:prstGeom>
          <a:noFill/>
          <a:ln/>
        </p:spPr>
        <p:txBody>
          <a:bodyPr wrap="square" lIns="0" tIns="0" rIns="0" bIns="0" rtlCol="0" anchor="t"/>
          <a:lstStyle/>
          <a:p>
            <a:pPr marL="0" indent="0" algn="l">
              <a:buNone/>
            </a:pPr>
            <a:r>
              <a:rPr lang="en-US" sz="1150" b="1" dirty="0">
                <a:solidFill>
                  <a:srgbClr val="FFFFFF"/>
                </a:solidFill>
                <a:latin typeface="Segoe UI" pitchFamily="34" charset="0"/>
                <a:ea typeface="Segoe UI" pitchFamily="34" charset="-122"/>
                <a:cs typeface="Segoe UI" pitchFamily="34" charset="-120"/>
              </a:rPr>
              <a:t>MARCH–JUNE SPREAD</a:t>
            </a:r>
            <a:endParaRPr lang="en-US" sz="1150" dirty="0"/>
          </a:p>
        </p:txBody>
      </p:sp>
      <p:sp>
        <p:nvSpPr>
          <p:cNvPr id="30" name="Text 28"/>
          <p:cNvSpPr/>
          <p:nvPr/>
        </p:nvSpPr>
        <p:spPr>
          <a:xfrm>
            <a:off x="5394960" y="2057400"/>
            <a:ext cx="3200400" cy="457200"/>
          </a:xfrm>
          <a:prstGeom prst="rect">
            <a:avLst/>
          </a:prstGeom>
          <a:noFill/>
          <a:ln/>
        </p:spPr>
        <p:txBody>
          <a:bodyPr wrap="square" lIns="0" tIns="0" rIns="0" bIns="0" rtlCol="0" anchor="t"/>
          <a:lstStyle/>
          <a:p>
            <a:pPr marL="0" indent="0" algn="ctr">
              <a:buNone/>
            </a:pPr>
            <a:r>
              <a:rPr lang="en-US" sz="1500" i="1" dirty="0">
                <a:solidFill>
                  <a:srgbClr val="8B96A8"/>
                </a:solidFill>
                <a:latin typeface="Consolas" pitchFamily="34" charset="0"/>
                <a:ea typeface="Consolas" pitchFamily="34" charset="-122"/>
                <a:cs typeface="Consolas" pitchFamily="34" charset="-120"/>
              </a:rPr>
              <a:t>— no quotes —</a:t>
            </a:r>
            <a:endParaRPr lang="en-US" sz="1500" dirty="0"/>
          </a:p>
        </p:txBody>
      </p:sp>
      <p:sp>
        <p:nvSpPr>
          <p:cNvPr id="31" name="Text 29"/>
          <p:cNvSpPr/>
          <p:nvPr/>
        </p:nvSpPr>
        <p:spPr>
          <a:xfrm>
            <a:off x="5394960" y="2487168"/>
            <a:ext cx="3200400" cy="274320"/>
          </a:xfrm>
          <a:prstGeom prst="rect">
            <a:avLst/>
          </a:prstGeom>
          <a:noFill/>
          <a:ln/>
        </p:spPr>
        <p:txBody>
          <a:bodyPr wrap="square" lIns="0" tIns="0" rIns="0" bIns="0" rtlCol="0" anchor="t"/>
          <a:lstStyle/>
          <a:p>
            <a:pPr marL="0" indent="0" algn="ctr">
              <a:buNone/>
            </a:pPr>
            <a:r>
              <a:rPr lang="en-US" sz="1050" dirty="0">
                <a:solidFill>
                  <a:srgbClr val="FF5C6C"/>
                </a:solidFill>
                <a:latin typeface="Segoe UI" pitchFamily="34" charset="0"/>
                <a:ea typeface="Segoe UI" pitchFamily="34" charset="-122"/>
                <a:cs typeface="Segoe UI" pitchFamily="34" charset="-120"/>
              </a:rPr>
              <a:t>yet both legs are liquid</a:t>
            </a:r>
            <a:endParaRPr lang="en-US" sz="1050" dirty="0"/>
          </a:p>
        </p:txBody>
      </p:sp>
      <p:sp>
        <p:nvSpPr>
          <p:cNvPr id="32" name="arrow">
            <a:extLst>
              <a:ext uri="{C183D7F6-B498-43B3-948B-1728B52AA6E4}">
                <adec:decorative xmlns:adec="http://schemas.microsoft.com/office/drawing/2017/decorative" val="1"/>
              </a:ext>
            </a:extLst>
          </p:cNvPr>
          <p:cNvSpPr/>
          <p:nvPr/>
        </p:nvSpPr>
        <p:spPr>
          <a:xfrm>
            <a:off x="5029200" y="2148840"/>
            <a:ext cx="329184" cy="0"/>
          </a:xfrm>
          <a:prstGeom prst="line">
            <a:avLst/>
          </a:prstGeom>
          <a:noFill/>
          <a:ln w="25400">
            <a:solidFill>
              <a:srgbClr val="8B96A8"/>
            </a:solidFill>
            <a:prstDash val="solid"/>
            <a:tailEnd type="triangle"/>
          </a:ln>
        </p:spPr>
        <p:txBody>
          <a:bodyPr/>
          <a:lstStyle/>
          <a:p>
            <a:endParaRPr lang="en-SE"/>
          </a:p>
        </p:txBody>
      </p:sp>
      <p:sp>
        <p:nvSpPr>
          <p:cNvPr id="33" name="panel">
            <a:extLst>
              <a:ext uri="{C183D7F6-B498-43B3-948B-1728B52AA6E4}">
                <adec:decorative xmlns:adec="http://schemas.microsoft.com/office/drawing/2017/decorative" val="1"/>
              </a:ext>
            </a:extLst>
          </p:cNvPr>
          <p:cNvSpPr/>
          <p:nvPr/>
        </p:nvSpPr>
        <p:spPr>
          <a:xfrm>
            <a:off x="5394960" y="3200400"/>
            <a:ext cx="3200400" cy="1234440"/>
          </a:xfrm>
          <a:prstGeom prst="roundRect">
            <a:avLst>
              <a:gd name="adj" fmla="val 4444"/>
            </a:avLst>
          </a:prstGeom>
          <a:solidFill>
            <a:srgbClr val="10251C"/>
          </a:solidFill>
          <a:ln w="12700">
            <a:solidFill>
              <a:srgbClr val="3AD1E6"/>
            </a:solidFill>
            <a:prstDash val="solid"/>
          </a:ln>
        </p:spPr>
        <p:txBody>
          <a:bodyPr/>
          <a:lstStyle/>
          <a:p>
            <a:endParaRPr lang="en-SE"/>
          </a:p>
        </p:txBody>
      </p:sp>
      <p:sp>
        <p:nvSpPr>
          <p:cNvPr id="34" name="Text 32"/>
          <p:cNvSpPr/>
          <p:nvPr/>
        </p:nvSpPr>
        <p:spPr>
          <a:xfrm>
            <a:off x="5522976" y="3273552"/>
            <a:ext cx="2926080" cy="274320"/>
          </a:xfrm>
          <a:prstGeom prst="rect">
            <a:avLst/>
          </a:prstGeom>
          <a:noFill/>
          <a:ln/>
        </p:spPr>
        <p:txBody>
          <a:bodyPr wrap="square" lIns="0" tIns="0" rIns="0" bIns="0" rtlCol="0" anchor="t"/>
          <a:lstStyle/>
          <a:p>
            <a:pPr marL="0" indent="0" algn="l">
              <a:buNone/>
            </a:pPr>
            <a:r>
              <a:rPr lang="en-US" sz="1050" b="1" kern="0" spc="100" dirty="0">
                <a:solidFill>
                  <a:srgbClr val="3AD1E6"/>
                </a:solidFill>
                <a:latin typeface="Segoe UI" pitchFamily="34" charset="0"/>
                <a:ea typeface="Segoe UI" pitchFamily="34" charset="-122"/>
                <a:cs typeface="Segoe UI" pitchFamily="34" charset="-120"/>
              </a:rPr>
              <a:t>THE ENGINE IMPLIES A MARKET</a:t>
            </a:r>
            <a:endParaRPr lang="en-US" sz="1050" dirty="0"/>
          </a:p>
        </p:txBody>
      </p:sp>
      <p:sp>
        <p:nvSpPr>
          <p:cNvPr id="35" name="Text 33"/>
          <p:cNvSpPr/>
          <p:nvPr/>
        </p:nvSpPr>
        <p:spPr>
          <a:xfrm>
            <a:off x="5486400" y="3657600"/>
            <a:ext cx="3017520" cy="365760"/>
          </a:xfrm>
          <a:prstGeom prst="rect">
            <a:avLst/>
          </a:prstGeom>
          <a:noFill/>
          <a:ln/>
        </p:spPr>
        <p:txBody>
          <a:bodyPr wrap="square" lIns="0" tIns="0" rIns="0" bIns="0" rtlCol="0" anchor="ctr"/>
          <a:lstStyle/>
          <a:p>
            <a:pPr marL="0" indent="0" algn="ctr">
              <a:buNone/>
            </a:pPr>
            <a:r>
              <a:rPr lang="en-US" sz="2200" dirty="0">
                <a:solidFill>
                  <a:srgbClr val="8B96A8"/>
                </a:solidFill>
                <a:latin typeface="Consolas" pitchFamily="34" charset="0"/>
                <a:ea typeface="Consolas" pitchFamily="34" charset="-122"/>
                <a:cs typeface="Consolas" pitchFamily="34" charset="-120"/>
              </a:rPr>
              <a:t>Bid </a:t>
            </a:r>
            <a:r>
              <a:rPr lang="en-US" sz="2200" b="1" dirty="0">
                <a:solidFill>
                  <a:srgbClr val="35E07E"/>
                </a:solidFill>
                <a:latin typeface="Consolas" pitchFamily="34" charset="0"/>
                <a:ea typeface="Consolas" pitchFamily="34" charset="-122"/>
                <a:cs typeface="Consolas" pitchFamily="34" charset="-120"/>
              </a:rPr>
              <a:t>1</a:t>
            </a:r>
            <a:r>
              <a:rPr lang="en-US" sz="2200" dirty="0">
                <a:solidFill>
                  <a:srgbClr val="8B96A8"/>
                </a:solidFill>
                <a:latin typeface="Consolas" pitchFamily="34" charset="0"/>
                <a:ea typeface="Consolas" pitchFamily="34" charset="-122"/>
                <a:cs typeface="Consolas" pitchFamily="34" charset="-120"/>
              </a:rPr>
              <a:t>    Ask </a:t>
            </a:r>
            <a:r>
              <a:rPr lang="en-US" sz="2200" b="1" dirty="0">
                <a:solidFill>
                  <a:srgbClr val="FF5C6C"/>
                </a:solidFill>
                <a:latin typeface="Consolas" pitchFamily="34" charset="0"/>
                <a:ea typeface="Consolas" pitchFamily="34" charset="-122"/>
                <a:cs typeface="Consolas" pitchFamily="34" charset="-120"/>
              </a:rPr>
              <a:t>3</a:t>
            </a:r>
            <a:endParaRPr lang="en-US" sz="2200" dirty="0"/>
          </a:p>
        </p:txBody>
      </p:sp>
      <p:sp>
        <p:nvSpPr>
          <p:cNvPr id="36" name="Text 34"/>
          <p:cNvSpPr/>
          <p:nvPr/>
        </p:nvSpPr>
        <p:spPr>
          <a:xfrm>
            <a:off x="5394960" y="4114800"/>
            <a:ext cx="3200400" cy="274320"/>
          </a:xfrm>
          <a:prstGeom prst="rect">
            <a:avLst/>
          </a:prstGeom>
          <a:noFill/>
          <a:ln/>
        </p:spPr>
        <p:txBody>
          <a:bodyPr wrap="square" lIns="0" tIns="0" rIns="0" bIns="0" rtlCol="0" anchor="t"/>
          <a:lstStyle/>
          <a:p>
            <a:pPr marL="0" indent="0" algn="ctr">
              <a:buNone/>
            </a:pPr>
            <a:r>
              <a:rPr lang="en-US" sz="1000" i="1" dirty="0">
                <a:solidFill>
                  <a:srgbClr val="8B96A8"/>
                </a:solidFill>
                <a:latin typeface="Segoe UI" pitchFamily="34" charset="0"/>
                <a:ea typeface="Segoe UI" pitchFamily="34" charset="-122"/>
                <a:cs typeface="Segoe UI" pitchFamily="34" charset="-120"/>
              </a:rPr>
              <a:t>built entirely from the two leg books</a:t>
            </a:r>
            <a:endParaRPr lang="en-US" sz="1000" dirty="0"/>
          </a:p>
        </p:txBody>
      </p:sp>
      <p:sp>
        <p:nvSpPr>
          <p:cNvPr id="37" name="Text 35"/>
          <p:cNvSpPr/>
          <p:nvPr/>
        </p:nvSpPr>
        <p:spPr>
          <a:xfrm>
            <a:off x="502920" y="3246120"/>
            <a:ext cx="4572000" cy="1097280"/>
          </a:xfrm>
          <a:prstGeom prst="rect">
            <a:avLst/>
          </a:prstGeom>
          <a:noFill/>
          <a:ln/>
        </p:spPr>
        <p:txBody>
          <a:bodyPr wrap="square" lIns="0" tIns="0" rIns="0" bIns="0" rtlCol="0" anchor="t"/>
          <a:lstStyle/>
          <a:p>
            <a:pPr marL="0" indent="0" algn="l">
              <a:lnSpc>
                <a:spcPts val="2200"/>
              </a:lnSpc>
              <a:buNone/>
            </a:pPr>
            <a:r>
              <a:rPr lang="en-US" sz="1450" dirty="0">
                <a:solidFill>
                  <a:srgbClr val="D8DEE9"/>
                </a:solidFill>
                <a:latin typeface="Segoe UI" pitchFamily="34" charset="0"/>
                <a:ea typeface="Segoe UI" pitchFamily="34" charset="-122"/>
                <a:cs typeface="Segoe UI" pitchFamily="34" charset="-120"/>
              </a:rPr>
              <a:t>An implied order is a real market re-expressed in another instrument — not extra liquidity, just a new view of the same orders.</a:t>
            </a:r>
            <a:endParaRPr lang="en-US" sz="1450" dirty="0"/>
          </a:p>
        </p:txBody>
      </p:sp>
      <p:sp>
        <p:nvSpPr>
          <p:cNvPr id="38" name="dot">
            <a:extLst>
              <a:ext uri="{C183D7F6-B498-43B3-948B-1728B52AA6E4}">
                <adec:decorative xmlns:adec="http://schemas.microsoft.com/office/drawing/2017/decorative" val="1"/>
              </a:ext>
            </a:extLst>
          </p:cNvPr>
          <p:cNvSpPr/>
          <p:nvPr/>
        </p:nvSpPr>
        <p:spPr>
          <a:xfrm>
            <a:off x="548640" y="4343400"/>
            <a:ext cx="109728" cy="109728"/>
          </a:xfrm>
          <a:prstGeom prst="ellipse">
            <a:avLst/>
          </a:prstGeom>
          <a:solidFill>
            <a:srgbClr val="3AD1E6"/>
          </a:solidFill>
          <a:ln/>
        </p:spPr>
        <p:txBody>
          <a:bodyPr/>
          <a:lstStyle/>
          <a:p>
            <a:endParaRPr lang="en-SE"/>
          </a:p>
        </p:txBody>
      </p:sp>
      <p:sp>
        <p:nvSpPr>
          <p:cNvPr id="39" name="Text 37"/>
          <p:cNvSpPr/>
          <p:nvPr/>
        </p:nvSpPr>
        <p:spPr>
          <a:xfrm>
            <a:off x="749808" y="4279392"/>
            <a:ext cx="4206240" cy="274320"/>
          </a:xfrm>
          <a:prstGeom prst="rect">
            <a:avLst/>
          </a:prstGeom>
          <a:noFill/>
          <a:ln/>
        </p:spPr>
        <p:txBody>
          <a:bodyPr wrap="square" lIns="0" tIns="0" rIns="0" bIns="0" rtlCol="0" anchor="t"/>
          <a:lstStyle/>
          <a:p>
            <a:pPr marL="0" indent="0" algn="l">
              <a:buNone/>
            </a:pPr>
            <a:r>
              <a:rPr lang="en-US" sz="1050" i="1" dirty="0">
                <a:solidFill>
                  <a:srgbClr val="8B96A8"/>
                </a:solidFill>
                <a:latin typeface="Segoe UI" pitchFamily="34" charset="0"/>
                <a:ea typeface="Segoe UI" pitchFamily="34" charset="-122"/>
                <a:cs typeface="Segoe UI" pitchFamily="34" charset="-120"/>
              </a:rPr>
              <a:t>Cyan = implied / synthetic throughout this deck.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I</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Foundations</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The order book, outright instruments, and the spreads that are built on top of them.</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order book: where buyers and sellers queue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13</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274320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30936" y="1508760"/>
            <a:ext cx="248716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A SINGLE INSTRUMENT</a:t>
            </a:r>
            <a:endParaRPr lang="en-US" sz="1150" dirty="0"/>
          </a:p>
        </p:txBody>
      </p:sp>
      <p:sp>
        <p:nvSpPr>
          <p:cNvPr id="8" name="Text 6"/>
          <p:cNvSpPr/>
          <p:nvPr/>
        </p:nvSpPr>
        <p:spPr>
          <a:xfrm>
            <a:off x="630936" y="1773936"/>
            <a:ext cx="1234440"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9" name="Text 7"/>
          <p:cNvSpPr/>
          <p:nvPr/>
        </p:nvSpPr>
        <p:spPr>
          <a:xfrm>
            <a:off x="233172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0" name="depth">
            <a:extLst>
              <a:ext uri="{C183D7F6-B498-43B3-948B-1728B52AA6E4}">
                <adec:decorative xmlns:adec="http://schemas.microsoft.com/office/drawing/2017/decorative" val="1"/>
              </a:ext>
            </a:extLst>
          </p:cNvPr>
          <p:cNvSpPr/>
          <p:nvPr/>
        </p:nvSpPr>
        <p:spPr>
          <a:xfrm>
            <a:off x="1773936" y="1952244"/>
            <a:ext cx="1325880" cy="182880"/>
          </a:xfrm>
          <a:prstGeom prst="rect">
            <a:avLst/>
          </a:prstGeom>
          <a:solidFill>
            <a:srgbClr val="FF5C6C">
              <a:alpha val="26000"/>
            </a:srgbClr>
          </a:solidFill>
          <a:ln/>
        </p:spPr>
        <p:txBody>
          <a:bodyPr/>
          <a:lstStyle/>
          <a:p>
            <a:endParaRPr lang="en-SE"/>
          </a:p>
        </p:txBody>
      </p:sp>
      <p:sp>
        <p:nvSpPr>
          <p:cNvPr id="11" name="Text 9"/>
          <p:cNvSpPr/>
          <p:nvPr/>
        </p:nvSpPr>
        <p:spPr>
          <a:xfrm>
            <a:off x="64922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101</a:t>
            </a:r>
            <a:endParaRPr lang="en-US" sz="1250" dirty="0"/>
          </a:p>
        </p:txBody>
      </p:sp>
      <p:sp>
        <p:nvSpPr>
          <p:cNvPr id="12" name="Text 10"/>
          <p:cNvSpPr/>
          <p:nvPr/>
        </p:nvSpPr>
        <p:spPr>
          <a:xfrm>
            <a:off x="233172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30</a:t>
            </a:r>
            <a:endParaRPr lang="en-US" sz="1150" dirty="0"/>
          </a:p>
        </p:txBody>
      </p:sp>
      <p:sp>
        <p:nvSpPr>
          <p:cNvPr id="13" name="depth">
            <a:extLst>
              <a:ext uri="{C183D7F6-B498-43B3-948B-1728B52AA6E4}">
                <adec:decorative xmlns:adec="http://schemas.microsoft.com/office/drawing/2017/decorative" val="1"/>
              </a:ext>
            </a:extLst>
          </p:cNvPr>
          <p:cNvSpPr/>
          <p:nvPr/>
        </p:nvSpPr>
        <p:spPr>
          <a:xfrm>
            <a:off x="2569464" y="2208276"/>
            <a:ext cx="530352" cy="182880"/>
          </a:xfrm>
          <a:prstGeom prst="rect">
            <a:avLst/>
          </a:prstGeom>
          <a:solidFill>
            <a:srgbClr val="FF5C6C">
              <a:alpha val="26000"/>
            </a:srgbClr>
          </a:solidFill>
          <a:ln/>
        </p:spPr>
        <p:txBody>
          <a:bodyPr/>
          <a:lstStyle/>
          <a:p>
            <a:endParaRPr lang="en-SE"/>
          </a:p>
        </p:txBody>
      </p:sp>
      <p:sp>
        <p:nvSpPr>
          <p:cNvPr id="14" name="Text 12"/>
          <p:cNvSpPr/>
          <p:nvPr/>
        </p:nvSpPr>
        <p:spPr>
          <a:xfrm>
            <a:off x="64922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15" name="Text 13"/>
          <p:cNvSpPr/>
          <p:nvPr/>
        </p:nvSpPr>
        <p:spPr>
          <a:xfrm>
            <a:off x="233172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16" name="rule">
            <a:extLst>
              <a:ext uri="{C183D7F6-B498-43B3-948B-1728B52AA6E4}">
                <adec:decorative xmlns:adec="http://schemas.microsoft.com/office/drawing/2017/decorative" val="1"/>
              </a:ext>
            </a:extLst>
          </p:cNvPr>
          <p:cNvSpPr/>
          <p:nvPr/>
        </p:nvSpPr>
        <p:spPr>
          <a:xfrm>
            <a:off x="649224" y="2468880"/>
            <a:ext cx="2450592" cy="0"/>
          </a:xfrm>
          <a:prstGeom prst="line">
            <a:avLst/>
          </a:prstGeom>
          <a:noFill/>
          <a:ln w="12700">
            <a:solidFill>
              <a:srgbClr val="2C3644"/>
            </a:solidFill>
            <a:prstDash val="dash"/>
          </a:ln>
        </p:spPr>
        <p:txBody>
          <a:bodyPr/>
          <a:lstStyle/>
          <a:p>
            <a:endParaRPr lang="en-SE"/>
          </a:p>
        </p:txBody>
      </p:sp>
      <p:sp>
        <p:nvSpPr>
          <p:cNvPr id="17" name="depth">
            <a:extLst>
              <a:ext uri="{C183D7F6-B498-43B3-948B-1728B52AA6E4}">
                <adec:decorative xmlns:adec="http://schemas.microsoft.com/office/drawing/2017/decorative" val="1"/>
              </a:ext>
            </a:extLst>
          </p:cNvPr>
          <p:cNvSpPr/>
          <p:nvPr/>
        </p:nvSpPr>
        <p:spPr>
          <a:xfrm>
            <a:off x="2657856" y="2500884"/>
            <a:ext cx="441960" cy="182880"/>
          </a:xfrm>
          <a:prstGeom prst="rect">
            <a:avLst/>
          </a:prstGeom>
          <a:solidFill>
            <a:srgbClr val="35E07E">
              <a:alpha val="26000"/>
            </a:srgbClr>
          </a:solidFill>
          <a:ln/>
        </p:spPr>
        <p:txBody>
          <a:bodyPr/>
          <a:lstStyle/>
          <a:p>
            <a:endParaRPr lang="en-SE"/>
          </a:p>
        </p:txBody>
      </p:sp>
      <p:sp>
        <p:nvSpPr>
          <p:cNvPr id="18" name="Text 16"/>
          <p:cNvSpPr/>
          <p:nvPr/>
        </p:nvSpPr>
        <p:spPr>
          <a:xfrm>
            <a:off x="64922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9" name="Text 17"/>
          <p:cNvSpPr/>
          <p:nvPr/>
        </p:nvSpPr>
        <p:spPr>
          <a:xfrm>
            <a:off x="233172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20" name="depth">
            <a:extLst>
              <a:ext uri="{C183D7F6-B498-43B3-948B-1728B52AA6E4}">
                <adec:decorative xmlns:adec="http://schemas.microsoft.com/office/drawing/2017/decorative" val="1"/>
              </a:ext>
            </a:extLst>
          </p:cNvPr>
          <p:cNvSpPr/>
          <p:nvPr/>
        </p:nvSpPr>
        <p:spPr>
          <a:xfrm>
            <a:off x="1994916" y="2756916"/>
            <a:ext cx="1104900" cy="182880"/>
          </a:xfrm>
          <a:prstGeom prst="rect">
            <a:avLst/>
          </a:prstGeom>
          <a:solidFill>
            <a:srgbClr val="35E07E">
              <a:alpha val="26000"/>
            </a:srgbClr>
          </a:solidFill>
          <a:ln/>
        </p:spPr>
        <p:txBody>
          <a:bodyPr/>
          <a:lstStyle/>
          <a:p>
            <a:endParaRPr lang="en-SE"/>
          </a:p>
        </p:txBody>
      </p:sp>
      <p:sp>
        <p:nvSpPr>
          <p:cNvPr id="21" name="Text 19"/>
          <p:cNvSpPr/>
          <p:nvPr/>
        </p:nvSpPr>
        <p:spPr>
          <a:xfrm>
            <a:off x="64922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98</a:t>
            </a:r>
            <a:endParaRPr lang="en-US" sz="1250" dirty="0"/>
          </a:p>
        </p:txBody>
      </p:sp>
      <p:sp>
        <p:nvSpPr>
          <p:cNvPr id="22" name="Text 20"/>
          <p:cNvSpPr/>
          <p:nvPr/>
        </p:nvSpPr>
        <p:spPr>
          <a:xfrm>
            <a:off x="233172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25</a:t>
            </a:r>
            <a:endParaRPr lang="en-US" sz="1150" dirty="0"/>
          </a:p>
        </p:txBody>
      </p:sp>
      <p:sp>
        <p:nvSpPr>
          <p:cNvPr id="23" name="Text 21"/>
          <p:cNvSpPr/>
          <p:nvPr/>
        </p:nvSpPr>
        <p:spPr>
          <a:xfrm>
            <a:off x="3474720" y="1627632"/>
            <a:ext cx="3108960" cy="274320"/>
          </a:xfrm>
          <a:prstGeom prst="rect">
            <a:avLst/>
          </a:prstGeom>
          <a:noFill/>
          <a:ln/>
        </p:spPr>
        <p:txBody>
          <a:bodyPr wrap="square" lIns="0" tIns="0" rIns="0" bIns="0" rtlCol="0" anchor="t"/>
          <a:lstStyle/>
          <a:p>
            <a:pPr marL="0" indent="0" algn="l">
              <a:buNone/>
            </a:pPr>
            <a:r>
              <a:rPr lang="en-US" sz="1250" b="1" dirty="0">
                <a:solidFill>
                  <a:srgbClr val="FF5C6C"/>
                </a:solidFill>
                <a:latin typeface="Segoe UI" pitchFamily="34" charset="0"/>
                <a:ea typeface="Segoe UI" pitchFamily="34" charset="-122"/>
                <a:cs typeface="Segoe UI" pitchFamily="34" charset="-120"/>
              </a:rPr>
              <a:t>ASKS — people willing to SELL</a:t>
            </a:r>
            <a:endParaRPr lang="en-US" sz="1250" dirty="0"/>
          </a:p>
        </p:txBody>
      </p:sp>
      <p:sp>
        <p:nvSpPr>
          <p:cNvPr id="24" name="Text 22"/>
          <p:cNvSpPr/>
          <p:nvPr/>
        </p:nvSpPr>
        <p:spPr>
          <a:xfrm>
            <a:off x="3474720" y="1901952"/>
            <a:ext cx="3657600" cy="274320"/>
          </a:xfrm>
          <a:prstGeom prst="rect">
            <a:avLst/>
          </a:prstGeom>
          <a:noFill/>
          <a:ln/>
        </p:spPr>
        <p:txBody>
          <a:bodyPr wrap="square" lIns="0" tIns="0" rIns="0" bIns="0" rtlCol="0" anchor="t"/>
          <a:lstStyle/>
          <a:p>
            <a:pPr marL="0" indent="0" algn="l">
              <a:buNone/>
            </a:pPr>
            <a:r>
              <a:rPr lang="en-US" sz="1100" dirty="0">
                <a:solidFill>
                  <a:srgbClr val="8B96A8"/>
                </a:solidFill>
                <a:latin typeface="Segoe UI" pitchFamily="34" charset="0"/>
                <a:ea typeface="Segoe UI" pitchFamily="34" charset="-122"/>
                <a:cs typeface="Segoe UI" pitchFamily="34" charset="-120"/>
              </a:rPr>
              <a:t>Lowest ask is the best price to buy at.</a:t>
            </a:r>
            <a:endParaRPr lang="en-US" sz="1100" dirty="0"/>
          </a:p>
        </p:txBody>
      </p:sp>
      <p:sp>
        <p:nvSpPr>
          <p:cNvPr id="25" name="Text 23"/>
          <p:cNvSpPr/>
          <p:nvPr/>
        </p:nvSpPr>
        <p:spPr>
          <a:xfrm>
            <a:off x="3474720" y="2697480"/>
            <a:ext cx="3108960" cy="274320"/>
          </a:xfrm>
          <a:prstGeom prst="rect">
            <a:avLst/>
          </a:prstGeom>
          <a:noFill/>
          <a:ln/>
        </p:spPr>
        <p:txBody>
          <a:bodyPr wrap="square" lIns="0" tIns="0" rIns="0" bIns="0" rtlCol="0" anchor="t"/>
          <a:lstStyle/>
          <a:p>
            <a:pPr marL="0" indent="0" algn="l">
              <a:buNone/>
            </a:pPr>
            <a:r>
              <a:rPr lang="en-US" sz="1250" b="1" dirty="0">
                <a:solidFill>
                  <a:srgbClr val="35E07E"/>
                </a:solidFill>
                <a:latin typeface="Segoe UI" pitchFamily="34" charset="0"/>
                <a:ea typeface="Segoe UI" pitchFamily="34" charset="-122"/>
                <a:cs typeface="Segoe UI" pitchFamily="34" charset="-120"/>
              </a:rPr>
              <a:t>BIDS — people willing to BUY</a:t>
            </a:r>
            <a:endParaRPr lang="en-US" sz="1250" dirty="0"/>
          </a:p>
        </p:txBody>
      </p:sp>
      <p:sp>
        <p:nvSpPr>
          <p:cNvPr id="26" name="Text 24"/>
          <p:cNvSpPr/>
          <p:nvPr/>
        </p:nvSpPr>
        <p:spPr>
          <a:xfrm>
            <a:off x="3474720" y="2971800"/>
            <a:ext cx="3657600" cy="274320"/>
          </a:xfrm>
          <a:prstGeom prst="rect">
            <a:avLst/>
          </a:prstGeom>
          <a:noFill/>
          <a:ln/>
        </p:spPr>
        <p:txBody>
          <a:bodyPr wrap="square" lIns="0" tIns="0" rIns="0" bIns="0" rtlCol="0" anchor="t"/>
          <a:lstStyle/>
          <a:p>
            <a:pPr marL="0" indent="0" algn="l">
              <a:buNone/>
            </a:pPr>
            <a:r>
              <a:rPr lang="en-US" sz="1100" dirty="0">
                <a:solidFill>
                  <a:srgbClr val="8B96A8"/>
                </a:solidFill>
                <a:latin typeface="Segoe UI" pitchFamily="34" charset="0"/>
                <a:ea typeface="Segoe UI" pitchFamily="34" charset="-122"/>
                <a:cs typeface="Segoe UI" pitchFamily="34" charset="-120"/>
              </a:rPr>
              <a:t>Highest bid is the best price to sell at.</a:t>
            </a:r>
            <a:endParaRPr lang="en-US" sz="1100" dirty="0"/>
          </a:p>
        </p:txBody>
      </p:sp>
      <p:sp>
        <p:nvSpPr>
          <p:cNvPr id="27" name="panel">
            <a:extLst>
              <a:ext uri="{C183D7F6-B498-43B3-948B-1728B52AA6E4}">
                <adec:decorative xmlns:adec="http://schemas.microsoft.com/office/drawing/2017/decorative" val="1"/>
              </a:ext>
            </a:extLst>
          </p:cNvPr>
          <p:cNvSpPr/>
          <p:nvPr/>
        </p:nvSpPr>
        <p:spPr>
          <a:xfrm>
            <a:off x="3474720" y="3520440"/>
            <a:ext cx="5120640" cy="960120"/>
          </a:xfrm>
          <a:prstGeom prst="roundRect">
            <a:avLst>
              <a:gd name="adj" fmla="val 5714"/>
            </a:avLst>
          </a:prstGeom>
          <a:solidFill>
            <a:srgbClr val="1B212C"/>
          </a:solidFill>
          <a:ln w="12700">
            <a:solidFill>
              <a:srgbClr val="2C3644"/>
            </a:solidFill>
            <a:prstDash val="solid"/>
          </a:ln>
        </p:spPr>
        <p:txBody>
          <a:bodyPr/>
          <a:lstStyle/>
          <a:p>
            <a:endParaRPr lang="en-SE"/>
          </a:p>
        </p:txBody>
      </p:sp>
      <p:sp>
        <p:nvSpPr>
          <p:cNvPr id="28" name="Text 26"/>
          <p:cNvSpPr/>
          <p:nvPr/>
        </p:nvSpPr>
        <p:spPr>
          <a:xfrm>
            <a:off x="3639312" y="3639312"/>
            <a:ext cx="4846320" cy="7772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Each row is a price level; the number is how much size is resting there. Orders match when a buyer and seller agree on price — highest bid meets lowest ask.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An “outright” is just one thing, bought or sold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14</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3794760" cy="2971800"/>
          </a:xfrm>
          <a:prstGeom prst="roundRect">
            <a:avLst>
              <a:gd name="adj" fmla="val 1846"/>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85800" y="1600200"/>
            <a:ext cx="2743200" cy="228600"/>
          </a:xfrm>
          <a:prstGeom prst="rect">
            <a:avLst/>
          </a:prstGeom>
          <a:noFill/>
          <a:ln/>
        </p:spPr>
        <p:txBody>
          <a:bodyPr wrap="square" lIns="0" tIns="0" rIns="0" bIns="0" rtlCol="0" anchor="t"/>
          <a:lstStyle/>
          <a:p>
            <a:pPr marL="0" indent="0" algn="l">
              <a:buNone/>
            </a:pPr>
            <a:r>
              <a:rPr lang="en-US" sz="1000" b="1" kern="0" spc="200" dirty="0">
                <a:solidFill>
                  <a:srgbClr val="35E07E"/>
                </a:solidFill>
                <a:latin typeface="Segoe UI" pitchFamily="34" charset="0"/>
                <a:ea typeface="Segoe UI" pitchFamily="34" charset="-122"/>
                <a:cs typeface="Segoe UI" pitchFamily="34" charset="-120"/>
              </a:rPr>
              <a:t>EXAMPLE</a:t>
            </a:r>
            <a:endParaRPr lang="en-US" sz="1000" dirty="0"/>
          </a:p>
        </p:txBody>
      </p:sp>
      <p:sp>
        <p:nvSpPr>
          <p:cNvPr id="8" name="Text 6"/>
          <p:cNvSpPr/>
          <p:nvPr/>
        </p:nvSpPr>
        <p:spPr>
          <a:xfrm>
            <a:off x="685800" y="1828800"/>
            <a:ext cx="3474720" cy="365760"/>
          </a:xfrm>
          <a:prstGeom prst="rect">
            <a:avLst/>
          </a:prstGeom>
          <a:noFill/>
          <a:ln/>
        </p:spPr>
        <p:txBody>
          <a:bodyPr wrap="square" lIns="0" tIns="0" rIns="0" bIns="0" rtlCol="0" anchor="t"/>
          <a:lstStyle/>
          <a:p>
            <a:pPr marL="0" indent="0" algn="l">
              <a:buNone/>
            </a:pPr>
            <a:r>
              <a:rPr lang="en-US" sz="2000" b="1" dirty="0">
                <a:solidFill>
                  <a:srgbClr val="FFFFFF"/>
                </a:solidFill>
                <a:latin typeface="Segoe UI" pitchFamily="34" charset="0"/>
                <a:ea typeface="Segoe UI" pitchFamily="34" charset="-122"/>
                <a:cs typeface="Segoe UI" pitchFamily="34" charset="-120"/>
              </a:rPr>
              <a:t>March Crude Future</a:t>
            </a:r>
            <a:endParaRPr lang="en-US" sz="2000" dirty="0"/>
          </a:p>
        </p:txBody>
      </p:sp>
      <p:sp>
        <p:nvSpPr>
          <p:cNvPr id="9" name="Text 7"/>
          <p:cNvSpPr/>
          <p:nvPr/>
        </p:nvSpPr>
        <p:spPr>
          <a:xfrm>
            <a:off x="685800" y="2286000"/>
            <a:ext cx="3383280" cy="731520"/>
          </a:xfrm>
          <a:prstGeom prst="rect">
            <a:avLst/>
          </a:prstGeom>
          <a:noFill/>
          <a:ln/>
        </p:spPr>
        <p:txBody>
          <a:bodyPr wrap="square" lIns="0" tIns="0" rIns="0" bIns="0" rtlCol="0" anchor="t"/>
          <a:lstStyle/>
          <a:p>
            <a:pPr marL="0" indent="0" algn="l">
              <a:lnSpc>
                <a:spcPts val="1800"/>
              </a:lnSpc>
              <a:buNone/>
            </a:pPr>
            <a:r>
              <a:rPr lang="en-US" sz="1300" dirty="0">
                <a:solidFill>
                  <a:srgbClr val="D8DEE9"/>
                </a:solidFill>
                <a:latin typeface="Segoe UI" pitchFamily="34" charset="0"/>
                <a:ea typeface="Segoe UI" pitchFamily="34" charset="-122"/>
                <a:cs typeface="Segoe UI" pitchFamily="34" charset="-120"/>
              </a:rPr>
              <a:t>One contract. You either buy it or sell it. Its price stands on its own — hence “outright.”</a:t>
            </a:r>
            <a:endParaRPr lang="en-US" sz="1300" dirty="0"/>
          </a:p>
        </p:txBody>
      </p:sp>
      <p:sp>
        <p:nvSpPr>
          <p:cNvPr id="10" name="Text 8"/>
          <p:cNvSpPr/>
          <p:nvPr/>
        </p:nvSpPr>
        <p:spPr>
          <a:xfrm>
            <a:off x="640080" y="3246120"/>
            <a:ext cx="3566160" cy="365760"/>
          </a:xfrm>
          <a:prstGeom prst="rect">
            <a:avLst/>
          </a:prstGeom>
          <a:noFill/>
          <a:ln/>
        </p:spPr>
        <p:txBody>
          <a:bodyPr wrap="square" lIns="0" tIns="0" rIns="0" bIns="0" rtlCol="0" anchor="ctr"/>
          <a:lstStyle/>
          <a:p>
            <a:pPr marL="0" indent="0" algn="l">
              <a:buNone/>
            </a:pPr>
            <a:r>
              <a:rPr lang="en-US" sz="1500" b="1" dirty="0">
                <a:solidFill>
                  <a:srgbClr val="35E07E"/>
                </a:solidFill>
                <a:latin typeface="Consolas" pitchFamily="34" charset="0"/>
                <a:ea typeface="Consolas" pitchFamily="34" charset="-122"/>
                <a:cs typeface="Consolas" pitchFamily="34" charset="-120"/>
              </a:rPr>
              <a:t>BUY</a:t>
            </a:r>
            <a:r>
              <a:rPr lang="en-US" sz="1500" dirty="0">
                <a:solidFill>
                  <a:srgbClr val="D8DEE9"/>
                </a:solidFill>
                <a:latin typeface="Consolas" pitchFamily="34" charset="0"/>
                <a:ea typeface="Consolas" pitchFamily="34" charset="-122"/>
                <a:cs typeface="Consolas" pitchFamily="34" charset="-120"/>
              </a:rPr>
              <a:t> March   </a:t>
            </a:r>
            <a:r>
              <a:rPr lang="en-US" sz="1500" b="1" dirty="0">
                <a:solidFill>
                  <a:srgbClr val="FF5C6C"/>
                </a:solidFill>
                <a:latin typeface="Consolas" pitchFamily="34" charset="0"/>
                <a:ea typeface="Consolas" pitchFamily="34" charset="-122"/>
                <a:cs typeface="Consolas" pitchFamily="34" charset="-120"/>
              </a:rPr>
              <a:t>SELL</a:t>
            </a:r>
            <a:r>
              <a:rPr lang="en-US" sz="1500" dirty="0">
                <a:solidFill>
                  <a:srgbClr val="D8DEE9"/>
                </a:solidFill>
                <a:latin typeface="Consolas" pitchFamily="34" charset="0"/>
                <a:ea typeface="Consolas" pitchFamily="34" charset="-122"/>
                <a:cs typeface="Consolas" pitchFamily="34" charset="-120"/>
              </a:rPr>
              <a:t> March</a:t>
            </a:r>
            <a:endParaRPr lang="en-US" sz="1500" dirty="0"/>
          </a:p>
        </p:txBody>
      </p:sp>
      <p:sp>
        <p:nvSpPr>
          <p:cNvPr id="11" name="Text 9"/>
          <p:cNvSpPr/>
          <p:nvPr/>
        </p:nvSpPr>
        <p:spPr>
          <a:xfrm>
            <a:off x="685800" y="3703320"/>
            <a:ext cx="3474720" cy="274320"/>
          </a:xfrm>
          <a:prstGeom prst="rect">
            <a:avLst/>
          </a:prstGeom>
          <a:noFill/>
          <a:ln/>
        </p:spPr>
        <p:txBody>
          <a:bodyPr wrap="square" lIns="0" tIns="0" rIns="0" bIns="0" rtlCol="0" anchor="t"/>
          <a:lstStyle/>
          <a:p>
            <a:pPr marL="0" indent="0" algn="l">
              <a:buNone/>
            </a:pPr>
            <a:r>
              <a:rPr lang="en-US" sz="1100" i="1" dirty="0">
                <a:solidFill>
                  <a:srgbClr val="8B96A8"/>
                </a:solidFill>
                <a:latin typeface="Segoe UI" pitchFamily="34" charset="0"/>
                <a:ea typeface="Segoe UI" pitchFamily="34" charset="-122"/>
                <a:cs typeface="Segoe UI" pitchFamily="34" charset="-120"/>
              </a:rPr>
              <a:t>Two directions, one instrument. Simple.</a:t>
            </a:r>
            <a:endParaRPr lang="en-US" sz="1100" dirty="0"/>
          </a:p>
        </p:txBody>
      </p:sp>
      <p:sp>
        <p:nvSpPr>
          <p:cNvPr id="12" name="panel">
            <a:extLst>
              <a:ext uri="{C183D7F6-B498-43B3-948B-1728B52AA6E4}">
                <adec:decorative xmlns:adec="http://schemas.microsoft.com/office/drawing/2017/decorative" val="1"/>
              </a:ext>
            </a:extLst>
          </p:cNvPr>
          <p:cNvSpPr/>
          <p:nvPr/>
        </p:nvSpPr>
        <p:spPr>
          <a:xfrm>
            <a:off x="4709160" y="1463040"/>
            <a:ext cx="274320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13" name="Text 11"/>
          <p:cNvSpPr/>
          <p:nvPr/>
        </p:nvSpPr>
        <p:spPr>
          <a:xfrm>
            <a:off x="4837176" y="1508760"/>
            <a:ext cx="248716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 — LIVE BOOK</a:t>
            </a:r>
            <a:endParaRPr lang="en-US" sz="1150" dirty="0"/>
          </a:p>
        </p:txBody>
      </p:sp>
      <p:sp>
        <p:nvSpPr>
          <p:cNvPr id="14" name="Text 12"/>
          <p:cNvSpPr/>
          <p:nvPr/>
        </p:nvSpPr>
        <p:spPr>
          <a:xfrm>
            <a:off x="4837176" y="1773936"/>
            <a:ext cx="1234440"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15" name="Text 13"/>
          <p:cNvSpPr/>
          <p:nvPr/>
        </p:nvSpPr>
        <p:spPr>
          <a:xfrm>
            <a:off x="653796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6" name="depth">
            <a:extLst>
              <a:ext uri="{C183D7F6-B498-43B3-948B-1728B52AA6E4}">
                <adec:decorative xmlns:adec="http://schemas.microsoft.com/office/drawing/2017/decorative" val="1"/>
              </a:ext>
            </a:extLst>
          </p:cNvPr>
          <p:cNvSpPr/>
          <p:nvPr/>
        </p:nvSpPr>
        <p:spPr>
          <a:xfrm>
            <a:off x="5980176" y="1952244"/>
            <a:ext cx="1325880" cy="182880"/>
          </a:xfrm>
          <a:prstGeom prst="rect">
            <a:avLst/>
          </a:prstGeom>
          <a:solidFill>
            <a:srgbClr val="FF5C6C">
              <a:alpha val="26000"/>
            </a:srgbClr>
          </a:solidFill>
          <a:ln/>
        </p:spPr>
        <p:txBody>
          <a:bodyPr/>
          <a:lstStyle/>
          <a:p>
            <a:endParaRPr lang="en-SE"/>
          </a:p>
        </p:txBody>
      </p:sp>
      <p:sp>
        <p:nvSpPr>
          <p:cNvPr id="17" name="Text 15"/>
          <p:cNvSpPr/>
          <p:nvPr/>
        </p:nvSpPr>
        <p:spPr>
          <a:xfrm>
            <a:off x="485546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101</a:t>
            </a:r>
            <a:endParaRPr lang="en-US" sz="1250" dirty="0"/>
          </a:p>
        </p:txBody>
      </p:sp>
      <p:sp>
        <p:nvSpPr>
          <p:cNvPr id="18" name="Text 16"/>
          <p:cNvSpPr/>
          <p:nvPr/>
        </p:nvSpPr>
        <p:spPr>
          <a:xfrm>
            <a:off x="653796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30</a:t>
            </a:r>
            <a:endParaRPr lang="en-US" sz="1150" dirty="0"/>
          </a:p>
        </p:txBody>
      </p:sp>
      <p:sp>
        <p:nvSpPr>
          <p:cNvPr id="19" name="depth">
            <a:extLst>
              <a:ext uri="{C183D7F6-B498-43B3-948B-1728B52AA6E4}">
                <adec:decorative xmlns:adec="http://schemas.microsoft.com/office/drawing/2017/decorative" val="1"/>
              </a:ext>
            </a:extLst>
          </p:cNvPr>
          <p:cNvSpPr/>
          <p:nvPr/>
        </p:nvSpPr>
        <p:spPr>
          <a:xfrm>
            <a:off x="6775704" y="2208276"/>
            <a:ext cx="530352" cy="182880"/>
          </a:xfrm>
          <a:prstGeom prst="rect">
            <a:avLst/>
          </a:prstGeom>
          <a:solidFill>
            <a:srgbClr val="FF5C6C">
              <a:alpha val="26000"/>
            </a:srgbClr>
          </a:solidFill>
          <a:ln/>
        </p:spPr>
        <p:txBody>
          <a:bodyPr/>
          <a:lstStyle/>
          <a:p>
            <a:endParaRPr lang="en-SE"/>
          </a:p>
        </p:txBody>
      </p:sp>
      <p:sp>
        <p:nvSpPr>
          <p:cNvPr id="20" name="Text 18"/>
          <p:cNvSpPr/>
          <p:nvPr/>
        </p:nvSpPr>
        <p:spPr>
          <a:xfrm>
            <a:off x="485546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21" name="Text 19"/>
          <p:cNvSpPr/>
          <p:nvPr/>
        </p:nvSpPr>
        <p:spPr>
          <a:xfrm>
            <a:off x="653796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22" name="rule">
            <a:extLst>
              <a:ext uri="{C183D7F6-B498-43B3-948B-1728B52AA6E4}">
                <adec:decorative xmlns:adec="http://schemas.microsoft.com/office/drawing/2017/decorative" val="1"/>
              </a:ext>
            </a:extLst>
          </p:cNvPr>
          <p:cNvSpPr/>
          <p:nvPr/>
        </p:nvSpPr>
        <p:spPr>
          <a:xfrm>
            <a:off x="4855464" y="2468880"/>
            <a:ext cx="2450592" cy="0"/>
          </a:xfrm>
          <a:prstGeom prst="line">
            <a:avLst/>
          </a:prstGeom>
          <a:noFill/>
          <a:ln w="12700">
            <a:solidFill>
              <a:srgbClr val="2C3644"/>
            </a:solidFill>
            <a:prstDash val="dash"/>
          </a:ln>
        </p:spPr>
        <p:txBody>
          <a:bodyPr/>
          <a:lstStyle/>
          <a:p>
            <a:endParaRPr lang="en-SE"/>
          </a:p>
        </p:txBody>
      </p:sp>
      <p:sp>
        <p:nvSpPr>
          <p:cNvPr id="23" name="depth">
            <a:extLst>
              <a:ext uri="{C183D7F6-B498-43B3-948B-1728B52AA6E4}">
                <adec:decorative xmlns:adec="http://schemas.microsoft.com/office/drawing/2017/decorative" val="1"/>
              </a:ext>
            </a:extLst>
          </p:cNvPr>
          <p:cNvSpPr/>
          <p:nvPr/>
        </p:nvSpPr>
        <p:spPr>
          <a:xfrm>
            <a:off x="6864096" y="2500884"/>
            <a:ext cx="441960" cy="182880"/>
          </a:xfrm>
          <a:prstGeom prst="rect">
            <a:avLst/>
          </a:prstGeom>
          <a:solidFill>
            <a:srgbClr val="35E07E">
              <a:alpha val="26000"/>
            </a:srgbClr>
          </a:solidFill>
          <a:ln/>
        </p:spPr>
        <p:txBody>
          <a:bodyPr/>
          <a:lstStyle/>
          <a:p>
            <a:endParaRPr lang="en-SE"/>
          </a:p>
        </p:txBody>
      </p:sp>
      <p:sp>
        <p:nvSpPr>
          <p:cNvPr id="24" name="Text 22"/>
          <p:cNvSpPr/>
          <p:nvPr/>
        </p:nvSpPr>
        <p:spPr>
          <a:xfrm>
            <a:off x="485546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25" name="Text 23"/>
          <p:cNvSpPr/>
          <p:nvPr/>
        </p:nvSpPr>
        <p:spPr>
          <a:xfrm>
            <a:off x="653796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26" name="depth">
            <a:extLst>
              <a:ext uri="{C183D7F6-B498-43B3-948B-1728B52AA6E4}">
                <adec:decorative xmlns:adec="http://schemas.microsoft.com/office/drawing/2017/decorative" val="1"/>
              </a:ext>
            </a:extLst>
          </p:cNvPr>
          <p:cNvSpPr/>
          <p:nvPr/>
        </p:nvSpPr>
        <p:spPr>
          <a:xfrm>
            <a:off x="6201156" y="2756916"/>
            <a:ext cx="1104900" cy="182880"/>
          </a:xfrm>
          <a:prstGeom prst="rect">
            <a:avLst/>
          </a:prstGeom>
          <a:solidFill>
            <a:srgbClr val="35E07E">
              <a:alpha val="26000"/>
            </a:srgbClr>
          </a:solidFill>
          <a:ln/>
        </p:spPr>
        <p:txBody>
          <a:bodyPr/>
          <a:lstStyle/>
          <a:p>
            <a:endParaRPr lang="en-SE"/>
          </a:p>
        </p:txBody>
      </p:sp>
      <p:sp>
        <p:nvSpPr>
          <p:cNvPr id="27" name="Text 25"/>
          <p:cNvSpPr/>
          <p:nvPr/>
        </p:nvSpPr>
        <p:spPr>
          <a:xfrm>
            <a:off x="485546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98</a:t>
            </a:r>
            <a:endParaRPr lang="en-US" sz="1250" dirty="0"/>
          </a:p>
        </p:txBody>
      </p:sp>
      <p:sp>
        <p:nvSpPr>
          <p:cNvPr id="28" name="Text 26"/>
          <p:cNvSpPr/>
          <p:nvPr/>
        </p:nvSpPr>
        <p:spPr>
          <a:xfrm>
            <a:off x="653796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25</a:t>
            </a:r>
            <a:endParaRPr lang="en-US" sz="1150" dirty="0"/>
          </a:p>
        </p:txBody>
      </p:sp>
      <p:sp>
        <p:nvSpPr>
          <p:cNvPr id="29" name="Text 27"/>
          <p:cNvSpPr/>
          <p:nvPr/>
        </p:nvSpPr>
        <p:spPr>
          <a:xfrm>
            <a:off x="4709160" y="4160520"/>
            <a:ext cx="3291840" cy="274320"/>
          </a:xfrm>
          <a:prstGeom prst="rect">
            <a:avLst/>
          </a:prstGeom>
          <a:noFill/>
          <a:ln/>
        </p:spPr>
        <p:txBody>
          <a:bodyPr wrap="square" lIns="0" tIns="0" rIns="0" bIns="0" rtlCol="0" anchor="t"/>
          <a:lstStyle/>
          <a:p>
            <a:pPr marL="0" indent="0" algn="ctr">
              <a:buNone/>
            </a:pPr>
            <a:r>
              <a:rPr lang="en-US" sz="1100" dirty="0">
                <a:solidFill>
                  <a:srgbClr val="8B96A8"/>
                </a:solidFill>
                <a:latin typeface="Segoe UI" pitchFamily="34" charset="0"/>
                <a:ea typeface="Segoe UI" pitchFamily="34" charset="-122"/>
                <a:cs typeface="Segoe UI" pitchFamily="34" charset="-120"/>
              </a:rPr>
              <a:t>Best market: buy at 100, sell at 99.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Best bid, best ask, and the bid–ask spread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15</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2651760" cy="1115568"/>
          </a:xfrm>
          <a:prstGeom prst="roundRect">
            <a:avLst>
              <a:gd name="adj" fmla="val 4918"/>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30936" y="1508760"/>
            <a:ext cx="239572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a:t>
            </a:r>
            <a:endParaRPr lang="en-US" sz="1150" dirty="0"/>
          </a:p>
        </p:txBody>
      </p:sp>
      <p:sp>
        <p:nvSpPr>
          <p:cNvPr id="8" name="Text 6"/>
          <p:cNvSpPr/>
          <p:nvPr/>
        </p:nvSpPr>
        <p:spPr>
          <a:xfrm>
            <a:off x="630936" y="1773936"/>
            <a:ext cx="1193292"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9" name="Text 7"/>
          <p:cNvSpPr/>
          <p:nvPr/>
        </p:nvSpPr>
        <p:spPr>
          <a:xfrm>
            <a:off x="224028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0" name="depth">
            <a:extLst>
              <a:ext uri="{C183D7F6-B498-43B3-948B-1728B52AA6E4}">
                <adec:decorative xmlns:adec="http://schemas.microsoft.com/office/drawing/2017/decorative" val="1"/>
              </a:ext>
            </a:extLst>
          </p:cNvPr>
          <p:cNvSpPr/>
          <p:nvPr/>
        </p:nvSpPr>
        <p:spPr>
          <a:xfrm>
            <a:off x="1773936" y="1952244"/>
            <a:ext cx="1234440" cy="182880"/>
          </a:xfrm>
          <a:prstGeom prst="rect">
            <a:avLst/>
          </a:prstGeom>
          <a:solidFill>
            <a:srgbClr val="FF5C6C">
              <a:alpha val="26000"/>
            </a:srgbClr>
          </a:solidFill>
          <a:ln/>
        </p:spPr>
        <p:txBody>
          <a:bodyPr/>
          <a:lstStyle/>
          <a:p>
            <a:endParaRPr lang="en-SE"/>
          </a:p>
        </p:txBody>
      </p:sp>
      <p:sp>
        <p:nvSpPr>
          <p:cNvPr id="11" name="Text 9"/>
          <p:cNvSpPr/>
          <p:nvPr/>
        </p:nvSpPr>
        <p:spPr>
          <a:xfrm>
            <a:off x="64922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12" name="Text 10"/>
          <p:cNvSpPr/>
          <p:nvPr/>
        </p:nvSpPr>
        <p:spPr>
          <a:xfrm>
            <a:off x="224028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13" name="rule">
            <a:extLst>
              <a:ext uri="{C183D7F6-B498-43B3-948B-1728B52AA6E4}">
                <adec:decorative xmlns:adec="http://schemas.microsoft.com/office/drawing/2017/decorative" val="1"/>
              </a:ext>
            </a:extLst>
          </p:cNvPr>
          <p:cNvSpPr/>
          <p:nvPr/>
        </p:nvSpPr>
        <p:spPr>
          <a:xfrm>
            <a:off x="649224" y="2212848"/>
            <a:ext cx="2359152" cy="0"/>
          </a:xfrm>
          <a:prstGeom prst="line">
            <a:avLst/>
          </a:prstGeom>
          <a:noFill/>
          <a:ln w="12700">
            <a:solidFill>
              <a:srgbClr val="2C3644"/>
            </a:solidFill>
            <a:prstDash val="dash"/>
          </a:ln>
        </p:spPr>
        <p:txBody>
          <a:bodyPr/>
          <a:lstStyle/>
          <a:p>
            <a:endParaRPr lang="en-SE"/>
          </a:p>
        </p:txBody>
      </p:sp>
      <p:sp>
        <p:nvSpPr>
          <p:cNvPr id="14" name="depth">
            <a:extLst>
              <a:ext uri="{C183D7F6-B498-43B3-948B-1728B52AA6E4}">
                <adec:decorative xmlns:adec="http://schemas.microsoft.com/office/drawing/2017/decorative" val="1"/>
              </a:ext>
            </a:extLst>
          </p:cNvPr>
          <p:cNvSpPr/>
          <p:nvPr/>
        </p:nvSpPr>
        <p:spPr>
          <a:xfrm>
            <a:off x="1979676" y="2244852"/>
            <a:ext cx="1028700" cy="182880"/>
          </a:xfrm>
          <a:prstGeom prst="rect">
            <a:avLst/>
          </a:prstGeom>
          <a:solidFill>
            <a:srgbClr val="35E07E">
              <a:alpha val="26000"/>
            </a:srgbClr>
          </a:solidFill>
          <a:ln/>
        </p:spPr>
        <p:txBody>
          <a:bodyPr/>
          <a:lstStyle/>
          <a:p>
            <a:endParaRPr lang="en-SE"/>
          </a:p>
        </p:txBody>
      </p:sp>
      <p:sp>
        <p:nvSpPr>
          <p:cNvPr id="15" name="Text 13"/>
          <p:cNvSpPr/>
          <p:nvPr/>
        </p:nvSpPr>
        <p:spPr>
          <a:xfrm>
            <a:off x="649224" y="2231136"/>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6" name="Text 14"/>
          <p:cNvSpPr/>
          <p:nvPr/>
        </p:nvSpPr>
        <p:spPr>
          <a:xfrm>
            <a:off x="2240280" y="2231136"/>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17" name="panel">
            <a:extLst>
              <a:ext uri="{C183D7F6-B498-43B3-948B-1728B52AA6E4}">
                <adec:decorative xmlns:adec="http://schemas.microsoft.com/office/drawing/2017/decorative" val="1"/>
              </a:ext>
            </a:extLst>
          </p:cNvPr>
          <p:cNvSpPr/>
          <p:nvPr/>
        </p:nvSpPr>
        <p:spPr>
          <a:xfrm>
            <a:off x="3566160" y="1463040"/>
            <a:ext cx="5029200" cy="914400"/>
          </a:xfrm>
          <a:prstGeom prst="roundRect">
            <a:avLst>
              <a:gd name="adj" fmla="val 6000"/>
            </a:avLst>
          </a:prstGeom>
          <a:solidFill>
            <a:srgbClr val="1B212C"/>
          </a:solidFill>
          <a:ln w="12700">
            <a:solidFill>
              <a:srgbClr val="2C3644"/>
            </a:solidFill>
            <a:prstDash val="solid"/>
          </a:ln>
        </p:spPr>
        <p:txBody>
          <a:bodyPr/>
          <a:lstStyle/>
          <a:p>
            <a:endParaRPr lang="en-SE"/>
          </a:p>
        </p:txBody>
      </p:sp>
      <p:sp>
        <p:nvSpPr>
          <p:cNvPr id="18" name="Text 16"/>
          <p:cNvSpPr/>
          <p:nvPr/>
        </p:nvSpPr>
        <p:spPr>
          <a:xfrm>
            <a:off x="3749040" y="1572768"/>
            <a:ext cx="2743200" cy="274320"/>
          </a:xfrm>
          <a:prstGeom prst="rect">
            <a:avLst/>
          </a:prstGeom>
          <a:noFill/>
          <a:ln/>
        </p:spPr>
        <p:txBody>
          <a:bodyPr wrap="square" lIns="0" tIns="0" rIns="0" bIns="0" rtlCol="0" anchor="t"/>
          <a:lstStyle/>
          <a:p>
            <a:pPr marL="0" indent="0" algn="l">
              <a:buNone/>
            </a:pPr>
            <a:r>
              <a:rPr lang="en-US" sz="1100" b="1" dirty="0">
                <a:solidFill>
                  <a:srgbClr val="FF5C6C"/>
                </a:solidFill>
                <a:latin typeface="Segoe UI" pitchFamily="34" charset="0"/>
                <a:ea typeface="Segoe UI" pitchFamily="34" charset="-122"/>
                <a:cs typeface="Segoe UI" pitchFamily="34" charset="-120"/>
              </a:rPr>
              <a:t>BEST ASK (buy here)</a:t>
            </a:r>
            <a:endParaRPr lang="en-US" sz="1100" dirty="0"/>
          </a:p>
        </p:txBody>
      </p:sp>
      <p:sp>
        <p:nvSpPr>
          <p:cNvPr id="19" name="Text 17"/>
          <p:cNvSpPr/>
          <p:nvPr/>
        </p:nvSpPr>
        <p:spPr>
          <a:xfrm>
            <a:off x="7406640" y="1536192"/>
            <a:ext cx="1005840" cy="457200"/>
          </a:xfrm>
          <a:prstGeom prst="rect">
            <a:avLst/>
          </a:prstGeom>
          <a:noFill/>
          <a:ln/>
        </p:spPr>
        <p:txBody>
          <a:bodyPr wrap="square" lIns="0" tIns="0" rIns="0" bIns="0" rtlCol="0" anchor="t"/>
          <a:lstStyle/>
          <a:p>
            <a:pPr marL="0" indent="0" algn="r">
              <a:buNone/>
            </a:pPr>
            <a:r>
              <a:rPr lang="en-US" sz="2600" b="1" dirty="0">
                <a:solidFill>
                  <a:srgbClr val="FF5C6C"/>
                </a:solidFill>
                <a:latin typeface="Consolas" pitchFamily="34" charset="0"/>
                <a:ea typeface="Consolas" pitchFamily="34" charset="-122"/>
                <a:cs typeface="Consolas" pitchFamily="34" charset="-120"/>
              </a:rPr>
              <a:t>100</a:t>
            </a:r>
            <a:endParaRPr lang="en-US" sz="2600" dirty="0"/>
          </a:p>
        </p:txBody>
      </p:sp>
      <p:sp>
        <p:nvSpPr>
          <p:cNvPr id="20" name="panel">
            <a:extLst>
              <a:ext uri="{C183D7F6-B498-43B3-948B-1728B52AA6E4}">
                <adec:decorative xmlns:adec="http://schemas.microsoft.com/office/drawing/2017/decorative" val="1"/>
              </a:ext>
            </a:extLst>
          </p:cNvPr>
          <p:cNvSpPr/>
          <p:nvPr/>
        </p:nvSpPr>
        <p:spPr>
          <a:xfrm>
            <a:off x="3566160" y="2487168"/>
            <a:ext cx="5029200" cy="914400"/>
          </a:xfrm>
          <a:prstGeom prst="roundRect">
            <a:avLst>
              <a:gd name="adj" fmla="val 6000"/>
            </a:avLst>
          </a:prstGeom>
          <a:solidFill>
            <a:srgbClr val="1B212C"/>
          </a:solidFill>
          <a:ln w="12700">
            <a:solidFill>
              <a:srgbClr val="2C3644"/>
            </a:solidFill>
            <a:prstDash val="solid"/>
          </a:ln>
        </p:spPr>
        <p:txBody>
          <a:bodyPr/>
          <a:lstStyle/>
          <a:p>
            <a:endParaRPr lang="en-SE"/>
          </a:p>
        </p:txBody>
      </p:sp>
      <p:sp>
        <p:nvSpPr>
          <p:cNvPr id="21" name="Text 19"/>
          <p:cNvSpPr/>
          <p:nvPr/>
        </p:nvSpPr>
        <p:spPr>
          <a:xfrm>
            <a:off x="3749040" y="2596896"/>
            <a:ext cx="2743200" cy="274320"/>
          </a:xfrm>
          <a:prstGeom prst="rect">
            <a:avLst/>
          </a:prstGeom>
          <a:noFill/>
          <a:ln/>
        </p:spPr>
        <p:txBody>
          <a:bodyPr wrap="square" lIns="0" tIns="0" rIns="0" bIns="0" rtlCol="0" anchor="t"/>
          <a:lstStyle/>
          <a:p>
            <a:pPr marL="0" indent="0" algn="l">
              <a:buNone/>
            </a:pPr>
            <a:r>
              <a:rPr lang="en-US" sz="1100" b="1" dirty="0">
                <a:solidFill>
                  <a:srgbClr val="35E07E"/>
                </a:solidFill>
                <a:latin typeface="Segoe UI" pitchFamily="34" charset="0"/>
                <a:ea typeface="Segoe UI" pitchFamily="34" charset="-122"/>
                <a:cs typeface="Segoe UI" pitchFamily="34" charset="-120"/>
              </a:rPr>
              <a:t>BEST BID (sell here)</a:t>
            </a:r>
            <a:endParaRPr lang="en-US" sz="1100" dirty="0"/>
          </a:p>
        </p:txBody>
      </p:sp>
      <p:sp>
        <p:nvSpPr>
          <p:cNvPr id="22" name="Text 20"/>
          <p:cNvSpPr/>
          <p:nvPr/>
        </p:nvSpPr>
        <p:spPr>
          <a:xfrm>
            <a:off x="7406640" y="2560320"/>
            <a:ext cx="1005840" cy="457200"/>
          </a:xfrm>
          <a:prstGeom prst="rect">
            <a:avLst/>
          </a:prstGeom>
          <a:noFill/>
          <a:ln/>
        </p:spPr>
        <p:txBody>
          <a:bodyPr wrap="square" lIns="0" tIns="0" rIns="0" bIns="0" rtlCol="0" anchor="t"/>
          <a:lstStyle/>
          <a:p>
            <a:pPr marL="0" indent="0" algn="r">
              <a:buNone/>
            </a:pPr>
            <a:r>
              <a:rPr lang="en-US" sz="2600" b="1" dirty="0">
                <a:solidFill>
                  <a:srgbClr val="35E07E"/>
                </a:solidFill>
                <a:latin typeface="Consolas" pitchFamily="34" charset="0"/>
                <a:ea typeface="Consolas" pitchFamily="34" charset="-122"/>
                <a:cs typeface="Consolas" pitchFamily="34" charset="-120"/>
              </a:rPr>
              <a:t>99</a:t>
            </a:r>
            <a:endParaRPr lang="en-US" sz="2600" dirty="0"/>
          </a:p>
        </p:txBody>
      </p:sp>
      <p:sp>
        <p:nvSpPr>
          <p:cNvPr id="23" name="panel">
            <a:extLst>
              <a:ext uri="{C183D7F6-B498-43B3-948B-1728B52AA6E4}">
                <adec:decorative xmlns:adec="http://schemas.microsoft.com/office/drawing/2017/decorative" val="1"/>
              </a:ext>
            </a:extLst>
          </p:cNvPr>
          <p:cNvSpPr/>
          <p:nvPr/>
        </p:nvSpPr>
        <p:spPr>
          <a:xfrm>
            <a:off x="3566160" y="3511296"/>
            <a:ext cx="5029200" cy="960120"/>
          </a:xfrm>
          <a:prstGeom prst="roundRect">
            <a:avLst>
              <a:gd name="adj" fmla="val 5714"/>
            </a:avLst>
          </a:prstGeom>
          <a:solidFill>
            <a:srgbClr val="10251C"/>
          </a:solidFill>
          <a:ln w="12700">
            <a:solidFill>
              <a:srgbClr val="3AD1E6"/>
            </a:solidFill>
            <a:prstDash val="solid"/>
          </a:ln>
        </p:spPr>
        <p:txBody>
          <a:bodyPr/>
          <a:lstStyle/>
          <a:p>
            <a:endParaRPr lang="en-SE"/>
          </a:p>
        </p:txBody>
      </p:sp>
      <p:sp>
        <p:nvSpPr>
          <p:cNvPr id="24" name="Text 22"/>
          <p:cNvSpPr/>
          <p:nvPr/>
        </p:nvSpPr>
        <p:spPr>
          <a:xfrm>
            <a:off x="3749040" y="3621024"/>
            <a:ext cx="2743200" cy="274320"/>
          </a:xfrm>
          <a:prstGeom prst="rect">
            <a:avLst/>
          </a:prstGeom>
          <a:noFill/>
          <a:ln/>
        </p:spPr>
        <p:txBody>
          <a:bodyPr wrap="square" lIns="0" tIns="0" rIns="0" bIns="0" rtlCol="0" anchor="t"/>
          <a:lstStyle/>
          <a:p>
            <a:pPr marL="0" indent="0" algn="l">
              <a:buNone/>
            </a:pPr>
            <a:r>
              <a:rPr lang="en-US" sz="1100" b="1" dirty="0">
                <a:solidFill>
                  <a:srgbClr val="3AD1E6"/>
                </a:solidFill>
                <a:latin typeface="Segoe UI" pitchFamily="34" charset="0"/>
                <a:ea typeface="Segoe UI" pitchFamily="34" charset="-122"/>
                <a:cs typeface="Segoe UI" pitchFamily="34" charset="-120"/>
              </a:rPr>
              <a:t>BID–ASK SPREAD</a:t>
            </a:r>
            <a:endParaRPr lang="en-US" sz="1100" dirty="0"/>
          </a:p>
        </p:txBody>
      </p:sp>
      <p:sp>
        <p:nvSpPr>
          <p:cNvPr id="25" name="Text 23"/>
          <p:cNvSpPr/>
          <p:nvPr/>
        </p:nvSpPr>
        <p:spPr>
          <a:xfrm>
            <a:off x="5943600" y="3611880"/>
            <a:ext cx="2468880" cy="365760"/>
          </a:xfrm>
          <a:prstGeom prst="rect">
            <a:avLst/>
          </a:prstGeom>
          <a:noFill/>
          <a:ln/>
        </p:spPr>
        <p:txBody>
          <a:bodyPr wrap="square" lIns="0" tIns="0" rIns="0" bIns="0" rtlCol="0" anchor="ctr"/>
          <a:lstStyle/>
          <a:p>
            <a:pPr marL="0" indent="0" algn="r">
              <a:buNone/>
            </a:pPr>
            <a:r>
              <a:rPr lang="en-US" sz="2000" dirty="0">
                <a:solidFill>
                  <a:srgbClr val="FF5C6C"/>
                </a:solidFill>
                <a:latin typeface="Consolas" pitchFamily="34" charset="0"/>
                <a:ea typeface="Consolas" pitchFamily="34" charset="-122"/>
                <a:cs typeface="Consolas" pitchFamily="34" charset="-120"/>
              </a:rPr>
              <a:t>100 </a:t>
            </a:r>
            <a:r>
              <a:rPr lang="en-US" sz="2000" dirty="0">
                <a:solidFill>
                  <a:srgbClr val="8B96A8"/>
                </a:solidFill>
                <a:latin typeface="Consolas" pitchFamily="34" charset="0"/>
                <a:ea typeface="Consolas" pitchFamily="34" charset="-122"/>
                <a:cs typeface="Consolas" pitchFamily="34" charset="-120"/>
              </a:rPr>
              <a:t>−</a:t>
            </a:r>
            <a:r>
              <a:rPr lang="en-US" sz="2000" dirty="0">
                <a:solidFill>
                  <a:srgbClr val="35E07E"/>
                </a:solidFill>
                <a:latin typeface="Consolas" pitchFamily="34" charset="0"/>
                <a:ea typeface="Consolas" pitchFamily="34" charset="-122"/>
                <a:cs typeface="Consolas" pitchFamily="34" charset="-120"/>
              </a:rPr>
              <a:t> 99 </a:t>
            </a:r>
            <a:r>
              <a:rPr lang="en-US" sz="2000" dirty="0">
                <a:solidFill>
                  <a:srgbClr val="8B96A8"/>
                </a:solidFill>
                <a:latin typeface="Consolas" pitchFamily="34" charset="0"/>
                <a:ea typeface="Consolas" pitchFamily="34" charset="-122"/>
                <a:cs typeface="Consolas" pitchFamily="34" charset="-120"/>
              </a:rPr>
              <a:t>= </a:t>
            </a:r>
            <a:r>
              <a:rPr lang="en-US" sz="2000" b="1" dirty="0">
                <a:solidFill>
                  <a:srgbClr val="3AD1E6"/>
                </a:solidFill>
                <a:latin typeface="Consolas" pitchFamily="34" charset="0"/>
                <a:ea typeface="Consolas" pitchFamily="34" charset="-122"/>
                <a:cs typeface="Consolas" pitchFamily="34" charset="-120"/>
              </a:rPr>
              <a:t>1</a:t>
            </a:r>
            <a:endParaRPr lang="en-US" sz="2000" dirty="0"/>
          </a:p>
        </p:txBody>
      </p:sp>
      <p:sp>
        <p:nvSpPr>
          <p:cNvPr id="26" name="Text 24"/>
          <p:cNvSpPr/>
          <p:nvPr/>
        </p:nvSpPr>
        <p:spPr>
          <a:xfrm>
            <a:off x="3749040" y="4041648"/>
            <a:ext cx="4663440" cy="365760"/>
          </a:xfrm>
          <a:prstGeom prst="rect">
            <a:avLst/>
          </a:prstGeom>
          <a:noFill/>
          <a:ln/>
        </p:spPr>
        <p:txBody>
          <a:bodyPr wrap="square" lIns="0" tIns="0" rIns="0" bIns="0" rtlCol="0" anchor="t"/>
          <a:lstStyle/>
          <a:p>
            <a:pPr marL="0" indent="0" algn="l">
              <a:lnSpc>
                <a:spcPts val="1500"/>
              </a:lnSpc>
              <a:buNone/>
            </a:pPr>
            <a:r>
              <a:rPr lang="en-US" sz="1100" dirty="0">
                <a:solidFill>
                  <a:srgbClr val="8B96A8"/>
                </a:solidFill>
                <a:latin typeface="Segoe UI" pitchFamily="34" charset="0"/>
                <a:ea typeface="Segoe UI" pitchFamily="34" charset="-122"/>
                <a:cs typeface="Segoe UI" pitchFamily="34" charset="-120"/>
              </a:rPr>
              <a:t>The gap a taker pays to cross. Tighter is better — and implied orders help tighten it.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 combination instrument: the calendar spread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16</a:t>
            </a:r>
            <a:endParaRPr lang="en-US" sz="850" dirty="0"/>
          </a:p>
        </p:txBody>
      </p:sp>
      <p:sp>
        <p:nvSpPr>
          <p:cNvPr id="6" name="Text 4"/>
          <p:cNvSpPr/>
          <p:nvPr/>
        </p:nvSpPr>
        <p:spPr>
          <a:xfrm>
            <a:off x="502920" y="1417320"/>
            <a:ext cx="8046720" cy="548640"/>
          </a:xfrm>
          <a:prstGeom prst="rect">
            <a:avLst/>
          </a:prstGeom>
          <a:noFill/>
          <a:ln/>
        </p:spPr>
        <p:txBody>
          <a:bodyPr wrap="square" lIns="0" tIns="0" rIns="0" bIns="0" rtlCol="0" anchor="t"/>
          <a:lstStyle/>
          <a:p>
            <a:pPr marL="0" indent="0" algn="l">
              <a:lnSpc>
                <a:spcPts val="2000"/>
              </a:lnSpc>
              <a:buNone/>
            </a:pPr>
            <a:r>
              <a:rPr lang="en-US" sz="1450" dirty="0">
                <a:solidFill>
                  <a:srgbClr val="D8DEE9"/>
                </a:solidFill>
                <a:latin typeface="Segoe UI" pitchFamily="34" charset="0"/>
                <a:ea typeface="Segoe UI" pitchFamily="34" charset="-122"/>
                <a:cs typeface="Segoe UI" pitchFamily="34" charset="-120"/>
              </a:rPr>
              <a:t>A spread is ONE tradeable instrument made of TWO legs. Buying it does both trades at once, in fixed proportion.</a:t>
            </a:r>
            <a:endParaRPr lang="en-US" sz="1450" dirty="0"/>
          </a:p>
        </p:txBody>
      </p:sp>
      <p:sp>
        <p:nvSpPr>
          <p:cNvPr id="7" name="panel">
            <a:extLst>
              <a:ext uri="{C183D7F6-B498-43B3-948B-1728B52AA6E4}">
                <adec:decorative xmlns:adec="http://schemas.microsoft.com/office/drawing/2017/decorative" val="1"/>
              </a:ext>
            </a:extLst>
          </p:cNvPr>
          <p:cNvSpPr/>
          <p:nvPr/>
        </p:nvSpPr>
        <p:spPr>
          <a:xfrm>
            <a:off x="502920" y="2148840"/>
            <a:ext cx="3931920" cy="2286000"/>
          </a:xfrm>
          <a:prstGeom prst="roundRect">
            <a:avLst>
              <a:gd name="adj" fmla="val 2400"/>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267712"/>
            <a:ext cx="2743200" cy="228600"/>
          </a:xfrm>
          <a:prstGeom prst="rect">
            <a:avLst/>
          </a:prstGeom>
          <a:noFill/>
          <a:ln/>
        </p:spPr>
        <p:txBody>
          <a:bodyPr wrap="square" lIns="0" tIns="0" rIns="0" bIns="0" rtlCol="0" anchor="t"/>
          <a:lstStyle/>
          <a:p>
            <a:pPr marL="0" indent="0" algn="l">
              <a:buNone/>
            </a:pPr>
            <a:r>
              <a:rPr lang="en-US" sz="1000" b="1" kern="0" spc="200" dirty="0">
                <a:solidFill>
                  <a:srgbClr val="35E07E"/>
                </a:solidFill>
                <a:latin typeface="Segoe UI" pitchFamily="34" charset="0"/>
                <a:ea typeface="Segoe UI" pitchFamily="34" charset="-122"/>
                <a:cs typeface="Segoe UI" pitchFamily="34" charset="-120"/>
              </a:rPr>
              <a:t>DEFINITION</a:t>
            </a:r>
            <a:endParaRPr lang="en-US" sz="1000" dirty="0"/>
          </a:p>
        </p:txBody>
      </p:sp>
      <p:sp>
        <p:nvSpPr>
          <p:cNvPr id="9" name="Text 7"/>
          <p:cNvSpPr/>
          <p:nvPr/>
        </p:nvSpPr>
        <p:spPr>
          <a:xfrm>
            <a:off x="640080" y="2578608"/>
            <a:ext cx="365760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onsolas" pitchFamily="34" charset="0"/>
                <a:ea typeface="Consolas" pitchFamily="34" charset="-122"/>
                <a:cs typeface="Consolas" pitchFamily="34" charset="-120"/>
              </a:rPr>
              <a:t>Spread = March − June</a:t>
            </a:r>
            <a:endParaRPr lang="en-US" sz="1800" dirty="0"/>
          </a:p>
        </p:txBody>
      </p:sp>
      <p:sp>
        <p:nvSpPr>
          <p:cNvPr id="10" name="Text 8"/>
          <p:cNvSpPr/>
          <p:nvPr/>
        </p:nvSpPr>
        <p:spPr>
          <a:xfrm>
            <a:off x="685800" y="3063240"/>
            <a:ext cx="3657600" cy="274320"/>
          </a:xfrm>
          <a:prstGeom prst="rect">
            <a:avLst/>
          </a:prstGeom>
          <a:noFill/>
          <a:ln/>
        </p:spPr>
        <p:txBody>
          <a:bodyPr wrap="square" lIns="0" tIns="0" rIns="0" bIns="0" rtlCol="0" anchor="t"/>
          <a:lstStyle/>
          <a:p>
            <a:pPr marL="0" indent="0" algn="l">
              <a:buNone/>
            </a:pPr>
            <a:r>
              <a:rPr lang="en-US" sz="1300" b="1" dirty="0">
                <a:solidFill>
                  <a:srgbClr val="35E07E"/>
                </a:solidFill>
                <a:latin typeface="Segoe UI" pitchFamily="34" charset="0"/>
                <a:ea typeface="Segoe UI" pitchFamily="34" charset="-122"/>
                <a:cs typeface="Segoe UI" pitchFamily="34" charset="-120"/>
              </a:rPr>
              <a:t>BUY the spread</a:t>
            </a:r>
            <a:endParaRPr lang="en-US" sz="1300" dirty="0"/>
          </a:p>
        </p:txBody>
      </p:sp>
      <p:sp>
        <p:nvSpPr>
          <p:cNvPr id="11" name="Text 9"/>
          <p:cNvSpPr/>
          <p:nvPr/>
        </p:nvSpPr>
        <p:spPr>
          <a:xfrm>
            <a:off x="640080" y="3346704"/>
            <a:ext cx="3749040" cy="365760"/>
          </a:xfrm>
          <a:prstGeom prst="rect">
            <a:avLst/>
          </a:prstGeom>
          <a:noFill/>
          <a:ln/>
        </p:spPr>
        <p:txBody>
          <a:bodyPr wrap="square" lIns="0" tIns="0" rIns="0" bIns="0" rtlCol="0" anchor="ctr"/>
          <a:lstStyle/>
          <a:p>
            <a:pPr marL="0" indent="0" algn="l">
              <a:buNone/>
            </a:pPr>
            <a:r>
              <a:rPr lang="en-US" sz="1350" dirty="0">
                <a:solidFill>
                  <a:srgbClr val="D8DEE9"/>
                </a:solidFill>
                <a:latin typeface="Consolas" pitchFamily="34" charset="0"/>
                <a:ea typeface="Consolas" pitchFamily="34" charset="-122"/>
                <a:cs typeface="Consolas" pitchFamily="34" charset="-120"/>
              </a:rPr>
              <a:t>= BUY March  +  SELL June</a:t>
            </a:r>
            <a:endParaRPr lang="en-US" sz="1350" dirty="0"/>
          </a:p>
        </p:txBody>
      </p:sp>
      <p:sp>
        <p:nvSpPr>
          <p:cNvPr id="12" name="Text 10"/>
          <p:cNvSpPr/>
          <p:nvPr/>
        </p:nvSpPr>
        <p:spPr>
          <a:xfrm>
            <a:off x="685800" y="3767328"/>
            <a:ext cx="3657600" cy="274320"/>
          </a:xfrm>
          <a:prstGeom prst="rect">
            <a:avLst/>
          </a:prstGeom>
          <a:noFill/>
          <a:ln/>
        </p:spPr>
        <p:txBody>
          <a:bodyPr wrap="square" lIns="0" tIns="0" rIns="0" bIns="0" rtlCol="0" anchor="t"/>
          <a:lstStyle/>
          <a:p>
            <a:pPr marL="0" indent="0" algn="l">
              <a:buNone/>
            </a:pPr>
            <a:r>
              <a:rPr lang="en-US" sz="1300" b="1" dirty="0">
                <a:solidFill>
                  <a:srgbClr val="FF5C6C"/>
                </a:solidFill>
                <a:latin typeface="Segoe UI" pitchFamily="34" charset="0"/>
                <a:ea typeface="Segoe UI" pitchFamily="34" charset="-122"/>
                <a:cs typeface="Segoe UI" pitchFamily="34" charset="-120"/>
              </a:rPr>
              <a:t>SELL the spread</a:t>
            </a:r>
            <a:endParaRPr lang="en-US" sz="1300" dirty="0"/>
          </a:p>
        </p:txBody>
      </p:sp>
      <p:sp>
        <p:nvSpPr>
          <p:cNvPr id="13" name="Text 11"/>
          <p:cNvSpPr/>
          <p:nvPr/>
        </p:nvSpPr>
        <p:spPr>
          <a:xfrm>
            <a:off x="640080" y="4050792"/>
            <a:ext cx="3749040" cy="365760"/>
          </a:xfrm>
          <a:prstGeom prst="rect">
            <a:avLst/>
          </a:prstGeom>
          <a:noFill/>
          <a:ln/>
        </p:spPr>
        <p:txBody>
          <a:bodyPr wrap="square" lIns="0" tIns="0" rIns="0" bIns="0" rtlCol="0" anchor="ctr"/>
          <a:lstStyle/>
          <a:p>
            <a:pPr marL="0" indent="0" algn="l">
              <a:buNone/>
            </a:pPr>
            <a:r>
              <a:rPr lang="en-US" sz="1350" dirty="0">
                <a:solidFill>
                  <a:srgbClr val="D8DEE9"/>
                </a:solidFill>
                <a:latin typeface="Consolas" pitchFamily="34" charset="0"/>
                <a:ea typeface="Consolas" pitchFamily="34" charset="-122"/>
                <a:cs typeface="Consolas" pitchFamily="34" charset="-120"/>
              </a:rPr>
              <a:t>= SELL March  +  BUY June</a:t>
            </a:r>
            <a:endParaRPr lang="en-US" sz="1350" dirty="0"/>
          </a:p>
        </p:txBody>
      </p:sp>
      <p:sp>
        <p:nvSpPr>
          <p:cNvPr id="14" name="panel">
            <a:extLst>
              <a:ext uri="{C183D7F6-B498-43B3-948B-1728B52AA6E4}">
                <adec:decorative xmlns:adec="http://schemas.microsoft.com/office/drawing/2017/decorative" val="1"/>
              </a:ext>
            </a:extLst>
          </p:cNvPr>
          <p:cNvSpPr/>
          <p:nvPr/>
        </p:nvSpPr>
        <p:spPr>
          <a:xfrm>
            <a:off x="4663440" y="2148840"/>
            <a:ext cx="3931920" cy="2286000"/>
          </a:xfrm>
          <a:prstGeom prst="roundRect">
            <a:avLst>
              <a:gd name="adj" fmla="val 2400"/>
            </a:avLst>
          </a:prstGeom>
          <a:solidFill>
            <a:srgbClr val="1B212C"/>
          </a:solidFill>
          <a:ln w="12700">
            <a:solidFill>
              <a:srgbClr val="2C3644"/>
            </a:solidFill>
            <a:prstDash val="solid"/>
          </a:ln>
        </p:spPr>
        <p:txBody>
          <a:bodyPr/>
          <a:lstStyle/>
          <a:p>
            <a:endParaRPr lang="en-SE"/>
          </a:p>
        </p:txBody>
      </p:sp>
      <p:sp>
        <p:nvSpPr>
          <p:cNvPr id="15" name="Text 13"/>
          <p:cNvSpPr/>
          <p:nvPr/>
        </p:nvSpPr>
        <p:spPr>
          <a:xfrm>
            <a:off x="4846320" y="2267712"/>
            <a:ext cx="3291840" cy="228600"/>
          </a:xfrm>
          <a:prstGeom prst="rect">
            <a:avLst/>
          </a:prstGeom>
          <a:noFill/>
          <a:ln/>
        </p:spPr>
        <p:txBody>
          <a:bodyPr wrap="square" lIns="0" tIns="0" rIns="0" bIns="0" rtlCol="0" anchor="t"/>
          <a:lstStyle/>
          <a:p>
            <a:pPr marL="0" indent="0" algn="l">
              <a:buNone/>
            </a:pPr>
            <a:r>
              <a:rPr lang="en-US" sz="1000" b="1" kern="0" spc="200" dirty="0">
                <a:solidFill>
                  <a:srgbClr val="3AD1E6"/>
                </a:solidFill>
                <a:latin typeface="Segoe UI" pitchFamily="34" charset="0"/>
                <a:ea typeface="Segoe UI" pitchFamily="34" charset="-122"/>
                <a:cs typeface="Segoe UI" pitchFamily="34" charset="-120"/>
              </a:rPr>
              <a:t>ONE PRICE, TWO LEGS</a:t>
            </a:r>
            <a:endParaRPr lang="en-US" sz="1000" dirty="0"/>
          </a:p>
        </p:txBody>
      </p:sp>
      <p:sp>
        <p:nvSpPr>
          <p:cNvPr id="16" name="chip">
            <a:extLst>
              <a:ext uri="{C183D7F6-B498-43B3-948B-1728B52AA6E4}">
                <adec:decorative xmlns:adec="http://schemas.microsoft.com/office/drawing/2017/decorative" val="1"/>
              </a:ext>
            </a:extLst>
          </p:cNvPr>
          <p:cNvSpPr/>
          <p:nvPr/>
        </p:nvSpPr>
        <p:spPr>
          <a:xfrm>
            <a:off x="4892040" y="2606040"/>
            <a:ext cx="1554480" cy="548640"/>
          </a:xfrm>
          <a:prstGeom prst="roundRect">
            <a:avLst>
              <a:gd name="adj" fmla="val 8333"/>
            </a:avLst>
          </a:prstGeom>
          <a:solidFill>
            <a:srgbClr val="222B39"/>
          </a:solidFill>
          <a:ln w="12700">
            <a:solidFill>
              <a:srgbClr val="1E7D48"/>
            </a:solidFill>
            <a:prstDash val="solid"/>
          </a:ln>
        </p:spPr>
        <p:txBody>
          <a:bodyPr/>
          <a:lstStyle/>
          <a:p>
            <a:endParaRPr lang="en-SE"/>
          </a:p>
        </p:txBody>
      </p:sp>
      <p:sp>
        <p:nvSpPr>
          <p:cNvPr id="17" name="Text 15"/>
          <p:cNvSpPr/>
          <p:nvPr/>
        </p:nvSpPr>
        <p:spPr>
          <a:xfrm>
            <a:off x="4892040" y="2606040"/>
            <a:ext cx="1554480" cy="548640"/>
          </a:xfrm>
          <a:prstGeom prst="rect">
            <a:avLst/>
          </a:prstGeom>
          <a:noFill/>
          <a:ln/>
        </p:spPr>
        <p:txBody>
          <a:bodyPr wrap="square" lIns="0" tIns="0" rIns="0" bIns="0" rtlCol="0" anchor="ctr"/>
          <a:lstStyle/>
          <a:p>
            <a:pPr marL="0" indent="0" algn="ctr">
              <a:buNone/>
            </a:pPr>
            <a:r>
              <a:rPr lang="en-US" sz="1100" b="1" dirty="0">
                <a:solidFill>
                  <a:srgbClr val="35E07E"/>
                </a:solidFill>
                <a:latin typeface="Consolas" pitchFamily="34" charset="0"/>
                <a:ea typeface="Consolas" pitchFamily="34" charset="-122"/>
                <a:cs typeface="Consolas" pitchFamily="34" charset="-120"/>
              </a:rPr>
              <a:t>March leg</a:t>
            </a:r>
            <a:endParaRPr lang="en-US" sz="1100" dirty="0"/>
          </a:p>
        </p:txBody>
      </p:sp>
      <p:sp>
        <p:nvSpPr>
          <p:cNvPr id="18" name="chip">
            <a:extLst>
              <a:ext uri="{C183D7F6-B498-43B3-948B-1728B52AA6E4}">
                <adec:decorative xmlns:adec="http://schemas.microsoft.com/office/drawing/2017/decorative" val="1"/>
              </a:ext>
            </a:extLst>
          </p:cNvPr>
          <p:cNvSpPr/>
          <p:nvPr/>
        </p:nvSpPr>
        <p:spPr>
          <a:xfrm>
            <a:off x="6903720" y="2606040"/>
            <a:ext cx="1554480" cy="548640"/>
          </a:xfrm>
          <a:prstGeom prst="roundRect">
            <a:avLst>
              <a:gd name="adj" fmla="val 8333"/>
            </a:avLst>
          </a:prstGeom>
          <a:solidFill>
            <a:srgbClr val="222B39"/>
          </a:solidFill>
          <a:ln w="12700">
            <a:solidFill>
              <a:srgbClr val="2C3644"/>
            </a:solidFill>
            <a:prstDash val="solid"/>
          </a:ln>
        </p:spPr>
        <p:txBody>
          <a:bodyPr/>
          <a:lstStyle/>
          <a:p>
            <a:endParaRPr lang="en-SE"/>
          </a:p>
        </p:txBody>
      </p:sp>
      <p:sp>
        <p:nvSpPr>
          <p:cNvPr id="19" name="Text 17"/>
          <p:cNvSpPr/>
          <p:nvPr/>
        </p:nvSpPr>
        <p:spPr>
          <a:xfrm>
            <a:off x="6903720" y="2606040"/>
            <a:ext cx="1554480" cy="548640"/>
          </a:xfrm>
          <a:prstGeom prst="rect">
            <a:avLst/>
          </a:prstGeom>
          <a:noFill/>
          <a:ln/>
        </p:spPr>
        <p:txBody>
          <a:bodyPr wrap="square" lIns="0" tIns="0" rIns="0" bIns="0" rtlCol="0" anchor="ctr"/>
          <a:lstStyle/>
          <a:p>
            <a:pPr marL="0" indent="0" algn="ctr">
              <a:buNone/>
            </a:pPr>
            <a:r>
              <a:rPr lang="en-US" sz="1100" b="1" dirty="0">
                <a:solidFill>
                  <a:srgbClr val="FF5C6C"/>
                </a:solidFill>
                <a:latin typeface="Consolas" pitchFamily="34" charset="0"/>
                <a:ea typeface="Consolas" pitchFamily="34" charset="-122"/>
                <a:cs typeface="Consolas" pitchFamily="34" charset="-120"/>
              </a:rPr>
              <a:t>June leg</a:t>
            </a:r>
            <a:endParaRPr lang="en-US" sz="1100" dirty="0"/>
          </a:p>
        </p:txBody>
      </p:sp>
      <p:sp>
        <p:nvSpPr>
          <p:cNvPr id="20" name="arrow">
            <a:extLst>
              <a:ext uri="{C183D7F6-B498-43B3-948B-1728B52AA6E4}">
                <adec:decorative xmlns:adec="http://schemas.microsoft.com/office/drawing/2017/decorative" val="1"/>
              </a:ext>
            </a:extLst>
          </p:cNvPr>
          <p:cNvSpPr/>
          <p:nvPr/>
        </p:nvSpPr>
        <p:spPr>
          <a:xfrm>
            <a:off x="6446520" y="2880360"/>
            <a:ext cx="457200" cy="0"/>
          </a:xfrm>
          <a:prstGeom prst="line">
            <a:avLst/>
          </a:prstGeom>
          <a:noFill/>
          <a:ln w="25400">
            <a:solidFill>
              <a:srgbClr val="8B96A8"/>
            </a:solidFill>
            <a:prstDash val="solid"/>
            <a:headEnd type="triangle"/>
            <a:tailEnd type="triangle"/>
          </a:ln>
        </p:spPr>
        <p:txBody>
          <a:bodyPr/>
          <a:lstStyle/>
          <a:p>
            <a:endParaRPr lang="en-SE"/>
          </a:p>
        </p:txBody>
      </p:sp>
      <p:sp>
        <p:nvSpPr>
          <p:cNvPr id="21" name="combo">
            <a:extLst>
              <a:ext uri="{C183D7F6-B498-43B3-948B-1728B52AA6E4}">
                <adec:decorative xmlns:adec="http://schemas.microsoft.com/office/drawing/2017/decorative" val="1"/>
              </a:ext>
            </a:extLst>
          </p:cNvPr>
          <p:cNvSpPr/>
          <p:nvPr/>
        </p:nvSpPr>
        <p:spPr>
          <a:xfrm>
            <a:off x="6172200" y="3429000"/>
            <a:ext cx="1737360" cy="640080"/>
          </a:xfrm>
          <a:prstGeom prst="ellipse">
            <a:avLst/>
          </a:prstGeom>
          <a:solidFill>
            <a:srgbClr val="10251C"/>
          </a:solidFill>
          <a:ln w="19050">
            <a:solidFill>
              <a:srgbClr val="3AD1E6"/>
            </a:solidFill>
            <a:prstDash val="solid"/>
          </a:ln>
        </p:spPr>
        <p:txBody>
          <a:bodyPr/>
          <a:lstStyle/>
          <a:p>
            <a:endParaRPr lang="en-SE"/>
          </a:p>
        </p:txBody>
      </p:sp>
      <p:sp>
        <p:nvSpPr>
          <p:cNvPr id="22" name="Text 20"/>
          <p:cNvSpPr/>
          <p:nvPr/>
        </p:nvSpPr>
        <p:spPr>
          <a:xfrm>
            <a:off x="6172200" y="3429000"/>
            <a:ext cx="1737360" cy="640080"/>
          </a:xfrm>
          <a:prstGeom prst="rect">
            <a:avLst/>
          </a:prstGeom>
          <a:noFill/>
          <a:ln/>
        </p:spPr>
        <p:txBody>
          <a:bodyPr wrap="square" lIns="0" tIns="0" rIns="0" bIns="0" rtlCol="0" anchor="ctr"/>
          <a:lstStyle/>
          <a:p>
            <a:pPr marL="0" indent="0" algn="ctr">
              <a:buNone/>
            </a:pPr>
            <a:r>
              <a:rPr lang="en-US" sz="1300" b="1" dirty="0">
                <a:solidFill>
                  <a:srgbClr val="3AD1E6"/>
                </a:solidFill>
                <a:latin typeface="Consolas" pitchFamily="34" charset="0"/>
                <a:ea typeface="Consolas" pitchFamily="34" charset="-122"/>
                <a:cs typeface="Consolas" pitchFamily="34" charset="-120"/>
              </a:rPr>
              <a:t>Spread price</a:t>
            </a:r>
            <a:endParaRPr lang="en-US" sz="1300" dirty="0"/>
          </a:p>
        </p:txBody>
      </p:sp>
      <p:sp>
        <p:nvSpPr>
          <p:cNvPr id="23" name="arrow">
            <a:extLst>
              <a:ext uri="{C183D7F6-B498-43B3-948B-1728B52AA6E4}">
                <adec:decorative xmlns:adec="http://schemas.microsoft.com/office/drawing/2017/decorative" val="1"/>
              </a:ext>
            </a:extLst>
          </p:cNvPr>
          <p:cNvSpPr/>
          <p:nvPr/>
        </p:nvSpPr>
        <p:spPr>
          <a:xfrm>
            <a:off x="5715000" y="3200400"/>
            <a:ext cx="0" cy="201168"/>
          </a:xfrm>
          <a:prstGeom prst="line">
            <a:avLst/>
          </a:prstGeom>
          <a:noFill/>
          <a:ln w="19050">
            <a:solidFill>
              <a:srgbClr val="8B96A8"/>
            </a:solidFill>
            <a:prstDash val="solid"/>
            <a:tailEnd type="triangle"/>
          </a:ln>
        </p:spPr>
        <p:txBody>
          <a:bodyPr/>
          <a:lstStyle/>
          <a:p>
            <a:endParaRPr lang="en-SE"/>
          </a:p>
        </p:txBody>
      </p:sp>
      <p:sp>
        <p:nvSpPr>
          <p:cNvPr id="24" name="arrow">
            <a:extLst>
              <a:ext uri="{C183D7F6-B498-43B3-948B-1728B52AA6E4}">
                <adec:decorative xmlns:adec="http://schemas.microsoft.com/office/drawing/2017/decorative" val="1"/>
              </a:ext>
            </a:extLst>
          </p:cNvPr>
          <p:cNvSpPr/>
          <p:nvPr/>
        </p:nvSpPr>
        <p:spPr>
          <a:xfrm>
            <a:off x="7543800" y="3200400"/>
            <a:ext cx="0" cy="201168"/>
          </a:xfrm>
          <a:prstGeom prst="line">
            <a:avLst/>
          </a:prstGeom>
          <a:noFill/>
          <a:ln w="19050">
            <a:solidFill>
              <a:srgbClr val="8B96A8"/>
            </a:solidFill>
            <a:prstDash val="solid"/>
            <a:tailEnd type="triangle"/>
          </a:ln>
        </p:spPr>
        <p:txBody>
          <a:bodyPr/>
          <a:lstStyle/>
          <a:p>
            <a:endParaRPr lang="en-S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Why traders quote spreads directly</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5</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17</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554480"/>
            <a:ext cx="2606040" cy="2286000"/>
          </a:xfrm>
          <a:prstGeom prst="roundRect">
            <a:avLst>
              <a:gd name="adj" fmla="val 2400"/>
            </a:avLst>
          </a:prstGeom>
          <a:solidFill>
            <a:srgbClr val="1B212C"/>
          </a:solidFill>
          <a:ln w="12700">
            <a:solidFill>
              <a:srgbClr val="2C3644"/>
            </a:solidFill>
            <a:prstDash val="solid"/>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828800"/>
            <a:ext cx="201168" cy="201168"/>
          </a:xfrm>
          <a:prstGeom prst="ellipse">
            <a:avLst/>
          </a:prstGeom>
          <a:solidFill>
            <a:srgbClr val="35E07E"/>
          </a:solidFill>
          <a:ln/>
        </p:spPr>
        <p:txBody>
          <a:bodyPr/>
          <a:lstStyle/>
          <a:p>
            <a:endParaRPr lang="en-SE"/>
          </a:p>
        </p:txBody>
      </p:sp>
      <p:sp>
        <p:nvSpPr>
          <p:cNvPr id="8" name="Text 6"/>
          <p:cNvSpPr/>
          <p:nvPr/>
        </p:nvSpPr>
        <p:spPr>
          <a:xfrm>
            <a:off x="731520" y="2212848"/>
            <a:ext cx="2148840" cy="365760"/>
          </a:xfrm>
          <a:prstGeom prst="rect">
            <a:avLst/>
          </a:prstGeom>
          <a:noFill/>
          <a:ln/>
        </p:spPr>
        <p:txBody>
          <a:bodyPr wrap="square" lIns="0" tIns="0" rIns="0" bIns="0" rtlCol="0" anchor="t"/>
          <a:lstStyle/>
          <a:p>
            <a:pPr marL="0" indent="0" algn="l">
              <a:buNone/>
            </a:pPr>
            <a:r>
              <a:rPr lang="en-US" sz="1600" b="1" dirty="0">
                <a:solidFill>
                  <a:srgbClr val="FFFFFF"/>
                </a:solidFill>
                <a:latin typeface="Segoe UI" pitchFamily="34" charset="0"/>
                <a:ea typeface="Segoe UI" pitchFamily="34" charset="-122"/>
                <a:cs typeface="Segoe UI" pitchFamily="34" charset="-120"/>
              </a:rPr>
              <a:t>Roll positions</a:t>
            </a:r>
            <a:endParaRPr lang="en-US" sz="1600" dirty="0"/>
          </a:p>
        </p:txBody>
      </p:sp>
      <p:sp>
        <p:nvSpPr>
          <p:cNvPr id="9" name="Text 7"/>
          <p:cNvSpPr/>
          <p:nvPr/>
        </p:nvSpPr>
        <p:spPr>
          <a:xfrm>
            <a:off x="731520" y="2651760"/>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Move exposure from an expiring month to the next in a single trade.</a:t>
            </a:r>
            <a:endParaRPr lang="en-US" sz="1250" dirty="0"/>
          </a:p>
        </p:txBody>
      </p:sp>
      <p:sp>
        <p:nvSpPr>
          <p:cNvPr id="10" name="panel">
            <a:extLst>
              <a:ext uri="{C183D7F6-B498-43B3-948B-1728B52AA6E4}">
                <adec:decorative xmlns:adec="http://schemas.microsoft.com/office/drawing/2017/decorative" val="1"/>
              </a:ext>
            </a:extLst>
          </p:cNvPr>
          <p:cNvSpPr/>
          <p:nvPr/>
        </p:nvSpPr>
        <p:spPr>
          <a:xfrm>
            <a:off x="3291840" y="1554480"/>
            <a:ext cx="2606040" cy="2286000"/>
          </a:xfrm>
          <a:prstGeom prst="roundRect">
            <a:avLst>
              <a:gd name="adj" fmla="val 2400"/>
            </a:avLst>
          </a:prstGeom>
          <a:solidFill>
            <a:srgbClr val="1B212C"/>
          </a:solidFill>
          <a:ln w="12700">
            <a:solidFill>
              <a:srgbClr val="2C3644"/>
            </a:solidFill>
            <a:prstDash val="solid"/>
          </a:ln>
        </p:spPr>
        <p:txBody>
          <a:bodyPr/>
          <a:lstStyle/>
          <a:p>
            <a:endParaRPr lang="en-SE"/>
          </a:p>
        </p:txBody>
      </p:sp>
      <p:sp>
        <p:nvSpPr>
          <p:cNvPr id="11" name="dot">
            <a:extLst>
              <a:ext uri="{C183D7F6-B498-43B3-948B-1728B52AA6E4}">
                <adec:decorative xmlns:adec="http://schemas.microsoft.com/office/drawing/2017/decorative" val="1"/>
              </a:ext>
            </a:extLst>
          </p:cNvPr>
          <p:cNvSpPr/>
          <p:nvPr/>
        </p:nvSpPr>
        <p:spPr>
          <a:xfrm>
            <a:off x="3520440" y="1828800"/>
            <a:ext cx="201168" cy="201168"/>
          </a:xfrm>
          <a:prstGeom prst="ellipse">
            <a:avLst/>
          </a:prstGeom>
          <a:solidFill>
            <a:srgbClr val="3AD1E6"/>
          </a:solidFill>
          <a:ln/>
        </p:spPr>
        <p:txBody>
          <a:bodyPr/>
          <a:lstStyle/>
          <a:p>
            <a:endParaRPr lang="en-SE"/>
          </a:p>
        </p:txBody>
      </p:sp>
      <p:sp>
        <p:nvSpPr>
          <p:cNvPr id="12" name="Text 10"/>
          <p:cNvSpPr/>
          <p:nvPr/>
        </p:nvSpPr>
        <p:spPr>
          <a:xfrm>
            <a:off x="3520440" y="2212848"/>
            <a:ext cx="2148840" cy="365760"/>
          </a:xfrm>
          <a:prstGeom prst="rect">
            <a:avLst/>
          </a:prstGeom>
          <a:noFill/>
          <a:ln/>
        </p:spPr>
        <p:txBody>
          <a:bodyPr wrap="square" lIns="0" tIns="0" rIns="0" bIns="0" rtlCol="0" anchor="t"/>
          <a:lstStyle/>
          <a:p>
            <a:pPr marL="0" indent="0" algn="l">
              <a:buNone/>
            </a:pPr>
            <a:r>
              <a:rPr lang="en-US" sz="1600" b="1" dirty="0">
                <a:solidFill>
                  <a:srgbClr val="FFFFFF"/>
                </a:solidFill>
                <a:latin typeface="Segoe UI" pitchFamily="34" charset="0"/>
                <a:ea typeface="Segoe UI" pitchFamily="34" charset="-122"/>
                <a:cs typeface="Segoe UI" pitchFamily="34" charset="-120"/>
              </a:rPr>
              <a:t>Trade relationships</a:t>
            </a:r>
            <a:endParaRPr lang="en-US" sz="1600" dirty="0"/>
          </a:p>
        </p:txBody>
      </p:sp>
      <p:sp>
        <p:nvSpPr>
          <p:cNvPr id="13" name="Text 11"/>
          <p:cNvSpPr/>
          <p:nvPr/>
        </p:nvSpPr>
        <p:spPr>
          <a:xfrm>
            <a:off x="3520440" y="2651760"/>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Bet on the gap between months, not the outright direction of the market.</a:t>
            </a:r>
            <a:endParaRPr lang="en-US" sz="1250" dirty="0"/>
          </a:p>
        </p:txBody>
      </p:sp>
      <p:sp>
        <p:nvSpPr>
          <p:cNvPr id="14" name="panel">
            <a:extLst>
              <a:ext uri="{C183D7F6-B498-43B3-948B-1728B52AA6E4}">
                <adec:decorative xmlns:adec="http://schemas.microsoft.com/office/drawing/2017/decorative" val="1"/>
              </a:ext>
            </a:extLst>
          </p:cNvPr>
          <p:cNvSpPr/>
          <p:nvPr/>
        </p:nvSpPr>
        <p:spPr>
          <a:xfrm>
            <a:off x="6080760" y="1554480"/>
            <a:ext cx="2606040" cy="2286000"/>
          </a:xfrm>
          <a:prstGeom prst="roundRect">
            <a:avLst>
              <a:gd name="adj" fmla="val 2400"/>
            </a:avLst>
          </a:prstGeom>
          <a:solidFill>
            <a:srgbClr val="1B212C"/>
          </a:solidFill>
          <a:ln w="12700">
            <a:solidFill>
              <a:srgbClr val="2C3644"/>
            </a:solidFill>
            <a:prstDash val="solid"/>
          </a:ln>
        </p:spPr>
        <p:txBody>
          <a:bodyPr/>
          <a:lstStyle/>
          <a:p>
            <a:endParaRPr lang="en-SE"/>
          </a:p>
        </p:txBody>
      </p:sp>
      <p:sp>
        <p:nvSpPr>
          <p:cNvPr id="15" name="dot">
            <a:extLst>
              <a:ext uri="{C183D7F6-B498-43B3-948B-1728B52AA6E4}">
                <adec:decorative xmlns:adec="http://schemas.microsoft.com/office/drawing/2017/decorative" val="1"/>
              </a:ext>
            </a:extLst>
          </p:cNvPr>
          <p:cNvSpPr/>
          <p:nvPr/>
        </p:nvSpPr>
        <p:spPr>
          <a:xfrm>
            <a:off x="6309360" y="1828800"/>
            <a:ext cx="201168" cy="201168"/>
          </a:xfrm>
          <a:prstGeom prst="ellipse">
            <a:avLst/>
          </a:prstGeom>
          <a:solidFill>
            <a:srgbClr val="FBB24B"/>
          </a:solidFill>
          <a:ln/>
        </p:spPr>
        <p:txBody>
          <a:bodyPr/>
          <a:lstStyle/>
          <a:p>
            <a:endParaRPr lang="en-SE"/>
          </a:p>
        </p:txBody>
      </p:sp>
      <p:sp>
        <p:nvSpPr>
          <p:cNvPr id="16" name="Text 14"/>
          <p:cNvSpPr/>
          <p:nvPr/>
        </p:nvSpPr>
        <p:spPr>
          <a:xfrm>
            <a:off x="6309360" y="2212848"/>
            <a:ext cx="2148840" cy="365760"/>
          </a:xfrm>
          <a:prstGeom prst="rect">
            <a:avLst/>
          </a:prstGeom>
          <a:noFill/>
          <a:ln/>
        </p:spPr>
        <p:txBody>
          <a:bodyPr wrap="square" lIns="0" tIns="0" rIns="0" bIns="0" rtlCol="0" anchor="t"/>
          <a:lstStyle/>
          <a:p>
            <a:pPr marL="0" indent="0" algn="l">
              <a:buNone/>
            </a:pPr>
            <a:r>
              <a:rPr lang="en-US" sz="1600" b="1" dirty="0">
                <a:solidFill>
                  <a:srgbClr val="FFFFFF"/>
                </a:solidFill>
                <a:latin typeface="Segoe UI" pitchFamily="34" charset="0"/>
                <a:ea typeface="Segoe UI" pitchFamily="34" charset="-122"/>
                <a:cs typeface="Segoe UI" pitchFamily="34" charset="-120"/>
              </a:rPr>
              <a:t>Lower leg risk</a:t>
            </a:r>
            <a:endParaRPr lang="en-US" sz="1600" dirty="0"/>
          </a:p>
        </p:txBody>
      </p:sp>
      <p:sp>
        <p:nvSpPr>
          <p:cNvPr id="17" name="Text 15"/>
          <p:cNvSpPr/>
          <p:nvPr/>
        </p:nvSpPr>
        <p:spPr>
          <a:xfrm>
            <a:off x="6309360" y="2651760"/>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Both legs fill together, so you never get “half-done” at a bad price.</a:t>
            </a:r>
            <a:endParaRPr lang="en-US" sz="1250" dirty="0"/>
          </a:p>
        </p:txBody>
      </p:sp>
      <p:sp>
        <p:nvSpPr>
          <p:cNvPr id="18" name="Text 16"/>
          <p:cNvSpPr/>
          <p:nvPr/>
        </p:nvSpPr>
        <p:spPr>
          <a:xfrm>
            <a:off x="502920" y="4114800"/>
            <a:ext cx="8046720" cy="457200"/>
          </a:xfrm>
          <a:prstGeom prst="rect">
            <a:avLst/>
          </a:prstGeom>
          <a:noFill/>
          <a:ln/>
        </p:spPr>
        <p:txBody>
          <a:bodyPr wrap="square" lIns="0" tIns="0" rIns="0" bIns="0" rtlCol="0" anchor="t"/>
          <a:lstStyle/>
          <a:p>
            <a:pPr marL="0" indent="0" algn="ctr">
              <a:buNone/>
            </a:pPr>
            <a:r>
              <a:rPr lang="en-US" sz="1250" i="1" dirty="0">
                <a:solidFill>
                  <a:srgbClr val="8B96A8"/>
                </a:solidFill>
                <a:latin typeface="Segoe UI" pitchFamily="34" charset="0"/>
                <a:ea typeface="Segoe UI" pitchFamily="34" charset="-122"/>
                <a:cs typeface="Segoe UI" pitchFamily="34" charset="-120"/>
              </a:rPr>
              <a:t>Because spreads are traded in their own right, they need their own order book — and that is exactly where liquidity gets stranded.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fragmentation problem</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FOUNDATIONS · 6</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18</a:t>
            </a:r>
            <a:endParaRPr lang="en-US" sz="850" dirty="0"/>
          </a:p>
        </p:txBody>
      </p:sp>
      <p:sp>
        <p:nvSpPr>
          <p:cNvPr id="6" name="Text 4"/>
          <p:cNvSpPr/>
          <p:nvPr/>
        </p:nvSpPr>
        <p:spPr>
          <a:xfrm>
            <a:off x="502920" y="1417320"/>
            <a:ext cx="8046720" cy="594360"/>
          </a:xfrm>
          <a:prstGeom prst="rect">
            <a:avLst/>
          </a:prstGeom>
          <a:noFill/>
          <a:ln/>
        </p:spPr>
        <p:txBody>
          <a:bodyPr wrap="square" lIns="0" tIns="0" rIns="0" bIns="0" rtlCol="0" anchor="t"/>
          <a:lstStyle/>
          <a:p>
            <a:pPr marL="0" indent="0" algn="l">
              <a:lnSpc>
                <a:spcPts val="2000"/>
              </a:lnSpc>
              <a:buNone/>
            </a:pPr>
            <a:r>
              <a:rPr lang="en-US" sz="1400" dirty="0">
                <a:solidFill>
                  <a:srgbClr val="D8DEE9"/>
                </a:solidFill>
                <a:latin typeface="Segoe UI" pitchFamily="34" charset="0"/>
                <a:ea typeface="Segoe UI" pitchFamily="34" charset="-122"/>
                <a:cs typeface="Segoe UI" pitchFamily="34" charset="-120"/>
              </a:rPr>
              <a:t>Each instrument has its own book. A spread trader and two outright traders can be willing to do exactly matching business — and never see each other.</a:t>
            </a:r>
            <a:endParaRPr lang="en-US" sz="1400" dirty="0"/>
          </a:p>
        </p:txBody>
      </p:sp>
      <p:sp>
        <p:nvSpPr>
          <p:cNvPr id="7" name="panel">
            <a:extLst>
              <a:ext uri="{C183D7F6-B498-43B3-948B-1728B52AA6E4}">
                <adec:decorative xmlns:adec="http://schemas.microsoft.com/office/drawing/2017/decorative" val="1"/>
              </a:ext>
            </a:extLst>
          </p:cNvPr>
          <p:cNvSpPr/>
          <p:nvPr/>
        </p:nvSpPr>
        <p:spPr>
          <a:xfrm>
            <a:off x="502920" y="2240280"/>
            <a:ext cx="2587752" cy="1920240"/>
          </a:xfrm>
          <a:prstGeom prst="roundRect">
            <a:avLst>
              <a:gd name="adj" fmla="val 2857"/>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40080" y="2368296"/>
            <a:ext cx="2377440" cy="274320"/>
          </a:xfrm>
          <a:prstGeom prst="rect">
            <a:avLst/>
          </a:prstGeom>
          <a:noFill/>
          <a:ln/>
        </p:spPr>
        <p:txBody>
          <a:bodyPr wrap="square" lIns="0" tIns="0" rIns="0" bIns="0" rtlCol="0" anchor="t"/>
          <a:lstStyle/>
          <a:p>
            <a:pPr marL="0" indent="0" algn="l">
              <a:buNone/>
            </a:pPr>
            <a:r>
              <a:rPr lang="en-US" sz="1200" b="1" dirty="0">
                <a:solidFill>
                  <a:srgbClr val="FFFFFF"/>
                </a:solidFill>
                <a:latin typeface="Segoe UI" pitchFamily="34" charset="0"/>
                <a:ea typeface="Segoe UI" pitchFamily="34" charset="-122"/>
                <a:cs typeface="Segoe UI" pitchFamily="34" charset="-120"/>
              </a:rPr>
              <a:t>MARCH book</a:t>
            </a:r>
            <a:endParaRPr lang="en-US" sz="1200" dirty="0"/>
          </a:p>
        </p:txBody>
      </p:sp>
      <p:sp>
        <p:nvSpPr>
          <p:cNvPr id="9" name="Text 7"/>
          <p:cNvSpPr/>
          <p:nvPr/>
        </p:nvSpPr>
        <p:spPr>
          <a:xfrm>
            <a:off x="640080" y="2697480"/>
            <a:ext cx="2377440" cy="274320"/>
          </a:xfrm>
          <a:prstGeom prst="rect">
            <a:avLst/>
          </a:prstGeom>
          <a:noFill/>
          <a:ln/>
        </p:spPr>
        <p:txBody>
          <a:bodyPr wrap="square" lIns="0" tIns="0" rIns="0" bIns="0" rtlCol="0" anchor="t"/>
          <a:lstStyle/>
          <a:p>
            <a:pPr marL="0" indent="0" algn="l">
              <a:buNone/>
            </a:pPr>
            <a:r>
              <a:rPr lang="en-US" sz="1200" dirty="0">
                <a:solidFill>
                  <a:srgbClr val="35E07E"/>
                </a:solidFill>
                <a:latin typeface="Consolas" pitchFamily="34" charset="0"/>
                <a:ea typeface="Consolas" pitchFamily="34" charset="-122"/>
                <a:cs typeface="Consolas" pitchFamily="34" charset="-120"/>
              </a:rPr>
              <a:t>deep &amp; liquid</a:t>
            </a:r>
            <a:endParaRPr lang="en-US" sz="1200" dirty="0"/>
          </a:p>
        </p:txBody>
      </p:sp>
      <p:sp>
        <p:nvSpPr>
          <p:cNvPr id="10" name="silo">
            <a:extLst>
              <a:ext uri="{C183D7F6-B498-43B3-948B-1728B52AA6E4}">
                <adec:decorative xmlns:adec="http://schemas.microsoft.com/office/drawing/2017/decorative" val="1"/>
              </a:ext>
            </a:extLst>
          </p:cNvPr>
          <p:cNvSpPr/>
          <p:nvPr/>
        </p:nvSpPr>
        <p:spPr>
          <a:xfrm>
            <a:off x="1444752" y="3154680"/>
            <a:ext cx="685800" cy="685800"/>
          </a:xfrm>
          <a:prstGeom prst="ellipse">
            <a:avLst/>
          </a:prstGeom>
          <a:solidFill>
            <a:srgbClr val="222B39"/>
          </a:solidFill>
          <a:ln w="19050">
            <a:solidFill>
              <a:srgbClr val="35E07E"/>
            </a:solidFill>
            <a:prstDash val="solid"/>
          </a:ln>
        </p:spPr>
        <p:txBody>
          <a:bodyPr/>
          <a:lstStyle/>
          <a:p>
            <a:endParaRPr lang="en-SE"/>
          </a:p>
        </p:txBody>
      </p:sp>
      <p:sp>
        <p:nvSpPr>
          <p:cNvPr id="11" name="Text 9"/>
          <p:cNvSpPr/>
          <p:nvPr/>
        </p:nvSpPr>
        <p:spPr>
          <a:xfrm>
            <a:off x="1444752" y="3154680"/>
            <a:ext cx="685800" cy="685800"/>
          </a:xfrm>
          <a:prstGeom prst="rect">
            <a:avLst/>
          </a:prstGeom>
          <a:noFill/>
          <a:ln/>
        </p:spPr>
        <p:txBody>
          <a:bodyPr wrap="square" lIns="0" tIns="0" rIns="0" bIns="0" rtlCol="0" anchor="ctr"/>
          <a:lstStyle/>
          <a:p>
            <a:pPr marL="0" indent="0" algn="ctr">
              <a:buNone/>
            </a:pPr>
            <a:r>
              <a:rPr lang="en-US" sz="2000" dirty="0">
                <a:solidFill>
                  <a:srgbClr val="35E07E"/>
                </a:solidFill>
                <a:latin typeface="Segoe UI" pitchFamily="34" charset="0"/>
                <a:ea typeface="Segoe UI" pitchFamily="34" charset="-122"/>
                <a:cs typeface="Segoe UI" pitchFamily="34" charset="-120"/>
              </a:rPr>
              <a:t>●</a:t>
            </a:r>
            <a:endParaRPr lang="en-US" sz="2000" dirty="0"/>
          </a:p>
        </p:txBody>
      </p:sp>
      <p:sp>
        <p:nvSpPr>
          <p:cNvPr id="12" name="Text 10"/>
          <p:cNvSpPr/>
          <p:nvPr/>
        </p:nvSpPr>
        <p:spPr>
          <a:xfrm>
            <a:off x="640080" y="3867912"/>
            <a:ext cx="2377440" cy="228600"/>
          </a:xfrm>
          <a:prstGeom prst="rect">
            <a:avLst/>
          </a:prstGeom>
          <a:noFill/>
          <a:ln/>
        </p:spPr>
        <p:txBody>
          <a:bodyPr wrap="square" lIns="0" tIns="0" rIns="0" bIns="0" rtlCol="0" anchor="t"/>
          <a:lstStyle/>
          <a:p>
            <a:pPr marL="0" indent="0" algn="ctr">
              <a:buNone/>
            </a:pPr>
            <a:r>
              <a:rPr lang="en-US" sz="1000" i="1" dirty="0">
                <a:solidFill>
                  <a:srgbClr val="8B96A8"/>
                </a:solidFill>
                <a:latin typeface="Segoe UI" pitchFamily="34" charset="0"/>
                <a:ea typeface="Segoe UI" pitchFamily="34" charset="-122"/>
                <a:cs typeface="Segoe UI" pitchFamily="34" charset="-120"/>
              </a:rPr>
              <a:t>walled off</a:t>
            </a:r>
            <a:endParaRPr lang="en-US" sz="1000" dirty="0"/>
          </a:p>
        </p:txBody>
      </p:sp>
      <p:sp>
        <p:nvSpPr>
          <p:cNvPr id="13" name="panel">
            <a:extLst>
              <a:ext uri="{C183D7F6-B498-43B3-948B-1728B52AA6E4}">
                <adec:decorative xmlns:adec="http://schemas.microsoft.com/office/drawing/2017/decorative" val="1"/>
              </a:ext>
            </a:extLst>
          </p:cNvPr>
          <p:cNvSpPr/>
          <p:nvPr/>
        </p:nvSpPr>
        <p:spPr>
          <a:xfrm>
            <a:off x="3273552" y="2240280"/>
            <a:ext cx="2587752" cy="1920240"/>
          </a:xfrm>
          <a:prstGeom prst="roundRect">
            <a:avLst>
              <a:gd name="adj" fmla="val 2857"/>
            </a:avLst>
          </a:prstGeom>
          <a:solidFill>
            <a:srgbClr val="1B212C"/>
          </a:solidFill>
          <a:ln w="12700">
            <a:solidFill>
              <a:srgbClr val="2C3644"/>
            </a:solidFill>
            <a:prstDash val="solid"/>
          </a:ln>
        </p:spPr>
        <p:txBody>
          <a:bodyPr/>
          <a:lstStyle/>
          <a:p>
            <a:endParaRPr lang="en-SE"/>
          </a:p>
        </p:txBody>
      </p:sp>
      <p:sp>
        <p:nvSpPr>
          <p:cNvPr id="14" name="Text 12"/>
          <p:cNvSpPr/>
          <p:nvPr/>
        </p:nvSpPr>
        <p:spPr>
          <a:xfrm>
            <a:off x="3410712" y="2368296"/>
            <a:ext cx="2377440" cy="274320"/>
          </a:xfrm>
          <a:prstGeom prst="rect">
            <a:avLst/>
          </a:prstGeom>
          <a:noFill/>
          <a:ln/>
        </p:spPr>
        <p:txBody>
          <a:bodyPr wrap="square" lIns="0" tIns="0" rIns="0" bIns="0" rtlCol="0" anchor="t"/>
          <a:lstStyle/>
          <a:p>
            <a:pPr marL="0" indent="0" algn="l">
              <a:buNone/>
            </a:pPr>
            <a:r>
              <a:rPr lang="en-US" sz="1200" b="1" dirty="0">
                <a:solidFill>
                  <a:srgbClr val="FFFFFF"/>
                </a:solidFill>
                <a:latin typeface="Segoe UI" pitchFamily="34" charset="0"/>
                <a:ea typeface="Segoe UI" pitchFamily="34" charset="-122"/>
                <a:cs typeface="Segoe UI" pitchFamily="34" charset="-120"/>
              </a:rPr>
              <a:t>JUNE book</a:t>
            </a:r>
            <a:endParaRPr lang="en-US" sz="1200" dirty="0"/>
          </a:p>
        </p:txBody>
      </p:sp>
      <p:sp>
        <p:nvSpPr>
          <p:cNvPr id="15" name="Text 13"/>
          <p:cNvSpPr/>
          <p:nvPr/>
        </p:nvSpPr>
        <p:spPr>
          <a:xfrm>
            <a:off x="3410712" y="2697480"/>
            <a:ext cx="2377440" cy="274320"/>
          </a:xfrm>
          <a:prstGeom prst="rect">
            <a:avLst/>
          </a:prstGeom>
          <a:noFill/>
          <a:ln/>
        </p:spPr>
        <p:txBody>
          <a:bodyPr wrap="square" lIns="0" tIns="0" rIns="0" bIns="0" rtlCol="0" anchor="t"/>
          <a:lstStyle/>
          <a:p>
            <a:pPr marL="0" indent="0" algn="l">
              <a:buNone/>
            </a:pPr>
            <a:r>
              <a:rPr lang="en-US" sz="1200" dirty="0">
                <a:solidFill>
                  <a:srgbClr val="35E07E"/>
                </a:solidFill>
                <a:latin typeface="Consolas" pitchFamily="34" charset="0"/>
                <a:ea typeface="Consolas" pitchFamily="34" charset="-122"/>
                <a:cs typeface="Consolas" pitchFamily="34" charset="-120"/>
              </a:rPr>
              <a:t>deep &amp; liquid</a:t>
            </a:r>
            <a:endParaRPr lang="en-US" sz="1200" dirty="0"/>
          </a:p>
        </p:txBody>
      </p:sp>
      <p:sp>
        <p:nvSpPr>
          <p:cNvPr id="16" name="silo">
            <a:extLst>
              <a:ext uri="{C183D7F6-B498-43B3-948B-1728B52AA6E4}">
                <adec:decorative xmlns:adec="http://schemas.microsoft.com/office/drawing/2017/decorative" val="1"/>
              </a:ext>
            </a:extLst>
          </p:cNvPr>
          <p:cNvSpPr/>
          <p:nvPr/>
        </p:nvSpPr>
        <p:spPr>
          <a:xfrm>
            <a:off x="4215384" y="3154680"/>
            <a:ext cx="685800" cy="685800"/>
          </a:xfrm>
          <a:prstGeom prst="ellipse">
            <a:avLst/>
          </a:prstGeom>
          <a:solidFill>
            <a:srgbClr val="222B39"/>
          </a:solidFill>
          <a:ln w="19050">
            <a:solidFill>
              <a:srgbClr val="35E07E"/>
            </a:solidFill>
            <a:prstDash val="solid"/>
          </a:ln>
        </p:spPr>
        <p:txBody>
          <a:bodyPr/>
          <a:lstStyle/>
          <a:p>
            <a:endParaRPr lang="en-SE"/>
          </a:p>
        </p:txBody>
      </p:sp>
      <p:sp>
        <p:nvSpPr>
          <p:cNvPr id="17" name="Text 15"/>
          <p:cNvSpPr/>
          <p:nvPr/>
        </p:nvSpPr>
        <p:spPr>
          <a:xfrm>
            <a:off x="4215384" y="3154680"/>
            <a:ext cx="685800" cy="685800"/>
          </a:xfrm>
          <a:prstGeom prst="rect">
            <a:avLst/>
          </a:prstGeom>
          <a:noFill/>
          <a:ln/>
        </p:spPr>
        <p:txBody>
          <a:bodyPr wrap="square" lIns="0" tIns="0" rIns="0" bIns="0" rtlCol="0" anchor="ctr"/>
          <a:lstStyle/>
          <a:p>
            <a:pPr marL="0" indent="0" algn="ctr">
              <a:buNone/>
            </a:pPr>
            <a:r>
              <a:rPr lang="en-US" sz="2000" dirty="0">
                <a:solidFill>
                  <a:srgbClr val="35E07E"/>
                </a:solidFill>
                <a:latin typeface="Segoe UI" pitchFamily="34" charset="0"/>
                <a:ea typeface="Segoe UI" pitchFamily="34" charset="-122"/>
                <a:cs typeface="Segoe UI" pitchFamily="34" charset="-120"/>
              </a:rPr>
              <a:t>●</a:t>
            </a:r>
            <a:endParaRPr lang="en-US" sz="2000" dirty="0"/>
          </a:p>
        </p:txBody>
      </p:sp>
      <p:sp>
        <p:nvSpPr>
          <p:cNvPr id="18" name="Text 16"/>
          <p:cNvSpPr/>
          <p:nvPr/>
        </p:nvSpPr>
        <p:spPr>
          <a:xfrm>
            <a:off x="3410712" y="3867912"/>
            <a:ext cx="2377440" cy="228600"/>
          </a:xfrm>
          <a:prstGeom prst="rect">
            <a:avLst/>
          </a:prstGeom>
          <a:noFill/>
          <a:ln/>
        </p:spPr>
        <p:txBody>
          <a:bodyPr wrap="square" lIns="0" tIns="0" rIns="0" bIns="0" rtlCol="0" anchor="t"/>
          <a:lstStyle/>
          <a:p>
            <a:pPr marL="0" indent="0" algn="ctr">
              <a:buNone/>
            </a:pPr>
            <a:r>
              <a:rPr lang="en-US" sz="1000" i="1" dirty="0">
                <a:solidFill>
                  <a:srgbClr val="8B96A8"/>
                </a:solidFill>
                <a:latin typeface="Segoe UI" pitchFamily="34" charset="0"/>
                <a:ea typeface="Segoe UI" pitchFamily="34" charset="-122"/>
                <a:cs typeface="Segoe UI" pitchFamily="34" charset="-120"/>
              </a:rPr>
              <a:t>walled off</a:t>
            </a:r>
            <a:endParaRPr lang="en-US" sz="1000" dirty="0"/>
          </a:p>
        </p:txBody>
      </p:sp>
      <p:sp>
        <p:nvSpPr>
          <p:cNvPr id="19" name="panel">
            <a:extLst>
              <a:ext uri="{C183D7F6-B498-43B3-948B-1728B52AA6E4}">
                <adec:decorative xmlns:adec="http://schemas.microsoft.com/office/drawing/2017/decorative" val="1"/>
              </a:ext>
            </a:extLst>
          </p:cNvPr>
          <p:cNvSpPr/>
          <p:nvPr/>
        </p:nvSpPr>
        <p:spPr>
          <a:xfrm>
            <a:off x="6044184" y="2240280"/>
            <a:ext cx="2587752" cy="1920240"/>
          </a:xfrm>
          <a:prstGeom prst="roundRect">
            <a:avLst>
              <a:gd name="adj" fmla="val 2857"/>
            </a:avLst>
          </a:prstGeom>
          <a:solidFill>
            <a:srgbClr val="1B212C"/>
          </a:solidFill>
          <a:ln w="12700">
            <a:solidFill>
              <a:srgbClr val="2C3644"/>
            </a:solidFill>
            <a:prstDash val="solid"/>
          </a:ln>
        </p:spPr>
        <p:txBody>
          <a:bodyPr/>
          <a:lstStyle/>
          <a:p>
            <a:endParaRPr lang="en-SE"/>
          </a:p>
        </p:txBody>
      </p:sp>
      <p:sp>
        <p:nvSpPr>
          <p:cNvPr id="20" name="Text 18"/>
          <p:cNvSpPr/>
          <p:nvPr/>
        </p:nvSpPr>
        <p:spPr>
          <a:xfrm>
            <a:off x="6181344" y="2368296"/>
            <a:ext cx="2377440" cy="274320"/>
          </a:xfrm>
          <a:prstGeom prst="rect">
            <a:avLst/>
          </a:prstGeom>
          <a:noFill/>
          <a:ln/>
        </p:spPr>
        <p:txBody>
          <a:bodyPr wrap="square" lIns="0" tIns="0" rIns="0" bIns="0" rtlCol="0" anchor="t"/>
          <a:lstStyle/>
          <a:p>
            <a:pPr marL="0" indent="0" algn="l">
              <a:buNone/>
            </a:pPr>
            <a:r>
              <a:rPr lang="en-US" sz="1200" b="1" dirty="0">
                <a:solidFill>
                  <a:srgbClr val="FFFFFF"/>
                </a:solidFill>
                <a:latin typeface="Segoe UI" pitchFamily="34" charset="0"/>
                <a:ea typeface="Segoe UI" pitchFamily="34" charset="-122"/>
                <a:cs typeface="Segoe UI" pitchFamily="34" charset="-120"/>
              </a:rPr>
              <a:t>SPREAD book</a:t>
            </a:r>
            <a:endParaRPr lang="en-US" sz="1200" dirty="0"/>
          </a:p>
        </p:txBody>
      </p:sp>
      <p:sp>
        <p:nvSpPr>
          <p:cNvPr id="21" name="Text 19"/>
          <p:cNvSpPr/>
          <p:nvPr/>
        </p:nvSpPr>
        <p:spPr>
          <a:xfrm>
            <a:off x="6181344" y="2697480"/>
            <a:ext cx="2377440" cy="274320"/>
          </a:xfrm>
          <a:prstGeom prst="rect">
            <a:avLst/>
          </a:prstGeom>
          <a:noFill/>
          <a:ln/>
        </p:spPr>
        <p:txBody>
          <a:bodyPr wrap="square" lIns="0" tIns="0" rIns="0" bIns="0" rtlCol="0" anchor="t"/>
          <a:lstStyle/>
          <a:p>
            <a:pPr marL="0" indent="0" algn="l">
              <a:buNone/>
            </a:pPr>
            <a:r>
              <a:rPr lang="en-US" sz="1200" dirty="0">
                <a:solidFill>
                  <a:srgbClr val="FF5C6C"/>
                </a:solidFill>
                <a:latin typeface="Consolas" pitchFamily="34" charset="0"/>
                <a:ea typeface="Consolas" pitchFamily="34" charset="-122"/>
                <a:cs typeface="Consolas" pitchFamily="34" charset="-120"/>
              </a:rPr>
              <a:t>thin / empty</a:t>
            </a:r>
            <a:endParaRPr lang="en-US" sz="1200" dirty="0"/>
          </a:p>
        </p:txBody>
      </p:sp>
      <p:sp>
        <p:nvSpPr>
          <p:cNvPr id="22" name="silo">
            <a:extLst>
              <a:ext uri="{C183D7F6-B498-43B3-948B-1728B52AA6E4}">
                <adec:decorative xmlns:adec="http://schemas.microsoft.com/office/drawing/2017/decorative" val="1"/>
              </a:ext>
            </a:extLst>
          </p:cNvPr>
          <p:cNvSpPr/>
          <p:nvPr/>
        </p:nvSpPr>
        <p:spPr>
          <a:xfrm>
            <a:off x="6986016" y="3154680"/>
            <a:ext cx="685800" cy="685800"/>
          </a:xfrm>
          <a:prstGeom prst="ellipse">
            <a:avLst/>
          </a:prstGeom>
          <a:solidFill>
            <a:srgbClr val="222B39"/>
          </a:solidFill>
          <a:ln w="19050">
            <a:solidFill>
              <a:srgbClr val="FF5C6C"/>
            </a:solidFill>
            <a:prstDash val="solid"/>
          </a:ln>
        </p:spPr>
        <p:txBody>
          <a:bodyPr/>
          <a:lstStyle/>
          <a:p>
            <a:endParaRPr lang="en-SE"/>
          </a:p>
        </p:txBody>
      </p:sp>
      <p:sp>
        <p:nvSpPr>
          <p:cNvPr id="23" name="Text 21"/>
          <p:cNvSpPr/>
          <p:nvPr/>
        </p:nvSpPr>
        <p:spPr>
          <a:xfrm>
            <a:off x="6986016" y="3154680"/>
            <a:ext cx="685800" cy="685800"/>
          </a:xfrm>
          <a:prstGeom prst="rect">
            <a:avLst/>
          </a:prstGeom>
          <a:noFill/>
          <a:ln/>
        </p:spPr>
        <p:txBody>
          <a:bodyPr wrap="square" lIns="0" tIns="0" rIns="0" bIns="0" rtlCol="0" anchor="ctr"/>
          <a:lstStyle/>
          <a:p>
            <a:pPr marL="0" indent="0" algn="ctr">
              <a:buNone/>
            </a:pPr>
            <a:r>
              <a:rPr lang="en-US" sz="2000" dirty="0">
                <a:solidFill>
                  <a:srgbClr val="FF5C6C"/>
                </a:solidFill>
                <a:latin typeface="Segoe UI" pitchFamily="34" charset="0"/>
                <a:ea typeface="Segoe UI" pitchFamily="34" charset="-122"/>
                <a:cs typeface="Segoe UI" pitchFamily="34" charset="-120"/>
              </a:rPr>
              <a:t>○</a:t>
            </a:r>
            <a:endParaRPr lang="en-US" sz="2000" dirty="0"/>
          </a:p>
        </p:txBody>
      </p:sp>
      <p:sp>
        <p:nvSpPr>
          <p:cNvPr id="24" name="Text 22"/>
          <p:cNvSpPr/>
          <p:nvPr/>
        </p:nvSpPr>
        <p:spPr>
          <a:xfrm>
            <a:off x="6181344" y="3867912"/>
            <a:ext cx="2377440" cy="228600"/>
          </a:xfrm>
          <a:prstGeom prst="rect">
            <a:avLst/>
          </a:prstGeom>
          <a:noFill/>
          <a:ln/>
        </p:spPr>
        <p:txBody>
          <a:bodyPr wrap="square" lIns="0" tIns="0" rIns="0" bIns="0" rtlCol="0" anchor="t"/>
          <a:lstStyle/>
          <a:p>
            <a:pPr marL="0" indent="0" algn="ctr">
              <a:buNone/>
            </a:pPr>
            <a:r>
              <a:rPr lang="en-US" sz="1000" i="1" dirty="0">
                <a:solidFill>
                  <a:srgbClr val="8B96A8"/>
                </a:solidFill>
                <a:latin typeface="Segoe UI" pitchFamily="34" charset="0"/>
                <a:ea typeface="Segoe UI" pitchFamily="34" charset="-122"/>
                <a:cs typeface="Segoe UI" pitchFamily="34" charset="-120"/>
              </a:rPr>
              <a:t>walled off</a:t>
            </a:r>
            <a:endParaRPr lang="en-US" sz="1000" dirty="0"/>
          </a:p>
        </p:txBody>
      </p:sp>
      <p:sp>
        <p:nvSpPr>
          <p:cNvPr id="25" name="Text 23"/>
          <p:cNvSpPr/>
          <p:nvPr/>
        </p:nvSpPr>
        <p:spPr>
          <a:xfrm>
            <a:off x="3127248" y="3063240"/>
            <a:ext cx="365760" cy="365760"/>
          </a:xfrm>
          <a:prstGeom prst="rect">
            <a:avLst/>
          </a:prstGeom>
          <a:noFill/>
          <a:ln/>
        </p:spPr>
        <p:txBody>
          <a:bodyPr wrap="square" lIns="0" tIns="0" rIns="0" bIns="0" rtlCol="0" anchor="t"/>
          <a:lstStyle/>
          <a:p>
            <a:pPr marL="0" indent="0" algn="ctr">
              <a:buNone/>
            </a:pPr>
            <a:r>
              <a:rPr lang="en-US" sz="2000" dirty="0">
                <a:solidFill>
                  <a:srgbClr val="FF5C6C"/>
                </a:solidFill>
                <a:latin typeface="Segoe UI" pitchFamily="34" charset="0"/>
                <a:ea typeface="Segoe UI" pitchFamily="34" charset="-122"/>
                <a:cs typeface="Segoe UI" pitchFamily="34" charset="-120"/>
              </a:rPr>
              <a:t>✖</a:t>
            </a:r>
            <a:endParaRPr lang="en-US" sz="2000" dirty="0"/>
          </a:p>
        </p:txBody>
      </p:sp>
      <p:sp>
        <p:nvSpPr>
          <p:cNvPr id="26" name="Text 24"/>
          <p:cNvSpPr/>
          <p:nvPr/>
        </p:nvSpPr>
        <p:spPr>
          <a:xfrm>
            <a:off x="5897880" y="3063240"/>
            <a:ext cx="365760" cy="365760"/>
          </a:xfrm>
          <a:prstGeom prst="rect">
            <a:avLst/>
          </a:prstGeom>
          <a:noFill/>
          <a:ln/>
        </p:spPr>
        <p:txBody>
          <a:bodyPr wrap="square" lIns="0" tIns="0" rIns="0" bIns="0" rtlCol="0" anchor="t"/>
          <a:lstStyle/>
          <a:p>
            <a:pPr marL="0" indent="0" algn="ctr">
              <a:buNone/>
            </a:pPr>
            <a:r>
              <a:rPr lang="en-US" sz="2000" dirty="0">
                <a:solidFill>
                  <a:srgbClr val="FF5C6C"/>
                </a:solidFill>
                <a:latin typeface="Segoe UI" pitchFamily="34" charset="0"/>
                <a:ea typeface="Segoe UI" pitchFamily="34" charset="-122"/>
                <a:cs typeface="Segoe UI" pitchFamily="34" charset="-120"/>
              </a:rPr>
              <a: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II</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The problem, made concrete</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A trade that clearly should happen — but the books can't find each other on their own.</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Scenario: two liquid legs, an empty spread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PROBLEM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20</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242316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30936" y="1508760"/>
            <a:ext cx="216712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a:t>
            </a:r>
            <a:endParaRPr lang="en-US" sz="1150" dirty="0"/>
          </a:p>
        </p:txBody>
      </p:sp>
      <p:sp>
        <p:nvSpPr>
          <p:cNvPr id="8" name="Text 6"/>
          <p:cNvSpPr/>
          <p:nvPr/>
        </p:nvSpPr>
        <p:spPr>
          <a:xfrm>
            <a:off x="630936" y="1773936"/>
            <a:ext cx="1090422"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9" name="Text 7"/>
          <p:cNvSpPr/>
          <p:nvPr/>
        </p:nvSpPr>
        <p:spPr>
          <a:xfrm>
            <a:off x="201168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0" name="depth">
            <a:extLst>
              <a:ext uri="{C183D7F6-B498-43B3-948B-1728B52AA6E4}">
                <adec:decorative xmlns:adec="http://schemas.microsoft.com/office/drawing/2017/decorative" val="1"/>
              </a:ext>
            </a:extLst>
          </p:cNvPr>
          <p:cNvSpPr/>
          <p:nvPr/>
        </p:nvSpPr>
        <p:spPr>
          <a:xfrm>
            <a:off x="2377440" y="1952244"/>
            <a:ext cx="402336" cy="182880"/>
          </a:xfrm>
          <a:prstGeom prst="rect">
            <a:avLst/>
          </a:prstGeom>
          <a:solidFill>
            <a:srgbClr val="FF5C6C">
              <a:alpha val="26000"/>
            </a:srgbClr>
          </a:solidFill>
          <a:ln/>
        </p:spPr>
        <p:txBody>
          <a:bodyPr/>
          <a:lstStyle/>
          <a:p>
            <a:endParaRPr lang="en-SE"/>
          </a:p>
        </p:txBody>
      </p:sp>
      <p:sp>
        <p:nvSpPr>
          <p:cNvPr id="11" name="Text 9"/>
          <p:cNvSpPr/>
          <p:nvPr/>
        </p:nvSpPr>
        <p:spPr>
          <a:xfrm>
            <a:off x="64922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12" name="Text 10"/>
          <p:cNvSpPr/>
          <p:nvPr/>
        </p:nvSpPr>
        <p:spPr>
          <a:xfrm>
            <a:off x="201168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13" name="depth">
            <a:extLst>
              <a:ext uri="{C183D7F6-B498-43B3-948B-1728B52AA6E4}">
                <adec:decorative xmlns:adec="http://schemas.microsoft.com/office/drawing/2017/decorative" val="1"/>
              </a:ext>
            </a:extLst>
          </p:cNvPr>
          <p:cNvSpPr/>
          <p:nvPr/>
        </p:nvSpPr>
        <p:spPr>
          <a:xfrm>
            <a:off x="1773936" y="2208276"/>
            <a:ext cx="1005840" cy="182880"/>
          </a:xfrm>
          <a:prstGeom prst="rect">
            <a:avLst/>
          </a:prstGeom>
          <a:solidFill>
            <a:srgbClr val="FF5C6C">
              <a:alpha val="26000"/>
            </a:srgbClr>
          </a:solidFill>
          <a:ln/>
        </p:spPr>
        <p:txBody>
          <a:bodyPr/>
          <a:lstStyle/>
          <a:p>
            <a:endParaRPr lang="en-SE"/>
          </a:p>
        </p:txBody>
      </p:sp>
      <p:sp>
        <p:nvSpPr>
          <p:cNvPr id="14" name="Text 12"/>
          <p:cNvSpPr/>
          <p:nvPr/>
        </p:nvSpPr>
        <p:spPr>
          <a:xfrm>
            <a:off x="64922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101</a:t>
            </a:r>
            <a:endParaRPr lang="en-US" sz="1250" dirty="0"/>
          </a:p>
        </p:txBody>
      </p:sp>
      <p:sp>
        <p:nvSpPr>
          <p:cNvPr id="15" name="Text 13"/>
          <p:cNvSpPr/>
          <p:nvPr/>
        </p:nvSpPr>
        <p:spPr>
          <a:xfrm>
            <a:off x="201168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30</a:t>
            </a:r>
            <a:endParaRPr lang="en-US" sz="1150" dirty="0"/>
          </a:p>
        </p:txBody>
      </p:sp>
      <p:sp>
        <p:nvSpPr>
          <p:cNvPr id="16" name="rule">
            <a:extLst>
              <a:ext uri="{C183D7F6-B498-43B3-948B-1728B52AA6E4}">
                <adec:decorative xmlns:adec="http://schemas.microsoft.com/office/drawing/2017/decorative" val="1"/>
              </a:ext>
            </a:extLst>
          </p:cNvPr>
          <p:cNvSpPr/>
          <p:nvPr/>
        </p:nvSpPr>
        <p:spPr>
          <a:xfrm>
            <a:off x="649224" y="2468880"/>
            <a:ext cx="2130552" cy="0"/>
          </a:xfrm>
          <a:prstGeom prst="line">
            <a:avLst/>
          </a:prstGeom>
          <a:noFill/>
          <a:ln w="12700">
            <a:solidFill>
              <a:srgbClr val="2C3644"/>
            </a:solidFill>
            <a:prstDash val="dash"/>
          </a:ln>
        </p:spPr>
        <p:txBody>
          <a:bodyPr/>
          <a:lstStyle/>
          <a:p>
            <a:endParaRPr lang="en-SE"/>
          </a:p>
        </p:txBody>
      </p:sp>
      <p:sp>
        <p:nvSpPr>
          <p:cNvPr id="17" name="depth">
            <a:extLst>
              <a:ext uri="{C183D7F6-B498-43B3-948B-1728B52AA6E4}">
                <adec:decorative xmlns:adec="http://schemas.microsoft.com/office/drawing/2017/decorative" val="1"/>
              </a:ext>
            </a:extLst>
          </p:cNvPr>
          <p:cNvSpPr/>
          <p:nvPr/>
        </p:nvSpPr>
        <p:spPr>
          <a:xfrm>
            <a:off x="2444496" y="2500884"/>
            <a:ext cx="335280" cy="182880"/>
          </a:xfrm>
          <a:prstGeom prst="rect">
            <a:avLst/>
          </a:prstGeom>
          <a:solidFill>
            <a:srgbClr val="35E07E">
              <a:alpha val="26000"/>
            </a:srgbClr>
          </a:solidFill>
          <a:ln/>
        </p:spPr>
        <p:txBody>
          <a:bodyPr/>
          <a:lstStyle/>
          <a:p>
            <a:endParaRPr lang="en-SE"/>
          </a:p>
        </p:txBody>
      </p:sp>
      <p:sp>
        <p:nvSpPr>
          <p:cNvPr id="18" name="Text 16"/>
          <p:cNvSpPr/>
          <p:nvPr/>
        </p:nvSpPr>
        <p:spPr>
          <a:xfrm>
            <a:off x="64922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9" name="Text 17"/>
          <p:cNvSpPr/>
          <p:nvPr/>
        </p:nvSpPr>
        <p:spPr>
          <a:xfrm>
            <a:off x="201168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20" name="depth">
            <a:extLst>
              <a:ext uri="{C183D7F6-B498-43B3-948B-1728B52AA6E4}">
                <adec:decorative xmlns:adec="http://schemas.microsoft.com/office/drawing/2017/decorative" val="1"/>
              </a:ext>
            </a:extLst>
          </p:cNvPr>
          <p:cNvSpPr/>
          <p:nvPr/>
        </p:nvSpPr>
        <p:spPr>
          <a:xfrm>
            <a:off x="1941576" y="2756916"/>
            <a:ext cx="838200" cy="182880"/>
          </a:xfrm>
          <a:prstGeom prst="rect">
            <a:avLst/>
          </a:prstGeom>
          <a:solidFill>
            <a:srgbClr val="35E07E">
              <a:alpha val="26000"/>
            </a:srgbClr>
          </a:solidFill>
          <a:ln/>
        </p:spPr>
        <p:txBody>
          <a:bodyPr/>
          <a:lstStyle/>
          <a:p>
            <a:endParaRPr lang="en-SE"/>
          </a:p>
        </p:txBody>
      </p:sp>
      <p:sp>
        <p:nvSpPr>
          <p:cNvPr id="21" name="Text 19"/>
          <p:cNvSpPr/>
          <p:nvPr/>
        </p:nvSpPr>
        <p:spPr>
          <a:xfrm>
            <a:off x="64922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98</a:t>
            </a:r>
            <a:endParaRPr lang="en-US" sz="1250" dirty="0"/>
          </a:p>
        </p:txBody>
      </p:sp>
      <p:sp>
        <p:nvSpPr>
          <p:cNvPr id="22" name="Text 20"/>
          <p:cNvSpPr/>
          <p:nvPr/>
        </p:nvSpPr>
        <p:spPr>
          <a:xfrm>
            <a:off x="201168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25</a:t>
            </a:r>
            <a:endParaRPr lang="en-US" sz="1150" dirty="0"/>
          </a:p>
        </p:txBody>
      </p:sp>
      <p:sp>
        <p:nvSpPr>
          <p:cNvPr id="23" name="panel">
            <a:extLst>
              <a:ext uri="{C183D7F6-B498-43B3-948B-1728B52AA6E4}">
                <adec:decorative xmlns:adec="http://schemas.microsoft.com/office/drawing/2017/decorative" val="1"/>
              </a:ext>
            </a:extLst>
          </p:cNvPr>
          <p:cNvSpPr/>
          <p:nvPr/>
        </p:nvSpPr>
        <p:spPr>
          <a:xfrm>
            <a:off x="3108960" y="1463040"/>
            <a:ext cx="242316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24" name="Text 22"/>
          <p:cNvSpPr/>
          <p:nvPr/>
        </p:nvSpPr>
        <p:spPr>
          <a:xfrm>
            <a:off x="3236976" y="1508760"/>
            <a:ext cx="216712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JUNE</a:t>
            </a:r>
            <a:endParaRPr lang="en-US" sz="1150" dirty="0"/>
          </a:p>
        </p:txBody>
      </p:sp>
      <p:sp>
        <p:nvSpPr>
          <p:cNvPr id="25" name="Text 23"/>
          <p:cNvSpPr/>
          <p:nvPr/>
        </p:nvSpPr>
        <p:spPr>
          <a:xfrm>
            <a:off x="3236976" y="1773936"/>
            <a:ext cx="1090422"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26" name="Text 24"/>
          <p:cNvSpPr/>
          <p:nvPr/>
        </p:nvSpPr>
        <p:spPr>
          <a:xfrm>
            <a:off x="461772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27" name="depth">
            <a:extLst>
              <a:ext uri="{C183D7F6-B498-43B3-948B-1728B52AA6E4}">
                <adec:decorative xmlns:adec="http://schemas.microsoft.com/office/drawing/2017/decorative" val="1"/>
              </a:ext>
            </a:extLst>
          </p:cNvPr>
          <p:cNvSpPr/>
          <p:nvPr/>
        </p:nvSpPr>
        <p:spPr>
          <a:xfrm>
            <a:off x="4562856" y="1952244"/>
            <a:ext cx="822960" cy="182880"/>
          </a:xfrm>
          <a:prstGeom prst="rect">
            <a:avLst/>
          </a:prstGeom>
          <a:solidFill>
            <a:srgbClr val="FF5C6C">
              <a:alpha val="26000"/>
            </a:srgbClr>
          </a:solidFill>
          <a:ln/>
        </p:spPr>
        <p:txBody>
          <a:bodyPr/>
          <a:lstStyle/>
          <a:p>
            <a:endParaRPr lang="en-SE"/>
          </a:p>
        </p:txBody>
      </p:sp>
      <p:sp>
        <p:nvSpPr>
          <p:cNvPr id="28" name="Text 26"/>
          <p:cNvSpPr/>
          <p:nvPr/>
        </p:nvSpPr>
        <p:spPr>
          <a:xfrm>
            <a:off x="325526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98</a:t>
            </a:r>
            <a:endParaRPr lang="en-US" sz="1250" dirty="0"/>
          </a:p>
        </p:txBody>
      </p:sp>
      <p:sp>
        <p:nvSpPr>
          <p:cNvPr id="29" name="Text 27"/>
          <p:cNvSpPr/>
          <p:nvPr/>
        </p:nvSpPr>
        <p:spPr>
          <a:xfrm>
            <a:off x="461772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18</a:t>
            </a:r>
            <a:endParaRPr lang="en-US" sz="1150" dirty="0"/>
          </a:p>
        </p:txBody>
      </p:sp>
      <p:sp>
        <p:nvSpPr>
          <p:cNvPr id="30" name="depth">
            <a:extLst>
              <a:ext uri="{C183D7F6-B498-43B3-948B-1728B52AA6E4}">
                <adec:decorative xmlns:adec="http://schemas.microsoft.com/office/drawing/2017/decorative" val="1"/>
              </a:ext>
            </a:extLst>
          </p:cNvPr>
          <p:cNvSpPr/>
          <p:nvPr/>
        </p:nvSpPr>
        <p:spPr>
          <a:xfrm>
            <a:off x="4379976" y="2208276"/>
            <a:ext cx="1005840" cy="182880"/>
          </a:xfrm>
          <a:prstGeom prst="rect">
            <a:avLst/>
          </a:prstGeom>
          <a:solidFill>
            <a:srgbClr val="FF5C6C">
              <a:alpha val="26000"/>
            </a:srgbClr>
          </a:solidFill>
          <a:ln/>
        </p:spPr>
        <p:txBody>
          <a:bodyPr/>
          <a:lstStyle/>
          <a:p>
            <a:endParaRPr lang="en-SE"/>
          </a:p>
        </p:txBody>
      </p:sp>
      <p:sp>
        <p:nvSpPr>
          <p:cNvPr id="31" name="Text 29"/>
          <p:cNvSpPr/>
          <p:nvPr/>
        </p:nvSpPr>
        <p:spPr>
          <a:xfrm>
            <a:off x="325526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99</a:t>
            </a:r>
            <a:endParaRPr lang="en-US" sz="1250" dirty="0"/>
          </a:p>
        </p:txBody>
      </p:sp>
      <p:sp>
        <p:nvSpPr>
          <p:cNvPr id="32" name="Text 30"/>
          <p:cNvSpPr/>
          <p:nvPr/>
        </p:nvSpPr>
        <p:spPr>
          <a:xfrm>
            <a:off x="461772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22</a:t>
            </a:r>
            <a:endParaRPr lang="en-US" sz="1150" dirty="0"/>
          </a:p>
        </p:txBody>
      </p:sp>
      <p:sp>
        <p:nvSpPr>
          <p:cNvPr id="33" name="rule">
            <a:extLst>
              <a:ext uri="{C183D7F6-B498-43B3-948B-1728B52AA6E4}">
                <adec:decorative xmlns:adec="http://schemas.microsoft.com/office/drawing/2017/decorative" val="1"/>
              </a:ext>
            </a:extLst>
          </p:cNvPr>
          <p:cNvSpPr/>
          <p:nvPr/>
        </p:nvSpPr>
        <p:spPr>
          <a:xfrm>
            <a:off x="3255264" y="2468880"/>
            <a:ext cx="2130552" cy="0"/>
          </a:xfrm>
          <a:prstGeom prst="line">
            <a:avLst/>
          </a:prstGeom>
          <a:noFill/>
          <a:ln w="12700">
            <a:solidFill>
              <a:srgbClr val="2C3644"/>
            </a:solidFill>
            <a:prstDash val="dash"/>
          </a:ln>
        </p:spPr>
        <p:txBody>
          <a:bodyPr/>
          <a:lstStyle/>
          <a:p>
            <a:endParaRPr lang="en-SE"/>
          </a:p>
        </p:txBody>
      </p:sp>
      <p:sp>
        <p:nvSpPr>
          <p:cNvPr id="34" name="depth">
            <a:extLst>
              <a:ext uri="{C183D7F6-B498-43B3-948B-1728B52AA6E4}">
                <adec:decorative xmlns:adec="http://schemas.microsoft.com/office/drawing/2017/decorative" val="1"/>
              </a:ext>
            </a:extLst>
          </p:cNvPr>
          <p:cNvSpPr/>
          <p:nvPr/>
        </p:nvSpPr>
        <p:spPr>
          <a:xfrm>
            <a:off x="4700016" y="2500884"/>
            <a:ext cx="685800" cy="182880"/>
          </a:xfrm>
          <a:prstGeom prst="rect">
            <a:avLst/>
          </a:prstGeom>
          <a:solidFill>
            <a:srgbClr val="35E07E">
              <a:alpha val="26000"/>
            </a:srgbClr>
          </a:solidFill>
          <a:ln/>
        </p:spPr>
        <p:txBody>
          <a:bodyPr/>
          <a:lstStyle/>
          <a:p>
            <a:endParaRPr lang="en-SE"/>
          </a:p>
        </p:txBody>
      </p:sp>
      <p:sp>
        <p:nvSpPr>
          <p:cNvPr id="35" name="Text 33"/>
          <p:cNvSpPr/>
          <p:nvPr/>
        </p:nvSpPr>
        <p:spPr>
          <a:xfrm>
            <a:off x="325526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97</a:t>
            </a:r>
            <a:endParaRPr lang="en-US" sz="1250" dirty="0"/>
          </a:p>
        </p:txBody>
      </p:sp>
      <p:sp>
        <p:nvSpPr>
          <p:cNvPr id="36" name="Text 34"/>
          <p:cNvSpPr/>
          <p:nvPr/>
        </p:nvSpPr>
        <p:spPr>
          <a:xfrm>
            <a:off x="461772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15</a:t>
            </a:r>
            <a:endParaRPr lang="en-US" sz="1150" dirty="0"/>
          </a:p>
        </p:txBody>
      </p:sp>
      <p:sp>
        <p:nvSpPr>
          <p:cNvPr id="37" name="depth">
            <a:extLst>
              <a:ext uri="{C183D7F6-B498-43B3-948B-1728B52AA6E4}">
                <adec:decorative xmlns:adec="http://schemas.microsoft.com/office/drawing/2017/decorative" val="1"/>
              </a:ext>
            </a:extLst>
          </p:cNvPr>
          <p:cNvSpPr/>
          <p:nvPr/>
        </p:nvSpPr>
        <p:spPr>
          <a:xfrm>
            <a:off x="4471416" y="2756916"/>
            <a:ext cx="914400" cy="182880"/>
          </a:xfrm>
          <a:prstGeom prst="rect">
            <a:avLst/>
          </a:prstGeom>
          <a:solidFill>
            <a:srgbClr val="35E07E">
              <a:alpha val="26000"/>
            </a:srgbClr>
          </a:solidFill>
          <a:ln/>
        </p:spPr>
        <p:txBody>
          <a:bodyPr/>
          <a:lstStyle/>
          <a:p>
            <a:endParaRPr lang="en-SE"/>
          </a:p>
        </p:txBody>
      </p:sp>
      <p:sp>
        <p:nvSpPr>
          <p:cNvPr id="38" name="Text 36"/>
          <p:cNvSpPr/>
          <p:nvPr/>
        </p:nvSpPr>
        <p:spPr>
          <a:xfrm>
            <a:off x="325526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96</a:t>
            </a:r>
            <a:endParaRPr lang="en-US" sz="1250" dirty="0"/>
          </a:p>
        </p:txBody>
      </p:sp>
      <p:sp>
        <p:nvSpPr>
          <p:cNvPr id="39" name="Text 37"/>
          <p:cNvSpPr/>
          <p:nvPr/>
        </p:nvSpPr>
        <p:spPr>
          <a:xfrm>
            <a:off x="461772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20</a:t>
            </a:r>
            <a:endParaRPr lang="en-US" sz="1150" dirty="0"/>
          </a:p>
        </p:txBody>
      </p:sp>
      <p:sp>
        <p:nvSpPr>
          <p:cNvPr id="40" name="panel">
            <a:extLst>
              <a:ext uri="{C183D7F6-B498-43B3-948B-1728B52AA6E4}">
                <adec:decorative xmlns:adec="http://schemas.microsoft.com/office/drawing/2017/decorative" val="1"/>
              </a:ext>
            </a:extLst>
          </p:cNvPr>
          <p:cNvSpPr/>
          <p:nvPr/>
        </p:nvSpPr>
        <p:spPr>
          <a:xfrm>
            <a:off x="5715000" y="1463040"/>
            <a:ext cx="2880360" cy="1856232"/>
          </a:xfrm>
          <a:prstGeom prst="roundRect">
            <a:avLst>
              <a:gd name="adj" fmla="val 2956"/>
            </a:avLst>
          </a:prstGeom>
          <a:solidFill>
            <a:srgbClr val="1B212C"/>
          </a:solidFill>
          <a:ln w="12700">
            <a:solidFill>
              <a:srgbClr val="2C3644"/>
            </a:solidFill>
            <a:prstDash val="solid"/>
          </a:ln>
        </p:spPr>
        <p:txBody>
          <a:bodyPr/>
          <a:lstStyle/>
          <a:p>
            <a:endParaRPr lang="en-SE"/>
          </a:p>
        </p:txBody>
      </p:sp>
      <p:sp>
        <p:nvSpPr>
          <p:cNvPr id="41" name="Text 39"/>
          <p:cNvSpPr/>
          <p:nvPr/>
        </p:nvSpPr>
        <p:spPr>
          <a:xfrm>
            <a:off x="5852160" y="1554480"/>
            <a:ext cx="2651760" cy="274320"/>
          </a:xfrm>
          <a:prstGeom prst="rect">
            <a:avLst/>
          </a:prstGeom>
          <a:noFill/>
          <a:ln/>
        </p:spPr>
        <p:txBody>
          <a:bodyPr wrap="square" lIns="0" tIns="0" rIns="0" bIns="0" rtlCol="0" anchor="t"/>
          <a:lstStyle/>
          <a:p>
            <a:pPr marL="0" indent="0" algn="l">
              <a:buNone/>
            </a:pPr>
            <a:r>
              <a:rPr lang="en-US" sz="1150" b="1" dirty="0">
                <a:solidFill>
                  <a:srgbClr val="FFFFFF"/>
                </a:solidFill>
                <a:latin typeface="Segoe UI" pitchFamily="34" charset="0"/>
                <a:ea typeface="Segoe UI" pitchFamily="34" charset="-122"/>
                <a:cs typeface="Segoe UI" pitchFamily="34" charset="-120"/>
              </a:rPr>
              <a:t>MARCH–JUNE SPREAD</a:t>
            </a:r>
            <a:endParaRPr lang="en-US" sz="1150" dirty="0"/>
          </a:p>
        </p:txBody>
      </p:sp>
      <p:sp>
        <p:nvSpPr>
          <p:cNvPr id="42" name="Text 40"/>
          <p:cNvSpPr/>
          <p:nvPr/>
        </p:nvSpPr>
        <p:spPr>
          <a:xfrm>
            <a:off x="5715000" y="2148840"/>
            <a:ext cx="2880360" cy="457200"/>
          </a:xfrm>
          <a:prstGeom prst="rect">
            <a:avLst/>
          </a:prstGeom>
          <a:noFill/>
          <a:ln/>
        </p:spPr>
        <p:txBody>
          <a:bodyPr wrap="square" lIns="0" tIns="0" rIns="0" bIns="0" rtlCol="0" anchor="t"/>
          <a:lstStyle/>
          <a:p>
            <a:pPr marL="0" indent="0" algn="ctr">
              <a:buNone/>
            </a:pPr>
            <a:r>
              <a:rPr lang="en-US" sz="2000" dirty="0">
                <a:solidFill>
                  <a:srgbClr val="FF5C6C"/>
                </a:solidFill>
                <a:latin typeface="Consolas" pitchFamily="34" charset="0"/>
                <a:ea typeface="Consolas" pitchFamily="34" charset="-122"/>
                <a:cs typeface="Consolas" pitchFamily="34" charset="-120"/>
              </a:rPr>
              <a:t>empty</a:t>
            </a:r>
            <a:endParaRPr lang="en-US" sz="2000" dirty="0"/>
          </a:p>
        </p:txBody>
      </p:sp>
      <p:sp>
        <p:nvSpPr>
          <p:cNvPr id="43" name="Text 41"/>
          <p:cNvSpPr/>
          <p:nvPr/>
        </p:nvSpPr>
        <p:spPr>
          <a:xfrm>
            <a:off x="5715000" y="2651760"/>
            <a:ext cx="2880360" cy="274320"/>
          </a:xfrm>
          <a:prstGeom prst="rect">
            <a:avLst/>
          </a:prstGeom>
          <a:noFill/>
          <a:ln/>
        </p:spPr>
        <p:txBody>
          <a:bodyPr wrap="square" lIns="0" tIns="0" rIns="0" bIns="0" rtlCol="0" anchor="t"/>
          <a:lstStyle/>
          <a:p>
            <a:pPr marL="0" indent="0" algn="ctr">
              <a:buNone/>
            </a:pPr>
            <a:r>
              <a:rPr lang="en-US" sz="1100" dirty="0">
                <a:solidFill>
                  <a:srgbClr val="8B96A8"/>
                </a:solidFill>
                <a:latin typeface="Segoe UI" pitchFamily="34" charset="0"/>
                <a:ea typeface="Segoe UI" pitchFamily="34" charset="-122"/>
                <a:cs typeface="Segoe UI" pitchFamily="34" charset="-120"/>
              </a:rPr>
              <a:t>no bids · no asks</a:t>
            </a:r>
            <a:endParaRPr lang="en-US" sz="1100" dirty="0"/>
          </a:p>
        </p:txBody>
      </p:sp>
      <p:sp>
        <p:nvSpPr>
          <p:cNvPr id="44" name="panel">
            <a:extLst>
              <a:ext uri="{C183D7F6-B498-43B3-948B-1728B52AA6E4}">
                <adec:decorative xmlns:adec="http://schemas.microsoft.com/office/drawing/2017/decorative" val="1"/>
              </a:ext>
            </a:extLst>
          </p:cNvPr>
          <p:cNvSpPr/>
          <p:nvPr/>
        </p:nvSpPr>
        <p:spPr>
          <a:xfrm>
            <a:off x="502920" y="3703320"/>
            <a:ext cx="8092440" cy="822960"/>
          </a:xfrm>
          <a:prstGeom prst="roundRect">
            <a:avLst>
              <a:gd name="adj" fmla="val 6667"/>
            </a:avLst>
          </a:prstGeom>
          <a:solidFill>
            <a:srgbClr val="1E1A10"/>
          </a:solidFill>
          <a:ln w="12700">
            <a:solidFill>
              <a:srgbClr val="FBB24B"/>
            </a:solidFill>
            <a:prstDash val="solid"/>
          </a:ln>
        </p:spPr>
        <p:txBody>
          <a:bodyPr/>
          <a:lstStyle/>
          <a:p>
            <a:endParaRPr lang="en-SE"/>
          </a:p>
        </p:txBody>
      </p:sp>
      <p:sp>
        <p:nvSpPr>
          <p:cNvPr id="45" name="Text 43"/>
          <p:cNvSpPr/>
          <p:nvPr/>
        </p:nvSpPr>
        <p:spPr>
          <a:xfrm>
            <a:off x="685800" y="3803904"/>
            <a:ext cx="7772400" cy="640080"/>
          </a:xfrm>
          <a:prstGeom prst="rect">
            <a:avLst/>
          </a:prstGeom>
          <a:noFill/>
          <a:ln/>
        </p:spPr>
        <p:txBody>
          <a:bodyPr wrap="square" lIns="0" tIns="0" rIns="0" bIns="0" rtlCol="0" anchor="ctr"/>
          <a:lstStyle/>
          <a:p>
            <a:pPr marL="0" indent="0" algn="l">
              <a:lnSpc>
                <a:spcPts val="1800"/>
              </a:lnSpc>
              <a:buNone/>
            </a:pPr>
            <a:r>
              <a:rPr lang="en-US" sz="1300" dirty="0">
                <a:solidFill>
                  <a:srgbClr val="D8DEE9"/>
                </a:solidFill>
                <a:latin typeface="Segoe UI" pitchFamily="34" charset="0"/>
                <a:ea typeface="Segoe UI" pitchFamily="34" charset="-122"/>
                <a:cs typeface="Segoe UI" pitchFamily="34" charset="-120"/>
              </a:rPr>
              <a:t>A customer wants to BUY the spread at a fair price — but the spread book shows nothing. To them, the market looks dead.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liquidity is right there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PROBLEM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21</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400" dirty="0">
                <a:solidFill>
                  <a:srgbClr val="D8DEE9"/>
                </a:solidFill>
                <a:latin typeface="Segoe UI" pitchFamily="34" charset="0"/>
                <a:ea typeface="Segoe UI" pitchFamily="34" charset="-122"/>
                <a:cs typeface="Segoe UI" pitchFamily="34" charset="-120"/>
              </a:rPr>
              <a:t>Look what the leg books already allow, if we combine them:</a:t>
            </a:r>
            <a:endParaRPr lang="en-US" sz="1400" dirty="0"/>
          </a:p>
        </p:txBody>
      </p:sp>
      <p:sp>
        <p:nvSpPr>
          <p:cNvPr id="7" name="panel">
            <a:extLst>
              <a:ext uri="{C183D7F6-B498-43B3-948B-1728B52AA6E4}">
                <adec:decorative xmlns:adec="http://schemas.microsoft.com/office/drawing/2017/decorative" val="1"/>
              </a:ext>
            </a:extLst>
          </p:cNvPr>
          <p:cNvSpPr/>
          <p:nvPr/>
        </p:nvSpPr>
        <p:spPr>
          <a:xfrm>
            <a:off x="502920" y="1874520"/>
            <a:ext cx="3931920" cy="2514600"/>
          </a:xfrm>
          <a:prstGeom prst="roundRect">
            <a:avLst>
              <a:gd name="adj" fmla="val 2182"/>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011680"/>
            <a:ext cx="3657600" cy="274320"/>
          </a:xfrm>
          <a:prstGeom prst="rect">
            <a:avLst/>
          </a:prstGeom>
          <a:noFill/>
          <a:ln/>
        </p:spPr>
        <p:txBody>
          <a:bodyPr wrap="square" lIns="0" tIns="0" rIns="0" bIns="0" rtlCol="0" anchor="t"/>
          <a:lstStyle/>
          <a:p>
            <a:pPr marL="0" indent="0" algn="l">
              <a:buNone/>
            </a:pPr>
            <a:r>
              <a:rPr lang="en-US" sz="1300" b="1" dirty="0">
                <a:solidFill>
                  <a:srgbClr val="FFFFFF"/>
                </a:solidFill>
                <a:latin typeface="Segoe UI" pitchFamily="34" charset="0"/>
                <a:ea typeface="Segoe UI" pitchFamily="34" charset="-122"/>
                <a:cs typeface="Segoe UI" pitchFamily="34" charset="-120"/>
              </a:rPr>
              <a:t>SELL the spread synthetically</a:t>
            </a:r>
            <a:endParaRPr lang="en-US" sz="1300" dirty="0"/>
          </a:p>
        </p:txBody>
      </p:sp>
      <p:sp>
        <p:nvSpPr>
          <p:cNvPr id="9" name="step">
            <a:extLst>
              <a:ext uri="{C183D7F6-B498-43B3-948B-1728B52AA6E4}">
                <adec:decorative xmlns:adec="http://schemas.microsoft.com/office/drawing/2017/decorative" val="1"/>
              </a:ext>
            </a:extLst>
          </p:cNvPr>
          <p:cNvSpPr/>
          <p:nvPr/>
        </p:nvSpPr>
        <p:spPr>
          <a:xfrm>
            <a:off x="685800" y="2468880"/>
            <a:ext cx="310896" cy="310896"/>
          </a:xfrm>
          <a:prstGeom prst="ellipse">
            <a:avLst/>
          </a:prstGeom>
          <a:solidFill>
            <a:srgbClr val="FF5C6C"/>
          </a:solidFill>
          <a:ln/>
        </p:spPr>
        <p:txBody>
          <a:bodyPr/>
          <a:lstStyle/>
          <a:p>
            <a:endParaRPr lang="en-SE"/>
          </a:p>
        </p:txBody>
      </p:sp>
      <p:sp>
        <p:nvSpPr>
          <p:cNvPr id="10" name="Text 8"/>
          <p:cNvSpPr/>
          <p:nvPr/>
        </p:nvSpPr>
        <p:spPr>
          <a:xfrm>
            <a:off x="685800" y="246888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A</a:t>
            </a:r>
            <a:endParaRPr lang="en-US" sz="1300" dirty="0"/>
          </a:p>
        </p:txBody>
      </p:sp>
      <p:sp>
        <p:nvSpPr>
          <p:cNvPr id="11" name="Text 9"/>
          <p:cNvSpPr/>
          <p:nvPr/>
        </p:nvSpPr>
        <p:spPr>
          <a:xfrm>
            <a:off x="1143000" y="2487168"/>
            <a:ext cx="320040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Sell March into its best bid</a:t>
            </a:r>
            <a:endParaRPr lang="en-US" sz="1250" dirty="0"/>
          </a:p>
        </p:txBody>
      </p:sp>
      <p:sp>
        <p:nvSpPr>
          <p:cNvPr id="12" name="Text 10"/>
          <p:cNvSpPr/>
          <p:nvPr/>
        </p:nvSpPr>
        <p:spPr>
          <a:xfrm>
            <a:off x="1143000" y="2761488"/>
            <a:ext cx="3108960" cy="365760"/>
          </a:xfrm>
          <a:prstGeom prst="rect">
            <a:avLst/>
          </a:prstGeom>
          <a:noFill/>
          <a:ln/>
        </p:spPr>
        <p:txBody>
          <a:bodyPr wrap="square" lIns="0" tIns="0" rIns="0" bIns="0" rtlCol="0" anchor="ctr"/>
          <a:lstStyle/>
          <a:p>
            <a:pPr marL="0" indent="0" algn="l">
              <a:buNone/>
            </a:pPr>
            <a:r>
              <a:rPr lang="en-US" sz="1250" dirty="0">
                <a:solidFill>
                  <a:srgbClr val="8B96A8"/>
                </a:solidFill>
                <a:latin typeface="Consolas" pitchFamily="34" charset="0"/>
                <a:ea typeface="Consolas" pitchFamily="34" charset="-122"/>
                <a:cs typeface="Consolas" pitchFamily="34" charset="-120"/>
              </a:rPr>
              <a:t>fill @ </a:t>
            </a: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3" name="step">
            <a:extLst>
              <a:ext uri="{C183D7F6-B498-43B3-948B-1728B52AA6E4}">
                <adec:decorative xmlns:adec="http://schemas.microsoft.com/office/drawing/2017/decorative" val="1"/>
              </a:ext>
            </a:extLst>
          </p:cNvPr>
          <p:cNvSpPr/>
          <p:nvPr/>
        </p:nvSpPr>
        <p:spPr>
          <a:xfrm>
            <a:off x="685800" y="3200400"/>
            <a:ext cx="310896" cy="310896"/>
          </a:xfrm>
          <a:prstGeom prst="ellipse">
            <a:avLst/>
          </a:prstGeom>
          <a:solidFill>
            <a:srgbClr val="35E07E"/>
          </a:solidFill>
          <a:ln/>
        </p:spPr>
        <p:txBody>
          <a:bodyPr/>
          <a:lstStyle/>
          <a:p>
            <a:endParaRPr lang="en-SE"/>
          </a:p>
        </p:txBody>
      </p:sp>
      <p:sp>
        <p:nvSpPr>
          <p:cNvPr id="14" name="Text 12"/>
          <p:cNvSpPr/>
          <p:nvPr/>
        </p:nvSpPr>
        <p:spPr>
          <a:xfrm>
            <a:off x="685800" y="320040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B</a:t>
            </a:r>
            <a:endParaRPr lang="en-US" sz="1300" dirty="0"/>
          </a:p>
        </p:txBody>
      </p:sp>
      <p:sp>
        <p:nvSpPr>
          <p:cNvPr id="15" name="Text 13"/>
          <p:cNvSpPr/>
          <p:nvPr/>
        </p:nvSpPr>
        <p:spPr>
          <a:xfrm>
            <a:off x="1143000" y="3218688"/>
            <a:ext cx="320040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Buy June from its best ask</a:t>
            </a:r>
            <a:endParaRPr lang="en-US" sz="1250" dirty="0"/>
          </a:p>
        </p:txBody>
      </p:sp>
      <p:sp>
        <p:nvSpPr>
          <p:cNvPr id="16" name="Text 14"/>
          <p:cNvSpPr/>
          <p:nvPr/>
        </p:nvSpPr>
        <p:spPr>
          <a:xfrm>
            <a:off x="1143000" y="3493008"/>
            <a:ext cx="3108960" cy="365760"/>
          </a:xfrm>
          <a:prstGeom prst="rect">
            <a:avLst/>
          </a:prstGeom>
          <a:noFill/>
          <a:ln/>
        </p:spPr>
        <p:txBody>
          <a:bodyPr wrap="square" lIns="0" tIns="0" rIns="0" bIns="0" rtlCol="0" anchor="ctr"/>
          <a:lstStyle/>
          <a:p>
            <a:pPr marL="0" indent="0" algn="l">
              <a:buNone/>
            </a:pPr>
            <a:r>
              <a:rPr lang="en-US" sz="1250" dirty="0">
                <a:solidFill>
                  <a:srgbClr val="8B96A8"/>
                </a:solidFill>
                <a:latin typeface="Consolas" pitchFamily="34" charset="0"/>
                <a:ea typeface="Consolas" pitchFamily="34" charset="-122"/>
                <a:cs typeface="Consolas" pitchFamily="34" charset="-120"/>
              </a:rPr>
              <a:t>fill @ </a:t>
            </a:r>
            <a:r>
              <a:rPr lang="en-US" sz="1250" b="1" dirty="0">
                <a:solidFill>
                  <a:srgbClr val="FF5C6C"/>
                </a:solidFill>
                <a:latin typeface="Consolas" pitchFamily="34" charset="0"/>
                <a:ea typeface="Consolas" pitchFamily="34" charset="-122"/>
                <a:cs typeface="Consolas" pitchFamily="34" charset="-120"/>
              </a:rPr>
              <a:t>98</a:t>
            </a:r>
            <a:endParaRPr lang="en-US" sz="1250" dirty="0"/>
          </a:p>
        </p:txBody>
      </p:sp>
      <p:sp>
        <p:nvSpPr>
          <p:cNvPr id="17" name="rule">
            <a:extLst>
              <a:ext uri="{C183D7F6-B498-43B3-948B-1728B52AA6E4}">
                <adec:decorative xmlns:adec="http://schemas.microsoft.com/office/drawing/2017/decorative" val="1"/>
              </a:ext>
            </a:extLst>
          </p:cNvPr>
          <p:cNvSpPr/>
          <p:nvPr/>
        </p:nvSpPr>
        <p:spPr>
          <a:xfrm>
            <a:off x="685800" y="3913632"/>
            <a:ext cx="3566160" cy="0"/>
          </a:xfrm>
          <a:prstGeom prst="line">
            <a:avLst/>
          </a:prstGeom>
          <a:noFill/>
          <a:ln w="12700">
            <a:solidFill>
              <a:srgbClr val="2C3644"/>
            </a:solidFill>
            <a:prstDash val="solid"/>
          </a:ln>
        </p:spPr>
        <p:txBody>
          <a:bodyPr/>
          <a:lstStyle/>
          <a:p>
            <a:endParaRPr lang="en-SE"/>
          </a:p>
        </p:txBody>
      </p:sp>
      <p:sp>
        <p:nvSpPr>
          <p:cNvPr id="18" name="Text 16"/>
          <p:cNvSpPr/>
          <p:nvPr/>
        </p:nvSpPr>
        <p:spPr>
          <a:xfrm>
            <a:off x="640080" y="4023360"/>
            <a:ext cx="3749040" cy="365760"/>
          </a:xfrm>
          <a:prstGeom prst="rect">
            <a:avLst/>
          </a:prstGeom>
          <a:noFill/>
          <a:ln/>
        </p:spPr>
        <p:txBody>
          <a:bodyPr wrap="square" lIns="0" tIns="0" rIns="0" bIns="0" rtlCol="0" anchor="ctr"/>
          <a:lstStyle/>
          <a:p>
            <a:pPr marL="0" indent="0" algn="l">
              <a:buNone/>
            </a:pPr>
            <a:r>
              <a:rPr lang="en-US" sz="1500" dirty="0">
                <a:solidFill>
                  <a:srgbClr val="8B96A8"/>
                </a:solidFill>
                <a:latin typeface="Consolas" pitchFamily="34" charset="0"/>
                <a:ea typeface="Consolas" pitchFamily="34" charset="-122"/>
                <a:cs typeface="Consolas" pitchFamily="34" charset="-120"/>
              </a:rPr>
              <a:t>net spread = 99 − 98 = </a:t>
            </a:r>
            <a:r>
              <a:rPr lang="en-US" sz="1500" b="1" dirty="0">
                <a:solidFill>
                  <a:srgbClr val="3AD1E6"/>
                </a:solidFill>
                <a:latin typeface="Consolas" pitchFamily="34" charset="0"/>
                <a:ea typeface="Consolas" pitchFamily="34" charset="-122"/>
                <a:cs typeface="Consolas" pitchFamily="34" charset="-120"/>
              </a:rPr>
              <a:t>1</a:t>
            </a:r>
            <a:endParaRPr lang="en-US" sz="1500" dirty="0"/>
          </a:p>
        </p:txBody>
      </p:sp>
      <p:sp>
        <p:nvSpPr>
          <p:cNvPr id="19" name="panel">
            <a:extLst>
              <a:ext uri="{C183D7F6-B498-43B3-948B-1728B52AA6E4}">
                <adec:decorative xmlns:adec="http://schemas.microsoft.com/office/drawing/2017/decorative" val="1"/>
              </a:ext>
            </a:extLst>
          </p:cNvPr>
          <p:cNvSpPr/>
          <p:nvPr/>
        </p:nvSpPr>
        <p:spPr>
          <a:xfrm>
            <a:off x="4663440" y="1874520"/>
            <a:ext cx="3931920" cy="2514600"/>
          </a:xfrm>
          <a:prstGeom prst="roundRect">
            <a:avLst>
              <a:gd name="adj" fmla="val 2182"/>
            </a:avLst>
          </a:prstGeom>
          <a:solidFill>
            <a:srgbClr val="10251C"/>
          </a:solidFill>
          <a:ln w="12700">
            <a:solidFill>
              <a:srgbClr val="3AD1E6"/>
            </a:solidFill>
            <a:prstDash val="solid"/>
          </a:ln>
        </p:spPr>
        <p:txBody>
          <a:bodyPr/>
          <a:lstStyle/>
          <a:p>
            <a:endParaRPr lang="en-SE"/>
          </a:p>
        </p:txBody>
      </p:sp>
      <p:sp>
        <p:nvSpPr>
          <p:cNvPr id="20" name="Text 18"/>
          <p:cNvSpPr/>
          <p:nvPr/>
        </p:nvSpPr>
        <p:spPr>
          <a:xfrm>
            <a:off x="4846320" y="2057400"/>
            <a:ext cx="3657600" cy="274320"/>
          </a:xfrm>
          <a:prstGeom prst="rect">
            <a:avLst/>
          </a:prstGeom>
          <a:noFill/>
          <a:ln/>
        </p:spPr>
        <p:txBody>
          <a:bodyPr wrap="square" lIns="0" tIns="0" rIns="0" bIns="0" rtlCol="0" anchor="t"/>
          <a:lstStyle/>
          <a:p>
            <a:pPr marL="0" indent="0" algn="l">
              <a:buNone/>
            </a:pPr>
            <a:r>
              <a:rPr lang="en-US" sz="1200" b="1" kern="0" spc="100" dirty="0">
                <a:solidFill>
                  <a:srgbClr val="3AD1E6"/>
                </a:solidFill>
                <a:latin typeface="Segoe UI" pitchFamily="34" charset="0"/>
                <a:ea typeface="Segoe UI" pitchFamily="34" charset="-122"/>
                <a:cs typeface="Segoe UI" pitchFamily="34" charset="-120"/>
              </a:rPr>
              <a:t>SO THE SPREAD IS SELLABLE AT 1</a:t>
            </a:r>
            <a:endParaRPr lang="en-US" sz="1200" dirty="0"/>
          </a:p>
        </p:txBody>
      </p:sp>
      <p:sp>
        <p:nvSpPr>
          <p:cNvPr id="21" name="Text 19"/>
          <p:cNvSpPr/>
          <p:nvPr/>
        </p:nvSpPr>
        <p:spPr>
          <a:xfrm>
            <a:off x="4846320" y="2423160"/>
            <a:ext cx="3566160" cy="822960"/>
          </a:xfrm>
          <a:prstGeom prst="rect">
            <a:avLst/>
          </a:prstGeom>
          <a:noFill/>
          <a:ln/>
        </p:spPr>
        <p:txBody>
          <a:bodyPr wrap="square" lIns="0" tIns="0" rIns="0" bIns="0" rtlCol="0" anchor="t"/>
          <a:lstStyle/>
          <a:p>
            <a:pPr marL="0" indent="0" algn="l">
              <a:lnSpc>
                <a:spcPts val="1800"/>
              </a:lnSpc>
              <a:buNone/>
            </a:pPr>
            <a:r>
              <a:rPr lang="en-US" sz="1300" dirty="0">
                <a:solidFill>
                  <a:srgbClr val="D8DEE9"/>
                </a:solidFill>
                <a:latin typeface="Segoe UI" pitchFamily="34" charset="0"/>
                <a:ea typeface="Segoe UI" pitchFamily="34" charset="-122"/>
                <a:cs typeface="Segoe UI" pitchFamily="34" charset="-120"/>
              </a:rPr>
              <a:t>The willingness to trade already exists — parked in the March and June books. Nothing new is needed.</a:t>
            </a:r>
            <a:endParaRPr lang="en-US" sz="1300" dirty="0"/>
          </a:p>
        </p:txBody>
      </p:sp>
      <p:sp>
        <p:nvSpPr>
          <p:cNvPr id="22" name="Text 20"/>
          <p:cNvSpPr/>
          <p:nvPr/>
        </p:nvSpPr>
        <p:spPr>
          <a:xfrm>
            <a:off x="4846320" y="3337560"/>
            <a:ext cx="3566160" cy="274320"/>
          </a:xfrm>
          <a:prstGeom prst="rect">
            <a:avLst/>
          </a:prstGeom>
          <a:noFill/>
          <a:ln/>
        </p:spPr>
        <p:txBody>
          <a:bodyPr wrap="square" lIns="0" tIns="0" rIns="0" bIns="0" rtlCol="0" anchor="t"/>
          <a:lstStyle/>
          <a:p>
            <a:pPr marL="0" indent="0" algn="l">
              <a:buNone/>
            </a:pPr>
            <a:r>
              <a:rPr lang="en-US" sz="1200" dirty="0">
                <a:solidFill>
                  <a:srgbClr val="8B96A8"/>
                </a:solidFill>
                <a:latin typeface="Segoe UI" pitchFamily="34" charset="0"/>
                <a:ea typeface="Segoe UI" pitchFamily="34" charset="-122"/>
                <a:cs typeface="Segoe UI" pitchFamily="34" charset="-120"/>
              </a:rPr>
              <a:t>The only missing piece:</a:t>
            </a:r>
            <a:endParaRPr lang="en-US" sz="1200" dirty="0"/>
          </a:p>
        </p:txBody>
      </p:sp>
      <p:sp>
        <p:nvSpPr>
          <p:cNvPr id="23" name="Text 21"/>
          <p:cNvSpPr/>
          <p:nvPr/>
        </p:nvSpPr>
        <p:spPr>
          <a:xfrm>
            <a:off x="4846320" y="3611880"/>
            <a:ext cx="3566160" cy="640080"/>
          </a:xfrm>
          <a:prstGeom prst="rect">
            <a:avLst/>
          </a:prstGeom>
          <a:noFill/>
          <a:ln/>
        </p:spPr>
        <p:txBody>
          <a:bodyPr wrap="square" lIns="0" tIns="0" rIns="0" bIns="0" rtlCol="0" anchor="t"/>
          <a:lstStyle/>
          <a:p>
            <a:pPr marL="0" indent="0" algn="l">
              <a:lnSpc>
                <a:spcPts val="1800"/>
              </a:lnSpc>
              <a:buNone/>
            </a:pPr>
            <a:r>
              <a:rPr lang="en-US" sz="1350" b="1" dirty="0">
                <a:solidFill>
                  <a:srgbClr val="FFFFFF"/>
                </a:solidFill>
                <a:latin typeface="Segoe UI" pitchFamily="34" charset="0"/>
                <a:ea typeface="Segoe UI" pitchFamily="34" charset="-122"/>
                <a:cs typeface="Segoe UI" pitchFamily="34" charset="-120"/>
              </a:rPr>
              <a:t>someone to post that price in the spread book automatically.</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question that implied orders answer</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PROBLEM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22</a:t>
            </a:r>
            <a:endParaRPr lang="en-US" sz="850" dirty="0"/>
          </a:p>
        </p:txBody>
      </p:sp>
      <p:sp>
        <p:nvSpPr>
          <p:cNvPr id="6" name="panel">
            <a:extLst>
              <a:ext uri="{C183D7F6-B498-43B3-948B-1728B52AA6E4}">
                <adec:decorative xmlns:adec="http://schemas.microsoft.com/office/drawing/2017/decorative" val="1"/>
              </a:ext>
            </a:extLst>
          </p:cNvPr>
          <p:cNvSpPr/>
          <p:nvPr/>
        </p:nvSpPr>
        <p:spPr>
          <a:xfrm>
            <a:off x="822960" y="1737360"/>
            <a:ext cx="7498080" cy="1554480"/>
          </a:xfrm>
          <a:prstGeom prst="roundRect">
            <a:avLst>
              <a:gd name="adj" fmla="val 3529"/>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1097280" y="1874520"/>
            <a:ext cx="6949440" cy="1280160"/>
          </a:xfrm>
          <a:prstGeom prst="rect">
            <a:avLst/>
          </a:prstGeom>
          <a:noFill/>
          <a:ln/>
        </p:spPr>
        <p:txBody>
          <a:bodyPr wrap="square" lIns="0" tIns="0" rIns="0" bIns="0" rtlCol="0" anchor="ctr"/>
          <a:lstStyle/>
          <a:p>
            <a:pPr marL="0" indent="0" algn="ctr">
              <a:lnSpc>
                <a:spcPts val="2600"/>
              </a:lnSpc>
              <a:buNone/>
            </a:pPr>
            <a:r>
              <a:rPr lang="en-US" sz="2000" b="1" dirty="0">
                <a:solidFill>
                  <a:srgbClr val="FFFFFF"/>
                </a:solidFill>
                <a:latin typeface="Segoe UI" pitchFamily="34" charset="0"/>
                <a:ea typeface="Segoe UI" pitchFamily="34" charset="-122"/>
                <a:cs typeface="Segoe UI" pitchFamily="34" charset="-120"/>
              </a:rPr>
              <a:t>“If the orders needed to make a market already exist in related books, why should the trader have to find and combine them by hand?”</a:t>
            </a:r>
            <a:endParaRPr lang="en-US" sz="2000" dirty="0"/>
          </a:p>
        </p:txBody>
      </p:sp>
      <p:sp>
        <p:nvSpPr>
          <p:cNvPr id="8" name="Text 6"/>
          <p:cNvSpPr/>
          <p:nvPr/>
        </p:nvSpPr>
        <p:spPr>
          <a:xfrm>
            <a:off x="822960" y="3520440"/>
            <a:ext cx="7498080" cy="365760"/>
          </a:xfrm>
          <a:prstGeom prst="rect">
            <a:avLst/>
          </a:prstGeom>
          <a:noFill/>
          <a:ln/>
        </p:spPr>
        <p:txBody>
          <a:bodyPr wrap="square" lIns="0" tIns="0" rIns="0" bIns="0" rtlCol="0" anchor="t"/>
          <a:lstStyle/>
          <a:p>
            <a:pPr marL="0" indent="0" algn="ctr">
              <a:buNone/>
            </a:pPr>
            <a:r>
              <a:rPr lang="en-US" sz="1400" b="1" dirty="0">
                <a:solidFill>
                  <a:srgbClr val="35E07E"/>
                </a:solidFill>
                <a:latin typeface="Segoe UI" pitchFamily="34" charset="0"/>
                <a:ea typeface="Segoe UI" pitchFamily="34" charset="-122"/>
                <a:cs typeface="Segoe UI" pitchFamily="34" charset="-120"/>
              </a:rPr>
              <a:t>Answer: they shouldn't. The matching engine does it for them — continuously, automatically.</a:t>
            </a:r>
            <a:endParaRPr lang="en-US" sz="1400" dirty="0"/>
          </a:p>
        </p:txBody>
      </p:sp>
      <p:sp>
        <p:nvSpPr>
          <p:cNvPr id="9" name="Text 7"/>
          <p:cNvSpPr/>
          <p:nvPr/>
        </p:nvSpPr>
        <p:spPr>
          <a:xfrm>
            <a:off x="822960" y="3977640"/>
            <a:ext cx="7498080" cy="365760"/>
          </a:xfrm>
          <a:prstGeom prst="rect">
            <a:avLst/>
          </a:prstGeom>
          <a:noFill/>
          <a:ln/>
        </p:spPr>
        <p:txBody>
          <a:bodyPr wrap="square" lIns="0" tIns="0" rIns="0" bIns="0" rtlCol="0" anchor="t"/>
          <a:lstStyle/>
          <a:p>
            <a:pPr marL="0" indent="0" algn="ctr">
              <a:buNone/>
            </a:pPr>
            <a:r>
              <a:rPr lang="en-US" sz="1250" i="1" dirty="0">
                <a:solidFill>
                  <a:srgbClr val="8B96A8"/>
                </a:solidFill>
                <a:latin typeface="Segoe UI" pitchFamily="34" charset="0"/>
                <a:ea typeface="Segoe UI" pitchFamily="34" charset="-122"/>
                <a:cs typeface="Segoe UI" pitchFamily="34" charset="-120"/>
              </a:rPr>
              <a:t>It publishes IMPLIED ORDERS: synthetic quotes derived from real ones in other instruments.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Meet the implied order</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PROBLEM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23</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8092440" cy="1051560"/>
          </a:xfrm>
          <a:prstGeom prst="roundRect">
            <a:avLst>
              <a:gd name="adj" fmla="val 5217"/>
            </a:avLst>
          </a:prstGeom>
          <a:solidFill>
            <a:srgbClr val="10251C"/>
          </a:solidFill>
          <a:ln w="12700">
            <a:solidFill>
              <a:srgbClr val="3AD1E6"/>
            </a:solidFill>
            <a:prstDash val="solid"/>
          </a:ln>
        </p:spPr>
        <p:txBody>
          <a:bodyPr/>
          <a:lstStyle/>
          <a:p>
            <a:endParaRPr lang="en-SE"/>
          </a:p>
        </p:txBody>
      </p:sp>
      <p:sp>
        <p:nvSpPr>
          <p:cNvPr id="7" name="Text 5"/>
          <p:cNvSpPr/>
          <p:nvPr/>
        </p:nvSpPr>
        <p:spPr>
          <a:xfrm>
            <a:off x="685800" y="1572768"/>
            <a:ext cx="2743200" cy="228600"/>
          </a:xfrm>
          <a:prstGeom prst="rect">
            <a:avLst/>
          </a:prstGeom>
          <a:noFill/>
          <a:ln/>
        </p:spPr>
        <p:txBody>
          <a:bodyPr wrap="square" lIns="0" tIns="0" rIns="0" bIns="0" rtlCol="0" anchor="t"/>
          <a:lstStyle/>
          <a:p>
            <a:pPr marL="0" indent="0" algn="l">
              <a:buNone/>
            </a:pPr>
            <a:r>
              <a:rPr lang="en-US" sz="1000" b="1" kern="0" spc="200" dirty="0">
                <a:solidFill>
                  <a:srgbClr val="3AD1E6"/>
                </a:solidFill>
                <a:latin typeface="Segoe UI" pitchFamily="34" charset="0"/>
                <a:ea typeface="Segoe UI" pitchFamily="34" charset="-122"/>
                <a:cs typeface="Segoe UI" pitchFamily="34" charset="-120"/>
              </a:rPr>
              <a:t>DEFINITION</a:t>
            </a:r>
            <a:endParaRPr lang="en-US" sz="1000" dirty="0"/>
          </a:p>
        </p:txBody>
      </p:sp>
      <p:sp>
        <p:nvSpPr>
          <p:cNvPr id="8" name="Text 6"/>
          <p:cNvSpPr/>
          <p:nvPr/>
        </p:nvSpPr>
        <p:spPr>
          <a:xfrm>
            <a:off x="685800" y="1828800"/>
            <a:ext cx="7772400" cy="640080"/>
          </a:xfrm>
          <a:prstGeom prst="rect">
            <a:avLst/>
          </a:prstGeom>
          <a:noFill/>
          <a:ln/>
        </p:spPr>
        <p:txBody>
          <a:bodyPr wrap="square" lIns="0" tIns="0" rIns="0" bIns="0" rtlCol="0" anchor="t"/>
          <a:lstStyle/>
          <a:p>
            <a:pPr marL="0" indent="0" algn="l">
              <a:lnSpc>
                <a:spcPts val="1900"/>
              </a:lnSpc>
              <a:buNone/>
            </a:pPr>
            <a:r>
              <a:rPr lang="en-US" sz="1400" dirty="0">
                <a:solidFill>
                  <a:srgbClr val="D8DEE9"/>
                </a:solidFill>
                <a:latin typeface="Segoe UI" pitchFamily="34" charset="0"/>
                <a:ea typeface="Segoe UI" pitchFamily="34" charset="-122"/>
                <a:cs typeface="Segoe UI" pitchFamily="34" charset="-120"/>
              </a:rPr>
              <a:t>An implied order is a synthetic bid or ask the engine posts in one instrument, derived from real resting orders in related instruments — and executable only by trading those real orders.</a:t>
            </a:r>
            <a:endParaRPr lang="en-US" sz="1400" dirty="0"/>
          </a:p>
        </p:txBody>
      </p:sp>
      <p:sp>
        <p:nvSpPr>
          <p:cNvPr id="9" name="panel">
            <a:extLst>
              <a:ext uri="{C183D7F6-B498-43B3-948B-1728B52AA6E4}">
                <adec:decorative xmlns:adec="http://schemas.microsoft.com/office/drawing/2017/decorative" val="1"/>
              </a:ext>
            </a:extLst>
          </p:cNvPr>
          <p:cNvSpPr/>
          <p:nvPr/>
        </p:nvSpPr>
        <p:spPr>
          <a:xfrm>
            <a:off x="502920" y="2788920"/>
            <a:ext cx="2606040" cy="1600200"/>
          </a:xfrm>
          <a:prstGeom prst="roundRect">
            <a:avLst>
              <a:gd name="adj" fmla="val 3429"/>
            </a:avLst>
          </a:prstGeom>
          <a:solidFill>
            <a:srgbClr val="1B212C"/>
          </a:solidFill>
          <a:ln w="12700">
            <a:solidFill>
              <a:srgbClr val="2C3644"/>
            </a:solidFill>
            <a:prstDash val="solid"/>
          </a:ln>
        </p:spPr>
        <p:txBody>
          <a:bodyPr/>
          <a:lstStyle/>
          <a:p>
            <a:endParaRPr lang="en-SE"/>
          </a:p>
        </p:txBody>
      </p:sp>
      <p:sp>
        <p:nvSpPr>
          <p:cNvPr id="10" name="dot">
            <a:extLst>
              <a:ext uri="{C183D7F6-B498-43B3-948B-1728B52AA6E4}">
                <adec:decorative xmlns:adec="http://schemas.microsoft.com/office/drawing/2017/decorative" val="1"/>
              </a:ext>
            </a:extLst>
          </p:cNvPr>
          <p:cNvSpPr/>
          <p:nvPr/>
        </p:nvSpPr>
        <p:spPr>
          <a:xfrm>
            <a:off x="731520" y="3044952"/>
            <a:ext cx="182880" cy="182880"/>
          </a:xfrm>
          <a:prstGeom prst="ellipse">
            <a:avLst/>
          </a:prstGeom>
          <a:solidFill>
            <a:srgbClr val="35E07E"/>
          </a:solidFill>
          <a:ln/>
        </p:spPr>
        <p:txBody>
          <a:bodyPr/>
          <a:lstStyle/>
          <a:p>
            <a:endParaRPr lang="en-SE"/>
          </a:p>
        </p:txBody>
      </p:sp>
      <p:sp>
        <p:nvSpPr>
          <p:cNvPr id="11" name="Text 9"/>
          <p:cNvSpPr/>
          <p:nvPr/>
        </p:nvSpPr>
        <p:spPr>
          <a:xfrm>
            <a:off x="1005840" y="3008376"/>
            <a:ext cx="1965960" cy="274320"/>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Real-backed</a:t>
            </a:r>
            <a:endParaRPr lang="en-US" sz="1450" dirty="0"/>
          </a:p>
        </p:txBody>
      </p:sp>
      <p:sp>
        <p:nvSpPr>
          <p:cNvPr id="12" name="Text 10"/>
          <p:cNvSpPr/>
          <p:nvPr/>
        </p:nvSpPr>
        <p:spPr>
          <a:xfrm>
            <a:off x="731520" y="3447288"/>
            <a:ext cx="2148840" cy="82296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Every implied order points to real orders standing behind it.</a:t>
            </a:r>
            <a:endParaRPr lang="en-US" sz="1200" dirty="0"/>
          </a:p>
        </p:txBody>
      </p:sp>
      <p:sp>
        <p:nvSpPr>
          <p:cNvPr id="13" name="panel">
            <a:extLst>
              <a:ext uri="{C183D7F6-B498-43B3-948B-1728B52AA6E4}">
                <adec:decorative xmlns:adec="http://schemas.microsoft.com/office/drawing/2017/decorative" val="1"/>
              </a:ext>
            </a:extLst>
          </p:cNvPr>
          <p:cNvSpPr/>
          <p:nvPr/>
        </p:nvSpPr>
        <p:spPr>
          <a:xfrm>
            <a:off x="3291840" y="2788920"/>
            <a:ext cx="2606040" cy="1600200"/>
          </a:xfrm>
          <a:prstGeom prst="roundRect">
            <a:avLst>
              <a:gd name="adj" fmla="val 3429"/>
            </a:avLst>
          </a:prstGeom>
          <a:solidFill>
            <a:srgbClr val="1B212C"/>
          </a:solidFill>
          <a:ln w="12700">
            <a:solidFill>
              <a:srgbClr val="2C3644"/>
            </a:solidFill>
            <a:prstDash val="solid"/>
          </a:ln>
        </p:spPr>
        <p:txBody>
          <a:bodyPr/>
          <a:lstStyle/>
          <a:p>
            <a:endParaRPr lang="en-SE"/>
          </a:p>
        </p:txBody>
      </p:sp>
      <p:sp>
        <p:nvSpPr>
          <p:cNvPr id="14" name="dot">
            <a:extLst>
              <a:ext uri="{C183D7F6-B498-43B3-948B-1728B52AA6E4}">
                <adec:decorative xmlns:adec="http://schemas.microsoft.com/office/drawing/2017/decorative" val="1"/>
              </a:ext>
            </a:extLst>
          </p:cNvPr>
          <p:cNvSpPr/>
          <p:nvPr/>
        </p:nvSpPr>
        <p:spPr>
          <a:xfrm>
            <a:off x="3520440" y="3044952"/>
            <a:ext cx="182880" cy="182880"/>
          </a:xfrm>
          <a:prstGeom prst="ellipse">
            <a:avLst/>
          </a:prstGeom>
          <a:solidFill>
            <a:srgbClr val="3AD1E6"/>
          </a:solidFill>
          <a:ln/>
        </p:spPr>
        <p:txBody>
          <a:bodyPr/>
          <a:lstStyle/>
          <a:p>
            <a:endParaRPr lang="en-SE"/>
          </a:p>
        </p:txBody>
      </p:sp>
      <p:sp>
        <p:nvSpPr>
          <p:cNvPr id="15" name="Text 13"/>
          <p:cNvSpPr/>
          <p:nvPr/>
        </p:nvSpPr>
        <p:spPr>
          <a:xfrm>
            <a:off x="3794760" y="3008376"/>
            <a:ext cx="1965960" cy="274320"/>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Automatic</a:t>
            </a:r>
            <a:endParaRPr lang="en-US" sz="1450" dirty="0"/>
          </a:p>
        </p:txBody>
      </p:sp>
      <p:sp>
        <p:nvSpPr>
          <p:cNvPr id="16" name="Text 14"/>
          <p:cNvSpPr/>
          <p:nvPr/>
        </p:nvSpPr>
        <p:spPr>
          <a:xfrm>
            <a:off x="3520440" y="3447288"/>
            <a:ext cx="2148840" cy="82296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Recalculated live as the underlying books change.</a:t>
            </a:r>
            <a:endParaRPr lang="en-US" sz="1200" dirty="0"/>
          </a:p>
        </p:txBody>
      </p:sp>
      <p:sp>
        <p:nvSpPr>
          <p:cNvPr id="17" name="panel">
            <a:extLst>
              <a:ext uri="{C183D7F6-B498-43B3-948B-1728B52AA6E4}">
                <adec:decorative xmlns:adec="http://schemas.microsoft.com/office/drawing/2017/decorative" val="1"/>
              </a:ext>
            </a:extLst>
          </p:cNvPr>
          <p:cNvSpPr/>
          <p:nvPr/>
        </p:nvSpPr>
        <p:spPr>
          <a:xfrm>
            <a:off x="6080760" y="2788920"/>
            <a:ext cx="2606040" cy="1600200"/>
          </a:xfrm>
          <a:prstGeom prst="roundRect">
            <a:avLst>
              <a:gd name="adj" fmla="val 3429"/>
            </a:avLst>
          </a:prstGeom>
          <a:solidFill>
            <a:srgbClr val="1B212C"/>
          </a:solidFill>
          <a:ln w="12700">
            <a:solidFill>
              <a:srgbClr val="2C3644"/>
            </a:solidFill>
            <a:prstDash val="solid"/>
          </a:ln>
        </p:spPr>
        <p:txBody>
          <a:bodyPr/>
          <a:lstStyle/>
          <a:p>
            <a:endParaRPr lang="en-SE"/>
          </a:p>
        </p:txBody>
      </p:sp>
      <p:sp>
        <p:nvSpPr>
          <p:cNvPr id="18" name="dot">
            <a:extLst>
              <a:ext uri="{C183D7F6-B498-43B3-948B-1728B52AA6E4}">
                <adec:decorative xmlns:adec="http://schemas.microsoft.com/office/drawing/2017/decorative" val="1"/>
              </a:ext>
            </a:extLst>
          </p:cNvPr>
          <p:cNvSpPr/>
          <p:nvPr/>
        </p:nvSpPr>
        <p:spPr>
          <a:xfrm>
            <a:off x="6309360" y="3044952"/>
            <a:ext cx="182880" cy="182880"/>
          </a:xfrm>
          <a:prstGeom prst="ellipse">
            <a:avLst/>
          </a:prstGeom>
          <a:solidFill>
            <a:srgbClr val="FBB24B"/>
          </a:solidFill>
          <a:ln/>
        </p:spPr>
        <p:txBody>
          <a:bodyPr/>
          <a:lstStyle/>
          <a:p>
            <a:endParaRPr lang="en-SE"/>
          </a:p>
        </p:txBody>
      </p:sp>
      <p:sp>
        <p:nvSpPr>
          <p:cNvPr id="19" name="Text 17"/>
          <p:cNvSpPr/>
          <p:nvPr/>
        </p:nvSpPr>
        <p:spPr>
          <a:xfrm>
            <a:off x="6583680" y="3008376"/>
            <a:ext cx="1965960" cy="274320"/>
          </a:xfrm>
          <a:prstGeom prst="rect">
            <a:avLst/>
          </a:prstGeom>
          <a:noFill/>
          <a:ln/>
        </p:spPr>
        <p:txBody>
          <a:bodyPr wrap="square" lIns="0" tIns="0" rIns="0" bIns="0" rtlCol="0" anchor="t"/>
          <a:lstStyle/>
          <a:p>
            <a:pPr marL="0" indent="0" algn="l">
              <a:buNone/>
            </a:pPr>
            <a:r>
              <a:rPr lang="en-US" sz="1450" b="1" dirty="0">
                <a:solidFill>
                  <a:srgbClr val="FFFFFF"/>
                </a:solidFill>
                <a:latin typeface="Segoe UI" pitchFamily="34" charset="0"/>
                <a:ea typeface="Segoe UI" pitchFamily="34" charset="-122"/>
                <a:cs typeface="Segoe UI" pitchFamily="34" charset="-120"/>
              </a:rPr>
              <a:t>Disappears</a:t>
            </a:r>
            <a:endParaRPr lang="en-US" sz="1450" dirty="0"/>
          </a:p>
        </p:txBody>
      </p:sp>
      <p:sp>
        <p:nvSpPr>
          <p:cNvPr id="20" name="Text 18"/>
          <p:cNvSpPr/>
          <p:nvPr/>
        </p:nvSpPr>
        <p:spPr>
          <a:xfrm>
            <a:off x="6309360" y="3447288"/>
            <a:ext cx="2148840" cy="82296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If the real orders vanish, the implied one instantly does too.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III</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Implied IN</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Outright leg orders  →  a synthetic quote in the spread book.</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Setup: the two leg books we'll use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25</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283464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30936" y="1508760"/>
            <a:ext cx="257860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a:t>
            </a:r>
            <a:endParaRPr lang="en-US" sz="1150" dirty="0"/>
          </a:p>
        </p:txBody>
      </p:sp>
      <p:sp>
        <p:nvSpPr>
          <p:cNvPr id="8" name="Text 6"/>
          <p:cNvSpPr/>
          <p:nvPr/>
        </p:nvSpPr>
        <p:spPr>
          <a:xfrm>
            <a:off x="630936" y="1773936"/>
            <a:ext cx="1275588"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9" name="Text 7"/>
          <p:cNvSpPr/>
          <p:nvPr/>
        </p:nvSpPr>
        <p:spPr>
          <a:xfrm>
            <a:off x="242316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0" name="depth">
            <a:extLst>
              <a:ext uri="{C183D7F6-B498-43B3-948B-1728B52AA6E4}">
                <adec:decorative xmlns:adec="http://schemas.microsoft.com/office/drawing/2017/decorative" val="1"/>
              </a:ext>
            </a:extLst>
          </p:cNvPr>
          <p:cNvSpPr/>
          <p:nvPr/>
        </p:nvSpPr>
        <p:spPr>
          <a:xfrm>
            <a:off x="2624328" y="1952244"/>
            <a:ext cx="566928" cy="182880"/>
          </a:xfrm>
          <a:prstGeom prst="rect">
            <a:avLst/>
          </a:prstGeom>
          <a:solidFill>
            <a:srgbClr val="FF5C6C">
              <a:alpha val="26000"/>
            </a:srgbClr>
          </a:solidFill>
          <a:ln/>
        </p:spPr>
        <p:txBody>
          <a:bodyPr/>
          <a:lstStyle/>
          <a:p>
            <a:endParaRPr lang="en-SE"/>
          </a:p>
        </p:txBody>
      </p:sp>
      <p:sp>
        <p:nvSpPr>
          <p:cNvPr id="11" name="Text 9"/>
          <p:cNvSpPr/>
          <p:nvPr/>
        </p:nvSpPr>
        <p:spPr>
          <a:xfrm>
            <a:off x="64922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100</a:t>
            </a:r>
            <a:endParaRPr lang="en-US" sz="1250" dirty="0"/>
          </a:p>
        </p:txBody>
      </p:sp>
      <p:sp>
        <p:nvSpPr>
          <p:cNvPr id="12" name="Text 10"/>
          <p:cNvSpPr/>
          <p:nvPr/>
        </p:nvSpPr>
        <p:spPr>
          <a:xfrm>
            <a:off x="242316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12</a:t>
            </a:r>
            <a:endParaRPr lang="en-US" sz="1150" dirty="0"/>
          </a:p>
        </p:txBody>
      </p:sp>
      <p:sp>
        <p:nvSpPr>
          <p:cNvPr id="13" name="depth">
            <a:extLst>
              <a:ext uri="{C183D7F6-B498-43B3-948B-1728B52AA6E4}">
                <adec:decorative xmlns:adec="http://schemas.microsoft.com/office/drawing/2017/decorative" val="1"/>
              </a:ext>
            </a:extLst>
          </p:cNvPr>
          <p:cNvSpPr/>
          <p:nvPr/>
        </p:nvSpPr>
        <p:spPr>
          <a:xfrm>
            <a:off x="1773936" y="2208276"/>
            <a:ext cx="1417320" cy="182880"/>
          </a:xfrm>
          <a:prstGeom prst="rect">
            <a:avLst/>
          </a:prstGeom>
          <a:solidFill>
            <a:srgbClr val="FF5C6C">
              <a:alpha val="26000"/>
            </a:srgbClr>
          </a:solidFill>
          <a:ln/>
        </p:spPr>
        <p:txBody>
          <a:bodyPr/>
          <a:lstStyle/>
          <a:p>
            <a:endParaRPr lang="en-SE"/>
          </a:p>
        </p:txBody>
      </p:sp>
      <p:sp>
        <p:nvSpPr>
          <p:cNvPr id="14" name="Text 12"/>
          <p:cNvSpPr/>
          <p:nvPr/>
        </p:nvSpPr>
        <p:spPr>
          <a:xfrm>
            <a:off x="64922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101</a:t>
            </a:r>
            <a:endParaRPr lang="en-US" sz="1250" dirty="0"/>
          </a:p>
        </p:txBody>
      </p:sp>
      <p:sp>
        <p:nvSpPr>
          <p:cNvPr id="15" name="Text 13"/>
          <p:cNvSpPr/>
          <p:nvPr/>
        </p:nvSpPr>
        <p:spPr>
          <a:xfrm>
            <a:off x="242316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30</a:t>
            </a:r>
            <a:endParaRPr lang="en-US" sz="1150" dirty="0"/>
          </a:p>
        </p:txBody>
      </p:sp>
      <p:sp>
        <p:nvSpPr>
          <p:cNvPr id="16" name="rule">
            <a:extLst>
              <a:ext uri="{C183D7F6-B498-43B3-948B-1728B52AA6E4}">
                <adec:decorative xmlns:adec="http://schemas.microsoft.com/office/drawing/2017/decorative" val="1"/>
              </a:ext>
            </a:extLst>
          </p:cNvPr>
          <p:cNvSpPr/>
          <p:nvPr/>
        </p:nvSpPr>
        <p:spPr>
          <a:xfrm>
            <a:off x="649224" y="2468880"/>
            <a:ext cx="2542032" cy="0"/>
          </a:xfrm>
          <a:prstGeom prst="line">
            <a:avLst/>
          </a:prstGeom>
          <a:noFill/>
          <a:ln w="12700">
            <a:solidFill>
              <a:srgbClr val="2C3644"/>
            </a:solidFill>
            <a:prstDash val="dash"/>
          </a:ln>
        </p:spPr>
        <p:txBody>
          <a:bodyPr/>
          <a:lstStyle/>
          <a:p>
            <a:endParaRPr lang="en-SE"/>
          </a:p>
        </p:txBody>
      </p:sp>
      <p:sp>
        <p:nvSpPr>
          <p:cNvPr id="17" name="depth">
            <a:extLst>
              <a:ext uri="{C183D7F6-B498-43B3-948B-1728B52AA6E4}">
                <adec:decorative xmlns:adec="http://schemas.microsoft.com/office/drawing/2017/decorative" val="1"/>
              </a:ext>
            </a:extLst>
          </p:cNvPr>
          <p:cNvSpPr/>
          <p:nvPr/>
        </p:nvSpPr>
        <p:spPr>
          <a:xfrm>
            <a:off x="2718816" y="2500884"/>
            <a:ext cx="472440" cy="182880"/>
          </a:xfrm>
          <a:prstGeom prst="rect">
            <a:avLst/>
          </a:prstGeom>
          <a:solidFill>
            <a:srgbClr val="35E07E">
              <a:alpha val="26000"/>
            </a:srgbClr>
          </a:solidFill>
          <a:ln/>
        </p:spPr>
        <p:txBody>
          <a:bodyPr/>
          <a:lstStyle/>
          <a:p>
            <a:endParaRPr lang="en-SE"/>
          </a:p>
        </p:txBody>
      </p:sp>
      <p:sp>
        <p:nvSpPr>
          <p:cNvPr id="18" name="Text 16"/>
          <p:cNvSpPr/>
          <p:nvPr/>
        </p:nvSpPr>
        <p:spPr>
          <a:xfrm>
            <a:off x="64922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19" name="Text 17"/>
          <p:cNvSpPr/>
          <p:nvPr/>
        </p:nvSpPr>
        <p:spPr>
          <a:xfrm>
            <a:off x="242316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10</a:t>
            </a:r>
            <a:endParaRPr lang="en-US" sz="1150" dirty="0"/>
          </a:p>
        </p:txBody>
      </p:sp>
      <p:sp>
        <p:nvSpPr>
          <p:cNvPr id="20" name="depth">
            <a:extLst>
              <a:ext uri="{C183D7F6-B498-43B3-948B-1728B52AA6E4}">
                <adec:decorative xmlns:adec="http://schemas.microsoft.com/office/drawing/2017/decorative" val="1"/>
              </a:ext>
            </a:extLst>
          </p:cNvPr>
          <p:cNvSpPr/>
          <p:nvPr/>
        </p:nvSpPr>
        <p:spPr>
          <a:xfrm>
            <a:off x="2010156" y="2756916"/>
            <a:ext cx="1181100" cy="182880"/>
          </a:xfrm>
          <a:prstGeom prst="rect">
            <a:avLst/>
          </a:prstGeom>
          <a:solidFill>
            <a:srgbClr val="35E07E">
              <a:alpha val="26000"/>
            </a:srgbClr>
          </a:solidFill>
          <a:ln/>
        </p:spPr>
        <p:txBody>
          <a:bodyPr/>
          <a:lstStyle/>
          <a:p>
            <a:endParaRPr lang="en-SE"/>
          </a:p>
        </p:txBody>
      </p:sp>
      <p:sp>
        <p:nvSpPr>
          <p:cNvPr id="21" name="Text 19"/>
          <p:cNvSpPr/>
          <p:nvPr/>
        </p:nvSpPr>
        <p:spPr>
          <a:xfrm>
            <a:off x="64922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98</a:t>
            </a:r>
            <a:endParaRPr lang="en-US" sz="1250" dirty="0"/>
          </a:p>
        </p:txBody>
      </p:sp>
      <p:sp>
        <p:nvSpPr>
          <p:cNvPr id="22" name="Text 20"/>
          <p:cNvSpPr/>
          <p:nvPr/>
        </p:nvSpPr>
        <p:spPr>
          <a:xfrm>
            <a:off x="242316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25</a:t>
            </a:r>
            <a:endParaRPr lang="en-US" sz="1150" dirty="0"/>
          </a:p>
        </p:txBody>
      </p:sp>
      <p:sp>
        <p:nvSpPr>
          <p:cNvPr id="23" name="panel">
            <a:extLst>
              <a:ext uri="{C183D7F6-B498-43B3-948B-1728B52AA6E4}">
                <adec:decorative xmlns:adec="http://schemas.microsoft.com/office/drawing/2017/decorative" val="1"/>
              </a:ext>
            </a:extLst>
          </p:cNvPr>
          <p:cNvSpPr/>
          <p:nvPr/>
        </p:nvSpPr>
        <p:spPr>
          <a:xfrm>
            <a:off x="3520440" y="1463040"/>
            <a:ext cx="2834640" cy="1627632"/>
          </a:xfrm>
          <a:prstGeom prst="roundRect">
            <a:avLst>
              <a:gd name="adj" fmla="val 3371"/>
            </a:avLst>
          </a:prstGeom>
          <a:solidFill>
            <a:srgbClr val="1B212C"/>
          </a:solidFill>
          <a:ln w="12700">
            <a:solidFill>
              <a:srgbClr val="2C3644"/>
            </a:solidFill>
            <a:prstDash val="solid"/>
          </a:ln>
        </p:spPr>
        <p:txBody>
          <a:bodyPr/>
          <a:lstStyle/>
          <a:p>
            <a:endParaRPr lang="en-SE"/>
          </a:p>
        </p:txBody>
      </p:sp>
      <p:sp>
        <p:nvSpPr>
          <p:cNvPr id="24" name="Text 22"/>
          <p:cNvSpPr/>
          <p:nvPr/>
        </p:nvSpPr>
        <p:spPr>
          <a:xfrm>
            <a:off x="3648456" y="1508760"/>
            <a:ext cx="257860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JUNE</a:t>
            </a:r>
            <a:endParaRPr lang="en-US" sz="1150" dirty="0"/>
          </a:p>
        </p:txBody>
      </p:sp>
      <p:sp>
        <p:nvSpPr>
          <p:cNvPr id="25" name="Text 23"/>
          <p:cNvSpPr/>
          <p:nvPr/>
        </p:nvSpPr>
        <p:spPr>
          <a:xfrm>
            <a:off x="3648456" y="1773936"/>
            <a:ext cx="1275588"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26" name="Text 24"/>
          <p:cNvSpPr/>
          <p:nvPr/>
        </p:nvSpPr>
        <p:spPr>
          <a:xfrm>
            <a:off x="5440680" y="177393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27" name="depth">
            <a:extLst>
              <a:ext uri="{C183D7F6-B498-43B3-948B-1728B52AA6E4}">
                <adec:decorative xmlns:adec="http://schemas.microsoft.com/office/drawing/2017/decorative" val="1"/>
              </a:ext>
            </a:extLst>
          </p:cNvPr>
          <p:cNvSpPr/>
          <p:nvPr/>
        </p:nvSpPr>
        <p:spPr>
          <a:xfrm>
            <a:off x="5049151" y="1952244"/>
            <a:ext cx="1159625" cy="182880"/>
          </a:xfrm>
          <a:prstGeom prst="rect">
            <a:avLst/>
          </a:prstGeom>
          <a:solidFill>
            <a:srgbClr val="FF5C6C">
              <a:alpha val="26000"/>
            </a:srgbClr>
          </a:solidFill>
          <a:ln/>
        </p:spPr>
        <p:txBody>
          <a:bodyPr/>
          <a:lstStyle/>
          <a:p>
            <a:endParaRPr lang="en-SE"/>
          </a:p>
        </p:txBody>
      </p:sp>
      <p:sp>
        <p:nvSpPr>
          <p:cNvPr id="28" name="Text 26"/>
          <p:cNvSpPr/>
          <p:nvPr/>
        </p:nvSpPr>
        <p:spPr>
          <a:xfrm>
            <a:off x="3666744" y="193852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98</a:t>
            </a:r>
            <a:endParaRPr lang="en-US" sz="1250" dirty="0"/>
          </a:p>
        </p:txBody>
      </p:sp>
      <p:sp>
        <p:nvSpPr>
          <p:cNvPr id="29" name="Text 27"/>
          <p:cNvSpPr/>
          <p:nvPr/>
        </p:nvSpPr>
        <p:spPr>
          <a:xfrm>
            <a:off x="5440680" y="193852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18</a:t>
            </a:r>
            <a:endParaRPr lang="en-US" sz="1150" dirty="0"/>
          </a:p>
        </p:txBody>
      </p:sp>
      <p:sp>
        <p:nvSpPr>
          <p:cNvPr id="30" name="depth">
            <a:extLst>
              <a:ext uri="{C183D7F6-B498-43B3-948B-1728B52AA6E4}">
                <adec:decorative xmlns:adec="http://schemas.microsoft.com/office/drawing/2017/decorative" val="1"/>
              </a:ext>
            </a:extLst>
          </p:cNvPr>
          <p:cNvSpPr/>
          <p:nvPr/>
        </p:nvSpPr>
        <p:spPr>
          <a:xfrm>
            <a:off x="4791456" y="2208276"/>
            <a:ext cx="1417320" cy="182880"/>
          </a:xfrm>
          <a:prstGeom prst="rect">
            <a:avLst/>
          </a:prstGeom>
          <a:solidFill>
            <a:srgbClr val="FF5C6C">
              <a:alpha val="26000"/>
            </a:srgbClr>
          </a:solidFill>
          <a:ln/>
        </p:spPr>
        <p:txBody>
          <a:bodyPr/>
          <a:lstStyle/>
          <a:p>
            <a:endParaRPr lang="en-SE"/>
          </a:p>
        </p:txBody>
      </p:sp>
      <p:sp>
        <p:nvSpPr>
          <p:cNvPr id="31" name="Text 29"/>
          <p:cNvSpPr/>
          <p:nvPr/>
        </p:nvSpPr>
        <p:spPr>
          <a:xfrm>
            <a:off x="3666744" y="2194560"/>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99</a:t>
            </a:r>
            <a:endParaRPr lang="en-US" sz="1250" dirty="0"/>
          </a:p>
        </p:txBody>
      </p:sp>
      <p:sp>
        <p:nvSpPr>
          <p:cNvPr id="32" name="Text 30"/>
          <p:cNvSpPr/>
          <p:nvPr/>
        </p:nvSpPr>
        <p:spPr>
          <a:xfrm>
            <a:off x="5440680" y="219456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22</a:t>
            </a:r>
            <a:endParaRPr lang="en-US" sz="1150" dirty="0"/>
          </a:p>
        </p:txBody>
      </p:sp>
      <p:sp>
        <p:nvSpPr>
          <p:cNvPr id="33" name="rule">
            <a:extLst>
              <a:ext uri="{C183D7F6-B498-43B3-948B-1728B52AA6E4}">
                <adec:decorative xmlns:adec="http://schemas.microsoft.com/office/drawing/2017/decorative" val="1"/>
              </a:ext>
            </a:extLst>
          </p:cNvPr>
          <p:cNvSpPr/>
          <p:nvPr/>
        </p:nvSpPr>
        <p:spPr>
          <a:xfrm>
            <a:off x="3666744" y="2468880"/>
            <a:ext cx="2542032" cy="0"/>
          </a:xfrm>
          <a:prstGeom prst="line">
            <a:avLst/>
          </a:prstGeom>
          <a:noFill/>
          <a:ln w="12700">
            <a:solidFill>
              <a:srgbClr val="2C3644"/>
            </a:solidFill>
            <a:prstDash val="dash"/>
          </a:ln>
        </p:spPr>
        <p:txBody>
          <a:bodyPr/>
          <a:lstStyle/>
          <a:p>
            <a:endParaRPr lang="en-SE"/>
          </a:p>
        </p:txBody>
      </p:sp>
      <p:sp>
        <p:nvSpPr>
          <p:cNvPr id="34" name="depth">
            <a:extLst>
              <a:ext uri="{C183D7F6-B498-43B3-948B-1728B52AA6E4}">
                <adec:decorative xmlns:adec="http://schemas.microsoft.com/office/drawing/2017/decorative" val="1"/>
              </a:ext>
            </a:extLst>
          </p:cNvPr>
          <p:cNvSpPr/>
          <p:nvPr/>
        </p:nvSpPr>
        <p:spPr>
          <a:xfrm>
            <a:off x="5242421" y="2500884"/>
            <a:ext cx="966355" cy="182880"/>
          </a:xfrm>
          <a:prstGeom prst="rect">
            <a:avLst/>
          </a:prstGeom>
          <a:solidFill>
            <a:srgbClr val="35E07E">
              <a:alpha val="26000"/>
            </a:srgbClr>
          </a:solidFill>
          <a:ln/>
        </p:spPr>
        <p:txBody>
          <a:bodyPr/>
          <a:lstStyle/>
          <a:p>
            <a:endParaRPr lang="en-SE"/>
          </a:p>
        </p:txBody>
      </p:sp>
      <p:sp>
        <p:nvSpPr>
          <p:cNvPr id="35" name="Text 33"/>
          <p:cNvSpPr/>
          <p:nvPr/>
        </p:nvSpPr>
        <p:spPr>
          <a:xfrm>
            <a:off x="3666744" y="2487168"/>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97</a:t>
            </a:r>
            <a:endParaRPr lang="en-US" sz="1250" dirty="0"/>
          </a:p>
        </p:txBody>
      </p:sp>
      <p:sp>
        <p:nvSpPr>
          <p:cNvPr id="36" name="Text 34"/>
          <p:cNvSpPr/>
          <p:nvPr/>
        </p:nvSpPr>
        <p:spPr>
          <a:xfrm>
            <a:off x="5440680" y="248716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15</a:t>
            </a:r>
            <a:endParaRPr lang="en-US" sz="1150" dirty="0"/>
          </a:p>
        </p:txBody>
      </p:sp>
      <p:sp>
        <p:nvSpPr>
          <p:cNvPr id="37" name="depth">
            <a:extLst>
              <a:ext uri="{C183D7F6-B498-43B3-948B-1728B52AA6E4}">
                <adec:decorative xmlns:adec="http://schemas.microsoft.com/office/drawing/2017/decorative" val="1"/>
              </a:ext>
            </a:extLst>
          </p:cNvPr>
          <p:cNvSpPr/>
          <p:nvPr/>
        </p:nvSpPr>
        <p:spPr>
          <a:xfrm>
            <a:off x="4920303" y="2756916"/>
            <a:ext cx="1288473" cy="182880"/>
          </a:xfrm>
          <a:prstGeom prst="rect">
            <a:avLst/>
          </a:prstGeom>
          <a:solidFill>
            <a:srgbClr val="35E07E">
              <a:alpha val="26000"/>
            </a:srgbClr>
          </a:solidFill>
          <a:ln/>
        </p:spPr>
        <p:txBody>
          <a:bodyPr/>
          <a:lstStyle/>
          <a:p>
            <a:endParaRPr lang="en-SE"/>
          </a:p>
        </p:txBody>
      </p:sp>
      <p:sp>
        <p:nvSpPr>
          <p:cNvPr id="38" name="Text 36"/>
          <p:cNvSpPr/>
          <p:nvPr/>
        </p:nvSpPr>
        <p:spPr>
          <a:xfrm>
            <a:off x="3666744" y="2743200"/>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96</a:t>
            </a:r>
            <a:endParaRPr lang="en-US" sz="1250" dirty="0"/>
          </a:p>
        </p:txBody>
      </p:sp>
      <p:sp>
        <p:nvSpPr>
          <p:cNvPr id="39" name="Text 37"/>
          <p:cNvSpPr/>
          <p:nvPr/>
        </p:nvSpPr>
        <p:spPr>
          <a:xfrm>
            <a:off x="5440680" y="2743200"/>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20</a:t>
            </a:r>
            <a:endParaRPr lang="en-US" sz="1150" dirty="0"/>
          </a:p>
        </p:txBody>
      </p:sp>
      <p:sp>
        <p:nvSpPr>
          <p:cNvPr id="40" name="panel">
            <a:extLst>
              <a:ext uri="{C183D7F6-B498-43B3-948B-1728B52AA6E4}">
                <adec:decorative xmlns:adec="http://schemas.microsoft.com/office/drawing/2017/decorative" val="1"/>
              </a:ext>
            </a:extLst>
          </p:cNvPr>
          <p:cNvSpPr/>
          <p:nvPr/>
        </p:nvSpPr>
        <p:spPr>
          <a:xfrm>
            <a:off x="6537960" y="1463040"/>
            <a:ext cx="2057400" cy="2743200"/>
          </a:xfrm>
          <a:prstGeom prst="roundRect">
            <a:avLst>
              <a:gd name="adj" fmla="val 2667"/>
            </a:avLst>
          </a:prstGeom>
          <a:solidFill>
            <a:srgbClr val="1B212C"/>
          </a:solidFill>
          <a:ln w="12700">
            <a:solidFill>
              <a:srgbClr val="2C3644"/>
            </a:solidFill>
            <a:prstDash val="solid"/>
          </a:ln>
        </p:spPr>
        <p:txBody>
          <a:bodyPr/>
          <a:lstStyle/>
          <a:p>
            <a:endParaRPr lang="en-SE"/>
          </a:p>
        </p:txBody>
      </p:sp>
      <p:sp>
        <p:nvSpPr>
          <p:cNvPr id="41" name="Text 39"/>
          <p:cNvSpPr/>
          <p:nvPr/>
        </p:nvSpPr>
        <p:spPr>
          <a:xfrm>
            <a:off x="6675120" y="1572768"/>
            <a:ext cx="1828800" cy="228600"/>
          </a:xfrm>
          <a:prstGeom prst="rect">
            <a:avLst/>
          </a:prstGeom>
          <a:noFill/>
          <a:ln/>
        </p:spPr>
        <p:txBody>
          <a:bodyPr wrap="square" lIns="0" tIns="0" rIns="0" bIns="0" rtlCol="0" anchor="t"/>
          <a:lstStyle/>
          <a:p>
            <a:pPr marL="0" indent="0" algn="l">
              <a:buNone/>
            </a:pPr>
            <a:r>
              <a:rPr lang="en-US" sz="1000" b="1" kern="0" spc="100" dirty="0">
                <a:solidFill>
                  <a:srgbClr val="35E07E"/>
                </a:solidFill>
                <a:latin typeface="Segoe UI" pitchFamily="34" charset="0"/>
                <a:ea typeface="Segoe UI" pitchFamily="34" charset="-122"/>
                <a:cs typeface="Segoe UI" pitchFamily="34" charset="-120"/>
              </a:rPr>
              <a:t>BEST PRICES</a:t>
            </a:r>
            <a:endParaRPr lang="en-US" sz="1000" dirty="0"/>
          </a:p>
        </p:txBody>
      </p:sp>
      <p:sp>
        <p:nvSpPr>
          <p:cNvPr id="42" name="Text 40"/>
          <p:cNvSpPr/>
          <p:nvPr/>
        </p:nvSpPr>
        <p:spPr>
          <a:xfrm>
            <a:off x="6675120" y="1920240"/>
            <a:ext cx="1371600" cy="274320"/>
          </a:xfrm>
          <a:prstGeom prst="rect">
            <a:avLst/>
          </a:prstGeom>
          <a:noFill/>
          <a:ln/>
        </p:spPr>
        <p:txBody>
          <a:bodyPr wrap="square" lIns="0" tIns="0" rIns="0" bIns="0" rtlCol="0" anchor="t"/>
          <a:lstStyle/>
          <a:p>
            <a:pPr marL="0" indent="0" algn="l">
              <a:buNone/>
            </a:pPr>
            <a:r>
              <a:rPr lang="en-US" sz="1150" dirty="0">
                <a:solidFill>
                  <a:srgbClr val="D8DEE9"/>
                </a:solidFill>
                <a:latin typeface="Consolas" pitchFamily="34" charset="0"/>
                <a:ea typeface="Consolas" pitchFamily="34" charset="-122"/>
                <a:cs typeface="Consolas" pitchFamily="34" charset="-120"/>
              </a:rPr>
              <a:t>March bid</a:t>
            </a:r>
            <a:endParaRPr lang="en-US" sz="1150" dirty="0"/>
          </a:p>
        </p:txBody>
      </p:sp>
      <p:sp>
        <p:nvSpPr>
          <p:cNvPr id="43" name="Text 41"/>
          <p:cNvSpPr/>
          <p:nvPr/>
        </p:nvSpPr>
        <p:spPr>
          <a:xfrm>
            <a:off x="6675120" y="2157984"/>
            <a:ext cx="1737360" cy="274320"/>
          </a:xfrm>
          <a:prstGeom prst="rect">
            <a:avLst/>
          </a:prstGeom>
          <a:noFill/>
          <a:ln/>
        </p:spPr>
        <p:txBody>
          <a:bodyPr wrap="square" lIns="0" tIns="0" rIns="0" bIns="0" rtlCol="0" anchor="t"/>
          <a:lstStyle/>
          <a:p>
            <a:pPr marL="0" indent="0" algn="l">
              <a:buNone/>
            </a:pPr>
            <a:r>
              <a:rPr lang="en-US" sz="1700" b="1" dirty="0">
                <a:solidFill>
                  <a:srgbClr val="35E07E"/>
                </a:solidFill>
                <a:latin typeface="Consolas" pitchFamily="34" charset="0"/>
                <a:ea typeface="Consolas" pitchFamily="34" charset="-122"/>
                <a:cs typeface="Consolas" pitchFamily="34" charset="-120"/>
              </a:rPr>
              <a:t>99</a:t>
            </a:r>
            <a:endParaRPr lang="en-US" sz="1700" dirty="0"/>
          </a:p>
        </p:txBody>
      </p:sp>
      <p:sp>
        <p:nvSpPr>
          <p:cNvPr id="44" name="Text 42"/>
          <p:cNvSpPr/>
          <p:nvPr/>
        </p:nvSpPr>
        <p:spPr>
          <a:xfrm>
            <a:off x="6675120" y="2487168"/>
            <a:ext cx="1371600" cy="274320"/>
          </a:xfrm>
          <a:prstGeom prst="rect">
            <a:avLst/>
          </a:prstGeom>
          <a:noFill/>
          <a:ln/>
        </p:spPr>
        <p:txBody>
          <a:bodyPr wrap="square" lIns="0" tIns="0" rIns="0" bIns="0" rtlCol="0" anchor="t"/>
          <a:lstStyle/>
          <a:p>
            <a:pPr marL="0" indent="0" algn="l">
              <a:buNone/>
            </a:pPr>
            <a:r>
              <a:rPr lang="en-US" sz="1150" dirty="0">
                <a:solidFill>
                  <a:srgbClr val="D8DEE9"/>
                </a:solidFill>
                <a:latin typeface="Consolas" pitchFamily="34" charset="0"/>
                <a:ea typeface="Consolas" pitchFamily="34" charset="-122"/>
                <a:cs typeface="Consolas" pitchFamily="34" charset="-120"/>
              </a:rPr>
              <a:t>March ask</a:t>
            </a:r>
            <a:endParaRPr lang="en-US" sz="1150" dirty="0"/>
          </a:p>
        </p:txBody>
      </p:sp>
      <p:sp>
        <p:nvSpPr>
          <p:cNvPr id="45" name="Text 43"/>
          <p:cNvSpPr/>
          <p:nvPr/>
        </p:nvSpPr>
        <p:spPr>
          <a:xfrm>
            <a:off x="6675120" y="2724912"/>
            <a:ext cx="1737360" cy="274320"/>
          </a:xfrm>
          <a:prstGeom prst="rect">
            <a:avLst/>
          </a:prstGeom>
          <a:noFill/>
          <a:ln/>
        </p:spPr>
        <p:txBody>
          <a:bodyPr wrap="square" lIns="0" tIns="0" rIns="0" bIns="0" rtlCol="0" anchor="t"/>
          <a:lstStyle/>
          <a:p>
            <a:pPr marL="0" indent="0" algn="l">
              <a:buNone/>
            </a:pPr>
            <a:r>
              <a:rPr lang="en-US" sz="1700" b="1" dirty="0">
                <a:solidFill>
                  <a:srgbClr val="FF5C6C"/>
                </a:solidFill>
                <a:latin typeface="Consolas" pitchFamily="34" charset="0"/>
                <a:ea typeface="Consolas" pitchFamily="34" charset="-122"/>
                <a:cs typeface="Consolas" pitchFamily="34" charset="-120"/>
              </a:rPr>
              <a:t>100</a:t>
            </a:r>
            <a:endParaRPr lang="en-US" sz="1700" dirty="0"/>
          </a:p>
        </p:txBody>
      </p:sp>
      <p:sp>
        <p:nvSpPr>
          <p:cNvPr id="46" name="Text 44"/>
          <p:cNvSpPr/>
          <p:nvPr/>
        </p:nvSpPr>
        <p:spPr>
          <a:xfrm>
            <a:off x="6675120" y="3054096"/>
            <a:ext cx="1371600" cy="274320"/>
          </a:xfrm>
          <a:prstGeom prst="rect">
            <a:avLst/>
          </a:prstGeom>
          <a:noFill/>
          <a:ln/>
        </p:spPr>
        <p:txBody>
          <a:bodyPr wrap="square" lIns="0" tIns="0" rIns="0" bIns="0" rtlCol="0" anchor="t"/>
          <a:lstStyle/>
          <a:p>
            <a:pPr marL="0" indent="0" algn="l">
              <a:buNone/>
            </a:pPr>
            <a:r>
              <a:rPr lang="en-US" sz="1150" dirty="0">
                <a:solidFill>
                  <a:srgbClr val="D8DEE9"/>
                </a:solidFill>
                <a:latin typeface="Consolas" pitchFamily="34" charset="0"/>
                <a:ea typeface="Consolas" pitchFamily="34" charset="-122"/>
                <a:cs typeface="Consolas" pitchFamily="34" charset="-120"/>
              </a:rPr>
              <a:t>June bid</a:t>
            </a:r>
            <a:endParaRPr lang="en-US" sz="1150" dirty="0"/>
          </a:p>
        </p:txBody>
      </p:sp>
      <p:sp>
        <p:nvSpPr>
          <p:cNvPr id="47" name="Text 45"/>
          <p:cNvSpPr/>
          <p:nvPr/>
        </p:nvSpPr>
        <p:spPr>
          <a:xfrm>
            <a:off x="6675120" y="3291840"/>
            <a:ext cx="1737360" cy="274320"/>
          </a:xfrm>
          <a:prstGeom prst="rect">
            <a:avLst/>
          </a:prstGeom>
          <a:noFill/>
          <a:ln/>
        </p:spPr>
        <p:txBody>
          <a:bodyPr wrap="square" lIns="0" tIns="0" rIns="0" bIns="0" rtlCol="0" anchor="t"/>
          <a:lstStyle/>
          <a:p>
            <a:pPr marL="0" indent="0" algn="l">
              <a:buNone/>
            </a:pPr>
            <a:r>
              <a:rPr lang="en-US" sz="1700" b="1" dirty="0">
                <a:solidFill>
                  <a:srgbClr val="35E07E"/>
                </a:solidFill>
                <a:latin typeface="Consolas" pitchFamily="34" charset="0"/>
                <a:ea typeface="Consolas" pitchFamily="34" charset="-122"/>
                <a:cs typeface="Consolas" pitchFamily="34" charset="-120"/>
              </a:rPr>
              <a:t>97</a:t>
            </a:r>
            <a:endParaRPr lang="en-US" sz="1700" dirty="0"/>
          </a:p>
        </p:txBody>
      </p:sp>
      <p:sp>
        <p:nvSpPr>
          <p:cNvPr id="48" name="Text 46"/>
          <p:cNvSpPr/>
          <p:nvPr/>
        </p:nvSpPr>
        <p:spPr>
          <a:xfrm>
            <a:off x="6675120" y="3621024"/>
            <a:ext cx="1371600" cy="274320"/>
          </a:xfrm>
          <a:prstGeom prst="rect">
            <a:avLst/>
          </a:prstGeom>
          <a:noFill/>
          <a:ln/>
        </p:spPr>
        <p:txBody>
          <a:bodyPr wrap="square" lIns="0" tIns="0" rIns="0" bIns="0" rtlCol="0" anchor="t"/>
          <a:lstStyle/>
          <a:p>
            <a:pPr marL="0" indent="0" algn="l">
              <a:buNone/>
            </a:pPr>
            <a:r>
              <a:rPr lang="en-US" sz="1150" dirty="0">
                <a:solidFill>
                  <a:srgbClr val="D8DEE9"/>
                </a:solidFill>
                <a:latin typeface="Consolas" pitchFamily="34" charset="0"/>
                <a:ea typeface="Consolas" pitchFamily="34" charset="-122"/>
                <a:cs typeface="Consolas" pitchFamily="34" charset="-120"/>
              </a:rPr>
              <a:t>June ask</a:t>
            </a:r>
            <a:endParaRPr lang="en-US" sz="1150" dirty="0"/>
          </a:p>
        </p:txBody>
      </p:sp>
      <p:sp>
        <p:nvSpPr>
          <p:cNvPr id="49" name="Text 47"/>
          <p:cNvSpPr/>
          <p:nvPr/>
        </p:nvSpPr>
        <p:spPr>
          <a:xfrm>
            <a:off x="6675120" y="3858768"/>
            <a:ext cx="1737360" cy="274320"/>
          </a:xfrm>
          <a:prstGeom prst="rect">
            <a:avLst/>
          </a:prstGeom>
          <a:noFill/>
          <a:ln/>
        </p:spPr>
        <p:txBody>
          <a:bodyPr wrap="square" lIns="0" tIns="0" rIns="0" bIns="0" rtlCol="0" anchor="t"/>
          <a:lstStyle/>
          <a:p>
            <a:pPr marL="0" indent="0" algn="l">
              <a:buNone/>
            </a:pPr>
            <a:r>
              <a:rPr lang="en-US" sz="1700" b="1" dirty="0">
                <a:solidFill>
                  <a:srgbClr val="FF5C6C"/>
                </a:solidFill>
                <a:latin typeface="Consolas" pitchFamily="34" charset="0"/>
                <a:ea typeface="Consolas" pitchFamily="34" charset="-122"/>
                <a:cs typeface="Consolas" pitchFamily="34" charset="-120"/>
              </a:rPr>
              <a:t>98</a:t>
            </a:r>
            <a:endParaRPr lang="en-US" sz="1700" dirty="0"/>
          </a:p>
        </p:txBody>
      </p:sp>
      <p:sp>
        <p:nvSpPr>
          <p:cNvPr id="50" name="Text 48"/>
          <p:cNvSpPr/>
          <p:nvPr/>
        </p:nvSpPr>
        <p:spPr>
          <a:xfrm>
            <a:off x="502920" y="4343400"/>
            <a:ext cx="8046720" cy="274320"/>
          </a:xfrm>
          <a:prstGeom prst="rect">
            <a:avLst/>
          </a:prstGeom>
          <a:noFill/>
          <a:ln/>
        </p:spPr>
        <p:txBody>
          <a:bodyPr wrap="square" lIns="0" tIns="0" rIns="0" bIns="0" rtlCol="0" anchor="t"/>
          <a:lstStyle/>
          <a:p>
            <a:pPr marL="0" indent="0" algn="ctr">
              <a:buNone/>
            </a:pPr>
            <a:r>
              <a:rPr lang="en-US" sz="1200" i="1" dirty="0">
                <a:solidFill>
                  <a:srgbClr val="3AD1E6"/>
                </a:solidFill>
                <a:latin typeface="Segoe UI" pitchFamily="34" charset="0"/>
                <a:ea typeface="Segoe UI" pitchFamily="34" charset="-122"/>
                <a:cs typeface="Segoe UI" pitchFamily="34" charset="-120"/>
              </a:rPr>
              <a:t>Spread = March − June. We'll imply its bid and ask next.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Build the implied spread BID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26</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An implied BID = the best price at which the spread can be SOLD, using the legs.</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828800"/>
            <a:ext cx="5074920" cy="2651760"/>
          </a:xfrm>
          <a:prstGeom prst="roundRect">
            <a:avLst>
              <a:gd name="adj" fmla="val 2069"/>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011680"/>
            <a:ext cx="310896" cy="310896"/>
          </a:xfrm>
          <a:prstGeom prst="ellipse">
            <a:avLst/>
          </a:prstGeom>
          <a:solidFill>
            <a:srgbClr val="FF5C6C"/>
          </a:solidFill>
          <a:ln/>
        </p:spPr>
        <p:txBody>
          <a:bodyPr/>
          <a:lstStyle/>
          <a:p>
            <a:endParaRPr lang="en-SE"/>
          </a:p>
        </p:txBody>
      </p:sp>
      <p:sp>
        <p:nvSpPr>
          <p:cNvPr id="9" name="Text 7"/>
          <p:cNvSpPr/>
          <p:nvPr/>
        </p:nvSpPr>
        <p:spPr>
          <a:xfrm>
            <a:off x="685800" y="201168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143000" y="2048256"/>
            <a:ext cx="4297680" cy="365760"/>
          </a:xfrm>
          <a:prstGeom prst="rect">
            <a:avLst/>
          </a:prstGeom>
          <a:noFill/>
          <a:ln/>
        </p:spPr>
        <p:txBody>
          <a:bodyPr wrap="square" lIns="0" tIns="0" rIns="0" bIns="0" rtlCol="0" anchor="t"/>
          <a:lstStyle/>
          <a:p>
            <a:pPr marL="0" indent="0" algn="l">
              <a:lnSpc>
                <a:spcPts val="1500"/>
              </a:lnSpc>
              <a:buNone/>
            </a:pPr>
            <a:r>
              <a:rPr lang="en-US" sz="1250" dirty="0">
                <a:solidFill>
                  <a:srgbClr val="D8DEE9"/>
                </a:solidFill>
                <a:latin typeface="Segoe UI" pitchFamily="34" charset="0"/>
                <a:ea typeface="Segoe UI" pitchFamily="34" charset="-122"/>
                <a:cs typeface="Segoe UI" pitchFamily="34" charset="-120"/>
              </a:rPr>
              <a:t>To sell the spread, SELL March → hit the March bid</a:t>
            </a:r>
            <a:endParaRPr lang="en-US" sz="1250" dirty="0"/>
          </a:p>
        </p:txBody>
      </p:sp>
      <p:sp>
        <p:nvSpPr>
          <p:cNvPr id="11" name="Text 9"/>
          <p:cNvSpPr/>
          <p:nvPr/>
        </p:nvSpPr>
        <p:spPr>
          <a:xfrm>
            <a:off x="1143000" y="2432304"/>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March bid = </a:t>
            </a:r>
            <a:r>
              <a:rPr lang="en-US" sz="1350" b="1" dirty="0">
                <a:solidFill>
                  <a:srgbClr val="35E07E"/>
                </a:solidFill>
                <a:latin typeface="Consolas" pitchFamily="34" charset="0"/>
                <a:ea typeface="Consolas" pitchFamily="34" charset="-122"/>
                <a:cs typeface="Consolas" pitchFamily="34" charset="-120"/>
              </a:rPr>
              <a:t>99</a:t>
            </a:r>
            <a:endParaRPr lang="en-US" sz="1350" dirty="0"/>
          </a:p>
        </p:txBody>
      </p:sp>
      <p:sp>
        <p:nvSpPr>
          <p:cNvPr id="12" name="step">
            <a:extLst>
              <a:ext uri="{C183D7F6-B498-43B3-948B-1728B52AA6E4}">
                <adec:decorative xmlns:adec="http://schemas.microsoft.com/office/drawing/2017/decorative" val="1"/>
              </a:ext>
            </a:extLst>
          </p:cNvPr>
          <p:cNvSpPr/>
          <p:nvPr/>
        </p:nvSpPr>
        <p:spPr>
          <a:xfrm>
            <a:off x="685800" y="2880360"/>
            <a:ext cx="310896" cy="310896"/>
          </a:xfrm>
          <a:prstGeom prst="ellipse">
            <a:avLst/>
          </a:prstGeom>
          <a:solidFill>
            <a:srgbClr val="35E07E"/>
          </a:solidFill>
          <a:ln/>
        </p:spPr>
        <p:txBody>
          <a:bodyPr/>
          <a:lstStyle/>
          <a:p>
            <a:endParaRPr lang="en-SE"/>
          </a:p>
        </p:txBody>
      </p:sp>
      <p:sp>
        <p:nvSpPr>
          <p:cNvPr id="13" name="Text 11"/>
          <p:cNvSpPr/>
          <p:nvPr/>
        </p:nvSpPr>
        <p:spPr>
          <a:xfrm>
            <a:off x="685800" y="288036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1143000" y="2916936"/>
            <a:ext cx="429768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…and BUY June → lift the June ask</a:t>
            </a:r>
            <a:endParaRPr lang="en-US" sz="1250" dirty="0"/>
          </a:p>
        </p:txBody>
      </p:sp>
      <p:sp>
        <p:nvSpPr>
          <p:cNvPr id="15" name="Text 13"/>
          <p:cNvSpPr/>
          <p:nvPr/>
        </p:nvSpPr>
        <p:spPr>
          <a:xfrm>
            <a:off x="1143000" y="3209544"/>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June ask = </a:t>
            </a:r>
            <a:r>
              <a:rPr lang="en-US" sz="1350" b="1" dirty="0">
                <a:solidFill>
                  <a:srgbClr val="FF5C6C"/>
                </a:solidFill>
                <a:latin typeface="Consolas" pitchFamily="34" charset="0"/>
                <a:ea typeface="Consolas" pitchFamily="34" charset="-122"/>
                <a:cs typeface="Consolas" pitchFamily="34" charset="-120"/>
              </a:rPr>
              <a:t>98</a:t>
            </a:r>
            <a:endParaRPr lang="en-US" sz="1350" dirty="0"/>
          </a:p>
        </p:txBody>
      </p:sp>
      <p:sp>
        <p:nvSpPr>
          <p:cNvPr id="16" name="rule">
            <a:extLst>
              <a:ext uri="{C183D7F6-B498-43B3-948B-1728B52AA6E4}">
                <adec:decorative xmlns:adec="http://schemas.microsoft.com/office/drawing/2017/decorative" val="1"/>
              </a:ext>
            </a:extLst>
          </p:cNvPr>
          <p:cNvSpPr/>
          <p:nvPr/>
        </p:nvSpPr>
        <p:spPr>
          <a:xfrm>
            <a:off x="1143000" y="3639312"/>
            <a:ext cx="4206240" cy="0"/>
          </a:xfrm>
          <a:prstGeom prst="line">
            <a:avLst/>
          </a:prstGeom>
          <a:noFill/>
          <a:ln w="12700">
            <a:solidFill>
              <a:srgbClr val="2C3644"/>
            </a:solidFill>
            <a:prstDash val="solid"/>
          </a:ln>
        </p:spPr>
        <p:txBody>
          <a:bodyPr/>
          <a:lstStyle/>
          <a:p>
            <a:endParaRPr lang="en-SE"/>
          </a:p>
        </p:txBody>
      </p:sp>
      <p:sp>
        <p:nvSpPr>
          <p:cNvPr id="17" name="step">
            <a:extLst>
              <a:ext uri="{C183D7F6-B498-43B3-948B-1728B52AA6E4}">
                <adec:decorative xmlns:adec="http://schemas.microsoft.com/office/drawing/2017/decorative" val="1"/>
              </a:ext>
            </a:extLst>
          </p:cNvPr>
          <p:cNvSpPr/>
          <p:nvPr/>
        </p:nvSpPr>
        <p:spPr>
          <a:xfrm>
            <a:off x="685800" y="3749040"/>
            <a:ext cx="310896" cy="310896"/>
          </a:xfrm>
          <a:prstGeom prst="ellipse">
            <a:avLst/>
          </a:prstGeom>
          <a:solidFill>
            <a:srgbClr val="3AD1E6"/>
          </a:solidFill>
          <a:ln/>
        </p:spPr>
        <p:txBody>
          <a:bodyPr/>
          <a:lstStyle/>
          <a:p>
            <a:endParaRPr lang="en-SE"/>
          </a:p>
        </p:txBody>
      </p:sp>
      <p:sp>
        <p:nvSpPr>
          <p:cNvPr id="18" name="Text 16"/>
          <p:cNvSpPr/>
          <p:nvPr/>
        </p:nvSpPr>
        <p:spPr>
          <a:xfrm>
            <a:off x="685800" y="37490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3</a:t>
            </a:r>
            <a:endParaRPr lang="en-US" sz="1300" dirty="0"/>
          </a:p>
        </p:txBody>
      </p:sp>
      <p:sp>
        <p:nvSpPr>
          <p:cNvPr id="19" name="Text 17"/>
          <p:cNvSpPr/>
          <p:nvPr/>
        </p:nvSpPr>
        <p:spPr>
          <a:xfrm>
            <a:off x="1143000" y="3767328"/>
            <a:ext cx="4297680" cy="365760"/>
          </a:xfrm>
          <a:prstGeom prst="rect">
            <a:avLst/>
          </a:prstGeom>
          <a:noFill/>
          <a:ln/>
        </p:spPr>
        <p:txBody>
          <a:bodyPr wrap="square" lIns="0" tIns="0" rIns="0" bIns="0" rtlCol="0" anchor="ctr"/>
          <a:lstStyle/>
          <a:p>
            <a:pPr marL="0" indent="0" algn="l">
              <a:buNone/>
            </a:pPr>
            <a:r>
              <a:rPr lang="en-US" sz="1450" dirty="0">
                <a:solidFill>
                  <a:srgbClr val="8B96A8"/>
                </a:solidFill>
                <a:latin typeface="Consolas" pitchFamily="34" charset="0"/>
                <a:ea typeface="Consolas" pitchFamily="34" charset="-122"/>
                <a:cs typeface="Consolas" pitchFamily="34" charset="-120"/>
              </a:rPr>
              <a:t>implied spread bid = 99 − 98 = </a:t>
            </a:r>
            <a:r>
              <a:rPr lang="en-US" sz="1450" b="1" dirty="0">
                <a:solidFill>
                  <a:srgbClr val="3AD1E6"/>
                </a:solidFill>
                <a:latin typeface="Consolas" pitchFamily="34" charset="0"/>
                <a:ea typeface="Consolas" pitchFamily="34" charset="-122"/>
                <a:cs typeface="Consolas" pitchFamily="34" charset="-120"/>
              </a:rPr>
              <a:t>1</a:t>
            </a:r>
            <a:endParaRPr lang="en-US" sz="1450" dirty="0"/>
          </a:p>
        </p:txBody>
      </p:sp>
      <p:sp>
        <p:nvSpPr>
          <p:cNvPr id="20" name="panel">
            <a:extLst>
              <a:ext uri="{C183D7F6-B498-43B3-948B-1728B52AA6E4}">
                <adec:decorative xmlns:adec="http://schemas.microsoft.com/office/drawing/2017/decorative" val="1"/>
              </a:ext>
            </a:extLst>
          </p:cNvPr>
          <p:cNvSpPr/>
          <p:nvPr/>
        </p:nvSpPr>
        <p:spPr>
          <a:xfrm>
            <a:off x="5806440" y="1828800"/>
            <a:ext cx="2788920" cy="2651760"/>
          </a:xfrm>
          <a:prstGeom prst="roundRect">
            <a:avLst>
              <a:gd name="adj" fmla="val 2069"/>
            </a:avLst>
          </a:prstGeom>
          <a:solidFill>
            <a:srgbClr val="10251C"/>
          </a:solidFill>
          <a:ln w="12700">
            <a:solidFill>
              <a:srgbClr val="3AD1E6"/>
            </a:solidFill>
            <a:prstDash val="solid"/>
          </a:ln>
        </p:spPr>
        <p:txBody>
          <a:bodyPr/>
          <a:lstStyle/>
          <a:p>
            <a:endParaRPr lang="en-SE"/>
          </a:p>
        </p:txBody>
      </p:sp>
      <p:sp>
        <p:nvSpPr>
          <p:cNvPr id="21" name="Text 19"/>
          <p:cNvSpPr/>
          <p:nvPr/>
        </p:nvSpPr>
        <p:spPr>
          <a:xfrm>
            <a:off x="5943600" y="2148840"/>
            <a:ext cx="2560320" cy="274320"/>
          </a:xfrm>
          <a:prstGeom prst="rect">
            <a:avLst/>
          </a:prstGeom>
          <a:noFill/>
          <a:ln/>
        </p:spPr>
        <p:txBody>
          <a:bodyPr wrap="square" lIns="0" tIns="0" rIns="0" bIns="0" rtlCol="0" anchor="t"/>
          <a:lstStyle/>
          <a:p>
            <a:pPr marL="0" indent="0" algn="ctr">
              <a:buNone/>
            </a:pPr>
            <a:r>
              <a:rPr lang="en-US" sz="1100" b="1" kern="0" spc="100" dirty="0">
                <a:solidFill>
                  <a:srgbClr val="3AD1E6"/>
                </a:solidFill>
                <a:latin typeface="Segoe UI" pitchFamily="34" charset="0"/>
                <a:ea typeface="Segoe UI" pitchFamily="34" charset="-122"/>
                <a:cs typeface="Segoe UI" pitchFamily="34" charset="-120"/>
              </a:rPr>
              <a:t>IMPLIED SPREAD BID</a:t>
            </a:r>
            <a:endParaRPr lang="en-US" sz="1100" dirty="0"/>
          </a:p>
        </p:txBody>
      </p:sp>
      <p:sp>
        <p:nvSpPr>
          <p:cNvPr id="22" name="Text 20"/>
          <p:cNvSpPr/>
          <p:nvPr/>
        </p:nvSpPr>
        <p:spPr>
          <a:xfrm>
            <a:off x="5806440" y="2468880"/>
            <a:ext cx="2788920" cy="914400"/>
          </a:xfrm>
          <a:prstGeom prst="rect">
            <a:avLst/>
          </a:prstGeom>
          <a:noFill/>
          <a:ln/>
        </p:spPr>
        <p:txBody>
          <a:bodyPr wrap="square" lIns="0" tIns="0" rIns="0" bIns="0" rtlCol="0" anchor="t"/>
          <a:lstStyle/>
          <a:p>
            <a:pPr marL="0" indent="0" algn="ctr">
              <a:buNone/>
            </a:pPr>
            <a:r>
              <a:rPr lang="en-US" sz="6600" b="1" dirty="0">
                <a:solidFill>
                  <a:srgbClr val="3AD1E6"/>
                </a:solidFill>
                <a:latin typeface="Consolas" pitchFamily="34" charset="0"/>
                <a:ea typeface="Consolas" pitchFamily="34" charset="-122"/>
                <a:cs typeface="Consolas" pitchFamily="34" charset="-120"/>
              </a:rPr>
              <a:t>1</a:t>
            </a:r>
            <a:endParaRPr lang="en-US" sz="6600" dirty="0"/>
          </a:p>
        </p:txBody>
      </p:sp>
      <p:sp>
        <p:nvSpPr>
          <p:cNvPr id="23" name="Text 21"/>
          <p:cNvSpPr/>
          <p:nvPr/>
        </p:nvSpPr>
        <p:spPr>
          <a:xfrm>
            <a:off x="5852160" y="3520440"/>
            <a:ext cx="2743200" cy="365760"/>
          </a:xfrm>
          <a:prstGeom prst="rect">
            <a:avLst/>
          </a:prstGeom>
          <a:noFill/>
          <a:ln/>
        </p:spPr>
        <p:txBody>
          <a:bodyPr wrap="square" lIns="0" tIns="0" rIns="0" bIns="0" rtlCol="0" anchor="ctr"/>
          <a:lstStyle/>
          <a:p>
            <a:pPr marL="0" indent="0" algn="ctr">
              <a:buNone/>
            </a:pPr>
            <a:r>
              <a:rPr lang="en-US" sz="1200" dirty="0">
                <a:solidFill>
                  <a:srgbClr val="8B96A8"/>
                </a:solidFill>
                <a:latin typeface="Consolas" pitchFamily="34" charset="0"/>
                <a:ea typeface="Consolas" pitchFamily="34" charset="-122"/>
                <a:cs typeface="Consolas" pitchFamily="34" charset="-120"/>
              </a:rPr>
              <a:t>= MarchBid − JuneAsk</a:t>
            </a:r>
            <a:endParaRPr lang="en-US" sz="1200" dirty="0"/>
          </a:p>
        </p:txBody>
      </p:sp>
      <p:sp>
        <p:nvSpPr>
          <p:cNvPr id="24" name="Text 22"/>
          <p:cNvSpPr/>
          <p:nvPr/>
        </p:nvSpPr>
        <p:spPr>
          <a:xfrm>
            <a:off x="5806440" y="3977640"/>
            <a:ext cx="2788920" cy="274320"/>
          </a:xfrm>
          <a:prstGeom prst="rect">
            <a:avLst/>
          </a:prstGeom>
          <a:noFill/>
          <a:ln/>
        </p:spPr>
        <p:txBody>
          <a:bodyPr wrap="square" lIns="0" tIns="0" rIns="0" bIns="0" rtlCol="0" anchor="t"/>
          <a:lstStyle/>
          <a:p>
            <a:pPr marL="0" indent="0" algn="ctr">
              <a:buNone/>
            </a:pPr>
            <a:r>
              <a:rPr lang="en-US" sz="1200" dirty="0">
                <a:solidFill>
                  <a:srgbClr val="D8DEE9"/>
                </a:solidFill>
                <a:latin typeface="Consolas" pitchFamily="34" charset="0"/>
                <a:ea typeface="Consolas" pitchFamily="34" charset="-122"/>
                <a:cs typeface="Consolas" pitchFamily="34" charset="-120"/>
              </a:rPr>
              <a:t>Size = min(10, 18) = 10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Build the implied spread ASK</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27</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An implied ASK = the best price at which the spread can be BOUGHT, using the legs.</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828800"/>
            <a:ext cx="5074920" cy="2651760"/>
          </a:xfrm>
          <a:prstGeom prst="roundRect">
            <a:avLst>
              <a:gd name="adj" fmla="val 2069"/>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011680"/>
            <a:ext cx="310896" cy="310896"/>
          </a:xfrm>
          <a:prstGeom prst="ellipse">
            <a:avLst/>
          </a:prstGeom>
          <a:solidFill>
            <a:srgbClr val="35E07E"/>
          </a:solidFill>
          <a:ln/>
        </p:spPr>
        <p:txBody>
          <a:bodyPr/>
          <a:lstStyle/>
          <a:p>
            <a:endParaRPr lang="en-SE"/>
          </a:p>
        </p:txBody>
      </p:sp>
      <p:sp>
        <p:nvSpPr>
          <p:cNvPr id="9" name="Text 7"/>
          <p:cNvSpPr/>
          <p:nvPr/>
        </p:nvSpPr>
        <p:spPr>
          <a:xfrm>
            <a:off x="685800" y="201168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143000" y="2048256"/>
            <a:ext cx="4297680" cy="365760"/>
          </a:xfrm>
          <a:prstGeom prst="rect">
            <a:avLst/>
          </a:prstGeom>
          <a:noFill/>
          <a:ln/>
        </p:spPr>
        <p:txBody>
          <a:bodyPr wrap="square" lIns="0" tIns="0" rIns="0" bIns="0" rtlCol="0" anchor="t"/>
          <a:lstStyle/>
          <a:p>
            <a:pPr marL="0" indent="0" algn="l">
              <a:lnSpc>
                <a:spcPts val="1500"/>
              </a:lnSpc>
              <a:buNone/>
            </a:pPr>
            <a:r>
              <a:rPr lang="en-US" sz="1250" dirty="0">
                <a:solidFill>
                  <a:srgbClr val="D8DEE9"/>
                </a:solidFill>
                <a:latin typeface="Segoe UI" pitchFamily="34" charset="0"/>
                <a:ea typeface="Segoe UI" pitchFamily="34" charset="-122"/>
                <a:cs typeface="Segoe UI" pitchFamily="34" charset="-120"/>
              </a:rPr>
              <a:t>To buy the spread, BUY March → lift the March ask</a:t>
            </a:r>
            <a:endParaRPr lang="en-US" sz="1250" dirty="0"/>
          </a:p>
        </p:txBody>
      </p:sp>
      <p:sp>
        <p:nvSpPr>
          <p:cNvPr id="11" name="Text 9"/>
          <p:cNvSpPr/>
          <p:nvPr/>
        </p:nvSpPr>
        <p:spPr>
          <a:xfrm>
            <a:off x="1143000" y="2432304"/>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March ask = </a:t>
            </a:r>
            <a:r>
              <a:rPr lang="en-US" sz="1350" b="1" dirty="0">
                <a:solidFill>
                  <a:srgbClr val="FF5C6C"/>
                </a:solidFill>
                <a:latin typeface="Consolas" pitchFamily="34" charset="0"/>
                <a:ea typeface="Consolas" pitchFamily="34" charset="-122"/>
                <a:cs typeface="Consolas" pitchFamily="34" charset="-120"/>
              </a:rPr>
              <a:t>100</a:t>
            </a:r>
            <a:endParaRPr lang="en-US" sz="1350" dirty="0"/>
          </a:p>
        </p:txBody>
      </p:sp>
      <p:sp>
        <p:nvSpPr>
          <p:cNvPr id="12" name="step">
            <a:extLst>
              <a:ext uri="{C183D7F6-B498-43B3-948B-1728B52AA6E4}">
                <adec:decorative xmlns:adec="http://schemas.microsoft.com/office/drawing/2017/decorative" val="1"/>
              </a:ext>
            </a:extLst>
          </p:cNvPr>
          <p:cNvSpPr/>
          <p:nvPr/>
        </p:nvSpPr>
        <p:spPr>
          <a:xfrm>
            <a:off x="685800" y="2880360"/>
            <a:ext cx="310896" cy="310896"/>
          </a:xfrm>
          <a:prstGeom prst="ellipse">
            <a:avLst/>
          </a:prstGeom>
          <a:solidFill>
            <a:srgbClr val="FF5C6C"/>
          </a:solidFill>
          <a:ln/>
        </p:spPr>
        <p:txBody>
          <a:bodyPr/>
          <a:lstStyle/>
          <a:p>
            <a:endParaRPr lang="en-SE"/>
          </a:p>
        </p:txBody>
      </p:sp>
      <p:sp>
        <p:nvSpPr>
          <p:cNvPr id="13" name="Text 11"/>
          <p:cNvSpPr/>
          <p:nvPr/>
        </p:nvSpPr>
        <p:spPr>
          <a:xfrm>
            <a:off x="685800" y="288036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1143000" y="2916936"/>
            <a:ext cx="429768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…and SELL June → hit the June bid</a:t>
            </a:r>
            <a:endParaRPr lang="en-US" sz="1250" dirty="0"/>
          </a:p>
        </p:txBody>
      </p:sp>
      <p:sp>
        <p:nvSpPr>
          <p:cNvPr id="15" name="Text 13"/>
          <p:cNvSpPr/>
          <p:nvPr/>
        </p:nvSpPr>
        <p:spPr>
          <a:xfrm>
            <a:off x="1143000" y="3209544"/>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June bid = </a:t>
            </a:r>
            <a:r>
              <a:rPr lang="en-US" sz="1350" b="1" dirty="0">
                <a:solidFill>
                  <a:srgbClr val="35E07E"/>
                </a:solidFill>
                <a:latin typeface="Consolas" pitchFamily="34" charset="0"/>
                <a:ea typeface="Consolas" pitchFamily="34" charset="-122"/>
                <a:cs typeface="Consolas" pitchFamily="34" charset="-120"/>
              </a:rPr>
              <a:t>97</a:t>
            </a:r>
            <a:endParaRPr lang="en-US" sz="1350" dirty="0"/>
          </a:p>
        </p:txBody>
      </p:sp>
      <p:sp>
        <p:nvSpPr>
          <p:cNvPr id="16" name="rule">
            <a:extLst>
              <a:ext uri="{C183D7F6-B498-43B3-948B-1728B52AA6E4}">
                <adec:decorative xmlns:adec="http://schemas.microsoft.com/office/drawing/2017/decorative" val="1"/>
              </a:ext>
            </a:extLst>
          </p:cNvPr>
          <p:cNvSpPr/>
          <p:nvPr/>
        </p:nvSpPr>
        <p:spPr>
          <a:xfrm>
            <a:off x="1143000" y="3639312"/>
            <a:ext cx="4206240" cy="0"/>
          </a:xfrm>
          <a:prstGeom prst="line">
            <a:avLst/>
          </a:prstGeom>
          <a:noFill/>
          <a:ln w="12700">
            <a:solidFill>
              <a:srgbClr val="2C3644"/>
            </a:solidFill>
            <a:prstDash val="solid"/>
          </a:ln>
        </p:spPr>
        <p:txBody>
          <a:bodyPr/>
          <a:lstStyle/>
          <a:p>
            <a:endParaRPr lang="en-SE"/>
          </a:p>
        </p:txBody>
      </p:sp>
      <p:sp>
        <p:nvSpPr>
          <p:cNvPr id="17" name="step">
            <a:extLst>
              <a:ext uri="{C183D7F6-B498-43B3-948B-1728B52AA6E4}">
                <adec:decorative xmlns:adec="http://schemas.microsoft.com/office/drawing/2017/decorative" val="1"/>
              </a:ext>
            </a:extLst>
          </p:cNvPr>
          <p:cNvSpPr/>
          <p:nvPr/>
        </p:nvSpPr>
        <p:spPr>
          <a:xfrm>
            <a:off x="685800" y="3749040"/>
            <a:ext cx="310896" cy="310896"/>
          </a:xfrm>
          <a:prstGeom prst="ellipse">
            <a:avLst/>
          </a:prstGeom>
          <a:solidFill>
            <a:srgbClr val="3AD1E6"/>
          </a:solidFill>
          <a:ln/>
        </p:spPr>
        <p:txBody>
          <a:bodyPr/>
          <a:lstStyle/>
          <a:p>
            <a:endParaRPr lang="en-SE"/>
          </a:p>
        </p:txBody>
      </p:sp>
      <p:sp>
        <p:nvSpPr>
          <p:cNvPr id="18" name="Text 16"/>
          <p:cNvSpPr/>
          <p:nvPr/>
        </p:nvSpPr>
        <p:spPr>
          <a:xfrm>
            <a:off x="685800" y="37490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3</a:t>
            </a:r>
            <a:endParaRPr lang="en-US" sz="1300" dirty="0"/>
          </a:p>
        </p:txBody>
      </p:sp>
      <p:sp>
        <p:nvSpPr>
          <p:cNvPr id="19" name="Text 17"/>
          <p:cNvSpPr/>
          <p:nvPr/>
        </p:nvSpPr>
        <p:spPr>
          <a:xfrm>
            <a:off x="1143000" y="3767328"/>
            <a:ext cx="4297680" cy="365760"/>
          </a:xfrm>
          <a:prstGeom prst="rect">
            <a:avLst/>
          </a:prstGeom>
          <a:noFill/>
          <a:ln/>
        </p:spPr>
        <p:txBody>
          <a:bodyPr wrap="square" lIns="0" tIns="0" rIns="0" bIns="0" rtlCol="0" anchor="ctr"/>
          <a:lstStyle/>
          <a:p>
            <a:pPr marL="0" indent="0" algn="l">
              <a:buNone/>
            </a:pPr>
            <a:r>
              <a:rPr lang="en-US" sz="1450" dirty="0">
                <a:solidFill>
                  <a:srgbClr val="8B96A8"/>
                </a:solidFill>
                <a:latin typeface="Consolas" pitchFamily="34" charset="0"/>
                <a:ea typeface="Consolas" pitchFamily="34" charset="-122"/>
                <a:cs typeface="Consolas" pitchFamily="34" charset="-120"/>
              </a:rPr>
              <a:t>implied spread ask = 100 − 97 = </a:t>
            </a:r>
            <a:r>
              <a:rPr lang="en-US" sz="1450" b="1" dirty="0">
                <a:solidFill>
                  <a:srgbClr val="3AD1E6"/>
                </a:solidFill>
                <a:latin typeface="Consolas" pitchFamily="34" charset="0"/>
                <a:ea typeface="Consolas" pitchFamily="34" charset="-122"/>
                <a:cs typeface="Consolas" pitchFamily="34" charset="-120"/>
              </a:rPr>
              <a:t>3</a:t>
            </a:r>
            <a:endParaRPr lang="en-US" sz="1450" dirty="0"/>
          </a:p>
        </p:txBody>
      </p:sp>
      <p:sp>
        <p:nvSpPr>
          <p:cNvPr id="20" name="panel">
            <a:extLst>
              <a:ext uri="{C183D7F6-B498-43B3-948B-1728B52AA6E4}">
                <adec:decorative xmlns:adec="http://schemas.microsoft.com/office/drawing/2017/decorative" val="1"/>
              </a:ext>
            </a:extLst>
          </p:cNvPr>
          <p:cNvSpPr/>
          <p:nvPr/>
        </p:nvSpPr>
        <p:spPr>
          <a:xfrm>
            <a:off x="5806440" y="1828800"/>
            <a:ext cx="2788920" cy="2651760"/>
          </a:xfrm>
          <a:prstGeom prst="roundRect">
            <a:avLst>
              <a:gd name="adj" fmla="val 2069"/>
            </a:avLst>
          </a:prstGeom>
          <a:solidFill>
            <a:srgbClr val="10251C"/>
          </a:solidFill>
          <a:ln w="12700">
            <a:solidFill>
              <a:srgbClr val="3AD1E6"/>
            </a:solidFill>
            <a:prstDash val="solid"/>
          </a:ln>
        </p:spPr>
        <p:txBody>
          <a:bodyPr/>
          <a:lstStyle/>
          <a:p>
            <a:endParaRPr lang="en-SE"/>
          </a:p>
        </p:txBody>
      </p:sp>
      <p:sp>
        <p:nvSpPr>
          <p:cNvPr id="21" name="Text 19"/>
          <p:cNvSpPr/>
          <p:nvPr/>
        </p:nvSpPr>
        <p:spPr>
          <a:xfrm>
            <a:off x="5943600" y="2148840"/>
            <a:ext cx="2560320" cy="274320"/>
          </a:xfrm>
          <a:prstGeom prst="rect">
            <a:avLst/>
          </a:prstGeom>
          <a:noFill/>
          <a:ln/>
        </p:spPr>
        <p:txBody>
          <a:bodyPr wrap="square" lIns="0" tIns="0" rIns="0" bIns="0" rtlCol="0" anchor="t"/>
          <a:lstStyle/>
          <a:p>
            <a:pPr marL="0" indent="0" algn="ctr">
              <a:buNone/>
            </a:pPr>
            <a:r>
              <a:rPr lang="en-US" sz="1100" b="1" kern="0" spc="100" dirty="0">
                <a:solidFill>
                  <a:srgbClr val="3AD1E6"/>
                </a:solidFill>
                <a:latin typeface="Segoe UI" pitchFamily="34" charset="0"/>
                <a:ea typeface="Segoe UI" pitchFamily="34" charset="-122"/>
                <a:cs typeface="Segoe UI" pitchFamily="34" charset="-120"/>
              </a:rPr>
              <a:t>IMPLIED SPREAD ASK</a:t>
            </a:r>
            <a:endParaRPr lang="en-US" sz="1100" dirty="0"/>
          </a:p>
        </p:txBody>
      </p:sp>
      <p:sp>
        <p:nvSpPr>
          <p:cNvPr id="22" name="Text 20"/>
          <p:cNvSpPr/>
          <p:nvPr/>
        </p:nvSpPr>
        <p:spPr>
          <a:xfrm>
            <a:off x="5806440" y="2468880"/>
            <a:ext cx="2788920" cy="914400"/>
          </a:xfrm>
          <a:prstGeom prst="rect">
            <a:avLst/>
          </a:prstGeom>
          <a:noFill/>
          <a:ln/>
        </p:spPr>
        <p:txBody>
          <a:bodyPr wrap="square" lIns="0" tIns="0" rIns="0" bIns="0" rtlCol="0" anchor="t"/>
          <a:lstStyle/>
          <a:p>
            <a:pPr marL="0" indent="0" algn="ctr">
              <a:buNone/>
            </a:pPr>
            <a:r>
              <a:rPr lang="en-US" sz="6600" b="1" dirty="0">
                <a:solidFill>
                  <a:srgbClr val="3AD1E6"/>
                </a:solidFill>
                <a:latin typeface="Consolas" pitchFamily="34" charset="0"/>
                <a:ea typeface="Consolas" pitchFamily="34" charset="-122"/>
                <a:cs typeface="Consolas" pitchFamily="34" charset="-120"/>
              </a:rPr>
              <a:t>3</a:t>
            </a:r>
            <a:endParaRPr lang="en-US" sz="6600" dirty="0"/>
          </a:p>
        </p:txBody>
      </p:sp>
      <p:sp>
        <p:nvSpPr>
          <p:cNvPr id="23" name="Text 21"/>
          <p:cNvSpPr/>
          <p:nvPr/>
        </p:nvSpPr>
        <p:spPr>
          <a:xfrm>
            <a:off x="5852160" y="3520440"/>
            <a:ext cx="2743200" cy="365760"/>
          </a:xfrm>
          <a:prstGeom prst="rect">
            <a:avLst/>
          </a:prstGeom>
          <a:noFill/>
          <a:ln/>
        </p:spPr>
        <p:txBody>
          <a:bodyPr wrap="square" lIns="0" tIns="0" rIns="0" bIns="0" rtlCol="0" anchor="ctr"/>
          <a:lstStyle/>
          <a:p>
            <a:pPr marL="0" indent="0" algn="ctr">
              <a:buNone/>
            </a:pPr>
            <a:r>
              <a:rPr lang="en-US" sz="1200" dirty="0">
                <a:solidFill>
                  <a:srgbClr val="8B96A8"/>
                </a:solidFill>
                <a:latin typeface="Consolas" pitchFamily="34" charset="0"/>
                <a:ea typeface="Consolas" pitchFamily="34" charset="-122"/>
                <a:cs typeface="Consolas" pitchFamily="34" charset="-120"/>
              </a:rPr>
              <a:t>= MarchAsk − JuneBid</a:t>
            </a:r>
            <a:endParaRPr lang="en-US" sz="1200" dirty="0"/>
          </a:p>
        </p:txBody>
      </p:sp>
      <p:sp>
        <p:nvSpPr>
          <p:cNvPr id="24" name="Text 22"/>
          <p:cNvSpPr/>
          <p:nvPr/>
        </p:nvSpPr>
        <p:spPr>
          <a:xfrm>
            <a:off x="5806440" y="3977640"/>
            <a:ext cx="2788920" cy="274320"/>
          </a:xfrm>
          <a:prstGeom prst="rect">
            <a:avLst/>
          </a:prstGeom>
          <a:noFill/>
          <a:ln/>
        </p:spPr>
        <p:txBody>
          <a:bodyPr wrap="square" lIns="0" tIns="0" rIns="0" bIns="0" rtlCol="0" anchor="t"/>
          <a:lstStyle/>
          <a:p>
            <a:pPr marL="0" indent="0" algn="ctr">
              <a:buNone/>
            </a:pPr>
            <a:r>
              <a:rPr lang="en-US" sz="1200" dirty="0">
                <a:solidFill>
                  <a:srgbClr val="D8DEE9"/>
                </a:solidFill>
                <a:latin typeface="Consolas" pitchFamily="34" charset="0"/>
                <a:ea typeface="Consolas" pitchFamily="34" charset="-122"/>
                <a:cs typeface="Consolas" pitchFamily="34" charset="-120"/>
              </a:rPr>
              <a:t>Size = min(30, 15) = 15</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 spread market appears out of the legs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28</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Before: the spread book was empty. After: a live two-sided market — entirely implied.</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874520"/>
            <a:ext cx="3840480" cy="2606040"/>
          </a:xfrm>
          <a:prstGeom prst="roundRect">
            <a:avLst>
              <a:gd name="adj" fmla="val 2105"/>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011680"/>
            <a:ext cx="2743200" cy="274320"/>
          </a:xfrm>
          <a:prstGeom prst="rect">
            <a:avLst/>
          </a:prstGeom>
          <a:noFill/>
          <a:ln/>
        </p:spPr>
        <p:txBody>
          <a:bodyPr wrap="square" lIns="0" tIns="0" rIns="0" bIns="0" rtlCol="0" anchor="t"/>
          <a:lstStyle/>
          <a:p>
            <a:pPr marL="0" indent="0" algn="l">
              <a:buNone/>
            </a:pPr>
            <a:r>
              <a:rPr lang="en-US" sz="1100" b="1" kern="0" spc="200" dirty="0">
                <a:solidFill>
                  <a:srgbClr val="8B96A8"/>
                </a:solidFill>
                <a:latin typeface="Segoe UI" pitchFamily="34" charset="0"/>
                <a:ea typeface="Segoe UI" pitchFamily="34" charset="-122"/>
                <a:cs typeface="Segoe UI" pitchFamily="34" charset="-120"/>
              </a:rPr>
              <a:t>BEFORE</a:t>
            </a:r>
            <a:endParaRPr lang="en-US" sz="1100" dirty="0"/>
          </a:p>
        </p:txBody>
      </p:sp>
      <p:sp>
        <p:nvSpPr>
          <p:cNvPr id="9" name="Text 7"/>
          <p:cNvSpPr/>
          <p:nvPr/>
        </p:nvSpPr>
        <p:spPr>
          <a:xfrm>
            <a:off x="685800" y="2331720"/>
            <a:ext cx="3474720" cy="274320"/>
          </a:xfrm>
          <a:prstGeom prst="rect">
            <a:avLst/>
          </a:prstGeom>
          <a:noFill/>
          <a:ln/>
        </p:spPr>
        <p:txBody>
          <a:bodyPr wrap="square" lIns="0" tIns="0" rIns="0" bIns="0" rtlCol="0" anchor="t"/>
          <a:lstStyle/>
          <a:p>
            <a:pPr marL="0" indent="0" algn="l">
              <a:buNone/>
            </a:pPr>
            <a:r>
              <a:rPr lang="en-US" sz="1200" b="1" dirty="0">
                <a:solidFill>
                  <a:srgbClr val="FFFFFF"/>
                </a:solidFill>
                <a:latin typeface="Segoe UI" pitchFamily="34" charset="0"/>
                <a:ea typeface="Segoe UI" pitchFamily="34" charset="-122"/>
                <a:cs typeface="Segoe UI" pitchFamily="34" charset="-120"/>
              </a:rPr>
              <a:t>MARCH–JUNE SPREAD</a:t>
            </a:r>
            <a:endParaRPr lang="en-US" sz="1200" dirty="0"/>
          </a:p>
        </p:txBody>
      </p:sp>
      <p:sp>
        <p:nvSpPr>
          <p:cNvPr id="10" name="Text 8"/>
          <p:cNvSpPr/>
          <p:nvPr/>
        </p:nvSpPr>
        <p:spPr>
          <a:xfrm>
            <a:off x="502920" y="3108960"/>
            <a:ext cx="3840480" cy="457200"/>
          </a:xfrm>
          <a:prstGeom prst="rect">
            <a:avLst/>
          </a:prstGeom>
          <a:noFill/>
          <a:ln/>
        </p:spPr>
        <p:txBody>
          <a:bodyPr wrap="square" lIns="0" tIns="0" rIns="0" bIns="0" rtlCol="0" anchor="t"/>
          <a:lstStyle/>
          <a:p>
            <a:pPr marL="0" indent="0" algn="ctr">
              <a:buNone/>
            </a:pPr>
            <a:r>
              <a:rPr lang="en-US" sz="2000" dirty="0">
                <a:solidFill>
                  <a:srgbClr val="FF5C6C"/>
                </a:solidFill>
                <a:latin typeface="Consolas" pitchFamily="34" charset="0"/>
                <a:ea typeface="Consolas" pitchFamily="34" charset="-122"/>
                <a:cs typeface="Consolas" pitchFamily="34" charset="-120"/>
              </a:rPr>
              <a:t>— empty —</a:t>
            </a:r>
            <a:endParaRPr lang="en-US" sz="2000" dirty="0"/>
          </a:p>
        </p:txBody>
      </p:sp>
      <p:sp>
        <p:nvSpPr>
          <p:cNvPr id="11" name="arrow">
            <a:extLst>
              <a:ext uri="{C183D7F6-B498-43B3-948B-1728B52AA6E4}">
                <adec:decorative xmlns:adec="http://schemas.microsoft.com/office/drawing/2017/decorative" val="1"/>
              </a:ext>
            </a:extLst>
          </p:cNvPr>
          <p:cNvSpPr/>
          <p:nvPr/>
        </p:nvSpPr>
        <p:spPr>
          <a:xfrm>
            <a:off x="4434840" y="3154680"/>
            <a:ext cx="274320" cy="0"/>
          </a:xfrm>
          <a:prstGeom prst="line">
            <a:avLst/>
          </a:prstGeom>
          <a:noFill/>
          <a:ln w="31750">
            <a:solidFill>
              <a:srgbClr val="3AD1E6"/>
            </a:solidFill>
            <a:prstDash val="solid"/>
            <a:tailEnd type="triangle"/>
          </a:ln>
        </p:spPr>
        <p:txBody>
          <a:bodyPr/>
          <a:lstStyle/>
          <a:p>
            <a:endParaRPr lang="en-SE"/>
          </a:p>
        </p:txBody>
      </p:sp>
      <p:sp>
        <p:nvSpPr>
          <p:cNvPr id="12" name="panel">
            <a:extLst>
              <a:ext uri="{C183D7F6-B498-43B3-948B-1728B52AA6E4}">
                <adec:decorative xmlns:adec="http://schemas.microsoft.com/office/drawing/2017/decorative" val="1"/>
              </a:ext>
            </a:extLst>
          </p:cNvPr>
          <p:cNvSpPr/>
          <p:nvPr/>
        </p:nvSpPr>
        <p:spPr>
          <a:xfrm>
            <a:off x="4800600" y="1874520"/>
            <a:ext cx="3794760" cy="2606040"/>
          </a:xfrm>
          <a:prstGeom prst="roundRect">
            <a:avLst>
              <a:gd name="adj" fmla="val 2105"/>
            </a:avLst>
          </a:prstGeom>
          <a:solidFill>
            <a:srgbClr val="10251C"/>
          </a:solidFill>
          <a:ln w="12700">
            <a:solidFill>
              <a:srgbClr val="3AD1E6"/>
            </a:solidFill>
            <a:prstDash val="solid"/>
          </a:ln>
        </p:spPr>
        <p:txBody>
          <a:bodyPr/>
          <a:lstStyle/>
          <a:p>
            <a:endParaRPr lang="en-SE"/>
          </a:p>
        </p:txBody>
      </p:sp>
      <p:sp>
        <p:nvSpPr>
          <p:cNvPr id="13" name="Text 11"/>
          <p:cNvSpPr/>
          <p:nvPr/>
        </p:nvSpPr>
        <p:spPr>
          <a:xfrm>
            <a:off x="4983480" y="2011680"/>
            <a:ext cx="2743200" cy="274320"/>
          </a:xfrm>
          <a:prstGeom prst="rect">
            <a:avLst/>
          </a:prstGeom>
          <a:noFill/>
          <a:ln/>
        </p:spPr>
        <p:txBody>
          <a:bodyPr wrap="square" lIns="0" tIns="0" rIns="0" bIns="0" rtlCol="0" anchor="t"/>
          <a:lstStyle/>
          <a:p>
            <a:pPr marL="0" indent="0" algn="l">
              <a:buNone/>
            </a:pPr>
            <a:r>
              <a:rPr lang="en-US" sz="1100" b="1" kern="0" spc="200" dirty="0">
                <a:solidFill>
                  <a:srgbClr val="3AD1E6"/>
                </a:solidFill>
                <a:latin typeface="Segoe UI" pitchFamily="34" charset="0"/>
                <a:ea typeface="Segoe UI" pitchFamily="34" charset="-122"/>
                <a:cs typeface="Segoe UI" pitchFamily="34" charset="-120"/>
              </a:rPr>
              <a:t>AFTER (IMPLIED)</a:t>
            </a:r>
            <a:endParaRPr lang="en-US" sz="1100" dirty="0"/>
          </a:p>
        </p:txBody>
      </p:sp>
      <p:sp>
        <p:nvSpPr>
          <p:cNvPr id="14" name="panel">
            <a:extLst>
              <a:ext uri="{C183D7F6-B498-43B3-948B-1728B52AA6E4}">
                <adec:decorative xmlns:adec="http://schemas.microsoft.com/office/drawing/2017/decorative" val="1"/>
              </a:ext>
            </a:extLst>
          </p:cNvPr>
          <p:cNvSpPr/>
          <p:nvPr/>
        </p:nvSpPr>
        <p:spPr>
          <a:xfrm>
            <a:off x="4983480" y="2423160"/>
            <a:ext cx="3429000" cy="731520"/>
          </a:xfrm>
          <a:prstGeom prst="roundRect">
            <a:avLst>
              <a:gd name="adj" fmla="val 7500"/>
            </a:avLst>
          </a:prstGeom>
          <a:solidFill>
            <a:srgbClr val="222B39"/>
          </a:solidFill>
          <a:ln w="12700">
            <a:solidFill>
              <a:srgbClr val="2C3644"/>
            </a:solidFill>
            <a:prstDash val="solid"/>
          </a:ln>
        </p:spPr>
        <p:txBody>
          <a:bodyPr/>
          <a:lstStyle/>
          <a:p>
            <a:endParaRPr lang="en-SE"/>
          </a:p>
        </p:txBody>
      </p:sp>
      <p:sp>
        <p:nvSpPr>
          <p:cNvPr id="15" name="Text 13"/>
          <p:cNvSpPr/>
          <p:nvPr/>
        </p:nvSpPr>
        <p:spPr>
          <a:xfrm>
            <a:off x="5120640" y="2423160"/>
            <a:ext cx="914400" cy="731520"/>
          </a:xfrm>
          <a:prstGeom prst="rect">
            <a:avLst/>
          </a:prstGeom>
          <a:noFill/>
          <a:ln/>
        </p:spPr>
        <p:txBody>
          <a:bodyPr wrap="square" lIns="0" tIns="0" rIns="0" bIns="0" rtlCol="0" anchor="ctr"/>
          <a:lstStyle/>
          <a:p>
            <a:pPr marL="0" indent="0" algn="l">
              <a:buNone/>
            </a:pPr>
            <a:r>
              <a:rPr lang="en-US" sz="1200" b="1" dirty="0">
                <a:solidFill>
                  <a:srgbClr val="FF5C6C"/>
                </a:solidFill>
                <a:latin typeface="Consolas" pitchFamily="34" charset="0"/>
                <a:ea typeface="Consolas" pitchFamily="34" charset="-122"/>
                <a:cs typeface="Consolas" pitchFamily="34" charset="-120"/>
              </a:rPr>
              <a:t>ASK</a:t>
            </a:r>
            <a:endParaRPr lang="en-US" sz="1200" dirty="0"/>
          </a:p>
        </p:txBody>
      </p:sp>
      <p:sp>
        <p:nvSpPr>
          <p:cNvPr id="16" name="Text 14"/>
          <p:cNvSpPr/>
          <p:nvPr/>
        </p:nvSpPr>
        <p:spPr>
          <a:xfrm>
            <a:off x="5852160" y="2423160"/>
            <a:ext cx="1097280" cy="731520"/>
          </a:xfrm>
          <a:prstGeom prst="rect">
            <a:avLst/>
          </a:prstGeom>
          <a:noFill/>
          <a:ln/>
        </p:spPr>
        <p:txBody>
          <a:bodyPr wrap="square" lIns="0" tIns="0" rIns="0" bIns="0" rtlCol="0" anchor="ctr"/>
          <a:lstStyle/>
          <a:p>
            <a:pPr marL="0" indent="0" algn="ctr">
              <a:buNone/>
            </a:pPr>
            <a:r>
              <a:rPr lang="en-US" sz="2800" b="1" dirty="0">
                <a:solidFill>
                  <a:srgbClr val="FF5C6C"/>
                </a:solidFill>
                <a:latin typeface="Consolas" pitchFamily="34" charset="0"/>
                <a:ea typeface="Consolas" pitchFamily="34" charset="-122"/>
                <a:cs typeface="Consolas" pitchFamily="34" charset="-120"/>
              </a:rPr>
              <a:t>3</a:t>
            </a:r>
            <a:endParaRPr lang="en-US" sz="2800" dirty="0"/>
          </a:p>
        </p:txBody>
      </p:sp>
      <p:sp>
        <p:nvSpPr>
          <p:cNvPr id="17" name="Text 15"/>
          <p:cNvSpPr/>
          <p:nvPr/>
        </p:nvSpPr>
        <p:spPr>
          <a:xfrm>
            <a:off x="7040880" y="2423160"/>
            <a:ext cx="1280160" cy="731520"/>
          </a:xfrm>
          <a:prstGeom prst="rect">
            <a:avLst/>
          </a:prstGeom>
          <a:noFill/>
          <a:ln/>
        </p:spPr>
        <p:txBody>
          <a:bodyPr wrap="square" lIns="0" tIns="0" rIns="0" bIns="0" rtlCol="0" anchor="ctr"/>
          <a:lstStyle/>
          <a:p>
            <a:pPr marL="0" indent="0" algn="r">
              <a:buNone/>
            </a:pPr>
            <a:r>
              <a:rPr lang="en-US" sz="1200" dirty="0">
                <a:solidFill>
                  <a:srgbClr val="D8DEE9"/>
                </a:solidFill>
                <a:latin typeface="Consolas" pitchFamily="34" charset="0"/>
                <a:ea typeface="Consolas" pitchFamily="34" charset="-122"/>
                <a:cs typeface="Consolas" pitchFamily="34" charset="-120"/>
              </a:rPr>
              <a:t>size 15</a:t>
            </a:r>
            <a:endParaRPr lang="en-US" sz="1200" dirty="0"/>
          </a:p>
        </p:txBody>
      </p:sp>
      <p:sp>
        <p:nvSpPr>
          <p:cNvPr id="18" name="panel">
            <a:extLst>
              <a:ext uri="{C183D7F6-B498-43B3-948B-1728B52AA6E4}">
                <adec:decorative xmlns:adec="http://schemas.microsoft.com/office/drawing/2017/decorative" val="1"/>
              </a:ext>
            </a:extLst>
          </p:cNvPr>
          <p:cNvSpPr/>
          <p:nvPr/>
        </p:nvSpPr>
        <p:spPr>
          <a:xfrm>
            <a:off x="4983480" y="3291840"/>
            <a:ext cx="3429000" cy="731520"/>
          </a:xfrm>
          <a:prstGeom prst="roundRect">
            <a:avLst>
              <a:gd name="adj" fmla="val 7500"/>
            </a:avLst>
          </a:prstGeom>
          <a:solidFill>
            <a:srgbClr val="222B39"/>
          </a:solidFill>
          <a:ln w="12700">
            <a:solidFill>
              <a:srgbClr val="2C3644"/>
            </a:solidFill>
            <a:prstDash val="solid"/>
          </a:ln>
        </p:spPr>
        <p:txBody>
          <a:bodyPr/>
          <a:lstStyle/>
          <a:p>
            <a:endParaRPr lang="en-SE"/>
          </a:p>
        </p:txBody>
      </p:sp>
      <p:sp>
        <p:nvSpPr>
          <p:cNvPr id="19" name="Text 17"/>
          <p:cNvSpPr/>
          <p:nvPr/>
        </p:nvSpPr>
        <p:spPr>
          <a:xfrm>
            <a:off x="5120640" y="3291840"/>
            <a:ext cx="914400" cy="731520"/>
          </a:xfrm>
          <a:prstGeom prst="rect">
            <a:avLst/>
          </a:prstGeom>
          <a:noFill/>
          <a:ln/>
        </p:spPr>
        <p:txBody>
          <a:bodyPr wrap="square" lIns="0" tIns="0" rIns="0" bIns="0" rtlCol="0" anchor="ctr"/>
          <a:lstStyle/>
          <a:p>
            <a:pPr marL="0" indent="0" algn="l">
              <a:buNone/>
            </a:pPr>
            <a:r>
              <a:rPr lang="en-US" sz="1200" b="1" dirty="0">
                <a:solidFill>
                  <a:srgbClr val="35E07E"/>
                </a:solidFill>
                <a:latin typeface="Consolas" pitchFamily="34" charset="0"/>
                <a:ea typeface="Consolas" pitchFamily="34" charset="-122"/>
                <a:cs typeface="Consolas" pitchFamily="34" charset="-120"/>
              </a:rPr>
              <a:t>BID</a:t>
            </a:r>
            <a:endParaRPr lang="en-US" sz="1200" dirty="0"/>
          </a:p>
        </p:txBody>
      </p:sp>
      <p:sp>
        <p:nvSpPr>
          <p:cNvPr id="20" name="Text 18"/>
          <p:cNvSpPr/>
          <p:nvPr/>
        </p:nvSpPr>
        <p:spPr>
          <a:xfrm>
            <a:off x="5852160" y="3291840"/>
            <a:ext cx="1097280" cy="731520"/>
          </a:xfrm>
          <a:prstGeom prst="rect">
            <a:avLst/>
          </a:prstGeom>
          <a:noFill/>
          <a:ln/>
        </p:spPr>
        <p:txBody>
          <a:bodyPr wrap="square" lIns="0" tIns="0" rIns="0" bIns="0" rtlCol="0" anchor="ctr"/>
          <a:lstStyle/>
          <a:p>
            <a:pPr marL="0" indent="0" algn="ctr">
              <a:buNone/>
            </a:pPr>
            <a:r>
              <a:rPr lang="en-US" sz="2800" b="1" dirty="0">
                <a:solidFill>
                  <a:srgbClr val="35E07E"/>
                </a:solidFill>
                <a:latin typeface="Consolas" pitchFamily="34" charset="0"/>
                <a:ea typeface="Consolas" pitchFamily="34" charset="-122"/>
                <a:cs typeface="Consolas" pitchFamily="34" charset="-120"/>
              </a:rPr>
              <a:t>1</a:t>
            </a:r>
            <a:endParaRPr lang="en-US" sz="2800" dirty="0"/>
          </a:p>
        </p:txBody>
      </p:sp>
      <p:sp>
        <p:nvSpPr>
          <p:cNvPr id="21" name="Text 19"/>
          <p:cNvSpPr/>
          <p:nvPr/>
        </p:nvSpPr>
        <p:spPr>
          <a:xfrm>
            <a:off x="7040880" y="3291840"/>
            <a:ext cx="1280160" cy="731520"/>
          </a:xfrm>
          <a:prstGeom prst="rect">
            <a:avLst/>
          </a:prstGeom>
          <a:noFill/>
          <a:ln/>
        </p:spPr>
        <p:txBody>
          <a:bodyPr wrap="square" lIns="0" tIns="0" rIns="0" bIns="0" rtlCol="0" anchor="ctr"/>
          <a:lstStyle/>
          <a:p>
            <a:pPr marL="0" indent="0" algn="r">
              <a:buNone/>
            </a:pPr>
            <a:r>
              <a:rPr lang="en-US" sz="1200" dirty="0">
                <a:solidFill>
                  <a:srgbClr val="D8DEE9"/>
                </a:solidFill>
                <a:latin typeface="Consolas" pitchFamily="34" charset="0"/>
                <a:ea typeface="Consolas" pitchFamily="34" charset="-122"/>
                <a:cs typeface="Consolas" pitchFamily="34" charset="-120"/>
              </a:rPr>
              <a:t>size 10</a:t>
            </a:r>
            <a:endParaRPr lang="en-US" sz="1200" dirty="0"/>
          </a:p>
        </p:txBody>
      </p:sp>
      <p:sp>
        <p:nvSpPr>
          <p:cNvPr id="22" name="Text 20"/>
          <p:cNvSpPr/>
          <p:nvPr/>
        </p:nvSpPr>
        <p:spPr>
          <a:xfrm>
            <a:off x="4800600" y="4160520"/>
            <a:ext cx="3794760" cy="274320"/>
          </a:xfrm>
          <a:prstGeom prst="rect">
            <a:avLst/>
          </a:prstGeom>
          <a:noFill/>
          <a:ln/>
        </p:spPr>
        <p:txBody>
          <a:bodyPr wrap="square" lIns="0" tIns="0" rIns="0" bIns="0" rtlCol="0" anchor="t"/>
          <a:lstStyle/>
          <a:p>
            <a:pPr marL="0" indent="0" algn="ctr">
              <a:buNone/>
            </a:pPr>
            <a:r>
              <a:rPr lang="en-US" sz="1100" i="1" dirty="0">
                <a:solidFill>
                  <a:srgbClr val="8B96A8"/>
                </a:solidFill>
                <a:latin typeface="Segoe UI" pitchFamily="34" charset="0"/>
                <a:ea typeface="Segoe UI" pitchFamily="34" charset="-122"/>
                <a:cs typeface="Segoe UI" pitchFamily="34" charset="-120"/>
              </a:rPr>
              <a:t>Every price here is backed by real March &amp; June orders.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Watch it trade: one order, three fills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5</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29</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 customer SELLS 10 of the spread at the implied bid of 1. Here's what actually executes:</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920240"/>
            <a:ext cx="2468880" cy="2194560"/>
          </a:xfrm>
          <a:prstGeom prst="roundRect">
            <a:avLst>
              <a:gd name="adj" fmla="val 2500"/>
            </a:avLst>
          </a:prstGeom>
          <a:solidFill>
            <a:srgbClr val="10251C"/>
          </a:solidFill>
          <a:ln w="12700">
            <a:solidFill>
              <a:srgbClr val="3AD1E6"/>
            </a:solidFill>
            <a:prstDash val="solid"/>
          </a:ln>
        </p:spPr>
        <p:txBody>
          <a:bodyPr/>
          <a:lstStyle/>
          <a:p>
            <a:endParaRPr lang="en-SE"/>
          </a:p>
        </p:txBody>
      </p:sp>
      <p:sp>
        <p:nvSpPr>
          <p:cNvPr id="8" name="Text 6"/>
          <p:cNvSpPr/>
          <p:nvPr/>
        </p:nvSpPr>
        <p:spPr>
          <a:xfrm>
            <a:off x="640080" y="2048256"/>
            <a:ext cx="2194560" cy="228600"/>
          </a:xfrm>
          <a:prstGeom prst="rect">
            <a:avLst/>
          </a:prstGeom>
          <a:noFill/>
          <a:ln/>
        </p:spPr>
        <p:txBody>
          <a:bodyPr wrap="square" lIns="0" tIns="0" rIns="0" bIns="0" rtlCol="0" anchor="t"/>
          <a:lstStyle/>
          <a:p>
            <a:pPr marL="0" indent="0" algn="l">
              <a:buNone/>
            </a:pPr>
            <a:r>
              <a:rPr lang="en-US" sz="1000" b="1" kern="0" spc="100" dirty="0">
                <a:solidFill>
                  <a:srgbClr val="3AD1E6"/>
                </a:solidFill>
                <a:latin typeface="Segoe UI" pitchFamily="34" charset="0"/>
                <a:ea typeface="Segoe UI" pitchFamily="34" charset="-122"/>
                <a:cs typeface="Segoe UI" pitchFamily="34" charset="-120"/>
              </a:rPr>
              <a:t>INCOMING</a:t>
            </a:r>
            <a:endParaRPr lang="en-US" sz="1000" dirty="0"/>
          </a:p>
        </p:txBody>
      </p:sp>
      <p:sp>
        <p:nvSpPr>
          <p:cNvPr id="9" name="Text 7"/>
          <p:cNvSpPr/>
          <p:nvPr/>
        </p:nvSpPr>
        <p:spPr>
          <a:xfrm>
            <a:off x="640080" y="2331720"/>
            <a:ext cx="2194560" cy="320040"/>
          </a:xfrm>
          <a:prstGeom prst="rect">
            <a:avLst/>
          </a:prstGeom>
          <a:noFill/>
          <a:ln/>
        </p:spPr>
        <p:txBody>
          <a:bodyPr wrap="square" lIns="0" tIns="0" rIns="0" bIns="0" rtlCol="0" anchor="t"/>
          <a:lstStyle/>
          <a:p>
            <a:pPr marL="0" indent="0" algn="l">
              <a:buNone/>
            </a:pPr>
            <a:r>
              <a:rPr lang="en-US" sz="1500" b="1" dirty="0">
                <a:solidFill>
                  <a:srgbClr val="FFFFFF"/>
                </a:solidFill>
                <a:latin typeface="Consolas" pitchFamily="34" charset="0"/>
                <a:ea typeface="Consolas" pitchFamily="34" charset="-122"/>
                <a:cs typeface="Consolas" pitchFamily="34" charset="-120"/>
              </a:rPr>
              <a:t>Sell 10 spread</a:t>
            </a:r>
            <a:endParaRPr lang="en-US" sz="1500" dirty="0"/>
          </a:p>
        </p:txBody>
      </p:sp>
      <p:sp>
        <p:nvSpPr>
          <p:cNvPr id="10" name="Text 8"/>
          <p:cNvSpPr/>
          <p:nvPr/>
        </p:nvSpPr>
        <p:spPr>
          <a:xfrm>
            <a:off x="640080" y="2670048"/>
            <a:ext cx="2194560" cy="274320"/>
          </a:xfrm>
          <a:prstGeom prst="rect">
            <a:avLst/>
          </a:prstGeom>
          <a:noFill/>
          <a:ln/>
        </p:spPr>
        <p:txBody>
          <a:bodyPr wrap="square" lIns="0" tIns="0" rIns="0" bIns="0" rtlCol="0" anchor="t"/>
          <a:lstStyle/>
          <a:p>
            <a:pPr marL="0" indent="0" algn="l">
              <a:buNone/>
            </a:pPr>
            <a:r>
              <a:rPr lang="en-US" sz="1300" dirty="0">
                <a:solidFill>
                  <a:srgbClr val="3AD1E6"/>
                </a:solidFill>
                <a:latin typeface="Consolas" pitchFamily="34" charset="0"/>
                <a:ea typeface="Consolas" pitchFamily="34" charset="-122"/>
                <a:cs typeface="Consolas" pitchFamily="34" charset="-120"/>
              </a:rPr>
              <a:t>@ price 1</a:t>
            </a:r>
            <a:endParaRPr lang="en-US" sz="1300" dirty="0"/>
          </a:p>
        </p:txBody>
      </p:sp>
      <p:sp>
        <p:nvSpPr>
          <p:cNvPr id="11" name="Text 9"/>
          <p:cNvSpPr/>
          <p:nvPr/>
        </p:nvSpPr>
        <p:spPr>
          <a:xfrm>
            <a:off x="640080" y="3063240"/>
            <a:ext cx="2194560" cy="822960"/>
          </a:xfrm>
          <a:prstGeom prst="rect">
            <a:avLst/>
          </a:prstGeom>
          <a:noFill/>
          <a:ln/>
        </p:spPr>
        <p:txBody>
          <a:bodyPr wrap="square" lIns="0" tIns="0" rIns="0" bIns="0" rtlCol="0" anchor="t"/>
          <a:lstStyle/>
          <a:p>
            <a:pPr marL="0" indent="0" algn="l">
              <a:lnSpc>
                <a:spcPts val="1600"/>
              </a:lnSpc>
              <a:buNone/>
            </a:pPr>
            <a:r>
              <a:rPr lang="en-US" sz="1200" dirty="0">
                <a:solidFill>
                  <a:srgbClr val="8B96A8"/>
                </a:solidFill>
                <a:latin typeface="Segoe UI" pitchFamily="34" charset="0"/>
                <a:ea typeface="Segoe UI" pitchFamily="34" charset="-122"/>
                <a:cs typeface="Segoe UI" pitchFamily="34" charset="-120"/>
              </a:rPr>
              <a:t>The engine unwinds it into the real books →</a:t>
            </a:r>
            <a:endParaRPr lang="en-US" sz="1200" dirty="0"/>
          </a:p>
        </p:txBody>
      </p:sp>
      <p:sp>
        <p:nvSpPr>
          <p:cNvPr id="12" name="arrow">
            <a:extLst>
              <a:ext uri="{C183D7F6-B498-43B3-948B-1728B52AA6E4}">
                <adec:decorative xmlns:adec="http://schemas.microsoft.com/office/drawing/2017/decorative" val="1"/>
              </a:ext>
            </a:extLst>
          </p:cNvPr>
          <p:cNvSpPr/>
          <p:nvPr/>
        </p:nvSpPr>
        <p:spPr>
          <a:xfrm>
            <a:off x="3017520" y="3017520"/>
            <a:ext cx="457200" cy="0"/>
          </a:xfrm>
          <a:prstGeom prst="line">
            <a:avLst/>
          </a:prstGeom>
          <a:noFill/>
          <a:ln w="31750">
            <a:solidFill>
              <a:srgbClr val="8B96A8"/>
            </a:solidFill>
            <a:prstDash val="solid"/>
            <a:tailEnd type="triangle"/>
          </a:ln>
        </p:spPr>
        <p:txBody>
          <a:bodyPr/>
          <a:lstStyle/>
          <a:p>
            <a:endParaRPr lang="en-SE"/>
          </a:p>
        </p:txBody>
      </p:sp>
      <p:sp>
        <p:nvSpPr>
          <p:cNvPr id="13" name="panel">
            <a:extLst>
              <a:ext uri="{C183D7F6-B498-43B3-948B-1728B52AA6E4}">
                <adec:decorative xmlns:adec="http://schemas.microsoft.com/office/drawing/2017/decorative" val="1"/>
              </a:ext>
            </a:extLst>
          </p:cNvPr>
          <p:cNvSpPr/>
          <p:nvPr/>
        </p:nvSpPr>
        <p:spPr>
          <a:xfrm>
            <a:off x="3611880" y="1920240"/>
            <a:ext cx="4983480" cy="658368"/>
          </a:xfrm>
          <a:prstGeom prst="roundRect">
            <a:avLst>
              <a:gd name="adj" fmla="val 8333"/>
            </a:avLst>
          </a:prstGeom>
          <a:solidFill>
            <a:srgbClr val="1B212C"/>
          </a:solidFill>
          <a:ln w="12700">
            <a:solidFill>
              <a:srgbClr val="2C3644"/>
            </a:solidFill>
            <a:prstDash val="solid"/>
          </a:ln>
        </p:spPr>
        <p:txBody>
          <a:bodyPr/>
          <a:lstStyle/>
          <a:p>
            <a:endParaRPr lang="en-SE"/>
          </a:p>
        </p:txBody>
      </p:sp>
      <p:sp>
        <p:nvSpPr>
          <p:cNvPr id="14" name="dot">
            <a:extLst>
              <a:ext uri="{C183D7F6-B498-43B3-948B-1728B52AA6E4}">
                <adec:decorative xmlns:adec="http://schemas.microsoft.com/office/drawing/2017/decorative" val="1"/>
              </a:ext>
            </a:extLst>
          </p:cNvPr>
          <p:cNvSpPr/>
          <p:nvPr/>
        </p:nvSpPr>
        <p:spPr>
          <a:xfrm>
            <a:off x="3767328" y="2176272"/>
            <a:ext cx="146304" cy="146304"/>
          </a:xfrm>
          <a:prstGeom prst="ellipse">
            <a:avLst/>
          </a:prstGeom>
          <a:solidFill>
            <a:srgbClr val="35E07E"/>
          </a:solidFill>
          <a:ln/>
        </p:spPr>
        <p:txBody>
          <a:bodyPr/>
          <a:lstStyle/>
          <a:p>
            <a:endParaRPr lang="en-SE"/>
          </a:p>
        </p:txBody>
      </p:sp>
      <p:sp>
        <p:nvSpPr>
          <p:cNvPr id="15" name="Text 13"/>
          <p:cNvSpPr/>
          <p:nvPr/>
        </p:nvSpPr>
        <p:spPr>
          <a:xfrm>
            <a:off x="4041648" y="1920240"/>
            <a:ext cx="2011680" cy="658368"/>
          </a:xfrm>
          <a:prstGeom prst="rect">
            <a:avLst/>
          </a:prstGeom>
          <a:noFill/>
          <a:ln/>
        </p:spPr>
        <p:txBody>
          <a:bodyPr wrap="square" lIns="0" tIns="0" rIns="0" bIns="0" rtlCol="0" anchor="ctr"/>
          <a:lstStyle/>
          <a:p>
            <a:pPr marL="0" indent="0" algn="l">
              <a:buNone/>
            </a:pPr>
            <a:r>
              <a:rPr lang="en-US" sz="1250" b="1" dirty="0">
                <a:solidFill>
                  <a:srgbClr val="FFFFFF"/>
                </a:solidFill>
                <a:latin typeface="Segoe UI" pitchFamily="34" charset="0"/>
                <a:ea typeface="Segoe UI" pitchFamily="34" charset="-122"/>
                <a:cs typeface="Segoe UI" pitchFamily="34" charset="-120"/>
              </a:rPr>
              <a:t>March bidder</a:t>
            </a:r>
            <a:endParaRPr lang="en-US" sz="1250" dirty="0"/>
          </a:p>
        </p:txBody>
      </p:sp>
      <p:sp>
        <p:nvSpPr>
          <p:cNvPr id="16" name="Text 14"/>
          <p:cNvSpPr/>
          <p:nvPr/>
        </p:nvSpPr>
        <p:spPr>
          <a:xfrm>
            <a:off x="5852160" y="1920240"/>
            <a:ext cx="2606040" cy="658368"/>
          </a:xfrm>
          <a:prstGeom prst="rect">
            <a:avLst/>
          </a:prstGeom>
          <a:noFill/>
          <a:ln/>
        </p:spPr>
        <p:txBody>
          <a:bodyPr wrap="square" lIns="0" tIns="0" rIns="0" bIns="0" rtlCol="0" anchor="ctr"/>
          <a:lstStyle/>
          <a:p>
            <a:pPr marL="0" indent="0" algn="r">
              <a:buNone/>
            </a:pPr>
            <a:r>
              <a:rPr lang="en-US" sz="1300" dirty="0">
                <a:solidFill>
                  <a:srgbClr val="35E07E"/>
                </a:solidFill>
                <a:latin typeface="Consolas" pitchFamily="34" charset="0"/>
                <a:ea typeface="Consolas" pitchFamily="34" charset="-122"/>
                <a:cs typeface="Consolas" pitchFamily="34" charset="-120"/>
              </a:rPr>
              <a:t>BUYS March @ 99</a:t>
            </a:r>
            <a:endParaRPr lang="en-US" sz="1300" dirty="0"/>
          </a:p>
        </p:txBody>
      </p:sp>
      <p:sp>
        <p:nvSpPr>
          <p:cNvPr id="17" name="panel">
            <a:extLst>
              <a:ext uri="{C183D7F6-B498-43B3-948B-1728B52AA6E4}">
                <adec:decorative xmlns:adec="http://schemas.microsoft.com/office/drawing/2017/decorative" val="1"/>
              </a:ext>
            </a:extLst>
          </p:cNvPr>
          <p:cNvSpPr/>
          <p:nvPr/>
        </p:nvSpPr>
        <p:spPr>
          <a:xfrm>
            <a:off x="3611880" y="2670048"/>
            <a:ext cx="4983480" cy="658368"/>
          </a:xfrm>
          <a:prstGeom prst="roundRect">
            <a:avLst>
              <a:gd name="adj" fmla="val 8333"/>
            </a:avLst>
          </a:prstGeom>
          <a:solidFill>
            <a:srgbClr val="1B212C"/>
          </a:solidFill>
          <a:ln w="12700">
            <a:solidFill>
              <a:srgbClr val="2C3644"/>
            </a:solidFill>
            <a:prstDash val="solid"/>
          </a:ln>
        </p:spPr>
        <p:txBody>
          <a:bodyPr/>
          <a:lstStyle/>
          <a:p>
            <a:endParaRPr lang="en-SE"/>
          </a:p>
        </p:txBody>
      </p:sp>
      <p:sp>
        <p:nvSpPr>
          <p:cNvPr id="18" name="dot">
            <a:extLst>
              <a:ext uri="{C183D7F6-B498-43B3-948B-1728B52AA6E4}">
                <adec:decorative xmlns:adec="http://schemas.microsoft.com/office/drawing/2017/decorative" val="1"/>
              </a:ext>
            </a:extLst>
          </p:cNvPr>
          <p:cNvSpPr/>
          <p:nvPr/>
        </p:nvSpPr>
        <p:spPr>
          <a:xfrm>
            <a:off x="3767328" y="2926080"/>
            <a:ext cx="146304" cy="146304"/>
          </a:xfrm>
          <a:prstGeom prst="ellipse">
            <a:avLst/>
          </a:prstGeom>
          <a:solidFill>
            <a:srgbClr val="FF5C6C"/>
          </a:solidFill>
          <a:ln/>
        </p:spPr>
        <p:txBody>
          <a:bodyPr/>
          <a:lstStyle/>
          <a:p>
            <a:endParaRPr lang="en-SE"/>
          </a:p>
        </p:txBody>
      </p:sp>
      <p:sp>
        <p:nvSpPr>
          <p:cNvPr id="19" name="Text 17"/>
          <p:cNvSpPr/>
          <p:nvPr/>
        </p:nvSpPr>
        <p:spPr>
          <a:xfrm>
            <a:off x="4041648" y="2670048"/>
            <a:ext cx="2011680" cy="658368"/>
          </a:xfrm>
          <a:prstGeom prst="rect">
            <a:avLst/>
          </a:prstGeom>
          <a:noFill/>
          <a:ln/>
        </p:spPr>
        <p:txBody>
          <a:bodyPr wrap="square" lIns="0" tIns="0" rIns="0" bIns="0" rtlCol="0" anchor="ctr"/>
          <a:lstStyle/>
          <a:p>
            <a:pPr marL="0" indent="0" algn="l">
              <a:buNone/>
            </a:pPr>
            <a:r>
              <a:rPr lang="en-US" sz="1250" b="1" dirty="0">
                <a:solidFill>
                  <a:srgbClr val="FFFFFF"/>
                </a:solidFill>
                <a:latin typeface="Segoe UI" pitchFamily="34" charset="0"/>
                <a:ea typeface="Segoe UI" pitchFamily="34" charset="-122"/>
                <a:cs typeface="Segoe UI" pitchFamily="34" charset="-120"/>
              </a:rPr>
              <a:t>June offerer</a:t>
            </a:r>
            <a:endParaRPr lang="en-US" sz="1250" dirty="0"/>
          </a:p>
        </p:txBody>
      </p:sp>
      <p:sp>
        <p:nvSpPr>
          <p:cNvPr id="20" name="Text 18"/>
          <p:cNvSpPr/>
          <p:nvPr/>
        </p:nvSpPr>
        <p:spPr>
          <a:xfrm>
            <a:off x="5852160" y="2670048"/>
            <a:ext cx="2606040" cy="658368"/>
          </a:xfrm>
          <a:prstGeom prst="rect">
            <a:avLst/>
          </a:prstGeom>
          <a:noFill/>
          <a:ln/>
        </p:spPr>
        <p:txBody>
          <a:bodyPr wrap="square" lIns="0" tIns="0" rIns="0" bIns="0" rtlCol="0" anchor="ctr"/>
          <a:lstStyle/>
          <a:p>
            <a:pPr marL="0" indent="0" algn="r">
              <a:buNone/>
            </a:pPr>
            <a:r>
              <a:rPr lang="en-US" sz="1300" dirty="0">
                <a:solidFill>
                  <a:srgbClr val="FF5C6C"/>
                </a:solidFill>
                <a:latin typeface="Consolas" pitchFamily="34" charset="0"/>
                <a:ea typeface="Consolas" pitchFamily="34" charset="-122"/>
                <a:cs typeface="Consolas" pitchFamily="34" charset="-120"/>
              </a:rPr>
              <a:t>SELLS June @ 98</a:t>
            </a:r>
            <a:endParaRPr lang="en-US" sz="1300" dirty="0"/>
          </a:p>
        </p:txBody>
      </p:sp>
      <p:sp>
        <p:nvSpPr>
          <p:cNvPr id="21" name="panel">
            <a:extLst>
              <a:ext uri="{C183D7F6-B498-43B3-948B-1728B52AA6E4}">
                <adec:decorative xmlns:adec="http://schemas.microsoft.com/office/drawing/2017/decorative" val="1"/>
              </a:ext>
            </a:extLst>
          </p:cNvPr>
          <p:cNvSpPr/>
          <p:nvPr/>
        </p:nvSpPr>
        <p:spPr>
          <a:xfrm>
            <a:off x="3611880" y="3419856"/>
            <a:ext cx="4983480" cy="658368"/>
          </a:xfrm>
          <a:prstGeom prst="roundRect">
            <a:avLst>
              <a:gd name="adj" fmla="val 8333"/>
            </a:avLst>
          </a:prstGeom>
          <a:solidFill>
            <a:srgbClr val="1B212C"/>
          </a:solidFill>
          <a:ln w="12700">
            <a:solidFill>
              <a:srgbClr val="2C3644"/>
            </a:solidFill>
            <a:prstDash val="solid"/>
          </a:ln>
        </p:spPr>
        <p:txBody>
          <a:bodyPr/>
          <a:lstStyle/>
          <a:p>
            <a:endParaRPr lang="en-SE"/>
          </a:p>
        </p:txBody>
      </p:sp>
      <p:sp>
        <p:nvSpPr>
          <p:cNvPr id="22" name="dot">
            <a:extLst>
              <a:ext uri="{C183D7F6-B498-43B3-948B-1728B52AA6E4}">
                <adec:decorative xmlns:adec="http://schemas.microsoft.com/office/drawing/2017/decorative" val="1"/>
              </a:ext>
            </a:extLst>
          </p:cNvPr>
          <p:cNvSpPr/>
          <p:nvPr/>
        </p:nvSpPr>
        <p:spPr>
          <a:xfrm>
            <a:off x="3767328" y="3675888"/>
            <a:ext cx="146304" cy="146304"/>
          </a:xfrm>
          <a:prstGeom prst="ellipse">
            <a:avLst/>
          </a:prstGeom>
          <a:solidFill>
            <a:srgbClr val="3AD1E6"/>
          </a:solidFill>
          <a:ln/>
        </p:spPr>
        <p:txBody>
          <a:bodyPr/>
          <a:lstStyle/>
          <a:p>
            <a:endParaRPr lang="en-SE"/>
          </a:p>
        </p:txBody>
      </p:sp>
      <p:sp>
        <p:nvSpPr>
          <p:cNvPr id="23" name="Text 21"/>
          <p:cNvSpPr/>
          <p:nvPr/>
        </p:nvSpPr>
        <p:spPr>
          <a:xfrm>
            <a:off x="4041648" y="3419856"/>
            <a:ext cx="2011680" cy="658368"/>
          </a:xfrm>
          <a:prstGeom prst="rect">
            <a:avLst/>
          </a:prstGeom>
          <a:noFill/>
          <a:ln/>
        </p:spPr>
        <p:txBody>
          <a:bodyPr wrap="square" lIns="0" tIns="0" rIns="0" bIns="0" rtlCol="0" anchor="ctr"/>
          <a:lstStyle/>
          <a:p>
            <a:pPr marL="0" indent="0" algn="l">
              <a:buNone/>
            </a:pPr>
            <a:r>
              <a:rPr lang="en-US" sz="1250" b="1" dirty="0">
                <a:solidFill>
                  <a:srgbClr val="FFFFFF"/>
                </a:solidFill>
                <a:latin typeface="Segoe UI" pitchFamily="34" charset="0"/>
                <a:ea typeface="Segoe UI" pitchFamily="34" charset="-122"/>
                <a:cs typeface="Segoe UI" pitchFamily="34" charset="-120"/>
              </a:rPr>
              <a:t>Customer</a:t>
            </a:r>
            <a:endParaRPr lang="en-US" sz="1250" dirty="0"/>
          </a:p>
        </p:txBody>
      </p:sp>
      <p:sp>
        <p:nvSpPr>
          <p:cNvPr id="24" name="Text 22"/>
          <p:cNvSpPr/>
          <p:nvPr/>
        </p:nvSpPr>
        <p:spPr>
          <a:xfrm>
            <a:off x="5852160" y="3419856"/>
            <a:ext cx="2606040" cy="658368"/>
          </a:xfrm>
          <a:prstGeom prst="rect">
            <a:avLst/>
          </a:prstGeom>
          <a:noFill/>
          <a:ln/>
        </p:spPr>
        <p:txBody>
          <a:bodyPr wrap="square" lIns="0" tIns="0" rIns="0" bIns="0" rtlCol="0" anchor="ctr"/>
          <a:lstStyle/>
          <a:p>
            <a:pPr marL="0" indent="0" algn="r">
              <a:buNone/>
            </a:pPr>
            <a:r>
              <a:rPr lang="en-US" sz="1300" dirty="0">
                <a:solidFill>
                  <a:srgbClr val="3AD1E6"/>
                </a:solidFill>
                <a:latin typeface="Consolas" pitchFamily="34" charset="0"/>
                <a:ea typeface="Consolas" pitchFamily="34" charset="-122"/>
                <a:cs typeface="Consolas" pitchFamily="34" charset="-120"/>
              </a:rPr>
              <a:t>net spread = 1 ✓</a:t>
            </a:r>
            <a:endParaRPr lang="en-US" sz="1300" dirty="0"/>
          </a:p>
        </p:txBody>
      </p:sp>
      <p:sp>
        <p:nvSpPr>
          <p:cNvPr id="25" name="Text 23"/>
          <p:cNvSpPr/>
          <p:nvPr/>
        </p:nvSpPr>
        <p:spPr>
          <a:xfrm>
            <a:off x="502920" y="4343400"/>
            <a:ext cx="8046720" cy="320040"/>
          </a:xfrm>
          <a:prstGeom prst="rect">
            <a:avLst/>
          </a:prstGeom>
          <a:noFill/>
          <a:ln/>
        </p:spPr>
        <p:txBody>
          <a:bodyPr wrap="square" lIns="0" tIns="0" rIns="0" bIns="0" rtlCol="0" anchor="t"/>
          <a:lstStyle/>
          <a:p>
            <a:pPr marL="0" indent="0" algn="ctr">
              <a:buNone/>
            </a:pPr>
            <a:r>
              <a:rPr lang="en-US" sz="1200" i="1" dirty="0">
                <a:solidFill>
                  <a:srgbClr val="8B96A8"/>
                </a:solidFill>
                <a:latin typeface="Segoe UI" pitchFamily="34" charset="0"/>
                <a:ea typeface="Segoe UI" pitchFamily="34" charset="-122"/>
                <a:cs typeface="Segoe UI" pitchFamily="34" charset="-120"/>
              </a:rPr>
              <a:t>Three parties, one instant. The implied bid was just a convenient face on orders that were already there.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Implied IN, in one line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IN · 6</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30</a:t>
            </a:r>
            <a:endParaRPr lang="en-US" sz="850" dirty="0"/>
          </a:p>
        </p:txBody>
      </p:sp>
      <p:sp>
        <p:nvSpPr>
          <p:cNvPr id="6" name="panel">
            <a:extLst>
              <a:ext uri="{C183D7F6-B498-43B3-948B-1728B52AA6E4}">
                <adec:decorative xmlns:adec="http://schemas.microsoft.com/office/drawing/2017/decorative" val="1"/>
              </a:ext>
            </a:extLst>
          </p:cNvPr>
          <p:cNvSpPr/>
          <p:nvPr/>
        </p:nvSpPr>
        <p:spPr>
          <a:xfrm>
            <a:off x="822960" y="1828800"/>
            <a:ext cx="7498080" cy="1097280"/>
          </a:xfrm>
          <a:prstGeom prst="roundRect">
            <a:avLst>
              <a:gd name="adj" fmla="val 5000"/>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1005840" y="2057400"/>
            <a:ext cx="7132320" cy="365760"/>
          </a:xfrm>
          <a:prstGeom prst="rect">
            <a:avLst/>
          </a:prstGeom>
          <a:noFill/>
          <a:ln/>
        </p:spPr>
        <p:txBody>
          <a:bodyPr wrap="square" lIns="0" tIns="0" rIns="0" bIns="0" rtlCol="0" anchor="ctr"/>
          <a:lstStyle/>
          <a:p>
            <a:pPr marL="0" indent="0" algn="ctr">
              <a:buNone/>
            </a:pPr>
            <a:r>
              <a:rPr lang="en-US" sz="2200" b="1" dirty="0">
                <a:solidFill>
                  <a:srgbClr val="35E07E"/>
                </a:solidFill>
                <a:latin typeface="Consolas" pitchFamily="34" charset="0"/>
                <a:ea typeface="Consolas" pitchFamily="34" charset="-122"/>
                <a:cs typeface="Consolas" pitchFamily="34" charset="-120"/>
              </a:rPr>
              <a:t>real leg orders</a:t>
            </a:r>
            <a:r>
              <a:rPr lang="en-US" sz="2200" dirty="0">
                <a:solidFill>
                  <a:srgbClr val="8B96A8"/>
                </a:solidFill>
                <a:latin typeface="Consolas" pitchFamily="34" charset="0"/>
                <a:ea typeface="Consolas" pitchFamily="34" charset="-122"/>
                <a:cs typeface="Consolas" pitchFamily="34" charset="-120"/>
              </a:rPr>
              <a:t>   →   </a:t>
            </a:r>
            <a:r>
              <a:rPr lang="en-US" sz="2200" b="1" dirty="0">
                <a:solidFill>
                  <a:srgbClr val="3AD1E6"/>
                </a:solidFill>
                <a:latin typeface="Consolas" pitchFamily="34" charset="0"/>
                <a:ea typeface="Consolas" pitchFamily="34" charset="-122"/>
                <a:cs typeface="Consolas" pitchFamily="34" charset="-120"/>
              </a:rPr>
              <a:t>implied spread quote</a:t>
            </a:r>
            <a:endParaRPr lang="en-US" sz="2200" dirty="0"/>
          </a:p>
        </p:txBody>
      </p:sp>
      <p:sp>
        <p:nvSpPr>
          <p:cNvPr id="8" name="Text 6"/>
          <p:cNvSpPr/>
          <p:nvPr/>
        </p:nvSpPr>
        <p:spPr>
          <a:xfrm>
            <a:off x="1005840" y="2697480"/>
            <a:ext cx="7132320" cy="274320"/>
          </a:xfrm>
          <a:prstGeom prst="rect">
            <a:avLst/>
          </a:prstGeom>
          <a:noFill/>
          <a:ln/>
        </p:spPr>
        <p:txBody>
          <a:bodyPr wrap="square" lIns="0" tIns="0" rIns="0" bIns="0" rtlCol="0" anchor="t"/>
          <a:lstStyle/>
          <a:p>
            <a:pPr marL="0" indent="0" algn="ctr">
              <a:buNone/>
            </a:pPr>
            <a:r>
              <a:rPr lang="en-US" sz="1250" i="1" dirty="0">
                <a:solidFill>
                  <a:srgbClr val="8B96A8"/>
                </a:solidFill>
                <a:latin typeface="Segoe UI" pitchFamily="34" charset="0"/>
                <a:ea typeface="Segoe UI" pitchFamily="34" charset="-122"/>
                <a:cs typeface="Segoe UI" pitchFamily="34" charset="-120"/>
              </a:rPr>
              <a:t>“IN” because liquidity flows INTO the combined instrument from its legs.</a:t>
            </a:r>
            <a:endParaRPr lang="en-US" sz="1250" dirty="0"/>
          </a:p>
        </p:txBody>
      </p:sp>
      <p:sp>
        <p:nvSpPr>
          <p:cNvPr id="9" name="panel">
            <a:extLst>
              <a:ext uri="{C183D7F6-B498-43B3-948B-1728B52AA6E4}">
                <adec:decorative xmlns:adec="http://schemas.microsoft.com/office/drawing/2017/decorative" val="1"/>
              </a:ext>
            </a:extLst>
          </p:cNvPr>
          <p:cNvSpPr/>
          <p:nvPr/>
        </p:nvSpPr>
        <p:spPr>
          <a:xfrm>
            <a:off x="822960" y="3246120"/>
            <a:ext cx="3611880" cy="1143000"/>
          </a:xfrm>
          <a:prstGeom prst="roundRect">
            <a:avLst>
              <a:gd name="adj" fmla="val 4800"/>
            </a:avLst>
          </a:prstGeom>
          <a:solidFill>
            <a:srgbClr val="1B212C"/>
          </a:solidFill>
          <a:ln w="12700">
            <a:solidFill>
              <a:srgbClr val="2C3644"/>
            </a:solidFill>
            <a:prstDash val="solid"/>
          </a:ln>
        </p:spPr>
        <p:txBody>
          <a:bodyPr/>
          <a:lstStyle/>
          <a:p>
            <a:endParaRPr lang="en-SE"/>
          </a:p>
        </p:txBody>
      </p:sp>
      <p:sp>
        <p:nvSpPr>
          <p:cNvPr id="10" name="Text 8"/>
          <p:cNvSpPr/>
          <p:nvPr/>
        </p:nvSpPr>
        <p:spPr>
          <a:xfrm>
            <a:off x="1005840" y="3383280"/>
            <a:ext cx="3291840" cy="274320"/>
          </a:xfrm>
          <a:prstGeom prst="rect">
            <a:avLst/>
          </a:prstGeom>
          <a:noFill/>
          <a:ln/>
        </p:spPr>
        <p:txBody>
          <a:bodyPr wrap="square" lIns="0" tIns="0" rIns="0" bIns="0" rtlCol="0" anchor="t"/>
          <a:lstStyle/>
          <a:p>
            <a:pPr marL="0" indent="0" algn="l">
              <a:buNone/>
            </a:pPr>
            <a:r>
              <a:rPr lang="en-US" sz="1250" b="1" dirty="0">
                <a:solidFill>
                  <a:srgbClr val="35E07E"/>
                </a:solidFill>
                <a:latin typeface="Segoe UI" pitchFamily="34" charset="0"/>
                <a:ea typeface="Segoe UI" pitchFamily="34" charset="-122"/>
                <a:cs typeface="Segoe UI" pitchFamily="34" charset="-120"/>
              </a:rPr>
              <a:t>implied spread BID</a:t>
            </a:r>
            <a:endParaRPr lang="en-US" sz="1250" dirty="0"/>
          </a:p>
        </p:txBody>
      </p:sp>
      <p:sp>
        <p:nvSpPr>
          <p:cNvPr id="11" name="Text 9"/>
          <p:cNvSpPr/>
          <p:nvPr/>
        </p:nvSpPr>
        <p:spPr>
          <a:xfrm>
            <a:off x="960120" y="3794760"/>
            <a:ext cx="3383280" cy="365760"/>
          </a:xfrm>
          <a:prstGeom prst="rect">
            <a:avLst/>
          </a:prstGeom>
          <a:noFill/>
          <a:ln/>
        </p:spPr>
        <p:txBody>
          <a:bodyPr wrap="square" lIns="0" tIns="0" rIns="0" bIns="0" rtlCol="0" anchor="ctr"/>
          <a:lstStyle/>
          <a:p>
            <a:pPr marL="0" indent="0" algn="l">
              <a:buNone/>
            </a:pPr>
            <a:r>
              <a:rPr lang="en-US" sz="1350" dirty="0">
                <a:solidFill>
                  <a:srgbClr val="D8DEE9"/>
                </a:solidFill>
                <a:latin typeface="Consolas" pitchFamily="34" charset="0"/>
                <a:ea typeface="Consolas" pitchFamily="34" charset="-122"/>
                <a:cs typeface="Consolas" pitchFamily="34" charset="-120"/>
              </a:rPr>
              <a:t>= March bid  −  June ask</a:t>
            </a:r>
            <a:endParaRPr lang="en-US" sz="1350" dirty="0"/>
          </a:p>
        </p:txBody>
      </p:sp>
      <p:sp>
        <p:nvSpPr>
          <p:cNvPr id="12" name="panel">
            <a:extLst>
              <a:ext uri="{C183D7F6-B498-43B3-948B-1728B52AA6E4}">
                <adec:decorative xmlns:adec="http://schemas.microsoft.com/office/drawing/2017/decorative" val="1"/>
              </a:ext>
            </a:extLst>
          </p:cNvPr>
          <p:cNvSpPr/>
          <p:nvPr/>
        </p:nvSpPr>
        <p:spPr>
          <a:xfrm>
            <a:off x="4709160" y="3246120"/>
            <a:ext cx="3611880" cy="1143000"/>
          </a:xfrm>
          <a:prstGeom prst="roundRect">
            <a:avLst>
              <a:gd name="adj" fmla="val 4800"/>
            </a:avLst>
          </a:prstGeom>
          <a:solidFill>
            <a:srgbClr val="1B212C"/>
          </a:solidFill>
          <a:ln w="12700">
            <a:solidFill>
              <a:srgbClr val="2C3644"/>
            </a:solidFill>
            <a:prstDash val="solid"/>
          </a:ln>
        </p:spPr>
        <p:txBody>
          <a:bodyPr/>
          <a:lstStyle/>
          <a:p>
            <a:endParaRPr lang="en-SE"/>
          </a:p>
        </p:txBody>
      </p:sp>
      <p:sp>
        <p:nvSpPr>
          <p:cNvPr id="13" name="Text 11"/>
          <p:cNvSpPr/>
          <p:nvPr/>
        </p:nvSpPr>
        <p:spPr>
          <a:xfrm>
            <a:off x="4892040" y="3383280"/>
            <a:ext cx="3291840" cy="274320"/>
          </a:xfrm>
          <a:prstGeom prst="rect">
            <a:avLst/>
          </a:prstGeom>
          <a:noFill/>
          <a:ln/>
        </p:spPr>
        <p:txBody>
          <a:bodyPr wrap="square" lIns="0" tIns="0" rIns="0" bIns="0" rtlCol="0" anchor="t"/>
          <a:lstStyle/>
          <a:p>
            <a:pPr marL="0" indent="0" algn="l">
              <a:buNone/>
            </a:pPr>
            <a:r>
              <a:rPr lang="en-US" sz="1250" b="1" dirty="0">
                <a:solidFill>
                  <a:srgbClr val="FF5C6C"/>
                </a:solidFill>
                <a:latin typeface="Segoe UI" pitchFamily="34" charset="0"/>
                <a:ea typeface="Segoe UI" pitchFamily="34" charset="-122"/>
                <a:cs typeface="Segoe UI" pitchFamily="34" charset="-120"/>
              </a:rPr>
              <a:t>implied spread ASK</a:t>
            </a:r>
            <a:endParaRPr lang="en-US" sz="1250" dirty="0"/>
          </a:p>
        </p:txBody>
      </p:sp>
      <p:sp>
        <p:nvSpPr>
          <p:cNvPr id="14" name="Text 12"/>
          <p:cNvSpPr/>
          <p:nvPr/>
        </p:nvSpPr>
        <p:spPr>
          <a:xfrm>
            <a:off x="4846320" y="3794760"/>
            <a:ext cx="3383280" cy="365760"/>
          </a:xfrm>
          <a:prstGeom prst="rect">
            <a:avLst/>
          </a:prstGeom>
          <a:noFill/>
          <a:ln/>
        </p:spPr>
        <p:txBody>
          <a:bodyPr wrap="square" lIns="0" tIns="0" rIns="0" bIns="0" rtlCol="0" anchor="ctr"/>
          <a:lstStyle/>
          <a:p>
            <a:pPr marL="0" indent="0" algn="l">
              <a:buNone/>
            </a:pPr>
            <a:r>
              <a:rPr lang="en-US" sz="1350" dirty="0">
                <a:solidFill>
                  <a:srgbClr val="D8DEE9"/>
                </a:solidFill>
                <a:latin typeface="Consolas" pitchFamily="34" charset="0"/>
                <a:ea typeface="Consolas" pitchFamily="34" charset="-122"/>
                <a:cs typeface="Consolas" pitchFamily="34" charset="-120"/>
              </a:rPr>
              <a:t>= March ask  −  June bid</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IV</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Implied OUT</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A spread order + one real leg  →  a synthetic quote in the other outright.</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Setup: a resting spread order meets a leg</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OUT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32</a:t>
            </a:r>
            <a:endParaRPr lang="en-US" sz="850" dirty="0"/>
          </a:p>
        </p:txBody>
      </p:sp>
      <p:sp>
        <p:nvSpPr>
          <p:cNvPr id="6" name="Text 4"/>
          <p:cNvSpPr/>
          <p:nvPr/>
        </p:nvSpPr>
        <p:spPr>
          <a:xfrm>
            <a:off x="502920" y="1417320"/>
            <a:ext cx="8046720" cy="502920"/>
          </a:xfrm>
          <a:prstGeom prst="rect">
            <a:avLst/>
          </a:prstGeom>
          <a:noFill/>
          <a:ln/>
        </p:spPr>
        <p:txBody>
          <a:bodyPr wrap="square" lIns="0" tIns="0" rIns="0" bIns="0" rtlCol="0" anchor="t"/>
          <a:lstStyle/>
          <a:p>
            <a:pPr marL="0" indent="0" algn="l">
              <a:lnSpc>
                <a:spcPts val="1800"/>
              </a:lnSpc>
              <a:buNone/>
            </a:pPr>
            <a:r>
              <a:rPr lang="en-US" sz="1350" dirty="0">
                <a:solidFill>
                  <a:srgbClr val="D8DEE9"/>
                </a:solidFill>
                <a:latin typeface="Segoe UI" pitchFamily="34" charset="0"/>
                <a:ea typeface="Segoe UI" pitchFamily="34" charset="-122"/>
                <a:cs typeface="Segoe UI" pitchFamily="34" charset="-120"/>
              </a:rPr>
              <a:t>Now the spread book is NOT empty. Someone is bidding the spread — and we'll turn that into an outright quote.</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057400"/>
            <a:ext cx="2697480" cy="2331720"/>
          </a:xfrm>
          <a:prstGeom prst="roundRect">
            <a:avLst>
              <a:gd name="adj" fmla="val 2353"/>
            </a:avLst>
          </a:prstGeom>
          <a:solidFill>
            <a:srgbClr val="10251C"/>
          </a:solidFill>
          <a:ln w="12700">
            <a:solidFill>
              <a:srgbClr val="3AD1E6"/>
            </a:solidFill>
            <a:prstDash val="solid"/>
          </a:ln>
        </p:spPr>
        <p:txBody>
          <a:bodyPr/>
          <a:lstStyle/>
          <a:p>
            <a:endParaRPr lang="en-SE"/>
          </a:p>
        </p:txBody>
      </p:sp>
      <p:sp>
        <p:nvSpPr>
          <p:cNvPr id="8" name="Text 6"/>
          <p:cNvSpPr/>
          <p:nvPr/>
        </p:nvSpPr>
        <p:spPr>
          <a:xfrm>
            <a:off x="640080" y="2194560"/>
            <a:ext cx="2468880" cy="274320"/>
          </a:xfrm>
          <a:prstGeom prst="rect">
            <a:avLst/>
          </a:prstGeom>
          <a:noFill/>
          <a:ln/>
        </p:spPr>
        <p:txBody>
          <a:bodyPr wrap="square" lIns="0" tIns="0" rIns="0" bIns="0" rtlCol="0" anchor="t"/>
          <a:lstStyle/>
          <a:p>
            <a:pPr marL="0" indent="0" algn="l">
              <a:buNone/>
            </a:pPr>
            <a:r>
              <a:rPr lang="en-US" sz="1100" b="1" kern="0" spc="100" dirty="0">
                <a:solidFill>
                  <a:srgbClr val="3AD1E6"/>
                </a:solidFill>
                <a:latin typeface="Segoe UI" pitchFamily="34" charset="0"/>
                <a:ea typeface="Segoe UI" pitchFamily="34" charset="-122"/>
                <a:cs typeface="Segoe UI" pitchFamily="34" charset="-120"/>
              </a:rPr>
              <a:t>SPREAD (real order)</a:t>
            </a:r>
            <a:endParaRPr lang="en-US" sz="1100" dirty="0"/>
          </a:p>
        </p:txBody>
      </p:sp>
      <p:sp>
        <p:nvSpPr>
          <p:cNvPr id="9" name="Text 7"/>
          <p:cNvSpPr/>
          <p:nvPr/>
        </p:nvSpPr>
        <p:spPr>
          <a:xfrm>
            <a:off x="502920" y="2606040"/>
            <a:ext cx="2697480" cy="548640"/>
          </a:xfrm>
          <a:prstGeom prst="rect">
            <a:avLst/>
          </a:prstGeom>
          <a:noFill/>
          <a:ln/>
        </p:spPr>
        <p:txBody>
          <a:bodyPr wrap="square" lIns="0" tIns="0" rIns="0" bIns="0" rtlCol="0" anchor="t"/>
          <a:lstStyle/>
          <a:p>
            <a:pPr marL="0" indent="0" algn="ctr">
              <a:buNone/>
            </a:pPr>
            <a:r>
              <a:rPr lang="en-US" sz="3000" b="1" dirty="0">
                <a:solidFill>
                  <a:srgbClr val="35E07E"/>
                </a:solidFill>
                <a:latin typeface="Consolas" pitchFamily="34" charset="0"/>
                <a:ea typeface="Consolas" pitchFamily="34" charset="-122"/>
                <a:cs typeface="Consolas" pitchFamily="34" charset="-120"/>
              </a:rPr>
              <a:t>BID 2</a:t>
            </a:r>
            <a:endParaRPr lang="en-US" sz="3000" dirty="0"/>
          </a:p>
        </p:txBody>
      </p:sp>
      <p:sp>
        <p:nvSpPr>
          <p:cNvPr id="10" name="Text 8"/>
          <p:cNvSpPr/>
          <p:nvPr/>
        </p:nvSpPr>
        <p:spPr>
          <a:xfrm>
            <a:off x="502920" y="3200400"/>
            <a:ext cx="2697480" cy="274320"/>
          </a:xfrm>
          <a:prstGeom prst="rect">
            <a:avLst/>
          </a:prstGeom>
          <a:noFill/>
          <a:ln/>
        </p:spPr>
        <p:txBody>
          <a:bodyPr wrap="square" lIns="0" tIns="0" rIns="0" bIns="0" rtlCol="0" anchor="t"/>
          <a:lstStyle/>
          <a:p>
            <a:pPr marL="0" indent="0" algn="ctr">
              <a:buNone/>
            </a:pPr>
            <a:r>
              <a:rPr lang="en-US" sz="1200" dirty="0">
                <a:solidFill>
                  <a:srgbClr val="D8DEE9"/>
                </a:solidFill>
                <a:latin typeface="Consolas" pitchFamily="34" charset="0"/>
                <a:ea typeface="Consolas" pitchFamily="34" charset="-122"/>
                <a:cs typeface="Consolas" pitchFamily="34" charset="-120"/>
              </a:rPr>
              <a:t>size 10</a:t>
            </a:r>
            <a:endParaRPr lang="en-US" sz="1200" dirty="0"/>
          </a:p>
        </p:txBody>
      </p:sp>
      <p:sp>
        <p:nvSpPr>
          <p:cNvPr id="11" name="Text 9"/>
          <p:cNvSpPr/>
          <p:nvPr/>
        </p:nvSpPr>
        <p:spPr>
          <a:xfrm>
            <a:off x="548640" y="3611880"/>
            <a:ext cx="2606040" cy="365760"/>
          </a:xfrm>
          <a:prstGeom prst="rect">
            <a:avLst/>
          </a:prstGeom>
          <a:noFill/>
          <a:ln/>
        </p:spPr>
        <p:txBody>
          <a:bodyPr wrap="square" lIns="0" tIns="0" rIns="0" bIns="0" rtlCol="0" anchor="ctr"/>
          <a:lstStyle/>
          <a:p>
            <a:pPr marL="0" indent="0" algn="ctr">
              <a:buNone/>
            </a:pPr>
            <a:r>
              <a:rPr lang="en-US" sz="1100" dirty="0">
                <a:solidFill>
                  <a:srgbClr val="8B96A8"/>
                </a:solidFill>
                <a:latin typeface="Consolas" pitchFamily="34" charset="0"/>
                <a:ea typeface="Consolas" pitchFamily="34" charset="-122"/>
                <a:cs typeface="Consolas" pitchFamily="34" charset="-120"/>
              </a:rPr>
              <a:t>buy March, sell June</a:t>
            </a:r>
            <a:endParaRPr lang="en-US" sz="1100" dirty="0"/>
          </a:p>
        </p:txBody>
      </p:sp>
      <p:sp>
        <p:nvSpPr>
          <p:cNvPr id="12" name="Text 10"/>
          <p:cNvSpPr/>
          <p:nvPr/>
        </p:nvSpPr>
        <p:spPr>
          <a:xfrm>
            <a:off x="548640" y="3931920"/>
            <a:ext cx="2606040" cy="365760"/>
          </a:xfrm>
          <a:prstGeom prst="rect">
            <a:avLst/>
          </a:prstGeom>
          <a:noFill/>
          <a:ln/>
        </p:spPr>
        <p:txBody>
          <a:bodyPr wrap="square" lIns="0" tIns="0" rIns="0" bIns="0" rtlCol="0" anchor="ctr"/>
          <a:lstStyle/>
          <a:p>
            <a:pPr marL="0" indent="0" algn="ctr">
              <a:buNone/>
            </a:pPr>
            <a:r>
              <a:rPr lang="en-US" sz="1200" dirty="0">
                <a:solidFill>
                  <a:srgbClr val="3AD1E6"/>
                </a:solidFill>
                <a:latin typeface="Consolas" pitchFamily="34" charset="0"/>
                <a:ea typeface="Consolas" pitchFamily="34" charset="-122"/>
                <a:cs typeface="Consolas" pitchFamily="34" charset="-120"/>
              </a:rPr>
              <a:t>net 2</a:t>
            </a:r>
            <a:endParaRPr lang="en-US" sz="1200" dirty="0"/>
          </a:p>
        </p:txBody>
      </p:sp>
      <p:sp>
        <p:nvSpPr>
          <p:cNvPr id="13" name="panel">
            <a:extLst>
              <a:ext uri="{C183D7F6-B498-43B3-948B-1728B52AA6E4}">
                <adec:decorative xmlns:adec="http://schemas.microsoft.com/office/drawing/2017/decorative" val="1"/>
              </a:ext>
            </a:extLst>
          </p:cNvPr>
          <p:cNvSpPr/>
          <p:nvPr/>
        </p:nvSpPr>
        <p:spPr>
          <a:xfrm>
            <a:off x="3429000" y="2057400"/>
            <a:ext cx="2468880" cy="1115568"/>
          </a:xfrm>
          <a:prstGeom prst="roundRect">
            <a:avLst>
              <a:gd name="adj" fmla="val 4918"/>
            </a:avLst>
          </a:prstGeom>
          <a:solidFill>
            <a:srgbClr val="1B212C"/>
          </a:solidFill>
          <a:ln w="12700">
            <a:solidFill>
              <a:srgbClr val="2C3644"/>
            </a:solidFill>
            <a:prstDash val="solid"/>
          </a:ln>
        </p:spPr>
        <p:txBody>
          <a:bodyPr/>
          <a:lstStyle/>
          <a:p>
            <a:endParaRPr lang="en-SE"/>
          </a:p>
        </p:txBody>
      </p:sp>
      <p:sp>
        <p:nvSpPr>
          <p:cNvPr id="14" name="Text 12"/>
          <p:cNvSpPr/>
          <p:nvPr/>
        </p:nvSpPr>
        <p:spPr>
          <a:xfrm>
            <a:off x="3557016" y="2103120"/>
            <a:ext cx="221284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JUNE</a:t>
            </a:r>
            <a:endParaRPr lang="en-US" sz="1150" dirty="0"/>
          </a:p>
        </p:txBody>
      </p:sp>
      <p:sp>
        <p:nvSpPr>
          <p:cNvPr id="15" name="Text 13"/>
          <p:cNvSpPr/>
          <p:nvPr/>
        </p:nvSpPr>
        <p:spPr>
          <a:xfrm>
            <a:off x="3557016" y="2368296"/>
            <a:ext cx="1110996"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16" name="Text 14"/>
          <p:cNvSpPr/>
          <p:nvPr/>
        </p:nvSpPr>
        <p:spPr>
          <a:xfrm>
            <a:off x="4983480" y="236829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17" name="depth">
            <a:extLst>
              <a:ext uri="{C183D7F6-B498-43B3-948B-1728B52AA6E4}">
                <adec:decorative xmlns:adec="http://schemas.microsoft.com/office/drawing/2017/decorative" val="1"/>
              </a:ext>
            </a:extLst>
          </p:cNvPr>
          <p:cNvSpPr/>
          <p:nvPr/>
        </p:nvSpPr>
        <p:spPr>
          <a:xfrm>
            <a:off x="4700016" y="2546604"/>
            <a:ext cx="1051560" cy="182880"/>
          </a:xfrm>
          <a:prstGeom prst="rect">
            <a:avLst/>
          </a:prstGeom>
          <a:solidFill>
            <a:srgbClr val="FF5C6C">
              <a:alpha val="26000"/>
            </a:srgbClr>
          </a:solidFill>
          <a:ln/>
        </p:spPr>
        <p:txBody>
          <a:bodyPr/>
          <a:lstStyle/>
          <a:p>
            <a:endParaRPr lang="en-SE"/>
          </a:p>
        </p:txBody>
      </p:sp>
      <p:sp>
        <p:nvSpPr>
          <p:cNvPr id="18" name="Text 16"/>
          <p:cNvSpPr/>
          <p:nvPr/>
        </p:nvSpPr>
        <p:spPr>
          <a:xfrm>
            <a:off x="3575304" y="253288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98</a:t>
            </a:r>
            <a:endParaRPr lang="en-US" sz="1250" dirty="0"/>
          </a:p>
        </p:txBody>
      </p:sp>
      <p:sp>
        <p:nvSpPr>
          <p:cNvPr id="19" name="Text 17"/>
          <p:cNvSpPr/>
          <p:nvPr/>
        </p:nvSpPr>
        <p:spPr>
          <a:xfrm>
            <a:off x="4983480" y="253288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18</a:t>
            </a:r>
            <a:endParaRPr lang="en-US" sz="1150" dirty="0"/>
          </a:p>
        </p:txBody>
      </p:sp>
      <p:sp>
        <p:nvSpPr>
          <p:cNvPr id="20" name="rule">
            <a:extLst>
              <a:ext uri="{C183D7F6-B498-43B3-948B-1728B52AA6E4}">
                <adec:decorative xmlns:adec="http://schemas.microsoft.com/office/drawing/2017/decorative" val="1"/>
              </a:ext>
            </a:extLst>
          </p:cNvPr>
          <p:cNvSpPr/>
          <p:nvPr/>
        </p:nvSpPr>
        <p:spPr>
          <a:xfrm>
            <a:off x="3575304" y="2807208"/>
            <a:ext cx="2176272" cy="0"/>
          </a:xfrm>
          <a:prstGeom prst="line">
            <a:avLst/>
          </a:prstGeom>
          <a:noFill/>
          <a:ln w="12700">
            <a:solidFill>
              <a:srgbClr val="2C3644"/>
            </a:solidFill>
            <a:prstDash val="dash"/>
          </a:ln>
        </p:spPr>
        <p:txBody>
          <a:bodyPr/>
          <a:lstStyle/>
          <a:p>
            <a:endParaRPr lang="en-SE"/>
          </a:p>
        </p:txBody>
      </p:sp>
      <p:sp>
        <p:nvSpPr>
          <p:cNvPr id="21" name="depth">
            <a:extLst>
              <a:ext uri="{C183D7F6-B498-43B3-948B-1728B52AA6E4}">
                <adec:decorative xmlns:adec="http://schemas.microsoft.com/office/drawing/2017/decorative" val="1"/>
              </a:ext>
            </a:extLst>
          </p:cNvPr>
          <p:cNvSpPr/>
          <p:nvPr/>
        </p:nvSpPr>
        <p:spPr>
          <a:xfrm>
            <a:off x="4875276" y="2839212"/>
            <a:ext cx="876300" cy="182880"/>
          </a:xfrm>
          <a:prstGeom prst="rect">
            <a:avLst/>
          </a:prstGeom>
          <a:solidFill>
            <a:srgbClr val="35E07E">
              <a:alpha val="26000"/>
            </a:srgbClr>
          </a:solidFill>
          <a:ln/>
        </p:spPr>
        <p:txBody>
          <a:bodyPr/>
          <a:lstStyle/>
          <a:p>
            <a:endParaRPr lang="en-SE"/>
          </a:p>
        </p:txBody>
      </p:sp>
      <p:sp>
        <p:nvSpPr>
          <p:cNvPr id="22" name="Text 20"/>
          <p:cNvSpPr/>
          <p:nvPr/>
        </p:nvSpPr>
        <p:spPr>
          <a:xfrm>
            <a:off x="3575304" y="2825496"/>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97</a:t>
            </a:r>
            <a:endParaRPr lang="en-US" sz="1250" dirty="0"/>
          </a:p>
        </p:txBody>
      </p:sp>
      <p:sp>
        <p:nvSpPr>
          <p:cNvPr id="23" name="Text 21"/>
          <p:cNvSpPr/>
          <p:nvPr/>
        </p:nvSpPr>
        <p:spPr>
          <a:xfrm>
            <a:off x="4983480" y="2825496"/>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15</a:t>
            </a:r>
            <a:endParaRPr lang="en-US" sz="1150" dirty="0"/>
          </a:p>
        </p:txBody>
      </p:sp>
      <p:sp>
        <p:nvSpPr>
          <p:cNvPr id="24" name="panel">
            <a:extLst>
              <a:ext uri="{C183D7F6-B498-43B3-948B-1728B52AA6E4}">
                <adec:decorative xmlns:adec="http://schemas.microsoft.com/office/drawing/2017/decorative" val="1"/>
              </a:ext>
            </a:extLst>
          </p:cNvPr>
          <p:cNvSpPr/>
          <p:nvPr/>
        </p:nvSpPr>
        <p:spPr>
          <a:xfrm>
            <a:off x="6126480" y="2057400"/>
            <a:ext cx="2468880" cy="1115568"/>
          </a:xfrm>
          <a:prstGeom prst="roundRect">
            <a:avLst>
              <a:gd name="adj" fmla="val 4918"/>
            </a:avLst>
          </a:prstGeom>
          <a:solidFill>
            <a:srgbClr val="1B212C"/>
          </a:solidFill>
          <a:ln w="12700">
            <a:solidFill>
              <a:srgbClr val="2C3644"/>
            </a:solidFill>
            <a:prstDash val="solid"/>
          </a:ln>
        </p:spPr>
        <p:txBody>
          <a:bodyPr/>
          <a:lstStyle/>
          <a:p>
            <a:endParaRPr lang="en-SE"/>
          </a:p>
        </p:txBody>
      </p:sp>
      <p:sp>
        <p:nvSpPr>
          <p:cNvPr id="25" name="Text 23"/>
          <p:cNvSpPr/>
          <p:nvPr/>
        </p:nvSpPr>
        <p:spPr>
          <a:xfrm>
            <a:off x="6254496" y="2103120"/>
            <a:ext cx="2212848" cy="310896"/>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MARCH</a:t>
            </a:r>
            <a:endParaRPr lang="en-US" sz="1150" dirty="0"/>
          </a:p>
        </p:txBody>
      </p:sp>
      <p:sp>
        <p:nvSpPr>
          <p:cNvPr id="26" name="Text 24"/>
          <p:cNvSpPr/>
          <p:nvPr/>
        </p:nvSpPr>
        <p:spPr>
          <a:xfrm>
            <a:off x="6254496" y="2368296"/>
            <a:ext cx="1110996" cy="182880"/>
          </a:xfrm>
          <a:prstGeom prst="rect">
            <a:avLst/>
          </a:prstGeom>
          <a:noFill/>
          <a:ln/>
        </p:spPr>
        <p:txBody>
          <a:bodyPr wrap="square" lIns="0" tIns="0" rIns="0" bIns="0" rtlCol="0" anchor="t"/>
          <a:lstStyle/>
          <a:p>
            <a:pPr marL="0" indent="0" algn="l">
              <a:buNone/>
            </a:pPr>
            <a:r>
              <a:rPr lang="en-US" sz="750" kern="0" spc="100" dirty="0">
                <a:solidFill>
                  <a:srgbClr val="8B96A8"/>
                </a:solidFill>
                <a:latin typeface="Segoe UI" pitchFamily="34" charset="0"/>
                <a:ea typeface="Segoe UI" pitchFamily="34" charset="-122"/>
                <a:cs typeface="Segoe UI" pitchFamily="34" charset="-120"/>
              </a:rPr>
              <a:t>PRICE</a:t>
            </a:r>
            <a:endParaRPr lang="en-US" sz="750" dirty="0"/>
          </a:p>
        </p:txBody>
      </p:sp>
      <p:sp>
        <p:nvSpPr>
          <p:cNvPr id="27" name="Text 25"/>
          <p:cNvSpPr/>
          <p:nvPr/>
        </p:nvSpPr>
        <p:spPr>
          <a:xfrm>
            <a:off x="7680960" y="2368296"/>
            <a:ext cx="786384" cy="182880"/>
          </a:xfrm>
          <a:prstGeom prst="rect">
            <a:avLst/>
          </a:prstGeom>
          <a:noFill/>
          <a:ln/>
        </p:spPr>
        <p:txBody>
          <a:bodyPr wrap="square" lIns="0" tIns="0" rIns="0" bIns="0" rtlCol="0" anchor="t"/>
          <a:lstStyle/>
          <a:p>
            <a:pPr marL="0" indent="0" algn="r">
              <a:buNone/>
            </a:pPr>
            <a:r>
              <a:rPr lang="en-US" sz="750" kern="0" spc="100" dirty="0">
                <a:solidFill>
                  <a:srgbClr val="8B96A8"/>
                </a:solidFill>
                <a:latin typeface="Segoe UI" pitchFamily="34" charset="0"/>
                <a:ea typeface="Segoe UI" pitchFamily="34" charset="-122"/>
                <a:cs typeface="Segoe UI" pitchFamily="34" charset="-120"/>
              </a:rPr>
              <a:t>SIZE</a:t>
            </a:r>
            <a:endParaRPr lang="en-US" sz="750" dirty="0"/>
          </a:p>
        </p:txBody>
      </p:sp>
      <p:sp>
        <p:nvSpPr>
          <p:cNvPr id="28" name="depth">
            <a:extLst>
              <a:ext uri="{C183D7F6-B498-43B3-948B-1728B52AA6E4}">
                <adec:decorative xmlns:adec="http://schemas.microsoft.com/office/drawing/2017/decorative" val="1"/>
              </a:ext>
            </a:extLst>
          </p:cNvPr>
          <p:cNvSpPr/>
          <p:nvPr/>
        </p:nvSpPr>
        <p:spPr>
          <a:xfrm>
            <a:off x="7397496" y="2546604"/>
            <a:ext cx="1051560" cy="182880"/>
          </a:xfrm>
          <a:prstGeom prst="rect">
            <a:avLst/>
          </a:prstGeom>
          <a:solidFill>
            <a:srgbClr val="FF5C6C">
              <a:alpha val="26000"/>
            </a:srgbClr>
          </a:solidFill>
          <a:ln/>
        </p:spPr>
        <p:txBody>
          <a:bodyPr/>
          <a:lstStyle/>
          <a:p>
            <a:endParaRPr lang="en-SE"/>
          </a:p>
        </p:txBody>
      </p:sp>
      <p:sp>
        <p:nvSpPr>
          <p:cNvPr id="29" name="Text 27"/>
          <p:cNvSpPr/>
          <p:nvPr/>
        </p:nvSpPr>
        <p:spPr>
          <a:xfrm>
            <a:off x="6272784" y="2532888"/>
            <a:ext cx="1280160" cy="256032"/>
          </a:xfrm>
          <a:prstGeom prst="rect">
            <a:avLst/>
          </a:prstGeom>
          <a:noFill/>
          <a:ln/>
        </p:spPr>
        <p:txBody>
          <a:bodyPr wrap="square" lIns="0" tIns="0" rIns="0" bIns="0" rtlCol="0" anchor="ctr"/>
          <a:lstStyle/>
          <a:p>
            <a:pPr marL="0" indent="0" algn="l">
              <a:buNone/>
            </a:pPr>
            <a:r>
              <a:rPr lang="en-US" sz="1250" b="1" dirty="0">
                <a:solidFill>
                  <a:srgbClr val="FF5C6C"/>
                </a:solidFill>
                <a:latin typeface="Consolas" pitchFamily="34" charset="0"/>
                <a:ea typeface="Consolas" pitchFamily="34" charset="-122"/>
                <a:cs typeface="Consolas" pitchFamily="34" charset="-120"/>
              </a:rPr>
              <a:t>101</a:t>
            </a:r>
            <a:endParaRPr lang="en-US" sz="1250" dirty="0"/>
          </a:p>
        </p:txBody>
      </p:sp>
      <p:sp>
        <p:nvSpPr>
          <p:cNvPr id="30" name="Text 28"/>
          <p:cNvSpPr/>
          <p:nvPr/>
        </p:nvSpPr>
        <p:spPr>
          <a:xfrm>
            <a:off x="7680960" y="2532888"/>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30</a:t>
            </a:r>
            <a:endParaRPr lang="en-US" sz="1150" dirty="0"/>
          </a:p>
        </p:txBody>
      </p:sp>
      <p:sp>
        <p:nvSpPr>
          <p:cNvPr id="31" name="rule">
            <a:extLst>
              <a:ext uri="{C183D7F6-B498-43B3-948B-1728B52AA6E4}">
                <adec:decorative xmlns:adec="http://schemas.microsoft.com/office/drawing/2017/decorative" val="1"/>
              </a:ext>
            </a:extLst>
          </p:cNvPr>
          <p:cNvSpPr/>
          <p:nvPr/>
        </p:nvSpPr>
        <p:spPr>
          <a:xfrm>
            <a:off x="6272784" y="2807208"/>
            <a:ext cx="2176272" cy="0"/>
          </a:xfrm>
          <a:prstGeom prst="line">
            <a:avLst/>
          </a:prstGeom>
          <a:noFill/>
          <a:ln w="12700">
            <a:solidFill>
              <a:srgbClr val="2C3644"/>
            </a:solidFill>
            <a:prstDash val="dash"/>
          </a:ln>
        </p:spPr>
        <p:txBody>
          <a:bodyPr/>
          <a:lstStyle/>
          <a:p>
            <a:endParaRPr lang="en-SE"/>
          </a:p>
        </p:txBody>
      </p:sp>
      <p:sp>
        <p:nvSpPr>
          <p:cNvPr id="32" name="depth">
            <a:extLst>
              <a:ext uri="{C183D7F6-B498-43B3-948B-1728B52AA6E4}">
                <adec:decorative xmlns:adec="http://schemas.microsoft.com/office/drawing/2017/decorative" val="1"/>
              </a:ext>
            </a:extLst>
          </p:cNvPr>
          <p:cNvSpPr/>
          <p:nvPr/>
        </p:nvSpPr>
        <p:spPr>
          <a:xfrm>
            <a:off x="8168640" y="2839212"/>
            <a:ext cx="280416" cy="182880"/>
          </a:xfrm>
          <a:prstGeom prst="rect">
            <a:avLst/>
          </a:prstGeom>
          <a:solidFill>
            <a:srgbClr val="35E07E">
              <a:alpha val="26000"/>
            </a:srgbClr>
          </a:solidFill>
          <a:ln/>
        </p:spPr>
        <p:txBody>
          <a:bodyPr/>
          <a:lstStyle/>
          <a:p>
            <a:endParaRPr lang="en-SE"/>
          </a:p>
        </p:txBody>
      </p:sp>
      <p:sp>
        <p:nvSpPr>
          <p:cNvPr id="33" name="Text 31"/>
          <p:cNvSpPr/>
          <p:nvPr/>
        </p:nvSpPr>
        <p:spPr>
          <a:xfrm>
            <a:off x="6272784" y="2825496"/>
            <a:ext cx="1280160" cy="256032"/>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98</a:t>
            </a:r>
            <a:endParaRPr lang="en-US" sz="1250" dirty="0"/>
          </a:p>
        </p:txBody>
      </p:sp>
      <p:sp>
        <p:nvSpPr>
          <p:cNvPr id="34" name="Text 32"/>
          <p:cNvSpPr/>
          <p:nvPr/>
        </p:nvSpPr>
        <p:spPr>
          <a:xfrm>
            <a:off x="7680960" y="2825496"/>
            <a:ext cx="768096" cy="256032"/>
          </a:xfrm>
          <a:prstGeom prst="rect">
            <a:avLst/>
          </a:prstGeom>
          <a:noFill/>
          <a:ln/>
        </p:spPr>
        <p:txBody>
          <a:bodyPr wrap="square" lIns="0" tIns="0" rIns="0" bIns="0" rtlCol="0" anchor="ctr"/>
          <a:lstStyle/>
          <a:p>
            <a:pPr marL="0" indent="0" algn="r">
              <a:buNone/>
            </a:pPr>
            <a:r>
              <a:rPr lang="en-US" sz="1150" dirty="0">
                <a:solidFill>
                  <a:srgbClr val="FFFFFF"/>
                </a:solidFill>
                <a:latin typeface="Consolas" pitchFamily="34" charset="0"/>
                <a:ea typeface="Consolas" pitchFamily="34" charset="-122"/>
                <a:cs typeface="Consolas" pitchFamily="34" charset="-120"/>
              </a:rPr>
              <a:t>8</a:t>
            </a:r>
            <a:endParaRPr lang="en-US" sz="1150" dirty="0"/>
          </a:p>
        </p:txBody>
      </p:sp>
      <p:sp>
        <p:nvSpPr>
          <p:cNvPr id="35" name="Text 33"/>
          <p:cNvSpPr/>
          <p:nvPr/>
        </p:nvSpPr>
        <p:spPr>
          <a:xfrm>
            <a:off x="6126480" y="4160520"/>
            <a:ext cx="2606040" cy="457200"/>
          </a:xfrm>
          <a:prstGeom prst="rect">
            <a:avLst/>
          </a:prstGeom>
          <a:noFill/>
          <a:ln/>
        </p:spPr>
        <p:txBody>
          <a:bodyPr wrap="square" lIns="0" tIns="0" rIns="0" bIns="0" rtlCol="0" anchor="t"/>
          <a:lstStyle/>
          <a:p>
            <a:pPr marL="0" indent="0" algn="ctr">
              <a:lnSpc>
                <a:spcPts val="1400"/>
              </a:lnSpc>
              <a:buNone/>
            </a:pPr>
            <a:r>
              <a:rPr lang="en-US" sz="1050" dirty="0">
                <a:solidFill>
                  <a:srgbClr val="FBB24B"/>
                </a:solidFill>
                <a:latin typeface="Segoe UI" pitchFamily="34" charset="0"/>
                <a:ea typeface="Segoe UI" pitchFamily="34" charset="-122"/>
                <a:cs typeface="Segoe UI" pitchFamily="34" charset="-120"/>
              </a:rPr>
              <a:t>March bid is only 98 — weak. Watch the implied bid improve it.</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Build the implied MARCH bid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OUT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33</a:t>
            </a:r>
            <a:endParaRPr lang="en-US" sz="850" dirty="0"/>
          </a:p>
        </p:txBody>
      </p:sp>
      <p:sp>
        <p:nvSpPr>
          <p:cNvPr id="6" name="Text 4"/>
          <p:cNvSpPr/>
          <p:nvPr/>
        </p:nvSpPr>
        <p:spPr>
          <a:xfrm>
            <a:off x="502920" y="1371600"/>
            <a:ext cx="8046720" cy="502920"/>
          </a:xfrm>
          <a:prstGeom prst="rect">
            <a:avLst/>
          </a:prstGeom>
          <a:noFill/>
          <a:ln/>
        </p:spPr>
        <p:txBody>
          <a:bodyPr wrap="square" lIns="0" tIns="0" rIns="0" bIns="0" rtlCol="0" anchor="t"/>
          <a:lstStyle/>
          <a:p>
            <a:pPr marL="0" indent="0" algn="l">
              <a:lnSpc>
                <a:spcPts val="1800"/>
              </a:lnSpc>
              <a:buNone/>
            </a:pPr>
            <a:r>
              <a:rPr lang="en-US" sz="1300" dirty="0">
                <a:solidFill>
                  <a:srgbClr val="D8DEE9"/>
                </a:solidFill>
                <a:latin typeface="Segoe UI" pitchFamily="34" charset="0"/>
                <a:ea typeface="Segoe UI" pitchFamily="34" charset="-122"/>
                <a:cs typeface="Segoe UI" pitchFamily="34" charset="-120"/>
              </a:rPr>
              <a:t>The spread buyer must BUY March and SELL June. Give the “sell June” leg to a real June buyer, and what's left is a March bid.</a:t>
            </a:r>
            <a:endParaRPr lang="en-US" sz="1300" dirty="0"/>
          </a:p>
        </p:txBody>
      </p:sp>
      <p:sp>
        <p:nvSpPr>
          <p:cNvPr id="7" name="panel">
            <a:extLst>
              <a:ext uri="{C183D7F6-B498-43B3-948B-1728B52AA6E4}">
                <adec:decorative xmlns:adec="http://schemas.microsoft.com/office/drawing/2017/decorative" val="1"/>
              </a:ext>
            </a:extLst>
          </p:cNvPr>
          <p:cNvSpPr/>
          <p:nvPr/>
        </p:nvSpPr>
        <p:spPr>
          <a:xfrm>
            <a:off x="502920" y="1965960"/>
            <a:ext cx="5074920" cy="2514600"/>
          </a:xfrm>
          <a:prstGeom prst="roundRect">
            <a:avLst>
              <a:gd name="adj" fmla="val 2182"/>
            </a:avLst>
          </a:prstGeom>
          <a:solidFill>
            <a:srgbClr val="1B212C"/>
          </a:solidFill>
          <a:ln w="12700">
            <a:solidFill>
              <a:srgbClr val="2C3644"/>
            </a:solidFill>
            <a:prstDash val="solid"/>
          </a:ln>
        </p:spPr>
        <p:txBody>
          <a:bodyPr/>
          <a:lstStyle/>
          <a:p>
            <a:endParaRPr lang="en-SE"/>
          </a:p>
        </p:txBody>
      </p:sp>
      <p:sp>
        <p:nvSpPr>
          <p:cNvPr id="8" name="step">
            <a:extLst>
              <a:ext uri="{C183D7F6-B498-43B3-948B-1728B52AA6E4}">
                <adec:decorative xmlns:adec="http://schemas.microsoft.com/office/drawing/2017/decorative" val="1"/>
              </a:ext>
            </a:extLst>
          </p:cNvPr>
          <p:cNvSpPr/>
          <p:nvPr/>
        </p:nvSpPr>
        <p:spPr>
          <a:xfrm>
            <a:off x="685800" y="2148840"/>
            <a:ext cx="310896" cy="310896"/>
          </a:xfrm>
          <a:prstGeom prst="ellipse">
            <a:avLst/>
          </a:prstGeom>
          <a:solidFill>
            <a:srgbClr val="35E07E"/>
          </a:solidFill>
          <a:ln/>
        </p:spPr>
        <p:txBody>
          <a:bodyPr/>
          <a:lstStyle/>
          <a:p>
            <a:endParaRPr lang="en-SE"/>
          </a:p>
        </p:txBody>
      </p:sp>
      <p:sp>
        <p:nvSpPr>
          <p:cNvPr id="9" name="Text 7"/>
          <p:cNvSpPr/>
          <p:nvPr/>
        </p:nvSpPr>
        <p:spPr>
          <a:xfrm>
            <a:off x="685800" y="214884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1</a:t>
            </a:r>
            <a:endParaRPr lang="en-US" sz="1300" dirty="0"/>
          </a:p>
        </p:txBody>
      </p:sp>
      <p:sp>
        <p:nvSpPr>
          <p:cNvPr id="10" name="Text 8"/>
          <p:cNvSpPr/>
          <p:nvPr/>
        </p:nvSpPr>
        <p:spPr>
          <a:xfrm>
            <a:off x="1143000" y="2185416"/>
            <a:ext cx="420624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Spread buyer wants net</a:t>
            </a:r>
            <a:endParaRPr lang="en-US" sz="1250" dirty="0"/>
          </a:p>
        </p:txBody>
      </p:sp>
      <p:sp>
        <p:nvSpPr>
          <p:cNvPr id="11" name="Text 9"/>
          <p:cNvSpPr/>
          <p:nvPr/>
        </p:nvSpPr>
        <p:spPr>
          <a:xfrm>
            <a:off x="1143000" y="2468880"/>
            <a:ext cx="4206240" cy="365760"/>
          </a:xfrm>
          <a:prstGeom prst="rect">
            <a:avLst/>
          </a:prstGeom>
          <a:noFill/>
          <a:ln/>
        </p:spPr>
        <p:txBody>
          <a:bodyPr wrap="square" lIns="0" tIns="0" rIns="0" bIns="0" rtlCol="0" anchor="ctr"/>
          <a:lstStyle/>
          <a:p>
            <a:pPr marL="0" indent="0" algn="l">
              <a:buNone/>
            </a:pPr>
            <a:r>
              <a:rPr lang="en-US" sz="1350" dirty="0">
                <a:solidFill>
                  <a:srgbClr val="8B96A8"/>
                </a:solidFill>
                <a:latin typeface="Consolas" pitchFamily="34" charset="0"/>
                <a:ea typeface="Consolas" pitchFamily="34" charset="-122"/>
                <a:cs typeface="Consolas" pitchFamily="34" charset="-120"/>
              </a:rPr>
              <a:t>March − June = </a:t>
            </a:r>
            <a:r>
              <a:rPr lang="en-US" sz="1350" b="1" dirty="0">
                <a:solidFill>
                  <a:srgbClr val="3AD1E6"/>
                </a:solidFill>
                <a:latin typeface="Consolas" pitchFamily="34" charset="0"/>
                <a:ea typeface="Consolas" pitchFamily="34" charset="-122"/>
                <a:cs typeface="Consolas" pitchFamily="34" charset="-120"/>
              </a:rPr>
              <a:t>2</a:t>
            </a:r>
            <a:endParaRPr lang="en-US" sz="1350" dirty="0"/>
          </a:p>
        </p:txBody>
      </p:sp>
      <p:sp>
        <p:nvSpPr>
          <p:cNvPr id="12" name="step">
            <a:extLst>
              <a:ext uri="{C183D7F6-B498-43B3-948B-1728B52AA6E4}">
                <adec:decorative xmlns:adec="http://schemas.microsoft.com/office/drawing/2017/decorative" val="1"/>
              </a:ext>
            </a:extLst>
          </p:cNvPr>
          <p:cNvSpPr/>
          <p:nvPr/>
        </p:nvSpPr>
        <p:spPr>
          <a:xfrm>
            <a:off x="685800" y="2926080"/>
            <a:ext cx="310896" cy="310896"/>
          </a:xfrm>
          <a:prstGeom prst="ellipse">
            <a:avLst/>
          </a:prstGeom>
          <a:solidFill>
            <a:srgbClr val="FF5C6C"/>
          </a:solidFill>
          <a:ln/>
        </p:spPr>
        <p:txBody>
          <a:bodyPr/>
          <a:lstStyle/>
          <a:p>
            <a:endParaRPr lang="en-SE"/>
          </a:p>
        </p:txBody>
      </p:sp>
      <p:sp>
        <p:nvSpPr>
          <p:cNvPr id="13" name="Text 11"/>
          <p:cNvSpPr/>
          <p:nvPr/>
        </p:nvSpPr>
        <p:spPr>
          <a:xfrm>
            <a:off x="685800" y="2926080"/>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2</a:t>
            </a:r>
            <a:endParaRPr lang="en-US" sz="1300" dirty="0"/>
          </a:p>
        </p:txBody>
      </p:sp>
      <p:sp>
        <p:nvSpPr>
          <p:cNvPr id="14" name="Text 12"/>
          <p:cNvSpPr/>
          <p:nvPr/>
        </p:nvSpPr>
        <p:spPr>
          <a:xfrm>
            <a:off x="1143000" y="2962656"/>
            <a:ext cx="4206240" cy="274320"/>
          </a:xfrm>
          <a:prstGeom prst="rect">
            <a:avLst/>
          </a:prstGeom>
          <a:noFill/>
          <a:ln/>
        </p:spPr>
        <p:txBody>
          <a:bodyPr wrap="square" lIns="0" tIns="0" rIns="0" bIns="0" rtlCol="0" anchor="t"/>
          <a:lstStyle/>
          <a:p>
            <a:pPr marL="0" indent="0" algn="l">
              <a:buNone/>
            </a:pPr>
            <a:r>
              <a:rPr lang="en-US" sz="1250" dirty="0">
                <a:solidFill>
                  <a:srgbClr val="D8DEE9"/>
                </a:solidFill>
                <a:latin typeface="Segoe UI" pitchFamily="34" charset="0"/>
                <a:ea typeface="Segoe UI" pitchFamily="34" charset="-122"/>
                <a:cs typeface="Segoe UI" pitchFamily="34" charset="-120"/>
              </a:rPr>
              <a:t>Real June buyer takes the June leg</a:t>
            </a:r>
            <a:endParaRPr lang="en-US" sz="1250" dirty="0"/>
          </a:p>
        </p:txBody>
      </p:sp>
      <p:sp>
        <p:nvSpPr>
          <p:cNvPr id="15" name="Text 13"/>
          <p:cNvSpPr/>
          <p:nvPr/>
        </p:nvSpPr>
        <p:spPr>
          <a:xfrm>
            <a:off x="1143000" y="3246120"/>
            <a:ext cx="4206240" cy="365760"/>
          </a:xfrm>
          <a:prstGeom prst="rect">
            <a:avLst/>
          </a:prstGeom>
          <a:noFill/>
          <a:ln/>
        </p:spPr>
        <p:txBody>
          <a:bodyPr wrap="square" lIns="0" tIns="0" rIns="0" bIns="0" rtlCol="0" anchor="ctr"/>
          <a:lstStyle/>
          <a:p>
            <a:pPr marL="0" indent="0" algn="l">
              <a:buNone/>
            </a:pPr>
            <a:r>
              <a:rPr lang="en-US" sz="1300" dirty="0">
                <a:solidFill>
                  <a:srgbClr val="8B96A8"/>
                </a:solidFill>
                <a:latin typeface="Consolas" pitchFamily="34" charset="0"/>
                <a:ea typeface="Consolas" pitchFamily="34" charset="-122"/>
                <a:cs typeface="Consolas" pitchFamily="34" charset="-120"/>
              </a:rPr>
              <a:t>sell June @ </a:t>
            </a:r>
            <a:r>
              <a:rPr lang="en-US" sz="1300" b="1" dirty="0">
                <a:solidFill>
                  <a:srgbClr val="35E07E"/>
                </a:solidFill>
                <a:latin typeface="Consolas" pitchFamily="34" charset="0"/>
                <a:ea typeface="Consolas" pitchFamily="34" charset="-122"/>
                <a:cs typeface="Consolas" pitchFamily="34" charset="-120"/>
              </a:rPr>
              <a:t>97</a:t>
            </a:r>
            <a:r>
              <a:rPr lang="en-US" sz="1300" dirty="0">
                <a:solidFill>
                  <a:srgbClr val="8B96A8"/>
                </a:solidFill>
                <a:latin typeface="Consolas" pitchFamily="34" charset="0"/>
                <a:ea typeface="Consolas" pitchFamily="34" charset="-122"/>
                <a:cs typeface="Consolas" pitchFamily="34" charset="-120"/>
              </a:rPr>
              <a:t> (June bid)</a:t>
            </a:r>
            <a:endParaRPr lang="en-US" sz="1300" dirty="0"/>
          </a:p>
        </p:txBody>
      </p:sp>
      <p:sp>
        <p:nvSpPr>
          <p:cNvPr id="16" name="rule">
            <a:extLst>
              <a:ext uri="{C183D7F6-B498-43B3-948B-1728B52AA6E4}">
                <adec:decorative xmlns:adec="http://schemas.microsoft.com/office/drawing/2017/decorative" val="1"/>
              </a:ext>
            </a:extLst>
          </p:cNvPr>
          <p:cNvSpPr/>
          <p:nvPr/>
        </p:nvSpPr>
        <p:spPr>
          <a:xfrm>
            <a:off x="1143000" y="3675888"/>
            <a:ext cx="4206240" cy="0"/>
          </a:xfrm>
          <a:prstGeom prst="line">
            <a:avLst/>
          </a:prstGeom>
          <a:noFill/>
          <a:ln w="12700">
            <a:solidFill>
              <a:srgbClr val="2C3644"/>
            </a:solidFill>
            <a:prstDash val="solid"/>
          </a:ln>
        </p:spPr>
        <p:txBody>
          <a:bodyPr/>
          <a:lstStyle/>
          <a:p>
            <a:endParaRPr lang="en-SE"/>
          </a:p>
        </p:txBody>
      </p:sp>
      <p:sp>
        <p:nvSpPr>
          <p:cNvPr id="17" name="step">
            <a:extLst>
              <a:ext uri="{C183D7F6-B498-43B3-948B-1728B52AA6E4}">
                <adec:decorative xmlns:adec="http://schemas.microsoft.com/office/drawing/2017/decorative" val="1"/>
              </a:ext>
            </a:extLst>
          </p:cNvPr>
          <p:cNvSpPr/>
          <p:nvPr/>
        </p:nvSpPr>
        <p:spPr>
          <a:xfrm>
            <a:off x="685800" y="3785616"/>
            <a:ext cx="310896" cy="310896"/>
          </a:xfrm>
          <a:prstGeom prst="ellipse">
            <a:avLst/>
          </a:prstGeom>
          <a:solidFill>
            <a:srgbClr val="3AD1E6"/>
          </a:solidFill>
          <a:ln/>
        </p:spPr>
        <p:txBody>
          <a:bodyPr/>
          <a:lstStyle/>
          <a:p>
            <a:endParaRPr lang="en-SE"/>
          </a:p>
        </p:txBody>
      </p:sp>
      <p:sp>
        <p:nvSpPr>
          <p:cNvPr id="18" name="Text 16"/>
          <p:cNvSpPr/>
          <p:nvPr/>
        </p:nvSpPr>
        <p:spPr>
          <a:xfrm>
            <a:off x="685800" y="3785616"/>
            <a:ext cx="310896" cy="310896"/>
          </a:xfrm>
          <a:prstGeom prst="rect">
            <a:avLst/>
          </a:prstGeom>
          <a:noFill/>
          <a:ln/>
        </p:spPr>
        <p:txBody>
          <a:bodyPr wrap="square" lIns="0" tIns="0" rIns="0" bIns="0" rtlCol="0" anchor="ctr"/>
          <a:lstStyle/>
          <a:p>
            <a:pPr marL="0" indent="0" algn="ctr">
              <a:buNone/>
            </a:pPr>
            <a:r>
              <a:rPr lang="en-US" sz="1300" b="1" dirty="0">
                <a:solidFill>
                  <a:srgbClr val="0D1016"/>
                </a:solidFill>
                <a:latin typeface="Consolas" pitchFamily="34" charset="0"/>
                <a:ea typeface="Consolas" pitchFamily="34" charset="-122"/>
                <a:cs typeface="Consolas" pitchFamily="34" charset="-120"/>
              </a:rPr>
              <a:t>3</a:t>
            </a:r>
            <a:endParaRPr lang="en-US" sz="1300" dirty="0"/>
          </a:p>
        </p:txBody>
      </p:sp>
      <p:sp>
        <p:nvSpPr>
          <p:cNvPr id="19" name="Text 17"/>
          <p:cNvSpPr/>
          <p:nvPr/>
        </p:nvSpPr>
        <p:spPr>
          <a:xfrm>
            <a:off x="1143000" y="3803904"/>
            <a:ext cx="4297680" cy="365760"/>
          </a:xfrm>
          <a:prstGeom prst="rect">
            <a:avLst/>
          </a:prstGeom>
          <a:noFill/>
          <a:ln/>
        </p:spPr>
        <p:txBody>
          <a:bodyPr wrap="square" lIns="0" tIns="0" rIns="0" bIns="0" rtlCol="0" anchor="ctr"/>
          <a:lstStyle/>
          <a:p>
            <a:pPr marL="0" indent="0" algn="l">
              <a:buNone/>
            </a:pPr>
            <a:r>
              <a:rPr lang="en-US" sz="1400" dirty="0">
                <a:solidFill>
                  <a:srgbClr val="8B96A8"/>
                </a:solidFill>
                <a:latin typeface="Consolas" pitchFamily="34" charset="0"/>
                <a:ea typeface="Consolas" pitchFamily="34" charset="-122"/>
                <a:cs typeface="Consolas" pitchFamily="34" charset="-120"/>
              </a:rPr>
              <a:t>implied March bid = 2 + 97 = </a:t>
            </a:r>
            <a:r>
              <a:rPr lang="en-US" sz="1400" b="1" dirty="0">
                <a:solidFill>
                  <a:srgbClr val="3AD1E6"/>
                </a:solidFill>
                <a:latin typeface="Consolas" pitchFamily="34" charset="0"/>
                <a:ea typeface="Consolas" pitchFamily="34" charset="-122"/>
                <a:cs typeface="Consolas" pitchFamily="34" charset="-120"/>
              </a:rPr>
              <a:t>99</a:t>
            </a:r>
            <a:endParaRPr lang="en-US" sz="1400" dirty="0"/>
          </a:p>
        </p:txBody>
      </p:sp>
      <p:sp>
        <p:nvSpPr>
          <p:cNvPr id="20" name="panel">
            <a:extLst>
              <a:ext uri="{C183D7F6-B498-43B3-948B-1728B52AA6E4}">
                <adec:decorative xmlns:adec="http://schemas.microsoft.com/office/drawing/2017/decorative" val="1"/>
              </a:ext>
            </a:extLst>
          </p:cNvPr>
          <p:cNvSpPr/>
          <p:nvPr/>
        </p:nvSpPr>
        <p:spPr>
          <a:xfrm>
            <a:off x="5806440" y="1965960"/>
            <a:ext cx="2788920" cy="2514600"/>
          </a:xfrm>
          <a:prstGeom prst="roundRect">
            <a:avLst>
              <a:gd name="adj" fmla="val 2182"/>
            </a:avLst>
          </a:prstGeom>
          <a:solidFill>
            <a:srgbClr val="10251C"/>
          </a:solidFill>
          <a:ln w="12700">
            <a:solidFill>
              <a:srgbClr val="3AD1E6"/>
            </a:solidFill>
            <a:prstDash val="solid"/>
          </a:ln>
        </p:spPr>
        <p:txBody>
          <a:bodyPr/>
          <a:lstStyle/>
          <a:p>
            <a:endParaRPr lang="en-SE"/>
          </a:p>
        </p:txBody>
      </p:sp>
      <p:sp>
        <p:nvSpPr>
          <p:cNvPr id="21" name="Text 19"/>
          <p:cNvSpPr/>
          <p:nvPr/>
        </p:nvSpPr>
        <p:spPr>
          <a:xfrm>
            <a:off x="5943600" y="2240280"/>
            <a:ext cx="2560320" cy="274320"/>
          </a:xfrm>
          <a:prstGeom prst="rect">
            <a:avLst/>
          </a:prstGeom>
          <a:noFill/>
          <a:ln/>
        </p:spPr>
        <p:txBody>
          <a:bodyPr wrap="square" lIns="0" tIns="0" rIns="0" bIns="0" rtlCol="0" anchor="t"/>
          <a:lstStyle/>
          <a:p>
            <a:pPr marL="0" indent="0" algn="ctr">
              <a:buNone/>
            </a:pPr>
            <a:r>
              <a:rPr lang="en-US" sz="1100" b="1" kern="0" spc="100" dirty="0">
                <a:solidFill>
                  <a:srgbClr val="3AD1E6"/>
                </a:solidFill>
                <a:latin typeface="Segoe UI" pitchFamily="34" charset="0"/>
                <a:ea typeface="Segoe UI" pitchFamily="34" charset="-122"/>
                <a:cs typeface="Segoe UI" pitchFamily="34" charset="-120"/>
              </a:rPr>
              <a:t>IMPLIED MARCH BID</a:t>
            </a:r>
            <a:endParaRPr lang="en-US" sz="1100" dirty="0"/>
          </a:p>
        </p:txBody>
      </p:sp>
      <p:sp>
        <p:nvSpPr>
          <p:cNvPr id="22" name="Text 20"/>
          <p:cNvSpPr/>
          <p:nvPr/>
        </p:nvSpPr>
        <p:spPr>
          <a:xfrm>
            <a:off x="5806440" y="2542032"/>
            <a:ext cx="2788920" cy="914400"/>
          </a:xfrm>
          <a:prstGeom prst="rect">
            <a:avLst/>
          </a:prstGeom>
          <a:noFill/>
          <a:ln/>
        </p:spPr>
        <p:txBody>
          <a:bodyPr wrap="square" lIns="0" tIns="0" rIns="0" bIns="0" rtlCol="0" anchor="t"/>
          <a:lstStyle/>
          <a:p>
            <a:pPr marL="0" indent="0" algn="ctr">
              <a:buNone/>
            </a:pPr>
            <a:r>
              <a:rPr lang="en-US" sz="6000" b="1" dirty="0">
                <a:solidFill>
                  <a:srgbClr val="3AD1E6"/>
                </a:solidFill>
                <a:latin typeface="Consolas" pitchFamily="34" charset="0"/>
                <a:ea typeface="Consolas" pitchFamily="34" charset="-122"/>
                <a:cs typeface="Consolas" pitchFamily="34" charset="-120"/>
              </a:rPr>
              <a:t>99</a:t>
            </a:r>
            <a:endParaRPr lang="en-US" sz="6000" dirty="0"/>
          </a:p>
        </p:txBody>
      </p:sp>
      <p:sp>
        <p:nvSpPr>
          <p:cNvPr id="23" name="Text 21"/>
          <p:cNvSpPr/>
          <p:nvPr/>
        </p:nvSpPr>
        <p:spPr>
          <a:xfrm>
            <a:off x="5852160" y="3566160"/>
            <a:ext cx="2743200" cy="365760"/>
          </a:xfrm>
          <a:prstGeom prst="rect">
            <a:avLst/>
          </a:prstGeom>
          <a:noFill/>
          <a:ln/>
        </p:spPr>
        <p:txBody>
          <a:bodyPr wrap="square" lIns="0" tIns="0" rIns="0" bIns="0" rtlCol="0" anchor="ctr"/>
          <a:lstStyle/>
          <a:p>
            <a:pPr marL="0" indent="0" algn="ctr">
              <a:buNone/>
            </a:pPr>
            <a:r>
              <a:rPr lang="en-US" sz="1250" dirty="0">
                <a:solidFill>
                  <a:srgbClr val="8B96A8"/>
                </a:solidFill>
                <a:latin typeface="Consolas" pitchFamily="34" charset="0"/>
                <a:ea typeface="Consolas" pitchFamily="34" charset="-122"/>
                <a:cs typeface="Consolas" pitchFamily="34" charset="-120"/>
              </a:rPr>
              <a:t>was 98  →  now </a:t>
            </a:r>
            <a:r>
              <a:rPr lang="en-US" sz="1250" b="1" dirty="0">
                <a:solidFill>
                  <a:srgbClr val="35E07E"/>
                </a:solidFill>
                <a:latin typeface="Consolas" pitchFamily="34" charset="0"/>
                <a:ea typeface="Consolas" pitchFamily="34" charset="-122"/>
                <a:cs typeface="Consolas" pitchFamily="34" charset="-120"/>
              </a:rPr>
              <a:t>99</a:t>
            </a:r>
            <a:endParaRPr lang="en-US" sz="1250" dirty="0"/>
          </a:p>
        </p:txBody>
      </p:sp>
      <p:sp>
        <p:nvSpPr>
          <p:cNvPr id="24" name="Text 22"/>
          <p:cNvSpPr/>
          <p:nvPr/>
        </p:nvSpPr>
        <p:spPr>
          <a:xfrm>
            <a:off x="5806440" y="3977640"/>
            <a:ext cx="2788920" cy="365760"/>
          </a:xfrm>
          <a:prstGeom prst="rect">
            <a:avLst/>
          </a:prstGeom>
          <a:noFill/>
          <a:ln/>
        </p:spPr>
        <p:txBody>
          <a:bodyPr wrap="square" lIns="0" tIns="0" rIns="0" bIns="0" rtlCol="0" anchor="t"/>
          <a:lstStyle/>
          <a:p>
            <a:pPr marL="0" indent="0" algn="ctr">
              <a:lnSpc>
                <a:spcPts val="1400"/>
              </a:lnSpc>
              <a:buNone/>
            </a:pPr>
            <a:r>
              <a:rPr lang="en-US" sz="1050" dirty="0">
                <a:solidFill>
                  <a:srgbClr val="D8DEE9"/>
                </a:solidFill>
                <a:latin typeface="Segoe UI" pitchFamily="34" charset="0"/>
                <a:ea typeface="Segoe UI" pitchFamily="34" charset="-122"/>
                <a:cs typeface="Segoe UI" pitchFamily="34" charset="-120"/>
              </a:rPr>
              <a:t>The synthetic bid betters the real book.</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Watch it trade: the synthetic leg fills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OUT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34</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 seller hits the implied March bid of 99 with 10 lots. Everyone gets exactly the trade they posted:</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920240"/>
            <a:ext cx="2468880" cy="2148840"/>
          </a:xfrm>
          <a:prstGeom prst="roundRect">
            <a:avLst>
              <a:gd name="adj" fmla="val 2553"/>
            </a:avLst>
          </a:prstGeom>
          <a:solidFill>
            <a:srgbClr val="10251C"/>
          </a:solidFill>
          <a:ln w="12700">
            <a:solidFill>
              <a:srgbClr val="3AD1E6"/>
            </a:solidFill>
            <a:prstDash val="solid"/>
          </a:ln>
        </p:spPr>
        <p:txBody>
          <a:bodyPr/>
          <a:lstStyle/>
          <a:p>
            <a:endParaRPr lang="en-SE"/>
          </a:p>
        </p:txBody>
      </p:sp>
      <p:sp>
        <p:nvSpPr>
          <p:cNvPr id="8" name="Text 6"/>
          <p:cNvSpPr/>
          <p:nvPr/>
        </p:nvSpPr>
        <p:spPr>
          <a:xfrm>
            <a:off x="640080" y="2048256"/>
            <a:ext cx="2194560" cy="228600"/>
          </a:xfrm>
          <a:prstGeom prst="rect">
            <a:avLst/>
          </a:prstGeom>
          <a:noFill/>
          <a:ln/>
        </p:spPr>
        <p:txBody>
          <a:bodyPr wrap="square" lIns="0" tIns="0" rIns="0" bIns="0" rtlCol="0" anchor="t"/>
          <a:lstStyle/>
          <a:p>
            <a:pPr marL="0" indent="0" algn="l">
              <a:buNone/>
            </a:pPr>
            <a:r>
              <a:rPr lang="en-US" sz="1000" b="1" kern="0" spc="100" dirty="0">
                <a:solidFill>
                  <a:srgbClr val="3AD1E6"/>
                </a:solidFill>
                <a:latin typeface="Segoe UI" pitchFamily="34" charset="0"/>
                <a:ea typeface="Segoe UI" pitchFamily="34" charset="-122"/>
                <a:cs typeface="Segoe UI" pitchFamily="34" charset="-120"/>
              </a:rPr>
              <a:t>INCOMING</a:t>
            </a:r>
            <a:endParaRPr lang="en-US" sz="1000" dirty="0"/>
          </a:p>
        </p:txBody>
      </p:sp>
      <p:sp>
        <p:nvSpPr>
          <p:cNvPr id="9" name="Text 7"/>
          <p:cNvSpPr/>
          <p:nvPr/>
        </p:nvSpPr>
        <p:spPr>
          <a:xfrm>
            <a:off x="640080" y="2331720"/>
            <a:ext cx="2194560" cy="320040"/>
          </a:xfrm>
          <a:prstGeom prst="rect">
            <a:avLst/>
          </a:prstGeom>
          <a:noFill/>
          <a:ln/>
        </p:spPr>
        <p:txBody>
          <a:bodyPr wrap="square" lIns="0" tIns="0" rIns="0" bIns="0" rtlCol="0" anchor="t"/>
          <a:lstStyle/>
          <a:p>
            <a:pPr marL="0" indent="0" algn="l">
              <a:buNone/>
            </a:pPr>
            <a:r>
              <a:rPr lang="en-US" sz="1500" b="1" dirty="0">
                <a:solidFill>
                  <a:srgbClr val="FFFFFF"/>
                </a:solidFill>
                <a:latin typeface="Consolas" pitchFamily="34" charset="0"/>
                <a:ea typeface="Consolas" pitchFamily="34" charset="-122"/>
                <a:cs typeface="Consolas" pitchFamily="34" charset="-120"/>
              </a:rPr>
              <a:t>Sell 10 March</a:t>
            </a:r>
            <a:endParaRPr lang="en-US" sz="1500" dirty="0"/>
          </a:p>
        </p:txBody>
      </p:sp>
      <p:sp>
        <p:nvSpPr>
          <p:cNvPr id="10" name="Text 8"/>
          <p:cNvSpPr/>
          <p:nvPr/>
        </p:nvSpPr>
        <p:spPr>
          <a:xfrm>
            <a:off x="640080" y="2670048"/>
            <a:ext cx="2194560" cy="274320"/>
          </a:xfrm>
          <a:prstGeom prst="rect">
            <a:avLst/>
          </a:prstGeom>
          <a:noFill/>
          <a:ln/>
        </p:spPr>
        <p:txBody>
          <a:bodyPr wrap="square" lIns="0" tIns="0" rIns="0" bIns="0" rtlCol="0" anchor="t"/>
          <a:lstStyle/>
          <a:p>
            <a:pPr marL="0" indent="0" algn="l">
              <a:buNone/>
            </a:pPr>
            <a:r>
              <a:rPr lang="en-US" sz="1300" dirty="0">
                <a:solidFill>
                  <a:srgbClr val="3AD1E6"/>
                </a:solidFill>
                <a:latin typeface="Consolas" pitchFamily="34" charset="0"/>
                <a:ea typeface="Consolas" pitchFamily="34" charset="-122"/>
                <a:cs typeface="Consolas" pitchFamily="34" charset="-120"/>
              </a:rPr>
              <a:t>@ price 99</a:t>
            </a:r>
            <a:endParaRPr lang="en-US" sz="1300" dirty="0"/>
          </a:p>
        </p:txBody>
      </p:sp>
      <p:sp>
        <p:nvSpPr>
          <p:cNvPr id="11" name="Text 9"/>
          <p:cNvSpPr/>
          <p:nvPr/>
        </p:nvSpPr>
        <p:spPr>
          <a:xfrm>
            <a:off x="640080" y="3063240"/>
            <a:ext cx="2194560" cy="731520"/>
          </a:xfrm>
          <a:prstGeom prst="rect">
            <a:avLst/>
          </a:prstGeom>
          <a:noFill/>
          <a:ln/>
        </p:spPr>
        <p:txBody>
          <a:bodyPr wrap="square" lIns="0" tIns="0" rIns="0" bIns="0" rtlCol="0" anchor="t"/>
          <a:lstStyle/>
          <a:p>
            <a:pPr marL="0" indent="0" algn="l">
              <a:lnSpc>
                <a:spcPts val="1600"/>
              </a:lnSpc>
              <a:buNone/>
            </a:pPr>
            <a:r>
              <a:rPr lang="en-US" sz="1200" dirty="0">
                <a:solidFill>
                  <a:srgbClr val="8B96A8"/>
                </a:solidFill>
                <a:latin typeface="Segoe UI" pitchFamily="34" charset="0"/>
                <a:ea typeface="Segoe UI" pitchFamily="34" charset="-122"/>
                <a:cs typeface="Segoe UI" pitchFamily="34" charset="-120"/>
              </a:rPr>
              <a:t>Fills against the implied bid →</a:t>
            </a:r>
            <a:endParaRPr lang="en-US" sz="1200" dirty="0"/>
          </a:p>
        </p:txBody>
      </p:sp>
      <p:sp>
        <p:nvSpPr>
          <p:cNvPr id="12" name="arrow">
            <a:extLst>
              <a:ext uri="{C183D7F6-B498-43B3-948B-1728B52AA6E4}">
                <adec:decorative xmlns:adec="http://schemas.microsoft.com/office/drawing/2017/decorative" val="1"/>
              </a:ext>
            </a:extLst>
          </p:cNvPr>
          <p:cNvSpPr/>
          <p:nvPr/>
        </p:nvSpPr>
        <p:spPr>
          <a:xfrm>
            <a:off x="3017520" y="2971800"/>
            <a:ext cx="457200" cy="0"/>
          </a:xfrm>
          <a:prstGeom prst="line">
            <a:avLst/>
          </a:prstGeom>
          <a:noFill/>
          <a:ln w="31750">
            <a:solidFill>
              <a:srgbClr val="8B96A8"/>
            </a:solidFill>
            <a:prstDash val="solid"/>
            <a:tailEnd type="triangle"/>
          </a:ln>
        </p:spPr>
        <p:txBody>
          <a:bodyPr/>
          <a:lstStyle/>
          <a:p>
            <a:endParaRPr lang="en-SE"/>
          </a:p>
        </p:txBody>
      </p:sp>
      <p:sp>
        <p:nvSpPr>
          <p:cNvPr id="13" name="panel">
            <a:extLst>
              <a:ext uri="{C183D7F6-B498-43B3-948B-1728B52AA6E4}">
                <adec:decorative xmlns:adec="http://schemas.microsoft.com/office/drawing/2017/decorative" val="1"/>
              </a:ext>
            </a:extLst>
          </p:cNvPr>
          <p:cNvSpPr/>
          <p:nvPr/>
        </p:nvSpPr>
        <p:spPr>
          <a:xfrm>
            <a:off x="3611880" y="1920240"/>
            <a:ext cx="4983480" cy="502920"/>
          </a:xfrm>
          <a:prstGeom prst="roundRect">
            <a:avLst>
              <a:gd name="adj" fmla="val 10909"/>
            </a:avLst>
          </a:prstGeom>
          <a:solidFill>
            <a:srgbClr val="1B212C"/>
          </a:solidFill>
          <a:ln w="12700">
            <a:solidFill>
              <a:srgbClr val="2C3644"/>
            </a:solidFill>
            <a:prstDash val="solid"/>
          </a:ln>
        </p:spPr>
        <p:txBody>
          <a:bodyPr/>
          <a:lstStyle/>
          <a:p>
            <a:endParaRPr lang="en-SE"/>
          </a:p>
        </p:txBody>
      </p:sp>
      <p:sp>
        <p:nvSpPr>
          <p:cNvPr id="14" name="dot">
            <a:extLst>
              <a:ext uri="{C183D7F6-B498-43B3-948B-1728B52AA6E4}">
                <adec:decorative xmlns:adec="http://schemas.microsoft.com/office/drawing/2017/decorative" val="1"/>
              </a:ext>
            </a:extLst>
          </p:cNvPr>
          <p:cNvSpPr/>
          <p:nvPr/>
        </p:nvSpPr>
        <p:spPr>
          <a:xfrm>
            <a:off x="3767328" y="2103120"/>
            <a:ext cx="137160" cy="137160"/>
          </a:xfrm>
          <a:prstGeom prst="ellipse">
            <a:avLst/>
          </a:prstGeom>
          <a:solidFill>
            <a:srgbClr val="FF5C6C"/>
          </a:solidFill>
          <a:ln/>
        </p:spPr>
        <p:txBody>
          <a:bodyPr/>
          <a:lstStyle/>
          <a:p>
            <a:endParaRPr lang="en-SE"/>
          </a:p>
        </p:txBody>
      </p:sp>
      <p:sp>
        <p:nvSpPr>
          <p:cNvPr id="15" name="Text 13"/>
          <p:cNvSpPr/>
          <p:nvPr/>
        </p:nvSpPr>
        <p:spPr>
          <a:xfrm>
            <a:off x="4023360" y="1920240"/>
            <a:ext cx="2148840" cy="502920"/>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Incoming seller</a:t>
            </a:r>
            <a:endParaRPr lang="en-US" sz="1150" dirty="0"/>
          </a:p>
        </p:txBody>
      </p:sp>
      <p:sp>
        <p:nvSpPr>
          <p:cNvPr id="16" name="Text 14"/>
          <p:cNvSpPr/>
          <p:nvPr/>
        </p:nvSpPr>
        <p:spPr>
          <a:xfrm>
            <a:off x="5486400" y="1920240"/>
            <a:ext cx="2971800" cy="502920"/>
          </a:xfrm>
          <a:prstGeom prst="rect">
            <a:avLst/>
          </a:prstGeom>
          <a:noFill/>
          <a:ln/>
        </p:spPr>
        <p:txBody>
          <a:bodyPr wrap="square" lIns="0" tIns="0" rIns="0" bIns="0" rtlCol="0" anchor="ctr"/>
          <a:lstStyle/>
          <a:p>
            <a:pPr marL="0" indent="0" algn="r">
              <a:buNone/>
            </a:pPr>
            <a:r>
              <a:rPr lang="en-US" sz="1100" dirty="0">
                <a:solidFill>
                  <a:srgbClr val="FF5C6C"/>
                </a:solidFill>
                <a:latin typeface="Consolas" pitchFamily="34" charset="0"/>
                <a:ea typeface="Consolas" pitchFamily="34" charset="-122"/>
                <a:cs typeface="Consolas" pitchFamily="34" charset="-120"/>
              </a:rPr>
              <a:t>SELLS March @ 99</a:t>
            </a:r>
            <a:endParaRPr lang="en-US" sz="1100" dirty="0"/>
          </a:p>
        </p:txBody>
      </p:sp>
      <p:sp>
        <p:nvSpPr>
          <p:cNvPr id="17" name="panel">
            <a:extLst>
              <a:ext uri="{C183D7F6-B498-43B3-948B-1728B52AA6E4}">
                <adec:decorative xmlns:adec="http://schemas.microsoft.com/office/drawing/2017/decorative" val="1"/>
              </a:ext>
            </a:extLst>
          </p:cNvPr>
          <p:cNvSpPr/>
          <p:nvPr/>
        </p:nvSpPr>
        <p:spPr>
          <a:xfrm>
            <a:off x="3611880" y="2496312"/>
            <a:ext cx="4983480" cy="502920"/>
          </a:xfrm>
          <a:prstGeom prst="roundRect">
            <a:avLst>
              <a:gd name="adj" fmla="val 10909"/>
            </a:avLst>
          </a:prstGeom>
          <a:solidFill>
            <a:srgbClr val="1B212C"/>
          </a:solidFill>
          <a:ln w="12700">
            <a:solidFill>
              <a:srgbClr val="2C3644"/>
            </a:solidFill>
            <a:prstDash val="solid"/>
          </a:ln>
        </p:spPr>
        <p:txBody>
          <a:bodyPr/>
          <a:lstStyle/>
          <a:p>
            <a:endParaRPr lang="en-SE"/>
          </a:p>
        </p:txBody>
      </p:sp>
      <p:sp>
        <p:nvSpPr>
          <p:cNvPr id="18" name="dot">
            <a:extLst>
              <a:ext uri="{C183D7F6-B498-43B3-948B-1728B52AA6E4}">
                <adec:decorative xmlns:adec="http://schemas.microsoft.com/office/drawing/2017/decorative" val="1"/>
              </a:ext>
            </a:extLst>
          </p:cNvPr>
          <p:cNvSpPr/>
          <p:nvPr/>
        </p:nvSpPr>
        <p:spPr>
          <a:xfrm>
            <a:off x="3767328" y="2679192"/>
            <a:ext cx="137160" cy="137160"/>
          </a:xfrm>
          <a:prstGeom prst="ellipse">
            <a:avLst/>
          </a:prstGeom>
          <a:solidFill>
            <a:srgbClr val="35E07E"/>
          </a:solidFill>
          <a:ln/>
        </p:spPr>
        <p:txBody>
          <a:bodyPr/>
          <a:lstStyle/>
          <a:p>
            <a:endParaRPr lang="en-SE"/>
          </a:p>
        </p:txBody>
      </p:sp>
      <p:sp>
        <p:nvSpPr>
          <p:cNvPr id="19" name="Text 17"/>
          <p:cNvSpPr/>
          <p:nvPr/>
        </p:nvSpPr>
        <p:spPr>
          <a:xfrm>
            <a:off x="4023360" y="2496312"/>
            <a:ext cx="2148840" cy="502920"/>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Spread bidder</a:t>
            </a:r>
            <a:endParaRPr lang="en-US" sz="1150" dirty="0"/>
          </a:p>
        </p:txBody>
      </p:sp>
      <p:sp>
        <p:nvSpPr>
          <p:cNvPr id="20" name="Text 18"/>
          <p:cNvSpPr/>
          <p:nvPr/>
        </p:nvSpPr>
        <p:spPr>
          <a:xfrm>
            <a:off x="5486400" y="2496312"/>
            <a:ext cx="2971800" cy="502920"/>
          </a:xfrm>
          <a:prstGeom prst="rect">
            <a:avLst/>
          </a:prstGeom>
          <a:noFill/>
          <a:ln/>
        </p:spPr>
        <p:txBody>
          <a:bodyPr wrap="square" lIns="0" tIns="0" rIns="0" bIns="0" rtlCol="0" anchor="ctr"/>
          <a:lstStyle/>
          <a:p>
            <a:pPr marL="0" indent="0" algn="r">
              <a:buNone/>
            </a:pPr>
            <a:r>
              <a:rPr lang="en-US" sz="1100" dirty="0">
                <a:solidFill>
                  <a:srgbClr val="35E07E"/>
                </a:solidFill>
                <a:latin typeface="Consolas" pitchFamily="34" charset="0"/>
                <a:ea typeface="Consolas" pitchFamily="34" charset="-122"/>
                <a:cs typeface="Consolas" pitchFamily="34" charset="-120"/>
              </a:rPr>
              <a:t>BUYS March @ 99, SELLS June @ 97</a:t>
            </a:r>
            <a:endParaRPr lang="en-US" sz="1100" dirty="0"/>
          </a:p>
        </p:txBody>
      </p:sp>
      <p:sp>
        <p:nvSpPr>
          <p:cNvPr id="21" name="panel">
            <a:extLst>
              <a:ext uri="{C183D7F6-B498-43B3-948B-1728B52AA6E4}">
                <adec:decorative xmlns:adec="http://schemas.microsoft.com/office/drawing/2017/decorative" val="1"/>
              </a:ext>
            </a:extLst>
          </p:cNvPr>
          <p:cNvSpPr/>
          <p:nvPr/>
        </p:nvSpPr>
        <p:spPr>
          <a:xfrm>
            <a:off x="3611880" y="3072384"/>
            <a:ext cx="4983480" cy="502920"/>
          </a:xfrm>
          <a:prstGeom prst="roundRect">
            <a:avLst>
              <a:gd name="adj" fmla="val 10909"/>
            </a:avLst>
          </a:prstGeom>
          <a:solidFill>
            <a:srgbClr val="1B212C"/>
          </a:solidFill>
          <a:ln w="12700">
            <a:solidFill>
              <a:srgbClr val="2C3644"/>
            </a:solidFill>
            <a:prstDash val="solid"/>
          </a:ln>
        </p:spPr>
        <p:txBody>
          <a:bodyPr/>
          <a:lstStyle/>
          <a:p>
            <a:endParaRPr lang="en-SE"/>
          </a:p>
        </p:txBody>
      </p:sp>
      <p:sp>
        <p:nvSpPr>
          <p:cNvPr id="22" name="dot">
            <a:extLst>
              <a:ext uri="{C183D7F6-B498-43B3-948B-1728B52AA6E4}">
                <adec:decorative xmlns:adec="http://schemas.microsoft.com/office/drawing/2017/decorative" val="1"/>
              </a:ext>
            </a:extLst>
          </p:cNvPr>
          <p:cNvSpPr/>
          <p:nvPr/>
        </p:nvSpPr>
        <p:spPr>
          <a:xfrm>
            <a:off x="3767328" y="3255264"/>
            <a:ext cx="137160" cy="137160"/>
          </a:xfrm>
          <a:prstGeom prst="ellipse">
            <a:avLst/>
          </a:prstGeom>
          <a:solidFill>
            <a:srgbClr val="35E07E"/>
          </a:solidFill>
          <a:ln/>
        </p:spPr>
        <p:txBody>
          <a:bodyPr/>
          <a:lstStyle/>
          <a:p>
            <a:endParaRPr lang="en-SE"/>
          </a:p>
        </p:txBody>
      </p:sp>
      <p:sp>
        <p:nvSpPr>
          <p:cNvPr id="23" name="Text 21"/>
          <p:cNvSpPr/>
          <p:nvPr/>
        </p:nvSpPr>
        <p:spPr>
          <a:xfrm>
            <a:off x="4023360" y="3072384"/>
            <a:ext cx="2148840" cy="502920"/>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June bidder</a:t>
            </a:r>
            <a:endParaRPr lang="en-US" sz="1150" dirty="0"/>
          </a:p>
        </p:txBody>
      </p:sp>
      <p:sp>
        <p:nvSpPr>
          <p:cNvPr id="24" name="Text 22"/>
          <p:cNvSpPr/>
          <p:nvPr/>
        </p:nvSpPr>
        <p:spPr>
          <a:xfrm>
            <a:off x="5486400" y="3072384"/>
            <a:ext cx="2971800" cy="502920"/>
          </a:xfrm>
          <a:prstGeom prst="rect">
            <a:avLst/>
          </a:prstGeom>
          <a:noFill/>
          <a:ln/>
        </p:spPr>
        <p:txBody>
          <a:bodyPr wrap="square" lIns="0" tIns="0" rIns="0" bIns="0" rtlCol="0" anchor="ctr"/>
          <a:lstStyle/>
          <a:p>
            <a:pPr marL="0" indent="0" algn="r">
              <a:buNone/>
            </a:pPr>
            <a:r>
              <a:rPr lang="en-US" sz="1100" dirty="0">
                <a:solidFill>
                  <a:srgbClr val="35E07E"/>
                </a:solidFill>
                <a:latin typeface="Consolas" pitchFamily="34" charset="0"/>
                <a:ea typeface="Consolas" pitchFamily="34" charset="-122"/>
                <a:cs typeface="Consolas" pitchFamily="34" charset="-120"/>
              </a:rPr>
              <a:t>BUYS June @ 97</a:t>
            </a:r>
            <a:endParaRPr lang="en-US" sz="1100" dirty="0"/>
          </a:p>
        </p:txBody>
      </p:sp>
      <p:sp>
        <p:nvSpPr>
          <p:cNvPr id="25" name="panel">
            <a:extLst>
              <a:ext uri="{C183D7F6-B498-43B3-948B-1728B52AA6E4}">
                <adec:decorative xmlns:adec="http://schemas.microsoft.com/office/drawing/2017/decorative" val="1"/>
              </a:ext>
            </a:extLst>
          </p:cNvPr>
          <p:cNvSpPr/>
          <p:nvPr/>
        </p:nvSpPr>
        <p:spPr>
          <a:xfrm>
            <a:off x="3611880" y="3648456"/>
            <a:ext cx="4983480" cy="502920"/>
          </a:xfrm>
          <a:prstGeom prst="roundRect">
            <a:avLst>
              <a:gd name="adj" fmla="val 10909"/>
            </a:avLst>
          </a:prstGeom>
          <a:solidFill>
            <a:srgbClr val="1B212C"/>
          </a:solidFill>
          <a:ln w="12700">
            <a:solidFill>
              <a:srgbClr val="2C3644"/>
            </a:solidFill>
            <a:prstDash val="solid"/>
          </a:ln>
        </p:spPr>
        <p:txBody>
          <a:bodyPr/>
          <a:lstStyle/>
          <a:p>
            <a:endParaRPr lang="en-SE"/>
          </a:p>
        </p:txBody>
      </p:sp>
      <p:sp>
        <p:nvSpPr>
          <p:cNvPr id="26" name="dot">
            <a:extLst>
              <a:ext uri="{C183D7F6-B498-43B3-948B-1728B52AA6E4}">
                <adec:decorative xmlns:adec="http://schemas.microsoft.com/office/drawing/2017/decorative" val="1"/>
              </a:ext>
            </a:extLst>
          </p:cNvPr>
          <p:cNvSpPr/>
          <p:nvPr/>
        </p:nvSpPr>
        <p:spPr>
          <a:xfrm>
            <a:off x="3767328" y="3831336"/>
            <a:ext cx="137160" cy="137160"/>
          </a:xfrm>
          <a:prstGeom prst="ellipse">
            <a:avLst/>
          </a:prstGeom>
          <a:solidFill>
            <a:srgbClr val="3AD1E6"/>
          </a:solidFill>
          <a:ln/>
        </p:spPr>
        <p:txBody>
          <a:bodyPr/>
          <a:lstStyle/>
          <a:p>
            <a:endParaRPr lang="en-SE"/>
          </a:p>
        </p:txBody>
      </p:sp>
      <p:sp>
        <p:nvSpPr>
          <p:cNvPr id="27" name="Text 25"/>
          <p:cNvSpPr/>
          <p:nvPr/>
        </p:nvSpPr>
        <p:spPr>
          <a:xfrm>
            <a:off x="4023360" y="3648456"/>
            <a:ext cx="2148840" cy="502920"/>
          </a:xfrm>
          <a:prstGeom prst="rect">
            <a:avLst/>
          </a:prstGeom>
          <a:noFill/>
          <a:ln/>
        </p:spPr>
        <p:txBody>
          <a:bodyPr wrap="square" lIns="0" tIns="0" rIns="0" bIns="0" rtlCol="0" anchor="ctr"/>
          <a:lstStyle/>
          <a:p>
            <a:pPr marL="0" indent="0" algn="l">
              <a:buNone/>
            </a:pPr>
            <a:r>
              <a:rPr lang="en-US" sz="1150" b="1" dirty="0">
                <a:solidFill>
                  <a:srgbClr val="FFFFFF"/>
                </a:solidFill>
                <a:latin typeface="Segoe UI" pitchFamily="34" charset="0"/>
                <a:ea typeface="Segoe UI" pitchFamily="34" charset="-122"/>
                <a:cs typeface="Segoe UI" pitchFamily="34" charset="-120"/>
              </a:rPr>
              <a:t>Spread bidder net</a:t>
            </a:r>
            <a:endParaRPr lang="en-US" sz="1150" dirty="0"/>
          </a:p>
        </p:txBody>
      </p:sp>
      <p:sp>
        <p:nvSpPr>
          <p:cNvPr id="28" name="Text 26"/>
          <p:cNvSpPr/>
          <p:nvPr/>
        </p:nvSpPr>
        <p:spPr>
          <a:xfrm>
            <a:off x="5486400" y="3648456"/>
            <a:ext cx="2971800" cy="502920"/>
          </a:xfrm>
          <a:prstGeom prst="rect">
            <a:avLst/>
          </a:prstGeom>
          <a:noFill/>
          <a:ln/>
        </p:spPr>
        <p:txBody>
          <a:bodyPr wrap="square" lIns="0" tIns="0" rIns="0" bIns="0" rtlCol="0" anchor="ctr"/>
          <a:lstStyle/>
          <a:p>
            <a:pPr marL="0" indent="0" algn="r">
              <a:buNone/>
            </a:pPr>
            <a:r>
              <a:rPr lang="en-US" sz="1100" dirty="0">
                <a:solidFill>
                  <a:srgbClr val="3AD1E6"/>
                </a:solidFill>
                <a:latin typeface="Consolas" pitchFamily="34" charset="0"/>
                <a:ea typeface="Consolas" pitchFamily="34" charset="-122"/>
                <a:cs typeface="Consolas" pitchFamily="34" charset="-120"/>
              </a:rPr>
              <a:t>99 − 97 = 2 ✓</a:t>
            </a:r>
            <a:endParaRPr lang="en-US" sz="1100" dirty="0"/>
          </a:p>
        </p:txBody>
      </p:sp>
      <p:sp>
        <p:nvSpPr>
          <p:cNvPr id="29" name="Text 27"/>
          <p:cNvSpPr/>
          <p:nvPr/>
        </p:nvSpPr>
        <p:spPr>
          <a:xfrm>
            <a:off x="502920" y="4343400"/>
            <a:ext cx="8046720" cy="320040"/>
          </a:xfrm>
          <a:prstGeom prst="rect">
            <a:avLst/>
          </a:prstGeom>
          <a:noFill/>
          <a:ln/>
        </p:spPr>
        <p:txBody>
          <a:bodyPr wrap="square" lIns="0" tIns="0" rIns="0" bIns="0" rtlCol="0" anchor="t"/>
          <a:lstStyle/>
          <a:p>
            <a:pPr marL="0" indent="0" algn="ctr">
              <a:buNone/>
            </a:pPr>
            <a:r>
              <a:rPr lang="en-US" sz="1150" i="1" dirty="0">
                <a:solidFill>
                  <a:srgbClr val="8B96A8"/>
                </a:solidFill>
                <a:latin typeface="Segoe UI" pitchFamily="34" charset="0"/>
                <a:ea typeface="Segoe UI" pitchFamily="34" charset="-122"/>
                <a:cs typeface="Segoe UI" pitchFamily="34" charset="-120"/>
              </a:rPr>
              <a:t>The spread order and the June order already existed — the implied March bid simply let a March seller reach them.</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four building blocks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OUT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35</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All implication reduces to arithmetic on best prices. For Spread = A − B:</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874520"/>
            <a:ext cx="8092440" cy="566928"/>
          </a:xfrm>
          <a:prstGeom prst="roundRect">
            <a:avLst>
              <a:gd name="adj" fmla="val 9677"/>
            </a:avLst>
          </a:prstGeom>
          <a:solidFill>
            <a:srgbClr val="222B39"/>
          </a:solidFill>
          <a:ln w="12700">
            <a:solidFill>
              <a:srgbClr val="2C3644"/>
            </a:solidFill>
            <a:prstDash val="solid"/>
          </a:ln>
        </p:spPr>
        <p:txBody>
          <a:bodyPr/>
          <a:lstStyle/>
          <a:p>
            <a:endParaRPr lang="en-SE"/>
          </a:p>
        </p:txBody>
      </p:sp>
      <p:sp>
        <p:nvSpPr>
          <p:cNvPr id="8" name="chip">
            <a:extLst>
              <a:ext uri="{C183D7F6-B498-43B3-948B-1728B52AA6E4}">
                <adec:decorative xmlns:adec="http://schemas.microsoft.com/office/drawing/2017/decorative" val="1"/>
              </a:ext>
            </a:extLst>
          </p:cNvPr>
          <p:cNvSpPr/>
          <p:nvPr/>
        </p:nvSpPr>
        <p:spPr>
          <a:xfrm>
            <a:off x="640080" y="1993392"/>
            <a:ext cx="777240" cy="329184"/>
          </a:xfrm>
          <a:prstGeom prst="roundRect">
            <a:avLst>
              <a:gd name="adj" fmla="val 13889"/>
            </a:avLst>
          </a:prstGeom>
          <a:solidFill>
            <a:srgbClr val="1B212C"/>
          </a:solidFill>
          <a:ln w="12700">
            <a:solidFill>
              <a:srgbClr val="2C3644"/>
            </a:solidFill>
            <a:prstDash val="solid"/>
          </a:ln>
        </p:spPr>
        <p:txBody>
          <a:bodyPr/>
          <a:lstStyle/>
          <a:p>
            <a:endParaRPr lang="en-SE"/>
          </a:p>
        </p:txBody>
      </p:sp>
      <p:sp>
        <p:nvSpPr>
          <p:cNvPr id="9" name="Text 7"/>
          <p:cNvSpPr/>
          <p:nvPr/>
        </p:nvSpPr>
        <p:spPr>
          <a:xfrm>
            <a:off x="640080" y="1993392"/>
            <a:ext cx="777240" cy="329184"/>
          </a:xfrm>
          <a:prstGeom prst="rect">
            <a:avLst/>
          </a:prstGeom>
          <a:noFill/>
          <a:ln/>
        </p:spPr>
        <p:txBody>
          <a:bodyPr wrap="square" lIns="0" tIns="0" rIns="0" bIns="0" rtlCol="0" anchor="ctr"/>
          <a:lstStyle/>
          <a:p>
            <a:pPr marL="0" indent="0" algn="ctr">
              <a:buNone/>
            </a:pPr>
            <a:r>
              <a:rPr lang="en-US" sz="1100" b="1" dirty="0">
                <a:solidFill>
                  <a:srgbClr val="3AD1E6"/>
                </a:solidFill>
                <a:latin typeface="Consolas" pitchFamily="34" charset="0"/>
                <a:ea typeface="Consolas" pitchFamily="34" charset="-122"/>
                <a:cs typeface="Consolas" pitchFamily="34" charset="-120"/>
              </a:rPr>
              <a:t>IN</a:t>
            </a:r>
            <a:endParaRPr lang="en-US" sz="1100" dirty="0"/>
          </a:p>
        </p:txBody>
      </p:sp>
      <p:sp>
        <p:nvSpPr>
          <p:cNvPr id="10" name="Text 8"/>
          <p:cNvSpPr/>
          <p:nvPr/>
        </p:nvSpPr>
        <p:spPr>
          <a:xfrm>
            <a:off x="1600200" y="1874520"/>
            <a:ext cx="3108960" cy="566928"/>
          </a:xfrm>
          <a:prstGeom prst="rect">
            <a:avLst/>
          </a:prstGeom>
          <a:noFill/>
          <a:ln/>
        </p:spPr>
        <p:txBody>
          <a:bodyPr wrap="square" lIns="0" tIns="0" rIns="0" bIns="0" rtlCol="0" anchor="ctr"/>
          <a:lstStyle/>
          <a:p>
            <a:pPr marL="0" indent="0" algn="l">
              <a:buNone/>
            </a:pPr>
            <a:r>
              <a:rPr lang="en-US" sz="1350" b="1" dirty="0">
                <a:solidFill>
                  <a:srgbClr val="FFFFFF"/>
                </a:solidFill>
                <a:latin typeface="Segoe UI" pitchFamily="34" charset="0"/>
                <a:ea typeface="Segoe UI" pitchFamily="34" charset="-122"/>
                <a:cs typeface="Segoe UI" pitchFamily="34" charset="-120"/>
              </a:rPr>
              <a:t>Implied spread BID</a:t>
            </a:r>
            <a:endParaRPr lang="en-US" sz="1350" dirty="0"/>
          </a:p>
        </p:txBody>
      </p:sp>
      <p:sp>
        <p:nvSpPr>
          <p:cNvPr id="11" name="Text 9"/>
          <p:cNvSpPr/>
          <p:nvPr/>
        </p:nvSpPr>
        <p:spPr>
          <a:xfrm>
            <a:off x="4663440" y="1975104"/>
            <a:ext cx="3794760" cy="365760"/>
          </a:xfrm>
          <a:prstGeom prst="rect">
            <a:avLst/>
          </a:prstGeom>
          <a:noFill/>
          <a:ln/>
        </p:spPr>
        <p:txBody>
          <a:bodyPr wrap="square" lIns="0" tIns="0" rIns="0" bIns="0" rtlCol="0" anchor="ctr"/>
          <a:lstStyle/>
          <a:p>
            <a:pPr marL="0" indent="0" algn="l">
              <a:buNone/>
            </a:pPr>
            <a:r>
              <a:rPr lang="en-US" sz="1400" dirty="0">
                <a:solidFill>
                  <a:srgbClr val="D8DEE9"/>
                </a:solidFill>
                <a:latin typeface="Consolas" pitchFamily="34" charset="0"/>
                <a:ea typeface="Consolas" pitchFamily="34" charset="-122"/>
                <a:cs typeface="Consolas" pitchFamily="34" charset="-120"/>
              </a:rPr>
              <a:t>A bid  −  B ask</a:t>
            </a:r>
            <a:endParaRPr lang="en-US" sz="1400" dirty="0"/>
          </a:p>
        </p:txBody>
      </p:sp>
      <p:sp>
        <p:nvSpPr>
          <p:cNvPr id="12" name="panel">
            <a:extLst>
              <a:ext uri="{C183D7F6-B498-43B3-948B-1728B52AA6E4}">
                <adec:decorative xmlns:adec="http://schemas.microsoft.com/office/drawing/2017/decorative" val="1"/>
              </a:ext>
            </a:extLst>
          </p:cNvPr>
          <p:cNvSpPr/>
          <p:nvPr/>
        </p:nvSpPr>
        <p:spPr>
          <a:xfrm>
            <a:off x="502920" y="2532888"/>
            <a:ext cx="8092440" cy="566928"/>
          </a:xfrm>
          <a:prstGeom prst="roundRect">
            <a:avLst>
              <a:gd name="adj" fmla="val 9677"/>
            </a:avLst>
          </a:prstGeom>
          <a:solidFill>
            <a:srgbClr val="1B212C"/>
          </a:solidFill>
          <a:ln w="12700">
            <a:solidFill>
              <a:srgbClr val="2C3644"/>
            </a:solidFill>
            <a:prstDash val="solid"/>
          </a:ln>
        </p:spPr>
        <p:txBody>
          <a:bodyPr/>
          <a:lstStyle/>
          <a:p>
            <a:endParaRPr lang="en-SE"/>
          </a:p>
        </p:txBody>
      </p:sp>
      <p:sp>
        <p:nvSpPr>
          <p:cNvPr id="13" name="chip">
            <a:extLst>
              <a:ext uri="{C183D7F6-B498-43B3-948B-1728B52AA6E4}">
                <adec:decorative xmlns:adec="http://schemas.microsoft.com/office/drawing/2017/decorative" val="1"/>
              </a:ext>
            </a:extLst>
          </p:cNvPr>
          <p:cNvSpPr/>
          <p:nvPr/>
        </p:nvSpPr>
        <p:spPr>
          <a:xfrm>
            <a:off x="640080" y="2651760"/>
            <a:ext cx="777240" cy="329184"/>
          </a:xfrm>
          <a:prstGeom prst="roundRect">
            <a:avLst>
              <a:gd name="adj" fmla="val 13889"/>
            </a:avLst>
          </a:prstGeom>
          <a:solidFill>
            <a:srgbClr val="1B212C"/>
          </a:solidFill>
          <a:ln w="12700">
            <a:solidFill>
              <a:srgbClr val="2C3644"/>
            </a:solidFill>
            <a:prstDash val="solid"/>
          </a:ln>
        </p:spPr>
        <p:txBody>
          <a:bodyPr/>
          <a:lstStyle/>
          <a:p>
            <a:endParaRPr lang="en-SE"/>
          </a:p>
        </p:txBody>
      </p:sp>
      <p:sp>
        <p:nvSpPr>
          <p:cNvPr id="14" name="Text 12"/>
          <p:cNvSpPr/>
          <p:nvPr/>
        </p:nvSpPr>
        <p:spPr>
          <a:xfrm>
            <a:off x="640080" y="2651760"/>
            <a:ext cx="777240" cy="329184"/>
          </a:xfrm>
          <a:prstGeom prst="rect">
            <a:avLst/>
          </a:prstGeom>
          <a:noFill/>
          <a:ln/>
        </p:spPr>
        <p:txBody>
          <a:bodyPr wrap="square" lIns="0" tIns="0" rIns="0" bIns="0" rtlCol="0" anchor="ctr"/>
          <a:lstStyle/>
          <a:p>
            <a:pPr marL="0" indent="0" algn="ctr">
              <a:buNone/>
            </a:pPr>
            <a:r>
              <a:rPr lang="en-US" sz="1100" b="1" dirty="0">
                <a:solidFill>
                  <a:srgbClr val="3AD1E6"/>
                </a:solidFill>
                <a:latin typeface="Consolas" pitchFamily="34" charset="0"/>
                <a:ea typeface="Consolas" pitchFamily="34" charset="-122"/>
                <a:cs typeface="Consolas" pitchFamily="34" charset="-120"/>
              </a:rPr>
              <a:t>IN</a:t>
            </a:r>
            <a:endParaRPr lang="en-US" sz="1100" dirty="0"/>
          </a:p>
        </p:txBody>
      </p:sp>
      <p:sp>
        <p:nvSpPr>
          <p:cNvPr id="15" name="Text 13"/>
          <p:cNvSpPr/>
          <p:nvPr/>
        </p:nvSpPr>
        <p:spPr>
          <a:xfrm>
            <a:off x="1600200" y="2532888"/>
            <a:ext cx="3108960" cy="566928"/>
          </a:xfrm>
          <a:prstGeom prst="rect">
            <a:avLst/>
          </a:prstGeom>
          <a:noFill/>
          <a:ln/>
        </p:spPr>
        <p:txBody>
          <a:bodyPr wrap="square" lIns="0" tIns="0" rIns="0" bIns="0" rtlCol="0" anchor="ctr"/>
          <a:lstStyle/>
          <a:p>
            <a:pPr marL="0" indent="0" algn="l">
              <a:buNone/>
            </a:pPr>
            <a:r>
              <a:rPr lang="en-US" sz="1350" b="1" dirty="0">
                <a:solidFill>
                  <a:srgbClr val="FFFFFF"/>
                </a:solidFill>
                <a:latin typeface="Segoe UI" pitchFamily="34" charset="0"/>
                <a:ea typeface="Segoe UI" pitchFamily="34" charset="-122"/>
                <a:cs typeface="Segoe UI" pitchFamily="34" charset="-120"/>
              </a:rPr>
              <a:t>Implied spread ASK</a:t>
            </a:r>
            <a:endParaRPr lang="en-US" sz="1350" dirty="0"/>
          </a:p>
        </p:txBody>
      </p:sp>
      <p:sp>
        <p:nvSpPr>
          <p:cNvPr id="16" name="Text 14"/>
          <p:cNvSpPr/>
          <p:nvPr/>
        </p:nvSpPr>
        <p:spPr>
          <a:xfrm>
            <a:off x="4663440" y="2633472"/>
            <a:ext cx="3794760" cy="365760"/>
          </a:xfrm>
          <a:prstGeom prst="rect">
            <a:avLst/>
          </a:prstGeom>
          <a:noFill/>
          <a:ln/>
        </p:spPr>
        <p:txBody>
          <a:bodyPr wrap="square" lIns="0" tIns="0" rIns="0" bIns="0" rtlCol="0" anchor="ctr"/>
          <a:lstStyle/>
          <a:p>
            <a:pPr marL="0" indent="0" algn="l">
              <a:buNone/>
            </a:pPr>
            <a:r>
              <a:rPr lang="en-US" sz="1400" dirty="0">
                <a:solidFill>
                  <a:srgbClr val="D8DEE9"/>
                </a:solidFill>
                <a:latin typeface="Consolas" pitchFamily="34" charset="0"/>
                <a:ea typeface="Consolas" pitchFamily="34" charset="-122"/>
                <a:cs typeface="Consolas" pitchFamily="34" charset="-120"/>
              </a:rPr>
              <a:t>A ask  −  B bid</a:t>
            </a:r>
            <a:endParaRPr lang="en-US" sz="1400" dirty="0"/>
          </a:p>
        </p:txBody>
      </p:sp>
      <p:sp>
        <p:nvSpPr>
          <p:cNvPr id="17" name="panel">
            <a:extLst>
              <a:ext uri="{C183D7F6-B498-43B3-948B-1728B52AA6E4}">
                <adec:decorative xmlns:adec="http://schemas.microsoft.com/office/drawing/2017/decorative" val="1"/>
              </a:ext>
            </a:extLst>
          </p:cNvPr>
          <p:cNvSpPr/>
          <p:nvPr/>
        </p:nvSpPr>
        <p:spPr>
          <a:xfrm>
            <a:off x="502920" y="3191256"/>
            <a:ext cx="8092440" cy="566928"/>
          </a:xfrm>
          <a:prstGeom prst="roundRect">
            <a:avLst>
              <a:gd name="adj" fmla="val 9677"/>
            </a:avLst>
          </a:prstGeom>
          <a:solidFill>
            <a:srgbClr val="222B39"/>
          </a:solidFill>
          <a:ln w="12700">
            <a:solidFill>
              <a:srgbClr val="2C3644"/>
            </a:solidFill>
            <a:prstDash val="solid"/>
          </a:ln>
        </p:spPr>
        <p:txBody>
          <a:bodyPr/>
          <a:lstStyle/>
          <a:p>
            <a:endParaRPr lang="en-SE"/>
          </a:p>
        </p:txBody>
      </p:sp>
      <p:sp>
        <p:nvSpPr>
          <p:cNvPr id="18" name="chip">
            <a:extLst>
              <a:ext uri="{C183D7F6-B498-43B3-948B-1728B52AA6E4}">
                <adec:decorative xmlns:adec="http://schemas.microsoft.com/office/drawing/2017/decorative" val="1"/>
              </a:ext>
            </a:extLst>
          </p:cNvPr>
          <p:cNvSpPr/>
          <p:nvPr/>
        </p:nvSpPr>
        <p:spPr>
          <a:xfrm>
            <a:off x="640080" y="3310128"/>
            <a:ext cx="777240" cy="329184"/>
          </a:xfrm>
          <a:prstGeom prst="roundRect">
            <a:avLst>
              <a:gd name="adj" fmla="val 13889"/>
            </a:avLst>
          </a:prstGeom>
          <a:solidFill>
            <a:srgbClr val="1B212C"/>
          </a:solidFill>
          <a:ln w="12700">
            <a:solidFill>
              <a:srgbClr val="2C3644"/>
            </a:solidFill>
            <a:prstDash val="solid"/>
          </a:ln>
        </p:spPr>
        <p:txBody>
          <a:bodyPr/>
          <a:lstStyle/>
          <a:p>
            <a:endParaRPr lang="en-SE"/>
          </a:p>
        </p:txBody>
      </p:sp>
      <p:sp>
        <p:nvSpPr>
          <p:cNvPr id="19" name="Text 17"/>
          <p:cNvSpPr/>
          <p:nvPr/>
        </p:nvSpPr>
        <p:spPr>
          <a:xfrm>
            <a:off x="640080" y="3310128"/>
            <a:ext cx="777240" cy="329184"/>
          </a:xfrm>
          <a:prstGeom prst="rect">
            <a:avLst/>
          </a:prstGeom>
          <a:noFill/>
          <a:ln/>
        </p:spPr>
        <p:txBody>
          <a:bodyPr wrap="square" lIns="0" tIns="0" rIns="0" bIns="0" rtlCol="0" anchor="ctr"/>
          <a:lstStyle/>
          <a:p>
            <a:pPr marL="0" indent="0" algn="ctr">
              <a:buNone/>
            </a:pPr>
            <a:r>
              <a:rPr lang="en-US" sz="1100" b="1" dirty="0">
                <a:solidFill>
                  <a:srgbClr val="35E07E"/>
                </a:solidFill>
                <a:latin typeface="Consolas" pitchFamily="34" charset="0"/>
                <a:ea typeface="Consolas" pitchFamily="34" charset="-122"/>
                <a:cs typeface="Consolas" pitchFamily="34" charset="-120"/>
              </a:rPr>
              <a:t>OUT</a:t>
            </a:r>
            <a:endParaRPr lang="en-US" sz="1100" dirty="0"/>
          </a:p>
        </p:txBody>
      </p:sp>
      <p:sp>
        <p:nvSpPr>
          <p:cNvPr id="20" name="Text 18"/>
          <p:cNvSpPr/>
          <p:nvPr/>
        </p:nvSpPr>
        <p:spPr>
          <a:xfrm>
            <a:off x="1600200" y="3191256"/>
            <a:ext cx="3108960" cy="566928"/>
          </a:xfrm>
          <a:prstGeom prst="rect">
            <a:avLst/>
          </a:prstGeom>
          <a:noFill/>
          <a:ln/>
        </p:spPr>
        <p:txBody>
          <a:bodyPr wrap="square" lIns="0" tIns="0" rIns="0" bIns="0" rtlCol="0" anchor="ctr"/>
          <a:lstStyle/>
          <a:p>
            <a:pPr marL="0" indent="0" algn="l">
              <a:buNone/>
            </a:pPr>
            <a:r>
              <a:rPr lang="en-US" sz="1350" b="1" dirty="0">
                <a:solidFill>
                  <a:srgbClr val="FFFFFF"/>
                </a:solidFill>
                <a:latin typeface="Segoe UI" pitchFamily="34" charset="0"/>
                <a:ea typeface="Segoe UI" pitchFamily="34" charset="-122"/>
                <a:cs typeface="Segoe UI" pitchFamily="34" charset="-120"/>
              </a:rPr>
              <a:t>Implied A bid</a:t>
            </a:r>
            <a:endParaRPr lang="en-US" sz="1350" dirty="0"/>
          </a:p>
        </p:txBody>
      </p:sp>
      <p:sp>
        <p:nvSpPr>
          <p:cNvPr id="21" name="Text 19"/>
          <p:cNvSpPr/>
          <p:nvPr/>
        </p:nvSpPr>
        <p:spPr>
          <a:xfrm>
            <a:off x="4663440" y="3291840"/>
            <a:ext cx="3794760" cy="365760"/>
          </a:xfrm>
          <a:prstGeom prst="rect">
            <a:avLst/>
          </a:prstGeom>
          <a:noFill/>
          <a:ln/>
        </p:spPr>
        <p:txBody>
          <a:bodyPr wrap="square" lIns="0" tIns="0" rIns="0" bIns="0" rtlCol="0" anchor="ctr"/>
          <a:lstStyle/>
          <a:p>
            <a:pPr marL="0" indent="0" algn="l">
              <a:buNone/>
            </a:pPr>
            <a:r>
              <a:rPr lang="en-US" sz="1400" dirty="0">
                <a:solidFill>
                  <a:srgbClr val="D8DEE9"/>
                </a:solidFill>
                <a:latin typeface="Consolas" pitchFamily="34" charset="0"/>
                <a:ea typeface="Consolas" pitchFamily="34" charset="-122"/>
                <a:cs typeface="Consolas" pitchFamily="34" charset="-120"/>
              </a:rPr>
              <a:t>Spread bid  +  B bid</a:t>
            </a:r>
            <a:endParaRPr lang="en-US" sz="1400" dirty="0"/>
          </a:p>
        </p:txBody>
      </p:sp>
      <p:sp>
        <p:nvSpPr>
          <p:cNvPr id="22" name="panel">
            <a:extLst>
              <a:ext uri="{C183D7F6-B498-43B3-948B-1728B52AA6E4}">
                <adec:decorative xmlns:adec="http://schemas.microsoft.com/office/drawing/2017/decorative" val="1"/>
              </a:ext>
            </a:extLst>
          </p:cNvPr>
          <p:cNvSpPr/>
          <p:nvPr/>
        </p:nvSpPr>
        <p:spPr>
          <a:xfrm>
            <a:off x="502920" y="3849624"/>
            <a:ext cx="8092440" cy="566928"/>
          </a:xfrm>
          <a:prstGeom prst="roundRect">
            <a:avLst>
              <a:gd name="adj" fmla="val 9677"/>
            </a:avLst>
          </a:prstGeom>
          <a:solidFill>
            <a:srgbClr val="1B212C"/>
          </a:solidFill>
          <a:ln w="12700">
            <a:solidFill>
              <a:srgbClr val="2C3644"/>
            </a:solidFill>
            <a:prstDash val="solid"/>
          </a:ln>
        </p:spPr>
        <p:txBody>
          <a:bodyPr/>
          <a:lstStyle/>
          <a:p>
            <a:endParaRPr lang="en-SE"/>
          </a:p>
        </p:txBody>
      </p:sp>
      <p:sp>
        <p:nvSpPr>
          <p:cNvPr id="23" name="chip">
            <a:extLst>
              <a:ext uri="{C183D7F6-B498-43B3-948B-1728B52AA6E4}">
                <adec:decorative xmlns:adec="http://schemas.microsoft.com/office/drawing/2017/decorative" val="1"/>
              </a:ext>
            </a:extLst>
          </p:cNvPr>
          <p:cNvSpPr/>
          <p:nvPr/>
        </p:nvSpPr>
        <p:spPr>
          <a:xfrm>
            <a:off x="640080" y="3968496"/>
            <a:ext cx="777240" cy="329184"/>
          </a:xfrm>
          <a:prstGeom prst="roundRect">
            <a:avLst>
              <a:gd name="adj" fmla="val 13889"/>
            </a:avLst>
          </a:prstGeom>
          <a:solidFill>
            <a:srgbClr val="1B212C"/>
          </a:solidFill>
          <a:ln w="12700">
            <a:solidFill>
              <a:srgbClr val="2C3644"/>
            </a:solidFill>
            <a:prstDash val="solid"/>
          </a:ln>
        </p:spPr>
        <p:txBody>
          <a:bodyPr/>
          <a:lstStyle/>
          <a:p>
            <a:endParaRPr lang="en-SE"/>
          </a:p>
        </p:txBody>
      </p:sp>
      <p:sp>
        <p:nvSpPr>
          <p:cNvPr id="24" name="Text 22"/>
          <p:cNvSpPr/>
          <p:nvPr/>
        </p:nvSpPr>
        <p:spPr>
          <a:xfrm>
            <a:off x="640080" y="3968496"/>
            <a:ext cx="777240" cy="329184"/>
          </a:xfrm>
          <a:prstGeom prst="rect">
            <a:avLst/>
          </a:prstGeom>
          <a:noFill/>
          <a:ln/>
        </p:spPr>
        <p:txBody>
          <a:bodyPr wrap="square" lIns="0" tIns="0" rIns="0" bIns="0" rtlCol="0" anchor="ctr"/>
          <a:lstStyle/>
          <a:p>
            <a:pPr marL="0" indent="0" algn="ctr">
              <a:buNone/>
            </a:pPr>
            <a:r>
              <a:rPr lang="en-US" sz="1100" b="1" dirty="0">
                <a:solidFill>
                  <a:srgbClr val="35E07E"/>
                </a:solidFill>
                <a:latin typeface="Consolas" pitchFamily="34" charset="0"/>
                <a:ea typeface="Consolas" pitchFamily="34" charset="-122"/>
                <a:cs typeface="Consolas" pitchFamily="34" charset="-120"/>
              </a:rPr>
              <a:t>OUT</a:t>
            </a:r>
            <a:endParaRPr lang="en-US" sz="1100" dirty="0"/>
          </a:p>
        </p:txBody>
      </p:sp>
      <p:sp>
        <p:nvSpPr>
          <p:cNvPr id="25" name="Text 23"/>
          <p:cNvSpPr/>
          <p:nvPr/>
        </p:nvSpPr>
        <p:spPr>
          <a:xfrm>
            <a:off x="1600200" y="3849624"/>
            <a:ext cx="3108960" cy="566928"/>
          </a:xfrm>
          <a:prstGeom prst="rect">
            <a:avLst/>
          </a:prstGeom>
          <a:noFill/>
          <a:ln/>
        </p:spPr>
        <p:txBody>
          <a:bodyPr wrap="square" lIns="0" tIns="0" rIns="0" bIns="0" rtlCol="0" anchor="ctr"/>
          <a:lstStyle/>
          <a:p>
            <a:pPr marL="0" indent="0" algn="l">
              <a:buNone/>
            </a:pPr>
            <a:r>
              <a:rPr lang="en-US" sz="1350" b="1" dirty="0">
                <a:solidFill>
                  <a:srgbClr val="FFFFFF"/>
                </a:solidFill>
                <a:latin typeface="Segoe UI" pitchFamily="34" charset="0"/>
                <a:ea typeface="Segoe UI" pitchFamily="34" charset="-122"/>
                <a:cs typeface="Segoe UI" pitchFamily="34" charset="-120"/>
              </a:rPr>
              <a:t>Implied B ask</a:t>
            </a:r>
            <a:endParaRPr lang="en-US" sz="1350" dirty="0"/>
          </a:p>
        </p:txBody>
      </p:sp>
      <p:sp>
        <p:nvSpPr>
          <p:cNvPr id="26" name="Text 24"/>
          <p:cNvSpPr/>
          <p:nvPr/>
        </p:nvSpPr>
        <p:spPr>
          <a:xfrm>
            <a:off x="4663440" y="3950208"/>
            <a:ext cx="3794760" cy="365760"/>
          </a:xfrm>
          <a:prstGeom prst="rect">
            <a:avLst/>
          </a:prstGeom>
          <a:noFill/>
          <a:ln/>
        </p:spPr>
        <p:txBody>
          <a:bodyPr wrap="square" lIns="0" tIns="0" rIns="0" bIns="0" rtlCol="0" anchor="ctr"/>
          <a:lstStyle/>
          <a:p>
            <a:pPr marL="0" indent="0" algn="l">
              <a:buNone/>
            </a:pPr>
            <a:r>
              <a:rPr lang="en-US" sz="1400" dirty="0">
                <a:solidFill>
                  <a:srgbClr val="D8DEE9"/>
                </a:solidFill>
                <a:latin typeface="Consolas" pitchFamily="34" charset="0"/>
                <a:ea typeface="Consolas" pitchFamily="34" charset="-122"/>
                <a:cs typeface="Consolas" pitchFamily="34" charset="-120"/>
              </a:rPr>
              <a:t>A ask  −  Spread bid</a:t>
            </a:r>
            <a:endParaRPr lang="en-US" sz="1400" dirty="0"/>
          </a:p>
        </p:txBody>
      </p:sp>
      <p:sp>
        <p:nvSpPr>
          <p:cNvPr id="27" name="Text 25"/>
          <p:cNvSpPr/>
          <p:nvPr/>
        </p:nvSpPr>
        <p:spPr>
          <a:xfrm>
            <a:off x="502920" y="4526280"/>
            <a:ext cx="8046720" cy="274320"/>
          </a:xfrm>
          <a:prstGeom prst="rect">
            <a:avLst/>
          </a:prstGeom>
          <a:noFill/>
          <a:ln/>
        </p:spPr>
        <p:txBody>
          <a:bodyPr wrap="square" lIns="0" tIns="0" rIns="0" bIns="0" rtlCol="0" anchor="t"/>
          <a:lstStyle/>
          <a:p>
            <a:pPr marL="0" indent="0" algn="ctr">
              <a:buNone/>
            </a:pPr>
            <a:r>
              <a:rPr lang="en-US" sz="1150" i="1" dirty="0">
                <a:solidFill>
                  <a:srgbClr val="8B96A8"/>
                </a:solidFill>
                <a:latin typeface="Segoe UI" pitchFamily="34" charset="0"/>
                <a:ea typeface="Segoe UI" pitchFamily="34" charset="-122"/>
                <a:cs typeface="Segoe UI" pitchFamily="34" charset="-120"/>
              </a:rPr>
              <a:t>Same principle each time: reshuffle real orders across instruments so a price is guaranteed to be executable.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Implied OUT, in one line</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IMPLIED OUT · 5</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36</a:t>
            </a:r>
            <a:endParaRPr lang="en-US" sz="850" dirty="0"/>
          </a:p>
        </p:txBody>
      </p:sp>
      <p:sp>
        <p:nvSpPr>
          <p:cNvPr id="6" name="panel">
            <a:extLst>
              <a:ext uri="{C183D7F6-B498-43B3-948B-1728B52AA6E4}">
                <adec:decorative xmlns:adec="http://schemas.microsoft.com/office/drawing/2017/decorative" val="1"/>
              </a:ext>
            </a:extLst>
          </p:cNvPr>
          <p:cNvSpPr/>
          <p:nvPr/>
        </p:nvSpPr>
        <p:spPr>
          <a:xfrm>
            <a:off x="822960" y="1874520"/>
            <a:ext cx="7498080" cy="1097280"/>
          </a:xfrm>
          <a:prstGeom prst="roundRect">
            <a:avLst>
              <a:gd name="adj" fmla="val 5000"/>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1005840" y="2103120"/>
            <a:ext cx="7132320" cy="365760"/>
          </a:xfrm>
          <a:prstGeom prst="rect">
            <a:avLst/>
          </a:prstGeom>
          <a:noFill/>
          <a:ln/>
        </p:spPr>
        <p:txBody>
          <a:bodyPr wrap="square" lIns="0" tIns="0" rIns="0" bIns="0" rtlCol="0" anchor="ctr"/>
          <a:lstStyle/>
          <a:p>
            <a:pPr marL="0" indent="0" algn="ctr">
              <a:buNone/>
            </a:pPr>
            <a:r>
              <a:rPr lang="en-US" sz="2000" b="1" dirty="0">
                <a:solidFill>
                  <a:srgbClr val="35E07E"/>
                </a:solidFill>
                <a:latin typeface="Consolas" pitchFamily="34" charset="0"/>
                <a:ea typeface="Consolas" pitchFamily="34" charset="-122"/>
                <a:cs typeface="Consolas" pitchFamily="34" charset="-120"/>
              </a:rPr>
              <a:t>spread order + real leg</a:t>
            </a:r>
            <a:r>
              <a:rPr lang="en-US" sz="2000" dirty="0">
                <a:solidFill>
                  <a:srgbClr val="8B96A8"/>
                </a:solidFill>
                <a:latin typeface="Consolas" pitchFamily="34" charset="0"/>
                <a:ea typeface="Consolas" pitchFamily="34" charset="-122"/>
                <a:cs typeface="Consolas" pitchFamily="34" charset="-120"/>
              </a:rPr>
              <a:t>   →   </a:t>
            </a:r>
            <a:r>
              <a:rPr lang="en-US" sz="2000" b="1" dirty="0">
                <a:solidFill>
                  <a:srgbClr val="3AD1E6"/>
                </a:solidFill>
                <a:latin typeface="Consolas" pitchFamily="34" charset="0"/>
                <a:ea typeface="Consolas" pitchFamily="34" charset="-122"/>
                <a:cs typeface="Consolas" pitchFamily="34" charset="-120"/>
              </a:rPr>
              <a:t>implied outright quote</a:t>
            </a:r>
            <a:endParaRPr lang="en-US" sz="2000" dirty="0"/>
          </a:p>
        </p:txBody>
      </p:sp>
      <p:sp>
        <p:nvSpPr>
          <p:cNvPr id="8" name="Text 6"/>
          <p:cNvSpPr/>
          <p:nvPr/>
        </p:nvSpPr>
        <p:spPr>
          <a:xfrm>
            <a:off x="1005840" y="2743200"/>
            <a:ext cx="7132320" cy="274320"/>
          </a:xfrm>
          <a:prstGeom prst="rect">
            <a:avLst/>
          </a:prstGeom>
          <a:noFill/>
          <a:ln/>
        </p:spPr>
        <p:txBody>
          <a:bodyPr wrap="square" lIns="0" tIns="0" rIns="0" bIns="0" rtlCol="0" anchor="t"/>
          <a:lstStyle/>
          <a:p>
            <a:pPr marL="0" indent="0" algn="ctr">
              <a:buNone/>
            </a:pPr>
            <a:r>
              <a:rPr lang="en-US" sz="1250" i="1" dirty="0">
                <a:solidFill>
                  <a:srgbClr val="8B96A8"/>
                </a:solidFill>
                <a:latin typeface="Segoe UI" pitchFamily="34" charset="0"/>
                <a:ea typeface="Segoe UI" pitchFamily="34" charset="-122"/>
                <a:cs typeface="Segoe UI" pitchFamily="34" charset="-120"/>
              </a:rPr>
              <a:t>“OUT” because liquidity flows OUT of the combined instrument into an outright leg.</a:t>
            </a:r>
            <a:endParaRPr lang="en-US" sz="1250" dirty="0"/>
          </a:p>
        </p:txBody>
      </p:sp>
      <p:sp>
        <p:nvSpPr>
          <p:cNvPr id="9" name="panel">
            <a:extLst>
              <a:ext uri="{C183D7F6-B498-43B3-948B-1728B52AA6E4}">
                <adec:decorative xmlns:adec="http://schemas.microsoft.com/office/drawing/2017/decorative" val="1"/>
              </a:ext>
            </a:extLst>
          </p:cNvPr>
          <p:cNvSpPr/>
          <p:nvPr/>
        </p:nvSpPr>
        <p:spPr>
          <a:xfrm>
            <a:off x="822960" y="3291840"/>
            <a:ext cx="7498080" cy="1097280"/>
          </a:xfrm>
          <a:prstGeom prst="roundRect">
            <a:avLst>
              <a:gd name="adj" fmla="val 5000"/>
            </a:avLst>
          </a:prstGeom>
          <a:solidFill>
            <a:srgbClr val="10251C"/>
          </a:solidFill>
          <a:ln w="12700">
            <a:solidFill>
              <a:srgbClr val="3AD1E6"/>
            </a:solidFill>
            <a:prstDash val="solid"/>
          </a:ln>
        </p:spPr>
        <p:txBody>
          <a:bodyPr/>
          <a:lstStyle/>
          <a:p>
            <a:endParaRPr lang="en-SE"/>
          </a:p>
        </p:txBody>
      </p:sp>
      <p:sp>
        <p:nvSpPr>
          <p:cNvPr id="10" name="Text 8"/>
          <p:cNvSpPr/>
          <p:nvPr/>
        </p:nvSpPr>
        <p:spPr>
          <a:xfrm>
            <a:off x="1097280" y="3401568"/>
            <a:ext cx="6949440" cy="914400"/>
          </a:xfrm>
          <a:prstGeom prst="rect">
            <a:avLst/>
          </a:prstGeom>
          <a:noFill/>
          <a:ln/>
        </p:spPr>
        <p:txBody>
          <a:bodyPr wrap="square" lIns="0" tIns="0" rIns="0" bIns="0" rtlCol="0" anchor="ctr"/>
          <a:lstStyle/>
          <a:p>
            <a:pPr marL="0" indent="0" algn="ctr">
              <a:lnSpc>
                <a:spcPts val="2000"/>
              </a:lnSpc>
              <a:buNone/>
            </a:pPr>
            <a:r>
              <a:rPr lang="en-US" sz="1450" b="1" dirty="0">
                <a:solidFill>
                  <a:srgbClr val="FFFFFF"/>
                </a:solidFill>
                <a:latin typeface="Segoe UI" pitchFamily="34" charset="0"/>
                <a:ea typeface="Segoe UI" pitchFamily="34" charset="-122"/>
                <a:cs typeface="Segoe UI" pitchFamily="34" charset="-120"/>
              </a:rPr>
              <a:t>IN and OUT are two directions of the same bridge. Together they keep every related book in sync — automatically.</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V</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Why it's so powerful</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In combination, implication makes markets tighter, deeper-looking, and more likely to fill.</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Tighter markets and better fills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PAYOFF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38</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Add implied quotes to a book and the best bid/ask can only stay the same or improve.</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1920240"/>
            <a:ext cx="3840480" cy="2194560"/>
          </a:xfrm>
          <a:prstGeom prst="roundRect">
            <a:avLst>
              <a:gd name="adj" fmla="val 2500"/>
            </a:avLst>
          </a:prstGeom>
          <a:solidFill>
            <a:srgbClr val="1B212C"/>
          </a:solidFill>
          <a:ln w="12700">
            <a:solidFill>
              <a:srgbClr val="8B96A8"/>
            </a:solidFill>
            <a:prstDash val="solid"/>
          </a:ln>
        </p:spPr>
        <p:txBody>
          <a:bodyPr/>
          <a:lstStyle/>
          <a:p>
            <a:endParaRPr lang="en-SE"/>
          </a:p>
        </p:txBody>
      </p:sp>
      <p:sp>
        <p:nvSpPr>
          <p:cNvPr id="8" name="Text 6"/>
          <p:cNvSpPr/>
          <p:nvPr/>
        </p:nvSpPr>
        <p:spPr>
          <a:xfrm>
            <a:off x="685800" y="2057400"/>
            <a:ext cx="3474720" cy="274320"/>
          </a:xfrm>
          <a:prstGeom prst="rect">
            <a:avLst/>
          </a:prstGeom>
          <a:noFill/>
          <a:ln/>
        </p:spPr>
        <p:txBody>
          <a:bodyPr wrap="square" lIns="0" tIns="0" rIns="0" bIns="0" rtlCol="0" anchor="t"/>
          <a:lstStyle/>
          <a:p>
            <a:pPr marL="0" indent="0" algn="l">
              <a:buNone/>
            </a:pPr>
            <a:r>
              <a:rPr lang="en-US" sz="1100" b="1" kern="0" spc="100" dirty="0">
                <a:solidFill>
                  <a:srgbClr val="8B96A8"/>
                </a:solidFill>
                <a:latin typeface="Segoe UI" pitchFamily="34" charset="0"/>
                <a:ea typeface="Segoe UI" pitchFamily="34" charset="-122"/>
                <a:cs typeface="Segoe UI" pitchFamily="34" charset="-120"/>
              </a:rPr>
              <a:t>REAL ONLY</a:t>
            </a:r>
            <a:endParaRPr lang="en-US" sz="1100" dirty="0"/>
          </a:p>
        </p:txBody>
      </p:sp>
      <p:sp>
        <p:nvSpPr>
          <p:cNvPr id="9" name="Text 7"/>
          <p:cNvSpPr/>
          <p:nvPr/>
        </p:nvSpPr>
        <p:spPr>
          <a:xfrm>
            <a:off x="777240" y="2514600"/>
            <a:ext cx="1371600" cy="274320"/>
          </a:xfrm>
          <a:prstGeom prst="rect">
            <a:avLst/>
          </a:prstGeom>
          <a:noFill/>
          <a:ln/>
        </p:spPr>
        <p:txBody>
          <a:bodyPr wrap="square" lIns="0" tIns="0" rIns="0" bIns="0" rtlCol="0" anchor="t"/>
          <a:lstStyle/>
          <a:p>
            <a:pPr marL="0" indent="0" algn="l">
              <a:buNone/>
            </a:pPr>
            <a:r>
              <a:rPr lang="en-US" sz="1100" dirty="0">
                <a:solidFill>
                  <a:srgbClr val="35E07E"/>
                </a:solidFill>
                <a:latin typeface="Segoe UI" pitchFamily="34" charset="0"/>
                <a:ea typeface="Segoe UI" pitchFamily="34" charset="-122"/>
                <a:cs typeface="Segoe UI" pitchFamily="34" charset="-120"/>
              </a:rPr>
              <a:t>BID</a:t>
            </a:r>
            <a:endParaRPr lang="en-US" sz="1100" dirty="0"/>
          </a:p>
        </p:txBody>
      </p:sp>
      <p:sp>
        <p:nvSpPr>
          <p:cNvPr id="10" name="Text 8"/>
          <p:cNvSpPr/>
          <p:nvPr/>
        </p:nvSpPr>
        <p:spPr>
          <a:xfrm>
            <a:off x="777240" y="2743200"/>
            <a:ext cx="1463040" cy="457200"/>
          </a:xfrm>
          <a:prstGeom prst="rect">
            <a:avLst/>
          </a:prstGeom>
          <a:noFill/>
          <a:ln/>
        </p:spPr>
        <p:txBody>
          <a:bodyPr wrap="square" lIns="0" tIns="0" rIns="0" bIns="0" rtlCol="0" anchor="t"/>
          <a:lstStyle/>
          <a:p>
            <a:pPr marL="0" indent="0" algn="l">
              <a:buNone/>
            </a:pPr>
            <a:r>
              <a:rPr lang="en-US" sz="2600" b="1" dirty="0">
                <a:solidFill>
                  <a:srgbClr val="35E07E"/>
                </a:solidFill>
                <a:latin typeface="Consolas" pitchFamily="34" charset="0"/>
                <a:ea typeface="Consolas" pitchFamily="34" charset="-122"/>
                <a:cs typeface="Consolas" pitchFamily="34" charset="-120"/>
              </a:rPr>
              <a:t>98</a:t>
            </a:r>
            <a:endParaRPr lang="en-US" sz="2600" dirty="0"/>
          </a:p>
        </p:txBody>
      </p:sp>
      <p:sp>
        <p:nvSpPr>
          <p:cNvPr id="11" name="Text 9"/>
          <p:cNvSpPr/>
          <p:nvPr/>
        </p:nvSpPr>
        <p:spPr>
          <a:xfrm>
            <a:off x="2606040" y="2514600"/>
            <a:ext cx="1371600" cy="274320"/>
          </a:xfrm>
          <a:prstGeom prst="rect">
            <a:avLst/>
          </a:prstGeom>
          <a:noFill/>
          <a:ln/>
        </p:spPr>
        <p:txBody>
          <a:bodyPr wrap="square" lIns="0" tIns="0" rIns="0" bIns="0" rtlCol="0" anchor="t"/>
          <a:lstStyle/>
          <a:p>
            <a:pPr marL="0" indent="0" algn="l">
              <a:buNone/>
            </a:pPr>
            <a:r>
              <a:rPr lang="en-US" sz="1100" dirty="0">
                <a:solidFill>
                  <a:srgbClr val="FF5C6C"/>
                </a:solidFill>
                <a:latin typeface="Segoe UI" pitchFamily="34" charset="0"/>
                <a:ea typeface="Segoe UI" pitchFamily="34" charset="-122"/>
                <a:cs typeface="Segoe UI" pitchFamily="34" charset="-120"/>
              </a:rPr>
              <a:t>ASK</a:t>
            </a:r>
            <a:endParaRPr lang="en-US" sz="1100" dirty="0"/>
          </a:p>
        </p:txBody>
      </p:sp>
      <p:sp>
        <p:nvSpPr>
          <p:cNvPr id="12" name="Text 10"/>
          <p:cNvSpPr/>
          <p:nvPr/>
        </p:nvSpPr>
        <p:spPr>
          <a:xfrm>
            <a:off x="2606040" y="2743200"/>
            <a:ext cx="1463040" cy="457200"/>
          </a:xfrm>
          <a:prstGeom prst="rect">
            <a:avLst/>
          </a:prstGeom>
          <a:noFill/>
          <a:ln/>
        </p:spPr>
        <p:txBody>
          <a:bodyPr wrap="square" lIns="0" tIns="0" rIns="0" bIns="0" rtlCol="0" anchor="t"/>
          <a:lstStyle/>
          <a:p>
            <a:pPr marL="0" indent="0" algn="l">
              <a:buNone/>
            </a:pPr>
            <a:r>
              <a:rPr lang="en-US" sz="2600" b="1" dirty="0">
                <a:solidFill>
                  <a:srgbClr val="FF5C6C"/>
                </a:solidFill>
                <a:latin typeface="Consolas" pitchFamily="34" charset="0"/>
                <a:ea typeface="Consolas" pitchFamily="34" charset="-122"/>
                <a:cs typeface="Consolas" pitchFamily="34" charset="-120"/>
              </a:rPr>
              <a:t>101</a:t>
            </a:r>
            <a:endParaRPr lang="en-US" sz="2600" dirty="0"/>
          </a:p>
        </p:txBody>
      </p:sp>
      <p:sp>
        <p:nvSpPr>
          <p:cNvPr id="13" name="Text 11"/>
          <p:cNvSpPr/>
          <p:nvPr/>
        </p:nvSpPr>
        <p:spPr>
          <a:xfrm>
            <a:off x="777240" y="3429000"/>
            <a:ext cx="3291840" cy="365760"/>
          </a:xfrm>
          <a:prstGeom prst="rect">
            <a:avLst/>
          </a:prstGeom>
          <a:noFill/>
          <a:ln/>
        </p:spPr>
        <p:txBody>
          <a:bodyPr wrap="square" lIns="0" tIns="0" rIns="0" bIns="0" rtlCol="0" anchor="t"/>
          <a:lstStyle/>
          <a:p>
            <a:pPr marL="0" indent="0" algn="l">
              <a:buNone/>
            </a:pPr>
            <a:r>
              <a:rPr lang="en-US" sz="1500" b="1" dirty="0">
                <a:solidFill>
                  <a:srgbClr val="8B96A8"/>
                </a:solidFill>
                <a:latin typeface="Consolas" pitchFamily="34" charset="0"/>
                <a:ea typeface="Consolas" pitchFamily="34" charset="-122"/>
                <a:cs typeface="Consolas" pitchFamily="34" charset="-120"/>
              </a:rPr>
              <a:t>spread = 3</a:t>
            </a:r>
            <a:endParaRPr lang="en-US" sz="1500" dirty="0"/>
          </a:p>
        </p:txBody>
      </p:sp>
      <p:sp>
        <p:nvSpPr>
          <p:cNvPr id="14" name="panel">
            <a:extLst>
              <a:ext uri="{C183D7F6-B498-43B3-948B-1728B52AA6E4}">
                <adec:decorative xmlns:adec="http://schemas.microsoft.com/office/drawing/2017/decorative" val="1"/>
              </a:ext>
            </a:extLst>
          </p:cNvPr>
          <p:cNvSpPr/>
          <p:nvPr/>
        </p:nvSpPr>
        <p:spPr>
          <a:xfrm>
            <a:off x="4754880" y="1920240"/>
            <a:ext cx="3840480" cy="2194560"/>
          </a:xfrm>
          <a:prstGeom prst="roundRect">
            <a:avLst>
              <a:gd name="adj" fmla="val 2500"/>
            </a:avLst>
          </a:prstGeom>
          <a:solidFill>
            <a:srgbClr val="10251C"/>
          </a:solidFill>
          <a:ln w="12700">
            <a:solidFill>
              <a:srgbClr val="3AD1E6"/>
            </a:solidFill>
            <a:prstDash val="solid"/>
          </a:ln>
        </p:spPr>
        <p:txBody>
          <a:bodyPr/>
          <a:lstStyle/>
          <a:p>
            <a:endParaRPr lang="en-SE"/>
          </a:p>
        </p:txBody>
      </p:sp>
      <p:sp>
        <p:nvSpPr>
          <p:cNvPr id="15" name="Text 13"/>
          <p:cNvSpPr/>
          <p:nvPr/>
        </p:nvSpPr>
        <p:spPr>
          <a:xfrm>
            <a:off x="4937760" y="2057400"/>
            <a:ext cx="3474720" cy="274320"/>
          </a:xfrm>
          <a:prstGeom prst="rect">
            <a:avLst/>
          </a:prstGeom>
          <a:noFill/>
          <a:ln/>
        </p:spPr>
        <p:txBody>
          <a:bodyPr wrap="square" lIns="0" tIns="0" rIns="0" bIns="0" rtlCol="0" anchor="t"/>
          <a:lstStyle/>
          <a:p>
            <a:pPr marL="0" indent="0" algn="l">
              <a:buNone/>
            </a:pPr>
            <a:r>
              <a:rPr lang="en-US" sz="1100" b="1" kern="0" spc="100" dirty="0">
                <a:solidFill>
                  <a:srgbClr val="3AD1E6"/>
                </a:solidFill>
                <a:latin typeface="Segoe UI" pitchFamily="34" charset="0"/>
                <a:ea typeface="Segoe UI" pitchFamily="34" charset="-122"/>
                <a:cs typeface="Segoe UI" pitchFamily="34" charset="-120"/>
              </a:rPr>
              <a:t>REAL + IMPLIED</a:t>
            </a:r>
            <a:endParaRPr lang="en-US" sz="1100" dirty="0"/>
          </a:p>
        </p:txBody>
      </p:sp>
      <p:sp>
        <p:nvSpPr>
          <p:cNvPr id="16" name="Text 14"/>
          <p:cNvSpPr/>
          <p:nvPr/>
        </p:nvSpPr>
        <p:spPr>
          <a:xfrm>
            <a:off x="5029200" y="2514600"/>
            <a:ext cx="1371600" cy="274320"/>
          </a:xfrm>
          <a:prstGeom prst="rect">
            <a:avLst/>
          </a:prstGeom>
          <a:noFill/>
          <a:ln/>
        </p:spPr>
        <p:txBody>
          <a:bodyPr wrap="square" lIns="0" tIns="0" rIns="0" bIns="0" rtlCol="0" anchor="t"/>
          <a:lstStyle/>
          <a:p>
            <a:pPr marL="0" indent="0" algn="l">
              <a:buNone/>
            </a:pPr>
            <a:r>
              <a:rPr lang="en-US" sz="1100" dirty="0">
                <a:solidFill>
                  <a:srgbClr val="35E07E"/>
                </a:solidFill>
                <a:latin typeface="Segoe UI" pitchFamily="34" charset="0"/>
                <a:ea typeface="Segoe UI" pitchFamily="34" charset="-122"/>
                <a:cs typeface="Segoe UI" pitchFamily="34" charset="-120"/>
              </a:rPr>
              <a:t>BID</a:t>
            </a:r>
            <a:endParaRPr lang="en-US" sz="1100" dirty="0"/>
          </a:p>
        </p:txBody>
      </p:sp>
      <p:sp>
        <p:nvSpPr>
          <p:cNvPr id="17" name="Text 15"/>
          <p:cNvSpPr/>
          <p:nvPr/>
        </p:nvSpPr>
        <p:spPr>
          <a:xfrm>
            <a:off x="5029200" y="2743200"/>
            <a:ext cx="1463040" cy="457200"/>
          </a:xfrm>
          <a:prstGeom prst="rect">
            <a:avLst/>
          </a:prstGeom>
          <a:noFill/>
          <a:ln/>
        </p:spPr>
        <p:txBody>
          <a:bodyPr wrap="square" lIns="0" tIns="0" rIns="0" bIns="0" rtlCol="0" anchor="t"/>
          <a:lstStyle/>
          <a:p>
            <a:pPr marL="0" indent="0" algn="l">
              <a:buNone/>
            </a:pPr>
            <a:r>
              <a:rPr lang="en-US" sz="2600" b="1" dirty="0">
                <a:solidFill>
                  <a:srgbClr val="35E07E"/>
                </a:solidFill>
                <a:latin typeface="Consolas" pitchFamily="34" charset="0"/>
                <a:ea typeface="Consolas" pitchFamily="34" charset="-122"/>
                <a:cs typeface="Consolas" pitchFamily="34" charset="-120"/>
              </a:rPr>
              <a:t>99</a:t>
            </a:r>
            <a:endParaRPr lang="en-US" sz="2600" dirty="0"/>
          </a:p>
        </p:txBody>
      </p:sp>
      <p:sp>
        <p:nvSpPr>
          <p:cNvPr id="18" name="Text 16"/>
          <p:cNvSpPr/>
          <p:nvPr/>
        </p:nvSpPr>
        <p:spPr>
          <a:xfrm>
            <a:off x="6858000" y="2514600"/>
            <a:ext cx="1371600" cy="274320"/>
          </a:xfrm>
          <a:prstGeom prst="rect">
            <a:avLst/>
          </a:prstGeom>
          <a:noFill/>
          <a:ln/>
        </p:spPr>
        <p:txBody>
          <a:bodyPr wrap="square" lIns="0" tIns="0" rIns="0" bIns="0" rtlCol="0" anchor="t"/>
          <a:lstStyle/>
          <a:p>
            <a:pPr marL="0" indent="0" algn="l">
              <a:buNone/>
            </a:pPr>
            <a:r>
              <a:rPr lang="en-US" sz="1100" dirty="0">
                <a:solidFill>
                  <a:srgbClr val="FF5C6C"/>
                </a:solidFill>
                <a:latin typeface="Segoe UI" pitchFamily="34" charset="0"/>
                <a:ea typeface="Segoe UI" pitchFamily="34" charset="-122"/>
                <a:cs typeface="Segoe UI" pitchFamily="34" charset="-120"/>
              </a:rPr>
              <a:t>ASK</a:t>
            </a:r>
            <a:endParaRPr lang="en-US" sz="1100" dirty="0"/>
          </a:p>
        </p:txBody>
      </p:sp>
      <p:sp>
        <p:nvSpPr>
          <p:cNvPr id="19" name="Text 17"/>
          <p:cNvSpPr/>
          <p:nvPr/>
        </p:nvSpPr>
        <p:spPr>
          <a:xfrm>
            <a:off x="6858000" y="2743200"/>
            <a:ext cx="1463040" cy="457200"/>
          </a:xfrm>
          <a:prstGeom prst="rect">
            <a:avLst/>
          </a:prstGeom>
          <a:noFill/>
          <a:ln/>
        </p:spPr>
        <p:txBody>
          <a:bodyPr wrap="square" lIns="0" tIns="0" rIns="0" bIns="0" rtlCol="0" anchor="t"/>
          <a:lstStyle/>
          <a:p>
            <a:pPr marL="0" indent="0" algn="l">
              <a:buNone/>
            </a:pPr>
            <a:r>
              <a:rPr lang="en-US" sz="2600" b="1" dirty="0">
                <a:solidFill>
                  <a:srgbClr val="FF5C6C"/>
                </a:solidFill>
                <a:latin typeface="Consolas" pitchFamily="34" charset="0"/>
                <a:ea typeface="Consolas" pitchFamily="34" charset="-122"/>
                <a:cs typeface="Consolas" pitchFamily="34" charset="-120"/>
              </a:rPr>
              <a:t>100</a:t>
            </a:r>
            <a:endParaRPr lang="en-US" sz="2600" dirty="0"/>
          </a:p>
        </p:txBody>
      </p:sp>
      <p:sp>
        <p:nvSpPr>
          <p:cNvPr id="20" name="Text 18"/>
          <p:cNvSpPr/>
          <p:nvPr/>
        </p:nvSpPr>
        <p:spPr>
          <a:xfrm>
            <a:off x="5029200" y="3429000"/>
            <a:ext cx="3291840" cy="365760"/>
          </a:xfrm>
          <a:prstGeom prst="rect">
            <a:avLst/>
          </a:prstGeom>
          <a:noFill/>
          <a:ln/>
        </p:spPr>
        <p:txBody>
          <a:bodyPr wrap="square" lIns="0" tIns="0" rIns="0" bIns="0" rtlCol="0" anchor="t"/>
          <a:lstStyle/>
          <a:p>
            <a:pPr marL="0" indent="0" algn="l">
              <a:buNone/>
            </a:pPr>
            <a:r>
              <a:rPr lang="en-US" sz="1500" b="1" dirty="0">
                <a:solidFill>
                  <a:srgbClr val="3AD1E6"/>
                </a:solidFill>
                <a:latin typeface="Consolas" pitchFamily="34" charset="0"/>
                <a:ea typeface="Consolas" pitchFamily="34" charset="-122"/>
                <a:cs typeface="Consolas" pitchFamily="34" charset="-120"/>
              </a:rPr>
              <a:t>spread = 1</a:t>
            </a:r>
            <a:endParaRPr lang="en-US" sz="1500" dirty="0"/>
          </a:p>
        </p:txBody>
      </p:sp>
      <p:sp>
        <p:nvSpPr>
          <p:cNvPr id="21" name="arrow">
            <a:extLst>
              <a:ext uri="{C183D7F6-B498-43B3-948B-1728B52AA6E4}">
                <adec:decorative xmlns:adec="http://schemas.microsoft.com/office/drawing/2017/decorative" val="1"/>
              </a:ext>
            </a:extLst>
          </p:cNvPr>
          <p:cNvSpPr/>
          <p:nvPr/>
        </p:nvSpPr>
        <p:spPr>
          <a:xfrm>
            <a:off x="4389120" y="3017520"/>
            <a:ext cx="320040" cy="0"/>
          </a:xfrm>
          <a:prstGeom prst="line">
            <a:avLst/>
          </a:prstGeom>
          <a:noFill/>
          <a:ln w="31750">
            <a:solidFill>
              <a:srgbClr val="3AD1E6"/>
            </a:solidFill>
            <a:prstDash val="solid"/>
            <a:tailEnd type="triangle"/>
          </a:ln>
        </p:spPr>
        <p:txBody>
          <a:bodyPr/>
          <a:lstStyle/>
          <a:p>
            <a:endParaRPr lang="en-SE"/>
          </a:p>
        </p:txBody>
      </p:sp>
      <p:sp>
        <p:nvSpPr>
          <p:cNvPr id="22" name="Text 20"/>
          <p:cNvSpPr/>
          <p:nvPr/>
        </p:nvSpPr>
        <p:spPr>
          <a:xfrm>
            <a:off x="502920" y="4297680"/>
            <a:ext cx="8046720" cy="320040"/>
          </a:xfrm>
          <a:prstGeom prst="rect">
            <a:avLst/>
          </a:prstGeom>
          <a:noFill/>
          <a:ln/>
        </p:spPr>
        <p:txBody>
          <a:bodyPr wrap="square" lIns="0" tIns="0" rIns="0" bIns="0" rtlCol="0" anchor="t"/>
          <a:lstStyle/>
          <a:p>
            <a:pPr marL="0" indent="0" algn="ctr">
              <a:buNone/>
            </a:pPr>
            <a:r>
              <a:rPr lang="en-US" sz="1200" i="1" dirty="0">
                <a:solidFill>
                  <a:srgbClr val="8B96A8"/>
                </a:solidFill>
                <a:latin typeface="Segoe UI" pitchFamily="34" charset="0"/>
                <a:ea typeface="Segoe UI" pitchFamily="34" charset="-122"/>
                <a:cs typeface="Segoe UI" pitchFamily="34" charset="-120"/>
              </a:rPr>
              <a:t>Same underlying orders — a 3-wide market becomes 1-wide. Takers pay less to cross.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One trade, a whole web of linked books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PAYOFF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39</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00" dirty="0">
                <a:solidFill>
                  <a:srgbClr val="D8DEE9"/>
                </a:solidFill>
                <a:latin typeface="Segoe UI" pitchFamily="34" charset="0"/>
                <a:ea typeface="Segoe UI" pitchFamily="34" charset="-122"/>
                <a:cs typeface="Segoe UI" pitchFamily="34" charset="-120"/>
              </a:rPr>
              <a:t>In a strip of months, every outright and every spread implies into the others — a connected mesh.</a:t>
            </a:r>
            <a:endParaRPr lang="en-US" sz="1300" dirty="0"/>
          </a:p>
        </p:txBody>
      </p:sp>
      <p:sp>
        <p:nvSpPr>
          <p:cNvPr id="7" name="link">
            <a:extLst>
              <a:ext uri="{C183D7F6-B498-43B3-948B-1728B52AA6E4}">
                <adec:decorative xmlns:adec="http://schemas.microsoft.com/office/drawing/2017/decorative" val="1"/>
              </a:ext>
            </a:extLst>
          </p:cNvPr>
          <p:cNvSpPr/>
          <p:nvPr/>
        </p:nvSpPr>
        <p:spPr>
          <a:xfrm>
            <a:off x="2240280" y="2487168"/>
            <a:ext cx="914400" cy="1097280"/>
          </a:xfrm>
          <a:prstGeom prst="line">
            <a:avLst/>
          </a:prstGeom>
          <a:noFill/>
          <a:ln w="15240">
            <a:solidFill>
              <a:srgbClr val="2C3644"/>
            </a:solidFill>
            <a:prstDash val="solid"/>
          </a:ln>
        </p:spPr>
        <p:txBody>
          <a:bodyPr/>
          <a:lstStyle/>
          <a:p>
            <a:endParaRPr lang="en-SE"/>
          </a:p>
        </p:txBody>
      </p:sp>
      <p:sp>
        <p:nvSpPr>
          <p:cNvPr id="8" name="link">
            <a:extLst>
              <a:ext uri="{C183D7F6-B498-43B3-948B-1728B52AA6E4}">
                <adec:decorative xmlns:adec="http://schemas.microsoft.com/office/drawing/2017/decorative" val="1"/>
              </a:ext>
            </a:extLst>
          </p:cNvPr>
          <p:cNvSpPr/>
          <p:nvPr/>
        </p:nvSpPr>
        <p:spPr>
          <a:xfrm flipV="1">
            <a:off x="3154680" y="2121408"/>
            <a:ext cx="1097280" cy="1463040"/>
          </a:xfrm>
          <a:prstGeom prst="line">
            <a:avLst/>
          </a:prstGeom>
          <a:noFill/>
          <a:ln w="15240">
            <a:solidFill>
              <a:srgbClr val="2C3644"/>
            </a:solidFill>
            <a:prstDash val="solid"/>
          </a:ln>
        </p:spPr>
        <p:txBody>
          <a:bodyPr/>
          <a:lstStyle/>
          <a:p>
            <a:endParaRPr lang="en-SE"/>
          </a:p>
        </p:txBody>
      </p:sp>
      <p:sp>
        <p:nvSpPr>
          <p:cNvPr id="9" name="link">
            <a:extLst>
              <a:ext uri="{C183D7F6-B498-43B3-948B-1728B52AA6E4}">
                <adec:decorative xmlns:adec="http://schemas.microsoft.com/office/drawing/2017/decorative" val="1"/>
              </a:ext>
            </a:extLst>
          </p:cNvPr>
          <p:cNvSpPr/>
          <p:nvPr/>
        </p:nvSpPr>
        <p:spPr>
          <a:xfrm>
            <a:off x="4251960" y="2121408"/>
            <a:ext cx="1005840" cy="1371600"/>
          </a:xfrm>
          <a:prstGeom prst="line">
            <a:avLst/>
          </a:prstGeom>
          <a:noFill/>
          <a:ln w="15240">
            <a:solidFill>
              <a:srgbClr val="2C3644"/>
            </a:solidFill>
            <a:prstDash val="solid"/>
          </a:ln>
        </p:spPr>
        <p:txBody>
          <a:bodyPr/>
          <a:lstStyle/>
          <a:p>
            <a:endParaRPr lang="en-SE"/>
          </a:p>
        </p:txBody>
      </p:sp>
      <p:sp>
        <p:nvSpPr>
          <p:cNvPr id="10" name="link">
            <a:extLst>
              <a:ext uri="{C183D7F6-B498-43B3-948B-1728B52AA6E4}">
                <adec:decorative xmlns:adec="http://schemas.microsoft.com/office/drawing/2017/decorative" val="1"/>
              </a:ext>
            </a:extLst>
          </p:cNvPr>
          <p:cNvSpPr/>
          <p:nvPr/>
        </p:nvSpPr>
        <p:spPr>
          <a:xfrm flipV="1">
            <a:off x="5257800" y="2487168"/>
            <a:ext cx="1005840" cy="1005840"/>
          </a:xfrm>
          <a:prstGeom prst="line">
            <a:avLst/>
          </a:prstGeom>
          <a:noFill/>
          <a:ln w="15240">
            <a:solidFill>
              <a:srgbClr val="2C3644"/>
            </a:solidFill>
            <a:prstDash val="solid"/>
          </a:ln>
        </p:spPr>
        <p:txBody>
          <a:bodyPr/>
          <a:lstStyle/>
          <a:p>
            <a:endParaRPr lang="en-SE"/>
          </a:p>
        </p:txBody>
      </p:sp>
      <p:sp>
        <p:nvSpPr>
          <p:cNvPr id="11" name="link">
            <a:extLst>
              <a:ext uri="{C183D7F6-B498-43B3-948B-1728B52AA6E4}">
                <adec:decorative xmlns:adec="http://schemas.microsoft.com/office/drawing/2017/decorative" val="1"/>
              </a:ext>
            </a:extLst>
          </p:cNvPr>
          <p:cNvSpPr/>
          <p:nvPr/>
        </p:nvSpPr>
        <p:spPr>
          <a:xfrm>
            <a:off x="6263640" y="2487168"/>
            <a:ext cx="548640" cy="1554480"/>
          </a:xfrm>
          <a:prstGeom prst="line">
            <a:avLst/>
          </a:prstGeom>
          <a:noFill/>
          <a:ln w="15240">
            <a:solidFill>
              <a:srgbClr val="2C3644"/>
            </a:solidFill>
            <a:prstDash val="solid"/>
          </a:ln>
        </p:spPr>
        <p:txBody>
          <a:bodyPr/>
          <a:lstStyle/>
          <a:p>
            <a:endParaRPr lang="en-SE"/>
          </a:p>
        </p:txBody>
      </p:sp>
      <p:sp>
        <p:nvSpPr>
          <p:cNvPr id="12" name="link">
            <a:extLst>
              <a:ext uri="{C183D7F6-B498-43B3-948B-1728B52AA6E4}">
                <adec:decorative xmlns:adec="http://schemas.microsoft.com/office/drawing/2017/decorative" val="1"/>
              </a:ext>
            </a:extLst>
          </p:cNvPr>
          <p:cNvSpPr/>
          <p:nvPr/>
        </p:nvSpPr>
        <p:spPr>
          <a:xfrm flipV="1">
            <a:off x="6812280" y="3310128"/>
            <a:ext cx="914400" cy="731520"/>
          </a:xfrm>
          <a:prstGeom prst="line">
            <a:avLst/>
          </a:prstGeom>
          <a:noFill/>
          <a:ln w="15240">
            <a:solidFill>
              <a:srgbClr val="2C3644"/>
            </a:solidFill>
            <a:prstDash val="solid"/>
          </a:ln>
        </p:spPr>
        <p:txBody>
          <a:bodyPr/>
          <a:lstStyle/>
          <a:p>
            <a:endParaRPr lang="en-SE"/>
          </a:p>
        </p:txBody>
      </p:sp>
      <p:sp>
        <p:nvSpPr>
          <p:cNvPr id="13" name="node">
            <a:extLst>
              <a:ext uri="{C183D7F6-B498-43B3-948B-1728B52AA6E4}">
                <adec:decorative xmlns:adec="http://schemas.microsoft.com/office/drawing/2017/decorative" val="1"/>
              </a:ext>
            </a:extLst>
          </p:cNvPr>
          <p:cNvSpPr/>
          <p:nvPr/>
        </p:nvSpPr>
        <p:spPr>
          <a:xfrm>
            <a:off x="1828800" y="2286000"/>
            <a:ext cx="868680" cy="457200"/>
          </a:xfrm>
          <a:prstGeom prst="ellipse">
            <a:avLst/>
          </a:prstGeom>
          <a:solidFill>
            <a:srgbClr val="222B39"/>
          </a:solidFill>
          <a:ln w="19050">
            <a:solidFill>
              <a:srgbClr val="35E07E"/>
            </a:solidFill>
            <a:prstDash val="solid"/>
          </a:ln>
        </p:spPr>
        <p:txBody>
          <a:bodyPr/>
          <a:lstStyle/>
          <a:p>
            <a:endParaRPr lang="en-SE"/>
          </a:p>
        </p:txBody>
      </p:sp>
      <p:sp>
        <p:nvSpPr>
          <p:cNvPr id="14" name="Text 12"/>
          <p:cNvSpPr/>
          <p:nvPr/>
        </p:nvSpPr>
        <p:spPr>
          <a:xfrm>
            <a:off x="1828800" y="2286000"/>
            <a:ext cx="868680" cy="457200"/>
          </a:xfrm>
          <a:prstGeom prst="rect">
            <a:avLst/>
          </a:prstGeom>
          <a:noFill/>
          <a:ln/>
        </p:spPr>
        <p:txBody>
          <a:bodyPr wrap="square" lIns="0" tIns="0" rIns="0" bIns="0" rtlCol="0" anchor="ctr"/>
          <a:lstStyle/>
          <a:p>
            <a:pPr marL="0" indent="0" algn="ctr">
              <a:buNone/>
            </a:pPr>
            <a:r>
              <a:rPr lang="en-US" sz="1150" b="1" dirty="0">
                <a:solidFill>
                  <a:srgbClr val="35E07E"/>
                </a:solidFill>
                <a:latin typeface="Consolas" pitchFamily="34" charset="0"/>
                <a:ea typeface="Consolas" pitchFamily="34" charset="-122"/>
                <a:cs typeface="Consolas" pitchFamily="34" charset="-120"/>
              </a:rPr>
              <a:t>Mar</a:t>
            </a:r>
            <a:endParaRPr lang="en-US" sz="1150" dirty="0"/>
          </a:p>
        </p:txBody>
      </p:sp>
      <p:sp>
        <p:nvSpPr>
          <p:cNvPr id="15" name="node">
            <a:extLst>
              <a:ext uri="{C183D7F6-B498-43B3-948B-1728B52AA6E4}">
                <adec:decorative xmlns:adec="http://schemas.microsoft.com/office/drawing/2017/decorative" val="1"/>
              </a:ext>
            </a:extLst>
          </p:cNvPr>
          <p:cNvSpPr/>
          <p:nvPr/>
        </p:nvSpPr>
        <p:spPr>
          <a:xfrm>
            <a:off x="3840480" y="1920240"/>
            <a:ext cx="868680" cy="457200"/>
          </a:xfrm>
          <a:prstGeom prst="ellipse">
            <a:avLst/>
          </a:prstGeom>
          <a:solidFill>
            <a:srgbClr val="222B39"/>
          </a:solidFill>
          <a:ln w="19050">
            <a:solidFill>
              <a:srgbClr val="35E07E"/>
            </a:solidFill>
            <a:prstDash val="solid"/>
          </a:ln>
        </p:spPr>
        <p:txBody>
          <a:bodyPr/>
          <a:lstStyle/>
          <a:p>
            <a:endParaRPr lang="en-SE"/>
          </a:p>
        </p:txBody>
      </p:sp>
      <p:sp>
        <p:nvSpPr>
          <p:cNvPr id="16" name="Text 14"/>
          <p:cNvSpPr/>
          <p:nvPr/>
        </p:nvSpPr>
        <p:spPr>
          <a:xfrm>
            <a:off x="3840480" y="1920240"/>
            <a:ext cx="868680" cy="457200"/>
          </a:xfrm>
          <a:prstGeom prst="rect">
            <a:avLst/>
          </a:prstGeom>
          <a:noFill/>
          <a:ln/>
        </p:spPr>
        <p:txBody>
          <a:bodyPr wrap="square" lIns="0" tIns="0" rIns="0" bIns="0" rtlCol="0" anchor="ctr"/>
          <a:lstStyle/>
          <a:p>
            <a:pPr marL="0" indent="0" algn="ctr">
              <a:buNone/>
            </a:pPr>
            <a:r>
              <a:rPr lang="en-US" sz="1150" b="1" dirty="0">
                <a:solidFill>
                  <a:srgbClr val="35E07E"/>
                </a:solidFill>
                <a:latin typeface="Consolas" pitchFamily="34" charset="0"/>
                <a:ea typeface="Consolas" pitchFamily="34" charset="-122"/>
                <a:cs typeface="Consolas" pitchFamily="34" charset="-120"/>
              </a:rPr>
              <a:t>Jun</a:t>
            </a:r>
            <a:endParaRPr lang="en-US" sz="1150" dirty="0"/>
          </a:p>
        </p:txBody>
      </p:sp>
      <p:sp>
        <p:nvSpPr>
          <p:cNvPr id="17" name="node">
            <a:extLst>
              <a:ext uri="{C183D7F6-B498-43B3-948B-1728B52AA6E4}">
                <adec:decorative xmlns:adec="http://schemas.microsoft.com/office/drawing/2017/decorative" val="1"/>
              </a:ext>
            </a:extLst>
          </p:cNvPr>
          <p:cNvSpPr/>
          <p:nvPr/>
        </p:nvSpPr>
        <p:spPr>
          <a:xfrm>
            <a:off x="5852160" y="2286000"/>
            <a:ext cx="868680" cy="457200"/>
          </a:xfrm>
          <a:prstGeom prst="ellipse">
            <a:avLst/>
          </a:prstGeom>
          <a:solidFill>
            <a:srgbClr val="222B39"/>
          </a:solidFill>
          <a:ln w="19050">
            <a:solidFill>
              <a:srgbClr val="35E07E"/>
            </a:solidFill>
            <a:prstDash val="solid"/>
          </a:ln>
        </p:spPr>
        <p:txBody>
          <a:bodyPr/>
          <a:lstStyle/>
          <a:p>
            <a:endParaRPr lang="en-SE"/>
          </a:p>
        </p:txBody>
      </p:sp>
      <p:sp>
        <p:nvSpPr>
          <p:cNvPr id="18" name="Text 16"/>
          <p:cNvSpPr/>
          <p:nvPr/>
        </p:nvSpPr>
        <p:spPr>
          <a:xfrm>
            <a:off x="5852160" y="2286000"/>
            <a:ext cx="868680" cy="457200"/>
          </a:xfrm>
          <a:prstGeom prst="rect">
            <a:avLst/>
          </a:prstGeom>
          <a:noFill/>
          <a:ln/>
        </p:spPr>
        <p:txBody>
          <a:bodyPr wrap="square" lIns="0" tIns="0" rIns="0" bIns="0" rtlCol="0" anchor="ctr"/>
          <a:lstStyle/>
          <a:p>
            <a:pPr marL="0" indent="0" algn="ctr">
              <a:buNone/>
            </a:pPr>
            <a:r>
              <a:rPr lang="en-US" sz="1150" b="1" dirty="0">
                <a:solidFill>
                  <a:srgbClr val="35E07E"/>
                </a:solidFill>
                <a:latin typeface="Consolas" pitchFamily="34" charset="0"/>
                <a:ea typeface="Consolas" pitchFamily="34" charset="-122"/>
                <a:cs typeface="Consolas" pitchFamily="34" charset="-120"/>
              </a:rPr>
              <a:t>Sep</a:t>
            </a:r>
            <a:endParaRPr lang="en-US" sz="1150" dirty="0"/>
          </a:p>
        </p:txBody>
      </p:sp>
      <p:sp>
        <p:nvSpPr>
          <p:cNvPr id="19" name="node">
            <a:extLst>
              <a:ext uri="{C183D7F6-B498-43B3-948B-1728B52AA6E4}">
                <adec:decorative xmlns:adec="http://schemas.microsoft.com/office/drawing/2017/decorative" val="1"/>
              </a:ext>
            </a:extLst>
          </p:cNvPr>
          <p:cNvSpPr/>
          <p:nvPr/>
        </p:nvSpPr>
        <p:spPr>
          <a:xfrm>
            <a:off x="7315200" y="3108960"/>
            <a:ext cx="868680" cy="457200"/>
          </a:xfrm>
          <a:prstGeom prst="ellipse">
            <a:avLst/>
          </a:prstGeom>
          <a:solidFill>
            <a:srgbClr val="222B39"/>
          </a:solidFill>
          <a:ln w="19050">
            <a:solidFill>
              <a:srgbClr val="35E07E"/>
            </a:solidFill>
            <a:prstDash val="solid"/>
          </a:ln>
        </p:spPr>
        <p:txBody>
          <a:bodyPr/>
          <a:lstStyle/>
          <a:p>
            <a:endParaRPr lang="en-SE"/>
          </a:p>
        </p:txBody>
      </p:sp>
      <p:sp>
        <p:nvSpPr>
          <p:cNvPr id="20" name="Text 18"/>
          <p:cNvSpPr/>
          <p:nvPr/>
        </p:nvSpPr>
        <p:spPr>
          <a:xfrm>
            <a:off x="7315200" y="3108960"/>
            <a:ext cx="868680" cy="457200"/>
          </a:xfrm>
          <a:prstGeom prst="rect">
            <a:avLst/>
          </a:prstGeom>
          <a:noFill/>
          <a:ln/>
        </p:spPr>
        <p:txBody>
          <a:bodyPr wrap="square" lIns="0" tIns="0" rIns="0" bIns="0" rtlCol="0" anchor="ctr"/>
          <a:lstStyle/>
          <a:p>
            <a:pPr marL="0" indent="0" algn="ctr">
              <a:buNone/>
            </a:pPr>
            <a:r>
              <a:rPr lang="en-US" sz="1150" b="1" dirty="0">
                <a:solidFill>
                  <a:srgbClr val="35E07E"/>
                </a:solidFill>
                <a:latin typeface="Consolas" pitchFamily="34" charset="0"/>
                <a:ea typeface="Consolas" pitchFamily="34" charset="-122"/>
                <a:cs typeface="Consolas" pitchFamily="34" charset="-120"/>
              </a:rPr>
              <a:t>Dec</a:t>
            </a:r>
            <a:endParaRPr lang="en-US" sz="1150" dirty="0"/>
          </a:p>
        </p:txBody>
      </p:sp>
      <p:sp>
        <p:nvSpPr>
          <p:cNvPr id="21" name="node">
            <a:extLst>
              <a:ext uri="{C183D7F6-B498-43B3-948B-1728B52AA6E4}">
                <adec:decorative xmlns:adec="http://schemas.microsoft.com/office/drawing/2017/decorative" val="1"/>
              </a:ext>
            </a:extLst>
          </p:cNvPr>
          <p:cNvSpPr/>
          <p:nvPr/>
        </p:nvSpPr>
        <p:spPr>
          <a:xfrm>
            <a:off x="2743200" y="3383280"/>
            <a:ext cx="868680" cy="457200"/>
          </a:xfrm>
          <a:prstGeom prst="ellipse">
            <a:avLst/>
          </a:prstGeom>
          <a:solidFill>
            <a:srgbClr val="222B39"/>
          </a:solidFill>
          <a:ln w="19050">
            <a:solidFill>
              <a:srgbClr val="3AD1E6"/>
            </a:solidFill>
            <a:prstDash val="solid"/>
          </a:ln>
        </p:spPr>
        <p:txBody>
          <a:bodyPr/>
          <a:lstStyle/>
          <a:p>
            <a:endParaRPr lang="en-SE"/>
          </a:p>
        </p:txBody>
      </p:sp>
      <p:sp>
        <p:nvSpPr>
          <p:cNvPr id="22" name="Text 20"/>
          <p:cNvSpPr/>
          <p:nvPr/>
        </p:nvSpPr>
        <p:spPr>
          <a:xfrm>
            <a:off x="2743200" y="3383280"/>
            <a:ext cx="868680" cy="457200"/>
          </a:xfrm>
          <a:prstGeom prst="rect">
            <a:avLst/>
          </a:prstGeom>
          <a:noFill/>
          <a:ln/>
        </p:spPr>
        <p:txBody>
          <a:bodyPr wrap="square" lIns="0" tIns="0" rIns="0" bIns="0" rtlCol="0" anchor="ctr"/>
          <a:lstStyle/>
          <a:p>
            <a:pPr marL="0" indent="0" algn="ctr">
              <a:buNone/>
            </a:pPr>
            <a:r>
              <a:rPr lang="en-US" sz="1150" b="1" dirty="0">
                <a:solidFill>
                  <a:srgbClr val="3AD1E6"/>
                </a:solidFill>
                <a:latin typeface="Consolas" pitchFamily="34" charset="0"/>
                <a:ea typeface="Consolas" pitchFamily="34" charset="-122"/>
                <a:cs typeface="Consolas" pitchFamily="34" charset="-120"/>
              </a:rPr>
              <a:t>Mar–Jun</a:t>
            </a:r>
            <a:endParaRPr lang="en-US" sz="1150" dirty="0"/>
          </a:p>
        </p:txBody>
      </p:sp>
      <p:sp>
        <p:nvSpPr>
          <p:cNvPr id="23" name="node">
            <a:extLst>
              <a:ext uri="{C183D7F6-B498-43B3-948B-1728B52AA6E4}">
                <adec:decorative xmlns:adec="http://schemas.microsoft.com/office/drawing/2017/decorative" val="1"/>
              </a:ext>
            </a:extLst>
          </p:cNvPr>
          <p:cNvSpPr/>
          <p:nvPr/>
        </p:nvSpPr>
        <p:spPr>
          <a:xfrm>
            <a:off x="4846320" y="3291840"/>
            <a:ext cx="868680" cy="457200"/>
          </a:xfrm>
          <a:prstGeom prst="ellipse">
            <a:avLst/>
          </a:prstGeom>
          <a:solidFill>
            <a:srgbClr val="222B39"/>
          </a:solidFill>
          <a:ln w="19050">
            <a:solidFill>
              <a:srgbClr val="3AD1E6"/>
            </a:solidFill>
            <a:prstDash val="solid"/>
          </a:ln>
        </p:spPr>
        <p:txBody>
          <a:bodyPr/>
          <a:lstStyle/>
          <a:p>
            <a:endParaRPr lang="en-SE"/>
          </a:p>
        </p:txBody>
      </p:sp>
      <p:sp>
        <p:nvSpPr>
          <p:cNvPr id="24" name="Text 22"/>
          <p:cNvSpPr/>
          <p:nvPr/>
        </p:nvSpPr>
        <p:spPr>
          <a:xfrm>
            <a:off x="4846320" y="3291840"/>
            <a:ext cx="868680" cy="457200"/>
          </a:xfrm>
          <a:prstGeom prst="rect">
            <a:avLst/>
          </a:prstGeom>
          <a:noFill/>
          <a:ln/>
        </p:spPr>
        <p:txBody>
          <a:bodyPr wrap="square" lIns="0" tIns="0" rIns="0" bIns="0" rtlCol="0" anchor="ctr"/>
          <a:lstStyle/>
          <a:p>
            <a:pPr marL="0" indent="0" algn="ctr">
              <a:buNone/>
            </a:pPr>
            <a:r>
              <a:rPr lang="en-US" sz="1150" b="1" dirty="0">
                <a:solidFill>
                  <a:srgbClr val="3AD1E6"/>
                </a:solidFill>
                <a:latin typeface="Consolas" pitchFamily="34" charset="0"/>
                <a:ea typeface="Consolas" pitchFamily="34" charset="-122"/>
                <a:cs typeface="Consolas" pitchFamily="34" charset="-120"/>
              </a:rPr>
              <a:t>Jun–Sep</a:t>
            </a:r>
            <a:endParaRPr lang="en-US" sz="1150" dirty="0"/>
          </a:p>
        </p:txBody>
      </p:sp>
      <p:sp>
        <p:nvSpPr>
          <p:cNvPr id="25" name="node">
            <a:extLst>
              <a:ext uri="{C183D7F6-B498-43B3-948B-1728B52AA6E4}">
                <adec:decorative xmlns:adec="http://schemas.microsoft.com/office/drawing/2017/decorative" val="1"/>
              </a:ext>
            </a:extLst>
          </p:cNvPr>
          <p:cNvSpPr/>
          <p:nvPr/>
        </p:nvSpPr>
        <p:spPr>
          <a:xfrm>
            <a:off x="6400800" y="3840480"/>
            <a:ext cx="868680" cy="457200"/>
          </a:xfrm>
          <a:prstGeom prst="ellipse">
            <a:avLst/>
          </a:prstGeom>
          <a:solidFill>
            <a:srgbClr val="222B39"/>
          </a:solidFill>
          <a:ln w="19050">
            <a:solidFill>
              <a:srgbClr val="3AD1E6"/>
            </a:solidFill>
            <a:prstDash val="solid"/>
          </a:ln>
        </p:spPr>
        <p:txBody>
          <a:bodyPr/>
          <a:lstStyle/>
          <a:p>
            <a:endParaRPr lang="en-SE"/>
          </a:p>
        </p:txBody>
      </p:sp>
      <p:sp>
        <p:nvSpPr>
          <p:cNvPr id="26" name="Text 24"/>
          <p:cNvSpPr/>
          <p:nvPr/>
        </p:nvSpPr>
        <p:spPr>
          <a:xfrm>
            <a:off x="6400800" y="3840480"/>
            <a:ext cx="868680" cy="457200"/>
          </a:xfrm>
          <a:prstGeom prst="rect">
            <a:avLst/>
          </a:prstGeom>
          <a:noFill/>
          <a:ln/>
        </p:spPr>
        <p:txBody>
          <a:bodyPr wrap="square" lIns="0" tIns="0" rIns="0" bIns="0" rtlCol="0" anchor="ctr"/>
          <a:lstStyle/>
          <a:p>
            <a:pPr marL="0" indent="0" algn="ctr">
              <a:buNone/>
            </a:pPr>
            <a:r>
              <a:rPr lang="en-US" sz="1150" b="1" dirty="0">
                <a:solidFill>
                  <a:srgbClr val="3AD1E6"/>
                </a:solidFill>
                <a:latin typeface="Consolas" pitchFamily="34" charset="0"/>
                <a:ea typeface="Consolas" pitchFamily="34" charset="-122"/>
                <a:cs typeface="Consolas" pitchFamily="34" charset="-120"/>
              </a:rPr>
              <a:t>Sep–Dec</a:t>
            </a:r>
            <a:endParaRPr lang="en-US" sz="1150" dirty="0"/>
          </a:p>
        </p:txBody>
      </p:sp>
      <p:sp>
        <p:nvSpPr>
          <p:cNvPr id="27" name="Text 25"/>
          <p:cNvSpPr/>
          <p:nvPr/>
        </p:nvSpPr>
        <p:spPr>
          <a:xfrm>
            <a:off x="502920" y="4526280"/>
            <a:ext cx="8046720" cy="274320"/>
          </a:xfrm>
          <a:prstGeom prst="rect">
            <a:avLst/>
          </a:prstGeom>
          <a:noFill/>
          <a:ln/>
        </p:spPr>
        <p:txBody>
          <a:bodyPr wrap="square" lIns="0" tIns="0" rIns="0" bIns="0" rtlCol="0" anchor="t"/>
          <a:lstStyle/>
          <a:p>
            <a:pPr marL="0" indent="0" algn="ctr">
              <a:buNone/>
            </a:pPr>
            <a:r>
              <a:rPr lang="en-US" sz="1100" i="1" dirty="0">
                <a:solidFill>
                  <a:srgbClr val="8B96A8"/>
                </a:solidFill>
                <a:latin typeface="Segoe UI" pitchFamily="34" charset="0"/>
                <a:ea typeface="Segoe UI" pitchFamily="34" charset="-122"/>
                <a:cs typeface="Segoe UI" pitchFamily="34" charset="-120"/>
              </a:rPr>
              <a:t>Green = outright · Cyan = spread. A single new leg order can refresh implied prices across many books at once.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Chaining: implied-from-implied</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PAYOFF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40</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An implied order can itself feed the next implication — a chain across instruments.</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148840"/>
            <a:ext cx="1847088" cy="1051560"/>
          </a:xfrm>
          <a:prstGeom prst="roundRect">
            <a:avLst>
              <a:gd name="adj" fmla="val 5217"/>
            </a:avLst>
          </a:prstGeom>
          <a:solidFill>
            <a:srgbClr val="1B212C"/>
          </a:solidFill>
          <a:ln w="12700">
            <a:solidFill>
              <a:srgbClr val="35E07E"/>
            </a:solidFill>
            <a:prstDash val="solid"/>
          </a:ln>
        </p:spPr>
        <p:txBody>
          <a:bodyPr/>
          <a:lstStyle/>
          <a:p>
            <a:endParaRPr lang="en-SE"/>
          </a:p>
        </p:txBody>
      </p:sp>
      <p:sp>
        <p:nvSpPr>
          <p:cNvPr id="8" name="Text 6"/>
          <p:cNvSpPr/>
          <p:nvPr/>
        </p:nvSpPr>
        <p:spPr>
          <a:xfrm>
            <a:off x="612648" y="2258568"/>
            <a:ext cx="1627632" cy="228600"/>
          </a:xfrm>
          <a:prstGeom prst="rect">
            <a:avLst/>
          </a:prstGeom>
          <a:noFill/>
          <a:ln/>
        </p:spPr>
        <p:txBody>
          <a:bodyPr wrap="square" lIns="0" tIns="0" rIns="0" bIns="0" rtlCol="0" anchor="t"/>
          <a:lstStyle/>
          <a:p>
            <a:pPr marL="0" indent="0" algn="l">
              <a:buNone/>
            </a:pPr>
            <a:r>
              <a:rPr lang="en-US" sz="850" b="1" kern="0" spc="100" dirty="0">
                <a:solidFill>
                  <a:srgbClr val="35E07E"/>
                </a:solidFill>
                <a:latin typeface="Segoe UI" pitchFamily="34" charset="0"/>
                <a:ea typeface="Segoe UI" pitchFamily="34" charset="-122"/>
                <a:cs typeface="Segoe UI" pitchFamily="34" charset="-120"/>
              </a:rPr>
              <a:t>LEVEL 0</a:t>
            </a:r>
            <a:endParaRPr lang="en-US" sz="850" dirty="0"/>
          </a:p>
        </p:txBody>
      </p:sp>
      <p:sp>
        <p:nvSpPr>
          <p:cNvPr id="9" name="Text 7"/>
          <p:cNvSpPr/>
          <p:nvPr/>
        </p:nvSpPr>
        <p:spPr>
          <a:xfrm>
            <a:off x="612648" y="2532888"/>
            <a:ext cx="1627632" cy="594360"/>
          </a:xfrm>
          <a:prstGeom prst="rect">
            <a:avLst/>
          </a:prstGeom>
          <a:noFill/>
          <a:ln/>
        </p:spPr>
        <p:txBody>
          <a:bodyPr wrap="square" lIns="0" tIns="0" rIns="0" bIns="0" rtlCol="0" anchor="t"/>
          <a:lstStyle/>
          <a:p>
            <a:pPr marL="0" indent="0" algn="l">
              <a:lnSpc>
                <a:spcPts val="1500"/>
              </a:lnSpc>
              <a:buNone/>
            </a:pPr>
            <a:r>
              <a:rPr lang="en-US" sz="1250" b="1" dirty="0">
                <a:solidFill>
                  <a:srgbClr val="FFFFFF"/>
                </a:solidFill>
                <a:latin typeface="Segoe UI" pitchFamily="34" charset="0"/>
                <a:ea typeface="Segoe UI" pitchFamily="34" charset="-122"/>
                <a:cs typeface="Segoe UI" pitchFamily="34" charset="-120"/>
              </a:rPr>
              <a:t>Mar &amp; Jun legs</a:t>
            </a:r>
            <a:endParaRPr lang="en-US" sz="1250" dirty="0"/>
          </a:p>
        </p:txBody>
      </p:sp>
      <p:sp>
        <p:nvSpPr>
          <p:cNvPr id="10" name="arrow">
            <a:extLst>
              <a:ext uri="{C183D7F6-B498-43B3-948B-1728B52AA6E4}">
                <adec:decorative xmlns:adec="http://schemas.microsoft.com/office/drawing/2017/decorative" val="1"/>
              </a:ext>
            </a:extLst>
          </p:cNvPr>
          <p:cNvSpPr/>
          <p:nvPr/>
        </p:nvSpPr>
        <p:spPr>
          <a:xfrm>
            <a:off x="2368296" y="2670048"/>
            <a:ext cx="182880" cy="0"/>
          </a:xfrm>
          <a:prstGeom prst="line">
            <a:avLst/>
          </a:prstGeom>
          <a:noFill/>
          <a:ln w="25400">
            <a:solidFill>
              <a:srgbClr val="8B96A8"/>
            </a:solidFill>
            <a:prstDash val="solid"/>
            <a:tailEnd type="triangle"/>
          </a:ln>
        </p:spPr>
        <p:txBody>
          <a:bodyPr/>
          <a:lstStyle/>
          <a:p>
            <a:endParaRPr lang="en-SE"/>
          </a:p>
        </p:txBody>
      </p:sp>
      <p:sp>
        <p:nvSpPr>
          <p:cNvPr id="11" name="panel">
            <a:extLst>
              <a:ext uri="{C183D7F6-B498-43B3-948B-1728B52AA6E4}">
                <adec:decorative xmlns:adec="http://schemas.microsoft.com/office/drawing/2017/decorative" val="1"/>
              </a:ext>
            </a:extLst>
          </p:cNvPr>
          <p:cNvSpPr/>
          <p:nvPr/>
        </p:nvSpPr>
        <p:spPr>
          <a:xfrm>
            <a:off x="2560320" y="2148840"/>
            <a:ext cx="1847088" cy="1051560"/>
          </a:xfrm>
          <a:prstGeom prst="roundRect">
            <a:avLst>
              <a:gd name="adj" fmla="val 5217"/>
            </a:avLst>
          </a:prstGeom>
          <a:solidFill>
            <a:srgbClr val="1B212C"/>
          </a:solidFill>
          <a:ln w="12700">
            <a:solidFill>
              <a:srgbClr val="3AD1E6"/>
            </a:solidFill>
            <a:prstDash val="solid"/>
          </a:ln>
        </p:spPr>
        <p:txBody>
          <a:bodyPr/>
          <a:lstStyle/>
          <a:p>
            <a:endParaRPr lang="en-SE"/>
          </a:p>
        </p:txBody>
      </p:sp>
      <p:sp>
        <p:nvSpPr>
          <p:cNvPr id="12" name="Text 10"/>
          <p:cNvSpPr/>
          <p:nvPr/>
        </p:nvSpPr>
        <p:spPr>
          <a:xfrm>
            <a:off x="2670048" y="2258568"/>
            <a:ext cx="1627632" cy="228600"/>
          </a:xfrm>
          <a:prstGeom prst="rect">
            <a:avLst/>
          </a:prstGeom>
          <a:noFill/>
          <a:ln/>
        </p:spPr>
        <p:txBody>
          <a:bodyPr wrap="square" lIns="0" tIns="0" rIns="0" bIns="0" rtlCol="0" anchor="t"/>
          <a:lstStyle/>
          <a:p>
            <a:pPr marL="0" indent="0" algn="l">
              <a:buNone/>
            </a:pPr>
            <a:r>
              <a:rPr lang="en-US" sz="850" b="1" kern="0" spc="100" dirty="0">
                <a:solidFill>
                  <a:srgbClr val="3AD1E6"/>
                </a:solidFill>
                <a:latin typeface="Segoe UI" pitchFamily="34" charset="0"/>
                <a:ea typeface="Segoe UI" pitchFamily="34" charset="-122"/>
                <a:cs typeface="Segoe UI" pitchFamily="34" charset="-120"/>
              </a:rPr>
              <a:t>LEVEL 1</a:t>
            </a:r>
            <a:endParaRPr lang="en-US" sz="850" dirty="0"/>
          </a:p>
        </p:txBody>
      </p:sp>
      <p:sp>
        <p:nvSpPr>
          <p:cNvPr id="13" name="Text 11"/>
          <p:cNvSpPr/>
          <p:nvPr/>
        </p:nvSpPr>
        <p:spPr>
          <a:xfrm>
            <a:off x="2670048" y="2532888"/>
            <a:ext cx="1627632" cy="594360"/>
          </a:xfrm>
          <a:prstGeom prst="rect">
            <a:avLst/>
          </a:prstGeom>
          <a:noFill/>
          <a:ln/>
        </p:spPr>
        <p:txBody>
          <a:bodyPr wrap="square" lIns="0" tIns="0" rIns="0" bIns="0" rtlCol="0" anchor="t"/>
          <a:lstStyle/>
          <a:p>
            <a:pPr marL="0" indent="0" algn="l">
              <a:lnSpc>
                <a:spcPts val="1500"/>
              </a:lnSpc>
              <a:buNone/>
            </a:pPr>
            <a:r>
              <a:rPr lang="en-US" sz="1250" b="1" dirty="0">
                <a:solidFill>
                  <a:srgbClr val="FFFFFF"/>
                </a:solidFill>
                <a:latin typeface="Segoe UI" pitchFamily="34" charset="0"/>
                <a:ea typeface="Segoe UI" pitchFamily="34" charset="-122"/>
                <a:cs typeface="Segoe UI" pitchFamily="34" charset="-120"/>
              </a:rPr>
              <a:t>imply Mar–Jun spread</a:t>
            </a:r>
            <a:endParaRPr lang="en-US" sz="1250" dirty="0"/>
          </a:p>
        </p:txBody>
      </p:sp>
      <p:sp>
        <p:nvSpPr>
          <p:cNvPr id="14" name="arrow">
            <a:extLst>
              <a:ext uri="{C183D7F6-B498-43B3-948B-1728B52AA6E4}">
                <adec:decorative xmlns:adec="http://schemas.microsoft.com/office/drawing/2017/decorative" val="1"/>
              </a:ext>
            </a:extLst>
          </p:cNvPr>
          <p:cNvSpPr/>
          <p:nvPr/>
        </p:nvSpPr>
        <p:spPr>
          <a:xfrm>
            <a:off x="4425696" y="2670048"/>
            <a:ext cx="182880" cy="0"/>
          </a:xfrm>
          <a:prstGeom prst="line">
            <a:avLst/>
          </a:prstGeom>
          <a:noFill/>
          <a:ln w="25400">
            <a:solidFill>
              <a:srgbClr val="8B96A8"/>
            </a:solidFill>
            <a:prstDash val="solid"/>
            <a:tailEnd type="triangle"/>
          </a:ln>
        </p:spPr>
        <p:txBody>
          <a:bodyPr/>
          <a:lstStyle/>
          <a:p>
            <a:endParaRPr lang="en-SE"/>
          </a:p>
        </p:txBody>
      </p:sp>
      <p:sp>
        <p:nvSpPr>
          <p:cNvPr id="15" name="panel">
            <a:extLst>
              <a:ext uri="{C183D7F6-B498-43B3-948B-1728B52AA6E4}">
                <adec:decorative xmlns:adec="http://schemas.microsoft.com/office/drawing/2017/decorative" val="1"/>
              </a:ext>
            </a:extLst>
          </p:cNvPr>
          <p:cNvSpPr/>
          <p:nvPr/>
        </p:nvSpPr>
        <p:spPr>
          <a:xfrm>
            <a:off x="4617720" y="2148840"/>
            <a:ext cx="1847088" cy="1051560"/>
          </a:xfrm>
          <a:prstGeom prst="roundRect">
            <a:avLst>
              <a:gd name="adj" fmla="val 5217"/>
            </a:avLst>
          </a:prstGeom>
          <a:solidFill>
            <a:srgbClr val="1B212C"/>
          </a:solidFill>
          <a:ln w="12700">
            <a:solidFill>
              <a:srgbClr val="3AD1E6"/>
            </a:solidFill>
            <a:prstDash val="solid"/>
          </a:ln>
        </p:spPr>
        <p:txBody>
          <a:bodyPr/>
          <a:lstStyle/>
          <a:p>
            <a:endParaRPr lang="en-SE"/>
          </a:p>
        </p:txBody>
      </p:sp>
      <p:sp>
        <p:nvSpPr>
          <p:cNvPr id="16" name="Text 14"/>
          <p:cNvSpPr/>
          <p:nvPr/>
        </p:nvSpPr>
        <p:spPr>
          <a:xfrm>
            <a:off x="4727448" y="2258568"/>
            <a:ext cx="1627632" cy="228600"/>
          </a:xfrm>
          <a:prstGeom prst="rect">
            <a:avLst/>
          </a:prstGeom>
          <a:noFill/>
          <a:ln/>
        </p:spPr>
        <p:txBody>
          <a:bodyPr wrap="square" lIns="0" tIns="0" rIns="0" bIns="0" rtlCol="0" anchor="t"/>
          <a:lstStyle/>
          <a:p>
            <a:pPr marL="0" indent="0" algn="l">
              <a:buNone/>
            </a:pPr>
            <a:r>
              <a:rPr lang="en-US" sz="850" b="1" kern="0" spc="100" dirty="0">
                <a:solidFill>
                  <a:srgbClr val="3AD1E6"/>
                </a:solidFill>
                <a:latin typeface="Segoe UI" pitchFamily="34" charset="0"/>
                <a:ea typeface="Segoe UI" pitchFamily="34" charset="-122"/>
                <a:cs typeface="Segoe UI" pitchFamily="34" charset="-120"/>
              </a:rPr>
              <a:t>LEVEL 2</a:t>
            </a:r>
            <a:endParaRPr lang="en-US" sz="850" dirty="0"/>
          </a:p>
        </p:txBody>
      </p:sp>
      <p:sp>
        <p:nvSpPr>
          <p:cNvPr id="17" name="Text 15"/>
          <p:cNvSpPr/>
          <p:nvPr/>
        </p:nvSpPr>
        <p:spPr>
          <a:xfrm>
            <a:off x="4727448" y="2532888"/>
            <a:ext cx="1627632" cy="594360"/>
          </a:xfrm>
          <a:prstGeom prst="rect">
            <a:avLst/>
          </a:prstGeom>
          <a:noFill/>
          <a:ln/>
        </p:spPr>
        <p:txBody>
          <a:bodyPr wrap="square" lIns="0" tIns="0" rIns="0" bIns="0" rtlCol="0" anchor="t"/>
          <a:lstStyle/>
          <a:p>
            <a:pPr marL="0" indent="0" algn="l">
              <a:lnSpc>
                <a:spcPts val="1500"/>
              </a:lnSpc>
              <a:buNone/>
            </a:pPr>
            <a:r>
              <a:rPr lang="en-US" sz="1250" b="1" dirty="0">
                <a:solidFill>
                  <a:srgbClr val="FFFFFF"/>
                </a:solidFill>
                <a:latin typeface="Segoe UI" pitchFamily="34" charset="0"/>
                <a:ea typeface="Segoe UI" pitchFamily="34" charset="-122"/>
                <a:cs typeface="Segoe UI" pitchFamily="34" charset="-120"/>
              </a:rPr>
              <a:t>+ Jun–Sep spread</a:t>
            </a:r>
            <a:endParaRPr lang="en-US" sz="1250" dirty="0"/>
          </a:p>
        </p:txBody>
      </p:sp>
      <p:sp>
        <p:nvSpPr>
          <p:cNvPr id="18" name="arrow">
            <a:extLst>
              <a:ext uri="{C183D7F6-B498-43B3-948B-1728B52AA6E4}">
                <adec:decorative xmlns:adec="http://schemas.microsoft.com/office/drawing/2017/decorative" val="1"/>
              </a:ext>
            </a:extLst>
          </p:cNvPr>
          <p:cNvSpPr/>
          <p:nvPr/>
        </p:nvSpPr>
        <p:spPr>
          <a:xfrm>
            <a:off x="6483096" y="2670048"/>
            <a:ext cx="182880" cy="0"/>
          </a:xfrm>
          <a:prstGeom prst="line">
            <a:avLst/>
          </a:prstGeom>
          <a:noFill/>
          <a:ln w="25400">
            <a:solidFill>
              <a:srgbClr val="8B96A8"/>
            </a:solidFill>
            <a:prstDash val="solid"/>
            <a:tailEnd type="triangle"/>
          </a:ln>
        </p:spPr>
        <p:txBody>
          <a:bodyPr/>
          <a:lstStyle/>
          <a:p>
            <a:endParaRPr lang="en-SE"/>
          </a:p>
        </p:txBody>
      </p:sp>
      <p:sp>
        <p:nvSpPr>
          <p:cNvPr id="19" name="panel">
            <a:extLst>
              <a:ext uri="{C183D7F6-B498-43B3-948B-1728B52AA6E4}">
                <adec:decorative xmlns:adec="http://schemas.microsoft.com/office/drawing/2017/decorative" val="1"/>
              </a:ext>
            </a:extLst>
          </p:cNvPr>
          <p:cNvSpPr/>
          <p:nvPr/>
        </p:nvSpPr>
        <p:spPr>
          <a:xfrm>
            <a:off x="6675120" y="2148840"/>
            <a:ext cx="1847088" cy="1051560"/>
          </a:xfrm>
          <a:prstGeom prst="roundRect">
            <a:avLst>
              <a:gd name="adj" fmla="val 5217"/>
            </a:avLst>
          </a:prstGeom>
          <a:solidFill>
            <a:srgbClr val="1B212C"/>
          </a:solidFill>
          <a:ln w="12700">
            <a:solidFill>
              <a:srgbClr val="FBB24B"/>
            </a:solidFill>
            <a:prstDash val="solid"/>
          </a:ln>
        </p:spPr>
        <p:txBody>
          <a:bodyPr/>
          <a:lstStyle/>
          <a:p>
            <a:endParaRPr lang="en-SE"/>
          </a:p>
        </p:txBody>
      </p:sp>
      <p:sp>
        <p:nvSpPr>
          <p:cNvPr id="20" name="Text 18"/>
          <p:cNvSpPr/>
          <p:nvPr/>
        </p:nvSpPr>
        <p:spPr>
          <a:xfrm>
            <a:off x="6784848" y="2258568"/>
            <a:ext cx="1627632" cy="228600"/>
          </a:xfrm>
          <a:prstGeom prst="rect">
            <a:avLst/>
          </a:prstGeom>
          <a:noFill/>
          <a:ln/>
        </p:spPr>
        <p:txBody>
          <a:bodyPr wrap="square" lIns="0" tIns="0" rIns="0" bIns="0" rtlCol="0" anchor="t"/>
          <a:lstStyle/>
          <a:p>
            <a:pPr marL="0" indent="0" algn="l">
              <a:buNone/>
            </a:pPr>
            <a:r>
              <a:rPr lang="en-US" sz="850" b="1" kern="0" spc="100" dirty="0">
                <a:solidFill>
                  <a:srgbClr val="FBB24B"/>
                </a:solidFill>
                <a:latin typeface="Segoe UI" pitchFamily="34" charset="0"/>
                <a:ea typeface="Segoe UI" pitchFamily="34" charset="-122"/>
                <a:cs typeface="Segoe UI" pitchFamily="34" charset="-120"/>
              </a:rPr>
              <a:t>LEVEL 3</a:t>
            </a:r>
            <a:endParaRPr lang="en-US" sz="850" dirty="0"/>
          </a:p>
        </p:txBody>
      </p:sp>
      <p:sp>
        <p:nvSpPr>
          <p:cNvPr id="21" name="Text 19"/>
          <p:cNvSpPr/>
          <p:nvPr/>
        </p:nvSpPr>
        <p:spPr>
          <a:xfrm>
            <a:off x="6784848" y="2532888"/>
            <a:ext cx="1627632" cy="594360"/>
          </a:xfrm>
          <a:prstGeom prst="rect">
            <a:avLst/>
          </a:prstGeom>
          <a:noFill/>
          <a:ln/>
        </p:spPr>
        <p:txBody>
          <a:bodyPr wrap="square" lIns="0" tIns="0" rIns="0" bIns="0" rtlCol="0" anchor="t"/>
          <a:lstStyle/>
          <a:p>
            <a:pPr marL="0" indent="0" algn="l">
              <a:lnSpc>
                <a:spcPts val="1500"/>
              </a:lnSpc>
              <a:buNone/>
            </a:pPr>
            <a:r>
              <a:rPr lang="en-US" sz="1250" b="1" dirty="0">
                <a:solidFill>
                  <a:srgbClr val="FFFFFF"/>
                </a:solidFill>
                <a:latin typeface="Segoe UI" pitchFamily="34" charset="0"/>
                <a:ea typeface="Segoe UI" pitchFamily="34" charset="-122"/>
                <a:cs typeface="Segoe UI" pitchFamily="34" charset="-120"/>
              </a:rPr>
              <a:t>imply Mar–Sep spread</a:t>
            </a:r>
            <a:endParaRPr lang="en-US" sz="1250" dirty="0"/>
          </a:p>
        </p:txBody>
      </p:sp>
      <p:sp>
        <p:nvSpPr>
          <p:cNvPr id="22" name="panel">
            <a:extLst>
              <a:ext uri="{C183D7F6-B498-43B3-948B-1728B52AA6E4}">
                <adec:decorative xmlns:adec="http://schemas.microsoft.com/office/drawing/2017/decorative" val="1"/>
              </a:ext>
            </a:extLst>
          </p:cNvPr>
          <p:cNvSpPr/>
          <p:nvPr/>
        </p:nvSpPr>
        <p:spPr>
          <a:xfrm>
            <a:off x="502920" y="3566160"/>
            <a:ext cx="8092440" cy="914400"/>
          </a:xfrm>
          <a:prstGeom prst="roundRect">
            <a:avLst>
              <a:gd name="adj" fmla="val 6000"/>
            </a:avLst>
          </a:prstGeom>
          <a:solidFill>
            <a:srgbClr val="1E1A10"/>
          </a:solidFill>
          <a:ln w="12700">
            <a:solidFill>
              <a:srgbClr val="FBB24B"/>
            </a:solidFill>
            <a:prstDash val="solid"/>
          </a:ln>
        </p:spPr>
        <p:txBody>
          <a:bodyPr/>
          <a:lstStyle/>
          <a:p>
            <a:endParaRPr lang="en-SE"/>
          </a:p>
        </p:txBody>
      </p:sp>
      <p:sp>
        <p:nvSpPr>
          <p:cNvPr id="23" name="Text 21"/>
          <p:cNvSpPr/>
          <p:nvPr/>
        </p:nvSpPr>
        <p:spPr>
          <a:xfrm>
            <a:off x="685800" y="3675888"/>
            <a:ext cx="7772400" cy="713232"/>
          </a:xfrm>
          <a:prstGeom prst="rect">
            <a:avLst/>
          </a:prstGeom>
          <a:noFill/>
          <a:ln/>
        </p:spPr>
        <p:txBody>
          <a:bodyPr wrap="square" lIns="0" tIns="0" rIns="0" bIns="0" rtlCol="0" anchor="ctr"/>
          <a:lstStyle/>
          <a:p>
            <a:pPr marL="0" indent="0" algn="l">
              <a:lnSpc>
                <a:spcPts val="1800"/>
              </a:lnSpc>
              <a:buNone/>
            </a:pPr>
            <a:r>
              <a:rPr lang="en-US" sz="1300" dirty="0">
                <a:solidFill>
                  <a:srgbClr val="D8DEE9"/>
                </a:solidFill>
                <a:latin typeface="Segoe UI" pitchFamily="34" charset="0"/>
                <a:ea typeface="Segoe UI" pitchFamily="34" charset="-122"/>
                <a:cs typeface="Segoe UI" pitchFamily="34" charset="-120"/>
              </a:rPr>
              <a:t>Each extra level unlocks prices no single book could show — but also multiplies the work the engine must do. That trade-off is Section VII.</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VI</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No liquidity is created</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The single most important thing to understand: implication re-expresses liquidity, it never invents it.</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The big misconception</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NO NEW LIQUIDITY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42</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554480"/>
            <a:ext cx="3931920" cy="2834640"/>
          </a:xfrm>
          <a:prstGeom prst="roundRect">
            <a:avLst>
              <a:gd name="adj" fmla="val 1935"/>
            </a:avLst>
          </a:prstGeom>
          <a:solidFill>
            <a:srgbClr val="1B212C"/>
          </a:solidFill>
          <a:ln w="12700">
            <a:solidFill>
              <a:srgbClr val="FF5C6C"/>
            </a:solidFill>
            <a:prstDash val="solid"/>
          </a:ln>
        </p:spPr>
        <p:txBody>
          <a:bodyPr/>
          <a:lstStyle/>
          <a:p>
            <a:endParaRPr lang="en-SE"/>
          </a:p>
        </p:txBody>
      </p:sp>
      <p:sp>
        <p:nvSpPr>
          <p:cNvPr id="7" name="Text 5"/>
          <p:cNvSpPr/>
          <p:nvPr/>
        </p:nvSpPr>
        <p:spPr>
          <a:xfrm>
            <a:off x="685800" y="1691640"/>
            <a:ext cx="2743200" cy="274320"/>
          </a:xfrm>
          <a:prstGeom prst="rect">
            <a:avLst/>
          </a:prstGeom>
          <a:noFill/>
          <a:ln/>
        </p:spPr>
        <p:txBody>
          <a:bodyPr wrap="square" lIns="0" tIns="0" rIns="0" bIns="0" rtlCol="0" anchor="t"/>
          <a:lstStyle/>
          <a:p>
            <a:pPr marL="0" indent="0" algn="l">
              <a:buNone/>
            </a:pPr>
            <a:r>
              <a:rPr lang="en-US" sz="1100" b="1" kern="0" spc="200" dirty="0">
                <a:solidFill>
                  <a:srgbClr val="FF5C6C"/>
                </a:solidFill>
                <a:latin typeface="Segoe UI" pitchFamily="34" charset="0"/>
                <a:ea typeface="Segoe UI" pitchFamily="34" charset="-122"/>
                <a:cs typeface="Segoe UI" pitchFamily="34" charset="-120"/>
              </a:rPr>
              <a:t>THE MYTH</a:t>
            </a:r>
            <a:endParaRPr lang="en-US" sz="1100" dirty="0"/>
          </a:p>
        </p:txBody>
      </p:sp>
      <p:sp>
        <p:nvSpPr>
          <p:cNvPr id="8" name="Text 6"/>
          <p:cNvSpPr/>
          <p:nvPr/>
        </p:nvSpPr>
        <p:spPr>
          <a:xfrm>
            <a:off x="685800" y="2057400"/>
            <a:ext cx="3566160" cy="128016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Segoe UI" pitchFamily="34" charset="0"/>
                <a:ea typeface="Segoe UI" pitchFamily="34" charset="-122"/>
                <a:cs typeface="Segoe UI" pitchFamily="34" charset="-120"/>
              </a:rPr>
              <a:t>“Implied orders conjure extra liquidity out of thin air, so the market is deeper than the real orders justify.”</a:t>
            </a:r>
            <a:endParaRPr lang="en-US" sz="1500" dirty="0"/>
          </a:p>
        </p:txBody>
      </p:sp>
      <p:sp>
        <p:nvSpPr>
          <p:cNvPr id="9" name="Text 7"/>
          <p:cNvSpPr/>
          <p:nvPr/>
        </p:nvSpPr>
        <p:spPr>
          <a:xfrm>
            <a:off x="685800" y="3566160"/>
            <a:ext cx="3566160" cy="457200"/>
          </a:xfrm>
          <a:prstGeom prst="rect">
            <a:avLst/>
          </a:prstGeom>
          <a:noFill/>
          <a:ln/>
        </p:spPr>
        <p:txBody>
          <a:bodyPr wrap="square" lIns="0" tIns="0" rIns="0" bIns="0" rtlCol="0" anchor="t"/>
          <a:lstStyle/>
          <a:p>
            <a:pPr marL="0" indent="0" algn="l">
              <a:buNone/>
            </a:pPr>
            <a:r>
              <a:rPr lang="en-US" sz="2000" b="1" dirty="0">
                <a:solidFill>
                  <a:srgbClr val="FF5C6C"/>
                </a:solidFill>
                <a:latin typeface="Segoe UI" pitchFamily="34" charset="0"/>
                <a:ea typeface="Segoe UI" pitchFamily="34" charset="-122"/>
                <a:cs typeface="Segoe UI" pitchFamily="34" charset="-120"/>
              </a:rPr>
              <a:t>✖  False.</a:t>
            </a:r>
            <a:endParaRPr lang="en-US" sz="2000" dirty="0"/>
          </a:p>
        </p:txBody>
      </p:sp>
      <p:sp>
        <p:nvSpPr>
          <p:cNvPr id="10" name="panel">
            <a:extLst>
              <a:ext uri="{C183D7F6-B498-43B3-948B-1728B52AA6E4}">
                <adec:decorative xmlns:adec="http://schemas.microsoft.com/office/drawing/2017/decorative" val="1"/>
              </a:ext>
            </a:extLst>
          </p:cNvPr>
          <p:cNvSpPr/>
          <p:nvPr/>
        </p:nvSpPr>
        <p:spPr>
          <a:xfrm>
            <a:off x="4663440" y="1554480"/>
            <a:ext cx="3931920" cy="2834640"/>
          </a:xfrm>
          <a:prstGeom prst="roundRect">
            <a:avLst>
              <a:gd name="adj" fmla="val 1935"/>
            </a:avLst>
          </a:prstGeom>
          <a:solidFill>
            <a:srgbClr val="10251C"/>
          </a:solidFill>
          <a:ln w="12700">
            <a:solidFill>
              <a:srgbClr val="35E07E"/>
            </a:solidFill>
            <a:prstDash val="solid"/>
          </a:ln>
        </p:spPr>
        <p:txBody>
          <a:bodyPr/>
          <a:lstStyle/>
          <a:p>
            <a:endParaRPr lang="en-SE"/>
          </a:p>
        </p:txBody>
      </p:sp>
      <p:sp>
        <p:nvSpPr>
          <p:cNvPr id="11" name="Text 9"/>
          <p:cNvSpPr/>
          <p:nvPr/>
        </p:nvSpPr>
        <p:spPr>
          <a:xfrm>
            <a:off x="4846320" y="1691640"/>
            <a:ext cx="2743200" cy="274320"/>
          </a:xfrm>
          <a:prstGeom prst="rect">
            <a:avLst/>
          </a:prstGeom>
          <a:noFill/>
          <a:ln/>
        </p:spPr>
        <p:txBody>
          <a:bodyPr wrap="square" lIns="0" tIns="0" rIns="0" bIns="0" rtlCol="0" anchor="t"/>
          <a:lstStyle/>
          <a:p>
            <a:pPr marL="0" indent="0" algn="l">
              <a:buNone/>
            </a:pPr>
            <a:r>
              <a:rPr lang="en-US" sz="1100" b="1" kern="0" spc="200" dirty="0">
                <a:solidFill>
                  <a:srgbClr val="35E07E"/>
                </a:solidFill>
                <a:latin typeface="Segoe UI" pitchFamily="34" charset="0"/>
                <a:ea typeface="Segoe UI" pitchFamily="34" charset="-122"/>
                <a:cs typeface="Segoe UI" pitchFamily="34" charset="-120"/>
              </a:rPr>
              <a:t>THE REALITY</a:t>
            </a:r>
            <a:endParaRPr lang="en-US" sz="1100" dirty="0"/>
          </a:p>
        </p:txBody>
      </p:sp>
      <p:sp>
        <p:nvSpPr>
          <p:cNvPr id="12" name="Text 10"/>
          <p:cNvSpPr/>
          <p:nvPr/>
        </p:nvSpPr>
        <p:spPr>
          <a:xfrm>
            <a:off x="4846320" y="2057400"/>
            <a:ext cx="3566160" cy="1280160"/>
          </a:xfrm>
          <a:prstGeom prst="rect">
            <a:avLst/>
          </a:prstGeom>
          <a:noFill/>
          <a:ln/>
        </p:spPr>
        <p:txBody>
          <a:bodyPr wrap="square" lIns="0" tIns="0" rIns="0" bIns="0" rtlCol="0" anchor="t"/>
          <a:lstStyle/>
          <a:p>
            <a:pPr marL="0" indent="0" algn="l">
              <a:lnSpc>
                <a:spcPts val="2100"/>
              </a:lnSpc>
              <a:buNone/>
            </a:pPr>
            <a:r>
              <a:rPr lang="en-US" sz="1500" b="1" dirty="0">
                <a:solidFill>
                  <a:srgbClr val="FFFFFF"/>
                </a:solidFill>
                <a:latin typeface="Segoe UI" pitchFamily="34" charset="0"/>
                <a:ea typeface="Segoe UI" pitchFamily="34" charset="-122"/>
                <a:cs typeface="Segoe UI" pitchFamily="34" charset="-120"/>
              </a:rPr>
              <a:t>Every implied order is just real orders wearing a different label. Trade the implied and you trade the reals — once.</a:t>
            </a:r>
            <a:endParaRPr lang="en-US" sz="1500" dirty="0"/>
          </a:p>
        </p:txBody>
      </p:sp>
      <p:sp>
        <p:nvSpPr>
          <p:cNvPr id="13" name="Text 11"/>
          <p:cNvSpPr/>
          <p:nvPr/>
        </p:nvSpPr>
        <p:spPr>
          <a:xfrm>
            <a:off x="4846320" y="3566160"/>
            <a:ext cx="3566160" cy="457200"/>
          </a:xfrm>
          <a:prstGeom prst="rect">
            <a:avLst/>
          </a:prstGeom>
          <a:noFill/>
          <a:ln/>
        </p:spPr>
        <p:txBody>
          <a:bodyPr wrap="square" lIns="0" tIns="0" rIns="0" bIns="0" rtlCol="0" anchor="t"/>
          <a:lstStyle/>
          <a:p>
            <a:pPr marL="0" indent="0" algn="l">
              <a:buNone/>
            </a:pPr>
            <a:r>
              <a:rPr lang="en-US" sz="1700" b="1" dirty="0">
                <a:solidFill>
                  <a:srgbClr val="35E07E"/>
                </a:solidFill>
                <a:latin typeface="Segoe UI" pitchFamily="34" charset="0"/>
                <a:ea typeface="Segoe UI" pitchFamily="34" charset="-122"/>
                <a:cs typeface="Segoe UI" pitchFamily="34" charset="-120"/>
              </a:rPr>
              <a:t>✓  Re-expression, not creation.</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Every implied is backed 1:1 by real orders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NO NEW LIQUIDITY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43</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50" dirty="0">
                <a:solidFill>
                  <a:srgbClr val="D8DEE9"/>
                </a:solidFill>
                <a:latin typeface="Segoe UI" pitchFamily="34" charset="0"/>
                <a:ea typeface="Segoe UI" pitchFamily="34" charset="-122"/>
                <a:cs typeface="Segoe UI" pitchFamily="34" charset="-120"/>
              </a:rPr>
              <a:t>Peel back any implied quote and you find specific real orders standing behind it.</a:t>
            </a:r>
            <a:endParaRPr lang="en-US" sz="1350" dirty="0"/>
          </a:p>
        </p:txBody>
      </p:sp>
      <p:sp>
        <p:nvSpPr>
          <p:cNvPr id="7" name="panel">
            <a:extLst>
              <a:ext uri="{C183D7F6-B498-43B3-948B-1728B52AA6E4}">
                <adec:decorative xmlns:adec="http://schemas.microsoft.com/office/drawing/2017/decorative" val="1"/>
              </a:ext>
            </a:extLst>
          </p:cNvPr>
          <p:cNvSpPr/>
          <p:nvPr/>
        </p:nvSpPr>
        <p:spPr>
          <a:xfrm>
            <a:off x="2743200" y="1874520"/>
            <a:ext cx="3657600" cy="777240"/>
          </a:xfrm>
          <a:prstGeom prst="roundRect">
            <a:avLst>
              <a:gd name="adj" fmla="val 7059"/>
            </a:avLst>
          </a:prstGeom>
          <a:solidFill>
            <a:srgbClr val="10251C"/>
          </a:solidFill>
          <a:ln w="12700">
            <a:solidFill>
              <a:srgbClr val="3AD1E6"/>
            </a:solidFill>
            <a:prstDash val="solid"/>
          </a:ln>
        </p:spPr>
        <p:txBody>
          <a:bodyPr/>
          <a:lstStyle/>
          <a:p>
            <a:endParaRPr lang="en-SE"/>
          </a:p>
        </p:txBody>
      </p:sp>
      <p:sp>
        <p:nvSpPr>
          <p:cNvPr id="8" name="Text 6"/>
          <p:cNvSpPr/>
          <p:nvPr/>
        </p:nvSpPr>
        <p:spPr>
          <a:xfrm>
            <a:off x="2743200" y="1874520"/>
            <a:ext cx="3657600" cy="777240"/>
          </a:xfrm>
          <a:prstGeom prst="rect">
            <a:avLst/>
          </a:prstGeom>
          <a:noFill/>
          <a:ln/>
        </p:spPr>
        <p:txBody>
          <a:bodyPr wrap="square" lIns="0" tIns="0" rIns="0" bIns="0" rtlCol="0" anchor="ctr"/>
          <a:lstStyle/>
          <a:p>
            <a:pPr marL="0" indent="0" algn="ctr">
              <a:buNone/>
            </a:pPr>
            <a:r>
              <a:rPr lang="en-US" sz="1500" b="1" dirty="0">
                <a:solidFill>
                  <a:srgbClr val="3AD1E6"/>
                </a:solidFill>
                <a:latin typeface="Consolas" pitchFamily="34" charset="0"/>
                <a:ea typeface="Consolas" pitchFamily="34" charset="-122"/>
                <a:cs typeface="Consolas" pitchFamily="34" charset="-120"/>
              </a:rPr>
              <a:t>IMPLIED spread bid  @ 1</a:t>
            </a:r>
            <a:endParaRPr lang="en-US" sz="1500" dirty="0"/>
          </a:p>
        </p:txBody>
      </p:sp>
      <p:sp>
        <p:nvSpPr>
          <p:cNvPr id="9" name="arrow">
            <a:extLst>
              <a:ext uri="{C183D7F6-B498-43B3-948B-1728B52AA6E4}">
                <adec:decorative xmlns:adec="http://schemas.microsoft.com/office/drawing/2017/decorative" val="1"/>
              </a:ext>
            </a:extLst>
          </p:cNvPr>
          <p:cNvSpPr/>
          <p:nvPr/>
        </p:nvSpPr>
        <p:spPr>
          <a:xfrm>
            <a:off x="3657600" y="2697480"/>
            <a:ext cx="0" cy="365760"/>
          </a:xfrm>
          <a:prstGeom prst="line">
            <a:avLst/>
          </a:prstGeom>
          <a:noFill/>
          <a:ln w="25400">
            <a:solidFill>
              <a:srgbClr val="8B96A8"/>
            </a:solidFill>
            <a:prstDash val="solid"/>
            <a:tailEnd type="triangle"/>
          </a:ln>
        </p:spPr>
        <p:txBody>
          <a:bodyPr/>
          <a:lstStyle/>
          <a:p>
            <a:endParaRPr lang="en-SE"/>
          </a:p>
        </p:txBody>
      </p:sp>
      <p:sp>
        <p:nvSpPr>
          <p:cNvPr id="10" name="arrow">
            <a:extLst>
              <a:ext uri="{C183D7F6-B498-43B3-948B-1728B52AA6E4}">
                <adec:decorative xmlns:adec="http://schemas.microsoft.com/office/drawing/2017/decorative" val="1"/>
              </a:ext>
            </a:extLst>
          </p:cNvPr>
          <p:cNvSpPr/>
          <p:nvPr/>
        </p:nvSpPr>
        <p:spPr>
          <a:xfrm>
            <a:off x="5486400" y="2697480"/>
            <a:ext cx="0" cy="365760"/>
          </a:xfrm>
          <a:prstGeom prst="line">
            <a:avLst/>
          </a:prstGeom>
          <a:noFill/>
          <a:ln w="25400">
            <a:solidFill>
              <a:srgbClr val="8B96A8"/>
            </a:solidFill>
            <a:prstDash val="solid"/>
            <a:tailEnd type="triangle"/>
          </a:ln>
        </p:spPr>
        <p:txBody>
          <a:bodyPr/>
          <a:lstStyle/>
          <a:p>
            <a:endParaRPr lang="en-SE"/>
          </a:p>
        </p:txBody>
      </p:sp>
      <p:sp>
        <p:nvSpPr>
          <p:cNvPr id="11" name="panel">
            <a:extLst>
              <a:ext uri="{C183D7F6-B498-43B3-948B-1728B52AA6E4}">
                <adec:decorative xmlns:adec="http://schemas.microsoft.com/office/drawing/2017/decorative" val="1"/>
              </a:ext>
            </a:extLst>
          </p:cNvPr>
          <p:cNvSpPr/>
          <p:nvPr/>
        </p:nvSpPr>
        <p:spPr>
          <a:xfrm>
            <a:off x="1280160" y="3200400"/>
            <a:ext cx="2834640" cy="1005840"/>
          </a:xfrm>
          <a:prstGeom prst="roundRect">
            <a:avLst>
              <a:gd name="adj" fmla="val 5455"/>
            </a:avLst>
          </a:prstGeom>
          <a:solidFill>
            <a:srgbClr val="1B212C"/>
          </a:solidFill>
          <a:ln w="12700">
            <a:solidFill>
              <a:srgbClr val="35E07E"/>
            </a:solidFill>
            <a:prstDash val="solid"/>
          </a:ln>
        </p:spPr>
        <p:txBody>
          <a:bodyPr/>
          <a:lstStyle/>
          <a:p>
            <a:endParaRPr lang="en-SE"/>
          </a:p>
        </p:txBody>
      </p:sp>
      <p:sp>
        <p:nvSpPr>
          <p:cNvPr id="12" name="Text 10"/>
          <p:cNvSpPr/>
          <p:nvPr/>
        </p:nvSpPr>
        <p:spPr>
          <a:xfrm>
            <a:off x="1280160" y="3291840"/>
            <a:ext cx="2834640" cy="274320"/>
          </a:xfrm>
          <a:prstGeom prst="rect">
            <a:avLst/>
          </a:prstGeom>
          <a:noFill/>
          <a:ln/>
        </p:spPr>
        <p:txBody>
          <a:bodyPr wrap="square" lIns="0" tIns="0" rIns="0" bIns="0" rtlCol="0" anchor="t"/>
          <a:lstStyle/>
          <a:p>
            <a:pPr marL="0" indent="0" algn="ctr">
              <a:buNone/>
            </a:pPr>
            <a:r>
              <a:rPr lang="en-US" sz="1200" b="1" dirty="0">
                <a:solidFill>
                  <a:srgbClr val="35E07E"/>
                </a:solidFill>
                <a:latin typeface="Segoe UI" pitchFamily="34" charset="0"/>
                <a:ea typeface="Segoe UI" pitchFamily="34" charset="-122"/>
                <a:cs typeface="Segoe UI" pitchFamily="34" charset="-120"/>
              </a:rPr>
              <a:t>REAL March bid</a:t>
            </a:r>
            <a:endParaRPr lang="en-US" sz="1200" dirty="0"/>
          </a:p>
        </p:txBody>
      </p:sp>
      <p:sp>
        <p:nvSpPr>
          <p:cNvPr id="13" name="Text 11"/>
          <p:cNvSpPr/>
          <p:nvPr/>
        </p:nvSpPr>
        <p:spPr>
          <a:xfrm>
            <a:off x="1280160" y="3611880"/>
            <a:ext cx="283464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onsolas" pitchFamily="34" charset="0"/>
                <a:ea typeface="Consolas" pitchFamily="34" charset="-122"/>
                <a:cs typeface="Consolas" pitchFamily="34" charset="-120"/>
              </a:rPr>
              <a:t>99  ×  10</a:t>
            </a:r>
            <a:endParaRPr lang="en-US" sz="2200" dirty="0"/>
          </a:p>
        </p:txBody>
      </p:sp>
      <p:sp>
        <p:nvSpPr>
          <p:cNvPr id="14" name="panel">
            <a:extLst>
              <a:ext uri="{C183D7F6-B498-43B3-948B-1728B52AA6E4}">
                <adec:decorative xmlns:adec="http://schemas.microsoft.com/office/drawing/2017/decorative" val="1"/>
              </a:ext>
            </a:extLst>
          </p:cNvPr>
          <p:cNvSpPr/>
          <p:nvPr/>
        </p:nvSpPr>
        <p:spPr>
          <a:xfrm>
            <a:off x="5029200" y="3200400"/>
            <a:ext cx="2834640" cy="1005840"/>
          </a:xfrm>
          <a:prstGeom prst="roundRect">
            <a:avLst>
              <a:gd name="adj" fmla="val 5455"/>
            </a:avLst>
          </a:prstGeom>
          <a:solidFill>
            <a:srgbClr val="1B212C"/>
          </a:solidFill>
          <a:ln w="12700">
            <a:solidFill>
              <a:srgbClr val="FF5C6C"/>
            </a:solidFill>
            <a:prstDash val="solid"/>
          </a:ln>
        </p:spPr>
        <p:txBody>
          <a:bodyPr/>
          <a:lstStyle/>
          <a:p>
            <a:endParaRPr lang="en-SE"/>
          </a:p>
        </p:txBody>
      </p:sp>
      <p:sp>
        <p:nvSpPr>
          <p:cNvPr id="15" name="Text 13"/>
          <p:cNvSpPr/>
          <p:nvPr/>
        </p:nvSpPr>
        <p:spPr>
          <a:xfrm>
            <a:off x="5029200" y="3291840"/>
            <a:ext cx="2834640" cy="274320"/>
          </a:xfrm>
          <a:prstGeom prst="rect">
            <a:avLst/>
          </a:prstGeom>
          <a:noFill/>
          <a:ln/>
        </p:spPr>
        <p:txBody>
          <a:bodyPr wrap="square" lIns="0" tIns="0" rIns="0" bIns="0" rtlCol="0" anchor="t"/>
          <a:lstStyle/>
          <a:p>
            <a:pPr marL="0" indent="0" algn="ctr">
              <a:buNone/>
            </a:pPr>
            <a:r>
              <a:rPr lang="en-US" sz="1200" b="1" dirty="0">
                <a:solidFill>
                  <a:srgbClr val="FF5C6C"/>
                </a:solidFill>
                <a:latin typeface="Segoe UI" pitchFamily="34" charset="0"/>
                <a:ea typeface="Segoe UI" pitchFamily="34" charset="-122"/>
                <a:cs typeface="Segoe UI" pitchFamily="34" charset="-120"/>
              </a:rPr>
              <a:t>REAL June ask</a:t>
            </a:r>
            <a:endParaRPr lang="en-US" sz="1200" dirty="0"/>
          </a:p>
        </p:txBody>
      </p:sp>
      <p:sp>
        <p:nvSpPr>
          <p:cNvPr id="16" name="Text 14"/>
          <p:cNvSpPr/>
          <p:nvPr/>
        </p:nvSpPr>
        <p:spPr>
          <a:xfrm>
            <a:off x="5029200" y="3611880"/>
            <a:ext cx="2834640" cy="457200"/>
          </a:xfrm>
          <a:prstGeom prst="rect">
            <a:avLst/>
          </a:prstGeom>
          <a:noFill/>
          <a:ln/>
        </p:spPr>
        <p:txBody>
          <a:bodyPr wrap="square" lIns="0" tIns="0" rIns="0" bIns="0" rtlCol="0" anchor="t"/>
          <a:lstStyle/>
          <a:p>
            <a:pPr marL="0" indent="0" algn="ctr">
              <a:buNone/>
            </a:pPr>
            <a:r>
              <a:rPr lang="en-US" sz="2200" b="1" dirty="0">
                <a:solidFill>
                  <a:srgbClr val="FFFFFF"/>
                </a:solidFill>
                <a:latin typeface="Consolas" pitchFamily="34" charset="0"/>
                <a:ea typeface="Consolas" pitchFamily="34" charset="-122"/>
                <a:cs typeface="Consolas" pitchFamily="34" charset="-120"/>
              </a:rPr>
              <a:t>98  ×  18</a:t>
            </a:r>
            <a:endParaRPr lang="en-US" sz="2200" dirty="0"/>
          </a:p>
        </p:txBody>
      </p:sp>
      <p:sp>
        <p:nvSpPr>
          <p:cNvPr id="17" name="Text 15"/>
          <p:cNvSpPr/>
          <p:nvPr/>
        </p:nvSpPr>
        <p:spPr>
          <a:xfrm>
            <a:off x="502920" y="4389120"/>
            <a:ext cx="8046720" cy="274320"/>
          </a:xfrm>
          <a:prstGeom prst="rect">
            <a:avLst/>
          </a:prstGeom>
          <a:noFill/>
          <a:ln/>
        </p:spPr>
        <p:txBody>
          <a:bodyPr wrap="square" lIns="0" tIns="0" rIns="0" bIns="0" rtlCol="0" anchor="t"/>
          <a:lstStyle/>
          <a:p>
            <a:pPr marL="0" indent="0" algn="ctr">
              <a:buNone/>
            </a:pPr>
            <a:r>
              <a:rPr lang="en-US" sz="1150" i="1" dirty="0">
                <a:solidFill>
                  <a:srgbClr val="8B96A8"/>
                </a:solidFill>
                <a:latin typeface="Segoe UI" pitchFamily="34" charset="0"/>
                <a:ea typeface="Segoe UI" pitchFamily="34" charset="-122"/>
                <a:cs typeface="Segoe UI" pitchFamily="34" charset="-120"/>
              </a:rPr>
              <a:t>No hidden inventory. The implied size is capped by the smallest real order behind it (here, 10).</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Pull the real order, the implied vanishes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NO NEW LIQUIDITY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44</a:t>
            </a:r>
            <a:endParaRPr lang="en-US" sz="850" dirty="0"/>
          </a:p>
        </p:txBody>
      </p:sp>
      <p:sp>
        <p:nvSpPr>
          <p:cNvPr id="6" name="Text 4"/>
          <p:cNvSpPr/>
          <p:nvPr/>
        </p:nvSpPr>
        <p:spPr>
          <a:xfrm>
            <a:off x="502920" y="1417320"/>
            <a:ext cx="8046720" cy="502920"/>
          </a:xfrm>
          <a:prstGeom prst="rect">
            <a:avLst/>
          </a:prstGeom>
          <a:noFill/>
          <a:ln/>
        </p:spPr>
        <p:txBody>
          <a:bodyPr wrap="square" lIns="0" tIns="0" rIns="0" bIns="0" rtlCol="0" anchor="t"/>
          <a:lstStyle/>
          <a:p>
            <a:pPr marL="0" indent="0" algn="l">
              <a:lnSpc>
                <a:spcPts val="1800"/>
              </a:lnSpc>
              <a:buNone/>
            </a:pPr>
            <a:r>
              <a:rPr lang="en-US" sz="1350" dirty="0">
                <a:solidFill>
                  <a:srgbClr val="D8DEE9"/>
                </a:solidFill>
                <a:latin typeface="Segoe UI" pitchFamily="34" charset="0"/>
                <a:ea typeface="Segoe UI" pitchFamily="34" charset="-122"/>
                <a:cs typeface="Segoe UI" pitchFamily="34" charset="-120"/>
              </a:rPr>
              <a:t>Implied quotes are not stored liquidity — they are live calculations. Remove an input and the output disappears instantly.</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148840"/>
            <a:ext cx="3840480" cy="2240280"/>
          </a:xfrm>
          <a:prstGeom prst="roundRect">
            <a:avLst>
              <a:gd name="adj" fmla="val 2449"/>
            </a:avLst>
          </a:prstGeom>
          <a:solidFill>
            <a:srgbClr val="1B212C"/>
          </a:solidFill>
          <a:ln w="12700">
            <a:solidFill>
              <a:srgbClr val="35E07E"/>
            </a:solidFill>
            <a:prstDash val="solid"/>
          </a:ln>
        </p:spPr>
        <p:txBody>
          <a:bodyPr/>
          <a:lstStyle/>
          <a:p>
            <a:endParaRPr lang="en-SE"/>
          </a:p>
        </p:txBody>
      </p:sp>
      <p:sp>
        <p:nvSpPr>
          <p:cNvPr id="8" name="Text 6"/>
          <p:cNvSpPr/>
          <p:nvPr/>
        </p:nvSpPr>
        <p:spPr>
          <a:xfrm>
            <a:off x="685800" y="2286000"/>
            <a:ext cx="2743200" cy="274320"/>
          </a:xfrm>
          <a:prstGeom prst="rect">
            <a:avLst/>
          </a:prstGeom>
          <a:noFill/>
          <a:ln/>
        </p:spPr>
        <p:txBody>
          <a:bodyPr wrap="square" lIns="0" tIns="0" rIns="0" bIns="0" rtlCol="0" anchor="t"/>
          <a:lstStyle/>
          <a:p>
            <a:pPr marL="0" indent="0" algn="l">
              <a:buNone/>
            </a:pPr>
            <a:r>
              <a:rPr lang="en-US" sz="1100" b="1" kern="0" spc="200" dirty="0">
                <a:solidFill>
                  <a:srgbClr val="35E07E"/>
                </a:solidFill>
                <a:latin typeface="Segoe UI" pitchFamily="34" charset="0"/>
                <a:ea typeface="Segoe UI" pitchFamily="34" charset="-122"/>
                <a:cs typeface="Segoe UI" pitchFamily="34" charset="-120"/>
              </a:rPr>
              <a:t>BEFORE</a:t>
            </a:r>
            <a:endParaRPr lang="en-US" sz="1100" dirty="0"/>
          </a:p>
        </p:txBody>
      </p:sp>
      <p:sp>
        <p:nvSpPr>
          <p:cNvPr id="9" name="Text 7"/>
          <p:cNvSpPr/>
          <p:nvPr/>
        </p:nvSpPr>
        <p:spPr>
          <a:xfrm>
            <a:off x="685800" y="2697480"/>
            <a:ext cx="3566160" cy="320040"/>
          </a:xfrm>
          <a:prstGeom prst="rect">
            <a:avLst/>
          </a:prstGeom>
          <a:noFill/>
          <a:ln/>
        </p:spPr>
        <p:txBody>
          <a:bodyPr wrap="square" lIns="0" tIns="0" rIns="0" bIns="0" rtlCol="0" anchor="t"/>
          <a:lstStyle/>
          <a:p>
            <a:pPr marL="0" indent="0" algn="l">
              <a:buNone/>
            </a:pPr>
            <a:r>
              <a:rPr lang="en-US" sz="1400" dirty="0">
                <a:solidFill>
                  <a:srgbClr val="D8DEE9"/>
                </a:solidFill>
                <a:latin typeface="Consolas" pitchFamily="34" charset="0"/>
                <a:ea typeface="Consolas" pitchFamily="34" charset="-122"/>
                <a:cs typeface="Consolas" pitchFamily="34" charset="-120"/>
              </a:rPr>
              <a:t>March bid 99 × 10  ✓</a:t>
            </a:r>
            <a:endParaRPr lang="en-US" sz="1400" dirty="0"/>
          </a:p>
        </p:txBody>
      </p:sp>
      <p:sp>
        <p:nvSpPr>
          <p:cNvPr id="10" name="Text 8"/>
          <p:cNvSpPr/>
          <p:nvPr/>
        </p:nvSpPr>
        <p:spPr>
          <a:xfrm>
            <a:off x="685800" y="3063240"/>
            <a:ext cx="3566160" cy="320040"/>
          </a:xfrm>
          <a:prstGeom prst="rect">
            <a:avLst/>
          </a:prstGeom>
          <a:noFill/>
          <a:ln/>
        </p:spPr>
        <p:txBody>
          <a:bodyPr wrap="square" lIns="0" tIns="0" rIns="0" bIns="0" rtlCol="0" anchor="t"/>
          <a:lstStyle/>
          <a:p>
            <a:pPr marL="0" indent="0" algn="l">
              <a:buNone/>
            </a:pPr>
            <a:r>
              <a:rPr lang="en-US" sz="1400" dirty="0">
                <a:solidFill>
                  <a:srgbClr val="D8DEE9"/>
                </a:solidFill>
                <a:latin typeface="Consolas" pitchFamily="34" charset="0"/>
                <a:ea typeface="Consolas" pitchFamily="34" charset="-122"/>
                <a:cs typeface="Consolas" pitchFamily="34" charset="-120"/>
              </a:rPr>
              <a:t>June ask 98 × 18  ✓</a:t>
            </a:r>
            <a:endParaRPr lang="en-US" sz="1400" dirty="0"/>
          </a:p>
        </p:txBody>
      </p:sp>
      <p:sp>
        <p:nvSpPr>
          <p:cNvPr id="11" name="rule">
            <a:extLst>
              <a:ext uri="{C183D7F6-B498-43B3-948B-1728B52AA6E4}">
                <adec:decorative xmlns:adec="http://schemas.microsoft.com/office/drawing/2017/decorative" val="1"/>
              </a:ext>
            </a:extLst>
          </p:cNvPr>
          <p:cNvSpPr/>
          <p:nvPr/>
        </p:nvSpPr>
        <p:spPr>
          <a:xfrm>
            <a:off x="685800" y="3566160"/>
            <a:ext cx="3474720" cy="0"/>
          </a:xfrm>
          <a:prstGeom prst="line">
            <a:avLst/>
          </a:prstGeom>
          <a:noFill/>
          <a:ln w="12700">
            <a:solidFill>
              <a:srgbClr val="2C3644"/>
            </a:solidFill>
            <a:prstDash val="solid"/>
          </a:ln>
        </p:spPr>
        <p:txBody>
          <a:bodyPr/>
          <a:lstStyle/>
          <a:p>
            <a:endParaRPr lang="en-SE"/>
          </a:p>
        </p:txBody>
      </p:sp>
      <p:sp>
        <p:nvSpPr>
          <p:cNvPr id="12" name="Text 10"/>
          <p:cNvSpPr/>
          <p:nvPr/>
        </p:nvSpPr>
        <p:spPr>
          <a:xfrm>
            <a:off x="685800" y="3703320"/>
            <a:ext cx="3566160" cy="320040"/>
          </a:xfrm>
          <a:prstGeom prst="rect">
            <a:avLst/>
          </a:prstGeom>
          <a:noFill/>
          <a:ln/>
        </p:spPr>
        <p:txBody>
          <a:bodyPr wrap="square" lIns="0" tIns="0" rIns="0" bIns="0" rtlCol="0" anchor="t"/>
          <a:lstStyle/>
          <a:p>
            <a:pPr marL="0" indent="0" algn="l">
              <a:buNone/>
            </a:pPr>
            <a:r>
              <a:rPr lang="en-US" sz="1400" b="1" dirty="0">
                <a:solidFill>
                  <a:srgbClr val="3AD1E6"/>
                </a:solidFill>
                <a:latin typeface="Consolas" pitchFamily="34" charset="0"/>
                <a:ea typeface="Consolas" pitchFamily="34" charset="-122"/>
                <a:cs typeface="Consolas" pitchFamily="34" charset="-120"/>
              </a:rPr>
              <a:t>Implied spread bid @ 1</a:t>
            </a:r>
            <a:endParaRPr lang="en-US" sz="1400" dirty="0"/>
          </a:p>
        </p:txBody>
      </p:sp>
      <p:sp>
        <p:nvSpPr>
          <p:cNvPr id="13" name="Text 11"/>
          <p:cNvSpPr/>
          <p:nvPr/>
        </p:nvSpPr>
        <p:spPr>
          <a:xfrm>
            <a:off x="685800" y="4023360"/>
            <a:ext cx="3566160" cy="274320"/>
          </a:xfrm>
          <a:prstGeom prst="rect">
            <a:avLst/>
          </a:prstGeom>
          <a:noFill/>
          <a:ln/>
        </p:spPr>
        <p:txBody>
          <a:bodyPr wrap="square" lIns="0" tIns="0" rIns="0" bIns="0" rtlCol="0" anchor="t"/>
          <a:lstStyle/>
          <a:p>
            <a:pPr marL="0" indent="0" algn="l">
              <a:buNone/>
            </a:pPr>
            <a:r>
              <a:rPr lang="en-US" sz="1200" dirty="0">
                <a:solidFill>
                  <a:srgbClr val="35E07E"/>
                </a:solidFill>
                <a:latin typeface="Consolas" pitchFamily="34" charset="0"/>
                <a:ea typeface="Consolas" pitchFamily="34" charset="-122"/>
                <a:cs typeface="Consolas" pitchFamily="34" charset="-120"/>
              </a:rPr>
              <a:t>live ✓</a:t>
            </a:r>
            <a:endParaRPr lang="en-US" sz="1200" dirty="0"/>
          </a:p>
        </p:txBody>
      </p:sp>
      <p:sp>
        <p:nvSpPr>
          <p:cNvPr id="14" name="panel">
            <a:extLst>
              <a:ext uri="{C183D7F6-B498-43B3-948B-1728B52AA6E4}">
                <adec:decorative xmlns:adec="http://schemas.microsoft.com/office/drawing/2017/decorative" val="1"/>
              </a:ext>
            </a:extLst>
          </p:cNvPr>
          <p:cNvSpPr/>
          <p:nvPr/>
        </p:nvSpPr>
        <p:spPr>
          <a:xfrm>
            <a:off x="4754880" y="2148840"/>
            <a:ext cx="3840480" cy="2240280"/>
          </a:xfrm>
          <a:prstGeom prst="roundRect">
            <a:avLst>
              <a:gd name="adj" fmla="val 2449"/>
            </a:avLst>
          </a:prstGeom>
          <a:solidFill>
            <a:srgbClr val="1B212C"/>
          </a:solidFill>
          <a:ln w="12700">
            <a:solidFill>
              <a:srgbClr val="FF5C6C"/>
            </a:solidFill>
            <a:prstDash val="solid"/>
          </a:ln>
        </p:spPr>
        <p:txBody>
          <a:bodyPr/>
          <a:lstStyle/>
          <a:p>
            <a:endParaRPr lang="en-SE"/>
          </a:p>
        </p:txBody>
      </p:sp>
      <p:sp>
        <p:nvSpPr>
          <p:cNvPr id="15" name="Text 13"/>
          <p:cNvSpPr/>
          <p:nvPr/>
        </p:nvSpPr>
        <p:spPr>
          <a:xfrm>
            <a:off x="4937760" y="2286000"/>
            <a:ext cx="3474720" cy="274320"/>
          </a:xfrm>
          <a:prstGeom prst="rect">
            <a:avLst/>
          </a:prstGeom>
          <a:noFill/>
          <a:ln/>
        </p:spPr>
        <p:txBody>
          <a:bodyPr wrap="square" lIns="0" tIns="0" rIns="0" bIns="0" rtlCol="0" anchor="t"/>
          <a:lstStyle/>
          <a:p>
            <a:pPr marL="0" indent="0" algn="l">
              <a:buNone/>
            </a:pPr>
            <a:r>
              <a:rPr lang="en-US" sz="1100" b="1" kern="0" spc="100" dirty="0">
                <a:solidFill>
                  <a:srgbClr val="FF5C6C"/>
                </a:solidFill>
                <a:latin typeface="Segoe UI" pitchFamily="34" charset="0"/>
                <a:ea typeface="Segoe UI" pitchFamily="34" charset="-122"/>
                <a:cs typeface="Segoe UI" pitchFamily="34" charset="-120"/>
              </a:rPr>
              <a:t>AFTER  (March bid cancels)</a:t>
            </a:r>
            <a:endParaRPr lang="en-US" sz="1100" dirty="0"/>
          </a:p>
        </p:txBody>
      </p:sp>
      <p:sp>
        <p:nvSpPr>
          <p:cNvPr id="16" name="Text 14"/>
          <p:cNvSpPr/>
          <p:nvPr/>
        </p:nvSpPr>
        <p:spPr>
          <a:xfrm>
            <a:off x="4937760" y="2697480"/>
            <a:ext cx="3566160" cy="320040"/>
          </a:xfrm>
          <a:prstGeom prst="rect">
            <a:avLst/>
          </a:prstGeom>
          <a:noFill/>
          <a:ln/>
        </p:spPr>
        <p:txBody>
          <a:bodyPr wrap="square" lIns="0" tIns="0" rIns="0" bIns="0" rtlCol="0" anchor="t"/>
          <a:lstStyle/>
          <a:p>
            <a:pPr marL="0" indent="0" algn="l">
              <a:buNone/>
            </a:pPr>
            <a:r>
              <a:rPr lang="en-US" sz="1400" dirty="0">
                <a:solidFill>
                  <a:srgbClr val="FF5C6C"/>
                </a:solidFill>
                <a:latin typeface="Consolas" pitchFamily="34" charset="0"/>
                <a:ea typeface="Consolas" pitchFamily="34" charset="-122"/>
                <a:cs typeface="Consolas" pitchFamily="34" charset="-120"/>
              </a:rPr>
              <a:t>March bid  — gone ✖</a:t>
            </a:r>
            <a:endParaRPr lang="en-US" sz="1400" dirty="0"/>
          </a:p>
        </p:txBody>
      </p:sp>
      <p:sp>
        <p:nvSpPr>
          <p:cNvPr id="17" name="Text 15"/>
          <p:cNvSpPr/>
          <p:nvPr/>
        </p:nvSpPr>
        <p:spPr>
          <a:xfrm>
            <a:off x="4937760" y="3063240"/>
            <a:ext cx="3566160" cy="320040"/>
          </a:xfrm>
          <a:prstGeom prst="rect">
            <a:avLst/>
          </a:prstGeom>
          <a:noFill/>
          <a:ln/>
        </p:spPr>
        <p:txBody>
          <a:bodyPr wrap="square" lIns="0" tIns="0" rIns="0" bIns="0" rtlCol="0" anchor="t"/>
          <a:lstStyle/>
          <a:p>
            <a:pPr marL="0" indent="0" algn="l">
              <a:buNone/>
            </a:pPr>
            <a:r>
              <a:rPr lang="en-US" sz="1400" dirty="0">
                <a:solidFill>
                  <a:srgbClr val="8B96A8"/>
                </a:solidFill>
                <a:latin typeface="Consolas" pitchFamily="34" charset="0"/>
                <a:ea typeface="Consolas" pitchFamily="34" charset="-122"/>
                <a:cs typeface="Consolas" pitchFamily="34" charset="-120"/>
              </a:rPr>
              <a:t>June ask 98 × 18  ✓</a:t>
            </a:r>
            <a:endParaRPr lang="en-US" sz="1400" dirty="0"/>
          </a:p>
        </p:txBody>
      </p:sp>
      <p:sp>
        <p:nvSpPr>
          <p:cNvPr id="18" name="rule">
            <a:extLst>
              <a:ext uri="{C183D7F6-B498-43B3-948B-1728B52AA6E4}">
                <adec:decorative xmlns:adec="http://schemas.microsoft.com/office/drawing/2017/decorative" val="1"/>
              </a:ext>
            </a:extLst>
          </p:cNvPr>
          <p:cNvSpPr/>
          <p:nvPr/>
        </p:nvSpPr>
        <p:spPr>
          <a:xfrm>
            <a:off x="4937760" y="3566160"/>
            <a:ext cx="3474720" cy="0"/>
          </a:xfrm>
          <a:prstGeom prst="line">
            <a:avLst/>
          </a:prstGeom>
          <a:noFill/>
          <a:ln w="12700">
            <a:solidFill>
              <a:srgbClr val="2C3644"/>
            </a:solidFill>
            <a:prstDash val="solid"/>
          </a:ln>
        </p:spPr>
        <p:txBody>
          <a:bodyPr/>
          <a:lstStyle/>
          <a:p>
            <a:endParaRPr lang="en-SE"/>
          </a:p>
        </p:txBody>
      </p:sp>
      <p:sp>
        <p:nvSpPr>
          <p:cNvPr id="19" name="Text 17"/>
          <p:cNvSpPr/>
          <p:nvPr/>
        </p:nvSpPr>
        <p:spPr>
          <a:xfrm>
            <a:off x="4937760" y="3703320"/>
            <a:ext cx="3566160" cy="320040"/>
          </a:xfrm>
          <a:prstGeom prst="rect">
            <a:avLst/>
          </a:prstGeom>
          <a:noFill/>
          <a:ln/>
        </p:spPr>
        <p:txBody>
          <a:bodyPr wrap="square" lIns="0" tIns="0" rIns="0" bIns="0" rtlCol="0" anchor="t"/>
          <a:lstStyle/>
          <a:p>
            <a:pPr marL="0" indent="0" algn="l">
              <a:buNone/>
            </a:pPr>
            <a:r>
              <a:rPr lang="en-US" sz="1400" b="1" dirty="0">
                <a:solidFill>
                  <a:srgbClr val="8B96A8"/>
                </a:solidFill>
                <a:latin typeface="Consolas" pitchFamily="34" charset="0"/>
                <a:ea typeface="Consolas" pitchFamily="34" charset="-122"/>
                <a:cs typeface="Consolas" pitchFamily="34" charset="-120"/>
              </a:rPr>
              <a:t>Implied spread bid</a:t>
            </a:r>
            <a:endParaRPr lang="en-US" sz="1400" dirty="0"/>
          </a:p>
        </p:txBody>
      </p:sp>
      <p:sp>
        <p:nvSpPr>
          <p:cNvPr id="20" name="Text 18"/>
          <p:cNvSpPr/>
          <p:nvPr/>
        </p:nvSpPr>
        <p:spPr>
          <a:xfrm>
            <a:off x="4937760" y="4023360"/>
            <a:ext cx="3566160" cy="274320"/>
          </a:xfrm>
          <a:prstGeom prst="rect">
            <a:avLst/>
          </a:prstGeom>
          <a:noFill/>
          <a:ln/>
        </p:spPr>
        <p:txBody>
          <a:bodyPr wrap="square" lIns="0" tIns="0" rIns="0" bIns="0" rtlCol="0" anchor="t"/>
          <a:lstStyle/>
          <a:p>
            <a:pPr marL="0" indent="0" algn="l">
              <a:buNone/>
            </a:pPr>
            <a:r>
              <a:rPr lang="en-US" sz="1200" dirty="0">
                <a:solidFill>
                  <a:srgbClr val="FF5C6C"/>
                </a:solidFill>
                <a:latin typeface="Consolas" pitchFamily="34" charset="0"/>
                <a:ea typeface="Consolas" pitchFamily="34" charset="-122"/>
                <a:cs typeface="Consolas" pitchFamily="34" charset="-120"/>
              </a:rPr>
              <a:t>vanishes ✖</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No double-counting when it trades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NO NEW LIQUIDITY · 4</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45</a:t>
            </a:r>
            <a:endParaRPr lang="en-US" sz="850" dirty="0"/>
          </a:p>
        </p:txBody>
      </p:sp>
      <p:sp>
        <p:nvSpPr>
          <p:cNvPr id="6" name="Text 4"/>
          <p:cNvSpPr/>
          <p:nvPr/>
        </p:nvSpPr>
        <p:spPr>
          <a:xfrm>
            <a:off x="502920" y="1417320"/>
            <a:ext cx="8046720" cy="502920"/>
          </a:xfrm>
          <a:prstGeom prst="rect">
            <a:avLst/>
          </a:prstGeom>
          <a:noFill/>
          <a:ln/>
        </p:spPr>
        <p:txBody>
          <a:bodyPr wrap="square" lIns="0" tIns="0" rIns="0" bIns="0" rtlCol="0" anchor="t"/>
          <a:lstStyle/>
          <a:p>
            <a:pPr marL="0" indent="0" algn="l">
              <a:lnSpc>
                <a:spcPts val="1800"/>
              </a:lnSpc>
              <a:buNone/>
            </a:pPr>
            <a:r>
              <a:rPr lang="en-US" sz="1350" dirty="0">
                <a:solidFill>
                  <a:srgbClr val="D8DEE9"/>
                </a:solidFill>
                <a:latin typeface="Segoe UI" pitchFamily="34" charset="0"/>
                <a:ea typeface="Segoe UI" pitchFamily="34" charset="-122"/>
                <a:cs typeface="Segoe UI" pitchFamily="34" charset="-120"/>
              </a:rPr>
              <a:t>The engine guarantees each real order is consumed at most once — whether it's hit directly or through an implied.</a:t>
            </a:r>
            <a:endParaRPr lang="en-US" sz="1350" dirty="0"/>
          </a:p>
        </p:txBody>
      </p:sp>
      <p:sp>
        <p:nvSpPr>
          <p:cNvPr id="7" name="panel">
            <a:extLst>
              <a:ext uri="{C183D7F6-B498-43B3-948B-1728B52AA6E4}">
                <adec:decorative xmlns:adec="http://schemas.microsoft.com/office/drawing/2017/decorative" val="1"/>
              </a:ext>
            </a:extLst>
          </p:cNvPr>
          <p:cNvSpPr/>
          <p:nvPr/>
        </p:nvSpPr>
        <p:spPr>
          <a:xfrm>
            <a:off x="502920" y="2148840"/>
            <a:ext cx="8092440" cy="960120"/>
          </a:xfrm>
          <a:prstGeom prst="roundRect">
            <a:avLst>
              <a:gd name="adj" fmla="val 5714"/>
            </a:avLst>
          </a:prstGeom>
          <a:solidFill>
            <a:srgbClr val="1B212C"/>
          </a:solidFill>
          <a:ln w="12700">
            <a:solidFill>
              <a:srgbClr val="2C3644"/>
            </a:solidFill>
            <a:prstDash val="solid"/>
          </a:ln>
        </p:spPr>
        <p:txBody>
          <a:bodyPr/>
          <a:lstStyle/>
          <a:p>
            <a:endParaRPr lang="en-SE"/>
          </a:p>
        </p:txBody>
      </p:sp>
      <p:sp>
        <p:nvSpPr>
          <p:cNvPr id="8" name="Text 6"/>
          <p:cNvSpPr/>
          <p:nvPr/>
        </p:nvSpPr>
        <p:spPr>
          <a:xfrm>
            <a:off x="685800" y="2267712"/>
            <a:ext cx="7680960" cy="274320"/>
          </a:xfrm>
          <a:prstGeom prst="rect">
            <a:avLst/>
          </a:prstGeom>
          <a:noFill/>
          <a:ln/>
        </p:spPr>
        <p:txBody>
          <a:bodyPr wrap="square" lIns="0" tIns="0" rIns="0" bIns="0" rtlCol="0" anchor="t"/>
          <a:lstStyle/>
          <a:p>
            <a:pPr marL="0" indent="0" algn="l">
              <a:buNone/>
            </a:pPr>
            <a:r>
              <a:rPr lang="en-US" sz="1300" b="1" dirty="0">
                <a:solidFill>
                  <a:srgbClr val="FFFFFF"/>
                </a:solidFill>
                <a:latin typeface="Segoe UI" pitchFamily="34" charset="0"/>
                <a:ea typeface="Segoe UI" pitchFamily="34" charset="-122"/>
                <a:cs typeface="Segoe UI" pitchFamily="34" charset="-120"/>
              </a:rPr>
              <a:t>March bid 99 can be reached TWO ways:</a:t>
            </a:r>
            <a:endParaRPr lang="en-US" sz="1300" dirty="0"/>
          </a:p>
        </p:txBody>
      </p:sp>
      <p:sp>
        <p:nvSpPr>
          <p:cNvPr id="9" name="Text 7"/>
          <p:cNvSpPr/>
          <p:nvPr/>
        </p:nvSpPr>
        <p:spPr>
          <a:xfrm>
            <a:off x="685800" y="2606040"/>
            <a:ext cx="7680960" cy="365760"/>
          </a:xfrm>
          <a:prstGeom prst="rect">
            <a:avLst/>
          </a:prstGeom>
          <a:noFill/>
          <a:ln/>
        </p:spPr>
        <p:txBody>
          <a:bodyPr wrap="square" lIns="0" tIns="0" rIns="0" bIns="0" rtlCol="0" anchor="t"/>
          <a:lstStyle/>
          <a:p>
            <a:pPr marL="0" indent="0" algn="l">
              <a:buNone/>
            </a:pPr>
            <a:r>
              <a:rPr lang="en-US" sz="1250" dirty="0">
                <a:solidFill>
                  <a:srgbClr val="D8DEE9"/>
                </a:solidFill>
                <a:latin typeface="Consolas" pitchFamily="34" charset="0"/>
                <a:ea typeface="Consolas" pitchFamily="34" charset="-122"/>
                <a:cs typeface="Consolas" pitchFamily="34" charset="-120"/>
              </a:rPr>
              <a:t>directly (someone sells March)   ·   or via the implied spread bid</a:t>
            </a:r>
            <a:endParaRPr lang="en-US" sz="1250" dirty="0"/>
          </a:p>
        </p:txBody>
      </p:sp>
      <p:sp>
        <p:nvSpPr>
          <p:cNvPr id="10" name="panel">
            <a:extLst>
              <a:ext uri="{C183D7F6-B498-43B3-948B-1728B52AA6E4}">
                <adec:decorative xmlns:adec="http://schemas.microsoft.com/office/drawing/2017/decorative" val="1"/>
              </a:ext>
            </a:extLst>
          </p:cNvPr>
          <p:cNvSpPr/>
          <p:nvPr/>
        </p:nvSpPr>
        <p:spPr>
          <a:xfrm>
            <a:off x="502920" y="3246120"/>
            <a:ext cx="8092440" cy="1143000"/>
          </a:xfrm>
          <a:prstGeom prst="roundRect">
            <a:avLst>
              <a:gd name="adj" fmla="val 4800"/>
            </a:avLst>
          </a:prstGeom>
          <a:solidFill>
            <a:srgbClr val="10251C"/>
          </a:solidFill>
          <a:ln w="12700">
            <a:solidFill>
              <a:srgbClr val="35E07E"/>
            </a:solidFill>
            <a:prstDash val="solid"/>
          </a:ln>
        </p:spPr>
        <p:txBody>
          <a:bodyPr/>
          <a:lstStyle/>
          <a:p>
            <a:endParaRPr lang="en-SE"/>
          </a:p>
        </p:txBody>
      </p:sp>
      <p:sp>
        <p:nvSpPr>
          <p:cNvPr id="11" name="Text 9"/>
          <p:cNvSpPr/>
          <p:nvPr/>
        </p:nvSpPr>
        <p:spPr>
          <a:xfrm>
            <a:off x="685800" y="3364992"/>
            <a:ext cx="2743200" cy="228600"/>
          </a:xfrm>
          <a:prstGeom prst="rect">
            <a:avLst/>
          </a:prstGeom>
          <a:noFill/>
          <a:ln/>
        </p:spPr>
        <p:txBody>
          <a:bodyPr wrap="square" lIns="0" tIns="0" rIns="0" bIns="0" rtlCol="0" anchor="t"/>
          <a:lstStyle/>
          <a:p>
            <a:pPr marL="0" indent="0" algn="l">
              <a:buNone/>
            </a:pPr>
            <a:r>
              <a:rPr lang="en-US" sz="1000" b="1" kern="0" spc="200" dirty="0">
                <a:solidFill>
                  <a:srgbClr val="35E07E"/>
                </a:solidFill>
                <a:latin typeface="Segoe UI" pitchFamily="34" charset="0"/>
                <a:ea typeface="Segoe UI" pitchFamily="34" charset="-122"/>
                <a:cs typeface="Segoe UI" pitchFamily="34" charset="-120"/>
              </a:rPr>
              <a:t>THE RULE</a:t>
            </a:r>
            <a:endParaRPr lang="en-US" sz="1000" dirty="0"/>
          </a:p>
        </p:txBody>
      </p:sp>
      <p:sp>
        <p:nvSpPr>
          <p:cNvPr id="12" name="Text 10"/>
          <p:cNvSpPr/>
          <p:nvPr/>
        </p:nvSpPr>
        <p:spPr>
          <a:xfrm>
            <a:off x="685800" y="3639312"/>
            <a:ext cx="7772400" cy="685800"/>
          </a:xfrm>
          <a:prstGeom prst="rect">
            <a:avLst/>
          </a:prstGeom>
          <a:noFill/>
          <a:ln/>
        </p:spPr>
        <p:txBody>
          <a:bodyPr wrap="square" lIns="0" tIns="0" rIns="0" bIns="0" rtlCol="0" anchor="t"/>
          <a:lstStyle/>
          <a:p>
            <a:pPr marL="0" indent="0" algn="l">
              <a:lnSpc>
                <a:spcPts val="1900"/>
              </a:lnSpc>
              <a:buNone/>
            </a:pPr>
            <a:r>
              <a:rPr lang="en-US" sz="1350" dirty="0">
                <a:solidFill>
                  <a:srgbClr val="D8DEE9"/>
                </a:solidFill>
                <a:latin typeface="Segoe UI" pitchFamily="34" charset="0"/>
                <a:ea typeface="Segoe UI" pitchFamily="34" charset="-122"/>
                <a:cs typeface="Segoe UI" pitchFamily="34" charset="-120"/>
              </a:rPr>
              <a:t>The moment it fills either way, it is removed from the book — so its liquidity is counted exactly once. Implication reshuffles who trades with whom; it never lets the same order trade twice.</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solidFill>
          <a:ln/>
        </p:spPr>
        <p:txBody>
          <a:bodyPr/>
          <a:lstStyle/>
          <a:p>
            <a:endParaRPr lang="en-SE"/>
          </a:p>
        </p:txBody>
      </p:sp>
      <p:sp>
        <p:nvSpPr>
          <p:cNvPr id="3" name="motif">
            <a:extLst>
              <a:ext uri="{C183D7F6-B498-43B3-948B-1728B52AA6E4}">
                <adec:decorative xmlns:adec="http://schemas.microsoft.com/office/drawing/2017/decorative" val="1"/>
              </a:ext>
            </a:extLst>
          </p:cNvPr>
          <p:cNvSpPr/>
          <p:nvPr/>
        </p:nvSpPr>
        <p:spPr>
          <a:xfrm>
            <a:off x="7772400" y="457200"/>
            <a:ext cx="1280160" cy="292608"/>
          </a:xfrm>
          <a:prstGeom prst="rect">
            <a:avLst/>
          </a:prstGeom>
          <a:solidFill>
            <a:srgbClr val="3AD1E6">
              <a:alpha val="12000"/>
            </a:srgbClr>
          </a:solidFill>
          <a:ln/>
        </p:spPr>
        <p:txBody>
          <a:bodyPr/>
          <a:lstStyle/>
          <a:p>
            <a:endParaRPr lang="en-SE"/>
          </a:p>
        </p:txBody>
      </p:sp>
      <p:sp>
        <p:nvSpPr>
          <p:cNvPr id="4"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solidFill>
          <a:ln/>
        </p:spPr>
        <p:txBody>
          <a:bodyPr/>
          <a:lstStyle/>
          <a:p>
            <a:endParaRPr lang="en-SE"/>
          </a:p>
        </p:txBody>
      </p:sp>
      <p:sp>
        <p:nvSpPr>
          <p:cNvPr id="5" name="motif">
            <a:extLst>
              <a:ext uri="{C183D7F6-B498-43B3-948B-1728B52AA6E4}">
                <adec:decorative xmlns:adec="http://schemas.microsoft.com/office/drawing/2017/decorative" val="1"/>
              </a:ext>
            </a:extLst>
          </p:cNvPr>
          <p:cNvSpPr/>
          <p:nvPr/>
        </p:nvSpPr>
        <p:spPr>
          <a:xfrm>
            <a:off x="7891272" y="914400"/>
            <a:ext cx="1161288" cy="292608"/>
          </a:xfrm>
          <a:prstGeom prst="rect">
            <a:avLst/>
          </a:prstGeom>
          <a:solidFill>
            <a:srgbClr val="35E07E">
              <a:alpha val="12000"/>
            </a:srgbClr>
          </a:solidFill>
          <a:ln/>
        </p:spPr>
        <p:txBody>
          <a:bodyPr/>
          <a:lstStyle/>
          <a:p>
            <a:endParaRPr lang="en-SE"/>
          </a:p>
        </p:txBody>
      </p:sp>
      <p:sp>
        <p:nvSpPr>
          <p:cNvPr id="6"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solidFill>
          <a:ln/>
        </p:spPr>
        <p:txBody>
          <a:bodyPr/>
          <a:lstStyle/>
          <a:p>
            <a:endParaRPr lang="en-SE"/>
          </a:p>
        </p:txBody>
      </p:sp>
      <p:sp>
        <p:nvSpPr>
          <p:cNvPr id="7" name="motif">
            <a:extLst>
              <a:ext uri="{C183D7F6-B498-43B3-948B-1728B52AA6E4}">
                <adec:decorative xmlns:adec="http://schemas.microsoft.com/office/drawing/2017/decorative" val="1"/>
              </a:ext>
            </a:extLst>
          </p:cNvPr>
          <p:cNvSpPr/>
          <p:nvPr/>
        </p:nvSpPr>
        <p:spPr>
          <a:xfrm>
            <a:off x="8010144" y="1371600"/>
            <a:ext cx="1042416" cy="292608"/>
          </a:xfrm>
          <a:prstGeom prst="rect">
            <a:avLst/>
          </a:prstGeom>
          <a:solidFill>
            <a:srgbClr val="3AD1E6">
              <a:alpha val="12000"/>
            </a:srgbClr>
          </a:solidFill>
          <a:ln/>
        </p:spPr>
        <p:txBody>
          <a:bodyPr/>
          <a:lstStyle/>
          <a:p>
            <a:endParaRPr lang="en-SE"/>
          </a:p>
        </p:txBody>
      </p:sp>
      <p:sp>
        <p:nvSpPr>
          <p:cNvPr id="8"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solidFill>
          <a:ln/>
        </p:spPr>
        <p:txBody>
          <a:bodyPr/>
          <a:lstStyle/>
          <a:p>
            <a:endParaRPr lang="en-SE"/>
          </a:p>
        </p:txBody>
      </p:sp>
      <p:sp>
        <p:nvSpPr>
          <p:cNvPr id="9" name="motif">
            <a:extLst>
              <a:ext uri="{C183D7F6-B498-43B3-948B-1728B52AA6E4}">
                <adec:decorative xmlns:adec="http://schemas.microsoft.com/office/drawing/2017/decorative" val="1"/>
              </a:ext>
            </a:extLst>
          </p:cNvPr>
          <p:cNvSpPr/>
          <p:nvPr/>
        </p:nvSpPr>
        <p:spPr>
          <a:xfrm>
            <a:off x="8129016" y="1828800"/>
            <a:ext cx="923544" cy="292608"/>
          </a:xfrm>
          <a:prstGeom prst="rect">
            <a:avLst/>
          </a:prstGeom>
          <a:solidFill>
            <a:srgbClr val="35E07E">
              <a:alpha val="12000"/>
            </a:srgbClr>
          </a:solidFill>
          <a:ln/>
        </p:spPr>
        <p:txBody>
          <a:bodyPr/>
          <a:lstStyle/>
          <a:p>
            <a:endParaRPr lang="en-SE"/>
          </a:p>
        </p:txBody>
      </p:sp>
      <p:sp>
        <p:nvSpPr>
          <p:cNvPr id="10"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solidFill>
          <a:ln/>
        </p:spPr>
        <p:txBody>
          <a:bodyPr/>
          <a:lstStyle/>
          <a:p>
            <a:endParaRPr lang="en-SE"/>
          </a:p>
        </p:txBody>
      </p:sp>
      <p:sp>
        <p:nvSpPr>
          <p:cNvPr id="11" name="motif">
            <a:extLst>
              <a:ext uri="{C183D7F6-B498-43B3-948B-1728B52AA6E4}">
                <adec:decorative xmlns:adec="http://schemas.microsoft.com/office/drawing/2017/decorative" val="1"/>
              </a:ext>
            </a:extLst>
          </p:cNvPr>
          <p:cNvSpPr/>
          <p:nvPr/>
        </p:nvSpPr>
        <p:spPr>
          <a:xfrm>
            <a:off x="8247888" y="2286000"/>
            <a:ext cx="804672" cy="292608"/>
          </a:xfrm>
          <a:prstGeom prst="rect">
            <a:avLst/>
          </a:prstGeom>
          <a:solidFill>
            <a:srgbClr val="3AD1E6">
              <a:alpha val="12000"/>
            </a:srgbClr>
          </a:solidFill>
          <a:ln/>
        </p:spPr>
        <p:txBody>
          <a:bodyPr/>
          <a:lstStyle/>
          <a:p>
            <a:endParaRPr lang="en-SE"/>
          </a:p>
        </p:txBody>
      </p:sp>
      <p:sp>
        <p:nvSpPr>
          <p:cNvPr id="12"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solidFill>
          <a:ln/>
        </p:spPr>
        <p:txBody>
          <a:bodyPr/>
          <a:lstStyle/>
          <a:p>
            <a:endParaRPr lang="en-SE"/>
          </a:p>
        </p:txBody>
      </p:sp>
      <p:sp>
        <p:nvSpPr>
          <p:cNvPr id="13" name="motif">
            <a:extLst>
              <a:ext uri="{C183D7F6-B498-43B3-948B-1728B52AA6E4}">
                <adec:decorative xmlns:adec="http://schemas.microsoft.com/office/drawing/2017/decorative" val="1"/>
              </a:ext>
            </a:extLst>
          </p:cNvPr>
          <p:cNvSpPr/>
          <p:nvPr/>
        </p:nvSpPr>
        <p:spPr>
          <a:xfrm>
            <a:off x="8366760" y="2743200"/>
            <a:ext cx="685800" cy="292608"/>
          </a:xfrm>
          <a:prstGeom prst="rect">
            <a:avLst/>
          </a:prstGeom>
          <a:solidFill>
            <a:srgbClr val="35E07E">
              <a:alpha val="12000"/>
            </a:srgbClr>
          </a:solidFill>
          <a:ln/>
        </p:spPr>
        <p:txBody>
          <a:bodyPr/>
          <a:lstStyle/>
          <a:p>
            <a:endParaRPr lang="en-SE"/>
          </a:p>
        </p:txBody>
      </p:sp>
      <p:sp>
        <p:nvSpPr>
          <p:cNvPr id="14"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solidFill>
          <a:ln/>
        </p:spPr>
        <p:txBody>
          <a:bodyPr/>
          <a:lstStyle/>
          <a:p>
            <a:endParaRPr lang="en-SE"/>
          </a:p>
        </p:txBody>
      </p:sp>
      <p:sp>
        <p:nvSpPr>
          <p:cNvPr id="15" name="motif">
            <a:extLst>
              <a:ext uri="{C183D7F6-B498-43B3-948B-1728B52AA6E4}">
                <adec:decorative xmlns:adec="http://schemas.microsoft.com/office/drawing/2017/decorative" val="1"/>
              </a:ext>
            </a:extLst>
          </p:cNvPr>
          <p:cNvSpPr/>
          <p:nvPr/>
        </p:nvSpPr>
        <p:spPr>
          <a:xfrm>
            <a:off x="8485632" y="3200400"/>
            <a:ext cx="566928" cy="292608"/>
          </a:xfrm>
          <a:prstGeom prst="rect">
            <a:avLst/>
          </a:prstGeom>
          <a:solidFill>
            <a:srgbClr val="3AD1E6">
              <a:alpha val="12000"/>
            </a:srgbClr>
          </a:solidFill>
          <a:ln/>
        </p:spPr>
        <p:txBody>
          <a:bodyPr/>
          <a:lstStyle/>
          <a:p>
            <a:endParaRPr lang="en-SE"/>
          </a:p>
        </p:txBody>
      </p:sp>
      <p:sp>
        <p:nvSpPr>
          <p:cNvPr id="16"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solidFill>
          <a:ln/>
        </p:spPr>
        <p:txBody>
          <a:bodyPr/>
          <a:lstStyle/>
          <a:p>
            <a:endParaRPr lang="en-SE"/>
          </a:p>
        </p:txBody>
      </p:sp>
      <p:sp>
        <p:nvSpPr>
          <p:cNvPr id="17" name="motif">
            <a:extLst>
              <a:ext uri="{C183D7F6-B498-43B3-948B-1728B52AA6E4}">
                <adec:decorative xmlns:adec="http://schemas.microsoft.com/office/drawing/2017/decorative" val="1"/>
              </a:ext>
            </a:extLst>
          </p:cNvPr>
          <p:cNvSpPr/>
          <p:nvPr/>
        </p:nvSpPr>
        <p:spPr>
          <a:xfrm>
            <a:off x="8604504" y="3657600"/>
            <a:ext cx="448056" cy="292608"/>
          </a:xfrm>
          <a:prstGeom prst="rect">
            <a:avLst/>
          </a:prstGeom>
          <a:solidFill>
            <a:srgbClr val="35E07E">
              <a:alpha val="12000"/>
            </a:srgbClr>
          </a:solidFill>
          <a:ln/>
        </p:spPr>
        <p:txBody>
          <a:bodyPr/>
          <a:lstStyle/>
          <a:p>
            <a:endParaRPr lang="en-SE"/>
          </a:p>
        </p:txBody>
      </p:sp>
      <p:sp>
        <p:nvSpPr>
          <p:cNvPr id="18" name="Text 16"/>
          <p:cNvSpPr/>
          <p:nvPr/>
        </p:nvSpPr>
        <p:spPr>
          <a:xfrm>
            <a:off x="1280160" y="1847088"/>
            <a:ext cx="3657600" cy="365760"/>
          </a:xfrm>
          <a:prstGeom prst="rect">
            <a:avLst/>
          </a:prstGeom>
          <a:noFill/>
          <a:ln/>
        </p:spPr>
        <p:txBody>
          <a:bodyPr wrap="square" lIns="0" tIns="0" rIns="0" bIns="0" rtlCol="0" anchor="t"/>
          <a:lstStyle/>
          <a:p>
            <a:pPr marL="0" indent="0" algn="l">
              <a:buNone/>
            </a:pPr>
            <a:r>
              <a:rPr lang="en-US" sz="1500" b="1" kern="0" spc="400" dirty="0">
                <a:solidFill>
                  <a:srgbClr val="35E07E"/>
                </a:solidFill>
                <a:latin typeface="Consolas" pitchFamily="34" charset="0"/>
                <a:ea typeface="Consolas" pitchFamily="34" charset="-122"/>
                <a:cs typeface="Consolas" pitchFamily="34" charset="-120"/>
              </a:rPr>
              <a:t>SECTION VII</a:t>
            </a:r>
            <a:endParaRPr lang="en-US" sz="1500" dirty="0"/>
          </a:p>
        </p:txBody>
      </p:sp>
      <p:sp>
        <p:nvSpPr>
          <p:cNvPr id="19" name="Text 0"/>
          <p:cNvSpPr>
            <a:spLocks noGrp="1"/>
          </p:cNvSpPr>
          <p:nvPr>
            <p:ph type="title" idx="100" hasCustomPrompt="1"/>
          </p:nvPr>
        </p:nvSpPr>
        <p:spPr>
          <a:xfrm>
            <a:off x="1280160" y="2286000"/>
            <a:ext cx="7315200" cy="1097280"/>
          </a:xfrm>
          <a:prstGeom prst="rect">
            <a:avLst/>
          </a:prstGeom>
          <a:noFill/>
          <a:ln/>
        </p:spPr>
        <p:txBody>
          <a:bodyPr wrap="square" lIns="0" tIns="0" rIns="0" bIns="0" rtlCol="0" anchor="t"/>
          <a:lstStyle/>
          <a:p>
            <a:pPr marL="0" indent="0" algn="l">
              <a:buNone/>
            </a:pPr>
            <a:r>
              <a:rPr lang="en-US" sz="3400" b="1" dirty="0">
                <a:solidFill>
                  <a:srgbClr val="FFFFFF"/>
                </a:solidFill>
                <a:latin typeface="Segoe UI" pitchFamily="34" charset="0"/>
                <a:ea typeface="Segoe UI" pitchFamily="34" charset="-122"/>
                <a:cs typeface="Segoe UI" pitchFamily="34" charset="-120"/>
              </a:rPr>
              <a:t>The cost of going deep</a:t>
            </a:r>
            <a:endParaRPr lang="en-US" sz="3400" dirty="0"/>
          </a:p>
        </p:txBody>
      </p:sp>
      <p:sp>
        <p:nvSpPr>
          <p:cNvPr id="20" name="Text 18"/>
          <p:cNvSpPr/>
          <p:nvPr/>
        </p:nvSpPr>
        <p:spPr>
          <a:xfrm>
            <a:off x="1298448" y="3310128"/>
            <a:ext cx="6583680" cy="731520"/>
          </a:xfrm>
          <a:prstGeom prst="rect">
            <a:avLst/>
          </a:prstGeom>
          <a:noFill/>
          <a:ln/>
        </p:spPr>
        <p:txBody>
          <a:bodyPr wrap="square" lIns="0" tIns="0" rIns="0" bIns="0" rtlCol="0" anchor="t"/>
          <a:lstStyle/>
          <a:p>
            <a:pPr marL="0" indent="0" algn="l">
              <a:lnSpc>
                <a:spcPts val="2000"/>
              </a:lnSpc>
              <a:buNone/>
            </a:pPr>
            <a:r>
              <a:rPr lang="en-US" sz="1400" dirty="0">
                <a:solidFill>
                  <a:srgbClr val="8B96A8"/>
                </a:solidFill>
                <a:latin typeface="Segoe UI" pitchFamily="34" charset="0"/>
                <a:ea typeface="Segoe UI" pitchFamily="34" charset="-122"/>
                <a:cs typeface="Segoe UI" pitchFamily="34" charset="-120"/>
              </a:rPr>
              <a:t>Why more levels of implication explode the workload — and why real platforms cap them.</a:t>
            </a:r>
            <a:endParaRPr lang="en-US" sz="1400" dirty="0"/>
          </a:p>
        </p:txBody>
      </p:sp>
      <p:sp>
        <p:nvSpPr>
          <p:cNvPr id="21" name="Text 19"/>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46</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Combinatorial explosion</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LIMIT · 1</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47</a:t>
            </a:r>
            <a:endParaRPr lang="en-US" sz="850" dirty="0"/>
          </a:p>
        </p:txBody>
      </p:sp>
      <p:sp>
        <p:nvSpPr>
          <p:cNvPr id="6" name="Text 4"/>
          <p:cNvSpPr/>
          <p:nvPr/>
        </p:nvSpPr>
        <p:spPr>
          <a:xfrm>
            <a:off x="502920" y="1417320"/>
            <a:ext cx="8046720" cy="320040"/>
          </a:xfrm>
          <a:prstGeom prst="rect">
            <a:avLst/>
          </a:prstGeom>
          <a:noFill/>
          <a:ln/>
        </p:spPr>
        <p:txBody>
          <a:bodyPr wrap="square" lIns="0" tIns="0" rIns="0" bIns="0" rtlCol="0" anchor="t"/>
          <a:lstStyle/>
          <a:p>
            <a:pPr marL="0" indent="0" algn="l">
              <a:buNone/>
            </a:pPr>
            <a:r>
              <a:rPr lang="en-US" sz="1300" dirty="0">
                <a:solidFill>
                  <a:srgbClr val="D8DEE9"/>
                </a:solidFill>
                <a:latin typeface="Segoe UI" pitchFamily="34" charset="0"/>
                <a:ea typeface="Segoe UI" pitchFamily="34" charset="-122"/>
                <a:cs typeface="Segoe UI" pitchFamily="34" charset="-120"/>
              </a:rPr>
              <a:t>Each added level of implication multiplies the combinations the engine must compute and keep current.</a:t>
            </a:r>
            <a:endParaRPr lang="en-US" sz="1300" dirty="0"/>
          </a:p>
        </p:txBody>
      </p:sp>
      <p:sp>
        <p:nvSpPr>
          <p:cNvPr id="7" name="bar">
            <a:extLst>
              <a:ext uri="{C183D7F6-B498-43B3-948B-1728B52AA6E4}">
                <adec:decorative xmlns:adec="http://schemas.microsoft.com/office/drawing/2017/decorative" val="1"/>
              </a:ext>
            </a:extLst>
          </p:cNvPr>
          <p:cNvSpPr/>
          <p:nvPr/>
        </p:nvSpPr>
        <p:spPr>
          <a:xfrm>
            <a:off x="868680" y="4153124"/>
            <a:ext cx="822960" cy="144556"/>
          </a:xfrm>
          <a:prstGeom prst="rect">
            <a:avLst/>
          </a:prstGeom>
          <a:solidFill>
            <a:srgbClr val="35E07E"/>
          </a:solidFill>
          <a:ln/>
        </p:spPr>
        <p:txBody>
          <a:bodyPr/>
          <a:lstStyle/>
          <a:p>
            <a:endParaRPr lang="en-SE"/>
          </a:p>
        </p:txBody>
      </p:sp>
      <p:sp>
        <p:nvSpPr>
          <p:cNvPr id="8" name="Text 6"/>
          <p:cNvSpPr/>
          <p:nvPr/>
        </p:nvSpPr>
        <p:spPr>
          <a:xfrm>
            <a:off x="685800" y="4352544"/>
            <a:ext cx="1188720" cy="228600"/>
          </a:xfrm>
          <a:prstGeom prst="rect">
            <a:avLst/>
          </a:prstGeom>
          <a:noFill/>
          <a:ln/>
        </p:spPr>
        <p:txBody>
          <a:bodyPr wrap="square" lIns="0" tIns="0" rIns="0" bIns="0" rtlCol="0" anchor="t"/>
          <a:lstStyle/>
          <a:p>
            <a:pPr marL="0" indent="0" algn="ctr">
              <a:buNone/>
            </a:pPr>
            <a:r>
              <a:rPr lang="en-US" sz="1050" dirty="0">
                <a:solidFill>
                  <a:srgbClr val="8B96A8"/>
                </a:solidFill>
                <a:latin typeface="Consolas" pitchFamily="34" charset="0"/>
                <a:ea typeface="Consolas" pitchFamily="34" charset="-122"/>
                <a:cs typeface="Consolas" pitchFamily="34" charset="-120"/>
              </a:rPr>
              <a:t>level 1</a:t>
            </a:r>
            <a:endParaRPr lang="en-US" sz="1050" dirty="0"/>
          </a:p>
        </p:txBody>
      </p:sp>
      <p:sp>
        <p:nvSpPr>
          <p:cNvPr id="9" name="Text 7"/>
          <p:cNvSpPr/>
          <p:nvPr/>
        </p:nvSpPr>
        <p:spPr>
          <a:xfrm>
            <a:off x="685800" y="3878804"/>
            <a:ext cx="1188720"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10" name="bar">
            <a:extLst>
              <a:ext uri="{C183D7F6-B498-43B3-948B-1728B52AA6E4}">
                <adec:decorative xmlns:adec="http://schemas.microsoft.com/office/drawing/2017/decorative" val="1"/>
              </a:ext>
            </a:extLst>
          </p:cNvPr>
          <p:cNvSpPr/>
          <p:nvPr/>
        </p:nvSpPr>
        <p:spPr>
          <a:xfrm>
            <a:off x="2075688" y="3950746"/>
            <a:ext cx="822960" cy="346934"/>
          </a:xfrm>
          <a:prstGeom prst="rect">
            <a:avLst/>
          </a:prstGeom>
          <a:solidFill>
            <a:srgbClr val="35E07E"/>
          </a:solidFill>
          <a:ln/>
        </p:spPr>
        <p:txBody>
          <a:bodyPr/>
          <a:lstStyle/>
          <a:p>
            <a:endParaRPr lang="en-SE"/>
          </a:p>
        </p:txBody>
      </p:sp>
      <p:sp>
        <p:nvSpPr>
          <p:cNvPr id="11" name="Text 9"/>
          <p:cNvSpPr/>
          <p:nvPr/>
        </p:nvSpPr>
        <p:spPr>
          <a:xfrm>
            <a:off x="1892808" y="4352544"/>
            <a:ext cx="1188720" cy="228600"/>
          </a:xfrm>
          <a:prstGeom prst="rect">
            <a:avLst/>
          </a:prstGeom>
          <a:noFill/>
          <a:ln/>
        </p:spPr>
        <p:txBody>
          <a:bodyPr wrap="square" lIns="0" tIns="0" rIns="0" bIns="0" rtlCol="0" anchor="t"/>
          <a:lstStyle/>
          <a:p>
            <a:pPr marL="0" indent="0" algn="ctr">
              <a:buNone/>
            </a:pPr>
            <a:r>
              <a:rPr lang="en-US" sz="1050" dirty="0">
                <a:solidFill>
                  <a:srgbClr val="8B96A8"/>
                </a:solidFill>
                <a:latin typeface="Consolas" pitchFamily="34" charset="0"/>
                <a:ea typeface="Consolas" pitchFamily="34" charset="-122"/>
                <a:cs typeface="Consolas" pitchFamily="34" charset="-120"/>
              </a:rPr>
              <a:t>level 2</a:t>
            </a:r>
            <a:endParaRPr lang="en-US" sz="1050" dirty="0"/>
          </a:p>
        </p:txBody>
      </p:sp>
      <p:sp>
        <p:nvSpPr>
          <p:cNvPr id="12" name="Text 10"/>
          <p:cNvSpPr/>
          <p:nvPr/>
        </p:nvSpPr>
        <p:spPr>
          <a:xfrm>
            <a:off x="1892808" y="3676426"/>
            <a:ext cx="1188720"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13" name="bar">
            <a:extLst>
              <a:ext uri="{C183D7F6-B498-43B3-948B-1728B52AA6E4}">
                <adec:decorative xmlns:adec="http://schemas.microsoft.com/office/drawing/2017/decorative" val="1"/>
              </a:ext>
            </a:extLst>
          </p:cNvPr>
          <p:cNvSpPr/>
          <p:nvPr/>
        </p:nvSpPr>
        <p:spPr>
          <a:xfrm>
            <a:off x="3282696" y="3574901"/>
            <a:ext cx="822960" cy="722779"/>
          </a:xfrm>
          <a:prstGeom prst="rect">
            <a:avLst/>
          </a:prstGeom>
          <a:solidFill>
            <a:srgbClr val="3AD1E6"/>
          </a:solidFill>
          <a:ln/>
        </p:spPr>
        <p:txBody>
          <a:bodyPr/>
          <a:lstStyle/>
          <a:p>
            <a:endParaRPr lang="en-SE"/>
          </a:p>
        </p:txBody>
      </p:sp>
      <p:sp>
        <p:nvSpPr>
          <p:cNvPr id="14" name="Text 12"/>
          <p:cNvSpPr/>
          <p:nvPr/>
        </p:nvSpPr>
        <p:spPr>
          <a:xfrm>
            <a:off x="3099816" y="4352544"/>
            <a:ext cx="1188720" cy="228600"/>
          </a:xfrm>
          <a:prstGeom prst="rect">
            <a:avLst/>
          </a:prstGeom>
          <a:noFill/>
          <a:ln/>
        </p:spPr>
        <p:txBody>
          <a:bodyPr wrap="square" lIns="0" tIns="0" rIns="0" bIns="0" rtlCol="0" anchor="t"/>
          <a:lstStyle/>
          <a:p>
            <a:pPr marL="0" indent="0" algn="ctr">
              <a:buNone/>
            </a:pPr>
            <a:r>
              <a:rPr lang="en-US" sz="1050" dirty="0">
                <a:solidFill>
                  <a:srgbClr val="8B96A8"/>
                </a:solidFill>
                <a:latin typeface="Consolas" pitchFamily="34" charset="0"/>
                <a:ea typeface="Consolas" pitchFamily="34" charset="-122"/>
                <a:cs typeface="Consolas" pitchFamily="34" charset="-120"/>
              </a:rPr>
              <a:t>level 3</a:t>
            </a:r>
            <a:endParaRPr lang="en-US" sz="1050" dirty="0"/>
          </a:p>
        </p:txBody>
      </p:sp>
      <p:sp>
        <p:nvSpPr>
          <p:cNvPr id="15" name="Text 13"/>
          <p:cNvSpPr/>
          <p:nvPr/>
        </p:nvSpPr>
        <p:spPr>
          <a:xfrm>
            <a:off x="3099816" y="3300581"/>
            <a:ext cx="1188720"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×5</a:t>
            </a:r>
            <a:endParaRPr lang="en-US" sz="1200" dirty="0"/>
          </a:p>
        </p:txBody>
      </p:sp>
      <p:sp>
        <p:nvSpPr>
          <p:cNvPr id="16" name="bar">
            <a:extLst>
              <a:ext uri="{C183D7F6-B498-43B3-948B-1728B52AA6E4}">
                <adec:decorative xmlns:adec="http://schemas.microsoft.com/office/drawing/2017/decorative" val="1"/>
              </a:ext>
            </a:extLst>
          </p:cNvPr>
          <p:cNvSpPr/>
          <p:nvPr/>
        </p:nvSpPr>
        <p:spPr>
          <a:xfrm>
            <a:off x="4489704" y="3054499"/>
            <a:ext cx="822960" cy="1243181"/>
          </a:xfrm>
          <a:prstGeom prst="rect">
            <a:avLst/>
          </a:prstGeom>
          <a:solidFill>
            <a:srgbClr val="FBB24B"/>
          </a:solidFill>
          <a:ln/>
        </p:spPr>
        <p:txBody>
          <a:bodyPr/>
          <a:lstStyle/>
          <a:p>
            <a:endParaRPr lang="en-SE"/>
          </a:p>
        </p:txBody>
      </p:sp>
      <p:sp>
        <p:nvSpPr>
          <p:cNvPr id="17" name="Text 15"/>
          <p:cNvSpPr/>
          <p:nvPr/>
        </p:nvSpPr>
        <p:spPr>
          <a:xfrm>
            <a:off x="4306824" y="4352544"/>
            <a:ext cx="1188720" cy="228600"/>
          </a:xfrm>
          <a:prstGeom prst="rect">
            <a:avLst/>
          </a:prstGeom>
          <a:noFill/>
          <a:ln/>
        </p:spPr>
        <p:txBody>
          <a:bodyPr wrap="square" lIns="0" tIns="0" rIns="0" bIns="0" rtlCol="0" anchor="t"/>
          <a:lstStyle/>
          <a:p>
            <a:pPr marL="0" indent="0" algn="ctr">
              <a:buNone/>
            </a:pPr>
            <a:r>
              <a:rPr lang="en-US" sz="1050" dirty="0">
                <a:solidFill>
                  <a:srgbClr val="8B96A8"/>
                </a:solidFill>
                <a:latin typeface="Consolas" pitchFamily="34" charset="0"/>
                <a:ea typeface="Consolas" pitchFamily="34" charset="-122"/>
                <a:cs typeface="Consolas" pitchFamily="34" charset="-120"/>
              </a:rPr>
              <a:t>level 4</a:t>
            </a:r>
            <a:endParaRPr lang="en-US" sz="1050" dirty="0"/>
          </a:p>
        </p:txBody>
      </p:sp>
      <p:sp>
        <p:nvSpPr>
          <p:cNvPr id="18" name="Text 16"/>
          <p:cNvSpPr/>
          <p:nvPr/>
        </p:nvSpPr>
        <p:spPr>
          <a:xfrm>
            <a:off x="4306824" y="2780179"/>
            <a:ext cx="1188720"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×9</a:t>
            </a:r>
            <a:endParaRPr lang="en-US" sz="1200" dirty="0"/>
          </a:p>
        </p:txBody>
      </p:sp>
      <p:sp>
        <p:nvSpPr>
          <p:cNvPr id="19" name="bar">
            <a:extLst>
              <a:ext uri="{C183D7F6-B498-43B3-948B-1728B52AA6E4}">
                <adec:decorative xmlns:adec="http://schemas.microsoft.com/office/drawing/2017/decorative" val="1"/>
              </a:ext>
            </a:extLst>
          </p:cNvPr>
          <p:cNvSpPr/>
          <p:nvPr/>
        </p:nvSpPr>
        <p:spPr>
          <a:xfrm>
            <a:off x="5696712" y="2331720"/>
            <a:ext cx="822960" cy="1965960"/>
          </a:xfrm>
          <a:prstGeom prst="rect">
            <a:avLst/>
          </a:prstGeom>
          <a:solidFill>
            <a:srgbClr val="FBB24B"/>
          </a:solidFill>
          <a:ln/>
        </p:spPr>
        <p:txBody>
          <a:bodyPr/>
          <a:lstStyle/>
          <a:p>
            <a:endParaRPr lang="en-SE"/>
          </a:p>
        </p:txBody>
      </p:sp>
      <p:sp>
        <p:nvSpPr>
          <p:cNvPr id="20" name="Text 18"/>
          <p:cNvSpPr/>
          <p:nvPr/>
        </p:nvSpPr>
        <p:spPr>
          <a:xfrm>
            <a:off x="5513832" y="4352544"/>
            <a:ext cx="1188720" cy="228600"/>
          </a:xfrm>
          <a:prstGeom prst="rect">
            <a:avLst/>
          </a:prstGeom>
          <a:noFill/>
          <a:ln/>
        </p:spPr>
        <p:txBody>
          <a:bodyPr wrap="square" lIns="0" tIns="0" rIns="0" bIns="0" rtlCol="0" anchor="t"/>
          <a:lstStyle/>
          <a:p>
            <a:pPr marL="0" indent="0" algn="ctr">
              <a:buNone/>
            </a:pPr>
            <a:r>
              <a:rPr lang="en-US" sz="1050" dirty="0">
                <a:solidFill>
                  <a:srgbClr val="8B96A8"/>
                </a:solidFill>
                <a:latin typeface="Consolas" pitchFamily="34" charset="0"/>
                <a:ea typeface="Consolas" pitchFamily="34" charset="-122"/>
                <a:cs typeface="Consolas" pitchFamily="34" charset="-120"/>
              </a:rPr>
              <a:t>level 5</a:t>
            </a:r>
            <a:endParaRPr lang="en-US" sz="1050" dirty="0"/>
          </a:p>
        </p:txBody>
      </p:sp>
      <p:sp>
        <p:nvSpPr>
          <p:cNvPr id="21" name="Text 19"/>
          <p:cNvSpPr/>
          <p:nvPr/>
        </p:nvSpPr>
        <p:spPr>
          <a:xfrm>
            <a:off x="5513832" y="2057400"/>
            <a:ext cx="1188720" cy="256032"/>
          </a:xfrm>
          <a:prstGeom prst="rect">
            <a:avLst/>
          </a:prstGeom>
          <a:noFill/>
          <a:ln/>
        </p:spPr>
        <p:txBody>
          <a:bodyPr wrap="square" lIns="0" tIns="0" rIns="0" bIns="0" rtlCol="0" anchor="t"/>
          <a:lstStyle/>
          <a:p>
            <a:pPr marL="0" indent="0" algn="ctr">
              <a:buNone/>
            </a:pPr>
            <a:r>
              <a:rPr lang="en-US" sz="1200" b="1" dirty="0">
                <a:solidFill>
                  <a:srgbClr val="FFFFFF"/>
                </a:solidFill>
                <a:latin typeface="Consolas" pitchFamily="34" charset="0"/>
                <a:ea typeface="Consolas" pitchFamily="34" charset="-122"/>
                <a:cs typeface="Consolas" pitchFamily="34" charset="-120"/>
              </a:rPr>
              <a:t>×14</a:t>
            </a:r>
            <a:endParaRPr lang="en-US" sz="1200" dirty="0"/>
          </a:p>
        </p:txBody>
      </p:sp>
      <p:sp>
        <p:nvSpPr>
          <p:cNvPr id="22" name="rule">
            <a:extLst>
              <a:ext uri="{C183D7F6-B498-43B3-948B-1728B52AA6E4}">
                <adec:decorative xmlns:adec="http://schemas.microsoft.com/office/drawing/2017/decorative" val="1"/>
              </a:ext>
            </a:extLst>
          </p:cNvPr>
          <p:cNvSpPr/>
          <p:nvPr/>
        </p:nvSpPr>
        <p:spPr>
          <a:xfrm>
            <a:off x="731520" y="4315968"/>
            <a:ext cx="5532120" cy="0"/>
          </a:xfrm>
          <a:prstGeom prst="line">
            <a:avLst/>
          </a:prstGeom>
          <a:noFill/>
          <a:ln w="15240">
            <a:solidFill>
              <a:srgbClr val="2C3644"/>
            </a:solidFill>
            <a:prstDash val="solid"/>
          </a:ln>
        </p:spPr>
        <p:txBody>
          <a:bodyPr/>
          <a:lstStyle/>
          <a:p>
            <a:endParaRPr lang="en-SE"/>
          </a:p>
        </p:txBody>
      </p:sp>
      <p:sp>
        <p:nvSpPr>
          <p:cNvPr id="23" name="panel">
            <a:extLst>
              <a:ext uri="{C183D7F6-B498-43B3-948B-1728B52AA6E4}">
                <adec:decorative xmlns:adec="http://schemas.microsoft.com/office/drawing/2017/decorative" val="1"/>
              </a:ext>
            </a:extLst>
          </p:cNvPr>
          <p:cNvSpPr/>
          <p:nvPr/>
        </p:nvSpPr>
        <p:spPr>
          <a:xfrm>
            <a:off x="7086600" y="2103120"/>
            <a:ext cx="1554480" cy="2194560"/>
          </a:xfrm>
          <a:prstGeom prst="roundRect">
            <a:avLst>
              <a:gd name="adj" fmla="val 3529"/>
            </a:avLst>
          </a:prstGeom>
          <a:solidFill>
            <a:srgbClr val="1B212C"/>
          </a:solidFill>
          <a:ln w="12700">
            <a:solidFill>
              <a:srgbClr val="2C3644"/>
            </a:solidFill>
            <a:prstDash val="solid"/>
          </a:ln>
        </p:spPr>
        <p:txBody>
          <a:bodyPr/>
          <a:lstStyle/>
          <a:p>
            <a:endParaRPr lang="en-SE"/>
          </a:p>
        </p:txBody>
      </p:sp>
      <p:sp>
        <p:nvSpPr>
          <p:cNvPr id="24" name="Text 22"/>
          <p:cNvSpPr/>
          <p:nvPr/>
        </p:nvSpPr>
        <p:spPr>
          <a:xfrm>
            <a:off x="7223760" y="2231136"/>
            <a:ext cx="1371600" cy="228600"/>
          </a:xfrm>
          <a:prstGeom prst="rect">
            <a:avLst/>
          </a:prstGeom>
          <a:noFill/>
          <a:ln/>
        </p:spPr>
        <p:txBody>
          <a:bodyPr wrap="square" lIns="0" tIns="0" rIns="0" bIns="0" rtlCol="0" anchor="t"/>
          <a:lstStyle/>
          <a:p>
            <a:pPr marL="0" indent="0" algn="l">
              <a:buNone/>
            </a:pPr>
            <a:r>
              <a:rPr lang="en-US" sz="1000" b="1" kern="0" spc="100" dirty="0">
                <a:solidFill>
                  <a:srgbClr val="FBB24B"/>
                </a:solidFill>
                <a:latin typeface="Segoe UI" pitchFamily="34" charset="0"/>
                <a:ea typeface="Segoe UI" pitchFamily="34" charset="-122"/>
                <a:cs typeface="Segoe UI" pitchFamily="34" charset="-120"/>
              </a:rPr>
              <a:t>GROWTH</a:t>
            </a:r>
            <a:endParaRPr lang="en-US" sz="1000" dirty="0"/>
          </a:p>
        </p:txBody>
      </p:sp>
      <p:sp>
        <p:nvSpPr>
          <p:cNvPr id="25" name="Text 23"/>
          <p:cNvSpPr/>
          <p:nvPr/>
        </p:nvSpPr>
        <p:spPr>
          <a:xfrm>
            <a:off x="7223760" y="2542032"/>
            <a:ext cx="1298448" cy="1645920"/>
          </a:xfrm>
          <a:prstGeom prst="rect">
            <a:avLst/>
          </a:prstGeom>
          <a:noFill/>
          <a:ln/>
        </p:spPr>
        <p:txBody>
          <a:bodyPr wrap="square" lIns="0" tIns="0" rIns="0" bIns="0" rtlCol="0" anchor="t"/>
          <a:lstStyle/>
          <a:p>
            <a:pPr marL="0" indent="0" algn="l">
              <a:lnSpc>
                <a:spcPts val="1600"/>
              </a:lnSpc>
              <a:buNone/>
            </a:pPr>
            <a:r>
              <a:rPr lang="en-US" sz="1150" dirty="0">
                <a:solidFill>
                  <a:srgbClr val="D8DEE9"/>
                </a:solidFill>
                <a:latin typeface="Segoe UI" pitchFamily="34" charset="0"/>
                <a:ea typeface="Segoe UI" pitchFamily="34" charset="-122"/>
                <a:cs typeface="Segoe UI" pitchFamily="34" charset="-120"/>
              </a:rPr>
              <a:t>Combinations rise faster than linearly with depth — quickly into the thousands for a busy strip.</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What deep implication actually costs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LIMIT · 2</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48</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600200"/>
            <a:ext cx="2606040" cy="2331720"/>
          </a:xfrm>
          <a:prstGeom prst="roundRect">
            <a:avLst>
              <a:gd name="adj" fmla="val 2353"/>
            </a:avLst>
          </a:prstGeom>
          <a:solidFill>
            <a:srgbClr val="1B212C"/>
          </a:solidFill>
          <a:ln w="12700">
            <a:solidFill>
              <a:srgbClr val="2C3644"/>
            </a:solidFill>
            <a:prstDash val="solid"/>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892808"/>
            <a:ext cx="219456" cy="219456"/>
          </a:xfrm>
          <a:prstGeom prst="ellipse">
            <a:avLst/>
          </a:prstGeom>
          <a:solidFill>
            <a:srgbClr val="FBB24B"/>
          </a:solidFill>
          <a:ln/>
        </p:spPr>
        <p:txBody>
          <a:bodyPr/>
          <a:lstStyle/>
          <a:p>
            <a:endParaRPr lang="en-SE"/>
          </a:p>
        </p:txBody>
      </p:sp>
      <p:sp>
        <p:nvSpPr>
          <p:cNvPr id="8" name="Text 6"/>
          <p:cNvSpPr/>
          <p:nvPr/>
        </p:nvSpPr>
        <p:spPr>
          <a:xfrm>
            <a:off x="731520" y="2313432"/>
            <a:ext cx="2148840" cy="365760"/>
          </a:xfrm>
          <a:prstGeom prst="rect">
            <a:avLst/>
          </a:prstGeom>
          <a:noFill/>
          <a:ln/>
        </p:spPr>
        <p:txBody>
          <a:bodyPr wrap="square" lIns="0" tIns="0" rIns="0" bIns="0" rtlCol="0" anchor="t"/>
          <a:lstStyle/>
          <a:p>
            <a:pPr marL="0" indent="0" algn="l">
              <a:buNone/>
            </a:pPr>
            <a:r>
              <a:rPr lang="en-US" sz="1700" b="1" dirty="0">
                <a:solidFill>
                  <a:srgbClr val="FFFFFF"/>
                </a:solidFill>
                <a:latin typeface="Segoe UI" pitchFamily="34" charset="0"/>
                <a:ea typeface="Segoe UI" pitchFamily="34" charset="-122"/>
                <a:cs typeface="Segoe UI" pitchFamily="34" charset="-120"/>
              </a:rPr>
              <a:t>Latency</a:t>
            </a:r>
            <a:endParaRPr lang="en-US" sz="1700" dirty="0"/>
          </a:p>
        </p:txBody>
      </p:sp>
      <p:sp>
        <p:nvSpPr>
          <p:cNvPr id="9" name="Text 7"/>
          <p:cNvSpPr/>
          <p:nvPr/>
        </p:nvSpPr>
        <p:spPr>
          <a:xfrm>
            <a:off x="731520" y="2770632"/>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Every book change can trigger a cascade of re-calculations before the next order is processed.</a:t>
            </a:r>
            <a:endParaRPr lang="en-US" sz="1250" dirty="0"/>
          </a:p>
        </p:txBody>
      </p:sp>
      <p:sp>
        <p:nvSpPr>
          <p:cNvPr id="10" name="panel">
            <a:extLst>
              <a:ext uri="{C183D7F6-B498-43B3-948B-1728B52AA6E4}">
                <adec:decorative xmlns:adec="http://schemas.microsoft.com/office/drawing/2017/decorative" val="1"/>
              </a:ext>
            </a:extLst>
          </p:cNvPr>
          <p:cNvSpPr/>
          <p:nvPr/>
        </p:nvSpPr>
        <p:spPr>
          <a:xfrm>
            <a:off x="3291840" y="1600200"/>
            <a:ext cx="2606040" cy="2331720"/>
          </a:xfrm>
          <a:prstGeom prst="roundRect">
            <a:avLst>
              <a:gd name="adj" fmla="val 2353"/>
            </a:avLst>
          </a:prstGeom>
          <a:solidFill>
            <a:srgbClr val="1B212C"/>
          </a:solidFill>
          <a:ln w="12700">
            <a:solidFill>
              <a:srgbClr val="2C3644"/>
            </a:solidFill>
            <a:prstDash val="solid"/>
          </a:ln>
        </p:spPr>
        <p:txBody>
          <a:bodyPr/>
          <a:lstStyle/>
          <a:p>
            <a:endParaRPr lang="en-SE"/>
          </a:p>
        </p:txBody>
      </p:sp>
      <p:sp>
        <p:nvSpPr>
          <p:cNvPr id="11" name="dot">
            <a:extLst>
              <a:ext uri="{C183D7F6-B498-43B3-948B-1728B52AA6E4}">
                <adec:decorative xmlns:adec="http://schemas.microsoft.com/office/drawing/2017/decorative" val="1"/>
              </a:ext>
            </a:extLst>
          </p:cNvPr>
          <p:cNvSpPr/>
          <p:nvPr/>
        </p:nvSpPr>
        <p:spPr>
          <a:xfrm>
            <a:off x="3520440" y="1892808"/>
            <a:ext cx="219456" cy="219456"/>
          </a:xfrm>
          <a:prstGeom prst="ellipse">
            <a:avLst/>
          </a:prstGeom>
          <a:solidFill>
            <a:srgbClr val="3AD1E6"/>
          </a:solidFill>
          <a:ln/>
        </p:spPr>
        <p:txBody>
          <a:bodyPr/>
          <a:lstStyle/>
          <a:p>
            <a:endParaRPr lang="en-SE"/>
          </a:p>
        </p:txBody>
      </p:sp>
      <p:sp>
        <p:nvSpPr>
          <p:cNvPr id="12" name="Text 10"/>
          <p:cNvSpPr/>
          <p:nvPr/>
        </p:nvSpPr>
        <p:spPr>
          <a:xfrm>
            <a:off x="3520440" y="2313432"/>
            <a:ext cx="2148840" cy="365760"/>
          </a:xfrm>
          <a:prstGeom prst="rect">
            <a:avLst/>
          </a:prstGeom>
          <a:noFill/>
          <a:ln/>
        </p:spPr>
        <p:txBody>
          <a:bodyPr wrap="square" lIns="0" tIns="0" rIns="0" bIns="0" rtlCol="0" anchor="t"/>
          <a:lstStyle/>
          <a:p>
            <a:pPr marL="0" indent="0" algn="l">
              <a:buNone/>
            </a:pPr>
            <a:r>
              <a:rPr lang="en-US" sz="1700" b="1" dirty="0">
                <a:solidFill>
                  <a:srgbClr val="FFFFFF"/>
                </a:solidFill>
                <a:latin typeface="Segoe UI" pitchFamily="34" charset="0"/>
                <a:ea typeface="Segoe UI" pitchFamily="34" charset="-122"/>
                <a:cs typeface="Segoe UI" pitchFamily="34" charset="-120"/>
              </a:rPr>
              <a:t>Compute</a:t>
            </a:r>
            <a:endParaRPr lang="en-US" sz="1700" dirty="0"/>
          </a:p>
        </p:txBody>
      </p:sp>
      <p:sp>
        <p:nvSpPr>
          <p:cNvPr id="13" name="Text 11"/>
          <p:cNvSpPr/>
          <p:nvPr/>
        </p:nvSpPr>
        <p:spPr>
          <a:xfrm>
            <a:off x="3520440" y="2770632"/>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Thousands of potential implieds must be generated, priced, and ranked continuously.</a:t>
            </a:r>
            <a:endParaRPr lang="en-US" sz="1250" dirty="0"/>
          </a:p>
        </p:txBody>
      </p:sp>
      <p:sp>
        <p:nvSpPr>
          <p:cNvPr id="14" name="panel">
            <a:extLst>
              <a:ext uri="{C183D7F6-B498-43B3-948B-1728B52AA6E4}">
                <adec:decorative xmlns:adec="http://schemas.microsoft.com/office/drawing/2017/decorative" val="1"/>
              </a:ext>
            </a:extLst>
          </p:cNvPr>
          <p:cNvSpPr/>
          <p:nvPr/>
        </p:nvSpPr>
        <p:spPr>
          <a:xfrm>
            <a:off x="6080760" y="1600200"/>
            <a:ext cx="2606040" cy="2331720"/>
          </a:xfrm>
          <a:prstGeom prst="roundRect">
            <a:avLst>
              <a:gd name="adj" fmla="val 2353"/>
            </a:avLst>
          </a:prstGeom>
          <a:solidFill>
            <a:srgbClr val="1B212C"/>
          </a:solidFill>
          <a:ln w="12700">
            <a:solidFill>
              <a:srgbClr val="2C3644"/>
            </a:solidFill>
            <a:prstDash val="solid"/>
          </a:ln>
        </p:spPr>
        <p:txBody>
          <a:bodyPr/>
          <a:lstStyle/>
          <a:p>
            <a:endParaRPr lang="en-SE"/>
          </a:p>
        </p:txBody>
      </p:sp>
      <p:sp>
        <p:nvSpPr>
          <p:cNvPr id="15" name="dot">
            <a:extLst>
              <a:ext uri="{C183D7F6-B498-43B3-948B-1728B52AA6E4}">
                <adec:decorative xmlns:adec="http://schemas.microsoft.com/office/drawing/2017/decorative" val="1"/>
              </a:ext>
            </a:extLst>
          </p:cNvPr>
          <p:cNvSpPr/>
          <p:nvPr/>
        </p:nvSpPr>
        <p:spPr>
          <a:xfrm>
            <a:off x="6309360" y="1892808"/>
            <a:ext cx="219456" cy="219456"/>
          </a:xfrm>
          <a:prstGeom prst="ellipse">
            <a:avLst/>
          </a:prstGeom>
          <a:solidFill>
            <a:srgbClr val="FF5C6C"/>
          </a:solidFill>
          <a:ln/>
        </p:spPr>
        <p:txBody>
          <a:bodyPr/>
          <a:lstStyle/>
          <a:p>
            <a:endParaRPr lang="en-SE"/>
          </a:p>
        </p:txBody>
      </p:sp>
      <p:sp>
        <p:nvSpPr>
          <p:cNvPr id="16" name="Text 14"/>
          <p:cNvSpPr/>
          <p:nvPr/>
        </p:nvSpPr>
        <p:spPr>
          <a:xfrm>
            <a:off x="6309360" y="2313432"/>
            <a:ext cx="2148840" cy="365760"/>
          </a:xfrm>
          <a:prstGeom prst="rect">
            <a:avLst/>
          </a:prstGeom>
          <a:noFill/>
          <a:ln/>
        </p:spPr>
        <p:txBody>
          <a:bodyPr wrap="square" lIns="0" tIns="0" rIns="0" bIns="0" rtlCol="0" anchor="t"/>
          <a:lstStyle/>
          <a:p>
            <a:pPr marL="0" indent="0" algn="l">
              <a:buNone/>
            </a:pPr>
            <a:r>
              <a:rPr lang="en-US" sz="1700" b="1" dirty="0">
                <a:solidFill>
                  <a:srgbClr val="FFFFFF"/>
                </a:solidFill>
                <a:latin typeface="Segoe UI" pitchFamily="34" charset="0"/>
                <a:ea typeface="Segoe UI" pitchFamily="34" charset="-122"/>
                <a:cs typeface="Segoe UI" pitchFamily="34" charset="-120"/>
              </a:rPr>
              <a:t>Complexity</a:t>
            </a:r>
            <a:endParaRPr lang="en-US" sz="1700" dirty="0"/>
          </a:p>
        </p:txBody>
      </p:sp>
      <p:sp>
        <p:nvSpPr>
          <p:cNvPr id="17" name="Text 15"/>
          <p:cNvSpPr/>
          <p:nvPr/>
        </p:nvSpPr>
        <p:spPr>
          <a:xfrm>
            <a:off x="6309360" y="2770632"/>
            <a:ext cx="2148840" cy="1005840"/>
          </a:xfrm>
          <a:prstGeom prst="rect">
            <a:avLst/>
          </a:prstGeom>
          <a:noFill/>
          <a:ln/>
        </p:spPr>
        <p:txBody>
          <a:bodyPr wrap="square" lIns="0" tIns="0" rIns="0" bIns="0" rtlCol="0" anchor="t"/>
          <a:lstStyle/>
          <a:p>
            <a:pPr marL="0" indent="0" algn="l">
              <a:lnSpc>
                <a:spcPts val="1800"/>
              </a:lnSpc>
              <a:buNone/>
            </a:pPr>
            <a:r>
              <a:rPr lang="en-US" sz="1250" dirty="0">
                <a:solidFill>
                  <a:srgbClr val="D8DEE9"/>
                </a:solidFill>
                <a:latin typeface="Segoe UI" pitchFamily="34" charset="0"/>
                <a:ea typeface="Segoe UI" pitchFamily="34" charset="-122"/>
                <a:cs typeface="Segoe UI" pitchFamily="34" charset="-120"/>
              </a:rPr>
              <a:t>Deeper chains are harder to audit, risk-check, and reason about when something breaks.</a:t>
            </a:r>
            <a:endParaRPr lang="en-US" sz="1250" dirty="0"/>
          </a:p>
        </p:txBody>
      </p:sp>
      <p:sp>
        <p:nvSpPr>
          <p:cNvPr id="18" name="Text 16"/>
          <p:cNvSpPr/>
          <p:nvPr/>
        </p:nvSpPr>
        <p:spPr>
          <a:xfrm>
            <a:off x="502920" y="4160520"/>
            <a:ext cx="8046720" cy="320040"/>
          </a:xfrm>
          <a:prstGeom prst="rect">
            <a:avLst/>
          </a:prstGeom>
          <a:noFill/>
          <a:ln/>
        </p:spPr>
        <p:txBody>
          <a:bodyPr wrap="square" lIns="0" tIns="0" rIns="0" bIns="0" rtlCol="0" anchor="t"/>
          <a:lstStyle/>
          <a:p>
            <a:pPr marL="0" indent="0" algn="ctr">
              <a:buNone/>
            </a:pPr>
            <a:r>
              <a:rPr lang="en-US" sz="1250" i="1" dirty="0">
                <a:solidFill>
                  <a:srgbClr val="8B96A8"/>
                </a:solidFill>
                <a:latin typeface="Segoe UI" pitchFamily="34" charset="0"/>
                <a:ea typeface="Segoe UI" pitchFamily="34" charset="-122"/>
                <a:cs typeface="Segoe UI" pitchFamily="34" charset="-120"/>
              </a:rPr>
              <a:t>The engine has microseconds. Unbounded implication depth would blow that budget.</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Why real platforms cap the levels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THE LIMIT · 3</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49</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554480"/>
            <a:ext cx="8092440" cy="1051560"/>
          </a:xfrm>
          <a:prstGeom prst="roundRect">
            <a:avLst>
              <a:gd name="adj" fmla="val 5217"/>
            </a:avLst>
          </a:prstGeom>
          <a:solidFill>
            <a:srgbClr val="10251C"/>
          </a:solidFill>
          <a:ln w="12700">
            <a:solidFill>
              <a:srgbClr val="3AD1E6"/>
            </a:solidFill>
            <a:prstDash val="solid"/>
          </a:ln>
        </p:spPr>
        <p:txBody>
          <a:bodyPr/>
          <a:lstStyle/>
          <a:p>
            <a:endParaRPr lang="en-SE"/>
          </a:p>
        </p:txBody>
      </p:sp>
      <p:sp>
        <p:nvSpPr>
          <p:cNvPr id="7" name="Text 5"/>
          <p:cNvSpPr/>
          <p:nvPr/>
        </p:nvSpPr>
        <p:spPr>
          <a:xfrm>
            <a:off x="685800" y="1664208"/>
            <a:ext cx="3657600" cy="228600"/>
          </a:xfrm>
          <a:prstGeom prst="rect">
            <a:avLst/>
          </a:prstGeom>
          <a:noFill/>
          <a:ln/>
        </p:spPr>
        <p:txBody>
          <a:bodyPr wrap="square" lIns="0" tIns="0" rIns="0" bIns="0" rtlCol="0" anchor="t"/>
          <a:lstStyle/>
          <a:p>
            <a:pPr marL="0" indent="0" algn="l">
              <a:buNone/>
            </a:pPr>
            <a:r>
              <a:rPr lang="en-US" sz="1000" b="1" kern="0" spc="200" dirty="0">
                <a:solidFill>
                  <a:srgbClr val="3AD1E6"/>
                </a:solidFill>
                <a:latin typeface="Segoe UI" pitchFamily="34" charset="0"/>
                <a:ea typeface="Segoe UI" pitchFamily="34" charset="-122"/>
                <a:cs typeface="Segoe UI" pitchFamily="34" charset="-120"/>
              </a:rPr>
              <a:t>THE ENGINEERING CHOICE</a:t>
            </a:r>
            <a:endParaRPr lang="en-US" sz="1000" dirty="0"/>
          </a:p>
        </p:txBody>
      </p:sp>
      <p:sp>
        <p:nvSpPr>
          <p:cNvPr id="8" name="Text 6"/>
          <p:cNvSpPr/>
          <p:nvPr/>
        </p:nvSpPr>
        <p:spPr>
          <a:xfrm>
            <a:off x="685800" y="1938528"/>
            <a:ext cx="7772400" cy="594360"/>
          </a:xfrm>
          <a:prstGeom prst="rect">
            <a:avLst/>
          </a:prstGeom>
          <a:noFill/>
          <a:ln/>
        </p:spPr>
        <p:txBody>
          <a:bodyPr wrap="square" lIns="0" tIns="0" rIns="0" bIns="0" rtlCol="0" anchor="t"/>
          <a:lstStyle/>
          <a:p>
            <a:pPr marL="0" indent="0" algn="l">
              <a:lnSpc>
                <a:spcPts val="1900"/>
              </a:lnSpc>
              <a:buNone/>
            </a:pPr>
            <a:r>
              <a:rPr lang="en-US" sz="1400" dirty="0">
                <a:solidFill>
                  <a:srgbClr val="D8DEE9"/>
                </a:solidFill>
                <a:latin typeface="Segoe UI" pitchFamily="34" charset="0"/>
                <a:ea typeface="Segoe UI" pitchFamily="34" charset="-122"/>
                <a:cs typeface="Segoe UI" pitchFamily="34" charset="-120"/>
              </a:rPr>
              <a:t>Exchanges limit implication to a small number of levels (often 1–2, sometimes a few more) — capturing most of the benefit for a fraction of the cost.</a:t>
            </a:r>
            <a:endParaRPr lang="en-US" sz="1400" dirty="0"/>
          </a:p>
        </p:txBody>
      </p:sp>
      <p:sp>
        <p:nvSpPr>
          <p:cNvPr id="9" name="Text 7"/>
          <p:cNvSpPr/>
          <p:nvPr/>
        </p:nvSpPr>
        <p:spPr>
          <a:xfrm>
            <a:off x="548640" y="2724912"/>
            <a:ext cx="1554480" cy="365760"/>
          </a:xfrm>
          <a:prstGeom prst="rect">
            <a:avLst/>
          </a:prstGeom>
          <a:noFill/>
          <a:ln/>
        </p:spPr>
        <p:txBody>
          <a:bodyPr wrap="square" lIns="0" tIns="0" rIns="0" bIns="0" rtlCol="0" anchor="ctr"/>
          <a:lstStyle/>
          <a:p>
            <a:pPr marL="0" indent="0" algn="l">
              <a:buNone/>
            </a:pPr>
            <a:r>
              <a:rPr lang="en-US" sz="1250" b="1" dirty="0">
                <a:solidFill>
                  <a:srgbClr val="35E07E"/>
                </a:solidFill>
                <a:latin typeface="Consolas" pitchFamily="34" charset="0"/>
                <a:ea typeface="Consolas" pitchFamily="34" charset="-122"/>
                <a:cs typeface="Consolas" pitchFamily="34" charset="-120"/>
              </a:rPr>
              <a:t>Level 1–2</a:t>
            </a:r>
            <a:endParaRPr lang="en-US" sz="1250" dirty="0"/>
          </a:p>
        </p:txBody>
      </p:sp>
      <p:sp>
        <p:nvSpPr>
          <p:cNvPr id="10" name="bar">
            <a:extLst>
              <a:ext uri="{C183D7F6-B498-43B3-948B-1728B52AA6E4}">
                <adec:decorative xmlns:adec="http://schemas.microsoft.com/office/drawing/2017/decorative" val="1"/>
              </a:ext>
            </a:extLst>
          </p:cNvPr>
          <p:cNvSpPr/>
          <p:nvPr/>
        </p:nvSpPr>
        <p:spPr>
          <a:xfrm>
            <a:off x="2194560" y="2779776"/>
            <a:ext cx="4198925" cy="274320"/>
          </a:xfrm>
          <a:prstGeom prst="rect">
            <a:avLst/>
          </a:prstGeom>
          <a:solidFill>
            <a:srgbClr val="35E07E"/>
          </a:solidFill>
          <a:ln/>
        </p:spPr>
        <p:txBody>
          <a:bodyPr/>
          <a:lstStyle/>
          <a:p>
            <a:endParaRPr lang="en-SE"/>
          </a:p>
        </p:txBody>
      </p:sp>
      <p:sp>
        <p:nvSpPr>
          <p:cNvPr id="11" name="Text 9"/>
          <p:cNvSpPr/>
          <p:nvPr/>
        </p:nvSpPr>
        <p:spPr>
          <a:xfrm>
            <a:off x="6035040" y="2724912"/>
            <a:ext cx="3108960" cy="365760"/>
          </a:xfrm>
          <a:prstGeom prst="rect">
            <a:avLst/>
          </a:prstGeom>
          <a:noFill/>
          <a:ln/>
        </p:spPr>
        <p:txBody>
          <a:bodyPr wrap="square" lIns="0" tIns="0" rIns="0" bIns="0" rtlCol="0" anchor="ctr"/>
          <a:lstStyle/>
          <a:p>
            <a:pPr marL="0" indent="0" algn="l">
              <a:buNone/>
            </a:pPr>
            <a:r>
              <a:rPr lang="en-US" sz="1100" dirty="0">
                <a:solidFill>
                  <a:srgbClr val="8B96A8"/>
                </a:solidFill>
                <a:latin typeface="Segoe UI" pitchFamily="34" charset="0"/>
                <a:ea typeface="Segoe UI" pitchFamily="34" charset="-122"/>
                <a:cs typeface="Segoe UI" pitchFamily="34" charset="-120"/>
              </a:rPr>
              <a:t>most of the tightening</a:t>
            </a:r>
            <a:endParaRPr lang="en-US" sz="1100" dirty="0"/>
          </a:p>
        </p:txBody>
      </p:sp>
      <p:sp>
        <p:nvSpPr>
          <p:cNvPr id="12" name="Text 10"/>
          <p:cNvSpPr/>
          <p:nvPr/>
        </p:nvSpPr>
        <p:spPr>
          <a:xfrm>
            <a:off x="548640" y="3227832"/>
            <a:ext cx="1554480" cy="365760"/>
          </a:xfrm>
          <a:prstGeom prst="rect">
            <a:avLst/>
          </a:prstGeom>
          <a:noFill/>
          <a:ln/>
        </p:spPr>
        <p:txBody>
          <a:bodyPr wrap="square" lIns="0" tIns="0" rIns="0" bIns="0" rtlCol="0" anchor="ctr"/>
          <a:lstStyle/>
          <a:p>
            <a:pPr marL="0" indent="0" algn="l">
              <a:buNone/>
            </a:pPr>
            <a:r>
              <a:rPr lang="en-US" sz="1250" b="1" dirty="0">
                <a:solidFill>
                  <a:srgbClr val="3AD1E6"/>
                </a:solidFill>
                <a:latin typeface="Consolas" pitchFamily="34" charset="0"/>
                <a:ea typeface="Consolas" pitchFamily="34" charset="-122"/>
                <a:cs typeface="Consolas" pitchFamily="34" charset="-120"/>
              </a:rPr>
              <a:t>Level 3–4</a:t>
            </a:r>
            <a:endParaRPr lang="en-US" sz="1250" dirty="0"/>
          </a:p>
        </p:txBody>
      </p:sp>
      <p:sp>
        <p:nvSpPr>
          <p:cNvPr id="13" name="bar">
            <a:extLst>
              <a:ext uri="{C183D7F6-B498-43B3-948B-1728B52AA6E4}">
                <adec:decorative xmlns:adec="http://schemas.microsoft.com/office/drawing/2017/decorative" val="1"/>
              </a:ext>
            </a:extLst>
          </p:cNvPr>
          <p:cNvSpPr/>
          <p:nvPr/>
        </p:nvSpPr>
        <p:spPr>
          <a:xfrm>
            <a:off x="2194560" y="3282696"/>
            <a:ext cx="2304288" cy="274320"/>
          </a:xfrm>
          <a:prstGeom prst="rect">
            <a:avLst/>
          </a:prstGeom>
          <a:solidFill>
            <a:srgbClr val="3AD1E6"/>
          </a:solidFill>
          <a:ln/>
        </p:spPr>
        <p:txBody>
          <a:bodyPr/>
          <a:lstStyle/>
          <a:p>
            <a:endParaRPr lang="en-SE"/>
          </a:p>
        </p:txBody>
      </p:sp>
      <p:sp>
        <p:nvSpPr>
          <p:cNvPr id="14" name="Text 12"/>
          <p:cNvSpPr/>
          <p:nvPr/>
        </p:nvSpPr>
        <p:spPr>
          <a:xfrm>
            <a:off x="4681728" y="3227832"/>
            <a:ext cx="3108960" cy="365760"/>
          </a:xfrm>
          <a:prstGeom prst="rect">
            <a:avLst/>
          </a:prstGeom>
          <a:noFill/>
          <a:ln/>
        </p:spPr>
        <p:txBody>
          <a:bodyPr wrap="square" lIns="0" tIns="0" rIns="0" bIns="0" rtlCol="0" anchor="ctr"/>
          <a:lstStyle/>
          <a:p>
            <a:pPr marL="0" indent="0" algn="l">
              <a:buNone/>
            </a:pPr>
            <a:r>
              <a:rPr lang="en-US" sz="1100" dirty="0">
                <a:solidFill>
                  <a:srgbClr val="8B96A8"/>
                </a:solidFill>
                <a:latin typeface="Segoe UI" pitchFamily="34" charset="0"/>
                <a:ea typeface="Segoe UI" pitchFamily="34" charset="-122"/>
                <a:cs typeface="Segoe UI" pitchFamily="34" charset="-120"/>
              </a:rPr>
              <a:t>sharply diminishing returns</a:t>
            </a:r>
            <a:endParaRPr lang="en-US" sz="1100" dirty="0"/>
          </a:p>
        </p:txBody>
      </p:sp>
      <p:sp>
        <p:nvSpPr>
          <p:cNvPr id="15" name="Text 13"/>
          <p:cNvSpPr/>
          <p:nvPr/>
        </p:nvSpPr>
        <p:spPr>
          <a:xfrm>
            <a:off x="548640" y="3730752"/>
            <a:ext cx="1554480" cy="365760"/>
          </a:xfrm>
          <a:prstGeom prst="rect">
            <a:avLst/>
          </a:prstGeom>
          <a:noFill/>
          <a:ln/>
        </p:spPr>
        <p:txBody>
          <a:bodyPr wrap="square" lIns="0" tIns="0" rIns="0" bIns="0" rtlCol="0" anchor="ctr"/>
          <a:lstStyle/>
          <a:p>
            <a:pPr marL="0" indent="0" algn="l">
              <a:buNone/>
            </a:pPr>
            <a:r>
              <a:rPr lang="en-US" sz="1250" b="1" dirty="0">
                <a:solidFill>
                  <a:srgbClr val="FBB24B"/>
                </a:solidFill>
                <a:latin typeface="Consolas" pitchFamily="34" charset="0"/>
                <a:ea typeface="Consolas" pitchFamily="34" charset="-122"/>
                <a:cs typeface="Consolas" pitchFamily="34" charset="-120"/>
              </a:rPr>
              <a:t>Level 5+</a:t>
            </a:r>
            <a:endParaRPr lang="en-US" sz="1250" dirty="0"/>
          </a:p>
        </p:txBody>
      </p:sp>
      <p:sp>
        <p:nvSpPr>
          <p:cNvPr id="16" name="bar">
            <a:extLst>
              <a:ext uri="{C183D7F6-B498-43B3-948B-1728B52AA6E4}">
                <adec:decorative xmlns:adec="http://schemas.microsoft.com/office/drawing/2017/decorative" val="1"/>
              </a:ext>
            </a:extLst>
          </p:cNvPr>
          <p:cNvSpPr/>
          <p:nvPr/>
        </p:nvSpPr>
        <p:spPr>
          <a:xfrm>
            <a:off x="2194560" y="3785616"/>
            <a:ext cx="921715" cy="274320"/>
          </a:xfrm>
          <a:prstGeom prst="rect">
            <a:avLst/>
          </a:prstGeom>
          <a:solidFill>
            <a:srgbClr val="FBB24B"/>
          </a:solidFill>
          <a:ln/>
        </p:spPr>
        <p:txBody>
          <a:bodyPr/>
          <a:lstStyle/>
          <a:p>
            <a:endParaRPr lang="en-SE"/>
          </a:p>
        </p:txBody>
      </p:sp>
      <p:sp>
        <p:nvSpPr>
          <p:cNvPr id="17" name="Text 15"/>
          <p:cNvSpPr/>
          <p:nvPr/>
        </p:nvSpPr>
        <p:spPr>
          <a:xfrm>
            <a:off x="3299155" y="3730752"/>
            <a:ext cx="3108960" cy="365760"/>
          </a:xfrm>
          <a:prstGeom prst="rect">
            <a:avLst/>
          </a:prstGeom>
          <a:noFill/>
          <a:ln/>
        </p:spPr>
        <p:txBody>
          <a:bodyPr wrap="square" lIns="0" tIns="0" rIns="0" bIns="0" rtlCol="0" anchor="ctr"/>
          <a:lstStyle/>
          <a:p>
            <a:pPr marL="0" indent="0" algn="l">
              <a:buNone/>
            </a:pPr>
            <a:r>
              <a:rPr lang="en-US" sz="1100" dirty="0">
                <a:solidFill>
                  <a:srgbClr val="8B96A8"/>
                </a:solidFill>
                <a:latin typeface="Segoe UI" pitchFamily="34" charset="0"/>
                <a:ea typeface="Segoe UI" pitchFamily="34" charset="-122"/>
                <a:cs typeface="Segoe UI" pitchFamily="34" charset="-120"/>
              </a:rPr>
              <a:t>rarely worth the latency</a:t>
            </a:r>
            <a:endParaRPr lang="en-US" sz="1100" dirty="0"/>
          </a:p>
        </p:txBody>
      </p:sp>
      <p:sp>
        <p:nvSpPr>
          <p:cNvPr id="18" name="Text 16"/>
          <p:cNvSpPr/>
          <p:nvPr/>
        </p:nvSpPr>
        <p:spPr>
          <a:xfrm>
            <a:off x="502920" y="4370832"/>
            <a:ext cx="8046720" cy="274320"/>
          </a:xfrm>
          <a:prstGeom prst="rect">
            <a:avLst/>
          </a:prstGeom>
          <a:noFill/>
          <a:ln/>
        </p:spPr>
        <p:txBody>
          <a:bodyPr wrap="square" lIns="0" tIns="0" rIns="0" bIns="0" rtlCol="0" anchor="t"/>
          <a:lstStyle/>
          <a:p>
            <a:pPr marL="0" indent="0" algn="ctr">
              <a:buNone/>
            </a:pPr>
            <a:r>
              <a:rPr lang="en-US" sz="1150" b="1" dirty="0">
                <a:solidFill>
                  <a:srgbClr val="FFFFFF"/>
                </a:solidFill>
                <a:latin typeface="Segoe UI" pitchFamily="34" charset="0"/>
                <a:ea typeface="Segoe UI" pitchFamily="34" charset="-122"/>
                <a:cs typeface="Segoe UI" pitchFamily="34" charset="-120"/>
              </a:rPr>
              <a:t>The cap is a deliberate trade-off: near-all the liquidity benefit, bounded and predictable latency.</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Key takeaways</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WRAP-UP</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50</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3950208" cy="1371600"/>
          </a:xfrm>
          <a:prstGeom prst="roundRect">
            <a:avLst>
              <a:gd name="adj" fmla="val 4000"/>
            </a:avLst>
          </a:prstGeom>
          <a:solidFill>
            <a:srgbClr val="1B212C"/>
          </a:solidFill>
          <a:ln w="12700">
            <a:solidFill>
              <a:srgbClr val="2C3644"/>
            </a:solidFill>
            <a:prstDash val="solid"/>
          </a:ln>
        </p:spPr>
        <p:txBody>
          <a:bodyPr/>
          <a:lstStyle/>
          <a:p>
            <a:endParaRPr lang="en-SE"/>
          </a:p>
        </p:txBody>
      </p:sp>
      <p:sp>
        <p:nvSpPr>
          <p:cNvPr id="7" name="dot">
            <a:extLst>
              <a:ext uri="{C183D7F6-B498-43B3-948B-1728B52AA6E4}">
                <adec:decorative xmlns:adec="http://schemas.microsoft.com/office/drawing/2017/decorative" val="1"/>
              </a:ext>
            </a:extLst>
          </p:cNvPr>
          <p:cNvSpPr/>
          <p:nvPr/>
        </p:nvSpPr>
        <p:spPr>
          <a:xfrm>
            <a:off x="731520" y="1719072"/>
            <a:ext cx="182880" cy="182880"/>
          </a:xfrm>
          <a:prstGeom prst="ellipse">
            <a:avLst/>
          </a:prstGeom>
          <a:solidFill>
            <a:srgbClr val="35E07E"/>
          </a:solidFill>
          <a:ln/>
        </p:spPr>
        <p:txBody>
          <a:bodyPr/>
          <a:lstStyle/>
          <a:p>
            <a:endParaRPr lang="en-SE"/>
          </a:p>
        </p:txBody>
      </p:sp>
      <p:sp>
        <p:nvSpPr>
          <p:cNvPr id="8" name="Text 6"/>
          <p:cNvSpPr/>
          <p:nvPr/>
        </p:nvSpPr>
        <p:spPr>
          <a:xfrm>
            <a:off x="1005840" y="1664208"/>
            <a:ext cx="3264408" cy="320040"/>
          </a:xfrm>
          <a:prstGeom prst="rect">
            <a:avLst/>
          </a:prstGeom>
          <a:noFill/>
          <a:ln/>
        </p:spPr>
        <p:txBody>
          <a:bodyPr wrap="square" lIns="0" tIns="0" rIns="0" bIns="0" rtlCol="0" anchor="t"/>
          <a:lstStyle/>
          <a:p>
            <a:pPr marL="0" indent="0" algn="l">
              <a:buNone/>
            </a:pPr>
            <a:r>
              <a:rPr lang="en-US" sz="1500" b="1" dirty="0">
                <a:solidFill>
                  <a:srgbClr val="FFFFFF"/>
                </a:solidFill>
                <a:latin typeface="Segoe UI" pitchFamily="34" charset="0"/>
                <a:ea typeface="Segoe UI" pitchFamily="34" charset="-122"/>
                <a:cs typeface="Segoe UI" pitchFamily="34" charset="-120"/>
              </a:rPr>
              <a:t>Implied orders connect books</a:t>
            </a:r>
            <a:endParaRPr lang="en-US" sz="1500" dirty="0"/>
          </a:p>
        </p:txBody>
      </p:sp>
      <p:sp>
        <p:nvSpPr>
          <p:cNvPr id="9" name="Text 7"/>
          <p:cNvSpPr/>
          <p:nvPr/>
        </p:nvSpPr>
        <p:spPr>
          <a:xfrm>
            <a:off x="731520" y="2103120"/>
            <a:ext cx="3493008" cy="64008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Synthetic quotes let outright and spread traders reach each other automatically.</a:t>
            </a:r>
            <a:endParaRPr lang="en-US" sz="1200" dirty="0"/>
          </a:p>
        </p:txBody>
      </p:sp>
      <p:sp>
        <p:nvSpPr>
          <p:cNvPr id="10" name="panel">
            <a:extLst>
              <a:ext uri="{C183D7F6-B498-43B3-948B-1728B52AA6E4}">
                <adec:decorative xmlns:adec="http://schemas.microsoft.com/office/drawing/2017/decorative" val="1"/>
              </a:ext>
            </a:extLst>
          </p:cNvPr>
          <p:cNvSpPr/>
          <p:nvPr/>
        </p:nvSpPr>
        <p:spPr>
          <a:xfrm>
            <a:off x="4636008" y="1463040"/>
            <a:ext cx="3950208" cy="1371600"/>
          </a:xfrm>
          <a:prstGeom prst="roundRect">
            <a:avLst>
              <a:gd name="adj" fmla="val 4000"/>
            </a:avLst>
          </a:prstGeom>
          <a:solidFill>
            <a:srgbClr val="1B212C"/>
          </a:solidFill>
          <a:ln w="12700">
            <a:solidFill>
              <a:srgbClr val="2C3644"/>
            </a:solidFill>
            <a:prstDash val="solid"/>
          </a:ln>
        </p:spPr>
        <p:txBody>
          <a:bodyPr/>
          <a:lstStyle/>
          <a:p>
            <a:endParaRPr lang="en-SE"/>
          </a:p>
        </p:txBody>
      </p:sp>
      <p:sp>
        <p:nvSpPr>
          <p:cNvPr id="11" name="dot">
            <a:extLst>
              <a:ext uri="{C183D7F6-B498-43B3-948B-1728B52AA6E4}">
                <adec:decorative xmlns:adec="http://schemas.microsoft.com/office/drawing/2017/decorative" val="1"/>
              </a:ext>
            </a:extLst>
          </p:cNvPr>
          <p:cNvSpPr/>
          <p:nvPr/>
        </p:nvSpPr>
        <p:spPr>
          <a:xfrm>
            <a:off x="4864608" y="1719072"/>
            <a:ext cx="182880" cy="182880"/>
          </a:xfrm>
          <a:prstGeom prst="ellipse">
            <a:avLst/>
          </a:prstGeom>
          <a:solidFill>
            <a:srgbClr val="3AD1E6"/>
          </a:solidFill>
          <a:ln/>
        </p:spPr>
        <p:txBody>
          <a:bodyPr/>
          <a:lstStyle/>
          <a:p>
            <a:endParaRPr lang="en-SE"/>
          </a:p>
        </p:txBody>
      </p:sp>
      <p:sp>
        <p:nvSpPr>
          <p:cNvPr id="12" name="Text 10"/>
          <p:cNvSpPr/>
          <p:nvPr/>
        </p:nvSpPr>
        <p:spPr>
          <a:xfrm>
            <a:off x="5138928" y="1664208"/>
            <a:ext cx="3264408" cy="320040"/>
          </a:xfrm>
          <a:prstGeom prst="rect">
            <a:avLst/>
          </a:prstGeom>
          <a:noFill/>
          <a:ln/>
        </p:spPr>
        <p:txBody>
          <a:bodyPr wrap="square" lIns="0" tIns="0" rIns="0" bIns="0" rtlCol="0" anchor="t"/>
          <a:lstStyle/>
          <a:p>
            <a:pPr marL="0" indent="0" algn="l">
              <a:buNone/>
            </a:pPr>
            <a:r>
              <a:rPr lang="en-US" sz="1500" b="1" dirty="0">
                <a:solidFill>
                  <a:srgbClr val="FFFFFF"/>
                </a:solidFill>
                <a:latin typeface="Segoe UI" pitchFamily="34" charset="0"/>
                <a:ea typeface="Segoe UI" pitchFamily="34" charset="-122"/>
                <a:cs typeface="Segoe UI" pitchFamily="34" charset="-120"/>
              </a:rPr>
              <a:t>IN and OUT are one bridge</a:t>
            </a:r>
            <a:endParaRPr lang="en-US" sz="1500" dirty="0"/>
          </a:p>
        </p:txBody>
      </p:sp>
      <p:sp>
        <p:nvSpPr>
          <p:cNvPr id="13" name="Text 11"/>
          <p:cNvSpPr/>
          <p:nvPr/>
        </p:nvSpPr>
        <p:spPr>
          <a:xfrm>
            <a:off x="4864608" y="2103120"/>
            <a:ext cx="3493008" cy="64008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Legs imply spreads (IN); spreads + a leg imply outrights (OUT).</a:t>
            </a:r>
            <a:endParaRPr lang="en-US" sz="1200" dirty="0"/>
          </a:p>
        </p:txBody>
      </p:sp>
      <p:sp>
        <p:nvSpPr>
          <p:cNvPr id="14" name="panel">
            <a:extLst>
              <a:ext uri="{C183D7F6-B498-43B3-948B-1728B52AA6E4}">
                <adec:decorative xmlns:adec="http://schemas.microsoft.com/office/drawing/2017/decorative" val="1"/>
              </a:ext>
            </a:extLst>
          </p:cNvPr>
          <p:cNvSpPr/>
          <p:nvPr/>
        </p:nvSpPr>
        <p:spPr>
          <a:xfrm>
            <a:off x="502920" y="3017520"/>
            <a:ext cx="3950208" cy="1371600"/>
          </a:xfrm>
          <a:prstGeom prst="roundRect">
            <a:avLst>
              <a:gd name="adj" fmla="val 4000"/>
            </a:avLst>
          </a:prstGeom>
          <a:solidFill>
            <a:srgbClr val="1B212C"/>
          </a:solidFill>
          <a:ln w="12700">
            <a:solidFill>
              <a:srgbClr val="2C3644"/>
            </a:solidFill>
            <a:prstDash val="solid"/>
          </a:ln>
        </p:spPr>
        <p:txBody>
          <a:bodyPr/>
          <a:lstStyle/>
          <a:p>
            <a:endParaRPr lang="en-SE"/>
          </a:p>
        </p:txBody>
      </p:sp>
      <p:sp>
        <p:nvSpPr>
          <p:cNvPr id="15" name="dot">
            <a:extLst>
              <a:ext uri="{C183D7F6-B498-43B3-948B-1728B52AA6E4}">
                <adec:decorative xmlns:adec="http://schemas.microsoft.com/office/drawing/2017/decorative" val="1"/>
              </a:ext>
            </a:extLst>
          </p:cNvPr>
          <p:cNvSpPr/>
          <p:nvPr/>
        </p:nvSpPr>
        <p:spPr>
          <a:xfrm>
            <a:off x="731520" y="3273552"/>
            <a:ext cx="182880" cy="182880"/>
          </a:xfrm>
          <a:prstGeom prst="ellipse">
            <a:avLst/>
          </a:prstGeom>
          <a:solidFill>
            <a:srgbClr val="FBB24B"/>
          </a:solidFill>
          <a:ln/>
        </p:spPr>
        <p:txBody>
          <a:bodyPr/>
          <a:lstStyle/>
          <a:p>
            <a:endParaRPr lang="en-SE"/>
          </a:p>
        </p:txBody>
      </p:sp>
      <p:sp>
        <p:nvSpPr>
          <p:cNvPr id="16" name="Text 14"/>
          <p:cNvSpPr/>
          <p:nvPr/>
        </p:nvSpPr>
        <p:spPr>
          <a:xfrm>
            <a:off x="1005840" y="3218688"/>
            <a:ext cx="3264408" cy="320040"/>
          </a:xfrm>
          <a:prstGeom prst="rect">
            <a:avLst/>
          </a:prstGeom>
          <a:noFill/>
          <a:ln/>
        </p:spPr>
        <p:txBody>
          <a:bodyPr wrap="square" lIns="0" tIns="0" rIns="0" bIns="0" rtlCol="0" anchor="t"/>
          <a:lstStyle/>
          <a:p>
            <a:pPr marL="0" indent="0" algn="l">
              <a:buNone/>
            </a:pPr>
            <a:r>
              <a:rPr lang="en-US" sz="1500" b="1" dirty="0">
                <a:solidFill>
                  <a:srgbClr val="FFFFFF"/>
                </a:solidFill>
                <a:latin typeface="Segoe UI" pitchFamily="34" charset="0"/>
                <a:ea typeface="Segoe UI" pitchFamily="34" charset="-122"/>
                <a:cs typeface="Segoe UI" pitchFamily="34" charset="-120"/>
              </a:rPr>
              <a:t>No liquidity is created</a:t>
            </a:r>
            <a:endParaRPr lang="en-US" sz="1500" dirty="0"/>
          </a:p>
        </p:txBody>
      </p:sp>
      <p:sp>
        <p:nvSpPr>
          <p:cNvPr id="17" name="Text 15"/>
          <p:cNvSpPr/>
          <p:nvPr/>
        </p:nvSpPr>
        <p:spPr>
          <a:xfrm>
            <a:off x="731520" y="3657600"/>
            <a:ext cx="3493008" cy="64008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Every implied is backed 1:1 by real orders and vanishes when they do.</a:t>
            </a:r>
            <a:endParaRPr lang="en-US" sz="1200" dirty="0"/>
          </a:p>
        </p:txBody>
      </p:sp>
      <p:sp>
        <p:nvSpPr>
          <p:cNvPr id="18" name="panel">
            <a:extLst>
              <a:ext uri="{C183D7F6-B498-43B3-948B-1728B52AA6E4}">
                <adec:decorative xmlns:adec="http://schemas.microsoft.com/office/drawing/2017/decorative" val="1"/>
              </a:ext>
            </a:extLst>
          </p:cNvPr>
          <p:cNvSpPr/>
          <p:nvPr/>
        </p:nvSpPr>
        <p:spPr>
          <a:xfrm>
            <a:off x="4636008" y="3017520"/>
            <a:ext cx="3950208" cy="1371600"/>
          </a:xfrm>
          <a:prstGeom prst="roundRect">
            <a:avLst>
              <a:gd name="adj" fmla="val 4000"/>
            </a:avLst>
          </a:prstGeom>
          <a:solidFill>
            <a:srgbClr val="1B212C"/>
          </a:solidFill>
          <a:ln w="12700">
            <a:solidFill>
              <a:srgbClr val="2C3644"/>
            </a:solidFill>
            <a:prstDash val="solid"/>
          </a:ln>
        </p:spPr>
        <p:txBody>
          <a:bodyPr/>
          <a:lstStyle/>
          <a:p>
            <a:endParaRPr lang="en-SE"/>
          </a:p>
        </p:txBody>
      </p:sp>
      <p:sp>
        <p:nvSpPr>
          <p:cNvPr id="19" name="dot">
            <a:extLst>
              <a:ext uri="{C183D7F6-B498-43B3-948B-1728B52AA6E4}">
                <adec:decorative xmlns:adec="http://schemas.microsoft.com/office/drawing/2017/decorative" val="1"/>
              </a:ext>
            </a:extLst>
          </p:cNvPr>
          <p:cNvSpPr/>
          <p:nvPr/>
        </p:nvSpPr>
        <p:spPr>
          <a:xfrm>
            <a:off x="4864608" y="3273552"/>
            <a:ext cx="182880" cy="182880"/>
          </a:xfrm>
          <a:prstGeom prst="ellipse">
            <a:avLst/>
          </a:prstGeom>
          <a:solidFill>
            <a:srgbClr val="FF5C6C"/>
          </a:solidFill>
          <a:ln/>
        </p:spPr>
        <p:txBody>
          <a:bodyPr/>
          <a:lstStyle/>
          <a:p>
            <a:endParaRPr lang="en-SE"/>
          </a:p>
        </p:txBody>
      </p:sp>
      <p:sp>
        <p:nvSpPr>
          <p:cNvPr id="20" name="Text 18"/>
          <p:cNvSpPr/>
          <p:nvPr/>
        </p:nvSpPr>
        <p:spPr>
          <a:xfrm>
            <a:off x="5138928" y="3218688"/>
            <a:ext cx="3264408" cy="320040"/>
          </a:xfrm>
          <a:prstGeom prst="rect">
            <a:avLst/>
          </a:prstGeom>
          <a:noFill/>
          <a:ln/>
        </p:spPr>
        <p:txBody>
          <a:bodyPr wrap="square" lIns="0" tIns="0" rIns="0" bIns="0" rtlCol="0" anchor="t"/>
          <a:lstStyle/>
          <a:p>
            <a:pPr marL="0" indent="0" algn="l">
              <a:buNone/>
            </a:pPr>
            <a:r>
              <a:rPr lang="en-US" sz="1500" b="1" dirty="0">
                <a:solidFill>
                  <a:srgbClr val="FFFFFF"/>
                </a:solidFill>
                <a:latin typeface="Segoe UI" pitchFamily="34" charset="0"/>
                <a:ea typeface="Segoe UI" pitchFamily="34" charset="-122"/>
                <a:cs typeface="Segoe UI" pitchFamily="34" charset="-120"/>
              </a:rPr>
              <a:t>Depth is capped on purpose</a:t>
            </a:r>
            <a:endParaRPr lang="en-US" sz="1500" dirty="0"/>
          </a:p>
        </p:txBody>
      </p:sp>
      <p:sp>
        <p:nvSpPr>
          <p:cNvPr id="21" name="Text 19"/>
          <p:cNvSpPr/>
          <p:nvPr/>
        </p:nvSpPr>
        <p:spPr>
          <a:xfrm>
            <a:off x="4864608" y="3657600"/>
            <a:ext cx="3493008" cy="640080"/>
          </a:xfrm>
          <a:prstGeom prst="rect">
            <a:avLst/>
          </a:prstGeom>
          <a:noFill/>
          <a:ln/>
        </p:spPr>
        <p:txBody>
          <a:bodyPr wrap="square" lIns="0" tIns="0" rIns="0" bIns="0" rtlCol="0" anchor="t"/>
          <a:lstStyle/>
          <a:p>
            <a:pPr marL="0" indent="0" algn="l">
              <a:lnSpc>
                <a:spcPts val="1700"/>
              </a:lnSpc>
              <a:buNone/>
            </a:pPr>
            <a:r>
              <a:rPr lang="en-US" sz="1200" dirty="0">
                <a:solidFill>
                  <a:srgbClr val="D8DEE9"/>
                </a:solidFill>
                <a:latin typeface="Segoe UI" pitchFamily="34" charset="0"/>
                <a:ea typeface="Segoe UI" pitchFamily="34" charset="-122"/>
                <a:cs typeface="Segoe UI" pitchFamily="34" charset="-120"/>
              </a:rPr>
              <a:t>Combinatorial cost forces platforms to limit implication levels.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566928"/>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Quick glossary</a:t>
            </a:r>
            <a:endParaRPr lang="en-US" sz="2600" dirty="0"/>
          </a:p>
        </p:txBody>
      </p:sp>
      <p:sp>
        <p:nvSpPr>
          <p:cNvPr id="3" name="Text 1"/>
          <p:cNvSpPr/>
          <p:nvPr/>
        </p:nvSpPr>
        <p:spPr>
          <a:xfrm>
            <a:off x="521208" y="365760"/>
            <a:ext cx="8138160" cy="219456"/>
          </a:xfrm>
          <a:prstGeom prst="rect">
            <a:avLst/>
          </a:prstGeom>
          <a:noFill/>
          <a:ln/>
        </p:spPr>
        <p:txBody>
          <a:bodyPr wrap="square" lIns="0" tIns="0" rIns="0" bIns="0" rtlCol="0" anchor="t"/>
          <a:lstStyle/>
          <a:p>
            <a:pPr marL="0" indent="0" algn="l">
              <a:buNone/>
            </a:pPr>
            <a:r>
              <a:rPr lang="en-US" sz="1100" b="1" kern="0" spc="300" dirty="0">
                <a:solidFill>
                  <a:srgbClr val="35E07E"/>
                </a:solidFill>
                <a:latin typeface="Segoe UI" pitchFamily="34" charset="0"/>
                <a:ea typeface="Segoe UI" pitchFamily="34" charset="-122"/>
                <a:cs typeface="Segoe UI" pitchFamily="34" charset="-120"/>
              </a:rPr>
              <a:t>REFERENCE</a:t>
            </a:r>
            <a:endParaRPr lang="en-US" sz="1100" dirty="0"/>
          </a:p>
        </p:txBody>
      </p:sp>
      <p:sp>
        <p:nvSpPr>
          <p:cNvPr id="4" name="Text 2"/>
          <p:cNvSpPr/>
          <p:nvPr/>
        </p:nvSpPr>
        <p:spPr>
          <a:xfrm>
            <a:off x="502920" y="4855464"/>
            <a:ext cx="5486400" cy="201168"/>
          </a:xfrm>
          <a:prstGeom prst="rect">
            <a:avLst/>
          </a:prstGeom>
          <a:noFill/>
          <a:ln/>
        </p:spPr>
        <p:txBody>
          <a:bodyPr wrap="square" lIns="0" tIns="0" rIns="0" bIns="0" rtlCol="0" anchor="t"/>
          <a:lstStyle/>
          <a:p>
            <a:pPr marL="0" indent="0" algn="l">
              <a:buNone/>
            </a:pPr>
            <a:r>
              <a:rPr lang="en-US" sz="800" kern="0" spc="100" dirty="0">
                <a:solidFill>
                  <a:srgbClr val="8B96A8"/>
                </a:solidFill>
                <a:latin typeface="Segoe UI" pitchFamily="34" charset="0"/>
                <a:ea typeface="Segoe UI" pitchFamily="34" charset="-122"/>
                <a:cs typeface="Segoe UI" pitchFamily="34" charset="-120"/>
              </a:rPr>
              <a:t>IMPLIED ORDERS  ·  A BEGINNER'S GUIDE</a:t>
            </a:r>
            <a:endParaRPr lang="en-US" sz="800" dirty="0"/>
          </a:p>
        </p:txBody>
      </p:sp>
      <p:sp>
        <p:nvSpPr>
          <p:cNvPr id="5" name="Text 3"/>
          <p:cNvSpPr/>
          <p:nvPr/>
        </p:nvSpPr>
        <p:spPr>
          <a:xfrm>
            <a:off x="8275320" y="4855464"/>
            <a:ext cx="365760" cy="201168"/>
          </a:xfrm>
          <a:prstGeom prst="rect">
            <a:avLst/>
          </a:prstGeom>
          <a:noFill/>
          <a:ln/>
        </p:spPr>
        <p:txBody>
          <a:bodyPr wrap="square" lIns="0" tIns="0" rIns="0" bIns="0" rtlCol="0" anchor="t"/>
          <a:lstStyle/>
          <a:p>
            <a:pPr marL="0" indent="0" algn="r">
              <a:buNone/>
            </a:pPr>
            <a:r>
              <a:rPr lang="en-US" sz="850" b="1">
                <a:solidFill>
                  <a:srgbClr val="35E07E"/>
                </a:solidFill>
                <a:latin typeface="Consolas" pitchFamily="34" charset="0"/>
                <a:ea typeface="Consolas" pitchFamily="34" charset="-122"/>
                <a:cs typeface="Consolas" pitchFamily="34" charset="-120"/>
              </a:rPr>
              <a:t>51</a:t>
            </a:r>
            <a:endParaRPr lang="en-US" sz="850" dirty="0"/>
          </a:p>
        </p:txBody>
      </p:sp>
      <p:sp>
        <p:nvSpPr>
          <p:cNvPr id="6" name="panel">
            <a:extLst>
              <a:ext uri="{C183D7F6-B498-43B3-948B-1728B52AA6E4}">
                <adec:decorative xmlns:adec="http://schemas.microsoft.com/office/drawing/2017/decorative" val="1"/>
              </a:ext>
            </a:extLst>
          </p:cNvPr>
          <p:cNvSpPr/>
          <p:nvPr/>
        </p:nvSpPr>
        <p:spPr>
          <a:xfrm>
            <a:off x="502920" y="1463040"/>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7" name="Text 5"/>
          <p:cNvSpPr/>
          <p:nvPr/>
        </p:nvSpPr>
        <p:spPr>
          <a:xfrm>
            <a:off x="685800" y="1572768"/>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Outright</a:t>
            </a:r>
            <a:endParaRPr lang="en-US" sz="1350" dirty="0"/>
          </a:p>
        </p:txBody>
      </p:sp>
      <p:sp>
        <p:nvSpPr>
          <p:cNvPr id="8" name="Text 6"/>
          <p:cNvSpPr/>
          <p:nvPr/>
        </p:nvSpPr>
        <p:spPr>
          <a:xfrm>
            <a:off x="685800" y="1883664"/>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A single instrument, bought or sold on its own.</a:t>
            </a:r>
            <a:endParaRPr lang="en-US" sz="1100" dirty="0"/>
          </a:p>
        </p:txBody>
      </p:sp>
      <p:sp>
        <p:nvSpPr>
          <p:cNvPr id="9" name="panel">
            <a:extLst>
              <a:ext uri="{C183D7F6-B498-43B3-948B-1728B52AA6E4}">
                <adec:decorative xmlns:adec="http://schemas.microsoft.com/office/drawing/2017/decorative" val="1"/>
              </a:ext>
            </a:extLst>
          </p:cNvPr>
          <p:cNvSpPr/>
          <p:nvPr/>
        </p:nvSpPr>
        <p:spPr>
          <a:xfrm>
            <a:off x="4636008" y="1463040"/>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10" name="Text 8"/>
          <p:cNvSpPr/>
          <p:nvPr/>
        </p:nvSpPr>
        <p:spPr>
          <a:xfrm>
            <a:off x="4818888" y="1572768"/>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Spread / combo</a:t>
            </a:r>
            <a:endParaRPr lang="en-US" sz="1350" dirty="0"/>
          </a:p>
        </p:txBody>
      </p:sp>
      <p:sp>
        <p:nvSpPr>
          <p:cNvPr id="11" name="Text 9"/>
          <p:cNvSpPr/>
          <p:nvPr/>
        </p:nvSpPr>
        <p:spPr>
          <a:xfrm>
            <a:off x="4818888" y="1883664"/>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One instrument defined as a combination of legs, e.g. March − June.</a:t>
            </a:r>
            <a:endParaRPr lang="en-US" sz="1100" dirty="0"/>
          </a:p>
        </p:txBody>
      </p:sp>
      <p:sp>
        <p:nvSpPr>
          <p:cNvPr id="12" name="panel">
            <a:extLst>
              <a:ext uri="{C183D7F6-B498-43B3-948B-1728B52AA6E4}">
                <adec:decorative xmlns:adec="http://schemas.microsoft.com/office/drawing/2017/decorative" val="1"/>
              </a:ext>
            </a:extLst>
          </p:cNvPr>
          <p:cNvSpPr/>
          <p:nvPr/>
        </p:nvSpPr>
        <p:spPr>
          <a:xfrm>
            <a:off x="502920" y="2496312"/>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13" name="Text 11"/>
          <p:cNvSpPr/>
          <p:nvPr/>
        </p:nvSpPr>
        <p:spPr>
          <a:xfrm>
            <a:off x="685800" y="2606040"/>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Best bid / ask</a:t>
            </a:r>
            <a:endParaRPr lang="en-US" sz="1350" dirty="0"/>
          </a:p>
        </p:txBody>
      </p:sp>
      <p:sp>
        <p:nvSpPr>
          <p:cNvPr id="14" name="Text 12"/>
          <p:cNvSpPr/>
          <p:nvPr/>
        </p:nvSpPr>
        <p:spPr>
          <a:xfrm>
            <a:off x="685800" y="2916936"/>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Highest price to sell at / lowest price to buy at.</a:t>
            </a:r>
            <a:endParaRPr lang="en-US" sz="1100" dirty="0"/>
          </a:p>
        </p:txBody>
      </p:sp>
      <p:sp>
        <p:nvSpPr>
          <p:cNvPr id="15" name="panel">
            <a:extLst>
              <a:ext uri="{C183D7F6-B498-43B3-948B-1728B52AA6E4}">
                <adec:decorative xmlns:adec="http://schemas.microsoft.com/office/drawing/2017/decorative" val="1"/>
              </a:ext>
            </a:extLst>
          </p:cNvPr>
          <p:cNvSpPr/>
          <p:nvPr/>
        </p:nvSpPr>
        <p:spPr>
          <a:xfrm>
            <a:off x="4636008" y="2496312"/>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16" name="Text 14"/>
          <p:cNvSpPr/>
          <p:nvPr/>
        </p:nvSpPr>
        <p:spPr>
          <a:xfrm>
            <a:off x="4818888" y="2606040"/>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Implied IN</a:t>
            </a:r>
            <a:endParaRPr lang="en-US" sz="1350" dirty="0"/>
          </a:p>
        </p:txBody>
      </p:sp>
      <p:sp>
        <p:nvSpPr>
          <p:cNvPr id="17" name="Text 15"/>
          <p:cNvSpPr/>
          <p:nvPr/>
        </p:nvSpPr>
        <p:spPr>
          <a:xfrm>
            <a:off x="4818888" y="2916936"/>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Spread quote derived from the outright leg books.</a:t>
            </a:r>
            <a:endParaRPr lang="en-US" sz="1100" dirty="0"/>
          </a:p>
        </p:txBody>
      </p:sp>
      <p:sp>
        <p:nvSpPr>
          <p:cNvPr id="18" name="panel">
            <a:extLst>
              <a:ext uri="{C183D7F6-B498-43B3-948B-1728B52AA6E4}">
                <adec:decorative xmlns:adec="http://schemas.microsoft.com/office/drawing/2017/decorative" val="1"/>
              </a:ext>
            </a:extLst>
          </p:cNvPr>
          <p:cNvSpPr/>
          <p:nvPr/>
        </p:nvSpPr>
        <p:spPr>
          <a:xfrm>
            <a:off x="502920" y="3529584"/>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19" name="Text 17"/>
          <p:cNvSpPr/>
          <p:nvPr/>
        </p:nvSpPr>
        <p:spPr>
          <a:xfrm>
            <a:off x="685800" y="3639312"/>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Implied OUT</a:t>
            </a:r>
            <a:endParaRPr lang="en-US" sz="1350" dirty="0"/>
          </a:p>
        </p:txBody>
      </p:sp>
      <p:sp>
        <p:nvSpPr>
          <p:cNvPr id="20" name="Text 18"/>
          <p:cNvSpPr/>
          <p:nvPr/>
        </p:nvSpPr>
        <p:spPr>
          <a:xfrm>
            <a:off x="685800" y="3950208"/>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Outright quote derived from a spread order plus a real leg.</a:t>
            </a:r>
            <a:endParaRPr lang="en-US" sz="1100" dirty="0"/>
          </a:p>
        </p:txBody>
      </p:sp>
      <p:sp>
        <p:nvSpPr>
          <p:cNvPr id="21" name="panel">
            <a:extLst>
              <a:ext uri="{C183D7F6-B498-43B3-948B-1728B52AA6E4}">
                <adec:decorative xmlns:adec="http://schemas.microsoft.com/office/drawing/2017/decorative" val="1"/>
              </a:ext>
            </a:extLst>
          </p:cNvPr>
          <p:cNvSpPr/>
          <p:nvPr/>
        </p:nvSpPr>
        <p:spPr>
          <a:xfrm>
            <a:off x="4636008" y="3529584"/>
            <a:ext cx="3950208" cy="896112"/>
          </a:xfrm>
          <a:prstGeom prst="roundRect">
            <a:avLst>
              <a:gd name="adj" fmla="val 6122"/>
            </a:avLst>
          </a:prstGeom>
          <a:solidFill>
            <a:srgbClr val="1B212C"/>
          </a:solidFill>
          <a:ln w="12700">
            <a:solidFill>
              <a:srgbClr val="2C3644"/>
            </a:solidFill>
            <a:prstDash val="solid"/>
          </a:ln>
        </p:spPr>
        <p:txBody>
          <a:bodyPr/>
          <a:lstStyle/>
          <a:p>
            <a:endParaRPr lang="en-SE"/>
          </a:p>
        </p:txBody>
      </p:sp>
      <p:sp>
        <p:nvSpPr>
          <p:cNvPr id="22" name="Text 20"/>
          <p:cNvSpPr/>
          <p:nvPr/>
        </p:nvSpPr>
        <p:spPr>
          <a:xfrm>
            <a:off x="4818888" y="3639312"/>
            <a:ext cx="3584448" cy="274320"/>
          </a:xfrm>
          <a:prstGeom prst="rect">
            <a:avLst/>
          </a:prstGeom>
          <a:noFill/>
          <a:ln/>
        </p:spPr>
        <p:txBody>
          <a:bodyPr wrap="square" lIns="0" tIns="0" rIns="0" bIns="0" rtlCol="0" anchor="t"/>
          <a:lstStyle/>
          <a:p>
            <a:pPr marL="0" indent="0" algn="l">
              <a:buNone/>
            </a:pPr>
            <a:r>
              <a:rPr lang="en-US" sz="1350" b="1" dirty="0">
                <a:solidFill>
                  <a:srgbClr val="3AD1E6"/>
                </a:solidFill>
                <a:latin typeface="Consolas" pitchFamily="34" charset="0"/>
                <a:ea typeface="Consolas" pitchFamily="34" charset="-122"/>
                <a:cs typeface="Consolas" pitchFamily="34" charset="-120"/>
              </a:rPr>
              <a:t>Implication depth</a:t>
            </a:r>
            <a:endParaRPr lang="en-US" sz="1350" dirty="0"/>
          </a:p>
        </p:txBody>
      </p:sp>
      <p:sp>
        <p:nvSpPr>
          <p:cNvPr id="23" name="Text 21"/>
          <p:cNvSpPr/>
          <p:nvPr/>
        </p:nvSpPr>
        <p:spPr>
          <a:xfrm>
            <a:off x="4818888" y="3950208"/>
            <a:ext cx="3584448" cy="411480"/>
          </a:xfrm>
          <a:prstGeom prst="rect">
            <a:avLst/>
          </a:prstGeom>
          <a:noFill/>
          <a:ln/>
        </p:spPr>
        <p:txBody>
          <a:bodyPr wrap="square" lIns="0" tIns="0" rIns="0" bIns="0" rtlCol="0" anchor="t"/>
          <a:lstStyle/>
          <a:p>
            <a:pPr marL="0" indent="0" algn="l">
              <a:lnSpc>
                <a:spcPts val="1500"/>
              </a:lnSpc>
              <a:buNone/>
            </a:pPr>
            <a:r>
              <a:rPr lang="en-US" sz="1100" dirty="0">
                <a:solidFill>
                  <a:srgbClr val="D8DEE9"/>
                </a:solidFill>
                <a:latin typeface="Segoe UI" pitchFamily="34" charset="0"/>
                <a:ea typeface="Segoe UI" pitchFamily="34" charset="-122"/>
                <a:cs typeface="Segoe UI" pitchFamily="34" charset="-120"/>
              </a:rPr>
              <a:t>How many chained levels of implication the engine allows.</a:t>
            </a:r>
            <a:endParaRPr lang="en-US" sz="1100" dirty="0"/>
          </a:p>
        </p:txBody>
      </p:sp>
      <p:sp>
        <p:nvSpPr>
          <p:cNvPr id="24" name="Text 22"/>
          <p:cNvSpPr/>
          <p:nvPr/>
        </p:nvSpPr>
        <p:spPr>
          <a:xfrm>
            <a:off x="502920" y="4590288"/>
            <a:ext cx="8046720" cy="274320"/>
          </a:xfrm>
          <a:prstGeom prst="rect">
            <a:avLst/>
          </a:prstGeom>
          <a:noFill/>
          <a:ln/>
        </p:spPr>
        <p:txBody>
          <a:bodyPr wrap="square" lIns="0" tIns="0" rIns="0" bIns="0" rtlCol="0" anchor="t"/>
          <a:lstStyle/>
          <a:p>
            <a:pPr marL="0" indent="0" algn="ctr">
              <a:buNone/>
            </a:pPr>
            <a:r>
              <a:rPr lang="en-US" sz="1150" b="1" dirty="0">
                <a:solidFill>
                  <a:srgbClr val="35E07E"/>
                </a:solidFill>
                <a:latin typeface="Segoe UI" pitchFamily="34" charset="0"/>
                <a:ea typeface="Segoe UI" pitchFamily="34" charset="-122"/>
                <a:cs typeface="Segoe UI" pitchFamily="34" charset="-120"/>
              </a:rPr>
              <a:t>You now have the full picture: what implied orders are, how they're built, why they help, and why they're bounded.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1229</TotalTime>
  <Words>10282</Words>
  <Application>Microsoft Macintosh PowerPoint</Application>
  <PresentationFormat>On-screen Show (16:9)</PresentationFormat>
  <Paragraphs>1081</Paragraphs>
  <Slides>51</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Consolas</vt:lpstr>
      <vt:lpstr>Segoe UI</vt:lpstr>
      <vt:lpstr>Office Theme</vt:lpstr>
      <vt:lpstr>Implied Orders</vt:lpstr>
      <vt:lpstr>What you'll walk away understanding</vt:lpstr>
      <vt:lpstr>Dated instruments &amp; combos</vt:lpstr>
      <vt:lpstr>A dated instrument settles in a specific month</vt:lpstr>
      <vt:lpstr>Why March and June don't cost the same</vt:lpstr>
      <vt:lpstr>A combo order trades two months at once</vt:lpstr>
      <vt:lpstr>Worked example: buying the Mar–Jun combo</vt:lpstr>
      <vt:lpstr>Closing the trade: how you take profit</vt:lpstr>
      <vt:lpstr>Two liquid legs — but no market in the spread</vt:lpstr>
      <vt:lpstr>Your only option: leg in by hand — and hope</vt:lpstr>
      <vt:lpstr>Liquidity you can't see — until the engine connects it</vt:lpstr>
      <vt:lpstr>Foundations</vt:lpstr>
      <vt:lpstr>The order book: where buyers and sellers queue</vt:lpstr>
      <vt:lpstr>An “outright” is just one thing, bought or sold</vt:lpstr>
      <vt:lpstr>Best bid, best ask, and the bid–ask spread</vt:lpstr>
      <vt:lpstr>A combination instrument: the calendar spread</vt:lpstr>
      <vt:lpstr>Why traders quote spreads directly</vt:lpstr>
      <vt:lpstr>The fragmentation problem</vt:lpstr>
      <vt:lpstr>The problem, made concrete</vt:lpstr>
      <vt:lpstr>Scenario: two liquid legs, an empty spread</vt:lpstr>
      <vt:lpstr>The liquidity is right there</vt:lpstr>
      <vt:lpstr>The question that implied orders answer</vt:lpstr>
      <vt:lpstr>Meet the implied order</vt:lpstr>
      <vt:lpstr>Implied IN</vt:lpstr>
      <vt:lpstr>Setup: the two leg books we'll use</vt:lpstr>
      <vt:lpstr>Build the implied spread BID</vt:lpstr>
      <vt:lpstr>Build the implied spread ASK</vt:lpstr>
      <vt:lpstr>A spread market appears out of the legs</vt:lpstr>
      <vt:lpstr>Watch it trade: one order, three fills</vt:lpstr>
      <vt:lpstr>Implied IN, in one line</vt:lpstr>
      <vt:lpstr>Implied OUT</vt:lpstr>
      <vt:lpstr>Setup: a resting spread order meets a leg</vt:lpstr>
      <vt:lpstr>Build the implied MARCH bid</vt:lpstr>
      <vt:lpstr>Watch it trade: the synthetic leg fills</vt:lpstr>
      <vt:lpstr>The four building blocks</vt:lpstr>
      <vt:lpstr>Implied OUT, in one line</vt:lpstr>
      <vt:lpstr>Why it's so powerful</vt:lpstr>
      <vt:lpstr>Tighter markets and better fills</vt:lpstr>
      <vt:lpstr>One trade, a whole web of linked books</vt:lpstr>
      <vt:lpstr>Chaining: implied-from-implied</vt:lpstr>
      <vt:lpstr>No liquidity is created</vt:lpstr>
      <vt:lpstr>The big misconception</vt:lpstr>
      <vt:lpstr>Every implied is backed 1:1 by real orders</vt:lpstr>
      <vt:lpstr>Pull the real order, the implied vanishes</vt:lpstr>
      <vt:lpstr>No double-counting when it trades</vt:lpstr>
      <vt:lpstr>The cost of going deep</vt:lpstr>
      <vt:lpstr>Combinatorial explosion</vt:lpstr>
      <vt:lpstr>What deep implication actually costs</vt:lpstr>
      <vt:lpstr>Why real platforms cap the levels</vt:lpstr>
      <vt:lpstr>Key takeaways</vt:lpstr>
      <vt:lpstr>Quick glossary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5</cp:revision>
  <dcterms:created xsi:type="dcterms:W3CDTF">2026-07-28T23:55:06Z</dcterms:created>
  <dcterms:modified xsi:type="dcterms:W3CDTF">2026-08-07T05:52:25Z</dcterms:modified>
</cp:coreProperties>
</file>