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79"/>
  </p:notesMasterIdLst>
  <p:sldIdLst>
    <p:sldId id="256" r:id="rId2"/>
    <p:sldId id="257" r:id="rId3"/>
    <p:sldId id="258" r:id="rId4"/>
    <p:sldId id="259" r:id="rId5"/>
    <p:sldId id="260" r:id="rId6"/>
    <p:sldId id="261" r:id="rId7"/>
    <p:sldId id="262" r:id="rId8"/>
    <p:sldId id="263" r:id="rId9"/>
    <p:sldId id="315" r:id="rId10"/>
    <p:sldId id="316" r:id="rId11"/>
    <p:sldId id="317" r:id="rId12"/>
    <p:sldId id="318" r:id="rId13"/>
    <p:sldId id="264" r:id="rId14"/>
    <p:sldId id="332" r:id="rId15"/>
    <p:sldId id="319" r:id="rId16"/>
    <p:sldId id="322" r:id="rId17"/>
    <p:sldId id="320" r:id="rId18"/>
    <p:sldId id="321" r:id="rId19"/>
    <p:sldId id="265" r:id="rId20"/>
    <p:sldId id="266" r:id="rId21"/>
    <p:sldId id="267" r:id="rId22"/>
    <p:sldId id="268" r:id="rId23"/>
    <p:sldId id="269" r:id="rId24"/>
    <p:sldId id="323" r:id="rId25"/>
    <p:sldId id="324" r:id="rId26"/>
    <p:sldId id="325" r:id="rId27"/>
    <p:sldId id="326" r:id="rId28"/>
    <p:sldId id="327" r:id="rId29"/>
    <p:sldId id="270" r:id="rId30"/>
    <p:sldId id="271" r:id="rId31"/>
    <p:sldId id="272" r:id="rId32"/>
    <p:sldId id="273" r:id="rId33"/>
    <p:sldId id="274" r:id="rId34"/>
    <p:sldId id="275" r:id="rId35"/>
    <p:sldId id="276" r:id="rId36"/>
    <p:sldId id="277" r:id="rId37"/>
    <p:sldId id="278" r:id="rId38"/>
    <p:sldId id="279" r:id="rId39"/>
    <p:sldId id="328" r:id="rId40"/>
    <p:sldId id="329" r:id="rId41"/>
    <p:sldId id="330" r:id="rId42"/>
    <p:sldId id="280" r:id="rId43"/>
    <p:sldId id="281" r:id="rId44"/>
    <p:sldId id="282" r:id="rId45"/>
    <p:sldId id="283" r:id="rId46"/>
    <p:sldId id="284" r:id="rId47"/>
    <p:sldId id="285" r:id="rId48"/>
    <p:sldId id="286" r:id="rId49"/>
    <p:sldId id="287" r:id="rId50"/>
    <p:sldId id="288" r:id="rId51"/>
    <p:sldId id="289" r:id="rId52"/>
    <p:sldId id="290" r:id="rId53"/>
    <p:sldId id="291" r:id="rId54"/>
    <p:sldId id="292" r:id="rId55"/>
    <p:sldId id="293" r:id="rId56"/>
    <p:sldId id="294" r:id="rId57"/>
    <p:sldId id="295" r:id="rId58"/>
    <p:sldId id="296" r:id="rId59"/>
    <p:sldId id="297" r:id="rId60"/>
    <p:sldId id="298" r:id="rId61"/>
    <p:sldId id="299" r:id="rId62"/>
    <p:sldId id="300" r:id="rId63"/>
    <p:sldId id="301" r:id="rId64"/>
    <p:sldId id="302" r:id="rId65"/>
    <p:sldId id="303" r:id="rId66"/>
    <p:sldId id="304" r:id="rId67"/>
    <p:sldId id="305" r:id="rId68"/>
    <p:sldId id="306" r:id="rId69"/>
    <p:sldId id="307" r:id="rId70"/>
    <p:sldId id="308" r:id="rId71"/>
    <p:sldId id="309" r:id="rId72"/>
    <p:sldId id="310" r:id="rId73"/>
    <p:sldId id="311" r:id="rId74"/>
    <p:sldId id="312" r:id="rId75"/>
    <p:sldId id="313" r:id="rId76"/>
    <p:sldId id="314" r:id="rId77"/>
    <p:sldId id="331" r:id="rId7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5"/>
    <p:restoredTop sz="84110"/>
  </p:normalViewPr>
  <p:slideViewPr>
    <p:cSldViewPr snapToGrid="0" snapToObjects="1">
      <p:cViewPr varScale="1">
        <p:scale>
          <a:sx n="103" d="100"/>
          <a:sy n="103" d="100"/>
        </p:scale>
        <p:origin x="176" y="240"/>
      </p:cViewPr>
      <p:guideLst/>
    </p:cSldViewPr>
  </p:slideViewPr>
  <p:notesTextViewPr>
    <p:cViewPr>
      <p:scale>
        <a:sx n="130" d="100"/>
        <a:sy n="13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an Persson" userId="945a193d1335e777" providerId="LiveId" clId="{D66F4085-5FC8-5512-806E-727BEDDA944C}"/>
    <pc:docChg chg="undo custSel addSld modSld sldOrd modNotesMaster">
      <pc:chgData name="Johan Persson" userId="945a193d1335e777" providerId="LiveId" clId="{D66F4085-5FC8-5512-806E-727BEDDA944C}" dt="2026-10-07T21:50:04.499" v="42" actId="26606"/>
      <pc:docMkLst>
        <pc:docMk/>
      </pc:docMkLst>
      <pc:sldChg chg="modSp mod ord">
        <pc:chgData name="Johan Persson" userId="945a193d1335e777" providerId="LiveId" clId="{D66F4085-5FC8-5512-806E-727BEDDA944C}" dt="2026-10-07T21:49:33.733" v="40" actId="26606"/>
        <pc:sldMkLst>
          <pc:docMk/>
          <pc:sldMk cId="0" sldId="264"/>
        </pc:sldMkLst>
        <pc:spChg chg="mod">
          <ac:chgData name="Johan Persson" userId="945a193d1335e777" providerId="LiveId" clId="{D66F4085-5FC8-5512-806E-727BEDDA944C}" dt="2026-10-07T21:49:33.733" v="40" actId="26606"/>
          <ac:spMkLst>
            <pc:docMk/>
            <pc:sldMk cId="0" sldId="264"/>
            <ac:spMk id="2" creationId="{00000000-0000-0000-0000-000000000000}"/>
          </ac:spMkLst>
        </pc:spChg>
      </pc:sldChg>
      <pc:sldChg chg="modSp mod">
        <pc:chgData name="Johan Persson" userId="945a193d1335e777" providerId="LiveId" clId="{D66F4085-5FC8-5512-806E-727BEDDA944C}" dt="2026-10-07T21:50:04.499" v="42" actId="26606"/>
        <pc:sldMkLst>
          <pc:docMk/>
          <pc:sldMk cId="0" sldId="319"/>
        </pc:sldMkLst>
        <pc:graphicFrameChg chg="mod">
          <ac:chgData name="Johan Persson" userId="945a193d1335e777" providerId="LiveId" clId="{D66F4085-5FC8-5512-806E-727BEDDA944C}" dt="2026-10-07T21:50:04.499" v="42" actId="26606"/>
          <ac:graphicFrameMkLst>
            <pc:docMk/>
            <pc:sldMk cId="0" sldId="319"/>
            <ac:graphicFrameMk id="7" creationId="{00000000-0000-0000-0000-000000000000}"/>
          </ac:graphicFrameMkLst>
        </pc:graphicFrameChg>
        <pc:graphicFrameChg chg="mod">
          <ac:chgData name="Johan Persson" userId="945a193d1335e777" providerId="LiveId" clId="{D66F4085-5FC8-5512-806E-727BEDDA944C}" dt="2026-10-07T21:50:04.499" v="42" actId="26606"/>
          <ac:graphicFrameMkLst>
            <pc:docMk/>
            <pc:sldMk cId="0" sldId="319"/>
            <ac:graphicFrameMk id="8" creationId="{00000000-0000-0000-0000-000000000000}"/>
          </ac:graphicFrameMkLst>
        </pc:graphicFrameChg>
      </pc:sldChg>
      <pc:sldChg chg="modSp mod">
        <pc:chgData name="Johan Persson" userId="945a193d1335e777" providerId="LiveId" clId="{D66F4085-5FC8-5512-806E-727BEDDA944C}" dt="2026-10-07T21:50:04.499" v="42" actId="26606"/>
        <pc:sldMkLst>
          <pc:docMk/>
          <pc:sldMk cId="0" sldId="320"/>
        </pc:sldMkLst>
        <pc:graphicFrameChg chg="mod">
          <ac:chgData name="Johan Persson" userId="945a193d1335e777" providerId="LiveId" clId="{D66F4085-5FC8-5512-806E-727BEDDA944C}" dt="2026-10-07T21:50:04.499" v="42" actId="26606"/>
          <ac:graphicFrameMkLst>
            <pc:docMk/>
            <pc:sldMk cId="0" sldId="320"/>
            <ac:graphicFrameMk id="6" creationId="{00000000-0000-0000-0000-000000000000}"/>
          </ac:graphicFrameMkLst>
        </pc:graphicFrameChg>
      </pc:sldChg>
      <pc:sldChg chg="modSp mod">
        <pc:chgData name="Johan Persson" userId="945a193d1335e777" providerId="LiveId" clId="{D66F4085-5FC8-5512-806E-727BEDDA944C}" dt="2026-10-07T21:50:04.499" v="42" actId="26606"/>
        <pc:sldMkLst>
          <pc:docMk/>
          <pc:sldMk cId="0" sldId="321"/>
        </pc:sldMkLst>
        <pc:graphicFrameChg chg="mod">
          <ac:chgData name="Johan Persson" userId="945a193d1335e777" providerId="LiveId" clId="{D66F4085-5FC8-5512-806E-727BEDDA944C}" dt="2026-10-07T21:50:04.499" v="42" actId="26606"/>
          <ac:graphicFrameMkLst>
            <pc:docMk/>
            <pc:sldMk cId="0" sldId="321"/>
            <ac:graphicFrameMk id="10" creationId="{00000000-0000-0000-0000-000000000000}"/>
          </ac:graphicFrameMkLst>
        </pc:graphicFrameChg>
      </pc:sldChg>
      <pc:sldChg chg="modSp mod">
        <pc:chgData name="Johan Persson" userId="945a193d1335e777" providerId="LiveId" clId="{D66F4085-5FC8-5512-806E-727BEDDA944C}" dt="2026-10-07T21:49:33.733" v="40" actId="26606"/>
        <pc:sldMkLst>
          <pc:docMk/>
          <pc:sldMk cId="0" sldId="322"/>
        </pc:sldMkLst>
        <pc:spChg chg="mod">
          <ac:chgData name="Johan Persson" userId="945a193d1335e777" providerId="LiveId" clId="{D66F4085-5FC8-5512-806E-727BEDDA944C}" dt="2026-10-07T21:49:33.733" v="40" actId="26606"/>
          <ac:spMkLst>
            <pc:docMk/>
            <pc:sldMk cId="0" sldId="322"/>
            <ac:spMk id="13" creationId="{00000000-0000-0000-0000-000000000000}"/>
          </ac:spMkLst>
        </pc:spChg>
        <pc:spChg chg="mod">
          <ac:chgData name="Johan Persson" userId="945a193d1335e777" providerId="LiveId" clId="{D66F4085-5FC8-5512-806E-727BEDDA944C}" dt="2026-10-07T21:49:33.733" v="40" actId="26606"/>
          <ac:spMkLst>
            <pc:docMk/>
            <pc:sldMk cId="0" sldId="322"/>
            <ac:spMk id="21" creationId="{00000000-0000-0000-0000-000000000000}"/>
          </ac:spMkLst>
        </pc:spChg>
      </pc:sldChg>
      <pc:sldChg chg="modSp mod">
        <pc:chgData name="Johan Persson" userId="945a193d1335e777" providerId="LiveId" clId="{D66F4085-5FC8-5512-806E-727BEDDA944C}" dt="2026-10-07T21:49:33.733" v="40" actId="26606"/>
        <pc:sldMkLst>
          <pc:docMk/>
          <pc:sldMk cId="0" sldId="329"/>
        </pc:sldMkLst>
        <pc:spChg chg="mod">
          <ac:chgData name="Johan Persson" userId="945a193d1335e777" providerId="LiveId" clId="{D66F4085-5FC8-5512-806E-727BEDDA944C}" dt="2026-10-07T21:49:33.733" v="40" actId="26606"/>
          <ac:spMkLst>
            <pc:docMk/>
            <pc:sldMk cId="0" sldId="329"/>
            <ac:spMk id="4" creationId="{00000000-0000-0000-0000-000000000000}"/>
          </ac:spMkLst>
        </pc:spChg>
      </pc:sldChg>
      <pc:sldChg chg="addSp delSp modSp add mod">
        <pc:chgData name="Johan Persson" userId="945a193d1335e777" providerId="LiveId" clId="{D66F4085-5FC8-5512-806E-727BEDDA944C}" dt="2026-10-07T21:44:41.009" v="39" actId="692"/>
        <pc:sldMkLst>
          <pc:docMk/>
          <pc:sldMk cId="0" sldId="331"/>
        </pc:sldMkLst>
        <pc:spChg chg="mod">
          <ac:chgData name="Johan Persson" userId="945a193d1335e777" providerId="LiveId" clId="{D66F4085-5FC8-5512-806E-727BEDDA944C}" dt="2026-10-07T21:44:19.031" v="37" actId="14100"/>
          <ac:spMkLst>
            <pc:docMk/>
            <pc:sldMk cId="0" sldId="331"/>
            <ac:spMk id="4" creationId="{00000000-0000-0000-0000-000000000000}"/>
          </ac:spMkLst>
        </pc:spChg>
        <pc:spChg chg="mod">
          <ac:chgData name="Johan Persson" userId="945a193d1335e777" providerId="LiveId" clId="{D66F4085-5FC8-5512-806E-727BEDDA944C}" dt="2026-10-07T21:43:24.778" v="16" actId="404"/>
          <ac:spMkLst>
            <pc:docMk/>
            <pc:sldMk cId="0" sldId="331"/>
            <ac:spMk id="5" creationId="{00000000-0000-0000-0000-000000000000}"/>
          </ac:spMkLst>
        </pc:spChg>
        <pc:spChg chg="add del mod">
          <ac:chgData name="Johan Persson" userId="945a193d1335e777" providerId="LiveId" clId="{D66F4085-5FC8-5512-806E-727BEDDA944C}" dt="2026-10-07T21:44:11.111" v="36" actId="1076"/>
          <ac:spMkLst>
            <pc:docMk/>
            <pc:sldMk cId="0" sldId="331"/>
            <ac:spMk id="6" creationId="{00000000-0000-0000-0000-000000000000}"/>
          </ac:spMkLst>
        </pc:spChg>
        <pc:picChg chg="mod">
          <ac:chgData name="Johan Persson" userId="945a193d1335e777" providerId="LiveId" clId="{D66F4085-5FC8-5512-806E-727BEDDA944C}" dt="2026-10-07T21:44:41.009" v="39" actId="692"/>
          <ac:picMkLst>
            <pc:docMk/>
            <pc:sldMk cId="0" sldId="331"/>
            <ac:picMk id="7" creationId="{00000000-0000-0000-0000-000000000000}"/>
          </ac:picMkLst>
        </pc:picChg>
      </pc:sldChg>
      <pc:sldChg chg="add">
        <pc:chgData name="Johan Persson" userId="945a193d1335e777" providerId="LiveId" clId="{D66F4085-5FC8-5512-806E-727BEDDA944C}" dt="2026-10-07T21:49:33.733" v="40" actId="26606"/>
        <pc:sldMkLst>
          <pc:docMk/>
          <pc:sldMk cId="0" sldId="332"/>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30 days</c:v>
                </c:pt>
              </c:strCache>
            </c:strRef>
          </c:tx>
          <c:spPr>
            <a:ln w="30480">
              <a:solidFill>
                <a:srgbClr val="2B65C8"/>
              </a:solidFill>
            </a:ln>
          </c:spPr>
          <c:marker>
            <c:symbol val="none"/>
          </c:marker>
          <c:xVal>
            <c:numRef>
              <c:f>Sheet1!$A$2:$A$52</c:f>
              <c:numCache>
                <c:formatCode>General</c:formatCode>
                <c:ptCount val="51"/>
                <c:pt idx="0">
                  <c:v>75</c:v>
                </c:pt>
                <c:pt idx="1">
                  <c:v>76</c:v>
                </c:pt>
                <c:pt idx="2">
                  <c:v>77</c:v>
                </c:pt>
                <c:pt idx="3">
                  <c:v>78</c:v>
                </c:pt>
                <c:pt idx="4">
                  <c:v>79</c:v>
                </c:pt>
                <c:pt idx="5">
                  <c:v>80</c:v>
                </c:pt>
                <c:pt idx="6">
                  <c:v>81</c:v>
                </c:pt>
                <c:pt idx="7">
                  <c:v>82</c:v>
                </c:pt>
                <c:pt idx="8">
                  <c:v>83</c:v>
                </c:pt>
                <c:pt idx="9">
                  <c:v>84</c:v>
                </c:pt>
                <c:pt idx="10">
                  <c:v>85</c:v>
                </c:pt>
                <c:pt idx="11">
                  <c:v>86</c:v>
                </c:pt>
                <c:pt idx="12">
                  <c:v>87</c:v>
                </c:pt>
                <c:pt idx="13">
                  <c:v>88</c:v>
                </c:pt>
                <c:pt idx="14">
                  <c:v>89</c:v>
                </c:pt>
                <c:pt idx="15">
                  <c:v>90</c:v>
                </c:pt>
                <c:pt idx="16">
                  <c:v>91</c:v>
                </c:pt>
                <c:pt idx="17">
                  <c:v>92</c:v>
                </c:pt>
                <c:pt idx="18">
                  <c:v>93</c:v>
                </c:pt>
                <c:pt idx="19">
                  <c:v>94</c:v>
                </c:pt>
                <c:pt idx="20">
                  <c:v>95</c:v>
                </c:pt>
                <c:pt idx="21">
                  <c:v>96</c:v>
                </c:pt>
                <c:pt idx="22">
                  <c:v>97</c:v>
                </c:pt>
                <c:pt idx="23">
                  <c:v>98</c:v>
                </c:pt>
                <c:pt idx="24">
                  <c:v>99</c:v>
                </c:pt>
                <c:pt idx="25">
                  <c:v>100</c:v>
                </c:pt>
                <c:pt idx="26">
                  <c:v>101</c:v>
                </c:pt>
                <c:pt idx="27">
                  <c:v>102</c:v>
                </c:pt>
                <c:pt idx="28">
                  <c:v>103</c:v>
                </c:pt>
                <c:pt idx="29">
                  <c:v>104</c:v>
                </c:pt>
                <c:pt idx="30">
                  <c:v>105</c:v>
                </c:pt>
                <c:pt idx="31">
                  <c:v>106</c:v>
                </c:pt>
                <c:pt idx="32">
                  <c:v>107</c:v>
                </c:pt>
                <c:pt idx="33">
                  <c:v>108</c:v>
                </c:pt>
                <c:pt idx="34">
                  <c:v>109</c:v>
                </c:pt>
                <c:pt idx="35">
                  <c:v>110</c:v>
                </c:pt>
                <c:pt idx="36">
                  <c:v>111</c:v>
                </c:pt>
                <c:pt idx="37">
                  <c:v>112</c:v>
                </c:pt>
                <c:pt idx="38">
                  <c:v>113</c:v>
                </c:pt>
                <c:pt idx="39">
                  <c:v>114</c:v>
                </c:pt>
                <c:pt idx="40">
                  <c:v>115</c:v>
                </c:pt>
                <c:pt idx="41">
                  <c:v>116</c:v>
                </c:pt>
                <c:pt idx="42">
                  <c:v>117</c:v>
                </c:pt>
                <c:pt idx="43">
                  <c:v>118</c:v>
                </c:pt>
                <c:pt idx="44">
                  <c:v>119</c:v>
                </c:pt>
                <c:pt idx="45">
                  <c:v>120</c:v>
                </c:pt>
                <c:pt idx="46">
                  <c:v>121</c:v>
                </c:pt>
                <c:pt idx="47">
                  <c:v>122</c:v>
                </c:pt>
                <c:pt idx="48">
                  <c:v>123</c:v>
                </c:pt>
                <c:pt idx="49">
                  <c:v>124</c:v>
                </c:pt>
                <c:pt idx="50">
                  <c:v>125</c:v>
                </c:pt>
              </c:numCache>
            </c:numRef>
          </c:xVal>
          <c:yVal>
            <c:numRef>
              <c:f>Sheet1!$B$2:$B$52</c:f>
              <c:numCache>
                <c:formatCode>General</c:formatCode>
                <c:ptCount val="51"/>
                <c:pt idx="0">
                  <c:v>3.04070096879272E-7</c:v>
                </c:pt>
                <c:pt idx="1">
                  <c:v>9.7948145783011142E-7</c:v>
                </c:pt>
                <c:pt idx="2">
                  <c:v>2.9543494388106772E-6</c:v>
                </c:pt>
                <c:pt idx="3">
                  <c:v>8.3647608038472931E-6</c:v>
                </c:pt>
                <c:pt idx="4">
                  <c:v>2.228489547972945E-5</c:v>
                </c:pt>
                <c:pt idx="5">
                  <c:v>5.5992785531366884E-5</c:v>
                </c:pt>
                <c:pt idx="6">
                  <c:v>1.3297790783461938E-4</c:v>
                </c:pt>
                <c:pt idx="7">
                  <c:v>2.9914370002054325E-4</c:v>
                </c:pt>
                <c:pt idx="8">
                  <c:v>6.3874628943905165E-4</c:v>
                </c:pt>
                <c:pt idx="9">
                  <c:v>1.2971531857270957E-3</c:v>
                </c:pt>
                <c:pt idx="10">
                  <c:v>2.5102000107801725E-3</c:v>
                </c:pt>
                <c:pt idx="11">
                  <c:v>4.6376261375385974E-3</c:v>
                </c:pt>
                <c:pt idx="12">
                  <c:v>8.1949941597187492E-3</c:v>
                </c:pt>
                <c:pt idx="13">
                  <c:v>1.3875348539600374E-2</c:v>
                </c:pt>
                <c:pt idx="14">
                  <c:v>2.2549800782879603E-2</c:v>
                </c:pt>
                <c:pt idx="15">
                  <c:v>3.5236552559918088E-2</c:v>
                </c:pt>
                <c:pt idx="16">
                  <c:v>5.3031540594962123E-2</c:v>
                </c:pt>
                <c:pt idx="17">
                  <c:v>7.7000960435687216E-2</c:v>
                </c:pt>
                <c:pt idx="18">
                  <c:v>0.10804521936787342</c:v>
                </c:pt>
                <c:pt idx="19">
                  <c:v>0.14675308079215321</c:v>
                </c:pt>
                <c:pt idx="20">
                  <c:v>0.19327108650320751</c:v>
                </c:pt>
                <c:pt idx="21">
                  <c:v>0.24721440629324337</c:v>
                </c:pt>
                <c:pt idx="22">
                  <c:v>0.30764003577048959</c:v>
                </c:pt>
                <c:pt idx="23">
                  <c:v>0.37309255162114907</c:v>
                </c:pt>
                <c:pt idx="24">
                  <c:v>0.44171893810849827</c:v>
                </c:pt>
                <c:pt idx="25">
                  <c:v>0.51143575314022482</c:v>
                </c:pt>
                <c:pt idx="26">
                  <c:v>0.58012239573922353</c:v>
                </c:pt>
                <c:pt idx="27">
                  <c:v>0.64581061884287494</c:v>
                </c:pt>
                <c:pt idx="28">
                  <c:v>0.70684315203232817</c:v>
                </c:pt>
                <c:pt idx="29">
                  <c:v>0.76198213755072675</c:v>
                </c:pt>
                <c:pt idx="30">
                  <c:v>0.81045868826678147</c:v>
                </c:pt>
                <c:pt idx="31">
                  <c:v>0.85196556571695403</c:v>
                </c:pt>
                <c:pt idx="32">
                  <c:v>0.88660349927331183</c:v>
                </c:pt>
                <c:pt idx="33">
                  <c:v>0.91479670002560065</c:v>
                </c:pt>
                <c:pt idx="34">
                  <c:v>0.93719440318674696</c:v>
                </c:pt>
                <c:pt idx="35">
                  <c:v>0.95457341884345859</c:v>
                </c:pt>
                <c:pt idx="36">
                  <c:v>0.96775281387775025</c:v>
                </c:pt>
                <c:pt idx="37">
                  <c:v>0.9775272325388662</c:v>
                </c:pt>
                <c:pt idx="38">
                  <c:v>0.98462103379827415</c:v>
                </c:pt>
                <c:pt idx="39">
                  <c:v>0.98966205411762032</c:v>
                </c:pt>
                <c:pt idx="40">
                  <c:v>0.99317166996207196</c:v>
                </c:pt>
                <c:pt idx="41">
                  <c:v>0.99556688617308198</c:v>
                </c:pt>
                <c:pt idx="42">
                  <c:v>0.99717016271235726</c:v>
                </c:pt>
                <c:pt idx="43">
                  <c:v>0.99822328271676186</c:v>
                </c:pt>
                <c:pt idx="44">
                  <c:v>0.99890244409947437</c:v>
                </c:pt>
                <c:pt idx="45">
                  <c:v>0.99933268026518451</c:v>
                </c:pt>
                <c:pt idx="46">
                  <c:v>0.99960052687472034</c:v>
                </c:pt>
                <c:pt idx="47">
                  <c:v>0.99976447665362667</c:v>
                </c:pt>
                <c:pt idx="48">
                  <c:v>0.99986318979410105</c:v>
                </c:pt>
                <c:pt idx="49">
                  <c:v>0.99992167777960961</c:v>
                </c:pt>
                <c:pt idx="50">
                  <c:v>0.9999557945840899</c:v>
                </c:pt>
              </c:numCache>
            </c:numRef>
          </c:yVal>
          <c:smooth val="0"/>
          <c:extLst>
            <c:ext xmlns:c16="http://schemas.microsoft.com/office/drawing/2014/chart" uri="{C3380CC4-5D6E-409C-BE32-E72D297353CC}">
              <c16:uniqueId val="{00000000-A006-0945-ADBB-A65296608078}"/>
            </c:ext>
          </c:extLst>
        </c:ser>
        <c:ser>
          <c:idx val="1"/>
          <c:order val="1"/>
          <c:tx>
            <c:strRef>
              <c:f>Sheet1!$B$54</c:f>
              <c:strCache>
                <c:ptCount val="1"/>
                <c:pt idx="0">
                  <c:v>90 days</c:v>
                </c:pt>
              </c:strCache>
            </c:strRef>
          </c:tx>
          <c:spPr>
            <a:ln w="30480">
              <a:solidFill>
                <a:srgbClr val="A9520F"/>
              </a:solidFill>
            </a:ln>
          </c:spPr>
          <c:marker>
            <c:symbol val="none"/>
          </c:marker>
          <c:xVal>
            <c:numRef>
              <c:f>Sheet1!$A$55:$A$105</c:f>
              <c:numCache>
                <c:formatCode>General</c:formatCode>
                <c:ptCount val="51"/>
                <c:pt idx="0">
                  <c:v>75</c:v>
                </c:pt>
                <c:pt idx="1">
                  <c:v>76</c:v>
                </c:pt>
                <c:pt idx="2">
                  <c:v>77</c:v>
                </c:pt>
                <c:pt idx="3">
                  <c:v>78</c:v>
                </c:pt>
                <c:pt idx="4">
                  <c:v>79</c:v>
                </c:pt>
                <c:pt idx="5">
                  <c:v>80</c:v>
                </c:pt>
                <c:pt idx="6">
                  <c:v>81</c:v>
                </c:pt>
                <c:pt idx="7">
                  <c:v>82</c:v>
                </c:pt>
                <c:pt idx="8">
                  <c:v>83</c:v>
                </c:pt>
                <c:pt idx="9">
                  <c:v>84</c:v>
                </c:pt>
                <c:pt idx="10">
                  <c:v>85</c:v>
                </c:pt>
                <c:pt idx="11">
                  <c:v>86</c:v>
                </c:pt>
                <c:pt idx="12">
                  <c:v>87</c:v>
                </c:pt>
                <c:pt idx="13">
                  <c:v>88</c:v>
                </c:pt>
                <c:pt idx="14">
                  <c:v>89</c:v>
                </c:pt>
                <c:pt idx="15">
                  <c:v>90</c:v>
                </c:pt>
                <c:pt idx="16">
                  <c:v>91</c:v>
                </c:pt>
                <c:pt idx="17">
                  <c:v>92</c:v>
                </c:pt>
                <c:pt idx="18">
                  <c:v>93</c:v>
                </c:pt>
                <c:pt idx="19">
                  <c:v>94</c:v>
                </c:pt>
                <c:pt idx="20">
                  <c:v>95</c:v>
                </c:pt>
                <c:pt idx="21">
                  <c:v>96</c:v>
                </c:pt>
                <c:pt idx="22">
                  <c:v>97</c:v>
                </c:pt>
                <c:pt idx="23">
                  <c:v>98</c:v>
                </c:pt>
                <c:pt idx="24">
                  <c:v>99</c:v>
                </c:pt>
                <c:pt idx="25">
                  <c:v>100</c:v>
                </c:pt>
                <c:pt idx="26">
                  <c:v>101</c:v>
                </c:pt>
                <c:pt idx="27">
                  <c:v>102</c:v>
                </c:pt>
                <c:pt idx="28">
                  <c:v>103</c:v>
                </c:pt>
                <c:pt idx="29">
                  <c:v>104</c:v>
                </c:pt>
                <c:pt idx="30">
                  <c:v>105</c:v>
                </c:pt>
                <c:pt idx="31">
                  <c:v>106</c:v>
                </c:pt>
                <c:pt idx="32">
                  <c:v>107</c:v>
                </c:pt>
                <c:pt idx="33">
                  <c:v>108</c:v>
                </c:pt>
                <c:pt idx="34">
                  <c:v>109</c:v>
                </c:pt>
                <c:pt idx="35">
                  <c:v>110</c:v>
                </c:pt>
                <c:pt idx="36">
                  <c:v>111</c:v>
                </c:pt>
                <c:pt idx="37">
                  <c:v>112</c:v>
                </c:pt>
                <c:pt idx="38">
                  <c:v>113</c:v>
                </c:pt>
                <c:pt idx="39">
                  <c:v>114</c:v>
                </c:pt>
                <c:pt idx="40">
                  <c:v>115</c:v>
                </c:pt>
                <c:pt idx="41">
                  <c:v>116</c:v>
                </c:pt>
                <c:pt idx="42">
                  <c:v>117</c:v>
                </c:pt>
                <c:pt idx="43">
                  <c:v>118</c:v>
                </c:pt>
                <c:pt idx="44">
                  <c:v>119</c:v>
                </c:pt>
                <c:pt idx="45">
                  <c:v>120</c:v>
                </c:pt>
                <c:pt idx="46">
                  <c:v>121</c:v>
                </c:pt>
                <c:pt idx="47">
                  <c:v>122</c:v>
                </c:pt>
                <c:pt idx="48">
                  <c:v>123</c:v>
                </c:pt>
                <c:pt idx="49">
                  <c:v>124</c:v>
                </c:pt>
                <c:pt idx="50">
                  <c:v>125</c:v>
                </c:pt>
              </c:numCache>
            </c:numRef>
          </c:xVal>
          <c:yVal>
            <c:numRef>
              <c:f>Sheet1!$B$55:$B$105</c:f>
              <c:numCache>
                <c:formatCode>General</c:formatCode>
                <c:ptCount val="51"/>
                <c:pt idx="0">
                  <c:v>2.2061593628963649E-3</c:v>
                </c:pt>
                <c:pt idx="1">
                  <c:v>3.3267743713537024E-3</c:v>
                </c:pt>
                <c:pt idx="2">
                  <c:v>4.9103546380235841E-3</c:v>
                </c:pt>
                <c:pt idx="3">
                  <c:v>7.1002330725096763E-3</c:v>
                </c:pt>
                <c:pt idx="4">
                  <c:v>1.0065959459512885E-2</c:v>
                </c:pt>
                <c:pt idx="5">
                  <c:v>1.400230454567275E-2</c:v>
                </c:pt>
                <c:pt idx="6">
                  <c:v>1.9126337784938774E-2</c:v>
                </c:pt>
                <c:pt idx="7">
                  <c:v>2.5672393282255457E-2</c:v>
                </c:pt>
                <c:pt idx="8">
                  <c:v>3.3884905028217116E-2</c:v>
                </c:pt>
                <c:pt idx="9">
                  <c:v>4.4009286726337249E-2</c:v>
                </c:pt>
                <c:pt idx="10">
                  <c:v>5.6281233164553524E-2</c:v>
                </c:pt>
                <c:pt idx="11">
                  <c:v>7.0915006065415398E-2</c:v>
                </c:pt>
                <c:pt idx="12">
                  <c:v>8.8091414846124982E-2</c:v>
                </c:pt>
                <c:pt idx="13">
                  <c:v>0.10794629246049253</c:v>
                </c:pt>
                <c:pt idx="14">
                  <c:v>0.13056028554973842</c:v>
                </c:pt>
                <c:pt idx="15">
                  <c:v>0.15595072177017433</c:v>
                </c:pt>
                <c:pt idx="16">
                  <c:v>0.18406618952004922</c:v>
                </c:pt>
                <c:pt idx="17">
                  <c:v>0.21478427871223899</c:v>
                </c:pt>
                <c:pt idx="18">
                  <c:v>0.24791270457002679</c:v>
                </c:pt>
                <c:pt idx="19">
                  <c:v>0.28319379242125647</c:v>
                </c:pt>
                <c:pt idx="20">
                  <c:v>0.32031206388859046</c:v>
                </c:pt>
                <c:pt idx="21">
                  <c:v>0.35890445561548801</c:v>
                </c:pt>
                <c:pt idx="22">
                  <c:v>0.39857253836942957</c:v>
                </c:pt>
                <c:pt idx="23">
                  <c:v>0.43889599876552765</c:v>
                </c:pt>
                <c:pt idx="24">
                  <c:v>0.47944660303264647</c:v>
                </c:pt>
                <c:pt idx="25">
                  <c:v>0.51980188073494238</c:v>
                </c:pt>
                <c:pt idx="26">
                  <c:v>0.55955783902712086</c:v>
                </c:pt>
                <c:pt idx="27">
                  <c:v>0.59834013346472237</c:v>
                </c:pt>
                <c:pt idx="28">
                  <c:v>0.63581326565468044</c:v>
                </c:pt>
                <c:pt idx="29">
                  <c:v>0.67168753633829559</c:v>
                </c:pt>
                <c:pt idx="30">
                  <c:v>0.70572364081385319</c:v>
                </c:pt>
                <c:pt idx="31">
                  <c:v>0.7377349398751567</c:v>
                </c:pt>
                <c:pt idx="32">
                  <c:v>0.76758756441732068</c:v>
                </c:pt>
                <c:pt idx="33">
                  <c:v>0.79519860949682442</c:v>
                </c:pt>
                <c:pt idx="34">
                  <c:v>0.82053274108948093</c:v>
                </c:pt>
                <c:pt idx="35">
                  <c:v>0.84359757612021324</c:v>
                </c:pt>
                <c:pt idx="36">
                  <c:v>0.86443820595317933</c:v>
                </c:pt>
                <c:pt idx="37">
                  <c:v>0.88313121954541418</c:v>
                </c:pt>
                <c:pt idx="38">
                  <c:v>0.89977855002172014</c:v>
                </c:pt>
                <c:pt idx="39">
                  <c:v>0.91450142305420157</c:v>
                </c:pt>
                <c:pt idx="40">
                  <c:v>0.92743463251573566</c:v>
                </c:pt>
                <c:pt idx="41">
                  <c:v>0.93872131326559671</c:v>
                </c:pt>
                <c:pt idx="42">
                  <c:v>0.94850832664781759</c:v>
                </c:pt>
                <c:pt idx="43">
                  <c:v>0.95694232442123672</c:v>
                </c:pt>
                <c:pt idx="44">
                  <c:v>0.96416651350560167</c:v>
                </c:pt>
                <c:pt idx="45">
                  <c:v>0.9703181083231992</c:v>
                </c:pt>
                <c:pt idx="46">
                  <c:v>0.97552643005688222</c:v>
                </c:pt>
                <c:pt idx="47">
                  <c:v>0.97991159261976346</c:v>
                </c:pt>
                <c:pt idx="48">
                  <c:v>0.98358370286334273</c:v>
                </c:pt>
                <c:pt idx="49">
                  <c:v>0.98664249656233549</c:v>
                </c:pt>
                <c:pt idx="50">
                  <c:v>0.98917733087095483</c:v>
                </c:pt>
              </c:numCache>
            </c:numRef>
          </c:yVal>
          <c:smooth val="0"/>
          <c:extLst>
            <c:ext xmlns:c16="http://schemas.microsoft.com/office/drawing/2014/chart" uri="{C3380CC4-5D6E-409C-BE32-E72D297353CC}">
              <c16:uniqueId val="{00000001-A006-0945-ADBB-A65296608078}"/>
            </c:ext>
          </c:extLst>
        </c:ser>
        <c:dLbls>
          <c:showLegendKey val="0"/>
          <c:showVal val="0"/>
          <c:showCatName val="0"/>
          <c:showSerName val="0"/>
          <c:showPercent val="0"/>
          <c:showBubbleSize val="0"/>
        </c:dLbls>
        <c:axId val="2128940872"/>
        <c:axId val="2129643912"/>
      </c:scatterChart>
      <c:valAx>
        <c:axId val="2128940872"/>
        <c:scaling>
          <c:orientation val="minMax"/>
          <c:max val="125"/>
          <c:min val="75"/>
        </c:scaling>
        <c:delete val="0"/>
        <c:axPos val="b"/>
        <c:numFmt formatCode="0" sourceLinked="0"/>
        <c:majorTickMark val="none"/>
        <c:minorTickMark val="none"/>
        <c:tickLblPos val="nextTo"/>
        <c:spPr>
          <a:ln>
            <a:solidFill>
              <a:srgbClr val="D5D5CF"/>
            </a:solidFill>
          </a:ln>
        </c:spPr>
        <c:txPr>
          <a:bodyPr/>
          <a:lstStyle/>
          <a:p>
            <a:pPr>
              <a:defRPr sz="1100">
                <a:solidFill>
                  <a:srgbClr val="44505E"/>
                </a:solidFill>
                <a:latin typeface="IBM Plex Sans"/>
              </a:defRPr>
            </a:pPr>
            <a:endParaRPr lang="en-SE"/>
          </a:p>
        </c:txPr>
        <c:crossAx val="2129643912"/>
        <c:crosses val="autoZero"/>
        <c:crossBetween val="midCat"/>
        <c:majorUnit val="10"/>
      </c:valAx>
      <c:valAx>
        <c:axId val="2129643912"/>
        <c:scaling>
          <c:orientation val="minMax"/>
          <c:max val="1"/>
          <c:min val="0"/>
        </c:scaling>
        <c:delete val="0"/>
        <c:axPos val="l"/>
        <c:majorGridlines>
          <c:spPr>
            <a:ln>
              <a:solidFill>
                <a:srgbClr val="D5D5CF"/>
              </a:solidFill>
            </a:ln>
          </c:spPr>
        </c:majorGridlines>
        <c:numFmt formatCode="0.00" sourceLinked="0"/>
        <c:majorTickMark val="none"/>
        <c:minorTickMark val="none"/>
        <c:tickLblPos val="nextTo"/>
        <c:spPr>
          <a:ln>
            <a:solidFill>
              <a:srgbClr val="D5D5CF"/>
            </a:solidFill>
          </a:ln>
        </c:spPr>
        <c:txPr>
          <a:bodyPr/>
          <a:lstStyle/>
          <a:p>
            <a:pPr>
              <a:defRPr sz="1100">
                <a:solidFill>
                  <a:srgbClr val="44505E"/>
                </a:solidFill>
                <a:latin typeface="IBM Plex Sans"/>
              </a:defRPr>
            </a:pPr>
            <a:endParaRPr lang="en-SE"/>
          </a:p>
        </c:txPr>
        <c:crossAx val="2128940872"/>
        <c:crosses val="autoZero"/>
        <c:crossBetween val="midCat"/>
        <c:majorUnit val="0.25"/>
      </c:valAx>
    </c:plotArea>
    <c:legend>
      <c:legendPos val="b"/>
      <c:overlay val="0"/>
      <c:txPr>
        <a:bodyPr/>
        <a:lstStyle/>
        <a:p>
          <a:pPr>
            <a:defRPr sz="1100">
              <a:latin typeface="IBM Plex Sans"/>
            </a:defRPr>
          </a:pPr>
          <a:endParaRPr lang="en-SE"/>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30 days</c:v>
                </c:pt>
              </c:strCache>
            </c:strRef>
          </c:tx>
          <c:spPr>
            <a:ln w="30480">
              <a:solidFill>
                <a:srgbClr val="2B65C8"/>
              </a:solidFill>
            </a:ln>
          </c:spPr>
          <c:marker>
            <c:symbol val="none"/>
          </c:marker>
          <c:xVal>
            <c:numRef>
              <c:f>Sheet1!$A$2:$A$52</c:f>
              <c:numCache>
                <c:formatCode>General</c:formatCode>
                <c:ptCount val="51"/>
                <c:pt idx="0">
                  <c:v>75</c:v>
                </c:pt>
                <c:pt idx="1">
                  <c:v>76</c:v>
                </c:pt>
                <c:pt idx="2">
                  <c:v>77</c:v>
                </c:pt>
                <c:pt idx="3">
                  <c:v>78</c:v>
                </c:pt>
                <c:pt idx="4">
                  <c:v>79</c:v>
                </c:pt>
                <c:pt idx="5">
                  <c:v>80</c:v>
                </c:pt>
                <c:pt idx="6">
                  <c:v>81</c:v>
                </c:pt>
                <c:pt idx="7">
                  <c:v>82</c:v>
                </c:pt>
                <c:pt idx="8">
                  <c:v>83</c:v>
                </c:pt>
                <c:pt idx="9">
                  <c:v>84</c:v>
                </c:pt>
                <c:pt idx="10">
                  <c:v>85</c:v>
                </c:pt>
                <c:pt idx="11">
                  <c:v>86</c:v>
                </c:pt>
                <c:pt idx="12">
                  <c:v>87</c:v>
                </c:pt>
                <c:pt idx="13">
                  <c:v>88</c:v>
                </c:pt>
                <c:pt idx="14">
                  <c:v>89</c:v>
                </c:pt>
                <c:pt idx="15">
                  <c:v>90</c:v>
                </c:pt>
                <c:pt idx="16">
                  <c:v>91</c:v>
                </c:pt>
                <c:pt idx="17">
                  <c:v>92</c:v>
                </c:pt>
                <c:pt idx="18">
                  <c:v>93</c:v>
                </c:pt>
                <c:pt idx="19">
                  <c:v>94</c:v>
                </c:pt>
                <c:pt idx="20">
                  <c:v>95</c:v>
                </c:pt>
                <c:pt idx="21">
                  <c:v>96</c:v>
                </c:pt>
                <c:pt idx="22">
                  <c:v>97</c:v>
                </c:pt>
                <c:pt idx="23">
                  <c:v>98</c:v>
                </c:pt>
                <c:pt idx="24">
                  <c:v>99</c:v>
                </c:pt>
                <c:pt idx="25">
                  <c:v>100</c:v>
                </c:pt>
                <c:pt idx="26">
                  <c:v>101</c:v>
                </c:pt>
                <c:pt idx="27">
                  <c:v>102</c:v>
                </c:pt>
                <c:pt idx="28">
                  <c:v>103</c:v>
                </c:pt>
                <c:pt idx="29">
                  <c:v>104</c:v>
                </c:pt>
                <c:pt idx="30">
                  <c:v>105</c:v>
                </c:pt>
                <c:pt idx="31">
                  <c:v>106</c:v>
                </c:pt>
                <c:pt idx="32">
                  <c:v>107</c:v>
                </c:pt>
                <c:pt idx="33">
                  <c:v>108</c:v>
                </c:pt>
                <c:pt idx="34">
                  <c:v>109</c:v>
                </c:pt>
                <c:pt idx="35">
                  <c:v>110</c:v>
                </c:pt>
                <c:pt idx="36">
                  <c:v>111</c:v>
                </c:pt>
                <c:pt idx="37">
                  <c:v>112</c:v>
                </c:pt>
                <c:pt idx="38">
                  <c:v>113</c:v>
                </c:pt>
                <c:pt idx="39">
                  <c:v>114</c:v>
                </c:pt>
                <c:pt idx="40">
                  <c:v>115</c:v>
                </c:pt>
                <c:pt idx="41">
                  <c:v>116</c:v>
                </c:pt>
                <c:pt idx="42">
                  <c:v>117</c:v>
                </c:pt>
                <c:pt idx="43">
                  <c:v>118</c:v>
                </c:pt>
                <c:pt idx="44">
                  <c:v>119</c:v>
                </c:pt>
                <c:pt idx="45">
                  <c:v>120</c:v>
                </c:pt>
                <c:pt idx="46">
                  <c:v>121</c:v>
                </c:pt>
                <c:pt idx="47">
                  <c:v>122</c:v>
                </c:pt>
                <c:pt idx="48">
                  <c:v>123</c:v>
                </c:pt>
                <c:pt idx="49">
                  <c:v>124</c:v>
                </c:pt>
                <c:pt idx="50">
                  <c:v>125</c:v>
                </c:pt>
              </c:numCache>
            </c:numRef>
          </c:xVal>
          <c:yVal>
            <c:numRef>
              <c:f>Sheet1!$B$2:$B$52</c:f>
              <c:numCache>
                <c:formatCode>General</c:formatCode>
                <c:ptCount val="51"/>
                <c:pt idx="0">
                  <c:v>3.6594836597481111E-7</c:v>
                </c:pt>
                <c:pt idx="1">
                  <c:v>1.1131448882285066E-6</c:v>
                </c:pt>
                <c:pt idx="2">
                  <c:v>3.166982451897829E-6</c:v>
                </c:pt>
                <c:pt idx="3">
                  <c:v>8.4477762649410453E-6</c:v>
                </c:pt>
                <c:pt idx="4">
                  <c:v>2.1175588771883932E-5</c:v>
                </c:pt>
                <c:pt idx="5">
                  <c:v>4.998894704568687E-5</c:v>
                </c:pt>
                <c:pt idx="6">
                  <c:v>1.1136915275850341E-4</c:v>
                </c:pt>
                <c:pt idx="7">
                  <c:v>2.3462569948873128E-4</c:v>
                </c:pt>
                <c:pt idx="8">
                  <c:v>4.6831246800376988E-4</c:v>
                </c:pt>
                <c:pt idx="9">
                  <c:v>8.8723674482528523E-4</c:v>
                </c:pt>
                <c:pt idx="10">
                  <c:v>1.5982602410894498E-3</c:v>
                </c:pt>
                <c:pt idx="11">
                  <c:v>2.7421314155545366E-3</c:v>
                </c:pt>
                <c:pt idx="12">
                  <c:v>4.4880759164180996E-3</c:v>
                </c:pt>
                <c:pt idx="13">
                  <c:v>7.018316701389569E-3</c:v>
                </c:pt>
                <c:pt idx="14">
                  <c:v>1.0501443624884857E-2</c:v>
                </c:pt>
                <c:pt idx="15">
                  <c:v>1.5056530049734188E-2</c:v>
                </c:pt>
                <c:pt idx="16">
                  <c:v>2.0713458579519603E-2</c:v>
                </c:pt>
                <c:pt idx="17">
                  <c:v>2.7377941830411083E-2</c:v>
                </c:pt>
                <c:pt idx="18">
                  <c:v>3.4810944462321927E-2</c:v>
                </c:pt>
                <c:pt idx="19">
                  <c:v>4.2630739977341424E-2</c:v>
                </c:pt>
                <c:pt idx="20">
                  <c:v>5.0341605343806058E-2</c:v>
                </c:pt>
                <c:pt idx="21">
                  <c:v>5.7387095759084093E-2</c:v>
                </c:pt>
                <c:pt idx="22">
                  <c:v>6.3219637458262049E-2</c:v>
                </c:pt>
                <c:pt idx="23">
                  <c:v>6.7373707245733674E-2</c:v>
                </c:pt>
                <c:pt idx="24">
                  <c:v>6.9528530526410143E-2</c:v>
                </c:pt>
                <c:pt idx="25">
                  <c:v>6.9548440769774386E-2</c:v>
                </c:pt>
                <c:pt idx="26">
                  <c:v>6.749411247362927E-2</c:v>
                </c:pt>
                <c:pt idx="27">
                  <c:v>6.3604294038415304E-2</c:v>
                </c:pt>
                <c:pt idx="28">
                  <c:v>5.8253642437785372E-2</c:v>
                </c:pt>
                <c:pt idx="29">
                  <c:v>5.189632929286906E-2</c:v>
                </c:pt>
                <c:pt idx="30">
                  <c:v>4.5006498996671349E-2</c:v>
                </c:pt>
                <c:pt idx="31">
                  <c:v>3.802549359590842E-2</c:v>
                </c:pt>
                <c:pt idx="32">
                  <c:v>3.1322752792901337E-2</c:v>
                </c:pt>
                <c:pt idx="33">
                  <c:v>2.5173505501886493E-2</c:v>
                </c:pt>
                <c:pt idx="34">
                  <c:v>1.9752806487856281E-2</c:v>
                </c:pt>
                <c:pt idx="35">
                  <c:v>1.514285207131099E-2</c:v>
                </c:pt>
                <c:pt idx="36">
                  <c:v>1.1349139732085076E-2</c:v>
                </c:pt>
                <c:pt idx="37">
                  <c:v>8.3208529691102193E-3</c:v>
                </c:pt>
                <c:pt idx="38">
                  <c:v>5.9715440327039312E-3</c:v>
                </c:pt>
                <c:pt idx="39">
                  <c:v>4.1973474310069998E-3</c:v>
                </c:pt>
                <c:pt idx="40">
                  <c:v>2.891212374184382E-3</c:v>
                </c:pt>
                <c:pt idx="41">
                  <c:v>1.9527255208681418E-3</c:v>
                </c:pt>
                <c:pt idx="42">
                  <c:v>1.2938687604207055E-3</c:v>
                </c:pt>
                <c:pt idx="43">
                  <c:v>8.4149472165003512E-4</c:v>
                </c:pt>
                <c:pt idx="44">
                  <c:v>5.3745482313752042E-4</c:v>
                </c:pt>
                <c:pt idx="45">
                  <c:v>3.3726586502943166E-4</c:v>
                </c:pt>
                <c:pt idx="46">
                  <c:v>2.0803987355847434E-4</c:v>
                </c:pt>
                <c:pt idx="47">
                  <c:v>1.2620081648728022E-4</c:v>
                </c:pt>
                <c:pt idx="48">
                  <c:v>7.5320067788151236E-5</c:v>
                </c:pt>
                <c:pt idx="49">
                  <c:v>4.4246398396810309E-5</c:v>
                </c:pt>
                <c:pt idx="50">
                  <c:v>2.559434088739159E-5</c:v>
                </c:pt>
              </c:numCache>
            </c:numRef>
          </c:yVal>
          <c:smooth val="0"/>
          <c:extLst>
            <c:ext xmlns:c16="http://schemas.microsoft.com/office/drawing/2014/chart" uri="{C3380CC4-5D6E-409C-BE32-E72D297353CC}">
              <c16:uniqueId val="{00000000-2143-7D4C-9E90-AF3118A4D7F1}"/>
            </c:ext>
          </c:extLst>
        </c:ser>
        <c:ser>
          <c:idx val="1"/>
          <c:order val="1"/>
          <c:tx>
            <c:strRef>
              <c:f>Sheet1!$B$54</c:f>
              <c:strCache>
                <c:ptCount val="1"/>
                <c:pt idx="0">
                  <c:v>90 days</c:v>
                </c:pt>
              </c:strCache>
            </c:strRef>
          </c:tx>
          <c:spPr>
            <a:ln w="30480">
              <a:solidFill>
                <a:srgbClr val="A9520F"/>
              </a:solidFill>
            </a:ln>
          </c:spPr>
          <c:marker>
            <c:symbol val="none"/>
          </c:marker>
          <c:xVal>
            <c:numRef>
              <c:f>Sheet1!$A$55:$A$105</c:f>
              <c:numCache>
                <c:formatCode>General</c:formatCode>
                <c:ptCount val="51"/>
                <c:pt idx="0">
                  <c:v>75</c:v>
                </c:pt>
                <c:pt idx="1">
                  <c:v>76</c:v>
                </c:pt>
                <c:pt idx="2">
                  <c:v>77</c:v>
                </c:pt>
                <c:pt idx="3">
                  <c:v>78</c:v>
                </c:pt>
                <c:pt idx="4">
                  <c:v>79</c:v>
                </c:pt>
                <c:pt idx="5">
                  <c:v>80</c:v>
                </c:pt>
                <c:pt idx="6">
                  <c:v>81</c:v>
                </c:pt>
                <c:pt idx="7">
                  <c:v>82</c:v>
                </c:pt>
                <c:pt idx="8">
                  <c:v>83</c:v>
                </c:pt>
                <c:pt idx="9">
                  <c:v>84</c:v>
                </c:pt>
                <c:pt idx="10">
                  <c:v>85</c:v>
                </c:pt>
                <c:pt idx="11">
                  <c:v>86</c:v>
                </c:pt>
                <c:pt idx="12">
                  <c:v>87</c:v>
                </c:pt>
                <c:pt idx="13">
                  <c:v>88</c:v>
                </c:pt>
                <c:pt idx="14">
                  <c:v>89</c:v>
                </c:pt>
                <c:pt idx="15">
                  <c:v>90</c:v>
                </c:pt>
                <c:pt idx="16">
                  <c:v>91</c:v>
                </c:pt>
                <c:pt idx="17">
                  <c:v>92</c:v>
                </c:pt>
                <c:pt idx="18">
                  <c:v>93</c:v>
                </c:pt>
                <c:pt idx="19">
                  <c:v>94</c:v>
                </c:pt>
                <c:pt idx="20">
                  <c:v>95</c:v>
                </c:pt>
                <c:pt idx="21">
                  <c:v>96</c:v>
                </c:pt>
                <c:pt idx="22">
                  <c:v>97</c:v>
                </c:pt>
                <c:pt idx="23">
                  <c:v>98</c:v>
                </c:pt>
                <c:pt idx="24">
                  <c:v>99</c:v>
                </c:pt>
                <c:pt idx="25">
                  <c:v>100</c:v>
                </c:pt>
                <c:pt idx="26">
                  <c:v>101</c:v>
                </c:pt>
                <c:pt idx="27">
                  <c:v>102</c:v>
                </c:pt>
                <c:pt idx="28">
                  <c:v>103</c:v>
                </c:pt>
                <c:pt idx="29">
                  <c:v>104</c:v>
                </c:pt>
                <c:pt idx="30">
                  <c:v>105</c:v>
                </c:pt>
                <c:pt idx="31">
                  <c:v>106</c:v>
                </c:pt>
                <c:pt idx="32">
                  <c:v>107</c:v>
                </c:pt>
                <c:pt idx="33">
                  <c:v>108</c:v>
                </c:pt>
                <c:pt idx="34">
                  <c:v>109</c:v>
                </c:pt>
                <c:pt idx="35">
                  <c:v>110</c:v>
                </c:pt>
                <c:pt idx="36">
                  <c:v>111</c:v>
                </c:pt>
                <c:pt idx="37">
                  <c:v>112</c:v>
                </c:pt>
                <c:pt idx="38">
                  <c:v>113</c:v>
                </c:pt>
                <c:pt idx="39">
                  <c:v>114</c:v>
                </c:pt>
                <c:pt idx="40">
                  <c:v>115</c:v>
                </c:pt>
                <c:pt idx="41">
                  <c:v>116</c:v>
                </c:pt>
                <c:pt idx="42">
                  <c:v>117</c:v>
                </c:pt>
                <c:pt idx="43">
                  <c:v>118</c:v>
                </c:pt>
                <c:pt idx="44">
                  <c:v>119</c:v>
                </c:pt>
                <c:pt idx="45">
                  <c:v>120</c:v>
                </c:pt>
                <c:pt idx="46">
                  <c:v>121</c:v>
                </c:pt>
                <c:pt idx="47">
                  <c:v>122</c:v>
                </c:pt>
                <c:pt idx="48">
                  <c:v>123</c:v>
                </c:pt>
                <c:pt idx="49">
                  <c:v>124</c:v>
                </c:pt>
                <c:pt idx="50">
                  <c:v>125</c:v>
                </c:pt>
              </c:numCache>
            </c:numRef>
          </c:xVal>
          <c:yVal>
            <c:numRef>
              <c:f>Sheet1!$B$55:$B$105</c:f>
              <c:numCache>
                <c:formatCode>General</c:formatCode>
                <c:ptCount val="51"/>
                <c:pt idx="0">
                  <c:v>9.3043496872820904E-4</c:v>
                </c:pt>
                <c:pt idx="1">
                  <c:v>1.3303859712230405E-3</c:v>
                </c:pt>
                <c:pt idx="2">
                  <c:v>1.8606520994612281E-3</c:v>
                </c:pt>
                <c:pt idx="3">
                  <c:v>2.5473789079109178E-3</c:v>
                </c:pt>
                <c:pt idx="4">
                  <c:v>3.4165839025221008E-3</c:v>
                </c:pt>
                <c:pt idx="5">
                  <c:v>4.4923683566599646E-3</c:v>
                </c:pt>
                <c:pt idx="6">
                  <c:v>5.79487363299982E-3</c:v>
                </c:pt>
                <c:pt idx="7">
                  <c:v>7.3381292666855882E-3</c:v>
                </c:pt>
                <c:pt idx="8">
                  <c:v>9.1279761754867669E-3</c:v>
                </c:pt>
                <c:pt idx="9">
                  <c:v>1.1160266636132543E-2</c:v>
                </c:pt>
                <c:pt idx="10">
                  <c:v>1.3419538781888321E-2</c:v>
                </c:pt>
                <c:pt idx="11">
                  <c:v>1.5878335973126788E-2</c:v>
                </c:pt>
                <c:pt idx="12">
                  <c:v>1.8497292423331507E-2</c:v>
                </c:pt>
                <c:pt idx="13">
                  <c:v>2.1226040993110037E-2</c:v>
                </c:pt>
                <c:pt idx="14">
                  <c:v>2.4004924550391271E-2</c:v>
                </c:pt>
                <c:pt idx="15">
                  <c:v>2.6767417479443105E-2</c:v>
                </c:pt>
                <c:pt idx="16">
                  <c:v>2.9443097554059359E-2</c:v>
                </c:pt>
                <c:pt idx="17">
                  <c:v>3.1960957991308506E-2</c:v>
                </c:pt>
                <c:pt idx="18">
                  <c:v>3.4252820374059426E-2</c:v>
                </c:pt>
                <c:pt idx="19">
                  <c:v>3.625660375821535E-2</c:v>
                </c:pt>
                <c:pt idx="20">
                  <c:v>3.7919223183350434E-2</c:v>
                </c:pt>
                <c:pt idx="21">
                  <c:v>3.9198928819698789E-2</c:v>
                </c:pt>
                <c:pt idx="22">
                  <c:v>4.0066949891632175E-2</c:v>
                </c:pt>
                <c:pt idx="23">
                  <c:v>4.0508368884708365E-2</c:v>
                </c:pt>
                <c:pt idx="24">
                  <c:v>4.0522214627858141E-2</c:v>
                </c:pt>
                <c:pt idx="25">
                  <c:v>4.0120821427035089E-2</c:v>
                </c:pt>
                <c:pt idx="26">
                  <c:v>3.932855047633909E-2</c:v>
                </c:pt>
                <c:pt idx="27">
                  <c:v>3.8180005851023525E-2</c:v>
                </c:pt>
                <c:pt idx="28">
                  <c:v>3.6717898816410049E-2</c:v>
                </c:pt>
                <c:pt idx="29">
                  <c:v>3.4990720972527645E-2</c:v>
                </c:pt>
                <c:pt idx="30">
                  <c:v>3.305038032199574E-2</c:v>
                </c:pt>
                <c:pt idx="31">
                  <c:v>3.0949937163884056E-2</c:v>
                </c:pt>
                <c:pt idx="32">
                  <c:v>2.8741551853521591E-2</c:v>
                </c:pt>
                <c:pt idx="33">
                  <c:v>2.6474727191797953E-2</c:v>
                </c:pt>
                <c:pt idx="34">
                  <c:v>2.419489761162192E-2</c:v>
                </c:pt>
                <c:pt idx="35">
                  <c:v>2.194238806727861E-2</c:v>
                </c:pt>
                <c:pt idx="36">
                  <c:v>1.9751739647679192E-2</c:v>
                </c:pt>
                <c:pt idx="37">
                  <c:v>1.7651377789106776E-2</c:v>
                </c:pt>
                <c:pt idx="38">
                  <c:v>1.5663583251790354E-2</c:v>
                </c:pt>
                <c:pt idx="39">
                  <c:v>1.3804715852260022E-2</c:v>
                </c:pt>
                <c:pt idx="40">
                  <c:v>1.2085635942864955E-2</c:v>
                </c:pt>
                <c:pt idx="41">
                  <c:v>1.0512268098866726E-2</c:v>
                </c:pt>
                <c:pt idx="42">
                  <c:v>9.0862545115240854E-3</c:v>
                </c:pt>
                <c:pt idx="43">
                  <c:v>7.8056512162085773E-3</c:v>
                </c:pt>
                <c:pt idx="44">
                  <c:v>6.6656275556894783E-3</c:v>
                </c:pt>
                <c:pt idx="45">
                  <c:v>5.6591373354277401E-3</c:v>
                </c:pt>
                <c:pt idx="46">
                  <c:v>4.7775382584637977E-3</c:v>
                </c:pt>
                <c:pt idx="47">
                  <c:v>4.0111438857413813E-3</c:v>
                </c:pt>
                <c:pt idx="48">
                  <c:v>3.3496991737667799E-3</c:v>
                </c:pt>
                <c:pt idx="49">
                  <c:v>2.7827763695609732E-3</c:v>
                </c:pt>
                <c:pt idx="50">
                  <c:v>2.3000925986099E-3</c:v>
                </c:pt>
              </c:numCache>
            </c:numRef>
          </c:yVal>
          <c:smooth val="0"/>
          <c:extLst>
            <c:ext xmlns:c16="http://schemas.microsoft.com/office/drawing/2014/chart" uri="{C3380CC4-5D6E-409C-BE32-E72D297353CC}">
              <c16:uniqueId val="{00000001-2143-7D4C-9E90-AF3118A4D7F1}"/>
            </c:ext>
          </c:extLst>
        </c:ser>
        <c:dLbls>
          <c:showLegendKey val="0"/>
          <c:showVal val="0"/>
          <c:showCatName val="0"/>
          <c:showSerName val="0"/>
          <c:showPercent val="0"/>
          <c:showBubbleSize val="0"/>
        </c:dLbls>
        <c:axId val="2128940872"/>
        <c:axId val="2129643912"/>
      </c:scatterChart>
      <c:valAx>
        <c:axId val="2128940872"/>
        <c:scaling>
          <c:orientation val="minMax"/>
          <c:max val="125"/>
          <c:min val="75"/>
        </c:scaling>
        <c:delete val="0"/>
        <c:axPos val="b"/>
        <c:numFmt formatCode="0" sourceLinked="0"/>
        <c:majorTickMark val="none"/>
        <c:minorTickMark val="none"/>
        <c:tickLblPos val="nextTo"/>
        <c:spPr>
          <a:ln>
            <a:solidFill>
              <a:srgbClr val="D5D5CF"/>
            </a:solidFill>
          </a:ln>
        </c:spPr>
        <c:txPr>
          <a:bodyPr/>
          <a:lstStyle/>
          <a:p>
            <a:pPr>
              <a:defRPr sz="1100">
                <a:solidFill>
                  <a:srgbClr val="44505E"/>
                </a:solidFill>
                <a:latin typeface="IBM Plex Sans"/>
              </a:defRPr>
            </a:pPr>
            <a:endParaRPr lang="en-SE"/>
          </a:p>
        </c:txPr>
        <c:crossAx val="2129643912"/>
        <c:crosses val="autoZero"/>
        <c:crossBetween val="midCat"/>
        <c:majorUnit val="10"/>
      </c:valAx>
      <c:valAx>
        <c:axId val="2129643912"/>
        <c:scaling>
          <c:orientation val="minMax"/>
          <c:max val="0.08"/>
          <c:min val="0"/>
        </c:scaling>
        <c:delete val="0"/>
        <c:axPos val="l"/>
        <c:majorGridlines>
          <c:spPr>
            <a:ln>
              <a:solidFill>
                <a:srgbClr val="D5D5CF"/>
              </a:solidFill>
            </a:ln>
          </c:spPr>
        </c:majorGridlines>
        <c:numFmt formatCode="0.00" sourceLinked="0"/>
        <c:majorTickMark val="none"/>
        <c:minorTickMark val="none"/>
        <c:tickLblPos val="nextTo"/>
        <c:spPr>
          <a:ln>
            <a:solidFill>
              <a:srgbClr val="D5D5CF"/>
            </a:solidFill>
          </a:ln>
        </c:spPr>
        <c:txPr>
          <a:bodyPr/>
          <a:lstStyle/>
          <a:p>
            <a:pPr>
              <a:defRPr sz="1100">
                <a:solidFill>
                  <a:srgbClr val="44505E"/>
                </a:solidFill>
                <a:latin typeface="IBM Plex Sans"/>
              </a:defRPr>
            </a:pPr>
            <a:endParaRPr lang="en-SE"/>
          </a:p>
        </c:txPr>
        <c:crossAx val="2128940872"/>
        <c:crosses val="autoZero"/>
        <c:crossBetween val="midCat"/>
        <c:majorUnit val="0.02"/>
      </c:valAx>
    </c:plotArea>
    <c:legend>
      <c:legendPos val="b"/>
      <c:overlay val="0"/>
      <c:txPr>
        <a:bodyPr/>
        <a:lstStyle/>
        <a:p>
          <a:pPr>
            <a:defRPr sz="1100">
              <a:latin typeface="IBM Plex Sans"/>
            </a:defRPr>
          </a:pPr>
          <a:endParaRPr lang="en-SE"/>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Required long shares</c:v>
                </c:pt>
              </c:strCache>
            </c:strRef>
          </c:tx>
          <c:spPr>
            <a:ln w="30480">
              <a:solidFill>
                <a:srgbClr val="2B65C8"/>
              </a:solidFill>
            </a:ln>
          </c:spPr>
          <c:marker>
            <c:symbol val="none"/>
          </c:marker>
          <c:xVal>
            <c:numRef>
              <c:f>Sheet1!$A$2:$A$22</c:f>
              <c:numCache>
                <c:formatCode>General</c:formatCode>
                <c:ptCount val="21"/>
                <c:pt idx="0">
                  <c:v>90</c:v>
                </c:pt>
                <c:pt idx="1">
                  <c:v>91</c:v>
                </c:pt>
                <c:pt idx="2">
                  <c:v>92</c:v>
                </c:pt>
                <c:pt idx="3">
                  <c:v>93</c:v>
                </c:pt>
                <c:pt idx="4">
                  <c:v>94</c:v>
                </c:pt>
                <c:pt idx="5">
                  <c:v>95</c:v>
                </c:pt>
                <c:pt idx="6">
                  <c:v>96</c:v>
                </c:pt>
                <c:pt idx="7">
                  <c:v>97</c:v>
                </c:pt>
                <c:pt idx="8">
                  <c:v>98</c:v>
                </c:pt>
                <c:pt idx="9">
                  <c:v>99</c:v>
                </c:pt>
                <c:pt idx="10">
                  <c:v>100</c:v>
                </c:pt>
                <c:pt idx="11">
                  <c:v>101</c:v>
                </c:pt>
                <c:pt idx="12">
                  <c:v>102</c:v>
                </c:pt>
                <c:pt idx="13">
                  <c:v>103</c:v>
                </c:pt>
                <c:pt idx="14">
                  <c:v>104</c:v>
                </c:pt>
                <c:pt idx="15">
                  <c:v>105</c:v>
                </c:pt>
                <c:pt idx="16">
                  <c:v>106</c:v>
                </c:pt>
                <c:pt idx="17">
                  <c:v>107</c:v>
                </c:pt>
                <c:pt idx="18">
                  <c:v>108</c:v>
                </c:pt>
                <c:pt idx="19">
                  <c:v>109</c:v>
                </c:pt>
                <c:pt idx="20">
                  <c:v>110</c:v>
                </c:pt>
              </c:numCache>
            </c:numRef>
          </c:xVal>
          <c:yVal>
            <c:numRef>
              <c:f>Sheet1!$B$2:$B$22</c:f>
              <c:numCache>
                <c:formatCode>General</c:formatCode>
                <c:ptCount val="21"/>
                <c:pt idx="0">
                  <c:v>352.3655255991809</c:v>
                </c:pt>
                <c:pt idx="1">
                  <c:v>530.31540594962121</c:v>
                </c:pt>
                <c:pt idx="2">
                  <c:v>770.00960435687216</c:v>
                </c:pt>
                <c:pt idx="3">
                  <c:v>1080.4521936787341</c:v>
                </c:pt>
                <c:pt idx="4">
                  <c:v>1467.5308079215322</c:v>
                </c:pt>
                <c:pt idx="5">
                  <c:v>1932.7108650320752</c:v>
                </c:pt>
                <c:pt idx="6">
                  <c:v>2472.1440629324338</c:v>
                </c:pt>
                <c:pt idx="7">
                  <c:v>3076.4003577048961</c:v>
                </c:pt>
                <c:pt idx="8">
                  <c:v>3730.9255162114905</c:v>
                </c:pt>
                <c:pt idx="9">
                  <c:v>4417.1893810849824</c:v>
                </c:pt>
                <c:pt idx="10">
                  <c:v>5114.3575314022482</c:v>
                </c:pt>
                <c:pt idx="11">
                  <c:v>5801.2239573922352</c:v>
                </c:pt>
                <c:pt idx="12">
                  <c:v>6458.1061884287492</c:v>
                </c:pt>
                <c:pt idx="13">
                  <c:v>7068.4315203232818</c:v>
                </c:pt>
                <c:pt idx="14">
                  <c:v>7619.8213755072675</c:v>
                </c:pt>
                <c:pt idx="15">
                  <c:v>8104.5868826678143</c:v>
                </c:pt>
                <c:pt idx="16">
                  <c:v>8519.6556571695401</c:v>
                </c:pt>
                <c:pt idx="17">
                  <c:v>8866.034992733119</c:v>
                </c:pt>
                <c:pt idx="18">
                  <c:v>9147.9670002560069</c:v>
                </c:pt>
                <c:pt idx="19">
                  <c:v>9371.9440318674697</c:v>
                </c:pt>
                <c:pt idx="20">
                  <c:v>9545.734188434586</c:v>
                </c:pt>
              </c:numCache>
            </c:numRef>
          </c:yVal>
          <c:smooth val="0"/>
          <c:extLst>
            <c:ext xmlns:c16="http://schemas.microsoft.com/office/drawing/2014/chart" uri="{C3380CC4-5D6E-409C-BE32-E72D297353CC}">
              <c16:uniqueId val="{00000000-C48F-9246-8DCD-D2A21FEC9146}"/>
            </c:ext>
          </c:extLst>
        </c:ser>
        <c:dLbls>
          <c:showLegendKey val="0"/>
          <c:showVal val="0"/>
          <c:showCatName val="0"/>
          <c:showSerName val="0"/>
          <c:showPercent val="0"/>
          <c:showBubbleSize val="0"/>
        </c:dLbls>
        <c:axId val="2128940872"/>
        <c:axId val="2129643912"/>
      </c:scatterChart>
      <c:valAx>
        <c:axId val="2128940872"/>
        <c:scaling>
          <c:orientation val="minMax"/>
          <c:max val="110"/>
          <c:min val="90"/>
        </c:scaling>
        <c:delete val="0"/>
        <c:axPos val="b"/>
        <c:numFmt formatCode="0" sourceLinked="0"/>
        <c:majorTickMark val="none"/>
        <c:minorTickMark val="none"/>
        <c:tickLblPos val="nextTo"/>
        <c:spPr>
          <a:ln>
            <a:solidFill>
              <a:srgbClr val="D5D5CF"/>
            </a:solidFill>
          </a:ln>
        </c:spPr>
        <c:txPr>
          <a:bodyPr/>
          <a:lstStyle/>
          <a:p>
            <a:pPr>
              <a:defRPr sz="1100">
                <a:solidFill>
                  <a:srgbClr val="44505E"/>
                </a:solidFill>
                <a:latin typeface="IBM Plex Sans"/>
              </a:defRPr>
            </a:pPr>
            <a:endParaRPr lang="en-SE"/>
          </a:p>
        </c:txPr>
        <c:crossAx val="2129643912"/>
        <c:crosses val="autoZero"/>
        <c:crossBetween val="midCat"/>
        <c:majorUnit val="5"/>
      </c:valAx>
      <c:valAx>
        <c:axId val="2129643912"/>
        <c:scaling>
          <c:orientation val="minMax"/>
          <c:max val="10000"/>
          <c:min val="0"/>
        </c:scaling>
        <c:delete val="0"/>
        <c:axPos val="l"/>
        <c:majorGridlines>
          <c:spPr>
            <a:ln>
              <a:solidFill>
                <a:srgbClr val="D5D5CF"/>
              </a:solidFill>
            </a:ln>
          </c:spPr>
        </c:majorGridlines>
        <c:numFmt formatCode="#,##0" sourceLinked="0"/>
        <c:majorTickMark val="none"/>
        <c:minorTickMark val="none"/>
        <c:tickLblPos val="nextTo"/>
        <c:spPr>
          <a:ln>
            <a:solidFill>
              <a:srgbClr val="D5D5CF"/>
            </a:solidFill>
          </a:ln>
        </c:spPr>
        <c:txPr>
          <a:bodyPr/>
          <a:lstStyle/>
          <a:p>
            <a:pPr>
              <a:defRPr sz="1100">
                <a:solidFill>
                  <a:srgbClr val="44505E"/>
                </a:solidFill>
                <a:latin typeface="IBM Plex Sans"/>
              </a:defRPr>
            </a:pPr>
            <a:endParaRPr lang="en-SE"/>
          </a:p>
        </c:txPr>
        <c:crossAx val="2128940872"/>
        <c:crosses val="autoZero"/>
        <c:crossBetween val="midCat"/>
        <c:majorUnit val="25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Delta hedge only</c:v>
                </c:pt>
              </c:strCache>
            </c:strRef>
          </c:tx>
          <c:spPr>
            <a:ln w="30480">
              <a:solidFill>
                <a:srgbClr val="2B65C8"/>
              </a:solidFill>
            </a:ln>
          </c:spPr>
          <c:marker>
            <c:symbol val="none"/>
          </c:marker>
          <c:xVal>
            <c:numRef>
              <c:f>Sheet1!$A$2:$A$82</c:f>
              <c:numCache>
                <c:formatCode>General</c:formatCode>
                <c:ptCount val="81"/>
                <c:pt idx="0">
                  <c:v>90</c:v>
                </c:pt>
                <c:pt idx="1">
                  <c:v>90.25</c:v>
                </c:pt>
                <c:pt idx="2">
                  <c:v>90.5</c:v>
                </c:pt>
                <c:pt idx="3">
                  <c:v>90.75</c:v>
                </c:pt>
                <c:pt idx="4">
                  <c:v>91</c:v>
                </c:pt>
                <c:pt idx="5">
                  <c:v>91.25</c:v>
                </c:pt>
                <c:pt idx="6">
                  <c:v>91.5</c:v>
                </c:pt>
                <c:pt idx="7">
                  <c:v>91.75</c:v>
                </c:pt>
                <c:pt idx="8">
                  <c:v>92</c:v>
                </c:pt>
                <c:pt idx="9">
                  <c:v>92.25</c:v>
                </c:pt>
                <c:pt idx="10">
                  <c:v>92.5</c:v>
                </c:pt>
                <c:pt idx="11">
                  <c:v>92.75</c:v>
                </c:pt>
                <c:pt idx="12">
                  <c:v>93</c:v>
                </c:pt>
                <c:pt idx="13">
                  <c:v>93.25</c:v>
                </c:pt>
                <c:pt idx="14">
                  <c:v>93.5</c:v>
                </c:pt>
                <c:pt idx="15">
                  <c:v>93.75</c:v>
                </c:pt>
                <c:pt idx="16">
                  <c:v>94</c:v>
                </c:pt>
                <c:pt idx="17">
                  <c:v>94.25</c:v>
                </c:pt>
                <c:pt idx="18">
                  <c:v>94.5</c:v>
                </c:pt>
                <c:pt idx="19">
                  <c:v>94.75</c:v>
                </c:pt>
                <c:pt idx="20">
                  <c:v>95</c:v>
                </c:pt>
                <c:pt idx="21">
                  <c:v>95.25</c:v>
                </c:pt>
                <c:pt idx="22">
                  <c:v>95.5</c:v>
                </c:pt>
                <c:pt idx="23">
                  <c:v>95.75</c:v>
                </c:pt>
                <c:pt idx="24">
                  <c:v>96</c:v>
                </c:pt>
                <c:pt idx="25">
                  <c:v>96.25</c:v>
                </c:pt>
                <c:pt idx="26">
                  <c:v>96.5</c:v>
                </c:pt>
                <c:pt idx="27">
                  <c:v>96.75</c:v>
                </c:pt>
                <c:pt idx="28">
                  <c:v>97</c:v>
                </c:pt>
                <c:pt idx="29">
                  <c:v>97.25</c:v>
                </c:pt>
                <c:pt idx="30">
                  <c:v>97.5</c:v>
                </c:pt>
                <c:pt idx="31">
                  <c:v>97.75</c:v>
                </c:pt>
                <c:pt idx="32">
                  <c:v>98</c:v>
                </c:pt>
                <c:pt idx="33">
                  <c:v>98.25</c:v>
                </c:pt>
                <c:pt idx="34">
                  <c:v>98.5</c:v>
                </c:pt>
                <c:pt idx="35">
                  <c:v>98.75</c:v>
                </c:pt>
                <c:pt idx="36">
                  <c:v>99</c:v>
                </c:pt>
                <c:pt idx="37">
                  <c:v>99.25</c:v>
                </c:pt>
                <c:pt idx="38">
                  <c:v>99.5</c:v>
                </c:pt>
                <c:pt idx="39">
                  <c:v>99.75</c:v>
                </c:pt>
                <c:pt idx="40">
                  <c:v>100</c:v>
                </c:pt>
                <c:pt idx="41">
                  <c:v>100.25</c:v>
                </c:pt>
                <c:pt idx="42">
                  <c:v>100.5</c:v>
                </c:pt>
                <c:pt idx="43">
                  <c:v>100.75</c:v>
                </c:pt>
                <c:pt idx="44">
                  <c:v>101</c:v>
                </c:pt>
                <c:pt idx="45">
                  <c:v>101.25</c:v>
                </c:pt>
                <c:pt idx="46">
                  <c:v>101.5</c:v>
                </c:pt>
                <c:pt idx="47">
                  <c:v>101.75</c:v>
                </c:pt>
                <c:pt idx="48">
                  <c:v>102</c:v>
                </c:pt>
                <c:pt idx="49">
                  <c:v>102.25</c:v>
                </c:pt>
                <c:pt idx="50">
                  <c:v>102.5</c:v>
                </c:pt>
                <c:pt idx="51">
                  <c:v>102.75</c:v>
                </c:pt>
                <c:pt idx="52">
                  <c:v>103</c:v>
                </c:pt>
                <c:pt idx="53">
                  <c:v>103.25</c:v>
                </c:pt>
                <c:pt idx="54">
                  <c:v>103.5</c:v>
                </c:pt>
                <c:pt idx="55">
                  <c:v>103.75</c:v>
                </c:pt>
                <c:pt idx="56">
                  <c:v>104</c:v>
                </c:pt>
                <c:pt idx="57">
                  <c:v>104.25</c:v>
                </c:pt>
                <c:pt idx="58">
                  <c:v>104.5</c:v>
                </c:pt>
                <c:pt idx="59">
                  <c:v>104.75</c:v>
                </c:pt>
                <c:pt idx="60">
                  <c:v>105</c:v>
                </c:pt>
                <c:pt idx="61">
                  <c:v>105.25</c:v>
                </c:pt>
                <c:pt idx="62">
                  <c:v>105.5</c:v>
                </c:pt>
                <c:pt idx="63">
                  <c:v>105.75</c:v>
                </c:pt>
                <c:pt idx="64">
                  <c:v>106</c:v>
                </c:pt>
                <c:pt idx="65">
                  <c:v>106.25</c:v>
                </c:pt>
                <c:pt idx="66">
                  <c:v>106.5</c:v>
                </c:pt>
                <c:pt idx="67">
                  <c:v>106.75</c:v>
                </c:pt>
                <c:pt idx="68">
                  <c:v>107</c:v>
                </c:pt>
                <c:pt idx="69">
                  <c:v>107.25</c:v>
                </c:pt>
                <c:pt idx="70">
                  <c:v>107.5</c:v>
                </c:pt>
                <c:pt idx="71">
                  <c:v>107.75</c:v>
                </c:pt>
                <c:pt idx="72">
                  <c:v>108</c:v>
                </c:pt>
                <c:pt idx="73">
                  <c:v>108.25</c:v>
                </c:pt>
                <c:pt idx="74">
                  <c:v>108.5</c:v>
                </c:pt>
                <c:pt idx="75">
                  <c:v>108.75</c:v>
                </c:pt>
                <c:pt idx="76">
                  <c:v>109</c:v>
                </c:pt>
                <c:pt idx="77">
                  <c:v>109.25</c:v>
                </c:pt>
                <c:pt idx="78">
                  <c:v>109.5</c:v>
                </c:pt>
                <c:pt idx="79">
                  <c:v>109.75</c:v>
                </c:pt>
                <c:pt idx="80">
                  <c:v>110</c:v>
                </c:pt>
              </c:numCache>
            </c:numRef>
          </c:xVal>
          <c:yVal>
            <c:numRef>
              <c:f>Sheet1!$B$2:$B$82</c:f>
              <c:numCache>
                <c:formatCode>General</c:formatCode>
                <c:ptCount val="81"/>
                <c:pt idx="0">
                  <c:v>-28977.99008679387</c:v>
                </c:pt>
                <c:pt idx="1">
                  <c:v>-27792.332141818253</c:v>
                </c:pt>
                <c:pt idx="2">
                  <c:v>-26616.908284174122</c:v>
                </c:pt>
                <c:pt idx="3">
                  <c:v>-25452.581647873238</c:v>
                </c:pt>
                <c:pt idx="4">
                  <c:v>-24300.25763703381</c:v>
                </c:pt>
                <c:pt idx="5">
                  <c:v>-23160.8828567089</c:v>
                </c:pt>
                <c:pt idx="6">
                  <c:v>-22035.443690433578</c:v>
                </c:pt>
                <c:pt idx="7">
                  <c:v>-20924.96451576431</c:v>
                </c:pt>
                <c:pt idx="8">
                  <c:v>-19830.505552690684</c:v>
                </c:pt>
                <c:pt idx="9">
                  <c:v>-18753.160343661028</c:v>
                </c:pt>
                <c:pt idx="10">
                  <c:v>-17694.052868017956</c:v>
                </c:pt>
                <c:pt idx="11">
                  <c:v>-16654.334297849829</c:v>
                </c:pt>
                <c:pt idx="12">
                  <c:v>-15635.179406547824</c:v>
                </c:pt>
                <c:pt idx="13">
                  <c:v>-14637.782645674939</c:v>
                </c:pt>
                <c:pt idx="14">
                  <c:v>-13663.353910019581</c:v>
                </c:pt>
                <c:pt idx="15">
                  <c:v>-12713.114014866173</c:v>
                </c:pt>
                <c:pt idx="16">
                  <c:v>-11788.289913497323</c:v>
                </c:pt>
                <c:pt idx="17">
                  <c:v>-10890.10968668243</c:v>
                </c:pt>
                <c:pt idx="18">
                  <c:v>-10019.797339344594</c:v>
                </c:pt>
                <c:pt idx="19">
                  <c:v>-9178.567442669646</c:v>
                </c:pt>
                <c:pt idx="20">
                  <c:v>-8367.6196625785342</c:v>
                </c:pt>
                <c:pt idx="21">
                  <c:v>-7588.1332176805772</c:v>
                </c:pt>
                <c:pt idx="22">
                  <c:v>-6841.261311511571</c:v>
                </c:pt>
                <c:pt idx="23">
                  <c:v>-6128.1255850192101</c:v>
                </c:pt>
                <c:pt idx="24">
                  <c:v>-5449.810635855576</c:v>
                </c:pt>
                <c:pt idx="25">
                  <c:v>-4807.3586510587775</c:v>
                </c:pt>
                <c:pt idx="26">
                  <c:v>-4201.7641991576802</c:v>
                </c:pt>
                <c:pt idx="27">
                  <c:v>-3633.9692266044622</c:v>
                </c:pt>
                <c:pt idx="28">
                  <c:v>-3104.8583017632136</c:v>
                </c:pt>
                <c:pt idx="29">
                  <c:v>-2615.2541474607242</c:v>
                </c:pt>
                <c:pt idx="30">
                  <c:v>-2165.9135003904594</c:v>
                </c:pt>
                <c:pt idx="31">
                  <c:v>-1757.5233324762448</c:v>
                </c:pt>
                <c:pt idx="32">
                  <c:v>-1390.6974657058126</c:v>
                </c:pt>
                <c:pt idx="33">
                  <c:v>-1065.9736079829618</c:v>
                </c:pt>
                <c:pt idx="34">
                  <c:v>-783.81083328417753</c:v>
                </c:pt>
                <c:pt idx="35">
                  <c:v>-544.58752489882318</c:v>
                </c:pt>
                <c:pt idx="36">
                  <c:v>-348.59979584864232</c:v>
                </c:pt>
                <c:pt idx="37">
                  <c:v>-196.06039579237904</c:v>
                </c:pt>
                <c:pt idx="38">
                  <c:v>-87.0981088845042</c:v>
                </c:pt>
                <c:pt idx="39">
                  <c:v>-21.757642248069033</c:v>
                </c:pt>
                <c:pt idx="40">
                  <c:v>0</c:v>
                </c:pt>
                <c:pt idx="41">
                  <c:v>-21.703333195283449</c:v>
                </c:pt>
                <c:pt idx="42">
                  <c:v>-86.664251694202449</c:v>
                </c:pt>
                <c:pt idx="43">
                  <c:v>-194.59957985311212</c:v>
                </c:pt>
                <c:pt idx="44">
                  <c:v>-345.14853414650315</c:v>
                </c:pt>
                <c:pt idx="45">
                  <c:v>-537.87529738070134</c:v>
                </c:pt>
                <c:pt idx="46">
                  <c:v>-772.27196110028854</c:v>
                </c:pt>
                <c:pt idx="47">
                  <c:v>-1047.7618051350455</c:v>
                </c:pt>
                <c:pt idx="48">
                  <c:v>-1363.7028810174743</c:v>
                </c:pt>
                <c:pt idx="49">
                  <c:v>-1719.3918642241151</c:v>
                </c:pt>
                <c:pt idx="50">
                  <c:v>-2114.0681388715875</c:v>
                </c:pt>
                <c:pt idx="51">
                  <c:v>-2546.9180776189642</c:v>
                </c:pt>
                <c:pt idx="52">
                  <c:v>-3017.0794790964537</c:v>
                </c:pt>
                <c:pt idx="53">
                  <c:v>-3523.6461251774599</c:v>
                </c:pt>
                <c:pt idx="54">
                  <c:v>-4065.67242080699</c:v>
                </c:pt>
                <c:pt idx="55">
                  <c:v>-4642.1780799022745</c:v>
                </c:pt>
                <c:pt idx="56">
                  <c:v>-5252.1528219691645</c:v>
                </c:pt>
                <c:pt idx="57">
                  <c:v>-5894.5610455671122</c:v>
                </c:pt>
                <c:pt idx="58">
                  <c:v>-6568.3464465022771</c:v>
                </c:pt>
                <c:pt idx="59">
                  <c:v>-7272.4365506453869</c:v>
                </c:pt>
                <c:pt idx="60">
                  <c:v>-8005.747133504432</c:v>
                </c:pt>
                <c:pt idx="61">
                  <c:v>-8767.1865010685469</c:v>
                </c:pt>
                <c:pt idx="62">
                  <c:v>-9555.6596089969462</c:v>
                </c:pt>
                <c:pt idx="63">
                  <c:v>-10370.071999840813</c:v>
                </c:pt>
                <c:pt idx="64">
                  <c:v>-11209.33354069075</c:v>
                </c:pt>
                <c:pt idx="65">
                  <c:v>-12072.361946352539</c:v>
                </c:pt>
                <c:pt idx="66">
                  <c:v>-12958.086075857114</c:v>
                </c:pt>
                <c:pt idx="67">
                  <c:v>-13865.448992770558</c:v>
                </c:pt>
                <c:pt idx="68">
                  <c:v>-14793.41078235751</c:v>
                </c:pt>
                <c:pt idx="69">
                  <c:v>-15740.951121144404</c:v>
                </c:pt>
                <c:pt idx="70">
                  <c:v>-16707.071596791466</c:v>
                </c:pt>
                <c:pt idx="71">
                  <c:v>-17690.797778420754</c:v>
                </c:pt>
                <c:pt idx="72">
                  <c:v>-18691.18103961111</c:v>
                </c:pt>
                <c:pt idx="73">
                  <c:v>-19707.300138187231</c:v>
                </c:pt>
                <c:pt idx="74">
                  <c:v>-20738.262558641924</c:v>
                </c:pt>
                <c:pt idx="75">
                  <c:v>-21783.205624588678</c:v>
                </c:pt>
                <c:pt idx="76">
                  <c:v>-22841.29738997954</c:v>
                </c:pt>
                <c:pt idx="77">
                  <c:v>-23911.737318996915</c:v>
                </c:pt>
                <c:pt idx="78">
                  <c:v>-24993.756765508086</c:v>
                </c:pt>
                <c:pt idx="79">
                  <c:v>-26086.619263751185</c:v>
                </c:pt>
                <c:pt idx="80">
                  <c:v>-27189.620642555921</c:v>
                </c:pt>
              </c:numCache>
            </c:numRef>
          </c:yVal>
          <c:smooth val="0"/>
          <c:extLst>
            <c:ext xmlns:c16="http://schemas.microsoft.com/office/drawing/2014/chart" uri="{C3380CC4-5D6E-409C-BE32-E72D297353CC}">
              <c16:uniqueId val="{00000000-A122-2140-81A3-1F5D2466A33A}"/>
            </c:ext>
          </c:extLst>
        </c:ser>
        <c:ser>
          <c:idx val="1"/>
          <c:order val="1"/>
          <c:tx>
            <c:strRef>
              <c:f>Sheet1!$B$84</c:f>
              <c:strCache>
                <c:ptCount val="1"/>
                <c:pt idx="0">
                  <c:v>Delta + gamma hedge</c:v>
                </c:pt>
              </c:strCache>
            </c:strRef>
          </c:tx>
          <c:spPr>
            <a:ln w="30480">
              <a:solidFill>
                <a:srgbClr val="A9520F"/>
              </a:solidFill>
            </a:ln>
          </c:spPr>
          <c:marker>
            <c:symbol val="none"/>
          </c:marker>
          <c:xVal>
            <c:numRef>
              <c:f>Sheet1!$A$85:$A$165</c:f>
              <c:numCache>
                <c:formatCode>General</c:formatCode>
                <c:ptCount val="81"/>
                <c:pt idx="0">
                  <c:v>90</c:v>
                </c:pt>
                <c:pt idx="1">
                  <c:v>90.25</c:v>
                </c:pt>
                <c:pt idx="2">
                  <c:v>90.5</c:v>
                </c:pt>
                <c:pt idx="3">
                  <c:v>90.75</c:v>
                </c:pt>
                <c:pt idx="4">
                  <c:v>91</c:v>
                </c:pt>
                <c:pt idx="5">
                  <c:v>91.25</c:v>
                </c:pt>
                <c:pt idx="6">
                  <c:v>91.5</c:v>
                </c:pt>
                <c:pt idx="7">
                  <c:v>91.75</c:v>
                </c:pt>
                <c:pt idx="8">
                  <c:v>92</c:v>
                </c:pt>
                <c:pt idx="9">
                  <c:v>92.25</c:v>
                </c:pt>
                <c:pt idx="10">
                  <c:v>92.5</c:v>
                </c:pt>
                <c:pt idx="11">
                  <c:v>92.75</c:v>
                </c:pt>
                <c:pt idx="12">
                  <c:v>93</c:v>
                </c:pt>
                <c:pt idx="13">
                  <c:v>93.25</c:v>
                </c:pt>
                <c:pt idx="14">
                  <c:v>93.5</c:v>
                </c:pt>
                <c:pt idx="15">
                  <c:v>93.75</c:v>
                </c:pt>
                <c:pt idx="16">
                  <c:v>94</c:v>
                </c:pt>
                <c:pt idx="17">
                  <c:v>94.25</c:v>
                </c:pt>
                <c:pt idx="18">
                  <c:v>94.5</c:v>
                </c:pt>
                <c:pt idx="19">
                  <c:v>94.75</c:v>
                </c:pt>
                <c:pt idx="20">
                  <c:v>95</c:v>
                </c:pt>
                <c:pt idx="21">
                  <c:v>95.25</c:v>
                </c:pt>
                <c:pt idx="22">
                  <c:v>95.5</c:v>
                </c:pt>
                <c:pt idx="23">
                  <c:v>95.75</c:v>
                </c:pt>
                <c:pt idx="24">
                  <c:v>96</c:v>
                </c:pt>
                <c:pt idx="25">
                  <c:v>96.25</c:v>
                </c:pt>
                <c:pt idx="26">
                  <c:v>96.5</c:v>
                </c:pt>
                <c:pt idx="27">
                  <c:v>96.75</c:v>
                </c:pt>
                <c:pt idx="28">
                  <c:v>97</c:v>
                </c:pt>
                <c:pt idx="29">
                  <c:v>97.25</c:v>
                </c:pt>
                <c:pt idx="30">
                  <c:v>97.5</c:v>
                </c:pt>
                <c:pt idx="31">
                  <c:v>97.75</c:v>
                </c:pt>
                <c:pt idx="32">
                  <c:v>98</c:v>
                </c:pt>
                <c:pt idx="33">
                  <c:v>98.25</c:v>
                </c:pt>
                <c:pt idx="34">
                  <c:v>98.5</c:v>
                </c:pt>
                <c:pt idx="35">
                  <c:v>98.75</c:v>
                </c:pt>
                <c:pt idx="36">
                  <c:v>99</c:v>
                </c:pt>
                <c:pt idx="37">
                  <c:v>99.25</c:v>
                </c:pt>
                <c:pt idx="38">
                  <c:v>99.5</c:v>
                </c:pt>
                <c:pt idx="39">
                  <c:v>99.75</c:v>
                </c:pt>
                <c:pt idx="40">
                  <c:v>100</c:v>
                </c:pt>
                <c:pt idx="41">
                  <c:v>100.25</c:v>
                </c:pt>
                <c:pt idx="42">
                  <c:v>100.5</c:v>
                </c:pt>
                <c:pt idx="43">
                  <c:v>100.75</c:v>
                </c:pt>
                <c:pt idx="44">
                  <c:v>101</c:v>
                </c:pt>
                <c:pt idx="45">
                  <c:v>101.25</c:v>
                </c:pt>
                <c:pt idx="46">
                  <c:v>101.5</c:v>
                </c:pt>
                <c:pt idx="47">
                  <c:v>101.75</c:v>
                </c:pt>
                <c:pt idx="48">
                  <c:v>102</c:v>
                </c:pt>
                <c:pt idx="49">
                  <c:v>102.25</c:v>
                </c:pt>
                <c:pt idx="50">
                  <c:v>102.5</c:v>
                </c:pt>
                <c:pt idx="51">
                  <c:v>102.75</c:v>
                </c:pt>
                <c:pt idx="52">
                  <c:v>103</c:v>
                </c:pt>
                <c:pt idx="53">
                  <c:v>103.25</c:v>
                </c:pt>
                <c:pt idx="54">
                  <c:v>103.5</c:v>
                </c:pt>
                <c:pt idx="55">
                  <c:v>103.75</c:v>
                </c:pt>
                <c:pt idx="56">
                  <c:v>104</c:v>
                </c:pt>
                <c:pt idx="57">
                  <c:v>104.25</c:v>
                </c:pt>
                <c:pt idx="58">
                  <c:v>104.5</c:v>
                </c:pt>
                <c:pt idx="59">
                  <c:v>104.75</c:v>
                </c:pt>
                <c:pt idx="60">
                  <c:v>105</c:v>
                </c:pt>
                <c:pt idx="61">
                  <c:v>105.25</c:v>
                </c:pt>
                <c:pt idx="62">
                  <c:v>105.5</c:v>
                </c:pt>
                <c:pt idx="63">
                  <c:v>105.75</c:v>
                </c:pt>
                <c:pt idx="64">
                  <c:v>106</c:v>
                </c:pt>
                <c:pt idx="65">
                  <c:v>106.25</c:v>
                </c:pt>
                <c:pt idx="66">
                  <c:v>106.5</c:v>
                </c:pt>
                <c:pt idx="67">
                  <c:v>106.75</c:v>
                </c:pt>
                <c:pt idx="68">
                  <c:v>107</c:v>
                </c:pt>
                <c:pt idx="69">
                  <c:v>107.25</c:v>
                </c:pt>
                <c:pt idx="70">
                  <c:v>107.5</c:v>
                </c:pt>
                <c:pt idx="71">
                  <c:v>107.75</c:v>
                </c:pt>
                <c:pt idx="72">
                  <c:v>108</c:v>
                </c:pt>
                <c:pt idx="73">
                  <c:v>108.25</c:v>
                </c:pt>
                <c:pt idx="74">
                  <c:v>108.5</c:v>
                </c:pt>
                <c:pt idx="75">
                  <c:v>108.75</c:v>
                </c:pt>
                <c:pt idx="76">
                  <c:v>109</c:v>
                </c:pt>
                <c:pt idx="77">
                  <c:v>109.25</c:v>
                </c:pt>
                <c:pt idx="78">
                  <c:v>109.5</c:v>
                </c:pt>
                <c:pt idx="79">
                  <c:v>109.75</c:v>
                </c:pt>
                <c:pt idx="80">
                  <c:v>110</c:v>
                </c:pt>
              </c:numCache>
            </c:numRef>
          </c:xVal>
          <c:yVal>
            <c:numRef>
              <c:f>Sheet1!$B$85:$B$165</c:f>
              <c:numCache>
                <c:formatCode>General</c:formatCode>
                <c:ptCount val="81"/>
                <c:pt idx="0">
                  <c:v>4567.6475317195873</c:v>
                </c:pt>
                <c:pt idx="1">
                  <c:v>4191.1114923534333</c:v>
                </c:pt>
                <c:pt idx="2">
                  <c:v>3834.077743609203</c:v>
                </c:pt>
                <c:pt idx="3">
                  <c:v>3496.4125263516908</c:v>
                </c:pt>
                <c:pt idx="4">
                  <c:v>3177.9315137334634</c:v>
                </c:pt>
                <c:pt idx="5">
                  <c:v>2878.3996746342746</c:v>
                </c:pt>
                <c:pt idx="6">
                  <c:v>2597.5314988156897</c:v>
                </c:pt>
                <c:pt idx="7">
                  <c:v>2334.9915961456718</c:v>
                </c:pt>
                <c:pt idx="8">
                  <c:v>2090.3956786092022</c:v>
                </c:pt>
                <c:pt idx="9">
                  <c:v>1863.3119299006648</c:v>
                </c:pt>
                <c:pt idx="10">
                  <c:v>1653.2627632719232</c:v>
                </c:pt>
                <c:pt idx="11">
                  <c:v>1459.7269640089944</c:v>
                </c:pt>
                <c:pt idx="12">
                  <c:v>1282.1422085324302</c:v>
                </c:pt>
                <c:pt idx="13">
                  <c:v>1119.9079476811457</c:v>
                </c:pt>
                <c:pt idx="14">
                  <c:v>972.38863734540064</c:v>
                </c:pt>
                <c:pt idx="15">
                  <c:v>838.91729531949386</c:v>
                </c:pt>
                <c:pt idx="16">
                  <c:v>718.79935910733184</c:v>
                </c:pt>
                <c:pt idx="17">
                  <c:v>611.31681551213842</c:v>
                </c:pt>
                <c:pt idx="18">
                  <c:v>515.73256923537701</c:v>
                </c:pt>
                <c:pt idx="19">
                  <c:v>431.29501445702044</c:v>
                </c:pt>
                <c:pt idx="20">
                  <c:v>357.24277052219259</c:v>
                </c:pt>
                <c:pt idx="21">
                  <c:v>292.80954047077103</c:v>
                </c:pt>
                <c:pt idx="22">
                  <c:v>237.22904926195042</c:v>
                </c:pt>
                <c:pt idx="23">
                  <c:v>189.74001717771171</c:v>
                </c:pt>
                <c:pt idx="24">
                  <c:v>149.5911230891943</c:v>
                </c:pt>
                <c:pt idx="25">
                  <c:v>116.04591203742893</c:v>
                </c:pt>
                <c:pt idx="26">
                  <c:v>88.387601915164851</c:v>
                </c:pt>
                <c:pt idx="27">
                  <c:v>65.923744952073321</c:v>
                </c:pt>
                <c:pt idx="28">
                  <c:v>47.990701183502097</c:v>
                </c:pt>
                <c:pt idx="29">
                  <c:v>33.957883078663144</c:v>
                </c:pt>
                <c:pt idx="30">
                  <c:v>23.231733030697796</c:v>
                </c:pt>
                <c:pt idx="31">
                  <c:v>15.259398383321241</c:v>
                </c:pt>
                <c:pt idx="32">
                  <c:v>9.5320720723248087</c:v>
                </c:pt>
                <c:pt idx="33">
                  <c:v>5.5879707278800197</c:v>
                </c:pt>
                <c:pt idx="34">
                  <c:v>3.0149261632468551</c:v>
                </c:pt>
                <c:pt idx="35">
                  <c:v>1.4525705022970214</c:v>
                </c:pt>
                <c:pt idx="36">
                  <c:v>0.59409970795968547</c:v>
                </c:pt>
                <c:pt idx="37">
                  <c:v>0.18760490952990949</c:v>
                </c:pt>
                <c:pt idx="38">
                  <c:v>3.6965598817914724E-2</c:v>
                </c:pt>
                <c:pt idx="39">
                  <c:v>2.3034371552057564E-3</c:v>
                </c:pt>
                <c:pt idx="40">
                  <c:v>0</c:v>
                </c:pt>
                <c:pt idx="41">
                  <c:v>2.2862289915792644E-3</c:v>
                </c:pt>
                <c:pt idx="42">
                  <c:v>3.6415618611499667E-2</c:v>
                </c:pt>
                <c:pt idx="43">
                  <c:v>0.1834371502045542</c:v>
                </c:pt>
                <c:pt idx="44">
                  <c:v>0.57658769807312638</c:v>
                </c:pt>
                <c:pt idx="45">
                  <c:v>1.3993269918719307</c:v>
                </c:pt>
                <c:pt idx="46">
                  <c:v>2.8830412039533257</c:v>
                </c:pt>
                <c:pt idx="47">
                  <c:v>5.3044438299839385</c:v>
                </c:pt>
                <c:pt idx="48">
                  <c:v>8.9827046921709552</c:v>
                </c:pt>
                <c:pt idx="49">
                  <c:v>14.276339636999182</c:v>
                </c:pt>
                <c:pt idx="50">
                  <c:v>21.579894783266354</c:v>
                </c:pt>
                <c:pt idx="51">
                  <c:v>31.320460056245793</c:v>
                </c:pt>
                <c:pt idx="52">
                  <c:v>43.954047139675822</c:v>
                </c:pt>
                <c:pt idx="53">
                  <c:v>59.961867006029934</c:v>
                </c:pt>
                <c:pt idx="54">
                  <c:v>79.846541784761939</c:v>
                </c:pt>
                <c:pt idx="55">
                  <c:v>104.12828494940186</c:v>
                </c:pt>
                <c:pt idx="56">
                  <c:v>133.34108270821162</c:v>
                </c:pt>
                <c:pt idx="57">
                  <c:v>168.0289080212824</c:v>
                </c:pt>
                <c:pt idx="58">
                  <c:v>208.74199697200675</c:v>
                </c:pt>
                <c:pt idx="59">
                  <c:v>256.03321525454521</c:v>
                </c:pt>
                <c:pt idx="60">
                  <c:v>310.45454035390867</c:v>
                </c:pt>
                <c:pt idx="61">
                  <c:v>372.55368268769234</c:v>
                </c:pt>
                <c:pt idx="62">
                  <c:v>442.87086647882825</c:v>
                </c:pt>
                <c:pt idx="63">
                  <c:v>521.93578859244008</c:v>
                </c:pt>
                <c:pt idx="64">
                  <c:v>610.26477095484734</c:v>
                </c:pt>
                <c:pt idx="65">
                  <c:v>708.35811952571385</c:v>
                </c:pt>
                <c:pt idx="66">
                  <c:v>816.69770020607393</c:v>
                </c:pt>
                <c:pt idx="67">
                  <c:v>935.74473946995568</c:v>
                </c:pt>
                <c:pt idx="68">
                  <c:v>1065.9378550308757</c:v>
                </c:pt>
                <c:pt idx="69">
                  <c:v>1207.6913194472436</c:v>
                </c:pt>
                <c:pt idx="70">
                  <c:v>1361.3935573166236</c:v>
                </c:pt>
                <c:pt idx="71">
                  <c:v>1527.4058745529037</c:v>
                </c:pt>
                <c:pt idx="72">
                  <c:v>1706.0614162895945</c:v>
                </c:pt>
                <c:pt idx="73">
                  <c:v>1897.6643481312785</c:v>
                </c:pt>
                <c:pt idx="74">
                  <c:v>2102.4892538678832</c:v>
                </c:pt>
                <c:pt idx="75">
                  <c:v>2320.7807412886759</c:v>
                </c:pt>
                <c:pt idx="76">
                  <c:v>2552.7532465269323</c:v>
                </c:pt>
                <c:pt idx="77">
                  <c:v>2798.5910262511461</c:v>
                </c:pt>
                <c:pt idx="78">
                  <c:v>3058.4483261699206</c:v>
                </c:pt>
                <c:pt idx="79">
                  <c:v>3332.4497135993442</c:v>
                </c:pt>
                <c:pt idx="80">
                  <c:v>3620.6905613269191</c:v>
                </c:pt>
              </c:numCache>
            </c:numRef>
          </c:yVal>
          <c:smooth val="0"/>
          <c:extLst>
            <c:ext xmlns:c16="http://schemas.microsoft.com/office/drawing/2014/chart" uri="{C3380CC4-5D6E-409C-BE32-E72D297353CC}">
              <c16:uniqueId val="{00000001-A122-2140-81A3-1F5D2466A33A}"/>
            </c:ext>
          </c:extLst>
        </c:ser>
        <c:dLbls>
          <c:showLegendKey val="0"/>
          <c:showVal val="0"/>
          <c:showCatName val="0"/>
          <c:showSerName val="0"/>
          <c:showPercent val="0"/>
          <c:showBubbleSize val="0"/>
        </c:dLbls>
        <c:axId val="2128940872"/>
        <c:axId val="2129643912"/>
      </c:scatterChart>
      <c:valAx>
        <c:axId val="2128940872"/>
        <c:scaling>
          <c:orientation val="minMax"/>
          <c:max val="110"/>
          <c:min val="90"/>
        </c:scaling>
        <c:delete val="0"/>
        <c:axPos val="b"/>
        <c:numFmt formatCode="0" sourceLinked="0"/>
        <c:majorTickMark val="none"/>
        <c:minorTickMark val="none"/>
        <c:tickLblPos val="nextTo"/>
        <c:spPr>
          <a:ln>
            <a:solidFill>
              <a:srgbClr val="D5D5CF"/>
            </a:solidFill>
          </a:ln>
        </c:spPr>
        <c:txPr>
          <a:bodyPr/>
          <a:lstStyle/>
          <a:p>
            <a:pPr>
              <a:defRPr sz="1100">
                <a:solidFill>
                  <a:srgbClr val="44505E"/>
                </a:solidFill>
                <a:latin typeface="IBM Plex Sans"/>
              </a:defRPr>
            </a:pPr>
            <a:endParaRPr lang="en-SE"/>
          </a:p>
        </c:txPr>
        <c:crossAx val="2129643912"/>
        <c:crosses val="autoZero"/>
        <c:crossBetween val="midCat"/>
        <c:majorUnit val="5"/>
      </c:valAx>
      <c:valAx>
        <c:axId val="2129643912"/>
        <c:scaling>
          <c:orientation val="minMax"/>
          <c:max val="5000"/>
          <c:min val="-30000"/>
        </c:scaling>
        <c:delete val="0"/>
        <c:axPos val="l"/>
        <c:majorGridlines>
          <c:spPr>
            <a:ln>
              <a:solidFill>
                <a:srgbClr val="D5D5CF"/>
              </a:solidFill>
            </a:ln>
          </c:spPr>
        </c:majorGridlines>
        <c:numFmt formatCode="#,##0" sourceLinked="0"/>
        <c:majorTickMark val="none"/>
        <c:minorTickMark val="none"/>
        <c:tickLblPos val="nextTo"/>
        <c:spPr>
          <a:ln>
            <a:solidFill>
              <a:srgbClr val="D5D5CF"/>
            </a:solidFill>
          </a:ln>
        </c:spPr>
        <c:txPr>
          <a:bodyPr/>
          <a:lstStyle/>
          <a:p>
            <a:pPr>
              <a:defRPr sz="1100">
                <a:solidFill>
                  <a:srgbClr val="44505E"/>
                </a:solidFill>
                <a:latin typeface="IBM Plex Sans"/>
              </a:defRPr>
            </a:pPr>
            <a:endParaRPr lang="en-SE"/>
          </a:p>
        </c:txPr>
        <c:crossAx val="2128940872"/>
        <c:crosses val="autoZero"/>
        <c:crossBetween val="midCat"/>
        <c:majorUnit val="10000"/>
      </c:valAx>
    </c:plotArea>
    <c:legend>
      <c:legendPos val="b"/>
      <c:overlay val="0"/>
      <c:txPr>
        <a:bodyPr/>
        <a:lstStyle/>
        <a:p>
          <a:pPr>
            <a:defRPr sz="1100">
              <a:latin typeface="IBM Plex Sans"/>
            </a:defRPr>
          </a:pPr>
          <a:endParaRPr lang="en-SE"/>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60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goal of this session is intuition, not stochastic calculus. By the end you should be able to price a European or American option with a few lines of code, explain why the real-world probability of an up-move does not enter the price, and see why the binomial lattice is nothing more than a discrete version of the Black-Scholes model. We use one small running example throughout: a stock at 100 that moves up 10% or down 10% each step.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aseline="0" dirty="0"/>
              <a:t>Here is the route. Stop zero is for anyone new to finance: what an option is, why it exists, and some history. Then we pose the pricing problem itself, then solve the smallest possible version of it — a single step — where the key insight lives. Then we stack steps into a lattice and show the two directions of travel: forward through the tree to generate prices and probabilities, backward through it to generate values. Finally we zoom out and show that as the steps shrink, the lattice becomes Black-Scholes.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why this matters to people who write software. Many of you already hold options: employee stock option grants are call options on your employer's shares. The market is enormous: the Options Clearing Corporation, which clears all US-listed options, reported 15.2 billion contracts in 2025 — roughly 60 million per trading day, and growth of about 24% over 2024. And behind every one of those trades is code: pricing engines, risk systems, market-making bots. The binomial lattice and Black-Scholes, which we'll build today, are not academic curiosities — they run in production. Frame the session as: here is a contract, here is its payoff function, how do we compute a fair price?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an option as a data structure. It names an underlying asset, whether it's a call — the right to buy — or a put — the right to sell, a strike price K, an expiry date T, and an exercise style: European options can only be exercised at expiry, American ones any time before. The buyer pays a premium up front; that premium is the number we want to compute. The asymmetry is the whole point: the holder has a right and walks away if exercising doesn't pay, so their loss is capped at the premium. The writer has the obligation, and that's why they demand payment. ACME and the numbers are illustrative. Everyday analogies help: a call is like paying a deposit to lock in a house price, a put is like an insurance policy on something you 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underlying is the thing whose price drives the payoff. Most option volume is on equities: single stocks and stock indices or index-tracking ETFs. For a Swedish audience, OMXS30 index options are the local example. But the same idea applies to currencies, where exporters use options to protect against exchange-rate moves; to commodities, usually via options on futures; to interest rates, where caps and swaptions protect borrowers; and even to volatility itself through VIX options. The footer shows the 2025 split at the OCC: about 8.3 billion contracts on single stocks, 5.7 billion on ETFs, 1.3 billion on indices. For the rest of this session we'll use the simplest possible underlying: one stock paying no dividends.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people trade options. Hedging: if you own shares, a put is insurance — below the strike, every euro the stock loses, the put gains. Speculation: an option gives exposure to a large position for a small premium. Income: if you own shares and don't expect a big rise, you can sell calls and pocket the premium, accepting that someone else gets the upside. The table makes leverage concrete. If the stock goes from 100 to 120, the shareholder makes 20%; the call holder paid 5, receives 20, and makes 300%. But if the stock merely stays flat, the call buyer loses everything. That convex, lopsided payoff is exactly why the price is hard — and why it matters to get right.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Options are much older than the formulas that price them. Aristotle, in the Politics, tells the story of the philosopher Thales, mocked for being poor, who foresaw a good olive harvest and paid small deposits for the right to use the local olive presses. When the harvest came, demand for presses soared and he rented them out at whatever price he liked — a call option on press capacity. </a:t>
            </a:r>
            <a:br>
              <a:rPr lang="en-GB" dirty="0"/>
            </a:br>
            <a:br>
              <a:rPr lang="en-GB" dirty="0"/>
            </a:br>
            <a:r>
              <a:rPr lang="en-GB" dirty="0"/>
              <a:t>In the Dutch tulip mania of the 1630s, much of the trade was in contracts to buy bulbs later at fixed prices; when prices crashed in February 1637, many of those contracts were never honoured in full. </a:t>
            </a:r>
            <a:br>
              <a:rPr lang="en-GB" dirty="0"/>
            </a:br>
            <a:br>
              <a:rPr lang="en-GB" dirty="0"/>
            </a:br>
            <a:r>
              <a:rPr lang="en-GB" dirty="0"/>
              <a:t>In the 1870s the financier Russell Sage combined options and stock to create synthetic loans — an early practical use of put-call parity. </a:t>
            </a:r>
            <a:br>
              <a:rPr lang="en-GB" dirty="0"/>
            </a:br>
            <a:br>
              <a:rPr lang="en-GB" dirty="0"/>
            </a:br>
            <a:r>
              <a:rPr lang="en-GB" dirty="0"/>
              <a:t>In 1973 the Chicago Board Options Exchange opened, standardising contracts and clearing them centrally — the same year Black and Scholes published. That combination of a liquid market and a pricing formula is what made options a mass-market product.</a:t>
            </a:r>
          </a:p>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Options also have a dramatic track record. In October 1987, many institutions ran portfolio insurance: a strategy that synthetically creates a put by selling stock as prices fall — exactly the dynamic hedge we'll derive from the lattice. When everyone tried to sell at once, the hedge itself fed the crash; the Dow lost 22.6 percent in a single day. In 1995 Nick Leeson at Barings sold Nikkei straddles, essentially betting the Japanese market would stay calm; the Kobe earthquake in January sent it lurching, and the losses of about 827 million pounds brought down a bank founded in 1762. In 1998 Long-Term Capital Management, whose board included Robert Merton and Myron Scholes, a year after their Nobel prize, lost 4.6 billion dollars in under four months; the New York Fed brokered a 3.6 billion dollar recapitalisation by fourteen firms. And in 2021 GameStop showed delta hedging in reverse: dealers who sold calls to retail traders had to buy stock as it rose, pushing it higher still. The message for engineers: the mathematics is sound, but every model rests on assumptions — continuous trading, no jumps, liquid markets — and the disasters happen when those break.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3"/>
          </p:nvPr>
        </p:nvSpPr>
        <p:spPr/>
        <p:txBody>
          <a:bodyPr/>
          <a:lstStyle/>
          <a:p>
            <a:r>
              <a:rPr dirty="0"/>
              <a:t>Portfolio insurance was one contributor, not a complete single-cause explanation. The options-pricing lesson is an interpretation: continuous rebalancing assumes executable trades and sufficient liquidity.</a:t>
            </a:r>
          </a:p>
          <a:p>
            <a:endParaRPr dirty="0"/>
          </a:p>
          <a:p>
            <a:r>
              <a:rPr dirty="0"/>
              <a:t>[Sources]</a:t>
            </a:r>
          </a:p>
          <a:p>
            <a:r>
              <a:rPr dirty="0"/>
              <a:t>https://</a:t>
            </a:r>
            <a:r>
              <a:rPr dirty="0" err="1"/>
              <a:t>www.federalreservehistory.org</a:t>
            </a:r>
            <a:r>
              <a:rPr dirty="0"/>
              <a:t>/essays/stock-market-crash-of-1987</a:t>
            </a:r>
          </a:p>
          <a:p>
            <a:r>
              <a:rPr dirty="0"/>
              <a:t>https://</a:t>
            </a:r>
            <a:r>
              <a:rPr dirty="0" err="1"/>
              <a:t>www.federalreserve.gov</a:t>
            </a:r>
            <a:r>
              <a:rPr dirty="0"/>
              <a:t>/pubs/feds/2007/200713/</a:t>
            </a:r>
          </a:p>
          <a:p>
            <a:r>
              <a:rPr dirty="0"/>
              <a:t>https://</a:t>
            </a:r>
            <a:r>
              <a:rPr dirty="0" err="1"/>
              <a:t>www.nber.org</a:t>
            </a:r>
            <a:r>
              <a:rPr dirty="0"/>
              <a:t>/system/files/chapters/c10958/c10958.pdf</a:t>
            </a:r>
          </a:p>
          <a:p>
            <a:r>
              <a:rPr dirty="0"/>
              <a:t>[/Sources]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3"/>
          </p:nvPr>
        </p:nvSpPr>
        <p:spPr/>
        <p:txBody>
          <a:bodyPr/>
          <a:lstStyle/>
          <a:p>
            <a:r>
              <a:rPr dirty="0"/>
              <a:t>The original deck reports £827 million; Britannica rounds the loss to roughly £830 million. Futures as well as options mattered. The failure involved </a:t>
            </a:r>
            <a:r>
              <a:rPr dirty="0" err="1"/>
              <a:t>unauthorised</a:t>
            </a:r>
            <a:r>
              <a:rPr dirty="0"/>
              <a:t> positions and ineffective supervision, not simply an incorrect volatility forecast.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3"/>
          </p:nvPr>
        </p:nvSpPr>
        <p:spPr/>
        <p:txBody>
          <a:bodyPr/>
          <a:lstStyle/>
          <a:p>
            <a:r>
              <a:rPr dirty="0"/>
              <a:t>The rescue occurred on 23 September 1998. Distinguish a Fed-facilitated private </a:t>
            </a:r>
            <a:r>
              <a:rPr dirty="0" err="1"/>
              <a:t>recapitalisation</a:t>
            </a:r>
            <a:r>
              <a:rPr dirty="0"/>
              <a:t> from a publicly financed bailout. The lesson is an interpretation about leverage and liquidity, not a claim that Black-Scholes alone caused the failure.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3"/>
          </p:nvPr>
        </p:nvSpPr>
        <p:spPr/>
        <p:txBody>
          <a:bodyPr/>
          <a:lstStyle/>
          <a:p>
            <a:r>
              <a:rPr dirty="0"/>
              <a:t>This slide qualifies the simplified gamma-squeeze explanation on original slide 8, which remains unchanged. SEC staff attributed the sustained rise primarily to positive investor sentiment rather than short covering and did not find evidence of a gamma squeeze in January. A 2022 academic critique argues that broader data and put-and-call dealer hedging support a different interpretation. A short-gamma dealer may need to buy shares as prices rise, but actual positioning and flows determine the effect.</a:t>
            </a:r>
          </a:p>
          <a:p>
            <a:endParaRPr dirty="0"/>
          </a:p>
          <a:p>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contracts carry the whole talk. A call pays the amount by which the stock ends above the strike; a put pays the amount by which it ends below. The hockey-stick shape is the important part: the payoff is a known, deterministic function of one unknown number, the stock price at expiry. Horizontal axis is S(T), vertical axis is payoff; the dashed line marks the strike K. Note the asymmetry: you can't lose more than what you paid for the option, which is exactly why it has value today.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3"/>
          </p:nvPr>
        </p:nvSpPr>
        <p:spPr/>
        <p:txBody>
          <a:bodyPr/>
          <a:lstStyle/>
          <a:p>
            <a:r>
              <a:rPr dirty="0"/>
              <a:t>Both plots show a long call at one instant. Stock price varies while maturity and volatility remain fixed. Long vanilla calls and puts have positive gamma; short positions have negative gamma. Gamma typically concentrates near the strike as expiry approaches, rather than rising everywhere. Delta-change approximation: </a:t>
            </a:r>
            <a:r>
              <a:rPr dirty="0" err="1"/>
              <a:t>dDelta</a:t>
            </a:r>
            <a:r>
              <a:rPr dirty="0"/>
              <a:t> ≈ Gamma*</a:t>
            </a:r>
            <a:r>
              <a:rPr dirty="0" err="1"/>
              <a:t>dS</a:t>
            </a:r>
            <a:r>
              <a:rPr dirty="0"/>
              <a:t>. Gamma-neutrality is local, not permanent.</a:t>
            </a:r>
          </a:p>
          <a:p>
            <a:endParaRPr dirty="0"/>
          </a:p>
          <a:p>
            <a:r>
              <a:rPr dirty="0"/>
              <a:t>[Sources]</a:t>
            </a:r>
          </a:p>
          <a:p>
            <a:r>
              <a:rPr dirty="0"/>
              <a:t>https://</a:t>
            </a:r>
            <a:r>
              <a:rPr dirty="0" err="1"/>
              <a:t>www.optionseducation.org</a:t>
            </a:r>
            <a:r>
              <a:rPr dirty="0"/>
              <a:t>/</a:t>
            </a:r>
            <a:r>
              <a:rPr dirty="0" err="1"/>
              <a:t>advancedconcepts</a:t>
            </a:r>
            <a:r>
              <a:rPr dirty="0"/>
              <a:t>/gamma</a:t>
            </a:r>
          </a:p>
          <a:p>
            <a:r>
              <a:rPr dirty="0"/>
              <a:t>https://</a:t>
            </a:r>
            <a:r>
              <a:rPr dirty="0" err="1"/>
              <a:t>www.optionseducation.org</a:t>
            </a:r>
            <a:r>
              <a:rPr dirty="0"/>
              <a:t>/</a:t>
            </a:r>
            <a:r>
              <a:rPr dirty="0" err="1"/>
              <a:t>advancedconcepts</a:t>
            </a:r>
            <a:r>
              <a:rPr dirty="0"/>
              <a:t>/understanding-options-</a:t>
            </a:r>
            <a:r>
              <a:rPr dirty="0" err="1"/>
              <a:t>greeks</a:t>
            </a:r>
            <a:endParaRPr dirty="0"/>
          </a:p>
          <a:p>
            <a:r>
              <a:rPr dirty="0"/>
              <a:t>https://</a:t>
            </a:r>
            <a:r>
              <a:rPr dirty="0" err="1"/>
              <a:t>www.macroption.com</a:t>
            </a:r>
            <a:r>
              <a:rPr dirty="0"/>
              <a:t>/delta-hedging/</a:t>
            </a:r>
          </a:p>
          <a:p>
            <a:r>
              <a:rPr dirty="0"/>
              <a:t>https://</a:t>
            </a:r>
            <a:r>
              <a:rPr dirty="0" err="1"/>
              <a:t>www.strike.money</a:t>
            </a:r>
            <a:r>
              <a:rPr dirty="0"/>
              <a:t>/options/gamma-hedging</a:t>
            </a:r>
          </a:p>
          <a:p>
            <a:r>
              <a:rPr dirty="0"/>
              <a:t>[/Sources]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3"/>
          </p:nvPr>
        </p:nvSpPr>
        <p:spPr/>
        <p:txBody>
          <a:bodyPr/>
          <a:lstStyle/>
          <a:p>
            <a:r>
              <a:t>Companion reading guide to slide 13. V denotes the long call premium per underlying share, not an expiry payoff or full contract premium. Delta is equivalent shares per option share. Gamma has units inverse dollars when V and S are quoted per share. The first-order examples are local approximations, not exact predictions for a finite move. At S=100 the 30-day model has delta about .5114 and gamma .06955. Delta is not generally the risk-neutral exercise probability. The gamma peak is near, not necessarily exactly at, the strike. Strike K is fixed at $100, r is the continuously compounded risk-free rate, and q the dividend yield. Existing slide 13 model and sources supply the explanation.</a:t>
            </a:r>
          </a:p>
          <a:p>
            <a:endParaRPr/>
          </a:p>
          <a:p>
            <a:r>
              <a:t>[Sources]</a:t>
            </a:r>
          </a:p>
          <a:p>
            <a:r>
              <a:t>https://www.optionseducation.org/advancedconcepts/gamma</a:t>
            </a:r>
          </a:p>
          <a:p>
            <a:r>
              <a:t>https://www.optionseducation.org/advancedconcepts/understanding-options-greeks</a:t>
            </a:r>
          </a:p>
          <a:p>
            <a:r>
              <a:t>Existing slide 13 and its embedded Black–Scholes chart data.</a:t>
            </a:r>
          </a:p>
          <a:p>
            <a:r>
              <a:t>[/Sources]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3"/>
          </p:nvPr>
        </p:nvSpPr>
        <p:spPr/>
        <p:txBody>
          <a:bodyPr/>
          <a:lstStyle/>
          <a:p>
            <a:r>
              <a:t>The dealer has only the specified short-call position plus stock. Signed portfolio gamma at S=100 is -100*100*Gamma_call. Rebalancing the stock resets portfolio delta but leaves gamma unchanged. Values are exact model recalculations, not constant-gamma extrapolations. Scenarios at $95 and $105 are separate moves from $100. Such flows can reinforce price moves, but price impact depends on actual dealer positioning and market liquidity; this is not a claim about GameStop.</a:t>
            </a:r>
          </a:p>
          <a:p>
            <a:endParaRPr/>
          </a:p>
          <a:p>
            <a:r>
              <a:t>[Sources]</a:t>
            </a:r>
          </a:p>
          <a:p>
            <a:r>
              <a:t>https://www.optionseducation.org/advancedconcepts/gamma</a:t>
            </a:r>
          </a:p>
          <a:p>
            <a:r>
              <a:t>https://www.optionseducation.org/advancedconcepts/understanding-options-greeks</a:t>
            </a:r>
          </a:p>
          <a:p>
            <a:r>
              <a:t>https://www.macroption.com/delta-hedging/</a:t>
            </a:r>
          </a:p>
          <a:p>
            <a:r>
              <a:t>https://www.strike.money/options/gamma-hedging</a:t>
            </a:r>
          </a:p>
          <a:p>
            <a:r>
              <a:t>Numerical figures: internally calculated illustrative Black–Scholes values; not market observations.</a:t>
            </a:r>
          </a:p>
          <a:p>
            <a:r>
              <a:t>[/Sources]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3"/>
          </p:nvPr>
        </p:nvSpPr>
        <p:spPr/>
        <p:txBody>
          <a:bodyPr/>
          <a:lstStyle/>
          <a:p>
            <a:r>
              <a:rPr dirty="0"/>
              <a:t>Model assumptions: Illustrative Black–Scholes model: European calls, K = $100, volatility = 20%, r = q = 0, 365-day year. Short 100 contracts of 30-day calls, long </a:t>
            </a:r>
            <a:r>
              <a:rPr dirty="0" err="1"/>
              <a:t>n_B</a:t>
            </a:r>
            <a:r>
              <a:rPr dirty="0"/>
              <a:t> contracts of 90-day calls, contract multiplier m=100. Signed original portfolio </a:t>
            </a:r>
            <a:r>
              <a:rPr dirty="0" err="1"/>
              <a:t>Delta_A</a:t>
            </a:r>
            <a:r>
              <a:rPr dirty="0"/>
              <a:t>=-10000*</a:t>
            </a:r>
            <a:r>
              <a:rPr dirty="0" err="1"/>
              <a:t>delta_A</a:t>
            </a:r>
            <a:r>
              <a:rPr dirty="0"/>
              <a:t> and </a:t>
            </a:r>
            <a:r>
              <a:rPr dirty="0" err="1"/>
              <a:t>Gamma_A</a:t>
            </a:r>
            <a:r>
              <a:rPr dirty="0"/>
              <a:t>=-10000*</a:t>
            </a:r>
            <a:r>
              <a:rPr dirty="0" err="1"/>
              <a:t>gamma_A</a:t>
            </a:r>
            <a:r>
              <a:rPr dirty="0"/>
              <a:t>. Hedge count </a:t>
            </a:r>
            <a:r>
              <a:rPr dirty="0" err="1"/>
              <a:t>n_B</a:t>
            </a:r>
            <a:r>
              <a:rPr dirty="0"/>
              <a:t>=-</a:t>
            </a:r>
            <a:r>
              <a:rPr dirty="0" err="1"/>
              <a:t>Gamma_A</a:t>
            </a:r>
            <a:r>
              <a:rPr dirty="0"/>
              <a:t>/(m*</a:t>
            </a:r>
            <a:r>
              <a:rPr dirty="0" err="1"/>
              <a:t>gamma_B</a:t>
            </a:r>
            <a:r>
              <a:rPr dirty="0"/>
              <a:t>); stock H=-(</a:t>
            </a:r>
            <a:r>
              <a:rPr dirty="0" err="1"/>
              <a:t>Delta_A+n_B</a:t>
            </a:r>
            <a:r>
              <a:rPr dirty="0"/>
              <a:t>*m*</a:t>
            </a:r>
            <a:r>
              <a:rPr dirty="0" err="1"/>
              <a:t>delta_B</a:t>
            </a:r>
            <a:r>
              <a:rPr dirty="0"/>
              <a:t>). Table quantities are theoretical and fractional; real whole-contract rounding leaves residual risk. Chart uses exact Black–Scholes revaluation with time and implied volatility fixed, no financing costs, spreads, transaction costs or premium-carry effect. A cash balance can finance initial premiums without changing instantaneous delta/gamma. P/L is change from each portfolio own initial value. It is not </a:t>
            </a:r>
            <a:r>
              <a:rPr dirty="0" err="1"/>
              <a:t>realised</a:t>
            </a:r>
            <a:r>
              <a:rPr dirty="0"/>
              <a:t> trading profit. Both delta and gamma vanish locally at S=100; higher-order and cross-Greek risks remain. At the stated zero-rate flat-vol model point, gamma neutrality also offsets theta locally, but this does not </a:t>
            </a:r>
            <a:r>
              <a:rPr dirty="0" err="1"/>
              <a:t>generalise</a:t>
            </a:r>
            <a:r>
              <a:rPr dirty="0"/>
              <a:t> to all portfolios or changing volatility.</a:t>
            </a:r>
          </a:p>
          <a:p>
            <a:endParaRPr dirty="0"/>
          </a:p>
          <a:p>
            <a:r>
              <a:rPr dirty="0"/>
              <a:t>[Sources]</a:t>
            </a:r>
          </a:p>
          <a:p>
            <a:r>
              <a:rPr dirty="0"/>
              <a:t>https://</a:t>
            </a:r>
            <a:r>
              <a:rPr dirty="0" err="1"/>
              <a:t>www.optionseducation.org</a:t>
            </a:r>
            <a:r>
              <a:rPr dirty="0"/>
              <a:t>/</a:t>
            </a:r>
            <a:r>
              <a:rPr dirty="0" err="1"/>
              <a:t>advancedconcepts</a:t>
            </a:r>
            <a:r>
              <a:rPr dirty="0"/>
              <a:t>/gamma</a:t>
            </a:r>
          </a:p>
          <a:p>
            <a:r>
              <a:rPr dirty="0"/>
              <a:t>https://</a:t>
            </a:r>
            <a:r>
              <a:rPr dirty="0" err="1"/>
              <a:t>www.optionseducation.org</a:t>
            </a:r>
            <a:r>
              <a:rPr dirty="0"/>
              <a:t>/</a:t>
            </a:r>
            <a:r>
              <a:rPr dirty="0" err="1"/>
              <a:t>advancedconcepts</a:t>
            </a:r>
            <a:r>
              <a:rPr dirty="0"/>
              <a:t>/understanding-options-</a:t>
            </a:r>
            <a:r>
              <a:rPr dirty="0" err="1"/>
              <a:t>greeks</a:t>
            </a:r>
            <a:endParaRPr dirty="0"/>
          </a:p>
          <a:p>
            <a:r>
              <a:rPr dirty="0"/>
              <a:t>https://</a:t>
            </a:r>
            <a:r>
              <a:rPr dirty="0" err="1"/>
              <a:t>www.macroption.com</a:t>
            </a:r>
            <a:r>
              <a:rPr dirty="0"/>
              <a:t>/delta-hedging/</a:t>
            </a:r>
          </a:p>
          <a:p>
            <a:r>
              <a:rPr dirty="0"/>
              <a:t>https://</a:t>
            </a:r>
            <a:r>
              <a:rPr dirty="0" err="1"/>
              <a:t>www.strike.money</a:t>
            </a:r>
            <a:r>
              <a:rPr dirty="0"/>
              <a:t>/options/gamma-hedging</a:t>
            </a:r>
          </a:p>
          <a:p>
            <a:r>
              <a:rPr dirty="0"/>
              <a:t>Numerical figures: internally calculated illustrative Black–Scholes values; not market observations.</a:t>
            </a:r>
          </a:p>
          <a:p>
            <a:r>
              <a:rPr dirty="0"/>
              <a:t>[/Sources]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an engineering interface. Five inputs go in, one number comes out. Notice what is NOT on the input list: the expected return of the stock, or anyone's opinion of where it is heading. That absence is the big surprise of option pricing, and the one-step tree will show us why it's legitimate. Volatility, sigma, is the only input that is not directly observable; in practice it is often backed out of market prices — the implied volatility.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pricing recipe has three ingredients and this is the first. Money has a time value: 100 today can be put in a risk-free deposit and grows to 102 after one step at 2 percent, 104.04 after two, 106.12 after three — compounding. Turn that around: a promise of 106.12 three steps from now is worth exactly 100 today, because 100 in the bank produces it. That reverse operation is discounting: divide by R once per step. For developers: compounding and discounting are inverse functions. The rate we use here is the risk-free rate — what a government bond or an insured deposit pays with no risk of default. In continuous-time models like Black-Scholes the discount factor is written e to the minus r T; it's the limit of many tiny compounding steps. Keep this picture in mind: discounting is a backward walk in time, exactly what we'll do through the lattice.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ingredient: the average. If a game pays 10 on heads and nothing on tails, and you play it many times, you'll average 5 per game. That's the expected value: each outcome weighted by its probability. For an option the outcomes are the payoffs in the different possible future stock prices. Developers often meet this as Monte Carlo simulation: generate a million random future stock prices, compute the payoff of each, take the mean. The law of large numbers guarantees that average converges to the expected payoff. Monte Carlo pricing is a real industrial technique. But notice the catch, in orange: the answer depends entirely on the probabilities your simulator uses. Hold that thought.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assemble the two ingredients into the recipe almost everyone invents on their own. List the possible future stock prices; here, deliberately simple, 110 or 90. Compute the option payoff in each: 10 or nothing. Attach probabilities — say you believe there's a 70 percent chance of the up move. Take the probability-weighted average: 7. Then, because the 7 arrives one period from now, discount it back with the time value of money: 6.86. This is a perfectly reasonable-looking computation, and we'll keep this exact example — 100, 110, 90, 1.02 — for the rest of the session. The punchline, which we'll prove shortly, is that 6.86 is the wrong price: anyone who sells you the option at 6.86 can lock in a riskless profit.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most engineers try first, and it is not crazy: price equals discounted expected value is the right shape. The problem is the two ingredients. The real-world probability p is a matter of opinion, and the right risk-adjusted discount rate for an option is neither the stock's rate nor constant. People spent decades on this before 1973. The breakthrough was realising you can avoid both questions entirely. Keep p in your head — we'll carry it into the one-step model and show it cancels out.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3"/>
          </p:nvPr>
        </p:nvSpPr>
        <p:spPr/>
        <p:txBody>
          <a:bodyPr/>
          <a:lstStyle/>
          <a:p>
            <a:r>
              <a:rPr dirty="0"/>
              <a:t>Illustrative numbers only. Identical fungible securities with same settlement and executable ask $99 / bid $101. Matching purchase and sale leaves +$2 immediately and no residual asset exposure. Assume financing/settlement arrangements permit execution without net capital contribution. If investing the initial gain, it fits the formal zero-initial-wealth terminal-profit definition. Real bid–ask spreads, financing, short-sale or transfer constraints and execution risk may eliminate the opportunity.</a:t>
            </a:r>
          </a:p>
          <a:p>
            <a:endParaRPr dirty="0"/>
          </a:p>
          <a:p>
            <a:r>
              <a:rPr dirty="0"/>
              <a:t>[Sources]</a:t>
            </a:r>
          </a:p>
          <a:p>
            <a:r>
              <a:rPr dirty="0"/>
              <a:t>https://</a:t>
            </a:r>
            <a:r>
              <a:rPr dirty="0" err="1"/>
              <a:t>metaphor.ethz.ch</a:t>
            </a:r>
            <a:r>
              <a:rPr dirty="0"/>
              <a:t>/x/2021/</a:t>
            </a:r>
            <a:r>
              <a:rPr dirty="0" err="1"/>
              <a:t>hs</a:t>
            </a:r>
            <a:r>
              <a:rPr dirty="0"/>
              <a:t>/401-3913-01L/auth/</a:t>
            </a:r>
            <a:r>
              <a:rPr dirty="0" err="1"/>
              <a:t>lethz</a:t>
            </a:r>
            <a:r>
              <a:rPr dirty="0"/>
              <a:t>/notes/lectures/MFF_Chapter2.pdf</a:t>
            </a:r>
          </a:p>
          <a:p>
            <a:r>
              <a:rPr dirty="0"/>
              <a:t>https://</a:t>
            </a:r>
            <a:r>
              <a:rPr dirty="0" err="1"/>
              <a:t>people.hec.edu</a:t>
            </a:r>
            <a:r>
              <a:rPr dirty="0"/>
              <a:t>/</a:t>
            </a:r>
            <a:r>
              <a:rPr dirty="0" err="1"/>
              <a:t>lovo</a:t>
            </a:r>
            <a:r>
              <a:rPr dirty="0"/>
              <a:t>/wp-content/uploads/sites/28/2025/12/Opt_binomial1.pdf</a:t>
            </a:r>
          </a:p>
          <a:p>
            <a:r>
              <a:rPr dirty="0"/>
              <a:t>https://</a:t>
            </a:r>
            <a:r>
              <a:rPr dirty="0" err="1"/>
              <a:t>sungchullee.github.io</a:t>
            </a:r>
            <a:r>
              <a:rPr dirty="0"/>
              <a:t>/</a:t>
            </a:r>
            <a:r>
              <a:rPr dirty="0" err="1"/>
              <a:t>financial_math_book_writing</a:t>
            </a:r>
            <a:r>
              <a:rPr dirty="0"/>
              <a:t>/ch01/</a:t>
            </a:r>
            <a:r>
              <a:rPr dirty="0" err="1"/>
              <a:t>binomial_model</a:t>
            </a:r>
            <a:r>
              <a:rPr dirty="0"/>
              <a:t>/</a:t>
            </a:r>
            <a:r>
              <a:rPr dirty="0" err="1"/>
              <a:t>replicating_portfolio</a:t>
            </a:r>
            <a:r>
              <a:rPr dirty="0"/>
              <a:t>/</a:t>
            </a:r>
          </a:p>
          <a:p>
            <a:r>
              <a:rPr dirty="0"/>
              <a:t>[/Sources]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3"/>
          </p:nvPr>
        </p:nvSpPr>
        <p:spPr/>
        <p:txBody>
          <a:bodyPr/>
          <a:lstStyle/>
          <a:p>
            <a:r>
              <a:rPr dirty="0"/>
              <a:t>Formal no-arbitrage definition and law of one price. Claims A and B have identical state-contingent cash flows and payment dates, with identical counterparty/default risk. Buying A and selling B raises $1 at inception; future assets and obligations offset state by state. After investing the gain this yields a conventional arbitrage. Equal means alone do not imply equal prices. In incomplete markets no-arbitrage can imply a range rather than a unique derivative price; a unique price follows here because the payoff is replicable. The example does not assert claims must be worth $5 or $6 individually.</a:t>
            </a:r>
          </a:p>
          <a:p>
            <a:endParaRPr dirty="0"/>
          </a:p>
          <a:p>
            <a:r>
              <a:rPr dirty="0"/>
              <a:t>[Sources]</a:t>
            </a:r>
          </a:p>
          <a:p>
            <a:r>
              <a:rPr dirty="0"/>
              <a:t>https://</a:t>
            </a:r>
            <a:r>
              <a:rPr dirty="0" err="1"/>
              <a:t>metaphor.ethz.ch</a:t>
            </a:r>
            <a:r>
              <a:rPr dirty="0"/>
              <a:t>/x/2021/</a:t>
            </a:r>
            <a:r>
              <a:rPr dirty="0" err="1"/>
              <a:t>hs</a:t>
            </a:r>
            <a:r>
              <a:rPr dirty="0"/>
              <a:t>/401-3913-01L/auth/</a:t>
            </a:r>
            <a:r>
              <a:rPr dirty="0" err="1"/>
              <a:t>lethz</a:t>
            </a:r>
            <a:r>
              <a:rPr dirty="0"/>
              <a:t>/notes/lectures/MFF_Chapter2.pdf</a:t>
            </a:r>
          </a:p>
          <a:p>
            <a:r>
              <a:rPr dirty="0"/>
              <a:t>https://</a:t>
            </a:r>
            <a:r>
              <a:rPr dirty="0" err="1"/>
              <a:t>people.hec.edu</a:t>
            </a:r>
            <a:r>
              <a:rPr dirty="0"/>
              <a:t>/</a:t>
            </a:r>
            <a:r>
              <a:rPr dirty="0" err="1"/>
              <a:t>lovo</a:t>
            </a:r>
            <a:r>
              <a:rPr dirty="0"/>
              <a:t>/wp-content/uploads/sites/28/2025/12/Opt_binomial1.pdf</a:t>
            </a:r>
          </a:p>
          <a:p>
            <a:r>
              <a:rPr dirty="0"/>
              <a:t>https://</a:t>
            </a:r>
            <a:r>
              <a:rPr dirty="0" err="1"/>
              <a:t>sungchullee.github.io</a:t>
            </a:r>
            <a:r>
              <a:rPr dirty="0"/>
              <a:t>/</a:t>
            </a:r>
            <a:r>
              <a:rPr dirty="0" err="1"/>
              <a:t>financial_math_book_writing</a:t>
            </a:r>
            <a:r>
              <a:rPr dirty="0"/>
              <a:t>/ch01/</a:t>
            </a:r>
            <a:r>
              <a:rPr dirty="0" err="1"/>
              <a:t>binomial_model</a:t>
            </a:r>
            <a:r>
              <a:rPr dirty="0"/>
              <a:t>/</a:t>
            </a:r>
            <a:r>
              <a:rPr dirty="0" err="1"/>
              <a:t>replicating_portfolio</a:t>
            </a:r>
            <a:r>
              <a:rPr dirty="0"/>
              <a:t>/</a:t>
            </a:r>
          </a:p>
          <a:p>
            <a:r>
              <a:rPr dirty="0"/>
              <a:t>[/Sources]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3"/>
          </p:nvPr>
        </p:nvSpPr>
        <p:spPr/>
        <p:txBody>
          <a:bodyPr/>
          <a:lstStyle/>
          <a:p>
            <a:r>
              <a:rPr dirty="0"/>
              <a:t>C is today’s option value per underlying share; S is today’s stock price; Delta is a chosen hedge ratio; B is the signed bank balance today. At expiry: </a:t>
            </a:r>
            <a:r>
              <a:rPr dirty="0" err="1"/>
              <a:t>C_state</a:t>
            </a:r>
            <a:r>
              <a:rPr dirty="0"/>
              <a:t>=Delta*</a:t>
            </a:r>
            <a:r>
              <a:rPr dirty="0" err="1"/>
              <a:t>S_state+R</a:t>
            </a:r>
            <a:r>
              <a:rPr dirty="0"/>
              <a:t>*B in each state. This exact identity follows by solving the two payoff equations, not by equating arbitrary asset holdings. Rearrangement yields the other two expressions. To replicate one share divide by Delta only if Delta is nonzero. Any two independent payoff vectors span the two-state model. Degenerate options may not span with cash or stock, so “any two always reproduce the third” is not universal. Across many steps the hedge changes at each node and must be self-financing; in continuous models exact replication also requires stronger assumptions. Diagram is native editable text and connectors, not an illustration asset.</a:t>
            </a:r>
          </a:p>
          <a:p>
            <a:endParaRPr dirty="0"/>
          </a:p>
          <a:p>
            <a:r>
              <a:rPr dirty="0"/>
              <a:t>[Sources]</a:t>
            </a:r>
          </a:p>
          <a:p>
            <a:r>
              <a:rPr dirty="0"/>
              <a:t>https://</a:t>
            </a:r>
            <a:r>
              <a:rPr dirty="0" err="1"/>
              <a:t>metaphor.ethz.ch</a:t>
            </a:r>
            <a:r>
              <a:rPr dirty="0"/>
              <a:t>/x/2021/</a:t>
            </a:r>
            <a:r>
              <a:rPr dirty="0" err="1"/>
              <a:t>hs</a:t>
            </a:r>
            <a:r>
              <a:rPr dirty="0"/>
              <a:t>/401-3913-01L/auth/</a:t>
            </a:r>
            <a:r>
              <a:rPr dirty="0" err="1"/>
              <a:t>lethz</a:t>
            </a:r>
            <a:r>
              <a:rPr dirty="0"/>
              <a:t>/notes/lectures/MFF_Chapter2.pdf</a:t>
            </a:r>
          </a:p>
          <a:p>
            <a:r>
              <a:rPr dirty="0"/>
              <a:t>https://</a:t>
            </a:r>
            <a:r>
              <a:rPr dirty="0" err="1"/>
              <a:t>people.hec.edu</a:t>
            </a:r>
            <a:r>
              <a:rPr dirty="0"/>
              <a:t>/</a:t>
            </a:r>
            <a:r>
              <a:rPr dirty="0" err="1"/>
              <a:t>lovo</a:t>
            </a:r>
            <a:r>
              <a:rPr dirty="0"/>
              <a:t>/wp-content/uploads/sites/28/2025/12/Opt_binomial1.pdf</a:t>
            </a:r>
          </a:p>
          <a:p>
            <a:r>
              <a:rPr dirty="0"/>
              <a:t>https://</a:t>
            </a:r>
            <a:r>
              <a:rPr dirty="0" err="1"/>
              <a:t>sungchullee.github.io</a:t>
            </a:r>
            <a:r>
              <a:rPr dirty="0"/>
              <a:t>/</a:t>
            </a:r>
            <a:r>
              <a:rPr dirty="0" err="1"/>
              <a:t>financial_math_book_writing</a:t>
            </a:r>
            <a:r>
              <a:rPr dirty="0"/>
              <a:t>/ch01/</a:t>
            </a:r>
            <a:r>
              <a:rPr dirty="0" err="1"/>
              <a:t>binomial_model</a:t>
            </a:r>
            <a:r>
              <a:rPr dirty="0"/>
              <a:t>/</a:t>
            </a:r>
            <a:r>
              <a:rPr dirty="0" err="1"/>
              <a:t>replicating_portfolio</a:t>
            </a:r>
            <a:r>
              <a:rPr dirty="0"/>
              <a:t>/</a:t>
            </a:r>
          </a:p>
          <a:p>
            <a:r>
              <a:rPr dirty="0"/>
              <a:t>[/Sources]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3"/>
          </p:nvPr>
        </p:nvSpPr>
        <p:spPr/>
        <p:txBody>
          <a:bodyPr/>
          <a:lstStyle/>
          <a:p>
            <a:r>
              <a:rPr dirty="0"/>
              <a:t>Computed: Delta=(10-0)/(110-90)=0.5. B=(0-0.5*90)/1.02=-44.117647058824. C=0.5*100+B=5.882352941176. Up and down replication payoffs are exactly 10 and 0. No-arbitrage stock/bank condition is 90&lt;100*1.02&lt;110. If quoted call price is 6.86, selling it and buying the replica gives 0.977647058824 today and zero net future payoff in either state. Costs and market frictions excluded. Half a share minus one call yields 45 in both states, current value 45/1.02=44.117647; two calls plus a deposit of 90/1.02=88.235294 reproduce one share. All call quantities are payoff units per underlying share, not 100-share exchange contracts. No real-world probability assumption is needed. The replicated value follows model assumptions and need not represent a real quote.</a:t>
            </a:r>
          </a:p>
          <a:p>
            <a:endParaRPr dirty="0"/>
          </a:p>
          <a:p>
            <a:r>
              <a:rPr dirty="0"/>
              <a:t>[Sources]</a:t>
            </a:r>
          </a:p>
          <a:p>
            <a:r>
              <a:rPr dirty="0"/>
              <a:t>https://</a:t>
            </a:r>
            <a:r>
              <a:rPr dirty="0" err="1"/>
              <a:t>metaphor.ethz.ch</a:t>
            </a:r>
            <a:r>
              <a:rPr dirty="0"/>
              <a:t>/x/2021/</a:t>
            </a:r>
            <a:r>
              <a:rPr dirty="0" err="1"/>
              <a:t>hs</a:t>
            </a:r>
            <a:r>
              <a:rPr dirty="0"/>
              <a:t>/401-3913-01L/auth/</a:t>
            </a:r>
            <a:r>
              <a:rPr dirty="0" err="1"/>
              <a:t>lethz</a:t>
            </a:r>
            <a:r>
              <a:rPr dirty="0"/>
              <a:t>/notes/lectures/MFF_Chapter2.pdf</a:t>
            </a:r>
          </a:p>
          <a:p>
            <a:r>
              <a:rPr dirty="0"/>
              <a:t>https://</a:t>
            </a:r>
            <a:r>
              <a:rPr dirty="0" err="1"/>
              <a:t>people.hec.edu</a:t>
            </a:r>
            <a:r>
              <a:rPr dirty="0"/>
              <a:t>/</a:t>
            </a:r>
            <a:r>
              <a:rPr dirty="0" err="1"/>
              <a:t>lovo</a:t>
            </a:r>
            <a:r>
              <a:rPr dirty="0"/>
              <a:t>/wp-content/uploads/sites/28/2025/12/Opt_binomial1.pdf</a:t>
            </a:r>
          </a:p>
          <a:p>
            <a:r>
              <a:rPr dirty="0"/>
              <a:t>https://</a:t>
            </a:r>
            <a:r>
              <a:rPr dirty="0" err="1"/>
              <a:t>sungchullee.github.io</a:t>
            </a:r>
            <a:r>
              <a:rPr dirty="0"/>
              <a:t>/</a:t>
            </a:r>
            <a:r>
              <a:rPr dirty="0" err="1"/>
              <a:t>financial_math_book_writing</a:t>
            </a:r>
            <a:r>
              <a:rPr dirty="0"/>
              <a:t>/ch01/</a:t>
            </a:r>
            <a:r>
              <a:rPr dirty="0" err="1"/>
              <a:t>binomial_model</a:t>
            </a:r>
            <a:r>
              <a:rPr dirty="0"/>
              <a:t>/</a:t>
            </a:r>
            <a:r>
              <a:rPr dirty="0" err="1"/>
              <a:t>replicating_portfolio</a:t>
            </a:r>
            <a:r>
              <a:rPr dirty="0"/>
              <a:t>/</a:t>
            </a:r>
          </a:p>
          <a:p>
            <a:r>
              <a:rPr dirty="0"/>
              <a:t>[/Sources]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3"/>
          </p:nvPr>
        </p:nvSpPr>
        <p:spPr/>
        <p:txBody>
          <a:bodyPr/>
          <a:lstStyle/>
          <a:p>
            <a:r>
              <a:t>Intuitive explanation of the existing triangle and worked replication example. Future bank payoff is R times the current bank balance B. To owe $45 at the next date when R=1.02, borrow 45/1.02=44.117647 today. Half a share costs $50 today, so the replica costs $5.882353. Two distinct stock outcomes and a risk-free asset span two-dimensional payoff space; the stock holding sets the payoff difference and the bank position sets the common level. Statements about pricing assume executable, frictionless borrowing/shorting and matching credit/currency/payment dates. With multiple dates replication generally needs a self-financing rebalance at each node, not the same static holdings over all possible terminal stock prices.</a:t>
            </a:r>
          </a:p>
          <a:p>
            <a:endParaRPr/>
          </a:p>
          <a:p>
            <a:r>
              <a:t>[Sources]</a:t>
            </a:r>
          </a:p>
          <a:p>
            <a:r>
              <a:t>Existing slides 25–26 (before insertion), including their illustrative two-state example.</a:t>
            </a:r>
          </a:p>
          <a:p>
            <a:r>
              <a:t>https://people.hec.edu/lovo/wp-content/uploads/sites/28/2025/12/Opt_binomial1.pdf</a:t>
            </a:r>
          </a:p>
          <a:p>
            <a:r>
              <a:t>https://sungchullee.github.io/financial_math_book_writing/ch01/binomial_model/replicating_portfolio/</a:t>
            </a:r>
          </a:p>
          <a:p>
            <a:r>
              <a:t>[/Sources]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core of modern derivatives pricing, and it's an engineering idea: build a clone. If a mix of stock and cash produces exactly the same payoff as the option in every possible future state, the option can't cost anything other than what the clone costs, or traders would arbitrage the difference away. Notice the argument never asks how likely each state is. It only needs the payoffs to match in every state. That is precisely why p is going to vanish.</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Historically the continuous-time theory came first. Black, Scholes and Merton derived their result with stochastic calculus in 1973 — the same year the Chicago Board Options Exchange opened. Six years later Cox, Ross and Rubinstein published the binomial model explicitly as a simplified approach: the same no-arbitrage economics, but with only high-school algebra. That's the version we're going to build. At the end we'll go full circle and show that the lattice converges to the 1973 formula.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showing any equation, introduce the variables, because Black-Scholes is unreadable without them. S is the stock price, which moves around. t is the clock, measured in years, and T is the expiry date. K is the strike from the contract. r is the risk-free interest rate — the bank or government-bond rate — expressed with continuous compounding, which is why we'll see e to the r t. Sigma, the volatility, measures how wildly the stock moves: 20 percent means a typical yearly return is within about plus or minus 20 percent of its average. Mu is the stock's expected return: a forecast, like p was in the lattice — and like p, it will vanish. The key mental shift for developers: the unknown is not a number but a function V of two arguments, price and time. The equation describes how that function must behave everywhere; today's option price is just one evaluation of it.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and Scholes model the stock as a random walk in percentages, called geometric Brownian motion. Read the equation as a simulation step: in a tiny time slice dt, the percentage change of the stock equals a deterministic drift mu times dt, plus volatility sigma times a random shock dW. dW is normally distributed with mean zero and variance dt — think of it as the net result of an enormous number of tiny coin flips. That is precisely the lattice's up and down moves with the step size shrunk to zero. The chart shows five simulated one-year paths from the same starting point, same mu and sigma, different random numbers. Every one of them is equally consistent with the model; the option price has to be right for all of them at once.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curly d, partial derivative, is the second thing that scares people. For developers it's simple: wiggle one argument of the function by a tiny h, keep the others frozen, and measure how much the output changes. The chart is the call value one year before expiry as a function of S — note it's a smooth version of the dashed hockey-stick payoff. Delta, the first derivative in S, is the slope of the tangent: at S equal 100 it's about 0.64, so the option moves 64 cents per euro of stock move. Gamma, the second derivative, is curvature: how quickly the slope itself changes. It's large near the strike, where the curve bends, and close to zero far away. Theta is the change in value as time passes with the price held fixed. The finite-difference formulas on the right are exactly how you'd compute them numerically — and exactly what we did on the lattice's Greeks slide later.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equation should be readable. Each term is one of the sensitivities from the previous slide, multiplied by something from the model. Theta, time decay. Plus r S times delta: the stock's drift — but at the risk-free rate r, not at mu, because the stock is held as a hedge. Plus one half sigma squared S squared times gamma: volatility only adds value where the value function is curved. If V were a straight line in S, randomness would average out to nothing. All of this must equal r times V: the hedged option grows like money in the bank. Where does it come from? It's the triangle argument in continuous time: own the option, short delta shares, and over each instant the random parts cancel exactly, so the position is riskless and must earn r. The PDE alone has infinitely many solutions; what selects the call is the final condition — at expiry the value equals the payoff. So, like the lattice, we solve backward from T. Mu has disappeared, just as p did.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step sideways into physics. Picture a metal rod, cold everywhere except a hot spot in the middle. The heat equation says how temperature u at position x evolves with time tau: its rate of change equals a conductivity kappa times the curvature of the temperature profile. In plain words, a point warms up if it's colder than the average of its neighbours and cools if it's hotter. Over time the spike spreads into a bell curve that gets wider and lower, with width growing like the square root of time — keep that square root in mind. This equation has been solved since Fourier in the early 1800s. Fischer Black's first degree was in physics and his doctorate in applied mathematics. In the 1973 paper, he and Scholes show that with a change of variables their pricing equation becomes exactly this heat equation, so the solution could be taken from standard textbooks. Historically, they first guessed the formula through a finance shortcut and then confirmed it this way. And the connection is older still: Louis Bachelier's 1900 thesis already compared the spreading of price probabilities to Fourier's theory of heat.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on earth would a physics equation describe an option? Because underneath both is the same thing: a random walk. Heat spreads because molecules kick each other randomly; the spread grows like the square root of time. Prices spread because countless trades kick the price randomly; uncertainty grows like sigma times the square root of time. Then map the pieces: the payoff at expiry plays the role of the initial temperature profile. Running the clock backwards from expiry, the sharp kink of the hockey stick gets smoothed out, exactly like a sharp temperature edge on a rod. The chart shows that: the payoff, then the call value three months and one year before expiry. Volatility plays the role of conductivity: more volatility, faster smoothing. And the last row closes the loop with the lattice: one backward step is a weighted average of the two neighbouring nodes — that's literally the simplest numerical scheme for the heat equation. You've already been solving a heat equation by hand.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change of variables that turns Black-Scholes into the heat equation. Think of it as a refactor: rename variables until the code matches a function you already have. Step one: measure time backwards, as time remaining to expiry. Now the payoff at expiry is a starting condition — like the initial temperature profile — and the equation runs forward in tau. Step two: work in the logarithm of the price, shifted by r minus half sigma squared times tau. Logs turn percentage moves into additive steps, which removes the S and S-squared factors, and the shift cancels the first-derivative drift term. Step three: factor out the discount factor e to the minus r tau, which removes the minus r V term. What's left is the pure heat equation with conductivity one half sigma squared, starting from the payoff written in log-price. You don't need to verify the algebra live; the point is that nothing is lost — the finance problem and the physics problem are literally the same equation in different units.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Optional explanation, no calculus required.</a:t>
            </a:r>
          </a:p>
          <a:p>
            <a:r>
              <a:rPr lang="en-GB"/>
              <a:t>A call is a right, not an obligation. If the share ends at 80, buying it for 100 would make no sense, so the holder lets the right expire and the payoff is zero. At 120, buying for 100 gives value 20. Payoff means the value at expiry before subtracting the premium paid today. European means exercise only at expiry.</a:t>
            </a:r>
          </a:p>
          <a:p>
            <a:r>
              <a:rPr lang="en-GB"/>
              <a:t>The table is an illustrative application of the payoff already used in this deck. It gives no probabilities to the four prices. To find a price today, we need to average over possible payoffs with pricing weights and discount the result. We will explain both operations next.</a:t>
            </a:r>
          </a:p>
          <a:p>
            <a:r>
              <a:rPr lang="en-GB"/>
              <a:t>Assumptions for this section: a non-dividend-paying stock and the idealized Black-Scholes setting already introduced in the deck.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Optional explanation: why these weights and why divide by 1.02?</a:t>
            </a:r>
          </a:p>
          <a:p>
            <a:r>
              <a:t>Let q be the weight on the up outcome. The weighted final stock price must equal what 100 earns in the bank: q × 110 + (1 − q) × 90 = 102. Subtract 90 to get 20q = 12, so q = 0.60. The down weight is 0.40. The word risk-neutral names this pricing convention. It does not say investors feel no risk, and 60% is not a forecast of the actual up probability.</a:t>
            </a:r>
          </a:p>
          <a:p>
            <a:r>
              <a:t>A future payment of 6 has present value 6/1.02 because depositing that amount today grows to 6. Thus the call price is 5.8823529, rounded to 5.88.</a:t>
            </a:r>
          </a:p>
          <a:p>
            <a:r>
              <a:t>Why can pricing ignore actual odds in this idealized model? Buy half a share for 50 and borrow 45/1.02 = 44.117647. The initial net cost is 5.882353. If the share rises, half a share is worth 55 and repaying 45 leaves 10. If it falls, half a share is worth 45 and repaying 45 leaves zero. This portfolio copies the call in every possible outcome. Two investments with identical future payments must have the same price, or a trader can buy the cheaper and sell the dearer for a risk-free gain. That is no-arbitrage.</a:t>
            </a:r>
          </a:p>
          <a:p>
            <a:r>
              <a:t>The weighted-average calculation is an algebraic shortcut for this replication argument. The later lattice section walks through it fully. This two-outcome example differs from the continuous one-year Black-Scholes example, so 5.88 and 10.4506 answer different setups.</a:t>
            </a:r>
          </a:p>
          <a:p>
            <a:r>
              <a:t>Sources within the original deck: slides 39–44, including speaker notes.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Optional explanation: what the bell curve actually does.</a:t>
            </a:r>
          </a:p>
          <a:p>
            <a:r>
              <a:t>Imagine an array. Each index represents an equally spaced log-price. Each array entry holds the payoff at that position, rather than a probability. Start with the call payoff max(exp(x) − K, 0), as on slide 36.</a:t>
            </a:r>
          </a:p>
          <a:p>
            <a:r>
              <a:t>For a simple numerical example, copy the array, then set each new entry to 0.25 times its left neighbour plus 0.50 times itself plus 0.25 times its right neighbour. Always read from the old array so updates do not depend on loop order. The displayed entries 0, 0, 10 are illustrative. The new centre becomes 2.50 even though its old payoff was zero, because the neighbouring positive payoff contributes.</a:t>
            </a:r>
          </a:p>
          <a:p>
            <a:r>
              <a:t>This is a finite-difference approximation to the heat equation for a suitable time-step/grid-spacing ratio. It is not an exact three-point Black-Scholes calculation, and 2.50 is not the option price for the later one-year example. Repeated steps give more and more distant entries a contribution. In the continuous limit, Gaussian weights describe those contributions.</a:t>
            </a:r>
          </a:p>
          <a:p>
            <a:r>
              <a:t>The heat equation says the rate of change is proportional to curvature. A discrete curvature is left − 2×centre + right. Updating centre by one quarter of that difference gives exactly the 25%, 50%, 25% averaging step shown. This is why local averaging solves the heat equation.</a:t>
            </a:r>
          </a:p>
          <a:p>
            <a:r>
              <a:t>In u_tau = (sigma squared / 2) u_xx, the Gaussian standard deviation after time T is sigma times square root of T. Sigma is annual volatility and T is years. At sigma=0.20 and T=1, the log-coordinate spread is 0.20. At T=0.25 it is 0.10. Four times the time doubles the spread. It is a width in log-price coordinates, not a cash amount or a hard boundary.</a:t>
            </a:r>
          </a:p>
          <a:p>
            <a:r>
              <a:t>The Gaussian describes the weighting kernel in transformed coordinates. The stock price itself is lognormal in Black-Scholes. Undo the coordinate shift and discount to recover today’s option value. The formula on the next slide evaluates this continuous weighted average exactly for a European call.</a:t>
            </a:r>
          </a:p>
          <a:p>
            <a:r>
              <a:t>Sources within the original deck: slides 34–37 and their notes.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Optional explanation: the formula, step by step.</a:t>
            </a:r>
          </a:p>
          <a:p>
            <a:r>
              <a:t>Inputs: S is the stock price now. K is the fixed exercise price. T is time remaining in years. r is the continuously compounded annual risk-free rate. Sigma is annual volatility. This version assumes no dividends and exercise only at expiry, with constant r and sigma and the other idealized Black-Scholes assumptions.</a:t>
            </a:r>
          </a:p>
          <a:p>
            <a:r>
              <a:t>Compute d1 = [ln(S/K) + (r + sigma*sigma/2)*T] / (sigma*sqrt(T)). Then d2 = d1 − sigma*sqrt(T). ln is the natural logarithm, sqrt is square root and exp is the exponential function. At T=0 use the payoff directly instead of dividing by zero. Zero volatility also needs separate handling.</a:t>
            </a:r>
          </a:p>
          <a:p>
            <a:r>
              <a:t>N(z), or scipy.stats.norm.cdf(z), gives the fraction of a standard normal distribution below z. Standard normal means centre zero and standard deviation one. Thus N(0)=0.5. We use it as a library function for adding continuous bell-curve weights.</a:t>
            </a:r>
          </a:p>
          <a:p>
            <a:r>
              <a:t>For the example, ln(100/100)=0. The numerator of d1 is (0.05 + 0.20 squared/2) × 1 = 0.07. The denominator is 0.20, so d1=0.35 and d2=0.15. N(d1)=0.63683065 and N(d2)=0.55961769. The discounted strike is 100 × exp(−0.05)=95.12294245. Multiply to get 63.683065 and 53.232482, whose difference is 10.450584, or 10.4506 rounded.</a:t>
            </a:r>
          </a:p>
          <a:p>
            <a:r>
              <a:t>Why are there two N terms? When the final price exceeds K, the call delivers the share and requires paying K. Otherwise both legs contribute zero. Average the value of the share delivered, average the fixed strike payment, discount both, then subtract. The fixed payment uses only the total pricing weight of exercise outcomes, N(d2). The share leg gives larger contributions to outcomes with larger share prices. Evaluating that price-weighted average produces S × N(d1). Under the same risk-neutral measure N(d1) is not simply another exercise probability.</a:t>
            </a:r>
          </a:p>
          <a:p>
            <a:r>
              <a:t>Optional mathematical identity: C = exp(−rT) × E_Q[(S_T − K) × 1(S_T &gt; K)]. Splitting the difference gives the share leg and strike leg. Under Q, log(S_T) has mean log(S)+(r−sigma squared/2)T and standard deviation sigma*sqrt(T). Standardizing the exercise threshold gives N(d2). Weighting the Gaussian density by S_T shifts its standardized threshold by sigma*sqrt(T), producing d1. This is the integral behind the heat-equation solution.</a:t>
            </a:r>
          </a:p>
          <a:p>
            <a:r>
              <a:t>You can skip this derivation in a live presentation. The essential algorithm is to weight possible payoffs, add them, and discount. The next slide continues with the lattice, which computes the same idea through discrete steps.</a:t>
            </a:r>
          </a:p>
          <a:p>
            <a:r>
              <a:t>Sources within the original deck: slides 36–37 and notes. Worked figures calculated from the original slide 37 inputs.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developer audience this is the selling point. The lattice turns a PDE into a dynamic-programming table that you fill from the leaves to the root. It's visual: every number lives on a node you can point at. It's general: American options, which have no closed-form price, are a one-line change. And it's honest: as you refine the grid, it converges to Black-Scholes, so you lose nothing by starting here.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model, in miniature. One stock, one step, two possible outcomes. Up by 10% with some real-world probability p, down by 10% with probability one minus p. There is also a bank account that turns 1 into 1.02 over the step, guaranteed. The call with strike 100 pays 10 in the up state and nothing in the down state. Blue always means up and orange always means down from here on. Ask the room: what would you pay for this? Most people reach for p.</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trick. Instead of guessing the option's value, build a portfolio that behaves identically. Hold delta shares and B in the bank. In the up state the shares are worth delta times 110 and the cash has grown to 1.02 B. In the down state, delta times 90 plus the same 1.02 B. Force each of those to equal the option payoff in that state. Two linear equations, two unknowns — a developer can solve this in their head. Delta is simply rise over run of the payoff between the two states. Note: no p anywhere in either equation.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obvious question: why should a mix of shares and cash be able to copy an option at all? Draw the end-of-step value against the stock price. Holding delta shares gives a value that rises in proportion to S — a slope. Holding cash gives the same amount whatever happens — a constant level. So any shares-plus-cash portfolio is a straight line. The option's payoff is a hockey stick, which is not a line. But in our one-step world the stock can only end up at 90 or 110, so the option only needs to be matched at two points — and through any two points there is exactly one line. Rise over run gives the slope, 0.5 shares. The line's level at the end is minus 45, so we owe 45 at the end, meaning we borrow 45 over 1.02, which is 44.12, today. For developers: it's solving a 2-by-2 linear system, or a regression with zero residual. And it tells you why the binomial step is the building block: with three possible outcomes a straight line couldn't hit three points, and you'd need another traded instrument.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 in the numbers. Delta is 10 over 20, so half a share. To kill the payoff in the down state we must owe exactly 45 at the end, which means borrowing 45 over 1.02, about 44.12, today. Total cost of the clone: 50 for the half share, minus 44.12 borrowed, equals 5.88. The table verifies the clone pays exactly 10 or 0. If the option traded at 6.50 you would sell it, buy the clone for 5.88, and pocket 0.62 with zero risk. If it traded at 5.00 you'd do the reverse. Only 5.88 survives.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make "no-arbitrage" concrete with a trade ledger, like a unit test that must pass in every state. Suppose a dealer quotes the option at 6.50. You sell the option at 6.50, buy half a share for 50, and borrow 44.12 to fund the difference. You're left with 62 cents in your pocket today. One step later, in the up state you owe the option holder 10, your half share is worth 55, and you repay 45 on the loan: net zero. In the down state the option is worthless, the shares are worth 45, and you repay 45: net zero again. Money today, zero in every future state, no risk: an arbitrage. If the option were quoted too low, say 5.00, you reverse every line. Algorithmic traders scan for exactly these gaps; their buying and selling pushes the price until the gap closes at 5.88. That's what we mean by "the" option price.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equivalence behind the "rabbit out of the hat". In a one-step, two-state world we have three assets — the share, the option and risk-free cash — but only two independent outcomes. So the three are linearly dependent: any two can be combined to reproduce the third. Read the cards as three rearrangements of one equation. First, option equals half a share minus 44.12 of cash: the replication we just built. Second, rearrange: half a share minus one option pays 45 whatever happens. Something that pays the same in every state is just a bond, and a bond must be worth its payment discounted at the risk-free rate, 44.12. That's where the price comes from: hedge the option with delta shares and the randomness cancels, leaving a riskless position that must earn the bank rate. Third, rearrange again: two options plus 88.24 in cash behave exactly like one share. Nothing here needs probabilities — only the payoffs in each state and the price of cash. "Free money" in the earlier slide means risk-free money: the bank account. And if any of the three is mispriced relative to the other two, the money machine from the previous slide switches on.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pause on. Substitute the formulas for delta and B into delta S plus B and collect terms. The weights in front of C-up and C-down add up to one, and they're both positive as long as d is less than R is less than u. So they behave like probabilities. Call the up-weight q. The price is then a discounted expected payoff — exactly the form people guessed on the naive slide — but with q instead of p, and discounted at the risk-free rate instead of some mystery rate. q is pinned down by u, d and R alone. Your opinion about p, however strong, does not change the price.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distinction explicit. p is a forecast and belongs to the real world. q is a pricing device and belongs to an imaginary, risk-neutral world in which the stock is expected to grow at exactly the bank rate. Under q the option's price is a plain discounted expectation. Under p, the same calculation gives 6.86 — and anyone quoting 6.86 can be arbitraged by selling them the option and holding the clone. Where did the investor's view go? It's already inside today's stock price. The condition d less than R less than u is the no-arbitrage requirement: if the bank beat even the up-move, nobody would hold the stock.</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glue one-step trees together. From every node we again go up by u or down by d. The crucial property is recombination: up-then-down and down-then-up land on the same price, because multiplication commutes. So the tree is really a triangle — a lattice. Each node is addressed by two integers: the step i and the number of up-moves j. The highlighted nodes show where several paths merge; the path counts 1, 2, 1 and 1, 3, 3, 1 are Pascal's triangle, which will matter in two slides. For a developer: this is the difference between exponential and quadratic complexity.</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running example now has three steps. The first thing that flows forward, left to right, is the stock price itself. It's the simplest pass: multiply by 1.1 going up, by 0.9 going down. The middle node at t=2 is 99, not 100, because 1.1 times 0.9 is 0.99 — with the calibrated tree later we'll pick d equal to one over u so the middle returns exactly to the start. Notice the arrows point right: information is flowing forward in time. There are three things we can propagate forward — prices, probabilities and state prices — and we'll do all three.</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forward pass carries probability mass. Think of pouring one litre of water in at the root: at every node a fraction p flows up and 1 minus p flows down, and where paths merge the water adds. The coefficients 1, 2, 1 and 1, 3, 3, 1 are exactly the path counts from the previous slide. The table compares two choices: the real-world p of 0.7 and the risk-neutral q of 0.6. The real world puts more weight on the high outcomes — the stock is expected to outperform cash — while the risk-neutral world tilts down so that the expected growth equals the bank rate. In the continuous limit, this forward pass is the Fokker-Planck, or Kolmogorov forward, equation.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forward quantity is the most powerful and the least known: state prices, also called Arrow-Debreu prices. A state price answers: what is a ticket worth today that pays one dollar if, and only if, the stock ends up on this node? It's just the risk-neutral probability with one discount factor per step folded in. Walk the first step with the room: 0.6 over 1.02 is 0.588, 0.4 over 1.02 is 0.392. Then the merge at t=2 middle: 0.588 times 0.4 plus 0.392 times 0.6, all over 1.02, gives 0.461. Sanity check: buy every leaf ticket and you are guaranteed $1 at T, so the leaf state prices must add up to the discount factor 1 over R cubed. They do: 0.9423. Once you have the leaf state prices, any European payoff can be priced with a single dot product — we'll come back to that right after the backward pass.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turning point of the algorithm. The forward pass told us which prices are possible at expiry. At expiry the option is worth exactly its payoff — there's nothing left to be uncertain about. So the right-hand column is known: 33.10, 8.90, zero, zero. Everything to the left is unknown. Note that this is the same structure as the Black-Scholes PDE: we know the solution at the final time T as a boundary condition, and we need the solution at time zero. The arrows are greyed out because we are about to reverse their direction.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arrows point left: information flows backward in time. The key realisation is that every interior node, together with its two children, is exactly the one-step problem we solved earlier. So we apply the same formula — q times the up value plus one minus q times the down value, discounted one step. The highlighted node: 0.6 times 33.10 plus 0.4 times 8.90 is 23.42; divided by 1.02 that's 22.96. The middle node gets 0.6 times 8.90 over 1.02, which is 5.24, and the bottom node is zero because both its children are zero. This is dynamic programming: a node's value depends only on its children, never on how we got there.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rolling left. The two t=1 nodes come out at 15.56 and 3.08, and the root at 10.36. That's the price of the three-step call. Point at the whole picture: forward we generated the stage, the possible prices; backward we generated the values. Every one of those nodes also has its own replicating portfolio, which we'll use in a moment for hedging and Greeks. And once more: p equals 0.7 never entered the calculation. If you had used p, you'd get 14.40, and you would be arbitraged.</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ties the forward and backward views together. On the left, use the state prices we propagated forward and take the dot product with the payoffs at the leaves: 6.737 plus 3.623 gives 10.360. On the right, the backward induction we just did gives 10.360 too. They must agree, because both are evaluations of the same sum — the closed-form binomial formula at the bottom. Forward is like computing the distribution first and then integrating the payoff against it; backward is like Horner's rule, nesting the sum. For a single European payoff the forward route is cheap to reuse across many strikes; the backward route is the only one that handles decisions along the way, like early exercise. In continuous time these are the Kolmogorov forward and backward equations — the backward one is the Black-Scholes PDE.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developers, here is the entire algorithm. It uses the calibrated Cox-Ross-Rubinstein parameters we'll derive in the last section — u is e to the sigma root dt, d is one over u. The forward part is a single list comprehension for the leaf prices and payoffs. The backward part is a double loop that overwrites one array in place: V[j] at level i only needs V[j] and V[j+1] from level i+1, which haven't been overwritten yet because j increases. The American flag adds two lines — we'll see why on the next few slides. With a thousand steps this runs in milliseconds in plain Python and is within two thousandths of the Black-Scholes price.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is only half the story. Each interior node is a one-step problem, and each one-step problem came with a replicating portfolio. So the lattice is also a hedging plan: at the root hold 0.624 shares and borrow 52.04. If the stock goes up, rebalance to 0.806 shares; if down, to 0.291. The plan is self-financing: the value of the old portfolio at the new node always exactly equals the cost of the new one, so a bank selling this option at 10.36 can hedge it perfectly in this model and end up flat in every path. Notice how delta tracks moneyness — close to one when the option is sure to be exercised, zero when it can't be.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to now we've computed one number: the price. But anyone who holds an option, or has sold one, immediately asks: how will that number change tomorrow? The Greeks answer that, one input at a time. Each is a partial derivative: wiggle one input, freeze the rest, measure the change in value. Delta: sensitivity to the stock price. Gamma: how quickly delta itself changes. Theta: what the passage of one day costs. Vega — not actually a Greek letter, but the name stuck — sensitivity to volatility. Rho: sensitivity to interest rates. The right column is our running Black-Scholes example, so every number is concrete. For developers the cleanest picture is this: the Greeks are the gradient of the pricing function with respect to its inputs, the same object autodiff gives you when you train a neural network. The next slides take each one in turn, with a picture and an intuition.</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Delta has three intuitions, and it's worth giving all three. First, speed: if the stock rises by one euro, our call rises by about 64 cents. Second, the hedge ratio: a bank that sold 100 of these calls buys 64 shares, and small stock moves then cancel out — this is exactly the delta we read off the lattice nodes, 0.624 at the root in our toy tree. Third, a rough sense of how likely the option is to pay off: deep in the money, delta approaches 1 and the call behaves like the stock itself; far out of the money it approaches zero and behaves like a lottery ticket. The chart shows delta across stock prices. With a year left, the curve is a gentle S. With a month left, it's almost a step at the strike: the option is close to all-or-nothing. That steepening is what the next Greek, gamma, measures.</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delta is speed, gamma is acceleration: how quickly delta changes as the stock moves. For our call, a one-euro rise lifts delta by about 0.019. You saw it on the lattice: delta was 0.29 at the lower t=1 node and 0.81 at the upper one. Gamma matters for two reasons. Practically, it's the hedger's workload: with high gamma, yesterday's hedge ratio is wrong today, so you must trade more often. The chart shows where that bites: gamma is a hump centred on the strike, and as expiry approaches it gets taller and narrower — an at-the-money option close to expiry is the hardest thing to hedge. Conceptually, gamma is convexity, and convexity pays: a delta-hedged option holder gains roughly one half gamma times the move squared. Because the move is squared, it doesn't matter whether the stock goes up or down — any move helps. That sounds like free money. The next slide shows who pays for it.</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Theta is the cost of time. Hold the stock price fixed at 100 and just let the calendar run: our call is worth 10.45 with a year left, 6.89 with six months, 4.61 with three months, about 1.18 with a week, and zero at expiry. That's theta: minus 6.41 per year, or roughly 1.8 cents per day right now. Traders call it the melting ice cube, and notice how the melting speeds up at the end: an at-the-money option loses value fastest in its final weeks, because there's less and less time for the stock to move. The third card connects back to gamma. Rearranged, the Black-Scholes equation says theta plus the gamma term plus the delta term equals the bank return. In words: a delta-hedged option holder gains from convexity whenever the stock moves, and pays for it with theta every day. If the stock moves exactly as much as the volatility predicts, the two cancel. That's the deep trade-off of option books: long gamma means paying theta rent; short gamma means collecting rent and hoping the market stays quiet — which is exactly what Barings' trader was doing.</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two Greeks don't live on the lattice's nodes, because they change the tree itself. Vega is sensitivity to volatility: plus 38 cents for each extra percentage point of volatility. The bars show why intuition says options love uncertainty: at 10 percent volatility the call is worth 6.80, at 20 percent 10.45, at 30 percent 14.23. The holder keeps the upside and the downside is capped at the premium, so spreading out the possible outcomes can only help. In practice this runs the other way round: the market quotes option prices, and traders invert the formula to find the volatility that matches — implied volatility. The VIX index is essentially that number for the S&amp;P 500, which is why it's called the fear gauge. Rho is sensitivity to interest rates: a call lets you delay paying the strike, and higher rates make delaying more valuable; for puts it's the opposite. For both, the lattice method is bump-and-revalue: rebuild the tree with a slightly higher and lower input and take the difference. The code comments show the results from 500-step trees, matching the closed-form values 0.375 and 0.532.</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Greeks are the sensitivities a trading desk uses to manage risk, and the lattice gives three of them with no extra computation. Delta is the slope of value against stock price, read off the two t=1 nodes. Gamma is how fast delta changes, read off the t=2 nodes: the difference of the two deltas divided by the average stock spacing. Theta is time decay: compare the middle node two steps ahead with the root. In our toy tree the middle node is at 99, not 100, so theta is approximate; the calibrated tree with d equal one over u puts it exactly back at S-zero. Vega and rho change the tree itself, so they're computed by bump-and-revalue: rebuild with sigma plus a little and take the difference. These are also exactly the derivative terms that appear in the Black-Scholes PDE — keep that in mind.</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Greeks come together in one line: the change in an option's value is approximately delta times the stock move, plus half gamma times the move squared, plus theta times the time elapsed, plus vega and rho times changes in volatility and rates. It's a Taylor expansion — a linearisation of the pricing function around today's inputs, the same idea as a gradient step. The table checks it on our example: one day passes and the stock rises from 100 to 102. Delta contributes 1.274, gamma adds 0.038, theta takes away 0.018. The Greeks predict plus 1.294; actually repricing the option with Black-Scholes gives plus 1.293. This is how risk is managed in practice: rather than repricing every scenario, risk systems aggregate the Greeks across all positions, and traders read the result as "we're long so much delta, short so much gamma, we lose so much per day from theta". It's also why a pricing model is not just a price engine: its derivatives are the product.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the lattice earns its keep. An American option can be exercised at any time before expiry, and there's no closed-form Black-Scholes price for an American put. On the lattice, the fix is one max: at each node compare what you'd get by exercising now, K minus S, with the value of waiting, which is the usual discounted expectation. Keep the larger. In our example, two nodes flip to exercise, shown in orange with "ex": at S equals 81 exercising pays 19 versus 17.04 for waiting, and at S equals 90 it pays 10 versus 9.97. Why exercise a put early? Because receiving the strike now lets you earn interest on it; when the put is deep in the money that interest outweighs the remaining optionality. Those exercise nodes trace out the early-exercise boundary.</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numbers on it. The American put is worth 4.91 against 4.59 for its European twin: the 0.32 difference is the value of the right to choose when to exercise. The American call, by contrast, is worth exactly the European 10.36. Without dividends it's never optimal to exercise a call early — you'd give up the time value and pay the strike sooner than necessary — so the max never bites. Put-call parity, which holds for European options regardless of model, confirms the European numbers. On the right, the same code with a realistic 1000-step calibrated tree: the early-exercise premium is about 0.52. There's no closed formula for that 6.09; the lattice is the industry's classic tool for it.</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connect the toy tree to the real world, we choose u, d and q so that each step matches the continuous model over the same time interval. Volatility sets the size of the moves: u equals e to the sigma root delta t, so the variance of the log-return per step is sigma squared delta t — exactly as in geometric Brownian motion. Choosing d as one over u makes the tree symmetric in log space, so up-down returns to S-zero. And q is the same formula we derived from replication, now with R equals e to the r delta t. By construction the expected stock price under q grows at the risk-free rate in every step. Note the square root: moves shrink like root delta t, not delta t. That is the signature of Brownian motion, and it's what makes the next slide work.</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first half of the Black-Scholes parallel, and it's just a Taylor expansion. Start from the lattice rule: discount factor times today's value equals the q-weighted average of tomorrow's two values. Expand the two future values around today's node. Because the up and down moves are of size sigma root delta t, the first-order term in the stock move averages to r S delta t under q, and the second-order term averages to sigma squared S squared delta t — the variance — so it survives at order delta t. Higher terms vanish faster. Match both sides, divide by delta t, and take the limit: out comes the Black-Scholes PDE term for term. The time-decay term is theta, the first derivative is delta, the curvature term is gamma — the same three Greeks we read off the nodes. In numerical-analysis language, the binomial lattice is an explicit finite-difference scheme for the Black-Scholes PDE on a log-price grid.</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parallel is about the forward pass. Propagate the risk-neutral probabilities forward through a 20-step calibrated tree and plot the mass that lands on each leaf, using a log axis for the stock price. The bars are the lattice; the orange curve is the normal density that Black-Scholes assumes for the log of the terminal price, with mean log S-zero plus r minus half sigma squared times T and variance sigma squared T. Even at 20 steps they're nearly indistinguishable. That's the central limit theorem: the log-price is a sum of n independent plus-or-minus sigma root delta t steps. So the forward pass converges to the lognormal distribution, and in continuous time the forward-propagation rule becomes the Fokker-Planck equation.</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formula itself. Take the closed-form binomial sum from the two-routes slide and keep only the leaves that finish in the money — those with at least a up-moves. Split the payoff S minus K into two pieces. The K piece is K, discounted, times the q-probability of finishing in the money. The S piece can be rewritten as S-zero times a probability under a tilted weight q-prime, which is q times u over R. Each piece is a binomial tail probability, and by the central limit theorem each tail converges to a normal CDF: N of d2 and N of d1. That's Black-Scholes term for term. Check it on our toy tree: q-prime is 0.647, the tail probabilities are 0.714 and 0.648, and the result is our 10.36. N of d1 is also the continuous-time delta, the limit of the node hedge ratio.</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proof in numbers, for the example from the Black-Scholes slide: S and K at 100, five percent rate, twenty percent vol, one year. With a single step the lattice says 12.16 — crude. By ten steps it's 10.25, by a hundred 10.43, by a thousand 10.4486 against the Black-Scholes 10.4506. The convergence is roughly first order in one over n. The saw-tooth pattern between odd and even n is a well-known artefact: depending on n, the strike sits on a leaf or between two leaves, so the payoff kink is sampled differently. Practitioners smooth this out by averaging n and n plus one, or by aligning a node with the strike.</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reference card to take away. Every row is a one-to-one correspondence: time steps become dt, the up-down moves become Brownian increments, q becomes the risk-neutral measure, the forward pass becomes the lognormal density and its evolution equation, the backward pass becomes the PDE, the node hedge becomes the partial derivative, and the binomial sum becomes the formula. The last row is where the lattice is strictly more practical: early exercise is a trivial max on the tree but a free-boundary problem in continuous time with no closed-form solution.</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going around the five points. The deepest idea is the first one: we never had to agree on where the stock is going, because the option can be built from stock and cash. The second is the vocabulary: risk-neutral probabilities are a computational device, not a forecast. The third is the picture we drew over and over: arrows right to generate the tree, arrows left to value it. The fourth is why practitioners still use lattices: hedges, Greeks and early exercise come almost for free. And the fifth closes the loop: Black-Scholes is what this lattice becomes when the steps get infinitely small. Suggested exercise: implement the price function, reproduce 10.36 on the toy tree, then plot convergence yourself.</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Text"/>
          <p:cNvSpPr>
            <a:spLocks noGrp="1"/>
          </p:cNvSpPr>
          <p:nvPr>
            <p:ph type="body" idx="1"/>
          </p:nvPr>
        </p:nvSpPr>
        <p:spPr/>
        <p:txBody>
          <a:bodyPr/>
          <a:lstStyle/>
          <a:p>
            <a:r>
              <a:t>Closing perspective: Options are one class of derivatives. Their economic contribution is the ability to transfer and tailor risk. This is a qualitative conclusion, not an estimate of their causal contribution to world GDP. Benefits depend on hedging design, leverage, counterparty exposure and risk management.</a:t>
            </a:r>
          </a:p>
          <a:p>
            <a:endParaRPr/>
          </a:p>
          <a:p>
            <a:r>
              <a:t>[Sources]</a:t>
            </a:r>
          </a:p>
          <a:p>
            <a:r>
              <a:t>BIS, International finance through the lens of BIS statistics: derivatives markets, 8 December 2025. Risk redistribution, hedging and speculation in the global financial system.</a:t>
            </a:r>
          </a:p>
          <a:p>
            <a:r>
              <a:t>https://www.bis.org/publications/qr-202512/international-finance-through-lens-bis-statistics-derivatives-markets</a:t>
            </a:r>
          </a:p>
          <a:p>
            <a:r>
              <a:t>Acharya, Brenner, Engle, Lynch and Richardson, Derivatives – The Ultimate Financial Innovation. Benefits and risks of derivatives, including options.</a:t>
            </a:r>
          </a:p>
          <a:p>
            <a:r>
              <a:t>https://pages.stern.nyu.edu/~mbrenner/research/derivatives.pdf</a:t>
            </a:r>
          </a:p>
          <a:p>
            <a:r>
              <a:t>CQF, Hedging with Options: What You Need to Know. Options as protection against adverse price movements.</a:t>
            </a:r>
          </a:p>
          <a:p>
            <a:r>
              <a:t>https://www.cqf.com/blog/hedging-options-what-you-need-know</a:t>
            </a:r>
          </a:p>
          <a:p>
            <a:r>
              <a:t>Illustration: AI-generated conceptual globe and options lattice. Decorative, not market data.</a:t>
            </a:r>
          </a:p>
          <a:p>
            <a:r>
              <a:t>[/Sources]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4202E"/>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14202E"/>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
        <p:nvSpPr>
          <p:cNvPr id="4" name="TextBox 3">
            <a:extLst>
              <a:ext uri="{FF2B5EF4-FFF2-40B4-BE49-F238E27FC236}">
                <a16:creationId xmlns:a16="http://schemas.microsoft.com/office/drawing/2014/main" id="{991E1480-E649-B1A1-B69D-878729E43631}"/>
              </a:ext>
            </a:extLst>
          </p:cNvPr>
          <p:cNvSpPr txBox="1"/>
          <p:nvPr userDrawn="1"/>
        </p:nvSpPr>
        <p:spPr>
          <a:xfrm>
            <a:off x="-35919" y="6627168"/>
            <a:ext cx="2509020" cy="230832"/>
          </a:xfrm>
          <a:prstGeom prst="rect">
            <a:avLst/>
          </a:prstGeom>
          <a:noFill/>
        </p:spPr>
        <p:txBody>
          <a:bodyPr wrap="none" rtlCol="0">
            <a:spAutoFit/>
          </a:bodyPr>
          <a:lstStyle/>
          <a:p>
            <a:r>
              <a:rPr lang="en-SE" sz="900" i="1" dirty="0">
                <a:solidFill>
                  <a:schemeClr val="bg2">
                    <a:lumMod val="75000"/>
                  </a:schemeClr>
                </a:solidFill>
              </a:rPr>
              <a:t>Pricing Options On a Lattice, J. Persson 2026</a:t>
            </a:r>
          </a:p>
        </p:txBody>
      </p:sp>
      <p:sp>
        <p:nvSpPr>
          <p:cNvPr id="5" name="TextBox 4">
            <a:extLst>
              <a:ext uri="{FF2B5EF4-FFF2-40B4-BE49-F238E27FC236}">
                <a16:creationId xmlns:a16="http://schemas.microsoft.com/office/drawing/2014/main" id="{BD818C44-9F4A-4627-F63F-6DA153917D9C}"/>
              </a:ext>
            </a:extLst>
          </p:cNvPr>
          <p:cNvSpPr txBox="1"/>
          <p:nvPr userDrawn="1"/>
        </p:nvSpPr>
        <p:spPr>
          <a:xfrm>
            <a:off x="11140335" y="6580657"/>
            <a:ext cx="1040090" cy="276999"/>
          </a:xfrm>
          <a:prstGeom prst="rect">
            <a:avLst/>
          </a:prstGeom>
          <a:solidFill>
            <a:schemeClr val="accent3"/>
          </a:solidFill>
        </p:spPr>
        <p:txBody>
          <a:bodyPr wrap="square" rtlCol="0">
            <a:spAutoFit/>
          </a:bodyPr>
          <a:lstStyle/>
          <a:p>
            <a:fld id="{BC299B60-641E-9843-9630-D85BBA505A46}" type="slidenum">
              <a:rPr lang="en-SE" sz="1200" b="1" i="1" smtClean="0">
                <a:solidFill>
                  <a:schemeClr val="bg1"/>
                </a:solidFill>
              </a:rPr>
              <a:t>‹#›</a:t>
            </a:fld>
            <a:endParaRPr lang="en-SE" sz="1200" b="1" i="1" dirty="0">
              <a:solidFill>
                <a:schemeClr val="bg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4202E"/>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14202E"/>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E"/>
        </a:solidFill>
        <a:effectLst/>
      </p:bgPr>
    </p:bg>
    <p:spTree>
      <p:nvGrpSpPr>
        <p:cNvPr id="1" name=""/>
        <p:cNvGrpSpPr/>
        <p:nvPr/>
      </p:nvGrpSpPr>
      <p:grpSpPr>
        <a:xfrm>
          <a:off x="0" y="0"/>
          <a:ext cx="0" cy="0"/>
          <a:chOff x="0" y="0"/>
          <a:chExt cx="0" cy="0"/>
        </a:xfrm>
      </p:grpSpPr>
      <p:pic>
        <p:nvPicPr>
          <p:cNvPr id="2" name="Image 0" descr="A faint recombining binomial lattice fanning out to the right"/>
          <p:cNvPicPr>
            <a:picLocks noChangeAspect="1"/>
          </p:cNvPicPr>
          <p:nvPr/>
        </p:nvPicPr>
        <p:blipFill>
          <a:blip r:embed="rId3">
            <a:alphaModFix amt="55000"/>
          </a:blip>
          <a:srcRect/>
          <a:stretch/>
        </p:blipFill>
        <p:spPr>
          <a:xfrm>
            <a:off x="5664200" y="812800"/>
            <a:ext cx="5715000" cy="5232400"/>
          </a:xfrm>
          <a:prstGeom prst="rect">
            <a:avLst/>
          </a:prstGeom>
        </p:spPr>
      </p:pic>
      <p:sp>
        <p:nvSpPr>
          <p:cNvPr id="3" name="Text 0"/>
          <p:cNvSpPr/>
          <p:nvPr/>
        </p:nvSpPr>
        <p:spPr>
          <a:xfrm>
            <a:off x="812800" y="1455821"/>
            <a:ext cx="10883392" cy="853049"/>
          </a:xfrm>
          <a:prstGeom prst="rect">
            <a:avLst/>
          </a:prstGeom>
          <a:noFill/>
          <a:ln/>
        </p:spPr>
        <p:txBody>
          <a:bodyPr wrap="square" lIns="0" tIns="0" rIns="0" bIns="0" rtlCol="0" anchor="ctr">
            <a:normAutofit/>
          </a:bodyPr>
          <a:lstStyle/>
          <a:p>
            <a:pPr marL="0" indent="0" algn="l">
              <a:lnSpc>
                <a:spcPts val="1680"/>
              </a:lnSpc>
              <a:buNone/>
            </a:pPr>
            <a:r>
              <a:rPr lang="en-US" sz="2400" b="1" kern="0" spc="200" dirty="0">
                <a:solidFill>
                  <a:srgbClr val="E3A33B"/>
                </a:solidFill>
                <a:latin typeface="IBM Plex Sans" pitchFamily="34" charset="0"/>
                <a:ea typeface="IBM Plex Sans" pitchFamily="34" charset="-122"/>
                <a:cs typeface="IBM Plex Sans" pitchFamily="34" charset="-120"/>
              </a:rPr>
              <a:t>OPTIONS FOUNDATIONS · LATTICE METHODS</a:t>
            </a:r>
            <a:endParaRPr lang="en-US" sz="2400" dirty="0"/>
          </a:p>
        </p:txBody>
      </p:sp>
      <p:sp>
        <p:nvSpPr>
          <p:cNvPr id="4" name="Text 1"/>
          <p:cNvSpPr>
            <a:spLocks noGrp="1"/>
          </p:cNvSpPr>
          <p:nvPr>
            <p:ph type="title"/>
          </p:nvPr>
        </p:nvSpPr>
        <p:spPr>
          <a:xfrm>
            <a:off x="812800" y="2308870"/>
            <a:ext cx="6278880" cy="1518841"/>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C"/>
                </a:solidFill>
                <a:latin typeface="Source Serif 4" pitchFamily="18" charset="0"/>
                <a:ea typeface="Source Serif 4" pitchFamily="18" charset="-122"/>
                <a:cs typeface="Source Serif 4" pitchFamily="18" charset="-120"/>
              </a:rPr>
              <a:t>Pricing options on a lattice</a:t>
            </a:r>
            <a:endParaRPr lang="en-US" sz="5600" dirty="0"/>
          </a:p>
        </p:txBody>
      </p:sp>
      <p:sp>
        <p:nvSpPr>
          <p:cNvPr id="5" name="Text 2"/>
          <p:cNvSpPr/>
          <p:nvPr/>
        </p:nvSpPr>
        <p:spPr>
          <a:xfrm>
            <a:off x="812800" y="4056311"/>
            <a:ext cx="5624830" cy="98549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FCAD6"/>
                </a:solidFill>
                <a:latin typeface="IBM Plex Sans" pitchFamily="34" charset="0"/>
                <a:ea typeface="IBM Plex Sans" pitchFamily="34" charset="-122"/>
                <a:cs typeface="IBM Plex Sans" pitchFamily="34" charset="-120"/>
              </a:rPr>
              <a:t>An intuitive walk from “what is this contract worth?” to the binomial tree — and why that tree is Black-Scholes in discrete form</a:t>
            </a:r>
            <a:endParaRPr lang="en-US" sz="1800" dirty="0"/>
          </a:p>
        </p:txBody>
      </p:sp>
      <p:sp>
        <p:nvSpPr>
          <p:cNvPr id="6" name="Text 0">
            <a:extLst>
              <a:ext uri="{FF2B5EF4-FFF2-40B4-BE49-F238E27FC236}">
                <a16:creationId xmlns:a16="http://schemas.microsoft.com/office/drawing/2014/main" id="{B18B714D-DFB0-13B0-C631-C9DA758140D1}"/>
              </a:ext>
            </a:extLst>
          </p:cNvPr>
          <p:cNvSpPr/>
          <p:nvPr/>
        </p:nvSpPr>
        <p:spPr>
          <a:xfrm>
            <a:off x="955773" y="5736391"/>
            <a:ext cx="5454454" cy="238720"/>
          </a:xfrm>
          <a:prstGeom prst="rect">
            <a:avLst/>
          </a:prstGeom>
          <a:noFill/>
          <a:ln/>
        </p:spPr>
        <p:txBody>
          <a:bodyPr wrap="square" lIns="0" tIns="0" rIns="0" bIns="0" rtlCol="0" anchor="t">
            <a:normAutofit/>
          </a:bodyPr>
          <a:lstStyle/>
          <a:p>
            <a:pPr marL="0" indent="0" algn="l">
              <a:lnSpc>
                <a:spcPts val="1680"/>
              </a:lnSpc>
              <a:buNone/>
            </a:pPr>
            <a:r>
              <a:rPr lang="en-US" sz="2000" kern="0" spc="200" dirty="0">
                <a:solidFill>
                  <a:schemeClr val="bg1"/>
                </a:solidFill>
                <a:latin typeface="IBM Plex Sans" pitchFamily="34" charset="0"/>
                <a:ea typeface="IBM Plex Sans" pitchFamily="34" charset="-122"/>
                <a:cs typeface="IBM Plex Sans" pitchFamily="34" charset="-120"/>
              </a:rPr>
              <a:t>J. Persson 2026</a:t>
            </a:r>
            <a:endParaRPr lang="en-US"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ROADMAP</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Six stops on the way to a price</a:t>
            </a:r>
            <a:endParaRPr lang="en-US" sz="3000" dirty="0"/>
          </a:p>
        </p:txBody>
      </p:sp>
      <p:sp>
        <p:nvSpPr>
          <p:cNvPr id="4" name="Shape 2"/>
          <p:cNvSpPr/>
          <p:nvPr/>
        </p:nvSpPr>
        <p:spPr>
          <a:xfrm>
            <a:off x="812800" y="1492250"/>
            <a:ext cx="10566400" cy="0"/>
          </a:xfrm>
          <a:prstGeom prst="line">
            <a:avLst/>
          </a:prstGeom>
          <a:noFill/>
          <a:ln w="12700">
            <a:solidFill>
              <a:srgbClr val="DDD7C6"/>
            </a:solidFill>
            <a:prstDash val="solid"/>
          </a:ln>
        </p:spPr>
        <p:txBody>
          <a:bodyPr/>
          <a:lstStyle/>
          <a:p>
            <a:endParaRPr lang="en-SE"/>
          </a:p>
        </p:txBody>
      </p:sp>
      <p:sp>
        <p:nvSpPr>
          <p:cNvPr id="5" name="Text 3"/>
          <p:cNvSpPr/>
          <p:nvPr/>
        </p:nvSpPr>
        <p:spPr>
          <a:xfrm>
            <a:off x="812800" y="1628130"/>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65C8"/>
                </a:solidFill>
                <a:latin typeface="JetBrains Mono" pitchFamily="49" charset="0"/>
                <a:ea typeface="JetBrains Mono" pitchFamily="49" charset="-122"/>
                <a:cs typeface="JetBrains Mono" pitchFamily="49" charset="-120"/>
              </a:rPr>
              <a:t>00</a:t>
            </a:r>
            <a:endParaRPr lang="en-US" sz="2200" dirty="0"/>
          </a:p>
        </p:txBody>
      </p:sp>
      <p:sp>
        <p:nvSpPr>
          <p:cNvPr id="6" name="Text 4"/>
          <p:cNvSpPr/>
          <p:nvPr/>
        </p:nvSpPr>
        <p:spPr>
          <a:xfrm>
            <a:off x="1638300" y="1663650"/>
            <a:ext cx="3401060"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4202E"/>
                </a:solidFill>
                <a:latin typeface="IBM Plex Sans" pitchFamily="34" charset="0"/>
                <a:ea typeface="IBM Plex Sans" pitchFamily="34" charset="-122"/>
                <a:cs typeface="IBM Plex Sans" pitchFamily="34" charset="-120"/>
              </a:rPr>
              <a:t>Options 101</a:t>
            </a:r>
            <a:endParaRPr lang="en-US" sz="1800" dirty="0"/>
          </a:p>
        </p:txBody>
      </p:sp>
      <p:sp>
        <p:nvSpPr>
          <p:cNvPr id="7" name="Text 5"/>
          <p:cNvSpPr/>
          <p:nvPr/>
        </p:nvSpPr>
        <p:spPr>
          <a:xfrm>
            <a:off x="5194300" y="1574800"/>
            <a:ext cx="637044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E"/>
                </a:solidFill>
                <a:latin typeface="IBM Plex Sans" pitchFamily="34" charset="0"/>
                <a:ea typeface="IBM Plex Sans" pitchFamily="34" charset="-122"/>
                <a:cs typeface="IBM Plex Sans" pitchFamily="34" charset="-120"/>
              </a:rPr>
              <a:t>What an option is, what it is written on, why people use it — and how it has made and lost fortunes</a:t>
            </a:r>
            <a:endParaRPr lang="en-US" sz="1400" dirty="0"/>
          </a:p>
        </p:txBody>
      </p:sp>
      <p:sp>
        <p:nvSpPr>
          <p:cNvPr id="8" name="Shape 6"/>
          <p:cNvSpPr/>
          <p:nvPr/>
        </p:nvSpPr>
        <p:spPr>
          <a:xfrm>
            <a:off x="812800" y="2155130"/>
            <a:ext cx="10566400" cy="0"/>
          </a:xfrm>
          <a:prstGeom prst="line">
            <a:avLst/>
          </a:prstGeom>
          <a:noFill/>
          <a:ln w="12700">
            <a:solidFill>
              <a:srgbClr val="DDD7C6"/>
            </a:solidFill>
            <a:prstDash val="solid"/>
          </a:ln>
        </p:spPr>
        <p:txBody>
          <a:bodyPr/>
          <a:lstStyle/>
          <a:p>
            <a:endParaRPr lang="en-SE"/>
          </a:p>
        </p:txBody>
      </p:sp>
      <p:sp>
        <p:nvSpPr>
          <p:cNvPr id="9" name="Text 7"/>
          <p:cNvSpPr/>
          <p:nvPr/>
        </p:nvSpPr>
        <p:spPr>
          <a:xfrm>
            <a:off x="812800" y="2291011"/>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65C8"/>
                </a:solidFill>
                <a:latin typeface="JetBrains Mono" pitchFamily="49" charset="0"/>
                <a:ea typeface="JetBrains Mono" pitchFamily="49" charset="-122"/>
                <a:cs typeface="JetBrains Mono" pitchFamily="49" charset="-120"/>
              </a:rPr>
              <a:t>01</a:t>
            </a:r>
            <a:endParaRPr lang="en-US" sz="2200" dirty="0"/>
          </a:p>
        </p:txBody>
      </p:sp>
      <p:sp>
        <p:nvSpPr>
          <p:cNvPr id="10" name="Text 8"/>
          <p:cNvSpPr/>
          <p:nvPr/>
        </p:nvSpPr>
        <p:spPr>
          <a:xfrm>
            <a:off x="1638300" y="2326531"/>
            <a:ext cx="3401060"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4202E"/>
                </a:solidFill>
                <a:latin typeface="IBM Plex Sans" pitchFamily="34" charset="0"/>
                <a:ea typeface="IBM Plex Sans" pitchFamily="34" charset="-122"/>
                <a:cs typeface="IBM Plex Sans" pitchFamily="34" charset="-120"/>
              </a:rPr>
              <a:t>The pricing problem</a:t>
            </a:r>
            <a:endParaRPr lang="en-US" sz="1800" dirty="0"/>
          </a:p>
        </p:txBody>
      </p:sp>
      <p:sp>
        <p:nvSpPr>
          <p:cNvPr id="11" name="Text 9"/>
          <p:cNvSpPr/>
          <p:nvPr/>
        </p:nvSpPr>
        <p:spPr>
          <a:xfrm>
            <a:off x="5194300" y="2237680"/>
            <a:ext cx="637044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E"/>
                </a:solidFill>
                <a:latin typeface="IBM Plex Sans" pitchFamily="34" charset="0"/>
                <a:ea typeface="IBM Plex Sans" pitchFamily="34" charset="-122"/>
                <a:cs typeface="IBM Plex Sans" pitchFamily="34" charset="-120"/>
              </a:rPr>
              <a:t>Payoffs, time value of money, why “expected payoff” fails, and the Black-Scholes answer</a:t>
            </a:r>
            <a:endParaRPr lang="en-US" sz="1400" dirty="0"/>
          </a:p>
        </p:txBody>
      </p:sp>
      <p:sp>
        <p:nvSpPr>
          <p:cNvPr id="12" name="Shape 10"/>
          <p:cNvSpPr/>
          <p:nvPr/>
        </p:nvSpPr>
        <p:spPr>
          <a:xfrm>
            <a:off x="812800" y="2818011"/>
            <a:ext cx="10566400" cy="0"/>
          </a:xfrm>
          <a:prstGeom prst="line">
            <a:avLst/>
          </a:prstGeom>
          <a:noFill/>
          <a:ln w="12700">
            <a:solidFill>
              <a:srgbClr val="DDD7C6"/>
            </a:solidFill>
            <a:prstDash val="solid"/>
          </a:ln>
        </p:spPr>
        <p:txBody>
          <a:bodyPr/>
          <a:lstStyle/>
          <a:p>
            <a:endParaRPr lang="en-SE"/>
          </a:p>
        </p:txBody>
      </p:sp>
      <p:sp>
        <p:nvSpPr>
          <p:cNvPr id="13" name="Text 11"/>
          <p:cNvSpPr/>
          <p:nvPr/>
        </p:nvSpPr>
        <p:spPr>
          <a:xfrm>
            <a:off x="812800" y="2900561"/>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65C8"/>
                </a:solidFill>
                <a:latin typeface="JetBrains Mono" pitchFamily="49" charset="0"/>
                <a:ea typeface="JetBrains Mono" pitchFamily="49" charset="-122"/>
                <a:cs typeface="JetBrains Mono" pitchFamily="49" charset="-120"/>
              </a:rPr>
              <a:t>02</a:t>
            </a:r>
            <a:endParaRPr lang="en-US" sz="2200" dirty="0"/>
          </a:p>
        </p:txBody>
      </p:sp>
      <p:sp>
        <p:nvSpPr>
          <p:cNvPr id="14" name="Text 12"/>
          <p:cNvSpPr/>
          <p:nvPr/>
        </p:nvSpPr>
        <p:spPr>
          <a:xfrm>
            <a:off x="1638300" y="2936081"/>
            <a:ext cx="3401060"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4202E"/>
                </a:solidFill>
                <a:latin typeface="IBM Plex Sans" pitchFamily="34" charset="0"/>
                <a:ea typeface="IBM Plex Sans" pitchFamily="34" charset="-122"/>
                <a:cs typeface="IBM Plex Sans" pitchFamily="34" charset="-120"/>
              </a:rPr>
              <a:t>One step</a:t>
            </a:r>
            <a:endParaRPr lang="en-US" sz="1800" dirty="0"/>
          </a:p>
        </p:txBody>
      </p:sp>
      <p:sp>
        <p:nvSpPr>
          <p:cNvPr id="15" name="Text 13"/>
          <p:cNvSpPr/>
          <p:nvPr/>
        </p:nvSpPr>
        <p:spPr>
          <a:xfrm>
            <a:off x="5194300" y="2971651"/>
            <a:ext cx="637044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E"/>
                </a:solidFill>
                <a:latin typeface="IBM Plex Sans" pitchFamily="34" charset="0"/>
                <a:ea typeface="IBM Plex Sans" pitchFamily="34" charset="-122"/>
                <a:cs typeface="IBM Plex Sans" pitchFamily="34" charset="-120"/>
              </a:rPr>
              <a:t>Up with probability p, down with 1 − p — and why p drops out of the price</a:t>
            </a:r>
            <a:endParaRPr lang="en-US" sz="1400" dirty="0"/>
          </a:p>
        </p:txBody>
      </p:sp>
      <p:sp>
        <p:nvSpPr>
          <p:cNvPr id="16" name="Shape 14"/>
          <p:cNvSpPr/>
          <p:nvPr/>
        </p:nvSpPr>
        <p:spPr>
          <a:xfrm>
            <a:off x="812800" y="3374231"/>
            <a:ext cx="10566400" cy="0"/>
          </a:xfrm>
          <a:prstGeom prst="line">
            <a:avLst/>
          </a:prstGeom>
          <a:noFill/>
          <a:ln w="12700">
            <a:solidFill>
              <a:srgbClr val="DDD7C6"/>
            </a:solidFill>
            <a:prstDash val="solid"/>
          </a:ln>
        </p:spPr>
        <p:txBody>
          <a:bodyPr/>
          <a:lstStyle/>
          <a:p>
            <a:endParaRPr lang="en-SE"/>
          </a:p>
        </p:txBody>
      </p:sp>
      <p:sp>
        <p:nvSpPr>
          <p:cNvPr id="17" name="Text 15"/>
          <p:cNvSpPr/>
          <p:nvPr/>
        </p:nvSpPr>
        <p:spPr>
          <a:xfrm>
            <a:off x="812800" y="3456781"/>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65C8"/>
                </a:solidFill>
                <a:latin typeface="JetBrains Mono" pitchFamily="49" charset="0"/>
                <a:ea typeface="JetBrains Mono" pitchFamily="49" charset="-122"/>
                <a:cs typeface="JetBrains Mono" pitchFamily="49" charset="-120"/>
              </a:rPr>
              <a:t>03</a:t>
            </a:r>
            <a:endParaRPr lang="en-US" sz="2200" dirty="0"/>
          </a:p>
        </p:txBody>
      </p:sp>
      <p:sp>
        <p:nvSpPr>
          <p:cNvPr id="18" name="Text 16"/>
          <p:cNvSpPr/>
          <p:nvPr/>
        </p:nvSpPr>
        <p:spPr>
          <a:xfrm>
            <a:off x="1638300" y="3492302"/>
            <a:ext cx="3401060"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4202E"/>
                </a:solidFill>
                <a:latin typeface="IBM Plex Sans" pitchFamily="34" charset="0"/>
                <a:ea typeface="IBM Plex Sans" pitchFamily="34" charset="-122"/>
                <a:cs typeface="IBM Plex Sans" pitchFamily="34" charset="-120"/>
              </a:rPr>
              <a:t>The lattice</a:t>
            </a:r>
            <a:endParaRPr lang="en-US" sz="1800" dirty="0"/>
          </a:p>
        </p:txBody>
      </p:sp>
      <p:sp>
        <p:nvSpPr>
          <p:cNvPr id="19" name="Text 17"/>
          <p:cNvSpPr/>
          <p:nvPr/>
        </p:nvSpPr>
        <p:spPr>
          <a:xfrm>
            <a:off x="5194300" y="3527871"/>
            <a:ext cx="637044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E"/>
                </a:solidFill>
                <a:latin typeface="IBM Plex Sans" pitchFamily="34" charset="0"/>
                <a:ea typeface="IBM Plex Sans" pitchFamily="34" charset="-122"/>
                <a:cs typeface="IBM Plex Sans" pitchFamily="34" charset="-120"/>
              </a:rPr>
              <a:t>Forward propagation of prices and probabilities; backward induction of values</a:t>
            </a:r>
            <a:endParaRPr lang="en-US" sz="1400" dirty="0"/>
          </a:p>
        </p:txBody>
      </p:sp>
      <p:sp>
        <p:nvSpPr>
          <p:cNvPr id="20" name="Shape 18"/>
          <p:cNvSpPr/>
          <p:nvPr/>
        </p:nvSpPr>
        <p:spPr>
          <a:xfrm>
            <a:off x="812800" y="3930452"/>
            <a:ext cx="10566400" cy="0"/>
          </a:xfrm>
          <a:prstGeom prst="line">
            <a:avLst/>
          </a:prstGeom>
          <a:noFill/>
          <a:ln w="12700">
            <a:solidFill>
              <a:srgbClr val="DDD7C6"/>
            </a:solidFill>
            <a:prstDash val="solid"/>
          </a:ln>
        </p:spPr>
        <p:txBody>
          <a:bodyPr/>
          <a:lstStyle/>
          <a:p>
            <a:endParaRPr lang="en-SE"/>
          </a:p>
        </p:txBody>
      </p:sp>
      <p:sp>
        <p:nvSpPr>
          <p:cNvPr id="21" name="Text 19"/>
          <p:cNvSpPr/>
          <p:nvPr/>
        </p:nvSpPr>
        <p:spPr>
          <a:xfrm>
            <a:off x="812800" y="4013002"/>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65C8"/>
                </a:solidFill>
                <a:latin typeface="JetBrains Mono" pitchFamily="49" charset="0"/>
                <a:ea typeface="JetBrains Mono" pitchFamily="49" charset="-122"/>
                <a:cs typeface="JetBrains Mono" pitchFamily="49" charset="-120"/>
              </a:rPr>
              <a:t>04</a:t>
            </a:r>
            <a:endParaRPr lang="en-US" sz="2200" dirty="0"/>
          </a:p>
        </p:txBody>
      </p:sp>
      <p:sp>
        <p:nvSpPr>
          <p:cNvPr id="22" name="Text 20"/>
          <p:cNvSpPr/>
          <p:nvPr/>
        </p:nvSpPr>
        <p:spPr>
          <a:xfrm>
            <a:off x="1638300" y="4048522"/>
            <a:ext cx="3401060"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4202E"/>
                </a:solidFill>
                <a:latin typeface="IBM Plex Sans" pitchFamily="34" charset="0"/>
                <a:ea typeface="IBM Plex Sans" pitchFamily="34" charset="-122"/>
                <a:cs typeface="IBM Plex Sans" pitchFamily="34" charset="-120"/>
              </a:rPr>
              <a:t>Using the lattice</a:t>
            </a:r>
            <a:endParaRPr lang="en-US" sz="1800" dirty="0"/>
          </a:p>
        </p:txBody>
      </p:sp>
      <p:sp>
        <p:nvSpPr>
          <p:cNvPr id="23" name="Text 21"/>
          <p:cNvSpPr/>
          <p:nvPr/>
        </p:nvSpPr>
        <p:spPr>
          <a:xfrm>
            <a:off x="5194300" y="4084092"/>
            <a:ext cx="637044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E"/>
                </a:solidFill>
                <a:latin typeface="IBM Plex Sans" pitchFamily="34" charset="0"/>
                <a:ea typeface="IBM Plex Sans" pitchFamily="34" charset="-122"/>
                <a:cs typeface="IBM Plex Sans" pitchFamily="34" charset="-120"/>
              </a:rPr>
              <a:t>Hedging node by node, Greeks for free, American early exercise</a:t>
            </a:r>
            <a:endParaRPr lang="en-US" sz="1400" dirty="0"/>
          </a:p>
        </p:txBody>
      </p:sp>
      <p:sp>
        <p:nvSpPr>
          <p:cNvPr id="24" name="Shape 22"/>
          <p:cNvSpPr/>
          <p:nvPr/>
        </p:nvSpPr>
        <p:spPr>
          <a:xfrm>
            <a:off x="812800" y="4486672"/>
            <a:ext cx="10566400" cy="0"/>
          </a:xfrm>
          <a:prstGeom prst="line">
            <a:avLst/>
          </a:prstGeom>
          <a:noFill/>
          <a:ln w="12700">
            <a:solidFill>
              <a:srgbClr val="DDD7C6"/>
            </a:solidFill>
            <a:prstDash val="solid"/>
          </a:ln>
        </p:spPr>
        <p:txBody>
          <a:bodyPr/>
          <a:lstStyle/>
          <a:p>
            <a:endParaRPr lang="en-SE"/>
          </a:p>
        </p:txBody>
      </p:sp>
      <p:sp>
        <p:nvSpPr>
          <p:cNvPr id="25" name="Shape 23"/>
          <p:cNvSpPr/>
          <p:nvPr/>
        </p:nvSpPr>
        <p:spPr>
          <a:xfrm>
            <a:off x="812800" y="5042892"/>
            <a:ext cx="10566400" cy="0"/>
          </a:xfrm>
          <a:prstGeom prst="line">
            <a:avLst/>
          </a:prstGeom>
          <a:noFill/>
          <a:ln w="12700">
            <a:solidFill>
              <a:srgbClr val="DDD7C6"/>
            </a:solidFill>
            <a:prstDash val="solid"/>
          </a:ln>
        </p:spPr>
        <p:txBody>
          <a:bodyPr/>
          <a:lstStyle/>
          <a:p>
            <a:endParaRPr lang="en-SE"/>
          </a:p>
        </p:txBody>
      </p:sp>
      <p:sp>
        <p:nvSpPr>
          <p:cNvPr id="26" name="Text 24"/>
          <p:cNvSpPr/>
          <p:nvPr/>
        </p:nvSpPr>
        <p:spPr>
          <a:xfrm>
            <a:off x="812800" y="4569222"/>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65C8"/>
                </a:solidFill>
                <a:latin typeface="JetBrains Mono" pitchFamily="49" charset="0"/>
                <a:ea typeface="JetBrains Mono" pitchFamily="49" charset="-122"/>
                <a:cs typeface="JetBrains Mono" pitchFamily="49" charset="-120"/>
              </a:rPr>
              <a:t>05</a:t>
            </a:r>
            <a:endParaRPr lang="en-US" sz="2200" dirty="0"/>
          </a:p>
        </p:txBody>
      </p:sp>
      <p:sp>
        <p:nvSpPr>
          <p:cNvPr id="27" name="Text 25"/>
          <p:cNvSpPr/>
          <p:nvPr/>
        </p:nvSpPr>
        <p:spPr>
          <a:xfrm>
            <a:off x="1638300" y="4604742"/>
            <a:ext cx="3401060"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4202E"/>
                </a:solidFill>
                <a:latin typeface="IBM Plex Sans" pitchFamily="34" charset="0"/>
                <a:ea typeface="IBM Plex Sans" pitchFamily="34" charset="-122"/>
                <a:cs typeface="IBM Plex Sans" pitchFamily="34" charset="-120"/>
              </a:rPr>
              <a:t>Back to Black-Scholes</a:t>
            </a:r>
            <a:endParaRPr lang="en-US" sz="1800" dirty="0"/>
          </a:p>
        </p:txBody>
      </p:sp>
      <p:sp>
        <p:nvSpPr>
          <p:cNvPr id="28" name="Text 26"/>
          <p:cNvSpPr/>
          <p:nvPr/>
        </p:nvSpPr>
        <p:spPr>
          <a:xfrm>
            <a:off x="5194300" y="4640312"/>
            <a:ext cx="637044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E"/>
                </a:solidFill>
                <a:latin typeface="IBM Plex Sans" pitchFamily="34" charset="0"/>
                <a:ea typeface="IBM Plex Sans" pitchFamily="34" charset="-122"/>
                <a:cs typeface="IBM Plex Sans" pitchFamily="34" charset="-120"/>
              </a:rPr>
              <a:t>The backward step is a discretised PDE; the tree converges to the formula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00 · OPTIONS 101</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Why should </a:t>
            </a:r>
            <a:r>
              <a:rPr lang="en-US" b="1" dirty="0">
                <a:latin typeface="Source Serif 4" pitchFamily="18" charset="0"/>
                <a:ea typeface="Source Serif 4" pitchFamily="18" charset="-122"/>
                <a:cs typeface="Source Serif 4" pitchFamily="18" charset="-120"/>
              </a:rPr>
              <a:t>you </a:t>
            </a:r>
            <a:r>
              <a:rPr lang="en-US" sz="3000" b="1" i="0" dirty="0">
                <a:solidFill>
                  <a:srgbClr val="14202E"/>
                </a:solidFill>
                <a:latin typeface="Source Serif 4" pitchFamily="18" charset="0"/>
                <a:ea typeface="Source Serif 4" pitchFamily="18" charset="-122"/>
                <a:cs typeface="Source Serif 4" pitchFamily="18" charset="-120"/>
              </a:rPr>
              <a:t>care about options?</a:t>
            </a:r>
            <a:endParaRPr lang="en-US" sz="3000" dirty="0"/>
          </a:p>
        </p:txBody>
      </p:sp>
      <p:sp>
        <p:nvSpPr>
          <p:cNvPr id="4" name="Shape 2"/>
          <p:cNvSpPr/>
          <p:nvPr/>
        </p:nvSpPr>
        <p:spPr>
          <a:xfrm>
            <a:off x="815975" y="1514475"/>
            <a:ext cx="3384550" cy="2204541"/>
          </a:xfrm>
          <a:prstGeom prst="roundRect">
            <a:avLst>
              <a:gd name="adj" fmla="val 4465"/>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5" name="Image 0" descr="Users"/>
          <p:cNvPicPr>
            <a:picLocks noChangeAspect="1"/>
          </p:cNvPicPr>
          <p:nvPr/>
        </p:nvPicPr>
        <p:blipFill>
          <a:blip r:embed="rId3"/>
          <a:srcRect/>
          <a:stretch/>
        </p:blipFill>
        <p:spPr>
          <a:xfrm>
            <a:off x="1047750" y="1746250"/>
            <a:ext cx="355600" cy="355600"/>
          </a:xfrm>
          <a:prstGeom prst="rect">
            <a:avLst/>
          </a:prstGeom>
        </p:spPr>
      </p:pic>
      <p:sp>
        <p:nvSpPr>
          <p:cNvPr id="6" name="Text 3"/>
          <p:cNvSpPr/>
          <p:nvPr/>
        </p:nvSpPr>
        <p:spPr>
          <a:xfrm>
            <a:off x="1047750" y="2203450"/>
            <a:ext cx="3008630" cy="299690"/>
          </a:xfrm>
          <a:prstGeom prst="rect">
            <a:avLst/>
          </a:prstGeom>
          <a:noFill/>
          <a:ln/>
        </p:spPr>
        <p:txBody>
          <a:bodyPr wrap="square" lIns="0" tIns="0" rIns="0" bIns="0" rtlCol="0" anchor="t">
            <a:normAutofit/>
          </a:bodyPr>
          <a:lstStyle/>
          <a:p>
            <a:pPr marL="0" indent="0" algn="l">
              <a:lnSpc>
                <a:spcPts val="2160"/>
              </a:lnSpc>
              <a:buNone/>
            </a:pPr>
            <a:r>
              <a:rPr lang="en-US" sz="2000" b="1" dirty="0">
                <a:solidFill>
                  <a:srgbClr val="14202E"/>
                </a:solidFill>
                <a:latin typeface="IBM Plex Sans" pitchFamily="34" charset="0"/>
                <a:ea typeface="IBM Plex Sans" pitchFamily="34" charset="-122"/>
                <a:cs typeface="IBM Plex Sans" pitchFamily="34" charset="-120"/>
              </a:rPr>
              <a:t>In your pay slip</a:t>
            </a:r>
            <a:endParaRPr lang="en-US" sz="2000" dirty="0"/>
          </a:p>
        </p:txBody>
      </p:sp>
      <p:sp>
        <p:nvSpPr>
          <p:cNvPr id="7" name="Text 4"/>
          <p:cNvSpPr/>
          <p:nvPr/>
        </p:nvSpPr>
        <p:spPr>
          <a:xfrm>
            <a:off x="1047750" y="2579340"/>
            <a:ext cx="3008630" cy="798711"/>
          </a:xfrm>
          <a:prstGeom prst="rect">
            <a:avLst/>
          </a:prstGeom>
          <a:noFill/>
          <a:ln/>
        </p:spPr>
        <p:txBody>
          <a:bodyPr wrap="square" lIns="0" tIns="0" rIns="0" bIns="0" rtlCol="0" anchor="t">
            <a:noAutofit/>
          </a:bodyPr>
          <a:lstStyle/>
          <a:p>
            <a:pPr marL="0" indent="0" algn="l">
              <a:lnSpc>
                <a:spcPts val="2030"/>
              </a:lnSpc>
              <a:buNone/>
            </a:pPr>
            <a:r>
              <a:rPr lang="en-US" sz="1600" dirty="0">
                <a:solidFill>
                  <a:srgbClr val="44505E"/>
                </a:solidFill>
                <a:latin typeface="IBM Plex Sans" pitchFamily="34" charset="0"/>
                <a:ea typeface="IBM Plex Sans" pitchFamily="34" charset="-122"/>
                <a:cs typeface="IBM Plex Sans" pitchFamily="34" charset="-120"/>
              </a:rPr>
              <a:t>Employee stock options are call options on your employer’s shares: the right to buy at a fixed price, later.</a:t>
            </a:r>
            <a:endParaRPr lang="en-US" sz="1600" dirty="0"/>
          </a:p>
        </p:txBody>
      </p:sp>
      <p:sp>
        <p:nvSpPr>
          <p:cNvPr id="8" name="Shape 5"/>
          <p:cNvSpPr/>
          <p:nvPr/>
        </p:nvSpPr>
        <p:spPr>
          <a:xfrm>
            <a:off x="4406900" y="1511300"/>
            <a:ext cx="3378200" cy="2210891"/>
          </a:xfrm>
          <a:prstGeom prst="roundRect">
            <a:avLst>
              <a:gd name="adj" fmla="val 4595"/>
            </a:avLst>
          </a:prstGeom>
          <a:solidFill>
            <a:srgbClr val="14202E"/>
          </a:solidFill>
          <a:ln/>
          <a:effectLst>
            <a:outerShdw blurRad="50800" dist="38100" dir="2700000" algn="tl" rotWithShape="0">
              <a:prstClr val="black">
                <a:alpha val="40000"/>
              </a:prstClr>
            </a:outerShdw>
          </a:effectLst>
        </p:spPr>
        <p:txBody>
          <a:bodyPr/>
          <a:lstStyle/>
          <a:p>
            <a:endParaRPr lang="en-SE"/>
          </a:p>
        </p:txBody>
      </p:sp>
      <p:sp>
        <p:nvSpPr>
          <p:cNvPr id="9" name="Text 6"/>
          <p:cNvSpPr/>
          <p:nvPr/>
        </p:nvSpPr>
        <p:spPr>
          <a:xfrm>
            <a:off x="4635500" y="1739900"/>
            <a:ext cx="3008630"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E3A33B"/>
                </a:solidFill>
                <a:latin typeface="JetBrains Mono" pitchFamily="49" charset="0"/>
                <a:ea typeface="JetBrains Mono" pitchFamily="49" charset="-122"/>
                <a:cs typeface="JetBrains Mono" pitchFamily="49" charset="-120"/>
              </a:rPr>
              <a:t>15.2 bn</a:t>
            </a:r>
            <a:endParaRPr lang="en-US" sz="3600" dirty="0"/>
          </a:p>
        </p:txBody>
      </p:sp>
      <p:sp>
        <p:nvSpPr>
          <p:cNvPr id="10" name="Text 7"/>
          <p:cNvSpPr/>
          <p:nvPr/>
        </p:nvSpPr>
        <p:spPr>
          <a:xfrm>
            <a:off x="4635500" y="2344390"/>
            <a:ext cx="3008630" cy="299690"/>
          </a:xfrm>
          <a:prstGeom prst="rect">
            <a:avLst/>
          </a:prstGeom>
          <a:noFill/>
          <a:ln/>
        </p:spPr>
        <p:txBody>
          <a:bodyPr wrap="square" lIns="0" tIns="0" rIns="0" bIns="0" rtlCol="0" anchor="t">
            <a:normAutofit/>
          </a:bodyPr>
          <a:lstStyle/>
          <a:p>
            <a:pPr marL="0" indent="0" algn="l">
              <a:lnSpc>
                <a:spcPts val="2160"/>
              </a:lnSpc>
              <a:buNone/>
            </a:pPr>
            <a:r>
              <a:rPr lang="en-US" sz="2000" b="1" dirty="0">
                <a:solidFill>
                  <a:srgbClr val="F5F3EC"/>
                </a:solidFill>
                <a:latin typeface="IBM Plex Sans" pitchFamily="34" charset="0"/>
                <a:ea typeface="IBM Plex Sans" pitchFamily="34" charset="-122"/>
                <a:cs typeface="IBM Plex Sans" pitchFamily="34" charset="-120"/>
              </a:rPr>
              <a:t>In the market</a:t>
            </a:r>
            <a:endParaRPr lang="en-US" sz="2000" dirty="0"/>
          </a:p>
        </p:txBody>
      </p:sp>
      <p:sp>
        <p:nvSpPr>
          <p:cNvPr id="11" name="Text 8"/>
          <p:cNvSpPr/>
          <p:nvPr/>
        </p:nvSpPr>
        <p:spPr>
          <a:xfrm>
            <a:off x="4635500" y="2720280"/>
            <a:ext cx="3008630" cy="798711"/>
          </a:xfrm>
          <a:prstGeom prst="rect">
            <a:avLst/>
          </a:prstGeom>
          <a:noFill/>
          <a:ln/>
        </p:spPr>
        <p:txBody>
          <a:bodyPr wrap="square" lIns="0" tIns="0" rIns="0" bIns="0" rtlCol="0" anchor="t">
            <a:normAutofit/>
          </a:bodyPr>
          <a:lstStyle/>
          <a:p>
            <a:pPr marL="0" indent="0" algn="l">
              <a:lnSpc>
                <a:spcPts val="2030"/>
              </a:lnSpc>
              <a:buNone/>
            </a:pPr>
            <a:r>
              <a:rPr lang="en-US" sz="1600" dirty="0">
                <a:solidFill>
                  <a:srgbClr val="BFCAD6"/>
                </a:solidFill>
                <a:latin typeface="IBM Plex Sans" pitchFamily="34" charset="0"/>
                <a:ea typeface="IBM Plex Sans" pitchFamily="34" charset="-122"/>
                <a:cs typeface="IBM Plex Sans" pitchFamily="34" charset="-120"/>
              </a:rPr>
              <a:t>US option contracts cleared in 2025 — about 60 million a day, up 24% on 2024.</a:t>
            </a:r>
            <a:endParaRPr lang="en-US" sz="1600" dirty="0"/>
          </a:p>
        </p:txBody>
      </p:sp>
      <p:sp>
        <p:nvSpPr>
          <p:cNvPr id="12" name="Shape 9"/>
          <p:cNvSpPr/>
          <p:nvPr/>
        </p:nvSpPr>
        <p:spPr>
          <a:xfrm>
            <a:off x="7991475" y="1514475"/>
            <a:ext cx="3384550" cy="2204541"/>
          </a:xfrm>
          <a:prstGeom prst="roundRect">
            <a:avLst>
              <a:gd name="adj" fmla="val 4465"/>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13" name="Image 1" descr="Code"/>
          <p:cNvPicPr>
            <a:picLocks noChangeAspect="1"/>
          </p:cNvPicPr>
          <p:nvPr/>
        </p:nvPicPr>
        <p:blipFill>
          <a:blip r:embed="rId4"/>
          <a:srcRect/>
          <a:stretch/>
        </p:blipFill>
        <p:spPr>
          <a:xfrm>
            <a:off x="8223250" y="1746250"/>
            <a:ext cx="355600" cy="355600"/>
          </a:xfrm>
          <a:prstGeom prst="rect">
            <a:avLst/>
          </a:prstGeom>
        </p:spPr>
      </p:pic>
      <p:sp>
        <p:nvSpPr>
          <p:cNvPr id="14" name="Text 10"/>
          <p:cNvSpPr/>
          <p:nvPr/>
        </p:nvSpPr>
        <p:spPr>
          <a:xfrm>
            <a:off x="8223250" y="2203450"/>
            <a:ext cx="3008630" cy="299690"/>
          </a:xfrm>
          <a:prstGeom prst="rect">
            <a:avLst/>
          </a:prstGeom>
          <a:noFill/>
          <a:ln/>
        </p:spPr>
        <p:txBody>
          <a:bodyPr wrap="square" lIns="0" tIns="0" rIns="0" bIns="0" rtlCol="0" anchor="t">
            <a:normAutofit/>
          </a:bodyPr>
          <a:lstStyle/>
          <a:p>
            <a:pPr marL="0" indent="0" algn="l">
              <a:lnSpc>
                <a:spcPts val="2160"/>
              </a:lnSpc>
              <a:buNone/>
            </a:pPr>
            <a:r>
              <a:rPr lang="en-US" sz="2000" b="1" dirty="0">
                <a:solidFill>
                  <a:srgbClr val="14202E"/>
                </a:solidFill>
                <a:latin typeface="IBM Plex Sans" pitchFamily="34" charset="0"/>
                <a:ea typeface="IBM Plex Sans" pitchFamily="34" charset="-122"/>
                <a:cs typeface="IBM Plex Sans" pitchFamily="34" charset="-120"/>
              </a:rPr>
              <a:t>In production code</a:t>
            </a:r>
            <a:endParaRPr lang="en-US" sz="2000" dirty="0"/>
          </a:p>
        </p:txBody>
      </p:sp>
      <p:sp>
        <p:nvSpPr>
          <p:cNvPr id="15" name="Text 11"/>
          <p:cNvSpPr/>
          <p:nvPr/>
        </p:nvSpPr>
        <p:spPr>
          <a:xfrm>
            <a:off x="8223250" y="2579340"/>
            <a:ext cx="3008630" cy="1007419"/>
          </a:xfrm>
          <a:prstGeom prst="rect">
            <a:avLst/>
          </a:prstGeom>
          <a:noFill/>
          <a:ln/>
        </p:spPr>
        <p:txBody>
          <a:bodyPr wrap="square" lIns="0" tIns="0" rIns="0" bIns="0" rtlCol="0" anchor="t">
            <a:normAutofit/>
          </a:bodyPr>
          <a:lstStyle/>
          <a:p>
            <a:pPr marL="0" indent="0" algn="l">
              <a:lnSpc>
                <a:spcPts val="2030"/>
              </a:lnSpc>
              <a:buNone/>
            </a:pPr>
            <a:r>
              <a:rPr lang="en-US" sz="1600" dirty="0">
                <a:solidFill>
                  <a:srgbClr val="44505E"/>
                </a:solidFill>
                <a:latin typeface="IBM Plex Sans" pitchFamily="34" charset="0"/>
                <a:ea typeface="IBM Plex Sans" pitchFamily="34" charset="-122"/>
                <a:cs typeface="IBM Plex Sans" pitchFamily="34" charset="-120"/>
              </a:rPr>
              <a:t>Exchanges, brokers and banks price and risk-manage options all day — with exactly the models in this deck.</a:t>
            </a:r>
            <a:endParaRPr lang="en-US" sz="1600" dirty="0"/>
          </a:p>
        </p:txBody>
      </p:sp>
      <p:sp>
        <p:nvSpPr>
          <p:cNvPr id="16" name="Text 12"/>
          <p:cNvSpPr/>
          <p:nvPr/>
        </p:nvSpPr>
        <p:spPr>
          <a:xfrm>
            <a:off x="812800" y="4001591"/>
            <a:ext cx="10883392" cy="751780"/>
          </a:xfrm>
          <a:prstGeom prst="rect">
            <a:avLst/>
          </a:prstGeom>
          <a:noFill/>
          <a:ln/>
        </p:spPr>
        <p:txBody>
          <a:bodyPr wrap="square" lIns="0" tIns="0" rIns="0" bIns="0" rtlCol="0" anchor="t">
            <a:normAutofit/>
          </a:bodyPr>
          <a:lstStyle/>
          <a:p>
            <a:pPr marL="0" indent="0" algn="l">
              <a:lnSpc>
                <a:spcPts val="2860"/>
              </a:lnSpc>
              <a:buNone/>
            </a:pPr>
            <a:r>
              <a:rPr lang="en-US" sz="2200" i="1" dirty="0">
                <a:solidFill>
                  <a:srgbClr val="14202E"/>
                </a:solidFill>
                <a:latin typeface="Source Serif 4" pitchFamily="18" charset="0"/>
                <a:ea typeface="Source Serif 4" pitchFamily="18" charset="-122"/>
                <a:cs typeface="Source Serif 4" pitchFamily="18" charset="-120"/>
              </a:rPr>
              <a:t>An option is a programmable promise: a payoff function, a deadline — and a price someone has to compute.</a:t>
            </a:r>
            <a:endParaRPr lang="en-US" sz="2200" dirty="0"/>
          </a:p>
        </p:txBody>
      </p:sp>
      <p:sp>
        <p:nvSpPr>
          <p:cNvPr id="17"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A7179"/>
                </a:solidFill>
                <a:latin typeface="IBM Plex Sans" pitchFamily="34" charset="0"/>
                <a:ea typeface="IBM Plex Sans" pitchFamily="34" charset="-122"/>
                <a:cs typeface="IBM Plex Sans" pitchFamily="34" charset="-120"/>
              </a:rPr>
              <a:t>Source: OCC, annual volume report 2025 (published January 2026)</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00 · OPTIONS 101</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Anatomy of an option: a right, not an obligation</a:t>
            </a:r>
            <a:endParaRPr lang="en-US" sz="3000" dirty="0"/>
          </a:p>
        </p:txBody>
      </p:sp>
      <p:sp>
        <p:nvSpPr>
          <p:cNvPr id="4" name="Shape 2"/>
          <p:cNvSpPr/>
          <p:nvPr/>
        </p:nvSpPr>
        <p:spPr>
          <a:xfrm>
            <a:off x="812800" y="1485900"/>
            <a:ext cx="5207000" cy="3804841"/>
          </a:xfrm>
          <a:prstGeom prst="roundRect">
            <a:avLst>
              <a:gd name="adj" fmla="val 2670"/>
            </a:avLst>
          </a:prstGeom>
          <a:solidFill>
            <a:srgbClr val="14202E"/>
          </a:solidFill>
          <a:ln/>
          <a:effectLst>
            <a:outerShdw blurRad="50800" dist="38100" dir="2700000" algn="tl" rotWithShape="0">
              <a:prstClr val="black">
                <a:alpha val="40000"/>
              </a:prstClr>
            </a:outerShdw>
          </a:effectLst>
        </p:spPr>
        <p:txBody>
          <a:bodyPr/>
          <a:lstStyle/>
          <a:p>
            <a:endParaRPr lang="en-SE"/>
          </a:p>
        </p:txBody>
      </p:sp>
      <p:sp>
        <p:nvSpPr>
          <p:cNvPr id="5" name="Text 3"/>
          <p:cNvSpPr/>
          <p:nvPr/>
        </p:nvSpPr>
        <p:spPr>
          <a:xfrm>
            <a:off x="1066800" y="1714500"/>
            <a:ext cx="4839970" cy="2230041"/>
          </a:xfrm>
          <a:prstGeom prst="rect">
            <a:avLst/>
          </a:prstGeom>
          <a:noFill/>
          <a:ln/>
        </p:spPr>
        <p:txBody>
          <a:bodyPr wrap="none" lIns="0" tIns="0" rIns="0" bIns="0" rtlCol="0" anchor="t">
            <a:normAutofit/>
          </a:bodyPr>
          <a:lstStyle/>
          <a:p>
            <a:pPr marL="0" indent="0" algn="l">
              <a:lnSpc>
                <a:spcPts val="2170"/>
              </a:lnSpc>
              <a:buNone/>
            </a:pPr>
            <a:r>
              <a:rPr lang="en-US" sz="1400" dirty="0">
                <a:solidFill>
                  <a:srgbClr val="E6E9EE"/>
                </a:solidFill>
                <a:latin typeface="JetBrains Mono" pitchFamily="49" charset="0"/>
                <a:ea typeface="JetBrains Mono" pitchFamily="49" charset="-122"/>
                <a:cs typeface="JetBrains Mono" pitchFamily="49" charset="-120"/>
              </a:rPr>
              <a:t>struct OptionContract {</a:t>
            </a:r>
            <a:endParaRPr lang="en-US" sz="1400" dirty="0"/>
          </a:p>
          <a:p>
            <a:pPr marL="0" indent="0" algn="l">
              <a:lnSpc>
                <a:spcPts val="2170"/>
              </a:lnSpc>
              <a:buNone/>
            </a:pPr>
            <a:r>
              <a:rPr lang="en-US" sz="1400" dirty="0">
                <a:solidFill>
                  <a:srgbClr val="E6E9EE"/>
                </a:solidFill>
                <a:latin typeface="JetBrains Mono" pitchFamily="49" charset="0"/>
                <a:ea typeface="JetBrains Mono" pitchFamily="49" charset="-122"/>
                <a:cs typeface="JetBrains Mono" pitchFamily="49" charset="-120"/>
              </a:rPr>
              <a:t>  underlying: "ACME shares"</a:t>
            </a:r>
            <a:endParaRPr lang="en-US" sz="1400" dirty="0"/>
          </a:p>
          <a:p>
            <a:pPr marL="0" indent="0" algn="l">
              <a:lnSpc>
                <a:spcPts val="2170"/>
              </a:lnSpc>
              <a:buNone/>
            </a:pPr>
            <a:r>
              <a:rPr lang="en-US" sz="1400" dirty="0">
                <a:solidFill>
                  <a:srgbClr val="E6E9EE"/>
                </a:solidFill>
                <a:latin typeface="JetBrains Mono" pitchFamily="49" charset="0"/>
                <a:ea typeface="JetBrains Mono" pitchFamily="49" charset="-122"/>
                <a:cs typeface="JetBrains Mono" pitchFamily="49" charset="-120"/>
              </a:rPr>
              <a:t>  type:       CALL | PUT</a:t>
            </a:r>
            <a:endParaRPr lang="en-US" sz="1400" dirty="0"/>
          </a:p>
          <a:p>
            <a:pPr marL="0" indent="0" algn="l">
              <a:lnSpc>
                <a:spcPts val="2170"/>
              </a:lnSpc>
              <a:buNone/>
            </a:pPr>
            <a:r>
              <a:rPr lang="en-US" sz="1400" dirty="0">
                <a:solidFill>
                  <a:srgbClr val="E6E9EE"/>
                </a:solidFill>
                <a:latin typeface="JetBrains Mono" pitchFamily="49" charset="0"/>
                <a:ea typeface="JetBrains Mono" pitchFamily="49" charset="-122"/>
                <a:cs typeface="JetBrains Mono" pitchFamily="49" charset="-120"/>
              </a:rPr>
              <a:t>  strike K:   100.00</a:t>
            </a:r>
            <a:endParaRPr lang="en-US" sz="1400" dirty="0"/>
          </a:p>
          <a:p>
            <a:pPr marL="0" indent="0" algn="l">
              <a:lnSpc>
                <a:spcPts val="2170"/>
              </a:lnSpc>
              <a:buNone/>
            </a:pPr>
            <a:r>
              <a:rPr lang="en-US" sz="1400" dirty="0">
                <a:solidFill>
                  <a:srgbClr val="E6E9EE"/>
                </a:solidFill>
                <a:latin typeface="JetBrains Mono" pitchFamily="49" charset="0"/>
                <a:ea typeface="JetBrains Mono" pitchFamily="49" charset="-122"/>
                <a:cs typeface="JetBrains Mono" pitchFamily="49" charset="-120"/>
              </a:rPr>
              <a:t>  expiry T:   2027-03-19</a:t>
            </a:r>
            <a:endParaRPr lang="en-US" sz="1400" dirty="0"/>
          </a:p>
          <a:p>
            <a:pPr marL="0" indent="0" algn="l">
              <a:lnSpc>
                <a:spcPts val="2170"/>
              </a:lnSpc>
              <a:buNone/>
            </a:pPr>
            <a:r>
              <a:rPr lang="en-US" sz="1400" dirty="0">
                <a:solidFill>
                  <a:srgbClr val="E6E9EE"/>
                </a:solidFill>
                <a:latin typeface="JetBrains Mono" pitchFamily="49" charset="0"/>
                <a:ea typeface="JetBrains Mono" pitchFamily="49" charset="-122"/>
                <a:cs typeface="JetBrains Mono" pitchFamily="49" charset="-120"/>
              </a:rPr>
              <a:t>  style:      EUROPEAN | AMERICAN</a:t>
            </a:r>
            <a:endParaRPr lang="en-US" sz="1400" dirty="0"/>
          </a:p>
          <a:p>
            <a:pPr marL="0" indent="0" algn="l">
              <a:lnSpc>
                <a:spcPts val="2170"/>
              </a:lnSpc>
              <a:buNone/>
            </a:pPr>
            <a:r>
              <a:rPr lang="en-US" sz="1400" dirty="0">
                <a:solidFill>
                  <a:srgbClr val="E6E9EE"/>
                </a:solidFill>
                <a:latin typeface="JetBrains Mono" pitchFamily="49" charset="0"/>
                <a:ea typeface="JetBrains Mono" pitchFamily="49" charset="-122"/>
                <a:cs typeface="JetBrains Mono" pitchFamily="49" charset="-120"/>
              </a:rPr>
              <a:t>  premium:    5.20</a:t>
            </a:r>
            <a:endParaRPr lang="en-US" sz="1400" dirty="0"/>
          </a:p>
          <a:p>
            <a:pPr marL="0" indent="0" algn="l">
              <a:lnSpc>
                <a:spcPts val="2170"/>
              </a:lnSpc>
              <a:buNone/>
            </a:pPr>
            <a:r>
              <a:rPr lang="en-US" sz="1400" dirty="0">
                <a:solidFill>
                  <a:srgbClr val="E6E9EE"/>
                </a:solidFill>
                <a:latin typeface="JetBrains Mono" pitchFamily="49" charset="0"/>
                <a:ea typeface="JetBrains Mono" pitchFamily="49" charset="-122"/>
                <a:cs typeface="JetBrains Mono" pitchFamily="49" charset="-120"/>
              </a:rPr>
              <a:t>}</a:t>
            </a:r>
            <a:endParaRPr lang="en-US" sz="1400" dirty="0"/>
          </a:p>
        </p:txBody>
      </p:sp>
      <p:sp>
        <p:nvSpPr>
          <p:cNvPr id="6" name="Text 4"/>
          <p:cNvSpPr/>
          <p:nvPr/>
        </p:nvSpPr>
        <p:spPr>
          <a:xfrm>
            <a:off x="1066800" y="3919141"/>
            <a:ext cx="4839970" cy="1168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7FA8F0"/>
                </a:solidFill>
                <a:latin typeface="JetBrains Mono" pitchFamily="49" charset="0"/>
                <a:ea typeface="JetBrains Mono" pitchFamily="49" charset="-122"/>
                <a:cs typeface="JetBrains Mono" pitchFamily="49" charset="-120"/>
              </a:rPr>
              <a:t>// CALL: right to BUY at K</a:t>
            </a:r>
            <a:endParaRPr lang="en-US" sz="1200" dirty="0"/>
          </a:p>
          <a:p>
            <a:pPr marL="0" indent="0" algn="l">
              <a:lnSpc>
                <a:spcPts val="1800"/>
              </a:lnSpc>
              <a:buNone/>
            </a:pPr>
            <a:r>
              <a:rPr lang="en-US" sz="1200" dirty="0">
                <a:solidFill>
                  <a:srgbClr val="7FA8F0"/>
                </a:solidFill>
                <a:latin typeface="JetBrains Mono" pitchFamily="49" charset="0"/>
                <a:ea typeface="JetBrains Mono" pitchFamily="49" charset="-122"/>
                <a:cs typeface="JetBrains Mono" pitchFamily="49" charset="-120"/>
              </a:rPr>
              <a:t>// PUT:  right to SELL at K</a:t>
            </a:r>
            <a:endParaRPr lang="en-US" sz="1200" dirty="0"/>
          </a:p>
          <a:p>
            <a:pPr marL="0" indent="0" algn="l">
              <a:lnSpc>
                <a:spcPts val="1800"/>
              </a:lnSpc>
              <a:buNone/>
            </a:pPr>
            <a:r>
              <a:rPr lang="en-US" sz="1200" dirty="0">
                <a:solidFill>
                  <a:srgbClr val="7FA8F0"/>
                </a:solidFill>
                <a:latin typeface="JetBrains Mono" pitchFamily="49" charset="0"/>
                <a:ea typeface="JetBrains Mono" pitchFamily="49" charset="-122"/>
                <a:cs typeface="JetBrains Mono" pitchFamily="49" charset="-120"/>
              </a:rPr>
              <a:t>// EUROPEAN: exercise at T only</a:t>
            </a:r>
            <a:endParaRPr lang="en-US" sz="1200" dirty="0"/>
          </a:p>
          <a:p>
            <a:pPr marL="0" indent="0" algn="l">
              <a:lnSpc>
                <a:spcPts val="1800"/>
              </a:lnSpc>
              <a:buNone/>
            </a:pPr>
            <a:r>
              <a:rPr lang="en-US" sz="1200" dirty="0">
                <a:solidFill>
                  <a:srgbClr val="7FA8F0"/>
                </a:solidFill>
                <a:latin typeface="JetBrains Mono" pitchFamily="49" charset="0"/>
                <a:ea typeface="JetBrains Mono" pitchFamily="49" charset="-122"/>
                <a:cs typeface="JetBrains Mono" pitchFamily="49" charset="-120"/>
              </a:rPr>
              <a:t>// AMERICAN: exercise any time up to T</a:t>
            </a:r>
            <a:endParaRPr lang="en-US" sz="1200" dirty="0"/>
          </a:p>
          <a:p>
            <a:pPr marL="0" indent="0" algn="l">
              <a:lnSpc>
                <a:spcPts val="1800"/>
              </a:lnSpc>
              <a:buNone/>
            </a:pPr>
            <a:r>
              <a:rPr lang="en-US" sz="1200" dirty="0">
                <a:solidFill>
                  <a:srgbClr val="7FA8F0"/>
                </a:solidFill>
                <a:latin typeface="JetBrains Mono" pitchFamily="49" charset="0"/>
                <a:ea typeface="JetBrains Mono" pitchFamily="49" charset="-122"/>
                <a:cs typeface="JetBrains Mono" pitchFamily="49" charset="-120"/>
              </a:rPr>
              <a:t>// premium: paid today by the buyer</a:t>
            </a:r>
            <a:endParaRPr lang="en-US" sz="1200" dirty="0"/>
          </a:p>
        </p:txBody>
      </p:sp>
      <p:sp>
        <p:nvSpPr>
          <p:cNvPr id="7" name="Shape 5"/>
          <p:cNvSpPr/>
          <p:nvPr/>
        </p:nvSpPr>
        <p:spPr>
          <a:xfrm>
            <a:off x="6276975" y="1489075"/>
            <a:ext cx="5099050" cy="1084511"/>
          </a:xfrm>
          <a:prstGeom prst="roundRect">
            <a:avLst>
              <a:gd name="adj" fmla="val 673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8" name="Text 6"/>
          <p:cNvSpPr/>
          <p:nvPr/>
        </p:nvSpPr>
        <p:spPr>
          <a:xfrm>
            <a:off x="6457950" y="1644650"/>
            <a:ext cx="487921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Buyer (holder)</a:t>
            </a:r>
            <a:endParaRPr lang="en-US" sz="1600" dirty="0"/>
          </a:p>
        </p:txBody>
      </p:sp>
      <p:sp>
        <p:nvSpPr>
          <p:cNvPr id="9" name="Text 7"/>
          <p:cNvSpPr/>
          <p:nvPr/>
        </p:nvSpPr>
        <p:spPr>
          <a:xfrm>
            <a:off x="6457950" y="1939280"/>
            <a:ext cx="4879213" cy="504130"/>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44505E"/>
                </a:solidFill>
                <a:latin typeface="IBM Plex Sans" pitchFamily="34" charset="0"/>
                <a:ea typeface="IBM Plex Sans" pitchFamily="34" charset="-122"/>
                <a:cs typeface="IBM Plex Sans" pitchFamily="34" charset="-120"/>
              </a:rPr>
              <a:t>Pays the premium, gets the right. Exercises only if it pays. Worst case: loses the premium.</a:t>
            </a:r>
            <a:endParaRPr lang="en-US" sz="1400" dirty="0"/>
          </a:p>
        </p:txBody>
      </p:sp>
      <p:sp>
        <p:nvSpPr>
          <p:cNvPr id="10" name="Shape 8"/>
          <p:cNvSpPr/>
          <p:nvPr/>
        </p:nvSpPr>
        <p:spPr>
          <a:xfrm>
            <a:off x="6276975" y="2851604"/>
            <a:ext cx="5099050" cy="1084511"/>
          </a:xfrm>
          <a:prstGeom prst="roundRect">
            <a:avLst>
              <a:gd name="adj" fmla="val 673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1" name="Text 9"/>
          <p:cNvSpPr/>
          <p:nvPr/>
        </p:nvSpPr>
        <p:spPr>
          <a:xfrm>
            <a:off x="6457950" y="3007179"/>
            <a:ext cx="487921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Seller (writer)</a:t>
            </a:r>
            <a:endParaRPr lang="en-US" sz="1600" dirty="0"/>
          </a:p>
        </p:txBody>
      </p:sp>
      <p:sp>
        <p:nvSpPr>
          <p:cNvPr id="12" name="Text 10"/>
          <p:cNvSpPr/>
          <p:nvPr/>
        </p:nvSpPr>
        <p:spPr>
          <a:xfrm>
            <a:off x="6457950" y="3301809"/>
            <a:ext cx="4879213" cy="504130"/>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44505E"/>
                </a:solidFill>
                <a:latin typeface="IBM Plex Sans" pitchFamily="34" charset="0"/>
                <a:ea typeface="IBM Plex Sans" pitchFamily="34" charset="-122"/>
                <a:cs typeface="IBM Plex Sans" pitchFamily="34" charset="-120"/>
              </a:rPr>
              <a:t>Collects the premium, carries the obligation. Worst case: large losses.</a:t>
            </a:r>
            <a:endParaRPr lang="en-US" sz="1400" dirty="0"/>
          </a:p>
        </p:txBody>
      </p:sp>
      <p:sp>
        <p:nvSpPr>
          <p:cNvPr id="13" name="Text 11"/>
          <p:cNvSpPr/>
          <p:nvPr/>
        </p:nvSpPr>
        <p:spPr>
          <a:xfrm>
            <a:off x="6273800" y="4210959"/>
            <a:ext cx="5105400" cy="1022896"/>
          </a:xfrm>
          <a:prstGeom prst="roundRect">
            <a:avLst>
              <a:gd name="adj" fmla="val 7449"/>
            </a:avLst>
          </a:prstGeom>
          <a:solidFill>
            <a:srgbClr val="ECE8DC"/>
          </a:solidFill>
          <a:ln/>
          <a:effectLst>
            <a:outerShdw blurRad="50800" dist="38100" dir="2700000" algn="tl" rotWithShape="0">
              <a:prstClr val="black">
                <a:alpha val="40000"/>
              </a:prstClr>
            </a:outerShdw>
          </a:effectLst>
        </p:spPr>
        <p:txBody>
          <a:bodyPr wrap="square" lIns="155482" tIns="130082" rIns="12988" bIns="104682" rtlCol="0" anchor="t">
            <a:normAutofit/>
          </a:bodyPr>
          <a:lstStyle/>
          <a:p>
            <a:pPr marL="0" indent="0" algn="l">
              <a:lnSpc>
                <a:spcPts val="1885"/>
              </a:lnSpc>
              <a:buNone/>
            </a:pPr>
            <a:r>
              <a:rPr lang="en-US" sz="1400" b="1" dirty="0">
                <a:solidFill>
                  <a:srgbClr val="14202E"/>
                </a:solidFill>
                <a:latin typeface="IBM Plex Sans" pitchFamily="34" charset="0"/>
                <a:ea typeface="IBM Plex Sans" pitchFamily="34" charset="-122"/>
                <a:cs typeface="IBM Plex Sans" pitchFamily="34" charset="-120"/>
              </a:rPr>
              <a:t>Call ≈ a price lock</a:t>
            </a:r>
            <a:r>
              <a:rPr lang="en-US" sz="1400" dirty="0">
                <a:solidFill>
                  <a:srgbClr val="14202E"/>
                </a:solidFill>
                <a:latin typeface="IBM Plex Sans" pitchFamily="34" charset="0"/>
                <a:ea typeface="IBM Plex Sans" pitchFamily="34" charset="-122"/>
                <a:cs typeface="IBM Plex Sans" pitchFamily="34" charset="-120"/>
              </a:rPr>
              <a:t> (like a deposit reserving a house at today’s price).</a:t>
            </a:r>
            <a:endParaRPr lang="en-US" sz="1400" dirty="0"/>
          </a:p>
          <a:p>
            <a:pPr marL="0" indent="0" algn="l">
              <a:lnSpc>
                <a:spcPts val="1885"/>
              </a:lnSpc>
              <a:buNone/>
            </a:pPr>
            <a:r>
              <a:rPr lang="en-US" sz="1400" b="1" dirty="0">
                <a:solidFill>
                  <a:srgbClr val="14202E"/>
                </a:solidFill>
                <a:latin typeface="IBM Plex Sans" pitchFamily="34" charset="0"/>
                <a:ea typeface="IBM Plex Sans" pitchFamily="34" charset="-122"/>
                <a:cs typeface="IBM Plex Sans" pitchFamily="34" charset="-120"/>
              </a:rPr>
              <a:t>Put ≈ an insurance policy</a:t>
            </a:r>
            <a:r>
              <a:rPr lang="en-US" sz="1400" dirty="0">
                <a:solidFill>
                  <a:srgbClr val="14202E"/>
                </a:solidFill>
                <a:latin typeface="IBM Plex Sans" pitchFamily="34" charset="0"/>
                <a:ea typeface="IBM Plex Sans" pitchFamily="34" charset="-122"/>
                <a:cs typeface="IBM Plex Sans" pitchFamily="34" charset="-120"/>
              </a:rPr>
              <a:t> on what you own.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00 · OPTIONS 101</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The underlying: almost anything with a price</a:t>
            </a:r>
            <a:endParaRPr lang="en-US" sz="3000" dirty="0"/>
          </a:p>
        </p:txBody>
      </p:sp>
      <p:sp>
        <p:nvSpPr>
          <p:cNvPr id="4" name="Shape 2"/>
          <p:cNvSpPr/>
          <p:nvPr/>
        </p:nvSpPr>
        <p:spPr>
          <a:xfrm>
            <a:off x="815975" y="1825414"/>
            <a:ext cx="3414167" cy="1084511"/>
          </a:xfrm>
          <a:prstGeom prst="roundRect">
            <a:avLst>
              <a:gd name="adj" fmla="val 673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5" name="Text 3"/>
          <p:cNvSpPr/>
          <p:nvPr/>
        </p:nvSpPr>
        <p:spPr>
          <a:xfrm>
            <a:off x="996950" y="1980989"/>
            <a:ext cx="3143783"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14202E"/>
                </a:solidFill>
                <a:latin typeface="IBM Plex Sans" pitchFamily="34" charset="0"/>
                <a:ea typeface="IBM Plex Sans" pitchFamily="34" charset="-122"/>
                <a:cs typeface="IBM Plex Sans" pitchFamily="34" charset="-120"/>
              </a:rPr>
              <a:t>Single stocks</a:t>
            </a:r>
            <a:endParaRPr lang="en-US" dirty="0"/>
          </a:p>
        </p:txBody>
      </p:sp>
      <p:sp>
        <p:nvSpPr>
          <p:cNvPr id="6" name="Text 4"/>
          <p:cNvSpPr/>
          <p:nvPr/>
        </p:nvSpPr>
        <p:spPr>
          <a:xfrm>
            <a:off x="996950" y="2275619"/>
            <a:ext cx="3143783" cy="504130"/>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44505E"/>
                </a:solidFill>
                <a:latin typeface="IBM Plex Sans" pitchFamily="34" charset="0"/>
                <a:ea typeface="IBM Plex Sans" pitchFamily="34" charset="-122"/>
                <a:cs typeface="IBM Plex Sans" pitchFamily="34" charset="-120"/>
              </a:rPr>
              <a:t>Shares of one company. A US contract covers 100 shares.</a:t>
            </a:r>
            <a:endParaRPr lang="en-US" sz="1400" dirty="0"/>
          </a:p>
        </p:txBody>
      </p:sp>
      <p:sp>
        <p:nvSpPr>
          <p:cNvPr id="7" name="Shape 5"/>
          <p:cNvSpPr/>
          <p:nvPr/>
        </p:nvSpPr>
        <p:spPr>
          <a:xfrm>
            <a:off x="4388892" y="1825414"/>
            <a:ext cx="3414167" cy="1084511"/>
          </a:xfrm>
          <a:prstGeom prst="roundRect">
            <a:avLst>
              <a:gd name="adj" fmla="val 673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8" name="Text 6"/>
          <p:cNvSpPr/>
          <p:nvPr/>
        </p:nvSpPr>
        <p:spPr>
          <a:xfrm>
            <a:off x="4569867" y="1980989"/>
            <a:ext cx="3143783"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14202E"/>
                </a:solidFill>
                <a:latin typeface="IBM Plex Sans" pitchFamily="34" charset="0"/>
                <a:ea typeface="IBM Plex Sans" pitchFamily="34" charset="-122"/>
                <a:cs typeface="IBM Plex Sans" pitchFamily="34" charset="-120"/>
              </a:rPr>
              <a:t>Indices &amp; ETFs</a:t>
            </a:r>
            <a:endParaRPr lang="en-US" dirty="0"/>
          </a:p>
        </p:txBody>
      </p:sp>
      <p:sp>
        <p:nvSpPr>
          <p:cNvPr id="9" name="Text 7"/>
          <p:cNvSpPr/>
          <p:nvPr/>
        </p:nvSpPr>
        <p:spPr>
          <a:xfrm>
            <a:off x="4569867" y="2275619"/>
            <a:ext cx="3143783" cy="504130"/>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44505E"/>
                </a:solidFill>
                <a:latin typeface="IBM Plex Sans" pitchFamily="34" charset="0"/>
                <a:ea typeface="IBM Plex Sans" pitchFamily="34" charset="-122"/>
                <a:cs typeface="IBM Plex Sans" pitchFamily="34" charset="-120"/>
              </a:rPr>
              <a:t>S&amp;P 500, Euro Stoxx 50, OMXS30 — a bet or hedge on a whole market.</a:t>
            </a:r>
            <a:endParaRPr lang="en-US" sz="1400" dirty="0"/>
          </a:p>
        </p:txBody>
      </p:sp>
      <p:sp>
        <p:nvSpPr>
          <p:cNvPr id="10" name="Shape 8"/>
          <p:cNvSpPr/>
          <p:nvPr/>
        </p:nvSpPr>
        <p:spPr>
          <a:xfrm>
            <a:off x="7961809" y="1825414"/>
            <a:ext cx="3414216" cy="1084511"/>
          </a:xfrm>
          <a:prstGeom prst="roundRect">
            <a:avLst>
              <a:gd name="adj" fmla="val 673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1" name="Text 9"/>
          <p:cNvSpPr/>
          <p:nvPr/>
        </p:nvSpPr>
        <p:spPr>
          <a:xfrm>
            <a:off x="8142784" y="1980989"/>
            <a:ext cx="3143834"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14202E"/>
                </a:solidFill>
                <a:latin typeface="IBM Plex Sans" pitchFamily="34" charset="0"/>
                <a:ea typeface="IBM Plex Sans" pitchFamily="34" charset="-122"/>
                <a:cs typeface="IBM Plex Sans" pitchFamily="34" charset="-120"/>
              </a:rPr>
              <a:t>Currencies</a:t>
            </a:r>
            <a:endParaRPr lang="en-US" dirty="0"/>
          </a:p>
        </p:txBody>
      </p:sp>
      <p:sp>
        <p:nvSpPr>
          <p:cNvPr id="12" name="Text 10"/>
          <p:cNvSpPr/>
          <p:nvPr/>
        </p:nvSpPr>
        <p:spPr>
          <a:xfrm>
            <a:off x="8142784" y="2275619"/>
            <a:ext cx="3143834" cy="504130"/>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44505E"/>
                </a:solidFill>
                <a:latin typeface="IBM Plex Sans" pitchFamily="34" charset="0"/>
                <a:ea typeface="IBM Plex Sans" pitchFamily="34" charset="-122"/>
                <a:cs typeface="IBM Plex Sans" pitchFamily="34" charset="-120"/>
              </a:rPr>
              <a:t>EUR/USD, USD/SEK — exporters lock in exchange rates.</a:t>
            </a:r>
            <a:endParaRPr lang="en-US" sz="1400" dirty="0"/>
          </a:p>
        </p:txBody>
      </p:sp>
      <p:sp>
        <p:nvSpPr>
          <p:cNvPr id="13" name="Shape 11"/>
          <p:cNvSpPr/>
          <p:nvPr/>
        </p:nvSpPr>
        <p:spPr>
          <a:xfrm>
            <a:off x="815975" y="3179203"/>
            <a:ext cx="3414167" cy="1084511"/>
          </a:xfrm>
          <a:prstGeom prst="roundRect">
            <a:avLst>
              <a:gd name="adj" fmla="val 673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4" name="Text 12"/>
          <p:cNvSpPr/>
          <p:nvPr/>
        </p:nvSpPr>
        <p:spPr>
          <a:xfrm>
            <a:off x="996950" y="3334778"/>
            <a:ext cx="3143783"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14202E"/>
                </a:solidFill>
                <a:latin typeface="IBM Plex Sans" pitchFamily="34" charset="0"/>
                <a:ea typeface="IBM Plex Sans" pitchFamily="34" charset="-122"/>
                <a:cs typeface="IBM Plex Sans" pitchFamily="34" charset="-120"/>
              </a:rPr>
              <a:t>Commodities</a:t>
            </a:r>
            <a:endParaRPr lang="en-US" dirty="0"/>
          </a:p>
        </p:txBody>
      </p:sp>
      <p:sp>
        <p:nvSpPr>
          <p:cNvPr id="15" name="Text 13"/>
          <p:cNvSpPr/>
          <p:nvPr/>
        </p:nvSpPr>
        <p:spPr>
          <a:xfrm>
            <a:off x="996950" y="3629408"/>
            <a:ext cx="3143783" cy="504130"/>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44505E"/>
                </a:solidFill>
                <a:latin typeface="IBM Plex Sans" pitchFamily="34" charset="0"/>
                <a:ea typeface="IBM Plex Sans" pitchFamily="34" charset="-122"/>
                <a:cs typeface="IBM Plex Sans" pitchFamily="34" charset="-120"/>
              </a:rPr>
              <a:t>Oil, gold, grain — usually options on futures contracts.</a:t>
            </a:r>
            <a:endParaRPr lang="en-US" sz="1400" dirty="0"/>
          </a:p>
        </p:txBody>
      </p:sp>
      <p:sp>
        <p:nvSpPr>
          <p:cNvPr id="16" name="Shape 14"/>
          <p:cNvSpPr/>
          <p:nvPr/>
        </p:nvSpPr>
        <p:spPr>
          <a:xfrm>
            <a:off x="4388892" y="3179203"/>
            <a:ext cx="3414167" cy="1084511"/>
          </a:xfrm>
          <a:prstGeom prst="roundRect">
            <a:avLst>
              <a:gd name="adj" fmla="val 673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7" name="Text 15"/>
          <p:cNvSpPr/>
          <p:nvPr/>
        </p:nvSpPr>
        <p:spPr>
          <a:xfrm>
            <a:off x="4569867" y="3334778"/>
            <a:ext cx="3143783"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14202E"/>
                </a:solidFill>
                <a:latin typeface="IBM Plex Sans" pitchFamily="34" charset="0"/>
                <a:ea typeface="IBM Plex Sans" pitchFamily="34" charset="-122"/>
                <a:cs typeface="IBM Plex Sans" pitchFamily="34" charset="-120"/>
              </a:rPr>
              <a:t>Interest rates</a:t>
            </a:r>
            <a:endParaRPr lang="en-US" dirty="0"/>
          </a:p>
        </p:txBody>
      </p:sp>
      <p:sp>
        <p:nvSpPr>
          <p:cNvPr id="18" name="Text 16"/>
          <p:cNvSpPr/>
          <p:nvPr/>
        </p:nvSpPr>
        <p:spPr>
          <a:xfrm>
            <a:off x="4569867" y="3629408"/>
            <a:ext cx="3143783" cy="504130"/>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44505E"/>
                </a:solidFill>
                <a:latin typeface="IBM Plex Sans" pitchFamily="34" charset="0"/>
                <a:ea typeface="IBM Plex Sans" pitchFamily="34" charset="-122"/>
                <a:cs typeface="IBM Plex Sans" pitchFamily="34" charset="-120"/>
              </a:rPr>
              <a:t>Caps, floors, swaptions — borrowers insure against rising rates.</a:t>
            </a:r>
            <a:endParaRPr lang="en-US" sz="1400" dirty="0"/>
          </a:p>
        </p:txBody>
      </p:sp>
      <p:sp>
        <p:nvSpPr>
          <p:cNvPr id="19" name="Shape 17"/>
          <p:cNvSpPr/>
          <p:nvPr/>
        </p:nvSpPr>
        <p:spPr>
          <a:xfrm>
            <a:off x="7961809" y="3179203"/>
            <a:ext cx="3414216" cy="1084511"/>
          </a:xfrm>
          <a:prstGeom prst="roundRect">
            <a:avLst>
              <a:gd name="adj" fmla="val 673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20" name="Text 18"/>
          <p:cNvSpPr/>
          <p:nvPr/>
        </p:nvSpPr>
        <p:spPr>
          <a:xfrm>
            <a:off x="8142784" y="3334778"/>
            <a:ext cx="3143834"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14202E"/>
                </a:solidFill>
                <a:latin typeface="IBM Plex Sans" pitchFamily="34" charset="0"/>
                <a:ea typeface="IBM Plex Sans" pitchFamily="34" charset="-122"/>
                <a:cs typeface="IBM Plex Sans" pitchFamily="34" charset="-120"/>
              </a:rPr>
              <a:t>Volatility itself</a:t>
            </a:r>
            <a:endParaRPr lang="en-US" dirty="0"/>
          </a:p>
        </p:txBody>
      </p:sp>
      <p:sp>
        <p:nvSpPr>
          <p:cNvPr id="21" name="Text 19"/>
          <p:cNvSpPr/>
          <p:nvPr/>
        </p:nvSpPr>
        <p:spPr>
          <a:xfrm>
            <a:off x="8142784" y="3629408"/>
            <a:ext cx="3143834" cy="504130"/>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44505E"/>
                </a:solidFill>
                <a:latin typeface="IBM Plex Sans" pitchFamily="34" charset="0"/>
                <a:ea typeface="IBM Plex Sans" pitchFamily="34" charset="-122"/>
                <a:cs typeface="IBM Plex Sans" pitchFamily="34" charset="-120"/>
              </a:rPr>
              <a:t>VIX options — a bet on how much prices will move, not which way.</a:t>
            </a:r>
            <a:endParaRPr lang="en-US" sz="1400" dirty="0"/>
          </a:p>
        </p:txBody>
      </p:sp>
      <p:sp>
        <p:nvSpPr>
          <p:cNvPr id="22" name="Text 20"/>
          <p:cNvSpPr/>
          <p:nvPr/>
        </p:nvSpPr>
        <p:spPr>
          <a:xfrm>
            <a:off x="812800" y="4847182"/>
            <a:ext cx="10566400" cy="553690"/>
          </a:xfrm>
          <a:prstGeom prst="roundRect">
            <a:avLst>
              <a:gd name="adj" fmla="val 18350"/>
            </a:avLst>
          </a:prstGeom>
          <a:solidFill>
            <a:srgbClr val="14202E"/>
          </a:solidFill>
          <a:ln/>
          <a:effectLst>
            <a:outerShdw blurRad="50800" dist="38100" dir="2700000" algn="tl" rotWithShape="0">
              <a:prstClr val="black">
                <a:alpha val="40000"/>
              </a:prstClr>
            </a:outerShdw>
          </a:effectLst>
        </p:spPr>
        <p:txBody>
          <a:bodyPr wrap="square" lIns="198842" tIns="109942" rIns="198842" bIns="109942" rtlCol="0" anchor="ctr">
            <a:normAutofit/>
          </a:bodyPr>
          <a:lstStyle/>
          <a:p>
            <a:pPr marL="0" indent="0" algn="l">
              <a:lnSpc>
                <a:spcPts val="1960"/>
              </a:lnSpc>
              <a:buNone/>
            </a:pPr>
            <a:r>
              <a:rPr lang="en-US" sz="1600" dirty="0">
                <a:solidFill>
                  <a:srgbClr val="F5F3EC"/>
                </a:solidFill>
                <a:latin typeface="IBM Plex Sans" pitchFamily="34" charset="0"/>
                <a:ea typeface="IBM Plex Sans" pitchFamily="34" charset="-122"/>
                <a:cs typeface="IBM Plex Sans" pitchFamily="34" charset="-120"/>
              </a:rPr>
              <a:t>In this deck: one </a:t>
            </a:r>
            <a:r>
              <a:rPr lang="en-US" sz="1600" b="1" dirty="0">
                <a:solidFill>
                  <a:srgbClr val="E3A33B"/>
                </a:solidFill>
                <a:latin typeface="IBM Plex Sans" pitchFamily="34" charset="0"/>
                <a:ea typeface="IBM Plex Sans" pitchFamily="34" charset="-122"/>
                <a:cs typeface="IBM Plex Sans" pitchFamily="34" charset="-120"/>
              </a:rPr>
              <a:t>non-dividend-paying stock</a:t>
            </a:r>
            <a:r>
              <a:rPr lang="en-US" sz="1600" dirty="0">
                <a:solidFill>
                  <a:srgbClr val="F5F3EC"/>
                </a:solidFill>
                <a:latin typeface="IBM Plex Sans" pitchFamily="34" charset="0"/>
                <a:ea typeface="IBM Plex Sans" pitchFamily="34" charset="-122"/>
                <a:cs typeface="IBM Plex Sans" pitchFamily="34" charset="-120"/>
              </a:rPr>
              <a:t> — the simplest underlying. Everything generalises.</a:t>
            </a:r>
            <a:endParaRPr lang="en-US" sz="16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2025 US cleared volume: single stocks 8.3 bn · ETFs 5.7 bn · indices 1.3 bn contracts (OCC)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00 · OPTIONS 101</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b="1" i="0" dirty="0">
                <a:solidFill>
                  <a:srgbClr val="14202E"/>
                </a:solidFill>
                <a:latin typeface="Source Serif 4" pitchFamily="18" charset="0"/>
                <a:ea typeface="Source Serif 4" pitchFamily="18" charset="-122"/>
                <a:cs typeface="Source Serif 4" pitchFamily="18" charset="-120"/>
              </a:rPr>
              <a:t>Why use options? Insurance, leverage, income</a:t>
            </a:r>
            <a:endParaRPr lang="en-US" dirty="0"/>
          </a:p>
        </p:txBody>
      </p:sp>
      <p:sp>
        <p:nvSpPr>
          <p:cNvPr id="4" name="Shape 2"/>
          <p:cNvSpPr/>
          <p:nvPr/>
        </p:nvSpPr>
        <p:spPr>
          <a:xfrm>
            <a:off x="815975" y="1463675"/>
            <a:ext cx="3397250" cy="1387376"/>
          </a:xfrm>
          <a:prstGeom prst="roundRect">
            <a:avLst>
              <a:gd name="adj" fmla="val 7094"/>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sz="2000"/>
          </a:p>
        </p:txBody>
      </p:sp>
      <p:sp>
        <p:nvSpPr>
          <p:cNvPr id="5" name="Text 3"/>
          <p:cNvSpPr/>
          <p:nvPr/>
        </p:nvSpPr>
        <p:spPr>
          <a:xfrm>
            <a:off x="1022350" y="1644650"/>
            <a:ext cx="3074035" cy="269230"/>
          </a:xfrm>
          <a:prstGeom prst="rect">
            <a:avLst/>
          </a:prstGeom>
          <a:noFill/>
          <a:ln/>
        </p:spPr>
        <p:txBody>
          <a:bodyPr wrap="square" lIns="0" tIns="0" rIns="0" bIns="0" rtlCol="0" anchor="t">
            <a:normAutofit/>
          </a:bodyPr>
          <a:lstStyle/>
          <a:p>
            <a:pPr marL="0" indent="0" algn="l">
              <a:lnSpc>
                <a:spcPts val="1920"/>
              </a:lnSpc>
              <a:buNone/>
            </a:pPr>
            <a:r>
              <a:rPr lang="en-US" sz="2000" b="1" dirty="0">
                <a:solidFill>
                  <a:srgbClr val="2B65C8"/>
                </a:solidFill>
                <a:latin typeface="IBM Plex Sans" pitchFamily="34" charset="0"/>
                <a:ea typeface="IBM Plex Sans" pitchFamily="34" charset="-122"/>
                <a:cs typeface="IBM Plex Sans" pitchFamily="34" charset="-120"/>
              </a:rPr>
              <a:t>Hedge</a:t>
            </a:r>
            <a:endParaRPr lang="en-US" sz="2000" dirty="0"/>
          </a:p>
        </p:txBody>
      </p:sp>
      <p:sp>
        <p:nvSpPr>
          <p:cNvPr id="6" name="Text 4"/>
          <p:cNvSpPr/>
          <p:nvPr/>
        </p:nvSpPr>
        <p:spPr>
          <a:xfrm>
            <a:off x="1022350" y="1951980"/>
            <a:ext cx="3074035" cy="743496"/>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Own the stock, buy a put: your loss has a floor. A pension fund insuring its portfolio.</a:t>
            </a:r>
            <a:endParaRPr lang="en-US" sz="1600" dirty="0"/>
          </a:p>
        </p:txBody>
      </p:sp>
      <p:sp>
        <p:nvSpPr>
          <p:cNvPr id="7" name="Shape 5"/>
          <p:cNvSpPr/>
          <p:nvPr/>
        </p:nvSpPr>
        <p:spPr>
          <a:xfrm>
            <a:off x="4397375" y="1463675"/>
            <a:ext cx="3397250" cy="1387376"/>
          </a:xfrm>
          <a:prstGeom prst="roundRect">
            <a:avLst>
              <a:gd name="adj" fmla="val 7094"/>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sz="2000"/>
          </a:p>
        </p:txBody>
      </p:sp>
      <p:sp>
        <p:nvSpPr>
          <p:cNvPr id="8" name="Text 6"/>
          <p:cNvSpPr/>
          <p:nvPr/>
        </p:nvSpPr>
        <p:spPr>
          <a:xfrm>
            <a:off x="4603750" y="1644650"/>
            <a:ext cx="3074035" cy="269230"/>
          </a:xfrm>
          <a:prstGeom prst="rect">
            <a:avLst/>
          </a:prstGeom>
          <a:noFill/>
          <a:ln/>
        </p:spPr>
        <p:txBody>
          <a:bodyPr wrap="square" lIns="0" tIns="0" rIns="0" bIns="0" rtlCol="0" anchor="t">
            <a:normAutofit/>
          </a:bodyPr>
          <a:lstStyle/>
          <a:p>
            <a:pPr marL="0" indent="0" algn="l">
              <a:lnSpc>
                <a:spcPts val="1920"/>
              </a:lnSpc>
              <a:buNone/>
            </a:pPr>
            <a:r>
              <a:rPr lang="en-US" sz="2000" b="1" dirty="0">
                <a:solidFill>
                  <a:srgbClr val="2B65C8"/>
                </a:solidFill>
                <a:latin typeface="IBM Plex Sans" pitchFamily="34" charset="0"/>
                <a:ea typeface="IBM Plex Sans" pitchFamily="34" charset="-122"/>
                <a:cs typeface="IBM Plex Sans" pitchFamily="34" charset="-120"/>
              </a:rPr>
              <a:t>Speculate</a:t>
            </a:r>
            <a:endParaRPr lang="en-US" sz="2000" dirty="0"/>
          </a:p>
        </p:txBody>
      </p:sp>
      <p:sp>
        <p:nvSpPr>
          <p:cNvPr id="9" name="Text 7"/>
          <p:cNvSpPr/>
          <p:nvPr/>
        </p:nvSpPr>
        <p:spPr>
          <a:xfrm>
            <a:off x="4603750" y="1951980"/>
            <a:ext cx="3074035" cy="504130"/>
          </a:xfrm>
          <a:prstGeom prst="rect">
            <a:avLst/>
          </a:prstGeom>
          <a:noFill/>
          <a:ln/>
        </p:spPr>
        <p:txBody>
          <a:bodyPr wrap="square" lIns="0" tIns="0" rIns="0" bIns="0" rtlCol="0" anchor="t">
            <a:no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A small premium buys a large exposure: leverage, with the loss capped.</a:t>
            </a:r>
            <a:endParaRPr lang="en-US" sz="1600" dirty="0"/>
          </a:p>
        </p:txBody>
      </p:sp>
      <p:sp>
        <p:nvSpPr>
          <p:cNvPr id="10" name="Shape 8"/>
          <p:cNvSpPr/>
          <p:nvPr/>
        </p:nvSpPr>
        <p:spPr>
          <a:xfrm>
            <a:off x="7978775" y="1463675"/>
            <a:ext cx="3397250" cy="1387376"/>
          </a:xfrm>
          <a:prstGeom prst="roundRect">
            <a:avLst>
              <a:gd name="adj" fmla="val 7094"/>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sz="2000"/>
          </a:p>
        </p:txBody>
      </p:sp>
      <p:sp>
        <p:nvSpPr>
          <p:cNvPr id="11" name="Text 9"/>
          <p:cNvSpPr/>
          <p:nvPr/>
        </p:nvSpPr>
        <p:spPr>
          <a:xfrm>
            <a:off x="8185150" y="1644650"/>
            <a:ext cx="3074035" cy="269230"/>
          </a:xfrm>
          <a:prstGeom prst="rect">
            <a:avLst/>
          </a:prstGeom>
          <a:noFill/>
          <a:ln/>
        </p:spPr>
        <p:txBody>
          <a:bodyPr wrap="square" lIns="0" tIns="0" rIns="0" bIns="0" rtlCol="0" anchor="t">
            <a:normAutofit/>
          </a:bodyPr>
          <a:lstStyle/>
          <a:p>
            <a:pPr marL="0" indent="0" algn="l">
              <a:lnSpc>
                <a:spcPts val="1920"/>
              </a:lnSpc>
              <a:buNone/>
            </a:pPr>
            <a:r>
              <a:rPr lang="en-US" sz="2000" b="1" dirty="0">
                <a:solidFill>
                  <a:srgbClr val="2B65C8"/>
                </a:solidFill>
                <a:latin typeface="IBM Plex Sans" pitchFamily="34" charset="0"/>
                <a:ea typeface="IBM Plex Sans" pitchFamily="34" charset="-122"/>
                <a:cs typeface="IBM Plex Sans" pitchFamily="34" charset="-120"/>
              </a:rPr>
              <a:t>Earn income</a:t>
            </a:r>
            <a:endParaRPr lang="en-US" sz="2000" dirty="0"/>
          </a:p>
        </p:txBody>
      </p:sp>
      <p:sp>
        <p:nvSpPr>
          <p:cNvPr id="12" name="Text 10"/>
          <p:cNvSpPr/>
          <p:nvPr/>
        </p:nvSpPr>
        <p:spPr>
          <a:xfrm>
            <a:off x="8185150" y="1951980"/>
            <a:ext cx="3074035" cy="743496"/>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Sell calls on stock you own and collect premiums — giving away upside you didn’t expect.</a:t>
            </a:r>
            <a:endParaRPr lang="en-US" sz="1600" dirty="0"/>
          </a:p>
        </p:txBody>
      </p:sp>
      <p:sp>
        <p:nvSpPr>
          <p:cNvPr id="13" name="Text 11"/>
          <p:cNvSpPr/>
          <p:nvPr/>
        </p:nvSpPr>
        <p:spPr>
          <a:xfrm>
            <a:off x="812800" y="3268022"/>
            <a:ext cx="10883392" cy="274290"/>
          </a:xfrm>
          <a:prstGeom prst="rect">
            <a:avLst/>
          </a:prstGeom>
          <a:noFill/>
          <a:ln/>
        </p:spPr>
        <p:txBody>
          <a:bodyPr wrap="square" lIns="0" tIns="0" rIns="0" bIns="0" rtlCol="0" anchor="t">
            <a:normAutofit/>
          </a:bodyPr>
          <a:lstStyle/>
          <a:p>
            <a:pPr marL="0" indent="0" algn="l">
              <a:lnSpc>
                <a:spcPts val="1960"/>
              </a:lnSpc>
              <a:buNone/>
            </a:pPr>
            <a:r>
              <a:rPr lang="en-US" sz="1600" b="1" dirty="0">
                <a:solidFill>
                  <a:srgbClr val="14202E"/>
                </a:solidFill>
                <a:latin typeface="IBM Plex Sans" pitchFamily="34" charset="0"/>
                <a:ea typeface="IBM Plex Sans" pitchFamily="34" charset="-122"/>
                <a:cs typeface="IBM Plex Sans" pitchFamily="34" charset="-120"/>
              </a:rPr>
              <a:t>Leverage in numbers</a:t>
            </a:r>
            <a:r>
              <a:rPr lang="en-US" sz="1600" dirty="0">
                <a:solidFill>
                  <a:srgbClr val="14202E"/>
                </a:solidFill>
                <a:latin typeface="IBM Plex Sans" pitchFamily="34" charset="0"/>
                <a:ea typeface="IBM Plex Sans" pitchFamily="34" charset="-122"/>
                <a:cs typeface="IBM Plex Sans" pitchFamily="34" charset="-120"/>
              </a:rPr>
              <a:t> </a:t>
            </a:r>
            <a:r>
              <a:rPr lang="en-US" sz="1600" dirty="0">
                <a:solidFill>
                  <a:srgbClr val="44505E"/>
                </a:solidFill>
                <a:latin typeface="IBM Plex Sans" pitchFamily="34" charset="0"/>
                <a:ea typeface="IBM Plex Sans" pitchFamily="34" charset="-122"/>
                <a:cs typeface="IBM Plex Sans" pitchFamily="34" charset="-120"/>
              </a:rPr>
              <a:t>— stock at 100; a call with K = 100 costs 5:</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932963610"/>
              </p:ext>
            </p:extLst>
          </p:nvPr>
        </p:nvGraphicFramePr>
        <p:xfrm>
          <a:off x="825500" y="3931832"/>
          <a:ext cx="10553700" cy="1544044"/>
        </p:xfrm>
        <a:graphic>
          <a:graphicData uri="http://schemas.openxmlformats.org/drawingml/2006/table">
            <a:tbl>
              <a:tblPr/>
              <a:tblGrid>
                <a:gridCol w="2955036">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386011">
                <a:tc>
                  <a:txBody>
                    <a:bodyPr/>
                    <a:lstStyle/>
                    <a:p>
                      <a:pPr marL="0" indent="0">
                        <a:lnSpc>
                          <a:spcPts val="1960"/>
                        </a:lnSpc>
                        <a:buNone/>
                      </a:pPr>
                      <a:r>
                        <a:rPr lang="en-US" sz="2000" b="1" dirty="0">
                          <a:solidFill>
                            <a:srgbClr val="14202E"/>
                          </a:solidFill>
                          <a:latin typeface="JetBrains Mono" pitchFamily="49" charset="0"/>
                          <a:ea typeface="JetBrains Mono" pitchFamily="49" charset="-122"/>
                          <a:cs typeface="JetBrains Mono" pitchFamily="49" charset="-120"/>
                        </a:rPr>
                        <a:t>Stock moves to</a:t>
                      </a:r>
                      <a:endParaRPr lang="en-US" sz="20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960"/>
                        </a:lnSpc>
                        <a:buNone/>
                      </a:pPr>
                      <a:r>
                        <a:rPr lang="en-US" sz="2000" b="1" dirty="0">
                          <a:solidFill>
                            <a:srgbClr val="14202E"/>
                          </a:solidFill>
                          <a:latin typeface="JetBrains Mono" pitchFamily="49" charset="0"/>
                          <a:ea typeface="JetBrains Mono" pitchFamily="49" charset="-122"/>
                          <a:cs typeface="JetBrains Mono" pitchFamily="49" charset="-120"/>
                        </a:rPr>
                        <a:t>Buy 1 share for 100</a:t>
                      </a:r>
                      <a:endParaRPr lang="en-US" sz="2000" dirty="0">
                        <a:latin typeface="JetBrains Mono" charset="0"/>
                        <a:ea typeface="JetBrains Mono" charset="0"/>
                        <a:cs typeface="JetBrains Mono"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960"/>
                        </a:lnSpc>
                        <a:buNone/>
                      </a:pPr>
                      <a:r>
                        <a:rPr lang="en-US" sz="2000" b="1" dirty="0">
                          <a:solidFill>
                            <a:srgbClr val="14202E"/>
                          </a:solidFill>
                          <a:latin typeface="JetBrains Mono" pitchFamily="49" charset="0"/>
                          <a:ea typeface="JetBrains Mono" pitchFamily="49" charset="-122"/>
                          <a:cs typeface="JetBrains Mono" pitchFamily="49" charset="-120"/>
                        </a:rPr>
                        <a:t>Buy 1 call for 5</a:t>
                      </a:r>
                      <a:endParaRPr lang="en-US" sz="2000" dirty="0">
                        <a:latin typeface="JetBrains Mono" charset="0"/>
                        <a:ea typeface="JetBrains Mono" charset="0"/>
                        <a:cs typeface="JetBrains Mono"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2000" dirty="0">
                          <a:solidFill>
                            <a:srgbClr val="2B65C8"/>
                          </a:solidFill>
                          <a:latin typeface="JetBrains Mono" pitchFamily="49" charset="0"/>
                          <a:ea typeface="JetBrains Mono" pitchFamily="49" charset="-122"/>
                          <a:cs typeface="JetBrains Mono" pitchFamily="49" charset="-120"/>
                        </a:rPr>
                        <a:t>120</a:t>
                      </a:r>
                      <a:endParaRPr lang="en-US" sz="20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2000" dirty="0">
                          <a:solidFill>
                            <a:srgbClr val="14202E"/>
                          </a:solidFill>
                          <a:latin typeface="JetBrains Mono" pitchFamily="49" charset="0"/>
                          <a:ea typeface="JetBrains Mono" pitchFamily="49" charset="-122"/>
                          <a:cs typeface="JetBrains Mono" pitchFamily="49" charset="-120"/>
                        </a:rPr>
                        <a:t>+20 · +20%</a:t>
                      </a:r>
                      <a:endParaRPr lang="en-US" sz="20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2000" dirty="0">
                          <a:solidFill>
                            <a:srgbClr val="2B65C8"/>
                          </a:solidFill>
                          <a:latin typeface="JetBrains Mono" pitchFamily="49" charset="0"/>
                          <a:ea typeface="JetBrains Mono" pitchFamily="49" charset="-122"/>
                          <a:cs typeface="JetBrains Mono" pitchFamily="49" charset="-120"/>
                        </a:rPr>
                        <a:t>+15 · +300%</a:t>
                      </a:r>
                      <a:endParaRPr lang="en-US" sz="20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2000" dirty="0">
                          <a:solidFill>
                            <a:srgbClr val="14202E"/>
                          </a:solidFill>
                          <a:latin typeface="JetBrains Mono" pitchFamily="49" charset="0"/>
                          <a:ea typeface="JetBrains Mono" pitchFamily="49" charset="-122"/>
                          <a:cs typeface="JetBrains Mono" pitchFamily="49" charset="-120"/>
                        </a:rPr>
                        <a:t>100</a:t>
                      </a:r>
                      <a:endParaRPr lang="en-US" sz="20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2000" dirty="0">
                          <a:solidFill>
                            <a:srgbClr val="14202E"/>
                          </a:solidFill>
                          <a:latin typeface="JetBrains Mono" pitchFamily="49" charset="0"/>
                          <a:ea typeface="JetBrains Mono" pitchFamily="49" charset="-122"/>
                          <a:cs typeface="JetBrains Mono" pitchFamily="49" charset="-120"/>
                        </a:rPr>
                        <a:t>0 · 0%</a:t>
                      </a:r>
                      <a:endParaRPr lang="en-US" sz="2000" dirty="0">
                        <a:latin typeface="JetBrains Mono" charset="0"/>
                        <a:ea typeface="JetBrains Mono" charset="0"/>
                        <a:cs typeface="JetBrains Mono"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2000" dirty="0">
                          <a:solidFill>
                            <a:srgbClr val="A9520F"/>
                          </a:solidFill>
                          <a:latin typeface="JetBrains Mono" pitchFamily="49" charset="0"/>
                          <a:ea typeface="JetBrains Mono" pitchFamily="49" charset="-122"/>
                          <a:cs typeface="JetBrains Mono" pitchFamily="49" charset="-120"/>
                        </a:rPr>
                        <a:t>−5 · −100%</a:t>
                      </a:r>
                      <a:endParaRPr lang="en-US" sz="2000" dirty="0">
                        <a:latin typeface="JetBrains Mono" charset="0"/>
                        <a:ea typeface="JetBrains Mono" charset="0"/>
                        <a:cs typeface="JetBrains Mono"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2"/>
                  </a:ext>
                </a:extLst>
              </a:tr>
              <a:tr h="386011">
                <a:tc>
                  <a:txBody>
                    <a:bodyPr/>
                    <a:lstStyle/>
                    <a:p>
                      <a:pPr marL="0" indent="0">
                        <a:lnSpc>
                          <a:spcPts val="1960"/>
                        </a:lnSpc>
                        <a:buNone/>
                      </a:pPr>
                      <a:r>
                        <a:rPr lang="en-US" sz="2000" dirty="0">
                          <a:solidFill>
                            <a:srgbClr val="A9520F"/>
                          </a:solidFill>
                          <a:latin typeface="JetBrains Mono" pitchFamily="49" charset="0"/>
                          <a:ea typeface="JetBrains Mono" pitchFamily="49" charset="-122"/>
                          <a:cs typeface="JetBrains Mono" pitchFamily="49" charset="-120"/>
                        </a:rPr>
                        <a:t>90</a:t>
                      </a:r>
                      <a:endParaRPr lang="en-US" sz="20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2000" dirty="0">
                          <a:solidFill>
                            <a:srgbClr val="14202E"/>
                          </a:solidFill>
                          <a:latin typeface="JetBrains Mono" pitchFamily="49" charset="0"/>
                          <a:ea typeface="JetBrains Mono" pitchFamily="49" charset="-122"/>
                          <a:cs typeface="JetBrains Mono" pitchFamily="49" charset="-120"/>
                        </a:rPr>
                        <a:t>−10 · −10%</a:t>
                      </a:r>
                      <a:endParaRPr lang="en-US" sz="20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2000" dirty="0">
                          <a:solidFill>
                            <a:srgbClr val="A9520F"/>
                          </a:solidFill>
                          <a:latin typeface="JetBrains Mono" pitchFamily="49" charset="0"/>
                          <a:ea typeface="JetBrains Mono" pitchFamily="49" charset="-122"/>
                          <a:cs typeface="JetBrains Mono" pitchFamily="49" charset="-120"/>
                        </a:rPr>
                        <a:t>−5 · −100%</a:t>
                      </a:r>
                      <a:endParaRPr lang="en-US" sz="20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C"/>
        </a:solidFill>
        <a:effectLst/>
      </p:bgPr>
    </p:bg>
    <p:spTree>
      <p:nvGrpSpPr>
        <p:cNvPr id="1" name=""/>
        <p:cNvGrpSpPr/>
        <p:nvPr/>
      </p:nvGrpSpPr>
      <p:grpSpPr>
        <a:xfrm>
          <a:off x="0" y="0"/>
          <a:ext cx="0" cy="0"/>
          <a:chOff x="0" y="0"/>
          <a:chExt cx="0" cy="0"/>
        </a:xfrm>
      </p:grpSpPr>
      <p:sp>
        <p:nvSpPr>
          <p:cNvPr id="18" name="Shape 11">
            <a:extLst>
              <a:ext uri="{FF2B5EF4-FFF2-40B4-BE49-F238E27FC236}">
                <a16:creationId xmlns:a16="http://schemas.microsoft.com/office/drawing/2014/main" id="{0672D2EC-739C-5B1F-B5EA-B28EE90C4DF6}"/>
              </a:ext>
            </a:extLst>
          </p:cNvPr>
          <p:cNvSpPr/>
          <p:nvPr/>
        </p:nvSpPr>
        <p:spPr>
          <a:xfrm>
            <a:off x="3470110" y="1424982"/>
            <a:ext cx="2686050" cy="2877790"/>
          </a:xfrm>
          <a:prstGeom prst="roundRect">
            <a:avLst>
              <a:gd name="adj" fmla="val 673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9" name="Shape 11">
            <a:extLst>
              <a:ext uri="{FF2B5EF4-FFF2-40B4-BE49-F238E27FC236}">
                <a16:creationId xmlns:a16="http://schemas.microsoft.com/office/drawing/2014/main" id="{DD28B24B-54A6-1ECD-A32B-3769D79DFABD}"/>
              </a:ext>
            </a:extLst>
          </p:cNvPr>
          <p:cNvSpPr/>
          <p:nvPr/>
        </p:nvSpPr>
        <p:spPr>
          <a:xfrm>
            <a:off x="6224674" y="1424981"/>
            <a:ext cx="2686050" cy="2877790"/>
          </a:xfrm>
          <a:prstGeom prst="roundRect">
            <a:avLst>
              <a:gd name="adj" fmla="val 673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20" name="Shape 11">
            <a:extLst>
              <a:ext uri="{FF2B5EF4-FFF2-40B4-BE49-F238E27FC236}">
                <a16:creationId xmlns:a16="http://schemas.microsoft.com/office/drawing/2014/main" id="{0A7F3B50-456A-58B7-3EDC-3B8678091222}"/>
              </a:ext>
            </a:extLst>
          </p:cNvPr>
          <p:cNvSpPr/>
          <p:nvPr/>
        </p:nvSpPr>
        <p:spPr>
          <a:xfrm>
            <a:off x="8970884" y="1424981"/>
            <a:ext cx="2686050" cy="2877790"/>
          </a:xfrm>
          <a:prstGeom prst="roundRect">
            <a:avLst>
              <a:gd name="adj" fmla="val 673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7" name="Shape 11">
            <a:extLst>
              <a:ext uri="{FF2B5EF4-FFF2-40B4-BE49-F238E27FC236}">
                <a16:creationId xmlns:a16="http://schemas.microsoft.com/office/drawing/2014/main" id="{487AEA4A-6EF4-BF08-4D38-7E0FE7A3B13F}"/>
              </a:ext>
            </a:extLst>
          </p:cNvPr>
          <p:cNvSpPr/>
          <p:nvPr/>
        </p:nvSpPr>
        <p:spPr>
          <a:xfrm>
            <a:off x="710248" y="1424982"/>
            <a:ext cx="2686050" cy="2877790"/>
          </a:xfrm>
          <a:prstGeom prst="roundRect">
            <a:avLst>
              <a:gd name="adj" fmla="val 673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00 · OPTIONS 101 · HISTORY</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Options are older than stock markets</a:t>
            </a:r>
            <a:endParaRPr lang="en-US" sz="3000" dirty="0"/>
          </a:p>
        </p:txBody>
      </p:sp>
      <p:sp>
        <p:nvSpPr>
          <p:cNvPr id="4" name="Shape 2"/>
          <p:cNvSpPr/>
          <p:nvPr/>
        </p:nvSpPr>
        <p:spPr>
          <a:xfrm>
            <a:off x="831221" y="1841500"/>
            <a:ext cx="10970228" cy="0"/>
          </a:xfrm>
          <a:prstGeom prst="line">
            <a:avLst/>
          </a:prstGeom>
          <a:noFill/>
          <a:ln w="25400">
            <a:solidFill>
              <a:srgbClr val="14202E"/>
            </a:solidFill>
            <a:prstDash val="solid"/>
          </a:ln>
        </p:spPr>
        <p:txBody>
          <a:bodyPr/>
          <a:lstStyle/>
          <a:p>
            <a:endParaRPr lang="en-SE"/>
          </a:p>
        </p:txBody>
      </p:sp>
      <p:sp>
        <p:nvSpPr>
          <p:cNvPr id="5" name="Text 3"/>
          <p:cNvSpPr/>
          <p:nvPr/>
        </p:nvSpPr>
        <p:spPr>
          <a:xfrm>
            <a:off x="824375" y="1506220"/>
            <a:ext cx="258349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chemeClr val="accent3"/>
                </a:solidFill>
                <a:latin typeface="JetBrains Mono" pitchFamily="49" charset="0"/>
                <a:ea typeface="JetBrains Mono" pitchFamily="49" charset="-122"/>
                <a:cs typeface="JetBrains Mono" pitchFamily="49" charset="-120"/>
              </a:rPr>
              <a:t>~600 BC</a:t>
            </a:r>
            <a:endParaRPr lang="en-US" sz="2000" dirty="0">
              <a:solidFill>
                <a:schemeClr val="accent3"/>
              </a:solidFill>
            </a:endParaRPr>
          </a:p>
        </p:txBody>
      </p:sp>
      <p:sp>
        <p:nvSpPr>
          <p:cNvPr id="6" name="Text 4"/>
          <p:cNvSpPr/>
          <p:nvPr/>
        </p:nvSpPr>
        <p:spPr>
          <a:xfrm>
            <a:off x="812800" y="2052320"/>
            <a:ext cx="258349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Thales’ olive presses</a:t>
            </a:r>
            <a:endParaRPr lang="en-US" sz="1600" dirty="0"/>
          </a:p>
        </p:txBody>
      </p:sp>
      <p:sp>
        <p:nvSpPr>
          <p:cNvPr id="7" name="Text 5"/>
          <p:cNvSpPr/>
          <p:nvPr/>
        </p:nvSpPr>
        <p:spPr>
          <a:xfrm>
            <a:off x="812800" y="2456170"/>
            <a:ext cx="2583498" cy="1572022"/>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Aristotle tells how Thales of Miletus paid small deposits for the use of olive presses before a bumper harvest — then rented them out at a profit. The first recorded call option.</a:t>
            </a:r>
            <a:endParaRPr lang="en-US" sz="1400" dirty="0"/>
          </a:p>
        </p:txBody>
      </p:sp>
      <p:sp>
        <p:nvSpPr>
          <p:cNvPr id="8" name="Text 6"/>
          <p:cNvSpPr/>
          <p:nvPr/>
        </p:nvSpPr>
        <p:spPr>
          <a:xfrm>
            <a:off x="3558553" y="1506220"/>
            <a:ext cx="258349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chemeClr val="accent3"/>
                </a:solidFill>
                <a:latin typeface="JetBrains Mono" pitchFamily="49" charset="0"/>
                <a:ea typeface="JetBrains Mono" pitchFamily="49" charset="-122"/>
                <a:cs typeface="JetBrains Mono" pitchFamily="49" charset="-120"/>
              </a:rPr>
              <a:t>1636–37</a:t>
            </a:r>
            <a:endParaRPr lang="en-US" sz="2000" dirty="0">
              <a:solidFill>
                <a:schemeClr val="accent3"/>
              </a:solidFill>
            </a:endParaRPr>
          </a:p>
        </p:txBody>
      </p:sp>
      <p:sp>
        <p:nvSpPr>
          <p:cNvPr id="9" name="Text 7"/>
          <p:cNvSpPr/>
          <p:nvPr/>
        </p:nvSpPr>
        <p:spPr>
          <a:xfrm>
            <a:off x="3546978" y="2052320"/>
            <a:ext cx="258349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Tulip mania</a:t>
            </a:r>
            <a:endParaRPr lang="en-US" sz="1600" dirty="0"/>
          </a:p>
        </p:txBody>
      </p:sp>
      <p:sp>
        <p:nvSpPr>
          <p:cNvPr id="10" name="Text 8"/>
          <p:cNvSpPr/>
          <p:nvPr/>
        </p:nvSpPr>
        <p:spPr>
          <a:xfrm>
            <a:off x="3546978" y="2456170"/>
            <a:ext cx="2583498" cy="1572022"/>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Dutch traders bought and sold the right to buy bulbs at fixed prices. When prices collapsed in February 1637, many contracts were never honoured in full.</a:t>
            </a:r>
            <a:endParaRPr lang="en-US" sz="1400" dirty="0"/>
          </a:p>
        </p:txBody>
      </p:sp>
      <p:sp>
        <p:nvSpPr>
          <p:cNvPr id="11" name="Text 9"/>
          <p:cNvSpPr/>
          <p:nvPr/>
        </p:nvSpPr>
        <p:spPr>
          <a:xfrm>
            <a:off x="6316335" y="1506220"/>
            <a:ext cx="258349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chemeClr val="accent3"/>
                </a:solidFill>
                <a:latin typeface="JetBrains Mono" pitchFamily="49" charset="0"/>
                <a:ea typeface="JetBrains Mono" pitchFamily="49" charset="-122"/>
                <a:cs typeface="JetBrains Mono" pitchFamily="49" charset="-120"/>
              </a:rPr>
              <a:t>1870s</a:t>
            </a:r>
            <a:endParaRPr lang="en-US" sz="2000" dirty="0">
              <a:solidFill>
                <a:schemeClr val="accent3"/>
              </a:solidFill>
            </a:endParaRPr>
          </a:p>
        </p:txBody>
      </p:sp>
      <p:sp>
        <p:nvSpPr>
          <p:cNvPr id="12" name="Text 10"/>
          <p:cNvSpPr/>
          <p:nvPr/>
        </p:nvSpPr>
        <p:spPr>
          <a:xfrm>
            <a:off x="6304760" y="2052320"/>
            <a:ext cx="258349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Russell Sage</a:t>
            </a:r>
            <a:endParaRPr lang="en-US" sz="1600" dirty="0"/>
          </a:p>
        </p:txBody>
      </p:sp>
      <p:sp>
        <p:nvSpPr>
          <p:cNvPr id="13" name="Text 11"/>
          <p:cNvSpPr/>
          <p:nvPr/>
        </p:nvSpPr>
        <p:spPr>
          <a:xfrm>
            <a:off x="6304760" y="2456170"/>
            <a:ext cx="2583498" cy="1314252"/>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A Wall Street financier combined puts, calls and stock into synthetic loans — using the put-call parity we will check later.</a:t>
            </a:r>
            <a:endParaRPr lang="en-US" sz="1400" dirty="0"/>
          </a:p>
        </p:txBody>
      </p:sp>
      <p:sp>
        <p:nvSpPr>
          <p:cNvPr id="14" name="Text 12"/>
          <p:cNvSpPr/>
          <p:nvPr/>
        </p:nvSpPr>
        <p:spPr>
          <a:xfrm>
            <a:off x="9051425" y="1506220"/>
            <a:ext cx="258349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chemeClr val="accent3"/>
                </a:solidFill>
                <a:latin typeface="JetBrains Mono" pitchFamily="49" charset="0"/>
                <a:ea typeface="JetBrains Mono" pitchFamily="49" charset="-122"/>
                <a:cs typeface="JetBrains Mono" pitchFamily="49" charset="-120"/>
              </a:rPr>
              <a:t>1973</a:t>
            </a:r>
            <a:endParaRPr lang="en-US" sz="2000" dirty="0">
              <a:solidFill>
                <a:schemeClr val="accent3"/>
              </a:solidFill>
            </a:endParaRPr>
          </a:p>
        </p:txBody>
      </p:sp>
      <p:sp>
        <p:nvSpPr>
          <p:cNvPr id="15" name="Text 13"/>
          <p:cNvSpPr/>
          <p:nvPr/>
        </p:nvSpPr>
        <p:spPr>
          <a:xfrm>
            <a:off x="9051425" y="2052320"/>
            <a:ext cx="258349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CBOE opens</a:t>
            </a:r>
            <a:endParaRPr lang="en-US" sz="1600" dirty="0"/>
          </a:p>
        </p:txBody>
      </p:sp>
      <p:sp>
        <p:nvSpPr>
          <p:cNvPr id="16" name="Text 14"/>
          <p:cNvSpPr/>
          <p:nvPr/>
        </p:nvSpPr>
        <p:spPr>
          <a:xfrm>
            <a:off x="9051425" y="2456170"/>
            <a:ext cx="2583498" cy="1572022"/>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First exchange for standardised, centrally cleared stock options. Same year as the Black-Scholes paper. Today: ~60 million US contracts a day.</a:t>
            </a:r>
            <a:endParaRPr lang="en-US" sz="1400" dirty="0"/>
          </a:p>
        </p:txBody>
      </p:sp>
      <p:pic>
        <p:nvPicPr>
          <p:cNvPr id="21" name="Ancient olive press illustration" descr="AI-generated conceptual illustration: Ancient olive press. Not an archival image."/>
          <p:cNvPicPr>
            <a:picLocks noChangeAspect="1"/>
          </p:cNvPicPr>
          <p:nvPr/>
        </p:nvPicPr>
        <p:blipFill>
          <a:blip r:embed="rId3"/>
          <a:stretch>
            <a:fillRect/>
          </a:stretch>
        </p:blipFill>
        <p:spPr>
          <a:xfrm>
            <a:off x="773113" y="4594271"/>
            <a:ext cx="2560320" cy="1729392"/>
          </a:xfrm>
          <a:prstGeom prst="rect">
            <a:avLst/>
          </a:prstGeom>
        </p:spPr>
      </p:pic>
      <p:pic>
        <p:nvPicPr>
          <p:cNvPr id="22" name="Tulips and bulbs illustration" descr="AI-generated conceptual illustration: Tulips and bulbs. Not an archival image."/>
          <p:cNvPicPr>
            <a:picLocks noChangeAspect="1"/>
          </p:cNvPicPr>
          <p:nvPr/>
        </p:nvPicPr>
        <p:blipFill>
          <a:blip r:embed="rId4"/>
          <a:stretch>
            <a:fillRect/>
          </a:stretch>
        </p:blipFill>
        <p:spPr>
          <a:xfrm>
            <a:off x="3554782" y="4507992"/>
            <a:ext cx="2516704" cy="1901952"/>
          </a:xfrm>
          <a:prstGeom prst="rect">
            <a:avLst/>
          </a:prstGeom>
        </p:spPr>
      </p:pic>
      <p:pic>
        <p:nvPicPr>
          <p:cNvPr id="23" name="Nineteenth-century finance ledger illustration" descr="AI-generated conceptual illustration: Nineteenth-century finance ledger. Not an archival image."/>
          <p:cNvPicPr>
            <a:picLocks noChangeAspect="1"/>
          </p:cNvPicPr>
          <p:nvPr/>
        </p:nvPicPr>
        <p:blipFill>
          <a:blip r:embed="rId5"/>
          <a:stretch>
            <a:fillRect/>
          </a:stretch>
        </p:blipFill>
        <p:spPr>
          <a:xfrm>
            <a:off x="6287539" y="4723593"/>
            <a:ext cx="2560320" cy="1470748"/>
          </a:xfrm>
          <a:prstGeom prst="rect">
            <a:avLst/>
          </a:prstGeom>
        </p:spPr>
      </p:pic>
      <p:pic>
        <p:nvPicPr>
          <p:cNvPr id="24" name="Exchange opening bell illustration" descr="AI-generated conceptual illustration: Exchange opening bell. Not an archival image."/>
          <p:cNvPicPr>
            <a:picLocks noChangeAspect="1"/>
          </p:cNvPicPr>
          <p:nvPr/>
        </p:nvPicPr>
        <p:blipFill>
          <a:blip r:embed="rId6"/>
          <a:stretch>
            <a:fillRect/>
          </a:stretch>
        </p:blipFill>
        <p:spPr>
          <a:xfrm>
            <a:off x="9033749" y="4603963"/>
            <a:ext cx="2560320" cy="17100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3A33B"/>
                </a:solidFill>
                <a:latin typeface="IBM Plex Sans" pitchFamily="34" charset="0"/>
                <a:ea typeface="IBM Plex Sans" pitchFamily="34" charset="-122"/>
                <a:cs typeface="IBM Plex Sans" pitchFamily="34" charset="-120"/>
              </a:rPr>
              <a:t>00 · OPTIONS 101 · HISTORY</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5F3EC"/>
                </a:solidFill>
                <a:latin typeface="Source Serif 4" pitchFamily="18" charset="0"/>
                <a:ea typeface="Source Serif 4" pitchFamily="18" charset="-122"/>
                <a:cs typeface="Source Serif 4" pitchFamily="18" charset="-120"/>
              </a:rPr>
              <a:t>…and they have blown up spectacularly</a:t>
            </a:r>
            <a:endParaRPr lang="en-US" sz="3000" dirty="0"/>
          </a:p>
        </p:txBody>
      </p:sp>
      <p:sp>
        <p:nvSpPr>
          <p:cNvPr id="4" name="Shape 2"/>
          <p:cNvSpPr/>
          <p:nvPr/>
        </p:nvSpPr>
        <p:spPr>
          <a:xfrm>
            <a:off x="812800" y="1460500"/>
            <a:ext cx="5207000" cy="1368326"/>
          </a:xfrm>
          <a:prstGeom prst="roundRect">
            <a:avLst>
              <a:gd name="adj" fmla="val 7425"/>
            </a:avLst>
          </a:prstGeom>
          <a:solidFill>
            <a:srgbClr val="1F2F42"/>
          </a:solidFill>
          <a:ln/>
          <a:effectLst>
            <a:outerShdw blurRad="50800" dist="38100" dir="2700000" algn="tl" rotWithShape="0">
              <a:prstClr val="black">
                <a:alpha val="40000"/>
              </a:prstClr>
            </a:outerShdw>
          </a:effectLst>
        </p:spPr>
        <p:txBody>
          <a:bodyPr/>
          <a:lstStyle/>
          <a:p>
            <a:endParaRPr lang="en-SE"/>
          </a:p>
        </p:txBody>
      </p:sp>
      <p:sp>
        <p:nvSpPr>
          <p:cNvPr id="5" name="Text 3"/>
          <p:cNvSpPr/>
          <p:nvPr/>
        </p:nvSpPr>
        <p:spPr>
          <a:xfrm>
            <a:off x="1016000" y="1638300"/>
            <a:ext cx="4944618"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E3A33B"/>
                </a:solidFill>
                <a:latin typeface="IBM Plex Sans" pitchFamily="34" charset="0"/>
                <a:ea typeface="IBM Plex Sans" pitchFamily="34" charset="-122"/>
                <a:cs typeface="IBM Plex Sans" pitchFamily="34" charset="-120"/>
              </a:rPr>
              <a:t>1987</a:t>
            </a:r>
            <a:r>
              <a:rPr lang="en-US" b="1" dirty="0">
                <a:solidFill>
                  <a:srgbClr val="F5F3EC"/>
                </a:solidFill>
                <a:latin typeface="IBM Plex Sans" pitchFamily="34" charset="0"/>
                <a:ea typeface="IBM Plex Sans" pitchFamily="34" charset="-122"/>
                <a:cs typeface="IBM Plex Sans" pitchFamily="34" charset="-120"/>
              </a:rPr>
              <a:t> · Black Monday</a:t>
            </a:r>
            <a:endParaRPr lang="en-US" dirty="0"/>
          </a:p>
        </p:txBody>
      </p:sp>
      <p:sp>
        <p:nvSpPr>
          <p:cNvPr id="6" name="Text 4"/>
          <p:cNvSpPr/>
          <p:nvPr/>
        </p:nvSpPr>
        <p:spPr>
          <a:xfrm>
            <a:off x="1016000" y="1932930"/>
            <a:ext cx="4944618" cy="743496"/>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BFCAD6"/>
                </a:solidFill>
                <a:latin typeface="IBM Plex Sans" pitchFamily="34" charset="0"/>
                <a:ea typeface="IBM Plex Sans" pitchFamily="34" charset="-122"/>
                <a:cs typeface="IBM Plex Sans" pitchFamily="34" charset="-120"/>
              </a:rPr>
              <a:t>“Portfolio insurance” copied a put by selling stock as prices fell — the very hedge we’ll build. Everyone sold at once: the Dow fell 22.6% on 19 October.</a:t>
            </a:r>
            <a:endParaRPr lang="en-US" sz="1400" dirty="0"/>
          </a:p>
        </p:txBody>
      </p:sp>
      <p:sp>
        <p:nvSpPr>
          <p:cNvPr id="7" name="Shape 5"/>
          <p:cNvSpPr/>
          <p:nvPr/>
        </p:nvSpPr>
        <p:spPr>
          <a:xfrm>
            <a:off x="6172200" y="1460500"/>
            <a:ext cx="5207000" cy="1368326"/>
          </a:xfrm>
          <a:prstGeom prst="roundRect">
            <a:avLst>
              <a:gd name="adj" fmla="val 7425"/>
            </a:avLst>
          </a:prstGeom>
          <a:solidFill>
            <a:srgbClr val="1F2F42"/>
          </a:solidFill>
          <a:ln/>
          <a:effectLst>
            <a:outerShdw blurRad="50800" dist="38100" dir="2700000" algn="tl" rotWithShape="0">
              <a:prstClr val="black">
                <a:alpha val="40000"/>
              </a:prstClr>
            </a:outerShdw>
          </a:effectLst>
        </p:spPr>
        <p:txBody>
          <a:bodyPr/>
          <a:lstStyle/>
          <a:p>
            <a:endParaRPr lang="en-SE"/>
          </a:p>
        </p:txBody>
      </p:sp>
      <p:sp>
        <p:nvSpPr>
          <p:cNvPr id="8" name="Text 6"/>
          <p:cNvSpPr/>
          <p:nvPr/>
        </p:nvSpPr>
        <p:spPr>
          <a:xfrm>
            <a:off x="6375400" y="1638300"/>
            <a:ext cx="4944618"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E3A33B"/>
                </a:solidFill>
                <a:latin typeface="IBM Plex Sans" pitchFamily="34" charset="0"/>
                <a:ea typeface="IBM Plex Sans" pitchFamily="34" charset="-122"/>
                <a:cs typeface="IBM Plex Sans" pitchFamily="34" charset="-120"/>
              </a:rPr>
              <a:t>1995</a:t>
            </a:r>
            <a:r>
              <a:rPr lang="en-US" b="1" dirty="0">
                <a:solidFill>
                  <a:srgbClr val="F5F3EC"/>
                </a:solidFill>
                <a:latin typeface="IBM Plex Sans" pitchFamily="34" charset="0"/>
                <a:ea typeface="IBM Plex Sans" pitchFamily="34" charset="-122"/>
                <a:cs typeface="IBM Plex Sans" pitchFamily="34" charset="-120"/>
              </a:rPr>
              <a:t> · Barings Bank</a:t>
            </a:r>
            <a:endParaRPr lang="en-US" dirty="0"/>
          </a:p>
        </p:txBody>
      </p:sp>
      <p:sp>
        <p:nvSpPr>
          <p:cNvPr id="9" name="Text 7"/>
          <p:cNvSpPr/>
          <p:nvPr/>
        </p:nvSpPr>
        <p:spPr>
          <a:xfrm>
            <a:off x="6375400" y="1932930"/>
            <a:ext cx="4944618" cy="743496"/>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BFCAD6"/>
                </a:solidFill>
                <a:latin typeface="IBM Plex Sans" pitchFamily="34" charset="0"/>
                <a:ea typeface="IBM Plex Sans" pitchFamily="34" charset="-122"/>
                <a:cs typeface="IBM Plex Sans" pitchFamily="34" charset="-120"/>
              </a:rPr>
              <a:t>Trader Nick Leeson sold Nikkei options betting on calm markets. The Kobe earthquake hit; losses of £827m sank a 233-year-old bank.</a:t>
            </a:r>
            <a:endParaRPr lang="en-US" sz="1400" dirty="0"/>
          </a:p>
        </p:txBody>
      </p:sp>
      <p:sp>
        <p:nvSpPr>
          <p:cNvPr id="10" name="Shape 8"/>
          <p:cNvSpPr/>
          <p:nvPr/>
        </p:nvSpPr>
        <p:spPr>
          <a:xfrm>
            <a:off x="812800" y="3474522"/>
            <a:ext cx="5207000" cy="1368326"/>
          </a:xfrm>
          <a:prstGeom prst="roundRect">
            <a:avLst>
              <a:gd name="adj" fmla="val 7425"/>
            </a:avLst>
          </a:prstGeom>
          <a:solidFill>
            <a:srgbClr val="1F2F42"/>
          </a:solidFill>
          <a:ln/>
          <a:effectLst>
            <a:outerShdw blurRad="50800" dist="38100" dir="2700000" algn="tl" rotWithShape="0">
              <a:prstClr val="black">
                <a:alpha val="40000"/>
              </a:prstClr>
            </a:outerShdw>
          </a:effectLst>
        </p:spPr>
        <p:txBody>
          <a:bodyPr/>
          <a:lstStyle/>
          <a:p>
            <a:endParaRPr lang="en-SE"/>
          </a:p>
        </p:txBody>
      </p:sp>
      <p:sp>
        <p:nvSpPr>
          <p:cNvPr id="11" name="Text 9"/>
          <p:cNvSpPr/>
          <p:nvPr/>
        </p:nvSpPr>
        <p:spPr>
          <a:xfrm>
            <a:off x="1016000" y="3652322"/>
            <a:ext cx="4944618"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E3A33B"/>
                </a:solidFill>
                <a:latin typeface="IBM Plex Sans" pitchFamily="34" charset="0"/>
                <a:ea typeface="IBM Plex Sans" pitchFamily="34" charset="-122"/>
                <a:cs typeface="IBM Plex Sans" pitchFamily="34" charset="-120"/>
              </a:rPr>
              <a:t>1998</a:t>
            </a:r>
            <a:r>
              <a:rPr lang="en-US" b="1" dirty="0">
                <a:solidFill>
                  <a:srgbClr val="F5F3EC"/>
                </a:solidFill>
                <a:latin typeface="IBM Plex Sans" pitchFamily="34" charset="0"/>
                <a:ea typeface="IBM Plex Sans" pitchFamily="34" charset="-122"/>
                <a:cs typeface="IBM Plex Sans" pitchFamily="34" charset="-120"/>
              </a:rPr>
              <a:t> · LTCM</a:t>
            </a:r>
            <a:endParaRPr lang="en-US" dirty="0"/>
          </a:p>
        </p:txBody>
      </p:sp>
      <p:sp>
        <p:nvSpPr>
          <p:cNvPr id="12" name="Text 10"/>
          <p:cNvSpPr/>
          <p:nvPr/>
        </p:nvSpPr>
        <p:spPr>
          <a:xfrm>
            <a:off x="1016000" y="3946952"/>
            <a:ext cx="4944618" cy="743496"/>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BFCAD6"/>
                </a:solidFill>
                <a:latin typeface="IBM Plex Sans" pitchFamily="34" charset="0"/>
                <a:ea typeface="IBM Plex Sans" pitchFamily="34" charset="-122"/>
                <a:cs typeface="IBM Plex Sans" pitchFamily="34" charset="-120"/>
              </a:rPr>
              <a:t>A hedge fund with Merton and Scholes on its board lost $4.6bn in under four months. The New York Fed brokered a $3.6bn rescue by 14 firms.</a:t>
            </a:r>
            <a:endParaRPr lang="en-US" sz="1400" dirty="0"/>
          </a:p>
        </p:txBody>
      </p:sp>
      <p:sp>
        <p:nvSpPr>
          <p:cNvPr id="13" name="Shape 11"/>
          <p:cNvSpPr/>
          <p:nvPr/>
        </p:nvSpPr>
        <p:spPr>
          <a:xfrm>
            <a:off x="6172200" y="3474522"/>
            <a:ext cx="5207000" cy="1368326"/>
          </a:xfrm>
          <a:prstGeom prst="roundRect">
            <a:avLst>
              <a:gd name="adj" fmla="val 7425"/>
            </a:avLst>
          </a:prstGeom>
          <a:solidFill>
            <a:srgbClr val="1F2F42"/>
          </a:solidFill>
          <a:ln/>
          <a:effectLst>
            <a:outerShdw blurRad="50800" dist="38100" dir="2700000" algn="tl" rotWithShape="0">
              <a:prstClr val="black">
                <a:alpha val="40000"/>
              </a:prstClr>
            </a:outerShdw>
          </a:effectLst>
        </p:spPr>
        <p:txBody>
          <a:bodyPr/>
          <a:lstStyle/>
          <a:p>
            <a:endParaRPr lang="en-SE"/>
          </a:p>
        </p:txBody>
      </p:sp>
      <p:sp>
        <p:nvSpPr>
          <p:cNvPr id="14" name="Text 12"/>
          <p:cNvSpPr/>
          <p:nvPr/>
        </p:nvSpPr>
        <p:spPr>
          <a:xfrm>
            <a:off x="6375400" y="3652322"/>
            <a:ext cx="4944618"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E3A33B"/>
                </a:solidFill>
                <a:latin typeface="IBM Plex Sans" pitchFamily="34" charset="0"/>
                <a:ea typeface="IBM Plex Sans" pitchFamily="34" charset="-122"/>
                <a:cs typeface="IBM Plex Sans" pitchFamily="34" charset="-120"/>
              </a:rPr>
              <a:t>2021</a:t>
            </a:r>
            <a:r>
              <a:rPr lang="en-US" b="1" dirty="0">
                <a:solidFill>
                  <a:srgbClr val="F5F3EC"/>
                </a:solidFill>
                <a:latin typeface="IBM Plex Sans" pitchFamily="34" charset="0"/>
                <a:ea typeface="IBM Plex Sans" pitchFamily="34" charset="-122"/>
                <a:cs typeface="IBM Plex Sans" pitchFamily="34" charset="-120"/>
              </a:rPr>
              <a:t> · GameStop</a:t>
            </a:r>
            <a:endParaRPr lang="en-US" dirty="0"/>
          </a:p>
        </p:txBody>
      </p:sp>
      <p:sp>
        <p:nvSpPr>
          <p:cNvPr id="15" name="Text 13"/>
          <p:cNvSpPr/>
          <p:nvPr/>
        </p:nvSpPr>
        <p:spPr>
          <a:xfrm>
            <a:off x="6375400" y="3946952"/>
            <a:ext cx="4944618" cy="743496"/>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BFCAD6"/>
                </a:solidFill>
                <a:latin typeface="IBM Plex Sans" pitchFamily="34" charset="0"/>
                <a:ea typeface="IBM Plex Sans" pitchFamily="34" charset="-122"/>
                <a:cs typeface="IBM Plex Sans" pitchFamily="34" charset="-120"/>
              </a:rPr>
              <a:t>Retail traders bought calls en masse. Dealers hedging them had to buy shares, pushing the price higher still — a “gamma squeeze”.</a:t>
            </a:r>
            <a:endParaRPr lang="en-US" sz="1400" dirty="0"/>
          </a:p>
        </p:txBody>
      </p:sp>
      <p:sp>
        <p:nvSpPr>
          <p:cNvPr id="16" name="Text 14"/>
          <p:cNvSpPr/>
          <p:nvPr/>
        </p:nvSpPr>
        <p:spPr>
          <a:xfrm>
            <a:off x="812800" y="5805378"/>
            <a:ext cx="10566400" cy="672959"/>
          </a:xfrm>
          <a:prstGeom prst="rect">
            <a:avLst/>
          </a:prstGeom>
          <a:solidFill>
            <a:schemeClr val="accent3">
              <a:lumMod val="50000"/>
            </a:schemeClr>
          </a:solidFill>
          <a:ln/>
          <a:effectLst>
            <a:outerShdw blurRad="50800" dist="38100" dir="2700000" algn="tl" rotWithShape="0">
              <a:prstClr val="black">
                <a:alpha val="40000"/>
              </a:prstClr>
            </a:outerShdw>
          </a:effectLst>
        </p:spPr>
        <p:txBody>
          <a:bodyPr wrap="square" lIns="0" tIns="0" rIns="0" bIns="0" rtlCol="0" anchor="ctr">
            <a:normAutofit/>
          </a:bodyPr>
          <a:lstStyle/>
          <a:p>
            <a:pPr marL="0" indent="0" algn="ctr">
              <a:lnSpc>
                <a:spcPts val="2600"/>
              </a:lnSpc>
              <a:buNone/>
            </a:pPr>
            <a:r>
              <a:rPr lang="en-US" sz="2400" i="1" dirty="0">
                <a:solidFill>
                  <a:schemeClr val="bg1"/>
                </a:solidFill>
                <a:latin typeface="Source Serif 4" pitchFamily="18" charset="0"/>
                <a:ea typeface="Source Serif 4" pitchFamily="18" charset="-122"/>
                <a:cs typeface="Source Serif 4" pitchFamily="18" charset="-120"/>
              </a:rPr>
              <a:t>Lesson: the model is a tool. Its assumptions are where the bodies are buried.</a:t>
            </a:r>
            <a:endParaRPr lang="en-US" sz="24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E3A33B"/>
                </a:solidFill>
                <a:latin typeface="IBM Plex Sans" pitchFamily="34" charset="0"/>
                <a:ea typeface="IBM Plex Sans" pitchFamily="34" charset="-122"/>
                <a:cs typeface="IBM Plex Sans" pitchFamily="34" charset="-120"/>
              </a:rPr>
              <a:t>00 · OPTIONS 101 · HISTORY</a:t>
            </a:r>
            <a:endParaRPr lang="en-US" sz="120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F5F3EC"/>
                </a:solidFill>
                <a:latin typeface="Source Serif 4" pitchFamily="18" charset="0"/>
                <a:ea typeface="Source Serif 4" pitchFamily="18" charset="-122"/>
                <a:cs typeface="Source Serif 4" pitchFamily="18" charset="-120"/>
              </a:rPr>
              <a:t>Black Monday: hedging into a falling market</a:t>
            </a:r>
            <a:endParaRPr lang="en-US" sz="3000"/>
          </a:p>
        </p:txBody>
      </p:sp>
      <p:sp>
        <p:nvSpPr>
          <p:cNvPr id="4" name="TextBox 3"/>
          <p:cNvSpPr txBox="1"/>
          <p:nvPr/>
        </p:nvSpPr>
        <p:spPr>
          <a:xfrm>
            <a:off x="812901" y="1299636"/>
            <a:ext cx="4846320" cy="228600"/>
          </a:xfrm>
          <a:prstGeom prst="rect">
            <a:avLst/>
          </a:prstGeom>
          <a:noFill/>
        </p:spPr>
        <p:txBody>
          <a:bodyPr wrap="square" lIns="0" tIns="0" rIns="0" bIns="0">
            <a:spAutoFit/>
          </a:bodyPr>
          <a:lstStyle/>
          <a:p>
            <a:pPr>
              <a:spcBef>
                <a:spcPts val="0"/>
              </a:spcBef>
              <a:spcAft>
                <a:spcPts val="0"/>
              </a:spcAft>
            </a:pPr>
            <a:r>
              <a:rPr sz="1200" b="1" i="0">
                <a:solidFill>
                  <a:srgbClr val="E3A33B"/>
                </a:solidFill>
                <a:latin typeface="IBM Plex Sans"/>
              </a:rPr>
              <a:t>19 OCTOBER 1987</a:t>
            </a:r>
          </a:p>
        </p:txBody>
      </p:sp>
      <p:sp>
        <p:nvSpPr>
          <p:cNvPr id="5" name="TextBox 4"/>
          <p:cNvSpPr txBox="1"/>
          <p:nvPr/>
        </p:nvSpPr>
        <p:spPr>
          <a:xfrm>
            <a:off x="812901" y="1610532"/>
            <a:ext cx="4846320" cy="512064"/>
          </a:xfrm>
          <a:prstGeom prst="rect">
            <a:avLst/>
          </a:prstGeom>
          <a:noFill/>
        </p:spPr>
        <p:txBody>
          <a:bodyPr wrap="square" lIns="0" tIns="0" rIns="0" bIns="0">
            <a:spAutoFit/>
          </a:bodyPr>
          <a:lstStyle/>
          <a:p>
            <a:pPr>
              <a:spcBef>
                <a:spcPts val="0"/>
              </a:spcBef>
              <a:spcAft>
                <a:spcPts val="0"/>
              </a:spcAft>
            </a:pPr>
            <a:r>
              <a:rPr sz="3400" b="1" i="0">
                <a:solidFill>
                  <a:srgbClr val="F5F3EC"/>
                </a:solidFill>
                <a:latin typeface="Source Serif 4"/>
              </a:rPr>
              <a:t>−22.6%</a:t>
            </a:r>
          </a:p>
        </p:txBody>
      </p:sp>
      <p:sp>
        <p:nvSpPr>
          <p:cNvPr id="6" name="TextBox 5"/>
          <p:cNvSpPr txBox="1"/>
          <p:nvPr/>
        </p:nvSpPr>
        <p:spPr>
          <a:xfrm>
            <a:off x="812901" y="2186604"/>
            <a:ext cx="4846320" cy="329184"/>
          </a:xfrm>
          <a:prstGeom prst="rect">
            <a:avLst/>
          </a:prstGeom>
          <a:noFill/>
        </p:spPr>
        <p:txBody>
          <a:bodyPr wrap="square" lIns="0" tIns="0" rIns="0" bIns="0">
            <a:spAutoFit/>
          </a:bodyPr>
          <a:lstStyle/>
          <a:p>
            <a:pPr>
              <a:spcBef>
                <a:spcPts val="0"/>
              </a:spcBef>
              <a:spcAft>
                <a:spcPts val="0"/>
              </a:spcAft>
            </a:pPr>
            <a:r>
              <a:rPr sz="1300" b="0" i="0">
                <a:solidFill>
                  <a:srgbClr val="BFCAD6"/>
                </a:solidFill>
                <a:latin typeface="IBM Plex Sans"/>
              </a:rPr>
              <a:t>Dow Jones decline in one trading session</a:t>
            </a:r>
          </a:p>
        </p:txBody>
      </p:sp>
      <p:sp>
        <p:nvSpPr>
          <p:cNvPr id="7" name="TextBox 6"/>
          <p:cNvSpPr txBox="1"/>
          <p:nvPr/>
        </p:nvSpPr>
        <p:spPr>
          <a:xfrm>
            <a:off x="812901" y="2543220"/>
            <a:ext cx="4846320" cy="201168"/>
          </a:xfrm>
          <a:prstGeom prst="rect">
            <a:avLst/>
          </a:prstGeom>
          <a:noFill/>
        </p:spPr>
        <p:txBody>
          <a:bodyPr wrap="square" lIns="0" tIns="0" rIns="0" bIns="0">
            <a:spAutoFit/>
          </a:bodyPr>
          <a:lstStyle/>
          <a:p>
            <a:pPr>
              <a:spcBef>
                <a:spcPts val="0"/>
              </a:spcBef>
              <a:spcAft>
                <a:spcPts val="0"/>
              </a:spcAft>
            </a:pPr>
            <a:r>
              <a:rPr sz="1100" b="1" i="0">
                <a:solidFill>
                  <a:srgbClr val="E3A33B"/>
                </a:solidFill>
                <a:latin typeface="IBM Plex Sans"/>
              </a:rPr>
              <a:t>BACKGROUND</a:t>
            </a:r>
          </a:p>
        </p:txBody>
      </p:sp>
      <p:sp>
        <p:nvSpPr>
          <p:cNvPr id="8" name="TextBox 7"/>
          <p:cNvSpPr txBox="1"/>
          <p:nvPr/>
        </p:nvSpPr>
        <p:spPr>
          <a:xfrm>
            <a:off x="812901" y="2808396"/>
            <a:ext cx="4846320" cy="685800"/>
          </a:xfrm>
          <a:prstGeom prst="rect">
            <a:avLst/>
          </a:prstGeom>
          <a:noFill/>
        </p:spPr>
        <p:txBody>
          <a:bodyPr wrap="square" lIns="0" tIns="0" rIns="0" bIns="0">
            <a:spAutoFit/>
          </a:bodyPr>
          <a:lstStyle/>
          <a:p>
            <a:pPr>
              <a:spcBef>
                <a:spcPts val="0"/>
              </a:spcBef>
              <a:spcAft>
                <a:spcPts val="0"/>
              </a:spcAft>
            </a:pPr>
            <a:r>
              <a:rPr sz="1600" b="0" i="0">
                <a:solidFill>
                  <a:srgbClr val="BFCAD6"/>
                </a:solidFill>
                <a:latin typeface="IBM Plex Sans"/>
              </a:rPr>
              <a:t>Portfolio insurance sought to mimic a protective put by cutting equity exposure as markets fell.</a:t>
            </a:r>
          </a:p>
        </p:txBody>
      </p:sp>
      <p:sp>
        <p:nvSpPr>
          <p:cNvPr id="9" name="TextBox 8"/>
          <p:cNvSpPr txBox="1"/>
          <p:nvPr/>
        </p:nvSpPr>
        <p:spPr>
          <a:xfrm>
            <a:off x="812901" y="3594780"/>
            <a:ext cx="4846320" cy="201168"/>
          </a:xfrm>
          <a:prstGeom prst="rect">
            <a:avLst/>
          </a:prstGeom>
          <a:noFill/>
        </p:spPr>
        <p:txBody>
          <a:bodyPr wrap="square" lIns="0" tIns="0" rIns="0" bIns="0">
            <a:spAutoFit/>
          </a:bodyPr>
          <a:lstStyle/>
          <a:p>
            <a:pPr>
              <a:spcBef>
                <a:spcPts val="0"/>
              </a:spcBef>
              <a:spcAft>
                <a:spcPts val="0"/>
              </a:spcAft>
            </a:pPr>
            <a:r>
              <a:rPr sz="1100" b="1" i="0">
                <a:solidFill>
                  <a:srgbClr val="E3A33B"/>
                </a:solidFill>
                <a:latin typeface="IBM Plex Sans"/>
              </a:rPr>
              <a:t>FEEDBACK LOOP</a:t>
            </a:r>
          </a:p>
        </p:txBody>
      </p:sp>
      <p:sp>
        <p:nvSpPr>
          <p:cNvPr id="10" name="TextBox 9"/>
          <p:cNvSpPr txBox="1"/>
          <p:nvPr/>
        </p:nvSpPr>
        <p:spPr>
          <a:xfrm>
            <a:off x="812901" y="3859956"/>
            <a:ext cx="4846320" cy="685800"/>
          </a:xfrm>
          <a:prstGeom prst="rect">
            <a:avLst/>
          </a:prstGeom>
          <a:noFill/>
        </p:spPr>
        <p:txBody>
          <a:bodyPr wrap="square" lIns="0" tIns="0" rIns="0" bIns="0">
            <a:spAutoFit/>
          </a:bodyPr>
          <a:lstStyle/>
          <a:p>
            <a:pPr>
              <a:spcBef>
                <a:spcPts val="0"/>
              </a:spcBef>
              <a:spcAft>
                <a:spcPts val="0"/>
              </a:spcAft>
            </a:pPr>
            <a:r>
              <a:rPr sz="1600" b="0" i="0">
                <a:solidFill>
                  <a:srgbClr val="BFCAD6"/>
                </a:solidFill>
                <a:latin typeface="IBM Plex Sans"/>
              </a:rPr>
              <a:t>Simultaneous selling added pressure to falling prices. Trading systems and liquidity struggled under the volume.</a:t>
            </a:r>
          </a:p>
        </p:txBody>
      </p:sp>
      <p:sp>
        <p:nvSpPr>
          <p:cNvPr id="11" name="TextBox 10"/>
          <p:cNvSpPr txBox="1"/>
          <p:nvPr/>
        </p:nvSpPr>
        <p:spPr>
          <a:xfrm>
            <a:off x="812901" y="4754628"/>
            <a:ext cx="4846320" cy="201168"/>
          </a:xfrm>
          <a:prstGeom prst="rect">
            <a:avLst/>
          </a:prstGeom>
          <a:noFill/>
        </p:spPr>
        <p:txBody>
          <a:bodyPr wrap="square" lIns="0" tIns="0" rIns="0" bIns="0">
            <a:spAutoFit/>
          </a:bodyPr>
          <a:lstStyle/>
          <a:p>
            <a:pPr>
              <a:spcBef>
                <a:spcPts val="0"/>
              </a:spcBef>
              <a:spcAft>
                <a:spcPts val="0"/>
              </a:spcAft>
            </a:pPr>
            <a:r>
              <a:rPr sz="1100" b="1" i="0">
                <a:solidFill>
                  <a:srgbClr val="E3A33B"/>
                </a:solidFill>
                <a:latin typeface="IBM Plex Sans"/>
              </a:rPr>
              <a:t>AFTERMATH</a:t>
            </a:r>
          </a:p>
        </p:txBody>
      </p:sp>
      <p:sp>
        <p:nvSpPr>
          <p:cNvPr id="12" name="TextBox 11"/>
          <p:cNvSpPr txBox="1"/>
          <p:nvPr/>
        </p:nvSpPr>
        <p:spPr>
          <a:xfrm>
            <a:off x="812901" y="5019804"/>
            <a:ext cx="4846320" cy="685800"/>
          </a:xfrm>
          <a:prstGeom prst="rect">
            <a:avLst/>
          </a:prstGeom>
          <a:noFill/>
        </p:spPr>
        <p:txBody>
          <a:bodyPr wrap="square" lIns="0" tIns="0" rIns="0" bIns="0">
            <a:spAutoFit/>
          </a:bodyPr>
          <a:lstStyle/>
          <a:p>
            <a:pPr>
              <a:spcBef>
                <a:spcPts val="0"/>
              </a:spcBef>
              <a:spcAft>
                <a:spcPts val="0"/>
              </a:spcAft>
            </a:pPr>
            <a:r>
              <a:rPr sz="1600" b="0" i="0">
                <a:solidFill>
                  <a:srgbClr val="BFCAD6"/>
                </a:solidFill>
                <a:latin typeface="IBM Plex Sans"/>
              </a:rPr>
              <a:t>The Fed supplied liquidity. Exchanges later introduced circuit breakers to pause rapid sell-offs.</a:t>
            </a:r>
          </a:p>
        </p:txBody>
      </p:sp>
      <p:pic>
        <p:nvPicPr>
          <p:cNvPr id="13" name="Black Monday conceptual illustration" descr="AI-generated conceptual editorial illustration, not an archival depiction."/>
          <p:cNvPicPr>
            <a:picLocks noChangeAspect="1"/>
          </p:cNvPicPr>
          <p:nvPr/>
        </p:nvPicPr>
        <p:blipFill>
          <a:blip r:embed="rId3"/>
          <a:stretch>
            <a:fillRect/>
          </a:stretch>
        </p:blipFill>
        <p:spPr>
          <a:xfrm>
            <a:off x="6853428" y="1554480"/>
            <a:ext cx="4133087" cy="4133087"/>
          </a:xfrm>
          <a:prstGeom prst="rect">
            <a:avLst/>
          </a:prstGeom>
        </p:spPr>
      </p:pic>
      <p:sp>
        <p:nvSpPr>
          <p:cNvPr id="15" name="TextBox 14"/>
          <p:cNvSpPr txBox="1"/>
          <p:nvPr/>
        </p:nvSpPr>
        <p:spPr>
          <a:xfrm>
            <a:off x="812901" y="5780196"/>
            <a:ext cx="10570464" cy="402336"/>
          </a:xfrm>
          <a:prstGeom prst="rect">
            <a:avLst/>
          </a:prstGeom>
          <a:noFill/>
        </p:spPr>
        <p:txBody>
          <a:bodyPr wrap="square" lIns="0" tIns="0" rIns="0" bIns="0">
            <a:spAutoFit/>
          </a:bodyPr>
          <a:lstStyle/>
          <a:p>
            <a:pPr>
              <a:spcBef>
                <a:spcPts val="0"/>
              </a:spcBef>
              <a:spcAft>
                <a:spcPts val="0"/>
              </a:spcAft>
            </a:pPr>
            <a:r>
              <a:rPr sz="2100" b="0" i="1">
                <a:solidFill>
                  <a:srgbClr val="E3A33B"/>
                </a:solidFill>
                <a:latin typeface="Source Serif 4"/>
              </a:rPr>
              <a:t>A hedge depends on the ability to trade when markets move.</a:t>
            </a:r>
          </a:p>
        </p:txBody>
      </p:sp>
      <p:sp>
        <p:nvSpPr>
          <p:cNvPr id="16" name="TextBox 15">
            <a:extLst>
              <a:ext uri="{FF2B5EF4-FFF2-40B4-BE49-F238E27FC236}">
                <a16:creationId xmlns:a16="http://schemas.microsoft.com/office/drawing/2014/main" id="{BE239E17-441A-B58E-4D94-8E332B96F620}"/>
              </a:ext>
            </a:extLst>
          </p:cNvPr>
          <p:cNvSpPr txBox="1"/>
          <p:nvPr/>
        </p:nvSpPr>
        <p:spPr>
          <a:xfrm>
            <a:off x="6181734" y="6198249"/>
            <a:ext cx="6115792" cy="646331"/>
          </a:xfrm>
          <a:prstGeom prst="rect">
            <a:avLst/>
          </a:prstGeom>
          <a:noFill/>
        </p:spPr>
        <p:txBody>
          <a:bodyPr wrap="square">
            <a:spAutoFit/>
          </a:bodyPr>
          <a:lstStyle/>
          <a:p>
            <a:r>
              <a:rPr lang="en-GB" sz="1200" dirty="0">
                <a:solidFill>
                  <a:schemeClr val="bg2">
                    <a:lumMod val="75000"/>
                  </a:schemeClr>
                </a:solidFill>
              </a:rPr>
              <a:t>https://</a:t>
            </a:r>
            <a:r>
              <a:rPr lang="en-GB" sz="1200" dirty="0" err="1">
                <a:solidFill>
                  <a:schemeClr val="bg2">
                    <a:lumMod val="75000"/>
                  </a:schemeClr>
                </a:solidFill>
              </a:rPr>
              <a:t>www.federalreservehistory.org</a:t>
            </a:r>
            <a:r>
              <a:rPr lang="en-GB" sz="1200" dirty="0">
                <a:solidFill>
                  <a:schemeClr val="bg2">
                    <a:lumMod val="75000"/>
                  </a:schemeClr>
                </a:solidFill>
              </a:rPr>
              <a:t>/essays/stock-market-crash-of-1987</a:t>
            </a:r>
          </a:p>
          <a:p>
            <a:r>
              <a:rPr lang="en-GB" sz="1200" dirty="0">
                <a:solidFill>
                  <a:schemeClr val="bg2">
                    <a:lumMod val="75000"/>
                  </a:schemeClr>
                </a:solidFill>
              </a:rPr>
              <a:t>https://</a:t>
            </a:r>
            <a:r>
              <a:rPr lang="en-GB" sz="1200" dirty="0" err="1">
                <a:solidFill>
                  <a:schemeClr val="bg2">
                    <a:lumMod val="75000"/>
                  </a:schemeClr>
                </a:solidFill>
              </a:rPr>
              <a:t>www.federalreserve.gov</a:t>
            </a:r>
            <a:r>
              <a:rPr lang="en-GB" sz="1200" dirty="0">
                <a:solidFill>
                  <a:schemeClr val="bg2">
                    <a:lumMod val="75000"/>
                  </a:schemeClr>
                </a:solidFill>
              </a:rPr>
              <a:t>/pubs/feds/2007/200713/</a:t>
            </a:r>
          </a:p>
          <a:p>
            <a:r>
              <a:rPr lang="en-GB" sz="1200" dirty="0">
                <a:solidFill>
                  <a:schemeClr val="bg2">
                    <a:lumMod val="75000"/>
                  </a:schemeClr>
                </a:solidFill>
              </a:rPr>
              <a:t>https://</a:t>
            </a:r>
            <a:r>
              <a:rPr lang="en-GB" sz="1200" dirty="0" err="1">
                <a:solidFill>
                  <a:schemeClr val="bg2">
                    <a:lumMod val="75000"/>
                  </a:schemeClr>
                </a:solidFill>
              </a:rPr>
              <a:t>www.nber.org</a:t>
            </a:r>
            <a:r>
              <a:rPr lang="en-GB" sz="1200" dirty="0">
                <a:solidFill>
                  <a:schemeClr val="bg2">
                    <a:lumMod val="75000"/>
                  </a:schemeClr>
                </a:solidFill>
              </a:rPr>
              <a:t>/system/files/chapters/c10958/c10958.pdf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E3A33B"/>
                </a:solidFill>
                <a:latin typeface="IBM Plex Sans" pitchFamily="34" charset="0"/>
                <a:ea typeface="IBM Plex Sans" pitchFamily="34" charset="-122"/>
                <a:cs typeface="IBM Plex Sans" pitchFamily="34" charset="-120"/>
              </a:rPr>
              <a:t>00 · OPTIONS 101 · HISTORY</a:t>
            </a:r>
            <a:endParaRPr lang="en-US" sz="120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F5F3EC"/>
                </a:solidFill>
                <a:latin typeface="Source Serif 4" pitchFamily="18" charset="0"/>
                <a:ea typeface="Source Serif 4" pitchFamily="18" charset="-122"/>
                <a:cs typeface="Source Serif 4" pitchFamily="18" charset="-120"/>
              </a:rPr>
              <a:t>Barings Bank: hidden trades, failed controls</a:t>
            </a:r>
            <a:endParaRPr lang="en-US" sz="3000"/>
          </a:p>
        </p:txBody>
      </p:sp>
      <p:sp>
        <p:nvSpPr>
          <p:cNvPr id="4" name="TextBox 3"/>
          <p:cNvSpPr txBox="1"/>
          <p:nvPr/>
        </p:nvSpPr>
        <p:spPr>
          <a:xfrm>
            <a:off x="6355080" y="1572768"/>
            <a:ext cx="5029200" cy="228600"/>
          </a:xfrm>
          <a:prstGeom prst="rect">
            <a:avLst/>
          </a:prstGeom>
          <a:noFill/>
        </p:spPr>
        <p:txBody>
          <a:bodyPr wrap="square" lIns="0" tIns="0" rIns="0" bIns="0">
            <a:spAutoFit/>
          </a:bodyPr>
          <a:lstStyle/>
          <a:p>
            <a:pPr>
              <a:spcBef>
                <a:spcPts val="0"/>
              </a:spcBef>
              <a:spcAft>
                <a:spcPts val="0"/>
              </a:spcAft>
            </a:pPr>
            <a:r>
              <a:rPr sz="1200" b="1" i="0">
                <a:solidFill>
                  <a:srgbClr val="E3A33B"/>
                </a:solidFill>
                <a:latin typeface="IBM Plex Sans"/>
              </a:rPr>
              <a:t>FEBRUARY 1995</a:t>
            </a:r>
          </a:p>
        </p:txBody>
      </p:sp>
      <p:sp>
        <p:nvSpPr>
          <p:cNvPr id="5" name="TextBox 4"/>
          <p:cNvSpPr txBox="1"/>
          <p:nvPr/>
        </p:nvSpPr>
        <p:spPr>
          <a:xfrm>
            <a:off x="6355080" y="1883664"/>
            <a:ext cx="5029200" cy="512064"/>
          </a:xfrm>
          <a:prstGeom prst="rect">
            <a:avLst/>
          </a:prstGeom>
          <a:noFill/>
        </p:spPr>
        <p:txBody>
          <a:bodyPr wrap="square" lIns="0" tIns="0" rIns="0" bIns="0">
            <a:spAutoFit/>
          </a:bodyPr>
          <a:lstStyle/>
          <a:p>
            <a:pPr>
              <a:spcBef>
                <a:spcPts val="0"/>
              </a:spcBef>
              <a:spcAft>
                <a:spcPts val="0"/>
              </a:spcAft>
            </a:pPr>
            <a:r>
              <a:rPr sz="3400" b="1" i="0">
                <a:solidFill>
                  <a:srgbClr val="F5F3EC"/>
                </a:solidFill>
                <a:latin typeface="Source Serif 4"/>
              </a:rPr>
              <a:t>£827m</a:t>
            </a:r>
          </a:p>
        </p:txBody>
      </p:sp>
      <p:sp>
        <p:nvSpPr>
          <p:cNvPr id="6" name="TextBox 5"/>
          <p:cNvSpPr txBox="1"/>
          <p:nvPr/>
        </p:nvSpPr>
        <p:spPr>
          <a:xfrm>
            <a:off x="6355080" y="2459736"/>
            <a:ext cx="5029200" cy="329184"/>
          </a:xfrm>
          <a:prstGeom prst="rect">
            <a:avLst/>
          </a:prstGeom>
          <a:noFill/>
        </p:spPr>
        <p:txBody>
          <a:bodyPr wrap="square" lIns="0" tIns="0" rIns="0" bIns="0">
            <a:spAutoFit/>
          </a:bodyPr>
          <a:lstStyle/>
          <a:p>
            <a:pPr>
              <a:spcBef>
                <a:spcPts val="0"/>
              </a:spcBef>
              <a:spcAft>
                <a:spcPts val="0"/>
              </a:spcAft>
            </a:pPr>
            <a:r>
              <a:rPr sz="1300" b="0" i="0">
                <a:solidFill>
                  <a:srgbClr val="BFCAD6"/>
                </a:solidFill>
                <a:latin typeface="IBM Plex Sans"/>
              </a:rPr>
              <a:t>Reported trading losses</a:t>
            </a:r>
          </a:p>
        </p:txBody>
      </p:sp>
      <p:sp>
        <p:nvSpPr>
          <p:cNvPr id="7" name="TextBox 6"/>
          <p:cNvSpPr txBox="1"/>
          <p:nvPr/>
        </p:nvSpPr>
        <p:spPr>
          <a:xfrm>
            <a:off x="6355080" y="2876512"/>
            <a:ext cx="5029200" cy="201168"/>
          </a:xfrm>
          <a:prstGeom prst="rect">
            <a:avLst/>
          </a:prstGeom>
          <a:noFill/>
        </p:spPr>
        <p:txBody>
          <a:bodyPr wrap="square" lIns="0" tIns="0" rIns="0" bIns="0">
            <a:spAutoFit/>
          </a:bodyPr>
          <a:lstStyle/>
          <a:p>
            <a:pPr>
              <a:spcBef>
                <a:spcPts val="0"/>
              </a:spcBef>
              <a:spcAft>
                <a:spcPts val="0"/>
              </a:spcAft>
            </a:pPr>
            <a:r>
              <a:rPr sz="1100" b="1" i="0" dirty="0">
                <a:solidFill>
                  <a:srgbClr val="E3A33B"/>
                </a:solidFill>
                <a:latin typeface="IBM Plex Sans"/>
              </a:rPr>
              <a:t>BACKGROUND</a:t>
            </a:r>
          </a:p>
        </p:txBody>
      </p:sp>
      <p:sp>
        <p:nvSpPr>
          <p:cNvPr id="8" name="TextBox 7"/>
          <p:cNvSpPr txBox="1"/>
          <p:nvPr/>
        </p:nvSpPr>
        <p:spPr>
          <a:xfrm>
            <a:off x="6355080" y="3081528"/>
            <a:ext cx="5029200" cy="685800"/>
          </a:xfrm>
          <a:prstGeom prst="rect">
            <a:avLst/>
          </a:prstGeom>
          <a:noFill/>
        </p:spPr>
        <p:txBody>
          <a:bodyPr wrap="square" lIns="0" tIns="0" rIns="0" bIns="0">
            <a:spAutoFit/>
          </a:bodyPr>
          <a:lstStyle/>
          <a:p>
            <a:pPr>
              <a:spcBef>
                <a:spcPts val="0"/>
              </a:spcBef>
              <a:spcAft>
                <a:spcPts val="0"/>
              </a:spcAft>
            </a:pPr>
            <a:r>
              <a:rPr sz="1600" b="0" i="0">
                <a:solidFill>
                  <a:srgbClr val="BFCAD6"/>
                </a:solidFill>
                <a:latin typeface="IBM Plex Sans"/>
              </a:rPr>
              <a:t>Nick Leeson took unauthorised futures and options positions in Singapore while overseeing both trading and settlement.</a:t>
            </a:r>
          </a:p>
        </p:txBody>
      </p:sp>
      <p:sp>
        <p:nvSpPr>
          <p:cNvPr id="9" name="TextBox 8"/>
          <p:cNvSpPr txBox="1"/>
          <p:nvPr/>
        </p:nvSpPr>
        <p:spPr>
          <a:xfrm>
            <a:off x="6355080" y="4060420"/>
            <a:ext cx="5029200" cy="201168"/>
          </a:xfrm>
          <a:prstGeom prst="rect">
            <a:avLst/>
          </a:prstGeom>
          <a:noFill/>
        </p:spPr>
        <p:txBody>
          <a:bodyPr wrap="square" lIns="0" tIns="0" rIns="0" bIns="0">
            <a:spAutoFit/>
          </a:bodyPr>
          <a:lstStyle/>
          <a:p>
            <a:pPr>
              <a:spcBef>
                <a:spcPts val="0"/>
              </a:spcBef>
              <a:spcAft>
                <a:spcPts val="0"/>
              </a:spcAft>
            </a:pPr>
            <a:r>
              <a:rPr sz="1100" b="1" i="0" dirty="0">
                <a:solidFill>
                  <a:srgbClr val="E3A33B"/>
                </a:solidFill>
                <a:latin typeface="IBM Plex Sans"/>
              </a:rPr>
              <a:t>HIDDEN EXPOSURE</a:t>
            </a:r>
          </a:p>
        </p:txBody>
      </p:sp>
      <p:sp>
        <p:nvSpPr>
          <p:cNvPr id="10" name="TextBox 9"/>
          <p:cNvSpPr txBox="1"/>
          <p:nvPr/>
        </p:nvSpPr>
        <p:spPr>
          <a:xfrm>
            <a:off x="6355080" y="4241372"/>
            <a:ext cx="5029200" cy="685800"/>
          </a:xfrm>
          <a:prstGeom prst="rect">
            <a:avLst/>
          </a:prstGeom>
          <a:noFill/>
        </p:spPr>
        <p:txBody>
          <a:bodyPr wrap="square" lIns="0" tIns="0" rIns="0" bIns="0">
            <a:spAutoFit/>
          </a:bodyPr>
          <a:lstStyle/>
          <a:p>
            <a:pPr>
              <a:spcBef>
                <a:spcPts val="0"/>
              </a:spcBef>
              <a:spcAft>
                <a:spcPts val="0"/>
              </a:spcAft>
            </a:pPr>
            <a:r>
              <a:rPr sz="1600" b="0" i="0">
                <a:solidFill>
                  <a:srgbClr val="BFCAD6"/>
                </a:solidFill>
                <a:latin typeface="IBM Plex Sans"/>
              </a:rPr>
              <a:t>He concealed losses in an error account. The Nikkei decline after the Kobe earthquake worsened the damage.</a:t>
            </a:r>
          </a:p>
        </p:txBody>
      </p:sp>
      <p:sp>
        <p:nvSpPr>
          <p:cNvPr id="11" name="TextBox 10"/>
          <p:cNvSpPr txBox="1"/>
          <p:nvPr/>
        </p:nvSpPr>
        <p:spPr>
          <a:xfrm>
            <a:off x="6355080" y="5160112"/>
            <a:ext cx="5029200" cy="201168"/>
          </a:xfrm>
          <a:prstGeom prst="rect">
            <a:avLst/>
          </a:prstGeom>
          <a:noFill/>
        </p:spPr>
        <p:txBody>
          <a:bodyPr wrap="square" lIns="0" tIns="0" rIns="0" bIns="0">
            <a:spAutoFit/>
          </a:bodyPr>
          <a:lstStyle/>
          <a:p>
            <a:pPr>
              <a:spcBef>
                <a:spcPts val="0"/>
              </a:spcBef>
              <a:spcAft>
                <a:spcPts val="0"/>
              </a:spcAft>
            </a:pPr>
            <a:r>
              <a:rPr sz="1100" b="1" i="0" dirty="0">
                <a:solidFill>
                  <a:srgbClr val="E3A33B"/>
                </a:solidFill>
                <a:latin typeface="IBM Plex Sans"/>
              </a:rPr>
              <a:t>OUTCOME</a:t>
            </a:r>
          </a:p>
        </p:txBody>
      </p:sp>
      <p:sp>
        <p:nvSpPr>
          <p:cNvPr id="12" name="TextBox 11"/>
          <p:cNvSpPr txBox="1"/>
          <p:nvPr/>
        </p:nvSpPr>
        <p:spPr>
          <a:xfrm>
            <a:off x="6355080" y="5365128"/>
            <a:ext cx="5029200" cy="685800"/>
          </a:xfrm>
          <a:prstGeom prst="rect">
            <a:avLst/>
          </a:prstGeom>
          <a:noFill/>
        </p:spPr>
        <p:txBody>
          <a:bodyPr wrap="square" lIns="0" tIns="0" rIns="0" bIns="0">
            <a:spAutoFit/>
          </a:bodyPr>
          <a:lstStyle/>
          <a:p>
            <a:pPr>
              <a:spcBef>
                <a:spcPts val="0"/>
              </a:spcBef>
              <a:spcAft>
                <a:spcPts val="0"/>
              </a:spcAft>
            </a:pPr>
            <a:r>
              <a:rPr sz="1600" b="0" i="0">
                <a:solidFill>
                  <a:srgbClr val="BFCAD6"/>
                </a:solidFill>
                <a:latin typeface="IBM Plex Sans"/>
              </a:rPr>
              <a:t>Barings entered administration on 26 February. ING subsequently acquired the bank for £1.</a:t>
            </a:r>
          </a:p>
        </p:txBody>
      </p:sp>
      <p:pic>
        <p:nvPicPr>
          <p:cNvPr id="13" name="Barings Bank conceptual illustration" descr="AI-generated conceptual editorial illustration, not an archival depiction."/>
          <p:cNvPicPr>
            <a:picLocks noChangeAspect="1"/>
          </p:cNvPicPr>
          <p:nvPr/>
        </p:nvPicPr>
        <p:blipFill>
          <a:blip r:embed="rId3"/>
          <a:stretch>
            <a:fillRect/>
          </a:stretch>
        </p:blipFill>
        <p:spPr>
          <a:xfrm>
            <a:off x="1205846" y="1554480"/>
            <a:ext cx="4014709" cy="4133087"/>
          </a:xfrm>
          <a:prstGeom prst="rect">
            <a:avLst/>
          </a:prstGeom>
        </p:spPr>
      </p:pic>
      <p:sp>
        <p:nvSpPr>
          <p:cNvPr id="15" name="TextBox 14"/>
          <p:cNvSpPr txBox="1"/>
          <p:nvPr/>
        </p:nvSpPr>
        <p:spPr>
          <a:xfrm>
            <a:off x="282428" y="5861205"/>
            <a:ext cx="10570464" cy="402336"/>
          </a:xfrm>
          <a:prstGeom prst="rect">
            <a:avLst/>
          </a:prstGeom>
          <a:noFill/>
        </p:spPr>
        <p:txBody>
          <a:bodyPr wrap="square" lIns="0" tIns="0" rIns="0" bIns="0">
            <a:spAutoFit/>
          </a:bodyPr>
          <a:lstStyle/>
          <a:p>
            <a:pPr>
              <a:spcBef>
                <a:spcPts val="0"/>
              </a:spcBef>
              <a:spcAft>
                <a:spcPts val="0"/>
              </a:spcAft>
            </a:pPr>
            <a:r>
              <a:rPr sz="2100" b="0" i="1" dirty="0">
                <a:solidFill>
                  <a:srgbClr val="E3A33B"/>
                </a:solidFill>
                <a:latin typeface="Source Serif 4"/>
              </a:rPr>
              <a:t>Independent controls matter as much as a pricing model.</a:t>
            </a:r>
          </a:p>
        </p:txBody>
      </p:sp>
      <p:sp>
        <p:nvSpPr>
          <p:cNvPr id="16" name="TextBox 15">
            <a:extLst>
              <a:ext uri="{FF2B5EF4-FFF2-40B4-BE49-F238E27FC236}">
                <a16:creationId xmlns:a16="http://schemas.microsoft.com/office/drawing/2014/main" id="{B5A438B8-F021-C2D9-3F96-3394DA47EF48}"/>
              </a:ext>
            </a:extLst>
          </p:cNvPr>
          <p:cNvSpPr txBox="1"/>
          <p:nvPr/>
        </p:nvSpPr>
        <p:spPr>
          <a:xfrm>
            <a:off x="6355079" y="6355465"/>
            <a:ext cx="4735319" cy="461665"/>
          </a:xfrm>
          <a:prstGeom prst="rect">
            <a:avLst/>
          </a:prstGeom>
          <a:noFill/>
        </p:spPr>
        <p:txBody>
          <a:bodyPr wrap="square">
            <a:spAutoFit/>
          </a:bodyPr>
          <a:lstStyle/>
          <a:p>
            <a:r>
              <a:rPr lang="en-GB" sz="1200" dirty="0">
                <a:solidFill>
                  <a:schemeClr val="bg2">
                    <a:lumMod val="75000"/>
                  </a:schemeClr>
                </a:solidFill>
              </a:rPr>
              <a:t>https://</a:t>
            </a:r>
            <a:r>
              <a:rPr lang="en-GB" sz="1200" dirty="0" err="1">
                <a:solidFill>
                  <a:schemeClr val="bg2">
                    <a:lumMod val="75000"/>
                  </a:schemeClr>
                </a:solidFill>
              </a:rPr>
              <a:t>www.rba.gov.au</a:t>
            </a:r>
            <a:r>
              <a:rPr lang="en-GB" sz="1200" dirty="0">
                <a:solidFill>
                  <a:schemeClr val="bg2">
                    <a:lumMod val="75000"/>
                  </a:schemeClr>
                </a:solidFill>
              </a:rPr>
              <a:t>/publications/bulletin/1995/</a:t>
            </a:r>
            <a:r>
              <a:rPr lang="en-GB" sz="1200" dirty="0" err="1">
                <a:solidFill>
                  <a:schemeClr val="bg2">
                    <a:lumMod val="75000"/>
                  </a:schemeClr>
                </a:solidFill>
              </a:rPr>
              <a:t>nov</a:t>
            </a:r>
            <a:r>
              <a:rPr lang="en-GB" sz="1200" dirty="0">
                <a:solidFill>
                  <a:schemeClr val="bg2">
                    <a:lumMod val="75000"/>
                  </a:schemeClr>
                </a:solidFill>
              </a:rPr>
              <a:t>/1.html</a:t>
            </a:r>
          </a:p>
          <a:p>
            <a:r>
              <a:rPr lang="en-GB" sz="1200" dirty="0">
                <a:solidFill>
                  <a:schemeClr val="bg2">
                    <a:lumMod val="75000"/>
                  </a:schemeClr>
                </a:solidFill>
              </a:rPr>
              <a:t>https://</a:t>
            </a:r>
            <a:r>
              <a:rPr lang="en-GB" sz="1200" dirty="0" err="1">
                <a:solidFill>
                  <a:schemeClr val="bg2">
                    <a:lumMod val="75000"/>
                  </a:schemeClr>
                </a:solidFill>
              </a:rPr>
              <a:t>www.britannica.com</a:t>
            </a:r>
            <a:r>
              <a:rPr lang="en-GB" sz="1200" dirty="0">
                <a:solidFill>
                  <a:schemeClr val="bg2">
                    <a:lumMod val="75000"/>
                  </a:schemeClr>
                </a:solidFill>
              </a:rPr>
              <a:t>/event/bankruptcy-of-Barings-Bank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E3A33B"/>
                </a:solidFill>
                <a:latin typeface="IBM Plex Sans" pitchFamily="34" charset="0"/>
                <a:ea typeface="IBM Plex Sans" pitchFamily="34" charset="-122"/>
                <a:cs typeface="IBM Plex Sans" pitchFamily="34" charset="-120"/>
              </a:rPr>
              <a:t>00 · OPTIONS 101 · HISTORY</a:t>
            </a:r>
            <a:endParaRPr lang="en-US" sz="120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F5F3EC"/>
                </a:solidFill>
                <a:latin typeface="Source Serif 4" pitchFamily="18" charset="0"/>
                <a:ea typeface="Source Serif 4" pitchFamily="18" charset="-122"/>
                <a:cs typeface="Source Serif 4" pitchFamily="18" charset="-120"/>
              </a:rPr>
              <a:t>LTCM: leverage magnified model risk</a:t>
            </a:r>
            <a:endParaRPr lang="en-US" sz="3000"/>
          </a:p>
        </p:txBody>
      </p:sp>
      <p:sp>
        <p:nvSpPr>
          <p:cNvPr id="4" name="TextBox 3"/>
          <p:cNvSpPr txBox="1"/>
          <p:nvPr/>
        </p:nvSpPr>
        <p:spPr>
          <a:xfrm>
            <a:off x="812901" y="1572768"/>
            <a:ext cx="4846320" cy="228600"/>
          </a:xfrm>
          <a:prstGeom prst="rect">
            <a:avLst/>
          </a:prstGeom>
          <a:noFill/>
        </p:spPr>
        <p:txBody>
          <a:bodyPr wrap="square" lIns="0" tIns="0" rIns="0" bIns="0">
            <a:spAutoFit/>
          </a:bodyPr>
          <a:lstStyle/>
          <a:p>
            <a:pPr>
              <a:spcBef>
                <a:spcPts val="0"/>
              </a:spcBef>
              <a:spcAft>
                <a:spcPts val="0"/>
              </a:spcAft>
            </a:pPr>
            <a:r>
              <a:rPr sz="1200" b="1" i="0">
                <a:solidFill>
                  <a:srgbClr val="E3A33B"/>
                </a:solidFill>
                <a:latin typeface="IBM Plex Sans"/>
              </a:rPr>
              <a:t>SEPTEMBER 1998</a:t>
            </a:r>
          </a:p>
        </p:txBody>
      </p:sp>
      <p:sp>
        <p:nvSpPr>
          <p:cNvPr id="5" name="TextBox 4"/>
          <p:cNvSpPr txBox="1"/>
          <p:nvPr/>
        </p:nvSpPr>
        <p:spPr>
          <a:xfrm>
            <a:off x="812901" y="1883664"/>
            <a:ext cx="4846320" cy="512064"/>
          </a:xfrm>
          <a:prstGeom prst="rect">
            <a:avLst/>
          </a:prstGeom>
          <a:noFill/>
        </p:spPr>
        <p:txBody>
          <a:bodyPr wrap="square" lIns="0" tIns="0" rIns="0" bIns="0">
            <a:spAutoFit/>
          </a:bodyPr>
          <a:lstStyle/>
          <a:p>
            <a:pPr>
              <a:spcBef>
                <a:spcPts val="0"/>
              </a:spcBef>
              <a:spcAft>
                <a:spcPts val="0"/>
              </a:spcAft>
            </a:pPr>
            <a:r>
              <a:rPr sz="3400" b="1" i="0">
                <a:solidFill>
                  <a:srgbClr val="F5F3EC"/>
                </a:solidFill>
                <a:latin typeface="Source Serif 4"/>
              </a:rPr>
              <a:t>$3.6bn</a:t>
            </a:r>
          </a:p>
        </p:txBody>
      </p:sp>
      <p:sp>
        <p:nvSpPr>
          <p:cNvPr id="6" name="TextBox 5"/>
          <p:cNvSpPr txBox="1"/>
          <p:nvPr/>
        </p:nvSpPr>
        <p:spPr>
          <a:xfrm>
            <a:off x="812901" y="2459736"/>
            <a:ext cx="4846320" cy="329184"/>
          </a:xfrm>
          <a:prstGeom prst="rect">
            <a:avLst/>
          </a:prstGeom>
          <a:noFill/>
        </p:spPr>
        <p:txBody>
          <a:bodyPr wrap="square" lIns="0" tIns="0" rIns="0" bIns="0">
            <a:spAutoFit/>
          </a:bodyPr>
          <a:lstStyle/>
          <a:p>
            <a:pPr>
              <a:spcBef>
                <a:spcPts val="0"/>
              </a:spcBef>
              <a:spcAft>
                <a:spcPts val="0"/>
              </a:spcAft>
            </a:pPr>
            <a:r>
              <a:rPr sz="1300" b="0" i="0">
                <a:solidFill>
                  <a:srgbClr val="BFCAD6"/>
                </a:solidFill>
                <a:latin typeface="IBM Plex Sans"/>
              </a:rPr>
              <a:t>Private rescue funded by 14 financial firms</a:t>
            </a:r>
          </a:p>
        </p:txBody>
      </p:sp>
      <p:sp>
        <p:nvSpPr>
          <p:cNvPr id="7" name="TextBox 6"/>
          <p:cNvSpPr txBox="1"/>
          <p:nvPr/>
        </p:nvSpPr>
        <p:spPr>
          <a:xfrm>
            <a:off x="812901" y="2816352"/>
            <a:ext cx="4846320" cy="201168"/>
          </a:xfrm>
          <a:prstGeom prst="rect">
            <a:avLst/>
          </a:prstGeom>
          <a:noFill/>
        </p:spPr>
        <p:txBody>
          <a:bodyPr wrap="square" lIns="0" tIns="0" rIns="0" bIns="0">
            <a:spAutoFit/>
          </a:bodyPr>
          <a:lstStyle/>
          <a:p>
            <a:pPr>
              <a:spcBef>
                <a:spcPts val="0"/>
              </a:spcBef>
              <a:spcAft>
                <a:spcPts val="0"/>
              </a:spcAft>
            </a:pPr>
            <a:r>
              <a:rPr sz="1100" b="1" i="0">
                <a:solidFill>
                  <a:srgbClr val="E3A33B"/>
                </a:solidFill>
                <a:latin typeface="IBM Plex Sans"/>
              </a:rPr>
              <a:t>BACKGROUND</a:t>
            </a:r>
          </a:p>
        </p:txBody>
      </p:sp>
      <p:sp>
        <p:nvSpPr>
          <p:cNvPr id="8" name="TextBox 7"/>
          <p:cNvSpPr txBox="1"/>
          <p:nvPr/>
        </p:nvSpPr>
        <p:spPr>
          <a:xfrm>
            <a:off x="812901" y="2997304"/>
            <a:ext cx="4846320" cy="685800"/>
          </a:xfrm>
          <a:prstGeom prst="rect">
            <a:avLst/>
          </a:prstGeom>
          <a:noFill/>
        </p:spPr>
        <p:txBody>
          <a:bodyPr wrap="square" lIns="0" tIns="0" rIns="0" bIns="0">
            <a:spAutoFit/>
          </a:bodyPr>
          <a:lstStyle/>
          <a:p>
            <a:pPr>
              <a:spcBef>
                <a:spcPts val="0"/>
              </a:spcBef>
              <a:spcAft>
                <a:spcPts val="0"/>
              </a:spcAft>
            </a:pPr>
            <a:r>
              <a:rPr sz="1600" b="0" i="0" dirty="0">
                <a:solidFill>
                  <a:srgbClr val="BFCAD6"/>
                </a:solidFill>
                <a:latin typeface="IBM Plex Sans"/>
              </a:rPr>
              <a:t>Founded in 1994, Long-Term Capital Management used models to trade price differences between similar securities.</a:t>
            </a:r>
          </a:p>
        </p:txBody>
      </p:sp>
      <p:sp>
        <p:nvSpPr>
          <p:cNvPr id="9" name="TextBox 8"/>
          <p:cNvSpPr txBox="1"/>
          <p:nvPr/>
        </p:nvSpPr>
        <p:spPr>
          <a:xfrm>
            <a:off x="812901" y="3867912"/>
            <a:ext cx="4846320" cy="201168"/>
          </a:xfrm>
          <a:prstGeom prst="rect">
            <a:avLst/>
          </a:prstGeom>
          <a:noFill/>
        </p:spPr>
        <p:txBody>
          <a:bodyPr wrap="square" lIns="0" tIns="0" rIns="0" bIns="0">
            <a:spAutoFit/>
          </a:bodyPr>
          <a:lstStyle/>
          <a:p>
            <a:pPr>
              <a:spcBef>
                <a:spcPts val="0"/>
              </a:spcBef>
              <a:spcAft>
                <a:spcPts val="0"/>
              </a:spcAft>
            </a:pPr>
            <a:r>
              <a:rPr sz="1100" b="1" i="0">
                <a:solidFill>
                  <a:srgbClr val="E3A33B"/>
                </a:solidFill>
                <a:latin typeface="IBM Plex Sans"/>
              </a:rPr>
              <a:t>STRESS</a:t>
            </a:r>
          </a:p>
        </p:txBody>
      </p:sp>
      <p:sp>
        <p:nvSpPr>
          <p:cNvPr id="10" name="TextBox 9"/>
          <p:cNvSpPr txBox="1"/>
          <p:nvPr/>
        </p:nvSpPr>
        <p:spPr>
          <a:xfrm>
            <a:off x="812901" y="4072928"/>
            <a:ext cx="4846320" cy="685800"/>
          </a:xfrm>
          <a:prstGeom prst="rect">
            <a:avLst/>
          </a:prstGeom>
          <a:noFill/>
        </p:spPr>
        <p:txBody>
          <a:bodyPr wrap="square" lIns="0" tIns="0" rIns="0" bIns="0">
            <a:spAutoFit/>
          </a:bodyPr>
          <a:lstStyle/>
          <a:p>
            <a:pPr>
              <a:spcBef>
                <a:spcPts val="0"/>
              </a:spcBef>
              <a:spcAft>
                <a:spcPts val="0"/>
              </a:spcAft>
            </a:pPr>
            <a:r>
              <a:rPr sz="1600" b="0" i="0" dirty="0">
                <a:solidFill>
                  <a:srgbClr val="BFCAD6"/>
                </a:solidFill>
                <a:latin typeface="IBM Plex Sans"/>
              </a:rPr>
              <a:t>High leverage amplified losses during the Asian and Russian financial crises. Turbulent markets made a forced sale dangerous.</a:t>
            </a:r>
          </a:p>
        </p:txBody>
      </p:sp>
      <p:sp>
        <p:nvSpPr>
          <p:cNvPr id="11" name="TextBox 10"/>
          <p:cNvSpPr txBox="1"/>
          <p:nvPr/>
        </p:nvSpPr>
        <p:spPr>
          <a:xfrm>
            <a:off x="812901" y="5039790"/>
            <a:ext cx="4846320" cy="201168"/>
          </a:xfrm>
          <a:prstGeom prst="rect">
            <a:avLst/>
          </a:prstGeom>
          <a:noFill/>
        </p:spPr>
        <p:txBody>
          <a:bodyPr wrap="square" lIns="0" tIns="0" rIns="0" bIns="0">
            <a:spAutoFit/>
          </a:bodyPr>
          <a:lstStyle/>
          <a:p>
            <a:pPr>
              <a:spcBef>
                <a:spcPts val="0"/>
              </a:spcBef>
              <a:spcAft>
                <a:spcPts val="0"/>
              </a:spcAft>
            </a:pPr>
            <a:r>
              <a:rPr sz="1100" b="1" i="0">
                <a:solidFill>
                  <a:srgbClr val="E3A33B"/>
                </a:solidFill>
                <a:latin typeface="IBM Plex Sans"/>
              </a:rPr>
              <a:t>RESCUE</a:t>
            </a:r>
          </a:p>
        </p:txBody>
      </p:sp>
      <p:sp>
        <p:nvSpPr>
          <p:cNvPr id="12" name="TextBox 11"/>
          <p:cNvSpPr txBox="1"/>
          <p:nvPr/>
        </p:nvSpPr>
        <p:spPr>
          <a:xfrm>
            <a:off x="812901" y="5232774"/>
            <a:ext cx="4846320" cy="685800"/>
          </a:xfrm>
          <a:prstGeom prst="rect">
            <a:avLst/>
          </a:prstGeom>
          <a:noFill/>
        </p:spPr>
        <p:txBody>
          <a:bodyPr wrap="square" lIns="0" tIns="0" rIns="0" bIns="0">
            <a:spAutoFit/>
          </a:bodyPr>
          <a:lstStyle/>
          <a:p>
            <a:pPr>
              <a:spcBef>
                <a:spcPts val="0"/>
              </a:spcBef>
              <a:spcAft>
                <a:spcPts val="0"/>
              </a:spcAft>
            </a:pPr>
            <a:r>
              <a:rPr sz="1600" b="0" i="0" dirty="0">
                <a:solidFill>
                  <a:srgbClr val="BFCAD6"/>
                </a:solidFill>
                <a:latin typeface="IBM Plex Sans"/>
              </a:rPr>
              <a:t>The New York Fed convened creditors. Their capital injection allowed an orderly unwind without Fed money at risk.</a:t>
            </a:r>
          </a:p>
        </p:txBody>
      </p:sp>
      <p:pic>
        <p:nvPicPr>
          <p:cNvPr id="13" name="LTCM conceptual illustration" descr="AI-generated conceptual editorial illustration, not an archival depiction."/>
          <p:cNvPicPr>
            <a:picLocks noChangeAspect="1"/>
          </p:cNvPicPr>
          <p:nvPr/>
        </p:nvPicPr>
        <p:blipFill>
          <a:blip r:embed="rId3"/>
          <a:stretch>
            <a:fillRect/>
          </a:stretch>
        </p:blipFill>
        <p:spPr>
          <a:xfrm>
            <a:off x="7166229" y="1554480"/>
            <a:ext cx="3507484" cy="4133087"/>
          </a:xfrm>
          <a:prstGeom prst="rect">
            <a:avLst/>
          </a:prstGeom>
        </p:spPr>
      </p:pic>
      <p:sp>
        <p:nvSpPr>
          <p:cNvPr id="15" name="TextBox 14"/>
          <p:cNvSpPr txBox="1"/>
          <p:nvPr/>
        </p:nvSpPr>
        <p:spPr>
          <a:xfrm>
            <a:off x="812901" y="6113488"/>
            <a:ext cx="10570464" cy="402336"/>
          </a:xfrm>
          <a:prstGeom prst="rect">
            <a:avLst/>
          </a:prstGeom>
          <a:noFill/>
        </p:spPr>
        <p:txBody>
          <a:bodyPr wrap="square" lIns="0" tIns="0" rIns="0" bIns="0">
            <a:spAutoFit/>
          </a:bodyPr>
          <a:lstStyle/>
          <a:p>
            <a:pPr>
              <a:spcBef>
                <a:spcPts val="0"/>
              </a:spcBef>
              <a:spcAft>
                <a:spcPts val="0"/>
              </a:spcAft>
            </a:pPr>
            <a:r>
              <a:rPr sz="2100" b="0" i="1" dirty="0">
                <a:solidFill>
                  <a:srgbClr val="E3A33B"/>
                </a:solidFill>
                <a:latin typeface="Source Serif 4"/>
              </a:rPr>
              <a:t>Modelled value cannot guarantee funding or market liquidity.</a:t>
            </a:r>
          </a:p>
        </p:txBody>
      </p:sp>
      <p:sp>
        <p:nvSpPr>
          <p:cNvPr id="16" name="TextBox 15">
            <a:extLst>
              <a:ext uri="{FF2B5EF4-FFF2-40B4-BE49-F238E27FC236}">
                <a16:creationId xmlns:a16="http://schemas.microsoft.com/office/drawing/2014/main" id="{0BF7FBDD-293D-0C5D-200C-3AF8E2357767}"/>
              </a:ext>
            </a:extLst>
          </p:cNvPr>
          <p:cNvSpPr txBox="1"/>
          <p:nvPr/>
        </p:nvSpPr>
        <p:spPr>
          <a:xfrm>
            <a:off x="6527628" y="6396335"/>
            <a:ext cx="4920185" cy="461665"/>
          </a:xfrm>
          <a:prstGeom prst="rect">
            <a:avLst/>
          </a:prstGeom>
          <a:noFill/>
        </p:spPr>
        <p:txBody>
          <a:bodyPr wrap="square">
            <a:spAutoFit/>
          </a:bodyPr>
          <a:lstStyle/>
          <a:p>
            <a:r>
              <a:rPr lang="en-GB" sz="1200" dirty="0">
                <a:solidFill>
                  <a:schemeClr val="bg2">
                    <a:lumMod val="75000"/>
                  </a:schemeClr>
                </a:solidFill>
              </a:rPr>
              <a:t>https://</a:t>
            </a:r>
            <a:r>
              <a:rPr lang="en-GB" sz="1200" dirty="0" err="1">
                <a:solidFill>
                  <a:schemeClr val="bg2">
                    <a:lumMod val="75000"/>
                  </a:schemeClr>
                </a:solidFill>
              </a:rPr>
              <a:t>www.federalreservehistory.org</a:t>
            </a:r>
            <a:r>
              <a:rPr lang="en-GB" sz="1200" dirty="0">
                <a:solidFill>
                  <a:schemeClr val="bg2">
                    <a:lumMod val="75000"/>
                  </a:schemeClr>
                </a:solidFill>
              </a:rPr>
              <a:t>/essays/</a:t>
            </a:r>
            <a:r>
              <a:rPr lang="en-GB" sz="1200" dirty="0" err="1">
                <a:solidFill>
                  <a:schemeClr val="bg2">
                    <a:lumMod val="75000"/>
                  </a:schemeClr>
                </a:solidFill>
              </a:rPr>
              <a:t>ltcm</a:t>
            </a:r>
            <a:r>
              <a:rPr lang="en-GB" sz="1200" dirty="0">
                <a:solidFill>
                  <a:schemeClr val="bg2">
                    <a:lumMod val="75000"/>
                  </a:schemeClr>
                </a:solidFill>
              </a:rPr>
              <a:t>-near-failure</a:t>
            </a:r>
          </a:p>
          <a:p>
            <a:r>
              <a:rPr lang="en-GB" sz="1200" dirty="0">
                <a:solidFill>
                  <a:schemeClr val="bg2">
                    <a:lumMod val="75000"/>
                  </a:schemeClr>
                </a:solidFill>
              </a:rPr>
              <a:t>https://</a:t>
            </a:r>
            <a:r>
              <a:rPr lang="en-GB" sz="1200" dirty="0" err="1">
                <a:solidFill>
                  <a:schemeClr val="bg2">
                    <a:lumMod val="75000"/>
                  </a:schemeClr>
                </a:solidFill>
              </a:rPr>
              <a:t>en.wikipedia.org</a:t>
            </a:r>
            <a:r>
              <a:rPr lang="en-GB" sz="1200" dirty="0">
                <a:solidFill>
                  <a:schemeClr val="bg2">
                    <a:lumMod val="75000"/>
                  </a:schemeClr>
                </a:solidFill>
              </a:rPr>
              <a:t>/wiki/Long-</a:t>
            </a:r>
            <a:r>
              <a:rPr lang="en-GB" sz="1200" dirty="0" err="1">
                <a:solidFill>
                  <a:schemeClr val="bg2">
                    <a:lumMod val="75000"/>
                  </a:schemeClr>
                </a:solidFill>
              </a:rPr>
              <a:t>Term_Capital_Management</a:t>
            </a:r>
            <a:endParaRPr lang="en-GB" sz="1200" dirty="0">
              <a:solidFill>
                <a:schemeClr val="bg2">
                  <a:lumMod val="75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E3A33B"/>
                </a:solidFill>
                <a:latin typeface="IBM Plex Sans" pitchFamily="34" charset="0"/>
                <a:ea typeface="IBM Plex Sans" pitchFamily="34" charset="-122"/>
                <a:cs typeface="IBM Plex Sans" pitchFamily="34" charset="-120"/>
              </a:rPr>
              <a:t>00 · OPTIONS 101 · HISTORY</a:t>
            </a:r>
            <a:endParaRPr lang="en-US" sz="1200"/>
          </a:p>
        </p:txBody>
      </p:sp>
      <p:sp>
        <p:nvSpPr>
          <p:cNvPr id="3" name="Text 1"/>
          <p:cNvSpPr>
            <a:spLocks noGrp="1"/>
          </p:cNvSpPr>
          <p:nvPr>
            <p:ph type="title"/>
          </p:nvPr>
        </p:nvSpPr>
        <p:spPr>
          <a:xfrm>
            <a:off x="812800" y="812800"/>
            <a:ext cx="5283200" cy="444500"/>
          </a:xfrm>
          <a:prstGeom prst="rect">
            <a:avLst/>
          </a:prstGeom>
          <a:noFill/>
          <a:ln/>
        </p:spPr>
        <p:txBody>
          <a:bodyPr wrap="square" lIns="0" tIns="0" rIns="0" bIns="0" rtlCol="0" anchor="t">
            <a:normAutofit fontScale="90000"/>
          </a:bodyPr>
          <a:lstStyle/>
          <a:p>
            <a:pPr marL="0" indent="0" algn="l">
              <a:lnSpc>
                <a:spcPts val="3300"/>
              </a:lnSpc>
              <a:buNone/>
            </a:pPr>
            <a:r>
              <a:rPr lang="en-US" sz="3000" b="1" i="0" dirty="0">
                <a:solidFill>
                  <a:srgbClr val="F5F3EC"/>
                </a:solidFill>
                <a:latin typeface="Source Serif 4" pitchFamily="18" charset="0"/>
                <a:ea typeface="Source Serif 4" pitchFamily="18" charset="-122"/>
                <a:cs typeface="Source Serif 4" pitchFamily="18" charset="-120"/>
              </a:rPr>
              <a:t>GameStop: a rally with disputed mechanics</a:t>
            </a:r>
            <a:endParaRPr lang="en-US" sz="3000" dirty="0"/>
          </a:p>
        </p:txBody>
      </p:sp>
      <p:sp>
        <p:nvSpPr>
          <p:cNvPr id="4" name="TextBox 3"/>
          <p:cNvSpPr txBox="1"/>
          <p:nvPr/>
        </p:nvSpPr>
        <p:spPr>
          <a:xfrm>
            <a:off x="6355080" y="848374"/>
            <a:ext cx="5029200" cy="228600"/>
          </a:xfrm>
          <a:prstGeom prst="rect">
            <a:avLst/>
          </a:prstGeom>
          <a:noFill/>
        </p:spPr>
        <p:txBody>
          <a:bodyPr wrap="square" lIns="0" tIns="0" rIns="0" bIns="0">
            <a:spAutoFit/>
          </a:bodyPr>
          <a:lstStyle/>
          <a:p>
            <a:pPr>
              <a:spcBef>
                <a:spcPts val="0"/>
              </a:spcBef>
              <a:spcAft>
                <a:spcPts val="0"/>
              </a:spcAft>
            </a:pPr>
            <a:r>
              <a:rPr sz="1200" b="1" i="0">
                <a:solidFill>
                  <a:srgbClr val="E3A33B"/>
                </a:solidFill>
                <a:latin typeface="IBM Plex Sans"/>
              </a:rPr>
              <a:t>JANUARY 2021</a:t>
            </a:r>
          </a:p>
        </p:txBody>
      </p:sp>
      <p:sp>
        <p:nvSpPr>
          <p:cNvPr id="5" name="TextBox 4"/>
          <p:cNvSpPr txBox="1"/>
          <p:nvPr/>
        </p:nvSpPr>
        <p:spPr>
          <a:xfrm>
            <a:off x="6355080" y="1159270"/>
            <a:ext cx="5029200" cy="512064"/>
          </a:xfrm>
          <a:prstGeom prst="rect">
            <a:avLst/>
          </a:prstGeom>
          <a:noFill/>
        </p:spPr>
        <p:txBody>
          <a:bodyPr wrap="square" lIns="0" tIns="0" rIns="0" bIns="0">
            <a:spAutoFit/>
          </a:bodyPr>
          <a:lstStyle/>
          <a:p>
            <a:pPr>
              <a:spcBef>
                <a:spcPts val="0"/>
              </a:spcBef>
              <a:spcAft>
                <a:spcPts val="0"/>
              </a:spcAft>
            </a:pPr>
            <a:r>
              <a:rPr sz="3400" b="1" i="0">
                <a:solidFill>
                  <a:srgbClr val="F5F3EC"/>
                </a:solidFill>
                <a:latin typeface="Source Serif 4"/>
              </a:rPr>
              <a:t>Retail surge</a:t>
            </a:r>
          </a:p>
        </p:txBody>
      </p:sp>
      <p:sp>
        <p:nvSpPr>
          <p:cNvPr id="6" name="TextBox 5"/>
          <p:cNvSpPr txBox="1"/>
          <p:nvPr/>
        </p:nvSpPr>
        <p:spPr>
          <a:xfrm>
            <a:off x="6355080" y="1735342"/>
            <a:ext cx="5029200" cy="329184"/>
          </a:xfrm>
          <a:prstGeom prst="rect">
            <a:avLst/>
          </a:prstGeom>
          <a:noFill/>
        </p:spPr>
        <p:txBody>
          <a:bodyPr wrap="square" lIns="0" tIns="0" rIns="0" bIns="0">
            <a:spAutoFit/>
          </a:bodyPr>
          <a:lstStyle/>
          <a:p>
            <a:pPr>
              <a:spcBef>
                <a:spcPts val="0"/>
              </a:spcBef>
              <a:spcAft>
                <a:spcPts val="0"/>
              </a:spcAft>
            </a:pPr>
            <a:r>
              <a:rPr sz="1300" b="0" i="0">
                <a:solidFill>
                  <a:srgbClr val="BFCAD6"/>
                </a:solidFill>
                <a:latin typeface="IBM Plex Sans"/>
              </a:rPr>
              <a:t>Social attention met heavy short interest</a:t>
            </a:r>
          </a:p>
        </p:txBody>
      </p:sp>
      <p:sp>
        <p:nvSpPr>
          <p:cNvPr id="7" name="TextBox 6"/>
          <p:cNvSpPr txBox="1"/>
          <p:nvPr/>
        </p:nvSpPr>
        <p:spPr>
          <a:xfrm>
            <a:off x="6355080" y="2091958"/>
            <a:ext cx="5029200" cy="201168"/>
          </a:xfrm>
          <a:prstGeom prst="rect">
            <a:avLst/>
          </a:prstGeom>
          <a:noFill/>
        </p:spPr>
        <p:txBody>
          <a:bodyPr wrap="square" lIns="0" tIns="0" rIns="0" bIns="0">
            <a:spAutoFit/>
          </a:bodyPr>
          <a:lstStyle/>
          <a:p>
            <a:pPr>
              <a:spcBef>
                <a:spcPts val="0"/>
              </a:spcBef>
              <a:spcAft>
                <a:spcPts val="0"/>
              </a:spcAft>
            </a:pPr>
            <a:r>
              <a:rPr sz="1100" b="1" i="0" dirty="0">
                <a:solidFill>
                  <a:srgbClr val="E3A33B"/>
                </a:solidFill>
                <a:latin typeface="IBM Plex Sans"/>
              </a:rPr>
              <a:t>BACKGROUND</a:t>
            </a:r>
          </a:p>
        </p:txBody>
      </p:sp>
      <p:sp>
        <p:nvSpPr>
          <p:cNvPr id="8" name="TextBox 7"/>
          <p:cNvSpPr txBox="1"/>
          <p:nvPr/>
        </p:nvSpPr>
        <p:spPr>
          <a:xfrm>
            <a:off x="6355080" y="2272910"/>
            <a:ext cx="5029200" cy="685800"/>
          </a:xfrm>
          <a:prstGeom prst="rect">
            <a:avLst/>
          </a:prstGeom>
          <a:noFill/>
        </p:spPr>
        <p:txBody>
          <a:bodyPr wrap="square" lIns="0" tIns="0" rIns="0" bIns="0">
            <a:spAutoFit/>
          </a:bodyPr>
          <a:lstStyle/>
          <a:p>
            <a:pPr>
              <a:spcBef>
                <a:spcPts val="0"/>
              </a:spcBef>
              <a:spcAft>
                <a:spcPts val="0"/>
              </a:spcAft>
            </a:pPr>
            <a:r>
              <a:rPr sz="1600" b="0" i="0" dirty="0">
                <a:solidFill>
                  <a:srgbClr val="BFCAD6"/>
                </a:solidFill>
                <a:latin typeface="IBM Plex Sans"/>
              </a:rPr>
              <a:t>Retail interest and social-media attention surged alongside GameStop’s share price and trading volume.</a:t>
            </a:r>
          </a:p>
        </p:txBody>
      </p:sp>
      <p:sp>
        <p:nvSpPr>
          <p:cNvPr id="9" name="TextBox 8"/>
          <p:cNvSpPr txBox="1"/>
          <p:nvPr/>
        </p:nvSpPr>
        <p:spPr>
          <a:xfrm>
            <a:off x="6355080" y="3035233"/>
            <a:ext cx="5029200" cy="201168"/>
          </a:xfrm>
          <a:prstGeom prst="rect">
            <a:avLst/>
          </a:prstGeom>
          <a:noFill/>
        </p:spPr>
        <p:txBody>
          <a:bodyPr wrap="square" lIns="0" tIns="0" rIns="0" bIns="0">
            <a:spAutoFit/>
          </a:bodyPr>
          <a:lstStyle/>
          <a:p>
            <a:pPr>
              <a:spcBef>
                <a:spcPts val="0"/>
              </a:spcBef>
              <a:spcAft>
                <a:spcPts val="0"/>
              </a:spcAft>
            </a:pPr>
            <a:r>
              <a:rPr sz="1100" b="1" i="0">
                <a:solidFill>
                  <a:srgbClr val="E3A33B"/>
                </a:solidFill>
                <a:latin typeface="IBM Plex Sans"/>
              </a:rPr>
              <a:t>MARKET FRICTION</a:t>
            </a:r>
          </a:p>
        </p:txBody>
      </p:sp>
      <p:sp>
        <p:nvSpPr>
          <p:cNvPr id="10" name="TextBox 9"/>
          <p:cNvSpPr txBox="1"/>
          <p:nvPr/>
        </p:nvSpPr>
        <p:spPr>
          <a:xfrm>
            <a:off x="6355080" y="3235921"/>
            <a:ext cx="5029200" cy="685800"/>
          </a:xfrm>
          <a:prstGeom prst="rect">
            <a:avLst/>
          </a:prstGeom>
          <a:noFill/>
        </p:spPr>
        <p:txBody>
          <a:bodyPr wrap="square" lIns="0" tIns="0" rIns="0" bIns="0">
            <a:spAutoFit/>
          </a:bodyPr>
          <a:lstStyle/>
          <a:p>
            <a:pPr>
              <a:spcBef>
                <a:spcPts val="0"/>
              </a:spcBef>
              <a:spcAft>
                <a:spcPts val="0"/>
              </a:spcAft>
            </a:pPr>
            <a:r>
              <a:rPr sz="1600" b="0" i="0" dirty="0">
                <a:solidFill>
                  <a:srgbClr val="BFCAD6"/>
                </a:solidFill>
                <a:latin typeface="IBM Plex Sans"/>
              </a:rPr>
              <a:t>Several brokers temporarily restricted trading. The episode raised questions about clearing, settlement and short selling.</a:t>
            </a:r>
          </a:p>
        </p:txBody>
      </p:sp>
      <p:sp>
        <p:nvSpPr>
          <p:cNvPr id="11" name="TextBox 10"/>
          <p:cNvSpPr txBox="1"/>
          <p:nvPr/>
        </p:nvSpPr>
        <p:spPr>
          <a:xfrm>
            <a:off x="6355080" y="4195078"/>
            <a:ext cx="5029200" cy="201168"/>
          </a:xfrm>
          <a:prstGeom prst="rect">
            <a:avLst/>
          </a:prstGeom>
          <a:noFill/>
        </p:spPr>
        <p:txBody>
          <a:bodyPr wrap="square" lIns="0" tIns="0" rIns="0" bIns="0">
            <a:spAutoFit/>
          </a:bodyPr>
          <a:lstStyle/>
          <a:p>
            <a:pPr>
              <a:spcBef>
                <a:spcPts val="0"/>
              </a:spcBef>
              <a:spcAft>
                <a:spcPts val="0"/>
              </a:spcAft>
            </a:pPr>
            <a:r>
              <a:rPr sz="1100" b="1" i="0">
                <a:solidFill>
                  <a:srgbClr val="E3A33B"/>
                </a:solidFill>
                <a:latin typeface="IBM Plex Sans"/>
              </a:rPr>
              <a:t>EVIDENCE CHECK</a:t>
            </a:r>
          </a:p>
        </p:txBody>
      </p:sp>
      <p:sp>
        <p:nvSpPr>
          <p:cNvPr id="12" name="TextBox 11"/>
          <p:cNvSpPr txBox="1"/>
          <p:nvPr/>
        </p:nvSpPr>
        <p:spPr>
          <a:xfrm>
            <a:off x="6355080" y="4400094"/>
            <a:ext cx="5029200" cy="685800"/>
          </a:xfrm>
          <a:prstGeom prst="rect">
            <a:avLst/>
          </a:prstGeom>
          <a:noFill/>
        </p:spPr>
        <p:txBody>
          <a:bodyPr wrap="square" lIns="0" tIns="0" rIns="0" bIns="0">
            <a:spAutoFit/>
          </a:bodyPr>
          <a:lstStyle/>
          <a:p>
            <a:pPr>
              <a:spcBef>
                <a:spcPts val="0"/>
              </a:spcBef>
              <a:spcAft>
                <a:spcPts val="0"/>
              </a:spcAft>
            </a:pPr>
            <a:r>
              <a:rPr sz="1600" b="0" i="0" dirty="0">
                <a:solidFill>
                  <a:srgbClr val="BFCAD6"/>
                </a:solidFill>
                <a:latin typeface="IBM Plex Sans"/>
              </a:rPr>
              <a:t>SEC staff found no evidence of a January gamma squeeze. Some academics dispute the analysis, so the explanation remains contested.</a:t>
            </a:r>
          </a:p>
        </p:txBody>
      </p:sp>
      <p:pic>
        <p:nvPicPr>
          <p:cNvPr id="13" name="GameStop conceptual illustration" descr="AI-generated conceptual editorial illustration, not an archival depiction."/>
          <p:cNvPicPr>
            <a:picLocks noChangeAspect="1"/>
          </p:cNvPicPr>
          <p:nvPr/>
        </p:nvPicPr>
        <p:blipFill>
          <a:blip r:embed="rId3"/>
          <a:stretch>
            <a:fillRect/>
          </a:stretch>
        </p:blipFill>
        <p:spPr>
          <a:xfrm>
            <a:off x="1148372" y="1554480"/>
            <a:ext cx="4129658" cy="4133087"/>
          </a:xfrm>
          <a:prstGeom prst="rect">
            <a:avLst/>
          </a:prstGeom>
        </p:spPr>
      </p:pic>
      <p:sp>
        <p:nvSpPr>
          <p:cNvPr id="15" name="TextBox 14"/>
          <p:cNvSpPr txBox="1"/>
          <p:nvPr/>
        </p:nvSpPr>
        <p:spPr>
          <a:xfrm>
            <a:off x="895927" y="5206782"/>
            <a:ext cx="5283200" cy="646331"/>
          </a:xfrm>
          <a:prstGeom prst="rect">
            <a:avLst/>
          </a:prstGeom>
          <a:solidFill>
            <a:schemeClr val="tx1">
              <a:alpha val="57293"/>
            </a:schemeClr>
          </a:solidFill>
        </p:spPr>
        <p:txBody>
          <a:bodyPr wrap="square" lIns="0" tIns="0" rIns="0" bIns="0">
            <a:spAutoFit/>
          </a:bodyPr>
          <a:lstStyle/>
          <a:p>
            <a:pPr>
              <a:spcBef>
                <a:spcPts val="0"/>
              </a:spcBef>
              <a:spcAft>
                <a:spcPts val="0"/>
              </a:spcAft>
            </a:pPr>
            <a:r>
              <a:rPr sz="2100" b="0" i="1" dirty="0">
                <a:solidFill>
                  <a:srgbClr val="E3A33B"/>
                </a:solidFill>
                <a:latin typeface="Source Serif 4"/>
              </a:rPr>
              <a:t>Gamma hedging is a mechanism, not proof of what drove a rally.</a:t>
            </a:r>
          </a:p>
        </p:txBody>
      </p:sp>
      <p:sp>
        <p:nvSpPr>
          <p:cNvPr id="16" name="TextBox 15">
            <a:extLst>
              <a:ext uri="{FF2B5EF4-FFF2-40B4-BE49-F238E27FC236}">
                <a16:creationId xmlns:a16="http://schemas.microsoft.com/office/drawing/2014/main" id="{1C517402-84E8-C331-3600-C4361CA0F12A}"/>
              </a:ext>
            </a:extLst>
          </p:cNvPr>
          <p:cNvSpPr txBox="1"/>
          <p:nvPr/>
        </p:nvSpPr>
        <p:spPr>
          <a:xfrm>
            <a:off x="2844139" y="5974001"/>
            <a:ext cx="8397835" cy="830997"/>
          </a:xfrm>
          <a:prstGeom prst="rect">
            <a:avLst/>
          </a:prstGeom>
          <a:noFill/>
        </p:spPr>
        <p:txBody>
          <a:bodyPr wrap="square">
            <a:spAutoFit/>
          </a:bodyPr>
          <a:lstStyle/>
          <a:p>
            <a:r>
              <a:rPr lang="en-GB" sz="1200" dirty="0">
                <a:solidFill>
                  <a:schemeClr val="bg2">
                    <a:lumMod val="75000"/>
                  </a:schemeClr>
                </a:solidFill>
              </a:rPr>
              <a:t>https://</a:t>
            </a:r>
            <a:r>
              <a:rPr lang="en-GB" sz="1200" dirty="0" err="1">
                <a:solidFill>
                  <a:schemeClr val="bg2">
                    <a:lumMod val="75000"/>
                  </a:schemeClr>
                </a:solidFill>
              </a:rPr>
              <a:t>www.sec.gov</a:t>
            </a:r>
            <a:r>
              <a:rPr lang="en-GB" sz="1200" dirty="0">
                <a:solidFill>
                  <a:schemeClr val="bg2">
                    <a:lumMod val="75000"/>
                  </a:schemeClr>
                </a:solidFill>
              </a:rPr>
              <a:t>/newsroom/press-releases/2021-212</a:t>
            </a:r>
          </a:p>
          <a:p>
            <a:r>
              <a:rPr lang="en-GB" sz="1200" dirty="0">
                <a:solidFill>
                  <a:schemeClr val="bg2">
                    <a:lumMod val="75000"/>
                  </a:schemeClr>
                </a:solidFill>
              </a:rPr>
              <a:t>https://</a:t>
            </a:r>
            <a:r>
              <a:rPr lang="en-GB" sz="1200" dirty="0" err="1">
                <a:solidFill>
                  <a:schemeClr val="bg2">
                    <a:lumMod val="75000"/>
                  </a:schemeClr>
                </a:solidFill>
              </a:rPr>
              <a:t>www.sec.gov</a:t>
            </a:r>
            <a:r>
              <a:rPr lang="en-GB" sz="1200" dirty="0">
                <a:solidFill>
                  <a:schemeClr val="bg2">
                    <a:lumMod val="75000"/>
                  </a:schemeClr>
                </a:solidFill>
              </a:rPr>
              <a:t>/files/staff-report-equity-options-market-struction-conditions-early-2021.pdf</a:t>
            </a:r>
          </a:p>
          <a:p>
            <a:r>
              <a:rPr lang="en-GB" sz="1200" dirty="0">
                <a:solidFill>
                  <a:schemeClr val="bg2">
                    <a:lumMod val="75000"/>
                  </a:schemeClr>
                </a:solidFill>
              </a:rPr>
              <a:t>https://</a:t>
            </a:r>
            <a:r>
              <a:rPr lang="en-GB" sz="1200" dirty="0" err="1">
                <a:solidFill>
                  <a:schemeClr val="bg2">
                    <a:lumMod val="75000"/>
                  </a:schemeClr>
                </a:solidFill>
              </a:rPr>
              <a:t>clsbluesky.law.columbia.edu</a:t>
            </a:r>
            <a:r>
              <a:rPr lang="en-GB" sz="1200" dirty="0">
                <a:solidFill>
                  <a:schemeClr val="bg2">
                    <a:lumMod val="75000"/>
                  </a:schemeClr>
                </a:solidFill>
              </a:rPr>
              <a:t>/2022/02/22/an-academic-critique-of-the-secs-</a:t>
            </a:r>
            <a:r>
              <a:rPr lang="en-GB" sz="1200" dirty="0" err="1">
                <a:solidFill>
                  <a:schemeClr val="bg2">
                    <a:lumMod val="75000"/>
                  </a:schemeClr>
                </a:solidFill>
              </a:rPr>
              <a:t>gamestop</a:t>
            </a:r>
            <a:r>
              <a:rPr lang="en-GB" sz="1200" dirty="0">
                <a:solidFill>
                  <a:schemeClr val="bg2">
                    <a:lumMod val="75000"/>
                  </a:schemeClr>
                </a:solidFill>
              </a:rPr>
              <a:t>-report/</a:t>
            </a:r>
          </a:p>
          <a:p>
            <a:r>
              <a:rPr lang="en-GB" sz="1200" dirty="0">
                <a:solidFill>
                  <a:schemeClr val="bg2">
                    <a:lumMod val="75000"/>
                  </a:schemeClr>
                </a:solidFill>
              </a:rPr>
              <a:t>https://</a:t>
            </a:r>
            <a:r>
              <a:rPr lang="en-GB" sz="1200" dirty="0" err="1">
                <a:solidFill>
                  <a:schemeClr val="bg2">
                    <a:lumMod val="75000"/>
                  </a:schemeClr>
                </a:solidFill>
              </a:rPr>
              <a:t>www.shacknews.com</a:t>
            </a:r>
            <a:r>
              <a:rPr lang="en-GB" sz="1200" dirty="0">
                <a:solidFill>
                  <a:schemeClr val="bg2">
                    <a:lumMod val="75000"/>
                  </a:schemeClr>
                </a:solidFill>
              </a:rPr>
              <a:t>/article/127195/sec-issues-gamestop-gme-report-on-what-happened-in-january-2021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00 · OPTIONS 101 </a:t>
            </a:r>
            <a:r>
              <a:rPr lang="en-US" sz="1200" b="1" kern="0" spc="150" dirty="0">
                <a:solidFill>
                  <a:srgbClr val="2B65C8"/>
                </a:solidFill>
                <a:latin typeface="IBM Plex Sans" pitchFamily="34" charset="0"/>
                <a:ea typeface="IBM Plex Sans" pitchFamily="34" charset="-122"/>
                <a:cs typeface="IBM Plex Sans" pitchFamily="34" charset="-120"/>
              </a:rPr>
              <a:t>· </a:t>
            </a:r>
            <a:r>
              <a:rPr lang="en-US" sz="1200" b="1" kern="0" spc="150">
                <a:solidFill>
                  <a:srgbClr val="2B65C8"/>
                </a:solidFill>
                <a:latin typeface="IBM Plex Sans" pitchFamily="34" charset="0"/>
                <a:ea typeface="IBM Plex Sans" pitchFamily="34" charset="-122"/>
                <a:cs typeface="IBM Plex Sans" pitchFamily="34" charset="-120"/>
              </a:rPr>
              <a:t>PAYOFF</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An option is a payoff function of a future price</a:t>
            </a:r>
            <a:endParaRPr lang="en-US" sz="3000" dirty="0"/>
          </a:p>
        </p:txBody>
      </p:sp>
      <p:sp>
        <p:nvSpPr>
          <p:cNvPr id="4" name="Shape 2"/>
          <p:cNvSpPr/>
          <p:nvPr/>
        </p:nvSpPr>
        <p:spPr>
          <a:xfrm>
            <a:off x="815975" y="1489075"/>
            <a:ext cx="5149850" cy="3402211"/>
          </a:xfrm>
          <a:prstGeom prst="roundRect">
            <a:avLst>
              <a:gd name="adj" fmla="val 2893"/>
            </a:avLst>
          </a:prstGeom>
          <a:solidFill>
            <a:srgbClr val="FDFCF8"/>
          </a:solidFill>
          <a:ln w="6350">
            <a:solidFill>
              <a:srgbClr val="DDD7C6"/>
            </a:solidFill>
            <a:prstDash val="solid"/>
          </a:ln>
        </p:spPr>
        <p:txBody>
          <a:bodyPr/>
          <a:lstStyle/>
          <a:p>
            <a:endParaRPr lang="en-SE"/>
          </a:p>
        </p:txBody>
      </p:sp>
      <p:sp>
        <p:nvSpPr>
          <p:cNvPr id="5" name="Text 3"/>
          <p:cNvSpPr/>
          <p:nvPr/>
        </p:nvSpPr>
        <p:spPr>
          <a:xfrm>
            <a:off x="1047750" y="1720850"/>
            <a:ext cx="48268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65C8"/>
                </a:solidFill>
                <a:latin typeface="IBM Plex Sans" pitchFamily="34" charset="0"/>
                <a:ea typeface="IBM Plex Sans" pitchFamily="34" charset="-122"/>
                <a:cs typeface="IBM Plex Sans" pitchFamily="34" charset="-120"/>
              </a:rPr>
              <a:t>Call option</a:t>
            </a:r>
            <a:endParaRPr lang="en-US" sz="1800" dirty="0"/>
          </a:p>
        </p:txBody>
      </p:sp>
      <p:sp>
        <p:nvSpPr>
          <p:cNvPr id="6" name="Text 4"/>
          <p:cNvSpPr/>
          <p:nvPr/>
        </p:nvSpPr>
        <p:spPr>
          <a:xfrm>
            <a:off x="1047750" y="2084040"/>
            <a:ext cx="4826889"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E"/>
                </a:solidFill>
                <a:latin typeface="IBM Plex Sans" pitchFamily="34" charset="0"/>
                <a:ea typeface="IBM Plex Sans" pitchFamily="34" charset="-122"/>
                <a:cs typeface="IBM Plex Sans" pitchFamily="34" charset="-120"/>
              </a:rPr>
              <a:t>The right — not the obligation — to </a:t>
            </a:r>
            <a:r>
              <a:rPr lang="en-US" sz="1400" b="1" dirty="0">
                <a:solidFill>
                  <a:srgbClr val="44505E"/>
                </a:solidFill>
                <a:latin typeface="IBM Plex Sans" pitchFamily="34" charset="0"/>
                <a:ea typeface="IBM Plex Sans" pitchFamily="34" charset="-122"/>
                <a:cs typeface="IBM Plex Sans" pitchFamily="34" charset="-120"/>
              </a:rPr>
              <a:t>buy</a:t>
            </a:r>
            <a:r>
              <a:rPr lang="en-US" sz="1400" dirty="0">
                <a:solidFill>
                  <a:srgbClr val="44505E"/>
                </a:solidFill>
                <a:latin typeface="IBM Plex Sans" pitchFamily="34" charset="0"/>
                <a:ea typeface="IBM Plex Sans" pitchFamily="34" charset="-122"/>
                <a:cs typeface="IBM Plex Sans" pitchFamily="34" charset="-120"/>
              </a:rPr>
              <a:t> the stock at strike K on expiry date T.</a:t>
            </a:r>
            <a:endParaRPr lang="en-US" sz="1400" dirty="0"/>
          </a:p>
        </p:txBody>
      </p:sp>
      <p:pic>
        <p:nvPicPr>
          <p:cNvPr id="7" name="Image 0" descr="Call payoff: zero below the strike K, then rising one-for-one with the stock price"/>
          <p:cNvPicPr>
            <a:picLocks noChangeAspect="1"/>
          </p:cNvPicPr>
          <p:nvPr/>
        </p:nvPicPr>
        <p:blipFill>
          <a:blip r:embed="rId3"/>
          <a:srcRect/>
          <a:stretch/>
        </p:blipFill>
        <p:spPr>
          <a:xfrm>
            <a:off x="1047750" y="2670721"/>
            <a:ext cx="4445000" cy="1651000"/>
          </a:xfrm>
          <a:prstGeom prst="rect">
            <a:avLst/>
          </a:prstGeom>
        </p:spPr>
      </p:pic>
      <p:sp>
        <p:nvSpPr>
          <p:cNvPr id="8" name="Text 5"/>
          <p:cNvSpPr/>
          <p:nvPr/>
        </p:nvSpPr>
        <p:spPr>
          <a:xfrm>
            <a:off x="1047750" y="4410621"/>
            <a:ext cx="4826889"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02E"/>
                </a:solidFill>
                <a:latin typeface="JetBrains Mono" pitchFamily="49" charset="0"/>
                <a:ea typeface="JetBrains Mono" pitchFamily="49" charset="-122"/>
                <a:cs typeface="JetBrains Mono" pitchFamily="49" charset="-120"/>
              </a:rPr>
              <a:t>payoff = max(S(T) − K, 0)</a:t>
            </a:r>
            <a:endParaRPr lang="en-US" sz="1400" dirty="0"/>
          </a:p>
        </p:txBody>
      </p:sp>
      <p:sp>
        <p:nvSpPr>
          <p:cNvPr id="9" name="Shape 6"/>
          <p:cNvSpPr/>
          <p:nvPr/>
        </p:nvSpPr>
        <p:spPr>
          <a:xfrm>
            <a:off x="6226175" y="1489075"/>
            <a:ext cx="5149850" cy="3402211"/>
          </a:xfrm>
          <a:prstGeom prst="roundRect">
            <a:avLst>
              <a:gd name="adj" fmla="val 2893"/>
            </a:avLst>
          </a:prstGeom>
          <a:solidFill>
            <a:srgbClr val="FDFCF8"/>
          </a:solidFill>
          <a:ln w="6350">
            <a:solidFill>
              <a:srgbClr val="DDD7C6"/>
            </a:solidFill>
            <a:prstDash val="solid"/>
          </a:ln>
        </p:spPr>
        <p:txBody>
          <a:bodyPr/>
          <a:lstStyle/>
          <a:p>
            <a:endParaRPr lang="en-SE"/>
          </a:p>
        </p:txBody>
      </p:sp>
      <p:sp>
        <p:nvSpPr>
          <p:cNvPr id="10" name="Text 7"/>
          <p:cNvSpPr/>
          <p:nvPr/>
        </p:nvSpPr>
        <p:spPr>
          <a:xfrm>
            <a:off x="6457950" y="1720850"/>
            <a:ext cx="48268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9520F"/>
                </a:solidFill>
                <a:latin typeface="IBM Plex Sans" pitchFamily="34" charset="0"/>
                <a:ea typeface="IBM Plex Sans" pitchFamily="34" charset="-122"/>
                <a:cs typeface="IBM Plex Sans" pitchFamily="34" charset="-120"/>
              </a:rPr>
              <a:t>Put option</a:t>
            </a:r>
            <a:endParaRPr lang="en-US" sz="1800" dirty="0"/>
          </a:p>
        </p:txBody>
      </p:sp>
      <p:sp>
        <p:nvSpPr>
          <p:cNvPr id="11" name="Text 8"/>
          <p:cNvSpPr/>
          <p:nvPr/>
        </p:nvSpPr>
        <p:spPr>
          <a:xfrm>
            <a:off x="6457950" y="2084040"/>
            <a:ext cx="4826889"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E"/>
                </a:solidFill>
                <a:latin typeface="IBM Plex Sans" pitchFamily="34" charset="0"/>
                <a:ea typeface="IBM Plex Sans" pitchFamily="34" charset="-122"/>
                <a:cs typeface="IBM Plex Sans" pitchFamily="34" charset="-120"/>
              </a:rPr>
              <a:t>The right — not the obligation — to </a:t>
            </a:r>
            <a:r>
              <a:rPr lang="en-US" sz="1400" b="1" dirty="0">
                <a:solidFill>
                  <a:srgbClr val="44505E"/>
                </a:solidFill>
                <a:latin typeface="IBM Plex Sans" pitchFamily="34" charset="0"/>
                <a:ea typeface="IBM Plex Sans" pitchFamily="34" charset="-122"/>
                <a:cs typeface="IBM Plex Sans" pitchFamily="34" charset="-120"/>
              </a:rPr>
              <a:t>sell</a:t>
            </a:r>
            <a:r>
              <a:rPr lang="en-US" sz="1400" dirty="0">
                <a:solidFill>
                  <a:srgbClr val="44505E"/>
                </a:solidFill>
                <a:latin typeface="IBM Plex Sans" pitchFamily="34" charset="0"/>
                <a:ea typeface="IBM Plex Sans" pitchFamily="34" charset="-122"/>
                <a:cs typeface="IBM Plex Sans" pitchFamily="34" charset="-120"/>
              </a:rPr>
              <a:t> the stock at strike K on expiry date T.</a:t>
            </a:r>
            <a:endParaRPr lang="en-US" sz="1400" dirty="0"/>
          </a:p>
        </p:txBody>
      </p:sp>
      <p:pic>
        <p:nvPicPr>
          <p:cNvPr id="12" name="Image 1" descr="Put payoff: falling one-for-one as the stock price drops below K, zero above K"/>
          <p:cNvPicPr>
            <a:picLocks noChangeAspect="1"/>
          </p:cNvPicPr>
          <p:nvPr/>
        </p:nvPicPr>
        <p:blipFill>
          <a:blip r:embed="rId4"/>
          <a:srcRect/>
          <a:stretch/>
        </p:blipFill>
        <p:spPr>
          <a:xfrm>
            <a:off x="6457950" y="2670721"/>
            <a:ext cx="4445000" cy="1651000"/>
          </a:xfrm>
          <a:prstGeom prst="rect">
            <a:avLst/>
          </a:prstGeom>
        </p:spPr>
      </p:pic>
      <p:sp>
        <p:nvSpPr>
          <p:cNvPr id="13" name="Text 9"/>
          <p:cNvSpPr/>
          <p:nvPr/>
        </p:nvSpPr>
        <p:spPr>
          <a:xfrm>
            <a:off x="6457950" y="4410621"/>
            <a:ext cx="4826889"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02E"/>
                </a:solidFill>
                <a:latin typeface="JetBrains Mono" pitchFamily="49" charset="0"/>
                <a:ea typeface="JetBrains Mono" pitchFamily="49" charset="-122"/>
                <a:cs typeface="JetBrains Mono" pitchFamily="49" charset="-120"/>
              </a:rPr>
              <a:t>payoff = max(K − S(T), 0)</a:t>
            </a:r>
            <a:endParaRPr lang="en-US" sz="1400" dirty="0"/>
          </a:p>
        </p:txBody>
      </p:sp>
      <p:sp>
        <p:nvSpPr>
          <p:cNvPr id="14" name="Text 10"/>
          <p:cNvSpPr/>
          <p:nvPr/>
        </p:nvSpPr>
        <p:spPr>
          <a:xfrm>
            <a:off x="3352800" y="2768600"/>
            <a:ext cx="431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K</a:t>
            </a:r>
            <a:endParaRPr lang="en-US" sz="1200" dirty="0"/>
          </a:p>
        </p:txBody>
      </p:sp>
      <p:sp>
        <p:nvSpPr>
          <p:cNvPr id="15" name="Text 11"/>
          <p:cNvSpPr/>
          <p:nvPr/>
        </p:nvSpPr>
        <p:spPr>
          <a:xfrm>
            <a:off x="8763000" y="2768600"/>
            <a:ext cx="431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K</a:t>
            </a:r>
            <a:endParaRPr lang="en-US" sz="1200" dirty="0"/>
          </a:p>
        </p:txBody>
      </p:sp>
      <p:sp>
        <p:nvSpPr>
          <p:cNvPr id="16" name="Text 12"/>
          <p:cNvSpPr/>
          <p:nvPr/>
        </p:nvSpPr>
        <p:spPr>
          <a:xfrm>
            <a:off x="4445000" y="3810000"/>
            <a:ext cx="685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
            </a:r>
            <a:endParaRPr lang="en-US" sz="1200" dirty="0"/>
          </a:p>
        </p:txBody>
      </p:sp>
      <p:sp>
        <p:nvSpPr>
          <p:cNvPr id="17" name="Text 13"/>
          <p:cNvSpPr/>
          <p:nvPr/>
        </p:nvSpPr>
        <p:spPr>
          <a:xfrm>
            <a:off x="9855200" y="3810000"/>
            <a:ext cx="685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00 · OPTIONS 101 · DELTA AND GAMMA</a:t>
            </a:r>
            <a:endParaRPr lang="en-US" sz="120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14202E"/>
                </a:solidFill>
                <a:latin typeface="Source Serif 4" pitchFamily="18" charset="0"/>
                <a:ea typeface="Source Serif 4" pitchFamily="18" charset="-122"/>
                <a:cs typeface="Source Serif 4" pitchFamily="18" charset="-120"/>
              </a:rPr>
              <a:t>Delta and gamma describe how option value moves</a:t>
            </a:r>
            <a:endParaRPr lang="en-US" sz="3000"/>
          </a:p>
        </p:txBody>
      </p:sp>
      <p:sp>
        <p:nvSpPr>
          <p:cNvPr id="4" name="TextBox 3"/>
          <p:cNvSpPr txBox="1"/>
          <p:nvPr/>
        </p:nvSpPr>
        <p:spPr>
          <a:xfrm>
            <a:off x="813816" y="1554480"/>
            <a:ext cx="10561320" cy="731520"/>
          </a:xfrm>
          <a:prstGeom prst="rect">
            <a:avLst/>
          </a:prstGeom>
          <a:noFill/>
        </p:spPr>
        <p:txBody>
          <a:bodyPr wrap="square" lIns="0" tIns="0" rIns="0" bIns="0">
            <a:spAutoFit/>
          </a:bodyPr>
          <a:lstStyle/>
          <a:p>
            <a:pPr>
              <a:spcAft>
                <a:spcPts val="0"/>
              </a:spcAft>
              <a:defRPr sz="1900" b="0">
                <a:solidFill>
                  <a:srgbClr val="14202E"/>
                </a:solidFill>
                <a:latin typeface="IBM Plex Sans"/>
              </a:defRPr>
            </a:pPr>
            <a:r>
              <a:t>The payoff tells us what the option pays at expiry. Before expiry, its value V changes as the stock price S moves.</a:t>
            </a:r>
          </a:p>
        </p:txBody>
      </p:sp>
      <p:sp>
        <p:nvSpPr>
          <p:cNvPr id="5" name="TextBox 4"/>
          <p:cNvSpPr txBox="1"/>
          <p:nvPr/>
        </p:nvSpPr>
        <p:spPr>
          <a:xfrm>
            <a:off x="813816" y="2697480"/>
            <a:ext cx="4892040" cy="640080"/>
          </a:xfrm>
          <a:prstGeom prst="rect">
            <a:avLst/>
          </a:prstGeom>
          <a:noFill/>
        </p:spPr>
        <p:txBody>
          <a:bodyPr wrap="square" lIns="0" tIns="0" rIns="0" bIns="0">
            <a:spAutoFit/>
          </a:bodyPr>
          <a:lstStyle/>
          <a:p>
            <a:pPr>
              <a:spcAft>
                <a:spcPts val="0"/>
              </a:spcAft>
              <a:defRPr sz="2100" b="1">
                <a:solidFill>
                  <a:srgbClr val="2B65C8"/>
                </a:solidFill>
                <a:latin typeface="IBM Plex Sans"/>
              </a:defRPr>
            </a:pPr>
            <a:r>
              <a:t>Delta: how much does option value move?</a:t>
            </a:r>
          </a:p>
        </p:txBody>
      </p:sp>
      <p:sp>
        <p:nvSpPr>
          <p:cNvPr id="6" name="TextBox 5"/>
          <p:cNvSpPr txBox="1"/>
          <p:nvPr/>
        </p:nvSpPr>
        <p:spPr>
          <a:xfrm>
            <a:off x="813816" y="3520440"/>
            <a:ext cx="4892040" cy="914400"/>
          </a:xfrm>
          <a:prstGeom prst="rect">
            <a:avLst/>
          </a:prstGeom>
          <a:noFill/>
        </p:spPr>
        <p:txBody>
          <a:bodyPr wrap="square" lIns="0" tIns="0" rIns="0" bIns="0">
            <a:spAutoFit/>
          </a:bodyPr>
          <a:lstStyle/>
          <a:p>
            <a:pPr>
              <a:spcAft>
                <a:spcPts val="0"/>
              </a:spcAft>
              <a:defRPr sz="1800" b="0">
                <a:solidFill>
                  <a:srgbClr val="44505E"/>
                </a:solidFill>
                <a:latin typeface="IBM Plex Sans"/>
              </a:defRPr>
            </a:pPr>
            <a:r>
              <a:t>Delta measures the local change in option value for a small change in the stock price.</a:t>
            </a:r>
          </a:p>
        </p:txBody>
      </p:sp>
      <p:sp>
        <p:nvSpPr>
          <p:cNvPr id="7" name="TextBox 6"/>
          <p:cNvSpPr txBox="1"/>
          <p:nvPr/>
        </p:nvSpPr>
        <p:spPr>
          <a:xfrm>
            <a:off x="813816" y="4572000"/>
            <a:ext cx="4892040" cy="822960"/>
          </a:xfrm>
          <a:prstGeom prst="rect">
            <a:avLst/>
          </a:prstGeom>
          <a:noFill/>
        </p:spPr>
        <p:txBody>
          <a:bodyPr wrap="square" lIns="0" tIns="0" rIns="0" bIns="0">
            <a:spAutoFit/>
          </a:bodyPr>
          <a:lstStyle/>
          <a:p>
            <a:pPr>
              <a:spcAft>
                <a:spcPts val="0"/>
              </a:spcAft>
              <a:defRPr sz="1700" b="0">
                <a:solidFill>
                  <a:srgbClr val="14202E"/>
                </a:solidFill>
                <a:latin typeface="IBM Plex Sans"/>
              </a:defRPr>
            </a:pPr>
            <a:r>
              <a:t>With delta 0.50, a small $1 rise in the stock adds about $0.50 to the option’s value.</a:t>
            </a:r>
          </a:p>
        </p:txBody>
      </p:sp>
      <p:sp>
        <p:nvSpPr>
          <p:cNvPr id="8" name="TextBox 7"/>
          <p:cNvSpPr txBox="1"/>
          <p:nvPr/>
        </p:nvSpPr>
        <p:spPr>
          <a:xfrm>
            <a:off x="6355080" y="2697480"/>
            <a:ext cx="5029200" cy="640080"/>
          </a:xfrm>
          <a:prstGeom prst="rect">
            <a:avLst/>
          </a:prstGeom>
          <a:noFill/>
        </p:spPr>
        <p:txBody>
          <a:bodyPr wrap="square" lIns="0" tIns="0" rIns="0" bIns="0">
            <a:spAutoFit/>
          </a:bodyPr>
          <a:lstStyle/>
          <a:p>
            <a:pPr>
              <a:spcAft>
                <a:spcPts val="0"/>
              </a:spcAft>
              <a:defRPr sz="2100" b="1">
                <a:solidFill>
                  <a:srgbClr val="A9520F"/>
                </a:solidFill>
                <a:latin typeface="IBM Plex Sans"/>
              </a:defRPr>
            </a:pPr>
            <a:r>
              <a:t>Gamma: how much does delta change?</a:t>
            </a:r>
          </a:p>
        </p:txBody>
      </p:sp>
      <p:sp>
        <p:nvSpPr>
          <p:cNvPr id="9" name="TextBox 8"/>
          <p:cNvSpPr txBox="1"/>
          <p:nvPr/>
        </p:nvSpPr>
        <p:spPr>
          <a:xfrm>
            <a:off x="6355080" y="3520440"/>
            <a:ext cx="5029200" cy="914400"/>
          </a:xfrm>
          <a:prstGeom prst="rect">
            <a:avLst/>
          </a:prstGeom>
          <a:noFill/>
        </p:spPr>
        <p:txBody>
          <a:bodyPr wrap="square" lIns="0" tIns="0" rIns="0" bIns="0">
            <a:spAutoFit/>
          </a:bodyPr>
          <a:lstStyle/>
          <a:p>
            <a:pPr>
              <a:spcAft>
                <a:spcPts val="0"/>
              </a:spcAft>
              <a:defRPr sz="1800" b="0">
                <a:solidFill>
                  <a:srgbClr val="44505E"/>
                </a:solidFill>
                <a:latin typeface="IBM Plex Sans"/>
              </a:defRPr>
            </a:pPr>
            <a:r>
              <a:t>Delta itself changes as the stock moves. Gamma measures how quickly it changes.</a:t>
            </a:r>
          </a:p>
        </p:txBody>
      </p:sp>
      <p:sp>
        <p:nvSpPr>
          <p:cNvPr id="10" name="TextBox 9"/>
          <p:cNvSpPr txBox="1"/>
          <p:nvPr/>
        </p:nvSpPr>
        <p:spPr>
          <a:xfrm>
            <a:off x="6355080" y="4572000"/>
            <a:ext cx="5029200" cy="822960"/>
          </a:xfrm>
          <a:prstGeom prst="rect">
            <a:avLst/>
          </a:prstGeom>
          <a:noFill/>
        </p:spPr>
        <p:txBody>
          <a:bodyPr wrap="square" lIns="0" tIns="0" rIns="0" bIns="0">
            <a:spAutoFit/>
          </a:bodyPr>
          <a:lstStyle/>
          <a:p>
            <a:pPr>
              <a:spcAft>
                <a:spcPts val="0"/>
              </a:spcAft>
              <a:defRPr sz="1700" b="0">
                <a:solidFill>
                  <a:srgbClr val="14202E"/>
                </a:solidFill>
                <a:latin typeface="IBM Plex Sans"/>
              </a:defRPr>
            </a:pPr>
            <a:r>
              <a:t>That changing sensitivity explains why a stock hedge needs rebalancing.</a:t>
            </a:r>
          </a:p>
        </p:txBody>
      </p:sp>
      <p:sp>
        <p:nvSpPr>
          <p:cNvPr id="11" name="TextBox 10"/>
          <p:cNvSpPr txBox="1"/>
          <p:nvPr/>
        </p:nvSpPr>
        <p:spPr>
          <a:xfrm>
            <a:off x="813816" y="5806440"/>
            <a:ext cx="10561320" cy="457200"/>
          </a:xfrm>
          <a:prstGeom prst="rect">
            <a:avLst/>
          </a:prstGeom>
          <a:noFill/>
        </p:spPr>
        <p:txBody>
          <a:bodyPr wrap="square" lIns="0" tIns="0" rIns="0" bIns="0">
            <a:spAutoFit/>
          </a:bodyPr>
          <a:lstStyle/>
          <a:p>
            <a:pPr>
              <a:spcAft>
                <a:spcPts val="0"/>
              </a:spcAft>
              <a:defRPr sz="1900" b="0">
                <a:solidFill>
                  <a:srgbClr val="14202E"/>
                </a:solidFill>
                <a:latin typeface="Source Serif 4"/>
              </a:defRPr>
            </a:pPr>
            <a:r>
              <a:t>The next curves show delta and gamma for a call option before expiry.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00 · OPTIONS 101 · GAMMA HEDGING</a:t>
            </a:r>
            <a:endParaRPr lang="en-US" sz="120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14202E"/>
                </a:solidFill>
                <a:latin typeface="Source Serif 4" pitchFamily="18" charset="0"/>
                <a:ea typeface="Source Serif 4" pitchFamily="18" charset="-122"/>
                <a:cs typeface="Source Serif 4" pitchFamily="18" charset="-120"/>
              </a:rPr>
              <a:t>Gamma measures how quickly delta changes</a:t>
            </a:r>
            <a:endParaRPr lang="en-US" sz="3000"/>
          </a:p>
        </p:txBody>
      </p:sp>
      <p:sp>
        <p:nvSpPr>
          <p:cNvPr id="4" name="TextBox 3"/>
          <p:cNvSpPr txBox="1"/>
          <p:nvPr/>
        </p:nvSpPr>
        <p:spPr>
          <a:xfrm>
            <a:off x="812901" y="1508760"/>
            <a:ext cx="10515600" cy="438912"/>
          </a:xfrm>
          <a:prstGeom prst="rect">
            <a:avLst/>
          </a:prstGeom>
          <a:noFill/>
        </p:spPr>
        <p:txBody>
          <a:bodyPr wrap="square" lIns="0" tIns="0" rIns="0" bIns="0">
            <a:spAutoFit/>
          </a:bodyPr>
          <a:lstStyle/>
          <a:p>
            <a:pPr>
              <a:spcBef>
                <a:spcPts val="0"/>
              </a:spcBef>
              <a:spcAft>
                <a:spcPts val="0"/>
              </a:spcAft>
            </a:pPr>
            <a:r>
              <a:rPr sz="1900" b="0" dirty="0">
                <a:solidFill>
                  <a:srgbClr val="14202E"/>
                </a:solidFill>
                <a:latin typeface="IBM Plex Sans"/>
              </a:rPr>
              <a:t>Delta </a:t>
            </a:r>
            <a:r>
              <a:rPr sz="1900" b="0" dirty="0" err="1">
                <a:solidFill>
                  <a:srgbClr val="14202E"/>
                </a:solidFill>
                <a:latin typeface="IBM Plex Sans"/>
              </a:rPr>
              <a:t>Δ</a:t>
            </a:r>
            <a:r>
              <a:rPr sz="1900" b="0" dirty="0">
                <a:solidFill>
                  <a:srgbClr val="14202E"/>
                </a:solidFill>
                <a:latin typeface="IBM Plex Sans"/>
              </a:rPr>
              <a:t> = ∂V/∂S is price sensitivity. Gamma </a:t>
            </a:r>
            <a:r>
              <a:rPr sz="1900" b="0" dirty="0" err="1">
                <a:solidFill>
                  <a:srgbClr val="14202E"/>
                </a:solidFill>
                <a:latin typeface="IBM Plex Sans"/>
              </a:rPr>
              <a:t>Γ</a:t>
            </a:r>
            <a:r>
              <a:rPr sz="1900" b="0" dirty="0">
                <a:solidFill>
                  <a:srgbClr val="14202E"/>
                </a:solidFill>
                <a:latin typeface="IBM Plex Sans"/>
              </a:rPr>
              <a:t> = ∂</a:t>
            </a:r>
            <a:r>
              <a:rPr sz="1900" b="0" dirty="0" err="1">
                <a:solidFill>
                  <a:srgbClr val="14202E"/>
                </a:solidFill>
                <a:latin typeface="IBM Plex Sans"/>
              </a:rPr>
              <a:t>Δ</a:t>
            </a:r>
            <a:r>
              <a:rPr sz="1900" b="0" dirty="0">
                <a:solidFill>
                  <a:srgbClr val="14202E"/>
                </a:solidFill>
                <a:latin typeface="IBM Plex Sans"/>
              </a:rPr>
              <a:t>/∂S = ∂²V/∂S² is its slope.</a:t>
            </a:r>
          </a:p>
        </p:txBody>
      </p:sp>
      <p:sp>
        <p:nvSpPr>
          <p:cNvPr id="5" name="TextBox 4"/>
          <p:cNvSpPr txBox="1"/>
          <p:nvPr/>
        </p:nvSpPr>
        <p:spPr>
          <a:xfrm>
            <a:off x="812901" y="2103120"/>
            <a:ext cx="4937760" cy="256032"/>
          </a:xfrm>
          <a:prstGeom prst="rect">
            <a:avLst/>
          </a:prstGeom>
          <a:noFill/>
        </p:spPr>
        <p:txBody>
          <a:bodyPr wrap="square" lIns="0" tIns="0" rIns="0" bIns="0">
            <a:spAutoFit/>
          </a:bodyPr>
          <a:lstStyle/>
          <a:p>
            <a:pPr>
              <a:spcBef>
                <a:spcPts val="0"/>
              </a:spcBef>
              <a:spcAft>
                <a:spcPts val="0"/>
              </a:spcAft>
            </a:pPr>
            <a:r>
              <a:rPr sz="1300" b="1">
                <a:solidFill>
                  <a:srgbClr val="2B65C8"/>
                </a:solidFill>
                <a:latin typeface="IBM Plex Sans"/>
              </a:rPr>
              <a:t>CALL DELTA   (shares per option share)</a:t>
            </a:r>
          </a:p>
        </p:txBody>
      </p:sp>
      <p:sp>
        <p:nvSpPr>
          <p:cNvPr id="6" name="TextBox 5"/>
          <p:cNvSpPr txBox="1"/>
          <p:nvPr/>
        </p:nvSpPr>
        <p:spPr>
          <a:xfrm>
            <a:off x="6355080" y="2103120"/>
            <a:ext cx="5029200" cy="256032"/>
          </a:xfrm>
          <a:prstGeom prst="rect">
            <a:avLst/>
          </a:prstGeom>
          <a:noFill/>
        </p:spPr>
        <p:txBody>
          <a:bodyPr wrap="square" lIns="0" tIns="0" rIns="0" bIns="0">
            <a:spAutoFit/>
          </a:bodyPr>
          <a:lstStyle/>
          <a:p>
            <a:pPr>
              <a:spcBef>
                <a:spcPts val="0"/>
              </a:spcBef>
              <a:spcAft>
                <a:spcPts val="0"/>
              </a:spcAft>
            </a:pPr>
            <a:r>
              <a:rPr sz="1300" b="1">
                <a:solidFill>
                  <a:srgbClr val="A9520F"/>
                </a:solidFill>
                <a:latin typeface="IBM Plex Sans"/>
              </a:rPr>
              <a:t>CALL GAMMA   (delta change per $1)</a:t>
            </a:r>
          </a:p>
        </p:txBody>
      </p:sp>
      <p:graphicFrame>
        <p:nvGraphicFramePr>
          <p:cNvPr id="7" name="Chart 6" descr="Chart"/>
          <p:cNvGraphicFramePr>
            <a:graphicFrameLocks noGrp="1"/>
          </p:cNvGraphicFramePr>
          <p:nvPr>
            <p:extLst>
              <p:ext uri="{D42A27DB-BD31-4B8C-83A1-F6EECF244321}">
                <p14:modId xmlns:p14="http://schemas.microsoft.com/office/powerpoint/2010/main" val="3670979509"/>
              </p:ext>
            </p:extLst>
          </p:nvPr>
        </p:nvGraphicFramePr>
        <p:xfrm>
          <a:off x="685800" y="2423160"/>
          <a:ext cx="5257800" cy="257860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descr="Chart"/>
          <p:cNvGraphicFramePr>
            <a:graphicFrameLocks noGrp="1"/>
          </p:cNvGraphicFramePr>
          <p:nvPr>
            <p:extLst>
              <p:ext uri="{D42A27DB-BD31-4B8C-83A1-F6EECF244321}">
                <p14:modId xmlns:p14="http://schemas.microsoft.com/office/powerpoint/2010/main" val="2727517411"/>
              </p:ext>
            </p:extLst>
          </p:nvPr>
        </p:nvGraphicFramePr>
        <p:xfrm>
          <a:off x="6217920" y="2423160"/>
          <a:ext cx="5257800" cy="2578608"/>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p:cNvSpPr txBox="1"/>
          <p:nvPr/>
        </p:nvSpPr>
        <p:spPr>
          <a:xfrm>
            <a:off x="2286000" y="5010912"/>
            <a:ext cx="2743200" cy="169277"/>
          </a:xfrm>
          <a:prstGeom prst="rect">
            <a:avLst/>
          </a:prstGeom>
          <a:noFill/>
        </p:spPr>
        <p:txBody>
          <a:bodyPr wrap="square" lIns="0" tIns="0" rIns="0" bIns="0">
            <a:spAutoFit/>
          </a:bodyPr>
          <a:lstStyle/>
          <a:p>
            <a:pPr>
              <a:spcBef>
                <a:spcPts val="0"/>
              </a:spcBef>
              <a:spcAft>
                <a:spcPts val="0"/>
              </a:spcAft>
            </a:pPr>
            <a:r>
              <a:rPr sz="1100" b="1">
                <a:solidFill>
                  <a:srgbClr val="44505E"/>
                </a:solidFill>
                <a:latin typeface="IBM Plex Sans"/>
              </a:rPr>
              <a:t>Underlying stock price S ($)</a:t>
            </a:r>
          </a:p>
        </p:txBody>
      </p:sp>
      <p:sp>
        <p:nvSpPr>
          <p:cNvPr id="10" name="TextBox 9"/>
          <p:cNvSpPr txBox="1"/>
          <p:nvPr/>
        </p:nvSpPr>
        <p:spPr>
          <a:xfrm>
            <a:off x="7772400" y="5010912"/>
            <a:ext cx="2743200" cy="169277"/>
          </a:xfrm>
          <a:prstGeom prst="rect">
            <a:avLst/>
          </a:prstGeom>
          <a:noFill/>
        </p:spPr>
        <p:txBody>
          <a:bodyPr wrap="square" lIns="0" tIns="0" rIns="0" bIns="0">
            <a:spAutoFit/>
          </a:bodyPr>
          <a:lstStyle/>
          <a:p>
            <a:pPr>
              <a:spcBef>
                <a:spcPts val="0"/>
              </a:spcBef>
              <a:spcAft>
                <a:spcPts val="0"/>
              </a:spcAft>
            </a:pPr>
            <a:r>
              <a:rPr sz="1100" b="1">
                <a:solidFill>
                  <a:srgbClr val="44505E"/>
                </a:solidFill>
                <a:latin typeface="IBM Plex Sans"/>
              </a:rPr>
              <a:t>Underlying stock price S ($)</a:t>
            </a:r>
          </a:p>
        </p:txBody>
      </p:sp>
      <p:sp>
        <p:nvSpPr>
          <p:cNvPr id="11" name="TextBox 10"/>
          <p:cNvSpPr txBox="1"/>
          <p:nvPr/>
        </p:nvSpPr>
        <p:spPr>
          <a:xfrm>
            <a:off x="812901" y="5477256"/>
            <a:ext cx="10515600" cy="594360"/>
          </a:xfrm>
          <a:prstGeom prst="rect">
            <a:avLst/>
          </a:prstGeom>
          <a:noFill/>
        </p:spPr>
        <p:txBody>
          <a:bodyPr wrap="square" lIns="0" tIns="0" rIns="0" bIns="0">
            <a:spAutoFit/>
          </a:bodyPr>
          <a:lstStyle/>
          <a:p>
            <a:pPr>
              <a:spcBef>
                <a:spcPts val="0"/>
              </a:spcBef>
              <a:spcAft>
                <a:spcPts val="0"/>
              </a:spcAft>
            </a:pPr>
            <a:r>
              <a:rPr sz="2100" b="0">
                <a:solidFill>
                  <a:srgbClr val="14202E"/>
                </a:solidFill>
                <a:latin typeface="Source Serif 4"/>
              </a:rPr>
              <a:t>Stock can offset delta but has zero gamma. Gamma-neutral hedging adds options with offsetting curvature.</a:t>
            </a:r>
          </a:p>
        </p:txBody>
      </p:sp>
      <p:sp>
        <p:nvSpPr>
          <p:cNvPr id="12" name="TextBox 11"/>
          <p:cNvSpPr txBox="1"/>
          <p:nvPr/>
        </p:nvSpPr>
        <p:spPr>
          <a:xfrm>
            <a:off x="812901" y="6245352"/>
            <a:ext cx="10607040" cy="215444"/>
          </a:xfrm>
          <a:prstGeom prst="rect">
            <a:avLst/>
          </a:prstGeom>
          <a:noFill/>
        </p:spPr>
        <p:txBody>
          <a:bodyPr wrap="square" lIns="0" tIns="0" rIns="0" bIns="0">
            <a:spAutoFit/>
          </a:bodyPr>
          <a:lstStyle/>
          <a:p>
            <a:pPr>
              <a:spcBef>
                <a:spcPts val="0"/>
              </a:spcBef>
              <a:spcAft>
                <a:spcPts val="0"/>
              </a:spcAft>
            </a:pPr>
            <a:r>
              <a:rPr sz="1400" b="0" dirty="0">
                <a:solidFill>
                  <a:srgbClr val="44505E"/>
                </a:solidFill>
                <a:latin typeface="IBM Plex Sans"/>
              </a:rPr>
              <a:t>Illustrative Black–Scholes model: European calls, K = $100, volatility = 20%, r = q = 0, 365-day year.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00 · OPTIONS 101 · GAMMA HEDGING</a:t>
            </a:r>
            <a:endParaRPr lang="en-US" sz="120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14202E"/>
                </a:solidFill>
                <a:latin typeface="Source Serif 4" pitchFamily="18" charset="0"/>
                <a:ea typeface="Source Serif 4" pitchFamily="18" charset="-122"/>
                <a:cs typeface="Source Serif 4" pitchFamily="18" charset="-120"/>
              </a:rPr>
              <a:t>How to read the delta and gamma curves</a:t>
            </a:r>
            <a:endParaRPr lang="en-US" sz="3000"/>
          </a:p>
        </p:txBody>
      </p:sp>
      <p:sp>
        <p:nvSpPr>
          <p:cNvPr id="4" name="TextBox 3"/>
          <p:cNvSpPr txBox="1"/>
          <p:nvPr/>
        </p:nvSpPr>
        <p:spPr>
          <a:xfrm>
            <a:off x="807720" y="1499616"/>
            <a:ext cx="4709160" cy="276999"/>
          </a:xfrm>
          <a:prstGeom prst="rect">
            <a:avLst/>
          </a:prstGeom>
          <a:noFill/>
        </p:spPr>
        <p:txBody>
          <a:bodyPr wrap="square" lIns="0" tIns="0" rIns="0" bIns="0">
            <a:spAutoFit/>
          </a:bodyPr>
          <a:lstStyle/>
          <a:p>
            <a:pPr>
              <a:spcBef>
                <a:spcPts val="0"/>
              </a:spcBef>
              <a:spcAft>
                <a:spcPts val="0"/>
              </a:spcAft>
            </a:pPr>
            <a:r>
              <a:rPr b="1" dirty="0">
                <a:solidFill>
                  <a:schemeClr val="accent3">
                    <a:lumMod val="75000"/>
                  </a:schemeClr>
                </a:solidFill>
                <a:latin typeface="IBM Plex Sans"/>
              </a:rPr>
              <a:t>THE VARIABLES</a:t>
            </a:r>
          </a:p>
        </p:txBody>
      </p:sp>
      <p:sp>
        <p:nvSpPr>
          <p:cNvPr id="5" name="TextBox 4"/>
          <p:cNvSpPr txBox="1"/>
          <p:nvPr/>
        </p:nvSpPr>
        <p:spPr>
          <a:xfrm>
            <a:off x="812901" y="1956816"/>
            <a:ext cx="4800600" cy="274320"/>
          </a:xfrm>
          <a:prstGeom prst="rect">
            <a:avLst/>
          </a:prstGeom>
          <a:noFill/>
        </p:spPr>
        <p:txBody>
          <a:bodyPr wrap="square" lIns="0" tIns="0" rIns="0" bIns="0">
            <a:spAutoFit/>
          </a:bodyPr>
          <a:lstStyle/>
          <a:p>
            <a:pPr>
              <a:spcBef>
                <a:spcPts val="0"/>
              </a:spcBef>
              <a:spcAft>
                <a:spcPts val="0"/>
              </a:spcAft>
            </a:pPr>
            <a:r>
              <a:rPr sz="1700" b="1">
                <a:solidFill>
                  <a:srgbClr val="14202E"/>
                </a:solidFill>
                <a:latin typeface="IBM Plex Sans"/>
              </a:rPr>
              <a:t>V  ·  Option value</a:t>
            </a:r>
          </a:p>
        </p:txBody>
      </p:sp>
      <p:sp>
        <p:nvSpPr>
          <p:cNvPr id="6" name="TextBox 5"/>
          <p:cNvSpPr txBox="1"/>
          <p:nvPr/>
        </p:nvSpPr>
        <p:spPr>
          <a:xfrm>
            <a:off x="812901" y="2286000"/>
            <a:ext cx="4800600" cy="594360"/>
          </a:xfrm>
          <a:prstGeom prst="rect">
            <a:avLst/>
          </a:prstGeom>
          <a:noFill/>
        </p:spPr>
        <p:txBody>
          <a:bodyPr wrap="square" lIns="0" tIns="0" rIns="0" bIns="0">
            <a:spAutoFit/>
          </a:bodyPr>
          <a:lstStyle/>
          <a:p>
            <a:pPr>
              <a:spcBef>
                <a:spcPts val="0"/>
              </a:spcBef>
              <a:spcAft>
                <a:spcPts val="0"/>
              </a:spcAft>
            </a:pPr>
            <a:r>
              <a:rPr sz="1500" b="0">
                <a:solidFill>
                  <a:srgbClr val="44505E"/>
                </a:solidFill>
                <a:latin typeface="IBM Plex Sans"/>
              </a:rPr>
              <a:t>The call’s current value in dollars per underlying share. A 100-share contract is worth 100 × V.</a:t>
            </a:r>
          </a:p>
        </p:txBody>
      </p:sp>
      <p:sp>
        <p:nvSpPr>
          <p:cNvPr id="7" name="TextBox 6"/>
          <p:cNvSpPr txBox="1"/>
          <p:nvPr/>
        </p:nvSpPr>
        <p:spPr>
          <a:xfrm>
            <a:off x="812901" y="2898648"/>
            <a:ext cx="4800600" cy="274320"/>
          </a:xfrm>
          <a:prstGeom prst="rect">
            <a:avLst/>
          </a:prstGeom>
          <a:noFill/>
        </p:spPr>
        <p:txBody>
          <a:bodyPr wrap="square" lIns="0" tIns="0" rIns="0" bIns="0">
            <a:spAutoFit/>
          </a:bodyPr>
          <a:lstStyle/>
          <a:p>
            <a:pPr>
              <a:spcBef>
                <a:spcPts val="0"/>
              </a:spcBef>
              <a:spcAft>
                <a:spcPts val="0"/>
              </a:spcAft>
            </a:pPr>
            <a:r>
              <a:rPr sz="1700" b="1">
                <a:solidFill>
                  <a:srgbClr val="14202E"/>
                </a:solidFill>
                <a:latin typeface="IBM Plex Sans"/>
              </a:rPr>
              <a:t>S  ·  Stock price</a:t>
            </a:r>
          </a:p>
        </p:txBody>
      </p:sp>
      <p:sp>
        <p:nvSpPr>
          <p:cNvPr id="8" name="TextBox 7"/>
          <p:cNvSpPr txBox="1"/>
          <p:nvPr/>
        </p:nvSpPr>
        <p:spPr>
          <a:xfrm>
            <a:off x="812901" y="3227832"/>
            <a:ext cx="4800600" cy="594360"/>
          </a:xfrm>
          <a:prstGeom prst="rect">
            <a:avLst/>
          </a:prstGeom>
          <a:noFill/>
        </p:spPr>
        <p:txBody>
          <a:bodyPr wrap="square" lIns="0" tIns="0" rIns="0" bIns="0">
            <a:spAutoFit/>
          </a:bodyPr>
          <a:lstStyle/>
          <a:p>
            <a:pPr>
              <a:spcBef>
                <a:spcPts val="0"/>
              </a:spcBef>
              <a:spcAft>
                <a:spcPts val="0"/>
              </a:spcAft>
            </a:pPr>
            <a:r>
              <a:rPr sz="1500" b="0">
                <a:solidFill>
                  <a:srgbClr val="44505E"/>
                </a:solidFill>
                <a:latin typeface="IBM Plex Sans"/>
              </a:rPr>
              <a:t>The current price of one underlying share, in dollars. Both figures use S on the horizontal axis.</a:t>
            </a:r>
          </a:p>
        </p:txBody>
      </p:sp>
      <p:sp>
        <p:nvSpPr>
          <p:cNvPr id="9" name="TextBox 8"/>
          <p:cNvSpPr txBox="1"/>
          <p:nvPr/>
        </p:nvSpPr>
        <p:spPr>
          <a:xfrm>
            <a:off x="812901" y="3840480"/>
            <a:ext cx="4800600" cy="274320"/>
          </a:xfrm>
          <a:prstGeom prst="rect">
            <a:avLst/>
          </a:prstGeom>
          <a:noFill/>
        </p:spPr>
        <p:txBody>
          <a:bodyPr wrap="square" lIns="0" tIns="0" rIns="0" bIns="0">
            <a:spAutoFit/>
          </a:bodyPr>
          <a:lstStyle/>
          <a:p>
            <a:pPr>
              <a:spcBef>
                <a:spcPts val="0"/>
              </a:spcBef>
              <a:spcAft>
                <a:spcPts val="0"/>
              </a:spcAft>
            </a:pPr>
            <a:r>
              <a:rPr sz="1700" b="1">
                <a:solidFill>
                  <a:srgbClr val="14202E"/>
                </a:solidFill>
                <a:latin typeface="IBM Plex Sans"/>
              </a:rPr>
              <a:t>Δ  ·  Delta = ∂V/∂S</a:t>
            </a:r>
          </a:p>
        </p:txBody>
      </p:sp>
      <p:sp>
        <p:nvSpPr>
          <p:cNvPr id="10" name="TextBox 9"/>
          <p:cNvSpPr txBox="1"/>
          <p:nvPr/>
        </p:nvSpPr>
        <p:spPr>
          <a:xfrm>
            <a:off x="812901" y="4169664"/>
            <a:ext cx="4800600" cy="461665"/>
          </a:xfrm>
          <a:prstGeom prst="rect">
            <a:avLst/>
          </a:prstGeom>
          <a:noFill/>
        </p:spPr>
        <p:txBody>
          <a:bodyPr wrap="square" lIns="0" tIns="0" rIns="0" bIns="0">
            <a:spAutoFit/>
          </a:bodyPr>
          <a:lstStyle/>
          <a:p>
            <a:pPr>
              <a:spcBef>
                <a:spcPts val="0"/>
              </a:spcBef>
              <a:spcAft>
                <a:spcPts val="0"/>
              </a:spcAft>
            </a:pPr>
            <a:r>
              <a:rPr sz="1500" b="0">
                <a:solidFill>
                  <a:srgbClr val="44505E"/>
                </a:solidFill>
                <a:latin typeface="IBM Plex Sans"/>
              </a:rPr>
              <a:t>The local slope of </a:t>
            </a:r>
            <a:r>
              <a:rPr lang="en-GB" sz="1500" b="0">
                <a:solidFill>
                  <a:srgbClr val="44505E"/>
                </a:solidFill>
                <a:latin typeface="IBM Plex Sans"/>
              </a:rPr>
              <a:t>V </a:t>
            </a:r>
            <a:r>
              <a:rPr sz="1500" b="0">
                <a:solidFill>
                  <a:srgbClr val="44505E"/>
                </a:solidFill>
                <a:latin typeface="IBM Plex Sans"/>
              </a:rPr>
              <a:t>versus </a:t>
            </a:r>
            <a:r>
              <a:rPr lang="en-GB" sz="1500" b="0">
                <a:solidFill>
                  <a:srgbClr val="44505E"/>
                </a:solidFill>
                <a:latin typeface="IBM Plex Sans"/>
              </a:rPr>
              <a:t>S</a:t>
            </a:r>
            <a:r>
              <a:rPr sz="1500" b="0">
                <a:solidFill>
                  <a:srgbClr val="44505E"/>
                </a:solidFill>
                <a:latin typeface="IBM Plex Sans"/>
              </a:rPr>
              <a:t>. </a:t>
            </a:r>
            <a:r>
              <a:rPr lang="en-GB" sz="1500" b="0">
                <a:solidFill>
                  <a:srgbClr val="44505E"/>
                </a:solidFill>
                <a:latin typeface="IBM Plex Sans"/>
              </a:rPr>
              <a:t>With </a:t>
            </a:r>
            <a:r>
              <a:rPr sz="1500" b="0">
                <a:solidFill>
                  <a:srgbClr val="44505E"/>
                </a:solidFill>
                <a:latin typeface="IBM Plex Sans"/>
              </a:rPr>
              <a:t>Δ = 0.50</a:t>
            </a:r>
            <a:r>
              <a:rPr lang="en-SE" sz="1500" b="0">
                <a:solidFill>
                  <a:srgbClr val="44505E"/>
                </a:solidFill>
                <a:latin typeface="IBM Plex Sans"/>
              </a:rPr>
              <a:t>,</a:t>
            </a:r>
            <a:r>
              <a:rPr sz="1500" b="0">
                <a:solidFill>
                  <a:srgbClr val="44505E"/>
                </a:solidFill>
                <a:latin typeface="IBM Plex Sans"/>
              </a:rPr>
              <a:t> a small $1 rise in S</a:t>
            </a:r>
            <a:r>
              <a:rPr lang="en-GB" sz="1500" b="0">
                <a:solidFill>
                  <a:srgbClr val="44505E"/>
                </a:solidFill>
                <a:latin typeface="IBM Plex Sans"/>
              </a:rPr>
              <a:t> adds about $0.50 to V</a:t>
            </a:r>
            <a:r>
              <a:rPr sz="1500" b="0">
                <a:solidFill>
                  <a:srgbClr val="44505E"/>
                </a:solidFill>
                <a:latin typeface="IBM Plex Sans"/>
              </a:rPr>
              <a:t>.</a:t>
            </a:r>
          </a:p>
        </p:txBody>
      </p:sp>
      <p:sp>
        <p:nvSpPr>
          <p:cNvPr id="11" name="TextBox 10"/>
          <p:cNvSpPr txBox="1"/>
          <p:nvPr/>
        </p:nvSpPr>
        <p:spPr>
          <a:xfrm>
            <a:off x="812901" y="4910328"/>
            <a:ext cx="4800600" cy="274320"/>
          </a:xfrm>
          <a:prstGeom prst="rect">
            <a:avLst/>
          </a:prstGeom>
          <a:noFill/>
        </p:spPr>
        <p:txBody>
          <a:bodyPr wrap="square" lIns="0" tIns="0" rIns="0" bIns="0">
            <a:spAutoFit/>
          </a:bodyPr>
          <a:lstStyle/>
          <a:p>
            <a:pPr>
              <a:spcBef>
                <a:spcPts val="0"/>
              </a:spcBef>
              <a:spcAft>
                <a:spcPts val="0"/>
              </a:spcAft>
            </a:pPr>
            <a:r>
              <a:rPr sz="1700" b="1">
                <a:solidFill>
                  <a:srgbClr val="14202E"/>
                </a:solidFill>
                <a:latin typeface="IBM Plex Sans"/>
              </a:rPr>
              <a:t>Γ  ·  Gamma = ∂Δ/∂S</a:t>
            </a:r>
          </a:p>
        </p:txBody>
      </p:sp>
      <p:sp>
        <p:nvSpPr>
          <p:cNvPr id="12" name="TextBox 11"/>
          <p:cNvSpPr txBox="1"/>
          <p:nvPr/>
        </p:nvSpPr>
        <p:spPr>
          <a:xfrm>
            <a:off x="812901" y="5239512"/>
            <a:ext cx="4800600" cy="594360"/>
          </a:xfrm>
          <a:prstGeom prst="rect">
            <a:avLst/>
          </a:prstGeom>
          <a:noFill/>
        </p:spPr>
        <p:txBody>
          <a:bodyPr wrap="square" lIns="0" tIns="0" rIns="0" bIns="0">
            <a:spAutoFit/>
          </a:bodyPr>
          <a:lstStyle/>
          <a:p>
            <a:pPr>
              <a:spcBef>
                <a:spcPts val="0"/>
              </a:spcBef>
              <a:spcAft>
                <a:spcPts val="0"/>
              </a:spcAft>
            </a:pPr>
            <a:r>
              <a:rPr sz="1500" b="0">
                <a:solidFill>
                  <a:srgbClr val="44505E"/>
                </a:solidFill>
                <a:latin typeface="IBM Plex Sans"/>
              </a:rPr>
              <a:t>The local slope of the delta curve, or curvature of V. Γ = 0.07 means about 0.07 more delta per $1 rise in S, locally.</a:t>
            </a:r>
          </a:p>
        </p:txBody>
      </p:sp>
      <p:sp>
        <p:nvSpPr>
          <p:cNvPr id="13" name="TextBox 12"/>
          <p:cNvSpPr txBox="1"/>
          <p:nvPr/>
        </p:nvSpPr>
        <p:spPr>
          <a:xfrm>
            <a:off x="6355080" y="1499616"/>
            <a:ext cx="5029200" cy="276999"/>
          </a:xfrm>
          <a:prstGeom prst="rect">
            <a:avLst/>
          </a:prstGeom>
          <a:noFill/>
        </p:spPr>
        <p:txBody>
          <a:bodyPr wrap="square" lIns="0" tIns="0" rIns="0" bIns="0">
            <a:spAutoFit/>
          </a:bodyPr>
          <a:lstStyle/>
          <a:p>
            <a:pPr>
              <a:spcBef>
                <a:spcPts val="0"/>
              </a:spcBef>
              <a:spcAft>
                <a:spcPts val="0"/>
              </a:spcAft>
            </a:pPr>
            <a:r>
              <a:rPr b="1">
                <a:solidFill>
                  <a:schemeClr val="accent3">
                    <a:lumMod val="75000"/>
                  </a:schemeClr>
                </a:solidFill>
                <a:latin typeface="IBM Plex Sans"/>
              </a:rPr>
              <a:t>THE </a:t>
            </a:r>
            <a:r>
              <a:rPr lang="en-GB" b="1">
                <a:solidFill>
                  <a:schemeClr val="accent3">
                    <a:lumMod val="75000"/>
                  </a:schemeClr>
                </a:solidFill>
                <a:latin typeface="IBM Plex Sans"/>
              </a:rPr>
              <a:t>DELTA AND GAMMA </a:t>
            </a:r>
            <a:r>
              <a:rPr b="1">
                <a:solidFill>
                  <a:schemeClr val="accent3">
                    <a:lumMod val="75000"/>
                  </a:schemeClr>
                </a:solidFill>
                <a:latin typeface="IBM Plex Sans"/>
              </a:rPr>
              <a:t>FIGURES</a:t>
            </a:r>
          </a:p>
        </p:txBody>
      </p:sp>
      <p:sp>
        <p:nvSpPr>
          <p:cNvPr id="14" name="TextBox 13"/>
          <p:cNvSpPr txBox="1"/>
          <p:nvPr/>
        </p:nvSpPr>
        <p:spPr>
          <a:xfrm>
            <a:off x="6355080" y="1956816"/>
            <a:ext cx="5029200" cy="274320"/>
          </a:xfrm>
          <a:prstGeom prst="rect">
            <a:avLst/>
          </a:prstGeom>
          <a:noFill/>
        </p:spPr>
        <p:txBody>
          <a:bodyPr wrap="square" lIns="0" tIns="0" rIns="0" bIns="0">
            <a:spAutoFit/>
          </a:bodyPr>
          <a:lstStyle/>
          <a:p>
            <a:pPr>
              <a:spcBef>
                <a:spcPts val="0"/>
              </a:spcBef>
              <a:spcAft>
                <a:spcPts val="0"/>
              </a:spcAft>
            </a:pPr>
            <a:r>
              <a:rPr sz="1700" b="1">
                <a:solidFill>
                  <a:srgbClr val="14202E"/>
                </a:solidFill>
                <a:latin typeface="IBM Plex Sans"/>
              </a:rPr>
              <a:t>Left: delta rises from near 0 to near 1</a:t>
            </a:r>
          </a:p>
        </p:txBody>
      </p:sp>
      <p:sp>
        <p:nvSpPr>
          <p:cNvPr id="15" name="TextBox 14"/>
          <p:cNvSpPr txBox="1"/>
          <p:nvPr/>
        </p:nvSpPr>
        <p:spPr>
          <a:xfrm>
            <a:off x="6355080" y="2295144"/>
            <a:ext cx="5029200" cy="692497"/>
          </a:xfrm>
          <a:prstGeom prst="rect">
            <a:avLst/>
          </a:prstGeom>
          <a:noFill/>
        </p:spPr>
        <p:txBody>
          <a:bodyPr wrap="square" lIns="0" tIns="0" rIns="0" bIns="0">
            <a:spAutoFit/>
          </a:bodyPr>
          <a:lstStyle/>
          <a:p>
            <a:pPr>
              <a:spcBef>
                <a:spcPts val="0"/>
              </a:spcBef>
              <a:spcAft>
                <a:spcPts val="0"/>
              </a:spcAft>
            </a:pPr>
            <a:r>
              <a:rPr lang="en-GB" sz="1500" b="0">
                <a:solidFill>
                  <a:srgbClr val="44505E"/>
                </a:solidFill>
                <a:latin typeface="IBM Plex Sans"/>
              </a:rPr>
              <a:t>Far below </a:t>
            </a:r>
            <a:r>
              <a:rPr sz="1500" b="0">
                <a:solidFill>
                  <a:srgbClr val="44505E"/>
                </a:solidFill>
                <a:latin typeface="IBM Plex Sans"/>
              </a:rPr>
              <a:t>the $100 strike, the call reacts weakly to stock moves. Far above it, </a:t>
            </a:r>
            <a:r>
              <a:rPr lang="en-GB" sz="1500" b="0">
                <a:solidFill>
                  <a:srgbClr val="44505E"/>
                </a:solidFill>
                <a:latin typeface="IBM Plex Sans"/>
              </a:rPr>
              <a:t>it </a:t>
            </a:r>
            <a:r>
              <a:rPr sz="1500" b="0">
                <a:solidFill>
                  <a:srgbClr val="44505E"/>
                </a:solidFill>
                <a:latin typeface="IBM Plex Sans"/>
              </a:rPr>
              <a:t>behaves like one share. The 30-day curve </a:t>
            </a:r>
            <a:r>
              <a:rPr lang="en-GB" sz="1500" b="0">
                <a:solidFill>
                  <a:srgbClr val="44505E"/>
                </a:solidFill>
                <a:latin typeface="IBM Plex Sans"/>
              </a:rPr>
              <a:t>rises</a:t>
            </a:r>
            <a:r>
              <a:rPr sz="1500" b="0">
                <a:solidFill>
                  <a:srgbClr val="44505E"/>
                </a:solidFill>
                <a:latin typeface="IBM Plex Sans"/>
              </a:rPr>
              <a:t> more steeply near the strike.</a:t>
            </a:r>
          </a:p>
        </p:txBody>
      </p:sp>
      <p:sp>
        <p:nvSpPr>
          <p:cNvPr id="16" name="TextBox 15"/>
          <p:cNvSpPr txBox="1"/>
          <p:nvPr/>
        </p:nvSpPr>
        <p:spPr>
          <a:xfrm>
            <a:off x="6355080" y="3200400"/>
            <a:ext cx="5029200" cy="274320"/>
          </a:xfrm>
          <a:prstGeom prst="rect">
            <a:avLst/>
          </a:prstGeom>
          <a:noFill/>
        </p:spPr>
        <p:txBody>
          <a:bodyPr wrap="square" lIns="0" tIns="0" rIns="0" bIns="0">
            <a:spAutoFit/>
          </a:bodyPr>
          <a:lstStyle/>
          <a:p>
            <a:pPr>
              <a:spcBef>
                <a:spcPts val="0"/>
              </a:spcBef>
              <a:spcAft>
                <a:spcPts val="0"/>
              </a:spcAft>
            </a:pPr>
            <a:r>
              <a:rPr sz="1700" b="1">
                <a:solidFill>
                  <a:srgbClr val="14202E"/>
                </a:solidFill>
                <a:latin typeface="IBM Plex Sans"/>
              </a:rPr>
              <a:t>Right: gamma measures that steepness</a:t>
            </a:r>
          </a:p>
        </p:txBody>
      </p:sp>
      <p:sp>
        <p:nvSpPr>
          <p:cNvPr id="17" name="TextBox 16"/>
          <p:cNvSpPr txBox="1"/>
          <p:nvPr/>
        </p:nvSpPr>
        <p:spPr>
          <a:xfrm>
            <a:off x="6355080" y="3538728"/>
            <a:ext cx="5029200" cy="923330"/>
          </a:xfrm>
          <a:prstGeom prst="rect">
            <a:avLst/>
          </a:prstGeom>
          <a:noFill/>
        </p:spPr>
        <p:txBody>
          <a:bodyPr wrap="square" lIns="0" tIns="0" rIns="0" bIns="0">
            <a:spAutoFit/>
          </a:bodyPr>
          <a:lstStyle/>
          <a:p>
            <a:pPr>
              <a:spcBef>
                <a:spcPts val="0"/>
              </a:spcBef>
              <a:spcAft>
                <a:spcPts val="0"/>
              </a:spcAft>
            </a:pPr>
            <a:r>
              <a:rPr sz="1500" b="0">
                <a:solidFill>
                  <a:srgbClr val="44505E"/>
                </a:solidFill>
                <a:latin typeface="IBM Plex Sans"/>
              </a:rPr>
              <a:t>Gamma is </a:t>
            </a:r>
            <a:r>
              <a:rPr lang="en-GB" sz="1500" b="0">
                <a:solidFill>
                  <a:srgbClr val="44505E"/>
                </a:solidFill>
                <a:latin typeface="IBM Plex Sans"/>
              </a:rPr>
              <a:t>highest near the strike, </a:t>
            </a:r>
            <a:r>
              <a:rPr sz="1500" b="0">
                <a:solidFill>
                  <a:srgbClr val="44505E"/>
                </a:solidFill>
                <a:latin typeface="IBM Plex Sans"/>
              </a:rPr>
              <a:t>where delta changes fastest. The blue 30-day </a:t>
            </a:r>
            <a:r>
              <a:rPr lang="en-GB" sz="1500" b="0">
                <a:solidFill>
                  <a:srgbClr val="44505E"/>
                </a:solidFill>
                <a:latin typeface="IBM Plex Sans"/>
              </a:rPr>
              <a:t>peak is </a:t>
            </a:r>
            <a:r>
              <a:rPr sz="1500" b="0">
                <a:solidFill>
                  <a:srgbClr val="44505E"/>
                </a:solidFill>
                <a:latin typeface="IBM Plex Sans"/>
              </a:rPr>
              <a:t>taller</a:t>
            </a:r>
            <a:r>
              <a:rPr lang="en-GB" sz="1500" b="0">
                <a:solidFill>
                  <a:srgbClr val="44505E"/>
                </a:solidFill>
                <a:latin typeface="IBM Plex Sans"/>
              </a:rPr>
              <a:t> and </a:t>
            </a:r>
            <a:r>
              <a:rPr sz="1500" b="0">
                <a:solidFill>
                  <a:srgbClr val="44505E"/>
                </a:solidFill>
                <a:latin typeface="IBM Plex Sans"/>
              </a:rPr>
              <a:t>narrower than the orange 90-day </a:t>
            </a:r>
            <a:r>
              <a:rPr lang="en-GB" sz="1500" b="0">
                <a:solidFill>
                  <a:srgbClr val="44505E"/>
                </a:solidFill>
                <a:latin typeface="IBM Plex Sans"/>
              </a:rPr>
              <a:t>peak</a:t>
            </a:r>
            <a:r>
              <a:rPr sz="1500" b="0">
                <a:solidFill>
                  <a:srgbClr val="44505E"/>
                </a:solidFill>
                <a:latin typeface="IBM Plex Sans"/>
              </a:rPr>
              <a:t>. Far from the strike, both approach zero.</a:t>
            </a:r>
          </a:p>
        </p:txBody>
      </p:sp>
      <p:sp>
        <p:nvSpPr>
          <p:cNvPr id="18" name="TextBox 17"/>
          <p:cNvSpPr txBox="1"/>
          <p:nvPr/>
        </p:nvSpPr>
        <p:spPr>
          <a:xfrm>
            <a:off x="6355080" y="4636495"/>
            <a:ext cx="5029200" cy="274320"/>
          </a:xfrm>
          <a:prstGeom prst="rect">
            <a:avLst/>
          </a:prstGeom>
          <a:noFill/>
        </p:spPr>
        <p:txBody>
          <a:bodyPr wrap="square" lIns="0" tIns="0" rIns="0" bIns="0">
            <a:spAutoFit/>
          </a:bodyPr>
          <a:lstStyle/>
          <a:p>
            <a:pPr>
              <a:spcBef>
                <a:spcPts val="0"/>
              </a:spcBef>
              <a:spcAft>
                <a:spcPts val="0"/>
              </a:spcAft>
            </a:pPr>
            <a:r>
              <a:rPr sz="1700" b="1">
                <a:solidFill>
                  <a:srgbClr val="14202E"/>
                </a:solidFill>
                <a:latin typeface="IBM Plex Sans"/>
              </a:rPr>
              <a:t>A snapshot with other inputs held fixed</a:t>
            </a:r>
          </a:p>
        </p:txBody>
      </p:sp>
      <p:sp>
        <p:nvSpPr>
          <p:cNvPr id="19" name="TextBox 18"/>
          <p:cNvSpPr txBox="1"/>
          <p:nvPr/>
        </p:nvSpPr>
        <p:spPr>
          <a:xfrm>
            <a:off x="6355080" y="4974823"/>
            <a:ext cx="5029200" cy="832104"/>
          </a:xfrm>
          <a:prstGeom prst="rect">
            <a:avLst/>
          </a:prstGeom>
          <a:noFill/>
        </p:spPr>
        <p:txBody>
          <a:bodyPr wrap="square" lIns="0" tIns="0" rIns="0" bIns="0">
            <a:spAutoFit/>
          </a:bodyPr>
          <a:lstStyle/>
          <a:p>
            <a:pPr>
              <a:spcBef>
                <a:spcPts val="0"/>
              </a:spcBef>
              <a:spcAft>
                <a:spcPts val="0"/>
              </a:spcAft>
            </a:pPr>
            <a:r>
              <a:rPr sz="1500" b="0">
                <a:solidFill>
                  <a:srgbClr val="44505E"/>
                </a:solidFill>
                <a:latin typeface="IBM Plex Sans"/>
              </a:rPr>
              <a:t>Each curve varies only S. Blue means 30 days to expiry, orange 90 days. These are separate maturities, not a stock-price path through time. Short calls reverse the signs of both Greeks.</a:t>
            </a:r>
          </a:p>
        </p:txBody>
      </p:sp>
      <p:sp>
        <p:nvSpPr>
          <p:cNvPr id="20" name="TextBox 19"/>
          <p:cNvSpPr txBox="1"/>
          <p:nvPr/>
        </p:nvSpPr>
        <p:spPr>
          <a:xfrm>
            <a:off x="812901" y="6042743"/>
            <a:ext cx="10607040" cy="365760"/>
          </a:xfrm>
          <a:prstGeom prst="rect">
            <a:avLst/>
          </a:prstGeom>
          <a:noFill/>
        </p:spPr>
        <p:txBody>
          <a:bodyPr wrap="square" lIns="0" tIns="0" rIns="0" bIns="0">
            <a:spAutoFit/>
          </a:bodyPr>
          <a:lstStyle/>
          <a:p>
            <a:pPr>
              <a:spcBef>
                <a:spcPts val="0"/>
              </a:spcBef>
              <a:spcAft>
                <a:spcPts val="0"/>
              </a:spcAft>
            </a:pPr>
            <a:r>
              <a:rPr sz="1700" b="1" dirty="0">
                <a:solidFill>
                  <a:srgbClr val="2B65C8"/>
                </a:solidFill>
                <a:latin typeface="IBM Plex Sans"/>
              </a:rPr>
              <a:t>For a small stock move: change in V ≈ </a:t>
            </a:r>
            <a:r>
              <a:rPr sz="1700" b="1" dirty="0" err="1">
                <a:solidFill>
                  <a:srgbClr val="2B65C8"/>
                </a:solidFill>
                <a:latin typeface="IBM Plex Sans"/>
              </a:rPr>
              <a:t>Δ</a:t>
            </a:r>
            <a:r>
              <a:rPr sz="1700" b="1" dirty="0">
                <a:solidFill>
                  <a:srgbClr val="2B65C8"/>
                </a:solidFill>
                <a:latin typeface="IBM Plex Sans"/>
              </a:rPr>
              <a:t> × change in S; change in </a:t>
            </a:r>
            <a:r>
              <a:rPr sz="1700" b="1" dirty="0" err="1">
                <a:solidFill>
                  <a:srgbClr val="2B65C8"/>
                </a:solidFill>
                <a:latin typeface="IBM Plex Sans"/>
              </a:rPr>
              <a:t>Δ</a:t>
            </a:r>
            <a:r>
              <a:rPr sz="1700" b="1" dirty="0">
                <a:solidFill>
                  <a:srgbClr val="2B65C8"/>
                </a:solidFill>
                <a:latin typeface="IBM Plex Sans"/>
              </a:rPr>
              <a:t> ≈ </a:t>
            </a:r>
            <a:r>
              <a:rPr sz="1700" b="1" dirty="0" err="1">
                <a:solidFill>
                  <a:srgbClr val="2B65C8"/>
                </a:solidFill>
                <a:latin typeface="IBM Plex Sans"/>
              </a:rPr>
              <a:t>Γ</a:t>
            </a:r>
            <a:r>
              <a:rPr sz="1700" b="1" dirty="0">
                <a:solidFill>
                  <a:srgbClr val="2B65C8"/>
                </a:solidFill>
                <a:latin typeface="IBM Plex Sans"/>
              </a:rPr>
              <a:t> × change in S.</a:t>
            </a:r>
          </a:p>
        </p:txBody>
      </p:sp>
      <p:sp>
        <p:nvSpPr>
          <p:cNvPr id="21" name="TextBox 20"/>
          <p:cNvSpPr txBox="1"/>
          <p:nvPr/>
        </p:nvSpPr>
        <p:spPr>
          <a:xfrm>
            <a:off x="812901" y="6400800"/>
            <a:ext cx="10607040" cy="215444"/>
          </a:xfrm>
          <a:prstGeom prst="rect">
            <a:avLst/>
          </a:prstGeom>
          <a:noFill/>
        </p:spPr>
        <p:txBody>
          <a:bodyPr wrap="square" lIns="0" tIns="0" rIns="0" bIns="0">
            <a:spAutoFit/>
          </a:bodyPr>
          <a:lstStyle/>
          <a:p>
            <a:pPr>
              <a:spcBef>
                <a:spcPts val="0"/>
              </a:spcBef>
              <a:spcAft>
                <a:spcPts val="0"/>
              </a:spcAft>
            </a:pPr>
            <a:r>
              <a:rPr sz="1400" b="0" dirty="0">
                <a:solidFill>
                  <a:srgbClr val="44505E"/>
                </a:solidFill>
                <a:latin typeface="IBM Plex Sans"/>
              </a:rPr>
              <a:t>∂ means “change one input, hold the others fixed”. Same assumptions as </a:t>
            </a:r>
            <a:r>
              <a:rPr lang="en-GB" sz="1400" b="0">
                <a:solidFill>
                  <a:srgbClr val="44505E"/>
                </a:solidFill>
                <a:latin typeface="IBM Plex Sans"/>
              </a:rPr>
              <a:t>the figures</a:t>
            </a:r>
            <a:r>
              <a:rPr sz="1400" b="0" dirty="0">
                <a:solidFill>
                  <a:srgbClr val="44505E"/>
                </a:solidFill>
                <a:latin typeface="IBM Plex Sans"/>
              </a:rPr>
              <a:t>: K = $100, volatility 20%, r = q = 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00 · OPTIONS 101 · GAMMA HEDGING</a:t>
            </a:r>
            <a:endParaRPr lang="en-US" sz="120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14202E"/>
                </a:solidFill>
                <a:latin typeface="Source Serif 4" pitchFamily="18" charset="0"/>
                <a:ea typeface="Source Serif 4" pitchFamily="18" charset="-122"/>
                <a:cs typeface="Source Serif 4" pitchFamily="18" charset="-120"/>
              </a:rPr>
              <a:t>A short-gamma stock hedge buys into a rise</a:t>
            </a:r>
            <a:endParaRPr lang="en-US" sz="3000"/>
          </a:p>
        </p:txBody>
      </p:sp>
      <p:sp>
        <p:nvSpPr>
          <p:cNvPr id="4" name="TextBox 3"/>
          <p:cNvSpPr txBox="1"/>
          <p:nvPr/>
        </p:nvSpPr>
        <p:spPr>
          <a:xfrm>
            <a:off x="812901" y="1508760"/>
            <a:ext cx="10607040" cy="365760"/>
          </a:xfrm>
          <a:prstGeom prst="rect">
            <a:avLst/>
          </a:prstGeom>
          <a:noFill/>
        </p:spPr>
        <p:txBody>
          <a:bodyPr wrap="square" lIns="0" tIns="0" rIns="0" bIns="0">
            <a:spAutoFit/>
          </a:bodyPr>
          <a:lstStyle/>
          <a:p>
            <a:pPr>
              <a:spcBef>
                <a:spcPts val="0"/>
              </a:spcBef>
              <a:spcAft>
                <a:spcPts val="0"/>
              </a:spcAft>
            </a:pPr>
            <a:r>
              <a:rPr sz="1700" b="0">
                <a:solidFill>
                  <a:srgbClr val="14202E"/>
                </a:solidFill>
                <a:latin typeface="IBM Plex Sans"/>
              </a:rPr>
              <a:t>Dealer is short 100 calls, each on 100 shares, with 30 days remaining. Stock hedge H = 10,000 × Δ.</a:t>
            </a:r>
          </a:p>
        </p:txBody>
      </p:sp>
      <p:sp>
        <p:nvSpPr>
          <p:cNvPr id="5" name="TextBox 4"/>
          <p:cNvSpPr txBox="1"/>
          <p:nvPr/>
        </p:nvSpPr>
        <p:spPr>
          <a:xfrm>
            <a:off x="812901" y="2103120"/>
            <a:ext cx="5212080" cy="274320"/>
          </a:xfrm>
          <a:prstGeom prst="rect">
            <a:avLst/>
          </a:prstGeom>
          <a:noFill/>
        </p:spPr>
        <p:txBody>
          <a:bodyPr wrap="square" lIns="0" tIns="0" rIns="0" bIns="0">
            <a:spAutoFit/>
          </a:bodyPr>
          <a:lstStyle/>
          <a:p>
            <a:pPr>
              <a:spcBef>
                <a:spcPts val="0"/>
              </a:spcBef>
              <a:spcAft>
                <a:spcPts val="0"/>
              </a:spcAft>
            </a:pPr>
            <a:r>
              <a:rPr sz="1300" b="1">
                <a:solidFill>
                  <a:srgbClr val="2B65C8"/>
                </a:solidFill>
                <a:latin typeface="IBM Plex Sans"/>
              </a:rPr>
              <a:t>STOCK REQUIRED FOR DELTA NEUTRALITY</a:t>
            </a:r>
          </a:p>
        </p:txBody>
      </p:sp>
      <p:graphicFrame>
        <p:nvGraphicFramePr>
          <p:cNvPr id="6" name="Chart 5" descr="Chart"/>
          <p:cNvGraphicFramePr>
            <a:graphicFrameLocks noGrp="1"/>
          </p:cNvGraphicFramePr>
          <p:nvPr>
            <p:extLst>
              <p:ext uri="{D42A27DB-BD31-4B8C-83A1-F6EECF244321}">
                <p14:modId xmlns:p14="http://schemas.microsoft.com/office/powerpoint/2010/main" val="52547593"/>
              </p:ext>
            </p:extLst>
          </p:nvPr>
        </p:nvGraphicFramePr>
        <p:xfrm>
          <a:off x="685800" y="2450592"/>
          <a:ext cx="548640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2286000" y="5349240"/>
            <a:ext cx="2834640" cy="169277"/>
          </a:xfrm>
          <a:prstGeom prst="rect">
            <a:avLst/>
          </a:prstGeom>
          <a:noFill/>
        </p:spPr>
        <p:txBody>
          <a:bodyPr wrap="square" lIns="0" tIns="0" rIns="0" bIns="0">
            <a:spAutoFit/>
          </a:bodyPr>
          <a:lstStyle/>
          <a:p>
            <a:pPr>
              <a:spcBef>
                <a:spcPts val="0"/>
              </a:spcBef>
              <a:spcAft>
                <a:spcPts val="0"/>
              </a:spcAft>
            </a:pPr>
            <a:r>
              <a:rPr sz="1100" b="1" dirty="0">
                <a:solidFill>
                  <a:srgbClr val="44505E"/>
                </a:solidFill>
                <a:latin typeface="IBM Plex Sans"/>
              </a:rPr>
              <a:t>Underlying stock price S ($)</a:t>
            </a:r>
          </a:p>
        </p:txBody>
      </p:sp>
      <p:graphicFrame>
        <p:nvGraphicFramePr>
          <p:cNvPr id="8" name="Table 7"/>
          <p:cNvGraphicFramePr>
            <a:graphicFrameLocks noGrp="1"/>
          </p:cNvGraphicFramePr>
          <p:nvPr>
            <p:extLst>
              <p:ext uri="{D42A27DB-BD31-4B8C-83A1-F6EECF244321}">
                <p14:modId xmlns:p14="http://schemas.microsoft.com/office/powerpoint/2010/main" val="1949918875"/>
              </p:ext>
            </p:extLst>
          </p:nvPr>
        </p:nvGraphicFramePr>
        <p:xfrm>
          <a:off x="6446520" y="2286000"/>
          <a:ext cx="4892040" cy="201168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502920">
                <a:tc>
                  <a:txBody>
                    <a:bodyPr/>
                    <a:lstStyle/>
                    <a:p>
                      <a:r>
                        <a:rPr sz="1600" b="1">
                          <a:solidFill>
                            <a:srgbClr val="FFFFFF"/>
                          </a:solidFill>
                          <a:latin typeface="IBM Plex Sans"/>
                        </a:rPr>
                        <a:t>Stock</a:t>
                      </a:r>
                    </a:p>
                  </a:txBody>
                  <a:tcPr marR="73152" marT="73152">
                    <a:solidFill>
                      <a:srgbClr val="14202E"/>
                    </a:solidFill>
                  </a:tcPr>
                </a:tc>
                <a:tc>
                  <a:txBody>
                    <a:bodyPr/>
                    <a:lstStyle/>
                    <a:p>
                      <a:r>
                        <a:rPr sz="1600" b="1">
                          <a:solidFill>
                            <a:srgbClr val="FFFFFF"/>
                          </a:solidFill>
                          <a:latin typeface="IBM Plex Sans"/>
                        </a:rPr>
                        <a:t>Call Δ</a:t>
                      </a:r>
                    </a:p>
                  </a:txBody>
                  <a:tcPr marR="73152" marT="73152">
                    <a:solidFill>
                      <a:srgbClr val="14202E"/>
                    </a:solidFill>
                  </a:tcPr>
                </a:tc>
                <a:tc>
                  <a:txBody>
                    <a:bodyPr/>
                    <a:lstStyle/>
                    <a:p>
                      <a:r>
                        <a:rPr sz="1600" b="1">
                          <a:solidFill>
                            <a:srgbClr val="FFFFFF"/>
                          </a:solidFill>
                          <a:latin typeface="IBM Plex Sans"/>
                        </a:rPr>
                        <a:t>Hedge shares</a:t>
                      </a:r>
                    </a:p>
                  </a:txBody>
                  <a:tcPr marR="73152" marT="73152">
                    <a:solidFill>
                      <a:srgbClr val="14202E"/>
                    </a:solidFill>
                  </a:tcPr>
                </a:tc>
                <a:extLst>
                  <a:ext uri="{0D108BD9-81ED-4DB2-BD59-A6C34878D82A}">
                    <a16:rowId xmlns:a16="http://schemas.microsoft.com/office/drawing/2014/main" val="10000"/>
                  </a:ext>
                </a:extLst>
              </a:tr>
              <a:tr h="502920">
                <a:tc>
                  <a:txBody>
                    <a:bodyPr/>
                    <a:lstStyle/>
                    <a:p>
                      <a:r>
                        <a:rPr sz="1600" b="0">
                          <a:solidFill>
                            <a:srgbClr val="14202E"/>
                          </a:solidFill>
                          <a:latin typeface="IBM Plex Sans"/>
                        </a:rPr>
                        <a:t>$95</a:t>
                      </a:r>
                    </a:p>
                  </a:txBody>
                  <a:tcPr marR="73152" marT="73152">
                    <a:solidFill>
                      <a:srgbClr val="E8E9E3"/>
                    </a:solidFill>
                  </a:tcPr>
                </a:tc>
                <a:tc>
                  <a:txBody>
                    <a:bodyPr/>
                    <a:lstStyle/>
                    <a:p>
                      <a:r>
                        <a:rPr sz="1600" b="0">
                          <a:solidFill>
                            <a:srgbClr val="14202E"/>
                          </a:solidFill>
                          <a:latin typeface="IBM Plex Sans"/>
                        </a:rPr>
                        <a:t>0.1933</a:t>
                      </a:r>
                    </a:p>
                  </a:txBody>
                  <a:tcPr marR="73152" marT="73152">
                    <a:solidFill>
                      <a:srgbClr val="E8E9E3"/>
                    </a:solidFill>
                  </a:tcPr>
                </a:tc>
                <a:tc>
                  <a:txBody>
                    <a:bodyPr/>
                    <a:lstStyle/>
                    <a:p>
                      <a:r>
                        <a:rPr lang="en-SE" sz="1600" b="0">
                          <a:solidFill>
                            <a:srgbClr val="14202E"/>
                          </a:solidFill>
                          <a:latin typeface="IBM Plex Sans"/>
                        </a:rPr>
                        <a:t>1,932.71</a:t>
                      </a:r>
                    </a:p>
                  </a:txBody>
                  <a:tcPr marR="73152" marT="73152">
                    <a:solidFill>
                      <a:srgbClr val="E8E9E3"/>
                    </a:solidFill>
                  </a:tcPr>
                </a:tc>
                <a:extLst>
                  <a:ext uri="{0D108BD9-81ED-4DB2-BD59-A6C34878D82A}">
                    <a16:rowId xmlns:a16="http://schemas.microsoft.com/office/drawing/2014/main" val="10001"/>
                  </a:ext>
                </a:extLst>
              </a:tr>
              <a:tr h="502920">
                <a:tc>
                  <a:txBody>
                    <a:bodyPr/>
                    <a:lstStyle/>
                    <a:p>
                      <a:r>
                        <a:rPr sz="1600" b="0">
                          <a:solidFill>
                            <a:srgbClr val="14202E"/>
                          </a:solidFill>
                          <a:latin typeface="IBM Plex Sans"/>
                        </a:rPr>
                        <a:t>$100</a:t>
                      </a:r>
                    </a:p>
                  </a:txBody>
                  <a:tcPr marR="73152" marT="73152">
                    <a:solidFill>
                      <a:srgbClr val="F5F3EC"/>
                    </a:solidFill>
                  </a:tcPr>
                </a:tc>
                <a:tc>
                  <a:txBody>
                    <a:bodyPr/>
                    <a:lstStyle/>
                    <a:p>
                      <a:r>
                        <a:rPr sz="1600" b="0">
                          <a:solidFill>
                            <a:srgbClr val="14202E"/>
                          </a:solidFill>
                          <a:latin typeface="IBM Plex Sans"/>
                        </a:rPr>
                        <a:t>0.5114</a:t>
                      </a:r>
                    </a:p>
                  </a:txBody>
                  <a:tcPr marR="73152" marT="73152">
                    <a:solidFill>
                      <a:srgbClr val="F5F3EC"/>
                    </a:solidFill>
                  </a:tcPr>
                </a:tc>
                <a:tc>
                  <a:txBody>
                    <a:bodyPr/>
                    <a:lstStyle/>
                    <a:p>
                      <a:r>
                        <a:rPr lang="en-SE" sz="1600" b="0">
                          <a:solidFill>
                            <a:srgbClr val="14202E"/>
                          </a:solidFill>
                          <a:latin typeface="IBM Plex Sans"/>
                        </a:rPr>
                        <a:t>5,114.36</a:t>
                      </a:r>
                    </a:p>
                  </a:txBody>
                  <a:tcPr marR="73152" marT="73152">
                    <a:solidFill>
                      <a:srgbClr val="F5F3EC"/>
                    </a:solidFill>
                  </a:tcPr>
                </a:tc>
                <a:extLst>
                  <a:ext uri="{0D108BD9-81ED-4DB2-BD59-A6C34878D82A}">
                    <a16:rowId xmlns:a16="http://schemas.microsoft.com/office/drawing/2014/main" val="10002"/>
                  </a:ext>
                </a:extLst>
              </a:tr>
              <a:tr h="502920">
                <a:tc>
                  <a:txBody>
                    <a:bodyPr/>
                    <a:lstStyle/>
                    <a:p>
                      <a:r>
                        <a:rPr sz="1600" b="0">
                          <a:solidFill>
                            <a:srgbClr val="14202E"/>
                          </a:solidFill>
                          <a:latin typeface="IBM Plex Sans"/>
                        </a:rPr>
                        <a:t>$105</a:t>
                      </a:r>
                    </a:p>
                  </a:txBody>
                  <a:tcPr marR="73152" marT="73152">
                    <a:solidFill>
                      <a:srgbClr val="E8E9E3"/>
                    </a:solidFill>
                  </a:tcPr>
                </a:tc>
                <a:tc>
                  <a:txBody>
                    <a:bodyPr/>
                    <a:lstStyle/>
                    <a:p>
                      <a:r>
                        <a:rPr sz="1600" b="0">
                          <a:solidFill>
                            <a:srgbClr val="14202E"/>
                          </a:solidFill>
                          <a:latin typeface="IBM Plex Sans"/>
                        </a:rPr>
                        <a:t>0.8105</a:t>
                      </a:r>
                    </a:p>
                  </a:txBody>
                  <a:tcPr marR="73152" marT="73152">
                    <a:solidFill>
                      <a:srgbClr val="E8E9E3"/>
                    </a:solidFill>
                  </a:tcPr>
                </a:tc>
                <a:tc>
                  <a:txBody>
                    <a:bodyPr/>
                    <a:lstStyle/>
                    <a:p>
                      <a:r>
                        <a:rPr lang="en-SE" sz="1600" b="0">
                          <a:solidFill>
                            <a:srgbClr val="14202E"/>
                          </a:solidFill>
                          <a:latin typeface="IBM Plex Sans"/>
                        </a:rPr>
                        <a:t>8,104.59</a:t>
                      </a:r>
                    </a:p>
                  </a:txBody>
                  <a:tcPr marR="73152" marT="73152">
                    <a:solidFill>
                      <a:srgbClr val="E8E9E3"/>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6446520" y="4572000"/>
            <a:ext cx="4846320" cy="523220"/>
          </a:xfrm>
          <a:prstGeom prst="rect">
            <a:avLst/>
          </a:prstGeom>
          <a:noFill/>
        </p:spPr>
        <p:txBody>
          <a:bodyPr wrap="square" lIns="0" tIns="0" rIns="0" bIns="0">
            <a:spAutoFit/>
          </a:bodyPr>
          <a:lstStyle/>
          <a:p>
            <a:pPr>
              <a:spcBef>
                <a:spcPts val="0"/>
              </a:spcBef>
              <a:spcAft>
                <a:spcPts val="0"/>
              </a:spcAft>
            </a:pPr>
            <a:r>
              <a:rPr sz="1700" b="1">
                <a:solidFill>
                  <a:srgbClr val="2B65C8"/>
                </a:solidFill>
                <a:latin typeface="IBM Plex Sans"/>
              </a:rPr>
              <a:t>$100 to $105: buy </a:t>
            </a:r>
            <a:r>
              <a:rPr lang="en-SE" sz="1700" b="1">
                <a:solidFill>
                  <a:srgbClr val="2B65C8"/>
                </a:solidFill>
                <a:latin typeface="IBM Plex Sans"/>
              </a:rPr>
              <a:t>2,990.23 </a:t>
            </a:r>
            <a:r>
              <a:rPr sz="1700" b="1">
                <a:solidFill>
                  <a:srgbClr val="2B65C8"/>
                </a:solidFill>
                <a:latin typeface="IBM Plex Sans"/>
              </a:rPr>
              <a:t>more shares.
$100 to $95: sell </a:t>
            </a:r>
            <a:r>
              <a:rPr lang="en-SE" sz="1700" b="1">
                <a:solidFill>
                  <a:srgbClr val="2B65C8"/>
                </a:solidFill>
                <a:latin typeface="IBM Plex Sans"/>
              </a:rPr>
              <a:t>3,181.65</a:t>
            </a:r>
            <a:r>
              <a:rPr sz="1700" b="1">
                <a:solidFill>
                  <a:srgbClr val="2B65C8"/>
                </a:solidFill>
                <a:latin typeface="IBM Plex Sans"/>
              </a:rPr>
              <a:t> shares.</a:t>
            </a:r>
          </a:p>
        </p:txBody>
      </p:sp>
      <p:sp>
        <p:nvSpPr>
          <p:cNvPr id="10" name="TextBox 9"/>
          <p:cNvSpPr txBox="1"/>
          <p:nvPr/>
        </p:nvSpPr>
        <p:spPr>
          <a:xfrm>
            <a:off x="812901" y="5715000"/>
            <a:ext cx="10561320" cy="457200"/>
          </a:xfrm>
          <a:prstGeom prst="rect">
            <a:avLst/>
          </a:prstGeom>
          <a:noFill/>
        </p:spPr>
        <p:txBody>
          <a:bodyPr wrap="square" lIns="0" tIns="0" rIns="0" bIns="0">
            <a:spAutoFit/>
          </a:bodyPr>
          <a:lstStyle/>
          <a:p>
            <a:pPr>
              <a:spcBef>
                <a:spcPts val="0"/>
              </a:spcBef>
              <a:spcAft>
                <a:spcPts val="0"/>
              </a:spcAft>
            </a:pPr>
            <a:r>
              <a:rPr sz="2000" b="0">
                <a:solidFill>
                  <a:srgbClr val="14202E"/>
                </a:solidFill>
                <a:latin typeface="Source Serif 4"/>
              </a:rPr>
              <a:t>This rebalances delta while gamma remains negative. A long-gamma hedge trades in the opposite direction.</a:t>
            </a:r>
          </a:p>
        </p:txBody>
      </p:sp>
      <p:sp>
        <p:nvSpPr>
          <p:cNvPr id="11" name="TextBox 10"/>
          <p:cNvSpPr txBox="1"/>
          <p:nvPr/>
        </p:nvSpPr>
        <p:spPr>
          <a:xfrm>
            <a:off x="812901" y="6345936"/>
            <a:ext cx="11028000" cy="215444"/>
          </a:xfrm>
          <a:prstGeom prst="rect">
            <a:avLst/>
          </a:prstGeom>
          <a:noFill/>
        </p:spPr>
        <p:txBody>
          <a:bodyPr wrap="square" lIns="0" tIns="0" rIns="0" bIns="0">
            <a:spAutoFit/>
          </a:bodyPr>
          <a:lstStyle/>
          <a:p>
            <a:pPr>
              <a:spcBef>
                <a:spcPts val="0"/>
              </a:spcBef>
              <a:spcAft>
                <a:spcPts val="0"/>
              </a:spcAft>
            </a:pPr>
            <a:r>
              <a:rPr sz="1400" b="0" dirty="0">
                <a:solidFill>
                  <a:srgbClr val="44505E"/>
                </a:solidFill>
                <a:latin typeface="IBM Plex Sans"/>
              </a:rPr>
              <a:t>Same model as prior slide. Instantaneous scenarios, not a time path. Time and volatility fixed. </a:t>
            </a:r>
            <a:r>
              <a:rPr lang="en-GB" sz="1400" b="0" dirty="0">
                <a:solidFill>
                  <a:srgbClr val="44505E"/>
                </a:solidFill>
                <a:latin typeface="IBM Plex Sans"/>
              </a:rPr>
              <a:t>Theoretical </a:t>
            </a:r>
            <a:r>
              <a:rPr sz="1400" b="0" dirty="0">
                <a:solidFill>
                  <a:srgbClr val="44505E"/>
                </a:solidFill>
                <a:latin typeface="IBM Plex Sans"/>
              </a:rPr>
              <a:t>shares </a:t>
            </a:r>
            <a:r>
              <a:rPr lang="en-GB" sz="1400" b="0" dirty="0">
                <a:solidFill>
                  <a:srgbClr val="44505E"/>
                </a:solidFill>
                <a:latin typeface="IBM Plex Sans"/>
              </a:rPr>
              <a:t>shown to two decimals</a:t>
            </a:r>
            <a:r>
              <a:rPr sz="1400" b="0" dirty="0">
                <a:solidFill>
                  <a:srgbClr val="44505E"/>
                </a:solidFill>
                <a:latin typeface="IBM Plex Sans"/>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00 · OPTIONS 101 · GAMMA HEDGING</a:t>
            </a:r>
            <a:endParaRPr lang="en-US" sz="120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An options hedge can offset gamma locally</a:t>
            </a:r>
            <a:endParaRPr lang="en-US" sz="3000" dirty="0"/>
          </a:p>
        </p:txBody>
      </p:sp>
      <p:sp>
        <p:nvSpPr>
          <p:cNvPr id="4" name="TextBox 3"/>
          <p:cNvSpPr txBox="1"/>
          <p:nvPr/>
        </p:nvSpPr>
        <p:spPr>
          <a:xfrm>
            <a:off x="812901" y="1481328"/>
            <a:ext cx="10607040" cy="393192"/>
          </a:xfrm>
          <a:prstGeom prst="rect">
            <a:avLst/>
          </a:prstGeom>
          <a:noFill/>
        </p:spPr>
        <p:txBody>
          <a:bodyPr wrap="square" lIns="0" tIns="0" rIns="0" bIns="0">
            <a:spAutoFit/>
          </a:bodyPr>
          <a:lstStyle/>
          <a:p>
            <a:pPr>
              <a:spcBef>
                <a:spcPts val="0"/>
              </a:spcBef>
              <a:spcAft>
                <a:spcPts val="0"/>
              </a:spcAft>
            </a:pPr>
            <a:r>
              <a:rPr sz="1700" b="0">
                <a:solidFill>
                  <a:srgbClr val="14202E"/>
                </a:solidFill>
                <a:latin typeface="IBM Plex Sans"/>
              </a:rPr>
              <a:t>At S = $100: offset the short 30-day calls with 90-day calls, then use stock to remove the remaining delta.</a:t>
            </a:r>
          </a:p>
        </p:txBody>
      </p:sp>
      <p:sp>
        <p:nvSpPr>
          <p:cNvPr id="5" name="TextBox 4"/>
          <p:cNvSpPr txBox="1"/>
          <p:nvPr/>
        </p:nvSpPr>
        <p:spPr>
          <a:xfrm>
            <a:off x="812901" y="1860005"/>
            <a:ext cx="5486400" cy="615553"/>
          </a:xfrm>
          <a:prstGeom prst="rect">
            <a:avLst/>
          </a:prstGeom>
          <a:noFill/>
        </p:spPr>
        <p:txBody>
          <a:bodyPr wrap="square" lIns="0" tIns="0" rIns="0" bIns="0">
            <a:spAutoFit/>
          </a:bodyPr>
          <a:lstStyle/>
          <a:p>
            <a:pPr>
              <a:spcBef>
                <a:spcPts val="0"/>
              </a:spcBef>
              <a:spcAft>
                <a:spcPts val="0"/>
              </a:spcAft>
            </a:pPr>
            <a:r>
              <a:rPr sz="2000" dirty="0">
                <a:solidFill>
                  <a:schemeClr val="accent1">
                    <a:lumMod val="75000"/>
                  </a:schemeClr>
                </a:solidFill>
                <a:latin typeface="Consolas" panose="020B0609020204030204" pitchFamily="49" charset="0"/>
                <a:cs typeface="Consolas" panose="020B0609020204030204" pitchFamily="49" charset="0"/>
              </a:rPr>
              <a:t>nᴮ = −</a:t>
            </a:r>
            <a:r>
              <a:rPr sz="2000" dirty="0" err="1">
                <a:solidFill>
                  <a:schemeClr val="accent1">
                    <a:lumMod val="75000"/>
                  </a:schemeClr>
                </a:solidFill>
                <a:latin typeface="Consolas" panose="020B0609020204030204" pitchFamily="49" charset="0"/>
                <a:cs typeface="Consolas" panose="020B0609020204030204" pitchFamily="49" charset="0"/>
              </a:rPr>
              <a:t>Γ</a:t>
            </a:r>
            <a:r>
              <a:rPr sz="2000" dirty="0">
                <a:solidFill>
                  <a:schemeClr val="accent1">
                    <a:lumMod val="75000"/>
                  </a:schemeClr>
                </a:solidFill>
                <a:latin typeface="Consolas" panose="020B0609020204030204" pitchFamily="49" charset="0"/>
                <a:cs typeface="Consolas" panose="020B0609020204030204" pitchFamily="49" charset="0"/>
              </a:rPr>
              <a:t>ᴬ / (100 × </a:t>
            </a:r>
            <a:r>
              <a:rPr sz="2000" dirty="0" err="1">
                <a:solidFill>
                  <a:schemeClr val="accent1">
                    <a:lumMod val="75000"/>
                  </a:schemeClr>
                </a:solidFill>
                <a:latin typeface="Consolas" panose="020B0609020204030204" pitchFamily="49" charset="0"/>
                <a:cs typeface="Consolas" panose="020B0609020204030204" pitchFamily="49" charset="0"/>
              </a:rPr>
              <a:t>Γ</a:t>
            </a:r>
            <a:r>
              <a:rPr sz="2000" dirty="0">
                <a:solidFill>
                  <a:schemeClr val="accent1">
                    <a:lumMod val="75000"/>
                  </a:schemeClr>
                </a:solidFill>
                <a:latin typeface="Consolas" panose="020B0609020204030204" pitchFamily="49" charset="0"/>
                <a:cs typeface="Consolas" panose="020B0609020204030204" pitchFamily="49" charset="0"/>
              </a:rPr>
              <a:t>ᴮ)
H </a:t>
            </a:r>
            <a:r>
              <a:rPr lang="sv-SE" sz="2000" dirty="0">
                <a:solidFill>
                  <a:schemeClr val="accent1">
                    <a:lumMod val="75000"/>
                  </a:schemeClr>
                </a:solidFill>
                <a:latin typeface="Consolas" panose="020B0609020204030204" pitchFamily="49" charset="0"/>
                <a:cs typeface="Consolas" panose="020B0609020204030204" pitchFamily="49" charset="0"/>
              </a:rPr>
              <a:t> </a:t>
            </a:r>
            <a:r>
              <a:rPr sz="2000" dirty="0">
                <a:solidFill>
                  <a:schemeClr val="accent1">
                    <a:lumMod val="75000"/>
                  </a:schemeClr>
                </a:solidFill>
                <a:latin typeface="Consolas" panose="020B0609020204030204" pitchFamily="49" charset="0"/>
                <a:cs typeface="Consolas" panose="020B0609020204030204" pitchFamily="49" charset="0"/>
              </a:rPr>
              <a:t>= −(</a:t>
            </a:r>
            <a:r>
              <a:rPr sz="2000" dirty="0" err="1">
                <a:solidFill>
                  <a:schemeClr val="accent1">
                    <a:lumMod val="75000"/>
                  </a:schemeClr>
                </a:solidFill>
                <a:latin typeface="Consolas" panose="020B0609020204030204" pitchFamily="49" charset="0"/>
                <a:cs typeface="Consolas" panose="020B0609020204030204" pitchFamily="49" charset="0"/>
              </a:rPr>
              <a:t>Δ</a:t>
            </a:r>
            <a:r>
              <a:rPr sz="2000" dirty="0">
                <a:solidFill>
                  <a:schemeClr val="accent1">
                    <a:lumMod val="75000"/>
                  </a:schemeClr>
                </a:solidFill>
                <a:latin typeface="Consolas" panose="020B0609020204030204" pitchFamily="49" charset="0"/>
                <a:cs typeface="Consolas" panose="020B0609020204030204" pitchFamily="49" charset="0"/>
              </a:rPr>
              <a:t>ᴬ + nᴮ × 100 × </a:t>
            </a:r>
            <a:r>
              <a:rPr sz="2000" dirty="0" err="1">
                <a:solidFill>
                  <a:schemeClr val="accent1">
                    <a:lumMod val="75000"/>
                  </a:schemeClr>
                </a:solidFill>
                <a:latin typeface="Consolas" panose="020B0609020204030204" pitchFamily="49" charset="0"/>
                <a:cs typeface="Consolas" panose="020B0609020204030204" pitchFamily="49" charset="0"/>
              </a:rPr>
              <a:t>Δ</a:t>
            </a:r>
            <a:r>
              <a:rPr sz="2000" dirty="0">
                <a:solidFill>
                  <a:schemeClr val="accent1">
                    <a:lumMod val="75000"/>
                  </a:schemeClr>
                </a:solidFill>
                <a:latin typeface="Consolas" panose="020B0609020204030204" pitchFamily="49" charset="0"/>
                <a:cs typeface="Consolas" panose="020B0609020204030204" pitchFamily="49" charset="0"/>
              </a:rPr>
              <a:t>ᴮ)</a:t>
            </a:r>
          </a:p>
        </p:txBody>
      </p:sp>
      <p:sp>
        <p:nvSpPr>
          <p:cNvPr id="6" name="TextBox 5"/>
          <p:cNvSpPr txBox="1"/>
          <p:nvPr/>
        </p:nvSpPr>
        <p:spPr>
          <a:xfrm>
            <a:off x="812901" y="2597376"/>
            <a:ext cx="5715000" cy="184666"/>
          </a:xfrm>
          <a:prstGeom prst="rect">
            <a:avLst/>
          </a:prstGeom>
          <a:noFill/>
        </p:spPr>
        <p:txBody>
          <a:bodyPr wrap="square" lIns="0" tIns="0" rIns="0" bIns="0">
            <a:spAutoFit/>
          </a:bodyPr>
          <a:lstStyle/>
          <a:p>
            <a:pPr>
              <a:spcBef>
                <a:spcPts val="0"/>
              </a:spcBef>
              <a:spcAft>
                <a:spcPts val="0"/>
              </a:spcAft>
            </a:pPr>
            <a:r>
              <a:rPr sz="1200" b="0" dirty="0">
                <a:solidFill>
                  <a:srgbClr val="44505E"/>
                </a:solidFill>
                <a:latin typeface="IBM Plex Sans"/>
              </a:rPr>
              <a:t>A: signed original portfolio. B: one share of the 90-day call.</a:t>
            </a:r>
          </a:p>
        </p:txBody>
      </p:sp>
      <p:graphicFrame>
        <p:nvGraphicFramePr>
          <p:cNvPr id="7" name="Table 6"/>
          <p:cNvGraphicFramePr>
            <a:graphicFrameLocks noGrp="1"/>
          </p:cNvGraphicFramePr>
          <p:nvPr>
            <p:extLst>
              <p:ext uri="{D42A27DB-BD31-4B8C-83A1-F6EECF244321}">
                <p14:modId xmlns:p14="http://schemas.microsoft.com/office/powerpoint/2010/main" val="1918962056"/>
              </p:ext>
            </p:extLst>
          </p:nvPr>
        </p:nvGraphicFramePr>
        <p:xfrm>
          <a:off x="812901" y="2834640"/>
          <a:ext cx="5715000" cy="2386584"/>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475488">
                <a:tc>
                  <a:txBody>
                    <a:bodyPr/>
                    <a:lstStyle/>
                    <a:p>
                      <a:r>
                        <a:rPr sz="1600" b="1">
                          <a:solidFill>
                            <a:srgbClr val="FFFFFF"/>
                          </a:solidFill>
                          <a:latin typeface="IBM Plex Sans"/>
                        </a:rPr>
                        <a:t>Position</a:t>
                      </a:r>
                    </a:p>
                  </a:txBody>
                  <a:tcPr marR="73152" marT="73152">
                    <a:solidFill>
                      <a:srgbClr val="14202E"/>
                    </a:solidFill>
                  </a:tcPr>
                </a:tc>
                <a:tc>
                  <a:txBody>
                    <a:bodyPr/>
                    <a:lstStyle/>
                    <a:p>
                      <a:r>
                        <a:rPr sz="1600" b="1">
                          <a:solidFill>
                            <a:srgbClr val="FFFFFF"/>
                          </a:solidFill>
                          <a:latin typeface="IBM Plex Sans"/>
                        </a:rPr>
                        <a:t>Quantity</a:t>
                      </a:r>
                    </a:p>
                  </a:txBody>
                  <a:tcPr marR="73152" marT="73152">
                    <a:solidFill>
                      <a:srgbClr val="14202E"/>
                    </a:solidFill>
                  </a:tcPr>
                </a:tc>
                <a:tc>
                  <a:txBody>
                    <a:bodyPr/>
                    <a:lstStyle/>
                    <a:p>
                      <a:r>
                        <a:rPr sz="1600" b="1">
                          <a:solidFill>
                            <a:srgbClr val="FFFFFF"/>
                          </a:solidFill>
                          <a:latin typeface="IBM Plex Sans"/>
                        </a:rPr>
                        <a:t>Delta¹</a:t>
                      </a:r>
                    </a:p>
                  </a:txBody>
                  <a:tcPr marR="73152" marT="73152">
                    <a:solidFill>
                      <a:srgbClr val="14202E"/>
                    </a:solidFill>
                  </a:tcPr>
                </a:tc>
                <a:tc>
                  <a:txBody>
                    <a:bodyPr/>
                    <a:lstStyle/>
                    <a:p>
                      <a:r>
                        <a:rPr sz="1600" b="1">
                          <a:solidFill>
                            <a:srgbClr val="FFFFFF"/>
                          </a:solidFill>
                          <a:latin typeface="IBM Plex Sans"/>
                        </a:rPr>
                        <a:t>Gamma²</a:t>
                      </a:r>
                    </a:p>
                  </a:txBody>
                  <a:tcPr marR="73152" marT="73152">
                    <a:solidFill>
                      <a:srgbClr val="14202E"/>
                    </a:solidFill>
                  </a:tcPr>
                </a:tc>
                <a:extLst>
                  <a:ext uri="{0D108BD9-81ED-4DB2-BD59-A6C34878D82A}">
                    <a16:rowId xmlns:a16="http://schemas.microsoft.com/office/drawing/2014/main" val="10000"/>
                  </a:ext>
                </a:extLst>
              </a:tr>
              <a:tr h="475488">
                <a:tc>
                  <a:txBody>
                    <a:bodyPr/>
                    <a:lstStyle/>
                    <a:p>
                      <a:r>
                        <a:rPr sz="1600" b="0">
                          <a:solidFill>
                            <a:srgbClr val="14202E"/>
                          </a:solidFill>
                          <a:latin typeface="IBM Plex Sans"/>
                        </a:rPr>
                        <a:t>30-day call</a:t>
                      </a:r>
                    </a:p>
                  </a:txBody>
                  <a:tcPr marR="73152" marT="73152">
                    <a:solidFill>
                      <a:srgbClr val="E8E9E3"/>
                    </a:solidFill>
                  </a:tcPr>
                </a:tc>
                <a:tc>
                  <a:txBody>
                    <a:bodyPr/>
                    <a:lstStyle/>
                    <a:p>
                      <a:r>
                        <a:rPr sz="1600" b="0">
                          <a:solidFill>
                            <a:srgbClr val="14202E"/>
                          </a:solidFill>
                          <a:latin typeface="IBM Plex Sans"/>
                        </a:rPr>
                        <a:t>−100</a:t>
                      </a:r>
                    </a:p>
                  </a:txBody>
                  <a:tcPr marR="73152" marT="73152">
                    <a:solidFill>
                      <a:srgbClr val="E8E9E3"/>
                    </a:solidFill>
                  </a:tcPr>
                </a:tc>
                <a:tc>
                  <a:txBody>
                    <a:bodyPr/>
                    <a:lstStyle/>
                    <a:p>
                      <a:r>
                        <a:rPr sz="1600" b="0">
                          <a:solidFill>
                            <a:srgbClr val="14202E"/>
                          </a:solidFill>
                          <a:latin typeface="IBM Plex Sans"/>
                        </a:rPr>
                        <a:t>-5,114.36</a:t>
                      </a:r>
                    </a:p>
                  </a:txBody>
                  <a:tcPr marR="73152" marT="73152">
                    <a:solidFill>
                      <a:srgbClr val="E8E9E3"/>
                    </a:solidFill>
                  </a:tcPr>
                </a:tc>
                <a:tc>
                  <a:txBody>
                    <a:bodyPr/>
                    <a:lstStyle/>
                    <a:p>
                      <a:r>
                        <a:rPr sz="1600" b="0">
                          <a:solidFill>
                            <a:srgbClr val="14202E"/>
                          </a:solidFill>
                          <a:latin typeface="IBM Plex Sans"/>
                        </a:rPr>
                        <a:t>-695.48</a:t>
                      </a:r>
                    </a:p>
                  </a:txBody>
                  <a:tcPr marR="73152" marT="73152">
                    <a:solidFill>
                      <a:srgbClr val="E8E9E3"/>
                    </a:solidFill>
                  </a:tcPr>
                </a:tc>
                <a:extLst>
                  <a:ext uri="{0D108BD9-81ED-4DB2-BD59-A6C34878D82A}">
                    <a16:rowId xmlns:a16="http://schemas.microsoft.com/office/drawing/2014/main" val="10001"/>
                  </a:ext>
                </a:extLst>
              </a:tr>
              <a:tr h="475488">
                <a:tc>
                  <a:txBody>
                    <a:bodyPr/>
                    <a:lstStyle/>
                    <a:p>
                      <a:r>
                        <a:rPr sz="1600" b="0">
                          <a:solidFill>
                            <a:srgbClr val="14202E"/>
                          </a:solidFill>
                          <a:latin typeface="IBM Plex Sans"/>
                        </a:rPr>
                        <a:t>90-day call</a:t>
                      </a:r>
                    </a:p>
                  </a:txBody>
                  <a:tcPr marR="73152" marT="73152">
                    <a:solidFill>
                      <a:srgbClr val="F5F3EC"/>
                    </a:solidFill>
                  </a:tcPr>
                </a:tc>
                <a:tc>
                  <a:txBody>
                    <a:bodyPr/>
                    <a:lstStyle/>
                    <a:p>
                      <a:r>
                        <a:rPr sz="1600" b="0">
                          <a:solidFill>
                            <a:srgbClr val="14202E"/>
                          </a:solidFill>
                          <a:latin typeface="IBM Plex Sans"/>
                        </a:rPr>
                        <a:t>+173.347</a:t>
                      </a:r>
                    </a:p>
                  </a:txBody>
                  <a:tcPr marR="73152" marT="73152">
                    <a:solidFill>
                      <a:srgbClr val="F5F3EC"/>
                    </a:solidFill>
                  </a:tcPr>
                </a:tc>
                <a:tc>
                  <a:txBody>
                    <a:bodyPr/>
                    <a:lstStyle/>
                    <a:p>
                      <a:r>
                        <a:rPr sz="1600" b="0">
                          <a:solidFill>
                            <a:srgbClr val="14202E"/>
                          </a:solidFill>
                          <a:latin typeface="IBM Plex Sans"/>
                        </a:rPr>
                        <a:t>9,010.64</a:t>
                      </a:r>
                    </a:p>
                  </a:txBody>
                  <a:tcPr marR="73152" marT="73152">
                    <a:solidFill>
                      <a:srgbClr val="F5F3EC"/>
                    </a:solidFill>
                  </a:tcPr>
                </a:tc>
                <a:tc>
                  <a:txBody>
                    <a:bodyPr/>
                    <a:lstStyle/>
                    <a:p>
                      <a:r>
                        <a:rPr sz="1600" b="0">
                          <a:solidFill>
                            <a:srgbClr val="14202E"/>
                          </a:solidFill>
                          <a:latin typeface="IBM Plex Sans"/>
                        </a:rPr>
                        <a:t>695.48</a:t>
                      </a:r>
                    </a:p>
                  </a:txBody>
                  <a:tcPr marR="73152" marT="73152">
                    <a:solidFill>
                      <a:srgbClr val="F5F3EC"/>
                    </a:solidFill>
                  </a:tcPr>
                </a:tc>
                <a:extLst>
                  <a:ext uri="{0D108BD9-81ED-4DB2-BD59-A6C34878D82A}">
                    <a16:rowId xmlns:a16="http://schemas.microsoft.com/office/drawing/2014/main" val="10002"/>
                  </a:ext>
                </a:extLst>
              </a:tr>
              <a:tr h="475488">
                <a:tc>
                  <a:txBody>
                    <a:bodyPr/>
                    <a:lstStyle/>
                    <a:p>
                      <a:r>
                        <a:rPr sz="1600" b="0">
                          <a:solidFill>
                            <a:srgbClr val="14202E"/>
                          </a:solidFill>
                          <a:latin typeface="IBM Plex Sans"/>
                        </a:rPr>
                        <a:t>Stock</a:t>
                      </a:r>
                    </a:p>
                  </a:txBody>
                  <a:tcPr marR="73152" marT="73152">
                    <a:solidFill>
                      <a:srgbClr val="E8E9E3"/>
                    </a:solidFill>
                  </a:tcPr>
                </a:tc>
                <a:tc>
                  <a:txBody>
                    <a:bodyPr/>
                    <a:lstStyle/>
                    <a:p>
                      <a:r>
                        <a:rPr sz="1600" b="0">
                          <a:solidFill>
                            <a:srgbClr val="14202E"/>
                          </a:solidFill>
                          <a:latin typeface="IBM Plex Sans"/>
                        </a:rPr>
                        <a:t>-3,896.28</a:t>
                      </a:r>
                    </a:p>
                  </a:txBody>
                  <a:tcPr marR="73152" marT="73152">
                    <a:solidFill>
                      <a:srgbClr val="E8E9E3"/>
                    </a:solidFill>
                  </a:tcPr>
                </a:tc>
                <a:tc>
                  <a:txBody>
                    <a:bodyPr/>
                    <a:lstStyle/>
                    <a:p>
                      <a:r>
                        <a:rPr sz="1600" b="0">
                          <a:solidFill>
                            <a:srgbClr val="14202E"/>
                          </a:solidFill>
                          <a:latin typeface="IBM Plex Sans"/>
                        </a:rPr>
                        <a:t>-3,896.28</a:t>
                      </a:r>
                    </a:p>
                  </a:txBody>
                  <a:tcPr marR="73152" marT="73152">
                    <a:solidFill>
                      <a:srgbClr val="E8E9E3"/>
                    </a:solidFill>
                  </a:tcPr>
                </a:tc>
                <a:tc>
                  <a:txBody>
                    <a:bodyPr/>
                    <a:lstStyle/>
                    <a:p>
                      <a:r>
                        <a:rPr sz="1600" b="0">
                          <a:solidFill>
                            <a:srgbClr val="14202E"/>
                          </a:solidFill>
                          <a:latin typeface="IBM Plex Sans"/>
                        </a:rPr>
                        <a:t>0.00</a:t>
                      </a:r>
                    </a:p>
                  </a:txBody>
                  <a:tcPr marR="73152" marT="73152">
                    <a:solidFill>
                      <a:srgbClr val="E8E9E3"/>
                    </a:solidFill>
                  </a:tcPr>
                </a:tc>
                <a:extLst>
                  <a:ext uri="{0D108BD9-81ED-4DB2-BD59-A6C34878D82A}">
                    <a16:rowId xmlns:a16="http://schemas.microsoft.com/office/drawing/2014/main" val="10003"/>
                  </a:ext>
                </a:extLst>
              </a:tr>
              <a:tr h="475488">
                <a:tc>
                  <a:txBody>
                    <a:bodyPr/>
                    <a:lstStyle/>
                    <a:p>
                      <a:r>
                        <a:rPr sz="1600" b="0" dirty="0">
                          <a:solidFill>
                            <a:srgbClr val="14202E"/>
                          </a:solidFill>
                          <a:latin typeface="IBM Plex Sans"/>
                        </a:rPr>
                        <a:t>Total</a:t>
                      </a:r>
                    </a:p>
                  </a:txBody>
                  <a:tcPr marR="73152" marT="73152">
                    <a:solidFill>
                      <a:srgbClr val="F5F3EC"/>
                    </a:solidFill>
                  </a:tcPr>
                </a:tc>
                <a:tc>
                  <a:txBody>
                    <a:bodyPr/>
                    <a:lstStyle/>
                    <a:p>
                      <a:endParaRPr sz="2400" dirty="0"/>
                    </a:p>
                  </a:txBody>
                  <a:tcPr marR="73152" marT="73152">
                    <a:solidFill>
                      <a:srgbClr val="F5F3EC"/>
                    </a:solidFill>
                  </a:tcPr>
                </a:tc>
                <a:tc>
                  <a:txBody>
                    <a:bodyPr/>
                    <a:lstStyle/>
                    <a:p>
                      <a:r>
                        <a:rPr sz="1600" b="0">
                          <a:solidFill>
                            <a:srgbClr val="14202E"/>
                          </a:solidFill>
                          <a:latin typeface="IBM Plex Sans"/>
                        </a:rPr>
                        <a:t>0.00</a:t>
                      </a:r>
                    </a:p>
                  </a:txBody>
                  <a:tcPr marR="73152" marT="73152">
                    <a:solidFill>
                      <a:srgbClr val="F5F3EC"/>
                    </a:solidFill>
                  </a:tcPr>
                </a:tc>
                <a:tc>
                  <a:txBody>
                    <a:bodyPr/>
                    <a:lstStyle/>
                    <a:p>
                      <a:r>
                        <a:rPr sz="1600" b="0" dirty="0">
                          <a:solidFill>
                            <a:srgbClr val="14202E"/>
                          </a:solidFill>
                          <a:latin typeface="IBM Plex Sans"/>
                        </a:rPr>
                        <a:t>0.00</a:t>
                      </a:r>
                    </a:p>
                  </a:txBody>
                  <a:tcPr marR="73152" marT="73152">
                    <a:solidFill>
                      <a:srgbClr val="F5F3EC"/>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812901" y="5413248"/>
            <a:ext cx="5715000" cy="430887"/>
          </a:xfrm>
          <a:prstGeom prst="rect">
            <a:avLst/>
          </a:prstGeom>
          <a:noFill/>
        </p:spPr>
        <p:txBody>
          <a:bodyPr wrap="square" lIns="0" tIns="0" rIns="0" bIns="0">
            <a:spAutoFit/>
          </a:bodyPr>
          <a:lstStyle/>
          <a:p>
            <a:pPr>
              <a:spcBef>
                <a:spcPts val="0"/>
              </a:spcBef>
              <a:spcAft>
                <a:spcPts val="0"/>
              </a:spcAft>
            </a:pPr>
            <a:r>
              <a:rPr lang="en-GB" sz="1400" b="0" dirty="0">
                <a:solidFill>
                  <a:srgbClr val="44505E"/>
                </a:solidFill>
                <a:latin typeface="IBM Plex Sans"/>
              </a:rPr>
              <a:t>Options: contracts × 100. ¹ Delta: shares. ² Gamma: shares/$.
Fractional hedge quantities. Totals use unrounded values.</a:t>
            </a:r>
          </a:p>
        </p:txBody>
      </p:sp>
      <p:sp>
        <p:nvSpPr>
          <p:cNvPr id="9" name="TextBox 8"/>
          <p:cNvSpPr txBox="1"/>
          <p:nvPr/>
        </p:nvSpPr>
        <p:spPr>
          <a:xfrm>
            <a:off x="6922008" y="2148840"/>
            <a:ext cx="4434840" cy="215444"/>
          </a:xfrm>
          <a:prstGeom prst="rect">
            <a:avLst/>
          </a:prstGeom>
          <a:noFill/>
        </p:spPr>
        <p:txBody>
          <a:bodyPr wrap="square" lIns="0" tIns="0" rIns="0" bIns="0">
            <a:spAutoFit/>
          </a:bodyPr>
          <a:lstStyle/>
          <a:p>
            <a:pPr algn="ctr">
              <a:spcBef>
                <a:spcPts val="0"/>
              </a:spcBef>
              <a:spcAft>
                <a:spcPts val="0"/>
              </a:spcAft>
            </a:pPr>
            <a:r>
              <a:rPr sz="1400" b="1" dirty="0">
                <a:solidFill>
                  <a:srgbClr val="2B65C8"/>
                </a:solidFill>
                <a:latin typeface="IBM Plex Sans"/>
              </a:rPr>
              <a:t>INSTANTANEOUS REVALUATION P/L ($)</a:t>
            </a:r>
          </a:p>
        </p:txBody>
      </p:sp>
      <p:graphicFrame>
        <p:nvGraphicFramePr>
          <p:cNvPr id="10" name="Chart 9" descr="Chart"/>
          <p:cNvGraphicFramePr>
            <a:graphicFrameLocks noGrp="1"/>
          </p:cNvGraphicFramePr>
          <p:nvPr>
            <p:extLst>
              <p:ext uri="{D42A27DB-BD31-4B8C-83A1-F6EECF244321}">
                <p14:modId xmlns:p14="http://schemas.microsoft.com/office/powerpoint/2010/main" val="649439365"/>
              </p:ext>
            </p:extLst>
          </p:nvPr>
        </p:nvGraphicFramePr>
        <p:xfrm>
          <a:off x="6720840" y="2542032"/>
          <a:ext cx="470916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7804808" y="5348660"/>
            <a:ext cx="3200400" cy="169277"/>
          </a:xfrm>
          <a:prstGeom prst="rect">
            <a:avLst/>
          </a:prstGeom>
          <a:noFill/>
        </p:spPr>
        <p:txBody>
          <a:bodyPr wrap="square" lIns="0" tIns="0" rIns="0" bIns="0">
            <a:spAutoFit/>
          </a:bodyPr>
          <a:lstStyle/>
          <a:p>
            <a:pPr algn="ctr">
              <a:spcBef>
                <a:spcPts val="0"/>
              </a:spcBef>
              <a:spcAft>
                <a:spcPts val="0"/>
              </a:spcAft>
            </a:pPr>
            <a:r>
              <a:rPr lang="en-GB" sz="1100" b="1" dirty="0">
                <a:solidFill>
                  <a:srgbClr val="44505E"/>
                </a:solidFill>
                <a:latin typeface="IBM Plex Sans"/>
              </a:rPr>
              <a:t>Underlying stock price S ($)</a:t>
            </a:r>
          </a:p>
        </p:txBody>
      </p:sp>
      <p:sp>
        <p:nvSpPr>
          <p:cNvPr id="12" name="TextBox 11"/>
          <p:cNvSpPr txBox="1"/>
          <p:nvPr/>
        </p:nvSpPr>
        <p:spPr>
          <a:xfrm>
            <a:off x="812901" y="6035040"/>
            <a:ext cx="11050236" cy="292388"/>
          </a:xfrm>
          <a:prstGeom prst="rect">
            <a:avLst/>
          </a:prstGeom>
          <a:noFill/>
        </p:spPr>
        <p:txBody>
          <a:bodyPr wrap="square" lIns="0" tIns="0" rIns="0" bIns="0">
            <a:spAutoFit/>
          </a:bodyPr>
          <a:lstStyle/>
          <a:p>
            <a:pPr>
              <a:spcBef>
                <a:spcPts val="0"/>
              </a:spcBef>
              <a:spcAft>
                <a:spcPts val="0"/>
              </a:spcAft>
            </a:pPr>
            <a:r>
              <a:rPr sz="1900" b="0" dirty="0">
                <a:solidFill>
                  <a:srgbClr val="14202E"/>
                </a:solidFill>
                <a:latin typeface="Source Serif 4"/>
              </a:rPr>
              <a:t>Neutral only at the calibration point. Time decay, volatility changes, larger moves and trading costs still matter.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THE PRICING PROBLEM</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The question: what is that payoff worth </a:t>
            </a:r>
            <a:r>
              <a:rPr lang="en-US" sz="3000" b="1" i="1" dirty="0">
                <a:solidFill>
                  <a:srgbClr val="14202E"/>
                </a:solidFill>
                <a:latin typeface="Source Serif 4" pitchFamily="18" charset="0"/>
                <a:ea typeface="Source Serif 4" pitchFamily="18" charset="-122"/>
                <a:cs typeface="Source Serif 4" pitchFamily="18" charset="-120"/>
              </a:rPr>
              <a:t>today</a:t>
            </a:r>
            <a:r>
              <a:rPr lang="en-US" sz="3000" b="1" i="0" dirty="0">
                <a:solidFill>
                  <a:srgbClr val="14202E"/>
                </a:solidFill>
                <a:latin typeface="Source Serif 4" pitchFamily="18" charset="0"/>
                <a:ea typeface="Source Serif 4" pitchFamily="18" charset="-122"/>
                <a:cs typeface="Source Serif 4" pitchFamily="18" charset="-120"/>
              </a:rPr>
              <a:t>?</a:t>
            </a:r>
            <a:endParaRPr lang="en-US" sz="3000" dirty="0"/>
          </a:p>
        </p:txBody>
      </p:sp>
      <p:sp>
        <p:nvSpPr>
          <p:cNvPr id="4" name="Shape 2"/>
          <p:cNvSpPr/>
          <p:nvPr/>
        </p:nvSpPr>
        <p:spPr>
          <a:xfrm>
            <a:off x="815975" y="1590675"/>
            <a:ext cx="3549650" cy="2134840"/>
          </a:xfrm>
          <a:prstGeom prst="roundRect">
            <a:avLst>
              <a:gd name="adj" fmla="val 4610"/>
            </a:avLst>
          </a:prstGeom>
          <a:solidFill>
            <a:srgbClr val="FDFCF8"/>
          </a:solidFill>
          <a:ln w="6350">
            <a:solidFill>
              <a:srgbClr val="DDD7C6"/>
            </a:solidFill>
            <a:prstDash val="solid"/>
          </a:ln>
        </p:spPr>
        <p:txBody>
          <a:bodyPr/>
          <a:lstStyle/>
          <a:p>
            <a:endParaRPr lang="en-SE"/>
          </a:p>
        </p:txBody>
      </p:sp>
      <p:sp>
        <p:nvSpPr>
          <p:cNvPr id="5" name="Text 3"/>
          <p:cNvSpPr/>
          <p:nvPr/>
        </p:nvSpPr>
        <p:spPr>
          <a:xfrm>
            <a:off x="1047750" y="1822450"/>
            <a:ext cx="317868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E"/>
                </a:solidFill>
                <a:latin typeface="IBM Plex Sans" pitchFamily="34" charset="0"/>
                <a:ea typeface="IBM Plex Sans" pitchFamily="34" charset="-122"/>
                <a:cs typeface="IBM Plex Sans" pitchFamily="34" charset="-120"/>
              </a:rPr>
              <a:t>Inputs</a:t>
            </a:r>
            <a:endParaRPr lang="en-US" sz="1800" dirty="0"/>
          </a:p>
        </p:txBody>
      </p:sp>
      <p:sp>
        <p:nvSpPr>
          <p:cNvPr id="6" name="Text 4"/>
          <p:cNvSpPr/>
          <p:nvPr/>
        </p:nvSpPr>
        <p:spPr>
          <a:xfrm>
            <a:off x="1047750" y="2160240"/>
            <a:ext cx="3178683" cy="1358900"/>
          </a:xfrm>
          <a:prstGeom prst="rect">
            <a:avLst/>
          </a:prstGeom>
          <a:noFill/>
          <a:ln/>
        </p:spPr>
        <p:txBody>
          <a:bodyPr wrap="square" lIns="0" tIns="0" rIns="0" bIns="0" rtlCol="0" anchor="t">
            <a:normAutofit/>
          </a:bodyPr>
          <a:lstStyle/>
          <a:p>
            <a:pPr marL="0" indent="0" algn="l">
              <a:lnSpc>
                <a:spcPts val="2100"/>
              </a:lnSpc>
              <a:buNone/>
            </a:pPr>
            <a:r>
              <a:rPr lang="en-US" sz="1600" dirty="0">
                <a:solidFill>
                  <a:srgbClr val="14202E"/>
                </a:solidFill>
                <a:latin typeface="JetBrains Mono" pitchFamily="49" charset="0"/>
                <a:ea typeface="JetBrains Mono" pitchFamily="49" charset="-122"/>
                <a:cs typeface="JetBrains Mono" pitchFamily="49" charset="-120"/>
              </a:rPr>
              <a:t>S₀</a:t>
            </a:r>
            <a:r>
              <a:rPr lang="en-US" sz="1600" dirty="0">
                <a:solidFill>
                  <a:srgbClr val="44505E"/>
                </a:solidFill>
                <a:latin typeface="JetBrains Mono" pitchFamily="49" charset="0"/>
                <a:ea typeface="JetBrains Mono" pitchFamily="49" charset="-122"/>
                <a:cs typeface="JetBrains Mono" pitchFamily="49" charset="-120"/>
              </a:rPr>
              <a:t> stock price now</a:t>
            </a:r>
            <a:endParaRPr lang="en-US" sz="1600" dirty="0"/>
          </a:p>
          <a:p>
            <a:pPr marL="0" indent="0" algn="l">
              <a:lnSpc>
                <a:spcPts val="2100"/>
              </a:lnSpc>
              <a:buNone/>
            </a:pPr>
            <a:r>
              <a:rPr lang="en-US" sz="1600" dirty="0">
                <a:solidFill>
                  <a:srgbClr val="14202E"/>
                </a:solidFill>
                <a:latin typeface="JetBrains Mono" pitchFamily="49" charset="0"/>
                <a:ea typeface="JetBrains Mono" pitchFamily="49" charset="-122"/>
                <a:cs typeface="JetBrains Mono" pitchFamily="49" charset="-120"/>
              </a:rPr>
              <a:t>K</a:t>
            </a:r>
            <a:r>
              <a:rPr lang="en-US" sz="1600" dirty="0">
                <a:solidFill>
                  <a:srgbClr val="44505E"/>
                </a:solidFill>
                <a:latin typeface="JetBrains Mono" pitchFamily="49" charset="0"/>
                <a:ea typeface="JetBrains Mono" pitchFamily="49" charset="-122"/>
                <a:cs typeface="JetBrains Mono" pitchFamily="49" charset="-120"/>
              </a:rPr>
              <a:t> strike</a:t>
            </a:r>
            <a:endParaRPr lang="en-US" sz="1600" dirty="0"/>
          </a:p>
          <a:p>
            <a:pPr marL="0" indent="0" algn="l">
              <a:lnSpc>
                <a:spcPts val="2100"/>
              </a:lnSpc>
              <a:buNone/>
            </a:pPr>
            <a:r>
              <a:rPr lang="en-US" sz="1600" dirty="0">
                <a:solidFill>
                  <a:srgbClr val="14202E"/>
                </a:solidFill>
                <a:latin typeface="JetBrains Mono" pitchFamily="49" charset="0"/>
                <a:ea typeface="JetBrains Mono" pitchFamily="49" charset="-122"/>
                <a:cs typeface="JetBrains Mono" pitchFamily="49" charset="-120"/>
              </a:rPr>
              <a:t>T</a:t>
            </a:r>
            <a:r>
              <a:rPr lang="en-US" sz="1600" dirty="0">
                <a:solidFill>
                  <a:srgbClr val="44505E"/>
                </a:solidFill>
                <a:latin typeface="JetBrains Mono" pitchFamily="49" charset="0"/>
                <a:ea typeface="JetBrains Mono" pitchFamily="49" charset="-122"/>
                <a:cs typeface="JetBrains Mono" pitchFamily="49" charset="-120"/>
              </a:rPr>
              <a:t> time to expiry</a:t>
            </a:r>
            <a:endParaRPr lang="en-US" sz="1600" dirty="0"/>
          </a:p>
          <a:p>
            <a:pPr marL="0" indent="0" algn="l">
              <a:lnSpc>
                <a:spcPts val="2100"/>
              </a:lnSpc>
              <a:buNone/>
            </a:pPr>
            <a:r>
              <a:rPr lang="en-US" sz="1600" dirty="0">
                <a:solidFill>
                  <a:srgbClr val="14202E"/>
                </a:solidFill>
                <a:latin typeface="JetBrains Mono" pitchFamily="49" charset="0"/>
                <a:ea typeface="JetBrains Mono" pitchFamily="49" charset="-122"/>
                <a:cs typeface="JetBrains Mono" pitchFamily="49" charset="-120"/>
              </a:rPr>
              <a:t>r</a:t>
            </a:r>
            <a:r>
              <a:rPr lang="en-US" sz="1600" dirty="0">
                <a:solidFill>
                  <a:srgbClr val="44505E"/>
                </a:solidFill>
                <a:latin typeface="JetBrains Mono" pitchFamily="49" charset="0"/>
                <a:ea typeface="JetBrains Mono" pitchFamily="49" charset="-122"/>
                <a:cs typeface="JetBrains Mono" pitchFamily="49" charset="-120"/>
              </a:rPr>
              <a:t> risk-free rate</a:t>
            </a:r>
            <a:endParaRPr lang="en-US" sz="1600" dirty="0"/>
          </a:p>
          <a:p>
            <a:pPr marL="0" indent="0" algn="l">
              <a:lnSpc>
                <a:spcPts val="2100"/>
              </a:lnSpc>
              <a:buNone/>
            </a:pPr>
            <a:r>
              <a:rPr lang="en-US" sz="1600" dirty="0">
                <a:solidFill>
                  <a:srgbClr val="14202E"/>
                </a:solidFill>
                <a:latin typeface="JetBrains Mono" pitchFamily="49" charset="0"/>
                <a:ea typeface="JetBrains Mono" pitchFamily="49" charset="-122"/>
                <a:cs typeface="JetBrains Mono" pitchFamily="49" charset="-120"/>
              </a:rPr>
              <a:t>σ</a:t>
            </a:r>
            <a:r>
              <a:rPr lang="en-US" sz="1600" dirty="0">
                <a:solidFill>
                  <a:srgbClr val="44505E"/>
                </a:solidFill>
                <a:latin typeface="JetBrains Mono" pitchFamily="49" charset="0"/>
                <a:ea typeface="JetBrains Mono" pitchFamily="49" charset="-122"/>
                <a:cs typeface="JetBrains Mono" pitchFamily="49" charset="-120"/>
              </a:rPr>
              <a:t> volatility</a:t>
            </a:r>
            <a:endParaRPr lang="en-US" sz="1600" dirty="0"/>
          </a:p>
        </p:txBody>
      </p:sp>
      <p:pic>
        <p:nvPicPr>
          <p:cNvPr id="7" name="Image 0" descr="arrow-right"/>
          <p:cNvPicPr>
            <a:picLocks noChangeAspect="1"/>
          </p:cNvPicPr>
          <p:nvPr/>
        </p:nvPicPr>
        <p:blipFill>
          <a:blip r:embed="rId3"/>
          <a:srcRect/>
          <a:stretch/>
        </p:blipFill>
        <p:spPr>
          <a:xfrm>
            <a:off x="4572000" y="2480270"/>
            <a:ext cx="698500" cy="355600"/>
          </a:xfrm>
          <a:prstGeom prst="rect">
            <a:avLst/>
          </a:prstGeom>
        </p:spPr>
      </p:pic>
      <p:sp>
        <p:nvSpPr>
          <p:cNvPr id="8" name="Shape 5"/>
          <p:cNvSpPr/>
          <p:nvPr/>
        </p:nvSpPr>
        <p:spPr>
          <a:xfrm>
            <a:off x="5473700" y="2011710"/>
            <a:ext cx="2667000" cy="1292771"/>
          </a:xfrm>
          <a:prstGeom prst="roundRect">
            <a:avLst>
              <a:gd name="adj" fmla="val 7859"/>
            </a:avLst>
          </a:prstGeom>
          <a:solidFill>
            <a:srgbClr val="14202E"/>
          </a:solidFill>
          <a:ln/>
        </p:spPr>
        <p:txBody>
          <a:bodyPr/>
          <a:lstStyle/>
          <a:p>
            <a:endParaRPr lang="en-SE"/>
          </a:p>
        </p:txBody>
      </p:sp>
      <p:sp>
        <p:nvSpPr>
          <p:cNvPr id="9" name="Text 6"/>
          <p:cNvSpPr/>
          <p:nvPr/>
        </p:nvSpPr>
        <p:spPr>
          <a:xfrm>
            <a:off x="5702300" y="2240310"/>
            <a:ext cx="227609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C"/>
                </a:solidFill>
                <a:latin typeface="IBM Plex Sans" pitchFamily="34" charset="0"/>
                <a:ea typeface="IBM Plex Sans" pitchFamily="34" charset="-122"/>
                <a:cs typeface="IBM Plex Sans" pitchFamily="34" charset="-120"/>
              </a:rPr>
              <a:t>Pricing model</a:t>
            </a:r>
            <a:endParaRPr lang="en-US" sz="1800" dirty="0"/>
          </a:p>
        </p:txBody>
      </p:sp>
      <p:sp>
        <p:nvSpPr>
          <p:cNvPr id="10" name="Text 7"/>
          <p:cNvSpPr/>
          <p:nvPr/>
        </p:nvSpPr>
        <p:spPr>
          <a:xfrm>
            <a:off x="5702300" y="2624400"/>
            <a:ext cx="2276094" cy="523180"/>
          </a:xfrm>
          <a:prstGeom prst="rect">
            <a:avLst/>
          </a:prstGeom>
          <a:noFill/>
          <a:ln/>
        </p:spPr>
        <p:txBody>
          <a:bodyPr wrap="square" lIns="0" tIns="0" rIns="0" bIns="0" rtlCol="0" anchor="t">
            <a:normAutofit/>
          </a:bodyPr>
          <a:lstStyle/>
          <a:p>
            <a:pPr marL="0" indent="0" algn="l">
              <a:lnSpc>
                <a:spcPts val="1960"/>
              </a:lnSpc>
              <a:buNone/>
            </a:pPr>
            <a:r>
              <a:rPr lang="en-US" sz="1600" dirty="0">
                <a:solidFill>
                  <a:srgbClr val="BFCAD6"/>
                </a:solidFill>
                <a:latin typeface="IBM Plex Sans" pitchFamily="34" charset="0"/>
                <a:ea typeface="IBM Plex Sans" pitchFamily="34" charset="-122"/>
                <a:cs typeface="IBM Plex Sans" pitchFamily="34" charset="-120"/>
              </a:rPr>
              <a:t>Black-Scholes formula, or a binomial lattice</a:t>
            </a:r>
            <a:endParaRPr lang="en-US" sz="1600" dirty="0"/>
          </a:p>
        </p:txBody>
      </p:sp>
      <p:pic>
        <p:nvPicPr>
          <p:cNvPr id="11" name="Image 1" descr="arrow-right"/>
          <p:cNvPicPr>
            <a:picLocks noChangeAspect="1"/>
          </p:cNvPicPr>
          <p:nvPr/>
        </p:nvPicPr>
        <p:blipFill>
          <a:blip r:embed="rId3"/>
          <a:srcRect/>
          <a:stretch/>
        </p:blipFill>
        <p:spPr>
          <a:xfrm>
            <a:off x="8343900" y="2480270"/>
            <a:ext cx="698500" cy="355600"/>
          </a:xfrm>
          <a:prstGeom prst="rect">
            <a:avLst/>
          </a:prstGeom>
        </p:spPr>
      </p:pic>
      <p:sp>
        <p:nvSpPr>
          <p:cNvPr id="12" name="Shape 8"/>
          <p:cNvSpPr/>
          <p:nvPr/>
        </p:nvSpPr>
        <p:spPr>
          <a:xfrm>
            <a:off x="9255125" y="1899295"/>
            <a:ext cx="2114550" cy="1517551"/>
          </a:xfrm>
          <a:prstGeom prst="roundRect">
            <a:avLst>
              <a:gd name="adj" fmla="val 6067"/>
            </a:avLst>
          </a:prstGeom>
          <a:solidFill>
            <a:srgbClr val="FDFCF8"/>
          </a:solidFill>
          <a:ln w="19050">
            <a:solidFill>
              <a:srgbClr val="2B65C8"/>
            </a:solidFill>
            <a:prstDash val="solid"/>
          </a:ln>
        </p:spPr>
        <p:txBody>
          <a:bodyPr/>
          <a:lstStyle/>
          <a:p>
            <a:endParaRPr lang="en-SE"/>
          </a:p>
        </p:txBody>
      </p:sp>
      <p:sp>
        <p:nvSpPr>
          <p:cNvPr id="13" name="Text 9"/>
          <p:cNvSpPr/>
          <p:nvPr/>
        </p:nvSpPr>
        <p:spPr>
          <a:xfrm>
            <a:off x="9493250" y="2137420"/>
            <a:ext cx="168910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E"/>
                </a:solidFill>
                <a:latin typeface="IBM Plex Sans" pitchFamily="34" charset="0"/>
                <a:ea typeface="IBM Plex Sans" pitchFamily="34" charset="-122"/>
                <a:cs typeface="IBM Plex Sans" pitchFamily="34" charset="-120"/>
              </a:rPr>
              <a:t>Output</a:t>
            </a:r>
            <a:endParaRPr lang="en-US" sz="1800" dirty="0"/>
          </a:p>
        </p:txBody>
      </p:sp>
      <p:sp>
        <p:nvSpPr>
          <p:cNvPr id="14" name="Text 10"/>
          <p:cNvSpPr/>
          <p:nvPr/>
        </p:nvSpPr>
        <p:spPr>
          <a:xfrm>
            <a:off x="9493250" y="2475210"/>
            <a:ext cx="16891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65C8"/>
                </a:solidFill>
                <a:latin typeface="JetBrains Mono" pitchFamily="49" charset="0"/>
                <a:ea typeface="JetBrains Mono" pitchFamily="49" charset="-122"/>
                <a:cs typeface="JetBrains Mono" pitchFamily="49" charset="-120"/>
              </a:rPr>
              <a:t>V₀</a:t>
            </a:r>
            <a:endParaRPr lang="en-US" sz="2200" dirty="0"/>
          </a:p>
        </p:txBody>
      </p:sp>
      <p:sp>
        <p:nvSpPr>
          <p:cNvPr id="15" name="Text 11"/>
          <p:cNvSpPr/>
          <p:nvPr/>
        </p:nvSpPr>
        <p:spPr>
          <a:xfrm>
            <a:off x="9493250" y="2976130"/>
            <a:ext cx="1689100" cy="274290"/>
          </a:xfrm>
          <a:prstGeom prst="rect">
            <a:avLst/>
          </a:prstGeom>
          <a:noFill/>
          <a:ln/>
        </p:spPr>
        <p:txBody>
          <a:bodyPr wrap="square" lIns="0" tIns="0" rIns="0" bIns="0" rtlCol="0" anchor="t">
            <a:normAutofit fontScale="92500"/>
          </a:bodyPr>
          <a:lstStyle/>
          <a:p>
            <a:pPr marL="0" indent="0" algn="l">
              <a:lnSpc>
                <a:spcPts val="1960"/>
              </a:lnSpc>
              <a:buNone/>
            </a:pPr>
            <a:r>
              <a:rPr lang="en-US" sz="1600" dirty="0">
                <a:solidFill>
                  <a:srgbClr val="44505E"/>
                </a:solidFill>
                <a:latin typeface="IBM Plex Sans" pitchFamily="34" charset="0"/>
                <a:ea typeface="IBM Plex Sans" pitchFamily="34" charset="-122"/>
                <a:cs typeface="IBM Plex Sans" pitchFamily="34" charset="-120"/>
              </a:rPr>
              <a:t>one fair price today</a:t>
            </a:r>
            <a:endParaRPr lang="en-US" sz="1600" dirty="0"/>
          </a:p>
        </p:txBody>
      </p:sp>
      <p:sp>
        <p:nvSpPr>
          <p:cNvPr id="16" name="Text 12"/>
          <p:cNvSpPr/>
          <p:nvPr/>
        </p:nvSpPr>
        <p:spPr>
          <a:xfrm>
            <a:off x="812800" y="4084290"/>
            <a:ext cx="9810750" cy="61466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44505E"/>
                </a:solidFill>
                <a:latin typeface="IBM Plex Sans" pitchFamily="34" charset="0"/>
                <a:ea typeface="IBM Plex Sans" pitchFamily="34" charset="-122"/>
                <a:cs typeface="IBM Plex Sans" pitchFamily="34" charset="-120"/>
              </a:rPr>
              <a:t>The payoff rule is known exactly. The only unknown is the path the stock takes until T. A pricing model is a disciplined way of turning </a:t>
            </a:r>
            <a:r>
              <a:rPr lang="en-US" sz="1600" b="1" dirty="0">
                <a:solidFill>
                  <a:srgbClr val="14202E"/>
                </a:solidFill>
                <a:latin typeface="IBM Plex Sans" pitchFamily="34" charset="0"/>
                <a:ea typeface="IBM Plex Sans" pitchFamily="34" charset="-122"/>
                <a:cs typeface="IBM Plex Sans" pitchFamily="34" charset="-120"/>
              </a:rPr>
              <a:t>uncertainty about the future</a:t>
            </a:r>
            <a:r>
              <a:rPr lang="en-US" sz="1600" dirty="0">
                <a:solidFill>
                  <a:srgbClr val="44505E"/>
                </a:solidFill>
                <a:latin typeface="IBM Plex Sans" pitchFamily="34" charset="0"/>
                <a:ea typeface="IBM Plex Sans" pitchFamily="34" charset="-122"/>
                <a:cs typeface="IBM Plex Sans" pitchFamily="34" charset="-120"/>
              </a:rPr>
              <a:t> into </a:t>
            </a:r>
            <a:r>
              <a:rPr lang="en-US" sz="1600" b="1" dirty="0">
                <a:solidFill>
                  <a:srgbClr val="14202E"/>
                </a:solidFill>
                <a:latin typeface="IBM Plex Sans" pitchFamily="34" charset="0"/>
                <a:ea typeface="IBM Plex Sans" pitchFamily="34" charset="-122"/>
                <a:cs typeface="IBM Plex Sans" pitchFamily="34" charset="-120"/>
              </a:rPr>
              <a:t>a single number now</a:t>
            </a:r>
            <a:r>
              <a:rPr lang="en-US" sz="1600" dirty="0">
                <a:solidFill>
                  <a:srgbClr val="44505E"/>
                </a:solidFill>
                <a:latin typeface="IBM Plex Sans" pitchFamily="34" charset="0"/>
                <a:ea typeface="IBM Plex Sans" pitchFamily="34" charset="-122"/>
                <a:cs typeface="IBM Plex Sans" pitchFamily="34" charset="-120"/>
              </a:rPr>
              <a: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THE PRICING PROBLEM · STEP 1 OF 3</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Time value of money: 100 today beats 100 next year</a:t>
            </a:r>
            <a:endParaRPr lang="en-US" sz="3000" dirty="0"/>
          </a:p>
        </p:txBody>
      </p:sp>
      <p:sp>
        <p:nvSpPr>
          <p:cNvPr id="4" name="Shape 2"/>
          <p:cNvSpPr/>
          <p:nvPr/>
        </p:nvSpPr>
        <p:spPr>
          <a:xfrm>
            <a:off x="812800" y="1498600"/>
            <a:ext cx="2051050" cy="934641"/>
          </a:xfrm>
          <a:prstGeom prst="roundRect">
            <a:avLst>
              <a:gd name="adj" fmla="val 10870"/>
            </a:avLst>
          </a:prstGeom>
          <a:solidFill>
            <a:srgbClr val="14202E"/>
          </a:solidFill>
          <a:ln/>
        </p:spPr>
        <p:txBody>
          <a:bodyPr/>
          <a:lstStyle/>
          <a:p>
            <a:endParaRPr lang="en-SE"/>
          </a:p>
        </p:txBody>
      </p:sp>
      <p:sp>
        <p:nvSpPr>
          <p:cNvPr id="5" name="Text 3"/>
          <p:cNvSpPr/>
          <p:nvPr/>
        </p:nvSpPr>
        <p:spPr>
          <a:xfrm>
            <a:off x="1480979" y="1651000"/>
            <a:ext cx="727160" cy="238720"/>
          </a:xfrm>
          <a:prstGeom prst="rect">
            <a:avLst/>
          </a:prstGeom>
          <a:noFill/>
          <a:ln/>
        </p:spPr>
        <p:txBody>
          <a:bodyPr wrap="square" lIns="0" tIns="0" rIns="0" bIns="0" rtlCol="0" anchor="t">
            <a:normAutofit/>
          </a:bodyPr>
          <a:lstStyle/>
          <a:p>
            <a:pPr marL="0" indent="0" algn="ctr">
              <a:lnSpc>
                <a:spcPts val="1680"/>
              </a:lnSpc>
              <a:buNone/>
            </a:pPr>
            <a:r>
              <a:rPr lang="en-US" sz="1400" dirty="0">
                <a:solidFill>
                  <a:srgbClr val="FFFF00"/>
                </a:solidFill>
                <a:latin typeface="IBM Plex Sans" pitchFamily="34" charset="0"/>
                <a:ea typeface="IBM Plex Sans" pitchFamily="34" charset="-122"/>
                <a:cs typeface="IBM Plex Sans" pitchFamily="34" charset="-120"/>
              </a:rPr>
              <a:t>today</a:t>
            </a:r>
            <a:endParaRPr lang="en-US" sz="1400" dirty="0">
              <a:solidFill>
                <a:srgbClr val="FFFF00"/>
              </a:solidFill>
            </a:endParaRPr>
          </a:p>
        </p:txBody>
      </p:sp>
      <p:sp>
        <p:nvSpPr>
          <p:cNvPr id="6" name="Text 4"/>
          <p:cNvSpPr/>
          <p:nvPr/>
        </p:nvSpPr>
        <p:spPr>
          <a:xfrm>
            <a:off x="1234802" y="1889720"/>
            <a:ext cx="1206996" cy="416520"/>
          </a:xfrm>
          <a:prstGeom prst="rect">
            <a:avLst/>
          </a:prstGeom>
          <a:noFill/>
          <a:ln/>
        </p:spPr>
        <p:txBody>
          <a:bodyPr wrap="square" lIns="0" tIns="0" rIns="0" bIns="0" rtlCol="0" anchor="t">
            <a:normAutofit/>
          </a:bodyPr>
          <a:lstStyle/>
          <a:p>
            <a:pPr marL="0" indent="0" algn="ctr">
              <a:lnSpc>
                <a:spcPts val="3080"/>
              </a:lnSpc>
              <a:buNone/>
            </a:pPr>
            <a:r>
              <a:rPr lang="en-US" sz="2200" b="1" dirty="0">
                <a:solidFill>
                  <a:srgbClr val="F5F3EC"/>
                </a:solidFill>
                <a:latin typeface="JetBrains Mono" pitchFamily="49" charset="0"/>
                <a:ea typeface="JetBrains Mono" pitchFamily="49" charset="-122"/>
                <a:cs typeface="JetBrains Mono" pitchFamily="49" charset="-120"/>
              </a:rPr>
              <a:t>100.00</a:t>
            </a:r>
            <a:endParaRPr lang="en-US" sz="2200" dirty="0"/>
          </a:p>
        </p:txBody>
      </p:sp>
      <p:pic>
        <p:nvPicPr>
          <p:cNvPr id="7" name="Image 0" descr="arrow-right"/>
          <p:cNvPicPr>
            <a:picLocks noChangeAspect="1"/>
          </p:cNvPicPr>
          <p:nvPr/>
        </p:nvPicPr>
        <p:blipFill>
          <a:blip r:embed="rId3"/>
          <a:srcRect/>
          <a:stretch/>
        </p:blipFill>
        <p:spPr>
          <a:xfrm>
            <a:off x="2990850" y="1838920"/>
            <a:ext cx="508000" cy="254000"/>
          </a:xfrm>
          <a:prstGeom prst="rect">
            <a:avLst/>
          </a:prstGeom>
        </p:spPr>
      </p:pic>
      <p:sp>
        <p:nvSpPr>
          <p:cNvPr id="8" name="Shape 5"/>
          <p:cNvSpPr/>
          <p:nvPr/>
        </p:nvSpPr>
        <p:spPr>
          <a:xfrm>
            <a:off x="3632200" y="1492250"/>
            <a:ext cx="2063750" cy="947341"/>
          </a:xfrm>
          <a:prstGeom prst="roundRect">
            <a:avLst>
              <a:gd name="adj" fmla="val 10054"/>
            </a:avLst>
          </a:prstGeom>
          <a:solidFill>
            <a:srgbClr val="FDFCF8"/>
          </a:solidFill>
          <a:ln w="12700">
            <a:solidFill>
              <a:srgbClr val="2B65C8"/>
            </a:solidFill>
            <a:prstDash val="solid"/>
          </a:ln>
        </p:spPr>
        <p:txBody>
          <a:bodyPr/>
          <a:lstStyle/>
          <a:p>
            <a:endParaRPr lang="en-SE"/>
          </a:p>
        </p:txBody>
      </p:sp>
      <p:sp>
        <p:nvSpPr>
          <p:cNvPr id="9" name="Text 6"/>
          <p:cNvSpPr/>
          <p:nvPr/>
        </p:nvSpPr>
        <p:spPr>
          <a:xfrm>
            <a:off x="4193242" y="1651000"/>
            <a:ext cx="941665" cy="238720"/>
          </a:xfrm>
          <a:prstGeom prst="rect">
            <a:avLst/>
          </a:prstGeom>
          <a:noFill/>
          <a:ln/>
        </p:spPr>
        <p:txBody>
          <a:bodyPr wrap="square" lIns="0" tIns="0" rIns="0" bIns="0" rtlCol="0" anchor="t">
            <a:normAutofit/>
          </a:bodyPr>
          <a:lstStyle/>
          <a:p>
            <a:pPr marL="0" indent="0" algn="ctr">
              <a:lnSpc>
                <a:spcPts val="1680"/>
              </a:lnSpc>
              <a:buNone/>
            </a:pPr>
            <a:r>
              <a:rPr lang="en-US" sz="1400" dirty="0">
                <a:solidFill>
                  <a:srgbClr val="6A7179"/>
                </a:solidFill>
                <a:latin typeface="IBM Plex Sans" pitchFamily="34" charset="0"/>
                <a:ea typeface="IBM Plex Sans" pitchFamily="34" charset="-122"/>
                <a:cs typeface="IBM Plex Sans" pitchFamily="34" charset="-120"/>
              </a:rPr>
              <a:t>after 1 step</a:t>
            </a:r>
            <a:endParaRPr lang="en-US" sz="1400" dirty="0"/>
          </a:p>
        </p:txBody>
      </p:sp>
      <p:sp>
        <p:nvSpPr>
          <p:cNvPr id="10" name="Text 7"/>
          <p:cNvSpPr/>
          <p:nvPr/>
        </p:nvSpPr>
        <p:spPr>
          <a:xfrm>
            <a:off x="4060552" y="1889720"/>
            <a:ext cx="1206996" cy="416520"/>
          </a:xfrm>
          <a:prstGeom prst="rect">
            <a:avLst/>
          </a:prstGeom>
          <a:noFill/>
          <a:ln/>
        </p:spPr>
        <p:txBody>
          <a:bodyPr wrap="square" lIns="0" tIns="0" rIns="0" bIns="0" rtlCol="0" anchor="t">
            <a:normAutofit/>
          </a:bodyPr>
          <a:lstStyle/>
          <a:p>
            <a:pPr marL="0" indent="0" algn="ctr">
              <a:lnSpc>
                <a:spcPts val="3080"/>
              </a:lnSpc>
              <a:buNone/>
            </a:pPr>
            <a:r>
              <a:rPr lang="en-US" sz="2200" b="1" dirty="0">
                <a:solidFill>
                  <a:srgbClr val="14202E"/>
                </a:solidFill>
                <a:latin typeface="JetBrains Mono" pitchFamily="49" charset="0"/>
                <a:ea typeface="JetBrains Mono" pitchFamily="49" charset="-122"/>
                <a:cs typeface="JetBrains Mono" pitchFamily="49" charset="-120"/>
              </a:rPr>
              <a:t>102.00</a:t>
            </a:r>
            <a:endParaRPr lang="en-US" sz="2200" dirty="0"/>
          </a:p>
        </p:txBody>
      </p:sp>
      <p:pic>
        <p:nvPicPr>
          <p:cNvPr id="11" name="Image 1" descr="arrow-right"/>
          <p:cNvPicPr>
            <a:picLocks noChangeAspect="1"/>
          </p:cNvPicPr>
          <p:nvPr/>
        </p:nvPicPr>
        <p:blipFill>
          <a:blip r:embed="rId3"/>
          <a:srcRect/>
          <a:stretch/>
        </p:blipFill>
        <p:spPr>
          <a:xfrm>
            <a:off x="5829300" y="1838920"/>
            <a:ext cx="508000" cy="254000"/>
          </a:xfrm>
          <a:prstGeom prst="rect">
            <a:avLst/>
          </a:prstGeom>
        </p:spPr>
      </p:pic>
      <p:sp>
        <p:nvSpPr>
          <p:cNvPr id="12" name="Shape 8"/>
          <p:cNvSpPr/>
          <p:nvPr/>
        </p:nvSpPr>
        <p:spPr>
          <a:xfrm>
            <a:off x="6470650" y="1492250"/>
            <a:ext cx="2063750" cy="947341"/>
          </a:xfrm>
          <a:prstGeom prst="roundRect">
            <a:avLst>
              <a:gd name="adj" fmla="val 10054"/>
            </a:avLst>
          </a:prstGeom>
          <a:solidFill>
            <a:srgbClr val="FDFCF8"/>
          </a:solidFill>
          <a:ln w="12700">
            <a:solidFill>
              <a:srgbClr val="2B65C8"/>
            </a:solidFill>
            <a:prstDash val="solid"/>
          </a:ln>
        </p:spPr>
        <p:txBody>
          <a:bodyPr/>
          <a:lstStyle/>
          <a:p>
            <a:endParaRPr lang="en-SE"/>
          </a:p>
        </p:txBody>
      </p:sp>
      <p:sp>
        <p:nvSpPr>
          <p:cNvPr id="13" name="Text 9"/>
          <p:cNvSpPr/>
          <p:nvPr/>
        </p:nvSpPr>
        <p:spPr>
          <a:xfrm>
            <a:off x="6987163" y="1651000"/>
            <a:ext cx="1030724" cy="238720"/>
          </a:xfrm>
          <a:prstGeom prst="rect">
            <a:avLst/>
          </a:prstGeom>
          <a:noFill/>
          <a:ln/>
        </p:spPr>
        <p:txBody>
          <a:bodyPr wrap="square" lIns="0" tIns="0" rIns="0" bIns="0" rtlCol="0" anchor="t">
            <a:normAutofit/>
          </a:bodyPr>
          <a:lstStyle/>
          <a:p>
            <a:pPr marL="0" indent="0" algn="ctr">
              <a:lnSpc>
                <a:spcPts val="1680"/>
              </a:lnSpc>
              <a:buNone/>
            </a:pPr>
            <a:r>
              <a:rPr lang="en-US" sz="1400" dirty="0">
                <a:solidFill>
                  <a:srgbClr val="6A7179"/>
                </a:solidFill>
                <a:latin typeface="IBM Plex Sans" pitchFamily="34" charset="0"/>
                <a:ea typeface="IBM Plex Sans" pitchFamily="34" charset="-122"/>
                <a:cs typeface="IBM Plex Sans" pitchFamily="34" charset="-120"/>
              </a:rPr>
              <a:t>after 2 steps</a:t>
            </a:r>
            <a:endParaRPr lang="en-US" sz="1400" dirty="0"/>
          </a:p>
        </p:txBody>
      </p:sp>
      <p:sp>
        <p:nvSpPr>
          <p:cNvPr id="14" name="Text 10"/>
          <p:cNvSpPr/>
          <p:nvPr/>
        </p:nvSpPr>
        <p:spPr>
          <a:xfrm>
            <a:off x="6899002" y="1889720"/>
            <a:ext cx="1206996" cy="416520"/>
          </a:xfrm>
          <a:prstGeom prst="rect">
            <a:avLst/>
          </a:prstGeom>
          <a:noFill/>
          <a:ln/>
        </p:spPr>
        <p:txBody>
          <a:bodyPr wrap="square" lIns="0" tIns="0" rIns="0" bIns="0" rtlCol="0" anchor="t">
            <a:normAutofit/>
          </a:bodyPr>
          <a:lstStyle/>
          <a:p>
            <a:pPr marL="0" indent="0" algn="ctr">
              <a:lnSpc>
                <a:spcPts val="3080"/>
              </a:lnSpc>
              <a:buNone/>
            </a:pPr>
            <a:r>
              <a:rPr lang="en-US" sz="2200" b="1" dirty="0">
                <a:solidFill>
                  <a:srgbClr val="14202E"/>
                </a:solidFill>
                <a:latin typeface="JetBrains Mono" pitchFamily="49" charset="0"/>
                <a:ea typeface="JetBrains Mono" pitchFamily="49" charset="-122"/>
                <a:cs typeface="JetBrains Mono" pitchFamily="49" charset="-120"/>
              </a:rPr>
              <a:t>104.04</a:t>
            </a:r>
            <a:endParaRPr lang="en-US" sz="2200" dirty="0"/>
          </a:p>
        </p:txBody>
      </p:sp>
      <p:pic>
        <p:nvPicPr>
          <p:cNvPr id="15" name="Image 2" descr="arrow-right"/>
          <p:cNvPicPr>
            <a:picLocks noChangeAspect="1"/>
          </p:cNvPicPr>
          <p:nvPr/>
        </p:nvPicPr>
        <p:blipFill>
          <a:blip r:embed="rId3"/>
          <a:srcRect/>
          <a:stretch/>
        </p:blipFill>
        <p:spPr>
          <a:xfrm>
            <a:off x="8667750" y="1838920"/>
            <a:ext cx="508000" cy="254000"/>
          </a:xfrm>
          <a:prstGeom prst="rect">
            <a:avLst/>
          </a:prstGeom>
        </p:spPr>
      </p:pic>
      <p:sp>
        <p:nvSpPr>
          <p:cNvPr id="16" name="Shape 11"/>
          <p:cNvSpPr/>
          <p:nvPr/>
        </p:nvSpPr>
        <p:spPr>
          <a:xfrm>
            <a:off x="9309100" y="1492250"/>
            <a:ext cx="2063750" cy="947341"/>
          </a:xfrm>
          <a:prstGeom prst="roundRect">
            <a:avLst>
              <a:gd name="adj" fmla="val 10054"/>
            </a:avLst>
          </a:prstGeom>
          <a:solidFill>
            <a:srgbClr val="FDFCF8"/>
          </a:solidFill>
          <a:ln w="12700">
            <a:solidFill>
              <a:srgbClr val="2B65C8"/>
            </a:solidFill>
            <a:prstDash val="solid"/>
          </a:ln>
        </p:spPr>
        <p:txBody>
          <a:bodyPr/>
          <a:lstStyle/>
          <a:p>
            <a:endParaRPr lang="en-SE"/>
          </a:p>
        </p:txBody>
      </p:sp>
      <p:sp>
        <p:nvSpPr>
          <p:cNvPr id="17" name="Text 12"/>
          <p:cNvSpPr/>
          <p:nvPr/>
        </p:nvSpPr>
        <p:spPr>
          <a:xfrm>
            <a:off x="9825613" y="1651000"/>
            <a:ext cx="1030724" cy="238720"/>
          </a:xfrm>
          <a:prstGeom prst="rect">
            <a:avLst/>
          </a:prstGeom>
          <a:noFill/>
          <a:ln/>
        </p:spPr>
        <p:txBody>
          <a:bodyPr wrap="square" lIns="0" tIns="0" rIns="0" bIns="0" rtlCol="0" anchor="t">
            <a:normAutofit/>
          </a:bodyPr>
          <a:lstStyle/>
          <a:p>
            <a:pPr marL="0" indent="0" algn="ctr">
              <a:lnSpc>
                <a:spcPts val="1680"/>
              </a:lnSpc>
              <a:buNone/>
            </a:pPr>
            <a:r>
              <a:rPr lang="en-US" sz="1400" dirty="0">
                <a:solidFill>
                  <a:srgbClr val="6A7179"/>
                </a:solidFill>
                <a:latin typeface="IBM Plex Sans" pitchFamily="34" charset="0"/>
                <a:ea typeface="IBM Plex Sans" pitchFamily="34" charset="-122"/>
                <a:cs typeface="IBM Plex Sans" pitchFamily="34" charset="-120"/>
              </a:rPr>
              <a:t>after 3 steps</a:t>
            </a:r>
            <a:endParaRPr lang="en-US" sz="1400" dirty="0"/>
          </a:p>
        </p:txBody>
      </p:sp>
      <p:sp>
        <p:nvSpPr>
          <p:cNvPr id="18" name="Text 13"/>
          <p:cNvSpPr/>
          <p:nvPr/>
        </p:nvSpPr>
        <p:spPr>
          <a:xfrm>
            <a:off x="9737452" y="1889720"/>
            <a:ext cx="1206996" cy="416520"/>
          </a:xfrm>
          <a:prstGeom prst="rect">
            <a:avLst/>
          </a:prstGeom>
          <a:noFill/>
          <a:ln/>
        </p:spPr>
        <p:txBody>
          <a:bodyPr wrap="square" lIns="0" tIns="0" rIns="0" bIns="0" rtlCol="0" anchor="t">
            <a:normAutofit/>
          </a:bodyPr>
          <a:lstStyle/>
          <a:p>
            <a:pPr marL="0" indent="0" algn="ctr">
              <a:lnSpc>
                <a:spcPts val="3080"/>
              </a:lnSpc>
              <a:buNone/>
            </a:pPr>
            <a:r>
              <a:rPr lang="en-US" sz="2200" b="1" dirty="0">
                <a:solidFill>
                  <a:srgbClr val="14202E"/>
                </a:solidFill>
                <a:latin typeface="JetBrains Mono" pitchFamily="49" charset="0"/>
                <a:ea typeface="JetBrains Mono" pitchFamily="49" charset="-122"/>
                <a:cs typeface="JetBrains Mono" pitchFamily="49" charset="-120"/>
              </a:rPr>
              <a:t>106.12</a:t>
            </a:r>
            <a:endParaRPr lang="en-US" sz="2200" dirty="0"/>
          </a:p>
        </p:txBody>
      </p:sp>
      <p:pic>
        <p:nvPicPr>
          <p:cNvPr id="19" name="Image 3" descr="arrow-left"/>
          <p:cNvPicPr>
            <a:picLocks noChangeAspect="1"/>
          </p:cNvPicPr>
          <p:nvPr/>
        </p:nvPicPr>
        <p:blipFill>
          <a:blip r:embed="rId4"/>
          <a:srcRect/>
          <a:stretch/>
        </p:blipFill>
        <p:spPr>
          <a:xfrm>
            <a:off x="2335461" y="2699941"/>
            <a:ext cx="762000" cy="279400"/>
          </a:xfrm>
          <a:prstGeom prst="rect">
            <a:avLst/>
          </a:prstGeom>
        </p:spPr>
      </p:pic>
      <p:sp>
        <p:nvSpPr>
          <p:cNvPr id="20" name="Text 14"/>
          <p:cNvSpPr/>
          <p:nvPr/>
        </p:nvSpPr>
        <p:spPr>
          <a:xfrm>
            <a:off x="3224461" y="2715171"/>
            <a:ext cx="7958495" cy="274290"/>
          </a:xfrm>
          <a:prstGeom prst="rect">
            <a:avLst/>
          </a:prstGeom>
          <a:noFill/>
          <a:ln/>
        </p:spPr>
        <p:txBody>
          <a:bodyPr wrap="square" lIns="0" tIns="0" rIns="0" bIns="0" rtlCol="0" anchor="t">
            <a:normAutofit fontScale="92500"/>
          </a:bodyPr>
          <a:lstStyle/>
          <a:p>
            <a:pPr marL="0" indent="0" algn="l">
              <a:lnSpc>
                <a:spcPts val="1960"/>
              </a:lnSpc>
              <a:buNone/>
            </a:pPr>
            <a:r>
              <a:rPr lang="en-US" dirty="0">
                <a:solidFill>
                  <a:srgbClr val="A9520F"/>
                </a:solidFill>
                <a:latin typeface="IBM Plex Sans" pitchFamily="34" charset="0"/>
                <a:ea typeface="IBM Plex Sans" pitchFamily="34" charset="-122"/>
                <a:cs typeface="IBM Plex Sans" pitchFamily="34" charset="-120"/>
              </a:rPr>
              <a:t>discounting = compounding run backwards: 106.12 in 3 steps is worth 100 today</a:t>
            </a:r>
            <a:endParaRPr lang="en-US" dirty="0"/>
          </a:p>
        </p:txBody>
      </p:sp>
      <p:sp>
        <p:nvSpPr>
          <p:cNvPr id="21" name="Shape 15"/>
          <p:cNvSpPr/>
          <p:nvPr/>
        </p:nvSpPr>
        <p:spPr>
          <a:xfrm>
            <a:off x="815975" y="3236516"/>
            <a:ext cx="5175250" cy="1844770"/>
          </a:xfrm>
          <a:prstGeom prst="roundRect">
            <a:avLst>
              <a:gd name="adj" fmla="val 6332"/>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22" name="Text 16"/>
          <p:cNvSpPr/>
          <p:nvPr/>
        </p:nvSpPr>
        <p:spPr>
          <a:xfrm>
            <a:off x="1022350" y="3442891"/>
            <a:ext cx="490537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Compound (forward)</a:t>
            </a:r>
            <a:endParaRPr lang="en-US" sz="1600" dirty="0"/>
          </a:p>
        </p:txBody>
      </p:sp>
      <p:sp>
        <p:nvSpPr>
          <p:cNvPr id="23" name="Text 17"/>
          <p:cNvSpPr/>
          <p:nvPr/>
        </p:nvSpPr>
        <p:spPr>
          <a:xfrm>
            <a:off x="1022350" y="3913394"/>
            <a:ext cx="4905375" cy="292100"/>
          </a:xfrm>
          <a:prstGeom prst="rect">
            <a:avLst/>
          </a:prstGeom>
          <a:noFill/>
          <a:ln/>
        </p:spPr>
        <p:txBody>
          <a:bodyPr wrap="square" lIns="0" tIns="0" rIns="0" bIns="0" rtlCol="0" anchor="t">
            <a:normAutofit/>
          </a:bodyPr>
          <a:lstStyle/>
          <a:p>
            <a:pPr marL="0" indent="0" algn="l">
              <a:lnSpc>
                <a:spcPts val="2100"/>
              </a:lnSpc>
              <a:buNone/>
            </a:pPr>
            <a:r>
              <a:rPr lang="en-US" sz="2400" dirty="0">
                <a:solidFill>
                  <a:srgbClr val="2B65C8"/>
                </a:solidFill>
                <a:latin typeface="JetBrains Mono" pitchFamily="49" charset="0"/>
                <a:ea typeface="JetBrains Mono" pitchFamily="49" charset="-122"/>
                <a:cs typeface="JetBrains Mono" pitchFamily="49" charset="-120"/>
              </a:rPr>
              <a:t>FV = PV · Rⁿ</a:t>
            </a:r>
            <a:endParaRPr lang="en-US" sz="2400" dirty="0"/>
          </a:p>
        </p:txBody>
      </p:sp>
      <p:sp>
        <p:nvSpPr>
          <p:cNvPr id="24" name="Text 18"/>
          <p:cNvSpPr/>
          <p:nvPr/>
        </p:nvSpPr>
        <p:spPr>
          <a:xfrm>
            <a:off x="1022350" y="4441489"/>
            <a:ext cx="4905375" cy="504130"/>
          </a:xfrm>
          <a:prstGeom prst="rect">
            <a:avLst/>
          </a:prstGeom>
          <a:noFill/>
          <a:ln/>
        </p:spPr>
        <p:txBody>
          <a:bodyPr wrap="square" lIns="0" tIns="0" rIns="0" bIns="0" rtlCol="0" anchor="t">
            <a:normAutofit/>
          </a:bodyPr>
          <a:lstStyle/>
          <a:p>
            <a:pPr marL="0" indent="0" algn="l">
              <a:lnSpc>
                <a:spcPts val="1885"/>
              </a:lnSpc>
              <a:buNone/>
            </a:pPr>
            <a:r>
              <a:rPr lang="en-US" sz="1600" b="1" dirty="0">
                <a:solidFill>
                  <a:srgbClr val="44505E"/>
                </a:solidFill>
                <a:latin typeface="IBM Plex Sans" pitchFamily="34" charset="0"/>
                <a:ea typeface="IBM Plex Sans" pitchFamily="34" charset="-122"/>
                <a:cs typeface="IBM Plex Sans" pitchFamily="34" charset="-120"/>
              </a:rPr>
              <a:t>R = 1.02 (&lt;-&gt; 2%)  </a:t>
            </a:r>
            <a:r>
              <a:rPr lang="en-US" sz="1600" dirty="0">
                <a:solidFill>
                  <a:srgbClr val="44505E"/>
                </a:solidFill>
                <a:latin typeface="IBM Plex Sans" pitchFamily="34" charset="0"/>
                <a:ea typeface="IBM Plex Sans" pitchFamily="34" charset="-122"/>
                <a:cs typeface="IBM Plex Sans" pitchFamily="34" charset="-120"/>
              </a:rPr>
              <a:t>per step: what a risk-free deposit or government bond pays.</a:t>
            </a:r>
            <a:endParaRPr lang="en-US" sz="1600" dirty="0"/>
          </a:p>
        </p:txBody>
      </p:sp>
      <p:sp>
        <p:nvSpPr>
          <p:cNvPr id="25" name="Shape 19"/>
          <p:cNvSpPr/>
          <p:nvPr/>
        </p:nvSpPr>
        <p:spPr>
          <a:xfrm>
            <a:off x="6200775" y="3236516"/>
            <a:ext cx="5175250" cy="1844770"/>
          </a:xfrm>
          <a:prstGeom prst="roundRect">
            <a:avLst>
              <a:gd name="adj" fmla="val 6332"/>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26" name="Text 20"/>
          <p:cNvSpPr/>
          <p:nvPr/>
        </p:nvSpPr>
        <p:spPr>
          <a:xfrm>
            <a:off x="6407150" y="3442891"/>
            <a:ext cx="490537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Discount (backward)</a:t>
            </a:r>
            <a:endParaRPr lang="en-US" sz="1600" dirty="0"/>
          </a:p>
        </p:txBody>
      </p:sp>
      <p:sp>
        <p:nvSpPr>
          <p:cNvPr id="27" name="Text 21"/>
          <p:cNvSpPr/>
          <p:nvPr/>
        </p:nvSpPr>
        <p:spPr>
          <a:xfrm>
            <a:off x="6407150" y="3913394"/>
            <a:ext cx="4905375" cy="292100"/>
          </a:xfrm>
          <a:prstGeom prst="rect">
            <a:avLst/>
          </a:prstGeom>
          <a:noFill/>
          <a:ln/>
        </p:spPr>
        <p:txBody>
          <a:bodyPr wrap="square" lIns="0" tIns="0" rIns="0" bIns="0" rtlCol="0" anchor="t">
            <a:normAutofit/>
          </a:bodyPr>
          <a:lstStyle/>
          <a:p>
            <a:pPr marL="0" indent="0" algn="l">
              <a:lnSpc>
                <a:spcPts val="2100"/>
              </a:lnSpc>
              <a:buNone/>
            </a:pPr>
            <a:r>
              <a:rPr lang="en-US" sz="2400" dirty="0">
                <a:solidFill>
                  <a:srgbClr val="A9520F"/>
                </a:solidFill>
                <a:latin typeface="JetBrains Mono" pitchFamily="49" charset="0"/>
                <a:ea typeface="JetBrains Mono" pitchFamily="49" charset="-122"/>
                <a:cs typeface="JetBrains Mono" pitchFamily="49" charset="-120"/>
              </a:rPr>
              <a:t>PV = FV / Rⁿ</a:t>
            </a:r>
            <a:endParaRPr lang="en-US" sz="2400" dirty="0"/>
          </a:p>
        </p:txBody>
      </p:sp>
      <p:sp>
        <p:nvSpPr>
          <p:cNvPr id="28" name="Text 22"/>
          <p:cNvSpPr/>
          <p:nvPr/>
        </p:nvSpPr>
        <p:spPr>
          <a:xfrm>
            <a:off x="6407150" y="4441489"/>
            <a:ext cx="4965700" cy="50413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In continuous time: </a:t>
            </a:r>
            <a:r>
              <a:rPr lang="en-US" sz="1600" b="1" dirty="0">
                <a:solidFill>
                  <a:srgbClr val="44505E"/>
                </a:solidFill>
                <a:latin typeface="IBM Plex Sans" pitchFamily="34" charset="0"/>
                <a:ea typeface="IBM Plex Sans" pitchFamily="34" charset="-122"/>
                <a:cs typeface="IBM Plex Sans" pitchFamily="34" charset="-120"/>
              </a:rPr>
              <a:t>PV = FV · e^(−rT). </a:t>
            </a:r>
            <a:r>
              <a:rPr lang="en-US" sz="1600" dirty="0">
                <a:solidFill>
                  <a:srgbClr val="44505E"/>
                </a:solidFill>
                <a:latin typeface="IBM Plex Sans" pitchFamily="34" charset="0"/>
                <a:ea typeface="IBM Plex Sans" pitchFamily="34" charset="-122"/>
                <a:cs typeface="IBM Plex Sans" pitchFamily="34" charset="-120"/>
              </a:rPr>
              <a:t>Same idea, smaller steps.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THE PRICING PROBLEM · STEP 2 OF 3</a:t>
            </a:r>
            <a:endParaRPr lang="en-US" sz="1200" dirty="0"/>
          </a:p>
        </p:txBody>
      </p:sp>
      <p:sp>
        <p:nvSpPr>
          <p:cNvPr id="3" name="Text 1"/>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Where the average comes from: probability-weighted payoffs</a:t>
            </a:r>
            <a:endParaRPr lang="en-US" sz="3000" dirty="0"/>
          </a:p>
        </p:txBody>
      </p:sp>
      <p:sp>
        <p:nvSpPr>
          <p:cNvPr id="4" name="Shape 2"/>
          <p:cNvSpPr/>
          <p:nvPr/>
        </p:nvSpPr>
        <p:spPr>
          <a:xfrm>
            <a:off x="815975" y="1908175"/>
            <a:ext cx="4527922" cy="1937299"/>
          </a:xfrm>
          <a:prstGeom prst="roundRect">
            <a:avLst>
              <a:gd name="adj" fmla="val 6332"/>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5" name="Text 3"/>
          <p:cNvSpPr/>
          <p:nvPr/>
        </p:nvSpPr>
        <p:spPr>
          <a:xfrm>
            <a:off x="1022350" y="2114550"/>
            <a:ext cx="4879213"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14202E"/>
                </a:solidFill>
                <a:latin typeface="IBM Plex Sans" pitchFamily="34" charset="0"/>
                <a:ea typeface="IBM Plex Sans" pitchFamily="34" charset="-122"/>
                <a:cs typeface="IBM Plex Sans" pitchFamily="34" charset="-120"/>
              </a:rPr>
              <a:t>A coin-flip game</a:t>
            </a:r>
            <a:endParaRPr lang="en-US" dirty="0"/>
          </a:p>
        </p:txBody>
      </p:sp>
      <p:sp>
        <p:nvSpPr>
          <p:cNvPr id="6" name="Text 4"/>
          <p:cNvSpPr/>
          <p:nvPr/>
        </p:nvSpPr>
        <p:spPr>
          <a:xfrm>
            <a:off x="1022351" y="2585051"/>
            <a:ext cx="4321546" cy="50413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Heads pays 10, tails pays 0, fair coin. Played many times, you win on average:</a:t>
            </a:r>
            <a:endParaRPr lang="en-US" sz="1600" dirty="0"/>
          </a:p>
        </p:txBody>
      </p:sp>
      <p:sp>
        <p:nvSpPr>
          <p:cNvPr id="7" name="Text 5"/>
          <p:cNvSpPr/>
          <p:nvPr/>
        </p:nvSpPr>
        <p:spPr>
          <a:xfrm>
            <a:off x="1022350" y="3209430"/>
            <a:ext cx="4879213" cy="292100"/>
          </a:xfrm>
          <a:prstGeom prst="rect">
            <a:avLst/>
          </a:prstGeom>
          <a:noFill/>
          <a:ln/>
        </p:spPr>
        <p:txBody>
          <a:bodyPr wrap="square" lIns="0" tIns="0" rIns="0" bIns="0" rtlCol="0" anchor="t">
            <a:normAutofit/>
          </a:bodyPr>
          <a:lstStyle/>
          <a:p>
            <a:pPr marL="0" indent="0" algn="l">
              <a:lnSpc>
                <a:spcPts val="2100"/>
              </a:lnSpc>
              <a:buNone/>
            </a:pPr>
            <a:r>
              <a:rPr lang="en-US" b="1" dirty="0">
                <a:solidFill>
                  <a:srgbClr val="14202E"/>
                </a:solidFill>
                <a:latin typeface="JetBrains Mono" pitchFamily="49" charset="0"/>
                <a:ea typeface="JetBrains Mono" pitchFamily="49" charset="-122"/>
                <a:cs typeface="JetBrains Mono" pitchFamily="49" charset="-120"/>
              </a:rPr>
              <a:t>0.5 · 10 + 0.5 · 0 = </a:t>
            </a:r>
            <a:r>
              <a:rPr lang="en-US" b="1" dirty="0">
                <a:solidFill>
                  <a:srgbClr val="2B65C8"/>
                </a:solidFill>
                <a:latin typeface="JetBrains Mono" pitchFamily="49" charset="0"/>
                <a:ea typeface="JetBrains Mono" pitchFamily="49" charset="-122"/>
                <a:cs typeface="JetBrains Mono" pitchFamily="49" charset="-120"/>
              </a:rPr>
              <a:t>5</a:t>
            </a:r>
            <a:endParaRPr lang="en-US" b="1" dirty="0"/>
          </a:p>
        </p:txBody>
      </p:sp>
      <p:sp>
        <p:nvSpPr>
          <p:cNvPr id="8" name="Shape 6"/>
          <p:cNvSpPr/>
          <p:nvPr/>
        </p:nvSpPr>
        <p:spPr>
          <a:xfrm>
            <a:off x="809625" y="4051849"/>
            <a:ext cx="4527922" cy="1747067"/>
          </a:xfrm>
          <a:prstGeom prst="roundRect">
            <a:avLst>
              <a:gd name="adj" fmla="val 6332"/>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9" name="Text 7"/>
          <p:cNvSpPr/>
          <p:nvPr/>
        </p:nvSpPr>
        <p:spPr>
          <a:xfrm>
            <a:off x="1022350" y="4232825"/>
            <a:ext cx="4879213"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14202E"/>
                </a:solidFill>
                <a:latin typeface="IBM Plex Sans" pitchFamily="34" charset="0"/>
                <a:ea typeface="IBM Plex Sans" pitchFamily="34" charset="-122"/>
                <a:cs typeface="IBM Plex Sans" pitchFamily="34" charset="-120"/>
              </a:rPr>
              <a:t>In general: the expected value</a:t>
            </a:r>
            <a:endParaRPr lang="en-US" dirty="0"/>
          </a:p>
        </p:txBody>
      </p:sp>
      <p:sp>
        <p:nvSpPr>
          <p:cNvPr id="10" name="Text 8"/>
          <p:cNvSpPr/>
          <p:nvPr/>
        </p:nvSpPr>
        <p:spPr>
          <a:xfrm>
            <a:off x="1022350" y="4645453"/>
            <a:ext cx="4879213" cy="292100"/>
          </a:xfrm>
          <a:prstGeom prst="rect">
            <a:avLst/>
          </a:prstGeom>
          <a:noFill/>
          <a:ln/>
        </p:spPr>
        <p:txBody>
          <a:bodyPr wrap="square" lIns="0" tIns="0" rIns="0" bIns="0" rtlCol="0" anchor="t">
            <a:normAutofit/>
          </a:bodyPr>
          <a:lstStyle/>
          <a:p>
            <a:pPr marL="0" indent="0" algn="l">
              <a:lnSpc>
                <a:spcPts val="2100"/>
              </a:lnSpc>
              <a:buNone/>
            </a:pPr>
            <a:r>
              <a:rPr lang="en-US" b="1" dirty="0">
                <a:solidFill>
                  <a:srgbClr val="14202E"/>
                </a:solidFill>
                <a:latin typeface="JetBrains Mono" pitchFamily="49" charset="0"/>
                <a:ea typeface="JetBrains Mono" pitchFamily="49" charset="-122"/>
                <a:cs typeface="JetBrains Mono" pitchFamily="49" charset="-120"/>
              </a:rPr>
              <a:t>E[X] = Σ pᵢ · xᵢ</a:t>
            </a:r>
            <a:endParaRPr lang="en-US" b="1" dirty="0"/>
          </a:p>
        </p:txBody>
      </p:sp>
      <p:sp>
        <p:nvSpPr>
          <p:cNvPr id="11" name="Text 9"/>
          <p:cNvSpPr/>
          <p:nvPr/>
        </p:nvSpPr>
        <p:spPr>
          <a:xfrm>
            <a:off x="1022350" y="5092526"/>
            <a:ext cx="4321547" cy="50413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Each outcome xᵢ weighted by its probability pᵢ. The weights sum to 1.</a:t>
            </a:r>
            <a:endParaRPr lang="en-US" sz="1600" dirty="0"/>
          </a:p>
        </p:txBody>
      </p:sp>
      <p:sp>
        <p:nvSpPr>
          <p:cNvPr id="12" name="Text 10"/>
          <p:cNvSpPr/>
          <p:nvPr/>
        </p:nvSpPr>
        <p:spPr>
          <a:xfrm>
            <a:off x="5795489" y="1928150"/>
            <a:ext cx="5310886" cy="50413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The developer’s version: simulate many futures, average the payoffs (Monte Carlo).</a:t>
            </a:r>
            <a:endParaRPr lang="en-US" sz="1600" dirty="0"/>
          </a:p>
        </p:txBody>
      </p:sp>
      <p:sp>
        <p:nvSpPr>
          <p:cNvPr id="13" name="Text 11"/>
          <p:cNvSpPr/>
          <p:nvPr/>
        </p:nvSpPr>
        <p:spPr>
          <a:xfrm>
            <a:off x="5795488" y="2895701"/>
            <a:ext cx="6162964" cy="1169084"/>
          </a:xfrm>
          <a:prstGeom prst="roundRect">
            <a:avLst>
              <a:gd name="adj" fmla="val 7634"/>
            </a:avLst>
          </a:prstGeom>
          <a:solidFill>
            <a:srgbClr val="14202E"/>
          </a:solidFill>
          <a:ln/>
        </p:spPr>
        <p:txBody>
          <a:bodyPr wrap="none" lIns="173442" tIns="148042" rIns="30948" bIns="122642" rtlCol="0" anchor="t">
            <a:normAutofit/>
          </a:bodyPr>
          <a:lstStyle/>
          <a:p>
            <a:pPr marL="0" indent="0" algn="l">
              <a:lnSpc>
                <a:spcPts val="1920"/>
              </a:lnSpc>
              <a:buNone/>
            </a:pPr>
            <a:r>
              <a:rPr lang="en-US" dirty="0">
                <a:solidFill>
                  <a:srgbClr val="E6E9EE"/>
                </a:solidFill>
                <a:latin typeface="JetBrains Mono" pitchFamily="49" charset="0"/>
                <a:ea typeface="JetBrains Mono" pitchFamily="49" charset="-122"/>
                <a:cs typeface="JetBrains Mono" pitchFamily="49" charset="-120"/>
              </a:rPr>
              <a:t>N = 1_000_000</a:t>
            </a:r>
            <a:endParaRPr lang="en-US" dirty="0"/>
          </a:p>
          <a:p>
            <a:pPr marL="0" indent="0" algn="l">
              <a:lnSpc>
                <a:spcPts val="2420"/>
              </a:lnSpc>
              <a:buNone/>
            </a:pPr>
            <a:r>
              <a:rPr lang="en-US" dirty="0">
                <a:solidFill>
                  <a:srgbClr val="E6E9EE"/>
                </a:solidFill>
                <a:latin typeface="JetBrains Mono" pitchFamily="49" charset="0"/>
                <a:ea typeface="JetBrains Mono" pitchFamily="49" charset="-122"/>
                <a:cs typeface="JetBrains Mono" pitchFamily="49" charset="-120"/>
              </a:rPr>
              <a:t>payoffs = [max(simulate_S_T() - K, 0)</a:t>
            </a:r>
            <a:r>
              <a:rPr lang="en-US" dirty="0"/>
              <a:t> </a:t>
            </a:r>
            <a:r>
              <a:rPr lang="en-US" dirty="0">
                <a:solidFill>
                  <a:srgbClr val="E6E9EE"/>
                </a:solidFill>
                <a:latin typeface="JetBrains Mono" pitchFamily="49" charset="0"/>
                <a:ea typeface="JetBrains Mono" pitchFamily="49" charset="-122"/>
                <a:cs typeface="JetBrains Mono" pitchFamily="49" charset="-120"/>
              </a:rPr>
              <a:t>for _ in range(N)]</a:t>
            </a:r>
            <a:endParaRPr lang="en-US" dirty="0"/>
          </a:p>
          <a:p>
            <a:pPr marL="0" indent="0" algn="l">
              <a:lnSpc>
                <a:spcPts val="1920"/>
              </a:lnSpc>
              <a:buNone/>
            </a:pPr>
            <a:r>
              <a:rPr lang="en-US" dirty="0">
                <a:solidFill>
                  <a:srgbClr val="E6E9EE"/>
                </a:solidFill>
                <a:latin typeface="JetBrains Mono" pitchFamily="49" charset="0"/>
                <a:ea typeface="JetBrains Mono" pitchFamily="49" charset="-122"/>
                <a:cs typeface="JetBrains Mono" pitchFamily="49" charset="-120"/>
              </a:rPr>
              <a:t>expected = sum(payoffs) / N</a:t>
            </a:r>
            <a:endParaRPr lang="en-US" sz="1200" dirty="0"/>
          </a:p>
        </p:txBody>
      </p:sp>
      <p:sp>
        <p:nvSpPr>
          <p:cNvPr id="14" name="Text 12"/>
          <p:cNvSpPr/>
          <p:nvPr/>
        </p:nvSpPr>
        <p:spPr>
          <a:xfrm>
            <a:off x="5795489" y="4440512"/>
            <a:ext cx="5310886" cy="50413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Law of large numbers: as </a:t>
            </a:r>
            <a:r>
              <a:rPr lang="en-US" sz="1600" b="1" dirty="0">
                <a:solidFill>
                  <a:srgbClr val="44505E"/>
                </a:solidFill>
                <a:latin typeface="IBM Plex Sans" pitchFamily="34" charset="0"/>
                <a:ea typeface="IBM Plex Sans" pitchFamily="34" charset="-122"/>
                <a:cs typeface="IBM Plex Sans" pitchFamily="34" charset="-120"/>
              </a:rPr>
              <a:t>N</a:t>
            </a:r>
            <a:r>
              <a:rPr lang="en-US" sz="1600" dirty="0">
                <a:solidFill>
                  <a:srgbClr val="44505E"/>
                </a:solidFill>
                <a:latin typeface="IBM Plex Sans" pitchFamily="34" charset="0"/>
                <a:ea typeface="IBM Plex Sans" pitchFamily="34" charset="-122"/>
                <a:cs typeface="IBM Plex Sans" pitchFamily="34" charset="-120"/>
              </a:rPr>
              <a:t> grows, the sample mean converges to </a:t>
            </a:r>
            <a:r>
              <a:rPr lang="en-US" sz="1600" b="1" dirty="0">
                <a:solidFill>
                  <a:srgbClr val="44505E"/>
                </a:solidFill>
                <a:latin typeface="IBM Plex Sans" pitchFamily="34" charset="0"/>
                <a:ea typeface="IBM Plex Sans" pitchFamily="34" charset="-122"/>
                <a:cs typeface="IBM Plex Sans" pitchFamily="34" charset="-120"/>
              </a:rPr>
              <a:t>E[payoff].</a:t>
            </a:r>
            <a:endParaRPr lang="en-US" sz="1600" b="1" dirty="0"/>
          </a:p>
        </p:txBody>
      </p:sp>
      <p:sp>
        <p:nvSpPr>
          <p:cNvPr id="15" name="Text 13"/>
          <p:cNvSpPr/>
          <p:nvPr/>
        </p:nvSpPr>
        <p:spPr>
          <a:xfrm>
            <a:off x="5795489" y="5338311"/>
            <a:ext cx="5996708" cy="504130"/>
          </a:xfrm>
          <a:prstGeom prst="rect">
            <a:avLst/>
          </a:prstGeom>
          <a:noFill/>
          <a:ln/>
        </p:spPr>
        <p:txBody>
          <a:bodyPr wrap="square" lIns="0" tIns="0" rIns="0" bIns="0" rtlCol="0" anchor="t">
            <a:normAutofit/>
          </a:bodyPr>
          <a:lstStyle/>
          <a:p>
            <a:pPr marL="0" indent="0" algn="l">
              <a:lnSpc>
                <a:spcPts val="1885"/>
              </a:lnSpc>
              <a:buNone/>
            </a:pPr>
            <a:r>
              <a:rPr lang="en-US" b="1" dirty="0">
                <a:solidFill>
                  <a:srgbClr val="A9520F"/>
                </a:solidFill>
                <a:latin typeface="IBM Plex Sans" pitchFamily="34" charset="0"/>
                <a:ea typeface="IBM Plex Sans" pitchFamily="34" charset="-122"/>
                <a:cs typeface="IBM Plex Sans" pitchFamily="34" charset="-120"/>
              </a:rPr>
              <a:t>The catch: the result is only as good as the probabilities inside simulate_S_T().</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THE PRICING PROBLEM · STEP 3 OF 3</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Put together: the “discounted expected payoff” recipe</a:t>
            </a:r>
            <a:endParaRPr lang="en-US" sz="3000" dirty="0"/>
          </a:p>
        </p:txBody>
      </p:sp>
      <p:sp>
        <p:nvSpPr>
          <p:cNvPr id="4" name="Text 2"/>
          <p:cNvSpPr/>
          <p:nvPr/>
        </p:nvSpPr>
        <p:spPr>
          <a:xfrm>
            <a:off x="812800" y="1460500"/>
            <a:ext cx="10883392" cy="28317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Example: a stock at 100 will be at 110 or 90 one period from now. A call with K = 100. Risk-free growth R = 1.02.</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959570"/>
          <a:ext cx="10553700" cy="2316066"/>
        </p:xfrm>
        <a:graphic>
          <a:graphicData uri="http://schemas.openxmlformats.org/drawingml/2006/table">
            <a:tbl>
              <a:tblPr/>
              <a:tblGrid>
                <a:gridCol w="633222">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5698998">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Step</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Our example</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2B65C8"/>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List the possible futures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S = 110 or S = 90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2B65C8"/>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Payoff in each future</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max(110−100,0)=10 · max(90−100,0)=0</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2B65C8"/>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Assign probabilities (a forecast)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p = 0.7 up · 1 − p = 0.3 down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2B65C8"/>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Average: expected payoff</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0.7·10 + 0.3·0 = 7.00</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2B65C8"/>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Discount to today</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7.00 / 1.02 = 6.86</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812800" y="4504234"/>
            <a:ext cx="10883392" cy="355600"/>
          </a:xfrm>
          <a:prstGeom prst="rect">
            <a:avLst/>
          </a:prstGeom>
          <a:noFill/>
          <a:ln/>
        </p:spPr>
        <p:txBody>
          <a:bodyPr wrap="square" lIns="0" tIns="0" rIns="0" bIns="0" rtlCol="0" anchor="t">
            <a:normAutofit fontScale="92500"/>
          </a:bodyPr>
          <a:lstStyle/>
          <a:p>
            <a:pPr marL="0" indent="0" algn="l">
              <a:lnSpc>
                <a:spcPts val="2600"/>
              </a:lnSpc>
              <a:buNone/>
            </a:pPr>
            <a:r>
              <a:rPr lang="en-US" sz="2000" i="1" dirty="0">
                <a:solidFill>
                  <a:srgbClr val="14202E"/>
                </a:solidFill>
                <a:latin typeface="Source Serif 4" pitchFamily="18" charset="0"/>
                <a:ea typeface="Source Serif 4" pitchFamily="18" charset="-122"/>
                <a:cs typeface="Source Serif 4" pitchFamily="18" charset="-120"/>
              </a:rPr>
              <a:t>Looks sensible ... but .. soon we will see that at 6.86, </a:t>
            </a:r>
            <a:r>
              <a:rPr lang="en-US" sz="2000" i="1" u="sng" dirty="0">
                <a:solidFill>
                  <a:srgbClr val="14202E"/>
                </a:solidFill>
                <a:latin typeface="Source Serif 4" pitchFamily="18" charset="0"/>
                <a:ea typeface="Source Serif 4" pitchFamily="18" charset="-122"/>
                <a:cs typeface="Source Serif 4" pitchFamily="18" charset="-120"/>
              </a:rPr>
              <a:t>someone else makes free money (and that we don't like!)</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THE PRICING PROBLEM</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Why the recipe breaks: two inputs nobody agrees on</a:t>
            </a:r>
            <a:endParaRPr lang="en-US" sz="3000" dirty="0"/>
          </a:p>
        </p:txBody>
      </p:sp>
      <p:sp>
        <p:nvSpPr>
          <p:cNvPr id="4" name="Text 2"/>
          <p:cNvSpPr/>
          <p:nvPr/>
        </p:nvSpPr>
        <p:spPr>
          <a:xfrm>
            <a:off x="812800" y="1536700"/>
            <a:ext cx="10566400" cy="797520"/>
          </a:xfrm>
          <a:prstGeom prst="roundRect">
            <a:avLst>
              <a:gd name="adj" fmla="val 12739"/>
            </a:avLst>
          </a:prstGeom>
          <a:solidFill>
            <a:srgbClr val="ECE8DC"/>
          </a:solidFill>
          <a:ln/>
        </p:spPr>
        <p:txBody>
          <a:bodyPr wrap="square" lIns="224242" tIns="173442" rIns="0" bIns="148042" rtlCol="0" anchor="t">
            <a:normAutofit/>
          </a:bodyPr>
          <a:lstStyle/>
          <a:p>
            <a:pPr marL="0" indent="0" algn="l">
              <a:lnSpc>
                <a:spcPts val="3080"/>
              </a:lnSpc>
              <a:buNone/>
            </a:pPr>
            <a:r>
              <a:rPr lang="en-US" sz="2200" dirty="0">
                <a:solidFill>
                  <a:srgbClr val="14202E"/>
                </a:solidFill>
                <a:latin typeface="JetBrains Mono" pitchFamily="49" charset="0"/>
                <a:ea typeface="JetBrains Mono" pitchFamily="49" charset="-122"/>
                <a:cs typeface="JetBrains Mono" pitchFamily="49" charset="-120"/>
              </a:rPr>
              <a:t>V₀ = E</a:t>
            </a:r>
            <a:r>
              <a:rPr lang="en-US" sz="2200" dirty="0">
                <a:solidFill>
                  <a:srgbClr val="A9520F"/>
                </a:solidFill>
                <a:latin typeface="JetBrains Mono" pitchFamily="49" charset="0"/>
                <a:ea typeface="JetBrains Mono" pitchFamily="49" charset="-122"/>
                <a:cs typeface="JetBrains Mono" pitchFamily="49" charset="-120"/>
              </a:rPr>
              <a:t>ᵖ</a:t>
            </a:r>
            <a:r>
              <a:rPr lang="en-US" sz="2200" dirty="0">
                <a:solidFill>
                  <a:srgbClr val="14202E"/>
                </a:solidFill>
                <a:latin typeface="JetBrains Mono" pitchFamily="49" charset="0"/>
                <a:ea typeface="JetBrains Mono" pitchFamily="49" charset="-122"/>
                <a:cs typeface="JetBrains Mono" pitchFamily="49" charset="-120"/>
              </a:rPr>
              <a:t>[ payoff ] / (1 + </a:t>
            </a:r>
            <a:r>
              <a:rPr lang="en-US" sz="2200" dirty="0">
                <a:solidFill>
                  <a:srgbClr val="A9520F"/>
                </a:solidFill>
                <a:latin typeface="JetBrains Mono" pitchFamily="49" charset="0"/>
                <a:ea typeface="JetBrains Mono" pitchFamily="49" charset="-122"/>
                <a:cs typeface="JetBrains Mono" pitchFamily="49" charset="-120"/>
              </a:rPr>
              <a:t>μ</a:t>
            </a:r>
            <a:r>
              <a:rPr lang="en-US" sz="2200" dirty="0">
                <a:solidFill>
                  <a:srgbClr val="14202E"/>
                </a:solidFill>
                <a:latin typeface="JetBrains Mono" pitchFamily="49" charset="0"/>
                <a:ea typeface="JetBrains Mono" pitchFamily="49" charset="-122"/>
                <a:cs typeface="JetBrains Mono" pitchFamily="49" charset="-120"/>
              </a:rPr>
              <a:t>)ᵀ ← ?</a:t>
            </a:r>
            <a:endParaRPr lang="en-US" sz="2200" dirty="0"/>
          </a:p>
        </p:txBody>
      </p:sp>
      <p:sp>
        <p:nvSpPr>
          <p:cNvPr id="5" name="Shape 3"/>
          <p:cNvSpPr/>
          <p:nvPr/>
        </p:nvSpPr>
        <p:spPr>
          <a:xfrm>
            <a:off x="815975" y="2642195"/>
            <a:ext cx="3380284" cy="1600051"/>
          </a:xfrm>
          <a:prstGeom prst="roundRect">
            <a:avLst>
              <a:gd name="adj" fmla="val 6151"/>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6" name="Text 4"/>
          <p:cNvSpPr/>
          <p:nvPr/>
        </p:nvSpPr>
        <p:spPr>
          <a:xfrm>
            <a:off x="1047750" y="2873970"/>
            <a:ext cx="300423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E"/>
                </a:solidFill>
                <a:latin typeface="IBM Plex Sans" pitchFamily="34" charset="0"/>
                <a:ea typeface="IBM Plex Sans" pitchFamily="34" charset="-122"/>
                <a:cs typeface="IBM Plex Sans" pitchFamily="34" charset="-120"/>
              </a:rPr>
              <a:t>Whose probability p?</a:t>
            </a:r>
            <a:endParaRPr lang="en-US" sz="1800" dirty="0"/>
          </a:p>
        </p:txBody>
      </p:sp>
      <p:sp>
        <p:nvSpPr>
          <p:cNvPr id="7" name="Text 5"/>
          <p:cNvSpPr/>
          <p:nvPr/>
        </p:nvSpPr>
        <p:spPr>
          <a:xfrm>
            <a:off x="1047750" y="3237161"/>
            <a:ext cx="3004236"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The real chance of an up-move is unobservable. A bull and a bear would plug in different values.</a:t>
            </a:r>
            <a:endParaRPr lang="en-US" sz="1400" dirty="0"/>
          </a:p>
        </p:txBody>
      </p:sp>
      <p:sp>
        <p:nvSpPr>
          <p:cNvPr id="8" name="Shape 6"/>
          <p:cNvSpPr/>
          <p:nvPr/>
        </p:nvSpPr>
        <p:spPr>
          <a:xfrm>
            <a:off x="4405809" y="2642195"/>
            <a:ext cx="3380333" cy="1600051"/>
          </a:xfrm>
          <a:prstGeom prst="roundRect">
            <a:avLst>
              <a:gd name="adj" fmla="val 6151"/>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9" name="Text 7"/>
          <p:cNvSpPr/>
          <p:nvPr/>
        </p:nvSpPr>
        <p:spPr>
          <a:xfrm>
            <a:off x="4637584" y="2873970"/>
            <a:ext cx="300428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E"/>
                </a:solidFill>
                <a:latin typeface="IBM Plex Sans" pitchFamily="34" charset="0"/>
                <a:ea typeface="IBM Plex Sans" pitchFamily="34" charset="-122"/>
                <a:cs typeface="IBM Plex Sans" pitchFamily="34" charset="-120"/>
              </a:rPr>
              <a:t>Which discount rate μ?</a:t>
            </a:r>
            <a:endParaRPr lang="en-US" sz="1800" dirty="0"/>
          </a:p>
        </p:txBody>
      </p:sp>
      <p:sp>
        <p:nvSpPr>
          <p:cNvPr id="10" name="Text 8"/>
          <p:cNvSpPr/>
          <p:nvPr/>
        </p:nvSpPr>
        <p:spPr>
          <a:xfrm>
            <a:off x="4637584" y="3237161"/>
            <a:ext cx="3004287"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An option is riskier than the stock — and its riskiness changes as the price moves. No single rate fits.</a:t>
            </a:r>
            <a:endParaRPr lang="en-US" sz="1400" dirty="0"/>
          </a:p>
        </p:txBody>
      </p:sp>
      <p:sp>
        <p:nvSpPr>
          <p:cNvPr id="11" name="Shape 9"/>
          <p:cNvSpPr/>
          <p:nvPr/>
        </p:nvSpPr>
        <p:spPr>
          <a:xfrm>
            <a:off x="7995692" y="2642195"/>
            <a:ext cx="3380333" cy="1600051"/>
          </a:xfrm>
          <a:prstGeom prst="roundRect">
            <a:avLst>
              <a:gd name="adj" fmla="val 6151"/>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2" name="Text 10"/>
          <p:cNvSpPr/>
          <p:nvPr/>
        </p:nvSpPr>
        <p:spPr>
          <a:xfrm>
            <a:off x="8227467" y="2873970"/>
            <a:ext cx="300428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E"/>
                </a:solidFill>
                <a:latin typeface="IBM Plex Sans" pitchFamily="34" charset="0"/>
                <a:ea typeface="IBM Plex Sans" pitchFamily="34" charset="-122"/>
                <a:cs typeface="IBM Plex Sans" pitchFamily="34" charset="-120"/>
              </a:rPr>
              <a:t>Many prices</a:t>
            </a:r>
            <a:endParaRPr lang="en-US" sz="1800" dirty="0"/>
          </a:p>
        </p:txBody>
      </p:sp>
      <p:sp>
        <p:nvSpPr>
          <p:cNvPr id="13" name="Text 11"/>
          <p:cNvSpPr/>
          <p:nvPr/>
        </p:nvSpPr>
        <p:spPr>
          <a:xfrm>
            <a:off x="8227467" y="3237161"/>
            <a:ext cx="3004287"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Different opinions give different “fair” values. A market needs one price that everyone can agree on.</a:t>
            </a:r>
            <a:endParaRPr lang="en-US" sz="1400" dirty="0"/>
          </a:p>
        </p:txBody>
      </p:sp>
      <p:sp>
        <p:nvSpPr>
          <p:cNvPr id="14" name="Text 12"/>
          <p:cNvSpPr/>
          <p:nvPr/>
        </p:nvSpPr>
        <p:spPr>
          <a:xfrm>
            <a:off x="812800" y="4550221"/>
            <a:ext cx="10883392" cy="32003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14202E"/>
                </a:solidFill>
                <a:latin typeface="IBM Plex Sans" pitchFamily="34" charset="0"/>
                <a:ea typeface="IBM Plex Sans" pitchFamily="34" charset="-122"/>
                <a:cs typeface="IBM Plex Sans" pitchFamily="34" charset="-120"/>
              </a:rPr>
              <a:t>We will keep p in the model — and watch it disappear.</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15" name="Shape 3">
            <a:extLst>
              <a:ext uri="{FF2B5EF4-FFF2-40B4-BE49-F238E27FC236}">
                <a16:creationId xmlns:a16="http://schemas.microsoft.com/office/drawing/2014/main" id="{E4E2B327-D89D-7194-560A-0E9A78682A38}"/>
              </a:ext>
            </a:extLst>
          </p:cNvPr>
          <p:cNvSpPr/>
          <p:nvPr/>
        </p:nvSpPr>
        <p:spPr>
          <a:xfrm>
            <a:off x="677240" y="3809850"/>
            <a:ext cx="5447846" cy="1797305"/>
          </a:xfrm>
          <a:prstGeom prst="roundRect">
            <a:avLst>
              <a:gd name="adj" fmla="val 6151"/>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6" name="Shape 3">
            <a:extLst>
              <a:ext uri="{FF2B5EF4-FFF2-40B4-BE49-F238E27FC236}">
                <a16:creationId xmlns:a16="http://schemas.microsoft.com/office/drawing/2014/main" id="{8F952B5D-F7A5-2729-CF68-7A3858174475}"/>
              </a:ext>
            </a:extLst>
          </p:cNvPr>
          <p:cNvSpPr/>
          <p:nvPr/>
        </p:nvSpPr>
        <p:spPr>
          <a:xfrm>
            <a:off x="6436996" y="3798823"/>
            <a:ext cx="5259196" cy="1797305"/>
          </a:xfrm>
          <a:prstGeom prst="roundRect">
            <a:avLst>
              <a:gd name="adj" fmla="val 6151"/>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01 · THE PRICING PROBLEM · ARBITRAGE</a:t>
            </a:r>
            <a:endParaRPr lang="en-US" sz="1200"/>
          </a:p>
        </p:txBody>
      </p:sp>
      <p:sp>
        <p:nvSpPr>
          <p:cNvPr id="3" name="Text 1"/>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14202E"/>
                </a:solidFill>
                <a:latin typeface="Source Serif 4" pitchFamily="18" charset="0"/>
                <a:ea typeface="Source Serif 4" pitchFamily="18" charset="-122"/>
                <a:cs typeface="Source Serif 4" pitchFamily="18" charset="-120"/>
              </a:rPr>
              <a:t>Arbitrage locks in a gain without a market bet</a:t>
            </a:r>
            <a:endParaRPr lang="en-US" sz="3000"/>
          </a:p>
        </p:txBody>
      </p:sp>
      <p:sp>
        <p:nvSpPr>
          <p:cNvPr id="4" name="TextBox 3"/>
          <p:cNvSpPr txBox="1"/>
          <p:nvPr/>
        </p:nvSpPr>
        <p:spPr>
          <a:xfrm>
            <a:off x="812901" y="1481328"/>
            <a:ext cx="10515600" cy="685800"/>
          </a:xfrm>
          <a:prstGeom prst="rect">
            <a:avLst/>
          </a:prstGeom>
          <a:noFill/>
        </p:spPr>
        <p:txBody>
          <a:bodyPr wrap="square" lIns="0" tIns="0" rIns="0" bIns="0">
            <a:spAutoFit/>
          </a:bodyPr>
          <a:lstStyle/>
          <a:p>
            <a:pPr>
              <a:spcBef>
                <a:spcPts val="0"/>
              </a:spcBef>
              <a:spcAft>
                <a:spcPts val="0"/>
              </a:spcAft>
            </a:pPr>
            <a:r>
              <a:rPr sz="2100" b="0">
                <a:solidFill>
                  <a:srgbClr val="14202E"/>
                </a:solidFill>
                <a:latin typeface="IBM Plex Sans"/>
              </a:rPr>
              <a:t>The intuition: buy something cheaply and simultaneously sell an identical claim for more. The matching positions cancel the future risk.</a:t>
            </a:r>
          </a:p>
        </p:txBody>
      </p:sp>
      <p:sp>
        <p:nvSpPr>
          <p:cNvPr id="5" name="TextBox 4"/>
          <p:cNvSpPr txBox="1"/>
          <p:nvPr/>
        </p:nvSpPr>
        <p:spPr>
          <a:xfrm>
            <a:off x="812901" y="2514600"/>
            <a:ext cx="3108960" cy="320040"/>
          </a:xfrm>
          <a:prstGeom prst="rect">
            <a:avLst/>
          </a:prstGeom>
          <a:noFill/>
        </p:spPr>
        <p:txBody>
          <a:bodyPr wrap="square" lIns="0" tIns="0" rIns="0" bIns="0">
            <a:spAutoFit/>
          </a:bodyPr>
          <a:lstStyle/>
          <a:p>
            <a:pPr>
              <a:spcBef>
                <a:spcPts val="0"/>
              </a:spcBef>
              <a:spcAft>
                <a:spcPts val="0"/>
              </a:spcAft>
            </a:pPr>
            <a:r>
              <a:rPr sz="1300" b="1">
                <a:solidFill>
                  <a:srgbClr val="2B65C8"/>
                </a:solidFill>
                <a:latin typeface="IBM Plex Sans"/>
              </a:rPr>
              <a:t>VENUE A: BUY ONE SHARE</a:t>
            </a:r>
          </a:p>
        </p:txBody>
      </p:sp>
      <p:sp>
        <p:nvSpPr>
          <p:cNvPr id="6" name="TextBox 5"/>
          <p:cNvSpPr txBox="1"/>
          <p:nvPr/>
        </p:nvSpPr>
        <p:spPr>
          <a:xfrm>
            <a:off x="812901" y="2926080"/>
            <a:ext cx="3108960" cy="731520"/>
          </a:xfrm>
          <a:prstGeom prst="rect">
            <a:avLst/>
          </a:prstGeom>
          <a:noFill/>
        </p:spPr>
        <p:txBody>
          <a:bodyPr wrap="square" lIns="0" tIns="0" rIns="0" bIns="0">
            <a:spAutoFit/>
          </a:bodyPr>
          <a:lstStyle/>
          <a:p>
            <a:pPr>
              <a:spcBef>
                <a:spcPts val="0"/>
              </a:spcBef>
              <a:spcAft>
                <a:spcPts val="0"/>
              </a:spcAft>
            </a:pPr>
            <a:r>
              <a:rPr sz="4800" b="1">
                <a:solidFill>
                  <a:srgbClr val="2B65C8"/>
                </a:solidFill>
                <a:latin typeface="Source Serif 4"/>
              </a:rPr>
              <a:t>$99</a:t>
            </a:r>
          </a:p>
        </p:txBody>
      </p:sp>
      <p:sp>
        <p:nvSpPr>
          <p:cNvPr id="7" name="TextBox 6"/>
          <p:cNvSpPr txBox="1"/>
          <p:nvPr/>
        </p:nvSpPr>
        <p:spPr>
          <a:xfrm>
            <a:off x="4553712" y="2514600"/>
            <a:ext cx="3108960" cy="320040"/>
          </a:xfrm>
          <a:prstGeom prst="rect">
            <a:avLst/>
          </a:prstGeom>
          <a:noFill/>
        </p:spPr>
        <p:txBody>
          <a:bodyPr wrap="square" lIns="0" tIns="0" rIns="0" bIns="0">
            <a:spAutoFit/>
          </a:bodyPr>
          <a:lstStyle/>
          <a:p>
            <a:pPr>
              <a:spcBef>
                <a:spcPts val="0"/>
              </a:spcBef>
              <a:spcAft>
                <a:spcPts val="0"/>
              </a:spcAft>
            </a:pPr>
            <a:r>
              <a:rPr sz="1300" b="1">
                <a:solidFill>
                  <a:srgbClr val="A9520F"/>
                </a:solidFill>
                <a:latin typeface="IBM Plex Sans"/>
              </a:rPr>
              <a:t>VENUE B: SELL THE SAME SHARE</a:t>
            </a:r>
          </a:p>
        </p:txBody>
      </p:sp>
      <p:sp>
        <p:nvSpPr>
          <p:cNvPr id="8" name="TextBox 7"/>
          <p:cNvSpPr txBox="1"/>
          <p:nvPr/>
        </p:nvSpPr>
        <p:spPr>
          <a:xfrm>
            <a:off x="4553712" y="2926080"/>
            <a:ext cx="3108960" cy="731520"/>
          </a:xfrm>
          <a:prstGeom prst="rect">
            <a:avLst/>
          </a:prstGeom>
          <a:noFill/>
        </p:spPr>
        <p:txBody>
          <a:bodyPr wrap="square" lIns="0" tIns="0" rIns="0" bIns="0">
            <a:spAutoFit/>
          </a:bodyPr>
          <a:lstStyle/>
          <a:p>
            <a:pPr>
              <a:spcBef>
                <a:spcPts val="0"/>
              </a:spcBef>
              <a:spcAft>
                <a:spcPts val="0"/>
              </a:spcAft>
            </a:pPr>
            <a:r>
              <a:rPr sz="4800" b="1">
                <a:solidFill>
                  <a:srgbClr val="A9520F"/>
                </a:solidFill>
                <a:latin typeface="Source Serif 4"/>
              </a:rPr>
              <a:t>$101</a:t>
            </a:r>
          </a:p>
        </p:txBody>
      </p:sp>
      <p:sp>
        <p:nvSpPr>
          <p:cNvPr id="9" name="TextBox 8"/>
          <p:cNvSpPr txBox="1"/>
          <p:nvPr/>
        </p:nvSpPr>
        <p:spPr>
          <a:xfrm>
            <a:off x="8321040" y="2514600"/>
            <a:ext cx="3017520" cy="320040"/>
          </a:xfrm>
          <a:prstGeom prst="rect">
            <a:avLst/>
          </a:prstGeom>
          <a:noFill/>
        </p:spPr>
        <p:txBody>
          <a:bodyPr wrap="square" lIns="0" tIns="0" rIns="0" bIns="0">
            <a:spAutoFit/>
          </a:bodyPr>
          <a:lstStyle/>
          <a:p>
            <a:pPr>
              <a:spcBef>
                <a:spcPts val="0"/>
              </a:spcBef>
              <a:spcAft>
                <a:spcPts val="0"/>
              </a:spcAft>
            </a:pPr>
            <a:r>
              <a:rPr sz="1300" b="1">
                <a:solidFill>
                  <a:srgbClr val="14202E"/>
                </a:solidFill>
                <a:latin typeface="IBM Plex Sans"/>
              </a:rPr>
              <a:t>LOCKED-IN DIFFERENCE</a:t>
            </a:r>
          </a:p>
        </p:txBody>
      </p:sp>
      <p:sp>
        <p:nvSpPr>
          <p:cNvPr id="10" name="TextBox 9"/>
          <p:cNvSpPr txBox="1"/>
          <p:nvPr/>
        </p:nvSpPr>
        <p:spPr>
          <a:xfrm>
            <a:off x="8321040" y="2926080"/>
            <a:ext cx="3017520" cy="731520"/>
          </a:xfrm>
          <a:prstGeom prst="rect">
            <a:avLst/>
          </a:prstGeom>
          <a:noFill/>
        </p:spPr>
        <p:txBody>
          <a:bodyPr wrap="square" lIns="0" tIns="0" rIns="0" bIns="0">
            <a:spAutoFit/>
          </a:bodyPr>
          <a:lstStyle/>
          <a:p>
            <a:pPr>
              <a:spcBef>
                <a:spcPts val="0"/>
              </a:spcBef>
              <a:spcAft>
                <a:spcPts val="0"/>
              </a:spcAft>
            </a:pPr>
            <a:r>
              <a:rPr sz="4800" b="1">
                <a:solidFill>
                  <a:srgbClr val="14202E"/>
                </a:solidFill>
                <a:latin typeface="Source Serif 4"/>
              </a:rPr>
              <a:t>$2</a:t>
            </a:r>
          </a:p>
        </p:txBody>
      </p:sp>
      <p:sp>
        <p:nvSpPr>
          <p:cNvPr id="11" name="TextBox 10"/>
          <p:cNvSpPr txBox="1"/>
          <p:nvPr/>
        </p:nvSpPr>
        <p:spPr>
          <a:xfrm>
            <a:off x="812901" y="3937000"/>
            <a:ext cx="5059579" cy="1477328"/>
          </a:xfrm>
          <a:prstGeom prst="rect">
            <a:avLst/>
          </a:prstGeom>
          <a:noFill/>
        </p:spPr>
        <p:txBody>
          <a:bodyPr wrap="square" lIns="0" tIns="0" rIns="0" bIns="0">
            <a:spAutoFit/>
          </a:bodyPr>
          <a:lstStyle/>
          <a:p>
            <a:pPr>
              <a:spcBef>
                <a:spcPts val="0"/>
              </a:spcBef>
              <a:spcAft>
                <a:spcPts val="0"/>
              </a:spcAft>
            </a:pPr>
            <a:r>
              <a:rPr lang="en-GB" sz="1600" b="0" dirty="0">
                <a:solidFill>
                  <a:srgbClr val="44505E"/>
                </a:solidFill>
                <a:latin typeface="IBM Plex Sans"/>
              </a:rPr>
              <a:t>The sale brings in $101 and the purchase costs $99, leaving $2. </a:t>
            </a:r>
            <a:br>
              <a:rPr lang="en-GB" sz="1600" b="0" dirty="0">
                <a:solidFill>
                  <a:srgbClr val="44505E"/>
                </a:solidFill>
                <a:latin typeface="IBM Plex Sans"/>
              </a:rPr>
            </a:br>
            <a:br>
              <a:rPr lang="en-GB" sz="1600" b="0" dirty="0">
                <a:solidFill>
                  <a:srgbClr val="44505E"/>
                </a:solidFill>
                <a:latin typeface="IBM Plex Sans"/>
              </a:rPr>
            </a:br>
            <a:r>
              <a:rPr lang="en-GB" sz="1600" b="0" dirty="0">
                <a:solidFill>
                  <a:srgbClr val="44505E"/>
                </a:solidFill>
                <a:latin typeface="IBM Plex Sans"/>
              </a:rPr>
              <a:t>The purchased share fulfils the sale’s delivery obligation, so no stock-price exposure remains once both trades are locked in</a:t>
            </a:r>
            <a:endParaRPr sz="1600" b="0" dirty="0">
              <a:solidFill>
                <a:srgbClr val="44505E"/>
              </a:solidFill>
              <a:latin typeface="IBM Plex Sans"/>
            </a:endParaRPr>
          </a:p>
        </p:txBody>
      </p:sp>
      <p:sp>
        <p:nvSpPr>
          <p:cNvPr id="12" name="TextBox 11"/>
          <p:cNvSpPr txBox="1"/>
          <p:nvPr/>
        </p:nvSpPr>
        <p:spPr>
          <a:xfrm>
            <a:off x="6553199" y="3977640"/>
            <a:ext cx="4961561" cy="492443"/>
          </a:xfrm>
          <a:prstGeom prst="rect">
            <a:avLst/>
          </a:prstGeom>
          <a:noFill/>
        </p:spPr>
        <p:txBody>
          <a:bodyPr wrap="square" lIns="0" tIns="0" rIns="0" bIns="0">
            <a:spAutoFit/>
          </a:bodyPr>
          <a:lstStyle/>
          <a:p>
            <a:pPr>
              <a:spcBef>
                <a:spcPts val="0"/>
              </a:spcBef>
              <a:spcAft>
                <a:spcPts val="0"/>
              </a:spcAft>
            </a:pPr>
            <a:r>
              <a:rPr sz="1600" b="0" dirty="0">
                <a:solidFill>
                  <a:srgbClr val="44505E"/>
                </a:solidFill>
                <a:latin typeface="IBM Plex Sans"/>
              </a:rPr>
              <a:t>Buying at $99 and hoping to sell at $101 tomorrow leaves price risk. That is speculation.</a:t>
            </a:r>
          </a:p>
        </p:txBody>
      </p:sp>
      <p:sp>
        <p:nvSpPr>
          <p:cNvPr id="13" name="TextBox 12"/>
          <p:cNvSpPr txBox="1"/>
          <p:nvPr/>
        </p:nvSpPr>
        <p:spPr>
          <a:xfrm>
            <a:off x="812901" y="5890768"/>
            <a:ext cx="10515600" cy="576072"/>
          </a:xfrm>
          <a:prstGeom prst="rect">
            <a:avLst/>
          </a:prstGeom>
          <a:noFill/>
        </p:spPr>
        <p:txBody>
          <a:bodyPr wrap="square" lIns="0" tIns="0" rIns="0" bIns="0">
            <a:spAutoFit/>
          </a:bodyPr>
          <a:lstStyle/>
          <a:p>
            <a:pPr>
              <a:spcBef>
                <a:spcPts val="0"/>
              </a:spcBef>
              <a:spcAft>
                <a:spcPts val="0"/>
              </a:spcAft>
            </a:pPr>
            <a:r>
              <a:rPr sz="2100" b="0" dirty="0">
                <a:solidFill>
                  <a:srgbClr val="14202E"/>
                </a:solidFill>
                <a:latin typeface="Source Serif 4"/>
              </a:rPr>
              <a:t>Formal idea: zero initial net investment, no possible loss, and a positive probability of profit.</a:t>
            </a:r>
          </a:p>
        </p:txBody>
      </p:sp>
      <p:sp>
        <p:nvSpPr>
          <p:cNvPr id="14" name="TextBox 13"/>
          <p:cNvSpPr txBox="1"/>
          <p:nvPr/>
        </p:nvSpPr>
        <p:spPr>
          <a:xfrm>
            <a:off x="812901" y="6364224"/>
            <a:ext cx="10515600" cy="169277"/>
          </a:xfrm>
          <a:prstGeom prst="rect">
            <a:avLst/>
          </a:prstGeom>
          <a:noFill/>
        </p:spPr>
        <p:txBody>
          <a:bodyPr wrap="square" lIns="0" tIns="0" rIns="0" bIns="0">
            <a:spAutoFit/>
          </a:bodyPr>
          <a:lstStyle/>
          <a:p>
            <a:pPr>
              <a:spcBef>
                <a:spcPts val="0"/>
              </a:spcBef>
              <a:spcAft>
                <a:spcPts val="0"/>
              </a:spcAft>
            </a:pPr>
            <a:r>
              <a:rPr sz="1100" b="0" i="1" dirty="0">
                <a:solidFill>
                  <a:srgbClr val="44505E"/>
                </a:solidFill>
                <a:latin typeface="IBM Plex Sans"/>
              </a:rPr>
              <a:t>Illustrative quotes. Same security and settlement; simultaneous execution; no fees, taxes, funding or delivery risk.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01 · THE PRICING PROBLEM · ARBITRAGE</a:t>
            </a:r>
            <a:endParaRPr lang="en-US" sz="1200"/>
          </a:p>
        </p:txBody>
      </p:sp>
      <p:sp>
        <p:nvSpPr>
          <p:cNvPr id="3" name="Text 1"/>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14202E"/>
                </a:solidFill>
                <a:latin typeface="Source Serif 4" pitchFamily="18" charset="0"/>
                <a:ea typeface="Source Serif 4" pitchFamily="18" charset="-122"/>
                <a:cs typeface="Source Serif 4" pitchFamily="18" charset="-120"/>
              </a:rPr>
              <a:t>No-arbitrage means matching payoffs have one price</a:t>
            </a:r>
            <a:endParaRPr lang="en-US" sz="3000"/>
          </a:p>
        </p:txBody>
      </p:sp>
      <p:sp>
        <p:nvSpPr>
          <p:cNvPr id="4" name="TextBox 3"/>
          <p:cNvSpPr txBox="1"/>
          <p:nvPr/>
        </p:nvSpPr>
        <p:spPr>
          <a:xfrm>
            <a:off x="812901" y="1508760"/>
            <a:ext cx="10515600" cy="667512"/>
          </a:xfrm>
          <a:prstGeom prst="rect">
            <a:avLst/>
          </a:prstGeom>
          <a:noFill/>
        </p:spPr>
        <p:txBody>
          <a:bodyPr wrap="square" lIns="0" tIns="0" rIns="0" bIns="0">
            <a:spAutoFit/>
          </a:bodyPr>
          <a:lstStyle/>
          <a:p>
            <a:pPr>
              <a:spcBef>
                <a:spcPts val="0"/>
              </a:spcBef>
              <a:spcAft>
                <a:spcPts val="0"/>
              </a:spcAft>
            </a:pPr>
            <a:r>
              <a:rPr sz="2100" b="0">
                <a:solidFill>
                  <a:srgbClr val="14202E"/>
                </a:solidFill>
                <a:latin typeface="IBM Plex Sans"/>
              </a:rPr>
              <a:t>No-arbitrage rules out a free-profit strategy. If two tradable portfolios deliver identical cash flows in every state, their prices today must match.</a:t>
            </a:r>
          </a:p>
        </p:txBody>
      </p:sp>
      <p:graphicFrame>
        <p:nvGraphicFramePr>
          <p:cNvPr id="5" name="Table 4"/>
          <p:cNvGraphicFramePr>
            <a:graphicFrameLocks noGrp="1"/>
          </p:cNvGraphicFramePr>
          <p:nvPr/>
        </p:nvGraphicFramePr>
        <p:xfrm>
          <a:off x="812901" y="2514600"/>
          <a:ext cx="10561320" cy="2304288"/>
        </p:xfrm>
        <a:graphic>
          <a:graphicData uri="http://schemas.openxmlformats.org/drawingml/2006/table">
            <a:tbl>
              <a:tblPr firstRow="1" bandRow="1">
                <a:tableStyleId>{5C22544A-7EE6-4342-B048-85BDC9FD1C3A}</a:tableStyleId>
              </a:tblPr>
              <a:tblGrid>
                <a:gridCol w="333756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576072">
                <a:tc>
                  <a:txBody>
                    <a:bodyPr/>
                    <a:lstStyle/>
                    <a:p>
                      <a:r>
                        <a:rPr sz="1800" b="1">
                          <a:solidFill>
                            <a:srgbClr val="FFFFFF"/>
                          </a:solidFill>
                          <a:latin typeface="IBM Plex Sans"/>
                        </a:rPr>
                        <a:t>Illustrative claim</a:t>
                      </a:r>
                    </a:p>
                  </a:txBody>
                  <a:tcPr marL="109728" marT="91440" marB="54864">
                    <a:solidFill>
                      <a:srgbClr val="14202E"/>
                    </a:solidFill>
                  </a:tcPr>
                </a:tc>
                <a:tc>
                  <a:txBody>
                    <a:bodyPr/>
                    <a:lstStyle/>
                    <a:p>
                      <a:r>
                        <a:rPr sz="1800" b="1">
                          <a:solidFill>
                            <a:srgbClr val="FFFFFF"/>
                          </a:solidFill>
                          <a:latin typeface="IBM Plex Sans"/>
                        </a:rPr>
                        <a:t>Price today</a:t>
                      </a:r>
                    </a:p>
                  </a:txBody>
                  <a:tcPr marL="109728" marT="91440" marB="54864">
                    <a:solidFill>
                      <a:srgbClr val="14202E"/>
                    </a:solidFill>
                  </a:tcPr>
                </a:tc>
                <a:tc>
                  <a:txBody>
                    <a:bodyPr/>
                    <a:lstStyle/>
                    <a:p>
                      <a:r>
                        <a:rPr sz="1800" b="1">
                          <a:solidFill>
                            <a:srgbClr val="FFFFFF"/>
                          </a:solidFill>
                          <a:latin typeface="IBM Plex Sans"/>
                        </a:rPr>
                        <a:t>Up-state payoff</a:t>
                      </a:r>
                    </a:p>
                  </a:txBody>
                  <a:tcPr marL="109728" marT="91440" marB="54864">
                    <a:solidFill>
                      <a:srgbClr val="14202E"/>
                    </a:solidFill>
                  </a:tcPr>
                </a:tc>
                <a:tc>
                  <a:txBody>
                    <a:bodyPr/>
                    <a:lstStyle/>
                    <a:p>
                      <a:r>
                        <a:rPr sz="1800" b="1">
                          <a:solidFill>
                            <a:srgbClr val="FFFFFF"/>
                          </a:solidFill>
                          <a:latin typeface="IBM Plex Sans"/>
                        </a:rPr>
                        <a:t>Down-state payoff</a:t>
                      </a:r>
                    </a:p>
                  </a:txBody>
                  <a:tcPr marL="109728" marT="91440" marB="54864">
                    <a:solidFill>
                      <a:srgbClr val="14202E"/>
                    </a:solidFill>
                  </a:tcPr>
                </a:tc>
                <a:extLst>
                  <a:ext uri="{0D108BD9-81ED-4DB2-BD59-A6C34878D82A}">
                    <a16:rowId xmlns:a16="http://schemas.microsoft.com/office/drawing/2014/main" val="10000"/>
                  </a:ext>
                </a:extLst>
              </a:tr>
              <a:tr h="576072">
                <a:tc>
                  <a:txBody>
                    <a:bodyPr/>
                    <a:lstStyle/>
                    <a:p>
                      <a:r>
                        <a:rPr sz="1800" b="0">
                          <a:solidFill>
                            <a:srgbClr val="14202E"/>
                          </a:solidFill>
                          <a:latin typeface="IBM Plex Sans"/>
                        </a:rPr>
                        <a:t>A: cheaper claim</a:t>
                      </a:r>
                    </a:p>
                  </a:txBody>
                  <a:tcPr marL="109728" marT="91440" marB="54864">
                    <a:solidFill>
                      <a:srgbClr val="E6E8E2"/>
                    </a:solidFill>
                  </a:tcPr>
                </a:tc>
                <a:tc>
                  <a:txBody>
                    <a:bodyPr/>
                    <a:lstStyle/>
                    <a:p>
                      <a:r>
                        <a:rPr sz="1800" b="0">
                          <a:solidFill>
                            <a:srgbClr val="14202E"/>
                          </a:solidFill>
                          <a:latin typeface="IBM Plex Sans"/>
                        </a:rPr>
                        <a:t>$5</a:t>
                      </a:r>
                    </a:p>
                  </a:txBody>
                  <a:tcPr marL="109728" marT="91440" marB="54864">
                    <a:solidFill>
                      <a:srgbClr val="E6E8E2"/>
                    </a:solidFill>
                  </a:tcPr>
                </a:tc>
                <a:tc>
                  <a:txBody>
                    <a:bodyPr/>
                    <a:lstStyle/>
                    <a:p>
                      <a:r>
                        <a:rPr sz="1800" b="0">
                          <a:solidFill>
                            <a:srgbClr val="14202E"/>
                          </a:solidFill>
                          <a:latin typeface="IBM Plex Sans"/>
                        </a:rPr>
                        <a:t>$10</a:t>
                      </a:r>
                    </a:p>
                  </a:txBody>
                  <a:tcPr marL="109728" marT="91440" marB="54864">
                    <a:solidFill>
                      <a:srgbClr val="E6E8E2"/>
                    </a:solidFill>
                  </a:tcPr>
                </a:tc>
                <a:tc>
                  <a:txBody>
                    <a:bodyPr/>
                    <a:lstStyle/>
                    <a:p>
                      <a:r>
                        <a:rPr sz="1800" b="0">
                          <a:solidFill>
                            <a:srgbClr val="14202E"/>
                          </a:solidFill>
                          <a:latin typeface="IBM Plex Sans"/>
                        </a:rPr>
                        <a:t>$0</a:t>
                      </a:r>
                    </a:p>
                  </a:txBody>
                  <a:tcPr marL="109728" marT="91440" marB="54864">
                    <a:solidFill>
                      <a:srgbClr val="E6E8E2"/>
                    </a:solidFill>
                  </a:tcPr>
                </a:tc>
                <a:extLst>
                  <a:ext uri="{0D108BD9-81ED-4DB2-BD59-A6C34878D82A}">
                    <a16:rowId xmlns:a16="http://schemas.microsoft.com/office/drawing/2014/main" val="10001"/>
                  </a:ext>
                </a:extLst>
              </a:tr>
              <a:tr h="576072">
                <a:tc>
                  <a:txBody>
                    <a:bodyPr/>
                    <a:lstStyle/>
                    <a:p>
                      <a:r>
                        <a:rPr sz="1800" b="0">
                          <a:solidFill>
                            <a:srgbClr val="14202E"/>
                          </a:solidFill>
                          <a:latin typeface="IBM Plex Sans"/>
                        </a:rPr>
                        <a:t>B: dearer claim</a:t>
                      </a:r>
                    </a:p>
                  </a:txBody>
                  <a:tcPr marL="109728" marT="91440" marB="54864">
                    <a:solidFill>
                      <a:srgbClr val="F5F3EC"/>
                    </a:solidFill>
                  </a:tcPr>
                </a:tc>
                <a:tc>
                  <a:txBody>
                    <a:bodyPr/>
                    <a:lstStyle/>
                    <a:p>
                      <a:r>
                        <a:rPr sz="1800" b="0">
                          <a:solidFill>
                            <a:srgbClr val="14202E"/>
                          </a:solidFill>
                          <a:latin typeface="IBM Plex Sans"/>
                        </a:rPr>
                        <a:t>$6</a:t>
                      </a:r>
                    </a:p>
                  </a:txBody>
                  <a:tcPr marL="109728" marT="91440" marB="54864">
                    <a:solidFill>
                      <a:srgbClr val="F5F3EC"/>
                    </a:solidFill>
                  </a:tcPr>
                </a:tc>
                <a:tc>
                  <a:txBody>
                    <a:bodyPr/>
                    <a:lstStyle/>
                    <a:p>
                      <a:r>
                        <a:rPr sz="1800" b="0">
                          <a:solidFill>
                            <a:srgbClr val="14202E"/>
                          </a:solidFill>
                          <a:latin typeface="IBM Plex Sans"/>
                        </a:rPr>
                        <a:t>$10</a:t>
                      </a:r>
                    </a:p>
                  </a:txBody>
                  <a:tcPr marL="109728" marT="91440" marB="54864">
                    <a:solidFill>
                      <a:srgbClr val="F5F3EC"/>
                    </a:solidFill>
                  </a:tcPr>
                </a:tc>
                <a:tc>
                  <a:txBody>
                    <a:bodyPr/>
                    <a:lstStyle/>
                    <a:p>
                      <a:r>
                        <a:rPr sz="1800" b="0">
                          <a:solidFill>
                            <a:srgbClr val="14202E"/>
                          </a:solidFill>
                          <a:latin typeface="IBM Plex Sans"/>
                        </a:rPr>
                        <a:t>$0</a:t>
                      </a:r>
                    </a:p>
                  </a:txBody>
                  <a:tcPr marL="109728" marT="91440" marB="54864">
                    <a:solidFill>
                      <a:srgbClr val="F5F3EC"/>
                    </a:solidFill>
                  </a:tcPr>
                </a:tc>
                <a:extLst>
                  <a:ext uri="{0D108BD9-81ED-4DB2-BD59-A6C34878D82A}">
                    <a16:rowId xmlns:a16="http://schemas.microsoft.com/office/drawing/2014/main" val="10002"/>
                  </a:ext>
                </a:extLst>
              </a:tr>
              <a:tr h="576072">
                <a:tc>
                  <a:txBody>
                    <a:bodyPr/>
                    <a:lstStyle/>
                    <a:p>
                      <a:r>
                        <a:rPr sz="1800" b="0">
                          <a:solidFill>
                            <a:srgbClr val="14202E"/>
                          </a:solidFill>
                          <a:latin typeface="IBM Plex Sans"/>
                        </a:rPr>
                        <a:t>Buy A, sell B</a:t>
                      </a:r>
                    </a:p>
                  </a:txBody>
                  <a:tcPr marL="109728" marT="91440" marB="54864">
                    <a:solidFill>
                      <a:srgbClr val="E6E8E2"/>
                    </a:solidFill>
                  </a:tcPr>
                </a:tc>
                <a:tc>
                  <a:txBody>
                    <a:bodyPr/>
                    <a:lstStyle/>
                    <a:p>
                      <a:r>
                        <a:rPr sz="1800" b="0">
                          <a:solidFill>
                            <a:srgbClr val="14202E"/>
                          </a:solidFill>
                          <a:latin typeface="IBM Plex Sans"/>
                        </a:rPr>
                        <a:t>Receive $1</a:t>
                      </a:r>
                    </a:p>
                  </a:txBody>
                  <a:tcPr marL="109728" marT="91440" marB="54864">
                    <a:solidFill>
                      <a:srgbClr val="E6E8E2"/>
                    </a:solidFill>
                  </a:tcPr>
                </a:tc>
                <a:tc>
                  <a:txBody>
                    <a:bodyPr/>
                    <a:lstStyle/>
                    <a:p>
                      <a:r>
                        <a:rPr sz="1800" b="0">
                          <a:solidFill>
                            <a:srgbClr val="14202E"/>
                          </a:solidFill>
                          <a:latin typeface="IBM Plex Sans"/>
                        </a:rPr>
                        <a:t>$0 net</a:t>
                      </a:r>
                    </a:p>
                  </a:txBody>
                  <a:tcPr marL="109728" marT="91440" marB="54864">
                    <a:solidFill>
                      <a:srgbClr val="E6E8E2"/>
                    </a:solidFill>
                  </a:tcPr>
                </a:tc>
                <a:tc>
                  <a:txBody>
                    <a:bodyPr/>
                    <a:lstStyle/>
                    <a:p>
                      <a:r>
                        <a:rPr sz="1800" b="0">
                          <a:solidFill>
                            <a:srgbClr val="14202E"/>
                          </a:solidFill>
                          <a:latin typeface="IBM Plex Sans"/>
                        </a:rPr>
                        <a:t>$0 net</a:t>
                      </a:r>
                    </a:p>
                  </a:txBody>
                  <a:tcPr marL="109728" marT="91440" marB="54864">
                    <a:solidFill>
                      <a:srgbClr val="E6E8E2"/>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812901" y="5102352"/>
            <a:ext cx="5532120" cy="822960"/>
          </a:xfrm>
          <a:prstGeom prst="rect">
            <a:avLst/>
          </a:prstGeom>
          <a:noFill/>
        </p:spPr>
        <p:txBody>
          <a:bodyPr wrap="square" lIns="0" tIns="0" rIns="0" bIns="0">
            <a:spAutoFit/>
          </a:bodyPr>
          <a:lstStyle/>
          <a:p>
            <a:pPr>
              <a:spcBef>
                <a:spcPts val="0"/>
              </a:spcBef>
              <a:spcAft>
                <a:spcPts val="0"/>
              </a:spcAft>
            </a:pPr>
            <a:r>
              <a:rPr sz="1800" b="0">
                <a:solidFill>
                  <a:srgbClr val="44505E"/>
                </a:solidFill>
                <a:latin typeface="IBM Plex Sans"/>
              </a:rPr>
              <a:t>Why the gap closes
Buying A and selling B puts upward pressure on A and downward pressure on B.</a:t>
            </a:r>
          </a:p>
        </p:txBody>
      </p:sp>
      <p:sp>
        <p:nvSpPr>
          <p:cNvPr id="7" name="TextBox 6"/>
          <p:cNvSpPr txBox="1"/>
          <p:nvPr/>
        </p:nvSpPr>
        <p:spPr>
          <a:xfrm>
            <a:off x="6629400" y="5102352"/>
            <a:ext cx="4754880" cy="822960"/>
          </a:xfrm>
          <a:prstGeom prst="rect">
            <a:avLst/>
          </a:prstGeom>
          <a:noFill/>
        </p:spPr>
        <p:txBody>
          <a:bodyPr wrap="square" lIns="0" tIns="0" rIns="0" bIns="0">
            <a:spAutoFit/>
          </a:bodyPr>
          <a:lstStyle/>
          <a:p>
            <a:pPr>
              <a:spcBef>
                <a:spcPts val="0"/>
              </a:spcBef>
              <a:spcAft>
                <a:spcPts val="0"/>
              </a:spcAft>
            </a:pPr>
            <a:r>
              <a:rPr sz="1800" b="0">
                <a:solidFill>
                  <a:srgbClr val="44505E"/>
                </a:solidFill>
                <a:latin typeface="IBM Plex Sans"/>
              </a:rPr>
              <a:t>What must match
Every payoff, payment date, currency and credit risk. Equal expected payoffs are insufficient.</a:t>
            </a:r>
          </a:p>
        </p:txBody>
      </p:sp>
      <p:sp>
        <p:nvSpPr>
          <p:cNvPr id="8" name="TextBox 7"/>
          <p:cNvSpPr txBox="1"/>
          <p:nvPr/>
        </p:nvSpPr>
        <p:spPr>
          <a:xfrm>
            <a:off x="812901" y="6364224"/>
            <a:ext cx="10561320" cy="228600"/>
          </a:xfrm>
          <a:prstGeom prst="rect">
            <a:avLst/>
          </a:prstGeom>
          <a:noFill/>
        </p:spPr>
        <p:txBody>
          <a:bodyPr wrap="square" lIns="0" tIns="0" rIns="0" bIns="0">
            <a:spAutoFit/>
          </a:bodyPr>
          <a:lstStyle/>
          <a:p>
            <a:pPr>
              <a:spcBef>
                <a:spcPts val="0"/>
              </a:spcBef>
              <a:spcAft>
                <a:spcPts val="0"/>
              </a:spcAft>
            </a:pPr>
            <a:r>
              <a:rPr sz="1000" b="0">
                <a:solidFill>
                  <a:srgbClr val="44505E"/>
                </a:solidFill>
                <a:latin typeface="IBM Plex Sans"/>
              </a:rPr>
              <a:t>Illustrative frictionless example. Shorting and financing allowed. “No-arbitrage” is a consistency condition, not a forecast.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0" name="Shape 6">
            <a:extLst>
              <a:ext uri="{FF2B5EF4-FFF2-40B4-BE49-F238E27FC236}">
                <a16:creationId xmlns:a16="http://schemas.microsoft.com/office/drawing/2014/main" id="{1B477D97-B9F3-87F3-6D37-251955995FA6}"/>
              </a:ext>
            </a:extLst>
          </p:cNvPr>
          <p:cNvSpPr/>
          <p:nvPr/>
        </p:nvSpPr>
        <p:spPr>
          <a:xfrm>
            <a:off x="7360733" y="2295574"/>
            <a:ext cx="2520950" cy="523219"/>
          </a:xfrm>
          <a:prstGeom prst="roundRect">
            <a:avLst>
              <a:gd name="adj" fmla="val 5580"/>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21" name="Shape 6">
            <a:extLst>
              <a:ext uri="{FF2B5EF4-FFF2-40B4-BE49-F238E27FC236}">
                <a16:creationId xmlns:a16="http://schemas.microsoft.com/office/drawing/2014/main" id="{E5608EC0-B10C-1757-AD80-CCB336C89F62}"/>
              </a:ext>
            </a:extLst>
          </p:cNvPr>
          <p:cNvSpPr/>
          <p:nvPr/>
        </p:nvSpPr>
        <p:spPr>
          <a:xfrm>
            <a:off x="7360733" y="3576694"/>
            <a:ext cx="2520950" cy="523219"/>
          </a:xfrm>
          <a:prstGeom prst="roundRect">
            <a:avLst>
              <a:gd name="adj" fmla="val 5580"/>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22" name="Shape 6">
            <a:extLst>
              <a:ext uri="{FF2B5EF4-FFF2-40B4-BE49-F238E27FC236}">
                <a16:creationId xmlns:a16="http://schemas.microsoft.com/office/drawing/2014/main" id="{AFD371E7-F7DF-4579-623C-7954F85201BF}"/>
              </a:ext>
            </a:extLst>
          </p:cNvPr>
          <p:cNvSpPr/>
          <p:nvPr/>
        </p:nvSpPr>
        <p:spPr>
          <a:xfrm>
            <a:off x="7360733" y="4956235"/>
            <a:ext cx="2520950" cy="523219"/>
          </a:xfrm>
          <a:prstGeom prst="roundRect">
            <a:avLst>
              <a:gd name="adj" fmla="val 5580"/>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01 · THE PRICING PROBLEM · ARBITRAGE</a:t>
            </a:r>
            <a:endParaRPr lang="en-US" sz="1200"/>
          </a:p>
        </p:txBody>
      </p:sp>
      <p:sp>
        <p:nvSpPr>
          <p:cNvPr id="3" name="Text 1"/>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14202E"/>
                </a:solidFill>
                <a:latin typeface="Source Serif 4" pitchFamily="18" charset="0"/>
                <a:ea typeface="Source Serif 4" pitchFamily="18" charset="-122"/>
                <a:cs typeface="Source Serif 4" pitchFamily="18" charset="-120"/>
              </a:rPr>
              <a:t>The Options–Shares–Cash triangle</a:t>
            </a:r>
            <a:endParaRPr lang="en-US" sz="3000"/>
          </a:p>
        </p:txBody>
      </p:sp>
      <p:cxnSp>
        <p:nvCxnSpPr>
          <p:cNvPr id="4" name="Connector 3"/>
          <p:cNvCxnSpPr/>
          <p:nvPr/>
        </p:nvCxnSpPr>
        <p:spPr>
          <a:xfrm flipH="1">
            <a:off x="1783080" y="2743200"/>
            <a:ext cx="1645920" cy="1673352"/>
          </a:xfrm>
          <a:prstGeom prst="line">
            <a:avLst/>
          </a:prstGeom>
          <a:ln w="25400">
            <a:solidFill>
              <a:srgbClr val="2B65C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429000" y="2743200"/>
            <a:ext cx="1645920" cy="1673352"/>
          </a:xfrm>
          <a:prstGeom prst="line">
            <a:avLst/>
          </a:prstGeom>
          <a:ln w="25400">
            <a:solidFill>
              <a:srgbClr val="2B65C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783080" y="4416552"/>
            <a:ext cx="3291840" cy="0"/>
          </a:xfrm>
          <a:prstGeom prst="line">
            <a:avLst/>
          </a:prstGeom>
          <a:ln w="25400">
            <a:solidFill>
              <a:srgbClr val="2B65C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085340" y="1926242"/>
            <a:ext cx="2651760" cy="738664"/>
          </a:xfrm>
          <a:prstGeom prst="rect">
            <a:avLst/>
          </a:prstGeom>
          <a:noFill/>
        </p:spPr>
        <p:txBody>
          <a:bodyPr wrap="square" lIns="0" tIns="0" rIns="0" bIns="0">
            <a:spAutoFit/>
          </a:bodyPr>
          <a:lstStyle/>
          <a:p>
            <a:pPr algn="ctr">
              <a:spcBef>
                <a:spcPts val="0"/>
              </a:spcBef>
              <a:spcAft>
                <a:spcPts val="0"/>
              </a:spcAft>
            </a:pPr>
            <a:r>
              <a:rPr sz="2400" b="1" dirty="0">
                <a:solidFill>
                  <a:srgbClr val="2B65C8"/>
                </a:solidFill>
                <a:latin typeface="IBM Plex Sans"/>
              </a:rPr>
              <a:t>OPTIONS
C</a:t>
            </a:r>
          </a:p>
        </p:txBody>
      </p:sp>
      <p:sp>
        <p:nvSpPr>
          <p:cNvPr id="8" name="TextBox 7"/>
          <p:cNvSpPr txBox="1"/>
          <p:nvPr/>
        </p:nvSpPr>
        <p:spPr>
          <a:xfrm>
            <a:off x="-15240" y="4046688"/>
            <a:ext cx="1645921" cy="731520"/>
          </a:xfrm>
          <a:prstGeom prst="rect">
            <a:avLst/>
          </a:prstGeom>
          <a:noFill/>
        </p:spPr>
        <p:txBody>
          <a:bodyPr wrap="square" lIns="0" tIns="0" rIns="0" bIns="0">
            <a:spAutoFit/>
          </a:bodyPr>
          <a:lstStyle/>
          <a:p>
            <a:pPr algn="r">
              <a:spcBef>
                <a:spcPts val="0"/>
              </a:spcBef>
              <a:spcAft>
                <a:spcPts val="0"/>
              </a:spcAft>
            </a:pPr>
            <a:r>
              <a:rPr sz="2400" b="1" dirty="0">
                <a:solidFill>
                  <a:srgbClr val="2B65C8"/>
                </a:solidFill>
                <a:latin typeface="IBM Plex Sans"/>
              </a:rPr>
              <a:t>SHARES
</a:t>
            </a:r>
            <a:r>
              <a:rPr sz="2400" b="1" dirty="0" err="1">
                <a:solidFill>
                  <a:srgbClr val="2B65C8"/>
                </a:solidFill>
                <a:latin typeface="IBM Plex Sans"/>
              </a:rPr>
              <a:t>Δ</a:t>
            </a:r>
            <a:r>
              <a:rPr sz="2400" b="1" dirty="0">
                <a:solidFill>
                  <a:srgbClr val="2B65C8"/>
                </a:solidFill>
                <a:latin typeface="IBM Plex Sans"/>
              </a:rPr>
              <a:t> × S</a:t>
            </a:r>
          </a:p>
        </p:txBody>
      </p:sp>
      <p:sp>
        <p:nvSpPr>
          <p:cNvPr id="9" name="TextBox 8"/>
          <p:cNvSpPr txBox="1"/>
          <p:nvPr/>
        </p:nvSpPr>
        <p:spPr>
          <a:xfrm>
            <a:off x="5227319" y="3958097"/>
            <a:ext cx="1645920" cy="731520"/>
          </a:xfrm>
          <a:prstGeom prst="rect">
            <a:avLst/>
          </a:prstGeom>
          <a:noFill/>
        </p:spPr>
        <p:txBody>
          <a:bodyPr wrap="square" lIns="0" tIns="0" rIns="0" bIns="0">
            <a:spAutoFit/>
          </a:bodyPr>
          <a:lstStyle/>
          <a:p>
            <a:pPr>
              <a:spcBef>
                <a:spcPts val="0"/>
              </a:spcBef>
              <a:spcAft>
                <a:spcPts val="0"/>
              </a:spcAft>
            </a:pPr>
            <a:r>
              <a:rPr sz="2400" b="1" dirty="0">
                <a:solidFill>
                  <a:srgbClr val="2B65C8"/>
                </a:solidFill>
                <a:latin typeface="IBM Plex Sans"/>
              </a:rPr>
              <a:t>CASH
B</a:t>
            </a:r>
          </a:p>
        </p:txBody>
      </p:sp>
      <p:sp>
        <p:nvSpPr>
          <p:cNvPr id="10" name="TextBox 9"/>
          <p:cNvSpPr txBox="1"/>
          <p:nvPr/>
        </p:nvSpPr>
        <p:spPr>
          <a:xfrm>
            <a:off x="2423160" y="3724507"/>
            <a:ext cx="1993392" cy="276999"/>
          </a:xfrm>
          <a:prstGeom prst="rect">
            <a:avLst/>
          </a:prstGeom>
          <a:noFill/>
        </p:spPr>
        <p:txBody>
          <a:bodyPr wrap="square" lIns="0" tIns="0" rIns="0" bIns="0">
            <a:spAutoFit/>
          </a:bodyPr>
          <a:lstStyle/>
          <a:p>
            <a:pPr algn="ctr">
              <a:spcBef>
                <a:spcPts val="0"/>
              </a:spcBef>
              <a:spcAft>
                <a:spcPts val="0"/>
              </a:spcAft>
            </a:pPr>
            <a:r>
              <a:rPr lang="en-GB" sz="1800" b="1" dirty="0">
                <a:solidFill>
                  <a:srgbClr val="14202E"/>
                </a:solidFill>
                <a:latin typeface="JetBrains Mono"/>
              </a:rPr>
              <a:t>C = </a:t>
            </a:r>
            <a:r>
              <a:rPr lang="el-GR" sz="1800" b="1" dirty="0">
                <a:solidFill>
                  <a:srgbClr val="14202E"/>
                </a:solidFill>
                <a:latin typeface="JetBrains Mono"/>
              </a:rPr>
              <a:t>Δ</a:t>
            </a:r>
            <a:r>
              <a:rPr lang="en-GB" sz="1800" b="1" dirty="0">
                <a:solidFill>
                  <a:srgbClr val="14202E"/>
                </a:solidFill>
                <a:latin typeface="JetBrains Mono"/>
              </a:rPr>
              <a:t>S + B</a:t>
            </a:r>
          </a:p>
        </p:txBody>
      </p:sp>
      <p:sp>
        <p:nvSpPr>
          <p:cNvPr id="11" name="TextBox 10"/>
          <p:cNvSpPr txBox="1"/>
          <p:nvPr/>
        </p:nvSpPr>
        <p:spPr>
          <a:xfrm>
            <a:off x="7406640" y="1380143"/>
            <a:ext cx="3977639" cy="246221"/>
          </a:xfrm>
          <a:prstGeom prst="rect">
            <a:avLst/>
          </a:prstGeom>
          <a:noFill/>
        </p:spPr>
        <p:txBody>
          <a:bodyPr wrap="square" lIns="0" tIns="0" rIns="0" bIns="0">
            <a:spAutoFit/>
          </a:bodyPr>
          <a:lstStyle/>
          <a:p>
            <a:pPr>
              <a:spcBef>
                <a:spcPts val="0"/>
              </a:spcBef>
              <a:spcAft>
                <a:spcPts val="0"/>
              </a:spcAft>
            </a:pPr>
            <a:r>
              <a:rPr sz="1600" b="1" dirty="0">
                <a:solidFill>
                  <a:srgbClr val="2B65C8"/>
                </a:solidFill>
                <a:latin typeface="IBM Plex Sans"/>
              </a:rPr>
              <a:t>THREE WAYS TO READ ONE IDENTITY</a:t>
            </a:r>
          </a:p>
        </p:txBody>
      </p:sp>
      <p:sp>
        <p:nvSpPr>
          <p:cNvPr id="12" name="TextBox 11"/>
          <p:cNvSpPr txBox="1"/>
          <p:nvPr/>
        </p:nvSpPr>
        <p:spPr>
          <a:xfrm>
            <a:off x="7406640" y="2030272"/>
            <a:ext cx="3977639" cy="276999"/>
          </a:xfrm>
          <a:prstGeom prst="rect">
            <a:avLst/>
          </a:prstGeom>
          <a:noFill/>
        </p:spPr>
        <p:txBody>
          <a:bodyPr wrap="square" lIns="0" tIns="0" rIns="0" bIns="0">
            <a:spAutoFit/>
          </a:bodyPr>
          <a:lstStyle/>
          <a:p>
            <a:pPr>
              <a:spcBef>
                <a:spcPts val="0"/>
              </a:spcBef>
              <a:spcAft>
                <a:spcPts val="0"/>
              </a:spcAft>
            </a:pPr>
            <a:r>
              <a:rPr lang="sv-SE" sz="1800" b="1" dirty="0">
                <a:solidFill>
                  <a:srgbClr val="14202E"/>
                </a:solidFill>
                <a:latin typeface="IBM Plex Sans"/>
              </a:rPr>
              <a:t>1. </a:t>
            </a:r>
            <a:r>
              <a:rPr sz="1800" b="1" dirty="0">
                <a:solidFill>
                  <a:srgbClr val="14202E"/>
                </a:solidFill>
                <a:latin typeface="IBM Plex Sans"/>
              </a:rPr>
              <a:t>Build the option</a:t>
            </a:r>
          </a:p>
        </p:txBody>
      </p:sp>
      <p:sp>
        <p:nvSpPr>
          <p:cNvPr id="13" name="TextBox 12"/>
          <p:cNvSpPr txBox="1"/>
          <p:nvPr/>
        </p:nvSpPr>
        <p:spPr>
          <a:xfrm>
            <a:off x="7406640" y="2414320"/>
            <a:ext cx="3977639" cy="784830"/>
          </a:xfrm>
          <a:prstGeom prst="rect">
            <a:avLst/>
          </a:prstGeom>
          <a:noFill/>
        </p:spPr>
        <p:txBody>
          <a:bodyPr wrap="square" lIns="0" tIns="0" rIns="0" bIns="0">
            <a:spAutoFit/>
          </a:bodyPr>
          <a:lstStyle/>
          <a:p>
            <a:pPr>
              <a:spcBef>
                <a:spcPts val="0"/>
              </a:spcBef>
              <a:spcAft>
                <a:spcPts val="0"/>
              </a:spcAft>
            </a:pPr>
            <a:r>
              <a:rPr lang="sv-SE" sz="1700" b="0" dirty="0">
                <a:solidFill>
                  <a:srgbClr val="44505E"/>
                </a:solidFill>
                <a:latin typeface="IBM Plex Sans"/>
              </a:rPr>
              <a:t>  </a:t>
            </a:r>
            <a:r>
              <a:rPr sz="1700" b="0" dirty="0">
                <a:solidFill>
                  <a:srgbClr val="44505E"/>
                </a:solidFill>
                <a:latin typeface="IBM Plex Sans"/>
              </a:rPr>
              <a:t>C = ΔS + B</a:t>
            </a:r>
            <a:br>
              <a:rPr lang="sv-SE" sz="1700" b="0" dirty="0">
                <a:solidFill>
                  <a:srgbClr val="44505E"/>
                </a:solidFill>
                <a:latin typeface="IBM Plex Sans"/>
              </a:rPr>
            </a:br>
            <a:r>
              <a:rPr sz="1700" b="0" dirty="0">
                <a:solidFill>
                  <a:srgbClr val="44505E"/>
                </a:solidFill>
                <a:latin typeface="IBM Plex Sans"/>
              </a:rPr>
              <a:t>
Shares plus a bank position.</a:t>
            </a:r>
          </a:p>
        </p:txBody>
      </p:sp>
      <p:sp>
        <p:nvSpPr>
          <p:cNvPr id="14" name="TextBox 13"/>
          <p:cNvSpPr txBox="1"/>
          <p:nvPr/>
        </p:nvSpPr>
        <p:spPr>
          <a:xfrm>
            <a:off x="7406640" y="3312138"/>
            <a:ext cx="3977639" cy="276999"/>
          </a:xfrm>
          <a:prstGeom prst="rect">
            <a:avLst/>
          </a:prstGeom>
          <a:noFill/>
        </p:spPr>
        <p:txBody>
          <a:bodyPr wrap="square" lIns="0" tIns="0" rIns="0" bIns="0">
            <a:spAutoFit/>
          </a:bodyPr>
          <a:lstStyle/>
          <a:p>
            <a:pPr>
              <a:spcBef>
                <a:spcPts val="0"/>
              </a:spcBef>
              <a:spcAft>
                <a:spcPts val="0"/>
              </a:spcAft>
            </a:pPr>
            <a:r>
              <a:rPr lang="sv-SE" sz="1800" b="1" dirty="0">
                <a:solidFill>
                  <a:srgbClr val="14202E"/>
                </a:solidFill>
                <a:latin typeface="IBM Plex Sans"/>
              </a:rPr>
              <a:t>2. </a:t>
            </a:r>
            <a:r>
              <a:rPr sz="1800" b="1" dirty="0">
                <a:solidFill>
                  <a:srgbClr val="14202E"/>
                </a:solidFill>
                <a:latin typeface="IBM Plex Sans"/>
              </a:rPr>
              <a:t>Build the share position</a:t>
            </a:r>
          </a:p>
        </p:txBody>
      </p:sp>
      <p:sp>
        <p:nvSpPr>
          <p:cNvPr id="15" name="TextBox 14"/>
          <p:cNvSpPr txBox="1"/>
          <p:nvPr/>
        </p:nvSpPr>
        <p:spPr>
          <a:xfrm>
            <a:off x="7406640" y="3696186"/>
            <a:ext cx="3977639" cy="784830"/>
          </a:xfrm>
          <a:prstGeom prst="rect">
            <a:avLst/>
          </a:prstGeom>
          <a:noFill/>
        </p:spPr>
        <p:txBody>
          <a:bodyPr wrap="square" lIns="0" tIns="0" rIns="0" bIns="0">
            <a:spAutoFit/>
          </a:bodyPr>
          <a:lstStyle/>
          <a:p>
            <a:pPr>
              <a:spcBef>
                <a:spcPts val="0"/>
              </a:spcBef>
              <a:spcAft>
                <a:spcPts val="0"/>
              </a:spcAft>
            </a:pPr>
            <a:r>
              <a:rPr lang="sv-SE" sz="1700" b="0" dirty="0">
                <a:solidFill>
                  <a:srgbClr val="44505E"/>
                </a:solidFill>
                <a:latin typeface="IBM Plex Sans"/>
              </a:rPr>
              <a:t>  </a:t>
            </a:r>
            <a:r>
              <a:rPr sz="1700" b="0" dirty="0">
                <a:solidFill>
                  <a:srgbClr val="44505E"/>
                </a:solidFill>
                <a:latin typeface="IBM Plex Sans"/>
              </a:rPr>
              <a:t>ΔS = C − B</a:t>
            </a:r>
            <a:br>
              <a:rPr lang="sv-SE" sz="1700" b="0" dirty="0">
                <a:solidFill>
                  <a:srgbClr val="44505E"/>
                </a:solidFill>
                <a:latin typeface="IBM Plex Sans"/>
              </a:rPr>
            </a:br>
            <a:r>
              <a:rPr sz="1700" b="0" dirty="0">
                <a:solidFill>
                  <a:srgbClr val="44505E"/>
                </a:solidFill>
                <a:latin typeface="IBM Plex Sans"/>
              </a:rPr>
              <a:t>
</a:t>
            </a:r>
            <a:r>
              <a:rPr lang="en-GB" sz="1700" b="0" dirty="0">
                <a:solidFill>
                  <a:srgbClr val="44505E"/>
                </a:solidFill>
                <a:latin typeface="IBM Plex Sans"/>
              </a:rPr>
              <a:t>Option </a:t>
            </a:r>
            <a:r>
              <a:rPr sz="1700" b="0" dirty="0">
                <a:solidFill>
                  <a:srgbClr val="44505E"/>
                </a:solidFill>
                <a:latin typeface="IBM Plex Sans"/>
              </a:rPr>
              <a:t>plus opposite cash.</a:t>
            </a:r>
          </a:p>
        </p:txBody>
      </p:sp>
      <p:sp>
        <p:nvSpPr>
          <p:cNvPr id="16" name="TextBox 15"/>
          <p:cNvSpPr txBox="1"/>
          <p:nvPr/>
        </p:nvSpPr>
        <p:spPr>
          <a:xfrm>
            <a:off x="7406640" y="4654296"/>
            <a:ext cx="3977639" cy="276999"/>
          </a:xfrm>
          <a:prstGeom prst="rect">
            <a:avLst/>
          </a:prstGeom>
          <a:noFill/>
        </p:spPr>
        <p:txBody>
          <a:bodyPr wrap="square" lIns="0" tIns="0" rIns="0" bIns="0">
            <a:spAutoFit/>
          </a:bodyPr>
          <a:lstStyle/>
          <a:p>
            <a:pPr>
              <a:spcBef>
                <a:spcPts val="0"/>
              </a:spcBef>
              <a:spcAft>
                <a:spcPts val="0"/>
              </a:spcAft>
            </a:pPr>
            <a:r>
              <a:rPr lang="sv-SE" sz="1800" b="1" dirty="0">
                <a:solidFill>
                  <a:srgbClr val="14202E"/>
                </a:solidFill>
                <a:latin typeface="IBM Plex Sans"/>
              </a:rPr>
              <a:t>3. </a:t>
            </a:r>
            <a:r>
              <a:rPr sz="1800" b="1" dirty="0">
                <a:solidFill>
                  <a:srgbClr val="14202E"/>
                </a:solidFill>
                <a:latin typeface="IBM Plex Sans"/>
              </a:rPr>
              <a:t>Build the cash position</a:t>
            </a:r>
          </a:p>
        </p:txBody>
      </p:sp>
      <p:sp>
        <p:nvSpPr>
          <p:cNvPr id="17" name="TextBox 16"/>
          <p:cNvSpPr txBox="1"/>
          <p:nvPr/>
        </p:nvSpPr>
        <p:spPr>
          <a:xfrm>
            <a:off x="7406640" y="5038344"/>
            <a:ext cx="3977639" cy="784830"/>
          </a:xfrm>
          <a:prstGeom prst="rect">
            <a:avLst/>
          </a:prstGeom>
          <a:noFill/>
        </p:spPr>
        <p:txBody>
          <a:bodyPr wrap="square" lIns="0" tIns="0" rIns="0" bIns="0">
            <a:spAutoFit/>
          </a:bodyPr>
          <a:lstStyle/>
          <a:p>
            <a:pPr>
              <a:spcBef>
                <a:spcPts val="0"/>
              </a:spcBef>
              <a:spcAft>
                <a:spcPts val="0"/>
              </a:spcAft>
            </a:pPr>
            <a:r>
              <a:rPr lang="sv-SE" sz="1700" b="0" dirty="0">
                <a:solidFill>
                  <a:srgbClr val="44505E"/>
                </a:solidFill>
                <a:latin typeface="IBM Plex Sans"/>
              </a:rPr>
              <a:t>  </a:t>
            </a:r>
            <a:r>
              <a:rPr sz="1700" b="0" dirty="0">
                <a:solidFill>
                  <a:srgbClr val="44505E"/>
                </a:solidFill>
                <a:latin typeface="IBM Plex Sans"/>
              </a:rPr>
              <a:t>B = C − ΔS</a:t>
            </a:r>
            <a:br>
              <a:rPr lang="sv-SE" sz="1700" b="0" dirty="0">
                <a:solidFill>
                  <a:srgbClr val="44505E"/>
                </a:solidFill>
                <a:latin typeface="IBM Plex Sans"/>
              </a:rPr>
            </a:br>
            <a:r>
              <a:rPr sz="1700" b="0" dirty="0">
                <a:solidFill>
                  <a:srgbClr val="44505E"/>
                </a:solidFill>
                <a:latin typeface="IBM Plex Sans"/>
              </a:rPr>
              <a:t>
</a:t>
            </a:r>
            <a:r>
              <a:rPr lang="en-GB" sz="1700" b="0" dirty="0">
                <a:solidFill>
                  <a:srgbClr val="44505E"/>
                </a:solidFill>
                <a:latin typeface="IBM Plex Sans"/>
              </a:rPr>
              <a:t>Option </a:t>
            </a:r>
            <a:r>
              <a:rPr sz="1700" b="0" dirty="0">
                <a:solidFill>
                  <a:srgbClr val="44505E"/>
                </a:solidFill>
                <a:latin typeface="IBM Plex Sans"/>
              </a:rPr>
              <a:t>minus matching </a:t>
            </a:r>
            <a:r>
              <a:rPr lang="en-GB" sz="1700" b="0" dirty="0">
                <a:solidFill>
                  <a:srgbClr val="44505E"/>
                </a:solidFill>
                <a:latin typeface="IBM Plex Sans"/>
              </a:rPr>
              <a:t>shares</a:t>
            </a:r>
            <a:r>
              <a:rPr sz="1700" b="0" dirty="0">
                <a:solidFill>
                  <a:srgbClr val="44505E"/>
                </a:solidFill>
                <a:latin typeface="IBM Plex Sans"/>
              </a:rPr>
              <a:t>.</a:t>
            </a:r>
          </a:p>
        </p:txBody>
      </p:sp>
      <p:sp>
        <p:nvSpPr>
          <p:cNvPr id="18" name="TextBox 17"/>
          <p:cNvSpPr txBox="1"/>
          <p:nvPr/>
        </p:nvSpPr>
        <p:spPr>
          <a:xfrm>
            <a:off x="812901" y="5417270"/>
            <a:ext cx="5806440" cy="492443"/>
          </a:xfrm>
          <a:prstGeom prst="rect">
            <a:avLst/>
          </a:prstGeom>
          <a:noFill/>
        </p:spPr>
        <p:txBody>
          <a:bodyPr wrap="square" lIns="0" tIns="0" rIns="0" bIns="0">
            <a:spAutoFit/>
          </a:bodyPr>
          <a:lstStyle/>
          <a:p>
            <a:pPr>
              <a:spcBef>
                <a:spcPts val="0"/>
              </a:spcBef>
              <a:spcAft>
                <a:spcPts val="0"/>
              </a:spcAft>
            </a:pPr>
            <a:r>
              <a:rPr sz="1600" b="0">
                <a:solidFill>
                  <a:srgbClr val="44505E"/>
                </a:solidFill>
                <a:latin typeface="IBM Plex Sans"/>
              </a:rPr>
              <a:t>B &gt; 0 means a deposit. B &lt; 0 means borrowing.
Δ is the number of shares per option payoff unit.</a:t>
            </a:r>
          </a:p>
        </p:txBody>
      </p:sp>
      <p:sp>
        <p:nvSpPr>
          <p:cNvPr id="19" name="TextBox 18"/>
          <p:cNvSpPr txBox="1"/>
          <p:nvPr/>
        </p:nvSpPr>
        <p:spPr>
          <a:xfrm>
            <a:off x="812901" y="6029918"/>
            <a:ext cx="10570464" cy="492443"/>
          </a:xfrm>
          <a:prstGeom prst="rect">
            <a:avLst/>
          </a:prstGeom>
          <a:noFill/>
        </p:spPr>
        <p:txBody>
          <a:bodyPr wrap="square" lIns="0" tIns="0" rIns="0" bIns="0">
            <a:spAutoFit/>
          </a:bodyPr>
          <a:lstStyle/>
          <a:p>
            <a:pPr>
              <a:spcBef>
                <a:spcPts val="0"/>
              </a:spcBef>
              <a:spcAft>
                <a:spcPts val="0"/>
              </a:spcAft>
            </a:pPr>
            <a:r>
              <a:rPr sz="1600" b="0" dirty="0">
                <a:solidFill>
                  <a:srgbClr val="44505E"/>
                </a:solidFill>
                <a:latin typeface="IBM Plex Sans"/>
              </a:rPr>
              <a:t>Exact for the next slide’s one-period, two-state model. Use signed, scaled positions; arbitrary holdings are not equivalent.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01 · THE PRICING PROBLEM · ARBITRAGE</a:t>
            </a:r>
            <a:endParaRPr lang="en-US" sz="1200"/>
          </a:p>
        </p:txBody>
      </p:sp>
      <p:sp>
        <p:nvSpPr>
          <p:cNvPr id="3" name="Text 1"/>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14202E"/>
                </a:solidFill>
                <a:latin typeface="Source Serif 4" pitchFamily="18" charset="0"/>
                <a:ea typeface="Source Serif 4" pitchFamily="18" charset="-122"/>
                <a:cs typeface="Source Serif 4" pitchFamily="18" charset="-120"/>
              </a:rPr>
              <a:t>Half a share and a loan reproduce the call</a:t>
            </a:r>
            <a:endParaRPr lang="en-US" sz="3000"/>
          </a:p>
        </p:txBody>
      </p:sp>
      <p:sp>
        <p:nvSpPr>
          <p:cNvPr id="4" name="TextBox 3"/>
          <p:cNvSpPr txBox="1"/>
          <p:nvPr/>
        </p:nvSpPr>
        <p:spPr>
          <a:xfrm>
            <a:off x="812901" y="1481328"/>
            <a:ext cx="10570464" cy="640080"/>
          </a:xfrm>
          <a:prstGeom prst="rect">
            <a:avLst/>
          </a:prstGeom>
          <a:noFill/>
        </p:spPr>
        <p:txBody>
          <a:bodyPr wrap="square" lIns="0" tIns="0" rIns="0" bIns="0">
            <a:spAutoFit/>
          </a:bodyPr>
          <a:lstStyle/>
          <a:p>
            <a:pPr>
              <a:spcBef>
                <a:spcPts val="0"/>
              </a:spcBef>
              <a:spcAft>
                <a:spcPts val="0"/>
              </a:spcAft>
            </a:pPr>
            <a:r>
              <a:rPr sz="1900" b="0">
                <a:solidFill>
                  <a:srgbClr val="14202E"/>
                </a:solidFill>
                <a:latin typeface="IBM Plex Sans"/>
              </a:rPr>
              <a:t>Same example as earlier: S₀ = $100, next-period stock $110 or $90, call strike K = $100, and cash grows by R = 1.02.</a:t>
            </a:r>
          </a:p>
        </p:txBody>
      </p:sp>
      <p:graphicFrame>
        <p:nvGraphicFramePr>
          <p:cNvPr id="5" name="Table 4"/>
          <p:cNvGraphicFramePr>
            <a:graphicFrameLocks noGrp="1"/>
          </p:cNvGraphicFramePr>
          <p:nvPr/>
        </p:nvGraphicFramePr>
        <p:xfrm>
          <a:off x="812901" y="2423160"/>
          <a:ext cx="10561320" cy="2606035"/>
        </p:xfrm>
        <a:graphic>
          <a:graphicData uri="http://schemas.openxmlformats.org/drawingml/2006/table">
            <a:tbl>
              <a:tblPr firstRow="1" bandRow="1">
                <a:tableStyleId>{5C22544A-7EE6-4342-B048-85BDC9FD1C3A}</a:tableStyleId>
              </a:tblPr>
              <a:tblGrid>
                <a:gridCol w="36118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21207">
                <a:tc>
                  <a:txBody>
                    <a:bodyPr/>
                    <a:lstStyle/>
                    <a:p>
                      <a:r>
                        <a:rPr sz="1700" b="1">
                          <a:solidFill>
                            <a:srgbClr val="FFFFFF"/>
                          </a:solidFill>
                          <a:latin typeface="IBM Plex Sans"/>
                        </a:rPr>
                        <a:t>Position per option share</a:t>
                      </a:r>
                    </a:p>
                  </a:txBody>
                  <a:tcPr marL="109728" marT="91440" marB="54864">
                    <a:solidFill>
                      <a:srgbClr val="14202E"/>
                    </a:solidFill>
                  </a:tcPr>
                </a:tc>
                <a:tc>
                  <a:txBody>
                    <a:bodyPr/>
                    <a:lstStyle/>
                    <a:p>
                      <a:r>
                        <a:rPr sz="1700" b="1">
                          <a:solidFill>
                            <a:srgbClr val="FFFFFF"/>
                          </a:solidFill>
                          <a:latin typeface="IBM Plex Sans"/>
                        </a:rPr>
                        <a:t>Today</a:t>
                      </a:r>
                    </a:p>
                  </a:txBody>
                  <a:tcPr marL="109728" marT="91440" marB="54864">
                    <a:solidFill>
                      <a:srgbClr val="14202E"/>
                    </a:solidFill>
                  </a:tcPr>
                </a:tc>
                <a:tc>
                  <a:txBody>
                    <a:bodyPr/>
                    <a:lstStyle/>
                    <a:p>
                      <a:r>
                        <a:rPr sz="1700" b="1">
                          <a:solidFill>
                            <a:srgbClr val="FFFFFF"/>
                          </a:solidFill>
                          <a:latin typeface="IBM Plex Sans"/>
                        </a:rPr>
                        <a:t>Stock at $110</a:t>
                      </a:r>
                    </a:p>
                  </a:txBody>
                  <a:tcPr marL="109728" marT="91440" marB="54864">
                    <a:solidFill>
                      <a:srgbClr val="14202E"/>
                    </a:solidFill>
                  </a:tcPr>
                </a:tc>
                <a:tc>
                  <a:txBody>
                    <a:bodyPr/>
                    <a:lstStyle/>
                    <a:p>
                      <a:r>
                        <a:rPr sz="1700" b="1">
                          <a:solidFill>
                            <a:srgbClr val="FFFFFF"/>
                          </a:solidFill>
                          <a:latin typeface="IBM Plex Sans"/>
                        </a:rPr>
                        <a:t>Stock at $90</a:t>
                      </a:r>
                    </a:p>
                  </a:txBody>
                  <a:tcPr marL="109728" marT="91440" marB="54864">
                    <a:solidFill>
                      <a:srgbClr val="14202E"/>
                    </a:solidFill>
                  </a:tcPr>
                </a:tc>
                <a:extLst>
                  <a:ext uri="{0D108BD9-81ED-4DB2-BD59-A6C34878D82A}">
                    <a16:rowId xmlns:a16="http://schemas.microsoft.com/office/drawing/2014/main" val="10000"/>
                  </a:ext>
                </a:extLst>
              </a:tr>
              <a:tr h="521207">
                <a:tc>
                  <a:txBody>
                    <a:bodyPr/>
                    <a:lstStyle/>
                    <a:p>
                      <a:r>
                        <a:rPr sz="1700" b="0">
                          <a:solidFill>
                            <a:srgbClr val="14202E"/>
                          </a:solidFill>
                          <a:latin typeface="IBM Plex Sans"/>
                        </a:rPr>
                        <a:t>Buy 0.5 share</a:t>
                      </a:r>
                    </a:p>
                  </a:txBody>
                  <a:tcPr marL="109728" marT="91440" marB="54864">
                    <a:solidFill>
                      <a:srgbClr val="E6E8E2"/>
                    </a:solidFill>
                  </a:tcPr>
                </a:tc>
                <a:tc>
                  <a:txBody>
                    <a:bodyPr/>
                    <a:lstStyle/>
                    <a:p>
                      <a:r>
                        <a:rPr sz="1700" b="0">
                          <a:solidFill>
                            <a:srgbClr val="14202E"/>
                          </a:solidFill>
                          <a:latin typeface="IBM Plex Sans"/>
                        </a:rPr>
                        <a:t>$50.00</a:t>
                      </a:r>
                    </a:p>
                  </a:txBody>
                  <a:tcPr marL="109728" marT="91440" marB="54864">
                    <a:solidFill>
                      <a:srgbClr val="E6E8E2"/>
                    </a:solidFill>
                  </a:tcPr>
                </a:tc>
                <a:tc>
                  <a:txBody>
                    <a:bodyPr/>
                    <a:lstStyle/>
                    <a:p>
                      <a:r>
                        <a:rPr sz="1700" b="0">
                          <a:solidFill>
                            <a:srgbClr val="14202E"/>
                          </a:solidFill>
                          <a:latin typeface="IBM Plex Sans"/>
                        </a:rPr>
                        <a:t>$55.00</a:t>
                      </a:r>
                    </a:p>
                  </a:txBody>
                  <a:tcPr marL="109728" marT="91440" marB="54864">
                    <a:solidFill>
                      <a:srgbClr val="E6E8E2"/>
                    </a:solidFill>
                  </a:tcPr>
                </a:tc>
                <a:tc>
                  <a:txBody>
                    <a:bodyPr/>
                    <a:lstStyle/>
                    <a:p>
                      <a:r>
                        <a:rPr sz="1700" b="0">
                          <a:solidFill>
                            <a:srgbClr val="14202E"/>
                          </a:solidFill>
                          <a:latin typeface="IBM Plex Sans"/>
                        </a:rPr>
                        <a:t>$45.00</a:t>
                      </a:r>
                    </a:p>
                  </a:txBody>
                  <a:tcPr marL="109728" marT="91440" marB="54864">
                    <a:solidFill>
                      <a:srgbClr val="E6E8E2"/>
                    </a:solidFill>
                  </a:tcPr>
                </a:tc>
                <a:extLst>
                  <a:ext uri="{0D108BD9-81ED-4DB2-BD59-A6C34878D82A}">
                    <a16:rowId xmlns:a16="http://schemas.microsoft.com/office/drawing/2014/main" val="10001"/>
                  </a:ext>
                </a:extLst>
              </a:tr>
              <a:tr h="521207">
                <a:tc>
                  <a:txBody>
                    <a:bodyPr/>
                    <a:lstStyle/>
                    <a:p>
                      <a:r>
                        <a:rPr sz="1700" b="0">
                          <a:solidFill>
                            <a:srgbClr val="14202E"/>
                          </a:solidFill>
                          <a:latin typeface="IBM Plex Sans"/>
                        </a:rPr>
                        <a:t>Borrow $44.12</a:t>
                      </a:r>
                    </a:p>
                  </a:txBody>
                  <a:tcPr marL="109728" marT="91440" marB="54864">
                    <a:solidFill>
                      <a:srgbClr val="F5F3EC"/>
                    </a:solidFill>
                  </a:tcPr>
                </a:tc>
                <a:tc>
                  <a:txBody>
                    <a:bodyPr/>
                    <a:lstStyle/>
                    <a:p>
                      <a:r>
                        <a:rPr sz="1700" b="0">
                          <a:solidFill>
                            <a:srgbClr val="14202E"/>
                          </a:solidFill>
                          <a:latin typeface="IBM Plex Sans"/>
                        </a:rPr>
                        <a:t>−$44.12</a:t>
                      </a:r>
                    </a:p>
                  </a:txBody>
                  <a:tcPr marL="109728" marT="91440" marB="54864">
                    <a:solidFill>
                      <a:srgbClr val="F5F3EC"/>
                    </a:solidFill>
                  </a:tcPr>
                </a:tc>
                <a:tc>
                  <a:txBody>
                    <a:bodyPr/>
                    <a:lstStyle/>
                    <a:p>
                      <a:r>
                        <a:rPr sz="1700" b="0">
                          <a:solidFill>
                            <a:srgbClr val="14202E"/>
                          </a:solidFill>
                          <a:latin typeface="IBM Plex Sans"/>
                        </a:rPr>
                        <a:t>−$45.00</a:t>
                      </a:r>
                    </a:p>
                  </a:txBody>
                  <a:tcPr marL="109728" marT="91440" marB="54864">
                    <a:solidFill>
                      <a:srgbClr val="F5F3EC"/>
                    </a:solidFill>
                  </a:tcPr>
                </a:tc>
                <a:tc>
                  <a:txBody>
                    <a:bodyPr/>
                    <a:lstStyle/>
                    <a:p>
                      <a:r>
                        <a:rPr sz="1700" b="0">
                          <a:solidFill>
                            <a:srgbClr val="14202E"/>
                          </a:solidFill>
                          <a:latin typeface="IBM Plex Sans"/>
                        </a:rPr>
                        <a:t>−$45.00</a:t>
                      </a:r>
                    </a:p>
                  </a:txBody>
                  <a:tcPr marL="109728" marT="91440" marB="54864">
                    <a:solidFill>
                      <a:srgbClr val="F5F3EC"/>
                    </a:solidFill>
                  </a:tcPr>
                </a:tc>
                <a:extLst>
                  <a:ext uri="{0D108BD9-81ED-4DB2-BD59-A6C34878D82A}">
                    <a16:rowId xmlns:a16="http://schemas.microsoft.com/office/drawing/2014/main" val="10002"/>
                  </a:ext>
                </a:extLst>
              </a:tr>
              <a:tr h="521207">
                <a:tc>
                  <a:txBody>
                    <a:bodyPr/>
                    <a:lstStyle/>
                    <a:p>
                      <a:r>
                        <a:rPr sz="1700" b="0">
                          <a:solidFill>
                            <a:srgbClr val="14202E"/>
                          </a:solidFill>
                          <a:latin typeface="IBM Plex Sans"/>
                        </a:rPr>
                        <a:t>Shares + loan</a:t>
                      </a:r>
                    </a:p>
                  </a:txBody>
                  <a:tcPr marL="109728" marT="91440" marB="54864">
                    <a:solidFill>
                      <a:srgbClr val="E6E8E2"/>
                    </a:solidFill>
                  </a:tcPr>
                </a:tc>
                <a:tc>
                  <a:txBody>
                    <a:bodyPr/>
                    <a:lstStyle/>
                    <a:p>
                      <a:r>
                        <a:rPr sz="1700" b="0">
                          <a:solidFill>
                            <a:srgbClr val="14202E"/>
                          </a:solidFill>
                          <a:latin typeface="IBM Plex Sans"/>
                        </a:rPr>
                        <a:t>$5.88</a:t>
                      </a:r>
                    </a:p>
                  </a:txBody>
                  <a:tcPr marL="109728" marT="91440" marB="54864">
                    <a:solidFill>
                      <a:srgbClr val="E6E8E2"/>
                    </a:solidFill>
                  </a:tcPr>
                </a:tc>
                <a:tc>
                  <a:txBody>
                    <a:bodyPr/>
                    <a:lstStyle/>
                    <a:p>
                      <a:r>
                        <a:rPr sz="1700" b="0">
                          <a:solidFill>
                            <a:srgbClr val="14202E"/>
                          </a:solidFill>
                          <a:latin typeface="IBM Plex Sans"/>
                        </a:rPr>
                        <a:t>$10.00</a:t>
                      </a:r>
                    </a:p>
                  </a:txBody>
                  <a:tcPr marL="109728" marT="91440" marB="54864">
                    <a:solidFill>
                      <a:srgbClr val="E6E8E2"/>
                    </a:solidFill>
                  </a:tcPr>
                </a:tc>
                <a:tc>
                  <a:txBody>
                    <a:bodyPr/>
                    <a:lstStyle/>
                    <a:p>
                      <a:r>
                        <a:rPr sz="1700" b="0">
                          <a:solidFill>
                            <a:srgbClr val="14202E"/>
                          </a:solidFill>
                          <a:latin typeface="IBM Plex Sans"/>
                        </a:rPr>
                        <a:t>$0.00</a:t>
                      </a:r>
                    </a:p>
                  </a:txBody>
                  <a:tcPr marL="109728" marT="91440" marB="54864">
                    <a:solidFill>
                      <a:srgbClr val="E6E8E2"/>
                    </a:solidFill>
                  </a:tcPr>
                </a:tc>
                <a:extLst>
                  <a:ext uri="{0D108BD9-81ED-4DB2-BD59-A6C34878D82A}">
                    <a16:rowId xmlns:a16="http://schemas.microsoft.com/office/drawing/2014/main" val="10003"/>
                  </a:ext>
                </a:extLst>
              </a:tr>
              <a:tr h="521207">
                <a:tc>
                  <a:txBody>
                    <a:bodyPr/>
                    <a:lstStyle/>
                    <a:p>
                      <a:r>
                        <a:rPr sz="1700" b="0">
                          <a:solidFill>
                            <a:srgbClr val="14202E"/>
                          </a:solidFill>
                          <a:latin typeface="IBM Plex Sans"/>
                        </a:rPr>
                        <a:t>Call option</a:t>
                      </a:r>
                    </a:p>
                  </a:txBody>
                  <a:tcPr marL="109728" marT="91440" marB="54864">
                    <a:solidFill>
                      <a:srgbClr val="F5F3EC"/>
                    </a:solidFill>
                  </a:tcPr>
                </a:tc>
                <a:tc>
                  <a:txBody>
                    <a:bodyPr/>
                    <a:lstStyle/>
                    <a:p>
                      <a:r>
                        <a:rPr sz="1700" b="0">
                          <a:solidFill>
                            <a:srgbClr val="14202E"/>
                          </a:solidFill>
                          <a:latin typeface="IBM Plex Sans"/>
                        </a:rPr>
                        <a:t>$5.88 by no-arbitrage</a:t>
                      </a:r>
                    </a:p>
                  </a:txBody>
                  <a:tcPr marL="109728" marT="91440" marB="54864">
                    <a:solidFill>
                      <a:srgbClr val="F5F3EC"/>
                    </a:solidFill>
                  </a:tcPr>
                </a:tc>
                <a:tc>
                  <a:txBody>
                    <a:bodyPr/>
                    <a:lstStyle/>
                    <a:p>
                      <a:r>
                        <a:rPr sz="1700" b="0">
                          <a:solidFill>
                            <a:srgbClr val="14202E"/>
                          </a:solidFill>
                          <a:latin typeface="IBM Plex Sans"/>
                        </a:rPr>
                        <a:t>$10.00</a:t>
                      </a:r>
                    </a:p>
                  </a:txBody>
                  <a:tcPr marL="109728" marT="91440" marB="54864">
                    <a:solidFill>
                      <a:srgbClr val="F5F3EC"/>
                    </a:solidFill>
                  </a:tcPr>
                </a:tc>
                <a:tc>
                  <a:txBody>
                    <a:bodyPr/>
                    <a:lstStyle/>
                    <a:p>
                      <a:r>
                        <a:rPr sz="1700" b="0">
                          <a:solidFill>
                            <a:srgbClr val="14202E"/>
                          </a:solidFill>
                          <a:latin typeface="IBM Plex Sans"/>
                        </a:rPr>
                        <a:t>$0.00</a:t>
                      </a:r>
                    </a:p>
                  </a:txBody>
                  <a:tcPr marL="109728" marT="91440" marB="54864">
                    <a:solidFill>
                      <a:srgbClr val="F5F3EC"/>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812901" y="5285232"/>
            <a:ext cx="5760720" cy="731520"/>
          </a:xfrm>
          <a:prstGeom prst="rect">
            <a:avLst/>
          </a:prstGeom>
          <a:noFill/>
        </p:spPr>
        <p:txBody>
          <a:bodyPr wrap="square" lIns="0" tIns="0" rIns="0" bIns="0">
            <a:spAutoFit/>
          </a:bodyPr>
          <a:lstStyle/>
          <a:p>
            <a:pPr>
              <a:spcBef>
                <a:spcPts val="0"/>
              </a:spcBef>
              <a:spcAft>
                <a:spcPts val="0"/>
              </a:spcAft>
            </a:pPr>
            <a:r>
              <a:rPr sz="1600" b="0">
                <a:solidFill>
                  <a:srgbClr val="44505E"/>
                </a:solidFill>
                <a:latin typeface="IBM Plex Sans"/>
              </a:rPr>
              <a:t>The other sides of the triangle
0.5 share − call = cash paying $45.
2 calls + cash paying $90 = 1 share.</a:t>
            </a:r>
          </a:p>
        </p:txBody>
      </p:sp>
      <p:sp>
        <p:nvSpPr>
          <p:cNvPr id="7" name="TextBox 6"/>
          <p:cNvSpPr txBox="1"/>
          <p:nvPr/>
        </p:nvSpPr>
        <p:spPr>
          <a:xfrm>
            <a:off x="6812280" y="5285232"/>
            <a:ext cx="4389120" cy="758952"/>
          </a:xfrm>
          <a:prstGeom prst="rect">
            <a:avLst/>
          </a:prstGeom>
          <a:noFill/>
        </p:spPr>
        <p:txBody>
          <a:bodyPr wrap="square" lIns="0" tIns="0" rIns="0" bIns="0">
            <a:spAutoFit/>
          </a:bodyPr>
          <a:lstStyle/>
          <a:p>
            <a:pPr>
              <a:spcBef>
                <a:spcPts val="0"/>
              </a:spcBef>
              <a:spcAft>
                <a:spcPts val="0"/>
              </a:spcAft>
            </a:pPr>
            <a:r>
              <a:rPr sz="1600" b="1">
                <a:solidFill>
                  <a:srgbClr val="2B65C8"/>
                </a:solidFill>
                <a:latin typeface="IBM Plex Sans"/>
              </a:rPr>
              <a:t>If the call costs $6.86
Sell it and buy the $5.88 replica.
Keep about $0.98 today; future net payoff is $0.</a:t>
            </a:r>
          </a:p>
        </p:txBody>
      </p:sp>
      <p:sp>
        <p:nvSpPr>
          <p:cNvPr id="8" name="TextBox 7"/>
          <p:cNvSpPr txBox="1"/>
          <p:nvPr/>
        </p:nvSpPr>
        <p:spPr>
          <a:xfrm>
            <a:off x="812901" y="6382512"/>
            <a:ext cx="10607040" cy="219456"/>
          </a:xfrm>
          <a:prstGeom prst="rect">
            <a:avLst/>
          </a:prstGeom>
          <a:noFill/>
        </p:spPr>
        <p:txBody>
          <a:bodyPr wrap="square" lIns="0" tIns="0" rIns="0" bIns="0">
            <a:spAutoFit/>
          </a:bodyPr>
          <a:lstStyle/>
          <a:p>
            <a:pPr>
              <a:spcBef>
                <a:spcPts val="0"/>
              </a:spcBef>
              <a:spcAft>
                <a:spcPts val="0"/>
              </a:spcAft>
            </a:pPr>
            <a:r>
              <a:rPr sz="1000" b="0">
                <a:solidFill>
                  <a:srgbClr val="44505E"/>
                </a:solidFill>
                <a:latin typeface="IBM Plex Sans"/>
              </a:rPr>
              <a:t>Illustrative exact two-state model. No dividends or costs; borrowing and shorting allowed. Values round to cents.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01 · THE PRICING PROBLEM · ARBITRAGE</a:t>
            </a:r>
            <a:endParaRPr lang="en-US" sz="1200"/>
          </a:p>
        </p:txBody>
      </p:sp>
      <p:sp>
        <p:nvSpPr>
          <p:cNvPr id="3" name="Text 1"/>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14202E"/>
                </a:solidFill>
                <a:latin typeface="Source Serif 4" pitchFamily="18" charset="0"/>
                <a:ea typeface="Source Serif 4" pitchFamily="18" charset="-122"/>
                <a:cs typeface="Source Serif 4" pitchFamily="18" charset="-120"/>
              </a:rPr>
              <a:t>Why the triangle works: two outcomes, two controls</a:t>
            </a:r>
            <a:endParaRPr lang="en-US" sz="3000"/>
          </a:p>
        </p:txBody>
      </p:sp>
      <p:sp>
        <p:nvSpPr>
          <p:cNvPr id="4" name="TextBox 3"/>
          <p:cNvSpPr txBox="1"/>
          <p:nvPr/>
        </p:nvSpPr>
        <p:spPr>
          <a:xfrm>
            <a:off x="812901" y="1536192"/>
            <a:ext cx="10561320" cy="658368"/>
          </a:xfrm>
          <a:prstGeom prst="rect">
            <a:avLst/>
          </a:prstGeom>
          <a:noFill/>
        </p:spPr>
        <p:txBody>
          <a:bodyPr wrap="square" lIns="0" tIns="0" rIns="0" bIns="0">
            <a:spAutoFit/>
          </a:bodyPr>
          <a:lstStyle/>
          <a:p>
            <a:pPr>
              <a:spcBef>
                <a:spcPts val="0"/>
              </a:spcBef>
              <a:spcAft>
                <a:spcPts val="0"/>
              </a:spcAft>
            </a:pPr>
            <a:r>
              <a:rPr sz="2100" b="0">
                <a:solidFill>
                  <a:srgbClr val="14202E"/>
                </a:solidFill>
                <a:latin typeface="IBM Plex Sans"/>
              </a:rPr>
              <a:t>Think of the option as a pair of future payments: one if the stock rises, one if it falls. Shares and cash give us two ways to shape that pair.</a:t>
            </a:r>
          </a:p>
        </p:txBody>
      </p:sp>
      <p:sp>
        <p:nvSpPr>
          <p:cNvPr id="5" name="TextBox 4"/>
          <p:cNvSpPr txBox="1"/>
          <p:nvPr/>
        </p:nvSpPr>
        <p:spPr>
          <a:xfrm>
            <a:off x="812901" y="2560320"/>
            <a:ext cx="2852928" cy="640080"/>
          </a:xfrm>
          <a:prstGeom prst="rect">
            <a:avLst/>
          </a:prstGeom>
          <a:noFill/>
        </p:spPr>
        <p:txBody>
          <a:bodyPr wrap="square" lIns="0" tIns="0" rIns="0" bIns="0">
            <a:spAutoFit/>
          </a:bodyPr>
          <a:lstStyle/>
          <a:p>
            <a:pPr>
              <a:spcBef>
                <a:spcPts val="0"/>
              </a:spcBef>
              <a:spcAft>
                <a:spcPts val="0"/>
              </a:spcAft>
            </a:pPr>
            <a:r>
              <a:rPr sz="2000" b="1">
                <a:solidFill>
                  <a:srgbClr val="2B65C8"/>
                </a:solidFill>
                <a:latin typeface="IBM Plex Sans"/>
              </a:rPr>
              <a:t>Shares set the difference</a:t>
            </a:r>
          </a:p>
        </p:txBody>
      </p:sp>
      <p:sp>
        <p:nvSpPr>
          <p:cNvPr id="6" name="TextBox 5"/>
          <p:cNvSpPr txBox="1"/>
          <p:nvPr/>
        </p:nvSpPr>
        <p:spPr>
          <a:xfrm>
            <a:off x="3931920" y="2560320"/>
            <a:ext cx="7424927" cy="786384"/>
          </a:xfrm>
          <a:prstGeom prst="rect">
            <a:avLst/>
          </a:prstGeom>
          <a:noFill/>
        </p:spPr>
        <p:txBody>
          <a:bodyPr wrap="square" lIns="0" tIns="0" rIns="0" bIns="0">
            <a:spAutoFit/>
          </a:bodyPr>
          <a:lstStyle/>
          <a:p>
            <a:pPr>
              <a:spcBef>
                <a:spcPts val="0"/>
              </a:spcBef>
              <a:spcAft>
                <a:spcPts val="0"/>
              </a:spcAft>
            </a:pPr>
            <a:r>
              <a:rPr sz="1800" b="0">
                <a:solidFill>
                  <a:srgbClr val="44505E"/>
                </a:solidFill>
                <a:latin typeface="IBM Plex Sans"/>
              </a:rPr>
              <a:t>A share pays more in the up state than in the down state. Changing the number of shares changes that gap. In our example, half a share pays $55 or $45: a $10 gap, just like the call’s $10 or $0.</a:t>
            </a:r>
          </a:p>
        </p:txBody>
      </p:sp>
      <p:sp>
        <p:nvSpPr>
          <p:cNvPr id="7" name="TextBox 6"/>
          <p:cNvSpPr txBox="1"/>
          <p:nvPr/>
        </p:nvSpPr>
        <p:spPr>
          <a:xfrm>
            <a:off x="812901" y="3547872"/>
            <a:ext cx="2852928" cy="640080"/>
          </a:xfrm>
          <a:prstGeom prst="rect">
            <a:avLst/>
          </a:prstGeom>
          <a:noFill/>
        </p:spPr>
        <p:txBody>
          <a:bodyPr wrap="square" lIns="0" tIns="0" rIns="0" bIns="0">
            <a:spAutoFit/>
          </a:bodyPr>
          <a:lstStyle/>
          <a:p>
            <a:pPr>
              <a:spcBef>
                <a:spcPts val="0"/>
              </a:spcBef>
              <a:spcAft>
                <a:spcPts val="0"/>
              </a:spcAft>
            </a:pPr>
            <a:r>
              <a:rPr sz="2000" b="1">
                <a:solidFill>
                  <a:srgbClr val="2B65C8"/>
                </a:solidFill>
                <a:latin typeface="IBM Plex Sans"/>
              </a:rPr>
              <a:t>Cash sets the level</a:t>
            </a:r>
          </a:p>
        </p:txBody>
      </p:sp>
      <p:sp>
        <p:nvSpPr>
          <p:cNvPr id="8" name="TextBox 7"/>
          <p:cNvSpPr txBox="1"/>
          <p:nvPr/>
        </p:nvSpPr>
        <p:spPr>
          <a:xfrm>
            <a:off x="3931920" y="3547872"/>
            <a:ext cx="7424927" cy="786384"/>
          </a:xfrm>
          <a:prstGeom prst="rect">
            <a:avLst/>
          </a:prstGeom>
          <a:noFill/>
        </p:spPr>
        <p:txBody>
          <a:bodyPr wrap="square" lIns="0" tIns="0" rIns="0" bIns="0">
            <a:spAutoFit/>
          </a:bodyPr>
          <a:lstStyle/>
          <a:p>
            <a:pPr>
              <a:spcBef>
                <a:spcPts val="0"/>
              </a:spcBef>
              <a:spcAft>
                <a:spcPts val="0"/>
              </a:spcAft>
            </a:pPr>
            <a:r>
              <a:rPr sz="1800" b="0">
                <a:solidFill>
                  <a:srgbClr val="44505E"/>
                </a:solidFill>
                <a:latin typeface="IBM Plex Sans"/>
              </a:rPr>
              <a:t>A bank deposit adds the same future amount in both states. A loan subtracts the same repayment. Subtract $45 from $55 and $45, and the two outcomes become exactly $10 and $0.</a:t>
            </a:r>
          </a:p>
        </p:txBody>
      </p:sp>
      <p:sp>
        <p:nvSpPr>
          <p:cNvPr id="9" name="TextBox 8"/>
          <p:cNvSpPr txBox="1"/>
          <p:nvPr/>
        </p:nvSpPr>
        <p:spPr>
          <a:xfrm>
            <a:off x="812901" y="4535424"/>
            <a:ext cx="2852928" cy="640080"/>
          </a:xfrm>
          <a:prstGeom prst="rect">
            <a:avLst/>
          </a:prstGeom>
          <a:noFill/>
        </p:spPr>
        <p:txBody>
          <a:bodyPr wrap="square" lIns="0" tIns="0" rIns="0" bIns="0">
            <a:spAutoFit/>
          </a:bodyPr>
          <a:lstStyle/>
          <a:p>
            <a:pPr>
              <a:spcBef>
                <a:spcPts val="0"/>
              </a:spcBef>
              <a:spcAft>
                <a:spcPts val="0"/>
              </a:spcAft>
            </a:pPr>
            <a:r>
              <a:rPr sz="2000" b="1">
                <a:solidFill>
                  <a:srgbClr val="2B65C8"/>
                </a:solidFill>
                <a:latin typeface="IBM Plex Sans"/>
              </a:rPr>
              <a:t>Matching payments link prices</a:t>
            </a:r>
          </a:p>
        </p:txBody>
      </p:sp>
      <p:sp>
        <p:nvSpPr>
          <p:cNvPr id="10" name="TextBox 9"/>
          <p:cNvSpPr txBox="1"/>
          <p:nvPr/>
        </p:nvSpPr>
        <p:spPr>
          <a:xfrm>
            <a:off x="3931920" y="4535424"/>
            <a:ext cx="7424927" cy="786384"/>
          </a:xfrm>
          <a:prstGeom prst="rect">
            <a:avLst/>
          </a:prstGeom>
          <a:noFill/>
        </p:spPr>
        <p:txBody>
          <a:bodyPr wrap="square" lIns="0" tIns="0" rIns="0" bIns="0">
            <a:spAutoFit/>
          </a:bodyPr>
          <a:lstStyle/>
          <a:p>
            <a:pPr>
              <a:spcBef>
                <a:spcPts val="0"/>
              </a:spcBef>
              <a:spcAft>
                <a:spcPts val="0"/>
              </a:spcAft>
            </a:pPr>
            <a:r>
              <a:rPr sz="1800" b="0">
                <a:solidFill>
                  <a:srgbClr val="44505E"/>
                </a:solidFill>
                <a:latin typeface="IBM Plex Sans"/>
              </a:rPr>
              <a:t>Once the payments match in every state, the option and its replica do the same financial job. No-arbitrage links their prices. Rearranging the same positions gives the other sides of the triangle.</a:t>
            </a:r>
          </a:p>
        </p:txBody>
      </p:sp>
      <p:sp>
        <p:nvSpPr>
          <p:cNvPr id="11" name="TextBox 10"/>
          <p:cNvSpPr txBox="1"/>
          <p:nvPr/>
        </p:nvSpPr>
        <p:spPr>
          <a:xfrm>
            <a:off x="812900" y="5760720"/>
            <a:ext cx="10962539" cy="353943"/>
          </a:xfrm>
          <a:prstGeom prst="rect">
            <a:avLst/>
          </a:prstGeom>
          <a:noFill/>
        </p:spPr>
        <p:txBody>
          <a:bodyPr wrap="square" lIns="0" tIns="0" rIns="0" bIns="0">
            <a:spAutoFit/>
          </a:bodyPr>
          <a:lstStyle/>
          <a:p>
            <a:pPr>
              <a:spcBef>
                <a:spcPts val="0"/>
              </a:spcBef>
              <a:spcAft>
                <a:spcPts val="0"/>
              </a:spcAft>
            </a:pPr>
            <a:r>
              <a:rPr sz="2300" b="0" dirty="0">
                <a:solidFill>
                  <a:srgbClr val="14202E"/>
                </a:solidFill>
                <a:latin typeface="Source Serif 4"/>
              </a:rPr>
              <a:t>Reflection: if two packages pay exactly the same whatever happens, why pay more for one?</a:t>
            </a:r>
          </a:p>
        </p:txBody>
      </p:sp>
      <p:sp>
        <p:nvSpPr>
          <p:cNvPr id="12" name="TextBox 11"/>
          <p:cNvSpPr txBox="1"/>
          <p:nvPr/>
        </p:nvSpPr>
        <p:spPr>
          <a:xfrm>
            <a:off x="812901" y="6171081"/>
            <a:ext cx="10561320" cy="430887"/>
          </a:xfrm>
          <a:prstGeom prst="rect">
            <a:avLst/>
          </a:prstGeom>
          <a:noFill/>
        </p:spPr>
        <p:txBody>
          <a:bodyPr wrap="square" lIns="0" tIns="0" rIns="0" bIns="0">
            <a:spAutoFit/>
          </a:bodyPr>
          <a:lstStyle/>
          <a:p>
            <a:pPr>
              <a:spcBef>
                <a:spcPts val="0"/>
              </a:spcBef>
              <a:spcAft>
                <a:spcPts val="0"/>
              </a:spcAft>
            </a:pPr>
            <a:r>
              <a:rPr sz="1400" b="0" dirty="0">
                <a:solidFill>
                  <a:srgbClr val="44505E"/>
                </a:solidFill>
                <a:latin typeface="IBM Plex Sans"/>
              </a:rPr>
              <a:t>Exact in this one-period, two-state example. More trading dates require rebalancing; fixed shares and cash cannot match every option payoff.</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5">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THE PRICING PROBLEM</a:t>
            </a:r>
            <a:endParaRPr lang="en-US" sz="1200" dirty="0"/>
          </a:p>
        </p:txBody>
      </p:sp>
      <p:sp>
        <p:nvSpPr>
          <p:cNvPr id="3" name="Text 1"/>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The way out: replicate the option, then invoke no-arbitrage</a:t>
            </a:r>
            <a:endParaRPr lang="en-US" sz="3000" dirty="0"/>
          </a:p>
        </p:txBody>
      </p:sp>
      <p:sp>
        <p:nvSpPr>
          <p:cNvPr id="4" name="Shape 2"/>
          <p:cNvSpPr/>
          <p:nvPr/>
        </p:nvSpPr>
        <p:spPr>
          <a:xfrm>
            <a:off x="822325" y="2094210"/>
            <a:ext cx="4791918" cy="1196280"/>
          </a:xfrm>
          <a:prstGeom prst="roundRect">
            <a:avLst>
              <a:gd name="adj" fmla="val 7697"/>
            </a:avLst>
          </a:prstGeom>
          <a:solidFill>
            <a:srgbClr val="FDFCF8"/>
          </a:solidFill>
          <a:ln w="19050">
            <a:solidFill>
              <a:srgbClr val="14202E"/>
            </a:solidFill>
            <a:prstDash val="solid"/>
          </a:ln>
        </p:spPr>
        <p:txBody>
          <a:bodyPr/>
          <a:lstStyle/>
          <a:p>
            <a:endParaRPr lang="en-SE"/>
          </a:p>
        </p:txBody>
      </p:sp>
      <p:sp>
        <p:nvSpPr>
          <p:cNvPr id="5" name="Text 3"/>
          <p:cNvSpPr/>
          <p:nvPr/>
        </p:nvSpPr>
        <p:spPr>
          <a:xfrm>
            <a:off x="1085850" y="2357735"/>
            <a:ext cx="4392814"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02E"/>
                </a:solidFill>
                <a:latin typeface="IBM Plex Sans" pitchFamily="34" charset="0"/>
                <a:ea typeface="IBM Plex Sans" pitchFamily="34" charset="-122"/>
                <a:cs typeface="IBM Plex Sans" pitchFamily="34" charset="-120"/>
              </a:rPr>
              <a:t>The option</a:t>
            </a:r>
            <a:endParaRPr lang="en-US" sz="2200" dirty="0"/>
          </a:p>
        </p:txBody>
      </p:sp>
      <p:sp>
        <p:nvSpPr>
          <p:cNvPr id="6" name="Text 4"/>
          <p:cNvSpPr/>
          <p:nvPr/>
        </p:nvSpPr>
        <p:spPr>
          <a:xfrm>
            <a:off x="1085850" y="2769195"/>
            <a:ext cx="4392814" cy="28317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Pays V↑ if the stock goes up, V↓ if it goes down</a:t>
            </a:r>
            <a:endParaRPr lang="en-US" sz="1400" dirty="0"/>
          </a:p>
        </p:txBody>
      </p:sp>
      <p:sp>
        <p:nvSpPr>
          <p:cNvPr id="7" name="Text 5"/>
          <p:cNvSpPr/>
          <p:nvPr/>
        </p:nvSpPr>
        <p:spPr>
          <a:xfrm>
            <a:off x="5877768" y="2311350"/>
            <a:ext cx="52375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2B65C8"/>
                </a:solidFill>
                <a:latin typeface="Source Serif 4" pitchFamily="18" charset="0"/>
                <a:ea typeface="Source Serif 4" pitchFamily="18" charset="-122"/>
                <a:cs typeface="Source Serif 4" pitchFamily="18" charset="-120"/>
              </a:rPr>
              <a:t>≡</a:t>
            </a:r>
            <a:endParaRPr lang="en-US" sz="6000" dirty="0"/>
          </a:p>
        </p:txBody>
      </p:sp>
      <p:sp>
        <p:nvSpPr>
          <p:cNvPr id="8" name="Shape 6"/>
          <p:cNvSpPr/>
          <p:nvPr/>
        </p:nvSpPr>
        <p:spPr>
          <a:xfrm>
            <a:off x="6577757" y="1965325"/>
            <a:ext cx="4791918" cy="1454051"/>
          </a:xfrm>
          <a:prstGeom prst="roundRect">
            <a:avLst>
              <a:gd name="adj" fmla="val 6332"/>
            </a:avLst>
          </a:prstGeom>
          <a:solidFill>
            <a:srgbClr val="FDFCF8"/>
          </a:solidFill>
          <a:ln w="19050">
            <a:solidFill>
              <a:srgbClr val="2B65C8"/>
            </a:solidFill>
            <a:prstDash val="solid"/>
          </a:ln>
        </p:spPr>
        <p:txBody>
          <a:bodyPr/>
          <a:lstStyle/>
          <a:p>
            <a:endParaRPr lang="en-SE"/>
          </a:p>
        </p:txBody>
      </p:sp>
      <p:sp>
        <p:nvSpPr>
          <p:cNvPr id="9" name="Text 7"/>
          <p:cNvSpPr/>
          <p:nvPr/>
        </p:nvSpPr>
        <p:spPr>
          <a:xfrm>
            <a:off x="6841282" y="2228850"/>
            <a:ext cx="4392814"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02E"/>
                </a:solidFill>
                <a:latin typeface="IBM Plex Sans" pitchFamily="34" charset="0"/>
                <a:ea typeface="IBM Plex Sans" pitchFamily="34" charset="-122"/>
                <a:cs typeface="IBM Plex Sans" pitchFamily="34" charset="-120"/>
              </a:rPr>
              <a:t>Δ shares + B in the bank</a:t>
            </a:r>
            <a:endParaRPr lang="en-US" sz="2200" dirty="0"/>
          </a:p>
        </p:txBody>
      </p:sp>
      <p:sp>
        <p:nvSpPr>
          <p:cNvPr id="10" name="Text 8"/>
          <p:cNvSpPr/>
          <p:nvPr/>
        </p:nvSpPr>
        <p:spPr>
          <a:xfrm>
            <a:off x="6841282" y="2640310"/>
            <a:ext cx="4392814"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Chosen so it pays exactly V↑ and V↓ in the same two states</a:t>
            </a:r>
            <a:endParaRPr lang="en-US" sz="1400" dirty="0"/>
          </a:p>
        </p:txBody>
      </p:sp>
      <p:sp>
        <p:nvSpPr>
          <p:cNvPr id="11" name="Shape 9"/>
          <p:cNvSpPr/>
          <p:nvPr/>
        </p:nvSpPr>
        <p:spPr>
          <a:xfrm>
            <a:off x="812800" y="3746401"/>
            <a:ext cx="3386634" cy="0"/>
          </a:xfrm>
          <a:prstGeom prst="line">
            <a:avLst/>
          </a:prstGeom>
          <a:noFill/>
          <a:ln w="25400">
            <a:solidFill>
              <a:srgbClr val="2B65C8"/>
            </a:solidFill>
            <a:prstDash val="solid"/>
          </a:ln>
        </p:spPr>
        <p:txBody>
          <a:bodyPr/>
          <a:lstStyle/>
          <a:p>
            <a:endParaRPr lang="en-SE"/>
          </a:p>
        </p:txBody>
      </p:sp>
      <p:sp>
        <p:nvSpPr>
          <p:cNvPr id="12" name="Text 10"/>
          <p:cNvSpPr/>
          <p:nvPr/>
        </p:nvSpPr>
        <p:spPr>
          <a:xfrm>
            <a:off x="812800" y="3911501"/>
            <a:ext cx="348823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Law of one price</a:t>
            </a:r>
            <a:endParaRPr lang="en-US" sz="1600" dirty="0"/>
          </a:p>
        </p:txBody>
      </p:sp>
      <p:sp>
        <p:nvSpPr>
          <p:cNvPr id="13" name="Text 11"/>
          <p:cNvSpPr/>
          <p:nvPr/>
        </p:nvSpPr>
        <p:spPr>
          <a:xfrm>
            <a:off x="812800" y="4218831"/>
            <a:ext cx="3488233"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Same payoff in every state ⇒ same price today.</a:t>
            </a:r>
            <a:endParaRPr lang="en-US" sz="1400" dirty="0"/>
          </a:p>
        </p:txBody>
      </p:sp>
      <p:sp>
        <p:nvSpPr>
          <p:cNvPr id="14" name="Shape 12"/>
          <p:cNvSpPr/>
          <p:nvPr/>
        </p:nvSpPr>
        <p:spPr>
          <a:xfrm>
            <a:off x="4402634" y="3746401"/>
            <a:ext cx="3386683" cy="0"/>
          </a:xfrm>
          <a:prstGeom prst="line">
            <a:avLst/>
          </a:prstGeom>
          <a:noFill/>
          <a:ln w="25400">
            <a:solidFill>
              <a:srgbClr val="2B65C8"/>
            </a:solidFill>
            <a:prstDash val="solid"/>
          </a:ln>
        </p:spPr>
        <p:txBody>
          <a:bodyPr/>
          <a:lstStyle/>
          <a:p>
            <a:endParaRPr lang="en-SE"/>
          </a:p>
        </p:txBody>
      </p:sp>
      <p:sp>
        <p:nvSpPr>
          <p:cNvPr id="15" name="Text 13"/>
          <p:cNvSpPr/>
          <p:nvPr/>
        </p:nvSpPr>
        <p:spPr>
          <a:xfrm>
            <a:off x="4402634" y="3911501"/>
            <a:ext cx="34882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Otherwise: free money</a:t>
            </a:r>
            <a:endParaRPr lang="en-US" sz="1600" dirty="0"/>
          </a:p>
        </p:txBody>
      </p:sp>
      <p:sp>
        <p:nvSpPr>
          <p:cNvPr id="16" name="Text 14"/>
          <p:cNvSpPr/>
          <p:nvPr/>
        </p:nvSpPr>
        <p:spPr>
          <a:xfrm>
            <a:off x="4402634" y="4218831"/>
            <a:ext cx="3488284"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Buy the cheap one, sell the dear one, collect the gap with zero risk.</a:t>
            </a:r>
            <a:endParaRPr lang="en-US" sz="1400" dirty="0"/>
          </a:p>
        </p:txBody>
      </p:sp>
      <p:sp>
        <p:nvSpPr>
          <p:cNvPr id="17" name="Shape 15"/>
          <p:cNvSpPr/>
          <p:nvPr/>
        </p:nvSpPr>
        <p:spPr>
          <a:xfrm>
            <a:off x="7992517" y="3746401"/>
            <a:ext cx="3386683" cy="0"/>
          </a:xfrm>
          <a:prstGeom prst="line">
            <a:avLst/>
          </a:prstGeom>
          <a:noFill/>
          <a:ln w="25400">
            <a:solidFill>
              <a:srgbClr val="2B65C8"/>
            </a:solidFill>
            <a:prstDash val="solid"/>
          </a:ln>
        </p:spPr>
        <p:txBody>
          <a:bodyPr/>
          <a:lstStyle/>
          <a:p>
            <a:endParaRPr lang="en-SE"/>
          </a:p>
        </p:txBody>
      </p:sp>
      <p:sp>
        <p:nvSpPr>
          <p:cNvPr id="18" name="Text 16"/>
          <p:cNvSpPr/>
          <p:nvPr/>
        </p:nvSpPr>
        <p:spPr>
          <a:xfrm>
            <a:off x="7992517" y="3911501"/>
            <a:ext cx="34882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No opinions needed</a:t>
            </a:r>
            <a:endParaRPr lang="en-US" sz="1600" dirty="0"/>
          </a:p>
        </p:txBody>
      </p:sp>
      <p:sp>
        <p:nvSpPr>
          <p:cNvPr id="19" name="Text 17"/>
          <p:cNvSpPr/>
          <p:nvPr/>
        </p:nvSpPr>
        <p:spPr>
          <a:xfrm>
            <a:off x="7992517" y="4218831"/>
            <a:ext cx="3488284"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The price of shares and cash is observable today. So is the option’s.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6">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THE PRICING PROBLEM</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A short history: continuous first, discrete second</a:t>
            </a:r>
            <a:endParaRPr lang="en-US" sz="3000" dirty="0"/>
          </a:p>
        </p:txBody>
      </p:sp>
      <p:sp>
        <p:nvSpPr>
          <p:cNvPr id="4" name="Shape 2"/>
          <p:cNvSpPr/>
          <p:nvPr/>
        </p:nvSpPr>
        <p:spPr>
          <a:xfrm>
            <a:off x="812800" y="1651000"/>
            <a:ext cx="10566400" cy="0"/>
          </a:xfrm>
          <a:prstGeom prst="line">
            <a:avLst/>
          </a:prstGeom>
          <a:noFill/>
          <a:ln w="25400">
            <a:solidFill>
              <a:srgbClr val="14202E"/>
            </a:solidFill>
            <a:prstDash val="solid"/>
          </a:ln>
        </p:spPr>
        <p:txBody>
          <a:bodyPr/>
          <a:lstStyle/>
          <a:p>
            <a:endParaRPr lang="en-SE"/>
          </a:p>
        </p:txBody>
      </p:sp>
      <p:sp>
        <p:nvSpPr>
          <p:cNvPr id="5" name="Text 3"/>
          <p:cNvSpPr/>
          <p:nvPr/>
        </p:nvSpPr>
        <p:spPr>
          <a:xfrm>
            <a:off x="812800" y="1917700"/>
            <a:ext cx="205106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65C8"/>
                </a:solidFill>
                <a:latin typeface="JetBrains Mono" pitchFamily="49" charset="0"/>
                <a:ea typeface="JetBrains Mono" pitchFamily="49" charset="-122"/>
                <a:cs typeface="JetBrains Mono" pitchFamily="49" charset="-120"/>
              </a:rPr>
              <a:t>1900</a:t>
            </a:r>
            <a:endParaRPr lang="en-US" sz="2200" dirty="0"/>
          </a:p>
        </p:txBody>
      </p:sp>
      <p:sp>
        <p:nvSpPr>
          <p:cNvPr id="6" name="Text 4"/>
          <p:cNvSpPr/>
          <p:nvPr/>
        </p:nvSpPr>
        <p:spPr>
          <a:xfrm>
            <a:off x="812800" y="2397720"/>
            <a:ext cx="205106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Bachelier</a:t>
            </a:r>
            <a:endParaRPr lang="en-US" sz="1600" dirty="0"/>
          </a:p>
        </p:txBody>
      </p:sp>
      <p:sp>
        <p:nvSpPr>
          <p:cNvPr id="7" name="Text 5"/>
          <p:cNvSpPr/>
          <p:nvPr/>
        </p:nvSpPr>
        <p:spPr>
          <a:xfrm>
            <a:off x="812800" y="2730450"/>
            <a:ext cx="2051060"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4505E"/>
                </a:solidFill>
                <a:latin typeface="IBM Plex Sans" pitchFamily="34" charset="0"/>
                <a:ea typeface="IBM Plex Sans" pitchFamily="34" charset="-122"/>
                <a:cs typeface="IBM Plex Sans" pitchFamily="34" charset="-120"/>
              </a:rPr>
              <a:t>Thesis “Théorie de la spéculation” models prices as a random walk</a:t>
            </a:r>
            <a:endParaRPr lang="en-US" sz="1300" dirty="0"/>
          </a:p>
        </p:txBody>
      </p:sp>
      <p:sp>
        <p:nvSpPr>
          <p:cNvPr id="8" name="Text 6"/>
          <p:cNvSpPr/>
          <p:nvPr/>
        </p:nvSpPr>
        <p:spPr>
          <a:xfrm>
            <a:off x="2956520" y="1917700"/>
            <a:ext cx="2051111"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65C8"/>
                </a:solidFill>
                <a:latin typeface="JetBrains Mono" pitchFamily="49" charset="0"/>
                <a:ea typeface="JetBrains Mono" pitchFamily="49" charset="-122"/>
                <a:cs typeface="JetBrains Mono" pitchFamily="49" charset="-120"/>
              </a:rPr>
              <a:t>1965</a:t>
            </a:r>
            <a:endParaRPr lang="en-US" sz="2200" dirty="0"/>
          </a:p>
        </p:txBody>
      </p:sp>
      <p:sp>
        <p:nvSpPr>
          <p:cNvPr id="9" name="Text 7"/>
          <p:cNvSpPr/>
          <p:nvPr/>
        </p:nvSpPr>
        <p:spPr>
          <a:xfrm>
            <a:off x="2956520" y="2397720"/>
            <a:ext cx="205111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Samuelson</a:t>
            </a:r>
            <a:endParaRPr lang="en-US" sz="1600" dirty="0"/>
          </a:p>
        </p:txBody>
      </p:sp>
      <p:sp>
        <p:nvSpPr>
          <p:cNvPr id="10" name="Text 8"/>
          <p:cNvSpPr/>
          <p:nvPr/>
        </p:nvSpPr>
        <p:spPr>
          <a:xfrm>
            <a:off x="2956520" y="2730450"/>
            <a:ext cx="2051111"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4505E"/>
                </a:solidFill>
                <a:latin typeface="IBM Plex Sans" pitchFamily="34" charset="0"/>
                <a:ea typeface="IBM Plex Sans" pitchFamily="34" charset="-122"/>
                <a:cs typeface="IBM Plex Sans" pitchFamily="34" charset="-120"/>
              </a:rPr>
              <a:t>Geometric Brownian motion: returns, not prices, are random</a:t>
            </a:r>
            <a:endParaRPr lang="en-US" sz="1300" dirty="0"/>
          </a:p>
        </p:txBody>
      </p:sp>
      <p:sp>
        <p:nvSpPr>
          <p:cNvPr id="11" name="Text 9"/>
          <p:cNvSpPr/>
          <p:nvPr/>
        </p:nvSpPr>
        <p:spPr>
          <a:xfrm>
            <a:off x="5100290" y="1917700"/>
            <a:ext cx="2051111"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65C8"/>
                </a:solidFill>
                <a:latin typeface="JetBrains Mono" pitchFamily="49" charset="0"/>
                <a:ea typeface="JetBrains Mono" pitchFamily="49" charset="-122"/>
                <a:cs typeface="JetBrains Mono" pitchFamily="49" charset="-120"/>
              </a:rPr>
              <a:t>1973</a:t>
            </a:r>
            <a:endParaRPr lang="en-US" sz="2200" dirty="0"/>
          </a:p>
        </p:txBody>
      </p:sp>
      <p:sp>
        <p:nvSpPr>
          <p:cNvPr id="12" name="Text 10"/>
          <p:cNvSpPr/>
          <p:nvPr/>
        </p:nvSpPr>
        <p:spPr>
          <a:xfrm>
            <a:off x="5100290" y="2397720"/>
            <a:ext cx="2051111"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Black, Scholes, Merton</a:t>
            </a:r>
            <a:endParaRPr lang="en-US" sz="1600" dirty="0"/>
          </a:p>
        </p:txBody>
      </p:sp>
      <p:sp>
        <p:nvSpPr>
          <p:cNvPr id="13" name="Text 11"/>
          <p:cNvSpPr/>
          <p:nvPr/>
        </p:nvSpPr>
        <p:spPr>
          <a:xfrm>
            <a:off x="5100290" y="2974280"/>
            <a:ext cx="2051111"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4505E"/>
                </a:solidFill>
                <a:latin typeface="IBM Plex Sans" pitchFamily="34" charset="0"/>
                <a:ea typeface="IBM Plex Sans" pitchFamily="34" charset="-122"/>
                <a:cs typeface="IBM Plex Sans" pitchFamily="34" charset="-120"/>
              </a:rPr>
              <a:t>Hedging argument gives a PDE and a closed-form price</a:t>
            </a:r>
            <a:endParaRPr lang="en-US" sz="1300" dirty="0"/>
          </a:p>
        </p:txBody>
      </p:sp>
      <p:sp>
        <p:nvSpPr>
          <p:cNvPr id="14" name="Text 12"/>
          <p:cNvSpPr/>
          <p:nvPr/>
        </p:nvSpPr>
        <p:spPr>
          <a:xfrm>
            <a:off x="7244060" y="1917700"/>
            <a:ext cx="2051111"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9520F"/>
                </a:solidFill>
                <a:latin typeface="JetBrains Mono" pitchFamily="49" charset="0"/>
                <a:ea typeface="JetBrains Mono" pitchFamily="49" charset="-122"/>
                <a:cs typeface="JetBrains Mono" pitchFamily="49" charset="-120"/>
              </a:rPr>
              <a:t>1979</a:t>
            </a:r>
            <a:endParaRPr lang="en-US" sz="2200" dirty="0"/>
          </a:p>
        </p:txBody>
      </p:sp>
      <p:sp>
        <p:nvSpPr>
          <p:cNvPr id="15" name="Text 13"/>
          <p:cNvSpPr/>
          <p:nvPr/>
        </p:nvSpPr>
        <p:spPr>
          <a:xfrm>
            <a:off x="7244060" y="2397720"/>
            <a:ext cx="2051111"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Cox, Ross, Rubinstein</a:t>
            </a:r>
            <a:endParaRPr lang="en-US" sz="1600" dirty="0"/>
          </a:p>
        </p:txBody>
      </p:sp>
      <p:sp>
        <p:nvSpPr>
          <p:cNvPr id="16" name="Text 14"/>
          <p:cNvSpPr/>
          <p:nvPr/>
        </p:nvSpPr>
        <p:spPr>
          <a:xfrm>
            <a:off x="7244060" y="2974280"/>
            <a:ext cx="2051111" cy="50413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4505E"/>
                </a:solidFill>
                <a:latin typeface="IBM Plex Sans" pitchFamily="34" charset="0"/>
                <a:ea typeface="IBM Plex Sans" pitchFamily="34" charset="-122"/>
                <a:cs typeface="IBM Plex Sans" pitchFamily="34" charset="-120"/>
              </a:rPr>
              <a:t>“A simplified approach”: the binomial lattice</a:t>
            </a:r>
            <a:endParaRPr lang="en-US" sz="1300" dirty="0"/>
          </a:p>
        </p:txBody>
      </p:sp>
      <p:sp>
        <p:nvSpPr>
          <p:cNvPr id="17" name="Text 15"/>
          <p:cNvSpPr/>
          <p:nvPr/>
        </p:nvSpPr>
        <p:spPr>
          <a:xfrm>
            <a:off x="9387830" y="1917700"/>
            <a:ext cx="2051111"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65C8"/>
                </a:solidFill>
                <a:latin typeface="JetBrains Mono" pitchFamily="49" charset="0"/>
                <a:ea typeface="JetBrains Mono" pitchFamily="49" charset="-122"/>
                <a:cs typeface="JetBrains Mono" pitchFamily="49" charset="-120"/>
              </a:rPr>
              <a:t>1997</a:t>
            </a:r>
            <a:endParaRPr lang="en-US" sz="2200" dirty="0"/>
          </a:p>
        </p:txBody>
      </p:sp>
      <p:sp>
        <p:nvSpPr>
          <p:cNvPr id="18" name="Text 16"/>
          <p:cNvSpPr/>
          <p:nvPr/>
        </p:nvSpPr>
        <p:spPr>
          <a:xfrm>
            <a:off x="9387830" y="2397720"/>
            <a:ext cx="205111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Nobel Prize</a:t>
            </a:r>
            <a:endParaRPr lang="en-US" sz="1600" dirty="0"/>
          </a:p>
        </p:txBody>
      </p:sp>
      <p:sp>
        <p:nvSpPr>
          <p:cNvPr id="19" name="Text 17"/>
          <p:cNvSpPr/>
          <p:nvPr/>
        </p:nvSpPr>
        <p:spPr>
          <a:xfrm>
            <a:off x="9387830" y="2730450"/>
            <a:ext cx="2051111"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4505E"/>
                </a:solidFill>
                <a:latin typeface="IBM Plex Sans" pitchFamily="34" charset="0"/>
                <a:ea typeface="IBM Plex Sans" pitchFamily="34" charset="-122"/>
                <a:cs typeface="IBM Plex Sans" pitchFamily="34" charset="-120"/>
              </a:rPr>
              <a:t>Awarded to Merton and Scholes (Black died in 1995)</a:t>
            </a:r>
            <a:endParaRPr lang="en-US" sz="1300" dirty="0"/>
          </a:p>
        </p:txBody>
      </p:sp>
      <p:sp>
        <p:nvSpPr>
          <p:cNvPr id="20" name="Text 18"/>
          <p:cNvSpPr/>
          <p:nvPr/>
        </p:nvSpPr>
        <p:spPr>
          <a:xfrm>
            <a:off x="812800" y="4098776"/>
            <a:ext cx="9810750" cy="61466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44505E"/>
                </a:solidFill>
                <a:latin typeface="IBM Plex Sans" pitchFamily="34" charset="0"/>
                <a:ea typeface="IBM Plex Sans" pitchFamily="34" charset="-122"/>
                <a:cs typeface="IBM Plex Sans" pitchFamily="34" charset="-120"/>
              </a:rPr>
              <a:t>The lattice came </a:t>
            </a:r>
            <a:r>
              <a:rPr lang="en-US" sz="1600" b="1" dirty="0">
                <a:solidFill>
                  <a:srgbClr val="14202E"/>
                </a:solidFill>
                <a:latin typeface="IBM Plex Sans" pitchFamily="34" charset="0"/>
                <a:ea typeface="IBM Plex Sans" pitchFamily="34" charset="-122"/>
                <a:cs typeface="IBM Plex Sans" pitchFamily="34" charset="-120"/>
              </a:rPr>
              <a:t>after</a:t>
            </a:r>
            <a:r>
              <a:rPr lang="en-US" sz="1600" dirty="0">
                <a:solidFill>
                  <a:srgbClr val="44505E"/>
                </a:solidFill>
                <a:latin typeface="IBM Plex Sans" pitchFamily="34" charset="0"/>
                <a:ea typeface="IBM Plex Sans" pitchFamily="34" charset="-122"/>
                <a:cs typeface="IBM Plex Sans" pitchFamily="34" charset="-120"/>
              </a:rPr>
              <a:t> the formula — as a way to make the same economics visible, teachable and computable for contracts the formula cannot handle.</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7">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BLACK-SCHOLES, GENTLY · 1 OF 8</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First, the cast of characters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447800"/>
          <a:ext cx="10553700" cy="3088084"/>
        </p:xfrm>
        <a:graphic>
          <a:graphicData uri="http://schemas.openxmlformats.org/drawingml/2006/table">
            <a:tbl>
              <a:tblPr/>
              <a:tblGrid>
                <a:gridCol w="1477518">
                  <a:extLst>
                    <a:ext uri="{9D8B030D-6E8A-4147-A177-3AD203B41FA5}">
                      <a16:colId xmlns:a16="http://schemas.microsoft.com/office/drawing/2014/main" val="20000"/>
                    </a:ext>
                  </a:extLst>
                </a:gridCol>
                <a:gridCol w="6965442">
                  <a:extLst>
                    <a:ext uri="{9D8B030D-6E8A-4147-A177-3AD203B41FA5}">
                      <a16:colId xmlns:a16="http://schemas.microsoft.com/office/drawing/2014/main" val="20001"/>
                    </a:ext>
                  </a:extLst>
                </a:gridCol>
                <a:gridCol w="2110740">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Symbol</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Meaning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Example</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2B65C8"/>
                          </a:solidFill>
                          <a:latin typeface="IBM Plex Sans" pitchFamily="34" charset="0"/>
                          <a:ea typeface="IBM Plex Sans" pitchFamily="34" charset="-122"/>
                          <a:cs typeface="IBM Plex Sans" pitchFamily="34" charset="-120"/>
                        </a:rPr>
                        <a: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Stock price — it changes over time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100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2B65C8"/>
                          </a:solidFill>
                          <a:latin typeface="IBM Plex Sans" pitchFamily="34" charset="0"/>
                          <a:ea typeface="IBM Plex Sans" pitchFamily="34" charset="-122"/>
                          <a:cs typeface="IBM Plex Sans" pitchFamily="34" charset="-120"/>
                        </a:rPr>
                        <a:t>t, 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Current time, and the expiry date (in years)</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0, 1</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2B65C8"/>
                          </a:solidFill>
                          <a:latin typeface="IBM Plex Sans" pitchFamily="34" charset="0"/>
                          <a:ea typeface="IBM Plex Sans" pitchFamily="34" charset="-122"/>
                          <a:cs typeface="IBM Plex Sans" pitchFamily="34" charset="-120"/>
                        </a:rPr>
                        <a:t>K</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Strike price written in the contract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100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2B65C8"/>
                          </a:solidFill>
                          <a:latin typeface="IBM Plex Sans" pitchFamily="34" charset="0"/>
                          <a:ea typeface="IBM Plex Sans" pitchFamily="34" charset="-122"/>
                          <a:cs typeface="IBM Plex Sans" pitchFamily="34" charset="-120"/>
                        </a:rPr>
                        <a:t>r</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Risk-free interest rate per year (continuous compounding)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2B65C8"/>
                          </a:solidFill>
                          <a:latin typeface="IBM Plex Sans" pitchFamily="34" charset="0"/>
                          <a:ea typeface="IBM Plex Sans" pitchFamily="34" charset="-122"/>
                          <a:cs typeface="IBM Plex Sans" pitchFamily="34" charset="-120"/>
                        </a:rPr>
                        <a:t>σ sigma</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Volatility: standard deviation of the stock’s yearly return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20%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5"/>
                  </a:ext>
                </a:extLst>
              </a:tr>
              <a:tr h="386011">
                <a:tc>
                  <a:txBody>
                    <a:bodyPr/>
                    <a:lstStyle/>
                    <a:p>
                      <a:pPr marL="0" indent="0">
                        <a:lnSpc>
                          <a:spcPts val="1960"/>
                        </a:lnSpc>
                        <a:buNone/>
                      </a:pPr>
                      <a:r>
                        <a:rPr lang="en-US" sz="1400" dirty="0">
                          <a:solidFill>
                            <a:srgbClr val="A9520F"/>
                          </a:solidFill>
                          <a:latin typeface="IBM Plex Sans" pitchFamily="34" charset="0"/>
                          <a:ea typeface="IBM Plex Sans" pitchFamily="34" charset="-122"/>
                          <a:cs typeface="IBM Plex Sans" pitchFamily="34" charset="-120"/>
                        </a:rPr>
                        <a:t>μ mu</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Expected return of the stock — watch it disappear</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6"/>
                  </a:ext>
                </a:extLst>
              </a:tr>
              <a:tr h="386011">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V(S, 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The unknown: option value for any price S at any time 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4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4739084"/>
            <a:ext cx="10566400" cy="581025"/>
          </a:xfrm>
          <a:prstGeom prst="roundRect">
            <a:avLst>
              <a:gd name="adj" fmla="val 17486"/>
            </a:avLst>
          </a:prstGeom>
          <a:solidFill>
            <a:srgbClr val="14202E"/>
          </a:solidFill>
          <a:ln/>
        </p:spPr>
        <p:txBody>
          <a:bodyPr wrap="square" lIns="173442" tIns="122642" rIns="0" bIns="97242" rtlCol="0" anchor="t">
            <a:normAutofit/>
          </a:bodyPr>
          <a:lstStyle/>
          <a:p>
            <a:pPr marL="0" indent="0" algn="l">
              <a:lnSpc>
                <a:spcPts val="2175"/>
              </a:lnSpc>
              <a:buNone/>
            </a:pPr>
            <a:r>
              <a:rPr lang="en-US" sz="1500" dirty="0">
                <a:solidFill>
                  <a:srgbClr val="F5F3EC"/>
                </a:solidFill>
                <a:latin typeface="IBM Plex Sans" pitchFamily="34" charset="0"/>
                <a:ea typeface="IBM Plex Sans" pitchFamily="34" charset="-122"/>
                <a:cs typeface="IBM Plex Sans" pitchFamily="34" charset="-120"/>
              </a:rPr>
              <a:t>We are not looking for one number but for a </a:t>
            </a:r>
            <a:r>
              <a:rPr lang="en-US" sz="1500" b="1" dirty="0">
                <a:solidFill>
                  <a:srgbClr val="E3A33B"/>
                </a:solidFill>
                <a:latin typeface="IBM Plex Sans" pitchFamily="34" charset="0"/>
                <a:ea typeface="IBM Plex Sans" pitchFamily="34" charset="-122"/>
                <a:cs typeface="IBM Plex Sans" pitchFamily="34" charset="-120"/>
              </a:rPr>
              <a:t>function</a:t>
            </a:r>
            <a:r>
              <a:rPr lang="en-US" sz="1500" dirty="0">
                <a:solidFill>
                  <a:srgbClr val="F5F3EC"/>
                </a:solidFill>
                <a:latin typeface="IBM Plex Sans" pitchFamily="34" charset="0"/>
                <a:ea typeface="IBM Plex Sans" pitchFamily="34" charset="-122"/>
                <a:cs typeface="IBM Plex Sans" pitchFamily="34" charset="-120"/>
              </a:rPr>
              <a:t> V(S, t). Today’s price is just one call: V(100, 0).</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8">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BLACK-SCHOLES, GENTLY · 2 OF 8</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How the stock moves: a steady drift plus random noise</a:t>
            </a:r>
            <a:endParaRPr lang="en-US" sz="3000" dirty="0"/>
          </a:p>
        </p:txBody>
      </p:sp>
      <p:sp>
        <p:nvSpPr>
          <p:cNvPr id="4" name="Shape 2"/>
          <p:cNvSpPr/>
          <p:nvPr/>
        </p:nvSpPr>
        <p:spPr>
          <a:xfrm>
            <a:off x="815975" y="1463675"/>
            <a:ext cx="5581650" cy="3422650"/>
          </a:xfrm>
          <a:prstGeom prst="roundRect">
            <a:avLst>
              <a:gd name="adj" fmla="val 2876"/>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5" name="Image 0" descr="Five simulated stock price paths over one year starting at 100, wandering randomly between about 75 and 145"/>
          <p:cNvPicPr>
            <a:picLocks noChangeAspect="1"/>
          </p:cNvPicPr>
          <p:nvPr/>
        </p:nvPicPr>
        <p:blipFill>
          <a:blip r:embed="rId3"/>
          <a:srcRect/>
          <a:stretch/>
        </p:blipFill>
        <p:spPr>
          <a:xfrm>
            <a:off x="1384300" y="1714500"/>
            <a:ext cx="4826000" cy="2540000"/>
          </a:xfrm>
          <a:prstGeom prst="rect">
            <a:avLst/>
          </a:prstGeom>
        </p:spPr>
      </p:pic>
      <p:sp>
        <p:nvSpPr>
          <p:cNvPr id="6" name="Text 3"/>
          <p:cNvSpPr/>
          <p:nvPr/>
        </p:nvSpPr>
        <p:spPr>
          <a:xfrm>
            <a:off x="825500" y="2114550"/>
            <a:ext cx="495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140</a:t>
            </a:r>
            <a:endParaRPr lang="en-US" sz="1200" dirty="0"/>
          </a:p>
        </p:txBody>
      </p:sp>
      <p:sp>
        <p:nvSpPr>
          <p:cNvPr id="7" name="Text 4"/>
          <p:cNvSpPr/>
          <p:nvPr/>
        </p:nvSpPr>
        <p:spPr>
          <a:xfrm>
            <a:off x="825500" y="2622550"/>
            <a:ext cx="495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120</a:t>
            </a:r>
            <a:endParaRPr lang="en-US" sz="1200" dirty="0"/>
          </a:p>
        </p:txBody>
      </p:sp>
      <p:sp>
        <p:nvSpPr>
          <p:cNvPr id="8" name="Text 5"/>
          <p:cNvSpPr/>
          <p:nvPr/>
        </p:nvSpPr>
        <p:spPr>
          <a:xfrm>
            <a:off x="825500" y="3130550"/>
            <a:ext cx="495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100</a:t>
            </a:r>
            <a:endParaRPr lang="en-US" sz="1200" dirty="0"/>
          </a:p>
        </p:txBody>
      </p:sp>
      <p:sp>
        <p:nvSpPr>
          <p:cNvPr id="9" name="Text 6"/>
          <p:cNvSpPr/>
          <p:nvPr/>
        </p:nvSpPr>
        <p:spPr>
          <a:xfrm>
            <a:off x="825500" y="3638550"/>
            <a:ext cx="495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80</a:t>
            </a:r>
            <a:endParaRPr lang="en-US" sz="1200" dirty="0"/>
          </a:p>
        </p:txBody>
      </p:sp>
      <p:sp>
        <p:nvSpPr>
          <p:cNvPr id="10" name="Text 7"/>
          <p:cNvSpPr/>
          <p:nvPr/>
        </p:nvSpPr>
        <p:spPr>
          <a:xfrm>
            <a:off x="1104900" y="4356100"/>
            <a:ext cx="812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IBM Plex Sans" pitchFamily="34" charset="0"/>
                <a:ea typeface="IBM Plex Sans" pitchFamily="34" charset="-122"/>
                <a:cs typeface="IBM Plex Sans" pitchFamily="34" charset="-120"/>
              </a:rPr>
              <a:t>today</a:t>
            </a:r>
            <a:endParaRPr lang="en-US" sz="1200" dirty="0"/>
          </a:p>
        </p:txBody>
      </p:sp>
      <p:sp>
        <p:nvSpPr>
          <p:cNvPr id="11" name="Text 8"/>
          <p:cNvSpPr/>
          <p:nvPr/>
        </p:nvSpPr>
        <p:spPr>
          <a:xfrm>
            <a:off x="3327400" y="4356100"/>
            <a:ext cx="939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IBM Plex Sans" pitchFamily="34" charset="0"/>
                <a:ea typeface="IBM Plex Sans" pitchFamily="34" charset="-122"/>
                <a:cs typeface="IBM Plex Sans" pitchFamily="34" charset="-120"/>
              </a:rPr>
              <a:t>6 months</a:t>
            </a:r>
            <a:endParaRPr lang="en-US" sz="1200" dirty="0"/>
          </a:p>
        </p:txBody>
      </p:sp>
      <p:sp>
        <p:nvSpPr>
          <p:cNvPr id="12" name="Text 9"/>
          <p:cNvSpPr/>
          <p:nvPr/>
        </p:nvSpPr>
        <p:spPr>
          <a:xfrm>
            <a:off x="5676900" y="4356100"/>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IBM Plex Sans" pitchFamily="34" charset="0"/>
                <a:ea typeface="IBM Plex Sans" pitchFamily="34" charset="-122"/>
                <a:cs typeface="IBM Plex Sans" pitchFamily="34" charset="-120"/>
              </a:rPr>
              <a:t>1 year</a:t>
            </a:r>
            <a:endParaRPr lang="en-US" sz="1200" dirty="0"/>
          </a:p>
        </p:txBody>
      </p:sp>
      <p:sp>
        <p:nvSpPr>
          <p:cNvPr id="13" name="Text 10"/>
          <p:cNvSpPr/>
          <p:nvPr/>
        </p:nvSpPr>
        <p:spPr>
          <a:xfrm>
            <a:off x="1311910" y="4597400"/>
            <a:ext cx="497078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5 simulated paths · S₀ = 100 · μ = 8% · σ = 20%</a:t>
            </a:r>
            <a:endParaRPr lang="en-US" sz="1200" b="1" dirty="0"/>
          </a:p>
        </p:txBody>
      </p:sp>
      <p:sp>
        <p:nvSpPr>
          <p:cNvPr id="14" name="Text 11"/>
          <p:cNvSpPr/>
          <p:nvPr/>
        </p:nvSpPr>
        <p:spPr>
          <a:xfrm>
            <a:off x="6654800" y="1460500"/>
            <a:ext cx="4724400" cy="609600"/>
          </a:xfrm>
          <a:prstGeom prst="roundRect">
            <a:avLst>
              <a:gd name="adj" fmla="val 12500"/>
            </a:avLst>
          </a:prstGeom>
          <a:solidFill>
            <a:srgbClr val="ECE8DC"/>
          </a:solidFill>
          <a:ln/>
          <a:effectLst>
            <a:outerShdw blurRad="50800" dist="38100" dir="2700000" algn="tl" rotWithShape="0">
              <a:prstClr val="black">
                <a:alpha val="40000"/>
              </a:prstClr>
            </a:outerShdw>
          </a:effectLst>
        </p:spPr>
        <p:txBody>
          <a:bodyPr wrap="square" lIns="130082" tIns="104682" rIns="0" bIns="79282" rtlCol="0" anchor="t">
            <a:normAutofit/>
          </a:bodyPr>
          <a:lstStyle/>
          <a:p>
            <a:pPr marL="0" indent="0" algn="l">
              <a:lnSpc>
                <a:spcPts val="2800"/>
              </a:lnSpc>
              <a:buNone/>
            </a:pPr>
            <a:r>
              <a:rPr lang="en-US" sz="2000" b="1" dirty="0">
                <a:solidFill>
                  <a:srgbClr val="14202E"/>
                </a:solidFill>
                <a:latin typeface="JetBrains Mono" pitchFamily="49" charset="0"/>
                <a:ea typeface="JetBrains Mono" pitchFamily="49" charset="-122"/>
                <a:cs typeface="JetBrains Mono" pitchFamily="49" charset="-120"/>
              </a:rPr>
              <a:t>dS/S = μ·dt + σ·dW</a:t>
            </a:r>
            <a:endParaRPr lang="en-US" sz="2000" dirty="0"/>
          </a:p>
        </p:txBody>
      </p:sp>
      <p:sp>
        <p:nvSpPr>
          <p:cNvPr id="15" name="Text 12"/>
          <p:cNvSpPr/>
          <p:nvPr/>
        </p:nvSpPr>
        <p:spPr>
          <a:xfrm>
            <a:off x="6654800" y="2468404"/>
            <a:ext cx="4866132" cy="504130"/>
          </a:xfrm>
          <a:prstGeom prst="rect">
            <a:avLst/>
          </a:prstGeom>
          <a:noFill/>
          <a:ln/>
        </p:spPr>
        <p:txBody>
          <a:bodyPr wrap="square" lIns="0" tIns="0" rIns="0" bIns="0" rtlCol="0" anchor="t">
            <a:normAutofit/>
          </a:bodyPr>
          <a:lstStyle/>
          <a:p>
            <a:pPr marL="0" indent="0" algn="l">
              <a:lnSpc>
                <a:spcPts val="1885"/>
              </a:lnSpc>
              <a:buNone/>
            </a:pPr>
            <a:r>
              <a:rPr lang="en-US" sz="1600" b="1" dirty="0">
                <a:solidFill>
                  <a:srgbClr val="14202E"/>
                </a:solidFill>
                <a:latin typeface="IBM Plex Sans" pitchFamily="34" charset="0"/>
                <a:ea typeface="IBM Plex Sans" pitchFamily="34" charset="-122"/>
                <a:cs typeface="IBM Plex Sans" pitchFamily="34" charset="-120"/>
              </a:rPr>
              <a:t>dt</a:t>
            </a:r>
            <a:r>
              <a:rPr lang="en-US" sz="1600" dirty="0">
                <a:solidFill>
                  <a:srgbClr val="44505E"/>
                </a:solidFill>
                <a:latin typeface="IBM Plex Sans" pitchFamily="34" charset="0"/>
                <a:ea typeface="IBM Plex Sans" pitchFamily="34" charset="-122"/>
                <a:cs typeface="IBM Plex Sans" pitchFamily="34" charset="-120"/>
              </a:rPr>
              <a:t> a tiny slice of time. </a:t>
            </a:r>
            <a:r>
              <a:rPr lang="en-US" sz="1600" b="1" dirty="0">
                <a:solidFill>
                  <a:srgbClr val="14202E"/>
                </a:solidFill>
                <a:latin typeface="IBM Plex Sans" pitchFamily="34" charset="0"/>
                <a:ea typeface="IBM Plex Sans" pitchFamily="34" charset="-122"/>
                <a:cs typeface="IBM Plex Sans" pitchFamily="34" charset="-120"/>
              </a:rPr>
              <a:t>dS/S</a:t>
            </a:r>
            <a:r>
              <a:rPr lang="en-US" sz="1600" dirty="0">
                <a:solidFill>
                  <a:srgbClr val="44505E"/>
                </a:solidFill>
                <a:latin typeface="IBM Plex Sans" pitchFamily="34" charset="0"/>
                <a:ea typeface="IBM Plex Sans" pitchFamily="34" charset="-122"/>
                <a:cs typeface="IBM Plex Sans" pitchFamily="34" charset="-120"/>
              </a:rPr>
              <a:t> the percentage price change in that slice.</a:t>
            </a:r>
            <a:endParaRPr lang="en-US" sz="1600" dirty="0"/>
          </a:p>
        </p:txBody>
      </p:sp>
      <p:sp>
        <p:nvSpPr>
          <p:cNvPr id="16" name="Text 13"/>
          <p:cNvSpPr/>
          <p:nvPr/>
        </p:nvSpPr>
        <p:spPr>
          <a:xfrm>
            <a:off x="6654800" y="3234907"/>
            <a:ext cx="4866132" cy="264765"/>
          </a:xfrm>
          <a:prstGeom prst="rect">
            <a:avLst/>
          </a:prstGeom>
          <a:noFill/>
          <a:ln/>
        </p:spPr>
        <p:txBody>
          <a:bodyPr wrap="square" lIns="0" tIns="0" rIns="0" bIns="0" rtlCol="0" anchor="t">
            <a:normAutofit/>
          </a:bodyPr>
          <a:lstStyle/>
          <a:p>
            <a:pPr marL="0" indent="0" algn="l">
              <a:lnSpc>
                <a:spcPts val="1885"/>
              </a:lnSpc>
              <a:buNone/>
            </a:pPr>
            <a:r>
              <a:rPr lang="en-US" sz="1600" b="1" dirty="0">
                <a:solidFill>
                  <a:srgbClr val="14202E"/>
                </a:solidFill>
                <a:latin typeface="IBM Plex Sans" pitchFamily="34" charset="0"/>
                <a:ea typeface="IBM Plex Sans" pitchFamily="34" charset="-122"/>
                <a:cs typeface="IBM Plex Sans" pitchFamily="34" charset="-120"/>
              </a:rPr>
              <a:t>μ·dt</a:t>
            </a:r>
            <a:r>
              <a:rPr lang="en-US" sz="1600" dirty="0">
                <a:solidFill>
                  <a:srgbClr val="44505E"/>
                </a:solidFill>
                <a:latin typeface="IBM Plex Sans" pitchFamily="34" charset="0"/>
                <a:ea typeface="IBM Plex Sans" pitchFamily="34" charset="-122"/>
                <a:cs typeface="IBM Plex Sans" pitchFamily="34" charset="-120"/>
              </a:rPr>
              <a:t> the steady drift: the expected growth.</a:t>
            </a:r>
            <a:endParaRPr lang="en-US" sz="1600" dirty="0"/>
          </a:p>
        </p:txBody>
      </p:sp>
      <p:sp>
        <p:nvSpPr>
          <p:cNvPr id="17" name="Text 14"/>
          <p:cNvSpPr/>
          <p:nvPr/>
        </p:nvSpPr>
        <p:spPr>
          <a:xfrm>
            <a:off x="6654800" y="3832384"/>
            <a:ext cx="4866132" cy="743496"/>
          </a:xfrm>
          <a:prstGeom prst="rect">
            <a:avLst/>
          </a:prstGeom>
          <a:noFill/>
          <a:ln/>
        </p:spPr>
        <p:txBody>
          <a:bodyPr wrap="square" lIns="0" tIns="0" rIns="0" bIns="0" rtlCol="0" anchor="t">
            <a:normAutofit/>
          </a:bodyPr>
          <a:lstStyle/>
          <a:p>
            <a:pPr marL="0" indent="0" algn="l">
              <a:lnSpc>
                <a:spcPts val="1885"/>
              </a:lnSpc>
              <a:buNone/>
            </a:pPr>
            <a:r>
              <a:rPr lang="en-US" sz="1600" b="1" dirty="0">
                <a:solidFill>
                  <a:srgbClr val="14202E"/>
                </a:solidFill>
                <a:latin typeface="IBM Plex Sans" pitchFamily="34" charset="0"/>
                <a:ea typeface="IBM Plex Sans" pitchFamily="34" charset="-122"/>
                <a:cs typeface="IBM Plex Sans" pitchFamily="34" charset="-120"/>
              </a:rPr>
              <a:t>σ·dW</a:t>
            </a:r>
            <a:r>
              <a:rPr lang="en-US" sz="1600" dirty="0">
                <a:solidFill>
                  <a:srgbClr val="44505E"/>
                </a:solidFill>
                <a:latin typeface="IBM Plex Sans" pitchFamily="34" charset="0"/>
                <a:ea typeface="IBM Plex Sans" pitchFamily="34" charset="-122"/>
                <a:cs typeface="IBM Plex Sans" pitchFamily="34" charset="-120"/>
              </a:rPr>
              <a:t> the noise: dW is a random shock with variance dt — countless tiny coin flips. Our lattice’s up/down steps, made infinitely small.</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9">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BLACK-SCHOLES, GENTLY · 3 OF 8</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Reading ∂: how V reacts to one input at a time</a:t>
            </a:r>
            <a:endParaRPr lang="en-US" sz="3000" dirty="0"/>
          </a:p>
        </p:txBody>
      </p:sp>
      <p:sp>
        <p:nvSpPr>
          <p:cNvPr id="4" name="Shape 2"/>
          <p:cNvSpPr/>
          <p:nvPr/>
        </p:nvSpPr>
        <p:spPr>
          <a:xfrm>
            <a:off x="815975" y="1463675"/>
            <a:ext cx="5200650" cy="3803650"/>
          </a:xfrm>
          <a:prstGeom prst="roundRect">
            <a:avLst>
              <a:gd name="adj" fmla="val 2588"/>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5" name="Image 0" descr="Call value against stock price one year before expiry: a smooth curve above the hockey-stick payoff, with a tangent line at S equals 100"/>
          <p:cNvPicPr>
            <a:picLocks noChangeAspect="1"/>
          </p:cNvPicPr>
          <p:nvPr/>
        </p:nvPicPr>
        <p:blipFill>
          <a:blip r:embed="rId3"/>
          <a:srcRect/>
          <a:stretch/>
        </p:blipFill>
        <p:spPr>
          <a:xfrm>
            <a:off x="1066800" y="1714500"/>
            <a:ext cx="4826000" cy="2794000"/>
          </a:xfrm>
          <a:prstGeom prst="rect">
            <a:avLst/>
          </a:prstGeom>
        </p:spPr>
      </p:pic>
      <p:sp>
        <p:nvSpPr>
          <p:cNvPr id="6" name="Text 3"/>
          <p:cNvSpPr/>
          <p:nvPr/>
        </p:nvSpPr>
        <p:spPr>
          <a:xfrm>
            <a:off x="787400" y="46355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60</a:t>
            </a:r>
            <a:endParaRPr lang="en-US" sz="1200" dirty="0"/>
          </a:p>
        </p:txBody>
      </p:sp>
      <p:sp>
        <p:nvSpPr>
          <p:cNvPr id="7" name="Text 4"/>
          <p:cNvSpPr/>
          <p:nvPr/>
        </p:nvSpPr>
        <p:spPr>
          <a:xfrm>
            <a:off x="3200400" y="46355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100</a:t>
            </a:r>
            <a:endParaRPr lang="en-US" sz="1200" dirty="0"/>
          </a:p>
        </p:txBody>
      </p:sp>
      <p:sp>
        <p:nvSpPr>
          <p:cNvPr id="8" name="Text 5"/>
          <p:cNvSpPr/>
          <p:nvPr/>
        </p:nvSpPr>
        <p:spPr>
          <a:xfrm>
            <a:off x="5518150" y="4635500"/>
            <a:ext cx="495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140</a:t>
            </a:r>
            <a:endParaRPr lang="en-US" sz="1200" dirty="0"/>
          </a:p>
        </p:txBody>
      </p:sp>
      <p:sp>
        <p:nvSpPr>
          <p:cNvPr id="9" name="Text 6"/>
          <p:cNvSpPr/>
          <p:nvPr/>
        </p:nvSpPr>
        <p:spPr>
          <a:xfrm>
            <a:off x="994410" y="4927600"/>
            <a:ext cx="497078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stock price S · call value V one year before expiry</a:t>
            </a:r>
            <a:endParaRPr lang="en-US" sz="1200" b="1" dirty="0"/>
          </a:p>
        </p:txBody>
      </p:sp>
      <p:sp>
        <p:nvSpPr>
          <p:cNvPr id="10" name="Text 7"/>
          <p:cNvSpPr/>
          <p:nvPr/>
        </p:nvSpPr>
        <p:spPr>
          <a:xfrm>
            <a:off x="1422400" y="1841500"/>
            <a:ext cx="2747010"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B65C8"/>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V(S, t)</a:t>
            </a:r>
            <a:endParaRPr lang="en-US" sz="1200" dirty="0"/>
          </a:p>
          <a:p>
            <a:pPr marL="0" indent="0" algn="l">
              <a:lnSpc>
                <a:spcPts val="1800"/>
              </a:lnSpc>
              <a:buNone/>
            </a:pPr>
            <a:r>
              <a:rPr lang="en-US" sz="1200" dirty="0">
                <a:solidFill>
                  <a:srgbClr val="C4661A"/>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tangent at S = 100: slope 0.64</a:t>
            </a:r>
            <a:endParaRPr lang="en-US" sz="1200" dirty="0"/>
          </a:p>
          <a:p>
            <a:pPr marL="0" indent="0" algn="l">
              <a:lnSpc>
                <a:spcPts val="1800"/>
              </a:lnSpc>
              <a:buNone/>
            </a:pPr>
            <a:r>
              <a:rPr lang="en-US" sz="1200" dirty="0">
                <a:solidFill>
                  <a:srgbClr val="6A7179"/>
                </a:solidFill>
                <a:latin typeface="IBM Plex Sans" pitchFamily="34" charset="0"/>
                <a:ea typeface="IBM Plex Sans" pitchFamily="34" charset="-122"/>
                <a:cs typeface="IBM Plex Sans" pitchFamily="34" charset="-120"/>
              </a:rPr>
              <a:t>╍ payoff at expiry</a:t>
            </a:r>
            <a:endParaRPr lang="en-US" sz="1200" dirty="0"/>
          </a:p>
        </p:txBody>
      </p:sp>
      <p:sp>
        <p:nvSpPr>
          <p:cNvPr id="11" name="Shape 8"/>
          <p:cNvSpPr/>
          <p:nvPr/>
        </p:nvSpPr>
        <p:spPr>
          <a:xfrm>
            <a:off x="6251575" y="1463675"/>
            <a:ext cx="5124450" cy="882474"/>
          </a:xfrm>
          <a:prstGeom prst="roundRect">
            <a:avLst>
              <a:gd name="adj" fmla="val 10214"/>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2" name="Text 9"/>
          <p:cNvSpPr/>
          <p:nvPr/>
        </p:nvSpPr>
        <p:spPr>
          <a:xfrm>
            <a:off x="6407150" y="1581150"/>
            <a:ext cx="4957699" cy="254000"/>
          </a:xfrm>
          <a:prstGeom prst="rect">
            <a:avLst/>
          </a:prstGeom>
          <a:noFill/>
          <a:ln/>
        </p:spPr>
        <p:txBody>
          <a:bodyPr wrap="square" lIns="0" tIns="0" rIns="0" bIns="0" rtlCol="0" anchor="t">
            <a:normAutofit/>
          </a:bodyPr>
          <a:lstStyle/>
          <a:p>
            <a:pPr marL="0" indent="0" algn="l">
              <a:lnSpc>
                <a:spcPts val="1800"/>
              </a:lnSpc>
              <a:buNone/>
            </a:pPr>
            <a:r>
              <a:rPr lang="en-US" sz="1600" b="1" dirty="0">
                <a:solidFill>
                  <a:srgbClr val="14202E"/>
                </a:solidFill>
                <a:latin typeface="IBM Plex Sans" pitchFamily="34" charset="0"/>
                <a:ea typeface="IBM Plex Sans" pitchFamily="34" charset="-122"/>
                <a:cs typeface="IBM Plex Sans" pitchFamily="34" charset="-120"/>
              </a:rPr>
              <a:t>∂V/∂S · delta · slope</a:t>
            </a:r>
            <a:endParaRPr lang="en-US" sz="1600" dirty="0"/>
          </a:p>
        </p:txBody>
      </p:sp>
      <p:sp>
        <p:nvSpPr>
          <p:cNvPr id="13" name="Text 10"/>
          <p:cNvSpPr/>
          <p:nvPr/>
        </p:nvSpPr>
        <p:spPr>
          <a:xfrm>
            <a:off x="6407150" y="1918186"/>
            <a:ext cx="4957699" cy="238720"/>
          </a:xfrm>
          <a:prstGeom prst="rect">
            <a:avLst/>
          </a:prstGeom>
          <a:noFill/>
          <a:ln/>
        </p:spPr>
        <p:txBody>
          <a:bodyPr wrap="square" lIns="0" tIns="0" rIns="0" bIns="0" rtlCol="0" anchor="t">
            <a:normAutofit/>
          </a:bodyPr>
          <a:lstStyle/>
          <a:p>
            <a:pPr marL="0" indent="0" algn="l">
              <a:lnSpc>
                <a:spcPts val="1680"/>
              </a:lnSpc>
              <a:buNone/>
            </a:pPr>
            <a:r>
              <a:rPr lang="en-US" dirty="0">
                <a:solidFill>
                  <a:srgbClr val="44505E"/>
                </a:solidFill>
                <a:latin typeface="JetBrains Mono" pitchFamily="49" charset="0"/>
                <a:ea typeface="JetBrains Mono" pitchFamily="49" charset="-122"/>
                <a:cs typeface="JetBrains Mono" pitchFamily="49" charset="-120"/>
              </a:rPr>
              <a:t>(V(S+h,t) − V(S−h,t)) / 2h</a:t>
            </a:r>
            <a:endParaRPr lang="en-US" dirty="0"/>
          </a:p>
        </p:txBody>
      </p:sp>
      <p:sp>
        <p:nvSpPr>
          <p:cNvPr id="14" name="Shape 11"/>
          <p:cNvSpPr/>
          <p:nvPr/>
        </p:nvSpPr>
        <p:spPr>
          <a:xfrm>
            <a:off x="6251575" y="2490213"/>
            <a:ext cx="5124450" cy="882474"/>
          </a:xfrm>
          <a:prstGeom prst="roundRect">
            <a:avLst>
              <a:gd name="adj" fmla="val 10214"/>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5" name="Text 12"/>
          <p:cNvSpPr/>
          <p:nvPr/>
        </p:nvSpPr>
        <p:spPr>
          <a:xfrm>
            <a:off x="6407150" y="2607688"/>
            <a:ext cx="4957699" cy="254000"/>
          </a:xfrm>
          <a:prstGeom prst="rect">
            <a:avLst/>
          </a:prstGeom>
          <a:noFill/>
          <a:ln/>
        </p:spPr>
        <p:txBody>
          <a:bodyPr wrap="square" lIns="0" tIns="0" rIns="0" bIns="0" rtlCol="0" anchor="t">
            <a:normAutofit/>
          </a:bodyPr>
          <a:lstStyle/>
          <a:p>
            <a:pPr marL="0" indent="0" algn="l">
              <a:lnSpc>
                <a:spcPts val="1800"/>
              </a:lnSpc>
              <a:buNone/>
            </a:pPr>
            <a:r>
              <a:rPr lang="en-US" sz="1600" b="1" dirty="0">
                <a:solidFill>
                  <a:srgbClr val="14202E"/>
                </a:solidFill>
                <a:latin typeface="IBM Plex Sans" pitchFamily="34" charset="0"/>
                <a:ea typeface="IBM Plex Sans" pitchFamily="34" charset="-122"/>
                <a:cs typeface="IBM Plex Sans" pitchFamily="34" charset="-120"/>
              </a:rPr>
              <a:t>∂²V/∂S² · gamma · curvature</a:t>
            </a:r>
            <a:endParaRPr lang="en-US" sz="1600" dirty="0"/>
          </a:p>
        </p:txBody>
      </p:sp>
      <p:sp>
        <p:nvSpPr>
          <p:cNvPr id="16" name="Text 13"/>
          <p:cNvSpPr/>
          <p:nvPr/>
        </p:nvSpPr>
        <p:spPr>
          <a:xfrm>
            <a:off x="6407150" y="2944724"/>
            <a:ext cx="4957699" cy="238720"/>
          </a:xfrm>
          <a:prstGeom prst="rect">
            <a:avLst/>
          </a:prstGeom>
          <a:noFill/>
          <a:ln/>
        </p:spPr>
        <p:txBody>
          <a:bodyPr wrap="square" lIns="0" tIns="0" rIns="0" bIns="0" rtlCol="0" anchor="t">
            <a:normAutofit/>
          </a:bodyPr>
          <a:lstStyle/>
          <a:p>
            <a:pPr marL="0" indent="0" algn="l">
              <a:lnSpc>
                <a:spcPts val="1680"/>
              </a:lnSpc>
              <a:buNone/>
            </a:pPr>
            <a:r>
              <a:rPr lang="en-US" dirty="0">
                <a:solidFill>
                  <a:srgbClr val="44505E"/>
                </a:solidFill>
                <a:latin typeface="JetBrains Mono" pitchFamily="49" charset="0"/>
                <a:ea typeface="JetBrains Mono" pitchFamily="49" charset="-122"/>
                <a:cs typeface="JetBrains Mono" pitchFamily="49" charset="-120"/>
              </a:rPr>
              <a:t>(V(S+h) − 2V(S) + V(S−h)) / h²</a:t>
            </a:r>
            <a:endParaRPr lang="en-US" dirty="0"/>
          </a:p>
        </p:txBody>
      </p:sp>
      <p:sp>
        <p:nvSpPr>
          <p:cNvPr id="17" name="Shape 14"/>
          <p:cNvSpPr/>
          <p:nvPr/>
        </p:nvSpPr>
        <p:spPr>
          <a:xfrm>
            <a:off x="6251575" y="3556945"/>
            <a:ext cx="5124450" cy="882474"/>
          </a:xfrm>
          <a:prstGeom prst="roundRect">
            <a:avLst>
              <a:gd name="adj" fmla="val 10214"/>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8" name="Text 15"/>
          <p:cNvSpPr/>
          <p:nvPr/>
        </p:nvSpPr>
        <p:spPr>
          <a:xfrm>
            <a:off x="6407150" y="3674420"/>
            <a:ext cx="4957699" cy="254000"/>
          </a:xfrm>
          <a:prstGeom prst="rect">
            <a:avLst/>
          </a:prstGeom>
          <a:noFill/>
          <a:ln/>
        </p:spPr>
        <p:txBody>
          <a:bodyPr wrap="square" lIns="0" tIns="0" rIns="0" bIns="0" rtlCol="0" anchor="t">
            <a:normAutofit/>
          </a:bodyPr>
          <a:lstStyle/>
          <a:p>
            <a:pPr marL="0" indent="0" algn="l">
              <a:lnSpc>
                <a:spcPts val="1800"/>
              </a:lnSpc>
              <a:buNone/>
            </a:pPr>
            <a:r>
              <a:rPr lang="en-US" sz="1600" b="1" dirty="0">
                <a:solidFill>
                  <a:srgbClr val="14202E"/>
                </a:solidFill>
                <a:latin typeface="IBM Plex Sans" pitchFamily="34" charset="0"/>
                <a:ea typeface="IBM Plex Sans" pitchFamily="34" charset="-122"/>
                <a:cs typeface="IBM Plex Sans" pitchFamily="34" charset="-120"/>
              </a:rPr>
              <a:t>∂V/∂t · theta · time decay</a:t>
            </a:r>
            <a:endParaRPr lang="en-US" sz="1600" dirty="0"/>
          </a:p>
        </p:txBody>
      </p:sp>
      <p:sp>
        <p:nvSpPr>
          <p:cNvPr id="19" name="Text 16"/>
          <p:cNvSpPr/>
          <p:nvPr/>
        </p:nvSpPr>
        <p:spPr>
          <a:xfrm>
            <a:off x="6407150" y="4011456"/>
            <a:ext cx="4957699" cy="238720"/>
          </a:xfrm>
          <a:prstGeom prst="rect">
            <a:avLst/>
          </a:prstGeom>
          <a:noFill/>
          <a:ln/>
        </p:spPr>
        <p:txBody>
          <a:bodyPr wrap="square" lIns="0" tIns="0" rIns="0" bIns="0" rtlCol="0" anchor="t">
            <a:normAutofit/>
          </a:bodyPr>
          <a:lstStyle/>
          <a:p>
            <a:pPr marL="0" indent="0" algn="l">
              <a:lnSpc>
                <a:spcPts val="1680"/>
              </a:lnSpc>
              <a:buNone/>
            </a:pPr>
            <a:r>
              <a:rPr lang="en-US" dirty="0">
                <a:solidFill>
                  <a:srgbClr val="44505E"/>
                </a:solidFill>
                <a:latin typeface="JetBrains Mono" pitchFamily="49" charset="0"/>
                <a:ea typeface="JetBrains Mono" pitchFamily="49" charset="-122"/>
                <a:cs typeface="JetBrains Mono" pitchFamily="49" charset="-120"/>
              </a:rPr>
              <a:t>(V(S, t+h) − V(S, t)) / h</a:t>
            </a:r>
            <a:endParaRPr lang="en-US" dirty="0"/>
          </a:p>
        </p:txBody>
      </p:sp>
      <p:sp>
        <p:nvSpPr>
          <p:cNvPr id="20" name="Text 17"/>
          <p:cNvSpPr/>
          <p:nvPr/>
        </p:nvSpPr>
        <p:spPr>
          <a:xfrm>
            <a:off x="6248400" y="4690839"/>
            <a:ext cx="5284724" cy="50413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 = “change one argument, freeze the others”. A unit test with a tiny h computes each one.</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0">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BLACK-SCHOLES, GENTLY · 4 OF 8</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The Black-Scholes equation, one term at a time</a:t>
            </a:r>
            <a:endParaRPr lang="en-US" sz="3000" dirty="0"/>
          </a:p>
        </p:txBody>
      </p:sp>
      <p:sp>
        <p:nvSpPr>
          <p:cNvPr id="4" name="Text 2"/>
          <p:cNvSpPr/>
          <p:nvPr/>
        </p:nvSpPr>
        <p:spPr>
          <a:xfrm>
            <a:off x="812800" y="1435100"/>
            <a:ext cx="10566400" cy="718790"/>
          </a:xfrm>
          <a:prstGeom prst="roundRect">
            <a:avLst>
              <a:gd name="adj" fmla="val 14135"/>
            </a:avLst>
          </a:prstGeom>
          <a:solidFill>
            <a:srgbClr val="14202E"/>
          </a:solidFill>
          <a:ln/>
        </p:spPr>
        <p:txBody>
          <a:bodyPr wrap="square" lIns="47204" tIns="148042" rIns="47204" bIns="122642" rtlCol="0" anchor="t">
            <a:normAutofit/>
          </a:bodyPr>
          <a:lstStyle/>
          <a:p>
            <a:pPr marL="0" indent="0" algn="ctr">
              <a:lnSpc>
                <a:spcPts val="2860"/>
              </a:lnSpc>
              <a:buNone/>
            </a:pPr>
            <a:r>
              <a:rPr lang="en-US" sz="2200" dirty="0">
                <a:solidFill>
                  <a:srgbClr val="E6E9EE"/>
                </a:solidFill>
                <a:latin typeface="JetBrains Mono" pitchFamily="49" charset="0"/>
                <a:ea typeface="JetBrains Mono" pitchFamily="49" charset="-122"/>
                <a:cs typeface="JetBrains Mono" pitchFamily="49" charset="-120"/>
              </a:rPr>
              <a:t>∂V/∂t</a:t>
            </a:r>
            <a:r>
              <a:rPr lang="en-US" sz="2200" dirty="0">
                <a:solidFill>
                  <a:srgbClr val="F5F3EC"/>
                </a:solidFill>
                <a:latin typeface="JetBrains Mono" pitchFamily="49" charset="0"/>
                <a:ea typeface="JetBrains Mono" pitchFamily="49" charset="-122"/>
                <a:cs typeface="JetBrains Mono" pitchFamily="49" charset="-120"/>
              </a:rPr>
              <a:t> + </a:t>
            </a:r>
            <a:r>
              <a:rPr lang="en-US" sz="2200" dirty="0">
                <a:solidFill>
                  <a:srgbClr val="7FA8F0"/>
                </a:solidFill>
                <a:latin typeface="JetBrains Mono" pitchFamily="49" charset="0"/>
                <a:ea typeface="JetBrains Mono" pitchFamily="49" charset="-122"/>
                <a:cs typeface="JetBrains Mono" pitchFamily="49" charset="-120"/>
              </a:rPr>
              <a:t>r·S·∂V/∂S</a:t>
            </a:r>
            <a:r>
              <a:rPr lang="en-US" sz="2200" dirty="0">
                <a:solidFill>
                  <a:srgbClr val="F5F3EC"/>
                </a:solidFill>
                <a:latin typeface="JetBrains Mono" pitchFamily="49" charset="0"/>
                <a:ea typeface="JetBrains Mono" pitchFamily="49" charset="-122"/>
                <a:cs typeface="JetBrains Mono" pitchFamily="49" charset="-120"/>
              </a:rPr>
              <a:t> + </a:t>
            </a:r>
            <a:r>
              <a:rPr lang="en-US" sz="2200" dirty="0">
                <a:solidFill>
                  <a:srgbClr val="F0A868"/>
                </a:solidFill>
                <a:latin typeface="JetBrains Mono" pitchFamily="49" charset="0"/>
                <a:ea typeface="JetBrains Mono" pitchFamily="49" charset="-122"/>
                <a:cs typeface="JetBrains Mono" pitchFamily="49" charset="-120"/>
              </a:rPr>
              <a:t>½σ²S²·∂²V/∂S²</a:t>
            </a:r>
            <a:r>
              <a:rPr lang="en-US" sz="2200" dirty="0">
                <a:solidFill>
                  <a:srgbClr val="F5F3EC"/>
                </a:solidFill>
                <a:latin typeface="JetBrains Mono" pitchFamily="49" charset="0"/>
                <a:ea typeface="JetBrains Mono" pitchFamily="49" charset="-122"/>
                <a:cs typeface="JetBrains Mono" pitchFamily="49" charset="-120"/>
              </a:rPr>
              <a:t> = </a:t>
            </a:r>
            <a:r>
              <a:rPr lang="en-US" sz="2200" dirty="0">
                <a:solidFill>
                  <a:srgbClr val="E3A33B"/>
                </a:solidFill>
                <a:latin typeface="JetBrains Mono" pitchFamily="49" charset="0"/>
                <a:ea typeface="JetBrains Mono" pitchFamily="49" charset="-122"/>
                <a:cs typeface="JetBrains Mono" pitchFamily="49" charset="-120"/>
              </a:rPr>
              <a:t>r·V</a:t>
            </a:r>
            <a:endParaRPr lang="en-US" sz="2200" dirty="0"/>
          </a:p>
        </p:txBody>
      </p:sp>
      <p:sp>
        <p:nvSpPr>
          <p:cNvPr id="5" name="Shape 3"/>
          <p:cNvSpPr/>
          <p:nvPr/>
        </p:nvSpPr>
        <p:spPr>
          <a:xfrm>
            <a:off x="815975" y="2360265"/>
            <a:ext cx="2520950" cy="1864982"/>
          </a:xfrm>
          <a:prstGeom prst="roundRect">
            <a:avLst>
              <a:gd name="adj" fmla="val 5580"/>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6" name="Text 4"/>
          <p:cNvSpPr/>
          <p:nvPr/>
        </p:nvSpPr>
        <p:spPr>
          <a:xfrm>
            <a:off x="971550" y="2515840"/>
            <a:ext cx="2276094" cy="254000"/>
          </a:xfrm>
          <a:prstGeom prst="rect">
            <a:avLst/>
          </a:prstGeom>
          <a:noFill/>
          <a:ln/>
        </p:spPr>
        <p:txBody>
          <a:bodyPr wrap="square" lIns="0" tIns="0" rIns="0" bIns="0" rtlCol="0" anchor="t">
            <a:normAutofit/>
          </a:bodyPr>
          <a:lstStyle/>
          <a:p>
            <a:pPr marL="0" indent="0" algn="l">
              <a:lnSpc>
                <a:spcPts val="1800"/>
              </a:lnSpc>
              <a:buNone/>
            </a:pPr>
            <a:r>
              <a:rPr lang="en-US" b="1" dirty="0">
                <a:solidFill>
                  <a:srgbClr val="14202E"/>
                </a:solidFill>
                <a:latin typeface="IBM Plex Sans" pitchFamily="34" charset="0"/>
                <a:ea typeface="IBM Plex Sans" pitchFamily="34" charset="-122"/>
                <a:cs typeface="IBM Plex Sans" pitchFamily="34" charset="-120"/>
              </a:rPr>
              <a:t>Time decay</a:t>
            </a:r>
            <a:endParaRPr lang="en-US" dirty="0"/>
          </a:p>
        </p:txBody>
      </p:sp>
      <p:sp>
        <p:nvSpPr>
          <p:cNvPr id="7" name="Text 5"/>
          <p:cNvSpPr/>
          <p:nvPr/>
        </p:nvSpPr>
        <p:spPr>
          <a:xfrm>
            <a:off x="971550" y="2795240"/>
            <a:ext cx="2276094" cy="1153262"/>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How the value changes as the clock ticks, price frozen (theta).</a:t>
            </a:r>
            <a:endParaRPr lang="en-US" sz="1600" dirty="0"/>
          </a:p>
        </p:txBody>
      </p:sp>
      <p:sp>
        <p:nvSpPr>
          <p:cNvPr id="8" name="Shape 6"/>
          <p:cNvSpPr/>
          <p:nvPr/>
        </p:nvSpPr>
        <p:spPr>
          <a:xfrm>
            <a:off x="3495675" y="2360265"/>
            <a:ext cx="2520950" cy="1864982"/>
          </a:xfrm>
          <a:prstGeom prst="roundRect">
            <a:avLst>
              <a:gd name="adj" fmla="val 5580"/>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9" name="Text 7"/>
          <p:cNvSpPr/>
          <p:nvPr/>
        </p:nvSpPr>
        <p:spPr>
          <a:xfrm>
            <a:off x="3651250" y="2515840"/>
            <a:ext cx="2276094" cy="254000"/>
          </a:xfrm>
          <a:prstGeom prst="rect">
            <a:avLst/>
          </a:prstGeom>
          <a:noFill/>
          <a:ln/>
        </p:spPr>
        <p:txBody>
          <a:bodyPr wrap="square" lIns="0" tIns="0" rIns="0" bIns="0" rtlCol="0" anchor="t">
            <a:normAutofit/>
          </a:bodyPr>
          <a:lstStyle/>
          <a:p>
            <a:pPr marL="0" indent="0" algn="l">
              <a:lnSpc>
                <a:spcPts val="1800"/>
              </a:lnSpc>
              <a:buNone/>
            </a:pPr>
            <a:r>
              <a:rPr lang="en-US" b="1" dirty="0">
                <a:solidFill>
                  <a:srgbClr val="14202E"/>
                </a:solidFill>
                <a:latin typeface="IBM Plex Sans" pitchFamily="34" charset="0"/>
                <a:ea typeface="IBM Plex Sans" pitchFamily="34" charset="-122"/>
                <a:cs typeface="IBM Plex Sans" pitchFamily="34" charset="-120"/>
              </a:rPr>
              <a:t>Drift at r</a:t>
            </a:r>
            <a:endParaRPr lang="en-US" dirty="0"/>
          </a:p>
        </p:txBody>
      </p:sp>
      <p:sp>
        <p:nvSpPr>
          <p:cNvPr id="10" name="Text 8"/>
          <p:cNvSpPr/>
          <p:nvPr/>
        </p:nvSpPr>
        <p:spPr>
          <a:xfrm>
            <a:off x="3651250" y="2795240"/>
            <a:ext cx="2276094" cy="1153262"/>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Stock grows at the risk-free rate r, times the slope (delta). Not μ!</a:t>
            </a:r>
            <a:endParaRPr lang="en-US" sz="1600" dirty="0"/>
          </a:p>
        </p:txBody>
      </p:sp>
      <p:sp>
        <p:nvSpPr>
          <p:cNvPr id="11" name="Shape 9"/>
          <p:cNvSpPr/>
          <p:nvPr/>
        </p:nvSpPr>
        <p:spPr>
          <a:xfrm>
            <a:off x="6175375" y="2360265"/>
            <a:ext cx="2520950" cy="1864982"/>
          </a:xfrm>
          <a:prstGeom prst="roundRect">
            <a:avLst>
              <a:gd name="adj" fmla="val 5580"/>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2" name="Text 10"/>
          <p:cNvSpPr/>
          <p:nvPr/>
        </p:nvSpPr>
        <p:spPr>
          <a:xfrm>
            <a:off x="6330950" y="2515840"/>
            <a:ext cx="2276094" cy="254000"/>
          </a:xfrm>
          <a:prstGeom prst="rect">
            <a:avLst/>
          </a:prstGeom>
          <a:noFill/>
          <a:ln/>
        </p:spPr>
        <p:txBody>
          <a:bodyPr wrap="square" lIns="0" tIns="0" rIns="0" bIns="0" rtlCol="0" anchor="t">
            <a:normAutofit/>
          </a:bodyPr>
          <a:lstStyle/>
          <a:p>
            <a:pPr marL="0" indent="0" algn="l">
              <a:lnSpc>
                <a:spcPts val="1800"/>
              </a:lnSpc>
              <a:buNone/>
            </a:pPr>
            <a:r>
              <a:rPr lang="en-US" b="1" dirty="0">
                <a:solidFill>
                  <a:srgbClr val="14202E"/>
                </a:solidFill>
                <a:latin typeface="IBM Plex Sans" pitchFamily="34" charset="0"/>
                <a:ea typeface="IBM Plex Sans" pitchFamily="34" charset="-122"/>
                <a:cs typeface="IBM Plex Sans" pitchFamily="34" charset="-120"/>
              </a:rPr>
              <a:t>Volatility × curvature</a:t>
            </a:r>
            <a:endParaRPr lang="en-US" dirty="0"/>
          </a:p>
        </p:txBody>
      </p:sp>
      <p:sp>
        <p:nvSpPr>
          <p:cNvPr id="13" name="Text 11"/>
          <p:cNvSpPr/>
          <p:nvPr/>
        </p:nvSpPr>
        <p:spPr>
          <a:xfrm>
            <a:off x="6330950" y="2795240"/>
            <a:ext cx="2276094" cy="1153262"/>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Randomness adds value where V is curved (gamma). No curve, no gain.</a:t>
            </a:r>
            <a:endParaRPr lang="en-US" sz="1600" dirty="0"/>
          </a:p>
        </p:txBody>
      </p:sp>
      <p:sp>
        <p:nvSpPr>
          <p:cNvPr id="14" name="Shape 12"/>
          <p:cNvSpPr/>
          <p:nvPr/>
        </p:nvSpPr>
        <p:spPr>
          <a:xfrm>
            <a:off x="8855075" y="2360265"/>
            <a:ext cx="2520950" cy="1864982"/>
          </a:xfrm>
          <a:prstGeom prst="roundRect">
            <a:avLst>
              <a:gd name="adj" fmla="val 5580"/>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5" name="Text 13"/>
          <p:cNvSpPr/>
          <p:nvPr/>
        </p:nvSpPr>
        <p:spPr>
          <a:xfrm>
            <a:off x="9010650" y="2515840"/>
            <a:ext cx="2276094" cy="254000"/>
          </a:xfrm>
          <a:prstGeom prst="rect">
            <a:avLst/>
          </a:prstGeom>
          <a:noFill/>
          <a:ln/>
        </p:spPr>
        <p:txBody>
          <a:bodyPr wrap="square" lIns="0" tIns="0" rIns="0" bIns="0" rtlCol="0" anchor="t">
            <a:normAutofit/>
          </a:bodyPr>
          <a:lstStyle/>
          <a:p>
            <a:pPr marL="0" indent="0" algn="l">
              <a:lnSpc>
                <a:spcPts val="1800"/>
              </a:lnSpc>
              <a:buNone/>
            </a:pPr>
            <a:r>
              <a:rPr lang="en-US" b="1" dirty="0">
                <a:solidFill>
                  <a:srgbClr val="14202E"/>
                </a:solidFill>
                <a:latin typeface="IBM Plex Sans" pitchFamily="34" charset="0"/>
                <a:ea typeface="IBM Plex Sans" pitchFamily="34" charset="-122"/>
                <a:cs typeface="IBM Plex Sans" pitchFamily="34" charset="-120"/>
              </a:rPr>
              <a:t>= bank growth</a:t>
            </a:r>
            <a:endParaRPr lang="en-US" dirty="0"/>
          </a:p>
        </p:txBody>
      </p:sp>
      <p:sp>
        <p:nvSpPr>
          <p:cNvPr id="16" name="Text 14"/>
          <p:cNvSpPr/>
          <p:nvPr/>
        </p:nvSpPr>
        <p:spPr>
          <a:xfrm>
            <a:off x="9010650" y="2795239"/>
            <a:ext cx="2276094" cy="781973"/>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Together the hedged option must grow like cash at rate r.</a:t>
            </a:r>
            <a:endParaRPr lang="en-US" sz="1600" dirty="0"/>
          </a:p>
        </p:txBody>
      </p:sp>
      <p:sp>
        <p:nvSpPr>
          <p:cNvPr id="17" name="Shape 15"/>
          <p:cNvSpPr/>
          <p:nvPr/>
        </p:nvSpPr>
        <p:spPr>
          <a:xfrm>
            <a:off x="831850" y="5071037"/>
            <a:ext cx="0" cy="1099096"/>
          </a:xfrm>
          <a:prstGeom prst="line">
            <a:avLst/>
          </a:prstGeom>
          <a:noFill/>
          <a:ln w="38100">
            <a:solidFill>
              <a:srgbClr val="2B65C8"/>
            </a:solidFill>
            <a:prstDash val="solid"/>
          </a:ln>
        </p:spPr>
        <p:txBody>
          <a:bodyPr/>
          <a:lstStyle/>
          <a:p>
            <a:endParaRPr lang="en-SE" sz="2400"/>
          </a:p>
        </p:txBody>
      </p:sp>
      <p:sp>
        <p:nvSpPr>
          <p:cNvPr id="18" name="Text 16"/>
          <p:cNvSpPr/>
          <p:nvPr/>
        </p:nvSpPr>
        <p:spPr>
          <a:xfrm>
            <a:off x="1028700" y="5121837"/>
            <a:ext cx="5140833" cy="254000"/>
          </a:xfrm>
          <a:prstGeom prst="rect">
            <a:avLst/>
          </a:prstGeom>
          <a:noFill/>
          <a:ln/>
        </p:spPr>
        <p:txBody>
          <a:bodyPr wrap="square" lIns="0" tIns="0" rIns="0" bIns="0" rtlCol="0" anchor="t">
            <a:normAutofit/>
          </a:bodyPr>
          <a:lstStyle/>
          <a:p>
            <a:pPr marL="0" indent="0" algn="l">
              <a:lnSpc>
                <a:spcPts val="1800"/>
              </a:lnSpc>
              <a:buNone/>
            </a:pPr>
            <a:r>
              <a:rPr lang="en-US" b="1" dirty="0">
                <a:solidFill>
                  <a:srgbClr val="14202E"/>
                </a:solidFill>
                <a:latin typeface="IBM Plex Sans" pitchFamily="34" charset="0"/>
                <a:ea typeface="IBM Plex Sans" pitchFamily="34" charset="-122"/>
                <a:cs typeface="IBM Plex Sans" pitchFamily="34" charset="-120"/>
              </a:rPr>
              <a:t>Where it comes from</a:t>
            </a:r>
            <a:endParaRPr lang="en-US" dirty="0"/>
          </a:p>
        </p:txBody>
      </p:sp>
      <p:sp>
        <p:nvSpPr>
          <p:cNvPr id="19" name="Text 17"/>
          <p:cNvSpPr/>
          <p:nvPr/>
        </p:nvSpPr>
        <p:spPr>
          <a:xfrm>
            <a:off x="1028700" y="5401237"/>
            <a:ext cx="5140833" cy="743496"/>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Hold the option, short Δ = ∂V/∂S shares. The noise cancels; a riskless position must earn r. (The triangle slide, in continuous time.)</a:t>
            </a:r>
            <a:endParaRPr lang="en-US" sz="1600" dirty="0"/>
          </a:p>
        </p:txBody>
      </p:sp>
      <p:sp>
        <p:nvSpPr>
          <p:cNvPr id="20" name="Shape 18"/>
          <p:cNvSpPr/>
          <p:nvPr/>
        </p:nvSpPr>
        <p:spPr>
          <a:xfrm>
            <a:off x="6191250" y="5071037"/>
            <a:ext cx="0" cy="1099096"/>
          </a:xfrm>
          <a:prstGeom prst="line">
            <a:avLst/>
          </a:prstGeom>
          <a:noFill/>
          <a:ln w="38100">
            <a:solidFill>
              <a:srgbClr val="C4661A"/>
            </a:solidFill>
            <a:prstDash val="solid"/>
          </a:ln>
        </p:spPr>
        <p:txBody>
          <a:bodyPr/>
          <a:lstStyle/>
          <a:p>
            <a:endParaRPr lang="en-SE" sz="2400"/>
          </a:p>
        </p:txBody>
      </p:sp>
      <p:sp>
        <p:nvSpPr>
          <p:cNvPr id="21" name="Text 19"/>
          <p:cNvSpPr/>
          <p:nvPr/>
        </p:nvSpPr>
        <p:spPr>
          <a:xfrm>
            <a:off x="6388100" y="5121837"/>
            <a:ext cx="5140833" cy="254000"/>
          </a:xfrm>
          <a:prstGeom prst="rect">
            <a:avLst/>
          </a:prstGeom>
          <a:noFill/>
          <a:ln/>
        </p:spPr>
        <p:txBody>
          <a:bodyPr wrap="square" lIns="0" tIns="0" rIns="0" bIns="0" rtlCol="0" anchor="t">
            <a:normAutofit/>
          </a:bodyPr>
          <a:lstStyle/>
          <a:p>
            <a:pPr marL="0" indent="0" algn="l">
              <a:lnSpc>
                <a:spcPts val="1800"/>
              </a:lnSpc>
              <a:buNone/>
            </a:pPr>
            <a:r>
              <a:rPr lang="en-US" b="1" dirty="0">
                <a:solidFill>
                  <a:srgbClr val="14202E"/>
                </a:solidFill>
                <a:latin typeface="IBM Plex Sans" pitchFamily="34" charset="0"/>
                <a:ea typeface="IBM Plex Sans" pitchFamily="34" charset="-122"/>
                <a:cs typeface="IBM Plex Sans" pitchFamily="34" charset="-120"/>
              </a:rPr>
              <a:t>What pins it down</a:t>
            </a:r>
            <a:endParaRPr lang="en-US" dirty="0"/>
          </a:p>
        </p:txBody>
      </p:sp>
      <p:sp>
        <p:nvSpPr>
          <p:cNvPr id="22" name="Text 20"/>
          <p:cNvSpPr/>
          <p:nvPr/>
        </p:nvSpPr>
        <p:spPr>
          <a:xfrm>
            <a:off x="6388100" y="5401237"/>
            <a:ext cx="5140833" cy="273050"/>
          </a:xfrm>
          <a:prstGeom prst="rect">
            <a:avLst/>
          </a:prstGeom>
          <a:noFill/>
          <a:ln/>
        </p:spPr>
        <p:txBody>
          <a:bodyPr wrap="square" lIns="0" tIns="0" rIns="0" bIns="0" rtlCol="0" anchor="t">
            <a:normAutofit/>
          </a:bodyPr>
          <a:lstStyle/>
          <a:p>
            <a:pPr marL="0" indent="0" algn="l">
              <a:lnSpc>
                <a:spcPts val="1950"/>
              </a:lnSpc>
              <a:buNone/>
            </a:pPr>
            <a:r>
              <a:rPr lang="en-US" sz="1600" dirty="0">
                <a:solidFill>
                  <a:srgbClr val="14202E"/>
                </a:solidFill>
                <a:latin typeface="JetBrains Mono" pitchFamily="49" charset="0"/>
                <a:ea typeface="JetBrains Mono" pitchFamily="49" charset="-122"/>
                <a:cs typeface="JetBrains Mono" pitchFamily="49" charset="-120"/>
              </a:rPr>
              <a:t>V(S, T) = max(S − K, 0)</a:t>
            </a:r>
            <a:endParaRPr lang="en-US" sz="1600" dirty="0"/>
          </a:p>
        </p:txBody>
      </p:sp>
      <p:sp>
        <p:nvSpPr>
          <p:cNvPr id="23" name="Text 21"/>
          <p:cNvSpPr/>
          <p:nvPr/>
        </p:nvSpPr>
        <p:spPr>
          <a:xfrm>
            <a:off x="6388100" y="5699687"/>
            <a:ext cx="5140833" cy="26476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The payoff at expiry. Solve backward in time from there.</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1">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BLACK-SCHOLES, GENTLY · 5 OF 8</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Meanwhile, in physics: the heat equation</a:t>
            </a:r>
            <a:endParaRPr lang="en-US" sz="3000" dirty="0"/>
          </a:p>
        </p:txBody>
      </p:sp>
      <p:sp>
        <p:nvSpPr>
          <p:cNvPr id="4" name="Shape 2"/>
          <p:cNvSpPr/>
          <p:nvPr/>
        </p:nvSpPr>
        <p:spPr>
          <a:xfrm>
            <a:off x="812800" y="1435100"/>
            <a:ext cx="5130800" cy="355600"/>
          </a:xfrm>
          <a:prstGeom prst="roundRect">
            <a:avLst>
              <a:gd name="adj" fmla="val 50000"/>
            </a:avLst>
          </a:prstGeom>
          <a:gradFill rotWithShape="1">
            <a:gsLst>
              <a:gs pos="0">
                <a:srgbClr val="2B65C8"/>
              </a:gs>
              <a:gs pos="38000">
                <a:srgbClr val="2B65C8"/>
              </a:gs>
              <a:gs pos="50000">
                <a:srgbClr val="C4661A"/>
              </a:gs>
              <a:gs pos="62000">
                <a:srgbClr val="2B65C8"/>
              </a:gs>
              <a:gs pos="100000">
                <a:srgbClr val="2B65C8"/>
              </a:gs>
            </a:gsLst>
            <a:lin ang="0" scaled="0"/>
          </a:gradFill>
          <a:ln/>
        </p:spPr>
        <p:txBody>
          <a:bodyPr/>
          <a:lstStyle/>
          <a:p>
            <a:endParaRPr lang="en-SE"/>
          </a:p>
        </p:txBody>
      </p:sp>
      <p:sp>
        <p:nvSpPr>
          <p:cNvPr id="5" name="Text 3"/>
          <p:cNvSpPr/>
          <p:nvPr/>
        </p:nvSpPr>
        <p:spPr>
          <a:xfrm>
            <a:off x="812800" y="1917700"/>
            <a:ext cx="5284724" cy="238720"/>
          </a:xfrm>
          <a:prstGeom prst="rect">
            <a:avLst/>
          </a:prstGeom>
          <a:noFill/>
          <a:ln/>
        </p:spPr>
        <p:txBody>
          <a:bodyPr wrap="square" lIns="0" tIns="0" rIns="0" bIns="0" rtlCol="0" anchor="t">
            <a:normAutofit/>
          </a:bodyPr>
          <a:lstStyle/>
          <a:p>
            <a:pPr marL="0" indent="0" algn="l">
              <a:lnSpc>
                <a:spcPts val="1680"/>
              </a:lnSpc>
              <a:buNone/>
            </a:pPr>
            <a:r>
              <a:rPr lang="en-US" dirty="0">
                <a:solidFill>
                  <a:srgbClr val="6A7179"/>
                </a:solidFill>
                <a:latin typeface="IBM Plex Sans" pitchFamily="34" charset="0"/>
                <a:ea typeface="IBM Plex Sans" pitchFamily="34" charset="-122"/>
                <a:cs typeface="IBM Plex Sans" pitchFamily="34" charset="-120"/>
              </a:rPr>
              <a:t>A metal rod, cold everywhere except one hot spot</a:t>
            </a:r>
            <a:endParaRPr lang="en-US" dirty="0"/>
          </a:p>
        </p:txBody>
      </p:sp>
      <p:sp>
        <p:nvSpPr>
          <p:cNvPr id="6" name="Text 4"/>
          <p:cNvSpPr/>
          <p:nvPr/>
        </p:nvSpPr>
        <p:spPr>
          <a:xfrm>
            <a:off x="812800" y="2258020"/>
            <a:ext cx="5130800" cy="609600"/>
          </a:xfrm>
          <a:prstGeom prst="roundRect">
            <a:avLst>
              <a:gd name="adj" fmla="val 12500"/>
            </a:avLst>
          </a:prstGeom>
          <a:solidFill>
            <a:srgbClr val="ECE8DC"/>
          </a:solidFill>
          <a:ln/>
          <a:effectLst>
            <a:outerShdw blurRad="50800" dist="38100" dir="2700000" algn="tl" rotWithShape="0">
              <a:prstClr val="black">
                <a:alpha val="40000"/>
              </a:prstClr>
            </a:outerShdw>
          </a:effectLst>
        </p:spPr>
        <p:txBody>
          <a:bodyPr wrap="square" lIns="130082" tIns="104682" rIns="0" bIns="79282" rtlCol="0" anchor="t">
            <a:normAutofit/>
          </a:bodyPr>
          <a:lstStyle/>
          <a:p>
            <a:pPr marL="0" indent="0" algn="l">
              <a:lnSpc>
                <a:spcPts val="2800"/>
              </a:lnSpc>
              <a:buNone/>
            </a:pPr>
            <a:r>
              <a:rPr lang="en-US" sz="2000" b="1" dirty="0">
                <a:solidFill>
                  <a:srgbClr val="14202E"/>
                </a:solidFill>
                <a:latin typeface="JetBrains Mono" pitchFamily="49" charset="0"/>
                <a:ea typeface="JetBrains Mono" pitchFamily="49" charset="-122"/>
                <a:cs typeface="JetBrains Mono" pitchFamily="49" charset="-120"/>
              </a:rPr>
              <a:t>∂u/∂τ = κ·∂²u/∂x²</a:t>
            </a:r>
            <a:endParaRPr lang="en-US" sz="2000" dirty="0"/>
          </a:p>
        </p:txBody>
      </p:sp>
      <p:sp>
        <p:nvSpPr>
          <p:cNvPr id="7" name="Text 5"/>
          <p:cNvSpPr/>
          <p:nvPr/>
        </p:nvSpPr>
        <p:spPr>
          <a:xfrm>
            <a:off x="812800" y="2994619"/>
            <a:ext cx="5284724" cy="768945"/>
          </a:xfrm>
          <a:prstGeom prst="rect">
            <a:avLst/>
          </a:prstGeom>
          <a:noFill/>
          <a:ln/>
        </p:spPr>
        <p:txBody>
          <a:bodyPr wrap="square" lIns="0" tIns="0" rIns="0" bIns="0" rtlCol="0" anchor="t">
            <a:normAutofit/>
          </a:bodyPr>
          <a:lstStyle/>
          <a:p>
            <a:pPr marL="0" indent="0" algn="l">
              <a:lnSpc>
                <a:spcPts val="1885"/>
              </a:lnSpc>
              <a:buNone/>
            </a:pPr>
            <a:r>
              <a:rPr lang="en-US" b="1" dirty="0">
                <a:solidFill>
                  <a:srgbClr val="14202E"/>
                </a:solidFill>
                <a:latin typeface="IBM Plex Sans" pitchFamily="34" charset="0"/>
                <a:ea typeface="IBM Plex Sans" pitchFamily="34" charset="-122"/>
                <a:cs typeface="IBM Plex Sans" pitchFamily="34" charset="-120"/>
              </a:rPr>
              <a:t>u</a:t>
            </a:r>
            <a:r>
              <a:rPr lang="en-US" dirty="0">
                <a:solidFill>
                  <a:srgbClr val="44505E"/>
                </a:solidFill>
                <a:latin typeface="IBM Plex Sans" pitchFamily="34" charset="0"/>
                <a:ea typeface="IBM Plex Sans" pitchFamily="34" charset="-122"/>
                <a:cs typeface="IBM Plex Sans" pitchFamily="34" charset="-120"/>
              </a:rPr>
              <a:t> temperature · </a:t>
            </a:r>
            <a:r>
              <a:rPr lang="en-US" b="1" dirty="0">
                <a:solidFill>
                  <a:srgbClr val="14202E"/>
                </a:solidFill>
                <a:latin typeface="IBM Plex Sans" pitchFamily="34" charset="0"/>
                <a:ea typeface="IBM Plex Sans" pitchFamily="34" charset="-122"/>
                <a:cs typeface="IBM Plex Sans" pitchFamily="34" charset="-120"/>
              </a:rPr>
              <a:t>x</a:t>
            </a:r>
            <a:r>
              <a:rPr lang="en-US" dirty="0">
                <a:solidFill>
                  <a:srgbClr val="44505E"/>
                </a:solidFill>
                <a:latin typeface="IBM Plex Sans" pitchFamily="34" charset="0"/>
                <a:ea typeface="IBM Plex Sans" pitchFamily="34" charset="-122"/>
                <a:cs typeface="IBM Plex Sans" pitchFamily="34" charset="-120"/>
              </a:rPr>
              <a:t> position on the rod · </a:t>
            </a:r>
            <a:r>
              <a:rPr lang="en-US" b="1" dirty="0">
                <a:solidFill>
                  <a:srgbClr val="14202E"/>
                </a:solidFill>
                <a:latin typeface="IBM Plex Sans" pitchFamily="34" charset="0"/>
                <a:ea typeface="IBM Plex Sans" pitchFamily="34" charset="-122"/>
                <a:cs typeface="IBM Plex Sans" pitchFamily="34" charset="-120"/>
              </a:rPr>
              <a:t>τ</a:t>
            </a:r>
            <a:r>
              <a:rPr lang="en-US" dirty="0">
                <a:solidFill>
                  <a:srgbClr val="44505E"/>
                </a:solidFill>
                <a:latin typeface="IBM Plex Sans" pitchFamily="34" charset="0"/>
                <a:ea typeface="IBM Plex Sans" pitchFamily="34" charset="-122"/>
                <a:cs typeface="IBM Plex Sans" pitchFamily="34" charset="-120"/>
              </a:rPr>
              <a:t> time elapsed · </a:t>
            </a:r>
            <a:r>
              <a:rPr lang="en-US" b="1" dirty="0">
                <a:solidFill>
                  <a:srgbClr val="14202E"/>
                </a:solidFill>
                <a:latin typeface="IBM Plex Sans" pitchFamily="34" charset="0"/>
                <a:ea typeface="IBM Plex Sans" pitchFamily="34" charset="-122"/>
                <a:cs typeface="IBM Plex Sans" pitchFamily="34" charset="-120"/>
              </a:rPr>
              <a:t>κ</a:t>
            </a:r>
            <a:r>
              <a:rPr lang="en-US" dirty="0">
                <a:solidFill>
                  <a:srgbClr val="44505E"/>
                </a:solidFill>
                <a:latin typeface="IBM Plex Sans" pitchFamily="34" charset="0"/>
                <a:ea typeface="IBM Plex Sans" pitchFamily="34" charset="-122"/>
                <a:cs typeface="IBM Plex Sans" pitchFamily="34" charset="-120"/>
              </a:rPr>
              <a:t> how fast heat conducts</a:t>
            </a:r>
            <a:endParaRPr lang="en-US" dirty="0"/>
          </a:p>
        </p:txBody>
      </p:sp>
      <p:sp>
        <p:nvSpPr>
          <p:cNvPr id="8" name="Text 6"/>
          <p:cNvSpPr/>
          <p:nvPr/>
        </p:nvSpPr>
        <p:spPr>
          <a:xfrm>
            <a:off x="812800" y="3791269"/>
            <a:ext cx="5284724" cy="867956"/>
          </a:xfrm>
          <a:prstGeom prst="rect">
            <a:avLst/>
          </a:prstGeom>
          <a:noFill/>
          <a:ln/>
        </p:spPr>
        <p:txBody>
          <a:bodyPr wrap="square" lIns="0" tIns="0" rIns="0" bIns="0" rtlCol="0" anchor="t">
            <a:normAutofit/>
          </a:bodyPr>
          <a:lstStyle/>
          <a:p>
            <a:pPr marL="0" indent="0" algn="l">
              <a:lnSpc>
                <a:spcPts val="1885"/>
              </a:lnSpc>
              <a:buNone/>
            </a:pPr>
            <a:r>
              <a:rPr lang="en-US" dirty="0">
                <a:solidFill>
                  <a:srgbClr val="44505E"/>
                </a:solidFill>
                <a:latin typeface="IBM Plex Sans" pitchFamily="34" charset="0"/>
                <a:ea typeface="IBM Plex Sans" pitchFamily="34" charset="-122"/>
                <a:cs typeface="IBM Plex Sans" pitchFamily="34" charset="-120"/>
              </a:rPr>
              <a:t>In words: a point warms up if it is colder than the average of its neighbours. The rate is the </a:t>
            </a:r>
            <a:r>
              <a:rPr lang="en-US" b="1" dirty="0">
                <a:solidFill>
                  <a:srgbClr val="14202E"/>
                </a:solidFill>
                <a:latin typeface="IBM Plex Sans" pitchFamily="34" charset="0"/>
                <a:ea typeface="IBM Plex Sans" pitchFamily="34" charset="-122"/>
                <a:cs typeface="IBM Plex Sans" pitchFamily="34" charset="-120"/>
              </a:rPr>
              <a:t>curvature</a:t>
            </a:r>
            <a:r>
              <a:rPr lang="en-US" dirty="0">
                <a:solidFill>
                  <a:srgbClr val="44505E"/>
                </a:solidFill>
                <a:latin typeface="IBM Plex Sans" pitchFamily="34" charset="0"/>
                <a:ea typeface="IBM Plex Sans" pitchFamily="34" charset="-122"/>
                <a:cs typeface="IBM Plex Sans" pitchFamily="34" charset="-120"/>
              </a:rPr>
              <a:t> — the same ∂² as gamma.</a:t>
            </a:r>
            <a:endParaRPr lang="en-US" dirty="0"/>
          </a:p>
        </p:txBody>
      </p:sp>
      <p:sp>
        <p:nvSpPr>
          <p:cNvPr id="9" name="Shape 7"/>
          <p:cNvSpPr/>
          <p:nvPr/>
        </p:nvSpPr>
        <p:spPr>
          <a:xfrm>
            <a:off x="6175375" y="1438275"/>
            <a:ext cx="5200650" cy="2978150"/>
          </a:xfrm>
          <a:prstGeom prst="roundRect">
            <a:avLst>
              <a:gd name="adj" fmla="val 3305"/>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10" name="Image 0" descr="Temperature along the rod at three moments: a narrow tall spike spreading into wider, lower bell curves"/>
          <p:cNvPicPr>
            <a:picLocks noChangeAspect="1"/>
          </p:cNvPicPr>
          <p:nvPr/>
        </p:nvPicPr>
        <p:blipFill>
          <a:blip r:embed="rId3"/>
          <a:srcRect/>
          <a:stretch/>
        </p:blipFill>
        <p:spPr>
          <a:xfrm>
            <a:off x="6362700" y="1625600"/>
            <a:ext cx="4826000" cy="2540000"/>
          </a:xfrm>
          <a:prstGeom prst="rect">
            <a:avLst/>
          </a:prstGeom>
        </p:spPr>
      </p:pic>
      <p:sp>
        <p:nvSpPr>
          <p:cNvPr id="11" name="Text 8"/>
          <p:cNvSpPr/>
          <p:nvPr/>
        </p:nvSpPr>
        <p:spPr>
          <a:xfrm>
            <a:off x="9156700" y="1752600"/>
            <a:ext cx="2092960"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C4661A"/>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just after the flame</a:t>
            </a:r>
            <a:endParaRPr lang="en-US" sz="1200" dirty="0"/>
          </a:p>
          <a:p>
            <a:pPr marL="0" indent="0" algn="l">
              <a:lnSpc>
                <a:spcPts val="1800"/>
              </a:lnSpc>
              <a:buNone/>
            </a:pPr>
            <a:r>
              <a:rPr lang="en-US" sz="1200" dirty="0">
                <a:solidFill>
                  <a:srgbClr val="E3A33B"/>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a little later</a:t>
            </a:r>
            <a:endParaRPr lang="en-US" sz="1200" dirty="0"/>
          </a:p>
          <a:p>
            <a:pPr marL="0" indent="0" algn="l">
              <a:lnSpc>
                <a:spcPts val="1800"/>
              </a:lnSpc>
              <a:buNone/>
            </a:pPr>
            <a:r>
              <a:rPr lang="en-US" sz="1200" dirty="0">
                <a:solidFill>
                  <a:srgbClr val="2B65C8"/>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much later: wide and low</a:t>
            </a:r>
            <a:endParaRPr lang="en-US" sz="1200" dirty="0"/>
          </a:p>
        </p:txBody>
      </p:sp>
      <p:sp>
        <p:nvSpPr>
          <p:cNvPr id="12" name="Text 9"/>
          <p:cNvSpPr/>
          <p:nvPr/>
        </p:nvSpPr>
        <p:spPr>
          <a:xfrm>
            <a:off x="6290310" y="4191000"/>
            <a:ext cx="497078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IBM Plex Sans" pitchFamily="34" charset="0"/>
                <a:ea typeface="IBM Plex Sans" pitchFamily="34" charset="-122"/>
                <a:cs typeface="IBM Plex Sans" pitchFamily="34" charset="-120"/>
              </a:rPr>
              <a:t>position x along the rod → width grows like √time</a:t>
            </a:r>
            <a:endParaRPr lang="en-US" sz="1200" dirty="0"/>
          </a:p>
        </p:txBody>
      </p:sp>
      <p:sp>
        <p:nvSpPr>
          <p:cNvPr id="13" name="Shape 10"/>
          <p:cNvSpPr/>
          <p:nvPr/>
        </p:nvSpPr>
        <p:spPr>
          <a:xfrm>
            <a:off x="809625" y="4909145"/>
            <a:ext cx="10705786" cy="1270000"/>
          </a:xfrm>
          <a:prstGeom prst="roundRect">
            <a:avLst>
              <a:gd name="adj" fmla="val 9933"/>
            </a:avLst>
          </a:prstGeom>
          <a:solidFill>
            <a:srgbClr val="14202E"/>
          </a:solidFill>
          <a:ln/>
        </p:spPr>
        <p:txBody>
          <a:bodyPr/>
          <a:lstStyle/>
          <a:p>
            <a:endParaRPr lang="en-SE"/>
          </a:p>
        </p:txBody>
      </p:sp>
      <p:pic>
        <p:nvPicPr>
          <p:cNvPr id="14" name="Image 1" descr="Lightbulb"/>
          <p:cNvPicPr>
            <a:picLocks noChangeAspect="1"/>
          </p:cNvPicPr>
          <p:nvPr/>
        </p:nvPicPr>
        <p:blipFill>
          <a:blip r:embed="rId4"/>
          <a:srcRect/>
          <a:stretch/>
        </p:blipFill>
        <p:spPr>
          <a:xfrm>
            <a:off x="915519" y="5431346"/>
            <a:ext cx="330200" cy="330200"/>
          </a:xfrm>
          <a:prstGeom prst="rect">
            <a:avLst/>
          </a:prstGeom>
        </p:spPr>
      </p:pic>
      <p:sp>
        <p:nvSpPr>
          <p:cNvPr id="15" name="Text 11"/>
          <p:cNvSpPr/>
          <p:nvPr/>
        </p:nvSpPr>
        <p:spPr>
          <a:xfrm>
            <a:off x="1423519" y="5076824"/>
            <a:ext cx="9852962" cy="96837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F5F3EC"/>
                </a:solidFill>
                <a:latin typeface="IBM Plex Sans" pitchFamily="34" charset="0"/>
                <a:ea typeface="IBM Plex Sans" pitchFamily="34" charset="-122"/>
                <a:cs typeface="IBM Plex Sans" pitchFamily="34" charset="-120"/>
              </a:rPr>
              <a:t>Fischer Black was trained in physics (Harvard BA 1959, PhD in applied maths 1964). In their 1973 paper, Black and Scholes showed that a change of variables turns their equation into the heat equation — whose solution was textbook material. Bachelier had already linked price randomness to Fourier’s heat theory in 1900.</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2">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BLACK-SCHOLES, GENTLY · 6 OF 8</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Why heat? Both are random walks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509059421"/>
              </p:ext>
            </p:extLst>
          </p:nvPr>
        </p:nvGraphicFramePr>
        <p:xfrm>
          <a:off x="825499" y="1447800"/>
          <a:ext cx="5765032" cy="3676650"/>
        </p:xfrm>
        <a:graphic>
          <a:graphicData uri="http://schemas.openxmlformats.org/drawingml/2006/table">
            <a:tbl>
              <a:tblPr/>
              <a:tblGrid>
                <a:gridCol w="2882516">
                  <a:extLst>
                    <a:ext uri="{9D8B030D-6E8A-4147-A177-3AD203B41FA5}">
                      <a16:colId xmlns:a16="http://schemas.microsoft.com/office/drawing/2014/main" val="20000"/>
                    </a:ext>
                  </a:extLst>
                </a:gridCol>
                <a:gridCol w="2882516">
                  <a:extLst>
                    <a:ext uri="{9D8B030D-6E8A-4147-A177-3AD203B41FA5}">
                      <a16:colId xmlns:a16="http://schemas.microsoft.com/office/drawing/2014/main" val="20001"/>
                    </a:ext>
                  </a:extLst>
                </a:gridCol>
              </a:tblGrid>
              <a:tr h="463836">
                <a:tc>
                  <a:txBody>
                    <a:bodyPr/>
                    <a:lstStyle/>
                    <a:p>
                      <a:pPr marL="0" indent="0">
                        <a:lnSpc>
                          <a:spcPts val="1750"/>
                        </a:lnSpc>
                        <a:buNone/>
                      </a:pPr>
                      <a:r>
                        <a:rPr lang="en-US" sz="1600" b="1" dirty="0">
                          <a:solidFill>
                            <a:srgbClr val="C4661A"/>
                          </a:solidFill>
                          <a:latin typeface="IBM Plex Sans" pitchFamily="34" charset="0"/>
                          <a:ea typeface="IBM Plex Sans" pitchFamily="34" charset="-122"/>
                          <a:cs typeface="IBM Plex Sans" pitchFamily="34" charset="-120"/>
                        </a:rPr>
                        <a:t>Heat in a rod</a:t>
                      </a:r>
                      <a:endParaRPr lang="en-US" sz="1600" dirty="0">
                        <a:latin typeface="IBM Plex Sans" charset="0"/>
                        <a:ea typeface="IBM Plex Sans" charset="0"/>
                        <a:cs typeface="IBM Plex Sans" charset="0"/>
                      </a:endParaRPr>
                    </a:p>
                  </a:txBody>
                  <a:tcPr marL="55563" marR="55563" marT="55563" marB="55563">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750"/>
                        </a:lnSpc>
                        <a:buNone/>
                      </a:pPr>
                      <a:r>
                        <a:rPr lang="en-US" sz="1600" b="1" dirty="0">
                          <a:solidFill>
                            <a:srgbClr val="2B65C8"/>
                          </a:solidFill>
                          <a:latin typeface="IBM Plex Sans" pitchFamily="34" charset="0"/>
                          <a:ea typeface="IBM Plex Sans" pitchFamily="34" charset="-122"/>
                          <a:cs typeface="IBM Plex Sans" pitchFamily="34" charset="-120"/>
                        </a:rPr>
                        <a:t>Option value</a:t>
                      </a:r>
                      <a:endParaRPr lang="en-US" sz="1600" dirty="0">
                        <a:latin typeface="IBM Plex Sans" charset="0"/>
                        <a:ea typeface="IBM Plex Sans" charset="0"/>
                        <a:cs typeface="IBM Plex Sans" charset="0"/>
                      </a:endParaRPr>
                    </a:p>
                  </a:txBody>
                  <a:tcPr marL="55563" marR="55563" marT="55563" marB="55563">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761714">
                <a:tc>
                  <a:txBody>
                    <a:bodyPr/>
                    <a:lstStyle/>
                    <a:p>
                      <a:pPr marL="0" indent="0">
                        <a:lnSpc>
                          <a:spcPts val="1750"/>
                        </a:lnSpc>
                        <a:buNone/>
                      </a:pPr>
                      <a:r>
                        <a:rPr lang="en-US" sz="1600" dirty="0">
                          <a:solidFill>
                            <a:srgbClr val="14202E"/>
                          </a:solidFill>
                          <a:latin typeface="IBM Plex Sans" pitchFamily="34" charset="0"/>
                          <a:ea typeface="IBM Plex Sans" pitchFamily="34" charset="-122"/>
                          <a:cs typeface="IBM Plex Sans" pitchFamily="34" charset="-120"/>
                        </a:rPr>
                        <a:t>Molecules kick at random; spread grows like √time</a:t>
                      </a:r>
                      <a:endParaRPr lang="en-US" sz="1600" dirty="0">
                        <a:latin typeface="IBM Plex Sans" charset="0"/>
                        <a:ea typeface="IBM Plex Sans" charset="0"/>
                        <a:cs typeface="IBM Plex Sans" charset="0"/>
                      </a:endParaRPr>
                    </a:p>
                  </a:txBody>
                  <a:tcPr marL="55563" marR="55563" marT="55563" marB="55563">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750"/>
                        </a:lnSpc>
                        <a:buNone/>
                      </a:pPr>
                      <a:r>
                        <a:rPr lang="en-US" sz="1600" dirty="0">
                          <a:solidFill>
                            <a:srgbClr val="14202E"/>
                          </a:solidFill>
                          <a:latin typeface="IBM Plex Sans" pitchFamily="34" charset="0"/>
                          <a:ea typeface="IBM Plex Sans" pitchFamily="34" charset="-122"/>
                          <a:cs typeface="IBM Plex Sans" pitchFamily="34" charset="-120"/>
                        </a:rPr>
                        <a:t>Trades kick the price; spread grows like σ√T</a:t>
                      </a:r>
                      <a:endParaRPr lang="en-US" sz="1600" dirty="0">
                        <a:latin typeface="IBM Plex Sans" charset="0"/>
                        <a:ea typeface="IBM Plex Sans" charset="0"/>
                        <a:cs typeface="IBM Plex Sans" charset="0"/>
                      </a:endParaRPr>
                    </a:p>
                  </a:txBody>
                  <a:tcPr marL="55563" marR="55563" marT="55563" marB="55563">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463836">
                <a:tc>
                  <a:txBody>
                    <a:bodyPr/>
                    <a:lstStyle/>
                    <a:p>
                      <a:pPr marL="0" indent="0">
                        <a:lnSpc>
                          <a:spcPts val="1750"/>
                        </a:lnSpc>
                        <a:buNone/>
                      </a:pPr>
                      <a:r>
                        <a:rPr lang="en-US" sz="1600" dirty="0">
                          <a:solidFill>
                            <a:srgbClr val="14202E"/>
                          </a:solidFill>
                          <a:latin typeface="IBM Plex Sans" pitchFamily="34" charset="0"/>
                          <a:ea typeface="IBM Plex Sans" pitchFamily="34" charset="-122"/>
                          <a:cs typeface="IBM Plex Sans" pitchFamily="34" charset="-120"/>
                        </a:rPr>
                        <a:t>Initial temperature profile</a:t>
                      </a:r>
                      <a:endParaRPr lang="en-US" sz="1600" dirty="0">
                        <a:latin typeface="IBM Plex Sans" charset="0"/>
                        <a:ea typeface="IBM Plex Sans" charset="0"/>
                        <a:cs typeface="IBM Plex Sans" charset="0"/>
                      </a:endParaRPr>
                    </a:p>
                  </a:txBody>
                  <a:tcPr marL="55563" marR="55563" marT="55563" marB="55563">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750"/>
                        </a:lnSpc>
                        <a:buNone/>
                      </a:pPr>
                      <a:r>
                        <a:rPr lang="en-US" sz="1600" dirty="0">
                          <a:solidFill>
                            <a:srgbClr val="14202E"/>
                          </a:solidFill>
                          <a:latin typeface="IBM Plex Sans" pitchFamily="34" charset="0"/>
                          <a:ea typeface="IBM Plex Sans" pitchFamily="34" charset="-122"/>
                          <a:cs typeface="IBM Plex Sans" pitchFamily="34" charset="-120"/>
                        </a:rPr>
                        <a:t>Payoff at expiry</a:t>
                      </a:r>
                      <a:endParaRPr lang="en-US" sz="1600" dirty="0">
                        <a:latin typeface="IBM Plex Sans" charset="0"/>
                        <a:ea typeface="IBM Plex Sans" charset="0"/>
                        <a:cs typeface="IBM Plex Sans" charset="0"/>
                      </a:endParaRPr>
                    </a:p>
                  </a:txBody>
                  <a:tcPr marL="55563" marR="55563" marT="55563" marB="55563">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2"/>
                  </a:ext>
                </a:extLst>
              </a:tr>
              <a:tr h="761714">
                <a:tc>
                  <a:txBody>
                    <a:bodyPr/>
                    <a:lstStyle/>
                    <a:p>
                      <a:pPr marL="0" indent="0">
                        <a:lnSpc>
                          <a:spcPts val="1750"/>
                        </a:lnSpc>
                        <a:buNone/>
                      </a:pPr>
                      <a:r>
                        <a:rPr lang="en-US" sz="1600" dirty="0">
                          <a:solidFill>
                            <a:srgbClr val="14202E"/>
                          </a:solidFill>
                          <a:latin typeface="IBM Plex Sans" pitchFamily="34" charset="0"/>
                          <a:ea typeface="IBM Plex Sans" pitchFamily="34" charset="-122"/>
                          <a:cs typeface="IBM Plex Sans" pitchFamily="34" charset="-120"/>
                        </a:rPr>
                        <a:t>Diffusion smooths sharp edges</a:t>
                      </a:r>
                      <a:endParaRPr lang="en-US" sz="1600" dirty="0">
                        <a:latin typeface="IBM Plex Sans" charset="0"/>
                        <a:ea typeface="IBM Plex Sans" charset="0"/>
                        <a:cs typeface="IBM Plex Sans" charset="0"/>
                      </a:endParaRPr>
                    </a:p>
                  </a:txBody>
                  <a:tcPr marL="55563" marR="55563" marT="55563" marB="55563">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750"/>
                        </a:lnSpc>
                        <a:buNone/>
                      </a:pPr>
                      <a:r>
                        <a:rPr lang="en-US" sz="1600" dirty="0">
                          <a:solidFill>
                            <a:srgbClr val="14202E"/>
                          </a:solidFill>
                          <a:latin typeface="IBM Plex Sans" pitchFamily="34" charset="0"/>
                          <a:ea typeface="IBM Plex Sans" pitchFamily="34" charset="-122"/>
                          <a:cs typeface="IBM Plex Sans" pitchFamily="34" charset="-120"/>
                        </a:rPr>
                        <a:t>Time to expiry smooths the kink</a:t>
                      </a:r>
                      <a:endParaRPr lang="en-US" sz="1600" dirty="0">
                        <a:latin typeface="IBM Plex Sans" charset="0"/>
                        <a:ea typeface="IBM Plex Sans" charset="0"/>
                        <a:cs typeface="IBM Plex Sans" charset="0"/>
                      </a:endParaRPr>
                    </a:p>
                  </a:txBody>
                  <a:tcPr marL="55563" marR="55563" marT="55563" marB="55563">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463836">
                <a:tc>
                  <a:txBody>
                    <a:bodyPr/>
                    <a:lstStyle/>
                    <a:p>
                      <a:pPr marL="0" indent="0">
                        <a:lnSpc>
                          <a:spcPts val="1750"/>
                        </a:lnSpc>
                        <a:buNone/>
                      </a:pPr>
                      <a:r>
                        <a:rPr lang="en-US" sz="1600" dirty="0">
                          <a:solidFill>
                            <a:srgbClr val="14202E"/>
                          </a:solidFill>
                          <a:latin typeface="IBM Plex Sans" pitchFamily="34" charset="0"/>
                          <a:ea typeface="IBM Plex Sans" pitchFamily="34" charset="-122"/>
                          <a:cs typeface="IBM Plex Sans" pitchFamily="34" charset="-120"/>
                        </a:rPr>
                        <a:t>Conductivity κ</a:t>
                      </a:r>
                      <a:endParaRPr lang="en-US" sz="1600" dirty="0">
                        <a:latin typeface="IBM Plex Sans" charset="0"/>
                        <a:ea typeface="IBM Plex Sans" charset="0"/>
                        <a:cs typeface="IBM Plex Sans" charset="0"/>
                      </a:endParaRPr>
                    </a:p>
                  </a:txBody>
                  <a:tcPr marL="55563" marR="55563" marT="55563" marB="55563">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750"/>
                        </a:lnSpc>
                        <a:buNone/>
                      </a:pPr>
                      <a:r>
                        <a:rPr lang="en-US" sz="1600" dirty="0">
                          <a:solidFill>
                            <a:srgbClr val="14202E"/>
                          </a:solidFill>
                          <a:latin typeface="IBM Plex Sans" pitchFamily="34" charset="0"/>
                          <a:ea typeface="IBM Plex Sans" pitchFamily="34" charset="-122"/>
                          <a:cs typeface="IBM Plex Sans" pitchFamily="34" charset="-120"/>
                        </a:rPr>
                        <a:t>½σ²</a:t>
                      </a:r>
                      <a:endParaRPr lang="en-US" sz="1600" dirty="0">
                        <a:latin typeface="IBM Plex Sans" charset="0"/>
                        <a:ea typeface="IBM Plex Sans" charset="0"/>
                        <a:cs typeface="IBM Plex Sans" charset="0"/>
                      </a:endParaRPr>
                    </a:p>
                  </a:txBody>
                  <a:tcPr marL="55563" marR="55563" marT="55563" marB="55563">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4"/>
                  </a:ext>
                </a:extLst>
              </a:tr>
              <a:tr h="761714">
                <a:tc>
                  <a:txBody>
                    <a:bodyPr/>
                    <a:lstStyle/>
                    <a:p>
                      <a:pPr marL="0" indent="0">
                        <a:lnSpc>
                          <a:spcPts val="1750"/>
                        </a:lnSpc>
                        <a:buNone/>
                      </a:pPr>
                      <a:r>
                        <a:rPr lang="en-US" sz="1600" dirty="0">
                          <a:solidFill>
                            <a:srgbClr val="14202E"/>
                          </a:solidFill>
                          <a:latin typeface="IBM Plex Sans" pitchFamily="34" charset="0"/>
                          <a:ea typeface="IBM Plex Sans" pitchFamily="34" charset="-122"/>
                          <a:cs typeface="IBM Plex Sans" pitchFamily="34" charset="-120"/>
                        </a:rPr>
                        <a:t>Grid step: average the neighbours</a:t>
                      </a:r>
                      <a:endParaRPr lang="en-US" sz="1600" dirty="0">
                        <a:latin typeface="IBM Plex Sans" charset="0"/>
                        <a:ea typeface="IBM Plex Sans" charset="0"/>
                        <a:cs typeface="IBM Plex Sans" charset="0"/>
                      </a:endParaRPr>
                    </a:p>
                  </a:txBody>
                  <a:tcPr marL="55563" marR="55563" marT="55563" marB="55563">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750"/>
                        </a:lnSpc>
                        <a:buNone/>
                      </a:pPr>
                      <a:r>
                        <a:rPr lang="en-US" sz="1600" dirty="0">
                          <a:solidFill>
                            <a:srgbClr val="14202E"/>
                          </a:solidFill>
                          <a:latin typeface="IBM Plex Sans" pitchFamily="34" charset="0"/>
                          <a:ea typeface="IBM Plex Sans" pitchFamily="34" charset="-122"/>
                          <a:cs typeface="IBM Plex Sans" pitchFamily="34" charset="-120"/>
                        </a:rPr>
                        <a:t>Lattice step: [q·V↑ + (1−q)·V↓] / R</a:t>
                      </a:r>
                      <a:endParaRPr lang="en-US" sz="1600" dirty="0">
                        <a:latin typeface="IBM Plex Sans" charset="0"/>
                        <a:ea typeface="IBM Plex Sans" charset="0"/>
                        <a:cs typeface="IBM Plex Sans" charset="0"/>
                      </a:endParaRPr>
                    </a:p>
                  </a:txBody>
                  <a:tcPr marL="55563" marR="55563" marT="55563" marB="55563">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6714356" y="1438275"/>
            <a:ext cx="5073650" cy="3676650"/>
          </a:xfrm>
          <a:prstGeom prst="roundRect">
            <a:avLst>
              <a:gd name="adj" fmla="val 2677"/>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6" name="Image 0" descr="Call value against stock price at expiry and at 3 months and 1 year before expiry: the sharp hockey stick becomes progressively smoother"/>
          <p:cNvPicPr>
            <a:picLocks noChangeAspect="1"/>
          </p:cNvPicPr>
          <p:nvPr/>
        </p:nvPicPr>
        <p:blipFill>
          <a:blip r:embed="rId3"/>
          <a:srcRect/>
          <a:stretch/>
        </p:blipFill>
        <p:spPr>
          <a:xfrm>
            <a:off x="6838181" y="1625600"/>
            <a:ext cx="4826000" cy="2794000"/>
          </a:xfrm>
          <a:prstGeom prst="rect">
            <a:avLst/>
          </a:prstGeom>
        </p:spPr>
      </p:pic>
      <p:sp>
        <p:nvSpPr>
          <p:cNvPr id="7" name="Text 3"/>
          <p:cNvSpPr/>
          <p:nvPr/>
        </p:nvSpPr>
        <p:spPr>
          <a:xfrm>
            <a:off x="6990581" y="1752600"/>
            <a:ext cx="2485390"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C4661A"/>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at expiry: the payoff</a:t>
            </a:r>
            <a:endParaRPr lang="en-US" sz="1200" dirty="0"/>
          </a:p>
          <a:p>
            <a:pPr marL="0" indent="0" algn="l">
              <a:lnSpc>
                <a:spcPts val="1800"/>
              </a:lnSpc>
              <a:buNone/>
            </a:pPr>
            <a:r>
              <a:rPr lang="en-US" sz="1200" dirty="0">
                <a:solidFill>
                  <a:srgbClr val="E3A33B"/>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3 months before</a:t>
            </a:r>
            <a:endParaRPr lang="en-US" sz="1200" dirty="0"/>
          </a:p>
          <a:p>
            <a:pPr marL="0" indent="0" algn="l">
              <a:lnSpc>
                <a:spcPts val="1800"/>
              </a:lnSpc>
              <a:buNone/>
            </a:pPr>
            <a:r>
              <a:rPr lang="en-US" sz="1200" dirty="0">
                <a:solidFill>
                  <a:srgbClr val="2B65C8"/>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1 year before</a:t>
            </a:r>
            <a:endParaRPr lang="en-US" sz="1200" dirty="0"/>
          </a:p>
        </p:txBody>
      </p:sp>
      <p:sp>
        <p:nvSpPr>
          <p:cNvPr id="8" name="Text 4"/>
          <p:cNvSpPr/>
          <p:nvPr/>
        </p:nvSpPr>
        <p:spPr>
          <a:xfrm>
            <a:off x="6685781" y="44831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60</a:t>
            </a:r>
            <a:endParaRPr lang="en-US" sz="1200" dirty="0"/>
          </a:p>
        </p:txBody>
      </p:sp>
      <p:sp>
        <p:nvSpPr>
          <p:cNvPr id="9" name="Text 5"/>
          <p:cNvSpPr/>
          <p:nvPr/>
        </p:nvSpPr>
        <p:spPr>
          <a:xfrm>
            <a:off x="8971781" y="44831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100</a:t>
            </a:r>
            <a:endParaRPr lang="en-US" sz="1200" dirty="0"/>
          </a:p>
        </p:txBody>
      </p:sp>
      <p:sp>
        <p:nvSpPr>
          <p:cNvPr id="10" name="Text 6"/>
          <p:cNvSpPr/>
          <p:nvPr/>
        </p:nvSpPr>
        <p:spPr>
          <a:xfrm>
            <a:off x="11289531" y="4483100"/>
            <a:ext cx="495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140</a:t>
            </a:r>
            <a:endParaRPr lang="en-US" sz="1200" dirty="0"/>
          </a:p>
        </p:txBody>
      </p:sp>
      <p:sp>
        <p:nvSpPr>
          <p:cNvPr id="11" name="Text 7"/>
          <p:cNvSpPr/>
          <p:nvPr/>
        </p:nvSpPr>
        <p:spPr>
          <a:xfrm>
            <a:off x="6765791" y="4762500"/>
            <a:ext cx="497078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IBM Plex Sans" pitchFamily="34" charset="0"/>
                <a:ea typeface="IBM Plex Sans" pitchFamily="34" charset="-122"/>
                <a:cs typeface="IBM Plex Sans" pitchFamily="34" charset="-120"/>
              </a:rPr>
              <a:t>stock price S · read backward from expiry, the kink “melts”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3">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BLACK-SCHOLES, GENTLY · 7 OF 8</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Refactor: three substitutions reveal the heat equation</a:t>
            </a:r>
            <a:endParaRPr lang="en-US" sz="3000" dirty="0"/>
          </a:p>
        </p:txBody>
      </p:sp>
      <p:sp>
        <p:nvSpPr>
          <p:cNvPr id="4" name="Shape 2"/>
          <p:cNvSpPr/>
          <p:nvPr/>
        </p:nvSpPr>
        <p:spPr>
          <a:xfrm>
            <a:off x="815975" y="1603793"/>
            <a:ext cx="10560050" cy="739080"/>
          </a:xfrm>
          <a:prstGeom prst="roundRect">
            <a:avLst>
              <a:gd name="adj" fmla="val 9881"/>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sz="2400"/>
          </a:p>
        </p:txBody>
      </p:sp>
      <p:sp>
        <p:nvSpPr>
          <p:cNvPr id="5" name="Text 3"/>
          <p:cNvSpPr/>
          <p:nvPr/>
        </p:nvSpPr>
        <p:spPr>
          <a:xfrm>
            <a:off x="996950" y="1813293"/>
            <a:ext cx="368300" cy="345430"/>
          </a:xfrm>
          <a:prstGeom prst="rect">
            <a:avLst/>
          </a:prstGeom>
          <a:noFill/>
          <a:ln/>
        </p:spPr>
        <p:txBody>
          <a:bodyPr wrap="square" lIns="0" tIns="0" rIns="0" bIns="0" rtlCol="0" anchor="t">
            <a:normAutofit/>
          </a:bodyPr>
          <a:lstStyle/>
          <a:p>
            <a:pPr marL="0" indent="0" algn="l">
              <a:lnSpc>
                <a:spcPts val="2520"/>
              </a:lnSpc>
              <a:buNone/>
            </a:pPr>
            <a:r>
              <a:rPr lang="en-US" sz="2400" b="1" dirty="0">
                <a:solidFill>
                  <a:srgbClr val="2B65C8"/>
                </a:solidFill>
                <a:latin typeface="JetBrains Mono" pitchFamily="49" charset="0"/>
                <a:ea typeface="JetBrains Mono" pitchFamily="49" charset="-122"/>
                <a:cs typeface="JetBrains Mono" pitchFamily="49" charset="-120"/>
              </a:rPr>
              <a:t>1</a:t>
            </a:r>
            <a:endParaRPr lang="en-US" sz="2400" dirty="0"/>
          </a:p>
        </p:txBody>
      </p:sp>
      <p:sp>
        <p:nvSpPr>
          <p:cNvPr id="6" name="Text 4"/>
          <p:cNvSpPr/>
          <p:nvPr/>
        </p:nvSpPr>
        <p:spPr>
          <a:xfrm>
            <a:off x="1492250" y="1839983"/>
            <a:ext cx="366268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14202E"/>
                </a:solidFill>
                <a:latin typeface="JetBrains Mono" pitchFamily="49" charset="0"/>
                <a:ea typeface="JetBrains Mono" pitchFamily="49" charset="-122"/>
                <a:cs typeface="JetBrains Mono" pitchFamily="49" charset="-120"/>
              </a:rPr>
              <a:t>τ = T − t</a:t>
            </a:r>
            <a:endParaRPr lang="en-US" dirty="0"/>
          </a:p>
        </p:txBody>
      </p:sp>
      <p:sp>
        <p:nvSpPr>
          <p:cNvPr id="7" name="Text 5"/>
          <p:cNvSpPr/>
          <p:nvPr/>
        </p:nvSpPr>
        <p:spPr>
          <a:xfrm>
            <a:off x="5226050" y="1733968"/>
            <a:ext cx="6148070" cy="50413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Count </a:t>
            </a:r>
            <a:r>
              <a:rPr lang="en-US" sz="1600" b="1" dirty="0">
                <a:solidFill>
                  <a:srgbClr val="14202E"/>
                </a:solidFill>
                <a:latin typeface="IBM Plex Sans" pitchFamily="34" charset="0"/>
                <a:ea typeface="IBM Plex Sans" pitchFamily="34" charset="-122"/>
                <a:cs typeface="IBM Plex Sans" pitchFamily="34" charset="-120"/>
              </a:rPr>
              <a:t>time to expiry</a:t>
            </a:r>
            <a:r>
              <a:rPr lang="en-US" sz="1600" dirty="0">
                <a:solidFill>
                  <a:srgbClr val="44505E"/>
                </a:solidFill>
                <a:latin typeface="IBM Plex Sans" pitchFamily="34" charset="0"/>
                <a:ea typeface="IBM Plex Sans" pitchFamily="34" charset="-122"/>
                <a:cs typeface="IBM Plex Sans" pitchFamily="34" charset="-120"/>
              </a:rPr>
              <a:t>. The payoff becomes a starting condition, like the initial temperature.</a:t>
            </a:r>
            <a:endParaRPr lang="en-US" sz="1600" dirty="0"/>
          </a:p>
        </p:txBody>
      </p:sp>
      <p:sp>
        <p:nvSpPr>
          <p:cNvPr id="8" name="Shape 6"/>
          <p:cNvSpPr/>
          <p:nvPr/>
        </p:nvSpPr>
        <p:spPr>
          <a:xfrm>
            <a:off x="815975" y="2722127"/>
            <a:ext cx="10560050" cy="739080"/>
          </a:xfrm>
          <a:prstGeom prst="roundRect">
            <a:avLst>
              <a:gd name="adj" fmla="val 9881"/>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sz="2400"/>
          </a:p>
        </p:txBody>
      </p:sp>
      <p:sp>
        <p:nvSpPr>
          <p:cNvPr id="9" name="Text 7"/>
          <p:cNvSpPr/>
          <p:nvPr/>
        </p:nvSpPr>
        <p:spPr>
          <a:xfrm>
            <a:off x="996950" y="2931628"/>
            <a:ext cx="368300" cy="345430"/>
          </a:xfrm>
          <a:prstGeom prst="rect">
            <a:avLst/>
          </a:prstGeom>
          <a:noFill/>
          <a:ln/>
        </p:spPr>
        <p:txBody>
          <a:bodyPr wrap="square" lIns="0" tIns="0" rIns="0" bIns="0" rtlCol="0" anchor="t">
            <a:normAutofit/>
          </a:bodyPr>
          <a:lstStyle/>
          <a:p>
            <a:pPr marL="0" indent="0" algn="l">
              <a:lnSpc>
                <a:spcPts val="2520"/>
              </a:lnSpc>
              <a:buNone/>
            </a:pPr>
            <a:r>
              <a:rPr lang="en-US" sz="2400" b="1" dirty="0">
                <a:solidFill>
                  <a:srgbClr val="2B65C8"/>
                </a:solidFill>
                <a:latin typeface="JetBrains Mono" pitchFamily="49" charset="0"/>
                <a:ea typeface="JetBrains Mono" pitchFamily="49" charset="-122"/>
                <a:cs typeface="JetBrains Mono" pitchFamily="49" charset="-120"/>
              </a:rPr>
              <a:t>2</a:t>
            </a:r>
            <a:endParaRPr lang="en-US" sz="2400" dirty="0"/>
          </a:p>
        </p:txBody>
      </p:sp>
      <p:sp>
        <p:nvSpPr>
          <p:cNvPr id="10" name="Text 8"/>
          <p:cNvSpPr/>
          <p:nvPr/>
        </p:nvSpPr>
        <p:spPr>
          <a:xfrm>
            <a:off x="1492250" y="2958318"/>
            <a:ext cx="366268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14202E"/>
                </a:solidFill>
                <a:latin typeface="JetBrains Mono" pitchFamily="49" charset="0"/>
                <a:ea typeface="JetBrains Mono" pitchFamily="49" charset="-122"/>
                <a:cs typeface="JetBrains Mono" pitchFamily="49" charset="-120"/>
              </a:rPr>
              <a:t>x = ln S + (r − ½σ²)·τ</a:t>
            </a:r>
            <a:endParaRPr lang="en-US" dirty="0"/>
          </a:p>
        </p:txBody>
      </p:sp>
      <p:sp>
        <p:nvSpPr>
          <p:cNvPr id="11" name="Text 9"/>
          <p:cNvSpPr/>
          <p:nvPr/>
        </p:nvSpPr>
        <p:spPr>
          <a:xfrm>
            <a:off x="5226050" y="2852302"/>
            <a:ext cx="6148070" cy="50413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Use </a:t>
            </a:r>
            <a:r>
              <a:rPr lang="en-US" sz="1600" b="1" dirty="0">
                <a:solidFill>
                  <a:srgbClr val="14202E"/>
                </a:solidFill>
                <a:latin typeface="IBM Plex Sans" pitchFamily="34" charset="0"/>
                <a:ea typeface="IBM Plex Sans" pitchFamily="34" charset="-122"/>
                <a:cs typeface="IBM Plex Sans" pitchFamily="34" charset="-120"/>
              </a:rPr>
              <a:t>log-price</a:t>
            </a:r>
            <a:r>
              <a:rPr lang="en-US" sz="1600" dirty="0">
                <a:solidFill>
                  <a:srgbClr val="44505E"/>
                </a:solidFill>
                <a:latin typeface="IBM Plex Sans" pitchFamily="34" charset="0"/>
                <a:ea typeface="IBM Plex Sans" pitchFamily="34" charset="-122"/>
                <a:cs typeface="IBM Plex Sans" pitchFamily="34" charset="-120"/>
              </a:rPr>
              <a:t>: % moves become plain additive steps. The shift absorbs the drift term.</a:t>
            </a:r>
            <a:endParaRPr lang="en-US" sz="1600" dirty="0"/>
          </a:p>
        </p:txBody>
      </p:sp>
      <p:sp>
        <p:nvSpPr>
          <p:cNvPr id="12" name="Shape 10"/>
          <p:cNvSpPr/>
          <p:nvPr/>
        </p:nvSpPr>
        <p:spPr>
          <a:xfrm>
            <a:off x="815975" y="3930897"/>
            <a:ext cx="10560050" cy="580380"/>
          </a:xfrm>
          <a:prstGeom prst="roundRect">
            <a:avLst>
              <a:gd name="adj" fmla="val 12582"/>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sz="2800"/>
          </a:p>
        </p:txBody>
      </p:sp>
      <p:sp>
        <p:nvSpPr>
          <p:cNvPr id="13" name="Text 11"/>
          <p:cNvSpPr/>
          <p:nvPr/>
        </p:nvSpPr>
        <p:spPr>
          <a:xfrm>
            <a:off x="996950" y="4061072"/>
            <a:ext cx="368300" cy="345430"/>
          </a:xfrm>
          <a:prstGeom prst="rect">
            <a:avLst/>
          </a:prstGeom>
          <a:noFill/>
          <a:ln/>
        </p:spPr>
        <p:txBody>
          <a:bodyPr wrap="square" lIns="0" tIns="0" rIns="0" bIns="0" rtlCol="0" anchor="t">
            <a:normAutofit/>
          </a:bodyPr>
          <a:lstStyle/>
          <a:p>
            <a:pPr marL="0" indent="0" algn="l">
              <a:lnSpc>
                <a:spcPts val="2520"/>
              </a:lnSpc>
              <a:buNone/>
            </a:pPr>
            <a:r>
              <a:rPr lang="en-US" sz="2800" b="1" dirty="0">
                <a:solidFill>
                  <a:srgbClr val="2B65C8"/>
                </a:solidFill>
                <a:latin typeface="JetBrains Mono" pitchFamily="49" charset="0"/>
                <a:ea typeface="JetBrains Mono" pitchFamily="49" charset="-122"/>
                <a:cs typeface="JetBrains Mono" pitchFamily="49" charset="-120"/>
              </a:rPr>
              <a:t>3</a:t>
            </a:r>
            <a:endParaRPr lang="en-US" sz="2800" dirty="0"/>
          </a:p>
        </p:txBody>
      </p:sp>
      <p:sp>
        <p:nvSpPr>
          <p:cNvPr id="14" name="Text 12"/>
          <p:cNvSpPr/>
          <p:nvPr/>
        </p:nvSpPr>
        <p:spPr>
          <a:xfrm>
            <a:off x="1492250" y="4087712"/>
            <a:ext cx="366268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14202E"/>
                </a:solidFill>
                <a:latin typeface="JetBrains Mono" pitchFamily="49" charset="0"/>
                <a:ea typeface="JetBrains Mono" pitchFamily="49" charset="-122"/>
                <a:cs typeface="JetBrains Mono" pitchFamily="49" charset="-120"/>
              </a:rPr>
              <a:t>V = e^(−r·τ) · u</a:t>
            </a:r>
            <a:endParaRPr lang="en-US" dirty="0"/>
          </a:p>
        </p:txBody>
      </p:sp>
      <p:sp>
        <p:nvSpPr>
          <p:cNvPr id="15" name="Text 13"/>
          <p:cNvSpPr/>
          <p:nvPr/>
        </p:nvSpPr>
        <p:spPr>
          <a:xfrm>
            <a:off x="5226050" y="4101404"/>
            <a:ext cx="6148070" cy="26476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Pull out the </a:t>
            </a:r>
            <a:r>
              <a:rPr lang="en-US" sz="1600" b="1" dirty="0">
                <a:solidFill>
                  <a:srgbClr val="14202E"/>
                </a:solidFill>
                <a:latin typeface="IBM Plex Sans" pitchFamily="34" charset="0"/>
                <a:ea typeface="IBM Plex Sans" pitchFamily="34" charset="-122"/>
                <a:cs typeface="IBM Plex Sans" pitchFamily="34" charset="-120"/>
              </a:rPr>
              <a:t>discounting</a:t>
            </a:r>
            <a:r>
              <a:rPr lang="en-US" sz="1600" dirty="0">
                <a:solidFill>
                  <a:srgbClr val="44505E"/>
                </a:solidFill>
                <a:latin typeface="IBM Plex Sans" pitchFamily="34" charset="0"/>
                <a:ea typeface="IBM Plex Sans" pitchFamily="34" charset="-122"/>
                <a:cs typeface="IBM Plex Sans" pitchFamily="34" charset="-120"/>
              </a:rPr>
              <a:t>. The r·V term disappears.</a:t>
            </a:r>
            <a:endParaRPr lang="en-US" sz="1600" dirty="0"/>
          </a:p>
        </p:txBody>
      </p:sp>
      <p:sp>
        <p:nvSpPr>
          <p:cNvPr id="16" name="Shape 14"/>
          <p:cNvSpPr/>
          <p:nvPr/>
        </p:nvSpPr>
        <p:spPr>
          <a:xfrm>
            <a:off x="812800" y="4973607"/>
            <a:ext cx="10566400" cy="1073696"/>
          </a:xfrm>
          <a:prstGeom prst="roundRect">
            <a:avLst>
              <a:gd name="adj" fmla="val 9463"/>
            </a:avLst>
          </a:prstGeom>
          <a:solidFill>
            <a:srgbClr val="14202E"/>
          </a:solidFill>
          <a:ln/>
        </p:spPr>
        <p:txBody>
          <a:bodyPr/>
          <a:lstStyle/>
          <a:p>
            <a:endParaRPr lang="en-SE" sz="2000"/>
          </a:p>
        </p:txBody>
      </p:sp>
      <p:sp>
        <p:nvSpPr>
          <p:cNvPr id="17" name="Text 15"/>
          <p:cNvSpPr/>
          <p:nvPr/>
        </p:nvSpPr>
        <p:spPr>
          <a:xfrm>
            <a:off x="1041400" y="5176460"/>
            <a:ext cx="5363210" cy="381000"/>
          </a:xfrm>
          <a:prstGeom prst="rect">
            <a:avLst/>
          </a:prstGeom>
          <a:noFill/>
          <a:ln/>
        </p:spPr>
        <p:txBody>
          <a:bodyPr wrap="square" lIns="0" tIns="0" rIns="0" bIns="0" rtlCol="0" anchor="t">
            <a:normAutofit/>
          </a:bodyPr>
          <a:lstStyle/>
          <a:p>
            <a:pPr marL="0" indent="0" algn="l">
              <a:lnSpc>
                <a:spcPts val="2800"/>
              </a:lnSpc>
              <a:buNone/>
            </a:pPr>
            <a:r>
              <a:rPr lang="en-US" sz="2400" b="1" dirty="0">
                <a:solidFill>
                  <a:srgbClr val="E3A33B"/>
                </a:solidFill>
                <a:latin typeface="JetBrains Mono" pitchFamily="49" charset="0"/>
                <a:ea typeface="JetBrains Mono" pitchFamily="49" charset="-122"/>
                <a:cs typeface="JetBrains Mono" pitchFamily="49" charset="-120"/>
              </a:rPr>
              <a:t>∂u/∂τ = ½σ² · ∂²u/∂x²</a:t>
            </a:r>
            <a:endParaRPr lang="en-US" sz="2400" dirty="0"/>
          </a:p>
        </p:txBody>
      </p:sp>
      <p:sp>
        <p:nvSpPr>
          <p:cNvPr id="18" name="Text 16"/>
          <p:cNvSpPr/>
          <p:nvPr/>
        </p:nvSpPr>
        <p:spPr>
          <a:xfrm>
            <a:off x="1041400" y="5595560"/>
            <a:ext cx="5363210" cy="274290"/>
          </a:xfrm>
          <a:prstGeom prst="rect">
            <a:avLst/>
          </a:prstGeom>
          <a:noFill/>
          <a:ln/>
        </p:spPr>
        <p:txBody>
          <a:bodyPr wrap="square" lIns="0" tIns="0" rIns="0" bIns="0" rtlCol="0" anchor="t">
            <a:normAutofit/>
          </a:bodyPr>
          <a:lstStyle/>
          <a:p>
            <a:pPr marL="0" indent="0" algn="l">
              <a:lnSpc>
                <a:spcPts val="1960"/>
              </a:lnSpc>
              <a:buNone/>
            </a:pPr>
            <a:r>
              <a:rPr lang="en-US" sz="1600" dirty="0">
                <a:solidFill>
                  <a:srgbClr val="F5F3EC"/>
                </a:solidFill>
                <a:latin typeface="JetBrains Mono" pitchFamily="49" charset="0"/>
                <a:ea typeface="JetBrains Mono" pitchFamily="49" charset="-122"/>
                <a:cs typeface="JetBrains Mono" pitchFamily="49" charset="-120"/>
              </a:rPr>
              <a:t>start: u(x, 0) = max(eˣ − K, 0)</a:t>
            </a:r>
            <a:endParaRPr lang="en-US" sz="1600" dirty="0"/>
          </a:p>
        </p:txBody>
      </p:sp>
      <p:sp>
        <p:nvSpPr>
          <p:cNvPr id="19" name="Text 17"/>
          <p:cNvSpPr/>
          <p:nvPr/>
        </p:nvSpPr>
        <p:spPr>
          <a:xfrm>
            <a:off x="6477000" y="5151407"/>
            <a:ext cx="4813808" cy="743496"/>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BFCAD6"/>
                </a:solidFill>
                <a:latin typeface="IBM Plex Sans" pitchFamily="34" charset="0"/>
                <a:ea typeface="IBM Plex Sans" pitchFamily="34" charset="-122"/>
                <a:cs typeface="IBM Plex Sans" pitchFamily="34" charset="-120"/>
              </a:rPr>
              <a:t>The heat equation with κ = ½σ², and the payoff as the initial temperature. Like refactoring until your problem matches a library you already have.</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4">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BLACK-SCHOLES, GENTLY · 8 OF 8</a:t>
            </a:r>
            <a:r>
              <a:rPr lang="en-US" sz="1200" b="1" kern="0" spc="150">
                <a:solidFill>
                  <a:srgbClr val="2B65C8"/>
                </a:solidFill>
                <a:latin typeface="IBM Plex Sans" pitchFamily="34" charset="0"/>
                <a:ea typeface="IBM Plex Sans" pitchFamily="34" charset="-122"/>
                <a:cs typeface="IBM Plex Sans" pitchFamily="34" charset="-120"/>
              </a:rPr>
              <a:t> · PART 1/4</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14202E"/>
                </a:solidFill>
                <a:latin typeface="Source Serif 4" pitchFamily="18" charset="0"/>
                <a:ea typeface="Source Serif 4" pitchFamily="18" charset="-122"/>
                <a:cs typeface="Source Serif 4" pitchFamily="18" charset="-120"/>
              </a:rPr>
              <a:t>A call pays only when </a:t>
            </a:r>
            <a:r>
              <a:rPr lang="en-US" sz="3000" b="1" i="0" dirty="0">
                <a:solidFill>
                  <a:srgbClr val="14202E"/>
                </a:solidFill>
                <a:latin typeface="Source Serif 4" pitchFamily="18" charset="0"/>
                <a:ea typeface="Source Serif 4" pitchFamily="18" charset="-122"/>
                <a:cs typeface="Source Serif 4" pitchFamily="18" charset="-120"/>
              </a:rPr>
              <a:t>the </a:t>
            </a:r>
            <a:r>
              <a:rPr lang="en-US" sz="3000" b="1" i="0">
                <a:solidFill>
                  <a:srgbClr val="14202E"/>
                </a:solidFill>
                <a:latin typeface="Source Serif 4" pitchFamily="18" charset="0"/>
                <a:ea typeface="Source Serif 4" pitchFamily="18" charset="-122"/>
                <a:cs typeface="Source Serif 4" pitchFamily="18" charset="-120"/>
              </a:rPr>
              <a:t>final price exceeds </a:t>
            </a:r>
            <a:r>
              <a:rPr lang="en-US" sz="3000" b="1" i="0" dirty="0">
                <a:solidFill>
                  <a:srgbClr val="14202E"/>
                </a:solidFill>
                <a:latin typeface="Source Serif 4" pitchFamily="18" charset="0"/>
                <a:ea typeface="Source Serif 4" pitchFamily="18" charset="-122"/>
                <a:cs typeface="Source Serif 4" pitchFamily="18" charset="-120"/>
              </a:rPr>
              <a:t>the </a:t>
            </a:r>
            <a:r>
              <a:rPr lang="en-US" sz="3000" b="1" i="0">
                <a:solidFill>
                  <a:srgbClr val="14202E"/>
                </a:solidFill>
                <a:latin typeface="Source Serif 4" pitchFamily="18" charset="0"/>
                <a:ea typeface="Source Serif 4" pitchFamily="18" charset="-122"/>
                <a:cs typeface="Source Serif 4" pitchFamily="18" charset="-120"/>
              </a:rPr>
              <a:t>strike</a:t>
            </a:r>
            <a:endParaRPr lang="en-US" sz="3000" dirty="0"/>
          </a:p>
        </p:txBody>
      </p:sp>
      <p:sp>
        <p:nvSpPr>
          <p:cNvPr id="4" name="TextBox 3"/>
          <p:cNvSpPr txBox="1">
            <a:spLocks/>
          </p:cNvSpPr>
          <p:nvPr/>
        </p:nvSpPr>
        <p:spPr>
          <a:xfrm>
            <a:off x="813816" y="1481328"/>
            <a:ext cx="10561320" cy="667512"/>
          </a:xfrm>
          <a:prstGeom prst="rect">
            <a:avLst/>
          </a:prstGeom>
          <a:noFill/>
        </p:spPr>
        <p:txBody>
          <a:bodyPr wrap="square" lIns="0" tIns="0" rIns="0" bIns="0">
            <a:spAutoFit/>
          </a:bodyPr>
          <a:lstStyle/>
          <a:p>
            <a:pPr>
              <a:lnSpc>
                <a:spcPct val="112000"/>
              </a:lnSpc>
              <a:spcAft>
                <a:spcPts val="800"/>
              </a:spcAft>
              <a:defRPr sz="2100" b="0">
                <a:solidFill>
                  <a:srgbClr val="44505E"/>
                </a:solidFill>
                <a:latin typeface="IBM Plex Sans"/>
              </a:defRPr>
            </a:pPr>
            <a:r>
              <a:rPr lang="en-GB"/>
              <a:t>A European call gives you the right to buy a share for a fixed price, the strike K, at expiry. With K = 100, the cash value at expiry is:</a:t>
            </a:r>
          </a:p>
        </p:txBody>
      </p:sp>
      <p:graphicFrame>
        <p:nvGraphicFramePr>
          <p:cNvPr id="5" name="Table 4"/>
          <p:cNvGraphicFramePr>
            <a:graphicFrameLocks noGrp="1"/>
          </p:cNvGraphicFramePr>
          <p:nvPr/>
        </p:nvGraphicFramePr>
        <p:xfrm>
          <a:off x="813816" y="2423160"/>
          <a:ext cx="10570464" cy="1188720"/>
        </p:xfrm>
        <a:graphic>
          <a:graphicData uri="http://schemas.openxmlformats.org/drawingml/2006/table">
            <a:tbl>
              <a:tblPr firstRow="1" bandRow="1">
                <a:tableStyleId>{5C22544A-7EE6-4342-B048-85BDC9FD1C3A}</a:tableStyleId>
              </a:tblPr>
              <a:tblGrid>
                <a:gridCol w="3694176">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1719072">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594360">
                <a:tc>
                  <a:txBody>
                    <a:bodyPr/>
                    <a:lstStyle/>
                    <a:p>
                      <a:pPr>
                        <a:defRPr sz="1900" b="1">
                          <a:solidFill>
                            <a:srgbClr val="F5F3EC"/>
                          </a:solidFill>
                          <a:latin typeface="IBM Plex Sans"/>
                        </a:defRPr>
                      </a:pPr>
                      <a:r>
                        <a:t>Share price at expiry</a:t>
                      </a:r>
                    </a:p>
                  </a:txBody>
                  <a:tcPr marL="146304" marT="100584" marB="54864">
                    <a:solidFill>
                      <a:srgbClr val="14202E"/>
                    </a:solidFill>
                  </a:tcPr>
                </a:tc>
                <a:tc>
                  <a:txBody>
                    <a:bodyPr/>
                    <a:lstStyle/>
                    <a:p>
                      <a:pPr>
                        <a:defRPr sz="1900" b="1">
                          <a:solidFill>
                            <a:srgbClr val="F5F3EC"/>
                          </a:solidFill>
                          <a:latin typeface="IBM Plex Sans"/>
                        </a:defRPr>
                      </a:pPr>
                      <a:r>
                        <a:t>80</a:t>
                      </a:r>
                    </a:p>
                  </a:txBody>
                  <a:tcPr marL="146304" marT="100584" marB="54864">
                    <a:solidFill>
                      <a:srgbClr val="14202E"/>
                    </a:solidFill>
                  </a:tcPr>
                </a:tc>
                <a:tc>
                  <a:txBody>
                    <a:bodyPr/>
                    <a:lstStyle/>
                    <a:p>
                      <a:pPr>
                        <a:defRPr sz="1900" b="1">
                          <a:solidFill>
                            <a:srgbClr val="F5F3EC"/>
                          </a:solidFill>
                          <a:latin typeface="IBM Plex Sans"/>
                        </a:defRPr>
                      </a:pPr>
                      <a:r>
                        <a:t>100</a:t>
                      </a:r>
                    </a:p>
                  </a:txBody>
                  <a:tcPr marL="146304" marT="100584" marB="54864">
                    <a:solidFill>
                      <a:srgbClr val="14202E"/>
                    </a:solidFill>
                  </a:tcPr>
                </a:tc>
                <a:tc>
                  <a:txBody>
                    <a:bodyPr/>
                    <a:lstStyle/>
                    <a:p>
                      <a:pPr>
                        <a:defRPr sz="1900" b="1">
                          <a:solidFill>
                            <a:srgbClr val="F5F3EC"/>
                          </a:solidFill>
                          <a:latin typeface="IBM Plex Sans"/>
                        </a:defRPr>
                      </a:pPr>
                      <a:r>
                        <a:t>120</a:t>
                      </a:r>
                    </a:p>
                  </a:txBody>
                  <a:tcPr marL="146304" marT="100584" marB="54864">
                    <a:solidFill>
                      <a:srgbClr val="14202E"/>
                    </a:solidFill>
                  </a:tcPr>
                </a:tc>
                <a:tc>
                  <a:txBody>
                    <a:bodyPr/>
                    <a:lstStyle/>
                    <a:p>
                      <a:pPr>
                        <a:defRPr sz="1900" b="1">
                          <a:solidFill>
                            <a:srgbClr val="F5F3EC"/>
                          </a:solidFill>
                          <a:latin typeface="IBM Plex Sans"/>
                        </a:defRPr>
                      </a:pPr>
                      <a:r>
                        <a:t>140</a:t>
                      </a:r>
                    </a:p>
                  </a:txBody>
                  <a:tcPr marL="146304" marT="100584" marB="54864">
                    <a:solidFill>
                      <a:srgbClr val="14202E"/>
                    </a:solidFill>
                  </a:tcPr>
                </a:tc>
                <a:extLst>
                  <a:ext uri="{0D108BD9-81ED-4DB2-BD59-A6C34878D82A}">
                    <a16:rowId xmlns:a16="http://schemas.microsoft.com/office/drawing/2014/main" val="10000"/>
                  </a:ext>
                </a:extLst>
              </a:tr>
              <a:tr h="594360">
                <a:tc>
                  <a:txBody>
                    <a:bodyPr/>
                    <a:lstStyle/>
                    <a:p>
                      <a:pPr>
                        <a:defRPr sz="1900" b="0">
                          <a:solidFill>
                            <a:srgbClr val="14202E"/>
                          </a:solidFill>
                          <a:latin typeface="IBM Plex Sans"/>
                        </a:defRPr>
                      </a:pPr>
                      <a:r>
                        <a:t>Call payoff</a:t>
                      </a:r>
                    </a:p>
                  </a:txBody>
                  <a:tcPr marL="146304" marT="100584" marB="54864">
                    <a:solidFill>
                      <a:srgbClr val="FFFFFF"/>
                    </a:solidFill>
                  </a:tcPr>
                </a:tc>
                <a:tc>
                  <a:txBody>
                    <a:bodyPr/>
                    <a:lstStyle/>
                    <a:p>
                      <a:pPr>
                        <a:defRPr sz="1900" b="0">
                          <a:solidFill>
                            <a:srgbClr val="14202E"/>
                          </a:solidFill>
                          <a:latin typeface="IBM Plex Sans"/>
                        </a:defRPr>
                      </a:pPr>
                      <a:r>
                        <a:t>0</a:t>
                      </a:r>
                    </a:p>
                  </a:txBody>
                  <a:tcPr marL="146304" marT="100584" marB="54864">
                    <a:solidFill>
                      <a:srgbClr val="FFFFFF"/>
                    </a:solidFill>
                  </a:tcPr>
                </a:tc>
                <a:tc>
                  <a:txBody>
                    <a:bodyPr/>
                    <a:lstStyle/>
                    <a:p>
                      <a:pPr>
                        <a:defRPr sz="1900" b="0">
                          <a:solidFill>
                            <a:srgbClr val="14202E"/>
                          </a:solidFill>
                          <a:latin typeface="IBM Plex Sans"/>
                        </a:defRPr>
                      </a:pPr>
                      <a:r>
                        <a:t>0</a:t>
                      </a:r>
                    </a:p>
                  </a:txBody>
                  <a:tcPr marL="146304" marT="100584" marB="54864">
                    <a:solidFill>
                      <a:srgbClr val="FFFFFF"/>
                    </a:solidFill>
                  </a:tcPr>
                </a:tc>
                <a:tc>
                  <a:txBody>
                    <a:bodyPr/>
                    <a:lstStyle/>
                    <a:p>
                      <a:pPr>
                        <a:defRPr sz="1900" b="0">
                          <a:solidFill>
                            <a:srgbClr val="14202E"/>
                          </a:solidFill>
                          <a:latin typeface="IBM Plex Sans"/>
                        </a:defRPr>
                      </a:pPr>
                      <a:r>
                        <a:t>20</a:t>
                      </a:r>
                    </a:p>
                  </a:txBody>
                  <a:tcPr marL="146304" marT="100584" marB="54864">
                    <a:solidFill>
                      <a:srgbClr val="FFFFFF"/>
                    </a:solidFill>
                  </a:tcPr>
                </a:tc>
                <a:tc>
                  <a:txBody>
                    <a:bodyPr/>
                    <a:lstStyle/>
                    <a:p>
                      <a:pPr>
                        <a:defRPr sz="1900" b="0">
                          <a:solidFill>
                            <a:srgbClr val="14202E"/>
                          </a:solidFill>
                          <a:latin typeface="IBM Plex Sans"/>
                        </a:defRPr>
                      </a:pPr>
                      <a:r>
                        <a:t>40</a:t>
                      </a:r>
                    </a:p>
                  </a:txBody>
                  <a:tcPr marL="146304" marT="100584" marB="54864">
                    <a:solidFill>
                      <a:srgbClr val="FFFFFF"/>
                    </a:solidFill>
                  </a:tcPr>
                </a:tc>
                <a:extLst>
                  <a:ext uri="{0D108BD9-81ED-4DB2-BD59-A6C34878D82A}">
                    <a16:rowId xmlns:a16="http://schemas.microsoft.com/office/drawing/2014/main" val="10001"/>
                  </a:ext>
                </a:extLst>
              </a:tr>
            </a:tbl>
          </a:graphicData>
        </a:graphic>
      </p:graphicFrame>
      <p:sp>
        <p:nvSpPr>
          <p:cNvPr id="6" name="TextBox 5"/>
          <p:cNvSpPr txBox="1">
            <a:spLocks/>
          </p:cNvSpPr>
          <p:nvPr/>
        </p:nvSpPr>
        <p:spPr>
          <a:xfrm>
            <a:off x="813816" y="3840480"/>
            <a:ext cx="10515600" cy="512064"/>
          </a:xfrm>
          <a:prstGeom prst="rect">
            <a:avLst/>
          </a:prstGeom>
          <a:noFill/>
        </p:spPr>
        <p:txBody>
          <a:bodyPr wrap="square" lIns="0" tIns="0" rIns="0" bIns="0" anchor="t">
            <a:spAutoFit/>
          </a:bodyPr>
          <a:lstStyle/>
          <a:p>
            <a:pPr>
              <a:lnSpc>
                <a:spcPct val="112000"/>
              </a:lnSpc>
              <a:spcAft>
                <a:spcPts val="800"/>
              </a:spcAft>
              <a:defRPr sz="2300" b="0">
                <a:solidFill>
                  <a:srgbClr val="14202E"/>
                </a:solidFill>
                <a:latin typeface="JetBrains Mono"/>
              </a:defRPr>
            </a:pPr>
            <a:r>
              <a:rPr lang="en-GB"/>
              <a:t>payoff = max(final_share_price − 100, 0)</a:t>
            </a:r>
          </a:p>
        </p:txBody>
      </p:sp>
      <p:sp>
        <p:nvSpPr>
          <p:cNvPr id="7" name="TextBox 6"/>
          <p:cNvSpPr txBox="1">
            <a:spLocks/>
          </p:cNvSpPr>
          <p:nvPr/>
        </p:nvSpPr>
        <p:spPr>
          <a:xfrm>
            <a:off x="813816" y="4599432"/>
            <a:ext cx="10561320" cy="731520"/>
          </a:xfrm>
          <a:prstGeom prst="rect">
            <a:avLst/>
          </a:prstGeom>
          <a:noFill/>
        </p:spPr>
        <p:txBody>
          <a:bodyPr wrap="square" lIns="0" tIns="0" rIns="0" bIns="0">
            <a:spAutoFit/>
          </a:bodyPr>
          <a:lstStyle/>
          <a:p>
            <a:pPr>
              <a:lnSpc>
                <a:spcPct val="112000"/>
              </a:lnSpc>
              <a:spcAft>
                <a:spcPts val="800"/>
              </a:spcAft>
              <a:defRPr sz="2100" b="0">
                <a:solidFill>
                  <a:srgbClr val="44505E"/>
                </a:solidFill>
                <a:latin typeface="IBM Plex Sans"/>
              </a:defRPr>
            </a:pPr>
            <a:r>
              <a:rPr lang="en-GB"/>
              <a:t>Before expiry, we do not know which payoff will occur. Pricing combines the possible payoffs using specific weights, then converts that average to today’s money.</a:t>
            </a:r>
          </a:p>
        </p:txBody>
      </p:sp>
      <p:sp>
        <p:nvSpPr>
          <p:cNvPr id="8" name="TextBox 7"/>
          <p:cNvSpPr txBox="1">
            <a:spLocks/>
          </p:cNvSpPr>
          <p:nvPr/>
        </p:nvSpPr>
        <p:spPr>
          <a:xfrm>
            <a:off x="813816" y="5715000"/>
            <a:ext cx="10515600" cy="384048"/>
          </a:xfrm>
          <a:prstGeom prst="rect">
            <a:avLst/>
          </a:prstGeom>
          <a:noFill/>
        </p:spPr>
        <p:txBody>
          <a:bodyPr wrap="square" lIns="0" tIns="0" rIns="0" bIns="0" anchor="t">
            <a:spAutoFit/>
          </a:bodyPr>
          <a:lstStyle/>
          <a:p>
            <a:pPr>
              <a:lnSpc>
                <a:spcPct val="112000"/>
              </a:lnSpc>
              <a:spcAft>
                <a:spcPts val="800"/>
              </a:spcAft>
              <a:defRPr sz="1800" b="1">
                <a:solidFill>
                  <a:srgbClr val="2B65C8"/>
                </a:solidFill>
                <a:latin typeface="IBM Plex Sans"/>
              </a:defRPr>
            </a:pPr>
            <a:r>
              <a:rPr lang="en-GB"/>
              <a:t>The next slide explains where those pricing weights come from.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01 · BLACK-SCHOLES, GENTLY · 8 OF 8 · PART 2/4</a:t>
            </a:r>
            <a:endParaRPr lang="en-US" sz="120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14202E"/>
                </a:solidFill>
                <a:latin typeface="Source Serif 4" pitchFamily="18" charset="0"/>
                <a:ea typeface="Source Serif 4" pitchFamily="18" charset="-122"/>
                <a:cs typeface="Source Serif 4" pitchFamily="18" charset="-120"/>
              </a:rPr>
              <a:t>“Risk-neutral” means weights chosen for pricing</a:t>
            </a:r>
            <a:endParaRPr lang="en-US" sz="3000"/>
          </a:p>
        </p:txBody>
      </p:sp>
      <p:sp>
        <p:nvSpPr>
          <p:cNvPr id="4" name="TextBox 3"/>
          <p:cNvSpPr txBox="1"/>
          <p:nvPr/>
        </p:nvSpPr>
        <p:spPr>
          <a:xfrm>
            <a:off x="813816" y="1481328"/>
            <a:ext cx="10561320" cy="713232"/>
          </a:xfrm>
          <a:prstGeom prst="rect">
            <a:avLst/>
          </a:prstGeom>
          <a:noFill/>
        </p:spPr>
        <p:txBody>
          <a:bodyPr wrap="square" lIns="0" tIns="0" rIns="0" bIns="0">
            <a:spAutoFit/>
          </a:bodyPr>
          <a:lstStyle/>
          <a:p>
            <a:pPr>
              <a:lnSpc>
                <a:spcPct val="112000"/>
              </a:lnSpc>
              <a:spcAft>
                <a:spcPts val="800"/>
              </a:spcAft>
              <a:defRPr sz="2100" b="0">
                <a:solidFill>
                  <a:srgbClr val="44505E"/>
                </a:solidFill>
                <a:latin typeface="IBM Plex Sans"/>
              </a:defRPr>
            </a:pPr>
            <a:r>
              <a:t>A preview of the one-step example: a share costs 100 today and ends at 90 or 110. Over the same step, a risk-free bank account grows 100 to 102.</a:t>
            </a:r>
          </a:p>
        </p:txBody>
      </p:sp>
      <p:sp>
        <p:nvSpPr>
          <p:cNvPr id="5" name="TextBox 4"/>
          <p:cNvSpPr txBox="1"/>
          <p:nvPr/>
        </p:nvSpPr>
        <p:spPr>
          <a:xfrm>
            <a:off x="813816" y="2441448"/>
            <a:ext cx="4892040" cy="320040"/>
          </a:xfrm>
          <a:prstGeom prst="rect">
            <a:avLst/>
          </a:prstGeom>
          <a:noFill/>
        </p:spPr>
        <p:txBody>
          <a:bodyPr wrap="square" lIns="0" tIns="0" rIns="0" bIns="0">
            <a:spAutoFit/>
          </a:bodyPr>
          <a:lstStyle/>
          <a:p>
            <a:pPr>
              <a:lnSpc>
                <a:spcPct val="112000"/>
              </a:lnSpc>
              <a:spcAft>
                <a:spcPts val="800"/>
              </a:spcAft>
              <a:defRPr sz="2200" b="1">
                <a:solidFill>
                  <a:srgbClr val="14202E"/>
                </a:solidFill>
                <a:latin typeface="IBM Plex Sans"/>
              </a:defRPr>
            </a:pPr>
            <a:r>
              <a:t>The pricing weights</a:t>
            </a:r>
          </a:p>
        </p:txBody>
      </p:sp>
      <p:sp>
        <p:nvSpPr>
          <p:cNvPr id="6" name="TextBox 5"/>
          <p:cNvSpPr txBox="1"/>
          <p:nvPr/>
        </p:nvSpPr>
        <p:spPr>
          <a:xfrm>
            <a:off x="813816" y="2926080"/>
            <a:ext cx="4800600" cy="1097280"/>
          </a:xfrm>
          <a:prstGeom prst="rect">
            <a:avLst/>
          </a:prstGeom>
          <a:noFill/>
        </p:spPr>
        <p:txBody>
          <a:bodyPr wrap="square" lIns="0" tIns="0" rIns="0" bIns="0">
            <a:spAutoFit/>
          </a:bodyPr>
          <a:lstStyle/>
          <a:p>
            <a:pPr>
              <a:lnSpc>
                <a:spcPct val="112000"/>
              </a:lnSpc>
              <a:spcAft>
                <a:spcPts val="800"/>
              </a:spcAft>
              <a:defRPr sz="2000" b="0">
                <a:solidFill>
                  <a:srgbClr val="44505E"/>
                </a:solidFill>
                <a:latin typeface="IBM Plex Sans"/>
              </a:defRPr>
            </a:pPr>
            <a:r>
              <a:t>40% on 90 and 60% on 110</a:t>
            </a:r>
          </a:p>
          <a:p>
            <a:pPr>
              <a:lnSpc>
                <a:spcPct val="112000"/>
              </a:lnSpc>
              <a:spcAft>
                <a:spcPts val="800"/>
              </a:spcAft>
              <a:defRPr sz="2000" b="0">
                <a:solidFill>
                  <a:srgbClr val="44505E"/>
                </a:solidFill>
                <a:latin typeface="IBM Plex Sans"/>
              </a:defRPr>
            </a:pPr>
            <a:r>
              <a:t>0.40 × 90 + 0.60 × 110 = 102</a:t>
            </a:r>
          </a:p>
        </p:txBody>
      </p:sp>
      <p:sp>
        <p:nvSpPr>
          <p:cNvPr id="7" name="TextBox 6"/>
          <p:cNvSpPr txBox="1"/>
          <p:nvPr/>
        </p:nvSpPr>
        <p:spPr>
          <a:xfrm>
            <a:off x="6327648" y="2441448"/>
            <a:ext cx="5010912" cy="320040"/>
          </a:xfrm>
          <a:prstGeom prst="rect">
            <a:avLst/>
          </a:prstGeom>
          <a:noFill/>
        </p:spPr>
        <p:txBody>
          <a:bodyPr wrap="square" lIns="0" tIns="0" rIns="0" bIns="0">
            <a:spAutoFit/>
          </a:bodyPr>
          <a:lstStyle/>
          <a:p>
            <a:pPr>
              <a:lnSpc>
                <a:spcPct val="112000"/>
              </a:lnSpc>
              <a:spcAft>
                <a:spcPts val="800"/>
              </a:spcAft>
              <a:defRPr sz="2200" b="1">
                <a:solidFill>
                  <a:srgbClr val="14202E"/>
                </a:solidFill>
                <a:latin typeface="IBM Plex Sans"/>
              </a:defRPr>
            </a:pPr>
            <a:r>
              <a:t>The call with strike 100</a:t>
            </a:r>
          </a:p>
        </p:txBody>
      </p:sp>
      <p:sp>
        <p:nvSpPr>
          <p:cNvPr id="8" name="TextBox 7"/>
          <p:cNvSpPr txBox="1"/>
          <p:nvPr/>
        </p:nvSpPr>
        <p:spPr>
          <a:xfrm>
            <a:off x="6327648" y="2926080"/>
            <a:ext cx="5010912" cy="1097280"/>
          </a:xfrm>
          <a:prstGeom prst="rect">
            <a:avLst/>
          </a:prstGeom>
          <a:noFill/>
        </p:spPr>
        <p:txBody>
          <a:bodyPr wrap="square" lIns="0" tIns="0" rIns="0" bIns="0">
            <a:spAutoFit/>
          </a:bodyPr>
          <a:lstStyle/>
          <a:p>
            <a:pPr>
              <a:lnSpc>
                <a:spcPct val="112000"/>
              </a:lnSpc>
              <a:spcAft>
                <a:spcPts val="800"/>
              </a:spcAft>
              <a:defRPr sz="2000" b="0">
                <a:solidFill>
                  <a:srgbClr val="44505E"/>
                </a:solidFill>
                <a:latin typeface="IBM Plex Sans"/>
              </a:defRPr>
            </a:pPr>
            <a:r>
              <a:t>Payoffs: 0 if down, 10 if up</a:t>
            </a:r>
          </a:p>
          <a:p>
            <a:pPr>
              <a:lnSpc>
                <a:spcPct val="112000"/>
              </a:lnSpc>
              <a:spcAft>
                <a:spcPts val="800"/>
              </a:spcAft>
              <a:defRPr sz="2000" b="0">
                <a:solidFill>
                  <a:srgbClr val="44505E"/>
                </a:solidFill>
                <a:latin typeface="IBM Plex Sans"/>
              </a:defRPr>
            </a:pPr>
            <a:r>
              <a:t>0.40 × 0 + 0.60 × 10 = 6</a:t>
            </a:r>
          </a:p>
        </p:txBody>
      </p:sp>
      <p:sp>
        <p:nvSpPr>
          <p:cNvPr id="9" name="Rounded Rectangle 8"/>
          <p:cNvSpPr/>
          <p:nvPr/>
        </p:nvSpPr>
        <p:spPr>
          <a:xfrm>
            <a:off x="813816" y="4233672"/>
            <a:ext cx="10570464" cy="658368"/>
          </a:xfrm>
          <a:prstGeom prst="roundRect">
            <a:avLst/>
          </a:prstGeom>
          <a:solidFill>
            <a:srgbClr val="142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42415" y="4379976"/>
            <a:ext cx="10076688" cy="475488"/>
          </a:xfrm>
          <a:prstGeom prst="rect">
            <a:avLst/>
          </a:prstGeom>
          <a:noFill/>
        </p:spPr>
        <p:txBody>
          <a:bodyPr wrap="square" lIns="0" tIns="0" rIns="0" bIns="0">
            <a:spAutoFit/>
          </a:bodyPr>
          <a:lstStyle/>
          <a:p>
            <a:pPr>
              <a:lnSpc>
                <a:spcPct val="112000"/>
              </a:lnSpc>
              <a:spcAft>
                <a:spcPts val="800"/>
              </a:spcAft>
              <a:defRPr sz="2200" b="0">
                <a:solidFill>
                  <a:srgbClr val="F5F3EC"/>
                </a:solidFill>
                <a:latin typeface="JetBrains Mono"/>
              </a:defRPr>
            </a:pPr>
            <a:r>
              <a:t>Call price today = 6 / 1.02 = 5.88</a:t>
            </a:r>
          </a:p>
        </p:txBody>
      </p:sp>
      <p:sp>
        <p:nvSpPr>
          <p:cNvPr id="11" name="TextBox 10"/>
          <p:cNvSpPr txBox="1"/>
          <p:nvPr/>
        </p:nvSpPr>
        <p:spPr>
          <a:xfrm>
            <a:off x="813816" y="5166360"/>
            <a:ext cx="10561320" cy="877824"/>
          </a:xfrm>
          <a:prstGeom prst="rect">
            <a:avLst/>
          </a:prstGeom>
          <a:noFill/>
        </p:spPr>
        <p:txBody>
          <a:bodyPr wrap="square" lIns="0" tIns="0" rIns="0" bIns="0">
            <a:spAutoFit/>
          </a:bodyPr>
          <a:lstStyle/>
          <a:p>
            <a:pPr>
              <a:lnSpc>
                <a:spcPct val="112000"/>
              </a:lnSpc>
              <a:spcAft>
                <a:spcPts val="800"/>
              </a:spcAft>
              <a:defRPr sz="2000" b="0">
                <a:solidFill>
                  <a:srgbClr val="44505E"/>
                </a:solidFill>
                <a:latin typeface="IBM Plex Sans"/>
              </a:defRPr>
            </a:pPr>
            <a:r>
              <a:t>The weights make the average share value grow at the bank rate. They need not match real-world odds. A matching share-and-cash portfolio justifies this price under the model’s assumptions.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01 · BLACK-SCHOLES, GENTLY · 8 OF 8 · PART 3/4</a:t>
            </a:r>
            <a:endParaRPr lang="en-US" sz="120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14202E"/>
                </a:solidFill>
                <a:latin typeface="Source Serif 4" pitchFamily="18" charset="0"/>
                <a:ea typeface="Source Serif 4" pitchFamily="18" charset="-122"/>
                <a:cs typeface="Source Serif 4" pitchFamily="18" charset="-120"/>
              </a:rPr>
              <a:t>The heat equation performs repeated weighted averages</a:t>
            </a:r>
            <a:endParaRPr lang="en-US" sz="3000"/>
          </a:p>
        </p:txBody>
      </p:sp>
      <p:sp>
        <p:nvSpPr>
          <p:cNvPr id="4" name="TextBox 3"/>
          <p:cNvSpPr txBox="1"/>
          <p:nvPr/>
        </p:nvSpPr>
        <p:spPr>
          <a:xfrm>
            <a:off x="813816" y="1481328"/>
            <a:ext cx="10561320" cy="701795"/>
          </a:xfrm>
          <a:prstGeom prst="rect">
            <a:avLst/>
          </a:prstGeom>
          <a:noFill/>
        </p:spPr>
        <p:txBody>
          <a:bodyPr wrap="square" lIns="0" tIns="0" rIns="0" bIns="0">
            <a:spAutoFit/>
          </a:bodyPr>
          <a:lstStyle/>
          <a:p>
            <a:pPr>
              <a:lnSpc>
                <a:spcPct val="112000"/>
              </a:lnSpc>
              <a:spcAft>
                <a:spcPts val="800"/>
              </a:spcAft>
              <a:defRPr sz="2100" b="0">
                <a:solidFill>
                  <a:srgbClr val="44505E"/>
                </a:solidFill>
                <a:latin typeface="IBM Plex Sans"/>
              </a:defRPr>
            </a:pPr>
            <a:r>
              <a:t>Slide </a:t>
            </a:r>
            <a:r>
              <a:rPr lang="en-SE"/>
              <a:t>37</a:t>
            </a:r>
            <a:r>
              <a:t> changed the coordinates to log-price and removed discounting. In those coordinates, solving the heat equation means averaging nearby payoff values.</a:t>
            </a:r>
          </a:p>
        </p:txBody>
      </p:sp>
      <p:sp>
        <p:nvSpPr>
          <p:cNvPr id="5" name="TextBox 4"/>
          <p:cNvSpPr txBox="1"/>
          <p:nvPr/>
        </p:nvSpPr>
        <p:spPr>
          <a:xfrm>
            <a:off x="813816" y="2386584"/>
            <a:ext cx="10561320" cy="320040"/>
          </a:xfrm>
          <a:prstGeom prst="rect">
            <a:avLst/>
          </a:prstGeom>
          <a:noFill/>
        </p:spPr>
        <p:txBody>
          <a:bodyPr wrap="square" lIns="0" tIns="0" rIns="0" bIns="0">
            <a:spAutoFit/>
          </a:bodyPr>
          <a:lstStyle/>
          <a:p>
            <a:pPr>
              <a:lnSpc>
                <a:spcPct val="112000"/>
              </a:lnSpc>
              <a:spcAft>
                <a:spcPts val="800"/>
              </a:spcAft>
              <a:defRPr sz="2000" b="1">
                <a:solidFill>
                  <a:srgbClr val="14202E"/>
                </a:solidFill>
                <a:latin typeface="IBM Plex Sans"/>
              </a:defRPr>
            </a:pPr>
            <a:r>
              <a:t>One illustrative averaging step, before discounting</a:t>
            </a:r>
          </a:p>
        </p:txBody>
      </p:sp>
      <p:graphicFrame>
        <p:nvGraphicFramePr>
          <p:cNvPr id="6" name="Table 5"/>
          <p:cNvGraphicFramePr>
            <a:graphicFrameLocks noGrp="1"/>
          </p:cNvGraphicFramePr>
          <p:nvPr/>
        </p:nvGraphicFramePr>
        <p:xfrm>
          <a:off x="813816" y="2852928"/>
          <a:ext cx="10570463" cy="1463040"/>
        </p:xfrm>
        <a:graphic>
          <a:graphicData uri="http://schemas.openxmlformats.org/drawingml/2006/table">
            <a:tbl>
              <a:tblPr firstRow="1" bandRow="1">
                <a:tableStyleId>{5C22544A-7EE6-4342-B048-85BDC9FD1C3A}</a:tableStyleId>
              </a:tblPr>
              <a:tblGrid>
                <a:gridCol w="3712463">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87680">
                <a:tc>
                  <a:txBody>
                    <a:bodyPr/>
                    <a:lstStyle/>
                    <a:p>
                      <a:pPr>
                        <a:defRPr sz="1900" b="1">
                          <a:solidFill>
                            <a:srgbClr val="F5F3EC"/>
                          </a:solidFill>
                          <a:latin typeface="IBM Plex Sans"/>
                        </a:defRPr>
                      </a:pPr>
                      <a:r>
                        <a:t>Nearby payoff entry</a:t>
                      </a:r>
                    </a:p>
                  </a:txBody>
                  <a:tcPr marL="146304" marT="100584" marB="54864">
                    <a:solidFill>
                      <a:srgbClr val="14202E"/>
                    </a:solidFill>
                  </a:tcPr>
                </a:tc>
                <a:tc>
                  <a:txBody>
                    <a:bodyPr/>
                    <a:lstStyle/>
                    <a:p>
                      <a:pPr>
                        <a:defRPr sz="1900" b="1">
                          <a:solidFill>
                            <a:srgbClr val="F5F3EC"/>
                          </a:solidFill>
                          <a:latin typeface="IBM Plex Sans"/>
                        </a:defRPr>
                      </a:pPr>
                      <a:r>
                        <a:t>Left</a:t>
                      </a:r>
                    </a:p>
                  </a:txBody>
                  <a:tcPr marL="146304" marT="100584" marB="54864">
                    <a:solidFill>
                      <a:srgbClr val="14202E"/>
                    </a:solidFill>
                  </a:tcPr>
                </a:tc>
                <a:tc>
                  <a:txBody>
                    <a:bodyPr/>
                    <a:lstStyle/>
                    <a:p>
                      <a:pPr>
                        <a:defRPr sz="1900" b="1">
                          <a:solidFill>
                            <a:srgbClr val="F5F3EC"/>
                          </a:solidFill>
                          <a:latin typeface="IBM Plex Sans"/>
                        </a:defRPr>
                      </a:pPr>
                      <a:r>
                        <a:t>Centre</a:t>
                      </a:r>
                    </a:p>
                  </a:txBody>
                  <a:tcPr marL="146304" marT="100584" marB="54864">
                    <a:solidFill>
                      <a:srgbClr val="14202E"/>
                    </a:solidFill>
                  </a:tcPr>
                </a:tc>
                <a:tc>
                  <a:txBody>
                    <a:bodyPr/>
                    <a:lstStyle/>
                    <a:p>
                      <a:pPr>
                        <a:defRPr sz="1900" b="1">
                          <a:solidFill>
                            <a:srgbClr val="F5F3EC"/>
                          </a:solidFill>
                          <a:latin typeface="IBM Plex Sans"/>
                        </a:defRPr>
                      </a:pPr>
                      <a:r>
                        <a:t>Right</a:t>
                      </a:r>
                    </a:p>
                  </a:txBody>
                  <a:tcPr marL="146304" marT="100584" marB="54864">
                    <a:solidFill>
                      <a:srgbClr val="14202E"/>
                    </a:solidFill>
                  </a:tcPr>
                </a:tc>
                <a:extLst>
                  <a:ext uri="{0D108BD9-81ED-4DB2-BD59-A6C34878D82A}">
                    <a16:rowId xmlns:a16="http://schemas.microsoft.com/office/drawing/2014/main" val="10000"/>
                  </a:ext>
                </a:extLst>
              </a:tr>
              <a:tr h="487680">
                <a:tc>
                  <a:txBody>
                    <a:bodyPr/>
                    <a:lstStyle/>
                    <a:p>
                      <a:pPr>
                        <a:defRPr sz="1900" b="0">
                          <a:solidFill>
                            <a:srgbClr val="14202E"/>
                          </a:solidFill>
                          <a:latin typeface="IBM Plex Sans"/>
                        </a:defRPr>
                      </a:pPr>
                      <a:r>
                        <a:t>Value</a:t>
                      </a:r>
                    </a:p>
                  </a:txBody>
                  <a:tcPr marL="146304" marT="100584" marB="54864">
                    <a:solidFill>
                      <a:srgbClr val="FFFFFF"/>
                    </a:solidFill>
                  </a:tcPr>
                </a:tc>
                <a:tc>
                  <a:txBody>
                    <a:bodyPr/>
                    <a:lstStyle/>
                    <a:p>
                      <a:pPr>
                        <a:defRPr sz="1900" b="0">
                          <a:solidFill>
                            <a:srgbClr val="14202E"/>
                          </a:solidFill>
                          <a:latin typeface="IBM Plex Sans"/>
                        </a:defRPr>
                      </a:pPr>
                      <a:r>
                        <a:t>0</a:t>
                      </a:r>
                    </a:p>
                  </a:txBody>
                  <a:tcPr marL="146304" marT="100584" marB="54864">
                    <a:solidFill>
                      <a:srgbClr val="FFFFFF"/>
                    </a:solidFill>
                  </a:tcPr>
                </a:tc>
                <a:tc>
                  <a:txBody>
                    <a:bodyPr/>
                    <a:lstStyle/>
                    <a:p>
                      <a:pPr>
                        <a:defRPr sz="1900" b="0">
                          <a:solidFill>
                            <a:srgbClr val="14202E"/>
                          </a:solidFill>
                          <a:latin typeface="IBM Plex Sans"/>
                        </a:defRPr>
                      </a:pPr>
                      <a:r>
                        <a:t>0</a:t>
                      </a:r>
                    </a:p>
                  </a:txBody>
                  <a:tcPr marL="146304" marT="100584" marB="54864">
                    <a:solidFill>
                      <a:srgbClr val="FFFFFF"/>
                    </a:solidFill>
                  </a:tcPr>
                </a:tc>
                <a:tc>
                  <a:txBody>
                    <a:bodyPr/>
                    <a:lstStyle/>
                    <a:p>
                      <a:pPr>
                        <a:defRPr sz="1900" b="0">
                          <a:solidFill>
                            <a:srgbClr val="14202E"/>
                          </a:solidFill>
                          <a:latin typeface="IBM Plex Sans"/>
                        </a:defRPr>
                      </a:pPr>
                      <a:r>
                        <a:t>10</a:t>
                      </a:r>
                    </a:p>
                  </a:txBody>
                  <a:tcPr marL="146304" marT="100584" marB="54864">
                    <a:solidFill>
                      <a:srgbClr val="FFFFFF"/>
                    </a:solidFill>
                  </a:tcPr>
                </a:tc>
                <a:extLst>
                  <a:ext uri="{0D108BD9-81ED-4DB2-BD59-A6C34878D82A}">
                    <a16:rowId xmlns:a16="http://schemas.microsoft.com/office/drawing/2014/main" val="10001"/>
                  </a:ext>
                </a:extLst>
              </a:tr>
              <a:tr h="487680">
                <a:tc>
                  <a:txBody>
                    <a:bodyPr/>
                    <a:lstStyle/>
                    <a:p>
                      <a:pPr>
                        <a:defRPr sz="1900" b="0">
                          <a:solidFill>
                            <a:srgbClr val="14202E"/>
                          </a:solidFill>
                          <a:latin typeface="IBM Plex Sans"/>
                        </a:defRPr>
                      </a:pPr>
                      <a:r>
                        <a:t>Weight</a:t>
                      </a:r>
                    </a:p>
                  </a:txBody>
                  <a:tcPr marL="146304" marT="100584" marB="54864">
                    <a:solidFill>
                      <a:srgbClr val="EAE7DE"/>
                    </a:solidFill>
                  </a:tcPr>
                </a:tc>
                <a:tc>
                  <a:txBody>
                    <a:bodyPr/>
                    <a:lstStyle/>
                    <a:p>
                      <a:pPr>
                        <a:defRPr sz="1900" b="0">
                          <a:solidFill>
                            <a:srgbClr val="14202E"/>
                          </a:solidFill>
                          <a:latin typeface="IBM Plex Sans"/>
                        </a:defRPr>
                      </a:pPr>
                      <a:r>
                        <a:t>25%</a:t>
                      </a:r>
                    </a:p>
                  </a:txBody>
                  <a:tcPr marL="146304" marT="100584" marB="54864">
                    <a:solidFill>
                      <a:srgbClr val="EAE7DE"/>
                    </a:solidFill>
                  </a:tcPr>
                </a:tc>
                <a:tc>
                  <a:txBody>
                    <a:bodyPr/>
                    <a:lstStyle/>
                    <a:p>
                      <a:pPr>
                        <a:defRPr sz="1900" b="0">
                          <a:solidFill>
                            <a:srgbClr val="14202E"/>
                          </a:solidFill>
                          <a:latin typeface="IBM Plex Sans"/>
                        </a:defRPr>
                      </a:pPr>
                      <a:r>
                        <a:t>50%</a:t>
                      </a:r>
                    </a:p>
                  </a:txBody>
                  <a:tcPr marL="146304" marT="100584" marB="54864">
                    <a:solidFill>
                      <a:srgbClr val="EAE7DE"/>
                    </a:solidFill>
                  </a:tcPr>
                </a:tc>
                <a:tc>
                  <a:txBody>
                    <a:bodyPr/>
                    <a:lstStyle/>
                    <a:p>
                      <a:pPr>
                        <a:defRPr sz="1900" b="0">
                          <a:solidFill>
                            <a:srgbClr val="14202E"/>
                          </a:solidFill>
                          <a:latin typeface="IBM Plex Sans"/>
                        </a:defRPr>
                      </a:pPr>
                      <a:r>
                        <a:t>25%</a:t>
                      </a:r>
                    </a:p>
                  </a:txBody>
                  <a:tcPr marL="146304" marT="100584" marB="54864">
                    <a:solidFill>
                      <a:srgbClr val="EAE7DE"/>
                    </a:solidFill>
                  </a:tcPr>
                </a:tc>
                <a:extLst>
                  <a:ext uri="{0D108BD9-81ED-4DB2-BD59-A6C34878D82A}">
                    <a16:rowId xmlns:a16="http://schemas.microsoft.com/office/drawing/2014/main" val="10002"/>
                  </a:ext>
                </a:extLst>
              </a:tr>
            </a:tbl>
          </a:graphicData>
        </a:graphic>
      </p:graphicFrame>
      <p:sp>
        <p:nvSpPr>
          <p:cNvPr id="7" name="Rounded Rectangle 6"/>
          <p:cNvSpPr/>
          <p:nvPr/>
        </p:nvSpPr>
        <p:spPr>
          <a:xfrm>
            <a:off x="813816" y="4517136"/>
            <a:ext cx="10570464" cy="658368"/>
          </a:xfrm>
          <a:prstGeom prst="roundRect">
            <a:avLst/>
          </a:prstGeom>
          <a:solidFill>
            <a:srgbClr val="142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42415" y="4663440"/>
            <a:ext cx="10076688" cy="475488"/>
          </a:xfrm>
          <a:prstGeom prst="rect">
            <a:avLst/>
          </a:prstGeom>
          <a:noFill/>
        </p:spPr>
        <p:txBody>
          <a:bodyPr wrap="square" lIns="0" tIns="0" rIns="0" bIns="0">
            <a:spAutoFit/>
          </a:bodyPr>
          <a:lstStyle/>
          <a:p>
            <a:pPr>
              <a:lnSpc>
                <a:spcPct val="112000"/>
              </a:lnSpc>
              <a:spcAft>
                <a:spcPts val="800"/>
              </a:spcAft>
              <a:defRPr sz="1800" b="0">
                <a:solidFill>
                  <a:srgbClr val="F5F3EC"/>
                </a:solidFill>
                <a:latin typeface="JetBrains Mono"/>
              </a:defRPr>
            </a:pPr>
            <a:r>
              <a:t>New centre value = 0.25 × 0 + 0.50 × 0 + 0.25 × 10 = 2.50</a:t>
            </a:r>
          </a:p>
        </p:txBody>
      </p:sp>
      <p:sp>
        <p:nvSpPr>
          <p:cNvPr id="9" name="TextBox 8"/>
          <p:cNvSpPr txBox="1"/>
          <p:nvPr/>
        </p:nvSpPr>
        <p:spPr>
          <a:xfrm>
            <a:off x="813816" y="5449824"/>
            <a:ext cx="10561320" cy="832104"/>
          </a:xfrm>
          <a:prstGeom prst="rect">
            <a:avLst/>
          </a:prstGeom>
          <a:noFill/>
        </p:spPr>
        <p:txBody>
          <a:bodyPr wrap="square" lIns="0" tIns="0" rIns="0" bIns="0">
            <a:spAutoFit/>
          </a:bodyPr>
          <a:lstStyle/>
          <a:p>
            <a:pPr>
              <a:lnSpc>
                <a:spcPct val="112000"/>
              </a:lnSpc>
              <a:spcAft>
                <a:spcPts val="800"/>
              </a:spcAft>
              <a:defRPr sz="2000" b="0">
                <a:solidFill>
                  <a:srgbClr val="44505E"/>
                </a:solidFill>
                <a:latin typeface="IBM Plex Sans"/>
              </a:defRPr>
            </a:pPr>
            <a:r>
              <a:t>Repeat with many tiny steps: the averaging weights approach a bell curve. Its spread is σ√T in log-price coordinates. More time or volatility spreads the weights farther.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B65C8"/>
                </a:solidFill>
                <a:latin typeface="IBM Plex Sans" pitchFamily="34" charset="0"/>
                <a:ea typeface="IBM Plex Sans" pitchFamily="34" charset="-122"/>
                <a:cs typeface="IBM Plex Sans" pitchFamily="34" charset="-120"/>
              </a:rPr>
              <a:t>01 · BLACK-SCHOLES, GENTLY · 8 OF 8 · PART 4/4</a:t>
            </a:r>
            <a:endParaRPr lang="en-US" sz="120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14202E"/>
                </a:solidFill>
                <a:latin typeface="Source Serif 4" pitchFamily="18" charset="0"/>
                <a:ea typeface="Source Serif 4" pitchFamily="18" charset="-122"/>
                <a:cs typeface="Source Serif 4" pitchFamily="18" charset="-120"/>
              </a:rPr>
              <a:t>Black-Scholes calculates the whole average at once</a:t>
            </a:r>
            <a:endParaRPr lang="en-US" sz="3000"/>
          </a:p>
        </p:txBody>
      </p:sp>
      <p:sp>
        <p:nvSpPr>
          <p:cNvPr id="4" name="TextBox 3"/>
          <p:cNvSpPr txBox="1"/>
          <p:nvPr/>
        </p:nvSpPr>
        <p:spPr>
          <a:xfrm>
            <a:off x="813816" y="1444752"/>
            <a:ext cx="10561320" cy="475488"/>
          </a:xfrm>
          <a:prstGeom prst="rect">
            <a:avLst/>
          </a:prstGeom>
          <a:noFill/>
        </p:spPr>
        <p:txBody>
          <a:bodyPr wrap="square" lIns="0" tIns="0" rIns="0" bIns="0">
            <a:spAutoFit/>
          </a:bodyPr>
          <a:lstStyle/>
          <a:p>
            <a:pPr>
              <a:lnSpc>
                <a:spcPct val="112000"/>
              </a:lnSpc>
              <a:spcAft>
                <a:spcPts val="800"/>
              </a:spcAft>
              <a:defRPr sz="2000" b="0">
                <a:solidFill>
                  <a:srgbClr val="44505E"/>
                </a:solidFill>
                <a:latin typeface="IBM Plex Sans"/>
              </a:defRPr>
            </a:pPr>
            <a:r>
              <a:t>For a European call on a stock with no dividends:</a:t>
            </a:r>
          </a:p>
        </p:txBody>
      </p:sp>
      <p:sp>
        <p:nvSpPr>
          <p:cNvPr id="5" name="Rounded Rectangle 4"/>
          <p:cNvSpPr/>
          <p:nvPr/>
        </p:nvSpPr>
        <p:spPr>
          <a:xfrm>
            <a:off x="813816" y="1993392"/>
            <a:ext cx="10570464" cy="722376"/>
          </a:xfrm>
          <a:prstGeom prst="roundRect">
            <a:avLst/>
          </a:prstGeom>
          <a:solidFill>
            <a:srgbClr val="142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2415" y="2139696"/>
            <a:ext cx="10076688" cy="539496"/>
          </a:xfrm>
          <a:prstGeom prst="rect">
            <a:avLst/>
          </a:prstGeom>
          <a:noFill/>
        </p:spPr>
        <p:txBody>
          <a:bodyPr wrap="square" lIns="0" tIns="0" rIns="0" bIns="0">
            <a:spAutoFit/>
          </a:bodyPr>
          <a:lstStyle/>
          <a:p>
            <a:pPr>
              <a:lnSpc>
                <a:spcPct val="112000"/>
              </a:lnSpc>
              <a:spcAft>
                <a:spcPts val="800"/>
              </a:spcAft>
              <a:defRPr sz="2300" b="0">
                <a:solidFill>
                  <a:srgbClr val="F5F3EC"/>
                </a:solidFill>
                <a:latin typeface="JetBrains Mono"/>
              </a:defRPr>
            </a:pPr>
            <a:r>
              <a:t>C = S × N(d₁) − K × exp(−rT) × N(d₂)</a:t>
            </a:r>
          </a:p>
        </p:txBody>
      </p:sp>
      <p:sp>
        <p:nvSpPr>
          <p:cNvPr id="7" name="TextBox 6"/>
          <p:cNvSpPr txBox="1"/>
          <p:nvPr/>
        </p:nvSpPr>
        <p:spPr>
          <a:xfrm>
            <a:off x="813816" y="2898648"/>
            <a:ext cx="10561320" cy="576072"/>
          </a:xfrm>
          <a:prstGeom prst="rect">
            <a:avLst/>
          </a:prstGeom>
          <a:noFill/>
        </p:spPr>
        <p:txBody>
          <a:bodyPr wrap="square" lIns="0" tIns="0" rIns="0" bIns="0">
            <a:spAutoFit/>
          </a:bodyPr>
          <a:lstStyle/>
          <a:p>
            <a:pPr>
              <a:lnSpc>
                <a:spcPct val="112000"/>
              </a:lnSpc>
              <a:spcAft>
                <a:spcPts val="800"/>
              </a:spcAft>
              <a:defRPr sz="1700" b="0">
                <a:solidFill>
                  <a:srgbClr val="44505E"/>
                </a:solidFill>
                <a:latin typeface="IBM Plex Sans"/>
              </a:defRPr>
            </a:pPr>
            <a:r>
              <a:t>S = share price now    K = strike    r = annual risk-free rate</a:t>
            </a:r>
          </a:p>
          <a:p>
            <a:pPr>
              <a:lnSpc>
                <a:spcPct val="112000"/>
              </a:lnSpc>
              <a:spcAft>
                <a:spcPts val="800"/>
              </a:spcAft>
              <a:defRPr sz="1700" b="0">
                <a:solidFill>
                  <a:srgbClr val="44505E"/>
                </a:solidFill>
                <a:latin typeface="IBM Plex Sans"/>
              </a:defRPr>
            </a:pPr>
            <a:r>
              <a:t>T = years to expiry    σ = annual volatility    C = call price today</a:t>
            </a:r>
          </a:p>
        </p:txBody>
      </p:sp>
      <p:sp>
        <p:nvSpPr>
          <p:cNvPr id="8" name="TextBox 7"/>
          <p:cNvSpPr txBox="1"/>
          <p:nvPr/>
        </p:nvSpPr>
        <p:spPr>
          <a:xfrm>
            <a:off x="813816" y="3694176"/>
            <a:ext cx="5010912" cy="1124712"/>
          </a:xfrm>
          <a:prstGeom prst="rect">
            <a:avLst/>
          </a:prstGeom>
          <a:noFill/>
        </p:spPr>
        <p:txBody>
          <a:bodyPr wrap="square" lIns="0" tIns="0" rIns="0" bIns="0">
            <a:spAutoFit/>
          </a:bodyPr>
          <a:lstStyle/>
          <a:p>
            <a:pPr>
              <a:lnSpc>
                <a:spcPct val="112000"/>
              </a:lnSpc>
              <a:spcAft>
                <a:spcPts val="800"/>
              </a:spcAft>
              <a:defRPr sz="2000" b="0">
                <a:solidFill>
                  <a:srgbClr val="44505E"/>
                </a:solidFill>
                <a:latin typeface="IBM Plex Sans"/>
              </a:defRPr>
            </a:pPr>
            <a:r>
              <a:t>N(z) adds up standard-normal weights below z. For example, N(0) = 50%. In code: norm.cdf(z).</a:t>
            </a:r>
          </a:p>
        </p:txBody>
      </p:sp>
      <p:sp>
        <p:nvSpPr>
          <p:cNvPr id="9" name="TextBox 8"/>
          <p:cNvSpPr txBox="1"/>
          <p:nvPr/>
        </p:nvSpPr>
        <p:spPr>
          <a:xfrm>
            <a:off x="6291072" y="3694176"/>
            <a:ext cx="5074920" cy="1124712"/>
          </a:xfrm>
          <a:prstGeom prst="rect">
            <a:avLst/>
          </a:prstGeom>
          <a:noFill/>
        </p:spPr>
        <p:txBody>
          <a:bodyPr wrap="square" lIns="0" tIns="0" rIns="0" bIns="0">
            <a:spAutoFit/>
          </a:bodyPr>
          <a:lstStyle/>
          <a:p>
            <a:pPr>
              <a:lnSpc>
                <a:spcPct val="112000"/>
              </a:lnSpc>
              <a:spcAft>
                <a:spcPts val="800"/>
              </a:spcAft>
              <a:defRPr sz="2000" b="0">
                <a:solidFill>
                  <a:srgbClr val="44505E"/>
                </a:solidFill>
                <a:latin typeface="IBM Plex Sans"/>
              </a:defRPr>
            </a:pPr>
            <a:r>
              <a:t>N(d₂) gives the pricing probability of finishing above K. N(d₁) also accounts for higher share values in those outcomes.</a:t>
            </a:r>
          </a:p>
        </p:txBody>
      </p:sp>
      <p:sp>
        <p:nvSpPr>
          <p:cNvPr id="10" name="TextBox 9"/>
          <p:cNvSpPr txBox="1"/>
          <p:nvPr/>
        </p:nvSpPr>
        <p:spPr>
          <a:xfrm>
            <a:off x="813816" y="5029200"/>
            <a:ext cx="10561320" cy="576072"/>
          </a:xfrm>
          <a:prstGeom prst="rect">
            <a:avLst/>
          </a:prstGeom>
          <a:noFill/>
        </p:spPr>
        <p:txBody>
          <a:bodyPr wrap="square" lIns="0" tIns="0" rIns="0" bIns="0">
            <a:spAutoFit/>
          </a:bodyPr>
          <a:lstStyle/>
          <a:p>
            <a:pPr>
              <a:lnSpc>
                <a:spcPct val="112000"/>
              </a:lnSpc>
              <a:spcAft>
                <a:spcPts val="800"/>
              </a:spcAft>
              <a:defRPr sz="1700" b="0">
                <a:solidFill>
                  <a:srgbClr val="14202E"/>
                </a:solidFill>
                <a:latin typeface="JetBrains Mono"/>
              </a:defRPr>
            </a:pPr>
            <a:r>
              <a:t>S = K = 100, r = 5%, σ = 20%, T = 1</a:t>
            </a:r>
          </a:p>
          <a:p>
            <a:pPr>
              <a:lnSpc>
                <a:spcPct val="112000"/>
              </a:lnSpc>
              <a:spcAft>
                <a:spcPts val="800"/>
              </a:spcAft>
              <a:defRPr sz="1700" b="0">
                <a:solidFill>
                  <a:srgbClr val="14202E"/>
                </a:solidFill>
                <a:latin typeface="JetBrains Mono"/>
              </a:defRPr>
            </a:pPr>
            <a:r>
              <a:t>d₁ = 0.35, d₂ = 0.15, N(d₁) ≈ 0.6368, N(d₂) ≈ 0.5596</a:t>
            </a:r>
          </a:p>
        </p:txBody>
      </p:sp>
      <p:sp>
        <p:nvSpPr>
          <p:cNvPr id="11" name="TextBox 10"/>
          <p:cNvSpPr txBox="1"/>
          <p:nvPr/>
        </p:nvSpPr>
        <p:spPr>
          <a:xfrm>
            <a:off x="813816" y="5824728"/>
            <a:ext cx="10561320" cy="384048"/>
          </a:xfrm>
          <a:prstGeom prst="rect">
            <a:avLst/>
          </a:prstGeom>
          <a:noFill/>
        </p:spPr>
        <p:txBody>
          <a:bodyPr wrap="square" lIns="0" tIns="0" rIns="0" bIns="0">
            <a:spAutoFit/>
          </a:bodyPr>
          <a:lstStyle/>
          <a:p>
            <a:pPr>
              <a:lnSpc>
                <a:spcPct val="112000"/>
              </a:lnSpc>
              <a:spcAft>
                <a:spcPts val="800"/>
              </a:spcAft>
              <a:defRPr sz="2000" b="1">
                <a:solidFill>
                  <a:srgbClr val="2B65C8"/>
                </a:solidFill>
                <a:latin typeface="IBM Plex Sans"/>
              </a:defRPr>
            </a:pPr>
            <a:r>
              <a:t>Today’s value received 63.6831 − strike payment 53.2325 = 10.4506</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5">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01 · THE PRICING PROBLEM</a:t>
            </a:r>
            <a:endParaRPr lang="en-US" sz="1200" dirty="0"/>
          </a:p>
        </p:txBody>
      </p:sp>
      <p:sp>
        <p:nvSpPr>
          <p:cNvPr id="3" name="Text 1"/>
          <p:cNvSpPr>
            <a:spLocks noGrp="1"/>
          </p:cNvSpPr>
          <p:nvPr>
            <p:ph type="title"/>
          </p:nvPr>
        </p:nvSpPr>
        <p:spPr>
          <a:xfrm>
            <a:off x="812800" y="812800"/>
            <a:ext cx="1137920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Why a lattice? Because it is the same idea, made discrete</a:t>
            </a:r>
            <a:endParaRPr lang="en-US" sz="3000" dirty="0"/>
          </a:p>
        </p:txBody>
      </p:sp>
      <p:sp>
        <p:nvSpPr>
          <p:cNvPr id="4" name="Shape 2"/>
          <p:cNvSpPr/>
          <p:nvPr/>
        </p:nvSpPr>
        <p:spPr>
          <a:xfrm>
            <a:off x="815975" y="1590115"/>
            <a:ext cx="3380284" cy="2529707"/>
          </a:xfrm>
          <a:prstGeom prst="roundRect">
            <a:avLst>
              <a:gd name="adj" fmla="val 4755"/>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5" name="Image 0" descr="Chart"/>
          <p:cNvPicPr>
            <a:picLocks noChangeAspect="1"/>
          </p:cNvPicPr>
          <p:nvPr/>
        </p:nvPicPr>
        <p:blipFill>
          <a:blip r:embed="rId3"/>
          <a:srcRect/>
          <a:stretch/>
        </p:blipFill>
        <p:spPr>
          <a:xfrm>
            <a:off x="1047750" y="1821890"/>
            <a:ext cx="355600" cy="355600"/>
          </a:xfrm>
          <a:prstGeom prst="rect">
            <a:avLst/>
          </a:prstGeom>
        </p:spPr>
      </p:pic>
      <p:sp>
        <p:nvSpPr>
          <p:cNvPr id="6" name="Text 3"/>
          <p:cNvSpPr/>
          <p:nvPr/>
        </p:nvSpPr>
        <p:spPr>
          <a:xfrm>
            <a:off x="1047750" y="2279090"/>
            <a:ext cx="3004236" cy="299690"/>
          </a:xfrm>
          <a:prstGeom prst="rect">
            <a:avLst/>
          </a:prstGeom>
          <a:noFill/>
          <a:ln/>
        </p:spPr>
        <p:txBody>
          <a:bodyPr wrap="square" lIns="0" tIns="0" rIns="0" bIns="0" rtlCol="0" anchor="t">
            <a:normAutofit/>
          </a:bodyPr>
          <a:lstStyle/>
          <a:p>
            <a:pPr marL="0" indent="0" algn="l">
              <a:lnSpc>
                <a:spcPts val="2160"/>
              </a:lnSpc>
              <a:buNone/>
            </a:pPr>
            <a:r>
              <a:rPr lang="en-US" sz="2000" b="1" dirty="0">
                <a:solidFill>
                  <a:srgbClr val="14202E"/>
                </a:solidFill>
                <a:latin typeface="IBM Plex Sans" pitchFamily="34" charset="0"/>
                <a:ea typeface="IBM Plex Sans" pitchFamily="34" charset="-122"/>
                <a:cs typeface="IBM Plex Sans" pitchFamily="34" charset="-120"/>
              </a:rPr>
              <a:t>Discretise</a:t>
            </a:r>
            <a:endParaRPr lang="en-US" sz="2000" dirty="0"/>
          </a:p>
        </p:txBody>
      </p:sp>
      <p:sp>
        <p:nvSpPr>
          <p:cNvPr id="7" name="Text 4"/>
          <p:cNvSpPr/>
          <p:nvPr/>
        </p:nvSpPr>
        <p:spPr>
          <a:xfrm>
            <a:off x="1047750" y="2654980"/>
            <a:ext cx="3004236" cy="1294020"/>
          </a:xfrm>
          <a:prstGeom prst="rect">
            <a:avLst/>
          </a:prstGeom>
          <a:noFill/>
          <a:ln/>
        </p:spPr>
        <p:txBody>
          <a:bodyPr wrap="square" lIns="0" tIns="0" rIns="0" bIns="0" rtlCol="0" anchor="t">
            <a:no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Chop [0, T] into n steps of Δt. In each step the price can only go up by a factor u or down by a factor d.</a:t>
            </a:r>
            <a:endParaRPr lang="en-US" dirty="0"/>
          </a:p>
        </p:txBody>
      </p:sp>
      <p:sp>
        <p:nvSpPr>
          <p:cNvPr id="8" name="Shape 5"/>
          <p:cNvSpPr/>
          <p:nvPr/>
        </p:nvSpPr>
        <p:spPr>
          <a:xfrm>
            <a:off x="4405809" y="1590115"/>
            <a:ext cx="3380333" cy="2529707"/>
          </a:xfrm>
          <a:prstGeom prst="roundRect">
            <a:avLst>
              <a:gd name="adj" fmla="val 4755"/>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9" name="Image 1" descr="Code"/>
          <p:cNvPicPr>
            <a:picLocks noChangeAspect="1"/>
          </p:cNvPicPr>
          <p:nvPr/>
        </p:nvPicPr>
        <p:blipFill>
          <a:blip r:embed="rId4"/>
          <a:srcRect/>
          <a:stretch/>
        </p:blipFill>
        <p:spPr>
          <a:xfrm>
            <a:off x="4637584" y="1821890"/>
            <a:ext cx="355600" cy="355600"/>
          </a:xfrm>
          <a:prstGeom prst="rect">
            <a:avLst/>
          </a:prstGeom>
        </p:spPr>
      </p:pic>
      <p:sp>
        <p:nvSpPr>
          <p:cNvPr id="10" name="Text 6"/>
          <p:cNvSpPr/>
          <p:nvPr/>
        </p:nvSpPr>
        <p:spPr>
          <a:xfrm>
            <a:off x="4637584" y="2279090"/>
            <a:ext cx="3004287" cy="299690"/>
          </a:xfrm>
          <a:prstGeom prst="rect">
            <a:avLst/>
          </a:prstGeom>
          <a:noFill/>
          <a:ln/>
        </p:spPr>
        <p:txBody>
          <a:bodyPr wrap="square" lIns="0" tIns="0" rIns="0" bIns="0" rtlCol="0" anchor="t">
            <a:normAutofit/>
          </a:bodyPr>
          <a:lstStyle/>
          <a:p>
            <a:pPr marL="0" indent="0" algn="l">
              <a:lnSpc>
                <a:spcPts val="2160"/>
              </a:lnSpc>
              <a:buNone/>
            </a:pPr>
            <a:r>
              <a:rPr lang="en-US" sz="2000" b="1" dirty="0">
                <a:solidFill>
                  <a:srgbClr val="14202E"/>
                </a:solidFill>
                <a:latin typeface="IBM Plex Sans" pitchFamily="34" charset="0"/>
                <a:ea typeface="IBM Plex Sans" pitchFamily="34" charset="-122"/>
                <a:cs typeface="IBM Plex Sans" pitchFamily="34" charset="-120"/>
              </a:rPr>
              <a:t>Dynamic programming</a:t>
            </a:r>
            <a:endParaRPr lang="en-US" sz="2000" dirty="0"/>
          </a:p>
        </p:txBody>
      </p:sp>
      <p:sp>
        <p:nvSpPr>
          <p:cNvPr id="11" name="Text 7"/>
          <p:cNvSpPr/>
          <p:nvPr/>
        </p:nvSpPr>
        <p:spPr>
          <a:xfrm>
            <a:off x="4637584" y="2654980"/>
            <a:ext cx="3004287" cy="1294020"/>
          </a:xfrm>
          <a:prstGeom prst="rect">
            <a:avLst/>
          </a:prstGeom>
          <a:noFill/>
          <a:ln/>
        </p:spPr>
        <p:txBody>
          <a:bodyPr wrap="square" lIns="0" tIns="0" rIns="0" bIns="0" rtlCol="0" anchor="t">
            <a:no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A node’s value depends only on its two children. Fill a triangle backward: O(n²) time, O(n) memory.</a:t>
            </a:r>
            <a:endParaRPr lang="en-US" dirty="0"/>
          </a:p>
        </p:txBody>
      </p:sp>
      <p:sp>
        <p:nvSpPr>
          <p:cNvPr id="12" name="Shape 8"/>
          <p:cNvSpPr/>
          <p:nvPr/>
        </p:nvSpPr>
        <p:spPr>
          <a:xfrm>
            <a:off x="7995692" y="1590115"/>
            <a:ext cx="3380333" cy="2529707"/>
          </a:xfrm>
          <a:prstGeom prst="roundRect">
            <a:avLst>
              <a:gd name="adj" fmla="val 4755"/>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13" name="Image 2" descr="Wrench"/>
          <p:cNvPicPr>
            <a:picLocks noChangeAspect="1"/>
          </p:cNvPicPr>
          <p:nvPr/>
        </p:nvPicPr>
        <p:blipFill>
          <a:blip r:embed="rId5"/>
          <a:srcRect/>
          <a:stretch/>
        </p:blipFill>
        <p:spPr>
          <a:xfrm>
            <a:off x="8227467" y="1821890"/>
            <a:ext cx="355600" cy="355600"/>
          </a:xfrm>
          <a:prstGeom prst="rect">
            <a:avLst/>
          </a:prstGeom>
        </p:spPr>
      </p:pic>
      <p:sp>
        <p:nvSpPr>
          <p:cNvPr id="14" name="Text 9"/>
          <p:cNvSpPr/>
          <p:nvPr/>
        </p:nvSpPr>
        <p:spPr>
          <a:xfrm>
            <a:off x="8227467" y="2279090"/>
            <a:ext cx="3004287" cy="299690"/>
          </a:xfrm>
          <a:prstGeom prst="rect">
            <a:avLst/>
          </a:prstGeom>
          <a:noFill/>
          <a:ln/>
        </p:spPr>
        <p:txBody>
          <a:bodyPr wrap="square" lIns="0" tIns="0" rIns="0" bIns="0" rtlCol="0" anchor="t">
            <a:normAutofit/>
          </a:bodyPr>
          <a:lstStyle/>
          <a:p>
            <a:pPr marL="0" indent="0" algn="l">
              <a:lnSpc>
                <a:spcPts val="2160"/>
              </a:lnSpc>
              <a:buNone/>
            </a:pPr>
            <a:r>
              <a:rPr lang="en-US" sz="2000" b="1" dirty="0">
                <a:solidFill>
                  <a:srgbClr val="14202E"/>
                </a:solidFill>
                <a:latin typeface="IBM Plex Sans" pitchFamily="34" charset="0"/>
                <a:ea typeface="IBM Plex Sans" pitchFamily="34" charset="-122"/>
                <a:cs typeface="IBM Plex Sans" pitchFamily="34" charset="-120"/>
              </a:rPr>
              <a:t>Flexible</a:t>
            </a:r>
            <a:endParaRPr lang="en-US" sz="2000" dirty="0"/>
          </a:p>
        </p:txBody>
      </p:sp>
      <p:sp>
        <p:nvSpPr>
          <p:cNvPr id="15" name="Text 10"/>
          <p:cNvSpPr/>
          <p:nvPr/>
        </p:nvSpPr>
        <p:spPr>
          <a:xfrm>
            <a:off x="8227467" y="2654980"/>
            <a:ext cx="3004287" cy="1294020"/>
          </a:xfrm>
          <a:prstGeom prst="rect">
            <a:avLst/>
          </a:prstGeom>
          <a:noFill/>
          <a:ln/>
        </p:spPr>
        <p:txBody>
          <a:bodyPr wrap="square" lIns="0" tIns="0" rIns="0" bIns="0" rtlCol="0" anchor="t">
            <a:norm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Change the rule at a node to handle early exercise, barriers or dividends — no new formula needed.</a:t>
            </a:r>
            <a:endParaRPr lang="en-US" dirty="0"/>
          </a:p>
        </p:txBody>
      </p:sp>
      <p:sp>
        <p:nvSpPr>
          <p:cNvPr id="16" name="Text 11"/>
          <p:cNvSpPr/>
          <p:nvPr/>
        </p:nvSpPr>
        <p:spPr>
          <a:xfrm>
            <a:off x="812800" y="4792004"/>
            <a:ext cx="10712659" cy="794877"/>
          </a:xfrm>
          <a:prstGeom prst="rect">
            <a:avLst/>
          </a:prstGeom>
          <a:solidFill>
            <a:schemeClr val="bg2">
              <a:lumMod val="10000"/>
            </a:schemeClr>
          </a:solidFill>
          <a:ln/>
          <a:effectLst>
            <a:outerShdw blurRad="50800" dist="38100" dir="2700000" algn="tl" rotWithShape="0">
              <a:prstClr val="black">
                <a:alpha val="40000"/>
              </a:prstClr>
            </a:outerShdw>
          </a:effectLst>
        </p:spPr>
        <p:txBody>
          <a:bodyPr wrap="square" lIns="0" tIns="0" rIns="0" bIns="0" rtlCol="0" anchor="ctr">
            <a:normAutofit/>
          </a:bodyPr>
          <a:lstStyle/>
          <a:p>
            <a:pPr marL="0" indent="0" algn="ctr">
              <a:lnSpc>
                <a:spcPts val="2320"/>
              </a:lnSpc>
              <a:buNone/>
            </a:pPr>
            <a:r>
              <a:rPr lang="en-US" sz="2400" dirty="0">
                <a:solidFill>
                  <a:schemeClr val="bg1"/>
                </a:solidFill>
                <a:latin typeface="IBM Plex Sans" pitchFamily="34" charset="0"/>
                <a:ea typeface="IBM Plex Sans" pitchFamily="34" charset="-122"/>
                <a:cs typeface="IBM Plex Sans" pitchFamily="34" charset="-120"/>
              </a:rPr>
              <a:t>And as n → ∞, the lattice price converges to the Black-Scholes-Merton price</a:t>
            </a:r>
            <a:endParaRPr lang="en-US" sz="2400" dirty="0">
              <a:solidFill>
                <a:schemeClr val="bg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6">
    <p:bg>
      <p:bgPr>
        <a:solidFill>
          <a:srgbClr val="F5F3EC"/>
        </a:solidFill>
        <a:effectLst/>
      </p:bgPr>
    </p:bg>
    <p:spTree>
      <p:nvGrpSpPr>
        <p:cNvPr id="1" name=""/>
        <p:cNvGrpSpPr/>
        <p:nvPr/>
      </p:nvGrpSpPr>
      <p:grpSpPr>
        <a:xfrm>
          <a:off x="0" y="0"/>
          <a:ext cx="0" cy="0"/>
          <a:chOff x="0" y="0"/>
          <a:chExt cx="0" cy="0"/>
        </a:xfrm>
      </p:grpSpPr>
      <p:pic>
        <p:nvPicPr>
          <p:cNvPr id="2" name="Image 0" descr="One-step tree: from S0 = 100 the stock moves up to 110 with probability p or down to 90 with probability 1 minus p"/>
          <p:cNvPicPr>
            <a:picLocks noChangeAspect="1"/>
          </p:cNvPicPr>
          <p:nvPr/>
        </p:nvPicPr>
        <p:blipFill>
          <a:blip r:embed="rId3"/>
          <a:srcRect l="-14" r="-14"/>
          <a:stretch/>
        </p:blipFill>
        <p:spPr>
          <a:xfrm>
            <a:off x="4064000" y="1651000"/>
            <a:ext cx="7315200" cy="4381500"/>
          </a:xfrm>
          <a:prstGeom prst="rect">
            <a:avLst/>
          </a:prstGeom>
        </p:spPr>
      </p:pic>
      <p:sp>
        <p:nvSpPr>
          <p:cNvPr id="3"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02 · ONE STEP</a:t>
            </a:r>
            <a:endParaRPr lang="en-US" sz="1200" dirty="0"/>
          </a:p>
        </p:txBody>
      </p:sp>
      <p:sp>
        <p:nvSpPr>
          <p:cNvPr id="4"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The smallest possible world: one step, two states</a:t>
            </a:r>
            <a:endParaRPr lang="en-US" sz="3000" dirty="0"/>
          </a:p>
        </p:txBody>
      </p:sp>
      <p:sp>
        <p:nvSpPr>
          <p:cNvPr id="5" name="Text 2"/>
          <p:cNvSpPr/>
          <p:nvPr/>
        </p:nvSpPr>
        <p:spPr>
          <a:xfrm>
            <a:off x="812800" y="1485900"/>
            <a:ext cx="3139440" cy="540941"/>
          </a:xfrm>
          <a:prstGeom prst="rect">
            <a:avLst/>
          </a:prstGeom>
          <a:noFill/>
          <a:ln/>
        </p:spPr>
        <p:txBody>
          <a:bodyPr wrap="square" lIns="0" tIns="0" rIns="0" bIns="0" rtlCol="0" anchor="t">
            <a:norm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Stock today </a:t>
            </a:r>
            <a:r>
              <a:rPr lang="en-US" b="1" dirty="0">
                <a:solidFill>
                  <a:srgbClr val="14202E"/>
                </a:solidFill>
                <a:latin typeface="IBM Plex Sans" pitchFamily="34" charset="0"/>
                <a:ea typeface="IBM Plex Sans" pitchFamily="34" charset="-122"/>
                <a:cs typeface="IBM Plex Sans" pitchFamily="34" charset="-120"/>
              </a:rPr>
              <a:t>S₀ = 100</a:t>
            </a:r>
            <a:r>
              <a:rPr lang="en-US" dirty="0">
                <a:solidFill>
                  <a:srgbClr val="44505E"/>
                </a:solidFill>
                <a:latin typeface="IBM Plex Sans" pitchFamily="34" charset="0"/>
                <a:ea typeface="IBM Plex Sans" pitchFamily="34" charset="-122"/>
                <a:cs typeface="IBM Plex Sans" pitchFamily="34" charset="-120"/>
              </a:rPr>
              <a:t>. After one step it is either</a:t>
            </a:r>
            <a:endParaRPr lang="en-US" dirty="0"/>
          </a:p>
        </p:txBody>
      </p:sp>
      <p:sp>
        <p:nvSpPr>
          <p:cNvPr id="7" name="Text 4"/>
          <p:cNvSpPr/>
          <p:nvPr/>
        </p:nvSpPr>
        <p:spPr>
          <a:xfrm>
            <a:off x="812800" y="3572610"/>
            <a:ext cx="3139440" cy="540941"/>
          </a:xfrm>
          <a:prstGeom prst="rect">
            <a:avLst/>
          </a:prstGeom>
          <a:noFill/>
          <a:ln/>
        </p:spPr>
        <p:txBody>
          <a:bodyPr wrap="square" lIns="0" tIns="0" rIns="0" bIns="0" rtlCol="0" anchor="t">
            <a:norm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Cash grows by </a:t>
            </a:r>
            <a:r>
              <a:rPr lang="en-US" b="1" dirty="0">
                <a:solidFill>
                  <a:srgbClr val="14202E"/>
                </a:solidFill>
                <a:latin typeface="IBM Plex Sans" pitchFamily="34" charset="0"/>
                <a:ea typeface="IBM Plex Sans" pitchFamily="34" charset="-122"/>
                <a:cs typeface="IBM Plex Sans" pitchFamily="34" charset="-120"/>
              </a:rPr>
              <a:t>R = e^(rΔt) = 1.02</a:t>
            </a:r>
            <a:r>
              <a:rPr lang="en-US" dirty="0">
                <a:solidFill>
                  <a:srgbClr val="44505E"/>
                </a:solidFill>
                <a:latin typeface="IBM Plex Sans" pitchFamily="34" charset="0"/>
                <a:ea typeface="IBM Plex Sans" pitchFamily="34" charset="-122"/>
                <a:cs typeface="IBM Plex Sans" pitchFamily="34" charset="-120"/>
              </a:rPr>
              <a:t> per step, risk-free.</a:t>
            </a:r>
            <a:endParaRPr lang="en-US" dirty="0"/>
          </a:p>
        </p:txBody>
      </p:sp>
      <p:sp>
        <p:nvSpPr>
          <p:cNvPr id="8" name="Text 5"/>
          <p:cNvSpPr/>
          <p:nvPr/>
        </p:nvSpPr>
        <p:spPr>
          <a:xfrm>
            <a:off x="812800" y="4385971"/>
            <a:ext cx="3139440" cy="540941"/>
          </a:xfrm>
          <a:prstGeom prst="rect">
            <a:avLst/>
          </a:prstGeom>
          <a:noFill/>
          <a:ln/>
        </p:spPr>
        <p:txBody>
          <a:bodyPr wrap="square" lIns="0" tIns="0" rIns="0" bIns="0" rtlCol="0" anchor="t">
            <a:norm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A call with </a:t>
            </a:r>
            <a:r>
              <a:rPr lang="en-US" b="1" dirty="0">
                <a:solidFill>
                  <a:srgbClr val="14202E"/>
                </a:solidFill>
                <a:latin typeface="IBM Plex Sans" pitchFamily="34" charset="0"/>
                <a:ea typeface="IBM Plex Sans" pitchFamily="34" charset="-122"/>
                <a:cs typeface="IBM Plex Sans" pitchFamily="34" charset="-120"/>
              </a:rPr>
              <a:t>K = 100</a:t>
            </a:r>
            <a:r>
              <a:rPr lang="en-US" dirty="0">
                <a:solidFill>
                  <a:srgbClr val="44505E"/>
                </a:solidFill>
                <a:latin typeface="IBM Plex Sans" pitchFamily="34" charset="0"/>
                <a:ea typeface="IBM Plex Sans" pitchFamily="34" charset="-122"/>
                <a:cs typeface="IBM Plex Sans" pitchFamily="34" charset="-120"/>
              </a:rPr>
              <a:t> pays 10 or 0. What is it worth now?</a:t>
            </a:r>
            <a:endParaRPr lang="en-US" dirty="0"/>
          </a:p>
        </p:txBody>
      </p:sp>
      <p:sp>
        <p:nvSpPr>
          <p:cNvPr id="9" name="Text 6"/>
          <p:cNvSpPr/>
          <p:nvPr/>
        </p:nvSpPr>
        <p:spPr>
          <a:xfrm>
            <a:off x="4927600" y="1841500"/>
            <a:ext cx="1574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0</a:t>
            </a:r>
            <a:endParaRPr lang="en-US" sz="1200" b="1" dirty="0"/>
          </a:p>
        </p:txBody>
      </p:sp>
      <p:sp>
        <p:nvSpPr>
          <p:cNvPr id="10" name="Text 7"/>
          <p:cNvSpPr/>
          <p:nvPr/>
        </p:nvSpPr>
        <p:spPr>
          <a:xfrm>
            <a:off x="8737600" y="1841500"/>
            <a:ext cx="1574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Δt</a:t>
            </a:r>
            <a:endParaRPr lang="en-US" sz="1200" b="1" dirty="0"/>
          </a:p>
        </p:txBody>
      </p:sp>
      <p:sp>
        <p:nvSpPr>
          <p:cNvPr id="11" name="Text 8"/>
          <p:cNvSpPr/>
          <p:nvPr/>
        </p:nvSpPr>
        <p:spPr>
          <a:xfrm>
            <a:off x="4962525" y="3438525"/>
            <a:ext cx="1504950" cy="742950"/>
          </a:xfrm>
          <a:custGeom>
            <a:avLst/>
            <a:gdLst/>
            <a:ahLst/>
            <a:cxnLst/>
            <a:rect l="l" t="t" r="r" b="b"/>
            <a:pathLst>
              <a:path w="1504950" h="742950">
                <a:moveTo>
                  <a:pt x="92075" y="0"/>
                </a:moveTo>
                <a:lnTo>
                  <a:pt x="1412875" y="0"/>
                </a:lnTo>
                <a:arcTo wR="92075" hR="92075" stAng="16200000" swAng="5400000"/>
                <a:lnTo>
                  <a:pt x="1504950" y="650875"/>
                </a:lnTo>
                <a:arcTo wR="92075" hR="92075" stAng="0" swAng="5400000"/>
                <a:lnTo>
                  <a:pt x="92075" y="742950"/>
                </a:lnTo>
                <a:arcTo wR="92075" hR="92075" stAng="5400000" swAng="5400000"/>
                <a:lnTo>
                  <a:pt x="0" y="92075"/>
                </a:lnTo>
                <a:arcTo wR="92075" hR="92075" stAng="10800000" swAng="5400000"/>
                <a:close/>
              </a:path>
            </a:pathLst>
          </a:custGeom>
          <a:solidFill>
            <a:srgbClr val="FDFCF8"/>
          </a:solidFill>
          <a:ln w="19050">
            <a:solidFill>
              <a:srgbClr val="14202E"/>
            </a:solidFill>
            <a:prstDash val="solid"/>
          </a:ln>
        </p:spPr>
        <p:txBody>
          <a:bodyPr wrap="square" lIns="47625" tIns="73025" rIns="47625" bIns="47625" rtlCol="0" anchor="t">
            <a:normAutofit/>
          </a:bodyPr>
          <a:lstStyle/>
          <a:p>
            <a:pPr marL="0" indent="0" algn="ctr">
              <a:lnSpc>
                <a:spcPts val="1574"/>
              </a:lnSpc>
              <a:buNone/>
            </a:pPr>
            <a:r>
              <a:rPr lang="en-US" sz="1259" b="1" dirty="0">
                <a:solidFill>
                  <a:srgbClr val="14202E"/>
                </a:solidFill>
                <a:latin typeface="JetBrains Mono" pitchFamily="49" charset="0"/>
                <a:ea typeface="JetBrains Mono" pitchFamily="49" charset="-122"/>
                <a:cs typeface="JetBrains Mono" pitchFamily="49" charset="-120"/>
              </a:rPr>
              <a:t>S₀ = 100</a:t>
            </a:r>
            <a:endParaRPr lang="en-US" sz="1259" dirty="0"/>
          </a:p>
          <a:p>
            <a:pPr marL="0" indent="0" algn="ctr">
              <a:lnSpc>
                <a:spcPts val="1574"/>
              </a:lnSpc>
              <a:buNone/>
            </a:pPr>
            <a:r>
              <a:rPr lang="en-US" sz="1259" dirty="0">
                <a:solidFill>
                  <a:srgbClr val="14202E"/>
                </a:solidFill>
                <a:latin typeface="JetBrains Mono" pitchFamily="49" charset="0"/>
                <a:ea typeface="JetBrains Mono" pitchFamily="49" charset="-122"/>
                <a:cs typeface="JetBrains Mono" pitchFamily="49" charset="-120"/>
              </a:rPr>
              <a:t>call C₀</a:t>
            </a:r>
            <a:endParaRPr lang="en-US" sz="1259" dirty="0"/>
          </a:p>
          <a:p>
            <a:pPr marL="0" indent="0" algn="ctr">
              <a:lnSpc>
                <a:spcPts val="1574"/>
              </a:lnSpc>
              <a:buNone/>
            </a:pPr>
            <a:r>
              <a:rPr lang="en-US" sz="1259" dirty="0">
                <a:solidFill>
                  <a:srgbClr val="2B65C8"/>
                </a:solidFill>
                <a:latin typeface="JetBrains Mono" pitchFamily="49" charset="0"/>
                <a:ea typeface="JetBrains Mono" pitchFamily="49" charset="-122"/>
                <a:cs typeface="JetBrains Mono" pitchFamily="49" charset="-120"/>
              </a:rPr>
              <a:t>= ?</a:t>
            </a:r>
            <a:endParaRPr lang="en-US" sz="1259" dirty="0"/>
          </a:p>
        </p:txBody>
      </p:sp>
      <p:sp>
        <p:nvSpPr>
          <p:cNvPr id="12" name="Text 9"/>
          <p:cNvSpPr/>
          <p:nvPr/>
        </p:nvSpPr>
        <p:spPr>
          <a:xfrm>
            <a:off x="8772525" y="2168525"/>
            <a:ext cx="1504950" cy="742950"/>
          </a:xfrm>
          <a:custGeom>
            <a:avLst/>
            <a:gdLst/>
            <a:ahLst/>
            <a:cxnLst/>
            <a:rect l="l" t="t" r="r" b="b"/>
            <a:pathLst>
              <a:path w="1504950" h="742950">
                <a:moveTo>
                  <a:pt x="92075" y="0"/>
                </a:moveTo>
                <a:lnTo>
                  <a:pt x="1412875" y="0"/>
                </a:lnTo>
                <a:arcTo wR="92075" hR="92075" stAng="16200000" swAng="5400000"/>
                <a:lnTo>
                  <a:pt x="1504950" y="650875"/>
                </a:lnTo>
                <a:arcTo wR="92075" hR="92075" stAng="0" swAng="5400000"/>
                <a:lnTo>
                  <a:pt x="92075" y="742950"/>
                </a:lnTo>
                <a:arcTo wR="92075" hR="92075" stAng="5400000" swAng="5400000"/>
                <a:lnTo>
                  <a:pt x="0" y="92075"/>
                </a:lnTo>
                <a:arcTo wR="92075" hR="92075" stAng="10800000" swAng="5400000"/>
                <a:close/>
              </a:path>
            </a:pathLst>
          </a:custGeom>
          <a:solidFill>
            <a:srgbClr val="FDFCF8"/>
          </a:solidFill>
          <a:ln w="19050">
            <a:solidFill>
              <a:srgbClr val="2B65C8"/>
            </a:solidFill>
            <a:prstDash val="solid"/>
          </a:ln>
        </p:spPr>
        <p:txBody>
          <a:bodyPr wrap="square" lIns="47625" tIns="73025" rIns="47625" bIns="47625" rtlCol="0" anchor="t">
            <a:normAutofit/>
          </a:bodyPr>
          <a:lstStyle/>
          <a:p>
            <a:pPr marL="0" indent="0" algn="ctr">
              <a:lnSpc>
                <a:spcPts val="1574"/>
              </a:lnSpc>
              <a:buNone/>
            </a:pPr>
            <a:r>
              <a:rPr lang="en-US" sz="1259" b="1" dirty="0">
                <a:solidFill>
                  <a:srgbClr val="14202E"/>
                </a:solidFill>
                <a:latin typeface="JetBrains Mono" pitchFamily="49" charset="0"/>
                <a:ea typeface="JetBrains Mono" pitchFamily="49" charset="-122"/>
                <a:cs typeface="JetBrains Mono" pitchFamily="49" charset="-120"/>
              </a:rPr>
              <a:t>uS₀ = 110</a:t>
            </a:r>
            <a:endParaRPr lang="en-US" sz="1259" dirty="0"/>
          </a:p>
          <a:p>
            <a:pPr marL="0" indent="0" algn="ctr">
              <a:lnSpc>
                <a:spcPts val="1574"/>
              </a:lnSpc>
              <a:buNone/>
            </a:pPr>
            <a:r>
              <a:rPr lang="en-US" sz="1259" dirty="0">
                <a:solidFill>
                  <a:srgbClr val="14202E"/>
                </a:solidFill>
                <a:latin typeface="JetBrains Mono" pitchFamily="49" charset="0"/>
                <a:ea typeface="JetBrains Mono" pitchFamily="49" charset="-122"/>
                <a:cs typeface="JetBrains Mono" pitchFamily="49" charset="-120"/>
              </a:rPr>
              <a:t>call C↑</a:t>
            </a:r>
            <a:endParaRPr lang="en-US" sz="1259" dirty="0"/>
          </a:p>
          <a:p>
            <a:pPr marL="0" indent="0" algn="ctr">
              <a:lnSpc>
                <a:spcPts val="1574"/>
              </a:lnSpc>
              <a:buNone/>
            </a:pPr>
            <a:r>
              <a:rPr lang="en-US" sz="1259" dirty="0">
                <a:solidFill>
                  <a:srgbClr val="2B65C8"/>
                </a:solidFill>
                <a:latin typeface="JetBrains Mono" pitchFamily="49" charset="0"/>
                <a:ea typeface="JetBrains Mono" pitchFamily="49" charset="-122"/>
                <a:cs typeface="JetBrains Mono" pitchFamily="49" charset="-120"/>
              </a:rPr>
              <a:t>= 10</a:t>
            </a:r>
            <a:endParaRPr lang="en-US" sz="1259" dirty="0"/>
          </a:p>
        </p:txBody>
      </p:sp>
      <p:sp>
        <p:nvSpPr>
          <p:cNvPr id="13" name="Text 10"/>
          <p:cNvSpPr/>
          <p:nvPr/>
        </p:nvSpPr>
        <p:spPr>
          <a:xfrm>
            <a:off x="8772525" y="4708525"/>
            <a:ext cx="1504950" cy="742950"/>
          </a:xfrm>
          <a:custGeom>
            <a:avLst/>
            <a:gdLst/>
            <a:ahLst/>
            <a:cxnLst/>
            <a:rect l="l" t="t" r="r" b="b"/>
            <a:pathLst>
              <a:path w="1504950" h="742950">
                <a:moveTo>
                  <a:pt x="92075" y="0"/>
                </a:moveTo>
                <a:lnTo>
                  <a:pt x="1412875" y="0"/>
                </a:lnTo>
                <a:arcTo wR="92075" hR="92075" stAng="16200000" swAng="5400000"/>
                <a:lnTo>
                  <a:pt x="1504950" y="650875"/>
                </a:lnTo>
                <a:arcTo wR="92075" hR="92075" stAng="0" swAng="5400000"/>
                <a:lnTo>
                  <a:pt x="92075" y="742950"/>
                </a:lnTo>
                <a:arcTo wR="92075" hR="92075" stAng="5400000" swAng="5400000"/>
                <a:lnTo>
                  <a:pt x="0" y="92075"/>
                </a:lnTo>
                <a:arcTo wR="92075" hR="92075" stAng="10800000" swAng="5400000"/>
                <a:close/>
              </a:path>
            </a:pathLst>
          </a:custGeom>
          <a:solidFill>
            <a:srgbClr val="FDFCF8"/>
          </a:solidFill>
          <a:ln w="19050">
            <a:solidFill>
              <a:srgbClr val="C4661A"/>
            </a:solidFill>
            <a:prstDash val="solid"/>
          </a:ln>
        </p:spPr>
        <p:txBody>
          <a:bodyPr wrap="square" lIns="47625" tIns="73025" rIns="47625" bIns="47625" rtlCol="0" anchor="t">
            <a:normAutofit/>
          </a:bodyPr>
          <a:lstStyle/>
          <a:p>
            <a:pPr marL="0" indent="0" algn="ctr">
              <a:lnSpc>
                <a:spcPts val="1574"/>
              </a:lnSpc>
              <a:buNone/>
            </a:pPr>
            <a:r>
              <a:rPr lang="en-US" sz="1259" b="1" dirty="0">
                <a:solidFill>
                  <a:srgbClr val="14202E"/>
                </a:solidFill>
                <a:latin typeface="JetBrains Mono" pitchFamily="49" charset="0"/>
                <a:ea typeface="JetBrains Mono" pitchFamily="49" charset="-122"/>
                <a:cs typeface="JetBrains Mono" pitchFamily="49" charset="-120"/>
              </a:rPr>
              <a:t>dS₀ = 90</a:t>
            </a:r>
            <a:endParaRPr lang="en-US" sz="1259" dirty="0"/>
          </a:p>
          <a:p>
            <a:pPr marL="0" indent="0" algn="ctr">
              <a:lnSpc>
                <a:spcPts val="1574"/>
              </a:lnSpc>
              <a:buNone/>
            </a:pPr>
            <a:r>
              <a:rPr lang="en-US" sz="1259" dirty="0">
                <a:solidFill>
                  <a:srgbClr val="14202E"/>
                </a:solidFill>
                <a:latin typeface="JetBrains Mono" pitchFamily="49" charset="0"/>
                <a:ea typeface="JetBrains Mono" pitchFamily="49" charset="-122"/>
                <a:cs typeface="JetBrains Mono" pitchFamily="49" charset="-120"/>
              </a:rPr>
              <a:t>call C↓</a:t>
            </a:r>
            <a:endParaRPr lang="en-US" sz="1259" dirty="0"/>
          </a:p>
          <a:p>
            <a:pPr marL="0" indent="0" algn="ctr">
              <a:lnSpc>
                <a:spcPts val="1574"/>
              </a:lnSpc>
              <a:buNone/>
            </a:pPr>
            <a:r>
              <a:rPr lang="en-US" sz="1259" dirty="0">
                <a:solidFill>
                  <a:srgbClr val="A9520F"/>
                </a:solidFill>
                <a:latin typeface="JetBrains Mono" pitchFamily="49" charset="0"/>
                <a:ea typeface="JetBrains Mono" pitchFamily="49" charset="-122"/>
                <a:cs typeface="JetBrains Mono" pitchFamily="49" charset="-120"/>
              </a:rPr>
              <a:t>= 0</a:t>
            </a:r>
            <a:endParaRPr lang="en-US" sz="1259" dirty="0"/>
          </a:p>
        </p:txBody>
      </p:sp>
      <p:sp>
        <p:nvSpPr>
          <p:cNvPr id="14" name="Text 11"/>
          <p:cNvSpPr/>
          <p:nvPr/>
        </p:nvSpPr>
        <p:spPr>
          <a:xfrm>
            <a:off x="7133350" y="2730500"/>
            <a:ext cx="10668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2B65C8"/>
                </a:solidFill>
                <a:latin typeface="IBM Plex Sans" pitchFamily="34" charset="0"/>
                <a:ea typeface="IBM Plex Sans" pitchFamily="34" charset="-122"/>
                <a:cs typeface="IBM Plex Sans" pitchFamily="34" charset="-120"/>
              </a:rPr>
              <a:t>p</a:t>
            </a:r>
            <a:endParaRPr lang="en-US" sz="1500" dirty="0"/>
          </a:p>
        </p:txBody>
      </p:sp>
      <p:sp>
        <p:nvSpPr>
          <p:cNvPr id="15" name="Text 12"/>
          <p:cNvSpPr/>
          <p:nvPr/>
        </p:nvSpPr>
        <p:spPr>
          <a:xfrm>
            <a:off x="7006350" y="4635500"/>
            <a:ext cx="13208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A9520F"/>
                </a:solidFill>
                <a:latin typeface="IBM Plex Sans" pitchFamily="34" charset="0"/>
                <a:ea typeface="IBM Plex Sans" pitchFamily="34" charset="-122"/>
                <a:cs typeface="IBM Plex Sans" pitchFamily="34" charset="-120"/>
              </a:rPr>
              <a:t>1 − p</a:t>
            </a:r>
            <a:endParaRPr lang="en-US" sz="1500" dirty="0"/>
          </a:p>
        </p:txBody>
      </p:sp>
      <p:sp>
        <p:nvSpPr>
          <p:cNvPr id="16" name="Text 3">
            <a:extLst>
              <a:ext uri="{FF2B5EF4-FFF2-40B4-BE49-F238E27FC236}">
                <a16:creationId xmlns:a16="http://schemas.microsoft.com/office/drawing/2014/main" id="{2ED44127-719E-E07E-3AD3-9D858D729352}"/>
              </a:ext>
            </a:extLst>
          </p:cNvPr>
          <p:cNvSpPr/>
          <p:nvPr/>
        </p:nvSpPr>
        <p:spPr>
          <a:xfrm>
            <a:off x="730250" y="2258646"/>
            <a:ext cx="3048000" cy="1026744"/>
          </a:xfrm>
          <a:prstGeom prst="roundRect">
            <a:avLst>
              <a:gd name="adj" fmla="val 9494"/>
            </a:avLst>
          </a:prstGeom>
          <a:solidFill>
            <a:srgbClr val="ECE8DC"/>
          </a:solidFill>
          <a:ln/>
          <a:effectLst>
            <a:outerShdw blurRad="50800" dist="38100" dir="2700000" algn="tl" rotWithShape="0">
              <a:prstClr val="black">
                <a:alpha val="40000"/>
              </a:prstClr>
            </a:outerShdw>
          </a:effectLst>
        </p:spPr>
        <p:txBody>
          <a:bodyPr wrap="square" lIns="104682" tIns="104682" rIns="20862" bIns="79282" rtlCol="0" anchor="ctr">
            <a:normAutofit/>
          </a:bodyPr>
          <a:lstStyle/>
          <a:p>
            <a:pPr>
              <a:lnSpc>
                <a:spcPts val="2100"/>
              </a:lnSpc>
            </a:pPr>
            <a:r>
              <a:rPr lang="en-US" dirty="0" err="1">
                <a:solidFill>
                  <a:srgbClr val="2B65C8"/>
                </a:solidFill>
                <a:latin typeface="JetBrains Mono" pitchFamily="49" charset="0"/>
                <a:ea typeface="JetBrains Mono" pitchFamily="49" charset="-122"/>
                <a:cs typeface="JetBrains Mono" pitchFamily="49" charset="-120"/>
              </a:rPr>
              <a:t>u·S</a:t>
            </a:r>
            <a:r>
              <a:rPr lang="en-US" dirty="0">
                <a:solidFill>
                  <a:srgbClr val="2B65C8"/>
                </a:solidFill>
                <a:latin typeface="JetBrains Mono" pitchFamily="49" charset="0"/>
                <a:ea typeface="JetBrains Mono" pitchFamily="49" charset="-122"/>
                <a:cs typeface="JetBrains Mono" pitchFamily="49" charset="-120"/>
              </a:rPr>
              <a:t>₀ = 110</a:t>
            </a:r>
            <a:r>
              <a:rPr lang="en-US" dirty="0">
                <a:solidFill>
                  <a:srgbClr val="14202E"/>
                </a:solidFill>
                <a:latin typeface="JetBrains Mono" pitchFamily="49" charset="0"/>
                <a:ea typeface="JetBrains Mono" pitchFamily="49" charset="-122"/>
                <a:cs typeface="JetBrains Mono" pitchFamily="49" charset="-120"/>
              </a:rPr>
              <a:t> prob p</a:t>
            </a:r>
            <a:endParaRPr lang="en-US" dirty="0"/>
          </a:p>
          <a:p>
            <a:pPr>
              <a:lnSpc>
                <a:spcPts val="2100"/>
              </a:lnSpc>
            </a:pPr>
            <a:r>
              <a:rPr lang="en-US" dirty="0" err="1">
                <a:solidFill>
                  <a:srgbClr val="A9520F"/>
                </a:solidFill>
                <a:latin typeface="JetBrains Mono" pitchFamily="49" charset="0"/>
                <a:ea typeface="JetBrains Mono" pitchFamily="49" charset="-122"/>
                <a:cs typeface="JetBrains Mono" pitchFamily="49" charset="-120"/>
              </a:rPr>
              <a:t>d·S</a:t>
            </a:r>
            <a:r>
              <a:rPr lang="en-US" dirty="0">
                <a:solidFill>
                  <a:srgbClr val="A9520F"/>
                </a:solidFill>
                <a:latin typeface="JetBrains Mono" pitchFamily="49" charset="0"/>
                <a:ea typeface="JetBrains Mono" pitchFamily="49" charset="-122"/>
                <a:cs typeface="JetBrains Mono" pitchFamily="49" charset="-120"/>
              </a:rPr>
              <a:t>₀ = 90</a:t>
            </a:r>
            <a:r>
              <a:rPr lang="en-US" dirty="0">
                <a:solidFill>
                  <a:srgbClr val="14202E"/>
                </a:solidFill>
                <a:latin typeface="JetBrains Mono" pitchFamily="49" charset="0"/>
                <a:ea typeface="JetBrains Mono" pitchFamily="49" charset="-122"/>
                <a:cs typeface="JetBrains Mono" pitchFamily="49" charset="-120"/>
              </a:rPr>
              <a:t> prob 1 − p</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7">
    <p:bg>
      <p:bgPr>
        <a:solidFill>
          <a:srgbClr val="F5F3EC"/>
        </a:solidFill>
        <a:effectLst/>
      </p:bgPr>
    </p:bg>
    <p:spTree>
      <p:nvGrpSpPr>
        <p:cNvPr id="1" name=""/>
        <p:cNvGrpSpPr/>
        <p:nvPr/>
      </p:nvGrpSpPr>
      <p:grpSpPr>
        <a:xfrm>
          <a:off x="0" y="0"/>
          <a:ext cx="0" cy="0"/>
          <a:chOff x="0" y="0"/>
          <a:chExt cx="0" cy="0"/>
        </a:xfrm>
      </p:grpSpPr>
      <p:pic>
        <p:nvPicPr>
          <p:cNvPr id="2" name="Image 0" descr="Replicating portfolio of delta shares and B in cash, valued in the up and down states"/>
          <p:cNvPicPr>
            <a:picLocks noChangeAspect="1"/>
          </p:cNvPicPr>
          <p:nvPr/>
        </p:nvPicPr>
        <p:blipFill>
          <a:blip r:embed="rId3"/>
          <a:srcRect l="-14" r="-14"/>
          <a:stretch/>
        </p:blipFill>
        <p:spPr>
          <a:xfrm>
            <a:off x="4064000" y="1651000"/>
            <a:ext cx="7315200" cy="4381500"/>
          </a:xfrm>
          <a:prstGeom prst="rect">
            <a:avLst/>
          </a:prstGeom>
        </p:spPr>
      </p:pic>
      <p:sp>
        <p:nvSpPr>
          <p:cNvPr id="3"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02 · ONE STEP</a:t>
            </a:r>
            <a:endParaRPr lang="en-US" sz="1200" dirty="0"/>
          </a:p>
        </p:txBody>
      </p:sp>
      <p:sp>
        <p:nvSpPr>
          <p:cNvPr id="4"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Build a clone: Δ shares plus B in cash</a:t>
            </a:r>
            <a:endParaRPr lang="en-US" sz="3000" dirty="0"/>
          </a:p>
        </p:txBody>
      </p:sp>
      <p:sp>
        <p:nvSpPr>
          <p:cNvPr id="5" name="Text 2"/>
          <p:cNvSpPr/>
          <p:nvPr/>
        </p:nvSpPr>
        <p:spPr>
          <a:xfrm>
            <a:off x="812800" y="1485900"/>
            <a:ext cx="3139440" cy="830139"/>
          </a:xfrm>
          <a:prstGeom prst="rect">
            <a:avLst/>
          </a:prstGeom>
          <a:noFill/>
          <a:ln/>
        </p:spPr>
        <p:txBody>
          <a:bodyPr wrap="square" lIns="0" tIns="0" rIns="0" bIns="0" rtlCol="0" anchor="t">
            <a:no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Two unknowns, Δ and B. Two states, so two equations — one per branch.</a:t>
            </a:r>
            <a:endParaRPr lang="en-US" dirty="0"/>
          </a:p>
        </p:txBody>
      </p:sp>
      <p:sp>
        <p:nvSpPr>
          <p:cNvPr id="6" name="Text 3"/>
          <p:cNvSpPr/>
          <p:nvPr/>
        </p:nvSpPr>
        <p:spPr>
          <a:xfrm>
            <a:off x="812800" y="2580614"/>
            <a:ext cx="3048000" cy="1026744"/>
          </a:xfrm>
          <a:prstGeom prst="roundRect">
            <a:avLst>
              <a:gd name="adj" fmla="val 9494"/>
            </a:avLst>
          </a:prstGeom>
          <a:solidFill>
            <a:srgbClr val="ECE8DC"/>
          </a:solidFill>
          <a:ln/>
          <a:effectLst>
            <a:outerShdw blurRad="50800" dist="38100" dir="2700000" algn="tl" rotWithShape="0">
              <a:prstClr val="black">
                <a:alpha val="40000"/>
              </a:prstClr>
            </a:outerShdw>
          </a:effectLst>
        </p:spPr>
        <p:txBody>
          <a:bodyPr wrap="square" lIns="104682" tIns="104682" rIns="20862" bIns="79282" rtlCol="0" anchor="ctr">
            <a:normAutofit/>
          </a:bodyPr>
          <a:lstStyle/>
          <a:p>
            <a:pPr marL="0" indent="0" algn="l">
              <a:lnSpc>
                <a:spcPts val="2160"/>
              </a:lnSpc>
              <a:buNone/>
            </a:pPr>
            <a:r>
              <a:rPr lang="en-US" dirty="0">
                <a:solidFill>
                  <a:srgbClr val="14202E"/>
                </a:solidFill>
                <a:latin typeface="JetBrains Mono" pitchFamily="49" charset="0"/>
                <a:ea typeface="JetBrains Mono" pitchFamily="49" charset="-122"/>
                <a:cs typeface="JetBrains Mono" pitchFamily="49" charset="-120"/>
              </a:rPr>
              <a:t>Δ = (C↑ − C↓)/(S↑ − S↓)</a:t>
            </a:r>
            <a:endParaRPr lang="en-US" dirty="0"/>
          </a:p>
          <a:p>
            <a:pPr marL="0" indent="0" algn="l">
              <a:lnSpc>
                <a:spcPts val="2160"/>
              </a:lnSpc>
              <a:buNone/>
            </a:pPr>
            <a:r>
              <a:rPr lang="en-US" dirty="0">
                <a:solidFill>
                  <a:srgbClr val="14202E"/>
                </a:solidFill>
                <a:latin typeface="JetBrains Mono" pitchFamily="49" charset="0"/>
                <a:ea typeface="JetBrains Mono" pitchFamily="49" charset="-122"/>
                <a:cs typeface="JetBrains Mono" pitchFamily="49" charset="-120"/>
              </a:rPr>
              <a:t>B = (C↓ − Δ·S↓) / R</a:t>
            </a:r>
            <a:endParaRPr lang="en-US" dirty="0"/>
          </a:p>
        </p:txBody>
      </p:sp>
      <p:sp>
        <p:nvSpPr>
          <p:cNvPr id="7" name="Text 4"/>
          <p:cNvSpPr/>
          <p:nvPr/>
        </p:nvSpPr>
        <p:spPr>
          <a:xfrm>
            <a:off x="812800" y="4032706"/>
            <a:ext cx="3139440" cy="798711"/>
          </a:xfrm>
          <a:prstGeom prst="rect">
            <a:avLst/>
          </a:prstGeom>
          <a:noFill/>
          <a:ln/>
        </p:spPr>
        <p:txBody>
          <a:bodyPr wrap="square" lIns="0" tIns="0" rIns="0" bIns="0" rtlCol="0" anchor="t">
            <a:norm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Δ is the slope of the option payoff across the two states: the </a:t>
            </a:r>
            <a:r>
              <a:rPr lang="en-US" b="1" dirty="0">
                <a:solidFill>
                  <a:srgbClr val="14202E"/>
                </a:solidFill>
                <a:latin typeface="IBM Plex Sans" pitchFamily="34" charset="0"/>
                <a:ea typeface="IBM Plex Sans" pitchFamily="34" charset="-122"/>
                <a:cs typeface="IBM Plex Sans" pitchFamily="34" charset="-120"/>
              </a:rPr>
              <a:t>hedge ratio</a:t>
            </a:r>
            <a:r>
              <a:rPr lang="en-US" dirty="0">
                <a:solidFill>
                  <a:srgbClr val="44505E"/>
                </a:solidFill>
                <a:latin typeface="IBM Plex Sans" pitchFamily="34" charset="0"/>
                <a:ea typeface="IBM Plex Sans" pitchFamily="34" charset="-122"/>
                <a:cs typeface="IBM Plex Sans" pitchFamily="34" charset="-120"/>
              </a:rPr>
              <a:t>.</a:t>
            </a:r>
            <a:endParaRPr lang="en-US" dirty="0"/>
          </a:p>
        </p:txBody>
      </p:sp>
      <p:sp>
        <p:nvSpPr>
          <p:cNvPr id="8" name="Text 5"/>
          <p:cNvSpPr/>
          <p:nvPr/>
        </p:nvSpPr>
        <p:spPr>
          <a:xfrm>
            <a:off x="4200525" y="3438525"/>
            <a:ext cx="2520950" cy="742950"/>
          </a:xfrm>
          <a:custGeom>
            <a:avLst/>
            <a:gdLst/>
            <a:ahLst/>
            <a:cxnLst/>
            <a:rect l="l" t="t" r="r" b="b"/>
            <a:pathLst>
              <a:path w="2520950" h="742950">
                <a:moveTo>
                  <a:pt x="92075" y="0"/>
                </a:moveTo>
                <a:lnTo>
                  <a:pt x="2428875" y="0"/>
                </a:lnTo>
                <a:arcTo wR="92075" hR="92075" stAng="16200000" swAng="5400000"/>
                <a:lnTo>
                  <a:pt x="2520950" y="650875"/>
                </a:lnTo>
                <a:arcTo wR="92075" hR="92075" stAng="0" swAng="5400000"/>
                <a:lnTo>
                  <a:pt x="92075" y="742950"/>
                </a:lnTo>
                <a:arcTo wR="92075" hR="92075" stAng="5400000" swAng="5400000"/>
                <a:lnTo>
                  <a:pt x="0" y="92075"/>
                </a:lnTo>
                <a:arcTo wR="92075" hR="92075" stAng="10800000" swAng="5400000"/>
                <a:close/>
              </a:path>
            </a:pathLst>
          </a:custGeom>
          <a:solidFill>
            <a:srgbClr val="FDFCF8"/>
          </a:solidFill>
          <a:ln w="19050">
            <a:solidFill>
              <a:srgbClr val="14202E"/>
            </a:solidFill>
            <a:prstDash val="solid"/>
          </a:ln>
        </p:spPr>
        <p:txBody>
          <a:bodyPr wrap="square" lIns="37402" tIns="73025" rIns="37402" bIns="47625" rtlCol="0" anchor="t">
            <a:normAutofit/>
          </a:bodyPr>
          <a:lstStyle/>
          <a:p>
            <a:pPr marL="0" indent="0" algn="ctr">
              <a:lnSpc>
                <a:spcPts val="1574"/>
              </a:lnSpc>
              <a:buNone/>
            </a:pPr>
            <a:r>
              <a:rPr lang="en-US" sz="1259" b="1" dirty="0">
                <a:solidFill>
                  <a:srgbClr val="14202E"/>
                </a:solidFill>
                <a:latin typeface="JetBrains Mono" pitchFamily="49" charset="0"/>
                <a:ea typeface="JetBrains Mono" pitchFamily="49" charset="-122"/>
                <a:cs typeface="JetBrains Mono" pitchFamily="49" charset="-120"/>
              </a:rPr>
              <a:t>Δ·100 + B</a:t>
            </a:r>
            <a:endParaRPr lang="en-US" sz="1259" dirty="0"/>
          </a:p>
          <a:p>
            <a:pPr marL="0" indent="0" algn="ctr">
              <a:lnSpc>
                <a:spcPts val="1574"/>
              </a:lnSpc>
              <a:buNone/>
            </a:pPr>
            <a:r>
              <a:rPr lang="en-US" sz="1259" dirty="0">
                <a:solidFill>
                  <a:srgbClr val="14202E"/>
                </a:solidFill>
                <a:latin typeface="JetBrains Mono" pitchFamily="49" charset="0"/>
                <a:ea typeface="JetBrains Mono" pitchFamily="49" charset="-122"/>
                <a:cs typeface="JetBrains Mono" pitchFamily="49" charset="-120"/>
              </a:rPr>
              <a:t>costs this today</a:t>
            </a:r>
            <a:endParaRPr lang="en-US" sz="1259" dirty="0"/>
          </a:p>
          <a:p>
            <a:pPr marL="0" indent="0" algn="ctr">
              <a:lnSpc>
                <a:spcPts val="1574"/>
              </a:lnSpc>
              <a:buNone/>
            </a:pPr>
            <a:r>
              <a:rPr lang="en-US" sz="1259" dirty="0">
                <a:solidFill>
                  <a:srgbClr val="2B65C8"/>
                </a:solidFill>
                <a:latin typeface="JetBrains Mono" pitchFamily="49" charset="0"/>
                <a:ea typeface="JetBrains Mono" pitchFamily="49" charset="-122"/>
                <a:cs typeface="JetBrains Mono" pitchFamily="49" charset="-120"/>
              </a:rPr>
              <a:t>≡ C₀</a:t>
            </a:r>
            <a:endParaRPr lang="en-US" sz="1259" dirty="0"/>
          </a:p>
        </p:txBody>
      </p:sp>
      <p:sp>
        <p:nvSpPr>
          <p:cNvPr id="9" name="Text 6"/>
          <p:cNvSpPr/>
          <p:nvPr/>
        </p:nvSpPr>
        <p:spPr>
          <a:xfrm>
            <a:off x="8264525" y="2168525"/>
            <a:ext cx="2520950" cy="742950"/>
          </a:xfrm>
          <a:custGeom>
            <a:avLst/>
            <a:gdLst/>
            <a:ahLst/>
            <a:cxnLst/>
            <a:rect l="l" t="t" r="r" b="b"/>
            <a:pathLst>
              <a:path w="2520950" h="742950">
                <a:moveTo>
                  <a:pt x="92075" y="0"/>
                </a:moveTo>
                <a:lnTo>
                  <a:pt x="2428875" y="0"/>
                </a:lnTo>
                <a:arcTo wR="92075" hR="92075" stAng="16200000" swAng="5400000"/>
                <a:lnTo>
                  <a:pt x="2520950" y="650875"/>
                </a:lnTo>
                <a:arcTo wR="92075" hR="92075" stAng="0" swAng="5400000"/>
                <a:lnTo>
                  <a:pt x="92075" y="742950"/>
                </a:lnTo>
                <a:arcTo wR="92075" hR="92075" stAng="5400000" swAng="5400000"/>
                <a:lnTo>
                  <a:pt x="0" y="92075"/>
                </a:lnTo>
                <a:arcTo wR="92075" hR="92075" stAng="10800000" swAng="5400000"/>
                <a:close/>
              </a:path>
            </a:pathLst>
          </a:custGeom>
          <a:solidFill>
            <a:srgbClr val="FDFCF8"/>
          </a:solidFill>
          <a:ln w="19050">
            <a:solidFill>
              <a:srgbClr val="2B65C8"/>
            </a:solidFill>
            <a:prstDash val="solid"/>
          </a:ln>
        </p:spPr>
        <p:txBody>
          <a:bodyPr wrap="square" lIns="37402" tIns="73025" rIns="37402" bIns="47625" rtlCol="0" anchor="t">
            <a:normAutofit/>
          </a:bodyPr>
          <a:lstStyle/>
          <a:p>
            <a:pPr marL="0" indent="0" algn="ctr">
              <a:lnSpc>
                <a:spcPts val="1574"/>
              </a:lnSpc>
              <a:buNone/>
            </a:pPr>
            <a:r>
              <a:rPr lang="en-US" sz="1259" b="1" dirty="0">
                <a:solidFill>
                  <a:srgbClr val="14202E"/>
                </a:solidFill>
                <a:latin typeface="JetBrains Mono" pitchFamily="49" charset="0"/>
                <a:ea typeface="JetBrains Mono" pitchFamily="49" charset="-122"/>
                <a:cs typeface="JetBrains Mono" pitchFamily="49" charset="-120"/>
              </a:rPr>
              <a:t>Δ·110 + 1.02·B</a:t>
            </a:r>
            <a:endParaRPr lang="en-US" sz="1259" dirty="0"/>
          </a:p>
          <a:p>
            <a:pPr marL="0" indent="0" algn="ctr">
              <a:lnSpc>
                <a:spcPts val="1574"/>
              </a:lnSpc>
              <a:buNone/>
            </a:pPr>
            <a:r>
              <a:rPr lang="en-US" sz="1259" dirty="0">
                <a:solidFill>
                  <a:srgbClr val="14202E"/>
                </a:solidFill>
                <a:latin typeface="JetBrains Mono" pitchFamily="49" charset="0"/>
                <a:ea typeface="JetBrains Mono" pitchFamily="49" charset="-122"/>
                <a:cs typeface="JetBrains Mono" pitchFamily="49" charset="-120"/>
              </a:rPr>
              <a:t>must pay</a:t>
            </a:r>
            <a:endParaRPr lang="en-US" sz="1259" dirty="0"/>
          </a:p>
          <a:p>
            <a:pPr marL="0" indent="0" algn="ctr">
              <a:lnSpc>
                <a:spcPts val="1574"/>
              </a:lnSpc>
              <a:buNone/>
            </a:pPr>
            <a:r>
              <a:rPr lang="en-US" sz="1259" dirty="0">
                <a:solidFill>
                  <a:srgbClr val="2B65C8"/>
                </a:solidFill>
                <a:latin typeface="JetBrains Mono" pitchFamily="49" charset="0"/>
                <a:ea typeface="JetBrains Mono" pitchFamily="49" charset="-122"/>
                <a:cs typeface="JetBrains Mono" pitchFamily="49" charset="-120"/>
              </a:rPr>
              <a:t>C↑ = 10</a:t>
            </a:r>
            <a:endParaRPr lang="en-US" sz="1259" dirty="0"/>
          </a:p>
        </p:txBody>
      </p:sp>
      <p:sp>
        <p:nvSpPr>
          <p:cNvPr id="10" name="Text 7"/>
          <p:cNvSpPr/>
          <p:nvPr/>
        </p:nvSpPr>
        <p:spPr>
          <a:xfrm>
            <a:off x="8264525" y="4708525"/>
            <a:ext cx="2520950" cy="742950"/>
          </a:xfrm>
          <a:custGeom>
            <a:avLst/>
            <a:gdLst/>
            <a:ahLst/>
            <a:cxnLst/>
            <a:rect l="l" t="t" r="r" b="b"/>
            <a:pathLst>
              <a:path w="2520950" h="742950">
                <a:moveTo>
                  <a:pt x="92075" y="0"/>
                </a:moveTo>
                <a:lnTo>
                  <a:pt x="2428875" y="0"/>
                </a:lnTo>
                <a:arcTo wR="92075" hR="92075" stAng="16200000" swAng="5400000"/>
                <a:lnTo>
                  <a:pt x="2520950" y="650875"/>
                </a:lnTo>
                <a:arcTo wR="92075" hR="92075" stAng="0" swAng="5400000"/>
                <a:lnTo>
                  <a:pt x="92075" y="742950"/>
                </a:lnTo>
                <a:arcTo wR="92075" hR="92075" stAng="5400000" swAng="5400000"/>
                <a:lnTo>
                  <a:pt x="0" y="92075"/>
                </a:lnTo>
                <a:arcTo wR="92075" hR="92075" stAng="10800000" swAng="5400000"/>
                <a:close/>
              </a:path>
            </a:pathLst>
          </a:custGeom>
          <a:solidFill>
            <a:srgbClr val="FDFCF8"/>
          </a:solidFill>
          <a:ln w="19050">
            <a:solidFill>
              <a:srgbClr val="C4661A"/>
            </a:solidFill>
            <a:prstDash val="solid"/>
          </a:ln>
        </p:spPr>
        <p:txBody>
          <a:bodyPr wrap="square" lIns="37402" tIns="73025" rIns="37402" bIns="47625" rtlCol="0" anchor="t">
            <a:normAutofit/>
          </a:bodyPr>
          <a:lstStyle/>
          <a:p>
            <a:pPr marL="0" indent="0" algn="ctr">
              <a:lnSpc>
                <a:spcPts val="1574"/>
              </a:lnSpc>
              <a:buNone/>
            </a:pPr>
            <a:r>
              <a:rPr lang="en-US" sz="1259" b="1" dirty="0">
                <a:solidFill>
                  <a:srgbClr val="14202E"/>
                </a:solidFill>
                <a:latin typeface="JetBrains Mono" pitchFamily="49" charset="0"/>
                <a:ea typeface="JetBrains Mono" pitchFamily="49" charset="-122"/>
                <a:cs typeface="JetBrains Mono" pitchFamily="49" charset="-120"/>
              </a:rPr>
              <a:t>Δ·90 + 1.02·B</a:t>
            </a:r>
            <a:endParaRPr lang="en-US" sz="1259" dirty="0"/>
          </a:p>
          <a:p>
            <a:pPr marL="0" indent="0" algn="ctr">
              <a:lnSpc>
                <a:spcPts val="1574"/>
              </a:lnSpc>
              <a:buNone/>
            </a:pPr>
            <a:r>
              <a:rPr lang="en-US" sz="1259" dirty="0">
                <a:solidFill>
                  <a:srgbClr val="14202E"/>
                </a:solidFill>
                <a:latin typeface="JetBrains Mono" pitchFamily="49" charset="0"/>
                <a:ea typeface="JetBrains Mono" pitchFamily="49" charset="-122"/>
                <a:cs typeface="JetBrains Mono" pitchFamily="49" charset="-120"/>
              </a:rPr>
              <a:t>must pay</a:t>
            </a:r>
            <a:endParaRPr lang="en-US" sz="1259" dirty="0"/>
          </a:p>
          <a:p>
            <a:pPr marL="0" indent="0" algn="ctr">
              <a:lnSpc>
                <a:spcPts val="1574"/>
              </a:lnSpc>
              <a:buNone/>
            </a:pPr>
            <a:r>
              <a:rPr lang="en-US" sz="1259" dirty="0">
                <a:solidFill>
                  <a:srgbClr val="A9520F"/>
                </a:solidFill>
                <a:latin typeface="JetBrains Mono" pitchFamily="49" charset="0"/>
                <a:ea typeface="JetBrains Mono" pitchFamily="49" charset="-122"/>
                <a:cs typeface="JetBrains Mono" pitchFamily="49" charset="-120"/>
              </a:rPr>
              <a:t>C↓ = 0</a:t>
            </a:r>
            <a:endParaRPr lang="en-US" sz="1259"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8">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02 · ONE STEP · WHY THE CLONE EXISTS</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Why a clone exists: two points define a line</a:t>
            </a:r>
            <a:endParaRPr lang="en-US" sz="3000" dirty="0"/>
          </a:p>
        </p:txBody>
      </p:sp>
      <p:sp>
        <p:nvSpPr>
          <p:cNvPr id="4" name="Text 2"/>
          <p:cNvSpPr/>
          <p:nvPr/>
        </p:nvSpPr>
        <p:spPr>
          <a:xfrm>
            <a:off x="812800" y="1460500"/>
            <a:ext cx="4735322" cy="620224"/>
          </a:xfrm>
          <a:prstGeom prst="rect">
            <a:avLst/>
          </a:prstGeom>
          <a:noFill/>
          <a:ln/>
        </p:spPr>
        <p:txBody>
          <a:bodyPr wrap="square" lIns="0" tIns="0" rIns="0" bIns="0" rtlCol="0" anchor="t">
            <a:noAutofit/>
          </a:bodyPr>
          <a:lstStyle/>
          <a:p>
            <a:pPr marL="0" indent="0" algn="l">
              <a:lnSpc>
                <a:spcPts val="1885"/>
              </a:lnSpc>
              <a:buNone/>
            </a:pPr>
            <a:r>
              <a:rPr lang="en-US" dirty="0">
                <a:solidFill>
                  <a:srgbClr val="44505E"/>
                </a:solidFill>
                <a:latin typeface="IBM Plex Sans" pitchFamily="34" charset="0"/>
                <a:ea typeface="IBM Plex Sans" pitchFamily="34" charset="-122"/>
                <a:cs typeface="IBM Plex Sans" pitchFamily="34" charset="-120"/>
              </a:rPr>
              <a:t>Plot value at the end of the step against the stock price S.</a:t>
            </a:r>
            <a:endParaRPr lang="en-US" dirty="0"/>
          </a:p>
        </p:txBody>
      </p:sp>
      <p:sp>
        <p:nvSpPr>
          <p:cNvPr id="5" name="Text 3"/>
          <p:cNvSpPr/>
          <p:nvPr/>
        </p:nvSpPr>
        <p:spPr>
          <a:xfrm>
            <a:off x="812800" y="2141012"/>
            <a:ext cx="4735322" cy="829928"/>
          </a:xfrm>
          <a:prstGeom prst="rect">
            <a:avLst/>
          </a:prstGeom>
          <a:noFill/>
          <a:ln/>
        </p:spPr>
        <p:txBody>
          <a:bodyPr wrap="square" lIns="0" tIns="0" rIns="0" bIns="0" rtlCol="0" anchor="t">
            <a:noAutofit/>
          </a:bodyPr>
          <a:lstStyle/>
          <a:p>
            <a:pPr marL="0" indent="0" algn="l">
              <a:lnSpc>
                <a:spcPts val="1885"/>
              </a:lnSpc>
              <a:buNone/>
            </a:pPr>
            <a:r>
              <a:rPr lang="en-US" b="1" dirty="0">
                <a:solidFill>
                  <a:srgbClr val="14202E"/>
                </a:solidFill>
                <a:latin typeface="IBM Plex Sans" pitchFamily="34" charset="0"/>
                <a:ea typeface="IBM Plex Sans" pitchFamily="34" charset="-122"/>
                <a:cs typeface="IBM Plex Sans" pitchFamily="34" charset="-120"/>
              </a:rPr>
              <a:t>Shares</a:t>
            </a:r>
            <a:r>
              <a:rPr lang="en-US" dirty="0">
                <a:solidFill>
                  <a:srgbClr val="44505E"/>
                </a:solidFill>
                <a:latin typeface="IBM Plex Sans" pitchFamily="34" charset="0"/>
                <a:ea typeface="IBM Plex Sans" pitchFamily="34" charset="-122"/>
                <a:cs typeface="IBM Plex Sans" pitchFamily="34" charset="-120"/>
              </a:rPr>
              <a:t> give a value proportional to S: the </a:t>
            </a:r>
            <a:r>
              <a:rPr lang="en-US" b="1" dirty="0">
                <a:solidFill>
                  <a:srgbClr val="14202E"/>
                </a:solidFill>
                <a:latin typeface="IBM Plex Sans" pitchFamily="34" charset="0"/>
                <a:ea typeface="IBM Plex Sans" pitchFamily="34" charset="-122"/>
                <a:cs typeface="IBM Plex Sans" pitchFamily="34" charset="-120"/>
              </a:rPr>
              <a:t>slope</a:t>
            </a:r>
            <a:r>
              <a:rPr lang="en-US" dirty="0">
                <a:solidFill>
                  <a:srgbClr val="44505E"/>
                </a:solidFill>
                <a:latin typeface="IBM Plex Sans" pitchFamily="34" charset="0"/>
                <a:ea typeface="IBM Plex Sans" pitchFamily="34" charset="-122"/>
                <a:cs typeface="IBM Plex Sans" pitchFamily="34" charset="-120"/>
              </a:rPr>
              <a:t>. </a:t>
            </a:r>
            <a:r>
              <a:rPr lang="en-US" b="1" dirty="0">
                <a:solidFill>
                  <a:srgbClr val="14202E"/>
                </a:solidFill>
                <a:latin typeface="IBM Plex Sans" pitchFamily="34" charset="0"/>
                <a:ea typeface="IBM Plex Sans" pitchFamily="34" charset="-122"/>
                <a:cs typeface="IBM Plex Sans" pitchFamily="34" charset="-120"/>
              </a:rPr>
              <a:t>Cash</a:t>
            </a:r>
            <a:r>
              <a:rPr lang="en-US" dirty="0">
                <a:solidFill>
                  <a:srgbClr val="44505E"/>
                </a:solidFill>
                <a:latin typeface="IBM Plex Sans" pitchFamily="34" charset="0"/>
                <a:ea typeface="IBM Plex Sans" pitchFamily="34" charset="-122"/>
                <a:cs typeface="IBM Plex Sans" pitchFamily="34" charset="-120"/>
              </a:rPr>
              <a:t> gives the same amount whatever S does: the </a:t>
            </a:r>
            <a:r>
              <a:rPr lang="en-US" b="1" dirty="0">
                <a:solidFill>
                  <a:srgbClr val="14202E"/>
                </a:solidFill>
                <a:latin typeface="IBM Plex Sans" pitchFamily="34" charset="0"/>
                <a:ea typeface="IBM Plex Sans" pitchFamily="34" charset="-122"/>
                <a:cs typeface="IBM Plex Sans" pitchFamily="34" charset="-120"/>
              </a:rPr>
              <a:t>level</a:t>
            </a:r>
            <a:r>
              <a:rPr lang="en-US" dirty="0">
                <a:solidFill>
                  <a:srgbClr val="44505E"/>
                </a:solidFill>
                <a:latin typeface="IBM Plex Sans" pitchFamily="34" charset="0"/>
                <a:ea typeface="IBM Plex Sans" pitchFamily="34" charset="-122"/>
                <a:cs typeface="IBM Plex Sans" pitchFamily="34" charset="-120"/>
              </a:rPr>
              <a:t>.</a:t>
            </a:r>
            <a:endParaRPr lang="en-US" dirty="0"/>
          </a:p>
        </p:txBody>
      </p:sp>
      <p:sp>
        <p:nvSpPr>
          <p:cNvPr id="6" name="Text 4"/>
          <p:cNvSpPr/>
          <p:nvPr/>
        </p:nvSpPr>
        <p:spPr>
          <a:xfrm>
            <a:off x="812800" y="3111133"/>
            <a:ext cx="4597400" cy="520700"/>
          </a:xfrm>
          <a:prstGeom prst="roundRect">
            <a:avLst>
              <a:gd name="adj" fmla="val 14634"/>
            </a:avLst>
          </a:prstGeom>
          <a:solidFill>
            <a:srgbClr val="ECE8DC"/>
          </a:solidFill>
          <a:ln/>
          <a:effectLst>
            <a:outerShdw blurRad="50800" dist="38100" dir="2700000" algn="tl" rotWithShape="0">
              <a:prstClr val="black">
                <a:alpha val="40000"/>
              </a:prstClr>
            </a:outerShdw>
          </a:effectLst>
        </p:spPr>
        <p:txBody>
          <a:bodyPr wrap="square" lIns="104682" tIns="104682" rIns="0" bIns="79282" rtlCol="0" anchor="t">
            <a:normAutofit/>
          </a:bodyPr>
          <a:lstStyle/>
          <a:p>
            <a:pPr marL="0" indent="0" algn="l">
              <a:lnSpc>
                <a:spcPts val="2100"/>
              </a:lnSpc>
              <a:buNone/>
            </a:pPr>
            <a:r>
              <a:rPr lang="en-US" dirty="0">
                <a:solidFill>
                  <a:srgbClr val="14202E"/>
                </a:solidFill>
                <a:latin typeface="JetBrains Mono" pitchFamily="49" charset="0"/>
                <a:ea typeface="JetBrains Mono" pitchFamily="49" charset="-122"/>
                <a:cs typeface="JetBrains Mono" pitchFamily="49" charset="-120"/>
              </a:rPr>
              <a:t>clone(S) = Δ·S + R·B</a:t>
            </a:r>
            <a:endParaRPr lang="en-US" dirty="0"/>
          </a:p>
        </p:txBody>
      </p:sp>
      <p:sp>
        <p:nvSpPr>
          <p:cNvPr id="7" name="Text 5"/>
          <p:cNvSpPr/>
          <p:nvPr/>
        </p:nvSpPr>
        <p:spPr>
          <a:xfrm>
            <a:off x="812800" y="3932306"/>
            <a:ext cx="4735322" cy="639011"/>
          </a:xfrm>
          <a:prstGeom prst="rect">
            <a:avLst/>
          </a:prstGeom>
          <a:noFill/>
          <a:ln/>
        </p:spPr>
        <p:txBody>
          <a:bodyPr wrap="square" lIns="0" tIns="0" rIns="0" bIns="0" rtlCol="0" anchor="t">
            <a:normAutofit/>
          </a:bodyPr>
          <a:lstStyle/>
          <a:p>
            <a:pPr marL="0" indent="0" algn="l">
              <a:lnSpc>
                <a:spcPts val="1885"/>
              </a:lnSpc>
              <a:buNone/>
            </a:pPr>
            <a:r>
              <a:rPr lang="en-US" dirty="0">
                <a:solidFill>
                  <a:srgbClr val="44505E"/>
                </a:solidFill>
                <a:latin typeface="IBM Plex Sans" pitchFamily="34" charset="0"/>
                <a:ea typeface="IBM Plex Sans" pitchFamily="34" charset="-122"/>
                <a:cs typeface="IBM Plex Sans" pitchFamily="34" charset="-120"/>
              </a:rPr>
              <a:t>The option only has to match at two points. Exactly one line passes through both:</a:t>
            </a:r>
            <a:endParaRPr lang="en-US" dirty="0"/>
          </a:p>
        </p:txBody>
      </p:sp>
      <p:sp>
        <p:nvSpPr>
          <p:cNvPr id="8" name="Text 6"/>
          <p:cNvSpPr/>
          <p:nvPr/>
        </p:nvSpPr>
        <p:spPr>
          <a:xfrm>
            <a:off x="812800" y="4711510"/>
            <a:ext cx="4735322" cy="520700"/>
          </a:xfrm>
          <a:prstGeom prst="rect">
            <a:avLst/>
          </a:prstGeom>
          <a:noFill/>
          <a:ln/>
        </p:spPr>
        <p:txBody>
          <a:bodyPr wrap="square" lIns="0" tIns="0" rIns="0" bIns="0" rtlCol="0" anchor="t">
            <a:normAutofit/>
          </a:bodyPr>
          <a:lstStyle/>
          <a:p>
            <a:pPr marL="0" indent="0" algn="l">
              <a:lnSpc>
                <a:spcPts val="1950"/>
              </a:lnSpc>
              <a:buNone/>
            </a:pPr>
            <a:r>
              <a:rPr lang="en-US" dirty="0">
                <a:solidFill>
                  <a:srgbClr val="14202E"/>
                </a:solidFill>
                <a:latin typeface="JetBrains Mono" pitchFamily="49" charset="0"/>
                <a:ea typeface="JetBrains Mono" pitchFamily="49" charset="-122"/>
                <a:cs typeface="JetBrains Mono" pitchFamily="49" charset="-120"/>
              </a:rPr>
              <a:t>slope Δ = 10/20 = 0.5</a:t>
            </a:r>
            <a:endParaRPr lang="en-US" dirty="0"/>
          </a:p>
          <a:p>
            <a:pPr marL="0" indent="0" algn="l">
              <a:lnSpc>
                <a:spcPts val="1950"/>
              </a:lnSpc>
              <a:buNone/>
            </a:pPr>
            <a:r>
              <a:rPr lang="en-US" dirty="0">
                <a:solidFill>
                  <a:srgbClr val="14202E"/>
                </a:solidFill>
                <a:latin typeface="JetBrains Mono" pitchFamily="49" charset="0"/>
                <a:ea typeface="JetBrains Mono" pitchFamily="49" charset="-122"/>
                <a:cs typeface="JetBrains Mono" pitchFamily="49" charset="-120"/>
              </a:rPr>
              <a:t>level R·B = −45 → B = −44.12</a:t>
            </a:r>
            <a:endParaRPr lang="en-US" dirty="0"/>
          </a:p>
        </p:txBody>
      </p:sp>
      <p:sp>
        <p:nvSpPr>
          <p:cNvPr id="9" name="Shape 7"/>
          <p:cNvSpPr/>
          <p:nvPr/>
        </p:nvSpPr>
        <p:spPr>
          <a:xfrm>
            <a:off x="5667375" y="1463675"/>
            <a:ext cx="5708650" cy="4311650"/>
          </a:xfrm>
          <a:prstGeom prst="roundRect">
            <a:avLst>
              <a:gd name="adj" fmla="val 228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10" name="Image 0" descr="Value at end of step against stock price: the call payoff hockey stick, and the straight clone line through the down point (90, 0) and the up point (110, 10)"/>
          <p:cNvPicPr>
            <a:picLocks noChangeAspect="1"/>
          </p:cNvPicPr>
          <p:nvPr/>
        </p:nvPicPr>
        <p:blipFill>
          <a:blip r:embed="rId3"/>
          <a:srcRect/>
          <a:stretch/>
        </p:blipFill>
        <p:spPr>
          <a:xfrm>
            <a:off x="6045200" y="1714500"/>
            <a:ext cx="5080000" cy="3556000"/>
          </a:xfrm>
          <a:prstGeom prst="rect">
            <a:avLst/>
          </a:prstGeom>
        </p:spPr>
      </p:pic>
      <p:sp>
        <p:nvSpPr>
          <p:cNvPr id="11" name="Text 8"/>
          <p:cNvSpPr/>
          <p:nvPr/>
        </p:nvSpPr>
        <p:spPr>
          <a:xfrm>
            <a:off x="5765800" y="53848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80</a:t>
            </a:r>
            <a:endParaRPr lang="en-US" sz="1200" dirty="0"/>
          </a:p>
        </p:txBody>
      </p:sp>
      <p:sp>
        <p:nvSpPr>
          <p:cNvPr id="12" name="Text 9"/>
          <p:cNvSpPr/>
          <p:nvPr/>
        </p:nvSpPr>
        <p:spPr>
          <a:xfrm>
            <a:off x="7035800" y="53848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90</a:t>
            </a:r>
            <a:endParaRPr lang="en-US" sz="1200" dirty="0"/>
          </a:p>
        </p:txBody>
      </p:sp>
      <p:sp>
        <p:nvSpPr>
          <p:cNvPr id="13" name="Text 10"/>
          <p:cNvSpPr/>
          <p:nvPr/>
        </p:nvSpPr>
        <p:spPr>
          <a:xfrm>
            <a:off x="8305800" y="53848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100</a:t>
            </a:r>
            <a:endParaRPr lang="en-US" sz="1200" dirty="0"/>
          </a:p>
        </p:txBody>
      </p:sp>
      <p:sp>
        <p:nvSpPr>
          <p:cNvPr id="14" name="Text 11"/>
          <p:cNvSpPr/>
          <p:nvPr/>
        </p:nvSpPr>
        <p:spPr>
          <a:xfrm>
            <a:off x="9575800" y="53848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110</a:t>
            </a:r>
            <a:endParaRPr lang="en-US" sz="1200" dirty="0"/>
          </a:p>
        </p:txBody>
      </p:sp>
      <p:sp>
        <p:nvSpPr>
          <p:cNvPr id="15" name="Text 12"/>
          <p:cNvSpPr/>
          <p:nvPr/>
        </p:nvSpPr>
        <p:spPr>
          <a:xfrm>
            <a:off x="10845800" y="53848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120</a:t>
            </a:r>
            <a:endParaRPr lang="en-US" sz="1200" dirty="0"/>
          </a:p>
        </p:txBody>
      </p:sp>
      <p:sp>
        <p:nvSpPr>
          <p:cNvPr id="16" name="Text 13"/>
          <p:cNvSpPr/>
          <p:nvPr/>
        </p:nvSpPr>
        <p:spPr>
          <a:xfrm>
            <a:off x="8153400" y="2413000"/>
            <a:ext cx="1574800" cy="256530"/>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2B65C8"/>
                </a:solidFill>
                <a:latin typeface="JetBrains Mono" pitchFamily="49" charset="0"/>
                <a:ea typeface="JetBrains Mono" pitchFamily="49" charset="-122"/>
                <a:cs typeface="JetBrains Mono" pitchFamily="49" charset="-120"/>
              </a:rPr>
              <a:t>up (110, 10)</a:t>
            </a:r>
            <a:endParaRPr lang="en-US" sz="1300" dirty="0"/>
          </a:p>
        </p:txBody>
      </p:sp>
      <p:sp>
        <p:nvSpPr>
          <p:cNvPr id="17" name="Text 14"/>
          <p:cNvSpPr/>
          <p:nvPr/>
        </p:nvSpPr>
        <p:spPr>
          <a:xfrm>
            <a:off x="7442200" y="4254500"/>
            <a:ext cx="17018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9520F"/>
                </a:solidFill>
                <a:latin typeface="JetBrains Mono" pitchFamily="49" charset="0"/>
                <a:ea typeface="JetBrains Mono" pitchFamily="49" charset="-122"/>
                <a:cs typeface="JetBrains Mono" pitchFamily="49" charset="-120"/>
              </a:rPr>
              <a:t>down (90, 0)</a:t>
            </a:r>
            <a:endParaRPr lang="en-US" sz="1300" dirty="0"/>
          </a:p>
        </p:txBody>
      </p:sp>
      <p:sp>
        <p:nvSpPr>
          <p:cNvPr id="18" name="Text 15"/>
          <p:cNvSpPr/>
          <p:nvPr/>
        </p:nvSpPr>
        <p:spPr>
          <a:xfrm>
            <a:off x="6197600" y="1816100"/>
            <a:ext cx="2877820" cy="482600"/>
          </a:xfrm>
          <a:prstGeom prst="rect">
            <a:avLst/>
          </a:prstGeom>
          <a:noFill/>
          <a:ln/>
        </p:spPr>
        <p:txBody>
          <a:bodyPr wrap="square" lIns="0" tIns="0" rIns="0" bIns="0" rtlCol="0" anchor="t">
            <a:normAutofit/>
          </a:bodyPr>
          <a:lstStyle/>
          <a:p>
            <a:pPr marL="0" indent="0" algn="l">
              <a:lnSpc>
                <a:spcPts val="1800"/>
              </a:lnSpc>
              <a:buNone/>
            </a:pPr>
            <a:r>
              <a:rPr lang="en-US" sz="1200" b="1" dirty="0">
                <a:solidFill>
                  <a:srgbClr val="14202E"/>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clone: 0.5·S − 45</a:t>
            </a:r>
            <a:endParaRPr lang="en-US" sz="1200" dirty="0"/>
          </a:p>
          <a:p>
            <a:pPr marL="0" indent="0" algn="l">
              <a:lnSpc>
                <a:spcPts val="1800"/>
              </a:lnSpc>
              <a:buNone/>
            </a:pPr>
            <a:r>
              <a:rPr lang="en-US" sz="1200" dirty="0">
                <a:solidFill>
                  <a:srgbClr val="6A7179"/>
                </a:solidFill>
                <a:latin typeface="IBM Plex Sans" pitchFamily="34" charset="0"/>
                <a:ea typeface="IBM Plex Sans" pitchFamily="34" charset="-122"/>
                <a:cs typeface="IBM Plex Sans" pitchFamily="34" charset="-120"/>
              </a:rPr>
              <a:t>╍ real call payoff max(S − 100, 0)</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9">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02 · ONE STEP</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Solve it: the clone costs 5.88, so the option does too</a:t>
            </a:r>
            <a:endParaRPr lang="en-US" sz="3000" dirty="0"/>
          </a:p>
        </p:txBody>
      </p:sp>
      <p:sp>
        <p:nvSpPr>
          <p:cNvPr id="4" name="Shape 2"/>
          <p:cNvSpPr/>
          <p:nvPr/>
        </p:nvSpPr>
        <p:spPr>
          <a:xfrm>
            <a:off x="815975" y="1539875"/>
            <a:ext cx="3384550" cy="1739156"/>
          </a:xfrm>
          <a:prstGeom prst="roundRect">
            <a:avLst>
              <a:gd name="adj" fmla="val 5659"/>
            </a:avLst>
          </a:prstGeom>
          <a:solidFill>
            <a:srgbClr val="FDFCF8"/>
          </a:solidFill>
          <a:ln w="6350">
            <a:solidFill>
              <a:srgbClr val="DDD7C6"/>
            </a:solidFill>
            <a:prstDash val="solid"/>
          </a:ln>
        </p:spPr>
        <p:txBody>
          <a:bodyPr/>
          <a:lstStyle/>
          <a:p>
            <a:endParaRPr lang="en-SE"/>
          </a:p>
        </p:txBody>
      </p:sp>
      <p:sp>
        <p:nvSpPr>
          <p:cNvPr id="5" name="Text 3"/>
          <p:cNvSpPr/>
          <p:nvPr/>
        </p:nvSpPr>
        <p:spPr>
          <a:xfrm>
            <a:off x="1047750" y="1771650"/>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A7179"/>
                </a:solidFill>
                <a:latin typeface="IBM Plex Sans" pitchFamily="34" charset="0"/>
                <a:ea typeface="IBM Plex Sans" pitchFamily="34" charset="-122"/>
                <a:cs typeface="IBM Plex Sans" pitchFamily="34" charset="-120"/>
              </a:rPr>
              <a:t>SHARES</a:t>
            </a:r>
            <a:endParaRPr lang="en-US" sz="1200" dirty="0"/>
          </a:p>
        </p:txBody>
      </p:sp>
      <p:sp>
        <p:nvSpPr>
          <p:cNvPr id="6" name="Text 4"/>
          <p:cNvSpPr/>
          <p:nvPr/>
        </p:nvSpPr>
        <p:spPr>
          <a:xfrm>
            <a:off x="1047750" y="2061170"/>
            <a:ext cx="3008630"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4202E"/>
                </a:solidFill>
                <a:latin typeface="JetBrains Mono" pitchFamily="49" charset="0"/>
                <a:ea typeface="JetBrains Mono" pitchFamily="49" charset="-122"/>
                <a:cs typeface="JetBrains Mono" pitchFamily="49" charset="-120"/>
              </a:rPr>
              <a:t>0.50</a:t>
            </a:r>
            <a:endParaRPr lang="en-US" sz="4800" dirty="0"/>
          </a:p>
        </p:txBody>
      </p:sp>
      <p:sp>
        <p:nvSpPr>
          <p:cNvPr id="7" name="Text 5"/>
          <p:cNvSpPr/>
          <p:nvPr/>
        </p:nvSpPr>
        <p:spPr>
          <a:xfrm>
            <a:off x="1047750" y="2807891"/>
            <a:ext cx="3008630" cy="26476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JetBrains Mono" pitchFamily="49" charset="0"/>
                <a:ea typeface="JetBrains Mono" pitchFamily="49" charset="-122"/>
                <a:cs typeface="JetBrains Mono" pitchFamily="49" charset="-120"/>
              </a:rPr>
              <a:t>Δ = (10 − 0)/(110 − 90)</a:t>
            </a:r>
            <a:endParaRPr lang="en-US" sz="1600" dirty="0"/>
          </a:p>
        </p:txBody>
      </p:sp>
      <p:sp>
        <p:nvSpPr>
          <p:cNvPr id="8" name="Shape 6"/>
          <p:cNvSpPr/>
          <p:nvPr/>
        </p:nvSpPr>
        <p:spPr>
          <a:xfrm>
            <a:off x="4410075" y="1539875"/>
            <a:ext cx="3384550" cy="1739156"/>
          </a:xfrm>
          <a:prstGeom prst="roundRect">
            <a:avLst>
              <a:gd name="adj" fmla="val 5659"/>
            </a:avLst>
          </a:prstGeom>
          <a:solidFill>
            <a:srgbClr val="FDFCF8"/>
          </a:solidFill>
          <a:ln w="6350">
            <a:solidFill>
              <a:srgbClr val="DDD7C6"/>
            </a:solidFill>
            <a:prstDash val="solid"/>
          </a:ln>
        </p:spPr>
        <p:txBody>
          <a:bodyPr/>
          <a:lstStyle/>
          <a:p>
            <a:endParaRPr lang="en-SE"/>
          </a:p>
        </p:txBody>
      </p:sp>
      <p:sp>
        <p:nvSpPr>
          <p:cNvPr id="9" name="Text 7"/>
          <p:cNvSpPr/>
          <p:nvPr/>
        </p:nvSpPr>
        <p:spPr>
          <a:xfrm>
            <a:off x="4641850" y="1771650"/>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A7179"/>
                </a:solidFill>
                <a:latin typeface="IBM Plex Sans" pitchFamily="34" charset="0"/>
                <a:ea typeface="IBM Plex Sans" pitchFamily="34" charset="-122"/>
                <a:cs typeface="IBM Plex Sans" pitchFamily="34" charset="-120"/>
              </a:rPr>
              <a:t>CASH (BORROWED)</a:t>
            </a:r>
            <a:endParaRPr lang="en-US" sz="1200" dirty="0"/>
          </a:p>
        </p:txBody>
      </p:sp>
      <p:sp>
        <p:nvSpPr>
          <p:cNvPr id="10" name="Text 8"/>
          <p:cNvSpPr/>
          <p:nvPr/>
        </p:nvSpPr>
        <p:spPr>
          <a:xfrm>
            <a:off x="4641850" y="2061170"/>
            <a:ext cx="3008630"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A9520F"/>
                </a:solidFill>
                <a:latin typeface="JetBrains Mono" pitchFamily="49" charset="0"/>
                <a:ea typeface="JetBrains Mono" pitchFamily="49" charset="-122"/>
                <a:cs typeface="JetBrains Mono" pitchFamily="49" charset="-120"/>
              </a:rPr>
              <a:t>−44.12</a:t>
            </a:r>
            <a:endParaRPr lang="en-US" sz="4800" dirty="0"/>
          </a:p>
        </p:txBody>
      </p:sp>
      <p:sp>
        <p:nvSpPr>
          <p:cNvPr id="11" name="Text 9"/>
          <p:cNvSpPr/>
          <p:nvPr/>
        </p:nvSpPr>
        <p:spPr>
          <a:xfrm>
            <a:off x="4641850" y="2807891"/>
            <a:ext cx="3008630" cy="26476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JetBrains Mono" pitchFamily="49" charset="0"/>
                <a:ea typeface="JetBrains Mono" pitchFamily="49" charset="-122"/>
                <a:cs typeface="JetBrains Mono" pitchFamily="49" charset="-120"/>
              </a:rPr>
              <a:t>B = (0 − 0.5·90)/1.02</a:t>
            </a:r>
            <a:endParaRPr lang="en-US" sz="1600" dirty="0"/>
          </a:p>
        </p:txBody>
      </p:sp>
      <p:sp>
        <p:nvSpPr>
          <p:cNvPr id="12" name="Shape 10"/>
          <p:cNvSpPr/>
          <p:nvPr/>
        </p:nvSpPr>
        <p:spPr>
          <a:xfrm>
            <a:off x="8001000" y="1536700"/>
            <a:ext cx="3378200" cy="1745506"/>
          </a:xfrm>
          <a:prstGeom prst="roundRect">
            <a:avLst>
              <a:gd name="adj" fmla="val 5821"/>
            </a:avLst>
          </a:prstGeom>
          <a:solidFill>
            <a:srgbClr val="14202E"/>
          </a:solidFill>
          <a:ln/>
        </p:spPr>
        <p:txBody>
          <a:bodyPr/>
          <a:lstStyle/>
          <a:p>
            <a:endParaRPr lang="en-SE"/>
          </a:p>
        </p:txBody>
      </p:sp>
      <p:sp>
        <p:nvSpPr>
          <p:cNvPr id="13" name="Text 11"/>
          <p:cNvSpPr/>
          <p:nvPr/>
        </p:nvSpPr>
        <p:spPr>
          <a:xfrm>
            <a:off x="8229600" y="1765300"/>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3A33B"/>
                </a:solidFill>
                <a:latin typeface="IBM Plex Sans" pitchFamily="34" charset="0"/>
                <a:ea typeface="IBM Plex Sans" pitchFamily="34" charset="-122"/>
                <a:cs typeface="IBM Plex Sans" pitchFamily="34" charset="-120"/>
              </a:rPr>
              <a:t>OPTION PRICE</a:t>
            </a:r>
            <a:endParaRPr lang="en-US" sz="1200" dirty="0"/>
          </a:p>
        </p:txBody>
      </p:sp>
      <p:sp>
        <p:nvSpPr>
          <p:cNvPr id="14" name="Text 12"/>
          <p:cNvSpPr/>
          <p:nvPr/>
        </p:nvSpPr>
        <p:spPr>
          <a:xfrm>
            <a:off x="8229600" y="2054820"/>
            <a:ext cx="3008630"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5F3EC"/>
                </a:solidFill>
                <a:latin typeface="JetBrains Mono" pitchFamily="49" charset="0"/>
                <a:ea typeface="JetBrains Mono" pitchFamily="49" charset="-122"/>
                <a:cs typeface="JetBrains Mono" pitchFamily="49" charset="-120"/>
              </a:rPr>
              <a:t>5.88</a:t>
            </a:r>
            <a:endParaRPr lang="en-US" sz="4800" dirty="0"/>
          </a:p>
        </p:txBody>
      </p:sp>
      <p:sp>
        <p:nvSpPr>
          <p:cNvPr id="15" name="Text 13"/>
          <p:cNvSpPr/>
          <p:nvPr/>
        </p:nvSpPr>
        <p:spPr>
          <a:xfrm>
            <a:off x="8229600" y="2801541"/>
            <a:ext cx="3008630" cy="26476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BFCAD6"/>
                </a:solidFill>
                <a:latin typeface="JetBrains Mono" pitchFamily="49" charset="0"/>
                <a:ea typeface="JetBrains Mono" pitchFamily="49" charset="-122"/>
                <a:cs typeface="JetBrains Mono" pitchFamily="49" charset="-120"/>
              </a:rPr>
              <a:t>C₀ = 0.5·100 − 44.12</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22185344"/>
              </p:ext>
            </p:extLst>
          </p:nvPr>
        </p:nvGraphicFramePr>
        <p:xfrm>
          <a:off x="825500" y="3599706"/>
          <a:ext cx="10553700" cy="1158033"/>
        </p:xfrm>
        <a:graphic>
          <a:graphicData uri="http://schemas.openxmlformats.org/drawingml/2006/table">
            <a:tbl>
              <a:tblPr/>
              <a:tblGrid>
                <a:gridCol w="2321814">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2743962">
                  <a:extLst>
                    <a:ext uri="{9D8B030D-6E8A-4147-A177-3AD203B41FA5}">
                      <a16:colId xmlns:a16="http://schemas.microsoft.com/office/drawing/2014/main" val="20002"/>
                    </a:ext>
                  </a:extLst>
                </a:gridCol>
                <a:gridCol w="2321814">
                  <a:extLst>
                    <a:ext uri="{9D8B030D-6E8A-4147-A177-3AD203B41FA5}">
                      <a16:colId xmlns:a16="http://schemas.microsoft.com/office/drawing/2014/main" val="20003"/>
                    </a:ext>
                  </a:extLst>
                </a:gridCol>
              </a:tblGrid>
              <a:tr h="386011">
                <a:tc>
                  <a:txBody>
                    <a:bodyPr/>
                    <a:lstStyle/>
                    <a:p>
                      <a:pPr marL="0" indent="0">
                        <a:lnSpc>
                          <a:spcPts val="1960"/>
                        </a:lnSpc>
                        <a:buNone/>
                      </a:pPr>
                      <a:r>
                        <a:rPr lang="en-US" sz="1800" b="1" dirty="0">
                          <a:solidFill>
                            <a:srgbClr val="14202E"/>
                          </a:solidFill>
                          <a:latin typeface="JetBrains Mono" pitchFamily="49" charset="0"/>
                          <a:ea typeface="JetBrains Mono" pitchFamily="49" charset="-122"/>
                          <a:cs typeface="JetBrains Mono" pitchFamily="49" charset="-120"/>
                        </a:rPr>
                        <a:t>Check</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960"/>
                        </a:lnSpc>
                        <a:buNone/>
                      </a:pPr>
                      <a:r>
                        <a:rPr lang="en-US" sz="1800" b="1" dirty="0">
                          <a:solidFill>
                            <a:srgbClr val="14202E"/>
                          </a:solidFill>
                          <a:latin typeface="JetBrains Mono" pitchFamily="49" charset="0"/>
                          <a:ea typeface="JetBrains Mono" pitchFamily="49" charset="-122"/>
                          <a:cs typeface="JetBrains Mono" pitchFamily="49" charset="-120"/>
                        </a:rPr>
                        <a:t>Shares</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960"/>
                        </a:lnSpc>
                        <a:buNone/>
                      </a:pPr>
                      <a:r>
                        <a:rPr lang="en-US" sz="1800" b="1" dirty="0">
                          <a:solidFill>
                            <a:srgbClr val="14202E"/>
                          </a:solidFill>
                          <a:latin typeface="JetBrains Mono" pitchFamily="49" charset="0"/>
                          <a:ea typeface="JetBrains Mono" pitchFamily="49" charset="-122"/>
                          <a:cs typeface="JetBrains Mono" pitchFamily="49" charset="-120"/>
                        </a:rPr>
                        <a:t>Repay loan</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960"/>
                        </a:lnSpc>
                        <a:buNone/>
                      </a:pPr>
                      <a:r>
                        <a:rPr lang="en-US" sz="1800" b="1" dirty="0">
                          <a:solidFill>
                            <a:srgbClr val="14202E"/>
                          </a:solidFill>
                          <a:latin typeface="JetBrains Mono" pitchFamily="49" charset="0"/>
                          <a:ea typeface="JetBrains Mono" pitchFamily="49" charset="-122"/>
                          <a:cs typeface="JetBrains Mono" pitchFamily="49" charset="-120"/>
                        </a:rPr>
                        <a:t>Portfolio</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800" dirty="0">
                          <a:solidFill>
                            <a:srgbClr val="2B65C8"/>
                          </a:solidFill>
                          <a:latin typeface="JetBrains Mono" pitchFamily="49" charset="0"/>
                          <a:ea typeface="JetBrains Mono" pitchFamily="49" charset="-122"/>
                          <a:cs typeface="JetBrains Mono" pitchFamily="49" charset="-120"/>
                        </a:rPr>
                        <a:t>Up (S = 110)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0.5 × 110 = 55.00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−44.12 × 1.02 = −45</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10 = C↑ ✓</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800" dirty="0">
                          <a:solidFill>
                            <a:srgbClr val="A9520F"/>
                          </a:solidFill>
                          <a:latin typeface="JetBrains Mono" pitchFamily="49" charset="0"/>
                          <a:ea typeface="JetBrains Mono" pitchFamily="49" charset="-122"/>
                          <a:cs typeface="JetBrains Mono" pitchFamily="49" charset="-120"/>
                        </a:rPr>
                        <a:t>Down (S = 90)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0.5 × 90 = 45.00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−44.12 × 1.02 = −45</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0 = C↓ ✓</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0">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02 · ONE STEP · NO-ARBITRAGE</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If the price is wrong, a money machine appears</a:t>
            </a:r>
            <a:endParaRPr lang="en-US" sz="3000" dirty="0"/>
          </a:p>
        </p:txBody>
      </p:sp>
      <p:sp>
        <p:nvSpPr>
          <p:cNvPr id="4" name="Text 2"/>
          <p:cNvSpPr/>
          <p:nvPr/>
        </p:nvSpPr>
        <p:spPr>
          <a:xfrm>
            <a:off x="812800" y="1460500"/>
            <a:ext cx="10883392" cy="283170"/>
          </a:xfrm>
          <a:prstGeom prst="rect">
            <a:avLst/>
          </a:prstGeom>
          <a:noFill/>
          <a:ln/>
        </p:spPr>
        <p:txBody>
          <a:bodyPr wrap="square" lIns="0" tIns="0" rIns="0" bIns="0" rtlCol="0" anchor="t">
            <a:norm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Suppose someone quotes the option at </a:t>
            </a:r>
            <a:r>
              <a:rPr lang="en-US" b="1" dirty="0">
                <a:solidFill>
                  <a:srgbClr val="14202E"/>
                </a:solidFill>
                <a:latin typeface="IBM Plex Sans" pitchFamily="34" charset="0"/>
                <a:ea typeface="IBM Plex Sans" pitchFamily="34" charset="-122"/>
                <a:cs typeface="IBM Plex Sans" pitchFamily="34" charset="-120"/>
              </a:rPr>
              <a:t>6.50</a:t>
            </a:r>
            <a:r>
              <a:rPr lang="en-US" dirty="0">
                <a:solidFill>
                  <a:srgbClr val="44505E"/>
                </a:solidFill>
                <a:latin typeface="IBM Plex Sans" pitchFamily="34" charset="0"/>
                <a:ea typeface="IBM Plex Sans" pitchFamily="34" charset="-122"/>
                <a:cs typeface="IBM Plex Sans" pitchFamily="34" charset="-120"/>
              </a:rPr>
              <a:t> instead of 5.88. Sell it, and buy the clone:</a:t>
            </a:r>
            <a:endParaRPr lang="en-US" dirty="0"/>
          </a:p>
        </p:txBody>
      </p:sp>
      <p:graphicFrame>
        <p:nvGraphicFramePr>
          <p:cNvPr id="5" name="Table 0"/>
          <p:cNvGraphicFramePr>
            <a:graphicFrameLocks noGrp="1"/>
          </p:cNvGraphicFramePr>
          <p:nvPr>
            <p:extLst>
              <p:ext uri="{D42A27DB-BD31-4B8C-83A1-F6EECF244321}">
                <p14:modId xmlns:p14="http://schemas.microsoft.com/office/powerpoint/2010/main" val="2172673328"/>
              </p:ext>
            </p:extLst>
          </p:nvPr>
        </p:nvGraphicFramePr>
        <p:xfrm>
          <a:off x="825500" y="1959570"/>
          <a:ext cx="10553700" cy="1930055"/>
        </p:xfrm>
        <a:graphic>
          <a:graphicData uri="http://schemas.openxmlformats.org/drawingml/2006/table">
            <a:tbl>
              <a:tblPr/>
              <a:tblGrid>
                <a:gridCol w="3588258">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gridCol w="2321814">
                  <a:extLst>
                    <a:ext uri="{9D8B030D-6E8A-4147-A177-3AD203B41FA5}">
                      <a16:colId xmlns:a16="http://schemas.microsoft.com/office/drawing/2014/main" val="20003"/>
                    </a:ext>
                  </a:extLst>
                </a:gridCol>
              </a:tblGrid>
              <a:tr h="386011">
                <a:tc>
                  <a:txBody>
                    <a:bodyPr/>
                    <a:lstStyle/>
                    <a:p>
                      <a:pPr marL="0" indent="0">
                        <a:lnSpc>
                          <a:spcPts val="1960"/>
                        </a:lnSpc>
                        <a:buNone/>
                      </a:pPr>
                      <a:r>
                        <a:rPr lang="en-US" sz="1800" b="1" dirty="0">
                          <a:solidFill>
                            <a:srgbClr val="14202E"/>
                          </a:solidFill>
                          <a:latin typeface="JetBrains Mono" pitchFamily="49" charset="0"/>
                          <a:ea typeface="JetBrains Mono" pitchFamily="49" charset="-122"/>
                          <a:cs typeface="JetBrains Mono" pitchFamily="49" charset="-120"/>
                        </a:rPr>
                        <a:t>Trade</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gn="r">
                        <a:lnSpc>
                          <a:spcPts val="1960"/>
                        </a:lnSpc>
                        <a:buNone/>
                      </a:pPr>
                      <a:r>
                        <a:rPr lang="en-US" sz="1800" b="1" dirty="0">
                          <a:solidFill>
                            <a:srgbClr val="14202E"/>
                          </a:solidFill>
                          <a:latin typeface="JetBrains Mono" pitchFamily="49" charset="0"/>
                          <a:ea typeface="JetBrains Mono" pitchFamily="49" charset="-122"/>
                          <a:cs typeface="JetBrains Mono" pitchFamily="49" charset="-120"/>
                        </a:rPr>
                        <a:t>Today</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gn="r">
                        <a:lnSpc>
                          <a:spcPts val="1960"/>
                        </a:lnSpc>
                        <a:buNone/>
                      </a:pPr>
                      <a:r>
                        <a:rPr lang="en-US" sz="1800" b="1" dirty="0">
                          <a:solidFill>
                            <a:srgbClr val="2B65C8"/>
                          </a:solidFill>
                          <a:latin typeface="JetBrains Mono" pitchFamily="49" charset="0"/>
                          <a:ea typeface="JetBrains Mono" pitchFamily="49" charset="-122"/>
                          <a:cs typeface="JetBrains Mono" pitchFamily="49" charset="-120"/>
                        </a:rPr>
                        <a:t>Up: S = 110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gn="r">
                        <a:lnSpc>
                          <a:spcPts val="1960"/>
                        </a:lnSpc>
                        <a:buNone/>
                      </a:pPr>
                      <a:r>
                        <a:rPr lang="en-US" sz="1800" b="1" dirty="0">
                          <a:solidFill>
                            <a:srgbClr val="A9520F"/>
                          </a:solidFill>
                          <a:latin typeface="JetBrains Mono" pitchFamily="49" charset="0"/>
                          <a:ea typeface="JetBrains Mono" pitchFamily="49" charset="-122"/>
                          <a:cs typeface="JetBrains Mono" pitchFamily="49" charset="-120"/>
                        </a:rPr>
                        <a:t>Down: S = 90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Sell 1 option</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+6.50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−10.00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0.00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Buy 0.5 share</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gn="r">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−50.00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gn="r">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+55.00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gn="r">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+45.00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2"/>
                  </a:ext>
                </a:extLst>
              </a:tr>
              <a:tr h="386011">
                <a:tc>
                  <a:txBody>
                    <a:bodyPr/>
                    <a:lstStyle/>
                    <a:p>
                      <a:pPr marL="0" indent="0">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Borrow cash</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+44.12</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−45.00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−45.00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Net</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8BEC8"/>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8BEC8"/>
                      </a:solidFill>
                      <a:prstDash val="solid"/>
                      <a:round/>
                      <a:headEnd type="none" w="med" len="med"/>
                      <a:tailEnd type="none" w="med" len="med"/>
                    </a:lnB>
                    <a:solidFill>
                      <a:srgbClr val="E6EEFB"/>
                    </a:solidFill>
                  </a:tcPr>
                </a:tc>
                <a:tc>
                  <a:txBody>
                    <a:bodyPr/>
                    <a:lstStyle/>
                    <a:p>
                      <a:pPr marL="0" indent="0" algn="r">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+0.62</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B8BEC8"/>
                      </a:solidFill>
                      <a:prstDash val="solid"/>
                      <a:round/>
                      <a:headEnd type="none" w="med" len="med"/>
                      <a:tailEnd type="none" w="med" len="med"/>
                    </a:lnL>
                    <a:lnR w="12700" cap="flat" cmpd="sng" algn="ctr">
                      <a:solidFill>
                        <a:srgbClr val="B8BEC8"/>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8BEC8"/>
                      </a:solidFill>
                      <a:prstDash val="solid"/>
                      <a:round/>
                      <a:headEnd type="none" w="med" len="med"/>
                      <a:tailEnd type="none" w="med" len="med"/>
                    </a:lnB>
                    <a:solidFill>
                      <a:srgbClr val="E6EEFB"/>
                    </a:solidFill>
                  </a:tcPr>
                </a:tc>
                <a:tc>
                  <a:txBody>
                    <a:bodyPr/>
                    <a:lstStyle/>
                    <a:p>
                      <a:pPr marL="0" indent="0" algn="r">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0.00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B8BEC8"/>
                      </a:solidFill>
                      <a:prstDash val="solid"/>
                      <a:round/>
                      <a:headEnd type="none" w="med" len="med"/>
                      <a:tailEnd type="none" w="med" len="med"/>
                    </a:lnL>
                    <a:lnR w="12700" cap="flat" cmpd="sng" algn="ctr">
                      <a:solidFill>
                        <a:srgbClr val="B8BEC8"/>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8BEC8"/>
                      </a:solidFill>
                      <a:prstDash val="solid"/>
                      <a:round/>
                      <a:headEnd type="none" w="med" len="med"/>
                      <a:tailEnd type="none" w="med" len="med"/>
                    </a:lnB>
                    <a:solidFill>
                      <a:srgbClr val="E6EEFB"/>
                    </a:solidFill>
                  </a:tcPr>
                </a:tc>
                <a:tc>
                  <a:txBody>
                    <a:bodyPr/>
                    <a:lstStyle/>
                    <a:p>
                      <a:pPr marL="0" indent="0" algn="r">
                        <a:lnSpc>
                          <a:spcPts val="1960"/>
                        </a:lnSpc>
                        <a:buNone/>
                      </a:pPr>
                      <a:r>
                        <a:rPr lang="en-US" sz="1800" dirty="0">
                          <a:solidFill>
                            <a:srgbClr val="14202E"/>
                          </a:solidFill>
                          <a:latin typeface="JetBrains Mono" pitchFamily="49" charset="0"/>
                          <a:ea typeface="JetBrains Mono" pitchFamily="49" charset="-122"/>
                          <a:cs typeface="JetBrains Mono" pitchFamily="49" charset="-120"/>
                        </a:rPr>
                        <a:t>0.00</a:t>
                      </a:r>
                      <a:endParaRPr lang="en-US" sz="1800" dirty="0">
                        <a:latin typeface="JetBrains Mono" charset="0"/>
                        <a:ea typeface="JetBrains Mono" charset="0"/>
                        <a:cs typeface="JetBrains Mono" charset="0"/>
                      </a:endParaRPr>
                    </a:p>
                  </a:txBody>
                  <a:tcPr marL="62230" marR="62230" marT="62230" marB="62230">
                    <a:lnL w="12700" cap="flat" cmpd="sng" algn="ctr">
                      <a:solidFill>
                        <a:srgbClr val="B8BEC8"/>
                      </a:solidFill>
                      <a:prstDash val="solid"/>
                      <a:round/>
                      <a:headEnd type="none" w="med" len="med"/>
                      <a:tailEnd type="none" w="med" len="med"/>
                    </a:lnL>
                    <a:lnR w="12700" cap="flat" cmpd="sng" algn="ctr">
                      <a:solidFill>
                        <a:srgbClr val="B8BEC8"/>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8BEC8"/>
                      </a:solidFill>
                      <a:prstDash val="solid"/>
                      <a:round/>
                      <a:headEnd type="none" w="med" len="med"/>
                      <a:tailEnd type="none" w="med" len="med"/>
                    </a:lnB>
                    <a:solidFill>
                      <a:srgbClr val="E6EEFB"/>
                    </a:solidFill>
                  </a:tcPr>
                </a:tc>
                <a:extLst>
                  <a:ext uri="{0D108BD9-81ED-4DB2-BD59-A6C34878D82A}">
                    <a16:rowId xmlns:a16="http://schemas.microsoft.com/office/drawing/2014/main" val="10004"/>
                  </a:ext>
                </a:extLst>
              </a:tr>
            </a:tbl>
          </a:graphicData>
        </a:graphic>
      </p:graphicFrame>
      <p:sp>
        <p:nvSpPr>
          <p:cNvPr id="6" name="Shape 3"/>
          <p:cNvSpPr/>
          <p:nvPr/>
        </p:nvSpPr>
        <p:spPr>
          <a:xfrm>
            <a:off x="831850" y="4580446"/>
            <a:ext cx="0" cy="887661"/>
          </a:xfrm>
          <a:prstGeom prst="line">
            <a:avLst/>
          </a:prstGeom>
          <a:noFill/>
          <a:ln w="38100">
            <a:solidFill>
              <a:srgbClr val="2B65C8"/>
            </a:solidFill>
            <a:prstDash val="solid"/>
          </a:ln>
        </p:spPr>
        <p:txBody>
          <a:bodyPr/>
          <a:lstStyle/>
          <a:p>
            <a:endParaRPr lang="en-SE" sz="2000"/>
          </a:p>
        </p:txBody>
      </p:sp>
      <p:sp>
        <p:nvSpPr>
          <p:cNvPr id="7" name="Text 4"/>
          <p:cNvSpPr/>
          <p:nvPr/>
        </p:nvSpPr>
        <p:spPr>
          <a:xfrm>
            <a:off x="1028700" y="4631246"/>
            <a:ext cx="5114671"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14202E"/>
                </a:solidFill>
                <a:latin typeface="IBM Plex Sans" pitchFamily="34" charset="0"/>
                <a:ea typeface="IBM Plex Sans" pitchFamily="34" charset="-122"/>
                <a:cs typeface="IBM Plex Sans" pitchFamily="34" charset="-120"/>
              </a:rPr>
              <a:t>Profit now, no risk later</a:t>
            </a:r>
            <a:endParaRPr lang="en-US" dirty="0"/>
          </a:p>
        </p:txBody>
      </p:sp>
      <p:sp>
        <p:nvSpPr>
          <p:cNvPr id="8" name="Text 5"/>
          <p:cNvSpPr/>
          <p:nvPr/>
        </p:nvSpPr>
        <p:spPr>
          <a:xfrm>
            <a:off x="1028700" y="4938576"/>
            <a:ext cx="5114671" cy="504130"/>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44505E"/>
                </a:solidFill>
                <a:latin typeface="IBM Plex Sans" pitchFamily="34" charset="0"/>
                <a:ea typeface="IBM Plex Sans" pitchFamily="34" charset="-122"/>
                <a:cs typeface="IBM Plex Sans" pitchFamily="34" charset="-120"/>
              </a:rPr>
              <a:t>Whatever the stock does, the clone pays off the option exactly. The 0.62 is free.</a:t>
            </a:r>
            <a:endParaRPr lang="en-US" sz="1400" dirty="0"/>
          </a:p>
        </p:txBody>
      </p:sp>
      <p:sp>
        <p:nvSpPr>
          <p:cNvPr id="9" name="Shape 6"/>
          <p:cNvSpPr/>
          <p:nvPr/>
        </p:nvSpPr>
        <p:spPr>
          <a:xfrm>
            <a:off x="6216650" y="4580446"/>
            <a:ext cx="0" cy="887661"/>
          </a:xfrm>
          <a:prstGeom prst="line">
            <a:avLst/>
          </a:prstGeom>
          <a:noFill/>
          <a:ln w="38100">
            <a:solidFill>
              <a:srgbClr val="C4661A"/>
            </a:solidFill>
            <a:prstDash val="solid"/>
          </a:ln>
        </p:spPr>
        <p:txBody>
          <a:bodyPr/>
          <a:lstStyle/>
          <a:p>
            <a:endParaRPr lang="en-SE" sz="2000"/>
          </a:p>
        </p:txBody>
      </p:sp>
      <p:sp>
        <p:nvSpPr>
          <p:cNvPr id="10" name="Text 7"/>
          <p:cNvSpPr/>
          <p:nvPr/>
        </p:nvSpPr>
        <p:spPr>
          <a:xfrm>
            <a:off x="6413500" y="4631246"/>
            <a:ext cx="5114671"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14202E"/>
                </a:solidFill>
                <a:latin typeface="IBM Plex Sans" pitchFamily="34" charset="0"/>
                <a:ea typeface="IBM Plex Sans" pitchFamily="34" charset="-122"/>
                <a:cs typeface="IBM Plex Sans" pitchFamily="34" charset="-120"/>
              </a:rPr>
              <a:t>Too cheap? Run it in reverse</a:t>
            </a:r>
            <a:endParaRPr lang="en-US" dirty="0"/>
          </a:p>
        </p:txBody>
      </p:sp>
      <p:sp>
        <p:nvSpPr>
          <p:cNvPr id="11" name="Text 8"/>
          <p:cNvSpPr/>
          <p:nvPr/>
        </p:nvSpPr>
        <p:spPr>
          <a:xfrm>
            <a:off x="6413500" y="4938576"/>
            <a:ext cx="5114671" cy="504130"/>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44505E"/>
                </a:solidFill>
                <a:latin typeface="IBM Plex Sans" pitchFamily="34" charset="0"/>
                <a:ea typeface="IBM Plex Sans" pitchFamily="34" charset="-122"/>
                <a:cs typeface="IBM Plex Sans" pitchFamily="34" charset="-120"/>
              </a:rPr>
              <a:t>At 5.00: buy the option, short the clone, pocket 0.88. Traders’ code does this until only 5.88 is left.</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1">
    <p:bg>
      <p:bgPr>
        <a:solidFill>
          <a:srgbClr val="F5F3EC"/>
        </a:solidFill>
        <a:effectLst/>
      </p:bgPr>
    </p:bg>
    <p:spTree>
      <p:nvGrpSpPr>
        <p:cNvPr id="1" name=""/>
        <p:cNvGrpSpPr/>
        <p:nvPr/>
      </p:nvGrpSpPr>
      <p:grpSpPr>
        <a:xfrm>
          <a:off x="0" y="0"/>
          <a:ext cx="0" cy="0"/>
          <a:chOff x="0" y="0"/>
          <a:chExt cx="0" cy="0"/>
        </a:xfrm>
      </p:grpSpPr>
      <p:pic>
        <p:nvPicPr>
          <p:cNvPr id="2" name="Image 0" descr="Triangle linking option, share and risk-free cash: any two of them can be combined to reproduce the third"/>
          <p:cNvPicPr>
            <a:picLocks noChangeAspect="1"/>
          </p:cNvPicPr>
          <p:nvPr/>
        </p:nvPicPr>
        <p:blipFill>
          <a:blip r:embed="rId3"/>
          <a:srcRect/>
          <a:stretch/>
        </p:blipFill>
        <p:spPr>
          <a:xfrm>
            <a:off x="812800" y="1651000"/>
            <a:ext cx="4064000" cy="4064000"/>
          </a:xfrm>
          <a:prstGeom prst="rect">
            <a:avLst/>
          </a:prstGeom>
        </p:spPr>
      </p:pic>
      <p:sp>
        <p:nvSpPr>
          <p:cNvPr id="3"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02 · ONE STEP · THE EQUIVALENCE</a:t>
            </a:r>
            <a:endParaRPr lang="en-US" sz="1200" dirty="0"/>
          </a:p>
        </p:txBody>
      </p:sp>
      <p:sp>
        <p:nvSpPr>
          <p:cNvPr id="4"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Share, option, cash: any two build the third</a:t>
            </a:r>
            <a:endParaRPr lang="en-US" sz="3000" dirty="0"/>
          </a:p>
        </p:txBody>
      </p:sp>
      <p:sp>
        <p:nvSpPr>
          <p:cNvPr id="5" name="Text 2"/>
          <p:cNvSpPr/>
          <p:nvPr/>
        </p:nvSpPr>
        <p:spPr>
          <a:xfrm>
            <a:off x="2146300" y="1905000"/>
            <a:ext cx="1397000" cy="419100"/>
          </a:xfrm>
          <a:custGeom>
            <a:avLst/>
            <a:gdLst/>
            <a:ahLst/>
            <a:cxnLst/>
            <a:rect l="l" t="t" r="r" b="b"/>
            <a:pathLst>
              <a:path w="1397000" h="419100">
                <a:moveTo>
                  <a:pt x="209550" y="0"/>
                </a:moveTo>
                <a:lnTo>
                  <a:pt x="1187450" y="0"/>
                </a:lnTo>
                <a:arcTo wR="209550" hR="209550" stAng="16200000" swAng="5400000"/>
                <a:lnTo>
                  <a:pt x="1397000" y="209550"/>
                </a:lnTo>
                <a:arcTo wR="209550" hR="209550" stAng="0" swAng="5400000"/>
                <a:lnTo>
                  <a:pt x="209550" y="419100"/>
                </a:lnTo>
                <a:arcTo wR="209550" hR="209550" stAng="5400000" swAng="5400000"/>
                <a:lnTo>
                  <a:pt x="0" y="209550"/>
                </a:lnTo>
                <a:arcTo wR="209550" hR="209550" stAng="10800000" swAng="5400000"/>
                <a:close/>
              </a:path>
            </a:pathLst>
          </a:custGeom>
          <a:solidFill>
            <a:srgbClr val="14202E"/>
          </a:solidFill>
          <a:ln/>
        </p:spPr>
        <p:txBody>
          <a:bodyPr wrap="square" lIns="50800" tIns="76200" rIns="50800" bIns="50800" rtlCol="0" anchor="t">
            <a:normAutofit/>
          </a:bodyPr>
          <a:lstStyle/>
          <a:p>
            <a:pPr marL="0" indent="0" algn="ctr">
              <a:lnSpc>
                <a:spcPts val="2100"/>
              </a:lnSpc>
              <a:buNone/>
            </a:pPr>
            <a:r>
              <a:rPr lang="en-US" sz="1500" b="1" dirty="0">
                <a:solidFill>
                  <a:srgbClr val="F5F3EC"/>
                </a:solidFill>
                <a:latin typeface="IBM Plex Sans" pitchFamily="34" charset="0"/>
                <a:ea typeface="IBM Plex Sans" pitchFamily="34" charset="-122"/>
                <a:cs typeface="IBM Plex Sans" pitchFamily="34" charset="-120"/>
              </a:rPr>
              <a:t>Option</a:t>
            </a:r>
            <a:endParaRPr lang="en-US" sz="1500" dirty="0"/>
          </a:p>
        </p:txBody>
      </p:sp>
      <p:sp>
        <p:nvSpPr>
          <p:cNvPr id="6" name="Text 3"/>
          <p:cNvSpPr/>
          <p:nvPr/>
        </p:nvSpPr>
        <p:spPr>
          <a:xfrm>
            <a:off x="812800" y="4953000"/>
            <a:ext cx="1397000" cy="419100"/>
          </a:xfrm>
          <a:custGeom>
            <a:avLst/>
            <a:gdLst/>
            <a:ahLst/>
            <a:cxnLst/>
            <a:rect l="l" t="t" r="r" b="b"/>
            <a:pathLst>
              <a:path w="1397000" h="419100">
                <a:moveTo>
                  <a:pt x="209550" y="0"/>
                </a:moveTo>
                <a:lnTo>
                  <a:pt x="1187450" y="0"/>
                </a:lnTo>
                <a:arcTo wR="209550" hR="209550" stAng="16200000" swAng="5400000"/>
                <a:lnTo>
                  <a:pt x="1397000" y="209550"/>
                </a:lnTo>
                <a:arcTo wR="209550" hR="209550" stAng="0" swAng="5400000"/>
                <a:lnTo>
                  <a:pt x="209550" y="419100"/>
                </a:lnTo>
                <a:arcTo wR="209550" hR="209550" stAng="5400000" swAng="5400000"/>
                <a:lnTo>
                  <a:pt x="0" y="209550"/>
                </a:lnTo>
                <a:arcTo wR="209550" hR="209550" stAng="10800000" swAng="5400000"/>
                <a:close/>
              </a:path>
            </a:pathLst>
          </a:custGeom>
          <a:solidFill>
            <a:srgbClr val="2B65C8"/>
          </a:solidFill>
          <a:ln/>
        </p:spPr>
        <p:txBody>
          <a:bodyPr wrap="square" lIns="50800" tIns="76200" rIns="50800" bIns="50800" rtlCol="0" anchor="t">
            <a:normAutofit/>
          </a:bodyPr>
          <a:lstStyle/>
          <a:p>
            <a:pPr marL="0" indent="0" algn="ctr">
              <a:lnSpc>
                <a:spcPts val="2100"/>
              </a:lnSpc>
              <a:buNone/>
            </a:pPr>
            <a:r>
              <a:rPr lang="en-US" sz="1500" b="1" dirty="0">
                <a:solidFill>
                  <a:srgbClr val="F5F3EC"/>
                </a:solidFill>
                <a:latin typeface="IBM Plex Sans" pitchFamily="34" charset="0"/>
                <a:ea typeface="IBM Plex Sans" pitchFamily="34" charset="-122"/>
                <a:cs typeface="IBM Plex Sans" pitchFamily="34" charset="-120"/>
              </a:rPr>
              <a:t>Share</a:t>
            </a:r>
            <a:endParaRPr lang="en-US" sz="1500" dirty="0"/>
          </a:p>
        </p:txBody>
      </p:sp>
      <p:sp>
        <p:nvSpPr>
          <p:cNvPr id="7" name="Text 4"/>
          <p:cNvSpPr/>
          <p:nvPr/>
        </p:nvSpPr>
        <p:spPr>
          <a:xfrm>
            <a:off x="3479800" y="4953000"/>
            <a:ext cx="1397000" cy="419100"/>
          </a:xfrm>
          <a:custGeom>
            <a:avLst/>
            <a:gdLst/>
            <a:ahLst/>
            <a:cxnLst/>
            <a:rect l="l" t="t" r="r" b="b"/>
            <a:pathLst>
              <a:path w="1397000" h="419100">
                <a:moveTo>
                  <a:pt x="209550" y="0"/>
                </a:moveTo>
                <a:lnTo>
                  <a:pt x="1187450" y="0"/>
                </a:lnTo>
                <a:arcTo wR="209550" hR="209550" stAng="16200000" swAng="5400000"/>
                <a:lnTo>
                  <a:pt x="1397000" y="209550"/>
                </a:lnTo>
                <a:arcTo wR="209550" hR="209550" stAng="0" swAng="5400000"/>
                <a:lnTo>
                  <a:pt x="209550" y="419100"/>
                </a:lnTo>
                <a:arcTo wR="209550" hR="209550" stAng="5400000" swAng="5400000"/>
                <a:lnTo>
                  <a:pt x="0" y="209550"/>
                </a:lnTo>
                <a:arcTo wR="209550" hR="209550" stAng="10800000" swAng="5400000"/>
                <a:close/>
              </a:path>
            </a:pathLst>
          </a:custGeom>
          <a:solidFill>
            <a:srgbClr val="C4661A"/>
          </a:solidFill>
          <a:ln/>
        </p:spPr>
        <p:txBody>
          <a:bodyPr wrap="square" lIns="50800" tIns="76200" rIns="50800" bIns="50800" rtlCol="0" anchor="t">
            <a:normAutofit/>
          </a:bodyPr>
          <a:lstStyle/>
          <a:p>
            <a:pPr marL="0" indent="0" algn="ctr">
              <a:lnSpc>
                <a:spcPts val="2100"/>
              </a:lnSpc>
              <a:buNone/>
            </a:pPr>
            <a:r>
              <a:rPr lang="en-US" sz="1500" b="1" dirty="0">
                <a:solidFill>
                  <a:srgbClr val="14202E"/>
                </a:solidFill>
                <a:latin typeface="IBM Plex Sans" pitchFamily="34" charset="0"/>
                <a:ea typeface="IBM Plex Sans" pitchFamily="34" charset="-122"/>
                <a:cs typeface="IBM Plex Sans" pitchFamily="34" charset="-120"/>
              </a:rPr>
              <a:t>Cash</a:t>
            </a:r>
            <a:endParaRPr lang="en-US" sz="1500" dirty="0"/>
          </a:p>
        </p:txBody>
      </p:sp>
      <p:sp>
        <p:nvSpPr>
          <p:cNvPr id="8" name="Text 5"/>
          <p:cNvSpPr/>
          <p:nvPr/>
        </p:nvSpPr>
        <p:spPr>
          <a:xfrm>
            <a:off x="1863725" y="3873500"/>
            <a:ext cx="1962150" cy="553641"/>
          </a:xfrm>
          <a:prstGeom prst="rect">
            <a:avLst/>
          </a:prstGeom>
          <a:noFill/>
          <a:ln/>
        </p:spPr>
        <p:txBody>
          <a:bodyPr wrap="square" lIns="0" tIns="0" rIns="0" bIns="0" rtlCol="0" anchor="t">
            <a:normAutofit/>
          </a:bodyPr>
          <a:lstStyle/>
          <a:p>
            <a:pPr marL="0" indent="0" algn="ctr">
              <a:lnSpc>
                <a:spcPts val="2080"/>
              </a:lnSpc>
              <a:buNone/>
            </a:pPr>
            <a:r>
              <a:rPr lang="en-US" sz="1600" i="1" dirty="0">
                <a:solidFill>
                  <a:srgbClr val="44505E"/>
                </a:solidFill>
                <a:latin typeface="Source Serif 4" pitchFamily="18" charset="0"/>
                <a:ea typeface="Source Serif 4" pitchFamily="18" charset="-122"/>
                <a:cs typeface="Source Serif 4" pitchFamily="18" charset="-120"/>
              </a:rPr>
              <a:t>any two →</a:t>
            </a:r>
            <a:endParaRPr lang="en-US" sz="1600" dirty="0"/>
          </a:p>
          <a:p>
            <a:pPr marL="0" indent="0" algn="ctr">
              <a:lnSpc>
                <a:spcPts val="2080"/>
              </a:lnSpc>
              <a:buNone/>
            </a:pPr>
            <a:r>
              <a:rPr lang="en-US" sz="1600" i="1" dirty="0">
                <a:solidFill>
                  <a:srgbClr val="44505E"/>
                </a:solidFill>
                <a:latin typeface="Source Serif 4" pitchFamily="18" charset="0"/>
                <a:ea typeface="Source Serif 4" pitchFamily="18" charset="-122"/>
                <a:cs typeface="Source Serif 4" pitchFamily="18" charset="-120"/>
              </a:rPr>
              <a:t>the third</a:t>
            </a:r>
            <a:endParaRPr lang="en-US" sz="1600" dirty="0"/>
          </a:p>
        </p:txBody>
      </p:sp>
      <p:sp>
        <p:nvSpPr>
          <p:cNvPr id="9" name="Shape 6"/>
          <p:cNvSpPr/>
          <p:nvPr/>
        </p:nvSpPr>
        <p:spPr>
          <a:xfrm>
            <a:off x="5337175" y="1654175"/>
            <a:ext cx="6038850" cy="783580"/>
          </a:xfrm>
          <a:prstGeom prst="roundRect">
            <a:avLst>
              <a:gd name="adj" fmla="val 9319"/>
            </a:avLst>
          </a:prstGeom>
          <a:solidFill>
            <a:srgbClr val="FDFCF8"/>
          </a:solidFill>
          <a:ln w="6350">
            <a:solidFill>
              <a:srgbClr val="DDD7C6"/>
            </a:solidFill>
            <a:prstDash val="solid"/>
          </a:ln>
        </p:spPr>
        <p:txBody>
          <a:bodyPr/>
          <a:lstStyle/>
          <a:p>
            <a:endParaRPr lang="en-SE"/>
          </a:p>
        </p:txBody>
      </p:sp>
      <p:sp>
        <p:nvSpPr>
          <p:cNvPr id="10" name="Text 7"/>
          <p:cNvSpPr/>
          <p:nvPr/>
        </p:nvSpPr>
        <p:spPr>
          <a:xfrm>
            <a:off x="5518150" y="1797050"/>
            <a:ext cx="584720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Option = 0.5 share − 44.12 cash</a:t>
            </a:r>
            <a:endParaRPr lang="en-US" sz="1500" dirty="0"/>
          </a:p>
        </p:txBody>
      </p:sp>
      <p:sp>
        <p:nvSpPr>
          <p:cNvPr id="11" name="Text 8"/>
          <p:cNvSpPr/>
          <p:nvPr/>
        </p:nvSpPr>
        <p:spPr>
          <a:xfrm>
            <a:off x="5518150" y="2063750"/>
            <a:ext cx="5847207"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E"/>
                </a:solidFill>
                <a:latin typeface="IBM Plex Sans" pitchFamily="34" charset="0"/>
                <a:ea typeface="IBM Plex Sans" pitchFamily="34" charset="-122"/>
                <a:cs typeface="IBM Plex Sans" pitchFamily="34" charset="-120"/>
              </a:rPr>
              <a:t>Replicate. Up: 55 − 45 = 10 ✓ Down: 45 − 45 = 0 ✓ Cost 5.88.</a:t>
            </a:r>
            <a:endParaRPr lang="en-US" sz="1300" dirty="0"/>
          </a:p>
        </p:txBody>
      </p:sp>
      <p:sp>
        <p:nvSpPr>
          <p:cNvPr id="12" name="Shape 9"/>
          <p:cNvSpPr/>
          <p:nvPr/>
        </p:nvSpPr>
        <p:spPr>
          <a:xfrm>
            <a:off x="5337175" y="2571105"/>
            <a:ext cx="6038850" cy="1014710"/>
          </a:xfrm>
          <a:prstGeom prst="roundRect">
            <a:avLst>
              <a:gd name="adj" fmla="val 7197"/>
            </a:avLst>
          </a:prstGeom>
          <a:solidFill>
            <a:srgbClr val="FDFCF8"/>
          </a:solidFill>
          <a:ln w="6350">
            <a:solidFill>
              <a:srgbClr val="DDD7C6"/>
            </a:solidFill>
            <a:prstDash val="solid"/>
          </a:ln>
        </p:spPr>
        <p:txBody>
          <a:bodyPr/>
          <a:lstStyle/>
          <a:p>
            <a:endParaRPr lang="en-SE"/>
          </a:p>
        </p:txBody>
      </p:sp>
      <p:sp>
        <p:nvSpPr>
          <p:cNvPr id="13" name="Text 10"/>
          <p:cNvSpPr/>
          <p:nvPr/>
        </p:nvSpPr>
        <p:spPr>
          <a:xfrm>
            <a:off x="5518150" y="2713980"/>
            <a:ext cx="584720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Cash = 0.5 share − 1 option</a:t>
            </a:r>
            <a:endParaRPr lang="en-US" sz="1500" dirty="0"/>
          </a:p>
        </p:txBody>
      </p:sp>
      <p:sp>
        <p:nvSpPr>
          <p:cNvPr id="14" name="Text 11"/>
          <p:cNvSpPr/>
          <p:nvPr/>
        </p:nvSpPr>
        <p:spPr>
          <a:xfrm>
            <a:off x="5518150" y="2980680"/>
            <a:ext cx="584720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E"/>
                </a:solidFill>
                <a:latin typeface="IBM Plex Sans" pitchFamily="34" charset="0"/>
                <a:ea typeface="IBM Plex Sans" pitchFamily="34" charset="-122"/>
                <a:cs typeface="IBM Plex Sans" pitchFamily="34" charset="-120"/>
              </a:rPr>
              <a:t>Hedge. Pays 45 in both states: riskless, so it must be worth 45/1.02 = 44.12. Hence option = 50 − 44.12 = 5.88.</a:t>
            </a:r>
            <a:endParaRPr lang="en-US" sz="1300" dirty="0"/>
          </a:p>
        </p:txBody>
      </p:sp>
      <p:sp>
        <p:nvSpPr>
          <p:cNvPr id="15" name="Shape 12"/>
          <p:cNvSpPr/>
          <p:nvPr/>
        </p:nvSpPr>
        <p:spPr>
          <a:xfrm>
            <a:off x="5337175" y="3719165"/>
            <a:ext cx="6038850" cy="1014710"/>
          </a:xfrm>
          <a:prstGeom prst="roundRect">
            <a:avLst>
              <a:gd name="adj" fmla="val 7197"/>
            </a:avLst>
          </a:prstGeom>
          <a:solidFill>
            <a:srgbClr val="FDFCF8"/>
          </a:solidFill>
          <a:ln w="6350">
            <a:solidFill>
              <a:srgbClr val="DDD7C6"/>
            </a:solidFill>
            <a:prstDash val="solid"/>
          </a:ln>
        </p:spPr>
        <p:txBody>
          <a:bodyPr/>
          <a:lstStyle/>
          <a:p>
            <a:endParaRPr lang="en-SE"/>
          </a:p>
        </p:txBody>
      </p:sp>
      <p:sp>
        <p:nvSpPr>
          <p:cNvPr id="16" name="Text 13"/>
          <p:cNvSpPr/>
          <p:nvPr/>
        </p:nvSpPr>
        <p:spPr>
          <a:xfrm>
            <a:off x="5518150" y="3862040"/>
            <a:ext cx="584720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Share = 2 options + 88.24 cash</a:t>
            </a:r>
            <a:endParaRPr lang="en-US" sz="1500" dirty="0"/>
          </a:p>
        </p:txBody>
      </p:sp>
      <p:sp>
        <p:nvSpPr>
          <p:cNvPr id="17" name="Text 14"/>
          <p:cNvSpPr/>
          <p:nvPr/>
        </p:nvSpPr>
        <p:spPr>
          <a:xfrm>
            <a:off x="5518150" y="4128740"/>
            <a:ext cx="584720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E"/>
                </a:solidFill>
                <a:latin typeface="IBM Plex Sans" pitchFamily="34" charset="0"/>
                <a:ea typeface="IBM Plex Sans" pitchFamily="34" charset="-122"/>
                <a:cs typeface="IBM Plex Sans" pitchFamily="34" charset="-120"/>
              </a:rPr>
              <a:t>Synthetic share. Up: 20 + 90 = 110 ✓ Down: 0 + 90 = 90 ✓ Cost 2·5.88 + 88.24 = 100 ✓</a:t>
            </a:r>
            <a:endParaRPr lang="en-US" sz="1300" dirty="0"/>
          </a:p>
        </p:txBody>
      </p:sp>
      <p:sp>
        <p:nvSpPr>
          <p:cNvPr id="18" name="Text 15"/>
          <p:cNvSpPr/>
          <p:nvPr/>
        </p:nvSpPr>
        <p:spPr>
          <a:xfrm>
            <a:off x="5334000" y="4864050"/>
            <a:ext cx="6045200" cy="769541"/>
          </a:xfrm>
          <a:prstGeom prst="roundRect">
            <a:avLst>
              <a:gd name="adj" fmla="val 9902"/>
            </a:avLst>
          </a:prstGeom>
          <a:solidFill>
            <a:srgbClr val="ECE8DC"/>
          </a:solidFill>
          <a:ln/>
        </p:spPr>
        <p:txBody>
          <a:bodyPr wrap="square" lIns="155482" tIns="104682" rIns="0" bIns="79282" rtlCol="0" anchor="t">
            <a:normAutofit/>
          </a:bodyPr>
          <a:lstStyle/>
          <a:p>
            <a:pPr marL="0" indent="0" algn="l">
              <a:lnSpc>
                <a:spcPts val="2030"/>
              </a:lnSpc>
              <a:buNone/>
            </a:pPr>
            <a:r>
              <a:rPr lang="en-US" sz="1400" b="1" dirty="0">
                <a:solidFill>
                  <a:srgbClr val="14202E"/>
                </a:solidFill>
                <a:latin typeface="IBM Plex Sans" pitchFamily="34" charset="0"/>
                <a:ea typeface="IBM Plex Sans" pitchFamily="34" charset="-122"/>
                <a:cs typeface="IBM Plex Sans" pitchFamily="34" charset="-120"/>
              </a:rPr>
              <a:t>The key move:</a:t>
            </a:r>
            <a:r>
              <a:rPr lang="en-US" sz="1400" dirty="0">
                <a:solidFill>
                  <a:srgbClr val="14202E"/>
                </a:solidFill>
                <a:latin typeface="IBM Plex Sans" pitchFamily="34" charset="0"/>
                <a:ea typeface="IBM Plex Sans" pitchFamily="34" charset="-122"/>
                <a:cs typeface="IBM Plex Sans" pitchFamily="34" charset="-120"/>
              </a:rPr>
              <a:t> a delta-hedged option is a bond. A bond earns the risk-free rate. That alone fixes the price.</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2">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3A33B"/>
                </a:solidFill>
                <a:latin typeface="IBM Plex Sans" pitchFamily="34" charset="0"/>
                <a:ea typeface="IBM Plex Sans" pitchFamily="34" charset="-122"/>
                <a:cs typeface="IBM Plex Sans" pitchFamily="34" charset="-120"/>
              </a:rPr>
              <a:t>02 · ONE STEP</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5F3EC"/>
                </a:solidFill>
                <a:latin typeface="Source Serif 4" pitchFamily="18" charset="0"/>
                <a:ea typeface="Source Serif 4" pitchFamily="18" charset="-122"/>
                <a:cs typeface="Source Serif 4" pitchFamily="18" charset="-120"/>
              </a:rPr>
              <a:t>Rearrange the algebra and a new probability appears</a:t>
            </a:r>
            <a:endParaRPr lang="en-US" sz="3000" dirty="0"/>
          </a:p>
        </p:txBody>
      </p:sp>
      <p:sp>
        <p:nvSpPr>
          <p:cNvPr id="4" name="Text 2"/>
          <p:cNvSpPr/>
          <p:nvPr/>
        </p:nvSpPr>
        <p:spPr>
          <a:xfrm>
            <a:off x="812800" y="1511300"/>
            <a:ext cx="10883392" cy="350490"/>
          </a:xfrm>
          <a:prstGeom prst="rect">
            <a:avLst/>
          </a:prstGeom>
          <a:noFill/>
          <a:ln/>
        </p:spPr>
        <p:txBody>
          <a:bodyPr wrap="square" lIns="0" tIns="0" rIns="0" bIns="0" rtlCol="0" anchor="t">
            <a:normAutofit/>
          </a:bodyPr>
          <a:lstStyle/>
          <a:p>
            <a:pPr marL="0" indent="0" algn="l">
              <a:lnSpc>
                <a:spcPts val="2560"/>
              </a:lnSpc>
              <a:buNone/>
            </a:pPr>
            <a:r>
              <a:rPr lang="en-US" dirty="0">
                <a:solidFill>
                  <a:srgbClr val="BFCAD6"/>
                </a:solidFill>
                <a:latin typeface="JetBrains Mono" pitchFamily="49" charset="0"/>
                <a:ea typeface="JetBrains Mono" pitchFamily="49" charset="-122"/>
                <a:cs typeface="JetBrains Mono" pitchFamily="49" charset="-120"/>
              </a:rPr>
              <a:t>C₀ = Δ·S₀ + B = [ </a:t>
            </a:r>
            <a:r>
              <a:rPr lang="en-US" dirty="0">
                <a:solidFill>
                  <a:srgbClr val="7FA8F0"/>
                </a:solidFill>
                <a:latin typeface="JetBrains Mono" pitchFamily="49" charset="0"/>
                <a:ea typeface="JetBrains Mono" pitchFamily="49" charset="-122"/>
                <a:cs typeface="JetBrains Mono" pitchFamily="49" charset="-120"/>
              </a:rPr>
              <a:t>(R − d)/(u − d)</a:t>
            </a:r>
            <a:r>
              <a:rPr lang="en-US" dirty="0">
                <a:solidFill>
                  <a:srgbClr val="BFCAD6"/>
                </a:solidFill>
                <a:latin typeface="JetBrains Mono" pitchFamily="49" charset="0"/>
                <a:ea typeface="JetBrains Mono" pitchFamily="49" charset="-122"/>
                <a:cs typeface="JetBrains Mono" pitchFamily="49" charset="-120"/>
              </a:rPr>
              <a:t>·C↑ + </a:t>
            </a:r>
            <a:r>
              <a:rPr lang="en-US" dirty="0">
                <a:solidFill>
                  <a:srgbClr val="F0A868"/>
                </a:solidFill>
                <a:latin typeface="JetBrains Mono" pitchFamily="49" charset="0"/>
                <a:ea typeface="JetBrains Mono" pitchFamily="49" charset="-122"/>
                <a:cs typeface="JetBrains Mono" pitchFamily="49" charset="-120"/>
              </a:rPr>
              <a:t>(u − R)/(u − d)</a:t>
            </a:r>
            <a:r>
              <a:rPr lang="en-US" dirty="0">
                <a:solidFill>
                  <a:srgbClr val="BFCAD6"/>
                </a:solidFill>
                <a:latin typeface="JetBrains Mono" pitchFamily="49" charset="0"/>
                <a:ea typeface="JetBrains Mono" pitchFamily="49" charset="-122"/>
                <a:cs typeface="JetBrains Mono" pitchFamily="49" charset="-120"/>
              </a:rPr>
              <a:t>·C↓ ] / R</a:t>
            </a:r>
            <a:endParaRPr lang="en-US" dirty="0"/>
          </a:p>
        </p:txBody>
      </p:sp>
      <p:sp>
        <p:nvSpPr>
          <p:cNvPr id="5" name="Shape 3"/>
          <p:cNvSpPr/>
          <p:nvPr/>
        </p:nvSpPr>
        <p:spPr>
          <a:xfrm>
            <a:off x="812800" y="2115790"/>
            <a:ext cx="5715000" cy="1361380"/>
          </a:xfrm>
          <a:prstGeom prst="roundRect">
            <a:avLst>
              <a:gd name="adj" fmla="val 7463"/>
            </a:avLst>
          </a:prstGeom>
          <a:solidFill>
            <a:srgbClr val="1F2F42"/>
          </a:solidFill>
          <a:ln/>
        </p:spPr>
        <p:txBody>
          <a:bodyPr/>
          <a:lstStyle/>
          <a:p>
            <a:endParaRPr lang="en-SE"/>
          </a:p>
        </p:txBody>
      </p:sp>
      <p:sp>
        <p:nvSpPr>
          <p:cNvPr id="6" name="Text 4"/>
          <p:cNvSpPr/>
          <p:nvPr/>
        </p:nvSpPr>
        <p:spPr>
          <a:xfrm>
            <a:off x="1066800" y="2369790"/>
            <a:ext cx="5363210" cy="38859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7FA8F0"/>
                </a:solidFill>
                <a:latin typeface="JetBrains Mono" pitchFamily="49" charset="0"/>
                <a:ea typeface="JetBrains Mono" pitchFamily="49" charset="-122"/>
                <a:cs typeface="JetBrains Mono" pitchFamily="49" charset="-120"/>
              </a:rPr>
              <a:t>q</a:t>
            </a:r>
            <a:r>
              <a:rPr lang="en-US" sz="2200" dirty="0">
                <a:solidFill>
                  <a:srgbClr val="F5F3EC"/>
                </a:solidFill>
                <a:latin typeface="JetBrains Mono" pitchFamily="49" charset="0"/>
                <a:ea typeface="JetBrains Mono" pitchFamily="49" charset="-122"/>
                <a:cs typeface="JetBrains Mono" pitchFamily="49" charset="-120"/>
              </a:rPr>
              <a:t> = (R − d) / (u − d)</a:t>
            </a:r>
            <a:endParaRPr lang="en-US" sz="2200" dirty="0"/>
          </a:p>
        </p:txBody>
      </p:sp>
      <p:sp>
        <p:nvSpPr>
          <p:cNvPr id="7" name="Text 5"/>
          <p:cNvSpPr/>
          <p:nvPr/>
        </p:nvSpPr>
        <p:spPr>
          <a:xfrm>
            <a:off x="1066800" y="2859980"/>
            <a:ext cx="5363210" cy="38859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F5F3EC"/>
                </a:solidFill>
                <a:latin typeface="JetBrains Mono" pitchFamily="49" charset="0"/>
                <a:ea typeface="JetBrains Mono" pitchFamily="49" charset="-122"/>
                <a:cs typeface="JetBrains Mono" pitchFamily="49" charset="-120"/>
              </a:rPr>
              <a:t>C₀ = [ </a:t>
            </a:r>
            <a:r>
              <a:rPr lang="en-US" sz="2200" dirty="0">
                <a:solidFill>
                  <a:srgbClr val="7FA8F0"/>
                </a:solidFill>
                <a:latin typeface="JetBrains Mono" pitchFamily="49" charset="0"/>
                <a:ea typeface="JetBrains Mono" pitchFamily="49" charset="-122"/>
                <a:cs typeface="JetBrains Mono" pitchFamily="49" charset="-120"/>
              </a:rPr>
              <a:t>q</a:t>
            </a:r>
            <a:r>
              <a:rPr lang="en-US" sz="2200" dirty="0">
                <a:solidFill>
                  <a:srgbClr val="F5F3EC"/>
                </a:solidFill>
                <a:latin typeface="JetBrains Mono" pitchFamily="49" charset="0"/>
                <a:ea typeface="JetBrains Mono" pitchFamily="49" charset="-122"/>
                <a:cs typeface="JetBrains Mono" pitchFamily="49" charset="-120"/>
              </a:rPr>
              <a:t>·C↑ + (1 − </a:t>
            </a:r>
            <a:r>
              <a:rPr lang="en-US" sz="2200" dirty="0">
                <a:solidFill>
                  <a:srgbClr val="7FA8F0"/>
                </a:solidFill>
                <a:latin typeface="JetBrains Mono" pitchFamily="49" charset="0"/>
                <a:ea typeface="JetBrains Mono" pitchFamily="49" charset="-122"/>
                <a:cs typeface="JetBrains Mono" pitchFamily="49" charset="-120"/>
              </a:rPr>
              <a:t>q</a:t>
            </a:r>
            <a:r>
              <a:rPr lang="en-US" sz="2200" dirty="0">
                <a:solidFill>
                  <a:srgbClr val="F5F3EC"/>
                </a:solidFill>
                <a:latin typeface="JetBrains Mono" pitchFamily="49" charset="0"/>
                <a:ea typeface="JetBrains Mono" pitchFamily="49" charset="-122"/>
                <a:cs typeface="JetBrains Mono" pitchFamily="49" charset="-120"/>
              </a:rPr>
              <a:t>)·C↓ ] / R</a:t>
            </a:r>
            <a:endParaRPr lang="en-US" sz="2200" dirty="0"/>
          </a:p>
        </p:txBody>
      </p:sp>
      <p:sp>
        <p:nvSpPr>
          <p:cNvPr id="8" name="Text 6"/>
          <p:cNvSpPr/>
          <p:nvPr/>
        </p:nvSpPr>
        <p:spPr>
          <a:xfrm>
            <a:off x="6832600" y="2332335"/>
            <a:ext cx="4682998" cy="283170"/>
          </a:xfrm>
          <a:prstGeom prst="rect">
            <a:avLst/>
          </a:prstGeom>
          <a:noFill/>
          <a:ln/>
        </p:spPr>
        <p:txBody>
          <a:bodyPr wrap="square" lIns="0" tIns="0" rIns="0" bIns="0" rtlCol="0" anchor="t">
            <a:normAutofit/>
          </a:bodyPr>
          <a:lstStyle/>
          <a:p>
            <a:pPr marL="0" indent="0" algn="l">
              <a:lnSpc>
                <a:spcPts val="2030"/>
              </a:lnSpc>
              <a:buNone/>
            </a:pPr>
            <a:r>
              <a:rPr lang="en-US" sz="1600" dirty="0">
                <a:solidFill>
                  <a:srgbClr val="BFCAD6"/>
                </a:solidFill>
                <a:latin typeface="IBM Plex Sans" pitchFamily="34" charset="0"/>
                <a:ea typeface="IBM Plex Sans" pitchFamily="34" charset="-122"/>
                <a:cs typeface="IBM Plex Sans" pitchFamily="34" charset="-120"/>
              </a:rPr>
              <a:t>Example</a:t>
            </a:r>
            <a:endParaRPr lang="en-US" sz="1600" dirty="0"/>
          </a:p>
        </p:txBody>
      </p:sp>
      <p:sp>
        <p:nvSpPr>
          <p:cNvPr id="9" name="Text 7"/>
          <p:cNvSpPr/>
          <p:nvPr/>
        </p:nvSpPr>
        <p:spPr>
          <a:xfrm>
            <a:off x="6832600" y="2691704"/>
            <a:ext cx="4682998" cy="737295"/>
          </a:xfrm>
          <a:prstGeom prst="rect">
            <a:avLst/>
          </a:prstGeom>
          <a:noFill/>
          <a:ln/>
        </p:spPr>
        <p:txBody>
          <a:bodyPr wrap="square" lIns="0" tIns="0" rIns="0" bIns="0" rtlCol="0" anchor="t">
            <a:normAutofit/>
          </a:bodyPr>
          <a:lstStyle/>
          <a:p>
            <a:pPr marL="0" indent="0" algn="l">
              <a:lnSpc>
                <a:spcPts val="2240"/>
              </a:lnSpc>
              <a:buNone/>
            </a:pPr>
            <a:r>
              <a:rPr lang="en-US" dirty="0">
                <a:solidFill>
                  <a:srgbClr val="F5F3EC"/>
                </a:solidFill>
                <a:latin typeface="JetBrains Mono" pitchFamily="49" charset="0"/>
                <a:ea typeface="JetBrains Mono" pitchFamily="49" charset="-122"/>
                <a:cs typeface="JetBrains Mono" pitchFamily="49" charset="-120"/>
              </a:rPr>
              <a:t>q = 0.12 / 0.20 = 0.60</a:t>
            </a:r>
            <a:endParaRPr lang="en-US" dirty="0"/>
          </a:p>
          <a:p>
            <a:pPr marL="0" indent="0" algn="l">
              <a:lnSpc>
                <a:spcPts val="2240"/>
              </a:lnSpc>
              <a:buNone/>
            </a:pPr>
            <a:r>
              <a:rPr lang="en-US" dirty="0">
                <a:solidFill>
                  <a:srgbClr val="F5F3EC"/>
                </a:solidFill>
                <a:latin typeface="JetBrains Mono" pitchFamily="49" charset="0"/>
                <a:ea typeface="JetBrains Mono" pitchFamily="49" charset="-122"/>
                <a:cs typeface="JetBrains Mono" pitchFamily="49" charset="-120"/>
              </a:rPr>
              <a:t>C₀ = 0.6·10 / 1.02 = 5.88 ✓</a:t>
            </a:r>
            <a:endParaRPr lang="en-US" dirty="0"/>
          </a:p>
        </p:txBody>
      </p:sp>
      <p:sp>
        <p:nvSpPr>
          <p:cNvPr id="10" name="Text 8"/>
          <p:cNvSpPr/>
          <p:nvPr/>
        </p:nvSpPr>
        <p:spPr>
          <a:xfrm>
            <a:off x="812800" y="3756571"/>
            <a:ext cx="10883392" cy="452090"/>
          </a:xfrm>
          <a:prstGeom prst="rect">
            <a:avLst/>
          </a:prstGeom>
          <a:noFill/>
          <a:ln/>
        </p:spPr>
        <p:txBody>
          <a:bodyPr wrap="square" lIns="0" tIns="0" rIns="0" bIns="0" rtlCol="0" anchor="t">
            <a:normAutofit/>
          </a:bodyPr>
          <a:lstStyle/>
          <a:p>
            <a:pPr marL="0" indent="0" algn="l">
              <a:lnSpc>
                <a:spcPts val="3360"/>
              </a:lnSpc>
              <a:buNone/>
            </a:pPr>
            <a:r>
              <a:rPr lang="en-US" sz="2800" i="1" dirty="0">
                <a:solidFill>
                  <a:srgbClr val="E3A33B"/>
                </a:solidFill>
                <a:latin typeface="Source Serif 4" pitchFamily="18" charset="0"/>
                <a:ea typeface="Source Serif 4" pitchFamily="18" charset="-122"/>
                <a:cs typeface="Source Serif 4" pitchFamily="18" charset="-120"/>
              </a:rPr>
              <a:t>The real-world probability p appears nowhere.</a:t>
            </a:r>
            <a:endParaRPr lang="en-US" sz="2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3">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02 · ONE STEP</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Two worlds: p forecasts, q prices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4062787548"/>
              </p:ext>
            </p:extLst>
          </p:nvPr>
        </p:nvGraphicFramePr>
        <p:xfrm>
          <a:off x="825500" y="1659373"/>
          <a:ext cx="10553700" cy="2164566"/>
        </p:xfrm>
        <a:graphic>
          <a:graphicData uri="http://schemas.openxmlformats.org/drawingml/2006/table">
            <a:tbl>
              <a:tblPr/>
              <a:tblGrid>
                <a:gridCol w="3588258">
                  <a:extLst>
                    <a:ext uri="{9D8B030D-6E8A-4147-A177-3AD203B41FA5}">
                      <a16:colId xmlns:a16="http://schemas.microsoft.com/office/drawing/2014/main" val="20000"/>
                    </a:ext>
                  </a:extLst>
                </a:gridCol>
                <a:gridCol w="3482721">
                  <a:extLst>
                    <a:ext uri="{9D8B030D-6E8A-4147-A177-3AD203B41FA5}">
                      <a16:colId xmlns:a16="http://schemas.microsoft.com/office/drawing/2014/main" val="20001"/>
                    </a:ext>
                  </a:extLst>
                </a:gridCol>
                <a:gridCol w="3482721">
                  <a:extLst>
                    <a:ext uri="{9D8B030D-6E8A-4147-A177-3AD203B41FA5}">
                      <a16:colId xmlns:a16="http://schemas.microsoft.com/office/drawing/2014/main" val="20002"/>
                    </a:ext>
                  </a:extLst>
                </a:gridCol>
              </a:tblGrid>
              <a:tr h="386011">
                <a:tc>
                  <a:txBody>
                    <a:bodyPr/>
                    <a:lstStyle/>
                    <a:p>
                      <a:pPr marL="0" indent="0">
                        <a:lnSpc>
                          <a:spcPts val="1960"/>
                        </a:lnSpc>
                        <a:buNone/>
                      </a:pPr>
                      <a:endParaRPr lang="en-US" sz="16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960"/>
                        </a:lnSpc>
                        <a:buNone/>
                      </a:pPr>
                      <a:r>
                        <a:rPr lang="en-US" sz="1600" b="1" dirty="0">
                          <a:solidFill>
                            <a:srgbClr val="A9520F"/>
                          </a:solidFill>
                          <a:latin typeface="IBM Plex Sans" pitchFamily="34" charset="0"/>
                          <a:ea typeface="IBM Plex Sans" pitchFamily="34" charset="-122"/>
                          <a:cs typeface="IBM Plex Sans" pitchFamily="34" charset="-120"/>
                        </a:rPr>
                        <a:t>Real world, p = 0.70</a:t>
                      </a:r>
                      <a:endParaRPr lang="en-US" sz="1600" dirty="0">
                        <a:latin typeface="IBM Plex Sans" charset="0"/>
                        <a:ea typeface="IBM Plex Sans" charset="0"/>
                        <a:cs typeface="IBM Plex Sans"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960"/>
                        </a:lnSpc>
                        <a:buNone/>
                      </a:pPr>
                      <a:r>
                        <a:rPr lang="en-US" sz="1600" b="1" dirty="0">
                          <a:solidFill>
                            <a:srgbClr val="2B65C8"/>
                          </a:solidFill>
                          <a:latin typeface="IBM Plex Sans" pitchFamily="34" charset="0"/>
                          <a:ea typeface="IBM Plex Sans" pitchFamily="34" charset="-122"/>
                          <a:cs typeface="IBM Plex Sans" pitchFamily="34" charset="-120"/>
                        </a:rPr>
                        <a:t>Risk-neutral, q = 0.60</a:t>
                      </a:r>
                      <a:endParaRPr lang="en-US" sz="1600" dirty="0">
                        <a:latin typeface="IBM Plex Sans" charset="0"/>
                        <a:ea typeface="IBM Plex Sans" charset="0"/>
                        <a:cs typeface="IBM Plex Sans"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600" dirty="0">
                          <a:solidFill>
                            <a:srgbClr val="14202E"/>
                          </a:solidFill>
                          <a:latin typeface="IBM Plex Sans" pitchFamily="34" charset="0"/>
                          <a:ea typeface="IBM Plex Sans" pitchFamily="34" charset="-122"/>
                          <a:cs typeface="IBM Plex Sans" pitchFamily="34" charset="-120"/>
                        </a:rPr>
                        <a:t>Where it comes from</a:t>
                      </a:r>
                      <a:endParaRPr lang="en-US" sz="16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600" dirty="0">
                          <a:solidFill>
                            <a:srgbClr val="14202E"/>
                          </a:solidFill>
                          <a:latin typeface="IBM Plex Sans" pitchFamily="34" charset="0"/>
                          <a:ea typeface="IBM Plex Sans" pitchFamily="34" charset="-122"/>
                          <a:cs typeface="IBM Plex Sans" pitchFamily="34" charset="-120"/>
                        </a:rPr>
                        <a:t>Opinion, history, research</a:t>
                      </a:r>
                      <a:endParaRPr lang="en-US" sz="16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600" dirty="0">
                          <a:solidFill>
                            <a:srgbClr val="14202E"/>
                          </a:solidFill>
                          <a:latin typeface="IBM Plex Sans" pitchFamily="34" charset="0"/>
                          <a:ea typeface="IBM Plex Sans" pitchFamily="34" charset="-122"/>
                          <a:cs typeface="IBM Plex Sans" pitchFamily="34" charset="-120"/>
                        </a:rPr>
                        <a:t>(R − d)/(u − d): market data</a:t>
                      </a:r>
                      <a:endParaRPr lang="en-US" sz="16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600" dirty="0">
                          <a:solidFill>
                            <a:srgbClr val="14202E"/>
                          </a:solidFill>
                          <a:latin typeface="IBM Plex Sans" pitchFamily="34" charset="0"/>
                          <a:ea typeface="IBM Plex Sans" pitchFamily="34" charset="-122"/>
                          <a:cs typeface="IBM Plex Sans" pitchFamily="34" charset="-120"/>
                        </a:rPr>
                        <a:t>Expected stock growth / step</a:t>
                      </a:r>
                      <a:endParaRPr lang="en-US" sz="16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600" dirty="0">
                          <a:solidFill>
                            <a:srgbClr val="14202E"/>
                          </a:solidFill>
                          <a:latin typeface="IBM Plex Sans" pitchFamily="34" charset="0"/>
                          <a:ea typeface="IBM Plex Sans" pitchFamily="34" charset="-122"/>
                          <a:cs typeface="IBM Plex Sans" pitchFamily="34" charset="-120"/>
                        </a:rPr>
                        <a:t>0.7·1.1 + 0.3·0.9 = 1.04</a:t>
                      </a:r>
                      <a:endParaRPr lang="en-US" sz="16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600" dirty="0">
                          <a:solidFill>
                            <a:srgbClr val="14202E"/>
                          </a:solidFill>
                          <a:latin typeface="IBM Plex Sans" pitchFamily="34" charset="0"/>
                          <a:ea typeface="IBM Plex Sans" pitchFamily="34" charset="-122"/>
                          <a:cs typeface="IBM Plex Sans" pitchFamily="34" charset="-120"/>
                        </a:rPr>
                        <a:t>0.6·1.1 + 0.4·0.9 = 1.02 = R</a:t>
                      </a:r>
                      <a:endParaRPr lang="en-US" sz="16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2"/>
                  </a:ext>
                </a:extLst>
              </a:tr>
              <a:tr h="386011">
                <a:tc>
                  <a:txBody>
                    <a:bodyPr/>
                    <a:lstStyle/>
                    <a:p>
                      <a:pPr marL="0" indent="0">
                        <a:lnSpc>
                          <a:spcPts val="1960"/>
                        </a:lnSpc>
                        <a:buNone/>
                      </a:pPr>
                      <a:r>
                        <a:rPr lang="en-US" sz="1600" dirty="0">
                          <a:solidFill>
                            <a:srgbClr val="14202E"/>
                          </a:solidFill>
                          <a:latin typeface="IBM Plex Sans" pitchFamily="34" charset="0"/>
                          <a:ea typeface="IBM Plex Sans" pitchFamily="34" charset="-122"/>
                          <a:cs typeface="IBM Plex Sans" pitchFamily="34" charset="-120"/>
                        </a:rPr>
                        <a:t>Discounted E[call payoff]</a:t>
                      </a:r>
                      <a:endParaRPr lang="en-US" sz="16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600" dirty="0">
                          <a:solidFill>
                            <a:srgbClr val="14202E"/>
                          </a:solidFill>
                          <a:latin typeface="IBM Plex Sans" pitchFamily="34" charset="0"/>
                          <a:ea typeface="IBM Plex Sans" pitchFamily="34" charset="-122"/>
                          <a:cs typeface="IBM Plex Sans" pitchFamily="34" charset="-120"/>
                        </a:rPr>
                        <a:t>0.7·10 / 1.02 = 6.86</a:t>
                      </a:r>
                      <a:endParaRPr lang="en-US" sz="16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600" dirty="0">
                          <a:solidFill>
                            <a:srgbClr val="14202E"/>
                          </a:solidFill>
                          <a:latin typeface="IBM Plex Sans" pitchFamily="34" charset="0"/>
                          <a:ea typeface="IBM Plex Sans" pitchFamily="34" charset="-122"/>
                          <a:cs typeface="IBM Plex Sans" pitchFamily="34" charset="-120"/>
                        </a:rPr>
                        <a:t>0.6·10 / 1.02 = 5.88</a:t>
                      </a:r>
                      <a:endParaRPr lang="en-US" sz="16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600" dirty="0">
                          <a:solidFill>
                            <a:srgbClr val="14202E"/>
                          </a:solidFill>
                          <a:latin typeface="IBM Plex Sans" pitchFamily="34" charset="0"/>
                          <a:ea typeface="IBM Plex Sans" pitchFamily="34" charset="-122"/>
                          <a:cs typeface="IBM Plex Sans" pitchFamily="34" charset="-120"/>
                        </a:rPr>
                        <a:t>Is that a tradeable price?</a:t>
                      </a:r>
                      <a:endParaRPr lang="en-US" sz="16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600" dirty="0">
                          <a:solidFill>
                            <a:srgbClr val="14202E"/>
                          </a:solidFill>
                          <a:latin typeface="IBM Plex Sans" pitchFamily="34" charset="0"/>
                          <a:ea typeface="IBM Plex Sans" pitchFamily="34" charset="-122"/>
                          <a:cs typeface="IBM Plex Sans" pitchFamily="34" charset="-120"/>
                        </a:rPr>
                        <a:t>No: sell at 6.86, buy clone, keep 0.98</a:t>
                      </a:r>
                      <a:endParaRPr lang="en-US" sz="16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600" dirty="0">
                          <a:solidFill>
                            <a:srgbClr val="14202E"/>
                          </a:solidFill>
                          <a:latin typeface="IBM Plex Sans" pitchFamily="34" charset="0"/>
                          <a:ea typeface="IBM Plex Sans" pitchFamily="34" charset="-122"/>
                          <a:cs typeface="IBM Plex Sans" pitchFamily="34" charset="-120"/>
                        </a:rPr>
                        <a:t>Yes: the only arbitrage-free price</a:t>
                      </a:r>
                      <a:endParaRPr lang="en-US" sz="16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4"/>
                  </a:ext>
                </a:extLst>
              </a:tr>
            </a:tbl>
          </a:graphicData>
        </a:graphic>
      </p:graphicFrame>
      <p:sp>
        <p:nvSpPr>
          <p:cNvPr id="5" name="Shape 2"/>
          <p:cNvSpPr/>
          <p:nvPr/>
        </p:nvSpPr>
        <p:spPr>
          <a:xfrm>
            <a:off x="831850" y="4396084"/>
            <a:ext cx="0" cy="924471"/>
          </a:xfrm>
          <a:prstGeom prst="line">
            <a:avLst/>
          </a:prstGeom>
          <a:noFill/>
          <a:ln w="38100">
            <a:solidFill>
              <a:srgbClr val="2B65C8"/>
            </a:solidFill>
            <a:prstDash val="solid"/>
          </a:ln>
        </p:spPr>
        <p:txBody>
          <a:bodyPr/>
          <a:lstStyle/>
          <a:p>
            <a:endParaRPr lang="en-SE" sz="2000"/>
          </a:p>
        </p:txBody>
      </p:sp>
      <p:sp>
        <p:nvSpPr>
          <p:cNvPr id="6" name="Text 3"/>
          <p:cNvSpPr/>
          <p:nvPr/>
        </p:nvSpPr>
        <p:spPr>
          <a:xfrm>
            <a:off x="1028700" y="4446884"/>
            <a:ext cx="5114671"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14202E"/>
                </a:solidFill>
                <a:latin typeface="IBM Plex Sans" pitchFamily="34" charset="0"/>
                <a:ea typeface="IBM Plex Sans" pitchFamily="34" charset="-122"/>
                <a:cs typeface="IBM Plex Sans" pitchFamily="34" charset="-120"/>
              </a:rPr>
              <a:t>Intuition</a:t>
            </a:r>
            <a:endParaRPr lang="en-US" dirty="0"/>
          </a:p>
        </p:txBody>
      </p:sp>
      <p:sp>
        <p:nvSpPr>
          <p:cNvPr id="7" name="Text 4"/>
          <p:cNvSpPr/>
          <p:nvPr/>
        </p:nvSpPr>
        <p:spPr>
          <a:xfrm>
            <a:off x="1028700" y="4754214"/>
            <a:ext cx="5114671" cy="540941"/>
          </a:xfrm>
          <a:prstGeom prst="rect">
            <a:avLst/>
          </a:prstGeom>
          <a:noFill/>
          <a:ln/>
        </p:spPr>
        <p:txBody>
          <a:bodyPr wrap="square" lIns="0" tIns="0" rIns="0" bIns="0" rtlCol="0" anchor="t">
            <a:normAutofit/>
          </a:bodyPr>
          <a:lstStyle/>
          <a:p>
            <a:pPr marL="0" indent="0" algn="l">
              <a:lnSpc>
                <a:spcPts val="2030"/>
              </a:lnSpc>
              <a:buNone/>
            </a:pPr>
            <a:r>
              <a:rPr lang="en-US" sz="1600" dirty="0">
                <a:solidFill>
                  <a:srgbClr val="44505E"/>
                </a:solidFill>
                <a:latin typeface="IBM Plex Sans" pitchFamily="34" charset="0"/>
                <a:ea typeface="IBM Plex Sans" pitchFamily="34" charset="-122"/>
                <a:cs typeface="IBM Plex Sans" pitchFamily="34" charset="-120"/>
              </a:rPr>
              <a:t>Price as if every asset grows at the risk-free rate. The hedge removes risk, so risk preferences can’t matter.</a:t>
            </a:r>
            <a:endParaRPr lang="en-US" sz="1600" dirty="0"/>
          </a:p>
        </p:txBody>
      </p:sp>
      <p:sp>
        <p:nvSpPr>
          <p:cNvPr id="8" name="Shape 5"/>
          <p:cNvSpPr/>
          <p:nvPr/>
        </p:nvSpPr>
        <p:spPr>
          <a:xfrm>
            <a:off x="6216650" y="4396084"/>
            <a:ext cx="0" cy="924471"/>
          </a:xfrm>
          <a:prstGeom prst="line">
            <a:avLst/>
          </a:prstGeom>
          <a:noFill/>
          <a:ln w="38100">
            <a:solidFill>
              <a:srgbClr val="C4661A"/>
            </a:solidFill>
            <a:prstDash val="solid"/>
          </a:ln>
        </p:spPr>
        <p:txBody>
          <a:bodyPr/>
          <a:lstStyle/>
          <a:p>
            <a:endParaRPr lang="en-SE" sz="2000"/>
          </a:p>
        </p:txBody>
      </p:sp>
      <p:sp>
        <p:nvSpPr>
          <p:cNvPr id="9" name="Text 6"/>
          <p:cNvSpPr/>
          <p:nvPr/>
        </p:nvSpPr>
        <p:spPr>
          <a:xfrm>
            <a:off x="6413500" y="4446884"/>
            <a:ext cx="5114671" cy="269230"/>
          </a:xfrm>
          <a:prstGeom prst="rect">
            <a:avLst/>
          </a:prstGeom>
          <a:noFill/>
          <a:ln/>
        </p:spPr>
        <p:txBody>
          <a:bodyPr wrap="square" lIns="0" tIns="0" rIns="0" bIns="0" rtlCol="0" anchor="t">
            <a:normAutofit/>
          </a:bodyPr>
          <a:lstStyle/>
          <a:p>
            <a:pPr marL="0" indent="0" algn="l">
              <a:lnSpc>
                <a:spcPts val="1920"/>
              </a:lnSpc>
              <a:buNone/>
            </a:pPr>
            <a:r>
              <a:rPr lang="en-US" b="1" dirty="0">
                <a:solidFill>
                  <a:srgbClr val="14202E"/>
                </a:solidFill>
                <a:latin typeface="IBM Plex Sans" pitchFamily="34" charset="0"/>
                <a:ea typeface="IBM Plex Sans" pitchFamily="34" charset="-122"/>
                <a:cs typeface="IBM Plex Sans" pitchFamily="34" charset="-120"/>
              </a:rPr>
              <a:t>Sanity condition</a:t>
            </a:r>
            <a:endParaRPr lang="en-US" dirty="0"/>
          </a:p>
        </p:txBody>
      </p:sp>
      <p:sp>
        <p:nvSpPr>
          <p:cNvPr id="10" name="Text 7"/>
          <p:cNvSpPr/>
          <p:nvPr/>
        </p:nvSpPr>
        <p:spPr>
          <a:xfrm>
            <a:off x="6413500" y="4754214"/>
            <a:ext cx="5114671" cy="540941"/>
          </a:xfrm>
          <a:prstGeom prst="rect">
            <a:avLst/>
          </a:prstGeom>
          <a:noFill/>
          <a:ln/>
        </p:spPr>
        <p:txBody>
          <a:bodyPr wrap="square" lIns="0" tIns="0" rIns="0" bIns="0" rtlCol="0" anchor="t">
            <a:normAutofit/>
          </a:bodyPr>
          <a:lstStyle/>
          <a:p>
            <a:pPr marL="0" indent="0" algn="l">
              <a:lnSpc>
                <a:spcPts val="2030"/>
              </a:lnSpc>
              <a:buNone/>
            </a:pPr>
            <a:r>
              <a:rPr lang="en-US" sz="1600" b="1" dirty="0">
                <a:solidFill>
                  <a:srgbClr val="14202E"/>
                </a:solidFill>
                <a:latin typeface="IBM Plex Sans" pitchFamily="34" charset="0"/>
                <a:ea typeface="IBM Plex Sans" pitchFamily="34" charset="-122"/>
                <a:cs typeface="IBM Plex Sans" pitchFamily="34" charset="-120"/>
              </a:rPr>
              <a:t>d &lt; R &lt; u</a:t>
            </a:r>
            <a:r>
              <a:rPr lang="en-US" sz="1600" dirty="0">
                <a:solidFill>
                  <a:srgbClr val="44505E"/>
                </a:solidFill>
                <a:latin typeface="IBM Plex Sans" pitchFamily="34" charset="0"/>
                <a:ea typeface="IBM Plex Sans" pitchFamily="34" charset="-122"/>
                <a:cs typeface="IBM Plex Sans" pitchFamily="34" charset="-120"/>
              </a:rPr>
              <a:t> ⇔ 0 &lt; q &lt; 1. Otherwise the stock or the bank dominates, an arbitrage.</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4">
    <p:bg>
      <p:bgPr>
        <a:solidFill>
          <a:srgbClr val="F5F3EC"/>
        </a:solidFill>
        <a:effectLst/>
      </p:bgPr>
    </p:bg>
    <p:spTree>
      <p:nvGrpSpPr>
        <p:cNvPr id="1" name=""/>
        <p:cNvGrpSpPr/>
        <p:nvPr/>
      </p:nvGrpSpPr>
      <p:grpSpPr>
        <a:xfrm>
          <a:off x="0" y="0"/>
          <a:ext cx="0" cy="0"/>
          <a:chOff x="0" y="0"/>
          <a:chExt cx="0" cy="0"/>
        </a:xfrm>
      </p:grpSpPr>
      <p:pic>
        <p:nvPicPr>
          <p:cNvPr id="2" name="Image 0" descr="Three-step recombining lattice; up moves in blue, down moves in orange"/>
          <p:cNvPicPr>
            <a:picLocks noChangeAspect="1"/>
          </p:cNvPicPr>
          <p:nvPr/>
        </p:nvPicPr>
        <p:blipFill>
          <a:blip r:embed="rId3"/>
          <a:srcRect l="-14" r="-14"/>
          <a:stretch/>
        </p:blipFill>
        <p:spPr>
          <a:xfrm>
            <a:off x="4064000" y="1651000"/>
            <a:ext cx="7315200" cy="4381500"/>
          </a:xfrm>
          <a:prstGeom prst="rect">
            <a:avLst/>
          </a:prstGeom>
        </p:spPr>
      </p:pic>
      <p:sp>
        <p:nvSpPr>
          <p:cNvPr id="3"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03 · THE LATTICE</a:t>
            </a:r>
            <a:endParaRPr lang="en-US" sz="1200" dirty="0"/>
          </a:p>
        </p:txBody>
      </p:sp>
      <p:sp>
        <p:nvSpPr>
          <p:cNvPr id="4"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Stack the step: a recombining lattice</a:t>
            </a:r>
            <a:endParaRPr lang="en-US" sz="3000" dirty="0"/>
          </a:p>
        </p:txBody>
      </p:sp>
      <p:sp>
        <p:nvSpPr>
          <p:cNvPr id="5" name="Text 2"/>
          <p:cNvSpPr/>
          <p:nvPr/>
        </p:nvSpPr>
        <p:spPr>
          <a:xfrm>
            <a:off x="812800" y="1460500"/>
            <a:ext cx="3139440" cy="1263471"/>
          </a:xfrm>
          <a:prstGeom prst="rect">
            <a:avLst/>
          </a:prstGeom>
          <a:noFill/>
          <a:ln/>
        </p:spPr>
        <p:txBody>
          <a:bodyPr wrap="square" lIns="0" tIns="0" rIns="0" bIns="0" rtlCol="0" anchor="t">
            <a:no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Repeat the one-step move n times. Because </a:t>
            </a:r>
            <a:r>
              <a:rPr lang="en-US" b="1" dirty="0">
                <a:solidFill>
                  <a:srgbClr val="14202E"/>
                </a:solidFill>
                <a:latin typeface="IBM Plex Sans" pitchFamily="34" charset="0"/>
                <a:ea typeface="IBM Plex Sans" pitchFamily="34" charset="-122"/>
                <a:cs typeface="IBM Plex Sans" pitchFamily="34" charset="-120"/>
              </a:rPr>
              <a:t>u·d = d·u</a:t>
            </a:r>
            <a:r>
              <a:rPr lang="en-US" dirty="0">
                <a:solidFill>
                  <a:srgbClr val="44505E"/>
                </a:solidFill>
                <a:latin typeface="IBM Plex Sans" pitchFamily="34" charset="0"/>
                <a:ea typeface="IBM Plex Sans" pitchFamily="34" charset="-122"/>
                <a:cs typeface="IBM Plex Sans" pitchFamily="34" charset="-120"/>
              </a:rPr>
              <a:t>, paths merge: up-then-down lands where down-then-up does.</a:t>
            </a:r>
            <a:endParaRPr lang="en-US" dirty="0"/>
          </a:p>
        </p:txBody>
      </p:sp>
      <p:sp>
        <p:nvSpPr>
          <p:cNvPr id="6" name="Text 3"/>
          <p:cNvSpPr/>
          <p:nvPr/>
        </p:nvSpPr>
        <p:spPr>
          <a:xfrm>
            <a:off x="812800" y="2993020"/>
            <a:ext cx="3048000" cy="787400"/>
          </a:xfrm>
          <a:prstGeom prst="roundRect">
            <a:avLst>
              <a:gd name="adj" fmla="val 9677"/>
            </a:avLst>
          </a:prstGeom>
          <a:solidFill>
            <a:srgbClr val="ECE8DC"/>
          </a:solidFill>
          <a:ln/>
          <a:effectLst>
            <a:outerShdw blurRad="50800" dist="38100" dir="2700000" algn="tl" rotWithShape="0">
              <a:prstClr val="black">
                <a:alpha val="40000"/>
              </a:prstClr>
            </a:outerShdw>
          </a:effectLst>
        </p:spPr>
        <p:txBody>
          <a:bodyPr wrap="square" lIns="104682" tIns="104682" rIns="20862" bIns="79282" rtlCol="0" anchor="t">
            <a:normAutofit/>
          </a:bodyPr>
          <a:lstStyle/>
          <a:p>
            <a:pPr marL="0" indent="0" algn="l">
              <a:lnSpc>
                <a:spcPts val="2100"/>
              </a:lnSpc>
              <a:buNone/>
            </a:pPr>
            <a:r>
              <a:rPr lang="en-US" dirty="0">
                <a:solidFill>
                  <a:srgbClr val="14202E"/>
                </a:solidFill>
                <a:latin typeface="JetBrains Mono" pitchFamily="49" charset="0"/>
                <a:ea typeface="JetBrains Mono" pitchFamily="49" charset="-122"/>
                <a:cs typeface="JetBrains Mono" pitchFamily="49" charset="-120"/>
              </a:rPr>
              <a:t>node (i, j):</a:t>
            </a:r>
            <a:endParaRPr lang="en-US" dirty="0"/>
          </a:p>
          <a:p>
            <a:pPr marL="0" indent="0" algn="l">
              <a:lnSpc>
                <a:spcPts val="2100"/>
              </a:lnSpc>
              <a:buNone/>
            </a:pPr>
            <a:r>
              <a:rPr lang="en-US" dirty="0">
                <a:solidFill>
                  <a:srgbClr val="14202E"/>
                </a:solidFill>
                <a:latin typeface="JetBrains Mono" pitchFamily="49" charset="0"/>
                <a:ea typeface="JetBrains Mono" pitchFamily="49" charset="-122"/>
                <a:cs typeface="JetBrains Mono" pitchFamily="49" charset="-120"/>
              </a:rPr>
              <a:t>S = S₀·uʲ·dⁱ⁻ʲ</a:t>
            </a:r>
            <a:endParaRPr lang="en-US" dirty="0"/>
          </a:p>
        </p:txBody>
      </p:sp>
      <p:sp>
        <p:nvSpPr>
          <p:cNvPr id="7" name="Text 4"/>
          <p:cNvSpPr/>
          <p:nvPr/>
        </p:nvSpPr>
        <p:spPr>
          <a:xfrm>
            <a:off x="812800" y="4100989"/>
            <a:ext cx="3139440" cy="1263471"/>
          </a:xfrm>
          <a:prstGeom prst="rect">
            <a:avLst/>
          </a:prstGeom>
          <a:noFill/>
          <a:ln/>
        </p:spPr>
        <p:txBody>
          <a:bodyPr wrap="square" lIns="0" tIns="0" rIns="0" bIns="0" rtlCol="0" anchor="t">
            <a:normAutofit fontScale="85000" lnSpcReduction="10000"/>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i = step, j = number of up-moves. n steps give </a:t>
            </a:r>
            <a:r>
              <a:rPr lang="en-US" b="1" dirty="0">
                <a:solidFill>
                  <a:srgbClr val="14202E"/>
                </a:solidFill>
                <a:latin typeface="IBM Plex Sans" pitchFamily="34" charset="0"/>
                <a:ea typeface="IBM Plex Sans" pitchFamily="34" charset="-122"/>
                <a:cs typeface="IBM Plex Sans" pitchFamily="34" charset="-120"/>
              </a:rPr>
              <a:t>n + 1 leaves</a:t>
            </a:r>
            <a:r>
              <a:rPr lang="en-US" dirty="0">
                <a:solidFill>
                  <a:srgbClr val="44505E"/>
                </a:solidFill>
                <a:latin typeface="IBM Plex Sans" pitchFamily="34" charset="0"/>
                <a:ea typeface="IBM Plex Sans" pitchFamily="34" charset="-122"/>
                <a:cs typeface="IBM Plex Sans" pitchFamily="34" charset="-120"/>
              </a:rPr>
              <a:t>, not 2ⁿ paths. With n = 100: 101 nodes instead of ~10³⁰ paths.</a:t>
            </a:r>
            <a:endParaRPr lang="en-US" dirty="0"/>
          </a:p>
        </p:txBody>
      </p:sp>
      <p:sp>
        <p:nvSpPr>
          <p:cNvPr id="8" name="Text 5"/>
          <p:cNvSpPr/>
          <p:nvPr/>
        </p:nvSpPr>
        <p:spPr>
          <a:xfrm>
            <a:off x="416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0</a:t>
            </a:r>
            <a:endParaRPr lang="en-US" sz="1200" b="1" dirty="0"/>
          </a:p>
        </p:txBody>
      </p:sp>
      <p:sp>
        <p:nvSpPr>
          <p:cNvPr id="9" name="Text 6"/>
          <p:cNvSpPr/>
          <p:nvPr/>
        </p:nvSpPr>
        <p:spPr>
          <a:xfrm>
            <a:off x="607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1</a:t>
            </a:r>
            <a:endParaRPr lang="en-US" sz="1200" b="1" dirty="0"/>
          </a:p>
        </p:txBody>
      </p:sp>
      <p:sp>
        <p:nvSpPr>
          <p:cNvPr id="10" name="Text 7"/>
          <p:cNvSpPr/>
          <p:nvPr/>
        </p:nvSpPr>
        <p:spPr>
          <a:xfrm>
            <a:off x="797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2</a:t>
            </a:r>
            <a:endParaRPr lang="en-US" sz="1200" b="1" dirty="0"/>
          </a:p>
        </p:txBody>
      </p:sp>
      <p:sp>
        <p:nvSpPr>
          <p:cNvPr id="11" name="Text 8"/>
          <p:cNvSpPr/>
          <p:nvPr/>
        </p:nvSpPr>
        <p:spPr>
          <a:xfrm>
            <a:off x="988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3 = T</a:t>
            </a:r>
            <a:endParaRPr lang="en-US" sz="1200" b="1" dirty="0"/>
          </a:p>
        </p:txBody>
      </p:sp>
      <p:sp>
        <p:nvSpPr>
          <p:cNvPr id="12" name="Text 9"/>
          <p:cNvSpPr/>
          <p:nvPr/>
        </p:nvSpPr>
        <p:spPr>
          <a:xfrm>
            <a:off x="4197350" y="362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S₀</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1 path</a:t>
            </a:r>
            <a:endParaRPr lang="en-US" sz="1300" dirty="0"/>
          </a:p>
        </p:txBody>
      </p:sp>
      <p:sp>
        <p:nvSpPr>
          <p:cNvPr id="13" name="Text 10"/>
          <p:cNvSpPr/>
          <p:nvPr/>
        </p:nvSpPr>
        <p:spPr>
          <a:xfrm>
            <a:off x="6102350" y="299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S₀u</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1 path</a:t>
            </a:r>
            <a:endParaRPr lang="en-US" sz="1300" dirty="0"/>
          </a:p>
        </p:txBody>
      </p:sp>
      <p:sp>
        <p:nvSpPr>
          <p:cNvPr id="14" name="Text 11"/>
          <p:cNvSpPr/>
          <p:nvPr/>
        </p:nvSpPr>
        <p:spPr>
          <a:xfrm>
            <a:off x="6102350" y="426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S₀d</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1 path</a:t>
            </a:r>
            <a:endParaRPr lang="en-US" sz="1300" dirty="0"/>
          </a:p>
        </p:txBody>
      </p:sp>
      <p:sp>
        <p:nvSpPr>
          <p:cNvPr id="15" name="Text 12"/>
          <p:cNvSpPr/>
          <p:nvPr/>
        </p:nvSpPr>
        <p:spPr>
          <a:xfrm>
            <a:off x="8007350" y="235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S₀u²</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1 path</a:t>
            </a:r>
            <a:endParaRPr lang="en-US" sz="1300" dirty="0"/>
          </a:p>
        </p:txBody>
      </p:sp>
      <p:sp>
        <p:nvSpPr>
          <p:cNvPr id="16" name="Text 13"/>
          <p:cNvSpPr/>
          <p:nvPr/>
        </p:nvSpPr>
        <p:spPr>
          <a:xfrm>
            <a:off x="8010525" y="3629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S₀ud</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2 paths</a:t>
            </a:r>
            <a:endParaRPr lang="en-US" sz="1300" dirty="0"/>
          </a:p>
        </p:txBody>
      </p:sp>
      <p:sp>
        <p:nvSpPr>
          <p:cNvPr id="17" name="Text 14"/>
          <p:cNvSpPr/>
          <p:nvPr/>
        </p:nvSpPr>
        <p:spPr>
          <a:xfrm>
            <a:off x="8007350" y="489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S₀d²</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1 path</a:t>
            </a:r>
            <a:endParaRPr lang="en-US" sz="1300" dirty="0"/>
          </a:p>
        </p:txBody>
      </p:sp>
      <p:sp>
        <p:nvSpPr>
          <p:cNvPr id="18" name="Text 15"/>
          <p:cNvSpPr/>
          <p:nvPr/>
        </p:nvSpPr>
        <p:spPr>
          <a:xfrm>
            <a:off x="9912350" y="172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S₀u³</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1 path</a:t>
            </a:r>
            <a:endParaRPr lang="en-US" sz="1300" dirty="0"/>
          </a:p>
        </p:txBody>
      </p:sp>
      <p:sp>
        <p:nvSpPr>
          <p:cNvPr id="19" name="Text 16"/>
          <p:cNvSpPr/>
          <p:nvPr/>
        </p:nvSpPr>
        <p:spPr>
          <a:xfrm>
            <a:off x="9915525" y="299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S₀u²d</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3 paths</a:t>
            </a:r>
            <a:endParaRPr lang="en-US" sz="1300" dirty="0"/>
          </a:p>
        </p:txBody>
      </p:sp>
      <p:sp>
        <p:nvSpPr>
          <p:cNvPr id="20" name="Text 17"/>
          <p:cNvSpPr/>
          <p:nvPr/>
        </p:nvSpPr>
        <p:spPr>
          <a:xfrm>
            <a:off x="9915525" y="426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S₀ud²</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3 paths</a:t>
            </a:r>
            <a:endParaRPr lang="en-US" sz="1300" dirty="0"/>
          </a:p>
        </p:txBody>
      </p:sp>
      <p:sp>
        <p:nvSpPr>
          <p:cNvPr id="21" name="Text 18"/>
          <p:cNvSpPr/>
          <p:nvPr/>
        </p:nvSpPr>
        <p:spPr>
          <a:xfrm>
            <a:off x="9912350" y="553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S₀d³</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1 path</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5">
    <p:bg>
      <p:bgPr>
        <a:solidFill>
          <a:srgbClr val="F5F3EC"/>
        </a:solidFill>
        <a:effectLst/>
      </p:bgPr>
    </p:bg>
    <p:spTree>
      <p:nvGrpSpPr>
        <p:cNvPr id="1" name=""/>
        <p:cNvGrpSpPr/>
        <p:nvPr/>
      </p:nvGrpSpPr>
      <p:grpSpPr>
        <a:xfrm>
          <a:off x="0" y="0"/>
          <a:ext cx="0" cy="0"/>
          <a:chOff x="0" y="0"/>
          <a:chExt cx="0" cy="0"/>
        </a:xfrm>
      </p:grpSpPr>
      <p:pic>
        <p:nvPicPr>
          <p:cNvPr id="2" name="Image 0" descr="Forward pass through the lattice: stock prices multiplied by u or d at each step"/>
          <p:cNvPicPr>
            <a:picLocks noChangeAspect="1"/>
          </p:cNvPicPr>
          <p:nvPr/>
        </p:nvPicPr>
        <p:blipFill>
          <a:blip r:embed="rId3"/>
          <a:srcRect l="-14" r="-14"/>
          <a:stretch/>
        </p:blipFill>
        <p:spPr>
          <a:xfrm>
            <a:off x="4064000" y="1651000"/>
            <a:ext cx="7315200" cy="4381500"/>
          </a:xfrm>
          <a:prstGeom prst="rect">
            <a:avLst/>
          </a:prstGeom>
        </p:spPr>
      </p:pic>
      <p:sp>
        <p:nvSpPr>
          <p:cNvPr id="3"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03 · THE LATTICE · FORWARD PASS ①</a:t>
            </a:r>
            <a:endParaRPr lang="en-US" sz="1200" dirty="0"/>
          </a:p>
        </p:txBody>
      </p:sp>
      <p:sp>
        <p:nvSpPr>
          <p:cNvPr id="4"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Forward pass ①: propagate prices</a:t>
            </a:r>
            <a:endParaRPr lang="en-US" sz="3000" dirty="0"/>
          </a:p>
        </p:txBody>
      </p:sp>
      <p:sp>
        <p:nvSpPr>
          <p:cNvPr id="5" name="Text 2"/>
          <p:cNvSpPr/>
          <p:nvPr/>
        </p:nvSpPr>
        <p:spPr>
          <a:xfrm>
            <a:off x="812800" y="1460500"/>
            <a:ext cx="3139440" cy="798711"/>
          </a:xfrm>
          <a:prstGeom prst="rect">
            <a:avLst/>
          </a:prstGeom>
          <a:noFill/>
          <a:ln/>
        </p:spPr>
        <p:txBody>
          <a:bodyPr wrap="square" lIns="0" tIns="0" rIns="0" bIns="0" rtlCol="0" anchor="t">
            <a:norm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Start at the root and push prices to the right. Each node feeds two children:</a:t>
            </a:r>
            <a:endParaRPr lang="en-US" dirty="0"/>
          </a:p>
        </p:txBody>
      </p:sp>
      <p:sp>
        <p:nvSpPr>
          <p:cNvPr id="6" name="Text 3"/>
          <p:cNvSpPr/>
          <p:nvPr/>
        </p:nvSpPr>
        <p:spPr>
          <a:xfrm>
            <a:off x="812800" y="2524235"/>
            <a:ext cx="3048000" cy="787400"/>
          </a:xfrm>
          <a:prstGeom prst="roundRect">
            <a:avLst>
              <a:gd name="adj" fmla="val 9677"/>
            </a:avLst>
          </a:prstGeom>
          <a:solidFill>
            <a:srgbClr val="ECE8DC"/>
          </a:solidFill>
          <a:ln/>
          <a:effectLst>
            <a:outerShdw blurRad="50800" dist="38100" dir="2700000" algn="tl" rotWithShape="0">
              <a:prstClr val="black">
                <a:alpha val="40000"/>
              </a:prstClr>
            </a:outerShdw>
          </a:effectLst>
        </p:spPr>
        <p:txBody>
          <a:bodyPr wrap="square" lIns="104682" tIns="104682" rIns="20862" bIns="79282" rtlCol="0" anchor="t">
            <a:normAutofit/>
          </a:bodyPr>
          <a:lstStyle/>
          <a:p>
            <a:pPr marL="0" indent="0" algn="l">
              <a:lnSpc>
                <a:spcPts val="2100"/>
              </a:lnSpc>
              <a:buNone/>
            </a:pPr>
            <a:r>
              <a:rPr lang="en-US" dirty="0">
                <a:solidFill>
                  <a:srgbClr val="2B65C8"/>
                </a:solidFill>
                <a:latin typeface="JetBrains Mono" pitchFamily="49" charset="0"/>
                <a:ea typeface="JetBrains Mono" pitchFamily="49" charset="-122"/>
                <a:cs typeface="JetBrains Mono" pitchFamily="49" charset="-120"/>
              </a:rPr>
              <a:t>S↑ = S · 1.10</a:t>
            </a:r>
            <a:endParaRPr lang="en-US" dirty="0"/>
          </a:p>
          <a:p>
            <a:pPr marL="0" indent="0" algn="l">
              <a:lnSpc>
                <a:spcPts val="2100"/>
              </a:lnSpc>
              <a:buNone/>
            </a:pPr>
            <a:r>
              <a:rPr lang="en-US" dirty="0">
                <a:solidFill>
                  <a:srgbClr val="A9520F"/>
                </a:solidFill>
                <a:latin typeface="JetBrains Mono" pitchFamily="49" charset="0"/>
                <a:ea typeface="JetBrains Mono" pitchFamily="49" charset="-122"/>
                <a:cs typeface="JetBrains Mono" pitchFamily="49" charset="-120"/>
              </a:rPr>
              <a:t>S↓ = S · 0.90</a:t>
            </a:r>
            <a:endParaRPr lang="en-US" dirty="0"/>
          </a:p>
        </p:txBody>
      </p:sp>
      <p:sp>
        <p:nvSpPr>
          <p:cNvPr id="7" name="Text 4"/>
          <p:cNvSpPr/>
          <p:nvPr/>
        </p:nvSpPr>
        <p:spPr>
          <a:xfrm>
            <a:off x="812800" y="3612108"/>
            <a:ext cx="3139440" cy="1117352"/>
          </a:xfrm>
          <a:prstGeom prst="rect">
            <a:avLst/>
          </a:prstGeom>
          <a:noFill/>
          <a:ln/>
        </p:spPr>
        <p:txBody>
          <a:bodyPr wrap="square" lIns="0" tIns="0" rIns="0" bIns="0" rtlCol="0" anchor="t">
            <a:norm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Purely mechanical — no probabilities yet. The leaves span every possible outcome: </a:t>
            </a:r>
            <a:r>
              <a:rPr lang="en-US" b="1" dirty="0">
                <a:solidFill>
                  <a:srgbClr val="14202E"/>
                </a:solidFill>
                <a:latin typeface="IBM Plex Sans" pitchFamily="34" charset="0"/>
                <a:ea typeface="IBM Plex Sans" pitchFamily="34" charset="-122"/>
                <a:cs typeface="IBM Plex Sans" pitchFamily="34" charset="-120"/>
              </a:rPr>
              <a:t>72.90 … 133.10</a:t>
            </a:r>
            <a:r>
              <a:rPr lang="en-US" dirty="0">
                <a:solidFill>
                  <a:srgbClr val="44505E"/>
                </a:solidFill>
                <a:latin typeface="IBM Plex Sans" pitchFamily="34" charset="0"/>
                <a:ea typeface="IBM Plex Sans" pitchFamily="34" charset="-122"/>
                <a:cs typeface="IBM Plex Sans" pitchFamily="34" charset="-120"/>
              </a:rPr>
              <a:t>.</a:t>
            </a:r>
            <a:endParaRPr lang="en-US" dirty="0"/>
          </a:p>
        </p:txBody>
      </p:sp>
      <p:sp>
        <p:nvSpPr>
          <p:cNvPr id="8" name="Text 5"/>
          <p:cNvSpPr/>
          <p:nvPr/>
        </p:nvSpPr>
        <p:spPr>
          <a:xfrm>
            <a:off x="416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0</a:t>
            </a:r>
            <a:endParaRPr lang="en-US" sz="1200" b="1" dirty="0"/>
          </a:p>
        </p:txBody>
      </p:sp>
      <p:sp>
        <p:nvSpPr>
          <p:cNvPr id="9" name="Text 6"/>
          <p:cNvSpPr/>
          <p:nvPr/>
        </p:nvSpPr>
        <p:spPr>
          <a:xfrm>
            <a:off x="607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1</a:t>
            </a:r>
            <a:endParaRPr lang="en-US" sz="1200" b="1" dirty="0"/>
          </a:p>
        </p:txBody>
      </p:sp>
      <p:sp>
        <p:nvSpPr>
          <p:cNvPr id="10" name="Text 7"/>
          <p:cNvSpPr/>
          <p:nvPr/>
        </p:nvSpPr>
        <p:spPr>
          <a:xfrm>
            <a:off x="797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2</a:t>
            </a:r>
            <a:endParaRPr lang="en-US" sz="1200" b="1" dirty="0"/>
          </a:p>
        </p:txBody>
      </p:sp>
      <p:sp>
        <p:nvSpPr>
          <p:cNvPr id="11" name="Text 8"/>
          <p:cNvSpPr/>
          <p:nvPr/>
        </p:nvSpPr>
        <p:spPr>
          <a:xfrm>
            <a:off x="988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3 = T</a:t>
            </a:r>
            <a:endParaRPr lang="en-US" sz="1200" b="1" dirty="0"/>
          </a:p>
        </p:txBody>
      </p:sp>
      <p:sp>
        <p:nvSpPr>
          <p:cNvPr id="12" name="Text 9"/>
          <p:cNvSpPr/>
          <p:nvPr/>
        </p:nvSpPr>
        <p:spPr>
          <a:xfrm>
            <a:off x="4197350" y="362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100.00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root</a:t>
            </a:r>
            <a:endParaRPr lang="en-US" sz="1300" dirty="0"/>
          </a:p>
        </p:txBody>
      </p:sp>
      <p:sp>
        <p:nvSpPr>
          <p:cNvPr id="13" name="Text 10"/>
          <p:cNvSpPr/>
          <p:nvPr/>
        </p:nvSpPr>
        <p:spPr>
          <a:xfrm>
            <a:off x="6102350" y="299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110.00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u</a:t>
            </a:r>
            <a:endParaRPr lang="en-US" sz="1300" dirty="0"/>
          </a:p>
        </p:txBody>
      </p:sp>
      <p:sp>
        <p:nvSpPr>
          <p:cNvPr id="14" name="Text 11"/>
          <p:cNvSpPr/>
          <p:nvPr/>
        </p:nvSpPr>
        <p:spPr>
          <a:xfrm>
            <a:off x="6102350" y="426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90.00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d</a:t>
            </a:r>
            <a:endParaRPr lang="en-US" sz="1300" dirty="0"/>
          </a:p>
        </p:txBody>
      </p:sp>
      <p:sp>
        <p:nvSpPr>
          <p:cNvPr id="15" name="Text 12"/>
          <p:cNvSpPr/>
          <p:nvPr/>
        </p:nvSpPr>
        <p:spPr>
          <a:xfrm>
            <a:off x="8007350" y="235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121.00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uu</a:t>
            </a:r>
            <a:endParaRPr lang="en-US" sz="1300" dirty="0"/>
          </a:p>
        </p:txBody>
      </p:sp>
      <p:sp>
        <p:nvSpPr>
          <p:cNvPr id="16" name="Text 13"/>
          <p:cNvSpPr/>
          <p:nvPr/>
        </p:nvSpPr>
        <p:spPr>
          <a:xfrm>
            <a:off x="8007350" y="362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99.00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ud</a:t>
            </a:r>
            <a:endParaRPr lang="en-US" sz="1300" dirty="0"/>
          </a:p>
        </p:txBody>
      </p:sp>
      <p:sp>
        <p:nvSpPr>
          <p:cNvPr id="17" name="Text 14"/>
          <p:cNvSpPr/>
          <p:nvPr/>
        </p:nvSpPr>
        <p:spPr>
          <a:xfrm>
            <a:off x="8007350" y="489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81.00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dd</a:t>
            </a:r>
            <a:endParaRPr lang="en-US" sz="1300" dirty="0"/>
          </a:p>
        </p:txBody>
      </p:sp>
      <p:sp>
        <p:nvSpPr>
          <p:cNvPr id="18" name="Text 15"/>
          <p:cNvSpPr/>
          <p:nvPr/>
        </p:nvSpPr>
        <p:spPr>
          <a:xfrm>
            <a:off x="9912350" y="172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133.10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uuu</a:t>
            </a:r>
            <a:endParaRPr lang="en-US" sz="1300" dirty="0"/>
          </a:p>
        </p:txBody>
      </p:sp>
      <p:sp>
        <p:nvSpPr>
          <p:cNvPr id="19" name="Text 16"/>
          <p:cNvSpPr/>
          <p:nvPr/>
        </p:nvSpPr>
        <p:spPr>
          <a:xfrm>
            <a:off x="9912350" y="299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108.90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uud</a:t>
            </a:r>
            <a:endParaRPr lang="en-US" sz="1300" dirty="0"/>
          </a:p>
        </p:txBody>
      </p:sp>
      <p:sp>
        <p:nvSpPr>
          <p:cNvPr id="20" name="Text 17"/>
          <p:cNvSpPr/>
          <p:nvPr/>
        </p:nvSpPr>
        <p:spPr>
          <a:xfrm>
            <a:off x="9912350" y="426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89.10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udd</a:t>
            </a:r>
            <a:endParaRPr lang="en-US" sz="1300" dirty="0"/>
          </a:p>
        </p:txBody>
      </p:sp>
      <p:sp>
        <p:nvSpPr>
          <p:cNvPr id="21" name="Text 18"/>
          <p:cNvSpPr/>
          <p:nvPr/>
        </p:nvSpPr>
        <p:spPr>
          <a:xfrm>
            <a:off x="9912350" y="553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72.90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ddd</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6">
    <p:bg>
      <p:bgPr>
        <a:solidFill>
          <a:srgbClr val="F5F3EC"/>
        </a:solidFill>
        <a:effectLst/>
      </p:bgPr>
    </p:bg>
    <p:spTree>
      <p:nvGrpSpPr>
        <p:cNvPr id="1" name=""/>
        <p:cNvGrpSpPr/>
        <p:nvPr/>
      </p:nvGrpSpPr>
      <p:grpSpPr>
        <a:xfrm>
          <a:off x="0" y="0"/>
          <a:ext cx="0" cy="0"/>
          <a:chOff x="0" y="0"/>
          <a:chExt cx="0" cy="0"/>
        </a:xfrm>
      </p:grpSpPr>
      <p:pic>
        <p:nvPicPr>
          <p:cNvPr id="2" name="Image 0" descr="Forward pass of probabilities: each node's probability flows to its children weighted by p and 1 minus p"/>
          <p:cNvPicPr>
            <a:picLocks noChangeAspect="1"/>
          </p:cNvPicPr>
          <p:nvPr/>
        </p:nvPicPr>
        <p:blipFill>
          <a:blip r:embed="rId3"/>
          <a:srcRect l="-14" r="-14"/>
          <a:stretch/>
        </p:blipFill>
        <p:spPr>
          <a:xfrm>
            <a:off x="4064000" y="1651000"/>
            <a:ext cx="7315200" cy="4381500"/>
          </a:xfrm>
          <a:prstGeom prst="rect">
            <a:avLst/>
          </a:prstGeom>
        </p:spPr>
      </p:pic>
      <p:sp>
        <p:nvSpPr>
          <p:cNvPr id="3"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03 · THE LATTICE · FORWARD PASS ②</a:t>
            </a:r>
            <a:endParaRPr lang="en-US" sz="1200" dirty="0"/>
          </a:p>
        </p:txBody>
      </p:sp>
      <p:sp>
        <p:nvSpPr>
          <p:cNvPr id="4"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Forward pass ②: propagate probabilities</a:t>
            </a:r>
            <a:endParaRPr lang="en-US" sz="3000" dirty="0"/>
          </a:p>
        </p:txBody>
      </p:sp>
      <p:sp>
        <p:nvSpPr>
          <p:cNvPr id="5" name="Text 2"/>
          <p:cNvSpPr/>
          <p:nvPr/>
        </p:nvSpPr>
        <p:spPr>
          <a:xfrm>
            <a:off x="812799" y="1422400"/>
            <a:ext cx="3403601" cy="1722734"/>
          </a:xfrm>
          <a:prstGeom prst="rect">
            <a:avLst/>
          </a:prstGeom>
          <a:noFill/>
          <a:ln/>
        </p:spPr>
        <p:txBody>
          <a:bodyPr wrap="square" lIns="0" tIns="0" rIns="0" bIns="0" rtlCol="0" anchor="t">
            <a:normAutofit/>
          </a:bodyPr>
          <a:lstStyle/>
          <a:p>
            <a:pPr marL="0" indent="0" algn="l">
              <a:lnSpc>
                <a:spcPts val="1885"/>
              </a:lnSpc>
              <a:buNone/>
            </a:pPr>
            <a:r>
              <a:rPr lang="en-US" dirty="0">
                <a:solidFill>
                  <a:srgbClr val="44505E"/>
                </a:solidFill>
                <a:latin typeface="IBM Plex Sans" pitchFamily="34" charset="0"/>
                <a:ea typeface="IBM Plex Sans" pitchFamily="34" charset="-122"/>
                <a:cs typeface="IBM Plex Sans" pitchFamily="34" charset="-120"/>
              </a:rPr>
              <a:t>Probability mass flows right: a node sends a share p up and </a:t>
            </a:r>
            <a:br>
              <a:rPr lang="en-US" dirty="0">
                <a:solidFill>
                  <a:srgbClr val="44505E"/>
                </a:solidFill>
                <a:latin typeface="IBM Plex Sans" pitchFamily="34" charset="0"/>
                <a:ea typeface="IBM Plex Sans" pitchFamily="34" charset="-122"/>
                <a:cs typeface="IBM Plex Sans" pitchFamily="34" charset="-120"/>
              </a:rPr>
            </a:br>
            <a:r>
              <a:rPr lang="en-US" dirty="0">
                <a:solidFill>
                  <a:srgbClr val="44505E"/>
                </a:solidFill>
                <a:latin typeface="IBM Plex Sans" pitchFamily="34" charset="0"/>
                <a:ea typeface="IBM Plex Sans" pitchFamily="34" charset="-122"/>
                <a:cs typeface="IBM Plex Sans" pitchFamily="34" charset="-120"/>
              </a:rPr>
              <a:t>1 − p down; </a:t>
            </a:r>
            <a:br>
              <a:rPr lang="en-US" dirty="0">
                <a:solidFill>
                  <a:srgbClr val="44505E"/>
                </a:solidFill>
                <a:latin typeface="IBM Plex Sans" pitchFamily="34" charset="0"/>
                <a:ea typeface="IBM Plex Sans" pitchFamily="34" charset="-122"/>
                <a:cs typeface="IBM Plex Sans" pitchFamily="34" charset="-120"/>
              </a:rPr>
            </a:br>
            <a:r>
              <a:rPr lang="en-US" dirty="0">
                <a:solidFill>
                  <a:srgbClr val="44505E"/>
                </a:solidFill>
                <a:latin typeface="IBM Plex Sans" pitchFamily="34" charset="0"/>
                <a:ea typeface="IBM Plex Sans" pitchFamily="34" charset="-122"/>
                <a:cs typeface="IBM Plex Sans" pitchFamily="34" charset="-120"/>
              </a:rPr>
              <a:t>merging paths add up. The result is the </a:t>
            </a:r>
            <a:r>
              <a:rPr lang="en-US" b="1" dirty="0">
                <a:solidFill>
                  <a:srgbClr val="14202E"/>
                </a:solidFill>
                <a:latin typeface="IBM Plex Sans" pitchFamily="34" charset="0"/>
                <a:ea typeface="IBM Plex Sans" pitchFamily="34" charset="-122"/>
                <a:cs typeface="IBM Plex Sans" pitchFamily="34" charset="-120"/>
              </a:rPr>
              <a:t>binomial distribution</a:t>
            </a:r>
            <a:r>
              <a:rPr lang="en-US" dirty="0">
                <a:solidFill>
                  <a:srgbClr val="44505E"/>
                </a:solidFill>
                <a:latin typeface="IBM Plex Sans" pitchFamily="34" charset="0"/>
                <a:ea typeface="IBM Plex Sans" pitchFamily="34" charset="-122"/>
                <a:cs typeface="IBM Plex Sans" pitchFamily="34" charset="-120"/>
              </a:rPr>
              <a:t> — Pascal’s triangle × pʲ(1 − p)ⁿ⁻ʲ.</a:t>
            </a:r>
            <a:endParaRPr lang="en-US" dirty="0"/>
          </a:p>
        </p:txBody>
      </p:sp>
      <p:graphicFrame>
        <p:nvGraphicFramePr>
          <p:cNvPr id="6" name="Table 0"/>
          <p:cNvGraphicFramePr>
            <a:graphicFrameLocks noGrp="1"/>
          </p:cNvGraphicFramePr>
          <p:nvPr>
            <p:extLst>
              <p:ext uri="{D42A27DB-BD31-4B8C-83A1-F6EECF244321}">
                <p14:modId xmlns:p14="http://schemas.microsoft.com/office/powerpoint/2010/main" val="2300361626"/>
              </p:ext>
            </p:extLst>
          </p:nvPr>
        </p:nvGraphicFramePr>
        <p:xfrm>
          <a:off x="825500" y="3389319"/>
          <a:ext cx="3035300" cy="1796605"/>
        </p:xfrm>
        <a:graphic>
          <a:graphicData uri="http://schemas.openxmlformats.org/drawingml/2006/table">
            <a:tbl>
              <a:tblPr/>
              <a:tblGrid>
                <a:gridCol w="1092708">
                  <a:extLst>
                    <a:ext uri="{9D8B030D-6E8A-4147-A177-3AD203B41FA5}">
                      <a16:colId xmlns:a16="http://schemas.microsoft.com/office/drawing/2014/main" val="20000"/>
                    </a:ext>
                  </a:extLst>
                </a:gridCol>
                <a:gridCol w="971296">
                  <a:extLst>
                    <a:ext uri="{9D8B030D-6E8A-4147-A177-3AD203B41FA5}">
                      <a16:colId xmlns:a16="http://schemas.microsoft.com/office/drawing/2014/main" val="20001"/>
                    </a:ext>
                  </a:extLst>
                </a:gridCol>
                <a:gridCol w="971296">
                  <a:extLst>
                    <a:ext uri="{9D8B030D-6E8A-4147-A177-3AD203B41FA5}">
                      <a16:colId xmlns:a16="http://schemas.microsoft.com/office/drawing/2014/main" val="20002"/>
                    </a:ext>
                  </a:extLst>
                </a:gridCol>
              </a:tblGrid>
              <a:tr h="359321">
                <a:tc>
                  <a:txBody>
                    <a:bodyPr/>
                    <a:lstStyle/>
                    <a:p>
                      <a:pPr marL="0" indent="0">
                        <a:lnSpc>
                          <a:spcPts val="1820"/>
                        </a:lnSpc>
                        <a:buNone/>
                      </a:pPr>
                      <a:r>
                        <a:rPr lang="en-US" sz="1800" b="1" dirty="0">
                          <a:solidFill>
                            <a:srgbClr val="14202E"/>
                          </a:solidFill>
                          <a:latin typeface="JetBrains Mono" pitchFamily="49" charset="0"/>
                          <a:ea typeface="JetBrains Mono" pitchFamily="49" charset="-122"/>
                          <a:cs typeface="JetBrains Mono" pitchFamily="49" charset="-120"/>
                        </a:rPr>
                        <a:t>S(T)</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gn="r">
                        <a:lnSpc>
                          <a:spcPts val="1820"/>
                        </a:lnSpc>
                        <a:buNone/>
                      </a:pPr>
                      <a:r>
                        <a:rPr lang="en-US" sz="1800" b="1" dirty="0">
                          <a:solidFill>
                            <a:srgbClr val="A9520F"/>
                          </a:solidFill>
                          <a:latin typeface="JetBrains Mono" pitchFamily="49" charset="0"/>
                          <a:ea typeface="JetBrains Mono" pitchFamily="49" charset="-122"/>
                          <a:cs typeface="JetBrains Mono" pitchFamily="49" charset="-120"/>
                        </a:rPr>
                        <a:t>p = .7</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gn="r">
                        <a:lnSpc>
                          <a:spcPts val="1820"/>
                        </a:lnSpc>
                        <a:buNone/>
                      </a:pPr>
                      <a:r>
                        <a:rPr lang="en-US" sz="1800" b="1" dirty="0">
                          <a:solidFill>
                            <a:srgbClr val="2B65C8"/>
                          </a:solidFill>
                          <a:latin typeface="JetBrains Mono" pitchFamily="49" charset="0"/>
                          <a:ea typeface="JetBrains Mono" pitchFamily="49" charset="-122"/>
                          <a:cs typeface="JetBrains Mono" pitchFamily="49" charset="-120"/>
                        </a:rPr>
                        <a:t>q = .6</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133.10</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34.3%</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21.6%</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108.90</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44.1%</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43.2%</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89.10</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18.9%</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28.8%</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72.90</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2.7%</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6.4%</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3"/>
          <p:cNvSpPr/>
          <p:nvPr/>
        </p:nvSpPr>
        <p:spPr>
          <a:xfrm>
            <a:off x="416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0</a:t>
            </a:r>
            <a:endParaRPr lang="en-US" sz="1200" b="1" dirty="0"/>
          </a:p>
        </p:txBody>
      </p:sp>
      <p:sp>
        <p:nvSpPr>
          <p:cNvPr id="8" name="Text 4"/>
          <p:cNvSpPr/>
          <p:nvPr/>
        </p:nvSpPr>
        <p:spPr>
          <a:xfrm>
            <a:off x="607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1</a:t>
            </a:r>
            <a:endParaRPr lang="en-US" sz="1200" b="1" dirty="0"/>
          </a:p>
        </p:txBody>
      </p:sp>
      <p:sp>
        <p:nvSpPr>
          <p:cNvPr id="9" name="Text 5"/>
          <p:cNvSpPr/>
          <p:nvPr/>
        </p:nvSpPr>
        <p:spPr>
          <a:xfrm>
            <a:off x="797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2</a:t>
            </a:r>
            <a:endParaRPr lang="en-US" sz="1200" b="1" dirty="0"/>
          </a:p>
        </p:txBody>
      </p:sp>
      <p:sp>
        <p:nvSpPr>
          <p:cNvPr id="10" name="Text 6"/>
          <p:cNvSpPr/>
          <p:nvPr/>
        </p:nvSpPr>
        <p:spPr>
          <a:xfrm>
            <a:off x="988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3 = T</a:t>
            </a:r>
            <a:endParaRPr lang="en-US" sz="1200" b="1" dirty="0"/>
          </a:p>
        </p:txBody>
      </p:sp>
      <p:sp>
        <p:nvSpPr>
          <p:cNvPr id="11" name="Text 7"/>
          <p:cNvSpPr/>
          <p:nvPr/>
        </p:nvSpPr>
        <p:spPr>
          <a:xfrm>
            <a:off x="4197350" y="362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100.00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1</a:t>
            </a:r>
            <a:endParaRPr lang="en-US" sz="1300" dirty="0"/>
          </a:p>
        </p:txBody>
      </p:sp>
      <p:sp>
        <p:nvSpPr>
          <p:cNvPr id="12" name="Text 8"/>
          <p:cNvSpPr/>
          <p:nvPr/>
        </p:nvSpPr>
        <p:spPr>
          <a:xfrm>
            <a:off x="6102350" y="299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110.00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p</a:t>
            </a:r>
            <a:endParaRPr lang="en-US" sz="1300" dirty="0"/>
          </a:p>
        </p:txBody>
      </p:sp>
      <p:sp>
        <p:nvSpPr>
          <p:cNvPr id="13" name="Text 9"/>
          <p:cNvSpPr/>
          <p:nvPr/>
        </p:nvSpPr>
        <p:spPr>
          <a:xfrm>
            <a:off x="6102350" y="426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90.00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1−p</a:t>
            </a:r>
            <a:endParaRPr lang="en-US" sz="1300" dirty="0"/>
          </a:p>
        </p:txBody>
      </p:sp>
      <p:sp>
        <p:nvSpPr>
          <p:cNvPr id="14" name="Text 10"/>
          <p:cNvSpPr/>
          <p:nvPr/>
        </p:nvSpPr>
        <p:spPr>
          <a:xfrm>
            <a:off x="8007350" y="235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121.00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p²</a:t>
            </a:r>
            <a:endParaRPr lang="en-US" sz="1300" dirty="0"/>
          </a:p>
        </p:txBody>
      </p:sp>
      <p:sp>
        <p:nvSpPr>
          <p:cNvPr id="15" name="Text 11"/>
          <p:cNvSpPr/>
          <p:nvPr/>
        </p:nvSpPr>
        <p:spPr>
          <a:xfrm>
            <a:off x="8007350" y="362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99.00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2p(1−p)</a:t>
            </a:r>
            <a:endParaRPr lang="en-US" sz="1300" dirty="0"/>
          </a:p>
        </p:txBody>
      </p:sp>
      <p:sp>
        <p:nvSpPr>
          <p:cNvPr id="16" name="Text 12"/>
          <p:cNvSpPr/>
          <p:nvPr/>
        </p:nvSpPr>
        <p:spPr>
          <a:xfrm>
            <a:off x="8007350" y="489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81.00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(1−p)²</a:t>
            </a:r>
            <a:endParaRPr lang="en-US" sz="1300" dirty="0"/>
          </a:p>
        </p:txBody>
      </p:sp>
      <p:sp>
        <p:nvSpPr>
          <p:cNvPr id="17" name="Text 13"/>
          <p:cNvSpPr/>
          <p:nvPr/>
        </p:nvSpPr>
        <p:spPr>
          <a:xfrm>
            <a:off x="9912350" y="172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133.10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p³</a:t>
            </a:r>
            <a:endParaRPr lang="en-US" sz="1300" dirty="0"/>
          </a:p>
        </p:txBody>
      </p:sp>
      <p:sp>
        <p:nvSpPr>
          <p:cNvPr id="18" name="Text 14"/>
          <p:cNvSpPr/>
          <p:nvPr/>
        </p:nvSpPr>
        <p:spPr>
          <a:xfrm>
            <a:off x="9912350" y="299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108.90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3p²(1−p)</a:t>
            </a:r>
            <a:endParaRPr lang="en-US" sz="1300" dirty="0"/>
          </a:p>
        </p:txBody>
      </p:sp>
      <p:sp>
        <p:nvSpPr>
          <p:cNvPr id="19" name="Text 15"/>
          <p:cNvSpPr/>
          <p:nvPr/>
        </p:nvSpPr>
        <p:spPr>
          <a:xfrm>
            <a:off x="9912350" y="426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89.10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3p(1−p)²</a:t>
            </a:r>
            <a:endParaRPr lang="en-US" sz="1300" dirty="0"/>
          </a:p>
        </p:txBody>
      </p:sp>
      <p:sp>
        <p:nvSpPr>
          <p:cNvPr id="20" name="Text 16"/>
          <p:cNvSpPr/>
          <p:nvPr/>
        </p:nvSpPr>
        <p:spPr>
          <a:xfrm>
            <a:off x="9912350" y="553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72.90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(1−p)³</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7">
    <p:bg>
      <p:bgPr>
        <a:solidFill>
          <a:srgbClr val="F5F3EC"/>
        </a:solidFill>
        <a:effectLst/>
      </p:bgPr>
    </p:bg>
    <p:spTree>
      <p:nvGrpSpPr>
        <p:cNvPr id="1" name=""/>
        <p:cNvGrpSpPr/>
        <p:nvPr/>
      </p:nvGrpSpPr>
      <p:grpSpPr>
        <a:xfrm>
          <a:off x="0" y="0"/>
          <a:ext cx="0" cy="0"/>
          <a:chOff x="0" y="0"/>
          <a:chExt cx="0" cy="0"/>
        </a:xfrm>
      </p:grpSpPr>
      <p:pic>
        <p:nvPicPr>
          <p:cNvPr id="2" name="Image 0" descr="Forward pass of state prices: risk-neutral probability mass discounted by R at each step"/>
          <p:cNvPicPr>
            <a:picLocks noChangeAspect="1"/>
          </p:cNvPicPr>
          <p:nvPr/>
        </p:nvPicPr>
        <p:blipFill>
          <a:blip r:embed="rId3"/>
          <a:srcRect l="-14" r="-14"/>
          <a:stretch/>
        </p:blipFill>
        <p:spPr>
          <a:xfrm>
            <a:off x="4064000" y="1651000"/>
            <a:ext cx="7315200" cy="4381500"/>
          </a:xfrm>
          <a:prstGeom prst="rect">
            <a:avLst/>
          </a:prstGeom>
        </p:spPr>
      </p:pic>
      <p:sp>
        <p:nvSpPr>
          <p:cNvPr id="3"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03 · THE LATTICE · FORWARD PASS ③</a:t>
            </a:r>
            <a:endParaRPr lang="en-US" sz="1200" dirty="0"/>
          </a:p>
        </p:txBody>
      </p:sp>
      <p:sp>
        <p:nvSpPr>
          <p:cNvPr id="4"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Forward pass ③: propagate state prices</a:t>
            </a:r>
            <a:endParaRPr lang="en-US" sz="3000" dirty="0"/>
          </a:p>
        </p:txBody>
      </p:sp>
      <p:sp>
        <p:nvSpPr>
          <p:cNvPr id="5" name="Text 2"/>
          <p:cNvSpPr/>
          <p:nvPr/>
        </p:nvSpPr>
        <p:spPr>
          <a:xfrm>
            <a:off x="812800" y="1422400"/>
            <a:ext cx="3139440" cy="1224588"/>
          </a:xfrm>
          <a:prstGeom prst="rect">
            <a:avLst/>
          </a:prstGeom>
          <a:noFill/>
          <a:ln/>
        </p:spPr>
        <p:txBody>
          <a:bodyPr wrap="square" lIns="0" tIns="0" rIns="0" bIns="0" rtlCol="0" anchor="t">
            <a:noAutofit/>
          </a:bodyPr>
          <a:lstStyle/>
          <a:p>
            <a:pPr marL="0" indent="0" algn="l">
              <a:lnSpc>
                <a:spcPts val="1885"/>
              </a:lnSpc>
              <a:buNone/>
            </a:pPr>
            <a:r>
              <a:rPr lang="en-US" b="1" dirty="0">
                <a:solidFill>
                  <a:srgbClr val="14202E"/>
                </a:solidFill>
                <a:latin typeface="IBM Plex Sans" pitchFamily="34" charset="0"/>
                <a:ea typeface="IBM Plex Sans" pitchFamily="34" charset="-122"/>
                <a:cs typeface="IBM Plex Sans" pitchFamily="34" charset="-120"/>
              </a:rPr>
              <a:t>ψ(node)</a:t>
            </a:r>
            <a:r>
              <a:rPr lang="en-US" dirty="0">
                <a:solidFill>
                  <a:srgbClr val="44505E"/>
                </a:solidFill>
                <a:latin typeface="IBM Plex Sans" pitchFamily="34" charset="0"/>
                <a:ea typeface="IBM Plex Sans" pitchFamily="34" charset="-122"/>
                <a:cs typeface="IBM Plex Sans" pitchFamily="34" charset="-120"/>
              </a:rPr>
              <a:t> = what you would pay today for $1 delivered only if the stock lands on that node (Arrow-Debreu price).</a:t>
            </a:r>
            <a:endParaRPr lang="en-US" dirty="0"/>
          </a:p>
        </p:txBody>
      </p:sp>
      <p:sp>
        <p:nvSpPr>
          <p:cNvPr id="6" name="Text 3"/>
          <p:cNvSpPr/>
          <p:nvPr/>
        </p:nvSpPr>
        <p:spPr>
          <a:xfrm>
            <a:off x="812800" y="2790008"/>
            <a:ext cx="3048000" cy="933449"/>
          </a:xfrm>
          <a:prstGeom prst="roundRect">
            <a:avLst>
              <a:gd name="adj" fmla="val 10714"/>
            </a:avLst>
          </a:prstGeom>
          <a:solidFill>
            <a:srgbClr val="ECE8DC"/>
          </a:solidFill>
          <a:ln/>
          <a:effectLst>
            <a:outerShdw blurRad="50800" dist="38100" dir="2700000" algn="tl" rotWithShape="0">
              <a:prstClr val="black">
                <a:alpha val="40000"/>
              </a:prstClr>
            </a:outerShdw>
          </a:effectLst>
        </p:spPr>
        <p:txBody>
          <a:bodyPr wrap="square" lIns="104682" tIns="104682" rIns="20862" bIns="79282" rtlCol="0" anchor="ctr">
            <a:normAutofit/>
          </a:bodyPr>
          <a:lstStyle/>
          <a:p>
            <a:pPr marL="0" indent="0" algn="l">
              <a:lnSpc>
                <a:spcPts val="1800"/>
              </a:lnSpc>
              <a:buNone/>
            </a:pPr>
            <a:r>
              <a:rPr lang="en-US" dirty="0">
                <a:solidFill>
                  <a:srgbClr val="14202E"/>
                </a:solidFill>
                <a:latin typeface="JetBrains Mono" pitchFamily="49" charset="0"/>
                <a:ea typeface="JetBrains Mono" pitchFamily="49" charset="-122"/>
                <a:cs typeface="JetBrains Mono" pitchFamily="49" charset="-120"/>
              </a:rPr>
              <a:t>ψ(child) = Σ ψ(parent)·w / R</a:t>
            </a:r>
            <a:endParaRPr lang="en-US" dirty="0"/>
          </a:p>
          <a:p>
            <a:pPr marL="0" indent="0" algn="l">
              <a:lnSpc>
                <a:spcPts val="1800"/>
              </a:lnSpc>
              <a:buNone/>
            </a:pPr>
            <a:r>
              <a:rPr lang="en-US" dirty="0">
                <a:solidFill>
                  <a:srgbClr val="14202E"/>
                </a:solidFill>
                <a:latin typeface="JetBrains Mono" pitchFamily="49" charset="0"/>
                <a:ea typeface="JetBrains Mono" pitchFamily="49" charset="-122"/>
                <a:cs typeface="JetBrains Mono" pitchFamily="49" charset="-120"/>
              </a:rPr>
              <a:t>w = q (up) or 1 − q (down)</a:t>
            </a:r>
            <a:endParaRPr lang="en-US" dirty="0"/>
          </a:p>
        </p:txBody>
      </p:sp>
      <p:sp>
        <p:nvSpPr>
          <p:cNvPr id="7" name="Text 4"/>
          <p:cNvSpPr/>
          <p:nvPr/>
        </p:nvSpPr>
        <p:spPr>
          <a:xfrm>
            <a:off x="812800" y="4211012"/>
            <a:ext cx="3139440" cy="1556742"/>
          </a:xfrm>
          <a:prstGeom prst="rect">
            <a:avLst/>
          </a:prstGeom>
          <a:noFill/>
          <a:ln/>
        </p:spPr>
        <p:txBody>
          <a:bodyPr wrap="square" lIns="0" tIns="0" rIns="0" bIns="0" rtlCol="0" anchor="t">
            <a:normAutofit/>
          </a:bodyPr>
          <a:lstStyle/>
          <a:p>
            <a:pPr marL="0" indent="0" algn="l">
              <a:lnSpc>
                <a:spcPts val="1885"/>
              </a:lnSpc>
              <a:buNone/>
            </a:pPr>
            <a:r>
              <a:rPr lang="en-US" dirty="0">
                <a:solidFill>
                  <a:srgbClr val="44505E"/>
                </a:solidFill>
                <a:latin typeface="IBM Plex Sans" pitchFamily="34" charset="0"/>
                <a:ea typeface="IBM Plex Sans" pitchFamily="34" charset="-122"/>
                <a:cs typeface="IBM Plex Sans" pitchFamily="34" charset="-120"/>
              </a:rPr>
              <a:t>Same flow as the probabilities, but with q and a discount per step. The leaves sum to </a:t>
            </a:r>
            <a:r>
              <a:rPr lang="en-US" b="1" dirty="0">
                <a:solidFill>
                  <a:srgbClr val="14202E"/>
                </a:solidFill>
                <a:latin typeface="IBM Plex Sans" pitchFamily="34" charset="0"/>
                <a:ea typeface="IBM Plex Sans" pitchFamily="34" charset="-122"/>
                <a:cs typeface="IBM Plex Sans" pitchFamily="34" charset="-120"/>
              </a:rPr>
              <a:t>1/R³ = 0.9423</a:t>
            </a:r>
            <a:r>
              <a:rPr lang="en-US" dirty="0">
                <a:solidFill>
                  <a:srgbClr val="44505E"/>
                </a:solidFill>
                <a:latin typeface="IBM Plex Sans" pitchFamily="34" charset="0"/>
                <a:ea typeface="IBM Plex Sans" pitchFamily="34" charset="-122"/>
                <a:cs typeface="IBM Plex Sans" pitchFamily="34" charset="-120"/>
              </a:rPr>
              <a:t>: a sure $1 at T.</a:t>
            </a:r>
            <a:endParaRPr lang="en-US" dirty="0"/>
          </a:p>
        </p:txBody>
      </p:sp>
      <p:sp>
        <p:nvSpPr>
          <p:cNvPr id="8" name="Text 5"/>
          <p:cNvSpPr/>
          <p:nvPr/>
        </p:nvSpPr>
        <p:spPr>
          <a:xfrm>
            <a:off x="416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0</a:t>
            </a:r>
            <a:endParaRPr lang="en-US" sz="1200" b="1" dirty="0"/>
          </a:p>
        </p:txBody>
      </p:sp>
      <p:sp>
        <p:nvSpPr>
          <p:cNvPr id="9" name="Text 6"/>
          <p:cNvSpPr/>
          <p:nvPr/>
        </p:nvSpPr>
        <p:spPr>
          <a:xfrm>
            <a:off x="607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1</a:t>
            </a:r>
            <a:endParaRPr lang="en-US" sz="1200" b="1" dirty="0"/>
          </a:p>
        </p:txBody>
      </p:sp>
      <p:sp>
        <p:nvSpPr>
          <p:cNvPr id="10" name="Text 7"/>
          <p:cNvSpPr/>
          <p:nvPr/>
        </p:nvSpPr>
        <p:spPr>
          <a:xfrm>
            <a:off x="797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2</a:t>
            </a:r>
            <a:endParaRPr lang="en-US" sz="1200" b="1" dirty="0"/>
          </a:p>
        </p:txBody>
      </p:sp>
      <p:sp>
        <p:nvSpPr>
          <p:cNvPr id="11" name="Text 8"/>
          <p:cNvSpPr/>
          <p:nvPr/>
        </p:nvSpPr>
        <p:spPr>
          <a:xfrm>
            <a:off x="988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3 = T</a:t>
            </a:r>
            <a:endParaRPr lang="en-US" sz="1200" b="1" dirty="0"/>
          </a:p>
        </p:txBody>
      </p:sp>
      <p:sp>
        <p:nvSpPr>
          <p:cNvPr id="12" name="Text 9"/>
          <p:cNvSpPr/>
          <p:nvPr/>
        </p:nvSpPr>
        <p:spPr>
          <a:xfrm>
            <a:off x="4197350" y="362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100.00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ψ 1.0000</a:t>
            </a:r>
            <a:endParaRPr lang="en-US" sz="1300" dirty="0"/>
          </a:p>
        </p:txBody>
      </p:sp>
      <p:sp>
        <p:nvSpPr>
          <p:cNvPr id="13" name="Text 10"/>
          <p:cNvSpPr/>
          <p:nvPr/>
        </p:nvSpPr>
        <p:spPr>
          <a:xfrm>
            <a:off x="6102350" y="299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110.00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ψ 0.5882</a:t>
            </a:r>
            <a:endParaRPr lang="en-US" sz="1300" dirty="0"/>
          </a:p>
        </p:txBody>
      </p:sp>
      <p:sp>
        <p:nvSpPr>
          <p:cNvPr id="14" name="Text 11"/>
          <p:cNvSpPr/>
          <p:nvPr/>
        </p:nvSpPr>
        <p:spPr>
          <a:xfrm>
            <a:off x="6102350" y="426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90.00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ψ 0.3922</a:t>
            </a:r>
            <a:endParaRPr lang="en-US" sz="1300" dirty="0"/>
          </a:p>
        </p:txBody>
      </p:sp>
      <p:sp>
        <p:nvSpPr>
          <p:cNvPr id="15" name="Text 12"/>
          <p:cNvSpPr/>
          <p:nvPr/>
        </p:nvSpPr>
        <p:spPr>
          <a:xfrm>
            <a:off x="8007350" y="235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121.00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ψ 0.3460</a:t>
            </a:r>
            <a:endParaRPr lang="en-US" sz="1300" dirty="0"/>
          </a:p>
        </p:txBody>
      </p:sp>
      <p:sp>
        <p:nvSpPr>
          <p:cNvPr id="16" name="Text 13"/>
          <p:cNvSpPr/>
          <p:nvPr/>
        </p:nvSpPr>
        <p:spPr>
          <a:xfrm>
            <a:off x="8007350" y="362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99.00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ψ 0.4614</a:t>
            </a:r>
            <a:endParaRPr lang="en-US" sz="1300" dirty="0"/>
          </a:p>
        </p:txBody>
      </p:sp>
      <p:sp>
        <p:nvSpPr>
          <p:cNvPr id="17" name="Text 14"/>
          <p:cNvSpPr/>
          <p:nvPr/>
        </p:nvSpPr>
        <p:spPr>
          <a:xfrm>
            <a:off x="8007350" y="489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81.00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ψ 0.1538</a:t>
            </a:r>
            <a:endParaRPr lang="en-US" sz="1300" dirty="0"/>
          </a:p>
        </p:txBody>
      </p:sp>
      <p:sp>
        <p:nvSpPr>
          <p:cNvPr id="18" name="Text 15"/>
          <p:cNvSpPr/>
          <p:nvPr/>
        </p:nvSpPr>
        <p:spPr>
          <a:xfrm>
            <a:off x="9915525" y="172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133.10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ψ 0.2035</a:t>
            </a:r>
            <a:endParaRPr lang="en-US" sz="1300" dirty="0"/>
          </a:p>
        </p:txBody>
      </p:sp>
      <p:sp>
        <p:nvSpPr>
          <p:cNvPr id="19" name="Text 16"/>
          <p:cNvSpPr/>
          <p:nvPr/>
        </p:nvSpPr>
        <p:spPr>
          <a:xfrm>
            <a:off x="9915525" y="299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108.90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ψ 0.4071</a:t>
            </a:r>
            <a:endParaRPr lang="en-US" sz="1300" dirty="0"/>
          </a:p>
        </p:txBody>
      </p:sp>
      <p:sp>
        <p:nvSpPr>
          <p:cNvPr id="20" name="Text 17"/>
          <p:cNvSpPr/>
          <p:nvPr/>
        </p:nvSpPr>
        <p:spPr>
          <a:xfrm>
            <a:off x="9915525" y="426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89.10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ψ 0.2714</a:t>
            </a:r>
            <a:endParaRPr lang="en-US" sz="1300" dirty="0"/>
          </a:p>
        </p:txBody>
      </p:sp>
      <p:sp>
        <p:nvSpPr>
          <p:cNvPr id="21" name="Text 18"/>
          <p:cNvSpPr/>
          <p:nvPr/>
        </p:nvSpPr>
        <p:spPr>
          <a:xfrm>
            <a:off x="9915525" y="553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72.90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ψ 0.0603</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8">
    <p:bg>
      <p:bgPr>
        <a:solidFill>
          <a:srgbClr val="F5F3EC"/>
        </a:solidFill>
        <a:effectLst/>
      </p:bgPr>
    </p:bg>
    <p:spTree>
      <p:nvGrpSpPr>
        <p:cNvPr id="1" name=""/>
        <p:cNvGrpSpPr/>
        <p:nvPr/>
      </p:nvGrpSpPr>
      <p:grpSpPr>
        <a:xfrm>
          <a:off x="0" y="0"/>
          <a:ext cx="0" cy="0"/>
          <a:chOff x="0" y="0"/>
          <a:chExt cx="0" cy="0"/>
        </a:xfrm>
      </p:grpSpPr>
      <p:pic>
        <p:nvPicPr>
          <p:cNvPr id="2" name="Image 0" descr="Lattice with known payoffs at expiry and unknown values at earlier nodes"/>
          <p:cNvPicPr>
            <a:picLocks noChangeAspect="1"/>
          </p:cNvPicPr>
          <p:nvPr/>
        </p:nvPicPr>
        <p:blipFill>
          <a:blip r:embed="rId3"/>
          <a:srcRect l="-14" r="-14"/>
          <a:stretch/>
        </p:blipFill>
        <p:spPr>
          <a:xfrm>
            <a:off x="4064000" y="1651000"/>
            <a:ext cx="7315200" cy="4381500"/>
          </a:xfrm>
          <a:prstGeom prst="rect">
            <a:avLst/>
          </a:prstGeom>
        </p:spPr>
      </p:pic>
      <p:sp>
        <p:nvSpPr>
          <p:cNvPr id="3"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03 · THE LATTICE · TURNING POINT</a:t>
            </a:r>
            <a:endParaRPr lang="en-US" sz="1200" dirty="0"/>
          </a:p>
        </p:txBody>
      </p:sp>
      <p:sp>
        <p:nvSpPr>
          <p:cNvPr id="4"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At expiry, the value is simply the payoff</a:t>
            </a:r>
            <a:endParaRPr lang="en-US" sz="3000" dirty="0"/>
          </a:p>
        </p:txBody>
      </p:sp>
      <p:sp>
        <p:nvSpPr>
          <p:cNvPr id="5" name="Text 2"/>
          <p:cNvSpPr/>
          <p:nvPr/>
        </p:nvSpPr>
        <p:spPr>
          <a:xfrm>
            <a:off x="812800" y="1460500"/>
            <a:ext cx="3139440" cy="540941"/>
          </a:xfrm>
          <a:prstGeom prst="rect">
            <a:avLst/>
          </a:prstGeom>
          <a:noFill/>
          <a:ln/>
        </p:spPr>
        <p:txBody>
          <a:bodyPr wrap="square" lIns="0" tIns="0" rIns="0" bIns="0" rtlCol="0" anchor="t">
            <a:no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On the leaves there is no uncertainty left. For a call with K = 100:</a:t>
            </a:r>
            <a:endParaRPr lang="en-US" dirty="0"/>
          </a:p>
        </p:txBody>
      </p:sp>
      <p:sp>
        <p:nvSpPr>
          <p:cNvPr id="6" name="Text 3"/>
          <p:cNvSpPr/>
          <p:nvPr/>
        </p:nvSpPr>
        <p:spPr>
          <a:xfrm>
            <a:off x="812800" y="2527722"/>
            <a:ext cx="3048000" cy="520700"/>
          </a:xfrm>
          <a:prstGeom prst="roundRect">
            <a:avLst>
              <a:gd name="adj" fmla="val 14634"/>
            </a:avLst>
          </a:prstGeom>
          <a:solidFill>
            <a:srgbClr val="ECE8DC"/>
          </a:solidFill>
          <a:ln/>
          <a:effectLst>
            <a:outerShdw blurRad="50800" dist="38100" dir="2700000" algn="tl" rotWithShape="0">
              <a:prstClr val="black">
                <a:alpha val="40000"/>
              </a:prstClr>
            </a:outerShdw>
          </a:effectLst>
        </p:spPr>
        <p:txBody>
          <a:bodyPr wrap="square" lIns="104682" tIns="104682" rIns="20862" bIns="79282" rtlCol="0" anchor="t">
            <a:normAutofit/>
          </a:bodyPr>
          <a:lstStyle/>
          <a:p>
            <a:pPr marL="0" indent="0" algn="l">
              <a:lnSpc>
                <a:spcPts val="2100"/>
              </a:lnSpc>
              <a:buNone/>
            </a:pPr>
            <a:r>
              <a:rPr lang="en-US" dirty="0">
                <a:solidFill>
                  <a:srgbClr val="14202E"/>
                </a:solidFill>
                <a:latin typeface="JetBrains Mono" pitchFamily="49" charset="0"/>
                <a:ea typeface="JetBrains Mono" pitchFamily="49" charset="-122"/>
                <a:cs typeface="JetBrains Mono" pitchFamily="49" charset="-120"/>
              </a:rPr>
              <a:t>C(T) = max(S − 100, 0)</a:t>
            </a:r>
            <a:endParaRPr lang="en-US" dirty="0"/>
          </a:p>
        </p:txBody>
      </p:sp>
      <p:sp>
        <p:nvSpPr>
          <p:cNvPr id="7" name="Text 4"/>
          <p:cNvSpPr/>
          <p:nvPr/>
        </p:nvSpPr>
        <p:spPr>
          <a:xfrm>
            <a:off x="812800" y="3499618"/>
            <a:ext cx="3139440" cy="1396231"/>
          </a:xfrm>
          <a:prstGeom prst="rect">
            <a:avLst/>
          </a:prstGeom>
          <a:noFill/>
          <a:ln/>
        </p:spPr>
        <p:txBody>
          <a:bodyPr wrap="square" lIns="0" tIns="0" rIns="0" bIns="0" rtlCol="0" anchor="t">
            <a:normAutofit/>
          </a:bodyPr>
          <a:lstStyle/>
          <a:p>
            <a:pPr marL="0" indent="0" algn="l">
              <a:lnSpc>
                <a:spcPts val="2030"/>
              </a:lnSpc>
              <a:buNone/>
            </a:pPr>
            <a:r>
              <a:rPr lang="en-US" dirty="0">
                <a:solidFill>
                  <a:srgbClr val="44505E"/>
                </a:solidFill>
                <a:latin typeface="IBM Plex Sans" pitchFamily="34" charset="0"/>
                <a:ea typeface="IBM Plex Sans" pitchFamily="34" charset="-122"/>
                <a:cs typeface="IBM Plex Sans" pitchFamily="34" charset="-120"/>
              </a:rPr>
              <a:t>Every earlier node is still a question mark. To fill them in we turn around and walk </a:t>
            </a:r>
            <a:r>
              <a:rPr lang="en-US" b="1" dirty="0">
                <a:solidFill>
                  <a:srgbClr val="14202E"/>
                </a:solidFill>
                <a:latin typeface="IBM Plex Sans" pitchFamily="34" charset="0"/>
                <a:ea typeface="IBM Plex Sans" pitchFamily="34" charset="-122"/>
                <a:cs typeface="IBM Plex Sans" pitchFamily="34" charset="-120"/>
              </a:rPr>
              <a:t>backward in time</a:t>
            </a:r>
            <a:r>
              <a:rPr lang="en-US" dirty="0">
                <a:solidFill>
                  <a:srgbClr val="44505E"/>
                </a:solidFill>
                <a:latin typeface="IBM Plex Sans" pitchFamily="34" charset="0"/>
                <a:ea typeface="IBM Plex Sans" pitchFamily="34" charset="-122"/>
                <a:cs typeface="IBM Plex Sans" pitchFamily="34" charset="-120"/>
              </a:rPr>
              <a:t>.</a:t>
            </a:r>
            <a:endParaRPr lang="en-US" dirty="0"/>
          </a:p>
        </p:txBody>
      </p:sp>
      <p:sp>
        <p:nvSpPr>
          <p:cNvPr id="8" name="Text 5"/>
          <p:cNvSpPr/>
          <p:nvPr/>
        </p:nvSpPr>
        <p:spPr>
          <a:xfrm>
            <a:off x="416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0</a:t>
            </a:r>
            <a:endParaRPr lang="en-US" sz="1200" b="1" dirty="0"/>
          </a:p>
        </p:txBody>
      </p:sp>
      <p:sp>
        <p:nvSpPr>
          <p:cNvPr id="9" name="Text 6"/>
          <p:cNvSpPr/>
          <p:nvPr/>
        </p:nvSpPr>
        <p:spPr>
          <a:xfrm>
            <a:off x="607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1</a:t>
            </a:r>
            <a:endParaRPr lang="en-US" sz="1200" b="1" dirty="0"/>
          </a:p>
        </p:txBody>
      </p:sp>
      <p:sp>
        <p:nvSpPr>
          <p:cNvPr id="10" name="Text 7"/>
          <p:cNvSpPr/>
          <p:nvPr/>
        </p:nvSpPr>
        <p:spPr>
          <a:xfrm>
            <a:off x="797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2</a:t>
            </a:r>
            <a:endParaRPr lang="en-US" sz="1200" b="1" dirty="0"/>
          </a:p>
        </p:txBody>
      </p:sp>
      <p:sp>
        <p:nvSpPr>
          <p:cNvPr id="11" name="Text 8"/>
          <p:cNvSpPr/>
          <p:nvPr/>
        </p:nvSpPr>
        <p:spPr>
          <a:xfrm>
            <a:off x="988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3 = T</a:t>
            </a:r>
            <a:endParaRPr lang="en-US" sz="1200" b="1" dirty="0"/>
          </a:p>
        </p:txBody>
      </p:sp>
      <p:sp>
        <p:nvSpPr>
          <p:cNvPr id="12" name="Text 9"/>
          <p:cNvSpPr/>
          <p:nvPr/>
        </p:nvSpPr>
        <p:spPr>
          <a:xfrm>
            <a:off x="4197350" y="362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dash"/>
          </a:ln>
        </p:spPr>
        <p:txBody>
          <a:bodyPr wrap="square" lIns="19050" tIns="44450" rIns="19050" bIns="19050" rtlCol="0" anchor="t">
            <a:normAutofit/>
          </a:bodyPr>
          <a:lstStyle/>
          <a:p>
            <a:pPr marL="0" indent="0" algn="ctr">
              <a:lnSpc>
                <a:spcPts val="1495"/>
              </a:lnSpc>
              <a:buNone/>
            </a:pPr>
            <a:r>
              <a:rPr lang="en-US" sz="1300" b="1" dirty="0">
                <a:solidFill>
                  <a:srgbClr val="6A7179"/>
                </a:solidFill>
                <a:latin typeface="JetBrains Mono" pitchFamily="49" charset="0"/>
                <a:ea typeface="JetBrains Mono" pitchFamily="49" charset="-122"/>
                <a:cs typeface="JetBrains Mono" pitchFamily="49" charset="-120"/>
              </a:rPr>
              <a:t>100.00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C = ?</a:t>
            </a:r>
            <a:endParaRPr lang="en-US" sz="1300" dirty="0"/>
          </a:p>
        </p:txBody>
      </p:sp>
      <p:sp>
        <p:nvSpPr>
          <p:cNvPr id="13" name="Text 10"/>
          <p:cNvSpPr/>
          <p:nvPr/>
        </p:nvSpPr>
        <p:spPr>
          <a:xfrm>
            <a:off x="6102350" y="299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dash"/>
          </a:ln>
        </p:spPr>
        <p:txBody>
          <a:bodyPr wrap="square" lIns="19050" tIns="44450" rIns="19050" bIns="19050" rtlCol="0" anchor="t">
            <a:normAutofit/>
          </a:bodyPr>
          <a:lstStyle/>
          <a:p>
            <a:pPr marL="0" indent="0" algn="ctr">
              <a:lnSpc>
                <a:spcPts val="1495"/>
              </a:lnSpc>
              <a:buNone/>
            </a:pPr>
            <a:r>
              <a:rPr lang="en-US" sz="1300" b="1" dirty="0">
                <a:solidFill>
                  <a:srgbClr val="6A7179"/>
                </a:solidFill>
                <a:latin typeface="JetBrains Mono" pitchFamily="49" charset="0"/>
                <a:ea typeface="JetBrains Mono" pitchFamily="49" charset="-122"/>
                <a:cs typeface="JetBrains Mono" pitchFamily="49" charset="-120"/>
              </a:rPr>
              <a:t>110.00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C = ?</a:t>
            </a:r>
            <a:endParaRPr lang="en-US" sz="1300" dirty="0"/>
          </a:p>
        </p:txBody>
      </p:sp>
      <p:sp>
        <p:nvSpPr>
          <p:cNvPr id="14" name="Text 11"/>
          <p:cNvSpPr/>
          <p:nvPr/>
        </p:nvSpPr>
        <p:spPr>
          <a:xfrm>
            <a:off x="6102350" y="426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dash"/>
          </a:ln>
        </p:spPr>
        <p:txBody>
          <a:bodyPr wrap="square" lIns="19050" tIns="44450" rIns="19050" bIns="19050" rtlCol="0" anchor="t">
            <a:normAutofit/>
          </a:bodyPr>
          <a:lstStyle/>
          <a:p>
            <a:pPr marL="0" indent="0" algn="ctr">
              <a:lnSpc>
                <a:spcPts val="1495"/>
              </a:lnSpc>
              <a:buNone/>
            </a:pPr>
            <a:r>
              <a:rPr lang="en-US" sz="1300" b="1" dirty="0">
                <a:solidFill>
                  <a:srgbClr val="6A7179"/>
                </a:solidFill>
                <a:latin typeface="JetBrains Mono" pitchFamily="49" charset="0"/>
                <a:ea typeface="JetBrains Mono" pitchFamily="49" charset="-122"/>
                <a:cs typeface="JetBrains Mono" pitchFamily="49" charset="-120"/>
              </a:rPr>
              <a:t>90.00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C = ?</a:t>
            </a:r>
            <a:endParaRPr lang="en-US" sz="1300" dirty="0"/>
          </a:p>
        </p:txBody>
      </p:sp>
      <p:sp>
        <p:nvSpPr>
          <p:cNvPr id="15" name="Text 12"/>
          <p:cNvSpPr/>
          <p:nvPr/>
        </p:nvSpPr>
        <p:spPr>
          <a:xfrm>
            <a:off x="8007350" y="235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dash"/>
          </a:ln>
        </p:spPr>
        <p:txBody>
          <a:bodyPr wrap="square" lIns="19050" tIns="44450" rIns="19050" bIns="19050" rtlCol="0" anchor="t">
            <a:normAutofit/>
          </a:bodyPr>
          <a:lstStyle/>
          <a:p>
            <a:pPr marL="0" indent="0" algn="ctr">
              <a:lnSpc>
                <a:spcPts val="1495"/>
              </a:lnSpc>
              <a:buNone/>
            </a:pPr>
            <a:r>
              <a:rPr lang="en-US" sz="1300" b="1" dirty="0">
                <a:solidFill>
                  <a:srgbClr val="6A7179"/>
                </a:solidFill>
                <a:latin typeface="JetBrains Mono" pitchFamily="49" charset="0"/>
                <a:ea typeface="JetBrains Mono" pitchFamily="49" charset="-122"/>
                <a:cs typeface="JetBrains Mono" pitchFamily="49" charset="-120"/>
              </a:rPr>
              <a:t>121.00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C = ?</a:t>
            </a:r>
            <a:endParaRPr lang="en-US" sz="1300" dirty="0"/>
          </a:p>
        </p:txBody>
      </p:sp>
      <p:sp>
        <p:nvSpPr>
          <p:cNvPr id="16" name="Text 13"/>
          <p:cNvSpPr/>
          <p:nvPr/>
        </p:nvSpPr>
        <p:spPr>
          <a:xfrm>
            <a:off x="8007350" y="362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dash"/>
          </a:ln>
        </p:spPr>
        <p:txBody>
          <a:bodyPr wrap="square" lIns="19050" tIns="44450" rIns="19050" bIns="19050" rtlCol="0" anchor="t">
            <a:normAutofit/>
          </a:bodyPr>
          <a:lstStyle/>
          <a:p>
            <a:pPr marL="0" indent="0" algn="ctr">
              <a:lnSpc>
                <a:spcPts val="1495"/>
              </a:lnSpc>
              <a:buNone/>
            </a:pPr>
            <a:r>
              <a:rPr lang="en-US" sz="1300" b="1" dirty="0">
                <a:solidFill>
                  <a:srgbClr val="6A7179"/>
                </a:solidFill>
                <a:latin typeface="JetBrains Mono" pitchFamily="49" charset="0"/>
                <a:ea typeface="JetBrains Mono" pitchFamily="49" charset="-122"/>
                <a:cs typeface="JetBrains Mono" pitchFamily="49" charset="-120"/>
              </a:rPr>
              <a:t>99.00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C = ?</a:t>
            </a:r>
            <a:endParaRPr lang="en-US" sz="1300" dirty="0"/>
          </a:p>
        </p:txBody>
      </p:sp>
      <p:sp>
        <p:nvSpPr>
          <p:cNvPr id="17" name="Text 14"/>
          <p:cNvSpPr/>
          <p:nvPr/>
        </p:nvSpPr>
        <p:spPr>
          <a:xfrm>
            <a:off x="8007350" y="489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dash"/>
          </a:ln>
        </p:spPr>
        <p:txBody>
          <a:bodyPr wrap="square" lIns="19050" tIns="44450" rIns="19050" bIns="19050" rtlCol="0" anchor="t">
            <a:normAutofit/>
          </a:bodyPr>
          <a:lstStyle/>
          <a:p>
            <a:pPr marL="0" indent="0" algn="ctr">
              <a:lnSpc>
                <a:spcPts val="1495"/>
              </a:lnSpc>
              <a:buNone/>
            </a:pPr>
            <a:r>
              <a:rPr lang="en-US" sz="1300" b="1" dirty="0">
                <a:solidFill>
                  <a:srgbClr val="6A7179"/>
                </a:solidFill>
                <a:latin typeface="JetBrains Mono" pitchFamily="49" charset="0"/>
                <a:ea typeface="JetBrains Mono" pitchFamily="49" charset="-122"/>
                <a:cs typeface="JetBrains Mono" pitchFamily="49" charset="-120"/>
              </a:rPr>
              <a:t>81.00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C = ?</a:t>
            </a:r>
            <a:endParaRPr lang="en-US" sz="1300" dirty="0"/>
          </a:p>
        </p:txBody>
      </p:sp>
      <p:sp>
        <p:nvSpPr>
          <p:cNvPr id="18" name="Text 15"/>
          <p:cNvSpPr/>
          <p:nvPr/>
        </p:nvSpPr>
        <p:spPr>
          <a:xfrm>
            <a:off x="9915525" y="172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133.10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C = 33.10</a:t>
            </a:r>
            <a:endParaRPr lang="en-US" sz="1300" dirty="0"/>
          </a:p>
        </p:txBody>
      </p:sp>
      <p:sp>
        <p:nvSpPr>
          <p:cNvPr id="19" name="Text 16"/>
          <p:cNvSpPr/>
          <p:nvPr/>
        </p:nvSpPr>
        <p:spPr>
          <a:xfrm>
            <a:off x="9915525" y="299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108.90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C = 8.90</a:t>
            </a:r>
            <a:endParaRPr lang="en-US" sz="1300" dirty="0"/>
          </a:p>
        </p:txBody>
      </p:sp>
      <p:sp>
        <p:nvSpPr>
          <p:cNvPr id="20" name="Text 17"/>
          <p:cNvSpPr/>
          <p:nvPr/>
        </p:nvSpPr>
        <p:spPr>
          <a:xfrm>
            <a:off x="9915525" y="426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89.10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C = 0.00</a:t>
            </a:r>
            <a:endParaRPr lang="en-US" sz="1300" dirty="0"/>
          </a:p>
        </p:txBody>
      </p:sp>
      <p:sp>
        <p:nvSpPr>
          <p:cNvPr id="21" name="Text 18"/>
          <p:cNvSpPr/>
          <p:nvPr/>
        </p:nvSpPr>
        <p:spPr>
          <a:xfrm>
            <a:off x="9915525" y="553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72.90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C = 0.00</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9">
    <p:bg>
      <p:bgPr>
        <a:solidFill>
          <a:srgbClr val="F5F3EC"/>
        </a:solidFill>
        <a:effectLst/>
      </p:bgPr>
    </p:bg>
    <p:spTree>
      <p:nvGrpSpPr>
        <p:cNvPr id="1" name=""/>
        <p:cNvGrpSpPr/>
        <p:nvPr/>
      </p:nvGrpSpPr>
      <p:grpSpPr>
        <a:xfrm>
          <a:off x="0" y="0"/>
          <a:ext cx="0" cy="0"/>
          <a:chOff x="0" y="0"/>
          <a:chExt cx="0" cy="0"/>
        </a:xfrm>
      </p:grpSpPr>
      <p:pic>
        <p:nvPicPr>
          <p:cNvPr id="2" name="Image 0" descr="Backward step: values at expiry roll back one step; arrows now point to the left"/>
          <p:cNvPicPr>
            <a:picLocks noChangeAspect="1"/>
          </p:cNvPicPr>
          <p:nvPr/>
        </p:nvPicPr>
        <p:blipFill>
          <a:blip r:embed="rId3"/>
          <a:srcRect l="-14" r="-14"/>
          <a:stretch/>
        </p:blipFill>
        <p:spPr>
          <a:xfrm>
            <a:off x="4064000" y="1651000"/>
            <a:ext cx="7315200" cy="4381500"/>
          </a:xfrm>
          <a:prstGeom prst="rect">
            <a:avLst/>
          </a:prstGeom>
        </p:spPr>
      </p:pic>
      <p:sp>
        <p:nvSpPr>
          <p:cNvPr id="3"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9520F"/>
                </a:solidFill>
                <a:latin typeface="IBM Plex Sans" pitchFamily="34" charset="0"/>
                <a:ea typeface="IBM Plex Sans" pitchFamily="34" charset="-122"/>
                <a:cs typeface="IBM Plex Sans" pitchFamily="34" charset="-120"/>
              </a:rPr>
              <a:t>03 · THE LATTICE · BACKWARD PASS</a:t>
            </a:r>
            <a:endParaRPr lang="en-US" sz="1200" dirty="0"/>
          </a:p>
        </p:txBody>
      </p:sp>
      <p:sp>
        <p:nvSpPr>
          <p:cNvPr id="4"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Backward pass: one step at a time</a:t>
            </a:r>
            <a:endParaRPr lang="en-US" sz="3000" dirty="0"/>
          </a:p>
        </p:txBody>
      </p:sp>
      <p:sp>
        <p:nvSpPr>
          <p:cNvPr id="5" name="Text 2"/>
          <p:cNvSpPr/>
          <p:nvPr/>
        </p:nvSpPr>
        <p:spPr>
          <a:xfrm>
            <a:off x="812799" y="1422400"/>
            <a:ext cx="3548185" cy="1145424"/>
          </a:xfrm>
          <a:prstGeom prst="rect">
            <a:avLst/>
          </a:prstGeom>
          <a:noFill/>
          <a:ln/>
        </p:spPr>
        <p:txBody>
          <a:bodyPr wrap="square" lIns="0" tIns="0" rIns="0" bIns="0" rtlCol="0" anchor="t">
            <a:noAutofit/>
          </a:bodyPr>
          <a:lstStyle/>
          <a:p>
            <a:pPr marL="0" indent="0" algn="l">
              <a:lnSpc>
                <a:spcPts val="1885"/>
              </a:lnSpc>
              <a:buNone/>
            </a:pPr>
            <a:r>
              <a:rPr lang="en-US" dirty="0">
                <a:solidFill>
                  <a:srgbClr val="44505E"/>
                </a:solidFill>
                <a:latin typeface="IBM Plex Sans" pitchFamily="34" charset="0"/>
                <a:ea typeface="IBM Plex Sans" pitchFamily="34" charset="-122"/>
                <a:cs typeface="IBM Plex Sans" pitchFamily="34" charset="-120"/>
              </a:rPr>
              <a:t>Every node is a one-step problem we already solved. Apply the same rule everywhere:</a:t>
            </a:r>
            <a:endParaRPr lang="en-US" dirty="0"/>
          </a:p>
        </p:txBody>
      </p:sp>
      <p:sp>
        <p:nvSpPr>
          <p:cNvPr id="6" name="Text 3"/>
          <p:cNvSpPr/>
          <p:nvPr/>
        </p:nvSpPr>
        <p:spPr>
          <a:xfrm>
            <a:off x="802752" y="2669424"/>
            <a:ext cx="3352800" cy="946303"/>
          </a:xfrm>
          <a:prstGeom prst="roundRect">
            <a:avLst>
              <a:gd name="adj" fmla="val 15190"/>
            </a:avLst>
          </a:prstGeom>
          <a:solidFill>
            <a:srgbClr val="ECE8DC"/>
          </a:solidFill>
          <a:ln/>
          <a:effectLst>
            <a:outerShdw blurRad="50800" dist="38100" dir="2700000" algn="tl" rotWithShape="0">
              <a:prstClr val="black">
                <a:alpha val="40000"/>
              </a:prstClr>
            </a:outerShdw>
          </a:effectLst>
        </p:spPr>
        <p:txBody>
          <a:bodyPr wrap="square" lIns="104682" tIns="104682" rIns="20862" bIns="79282" rtlCol="0" anchor="ctr">
            <a:normAutofit/>
          </a:bodyPr>
          <a:lstStyle/>
          <a:p>
            <a:pPr marL="0" indent="0" algn="l">
              <a:lnSpc>
                <a:spcPts val="1950"/>
              </a:lnSpc>
              <a:buNone/>
            </a:pPr>
            <a:r>
              <a:rPr lang="en-US" dirty="0">
                <a:solidFill>
                  <a:srgbClr val="14202E"/>
                </a:solidFill>
                <a:latin typeface="JetBrains Mono" pitchFamily="49" charset="0"/>
                <a:ea typeface="JetBrains Mono" pitchFamily="49" charset="-122"/>
                <a:cs typeface="JetBrains Mono" pitchFamily="49" charset="-120"/>
              </a:rPr>
              <a:t>V = [q·V↑ + (1−q)·V↓] / R</a:t>
            </a:r>
            <a:endParaRPr lang="en-US" dirty="0"/>
          </a:p>
        </p:txBody>
      </p:sp>
      <p:sp>
        <p:nvSpPr>
          <p:cNvPr id="7" name="Text 4"/>
          <p:cNvSpPr/>
          <p:nvPr/>
        </p:nvSpPr>
        <p:spPr>
          <a:xfrm>
            <a:off x="812800" y="4152183"/>
            <a:ext cx="3139440" cy="264765"/>
          </a:xfrm>
          <a:prstGeom prst="rect">
            <a:avLst/>
          </a:prstGeom>
          <a:noFill/>
          <a:ln/>
        </p:spPr>
        <p:txBody>
          <a:bodyPr wrap="square" lIns="0" tIns="0" rIns="0" bIns="0" rtlCol="0" anchor="t">
            <a:normAutofit/>
          </a:bodyPr>
          <a:lstStyle/>
          <a:p>
            <a:pPr marL="0" indent="0" algn="l">
              <a:lnSpc>
                <a:spcPts val="1885"/>
              </a:lnSpc>
              <a:buNone/>
            </a:pPr>
            <a:r>
              <a:rPr lang="en-US" dirty="0">
                <a:solidFill>
                  <a:srgbClr val="44505E"/>
                </a:solidFill>
                <a:latin typeface="IBM Plex Sans" pitchFamily="34" charset="0"/>
                <a:ea typeface="IBM Plex Sans" pitchFamily="34" charset="-122"/>
                <a:cs typeface="IBM Plex Sans" pitchFamily="34" charset="-120"/>
              </a:rPr>
              <a:t>Top node at t = 2:</a:t>
            </a:r>
            <a:endParaRPr lang="en-US" dirty="0"/>
          </a:p>
        </p:txBody>
      </p:sp>
      <p:sp>
        <p:nvSpPr>
          <p:cNvPr id="8" name="Text 5"/>
          <p:cNvSpPr/>
          <p:nvPr/>
        </p:nvSpPr>
        <p:spPr>
          <a:xfrm>
            <a:off x="812800" y="4518548"/>
            <a:ext cx="3688862" cy="520700"/>
          </a:xfrm>
          <a:prstGeom prst="rect">
            <a:avLst/>
          </a:prstGeom>
          <a:noFill/>
          <a:ln/>
        </p:spPr>
        <p:txBody>
          <a:bodyPr wrap="square" lIns="0" tIns="0" rIns="0" bIns="0" rtlCol="0" anchor="t">
            <a:normAutofit/>
          </a:bodyPr>
          <a:lstStyle/>
          <a:p>
            <a:pPr marL="0" indent="0" algn="l">
              <a:lnSpc>
                <a:spcPts val="1950"/>
              </a:lnSpc>
              <a:buNone/>
            </a:pPr>
            <a:r>
              <a:rPr lang="en-US" dirty="0">
                <a:solidFill>
                  <a:srgbClr val="14202E"/>
                </a:solidFill>
                <a:latin typeface="JetBrains Mono" pitchFamily="49" charset="0"/>
                <a:ea typeface="JetBrains Mono" pitchFamily="49" charset="-122"/>
                <a:cs typeface="JetBrains Mono" pitchFamily="49" charset="-120"/>
              </a:rPr>
              <a:t>(0.6·</a:t>
            </a:r>
            <a:r>
              <a:rPr lang="en-US" dirty="0">
                <a:solidFill>
                  <a:srgbClr val="2B65C8"/>
                </a:solidFill>
                <a:latin typeface="JetBrains Mono" pitchFamily="49" charset="0"/>
                <a:ea typeface="JetBrains Mono" pitchFamily="49" charset="-122"/>
                <a:cs typeface="JetBrains Mono" pitchFamily="49" charset="-120"/>
              </a:rPr>
              <a:t>33.10</a:t>
            </a:r>
            <a:r>
              <a:rPr lang="en-US" dirty="0">
                <a:solidFill>
                  <a:srgbClr val="14202E"/>
                </a:solidFill>
                <a:latin typeface="JetBrains Mono" pitchFamily="49" charset="0"/>
                <a:ea typeface="JetBrains Mono" pitchFamily="49" charset="-122"/>
                <a:cs typeface="JetBrains Mono" pitchFamily="49" charset="-120"/>
              </a:rPr>
              <a:t> + 0.4·</a:t>
            </a:r>
            <a:r>
              <a:rPr lang="en-US" dirty="0">
                <a:solidFill>
                  <a:srgbClr val="A9520F"/>
                </a:solidFill>
                <a:latin typeface="JetBrains Mono" pitchFamily="49" charset="0"/>
                <a:ea typeface="JetBrains Mono" pitchFamily="49" charset="-122"/>
                <a:cs typeface="JetBrains Mono" pitchFamily="49" charset="-120"/>
              </a:rPr>
              <a:t>8.90</a:t>
            </a:r>
            <a:r>
              <a:rPr lang="en-US" dirty="0">
                <a:solidFill>
                  <a:srgbClr val="14202E"/>
                </a:solidFill>
                <a:latin typeface="JetBrains Mono" pitchFamily="49" charset="0"/>
                <a:ea typeface="JetBrains Mono" pitchFamily="49" charset="-122"/>
                <a:cs typeface="JetBrains Mono" pitchFamily="49" charset="-120"/>
              </a:rPr>
              <a:t>)</a:t>
            </a:r>
            <a:r>
              <a:rPr lang="en-US" dirty="0"/>
              <a:t> </a:t>
            </a:r>
            <a:r>
              <a:rPr lang="en-US" dirty="0">
                <a:solidFill>
                  <a:srgbClr val="14202E"/>
                </a:solidFill>
                <a:latin typeface="JetBrains Mono" pitchFamily="49" charset="0"/>
                <a:ea typeface="JetBrains Mono" pitchFamily="49" charset="-122"/>
                <a:cs typeface="JetBrains Mono" pitchFamily="49" charset="-120"/>
              </a:rPr>
              <a:t>/ 1.02 = </a:t>
            </a:r>
            <a:r>
              <a:rPr lang="en-US" b="1" dirty="0">
                <a:solidFill>
                  <a:srgbClr val="14202E"/>
                </a:solidFill>
                <a:latin typeface="JetBrains Mono" pitchFamily="49" charset="0"/>
                <a:ea typeface="JetBrains Mono" pitchFamily="49" charset="-122"/>
                <a:cs typeface="JetBrains Mono" pitchFamily="49" charset="-120"/>
              </a:rPr>
              <a:t>22.96</a:t>
            </a:r>
            <a:endParaRPr lang="en-US" dirty="0"/>
          </a:p>
        </p:txBody>
      </p:sp>
      <p:sp>
        <p:nvSpPr>
          <p:cNvPr id="9" name="Text 6"/>
          <p:cNvSpPr/>
          <p:nvPr/>
        </p:nvSpPr>
        <p:spPr>
          <a:xfrm>
            <a:off x="416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0</a:t>
            </a:r>
            <a:endParaRPr lang="en-US" sz="1200" b="1" dirty="0"/>
          </a:p>
        </p:txBody>
      </p:sp>
      <p:sp>
        <p:nvSpPr>
          <p:cNvPr id="10" name="Text 7"/>
          <p:cNvSpPr/>
          <p:nvPr/>
        </p:nvSpPr>
        <p:spPr>
          <a:xfrm>
            <a:off x="607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1</a:t>
            </a:r>
            <a:endParaRPr lang="en-US" sz="1200" b="1" dirty="0"/>
          </a:p>
        </p:txBody>
      </p:sp>
      <p:sp>
        <p:nvSpPr>
          <p:cNvPr id="11" name="Text 8"/>
          <p:cNvSpPr/>
          <p:nvPr/>
        </p:nvSpPr>
        <p:spPr>
          <a:xfrm>
            <a:off x="797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2</a:t>
            </a:r>
            <a:endParaRPr lang="en-US" sz="1200" b="1" dirty="0"/>
          </a:p>
        </p:txBody>
      </p:sp>
      <p:sp>
        <p:nvSpPr>
          <p:cNvPr id="12" name="Text 9"/>
          <p:cNvSpPr/>
          <p:nvPr/>
        </p:nvSpPr>
        <p:spPr>
          <a:xfrm>
            <a:off x="988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3 = T</a:t>
            </a:r>
            <a:endParaRPr lang="en-US" sz="1200" b="1" dirty="0"/>
          </a:p>
        </p:txBody>
      </p:sp>
      <p:sp>
        <p:nvSpPr>
          <p:cNvPr id="13" name="Text 10"/>
          <p:cNvSpPr/>
          <p:nvPr/>
        </p:nvSpPr>
        <p:spPr>
          <a:xfrm>
            <a:off x="4197350" y="362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dash"/>
          </a:ln>
        </p:spPr>
        <p:txBody>
          <a:bodyPr wrap="square" lIns="19050" tIns="44450" rIns="19050" bIns="19050" rtlCol="0" anchor="t">
            <a:normAutofit/>
          </a:bodyPr>
          <a:lstStyle/>
          <a:p>
            <a:pPr marL="0" indent="0" algn="ctr">
              <a:lnSpc>
                <a:spcPts val="1495"/>
              </a:lnSpc>
              <a:buNone/>
            </a:pPr>
            <a:r>
              <a:rPr lang="en-US" sz="1300" b="1" dirty="0">
                <a:solidFill>
                  <a:srgbClr val="6A7179"/>
                </a:solidFill>
                <a:latin typeface="JetBrains Mono" pitchFamily="49" charset="0"/>
                <a:ea typeface="JetBrains Mono" pitchFamily="49" charset="-122"/>
                <a:cs typeface="JetBrains Mono" pitchFamily="49" charset="-120"/>
              </a:rPr>
              <a:t>100.00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C = ?</a:t>
            </a:r>
            <a:endParaRPr lang="en-US" sz="1300" dirty="0"/>
          </a:p>
        </p:txBody>
      </p:sp>
      <p:sp>
        <p:nvSpPr>
          <p:cNvPr id="14" name="Text 11"/>
          <p:cNvSpPr/>
          <p:nvPr/>
        </p:nvSpPr>
        <p:spPr>
          <a:xfrm>
            <a:off x="6102350" y="299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dash"/>
          </a:ln>
        </p:spPr>
        <p:txBody>
          <a:bodyPr wrap="square" lIns="19050" tIns="44450" rIns="19050" bIns="19050" rtlCol="0" anchor="t">
            <a:normAutofit/>
          </a:bodyPr>
          <a:lstStyle/>
          <a:p>
            <a:pPr marL="0" indent="0" algn="ctr">
              <a:lnSpc>
                <a:spcPts val="1495"/>
              </a:lnSpc>
              <a:buNone/>
            </a:pPr>
            <a:r>
              <a:rPr lang="en-US" sz="1300" b="1" dirty="0">
                <a:solidFill>
                  <a:srgbClr val="6A7179"/>
                </a:solidFill>
                <a:latin typeface="JetBrains Mono" pitchFamily="49" charset="0"/>
                <a:ea typeface="JetBrains Mono" pitchFamily="49" charset="-122"/>
                <a:cs typeface="JetBrains Mono" pitchFamily="49" charset="-120"/>
              </a:rPr>
              <a:t>110.00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C = ?</a:t>
            </a:r>
            <a:endParaRPr lang="en-US" sz="1300" dirty="0"/>
          </a:p>
        </p:txBody>
      </p:sp>
      <p:sp>
        <p:nvSpPr>
          <p:cNvPr id="15" name="Text 12"/>
          <p:cNvSpPr/>
          <p:nvPr/>
        </p:nvSpPr>
        <p:spPr>
          <a:xfrm>
            <a:off x="6102350" y="426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dash"/>
          </a:ln>
        </p:spPr>
        <p:txBody>
          <a:bodyPr wrap="square" lIns="19050" tIns="44450" rIns="19050" bIns="19050" rtlCol="0" anchor="t">
            <a:normAutofit/>
          </a:bodyPr>
          <a:lstStyle/>
          <a:p>
            <a:pPr marL="0" indent="0" algn="ctr">
              <a:lnSpc>
                <a:spcPts val="1495"/>
              </a:lnSpc>
              <a:buNone/>
            </a:pPr>
            <a:r>
              <a:rPr lang="en-US" sz="1300" b="1" dirty="0">
                <a:solidFill>
                  <a:srgbClr val="6A7179"/>
                </a:solidFill>
                <a:latin typeface="JetBrains Mono" pitchFamily="49" charset="0"/>
                <a:ea typeface="JetBrains Mono" pitchFamily="49" charset="-122"/>
                <a:cs typeface="JetBrains Mono" pitchFamily="49" charset="-120"/>
              </a:rPr>
              <a:t>90.00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C = ?</a:t>
            </a:r>
            <a:endParaRPr lang="en-US" sz="1300" dirty="0"/>
          </a:p>
        </p:txBody>
      </p:sp>
      <p:sp>
        <p:nvSpPr>
          <p:cNvPr id="16" name="Text 13"/>
          <p:cNvSpPr/>
          <p:nvPr/>
        </p:nvSpPr>
        <p:spPr>
          <a:xfrm>
            <a:off x="8010525" y="2359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FBE9D8"/>
          </a:solidFill>
          <a:ln w="19050">
            <a:solidFill>
              <a:srgbClr val="C4661A"/>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121.00</a:t>
            </a:r>
            <a:endParaRPr lang="en-US" sz="1300" dirty="0"/>
          </a:p>
          <a:p>
            <a:pPr marL="0" indent="0" algn="ctr">
              <a:lnSpc>
                <a:spcPts val="1495"/>
              </a:lnSpc>
              <a:buNone/>
            </a:pPr>
            <a:r>
              <a:rPr lang="en-US" sz="1300" dirty="0">
                <a:solidFill>
                  <a:srgbClr val="A9520F"/>
                </a:solidFill>
                <a:latin typeface="JetBrains Mono" pitchFamily="49" charset="0"/>
                <a:ea typeface="JetBrains Mono" pitchFamily="49" charset="-122"/>
                <a:cs typeface="JetBrains Mono" pitchFamily="49" charset="-120"/>
              </a:rPr>
              <a:t>C = 22.96</a:t>
            </a:r>
            <a:endParaRPr lang="en-US" sz="1300" dirty="0"/>
          </a:p>
        </p:txBody>
      </p:sp>
      <p:sp>
        <p:nvSpPr>
          <p:cNvPr id="17" name="Text 14"/>
          <p:cNvSpPr/>
          <p:nvPr/>
        </p:nvSpPr>
        <p:spPr>
          <a:xfrm>
            <a:off x="8007350" y="362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99.00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 5.24</a:t>
            </a:r>
            <a:endParaRPr lang="en-US" sz="1300" dirty="0"/>
          </a:p>
        </p:txBody>
      </p:sp>
      <p:sp>
        <p:nvSpPr>
          <p:cNvPr id="18" name="Text 15"/>
          <p:cNvSpPr/>
          <p:nvPr/>
        </p:nvSpPr>
        <p:spPr>
          <a:xfrm>
            <a:off x="8007350" y="489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81.00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 0.00</a:t>
            </a:r>
            <a:endParaRPr lang="en-US" sz="1300" dirty="0"/>
          </a:p>
        </p:txBody>
      </p:sp>
      <p:sp>
        <p:nvSpPr>
          <p:cNvPr id="19" name="Text 16"/>
          <p:cNvSpPr/>
          <p:nvPr/>
        </p:nvSpPr>
        <p:spPr>
          <a:xfrm>
            <a:off x="9915525" y="172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133.10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C = 33.10</a:t>
            </a:r>
            <a:endParaRPr lang="en-US" sz="1300" dirty="0"/>
          </a:p>
        </p:txBody>
      </p:sp>
      <p:sp>
        <p:nvSpPr>
          <p:cNvPr id="20" name="Text 17"/>
          <p:cNvSpPr/>
          <p:nvPr/>
        </p:nvSpPr>
        <p:spPr>
          <a:xfrm>
            <a:off x="9915525" y="299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108.90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C = 8.90</a:t>
            </a:r>
            <a:endParaRPr lang="en-US" sz="1300" dirty="0"/>
          </a:p>
        </p:txBody>
      </p:sp>
      <p:sp>
        <p:nvSpPr>
          <p:cNvPr id="21" name="Text 18"/>
          <p:cNvSpPr/>
          <p:nvPr/>
        </p:nvSpPr>
        <p:spPr>
          <a:xfrm>
            <a:off x="9912350" y="426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89.10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 0.00</a:t>
            </a:r>
            <a:endParaRPr lang="en-US" sz="1300" dirty="0"/>
          </a:p>
        </p:txBody>
      </p:sp>
      <p:sp>
        <p:nvSpPr>
          <p:cNvPr id="22" name="Text 19"/>
          <p:cNvSpPr/>
          <p:nvPr/>
        </p:nvSpPr>
        <p:spPr>
          <a:xfrm>
            <a:off x="9912350" y="553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72.90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 0.00</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0">
    <p:bg>
      <p:bgPr>
        <a:solidFill>
          <a:srgbClr val="F5F3EC"/>
        </a:solidFill>
        <a:effectLst/>
      </p:bgPr>
    </p:bg>
    <p:spTree>
      <p:nvGrpSpPr>
        <p:cNvPr id="1" name=""/>
        <p:cNvGrpSpPr/>
        <p:nvPr/>
      </p:nvGrpSpPr>
      <p:grpSpPr>
        <a:xfrm>
          <a:off x="0" y="0"/>
          <a:ext cx="0" cy="0"/>
          <a:chOff x="0" y="0"/>
          <a:chExt cx="0" cy="0"/>
        </a:xfrm>
      </p:grpSpPr>
      <p:pic>
        <p:nvPicPr>
          <p:cNvPr id="2" name="Image 0" descr="Full backward pass: values roll from the leaves to the root, which is worth 10.36"/>
          <p:cNvPicPr>
            <a:picLocks noChangeAspect="1"/>
          </p:cNvPicPr>
          <p:nvPr/>
        </p:nvPicPr>
        <p:blipFill>
          <a:blip r:embed="rId3"/>
          <a:srcRect l="-14" r="-14"/>
          <a:stretch/>
        </p:blipFill>
        <p:spPr>
          <a:xfrm>
            <a:off x="4064000" y="1651000"/>
            <a:ext cx="7315200" cy="4381500"/>
          </a:xfrm>
          <a:prstGeom prst="rect">
            <a:avLst/>
          </a:prstGeom>
        </p:spPr>
      </p:pic>
      <p:sp>
        <p:nvSpPr>
          <p:cNvPr id="3"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9520F"/>
                </a:solidFill>
                <a:latin typeface="IBM Plex Sans" pitchFamily="34" charset="0"/>
                <a:ea typeface="IBM Plex Sans" pitchFamily="34" charset="-122"/>
                <a:cs typeface="IBM Plex Sans" pitchFamily="34" charset="-120"/>
              </a:rPr>
              <a:t>03 · THE LATTICE · BACKWARD PASS</a:t>
            </a:r>
            <a:endParaRPr lang="en-US" sz="1200" dirty="0"/>
          </a:p>
        </p:txBody>
      </p:sp>
      <p:sp>
        <p:nvSpPr>
          <p:cNvPr id="4"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Repeat to the root: the option is worth 10.36</a:t>
            </a:r>
            <a:endParaRPr lang="en-US" sz="3000" dirty="0"/>
          </a:p>
        </p:txBody>
      </p:sp>
      <p:sp>
        <p:nvSpPr>
          <p:cNvPr id="5" name="Text 2"/>
          <p:cNvSpPr/>
          <p:nvPr/>
        </p:nvSpPr>
        <p:spPr>
          <a:xfrm>
            <a:off x="812800" y="1422400"/>
            <a:ext cx="3638620" cy="504130"/>
          </a:xfrm>
          <a:prstGeom prst="rect">
            <a:avLst/>
          </a:prstGeom>
          <a:noFill/>
          <a:ln/>
        </p:spPr>
        <p:txBody>
          <a:bodyPr wrap="square" lIns="0" tIns="0" rIns="0" bIns="0" rtlCol="0" anchor="t">
            <a:normAutofit/>
          </a:bodyPr>
          <a:lstStyle/>
          <a:p>
            <a:pPr marL="0" indent="0" algn="l">
              <a:lnSpc>
                <a:spcPts val="1885"/>
              </a:lnSpc>
              <a:buNone/>
            </a:pPr>
            <a:r>
              <a:rPr lang="en-US" dirty="0">
                <a:solidFill>
                  <a:srgbClr val="44505E"/>
                </a:solidFill>
                <a:latin typeface="IBM Plex Sans" pitchFamily="34" charset="0"/>
                <a:ea typeface="IBM Plex Sans" pitchFamily="34" charset="-122"/>
                <a:cs typeface="IBM Plex Sans" pitchFamily="34" charset="-120"/>
              </a:rPr>
              <a:t>Same rule, column by column, right to left:</a:t>
            </a:r>
            <a:endParaRPr lang="en-US" dirty="0"/>
          </a:p>
        </p:txBody>
      </p:sp>
      <p:sp>
        <p:nvSpPr>
          <p:cNvPr id="6" name="Text 3"/>
          <p:cNvSpPr/>
          <p:nvPr/>
        </p:nvSpPr>
        <p:spPr>
          <a:xfrm>
            <a:off x="812799" y="2208999"/>
            <a:ext cx="3950120" cy="1207195"/>
          </a:xfrm>
          <a:prstGeom prst="roundRect">
            <a:avLst>
              <a:gd name="adj" fmla="val 4438"/>
            </a:avLst>
          </a:prstGeom>
          <a:solidFill>
            <a:srgbClr val="ECE8DC"/>
          </a:solidFill>
          <a:ln/>
          <a:effectLst>
            <a:outerShdw blurRad="50800" dist="38100" dir="2700000" algn="tl" rotWithShape="0">
              <a:prstClr val="black">
                <a:alpha val="40000"/>
              </a:prstClr>
            </a:outerShdw>
          </a:effectLst>
        </p:spPr>
        <p:txBody>
          <a:bodyPr wrap="square" lIns="104682" tIns="104682" rIns="20862" bIns="79282" rtlCol="0" anchor="ctr">
            <a:normAutofit/>
          </a:bodyPr>
          <a:lstStyle/>
          <a:p>
            <a:pPr marL="0" indent="0" algn="l">
              <a:lnSpc>
                <a:spcPts val="2320"/>
              </a:lnSpc>
              <a:buNone/>
            </a:pPr>
            <a:r>
              <a:rPr lang="en-US" dirty="0">
                <a:solidFill>
                  <a:srgbClr val="14202E"/>
                </a:solidFill>
                <a:latin typeface="JetBrains Mono" pitchFamily="49" charset="0"/>
                <a:ea typeface="JetBrains Mono" pitchFamily="49" charset="-122"/>
                <a:cs typeface="JetBrains Mono" pitchFamily="49" charset="-120"/>
              </a:rPr>
              <a:t>t=1 ↑ (.6·22.96+.4·5.24)/1.02</a:t>
            </a:r>
            <a:r>
              <a:rPr lang="en-US" dirty="0"/>
              <a:t> </a:t>
            </a:r>
            <a:r>
              <a:rPr lang="en-US" dirty="0">
                <a:solidFill>
                  <a:srgbClr val="14202E"/>
                </a:solidFill>
                <a:latin typeface="JetBrains Mono" pitchFamily="49" charset="0"/>
                <a:ea typeface="JetBrains Mono" pitchFamily="49" charset="-122"/>
                <a:cs typeface="JetBrains Mono" pitchFamily="49" charset="-120"/>
              </a:rPr>
              <a:t>= 15.56</a:t>
            </a:r>
            <a:endParaRPr lang="en-US" dirty="0"/>
          </a:p>
          <a:p>
            <a:pPr marL="0" indent="0" algn="l">
              <a:lnSpc>
                <a:spcPts val="2320"/>
              </a:lnSpc>
              <a:buNone/>
            </a:pPr>
            <a:r>
              <a:rPr lang="en-US" dirty="0">
                <a:solidFill>
                  <a:srgbClr val="14202E"/>
                </a:solidFill>
                <a:latin typeface="JetBrains Mono" pitchFamily="49" charset="0"/>
                <a:ea typeface="JetBrains Mono" pitchFamily="49" charset="-122"/>
                <a:cs typeface="JetBrains Mono" pitchFamily="49" charset="-120"/>
              </a:rPr>
              <a:t>t=1 ↓ (.6·5.24+.4·0)/1.02</a:t>
            </a:r>
            <a:r>
              <a:rPr lang="en-US" dirty="0"/>
              <a:t> </a:t>
            </a:r>
            <a:r>
              <a:rPr lang="en-US" dirty="0">
                <a:solidFill>
                  <a:srgbClr val="14202E"/>
                </a:solidFill>
                <a:latin typeface="JetBrains Mono" pitchFamily="49" charset="0"/>
                <a:ea typeface="JetBrains Mono" pitchFamily="49" charset="-122"/>
                <a:cs typeface="JetBrains Mono" pitchFamily="49" charset="-120"/>
              </a:rPr>
              <a:t>= 3.08</a:t>
            </a:r>
            <a:endParaRPr lang="en-US" dirty="0"/>
          </a:p>
          <a:p>
            <a:pPr marL="0" indent="0" algn="l">
              <a:lnSpc>
                <a:spcPts val="2320"/>
              </a:lnSpc>
              <a:buNone/>
            </a:pPr>
            <a:r>
              <a:rPr lang="en-US" dirty="0">
                <a:solidFill>
                  <a:srgbClr val="14202E"/>
                </a:solidFill>
                <a:latin typeface="JetBrains Mono" pitchFamily="49" charset="0"/>
                <a:ea typeface="JetBrains Mono" pitchFamily="49" charset="-122"/>
                <a:cs typeface="JetBrains Mono" pitchFamily="49" charset="-120"/>
              </a:rPr>
              <a:t>t=0 (.6·15.56+.4·3.08)/1.02</a:t>
            </a:r>
            <a:r>
              <a:rPr lang="en-US" dirty="0"/>
              <a:t> </a:t>
            </a:r>
            <a:r>
              <a:rPr lang="en-US" dirty="0">
                <a:solidFill>
                  <a:srgbClr val="14202E"/>
                </a:solidFill>
                <a:latin typeface="JetBrains Mono" pitchFamily="49" charset="0"/>
                <a:ea typeface="JetBrains Mono" pitchFamily="49" charset="-122"/>
                <a:cs typeface="JetBrains Mono" pitchFamily="49" charset="-120"/>
              </a:rPr>
              <a:t>= </a:t>
            </a:r>
            <a:r>
              <a:rPr lang="en-US" b="1" dirty="0">
                <a:solidFill>
                  <a:srgbClr val="14202E"/>
                </a:solidFill>
                <a:latin typeface="JetBrains Mono" pitchFamily="49" charset="0"/>
                <a:ea typeface="JetBrains Mono" pitchFamily="49" charset="-122"/>
                <a:cs typeface="JetBrains Mono" pitchFamily="49" charset="-120"/>
              </a:rPr>
              <a:t>10.36</a:t>
            </a:r>
            <a:endParaRPr lang="en-US" dirty="0"/>
          </a:p>
        </p:txBody>
      </p:sp>
      <p:sp>
        <p:nvSpPr>
          <p:cNvPr id="7" name="Text 4"/>
          <p:cNvSpPr/>
          <p:nvPr/>
        </p:nvSpPr>
        <p:spPr>
          <a:xfrm>
            <a:off x="812800" y="3872111"/>
            <a:ext cx="3139440" cy="504130"/>
          </a:xfrm>
          <a:prstGeom prst="rect">
            <a:avLst/>
          </a:prstGeom>
          <a:noFill/>
          <a:ln/>
        </p:spPr>
        <p:txBody>
          <a:bodyPr wrap="square" lIns="0" tIns="0" rIns="0" bIns="0" rtlCol="0" anchor="t">
            <a:normAutofit fontScale="92500"/>
          </a:bodyPr>
          <a:lstStyle/>
          <a:p>
            <a:pPr marL="0" indent="0" algn="l">
              <a:lnSpc>
                <a:spcPts val="1885"/>
              </a:lnSpc>
              <a:buNone/>
            </a:pPr>
            <a:r>
              <a:rPr lang="en-US" dirty="0">
                <a:solidFill>
                  <a:srgbClr val="44505E"/>
                </a:solidFill>
                <a:latin typeface="IBM Plex Sans" pitchFamily="34" charset="0"/>
                <a:ea typeface="IBM Plex Sans" pitchFamily="34" charset="-122"/>
                <a:cs typeface="IBM Plex Sans" pitchFamily="34" charset="-120"/>
              </a:rPr>
              <a:t>Ten nodes, nine multiply-adds. Real-world p was never used.</a:t>
            </a:r>
            <a:endParaRPr lang="en-US" dirty="0"/>
          </a:p>
        </p:txBody>
      </p:sp>
      <p:sp>
        <p:nvSpPr>
          <p:cNvPr id="8" name="Text 5"/>
          <p:cNvSpPr/>
          <p:nvPr/>
        </p:nvSpPr>
        <p:spPr>
          <a:xfrm>
            <a:off x="416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0</a:t>
            </a:r>
            <a:endParaRPr lang="en-US" sz="1200" b="1" dirty="0"/>
          </a:p>
        </p:txBody>
      </p:sp>
      <p:sp>
        <p:nvSpPr>
          <p:cNvPr id="9" name="Text 6"/>
          <p:cNvSpPr/>
          <p:nvPr/>
        </p:nvSpPr>
        <p:spPr>
          <a:xfrm>
            <a:off x="607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1</a:t>
            </a:r>
            <a:endParaRPr lang="en-US" sz="1200" b="1" dirty="0"/>
          </a:p>
        </p:txBody>
      </p:sp>
      <p:sp>
        <p:nvSpPr>
          <p:cNvPr id="10" name="Text 7"/>
          <p:cNvSpPr/>
          <p:nvPr/>
        </p:nvSpPr>
        <p:spPr>
          <a:xfrm>
            <a:off x="797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2</a:t>
            </a:r>
            <a:endParaRPr lang="en-US" sz="1200" b="1" dirty="0"/>
          </a:p>
        </p:txBody>
      </p:sp>
      <p:sp>
        <p:nvSpPr>
          <p:cNvPr id="11" name="Text 8"/>
          <p:cNvSpPr/>
          <p:nvPr/>
        </p:nvSpPr>
        <p:spPr>
          <a:xfrm>
            <a:off x="988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3 = T</a:t>
            </a:r>
            <a:endParaRPr lang="en-US" sz="1200" b="1" dirty="0"/>
          </a:p>
        </p:txBody>
      </p:sp>
      <p:sp>
        <p:nvSpPr>
          <p:cNvPr id="12" name="Text 9"/>
          <p:cNvSpPr/>
          <p:nvPr/>
        </p:nvSpPr>
        <p:spPr>
          <a:xfrm>
            <a:off x="4200525" y="3629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14202E"/>
          </a:solidFill>
          <a:ln w="19050">
            <a:solidFill>
              <a:srgbClr val="14202E"/>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F5F3EC"/>
                </a:solidFill>
                <a:latin typeface="JetBrains Mono" pitchFamily="49" charset="0"/>
                <a:ea typeface="JetBrains Mono" pitchFamily="49" charset="-122"/>
                <a:cs typeface="JetBrains Mono" pitchFamily="49" charset="-120"/>
              </a:rPr>
              <a:t>100.00</a:t>
            </a:r>
            <a:endParaRPr lang="en-US" sz="1300" dirty="0"/>
          </a:p>
          <a:p>
            <a:pPr marL="0" indent="0" algn="ctr">
              <a:lnSpc>
                <a:spcPts val="1495"/>
              </a:lnSpc>
              <a:buNone/>
            </a:pPr>
            <a:r>
              <a:rPr lang="en-US" sz="1300" dirty="0">
                <a:solidFill>
                  <a:srgbClr val="E3A33B"/>
                </a:solidFill>
                <a:latin typeface="JetBrains Mono" pitchFamily="49" charset="0"/>
                <a:ea typeface="JetBrains Mono" pitchFamily="49" charset="-122"/>
                <a:cs typeface="JetBrains Mono" pitchFamily="49" charset="-120"/>
              </a:rPr>
              <a:t>C = 10.36</a:t>
            </a:r>
            <a:endParaRPr lang="en-US" sz="1300" dirty="0"/>
          </a:p>
        </p:txBody>
      </p:sp>
      <p:sp>
        <p:nvSpPr>
          <p:cNvPr id="13" name="Text 10"/>
          <p:cNvSpPr/>
          <p:nvPr/>
        </p:nvSpPr>
        <p:spPr>
          <a:xfrm>
            <a:off x="6102350" y="299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110.00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 15.56</a:t>
            </a:r>
            <a:endParaRPr lang="en-US" sz="1300" dirty="0"/>
          </a:p>
        </p:txBody>
      </p:sp>
      <p:sp>
        <p:nvSpPr>
          <p:cNvPr id="14" name="Text 11"/>
          <p:cNvSpPr/>
          <p:nvPr/>
        </p:nvSpPr>
        <p:spPr>
          <a:xfrm>
            <a:off x="6102350" y="426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90.00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 3.08</a:t>
            </a:r>
            <a:endParaRPr lang="en-US" sz="1300" dirty="0"/>
          </a:p>
        </p:txBody>
      </p:sp>
      <p:sp>
        <p:nvSpPr>
          <p:cNvPr id="15" name="Text 12"/>
          <p:cNvSpPr/>
          <p:nvPr/>
        </p:nvSpPr>
        <p:spPr>
          <a:xfrm>
            <a:off x="8007350" y="235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121.00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 22.96</a:t>
            </a:r>
            <a:endParaRPr lang="en-US" sz="1300" dirty="0"/>
          </a:p>
        </p:txBody>
      </p:sp>
      <p:sp>
        <p:nvSpPr>
          <p:cNvPr id="16" name="Text 13"/>
          <p:cNvSpPr/>
          <p:nvPr/>
        </p:nvSpPr>
        <p:spPr>
          <a:xfrm>
            <a:off x="8007350" y="362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99.00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 5.24</a:t>
            </a:r>
            <a:endParaRPr lang="en-US" sz="1300" dirty="0"/>
          </a:p>
        </p:txBody>
      </p:sp>
      <p:sp>
        <p:nvSpPr>
          <p:cNvPr id="17" name="Text 14"/>
          <p:cNvSpPr/>
          <p:nvPr/>
        </p:nvSpPr>
        <p:spPr>
          <a:xfrm>
            <a:off x="8007350" y="489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81.00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 0.00</a:t>
            </a:r>
            <a:endParaRPr lang="en-US" sz="1300" dirty="0"/>
          </a:p>
        </p:txBody>
      </p:sp>
      <p:sp>
        <p:nvSpPr>
          <p:cNvPr id="18" name="Text 15"/>
          <p:cNvSpPr/>
          <p:nvPr/>
        </p:nvSpPr>
        <p:spPr>
          <a:xfrm>
            <a:off x="9915525" y="172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133.10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C = 33.10</a:t>
            </a:r>
            <a:endParaRPr lang="en-US" sz="1300" dirty="0"/>
          </a:p>
        </p:txBody>
      </p:sp>
      <p:sp>
        <p:nvSpPr>
          <p:cNvPr id="19" name="Text 16"/>
          <p:cNvSpPr/>
          <p:nvPr/>
        </p:nvSpPr>
        <p:spPr>
          <a:xfrm>
            <a:off x="9915525" y="299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108.90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C = 8.90</a:t>
            </a:r>
            <a:endParaRPr lang="en-US" sz="1300" dirty="0"/>
          </a:p>
        </p:txBody>
      </p:sp>
      <p:sp>
        <p:nvSpPr>
          <p:cNvPr id="20" name="Text 17"/>
          <p:cNvSpPr/>
          <p:nvPr/>
        </p:nvSpPr>
        <p:spPr>
          <a:xfrm>
            <a:off x="9915525" y="426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89.10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C = 0.00</a:t>
            </a:r>
            <a:endParaRPr lang="en-US" sz="1300" dirty="0"/>
          </a:p>
        </p:txBody>
      </p:sp>
      <p:sp>
        <p:nvSpPr>
          <p:cNvPr id="21" name="Text 18"/>
          <p:cNvSpPr/>
          <p:nvPr/>
        </p:nvSpPr>
        <p:spPr>
          <a:xfrm>
            <a:off x="9915525" y="553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72.90</a:t>
            </a:r>
            <a:endParaRPr lang="en-US" sz="1300" dirty="0"/>
          </a:p>
          <a:p>
            <a:pPr marL="0" indent="0" algn="ctr">
              <a:lnSpc>
                <a:spcPts val="1495"/>
              </a:lnSpc>
              <a:buNone/>
            </a:pPr>
            <a:r>
              <a:rPr lang="en-US" sz="1300" dirty="0">
                <a:solidFill>
                  <a:srgbClr val="2B65C8"/>
                </a:solidFill>
                <a:latin typeface="JetBrains Mono" pitchFamily="49" charset="0"/>
                <a:ea typeface="JetBrains Mono" pitchFamily="49" charset="-122"/>
                <a:cs typeface="JetBrains Mono" pitchFamily="49" charset="-120"/>
              </a:rPr>
              <a:t>C = 0.00</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1">
    <p:bg>
      <p:bgPr>
        <a:solidFill>
          <a:srgbClr val="ECE8D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03 · THE LATTICE · FORWARD MEETS BACKWARD</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Two routes through the lattice, one price</a:t>
            </a:r>
            <a:endParaRPr lang="en-US" sz="3000" dirty="0"/>
          </a:p>
        </p:txBody>
      </p:sp>
      <p:sp>
        <p:nvSpPr>
          <p:cNvPr id="4" name="Shape 2"/>
          <p:cNvSpPr/>
          <p:nvPr/>
        </p:nvSpPr>
        <p:spPr>
          <a:xfrm>
            <a:off x="812800" y="1621273"/>
            <a:ext cx="5181600" cy="2989014"/>
          </a:xfrm>
          <a:prstGeom prst="roundRect">
            <a:avLst>
              <a:gd name="adj" fmla="val 3399"/>
            </a:avLst>
          </a:prstGeom>
          <a:solidFill>
            <a:srgbClr val="FDFCF8"/>
          </a:solidFill>
          <a:ln/>
          <a:effectLst>
            <a:outerShdw blurRad="50800" dist="38100" dir="2700000" algn="tl" rotWithShape="0">
              <a:prstClr val="black">
                <a:alpha val="40000"/>
              </a:prstClr>
            </a:outerShdw>
          </a:effectLst>
        </p:spPr>
        <p:txBody>
          <a:bodyPr/>
          <a:lstStyle/>
          <a:p>
            <a:endParaRPr lang="en-SE"/>
          </a:p>
        </p:txBody>
      </p:sp>
      <p:sp>
        <p:nvSpPr>
          <p:cNvPr id="5" name="Shape 3"/>
          <p:cNvSpPr/>
          <p:nvPr/>
        </p:nvSpPr>
        <p:spPr>
          <a:xfrm>
            <a:off x="812800" y="1621273"/>
            <a:ext cx="5181600" cy="2989014"/>
          </a:xfrm>
          <a:custGeom>
            <a:avLst/>
            <a:gdLst/>
            <a:ahLst/>
            <a:cxnLst/>
            <a:rect l="l" t="t" r="r" b="b"/>
            <a:pathLst>
              <a:path w="5181600" h="2989014">
                <a:moveTo>
                  <a:pt x="0" y="101600"/>
                </a:moveTo>
                <a:lnTo>
                  <a:pt x="0" y="101600"/>
                </a:lnTo>
                <a:arcTo wR="101600" hR="101600" stAng="10800000" swAng="5400000"/>
                <a:lnTo>
                  <a:pt x="5080000" y="0"/>
                </a:lnTo>
                <a:arcTo wR="101600" hR="101600" stAng="16200000" swAng="5400000"/>
                <a:lnTo>
                  <a:pt x="5181600" y="101600"/>
                </a:lnTo>
                <a:arcTo wR="101600" hR="63500" stAng="0" swAng="-5400000"/>
                <a:lnTo>
                  <a:pt x="101600" y="38100"/>
                </a:lnTo>
                <a:arcTo wR="101600" hR="63500" stAng="16200000" swAng="-5400000"/>
                <a:close/>
              </a:path>
            </a:pathLst>
          </a:custGeom>
          <a:solidFill>
            <a:srgbClr val="2B65C8"/>
          </a:solidFill>
          <a:ln/>
        </p:spPr>
        <p:txBody>
          <a:bodyPr/>
          <a:lstStyle/>
          <a:p>
            <a:endParaRPr lang="en-SE"/>
          </a:p>
        </p:txBody>
      </p:sp>
      <p:sp>
        <p:nvSpPr>
          <p:cNvPr id="6" name="Text 4"/>
          <p:cNvSpPr/>
          <p:nvPr/>
        </p:nvSpPr>
        <p:spPr>
          <a:xfrm>
            <a:off x="1016000" y="1862573"/>
            <a:ext cx="491845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65C8"/>
                </a:solidFill>
                <a:latin typeface="IBM Plex Sans" pitchFamily="34" charset="0"/>
                <a:ea typeface="IBM Plex Sans" pitchFamily="34" charset="-122"/>
                <a:cs typeface="IBM Plex Sans" pitchFamily="34" charset="-120"/>
              </a:rPr>
              <a:t>Forward → state prices · payoff</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2770030590"/>
              </p:ext>
            </p:extLst>
          </p:nvPr>
        </p:nvGraphicFramePr>
        <p:xfrm>
          <a:off x="1028700" y="2251163"/>
          <a:ext cx="4762500" cy="2155926"/>
        </p:xfrm>
        <a:graphic>
          <a:graphicData uri="http://schemas.openxmlformats.org/drawingml/2006/table">
            <a:tbl>
              <a:tblPr/>
              <a:tblGrid>
                <a:gridCol w="119062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190625">
                  <a:extLst>
                    <a:ext uri="{9D8B030D-6E8A-4147-A177-3AD203B41FA5}">
                      <a16:colId xmlns:a16="http://schemas.microsoft.com/office/drawing/2014/main" val="20002"/>
                    </a:ext>
                  </a:extLst>
                </a:gridCol>
                <a:gridCol w="1190625">
                  <a:extLst>
                    <a:ext uri="{9D8B030D-6E8A-4147-A177-3AD203B41FA5}">
                      <a16:colId xmlns:a16="http://schemas.microsoft.com/office/drawing/2014/main" val="20003"/>
                    </a:ext>
                  </a:extLst>
                </a:gridCol>
              </a:tblGrid>
              <a:tr h="359321">
                <a:tc>
                  <a:txBody>
                    <a:bodyPr/>
                    <a:lstStyle/>
                    <a:p>
                      <a:pPr marL="0" indent="0">
                        <a:lnSpc>
                          <a:spcPts val="1820"/>
                        </a:lnSpc>
                        <a:buNone/>
                      </a:pPr>
                      <a:r>
                        <a:rPr lang="en-US" sz="1600" b="1" dirty="0">
                          <a:solidFill>
                            <a:srgbClr val="14202E"/>
                          </a:solidFill>
                          <a:latin typeface="JetBrains Mono" pitchFamily="49" charset="0"/>
                          <a:ea typeface="JetBrains Mono" pitchFamily="49" charset="-122"/>
                          <a:cs typeface="JetBrains Mono" pitchFamily="49" charset="-120"/>
                        </a:rPr>
                        <a:t>Leaf S</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c>
                  <a:txBody>
                    <a:bodyPr/>
                    <a:lstStyle/>
                    <a:p>
                      <a:pPr marL="0" indent="0" algn="r">
                        <a:lnSpc>
                          <a:spcPts val="1820"/>
                        </a:lnSpc>
                        <a:buNone/>
                      </a:pPr>
                      <a:r>
                        <a:rPr lang="en-US" sz="1600" b="1" dirty="0">
                          <a:solidFill>
                            <a:srgbClr val="14202E"/>
                          </a:solidFill>
                          <a:latin typeface="JetBrains Mono" pitchFamily="49" charset="0"/>
                          <a:ea typeface="JetBrains Mono" pitchFamily="49" charset="-122"/>
                          <a:cs typeface="JetBrains Mono" pitchFamily="49" charset="-120"/>
                        </a:rPr>
                        <a:t>payoff</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c>
                  <a:txBody>
                    <a:bodyPr/>
                    <a:lstStyle/>
                    <a:p>
                      <a:pPr marL="0" indent="0" algn="r">
                        <a:lnSpc>
                          <a:spcPts val="1820"/>
                        </a:lnSpc>
                        <a:buNone/>
                      </a:pPr>
                      <a:r>
                        <a:rPr lang="en-US" sz="1600" b="1" dirty="0">
                          <a:solidFill>
                            <a:srgbClr val="14202E"/>
                          </a:solidFill>
                          <a:latin typeface="JetBrains Mono" pitchFamily="49" charset="0"/>
                          <a:ea typeface="JetBrains Mono" pitchFamily="49" charset="-122"/>
                          <a:cs typeface="JetBrains Mono" pitchFamily="49" charset="-120"/>
                        </a:rPr>
                        <a:t>ψ</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c>
                  <a:txBody>
                    <a:bodyPr/>
                    <a:lstStyle/>
                    <a:p>
                      <a:pPr marL="0" indent="0" algn="r">
                        <a:lnSpc>
                          <a:spcPts val="1820"/>
                        </a:lnSpc>
                        <a:buNone/>
                      </a:pPr>
                      <a:r>
                        <a:rPr lang="en-US" sz="1600" b="1" dirty="0">
                          <a:solidFill>
                            <a:srgbClr val="14202E"/>
                          </a:solidFill>
                          <a:latin typeface="JetBrains Mono" pitchFamily="49" charset="0"/>
                          <a:ea typeface="JetBrains Mono" pitchFamily="49" charset="-122"/>
                          <a:cs typeface="JetBrains Mono" pitchFamily="49" charset="-120"/>
                        </a:rPr>
                        <a:t>ψ·payoff</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133.10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33.10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0.2035</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6.737</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108.90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8.90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0.4071</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3.623</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89.10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0.00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0.2714</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0.000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72.90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0.00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0.0603</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0.000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Σ</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B8BEC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8BEC8"/>
                      </a:solidFill>
                      <a:prstDash val="solid"/>
                      <a:round/>
                      <a:headEnd type="none" w="med" len="med"/>
                      <a:tailEnd type="none" w="med" len="med"/>
                    </a:lnB>
                    <a:solidFill>
                      <a:srgbClr val="E6EEFB"/>
                    </a:solidFill>
                  </a:tcPr>
                </a:tc>
                <a:tc>
                  <a:txBody>
                    <a:bodyPr/>
                    <a:lstStyle/>
                    <a:p>
                      <a:pPr marL="0" indent="0" algn="r">
                        <a:lnSpc>
                          <a:spcPts val="1820"/>
                        </a:lnSpc>
                        <a:buNone/>
                      </a:pPr>
                      <a:endParaRPr lang="en-US" sz="1600" dirty="0">
                        <a:latin typeface="JetBrains Mono" charset="0"/>
                        <a:ea typeface="JetBrains Mono" charset="0"/>
                        <a:cs typeface="JetBrains Mono" charset="0"/>
                      </a:endParaRPr>
                    </a:p>
                  </a:txBody>
                  <a:tcPr marL="57785" marR="57785" marT="57785" marB="57785">
                    <a:lnL w="12700" cap="flat" cmpd="sng" algn="ctr">
                      <a:solidFill>
                        <a:srgbClr val="B8BEC8"/>
                      </a:solidFill>
                      <a:prstDash val="solid"/>
                      <a:round/>
                      <a:headEnd type="none" w="med" len="med"/>
                      <a:tailEnd type="none" w="med" len="med"/>
                    </a:lnL>
                    <a:lnR w="12700" cap="flat" cmpd="sng" algn="ctr">
                      <a:solidFill>
                        <a:srgbClr val="B8BEC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8BEC8"/>
                      </a:solidFill>
                      <a:prstDash val="solid"/>
                      <a:round/>
                      <a:headEnd type="none" w="med" len="med"/>
                      <a:tailEnd type="none" w="med" len="med"/>
                    </a:lnB>
                    <a:solidFill>
                      <a:srgbClr val="E6EEFB"/>
                    </a:solidFill>
                  </a:tcPr>
                </a:tc>
                <a:tc>
                  <a:txBody>
                    <a:bodyPr/>
                    <a:lstStyle/>
                    <a:p>
                      <a:pPr marL="0" indent="0" algn="r">
                        <a:lnSpc>
                          <a:spcPts val="1820"/>
                        </a:lnSpc>
                        <a:buNone/>
                      </a:pPr>
                      <a:endParaRPr lang="en-US" sz="1600" dirty="0">
                        <a:latin typeface="JetBrains Mono" charset="0"/>
                        <a:ea typeface="JetBrains Mono" charset="0"/>
                        <a:cs typeface="JetBrains Mono" charset="0"/>
                      </a:endParaRPr>
                    </a:p>
                  </a:txBody>
                  <a:tcPr marL="57785" marR="57785" marT="57785" marB="57785">
                    <a:lnL w="12700" cap="flat" cmpd="sng" algn="ctr">
                      <a:solidFill>
                        <a:srgbClr val="B8BEC8"/>
                      </a:solidFill>
                      <a:prstDash val="solid"/>
                      <a:round/>
                      <a:headEnd type="none" w="med" len="med"/>
                      <a:tailEnd type="none" w="med" len="med"/>
                    </a:lnL>
                    <a:lnR w="12700" cap="flat" cmpd="sng" algn="ctr">
                      <a:solidFill>
                        <a:srgbClr val="B8BEC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8BEC8"/>
                      </a:solidFill>
                      <a:prstDash val="solid"/>
                      <a:round/>
                      <a:headEnd type="none" w="med" len="med"/>
                      <a:tailEnd type="none" w="med" len="med"/>
                    </a:lnB>
                    <a:solidFill>
                      <a:srgbClr val="E6EEFB"/>
                    </a:solidFill>
                  </a:tcPr>
                </a:tc>
                <a:tc>
                  <a:txBody>
                    <a:bodyPr/>
                    <a:lstStyle/>
                    <a:p>
                      <a:pPr marL="0" indent="0" algn="r">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10.360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B8BEC8"/>
                      </a:solidFill>
                      <a:prstDash val="solid"/>
                      <a:round/>
                      <a:headEnd type="none" w="med" len="med"/>
                      <a:tailEnd type="none" w="med" len="med"/>
                    </a:lnL>
                    <a:lnR w="12700" cap="flat" cmpd="sng" algn="ctr">
                      <a:solidFill>
                        <a:srgbClr val="B8BEC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8BEC8"/>
                      </a:solidFill>
                      <a:prstDash val="solid"/>
                      <a:round/>
                      <a:headEnd type="none" w="med" len="med"/>
                      <a:tailEnd type="none" w="med" len="med"/>
                    </a:lnB>
                    <a:solidFill>
                      <a:srgbClr val="E6EEFB"/>
                    </a:solidFill>
                  </a:tcPr>
                </a:tc>
                <a:extLst>
                  <a:ext uri="{0D108BD9-81ED-4DB2-BD59-A6C34878D82A}">
                    <a16:rowId xmlns:a16="http://schemas.microsoft.com/office/drawing/2014/main" val="10005"/>
                  </a:ext>
                </a:extLst>
              </a:tr>
            </a:tbl>
          </a:graphicData>
        </a:graphic>
      </p:graphicFrame>
      <p:sp>
        <p:nvSpPr>
          <p:cNvPr id="8" name="Shape 5"/>
          <p:cNvSpPr/>
          <p:nvPr/>
        </p:nvSpPr>
        <p:spPr>
          <a:xfrm>
            <a:off x="6197600" y="1621273"/>
            <a:ext cx="5181600" cy="2989014"/>
          </a:xfrm>
          <a:prstGeom prst="roundRect">
            <a:avLst>
              <a:gd name="adj" fmla="val 3399"/>
            </a:avLst>
          </a:prstGeom>
          <a:solidFill>
            <a:srgbClr val="FDFCF8"/>
          </a:solidFill>
          <a:ln/>
          <a:effectLst>
            <a:outerShdw blurRad="50800" dist="38100" dir="2700000" algn="tl" rotWithShape="0">
              <a:prstClr val="black">
                <a:alpha val="40000"/>
              </a:prstClr>
            </a:outerShdw>
          </a:effectLst>
        </p:spPr>
        <p:txBody>
          <a:bodyPr/>
          <a:lstStyle/>
          <a:p>
            <a:endParaRPr lang="en-SE"/>
          </a:p>
        </p:txBody>
      </p:sp>
      <p:sp>
        <p:nvSpPr>
          <p:cNvPr id="9" name="Shape 6"/>
          <p:cNvSpPr/>
          <p:nvPr/>
        </p:nvSpPr>
        <p:spPr>
          <a:xfrm>
            <a:off x="6197600" y="1621273"/>
            <a:ext cx="5181600" cy="2989014"/>
          </a:xfrm>
          <a:custGeom>
            <a:avLst/>
            <a:gdLst/>
            <a:ahLst/>
            <a:cxnLst/>
            <a:rect l="l" t="t" r="r" b="b"/>
            <a:pathLst>
              <a:path w="5181600" h="2989014">
                <a:moveTo>
                  <a:pt x="0" y="101600"/>
                </a:moveTo>
                <a:lnTo>
                  <a:pt x="0" y="101600"/>
                </a:lnTo>
                <a:arcTo wR="101600" hR="101600" stAng="10800000" swAng="5400000"/>
                <a:lnTo>
                  <a:pt x="5080000" y="0"/>
                </a:lnTo>
                <a:arcTo wR="101600" hR="101600" stAng="16200000" swAng="5400000"/>
                <a:lnTo>
                  <a:pt x="5181600" y="101600"/>
                </a:lnTo>
                <a:arcTo wR="101600" hR="63500" stAng="0" swAng="-5400000"/>
                <a:lnTo>
                  <a:pt x="101600" y="38100"/>
                </a:lnTo>
                <a:arcTo wR="101600" hR="63500" stAng="16200000" swAng="-5400000"/>
                <a:close/>
              </a:path>
            </a:pathLst>
          </a:custGeom>
          <a:solidFill>
            <a:srgbClr val="C4661A"/>
          </a:solidFill>
          <a:ln/>
        </p:spPr>
        <p:txBody>
          <a:bodyPr/>
          <a:lstStyle/>
          <a:p>
            <a:endParaRPr lang="en-SE"/>
          </a:p>
        </p:txBody>
      </p:sp>
      <p:sp>
        <p:nvSpPr>
          <p:cNvPr id="10" name="Text 7"/>
          <p:cNvSpPr/>
          <p:nvPr/>
        </p:nvSpPr>
        <p:spPr>
          <a:xfrm>
            <a:off x="6400800" y="1862573"/>
            <a:ext cx="491845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9520F"/>
                </a:solidFill>
                <a:latin typeface="IBM Plex Sans" pitchFamily="34" charset="0"/>
                <a:ea typeface="IBM Plex Sans" pitchFamily="34" charset="-122"/>
                <a:cs typeface="IBM Plex Sans" pitchFamily="34" charset="-120"/>
              </a:rPr>
              <a:t>Backward ← induction</a:t>
            </a:r>
            <a:endParaRPr lang="en-US" sz="1800" dirty="0"/>
          </a:p>
        </p:txBody>
      </p:sp>
      <p:graphicFrame>
        <p:nvGraphicFramePr>
          <p:cNvPr id="11" name="Table 1"/>
          <p:cNvGraphicFramePr>
            <a:graphicFrameLocks noGrp="1"/>
          </p:cNvGraphicFramePr>
          <p:nvPr>
            <p:extLst>
              <p:ext uri="{D42A27DB-BD31-4B8C-83A1-F6EECF244321}">
                <p14:modId xmlns:p14="http://schemas.microsoft.com/office/powerpoint/2010/main" val="2806040634"/>
              </p:ext>
            </p:extLst>
          </p:nvPr>
        </p:nvGraphicFramePr>
        <p:xfrm>
          <a:off x="6413500" y="2251163"/>
          <a:ext cx="4762500" cy="1796605"/>
        </p:xfrm>
        <a:graphic>
          <a:graphicData uri="http://schemas.openxmlformats.org/drawingml/2006/table">
            <a:tbl>
              <a:tblPr/>
              <a:tblGrid>
                <a:gridCol w="10477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tblGrid>
              <a:tr h="359321">
                <a:tc>
                  <a:txBody>
                    <a:bodyPr/>
                    <a:lstStyle/>
                    <a:p>
                      <a:pPr marL="0" indent="0">
                        <a:lnSpc>
                          <a:spcPts val="1820"/>
                        </a:lnSpc>
                        <a:buNone/>
                      </a:pPr>
                      <a:r>
                        <a:rPr lang="en-US" sz="1600" b="1" dirty="0">
                          <a:solidFill>
                            <a:srgbClr val="14202E"/>
                          </a:solidFill>
                          <a:latin typeface="JetBrains Mono" pitchFamily="49" charset="0"/>
                          <a:ea typeface="JetBrains Mono" pitchFamily="49" charset="-122"/>
                          <a:cs typeface="JetBrains Mono" pitchFamily="49" charset="-120"/>
                        </a:rPr>
                        <a:t>Step</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c>
                  <a:txBody>
                    <a:bodyPr/>
                    <a:lstStyle/>
                    <a:p>
                      <a:pPr marL="0" indent="0">
                        <a:lnSpc>
                          <a:spcPts val="1820"/>
                        </a:lnSpc>
                        <a:buNone/>
                      </a:pPr>
                      <a:r>
                        <a:rPr lang="en-US" sz="1600" b="1" dirty="0">
                          <a:solidFill>
                            <a:srgbClr val="14202E"/>
                          </a:solidFill>
                          <a:latin typeface="JetBrains Mono" pitchFamily="49" charset="0"/>
                          <a:ea typeface="JetBrains Mono" pitchFamily="49" charset="-122"/>
                          <a:cs typeface="JetBrains Mono" pitchFamily="49" charset="-120"/>
                        </a:rPr>
                        <a:t>Values, top to bottom</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t = 3</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33.10 · 8.90 · 0 · 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t = 2</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22.96 · 5.24 · 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t = 1</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15.56 · 3.08</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t = 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tc>
                  <a:txBody>
                    <a:bodyPr/>
                    <a:lstStyle/>
                    <a:p>
                      <a:pPr marL="0" indent="0">
                        <a:lnSpc>
                          <a:spcPts val="1820"/>
                        </a:lnSpc>
                        <a:buNone/>
                      </a:pPr>
                      <a:r>
                        <a:rPr lang="en-US" sz="1600" dirty="0">
                          <a:solidFill>
                            <a:srgbClr val="14202E"/>
                          </a:solidFill>
                          <a:latin typeface="JetBrains Mono" pitchFamily="49" charset="0"/>
                          <a:ea typeface="JetBrains Mono" pitchFamily="49" charset="-122"/>
                          <a:cs typeface="JetBrains Mono" pitchFamily="49" charset="-120"/>
                        </a:rPr>
                        <a:t>C₀ = 10.360</a:t>
                      </a:r>
                      <a:endParaRPr lang="en-US" sz="1600" dirty="0">
                        <a:latin typeface="JetBrains Mono" charset="0"/>
                        <a:ea typeface="JetBrains Mono" charset="0"/>
                        <a:cs typeface="JetBrains Mono" charset="0"/>
                      </a:endParaRPr>
                    </a:p>
                  </a:txBody>
                  <a:tcPr marL="57785" marR="57785" marT="57785" marB="57785">
                    <a:lnL w="12700" cap="flat" cmpd="sng" algn="ctr">
                      <a:solidFill>
                        <a:srgbClr val="C8BAAD"/>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extLst>
                  <a:ext uri="{0D108BD9-81ED-4DB2-BD59-A6C34878D82A}">
                    <a16:rowId xmlns:a16="http://schemas.microsoft.com/office/drawing/2014/main" val="10004"/>
                  </a:ext>
                </a:extLst>
              </a:tr>
            </a:tbl>
          </a:graphicData>
        </a:graphic>
      </p:graphicFrame>
      <p:sp>
        <p:nvSpPr>
          <p:cNvPr id="12" name="Shape 8"/>
          <p:cNvSpPr/>
          <p:nvPr/>
        </p:nvSpPr>
        <p:spPr>
          <a:xfrm>
            <a:off x="812800" y="4949418"/>
            <a:ext cx="10566400" cy="1095782"/>
          </a:xfrm>
          <a:prstGeom prst="roundRect">
            <a:avLst>
              <a:gd name="adj" fmla="val 11462"/>
            </a:avLst>
          </a:prstGeom>
          <a:solidFill>
            <a:srgbClr val="14202E"/>
          </a:solidFill>
          <a:ln/>
        </p:spPr>
        <p:txBody>
          <a:bodyPr/>
          <a:lstStyle/>
          <a:p>
            <a:endParaRPr lang="en-SE" sz="2000"/>
          </a:p>
        </p:txBody>
      </p:sp>
      <p:sp>
        <p:nvSpPr>
          <p:cNvPr id="13" name="Text 9"/>
          <p:cNvSpPr/>
          <p:nvPr/>
        </p:nvSpPr>
        <p:spPr>
          <a:xfrm>
            <a:off x="1041400" y="5127218"/>
            <a:ext cx="10412476" cy="444500"/>
          </a:xfrm>
          <a:prstGeom prst="rect">
            <a:avLst/>
          </a:prstGeom>
          <a:noFill/>
          <a:ln/>
        </p:spPr>
        <p:txBody>
          <a:bodyPr wrap="square" lIns="0" tIns="0" rIns="0" bIns="0" rtlCol="0" anchor="ctr">
            <a:normAutofit/>
          </a:bodyPr>
          <a:lstStyle/>
          <a:p>
            <a:pPr marL="0" indent="0" algn="l">
              <a:lnSpc>
                <a:spcPts val="1960"/>
              </a:lnSpc>
              <a:buNone/>
            </a:pPr>
            <a:r>
              <a:rPr lang="en-US" sz="2000" dirty="0">
                <a:solidFill>
                  <a:srgbClr val="F5F3EC"/>
                </a:solidFill>
                <a:latin typeface="JetBrains Mono" pitchFamily="49" charset="0"/>
                <a:ea typeface="JetBrains Mono" pitchFamily="49" charset="-122"/>
                <a:cs typeface="JetBrains Mono" pitchFamily="49" charset="-120"/>
              </a:rPr>
              <a:t>C₀ = R⁻ⁿ · Σⱼ (n choose j) · qʲ(1−q)ⁿ⁻ʲ · payoff(S₀·uʲ·dⁿ⁻ʲ)</a:t>
            </a:r>
            <a:endParaRPr lang="en-US" sz="2000" dirty="0"/>
          </a:p>
        </p:txBody>
      </p:sp>
      <p:sp>
        <p:nvSpPr>
          <p:cNvPr id="14" name="Text 10"/>
          <p:cNvSpPr/>
          <p:nvPr/>
        </p:nvSpPr>
        <p:spPr>
          <a:xfrm>
            <a:off x="1041400" y="5617827"/>
            <a:ext cx="1041247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BFCAD6"/>
                </a:solidFill>
                <a:latin typeface="IBM Plex Sans" pitchFamily="34" charset="0"/>
                <a:ea typeface="IBM Plex Sans" pitchFamily="34" charset="-122"/>
                <a:cs typeface="IBM Plex Sans" pitchFamily="34" charset="-120"/>
              </a:rPr>
              <a:t>Forward sums ψ against payoffs; backward nests the same sum. Same numbers, opposite order of evaluation.</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42">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03 · THE LATTICE · IN CODE</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The whole method fits on one screen</a:t>
            </a:r>
            <a:endParaRPr lang="en-US" sz="3000" dirty="0"/>
          </a:p>
        </p:txBody>
      </p:sp>
      <p:sp>
        <p:nvSpPr>
          <p:cNvPr id="4" name="Text 2"/>
          <p:cNvSpPr/>
          <p:nvPr/>
        </p:nvSpPr>
        <p:spPr>
          <a:xfrm>
            <a:off x="812800" y="1460500"/>
            <a:ext cx="7112000" cy="4869962"/>
          </a:xfrm>
          <a:prstGeom prst="roundRect">
            <a:avLst>
              <a:gd name="adj" fmla="val 2731"/>
            </a:avLst>
          </a:prstGeom>
          <a:solidFill>
            <a:srgbClr val="14202E"/>
          </a:solidFill>
          <a:ln/>
          <a:effectLst>
            <a:outerShdw blurRad="50800" dist="38100" dir="2700000" algn="tl" rotWithShape="0">
              <a:prstClr val="black">
                <a:alpha val="40000"/>
              </a:prstClr>
            </a:outerShdw>
          </a:effectLst>
        </p:spPr>
        <p:txBody>
          <a:bodyPr wrap="none" lIns="198842" tIns="173442" rIns="0" bIns="148042" rtlCol="0" anchor="t">
            <a:normAutofit/>
          </a:bodyPr>
          <a:lstStyle/>
          <a:p>
            <a:pPr marL="0" indent="0" algn="l">
              <a:lnSpc>
                <a:spcPts val="2340"/>
              </a:lnSpc>
              <a:buNone/>
            </a:pPr>
            <a:r>
              <a:rPr lang="en-US" sz="2000" dirty="0">
                <a:solidFill>
                  <a:srgbClr val="E6E9EE"/>
                </a:solidFill>
                <a:latin typeface="JetBrains Mono" pitchFamily="49" charset="0"/>
                <a:ea typeface="JetBrains Mono" pitchFamily="49" charset="-122"/>
                <a:cs typeface="JetBrains Mono" pitchFamily="49" charset="-120"/>
              </a:rPr>
              <a:t>def price(S0, K, r, sigma, T, n, call=True, american=False):</a:t>
            </a:r>
            <a:endParaRPr lang="en-US" sz="2000" dirty="0"/>
          </a:p>
          <a:p>
            <a:pPr marL="0" indent="0" algn="l">
              <a:lnSpc>
                <a:spcPts val="2340"/>
              </a:lnSpc>
              <a:buNone/>
            </a:pPr>
            <a:r>
              <a:rPr lang="en-US" sz="2000" dirty="0">
                <a:solidFill>
                  <a:srgbClr val="E6E9EE"/>
                </a:solidFill>
                <a:latin typeface="JetBrains Mono" pitchFamily="49" charset="0"/>
                <a:ea typeface="JetBrains Mono" pitchFamily="49" charset="-122"/>
                <a:cs typeface="JetBrains Mono" pitchFamily="49" charset="-120"/>
              </a:rPr>
              <a:t>    dt = T / n</a:t>
            </a:r>
            <a:endParaRPr lang="en-US" sz="2000" dirty="0"/>
          </a:p>
          <a:p>
            <a:pPr marL="0" indent="0" algn="l">
              <a:lnSpc>
                <a:spcPts val="2340"/>
              </a:lnSpc>
              <a:buNone/>
            </a:pPr>
            <a:r>
              <a:rPr lang="en-US" sz="2000" dirty="0">
                <a:solidFill>
                  <a:srgbClr val="E6E9EE"/>
                </a:solidFill>
                <a:latin typeface="JetBrains Mono" pitchFamily="49" charset="0"/>
                <a:ea typeface="JetBrains Mono" pitchFamily="49" charset="-122"/>
                <a:cs typeface="JetBrains Mono" pitchFamily="49" charset="-120"/>
              </a:rPr>
              <a:t>    u = exp(sigma * sqrt(dt)); d = 1 / u</a:t>
            </a:r>
            <a:endParaRPr lang="en-US" sz="2000" dirty="0"/>
          </a:p>
          <a:p>
            <a:pPr marL="0" indent="0" algn="l">
              <a:lnSpc>
                <a:spcPts val="2340"/>
              </a:lnSpc>
              <a:buNone/>
            </a:pPr>
            <a:r>
              <a:rPr lang="en-US" sz="2000" dirty="0">
                <a:solidFill>
                  <a:srgbClr val="E6E9EE"/>
                </a:solidFill>
                <a:latin typeface="JetBrains Mono" pitchFamily="49" charset="0"/>
                <a:ea typeface="JetBrains Mono" pitchFamily="49" charset="-122"/>
                <a:cs typeface="JetBrains Mono" pitchFamily="49" charset="-120"/>
              </a:rPr>
              <a:t>    R = exp(r * dt); q = (R - d) / (u - d)</a:t>
            </a:r>
            <a:endParaRPr lang="en-US" sz="2000" dirty="0"/>
          </a:p>
          <a:p>
            <a:pPr marL="0" indent="0" algn="l">
              <a:lnSpc>
                <a:spcPts val="2340"/>
              </a:lnSpc>
              <a:buNone/>
            </a:pPr>
            <a:r>
              <a:rPr lang="en-US" sz="2000" dirty="0">
                <a:solidFill>
                  <a:srgbClr val="7FA8F0"/>
                </a:solidFill>
                <a:latin typeface="JetBrains Mono" pitchFamily="49" charset="0"/>
                <a:ea typeface="JetBrains Mono" pitchFamily="49" charset="-122"/>
                <a:cs typeface="JetBrains Mono" pitchFamily="49" charset="-120"/>
              </a:rPr>
              <a:t>    # forward: prices at the leaves</a:t>
            </a:r>
            <a:endParaRPr lang="en-US" sz="2000" dirty="0"/>
          </a:p>
          <a:p>
            <a:pPr marL="0" indent="0" algn="l">
              <a:lnSpc>
                <a:spcPts val="2340"/>
              </a:lnSpc>
              <a:buNone/>
            </a:pPr>
            <a:r>
              <a:rPr lang="en-US" sz="2000" dirty="0">
                <a:solidFill>
                  <a:srgbClr val="E6E9EE"/>
                </a:solidFill>
                <a:latin typeface="JetBrains Mono" pitchFamily="49" charset="0"/>
                <a:ea typeface="JetBrains Mono" pitchFamily="49" charset="-122"/>
                <a:cs typeface="JetBrains Mono" pitchFamily="49" charset="-120"/>
              </a:rPr>
              <a:t>    S = [S0 * u**j * d**(n - j) for j in range(n + 1)]</a:t>
            </a:r>
            <a:endParaRPr lang="en-US" sz="2000" dirty="0"/>
          </a:p>
          <a:p>
            <a:pPr marL="0" indent="0" algn="l">
              <a:lnSpc>
                <a:spcPts val="2340"/>
              </a:lnSpc>
              <a:buNone/>
            </a:pPr>
            <a:r>
              <a:rPr lang="en-US" sz="2000" dirty="0">
                <a:solidFill>
                  <a:srgbClr val="E6E9EE"/>
                </a:solidFill>
                <a:latin typeface="JetBrains Mono" pitchFamily="49" charset="0"/>
                <a:ea typeface="JetBrains Mono" pitchFamily="49" charset="-122"/>
                <a:cs typeface="JetBrains Mono" pitchFamily="49" charset="-120"/>
              </a:rPr>
              <a:t>    V = [max(s - K, 0) if call else max(K - s, 0) for s in S]</a:t>
            </a:r>
            <a:endParaRPr lang="en-US" sz="2000" dirty="0"/>
          </a:p>
          <a:p>
            <a:pPr marL="0" indent="0" algn="l">
              <a:lnSpc>
                <a:spcPts val="2340"/>
              </a:lnSpc>
              <a:buNone/>
            </a:pPr>
            <a:r>
              <a:rPr lang="en-US" sz="2000" dirty="0">
                <a:solidFill>
                  <a:srgbClr val="F0A868"/>
                </a:solidFill>
                <a:latin typeface="JetBrains Mono" pitchFamily="49" charset="0"/>
                <a:ea typeface="JetBrains Mono" pitchFamily="49" charset="-122"/>
                <a:cs typeface="JetBrains Mono" pitchFamily="49" charset="-120"/>
              </a:rPr>
              <a:t>    # backward: roll values to the root</a:t>
            </a:r>
            <a:endParaRPr lang="en-US" sz="2000" dirty="0"/>
          </a:p>
          <a:p>
            <a:pPr marL="0" indent="0" algn="l">
              <a:lnSpc>
                <a:spcPts val="2340"/>
              </a:lnSpc>
              <a:buNone/>
            </a:pPr>
            <a:r>
              <a:rPr lang="en-US" sz="2000" dirty="0">
                <a:solidFill>
                  <a:srgbClr val="E6E9EE"/>
                </a:solidFill>
                <a:latin typeface="JetBrains Mono" pitchFamily="49" charset="0"/>
                <a:ea typeface="JetBrains Mono" pitchFamily="49" charset="-122"/>
                <a:cs typeface="JetBrains Mono" pitchFamily="49" charset="-120"/>
              </a:rPr>
              <a:t>    for i in range(n - 1, -1, -1):</a:t>
            </a:r>
            <a:endParaRPr lang="en-US" sz="2000" dirty="0"/>
          </a:p>
          <a:p>
            <a:pPr marL="0" indent="0" algn="l">
              <a:lnSpc>
                <a:spcPts val="2340"/>
              </a:lnSpc>
              <a:buNone/>
            </a:pPr>
            <a:r>
              <a:rPr lang="en-US" sz="2000" dirty="0">
                <a:solidFill>
                  <a:srgbClr val="E6E9EE"/>
                </a:solidFill>
                <a:latin typeface="JetBrains Mono" pitchFamily="49" charset="0"/>
                <a:ea typeface="JetBrains Mono" pitchFamily="49" charset="-122"/>
                <a:cs typeface="JetBrains Mono" pitchFamily="49" charset="-120"/>
              </a:rPr>
              <a:t>        for j in range(i + 1):</a:t>
            </a:r>
            <a:endParaRPr lang="en-US" sz="2000" dirty="0"/>
          </a:p>
          <a:p>
            <a:pPr marL="0" indent="0" algn="l">
              <a:lnSpc>
                <a:spcPts val="2340"/>
              </a:lnSpc>
              <a:buNone/>
            </a:pPr>
            <a:r>
              <a:rPr lang="en-US" sz="2000" dirty="0">
                <a:solidFill>
                  <a:srgbClr val="E6E9EE"/>
                </a:solidFill>
                <a:latin typeface="JetBrains Mono" pitchFamily="49" charset="0"/>
                <a:ea typeface="JetBrains Mono" pitchFamily="49" charset="-122"/>
                <a:cs typeface="JetBrains Mono" pitchFamily="49" charset="-120"/>
              </a:rPr>
              <a:t>            V[j] = (q * V[j + 1] + (1 - q) * V[j]) / R</a:t>
            </a:r>
            <a:endParaRPr lang="en-US" sz="2000" dirty="0"/>
          </a:p>
          <a:p>
            <a:pPr marL="0" indent="0" algn="l">
              <a:lnSpc>
                <a:spcPts val="2340"/>
              </a:lnSpc>
              <a:buNone/>
            </a:pPr>
            <a:r>
              <a:rPr lang="en-US" sz="2000" dirty="0">
                <a:solidFill>
                  <a:srgbClr val="E6E9EE"/>
                </a:solidFill>
                <a:latin typeface="JetBrains Mono" pitchFamily="49" charset="0"/>
                <a:ea typeface="JetBrains Mono" pitchFamily="49" charset="-122"/>
                <a:cs typeface="JetBrains Mono" pitchFamily="49" charset="-120"/>
              </a:rPr>
              <a:t>            if american:</a:t>
            </a:r>
            <a:endParaRPr lang="en-US" sz="2000" dirty="0"/>
          </a:p>
          <a:p>
            <a:pPr marL="0" indent="0" algn="l">
              <a:lnSpc>
                <a:spcPts val="2340"/>
              </a:lnSpc>
              <a:buNone/>
            </a:pPr>
            <a:r>
              <a:rPr lang="en-US" sz="2000" dirty="0">
                <a:solidFill>
                  <a:srgbClr val="E6E9EE"/>
                </a:solidFill>
                <a:latin typeface="JetBrains Mono" pitchFamily="49" charset="0"/>
                <a:ea typeface="JetBrains Mono" pitchFamily="49" charset="-122"/>
                <a:cs typeface="JetBrains Mono" pitchFamily="49" charset="-120"/>
              </a:rPr>
              <a:t>                s = S0 * u**j * d**(i - j)</a:t>
            </a:r>
            <a:endParaRPr lang="en-US" sz="2000" dirty="0"/>
          </a:p>
          <a:p>
            <a:pPr marL="0" indent="0" algn="l">
              <a:lnSpc>
                <a:spcPts val="2340"/>
              </a:lnSpc>
              <a:buNone/>
            </a:pPr>
            <a:r>
              <a:rPr lang="en-US" sz="2000" dirty="0">
                <a:solidFill>
                  <a:srgbClr val="E6E9EE"/>
                </a:solidFill>
                <a:latin typeface="JetBrains Mono" pitchFamily="49" charset="0"/>
                <a:ea typeface="JetBrains Mono" pitchFamily="49" charset="-122"/>
                <a:cs typeface="JetBrains Mono" pitchFamily="49" charset="-120"/>
              </a:rPr>
              <a:t>                V[j] = max(V[j], (s - K) if call else (K - s))</a:t>
            </a:r>
            <a:endParaRPr lang="en-US" sz="2000" dirty="0"/>
          </a:p>
          <a:p>
            <a:pPr marL="0" indent="0" algn="l">
              <a:lnSpc>
                <a:spcPts val="2340"/>
              </a:lnSpc>
              <a:buNone/>
            </a:pPr>
            <a:r>
              <a:rPr lang="en-US" sz="2000" dirty="0">
                <a:solidFill>
                  <a:srgbClr val="E6E9EE"/>
                </a:solidFill>
                <a:latin typeface="JetBrains Mono" pitchFamily="49" charset="0"/>
                <a:ea typeface="JetBrains Mono" pitchFamily="49" charset="-122"/>
                <a:cs typeface="JetBrains Mono" pitchFamily="49" charset="-120"/>
              </a:rPr>
              <a:t>    return V[0]</a:t>
            </a:r>
            <a:endParaRPr lang="en-US" sz="2000" dirty="0"/>
          </a:p>
        </p:txBody>
      </p:sp>
      <p:sp>
        <p:nvSpPr>
          <p:cNvPr id="5" name="Shape 3"/>
          <p:cNvSpPr/>
          <p:nvPr/>
        </p:nvSpPr>
        <p:spPr>
          <a:xfrm>
            <a:off x="8197850" y="2083494"/>
            <a:ext cx="0" cy="548630"/>
          </a:xfrm>
          <a:prstGeom prst="line">
            <a:avLst/>
          </a:prstGeom>
          <a:noFill/>
          <a:ln w="38100">
            <a:solidFill>
              <a:srgbClr val="2B65C8"/>
            </a:solidFill>
            <a:prstDash val="solid"/>
          </a:ln>
        </p:spPr>
        <p:txBody>
          <a:bodyPr/>
          <a:lstStyle/>
          <a:p>
            <a:endParaRPr lang="en-SE" sz="2800"/>
          </a:p>
        </p:txBody>
      </p:sp>
      <p:sp>
        <p:nvSpPr>
          <p:cNvPr id="6" name="Text 4"/>
          <p:cNvSpPr/>
          <p:nvPr/>
        </p:nvSpPr>
        <p:spPr>
          <a:xfrm>
            <a:off x="8369300" y="2108894"/>
            <a:ext cx="3100197" cy="254000"/>
          </a:xfrm>
          <a:prstGeom prst="rect">
            <a:avLst/>
          </a:prstGeom>
          <a:noFill/>
          <a:ln/>
        </p:spPr>
        <p:txBody>
          <a:bodyPr wrap="square" lIns="0" tIns="0" rIns="0" bIns="0" rtlCol="0" anchor="t">
            <a:normAutofit/>
          </a:bodyPr>
          <a:lstStyle/>
          <a:p>
            <a:pPr marL="0" indent="0" algn="l">
              <a:lnSpc>
                <a:spcPts val="1800"/>
              </a:lnSpc>
              <a:buNone/>
            </a:pPr>
            <a:r>
              <a:rPr lang="en-US" sz="2000" b="1" dirty="0">
                <a:solidFill>
                  <a:srgbClr val="14202E"/>
                </a:solidFill>
                <a:latin typeface="IBM Plex Sans" pitchFamily="34" charset="0"/>
                <a:ea typeface="IBM Plex Sans" pitchFamily="34" charset="-122"/>
                <a:cs typeface="IBM Plex Sans" pitchFamily="34" charset="-120"/>
              </a:rPr>
              <a:t>O(n²) time</a:t>
            </a:r>
            <a:endParaRPr lang="en-US" sz="2000" dirty="0"/>
          </a:p>
        </p:txBody>
      </p:sp>
      <p:sp>
        <p:nvSpPr>
          <p:cNvPr id="7" name="Text 5"/>
          <p:cNvSpPr/>
          <p:nvPr/>
        </p:nvSpPr>
        <p:spPr>
          <a:xfrm>
            <a:off x="8369300" y="2405738"/>
            <a:ext cx="3100197" cy="256530"/>
          </a:xfrm>
          <a:prstGeom prst="rect">
            <a:avLst/>
          </a:prstGeom>
          <a:noFill/>
          <a:ln/>
        </p:spPr>
        <p:txBody>
          <a:bodyPr wrap="square" lIns="0" tIns="0" rIns="0" bIns="0" rtlCol="0" anchor="t">
            <a:normAutofit/>
          </a:bodyPr>
          <a:lstStyle/>
          <a:p>
            <a:pPr marL="0" indent="0" algn="l">
              <a:lnSpc>
                <a:spcPts val="1820"/>
              </a:lnSpc>
              <a:buNone/>
            </a:pPr>
            <a:r>
              <a:rPr lang="en-US" dirty="0">
                <a:solidFill>
                  <a:srgbClr val="44505E"/>
                </a:solidFill>
                <a:latin typeface="IBM Plex Sans" pitchFamily="34" charset="0"/>
                <a:ea typeface="IBM Plex Sans" pitchFamily="34" charset="-122"/>
                <a:cs typeface="IBM Plex Sans" pitchFamily="34" charset="-120"/>
              </a:rPr>
              <a:t>n(n+1)/2 node updates</a:t>
            </a:r>
            <a:endParaRPr lang="en-US" dirty="0"/>
          </a:p>
        </p:txBody>
      </p:sp>
      <p:sp>
        <p:nvSpPr>
          <p:cNvPr id="8" name="Shape 6"/>
          <p:cNvSpPr/>
          <p:nvPr/>
        </p:nvSpPr>
        <p:spPr>
          <a:xfrm>
            <a:off x="8197850" y="3312341"/>
            <a:ext cx="0" cy="548630"/>
          </a:xfrm>
          <a:prstGeom prst="line">
            <a:avLst/>
          </a:prstGeom>
          <a:noFill/>
          <a:ln w="38100">
            <a:solidFill>
              <a:srgbClr val="2B65C8"/>
            </a:solidFill>
            <a:prstDash val="solid"/>
          </a:ln>
        </p:spPr>
        <p:txBody>
          <a:bodyPr/>
          <a:lstStyle/>
          <a:p>
            <a:endParaRPr lang="en-SE" sz="2800"/>
          </a:p>
        </p:txBody>
      </p:sp>
      <p:sp>
        <p:nvSpPr>
          <p:cNvPr id="9" name="Text 7"/>
          <p:cNvSpPr/>
          <p:nvPr/>
        </p:nvSpPr>
        <p:spPr>
          <a:xfrm>
            <a:off x="8369300" y="3337741"/>
            <a:ext cx="3100197" cy="254000"/>
          </a:xfrm>
          <a:prstGeom prst="rect">
            <a:avLst/>
          </a:prstGeom>
          <a:noFill/>
          <a:ln/>
        </p:spPr>
        <p:txBody>
          <a:bodyPr wrap="square" lIns="0" tIns="0" rIns="0" bIns="0" rtlCol="0" anchor="t">
            <a:normAutofit/>
          </a:bodyPr>
          <a:lstStyle/>
          <a:p>
            <a:pPr marL="0" indent="0" algn="l">
              <a:lnSpc>
                <a:spcPts val="1800"/>
              </a:lnSpc>
              <a:buNone/>
            </a:pPr>
            <a:r>
              <a:rPr lang="en-US" sz="2000" b="1" dirty="0">
                <a:solidFill>
                  <a:srgbClr val="14202E"/>
                </a:solidFill>
                <a:latin typeface="IBM Plex Sans" pitchFamily="34" charset="0"/>
                <a:ea typeface="IBM Plex Sans" pitchFamily="34" charset="-122"/>
                <a:cs typeface="IBM Plex Sans" pitchFamily="34" charset="-120"/>
              </a:rPr>
              <a:t>O(n) memory</a:t>
            </a:r>
            <a:endParaRPr lang="en-US" sz="2000" dirty="0"/>
          </a:p>
        </p:txBody>
      </p:sp>
      <p:sp>
        <p:nvSpPr>
          <p:cNvPr id="10" name="Text 8"/>
          <p:cNvSpPr/>
          <p:nvPr/>
        </p:nvSpPr>
        <p:spPr>
          <a:xfrm>
            <a:off x="8369300" y="3634585"/>
            <a:ext cx="3548041" cy="256530"/>
          </a:xfrm>
          <a:prstGeom prst="rect">
            <a:avLst/>
          </a:prstGeom>
          <a:noFill/>
          <a:ln/>
        </p:spPr>
        <p:txBody>
          <a:bodyPr wrap="square" lIns="0" tIns="0" rIns="0" bIns="0" rtlCol="0" anchor="t">
            <a:noAutofit/>
          </a:bodyPr>
          <a:lstStyle/>
          <a:p>
            <a:pPr marL="0" indent="0" algn="l">
              <a:lnSpc>
                <a:spcPts val="1820"/>
              </a:lnSpc>
              <a:buNone/>
            </a:pPr>
            <a:r>
              <a:rPr lang="en-US" dirty="0">
                <a:solidFill>
                  <a:srgbClr val="44505E"/>
                </a:solidFill>
                <a:latin typeface="IBM Plex Sans" pitchFamily="34" charset="0"/>
                <a:ea typeface="IBM Plex Sans" pitchFamily="34" charset="-122"/>
                <a:cs typeface="IBM Plex Sans" pitchFamily="34" charset="-120"/>
              </a:rPr>
              <a:t>One array, overwritten in place</a:t>
            </a:r>
            <a:endParaRPr lang="en-US" dirty="0"/>
          </a:p>
        </p:txBody>
      </p:sp>
      <p:sp>
        <p:nvSpPr>
          <p:cNvPr id="11" name="Shape 9"/>
          <p:cNvSpPr/>
          <p:nvPr/>
        </p:nvSpPr>
        <p:spPr>
          <a:xfrm>
            <a:off x="8197850" y="4611526"/>
            <a:ext cx="0" cy="779760"/>
          </a:xfrm>
          <a:prstGeom prst="line">
            <a:avLst/>
          </a:prstGeom>
          <a:noFill/>
          <a:ln w="38100">
            <a:solidFill>
              <a:srgbClr val="C4661A"/>
            </a:solidFill>
            <a:prstDash val="solid"/>
          </a:ln>
        </p:spPr>
        <p:txBody>
          <a:bodyPr/>
          <a:lstStyle/>
          <a:p>
            <a:endParaRPr lang="en-SE" sz="2800"/>
          </a:p>
        </p:txBody>
      </p:sp>
      <p:sp>
        <p:nvSpPr>
          <p:cNvPr id="12" name="Text 10"/>
          <p:cNvSpPr/>
          <p:nvPr/>
        </p:nvSpPr>
        <p:spPr>
          <a:xfrm>
            <a:off x="8369300" y="4636926"/>
            <a:ext cx="3100197" cy="254000"/>
          </a:xfrm>
          <a:prstGeom prst="rect">
            <a:avLst/>
          </a:prstGeom>
          <a:noFill/>
          <a:ln/>
        </p:spPr>
        <p:txBody>
          <a:bodyPr wrap="square" lIns="0" tIns="0" rIns="0" bIns="0" rtlCol="0" anchor="t">
            <a:normAutofit/>
          </a:bodyPr>
          <a:lstStyle/>
          <a:p>
            <a:pPr marL="0" indent="0" algn="l">
              <a:lnSpc>
                <a:spcPts val="1800"/>
              </a:lnSpc>
              <a:buNone/>
            </a:pPr>
            <a:r>
              <a:rPr lang="en-US" sz="2000" b="1" dirty="0">
                <a:solidFill>
                  <a:srgbClr val="14202E"/>
                </a:solidFill>
                <a:latin typeface="IBM Plex Sans" pitchFamily="34" charset="0"/>
                <a:ea typeface="IBM Plex Sans" pitchFamily="34" charset="-122"/>
                <a:cs typeface="IBM Plex Sans" pitchFamily="34" charset="-120"/>
              </a:rPr>
              <a:t>n = 1000 →</a:t>
            </a:r>
            <a:endParaRPr lang="en-US" sz="2000" dirty="0"/>
          </a:p>
        </p:txBody>
      </p:sp>
      <p:sp>
        <p:nvSpPr>
          <p:cNvPr id="13" name="Text 11"/>
          <p:cNvSpPr/>
          <p:nvPr/>
        </p:nvSpPr>
        <p:spPr>
          <a:xfrm>
            <a:off x="8369300" y="4953866"/>
            <a:ext cx="3100197" cy="487660"/>
          </a:xfrm>
          <a:prstGeom prst="rect">
            <a:avLst/>
          </a:prstGeom>
          <a:noFill/>
          <a:ln/>
        </p:spPr>
        <p:txBody>
          <a:bodyPr wrap="square" lIns="0" tIns="0" rIns="0" bIns="0" rtlCol="0" anchor="t">
            <a:normAutofit/>
          </a:bodyPr>
          <a:lstStyle/>
          <a:p>
            <a:pPr marL="0" indent="0" algn="l">
              <a:lnSpc>
                <a:spcPts val="1820"/>
              </a:lnSpc>
              <a:buNone/>
            </a:pPr>
            <a:r>
              <a:rPr lang="en-US" dirty="0">
                <a:solidFill>
                  <a:srgbClr val="44505E"/>
                </a:solidFill>
                <a:latin typeface="JetBrains Mono" pitchFamily="49" charset="0"/>
                <a:ea typeface="JetBrains Mono" pitchFamily="49" charset="-122"/>
                <a:cs typeface="JetBrains Mono" pitchFamily="49" charset="-120"/>
              </a:rPr>
              <a:t>call 10.4486</a:t>
            </a:r>
            <a:endParaRPr lang="en-US" dirty="0"/>
          </a:p>
          <a:p>
            <a:pPr marL="0" indent="0" algn="l">
              <a:lnSpc>
                <a:spcPts val="1820"/>
              </a:lnSpc>
              <a:buNone/>
            </a:pPr>
            <a:r>
              <a:rPr lang="en-US" dirty="0">
                <a:solidFill>
                  <a:srgbClr val="44505E"/>
                </a:solidFill>
                <a:latin typeface="JetBrains Mono" pitchFamily="49" charset="0"/>
                <a:ea typeface="JetBrains Mono" pitchFamily="49" charset="-122"/>
                <a:cs typeface="JetBrains Mono" pitchFamily="49" charset="-120"/>
              </a:rPr>
              <a:t>BS 10.4506</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43">
    <p:bg>
      <p:bgPr>
        <a:solidFill>
          <a:srgbClr val="F5F3EC"/>
        </a:solidFill>
        <a:effectLst/>
      </p:bgPr>
    </p:bg>
    <p:spTree>
      <p:nvGrpSpPr>
        <p:cNvPr id="1" name=""/>
        <p:cNvGrpSpPr/>
        <p:nvPr/>
      </p:nvGrpSpPr>
      <p:grpSpPr>
        <a:xfrm>
          <a:off x="0" y="0"/>
          <a:ext cx="0" cy="0"/>
          <a:chOff x="0" y="0"/>
          <a:chExt cx="0" cy="0"/>
        </a:xfrm>
      </p:grpSpPr>
      <p:pic>
        <p:nvPicPr>
          <p:cNvPr id="2" name="Image 0" descr="Lattice showing the hedge ratio delta at every node"/>
          <p:cNvPicPr>
            <a:picLocks noChangeAspect="1"/>
          </p:cNvPicPr>
          <p:nvPr/>
        </p:nvPicPr>
        <p:blipFill>
          <a:blip r:embed="rId3"/>
          <a:srcRect l="-14" r="-14"/>
          <a:stretch/>
        </p:blipFill>
        <p:spPr>
          <a:xfrm>
            <a:off x="4064000" y="1651000"/>
            <a:ext cx="7315200" cy="4381500"/>
          </a:xfrm>
          <a:prstGeom prst="rect">
            <a:avLst/>
          </a:prstGeom>
        </p:spPr>
      </p:pic>
      <p:sp>
        <p:nvSpPr>
          <p:cNvPr id="3"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04 · USING THE LATTICE · HEDGING</a:t>
            </a:r>
            <a:endParaRPr lang="en-US" sz="1200" dirty="0"/>
          </a:p>
        </p:txBody>
      </p:sp>
      <p:sp>
        <p:nvSpPr>
          <p:cNvPr id="4"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Every node carries its own hedge</a:t>
            </a:r>
            <a:endParaRPr lang="en-US" sz="3000" dirty="0"/>
          </a:p>
        </p:txBody>
      </p:sp>
      <p:sp>
        <p:nvSpPr>
          <p:cNvPr id="5" name="Text 2"/>
          <p:cNvSpPr/>
          <p:nvPr/>
        </p:nvSpPr>
        <p:spPr>
          <a:xfrm>
            <a:off x="812799" y="1422400"/>
            <a:ext cx="3403601" cy="264765"/>
          </a:xfrm>
          <a:prstGeom prst="rect">
            <a:avLst/>
          </a:prstGeom>
          <a:noFill/>
          <a:ln/>
        </p:spPr>
        <p:txBody>
          <a:bodyPr wrap="square" lIns="0" tIns="0" rIns="0" bIns="0" rtlCol="0" anchor="t">
            <a:normAutofit fontScale="92500"/>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At each node, hold the one-step clone:</a:t>
            </a:r>
            <a:endParaRPr lang="en-US" sz="1600" dirty="0"/>
          </a:p>
        </p:txBody>
      </p:sp>
      <p:sp>
        <p:nvSpPr>
          <p:cNvPr id="6" name="Text 3"/>
          <p:cNvSpPr/>
          <p:nvPr/>
        </p:nvSpPr>
        <p:spPr>
          <a:xfrm>
            <a:off x="812800" y="1969634"/>
            <a:ext cx="3048000" cy="749300"/>
          </a:xfrm>
          <a:prstGeom prst="roundRect">
            <a:avLst>
              <a:gd name="adj" fmla="val 10169"/>
            </a:avLst>
          </a:prstGeom>
          <a:solidFill>
            <a:srgbClr val="ECE8DC"/>
          </a:solidFill>
          <a:ln/>
          <a:effectLst>
            <a:outerShdw blurRad="50800" dist="38100" dir="2700000" algn="tl" rotWithShape="0">
              <a:prstClr val="black">
                <a:alpha val="40000"/>
              </a:prstClr>
            </a:outerShdw>
          </a:effectLst>
        </p:spPr>
        <p:txBody>
          <a:bodyPr wrap="square" lIns="104682" tIns="104682" rIns="20862" bIns="79282" rtlCol="0" anchor="t">
            <a:normAutofit/>
          </a:bodyPr>
          <a:lstStyle/>
          <a:p>
            <a:pPr marL="0" indent="0" algn="l">
              <a:lnSpc>
                <a:spcPts val="1950"/>
              </a:lnSpc>
              <a:buNone/>
            </a:pPr>
            <a:r>
              <a:rPr lang="en-US" sz="1600" dirty="0">
                <a:solidFill>
                  <a:srgbClr val="14202E"/>
                </a:solidFill>
                <a:latin typeface="JetBrains Mono" pitchFamily="49" charset="0"/>
                <a:ea typeface="JetBrains Mono" pitchFamily="49" charset="-122"/>
                <a:cs typeface="JetBrains Mono" pitchFamily="49" charset="-120"/>
              </a:rPr>
              <a:t>Δ = (V↑ − V↓)/(S↑ − S↓)</a:t>
            </a:r>
            <a:endParaRPr lang="en-US" sz="1600" dirty="0"/>
          </a:p>
          <a:p>
            <a:pPr marL="0" indent="0" algn="l">
              <a:lnSpc>
                <a:spcPts val="1950"/>
              </a:lnSpc>
              <a:buNone/>
            </a:pPr>
            <a:r>
              <a:rPr lang="en-US" sz="1600" dirty="0">
                <a:solidFill>
                  <a:srgbClr val="14202E"/>
                </a:solidFill>
                <a:latin typeface="JetBrains Mono" pitchFamily="49" charset="0"/>
                <a:ea typeface="JetBrains Mono" pitchFamily="49" charset="-122"/>
                <a:cs typeface="JetBrains Mono" pitchFamily="49" charset="-120"/>
              </a:rPr>
              <a:t>B = V − Δ·S</a:t>
            </a:r>
            <a:endParaRPr lang="en-US" sz="1600" dirty="0"/>
          </a:p>
        </p:txBody>
      </p:sp>
      <p:sp>
        <p:nvSpPr>
          <p:cNvPr id="7" name="Text 4"/>
          <p:cNvSpPr/>
          <p:nvPr/>
        </p:nvSpPr>
        <p:spPr>
          <a:xfrm>
            <a:off x="812800" y="3077046"/>
            <a:ext cx="3139440" cy="143892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Today: 0.624 shares (62.40) and borrow 52.04 → 10.36. Rebalance after each move; the portfolio always equals the node value, with </a:t>
            </a:r>
            <a:r>
              <a:rPr lang="en-US" sz="1600" b="1" dirty="0">
                <a:solidFill>
                  <a:srgbClr val="14202E"/>
                </a:solidFill>
                <a:latin typeface="IBM Plex Sans" pitchFamily="34" charset="0"/>
                <a:ea typeface="IBM Plex Sans" pitchFamily="34" charset="-122"/>
                <a:cs typeface="IBM Plex Sans" pitchFamily="34" charset="-120"/>
              </a:rPr>
              <a:t>no cash added or removed</a:t>
            </a:r>
            <a:r>
              <a:rPr lang="en-US" sz="1600" dirty="0">
                <a:solidFill>
                  <a:srgbClr val="44505E"/>
                </a:solidFill>
                <a:latin typeface="IBM Plex Sans" pitchFamily="34" charset="0"/>
                <a:ea typeface="IBM Plex Sans" pitchFamily="34" charset="-122"/>
                <a:cs typeface="IBM Plex Sans" pitchFamily="34" charset="-120"/>
              </a:rPr>
              <a:t>.</a:t>
            </a:r>
            <a:endParaRPr lang="en-US" sz="1600" dirty="0"/>
          </a:p>
        </p:txBody>
      </p:sp>
      <p:sp>
        <p:nvSpPr>
          <p:cNvPr id="8" name="Text 5"/>
          <p:cNvSpPr/>
          <p:nvPr/>
        </p:nvSpPr>
        <p:spPr>
          <a:xfrm>
            <a:off x="812800" y="4591790"/>
            <a:ext cx="3139440" cy="50413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Δ → 1 deep in the money, Δ → 0 far out of it.</a:t>
            </a:r>
            <a:endParaRPr lang="en-US" sz="1600" dirty="0"/>
          </a:p>
        </p:txBody>
      </p:sp>
      <p:sp>
        <p:nvSpPr>
          <p:cNvPr id="9" name="Text 6"/>
          <p:cNvSpPr/>
          <p:nvPr/>
        </p:nvSpPr>
        <p:spPr>
          <a:xfrm>
            <a:off x="416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0</a:t>
            </a:r>
            <a:endParaRPr lang="en-US" sz="1200" b="1" dirty="0"/>
          </a:p>
        </p:txBody>
      </p:sp>
      <p:sp>
        <p:nvSpPr>
          <p:cNvPr id="10" name="Text 7"/>
          <p:cNvSpPr/>
          <p:nvPr/>
        </p:nvSpPr>
        <p:spPr>
          <a:xfrm>
            <a:off x="607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1</a:t>
            </a:r>
            <a:endParaRPr lang="en-US" sz="1200" b="1" dirty="0"/>
          </a:p>
        </p:txBody>
      </p:sp>
      <p:sp>
        <p:nvSpPr>
          <p:cNvPr id="11" name="Text 8"/>
          <p:cNvSpPr/>
          <p:nvPr/>
        </p:nvSpPr>
        <p:spPr>
          <a:xfrm>
            <a:off x="797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2</a:t>
            </a:r>
            <a:endParaRPr lang="en-US" sz="1200" b="1" dirty="0"/>
          </a:p>
        </p:txBody>
      </p:sp>
      <p:sp>
        <p:nvSpPr>
          <p:cNvPr id="12" name="Text 9"/>
          <p:cNvSpPr/>
          <p:nvPr/>
        </p:nvSpPr>
        <p:spPr>
          <a:xfrm>
            <a:off x="988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3 = T</a:t>
            </a:r>
            <a:endParaRPr lang="en-US" sz="1200" b="1" dirty="0"/>
          </a:p>
        </p:txBody>
      </p:sp>
      <p:sp>
        <p:nvSpPr>
          <p:cNvPr id="13" name="Text 10"/>
          <p:cNvSpPr/>
          <p:nvPr/>
        </p:nvSpPr>
        <p:spPr>
          <a:xfrm>
            <a:off x="4200525" y="3629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10.36</a:t>
            </a:r>
            <a:endParaRPr lang="en-US" sz="1300" dirty="0"/>
          </a:p>
          <a:p>
            <a:pPr marL="0" indent="0" algn="ctr">
              <a:lnSpc>
                <a:spcPts val="1495"/>
              </a:lnSpc>
              <a:buNone/>
            </a:pPr>
            <a:r>
              <a:rPr lang="en-US" sz="1300" b="1" dirty="0">
                <a:solidFill>
                  <a:srgbClr val="2B65C8"/>
                </a:solidFill>
                <a:latin typeface="JetBrains Mono" pitchFamily="49" charset="0"/>
                <a:ea typeface="JetBrains Mono" pitchFamily="49" charset="-122"/>
                <a:cs typeface="JetBrains Mono" pitchFamily="49" charset="-120"/>
              </a:rPr>
              <a:t>Δ 0.624</a:t>
            </a:r>
            <a:endParaRPr lang="en-US" sz="1300" dirty="0"/>
          </a:p>
        </p:txBody>
      </p:sp>
      <p:sp>
        <p:nvSpPr>
          <p:cNvPr id="14" name="Text 11"/>
          <p:cNvSpPr/>
          <p:nvPr/>
        </p:nvSpPr>
        <p:spPr>
          <a:xfrm>
            <a:off x="6105525" y="299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15.56</a:t>
            </a:r>
            <a:endParaRPr lang="en-US" sz="1300" dirty="0"/>
          </a:p>
          <a:p>
            <a:pPr marL="0" indent="0" algn="ctr">
              <a:lnSpc>
                <a:spcPts val="1495"/>
              </a:lnSpc>
              <a:buNone/>
            </a:pPr>
            <a:r>
              <a:rPr lang="en-US" sz="1300" b="1" dirty="0">
                <a:solidFill>
                  <a:srgbClr val="2B65C8"/>
                </a:solidFill>
                <a:latin typeface="JetBrains Mono" pitchFamily="49" charset="0"/>
                <a:ea typeface="JetBrains Mono" pitchFamily="49" charset="-122"/>
                <a:cs typeface="JetBrains Mono" pitchFamily="49" charset="-120"/>
              </a:rPr>
              <a:t>Δ 0.806</a:t>
            </a:r>
            <a:endParaRPr lang="en-US" sz="1300" dirty="0"/>
          </a:p>
        </p:txBody>
      </p:sp>
      <p:sp>
        <p:nvSpPr>
          <p:cNvPr id="15" name="Text 12"/>
          <p:cNvSpPr/>
          <p:nvPr/>
        </p:nvSpPr>
        <p:spPr>
          <a:xfrm>
            <a:off x="6105525" y="426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3.08</a:t>
            </a:r>
            <a:endParaRPr lang="en-US" sz="1300" dirty="0"/>
          </a:p>
          <a:p>
            <a:pPr marL="0" indent="0" algn="ctr">
              <a:lnSpc>
                <a:spcPts val="1495"/>
              </a:lnSpc>
              <a:buNone/>
            </a:pPr>
            <a:r>
              <a:rPr lang="en-US" sz="1300" b="1" dirty="0">
                <a:solidFill>
                  <a:srgbClr val="2B65C8"/>
                </a:solidFill>
                <a:latin typeface="JetBrains Mono" pitchFamily="49" charset="0"/>
                <a:ea typeface="JetBrains Mono" pitchFamily="49" charset="-122"/>
                <a:cs typeface="JetBrains Mono" pitchFamily="49" charset="-120"/>
              </a:rPr>
              <a:t>Δ 0.291</a:t>
            </a:r>
            <a:endParaRPr lang="en-US" sz="1300" dirty="0"/>
          </a:p>
        </p:txBody>
      </p:sp>
      <p:sp>
        <p:nvSpPr>
          <p:cNvPr id="16" name="Text 13"/>
          <p:cNvSpPr/>
          <p:nvPr/>
        </p:nvSpPr>
        <p:spPr>
          <a:xfrm>
            <a:off x="8010525" y="2359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22.96</a:t>
            </a:r>
            <a:endParaRPr lang="en-US" sz="1300" dirty="0"/>
          </a:p>
          <a:p>
            <a:pPr marL="0" indent="0" algn="ctr">
              <a:lnSpc>
                <a:spcPts val="1495"/>
              </a:lnSpc>
              <a:buNone/>
            </a:pPr>
            <a:r>
              <a:rPr lang="en-US" sz="1300" b="1" dirty="0">
                <a:solidFill>
                  <a:srgbClr val="2B65C8"/>
                </a:solidFill>
                <a:latin typeface="JetBrains Mono" pitchFamily="49" charset="0"/>
                <a:ea typeface="JetBrains Mono" pitchFamily="49" charset="-122"/>
                <a:cs typeface="JetBrains Mono" pitchFamily="49" charset="-120"/>
              </a:rPr>
              <a:t>Δ 1.000</a:t>
            </a:r>
            <a:endParaRPr lang="en-US" sz="1300" dirty="0"/>
          </a:p>
        </p:txBody>
      </p:sp>
      <p:sp>
        <p:nvSpPr>
          <p:cNvPr id="17" name="Text 14"/>
          <p:cNvSpPr/>
          <p:nvPr/>
        </p:nvSpPr>
        <p:spPr>
          <a:xfrm>
            <a:off x="8010525" y="3629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5.24</a:t>
            </a:r>
            <a:endParaRPr lang="en-US" sz="1300" dirty="0"/>
          </a:p>
          <a:p>
            <a:pPr marL="0" indent="0" algn="ctr">
              <a:lnSpc>
                <a:spcPts val="1495"/>
              </a:lnSpc>
              <a:buNone/>
            </a:pPr>
            <a:r>
              <a:rPr lang="en-US" sz="1300" b="1" dirty="0">
                <a:solidFill>
                  <a:srgbClr val="2B65C8"/>
                </a:solidFill>
                <a:latin typeface="JetBrains Mono" pitchFamily="49" charset="0"/>
                <a:ea typeface="JetBrains Mono" pitchFamily="49" charset="-122"/>
                <a:cs typeface="JetBrains Mono" pitchFamily="49" charset="-120"/>
              </a:rPr>
              <a:t>Δ 0.449</a:t>
            </a:r>
            <a:endParaRPr lang="en-US" sz="1300" dirty="0"/>
          </a:p>
        </p:txBody>
      </p:sp>
      <p:sp>
        <p:nvSpPr>
          <p:cNvPr id="18" name="Text 15"/>
          <p:cNvSpPr/>
          <p:nvPr/>
        </p:nvSpPr>
        <p:spPr>
          <a:xfrm>
            <a:off x="8010525" y="4899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E6EEFB"/>
          </a:solidFill>
          <a:ln w="19050">
            <a:solidFill>
              <a:srgbClr val="2B65C8"/>
            </a:solidFill>
            <a:prstDash val="solid"/>
          </a:ln>
        </p:spPr>
        <p:txBody>
          <a:bodyPr wrap="square" lIns="22225" tIns="47625" rIns="22225" bIns="22225" rtlCol="0" anchor="t">
            <a:normAutofit/>
          </a:bodyPr>
          <a:lstStyle/>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0.00</a:t>
            </a:r>
            <a:endParaRPr lang="en-US" sz="1300" dirty="0"/>
          </a:p>
          <a:p>
            <a:pPr marL="0" indent="0" algn="ctr">
              <a:lnSpc>
                <a:spcPts val="1495"/>
              </a:lnSpc>
              <a:buNone/>
            </a:pPr>
            <a:r>
              <a:rPr lang="en-US" sz="1300" b="1" dirty="0">
                <a:solidFill>
                  <a:srgbClr val="2B65C8"/>
                </a:solidFill>
                <a:latin typeface="JetBrains Mono" pitchFamily="49" charset="0"/>
                <a:ea typeface="JetBrains Mono" pitchFamily="49" charset="-122"/>
                <a:cs typeface="JetBrains Mono" pitchFamily="49" charset="-120"/>
              </a:rPr>
              <a:t>Δ 0.000</a:t>
            </a:r>
            <a:endParaRPr lang="en-US" sz="1300" dirty="0"/>
          </a:p>
        </p:txBody>
      </p:sp>
      <p:sp>
        <p:nvSpPr>
          <p:cNvPr id="19" name="Text 16"/>
          <p:cNvSpPr/>
          <p:nvPr/>
        </p:nvSpPr>
        <p:spPr>
          <a:xfrm>
            <a:off x="9912350" y="172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33.10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payoff</a:t>
            </a:r>
            <a:endParaRPr lang="en-US" sz="1300" dirty="0"/>
          </a:p>
        </p:txBody>
      </p:sp>
      <p:sp>
        <p:nvSpPr>
          <p:cNvPr id="20" name="Text 17"/>
          <p:cNvSpPr/>
          <p:nvPr/>
        </p:nvSpPr>
        <p:spPr>
          <a:xfrm>
            <a:off x="9912350" y="299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8.90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payoff</a:t>
            </a:r>
            <a:endParaRPr lang="en-US" sz="1300" dirty="0"/>
          </a:p>
        </p:txBody>
      </p:sp>
      <p:sp>
        <p:nvSpPr>
          <p:cNvPr id="21" name="Text 18"/>
          <p:cNvSpPr/>
          <p:nvPr/>
        </p:nvSpPr>
        <p:spPr>
          <a:xfrm>
            <a:off x="9912350" y="426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0.00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payoff</a:t>
            </a:r>
            <a:endParaRPr lang="en-US" sz="1300" dirty="0"/>
          </a:p>
        </p:txBody>
      </p:sp>
      <p:sp>
        <p:nvSpPr>
          <p:cNvPr id="22" name="Text 19"/>
          <p:cNvSpPr/>
          <p:nvPr/>
        </p:nvSpPr>
        <p:spPr>
          <a:xfrm>
            <a:off x="9912350" y="553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C 0.00</a:t>
            </a:r>
            <a:endParaRPr lang="en-US" sz="1300" dirty="0"/>
          </a:p>
          <a:p>
            <a:pPr marL="0" indent="0" algn="ctr">
              <a:lnSpc>
                <a:spcPts val="1495"/>
              </a:lnSpc>
              <a:buNone/>
            </a:pPr>
            <a:r>
              <a:rPr lang="en-US" sz="1300" dirty="0">
                <a:solidFill>
                  <a:srgbClr val="6A7179"/>
                </a:solidFill>
                <a:latin typeface="JetBrains Mono" pitchFamily="49" charset="0"/>
                <a:ea typeface="JetBrains Mono" pitchFamily="49" charset="-122"/>
                <a:cs typeface="JetBrains Mono" pitchFamily="49" charset="-120"/>
              </a:rPr>
              <a:t>payoff</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44">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04 · USING THE LATTICE · GREEKS 1 OF 7</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The Greeks: a risk dashboard for one option</a:t>
            </a:r>
            <a:endParaRPr lang="en-US" sz="3000" dirty="0"/>
          </a:p>
        </p:txBody>
      </p:sp>
      <p:sp>
        <p:nvSpPr>
          <p:cNvPr id="4" name="Text 2"/>
          <p:cNvSpPr/>
          <p:nvPr/>
        </p:nvSpPr>
        <p:spPr>
          <a:xfrm>
            <a:off x="812800" y="1435100"/>
            <a:ext cx="10883392" cy="540941"/>
          </a:xfrm>
          <a:prstGeom prst="rect">
            <a:avLst/>
          </a:prstGeom>
          <a:noFill/>
          <a:ln/>
        </p:spPr>
        <p:txBody>
          <a:bodyPr wrap="square" lIns="0" tIns="0" rIns="0" bIns="0" rtlCol="0" anchor="t">
            <a:normAutofit/>
          </a:bodyPr>
          <a:lstStyle/>
          <a:p>
            <a:pPr marL="0" indent="0" algn="l">
              <a:lnSpc>
                <a:spcPts val="2030"/>
              </a:lnSpc>
              <a:buNone/>
            </a:pPr>
            <a:r>
              <a:rPr lang="en-US" sz="1600" dirty="0">
                <a:solidFill>
                  <a:srgbClr val="44505E"/>
                </a:solidFill>
                <a:latin typeface="IBM Plex Sans" pitchFamily="34" charset="0"/>
                <a:ea typeface="IBM Plex Sans" pitchFamily="34" charset="-122"/>
                <a:cs typeface="IBM Plex Sans" pitchFamily="34" charset="-120"/>
              </a:rPr>
              <a:t>A price is one number. A trader also needs to know </a:t>
            </a:r>
            <a:r>
              <a:rPr lang="en-US" sz="1600" b="1" dirty="0">
                <a:solidFill>
                  <a:srgbClr val="14202E"/>
                </a:solidFill>
                <a:latin typeface="IBM Plex Sans" pitchFamily="34" charset="0"/>
                <a:ea typeface="IBM Plex Sans" pitchFamily="34" charset="-122"/>
                <a:cs typeface="IBM Plex Sans" pitchFamily="34" charset="-120"/>
              </a:rPr>
              <a:t>how that number will move</a:t>
            </a:r>
            <a:r>
              <a:rPr lang="en-US" sz="1600" dirty="0">
                <a:solidFill>
                  <a:srgbClr val="44505E"/>
                </a:solidFill>
                <a:latin typeface="IBM Plex Sans" pitchFamily="34" charset="0"/>
                <a:ea typeface="IBM Plex Sans" pitchFamily="34" charset="-122"/>
                <a:cs typeface="IBM Plex Sans" pitchFamily="34" charset="-120"/>
              </a:rPr>
              <a:t>. Each Greek = the change in V when one input moves, with all others frozen.</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855636272"/>
              </p:ext>
            </p:extLst>
          </p:nvPr>
        </p:nvGraphicFramePr>
        <p:xfrm>
          <a:off x="825500" y="2166541"/>
          <a:ext cx="10553700" cy="2794674"/>
        </p:xfrm>
        <a:graphic>
          <a:graphicData uri="http://schemas.openxmlformats.org/drawingml/2006/table">
            <a:tbl>
              <a:tblPr/>
              <a:tblGrid>
                <a:gridCol w="1688592">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465779">
                <a:tc>
                  <a:txBody>
                    <a:bodyPr/>
                    <a:lstStyle/>
                    <a:p>
                      <a:pPr marL="0" indent="0">
                        <a:lnSpc>
                          <a:spcPts val="1820"/>
                        </a:lnSpc>
                        <a:buNone/>
                      </a:pPr>
                      <a:r>
                        <a:rPr lang="en-US" sz="1600" b="1" dirty="0">
                          <a:solidFill>
                            <a:srgbClr val="14202E"/>
                          </a:solidFill>
                          <a:latin typeface="IBM Plex Sans" pitchFamily="34" charset="0"/>
                          <a:ea typeface="IBM Plex Sans" pitchFamily="34" charset="-122"/>
                          <a:cs typeface="IBM Plex Sans" pitchFamily="34" charset="-120"/>
                        </a:rPr>
                        <a:t>Greek</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820"/>
                        </a:lnSpc>
                        <a:buNone/>
                      </a:pPr>
                      <a:r>
                        <a:rPr lang="en-US" sz="1600" b="1" dirty="0">
                          <a:solidFill>
                            <a:srgbClr val="14202E"/>
                          </a:solidFill>
                          <a:latin typeface="IBM Plex Sans" pitchFamily="34" charset="0"/>
                          <a:ea typeface="IBM Plex Sans" pitchFamily="34" charset="-122"/>
                          <a:cs typeface="IBM Plex Sans" pitchFamily="34" charset="-120"/>
                        </a:rPr>
                        <a:t>Sensitivity to</a:t>
                      </a:r>
                      <a:endParaRPr lang="en-US" sz="1600" dirty="0">
                        <a:latin typeface="IBM Plex Sans" charset="0"/>
                        <a:ea typeface="IBM Plex Sans" charset="0"/>
                        <a:cs typeface="IBM Plex Sans" charset="0"/>
                      </a:endParaRPr>
                    </a:p>
                  </a:txBody>
                  <a:tcPr marL="57785" marR="57785" marT="57785" marB="57785">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820"/>
                        </a:lnSpc>
                        <a:buNone/>
                      </a:pPr>
                      <a:r>
                        <a:rPr lang="en-US" sz="1600" b="1" dirty="0">
                          <a:solidFill>
                            <a:srgbClr val="14202E"/>
                          </a:solidFill>
                          <a:latin typeface="IBM Plex Sans" pitchFamily="34" charset="0"/>
                          <a:ea typeface="IBM Plex Sans" pitchFamily="34" charset="-122"/>
                          <a:cs typeface="IBM Plex Sans" pitchFamily="34" charset="-120"/>
                        </a:rPr>
                        <a:t>The question it answers</a:t>
                      </a:r>
                      <a:endParaRPr lang="en-US" sz="1600" dirty="0">
                        <a:latin typeface="IBM Plex Sans" charset="0"/>
                        <a:ea typeface="IBM Plex Sans" charset="0"/>
                        <a:cs typeface="IBM Plex Sans" charset="0"/>
                      </a:endParaRPr>
                    </a:p>
                  </a:txBody>
                  <a:tcPr marL="57785" marR="57785" marT="57785" marB="57785">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gn="r">
                        <a:lnSpc>
                          <a:spcPts val="1820"/>
                        </a:lnSpc>
                        <a:buNone/>
                      </a:pPr>
                      <a:r>
                        <a:rPr lang="en-US" sz="1600" b="1" dirty="0">
                          <a:solidFill>
                            <a:srgbClr val="14202E"/>
                          </a:solidFill>
                          <a:latin typeface="IBM Plex Sans" pitchFamily="34" charset="0"/>
                          <a:ea typeface="IBM Plex Sans" pitchFamily="34" charset="-122"/>
                          <a:cs typeface="IBM Plex Sans" pitchFamily="34" charset="-120"/>
                        </a:rPr>
                        <a:t>Our call*</a:t>
                      </a:r>
                      <a:endParaRPr lang="en-US" sz="1600" dirty="0">
                        <a:latin typeface="IBM Plex Sans" charset="0"/>
                        <a:ea typeface="IBM Plex Sans" charset="0"/>
                        <a:cs typeface="IBM Plex Sans" charset="0"/>
                      </a:endParaRPr>
                    </a:p>
                  </a:txBody>
                  <a:tcPr marL="57785" marR="57785" marT="57785" marB="57785">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465779">
                <a:tc>
                  <a:txBody>
                    <a:bodyPr/>
                    <a:lstStyle/>
                    <a:p>
                      <a:pPr marL="0" indent="0">
                        <a:lnSpc>
                          <a:spcPts val="1820"/>
                        </a:lnSpc>
                        <a:buNone/>
                      </a:pPr>
                      <a:r>
                        <a:rPr lang="en-US" sz="1600" b="1" dirty="0" err="1">
                          <a:solidFill>
                            <a:srgbClr val="2B65C8"/>
                          </a:solidFill>
                          <a:latin typeface="IBM Plex Sans" pitchFamily="34" charset="0"/>
                          <a:ea typeface="IBM Plex Sans" pitchFamily="34" charset="-122"/>
                          <a:cs typeface="IBM Plex Sans" pitchFamily="34" charset="-120"/>
                        </a:rPr>
                        <a:t>Δ</a:t>
                      </a:r>
                      <a:r>
                        <a:rPr lang="en-US" sz="1600" b="1" dirty="0">
                          <a:solidFill>
                            <a:srgbClr val="2B65C8"/>
                          </a:solidFill>
                          <a:latin typeface="IBM Plex Sans" pitchFamily="34" charset="0"/>
                          <a:ea typeface="IBM Plex Sans" pitchFamily="34" charset="-122"/>
                          <a:cs typeface="IBM Plex Sans" pitchFamily="34" charset="-120"/>
                        </a:rPr>
                        <a:t> </a:t>
                      </a:r>
                      <a:r>
                        <a:rPr lang="en-US" sz="1600" dirty="0">
                          <a:solidFill>
                            <a:srgbClr val="2B65C8"/>
                          </a:solidFill>
                          <a:latin typeface="IBM Plex Sans" pitchFamily="34" charset="0"/>
                          <a:ea typeface="IBM Plex Sans" pitchFamily="34" charset="-122"/>
                          <a:cs typeface="IBM Plex Sans" pitchFamily="34" charset="-120"/>
                        </a:rPr>
                        <a:t>    Delta</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600" dirty="0">
                          <a:solidFill>
                            <a:srgbClr val="14202E"/>
                          </a:solidFill>
                          <a:latin typeface="IBM Plex Sans" pitchFamily="34" charset="0"/>
                          <a:ea typeface="IBM Plex Sans" pitchFamily="34" charset="-122"/>
                          <a:cs typeface="IBM Plex Sans" pitchFamily="34" charset="-120"/>
                        </a:rPr>
                        <a:t>stock price S</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600" dirty="0">
                          <a:solidFill>
                            <a:srgbClr val="14202E"/>
                          </a:solidFill>
                          <a:latin typeface="IBM Plex Sans" pitchFamily="34" charset="0"/>
                          <a:ea typeface="IBM Plex Sans" pitchFamily="34" charset="-122"/>
                          <a:cs typeface="IBM Plex Sans" pitchFamily="34" charset="-120"/>
                        </a:rPr>
                        <a:t>Stock +1 → option +how much?</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IBM Plex Sans" pitchFamily="34" charset="0"/>
                          <a:ea typeface="IBM Plex Sans" pitchFamily="34" charset="-122"/>
                          <a:cs typeface="IBM Plex Sans" pitchFamily="34" charset="-120"/>
                        </a:rPr>
                        <a:t>+0.64</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465779">
                <a:tc>
                  <a:txBody>
                    <a:bodyPr/>
                    <a:lstStyle/>
                    <a:p>
                      <a:pPr marL="0" indent="0">
                        <a:lnSpc>
                          <a:spcPts val="1820"/>
                        </a:lnSpc>
                        <a:buNone/>
                      </a:pPr>
                      <a:r>
                        <a:rPr lang="en-US" sz="1600" b="1" dirty="0" err="1">
                          <a:solidFill>
                            <a:srgbClr val="2B65C8"/>
                          </a:solidFill>
                          <a:latin typeface="IBM Plex Sans" pitchFamily="34" charset="0"/>
                          <a:ea typeface="IBM Plex Sans" pitchFamily="34" charset="-122"/>
                          <a:cs typeface="IBM Plex Sans" pitchFamily="34" charset="-120"/>
                        </a:rPr>
                        <a:t>Γ</a:t>
                      </a:r>
                      <a:r>
                        <a:rPr lang="en-US" sz="1600" dirty="0">
                          <a:solidFill>
                            <a:srgbClr val="2B65C8"/>
                          </a:solidFill>
                          <a:latin typeface="IBM Plex Sans" pitchFamily="34" charset="0"/>
                          <a:ea typeface="IBM Plex Sans" pitchFamily="34" charset="-122"/>
                          <a:cs typeface="IBM Plex Sans" pitchFamily="34" charset="-120"/>
                        </a:rPr>
                        <a:t>     Gamma</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820"/>
                        </a:lnSpc>
                        <a:buNone/>
                      </a:pPr>
                      <a:r>
                        <a:rPr lang="en-US" sz="1600" dirty="0">
                          <a:solidFill>
                            <a:srgbClr val="14202E"/>
                          </a:solidFill>
                          <a:latin typeface="IBM Plex Sans" pitchFamily="34" charset="0"/>
                          <a:ea typeface="IBM Plex Sans" pitchFamily="34" charset="-122"/>
                          <a:cs typeface="IBM Plex Sans" pitchFamily="34" charset="-120"/>
                        </a:rPr>
                        <a:t>delta, as S moves</a:t>
                      </a:r>
                      <a:endParaRPr lang="en-US" sz="1600" dirty="0">
                        <a:latin typeface="IBM Plex Sans" charset="0"/>
                        <a:ea typeface="IBM Plex Sans" charset="0"/>
                        <a:cs typeface="IBM Plex Sans" charset="0"/>
                      </a:endParaRPr>
                    </a:p>
                  </a:txBody>
                  <a:tcPr marL="57785" marR="57785" marT="57785" marB="57785">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820"/>
                        </a:lnSpc>
                        <a:buNone/>
                      </a:pPr>
                      <a:r>
                        <a:rPr lang="en-US" sz="1600" dirty="0">
                          <a:solidFill>
                            <a:srgbClr val="14202E"/>
                          </a:solidFill>
                          <a:latin typeface="IBM Plex Sans" pitchFamily="34" charset="0"/>
                          <a:ea typeface="IBM Plex Sans" pitchFamily="34" charset="-122"/>
                          <a:cs typeface="IBM Plex Sans" pitchFamily="34" charset="-120"/>
                        </a:rPr>
                        <a:t>How fast does my hedge go stale?</a:t>
                      </a:r>
                      <a:endParaRPr lang="en-US" sz="1600" dirty="0">
                        <a:latin typeface="IBM Plex Sans" charset="0"/>
                        <a:ea typeface="IBM Plex Sans" charset="0"/>
                        <a:cs typeface="IBM Plex Sans" charset="0"/>
                      </a:endParaRPr>
                    </a:p>
                  </a:txBody>
                  <a:tcPr marL="57785" marR="57785" marT="57785" marB="57785">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gn="r">
                        <a:lnSpc>
                          <a:spcPts val="1820"/>
                        </a:lnSpc>
                        <a:buNone/>
                      </a:pPr>
                      <a:r>
                        <a:rPr lang="en-US" sz="1600" dirty="0">
                          <a:solidFill>
                            <a:srgbClr val="14202E"/>
                          </a:solidFill>
                          <a:latin typeface="IBM Plex Sans" pitchFamily="34" charset="0"/>
                          <a:ea typeface="IBM Plex Sans" pitchFamily="34" charset="-122"/>
                          <a:cs typeface="IBM Plex Sans" pitchFamily="34" charset="-120"/>
                        </a:rPr>
                        <a:t>+0.019</a:t>
                      </a:r>
                      <a:endParaRPr lang="en-US" sz="1600" dirty="0">
                        <a:latin typeface="IBM Plex Sans" charset="0"/>
                        <a:ea typeface="IBM Plex Sans" charset="0"/>
                        <a:cs typeface="IBM Plex Sans" charset="0"/>
                      </a:endParaRPr>
                    </a:p>
                  </a:txBody>
                  <a:tcPr marL="57785" marR="57785" marT="57785" marB="57785">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2"/>
                  </a:ext>
                </a:extLst>
              </a:tr>
              <a:tr h="465779">
                <a:tc>
                  <a:txBody>
                    <a:bodyPr/>
                    <a:lstStyle/>
                    <a:p>
                      <a:pPr marL="0" indent="0">
                        <a:lnSpc>
                          <a:spcPts val="1820"/>
                        </a:lnSpc>
                        <a:buNone/>
                      </a:pPr>
                      <a:r>
                        <a:rPr lang="en-US" sz="1600" b="1" dirty="0" err="1">
                          <a:solidFill>
                            <a:srgbClr val="2B65C8"/>
                          </a:solidFill>
                          <a:latin typeface="IBM Plex Sans" pitchFamily="34" charset="0"/>
                          <a:ea typeface="IBM Plex Sans" pitchFamily="34" charset="-122"/>
                          <a:cs typeface="IBM Plex Sans" pitchFamily="34" charset="-120"/>
                        </a:rPr>
                        <a:t>Θ</a:t>
                      </a:r>
                      <a:r>
                        <a:rPr lang="en-US" sz="1600" dirty="0">
                          <a:solidFill>
                            <a:srgbClr val="2B65C8"/>
                          </a:solidFill>
                          <a:latin typeface="IBM Plex Sans" pitchFamily="34" charset="0"/>
                          <a:ea typeface="IBM Plex Sans" pitchFamily="34" charset="-122"/>
                          <a:cs typeface="IBM Plex Sans" pitchFamily="34" charset="-120"/>
                        </a:rPr>
                        <a:t>     Theta</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600" dirty="0">
                          <a:solidFill>
                            <a:srgbClr val="14202E"/>
                          </a:solidFill>
                          <a:latin typeface="IBM Plex Sans" pitchFamily="34" charset="0"/>
                          <a:ea typeface="IBM Plex Sans" pitchFamily="34" charset="-122"/>
                          <a:cs typeface="IBM Plex Sans" pitchFamily="34" charset="-120"/>
                        </a:rPr>
                        <a:t>time passing</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600" dirty="0">
                          <a:solidFill>
                            <a:srgbClr val="14202E"/>
                          </a:solidFill>
                          <a:latin typeface="IBM Plex Sans" pitchFamily="34" charset="0"/>
                          <a:ea typeface="IBM Plex Sans" pitchFamily="34" charset="-122"/>
                          <a:cs typeface="IBM Plex Sans" pitchFamily="34" charset="-120"/>
                        </a:rPr>
                        <a:t>What does one more day cost me?</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IBM Plex Sans" pitchFamily="34" charset="0"/>
                          <a:ea typeface="IBM Plex Sans" pitchFamily="34" charset="-122"/>
                          <a:cs typeface="IBM Plex Sans" pitchFamily="34" charset="-120"/>
                        </a:rPr>
                        <a:t>−0.018/day</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465779">
                <a:tc>
                  <a:txBody>
                    <a:bodyPr/>
                    <a:lstStyle/>
                    <a:p>
                      <a:pPr marL="0" indent="0">
                        <a:lnSpc>
                          <a:spcPts val="1820"/>
                        </a:lnSpc>
                        <a:buNone/>
                      </a:pPr>
                      <a:r>
                        <a:rPr lang="en-US" sz="1600" b="1" dirty="0" err="1">
                          <a:solidFill>
                            <a:srgbClr val="2B65C8"/>
                          </a:solidFill>
                          <a:latin typeface="IBM Plex Sans" pitchFamily="34" charset="0"/>
                          <a:ea typeface="IBM Plex Sans" pitchFamily="34" charset="-122"/>
                          <a:cs typeface="IBM Plex Sans" pitchFamily="34" charset="-120"/>
                        </a:rPr>
                        <a:t>ν</a:t>
                      </a:r>
                      <a:r>
                        <a:rPr lang="en-US" sz="1600" dirty="0">
                          <a:solidFill>
                            <a:srgbClr val="2B65C8"/>
                          </a:solidFill>
                          <a:latin typeface="IBM Plex Sans" pitchFamily="34" charset="0"/>
                          <a:ea typeface="IBM Plex Sans" pitchFamily="34" charset="-122"/>
                          <a:cs typeface="IBM Plex Sans" pitchFamily="34" charset="-120"/>
                        </a:rPr>
                        <a:t>      Vega</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820"/>
                        </a:lnSpc>
                        <a:buNone/>
                      </a:pPr>
                      <a:r>
                        <a:rPr lang="en-US" sz="1600" dirty="0">
                          <a:solidFill>
                            <a:srgbClr val="14202E"/>
                          </a:solidFill>
                          <a:latin typeface="IBM Plex Sans" pitchFamily="34" charset="0"/>
                          <a:ea typeface="IBM Plex Sans" pitchFamily="34" charset="-122"/>
                          <a:cs typeface="IBM Plex Sans" pitchFamily="34" charset="-120"/>
                        </a:rPr>
                        <a:t>volatility σ</a:t>
                      </a:r>
                      <a:endParaRPr lang="en-US" sz="1600" dirty="0">
                        <a:latin typeface="IBM Plex Sans" charset="0"/>
                        <a:ea typeface="IBM Plex Sans" charset="0"/>
                        <a:cs typeface="IBM Plex Sans" charset="0"/>
                      </a:endParaRPr>
                    </a:p>
                  </a:txBody>
                  <a:tcPr marL="57785" marR="57785" marT="57785" marB="57785">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820"/>
                        </a:lnSpc>
                        <a:buNone/>
                      </a:pPr>
                      <a:r>
                        <a:rPr lang="en-US" sz="1600" dirty="0">
                          <a:solidFill>
                            <a:srgbClr val="14202E"/>
                          </a:solidFill>
                          <a:latin typeface="IBM Plex Sans" pitchFamily="34" charset="0"/>
                          <a:ea typeface="IBM Plex Sans" pitchFamily="34" charset="-122"/>
                          <a:cs typeface="IBM Plex Sans" pitchFamily="34" charset="-120"/>
                        </a:rPr>
                        <a:t>Market gets jumpier by 1 point → ?</a:t>
                      </a:r>
                      <a:endParaRPr lang="en-US" sz="1600" dirty="0">
                        <a:latin typeface="IBM Plex Sans" charset="0"/>
                        <a:ea typeface="IBM Plex Sans" charset="0"/>
                        <a:cs typeface="IBM Plex Sans" charset="0"/>
                      </a:endParaRPr>
                    </a:p>
                  </a:txBody>
                  <a:tcPr marL="57785" marR="57785" marT="57785" marB="57785">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gn="r">
                        <a:lnSpc>
                          <a:spcPts val="1820"/>
                        </a:lnSpc>
                        <a:buNone/>
                      </a:pPr>
                      <a:r>
                        <a:rPr lang="en-US" sz="1600" dirty="0">
                          <a:solidFill>
                            <a:srgbClr val="14202E"/>
                          </a:solidFill>
                          <a:latin typeface="IBM Plex Sans" pitchFamily="34" charset="0"/>
                          <a:ea typeface="IBM Plex Sans" pitchFamily="34" charset="-122"/>
                          <a:cs typeface="IBM Plex Sans" pitchFamily="34" charset="-120"/>
                        </a:rPr>
                        <a:t>+0.38</a:t>
                      </a:r>
                      <a:endParaRPr lang="en-US" sz="1600" dirty="0">
                        <a:latin typeface="IBM Plex Sans" charset="0"/>
                        <a:ea typeface="IBM Plex Sans" charset="0"/>
                        <a:cs typeface="IBM Plex Sans" charset="0"/>
                      </a:endParaRPr>
                    </a:p>
                  </a:txBody>
                  <a:tcPr marL="57785" marR="57785" marT="57785" marB="57785">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4"/>
                  </a:ext>
                </a:extLst>
              </a:tr>
              <a:tr h="465779">
                <a:tc>
                  <a:txBody>
                    <a:bodyPr/>
                    <a:lstStyle/>
                    <a:p>
                      <a:pPr marL="0" indent="0">
                        <a:lnSpc>
                          <a:spcPts val="1820"/>
                        </a:lnSpc>
                        <a:buNone/>
                      </a:pPr>
                      <a:r>
                        <a:rPr lang="en-US" sz="1600" b="1" dirty="0" err="1">
                          <a:solidFill>
                            <a:srgbClr val="2B65C8"/>
                          </a:solidFill>
                          <a:latin typeface="IBM Plex Sans" pitchFamily="34" charset="0"/>
                          <a:ea typeface="IBM Plex Sans" pitchFamily="34" charset="-122"/>
                          <a:cs typeface="IBM Plex Sans" pitchFamily="34" charset="-120"/>
                        </a:rPr>
                        <a:t>ρ</a:t>
                      </a:r>
                      <a:r>
                        <a:rPr lang="en-US" sz="1600" dirty="0">
                          <a:solidFill>
                            <a:srgbClr val="2B65C8"/>
                          </a:solidFill>
                          <a:latin typeface="IBM Plex Sans" pitchFamily="34" charset="0"/>
                          <a:ea typeface="IBM Plex Sans" pitchFamily="34" charset="-122"/>
                          <a:cs typeface="IBM Plex Sans" pitchFamily="34" charset="-120"/>
                        </a:rPr>
                        <a:t>      Rho</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600" dirty="0">
                          <a:solidFill>
                            <a:srgbClr val="14202E"/>
                          </a:solidFill>
                          <a:latin typeface="IBM Plex Sans" pitchFamily="34" charset="0"/>
                          <a:ea typeface="IBM Plex Sans" pitchFamily="34" charset="-122"/>
                          <a:cs typeface="IBM Plex Sans" pitchFamily="34" charset="-120"/>
                        </a:rPr>
                        <a:t>interest rate r</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600" dirty="0">
                          <a:solidFill>
                            <a:srgbClr val="14202E"/>
                          </a:solidFill>
                          <a:latin typeface="IBM Plex Sans" pitchFamily="34" charset="0"/>
                          <a:ea typeface="IBM Plex Sans" pitchFamily="34" charset="-122"/>
                          <a:cs typeface="IBM Plex Sans" pitchFamily="34" charset="-120"/>
                        </a:rPr>
                        <a:t>Rates up by 1 point → ?</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600" dirty="0">
                          <a:solidFill>
                            <a:srgbClr val="14202E"/>
                          </a:solidFill>
                          <a:latin typeface="IBM Plex Sans" pitchFamily="34" charset="0"/>
                          <a:ea typeface="IBM Plex Sans" pitchFamily="34" charset="-122"/>
                          <a:cs typeface="IBM Plex Sans" pitchFamily="34" charset="-120"/>
                        </a:rPr>
                        <a:t>+0.53</a:t>
                      </a:r>
                      <a:endParaRPr lang="en-US" sz="16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812800" y="5208951"/>
            <a:ext cx="10564375" cy="758130"/>
          </a:xfrm>
          <a:prstGeom prst="roundRect">
            <a:avLst>
              <a:gd name="adj" fmla="val 13401"/>
            </a:avLst>
          </a:prstGeom>
          <a:solidFill>
            <a:srgbClr val="14202E"/>
          </a:solidFill>
          <a:ln/>
        </p:spPr>
        <p:txBody>
          <a:bodyPr/>
          <a:lstStyle/>
          <a:p>
            <a:endParaRPr lang="en-SE"/>
          </a:p>
        </p:txBody>
      </p:sp>
      <p:pic>
        <p:nvPicPr>
          <p:cNvPr id="7" name="Image 0" descr="Code"/>
          <p:cNvPicPr>
            <a:picLocks noChangeAspect="1"/>
          </p:cNvPicPr>
          <p:nvPr/>
        </p:nvPicPr>
        <p:blipFill>
          <a:blip r:embed="rId3"/>
          <a:srcRect/>
          <a:stretch/>
        </p:blipFill>
        <p:spPr>
          <a:xfrm>
            <a:off x="1016000" y="5435616"/>
            <a:ext cx="304742" cy="304800"/>
          </a:xfrm>
          <a:prstGeom prst="rect">
            <a:avLst/>
          </a:prstGeom>
        </p:spPr>
      </p:pic>
      <p:sp>
        <p:nvSpPr>
          <p:cNvPr id="8" name="Text 4"/>
          <p:cNvSpPr/>
          <p:nvPr/>
        </p:nvSpPr>
        <p:spPr>
          <a:xfrm>
            <a:off x="1473201" y="5348651"/>
            <a:ext cx="9702800" cy="504130"/>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F5F3EC"/>
                </a:solidFill>
                <a:latin typeface="IBM Plex Sans" pitchFamily="34" charset="0"/>
                <a:ea typeface="IBM Plex Sans" pitchFamily="34" charset="-122"/>
                <a:cs typeface="IBM Plex Sans" pitchFamily="34" charset="-120"/>
              </a:rPr>
              <a:t>Developer view: the Greeks are the </a:t>
            </a:r>
            <a:r>
              <a:rPr lang="en-US" sz="1400" b="1" dirty="0">
                <a:solidFill>
                  <a:srgbClr val="E3A33B"/>
                </a:solidFill>
                <a:latin typeface="IBM Plex Sans" pitchFamily="34" charset="0"/>
                <a:ea typeface="IBM Plex Sans" pitchFamily="34" charset="-122"/>
                <a:cs typeface="IBM Plex Sans" pitchFamily="34" charset="-120"/>
              </a:rPr>
              <a:t>gradient</a:t>
            </a:r>
            <a:r>
              <a:rPr lang="en-US" sz="1400" dirty="0">
                <a:solidFill>
                  <a:srgbClr val="F5F3EC"/>
                </a:solidFill>
                <a:latin typeface="IBM Plex Sans" pitchFamily="34" charset="0"/>
                <a:ea typeface="IBM Plex Sans" pitchFamily="34" charset="-122"/>
                <a:cs typeface="IBM Plex Sans" pitchFamily="34" charset="-120"/>
              </a:rPr>
              <a:t> of the pricing function (plus one second derivative) — what autodiff computes in machine learning.</a:t>
            </a:r>
            <a:endParaRPr lang="en-US" sz="14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A7179"/>
                </a:solidFill>
                <a:latin typeface="IBM Plex Sans" pitchFamily="34" charset="0"/>
                <a:ea typeface="IBM Plex Sans" pitchFamily="34" charset="-122"/>
                <a:cs typeface="IBM Plex Sans" pitchFamily="34" charset="-120"/>
              </a:rPr>
              <a:t>* European call, S = K = 100, r = 5%, σ = 20%, T = 1 year; value 10.45</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5">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04 · USING THE LATTICE · GREEKS 2 OF 7</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Delta: speed, hedge ratio, and a hint of probability</a:t>
            </a:r>
            <a:endParaRPr lang="en-US" sz="3000" dirty="0"/>
          </a:p>
        </p:txBody>
      </p:sp>
      <p:sp>
        <p:nvSpPr>
          <p:cNvPr id="4" name="Shape 2"/>
          <p:cNvSpPr/>
          <p:nvPr/>
        </p:nvSpPr>
        <p:spPr>
          <a:xfrm>
            <a:off x="815975" y="1463675"/>
            <a:ext cx="5327650" cy="3549650"/>
          </a:xfrm>
          <a:prstGeom prst="roundRect">
            <a:avLst>
              <a:gd name="adj" fmla="val 277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5" name="Image 0" descr="Call delta against stock price: an S-shaped curve from 0 to 1, gentle one year before expiry and almost a step one month before"/>
          <p:cNvPicPr>
            <a:picLocks noChangeAspect="1"/>
          </p:cNvPicPr>
          <p:nvPr/>
        </p:nvPicPr>
        <p:blipFill>
          <a:blip r:embed="rId3"/>
          <a:srcRect/>
          <a:stretch/>
        </p:blipFill>
        <p:spPr>
          <a:xfrm>
            <a:off x="1193800" y="1651000"/>
            <a:ext cx="4826000" cy="2540000"/>
          </a:xfrm>
          <a:prstGeom prst="rect">
            <a:avLst/>
          </a:prstGeom>
        </p:spPr>
      </p:pic>
      <p:sp>
        <p:nvSpPr>
          <p:cNvPr id="6" name="Text 3"/>
          <p:cNvSpPr/>
          <p:nvPr/>
        </p:nvSpPr>
        <p:spPr>
          <a:xfrm>
            <a:off x="762000" y="1562100"/>
            <a:ext cx="368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a:t>
            </a:r>
            <a:endParaRPr lang="en-US" sz="1200" dirty="0"/>
          </a:p>
        </p:txBody>
      </p:sp>
      <p:sp>
        <p:nvSpPr>
          <p:cNvPr id="7" name="Text 4"/>
          <p:cNvSpPr/>
          <p:nvPr/>
        </p:nvSpPr>
        <p:spPr>
          <a:xfrm>
            <a:off x="762000" y="2832100"/>
            <a:ext cx="368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.5</a:t>
            </a:r>
            <a:endParaRPr lang="en-US" sz="1200" dirty="0"/>
          </a:p>
        </p:txBody>
      </p:sp>
      <p:sp>
        <p:nvSpPr>
          <p:cNvPr id="8" name="Text 5"/>
          <p:cNvSpPr/>
          <p:nvPr/>
        </p:nvSpPr>
        <p:spPr>
          <a:xfrm>
            <a:off x="762000" y="4089400"/>
            <a:ext cx="368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0</a:t>
            </a:r>
            <a:endParaRPr lang="en-US" sz="1200" dirty="0"/>
          </a:p>
        </p:txBody>
      </p:sp>
      <p:sp>
        <p:nvSpPr>
          <p:cNvPr id="9" name="Text 6"/>
          <p:cNvSpPr/>
          <p:nvPr/>
        </p:nvSpPr>
        <p:spPr>
          <a:xfrm>
            <a:off x="914400" y="42926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JetBrains Mono" pitchFamily="49" charset="0"/>
                <a:ea typeface="JetBrains Mono" pitchFamily="49" charset="-122"/>
                <a:cs typeface="JetBrains Mono" pitchFamily="49" charset="-120"/>
              </a:rPr>
              <a:t>60</a:t>
            </a:r>
            <a:endParaRPr lang="en-US" sz="1200" b="1" dirty="0"/>
          </a:p>
        </p:txBody>
      </p:sp>
      <p:sp>
        <p:nvSpPr>
          <p:cNvPr id="10" name="Text 7"/>
          <p:cNvSpPr/>
          <p:nvPr/>
        </p:nvSpPr>
        <p:spPr>
          <a:xfrm>
            <a:off x="3327400" y="42926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JetBrains Mono" pitchFamily="49" charset="0"/>
                <a:ea typeface="JetBrains Mono" pitchFamily="49" charset="-122"/>
                <a:cs typeface="JetBrains Mono" pitchFamily="49" charset="-120"/>
              </a:rPr>
              <a:t>100</a:t>
            </a:r>
            <a:endParaRPr lang="en-US" sz="1200" b="1" dirty="0"/>
          </a:p>
        </p:txBody>
      </p:sp>
      <p:sp>
        <p:nvSpPr>
          <p:cNvPr id="11" name="Text 8"/>
          <p:cNvSpPr/>
          <p:nvPr/>
        </p:nvSpPr>
        <p:spPr>
          <a:xfrm>
            <a:off x="5645150" y="4292600"/>
            <a:ext cx="495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JetBrains Mono" pitchFamily="49" charset="0"/>
                <a:ea typeface="JetBrains Mono" pitchFamily="49" charset="-122"/>
                <a:cs typeface="JetBrains Mono" pitchFamily="49" charset="-120"/>
              </a:rPr>
              <a:t>140</a:t>
            </a:r>
            <a:endParaRPr lang="en-US" sz="1200" b="1" dirty="0"/>
          </a:p>
        </p:txBody>
      </p:sp>
      <p:sp>
        <p:nvSpPr>
          <p:cNvPr id="12" name="Text 9"/>
          <p:cNvSpPr/>
          <p:nvPr/>
        </p:nvSpPr>
        <p:spPr>
          <a:xfrm>
            <a:off x="1121410" y="4597400"/>
            <a:ext cx="4970780" cy="238720"/>
          </a:xfrm>
          <a:prstGeom prst="rect">
            <a:avLst/>
          </a:prstGeom>
          <a:noFill/>
          <a:ln/>
        </p:spPr>
        <p:txBody>
          <a:bodyPr wrap="square" lIns="0" tIns="0" rIns="0" bIns="0" rtlCol="0" anchor="t">
            <a:normAutofit/>
          </a:bodyPr>
          <a:lstStyle/>
          <a:p>
            <a:pPr marL="0" indent="0" algn="ctr">
              <a:lnSpc>
                <a:spcPts val="1680"/>
              </a:lnSpc>
              <a:buNone/>
            </a:pPr>
            <a:r>
              <a:rPr lang="en-US" sz="1400" b="1" dirty="0">
                <a:solidFill>
                  <a:srgbClr val="6A7179"/>
                </a:solidFill>
                <a:latin typeface="IBM Plex Sans" pitchFamily="34" charset="0"/>
                <a:ea typeface="IBM Plex Sans" pitchFamily="34" charset="-122"/>
                <a:cs typeface="IBM Plex Sans" pitchFamily="34" charset="-120"/>
              </a:rPr>
              <a:t>stock price S · call delta</a:t>
            </a:r>
            <a:endParaRPr lang="en-US" sz="1400" b="1" dirty="0"/>
          </a:p>
        </p:txBody>
      </p:sp>
      <p:sp>
        <p:nvSpPr>
          <p:cNvPr id="13" name="Text 10"/>
          <p:cNvSpPr/>
          <p:nvPr/>
        </p:nvSpPr>
        <p:spPr>
          <a:xfrm>
            <a:off x="3987800" y="3492500"/>
            <a:ext cx="1962150"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B65C8"/>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1 year left</a:t>
            </a:r>
            <a:endParaRPr lang="en-US" sz="1200" dirty="0"/>
          </a:p>
          <a:p>
            <a:pPr marL="0" indent="0" algn="l">
              <a:lnSpc>
                <a:spcPts val="1800"/>
              </a:lnSpc>
              <a:buNone/>
            </a:pPr>
            <a:r>
              <a:rPr lang="en-US" sz="1200" dirty="0">
                <a:solidFill>
                  <a:srgbClr val="C4661A"/>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about 1 month left</a:t>
            </a:r>
            <a:endParaRPr lang="en-US" sz="1200" dirty="0"/>
          </a:p>
        </p:txBody>
      </p:sp>
      <p:sp>
        <p:nvSpPr>
          <p:cNvPr id="14" name="Shape 11"/>
          <p:cNvSpPr/>
          <p:nvPr/>
        </p:nvSpPr>
        <p:spPr>
          <a:xfrm>
            <a:off x="6378575" y="1463675"/>
            <a:ext cx="4997450" cy="987425"/>
          </a:xfrm>
          <a:prstGeom prst="roundRect">
            <a:avLst>
              <a:gd name="adj" fmla="val 7395"/>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5" name="Text 12"/>
          <p:cNvSpPr/>
          <p:nvPr/>
        </p:nvSpPr>
        <p:spPr>
          <a:xfrm>
            <a:off x="6534150" y="1593850"/>
            <a:ext cx="48268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1 · Speed</a:t>
            </a:r>
            <a:endParaRPr lang="en-US" sz="1500" dirty="0"/>
          </a:p>
        </p:txBody>
      </p:sp>
      <p:sp>
        <p:nvSpPr>
          <p:cNvPr id="16" name="Text 13"/>
          <p:cNvSpPr/>
          <p:nvPr/>
        </p:nvSpPr>
        <p:spPr>
          <a:xfrm>
            <a:off x="6534150" y="1860550"/>
            <a:ext cx="4826889" cy="485775"/>
          </a:xfrm>
          <a:prstGeom prst="rect">
            <a:avLst/>
          </a:prstGeom>
          <a:noFill/>
          <a:ln/>
        </p:spPr>
        <p:txBody>
          <a:bodyPr wrap="square" lIns="0" tIns="0" rIns="0" bIns="0" rtlCol="0" anchor="t">
            <a:normAutofit/>
          </a:bodyPr>
          <a:lstStyle/>
          <a:p>
            <a:pPr marL="0" indent="0" algn="l">
              <a:lnSpc>
                <a:spcPts val="1813"/>
              </a:lnSpc>
              <a:buNone/>
            </a:pPr>
            <a:r>
              <a:rPr lang="en-US" sz="1400" dirty="0">
                <a:solidFill>
                  <a:srgbClr val="44505E"/>
                </a:solidFill>
                <a:latin typeface="IBM Plex Sans" pitchFamily="34" charset="0"/>
                <a:ea typeface="IBM Plex Sans" pitchFamily="34" charset="-122"/>
                <a:cs typeface="IBM Plex Sans" pitchFamily="34" charset="-120"/>
              </a:rPr>
              <a:t>Δ = 0.64: stock +1.00 → call +0.64. Like a car’s speed: how fast V moves with S.</a:t>
            </a:r>
            <a:endParaRPr lang="en-US" sz="1400" dirty="0"/>
          </a:p>
        </p:txBody>
      </p:sp>
      <p:sp>
        <p:nvSpPr>
          <p:cNvPr id="17" name="Shape 14"/>
          <p:cNvSpPr/>
          <p:nvPr/>
        </p:nvSpPr>
        <p:spPr>
          <a:xfrm>
            <a:off x="6378575" y="2762667"/>
            <a:ext cx="4997450" cy="987425"/>
          </a:xfrm>
          <a:prstGeom prst="roundRect">
            <a:avLst>
              <a:gd name="adj" fmla="val 7395"/>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8" name="Text 15"/>
          <p:cNvSpPr/>
          <p:nvPr/>
        </p:nvSpPr>
        <p:spPr>
          <a:xfrm>
            <a:off x="6534150" y="2892842"/>
            <a:ext cx="48268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2 · Hedge ratio</a:t>
            </a:r>
            <a:endParaRPr lang="en-US" sz="1500" dirty="0"/>
          </a:p>
        </p:txBody>
      </p:sp>
      <p:sp>
        <p:nvSpPr>
          <p:cNvPr id="19" name="Text 16"/>
          <p:cNvSpPr/>
          <p:nvPr/>
        </p:nvSpPr>
        <p:spPr>
          <a:xfrm>
            <a:off x="6534150" y="3159542"/>
            <a:ext cx="4826889" cy="485775"/>
          </a:xfrm>
          <a:prstGeom prst="rect">
            <a:avLst/>
          </a:prstGeom>
          <a:noFill/>
          <a:ln/>
        </p:spPr>
        <p:txBody>
          <a:bodyPr wrap="square" lIns="0" tIns="0" rIns="0" bIns="0" rtlCol="0" anchor="t">
            <a:normAutofit/>
          </a:bodyPr>
          <a:lstStyle/>
          <a:p>
            <a:pPr marL="0" indent="0" algn="l">
              <a:lnSpc>
                <a:spcPts val="1813"/>
              </a:lnSpc>
              <a:buNone/>
            </a:pPr>
            <a:r>
              <a:rPr lang="en-US" sz="1400" dirty="0">
                <a:solidFill>
                  <a:srgbClr val="44505E"/>
                </a:solidFill>
                <a:latin typeface="IBM Plex Sans" pitchFamily="34" charset="0"/>
                <a:ea typeface="IBM Plex Sans" pitchFamily="34" charset="-122"/>
                <a:cs typeface="IBM Plex Sans" pitchFamily="34" charset="-120"/>
              </a:rPr>
              <a:t>Sold 100 calls? Buy 64 shares and small moves cancel. The tree’s root said 0.624.</a:t>
            </a:r>
            <a:endParaRPr lang="en-US" sz="1400" dirty="0"/>
          </a:p>
        </p:txBody>
      </p:sp>
      <p:sp>
        <p:nvSpPr>
          <p:cNvPr id="20" name="Shape 17"/>
          <p:cNvSpPr/>
          <p:nvPr/>
        </p:nvSpPr>
        <p:spPr>
          <a:xfrm>
            <a:off x="6378575" y="4021468"/>
            <a:ext cx="4997450" cy="987425"/>
          </a:xfrm>
          <a:prstGeom prst="roundRect">
            <a:avLst>
              <a:gd name="adj" fmla="val 7395"/>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21" name="Text 18"/>
          <p:cNvSpPr/>
          <p:nvPr/>
        </p:nvSpPr>
        <p:spPr>
          <a:xfrm>
            <a:off x="6534150" y="4151643"/>
            <a:ext cx="48268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3 · “How in the money”</a:t>
            </a:r>
            <a:endParaRPr lang="en-US" sz="1500" dirty="0"/>
          </a:p>
        </p:txBody>
      </p:sp>
      <p:sp>
        <p:nvSpPr>
          <p:cNvPr id="22" name="Text 19"/>
          <p:cNvSpPr/>
          <p:nvPr/>
        </p:nvSpPr>
        <p:spPr>
          <a:xfrm>
            <a:off x="6534150" y="4418343"/>
            <a:ext cx="4826889" cy="485775"/>
          </a:xfrm>
          <a:prstGeom prst="rect">
            <a:avLst/>
          </a:prstGeom>
          <a:noFill/>
          <a:ln/>
        </p:spPr>
        <p:txBody>
          <a:bodyPr wrap="square" lIns="0" tIns="0" rIns="0" bIns="0" rtlCol="0" anchor="t">
            <a:normAutofit/>
          </a:bodyPr>
          <a:lstStyle/>
          <a:p>
            <a:pPr marL="0" indent="0" algn="l">
              <a:lnSpc>
                <a:spcPts val="1813"/>
              </a:lnSpc>
              <a:buNone/>
            </a:pPr>
            <a:r>
              <a:rPr lang="en-US" sz="1400" dirty="0">
                <a:solidFill>
                  <a:srgbClr val="44505E"/>
                </a:solidFill>
                <a:latin typeface="IBM Plex Sans" pitchFamily="34" charset="0"/>
                <a:ea typeface="IBM Plex Sans" pitchFamily="34" charset="-122"/>
                <a:cs typeface="IBM Plex Sans" pitchFamily="34" charset="-120"/>
              </a:rPr>
              <a:t>Δ → 1: behaves like the stock. Δ → 0: a lottery ticket. Near expiry it becomes a step: all or nothing.</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6">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04 · USING THE LATTICE · GREEKS 3 OF 7</a:t>
            </a:r>
            <a:endParaRPr lang="en-US" sz="1200" dirty="0"/>
          </a:p>
        </p:txBody>
      </p:sp>
      <p:sp>
        <p:nvSpPr>
          <p:cNvPr id="3" name="Text 1"/>
          <p:cNvSpPr>
            <a:spLocks noGrp="1"/>
          </p:cNvSpPr>
          <p:nvPr>
            <p:ph type="title"/>
          </p:nvPr>
        </p:nvSpPr>
        <p:spPr>
          <a:xfrm>
            <a:off x="812800" y="812800"/>
            <a:ext cx="1137920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Gamma: acceleration — and why holders love big moves</a:t>
            </a:r>
            <a:endParaRPr lang="en-US" sz="3000" dirty="0"/>
          </a:p>
        </p:txBody>
      </p:sp>
      <p:sp>
        <p:nvSpPr>
          <p:cNvPr id="4" name="Shape 2"/>
          <p:cNvSpPr/>
          <p:nvPr/>
        </p:nvSpPr>
        <p:spPr>
          <a:xfrm>
            <a:off x="815975" y="1463675"/>
            <a:ext cx="5327650" cy="3549650"/>
          </a:xfrm>
          <a:prstGeom prst="roundRect">
            <a:avLst>
              <a:gd name="adj" fmla="val 277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5" name="Image 0" descr="Call gamma against stock price: a hump centred at the strike, low and wide one year before expiry, tall and narrow three months before"/>
          <p:cNvPicPr>
            <a:picLocks noChangeAspect="1"/>
          </p:cNvPicPr>
          <p:nvPr/>
        </p:nvPicPr>
        <p:blipFill>
          <a:blip r:embed="rId3"/>
          <a:srcRect/>
          <a:stretch/>
        </p:blipFill>
        <p:spPr>
          <a:xfrm>
            <a:off x="1193800" y="1651000"/>
            <a:ext cx="4826000" cy="2540000"/>
          </a:xfrm>
          <a:prstGeom prst="rect">
            <a:avLst/>
          </a:prstGeom>
        </p:spPr>
      </p:pic>
      <p:sp>
        <p:nvSpPr>
          <p:cNvPr id="6" name="Text 3"/>
          <p:cNvSpPr/>
          <p:nvPr/>
        </p:nvSpPr>
        <p:spPr>
          <a:xfrm>
            <a:off x="914400" y="42926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60</a:t>
            </a:r>
            <a:endParaRPr lang="en-US" sz="1200" dirty="0"/>
          </a:p>
        </p:txBody>
      </p:sp>
      <p:sp>
        <p:nvSpPr>
          <p:cNvPr id="7" name="Text 4"/>
          <p:cNvSpPr/>
          <p:nvPr/>
        </p:nvSpPr>
        <p:spPr>
          <a:xfrm>
            <a:off x="3327400" y="42926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100</a:t>
            </a:r>
            <a:endParaRPr lang="en-US" sz="1200" dirty="0"/>
          </a:p>
        </p:txBody>
      </p:sp>
      <p:sp>
        <p:nvSpPr>
          <p:cNvPr id="8" name="Text 5"/>
          <p:cNvSpPr/>
          <p:nvPr/>
        </p:nvSpPr>
        <p:spPr>
          <a:xfrm>
            <a:off x="5645150" y="4292600"/>
            <a:ext cx="495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140</a:t>
            </a:r>
            <a:endParaRPr lang="en-US" sz="1200" dirty="0"/>
          </a:p>
        </p:txBody>
      </p:sp>
      <p:sp>
        <p:nvSpPr>
          <p:cNvPr id="9" name="Text 6"/>
          <p:cNvSpPr/>
          <p:nvPr/>
        </p:nvSpPr>
        <p:spPr>
          <a:xfrm>
            <a:off x="1121410" y="4597400"/>
            <a:ext cx="497078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IBM Plex Sans" pitchFamily="34" charset="0"/>
                <a:ea typeface="IBM Plex Sans" pitchFamily="34" charset="-122"/>
                <a:cs typeface="IBM Plex Sans" pitchFamily="34" charset="-120"/>
              </a:rPr>
              <a:t>stock price S · call gamma (peaks at the strike K = 100)</a:t>
            </a:r>
            <a:endParaRPr lang="en-US" sz="1200" dirty="0"/>
          </a:p>
        </p:txBody>
      </p:sp>
      <p:sp>
        <p:nvSpPr>
          <p:cNvPr id="10" name="Text 7"/>
          <p:cNvSpPr/>
          <p:nvPr/>
        </p:nvSpPr>
        <p:spPr>
          <a:xfrm>
            <a:off x="4114800" y="1778000"/>
            <a:ext cx="1831340"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B65C8"/>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1 year left</a:t>
            </a:r>
            <a:endParaRPr lang="en-US" sz="1200" dirty="0"/>
          </a:p>
          <a:p>
            <a:pPr marL="0" indent="0" algn="l">
              <a:lnSpc>
                <a:spcPts val="1800"/>
              </a:lnSpc>
              <a:buNone/>
            </a:pPr>
            <a:r>
              <a:rPr lang="en-US" sz="1200" dirty="0">
                <a:solidFill>
                  <a:srgbClr val="C4661A"/>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3 months left</a:t>
            </a:r>
            <a:endParaRPr lang="en-US" sz="1200" dirty="0"/>
          </a:p>
        </p:txBody>
      </p:sp>
      <p:sp>
        <p:nvSpPr>
          <p:cNvPr id="11" name="Shape 8"/>
          <p:cNvSpPr/>
          <p:nvPr/>
        </p:nvSpPr>
        <p:spPr>
          <a:xfrm>
            <a:off x="6378575" y="1463675"/>
            <a:ext cx="5327650" cy="987425"/>
          </a:xfrm>
          <a:prstGeom prst="roundRect">
            <a:avLst>
              <a:gd name="adj" fmla="val 7395"/>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2" name="Text 9"/>
          <p:cNvSpPr/>
          <p:nvPr/>
        </p:nvSpPr>
        <p:spPr>
          <a:xfrm>
            <a:off x="6534150" y="1593850"/>
            <a:ext cx="48268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1 · Acceleration</a:t>
            </a:r>
            <a:endParaRPr lang="en-US" sz="1500" dirty="0"/>
          </a:p>
        </p:txBody>
      </p:sp>
      <p:sp>
        <p:nvSpPr>
          <p:cNvPr id="13" name="Text 10"/>
          <p:cNvSpPr/>
          <p:nvPr/>
        </p:nvSpPr>
        <p:spPr>
          <a:xfrm>
            <a:off x="6534150" y="1860550"/>
            <a:ext cx="4649665" cy="485775"/>
          </a:xfrm>
          <a:prstGeom prst="rect">
            <a:avLst/>
          </a:prstGeom>
          <a:noFill/>
          <a:ln/>
        </p:spPr>
        <p:txBody>
          <a:bodyPr wrap="square" lIns="0" tIns="0" rIns="0" bIns="0" rtlCol="0" anchor="t">
            <a:normAutofit/>
          </a:bodyPr>
          <a:lstStyle/>
          <a:p>
            <a:pPr marL="0" indent="0" algn="l">
              <a:lnSpc>
                <a:spcPts val="1813"/>
              </a:lnSpc>
              <a:buNone/>
            </a:pPr>
            <a:r>
              <a:rPr lang="en-US" sz="1400" dirty="0">
                <a:solidFill>
                  <a:srgbClr val="44505E"/>
                </a:solidFill>
                <a:latin typeface="IBM Plex Sans" pitchFamily="34" charset="0"/>
                <a:ea typeface="IBM Plex Sans" pitchFamily="34" charset="-122"/>
                <a:cs typeface="IBM Plex Sans" pitchFamily="34" charset="-120"/>
              </a:rPr>
              <a:t>Γ = 0.019: stock +1 → delta +0.019. In the tree: Δ 0.29 at S = 90, 0.81 at S = 110.</a:t>
            </a:r>
            <a:endParaRPr lang="en-US" sz="1400" dirty="0"/>
          </a:p>
        </p:txBody>
      </p:sp>
      <p:sp>
        <p:nvSpPr>
          <p:cNvPr id="14" name="Shape 11"/>
          <p:cNvSpPr/>
          <p:nvPr/>
        </p:nvSpPr>
        <p:spPr>
          <a:xfrm>
            <a:off x="6378575" y="2722475"/>
            <a:ext cx="5327650" cy="987425"/>
          </a:xfrm>
          <a:prstGeom prst="roundRect">
            <a:avLst>
              <a:gd name="adj" fmla="val 7395"/>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5" name="Text 12"/>
          <p:cNvSpPr/>
          <p:nvPr/>
        </p:nvSpPr>
        <p:spPr>
          <a:xfrm>
            <a:off x="6534150" y="2852650"/>
            <a:ext cx="48268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2 · Hedging workload</a:t>
            </a:r>
            <a:endParaRPr lang="en-US" sz="1500" dirty="0"/>
          </a:p>
        </p:txBody>
      </p:sp>
      <p:sp>
        <p:nvSpPr>
          <p:cNvPr id="16" name="Text 13"/>
          <p:cNvSpPr/>
          <p:nvPr/>
        </p:nvSpPr>
        <p:spPr>
          <a:xfrm>
            <a:off x="6534150" y="3119350"/>
            <a:ext cx="4826889" cy="485775"/>
          </a:xfrm>
          <a:prstGeom prst="rect">
            <a:avLst/>
          </a:prstGeom>
          <a:noFill/>
          <a:ln/>
        </p:spPr>
        <p:txBody>
          <a:bodyPr wrap="square" lIns="0" tIns="0" rIns="0" bIns="0" rtlCol="0" anchor="t">
            <a:normAutofit/>
          </a:bodyPr>
          <a:lstStyle/>
          <a:p>
            <a:pPr marL="0" indent="0" algn="l">
              <a:lnSpc>
                <a:spcPts val="1813"/>
              </a:lnSpc>
              <a:buNone/>
            </a:pPr>
            <a:r>
              <a:rPr lang="en-US" sz="1400" dirty="0">
                <a:solidFill>
                  <a:srgbClr val="44505E"/>
                </a:solidFill>
                <a:latin typeface="IBM Plex Sans" pitchFamily="34" charset="0"/>
                <a:ea typeface="IBM Plex Sans" pitchFamily="34" charset="-122"/>
                <a:cs typeface="IBM Plex Sans" pitchFamily="34" charset="-120"/>
              </a:rPr>
              <a:t>High gamma = the hedge goes stale fast = rebalance often. Worst at the strike, near expiry.</a:t>
            </a:r>
            <a:endParaRPr lang="en-US" sz="1400" dirty="0"/>
          </a:p>
        </p:txBody>
      </p:sp>
      <p:sp>
        <p:nvSpPr>
          <p:cNvPr id="17" name="Shape 14"/>
          <p:cNvSpPr/>
          <p:nvPr/>
        </p:nvSpPr>
        <p:spPr>
          <a:xfrm>
            <a:off x="6378575" y="4001370"/>
            <a:ext cx="5327650" cy="1017588"/>
          </a:xfrm>
          <a:prstGeom prst="roundRect">
            <a:avLst>
              <a:gd name="adj" fmla="val 7176"/>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8" name="Text 15"/>
          <p:cNvSpPr/>
          <p:nvPr/>
        </p:nvSpPr>
        <p:spPr>
          <a:xfrm>
            <a:off x="6534150" y="4131545"/>
            <a:ext cx="48268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3 · Convexity pays</a:t>
            </a:r>
            <a:endParaRPr lang="en-US" sz="1500" dirty="0"/>
          </a:p>
        </p:txBody>
      </p:sp>
      <p:sp>
        <p:nvSpPr>
          <p:cNvPr id="19" name="Text 16"/>
          <p:cNvSpPr/>
          <p:nvPr/>
        </p:nvSpPr>
        <p:spPr>
          <a:xfrm>
            <a:off x="6534150" y="4418341"/>
            <a:ext cx="4826889" cy="247650"/>
          </a:xfrm>
          <a:prstGeom prst="rect">
            <a:avLst/>
          </a:prstGeom>
          <a:noFill/>
          <a:ln/>
        </p:spPr>
        <p:txBody>
          <a:bodyPr wrap="square" lIns="0" tIns="0" rIns="0" bIns="0" rtlCol="0" anchor="t">
            <a:normAutofit/>
          </a:bodyPr>
          <a:lstStyle/>
          <a:p>
            <a:pPr marL="0" indent="0" algn="l">
              <a:lnSpc>
                <a:spcPts val="1750"/>
              </a:lnSpc>
              <a:buNone/>
            </a:pPr>
            <a:r>
              <a:rPr lang="en-US" sz="1600" dirty="0">
                <a:solidFill>
                  <a:srgbClr val="14202E"/>
                </a:solidFill>
                <a:latin typeface="JetBrains Mono" pitchFamily="49" charset="0"/>
                <a:ea typeface="JetBrains Mono" pitchFamily="49" charset="-122"/>
                <a:cs typeface="JetBrains Mono" pitchFamily="49" charset="-120"/>
              </a:rPr>
              <a:t>gain ≈ ½ · Γ · (move)²</a:t>
            </a:r>
            <a:endParaRPr lang="en-US" sz="1600" dirty="0"/>
          </a:p>
        </p:txBody>
      </p:sp>
      <p:sp>
        <p:nvSpPr>
          <p:cNvPr id="20" name="Text 17"/>
          <p:cNvSpPr/>
          <p:nvPr/>
        </p:nvSpPr>
        <p:spPr>
          <a:xfrm>
            <a:off x="6534150" y="4698787"/>
            <a:ext cx="4826889" cy="255588"/>
          </a:xfrm>
          <a:prstGeom prst="rect">
            <a:avLst/>
          </a:prstGeom>
          <a:noFill/>
          <a:ln/>
        </p:spPr>
        <p:txBody>
          <a:bodyPr wrap="square" lIns="0" tIns="0" rIns="0" bIns="0" rtlCol="0" anchor="t">
            <a:normAutofit/>
          </a:bodyPr>
          <a:lstStyle/>
          <a:p>
            <a:pPr marL="0" indent="0" algn="l">
              <a:lnSpc>
                <a:spcPts val="1813"/>
              </a:lnSpc>
              <a:buNone/>
            </a:pPr>
            <a:r>
              <a:rPr lang="en-US" sz="1400" dirty="0">
                <a:solidFill>
                  <a:srgbClr val="44505E"/>
                </a:solidFill>
                <a:latin typeface="IBM Plex Sans" pitchFamily="34" charset="0"/>
                <a:ea typeface="IBM Plex Sans" pitchFamily="34" charset="-122"/>
                <a:cs typeface="IBM Plex Sans" pitchFamily="34" charset="-120"/>
              </a:rPr>
              <a:t>Squared: up or down, a hedged holder gains from any move.</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47">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04 · USING THE LATTICE · GREEKS 4 OF 7</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Theta: the melting ice cube — rent paid for gamma</a:t>
            </a:r>
            <a:endParaRPr lang="en-US" sz="3000" dirty="0"/>
          </a:p>
        </p:txBody>
      </p:sp>
      <p:sp>
        <p:nvSpPr>
          <p:cNvPr id="4" name="Shape 2"/>
          <p:cNvSpPr/>
          <p:nvPr/>
        </p:nvSpPr>
        <p:spPr>
          <a:xfrm>
            <a:off x="815975" y="1463675"/>
            <a:ext cx="5327650" cy="3549650"/>
          </a:xfrm>
          <a:prstGeom prst="roundRect">
            <a:avLst>
              <a:gd name="adj" fmla="val 2773"/>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5" name="Image 0" descr="Value of the at-the-money call as time passes with the stock fixed at 100: falls from 10.45 a year out to zero at expiry, faster and faster"/>
          <p:cNvPicPr>
            <a:picLocks noChangeAspect="1"/>
          </p:cNvPicPr>
          <p:nvPr/>
        </p:nvPicPr>
        <p:blipFill>
          <a:blip r:embed="rId3"/>
          <a:srcRect/>
          <a:stretch/>
        </p:blipFill>
        <p:spPr>
          <a:xfrm>
            <a:off x="1193800" y="1651000"/>
            <a:ext cx="4826000" cy="2540000"/>
          </a:xfrm>
          <a:prstGeom prst="rect">
            <a:avLst/>
          </a:prstGeom>
        </p:spPr>
      </p:pic>
      <p:sp>
        <p:nvSpPr>
          <p:cNvPr id="6" name="Text 3"/>
          <p:cNvSpPr/>
          <p:nvPr/>
        </p:nvSpPr>
        <p:spPr>
          <a:xfrm>
            <a:off x="762000" y="1562100"/>
            <a:ext cx="368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12</a:t>
            </a:r>
            <a:endParaRPr lang="en-US" sz="1200" dirty="0"/>
          </a:p>
        </p:txBody>
      </p:sp>
      <p:sp>
        <p:nvSpPr>
          <p:cNvPr id="7" name="Text 4"/>
          <p:cNvSpPr/>
          <p:nvPr/>
        </p:nvSpPr>
        <p:spPr>
          <a:xfrm>
            <a:off x="762000" y="2413000"/>
            <a:ext cx="368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8</a:t>
            </a:r>
            <a:endParaRPr lang="en-US" sz="1200" dirty="0"/>
          </a:p>
        </p:txBody>
      </p:sp>
      <p:sp>
        <p:nvSpPr>
          <p:cNvPr id="8" name="Text 5"/>
          <p:cNvSpPr/>
          <p:nvPr/>
        </p:nvSpPr>
        <p:spPr>
          <a:xfrm>
            <a:off x="762000" y="3257550"/>
            <a:ext cx="368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4</a:t>
            </a:r>
            <a:endParaRPr lang="en-US" sz="1200" dirty="0"/>
          </a:p>
        </p:txBody>
      </p:sp>
      <p:sp>
        <p:nvSpPr>
          <p:cNvPr id="9" name="Text 6"/>
          <p:cNvSpPr/>
          <p:nvPr/>
        </p:nvSpPr>
        <p:spPr>
          <a:xfrm>
            <a:off x="762000" y="4089400"/>
            <a:ext cx="368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0</a:t>
            </a:r>
            <a:endParaRPr lang="en-US" sz="1200" dirty="0"/>
          </a:p>
        </p:txBody>
      </p:sp>
      <p:sp>
        <p:nvSpPr>
          <p:cNvPr id="10" name="Text 7"/>
          <p:cNvSpPr/>
          <p:nvPr/>
        </p:nvSpPr>
        <p:spPr>
          <a:xfrm>
            <a:off x="1193800" y="4292600"/>
            <a:ext cx="1066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1 year left</a:t>
            </a:r>
            <a:endParaRPr lang="en-US" sz="1200" b="1" dirty="0"/>
          </a:p>
        </p:txBody>
      </p:sp>
      <p:sp>
        <p:nvSpPr>
          <p:cNvPr id="11" name="Text 8"/>
          <p:cNvSpPr/>
          <p:nvPr/>
        </p:nvSpPr>
        <p:spPr>
          <a:xfrm>
            <a:off x="3136900" y="4292600"/>
            <a:ext cx="939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6 months</a:t>
            </a:r>
            <a:endParaRPr lang="en-US" sz="1200" b="1" dirty="0"/>
          </a:p>
        </p:txBody>
      </p:sp>
      <p:sp>
        <p:nvSpPr>
          <p:cNvPr id="12" name="Text 9"/>
          <p:cNvSpPr/>
          <p:nvPr/>
        </p:nvSpPr>
        <p:spPr>
          <a:xfrm>
            <a:off x="5143500" y="4292600"/>
            <a:ext cx="8763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expiry</a:t>
            </a:r>
            <a:endParaRPr lang="en-US" sz="1200" b="1" dirty="0"/>
          </a:p>
        </p:txBody>
      </p:sp>
      <p:sp>
        <p:nvSpPr>
          <p:cNvPr id="13" name="Text 10"/>
          <p:cNvSpPr/>
          <p:nvPr/>
        </p:nvSpPr>
        <p:spPr>
          <a:xfrm>
            <a:off x="1121410" y="4597400"/>
            <a:ext cx="4970780" cy="238720"/>
          </a:xfrm>
          <a:prstGeom prst="rect">
            <a:avLst/>
          </a:prstGeom>
          <a:noFill/>
          <a:ln/>
        </p:spPr>
        <p:txBody>
          <a:bodyPr wrap="square" lIns="0" tIns="0" rIns="0" bIns="0" rtlCol="0" anchor="t">
            <a:normAutofit/>
          </a:bodyPr>
          <a:lstStyle/>
          <a:p>
            <a:pPr marL="0" indent="0" algn="ctr">
              <a:lnSpc>
                <a:spcPts val="1680"/>
              </a:lnSpc>
              <a:buNone/>
            </a:pPr>
            <a:r>
              <a:rPr lang="en-US" sz="1400" dirty="0">
                <a:solidFill>
                  <a:srgbClr val="6A7179"/>
                </a:solidFill>
                <a:latin typeface="IBM Plex Sans" pitchFamily="34" charset="0"/>
                <a:ea typeface="IBM Plex Sans" pitchFamily="34" charset="-122"/>
                <a:cs typeface="IBM Plex Sans" pitchFamily="34" charset="-120"/>
              </a:rPr>
              <a:t>ATM call value, stock held at 100: 10.45 → 6.89 → 4.61 → 0</a:t>
            </a:r>
            <a:endParaRPr lang="en-US" sz="1400" dirty="0"/>
          </a:p>
        </p:txBody>
      </p:sp>
      <p:sp>
        <p:nvSpPr>
          <p:cNvPr id="14" name="Text 11"/>
          <p:cNvSpPr/>
          <p:nvPr/>
        </p:nvSpPr>
        <p:spPr>
          <a:xfrm>
            <a:off x="1511300" y="1714500"/>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65C8"/>
                </a:solidFill>
                <a:latin typeface="JetBrains Mono" pitchFamily="49" charset="0"/>
                <a:ea typeface="JetBrains Mono" pitchFamily="49" charset="-122"/>
                <a:cs typeface="JetBrains Mono" pitchFamily="49" charset="-120"/>
              </a:rPr>
              <a:t>10.45</a:t>
            </a:r>
            <a:endParaRPr lang="en-US" sz="1200" dirty="0"/>
          </a:p>
        </p:txBody>
      </p:sp>
      <p:sp>
        <p:nvSpPr>
          <p:cNvPr id="15" name="Text 12"/>
          <p:cNvSpPr/>
          <p:nvPr/>
        </p:nvSpPr>
        <p:spPr>
          <a:xfrm>
            <a:off x="3733800" y="2476500"/>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65C8"/>
                </a:solidFill>
                <a:latin typeface="JetBrains Mono" pitchFamily="49" charset="0"/>
                <a:ea typeface="JetBrains Mono" pitchFamily="49" charset="-122"/>
                <a:cs typeface="JetBrains Mono" pitchFamily="49" charset="-120"/>
              </a:rPr>
              <a:t>6.89</a:t>
            </a:r>
            <a:endParaRPr lang="en-US" sz="1200" dirty="0"/>
          </a:p>
        </p:txBody>
      </p:sp>
      <p:sp>
        <p:nvSpPr>
          <p:cNvPr id="16" name="Text 13"/>
          <p:cNvSpPr/>
          <p:nvPr/>
        </p:nvSpPr>
        <p:spPr>
          <a:xfrm>
            <a:off x="4940300" y="2959100"/>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65C8"/>
                </a:solidFill>
                <a:latin typeface="JetBrains Mono" pitchFamily="49" charset="0"/>
                <a:ea typeface="JetBrains Mono" pitchFamily="49" charset="-122"/>
                <a:cs typeface="JetBrains Mono" pitchFamily="49" charset="-120"/>
              </a:rPr>
              <a:t>4.61</a:t>
            </a:r>
            <a:endParaRPr lang="en-US" sz="1200" dirty="0"/>
          </a:p>
        </p:txBody>
      </p:sp>
      <p:sp>
        <p:nvSpPr>
          <p:cNvPr id="17" name="Shape 14"/>
          <p:cNvSpPr/>
          <p:nvPr/>
        </p:nvSpPr>
        <p:spPr>
          <a:xfrm>
            <a:off x="6378574" y="1463675"/>
            <a:ext cx="5474699" cy="987425"/>
          </a:xfrm>
          <a:prstGeom prst="roundRect">
            <a:avLst>
              <a:gd name="adj" fmla="val 7395"/>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8" name="Text 15"/>
          <p:cNvSpPr/>
          <p:nvPr/>
        </p:nvSpPr>
        <p:spPr>
          <a:xfrm>
            <a:off x="6534150" y="1593850"/>
            <a:ext cx="4826889" cy="254000"/>
          </a:xfrm>
          <a:prstGeom prst="rect">
            <a:avLst/>
          </a:prstGeom>
          <a:noFill/>
          <a:ln/>
        </p:spPr>
        <p:txBody>
          <a:bodyPr wrap="square" lIns="0" tIns="0" rIns="0" bIns="0" rtlCol="0" anchor="t">
            <a:normAutofit/>
          </a:bodyPr>
          <a:lstStyle/>
          <a:p>
            <a:pPr marL="0" indent="0" algn="l">
              <a:lnSpc>
                <a:spcPts val="1800"/>
              </a:lnSpc>
              <a:buNone/>
            </a:pPr>
            <a:r>
              <a:rPr lang="en-US" sz="1600" b="1" dirty="0">
                <a:solidFill>
                  <a:srgbClr val="14202E"/>
                </a:solidFill>
                <a:latin typeface="IBM Plex Sans" pitchFamily="34" charset="0"/>
                <a:ea typeface="IBM Plex Sans" pitchFamily="34" charset="-122"/>
                <a:cs typeface="IBM Plex Sans" pitchFamily="34" charset="-120"/>
              </a:rPr>
              <a:t>1 · Time decay</a:t>
            </a:r>
            <a:endParaRPr lang="en-US" sz="1600" dirty="0"/>
          </a:p>
        </p:txBody>
      </p:sp>
      <p:sp>
        <p:nvSpPr>
          <p:cNvPr id="19" name="Text 16"/>
          <p:cNvSpPr/>
          <p:nvPr/>
        </p:nvSpPr>
        <p:spPr>
          <a:xfrm>
            <a:off x="6534150" y="1860550"/>
            <a:ext cx="5154423" cy="485775"/>
          </a:xfrm>
          <a:prstGeom prst="rect">
            <a:avLst/>
          </a:prstGeom>
          <a:noFill/>
          <a:ln/>
        </p:spPr>
        <p:txBody>
          <a:bodyPr wrap="square" lIns="0" tIns="0" rIns="0" bIns="0" rtlCol="0" anchor="t">
            <a:normAutofit/>
          </a:bodyPr>
          <a:lstStyle/>
          <a:p>
            <a:pPr marL="0" indent="0" algn="l">
              <a:lnSpc>
                <a:spcPts val="1813"/>
              </a:lnSpc>
              <a:buNone/>
            </a:pPr>
            <a:r>
              <a:rPr lang="en-US" sz="1400" dirty="0">
                <a:solidFill>
                  <a:srgbClr val="44505E"/>
                </a:solidFill>
                <a:latin typeface="IBM Plex Sans" pitchFamily="34" charset="0"/>
                <a:ea typeface="IBM Plex Sans" pitchFamily="34" charset="-122"/>
                <a:cs typeface="IBM Plex Sans" pitchFamily="34" charset="-120"/>
              </a:rPr>
              <a:t>Θ = −6.41 per year ≈ </a:t>
            </a:r>
            <a:r>
              <a:rPr lang="en-US" sz="1400" b="1" dirty="0">
                <a:solidFill>
                  <a:srgbClr val="14202E"/>
                </a:solidFill>
                <a:latin typeface="IBM Plex Sans" pitchFamily="34" charset="0"/>
                <a:ea typeface="IBM Plex Sans" pitchFamily="34" charset="-122"/>
                <a:cs typeface="IBM Plex Sans" pitchFamily="34" charset="-120"/>
              </a:rPr>
              <a:t>−0.018 per day</a:t>
            </a:r>
            <a:r>
              <a:rPr lang="en-US" sz="1400" dirty="0">
                <a:solidFill>
                  <a:srgbClr val="44505E"/>
                </a:solidFill>
                <a:latin typeface="IBM Plex Sans" pitchFamily="34" charset="0"/>
                <a:ea typeface="IBM Plex Sans" pitchFamily="34" charset="-122"/>
                <a:cs typeface="IBM Plex Sans" pitchFamily="34" charset="-120"/>
              </a:rPr>
              <a:t>: the cost of waiting, all else equal.</a:t>
            </a:r>
            <a:endParaRPr lang="en-US" sz="1400" dirty="0"/>
          </a:p>
        </p:txBody>
      </p:sp>
      <p:sp>
        <p:nvSpPr>
          <p:cNvPr id="20" name="Shape 17"/>
          <p:cNvSpPr/>
          <p:nvPr/>
        </p:nvSpPr>
        <p:spPr>
          <a:xfrm>
            <a:off x="6378574" y="2571750"/>
            <a:ext cx="5474699" cy="987425"/>
          </a:xfrm>
          <a:prstGeom prst="roundRect">
            <a:avLst>
              <a:gd name="adj" fmla="val 7395"/>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21" name="Text 18"/>
          <p:cNvSpPr/>
          <p:nvPr/>
        </p:nvSpPr>
        <p:spPr>
          <a:xfrm>
            <a:off x="6534150" y="2701925"/>
            <a:ext cx="4826889" cy="254000"/>
          </a:xfrm>
          <a:prstGeom prst="rect">
            <a:avLst/>
          </a:prstGeom>
          <a:noFill/>
          <a:ln/>
        </p:spPr>
        <p:txBody>
          <a:bodyPr wrap="square" lIns="0" tIns="0" rIns="0" bIns="0" rtlCol="0" anchor="t">
            <a:normAutofit/>
          </a:bodyPr>
          <a:lstStyle/>
          <a:p>
            <a:pPr marL="0" indent="0" algn="l">
              <a:lnSpc>
                <a:spcPts val="1800"/>
              </a:lnSpc>
              <a:buNone/>
            </a:pPr>
            <a:r>
              <a:rPr lang="en-US" sz="1600" b="1" dirty="0">
                <a:solidFill>
                  <a:srgbClr val="14202E"/>
                </a:solidFill>
                <a:latin typeface="IBM Plex Sans" pitchFamily="34" charset="0"/>
                <a:ea typeface="IBM Plex Sans" pitchFamily="34" charset="-122"/>
                <a:cs typeface="IBM Plex Sans" pitchFamily="34" charset="-120"/>
              </a:rPr>
              <a:t>2 · Accelerates at the end</a:t>
            </a:r>
            <a:endParaRPr lang="en-US" sz="1600" dirty="0"/>
          </a:p>
        </p:txBody>
      </p:sp>
      <p:sp>
        <p:nvSpPr>
          <p:cNvPr id="22" name="Text 19"/>
          <p:cNvSpPr/>
          <p:nvPr/>
        </p:nvSpPr>
        <p:spPr>
          <a:xfrm>
            <a:off x="6534150" y="2968625"/>
            <a:ext cx="5154423" cy="485775"/>
          </a:xfrm>
          <a:prstGeom prst="rect">
            <a:avLst/>
          </a:prstGeom>
          <a:noFill/>
          <a:ln/>
        </p:spPr>
        <p:txBody>
          <a:bodyPr wrap="square" lIns="0" tIns="0" rIns="0" bIns="0" rtlCol="0" anchor="t">
            <a:normAutofit/>
          </a:bodyPr>
          <a:lstStyle/>
          <a:p>
            <a:pPr marL="0" indent="0" algn="l">
              <a:lnSpc>
                <a:spcPts val="1813"/>
              </a:lnSpc>
              <a:buNone/>
            </a:pPr>
            <a:r>
              <a:rPr lang="en-US" sz="1400" dirty="0">
                <a:solidFill>
                  <a:srgbClr val="44505E"/>
                </a:solidFill>
                <a:latin typeface="IBM Plex Sans" pitchFamily="34" charset="0"/>
                <a:ea typeface="IBM Plex Sans" pitchFamily="34" charset="-122"/>
                <a:cs typeface="IBM Plex Sans" pitchFamily="34" charset="-120"/>
              </a:rPr>
              <a:t>Less time = less chance to move. The last weeks melt fastest (1.18 with a week left).</a:t>
            </a:r>
            <a:endParaRPr lang="en-US" sz="1400" dirty="0"/>
          </a:p>
        </p:txBody>
      </p:sp>
      <p:sp>
        <p:nvSpPr>
          <p:cNvPr id="23" name="Shape 20"/>
          <p:cNvSpPr/>
          <p:nvPr/>
        </p:nvSpPr>
        <p:spPr>
          <a:xfrm>
            <a:off x="6375399" y="3676649"/>
            <a:ext cx="5481655" cy="1336675"/>
          </a:xfrm>
          <a:prstGeom prst="roundRect">
            <a:avLst>
              <a:gd name="adj" fmla="val 7602"/>
            </a:avLst>
          </a:prstGeom>
          <a:solidFill>
            <a:srgbClr val="14202E"/>
          </a:solidFill>
          <a:ln/>
          <a:effectLst>
            <a:outerShdw blurRad="50800" dist="38100" dir="2700000" algn="tl" rotWithShape="0">
              <a:prstClr val="black">
                <a:alpha val="40000"/>
              </a:prstClr>
            </a:outerShdw>
          </a:effectLst>
        </p:spPr>
        <p:txBody>
          <a:bodyPr/>
          <a:lstStyle/>
          <a:p>
            <a:endParaRPr lang="en-SE"/>
          </a:p>
        </p:txBody>
      </p:sp>
      <p:sp>
        <p:nvSpPr>
          <p:cNvPr id="24" name="Text 21"/>
          <p:cNvSpPr/>
          <p:nvPr/>
        </p:nvSpPr>
        <p:spPr>
          <a:xfrm>
            <a:off x="6527800" y="3803650"/>
            <a:ext cx="4839970" cy="254000"/>
          </a:xfrm>
          <a:prstGeom prst="rect">
            <a:avLst/>
          </a:prstGeom>
          <a:noFill/>
          <a:ln/>
        </p:spPr>
        <p:txBody>
          <a:bodyPr wrap="square" lIns="0" tIns="0" rIns="0" bIns="0" rtlCol="0" anchor="t">
            <a:normAutofit/>
          </a:bodyPr>
          <a:lstStyle/>
          <a:p>
            <a:pPr marL="0" indent="0" algn="l">
              <a:lnSpc>
                <a:spcPts val="1800"/>
              </a:lnSpc>
              <a:buNone/>
            </a:pPr>
            <a:r>
              <a:rPr lang="en-US" sz="1600" b="1" dirty="0">
                <a:solidFill>
                  <a:srgbClr val="F5F3EC"/>
                </a:solidFill>
                <a:latin typeface="IBM Plex Sans" pitchFamily="34" charset="0"/>
                <a:ea typeface="IBM Plex Sans" pitchFamily="34" charset="-122"/>
                <a:cs typeface="IBM Plex Sans" pitchFamily="34" charset="-120"/>
              </a:rPr>
              <a:t>3 · No free lunch</a:t>
            </a:r>
            <a:endParaRPr lang="en-US" sz="1600" dirty="0"/>
          </a:p>
        </p:txBody>
      </p:sp>
      <p:sp>
        <p:nvSpPr>
          <p:cNvPr id="25" name="Text 22"/>
          <p:cNvSpPr/>
          <p:nvPr/>
        </p:nvSpPr>
        <p:spPr>
          <a:xfrm>
            <a:off x="6527800" y="4241170"/>
            <a:ext cx="4839970" cy="238720"/>
          </a:xfrm>
          <a:prstGeom prst="rect">
            <a:avLst/>
          </a:prstGeom>
          <a:noFill/>
          <a:ln/>
        </p:spPr>
        <p:txBody>
          <a:bodyPr wrap="square" lIns="0" tIns="0" rIns="0" bIns="0" rtlCol="0" anchor="t">
            <a:normAutofit fontScale="92500"/>
          </a:bodyPr>
          <a:lstStyle/>
          <a:p>
            <a:pPr marL="0" indent="0" algn="l">
              <a:lnSpc>
                <a:spcPts val="1680"/>
              </a:lnSpc>
              <a:buNone/>
            </a:pPr>
            <a:r>
              <a:rPr lang="en-US" sz="2400" dirty="0">
                <a:solidFill>
                  <a:srgbClr val="E3A33B"/>
                </a:solidFill>
                <a:latin typeface="JetBrains Mono" pitchFamily="49" charset="0"/>
                <a:ea typeface="JetBrains Mono" pitchFamily="49" charset="-122"/>
                <a:cs typeface="JetBrains Mono" pitchFamily="49" charset="-120"/>
              </a:rPr>
              <a:t>Θ + ½σ²S²Γ + rSΔ = rV</a:t>
            </a:r>
            <a:endParaRPr lang="en-US" sz="2400" dirty="0"/>
          </a:p>
        </p:txBody>
      </p:sp>
      <p:sp>
        <p:nvSpPr>
          <p:cNvPr id="26" name="Text 23"/>
          <p:cNvSpPr/>
          <p:nvPr/>
        </p:nvSpPr>
        <p:spPr>
          <a:xfrm>
            <a:off x="6527800" y="4593074"/>
            <a:ext cx="5168392" cy="255588"/>
          </a:xfrm>
          <a:prstGeom prst="rect">
            <a:avLst/>
          </a:prstGeom>
          <a:noFill/>
          <a:ln/>
        </p:spPr>
        <p:txBody>
          <a:bodyPr wrap="square" lIns="0" tIns="0" rIns="0" bIns="0" rtlCol="0" anchor="t">
            <a:normAutofit/>
          </a:bodyPr>
          <a:lstStyle/>
          <a:p>
            <a:pPr marL="0" indent="0" algn="l">
              <a:lnSpc>
                <a:spcPts val="1813"/>
              </a:lnSpc>
              <a:buNone/>
            </a:pPr>
            <a:r>
              <a:rPr lang="en-US" sz="1400" dirty="0">
                <a:solidFill>
                  <a:srgbClr val="BFCAD6"/>
                </a:solidFill>
                <a:latin typeface="IBM Plex Sans" pitchFamily="34" charset="0"/>
                <a:ea typeface="IBM Plex Sans" pitchFamily="34" charset="-122"/>
                <a:cs typeface="IBM Plex Sans" pitchFamily="34" charset="-120"/>
              </a:rPr>
              <a:t>The PDE again: gamma gains are paid for by theta, day by day.</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48">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04 · USING THE LATTICE · GREEKS 5 OF 7</a:t>
            </a:r>
            <a:endParaRPr lang="en-US" sz="1200" dirty="0"/>
          </a:p>
        </p:txBody>
      </p:sp>
      <p:sp>
        <p:nvSpPr>
          <p:cNvPr id="3" name="Text 1"/>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Vega and rho: sensitivity to the market’s mood and to rates</a:t>
            </a:r>
            <a:endParaRPr lang="en-US" sz="3000" dirty="0"/>
          </a:p>
        </p:txBody>
      </p:sp>
      <p:sp>
        <p:nvSpPr>
          <p:cNvPr id="4" name="Shape 2"/>
          <p:cNvSpPr/>
          <p:nvPr/>
        </p:nvSpPr>
        <p:spPr>
          <a:xfrm>
            <a:off x="815975" y="1857375"/>
            <a:ext cx="5175250" cy="3166801"/>
          </a:xfrm>
          <a:prstGeom prst="roundRect">
            <a:avLst>
              <a:gd name="adj" fmla="val 3507"/>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5" name="Text 3"/>
          <p:cNvSpPr/>
          <p:nvPr/>
        </p:nvSpPr>
        <p:spPr>
          <a:xfrm>
            <a:off x="1022350" y="2038350"/>
            <a:ext cx="490537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02E"/>
                </a:solidFill>
                <a:latin typeface="IBM Plex Sans" pitchFamily="34" charset="0"/>
                <a:ea typeface="IBM Plex Sans" pitchFamily="34" charset="-122"/>
                <a:cs typeface="IBM Plex Sans" pitchFamily="34" charset="-120"/>
              </a:rPr>
              <a:t>Vega · +0.38 per vol point</a:t>
            </a:r>
            <a:endParaRPr lang="en-US" sz="1700" dirty="0"/>
          </a:p>
        </p:txBody>
      </p:sp>
      <p:sp>
        <p:nvSpPr>
          <p:cNvPr id="6" name="Text 4"/>
          <p:cNvSpPr/>
          <p:nvPr/>
        </p:nvSpPr>
        <p:spPr>
          <a:xfrm>
            <a:off x="1022350" y="2386310"/>
            <a:ext cx="4905375" cy="485775"/>
          </a:xfrm>
          <a:prstGeom prst="rect">
            <a:avLst/>
          </a:prstGeom>
          <a:noFill/>
          <a:ln/>
        </p:spPr>
        <p:txBody>
          <a:bodyPr wrap="square" lIns="0" tIns="0" rIns="0" bIns="0" rtlCol="0" anchor="t">
            <a:normAutofit/>
          </a:bodyPr>
          <a:lstStyle/>
          <a:p>
            <a:pPr marL="0" indent="0" algn="l">
              <a:lnSpc>
                <a:spcPts val="1813"/>
              </a:lnSpc>
              <a:buNone/>
            </a:pPr>
            <a:r>
              <a:rPr lang="en-US" sz="1400" dirty="0">
                <a:solidFill>
                  <a:srgbClr val="44505E"/>
                </a:solidFill>
                <a:latin typeface="IBM Plex Sans" pitchFamily="34" charset="0"/>
                <a:ea typeface="IBM Plex Sans" pitchFamily="34" charset="-122"/>
                <a:cs typeface="IBM Plex Sans" pitchFamily="34" charset="-120"/>
              </a:rPr>
              <a:t>More uncertainty = more valuable. Upside is kept, downside is capped, so a wider spread only helps the holder.</a:t>
            </a:r>
            <a:endParaRPr lang="en-US" sz="1400" dirty="0"/>
          </a:p>
        </p:txBody>
      </p:sp>
      <p:sp>
        <p:nvSpPr>
          <p:cNvPr id="7" name="Text 5"/>
          <p:cNvSpPr/>
          <p:nvPr/>
        </p:nvSpPr>
        <p:spPr>
          <a:xfrm>
            <a:off x="1022350" y="3056164"/>
            <a:ext cx="749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02E"/>
                </a:solidFill>
                <a:latin typeface="JetBrains Mono" pitchFamily="49" charset="0"/>
                <a:ea typeface="JetBrains Mono" pitchFamily="49" charset="-122"/>
                <a:cs typeface="JetBrains Mono" pitchFamily="49" charset="-120"/>
              </a:rPr>
              <a:t>σ 10%</a:t>
            </a:r>
            <a:endParaRPr lang="en-US" sz="1200" dirty="0"/>
          </a:p>
        </p:txBody>
      </p:sp>
      <p:sp>
        <p:nvSpPr>
          <p:cNvPr id="8" name="Shape 6"/>
          <p:cNvSpPr/>
          <p:nvPr/>
        </p:nvSpPr>
        <p:spPr>
          <a:xfrm>
            <a:off x="1822450" y="3061224"/>
            <a:ext cx="1454150" cy="203200"/>
          </a:xfrm>
          <a:prstGeom prst="roundRect">
            <a:avLst>
              <a:gd name="adj" fmla="val 18750"/>
            </a:avLst>
          </a:prstGeom>
          <a:solidFill>
            <a:srgbClr val="7FA8F0"/>
          </a:solidFill>
          <a:ln/>
        </p:spPr>
        <p:txBody>
          <a:bodyPr/>
          <a:lstStyle/>
          <a:p>
            <a:endParaRPr lang="en-SE"/>
          </a:p>
        </p:txBody>
      </p:sp>
      <p:sp>
        <p:nvSpPr>
          <p:cNvPr id="9" name="Text 7"/>
          <p:cNvSpPr/>
          <p:nvPr/>
        </p:nvSpPr>
        <p:spPr>
          <a:xfrm>
            <a:off x="3378200" y="3056164"/>
            <a:ext cx="4389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02E"/>
                </a:solidFill>
                <a:latin typeface="JetBrains Mono" pitchFamily="49" charset="0"/>
                <a:ea typeface="JetBrains Mono" pitchFamily="49" charset="-122"/>
                <a:cs typeface="JetBrains Mono" pitchFamily="49" charset="-120"/>
              </a:rPr>
              <a:t>6.80</a:t>
            </a:r>
            <a:endParaRPr lang="en-US" sz="1200" dirty="0"/>
          </a:p>
        </p:txBody>
      </p:sp>
      <p:sp>
        <p:nvSpPr>
          <p:cNvPr id="10" name="Text 8"/>
          <p:cNvSpPr/>
          <p:nvPr/>
        </p:nvSpPr>
        <p:spPr>
          <a:xfrm>
            <a:off x="1022350" y="3358384"/>
            <a:ext cx="749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02E"/>
                </a:solidFill>
                <a:latin typeface="JetBrains Mono" pitchFamily="49" charset="0"/>
                <a:ea typeface="JetBrains Mono" pitchFamily="49" charset="-122"/>
                <a:cs typeface="JetBrains Mono" pitchFamily="49" charset="-120"/>
              </a:rPr>
              <a:t>σ 20%</a:t>
            </a:r>
            <a:endParaRPr lang="en-US" sz="1200" dirty="0"/>
          </a:p>
        </p:txBody>
      </p:sp>
      <p:sp>
        <p:nvSpPr>
          <p:cNvPr id="11" name="Shape 9"/>
          <p:cNvSpPr/>
          <p:nvPr/>
        </p:nvSpPr>
        <p:spPr>
          <a:xfrm>
            <a:off x="1822450" y="3363445"/>
            <a:ext cx="2235200" cy="203200"/>
          </a:xfrm>
          <a:prstGeom prst="roundRect">
            <a:avLst>
              <a:gd name="adj" fmla="val 18750"/>
            </a:avLst>
          </a:prstGeom>
          <a:solidFill>
            <a:srgbClr val="2B65C8"/>
          </a:solidFill>
          <a:ln/>
        </p:spPr>
        <p:txBody>
          <a:bodyPr/>
          <a:lstStyle/>
          <a:p>
            <a:endParaRPr lang="en-SE"/>
          </a:p>
        </p:txBody>
      </p:sp>
      <p:sp>
        <p:nvSpPr>
          <p:cNvPr id="12" name="Text 10"/>
          <p:cNvSpPr/>
          <p:nvPr/>
        </p:nvSpPr>
        <p:spPr>
          <a:xfrm>
            <a:off x="4159250" y="3358384"/>
            <a:ext cx="5486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02E"/>
                </a:solidFill>
                <a:latin typeface="JetBrains Mono" pitchFamily="49" charset="0"/>
                <a:ea typeface="JetBrains Mono" pitchFamily="49" charset="-122"/>
                <a:cs typeface="JetBrains Mono" pitchFamily="49" charset="-120"/>
              </a:rPr>
              <a:t>10.45</a:t>
            </a:r>
            <a:endParaRPr lang="en-US" sz="1200" dirty="0"/>
          </a:p>
        </p:txBody>
      </p:sp>
      <p:sp>
        <p:nvSpPr>
          <p:cNvPr id="13" name="Text 11"/>
          <p:cNvSpPr/>
          <p:nvPr/>
        </p:nvSpPr>
        <p:spPr>
          <a:xfrm>
            <a:off x="1022350" y="3660605"/>
            <a:ext cx="749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02E"/>
                </a:solidFill>
                <a:latin typeface="JetBrains Mono" pitchFamily="49" charset="0"/>
                <a:ea typeface="JetBrains Mono" pitchFamily="49" charset="-122"/>
                <a:cs typeface="JetBrains Mono" pitchFamily="49" charset="-120"/>
              </a:rPr>
              <a:t>σ 30%</a:t>
            </a:r>
            <a:endParaRPr lang="en-US" sz="1200" dirty="0"/>
          </a:p>
        </p:txBody>
      </p:sp>
      <p:sp>
        <p:nvSpPr>
          <p:cNvPr id="14" name="Shape 12"/>
          <p:cNvSpPr/>
          <p:nvPr/>
        </p:nvSpPr>
        <p:spPr>
          <a:xfrm>
            <a:off x="1822450" y="3665665"/>
            <a:ext cx="3041650" cy="203200"/>
          </a:xfrm>
          <a:prstGeom prst="roundRect">
            <a:avLst>
              <a:gd name="adj" fmla="val 18750"/>
            </a:avLst>
          </a:prstGeom>
          <a:solidFill>
            <a:srgbClr val="14202E"/>
          </a:solidFill>
          <a:ln/>
        </p:spPr>
        <p:txBody>
          <a:bodyPr/>
          <a:lstStyle/>
          <a:p>
            <a:endParaRPr lang="en-SE"/>
          </a:p>
        </p:txBody>
      </p:sp>
      <p:sp>
        <p:nvSpPr>
          <p:cNvPr id="15" name="Text 13"/>
          <p:cNvSpPr/>
          <p:nvPr/>
        </p:nvSpPr>
        <p:spPr>
          <a:xfrm>
            <a:off x="4965700" y="3660605"/>
            <a:ext cx="5486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02E"/>
                </a:solidFill>
                <a:latin typeface="JetBrains Mono" pitchFamily="49" charset="0"/>
                <a:ea typeface="JetBrains Mono" pitchFamily="49" charset="-122"/>
                <a:cs typeface="JetBrains Mono" pitchFamily="49" charset="-120"/>
              </a:rPr>
              <a:t>14.23</a:t>
            </a:r>
            <a:endParaRPr lang="en-US" sz="1200" dirty="0"/>
          </a:p>
        </p:txBody>
      </p:sp>
      <p:sp>
        <p:nvSpPr>
          <p:cNvPr id="16" name="Text 14"/>
          <p:cNvSpPr/>
          <p:nvPr/>
        </p:nvSpPr>
        <p:spPr>
          <a:xfrm>
            <a:off x="1022350" y="4173840"/>
            <a:ext cx="4905375" cy="485775"/>
          </a:xfrm>
          <a:prstGeom prst="rect">
            <a:avLst/>
          </a:prstGeom>
          <a:noFill/>
          <a:ln/>
        </p:spPr>
        <p:txBody>
          <a:bodyPr wrap="square" lIns="0" tIns="0" rIns="0" bIns="0" rtlCol="0" anchor="t">
            <a:normAutofit/>
          </a:bodyPr>
          <a:lstStyle/>
          <a:p>
            <a:pPr marL="0" indent="0" algn="l">
              <a:lnSpc>
                <a:spcPts val="1813"/>
              </a:lnSpc>
              <a:buNone/>
            </a:pPr>
            <a:r>
              <a:rPr lang="en-US" sz="1400" dirty="0">
                <a:solidFill>
                  <a:srgbClr val="44505E"/>
                </a:solidFill>
                <a:latin typeface="IBM Plex Sans" pitchFamily="34" charset="0"/>
                <a:ea typeface="IBM Plex Sans" pitchFamily="34" charset="-122"/>
                <a:cs typeface="IBM Plex Sans" pitchFamily="34" charset="-120"/>
              </a:rPr>
              <a:t>Run it backwards: from a market price, solve for σ = </a:t>
            </a:r>
            <a:r>
              <a:rPr lang="en-US" sz="1400" b="1" dirty="0">
                <a:solidFill>
                  <a:srgbClr val="14202E"/>
                </a:solidFill>
                <a:latin typeface="IBM Plex Sans" pitchFamily="34" charset="0"/>
                <a:ea typeface="IBM Plex Sans" pitchFamily="34" charset="-122"/>
                <a:cs typeface="IBM Plex Sans" pitchFamily="34" charset="-120"/>
              </a:rPr>
              <a:t>implied volatility</a:t>
            </a:r>
            <a:r>
              <a:rPr lang="en-US" sz="1400" dirty="0">
                <a:solidFill>
                  <a:srgbClr val="44505E"/>
                </a:solidFill>
                <a:latin typeface="IBM Plex Sans" pitchFamily="34" charset="0"/>
                <a:ea typeface="IBM Plex Sans" pitchFamily="34" charset="-122"/>
                <a:cs typeface="IBM Plex Sans" pitchFamily="34" charset="-120"/>
              </a:rPr>
              <a:t>, the market’s “fear gauge” (VIX).</a:t>
            </a:r>
            <a:endParaRPr lang="en-US" sz="1400" dirty="0"/>
          </a:p>
        </p:txBody>
      </p:sp>
      <p:sp>
        <p:nvSpPr>
          <p:cNvPr id="17" name="Shape 15"/>
          <p:cNvSpPr/>
          <p:nvPr/>
        </p:nvSpPr>
        <p:spPr>
          <a:xfrm>
            <a:off x="6200775" y="1857375"/>
            <a:ext cx="5175250" cy="3166801"/>
          </a:xfrm>
          <a:prstGeom prst="roundRect">
            <a:avLst>
              <a:gd name="adj" fmla="val 3507"/>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8" name="Text 16"/>
          <p:cNvSpPr/>
          <p:nvPr/>
        </p:nvSpPr>
        <p:spPr>
          <a:xfrm>
            <a:off x="6407150" y="2038350"/>
            <a:ext cx="490537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02E"/>
                </a:solidFill>
                <a:latin typeface="IBM Plex Sans" pitchFamily="34" charset="0"/>
                <a:ea typeface="IBM Plex Sans" pitchFamily="34" charset="-122"/>
                <a:cs typeface="IBM Plex Sans" pitchFamily="34" charset="-120"/>
              </a:rPr>
              <a:t>Rho · +0.53 per rate point</a:t>
            </a:r>
            <a:endParaRPr lang="en-US" sz="1700" dirty="0"/>
          </a:p>
        </p:txBody>
      </p:sp>
      <p:sp>
        <p:nvSpPr>
          <p:cNvPr id="19" name="Text 17"/>
          <p:cNvSpPr/>
          <p:nvPr/>
        </p:nvSpPr>
        <p:spPr>
          <a:xfrm>
            <a:off x="6407150" y="2386310"/>
            <a:ext cx="4905375" cy="485775"/>
          </a:xfrm>
          <a:prstGeom prst="rect">
            <a:avLst/>
          </a:prstGeom>
          <a:noFill/>
          <a:ln/>
        </p:spPr>
        <p:txBody>
          <a:bodyPr wrap="square" lIns="0" tIns="0" rIns="0" bIns="0" rtlCol="0" anchor="t">
            <a:noAutofit/>
          </a:bodyPr>
          <a:lstStyle/>
          <a:p>
            <a:pPr marL="0" indent="0" algn="l">
              <a:lnSpc>
                <a:spcPts val="1813"/>
              </a:lnSpc>
              <a:buNone/>
            </a:pPr>
            <a:r>
              <a:rPr lang="en-US" sz="1400" dirty="0">
                <a:solidFill>
                  <a:srgbClr val="44505E"/>
                </a:solidFill>
                <a:latin typeface="IBM Plex Sans" pitchFamily="34" charset="0"/>
                <a:ea typeface="IBM Plex Sans" pitchFamily="34" charset="-122"/>
                <a:cs typeface="IBM Plex Sans" pitchFamily="34" charset="-120"/>
              </a:rPr>
              <a:t>A call lets you pay K later instead of buying the stock now; higher rates make paying later worth more. A put’s rho is negative.</a:t>
            </a:r>
            <a:endParaRPr lang="en-US" sz="1400" dirty="0"/>
          </a:p>
        </p:txBody>
      </p:sp>
      <p:sp>
        <p:nvSpPr>
          <p:cNvPr id="20" name="Text 18"/>
          <p:cNvSpPr/>
          <p:nvPr/>
        </p:nvSpPr>
        <p:spPr>
          <a:xfrm>
            <a:off x="6407150" y="3176743"/>
            <a:ext cx="4905375" cy="485775"/>
          </a:xfrm>
          <a:prstGeom prst="rect">
            <a:avLst/>
          </a:prstGeom>
          <a:noFill/>
          <a:ln/>
        </p:spPr>
        <p:txBody>
          <a:bodyPr wrap="square" lIns="0" tIns="0" rIns="0" bIns="0" rtlCol="0" anchor="t">
            <a:normAutofit/>
          </a:bodyPr>
          <a:lstStyle/>
          <a:p>
            <a:pPr marL="0" indent="0" algn="l">
              <a:lnSpc>
                <a:spcPts val="1813"/>
              </a:lnSpc>
              <a:buNone/>
            </a:pPr>
            <a:r>
              <a:rPr lang="en-US" sz="1400" dirty="0">
                <a:solidFill>
                  <a:srgbClr val="44505E"/>
                </a:solidFill>
                <a:latin typeface="IBM Plex Sans" pitchFamily="34" charset="0"/>
                <a:ea typeface="IBM Plex Sans" pitchFamily="34" charset="-122"/>
                <a:cs typeface="IBM Plex Sans" pitchFamily="34" charset="-120"/>
              </a:rPr>
              <a:t>Usually the smallest Greek for short-dated equity options, but large for long-dated and rate options.</a:t>
            </a:r>
            <a:endParaRPr lang="en-US" sz="1400" dirty="0"/>
          </a:p>
        </p:txBody>
      </p:sp>
      <p:sp>
        <p:nvSpPr>
          <p:cNvPr id="21" name="Text 19"/>
          <p:cNvSpPr/>
          <p:nvPr/>
        </p:nvSpPr>
        <p:spPr>
          <a:xfrm>
            <a:off x="6407150" y="3816453"/>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A7179"/>
                </a:solidFill>
                <a:latin typeface="IBM Plex Sans" pitchFamily="34" charset="0"/>
                <a:ea typeface="IBM Plex Sans" pitchFamily="34" charset="-122"/>
                <a:cs typeface="IBM Plex Sans" pitchFamily="34" charset="-120"/>
              </a:rPr>
              <a:t>ON THE LATTICE: BUMP AND REVALUE</a:t>
            </a:r>
            <a:endParaRPr lang="en-US" sz="1200" dirty="0"/>
          </a:p>
        </p:txBody>
      </p:sp>
      <p:sp>
        <p:nvSpPr>
          <p:cNvPr id="22" name="Text 20"/>
          <p:cNvSpPr/>
          <p:nvPr/>
        </p:nvSpPr>
        <p:spPr>
          <a:xfrm>
            <a:off x="6407150" y="4118673"/>
            <a:ext cx="4762500" cy="695920"/>
          </a:xfrm>
          <a:prstGeom prst="roundRect">
            <a:avLst>
              <a:gd name="adj" fmla="val 10950"/>
            </a:avLst>
          </a:prstGeom>
          <a:solidFill>
            <a:srgbClr val="14202E"/>
          </a:solidFill>
          <a:ln/>
        </p:spPr>
        <p:txBody>
          <a:bodyPr wrap="none" lIns="117382" tIns="91982" rIns="0" bIns="66582" rtlCol="0" anchor="t">
            <a:normAutofit/>
          </a:bodyPr>
          <a:lstStyle/>
          <a:p>
            <a:pPr marL="0" indent="0" algn="l">
              <a:lnSpc>
                <a:spcPts val="1840"/>
              </a:lnSpc>
              <a:buNone/>
            </a:pPr>
            <a:r>
              <a:rPr lang="en-US" sz="1400" dirty="0">
                <a:solidFill>
                  <a:srgbClr val="E6E9EE"/>
                </a:solidFill>
                <a:latin typeface="JetBrains Mono" pitchFamily="49" charset="0"/>
                <a:ea typeface="JetBrains Mono" pitchFamily="49" charset="-122"/>
                <a:cs typeface="JetBrains Mono" pitchFamily="49" charset="-120"/>
              </a:rPr>
              <a:t>vega = (price(σ=.21) − price(σ=.19))/2 # 0.375</a:t>
            </a:r>
            <a:endParaRPr lang="en-US" sz="1400" dirty="0"/>
          </a:p>
          <a:p>
            <a:pPr marL="0" indent="0" algn="l">
              <a:lnSpc>
                <a:spcPts val="1840"/>
              </a:lnSpc>
              <a:buNone/>
            </a:pPr>
            <a:r>
              <a:rPr lang="en-US" sz="1400" dirty="0">
                <a:solidFill>
                  <a:srgbClr val="E6E9EE"/>
                </a:solidFill>
                <a:latin typeface="JetBrains Mono" pitchFamily="49" charset="0"/>
                <a:ea typeface="JetBrains Mono" pitchFamily="49" charset="-122"/>
                <a:cs typeface="JetBrains Mono" pitchFamily="49" charset="-120"/>
              </a:rPr>
              <a:t>rho  = (price(r=.06) − price(r=.04))/2 # 0.532</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49">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04 · USING THE LATTICE · GREEKS 6 OF 7</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On the lattice: Δ, Γ, Θ for free from the nodes</a:t>
            </a:r>
            <a:endParaRPr lang="en-US" sz="3000" dirty="0"/>
          </a:p>
        </p:txBody>
      </p:sp>
      <p:sp>
        <p:nvSpPr>
          <p:cNvPr id="4" name="Shape 2"/>
          <p:cNvSpPr/>
          <p:nvPr/>
        </p:nvSpPr>
        <p:spPr>
          <a:xfrm>
            <a:off x="815975" y="1489075"/>
            <a:ext cx="3380284" cy="2134791"/>
          </a:xfrm>
          <a:prstGeom prst="roundRect">
            <a:avLst>
              <a:gd name="adj" fmla="val 4611"/>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5" name="Text 3"/>
          <p:cNvSpPr/>
          <p:nvPr/>
        </p:nvSpPr>
        <p:spPr>
          <a:xfrm>
            <a:off x="1047750" y="1720850"/>
            <a:ext cx="3004236" cy="238720"/>
          </a:xfrm>
          <a:prstGeom prst="rect">
            <a:avLst/>
          </a:prstGeom>
          <a:noFill/>
          <a:ln/>
        </p:spPr>
        <p:txBody>
          <a:bodyPr wrap="square" lIns="0" tIns="0" rIns="0" bIns="0" rtlCol="0" anchor="t">
            <a:normAutofit/>
          </a:bodyPr>
          <a:lstStyle/>
          <a:p>
            <a:pPr marL="0" indent="0" algn="l">
              <a:lnSpc>
                <a:spcPts val="1680"/>
              </a:lnSpc>
              <a:buNone/>
            </a:pPr>
            <a:r>
              <a:rPr lang="en-US" b="1" kern="0" spc="150" dirty="0">
                <a:solidFill>
                  <a:srgbClr val="2B65C8"/>
                </a:solidFill>
                <a:latin typeface="IBM Plex Sans" pitchFamily="34" charset="0"/>
                <a:ea typeface="IBM Plex Sans" pitchFamily="34" charset="-122"/>
                <a:cs typeface="IBM Plex Sans" pitchFamily="34" charset="-120"/>
              </a:rPr>
              <a:t>DELTA · ∂V/∂S</a:t>
            </a:r>
            <a:endParaRPr lang="en-US" dirty="0"/>
          </a:p>
        </p:txBody>
      </p:sp>
      <p:sp>
        <p:nvSpPr>
          <p:cNvPr id="6" name="Text 4"/>
          <p:cNvSpPr/>
          <p:nvPr/>
        </p:nvSpPr>
        <p:spPr>
          <a:xfrm>
            <a:off x="1047750" y="2023070"/>
            <a:ext cx="3004236"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202E"/>
                </a:solidFill>
                <a:latin typeface="JetBrains Mono" pitchFamily="49" charset="0"/>
                <a:ea typeface="JetBrains Mono" pitchFamily="49" charset="-122"/>
                <a:cs typeface="JetBrains Mono" pitchFamily="49" charset="-120"/>
              </a:rPr>
              <a:t>0.624</a:t>
            </a:r>
            <a:endParaRPr lang="en-US" sz="3600" dirty="0"/>
          </a:p>
        </p:txBody>
      </p:sp>
      <p:sp>
        <p:nvSpPr>
          <p:cNvPr id="7" name="Text 5"/>
          <p:cNvSpPr/>
          <p:nvPr/>
        </p:nvSpPr>
        <p:spPr>
          <a:xfrm>
            <a:off x="1047750" y="2614861"/>
            <a:ext cx="3004236" cy="482600"/>
          </a:xfrm>
          <a:prstGeom prst="rect">
            <a:avLst/>
          </a:prstGeom>
          <a:noFill/>
          <a:ln/>
        </p:spPr>
        <p:txBody>
          <a:bodyPr wrap="square" lIns="0" tIns="0" rIns="0" bIns="0" rtlCol="0" anchor="t">
            <a:normAutofit/>
          </a:bodyPr>
          <a:lstStyle/>
          <a:p>
            <a:pPr marL="0" indent="0" algn="l">
              <a:lnSpc>
                <a:spcPts val="1800"/>
              </a:lnSpc>
              <a:buNone/>
            </a:pPr>
            <a:r>
              <a:rPr lang="en-US" sz="1600" dirty="0">
                <a:solidFill>
                  <a:srgbClr val="44505E"/>
                </a:solidFill>
                <a:latin typeface="JetBrains Mono" pitchFamily="49" charset="0"/>
                <a:ea typeface="JetBrains Mono" pitchFamily="49" charset="-122"/>
                <a:cs typeface="JetBrains Mono" pitchFamily="49" charset="-120"/>
              </a:rPr>
              <a:t>(C↑ − C↓)/(S↑ − S↓)</a:t>
            </a:r>
            <a:endParaRPr lang="en-US" sz="1600" dirty="0"/>
          </a:p>
          <a:p>
            <a:pPr marL="0" indent="0" algn="l">
              <a:lnSpc>
                <a:spcPts val="1800"/>
              </a:lnSpc>
              <a:buNone/>
            </a:pPr>
            <a:r>
              <a:rPr lang="en-US" sz="1600" dirty="0">
                <a:solidFill>
                  <a:srgbClr val="44505E"/>
                </a:solidFill>
                <a:latin typeface="JetBrains Mono" pitchFamily="49" charset="0"/>
                <a:ea typeface="JetBrains Mono" pitchFamily="49" charset="-122"/>
                <a:cs typeface="JetBrains Mono" pitchFamily="49" charset="-120"/>
              </a:rPr>
              <a:t>= (15.56 − 3.08)/20</a:t>
            </a:r>
            <a:endParaRPr lang="en-US" sz="1600" dirty="0"/>
          </a:p>
        </p:txBody>
      </p:sp>
      <p:sp>
        <p:nvSpPr>
          <p:cNvPr id="8" name="Text 6"/>
          <p:cNvSpPr/>
          <p:nvPr/>
        </p:nvSpPr>
        <p:spPr>
          <a:xfrm>
            <a:off x="1047750" y="3160961"/>
            <a:ext cx="3004236" cy="256530"/>
          </a:xfrm>
          <a:prstGeom prst="rect">
            <a:avLst/>
          </a:prstGeom>
          <a:noFill/>
          <a:ln/>
        </p:spPr>
        <p:txBody>
          <a:bodyPr wrap="square" lIns="0" tIns="0" rIns="0" bIns="0" rtlCol="0" anchor="t">
            <a:normAutofit/>
          </a:bodyPr>
          <a:lstStyle/>
          <a:p>
            <a:pPr marL="0" indent="0" algn="l">
              <a:lnSpc>
                <a:spcPts val="1820"/>
              </a:lnSpc>
              <a:buNone/>
            </a:pPr>
            <a:r>
              <a:rPr lang="en-US" sz="1600" dirty="0">
                <a:solidFill>
                  <a:srgbClr val="44505E"/>
                </a:solidFill>
                <a:latin typeface="IBM Plex Sans" pitchFamily="34" charset="0"/>
                <a:ea typeface="IBM Plex Sans" pitchFamily="34" charset="-122"/>
                <a:cs typeface="IBM Plex Sans" pitchFamily="34" charset="-120"/>
              </a:rPr>
              <a:t>Slope across the t = 1 nodes</a:t>
            </a:r>
            <a:endParaRPr lang="en-US" sz="1600" dirty="0"/>
          </a:p>
        </p:txBody>
      </p:sp>
      <p:sp>
        <p:nvSpPr>
          <p:cNvPr id="9" name="Shape 7"/>
          <p:cNvSpPr/>
          <p:nvPr/>
        </p:nvSpPr>
        <p:spPr>
          <a:xfrm>
            <a:off x="4405809" y="1489075"/>
            <a:ext cx="3380333" cy="2134791"/>
          </a:xfrm>
          <a:prstGeom prst="roundRect">
            <a:avLst>
              <a:gd name="adj" fmla="val 4611"/>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0" name="Text 8"/>
          <p:cNvSpPr/>
          <p:nvPr/>
        </p:nvSpPr>
        <p:spPr>
          <a:xfrm>
            <a:off x="4637584" y="1720850"/>
            <a:ext cx="3004287" cy="238720"/>
          </a:xfrm>
          <a:prstGeom prst="rect">
            <a:avLst/>
          </a:prstGeom>
          <a:noFill/>
          <a:ln/>
        </p:spPr>
        <p:txBody>
          <a:bodyPr wrap="square" lIns="0" tIns="0" rIns="0" bIns="0" rtlCol="0" anchor="t">
            <a:normAutofit/>
          </a:bodyPr>
          <a:lstStyle/>
          <a:p>
            <a:pPr marL="0" indent="0" algn="l">
              <a:lnSpc>
                <a:spcPts val="1680"/>
              </a:lnSpc>
              <a:buNone/>
            </a:pPr>
            <a:r>
              <a:rPr lang="en-US" b="1" kern="0" spc="150" dirty="0">
                <a:solidFill>
                  <a:srgbClr val="2B65C8"/>
                </a:solidFill>
                <a:latin typeface="IBM Plex Sans" pitchFamily="34" charset="0"/>
                <a:ea typeface="IBM Plex Sans" pitchFamily="34" charset="-122"/>
                <a:cs typeface="IBM Plex Sans" pitchFamily="34" charset="-120"/>
              </a:rPr>
              <a:t>GAMMA · ∂²V/∂S²</a:t>
            </a:r>
            <a:endParaRPr lang="en-US" dirty="0"/>
          </a:p>
        </p:txBody>
      </p:sp>
      <p:sp>
        <p:nvSpPr>
          <p:cNvPr id="11" name="Text 9"/>
          <p:cNvSpPr/>
          <p:nvPr/>
        </p:nvSpPr>
        <p:spPr>
          <a:xfrm>
            <a:off x="4637584" y="2023070"/>
            <a:ext cx="3004287"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202E"/>
                </a:solidFill>
                <a:latin typeface="JetBrains Mono" pitchFamily="49" charset="0"/>
                <a:ea typeface="JetBrains Mono" pitchFamily="49" charset="-122"/>
                <a:cs typeface="JetBrains Mono" pitchFamily="49" charset="-120"/>
              </a:rPr>
              <a:t>0.026</a:t>
            </a:r>
            <a:endParaRPr lang="en-US" sz="3600" dirty="0"/>
          </a:p>
        </p:txBody>
      </p:sp>
      <p:sp>
        <p:nvSpPr>
          <p:cNvPr id="12" name="Text 10"/>
          <p:cNvSpPr/>
          <p:nvPr/>
        </p:nvSpPr>
        <p:spPr>
          <a:xfrm>
            <a:off x="4637584" y="2614861"/>
            <a:ext cx="3004287" cy="482600"/>
          </a:xfrm>
          <a:prstGeom prst="rect">
            <a:avLst/>
          </a:prstGeom>
          <a:noFill/>
          <a:ln/>
        </p:spPr>
        <p:txBody>
          <a:bodyPr wrap="square" lIns="0" tIns="0" rIns="0" bIns="0" rtlCol="0" anchor="t">
            <a:normAutofit/>
          </a:bodyPr>
          <a:lstStyle/>
          <a:p>
            <a:pPr marL="0" indent="0" algn="l">
              <a:lnSpc>
                <a:spcPts val="1800"/>
              </a:lnSpc>
              <a:buNone/>
            </a:pPr>
            <a:r>
              <a:rPr lang="en-US" sz="1600" dirty="0">
                <a:solidFill>
                  <a:srgbClr val="44505E"/>
                </a:solidFill>
                <a:latin typeface="JetBrains Mono" pitchFamily="49" charset="0"/>
                <a:ea typeface="JetBrains Mono" pitchFamily="49" charset="-122"/>
                <a:cs typeface="JetBrains Mono" pitchFamily="49" charset="-120"/>
              </a:rPr>
              <a:t>(Δ↑ − Δ↓)/((S↑↑ − S↓↓)/2)</a:t>
            </a:r>
            <a:endParaRPr lang="en-US" sz="1600" dirty="0"/>
          </a:p>
          <a:p>
            <a:pPr marL="0" indent="0" algn="l">
              <a:lnSpc>
                <a:spcPts val="1800"/>
              </a:lnSpc>
              <a:buNone/>
            </a:pPr>
            <a:r>
              <a:rPr lang="en-US" sz="1600" dirty="0">
                <a:solidFill>
                  <a:srgbClr val="44505E"/>
                </a:solidFill>
                <a:latin typeface="JetBrains Mono" pitchFamily="49" charset="0"/>
                <a:ea typeface="JetBrains Mono" pitchFamily="49" charset="-122"/>
                <a:cs typeface="JetBrains Mono" pitchFamily="49" charset="-120"/>
              </a:rPr>
              <a:t>= (0.806 − 0.291)/20</a:t>
            </a:r>
            <a:endParaRPr lang="en-US" sz="1600" dirty="0"/>
          </a:p>
        </p:txBody>
      </p:sp>
      <p:sp>
        <p:nvSpPr>
          <p:cNvPr id="13" name="Text 11"/>
          <p:cNvSpPr/>
          <p:nvPr/>
        </p:nvSpPr>
        <p:spPr>
          <a:xfrm>
            <a:off x="4637584" y="3160961"/>
            <a:ext cx="3004287" cy="256530"/>
          </a:xfrm>
          <a:prstGeom prst="rect">
            <a:avLst/>
          </a:prstGeom>
          <a:noFill/>
          <a:ln/>
        </p:spPr>
        <p:txBody>
          <a:bodyPr wrap="square" lIns="0" tIns="0" rIns="0" bIns="0" rtlCol="0" anchor="t">
            <a:normAutofit/>
          </a:bodyPr>
          <a:lstStyle/>
          <a:p>
            <a:pPr marL="0" indent="0" algn="l">
              <a:lnSpc>
                <a:spcPts val="1820"/>
              </a:lnSpc>
              <a:buNone/>
            </a:pPr>
            <a:r>
              <a:rPr lang="en-US" sz="1600" dirty="0">
                <a:solidFill>
                  <a:srgbClr val="44505E"/>
                </a:solidFill>
                <a:latin typeface="IBM Plex Sans" pitchFamily="34" charset="0"/>
                <a:ea typeface="IBM Plex Sans" pitchFamily="34" charset="-122"/>
                <a:cs typeface="IBM Plex Sans" pitchFamily="34" charset="-120"/>
              </a:rPr>
              <a:t>Change in slope across t = 2</a:t>
            </a:r>
            <a:endParaRPr lang="en-US" sz="1600" dirty="0"/>
          </a:p>
        </p:txBody>
      </p:sp>
      <p:sp>
        <p:nvSpPr>
          <p:cNvPr id="14" name="Shape 12"/>
          <p:cNvSpPr/>
          <p:nvPr/>
        </p:nvSpPr>
        <p:spPr>
          <a:xfrm>
            <a:off x="7995692" y="1489075"/>
            <a:ext cx="3380333" cy="2134791"/>
          </a:xfrm>
          <a:prstGeom prst="roundRect">
            <a:avLst>
              <a:gd name="adj" fmla="val 4611"/>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5" name="Text 13"/>
          <p:cNvSpPr/>
          <p:nvPr/>
        </p:nvSpPr>
        <p:spPr>
          <a:xfrm>
            <a:off x="8227467" y="1720850"/>
            <a:ext cx="3004287" cy="238720"/>
          </a:xfrm>
          <a:prstGeom prst="rect">
            <a:avLst/>
          </a:prstGeom>
          <a:noFill/>
          <a:ln/>
        </p:spPr>
        <p:txBody>
          <a:bodyPr wrap="square" lIns="0" tIns="0" rIns="0" bIns="0" rtlCol="0" anchor="t">
            <a:normAutofit/>
          </a:bodyPr>
          <a:lstStyle/>
          <a:p>
            <a:pPr marL="0" indent="0" algn="l">
              <a:lnSpc>
                <a:spcPts val="1680"/>
              </a:lnSpc>
              <a:buNone/>
            </a:pPr>
            <a:r>
              <a:rPr lang="en-US" b="1" kern="0" spc="150" dirty="0">
                <a:solidFill>
                  <a:srgbClr val="2B65C8"/>
                </a:solidFill>
                <a:latin typeface="IBM Plex Sans" pitchFamily="34" charset="0"/>
                <a:ea typeface="IBM Plex Sans" pitchFamily="34" charset="-122"/>
                <a:cs typeface="IBM Plex Sans" pitchFamily="34" charset="-120"/>
              </a:rPr>
              <a:t>THETA · ∂V/∂T</a:t>
            </a:r>
            <a:endParaRPr lang="en-US" dirty="0"/>
          </a:p>
        </p:txBody>
      </p:sp>
      <p:sp>
        <p:nvSpPr>
          <p:cNvPr id="16" name="Text 14"/>
          <p:cNvSpPr/>
          <p:nvPr/>
        </p:nvSpPr>
        <p:spPr>
          <a:xfrm>
            <a:off x="8227467" y="2023070"/>
            <a:ext cx="3004287"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202E"/>
                </a:solidFill>
                <a:latin typeface="JetBrains Mono" pitchFamily="49" charset="0"/>
                <a:ea typeface="JetBrains Mono" pitchFamily="49" charset="-122"/>
                <a:cs typeface="JetBrains Mono" pitchFamily="49" charset="-120"/>
              </a:rPr>
              <a:t>−2.56</a:t>
            </a:r>
            <a:endParaRPr lang="en-US" sz="3600" dirty="0"/>
          </a:p>
        </p:txBody>
      </p:sp>
      <p:sp>
        <p:nvSpPr>
          <p:cNvPr id="17" name="Text 15"/>
          <p:cNvSpPr/>
          <p:nvPr/>
        </p:nvSpPr>
        <p:spPr>
          <a:xfrm>
            <a:off x="8227467" y="2614861"/>
            <a:ext cx="3004287" cy="482600"/>
          </a:xfrm>
          <a:prstGeom prst="rect">
            <a:avLst/>
          </a:prstGeom>
          <a:noFill/>
          <a:ln/>
        </p:spPr>
        <p:txBody>
          <a:bodyPr wrap="square" lIns="0" tIns="0" rIns="0" bIns="0" rtlCol="0" anchor="t">
            <a:normAutofit/>
          </a:bodyPr>
          <a:lstStyle/>
          <a:p>
            <a:pPr marL="0" indent="0" algn="l">
              <a:lnSpc>
                <a:spcPts val="1800"/>
              </a:lnSpc>
              <a:buNone/>
            </a:pPr>
            <a:r>
              <a:rPr lang="en-US" sz="1600" dirty="0">
                <a:solidFill>
                  <a:srgbClr val="44505E"/>
                </a:solidFill>
                <a:latin typeface="JetBrains Mono" pitchFamily="49" charset="0"/>
                <a:ea typeface="JetBrains Mono" pitchFamily="49" charset="-122"/>
                <a:cs typeface="JetBrains Mono" pitchFamily="49" charset="-120"/>
              </a:rPr>
              <a:t>(C(ud) − C₀)/(2 steps)</a:t>
            </a:r>
            <a:endParaRPr lang="en-US" sz="1600" dirty="0"/>
          </a:p>
          <a:p>
            <a:pPr marL="0" indent="0" algn="l">
              <a:lnSpc>
                <a:spcPts val="1800"/>
              </a:lnSpc>
              <a:buNone/>
            </a:pPr>
            <a:r>
              <a:rPr lang="en-US" sz="1600" dirty="0">
                <a:solidFill>
                  <a:srgbClr val="44505E"/>
                </a:solidFill>
                <a:latin typeface="JetBrains Mono" pitchFamily="49" charset="0"/>
                <a:ea typeface="JetBrains Mono" pitchFamily="49" charset="-122"/>
                <a:cs typeface="JetBrains Mono" pitchFamily="49" charset="-120"/>
              </a:rPr>
              <a:t>= (5.24 − 10.36)/2</a:t>
            </a:r>
            <a:endParaRPr lang="en-US" sz="1600" dirty="0"/>
          </a:p>
        </p:txBody>
      </p:sp>
      <p:sp>
        <p:nvSpPr>
          <p:cNvPr id="18" name="Text 16"/>
          <p:cNvSpPr/>
          <p:nvPr/>
        </p:nvSpPr>
        <p:spPr>
          <a:xfrm>
            <a:off x="8227467" y="3160961"/>
            <a:ext cx="3004287" cy="256530"/>
          </a:xfrm>
          <a:prstGeom prst="rect">
            <a:avLst/>
          </a:prstGeom>
          <a:noFill/>
          <a:ln/>
        </p:spPr>
        <p:txBody>
          <a:bodyPr wrap="square" lIns="0" tIns="0" rIns="0" bIns="0" rtlCol="0" anchor="t">
            <a:normAutofit/>
          </a:bodyPr>
          <a:lstStyle/>
          <a:p>
            <a:pPr marL="0" indent="0" algn="l">
              <a:lnSpc>
                <a:spcPts val="1820"/>
              </a:lnSpc>
              <a:buNone/>
            </a:pPr>
            <a:r>
              <a:rPr lang="en-US" sz="1600" dirty="0">
                <a:solidFill>
                  <a:srgbClr val="44505E"/>
                </a:solidFill>
                <a:latin typeface="IBM Plex Sans" pitchFamily="34" charset="0"/>
                <a:ea typeface="IBM Plex Sans" pitchFamily="34" charset="-122"/>
                <a:cs typeface="IBM Plex Sans" pitchFamily="34" charset="-120"/>
              </a:rPr>
              <a:t>Per step; exact when d = 1/u</a:t>
            </a:r>
            <a:endParaRPr lang="en-US" sz="1600" dirty="0"/>
          </a:p>
        </p:txBody>
      </p:sp>
      <p:sp>
        <p:nvSpPr>
          <p:cNvPr id="19" name="Shape 17"/>
          <p:cNvSpPr/>
          <p:nvPr/>
        </p:nvSpPr>
        <p:spPr>
          <a:xfrm>
            <a:off x="812800" y="3881041"/>
            <a:ext cx="10566400" cy="609600"/>
          </a:xfrm>
          <a:prstGeom prst="roundRect">
            <a:avLst>
              <a:gd name="adj" fmla="val 16667"/>
            </a:avLst>
          </a:prstGeom>
          <a:solidFill>
            <a:srgbClr val="ECE8DC"/>
          </a:solidFill>
          <a:ln/>
          <a:effectLst>
            <a:outerShdw blurRad="50800" dist="38100" dir="2700000" algn="tl" rotWithShape="0">
              <a:prstClr val="black">
                <a:alpha val="40000"/>
              </a:prstClr>
            </a:outerShdw>
          </a:effectLst>
        </p:spPr>
        <p:txBody>
          <a:bodyPr/>
          <a:lstStyle/>
          <a:p>
            <a:endParaRPr lang="en-SE"/>
          </a:p>
        </p:txBody>
      </p:sp>
      <p:pic>
        <p:nvPicPr>
          <p:cNvPr id="20" name="Image 0" descr="Settings"/>
          <p:cNvPicPr>
            <a:picLocks noChangeAspect="1"/>
          </p:cNvPicPr>
          <p:nvPr/>
        </p:nvPicPr>
        <p:blipFill>
          <a:blip r:embed="rId3"/>
          <a:srcRect/>
          <a:stretch/>
        </p:blipFill>
        <p:spPr>
          <a:xfrm>
            <a:off x="1041400" y="4033441"/>
            <a:ext cx="304800" cy="304800"/>
          </a:xfrm>
          <a:prstGeom prst="rect">
            <a:avLst/>
          </a:prstGeom>
        </p:spPr>
      </p:pic>
      <p:sp>
        <p:nvSpPr>
          <p:cNvPr id="21" name="Text 18"/>
          <p:cNvSpPr/>
          <p:nvPr/>
        </p:nvSpPr>
        <p:spPr>
          <a:xfrm>
            <a:off x="1498600" y="4061371"/>
            <a:ext cx="793855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Vega and rho</a:t>
            </a:r>
            <a:r>
              <a:rPr lang="en-US" sz="1400" dirty="0">
                <a:solidFill>
                  <a:srgbClr val="14202E"/>
                </a:solidFill>
                <a:latin typeface="IBM Plex Sans" pitchFamily="34" charset="0"/>
                <a:ea typeface="IBM Plex Sans" pitchFamily="34" charset="-122"/>
                <a:cs typeface="IBM Plex Sans" pitchFamily="34" charset="-120"/>
              </a:rPr>
              <a:t> aren’t on the tree: bump σ or r, rebuild, and difference the two prices.</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0">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04 · USING THE LATTICE · GREEKS 7 OF 7</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Putting it together: the Greeks explain the P&amp;L</a:t>
            </a:r>
            <a:endParaRPr lang="en-US" sz="3000" dirty="0"/>
          </a:p>
        </p:txBody>
      </p:sp>
      <p:sp>
        <p:nvSpPr>
          <p:cNvPr id="4" name="Text 2"/>
          <p:cNvSpPr/>
          <p:nvPr/>
        </p:nvSpPr>
        <p:spPr>
          <a:xfrm>
            <a:off x="812800" y="1435100"/>
            <a:ext cx="10566400" cy="624830"/>
          </a:xfrm>
          <a:prstGeom prst="roundRect">
            <a:avLst>
              <a:gd name="adj" fmla="val 16260"/>
            </a:avLst>
          </a:prstGeom>
          <a:solidFill>
            <a:srgbClr val="14202E"/>
          </a:solidFill>
          <a:ln/>
        </p:spPr>
        <p:txBody>
          <a:bodyPr wrap="square" lIns="47204" tIns="122642" rIns="47204" bIns="97242" rtlCol="0" anchor="t">
            <a:normAutofit/>
          </a:bodyPr>
          <a:lstStyle/>
          <a:p>
            <a:pPr marL="0" indent="0" algn="ctr">
              <a:lnSpc>
                <a:spcPts val="2520"/>
              </a:lnSpc>
              <a:buNone/>
            </a:pPr>
            <a:r>
              <a:rPr lang="en-US" sz="2400" dirty="0">
                <a:solidFill>
                  <a:srgbClr val="F5F3EC"/>
                </a:solidFill>
                <a:latin typeface="JetBrains Mono" pitchFamily="49" charset="0"/>
                <a:ea typeface="JetBrains Mono" pitchFamily="49" charset="-122"/>
                <a:cs typeface="JetBrains Mono" pitchFamily="49" charset="-120"/>
              </a:rPr>
              <a:t>change in V ≈ </a:t>
            </a:r>
            <a:r>
              <a:rPr lang="en-US" sz="2400" dirty="0">
                <a:solidFill>
                  <a:srgbClr val="7FA8F0"/>
                </a:solidFill>
                <a:latin typeface="JetBrains Mono" pitchFamily="49" charset="0"/>
                <a:ea typeface="JetBrains Mono" pitchFamily="49" charset="-122"/>
                <a:cs typeface="JetBrains Mono" pitchFamily="49" charset="-120"/>
              </a:rPr>
              <a:t>Δ·dS</a:t>
            </a:r>
            <a:r>
              <a:rPr lang="en-US" sz="2400" dirty="0">
                <a:solidFill>
                  <a:srgbClr val="F5F3EC"/>
                </a:solidFill>
                <a:latin typeface="JetBrains Mono" pitchFamily="49" charset="0"/>
                <a:ea typeface="JetBrains Mono" pitchFamily="49" charset="-122"/>
                <a:cs typeface="JetBrains Mono" pitchFamily="49" charset="-120"/>
              </a:rPr>
              <a:t> + </a:t>
            </a:r>
            <a:r>
              <a:rPr lang="en-US" sz="2400" dirty="0">
                <a:solidFill>
                  <a:srgbClr val="F0A868"/>
                </a:solidFill>
                <a:latin typeface="JetBrains Mono" pitchFamily="49" charset="0"/>
                <a:ea typeface="JetBrains Mono" pitchFamily="49" charset="-122"/>
                <a:cs typeface="JetBrains Mono" pitchFamily="49" charset="-120"/>
              </a:rPr>
              <a:t>½Γ·dS²</a:t>
            </a:r>
            <a:r>
              <a:rPr lang="en-US" sz="2400" dirty="0">
                <a:solidFill>
                  <a:srgbClr val="F5F3EC"/>
                </a:solidFill>
                <a:latin typeface="JetBrains Mono" pitchFamily="49" charset="0"/>
                <a:ea typeface="JetBrains Mono" pitchFamily="49" charset="-122"/>
                <a:cs typeface="JetBrains Mono" pitchFamily="49" charset="-120"/>
              </a:rPr>
              <a:t> + </a:t>
            </a:r>
            <a:r>
              <a:rPr lang="en-US" sz="2400" dirty="0">
                <a:solidFill>
                  <a:srgbClr val="E6E9EE"/>
                </a:solidFill>
                <a:latin typeface="JetBrains Mono" pitchFamily="49" charset="0"/>
                <a:ea typeface="JetBrains Mono" pitchFamily="49" charset="-122"/>
                <a:cs typeface="JetBrains Mono" pitchFamily="49" charset="-120"/>
              </a:rPr>
              <a:t>Θ·dt</a:t>
            </a:r>
            <a:r>
              <a:rPr lang="en-US" sz="2400" dirty="0">
                <a:solidFill>
                  <a:srgbClr val="F5F3EC"/>
                </a:solidFill>
                <a:latin typeface="JetBrains Mono" pitchFamily="49" charset="0"/>
                <a:ea typeface="JetBrains Mono" pitchFamily="49" charset="-122"/>
                <a:cs typeface="JetBrains Mono" pitchFamily="49" charset="-120"/>
              </a:rPr>
              <a:t> + </a:t>
            </a:r>
            <a:r>
              <a:rPr lang="en-US" sz="2400" dirty="0">
                <a:solidFill>
                  <a:srgbClr val="E3A33B"/>
                </a:solidFill>
                <a:latin typeface="JetBrains Mono" pitchFamily="49" charset="0"/>
                <a:ea typeface="JetBrains Mono" pitchFamily="49" charset="-122"/>
                <a:cs typeface="JetBrains Mono" pitchFamily="49" charset="-120"/>
              </a:rPr>
              <a:t>ν·dσ</a:t>
            </a:r>
            <a:r>
              <a:rPr lang="en-US" sz="2400" dirty="0">
                <a:solidFill>
                  <a:srgbClr val="F5F3EC"/>
                </a:solidFill>
                <a:latin typeface="JetBrains Mono" pitchFamily="49" charset="0"/>
                <a:ea typeface="JetBrains Mono" pitchFamily="49" charset="-122"/>
                <a:cs typeface="JetBrains Mono" pitchFamily="49" charset="-120"/>
              </a:rPr>
              <a:t> + ρ·dr</a:t>
            </a:r>
            <a:endParaRPr lang="en-US" sz="2400" dirty="0"/>
          </a:p>
        </p:txBody>
      </p:sp>
      <p:sp>
        <p:nvSpPr>
          <p:cNvPr id="5" name="Text 3"/>
          <p:cNvSpPr/>
          <p:nvPr/>
        </p:nvSpPr>
        <p:spPr>
          <a:xfrm>
            <a:off x="812800" y="2263130"/>
            <a:ext cx="10883392" cy="283170"/>
          </a:xfrm>
          <a:prstGeom prst="rect">
            <a:avLst/>
          </a:prstGeom>
          <a:noFill/>
          <a:ln/>
        </p:spPr>
        <p:txBody>
          <a:bodyPr wrap="square" lIns="0" tIns="0" rIns="0" bIns="0" rtlCol="0" anchor="t">
            <a:normAutofit/>
          </a:bodyPr>
          <a:lstStyle/>
          <a:p>
            <a:pPr marL="0" indent="0" algn="l">
              <a:lnSpc>
                <a:spcPts val="2030"/>
              </a:lnSpc>
              <a:buNone/>
            </a:pPr>
            <a:r>
              <a:rPr lang="en-US" sz="1600" dirty="0">
                <a:solidFill>
                  <a:srgbClr val="44505E"/>
                </a:solidFill>
                <a:latin typeface="IBM Plex Sans" pitchFamily="34" charset="0"/>
                <a:ea typeface="IBM Plex Sans" pitchFamily="34" charset="-122"/>
                <a:cs typeface="IBM Plex Sans" pitchFamily="34" charset="-120"/>
              </a:rPr>
              <a:t>A Taylor expansion. Example: one day passes and the stock moves 100 → 102.</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898422058"/>
              </p:ext>
            </p:extLst>
          </p:nvPr>
        </p:nvGraphicFramePr>
        <p:xfrm>
          <a:off x="825500" y="2736800"/>
          <a:ext cx="10553700" cy="2316066"/>
        </p:xfrm>
        <a:graphic>
          <a:graphicData uri="http://schemas.openxmlformats.org/drawingml/2006/table">
            <a:tbl>
              <a:tblPr/>
              <a:tblGrid>
                <a:gridCol w="3166110">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386011">
                <a:tc>
                  <a:txBody>
                    <a:bodyPr/>
                    <a:lstStyle/>
                    <a:p>
                      <a:pPr marL="0" indent="0">
                        <a:lnSpc>
                          <a:spcPts val="1960"/>
                        </a:lnSpc>
                        <a:buNone/>
                      </a:pPr>
                      <a:r>
                        <a:rPr lang="en-US" sz="1800" b="1" dirty="0">
                          <a:solidFill>
                            <a:srgbClr val="14202E"/>
                          </a:solidFill>
                          <a:latin typeface="IBM Plex Sans" pitchFamily="34" charset="0"/>
                          <a:ea typeface="IBM Plex Sans" pitchFamily="34" charset="-122"/>
                          <a:cs typeface="IBM Plex Sans" pitchFamily="34" charset="-120"/>
                        </a:rPr>
                        <a:t>Term</a:t>
                      </a:r>
                      <a:endParaRPr lang="en-US" sz="18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960"/>
                        </a:lnSpc>
                        <a:buNone/>
                      </a:pPr>
                      <a:r>
                        <a:rPr lang="en-US" sz="1800" b="1" dirty="0">
                          <a:solidFill>
                            <a:srgbClr val="14202E"/>
                          </a:solidFill>
                          <a:latin typeface="IBM Plex Sans" pitchFamily="34" charset="0"/>
                          <a:ea typeface="IBM Plex Sans" pitchFamily="34" charset="-122"/>
                          <a:cs typeface="IBM Plex Sans" pitchFamily="34" charset="-120"/>
                        </a:rPr>
                        <a:t>Calculation</a:t>
                      </a:r>
                      <a:endParaRPr lang="en-US" sz="1800" dirty="0">
                        <a:latin typeface="IBM Plex Sans" charset="0"/>
                        <a:ea typeface="IBM Plex Sans" charset="0"/>
                        <a:cs typeface="IBM Plex Sans"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gn="r">
                        <a:lnSpc>
                          <a:spcPts val="1960"/>
                        </a:lnSpc>
                        <a:buNone/>
                      </a:pPr>
                      <a:r>
                        <a:rPr lang="en-US" sz="1800" b="1" dirty="0">
                          <a:solidFill>
                            <a:srgbClr val="14202E"/>
                          </a:solidFill>
                          <a:latin typeface="IBM Plex Sans" pitchFamily="34" charset="0"/>
                          <a:ea typeface="IBM Plex Sans" pitchFamily="34" charset="-122"/>
                          <a:cs typeface="IBM Plex Sans" pitchFamily="34" charset="-120"/>
                        </a:rPr>
                        <a:t>Contribution</a:t>
                      </a:r>
                      <a:endParaRPr lang="en-US" sz="1800" dirty="0">
                        <a:latin typeface="IBM Plex Sans" charset="0"/>
                        <a:ea typeface="IBM Plex Sans" charset="0"/>
                        <a:cs typeface="IBM Plex Sans"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800" dirty="0">
                          <a:solidFill>
                            <a:srgbClr val="2B65C8"/>
                          </a:solidFill>
                          <a:latin typeface="IBM Plex Sans" pitchFamily="34" charset="0"/>
                          <a:ea typeface="IBM Plex Sans" pitchFamily="34" charset="-122"/>
                          <a:cs typeface="IBM Plex Sans" pitchFamily="34" charset="-120"/>
                        </a:rPr>
                        <a:t>Delta</a:t>
                      </a:r>
                      <a:endParaRPr lang="en-US" sz="18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800" dirty="0">
                          <a:solidFill>
                            <a:srgbClr val="14202E"/>
                          </a:solidFill>
                          <a:latin typeface="IBM Plex Sans" pitchFamily="34" charset="0"/>
                          <a:ea typeface="IBM Plex Sans" pitchFamily="34" charset="-122"/>
                          <a:cs typeface="IBM Plex Sans" pitchFamily="34" charset="-120"/>
                        </a:rPr>
                        <a:t>0.637 × 2</a:t>
                      </a:r>
                      <a:endParaRPr lang="en-US" sz="18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960"/>
                        </a:lnSpc>
                        <a:buNone/>
                      </a:pPr>
                      <a:r>
                        <a:rPr lang="en-US" sz="1800" dirty="0">
                          <a:solidFill>
                            <a:srgbClr val="14202E"/>
                          </a:solidFill>
                          <a:latin typeface="IBM Plex Sans" pitchFamily="34" charset="0"/>
                          <a:ea typeface="IBM Plex Sans" pitchFamily="34" charset="-122"/>
                          <a:cs typeface="IBM Plex Sans" pitchFamily="34" charset="-120"/>
                        </a:rPr>
                        <a:t>+1.274</a:t>
                      </a:r>
                      <a:endParaRPr lang="en-US" sz="18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800" dirty="0">
                          <a:solidFill>
                            <a:srgbClr val="A9520F"/>
                          </a:solidFill>
                          <a:latin typeface="IBM Plex Sans" pitchFamily="34" charset="0"/>
                          <a:ea typeface="IBM Plex Sans" pitchFamily="34" charset="-122"/>
                          <a:cs typeface="IBM Plex Sans" pitchFamily="34" charset="-120"/>
                        </a:rPr>
                        <a:t>Gamma</a:t>
                      </a:r>
                      <a:endParaRPr lang="en-US" sz="18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960"/>
                        </a:lnSpc>
                        <a:buNone/>
                      </a:pPr>
                      <a:r>
                        <a:rPr lang="en-US" sz="1800" dirty="0">
                          <a:solidFill>
                            <a:srgbClr val="14202E"/>
                          </a:solidFill>
                          <a:latin typeface="IBM Plex Sans" pitchFamily="34" charset="0"/>
                          <a:ea typeface="IBM Plex Sans" pitchFamily="34" charset="-122"/>
                          <a:cs typeface="IBM Plex Sans" pitchFamily="34" charset="-120"/>
                        </a:rPr>
                        <a:t>½ × 0.0188 × 2²</a:t>
                      </a:r>
                      <a:endParaRPr lang="en-US" sz="18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gn="r">
                        <a:lnSpc>
                          <a:spcPts val="1960"/>
                        </a:lnSpc>
                        <a:buNone/>
                      </a:pPr>
                      <a:r>
                        <a:rPr lang="en-US" sz="1800" dirty="0">
                          <a:solidFill>
                            <a:srgbClr val="14202E"/>
                          </a:solidFill>
                          <a:latin typeface="IBM Plex Sans" pitchFamily="34" charset="0"/>
                          <a:ea typeface="IBM Plex Sans" pitchFamily="34" charset="-122"/>
                          <a:cs typeface="IBM Plex Sans" pitchFamily="34" charset="-120"/>
                        </a:rPr>
                        <a:t>+0.038</a:t>
                      </a:r>
                      <a:endParaRPr lang="en-US" sz="1800" dirty="0">
                        <a:latin typeface="IBM Plex Sans" charset="0"/>
                        <a:ea typeface="IBM Plex Sans" charset="0"/>
                        <a:cs typeface="IBM Plex Sans" charset="0"/>
                      </a:endParaRPr>
                    </a:p>
                  </a:txBody>
                  <a:tcPr marL="62230" marR="62230" marT="62230" marB="62230">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2"/>
                  </a:ext>
                </a:extLst>
              </a:tr>
              <a:tr h="386011">
                <a:tc>
                  <a:txBody>
                    <a:bodyPr/>
                    <a:lstStyle/>
                    <a:p>
                      <a:pPr marL="0" indent="0">
                        <a:lnSpc>
                          <a:spcPts val="1960"/>
                        </a:lnSpc>
                        <a:buNone/>
                      </a:pPr>
                      <a:r>
                        <a:rPr lang="en-US" sz="1800" dirty="0">
                          <a:solidFill>
                            <a:srgbClr val="14202E"/>
                          </a:solidFill>
                          <a:latin typeface="IBM Plex Sans" pitchFamily="34" charset="0"/>
                          <a:ea typeface="IBM Plex Sans" pitchFamily="34" charset="-122"/>
                          <a:cs typeface="IBM Plex Sans" pitchFamily="34" charset="-120"/>
                        </a:rPr>
                        <a:t>Theta</a:t>
                      </a:r>
                      <a:endParaRPr lang="en-US" sz="18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800" dirty="0">
                          <a:solidFill>
                            <a:srgbClr val="14202E"/>
                          </a:solidFill>
                          <a:latin typeface="IBM Plex Sans" pitchFamily="34" charset="0"/>
                          <a:ea typeface="IBM Plex Sans" pitchFamily="34" charset="-122"/>
                          <a:cs typeface="IBM Plex Sans" pitchFamily="34" charset="-120"/>
                        </a:rPr>
                        <a:t>−6.41 × 1/365</a:t>
                      </a:r>
                      <a:endParaRPr lang="en-US" sz="18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960"/>
                        </a:lnSpc>
                        <a:buNone/>
                      </a:pPr>
                      <a:r>
                        <a:rPr lang="en-US" sz="1800" dirty="0">
                          <a:solidFill>
                            <a:srgbClr val="14202E"/>
                          </a:solidFill>
                          <a:latin typeface="IBM Plex Sans" pitchFamily="34" charset="0"/>
                          <a:ea typeface="IBM Plex Sans" pitchFamily="34" charset="-122"/>
                          <a:cs typeface="IBM Plex Sans" pitchFamily="34" charset="-120"/>
                        </a:rPr>
                        <a:t>−0.018</a:t>
                      </a:r>
                      <a:endParaRPr lang="en-US" sz="18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800" dirty="0">
                          <a:solidFill>
                            <a:srgbClr val="14202E"/>
                          </a:solidFill>
                          <a:latin typeface="IBM Plex Sans" pitchFamily="34" charset="0"/>
                          <a:ea typeface="IBM Plex Sans" pitchFamily="34" charset="-122"/>
                          <a:cs typeface="IBM Plex Sans" pitchFamily="34" charset="-120"/>
                        </a:rPr>
                        <a:t>Greeks’ estimate</a:t>
                      </a:r>
                      <a:endParaRPr lang="en-US" sz="18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8BEC8"/>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8BEC8"/>
                      </a:solidFill>
                      <a:prstDash val="solid"/>
                      <a:round/>
                      <a:headEnd type="none" w="med" len="med"/>
                      <a:tailEnd type="none" w="med" len="med"/>
                    </a:lnB>
                    <a:solidFill>
                      <a:srgbClr val="E6EEFB"/>
                    </a:solidFill>
                  </a:tcPr>
                </a:tc>
                <a:tc>
                  <a:txBody>
                    <a:bodyPr/>
                    <a:lstStyle/>
                    <a:p>
                      <a:pPr marL="0" indent="0">
                        <a:lnSpc>
                          <a:spcPts val="1960"/>
                        </a:lnSpc>
                        <a:buNone/>
                      </a:pPr>
                      <a:endParaRPr lang="en-US" sz="1800" dirty="0">
                        <a:latin typeface="IBM Plex Sans" charset="0"/>
                        <a:ea typeface="IBM Plex Sans" charset="0"/>
                        <a:cs typeface="IBM Plex Sans" charset="0"/>
                      </a:endParaRPr>
                    </a:p>
                  </a:txBody>
                  <a:tcPr marL="62230" marR="62230" marT="62230" marB="62230">
                    <a:lnL w="12700" cap="flat" cmpd="sng" algn="ctr">
                      <a:solidFill>
                        <a:srgbClr val="B8BEC8"/>
                      </a:solidFill>
                      <a:prstDash val="solid"/>
                      <a:round/>
                      <a:headEnd type="none" w="med" len="med"/>
                      <a:tailEnd type="none" w="med" len="med"/>
                    </a:lnL>
                    <a:lnR w="12700" cap="flat" cmpd="sng" algn="ctr">
                      <a:solidFill>
                        <a:srgbClr val="B8BEC8"/>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8BEC8"/>
                      </a:solidFill>
                      <a:prstDash val="solid"/>
                      <a:round/>
                      <a:headEnd type="none" w="med" len="med"/>
                      <a:tailEnd type="none" w="med" len="med"/>
                    </a:lnB>
                    <a:solidFill>
                      <a:srgbClr val="E6EEFB"/>
                    </a:solidFill>
                  </a:tcPr>
                </a:tc>
                <a:tc>
                  <a:txBody>
                    <a:bodyPr/>
                    <a:lstStyle/>
                    <a:p>
                      <a:pPr marL="0" indent="0" algn="r">
                        <a:lnSpc>
                          <a:spcPts val="1960"/>
                        </a:lnSpc>
                        <a:buNone/>
                      </a:pPr>
                      <a:r>
                        <a:rPr lang="en-US" sz="1800" dirty="0">
                          <a:solidFill>
                            <a:srgbClr val="14202E"/>
                          </a:solidFill>
                          <a:latin typeface="IBM Plex Sans" pitchFamily="34" charset="0"/>
                          <a:ea typeface="IBM Plex Sans" pitchFamily="34" charset="-122"/>
                          <a:cs typeface="IBM Plex Sans" pitchFamily="34" charset="-120"/>
                        </a:rPr>
                        <a:t>+1.294</a:t>
                      </a:r>
                      <a:endParaRPr lang="en-US" sz="1800" dirty="0">
                        <a:latin typeface="IBM Plex Sans" charset="0"/>
                        <a:ea typeface="IBM Plex Sans" charset="0"/>
                        <a:cs typeface="IBM Plex Sans" charset="0"/>
                      </a:endParaRPr>
                    </a:p>
                  </a:txBody>
                  <a:tcPr marL="62230" marR="62230" marT="62230" marB="62230">
                    <a:lnL w="12700" cap="flat" cmpd="sng" algn="ctr">
                      <a:solidFill>
                        <a:srgbClr val="B8BEC8"/>
                      </a:solidFill>
                      <a:prstDash val="solid"/>
                      <a:round/>
                      <a:headEnd type="none" w="med" len="med"/>
                      <a:tailEnd type="none" w="med" len="med"/>
                    </a:lnL>
                    <a:lnR w="12700" cap="flat" cmpd="sng" algn="ctr">
                      <a:solidFill>
                        <a:srgbClr val="B8BEC8"/>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8BEC8"/>
                      </a:solidFill>
                      <a:prstDash val="solid"/>
                      <a:round/>
                      <a:headEnd type="none" w="med" len="med"/>
                      <a:tailEnd type="none" w="med" len="med"/>
                    </a:lnB>
                    <a:solidFill>
                      <a:srgbClr val="E6EEFB"/>
                    </a:solidFill>
                  </a:tcPr>
                </a:tc>
                <a:extLst>
                  <a:ext uri="{0D108BD9-81ED-4DB2-BD59-A6C34878D82A}">
                    <a16:rowId xmlns:a16="http://schemas.microsoft.com/office/drawing/2014/main" val="10004"/>
                  </a:ext>
                </a:extLst>
              </a:tr>
              <a:tr h="386011">
                <a:tc>
                  <a:txBody>
                    <a:bodyPr/>
                    <a:lstStyle/>
                    <a:p>
                      <a:pPr marL="0" indent="0">
                        <a:lnSpc>
                          <a:spcPts val="1960"/>
                        </a:lnSpc>
                        <a:buNone/>
                      </a:pPr>
                      <a:r>
                        <a:rPr lang="en-US" sz="1800" dirty="0">
                          <a:solidFill>
                            <a:srgbClr val="14202E"/>
                          </a:solidFill>
                          <a:latin typeface="IBM Plex Sans" pitchFamily="34" charset="0"/>
                          <a:ea typeface="IBM Plex Sans" pitchFamily="34" charset="-122"/>
                          <a:cs typeface="IBM Plex Sans" pitchFamily="34" charset="-120"/>
                        </a:rPr>
                        <a:t>Full repricing</a:t>
                      </a:r>
                      <a:endParaRPr lang="en-US" sz="18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8BEC8"/>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endParaRPr lang="en-US" sz="18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8BEC8"/>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960"/>
                        </a:lnSpc>
                        <a:buNone/>
                      </a:pPr>
                      <a:r>
                        <a:rPr lang="en-US" sz="1800" dirty="0">
                          <a:solidFill>
                            <a:srgbClr val="14202E"/>
                          </a:solidFill>
                          <a:latin typeface="IBM Plex Sans" pitchFamily="34" charset="0"/>
                          <a:ea typeface="IBM Plex Sans" pitchFamily="34" charset="-122"/>
                          <a:cs typeface="IBM Plex Sans" pitchFamily="34" charset="-120"/>
                        </a:rPr>
                        <a:t>+1.293</a:t>
                      </a:r>
                      <a:endParaRPr lang="en-US" sz="1800" dirty="0">
                        <a:latin typeface="IBM Plex Sans" charset="0"/>
                        <a:ea typeface="IBM Plex Sans" charset="0"/>
                        <a:cs typeface="IBM Plex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8BEC8"/>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812800" y="5256064"/>
            <a:ext cx="10883392" cy="264765"/>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44505E"/>
                </a:solidFill>
                <a:latin typeface="IBM Plex Sans" pitchFamily="34" charset="0"/>
                <a:ea typeface="IBM Plex Sans" pitchFamily="34" charset="-122"/>
                <a:cs typeface="IBM Plex Sans" pitchFamily="34" charset="-120"/>
              </a:rPr>
              <a:t>Bank risk reports are this table, summed over thousands of positions: </a:t>
            </a:r>
            <a:r>
              <a:rPr lang="en-US" sz="1400" b="1" dirty="0">
                <a:solidFill>
                  <a:srgbClr val="14202E"/>
                </a:solidFill>
                <a:latin typeface="IBM Plex Sans" pitchFamily="34" charset="0"/>
                <a:ea typeface="IBM Plex Sans" pitchFamily="34" charset="-122"/>
                <a:cs typeface="IBM Plex Sans" pitchFamily="34" charset="-120"/>
              </a:rPr>
              <a:t>a linearised model of the portfolio</a:t>
            </a:r>
            <a:r>
              <a:rPr lang="en-US" sz="1400" dirty="0">
                <a:solidFill>
                  <a:srgbClr val="44505E"/>
                </a:solidFill>
                <a:latin typeface="IBM Plex Sans" pitchFamily="34" charset="0"/>
                <a:ea typeface="IBM Plex Sans" pitchFamily="34" charset="-122"/>
                <a:cs typeface="IBM Plex Sans" pitchFamily="34" charset="-120"/>
              </a:rPr>
              <a:t>, refreshed many times a day.</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51">
    <p:bg>
      <p:bgPr>
        <a:solidFill>
          <a:srgbClr val="F5F3EC"/>
        </a:solidFill>
        <a:effectLst/>
      </p:bgPr>
    </p:bg>
    <p:spTree>
      <p:nvGrpSpPr>
        <p:cNvPr id="1" name=""/>
        <p:cNvGrpSpPr/>
        <p:nvPr/>
      </p:nvGrpSpPr>
      <p:grpSpPr>
        <a:xfrm>
          <a:off x="0" y="0"/>
          <a:ext cx="0" cy="0"/>
          <a:chOff x="0" y="0"/>
          <a:chExt cx="0" cy="0"/>
        </a:xfrm>
      </p:grpSpPr>
      <p:pic>
        <p:nvPicPr>
          <p:cNvPr id="2" name="Image 0" descr="American put lattice: backward pass with early exercise at two low nodes"/>
          <p:cNvPicPr>
            <a:picLocks noChangeAspect="1"/>
          </p:cNvPicPr>
          <p:nvPr/>
        </p:nvPicPr>
        <p:blipFill>
          <a:blip r:embed="rId3"/>
          <a:srcRect l="-14" r="-14"/>
          <a:stretch/>
        </p:blipFill>
        <p:spPr>
          <a:xfrm>
            <a:off x="4064000" y="1651000"/>
            <a:ext cx="7315200" cy="4381500"/>
          </a:xfrm>
          <a:prstGeom prst="rect">
            <a:avLst/>
          </a:prstGeom>
        </p:spPr>
      </p:pic>
      <p:sp>
        <p:nvSpPr>
          <p:cNvPr id="3"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9520F"/>
                </a:solidFill>
                <a:latin typeface="IBM Plex Sans" pitchFamily="34" charset="0"/>
                <a:ea typeface="IBM Plex Sans" pitchFamily="34" charset="-122"/>
                <a:cs typeface="IBM Plex Sans" pitchFamily="34" charset="-120"/>
              </a:rPr>
              <a:t>04 · USING THE LATTICE · AMERICAN OPTIONS</a:t>
            </a:r>
            <a:endParaRPr lang="en-US" sz="1200" dirty="0"/>
          </a:p>
        </p:txBody>
      </p:sp>
      <p:sp>
        <p:nvSpPr>
          <p:cNvPr id="4"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American put: exercise or wait, at every node</a:t>
            </a:r>
            <a:endParaRPr lang="en-US" sz="3000" dirty="0"/>
          </a:p>
        </p:txBody>
      </p:sp>
      <p:sp>
        <p:nvSpPr>
          <p:cNvPr id="5" name="Text 2"/>
          <p:cNvSpPr/>
          <p:nvPr/>
        </p:nvSpPr>
        <p:spPr>
          <a:xfrm>
            <a:off x="812800" y="1422400"/>
            <a:ext cx="3139440" cy="504130"/>
          </a:xfrm>
          <a:prstGeom prst="rect">
            <a:avLst/>
          </a:prstGeom>
          <a:noFill/>
          <a:ln/>
        </p:spPr>
        <p:txBody>
          <a:bodyPr wrap="square" lIns="0" tIns="0" rIns="0" bIns="0" rtlCol="0" anchor="t">
            <a:no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The holder may exercise any time. The backward step gains one </a:t>
            </a:r>
            <a:r>
              <a:rPr lang="en-US" sz="1600" b="1" dirty="0">
                <a:solidFill>
                  <a:srgbClr val="14202E"/>
                </a:solidFill>
                <a:latin typeface="IBM Plex Sans" pitchFamily="34" charset="0"/>
                <a:ea typeface="IBM Plex Sans" pitchFamily="34" charset="-122"/>
                <a:cs typeface="IBM Plex Sans" pitchFamily="34" charset="-120"/>
              </a:rPr>
              <a:t>max</a:t>
            </a:r>
            <a:r>
              <a:rPr lang="en-US" sz="1600" dirty="0">
                <a:solidFill>
                  <a:srgbClr val="44505E"/>
                </a:solidFill>
                <a:latin typeface="IBM Plex Sans" pitchFamily="34" charset="0"/>
                <a:ea typeface="IBM Plex Sans" pitchFamily="34" charset="-122"/>
                <a:cs typeface="IBM Plex Sans" pitchFamily="34" charset="-120"/>
              </a:rPr>
              <a:t>:</a:t>
            </a:r>
            <a:endParaRPr lang="en-US" sz="1600" dirty="0"/>
          </a:p>
        </p:txBody>
      </p:sp>
      <p:sp>
        <p:nvSpPr>
          <p:cNvPr id="6" name="Text 3"/>
          <p:cNvSpPr/>
          <p:nvPr/>
        </p:nvSpPr>
        <p:spPr>
          <a:xfrm>
            <a:off x="812800" y="2326930"/>
            <a:ext cx="3658716" cy="914400"/>
          </a:xfrm>
          <a:prstGeom prst="roundRect">
            <a:avLst>
              <a:gd name="adj" fmla="val 8333"/>
            </a:avLst>
          </a:prstGeom>
          <a:solidFill>
            <a:srgbClr val="ECE8DC"/>
          </a:solidFill>
          <a:ln/>
        </p:spPr>
        <p:txBody>
          <a:bodyPr wrap="square" lIns="91982" tIns="91982" rIns="7400" bIns="66582" rtlCol="0" anchor="t">
            <a:normAutofit/>
          </a:bodyPr>
          <a:lstStyle/>
          <a:p>
            <a:pPr marL="0" indent="0" algn="l">
              <a:lnSpc>
                <a:spcPts val="1800"/>
              </a:lnSpc>
              <a:buNone/>
            </a:pPr>
            <a:r>
              <a:rPr lang="en-US" sz="1600" dirty="0">
                <a:solidFill>
                  <a:srgbClr val="14202E"/>
                </a:solidFill>
                <a:latin typeface="JetBrains Mono" pitchFamily="49" charset="0"/>
                <a:ea typeface="JetBrains Mono" pitchFamily="49" charset="-122"/>
                <a:cs typeface="JetBrains Mono" pitchFamily="49" charset="-120"/>
              </a:rPr>
              <a:t>V = max( K − S,</a:t>
            </a:r>
            <a:r>
              <a:rPr lang="en-US" sz="1600" dirty="0"/>
              <a:t> </a:t>
            </a:r>
            <a:r>
              <a:rPr lang="en-US" sz="1600" dirty="0">
                <a:solidFill>
                  <a:srgbClr val="14202E"/>
                </a:solidFill>
                <a:latin typeface="JetBrains Mono" pitchFamily="49" charset="0"/>
                <a:ea typeface="JetBrains Mono" pitchFamily="49" charset="-122"/>
                <a:cs typeface="JetBrains Mono" pitchFamily="49" charset="-120"/>
              </a:rPr>
              <a:t>[q·V↑+(1−q)·V↓]/R )</a:t>
            </a:r>
            <a:endParaRPr lang="en-US" sz="1600" dirty="0"/>
          </a:p>
          <a:p>
            <a:pPr marL="0" indent="0" algn="l">
              <a:lnSpc>
                <a:spcPts val="1800"/>
              </a:lnSpc>
              <a:buNone/>
            </a:pPr>
            <a:r>
              <a:rPr lang="en-US" sz="1600" dirty="0">
                <a:solidFill>
                  <a:srgbClr val="6A7179"/>
                </a:solidFill>
                <a:latin typeface="JetBrains Mono" pitchFamily="49" charset="0"/>
                <a:ea typeface="JetBrains Mono" pitchFamily="49" charset="-122"/>
                <a:cs typeface="JetBrains Mono" pitchFamily="49" charset="-120"/>
              </a:rPr>
              <a:t>exercise vs continue</a:t>
            </a:r>
            <a:endParaRPr lang="en-US" sz="1600" dirty="0"/>
          </a:p>
        </p:txBody>
      </p:sp>
      <p:sp>
        <p:nvSpPr>
          <p:cNvPr id="7" name="Text 4"/>
          <p:cNvSpPr/>
          <p:nvPr/>
        </p:nvSpPr>
        <p:spPr>
          <a:xfrm>
            <a:off x="812800" y="3526452"/>
            <a:ext cx="3139440" cy="1186224"/>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Put, K = 100. At S = 81: exercise </a:t>
            </a:r>
            <a:r>
              <a:rPr lang="en-US" sz="1600" b="1" dirty="0">
                <a:solidFill>
                  <a:srgbClr val="A9520F"/>
                </a:solidFill>
                <a:latin typeface="IBM Plex Sans" pitchFamily="34" charset="0"/>
                <a:ea typeface="IBM Plex Sans" pitchFamily="34" charset="-122"/>
                <a:cs typeface="IBM Plex Sans" pitchFamily="34" charset="-120"/>
              </a:rPr>
              <a:t>19.00</a:t>
            </a:r>
            <a:r>
              <a:rPr lang="en-US" sz="1600" dirty="0">
                <a:solidFill>
                  <a:srgbClr val="44505E"/>
                </a:solidFill>
                <a:latin typeface="IBM Plex Sans" pitchFamily="34" charset="0"/>
                <a:ea typeface="IBM Plex Sans" pitchFamily="34" charset="-122"/>
                <a:cs typeface="IBM Plex Sans" pitchFamily="34" charset="-120"/>
              </a:rPr>
              <a:t> beats continue 17.04. At S = 90: </a:t>
            </a:r>
            <a:r>
              <a:rPr lang="en-US" sz="1600" b="1" dirty="0">
                <a:solidFill>
                  <a:srgbClr val="A9520F"/>
                </a:solidFill>
                <a:latin typeface="IBM Plex Sans" pitchFamily="34" charset="0"/>
                <a:ea typeface="IBM Plex Sans" pitchFamily="34" charset="-122"/>
                <a:cs typeface="IBM Plex Sans" pitchFamily="34" charset="-120"/>
              </a:rPr>
              <a:t>10.00</a:t>
            </a:r>
            <a:r>
              <a:rPr lang="en-US" sz="1600" dirty="0">
                <a:solidFill>
                  <a:srgbClr val="44505E"/>
                </a:solidFill>
                <a:latin typeface="IBM Plex Sans" pitchFamily="34" charset="0"/>
                <a:ea typeface="IBM Plex Sans" pitchFamily="34" charset="-122"/>
                <a:cs typeface="IBM Plex Sans" pitchFamily="34" charset="-120"/>
              </a:rPr>
              <a:t> beats 9.97.</a:t>
            </a:r>
            <a:endParaRPr lang="en-US" sz="1600" dirty="0"/>
          </a:p>
        </p:txBody>
      </p:sp>
      <p:sp>
        <p:nvSpPr>
          <p:cNvPr id="8" name="Text 5"/>
          <p:cNvSpPr/>
          <p:nvPr/>
        </p:nvSpPr>
        <p:spPr>
          <a:xfrm>
            <a:off x="416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0</a:t>
            </a:r>
            <a:endParaRPr lang="en-US" sz="1200" b="1" dirty="0"/>
          </a:p>
        </p:txBody>
      </p:sp>
      <p:sp>
        <p:nvSpPr>
          <p:cNvPr id="9" name="Text 6"/>
          <p:cNvSpPr/>
          <p:nvPr/>
        </p:nvSpPr>
        <p:spPr>
          <a:xfrm>
            <a:off x="607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1</a:t>
            </a:r>
            <a:endParaRPr lang="en-US" sz="1200" b="1" dirty="0"/>
          </a:p>
        </p:txBody>
      </p:sp>
      <p:sp>
        <p:nvSpPr>
          <p:cNvPr id="10" name="Text 7"/>
          <p:cNvSpPr/>
          <p:nvPr/>
        </p:nvSpPr>
        <p:spPr>
          <a:xfrm>
            <a:off x="7975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2</a:t>
            </a:r>
            <a:endParaRPr lang="en-US" sz="1200" b="1" dirty="0"/>
          </a:p>
        </p:txBody>
      </p:sp>
      <p:sp>
        <p:nvSpPr>
          <p:cNvPr id="11" name="Text 8"/>
          <p:cNvSpPr/>
          <p:nvPr/>
        </p:nvSpPr>
        <p:spPr>
          <a:xfrm>
            <a:off x="9880600" y="13716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t = 3 = T</a:t>
            </a:r>
            <a:endParaRPr lang="en-US" sz="1200" b="1" dirty="0"/>
          </a:p>
        </p:txBody>
      </p:sp>
      <p:sp>
        <p:nvSpPr>
          <p:cNvPr id="12" name="Text 9"/>
          <p:cNvSpPr/>
          <p:nvPr/>
        </p:nvSpPr>
        <p:spPr>
          <a:xfrm>
            <a:off x="4200525" y="3629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14202E"/>
          </a:solidFill>
          <a:ln w="19050">
            <a:solidFill>
              <a:srgbClr val="14202E"/>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F5F3EC"/>
                </a:solidFill>
                <a:latin typeface="JetBrains Mono" pitchFamily="49" charset="0"/>
                <a:ea typeface="JetBrains Mono" pitchFamily="49" charset="-122"/>
                <a:cs typeface="JetBrains Mono" pitchFamily="49" charset="-120"/>
              </a:rPr>
              <a:t>100.00</a:t>
            </a:r>
            <a:endParaRPr lang="en-US" sz="1300" dirty="0"/>
          </a:p>
          <a:p>
            <a:pPr marL="0" indent="0" algn="ctr">
              <a:lnSpc>
                <a:spcPts val="1495"/>
              </a:lnSpc>
              <a:buNone/>
            </a:pPr>
            <a:r>
              <a:rPr lang="en-US" sz="1300" dirty="0">
                <a:solidFill>
                  <a:srgbClr val="E3A33B"/>
                </a:solidFill>
                <a:latin typeface="JetBrains Mono" pitchFamily="49" charset="0"/>
                <a:ea typeface="JetBrains Mono" pitchFamily="49" charset="-122"/>
                <a:cs typeface="JetBrains Mono" pitchFamily="49" charset="-120"/>
              </a:rPr>
              <a:t>P = 4.91</a:t>
            </a:r>
            <a:endParaRPr lang="en-US" sz="1300" dirty="0"/>
          </a:p>
        </p:txBody>
      </p:sp>
      <p:sp>
        <p:nvSpPr>
          <p:cNvPr id="13" name="Text 10"/>
          <p:cNvSpPr/>
          <p:nvPr/>
        </p:nvSpPr>
        <p:spPr>
          <a:xfrm>
            <a:off x="6102350" y="299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110.00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P = 1.68</a:t>
            </a:r>
            <a:endParaRPr lang="en-US" sz="1300" dirty="0"/>
          </a:p>
        </p:txBody>
      </p:sp>
      <p:sp>
        <p:nvSpPr>
          <p:cNvPr id="14" name="Text 11"/>
          <p:cNvSpPr/>
          <p:nvPr/>
        </p:nvSpPr>
        <p:spPr>
          <a:xfrm>
            <a:off x="6105525" y="4264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FBE9D8"/>
          </a:solidFill>
          <a:ln w="19050">
            <a:solidFill>
              <a:srgbClr val="C4661A"/>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90.00</a:t>
            </a:r>
            <a:endParaRPr lang="en-US" sz="1300" dirty="0"/>
          </a:p>
          <a:p>
            <a:pPr marL="0" indent="0" algn="ctr">
              <a:lnSpc>
                <a:spcPts val="1495"/>
              </a:lnSpc>
              <a:buNone/>
            </a:pPr>
            <a:r>
              <a:rPr lang="en-US" sz="1300" dirty="0">
                <a:solidFill>
                  <a:srgbClr val="A9520F"/>
                </a:solidFill>
                <a:latin typeface="JetBrains Mono" pitchFamily="49" charset="0"/>
                <a:ea typeface="JetBrains Mono" pitchFamily="49" charset="-122"/>
                <a:cs typeface="JetBrains Mono" pitchFamily="49" charset="-120"/>
              </a:rPr>
              <a:t>10.00 ex</a:t>
            </a:r>
            <a:endParaRPr lang="en-US" sz="1300" dirty="0"/>
          </a:p>
        </p:txBody>
      </p:sp>
      <p:sp>
        <p:nvSpPr>
          <p:cNvPr id="15" name="Text 12"/>
          <p:cNvSpPr/>
          <p:nvPr/>
        </p:nvSpPr>
        <p:spPr>
          <a:xfrm>
            <a:off x="8007350" y="235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121.00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P = 0.00</a:t>
            </a:r>
            <a:endParaRPr lang="en-US" sz="1300" dirty="0"/>
          </a:p>
        </p:txBody>
      </p:sp>
      <p:sp>
        <p:nvSpPr>
          <p:cNvPr id="16" name="Text 13"/>
          <p:cNvSpPr/>
          <p:nvPr/>
        </p:nvSpPr>
        <p:spPr>
          <a:xfrm>
            <a:off x="8007350" y="3625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14202E"/>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99.00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P = 4.27</a:t>
            </a:r>
            <a:endParaRPr lang="en-US" sz="1300" dirty="0"/>
          </a:p>
        </p:txBody>
      </p:sp>
      <p:sp>
        <p:nvSpPr>
          <p:cNvPr id="17" name="Text 14"/>
          <p:cNvSpPr/>
          <p:nvPr/>
        </p:nvSpPr>
        <p:spPr>
          <a:xfrm>
            <a:off x="8010525" y="4899025"/>
            <a:ext cx="1250950" cy="474960"/>
          </a:xfrm>
          <a:custGeom>
            <a:avLst/>
            <a:gdLst/>
            <a:ahLst/>
            <a:cxnLst/>
            <a:rect l="l" t="t" r="r" b="b"/>
            <a:pathLst>
              <a:path w="1250950" h="474960">
                <a:moveTo>
                  <a:pt x="79375" y="0"/>
                </a:moveTo>
                <a:lnTo>
                  <a:pt x="1171575" y="0"/>
                </a:lnTo>
                <a:arcTo wR="79375" hR="79375" stAng="16200000" swAng="5400000"/>
                <a:lnTo>
                  <a:pt x="1250950" y="395585"/>
                </a:lnTo>
                <a:arcTo wR="79375" hR="79375" stAng="0" swAng="5400000"/>
                <a:lnTo>
                  <a:pt x="79375" y="474960"/>
                </a:lnTo>
                <a:arcTo wR="79375" hR="79375" stAng="5400000" swAng="5400000"/>
                <a:lnTo>
                  <a:pt x="0" y="79375"/>
                </a:lnTo>
                <a:arcTo wR="79375" hR="79375" stAng="10800000" swAng="5400000"/>
                <a:close/>
              </a:path>
            </a:pathLst>
          </a:custGeom>
          <a:solidFill>
            <a:srgbClr val="FBE9D8"/>
          </a:solidFill>
          <a:ln w="19050">
            <a:solidFill>
              <a:srgbClr val="C4661A"/>
            </a:solidFill>
            <a:prstDash val="solid"/>
          </a:ln>
        </p:spPr>
        <p:txBody>
          <a:bodyPr wrap="square" lIns="22225" tIns="47625" rIns="22225" bIns="22225"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81.00</a:t>
            </a:r>
            <a:endParaRPr lang="en-US" sz="1300" dirty="0"/>
          </a:p>
          <a:p>
            <a:pPr marL="0" indent="0" algn="ctr">
              <a:lnSpc>
                <a:spcPts val="1495"/>
              </a:lnSpc>
              <a:buNone/>
            </a:pPr>
            <a:r>
              <a:rPr lang="en-US" sz="1300" dirty="0">
                <a:solidFill>
                  <a:srgbClr val="A9520F"/>
                </a:solidFill>
                <a:latin typeface="JetBrains Mono" pitchFamily="49" charset="0"/>
                <a:ea typeface="JetBrains Mono" pitchFamily="49" charset="-122"/>
                <a:cs typeface="JetBrains Mono" pitchFamily="49" charset="-120"/>
              </a:rPr>
              <a:t>19.00 ex</a:t>
            </a:r>
            <a:endParaRPr lang="en-US" sz="1300" dirty="0"/>
          </a:p>
        </p:txBody>
      </p:sp>
      <p:sp>
        <p:nvSpPr>
          <p:cNvPr id="18" name="Text 15"/>
          <p:cNvSpPr/>
          <p:nvPr/>
        </p:nvSpPr>
        <p:spPr>
          <a:xfrm>
            <a:off x="9912350" y="172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133.10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P = 0.00</a:t>
            </a:r>
            <a:endParaRPr lang="en-US" sz="1300" dirty="0"/>
          </a:p>
        </p:txBody>
      </p:sp>
      <p:sp>
        <p:nvSpPr>
          <p:cNvPr id="19" name="Text 16"/>
          <p:cNvSpPr/>
          <p:nvPr/>
        </p:nvSpPr>
        <p:spPr>
          <a:xfrm>
            <a:off x="9912350" y="299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108.90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P = 0.00</a:t>
            </a:r>
            <a:endParaRPr lang="en-US" sz="1300" dirty="0"/>
          </a:p>
        </p:txBody>
      </p:sp>
      <p:sp>
        <p:nvSpPr>
          <p:cNvPr id="20" name="Text 17"/>
          <p:cNvSpPr/>
          <p:nvPr/>
        </p:nvSpPr>
        <p:spPr>
          <a:xfrm>
            <a:off x="9912350" y="426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89.10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P = 10.90</a:t>
            </a:r>
            <a:endParaRPr lang="en-US" sz="1300" dirty="0"/>
          </a:p>
        </p:txBody>
      </p:sp>
      <p:sp>
        <p:nvSpPr>
          <p:cNvPr id="21" name="Text 18"/>
          <p:cNvSpPr/>
          <p:nvPr/>
        </p:nvSpPr>
        <p:spPr>
          <a:xfrm>
            <a:off x="9912350" y="5530850"/>
            <a:ext cx="1257300" cy="468610"/>
          </a:xfrm>
          <a:custGeom>
            <a:avLst/>
            <a:gdLst/>
            <a:ahLst/>
            <a:cxnLst/>
            <a:rect l="l" t="t" r="r" b="b"/>
            <a:pathLst>
              <a:path w="1257300" h="468610">
                <a:moveTo>
                  <a:pt x="82550" y="0"/>
                </a:moveTo>
                <a:lnTo>
                  <a:pt x="1174750" y="0"/>
                </a:lnTo>
                <a:arcTo wR="82550" hR="82550" stAng="16200000" swAng="5400000"/>
                <a:lnTo>
                  <a:pt x="1257300" y="386060"/>
                </a:lnTo>
                <a:arcTo wR="82550" hR="82550" stAng="0" swAng="5400000"/>
                <a:lnTo>
                  <a:pt x="82550" y="468610"/>
                </a:lnTo>
                <a:arcTo wR="82550" hR="82550" stAng="5400000" swAng="5400000"/>
                <a:lnTo>
                  <a:pt x="0" y="82550"/>
                </a:lnTo>
                <a:arcTo wR="82550" hR="82550" stAng="10800000" swAng="5400000"/>
                <a:close/>
              </a:path>
            </a:pathLst>
          </a:custGeom>
          <a:solidFill>
            <a:srgbClr val="FDFCF8"/>
          </a:solidFill>
          <a:ln w="12700">
            <a:solidFill>
              <a:srgbClr val="B9B2A0"/>
            </a:solidFill>
            <a:prstDash val="solid"/>
          </a:ln>
        </p:spPr>
        <p:txBody>
          <a:bodyPr wrap="square" lIns="19050" tIns="44450" rIns="19050" bIns="19050" rtlCol="0" anchor="t">
            <a:normAutofit/>
          </a:bodyPr>
          <a:lstStyle/>
          <a:p>
            <a:pPr marL="0" indent="0" algn="ctr">
              <a:lnSpc>
                <a:spcPts val="1495"/>
              </a:lnSpc>
              <a:buNone/>
            </a:pPr>
            <a:r>
              <a:rPr lang="en-US" sz="1300" b="1" dirty="0">
                <a:solidFill>
                  <a:srgbClr val="14202E"/>
                </a:solidFill>
                <a:latin typeface="JetBrains Mono" pitchFamily="49" charset="0"/>
                <a:ea typeface="JetBrains Mono" pitchFamily="49" charset="-122"/>
                <a:cs typeface="JetBrains Mono" pitchFamily="49" charset="-120"/>
              </a:rPr>
              <a:t>72.90</a:t>
            </a:r>
            <a:endParaRPr lang="en-US" sz="1300" dirty="0"/>
          </a:p>
          <a:p>
            <a:pPr marL="0" indent="0" algn="ctr">
              <a:lnSpc>
                <a:spcPts val="1495"/>
              </a:lnSpc>
              <a:buNone/>
            </a:pPr>
            <a:r>
              <a:rPr lang="en-US" sz="1300" dirty="0">
                <a:solidFill>
                  <a:srgbClr val="14202E"/>
                </a:solidFill>
                <a:latin typeface="JetBrains Mono" pitchFamily="49" charset="0"/>
                <a:ea typeface="JetBrains Mono" pitchFamily="49" charset="-122"/>
                <a:cs typeface="JetBrains Mono" pitchFamily="49" charset="-120"/>
              </a:rPr>
              <a:t>P = 27.10</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52">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9520F"/>
                </a:solidFill>
                <a:latin typeface="IBM Plex Sans" pitchFamily="34" charset="0"/>
                <a:ea typeface="IBM Plex Sans" pitchFamily="34" charset="-122"/>
                <a:cs typeface="IBM Plex Sans" pitchFamily="34" charset="-120"/>
              </a:rPr>
              <a:t>04 · USING THE LATTICE · AMERICAN OPTIONS</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The right to choose has a price</a:t>
            </a:r>
            <a:endParaRPr lang="en-US" sz="3000" dirty="0"/>
          </a:p>
        </p:txBody>
      </p:sp>
      <p:sp>
        <p:nvSpPr>
          <p:cNvPr id="4" name="Shape 2"/>
          <p:cNvSpPr/>
          <p:nvPr/>
        </p:nvSpPr>
        <p:spPr>
          <a:xfrm>
            <a:off x="815975" y="1514475"/>
            <a:ext cx="3371850" cy="1936651"/>
          </a:xfrm>
          <a:prstGeom prst="roundRect">
            <a:avLst>
              <a:gd name="adj" fmla="val 5082"/>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5" name="Text 3"/>
          <p:cNvSpPr/>
          <p:nvPr/>
        </p:nvSpPr>
        <p:spPr>
          <a:xfrm>
            <a:off x="1047750" y="1746250"/>
            <a:ext cx="299554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A7179"/>
                </a:solidFill>
                <a:latin typeface="IBM Plex Sans" pitchFamily="34" charset="0"/>
                <a:ea typeface="IBM Plex Sans" pitchFamily="34" charset="-122"/>
                <a:cs typeface="IBM Plex Sans" pitchFamily="34" charset="-120"/>
              </a:rPr>
              <a:t>EUROPEAN PUT</a:t>
            </a:r>
            <a:endParaRPr lang="en-US" sz="1200" dirty="0"/>
          </a:p>
        </p:txBody>
      </p:sp>
      <p:sp>
        <p:nvSpPr>
          <p:cNvPr id="6" name="Text 4"/>
          <p:cNvSpPr/>
          <p:nvPr/>
        </p:nvSpPr>
        <p:spPr>
          <a:xfrm>
            <a:off x="1047750" y="2023070"/>
            <a:ext cx="2995549"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4202E"/>
                </a:solidFill>
                <a:latin typeface="JetBrains Mono" pitchFamily="49" charset="0"/>
                <a:ea typeface="JetBrains Mono" pitchFamily="49" charset="-122"/>
                <a:cs typeface="JetBrains Mono" pitchFamily="49" charset="-120"/>
              </a:rPr>
              <a:t>4.59</a:t>
            </a:r>
            <a:endParaRPr lang="en-US" sz="4800" dirty="0"/>
          </a:p>
        </p:txBody>
      </p:sp>
      <p:sp>
        <p:nvSpPr>
          <p:cNvPr id="7" name="Text 5"/>
          <p:cNvSpPr/>
          <p:nvPr/>
        </p:nvSpPr>
        <p:spPr>
          <a:xfrm>
            <a:off x="1047750" y="2757091"/>
            <a:ext cx="2995549"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E"/>
                </a:solidFill>
                <a:latin typeface="IBM Plex Sans" pitchFamily="34" charset="0"/>
                <a:ea typeface="IBM Plex Sans" pitchFamily="34" charset="-122"/>
                <a:cs typeface="IBM Plex Sans" pitchFamily="34" charset="-120"/>
              </a:rPr>
              <a:t>Same tree, no max</a:t>
            </a:r>
            <a:endParaRPr lang="en-US" sz="1300" dirty="0"/>
          </a:p>
        </p:txBody>
      </p:sp>
      <p:sp>
        <p:nvSpPr>
          <p:cNvPr id="8" name="Shape 6"/>
          <p:cNvSpPr/>
          <p:nvPr/>
        </p:nvSpPr>
        <p:spPr>
          <a:xfrm>
            <a:off x="4403725" y="1520825"/>
            <a:ext cx="3384550" cy="1923951"/>
          </a:xfrm>
          <a:prstGeom prst="roundRect">
            <a:avLst>
              <a:gd name="adj" fmla="val 4786"/>
            </a:avLst>
          </a:prstGeom>
          <a:solidFill>
            <a:srgbClr val="FDFCF8"/>
          </a:solidFill>
          <a:ln w="19050">
            <a:solidFill>
              <a:srgbClr val="C4661A"/>
            </a:solidFill>
            <a:prstDash val="solid"/>
          </a:ln>
          <a:effectLst>
            <a:outerShdw blurRad="50800" dist="38100" dir="2700000" algn="tl" rotWithShape="0">
              <a:prstClr val="black">
                <a:alpha val="40000"/>
              </a:prstClr>
            </a:outerShdw>
          </a:effectLst>
        </p:spPr>
        <p:txBody>
          <a:bodyPr/>
          <a:lstStyle/>
          <a:p>
            <a:endParaRPr lang="en-SE"/>
          </a:p>
        </p:txBody>
      </p:sp>
      <p:sp>
        <p:nvSpPr>
          <p:cNvPr id="9" name="Text 7"/>
          <p:cNvSpPr/>
          <p:nvPr/>
        </p:nvSpPr>
        <p:spPr>
          <a:xfrm>
            <a:off x="4641850" y="1758950"/>
            <a:ext cx="299554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9520F"/>
                </a:solidFill>
                <a:latin typeface="IBM Plex Sans" pitchFamily="34" charset="0"/>
                <a:ea typeface="IBM Plex Sans" pitchFamily="34" charset="-122"/>
                <a:cs typeface="IBM Plex Sans" pitchFamily="34" charset="-120"/>
              </a:rPr>
              <a:t>AMERICAN PUT</a:t>
            </a:r>
            <a:endParaRPr lang="en-US" sz="1200" dirty="0"/>
          </a:p>
        </p:txBody>
      </p:sp>
      <p:sp>
        <p:nvSpPr>
          <p:cNvPr id="10" name="Text 8"/>
          <p:cNvSpPr/>
          <p:nvPr/>
        </p:nvSpPr>
        <p:spPr>
          <a:xfrm>
            <a:off x="4641850" y="2035770"/>
            <a:ext cx="2995549"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A9520F"/>
                </a:solidFill>
                <a:latin typeface="JetBrains Mono" pitchFamily="49" charset="0"/>
                <a:ea typeface="JetBrains Mono" pitchFamily="49" charset="-122"/>
                <a:cs typeface="JetBrains Mono" pitchFamily="49" charset="-120"/>
              </a:rPr>
              <a:t>4.91</a:t>
            </a:r>
            <a:endParaRPr lang="en-US" sz="4800" dirty="0"/>
          </a:p>
        </p:txBody>
      </p:sp>
      <p:sp>
        <p:nvSpPr>
          <p:cNvPr id="11" name="Text 9"/>
          <p:cNvSpPr/>
          <p:nvPr/>
        </p:nvSpPr>
        <p:spPr>
          <a:xfrm>
            <a:off x="4641850" y="2769791"/>
            <a:ext cx="2995549"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E"/>
                </a:solidFill>
                <a:latin typeface="IBM Plex Sans" pitchFamily="34" charset="0"/>
                <a:ea typeface="IBM Plex Sans" pitchFamily="34" charset="-122"/>
                <a:cs typeface="IBM Plex Sans" pitchFamily="34" charset="-120"/>
              </a:rPr>
              <a:t>Early-exercise premium +0.32</a:t>
            </a:r>
            <a:endParaRPr lang="en-US" sz="1300" dirty="0"/>
          </a:p>
        </p:txBody>
      </p:sp>
      <p:sp>
        <p:nvSpPr>
          <p:cNvPr id="12" name="Shape 10"/>
          <p:cNvSpPr/>
          <p:nvPr/>
        </p:nvSpPr>
        <p:spPr>
          <a:xfrm>
            <a:off x="8004175" y="1514475"/>
            <a:ext cx="3371850" cy="1936651"/>
          </a:xfrm>
          <a:prstGeom prst="roundRect">
            <a:avLst>
              <a:gd name="adj" fmla="val 5082"/>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3" name="Text 11"/>
          <p:cNvSpPr/>
          <p:nvPr/>
        </p:nvSpPr>
        <p:spPr>
          <a:xfrm>
            <a:off x="8235950" y="1746250"/>
            <a:ext cx="299554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A7179"/>
                </a:solidFill>
                <a:latin typeface="IBM Plex Sans" pitchFamily="34" charset="0"/>
                <a:ea typeface="IBM Plex Sans" pitchFamily="34" charset="-122"/>
                <a:cs typeface="IBM Plex Sans" pitchFamily="34" charset="-120"/>
              </a:rPr>
              <a:t>AMERICAN CALL</a:t>
            </a:r>
            <a:endParaRPr lang="en-US" sz="1200" dirty="0"/>
          </a:p>
        </p:txBody>
      </p:sp>
      <p:sp>
        <p:nvSpPr>
          <p:cNvPr id="14" name="Text 12"/>
          <p:cNvSpPr/>
          <p:nvPr/>
        </p:nvSpPr>
        <p:spPr>
          <a:xfrm>
            <a:off x="8235950" y="2023070"/>
            <a:ext cx="2995549"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4202E"/>
                </a:solidFill>
                <a:latin typeface="JetBrains Mono" pitchFamily="49" charset="0"/>
                <a:ea typeface="JetBrains Mono" pitchFamily="49" charset="-122"/>
                <a:cs typeface="JetBrains Mono" pitchFamily="49" charset="-120"/>
              </a:rPr>
              <a:t>10.36</a:t>
            </a:r>
            <a:endParaRPr lang="en-US" sz="4800" dirty="0"/>
          </a:p>
        </p:txBody>
      </p:sp>
      <p:sp>
        <p:nvSpPr>
          <p:cNvPr id="15" name="Text 13"/>
          <p:cNvSpPr/>
          <p:nvPr/>
        </p:nvSpPr>
        <p:spPr>
          <a:xfrm>
            <a:off x="8235950" y="2757091"/>
            <a:ext cx="2995549"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E"/>
                </a:solidFill>
                <a:latin typeface="IBM Plex Sans" pitchFamily="34" charset="0"/>
                <a:ea typeface="IBM Plex Sans" pitchFamily="34" charset="-122"/>
                <a:cs typeface="IBM Plex Sans" pitchFamily="34" charset="-120"/>
              </a:rPr>
              <a:t>= European: never exercise early without dividends</a:t>
            </a:r>
            <a:endParaRPr lang="en-US" sz="1300" dirty="0"/>
          </a:p>
        </p:txBody>
      </p:sp>
      <p:sp>
        <p:nvSpPr>
          <p:cNvPr id="16" name="Shape 14"/>
          <p:cNvSpPr/>
          <p:nvPr/>
        </p:nvSpPr>
        <p:spPr>
          <a:xfrm>
            <a:off x="831850" y="4286357"/>
            <a:ext cx="0" cy="904230"/>
          </a:xfrm>
          <a:prstGeom prst="line">
            <a:avLst/>
          </a:prstGeom>
          <a:noFill/>
          <a:ln w="38100">
            <a:solidFill>
              <a:srgbClr val="2B65C8"/>
            </a:solidFill>
            <a:prstDash val="solid"/>
          </a:ln>
        </p:spPr>
        <p:txBody>
          <a:bodyPr/>
          <a:lstStyle/>
          <a:p>
            <a:endParaRPr lang="en-SE"/>
          </a:p>
        </p:txBody>
      </p:sp>
      <p:sp>
        <p:nvSpPr>
          <p:cNvPr id="17" name="Text 15"/>
          <p:cNvSpPr/>
          <p:nvPr/>
        </p:nvSpPr>
        <p:spPr>
          <a:xfrm>
            <a:off x="1028700" y="4337157"/>
            <a:ext cx="5114671" cy="269230"/>
          </a:xfrm>
          <a:prstGeom prst="rect">
            <a:avLst/>
          </a:prstGeom>
          <a:noFill/>
          <a:ln/>
        </p:spPr>
        <p:txBody>
          <a:bodyPr wrap="square" lIns="0" tIns="0" rIns="0" bIns="0" rtlCol="0" anchor="t">
            <a:normAutofit/>
          </a:bodyPr>
          <a:lstStyle/>
          <a:p>
            <a:pPr marL="0" indent="0" algn="l">
              <a:lnSpc>
                <a:spcPts val="1920"/>
              </a:lnSpc>
              <a:buNone/>
            </a:pPr>
            <a:r>
              <a:rPr lang="en-US" sz="2000" b="1" dirty="0">
                <a:solidFill>
                  <a:srgbClr val="14202E"/>
                </a:solidFill>
                <a:latin typeface="IBM Plex Sans" pitchFamily="34" charset="0"/>
                <a:ea typeface="IBM Plex Sans" pitchFamily="34" charset="-122"/>
                <a:cs typeface="IBM Plex Sans" pitchFamily="34" charset="-120"/>
              </a:rPr>
              <a:t>Sanity check: put-call parity</a:t>
            </a:r>
            <a:endParaRPr lang="en-US" sz="2000" dirty="0"/>
          </a:p>
        </p:txBody>
      </p:sp>
      <p:sp>
        <p:nvSpPr>
          <p:cNvPr id="18" name="Text 16"/>
          <p:cNvSpPr/>
          <p:nvPr/>
        </p:nvSpPr>
        <p:spPr>
          <a:xfrm>
            <a:off x="1028700" y="4644487"/>
            <a:ext cx="5114671" cy="520700"/>
          </a:xfrm>
          <a:prstGeom prst="rect">
            <a:avLst/>
          </a:prstGeom>
          <a:noFill/>
          <a:ln/>
        </p:spPr>
        <p:txBody>
          <a:bodyPr wrap="square" lIns="0" tIns="0" rIns="0" bIns="0" rtlCol="0" anchor="t">
            <a:normAutofit/>
          </a:bodyPr>
          <a:lstStyle/>
          <a:p>
            <a:pPr marL="0" indent="0" algn="l">
              <a:lnSpc>
                <a:spcPts val="1950"/>
              </a:lnSpc>
              <a:buNone/>
            </a:pPr>
            <a:r>
              <a:rPr lang="en-US" sz="1600" dirty="0">
                <a:solidFill>
                  <a:srgbClr val="44505E"/>
                </a:solidFill>
                <a:latin typeface="JetBrains Mono" pitchFamily="49" charset="0"/>
                <a:ea typeface="JetBrains Mono" pitchFamily="49" charset="-122"/>
                <a:cs typeface="JetBrains Mono" pitchFamily="49" charset="-120"/>
              </a:rPr>
              <a:t>C − P = S₀ − K/R³</a:t>
            </a:r>
            <a:endParaRPr lang="en-US" sz="1600" dirty="0"/>
          </a:p>
          <a:p>
            <a:pPr marL="0" indent="0" algn="l">
              <a:lnSpc>
                <a:spcPts val="1950"/>
              </a:lnSpc>
              <a:buNone/>
            </a:pPr>
            <a:r>
              <a:rPr lang="en-US" sz="1600" dirty="0">
                <a:solidFill>
                  <a:srgbClr val="44505E"/>
                </a:solidFill>
                <a:latin typeface="JetBrains Mono" pitchFamily="49" charset="0"/>
                <a:ea typeface="JetBrains Mono" pitchFamily="49" charset="-122"/>
                <a:cs typeface="JetBrains Mono" pitchFamily="49" charset="-120"/>
              </a:rPr>
              <a:t>10.36 − 4.59 = 100 − 94.23 = 5.77 ✓</a:t>
            </a:r>
            <a:endParaRPr lang="en-US" sz="1600" dirty="0"/>
          </a:p>
        </p:txBody>
      </p:sp>
      <p:sp>
        <p:nvSpPr>
          <p:cNvPr id="19" name="Shape 17"/>
          <p:cNvSpPr/>
          <p:nvPr/>
        </p:nvSpPr>
        <p:spPr>
          <a:xfrm>
            <a:off x="6216650" y="4286357"/>
            <a:ext cx="0" cy="904230"/>
          </a:xfrm>
          <a:prstGeom prst="line">
            <a:avLst/>
          </a:prstGeom>
          <a:noFill/>
          <a:ln w="38100">
            <a:solidFill>
              <a:srgbClr val="C4661A"/>
            </a:solidFill>
            <a:prstDash val="solid"/>
          </a:ln>
        </p:spPr>
        <p:txBody>
          <a:bodyPr/>
          <a:lstStyle/>
          <a:p>
            <a:endParaRPr lang="en-SE"/>
          </a:p>
        </p:txBody>
      </p:sp>
      <p:sp>
        <p:nvSpPr>
          <p:cNvPr id="20" name="Text 18"/>
          <p:cNvSpPr/>
          <p:nvPr/>
        </p:nvSpPr>
        <p:spPr>
          <a:xfrm>
            <a:off x="6413500" y="4337157"/>
            <a:ext cx="5114671" cy="269230"/>
          </a:xfrm>
          <a:prstGeom prst="rect">
            <a:avLst/>
          </a:prstGeom>
          <a:noFill/>
          <a:ln/>
        </p:spPr>
        <p:txBody>
          <a:bodyPr wrap="square" lIns="0" tIns="0" rIns="0" bIns="0" rtlCol="0" anchor="t">
            <a:normAutofit/>
          </a:bodyPr>
          <a:lstStyle/>
          <a:p>
            <a:pPr marL="0" indent="0" algn="l">
              <a:lnSpc>
                <a:spcPts val="1920"/>
              </a:lnSpc>
              <a:buNone/>
            </a:pPr>
            <a:r>
              <a:rPr lang="en-US" sz="2000" b="1" dirty="0">
                <a:solidFill>
                  <a:srgbClr val="14202E"/>
                </a:solidFill>
                <a:latin typeface="IBM Plex Sans" pitchFamily="34" charset="0"/>
                <a:ea typeface="IBM Plex Sans" pitchFamily="34" charset="-122"/>
                <a:cs typeface="IBM Plex Sans" pitchFamily="34" charset="-120"/>
              </a:rPr>
              <a:t>Realistic tree, n = 1000</a:t>
            </a:r>
            <a:endParaRPr lang="en-US" sz="2000" dirty="0"/>
          </a:p>
        </p:txBody>
      </p:sp>
      <p:sp>
        <p:nvSpPr>
          <p:cNvPr id="21" name="Text 19"/>
          <p:cNvSpPr/>
          <p:nvPr/>
        </p:nvSpPr>
        <p:spPr>
          <a:xfrm>
            <a:off x="6413500" y="4644487"/>
            <a:ext cx="5114671" cy="520700"/>
          </a:xfrm>
          <a:prstGeom prst="rect">
            <a:avLst/>
          </a:prstGeom>
          <a:noFill/>
          <a:ln/>
        </p:spPr>
        <p:txBody>
          <a:bodyPr wrap="square" lIns="0" tIns="0" rIns="0" bIns="0" rtlCol="0" anchor="t">
            <a:normAutofit/>
          </a:bodyPr>
          <a:lstStyle/>
          <a:p>
            <a:pPr marL="0" indent="0" algn="l">
              <a:lnSpc>
                <a:spcPts val="1950"/>
              </a:lnSpc>
              <a:buNone/>
            </a:pPr>
            <a:r>
              <a:rPr lang="en-US" sz="1600" dirty="0">
                <a:solidFill>
                  <a:srgbClr val="44505E"/>
                </a:solidFill>
                <a:latin typeface="JetBrains Mono" pitchFamily="49" charset="0"/>
                <a:ea typeface="JetBrains Mono" pitchFamily="49" charset="-122"/>
                <a:cs typeface="JetBrains Mono" pitchFamily="49" charset="-120"/>
              </a:rPr>
              <a:t>S=K=100, r=5%, σ=20%, T=1</a:t>
            </a:r>
            <a:endParaRPr lang="en-US" sz="1600" dirty="0"/>
          </a:p>
          <a:p>
            <a:pPr marL="0" indent="0" algn="l">
              <a:lnSpc>
                <a:spcPts val="1950"/>
              </a:lnSpc>
              <a:buNone/>
            </a:pPr>
            <a:r>
              <a:rPr lang="en-US" sz="1600" dirty="0">
                <a:solidFill>
                  <a:srgbClr val="44505E"/>
                </a:solidFill>
                <a:latin typeface="JetBrains Mono" pitchFamily="49" charset="0"/>
                <a:ea typeface="JetBrains Mono" pitchFamily="49" charset="-122"/>
                <a:cs typeface="JetBrains Mono" pitchFamily="49" charset="-120"/>
              </a:rPr>
              <a:t>European 5.57 · American 6.09</a:t>
            </a:r>
            <a:endParaRPr lang="en-US" sz="1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53">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05 · BACK TO BLACK-SCHOLES</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Calibrate the lattice to σ and r (Cox-Ross-Rubinstein)</a:t>
            </a:r>
            <a:endParaRPr lang="en-US" sz="3000" dirty="0"/>
          </a:p>
        </p:txBody>
      </p:sp>
      <p:sp>
        <p:nvSpPr>
          <p:cNvPr id="4" name="Shape 2"/>
          <p:cNvSpPr/>
          <p:nvPr/>
        </p:nvSpPr>
        <p:spPr>
          <a:xfrm>
            <a:off x="815975" y="1489075"/>
            <a:ext cx="3380284" cy="2238863"/>
          </a:xfrm>
          <a:prstGeom prst="roundRect">
            <a:avLst>
              <a:gd name="adj" fmla="val 4937"/>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5" name="Text 3"/>
          <p:cNvSpPr/>
          <p:nvPr/>
        </p:nvSpPr>
        <p:spPr>
          <a:xfrm>
            <a:off x="1047750" y="1720850"/>
            <a:ext cx="300423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A7179"/>
                </a:solidFill>
                <a:latin typeface="IBM Plex Sans" pitchFamily="34" charset="0"/>
                <a:ea typeface="IBM Plex Sans" pitchFamily="34" charset="-122"/>
                <a:cs typeface="IBM Plex Sans" pitchFamily="34" charset="-120"/>
              </a:rPr>
              <a:t>TIME STEP</a:t>
            </a:r>
            <a:endParaRPr lang="en-US" sz="1200" dirty="0"/>
          </a:p>
        </p:txBody>
      </p:sp>
      <p:sp>
        <p:nvSpPr>
          <p:cNvPr id="6" name="Text 4"/>
          <p:cNvSpPr/>
          <p:nvPr/>
        </p:nvSpPr>
        <p:spPr>
          <a:xfrm>
            <a:off x="1047750" y="2023070"/>
            <a:ext cx="3004236" cy="3556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14202E"/>
                </a:solidFill>
                <a:latin typeface="JetBrains Mono" pitchFamily="49" charset="0"/>
                <a:ea typeface="JetBrains Mono" pitchFamily="49" charset="-122"/>
                <a:cs typeface="JetBrains Mono" pitchFamily="49" charset="-120"/>
              </a:rPr>
              <a:t>Δt = T / n</a:t>
            </a:r>
            <a:endParaRPr lang="en-US" sz="2000" dirty="0"/>
          </a:p>
        </p:txBody>
      </p:sp>
      <p:sp>
        <p:nvSpPr>
          <p:cNvPr id="7" name="Text 5"/>
          <p:cNvSpPr/>
          <p:nvPr/>
        </p:nvSpPr>
        <p:spPr>
          <a:xfrm>
            <a:off x="1047750" y="2834055"/>
            <a:ext cx="3004236" cy="344857"/>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More steps, finer grid in time.</a:t>
            </a:r>
            <a:endParaRPr lang="en-US" sz="1600" dirty="0"/>
          </a:p>
        </p:txBody>
      </p:sp>
      <p:sp>
        <p:nvSpPr>
          <p:cNvPr id="8" name="Shape 6"/>
          <p:cNvSpPr/>
          <p:nvPr/>
        </p:nvSpPr>
        <p:spPr>
          <a:xfrm>
            <a:off x="4405809" y="1489075"/>
            <a:ext cx="3380333" cy="2238863"/>
          </a:xfrm>
          <a:prstGeom prst="roundRect">
            <a:avLst>
              <a:gd name="adj" fmla="val 4937"/>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9" name="Text 7"/>
          <p:cNvSpPr/>
          <p:nvPr/>
        </p:nvSpPr>
        <p:spPr>
          <a:xfrm>
            <a:off x="4637584" y="1720850"/>
            <a:ext cx="300428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A7179"/>
                </a:solidFill>
                <a:latin typeface="IBM Plex Sans" pitchFamily="34" charset="0"/>
                <a:ea typeface="IBM Plex Sans" pitchFamily="34" charset="-122"/>
                <a:cs typeface="IBM Plex Sans" pitchFamily="34" charset="-120"/>
              </a:rPr>
              <a:t>MOVE SIZES</a:t>
            </a:r>
            <a:endParaRPr lang="en-US" sz="1200" dirty="0"/>
          </a:p>
        </p:txBody>
      </p:sp>
      <p:sp>
        <p:nvSpPr>
          <p:cNvPr id="10" name="Text 8"/>
          <p:cNvSpPr/>
          <p:nvPr/>
        </p:nvSpPr>
        <p:spPr>
          <a:xfrm>
            <a:off x="4637584" y="2023070"/>
            <a:ext cx="3004287" cy="6858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2B65C8"/>
                </a:solidFill>
                <a:latin typeface="JetBrains Mono" pitchFamily="49" charset="0"/>
                <a:ea typeface="JetBrains Mono" pitchFamily="49" charset="-122"/>
                <a:cs typeface="JetBrains Mono" pitchFamily="49" charset="-120"/>
              </a:rPr>
              <a:t>u = e^(σ√Δt)</a:t>
            </a:r>
            <a:endParaRPr lang="en-US" sz="2000" dirty="0"/>
          </a:p>
          <a:p>
            <a:pPr marL="0" indent="0" algn="l">
              <a:lnSpc>
                <a:spcPts val="2600"/>
              </a:lnSpc>
              <a:buNone/>
            </a:pPr>
            <a:r>
              <a:rPr lang="en-US" sz="2000" b="1" dirty="0">
                <a:solidFill>
                  <a:srgbClr val="A9520F"/>
                </a:solidFill>
                <a:latin typeface="JetBrains Mono" pitchFamily="49" charset="0"/>
                <a:ea typeface="JetBrains Mono" pitchFamily="49" charset="-122"/>
                <a:cs typeface="JetBrains Mono" pitchFamily="49" charset="-120"/>
              </a:rPr>
              <a:t>d = 1/u</a:t>
            </a:r>
            <a:endParaRPr lang="en-US" sz="2000" dirty="0"/>
          </a:p>
        </p:txBody>
      </p:sp>
      <p:sp>
        <p:nvSpPr>
          <p:cNvPr id="11" name="Text 9"/>
          <p:cNvSpPr/>
          <p:nvPr/>
        </p:nvSpPr>
        <p:spPr>
          <a:xfrm>
            <a:off x="4637584" y="2772370"/>
            <a:ext cx="3004287" cy="885230"/>
          </a:xfrm>
          <a:prstGeom prst="rect">
            <a:avLst/>
          </a:prstGeom>
          <a:noFill/>
          <a:ln/>
        </p:spPr>
        <p:txBody>
          <a:bodyPr wrap="square" lIns="0" tIns="0" rIns="0" bIns="0" rtlCol="0" anchor="t">
            <a:no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Log-return variance per step = σ²Δt. The tree recombines around S₀.</a:t>
            </a:r>
            <a:endParaRPr lang="en-US" sz="1600" dirty="0"/>
          </a:p>
        </p:txBody>
      </p:sp>
      <p:sp>
        <p:nvSpPr>
          <p:cNvPr id="12" name="Shape 10"/>
          <p:cNvSpPr/>
          <p:nvPr/>
        </p:nvSpPr>
        <p:spPr>
          <a:xfrm>
            <a:off x="7995692" y="1489075"/>
            <a:ext cx="3700500" cy="2238863"/>
          </a:xfrm>
          <a:prstGeom prst="roundRect">
            <a:avLst>
              <a:gd name="adj" fmla="val 4937"/>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13" name="Text 11"/>
          <p:cNvSpPr/>
          <p:nvPr/>
        </p:nvSpPr>
        <p:spPr>
          <a:xfrm>
            <a:off x="8227467" y="1720850"/>
            <a:ext cx="300428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A7179"/>
                </a:solidFill>
                <a:latin typeface="IBM Plex Sans" pitchFamily="34" charset="0"/>
                <a:ea typeface="IBM Plex Sans" pitchFamily="34" charset="-122"/>
                <a:cs typeface="IBM Plex Sans" pitchFamily="34" charset="-120"/>
              </a:rPr>
              <a:t>RISK-NEUTRAL WEIGHT</a:t>
            </a:r>
            <a:endParaRPr lang="en-US" sz="1200" dirty="0"/>
          </a:p>
        </p:txBody>
      </p:sp>
      <p:sp>
        <p:nvSpPr>
          <p:cNvPr id="14" name="Text 12"/>
          <p:cNvSpPr/>
          <p:nvPr/>
        </p:nvSpPr>
        <p:spPr>
          <a:xfrm>
            <a:off x="8227467" y="2023070"/>
            <a:ext cx="3257799" cy="6858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14202E"/>
                </a:solidFill>
                <a:latin typeface="JetBrains Mono" pitchFamily="49" charset="0"/>
                <a:ea typeface="JetBrains Mono" pitchFamily="49" charset="-122"/>
                <a:cs typeface="JetBrains Mono" pitchFamily="49" charset="-120"/>
              </a:rPr>
              <a:t>q = (e^(rΔt) − d)</a:t>
            </a:r>
            <a:r>
              <a:rPr lang="en-US" sz="2000" dirty="0"/>
              <a:t> </a:t>
            </a:r>
            <a:r>
              <a:rPr lang="en-US" sz="2000" b="1" dirty="0">
                <a:solidFill>
                  <a:srgbClr val="14202E"/>
                </a:solidFill>
                <a:latin typeface="JetBrains Mono" pitchFamily="49" charset="0"/>
                <a:ea typeface="JetBrains Mono" pitchFamily="49" charset="-122"/>
                <a:cs typeface="JetBrains Mono" pitchFamily="49" charset="-120"/>
              </a:rPr>
              <a:t>/ (u − d)</a:t>
            </a:r>
            <a:endParaRPr lang="en-US" sz="2000" dirty="0"/>
          </a:p>
        </p:txBody>
      </p:sp>
      <p:sp>
        <p:nvSpPr>
          <p:cNvPr id="15" name="Text 13"/>
          <p:cNvSpPr/>
          <p:nvPr/>
        </p:nvSpPr>
        <p:spPr>
          <a:xfrm>
            <a:off x="8227467" y="2772370"/>
            <a:ext cx="3004287" cy="88523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Expected growth per step is exactly e^(rΔt).</a:t>
            </a:r>
            <a:endParaRPr lang="en-US" sz="1600" dirty="0"/>
          </a:p>
        </p:txBody>
      </p:sp>
      <p:sp>
        <p:nvSpPr>
          <p:cNvPr id="16" name="Shape 14"/>
          <p:cNvSpPr/>
          <p:nvPr/>
        </p:nvSpPr>
        <p:spPr>
          <a:xfrm>
            <a:off x="812799" y="3971162"/>
            <a:ext cx="10883391" cy="553690"/>
          </a:xfrm>
          <a:prstGeom prst="roundRect">
            <a:avLst>
              <a:gd name="adj" fmla="val 18350"/>
            </a:avLst>
          </a:prstGeom>
          <a:solidFill>
            <a:srgbClr val="ECE8DC"/>
          </a:solidFill>
          <a:ln/>
          <a:effectLst>
            <a:outerShdw blurRad="50800" dist="38100" dir="2700000" algn="tl" rotWithShape="0">
              <a:prstClr val="black">
                <a:alpha val="40000"/>
              </a:prstClr>
            </a:outerShdw>
          </a:effectLst>
        </p:spPr>
        <p:txBody>
          <a:bodyPr/>
          <a:lstStyle/>
          <a:p>
            <a:endParaRPr lang="en-SE" sz="2000"/>
          </a:p>
        </p:txBody>
      </p:sp>
      <p:sp>
        <p:nvSpPr>
          <p:cNvPr id="17" name="Text 15"/>
          <p:cNvSpPr/>
          <p:nvPr/>
        </p:nvSpPr>
        <p:spPr>
          <a:xfrm>
            <a:off x="1041400" y="4123562"/>
            <a:ext cx="3010586" cy="274290"/>
          </a:xfrm>
          <a:prstGeom prst="rect">
            <a:avLst/>
          </a:prstGeom>
          <a:noFill/>
          <a:ln/>
        </p:spPr>
        <p:txBody>
          <a:bodyPr wrap="square" lIns="0" tIns="0" rIns="0" bIns="0" rtlCol="0" anchor="t">
            <a:noAutofit/>
          </a:bodyPr>
          <a:lstStyle/>
          <a:p>
            <a:pPr marL="0" indent="0" algn="l">
              <a:lnSpc>
                <a:spcPts val="1960"/>
              </a:lnSpc>
              <a:buNone/>
            </a:pPr>
            <a:r>
              <a:rPr lang="en-US" sz="1600" b="1" dirty="0">
                <a:solidFill>
                  <a:srgbClr val="44505E"/>
                </a:solidFill>
                <a:latin typeface="IBM Plex Sans" pitchFamily="34" charset="0"/>
                <a:ea typeface="IBM Plex Sans" pitchFamily="34" charset="-122"/>
                <a:cs typeface="IBM Plex Sans" pitchFamily="34" charset="-120"/>
              </a:rPr>
              <a:t>σ = 20%, r = 5%, T = 1, n = 4 :</a:t>
            </a:r>
            <a:endParaRPr lang="en-US" sz="1600" b="1" dirty="0"/>
          </a:p>
        </p:txBody>
      </p:sp>
      <p:sp>
        <p:nvSpPr>
          <p:cNvPr id="18" name="Text 16"/>
          <p:cNvSpPr/>
          <p:nvPr/>
        </p:nvSpPr>
        <p:spPr>
          <a:xfrm>
            <a:off x="3855422" y="4123562"/>
            <a:ext cx="6144816" cy="274290"/>
          </a:xfrm>
          <a:prstGeom prst="rect">
            <a:avLst/>
          </a:prstGeom>
          <a:noFill/>
          <a:ln/>
        </p:spPr>
        <p:txBody>
          <a:bodyPr wrap="square" lIns="0" tIns="0" rIns="0" bIns="0" rtlCol="0" anchor="t">
            <a:normAutofit/>
          </a:bodyPr>
          <a:lstStyle/>
          <a:p>
            <a:pPr marL="0" indent="0" algn="l">
              <a:lnSpc>
                <a:spcPts val="1960"/>
              </a:lnSpc>
              <a:buNone/>
            </a:pPr>
            <a:r>
              <a:rPr lang="en-US" sz="1600" b="1" dirty="0">
                <a:solidFill>
                  <a:srgbClr val="14202E"/>
                </a:solidFill>
                <a:latin typeface="JetBrains Mono" pitchFamily="49" charset="0"/>
                <a:ea typeface="JetBrains Mono" pitchFamily="49" charset="-122"/>
                <a:cs typeface="JetBrains Mono" pitchFamily="49" charset="-120"/>
              </a:rPr>
              <a:t>Δt = 0.25 · u = 1.1052 · d = 0.9048 · q = 0.5378</a:t>
            </a:r>
            <a:endParaRPr lang="en-US" sz="1600" b="1"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54">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3A33B"/>
                </a:solidFill>
                <a:latin typeface="IBM Plex Sans" pitchFamily="34" charset="0"/>
                <a:ea typeface="IBM Plex Sans" pitchFamily="34" charset="-122"/>
                <a:cs typeface="IBM Plex Sans" pitchFamily="34" charset="-120"/>
              </a:rPr>
              <a:t>05 · BACK TO BLACK-SCHOLES · BACKWARD</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5F3EC"/>
                </a:solidFill>
                <a:latin typeface="Source Serif 4" pitchFamily="18" charset="0"/>
                <a:ea typeface="Source Serif 4" pitchFamily="18" charset="-122"/>
                <a:cs typeface="Source Serif 4" pitchFamily="18" charset="-120"/>
              </a:rPr>
              <a:t>The backward step </a:t>
            </a:r>
            <a:r>
              <a:rPr lang="en-US" sz="3000" b="1" i="1" dirty="0">
                <a:solidFill>
                  <a:srgbClr val="F5F3EC"/>
                </a:solidFill>
                <a:latin typeface="Source Serif 4" pitchFamily="18" charset="0"/>
                <a:ea typeface="Source Serif 4" pitchFamily="18" charset="-122"/>
                <a:cs typeface="Source Serif 4" pitchFamily="18" charset="-120"/>
              </a:rPr>
              <a:t>is</a:t>
            </a:r>
            <a:r>
              <a:rPr lang="en-US" sz="3000" b="1" i="0" dirty="0">
                <a:solidFill>
                  <a:srgbClr val="F5F3EC"/>
                </a:solidFill>
                <a:latin typeface="Source Serif 4" pitchFamily="18" charset="0"/>
                <a:ea typeface="Source Serif 4" pitchFamily="18" charset="-122"/>
                <a:cs typeface="Source Serif 4" pitchFamily="18" charset="-120"/>
              </a:rPr>
              <a:t> the Black-Scholes PDE, discretised</a:t>
            </a:r>
            <a:endParaRPr lang="en-US" sz="3000" dirty="0"/>
          </a:p>
        </p:txBody>
      </p:sp>
      <p:sp>
        <p:nvSpPr>
          <p:cNvPr id="4" name="Shape 2"/>
          <p:cNvSpPr/>
          <p:nvPr/>
        </p:nvSpPr>
        <p:spPr>
          <a:xfrm>
            <a:off x="812800" y="1435100"/>
            <a:ext cx="10566400" cy="624830"/>
          </a:xfrm>
          <a:prstGeom prst="roundRect">
            <a:avLst>
              <a:gd name="adj" fmla="val 16260"/>
            </a:avLst>
          </a:prstGeom>
          <a:solidFill>
            <a:srgbClr val="1F2F42"/>
          </a:solidFill>
          <a:ln/>
        </p:spPr>
        <p:txBody>
          <a:bodyPr/>
          <a:lstStyle/>
          <a:p>
            <a:endParaRPr lang="en-SE"/>
          </a:p>
        </p:txBody>
      </p:sp>
      <p:sp>
        <p:nvSpPr>
          <p:cNvPr id="5" name="Text 3"/>
          <p:cNvSpPr/>
          <p:nvPr/>
        </p:nvSpPr>
        <p:spPr>
          <a:xfrm>
            <a:off x="1016000" y="1587500"/>
            <a:ext cx="431800"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E3A33B"/>
                </a:solidFill>
                <a:latin typeface="JetBrains Mono" pitchFamily="49" charset="0"/>
                <a:ea typeface="JetBrains Mono" pitchFamily="49" charset="-122"/>
                <a:cs typeface="JetBrains Mono" pitchFamily="49" charset="-120"/>
              </a:rPr>
              <a:t>1</a:t>
            </a:r>
            <a:endParaRPr lang="en-US" sz="1800" dirty="0"/>
          </a:p>
        </p:txBody>
      </p:sp>
      <p:sp>
        <p:nvSpPr>
          <p:cNvPr id="6" name="Text 4"/>
          <p:cNvSpPr/>
          <p:nvPr/>
        </p:nvSpPr>
        <p:spPr>
          <a:xfrm>
            <a:off x="1574800" y="1618605"/>
            <a:ext cx="7482332" cy="28317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5F3EC"/>
                </a:solidFill>
                <a:latin typeface="JetBrains Mono" pitchFamily="49" charset="0"/>
                <a:ea typeface="JetBrains Mono" pitchFamily="49" charset="-122"/>
                <a:cs typeface="JetBrains Mono" pitchFamily="49" charset="-120"/>
              </a:rPr>
              <a:t>R·V(t, S) = q·V(t+Δt, uS) + (1−q)·V(t+Δt, dS)</a:t>
            </a:r>
            <a:endParaRPr lang="en-US" sz="1400" dirty="0"/>
          </a:p>
        </p:txBody>
      </p:sp>
      <p:sp>
        <p:nvSpPr>
          <p:cNvPr id="7" name="Text 5"/>
          <p:cNvSpPr/>
          <p:nvPr/>
        </p:nvSpPr>
        <p:spPr>
          <a:xfrm>
            <a:off x="9017000" y="1640830"/>
            <a:ext cx="22237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the lattice rule</a:t>
            </a:r>
            <a:endParaRPr lang="en-US" sz="1200" dirty="0"/>
          </a:p>
        </p:txBody>
      </p:sp>
      <p:sp>
        <p:nvSpPr>
          <p:cNvPr id="8" name="Shape 6"/>
          <p:cNvSpPr/>
          <p:nvPr/>
        </p:nvSpPr>
        <p:spPr>
          <a:xfrm>
            <a:off x="812800" y="2186930"/>
            <a:ext cx="10566400" cy="820341"/>
          </a:xfrm>
          <a:prstGeom prst="roundRect">
            <a:avLst>
              <a:gd name="adj" fmla="val 12385"/>
            </a:avLst>
          </a:prstGeom>
          <a:solidFill>
            <a:srgbClr val="1F2F42"/>
          </a:solidFill>
          <a:ln/>
        </p:spPr>
        <p:txBody>
          <a:bodyPr/>
          <a:lstStyle/>
          <a:p>
            <a:endParaRPr lang="en-SE"/>
          </a:p>
        </p:txBody>
      </p:sp>
      <p:sp>
        <p:nvSpPr>
          <p:cNvPr id="9" name="Text 7"/>
          <p:cNvSpPr/>
          <p:nvPr/>
        </p:nvSpPr>
        <p:spPr>
          <a:xfrm>
            <a:off x="1016000" y="2437061"/>
            <a:ext cx="431800"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E3A33B"/>
                </a:solidFill>
                <a:latin typeface="JetBrains Mono" pitchFamily="49" charset="0"/>
                <a:ea typeface="JetBrains Mono" pitchFamily="49" charset="-122"/>
                <a:cs typeface="JetBrains Mono" pitchFamily="49" charset="-120"/>
              </a:rPr>
              <a:t>2</a:t>
            </a:r>
            <a:endParaRPr lang="en-US" sz="1800" dirty="0"/>
          </a:p>
        </p:txBody>
      </p:sp>
      <p:sp>
        <p:nvSpPr>
          <p:cNvPr id="10" name="Text 8"/>
          <p:cNvSpPr/>
          <p:nvPr/>
        </p:nvSpPr>
        <p:spPr>
          <a:xfrm>
            <a:off x="1574800" y="2339330"/>
            <a:ext cx="7482332"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5F3EC"/>
                </a:solidFill>
                <a:latin typeface="JetBrains Mono" pitchFamily="49" charset="0"/>
                <a:ea typeface="JetBrains Mono" pitchFamily="49" charset="-122"/>
                <a:cs typeface="JetBrains Mono" pitchFamily="49" charset="-120"/>
              </a:rPr>
              <a:t>Taylor-expand, using E_q[ΔS] ≈ rSΔt and E_q[ΔS²] ≈ σ²S²Δt:</a:t>
            </a:r>
            <a:endParaRPr lang="en-US" sz="1400" dirty="0"/>
          </a:p>
          <a:p>
            <a:pPr marL="0" indent="0" algn="l">
              <a:lnSpc>
                <a:spcPts val="2030"/>
              </a:lnSpc>
              <a:buNone/>
            </a:pPr>
            <a:r>
              <a:rPr lang="en-US" sz="1400" dirty="0">
                <a:solidFill>
                  <a:srgbClr val="F5F3EC"/>
                </a:solidFill>
                <a:latin typeface="JetBrains Mono" pitchFamily="49" charset="0"/>
                <a:ea typeface="JetBrains Mono" pitchFamily="49" charset="-122"/>
                <a:cs typeface="JetBrains Mono" pitchFamily="49" charset="-120"/>
              </a:rPr>
              <a:t>RHS ≈ V + (∂V/∂t + rS·∂V/∂S + ½σ²S²·∂²V/∂S²)·Δt</a:t>
            </a:r>
            <a:endParaRPr lang="en-US" sz="1400" dirty="0"/>
          </a:p>
        </p:txBody>
      </p:sp>
      <p:sp>
        <p:nvSpPr>
          <p:cNvPr id="11" name="Text 9"/>
          <p:cNvSpPr/>
          <p:nvPr/>
        </p:nvSpPr>
        <p:spPr>
          <a:xfrm>
            <a:off x="9017000" y="2383780"/>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first two moments of one step under q</a:t>
            </a:r>
            <a:endParaRPr lang="en-US" sz="1200" dirty="0"/>
          </a:p>
        </p:txBody>
      </p:sp>
      <p:sp>
        <p:nvSpPr>
          <p:cNvPr id="12" name="Shape 10"/>
          <p:cNvSpPr/>
          <p:nvPr/>
        </p:nvSpPr>
        <p:spPr>
          <a:xfrm>
            <a:off x="812800" y="3134271"/>
            <a:ext cx="10566400" cy="624830"/>
          </a:xfrm>
          <a:prstGeom prst="roundRect">
            <a:avLst>
              <a:gd name="adj" fmla="val 16260"/>
            </a:avLst>
          </a:prstGeom>
          <a:solidFill>
            <a:srgbClr val="1F2F42"/>
          </a:solidFill>
          <a:ln/>
        </p:spPr>
        <p:txBody>
          <a:bodyPr/>
          <a:lstStyle/>
          <a:p>
            <a:endParaRPr lang="en-SE"/>
          </a:p>
        </p:txBody>
      </p:sp>
      <p:sp>
        <p:nvSpPr>
          <p:cNvPr id="13" name="Text 11"/>
          <p:cNvSpPr/>
          <p:nvPr/>
        </p:nvSpPr>
        <p:spPr>
          <a:xfrm>
            <a:off x="1016000" y="3286671"/>
            <a:ext cx="431800"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E3A33B"/>
                </a:solidFill>
                <a:latin typeface="JetBrains Mono" pitchFamily="49" charset="0"/>
                <a:ea typeface="JetBrains Mono" pitchFamily="49" charset="-122"/>
                <a:cs typeface="JetBrains Mono" pitchFamily="49" charset="-120"/>
              </a:rPr>
              <a:t>3</a:t>
            </a:r>
            <a:endParaRPr lang="en-US" sz="1800" dirty="0"/>
          </a:p>
        </p:txBody>
      </p:sp>
      <p:sp>
        <p:nvSpPr>
          <p:cNvPr id="14" name="Text 12"/>
          <p:cNvSpPr/>
          <p:nvPr/>
        </p:nvSpPr>
        <p:spPr>
          <a:xfrm>
            <a:off x="1574800" y="3317776"/>
            <a:ext cx="7482332" cy="28317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5F3EC"/>
                </a:solidFill>
                <a:latin typeface="JetBrains Mono" pitchFamily="49" charset="0"/>
                <a:ea typeface="JetBrains Mono" pitchFamily="49" charset="-122"/>
                <a:cs typeface="JetBrains Mono" pitchFamily="49" charset="-120"/>
              </a:rPr>
              <a:t>LHS ≈ V + rV·Δt. Cancel V, divide by Δt, let Δt → 0:</a:t>
            </a:r>
            <a:endParaRPr lang="en-US" sz="1400" dirty="0"/>
          </a:p>
        </p:txBody>
      </p:sp>
      <p:sp>
        <p:nvSpPr>
          <p:cNvPr id="15" name="Text 13"/>
          <p:cNvSpPr/>
          <p:nvPr/>
        </p:nvSpPr>
        <p:spPr>
          <a:xfrm>
            <a:off x="9017000" y="3340001"/>
            <a:ext cx="22237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R = e^(rΔt) ≈ 1 + rΔt</a:t>
            </a:r>
            <a:endParaRPr lang="en-US" sz="1200" dirty="0"/>
          </a:p>
        </p:txBody>
      </p:sp>
      <p:sp>
        <p:nvSpPr>
          <p:cNvPr id="16" name="Text 14"/>
          <p:cNvSpPr/>
          <p:nvPr/>
        </p:nvSpPr>
        <p:spPr>
          <a:xfrm>
            <a:off x="812800" y="3962301"/>
            <a:ext cx="10566400" cy="624830"/>
          </a:xfrm>
          <a:prstGeom prst="roundRect">
            <a:avLst>
              <a:gd name="adj" fmla="val 16260"/>
            </a:avLst>
          </a:prstGeom>
          <a:solidFill>
            <a:srgbClr val="E3A33B"/>
          </a:solidFill>
          <a:ln/>
        </p:spPr>
        <p:txBody>
          <a:bodyPr wrap="square" lIns="173442" tIns="122642" rIns="0" bIns="97242" rtlCol="0" anchor="t">
            <a:normAutofit/>
          </a:bodyPr>
          <a:lstStyle/>
          <a:p>
            <a:pPr marL="0" indent="0" algn="l">
              <a:lnSpc>
                <a:spcPts val="2520"/>
              </a:lnSpc>
              <a:buNone/>
            </a:pPr>
            <a:r>
              <a:rPr lang="en-US" sz="1800" dirty="0">
                <a:solidFill>
                  <a:srgbClr val="14202E"/>
                </a:solidFill>
                <a:latin typeface="JetBrains Mono" pitchFamily="49" charset="0"/>
                <a:ea typeface="JetBrains Mono" pitchFamily="49" charset="-122"/>
                <a:cs typeface="JetBrains Mono" pitchFamily="49" charset="-120"/>
              </a:rPr>
              <a:t>∂V/∂t + r·S·∂V/∂S + ½·σ²·S²·∂²V/∂S² − r·V = 0</a:t>
            </a:r>
            <a:endParaRPr lang="en-US" sz="1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55">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05 · BACK TO BLACK-SCHOLES · FORWARD</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The forward pass converges to the lognormal</a:t>
            </a:r>
            <a:endParaRPr lang="en-US" sz="3000" dirty="0"/>
          </a:p>
        </p:txBody>
      </p:sp>
      <p:sp>
        <p:nvSpPr>
          <p:cNvPr id="4" name="Shape 2"/>
          <p:cNvSpPr/>
          <p:nvPr/>
        </p:nvSpPr>
        <p:spPr>
          <a:xfrm>
            <a:off x="815975" y="1463675"/>
            <a:ext cx="6851650" cy="3930650"/>
          </a:xfrm>
          <a:prstGeom prst="roundRect">
            <a:avLst>
              <a:gd name="adj" fmla="val 2504"/>
            </a:avLst>
          </a:prstGeom>
          <a:solidFill>
            <a:srgbClr val="FDFCF8"/>
          </a:solidFill>
          <a:ln w="6350">
            <a:solidFill>
              <a:srgbClr val="DDD7C6"/>
            </a:solidFill>
            <a:prstDash val="solid"/>
          </a:ln>
        </p:spPr>
        <p:txBody>
          <a:bodyPr/>
          <a:lstStyle/>
          <a:p>
            <a:endParaRPr lang="en-SE"/>
          </a:p>
        </p:txBody>
      </p:sp>
      <p:pic>
        <p:nvPicPr>
          <p:cNvPr id="5" name="Image 0" descr="Bar chart of the 20-step risk-neutral binomial distribution of S(T) on a log axis, closely matched by an overlaid normal curve"/>
          <p:cNvPicPr>
            <a:picLocks noChangeAspect="1"/>
          </p:cNvPicPr>
          <p:nvPr/>
        </p:nvPicPr>
        <p:blipFill>
          <a:blip r:embed="rId3"/>
          <a:srcRect/>
          <a:stretch/>
        </p:blipFill>
        <p:spPr>
          <a:xfrm>
            <a:off x="1066800" y="1714500"/>
            <a:ext cx="6350000" cy="2921000"/>
          </a:xfrm>
          <a:prstGeom prst="rect">
            <a:avLst/>
          </a:prstGeom>
        </p:spPr>
      </p:pic>
      <p:sp>
        <p:nvSpPr>
          <p:cNvPr id="6" name="Text 3"/>
          <p:cNvSpPr/>
          <p:nvPr/>
        </p:nvSpPr>
        <p:spPr>
          <a:xfrm>
            <a:off x="939800" y="47117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40.9</a:t>
            </a:r>
            <a:endParaRPr lang="en-US" sz="1200" dirty="0"/>
          </a:p>
        </p:txBody>
      </p:sp>
      <p:sp>
        <p:nvSpPr>
          <p:cNvPr id="7" name="Text 4"/>
          <p:cNvSpPr/>
          <p:nvPr/>
        </p:nvSpPr>
        <p:spPr>
          <a:xfrm>
            <a:off x="2451100" y="47117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63.9</a:t>
            </a:r>
            <a:endParaRPr lang="en-US" sz="1200" dirty="0"/>
          </a:p>
        </p:txBody>
      </p:sp>
      <p:sp>
        <p:nvSpPr>
          <p:cNvPr id="8" name="Text 5"/>
          <p:cNvSpPr/>
          <p:nvPr/>
        </p:nvSpPr>
        <p:spPr>
          <a:xfrm>
            <a:off x="3962400" y="47117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100</a:t>
            </a:r>
            <a:endParaRPr lang="en-US" sz="1200" dirty="0"/>
          </a:p>
        </p:txBody>
      </p:sp>
      <p:sp>
        <p:nvSpPr>
          <p:cNvPr id="9" name="Text 6"/>
          <p:cNvSpPr/>
          <p:nvPr/>
        </p:nvSpPr>
        <p:spPr>
          <a:xfrm>
            <a:off x="5473700" y="47117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156.4</a:t>
            </a:r>
            <a:endParaRPr lang="en-US" sz="1200" dirty="0"/>
          </a:p>
        </p:txBody>
      </p:sp>
      <p:sp>
        <p:nvSpPr>
          <p:cNvPr id="10" name="Text 7"/>
          <p:cNvSpPr/>
          <p:nvPr/>
        </p:nvSpPr>
        <p:spPr>
          <a:xfrm>
            <a:off x="6985000" y="47117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244.6</a:t>
            </a:r>
            <a:endParaRPr lang="en-US" sz="1200" dirty="0"/>
          </a:p>
        </p:txBody>
      </p:sp>
      <p:sp>
        <p:nvSpPr>
          <p:cNvPr id="11" name="Text 8"/>
          <p:cNvSpPr/>
          <p:nvPr/>
        </p:nvSpPr>
        <p:spPr>
          <a:xfrm>
            <a:off x="971550" y="5016500"/>
            <a:ext cx="65405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IBM Plex Sans" pitchFamily="34" charset="0"/>
                <a:ea typeface="IBM Plex Sans" pitchFamily="34" charset="-122"/>
                <a:cs typeface="IBM Plex Sans" pitchFamily="34" charset="-120"/>
              </a:rPr>
              <a:t>S(T), log scale · n = 20 · σ = 20% · r = 5% · T = 1</a:t>
            </a:r>
            <a:endParaRPr lang="en-US" sz="1200" dirty="0"/>
          </a:p>
        </p:txBody>
      </p:sp>
      <p:sp>
        <p:nvSpPr>
          <p:cNvPr id="12" name="Text 9"/>
          <p:cNvSpPr/>
          <p:nvPr/>
        </p:nvSpPr>
        <p:spPr>
          <a:xfrm>
            <a:off x="5257800" y="1841500"/>
            <a:ext cx="2223770"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B65C8"/>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lattice, q-probabilities</a:t>
            </a:r>
            <a:endParaRPr lang="en-US" sz="1200" dirty="0"/>
          </a:p>
          <a:p>
            <a:pPr marL="0" indent="0" algn="l">
              <a:lnSpc>
                <a:spcPts val="1800"/>
              </a:lnSpc>
              <a:buNone/>
            </a:pPr>
            <a:r>
              <a:rPr lang="en-US" sz="1200" dirty="0">
                <a:solidFill>
                  <a:srgbClr val="C4661A"/>
                </a:solidFill>
                <a:latin typeface="IBM Plex Sans" pitchFamily="34" charset="0"/>
                <a:ea typeface="IBM Plex Sans" pitchFamily="34" charset="-122"/>
                <a:cs typeface="IBM Plex Sans" pitchFamily="34" charset="-120"/>
              </a:rPr>
              <a:t>━</a:t>
            </a:r>
            <a:r>
              <a:rPr lang="en-US" sz="1200" dirty="0">
                <a:solidFill>
                  <a:srgbClr val="14202E"/>
                </a:solidFill>
                <a:latin typeface="IBM Plex Sans" pitchFamily="34" charset="0"/>
                <a:ea typeface="IBM Plex Sans" pitchFamily="34" charset="-122"/>
                <a:cs typeface="IBM Plex Sans" pitchFamily="34" charset="-120"/>
              </a:rPr>
              <a:t> normal density of ln S(T)</a:t>
            </a:r>
            <a:endParaRPr lang="en-US" sz="1200" dirty="0"/>
          </a:p>
        </p:txBody>
      </p:sp>
      <p:sp>
        <p:nvSpPr>
          <p:cNvPr id="13" name="Text 10"/>
          <p:cNvSpPr/>
          <p:nvPr/>
        </p:nvSpPr>
        <p:spPr>
          <a:xfrm>
            <a:off x="7924800" y="1460500"/>
            <a:ext cx="3558032"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Forward-propagating q gives a </a:t>
            </a:r>
            <a:r>
              <a:rPr lang="en-US" sz="1400" b="1" dirty="0">
                <a:solidFill>
                  <a:srgbClr val="14202E"/>
                </a:solidFill>
                <a:latin typeface="IBM Plex Sans" pitchFamily="34" charset="0"/>
                <a:ea typeface="IBM Plex Sans" pitchFamily="34" charset="-122"/>
                <a:cs typeface="IBM Plex Sans" pitchFamily="34" charset="-120"/>
              </a:rPr>
              <a:t>binomial</a:t>
            </a:r>
            <a:r>
              <a:rPr lang="en-US" sz="1400" dirty="0">
                <a:solidFill>
                  <a:srgbClr val="44505E"/>
                </a:solidFill>
                <a:latin typeface="IBM Plex Sans" pitchFamily="34" charset="0"/>
                <a:ea typeface="IBM Plex Sans" pitchFamily="34" charset="-122"/>
                <a:cs typeface="IBM Plex Sans" pitchFamily="34" charset="-120"/>
              </a:rPr>
              <a:t> count of up-moves at T.</a:t>
            </a:r>
            <a:endParaRPr lang="en-US" sz="1400" dirty="0"/>
          </a:p>
        </p:txBody>
      </p:sp>
      <p:sp>
        <p:nvSpPr>
          <p:cNvPr id="14" name="Text 11"/>
          <p:cNvSpPr/>
          <p:nvPr/>
        </p:nvSpPr>
        <p:spPr>
          <a:xfrm>
            <a:off x="7924800" y="2128441"/>
            <a:ext cx="3558032"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By the central limit theorem, ln S(T) becomes </a:t>
            </a:r>
            <a:r>
              <a:rPr lang="en-US" sz="1400" b="1" dirty="0">
                <a:solidFill>
                  <a:srgbClr val="14202E"/>
                </a:solidFill>
                <a:latin typeface="IBM Plex Sans" pitchFamily="34" charset="0"/>
                <a:ea typeface="IBM Plex Sans" pitchFamily="34" charset="-122"/>
                <a:cs typeface="IBM Plex Sans" pitchFamily="34" charset="-120"/>
              </a:rPr>
              <a:t>normal</a:t>
            </a:r>
            <a:r>
              <a:rPr lang="en-US" sz="1400" dirty="0">
                <a:solidFill>
                  <a:srgbClr val="44505E"/>
                </a:solidFill>
                <a:latin typeface="IBM Plex Sans" pitchFamily="34" charset="0"/>
                <a:ea typeface="IBM Plex Sans" pitchFamily="34" charset="-122"/>
                <a:cs typeface="IBM Plex Sans" pitchFamily="34" charset="-120"/>
              </a:rPr>
              <a:t>: mean ln S₀ + (r − σ²/2)T, variance σ²T.</a:t>
            </a:r>
            <a:endParaRPr lang="en-US" sz="1400" dirty="0"/>
          </a:p>
        </p:txBody>
      </p:sp>
      <p:sp>
        <p:nvSpPr>
          <p:cNvPr id="15" name="Text 12"/>
          <p:cNvSpPr/>
          <p:nvPr/>
        </p:nvSpPr>
        <p:spPr>
          <a:xfrm>
            <a:off x="7924800" y="3054152"/>
            <a:ext cx="3558032"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5E"/>
                </a:solidFill>
                <a:latin typeface="IBM Plex Sans" pitchFamily="34" charset="0"/>
                <a:ea typeface="IBM Plex Sans" pitchFamily="34" charset="-122"/>
                <a:cs typeface="IBM Plex Sans" pitchFamily="34" charset="-120"/>
              </a:rPr>
              <a:t>That is geometric Brownian motion under Q — Black-Scholes’ assumption.</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56">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05 · BACK TO BLACK-SCHOLES · THE FORMULA</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The lattice sum splits into the two Black-Scholes terms</a:t>
            </a:r>
            <a:endParaRPr lang="en-US" sz="3000" dirty="0"/>
          </a:p>
        </p:txBody>
      </p:sp>
      <p:sp>
        <p:nvSpPr>
          <p:cNvPr id="4" name="Shape 2"/>
          <p:cNvSpPr/>
          <p:nvPr/>
        </p:nvSpPr>
        <p:spPr>
          <a:xfrm>
            <a:off x="815975" y="1463675"/>
            <a:ext cx="10560050" cy="1029891"/>
          </a:xfrm>
          <a:prstGeom prst="roundRect">
            <a:avLst>
              <a:gd name="adj" fmla="val 9557"/>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sp>
        <p:nvSpPr>
          <p:cNvPr id="5" name="Text 3"/>
          <p:cNvSpPr/>
          <p:nvPr/>
        </p:nvSpPr>
        <p:spPr>
          <a:xfrm>
            <a:off x="1073150" y="1670050"/>
            <a:ext cx="10347071" cy="238720"/>
          </a:xfrm>
          <a:prstGeom prst="rect">
            <a:avLst/>
          </a:prstGeom>
          <a:noFill/>
          <a:ln/>
        </p:spPr>
        <p:txBody>
          <a:bodyPr wrap="square" lIns="0" tIns="0" rIns="0" bIns="0" rtlCol="0" anchor="t">
            <a:normAutofit/>
          </a:bodyPr>
          <a:lstStyle/>
          <a:p>
            <a:pPr marL="0" indent="0" algn="l">
              <a:lnSpc>
                <a:spcPts val="1680"/>
              </a:lnSpc>
              <a:buNone/>
            </a:pPr>
            <a:r>
              <a:rPr lang="en-US" sz="1400" b="1" kern="0" spc="150" dirty="0">
                <a:solidFill>
                  <a:srgbClr val="6A7179"/>
                </a:solidFill>
                <a:latin typeface="IBM Plex Sans" pitchFamily="34" charset="0"/>
                <a:ea typeface="IBM Plex Sans" pitchFamily="34" charset="-122"/>
                <a:cs typeface="IBM Plex Sans" pitchFamily="34" charset="-120"/>
              </a:rPr>
              <a:t>BINOMIAL CALL PRICE · A = FEWEST UP-MOVES THAT FINISH ABOVE K</a:t>
            </a:r>
            <a:endParaRPr lang="en-US" sz="1400" dirty="0"/>
          </a:p>
        </p:txBody>
      </p:sp>
      <p:sp>
        <p:nvSpPr>
          <p:cNvPr id="6" name="Text 4"/>
          <p:cNvSpPr/>
          <p:nvPr/>
        </p:nvSpPr>
        <p:spPr>
          <a:xfrm>
            <a:off x="1073150" y="1984970"/>
            <a:ext cx="10347071" cy="327620"/>
          </a:xfrm>
          <a:prstGeom prst="rect">
            <a:avLst/>
          </a:prstGeom>
          <a:noFill/>
          <a:ln/>
        </p:spPr>
        <p:txBody>
          <a:bodyPr wrap="square" lIns="0" tIns="0" rIns="0" bIns="0" rtlCol="0" anchor="t">
            <a:normAutofit/>
          </a:bodyPr>
          <a:lstStyle/>
          <a:p>
            <a:pPr marL="0" indent="0" algn="l">
              <a:lnSpc>
                <a:spcPts val="2380"/>
              </a:lnSpc>
              <a:buNone/>
            </a:pPr>
            <a:r>
              <a:rPr lang="en-US" dirty="0">
                <a:solidFill>
                  <a:srgbClr val="14202E"/>
                </a:solidFill>
                <a:latin typeface="JetBrains Mono" pitchFamily="49" charset="0"/>
                <a:ea typeface="JetBrains Mono" pitchFamily="49" charset="-122"/>
                <a:cs typeface="JetBrains Mono" pitchFamily="49" charset="-120"/>
              </a:rPr>
              <a:t>C₀ = S₀·</a:t>
            </a:r>
            <a:r>
              <a:rPr lang="en-US" dirty="0">
                <a:solidFill>
                  <a:srgbClr val="2B65C8"/>
                </a:solidFill>
                <a:latin typeface="JetBrains Mono" pitchFamily="49" charset="0"/>
                <a:ea typeface="JetBrains Mono" pitchFamily="49" charset="-122"/>
                <a:cs typeface="JetBrains Mono" pitchFamily="49" charset="-120"/>
              </a:rPr>
              <a:t>P[Bin(n, q′) ≥ a]</a:t>
            </a:r>
            <a:r>
              <a:rPr lang="en-US" dirty="0">
                <a:solidFill>
                  <a:srgbClr val="14202E"/>
                </a:solidFill>
                <a:latin typeface="JetBrains Mono" pitchFamily="49" charset="0"/>
                <a:ea typeface="JetBrains Mono" pitchFamily="49" charset="-122"/>
                <a:cs typeface="JetBrains Mono" pitchFamily="49" charset="-120"/>
              </a:rPr>
              <a:t> − K·R⁻ⁿ·</a:t>
            </a:r>
            <a:r>
              <a:rPr lang="en-US" dirty="0">
                <a:solidFill>
                  <a:srgbClr val="A9520F"/>
                </a:solidFill>
                <a:latin typeface="JetBrains Mono" pitchFamily="49" charset="0"/>
                <a:ea typeface="JetBrains Mono" pitchFamily="49" charset="-122"/>
                <a:cs typeface="JetBrains Mono" pitchFamily="49" charset="-120"/>
              </a:rPr>
              <a:t>P[Bin(n, q) ≥ a]</a:t>
            </a:r>
            <a:r>
              <a:rPr lang="en-US" dirty="0">
                <a:solidFill>
                  <a:srgbClr val="14202E"/>
                </a:solidFill>
                <a:latin typeface="JetBrains Mono" pitchFamily="49" charset="0"/>
                <a:ea typeface="JetBrains Mono" pitchFamily="49" charset="-122"/>
                <a:cs typeface="JetBrains Mono" pitchFamily="49" charset="-120"/>
              </a:rPr>
              <a:t>, q′ = q·u/R</a:t>
            </a:r>
            <a:endParaRPr lang="en-US" dirty="0"/>
          </a:p>
        </p:txBody>
      </p:sp>
      <p:pic>
        <p:nvPicPr>
          <p:cNvPr id="7" name="Image 0" descr="arrow-down"/>
          <p:cNvPicPr>
            <a:picLocks noChangeAspect="1"/>
          </p:cNvPicPr>
          <p:nvPr/>
        </p:nvPicPr>
        <p:blipFill>
          <a:blip r:embed="rId3"/>
          <a:srcRect/>
          <a:stretch/>
        </p:blipFill>
        <p:spPr>
          <a:xfrm>
            <a:off x="812800" y="2725341"/>
            <a:ext cx="355600" cy="508000"/>
          </a:xfrm>
          <a:prstGeom prst="rect">
            <a:avLst/>
          </a:prstGeom>
        </p:spPr>
      </p:pic>
      <p:sp>
        <p:nvSpPr>
          <p:cNvPr id="8" name="Text 5"/>
          <p:cNvSpPr/>
          <p:nvPr/>
        </p:nvSpPr>
        <p:spPr>
          <a:xfrm>
            <a:off x="1371600" y="2850455"/>
            <a:ext cx="2807851" cy="283170"/>
          </a:xfrm>
          <a:prstGeom prst="rect">
            <a:avLst/>
          </a:prstGeom>
          <a:noFill/>
          <a:ln/>
        </p:spPr>
        <p:txBody>
          <a:bodyPr wrap="square" lIns="0" tIns="0" rIns="0" bIns="0" rtlCol="0" anchor="t">
            <a:normAutofit/>
          </a:bodyPr>
          <a:lstStyle/>
          <a:p>
            <a:pPr marL="0" indent="0" algn="l">
              <a:lnSpc>
                <a:spcPts val="2030"/>
              </a:lnSpc>
              <a:buNone/>
            </a:pPr>
            <a:r>
              <a:rPr lang="en-US" sz="1600" dirty="0">
                <a:solidFill>
                  <a:srgbClr val="44505E"/>
                </a:solidFill>
                <a:latin typeface="IBM Plex Sans" pitchFamily="34" charset="0"/>
                <a:ea typeface="IBM Plex Sans" pitchFamily="34" charset="-122"/>
                <a:cs typeface="IBM Plex Sans" pitchFamily="34" charset="-120"/>
              </a:rPr>
              <a:t>n → ∞ (CLT on each binomial)</a:t>
            </a:r>
            <a:endParaRPr lang="en-US" sz="1600" dirty="0"/>
          </a:p>
        </p:txBody>
      </p:sp>
      <p:sp>
        <p:nvSpPr>
          <p:cNvPr id="9" name="Shape 6"/>
          <p:cNvSpPr/>
          <p:nvPr/>
        </p:nvSpPr>
        <p:spPr>
          <a:xfrm>
            <a:off x="812800" y="3461941"/>
            <a:ext cx="10566400" cy="1049586"/>
          </a:xfrm>
          <a:prstGeom prst="roundRect">
            <a:avLst>
              <a:gd name="adj" fmla="val 9680"/>
            </a:avLst>
          </a:prstGeom>
          <a:solidFill>
            <a:srgbClr val="14202E"/>
          </a:solidFill>
          <a:ln/>
          <a:effectLst>
            <a:outerShdw blurRad="50800" dist="38100" dir="2700000" algn="tl" rotWithShape="0">
              <a:prstClr val="black">
                <a:alpha val="40000"/>
              </a:prstClr>
            </a:outerShdw>
          </a:effectLst>
        </p:spPr>
        <p:txBody>
          <a:bodyPr/>
          <a:lstStyle/>
          <a:p>
            <a:endParaRPr lang="en-SE"/>
          </a:p>
        </p:txBody>
      </p:sp>
      <p:sp>
        <p:nvSpPr>
          <p:cNvPr id="10" name="Text 7"/>
          <p:cNvSpPr/>
          <p:nvPr/>
        </p:nvSpPr>
        <p:spPr>
          <a:xfrm>
            <a:off x="1066800" y="3665141"/>
            <a:ext cx="10360152" cy="327620"/>
          </a:xfrm>
          <a:prstGeom prst="rect">
            <a:avLst/>
          </a:prstGeom>
          <a:noFill/>
          <a:ln/>
        </p:spPr>
        <p:txBody>
          <a:bodyPr wrap="square" lIns="0" tIns="0" rIns="0" bIns="0" rtlCol="0" anchor="t">
            <a:normAutofit/>
          </a:bodyPr>
          <a:lstStyle/>
          <a:p>
            <a:pPr marL="0" indent="0" algn="l">
              <a:lnSpc>
                <a:spcPts val="2380"/>
              </a:lnSpc>
              <a:buNone/>
            </a:pPr>
            <a:r>
              <a:rPr lang="en-US" dirty="0">
                <a:solidFill>
                  <a:srgbClr val="F5F3EC"/>
                </a:solidFill>
                <a:latin typeface="JetBrains Mono" pitchFamily="49" charset="0"/>
                <a:ea typeface="JetBrains Mono" pitchFamily="49" charset="-122"/>
                <a:cs typeface="JetBrains Mono" pitchFamily="49" charset="-120"/>
              </a:rPr>
              <a:t>C = S·</a:t>
            </a:r>
            <a:r>
              <a:rPr lang="en-US" dirty="0">
                <a:solidFill>
                  <a:srgbClr val="7FA8F0"/>
                </a:solidFill>
                <a:latin typeface="JetBrains Mono" pitchFamily="49" charset="0"/>
                <a:ea typeface="JetBrains Mono" pitchFamily="49" charset="-122"/>
                <a:cs typeface="JetBrains Mono" pitchFamily="49" charset="-120"/>
              </a:rPr>
              <a:t>N(d₁)</a:t>
            </a:r>
            <a:r>
              <a:rPr lang="en-US" dirty="0">
                <a:solidFill>
                  <a:srgbClr val="F5F3EC"/>
                </a:solidFill>
                <a:latin typeface="JetBrains Mono" pitchFamily="49" charset="0"/>
                <a:ea typeface="JetBrains Mono" pitchFamily="49" charset="-122"/>
                <a:cs typeface="JetBrains Mono" pitchFamily="49" charset="-120"/>
              </a:rPr>
              <a:t> − K·e^(−rT)·</a:t>
            </a:r>
            <a:r>
              <a:rPr lang="en-US" dirty="0">
                <a:solidFill>
                  <a:srgbClr val="F0A868"/>
                </a:solidFill>
                <a:latin typeface="JetBrains Mono" pitchFamily="49" charset="0"/>
                <a:ea typeface="JetBrains Mono" pitchFamily="49" charset="-122"/>
                <a:cs typeface="JetBrains Mono" pitchFamily="49" charset="-120"/>
              </a:rPr>
              <a:t>N(d₂)</a:t>
            </a:r>
            <a:endParaRPr lang="en-US" dirty="0"/>
          </a:p>
        </p:txBody>
      </p:sp>
      <p:sp>
        <p:nvSpPr>
          <p:cNvPr id="11" name="Text 8"/>
          <p:cNvSpPr/>
          <p:nvPr/>
        </p:nvSpPr>
        <p:spPr>
          <a:xfrm>
            <a:off x="1066800" y="4068961"/>
            <a:ext cx="10360152" cy="264765"/>
          </a:xfrm>
          <a:prstGeom prst="rect">
            <a:avLst/>
          </a:prstGeom>
          <a:noFill/>
          <a:ln/>
        </p:spPr>
        <p:txBody>
          <a:bodyPr wrap="square" lIns="0" tIns="0" rIns="0" bIns="0" rtlCol="0" anchor="t">
            <a:normAutofit/>
          </a:bodyPr>
          <a:lstStyle/>
          <a:p>
            <a:pPr marL="0" indent="0" algn="l">
              <a:lnSpc>
                <a:spcPts val="1885"/>
              </a:lnSpc>
              <a:buNone/>
            </a:pPr>
            <a:r>
              <a:rPr lang="en-US" sz="1400" dirty="0">
                <a:solidFill>
                  <a:srgbClr val="F0A868"/>
                </a:solidFill>
                <a:latin typeface="IBM Plex Sans" pitchFamily="34" charset="0"/>
                <a:ea typeface="IBM Plex Sans" pitchFamily="34" charset="-122"/>
                <a:cs typeface="IBM Plex Sans" pitchFamily="34" charset="-120"/>
              </a:rPr>
              <a:t>N(d₂)</a:t>
            </a:r>
            <a:r>
              <a:rPr lang="en-US" sz="1400" dirty="0">
                <a:solidFill>
                  <a:srgbClr val="BFCAD6"/>
                </a:solidFill>
                <a:latin typeface="IBM Plex Sans" pitchFamily="34" charset="0"/>
                <a:ea typeface="IBM Plex Sans" pitchFamily="34" charset="-122"/>
                <a:cs typeface="IBM Plex Sans" pitchFamily="34" charset="-120"/>
              </a:rPr>
              <a:t>: risk-neutral chance of finishing in the money. </a:t>
            </a:r>
            <a:r>
              <a:rPr lang="en-US" sz="1400" dirty="0">
                <a:solidFill>
                  <a:srgbClr val="7FA8F0"/>
                </a:solidFill>
                <a:latin typeface="IBM Plex Sans" pitchFamily="34" charset="0"/>
                <a:ea typeface="IBM Plex Sans" pitchFamily="34" charset="-122"/>
                <a:cs typeface="IBM Plex Sans" pitchFamily="34" charset="-120"/>
              </a:rPr>
              <a:t>N(d₁)</a:t>
            </a:r>
            <a:r>
              <a:rPr lang="en-US" sz="1400" dirty="0">
                <a:solidFill>
                  <a:srgbClr val="BFCAD6"/>
                </a:solidFill>
                <a:latin typeface="IBM Plex Sans" pitchFamily="34" charset="0"/>
                <a:ea typeface="IBM Plex Sans" pitchFamily="34" charset="-122"/>
                <a:cs typeface="IBM Plex Sans" pitchFamily="34" charset="-120"/>
              </a:rPr>
              <a:t>: the same with the stock as unit of account — and the hedge Δ.</a:t>
            </a:r>
            <a:endParaRPr lang="en-US" sz="1400" dirty="0"/>
          </a:p>
        </p:txBody>
      </p:sp>
      <p:sp>
        <p:nvSpPr>
          <p:cNvPr id="12" name="Text 9"/>
          <p:cNvSpPr/>
          <p:nvPr/>
        </p:nvSpPr>
        <p:spPr>
          <a:xfrm>
            <a:off x="812800" y="4740126"/>
            <a:ext cx="10883392" cy="273050"/>
          </a:xfrm>
          <a:prstGeom prst="rect">
            <a:avLst/>
          </a:prstGeom>
          <a:noFill/>
          <a:ln/>
        </p:spPr>
        <p:txBody>
          <a:bodyPr wrap="square" lIns="0" tIns="0" rIns="0" bIns="0" rtlCol="0" anchor="t">
            <a:normAutofit/>
          </a:bodyPr>
          <a:lstStyle/>
          <a:p>
            <a:pPr marL="0" indent="0" algn="l">
              <a:lnSpc>
                <a:spcPts val="1950"/>
              </a:lnSpc>
              <a:buNone/>
            </a:pPr>
            <a:r>
              <a:rPr lang="en-US" sz="1400" dirty="0">
                <a:solidFill>
                  <a:srgbClr val="44505E"/>
                </a:solidFill>
                <a:latin typeface="JetBrains Mono" pitchFamily="49" charset="0"/>
                <a:ea typeface="JetBrains Mono" pitchFamily="49" charset="-122"/>
                <a:cs typeface="JetBrains Mono" pitchFamily="49" charset="-120"/>
              </a:rPr>
              <a:t>Toy tree check (n = 3, a = 2): 100·0.7142 − 94.23·0.6480 = 71.42 − 61.06 = </a:t>
            </a:r>
            <a:r>
              <a:rPr lang="en-US" sz="1400" b="1" dirty="0">
                <a:solidFill>
                  <a:srgbClr val="14202E"/>
                </a:solidFill>
                <a:latin typeface="JetBrains Mono" pitchFamily="49" charset="0"/>
                <a:ea typeface="JetBrains Mono" pitchFamily="49" charset="-122"/>
                <a:cs typeface="JetBrains Mono" pitchFamily="49" charset="-120"/>
              </a:rPr>
              <a:t>10.36</a:t>
            </a:r>
            <a:r>
              <a:rPr lang="en-US" sz="1400" dirty="0">
                <a:solidFill>
                  <a:srgbClr val="44505E"/>
                </a:solidFill>
                <a:latin typeface="JetBrains Mono" pitchFamily="49" charset="0"/>
                <a:ea typeface="JetBrains Mono" pitchFamily="49" charset="-122"/>
                <a:cs typeface="JetBrains Mono" pitchFamily="49" charset="-120"/>
              </a:rPr>
              <a:t> ✓</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57">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05 · BACK TO BLACK-SCHOLES · CONVERGENCE</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More steps, closer to 10.4506</a:t>
            </a:r>
            <a:endParaRPr lang="en-US" sz="3000" dirty="0"/>
          </a:p>
        </p:txBody>
      </p:sp>
      <p:sp>
        <p:nvSpPr>
          <p:cNvPr id="4" name="Shape 2"/>
          <p:cNvSpPr/>
          <p:nvPr/>
        </p:nvSpPr>
        <p:spPr>
          <a:xfrm>
            <a:off x="815975" y="1463675"/>
            <a:ext cx="7613650" cy="4057650"/>
          </a:xfrm>
          <a:prstGeom prst="roundRect">
            <a:avLst>
              <a:gd name="adj" fmla="val 2426"/>
            </a:avLst>
          </a:prstGeom>
          <a:solidFill>
            <a:srgbClr val="FDFCF8"/>
          </a:solidFill>
          <a:ln w="6350">
            <a:solidFill>
              <a:srgbClr val="DDD7C6"/>
            </a:solidFill>
            <a:prstDash val="solid"/>
          </a:ln>
          <a:effectLst>
            <a:outerShdw blurRad="50800" dist="38100" dir="2700000" algn="tl" rotWithShape="0">
              <a:prstClr val="black">
                <a:alpha val="40000"/>
              </a:prstClr>
            </a:outerShdw>
          </a:effectLst>
        </p:spPr>
        <p:txBody>
          <a:bodyPr/>
          <a:lstStyle/>
          <a:p>
            <a:endParaRPr lang="en-SE"/>
          </a:p>
        </p:txBody>
      </p:sp>
      <p:pic>
        <p:nvPicPr>
          <p:cNvPr id="5" name="Image 0" descr="Lattice call price against number of steps from 1 to 60, zig-zagging and converging to the Black-Scholes value 10.4506"/>
          <p:cNvPicPr>
            <a:picLocks noChangeAspect="1"/>
          </p:cNvPicPr>
          <p:nvPr/>
        </p:nvPicPr>
        <p:blipFill>
          <a:blip r:embed="rId3"/>
          <a:srcRect/>
          <a:stretch/>
        </p:blipFill>
        <p:spPr>
          <a:xfrm>
            <a:off x="1574800" y="1651000"/>
            <a:ext cx="6604000" cy="3302000"/>
          </a:xfrm>
          <a:prstGeom prst="rect">
            <a:avLst/>
          </a:prstGeom>
        </p:spPr>
      </p:pic>
      <p:sp>
        <p:nvSpPr>
          <p:cNvPr id="6" name="Text 3"/>
          <p:cNvSpPr/>
          <p:nvPr/>
        </p:nvSpPr>
        <p:spPr>
          <a:xfrm>
            <a:off x="863600" y="473710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9.5</a:t>
            </a:r>
            <a:endParaRPr lang="en-US" sz="1200" dirty="0"/>
          </a:p>
        </p:txBody>
      </p:sp>
      <p:sp>
        <p:nvSpPr>
          <p:cNvPr id="7" name="Text 4"/>
          <p:cNvSpPr/>
          <p:nvPr/>
        </p:nvSpPr>
        <p:spPr>
          <a:xfrm>
            <a:off x="863600" y="418465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10.0</a:t>
            </a:r>
            <a:endParaRPr lang="en-US" sz="1200" dirty="0"/>
          </a:p>
        </p:txBody>
      </p:sp>
      <p:sp>
        <p:nvSpPr>
          <p:cNvPr id="8" name="Text 5"/>
          <p:cNvSpPr/>
          <p:nvPr/>
        </p:nvSpPr>
        <p:spPr>
          <a:xfrm>
            <a:off x="863600" y="363220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10.5</a:t>
            </a:r>
            <a:endParaRPr lang="en-US" sz="1200" dirty="0"/>
          </a:p>
        </p:txBody>
      </p:sp>
      <p:sp>
        <p:nvSpPr>
          <p:cNvPr id="9" name="Text 6"/>
          <p:cNvSpPr/>
          <p:nvPr/>
        </p:nvSpPr>
        <p:spPr>
          <a:xfrm>
            <a:off x="863600" y="308610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11.0</a:t>
            </a:r>
            <a:endParaRPr lang="en-US" sz="1200" dirty="0"/>
          </a:p>
        </p:txBody>
      </p:sp>
      <p:sp>
        <p:nvSpPr>
          <p:cNvPr id="10" name="Text 7"/>
          <p:cNvSpPr/>
          <p:nvPr/>
        </p:nvSpPr>
        <p:spPr>
          <a:xfrm>
            <a:off x="863600" y="253365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11.5</a:t>
            </a:r>
            <a:endParaRPr lang="en-US" sz="1200" dirty="0"/>
          </a:p>
        </p:txBody>
      </p:sp>
      <p:sp>
        <p:nvSpPr>
          <p:cNvPr id="11" name="Text 8"/>
          <p:cNvSpPr/>
          <p:nvPr/>
        </p:nvSpPr>
        <p:spPr>
          <a:xfrm>
            <a:off x="863600" y="198120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12.0</a:t>
            </a:r>
            <a:endParaRPr lang="en-US" sz="1200" dirty="0"/>
          </a:p>
        </p:txBody>
      </p:sp>
      <p:sp>
        <p:nvSpPr>
          <p:cNvPr id="12" name="Text 9"/>
          <p:cNvSpPr/>
          <p:nvPr/>
        </p:nvSpPr>
        <p:spPr>
          <a:xfrm>
            <a:off x="1295400" y="50292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a:t>
            </a:r>
            <a:endParaRPr lang="en-US" sz="1200" dirty="0"/>
          </a:p>
        </p:txBody>
      </p:sp>
      <p:sp>
        <p:nvSpPr>
          <p:cNvPr id="13" name="Text 10"/>
          <p:cNvSpPr/>
          <p:nvPr/>
        </p:nvSpPr>
        <p:spPr>
          <a:xfrm>
            <a:off x="2305050" y="50292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10</a:t>
            </a:r>
            <a:endParaRPr lang="en-US" sz="1200" dirty="0"/>
          </a:p>
        </p:txBody>
      </p:sp>
      <p:sp>
        <p:nvSpPr>
          <p:cNvPr id="14" name="Text 11"/>
          <p:cNvSpPr/>
          <p:nvPr/>
        </p:nvSpPr>
        <p:spPr>
          <a:xfrm>
            <a:off x="3422650" y="50292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20</a:t>
            </a:r>
            <a:endParaRPr lang="en-US" sz="1200" dirty="0"/>
          </a:p>
        </p:txBody>
      </p:sp>
      <p:sp>
        <p:nvSpPr>
          <p:cNvPr id="15" name="Text 12"/>
          <p:cNvSpPr/>
          <p:nvPr/>
        </p:nvSpPr>
        <p:spPr>
          <a:xfrm>
            <a:off x="4540250" y="50292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30</a:t>
            </a:r>
            <a:endParaRPr lang="en-US" sz="1200" dirty="0"/>
          </a:p>
        </p:txBody>
      </p:sp>
      <p:sp>
        <p:nvSpPr>
          <p:cNvPr id="16" name="Text 13"/>
          <p:cNvSpPr/>
          <p:nvPr/>
        </p:nvSpPr>
        <p:spPr>
          <a:xfrm>
            <a:off x="5664200" y="50292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40</a:t>
            </a:r>
            <a:endParaRPr lang="en-US" sz="1200" dirty="0"/>
          </a:p>
        </p:txBody>
      </p:sp>
      <p:sp>
        <p:nvSpPr>
          <p:cNvPr id="17" name="Text 14"/>
          <p:cNvSpPr/>
          <p:nvPr/>
        </p:nvSpPr>
        <p:spPr>
          <a:xfrm>
            <a:off x="6781800" y="50292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50</a:t>
            </a:r>
            <a:endParaRPr lang="en-US" sz="1200" dirty="0"/>
          </a:p>
        </p:txBody>
      </p:sp>
      <p:sp>
        <p:nvSpPr>
          <p:cNvPr id="18" name="Text 15"/>
          <p:cNvSpPr/>
          <p:nvPr/>
        </p:nvSpPr>
        <p:spPr>
          <a:xfrm>
            <a:off x="7899400" y="50292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179"/>
                </a:solidFill>
                <a:latin typeface="JetBrains Mono" pitchFamily="49" charset="0"/>
                <a:ea typeface="JetBrains Mono" pitchFamily="49" charset="-122"/>
                <a:cs typeface="JetBrains Mono" pitchFamily="49" charset="-120"/>
              </a:rPr>
              <a:t>60</a:t>
            </a:r>
            <a:endParaRPr lang="en-US" sz="1200" dirty="0"/>
          </a:p>
        </p:txBody>
      </p:sp>
      <p:sp>
        <p:nvSpPr>
          <p:cNvPr id="19" name="Text 16"/>
          <p:cNvSpPr/>
          <p:nvPr/>
        </p:nvSpPr>
        <p:spPr>
          <a:xfrm>
            <a:off x="4089400" y="5270500"/>
            <a:ext cx="1574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A7179"/>
                </a:solidFill>
                <a:latin typeface="IBM Plex Sans" pitchFamily="34" charset="0"/>
                <a:ea typeface="IBM Plex Sans" pitchFamily="34" charset="-122"/>
                <a:cs typeface="IBM Plex Sans" pitchFamily="34" charset="-120"/>
              </a:rPr>
              <a:t>steps n</a:t>
            </a:r>
            <a:endParaRPr lang="en-US" sz="1200" b="1" dirty="0"/>
          </a:p>
        </p:txBody>
      </p:sp>
      <p:sp>
        <p:nvSpPr>
          <p:cNvPr id="20" name="Text 17"/>
          <p:cNvSpPr/>
          <p:nvPr/>
        </p:nvSpPr>
        <p:spPr>
          <a:xfrm>
            <a:off x="5955030" y="3467100"/>
            <a:ext cx="222377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A9520F"/>
                </a:solidFill>
                <a:latin typeface="IBM Plex Sans" pitchFamily="34" charset="0"/>
                <a:ea typeface="IBM Plex Sans" pitchFamily="34" charset="-122"/>
                <a:cs typeface="IBM Plex Sans" pitchFamily="34" charset="-120"/>
              </a:rPr>
              <a:t>Black-Scholes 10.4506</a:t>
            </a:r>
            <a:endParaRPr lang="en-US" sz="1200" dirty="0"/>
          </a:p>
        </p:txBody>
      </p:sp>
      <p:sp>
        <p:nvSpPr>
          <p:cNvPr id="21" name="Text 18"/>
          <p:cNvSpPr/>
          <p:nvPr/>
        </p:nvSpPr>
        <p:spPr>
          <a:xfrm>
            <a:off x="1765300" y="1854200"/>
            <a:ext cx="20929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65C8"/>
                </a:solidFill>
                <a:latin typeface="IBM Plex Sans" pitchFamily="34" charset="0"/>
                <a:ea typeface="IBM Plex Sans" pitchFamily="34" charset="-122"/>
                <a:cs typeface="IBM Plex Sans" pitchFamily="34" charset="-120"/>
              </a:rPr>
              <a:t>n = 1 → 12.16</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289431310"/>
              </p:ext>
            </p:extLst>
          </p:nvPr>
        </p:nvGraphicFramePr>
        <p:xfrm>
          <a:off x="8699500" y="1473200"/>
          <a:ext cx="2679700" cy="2155926"/>
        </p:xfrm>
        <a:graphic>
          <a:graphicData uri="http://schemas.openxmlformats.org/drawingml/2006/table">
            <a:tbl>
              <a:tblPr/>
              <a:tblGrid>
                <a:gridCol w="1071880">
                  <a:extLst>
                    <a:ext uri="{9D8B030D-6E8A-4147-A177-3AD203B41FA5}">
                      <a16:colId xmlns:a16="http://schemas.microsoft.com/office/drawing/2014/main" val="20000"/>
                    </a:ext>
                  </a:extLst>
                </a:gridCol>
                <a:gridCol w="1607820">
                  <a:extLst>
                    <a:ext uri="{9D8B030D-6E8A-4147-A177-3AD203B41FA5}">
                      <a16:colId xmlns:a16="http://schemas.microsoft.com/office/drawing/2014/main" val="20001"/>
                    </a:ext>
                  </a:extLst>
                </a:gridCol>
              </a:tblGrid>
              <a:tr h="359321">
                <a:tc>
                  <a:txBody>
                    <a:bodyPr/>
                    <a:lstStyle/>
                    <a:p>
                      <a:pPr marL="0" indent="0">
                        <a:lnSpc>
                          <a:spcPts val="1820"/>
                        </a:lnSpc>
                        <a:buNone/>
                      </a:pPr>
                      <a:r>
                        <a:rPr lang="en-US" sz="1800" b="1" dirty="0">
                          <a:solidFill>
                            <a:srgbClr val="14202E"/>
                          </a:solidFill>
                          <a:latin typeface="JetBrains Mono" pitchFamily="49" charset="0"/>
                          <a:ea typeface="JetBrains Mono" pitchFamily="49" charset="-122"/>
                          <a:cs typeface="JetBrains Mono" pitchFamily="49" charset="-120"/>
                        </a:rPr>
                        <a:t>n</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gn="r">
                        <a:lnSpc>
                          <a:spcPts val="1820"/>
                        </a:lnSpc>
                        <a:buNone/>
                      </a:pPr>
                      <a:r>
                        <a:rPr lang="en-US" sz="1800" b="1" dirty="0">
                          <a:solidFill>
                            <a:srgbClr val="14202E"/>
                          </a:solidFill>
                          <a:latin typeface="JetBrains Mono" pitchFamily="49" charset="0"/>
                          <a:ea typeface="JetBrains Mono" pitchFamily="49" charset="-122"/>
                          <a:cs typeface="JetBrains Mono" pitchFamily="49" charset="-120"/>
                        </a:rPr>
                        <a:t>price</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1</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12.1623</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10</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10.2534</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100</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10.4306</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1000</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gn="r">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10.4486</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BS</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tc>
                  <a:txBody>
                    <a:bodyPr/>
                    <a:lstStyle/>
                    <a:p>
                      <a:pPr marL="0" indent="0" algn="r">
                        <a:lnSpc>
                          <a:spcPts val="1820"/>
                        </a:lnSpc>
                        <a:buNone/>
                      </a:pPr>
                      <a:r>
                        <a:rPr lang="en-US" sz="1800" dirty="0">
                          <a:solidFill>
                            <a:srgbClr val="14202E"/>
                          </a:solidFill>
                          <a:latin typeface="JetBrains Mono" pitchFamily="49" charset="0"/>
                          <a:ea typeface="JetBrains Mono" pitchFamily="49" charset="-122"/>
                          <a:cs typeface="JetBrains Mono" pitchFamily="49" charset="-120"/>
                        </a:rPr>
                        <a:t>10.4506</a:t>
                      </a:r>
                      <a:endParaRPr lang="en-US" sz="1800" dirty="0">
                        <a:latin typeface="JetBrains Mono" charset="0"/>
                        <a:ea typeface="JetBrains Mono" charset="0"/>
                        <a:cs typeface="JetBrains Mono" charset="0"/>
                      </a:endParaRPr>
                    </a:p>
                  </a:txBody>
                  <a:tcPr marL="57785" marR="57785" marT="57785" marB="57785">
                    <a:lnL w="12700" cap="flat" cmpd="sng" algn="ctr">
                      <a:solidFill>
                        <a:srgbClr val="C8BAAD"/>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extLst>
                  <a:ext uri="{0D108BD9-81ED-4DB2-BD59-A6C34878D82A}">
                    <a16:rowId xmlns:a16="http://schemas.microsoft.com/office/drawing/2014/main" val="10005"/>
                  </a:ext>
                </a:extLst>
              </a:tr>
            </a:tbl>
          </a:graphicData>
        </a:graphic>
      </p:graphicFrame>
      <p:sp>
        <p:nvSpPr>
          <p:cNvPr id="23" name="Text 19"/>
          <p:cNvSpPr/>
          <p:nvPr/>
        </p:nvSpPr>
        <p:spPr>
          <a:xfrm>
            <a:off x="8686800" y="3781524"/>
            <a:ext cx="2773172" cy="1075484"/>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44505E"/>
                </a:solidFill>
                <a:latin typeface="IBM Plex Sans" pitchFamily="34" charset="0"/>
                <a:ea typeface="IBM Plex Sans" pitchFamily="34" charset="-122"/>
                <a:cs typeface="IBM Plex Sans" pitchFamily="34" charset="-120"/>
              </a:rPr>
              <a:t>Error shrinks roughly like 1/n. The odd/even zig-zag comes from where K falls between leaves.</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58">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B65C8"/>
                </a:solidFill>
                <a:latin typeface="IBM Plex Sans" pitchFamily="34" charset="0"/>
                <a:ea typeface="IBM Plex Sans" pitchFamily="34" charset="-122"/>
                <a:cs typeface="IBM Plex Sans" pitchFamily="34" charset="-120"/>
              </a:rPr>
              <a:t>05 · BACK TO BLACK-SCHOLES · SUMMARY</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2E"/>
                </a:solidFill>
                <a:latin typeface="Source Serif 4" pitchFamily="18" charset="0"/>
                <a:ea typeface="Source Serif 4" pitchFamily="18" charset="-122"/>
                <a:cs typeface="Source Serif 4" pitchFamily="18" charset="-120"/>
              </a:rPr>
              <a:t>A dictionary: </a:t>
            </a:r>
            <a:r>
              <a:rPr lang="en-US" sz="3000" b="1" i="0" dirty="0">
                <a:solidFill>
                  <a:schemeClr val="accent5">
                    <a:lumMod val="75000"/>
                  </a:schemeClr>
                </a:solidFill>
                <a:latin typeface="Source Serif 4" pitchFamily="18" charset="0"/>
                <a:ea typeface="Source Serif 4" pitchFamily="18" charset="-122"/>
                <a:cs typeface="Source Serif 4" pitchFamily="18" charset="-120"/>
              </a:rPr>
              <a:t>lattice</a:t>
            </a:r>
            <a:r>
              <a:rPr lang="en-US" sz="3000" b="1" i="0" dirty="0">
                <a:solidFill>
                  <a:srgbClr val="14202E"/>
                </a:solidFill>
                <a:latin typeface="Source Serif 4" pitchFamily="18" charset="0"/>
                <a:ea typeface="Source Serif 4" pitchFamily="18" charset="-122"/>
                <a:cs typeface="Source Serif 4" pitchFamily="18" charset="-120"/>
              </a:rPr>
              <a:t> ↔ </a:t>
            </a:r>
            <a:r>
              <a:rPr lang="en-US" sz="3000" b="1" i="0" dirty="0">
                <a:solidFill>
                  <a:schemeClr val="accent4"/>
                </a:solidFill>
                <a:latin typeface="Source Serif 4" pitchFamily="18" charset="0"/>
                <a:ea typeface="Source Serif 4" pitchFamily="18" charset="-122"/>
                <a:cs typeface="Source Serif 4" pitchFamily="18" charset="-120"/>
              </a:rPr>
              <a:t>Black-Scholes</a:t>
            </a:r>
            <a:endParaRPr lang="en-US" sz="3000" dirty="0">
              <a:solidFill>
                <a:schemeClr val="accent4"/>
              </a:solidFill>
            </a:endParaRPr>
          </a:p>
        </p:txBody>
      </p:sp>
      <p:graphicFrame>
        <p:nvGraphicFramePr>
          <p:cNvPr id="4" name="Table 0"/>
          <p:cNvGraphicFramePr>
            <a:graphicFrameLocks noGrp="1"/>
          </p:cNvGraphicFramePr>
          <p:nvPr>
            <p:extLst>
              <p:ext uri="{D42A27DB-BD31-4B8C-83A1-F6EECF244321}">
                <p14:modId xmlns:p14="http://schemas.microsoft.com/office/powerpoint/2010/main" val="3660424038"/>
              </p:ext>
            </p:extLst>
          </p:nvPr>
        </p:nvGraphicFramePr>
        <p:xfrm>
          <a:off x="711358" y="1603829"/>
          <a:ext cx="11086276" cy="4441374"/>
        </p:xfrm>
        <a:graphic>
          <a:graphicData uri="http://schemas.openxmlformats.org/drawingml/2006/table">
            <a:tbl>
              <a:tblPr/>
              <a:tblGrid>
                <a:gridCol w="2328725">
                  <a:extLst>
                    <a:ext uri="{9D8B030D-6E8A-4147-A177-3AD203B41FA5}">
                      <a16:colId xmlns:a16="http://schemas.microsoft.com/office/drawing/2014/main" val="20000"/>
                    </a:ext>
                  </a:extLst>
                </a:gridCol>
                <a:gridCol w="4358244">
                  <a:extLst>
                    <a:ext uri="{9D8B030D-6E8A-4147-A177-3AD203B41FA5}">
                      <a16:colId xmlns:a16="http://schemas.microsoft.com/office/drawing/2014/main" val="20001"/>
                    </a:ext>
                  </a:extLst>
                </a:gridCol>
                <a:gridCol w="4399307">
                  <a:extLst>
                    <a:ext uri="{9D8B030D-6E8A-4147-A177-3AD203B41FA5}">
                      <a16:colId xmlns:a16="http://schemas.microsoft.com/office/drawing/2014/main" val="20002"/>
                    </a:ext>
                  </a:extLst>
                </a:gridCol>
              </a:tblGrid>
              <a:tr h="493486">
                <a:tc>
                  <a:txBody>
                    <a:bodyPr/>
                    <a:lstStyle/>
                    <a:p>
                      <a:pPr marL="0" indent="0">
                        <a:lnSpc>
                          <a:spcPts val="1820"/>
                        </a:lnSpc>
                        <a:buNone/>
                      </a:pPr>
                      <a:r>
                        <a:rPr lang="en-US" sz="1800" b="1" dirty="0">
                          <a:solidFill>
                            <a:srgbClr val="14202E"/>
                          </a:solidFill>
                          <a:latin typeface="IBM Plex Sans" pitchFamily="34" charset="0"/>
                          <a:ea typeface="IBM Plex Sans" pitchFamily="34" charset="-122"/>
                          <a:cs typeface="IBM Plex Sans" pitchFamily="34" charset="-120"/>
                        </a:rPr>
                        <a:t>Concept</a:t>
                      </a:r>
                      <a:endParaRPr lang="en-US" sz="18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820"/>
                        </a:lnSpc>
                        <a:buNone/>
                      </a:pPr>
                      <a:r>
                        <a:rPr lang="en-US" sz="1800" b="1" dirty="0">
                          <a:solidFill>
                            <a:srgbClr val="2B65C8"/>
                          </a:solidFill>
                          <a:latin typeface="IBM Plex Sans" pitchFamily="34" charset="0"/>
                          <a:ea typeface="IBM Plex Sans" pitchFamily="34" charset="-122"/>
                          <a:cs typeface="IBM Plex Sans" pitchFamily="34" charset="-120"/>
                        </a:rPr>
                        <a:t>Lattice (discrete)</a:t>
                      </a:r>
                      <a:endParaRPr lang="en-US" sz="1800" dirty="0">
                        <a:latin typeface="IBM Plex Sans" charset="0"/>
                        <a:ea typeface="IBM Plex Sans" charset="0"/>
                        <a:cs typeface="IBM Plex Sans" charset="0"/>
                      </a:endParaRPr>
                    </a:p>
                  </a:txBody>
                  <a:tcPr marL="57785" marR="57785" marT="57785" marB="57785">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820"/>
                        </a:lnSpc>
                        <a:buNone/>
                      </a:pPr>
                      <a:r>
                        <a:rPr lang="en-US" sz="1800" b="1" dirty="0">
                          <a:solidFill>
                            <a:srgbClr val="A9520F"/>
                          </a:solidFill>
                          <a:latin typeface="IBM Plex Sans" pitchFamily="34" charset="0"/>
                          <a:ea typeface="IBM Plex Sans" pitchFamily="34" charset="-122"/>
                          <a:cs typeface="IBM Plex Sans" pitchFamily="34" charset="-120"/>
                        </a:rPr>
                        <a:t>Black-Scholes (continuous)</a:t>
                      </a:r>
                      <a:endParaRPr lang="en-US" sz="1800" dirty="0">
                        <a:latin typeface="IBM Plex Sans" charset="0"/>
                        <a:ea typeface="IBM Plex Sans" charset="0"/>
                        <a:cs typeface="IBM Plex Sans" charset="0"/>
                      </a:endParaRPr>
                    </a:p>
                  </a:txBody>
                  <a:tcPr marL="57785" marR="57785" marT="57785" marB="57785">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493486">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Time</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n steps of Δt = T/n</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continuous t, dt → 0</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493486">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Randomness</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 u or × d, u = e^(σ√Δt)</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dS = rS·dt + σS·dW</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2"/>
                  </a:ext>
                </a:extLst>
              </a:tr>
              <a:tr h="493486">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Pricing weights</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q = (R − d)/(u − d)</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risk-neutral measure Q, drift r</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493486">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Forward pass</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binomial probabilities, state prices ψ</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lognormal density, Fokker-Planck</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4"/>
                  </a:ext>
                </a:extLst>
              </a:tr>
              <a:tr h="493486">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Backward pass</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V = [q·V↑ + (1−q)·V↓]/R</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BS PDE, solved from payoff at T</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5"/>
                  </a:ext>
                </a:extLst>
              </a:tr>
              <a:tr h="493486">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Hedge</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Δ = (V↑ − V↓)/(S↑ − S↓)</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Δ = ∂V/∂S = N(d₁) for a call</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6"/>
                  </a:ext>
                </a:extLst>
              </a:tr>
              <a:tr h="493486">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Price</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binomial sum over the leaves</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S·N(d₁) − K·e^(−rT)·N(d₂)</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7"/>
                  </a:ext>
                </a:extLst>
              </a:tr>
              <a:tr h="493486">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Early exercise</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max(exercise, continue) per node</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marL="0" indent="0">
                        <a:lnSpc>
                          <a:spcPts val="1820"/>
                        </a:lnSpc>
                        <a:buNone/>
                      </a:pPr>
                      <a:r>
                        <a:rPr lang="en-US" sz="1800" dirty="0">
                          <a:solidFill>
                            <a:srgbClr val="14202E"/>
                          </a:solidFill>
                          <a:latin typeface="IBM Plex Sans" pitchFamily="34" charset="0"/>
                          <a:ea typeface="IBM Plex Sans" pitchFamily="34" charset="-122"/>
                          <a:cs typeface="IBM Plex Sans" pitchFamily="34" charset="-120"/>
                        </a:rPr>
                        <a:t>free-boundary problem, no closed form</a:t>
                      </a:r>
                      <a:endParaRPr lang="en-US" sz="1800" dirty="0">
                        <a:latin typeface="IBM Plex Sans" charset="0"/>
                        <a:ea typeface="IBM Plex Sans" charset="0"/>
                        <a:cs typeface="IBM Plex Sans" charset="0"/>
                      </a:endParaRPr>
                    </a:p>
                  </a:txBody>
                  <a:tcPr marL="57785" marR="57785" marT="57785" marB="57785" anchor="ctr">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59">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3A33B"/>
                </a:solidFill>
                <a:latin typeface="IBM Plex Sans" pitchFamily="34" charset="0"/>
                <a:ea typeface="IBM Plex Sans" pitchFamily="34" charset="-122"/>
                <a:cs typeface="IBM Plex Sans" pitchFamily="34" charset="-120"/>
              </a:rPr>
              <a:t>TAKEAWAYS</a:t>
            </a:r>
            <a:endParaRPr lang="en-US" sz="1200" dirty="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5F3EC"/>
                </a:solidFill>
                <a:latin typeface="Source Serif 4" pitchFamily="18" charset="0"/>
                <a:ea typeface="Source Serif 4" pitchFamily="18" charset="-122"/>
                <a:cs typeface="Source Serif 4" pitchFamily="18" charset="-120"/>
              </a:rPr>
              <a:t>Five things to remember</a:t>
            </a:r>
            <a:endParaRPr lang="en-US" sz="3000" dirty="0"/>
          </a:p>
        </p:txBody>
      </p:sp>
      <p:sp>
        <p:nvSpPr>
          <p:cNvPr id="4" name="Shape 2"/>
          <p:cNvSpPr/>
          <p:nvPr/>
        </p:nvSpPr>
        <p:spPr>
          <a:xfrm>
            <a:off x="812800" y="1492250"/>
            <a:ext cx="10566400" cy="0"/>
          </a:xfrm>
          <a:prstGeom prst="line">
            <a:avLst/>
          </a:prstGeom>
          <a:noFill/>
          <a:ln w="12700">
            <a:solidFill>
              <a:srgbClr val="33465C"/>
            </a:solidFill>
            <a:prstDash val="solid"/>
          </a:ln>
        </p:spPr>
        <p:txBody>
          <a:bodyPr/>
          <a:lstStyle/>
          <a:p>
            <a:endParaRPr lang="en-SE"/>
          </a:p>
        </p:txBody>
      </p:sp>
      <p:sp>
        <p:nvSpPr>
          <p:cNvPr id="5" name="Text 3"/>
          <p:cNvSpPr/>
          <p:nvPr/>
        </p:nvSpPr>
        <p:spPr>
          <a:xfrm>
            <a:off x="812800" y="1625600"/>
            <a:ext cx="4953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E3A33B"/>
                </a:solidFill>
                <a:latin typeface="JetBrains Mono" pitchFamily="49" charset="0"/>
                <a:ea typeface="JetBrains Mono" pitchFamily="49" charset="-122"/>
                <a:cs typeface="JetBrains Mono" pitchFamily="49" charset="-120"/>
              </a:rPr>
              <a:t>1</a:t>
            </a:r>
            <a:endParaRPr lang="en-US" sz="2000" dirty="0"/>
          </a:p>
        </p:txBody>
      </p:sp>
      <p:sp>
        <p:nvSpPr>
          <p:cNvPr id="6" name="Text 4"/>
          <p:cNvSpPr/>
          <p:nvPr/>
        </p:nvSpPr>
        <p:spPr>
          <a:xfrm>
            <a:off x="1485900" y="1670050"/>
            <a:ext cx="1019009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5F3EC"/>
                </a:solidFill>
                <a:latin typeface="IBM Plex Sans" pitchFamily="34" charset="0"/>
                <a:ea typeface="IBM Plex Sans" pitchFamily="34" charset="-122"/>
                <a:cs typeface="IBM Plex Sans" pitchFamily="34" charset="-120"/>
              </a:rPr>
              <a:t>Price by replication, not prediction.</a:t>
            </a:r>
            <a:r>
              <a:rPr lang="en-US" sz="1500" dirty="0">
                <a:solidFill>
                  <a:srgbClr val="F5F3EC"/>
                </a:solidFill>
                <a:latin typeface="IBM Plex Sans" pitchFamily="34" charset="0"/>
                <a:ea typeface="IBM Plex Sans" pitchFamily="34" charset="-122"/>
                <a:cs typeface="IBM Plex Sans" pitchFamily="34" charset="-120"/>
              </a:rPr>
              <a:t> </a:t>
            </a:r>
            <a:r>
              <a:rPr lang="en-US" sz="1500" dirty="0">
                <a:solidFill>
                  <a:srgbClr val="BFCAD6"/>
                </a:solidFill>
                <a:latin typeface="IBM Plex Sans" pitchFamily="34" charset="0"/>
                <a:ea typeface="IBM Plex Sans" pitchFamily="34" charset="-122"/>
                <a:cs typeface="IBM Plex Sans" pitchFamily="34" charset="-120"/>
              </a:rPr>
              <a:t>The real-world p never enters.</a:t>
            </a:r>
            <a:endParaRPr lang="en-US" sz="1500" dirty="0"/>
          </a:p>
        </p:txBody>
      </p:sp>
      <p:sp>
        <p:nvSpPr>
          <p:cNvPr id="7" name="Shape 5"/>
          <p:cNvSpPr/>
          <p:nvPr/>
        </p:nvSpPr>
        <p:spPr>
          <a:xfrm>
            <a:off x="812800" y="2114550"/>
            <a:ext cx="10566400" cy="0"/>
          </a:xfrm>
          <a:prstGeom prst="line">
            <a:avLst/>
          </a:prstGeom>
          <a:noFill/>
          <a:ln w="12700">
            <a:solidFill>
              <a:srgbClr val="33465C"/>
            </a:solidFill>
            <a:prstDash val="solid"/>
          </a:ln>
        </p:spPr>
        <p:txBody>
          <a:bodyPr/>
          <a:lstStyle/>
          <a:p>
            <a:endParaRPr lang="en-SE"/>
          </a:p>
        </p:txBody>
      </p:sp>
      <p:sp>
        <p:nvSpPr>
          <p:cNvPr id="8" name="Text 6"/>
          <p:cNvSpPr/>
          <p:nvPr/>
        </p:nvSpPr>
        <p:spPr>
          <a:xfrm>
            <a:off x="812800" y="2247900"/>
            <a:ext cx="4953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E3A33B"/>
                </a:solidFill>
                <a:latin typeface="JetBrains Mono" pitchFamily="49" charset="0"/>
                <a:ea typeface="JetBrains Mono" pitchFamily="49" charset="-122"/>
                <a:cs typeface="JetBrains Mono" pitchFamily="49" charset="-120"/>
              </a:rPr>
              <a:t>2</a:t>
            </a:r>
            <a:endParaRPr lang="en-US" sz="2000" dirty="0"/>
          </a:p>
        </p:txBody>
      </p:sp>
      <p:sp>
        <p:nvSpPr>
          <p:cNvPr id="9" name="Text 7"/>
          <p:cNvSpPr/>
          <p:nvPr/>
        </p:nvSpPr>
        <p:spPr>
          <a:xfrm>
            <a:off x="1485900" y="2292350"/>
            <a:ext cx="1019009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5F3EC"/>
                </a:solidFill>
                <a:latin typeface="IBM Plex Sans" pitchFamily="34" charset="0"/>
                <a:ea typeface="IBM Plex Sans" pitchFamily="34" charset="-122"/>
                <a:cs typeface="IBM Plex Sans" pitchFamily="34" charset="-120"/>
              </a:rPr>
              <a:t>q = (R − d)/(u − d) is a pricing device.</a:t>
            </a:r>
            <a:r>
              <a:rPr lang="en-US" sz="1500" dirty="0">
                <a:solidFill>
                  <a:srgbClr val="F5F3EC"/>
                </a:solidFill>
                <a:latin typeface="IBM Plex Sans" pitchFamily="34" charset="0"/>
                <a:ea typeface="IBM Plex Sans" pitchFamily="34" charset="-122"/>
                <a:cs typeface="IBM Plex Sans" pitchFamily="34" charset="-120"/>
              </a:rPr>
              <a:t> </a:t>
            </a:r>
            <a:r>
              <a:rPr lang="en-US" sz="1500" dirty="0">
                <a:solidFill>
                  <a:srgbClr val="BFCAD6"/>
                </a:solidFill>
                <a:latin typeface="IBM Plex Sans" pitchFamily="34" charset="0"/>
                <a:ea typeface="IBM Plex Sans" pitchFamily="34" charset="-122"/>
                <a:cs typeface="IBM Plex Sans" pitchFamily="34" charset="-120"/>
              </a:rPr>
              <a:t>A world where everything grows at r.</a:t>
            </a:r>
            <a:endParaRPr lang="en-US" sz="1500" dirty="0"/>
          </a:p>
        </p:txBody>
      </p:sp>
      <p:sp>
        <p:nvSpPr>
          <p:cNvPr id="10" name="Shape 8"/>
          <p:cNvSpPr/>
          <p:nvPr/>
        </p:nvSpPr>
        <p:spPr>
          <a:xfrm>
            <a:off x="812800" y="2736850"/>
            <a:ext cx="10566400" cy="0"/>
          </a:xfrm>
          <a:prstGeom prst="line">
            <a:avLst/>
          </a:prstGeom>
          <a:noFill/>
          <a:ln w="12700">
            <a:solidFill>
              <a:srgbClr val="33465C"/>
            </a:solidFill>
            <a:prstDash val="solid"/>
          </a:ln>
        </p:spPr>
        <p:txBody>
          <a:bodyPr/>
          <a:lstStyle/>
          <a:p>
            <a:endParaRPr lang="en-SE"/>
          </a:p>
        </p:txBody>
      </p:sp>
      <p:sp>
        <p:nvSpPr>
          <p:cNvPr id="11" name="Text 9"/>
          <p:cNvSpPr/>
          <p:nvPr/>
        </p:nvSpPr>
        <p:spPr>
          <a:xfrm>
            <a:off x="812800" y="2870200"/>
            <a:ext cx="4953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E3A33B"/>
                </a:solidFill>
                <a:latin typeface="JetBrains Mono" pitchFamily="49" charset="0"/>
                <a:ea typeface="JetBrains Mono" pitchFamily="49" charset="-122"/>
                <a:cs typeface="JetBrains Mono" pitchFamily="49" charset="-120"/>
              </a:rPr>
              <a:t>3</a:t>
            </a:r>
            <a:endParaRPr lang="en-US" sz="2000" dirty="0"/>
          </a:p>
        </p:txBody>
      </p:sp>
      <p:sp>
        <p:nvSpPr>
          <p:cNvPr id="12" name="Text 10"/>
          <p:cNvSpPr/>
          <p:nvPr/>
        </p:nvSpPr>
        <p:spPr>
          <a:xfrm>
            <a:off x="1485900" y="2914650"/>
            <a:ext cx="1019009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5F3EC"/>
                </a:solidFill>
                <a:latin typeface="IBM Plex Sans" pitchFamily="34" charset="0"/>
                <a:ea typeface="IBM Plex Sans" pitchFamily="34" charset="-122"/>
                <a:cs typeface="IBM Plex Sans" pitchFamily="34" charset="-120"/>
              </a:rPr>
              <a:t>Forward builds the stage, backward computes value.</a:t>
            </a:r>
            <a:r>
              <a:rPr lang="en-US" sz="1500" dirty="0">
                <a:solidFill>
                  <a:srgbClr val="F5F3EC"/>
                </a:solidFill>
                <a:latin typeface="IBM Plex Sans" pitchFamily="34" charset="0"/>
                <a:ea typeface="IBM Plex Sans" pitchFamily="34" charset="-122"/>
                <a:cs typeface="IBM Plex Sans" pitchFamily="34" charset="-120"/>
              </a:rPr>
              <a:t> </a:t>
            </a:r>
            <a:r>
              <a:rPr lang="en-US" sz="1500" dirty="0">
                <a:solidFill>
                  <a:srgbClr val="BFCAD6"/>
                </a:solidFill>
                <a:latin typeface="IBM Plex Sans" pitchFamily="34" charset="0"/>
                <a:ea typeface="IBM Plex Sans" pitchFamily="34" charset="-122"/>
                <a:cs typeface="IBM Plex Sans" pitchFamily="34" charset="-120"/>
              </a:rPr>
              <a:t>Prices, probabilities, state prices → ; values ←.</a:t>
            </a:r>
            <a:endParaRPr lang="en-US" sz="1500" dirty="0"/>
          </a:p>
        </p:txBody>
      </p:sp>
      <p:sp>
        <p:nvSpPr>
          <p:cNvPr id="13" name="Shape 11"/>
          <p:cNvSpPr/>
          <p:nvPr/>
        </p:nvSpPr>
        <p:spPr>
          <a:xfrm>
            <a:off x="812800" y="3359150"/>
            <a:ext cx="10566400" cy="0"/>
          </a:xfrm>
          <a:prstGeom prst="line">
            <a:avLst/>
          </a:prstGeom>
          <a:noFill/>
          <a:ln w="12700">
            <a:solidFill>
              <a:srgbClr val="33465C"/>
            </a:solidFill>
            <a:prstDash val="solid"/>
          </a:ln>
        </p:spPr>
        <p:txBody>
          <a:bodyPr/>
          <a:lstStyle/>
          <a:p>
            <a:endParaRPr lang="en-SE"/>
          </a:p>
        </p:txBody>
      </p:sp>
      <p:sp>
        <p:nvSpPr>
          <p:cNvPr id="14" name="Text 12"/>
          <p:cNvSpPr/>
          <p:nvPr/>
        </p:nvSpPr>
        <p:spPr>
          <a:xfrm>
            <a:off x="812800" y="3492500"/>
            <a:ext cx="4953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E3A33B"/>
                </a:solidFill>
                <a:latin typeface="JetBrains Mono" pitchFamily="49" charset="0"/>
                <a:ea typeface="JetBrains Mono" pitchFamily="49" charset="-122"/>
                <a:cs typeface="JetBrains Mono" pitchFamily="49" charset="-120"/>
              </a:rPr>
              <a:t>4</a:t>
            </a:r>
            <a:endParaRPr lang="en-US" sz="2000" dirty="0"/>
          </a:p>
        </p:txBody>
      </p:sp>
      <p:sp>
        <p:nvSpPr>
          <p:cNvPr id="15" name="Text 13"/>
          <p:cNvSpPr/>
          <p:nvPr/>
        </p:nvSpPr>
        <p:spPr>
          <a:xfrm>
            <a:off x="1485900" y="3536950"/>
            <a:ext cx="1019009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5F3EC"/>
                </a:solidFill>
                <a:latin typeface="IBM Plex Sans" pitchFamily="34" charset="0"/>
                <a:ea typeface="IBM Plex Sans" pitchFamily="34" charset="-122"/>
                <a:cs typeface="IBM Plex Sans" pitchFamily="34" charset="-120"/>
              </a:rPr>
              <a:t>Nodes give hedges and Greeks; one max gives American options.</a:t>
            </a:r>
            <a:endParaRPr lang="en-US" sz="1500" dirty="0"/>
          </a:p>
        </p:txBody>
      </p:sp>
      <p:sp>
        <p:nvSpPr>
          <p:cNvPr id="16" name="Shape 14"/>
          <p:cNvSpPr/>
          <p:nvPr/>
        </p:nvSpPr>
        <p:spPr>
          <a:xfrm>
            <a:off x="812800" y="3981450"/>
            <a:ext cx="10566400" cy="0"/>
          </a:xfrm>
          <a:prstGeom prst="line">
            <a:avLst/>
          </a:prstGeom>
          <a:noFill/>
          <a:ln w="12700">
            <a:solidFill>
              <a:srgbClr val="33465C"/>
            </a:solidFill>
            <a:prstDash val="solid"/>
          </a:ln>
        </p:spPr>
        <p:txBody>
          <a:bodyPr/>
          <a:lstStyle/>
          <a:p>
            <a:endParaRPr lang="en-SE"/>
          </a:p>
        </p:txBody>
      </p:sp>
      <p:sp>
        <p:nvSpPr>
          <p:cNvPr id="17" name="Shape 15"/>
          <p:cNvSpPr/>
          <p:nvPr/>
        </p:nvSpPr>
        <p:spPr>
          <a:xfrm>
            <a:off x="812800" y="4603750"/>
            <a:ext cx="10566400" cy="0"/>
          </a:xfrm>
          <a:prstGeom prst="line">
            <a:avLst/>
          </a:prstGeom>
          <a:noFill/>
          <a:ln w="12700">
            <a:solidFill>
              <a:srgbClr val="33465C"/>
            </a:solidFill>
            <a:prstDash val="solid"/>
          </a:ln>
        </p:spPr>
        <p:txBody>
          <a:bodyPr/>
          <a:lstStyle/>
          <a:p>
            <a:endParaRPr lang="en-SE"/>
          </a:p>
        </p:txBody>
      </p:sp>
      <p:sp>
        <p:nvSpPr>
          <p:cNvPr id="18" name="Text 16"/>
          <p:cNvSpPr/>
          <p:nvPr/>
        </p:nvSpPr>
        <p:spPr>
          <a:xfrm>
            <a:off x="812800" y="4114800"/>
            <a:ext cx="4953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E3A33B"/>
                </a:solidFill>
                <a:latin typeface="JetBrains Mono" pitchFamily="49" charset="0"/>
                <a:ea typeface="JetBrains Mono" pitchFamily="49" charset="-122"/>
                <a:cs typeface="JetBrains Mono" pitchFamily="49" charset="-120"/>
              </a:rPr>
              <a:t>5</a:t>
            </a:r>
            <a:endParaRPr lang="en-US" sz="2000" dirty="0"/>
          </a:p>
        </p:txBody>
      </p:sp>
      <p:sp>
        <p:nvSpPr>
          <p:cNvPr id="19" name="Text 17"/>
          <p:cNvSpPr/>
          <p:nvPr/>
        </p:nvSpPr>
        <p:spPr>
          <a:xfrm>
            <a:off x="1485900" y="4159250"/>
            <a:ext cx="1019009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5F3EC"/>
                </a:solidFill>
                <a:latin typeface="IBM Plex Sans" pitchFamily="34" charset="0"/>
                <a:ea typeface="IBM Plex Sans" pitchFamily="34" charset="-122"/>
                <a:cs typeface="IBM Plex Sans" pitchFamily="34" charset="-120"/>
              </a:rPr>
              <a:t>Shrink Δt and the lattice is Black-Scholes.</a:t>
            </a:r>
            <a:r>
              <a:rPr lang="en-US" sz="1500" dirty="0">
                <a:solidFill>
                  <a:srgbClr val="F5F3EC"/>
                </a:solidFill>
                <a:latin typeface="IBM Plex Sans" pitchFamily="34" charset="0"/>
                <a:ea typeface="IBM Plex Sans" pitchFamily="34" charset="-122"/>
                <a:cs typeface="IBM Plex Sans" pitchFamily="34" charset="-120"/>
              </a:rPr>
              <a:t> </a:t>
            </a:r>
            <a:r>
              <a:rPr lang="en-US" sz="1500" dirty="0">
                <a:solidFill>
                  <a:srgbClr val="BFCAD6"/>
                </a:solidFill>
                <a:latin typeface="IBM Plex Sans" pitchFamily="34" charset="0"/>
                <a:ea typeface="IBM Plex Sans" pitchFamily="34" charset="-122"/>
                <a:cs typeface="IBM Plex Sans" pitchFamily="34" charset="-120"/>
              </a:rPr>
              <a:t>Backward step → PDE; binomial → lognormal; sum → N(d₁), N(d₂).</a:t>
            </a:r>
            <a:endParaRPr lang="en-US" sz="15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E3A33B"/>
                </a:solidFill>
                <a:latin typeface="IBM Plex Sans" pitchFamily="34" charset="0"/>
                <a:ea typeface="IBM Plex Sans" pitchFamily="34" charset="-122"/>
                <a:cs typeface="IBM Plex Sans" pitchFamily="34" charset="-120"/>
              </a:rPr>
              <a:t>A FINAL WORD</a:t>
            </a:r>
            <a:endParaRPr lang="en-US" sz="1200"/>
          </a:p>
        </p:txBody>
      </p:sp>
      <p:sp>
        <p:nvSpPr>
          <p:cNvPr id="3" name="Text 1"/>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a:solidFill>
                  <a:srgbClr val="F5F3EC"/>
                </a:solidFill>
                <a:latin typeface="Source Serif 4" pitchFamily="18" charset="0"/>
                <a:ea typeface="Source Serif 4" pitchFamily="18" charset="-122"/>
                <a:cs typeface="Source Serif 4" pitchFamily="18" charset="-120"/>
              </a:rPr>
              <a:t>Options changed how the world manages risk</a:t>
            </a:r>
            <a:endParaRPr lang="en-US" sz="3000"/>
          </a:p>
        </p:txBody>
      </p:sp>
      <p:sp>
        <p:nvSpPr>
          <p:cNvPr id="4" name="TextBox 3"/>
          <p:cNvSpPr txBox="1"/>
          <p:nvPr/>
        </p:nvSpPr>
        <p:spPr>
          <a:xfrm>
            <a:off x="457200" y="1965960"/>
            <a:ext cx="5660136" cy="1231106"/>
          </a:xfrm>
          <a:prstGeom prst="rect">
            <a:avLst/>
          </a:prstGeom>
          <a:noFill/>
        </p:spPr>
        <p:txBody>
          <a:bodyPr wrap="square" lIns="0" tIns="0" rIns="0" bIns="0">
            <a:spAutoFit/>
          </a:bodyPr>
          <a:lstStyle/>
          <a:p>
            <a:pPr>
              <a:spcAft>
                <a:spcPts val="0"/>
              </a:spcAft>
              <a:defRPr sz="2000" b="0">
                <a:solidFill>
                  <a:srgbClr val="F5F3EC"/>
                </a:solidFill>
                <a:latin typeface="IBM Plex Sans"/>
              </a:defRPr>
            </a:pPr>
            <a:r>
              <a:rPr dirty="0"/>
              <a:t>Options trading gave businesses and investors more ways to protect against adverse price moves, supporting economic activity under uncertainty.</a:t>
            </a:r>
          </a:p>
        </p:txBody>
      </p:sp>
      <p:sp>
        <p:nvSpPr>
          <p:cNvPr id="5" name="TextBox 4"/>
          <p:cNvSpPr txBox="1"/>
          <p:nvPr/>
        </p:nvSpPr>
        <p:spPr>
          <a:xfrm>
            <a:off x="383060" y="3646889"/>
            <a:ext cx="5700913" cy="1196960"/>
          </a:xfrm>
          <a:prstGeom prst="rect">
            <a:avLst/>
          </a:prstGeom>
          <a:solidFill>
            <a:schemeClr val="accent3">
              <a:lumMod val="50000"/>
            </a:schemeClr>
          </a:solidFill>
          <a:effectLst>
            <a:outerShdw blurRad="50800" dist="38100" dir="2700000" algn="tl" rotWithShape="0">
              <a:prstClr val="black">
                <a:alpha val="40000"/>
              </a:prstClr>
            </a:outerShdw>
          </a:effectLst>
        </p:spPr>
        <p:txBody>
          <a:bodyPr wrap="square" lIns="0" tIns="0" rIns="0" bIns="0" anchor="ctr">
            <a:noAutofit/>
          </a:bodyPr>
          <a:lstStyle/>
          <a:p>
            <a:pPr algn="ctr">
              <a:spcAft>
                <a:spcPts val="0"/>
              </a:spcAft>
              <a:defRPr sz="1800" b="0">
                <a:solidFill>
                  <a:srgbClr val="BFCAD6"/>
                </a:solidFill>
                <a:latin typeface="IBM Plex Sans"/>
              </a:defRPr>
            </a:pPr>
            <a:r>
              <a:rPr sz="2000" dirty="0"/>
              <a:t>Leveraged positions can also magnify losses and transmit stress through financial markets.</a:t>
            </a:r>
          </a:p>
        </p:txBody>
      </p:sp>
      <p:sp>
        <p:nvSpPr>
          <p:cNvPr id="6" name="TextBox 5"/>
          <p:cNvSpPr txBox="1"/>
          <p:nvPr/>
        </p:nvSpPr>
        <p:spPr>
          <a:xfrm>
            <a:off x="517254" y="5477750"/>
            <a:ext cx="5029200" cy="369332"/>
          </a:xfrm>
          <a:prstGeom prst="rect">
            <a:avLst/>
          </a:prstGeom>
          <a:noFill/>
        </p:spPr>
        <p:txBody>
          <a:bodyPr wrap="square" lIns="0" tIns="0" rIns="0" bIns="0">
            <a:spAutoFit/>
          </a:bodyPr>
          <a:lstStyle/>
          <a:p>
            <a:pPr algn="ctr">
              <a:spcAft>
                <a:spcPts val="0"/>
              </a:spcAft>
              <a:defRPr sz="2400" b="1">
                <a:solidFill>
                  <a:srgbClr val="E3A33B"/>
                </a:solidFill>
                <a:latin typeface="IBM Plex Sans"/>
              </a:defRPr>
            </a:pPr>
            <a:r>
              <a:rPr lang="sv-SE" dirty="0"/>
              <a:t>— The End —</a:t>
            </a:r>
            <a:endParaRPr dirty="0"/>
          </a:p>
        </p:txBody>
      </p:sp>
      <p:pic>
        <p:nvPicPr>
          <p:cNvPr id="7" name="Picture 6" descr="image-06a67e1e8fa14b3843a225de224be2e1.jpg"/>
          <p:cNvPicPr>
            <a:picLocks noChangeAspect="1"/>
          </p:cNvPicPr>
          <p:nvPr/>
        </p:nvPicPr>
        <p:blipFill>
          <a:blip r:embed="rId3"/>
          <a:stretch>
            <a:fillRect/>
          </a:stretch>
        </p:blipFill>
        <p:spPr>
          <a:xfrm>
            <a:off x="6492240" y="1463040"/>
            <a:ext cx="4709160" cy="4998888"/>
          </a:xfrm>
          <a:prstGeom prst="rect">
            <a:avLst/>
          </a:prstGeom>
          <a:ln>
            <a:solidFill>
              <a:schemeClr val="bg1">
                <a:lumMod val="10000"/>
              </a:schemeClr>
            </a:solidFill>
          </a:ln>
        </p:spPr>
      </p:pic>
    </p:spTree>
  </p:cSld>
  <p:clrMapOvr>
    <a:masterClrMapping/>
  </p:clrMapOvr>
</p:sld>
</file>

<file path=ppt/theme/theme1.xml><?xml version="1.0" encoding="utf-8"?>
<a:theme xmlns:a="http://schemas.openxmlformats.org/drawingml/2006/main" name="Option Pricing on a Lattice">
  <a:themeElements>
    <a:clrScheme name="Option Pricing on a Lattice">
      <a:dk1>
        <a:srgbClr val="14202E"/>
      </a:dk1>
      <a:lt1>
        <a:srgbClr val="F5F3EC"/>
      </a:lt1>
      <a:dk2>
        <a:srgbClr val="4C555E"/>
      </a:dk2>
      <a:lt2>
        <a:srgbClr val="DFDED9"/>
      </a:lt2>
      <a:accent1>
        <a:srgbClr val="2B65C8"/>
      </a:accent1>
      <a:accent2>
        <a:srgbClr val="E3A33B"/>
      </a:accent2>
      <a:accent3>
        <a:srgbClr val="A9520F"/>
      </a:accent3>
      <a:accent4>
        <a:srgbClr val="C4661A"/>
      </a:accent4>
      <a:accent5>
        <a:srgbClr val="7FA8F0"/>
      </a:accent5>
      <a:accent6>
        <a:srgbClr val="44505E"/>
      </a:accent6>
      <a:hlink>
        <a:srgbClr val="0563C1"/>
      </a:hlink>
      <a:folHlink>
        <a:srgbClr val="954F72"/>
      </a:folHlink>
    </a:clrScheme>
    <a:fontScheme name="Option Pricing on a Lattic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32752b5-eab9-48fb-8716-06f1259c8858}" enabled="1" method="Standard" siteId="{d0b75e95-684a-45e3-8d2d-53fa2a6a513f}" contentBits="2" removed="0"/>
</clbl:labelList>
</file>

<file path=docProps/app.xml><?xml version="1.0" encoding="utf-8"?>
<Properties xmlns="http://schemas.openxmlformats.org/officeDocument/2006/extended-properties" xmlns:vt="http://schemas.openxmlformats.org/officeDocument/2006/docPropsVTypes">
  <TotalTime>550</TotalTime>
  <Words>22985</Words>
  <Application>Microsoft Macintosh PowerPoint</Application>
  <PresentationFormat>Widescreen</PresentationFormat>
  <Paragraphs>1657</Paragraphs>
  <Slides>77</Slides>
  <Notes>76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77</vt:i4>
      </vt:variant>
    </vt:vector>
  </HeadingPairs>
  <TitlesOfParts>
    <vt:vector size="83" baseType="lpstr">
      <vt:lpstr>JetBrains Mono</vt:lpstr>
      <vt:lpstr>Source Serif 4</vt:lpstr>
      <vt:lpstr>Arial</vt:lpstr>
      <vt:lpstr>Consolas</vt:lpstr>
      <vt:lpstr>IBM Plex Sans</vt:lpstr>
      <vt:lpstr>Option Pricing on a Lattice</vt:lpstr>
      <vt:lpstr>Pricing options on a lattice</vt:lpstr>
      <vt:lpstr>Six stops on the way to a price</vt:lpstr>
      <vt:lpstr>Why should you care about options?</vt:lpstr>
      <vt:lpstr>Anatomy of an option: a right, not an obligation</vt:lpstr>
      <vt:lpstr>The underlying: almost anything with a price</vt:lpstr>
      <vt:lpstr>Why use options? Insurance, leverage, income</vt:lpstr>
      <vt:lpstr>Options are older than stock markets</vt:lpstr>
      <vt:lpstr>…and they have blown up spectacularly</vt:lpstr>
      <vt:lpstr>Black Monday: hedging into a falling market</vt:lpstr>
      <vt:lpstr>Barings Bank: hidden trades, failed controls</vt:lpstr>
      <vt:lpstr>LTCM: leverage magnified model risk</vt:lpstr>
      <vt:lpstr>GameStop: a rally with disputed mechanics</vt:lpstr>
      <vt:lpstr>An option is a payoff function of a future price</vt:lpstr>
      <vt:lpstr>Delta and gamma describe how option value moves</vt:lpstr>
      <vt:lpstr>Gamma measures how quickly delta changes</vt:lpstr>
      <vt:lpstr>How to read the delta and gamma curves</vt:lpstr>
      <vt:lpstr>A short-gamma stock hedge buys into a rise</vt:lpstr>
      <vt:lpstr>An options hedge can offset gamma locally</vt:lpstr>
      <vt:lpstr>The question: what is that payoff worth today?</vt:lpstr>
      <vt:lpstr>Time value of money: 100 today beats 100 next year</vt:lpstr>
      <vt:lpstr>Where the average comes from: probability-weighted payoffs</vt:lpstr>
      <vt:lpstr>Put together: the “discounted expected payoff” recipe</vt:lpstr>
      <vt:lpstr>Why the recipe breaks: two inputs nobody agrees on</vt:lpstr>
      <vt:lpstr>Arbitrage locks in a gain without a market bet</vt:lpstr>
      <vt:lpstr>No-arbitrage means matching payoffs have one price</vt:lpstr>
      <vt:lpstr>The Options–Shares–Cash triangle</vt:lpstr>
      <vt:lpstr>Half a share and a loan reproduce the call</vt:lpstr>
      <vt:lpstr>Why the triangle works: two outcomes, two controls</vt:lpstr>
      <vt:lpstr>The way out: replicate the option, then invoke no-arbitrage</vt:lpstr>
      <vt:lpstr>A short history: continuous first, discrete second</vt:lpstr>
      <vt:lpstr>First, the cast of characters</vt:lpstr>
      <vt:lpstr>How the stock moves: a steady drift plus random noise</vt:lpstr>
      <vt:lpstr>Reading ∂: how V reacts to one input at a time</vt:lpstr>
      <vt:lpstr>The Black-Scholes equation, one term at a time</vt:lpstr>
      <vt:lpstr>Meanwhile, in physics: the heat equation</vt:lpstr>
      <vt:lpstr>Why heat? Both are random walks</vt:lpstr>
      <vt:lpstr>Refactor: three substitutions reveal the heat equation</vt:lpstr>
      <vt:lpstr>A call pays only when the final price exceeds the strike</vt:lpstr>
      <vt:lpstr>“Risk-neutral” means weights chosen for pricing</vt:lpstr>
      <vt:lpstr>The heat equation performs repeated weighted averages</vt:lpstr>
      <vt:lpstr>Black-Scholes calculates the whole average at once</vt:lpstr>
      <vt:lpstr>Why a lattice? Because it is the same idea, made discrete</vt:lpstr>
      <vt:lpstr>The smallest possible world: one step, two states</vt:lpstr>
      <vt:lpstr>Build a clone: Δ shares plus B in cash</vt:lpstr>
      <vt:lpstr>Why a clone exists: two points define a line</vt:lpstr>
      <vt:lpstr>Solve it: the clone costs 5.88, so the option does too</vt:lpstr>
      <vt:lpstr>If the price is wrong, a money machine appears</vt:lpstr>
      <vt:lpstr>Share, option, cash: any two build the third</vt:lpstr>
      <vt:lpstr>Rearrange the algebra and a new probability appears</vt:lpstr>
      <vt:lpstr>Two worlds: p forecasts, q prices</vt:lpstr>
      <vt:lpstr>Stack the step: a recombining lattice</vt:lpstr>
      <vt:lpstr>Forward pass ①: propagate prices</vt:lpstr>
      <vt:lpstr>Forward pass ②: propagate probabilities</vt:lpstr>
      <vt:lpstr>Forward pass ③: propagate state prices</vt:lpstr>
      <vt:lpstr>At expiry, the value is simply the payoff</vt:lpstr>
      <vt:lpstr>Backward pass: one step at a time</vt:lpstr>
      <vt:lpstr>Repeat to the root: the option is worth 10.36</vt:lpstr>
      <vt:lpstr>Two routes through the lattice, one price</vt:lpstr>
      <vt:lpstr>The whole method fits on one screen</vt:lpstr>
      <vt:lpstr>Every node carries its own hedge</vt:lpstr>
      <vt:lpstr>The Greeks: a risk dashboard for one option</vt:lpstr>
      <vt:lpstr>Delta: speed, hedge ratio, and a hint of probability</vt:lpstr>
      <vt:lpstr>Gamma: acceleration — and why holders love big moves</vt:lpstr>
      <vt:lpstr>Theta: the melting ice cube — rent paid for gamma</vt:lpstr>
      <vt:lpstr>Vega and rho: sensitivity to the market’s mood and to rates</vt:lpstr>
      <vt:lpstr>On the lattice: Δ, Γ, Θ for free from the nodes</vt:lpstr>
      <vt:lpstr>Putting it together: the Greeks explain the P&amp;L</vt:lpstr>
      <vt:lpstr>American put: exercise or wait, at every node</vt:lpstr>
      <vt:lpstr>The right to choose has a price</vt:lpstr>
      <vt:lpstr>Calibrate the lattice to σ and r (Cox-Ross-Rubinstein)</vt:lpstr>
      <vt:lpstr>The backward step is the Black-Scholes PDE, discretised</vt:lpstr>
      <vt:lpstr>The forward pass converges to the lognormal</vt:lpstr>
      <vt:lpstr>The lattice sum splits into the two Black-Scholes terms</vt:lpstr>
      <vt:lpstr>More steps, closer to 10.4506</vt:lpstr>
      <vt:lpstr>A dictionary: lattice ↔ Black-Scholes</vt:lpstr>
      <vt:lpstr>Five things to remember</vt:lpstr>
      <vt:lpstr>Options changed how the world manages risk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Option Pricing on a Lattice</dc:title>
  <dc:subject/>
  <dc:creator/>
  <cp:lastModifiedBy>Johan Persson</cp:lastModifiedBy>
  <cp:revision>15</cp:revision>
  <dcterms:created xsi:type="dcterms:W3CDTF">2026-10-06T20:54:03Z</dcterms:created>
  <dcterms:modified xsi:type="dcterms:W3CDTF">2026-10-07T21:50:14Z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Option Pricing on a Lattice:5</vt:lpwstr>
  </property>
  <property fmtid="{D5CDD505-2E9C-101B-9397-08002B2CF9AE}" pid="3" name="ClassificationContentMarkingFooterText">
    <vt:lpwstr>Nasdaq Confidential - Personal Data: Minimize Distribution and Secure Personal Data per Privacy Policy</vt:lpwstr>
  </property>
</Properties>
</file>