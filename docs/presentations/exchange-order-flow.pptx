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8" r:id="rId21"/>
    <p:sldId id="277" r:id="rId22"/>
    <p:sldId id="279" r:id="rId23"/>
    <p:sldId id="275" r:id="rId24"/>
    <p:sldId id="276"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p:restoredTop sz="94606"/>
  </p:normalViewPr>
  <p:slideViewPr>
    <p:cSldViewPr snapToGrid="0">
      <p:cViewPr varScale="1">
        <p:scale>
          <a:sx n="132" d="100"/>
          <a:sy n="132" d="100"/>
        </p:scale>
        <p:origin x="176"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deck follows ONE order end to end - gateway TRADER01 submits NEW BUY 100 AAPL LIMIT @150.00 while the session is CONTINUOUS. The engine is not clever; it is a long explicit checklist run in a fixed order. The complexity lives in the NUMBER of steps, not in any single step. Every element shown maps to a real function call or a two-frame ZeroMQ message you can grep for by 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Five stages, and the order in which they physically happen. Note stage 4 (ACK) comes BEFORE stage 5 (the book) - the acknowledgement is published before book.process() runs at all. Learners consistently expect the opposite. Stage 6, the lifetime of the resting order, is the part with the most surprises.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ZeroMQ sockets connect every gateway process to the one engine process. PULL :5555 - every gateway connects a PUSH socket and sends commands in; many gateways, one engine, one-way traffic. PUB :5556 - the engine broadcasts EVERYTHING it does; every gateway connects a SUB socket and filters by topic prefix for only the gateway ids it currently serves. Both sockets are bound by the engine (make_puller / make_publisher in messaging/bus.py); gateways always connect. The publisher wraps the socket in a SequencedPublisher so every event carries a sequence number.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message on either socket is exactly two frames: a topic string and a JSON payload (models/message.py encode/decode). Keep that shape in mind - (topic, payload) is the unit everything else is built from. The topic is what makes routing work later without any per-connection table: the gateway id is embedded in the topic string itself.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concrete case. TRADER01, connected through pm-alf-gwy, submits NEW BUY 100 AAPL LIMIT @150.00 TIF=DAY. Session state is CONTINUOUS. AAPL's book has no resting bids and one resting ask at 150.50 for 200 shares. This order does not cross - it will rest. Later we re-run the same order at a price that DOES cross to show a partial fill.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pm-alf-gwy parses the ALF text line, builds an Order and pushes it. There is no engine-visible difference between an order that arrived over ALF, BALF, REST or from pm-alf-console - they all end up as the same order.new PULL message. Two details matter downstream: (1) gateway_id comes from the AUTHENTICATED session via _require_gw(session), not from the wire fields, so a client cannot claim to be a different gateway; _require_gw raises if the session never completed HELLO. This is exactly what the ACK routing depends on. (2) Price is converted to ticks in the gateway process before the order ever leaves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engine's whole life is one loop: poll the PULL socket with a 200 ms tick, decode, dispatch, run maintenance, repeat. _dispatch_pull_message is a plain if/elif ladder from topic string to handler - no registry, no magic. Unknown topics increment a counter and log a warning. The try/except around the whole ladder is deliberate: one malformed payload must never take the process down, and must never leave the submitting gateway waiting forever for an ACK that will never come - _reject_after_error sends a REJECTED with code=INTERNAL_ERROR so the caller's wait always terminates in something.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_handle_new_order is a sequence of guard clauses. Each one either rejects - sends a NACK and returns - or falls through to the next. The order is fixed and it matters: cheap identity and configuration checks come first, boundary validation before any ACK so a malformed order never reaches the book, then session and market-state checks, then the collar. Only after all eight does the order count as accepted.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1 - _gateway_status(order.gateway_id); a disconnected or unconfigured gateway gets GATEWAY_NOT_CONFIGURED or AUTH_REQUIRED. Gate 2 - if an allowlist is configured and the symbol is not in it, UNKNOWN_SYMBOL. Then the book is ensured to exist via self._book(symbol). Gate 3 - _validate_new_order does duplicate id, positive quantity and remaining_qty, price required and positive for LIMIT/FOK/STOP_LIMIT/ICEBERG, iceberg visible_qty checks, and order-size / notional caps via validate_order_limits(). It runs before any ACK so a malformed order never reaches the book. Gate 4 - if sessions are enabled and accepts_orders(state) is false, MARKET_CLOSED. Our order is LIMIT, qty 100, price 15000 ticks, session CONTINUOUS - every check passes.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5 - ATO/ATC only fire for TIF=ATO outside OPENING_AUCTION and TIF=ATC outside CLOSING_AUCTION; TIF=DAY skips both outright. Gate 6 - halt check: a halted symbol rejects MARKET/FOK/IOC with CIRCUIT_BREAKER_ACTIVE or INSTRUMENT_HALTED, but LIMIT and ICEBERG orders are allowed through with do_match set to False - they may rest but must not sweep. Gate 7 - validate_collar compares the price against the reference price and configured band; a breach rejects with COLLAR_BREACH. Gate 8 - if do_match is False and the order is MARKET/FOK/IOC, it is rejected SESSION_NOT_PERMITTED because such an order cannot rest. For our LIMIT order gates 5, 6 and 8 are no-ops and 7 passes.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 most people expect to be complicated and is not. The ACK is built and published BEFORE book.process() runs at all. How does the engine know which gateway to answer? It does not look anything up. order.gateway_id is already TRADER01, carried in the payload since the gateway built the order, and it becomes half of the outbound topic string: order.ack.TRADER01. There is no per-connection socket or address remembered on the engine side. The topic is cached in _topic_cache so the string is encoded once per gateway. Delivery is ZeroMQ's job and works by prefix filtering on the SUBSCRIBER side: the PUB socket broadcasts to every gateway process indiscriminately, and each SUB socket silently drops anything not matching its subscribed prefixes. MM01's process never even receives order.ack.TRADER01 - it is filtered at the network layer before it reaches Python.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caveat worth stressing. The ACK means the engine accepted the order for processing - not that this is its final state. For MARKET/FOK/IOC orders the book can still reject afterwards, for example insufficient liquidity for a FOK; a second message with accepted=False follows in that case. For our resting LIMIT order this ACK is the only acknowledgement it ever gets; its fate from here is reported through order.fill, order.cancelled or order.expired.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do_match = is_matching_enabled(session_state), True in CONTINUOUS. book.process dispatches on order_type; for LIMIT it calls _match_limit, which sweeps the opposite side up to the order's limit price and then rests any remainder if the order is not dead. _sweep is one while loop: peek the best opposite order, stop if its price is worse than our limit, otherwise fill the smaller of the two remaining quantities and keep going until either side runs out. That is the entire matching algorithm for a LIMIT order. The only extras are price-time priority - best price first, then arrival order at a tied price - and self-match prevention, which is skipped here for brevity.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1, our scenario. AAPL's best ask is 150.50; our bid is 150.00. Since 150.50 &gt; 150.00 the very first price check in _sweep breaks the loop immediately - nothing trades. Back in _match_limit remaining_qty is still 100, so _rest runs: it stamps arrival_seq for time priority and pushes a heap entry keyed (-price, arrival_seq) for bids so that heapq, a min-heap, naturally pops the HIGHEST price first; asks use (price, arrival_seq). It also updates the aggregated level quantity and two dict indexes, _order_index and _entry_index, so a later CANCEL or AMEND finds the order in O(1) instead of scanning the heap. process returns trades=[] and events=[] - nothing to publish. The book is marked dirty and will appear in the next throttled book.AAPL snapshot.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2, the same order priced to cross. Suppose TRADER01 had bid 150.50 for 50 shares - at or above the resting ask. The price check now passes because 150.50 is not greater than 150.50, so it fills: fill_qty = min(50, 200) = 50 at the resting order's price of 150.50. _apply_fill does three things: creates a Trade, decrements both orders' remaining_qty, and sets each status - FILLED if remaining hits zero, PARTIAL otherwise. The aggressor's remaining_qty is now 0, so the while condition fails and the loop exits; because remaining is not greater than 0, _match_limit does NOT rest it. The resting ask had 200 and is now down to 150, still resting with status PARTIAL. trades has one Trade; events has both Order objects.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events list - every order whose status just changed - drives the publish loop. The important subtlety is deduplication: a single aggressive order that sweeps several price levels appears ONCE PER LEVEL in events, each occurrence carrying the same order object with its final cumulative state. A naive loop would publish the same fill several times with the wrong quantity split. A seen-set (published_fill_ids) fixes it. Then _publish_trade is the single fan-out point for a trade: it broadcasts the public trade.executed tape event, updates BOTH counterparties' position ledgers, feeds the drop-copy relay if attached, and checks whether the print should trip a circuit breaker. That is the only place any of those four things happen, regardless of whether the trade came from a plain NEW order, a quote leg, a combo child, an OCO leg or an auction uncross - one path, four side effects, always in that order. If nothing filled, both lists are empty and the loop does nothing.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order rested with TIF=DAY. The state machine: from NEW it can go to PARTIAL on a partial fill, FILLED when fully filled, CANCELLED on an explicit CANCEL for any TIF, EXPIRED when the session transitions to CLOSED - TIF=DAY only and only when sessions_enabled is true - or it can simply be GONE, silently, if the process restarts and the persisted order's calendar day has passed. PARTIAL has the same onward transitions as NEW. Note the asymmetry: EXPIRED publishes an event; GONE publishes nothing at all.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exactly four ways a TIF=DAY order stops resting. Two are the same for every TIF: a fill the moment a crossing order sweeps it, and a cancel the moment the owning gateway sends CANCEL. Two are DAY-specific: the scheduled session close, and a stale restart. The session close only fires if sessions_enabled is true AND pm-scheduler actually drives a transition to CLOSED; _expire_tif is the ONLY code path that ever publishes order.expired for a DAY order. If sessions_enabled is false - as many training and demo configs run - that path never runs at all and a DAY order rests exactly as long as a GTC order would.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surprises people. At shutdown, _shutdown saves all resting orders with TIF in (GTC, DAY) and status NEW or PARTIAL to data/gtc_orders.json. A TIF=DAY order is persisted exactly like a GTC order - nothing is expired, nothing discarded. A clean shutdown and a crash both leave the file in this state; a crash loses at most 5 seconds of changes via the periodic _flush_persistence checkpoint. A process exit is NOT a day boundary. Staleness is decided at the NEXT startup: _restore_gtc compares the order's original timestamp date against today's date, once, at process startup - not continuously, not at midnight, not tied to the scheduler. Two consequences: restart several times within the same calendar day and a DAY order survives every restart; and if the engine never restarts and sessions_enabled is false, a DAY order never expires at all, ever. Critically, a stale order discarded here never generates order.expired - the PUB socket may not even have a subscriber yet. A gateway reconnecting after a multi-day outage learns of the loss only by absence: not in the ORDERS snapshot, not in QLEGS, and no lifecycle event will ever arrive.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6290B-8141-424F-3F57-90B3A3E24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98562-77FD-009B-5502-D01626369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70DA6-5190-2143-6C52-A5E3152CC2F6}"/>
              </a:ext>
            </a:extLst>
          </p:cNvPr>
          <p:cNvSpPr>
            <a:spLocks noGrp="1"/>
          </p:cNvSpPr>
          <p:nvPr>
            <p:ph type="body" idx="1"/>
          </p:nvPr>
        </p:nvSpPr>
        <p:spPr/>
        <p:txBody>
          <a:bodyPr/>
          <a:lstStyle/>
          <a:p>
            <a:r>
              <a:rPr lang="en-US"/>
              <a:t>Zoom in on the restore itself. _restore_gtc loads data/gtc_orders.json - the file written at shutdown and re-written on every maintenance tick - and walks it once. For each order: if TIF=DAY and the order's original timestamp falls on an earlier calendar day than today, it logs 'Discarding stale TIF=DAY order {id}' and continues; that order is never restored and never expired, and no message is ever sent about it. Everything else has its status reset to NEW - even orders that were PARTIAL when the process stopped - and is handed to book.process(order, match=False). The match=False flag is the crucial part: restored orders are rested straight onto the heaps with no sweep, so nothing crosses while the book is being rebuilt. Without it, a bid and an ask that had coexisted legitimately on the book could trade against each other at startup at stale prices. Because _rest stamps a fresh arrival_seq as each order is pushed, time priority at a tied price is re-derived from the order the entries appear in the file rather than the original arrival times. Nothing is published during restore - no ACK, no fill, no expired event; the PUB socket may not even have a subscriber yet at that point in startup. Gateways discover the rebuilt state by requesting an ORDERS snapshot after they reconnect. Also worth noting: the same file is the checkpoint written every maintenance tick, so a crash costs at most about 5 seconds of book changes.</a:t>
            </a:r>
          </a:p>
        </p:txBody>
      </p:sp>
      <p:sp>
        <p:nvSpPr>
          <p:cNvPr id="4" name="Slide Number Placeholder 3">
            <a:extLst>
              <a:ext uri="{FF2B5EF4-FFF2-40B4-BE49-F238E27FC236}">
                <a16:creationId xmlns:a16="http://schemas.microsoft.com/office/drawing/2014/main" id="{3DDB3578-A9D2-4DEF-2BF2-31A33187AD1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76601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Zoom in on the restore itself. _restore_gtc loads data/gtc_orders.json - the file written at shutdown and re-written on every maintenance tick - and walks it once. For each order: if TIF=DAY and the order's original timestamp falls on an earlier calendar day than today, it logs 'Discarding stale TIF=DAY order {id}' and continues; that order is never restored and never expired, and no message is ever sent about it. Everything else has its status reset to NEW - even orders that were PARTIAL when the process stopped - and is handed to book.process(order, match=False). The match=False flag is the crucial part: restored orders are rested straight onto the heaps with no sweep, so nothing crosses while the book is being rebuilt. Without it, a bid and an ask that had coexisted legitimately on the book could trade against each other at startup at stale prices. Because _rest stamps a fresh arrival_seq as each order is pushed, time priority at a tied price is re-derived from the order the entries appear in the file rather than the original arrival times. Nothing is published during restore - no ACK, no fill, no expired event; the PUB socket may not even have a subscriber yet at that point in startup. Gateways discover the rebuilt state by requesting an ORDERS snapshot after they reconnect. Also worth noting: the same file is the checkpoint written every maintenance tick, so a crash costs at most about 5 seconds of book changes.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8D889-3430-36E5-CBEA-34BC8BAD2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D17C9-4254-7AC5-6306-CE43174D8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EDB0E-E70D-BBEF-B91B-2636B38432CF}"/>
              </a:ext>
            </a:extLst>
          </p:cNvPr>
          <p:cNvSpPr>
            <a:spLocks noGrp="1"/>
          </p:cNvSpPr>
          <p:nvPr>
            <p:ph type="body" idx="1"/>
          </p:nvPr>
        </p:nvSpPr>
        <p:spPr/>
        <p:txBody>
          <a:bodyPr/>
          <a:lstStyle/>
          <a:p>
            <a:r>
              <a:rPr lang="en-US" dirty="0"/>
              <a:t>Zoom in on the restore itself. _</a:t>
            </a:r>
            <a:r>
              <a:rPr lang="en-US" dirty="0" err="1"/>
              <a:t>restore_gtc</a:t>
            </a:r>
            <a:r>
              <a:rPr lang="en-US" dirty="0"/>
              <a:t> loads data/</a:t>
            </a:r>
            <a:r>
              <a:rPr lang="en-US" dirty="0" err="1"/>
              <a:t>gtc_orders.json</a:t>
            </a:r>
            <a:r>
              <a:rPr lang="en-US" dirty="0"/>
              <a:t> - the file written at shutdown and re-written on every maintenance tick - and walks it once. For each order: if TIF=DAY and the order's original timestamp falls on an earlier calendar day than today, it logs 'Discarding stale TIF=DAY order {id}' and continues; that order is never restored and never expired, and no message is ever sent about it. Everything else has its status reset to NEW - even orders that were PARTIAL when the process stopped - and is handed to </a:t>
            </a:r>
            <a:r>
              <a:rPr lang="en-US" dirty="0" err="1"/>
              <a:t>book.process</a:t>
            </a:r>
            <a:r>
              <a:rPr lang="en-US" dirty="0"/>
              <a:t>(order, match=False). The match=False flag is the crucial part: restored orders are rested straight onto the heaps with no sweep, so nothing crosses while the book is being rebuilt. Without it, a bid and an ask that had coexisted legitimately on the book could trade against each other at startup at stale prices. Because _rest stamps a fresh </a:t>
            </a:r>
            <a:r>
              <a:rPr lang="en-US" dirty="0" err="1"/>
              <a:t>arrival_seq</a:t>
            </a:r>
            <a:r>
              <a:rPr lang="en-US" dirty="0"/>
              <a:t> as each order is pushed, time priority at a tied price is re-derived from the order the entries appear in the file rather than the original arrival times. Nothing is published during restore - no ACK, no fill, no expired event; the PUB socket may not even have a subscriber yet at that point in startup. Gateways discover the rebuilt state by requesting an ORDERS snapshot after they reconnect. Also worth noting: the same file is the checkpoint written every maintenance tick, so a crash costs at most about 5 seconds of book changes.</a:t>
            </a:r>
          </a:p>
        </p:txBody>
      </p:sp>
      <p:sp>
        <p:nvSpPr>
          <p:cNvPr id="4" name="Slide Number Placeholder 3">
            <a:extLst>
              <a:ext uri="{FF2B5EF4-FFF2-40B4-BE49-F238E27FC236}">
                <a16:creationId xmlns:a16="http://schemas.microsoft.com/office/drawing/2014/main" id="{8CE5C1AA-9E03-7205-DAC8-A7778217DCCF}"/>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8697744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debugging cheat-sheet, roughly in the order you should look. Was it rejected and why - the REJECT_CODE and reason on the ACK; every reject goes through Engine._reject which always sets both. Did the engine see it - engine log at INFO logs NEW {id} {symbol} {side} right before book.process. Did it fill - order.fill.{gateway_id} on the wire, trade.executed for the public tape, and a TRADE log line. Is it still resting - the ORDERS request walks book.resting_orders() directly so it can never disagree with the book. Did it expire - order.expired.{gateway_id}, only ever from _expire_tif. Did I lose it across a restart - look for 'Discarding stale TIF=DAY order' in the startup log; if you see it, that order is gone and nothing else will tell you. And no handler can silently swallow exceptions: every branch is wrapped, and any exception increments _error_count and logs at ERROR with the topic name. For whole classes of rejects there are fine-grained counters in _debug_counts, summarised every 5 seconds at DEBUG.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five things worth remembering. Every arrow in the end-to-end diagram is a function call or a two-frame ZeroMQ message you can grep for by name - there is no step in between. If a learner remembers only one thing, make it this: the ACK is published before the book is touched, and it means accepted for processing, not final state.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0AD925-65A3-0D9D-B795-5A55B80412D6}"/>
              </a:ext>
            </a:extLst>
          </p:cNvPr>
          <p:cNvSpPr txBox="1"/>
          <p:nvPr userDrawn="1">
            <p:extLst>
              <p:ext uri="{1162E1C5-73C7-4A58-AE30-91384D911F3F}">
                <p184:classification xmlns:p184="http://schemas.microsoft.com/office/powerpoint/2018/4/main" val="ftr"/>
              </p:ext>
            </p:extLst>
          </p:nvPr>
        </p:nvSpPr>
        <p:spPr>
          <a:xfrm>
            <a:off x="343662" y="4897120"/>
            <a:ext cx="8488363" cy="182880"/>
          </a:xfrm>
          <a:prstGeom prst="rect">
            <a:avLst/>
          </a:prstGeom>
        </p:spPr>
        <p:txBody>
          <a:bodyPr horzOverflow="overflow" lIns="0" tIns="0" rIns="0" bIns="0">
            <a:spAutoFit/>
          </a:bodyPr>
          <a:lstStyle/>
          <a:p>
            <a:pPr algn="l"/>
            <a:r>
              <a:rPr lang="en-SE" sz="1200">
                <a:solidFill>
                  <a:srgbClr val="000000">
                    <a:alpha val="50000"/>
                  </a:srgbClr>
                </a:solidFill>
                <a:latin typeface="Aptos" panose="020B0004020202020204" pitchFamily="34" charset="0"/>
              </a:rPr>
              <a:t>Nasdaq - Internal Use: Distribution limited to Nasdaq personnel and authorized third parties subject to confidentiality obligations</a:t>
            </a:r>
          </a:p>
        </p:txBody>
      </p:sp>
    </p:spTree>
    <p:extLst>
      <p:ext uri="{BB962C8B-B14F-4D97-AF65-F5344CB8AC3E}">
        <p14:creationId xmlns:p14="http://schemas.microsoft.com/office/powerpoint/2010/main" val="179424202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side band">
            <a:extLst>
              <a:ext uri="{C183D7F6-B498-43B3-948B-1728B52AA6E4}">
                <adec:decorative xmlns:adec="http://schemas.microsoft.com/office/drawing/2017/decorative" val="1"/>
              </a:ext>
            </a:extLst>
          </p:cNvPr>
          <p:cNvSpPr/>
          <p:nvPr/>
        </p:nvSpPr>
        <p:spPr>
          <a:xfrm>
            <a:off x="0" y="0"/>
            <a:ext cx="256032" cy="5143500"/>
          </a:xfrm>
          <a:prstGeom prst="rect">
            <a:avLst/>
          </a:prstGeom>
          <a:solidFill>
            <a:srgbClr val="1B2621"/>
          </a:solidFill>
          <a:ln w="12700">
            <a:solidFill>
              <a:srgbClr val="1B2621"/>
            </a:solidFill>
            <a:prstDash val="solid"/>
          </a:ln>
        </p:spPr>
        <p:txBody>
          <a:bodyPr/>
          <a:lstStyle/>
          <a:p>
            <a:endParaRPr lang="en-SE"/>
          </a:p>
        </p:txBody>
      </p:sp>
      <p:sp>
        <p:nvSpPr>
          <p:cNvPr id="6" name="Text 3"/>
          <p:cNvSpPr/>
          <p:nvPr/>
        </p:nvSpPr>
        <p:spPr>
          <a:xfrm>
            <a:off x="731520" y="1234440"/>
            <a:ext cx="7863840" cy="274320"/>
          </a:xfrm>
          <a:prstGeom prst="rect">
            <a:avLst/>
          </a:prstGeom>
          <a:noFill/>
          <a:ln/>
        </p:spPr>
        <p:txBody>
          <a:bodyPr wrap="square" lIns="0" tIns="0" rIns="0" bIns="0" rtlCol="0" anchor="ctr"/>
          <a:lstStyle/>
          <a:p>
            <a:pPr marL="0" indent="0">
              <a:buNone/>
            </a:pPr>
            <a:r>
              <a:rPr lang="en-US" sz="1200" kern="0" spc="400" dirty="0">
                <a:solidFill>
                  <a:srgbClr val="39FF88"/>
                </a:solidFill>
                <a:latin typeface="Consolas" pitchFamily="34" charset="0"/>
                <a:ea typeface="Consolas" pitchFamily="34" charset="-122"/>
                <a:cs typeface="Consolas" pitchFamily="34" charset="-120"/>
              </a:rPr>
              <a:t>ORDER LIFECYCLE / MATCHING ENGINE</a:t>
            </a:r>
            <a:endParaRPr lang="en-US" sz="1200" dirty="0"/>
          </a:p>
        </p:txBody>
      </p:sp>
      <p:sp>
        <p:nvSpPr>
          <p:cNvPr id="7" name="Text 4"/>
          <p:cNvSpPr/>
          <p:nvPr/>
        </p:nvSpPr>
        <p:spPr>
          <a:xfrm>
            <a:off x="731520" y="1600200"/>
            <a:ext cx="7863840" cy="1371600"/>
          </a:xfrm>
          <a:prstGeom prst="rect">
            <a:avLst/>
          </a:prstGeom>
          <a:noFill/>
          <a:ln/>
        </p:spPr>
        <p:txBody>
          <a:bodyPr wrap="square" lIns="0" tIns="0" rIns="0" bIns="0" rtlCol="0" anchor="ctr"/>
          <a:lstStyle/>
          <a:p>
            <a:pPr marL="0" indent="0">
              <a:lnSpc>
                <a:spcPts val="4400"/>
              </a:lnSpc>
              <a:buNone/>
            </a:pPr>
            <a:r>
              <a:rPr lang="en-US" sz="4000" b="1" dirty="0">
                <a:solidFill>
                  <a:srgbClr val="EAF5F0"/>
                </a:solidFill>
                <a:latin typeface="Segoe UI" pitchFamily="34" charset="0"/>
                <a:ea typeface="Segoe UI" pitchFamily="34" charset="-122"/>
                <a:cs typeface="Segoe UI" pitchFamily="34" charset="-120"/>
              </a:rPr>
              <a:t>How an order enters</a:t>
            </a:r>
            <a:endParaRPr lang="en-US" sz="4000" dirty="0"/>
          </a:p>
          <a:p>
            <a:pPr marL="0" indent="0">
              <a:lnSpc>
                <a:spcPts val="4400"/>
              </a:lnSpc>
              <a:buNone/>
            </a:pPr>
            <a:r>
              <a:rPr lang="en-US" sz="4000" b="1" dirty="0">
                <a:solidFill>
                  <a:srgbClr val="EAF5F0"/>
                </a:solidFill>
                <a:latin typeface="Segoe UI" pitchFamily="34" charset="0"/>
                <a:ea typeface="Segoe UI" pitchFamily="34" charset="-122"/>
                <a:cs typeface="Segoe UI" pitchFamily="34" charset="-120"/>
              </a:rPr>
              <a:t>the exchange</a:t>
            </a:r>
            <a:endParaRPr lang="en-US" sz="4000" dirty="0"/>
          </a:p>
        </p:txBody>
      </p:sp>
      <p:sp>
        <p:nvSpPr>
          <p:cNvPr id="8" name="Text 5"/>
          <p:cNvSpPr/>
          <p:nvPr/>
        </p:nvSpPr>
        <p:spPr>
          <a:xfrm>
            <a:off x="731520" y="2971800"/>
            <a:ext cx="6949440" cy="502920"/>
          </a:xfrm>
          <a:prstGeom prst="rect">
            <a:avLst/>
          </a:prstGeom>
          <a:noFill/>
          <a:ln/>
        </p:spPr>
        <p:txBody>
          <a:bodyPr wrap="square" lIns="0" tIns="0" rIns="0" bIns="0" rtlCol="0" anchor="ctr"/>
          <a:lstStyle/>
          <a:p>
            <a:pPr marL="0" indent="0">
              <a:buNone/>
            </a:pPr>
            <a:r>
              <a:rPr lang="en-US" sz="1400" dirty="0">
                <a:solidFill>
                  <a:srgbClr val="8AA79A"/>
                </a:solidFill>
                <a:latin typeface="Segoe UI" pitchFamily="34" charset="0"/>
                <a:ea typeface="Segoe UI" pitchFamily="34" charset="-122"/>
                <a:cs typeface="Segoe UI" pitchFamily="34" charset="-120"/>
              </a:rPr>
              <a:t>From keystroke to a resting entry in the book — every socket, every gate, every exit.</a:t>
            </a:r>
            <a:endParaRPr lang="en-US" sz="1400" dirty="0"/>
          </a:p>
        </p:txBody>
      </p:sp>
      <p:sp>
        <p:nvSpPr>
          <p:cNvPr id="9" name="panel">
            <a:extLst>
              <a:ext uri="{C183D7F6-B498-43B3-948B-1728B52AA6E4}">
                <adec:decorative xmlns:adec="http://schemas.microsoft.com/office/drawing/2017/decorative" val="1"/>
              </a:ext>
            </a:extLst>
          </p:cNvPr>
          <p:cNvSpPr/>
          <p:nvPr/>
        </p:nvSpPr>
        <p:spPr>
          <a:xfrm>
            <a:off x="731520" y="3611880"/>
            <a:ext cx="6035040" cy="685800"/>
          </a:xfrm>
          <a:prstGeom prst="rect">
            <a:avLst/>
          </a:prstGeom>
          <a:solidFill>
            <a:srgbClr val="0E1512"/>
          </a:solidFill>
          <a:ln w="12700">
            <a:solidFill>
              <a:srgbClr val="2A3A34"/>
            </a:solidFill>
            <a:prstDash val="solid"/>
          </a:ln>
        </p:spPr>
        <p:txBody>
          <a:bodyPr/>
          <a:lstStyle/>
          <a:p>
            <a:endParaRPr lang="en-SE"/>
          </a:p>
        </p:txBody>
      </p:sp>
      <p:sp>
        <p:nvSpPr>
          <p:cNvPr id="10" name="Text 7"/>
          <p:cNvSpPr/>
          <p:nvPr/>
        </p:nvSpPr>
        <p:spPr>
          <a:xfrm>
            <a:off x="841248" y="3685032"/>
            <a:ext cx="5815584" cy="539496"/>
          </a:xfrm>
          <a:prstGeom prst="rect">
            <a:avLst/>
          </a:prstGeom>
          <a:noFill/>
          <a:ln/>
        </p:spPr>
        <p:txBody>
          <a:bodyPr wrap="square" lIns="0" tIns="0" rIns="0" bIns="0" rtlCol="0" anchor="t"/>
          <a:lstStyle/>
          <a:p>
            <a:pPr marL="0" indent="0">
              <a:buNone/>
            </a:pPr>
            <a:r>
              <a:rPr lang="en-US" sz="1200" dirty="0">
                <a:solidFill>
                  <a:srgbClr val="39FF88"/>
                </a:solidFill>
                <a:latin typeface="Consolas" pitchFamily="34" charset="0"/>
                <a:ea typeface="Consolas" pitchFamily="34" charset="-122"/>
                <a:cs typeface="Consolas" pitchFamily="34" charset="-120"/>
              </a:rPr>
              <a:t>NEW|SYM=AAPL|SIDE=BUY|QTY=100|PRICE=150.00</a:t>
            </a:r>
            <a:endParaRPr lang="en-US" sz="1200" dirty="0"/>
          </a:p>
          <a:p>
            <a:pPr marL="0" indent="0">
              <a:buNone/>
            </a:pPr>
            <a:r>
              <a:rPr lang="en-US" sz="1200" dirty="0">
                <a:solidFill>
                  <a:srgbClr val="39FF88"/>
                </a:solidFill>
                <a:latin typeface="Consolas" pitchFamily="34" charset="0"/>
                <a:ea typeface="Consolas" pitchFamily="34" charset="-122"/>
                <a:cs typeface="Consolas" pitchFamily="34" charset="-120"/>
              </a:rPr>
              <a:t>    |TIF=DAY|TYPE=LIMIT      # session: CONTINUOUS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ROADMAP</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The journey in five stages</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143000"/>
            <a:ext cx="1572768" cy="1783080"/>
          </a:xfrm>
          <a:prstGeom prst="rect">
            <a:avLst/>
          </a:prstGeom>
          <a:solidFill>
            <a:srgbClr val="141C19"/>
          </a:solidFill>
          <a:ln w="12700">
            <a:solidFill>
              <a:srgbClr val="2A3A34"/>
            </a:solidFill>
            <a:prstDash val="solid"/>
          </a:ln>
        </p:spPr>
        <p:txBody>
          <a:bodyPr/>
          <a:lstStyle/>
          <a:p>
            <a:endParaRPr lang="en-SE"/>
          </a:p>
        </p:txBody>
      </p:sp>
      <p:sp>
        <p:nvSpPr>
          <p:cNvPr id="8" name="accent bar">
            <a:extLst>
              <a:ext uri="{C183D7F6-B498-43B3-948B-1728B52AA6E4}">
                <adec:decorative xmlns:adec="http://schemas.microsoft.com/office/drawing/2017/decorative" val="1"/>
              </a:ext>
            </a:extLst>
          </p:cNvPr>
          <p:cNvSpPr/>
          <p:nvPr/>
        </p:nvSpPr>
        <p:spPr>
          <a:xfrm>
            <a:off x="411480" y="1143000"/>
            <a:ext cx="54864" cy="1783080"/>
          </a:xfrm>
          <a:prstGeom prst="rect">
            <a:avLst/>
          </a:prstGeom>
          <a:solidFill>
            <a:srgbClr val="39FF88"/>
          </a:solidFill>
          <a:ln w="12700">
            <a:solidFill>
              <a:srgbClr val="39FF88"/>
            </a:solidFill>
            <a:prstDash val="solid"/>
          </a:ln>
        </p:spPr>
        <p:txBody>
          <a:bodyPr/>
          <a:lstStyle/>
          <a:p>
            <a:endParaRPr lang="en-SE"/>
          </a:p>
        </p:txBody>
      </p:sp>
      <p:sp>
        <p:nvSpPr>
          <p:cNvPr id="9" name="Text 6"/>
          <p:cNvSpPr/>
          <p:nvPr/>
        </p:nvSpPr>
        <p:spPr>
          <a:xfrm>
            <a:off x="576072" y="1280160"/>
            <a:ext cx="1280160" cy="320040"/>
          </a:xfrm>
          <a:prstGeom prst="rect">
            <a:avLst/>
          </a:prstGeom>
          <a:noFill/>
          <a:ln/>
        </p:spPr>
        <p:txBody>
          <a:bodyPr wrap="square" lIns="0" tIns="0" rIns="0" bIns="0" rtlCol="0" anchor="ctr"/>
          <a:lstStyle/>
          <a:p>
            <a:pPr marL="0" indent="0">
              <a:buNone/>
            </a:pPr>
            <a:r>
              <a:rPr lang="en-US" sz="2800" b="1" dirty="0">
                <a:solidFill>
                  <a:srgbClr val="39FF88"/>
                </a:solidFill>
                <a:latin typeface="Consolas" pitchFamily="34" charset="0"/>
                <a:ea typeface="Consolas" pitchFamily="34" charset="-122"/>
                <a:cs typeface="Consolas" pitchFamily="34" charset="-120"/>
              </a:rPr>
              <a:t>01</a:t>
            </a:r>
            <a:endParaRPr lang="en-US" sz="2800" dirty="0"/>
          </a:p>
        </p:txBody>
      </p:sp>
      <p:sp>
        <p:nvSpPr>
          <p:cNvPr id="10" name="Text 7"/>
          <p:cNvSpPr/>
          <p:nvPr/>
        </p:nvSpPr>
        <p:spPr>
          <a:xfrm>
            <a:off x="576072" y="1664208"/>
            <a:ext cx="132588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GATEWAY</a:t>
            </a:r>
            <a:endParaRPr lang="en-US" sz="1200" dirty="0"/>
          </a:p>
        </p:txBody>
      </p:sp>
      <p:sp>
        <p:nvSpPr>
          <p:cNvPr id="11" name="Text 8"/>
          <p:cNvSpPr/>
          <p:nvPr/>
        </p:nvSpPr>
        <p:spPr>
          <a:xfrm>
            <a:off x="576072" y="1975104"/>
            <a:ext cx="1325880" cy="1188720"/>
          </a:xfrm>
          <a:prstGeom prst="rect">
            <a:avLst/>
          </a:prstGeom>
          <a:noFill/>
          <a:ln/>
        </p:spPr>
        <p:txBody>
          <a:bodyPr wrap="square" lIns="0" tIns="0" rIns="0" bIns="0" rtlCol="0" anchor="t"/>
          <a:lstStyle/>
          <a:p>
            <a:pPr marL="0" indent="0">
              <a:buNone/>
            </a:pPr>
            <a:r>
              <a:rPr lang="en-US" sz="1050" dirty="0">
                <a:solidFill>
                  <a:srgbClr val="8AA79A"/>
                </a:solidFill>
                <a:latin typeface="Segoe UI" pitchFamily="34" charset="0"/>
                <a:ea typeface="Segoe UI" pitchFamily="34" charset="-122"/>
                <a:cs typeface="Segoe UI" pitchFamily="34" charset="-120"/>
              </a:rPr>
              <a:t>Parse ALF text, build Order,</a:t>
            </a:r>
            <a:endParaRPr lang="en-US" sz="1050" dirty="0"/>
          </a:p>
          <a:p>
            <a:pPr marL="0" indent="0">
              <a:buNone/>
            </a:pPr>
            <a:r>
              <a:rPr lang="en-US" sz="1050" dirty="0">
                <a:solidFill>
                  <a:srgbClr val="8AA79A"/>
                </a:solidFill>
                <a:latin typeface="Segoe UI" pitchFamily="34" charset="0"/>
                <a:ea typeface="Segoe UI" pitchFamily="34" charset="-122"/>
                <a:cs typeface="Segoe UI" pitchFamily="34" charset="-120"/>
              </a:rPr>
              <a:t>price -&gt; ticks, stamp gateway_id</a:t>
            </a:r>
            <a:endParaRPr lang="en-US" sz="1050" dirty="0"/>
          </a:p>
        </p:txBody>
      </p:sp>
      <p:sp>
        <p:nvSpPr>
          <p:cNvPr id="12" name="flow arrow">
            <a:extLst>
              <a:ext uri="{C183D7F6-B498-43B3-948B-1728B52AA6E4}">
                <adec:decorative xmlns:adec="http://schemas.microsoft.com/office/drawing/2017/decorative" val="1"/>
              </a:ext>
            </a:extLst>
          </p:cNvPr>
          <p:cNvSpPr/>
          <p:nvPr/>
        </p:nvSpPr>
        <p:spPr>
          <a:xfrm>
            <a:off x="2002536" y="2148840"/>
            <a:ext cx="109728" cy="201168"/>
          </a:xfrm>
          <a:prstGeom prst="rightArrow">
            <a:avLst/>
          </a:prstGeom>
          <a:solidFill>
            <a:srgbClr val="1B7A4C"/>
          </a:solidFill>
          <a:ln w="12700">
            <a:solidFill>
              <a:srgbClr val="1B7A4C"/>
            </a:solidFill>
            <a:prstDash val="solid"/>
          </a:ln>
        </p:spPr>
        <p:txBody>
          <a:bodyPr/>
          <a:lstStyle/>
          <a:p>
            <a:endParaRPr lang="en-SE"/>
          </a:p>
        </p:txBody>
      </p:sp>
      <p:sp>
        <p:nvSpPr>
          <p:cNvPr id="13" name="panel">
            <a:extLst>
              <a:ext uri="{C183D7F6-B498-43B3-948B-1728B52AA6E4}">
                <adec:decorative xmlns:adec="http://schemas.microsoft.com/office/drawing/2017/decorative" val="1"/>
              </a:ext>
            </a:extLst>
          </p:cNvPr>
          <p:cNvSpPr/>
          <p:nvPr/>
        </p:nvSpPr>
        <p:spPr>
          <a:xfrm>
            <a:off x="2121408" y="1143000"/>
            <a:ext cx="1572768" cy="1783080"/>
          </a:xfrm>
          <a:prstGeom prst="rect">
            <a:avLst/>
          </a:prstGeom>
          <a:solidFill>
            <a:srgbClr val="141C19"/>
          </a:solidFill>
          <a:ln w="12700">
            <a:solidFill>
              <a:srgbClr val="2A3A34"/>
            </a:solidFill>
            <a:prstDash val="solid"/>
          </a:ln>
        </p:spPr>
        <p:txBody>
          <a:bodyPr/>
          <a:lstStyle/>
          <a:p>
            <a:endParaRPr lang="en-SE"/>
          </a:p>
        </p:txBody>
      </p:sp>
      <p:sp>
        <p:nvSpPr>
          <p:cNvPr id="14" name="accent bar">
            <a:extLst>
              <a:ext uri="{C183D7F6-B498-43B3-948B-1728B52AA6E4}">
                <adec:decorative xmlns:adec="http://schemas.microsoft.com/office/drawing/2017/decorative" val="1"/>
              </a:ext>
            </a:extLst>
          </p:cNvPr>
          <p:cNvSpPr/>
          <p:nvPr/>
        </p:nvSpPr>
        <p:spPr>
          <a:xfrm>
            <a:off x="2121408" y="1143000"/>
            <a:ext cx="54864" cy="1783080"/>
          </a:xfrm>
          <a:prstGeom prst="rect">
            <a:avLst/>
          </a:prstGeom>
          <a:solidFill>
            <a:srgbClr val="39FF88"/>
          </a:solidFill>
          <a:ln w="12700">
            <a:solidFill>
              <a:srgbClr val="39FF88"/>
            </a:solidFill>
            <a:prstDash val="solid"/>
          </a:ln>
        </p:spPr>
        <p:txBody>
          <a:bodyPr/>
          <a:lstStyle/>
          <a:p>
            <a:endParaRPr lang="en-SE"/>
          </a:p>
        </p:txBody>
      </p:sp>
      <p:sp>
        <p:nvSpPr>
          <p:cNvPr id="15" name="Text 12"/>
          <p:cNvSpPr/>
          <p:nvPr/>
        </p:nvSpPr>
        <p:spPr>
          <a:xfrm>
            <a:off x="2286000" y="1280160"/>
            <a:ext cx="1280160" cy="320040"/>
          </a:xfrm>
          <a:prstGeom prst="rect">
            <a:avLst/>
          </a:prstGeom>
          <a:noFill/>
          <a:ln/>
        </p:spPr>
        <p:txBody>
          <a:bodyPr wrap="square" lIns="0" tIns="0" rIns="0" bIns="0" rtlCol="0" anchor="ctr"/>
          <a:lstStyle/>
          <a:p>
            <a:pPr marL="0" indent="0">
              <a:buNone/>
            </a:pPr>
            <a:r>
              <a:rPr lang="en-US" sz="2800" b="1" dirty="0">
                <a:solidFill>
                  <a:srgbClr val="39FF88"/>
                </a:solidFill>
                <a:latin typeface="Consolas" pitchFamily="34" charset="0"/>
                <a:ea typeface="Consolas" pitchFamily="34" charset="-122"/>
                <a:cs typeface="Consolas" pitchFamily="34" charset="-120"/>
              </a:rPr>
              <a:t>02</a:t>
            </a:r>
            <a:endParaRPr lang="en-US" sz="2800" dirty="0"/>
          </a:p>
        </p:txBody>
      </p:sp>
      <p:sp>
        <p:nvSpPr>
          <p:cNvPr id="16" name="Text 13"/>
          <p:cNvSpPr/>
          <p:nvPr/>
        </p:nvSpPr>
        <p:spPr>
          <a:xfrm>
            <a:off x="2286000" y="1664208"/>
            <a:ext cx="132588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TRANSPORT</a:t>
            </a:r>
            <a:endParaRPr lang="en-US" sz="1200" dirty="0"/>
          </a:p>
        </p:txBody>
      </p:sp>
      <p:sp>
        <p:nvSpPr>
          <p:cNvPr id="17" name="Text 14"/>
          <p:cNvSpPr/>
          <p:nvPr/>
        </p:nvSpPr>
        <p:spPr>
          <a:xfrm>
            <a:off x="2286000" y="1975104"/>
            <a:ext cx="1325880" cy="1188720"/>
          </a:xfrm>
          <a:prstGeom prst="rect">
            <a:avLst/>
          </a:prstGeom>
          <a:noFill/>
          <a:ln/>
        </p:spPr>
        <p:txBody>
          <a:bodyPr wrap="square" lIns="0" tIns="0" rIns="0" bIns="0" rtlCol="0" anchor="t"/>
          <a:lstStyle/>
          <a:p>
            <a:pPr marL="0" indent="0">
              <a:buNone/>
            </a:pPr>
            <a:r>
              <a:rPr lang="en-US" sz="1050" dirty="0">
                <a:solidFill>
                  <a:srgbClr val="8AA79A"/>
                </a:solidFill>
                <a:latin typeface="Segoe UI" pitchFamily="34" charset="0"/>
                <a:ea typeface="Segoe UI" pitchFamily="34" charset="-122"/>
                <a:cs typeface="Segoe UI" pitchFamily="34" charset="-120"/>
              </a:rPr>
              <a:t>PUSH :5555 into the engine.</a:t>
            </a:r>
            <a:endParaRPr lang="en-US" sz="1050" dirty="0"/>
          </a:p>
          <a:p>
            <a:pPr marL="0" indent="0">
              <a:buNone/>
            </a:pPr>
            <a:r>
              <a:rPr lang="en-US" sz="1050" dirty="0">
                <a:solidFill>
                  <a:srgbClr val="8AA79A"/>
                </a:solidFill>
                <a:latin typeface="Segoe UI" pitchFamily="34" charset="0"/>
                <a:ea typeface="Segoe UI" pitchFamily="34" charset="-122"/>
                <a:cs typeface="Segoe UI" pitchFamily="34" charset="-120"/>
              </a:rPr>
              <a:t>One engine, many gateways</a:t>
            </a:r>
            <a:endParaRPr lang="en-US" sz="1050" dirty="0"/>
          </a:p>
        </p:txBody>
      </p:sp>
      <p:sp>
        <p:nvSpPr>
          <p:cNvPr id="18" name="flow arrow">
            <a:extLst>
              <a:ext uri="{C183D7F6-B498-43B3-948B-1728B52AA6E4}">
                <adec:decorative xmlns:adec="http://schemas.microsoft.com/office/drawing/2017/decorative" val="1"/>
              </a:ext>
            </a:extLst>
          </p:cNvPr>
          <p:cNvSpPr/>
          <p:nvPr/>
        </p:nvSpPr>
        <p:spPr>
          <a:xfrm>
            <a:off x="3712464" y="2148840"/>
            <a:ext cx="109728" cy="201168"/>
          </a:xfrm>
          <a:prstGeom prst="rightArrow">
            <a:avLst/>
          </a:prstGeom>
          <a:solidFill>
            <a:srgbClr val="1B7A4C"/>
          </a:solidFill>
          <a:ln w="12700">
            <a:solidFill>
              <a:srgbClr val="1B7A4C"/>
            </a:solidFill>
            <a:prstDash val="solid"/>
          </a:ln>
        </p:spPr>
        <p:txBody>
          <a:bodyPr/>
          <a:lstStyle/>
          <a:p>
            <a:endParaRPr lang="en-SE"/>
          </a:p>
        </p:txBody>
      </p:sp>
      <p:sp>
        <p:nvSpPr>
          <p:cNvPr id="19" name="panel">
            <a:extLst>
              <a:ext uri="{C183D7F6-B498-43B3-948B-1728B52AA6E4}">
                <adec:decorative xmlns:adec="http://schemas.microsoft.com/office/drawing/2017/decorative" val="1"/>
              </a:ext>
            </a:extLst>
          </p:cNvPr>
          <p:cNvSpPr/>
          <p:nvPr/>
        </p:nvSpPr>
        <p:spPr>
          <a:xfrm>
            <a:off x="3831336" y="1143000"/>
            <a:ext cx="1572768" cy="1783080"/>
          </a:xfrm>
          <a:prstGeom prst="rect">
            <a:avLst/>
          </a:prstGeom>
          <a:solidFill>
            <a:srgbClr val="141C19"/>
          </a:solidFill>
          <a:ln w="12700">
            <a:solidFill>
              <a:srgbClr val="2A3A34"/>
            </a:solidFill>
            <a:prstDash val="solid"/>
          </a:ln>
        </p:spPr>
        <p:txBody>
          <a:bodyPr/>
          <a:lstStyle/>
          <a:p>
            <a:endParaRPr lang="en-SE"/>
          </a:p>
        </p:txBody>
      </p:sp>
      <p:sp>
        <p:nvSpPr>
          <p:cNvPr id="20" name="accent bar">
            <a:extLst>
              <a:ext uri="{C183D7F6-B498-43B3-948B-1728B52AA6E4}">
                <adec:decorative xmlns:adec="http://schemas.microsoft.com/office/drawing/2017/decorative" val="1"/>
              </a:ext>
            </a:extLst>
          </p:cNvPr>
          <p:cNvSpPr/>
          <p:nvPr/>
        </p:nvSpPr>
        <p:spPr>
          <a:xfrm>
            <a:off x="3831336" y="1143000"/>
            <a:ext cx="54864" cy="1783080"/>
          </a:xfrm>
          <a:prstGeom prst="rect">
            <a:avLst/>
          </a:prstGeom>
          <a:solidFill>
            <a:srgbClr val="39FF88"/>
          </a:solidFill>
          <a:ln w="12700">
            <a:solidFill>
              <a:srgbClr val="39FF88"/>
            </a:solidFill>
            <a:prstDash val="solid"/>
          </a:ln>
        </p:spPr>
        <p:txBody>
          <a:bodyPr/>
          <a:lstStyle/>
          <a:p>
            <a:endParaRPr lang="en-SE"/>
          </a:p>
        </p:txBody>
      </p:sp>
      <p:sp>
        <p:nvSpPr>
          <p:cNvPr id="21" name="Text 18"/>
          <p:cNvSpPr/>
          <p:nvPr/>
        </p:nvSpPr>
        <p:spPr>
          <a:xfrm>
            <a:off x="3995928" y="1280160"/>
            <a:ext cx="1280160" cy="320040"/>
          </a:xfrm>
          <a:prstGeom prst="rect">
            <a:avLst/>
          </a:prstGeom>
          <a:noFill/>
          <a:ln/>
        </p:spPr>
        <p:txBody>
          <a:bodyPr wrap="square" lIns="0" tIns="0" rIns="0" bIns="0" rtlCol="0" anchor="ctr"/>
          <a:lstStyle/>
          <a:p>
            <a:pPr marL="0" indent="0">
              <a:buNone/>
            </a:pPr>
            <a:r>
              <a:rPr lang="en-US" sz="2800" b="1" dirty="0">
                <a:solidFill>
                  <a:srgbClr val="39FF88"/>
                </a:solidFill>
                <a:latin typeface="Consolas" pitchFamily="34" charset="0"/>
                <a:ea typeface="Consolas" pitchFamily="34" charset="-122"/>
                <a:cs typeface="Consolas" pitchFamily="34" charset="-120"/>
              </a:rPr>
              <a:t>03</a:t>
            </a:r>
            <a:endParaRPr lang="en-US" sz="2800" dirty="0"/>
          </a:p>
        </p:txBody>
      </p:sp>
      <p:sp>
        <p:nvSpPr>
          <p:cNvPr id="22" name="Text 19"/>
          <p:cNvSpPr/>
          <p:nvPr/>
        </p:nvSpPr>
        <p:spPr>
          <a:xfrm>
            <a:off x="3995928" y="1664208"/>
            <a:ext cx="132588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THE GAUNTLET</a:t>
            </a:r>
            <a:endParaRPr lang="en-US" sz="1200" dirty="0"/>
          </a:p>
        </p:txBody>
      </p:sp>
      <p:sp>
        <p:nvSpPr>
          <p:cNvPr id="23" name="Text 20"/>
          <p:cNvSpPr/>
          <p:nvPr/>
        </p:nvSpPr>
        <p:spPr>
          <a:xfrm>
            <a:off x="3995928" y="1975104"/>
            <a:ext cx="1325880" cy="1188720"/>
          </a:xfrm>
          <a:prstGeom prst="rect">
            <a:avLst/>
          </a:prstGeom>
          <a:noFill/>
          <a:ln/>
        </p:spPr>
        <p:txBody>
          <a:bodyPr wrap="square" lIns="0" tIns="0" rIns="0" bIns="0" rtlCol="0" anchor="t"/>
          <a:lstStyle/>
          <a:p>
            <a:pPr marL="0" indent="0">
              <a:buNone/>
            </a:pPr>
            <a:r>
              <a:rPr lang="en-US" sz="1050" dirty="0">
                <a:solidFill>
                  <a:srgbClr val="8AA79A"/>
                </a:solidFill>
                <a:latin typeface="Segoe UI" pitchFamily="34" charset="0"/>
                <a:ea typeface="Segoe UI" pitchFamily="34" charset="-122"/>
                <a:cs typeface="Segoe UI" pitchFamily="34" charset="-120"/>
              </a:rPr>
              <a:t>Eight guard clauses,</a:t>
            </a:r>
            <a:endParaRPr lang="en-US" sz="1050" dirty="0"/>
          </a:p>
          <a:p>
            <a:pPr marL="0" indent="0">
              <a:buNone/>
            </a:pPr>
            <a:r>
              <a:rPr lang="en-US" sz="1050" dirty="0">
                <a:solidFill>
                  <a:srgbClr val="8AA79A"/>
                </a:solidFill>
                <a:latin typeface="Segoe UI" pitchFamily="34" charset="0"/>
                <a:ea typeface="Segoe UI" pitchFamily="34" charset="-122"/>
                <a:cs typeface="Segoe UI" pitchFamily="34" charset="-120"/>
              </a:rPr>
              <a:t>fixed order, reject or fall through</a:t>
            </a:r>
            <a:endParaRPr lang="en-US" sz="1050" dirty="0"/>
          </a:p>
        </p:txBody>
      </p:sp>
      <p:sp>
        <p:nvSpPr>
          <p:cNvPr id="24" name="flow arrow">
            <a:extLst>
              <a:ext uri="{C183D7F6-B498-43B3-948B-1728B52AA6E4}">
                <adec:decorative xmlns:adec="http://schemas.microsoft.com/office/drawing/2017/decorative" val="1"/>
              </a:ext>
            </a:extLst>
          </p:cNvPr>
          <p:cNvSpPr/>
          <p:nvPr/>
        </p:nvSpPr>
        <p:spPr>
          <a:xfrm>
            <a:off x="5422392" y="2148840"/>
            <a:ext cx="109728" cy="201168"/>
          </a:xfrm>
          <a:prstGeom prst="rightArrow">
            <a:avLst/>
          </a:prstGeom>
          <a:solidFill>
            <a:srgbClr val="1B7A4C"/>
          </a:solidFill>
          <a:ln w="12700">
            <a:solidFill>
              <a:srgbClr val="1B7A4C"/>
            </a:solidFill>
            <a:prstDash val="solid"/>
          </a:ln>
        </p:spPr>
        <p:txBody>
          <a:bodyPr/>
          <a:lstStyle/>
          <a:p>
            <a:endParaRPr lang="en-SE"/>
          </a:p>
        </p:txBody>
      </p:sp>
      <p:sp>
        <p:nvSpPr>
          <p:cNvPr id="25" name="panel">
            <a:extLst>
              <a:ext uri="{C183D7F6-B498-43B3-948B-1728B52AA6E4}">
                <adec:decorative xmlns:adec="http://schemas.microsoft.com/office/drawing/2017/decorative" val="1"/>
              </a:ext>
            </a:extLst>
          </p:cNvPr>
          <p:cNvSpPr/>
          <p:nvPr/>
        </p:nvSpPr>
        <p:spPr>
          <a:xfrm>
            <a:off x="5541264" y="1143000"/>
            <a:ext cx="1572768" cy="1783080"/>
          </a:xfrm>
          <a:prstGeom prst="rect">
            <a:avLst/>
          </a:prstGeom>
          <a:solidFill>
            <a:srgbClr val="141C19"/>
          </a:solidFill>
          <a:ln w="12700">
            <a:solidFill>
              <a:srgbClr val="2A3A34"/>
            </a:solidFill>
            <a:prstDash val="solid"/>
          </a:ln>
        </p:spPr>
        <p:txBody>
          <a:bodyPr/>
          <a:lstStyle/>
          <a:p>
            <a:endParaRPr lang="en-SE"/>
          </a:p>
        </p:txBody>
      </p:sp>
      <p:sp>
        <p:nvSpPr>
          <p:cNvPr id="26" name="accent bar">
            <a:extLst>
              <a:ext uri="{C183D7F6-B498-43B3-948B-1728B52AA6E4}">
                <adec:decorative xmlns:adec="http://schemas.microsoft.com/office/drawing/2017/decorative" val="1"/>
              </a:ext>
            </a:extLst>
          </p:cNvPr>
          <p:cNvSpPr/>
          <p:nvPr/>
        </p:nvSpPr>
        <p:spPr>
          <a:xfrm>
            <a:off x="5541264" y="1143000"/>
            <a:ext cx="54864" cy="1783080"/>
          </a:xfrm>
          <a:prstGeom prst="rect">
            <a:avLst/>
          </a:prstGeom>
          <a:solidFill>
            <a:srgbClr val="39FF88"/>
          </a:solidFill>
          <a:ln w="12700">
            <a:solidFill>
              <a:srgbClr val="39FF88"/>
            </a:solidFill>
            <a:prstDash val="solid"/>
          </a:ln>
        </p:spPr>
        <p:txBody>
          <a:bodyPr/>
          <a:lstStyle/>
          <a:p>
            <a:endParaRPr lang="en-SE"/>
          </a:p>
        </p:txBody>
      </p:sp>
      <p:sp>
        <p:nvSpPr>
          <p:cNvPr id="27" name="Text 24"/>
          <p:cNvSpPr/>
          <p:nvPr/>
        </p:nvSpPr>
        <p:spPr>
          <a:xfrm>
            <a:off x="5705856" y="1280160"/>
            <a:ext cx="1280160" cy="320040"/>
          </a:xfrm>
          <a:prstGeom prst="rect">
            <a:avLst/>
          </a:prstGeom>
          <a:noFill/>
          <a:ln/>
        </p:spPr>
        <p:txBody>
          <a:bodyPr wrap="square" lIns="0" tIns="0" rIns="0" bIns="0" rtlCol="0" anchor="ctr"/>
          <a:lstStyle/>
          <a:p>
            <a:pPr marL="0" indent="0">
              <a:buNone/>
            </a:pPr>
            <a:r>
              <a:rPr lang="en-US" sz="2800" b="1" dirty="0">
                <a:solidFill>
                  <a:srgbClr val="39FF88"/>
                </a:solidFill>
                <a:latin typeface="Consolas" pitchFamily="34" charset="0"/>
                <a:ea typeface="Consolas" pitchFamily="34" charset="-122"/>
                <a:cs typeface="Consolas" pitchFamily="34" charset="-120"/>
              </a:rPr>
              <a:t>04</a:t>
            </a:r>
            <a:endParaRPr lang="en-US" sz="2800" dirty="0"/>
          </a:p>
        </p:txBody>
      </p:sp>
      <p:sp>
        <p:nvSpPr>
          <p:cNvPr id="28" name="Text 25"/>
          <p:cNvSpPr/>
          <p:nvPr/>
        </p:nvSpPr>
        <p:spPr>
          <a:xfrm>
            <a:off x="5705856" y="1664208"/>
            <a:ext cx="132588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ACK</a:t>
            </a:r>
            <a:endParaRPr lang="en-US" sz="1200" dirty="0"/>
          </a:p>
        </p:txBody>
      </p:sp>
      <p:sp>
        <p:nvSpPr>
          <p:cNvPr id="29" name="Text 26"/>
          <p:cNvSpPr/>
          <p:nvPr/>
        </p:nvSpPr>
        <p:spPr>
          <a:xfrm>
            <a:off x="5705856" y="1975104"/>
            <a:ext cx="1325880" cy="1188720"/>
          </a:xfrm>
          <a:prstGeom prst="rect">
            <a:avLst/>
          </a:prstGeom>
          <a:noFill/>
          <a:ln/>
        </p:spPr>
        <p:txBody>
          <a:bodyPr wrap="square" lIns="0" tIns="0" rIns="0" bIns="0" rtlCol="0" anchor="t"/>
          <a:lstStyle/>
          <a:p>
            <a:pPr marL="0" indent="0">
              <a:buNone/>
            </a:pPr>
            <a:r>
              <a:rPr lang="en-US" sz="1050" dirty="0">
                <a:solidFill>
                  <a:srgbClr val="8AA79A"/>
                </a:solidFill>
                <a:latin typeface="Segoe UI" pitchFamily="34" charset="0"/>
                <a:ea typeface="Segoe UI" pitchFamily="34" charset="-122"/>
                <a:cs typeface="Segoe UI" pitchFamily="34" charset="-120"/>
              </a:rPr>
              <a:t>Published on PUB :5556</a:t>
            </a:r>
            <a:endParaRPr lang="en-US" sz="1050" dirty="0"/>
          </a:p>
          <a:p>
            <a:pPr marL="0" indent="0">
              <a:buNone/>
            </a:pPr>
            <a:r>
              <a:rPr lang="en-US" sz="1050" dirty="0">
                <a:solidFill>
                  <a:srgbClr val="8AA79A"/>
                </a:solidFill>
                <a:latin typeface="Segoe UI" pitchFamily="34" charset="0"/>
                <a:ea typeface="Segoe UI" pitchFamily="34" charset="-122"/>
                <a:cs typeface="Segoe UI" pitchFamily="34" charset="-120"/>
              </a:rPr>
              <a:t>before the book is touched</a:t>
            </a:r>
            <a:endParaRPr lang="en-US" sz="1050" dirty="0"/>
          </a:p>
        </p:txBody>
      </p:sp>
      <p:sp>
        <p:nvSpPr>
          <p:cNvPr id="30" name="flow arrow">
            <a:extLst>
              <a:ext uri="{C183D7F6-B498-43B3-948B-1728B52AA6E4}">
                <adec:decorative xmlns:adec="http://schemas.microsoft.com/office/drawing/2017/decorative" val="1"/>
              </a:ext>
            </a:extLst>
          </p:cNvPr>
          <p:cNvSpPr/>
          <p:nvPr/>
        </p:nvSpPr>
        <p:spPr>
          <a:xfrm>
            <a:off x="7132320" y="2148840"/>
            <a:ext cx="109728" cy="201168"/>
          </a:xfrm>
          <a:prstGeom prst="rightArrow">
            <a:avLst/>
          </a:prstGeom>
          <a:solidFill>
            <a:srgbClr val="1B7A4C"/>
          </a:solidFill>
          <a:ln w="12700">
            <a:solidFill>
              <a:srgbClr val="1B7A4C"/>
            </a:solidFill>
            <a:prstDash val="solid"/>
          </a:ln>
        </p:spPr>
        <p:txBody>
          <a:bodyPr/>
          <a:lstStyle/>
          <a:p>
            <a:endParaRPr lang="en-SE"/>
          </a:p>
        </p:txBody>
      </p:sp>
      <p:sp>
        <p:nvSpPr>
          <p:cNvPr id="31" name="panel">
            <a:extLst>
              <a:ext uri="{C183D7F6-B498-43B3-948B-1728B52AA6E4}">
                <adec:decorative xmlns:adec="http://schemas.microsoft.com/office/drawing/2017/decorative" val="1"/>
              </a:ext>
            </a:extLst>
          </p:cNvPr>
          <p:cNvSpPr/>
          <p:nvPr/>
        </p:nvSpPr>
        <p:spPr>
          <a:xfrm>
            <a:off x="7251192" y="1143000"/>
            <a:ext cx="1572768" cy="1783080"/>
          </a:xfrm>
          <a:prstGeom prst="rect">
            <a:avLst/>
          </a:prstGeom>
          <a:solidFill>
            <a:srgbClr val="141C19"/>
          </a:solidFill>
          <a:ln w="12700">
            <a:solidFill>
              <a:srgbClr val="2A3A34"/>
            </a:solidFill>
            <a:prstDash val="solid"/>
          </a:ln>
        </p:spPr>
        <p:txBody>
          <a:bodyPr/>
          <a:lstStyle/>
          <a:p>
            <a:endParaRPr lang="en-SE"/>
          </a:p>
        </p:txBody>
      </p:sp>
      <p:sp>
        <p:nvSpPr>
          <p:cNvPr id="32" name="accent bar">
            <a:extLst>
              <a:ext uri="{C183D7F6-B498-43B3-948B-1728B52AA6E4}">
                <adec:decorative xmlns:adec="http://schemas.microsoft.com/office/drawing/2017/decorative" val="1"/>
              </a:ext>
            </a:extLst>
          </p:cNvPr>
          <p:cNvSpPr/>
          <p:nvPr/>
        </p:nvSpPr>
        <p:spPr>
          <a:xfrm>
            <a:off x="7251192" y="1143000"/>
            <a:ext cx="54864" cy="1783080"/>
          </a:xfrm>
          <a:prstGeom prst="rect">
            <a:avLst/>
          </a:prstGeom>
          <a:solidFill>
            <a:srgbClr val="39FF88"/>
          </a:solidFill>
          <a:ln w="12700">
            <a:solidFill>
              <a:srgbClr val="39FF88"/>
            </a:solidFill>
            <a:prstDash val="solid"/>
          </a:ln>
        </p:spPr>
        <p:txBody>
          <a:bodyPr/>
          <a:lstStyle/>
          <a:p>
            <a:endParaRPr lang="en-SE"/>
          </a:p>
        </p:txBody>
      </p:sp>
      <p:sp>
        <p:nvSpPr>
          <p:cNvPr id="33" name="Text 30"/>
          <p:cNvSpPr/>
          <p:nvPr/>
        </p:nvSpPr>
        <p:spPr>
          <a:xfrm>
            <a:off x="7415784" y="1280160"/>
            <a:ext cx="1280160" cy="320040"/>
          </a:xfrm>
          <a:prstGeom prst="rect">
            <a:avLst/>
          </a:prstGeom>
          <a:noFill/>
          <a:ln/>
        </p:spPr>
        <p:txBody>
          <a:bodyPr wrap="square" lIns="0" tIns="0" rIns="0" bIns="0" rtlCol="0" anchor="ctr"/>
          <a:lstStyle/>
          <a:p>
            <a:pPr marL="0" indent="0">
              <a:buNone/>
            </a:pPr>
            <a:r>
              <a:rPr lang="en-US" sz="2800" b="1" dirty="0">
                <a:solidFill>
                  <a:srgbClr val="39FF88"/>
                </a:solidFill>
                <a:latin typeface="Consolas" pitchFamily="34" charset="0"/>
                <a:ea typeface="Consolas" pitchFamily="34" charset="-122"/>
                <a:cs typeface="Consolas" pitchFamily="34" charset="-120"/>
              </a:rPr>
              <a:t>05</a:t>
            </a:r>
            <a:endParaRPr lang="en-US" sz="2800" dirty="0"/>
          </a:p>
        </p:txBody>
      </p:sp>
      <p:sp>
        <p:nvSpPr>
          <p:cNvPr id="34" name="Text 31"/>
          <p:cNvSpPr/>
          <p:nvPr/>
        </p:nvSpPr>
        <p:spPr>
          <a:xfrm>
            <a:off x="7415784" y="1664208"/>
            <a:ext cx="132588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THE BOOK</a:t>
            </a:r>
            <a:endParaRPr lang="en-US" sz="1200" dirty="0"/>
          </a:p>
        </p:txBody>
      </p:sp>
      <p:sp>
        <p:nvSpPr>
          <p:cNvPr id="35" name="Text 32"/>
          <p:cNvSpPr/>
          <p:nvPr/>
        </p:nvSpPr>
        <p:spPr>
          <a:xfrm>
            <a:off x="7415784" y="1975104"/>
            <a:ext cx="1325880" cy="1188720"/>
          </a:xfrm>
          <a:prstGeom prst="rect">
            <a:avLst/>
          </a:prstGeom>
          <a:noFill/>
          <a:ln/>
        </p:spPr>
        <p:txBody>
          <a:bodyPr wrap="square" lIns="0" tIns="0" rIns="0" bIns="0" rtlCol="0" anchor="t"/>
          <a:lstStyle/>
          <a:p>
            <a:pPr marL="0" indent="0">
              <a:buNone/>
            </a:pPr>
            <a:r>
              <a:rPr lang="en-US" sz="1050" dirty="0">
                <a:solidFill>
                  <a:srgbClr val="8AA79A"/>
                </a:solidFill>
                <a:latin typeface="Segoe UI" pitchFamily="34" charset="0"/>
                <a:ea typeface="Segoe UI" pitchFamily="34" charset="-122"/>
                <a:cs typeface="Segoe UI" pitchFamily="34" charset="-120"/>
              </a:rPr>
              <a:t>Sweep, then rest or fill.</a:t>
            </a:r>
            <a:endParaRPr lang="en-US" sz="1050" dirty="0"/>
          </a:p>
          <a:p>
            <a:pPr marL="0" indent="0">
              <a:buNone/>
            </a:pPr>
            <a:r>
              <a:rPr lang="en-US" sz="1050" dirty="0">
                <a:solidFill>
                  <a:srgbClr val="8AA79A"/>
                </a:solidFill>
                <a:latin typeface="Segoe UI" pitchFamily="34" charset="0"/>
                <a:ea typeface="Segoe UI" pitchFamily="34" charset="-122"/>
                <a:cs typeface="Segoe UI" pitchFamily="34" charset="-120"/>
              </a:rPr>
              <a:t>Then lifetime and exit</a:t>
            </a:r>
            <a:endParaRPr lang="en-US" sz="1050" dirty="0"/>
          </a:p>
        </p:txBody>
      </p:sp>
      <p:sp>
        <p:nvSpPr>
          <p:cNvPr id="36" name="Text 33"/>
          <p:cNvSpPr/>
          <p:nvPr/>
        </p:nvSpPr>
        <p:spPr>
          <a:xfrm>
            <a:off x="411480" y="3703320"/>
            <a:ext cx="8321040" cy="320040"/>
          </a:xfrm>
          <a:prstGeom prst="rect">
            <a:avLst/>
          </a:prstGeom>
          <a:noFill/>
          <a:ln/>
        </p:spPr>
        <p:txBody>
          <a:bodyPr wrap="square" lIns="0" tIns="0" rIns="0" bIns="0" rtlCol="0" anchor="ctr"/>
          <a:lstStyle/>
          <a:p>
            <a:pPr marL="0" indent="0">
              <a:buNone/>
            </a:pPr>
            <a:r>
              <a:rPr lang="en-US" sz="1200" i="1" dirty="0">
                <a:solidFill>
                  <a:srgbClr val="8AA79A"/>
                </a:solidFill>
                <a:latin typeface="Segoe UI" pitchFamily="34" charset="0"/>
                <a:ea typeface="Segoe UI" pitchFamily="34" charset="-122"/>
                <a:cs typeface="Segoe UI" pitchFamily="34" charset="-120"/>
              </a:rPr>
              <a:t>The goal is to make it boring: a long, explicit checklist — each step small enough to hold in your head.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1</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The moving parts: two sockets, one engine</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097280"/>
            <a:ext cx="2743200" cy="2651760"/>
          </a:xfrm>
          <a:prstGeom prst="rect">
            <a:avLst/>
          </a:prstGeom>
          <a:solidFill>
            <a:srgbClr val="141C19"/>
          </a:solidFill>
          <a:ln w="12700">
            <a:solidFill>
              <a:srgbClr val="2A3A34"/>
            </a:solidFill>
            <a:prstDash val="solid"/>
          </a:ln>
        </p:spPr>
        <p:txBody>
          <a:bodyPr/>
          <a:lstStyle/>
          <a:p>
            <a:endParaRPr lang="en-SE"/>
          </a:p>
        </p:txBody>
      </p:sp>
      <p:sp>
        <p:nvSpPr>
          <p:cNvPr id="8" name="Text 5"/>
          <p:cNvSpPr/>
          <p:nvPr/>
        </p:nvSpPr>
        <p:spPr>
          <a:xfrm>
            <a:off x="548640" y="1234440"/>
            <a:ext cx="2468880" cy="274320"/>
          </a:xfrm>
          <a:prstGeom prst="rect">
            <a:avLst/>
          </a:prstGeom>
          <a:noFill/>
          <a:ln/>
        </p:spPr>
        <p:txBody>
          <a:bodyPr wrap="square" lIns="0" tIns="0" rIns="0" bIns="0" rtlCol="0" anchor="ctr"/>
          <a:lstStyle/>
          <a:p>
            <a:pPr marL="0" indent="0">
              <a:buNone/>
            </a:pPr>
            <a:r>
              <a:rPr lang="en-US" sz="1300" b="1" dirty="0">
                <a:solidFill>
                  <a:srgbClr val="EAF5F0"/>
                </a:solidFill>
                <a:latin typeface="Consolas" pitchFamily="34" charset="0"/>
                <a:ea typeface="Consolas" pitchFamily="34" charset="-122"/>
                <a:cs typeface="Consolas" pitchFamily="34" charset="-120"/>
              </a:rPr>
              <a:t>pm-alf-gwy</a:t>
            </a:r>
            <a:endParaRPr lang="en-US" sz="1300" dirty="0"/>
          </a:p>
        </p:txBody>
      </p:sp>
      <p:sp>
        <p:nvSpPr>
          <p:cNvPr id="9" name="Text 6"/>
          <p:cNvSpPr/>
          <p:nvPr/>
        </p:nvSpPr>
        <p:spPr>
          <a:xfrm>
            <a:off x="548640" y="1490472"/>
            <a:ext cx="246888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(or pm-alf-console)</a:t>
            </a:r>
            <a:endParaRPr lang="en-US" sz="900" dirty="0"/>
          </a:p>
        </p:txBody>
      </p:sp>
      <p:sp>
        <p:nvSpPr>
          <p:cNvPr id="10" name="socket box">
            <a:extLst>
              <a:ext uri="{C183D7F6-B498-43B3-948B-1728B52AA6E4}">
                <adec:decorative xmlns:adec="http://schemas.microsoft.com/office/drawing/2017/decorative" val="1"/>
              </a:ext>
            </a:extLst>
          </p:cNvPr>
          <p:cNvSpPr/>
          <p:nvPr/>
        </p:nvSpPr>
        <p:spPr>
          <a:xfrm>
            <a:off x="548640" y="1874520"/>
            <a:ext cx="2468880" cy="685800"/>
          </a:xfrm>
          <a:prstGeom prst="rect">
            <a:avLst/>
          </a:prstGeom>
          <a:solidFill>
            <a:srgbClr val="1B2621"/>
          </a:solidFill>
          <a:ln w="12700">
            <a:solidFill>
              <a:srgbClr val="39FF88"/>
            </a:solidFill>
            <a:prstDash val="solid"/>
          </a:ln>
        </p:spPr>
        <p:txBody>
          <a:bodyPr/>
          <a:lstStyle/>
          <a:p>
            <a:endParaRPr lang="en-SE"/>
          </a:p>
        </p:txBody>
      </p:sp>
      <p:sp>
        <p:nvSpPr>
          <p:cNvPr id="11" name="Text 8"/>
          <p:cNvSpPr/>
          <p:nvPr/>
        </p:nvSpPr>
        <p:spPr>
          <a:xfrm>
            <a:off x="658368" y="1965960"/>
            <a:ext cx="219456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PUSH socket</a:t>
            </a:r>
            <a:endParaRPr lang="en-US" sz="1200" dirty="0"/>
          </a:p>
        </p:txBody>
      </p:sp>
      <p:sp>
        <p:nvSpPr>
          <p:cNvPr id="12" name="Text 9"/>
          <p:cNvSpPr/>
          <p:nvPr/>
        </p:nvSpPr>
        <p:spPr>
          <a:xfrm>
            <a:off x="658368" y="2240280"/>
            <a:ext cx="219456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connect()</a:t>
            </a:r>
            <a:endParaRPr lang="en-US" sz="900" dirty="0"/>
          </a:p>
        </p:txBody>
      </p:sp>
      <p:sp>
        <p:nvSpPr>
          <p:cNvPr id="13" name="socket box">
            <a:extLst>
              <a:ext uri="{C183D7F6-B498-43B3-948B-1728B52AA6E4}">
                <adec:decorative xmlns:adec="http://schemas.microsoft.com/office/drawing/2017/decorative" val="1"/>
              </a:ext>
            </a:extLst>
          </p:cNvPr>
          <p:cNvSpPr/>
          <p:nvPr/>
        </p:nvSpPr>
        <p:spPr>
          <a:xfrm>
            <a:off x="548640" y="2697480"/>
            <a:ext cx="2468880" cy="685800"/>
          </a:xfrm>
          <a:prstGeom prst="rect">
            <a:avLst/>
          </a:prstGeom>
          <a:solidFill>
            <a:srgbClr val="1B2621"/>
          </a:solidFill>
          <a:ln w="12700">
            <a:solidFill>
              <a:srgbClr val="39FF88"/>
            </a:solidFill>
            <a:prstDash val="solid"/>
          </a:ln>
        </p:spPr>
        <p:txBody>
          <a:bodyPr/>
          <a:lstStyle/>
          <a:p>
            <a:endParaRPr lang="en-SE"/>
          </a:p>
        </p:txBody>
      </p:sp>
      <p:sp>
        <p:nvSpPr>
          <p:cNvPr id="14" name="Text 11"/>
          <p:cNvSpPr/>
          <p:nvPr/>
        </p:nvSpPr>
        <p:spPr>
          <a:xfrm>
            <a:off x="658368" y="2788920"/>
            <a:ext cx="219456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SUB socket</a:t>
            </a:r>
            <a:endParaRPr lang="en-US" sz="1200" dirty="0"/>
          </a:p>
        </p:txBody>
      </p:sp>
      <p:sp>
        <p:nvSpPr>
          <p:cNvPr id="15" name="Text 12"/>
          <p:cNvSpPr/>
          <p:nvPr/>
        </p:nvSpPr>
        <p:spPr>
          <a:xfrm>
            <a:off x="658368" y="3063240"/>
            <a:ext cx="219456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connect() + filter</a:t>
            </a:r>
            <a:endParaRPr lang="en-US" sz="900" dirty="0"/>
          </a:p>
        </p:txBody>
      </p:sp>
      <p:sp>
        <p:nvSpPr>
          <p:cNvPr id="16" name="panel">
            <a:extLst>
              <a:ext uri="{C183D7F6-B498-43B3-948B-1728B52AA6E4}">
                <adec:decorative xmlns:adec="http://schemas.microsoft.com/office/drawing/2017/decorative" val="1"/>
              </a:ext>
            </a:extLst>
          </p:cNvPr>
          <p:cNvSpPr/>
          <p:nvPr/>
        </p:nvSpPr>
        <p:spPr>
          <a:xfrm>
            <a:off x="5989320" y="1097280"/>
            <a:ext cx="2743200" cy="2651760"/>
          </a:xfrm>
          <a:prstGeom prst="rect">
            <a:avLst/>
          </a:prstGeom>
          <a:solidFill>
            <a:srgbClr val="141C19"/>
          </a:solidFill>
          <a:ln w="12700">
            <a:solidFill>
              <a:srgbClr val="2A3A34"/>
            </a:solidFill>
            <a:prstDash val="solid"/>
          </a:ln>
        </p:spPr>
        <p:txBody>
          <a:bodyPr/>
          <a:lstStyle/>
          <a:p>
            <a:endParaRPr lang="en-SE"/>
          </a:p>
        </p:txBody>
      </p:sp>
      <p:sp>
        <p:nvSpPr>
          <p:cNvPr id="17" name="Text 14"/>
          <p:cNvSpPr/>
          <p:nvPr/>
        </p:nvSpPr>
        <p:spPr>
          <a:xfrm>
            <a:off x="6126480" y="1234440"/>
            <a:ext cx="2468880" cy="274320"/>
          </a:xfrm>
          <a:prstGeom prst="rect">
            <a:avLst/>
          </a:prstGeom>
          <a:noFill/>
          <a:ln/>
        </p:spPr>
        <p:txBody>
          <a:bodyPr wrap="square" lIns="0" tIns="0" rIns="0" bIns="0" rtlCol="0" anchor="ctr"/>
          <a:lstStyle/>
          <a:p>
            <a:pPr marL="0" indent="0">
              <a:buNone/>
            </a:pPr>
            <a:r>
              <a:rPr lang="en-US" sz="1300" b="1" dirty="0">
                <a:solidFill>
                  <a:srgbClr val="EAF5F0"/>
                </a:solidFill>
                <a:latin typeface="Consolas" pitchFamily="34" charset="0"/>
                <a:ea typeface="Consolas" pitchFamily="34" charset="-122"/>
                <a:cs typeface="Consolas" pitchFamily="34" charset="-120"/>
              </a:rPr>
              <a:t>pm-engine</a:t>
            </a:r>
            <a:endParaRPr lang="en-US" sz="1300" dirty="0"/>
          </a:p>
        </p:txBody>
      </p:sp>
      <p:sp>
        <p:nvSpPr>
          <p:cNvPr id="18" name="Text 15"/>
          <p:cNvSpPr/>
          <p:nvPr/>
        </p:nvSpPr>
        <p:spPr>
          <a:xfrm>
            <a:off x="6126480" y="1490472"/>
            <a:ext cx="246888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one process</a:t>
            </a:r>
            <a:endParaRPr lang="en-US" sz="900" dirty="0"/>
          </a:p>
        </p:txBody>
      </p:sp>
      <p:sp>
        <p:nvSpPr>
          <p:cNvPr id="19" name="socket box">
            <a:extLst>
              <a:ext uri="{C183D7F6-B498-43B3-948B-1728B52AA6E4}">
                <adec:decorative xmlns:adec="http://schemas.microsoft.com/office/drawing/2017/decorative" val="1"/>
              </a:ext>
            </a:extLst>
          </p:cNvPr>
          <p:cNvSpPr/>
          <p:nvPr/>
        </p:nvSpPr>
        <p:spPr>
          <a:xfrm>
            <a:off x="6126480" y="1874520"/>
            <a:ext cx="2468880" cy="685800"/>
          </a:xfrm>
          <a:prstGeom prst="rect">
            <a:avLst/>
          </a:prstGeom>
          <a:solidFill>
            <a:srgbClr val="1B2621"/>
          </a:solidFill>
          <a:ln w="12700">
            <a:solidFill>
              <a:srgbClr val="39FF88"/>
            </a:solidFill>
            <a:prstDash val="solid"/>
          </a:ln>
        </p:spPr>
        <p:txBody>
          <a:bodyPr/>
          <a:lstStyle/>
          <a:p>
            <a:endParaRPr lang="en-SE"/>
          </a:p>
        </p:txBody>
      </p:sp>
      <p:sp>
        <p:nvSpPr>
          <p:cNvPr id="20" name="Text 17"/>
          <p:cNvSpPr/>
          <p:nvPr/>
        </p:nvSpPr>
        <p:spPr>
          <a:xfrm>
            <a:off x="6236208" y="1965960"/>
            <a:ext cx="219456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PULL :5555</a:t>
            </a:r>
            <a:endParaRPr lang="en-US" sz="1200" dirty="0"/>
          </a:p>
        </p:txBody>
      </p:sp>
      <p:sp>
        <p:nvSpPr>
          <p:cNvPr id="21" name="Text 18"/>
          <p:cNvSpPr/>
          <p:nvPr/>
        </p:nvSpPr>
        <p:spPr>
          <a:xfrm>
            <a:off x="6236208" y="2240280"/>
            <a:ext cx="219456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bind()</a:t>
            </a:r>
            <a:endParaRPr lang="en-US" sz="900" dirty="0"/>
          </a:p>
        </p:txBody>
      </p:sp>
      <p:sp>
        <p:nvSpPr>
          <p:cNvPr id="22" name="socket box">
            <a:extLst>
              <a:ext uri="{C183D7F6-B498-43B3-948B-1728B52AA6E4}">
                <adec:decorative xmlns:adec="http://schemas.microsoft.com/office/drawing/2017/decorative" val="1"/>
              </a:ext>
            </a:extLst>
          </p:cNvPr>
          <p:cNvSpPr/>
          <p:nvPr/>
        </p:nvSpPr>
        <p:spPr>
          <a:xfrm>
            <a:off x="6126480" y="2697480"/>
            <a:ext cx="2468880" cy="685800"/>
          </a:xfrm>
          <a:prstGeom prst="rect">
            <a:avLst/>
          </a:prstGeom>
          <a:solidFill>
            <a:srgbClr val="1B2621"/>
          </a:solidFill>
          <a:ln w="12700">
            <a:solidFill>
              <a:srgbClr val="39FF88"/>
            </a:solidFill>
            <a:prstDash val="solid"/>
          </a:ln>
        </p:spPr>
        <p:txBody>
          <a:bodyPr/>
          <a:lstStyle/>
          <a:p>
            <a:endParaRPr lang="en-SE"/>
          </a:p>
        </p:txBody>
      </p:sp>
      <p:sp>
        <p:nvSpPr>
          <p:cNvPr id="23" name="Text 20"/>
          <p:cNvSpPr/>
          <p:nvPr/>
        </p:nvSpPr>
        <p:spPr>
          <a:xfrm>
            <a:off x="6236208" y="2788920"/>
            <a:ext cx="219456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PUB :5556</a:t>
            </a:r>
            <a:endParaRPr lang="en-US" sz="1200" dirty="0"/>
          </a:p>
        </p:txBody>
      </p:sp>
      <p:sp>
        <p:nvSpPr>
          <p:cNvPr id="24" name="Text 21"/>
          <p:cNvSpPr/>
          <p:nvPr/>
        </p:nvSpPr>
        <p:spPr>
          <a:xfrm>
            <a:off x="6236208" y="3063240"/>
            <a:ext cx="219456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bind()</a:t>
            </a:r>
            <a:endParaRPr lang="en-US" sz="900" dirty="0"/>
          </a:p>
        </p:txBody>
      </p:sp>
      <p:sp>
        <p:nvSpPr>
          <p:cNvPr id="25" name="flow arrow">
            <a:extLst>
              <a:ext uri="{C183D7F6-B498-43B3-948B-1728B52AA6E4}">
                <adec:decorative xmlns:adec="http://schemas.microsoft.com/office/drawing/2017/decorative" val="1"/>
              </a:ext>
            </a:extLst>
          </p:cNvPr>
          <p:cNvSpPr/>
          <p:nvPr/>
        </p:nvSpPr>
        <p:spPr>
          <a:xfrm>
            <a:off x="3291840" y="2121408"/>
            <a:ext cx="2560320" cy="201168"/>
          </a:xfrm>
          <a:prstGeom prst="rightArrow">
            <a:avLst/>
          </a:prstGeom>
          <a:solidFill>
            <a:srgbClr val="1B7A4C"/>
          </a:solidFill>
          <a:ln w="12700">
            <a:solidFill>
              <a:srgbClr val="1B7A4C"/>
            </a:solidFill>
            <a:prstDash val="solid"/>
          </a:ln>
        </p:spPr>
        <p:txBody>
          <a:bodyPr/>
          <a:lstStyle/>
          <a:p>
            <a:endParaRPr lang="en-SE"/>
          </a:p>
        </p:txBody>
      </p:sp>
      <p:sp>
        <p:nvSpPr>
          <p:cNvPr id="26" name="Text 23"/>
          <p:cNvSpPr/>
          <p:nvPr/>
        </p:nvSpPr>
        <p:spPr>
          <a:xfrm>
            <a:off x="3291840" y="1847088"/>
            <a:ext cx="2560320" cy="228600"/>
          </a:xfrm>
          <a:prstGeom prst="rect">
            <a:avLst/>
          </a:prstGeom>
          <a:noFill/>
          <a:ln/>
        </p:spPr>
        <p:txBody>
          <a:bodyPr wrap="square" lIns="0" tIns="0" rIns="0" bIns="0" rtlCol="0" anchor="ctr"/>
          <a:lstStyle/>
          <a:p>
            <a:pPr marL="0" indent="0" algn="ctr">
              <a:buNone/>
            </a:pPr>
            <a:r>
              <a:rPr lang="en-US" sz="900" dirty="0">
                <a:solidFill>
                  <a:srgbClr val="39FF88"/>
                </a:solidFill>
                <a:latin typeface="Consolas" pitchFamily="34" charset="0"/>
                <a:ea typeface="Consolas" pitchFamily="34" charset="-122"/>
                <a:cs typeface="Consolas" pitchFamily="34" charset="-120"/>
              </a:rPr>
              <a:t>order.new / order.cancel</a:t>
            </a:r>
            <a:endParaRPr lang="en-US" sz="900" dirty="0"/>
          </a:p>
        </p:txBody>
      </p:sp>
      <p:sp>
        <p:nvSpPr>
          <p:cNvPr id="27" name="flow arrow">
            <a:extLst>
              <a:ext uri="{C183D7F6-B498-43B3-948B-1728B52AA6E4}">
                <adec:decorative xmlns:adec="http://schemas.microsoft.com/office/drawing/2017/decorative" val="1"/>
              </a:ext>
            </a:extLst>
          </p:cNvPr>
          <p:cNvSpPr/>
          <p:nvPr/>
        </p:nvSpPr>
        <p:spPr>
          <a:xfrm>
            <a:off x="3291840" y="2926080"/>
            <a:ext cx="2560320" cy="201168"/>
          </a:xfrm>
          <a:prstGeom prst="leftArrow">
            <a:avLst/>
          </a:prstGeom>
          <a:solidFill>
            <a:srgbClr val="1B7A4C"/>
          </a:solidFill>
          <a:ln w="12700">
            <a:solidFill>
              <a:srgbClr val="1B7A4C"/>
            </a:solidFill>
            <a:prstDash val="solid"/>
          </a:ln>
        </p:spPr>
        <p:txBody>
          <a:bodyPr/>
          <a:lstStyle/>
          <a:p>
            <a:endParaRPr lang="en-SE"/>
          </a:p>
        </p:txBody>
      </p:sp>
      <p:sp>
        <p:nvSpPr>
          <p:cNvPr id="28" name="Text 25"/>
          <p:cNvSpPr/>
          <p:nvPr/>
        </p:nvSpPr>
        <p:spPr>
          <a:xfrm>
            <a:off x="3291840" y="2670048"/>
            <a:ext cx="2560320" cy="228600"/>
          </a:xfrm>
          <a:prstGeom prst="rect">
            <a:avLst/>
          </a:prstGeom>
          <a:noFill/>
          <a:ln/>
        </p:spPr>
        <p:txBody>
          <a:bodyPr wrap="square" lIns="0" tIns="0" rIns="0" bIns="0" rtlCol="0" anchor="ctr"/>
          <a:lstStyle/>
          <a:p>
            <a:pPr marL="0" indent="0" algn="ctr">
              <a:buNone/>
            </a:pPr>
            <a:r>
              <a:rPr lang="en-US" sz="800" dirty="0">
                <a:solidFill>
                  <a:srgbClr val="39FF88"/>
                </a:solidFill>
                <a:latin typeface="Consolas" pitchFamily="34" charset="0"/>
                <a:ea typeface="Consolas" pitchFamily="34" charset="-122"/>
                <a:cs typeface="Consolas" pitchFamily="34" charset="-120"/>
              </a:rPr>
              <a:t>order.ack.TRADER01 / order.fill.TRADER01</a:t>
            </a:r>
            <a:endParaRPr lang="en-US" sz="800" dirty="0"/>
          </a:p>
        </p:txBody>
      </p:sp>
      <p:sp>
        <p:nvSpPr>
          <p:cNvPr id="29" name="Text 26"/>
          <p:cNvSpPr/>
          <p:nvPr/>
        </p:nvSpPr>
        <p:spPr>
          <a:xfrm>
            <a:off x="411480" y="3931920"/>
            <a:ext cx="8321040" cy="274320"/>
          </a:xfrm>
          <a:prstGeom prst="rect">
            <a:avLst/>
          </a:prstGeom>
          <a:noFill/>
          <a:ln/>
        </p:spPr>
        <p:txBody>
          <a:bodyPr wrap="square" lIns="0" tIns="0" rIns="0" bIns="0" rtlCol="0" anchor="ctr"/>
          <a:lstStyle/>
          <a:p>
            <a:pPr marL="0" indent="0">
              <a:buNone/>
            </a:pPr>
            <a:r>
              <a:rPr lang="en-US" sz="1200" dirty="0">
                <a:solidFill>
                  <a:srgbClr val="8AA79A"/>
                </a:solidFill>
                <a:latin typeface="Segoe UI" pitchFamily="34" charset="0"/>
                <a:ea typeface="Segoe UI" pitchFamily="34" charset="-122"/>
                <a:cs typeface="Segoe UI" pitchFamily="34" charset="-120"/>
              </a:rPr>
              <a:t>Traffic in is point-to-point. Traffic out is a broadcast that subscribers filter.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1</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One shape for every message</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143000"/>
            <a:ext cx="5120640" cy="2377440"/>
          </a:xfrm>
          <a:prstGeom prst="rect">
            <a:avLst/>
          </a:prstGeom>
          <a:solidFill>
            <a:srgbClr val="141C19"/>
          </a:solidFill>
          <a:ln w="12700">
            <a:solidFill>
              <a:srgbClr val="2A3A34"/>
            </a:solidFill>
            <a:prstDash val="solid"/>
          </a:ln>
        </p:spPr>
        <p:txBody>
          <a:bodyPr/>
          <a:lstStyle/>
          <a:p>
            <a:endParaRPr lang="en-SE"/>
          </a:p>
        </p:txBody>
      </p:sp>
      <p:sp>
        <p:nvSpPr>
          <p:cNvPr id="8" name="Text 5"/>
          <p:cNvSpPr/>
          <p:nvPr/>
        </p:nvSpPr>
        <p:spPr>
          <a:xfrm>
            <a:off x="594360" y="1325880"/>
            <a:ext cx="109728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frame 0</a:t>
            </a:r>
            <a:endParaRPr lang="en-US" sz="900" dirty="0"/>
          </a:p>
        </p:txBody>
      </p:sp>
      <p:sp>
        <p:nvSpPr>
          <p:cNvPr id="9" name="frame box">
            <a:extLst>
              <a:ext uri="{C183D7F6-B498-43B3-948B-1728B52AA6E4}">
                <adec:decorative xmlns:adec="http://schemas.microsoft.com/office/drawing/2017/decorative" val="1"/>
              </a:ext>
            </a:extLst>
          </p:cNvPr>
          <p:cNvSpPr/>
          <p:nvPr/>
        </p:nvSpPr>
        <p:spPr>
          <a:xfrm>
            <a:off x="594360" y="1572768"/>
            <a:ext cx="4754880" cy="502920"/>
          </a:xfrm>
          <a:prstGeom prst="rect">
            <a:avLst/>
          </a:prstGeom>
          <a:solidFill>
            <a:srgbClr val="1B2621"/>
          </a:solidFill>
          <a:ln w="12700">
            <a:solidFill>
              <a:srgbClr val="39FF88"/>
            </a:solidFill>
            <a:prstDash val="solid"/>
          </a:ln>
        </p:spPr>
        <p:txBody>
          <a:bodyPr/>
          <a:lstStyle/>
          <a:p>
            <a:endParaRPr lang="en-SE"/>
          </a:p>
        </p:txBody>
      </p:sp>
      <p:sp>
        <p:nvSpPr>
          <p:cNvPr id="10" name="Text 7"/>
          <p:cNvSpPr/>
          <p:nvPr/>
        </p:nvSpPr>
        <p:spPr>
          <a:xfrm>
            <a:off x="731520" y="1664208"/>
            <a:ext cx="4480560" cy="320040"/>
          </a:xfrm>
          <a:prstGeom prst="rect">
            <a:avLst/>
          </a:prstGeom>
          <a:noFill/>
          <a:ln/>
        </p:spPr>
        <p:txBody>
          <a:bodyPr wrap="square" lIns="0" tIns="0" rIns="0" bIns="0" rtlCol="0" anchor="ctr"/>
          <a:lstStyle/>
          <a:p>
            <a:pPr marL="0" indent="0">
              <a:buNone/>
            </a:pPr>
            <a:r>
              <a:rPr lang="en-US" sz="1400" dirty="0">
                <a:solidFill>
                  <a:srgbClr val="39FF88"/>
                </a:solidFill>
                <a:latin typeface="Consolas" pitchFamily="34" charset="0"/>
                <a:ea typeface="Consolas" pitchFamily="34" charset="-122"/>
                <a:cs typeface="Consolas" pitchFamily="34" charset="-120"/>
              </a:rPr>
              <a:t>"order.ack.TRADER01"</a:t>
            </a:r>
            <a:endParaRPr lang="en-US" sz="1400" dirty="0"/>
          </a:p>
        </p:txBody>
      </p:sp>
      <p:sp>
        <p:nvSpPr>
          <p:cNvPr id="11" name="Text 8"/>
          <p:cNvSpPr/>
          <p:nvPr/>
        </p:nvSpPr>
        <p:spPr>
          <a:xfrm>
            <a:off x="594360" y="2194560"/>
            <a:ext cx="109728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frame 1</a:t>
            </a:r>
            <a:endParaRPr lang="en-US" sz="900" dirty="0"/>
          </a:p>
        </p:txBody>
      </p:sp>
      <p:sp>
        <p:nvSpPr>
          <p:cNvPr id="12" name="frame box">
            <a:extLst>
              <a:ext uri="{C183D7F6-B498-43B3-948B-1728B52AA6E4}">
                <adec:decorative xmlns:adec="http://schemas.microsoft.com/office/drawing/2017/decorative" val="1"/>
              </a:ext>
            </a:extLst>
          </p:cNvPr>
          <p:cNvSpPr/>
          <p:nvPr/>
        </p:nvSpPr>
        <p:spPr>
          <a:xfrm>
            <a:off x="594360" y="2441448"/>
            <a:ext cx="4754880" cy="868680"/>
          </a:xfrm>
          <a:prstGeom prst="rect">
            <a:avLst/>
          </a:prstGeom>
          <a:solidFill>
            <a:srgbClr val="1B2621"/>
          </a:solidFill>
          <a:ln w="12700">
            <a:solidFill>
              <a:srgbClr val="5AC8FA"/>
            </a:solidFill>
            <a:prstDash val="solid"/>
          </a:ln>
        </p:spPr>
        <p:txBody>
          <a:bodyPr/>
          <a:lstStyle/>
          <a:p>
            <a:endParaRPr lang="en-SE"/>
          </a:p>
        </p:txBody>
      </p:sp>
      <p:sp>
        <p:nvSpPr>
          <p:cNvPr id="13" name="Text 10"/>
          <p:cNvSpPr/>
          <p:nvPr/>
        </p:nvSpPr>
        <p:spPr>
          <a:xfrm>
            <a:off x="731520" y="2542032"/>
            <a:ext cx="4480560" cy="685800"/>
          </a:xfrm>
          <a:prstGeom prst="rect">
            <a:avLst/>
          </a:prstGeom>
          <a:noFill/>
          <a:ln/>
        </p:spPr>
        <p:txBody>
          <a:bodyPr wrap="square" lIns="0" tIns="0" rIns="0" bIns="0" rtlCol="0" anchor="ctr"/>
          <a:lstStyle/>
          <a:p>
            <a:pPr marL="0" indent="0">
              <a:buNone/>
            </a:pPr>
            <a:r>
              <a:rPr lang="en-US" sz="1100" dirty="0">
                <a:solidFill>
                  <a:srgbClr val="5AC8FA"/>
                </a:solidFill>
                <a:latin typeface="Consolas" pitchFamily="34" charset="0"/>
                <a:ea typeface="Consolas" pitchFamily="34" charset="-122"/>
                <a:cs typeface="Consolas" pitchFamily="34" charset="-120"/>
              </a:rPr>
              <a:t>{ "order_id": "d8539c29", "accepted": true,</a:t>
            </a:r>
            <a:endParaRPr lang="en-US" sz="1100" dirty="0"/>
          </a:p>
          <a:p>
            <a:pPr marL="0" indent="0">
              <a:buNone/>
            </a:pPr>
            <a:r>
              <a:rPr lang="en-US" sz="1100" dirty="0">
                <a:solidFill>
                  <a:srgbClr val="5AC8FA"/>
                </a:solidFill>
                <a:latin typeface="Consolas" pitchFamily="34" charset="0"/>
                <a:ea typeface="Consolas" pitchFamily="34" charset="-122"/>
                <a:cs typeface="Consolas" pitchFamily="34" charset="-120"/>
              </a:rPr>
              <a:t>  "symbol": "AAPL", "qty": 100, ... }</a:t>
            </a:r>
            <a:endParaRPr lang="en-US" sz="1100" dirty="0"/>
          </a:p>
        </p:txBody>
      </p:sp>
      <p:sp>
        <p:nvSpPr>
          <p:cNvPr id="14" name="panel">
            <a:extLst>
              <a:ext uri="{C183D7F6-B498-43B3-948B-1728B52AA6E4}">
                <adec:decorative xmlns:adec="http://schemas.microsoft.com/office/drawing/2017/decorative" val="1"/>
              </a:ext>
            </a:extLst>
          </p:cNvPr>
          <p:cNvSpPr/>
          <p:nvPr/>
        </p:nvSpPr>
        <p:spPr>
          <a:xfrm>
            <a:off x="5715000" y="1143000"/>
            <a:ext cx="3017520" cy="2377440"/>
          </a:xfrm>
          <a:prstGeom prst="rect">
            <a:avLst/>
          </a:prstGeom>
          <a:solidFill>
            <a:srgbClr val="141C19"/>
          </a:solidFill>
          <a:ln w="12700">
            <a:solidFill>
              <a:srgbClr val="2A3A34"/>
            </a:solidFill>
            <a:prstDash val="solid"/>
          </a:ln>
        </p:spPr>
        <p:txBody>
          <a:bodyPr/>
          <a:lstStyle/>
          <a:p>
            <a:endParaRPr lang="en-SE"/>
          </a:p>
        </p:txBody>
      </p:sp>
      <p:sp>
        <p:nvSpPr>
          <p:cNvPr id="15" name="accent bar">
            <a:extLst>
              <a:ext uri="{C183D7F6-B498-43B3-948B-1728B52AA6E4}">
                <adec:decorative xmlns:adec="http://schemas.microsoft.com/office/drawing/2017/decorative" val="1"/>
              </a:ext>
            </a:extLst>
          </p:cNvPr>
          <p:cNvSpPr/>
          <p:nvPr/>
        </p:nvSpPr>
        <p:spPr>
          <a:xfrm>
            <a:off x="5715000" y="1143000"/>
            <a:ext cx="54864" cy="2377440"/>
          </a:xfrm>
          <a:prstGeom prst="rect">
            <a:avLst/>
          </a:prstGeom>
          <a:solidFill>
            <a:srgbClr val="5AC8FA"/>
          </a:solidFill>
          <a:ln w="12700">
            <a:solidFill>
              <a:srgbClr val="5AC8FA"/>
            </a:solidFill>
            <a:prstDash val="solid"/>
          </a:ln>
        </p:spPr>
        <p:txBody>
          <a:bodyPr/>
          <a:lstStyle/>
          <a:p>
            <a:endParaRPr lang="en-SE"/>
          </a:p>
        </p:txBody>
      </p:sp>
      <p:sp>
        <p:nvSpPr>
          <p:cNvPr id="16" name="Text 13"/>
          <p:cNvSpPr/>
          <p:nvPr/>
        </p:nvSpPr>
        <p:spPr>
          <a:xfrm>
            <a:off x="5943600" y="1325880"/>
            <a:ext cx="2651760" cy="274320"/>
          </a:xfrm>
          <a:prstGeom prst="rect">
            <a:avLst/>
          </a:prstGeom>
          <a:noFill/>
          <a:ln/>
        </p:spPr>
        <p:txBody>
          <a:bodyPr wrap="square" lIns="0" tIns="0" rIns="0" bIns="0" rtlCol="0" anchor="ctr"/>
          <a:lstStyle/>
          <a:p>
            <a:pPr marL="0" indent="0">
              <a:buNone/>
            </a:pPr>
            <a:r>
              <a:rPr lang="en-US" sz="1400" b="1" dirty="0">
                <a:solidFill>
                  <a:srgbClr val="EAF5F0"/>
                </a:solidFill>
                <a:latin typeface="Segoe UI" pitchFamily="34" charset="0"/>
                <a:ea typeface="Segoe UI" pitchFamily="34" charset="-122"/>
                <a:cs typeface="Segoe UI" pitchFamily="34" charset="-120"/>
              </a:rPr>
              <a:t>Topic = routing</a:t>
            </a:r>
            <a:endParaRPr lang="en-US" sz="1400" dirty="0"/>
          </a:p>
        </p:txBody>
      </p:sp>
      <p:sp>
        <p:nvSpPr>
          <p:cNvPr id="17" name="Text 14"/>
          <p:cNvSpPr/>
          <p:nvPr/>
        </p:nvSpPr>
        <p:spPr>
          <a:xfrm>
            <a:off x="5943600" y="1645920"/>
            <a:ext cx="2651760" cy="91440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The topic string carries the destination gateway id. There is no per-connection routing table anywhere in the engine.</a:t>
            </a:r>
            <a:endParaRPr lang="en-US" sz="1100" dirty="0"/>
          </a:p>
        </p:txBody>
      </p:sp>
      <p:sp>
        <p:nvSpPr>
          <p:cNvPr id="18" name="Text 15"/>
          <p:cNvSpPr/>
          <p:nvPr/>
        </p:nvSpPr>
        <p:spPr>
          <a:xfrm>
            <a:off x="5943600" y="2606040"/>
            <a:ext cx="2651760" cy="274320"/>
          </a:xfrm>
          <a:prstGeom prst="rect">
            <a:avLst/>
          </a:prstGeom>
          <a:noFill/>
          <a:ln/>
        </p:spPr>
        <p:txBody>
          <a:bodyPr wrap="square" lIns="0" tIns="0" rIns="0" bIns="0" rtlCol="0" anchor="ctr"/>
          <a:lstStyle/>
          <a:p>
            <a:pPr marL="0" indent="0">
              <a:buNone/>
            </a:pPr>
            <a:r>
              <a:rPr lang="en-US" sz="1400" b="1" dirty="0">
                <a:solidFill>
                  <a:srgbClr val="EAF5F0"/>
                </a:solidFill>
                <a:latin typeface="Segoe UI" pitchFamily="34" charset="0"/>
                <a:ea typeface="Segoe UI" pitchFamily="34" charset="-122"/>
                <a:cs typeface="Segoe UI" pitchFamily="34" charset="-120"/>
              </a:rPr>
              <a:t>Payload = JSON</a:t>
            </a:r>
            <a:endParaRPr lang="en-US" sz="1400" dirty="0"/>
          </a:p>
        </p:txBody>
      </p:sp>
      <p:sp>
        <p:nvSpPr>
          <p:cNvPr id="19" name="Text 16"/>
          <p:cNvSpPr/>
          <p:nvPr/>
        </p:nvSpPr>
        <p:spPr>
          <a:xfrm>
            <a:off x="5943600" y="2926080"/>
            <a:ext cx="2651760" cy="54864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Prices travel as integer ticks — the engine never does float arithmetic on a price.</a:t>
            </a:r>
            <a:endParaRPr lang="en-US" sz="1100" dirty="0"/>
          </a:p>
        </p:txBody>
      </p:sp>
      <p:sp>
        <p:nvSpPr>
          <p:cNvPr id="20" name="Text 17"/>
          <p:cNvSpPr/>
          <p:nvPr/>
        </p:nvSpPr>
        <p:spPr>
          <a:xfrm>
            <a:off x="411480" y="3794760"/>
            <a:ext cx="832104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encode(topic, payload) -&gt; [bytes, bytes]      decode(frames) -&gt; (topic, payload)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2</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The scenario we will follow</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097280"/>
            <a:ext cx="4114800" cy="3063240"/>
          </a:xfrm>
          <a:prstGeom prst="rect">
            <a:avLst/>
          </a:prstGeom>
          <a:solidFill>
            <a:srgbClr val="141C19"/>
          </a:solidFill>
          <a:ln w="12700">
            <a:solidFill>
              <a:srgbClr val="2A3A34"/>
            </a:solidFill>
            <a:prstDash val="solid"/>
          </a:ln>
        </p:spPr>
        <p:txBody>
          <a:bodyPr/>
          <a:lstStyle/>
          <a:p>
            <a:endParaRPr lang="en-SE"/>
          </a:p>
        </p:txBody>
      </p:sp>
      <p:sp>
        <p:nvSpPr>
          <p:cNvPr id="8" name="Text 5"/>
          <p:cNvSpPr/>
          <p:nvPr/>
        </p:nvSpPr>
        <p:spPr>
          <a:xfrm>
            <a:off x="621792" y="1261872"/>
            <a:ext cx="3657600" cy="256032"/>
          </a:xfrm>
          <a:prstGeom prst="rect">
            <a:avLst/>
          </a:prstGeom>
          <a:noFill/>
          <a:ln/>
        </p:spPr>
        <p:txBody>
          <a:bodyPr wrap="square" lIns="0" tIns="0" rIns="0" bIns="0" rtlCol="0" anchor="ctr"/>
          <a:lstStyle/>
          <a:p>
            <a:pPr marL="0" indent="0">
              <a:buNone/>
            </a:pPr>
            <a:r>
              <a:rPr lang="en-US" sz="1000" kern="0" spc="200" dirty="0">
                <a:solidFill>
                  <a:srgbClr val="39FF88"/>
                </a:solidFill>
                <a:latin typeface="Consolas" pitchFamily="34" charset="0"/>
                <a:ea typeface="Consolas" pitchFamily="34" charset="-122"/>
                <a:cs typeface="Consolas" pitchFamily="34" charset="-120"/>
              </a:rPr>
              <a:t>ORDER TICKET</a:t>
            </a:r>
            <a:endParaRPr lang="en-US" sz="1000" dirty="0"/>
          </a:p>
        </p:txBody>
      </p:sp>
      <p:sp>
        <p:nvSpPr>
          <p:cNvPr id="9" name="field row">
            <a:extLst>
              <a:ext uri="{C183D7F6-B498-43B3-948B-1728B52AA6E4}">
                <adec:decorative xmlns:adec="http://schemas.microsoft.com/office/drawing/2017/decorative" val="1"/>
              </a:ext>
            </a:extLst>
          </p:cNvPr>
          <p:cNvSpPr/>
          <p:nvPr/>
        </p:nvSpPr>
        <p:spPr>
          <a:xfrm>
            <a:off x="621792" y="1600200"/>
            <a:ext cx="3694176" cy="329184"/>
          </a:xfrm>
          <a:prstGeom prst="rect">
            <a:avLst/>
          </a:prstGeom>
          <a:solidFill>
            <a:srgbClr val="1B2621"/>
          </a:solidFill>
          <a:ln w="12700">
            <a:solidFill>
              <a:srgbClr val="2A3A34"/>
            </a:solidFill>
            <a:prstDash val="solid"/>
          </a:ln>
        </p:spPr>
        <p:txBody>
          <a:bodyPr/>
          <a:lstStyle/>
          <a:p>
            <a:endParaRPr lang="en-SE"/>
          </a:p>
        </p:txBody>
      </p:sp>
      <p:sp>
        <p:nvSpPr>
          <p:cNvPr id="10" name="Text 7"/>
          <p:cNvSpPr/>
          <p:nvPr/>
        </p:nvSpPr>
        <p:spPr>
          <a:xfrm>
            <a:off x="731520" y="1645920"/>
            <a:ext cx="1280160" cy="237744"/>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SYM</a:t>
            </a:r>
            <a:endParaRPr lang="en-US" sz="1100" dirty="0"/>
          </a:p>
        </p:txBody>
      </p:sp>
      <p:sp>
        <p:nvSpPr>
          <p:cNvPr id="11" name="Text 8"/>
          <p:cNvSpPr/>
          <p:nvPr/>
        </p:nvSpPr>
        <p:spPr>
          <a:xfrm>
            <a:off x="2011680" y="1645920"/>
            <a:ext cx="2194560" cy="237744"/>
          </a:xfrm>
          <a:prstGeom prst="rect">
            <a:avLst/>
          </a:prstGeom>
          <a:noFill/>
          <a:ln/>
        </p:spPr>
        <p:txBody>
          <a:bodyPr wrap="square" lIns="0" tIns="0" rIns="0" bIns="0" rtlCol="0" anchor="ctr"/>
          <a:lstStyle/>
          <a:p>
            <a:pPr marL="0" indent="0" algn="r">
              <a:buNone/>
            </a:pPr>
            <a:r>
              <a:rPr lang="en-US" sz="1100" b="1" dirty="0">
                <a:solidFill>
                  <a:srgbClr val="39FF88"/>
                </a:solidFill>
                <a:latin typeface="Consolas" pitchFamily="34" charset="0"/>
                <a:ea typeface="Consolas" pitchFamily="34" charset="-122"/>
                <a:cs typeface="Consolas" pitchFamily="34" charset="-120"/>
              </a:rPr>
              <a:t>AAPL</a:t>
            </a:r>
            <a:endParaRPr lang="en-US" sz="1100" dirty="0"/>
          </a:p>
        </p:txBody>
      </p:sp>
      <p:sp>
        <p:nvSpPr>
          <p:cNvPr id="12" name="field row">
            <a:extLst>
              <a:ext uri="{C183D7F6-B498-43B3-948B-1728B52AA6E4}">
                <adec:decorative xmlns:adec="http://schemas.microsoft.com/office/drawing/2017/decorative" val="1"/>
              </a:ext>
            </a:extLst>
          </p:cNvPr>
          <p:cNvSpPr/>
          <p:nvPr/>
        </p:nvSpPr>
        <p:spPr>
          <a:xfrm>
            <a:off x="621792" y="2002536"/>
            <a:ext cx="3694176" cy="329184"/>
          </a:xfrm>
          <a:prstGeom prst="rect">
            <a:avLst/>
          </a:prstGeom>
          <a:solidFill>
            <a:srgbClr val="1B2621"/>
          </a:solidFill>
          <a:ln w="12700">
            <a:solidFill>
              <a:srgbClr val="2A3A34"/>
            </a:solidFill>
            <a:prstDash val="solid"/>
          </a:ln>
        </p:spPr>
        <p:txBody>
          <a:bodyPr/>
          <a:lstStyle/>
          <a:p>
            <a:endParaRPr lang="en-SE"/>
          </a:p>
        </p:txBody>
      </p:sp>
      <p:sp>
        <p:nvSpPr>
          <p:cNvPr id="13" name="Text 10"/>
          <p:cNvSpPr/>
          <p:nvPr/>
        </p:nvSpPr>
        <p:spPr>
          <a:xfrm>
            <a:off x="731520" y="2048256"/>
            <a:ext cx="1280160" cy="237744"/>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SIDE</a:t>
            </a:r>
            <a:endParaRPr lang="en-US" sz="1100" dirty="0"/>
          </a:p>
        </p:txBody>
      </p:sp>
      <p:sp>
        <p:nvSpPr>
          <p:cNvPr id="14" name="Text 11"/>
          <p:cNvSpPr/>
          <p:nvPr/>
        </p:nvSpPr>
        <p:spPr>
          <a:xfrm>
            <a:off x="2011680" y="2048256"/>
            <a:ext cx="2194560" cy="237744"/>
          </a:xfrm>
          <a:prstGeom prst="rect">
            <a:avLst/>
          </a:prstGeom>
          <a:noFill/>
          <a:ln/>
        </p:spPr>
        <p:txBody>
          <a:bodyPr wrap="square" lIns="0" tIns="0" rIns="0" bIns="0" rtlCol="0" anchor="ctr"/>
          <a:lstStyle/>
          <a:p>
            <a:pPr marL="0" indent="0" algn="r">
              <a:buNone/>
            </a:pPr>
            <a:r>
              <a:rPr lang="en-US" sz="1100" b="1" dirty="0">
                <a:solidFill>
                  <a:srgbClr val="39FF88"/>
                </a:solidFill>
                <a:latin typeface="Consolas" pitchFamily="34" charset="0"/>
                <a:ea typeface="Consolas" pitchFamily="34" charset="-122"/>
                <a:cs typeface="Consolas" pitchFamily="34" charset="-120"/>
              </a:rPr>
              <a:t>BUY</a:t>
            </a:r>
            <a:endParaRPr lang="en-US" sz="1100" dirty="0"/>
          </a:p>
        </p:txBody>
      </p:sp>
      <p:sp>
        <p:nvSpPr>
          <p:cNvPr id="15" name="field row">
            <a:extLst>
              <a:ext uri="{C183D7F6-B498-43B3-948B-1728B52AA6E4}">
                <adec:decorative xmlns:adec="http://schemas.microsoft.com/office/drawing/2017/decorative" val="1"/>
              </a:ext>
            </a:extLst>
          </p:cNvPr>
          <p:cNvSpPr/>
          <p:nvPr/>
        </p:nvSpPr>
        <p:spPr>
          <a:xfrm>
            <a:off x="621792" y="2404872"/>
            <a:ext cx="3694176" cy="329184"/>
          </a:xfrm>
          <a:prstGeom prst="rect">
            <a:avLst/>
          </a:prstGeom>
          <a:solidFill>
            <a:srgbClr val="1B2621"/>
          </a:solidFill>
          <a:ln w="12700">
            <a:solidFill>
              <a:srgbClr val="2A3A34"/>
            </a:solidFill>
            <a:prstDash val="solid"/>
          </a:ln>
        </p:spPr>
        <p:txBody>
          <a:bodyPr/>
          <a:lstStyle/>
          <a:p>
            <a:endParaRPr lang="en-SE"/>
          </a:p>
        </p:txBody>
      </p:sp>
      <p:sp>
        <p:nvSpPr>
          <p:cNvPr id="16" name="Text 13"/>
          <p:cNvSpPr/>
          <p:nvPr/>
        </p:nvSpPr>
        <p:spPr>
          <a:xfrm>
            <a:off x="731520" y="2450592"/>
            <a:ext cx="1280160" cy="237744"/>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QTY</a:t>
            </a:r>
            <a:endParaRPr lang="en-US" sz="1100" dirty="0"/>
          </a:p>
        </p:txBody>
      </p:sp>
      <p:sp>
        <p:nvSpPr>
          <p:cNvPr id="17" name="Text 14"/>
          <p:cNvSpPr/>
          <p:nvPr/>
        </p:nvSpPr>
        <p:spPr>
          <a:xfrm>
            <a:off x="2011680" y="2450592"/>
            <a:ext cx="2194560" cy="237744"/>
          </a:xfrm>
          <a:prstGeom prst="rect">
            <a:avLst/>
          </a:prstGeom>
          <a:noFill/>
          <a:ln/>
        </p:spPr>
        <p:txBody>
          <a:bodyPr wrap="square" lIns="0" tIns="0" rIns="0" bIns="0" rtlCol="0" anchor="ctr"/>
          <a:lstStyle/>
          <a:p>
            <a:pPr marL="0" indent="0" algn="r">
              <a:buNone/>
            </a:pPr>
            <a:r>
              <a:rPr lang="en-US" sz="1100" b="1" dirty="0">
                <a:solidFill>
                  <a:srgbClr val="39FF88"/>
                </a:solidFill>
                <a:latin typeface="Consolas" pitchFamily="34" charset="0"/>
                <a:ea typeface="Consolas" pitchFamily="34" charset="-122"/>
                <a:cs typeface="Consolas" pitchFamily="34" charset="-120"/>
              </a:rPr>
              <a:t>100</a:t>
            </a:r>
            <a:endParaRPr lang="en-US" sz="1100" dirty="0"/>
          </a:p>
        </p:txBody>
      </p:sp>
      <p:sp>
        <p:nvSpPr>
          <p:cNvPr id="18" name="field row">
            <a:extLst>
              <a:ext uri="{C183D7F6-B498-43B3-948B-1728B52AA6E4}">
                <adec:decorative xmlns:adec="http://schemas.microsoft.com/office/drawing/2017/decorative" val="1"/>
              </a:ext>
            </a:extLst>
          </p:cNvPr>
          <p:cNvSpPr/>
          <p:nvPr/>
        </p:nvSpPr>
        <p:spPr>
          <a:xfrm>
            <a:off x="621792" y="2807208"/>
            <a:ext cx="3694176" cy="329184"/>
          </a:xfrm>
          <a:prstGeom prst="rect">
            <a:avLst/>
          </a:prstGeom>
          <a:solidFill>
            <a:srgbClr val="1B2621"/>
          </a:solidFill>
          <a:ln w="12700">
            <a:solidFill>
              <a:srgbClr val="2A3A34"/>
            </a:solidFill>
            <a:prstDash val="solid"/>
          </a:ln>
        </p:spPr>
        <p:txBody>
          <a:bodyPr/>
          <a:lstStyle/>
          <a:p>
            <a:endParaRPr lang="en-SE"/>
          </a:p>
        </p:txBody>
      </p:sp>
      <p:sp>
        <p:nvSpPr>
          <p:cNvPr id="19" name="Text 16"/>
          <p:cNvSpPr/>
          <p:nvPr/>
        </p:nvSpPr>
        <p:spPr>
          <a:xfrm>
            <a:off x="731520" y="2852928"/>
            <a:ext cx="1280160" cy="237744"/>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PRICE</a:t>
            </a:r>
            <a:endParaRPr lang="en-US" sz="1100" dirty="0"/>
          </a:p>
        </p:txBody>
      </p:sp>
      <p:sp>
        <p:nvSpPr>
          <p:cNvPr id="20" name="Text 17"/>
          <p:cNvSpPr/>
          <p:nvPr/>
        </p:nvSpPr>
        <p:spPr>
          <a:xfrm>
            <a:off x="2011680" y="2852928"/>
            <a:ext cx="2194560" cy="237744"/>
          </a:xfrm>
          <a:prstGeom prst="rect">
            <a:avLst/>
          </a:prstGeom>
          <a:noFill/>
          <a:ln/>
        </p:spPr>
        <p:txBody>
          <a:bodyPr wrap="square" lIns="0" tIns="0" rIns="0" bIns="0" rtlCol="0" anchor="ctr"/>
          <a:lstStyle/>
          <a:p>
            <a:pPr marL="0" indent="0" algn="r">
              <a:buNone/>
            </a:pPr>
            <a:r>
              <a:rPr lang="en-US" sz="1100" b="1" dirty="0">
                <a:solidFill>
                  <a:srgbClr val="39FF88"/>
                </a:solidFill>
                <a:latin typeface="Consolas" pitchFamily="34" charset="0"/>
                <a:ea typeface="Consolas" pitchFamily="34" charset="-122"/>
                <a:cs typeface="Consolas" pitchFamily="34" charset="-120"/>
              </a:rPr>
              <a:t>150.00</a:t>
            </a:r>
            <a:endParaRPr lang="en-US" sz="1100" dirty="0"/>
          </a:p>
        </p:txBody>
      </p:sp>
      <p:sp>
        <p:nvSpPr>
          <p:cNvPr id="21" name="field row">
            <a:extLst>
              <a:ext uri="{C183D7F6-B498-43B3-948B-1728B52AA6E4}">
                <adec:decorative xmlns:adec="http://schemas.microsoft.com/office/drawing/2017/decorative" val="1"/>
              </a:ext>
            </a:extLst>
          </p:cNvPr>
          <p:cNvSpPr/>
          <p:nvPr/>
        </p:nvSpPr>
        <p:spPr>
          <a:xfrm>
            <a:off x="621792" y="3209544"/>
            <a:ext cx="3694176" cy="329184"/>
          </a:xfrm>
          <a:prstGeom prst="rect">
            <a:avLst/>
          </a:prstGeom>
          <a:solidFill>
            <a:srgbClr val="1B2621"/>
          </a:solidFill>
          <a:ln w="12700">
            <a:solidFill>
              <a:srgbClr val="2A3A34"/>
            </a:solidFill>
            <a:prstDash val="solid"/>
          </a:ln>
        </p:spPr>
        <p:txBody>
          <a:bodyPr/>
          <a:lstStyle/>
          <a:p>
            <a:endParaRPr lang="en-SE"/>
          </a:p>
        </p:txBody>
      </p:sp>
      <p:sp>
        <p:nvSpPr>
          <p:cNvPr id="22" name="Text 19"/>
          <p:cNvSpPr/>
          <p:nvPr/>
        </p:nvSpPr>
        <p:spPr>
          <a:xfrm>
            <a:off x="731520" y="3255264"/>
            <a:ext cx="1280160" cy="237744"/>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TIF</a:t>
            </a:r>
            <a:endParaRPr lang="en-US" sz="1100" dirty="0"/>
          </a:p>
        </p:txBody>
      </p:sp>
      <p:sp>
        <p:nvSpPr>
          <p:cNvPr id="23" name="Text 20"/>
          <p:cNvSpPr/>
          <p:nvPr/>
        </p:nvSpPr>
        <p:spPr>
          <a:xfrm>
            <a:off x="2011680" y="3255264"/>
            <a:ext cx="2194560" cy="237744"/>
          </a:xfrm>
          <a:prstGeom prst="rect">
            <a:avLst/>
          </a:prstGeom>
          <a:noFill/>
          <a:ln/>
        </p:spPr>
        <p:txBody>
          <a:bodyPr wrap="square" lIns="0" tIns="0" rIns="0" bIns="0" rtlCol="0" anchor="ctr"/>
          <a:lstStyle/>
          <a:p>
            <a:pPr marL="0" indent="0" algn="r">
              <a:buNone/>
            </a:pPr>
            <a:r>
              <a:rPr lang="en-US" sz="1100" b="1" dirty="0">
                <a:solidFill>
                  <a:srgbClr val="39FF88"/>
                </a:solidFill>
                <a:latin typeface="Consolas" pitchFamily="34" charset="0"/>
                <a:ea typeface="Consolas" pitchFamily="34" charset="-122"/>
                <a:cs typeface="Consolas" pitchFamily="34" charset="-120"/>
              </a:rPr>
              <a:t>DAY</a:t>
            </a:r>
            <a:endParaRPr lang="en-US" sz="1100" dirty="0"/>
          </a:p>
        </p:txBody>
      </p:sp>
      <p:sp>
        <p:nvSpPr>
          <p:cNvPr id="24" name="field row">
            <a:extLst>
              <a:ext uri="{C183D7F6-B498-43B3-948B-1728B52AA6E4}">
                <adec:decorative xmlns:adec="http://schemas.microsoft.com/office/drawing/2017/decorative" val="1"/>
              </a:ext>
            </a:extLst>
          </p:cNvPr>
          <p:cNvSpPr/>
          <p:nvPr/>
        </p:nvSpPr>
        <p:spPr>
          <a:xfrm>
            <a:off x="621792" y="3611880"/>
            <a:ext cx="3694176" cy="329184"/>
          </a:xfrm>
          <a:prstGeom prst="rect">
            <a:avLst/>
          </a:prstGeom>
          <a:solidFill>
            <a:srgbClr val="1B2621"/>
          </a:solidFill>
          <a:ln w="12700">
            <a:solidFill>
              <a:srgbClr val="2A3A34"/>
            </a:solidFill>
            <a:prstDash val="solid"/>
          </a:ln>
        </p:spPr>
        <p:txBody>
          <a:bodyPr/>
          <a:lstStyle/>
          <a:p>
            <a:endParaRPr lang="en-SE"/>
          </a:p>
        </p:txBody>
      </p:sp>
      <p:sp>
        <p:nvSpPr>
          <p:cNvPr id="25" name="Text 22"/>
          <p:cNvSpPr/>
          <p:nvPr/>
        </p:nvSpPr>
        <p:spPr>
          <a:xfrm>
            <a:off x="731520" y="3657600"/>
            <a:ext cx="1280160" cy="237744"/>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TYPE</a:t>
            </a:r>
            <a:endParaRPr lang="en-US" sz="1100" dirty="0"/>
          </a:p>
        </p:txBody>
      </p:sp>
      <p:sp>
        <p:nvSpPr>
          <p:cNvPr id="26" name="Text 23"/>
          <p:cNvSpPr/>
          <p:nvPr/>
        </p:nvSpPr>
        <p:spPr>
          <a:xfrm>
            <a:off x="2011680" y="3657600"/>
            <a:ext cx="2194560" cy="237744"/>
          </a:xfrm>
          <a:prstGeom prst="rect">
            <a:avLst/>
          </a:prstGeom>
          <a:noFill/>
          <a:ln/>
        </p:spPr>
        <p:txBody>
          <a:bodyPr wrap="square" lIns="0" tIns="0" rIns="0" bIns="0" rtlCol="0" anchor="ctr"/>
          <a:lstStyle/>
          <a:p>
            <a:pPr marL="0" indent="0" algn="r">
              <a:buNone/>
            </a:pPr>
            <a:r>
              <a:rPr lang="en-US" sz="1100" b="1" dirty="0">
                <a:solidFill>
                  <a:srgbClr val="39FF88"/>
                </a:solidFill>
                <a:latin typeface="Consolas" pitchFamily="34" charset="0"/>
                <a:ea typeface="Consolas" pitchFamily="34" charset="-122"/>
                <a:cs typeface="Consolas" pitchFamily="34" charset="-120"/>
              </a:rPr>
              <a:t>LIMIT</a:t>
            </a:r>
            <a:endParaRPr lang="en-US" sz="1100" dirty="0"/>
          </a:p>
        </p:txBody>
      </p:sp>
      <p:sp>
        <p:nvSpPr>
          <p:cNvPr id="27" name="panel">
            <a:extLst>
              <a:ext uri="{C183D7F6-B498-43B3-948B-1728B52AA6E4}">
                <adec:decorative xmlns:adec="http://schemas.microsoft.com/office/drawing/2017/decorative" val="1"/>
              </a:ext>
            </a:extLst>
          </p:cNvPr>
          <p:cNvSpPr/>
          <p:nvPr/>
        </p:nvSpPr>
        <p:spPr>
          <a:xfrm>
            <a:off x="4800600" y="1097280"/>
            <a:ext cx="3931920" cy="3063240"/>
          </a:xfrm>
          <a:prstGeom prst="rect">
            <a:avLst/>
          </a:prstGeom>
          <a:solidFill>
            <a:srgbClr val="141C19"/>
          </a:solidFill>
          <a:ln w="12700">
            <a:solidFill>
              <a:srgbClr val="2A3A34"/>
            </a:solidFill>
            <a:prstDash val="solid"/>
          </a:ln>
        </p:spPr>
        <p:txBody>
          <a:bodyPr/>
          <a:lstStyle/>
          <a:p>
            <a:endParaRPr lang="en-SE"/>
          </a:p>
        </p:txBody>
      </p:sp>
      <p:sp>
        <p:nvSpPr>
          <p:cNvPr id="28" name="Text 25"/>
          <p:cNvSpPr/>
          <p:nvPr/>
        </p:nvSpPr>
        <p:spPr>
          <a:xfrm>
            <a:off x="4983480" y="1261872"/>
            <a:ext cx="3566160" cy="256032"/>
          </a:xfrm>
          <a:prstGeom prst="rect">
            <a:avLst/>
          </a:prstGeom>
          <a:noFill/>
          <a:ln/>
        </p:spPr>
        <p:txBody>
          <a:bodyPr wrap="square" lIns="0" tIns="0" rIns="0" bIns="0" rtlCol="0" anchor="ctr"/>
          <a:lstStyle/>
          <a:p>
            <a:pPr marL="0" indent="0">
              <a:buNone/>
            </a:pPr>
            <a:r>
              <a:rPr lang="en-US" sz="1000" kern="0" spc="100" dirty="0">
                <a:solidFill>
                  <a:srgbClr val="39FF88"/>
                </a:solidFill>
                <a:latin typeface="Consolas" pitchFamily="34" charset="0"/>
                <a:ea typeface="Consolas" pitchFamily="34" charset="-122"/>
                <a:cs typeface="Consolas" pitchFamily="34" charset="-120"/>
              </a:rPr>
              <a:t>AAPL BOOK — SESSION: CONTINUOUS</a:t>
            </a:r>
            <a:endParaRPr lang="en-US" sz="1000" dirty="0"/>
          </a:p>
        </p:txBody>
      </p:sp>
      <p:sp>
        <p:nvSpPr>
          <p:cNvPr id="29" name="Text 26"/>
          <p:cNvSpPr/>
          <p:nvPr/>
        </p:nvSpPr>
        <p:spPr>
          <a:xfrm>
            <a:off x="4983480" y="1600200"/>
            <a:ext cx="1645920" cy="22860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BIDS</a:t>
            </a:r>
            <a:endParaRPr lang="en-US" sz="1000" dirty="0"/>
          </a:p>
        </p:txBody>
      </p:sp>
      <p:sp>
        <p:nvSpPr>
          <p:cNvPr id="30" name="Text 27"/>
          <p:cNvSpPr/>
          <p:nvPr/>
        </p:nvSpPr>
        <p:spPr>
          <a:xfrm>
            <a:off x="6858000" y="1600200"/>
            <a:ext cx="1645920" cy="228600"/>
          </a:xfrm>
          <a:prstGeom prst="rect">
            <a:avLst/>
          </a:prstGeom>
          <a:noFill/>
          <a:ln/>
        </p:spPr>
        <p:txBody>
          <a:bodyPr wrap="square" lIns="0" tIns="0" rIns="0" bIns="0" rtlCol="0" anchor="ctr"/>
          <a:lstStyle/>
          <a:p>
            <a:pPr marL="0" indent="0" algn="r">
              <a:buNone/>
            </a:pPr>
            <a:r>
              <a:rPr lang="en-US" sz="1000" dirty="0">
                <a:solidFill>
                  <a:srgbClr val="8AA79A"/>
                </a:solidFill>
                <a:latin typeface="Consolas" pitchFamily="34" charset="0"/>
                <a:ea typeface="Consolas" pitchFamily="34" charset="-122"/>
                <a:cs typeface="Consolas" pitchFamily="34" charset="-120"/>
              </a:rPr>
              <a:t>ASKS</a:t>
            </a:r>
            <a:endParaRPr lang="en-US" sz="1000" dirty="0"/>
          </a:p>
        </p:txBody>
      </p:sp>
      <p:sp>
        <p:nvSpPr>
          <p:cNvPr id="31" name="empty bid level">
            <a:extLst>
              <a:ext uri="{C183D7F6-B498-43B3-948B-1728B52AA6E4}">
                <adec:decorative xmlns:adec="http://schemas.microsoft.com/office/drawing/2017/decorative" val="1"/>
              </a:ext>
            </a:extLst>
          </p:cNvPr>
          <p:cNvSpPr/>
          <p:nvPr/>
        </p:nvSpPr>
        <p:spPr>
          <a:xfrm>
            <a:off x="4983480" y="1874520"/>
            <a:ext cx="1737360" cy="457200"/>
          </a:xfrm>
          <a:prstGeom prst="rect">
            <a:avLst/>
          </a:prstGeom>
          <a:solidFill>
            <a:srgbClr val="1B2621"/>
          </a:solidFill>
          <a:ln w="12700">
            <a:solidFill>
              <a:srgbClr val="2A3A34"/>
            </a:solidFill>
            <a:prstDash val="solid"/>
          </a:ln>
        </p:spPr>
        <p:txBody>
          <a:bodyPr/>
          <a:lstStyle/>
          <a:p>
            <a:endParaRPr lang="en-SE"/>
          </a:p>
        </p:txBody>
      </p:sp>
      <p:sp>
        <p:nvSpPr>
          <p:cNvPr id="32" name="Text 29"/>
          <p:cNvSpPr/>
          <p:nvPr/>
        </p:nvSpPr>
        <p:spPr>
          <a:xfrm>
            <a:off x="5029200" y="1984248"/>
            <a:ext cx="1645920" cy="256032"/>
          </a:xfrm>
          <a:prstGeom prst="rect">
            <a:avLst/>
          </a:prstGeom>
          <a:noFill/>
          <a:ln/>
        </p:spPr>
        <p:txBody>
          <a:bodyPr wrap="square" lIns="0" tIns="0" rIns="0" bIns="0" rtlCol="0" anchor="ctr"/>
          <a:lstStyle/>
          <a:p>
            <a:pPr marL="0" indent="0" algn="ctr">
              <a:buNone/>
            </a:pPr>
            <a:r>
              <a:rPr lang="en-US" sz="1100" dirty="0">
                <a:solidFill>
                  <a:srgbClr val="8AA79A"/>
                </a:solidFill>
                <a:latin typeface="Consolas" pitchFamily="34" charset="0"/>
                <a:ea typeface="Consolas" pitchFamily="34" charset="-122"/>
                <a:cs typeface="Consolas" pitchFamily="34" charset="-120"/>
              </a:rPr>
              <a:t>— empty —</a:t>
            </a:r>
            <a:endParaRPr lang="en-US" sz="1100" dirty="0"/>
          </a:p>
        </p:txBody>
      </p:sp>
      <p:sp>
        <p:nvSpPr>
          <p:cNvPr id="33" name="ask level">
            <a:extLst>
              <a:ext uri="{C183D7F6-B498-43B3-948B-1728B52AA6E4}">
                <adec:decorative xmlns:adec="http://schemas.microsoft.com/office/drawing/2017/decorative" val="1"/>
              </a:ext>
            </a:extLst>
          </p:cNvPr>
          <p:cNvSpPr/>
          <p:nvPr/>
        </p:nvSpPr>
        <p:spPr>
          <a:xfrm>
            <a:off x="6812280" y="1874520"/>
            <a:ext cx="1737360" cy="457200"/>
          </a:xfrm>
          <a:prstGeom prst="rect">
            <a:avLst/>
          </a:prstGeom>
          <a:solidFill>
            <a:srgbClr val="1B2621"/>
          </a:solidFill>
          <a:ln w="12700">
            <a:solidFill>
              <a:srgbClr val="FF5C6C"/>
            </a:solidFill>
            <a:prstDash val="solid"/>
          </a:ln>
        </p:spPr>
        <p:txBody>
          <a:bodyPr/>
          <a:lstStyle/>
          <a:p>
            <a:endParaRPr lang="en-SE"/>
          </a:p>
        </p:txBody>
      </p:sp>
      <p:sp>
        <p:nvSpPr>
          <p:cNvPr id="34" name="Text 31"/>
          <p:cNvSpPr/>
          <p:nvPr/>
        </p:nvSpPr>
        <p:spPr>
          <a:xfrm>
            <a:off x="6858000" y="1984248"/>
            <a:ext cx="1645920" cy="256032"/>
          </a:xfrm>
          <a:prstGeom prst="rect">
            <a:avLst/>
          </a:prstGeom>
          <a:noFill/>
          <a:ln/>
        </p:spPr>
        <p:txBody>
          <a:bodyPr wrap="square" lIns="0" tIns="0" rIns="0" bIns="0" rtlCol="0" anchor="ctr"/>
          <a:lstStyle/>
          <a:p>
            <a:pPr marL="0" indent="0" algn="ctr">
              <a:buNone/>
            </a:pPr>
            <a:r>
              <a:rPr lang="en-US" sz="1100" b="1" dirty="0">
                <a:solidFill>
                  <a:srgbClr val="FF5C6C"/>
                </a:solidFill>
                <a:latin typeface="Consolas" pitchFamily="34" charset="0"/>
                <a:ea typeface="Consolas" pitchFamily="34" charset="-122"/>
                <a:cs typeface="Consolas" pitchFamily="34" charset="-120"/>
              </a:rPr>
              <a:t>150.50  x200</a:t>
            </a:r>
            <a:endParaRPr lang="en-US" sz="1100" dirty="0"/>
          </a:p>
        </p:txBody>
      </p:sp>
      <p:sp>
        <p:nvSpPr>
          <p:cNvPr id="35" name="divider">
            <a:extLst>
              <a:ext uri="{C183D7F6-B498-43B3-948B-1728B52AA6E4}">
                <adec:decorative xmlns:adec="http://schemas.microsoft.com/office/drawing/2017/decorative" val="1"/>
              </a:ext>
            </a:extLst>
          </p:cNvPr>
          <p:cNvSpPr/>
          <p:nvPr/>
        </p:nvSpPr>
        <p:spPr>
          <a:xfrm>
            <a:off x="4983480" y="2606040"/>
            <a:ext cx="3566160" cy="18288"/>
          </a:xfrm>
          <a:prstGeom prst="rect">
            <a:avLst/>
          </a:prstGeom>
          <a:solidFill>
            <a:srgbClr val="2A3A34"/>
          </a:solidFill>
          <a:ln w="12700">
            <a:solidFill>
              <a:srgbClr val="2A3A34"/>
            </a:solidFill>
            <a:prstDash val="solid"/>
          </a:ln>
        </p:spPr>
        <p:txBody>
          <a:bodyPr/>
          <a:lstStyle/>
          <a:p>
            <a:endParaRPr lang="en-SE"/>
          </a:p>
        </p:txBody>
      </p:sp>
      <p:sp>
        <p:nvSpPr>
          <p:cNvPr id="36" name="Text 33"/>
          <p:cNvSpPr/>
          <p:nvPr/>
        </p:nvSpPr>
        <p:spPr>
          <a:xfrm>
            <a:off x="4983480" y="2724912"/>
            <a:ext cx="3566160" cy="384048"/>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Our bid 150.00 sits below the best ask 150.50.</a:t>
            </a:r>
            <a:endParaRPr lang="en-US" sz="1200" dirty="0"/>
          </a:p>
        </p:txBody>
      </p:sp>
      <p:sp>
        <p:nvSpPr>
          <p:cNvPr id="37" name="Text 34"/>
          <p:cNvSpPr/>
          <p:nvPr/>
        </p:nvSpPr>
        <p:spPr>
          <a:xfrm>
            <a:off x="4983480" y="3163824"/>
            <a:ext cx="3566160" cy="64008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Nothing crosses → the order will rest. Section 7b re-runs it at a crossing price.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3</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From keystroke to the engine's doorstep</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143000"/>
            <a:ext cx="2697480" cy="914400"/>
          </a:xfrm>
          <a:prstGeom prst="rect">
            <a:avLst/>
          </a:prstGeom>
          <a:solidFill>
            <a:srgbClr val="141C19"/>
          </a:solidFill>
          <a:ln w="12700">
            <a:solidFill>
              <a:srgbClr val="2A3A34"/>
            </a:solidFill>
            <a:prstDash val="solid"/>
          </a:ln>
        </p:spPr>
        <p:txBody>
          <a:bodyPr/>
          <a:lstStyle/>
          <a:p>
            <a:endParaRPr lang="en-SE"/>
          </a:p>
        </p:txBody>
      </p:sp>
      <p:sp>
        <p:nvSpPr>
          <p:cNvPr id="8" name="Text 5"/>
          <p:cNvSpPr/>
          <p:nvPr/>
        </p:nvSpPr>
        <p:spPr>
          <a:xfrm>
            <a:off x="548640" y="1280160"/>
            <a:ext cx="242316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ALF text line</a:t>
            </a:r>
            <a:endParaRPr lang="en-US" sz="1300" dirty="0"/>
          </a:p>
        </p:txBody>
      </p:sp>
      <p:sp>
        <p:nvSpPr>
          <p:cNvPr id="9" name="Text 6"/>
          <p:cNvSpPr/>
          <p:nvPr/>
        </p:nvSpPr>
        <p:spPr>
          <a:xfrm>
            <a:off x="548640" y="1572768"/>
            <a:ext cx="2423160" cy="365760"/>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NEW|SYM=AAPL|SIDE=BUY|...</a:t>
            </a:r>
            <a:endParaRPr lang="en-US" sz="1100" dirty="0"/>
          </a:p>
        </p:txBody>
      </p:sp>
      <p:sp>
        <p:nvSpPr>
          <p:cNvPr id="10" name="flow arrow">
            <a:extLst>
              <a:ext uri="{C183D7F6-B498-43B3-948B-1728B52AA6E4}">
                <adec:decorative xmlns:adec="http://schemas.microsoft.com/office/drawing/2017/decorative" val="1"/>
              </a:ext>
            </a:extLst>
          </p:cNvPr>
          <p:cNvSpPr/>
          <p:nvPr/>
        </p:nvSpPr>
        <p:spPr>
          <a:xfrm>
            <a:off x="3145536" y="1508760"/>
            <a:ext cx="201168" cy="201168"/>
          </a:xfrm>
          <a:prstGeom prst="rightArrow">
            <a:avLst/>
          </a:prstGeom>
          <a:solidFill>
            <a:srgbClr val="1B7A4C"/>
          </a:solidFill>
          <a:ln w="12700">
            <a:solidFill>
              <a:srgbClr val="1B7A4C"/>
            </a:solidFill>
            <a:prstDash val="solid"/>
          </a:ln>
        </p:spPr>
        <p:txBody>
          <a:bodyPr/>
          <a:lstStyle/>
          <a:p>
            <a:endParaRPr lang="en-SE"/>
          </a:p>
        </p:txBody>
      </p:sp>
      <p:sp>
        <p:nvSpPr>
          <p:cNvPr id="11" name="panel">
            <a:extLst>
              <a:ext uri="{C183D7F6-B498-43B3-948B-1728B52AA6E4}">
                <adec:decorative xmlns:adec="http://schemas.microsoft.com/office/drawing/2017/decorative" val="1"/>
              </a:ext>
            </a:extLst>
          </p:cNvPr>
          <p:cNvSpPr/>
          <p:nvPr/>
        </p:nvSpPr>
        <p:spPr>
          <a:xfrm>
            <a:off x="3383280" y="1143000"/>
            <a:ext cx="2697480" cy="914400"/>
          </a:xfrm>
          <a:prstGeom prst="rect">
            <a:avLst/>
          </a:prstGeom>
          <a:solidFill>
            <a:srgbClr val="141C19"/>
          </a:solidFill>
          <a:ln w="12700">
            <a:solidFill>
              <a:srgbClr val="2A3A34"/>
            </a:solidFill>
            <a:prstDash val="solid"/>
          </a:ln>
        </p:spPr>
        <p:txBody>
          <a:bodyPr/>
          <a:lstStyle/>
          <a:p>
            <a:endParaRPr lang="en-SE"/>
          </a:p>
        </p:txBody>
      </p:sp>
      <p:sp>
        <p:nvSpPr>
          <p:cNvPr id="12" name="Text 9"/>
          <p:cNvSpPr/>
          <p:nvPr/>
        </p:nvSpPr>
        <p:spPr>
          <a:xfrm>
            <a:off x="3520440" y="1280160"/>
            <a:ext cx="242316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Order.create(...)</a:t>
            </a:r>
            <a:endParaRPr lang="en-US" sz="1300" dirty="0"/>
          </a:p>
        </p:txBody>
      </p:sp>
      <p:sp>
        <p:nvSpPr>
          <p:cNvPr id="13" name="Text 10"/>
          <p:cNvSpPr/>
          <p:nvPr/>
        </p:nvSpPr>
        <p:spPr>
          <a:xfrm>
            <a:off x="3520440" y="1572768"/>
            <a:ext cx="2423160" cy="365760"/>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fields validated &amp; typed</a:t>
            </a:r>
            <a:endParaRPr lang="en-US" sz="1100" dirty="0"/>
          </a:p>
        </p:txBody>
      </p:sp>
      <p:sp>
        <p:nvSpPr>
          <p:cNvPr id="14" name="flow arrow">
            <a:extLst>
              <a:ext uri="{C183D7F6-B498-43B3-948B-1728B52AA6E4}">
                <adec:decorative xmlns:adec="http://schemas.microsoft.com/office/drawing/2017/decorative" val="1"/>
              </a:ext>
            </a:extLst>
          </p:cNvPr>
          <p:cNvSpPr/>
          <p:nvPr/>
        </p:nvSpPr>
        <p:spPr>
          <a:xfrm>
            <a:off x="6117336" y="1508760"/>
            <a:ext cx="201168" cy="201168"/>
          </a:xfrm>
          <a:prstGeom prst="rightArrow">
            <a:avLst/>
          </a:prstGeom>
          <a:solidFill>
            <a:srgbClr val="1B7A4C"/>
          </a:solidFill>
          <a:ln w="12700">
            <a:solidFill>
              <a:srgbClr val="1B7A4C"/>
            </a:solidFill>
            <a:prstDash val="solid"/>
          </a:ln>
        </p:spPr>
        <p:txBody>
          <a:bodyPr/>
          <a:lstStyle/>
          <a:p>
            <a:endParaRPr lang="en-SE"/>
          </a:p>
        </p:txBody>
      </p:sp>
      <p:sp>
        <p:nvSpPr>
          <p:cNvPr id="15" name="panel">
            <a:extLst>
              <a:ext uri="{C183D7F6-B498-43B3-948B-1728B52AA6E4}">
                <adec:decorative xmlns:adec="http://schemas.microsoft.com/office/drawing/2017/decorative" val="1"/>
              </a:ext>
            </a:extLst>
          </p:cNvPr>
          <p:cNvSpPr/>
          <p:nvPr/>
        </p:nvSpPr>
        <p:spPr>
          <a:xfrm>
            <a:off x="6355080" y="1143000"/>
            <a:ext cx="2697480" cy="914400"/>
          </a:xfrm>
          <a:prstGeom prst="rect">
            <a:avLst/>
          </a:prstGeom>
          <a:solidFill>
            <a:srgbClr val="141C19"/>
          </a:solidFill>
          <a:ln w="12700">
            <a:solidFill>
              <a:srgbClr val="2A3A34"/>
            </a:solidFill>
            <a:prstDash val="solid"/>
          </a:ln>
        </p:spPr>
        <p:txBody>
          <a:bodyPr/>
          <a:lstStyle/>
          <a:p>
            <a:endParaRPr lang="en-SE"/>
          </a:p>
        </p:txBody>
      </p:sp>
      <p:sp>
        <p:nvSpPr>
          <p:cNvPr id="16" name="Text 13"/>
          <p:cNvSpPr/>
          <p:nvPr/>
        </p:nvSpPr>
        <p:spPr>
          <a:xfrm>
            <a:off x="6492240" y="1280160"/>
            <a:ext cx="242316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PUSH → order.new</a:t>
            </a:r>
            <a:endParaRPr lang="en-US" sz="1300" dirty="0"/>
          </a:p>
        </p:txBody>
      </p:sp>
      <p:sp>
        <p:nvSpPr>
          <p:cNvPr id="17" name="Text 14"/>
          <p:cNvSpPr/>
          <p:nvPr/>
        </p:nvSpPr>
        <p:spPr>
          <a:xfrm>
            <a:off x="6492240" y="1572768"/>
            <a:ext cx="2423160" cy="365760"/>
          </a:xfrm>
          <a:prstGeom prst="rect">
            <a:avLst/>
          </a:prstGeom>
          <a:noFill/>
          <a:ln/>
        </p:spPr>
        <p:txBody>
          <a:bodyPr wrap="square" lIns="0" tIns="0" rIns="0" bIns="0" rtlCol="0" anchor="ctr"/>
          <a:lstStyle/>
          <a:p>
            <a:pPr marL="0" indent="0">
              <a:buNone/>
            </a:pPr>
            <a:r>
              <a:rPr lang="en-US" sz="1100" dirty="0">
                <a:solidFill>
                  <a:srgbClr val="8AA79A"/>
                </a:solidFill>
                <a:latin typeface="Consolas" pitchFamily="34" charset="0"/>
                <a:ea typeface="Consolas" pitchFamily="34" charset="-122"/>
                <a:cs typeface="Consolas" pitchFamily="34" charset="-120"/>
              </a:rPr>
              <a:t>_send_to_engine(frames)</a:t>
            </a:r>
            <a:endParaRPr lang="en-US" sz="1100" dirty="0"/>
          </a:p>
        </p:txBody>
      </p:sp>
      <p:sp>
        <p:nvSpPr>
          <p:cNvPr id="18" name="panel">
            <a:extLst>
              <a:ext uri="{C183D7F6-B498-43B3-948B-1728B52AA6E4}">
                <adec:decorative xmlns:adec="http://schemas.microsoft.com/office/drawing/2017/decorative" val="1"/>
              </a:ext>
            </a:extLst>
          </p:cNvPr>
          <p:cNvSpPr/>
          <p:nvPr/>
        </p:nvSpPr>
        <p:spPr>
          <a:xfrm>
            <a:off x="411480" y="2331720"/>
            <a:ext cx="4114800" cy="1691640"/>
          </a:xfrm>
          <a:prstGeom prst="rect">
            <a:avLst/>
          </a:prstGeom>
          <a:solidFill>
            <a:srgbClr val="141C19"/>
          </a:solidFill>
          <a:ln w="12700">
            <a:solidFill>
              <a:srgbClr val="2A3A34"/>
            </a:solidFill>
            <a:prstDash val="solid"/>
          </a:ln>
        </p:spPr>
        <p:txBody>
          <a:bodyPr/>
          <a:lstStyle/>
          <a:p>
            <a:endParaRPr lang="en-SE"/>
          </a:p>
        </p:txBody>
      </p:sp>
      <p:sp>
        <p:nvSpPr>
          <p:cNvPr id="19" name="accent bar">
            <a:extLst>
              <a:ext uri="{C183D7F6-B498-43B3-948B-1728B52AA6E4}">
                <adec:decorative xmlns:adec="http://schemas.microsoft.com/office/drawing/2017/decorative" val="1"/>
              </a:ext>
            </a:extLst>
          </p:cNvPr>
          <p:cNvSpPr/>
          <p:nvPr/>
        </p:nvSpPr>
        <p:spPr>
          <a:xfrm>
            <a:off x="411480" y="2331720"/>
            <a:ext cx="54864" cy="1691640"/>
          </a:xfrm>
          <a:prstGeom prst="rect">
            <a:avLst/>
          </a:prstGeom>
          <a:solidFill>
            <a:srgbClr val="39FF88"/>
          </a:solidFill>
          <a:ln w="12700">
            <a:solidFill>
              <a:srgbClr val="39FF88"/>
            </a:solidFill>
            <a:prstDash val="solid"/>
          </a:ln>
        </p:spPr>
        <p:txBody>
          <a:bodyPr/>
          <a:lstStyle/>
          <a:p>
            <a:endParaRPr lang="en-SE"/>
          </a:p>
        </p:txBody>
      </p:sp>
      <p:sp>
        <p:nvSpPr>
          <p:cNvPr id="20" name="Text 17"/>
          <p:cNvSpPr/>
          <p:nvPr/>
        </p:nvSpPr>
        <p:spPr>
          <a:xfrm>
            <a:off x="640080" y="2487168"/>
            <a:ext cx="3749040" cy="274320"/>
          </a:xfrm>
          <a:prstGeom prst="rect">
            <a:avLst/>
          </a:prstGeom>
          <a:noFill/>
          <a:ln/>
        </p:spPr>
        <p:txBody>
          <a:bodyPr wrap="square" lIns="0" tIns="0" rIns="0" bIns="0" rtlCol="0" anchor="ctr"/>
          <a:lstStyle/>
          <a:p>
            <a:pPr marL="0" indent="0">
              <a:buNone/>
            </a:pPr>
            <a:r>
              <a:rPr lang="en-US" sz="1400" b="1" dirty="0">
                <a:solidFill>
                  <a:srgbClr val="39FF88"/>
                </a:solidFill>
                <a:latin typeface="Segoe UI" pitchFamily="34" charset="0"/>
                <a:ea typeface="Segoe UI" pitchFamily="34" charset="-122"/>
                <a:cs typeface="Segoe UI" pitchFamily="34" charset="-120"/>
              </a:rPr>
              <a:t>gateway_id is not user input</a:t>
            </a:r>
            <a:endParaRPr lang="en-US" sz="1400" dirty="0"/>
          </a:p>
        </p:txBody>
      </p:sp>
      <p:sp>
        <p:nvSpPr>
          <p:cNvPr id="21" name="Text 18"/>
          <p:cNvSpPr/>
          <p:nvPr/>
        </p:nvSpPr>
        <p:spPr>
          <a:xfrm>
            <a:off x="640080" y="2816352"/>
            <a:ext cx="3749040" cy="777240"/>
          </a:xfrm>
          <a:prstGeom prst="rect">
            <a:avLst/>
          </a:prstGeom>
          <a:noFill/>
          <a:ln/>
        </p:spPr>
        <p:txBody>
          <a:bodyPr wrap="square" lIns="0" tIns="0" rIns="0" bIns="0" rtlCol="0" anchor="ctr"/>
          <a:lstStyle/>
          <a:p>
            <a:pPr marL="0" indent="0">
              <a:buNone/>
            </a:pPr>
            <a:r>
              <a:rPr lang="en-US" sz="1200" dirty="0">
                <a:solidFill>
                  <a:srgbClr val="8AA79A"/>
                </a:solidFill>
                <a:latin typeface="Segoe UI" pitchFamily="34" charset="0"/>
                <a:ea typeface="Segoe UI" pitchFamily="34" charset="-122"/>
                <a:cs typeface="Segoe UI" pitchFamily="34" charset="-120"/>
              </a:rPr>
              <a:t>It comes from the authenticated session — _require_gw(session) raises if HELLO never completed. A client cannot claim to be another gateway.</a:t>
            </a:r>
            <a:endParaRPr lang="en-US" sz="1200" dirty="0"/>
          </a:p>
        </p:txBody>
      </p:sp>
      <p:sp>
        <p:nvSpPr>
          <p:cNvPr id="22" name="Text 19"/>
          <p:cNvSpPr/>
          <p:nvPr/>
        </p:nvSpPr>
        <p:spPr>
          <a:xfrm>
            <a:off x="640080" y="3639312"/>
            <a:ext cx="3749040" cy="256032"/>
          </a:xfrm>
          <a:prstGeom prst="rect">
            <a:avLst/>
          </a:prstGeom>
          <a:noFill/>
          <a:ln/>
        </p:spPr>
        <p:txBody>
          <a:bodyPr wrap="square" lIns="0" tIns="0" rIns="0" bIns="0" rtlCol="0" anchor="ctr"/>
          <a:lstStyle/>
          <a:p>
            <a:pPr marL="0" indent="0">
              <a:buNone/>
            </a:pPr>
            <a:r>
              <a:rPr lang="en-US" sz="1100" dirty="0">
                <a:solidFill>
                  <a:srgbClr val="39FF88"/>
                </a:solidFill>
                <a:latin typeface="Consolas" pitchFamily="34" charset="0"/>
                <a:ea typeface="Consolas" pitchFamily="34" charset="-122"/>
                <a:cs typeface="Consolas" pitchFamily="34" charset="-120"/>
              </a:rPr>
              <a:t>gateway_id = self._require_gw(session)</a:t>
            </a:r>
            <a:endParaRPr lang="en-US" sz="1100" dirty="0"/>
          </a:p>
        </p:txBody>
      </p:sp>
      <p:sp>
        <p:nvSpPr>
          <p:cNvPr id="23" name="panel">
            <a:extLst>
              <a:ext uri="{C183D7F6-B498-43B3-948B-1728B52AA6E4}">
                <adec:decorative xmlns:adec="http://schemas.microsoft.com/office/drawing/2017/decorative" val="1"/>
              </a:ext>
            </a:extLst>
          </p:cNvPr>
          <p:cNvSpPr/>
          <p:nvPr/>
        </p:nvSpPr>
        <p:spPr>
          <a:xfrm>
            <a:off x="4617720" y="2331720"/>
            <a:ext cx="4114800" cy="1691640"/>
          </a:xfrm>
          <a:prstGeom prst="rect">
            <a:avLst/>
          </a:prstGeom>
          <a:solidFill>
            <a:srgbClr val="141C19"/>
          </a:solidFill>
          <a:ln w="12700">
            <a:solidFill>
              <a:srgbClr val="2A3A34"/>
            </a:solidFill>
            <a:prstDash val="solid"/>
          </a:ln>
        </p:spPr>
        <p:txBody>
          <a:bodyPr/>
          <a:lstStyle/>
          <a:p>
            <a:endParaRPr lang="en-SE"/>
          </a:p>
        </p:txBody>
      </p:sp>
      <p:sp>
        <p:nvSpPr>
          <p:cNvPr id="24" name="accent bar">
            <a:extLst>
              <a:ext uri="{C183D7F6-B498-43B3-948B-1728B52AA6E4}">
                <adec:decorative xmlns:adec="http://schemas.microsoft.com/office/drawing/2017/decorative" val="1"/>
              </a:ext>
            </a:extLst>
          </p:cNvPr>
          <p:cNvSpPr/>
          <p:nvPr/>
        </p:nvSpPr>
        <p:spPr>
          <a:xfrm>
            <a:off x="4617720" y="2331720"/>
            <a:ext cx="54864" cy="1691640"/>
          </a:xfrm>
          <a:prstGeom prst="rect">
            <a:avLst/>
          </a:prstGeom>
          <a:solidFill>
            <a:srgbClr val="5AC8FA"/>
          </a:solidFill>
          <a:ln w="12700">
            <a:solidFill>
              <a:srgbClr val="5AC8FA"/>
            </a:solidFill>
            <a:prstDash val="solid"/>
          </a:ln>
        </p:spPr>
        <p:txBody>
          <a:bodyPr/>
          <a:lstStyle/>
          <a:p>
            <a:endParaRPr lang="en-SE"/>
          </a:p>
        </p:txBody>
      </p:sp>
      <p:sp>
        <p:nvSpPr>
          <p:cNvPr id="25" name="Text 22"/>
          <p:cNvSpPr/>
          <p:nvPr/>
        </p:nvSpPr>
        <p:spPr>
          <a:xfrm>
            <a:off x="4846320" y="2487168"/>
            <a:ext cx="3749040" cy="274320"/>
          </a:xfrm>
          <a:prstGeom prst="rect">
            <a:avLst/>
          </a:prstGeom>
          <a:noFill/>
          <a:ln/>
        </p:spPr>
        <p:txBody>
          <a:bodyPr wrap="square" lIns="0" tIns="0" rIns="0" bIns="0" rtlCol="0" anchor="ctr"/>
          <a:lstStyle/>
          <a:p>
            <a:pPr marL="0" indent="0">
              <a:buNone/>
            </a:pPr>
            <a:r>
              <a:rPr lang="en-US" sz="1400" b="1" dirty="0">
                <a:solidFill>
                  <a:srgbClr val="5AC8FA"/>
                </a:solidFill>
                <a:latin typeface="Segoe UI" pitchFamily="34" charset="0"/>
                <a:ea typeface="Segoe UI" pitchFamily="34" charset="-122"/>
                <a:cs typeface="Segoe UI" pitchFamily="34" charset="-120"/>
              </a:rPr>
              <a:t>Prices are ticks, not floats</a:t>
            </a:r>
            <a:endParaRPr lang="en-US" sz="1400" dirty="0"/>
          </a:p>
        </p:txBody>
      </p:sp>
      <p:sp>
        <p:nvSpPr>
          <p:cNvPr id="26" name="Text 23"/>
          <p:cNvSpPr/>
          <p:nvPr/>
        </p:nvSpPr>
        <p:spPr>
          <a:xfrm>
            <a:off x="4846320" y="2816352"/>
            <a:ext cx="3749040" cy="777240"/>
          </a:xfrm>
          <a:prstGeom prst="rect">
            <a:avLst/>
          </a:prstGeom>
          <a:noFill/>
          <a:ln/>
        </p:spPr>
        <p:txBody>
          <a:bodyPr wrap="square" lIns="0" tIns="0" rIns="0" bIns="0" rtlCol="0" anchor="ctr"/>
          <a:lstStyle/>
          <a:p>
            <a:pPr marL="0" indent="0">
              <a:buNone/>
            </a:pPr>
            <a:r>
              <a:rPr lang="en-US" sz="1200" dirty="0">
                <a:solidFill>
                  <a:srgbClr val="8AA79A"/>
                </a:solidFill>
                <a:latin typeface="Segoe UI" pitchFamily="34" charset="0"/>
                <a:ea typeface="Segoe UI" pitchFamily="34" charset="-122"/>
                <a:cs typeface="Segoe UI" pitchFamily="34" charset="-120"/>
              </a:rPr>
              <a:t>self._ticks(price, symbol) runs in the gateway. The engine never does float arithmetic on a price.</a:t>
            </a:r>
            <a:endParaRPr lang="en-US" sz="1200" dirty="0"/>
          </a:p>
        </p:txBody>
      </p:sp>
      <p:sp>
        <p:nvSpPr>
          <p:cNvPr id="27" name="Text 24"/>
          <p:cNvSpPr/>
          <p:nvPr/>
        </p:nvSpPr>
        <p:spPr>
          <a:xfrm>
            <a:off x="4846320" y="3639312"/>
            <a:ext cx="3749040" cy="256032"/>
          </a:xfrm>
          <a:prstGeom prst="rect">
            <a:avLst/>
          </a:prstGeom>
          <a:noFill/>
          <a:ln/>
        </p:spPr>
        <p:txBody>
          <a:bodyPr wrap="square" lIns="0" tIns="0" rIns="0" bIns="0" rtlCol="0" anchor="ctr"/>
          <a:lstStyle/>
          <a:p>
            <a:pPr marL="0" indent="0">
              <a:buNone/>
            </a:pPr>
            <a:r>
              <a:rPr lang="en-US" sz="1100" dirty="0">
                <a:solidFill>
                  <a:srgbClr val="5AC8FA"/>
                </a:solidFill>
                <a:latin typeface="Consolas" pitchFamily="34" charset="0"/>
                <a:ea typeface="Consolas" pitchFamily="34" charset="-122"/>
                <a:cs typeface="Consolas" pitchFamily="34" charset="-120"/>
              </a:rPr>
              <a:t>150.00  -&gt;  15000 ticks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4</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The engine's front door: one loop</a:t>
            </a:r>
            <a:endParaRPr lang="en-US" sz="2400" dirty="0"/>
          </a:p>
        </p:txBody>
      </p:sp>
      <p:sp>
        <p:nvSpPr>
          <p:cNvPr id="7" name="loop stage">
            <a:extLst>
              <a:ext uri="{C183D7F6-B498-43B3-948B-1728B52AA6E4}">
                <adec:decorative xmlns:adec="http://schemas.microsoft.com/office/drawing/2017/decorative" val="1"/>
              </a:ext>
            </a:extLst>
          </p:cNvPr>
          <p:cNvSpPr/>
          <p:nvPr/>
        </p:nvSpPr>
        <p:spPr>
          <a:xfrm>
            <a:off x="411480" y="1143000"/>
            <a:ext cx="1554480" cy="548640"/>
          </a:xfrm>
          <a:prstGeom prst="rect">
            <a:avLst/>
          </a:prstGeom>
          <a:solidFill>
            <a:srgbClr val="1B2621"/>
          </a:solidFill>
          <a:ln w="12700">
            <a:solidFill>
              <a:srgbClr val="39FF88"/>
            </a:solidFill>
            <a:prstDash val="solid"/>
          </a:ln>
        </p:spPr>
        <p:txBody>
          <a:bodyPr/>
          <a:lstStyle/>
          <a:p>
            <a:endParaRPr lang="en-SE"/>
          </a:p>
        </p:txBody>
      </p:sp>
      <p:sp>
        <p:nvSpPr>
          <p:cNvPr id="8" name="Text 5"/>
          <p:cNvSpPr/>
          <p:nvPr/>
        </p:nvSpPr>
        <p:spPr>
          <a:xfrm>
            <a:off x="457200" y="1280160"/>
            <a:ext cx="146304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poll(200ms)</a:t>
            </a:r>
            <a:endParaRPr lang="en-US" sz="1100" dirty="0"/>
          </a:p>
        </p:txBody>
      </p:sp>
      <p:sp>
        <p:nvSpPr>
          <p:cNvPr id="9" name="flow arrow">
            <a:extLst>
              <a:ext uri="{C183D7F6-B498-43B3-948B-1728B52AA6E4}">
                <adec:decorative xmlns:adec="http://schemas.microsoft.com/office/drawing/2017/decorative" val="1"/>
              </a:ext>
            </a:extLst>
          </p:cNvPr>
          <p:cNvSpPr/>
          <p:nvPr/>
        </p:nvSpPr>
        <p:spPr>
          <a:xfrm>
            <a:off x="1984248" y="1316736"/>
            <a:ext cx="118872" cy="201168"/>
          </a:xfrm>
          <a:prstGeom prst="rightArrow">
            <a:avLst/>
          </a:prstGeom>
          <a:solidFill>
            <a:srgbClr val="1B7A4C"/>
          </a:solidFill>
          <a:ln w="12700">
            <a:solidFill>
              <a:srgbClr val="1B7A4C"/>
            </a:solidFill>
            <a:prstDash val="solid"/>
          </a:ln>
        </p:spPr>
        <p:txBody>
          <a:bodyPr/>
          <a:lstStyle/>
          <a:p>
            <a:endParaRPr lang="en-SE"/>
          </a:p>
        </p:txBody>
      </p:sp>
      <p:sp>
        <p:nvSpPr>
          <p:cNvPr id="10" name="loop stage">
            <a:extLst>
              <a:ext uri="{C183D7F6-B498-43B3-948B-1728B52AA6E4}">
                <adec:decorative xmlns:adec="http://schemas.microsoft.com/office/drawing/2017/decorative" val="1"/>
              </a:ext>
            </a:extLst>
          </p:cNvPr>
          <p:cNvSpPr/>
          <p:nvPr/>
        </p:nvSpPr>
        <p:spPr>
          <a:xfrm>
            <a:off x="2121408" y="1143000"/>
            <a:ext cx="1554480" cy="548640"/>
          </a:xfrm>
          <a:prstGeom prst="rect">
            <a:avLst/>
          </a:prstGeom>
          <a:solidFill>
            <a:srgbClr val="1B2621"/>
          </a:solidFill>
          <a:ln w="12700">
            <a:solidFill>
              <a:srgbClr val="39FF88"/>
            </a:solidFill>
            <a:prstDash val="solid"/>
          </a:ln>
        </p:spPr>
        <p:txBody>
          <a:bodyPr/>
          <a:lstStyle/>
          <a:p>
            <a:endParaRPr lang="en-SE"/>
          </a:p>
        </p:txBody>
      </p:sp>
      <p:sp>
        <p:nvSpPr>
          <p:cNvPr id="11" name="Text 8"/>
          <p:cNvSpPr/>
          <p:nvPr/>
        </p:nvSpPr>
        <p:spPr>
          <a:xfrm>
            <a:off x="2167128" y="1280160"/>
            <a:ext cx="146304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recv_multipart</a:t>
            </a:r>
            <a:endParaRPr lang="en-US" sz="1100" dirty="0"/>
          </a:p>
        </p:txBody>
      </p:sp>
      <p:sp>
        <p:nvSpPr>
          <p:cNvPr id="12" name="flow arrow">
            <a:extLst>
              <a:ext uri="{C183D7F6-B498-43B3-948B-1728B52AA6E4}">
                <adec:decorative xmlns:adec="http://schemas.microsoft.com/office/drawing/2017/decorative" val="1"/>
              </a:ext>
            </a:extLst>
          </p:cNvPr>
          <p:cNvSpPr/>
          <p:nvPr/>
        </p:nvSpPr>
        <p:spPr>
          <a:xfrm>
            <a:off x="3694176" y="1316736"/>
            <a:ext cx="118872" cy="201168"/>
          </a:xfrm>
          <a:prstGeom prst="rightArrow">
            <a:avLst/>
          </a:prstGeom>
          <a:solidFill>
            <a:srgbClr val="1B7A4C"/>
          </a:solidFill>
          <a:ln w="12700">
            <a:solidFill>
              <a:srgbClr val="1B7A4C"/>
            </a:solidFill>
            <a:prstDash val="solid"/>
          </a:ln>
        </p:spPr>
        <p:txBody>
          <a:bodyPr/>
          <a:lstStyle/>
          <a:p>
            <a:endParaRPr lang="en-SE"/>
          </a:p>
        </p:txBody>
      </p:sp>
      <p:sp>
        <p:nvSpPr>
          <p:cNvPr id="13" name="loop stage">
            <a:extLst>
              <a:ext uri="{C183D7F6-B498-43B3-948B-1728B52AA6E4}">
                <adec:decorative xmlns:adec="http://schemas.microsoft.com/office/drawing/2017/decorative" val="1"/>
              </a:ext>
            </a:extLst>
          </p:cNvPr>
          <p:cNvSpPr/>
          <p:nvPr/>
        </p:nvSpPr>
        <p:spPr>
          <a:xfrm>
            <a:off x="3831336" y="1143000"/>
            <a:ext cx="1554480" cy="548640"/>
          </a:xfrm>
          <a:prstGeom prst="rect">
            <a:avLst/>
          </a:prstGeom>
          <a:solidFill>
            <a:srgbClr val="1B2621"/>
          </a:solidFill>
          <a:ln w="12700">
            <a:solidFill>
              <a:srgbClr val="39FF88"/>
            </a:solidFill>
            <a:prstDash val="solid"/>
          </a:ln>
        </p:spPr>
        <p:txBody>
          <a:bodyPr/>
          <a:lstStyle/>
          <a:p>
            <a:endParaRPr lang="en-SE"/>
          </a:p>
        </p:txBody>
      </p:sp>
      <p:sp>
        <p:nvSpPr>
          <p:cNvPr id="14" name="Text 11"/>
          <p:cNvSpPr/>
          <p:nvPr/>
        </p:nvSpPr>
        <p:spPr>
          <a:xfrm>
            <a:off x="3877056" y="1280160"/>
            <a:ext cx="146304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decode()</a:t>
            </a:r>
            <a:endParaRPr lang="en-US" sz="1100" dirty="0"/>
          </a:p>
        </p:txBody>
      </p:sp>
      <p:sp>
        <p:nvSpPr>
          <p:cNvPr id="15" name="flow arrow">
            <a:extLst>
              <a:ext uri="{C183D7F6-B498-43B3-948B-1728B52AA6E4}">
                <adec:decorative xmlns:adec="http://schemas.microsoft.com/office/drawing/2017/decorative" val="1"/>
              </a:ext>
            </a:extLst>
          </p:cNvPr>
          <p:cNvSpPr/>
          <p:nvPr/>
        </p:nvSpPr>
        <p:spPr>
          <a:xfrm>
            <a:off x="5404104" y="1316736"/>
            <a:ext cx="118872" cy="201168"/>
          </a:xfrm>
          <a:prstGeom prst="rightArrow">
            <a:avLst/>
          </a:prstGeom>
          <a:solidFill>
            <a:srgbClr val="1B7A4C"/>
          </a:solidFill>
          <a:ln w="12700">
            <a:solidFill>
              <a:srgbClr val="1B7A4C"/>
            </a:solidFill>
            <a:prstDash val="solid"/>
          </a:ln>
        </p:spPr>
        <p:txBody>
          <a:bodyPr/>
          <a:lstStyle/>
          <a:p>
            <a:endParaRPr lang="en-SE"/>
          </a:p>
        </p:txBody>
      </p:sp>
      <p:sp>
        <p:nvSpPr>
          <p:cNvPr id="16" name="loop stage">
            <a:extLst>
              <a:ext uri="{C183D7F6-B498-43B3-948B-1728B52AA6E4}">
                <adec:decorative xmlns:adec="http://schemas.microsoft.com/office/drawing/2017/decorative" val="1"/>
              </a:ext>
            </a:extLst>
          </p:cNvPr>
          <p:cNvSpPr/>
          <p:nvPr/>
        </p:nvSpPr>
        <p:spPr>
          <a:xfrm>
            <a:off x="5541264" y="1143000"/>
            <a:ext cx="1554480" cy="548640"/>
          </a:xfrm>
          <a:prstGeom prst="rect">
            <a:avLst/>
          </a:prstGeom>
          <a:solidFill>
            <a:srgbClr val="1B2621"/>
          </a:solidFill>
          <a:ln w="12700">
            <a:solidFill>
              <a:srgbClr val="39FF88"/>
            </a:solidFill>
            <a:prstDash val="solid"/>
          </a:ln>
        </p:spPr>
        <p:txBody>
          <a:bodyPr/>
          <a:lstStyle/>
          <a:p>
            <a:endParaRPr lang="en-SE"/>
          </a:p>
        </p:txBody>
      </p:sp>
      <p:sp>
        <p:nvSpPr>
          <p:cNvPr id="17" name="Text 14"/>
          <p:cNvSpPr/>
          <p:nvPr/>
        </p:nvSpPr>
        <p:spPr>
          <a:xfrm>
            <a:off x="5586984" y="1280160"/>
            <a:ext cx="146304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dispatch</a:t>
            </a:r>
            <a:endParaRPr lang="en-US" sz="1100" dirty="0"/>
          </a:p>
        </p:txBody>
      </p:sp>
      <p:sp>
        <p:nvSpPr>
          <p:cNvPr id="18" name="flow arrow">
            <a:extLst>
              <a:ext uri="{C183D7F6-B498-43B3-948B-1728B52AA6E4}">
                <adec:decorative xmlns:adec="http://schemas.microsoft.com/office/drawing/2017/decorative" val="1"/>
              </a:ext>
            </a:extLst>
          </p:cNvPr>
          <p:cNvSpPr/>
          <p:nvPr/>
        </p:nvSpPr>
        <p:spPr>
          <a:xfrm>
            <a:off x="7114032" y="1316736"/>
            <a:ext cx="118872" cy="201168"/>
          </a:xfrm>
          <a:prstGeom prst="rightArrow">
            <a:avLst/>
          </a:prstGeom>
          <a:solidFill>
            <a:srgbClr val="1B7A4C"/>
          </a:solidFill>
          <a:ln w="12700">
            <a:solidFill>
              <a:srgbClr val="1B7A4C"/>
            </a:solidFill>
            <a:prstDash val="solid"/>
          </a:ln>
        </p:spPr>
        <p:txBody>
          <a:bodyPr/>
          <a:lstStyle/>
          <a:p>
            <a:endParaRPr lang="en-SE"/>
          </a:p>
        </p:txBody>
      </p:sp>
      <p:sp>
        <p:nvSpPr>
          <p:cNvPr id="19" name="loop stage">
            <a:extLst>
              <a:ext uri="{C183D7F6-B498-43B3-948B-1728B52AA6E4}">
                <adec:decorative xmlns:adec="http://schemas.microsoft.com/office/drawing/2017/decorative" val="1"/>
              </a:ext>
            </a:extLst>
          </p:cNvPr>
          <p:cNvSpPr/>
          <p:nvPr/>
        </p:nvSpPr>
        <p:spPr>
          <a:xfrm>
            <a:off x="7251192" y="1143000"/>
            <a:ext cx="1554480" cy="548640"/>
          </a:xfrm>
          <a:prstGeom prst="rect">
            <a:avLst/>
          </a:prstGeom>
          <a:solidFill>
            <a:srgbClr val="1B2621"/>
          </a:solidFill>
          <a:ln w="12700">
            <a:solidFill>
              <a:srgbClr val="39FF88"/>
            </a:solidFill>
            <a:prstDash val="solid"/>
          </a:ln>
        </p:spPr>
        <p:txBody>
          <a:bodyPr/>
          <a:lstStyle/>
          <a:p>
            <a:endParaRPr lang="en-SE"/>
          </a:p>
        </p:txBody>
      </p:sp>
      <p:sp>
        <p:nvSpPr>
          <p:cNvPr id="20" name="Text 17"/>
          <p:cNvSpPr/>
          <p:nvPr/>
        </p:nvSpPr>
        <p:spPr>
          <a:xfrm>
            <a:off x="7296912" y="1280160"/>
            <a:ext cx="146304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maintenance</a:t>
            </a:r>
            <a:endParaRPr lang="en-US" sz="1100" dirty="0"/>
          </a:p>
        </p:txBody>
      </p:sp>
      <p:sp>
        <p:nvSpPr>
          <p:cNvPr id="21" name="loop return">
            <a:extLst>
              <a:ext uri="{C183D7F6-B498-43B3-948B-1728B52AA6E4}">
                <adec:decorative xmlns:adec="http://schemas.microsoft.com/office/drawing/2017/decorative" val="1"/>
              </a:ext>
            </a:extLst>
          </p:cNvPr>
          <p:cNvSpPr/>
          <p:nvPr/>
        </p:nvSpPr>
        <p:spPr>
          <a:xfrm>
            <a:off x="411480" y="1828800"/>
            <a:ext cx="8138160" cy="164592"/>
          </a:xfrm>
          <a:prstGeom prst="leftArrow">
            <a:avLst/>
          </a:prstGeom>
          <a:solidFill>
            <a:srgbClr val="2A3A34"/>
          </a:solidFill>
          <a:ln w="12700">
            <a:solidFill>
              <a:srgbClr val="2A3A34"/>
            </a:solidFill>
            <a:prstDash val="solid"/>
          </a:ln>
        </p:spPr>
        <p:txBody>
          <a:bodyPr/>
          <a:lstStyle/>
          <a:p>
            <a:endParaRPr lang="en-SE"/>
          </a:p>
        </p:txBody>
      </p:sp>
      <p:sp>
        <p:nvSpPr>
          <p:cNvPr id="22" name="Text 19"/>
          <p:cNvSpPr/>
          <p:nvPr/>
        </p:nvSpPr>
        <p:spPr>
          <a:xfrm>
            <a:off x="411480" y="2011680"/>
            <a:ext cx="8138160" cy="228600"/>
          </a:xfrm>
          <a:prstGeom prst="rect">
            <a:avLst/>
          </a:prstGeom>
          <a:noFill/>
          <a:ln/>
        </p:spPr>
        <p:txBody>
          <a:bodyPr wrap="square" lIns="0" tIns="0" rIns="0" bIns="0" rtlCol="0" anchor="ctr"/>
          <a:lstStyle/>
          <a:p>
            <a:pPr marL="0" indent="0" algn="ctr">
              <a:buNone/>
            </a:pPr>
            <a:r>
              <a:rPr lang="en-US" sz="900" dirty="0">
                <a:solidFill>
                  <a:srgbClr val="8AA79A"/>
                </a:solidFill>
                <a:latin typeface="Consolas" pitchFamily="34" charset="0"/>
                <a:ea typeface="Consolas" pitchFamily="34" charset="-122"/>
                <a:cs typeface="Consolas" pitchFamily="34" charset="-120"/>
              </a:rPr>
              <a:t>repeat forever</a:t>
            </a:r>
            <a:endParaRPr lang="en-US" sz="900" dirty="0"/>
          </a:p>
        </p:txBody>
      </p:sp>
      <p:sp>
        <p:nvSpPr>
          <p:cNvPr id="23" name="panel">
            <a:extLst>
              <a:ext uri="{C183D7F6-B498-43B3-948B-1728B52AA6E4}">
                <adec:decorative xmlns:adec="http://schemas.microsoft.com/office/drawing/2017/decorative" val="1"/>
              </a:ext>
            </a:extLst>
          </p:cNvPr>
          <p:cNvSpPr/>
          <p:nvPr/>
        </p:nvSpPr>
        <p:spPr>
          <a:xfrm>
            <a:off x="411480" y="2377440"/>
            <a:ext cx="4846320" cy="1554480"/>
          </a:xfrm>
          <a:prstGeom prst="rect">
            <a:avLst/>
          </a:prstGeom>
          <a:solidFill>
            <a:srgbClr val="0E1512"/>
          </a:solidFill>
          <a:ln w="12700">
            <a:solidFill>
              <a:srgbClr val="2A3A34"/>
            </a:solidFill>
            <a:prstDash val="solid"/>
          </a:ln>
        </p:spPr>
        <p:txBody>
          <a:bodyPr/>
          <a:lstStyle/>
          <a:p>
            <a:endParaRPr lang="en-SE"/>
          </a:p>
        </p:txBody>
      </p:sp>
      <p:sp>
        <p:nvSpPr>
          <p:cNvPr id="24" name="Text 21"/>
          <p:cNvSpPr/>
          <p:nvPr/>
        </p:nvSpPr>
        <p:spPr>
          <a:xfrm>
            <a:off x="521208" y="2450592"/>
            <a:ext cx="4626864" cy="1408176"/>
          </a:xfrm>
          <a:prstGeom prst="rect">
            <a:avLst/>
          </a:prstGeom>
          <a:noFill/>
          <a:ln/>
        </p:spPr>
        <p:txBody>
          <a:bodyPr wrap="square" lIns="0" tIns="0" rIns="0" bIns="0" rtlCol="0" anchor="t"/>
          <a:lstStyle/>
          <a:p>
            <a:pPr marL="0" indent="0">
              <a:buNone/>
            </a:pPr>
            <a:r>
              <a:rPr lang="en-US" sz="1100" dirty="0">
                <a:solidFill>
                  <a:srgbClr val="39FF88"/>
                </a:solidFill>
                <a:latin typeface="Consolas" pitchFamily="34" charset="0"/>
                <a:ea typeface="Consolas" pitchFamily="34" charset="-122"/>
                <a:cs typeface="Consolas" pitchFamily="34" charset="-120"/>
              </a:rPr>
              <a:t>if topic == TOPIC_ORDER_NEW:</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    self._handle_new_order(payload)</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elif topic == TOPIC_ORDER_CANCEL:</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    self._handle_cancel(payload)</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elif topic == TOPIC_ORDER_AMEND: ...</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else: self._unknown_topic_count += 1</a:t>
            </a:r>
            <a:endParaRPr lang="en-US" sz="1100" dirty="0"/>
          </a:p>
        </p:txBody>
      </p:sp>
      <p:sp>
        <p:nvSpPr>
          <p:cNvPr id="25" name="panel">
            <a:extLst>
              <a:ext uri="{C183D7F6-B498-43B3-948B-1728B52AA6E4}">
                <adec:decorative xmlns:adec="http://schemas.microsoft.com/office/drawing/2017/decorative" val="1"/>
              </a:ext>
            </a:extLst>
          </p:cNvPr>
          <p:cNvSpPr/>
          <p:nvPr/>
        </p:nvSpPr>
        <p:spPr>
          <a:xfrm>
            <a:off x="5532120" y="2377440"/>
            <a:ext cx="3200400" cy="1554480"/>
          </a:xfrm>
          <a:prstGeom prst="rect">
            <a:avLst/>
          </a:prstGeom>
          <a:solidFill>
            <a:srgbClr val="141C19"/>
          </a:solidFill>
          <a:ln w="12700">
            <a:solidFill>
              <a:srgbClr val="2A3A34"/>
            </a:solidFill>
            <a:prstDash val="solid"/>
          </a:ln>
        </p:spPr>
        <p:txBody>
          <a:bodyPr/>
          <a:lstStyle/>
          <a:p>
            <a:endParaRPr lang="en-SE"/>
          </a:p>
        </p:txBody>
      </p:sp>
      <p:sp>
        <p:nvSpPr>
          <p:cNvPr id="26" name="accent bar">
            <a:extLst>
              <a:ext uri="{C183D7F6-B498-43B3-948B-1728B52AA6E4}">
                <adec:decorative xmlns:adec="http://schemas.microsoft.com/office/drawing/2017/decorative" val="1"/>
              </a:ext>
            </a:extLst>
          </p:cNvPr>
          <p:cNvSpPr/>
          <p:nvPr/>
        </p:nvSpPr>
        <p:spPr>
          <a:xfrm>
            <a:off x="5532120" y="2377440"/>
            <a:ext cx="54864" cy="1554480"/>
          </a:xfrm>
          <a:prstGeom prst="rect">
            <a:avLst/>
          </a:prstGeom>
          <a:solidFill>
            <a:srgbClr val="FFC24B"/>
          </a:solidFill>
          <a:ln w="12700">
            <a:solidFill>
              <a:srgbClr val="FFC24B"/>
            </a:solidFill>
            <a:prstDash val="solid"/>
          </a:ln>
        </p:spPr>
        <p:txBody>
          <a:bodyPr/>
          <a:lstStyle/>
          <a:p>
            <a:endParaRPr lang="en-SE"/>
          </a:p>
        </p:txBody>
      </p:sp>
      <p:sp>
        <p:nvSpPr>
          <p:cNvPr id="27" name="Text 24"/>
          <p:cNvSpPr/>
          <p:nvPr/>
        </p:nvSpPr>
        <p:spPr>
          <a:xfrm>
            <a:off x="5760720" y="2514600"/>
            <a:ext cx="2834640" cy="274320"/>
          </a:xfrm>
          <a:prstGeom prst="rect">
            <a:avLst/>
          </a:prstGeom>
          <a:noFill/>
          <a:ln/>
        </p:spPr>
        <p:txBody>
          <a:bodyPr wrap="square" lIns="0" tIns="0" rIns="0" bIns="0" rtlCol="0" anchor="ctr"/>
          <a:lstStyle/>
          <a:p>
            <a:pPr marL="0" indent="0">
              <a:buNone/>
            </a:pPr>
            <a:r>
              <a:rPr lang="en-US" sz="1300" b="1" dirty="0">
                <a:solidFill>
                  <a:srgbClr val="FFC24B"/>
                </a:solidFill>
                <a:latin typeface="Segoe UI" pitchFamily="34" charset="0"/>
                <a:ea typeface="Segoe UI" pitchFamily="34" charset="-122"/>
                <a:cs typeface="Segoe UI" pitchFamily="34" charset="-120"/>
              </a:rPr>
              <a:t>Nothing hangs, ever</a:t>
            </a:r>
            <a:endParaRPr lang="en-US" sz="1300" dirty="0"/>
          </a:p>
        </p:txBody>
      </p:sp>
      <p:sp>
        <p:nvSpPr>
          <p:cNvPr id="28" name="Text 25"/>
          <p:cNvSpPr/>
          <p:nvPr/>
        </p:nvSpPr>
        <p:spPr>
          <a:xfrm>
            <a:off x="5760720" y="2816352"/>
            <a:ext cx="2834640" cy="100584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The whole ladder sits in one try/except. An unexpected payload cannot kill the process, and _reject_after_error returns INTERNAL_ERROR so the caller's wait always ends.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5</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The gauntlet: eight gates, fixed order</a:t>
            </a:r>
            <a:endParaRPr lang="en-US" sz="2400" dirty="0"/>
          </a:p>
        </p:txBody>
      </p:sp>
      <p:sp>
        <p:nvSpPr>
          <p:cNvPr id="7" name="gate card">
            <a:extLst>
              <a:ext uri="{C183D7F6-B498-43B3-948B-1728B52AA6E4}">
                <adec:decorative xmlns:adec="http://schemas.microsoft.com/office/drawing/2017/decorative" val="1"/>
              </a:ext>
            </a:extLst>
          </p:cNvPr>
          <p:cNvSpPr/>
          <p:nvPr/>
        </p:nvSpPr>
        <p:spPr>
          <a:xfrm>
            <a:off x="411480" y="1188720"/>
            <a:ext cx="1965960" cy="868680"/>
          </a:xfrm>
          <a:prstGeom prst="rect">
            <a:avLst/>
          </a:prstGeom>
          <a:solidFill>
            <a:srgbClr val="141C19"/>
          </a:solidFill>
          <a:ln w="12700">
            <a:solidFill>
              <a:srgbClr val="2A3A34"/>
            </a:solidFill>
            <a:prstDash val="solid"/>
          </a:ln>
        </p:spPr>
        <p:txBody>
          <a:bodyPr/>
          <a:lstStyle/>
          <a:p>
            <a:endParaRPr lang="en-SE"/>
          </a:p>
        </p:txBody>
      </p:sp>
      <p:sp>
        <p:nvSpPr>
          <p:cNvPr id="8" name="gate number ring">
            <a:extLst>
              <a:ext uri="{C183D7F6-B498-43B3-948B-1728B52AA6E4}">
                <adec:decorative xmlns:adec="http://schemas.microsoft.com/office/drawing/2017/decorative" val="1"/>
              </a:ext>
            </a:extLst>
          </p:cNvPr>
          <p:cNvSpPr/>
          <p:nvPr/>
        </p:nvSpPr>
        <p:spPr>
          <a:xfrm>
            <a:off x="521208" y="1298448"/>
            <a:ext cx="347472" cy="347472"/>
          </a:xfrm>
          <a:prstGeom prst="ellipse">
            <a:avLst/>
          </a:prstGeom>
          <a:solidFill>
            <a:srgbClr val="1B7A4C"/>
          </a:solidFill>
          <a:ln w="12700">
            <a:solidFill>
              <a:srgbClr val="39FF88"/>
            </a:solidFill>
            <a:prstDash val="solid"/>
          </a:ln>
        </p:spPr>
        <p:txBody>
          <a:bodyPr/>
          <a:lstStyle/>
          <a:p>
            <a:endParaRPr lang="en-SE"/>
          </a:p>
        </p:txBody>
      </p:sp>
      <p:sp>
        <p:nvSpPr>
          <p:cNvPr id="9" name="Text 6"/>
          <p:cNvSpPr/>
          <p:nvPr/>
        </p:nvSpPr>
        <p:spPr>
          <a:xfrm>
            <a:off x="521208" y="1362456"/>
            <a:ext cx="347472" cy="237744"/>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1</a:t>
            </a:r>
            <a:endParaRPr lang="en-US" sz="1200" dirty="0"/>
          </a:p>
        </p:txBody>
      </p:sp>
      <p:sp>
        <p:nvSpPr>
          <p:cNvPr id="10" name="Text 7"/>
          <p:cNvSpPr/>
          <p:nvPr/>
        </p:nvSpPr>
        <p:spPr>
          <a:xfrm>
            <a:off x="941832" y="1325880"/>
            <a:ext cx="1325880" cy="59436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Gateway connected &amp; allowed</a:t>
            </a:r>
            <a:endParaRPr lang="en-US" sz="1200" dirty="0"/>
          </a:p>
        </p:txBody>
      </p:sp>
      <p:sp>
        <p:nvSpPr>
          <p:cNvPr id="11" name="gate card">
            <a:extLst>
              <a:ext uri="{C183D7F6-B498-43B3-948B-1728B52AA6E4}">
                <adec:decorative xmlns:adec="http://schemas.microsoft.com/office/drawing/2017/decorative" val="1"/>
              </a:ext>
            </a:extLst>
          </p:cNvPr>
          <p:cNvSpPr/>
          <p:nvPr/>
        </p:nvSpPr>
        <p:spPr>
          <a:xfrm>
            <a:off x="2532888" y="1188720"/>
            <a:ext cx="1965960" cy="868680"/>
          </a:xfrm>
          <a:prstGeom prst="rect">
            <a:avLst/>
          </a:prstGeom>
          <a:solidFill>
            <a:srgbClr val="141C19"/>
          </a:solidFill>
          <a:ln w="12700">
            <a:solidFill>
              <a:srgbClr val="2A3A34"/>
            </a:solidFill>
            <a:prstDash val="solid"/>
          </a:ln>
        </p:spPr>
        <p:txBody>
          <a:bodyPr/>
          <a:lstStyle/>
          <a:p>
            <a:endParaRPr lang="en-SE"/>
          </a:p>
        </p:txBody>
      </p:sp>
      <p:sp>
        <p:nvSpPr>
          <p:cNvPr id="12" name="gate number ring">
            <a:extLst>
              <a:ext uri="{C183D7F6-B498-43B3-948B-1728B52AA6E4}">
                <adec:decorative xmlns:adec="http://schemas.microsoft.com/office/drawing/2017/decorative" val="1"/>
              </a:ext>
            </a:extLst>
          </p:cNvPr>
          <p:cNvSpPr/>
          <p:nvPr/>
        </p:nvSpPr>
        <p:spPr>
          <a:xfrm>
            <a:off x="2642616" y="1298448"/>
            <a:ext cx="347472" cy="347472"/>
          </a:xfrm>
          <a:prstGeom prst="ellipse">
            <a:avLst/>
          </a:prstGeom>
          <a:solidFill>
            <a:srgbClr val="1B7A4C"/>
          </a:solidFill>
          <a:ln w="12700">
            <a:solidFill>
              <a:srgbClr val="39FF88"/>
            </a:solidFill>
            <a:prstDash val="solid"/>
          </a:ln>
        </p:spPr>
        <p:txBody>
          <a:bodyPr/>
          <a:lstStyle/>
          <a:p>
            <a:endParaRPr lang="en-SE"/>
          </a:p>
        </p:txBody>
      </p:sp>
      <p:sp>
        <p:nvSpPr>
          <p:cNvPr id="13" name="Text 10"/>
          <p:cNvSpPr/>
          <p:nvPr/>
        </p:nvSpPr>
        <p:spPr>
          <a:xfrm>
            <a:off x="2642616" y="1362456"/>
            <a:ext cx="347472" cy="237744"/>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2</a:t>
            </a:r>
            <a:endParaRPr lang="en-US" sz="1200" dirty="0"/>
          </a:p>
        </p:txBody>
      </p:sp>
      <p:sp>
        <p:nvSpPr>
          <p:cNvPr id="14" name="Text 11"/>
          <p:cNvSpPr/>
          <p:nvPr/>
        </p:nvSpPr>
        <p:spPr>
          <a:xfrm>
            <a:off x="3063240" y="1325880"/>
            <a:ext cx="1325880" cy="59436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Symbol in allowlist</a:t>
            </a:r>
            <a:endParaRPr lang="en-US" sz="1200" dirty="0"/>
          </a:p>
        </p:txBody>
      </p:sp>
      <p:sp>
        <p:nvSpPr>
          <p:cNvPr id="15" name="gate card">
            <a:extLst>
              <a:ext uri="{C183D7F6-B498-43B3-948B-1728B52AA6E4}">
                <adec:decorative xmlns:adec="http://schemas.microsoft.com/office/drawing/2017/decorative" val="1"/>
              </a:ext>
            </a:extLst>
          </p:cNvPr>
          <p:cNvSpPr/>
          <p:nvPr/>
        </p:nvSpPr>
        <p:spPr>
          <a:xfrm>
            <a:off x="4654296" y="1188720"/>
            <a:ext cx="1965960" cy="868680"/>
          </a:xfrm>
          <a:prstGeom prst="rect">
            <a:avLst/>
          </a:prstGeom>
          <a:solidFill>
            <a:srgbClr val="141C19"/>
          </a:solidFill>
          <a:ln w="12700">
            <a:solidFill>
              <a:srgbClr val="2A3A34"/>
            </a:solidFill>
            <a:prstDash val="solid"/>
          </a:ln>
        </p:spPr>
        <p:txBody>
          <a:bodyPr/>
          <a:lstStyle/>
          <a:p>
            <a:endParaRPr lang="en-SE"/>
          </a:p>
        </p:txBody>
      </p:sp>
      <p:sp>
        <p:nvSpPr>
          <p:cNvPr id="16" name="gate number ring">
            <a:extLst>
              <a:ext uri="{C183D7F6-B498-43B3-948B-1728B52AA6E4}">
                <adec:decorative xmlns:adec="http://schemas.microsoft.com/office/drawing/2017/decorative" val="1"/>
              </a:ext>
            </a:extLst>
          </p:cNvPr>
          <p:cNvSpPr/>
          <p:nvPr/>
        </p:nvSpPr>
        <p:spPr>
          <a:xfrm>
            <a:off x="4764024" y="1298448"/>
            <a:ext cx="347472" cy="347472"/>
          </a:xfrm>
          <a:prstGeom prst="ellipse">
            <a:avLst/>
          </a:prstGeom>
          <a:solidFill>
            <a:srgbClr val="1B7A4C"/>
          </a:solidFill>
          <a:ln w="12700">
            <a:solidFill>
              <a:srgbClr val="39FF88"/>
            </a:solidFill>
            <a:prstDash val="solid"/>
          </a:ln>
        </p:spPr>
        <p:txBody>
          <a:bodyPr/>
          <a:lstStyle/>
          <a:p>
            <a:endParaRPr lang="en-SE"/>
          </a:p>
        </p:txBody>
      </p:sp>
      <p:sp>
        <p:nvSpPr>
          <p:cNvPr id="17" name="Text 14"/>
          <p:cNvSpPr/>
          <p:nvPr/>
        </p:nvSpPr>
        <p:spPr>
          <a:xfrm>
            <a:off x="4764024" y="1362456"/>
            <a:ext cx="347472" cy="237744"/>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3</a:t>
            </a:r>
            <a:endParaRPr lang="en-US" sz="1200" dirty="0"/>
          </a:p>
        </p:txBody>
      </p:sp>
      <p:sp>
        <p:nvSpPr>
          <p:cNvPr id="18" name="Text 15"/>
          <p:cNvSpPr/>
          <p:nvPr/>
        </p:nvSpPr>
        <p:spPr>
          <a:xfrm>
            <a:off x="5184648" y="1325880"/>
            <a:ext cx="1325880" cy="59436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Boundary validation</a:t>
            </a:r>
            <a:endParaRPr lang="en-US" sz="1200" dirty="0"/>
          </a:p>
        </p:txBody>
      </p:sp>
      <p:sp>
        <p:nvSpPr>
          <p:cNvPr id="19" name="gate card">
            <a:extLst>
              <a:ext uri="{C183D7F6-B498-43B3-948B-1728B52AA6E4}">
                <adec:decorative xmlns:adec="http://schemas.microsoft.com/office/drawing/2017/decorative" val="1"/>
              </a:ext>
            </a:extLst>
          </p:cNvPr>
          <p:cNvSpPr/>
          <p:nvPr/>
        </p:nvSpPr>
        <p:spPr>
          <a:xfrm>
            <a:off x="6775704" y="1188720"/>
            <a:ext cx="1965960" cy="868680"/>
          </a:xfrm>
          <a:prstGeom prst="rect">
            <a:avLst/>
          </a:prstGeom>
          <a:solidFill>
            <a:srgbClr val="141C19"/>
          </a:solidFill>
          <a:ln w="12700">
            <a:solidFill>
              <a:srgbClr val="2A3A34"/>
            </a:solidFill>
            <a:prstDash val="solid"/>
          </a:ln>
        </p:spPr>
        <p:txBody>
          <a:bodyPr/>
          <a:lstStyle/>
          <a:p>
            <a:endParaRPr lang="en-SE"/>
          </a:p>
        </p:txBody>
      </p:sp>
      <p:sp>
        <p:nvSpPr>
          <p:cNvPr id="20" name="gate number ring">
            <a:extLst>
              <a:ext uri="{C183D7F6-B498-43B3-948B-1728B52AA6E4}">
                <adec:decorative xmlns:adec="http://schemas.microsoft.com/office/drawing/2017/decorative" val="1"/>
              </a:ext>
            </a:extLst>
          </p:cNvPr>
          <p:cNvSpPr/>
          <p:nvPr/>
        </p:nvSpPr>
        <p:spPr>
          <a:xfrm>
            <a:off x="6885432" y="1298448"/>
            <a:ext cx="347472" cy="347472"/>
          </a:xfrm>
          <a:prstGeom prst="ellipse">
            <a:avLst/>
          </a:prstGeom>
          <a:solidFill>
            <a:srgbClr val="1B7A4C"/>
          </a:solidFill>
          <a:ln w="12700">
            <a:solidFill>
              <a:srgbClr val="39FF88"/>
            </a:solidFill>
            <a:prstDash val="solid"/>
          </a:ln>
        </p:spPr>
        <p:txBody>
          <a:bodyPr/>
          <a:lstStyle/>
          <a:p>
            <a:endParaRPr lang="en-SE"/>
          </a:p>
        </p:txBody>
      </p:sp>
      <p:sp>
        <p:nvSpPr>
          <p:cNvPr id="21" name="Text 18"/>
          <p:cNvSpPr/>
          <p:nvPr/>
        </p:nvSpPr>
        <p:spPr>
          <a:xfrm>
            <a:off x="6885432" y="1362456"/>
            <a:ext cx="347472" cy="237744"/>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4</a:t>
            </a:r>
            <a:endParaRPr lang="en-US" sz="1200" dirty="0"/>
          </a:p>
        </p:txBody>
      </p:sp>
      <p:sp>
        <p:nvSpPr>
          <p:cNvPr id="22" name="Text 19"/>
          <p:cNvSpPr/>
          <p:nvPr/>
        </p:nvSpPr>
        <p:spPr>
          <a:xfrm>
            <a:off x="7306056" y="1325880"/>
            <a:ext cx="1325880" cy="59436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Session accepts orders</a:t>
            </a:r>
            <a:endParaRPr lang="en-US" sz="1200" dirty="0"/>
          </a:p>
        </p:txBody>
      </p:sp>
      <p:sp>
        <p:nvSpPr>
          <p:cNvPr id="23" name="gate card">
            <a:extLst>
              <a:ext uri="{C183D7F6-B498-43B3-948B-1728B52AA6E4}">
                <adec:decorative xmlns:adec="http://schemas.microsoft.com/office/drawing/2017/decorative" val="1"/>
              </a:ext>
            </a:extLst>
          </p:cNvPr>
          <p:cNvSpPr/>
          <p:nvPr/>
        </p:nvSpPr>
        <p:spPr>
          <a:xfrm>
            <a:off x="411480" y="2240280"/>
            <a:ext cx="1965960" cy="868680"/>
          </a:xfrm>
          <a:prstGeom prst="rect">
            <a:avLst/>
          </a:prstGeom>
          <a:solidFill>
            <a:srgbClr val="141C19"/>
          </a:solidFill>
          <a:ln w="12700">
            <a:solidFill>
              <a:srgbClr val="2A3A34"/>
            </a:solidFill>
            <a:prstDash val="solid"/>
          </a:ln>
        </p:spPr>
        <p:txBody>
          <a:bodyPr/>
          <a:lstStyle/>
          <a:p>
            <a:endParaRPr lang="en-SE"/>
          </a:p>
        </p:txBody>
      </p:sp>
      <p:sp>
        <p:nvSpPr>
          <p:cNvPr id="24" name="gate number ring">
            <a:extLst>
              <a:ext uri="{C183D7F6-B498-43B3-948B-1728B52AA6E4}">
                <adec:decorative xmlns:adec="http://schemas.microsoft.com/office/drawing/2017/decorative" val="1"/>
              </a:ext>
            </a:extLst>
          </p:cNvPr>
          <p:cNvSpPr/>
          <p:nvPr/>
        </p:nvSpPr>
        <p:spPr>
          <a:xfrm>
            <a:off x="521208" y="2350008"/>
            <a:ext cx="347472" cy="347472"/>
          </a:xfrm>
          <a:prstGeom prst="ellipse">
            <a:avLst/>
          </a:prstGeom>
          <a:solidFill>
            <a:srgbClr val="1B7A4C"/>
          </a:solidFill>
          <a:ln w="12700">
            <a:solidFill>
              <a:srgbClr val="39FF88"/>
            </a:solidFill>
            <a:prstDash val="solid"/>
          </a:ln>
        </p:spPr>
        <p:txBody>
          <a:bodyPr/>
          <a:lstStyle/>
          <a:p>
            <a:endParaRPr lang="en-SE"/>
          </a:p>
        </p:txBody>
      </p:sp>
      <p:sp>
        <p:nvSpPr>
          <p:cNvPr id="25" name="Text 22"/>
          <p:cNvSpPr/>
          <p:nvPr/>
        </p:nvSpPr>
        <p:spPr>
          <a:xfrm>
            <a:off x="521208" y="2414016"/>
            <a:ext cx="347472" cy="237744"/>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5</a:t>
            </a:r>
            <a:endParaRPr lang="en-US" sz="1200" dirty="0"/>
          </a:p>
        </p:txBody>
      </p:sp>
      <p:sp>
        <p:nvSpPr>
          <p:cNvPr id="26" name="Text 23"/>
          <p:cNvSpPr/>
          <p:nvPr/>
        </p:nvSpPr>
        <p:spPr>
          <a:xfrm>
            <a:off x="941832" y="2377440"/>
            <a:ext cx="1325880" cy="59436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ATO / ATC window</a:t>
            </a:r>
            <a:endParaRPr lang="en-US" sz="1200" dirty="0"/>
          </a:p>
        </p:txBody>
      </p:sp>
      <p:sp>
        <p:nvSpPr>
          <p:cNvPr id="27" name="gate card">
            <a:extLst>
              <a:ext uri="{C183D7F6-B498-43B3-948B-1728B52AA6E4}">
                <adec:decorative xmlns:adec="http://schemas.microsoft.com/office/drawing/2017/decorative" val="1"/>
              </a:ext>
            </a:extLst>
          </p:cNvPr>
          <p:cNvSpPr/>
          <p:nvPr/>
        </p:nvSpPr>
        <p:spPr>
          <a:xfrm>
            <a:off x="2532888" y="2240280"/>
            <a:ext cx="1965960" cy="868680"/>
          </a:xfrm>
          <a:prstGeom prst="rect">
            <a:avLst/>
          </a:prstGeom>
          <a:solidFill>
            <a:srgbClr val="141C19"/>
          </a:solidFill>
          <a:ln w="12700">
            <a:solidFill>
              <a:srgbClr val="2A3A34"/>
            </a:solidFill>
            <a:prstDash val="solid"/>
          </a:ln>
        </p:spPr>
        <p:txBody>
          <a:bodyPr/>
          <a:lstStyle/>
          <a:p>
            <a:endParaRPr lang="en-SE"/>
          </a:p>
        </p:txBody>
      </p:sp>
      <p:sp>
        <p:nvSpPr>
          <p:cNvPr id="28" name="gate number ring">
            <a:extLst>
              <a:ext uri="{C183D7F6-B498-43B3-948B-1728B52AA6E4}">
                <adec:decorative xmlns:adec="http://schemas.microsoft.com/office/drawing/2017/decorative" val="1"/>
              </a:ext>
            </a:extLst>
          </p:cNvPr>
          <p:cNvSpPr/>
          <p:nvPr/>
        </p:nvSpPr>
        <p:spPr>
          <a:xfrm>
            <a:off x="2642616" y="2350008"/>
            <a:ext cx="347472" cy="347472"/>
          </a:xfrm>
          <a:prstGeom prst="ellipse">
            <a:avLst/>
          </a:prstGeom>
          <a:solidFill>
            <a:srgbClr val="1B7A4C"/>
          </a:solidFill>
          <a:ln w="12700">
            <a:solidFill>
              <a:srgbClr val="39FF88"/>
            </a:solidFill>
            <a:prstDash val="solid"/>
          </a:ln>
        </p:spPr>
        <p:txBody>
          <a:bodyPr/>
          <a:lstStyle/>
          <a:p>
            <a:endParaRPr lang="en-SE"/>
          </a:p>
        </p:txBody>
      </p:sp>
      <p:sp>
        <p:nvSpPr>
          <p:cNvPr id="29" name="Text 26"/>
          <p:cNvSpPr/>
          <p:nvPr/>
        </p:nvSpPr>
        <p:spPr>
          <a:xfrm>
            <a:off x="2642616" y="2414016"/>
            <a:ext cx="347472" cy="237744"/>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6</a:t>
            </a:r>
            <a:endParaRPr lang="en-US" sz="1200" dirty="0"/>
          </a:p>
        </p:txBody>
      </p:sp>
      <p:sp>
        <p:nvSpPr>
          <p:cNvPr id="30" name="Text 27"/>
          <p:cNvSpPr/>
          <p:nvPr/>
        </p:nvSpPr>
        <p:spPr>
          <a:xfrm>
            <a:off x="3063240" y="2377440"/>
            <a:ext cx="1325880" cy="59436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Symbol halted?</a:t>
            </a:r>
            <a:endParaRPr lang="en-US" sz="1200" dirty="0"/>
          </a:p>
        </p:txBody>
      </p:sp>
      <p:sp>
        <p:nvSpPr>
          <p:cNvPr id="31" name="gate card">
            <a:extLst>
              <a:ext uri="{C183D7F6-B498-43B3-948B-1728B52AA6E4}">
                <adec:decorative xmlns:adec="http://schemas.microsoft.com/office/drawing/2017/decorative" val="1"/>
              </a:ext>
            </a:extLst>
          </p:cNvPr>
          <p:cNvSpPr/>
          <p:nvPr/>
        </p:nvSpPr>
        <p:spPr>
          <a:xfrm>
            <a:off x="4654296" y="2240280"/>
            <a:ext cx="1965960" cy="868680"/>
          </a:xfrm>
          <a:prstGeom prst="rect">
            <a:avLst/>
          </a:prstGeom>
          <a:solidFill>
            <a:srgbClr val="141C19"/>
          </a:solidFill>
          <a:ln w="12700">
            <a:solidFill>
              <a:srgbClr val="2A3A34"/>
            </a:solidFill>
            <a:prstDash val="solid"/>
          </a:ln>
        </p:spPr>
        <p:txBody>
          <a:bodyPr/>
          <a:lstStyle/>
          <a:p>
            <a:endParaRPr lang="en-SE"/>
          </a:p>
        </p:txBody>
      </p:sp>
      <p:sp>
        <p:nvSpPr>
          <p:cNvPr id="32" name="gate number ring">
            <a:extLst>
              <a:ext uri="{C183D7F6-B498-43B3-948B-1728B52AA6E4}">
                <adec:decorative xmlns:adec="http://schemas.microsoft.com/office/drawing/2017/decorative" val="1"/>
              </a:ext>
            </a:extLst>
          </p:cNvPr>
          <p:cNvSpPr/>
          <p:nvPr/>
        </p:nvSpPr>
        <p:spPr>
          <a:xfrm>
            <a:off x="4764024" y="2350008"/>
            <a:ext cx="347472" cy="347472"/>
          </a:xfrm>
          <a:prstGeom prst="ellipse">
            <a:avLst/>
          </a:prstGeom>
          <a:solidFill>
            <a:srgbClr val="1B7A4C"/>
          </a:solidFill>
          <a:ln w="12700">
            <a:solidFill>
              <a:srgbClr val="39FF88"/>
            </a:solidFill>
            <a:prstDash val="solid"/>
          </a:ln>
        </p:spPr>
        <p:txBody>
          <a:bodyPr/>
          <a:lstStyle/>
          <a:p>
            <a:endParaRPr lang="en-SE"/>
          </a:p>
        </p:txBody>
      </p:sp>
      <p:sp>
        <p:nvSpPr>
          <p:cNvPr id="33" name="Text 30"/>
          <p:cNvSpPr/>
          <p:nvPr/>
        </p:nvSpPr>
        <p:spPr>
          <a:xfrm>
            <a:off x="4764024" y="2414016"/>
            <a:ext cx="347472" cy="237744"/>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7</a:t>
            </a:r>
            <a:endParaRPr lang="en-US" sz="1200" dirty="0"/>
          </a:p>
        </p:txBody>
      </p:sp>
      <p:sp>
        <p:nvSpPr>
          <p:cNvPr id="34" name="Text 31"/>
          <p:cNvSpPr/>
          <p:nvPr/>
        </p:nvSpPr>
        <p:spPr>
          <a:xfrm>
            <a:off x="5184648" y="2377440"/>
            <a:ext cx="1325880" cy="59436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Price collar</a:t>
            </a:r>
            <a:endParaRPr lang="en-US" sz="1200" dirty="0"/>
          </a:p>
        </p:txBody>
      </p:sp>
      <p:sp>
        <p:nvSpPr>
          <p:cNvPr id="35" name="gate card">
            <a:extLst>
              <a:ext uri="{C183D7F6-B498-43B3-948B-1728B52AA6E4}">
                <adec:decorative xmlns:adec="http://schemas.microsoft.com/office/drawing/2017/decorative" val="1"/>
              </a:ext>
            </a:extLst>
          </p:cNvPr>
          <p:cNvSpPr/>
          <p:nvPr/>
        </p:nvSpPr>
        <p:spPr>
          <a:xfrm>
            <a:off x="6775704" y="2240280"/>
            <a:ext cx="1965960" cy="868680"/>
          </a:xfrm>
          <a:prstGeom prst="rect">
            <a:avLst/>
          </a:prstGeom>
          <a:solidFill>
            <a:srgbClr val="141C19"/>
          </a:solidFill>
          <a:ln w="12700">
            <a:solidFill>
              <a:srgbClr val="2A3A34"/>
            </a:solidFill>
            <a:prstDash val="solid"/>
          </a:ln>
        </p:spPr>
        <p:txBody>
          <a:bodyPr/>
          <a:lstStyle/>
          <a:p>
            <a:endParaRPr lang="en-SE"/>
          </a:p>
        </p:txBody>
      </p:sp>
      <p:sp>
        <p:nvSpPr>
          <p:cNvPr id="36" name="gate number ring">
            <a:extLst>
              <a:ext uri="{C183D7F6-B498-43B3-948B-1728B52AA6E4}">
                <adec:decorative xmlns:adec="http://schemas.microsoft.com/office/drawing/2017/decorative" val="1"/>
              </a:ext>
            </a:extLst>
          </p:cNvPr>
          <p:cNvSpPr/>
          <p:nvPr/>
        </p:nvSpPr>
        <p:spPr>
          <a:xfrm>
            <a:off x="6885432" y="2350008"/>
            <a:ext cx="347472" cy="347472"/>
          </a:xfrm>
          <a:prstGeom prst="ellipse">
            <a:avLst/>
          </a:prstGeom>
          <a:solidFill>
            <a:srgbClr val="1B7A4C"/>
          </a:solidFill>
          <a:ln w="12700">
            <a:solidFill>
              <a:srgbClr val="39FF88"/>
            </a:solidFill>
            <a:prstDash val="solid"/>
          </a:ln>
        </p:spPr>
        <p:txBody>
          <a:bodyPr/>
          <a:lstStyle/>
          <a:p>
            <a:endParaRPr lang="en-SE"/>
          </a:p>
        </p:txBody>
      </p:sp>
      <p:sp>
        <p:nvSpPr>
          <p:cNvPr id="37" name="Text 34"/>
          <p:cNvSpPr/>
          <p:nvPr/>
        </p:nvSpPr>
        <p:spPr>
          <a:xfrm>
            <a:off x="6885432" y="2414016"/>
            <a:ext cx="347472" cy="237744"/>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8</a:t>
            </a:r>
            <a:endParaRPr lang="en-US" sz="1200" dirty="0"/>
          </a:p>
        </p:txBody>
      </p:sp>
      <p:sp>
        <p:nvSpPr>
          <p:cNvPr id="38" name="Text 35"/>
          <p:cNvSpPr/>
          <p:nvPr/>
        </p:nvSpPr>
        <p:spPr>
          <a:xfrm>
            <a:off x="7306056" y="2377440"/>
            <a:ext cx="1325880" cy="59436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No-match phase</a:t>
            </a:r>
            <a:endParaRPr lang="en-US" sz="1200" dirty="0"/>
          </a:p>
        </p:txBody>
      </p:sp>
      <p:sp>
        <p:nvSpPr>
          <p:cNvPr id="39" name="reject outcome">
            <a:extLst>
              <a:ext uri="{C183D7F6-B498-43B3-948B-1728B52AA6E4}">
                <adec:decorative xmlns:adec="http://schemas.microsoft.com/office/drawing/2017/decorative" val="1"/>
              </a:ext>
            </a:extLst>
          </p:cNvPr>
          <p:cNvSpPr/>
          <p:nvPr/>
        </p:nvSpPr>
        <p:spPr>
          <a:xfrm>
            <a:off x="411480" y="3429000"/>
            <a:ext cx="4114800" cy="640080"/>
          </a:xfrm>
          <a:prstGeom prst="rect">
            <a:avLst/>
          </a:prstGeom>
          <a:solidFill>
            <a:srgbClr val="26100F"/>
          </a:solidFill>
          <a:ln w="12700">
            <a:solidFill>
              <a:srgbClr val="FF5C6C"/>
            </a:solidFill>
            <a:prstDash val="solid"/>
          </a:ln>
        </p:spPr>
        <p:txBody>
          <a:bodyPr/>
          <a:lstStyle/>
          <a:p>
            <a:endParaRPr lang="en-SE"/>
          </a:p>
        </p:txBody>
      </p:sp>
      <p:sp>
        <p:nvSpPr>
          <p:cNvPr id="40" name="Text 37"/>
          <p:cNvSpPr/>
          <p:nvPr/>
        </p:nvSpPr>
        <p:spPr>
          <a:xfrm>
            <a:off x="548640" y="3611880"/>
            <a:ext cx="3840480" cy="274320"/>
          </a:xfrm>
          <a:prstGeom prst="rect">
            <a:avLst/>
          </a:prstGeom>
          <a:noFill/>
          <a:ln/>
        </p:spPr>
        <p:txBody>
          <a:bodyPr wrap="square" lIns="0" tIns="0" rIns="0" bIns="0" rtlCol="0" anchor="ctr"/>
          <a:lstStyle/>
          <a:p>
            <a:pPr marL="0" indent="0">
              <a:buNone/>
            </a:pPr>
            <a:r>
              <a:rPr lang="en-US" sz="1200" b="1" dirty="0">
                <a:solidFill>
                  <a:srgbClr val="FF5C6C"/>
                </a:solidFill>
                <a:latin typeface="Consolas" pitchFamily="34" charset="0"/>
                <a:ea typeface="Consolas" pitchFamily="34" charset="-122"/>
                <a:cs typeface="Consolas" pitchFamily="34" charset="-120"/>
              </a:rPr>
              <a:t>FAIL → _reject(code, reason) → NACK, return</a:t>
            </a:r>
            <a:endParaRPr lang="en-US" sz="1200" dirty="0"/>
          </a:p>
        </p:txBody>
      </p:sp>
      <p:sp>
        <p:nvSpPr>
          <p:cNvPr id="41" name="accept outcome">
            <a:extLst>
              <a:ext uri="{C183D7F6-B498-43B3-948B-1728B52AA6E4}">
                <adec:decorative xmlns:adec="http://schemas.microsoft.com/office/drawing/2017/decorative" val="1"/>
              </a:ext>
            </a:extLst>
          </p:cNvPr>
          <p:cNvSpPr/>
          <p:nvPr/>
        </p:nvSpPr>
        <p:spPr>
          <a:xfrm>
            <a:off x="4617720" y="3429000"/>
            <a:ext cx="4114800" cy="640080"/>
          </a:xfrm>
          <a:prstGeom prst="rect">
            <a:avLst/>
          </a:prstGeom>
          <a:solidFill>
            <a:srgbClr val="0B2418"/>
          </a:solidFill>
          <a:ln w="12700">
            <a:solidFill>
              <a:srgbClr val="39FF88"/>
            </a:solidFill>
            <a:prstDash val="solid"/>
          </a:ln>
        </p:spPr>
        <p:txBody>
          <a:bodyPr/>
          <a:lstStyle/>
          <a:p>
            <a:endParaRPr lang="en-SE"/>
          </a:p>
        </p:txBody>
      </p:sp>
      <p:sp>
        <p:nvSpPr>
          <p:cNvPr id="42" name="Text 39"/>
          <p:cNvSpPr/>
          <p:nvPr/>
        </p:nvSpPr>
        <p:spPr>
          <a:xfrm>
            <a:off x="4754880" y="3611880"/>
            <a:ext cx="384048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ALL PASS → ACK, then book.process(order)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5</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Gates 1–4: identity, symbol, shape, session</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097280"/>
            <a:ext cx="8321040" cy="685800"/>
          </a:xfrm>
          <a:prstGeom prst="rect">
            <a:avLst/>
          </a:prstGeom>
          <a:solidFill>
            <a:srgbClr val="141C19"/>
          </a:solidFill>
          <a:ln w="12700">
            <a:solidFill>
              <a:srgbClr val="2A3A34"/>
            </a:solidFill>
            <a:prstDash val="solid"/>
          </a:ln>
        </p:spPr>
        <p:txBody>
          <a:bodyPr/>
          <a:lstStyle/>
          <a:p>
            <a:endParaRPr lang="en-SE"/>
          </a:p>
        </p:txBody>
      </p:sp>
      <p:sp>
        <p:nvSpPr>
          <p:cNvPr id="8" name="accent bar">
            <a:extLst>
              <a:ext uri="{C183D7F6-B498-43B3-948B-1728B52AA6E4}">
                <adec:decorative xmlns:adec="http://schemas.microsoft.com/office/drawing/2017/decorative" val="1"/>
              </a:ext>
            </a:extLst>
          </p:cNvPr>
          <p:cNvSpPr/>
          <p:nvPr/>
        </p:nvSpPr>
        <p:spPr>
          <a:xfrm>
            <a:off x="411480" y="1097280"/>
            <a:ext cx="54864" cy="685800"/>
          </a:xfrm>
          <a:prstGeom prst="rect">
            <a:avLst/>
          </a:prstGeom>
          <a:solidFill>
            <a:srgbClr val="39FF88"/>
          </a:solidFill>
          <a:ln w="12700">
            <a:solidFill>
              <a:srgbClr val="39FF88"/>
            </a:solidFill>
            <a:prstDash val="solid"/>
          </a:ln>
        </p:spPr>
        <p:txBody>
          <a:bodyPr/>
          <a:lstStyle/>
          <a:p>
            <a:endParaRPr lang="en-SE"/>
          </a:p>
        </p:txBody>
      </p:sp>
      <p:sp>
        <p:nvSpPr>
          <p:cNvPr id="9" name="Text 6"/>
          <p:cNvSpPr/>
          <p:nvPr/>
        </p:nvSpPr>
        <p:spPr>
          <a:xfrm>
            <a:off x="594360" y="1188720"/>
            <a:ext cx="777240" cy="256032"/>
          </a:xfrm>
          <a:prstGeom prst="rect">
            <a:avLst/>
          </a:prstGeom>
          <a:noFill/>
          <a:ln/>
        </p:spPr>
        <p:txBody>
          <a:bodyPr wrap="square" lIns="0" tIns="0" rIns="0" bIns="0" rtlCol="0" anchor="ctr"/>
          <a:lstStyle/>
          <a:p>
            <a:pPr marL="0" indent="0">
              <a:buNone/>
            </a:pPr>
            <a:r>
              <a:rPr lang="en-US" sz="1400" b="1" dirty="0">
                <a:solidFill>
                  <a:srgbClr val="39FF88"/>
                </a:solidFill>
                <a:latin typeface="Consolas" pitchFamily="34" charset="0"/>
                <a:ea typeface="Consolas" pitchFamily="34" charset="-122"/>
                <a:cs typeface="Consolas" pitchFamily="34" charset="-120"/>
              </a:rPr>
              <a:t>GATE 1</a:t>
            </a:r>
            <a:endParaRPr lang="en-US" sz="1400" dirty="0"/>
          </a:p>
        </p:txBody>
      </p:sp>
      <p:sp>
        <p:nvSpPr>
          <p:cNvPr id="10" name="Text 7"/>
          <p:cNvSpPr/>
          <p:nvPr/>
        </p:nvSpPr>
        <p:spPr>
          <a:xfrm>
            <a:off x="1417320" y="1170432"/>
            <a:ext cx="3200400" cy="274320"/>
          </a:xfrm>
          <a:prstGeom prst="rect">
            <a:avLst/>
          </a:prstGeom>
          <a:noFill/>
          <a:ln/>
        </p:spPr>
        <p:txBody>
          <a:bodyPr wrap="square" lIns="0" tIns="0" rIns="0" bIns="0" rtlCol="0" anchor="ctr"/>
          <a:lstStyle/>
          <a:p>
            <a:pPr marL="0" indent="0">
              <a:buNone/>
            </a:pPr>
            <a:r>
              <a:rPr lang="en-US" sz="1400" b="1" dirty="0">
                <a:solidFill>
                  <a:srgbClr val="EAF5F0"/>
                </a:solidFill>
                <a:latin typeface="Segoe UI" pitchFamily="34" charset="0"/>
                <a:ea typeface="Segoe UI" pitchFamily="34" charset="-122"/>
                <a:cs typeface="Segoe UI" pitchFamily="34" charset="-120"/>
              </a:rPr>
              <a:t>Gateway connected &amp; allowed</a:t>
            </a:r>
            <a:endParaRPr lang="en-US" sz="1400" dirty="0"/>
          </a:p>
        </p:txBody>
      </p:sp>
      <p:sp>
        <p:nvSpPr>
          <p:cNvPr id="11" name="Text 8"/>
          <p:cNvSpPr/>
          <p:nvPr/>
        </p:nvSpPr>
        <p:spPr>
          <a:xfrm>
            <a:off x="1417320" y="1444752"/>
            <a:ext cx="3200400" cy="256032"/>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_gateway_status(gateway_id)</a:t>
            </a:r>
            <a:endParaRPr lang="en-US" sz="1000" dirty="0"/>
          </a:p>
        </p:txBody>
      </p:sp>
      <p:sp>
        <p:nvSpPr>
          <p:cNvPr id="12" name="Text 9"/>
          <p:cNvSpPr/>
          <p:nvPr/>
        </p:nvSpPr>
        <p:spPr>
          <a:xfrm>
            <a:off x="4754880" y="1225296"/>
            <a:ext cx="3794760" cy="457200"/>
          </a:xfrm>
          <a:prstGeom prst="rect">
            <a:avLst/>
          </a:prstGeom>
          <a:noFill/>
          <a:ln/>
        </p:spPr>
        <p:txBody>
          <a:bodyPr wrap="square" lIns="0" tIns="0" rIns="0" bIns="0" rtlCol="0" anchor="ctr"/>
          <a:lstStyle/>
          <a:p>
            <a:pPr marL="0" indent="0">
              <a:buNone/>
            </a:pPr>
            <a:r>
              <a:rPr lang="en-US" sz="1050" dirty="0">
                <a:solidFill>
                  <a:srgbClr val="FF5C6C"/>
                </a:solidFill>
                <a:latin typeface="Consolas" pitchFamily="34" charset="0"/>
                <a:ea typeface="Consolas" pitchFamily="34" charset="-122"/>
                <a:cs typeface="Consolas" pitchFamily="34" charset="-120"/>
              </a:rPr>
              <a:t>GATEWAY_NOT_CONFIGURED · AUTH_REQUIRED</a:t>
            </a:r>
            <a:endParaRPr lang="en-US" sz="1050" dirty="0"/>
          </a:p>
        </p:txBody>
      </p:sp>
      <p:sp>
        <p:nvSpPr>
          <p:cNvPr id="13" name="panel">
            <a:extLst>
              <a:ext uri="{C183D7F6-B498-43B3-948B-1728B52AA6E4}">
                <adec:decorative xmlns:adec="http://schemas.microsoft.com/office/drawing/2017/decorative" val="1"/>
              </a:ext>
            </a:extLst>
          </p:cNvPr>
          <p:cNvSpPr/>
          <p:nvPr/>
        </p:nvSpPr>
        <p:spPr>
          <a:xfrm>
            <a:off x="411480" y="1874520"/>
            <a:ext cx="8321040" cy="685800"/>
          </a:xfrm>
          <a:prstGeom prst="rect">
            <a:avLst/>
          </a:prstGeom>
          <a:solidFill>
            <a:srgbClr val="141C19"/>
          </a:solidFill>
          <a:ln w="12700">
            <a:solidFill>
              <a:srgbClr val="2A3A34"/>
            </a:solidFill>
            <a:prstDash val="solid"/>
          </a:ln>
        </p:spPr>
        <p:txBody>
          <a:bodyPr/>
          <a:lstStyle/>
          <a:p>
            <a:endParaRPr lang="en-SE"/>
          </a:p>
        </p:txBody>
      </p:sp>
      <p:sp>
        <p:nvSpPr>
          <p:cNvPr id="14" name="accent bar">
            <a:extLst>
              <a:ext uri="{C183D7F6-B498-43B3-948B-1728B52AA6E4}">
                <adec:decorative xmlns:adec="http://schemas.microsoft.com/office/drawing/2017/decorative" val="1"/>
              </a:ext>
            </a:extLst>
          </p:cNvPr>
          <p:cNvSpPr/>
          <p:nvPr/>
        </p:nvSpPr>
        <p:spPr>
          <a:xfrm>
            <a:off x="411480" y="1874520"/>
            <a:ext cx="54864" cy="685800"/>
          </a:xfrm>
          <a:prstGeom prst="rect">
            <a:avLst/>
          </a:prstGeom>
          <a:solidFill>
            <a:srgbClr val="39FF88"/>
          </a:solidFill>
          <a:ln w="12700">
            <a:solidFill>
              <a:srgbClr val="39FF88"/>
            </a:solidFill>
            <a:prstDash val="solid"/>
          </a:ln>
        </p:spPr>
        <p:txBody>
          <a:bodyPr/>
          <a:lstStyle/>
          <a:p>
            <a:endParaRPr lang="en-SE"/>
          </a:p>
        </p:txBody>
      </p:sp>
      <p:sp>
        <p:nvSpPr>
          <p:cNvPr id="15" name="Text 12"/>
          <p:cNvSpPr/>
          <p:nvPr/>
        </p:nvSpPr>
        <p:spPr>
          <a:xfrm>
            <a:off x="594360" y="1965960"/>
            <a:ext cx="777240" cy="256032"/>
          </a:xfrm>
          <a:prstGeom prst="rect">
            <a:avLst/>
          </a:prstGeom>
          <a:noFill/>
          <a:ln/>
        </p:spPr>
        <p:txBody>
          <a:bodyPr wrap="square" lIns="0" tIns="0" rIns="0" bIns="0" rtlCol="0" anchor="ctr"/>
          <a:lstStyle/>
          <a:p>
            <a:pPr marL="0" indent="0">
              <a:buNone/>
            </a:pPr>
            <a:r>
              <a:rPr lang="en-US" sz="1400" b="1" dirty="0">
                <a:solidFill>
                  <a:srgbClr val="39FF88"/>
                </a:solidFill>
                <a:latin typeface="Consolas" pitchFamily="34" charset="0"/>
                <a:ea typeface="Consolas" pitchFamily="34" charset="-122"/>
                <a:cs typeface="Consolas" pitchFamily="34" charset="-120"/>
              </a:rPr>
              <a:t>GATE 2</a:t>
            </a:r>
            <a:endParaRPr lang="en-US" sz="1400" dirty="0"/>
          </a:p>
        </p:txBody>
      </p:sp>
      <p:sp>
        <p:nvSpPr>
          <p:cNvPr id="16" name="Text 13"/>
          <p:cNvSpPr/>
          <p:nvPr/>
        </p:nvSpPr>
        <p:spPr>
          <a:xfrm>
            <a:off x="1417320" y="1947672"/>
            <a:ext cx="3200400" cy="274320"/>
          </a:xfrm>
          <a:prstGeom prst="rect">
            <a:avLst/>
          </a:prstGeom>
          <a:noFill/>
          <a:ln/>
        </p:spPr>
        <p:txBody>
          <a:bodyPr wrap="square" lIns="0" tIns="0" rIns="0" bIns="0" rtlCol="0" anchor="ctr"/>
          <a:lstStyle/>
          <a:p>
            <a:pPr marL="0" indent="0">
              <a:buNone/>
            </a:pPr>
            <a:r>
              <a:rPr lang="en-US" sz="1400" b="1" dirty="0">
                <a:solidFill>
                  <a:srgbClr val="EAF5F0"/>
                </a:solidFill>
                <a:latin typeface="Segoe UI" pitchFamily="34" charset="0"/>
                <a:ea typeface="Segoe UI" pitchFamily="34" charset="-122"/>
                <a:cs typeface="Segoe UI" pitchFamily="34" charset="-120"/>
              </a:rPr>
              <a:t>Symbol in the allowlist</a:t>
            </a:r>
            <a:endParaRPr lang="en-US" sz="1400" dirty="0"/>
          </a:p>
        </p:txBody>
      </p:sp>
      <p:sp>
        <p:nvSpPr>
          <p:cNvPr id="17" name="Text 14"/>
          <p:cNvSpPr/>
          <p:nvPr/>
        </p:nvSpPr>
        <p:spPr>
          <a:xfrm>
            <a:off x="1417320" y="2221992"/>
            <a:ext cx="3200400" cy="256032"/>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order.symbol in self._allowed_symbols</a:t>
            </a:r>
            <a:endParaRPr lang="en-US" sz="1000" dirty="0"/>
          </a:p>
        </p:txBody>
      </p:sp>
      <p:sp>
        <p:nvSpPr>
          <p:cNvPr id="18" name="Text 15"/>
          <p:cNvSpPr/>
          <p:nvPr/>
        </p:nvSpPr>
        <p:spPr>
          <a:xfrm>
            <a:off x="4754880" y="2002536"/>
            <a:ext cx="3794760" cy="457200"/>
          </a:xfrm>
          <a:prstGeom prst="rect">
            <a:avLst/>
          </a:prstGeom>
          <a:noFill/>
          <a:ln/>
        </p:spPr>
        <p:txBody>
          <a:bodyPr wrap="square" lIns="0" tIns="0" rIns="0" bIns="0" rtlCol="0" anchor="ctr"/>
          <a:lstStyle/>
          <a:p>
            <a:pPr marL="0" indent="0">
              <a:buNone/>
            </a:pPr>
            <a:r>
              <a:rPr lang="en-US" sz="1050" dirty="0">
                <a:solidFill>
                  <a:srgbClr val="FF5C6C"/>
                </a:solidFill>
                <a:latin typeface="Consolas" pitchFamily="34" charset="0"/>
                <a:ea typeface="Consolas" pitchFamily="34" charset="-122"/>
                <a:cs typeface="Consolas" pitchFamily="34" charset="-120"/>
              </a:rPr>
              <a:t>UNKNOWN_SYMBOL</a:t>
            </a:r>
            <a:endParaRPr lang="en-US" sz="1050" dirty="0"/>
          </a:p>
        </p:txBody>
      </p:sp>
      <p:sp>
        <p:nvSpPr>
          <p:cNvPr id="19" name="panel">
            <a:extLst>
              <a:ext uri="{C183D7F6-B498-43B3-948B-1728B52AA6E4}">
                <adec:decorative xmlns:adec="http://schemas.microsoft.com/office/drawing/2017/decorative" val="1"/>
              </a:ext>
            </a:extLst>
          </p:cNvPr>
          <p:cNvSpPr/>
          <p:nvPr/>
        </p:nvSpPr>
        <p:spPr>
          <a:xfrm>
            <a:off x="411480" y="2651760"/>
            <a:ext cx="8321040" cy="685800"/>
          </a:xfrm>
          <a:prstGeom prst="rect">
            <a:avLst/>
          </a:prstGeom>
          <a:solidFill>
            <a:srgbClr val="141C19"/>
          </a:solidFill>
          <a:ln w="12700">
            <a:solidFill>
              <a:srgbClr val="2A3A34"/>
            </a:solidFill>
            <a:prstDash val="solid"/>
          </a:ln>
        </p:spPr>
        <p:txBody>
          <a:bodyPr/>
          <a:lstStyle/>
          <a:p>
            <a:endParaRPr lang="en-SE"/>
          </a:p>
        </p:txBody>
      </p:sp>
      <p:sp>
        <p:nvSpPr>
          <p:cNvPr id="20" name="accent bar">
            <a:extLst>
              <a:ext uri="{C183D7F6-B498-43B3-948B-1728B52AA6E4}">
                <adec:decorative xmlns:adec="http://schemas.microsoft.com/office/drawing/2017/decorative" val="1"/>
              </a:ext>
            </a:extLst>
          </p:cNvPr>
          <p:cNvSpPr/>
          <p:nvPr/>
        </p:nvSpPr>
        <p:spPr>
          <a:xfrm>
            <a:off x="411480" y="2651760"/>
            <a:ext cx="54864" cy="685800"/>
          </a:xfrm>
          <a:prstGeom prst="rect">
            <a:avLst/>
          </a:prstGeom>
          <a:solidFill>
            <a:srgbClr val="39FF88"/>
          </a:solidFill>
          <a:ln w="12700">
            <a:solidFill>
              <a:srgbClr val="39FF88"/>
            </a:solidFill>
            <a:prstDash val="solid"/>
          </a:ln>
        </p:spPr>
        <p:txBody>
          <a:bodyPr/>
          <a:lstStyle/>
          <a:p>
            <a:endParaRPr lang="en-SE"/>
          </a:p>
        </p:txBody>
      </p:sp>
      <p:sp>
        <p:nvSpPr>
          <p:cNvPr id="21" name="Text 18"/>
          <p:cNvSpPr/>
          <p:nvPr/>
        </p:nvSpPr>
        <p:spPr>
          <a:xfrm>
            <a:off x="594360" y="2743200"/>
            <a:ext cx="777240" cy="256032"/>
          </a:xfrm>
          <a:prstGeom prst="rect">
            <a:avLst/>
          </a:prstGeom>
          <a:noFill/>
          <a:ln/>
        </p:spPr>
        <p:txBody>
          <a:bodyPr wrap="square" lIns="0" tIns="0" rIns="0" bIns="0" rtlCol="0" anchor="ctr"/>
          <a:lstStyle/>
          <a:p>
            <a:pPr marL="0" indent="0">
              <a:buNone/>
            </a:pPr>
            <a:r>
              <a:rPr lang="en-US" sz="1400" b="1" dirty="0">
                <a:solidFill>
                  <a:srgbClr val="39FF88"/>
                </a:solidFill>
                <a:latin typeface="Consolas" pitchFamily="34" charset="0"/>
                <a:ea typeface="Consolas" pitchFamily="34" charset="-122"/>
                <a:cs typeface="Consolas" pitchFamily="34" charset="-120"/>
              </a:rPr>
              <a:t>GATE 3</a:t>
            </a:r>
            <a:endParaRPr lang="en-US" sz="1400" dirty="0"/>
          </a:p>
        </p:txBody>
      </p:sp>
      <p:sp>
        <p:nvSpPr>
          <p:cNvPr id="22" name="Text 19"/>
          <p:cNvSpPr/>
          <p:nvPr/>
        </p:nvSpPr>
        <p:spPr>
          <a:xfrm>
            <a:off x="1417320" y="2724912"/>
            <a:ext cx="3200400" cy="274320"/>
          </a:xfrm>
          <a:prstGeom prst="rect">
            <a:avLst/>
          </a:prstGeom>
          <a:noFill/>
          <a:ln/>
        </p:spPr>
        <p:txBody>
          <a:bodyPr wrap="square" lIns="0" tIns="0" rIns="0" bIns="0" rtlCol="0" anchor="ctr"/>
          <a:lstStyle/>
          <a:p>
            <a:pPr marL="0" indent="0">
              <a:buNone/>
            </a:pPr>
            <a:r>
              <a:rPr lang="en-US" sz="1400" b="1" dirty="0">
                <a:solidFill>
                  <a:srgbClr val="EAF5F0"/>
                </a:solidFill>
                <a:latin typeface="Segoe UI" pitchFamily="34" charset="0"/>
                <a:ea typeface="Segoe UI" pitchFamily="34" charset="-122"/>
                <a:cs typeface="Segoe UI" pitchFamily="34" charset="-120"/>
              </a:rPr>
              <a:t>Boundary validation, before any ACK</a:t>
            </a:r>
            <a:endParaRPr lang="en-US" sz="1400" dirty="0"/>
          </a:p>
        </p:txBody>
      </p:sp>
      <p:sp>
        <p:nvSpPr>
          <p:cNvPr id="23" name="Text 20"/>
          <p:cNvSpPr/>
          <p:nvPr/>
        </p:nvSpPr>
        <p:spPr>
          <a:xfrm>
            <a:off x="1417320" y="2999232"/>
            <a:ext cx="3200400" cy="256032"/>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_validate_new_order(order)</a:t>
            </a:r>
            <a:endParaRPr lang="en-US" sz="1000" dirty="0"/>
          </a:p>
        </p:txBody>
      </p:sp>
      <p:sp>
        <p:nvSpPr>
          <p:cNvPr id="24" name="Text 21"/>
          <p:cNvSpPr/>
          <p:nvPr/>
        </p:nvSpPr>
        <p:spPr>
          <a:xfrm>
            <a:off x="4754880" y="2779776"/>
            <a:ext cx="3794760" cy="457200"/>
          </a:xfrm>
          <a:prstGeom prst="rect">
            <a:avLst/>
          </a:prstGeom>
          <a:noFill/>
          <a:ln/>
        </p:spPr>
        <p:txBody>
          <a:bodyPr wrap="square" lIns="0" tIns="0" rIns="0" bIns="0" rtlCol="0" anchor="ctr"/>
          <a:lstStyle/>
          <a:p>
            <a:pPr marL="0" indent="0">
              <a:buNone/>
            </a:pPr>
            <a:r>
              <a:rPr lang="en-US" sz="1050" dirty="0">
                <a:solidFill>
                  <a:srgbClr val="FF5C6C"/>
                </a:solidFill>
                <a:latin typeface="Consolas" pitchFamily="34" charset="0"/>
                <a:ea typeface="Consolas" pitchFamily="34" charset="-122"/>
                <a:cs typeface="Consolas" pitchFamily="34" charset="-120"/>
              </a:rPr>
              <a:t>DUPLICATE_ORDER · QTY_OUT_OF_RANGE · PRICE_OUT_OF_RANGE · MISSING_FIELD</a:t>
            </a:r>
            <a:endParaRPr lang="en-US" sz="1050" dirty="0"/>
          </a:p>
        </p:txBody>
      </p:sp>
      <p:sp>
        <p:nvSpPr>
          <p:cNvPr id="25" name="panel">
            <a:extLst>
              <a:ext uri="{C183D7F6-B498-43B3-948B-1728B52AA6E4}">
                <adec:decorative xmlns:adec="http://schemas.microsoft.com/office/drawing/2017/decorative" val="1"/>
              </a:ext>
            </a:extLst>
          </p:cNvPr>
          <p:cNvSpPr/>
          <p:nvPr/>
        </p:nvSpPr>
        <p:spPr>
          <a:xfrm>
            <a:off x="411480" y="3429000"/>
            <a:ext cx="8321040" cy="685800"/>
          </a:xfrm>
          <a:prstGeom prst="rect">
            <a:avLst/>
          </a:prstGeom>
          <a:solidFill>
            <a:srgbClr val="141C19"/>
          </a:solidFill>
          <a:ln w="12700">
            <a:solidFill>
              <a:srgbClr val="2A3A34"/>
            </a:solidFill>
            <a:prstDash val="solid"/>
          </a:ln>
        </p:spPr>
        <p:txBody>
          <a:bodyPr/>
          <a:lstStyle/>
          <a:p>
            <a:endParaRPr lang="en-SE"/>
          </a:p>
        </p:txBody>
      </p:sp>
      <p:sp>
        <p:nvSpPr>
          <p:cNvPr id="26" name="accent bar">
            <a:extLst>
              <a:ext uri="{C183D7F6-B498-43B3-948B-1728B52AA6E4}">
                <adec:decorative xmlns:adec="http://schemas.microsoft.com/office/drawing/2017/decorative" val="1"/>
              </a:ext>
            </a:extLst>
          </p:cNvPr>
          <p:cNvSpPr/>
          <p:nvPr/>
        </p:nvSpPr>
        <p:spPr>
          <a:xfrm>
            <a:off x="411480" y="3429000"/>
            <a:ext cx="54864" cy="685800"/>
          </a:xfrm>
          <a:prstGeom prst="rect">
            <a:avLst/>
          </a:prstGeom>
          <a:solidFill>
            <a:srgbClr val="39FF88"/>
          </a:solidFill>
          <a:ln w="12700">
            <a:solidFill>
              <a:srgbClr val="39FF88"/>
            </a:solidFill>
            <a:prstDash val="solid"/>
          </a:ln>
        </p:spPr>
        <p:txBody>
          <a:bodyPr/>
          <a:lstStyle/>
          <a:p>
            <a:endParaRPr lang="en-SE"/>
          </a:p>
        </p:txBody>
      </p:sp>
      <p:sp>
        <p:nvSpPr>
          <p:cNvPr id="27" name="Text 24"/>
          <p:cNvSpPr/>
          <p:nvPr/>
        </p:nvSpPr>
        <p:spPr>
          <a:xfrm>
            <a:off x="594360" y="3520440"/>
            <a:ext cx="777240" cy="256032"/>
          </a:xfrm>
          <a:prstGeom prst="rect">
            <a:avLst/>
          </a:prstGeom>
          <a:noFill/>
          <a:ln/>
        </p:spPr>
        <p:txBody>
          <a:bodyPr wrap="square" lIns="0" tIns="0" rIns="0" bIns="0" rtlCol="0" anchor="ctr"/>
          <a:lstStyle/>
          <a:p>
            <a:pPr marL="0" indent="0">
              <a:buNone/>
            </a:pPr>
            <a:r>
              <a:rPr lang="en-US" sz="1400" b="1" dirty="0">
                <a:solidFill>
                  <a:srgbClr val="39FF88"/>
                </a:solidFill>
                <a:latin typeface="Consolas" pitchFamily="34" charset="0"/>
                <a:ea typeface="Consolas" pitchFamily="34" charset="-122"/>
                <a:cs typeface="Consolas" pitchFamily="34" charset="-120"/>
              </a:rPr>
              <a:t>GATE 4</a:t>
            </a:r>
            <a:endParaRPr lang="en-US" sz="1400" dirty="0"/>
          </a:p>
        </p:txBody>
      </p:sp>
      <p:sp>
        <p:nvSpPr>
          <p:cNvPr id="28" name="Text 25"/>
          <p:cNvSpPr/>
          <p:nvPr/>
        </p:nvSpPr>
        <p:spPr>
          <a:xfrm>
            <a:off x="1417320" y="3502152"/>
            <a:ext cx="3200400" cy="274320"/>
          </a:xfrm>
          <a:prstGeom prst="rect">
            <a:avLst/>
          </a:prstGeom>
          <a:noFill/>
          <a:ln/>
        </p:spPr>
        <p:txBody>
          <a:bodyPr wrap="square" lIns="0" tIns="0" rIns="0" bIns="0" rtlCol="0" anchor="ctr"/>
          <a:lstStyle/>
          <a:p>
            <a:pPr marL="0" indent="0">
              <a:buNone/>
            </a:pPr>
            <a:r>
              <a:rPr lang="en-US" sz="1400" b="1" dirty="0">
                <a:solidFill>
                  <a:srgbClr val="EAF5F0"/>
                </a:solidFill>
                <a:latin typeface="Segoe UI" pitchFamily="34" charset="0"/>
                <a:ea typeface="Segoe UI" pitchFamily="34" charset="-122"/>
                <a:cs typeface="Segoe UI" pitchFamily="34" charset="-120"/>
              </a:rPr>
              <a:t>Session accepts orders right now</a:t>
            </a:r>
            <a:endParaRPr lang="en-US" sz="1400" dirty="0"/>
          </a:p>
        </p:txBody>
      </p:sp>
      <p:sp>
        <p:nvSpPr>
          <p:cNvPr id="29" name="Text 26"/>
          <p:cNvSpPr/>
          <p:nvPr/>
        </p:nvSpPr>
        <p:spPr>
          <a:xfrm>
            <a:off x="1417320" y="3776472"/>
            <a:ext cx="3200400" cy="256032"/>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accepts_orders(self._session_state)</a:t>
            </a:r>
            <a:endParaRPr lang="en-US" sz="1000" dirty="0"/>
          </a:p>
        </p:txBody>
      </p:sp>
      <p:sp>
        <p:nvSpPr>
          <p:cNvPr id="30" name="Text 27"/>
          <p:cNvSpPr/>
          <p:nvPr/>
        </p:nvSpPr>
        <p:spPr>
          <a:xfrm>
            <a:off x="4754880" y="3557016"/>
            <a:ext cx="3794760" cy="457200"/>
          </a:xfrm>
          <a:prstGeom prst="rect">
            <a:avLst/>
          </a:prstGeom>
          <a:noFill/>
          <a:ln/>
        </p:spPr>
        <p:txBody>
          <a:bodyPr wrap="square" lIns="0" tIns="0" rIns="0" bIns="0" rtlCol="0" anchor="ctr"/>
          <a:lstStyle/>
          <a:p>
            <a:pPr marL="0" indent="0">
              <a:buNone/>
            </a:pPr>
            <a:r>
              <a:rPr lang="en-US" sz="1050" dirty="0">
                <a:solidFill>
                  <a:srgbClr val="FF5C6C"/>
                </a:solidFill>
                <a:latin typeface="Consolas" pitchFamily="34" charset="0"/>
                <a:ea typeface="Consolas" pitchFamily="34" charset="-122"/>
                <a:cs typeface="Consolas" pitchFamily="34" charset="-120"/>
              </a:rPr>
              <a:t>MARKET_CLOSED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5</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Gates 5–8: timing, halts, collars, matching</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097280"/>
            <a:ext cx="4069080" cy="1371600"/>
          </a:xfrm>
          <a:prstGeom prst="rect">
            <a:avLst/>
          </a:prstGeom>
          <a:solidFill>
            <a:srgbClr val="141C19"/>
          </a:solidFill>
          <a:ln w="12700">
            <a:solidFill>
              <a:srgbClr val="2A3A34"/>
            </a:solidFill>
            <a:prstDash val="solid"/>
          </a:ln>
        </p:spPr>
        <p:txBody>
          <a:bodyPr/>
          <a:lstStyle/>
          <a:p>
            <a:endParaRPr lang="en-SE"/>
          </a:p>
        </p:txBody>
      </p:sp>
      <p:sp>
        <p:nvSpPr>
          <p:cNvPr id="8" name="accent bar">
            <a:extLst>
              <a:ext uri="{C183D7F6-B498-43B3-948B-1728B52AA6E4}">
                <adec:decorative xmlns:adec="http://schemas.microsoft.com/office/drawing/2017/decorative" val="1"/>
              </a:ext>
            </a:extLst>
          </p:cNvPr>
          <p:cNvSpPr/>
          <p:nvPr/>
        </p:nvSpPr>
        <p:spPr>
          <a:xfrm>
            <a:off x="411480" y="1097280"/>
            <a:ext cx="54864" cy="1371600"/>
          </a:xfrm>
          <a:prstGeom prst="rect">
            <a:avLst/>
          </a:prstGeom>
          <a:solidFill>
            <a:srgbClr val="FFC24B"/>
          </a:solidFill>
          <a:ln w="12700">
            <a:solidFill>
              <a:srgbClr val="FFC24B"/>
            </a:solidFill>
            <a:prstDash val="solid"/>
          </a:ln>
        </p:spPr>
        <p:txBody>
          <a:bodyPr/>
          <a:lstStyle/>
          <a:p>
            <a:endParaRPr lang="en-SE"/>
          </a:p>
        </p:txBody>
      </p:sp>
      <p:sp>
        <p:nvSpPr>
          <p:cNvPr id="9" name="Text 6"/>
          <p:cNvSpPr/>
          <p:nvPr/>
        </p:nvSpPr>
        <p:spPr>
          <a:xfrm>
            <a:off x="594360" y="1207008"/>
            <a:ext cx="914400" cy="256032"/>
          </a:xfrm>
          <a:prstGeom prst="rect">
            <a:avLst/>
          </a:prstGeom>
          <a:noFill/>
          <a:ln/>
        </p:spPr>
        <p:txBody>
          <a:bodyPr wrap="square" lIns="0" tIns="0" rIns="0" bIns="0" rtlCol="0" anchor="ctr"/>
          <a:lstStyle/>
          <a:p>
            <a:pPr marL="0" indent="0">
              <a:buNone/>
            </a:pPr>
            <a:r>
              <a:rPr lang="en-US" sz="1400" b="1" dirty="0">
                <a:solidFill>
                  <a:srgbClr val="FFC24B"/>
                </a:solidFill>
                <a:latin typeface="Consolas" pitchFamily="34" charset="0"/>
                <a:ea typeface="Consolas" pitchFamily="34" charset="-122"/>
                <a:cs typeface="Consolas" pitchFamily="34" charset="-120"/>
              </a:rPr>
              <a:t>GATE 5</a:t>
            </a:r>
            <a:endParaRPr lang="en-US" sz="1400" dirty="0"/>
          </a:p>
        </p:txBody>
      </p:sp>
      <p:sp>
        <p:nvSpPr>
          <p:cNvPr id="10" name="Text 7"/>
          <p:cNvSpPr/>
          <p:nvPr/>
        </p:nvSpPr>
        <p:spPr>
          <a:xfrm>
            <a:off x="1508760" y="1188720"/>
            <a:ext cx="283464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ATO / ATC window</a:t>
            </a:r>
            <a:endParaRPr lang="en-US" sz="1300" dirty="0"/>
          </a:p>
        </p:txBody>
      </p:sp>
      <p:sp>
        <p:nvSpPr>
          <p:cNvPr id="11" name="Text 8"/>
          <p:cNvSpPr/>
          <p:nvPr/>
        </p:nvSpPr>
        <p:spPr>
          <a:xfrm>
            <a:off x="594360" y="1536192"/>
            <a:ext cx="3749040" cy="54864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TIF=ATO outside OPENING_AUCTION, or TIF=ATC outside CLOSING_AUCTION</a:t>
            </a:r>
            <a:endParaRPr lang="en-US" sz="1100" dirty="0"/>
          </a:p>
        </p:txBody>
      </p:sp>
      <p:sp>
        <p:nvSpPr>
          <p:cNvPr id="12" name="Text 9"/>
          <p:cNvSpPr/>
          <p:nvPr/>
        </p:nvSpPr>
        <p:spPr>
          <a:xfrm>
            <a:off x="594360" y="2130552"/>
            <a:ext cx="3749040" cy="256032"/>
          </a:xfrm>
          <a:prstGeom prst="rect">
            <a:avLst/>
          </a:prstGeom>
          <a:noFill/>
          <a:ln/>
        </p:spPr>
        <p:txBody>
          <a:bodyPr wrap="square" lIns="0" tIns="0" rIns="0" bIns="0" rtlCol="0" anchor="ctr"/>
          <a:lstStyle/>
          <a:p>
            <a:pPr marL="0" indent="0">
              <a:buNone/>
            </a:pPr>
            <a:r>
              <a:rPr lang="en-US" sz="1050" dirty="0">
                <a:solidFill>
                  <a:srgbClr val="FF5C6C"/>
                </a:solidFill>
                <a:latin typeface="Consolas" pitchFamily="34" charset="0"/>
                <a:ea typeface="Consolas" pitchFamily="34" charset="-122"/>
                <a:cs typeface="Consolas" pitchFamily="34" charset="-120"/>
              </a:rPr>
              <a:t>SESSION_NOT_PERMITTED</a:t>
            </a:r>
            <a:endParaRPr lang="en-US" sz="1050" dirty="0"/>
          </a:p>
        </p:txBody>
      </p:sp>
      <p:sp>
        <p:nvSpPr>
          <p:cNvPr id="13" name="panel">
            <a:extLst>
              <a:ext uri="{C183D7F6-B498-43B3-948B-1728B52AA6E4}">
                <adec:decorative xmlns:adec="http://schemas.microsoft.com/office/drawing/2017/decorative" val="1"/>
              </a:ext>
            </a:extLst>
          </p:cNvPr>
          <p:cNvSpPr/>
          <p:nvPr/>
        </p:nvSpPr>
        <p:spPr>
          <a:xfrm>
            <a:off x="4663440" y="1097280"/>
            <a:ext cx="4069080" cy="1371600"/>
          </a:xfrm>
          <a:prstGeom prst="rect">
            <a:avLst/>
          </a:prstGeom>
          <a:solidFill>
            <a:srgbClr val="141C19"/>
          </a:solidFill>
          <a:ln w="12700">
            <a:solidFill>
              <a:srgbClr val="2A3A34"/>
            </a:solidFill>
            <a:prstDash val="solid"/>
          </a:ln>
        </p:spPr>
        <p:txBody>
          <a:bodyPr/>
          <a:lstStyle/>
          <a:p>
            <a:endParaRPr lang="en-SE"/>
          </a:p>
        </p:txBody>
      </p:sp>
      <p:sp>
        <p:nvSpPr>
          <p:cNvPr id="14" name="accent bar">
            <a:extLst>
              <a:ext uri="{C183D7F6-B498-43B3-948B-1728B52AA6E4}">
                <adec:decorative xmlns:adec="http://schemas.microsoft.com/office/drawing/2017/decorative" val="1"/>
              </a:ext>
            </a:extLst>
          </p:cNvPr>
          <p:cNvSpPr/>
          <p:nvPr/>
        </p:nvSpPr>
        <p:spPr>
          <a:xfrm>
            <a:off x="4663440" y="1097280"/>
            <a:ext cx="54864" cy="1371600"/>
          </a:xfrm>
          <a:prstGeom prst="rect">
            <a:avLst/>
          </a:prstGeom>
          <a:solidFill>
            <a:srgbClr val="FFC24B"/>
          </a:solidFill>
          <a:ln w="12700">
            <a:solidFill>
              <a:srgbClr val="FFC24B"/>
            </a:solidFill>
            <a:prstDash val="solid"/>
          </a:ln>
        </p:spPr>
        <p:txBody>
          <a:bodyPr/>
          <a:lstStyle/>
          <a:p>
            <a:endParaRPr lang="en-SE"/>
          </a:p>
        </p:txBody>
      </p:sp>
      <p:sp>
        <p:nvSpPr>
          <p:cNvPr id="15" name="Text 12"/>
          <p:cNvSpPr/>
          <p:nvPr/>
        </p:nvSpPr>
        <p:spPr>
          <a:xfrm>
            <a:off x="4846320" y="1207008"/>
            <a:ext cx="914400" cy="256032"/>
          </a:xfrm>
          <a:prstGeom prst="rect">
            <a:avLst/>
          </a:prstGeom>
          <a:noFill/>
          <a:ln/>
        </p:spPr>
        <p:txBody>
          <a:bodyPr wrap="square" lIns="0" tIns="0" rIns="0" bIns="0" rtlCol="0" anchor="ctr"/>
          <a:lstStyle/>
          <a:p>
            <a:pPr marL="0" indent="0">
              <a:buNone/>
            </a:pPr>
            <a:r>
              <a:rPr lang="en-US" sz="1400" b="1" dirty="0">
                <a:solidFill>
                  <a:srgbClr val="FFC24B"/>
                </a:solidFill>
                <a:latin typeface="Consolas" pitchFamily="34" charset="0"/>
                <a:ea typeface="Consolas" pitchFamily="34" charset="-122"/>
                <a:cs typeface="Consolas" pitchFamily="34" charset="-120"/>
              </a:rPr>
              <a:t>GATE 6</a:t>
            </a:r>
            <a:endParaRPr lang="en-US" sz="1400" dirty="0"/>
          </a:p>
        </p:txBody>
      </p:sp>
      <p:sp>
        <p:nvSpPr>
          <p:cNvPr id="16" name="Text 13"/>
          <p:cNvSpPr/>
          <p:nvPr/>
        </p:nvSpPr>
        <p:spPr>
          <a:xfrm>
            <a:off x="5760720" y="1188720"/>
            <a:ext cx="283464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Symbol halted</a:t>
            </a:r>
            <a:endParaRPr lang="en-US" sz="1300" dirty="0"/>
          </a:p>
        </p:txBody>
      </p:sp>
      <p:sp>
        <p:nvSpPr>
          <p:cNvPr id="17" name="Text 14"/>
          <p:cNvSpPr/>
          <p:nvPr/>
        </p:nvSpPr>
        <p:spPr>
          <a:xfrm>
            <a:off x="4846320" y="1536192"/>
            <a:ext cx="3749040" cy="54864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MARKET/FOK/IOC rejected. LIMIT &amp; ICEBERG continue with do_match = False</a:t>
            </a:r>
            <a:endParaRPr lang="en-US" sz="1100" dirty="0"/>
          </a:p>
        </p:txBody>
      </p:sp>
      <p:sp>
        <p:nvSpPr>
          <p:cNvPr id="18" name="Text 15"/>
          <p:cNvSpPr/>
          <p:nvPr/>
        </p:nvSpPr>
        <p:spPr>
          <a:xfrm>
            <a:off x="4846320" y="2130552"/>
            <a:ext cx="3749040" cy="256032"/>
          </a:xfrm>
          <a:prstGeom prst="rect">
            <a:avLst/>
          </a:prstGeom>
          <a:noFill/>
          <a:ln/>
        </p:spPr>
        <p:txBody>
          <a:bodyPr wrap="square" lIns="0" tIns="0" rIns="0" bIns="0" rtlCol="0" anchor="ctr"/>
          <a:lstStyle/>
          <a:p>
            <a:pPr marL="0" indent="0">
              <a:buNone/>
            </a:pPr>
            <a:r>
              <a:rPr lang="en-US" sz="1050" dirty="0">
                <a:solidFill>
                  <a:srgbClr val="FF5C6C"/>
                </a:solidFill>
                <a:latin typeface="Consolas" pitchFamily="34" charset="0"/>
                <a:ea typeface="Consolas" pitchFamily="34" charset="-122"/>
                <a:cs typeface="Consolas" pitchFamily="34" charset="-120"/>
              </a:rPr>
              <a:t>CIRCUIT_BREAKER_ACTIVE · INSTRUMENT_HALTED</a:t>
            </a:r>
            <a:endParaRPr lang="en-US" sz="1050" dirty="0"/>
          </a:p>
        </p:txBody>
      </p:sp>
      <p:sp>
        <p:nvSpPr>
          <p:cNvPr id="19" name="panel">
            <a:extLst>
              <a:ext uri="{C183D7F6-B498-43B3-948B-1728B52AA6E4}">
                <adec:decorative xmlns:adec="http://schemas.microsoft.com/office/drawing/2017/decorative" val="1"/>
              </a:ext>
            </a:extLst>
          </p:cNvPr>
          <p:cNvSpPr/>
          <p:nvPr/>
        </p:nvSpPr>
        <p:spPr>
          <a:xfrm>
            <a:off x="411480" y="2606040"/>
            <a:ext cx="4069080" cy="1371600"/>
          </a:xfrm>
          <a:prstGeom prst="rect">
            <a:avLst/>
          </a:prstGeom>
          <a:solidFill>
            <a:srgbClr val="141C19"/>
          </a:solidFill>
          <a:ln w="12700">
            <a:solidFill>
              <a:srgbClr val="2A3A34"/>
            </a:solidFill>
            <a:prstDash val="solid"/>
          </a:ln>
        </p:spPr>
        <p:txBody>
          <a:bodyPr/>
          <a:lstStyle/>
          <a:p>
            <a:endParaRPr lang="en-SE"/>
          </a:p>
        </p:txBody>
      </p:sp>
      <p:sp>
        <p:nvSpPr>
          <p:cNvPr id="20" name="accent bar">
            <a:extLst>
              <a:ext uri="{C183D7F6-B498-43B3-948B-1728B52AA6E4}">
                <adec:decorative xmlns:adec="http://schemas.microsoft.com/office/drawing/2017/decorative" val="1"/>
              </a:ext>
            </a:extLst>
          </p:cNvPr>
          <p:cNvSpPr/>
          <p:nvPr/>
        </p:nvSpPr>
        <p:spPr>
          <a:xfrm>
            <a:off x="411480" y="2606040"/>
            <a:ext cx="54864" cy="1371600"/>
          </a:xfrm>
          <a:prstGeom prst="rect">
            <a:avLst/>
          </a:prstGeom>
          <a:solidFill>
            <a:srgbClr val="FFC24B"/>
          </a:solidFill>
          <a:ln w="12700">
            <a:solidFill>
              <a:srgbClr val="FFC24B"/>
            </a:solidFill>
            <a:prstDash val="solid"/>
          </a:ln>
        </p:spPr>
        <p:txBody>
          <a:bodyPr/>
          <a:lstStyle/>
          <a:p>
            <a:endParaRPr lang="en-SE"/>
          </a:p>
        </p:txBody>
      </p:sp>
      <p:sp>
        <p:nvSpPr>
          <p:cNvPr id="21" name="Text 18"/>
          <p:cNvSpPr/>
          <p:nvPr/>
        </p:nvSpPr>
        <p:spPr>
          <a:xfrm>
            <a:off x="594360" y="2715768"/>
            <a:ext cx="914400" cy="256032"/>
          </a:xfrm>
          <a:prstGeom prst="rect">
            <a:avLst/>
          </a:prstGeom>
          <a:noFill/>
          <a:ln/>
        </p:spPr>
        <p:txBody>
          <a:bodyPr wrap="square" lIns="0" tIns="0" rIns="0" bIns="0" rtlCol="0" anchor="ctr"/>
          <a:lstStyle/>
          <a:p>
            <a:pPr marL="0" indent="0">
              <a:buNone/>
            </a:pPr>
            <a:r>
              <a:rPr lang="en-US" sz="1400" b="1" dirty="0">
                <a:solidFill>
                  <a:srgbClr val="FFC24B"/>
                </a:solidFill>
                <a:latin typeface="Consolas" pitchFamily="34" charset="0"/>
                <a:ea typeface="Consolas" pitchFamily="34" charset="-122"/>
                <a:cs typeface="Consolas" pitchFamily="34" charset="-120"/>
              </a:rPr>
              <a:t>GATE 7</a:t>
            </a:r>
            <a:endParaRPr lang="en-US" sz="1400" dirty="0"/>
          </a:p>
        </p:txBody>
      </p:sp>
      <p:sp>
        <p:nvSpPr>
          <p:cNvPr id="22" name="Text 19"/>
          <p:cNvSpPr/>
          <p:nvPr/>
        </p:nvSpPr>
        <p:spPr>
          <a:xfrm>
            <a:off x="1508760" y="2697480"/>
            <a:ext cx="283464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Price collar</a:t>
            </a:r>
            <a:endParaRPr lang="en-US" sz="1300" dirty="0"/>
          </a:p>
        </p:txBody>
      </p:sp>
      <p:sp>
        <p:nvSpPr>
          <p:cNvPr id="23" name="Text 20"/>
          <p:cNvSpPr/>
          <p:nvPr/>
        </p:nvSpPr>
        <p:spPr>
          <a:xfrm>
            <a:off x="594360" y="3044952"/>
            <a:ext cx="3749040" cy="54864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validate_collar compares price vs reference price and the configured band</a:t>
            </a:r>
            <a:endParaRPr lang="en-US" sz="1100" dirty="0"/>
          </a:p>
        </p:txBody>
      </p:sp>
      <p:sp>
        <p:nvSpPr>
          <p:cNvPr id="24" name="Text 21"/>
          <p:cNvSpPr/>
          <p:nvPr/>
        </p:nvSpPr>
        <p:spPr>
          <a:xfrm>
            <a:off x="594360" y="3639312"/>
            <a:ext cx="3749040" cy="256032"/>
          </a:xfrm>
          <a:prstGeom prst="rect">
            <a:avLst/>
          </a:prstGeom>
          <a:noFill/>
          <a:ln/>
        </p:spPr>
        <p:txBody>
          <a:bodyPr wrap="square" lIns="0" tIns="0" rIns="0" bIns="0" rtlCol="0" anchor="ctr"/>
          <a:lstStyle/>
          <a:p>
            <a:pPr marL="0" indent="0">
              <a:buNone/>
            </a:pPr>
            <a:r>
              <a:rPr lang="en-US" sz="1050" dirty="0">
                <a:solidFill>
                  <a:srgbClr val="FF5C6C"/>
                </a:solidFill>
                <a:latin typeface="Consolas" pitchFamily="34" charset="0"/>
                <a:ea typeface="Consolas" pitchFamily="34" charset="-122"/>
                <a:cs typeface="Consolas" pitchFamily="34" charset="-120"/>
              </a:rPr>
              <a:t>COLLAR_BREACH</a:t>
            </a:r>
            <a:endParaRPr lang="en-US" sz="1050" dirty="0"/>
          </a:p>
        </p:txBody>
      </p:sp>
      <p:sp>
        <p:nvSpPr>
          <p:cNvPr id="25" name="panel">
            <a:extLst>
              <a:ext uri="{C183D7F6-B498-43B3-948B-1728B52AA6E4}">
                <adec:decorative xmlns:adec="http://schemas.microsoft.com/office/drawing/2017/decorative" val="1"/>
              </a:ext>
            </a:extLst>
          </p:cNvPr>
          <p:cNvSpPr/>
          <p:nvPr/>
        </p:nvSpPr>
        <p:spPr>
          <a:xfrm>
            <a:off x="4663440" y="2606040"/>
            <a:ext cx="4069080" cy="1371600"/>
          </a:xfrm>
          <a:prstGeom prst="rect">
            <a:avLst/>
          </a:prstGeom>
          <a:solidFill>
            <a:srgbClr val="141C19"/>
          </a:solidFill>
          <a:ln w="12700">
            <a:solidFill>
              <a:srgbClr val="2A3A34"/>
            </a:solidFill>
            <a:prstDash val="solid"/>
          </a:ln>
        </p:spPr>
        <p:txBody>
          <a:bodyPr/>
          <a:lstStyle/>
          <a:p>
            <a:endParaRPr lang="en-SE"/>
          </a:p>
        </p:txBody>
      </p:sp>
      <p:sp>
        <p:nvSpPr>
          <p:cNvPr id="26" name="accent bar">
            <a:extLst>
              <a:ext uri="{C183D7F6-B498-43B3-948B-1728B52AA6E4}">
                <adec:decorative xmlns:adec="http://schemas.microsoft.com/office/drawing/2017/decorative" val="1"/>
              </a:ext>
            </a:extLst>
          </p:cNvPr>
          <p:cNvSpPr/>
          <p:nvPr/>
        </p:nvSpPr>
        <p:spPr>
          <a:xfrm>
            <a:off x="4663440" y="2606040"/>
            <a:ext cx="54864" cy="1371600"/>
          </a:xfrm>
          <a:prstGeom prst="rect">
            <a:avLst/>
          </a:prstGeom>
          <a:solidFill>
            <a:srgbClr val="FFC24B"/>
          </a:solidFill>
          <a:ln w="12700">
            <a:solidFill>
              <a:srgbClr val="FFC24B"/>
            </a:solidFill>
            <a:prstDash val="solid"/>
          </a:ln>
        </p:spPr>
        <p:txBody>
          <a:bodyPr/>
          <a:lstStyle/>
          <a:p>
            <a:endParaRPr lang="en-SE"/>
          </a:p>
        </p:txBody>
      </p:sp>
      <p:sp>
        <p:nvSpPr>
          <p:cNvPr id="27" name="Text 24"/>
          <p:cNvSpPr/>
          <p:nvPr/>
        </p:nvSpPr>
        <p:spPr>
          <a:xfrm>
            <a:off x="4846320" y="2715768"/>
            <a:ext cx="914400" cy="256032"/>
          </a:xfrm>
          <a:prstGeom prst="rect">
            <a:avLst/>
          </a:prstGeom>
          <a:noFill/>
          <a:ln/>
        </p:spPr>
        <p:txBody>
          <a:bodyPr wrap="square" lIns="0" tIns="0" rIns="0" bIns="0" rtlCol="0" anchor="ctr"/>
          <a:lstStyle/>
          <a:p>
            <a:pPr marL="0" indent="0">
              <a:buNone/>
            </a:pPr>
            <a:r>
              <a:rPr lang="en-US" sz="1400" b="1" dirty="0">
                <a:solidFill>
                  <a:srgbClr val="FFC24B"/>
                </a:solidFill>
                <a:latin typeface="Consolas" pitchFamily="34" charset="0"/>
                <a:ea typeface="Consolas" pitchFamily="34" charset="-122"/>
                <a:cs typeface="Consolas" pitchFamily="34" charset="-120"/>
              </a:rPr>
              <a:t>GATE 8</a:t>
            </a:r>
            <a:endParaRPr lang="en-US" sz="1400" dirty="0"/>
          </a:p>
        </p:txBody>
      </p:sp>
      <p:sp>
        <p:nvSpPr>
          <p:cNvPr id="28" name="Text 25"/>
          <p:cNvSpPr/>
          <p:nvPr/>
        </p:nvSpPr>
        <p:spPr>
          <a:xfrm>
            <a:off x="5760720" y="2697480"/>
            <a:ext cx="283464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No-match phase</a:t>
            </a:r>
            <a:endParaRPr lang="en-US" sz="1300" dirty="0"/>
          </a:p>
        </p:txBody>
      </p:sp>
      <p:sp>
        <p:nvSpPr>
          <p:cNvPr id="29" name="Text 26"/>
          <p:cNvSpPr/>
          <p:nvPr/>
        </p:nvSpPr>
        <p:spPr>
          <a:xfrm>
            <a:off x="4846320" y="3044952"/>
            <a:ext cx="3749040" cy="54864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do_match False and order is MARKET/FOK/IOC — it cannot rest, so it cannot live</a:t>
            </a:r>
            <a:endParaRPr lang="en-US" sz="1100" dirty="0"/>
          </a:p>
        </p:txBody>
      </p:sp>
      <p:sp>
        <p:nvSpPr>
          <p:cNvPr id="30" name="Text 27"/>
          <p:cNvSpPr/>
          <p:nvPr/>
        </p:nvSpPr>
        <p:spPr>
          <a:xfrm>
            <a:off x="4846320" y="3639312"/>
            <a:ext cx="3749040" cy="256032"/>
          </a:xfrm>
          <a:prstGeom prst="rect">
            <a:avLst/>
          </a:prstGeom>
          <a:noFill/>
          <a:ln/>
        </p:spPr>
        <p:txBody>
          <a:bodyPr wrap="square" lIns="0" tIns="0" rIns="0" bIns="0" rtlCol="0" anchor="ctr"/>
          <a:lstStyle/>
          <a:p>
            <a:pPr marL="0" indent="0">
              <a:buNone/>
            </a:pPr>
            <a:r>
              <a:rPr lang="en-US" sz="1050" dirty="0">
                <a:solidFill>
                  <a:srgbClr val="FF5C6C"/>
                </a:solidFill>
                <a:latin typeface="Consolas" pitchFamily="34" charset="0"/>
                <a:ea typeface="Consolas" pitchFamily="34" charset="-122"/>
                <a:cs typeface="Consolas" pitchFamily="34" charset="-120"/>
              </a:rPr>
              <a:t>SESSION_NOT_PERMITTED</a:t>
            </a:r>
            <a:endParaRPr lang="en-US" sz="1050" dirty="0"/>
          </a:p>
        </p:txBody>
      </p:sp>
      <p:sp>
        <p:nvSpPr>
          <p:cNvPr id="31" name="Text 28"/>
          <p:cNvSpPr/>
          <p:nvPr/>
        </p:nvSpPr>
        <p:spPr>
          <a:xfrm>
            <a:off x="411480" y="4206240"/>
            <a:ext cx="8321040" cy="274320"/>
          </a:xfrm>
          <a:prstGeom prst="rect">
            <a:avLst/>
          </a:prstGeom>
          <a:noFill/>
          <a:ln/>
        </p:spPr>
        <p:txBody>
          <a:bodyPr wrap="square" lIns="0" tIns="0" rIns="0" bIns="0" rtlCol="0" anchor="ctr"/>
          <a:lstStyle/>
          <a:p>
            <a:pPr marL="0" indent="0">
              <a:buNone/>
            </a:pPr>
            <a:r>
              <a:rPr lang="en-US" sz="1100" i="1" dirty="0">
                <a:solidFill>
                  <a:srgbClr val="8AA79A"/>
                </a:solidFill>
                <a:latin typeface="Segoe UI" pitchFamily="34" charset="0"/>
                <a:ea typeface="Segoe UI" pitchFamily="34" charset="-122"/>
                <a:cs typeface="Segoe UI" pitchFamily="34" charset="-120"/>
              </a:rPr>
              <a:t>A halted symbol does not stop the book — it stops the sweep. LIMIT orders still rest.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6</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The ACK: routing by topic string, not lookup</a:t>
            </a:r>
            <a:endParaRPr lang="en-US" sz="2400" dirty="0"/>
          </a:p>
        </p:txBody>
      </p:sp>
      <p:sp>
        <p:nvSpPr>
          <p:cNvPr id="7" name="engine box">
            <a:extLst>
              <a:ext uri="{C183D7F6-B498-43B3-948B-1728B52AA6E4}">
                <adec:decorative xmlns:adec="http://schemas.microsoft.com/office/drawing/2017/decorative" val="1"/>
              </a:ext>
            </a:extLst>
          </p:cNvPr>
          <p:cNvSpPr/>
          <p:nvPr/>
        </p:nvSpPr>
        <p:spPr>
          <a:xfrm>
            <a:off x="411480" y="1234440"/>
            <a:ext cx="2286000" cy="914400"/>
          </a:xfrm>
          <a:prstGeom prst="rect">
            <a:avLst/>
          </a:prstGeom>
          <a:solidFill>
            <a:srgbClr val="1B2621"/>
          </a:solidFill>
          <a:ln w="12700">
            <a:solidFill>
              <a:srgbClr val="39FF88"/>
            </a:solidFill>
            <a:prstDash val="solid"/>
          </a:ln>
        </p:spPr>
        <p:txBody>
          <a:bodyPr/>
          <a:lstStyle/>
          <a:p>
            <a:endParaRPr lang="en-SE"/>
          </a:p>
        </p:txBody>
      </p:sp>
      <p:sp>
        <p:nvSpPr>
          <p:cNvPr id="8" name="Text 5"/>
          <p:cNvSpPr/>
          <p:nvPr/>
        </p:nvSpPr>
        <p:spPr>
          <a:xfrm>
            <a:off x="548640" y="1371600"/>
            <a:ext cx="2011680" cy="256032"/>
          </a:xfrm>
          <a:prstGeom prst="rect">
            <a:avLst/>
          </a:prstGeom>
          <a:noFill/>
          <a:ln/>
        </p:spPr>
        <p:txBody>
          <a:bodyPr wrap="square" lIns="0" tIns="0" rIns="0" bIns="0" rtlCol="0" anchor="ctr"/>
          <a:lstStyle/>
          <a:p>
            <a:pPr marL="0" indent="0">
              <a:buNone/>
            </a:pPr>
            <a:r>
              <a:rPr lang="en-US" sz="1600" b="1" dirty="0">
                <a:solidFill>
                  <a:srgbClr val="EAF5F0"/>
                </a:solidFill>
                <a:latin typeface="Consolas" pitchFamily="34" charset="0"/>
                <a:ea typeface="Consolas" pitchFamily="34" charset="-122"/>
                <a:cs typeface="Consolas" pitchFamily="34" charset="-120"/>
              </a:rPr>
              <a:t>pm-engine</a:t>
            </a:r>
            <a:endParaRPr lang="en-US" sz="1600" dirty="0"/>
          </a:p>
        </p:txBody>
      </p:sp>
      <p:sp>
        <p:nvSpPr>
          <p:cNvPr id="9" name="Text 6"/>
          <p:cNvSpPr/>
          <p:nvPr/>
        </p:nvSpPr>
        <p:spPr>
          <a:xfrm>
            <a:off x="548640" y="1627632"/>
            <a:ext cx="2011680" cy="45720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PUB :5556 — broadcasts</a:t>
            </a:r>
            <a:endParaRPr lang="en-US" sz="1000" dirty="0"/>
          </a:p>
          <a:p>
            <a:pPr marL="0" indent="0">
              <a:buNone/>
            </a:pPr>
            <a:r>
              <a:rPr lang="en-US" sz="1000" dirty="0">
                <a:solidFill>
                  <a:srgbClr val="8AA79A"/>
                </a:solidFill>
                <a:latin typeface="Consolas" pitchFamily="34" charset="0"/>
                <a:ea typeface="Consolas" pitchFamily="34" charset="-122"/>
                <a:cs typeface="Consolas" pitchFamily="34" charset="-120"/>
              </a:rPr>
              <a:t>everything, to everyone</a:t>
            </a:r>
            <a:endParaRPr lang="en-US" sz="1000" dirty="0"/>
          </a:p>
        </p:txBody>
      </p:sp>
      <p:sp>
        <p:nvSpPr>
          <p:cNvPr id="10" name="flow arrow">
            <a:extLst>
              <a:ext uri="{C183D7F6-B498-43B3-948B-1728B52AA6E4}">
                <adec:decorative xmlns:adec="http://schemas.microsoft.com/office/drawing/2017/decorative" val="1"/>
              </a:ext>
            </a:extLst>
          </p:cNvPr>
          <p:cNvSpPr/>
          <p:nvPr/>
        </p:nvSpPr>
        <p:spPr>
          <a:xfrm>
            <a:off x="2775004" y="1371600"/>
            <a:ext cx="1097280" cy="201168"/>
          </a:xfrm>
          <a:prstGeom prst="rightArrow">
            <a:avLst/>
          </a:prstGeom>
          <a:solidFill>
            <a:srgbClr val="1B7A4C"/>
          </a:solidFill>
          <a:ln w="12700">
            <a:solidFill>
              <a:srgbClr val="1B7A4C"/>
            </a:solidFill>
            <a:prstDash val="solid"/>
          </a:ln>
        </p:spPr>
        <p:txBody>
          <a:bodyPr/>
          <a:lstStyle/>
          <a:p>
            <a:endParaRPr lang="en-SE"/>
          </a:p>
        </p:txBody>
      </p:sp>
      <p:sp>
        <p:nvSpPr>
          <p:cNvPr id="11" name="Text 8"/>
          <p:cNvSpPr/>
          <p:nvPr/>
        </p:nvSpPr>
        <p:spPr>
          <a:xfrm>
            <a:off x="2748765" y="1115568"/>
            <a:ext cx="1188720" cy="228600"/>
          </a:xfrm>
          <a:prstGeom prst="rect">
            <a:avLst/>
          </a:prstGeom>
          <a:noFill/>
          <a:ln/>
        </p:spPr>
        <p:txBody>
          <a:bodyPr wrap="square" lIns="0" tIns="0" rIns="0" bIns="0" rtlCol="0" anchor="ctr"/>
          <a:lstStyle/>
          <a:p>
            <a:pPr marL="0" indent="0">
              <a:buNone/>
            </a:pPr>
            <a:r>
              <a:rPr lang="en-US" sz="900" dirty="0">
                <a:solidFill>
                  <a:srgbClr val="39FF88"/>
                </a:solidFill>
                <a:latin typeface="Consolas" pitchFamily="34" charset="0"/>
                <a:ea typeface="Consolas" pitchFamily="34" charset="-122"/>
                <a:cs typeface="Consolas" pitchFamily="34" charset="-120"/>
              </a:rPr>
              <a:t>order.ack.TRADER01</a:t>
            </a:r>
            <a:endParaRPr lang="en-US" sz="900" dirty="0"/>
          </a:p>
        </p:txBody>
      </p:sp>
      <p:sp>
        <p:nvSpPr>
          <p:cNvPr id="12" name="flow arrow">
            <a:extLst>
              <a:ext uri="{C183D7F6-B498-43B3-948B-1728B52AA6E4}">
                <adec:decorative xmlns:adec="http://schemas.microsoft.com/office/drawing/2017/decorative" val="1"/>
              </a:ext>
            </a:extLst>
          </p:cNvPr>
          <p:cNvSpPr/>
          <p:nvPr/>
        </p:nvSpPr>
        <p:spPr>
          <a:xfrm>
            <a:off x="2775004" y="2148840"/>
            <a:ext cx="1097280" cy="201168"/>
          </a:xfrm>
          <a:prstGeom prst="rightArrow">
            <a:avLst/>
          </a:prstGeom>
          <a:solidFill>
            <a:srgbClr val="2A3A34"/>
          </a:solidFill>
          <a:ln w="12700">
            <a:solidFill>
              <a:srgbClr val="2A3A34"/>
            </a:solidFill>
            <a:prstDash val="solid"/>
          </a:ln>
        </p:spPr>
        <p:txBody>
          <a:bodyPr/>
          <a:lstStyle/>
          <a:p>
            <a:endParaRPr lang="en-SE"/>
          </a:p>
        </p:txBody>
      </p:sp>
      <p:sp>
        <p:nvSpPr>
          <p:cNvPr id="13" name="Text 10"/>
          <p:cNvSpPr/>
          <p:nvPr/>
        </p:nvSpPr>
        <p:spPr>
          <a:xfrm>
            <a:off x="2748765" y="1892808"/>
            <a:ext cx="118872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same broadcast</a:t>
            </a:r>
            <a:endParaRPr lang="en-US" sz="900" dirty="0"/>
          </a:p>
        </p:txBody>
      </p:sp>
      <p:sp>
        <p:nvSpPr>
          <p:cNvPr id="14" name="matching subscriber">
            <a:extLst>
              <a:ext uri="{C183D7F6-B498-43B3-948B-1728B52AA6E4}">
                <adec:decorative xmlns:adec="http://schemas.microsoft.com/office/drawing/2017/decorative" val="1"/>
              </a:ext>
            </a:extLst>
          </p:cNvPr>
          <p:cNvSpPr/>
          <p:nvPr/>
        </p:nvSpPr>
        <p:spPr>
          <a:xfrm>
            <a:off x="3977640" y="1097280"/>
            <a:ext cx="4754880" cy="868680"/>
          </a:xfrm>
          <a:prstGeom prst="rect">
            <a:avLst/>
          </a:prstGeom>
          <a:solidFill>
            <a:srgbClr val="0B2418"/>
          </a:solidFill>
          <a:ln w="12700">
            <a:solidFill>
              <a:srgbClr val="39FF88"/>
            </a:solidFill>
            <a:prstDash val="solid"/>
          </a:ln>
        </p:spPr>
        <p:txBody>
          <a:bodyPr/>
          <a:lstStyle/>
          <a:p>
            <a:endParaRPr lang="en-SE"/>
          </a:p>
        </p:txBody>
      </p:sp>
      <p:sp>
        <p:nvSpPr>
          <p:cNvPr id="15" name="Text 12"/>
          <p:cNvSpPr/>
          <p:nvPr/>
        </p:nvSpPr>
        <p:spPr>
          <a:xfrm>
            <a:off x="4114800" y="1207008"/>
            <a:ext cx="4480560" cy="274320"/>
          </a:xfrm>
          <a:prstGeom prst="rect">
            <a:avLst/>
          </a:prstGeom>
          <a:noFill/>
          <a:ln/>
        </p:spPr>
        <p:txBody>
          <a:bodyPr wrap="square" lIns="0" tIns="0" rIns="0" bIns="0" rtlCol="0" anchor="ctr"/>
          <a:lstStyle/>
          <a:p>
            <a:pPr marL="0" indent="0">
              <a:buNone/>
            </a:pPr>
            <a:r>
              <a:rPr lang="en-US" sz="1100" dirty="0">
                <a:solidFill>
                  <a:srgbClr val="39FF88"/>
                </a:solidFill>
                <a:latin typeface="Consolas" pitchFamily="34" charset="0"/>
                <a:ea typeface="Consolas" pitchFamily="34" charset="-122"/>
                <a:cs typeface="Consolas" pitchFamily="34" charset="-120"/>
              </a:rPr>
              <a:t>gateway for TRADER01 — SUBSCRIBE order.ack.TRADER01</a:t>
            </a:r>
            <a:endParaRPr lang="en-US" sz="1100" dirty="0"/>
          </a:p>
        </p:txBody>
      </p:sp>
      <p:sp>
        <p:nvSpPr>
          <p:cNvPr id="16" name="Text 13"/>
          <p:cNvSpPr/>
          <p:nvPr/>
        </p:nvSpPr>
        <p:spPr>
          <a:xfrm>
            <a:off x="4114800" y="1517904"/>
            <a:ext cx="4480560" cy="320040"/>
          </a:xfrm>
          <a:prstGeom prst="rect">
            <a:avLst/>
          </a:prstGeom>
          <a:noFill/>
          <a:ln/>
        </p:spPr>
        <p:txBody>
          <a:bodyPr wrap="square" lIns="0" tIns="0" rIns="0" bIns="0" rtlCol="0" anchor="ctr"/>
          <a:lstStyle/>
          <a:p>
            <a:pPr marL="0" indent="0">
              <a:buNone/>
            </a:pPr>
            <a:r>
              <a:rPr lang="en-US" sz="1000" dirty="0">
                <a:solidFill>
                  <a:srgbClr val="EAF5F0"/>
                </a:solidFill>
                <a:latin typeface="Consolas" pitchFamily="34" charset="0"/>
                <a:ea typeface="Consolas" pitchFamily="34" charset="-122"/>
                <a:cs typeface="Consolas" pitchFamily="34" charset="-120"/>
              </a:rPr>
              <a:t>prefix matches → delivered → ACK|ORDER_ID=d8539c29|ACCEPTED=TRUE</a:t>
            </a:r>
            <a:endParaRPr lang="en-US" sz="1000" dirty="0"/>
          </a:p>
        </p:txBody>
      </p:sp>
      <p:sp>
        <p:nvSpPr>
          <p:cNvPr id="17" name="filtered subscriber">
            <a:extLst>
              <a:ext uri="{C183D7F6-B498-43B3-948B-1728B52AA6E4}">
                <adec:decorative xmlns:adec="http://schemas.microsoft.com/office/drawing/2017/decorative" val="1"/>
              </a:ext>
            </a:extLst>
          </p:cNvPr>
          <p:cNvSpPr/>
          <p:nvPr/>
        </p:nvSpPr>
        <p:spPr>
          <a:xfrm>
            <a:off x="3977640" y="2057400"/>
            <a:ext cx="4754880" cy="868680"/>
          </a:xfrm>
          <a:prstGeom prst="rect">
            <a:avLst/>
          </a:prstGeom>
          <a:solidFill>
            <a:srgbClr val="26100F"/>
          </a:solidFill>
          <a:ln w="12700">
            <a:solidFill>
              <a:srgbClr val="FF5C6C"/>
            </a:solidFill>
            <a:prstDash val="solid"/>
          </a:ln>
        </p:spPr>
        <p:txBody>
          <a:bodyPr/>
          <a:lstStyle/>
          <a:p>
            <a:endParaRPr lang="en-SE"/>
          </a:p>
        </p:txBody>
      </p:sp>
      <p:sp>
        <p:nvSpPr>
          <p:cNvPr id="18" name="Text 15"/>
          <p:cNvSpPr/>
          <p:nvPr/>
        </p:nvSpPr>
        <p:spPr>
          <a:xfrm>
            <a:off x="4114800" y="2167128"/>
            <a:ext cx="4480560" cy="274320"/>
          </a:xfrm>
          <a:prstGeom prst="rect">
            <a:avLst/>
          </a:prstGeom>
          <a:noFill/>
          <a:ln/>
        </p:spPr>
        <p:txBody>
          <a:bodyPr wrap="square" lIns="0" tIns="0" rIns="0" bIns="0" rtlCol="0" anchor="ctr"/>
          <a:lstStyle/>
          <a:p>
            <a:pPr marL="0" indent="0">
              <a:buNone/>
            </a:pPr>
            <a:r>
              <a:rPr lang="en-US" sz="1100" dirty="0">
                <a:solidFill>
                  <a:srgbClr val="FF5C6C"/>
                </a:solidFill>
                <a:latin typeface="Consolas" pitchFamily="34" charset="0"/>
                <a:ea typeface="Consolas" pitchFamily="34" charset="-122"/>
                <a:cs typeface="Consolas" pitchFamily="34" charset="-120"/>
              </a:rPr>
              <a:t>gateway for MM01 — SUBSCRIBE order.ack.MM01</a:t>
            </a:r>
            <a:endParaRPr lang="en-US" sz="1100" dirty="0"/>
          </a:p>
        </p:txBody>
      </p:sp>
      <p:sp>
        <p:nvSpPr>
          <p:cNvPr id="19" name="Text 16"/>
          <p:cNvSpPr/>
          <p:nvPr/>
        </p:nvSpPr>
        <p:spPr>
          <a:xfrm>
            <a:off x="4114800" y="2478024"/>
            <a:ext cx="4480560" cy="32004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no prefix match → dropped by ZeroMQ before it reaches Python</a:t>
            </a:r>
            <a:endParaRPr lang="en-US" sz="1000" dirty="0"/>
          </a:p>
        </p:txBody>
      </p:sp>
      <p:sp>
        <p:nvSpPr>
          <p:cNvPr id="20" name="panel">
            <a:extLst>
              <a:ext uri="{C183D7F6-B498-43B3-948B-1728B52AA6E4}">
                <adec:decorative xmlns:adec="http://schemas.microsoft.com/office/drawing/2017/decorative" val="1"/>
              </a:ext>
            </a:extLst>
          </p:cNvPr>
          <p:cNvSpPr/>
          <p:nvPr/>
        </p:nvSpPr>
        <p:spPr>
          <a:xfrm>
            <a:off x="411480" y="3063240"/>
            <a:ext cx="8321040" cy="1051560"/>
          </a:xfrm>
          <a:prstGeom prst="rect">
            <a:avLst/>
          </a:prstGeom>
          <a:solidFill>
            <a:srgbClr val="141C19"/>
          </a:solidFill>
          <a:ln w="12700">
            <a:solidFill>
              <a:srgbClr val="2A3A34"/>
            </a:solidFill>
            <a:prstDash val="solid"/>
          </a:ln>
        </p:spPr>
        <p:txBody>
          <a:bodyPr/>
          <a:lstStyle/>
          <a:p>
            <a:endParaRPr lang="en-SE"/>
          </a:p>
        </p:txBody>
      </p:sp>
      <p:sp>
        <p:nvSpPr>
          <p:cNvPr id="21" name="accent bar">
            <a:extLst>
              <a:ext uri="{C183D7F6-B498-43B3-948B-1728B52AA6E4}">
                <adec:decorative xmlns:adec="http://schemas.microsoft.com/office/drawing/2017/decorative" val="1"/>
              </a:ext>
            </a:extLst>
          </p:cNvPr>
          <p:cNvSpPr/>
          <p:nvPr/>
        </p:nvSpPr>
        <p:spPr>
          <a:xfrm>
            <a:off x="411480" y="3063240"/>
            <a:ext cx="54864" cy="1051560"/>
          </a:xfrm>
          <a:prstGeom prst="rect">
            <a:avLst/>
          </a:prstGeom>
          <a:solidFill>
            <a:srgbClr val="39FF88"/>
          </a:solidFill>
          <a:ln w="12700">
            <a:solidFill>
              <a:srgbClr val="39FF88"/>
            </a:solidFill>
            <a:prstDash val="solid"/>
          </a:ln>
        </p:spPr>
        <p:txBody>
          <a:bodyPr/>
          <a:lstStyle/>
          <a:p>
            <a:endParaRPr lang="en-SE"/>
          </a:p>
        </p:txBody>
      </p:sp>
      <p:sp>
        <p:nvSpPr>
          <p:cNvPr id="22" name="Text 19"/>
          <p:cNvSpPr/>
          <p:nvPr/>
        </p:nvSpPr>
        <p:spPr>
          <a:xfrm>
            <a:off x="640080" y="3200400"/>
            <a:ext cx="7863840" cy="274320"/>
          </a:xfrm>
          <a:prstGeom prst="rect">
            <a:avLst/>
          </a:prstGeom>
          <a:noFill/>
          <a:ln/>
        </p:spPr>
        <p:txBody>
          <a:bodyPr wrap="square" lIns="0" tIns="0" rIns="0" bIns="0" rtlCol="0" anchor="ctr"/>
          <a:lstStyle/>
          <a:p>
            <a:pPr marL="0" indent="0">
              <a:buNone/>
            </a:pPr>
            <a:r>
              <a:rPr lang="en-US" sz="1600" b="1" dirty="0">
                <a:solidFill>
                  <a:srgbClr val="EAF5F0"/>
                </a:solidFill>
                <a:latin typeface="Segoe UI" pitchFamily="34" charset="0"/>
                <a:ea typeface="Segoe UI" pitchFamily="34" charset="-122"/>
                <a:cs typeface="Segoe UI" pitchFamily="34" charset="-120"/>
              </a:rPr>
              <a:t>The engine remembers no sockets and no addresses.</a:t>
            </a:r>
            <a:endParaRPr lang="en-US" sz="1600" dirty="0"/>
          </a:p>
        </p:txBody>
      </p:sp>
      <p:sp>
        <p:nvSpPr>
          <p:cNvPr id="23" name="Text 20"/>
          <p:cNvSpPr/>
          <p:nvPr/>
        </p:nvSpPr>
        <p:spPr>
          <a:xfrm>
            <a:off x="640080" y="3520440"/>
            <a:ext cx="7863840" cy="502920"/>
          </a:xfrm>
          <a:prstGeom prst="rect">
            <a:avLst/>
          </a:prstGeom>
          <a:noFill/>
          <a:ln/>
        </p:spPr>
        <p:txBody>
          <a:bodyPr wrap="square" lIns="0" tIns="0" rIns="0" bIns="0" rtlCol="0" anchor="ctr"/>
          <a:lstStyle/>
          <a:p>
            <a:pPr marL="0" indent="0">
              <a:buNone/>
            </a:pPr>
            <a:r>
              <a:rPr lang="en-US" sz="1200" dirty="0">
                <a:solidFill>
                  <a:srgbClr val="8AA79A"/>
                </a:solidFill>
                <a:latin typeface="Segoe UI" pitchFamily="34" charset="0"/>
                <a:ea typeface="Segoe UI" pitchFamily="34" charset="-122"/>
                <a:cs typeface="Segoe UI" pitchFamily="34" charset="-120"/>
              </a:rPr>
              <a:t>The gateway id travelled in the payload; it becomes half the topic — topic_order_ack("TRADER01") → "order.ack.TRADER01" (cached in _topic_cache). Filtering happens on the subscriber side.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6</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What the ACK does — and does not — mean</a:t>
            </a:r>
            <a:endParaRPr lang="en-US" sz="2400" dirty="0"/>
          </a:p>
        </p:txBody>
      </p:sp>
      <p:sp>
        <p:nvSpPr>
          <p:cNvPr id="7" name="means box">
            <a:extLst>
              <a:ext uri="{C183D7F6-B498-43B3-948B-1728B52AA6E4}">
                <adec:decorative xmlns:adec="http://schemas.microsoft.com/office/drawing/2017/decorative" val="1"/>
              </a:ext>
            </a:extLst>
          </p:cNvPr>
          <p:cNvSpPr/>
          <p:nvPr/>
        </p:nvSpPr>
        <p:spPr>
          <a:xfrm>
            <a:off x="411480" y="1188720"/>
            <a:ext cx="4069080" cy="1371600"/>
          </a:xfrm>
          <a:prstGeom prst="rect">
            <a:avLst/>
          </a:prstGeom>
          <a:solidFill>
            <a:srgbClr val="0B2418"/>
          </a:solidFill>
          <a:ln w="12700">
            <a:solidFill>
              <a:srgbClr val="39FF88"/>
            </a:solidFill>
            <a:prstDash val="solid"/>
          </a:ln>
        </p:spPr>
        <p:txBody>
          <a:bodyPr/>
          <a:lstStyle/>
          <a:p>
            <a:endParaRPr lang="en-SE"/>
          </a:p>
        </p:txBody>
      </p:sp>
      <p:sp>
        <p:nvSpPr>
          <p:cNvPr id="8" name="Text 5"/>
          <p:cNvSpPr/>
          <p:nvPr/>
        </p:nvSpPr>
        <p:spPr>
          <a:xfrm>
            <a:off x="640080" y="1325880"/>
            <a:ext cx="3566160" cy="256032"/>
          </a:xfrm>
          <a:prstGeom prst="rect">
            <a:avLst/>
          </a:prstGeom>
          <a:noFill/>
          <a:ln/>
        </p:spPr>
        <p:txBody>
          <a:bodyPr wrap="square" lIns="0" tIns="0" rIns="0" bIns="0" rtlCol="0" anchor="ctr"/>
          <a:lstStyle/>
          <a:p>
            <a:pPr marL="0" indent="0">
              <a:buNone/>
            </a:pPr>
            <a:r>
              <a:rPr lang="en-US" sz="1050" kern="0" spc="200" dirty="0">
                <a:solidFill>
                  <a:srgbClr val="39FF88"/>
                </a:solidFill>
                <a:latin typeface="Consolas" pitchFamily="34" charset="0"/>
                <a:ea typeface="Consolas" pitchFamily="34" charset="-122"/>
                <a:cs typeface="Consolas" pitchFamily="34" charset="-120"/>
              </a:rPr>
              <a:t>IT MEANS</a:t>
            </a:r>
            <a:endParaRPr lang="en-US" sz="1050" dirty="0"/>
          </a:p>
        </p:txBody>
      </p:sp>
      <p:sp>
        <p:nvSpPr>
          <p:cNvPr id="9" name="Text 6"/>
          <p:cNvSpPr/>
          <p:nvPr/>
        </p:nvSpPr>
        <p:spPr>
          <a:xfrm>
            <a:off x="640080" y="1645920"/>
            <a:ext cx="3566160" cy="777240"/>
          </a:xfrm>
          <a:prstGeom prst="rect">
            <a:avLst/>
          </a:prstGeom>
          <a:noFill/>
          <a:ln/>
        </p:spPr>
        <p:txBody>
          <a:bodyPr wrap="square" lIns="0" tIns="0" rIns="0" bIns="0" rtlCol="0" anchor="ctr"/>
          <a:lstStyle/>
          <a:p>
            <a:pPr marL="0" indent="0">
              <a:buNone/>
            </a:pPr>
            <a:r>
              <a:rPr lang="en-US" sz="1300" dirty="0">
                <a:solidFill>
                  <a:srgbClr val="EAF5F0"/>
                </a:solidFill>
                <a:latin typeface="Segoe UI" pitchFamily="34" charset="0"/>
                <a:ea typeface="Segoe UI" pitchFamily="34" charset="-122"/>
                <a:cs typeface="Segoe UI" pitchFamily="34" charset="-120"/>
              </a:rPr>
              <a:t>“The engine accepted this order for processing.” All eight gates passed.</a:t>
            </a:r>
            <a:endParaRPr lang="en-US" sz="1300" dirty="0"/>
          </a:p>
        </p:txBody>
      </p:sp>
      <p:sp>
        <p:nvSpPr>
          <p:cNvPr id="10" name="does not mean box">
            <a:extLst>
              <a:ext uri="{C183D7F6-B498-43B3-948B-1728B52AA6E4}">
                <adec:decorative xmlns:adec="http://schemas.microsoft.com/office/drawing/2017/decorative" val="1"/>
              </a:ext>
            </a:extLst>
          </p:cNvPr>
          <p:cNvSpPr/>
          <p:nvPr/>
        </p:nvSpPr>
        <p:spPr>
          <a:xfrm>
            <a:off x="4663440" y="1188720"/>
            <a:ext cx="4069080" cy="1371600"/>
          </a:xfrm>
          <a:prstGeom prst="rect">
            <a:avLst/>
          </a:prstGeom>
          <a:solidFill>
            <a:srgbClr val="26100F"/>
          </a:solidFill>
          <a:ln w="12700">
            <a:solidFill>
              <a:srgbClr val="FF5C6C"/>
            </a:solidFill>
            <a:prstDash val="solid"/>
          </a:ln>
        </p:spPr>
        <p:txBody>
          <a:bodyPr/>
          <a:lstStyle/>
          <a:p>
            <a:endParaRPr lang="en-SE"/>
          </a:p>
        </p:txBody>
      </p:sp>
      <p:sp>
        <p:nvSpPr>
          <p:cNvPr id="11" name="Text 8"/>
          <p:cNvSpPr/>
          <p:nvPr/>
        </p:nvSpPr>
        <p:spPr>
          <a:xfrm>
            <a:off x="4892040" y="1325880"/>
            <a:ext cx="3566160" cy="256032"/>
          </a:xfrm>
          <a:prstGeom prst="rect">
            <a:avLst/>
          </a:prstGeom>
          <a:noFill/>
          <a:ln/>
        </p:spPr>
        <p:txBody>
          <a:bodyPr wrap="square" lIns="0" tIns="0" rIns="0" bIns="0" rtlCol="0" anchor="ctr"/>
          <a:lstStyle/>
          <a:p>
            <a:pPr marL="0" indent="0">
              <a:buNone/>
            </a:pPr>
            <a:r>
              <a:rPr lang="en-US" sz="1050" kern="0" spc="200" dirty="0">
                <a:solidFill>
                  <a:srgbClr val="FF5C6C"/>
                </a:solidFill>
                <a:latin typeface="Consolas" pitchFamily="34" charset="0"/>
                <a:ea typeface="Consolas" pitchFamily="34" charset="-122"/>
                <a:cs typeface="Consolas" pitchFamily="34" charset="-120"/>
              </a:rPr>
              <a:t>IT DOES NOT MEAN</a:t>
            </a:r>
            <a:endParaRPr lang="en-US" sz="1050" dirty="0"/>
          </a:p>
        </p:txBody>
      </p:sp>
      <p:sp>
        <p:nvSpPr>
          <p:cNvPr id="12" name="Text 9"/>
          <p:cNvSpPr/>
          <p:nvPr/>
        </p:nvSpPr>
        <p:spPr>
          <a:xfrm>
            <a:off x="4892040" y="1645920"/>
            <a:ext cx="3566160" cy="777240"/>
          </a:xfrm>
          <a:prstGeom prst="rect">
            <a:avLst/>
          </a:prstGeom>
          <a:noFill/>
          <a:ln/>
        </p:spPr>
        <p:txBody>
          <a:bodyPr wrap="square" lIns="0" tIns="0" rIns="0" bIns="0" rtlCol="0" anchor="ctr"/>
          <a:lstStyle/>
          <a:p>
            <a:pPr marL="0" indent="0">
              <a:buNone/>
            </a:pPr>
            <a:r>
              <a:rPr lang="en-US" sz="1300" dirty="0">
                <a:solidFill>
                  <a:srgbClr val="EAF5F0"/>
                </a:solidFill>
                <a:latin typeface="Segoe UI" pitchFamily="34" charset="0"/>
                <a:ea typeface="Segoe UI" pitchFamily="34" charset="-122"/>
                <a:cs typeface="Segoe UI" pitchFamily="34" charset="-120"/>
              </a:rPr>
              <a:t>“This is its final state.” A FOK with no liquidity still gets a second, accepted=False message from the book.</a:t>
            </a:r>
            <a:endParaRPr lang="en-US" sz="1300" dirty="0"/>
          </a:p>
        </p:txBody>
      </p:sp>
      <p:sp>
        <p:nvSpPr>
          <p:cNvPr id="13" name="panel">
            <a:extLst>
              <a:ext uri="{C183D7F6-B498-43B3-948B-1728B52AA6E4}">
                <adec:decorative xmlns:adec="http://schemas.microsoft.com/office/drawing/2017/decorative" val="1"/>
              </a:ext>
            </a:extLst>
          </p:cNvPr>
          <p:cNvSpPr/>
          <p:nvPr/>
        </p:nvSpPr>
        <p:spPr>
          <a:xfrm>
            <a:off x="411480" y="2788920"/>
            <a:ext cx="8321040" cy="1234440"/>
          </a:xfrm>
          <a:prstGeom prst="rect">
            <a:avLst/>
          </a:prstGeom>
          <a:solidFill>
            <a:srgbClr val="141C19"/>
          </a:solidFill>
          <a:ln w="12700">
            <a:solidFill>
              <a:srgbClr val="2A3A34"/>
            </a:solidFill>
            <a:prstDash val="solid"/>
          </a:ln>
        </p:spPr>
        <p:txBody>
          <a:bodyPr/>
          <a:lstStyle/>
          <a:p>
            <a:endParaRPr lang="en-SE"/>
          </a:p>
        </p:txBody>
      </p:sp>
      <p:sp>
        <p:nvSpPr>
          <p:cNvPr id="14" name="Text 11"/>
          <p:cNvSpPr/>
          <p:nvPr/>
        </p:nvSpPr>
        <p:spPr>
          <a:xfrm>
            <a:off x="640080" y="2926080"/>
            <a:ext cx="786384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For a resting LIMIT order the ACK is the only acknowledgement it gets.</a:t>
            </a:r>
            <a:endParaRPr lang="en-US" sz="1300" dirty="0"/>
          </a:p>
        </p:txBody>
      </p:sp>
      <p:sp>
        <p:nvSpPr>
          <p:cNvPr id="15" name="topic chip">
            <a:extLst>
              <a:ext uri="{C183D7F6-B498-43B3-948B-1728B52AA6E4}">
                <adec:decorative xmlns:adec="http://schemas.microsoft.com/office/drawing/2017/decorative" val="1"/>
              </a:ext>
            </a:extLst>
          </p:cNvPr>
          <p:cNvSpPr/>
          <p:nvPr/>
        </p:nvSpPr>
        <p:spPr>
          <a:xfrm>
            <a:off x="640080" y="3291840"/>
            <a:ext cx="2468880" cy="502920"/>
          </a:xfrm>
          <a:prstGeom prst="rect">
            <a:avLst/>
          </a:prstGeom>
          <a:solidFill>
            <a:srgbClr val="1B2621"/>
          </a:solidFill>
          <a:ln w="12700">
            <a:solidFill>
              <a:srgbClr val="39FF88"/>
            </a:solidFill>
            <a:prstDash val="solid"/>
          </a:ln>
        </p:spPr>
        <p:txBody>
          <a:bodyPr/>
          <a:lstStyle/>
          <a:p>
            <a:endParaRPr lang="en-SE"/>
          </a:p>
        </p:txBody>
      </p:sp>
      <p:sp>
        <p:nvSpPr>
          <p:cNvPr id="16" name="Text 13"/>
          <p:cNvSpPr/>
          <p:nvPr/>
        </p:nvSpPr>
        <p:spPr>
          <a:xfrm>
            <a:off x="731520" y="3410712"/>
            <a:ext cx="228600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order.fill.{gw}</a:t>
            </a:r>
            <a:endParaRPr lang="en-US" sz="1100" dirty="0"/>
          </a:p>
        </p:txBody>
      </p:sp>
      <p:sp>
        <p:nvSpPr>
          <p:cNvPr id="17" name="topic chip">
            <a:extLst>
              <a:ext uri="{C183D7F6-B498-43B3-948B-1728B52AA6E4}">
                <adec:decorative xmlns:adec="http://schemas.microsoft.com/office/drawing/2017/decorative" val="1"/>
              </a:ext>
            </a:extLst>
          </p:cNvPr>
          <p:cNvSpPr/>
          <p:nvPr/>
        </p:nvSpPr>
        <p:spPr>
          <a:xfrm>
            <a:off x="3291840" y="3291840"/>
            <a:ext cx="2468880" cy="502920"/>
          </a:xfrm>
          <a:prstGeom prst="rect">
            <a:avLst/>
          </a:prstGeom>
          <a:solidFill>
            <a:srgbClr val="1B2621"/>
          </a:solidFill>
          <a:ln w="12700">
            <a:solidFill>
              <a:srgbClr val="39FF88"/>
            </a:solidFill>
            <a:prstDash val="solid"/>
          </a:ln>
        </p:spPr>
        <p:txBody>
          <a:bodyPr/>
          <a:lstStyle/>
          <a:p>
            <a:endParaRPr lang="en-SE"/>
          </a:p>
        </p:txBody>
      </p:sp>
      <p:sp>
        <p:nvSpPr>
          <p:cNvPr id="18" name="Text 15"/>
          <p:cNvSpPr/>
          <p:nvPr/>
        </p:nvSpPr>
        <p:spPr>
          <a:xfrm>
            <a:off x="3383280" y="3410712"/>
            <a:ext cx="228600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order.cancelled.{gw}</a:t>
            </a:r>
            <a:endParaRPr lang="en-US" sz="1100" dirty="0"/>
          </a:p>
        </p:txBody>
      </p:sp>
      <p:sp>
        <p:nvSpPr>
          <p:cNvPr id="19" name="topic chip">
            <a:extLst>
              <a:ext uri="{C183D7F6-B498-43B3-948B-1728B52AA6E4}">
                <adec:decorative xmlns:adec="http://schemas.microsoft.com/office/drawing/2017/decorative" val="1"/>
              </a:ext>
            </a:extLst>
          </p:cNvPr>
          <p:cNvSpPr/>
          <p:nvPr/>
        </p:nvSpPr>
        <p:spPr>
          <a:xfrm>
            <a:off x="5943600" y="3291840"/>
            <a:ext cx="2468880" cy="502920"/>
          </a:xfrm>
          <a:prstGeom prst="rect">
            <a:avLst/>
          </a:prstGeom>
          <a:solidFill>
            <a:srgbClr val="1B2621"/>
          </a:solidFill>
          <a:ln w="12700">
            <a:solidFill>
              <a:srgbClr val="39FF88"/>
            </a:solidFill>
            <a:prstDash val="solid"/>
          </a:ln>
        </p:spPr>
        <p:txBody>
          <a:bodyPr/>
          <a:lstStyle/>
          <a:p>
            <a:endParaRPr lang="en-SE"/>
          </a:p>
        </p:txBody>
      </p:sp>
      <p:sp>
        <p:nvSpPr>
          <p:cNvPr id="20" name="Text 17"/>
          <p:cNvSpPr/>
          <p:nvPr/>
        </p:nvSpPr>
        <p:spPr>
          <a:xfrm>
            <a:off x="6035040" y="3410712"/>
            <a:ext cx="2286000" cy="274320"/>
          </a:xfrm>
          <a:prstGeom prst="rect">
            <a:avLst/>
          </a:prstGeom>
          <a:noFill/>
          <a:ln/>
        </p:spPr>
        <p:txBody>
          <a:bodyPr wrap="square" lIns="0" tIns="0" rIns="0" bIns="0" rtlCol="0" anchor="ctr"/>
          <a:lstStyle/>
          <a:p>
            <a:pPr marL="0" indent="0" algn="ctr">
              <a:buNone/>
            </a:pPr>
            <a:r>
              <a:rPr lang="en-US" sz="1100" dirty="0">
                <a:solidFill>
                  <a:srgbClr val="39FF88"/>
                </a:solidFill>
                <a:latin typeface="Consolas" pitchFamily="34" charset="0"/>
                <a:ea typeface="Consolas" pitchFamily="34" charset="-122"/>
                <a:cs typeface="Consolas" pitchFamily="34" charset="-120"/>
              </a:rPr>
              <a:t>order.expired.{gw}</a:t>
            </a:r>
            <a:endParaRPr lang="en-US" sz="1100" dirty="0"/>
          </a:p>
        </p:txBody>
      </p:sp>
      <p:sp>
        <p:nvSpPr>
          <p:cNvPr id="21" name="Text 18"/>
          <p:cNvSpPr/>
          <p:nvPr/>
        </p:nvSpPr>
        <p:spPr>
          <a:xfrm>
            <a:off x="411480" y="4160520"/>
            <a:ext cx="8321040" cy="274320"/>
          </a:xfrm>
          <a:prstGeom prst="rect">
            <a:avLst/>
          </a:prstGeom>
          <a:noFill/>
          <a:ln/>
        </p:spPr>
        <p:txBody>
          <a:bodyPr wrap="square" lIns="0" tIns="0" rIns="0" bIns="0" rtlCol="0" anchor="ctr"/>
          <a:lstStyle/>
          <a:p>
            <a:pPr marL="0" indent="0">
              <a:buNone/>
            </a:pPr>
            <a:r>
              <a:rPr lang="en-US" sz="1100" i="1" dirty="0">
                <a:solidFill>
                  <a:srgbClr val="8AA79A"/>
                </a:solidFill>
                <a:latin typeface="Segoe UI" pitchFamily="34" charset="0"/>
                <a:ea typeface="Segoe UI" pitchFamily="34" charset="-122"/>
                <a:cs typeface="Segoe UI" pitchFamily="34" charset="-120"/>
              </a:rPr>
              <a:t>Everything after the ACK arrives on one of these three topics.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7</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Inside the book: peek, compare, fill, repeat</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143000"/>
            <a:ext cx="4846320" cy="1965960"/>
          </a:xfrm>
          <a:prstGeom prst="rect">
            <a:avLst/>
          </a:prstGeom>
          <a:solidFill>
            <a:srgbClr val="0E1512"/>
          </a:solidFill>
          <a:ln w="12700">
            <a:solidFill>
              <a:srgbClr val="2A3A34"/>
            </a:solidFill>
            <a:prstDash val="solid"/>
          </a:ln>
        </p:spPr>
        <p:txBody>
          <a:bodyPr/>
          <a:lstStyle/>
          <a:p>
            <a:endParaRPr lang="en-SE"/>
          </a:p>
        </p:txBody>
      </p:sp>
      <p:sp>
        <p:nvSpPr>
          <p:cNvPr id="8" name="Text 5"/>
          <p:cNvSpPr/>
          <p:nvPr/>
        </p:nvSpPr>
        <p:spPr>
          <a:xfrm>
            <a:off x="521208" y="1216152"/>
            <a:ext cx="4626864" cy="1819656"/>
          </a:xfrm>
          <a:prstGeom prst="rect">
            <a:avLst/>
          </a:prstGeom>
          <a:noFill/>
          <a:ln/>
        </p:spPr>
        <p:txBody>
          <a:bodyPr wrap="square" lIns="0" tIns="0" rIns="0" bIns="0" rtlCol="0" anchor="t"/>
          <a:lstStyle/>
          <a:p>
            <a:pPr marL="0" indent="0">
              <a:buNone/>
            </a:pPr>
            <a:r>
              <a:rPr lang="en-US" sz="1100" dirty="0">
                <a:solidFill>
                  <a:schemeClr val="accent2"/>
                </a:solidFill>
                <a:latin typeface="Consolas" pitchFamily="34" charset="0"/>
                <a:ea typeface="Consolas" pitchFamily="34" charset="-122"/>
                <a:cs typeface="Consolas" pitchFamily="34" charset="-120"/>
              </a:rPr>
              <a:t>while</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aggressor.remaining_qty</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&gt;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4">
                    <a:lumMod val="60000"/>
                    <a:lumOff val="40000"/>
                  </a:schemeClr>
                </a:solidFill>
                <a:latin typeface="Consolas" pitchFamily="34" charset="0"/>
                <a:ea typeface="Consolas" pitchFamily="34" charset="-122"/>
                <a:cs typeface="Consolas" pitchFamily="34" charset="-120"/>
              </a:rPr>
              <a:t>0</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and</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opposite_heap</a:t>
            </a:r>
            <a:r>
              <a:rPr lang="en-US" sz="1100" dirty="0">
                <a:solidFill>
                  <a:srgbClr val="39FF88"/>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best = self._peek(opposite_heap)</a:t>
            </a:r>
            <a:endParaRPr lang="en-US" sz="1100" dirty="0">
              <a:solidFill>
                <a:schemeClr val="bg1"/>
              </a:solidFill>
            </a:endParaRPr>
          </a:p>
          <a:p>
            <a:pPr marL="0" indent="0">
              <a:buNone/>
            </a:pP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if</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best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is</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None</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break</a:t>
            </a:r>
            <a:endParaRPr lang="en-US" sz="1100" dirty="0">
              <a:solidFill>
                <a:schemeClr val="accent2"/>
              </a:solidFill>
            </a:endParaRPr>
          </a:p>
          <a:p>
            <a:pPr marL="0" indent="0">
              <a:buNone/>
            </a:pP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if</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side</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BUY</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and</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best.price</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&gt;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price_limit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break</a:t>
            </a:r>
            <a:endParaRPr lang="en-US" sz="1100" dirty="0">
              <a:solidFill>
                <a:schemeClr val="accent2"/>
              </a:solidFill>
            </a:endParaRPr>
          </a:p>
          <a:p>
            <a:pPr marL="0" indent="0">
              <a:buNone/>
            </a:pP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if</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side</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SELL</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and</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best.price </a:t>
            </a:r>
            <a:r>
              <a:rPr lang="en-US" sz="1100" dirty="0">
                <a:solidFill>
                  <a:schemeClr val="accent2"/>
                </a:solidFill>
                <a:latin typeface="Consolas" pitchFamily="34" charset="0"/>
                <a:ea typeface="Consolas" pitchFamily="34" charset="-122"/>
                <a:cs typeface="Consolas" pitchFamily="34" charset="-120"/>
              </a:rPr>
              <a:t>&lt;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price_limit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break</a:t>
            </a:r>
            <a:endParaRPr lang="en-US" sz="1100" dirty="0">
              <a:solidFill>
                <a:schemeClr val="accent2"/>
              </a:solidFill>
            </a:endParaRPr>
          </a:p>
          <a:p>
            <a:pPr marL="0" indent="0">
              <a:buNone/>
            </a:pP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fill_qty = min(aggressor.remaining_qty,</a:t>
            </a:r>
            <a:endParaRPr lang="en-US" sz="1100" dirty="0">
              <a:solidFill>
                <a:schemeClr val="bg1"/>
              </a:solidFill>
            </a:endParaRPr>
          </a:p>
          <a:p>
            <a:pPr marL="0" indent="0">
              <a:buNone/>
            </a:pPr>
            <a:r>
              <a:rPr lang="en-US" sz="1100" dirty="0">
                <a:solidFill>
                  <a:schemeClr val="bg1"/>
                </a:solidFill>
                <a:latin typeface="Consolas" pitchFamily="34" charset="0"/>
                <a:ea typeface="Consolas" pitchFamily="34" charset="-122"/>
                <a:cs typeface="Consolas" pitchFamily="34" charset="-120"/>
              </a:rPr>
              <a:t>                   best.remaining_qty)</a:t>
            </a:r>
            <a:endParaRPr lang="en-US" sz="1100" dirty="0">
              <a:solidFill>
                <a:schemeClr val="bg1"/>
              </a:solidFill>
            </a:endParaRPr>
          </a:p>
          <a:p>
            <a:pPr marL="0" indent="0">
              <a:buNone/>
            </a:pP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bg1"/>
                </a:solidFill>
                <a:latin typeface="Consolas" pitchFamily="34" charset="0"/>
                <a:ea typeface="Consolas" pitchFamily="34" charset="-122"/>
                <a:cs typeface="Consolas" pitchFamily="34" charset="-120"/>
              </a:rPr>
              <a:t>self._apply_fill(aggressor, best, fill_qty, best.price)</a:t>
            </a:r>
            <a:endParaRPr lang="en-US" sz="1000" dirty="0">
              <a:solidFill>
                <a:schemeClr val="bg1"/>
              </a:solidFill>
            </a:endParaRPr>
          </a:p>
        </p:txBody>
      </p:sp>
      <p:sp>
        <p:nvSpPr>
          <p:cNvPr id="9" name="loop step">
            <a:extLst>
              <a:ext uri="{C183D7F6-B498-43B3-948B-1728B52AA6E4}">
                <adec:decorative xmlns:adec="http://schemas.microsoft.com/office/drawing/2017/decorative" val="1"/>
              </a:ext>
            </a:extLst>
          </p:cNvPr>
          <p:cNvSpPr/>
          <p:nvPr/>
        </p:nvSpPr>
        <p:spPr>
          <a:xfrm>
            <a:off x="5532120" y="1143000"/>
            <a:ext cx="3200400" cy="420624"/>
          </a:xfrm>
          <a:prstGeom prst="rect">
            <a:avLst/>
          </a:prstGeom>
          <a:solidFill>
            <a:srgbClr val="1B2621"/>
          </a:solidFill>
          <a:ln w="12700">
            <a:solidFill>
              <a:srgbClr val="39FF88"/>
            </a:solidFill>
            <a:prstDash val="solid"/>
          </a:ln>
        </p:spPr>
        <p:txBody>
          <a:bodyPr/>
          <a:lstStyle/>
          <a:p>
            <a:endParaRPr lang="en-SE"/>
          </a:p>
        </p:txBody>
      </p:sp>
      <p:sp>
        <p:nvSpPr>
          <p:cNvPr id="10" name="Text 7"/>
          <p:cNvSpPr/>
          <p:nvPr/>
        </p:nvSpPr>
        <p:spPr>
          <a:xfrm>
            <a:off x="5650992" y="1225296"/>
            <a:ext cx="914400" cy="256032"/>
          </a:xfrm>
          <a:prstGeom prst="rect">
            <a:avLst/>
          </a:prstGeom>
          <a:noFill/>
          <a:ln/>
        </p:spPr>
        <p:txBody>
          <a:bodyPr wrap="square" lIns="0" tIns="0" rIns="0" bIns="0" rtlCol="0" anchor="ctr"/>
          <a:lstStyle/>
          <a:p>
            <a:pPr marL="0" indent="0">
              <a:buNone/>
            </a:pPr>
            <a:r>
              <a:rPr lang="en-US" sz="1100" b="1" dirty="0">
                <a:solidFill>
                  <a:srgbClr val="39FF88"/>
                </a:solidFill>
                <a:latin typeface="Consolas" pitchFamily="34" charset="0"/>
                <a:ea typeface="Consolas" pitchFamily="34" charset="-122"/>
                <a:cs typeface="Consolas" pitchFamily="34" charset="-120"/>
              </a:rPr>
              <a:t>PEEK</a:t>
            </a:r>
            <a:endParaRPr lang="en-US" sz="1100" dirty="0"/>
          </a:p>
        </p:txBody>
      </p:sp>
      <p:sp>
        <p:nvSpPr>
          <p:cNvPr id="11" name="Text 8"/>
          <p:cNvSpPr/>
          <p:nvPr/>
        </p:nvSpPr>
        <p:spPr>
          <a:xfrm>
            <a:off x="6583680" y="1234440"/>
            <a:ext cx="205740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best opposite order</a:t>
            </a:r>
            <a:endParaRPr lang="en-US" sz="1100" dirty="0"/>
          </a:p>
        </p:txBody>
      </p:sp>
      <p:sp>
        <p:nvSpPr>
          <p:cNvPr id="12" name="loop step">
            <a:extLst>
              <a:ext uri="{C183D7F6-B498-43B3-948B-1728B52AA6E4}">
                <adec:decorative xmlns:adec="http://schemas.microsoft.com/office/drawing/2017/decorative" val="1"/>
              </a:ext>
            </a:extLst>
          </p:cNvPr>
          <p:cNvSpPr/>
          <p:nvPr/>
        </p:nvSpPr>
        <p:spPr>
          <a:xfrm>
            <a:off x="5532120" y="1655064"/>
            <a:ext cx="3200400" cy="420624"/>
          </a:xfrm>
          <a:prstGeom prst="rect">
            <a:avLst/>
          </a:prstGeom>
          <a:solidFill>
            <a:srgbClr val="1B2621"/>
          </a:solidFill>
          <a:ln w="12700">
            <a:solidFill>
              <a:srgbClr val="39FF88"/>
            </a:solidFill>
            <a:prstDash val="solid"/>
          </a:ln>
        </p:spPr>
        <p:txBody>
          <a:bodyPr/>
          <a:lstStyle/>
          <a:p>
            <a:endParaRPr lang="en-SE"/>
          </a:p>
        </p:txBody>
      </p:sp>
      <p:sp>
        <p:nvSpPr>
          <p:cNvPr id="13" name="Text 10"/>
          <p:cNvSpPr/>
          <p:nvPr/>
        </p:nvSpPr>
        <p:spPr>
          <a:xfrm>
            <a:off x="5650992" y="1737360"/>
            <a:ext cx="914400" cy="256032"/>
          </a:xfrm>
          <a:prstGeom prst="rect">
            <a:avLst/>
          </a:prstGeom>
          <a:noFill/>
          <a:ln/>
        </p:spPr>
        <p:txBody>
          <a:bodyPr wrap="square" lIns="0" tIns="0" rIns="0" bIns="0" rtlCol="0" anchor="ctr"/>
          <a:lstStyle/>
          <a:p>
            <a:pPr marL="0" indent="0">
              <a:buNone/>
            </a:pPr>
            <a:r>
              <a:rPr lang="en-US" sz="1100" b="1" dirty="0">
                <a:solidFill>
                  <a:srgbClr val="39FF88"/>
                </a:solidFill>
                <a:latin typeface="Consolas" pitchFamily="34" charset="0"/>
                <a:ea typeface="Consolas" pitchFamily="34" charset="-122"/>
                <a:cs typeface="Consolas" pitchFamily="34" charset="-120"/>
              </a:rPr>
              <a:t>COMPARE</a:t>
            </a:r>
            <a:endParaRPr lang="en-US" sz="1100" dirty="0"/>
          </a:p>
        </p:txBody>
      </p:sp>
      <p:sp>
        <p:nvSpPr>
          <p:cNvPr id="14" name="Text 11"/>
          <p:cNvSpPr/>
          <p:nvPr/>
        </p:nvSpPr>
        <p:spPr>
          <a:xfrm>
            <a:off x="6583680" y="1746504"/>
            <a:ext cx="205740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price vs our limit</a:t>
            </a:r>
            <a:endParaRPr lang="en-US" sz="1100" dirty="0"/>
          </a:p>
        </p:txBody>
      </p:sp>
      <p:sp>
        <p:nvSpPr>
          <p:cNvPr id="15" name="loop step">
            <a:extLst>
              <a:ext uri="{C183D7F6-B498-43B3-948B-1728B52AA6E4}">
                <adec:decorative xmlns:adec="http://schemas.microsoft.com/office/drawing/2017/decorative" val="1"/>
              </a:ext>
            </a:extLst>
          </p:cNvPr>
          <p:cNvSpPr/>
          <p:nvPr/>
        </p:nvSpPr>
        <p:spPr>
          <a:xfrm>
            <a:off x="5532120" y="2167128"/>
            <a:ext cx="3200400" cy="420624"/>
          </a:xfrm>
          <a:prstGeom prst="rect">
            <a:avLst/>
          </a:prstGeom>
          <a:solidFill>
            <a:srgbClr val="1B2621"/>
          </a:solidFill>
          <a:ln w="12700">
            <a:solidFill>
              <a:srgbClr val="39FF88"/>
            </a:solidFill>
            <a:prstDash val="solid"/>
          </a:ln>
        </p:spPr>
        <p:txBody>
          <a:bodyPr/>
          <a:lstStyle/>
          <a:p>
            <a:endParaRPr lang="en-SE"/>
          </a:p>
        </p:txBody>
      </p:sp>
      <p:sp>
        <p:nvSpPr>
          <p:cNvPr id="16" name="Text 13"/>
          <p:cNvSpPr/>
          <p:nvPr/>
        </p:nvSpPr>
        <p:spPr>
          <a:xfrm>
            <a:off x="5650992" y="2249424"/>
            <a:ext cx="914400" cy="256032"/>
          </a:xfrm>
          <a:prstGeom prst="rect">
            <a:avLst/>
          </a:prstGeom>
          <a:noFill/>
          <a:ln/>
        </p:spPr>
        <p:txBody>
          <a:bodyPr wrap="square" lIns="0" tIns="0" rIns="0" bIns="0" rtlCol="0" anchor="ctr"/>
          <a:lstStyle/>
          <a:p>
            <a:pPr marL="0" indent="0">
              <a:buNone/>
            </a:pPr>
            <a:r>
              <a:rPr lang="en-US" sz="1100" b="1" dirty="0">
                <a:solidFill>
                  <a:srgbClr val="39FF88"/>
                </a:solidFill>
                <a:latin typeface="Consolas" pitchFamily="34" charset="0"/>
                <a:ea typeface="Consolas" pitchFamily="34" charset="-122"/>
                <a:cs typeface="Consolas" pitchFamily="34" charset="-120"/>
              </a:rPr>
              <a:t>FILL</a:t>
            </a:r>
            <a:endParaRPr lang="en-US" sz="1100" dirty="0"/>
          </a:p>
        </p:txBody>
      </p:sp>
      <p:sp>
        <p:nvSpPr>
          <p:cNvPr id="17" name="Text 14"/>
          <p:cNvSpPr/>
          <p:nvPr/>
        </p:nvSpPr>
        <p:spPr>
          <a:xfrm>
            <a:off x="6583680" y="2258568"/>
            <a:ext cx="205740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min of the two qtys</a:t>
            </a:r>
            <a:endParaRPr lang="en-US" sz="1100" dirty="0"/>
          </a:p>
        </p:txBody>
      </p:sp>
      <p:sp>
        <p:nvSpPr>
          <p:cNvPr id="18" name="loop step">
            <a:extLst>
              <a:ext uri="{C183D7F6-B498-43B3-948B-1728B52AA6E4}">
                <adec:decorative xmlns:adec="http://schemas.microsoft.com/office/drawing/2017/decorative" val="1"/>
              </a:ext>
            </a:extLst>
          </p:cNvPr>
          <p:cNvSpPr/>
          <p:nvPr/>
        </p:nvSpPr>
        <p:spPr>
          <a:xfrm>
            <a:off x="5532120" y="2679192"/>
            <a:ext cx="3200400" cy="420624"/>
          </a:xfrm>
          <a:prstGeom prst="rect">
            <a:avLst/>
          </a:prstGeom>
          <a:solidFill>
            <a:srgbClr val="1B2621"/>
          </a:solidFill>
          <a:ln w="12700">
            <a:solidFill>
              <a:srgbClr val="39FF88"/>
            </a:solidFill>
            <a:prstDash val="solid"/>
          </a:ln>
        </p:spPr>
        <p:txBody>
          <a:bodyPr/>
          <a:lstStyle/>
          <a:p>
            <a:endParaRPr lang="en-SE"/>
          </a:p>
        </p:txBody>
      </p:sp>
      <p:sp>
        <p:nvSpPr>
          <p:cNvPr id="19" name="Text 16"/>
          <p:cNvSpPr/>
          <p:nvPr/>
        </p:nvSpPr>
        <p:spPr>
          <a:xfrm>
            <a:off x="5650992" y="2761488"/>
            <a:ext cx="914400" cy="256032"/>
          </a:xfrm>
          <a:prstGeom prst="rect">
            <a:avLst/>
          </a:prstGeom>
          <a:noFill/>
          <a:ln/>
        </p:spPr>
        <p:txBody>
          <a:bodyPr wrap="square" lIns="0" tIns="0" rIns="0" bIns="0" rtlCol="0" anchor="ctr"/>
          <a:lstStyle/>
          <a:p>
            <a:pPr marL="0" indent="0">
              <a:buNone/>
            </a:pPr>
            <a:r>
              <a:rPr lang="en-US" sz="1100" b="1" dirty="0">
                <a:solidFill>
                  <a:srgbClr val="39FF88"/>
                </a:solidFill>
                <a:latin typeface="Consolas" pitchFamily="34" charset="0"/>
                <a:ea typeface="Consolas" pitchFamily="34" charset="-122"/>
                <a:cs typeface="Consolas" pitchFamily="34" charset="-120"/>
              </a:rPr>
              <a:t>REPEAT</a:t>
            </a:r>
            <a:endParaRPr lang="en-US" sz="1100" dirty="0"/>
          </a:p>
        </p:txBody>
      </p:sp>
      <p:sp>
        <p:nvSpPr>
          <p:cNvPr id="20" name="Text 17"/>
          <p:cNvSpPr/>
          <p:nvPr/>
        </p:nvSpPr>
        <p:spPr>
          <a:xfrm>
            <a:off x="6583680" y="2770632"/>
            <a:ext cx="205740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until one side is out</a:t>
            </a:r>
            <a:endParaRPr lang="en-US" sz="1100" dirty="0"/>
          </a:p>
        </p:txBody>
      </p:sp>
      <p:sp>
        <p:nvSpPr>
          <p:cNvPr id="21" name="panel">
            <a:extLst>
              <a:ext uri="{C183D7F6-B498-43B3-948B-1728B52AA6E4}">
                <adec:decorative xmlns:adec="http://schemas.microsoft.com/office/drawing/2017/decorative" val="1"/>
              </a:ext>
            </a:extLst>
          </p:cNvPr>
          <p:cNvSpPr/>
          <p:nvPr/>
        </p:nvSpPr>
        <p:spPr>
          <a:xfrm>
            <a:off x="411480" y="3291840"/>
            <a:ext cx="8321040" cy="868680"/>
          </a:xfrm>
          <a:prstGeom prst="rect">
            <a:avLst/>
          </a:prstGeom>
          <a:solidFill>
            <a:srgbClr val="141C19"/>
          </a:solidFill>
          <a:ln w="12700">
            <a:solidFill>
              <a:srgbClr val="2A3A34"/>
            </a:solidFill>
            <a:prstDash val="solid"/>
          </a:ln>
        </p:spPr>
        <p:txBody>
          <a:bodyPr/>
          <a:lstStyle/>
          <a:p>
            <a:endParaRPr lang="en-SE"/>
          </a:p>
        </p:txBody>
      </p:sp>
      <p:sp>
        <p:nvSpPr>
          <p:cNvPr id="22" name="accent bar">
            <a:extLst>
              <a:ext uri="{C183D7F6-B498-43B3-948B-1728B52AA6E4}">
                <adec:decorative xmlns:adec="http://schemas.microsoft.com/office/drawing/2017/decorative" val="1"/>
              </a:ext>
            </a:extLst>
          </p:cNvPr>
          <p:cNvSpPr/>
          <p:nvPr/>
        </p:nvSpPr>
        <p:spPr>
          <a:xfrm>
            <a:off x="411480" y="3291840"/>
            <a:ext cx="54864" cy="868680"/>
          </a:xfrm>
          <a:prstGeom prst="rect">
            <a:avLst/>
          </a:prstGeom>
          <a:solidFill>
            <a:srgbClr val="39FF88"/>
          </a:solidFill>
          <a:ln w="12700">
            <a:solidFill>
              <a:srgbClr val="39FF88"/>
            </a:solidFill>
            <a:prstDash val="solid"/>
          </a:ln>
        </p:spPr>
        <p:txBody>
          <a:bodyPr/>
          <a:lstStyle/>
          <a:p>
            <a:endParaRPr lang="en-SE"/>
          </a:p>
        </p:txBody>
      </p:sp>
      <p:sp>
        <p:nvSpPr>
          <p:cNvPr id="23" name="Text 20"/>
          <p:cNvSpPr/>
          <p:nvPr/>
        </p:nvSpPr>
        <p:spPr>
          <a:xfrm>
            <a:off x="640080" y="3429000"/>
            <a:ext cx="7863840" cy="274320"/>
          </a:xfrm>
          <a:prstGeom prst="rect">
            <a:avLst/>
          </a:prstGeom>
          <a:noFill/>
          <a:ln/>
        </p:spPr>
        <p:txBody>
          <a:bodyPr wrap="square" lIns="0" tIns="0" rIns="0" bIns="0" rtlCol="0" anchor="ctr"/>
          <a:lstStyle/>
          <a:p>
            <a:pPr marL="0" indent="0">
              <a:buNone/>
            </a:pPr>
            <a:r>
              <a:rPr lang="en-US" sz="1300" b="1" dirty="0">
                <a:solidFill>
                  <a:srgbClr val="EAF5F0"/>
                </a:solidFill>
                <a:latin typeface="Segoe UI" pitchFamily="34" charset="0"/>
                <a:ea typeface="Segoe UI" pitchFamily="34" charset="-122"/>
                <a:cs typeface="Segoe UI" pitchFamily="34" charset="-120"/>
              </a:rPr>
              <a:t>No special cases beyond price-time priority and self-match prevention.</a:t>
            </a:r>
            <a:endParaRPr lang="en-US" sz="1300" dirty="0"/>
          </a:p>
        </p:txBody>
      </p:sp>
      <p:sp>
        <p:nvSpPr>
          <p:cNvPr id="24" name="Text 21"/>
          <p:cNvSpPr/>
          <p:nvPr/>
        </p:nvSpPr>
        <p:spPr>
          <a:xfrm>
            <a:off x="640080" y="3730752"/>
            <a:ext cx="7863840" cy="320040"/>
          </a:xfrm>
          <a:prstGeom prst="rect">
            <a:avLst/>
          </a:prstGeom>
          <a:noFill/>
          <a:ln/>
        </p:spPr>
        <p:txBody>
          <a:bodyPr wrap="square" lIns="0" tIns="0" rIns="0" bIns="0" rtlCol="0" anchor="ctr"/>
          <a:lstStyle/>
          <a:p>
            <a:pPr marL="0" indent="0">
              <a:buNone/>
            </a:pPr>
            <a:r>
              <a:rPr lang="en-US" sz="1200" dirty="0">
                <a:solidFill>
                  <a:srgbClr val="8AA79A"/>
                </a:solidFill>
                <a:latin typeface="Segoe UI" pitchFamily="34" charset="0"/>
                <a:ea typeface="Segoe UI" pitchFamily="34" charset="-122"/>
                <a:cs typeface="Segoe UI" pitchFamily="34" charset="-120"/>
              </a:rPr>
              <a:t>Best price first; at a tied price, whoever arrived first. Everything else is bookkeeping.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7A</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Outcome 1 — the order rests</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097280"/>
            <a:ext cx="3931920" cy="1371600"/>
          </a:xfrm>
          <a:prstGeom prst="rect">
            <a:avLst/>
          </a:prstGeom>
          <a:solidFill>
            <a:srgbClr val="141C19"/>
          </a:solidFill>
          <a:ln w="12700">
            <a:solidFill>
              <a:srgbClr val="2A3A34"/>
            </a:solidFill>
            <a:prstDash val="solid"/>
          </a:ln>
        </p:spPr>
        <p:txBody>
          <a:bodyPr/>
          <a:lstStyle/>
          <a:p>
            <a:endParaRPr lang="en-SE"/>
          </a:p>
        </p:txBody>
      </p:sp>
      <p:sp>
        <p:nvSpPr>
          <p:cNvPr id="8" name="Text 5"/>
          <p:cNvSpPr/>
          <p:nvPr/>
        </p:nvSpPr>
        <p:spPr>
          <a:xfrm>
            <a:off x="594360" y="1234440"/>
            <a:ext cx="3566160" cy="228600"/>
          </a:xfrm>
          <a:prstGeom prst="rect">
            <a:avLst/>
          </a:prstGeom>
          <a:noFill/>
          <a:ln/>
        </p:spPr>
        <p:txBody>
          <a:bodyPr wrap="square" lIns="0" tIns="0" rIns="0" bIns="0" rtlCol="0" anchor="ctr"/>
          <a:lstStyle/>
          <a:p>
            <a:pPr marL="0" indent="0">
              <a:buNone/>
            </a:pPr>
            <a:r>
              <a:rPr lang="en-US" sz="1000" kern="0" spc="200" dirty="0">
                <a:solidFill>
                  <a:srgbClr val="8AA79A"/>
                </a:solidFill>
                <a:latin typeface="Consolas" pitchFamily="34" charset="0"/>
                <a:ea typeface="Consolas" pitchFamily="34" charset="-122"/>
                <a:cs typeface="Consolas" pitchFamily="34" charset="-120"/>
              </a:rPr>
              <a:t>PRICE CHECK</a:t>
            </a:r>
            <a:endParaRPr lang="en-US" sz="1000" dirty="0"/>
          </a:p>
        </p:txBody>
      </p:sp>
      <p:sp>
        <p:nvSpPr>
          <p:cNvPr id="9" name="Text 6"/>
          <p:cNvSpPr/>
          <p:nvPr/>
        </p:nvSpPr>
        <p:spPr>
          <a:xfrm>
            <a:off x="594360" y="1508760"/>
            <a:ext cx="3566160" cy="365760"/>
          </a:xfrm>
          <a:prstGeom prst="rect">
            <a:avLst/>
          </a:prstGeom>
          <a:noFill/>
          <a:ln/>
        </p:spPr>
        <p:txBody>
          <a:bodyPr wrap="square" lIns="0" tIns="0" rIns="0" bIns="0" rtlCol="0" anchor="ctr"/>
          <a:lstStyle/>
          <a:p>
            <a:pPr marL="0" indent="0" algn="ctr">
              <a:buNone/>
            </a:pPr>
            <a:r>
              <a:rPr lang="en-US" sz="2200" b="1" dirty="0">
                <a:solidFill>
                  <a:srgbClr val="FF5C6C"/>
                </a:solidFill>
                <a:latin typeface="Consolas" pitchFamily="34" charset="0"/>
                <a:ea typeface="Consolas" pitchFamily="34" charset="-122"/>
                <a:cs typeface="Consolas" pitchFamily="34" charset="-120"/>
              </a:rPr>
              <a:t>150.50  &gt;  150.00</a:t>
            </a:r>
            <a:endParaRPr lang="en-US" sz="2200" dirty="0"/>
          </a:p>
        </p:txBody>
      </p:sp>
      <p:sp>
        <p:nvSpPr>
          <p:cNvPr id="10" name="Text 7"/>
          <p:cNvSpPr/>
          <p:nvPr/>
        </p:nvSpPr>
        <p:spPr>
          <a:xfrm>
            <a:off x="594360" y="1920240"/>
            <a:ext cx="3566160" cy="457200"/>
          </a:xfrm>
          <a:prstGeom prst="rect">
            <a:avLst/>
          </a:prstGeom>
          <a:noFill/>
          <a:ln/>
        </p:spPr>
        <p:txBody>
          <a:bodyPr wrap="square" lIns="0" tIns="0" rIns="0" bIns="0" rtlCol="0" anchor="ctr"/>
          <a:lstStyle/>
          <a:p>
            <a:pPr marL="0" indent="0" algn="ctr">
              <a:buNone/>
            </a:pPr>
            <a:r>
              <a:rPr lang="en-US" sz="1000" dirty="0">
                <a:solidFill>
                  <a:srgbClr val="8AA79A"/>
                </a:solidFill>
                <a:latin typeface="Segoe UI" pitchFamily="34" charset="0"/>
                <a:ea typeface="Segoe UI" pitchFamily="34" charset="-122"/>
                <a:cs typeface="Segoe UI" pitchFamily="34" charset="-120"/>
              </a:rPr>
              <a:t>best ask worse than our limit → break on the first iteration, nothing trades</a:t>
            </a:r>
            <a:endParaRPr lang="en-US" sz="1000" dirty="0"/>
          </a:p>
        </p:txBody>
      </p:sp>
      <p:sp>
        <p:nvSpPr>
          <p:cNvPr id="11" name="panel">
            <a:extLst>
              <a:ext uri="{C183D7F6-B498-43B3-948B-1728B52AA6E4}">
                <adec:decorative xmlns:adec="http://schemas.microsoft.com/office/drawing/2017/decorative" val="1"/>
              </a:ext>
            </a:extLst>
          </p:cNvPr>
          <p:cNvSpPr/>
          <p:nvPr/>
        </p:nvSpPr>
        <p:spPr>
          <a:xfrm>
            <a:off x="4617720" y="1097280"/>
            <a:ext cx="4114800" cy="1371600"/>
          </a:xfrm>
          <a:prstGeom prst="rect">
            <a:avLst/>
          </a:prstGeom>
          <a:solidFill>
            <a:srgbClr val="141C19"/>
          </a:solidFill>
          <a:ln w="12700">
            <a:solidFill>
              <a:srgbClr val="2A3A34"/>
            </a:solidFill>
            <a:prstDash val="solid"/>
          </a:ln>
        </p:spPr>
        <p:txBody>
          <a:bodyPr/>
          <a:lstStyle/>
          <a:p>
            <a:endParaRPr lang="en-SE"/>
          </a:p>
        </p:txBody>
      </p:sp>
      <p:sp>
        <p:nvSpPr>
          <p:cNvPr id="12" name="Text 9"/>
          <p:cNvSpPr/>
          <p:nvPr/>
        </p:nvSpPr>
        <p:spPr>
          <a:xfrm>
            <a:off x="4800600" y="1234440"/>
            <a:ext cx="3749040" cy="228600"/>
          </a:xfrm>
          <a:prstGeom prst="rect">
            <a:avLst/>
          </a:prstGeom>
          <a:noFill/>
          <a:ln/>
        </p:spPr>
        <p:txBody>
          <a:bodyPr wrap="square" lIns="0" tIns="0" rIns="0" bIns="0" rtlCol="0" anchor="ctr"/>
          <a:lstStyle/>
          <a:p>
            <a:pPr marL="0" indent="0">
              <a:buNone/>
            </a:pPr>
            <a:r>
              <a:rPr lang="en-US" sz="1000" kern="0" spc="200" dirty="0">
                <a:solidFill>
                  <a:srgbClr val="8AA79A"/>
                </a:solidFill>
                <a:latin typeface="Consolas" pitchFamily="34" charset="0"/>
                <a:ea typeface="Consolas" pitchFamily="34" charset="-122"/>
                <a:cs typeface="Consolas" pitchFamily="34" charset="-120"/>
              </a:rPr>
              <a:t>HEAP ENTRY (BID)</a:t>
            </a:r>
            <a:endParaRPr lang="en-US" sz="1000" dirty="0"/>
          </a:p>
        </p:txBody>
      </p:sp>
      <p:sp>
        <p:nvSpPr>
          <p:cNvPr id="13" name="Text 10"/>
          <p:cNvSpPr/>
          <p:nvPr/>
        </p:nvSpPr>
        <p:spPr>
          <a:xfrm>
            <a:off x="4800600" y="1508760"/>
            <a:ext cx="3749040" cy="365760"/>
          </a:xfrm>
          <a:prstGeom prst="rect">
            <a:avLst/>
          </a:prstGeom>
          <a:noFill/>
          <a:ln/>
        </p:spPr>
        <p:txBody>
          <a:bodyPr wrap="square" lIns="0" tIns="0" rIns="0" bIns="0" rtlCol="0" anchor="ctr"/>
          <a:lstStyle/>
          <a:p>
            <a:pPr marL="0" indent="0" algn="ctr">
              <a:buNone/>
            </a:pPr>
            <a:r>
              <a:rPr lang="en-US" sz="1600" b="1" dirty="0">
                <a:solidFill>
                  <a:srgbClr val="39FF88"/>
                </a:solidFill>
                <a:latin typeface="Consolas" pitchFamily="34" charset="0"/>
                <a:ea typeface="Consolas" pitchFamily="34" charset="-122"/>
                <a:cs typeface="Consolas" pitchFamily="34" charset="-120"/>
              </a:rPr>
              <a:t>key = (-15000, arrival_seq)</a:t>
            </a:r>
            <a:endParaRPr lang="en-US" sz="1600" dirty="0"/>
          </a:p>
        </p:txBody>
      </p:sp>
      <p:sp>
        <p:nvSpPr>
          <p:cNvPr id="14" name="Text 11"/>
          <p:cNvSpPr/>
          <p:nvPr/>
        </p:nvSpPr>
        <p:spPr>
          <a:xfrm>
            <a:off x="4800600" y="1920240"/>
            <a:ext cx="3749040" cy="457200"/>
          </a:xfrm>
          <a:prstGeom prst="rect">
            <a:avLst/>
          </a:prstGeom>
          <a:noFill/>
          <a:ln/>
        </p:spPr>
        <p:txBody>
          <a:bodyPr wrap="square" lIns="0" tIns="0" rIns="0" bIns="0" rtlCol="0" anchor="ctr"/>
          <a:lstStyle/>
          <a:p>
            <a:pPr marL="0" indent="0" algn="ctr">
              <a:buNone/>
            </a:pPr>
            <a:r>
              <a:rPr lang="en-US" sz="1000" dirty="0">
                <a:solidFill>
                  <a:srgbClr val="8AA79A"/>
                </a:solidFill>
                <a:latin typeface="Segoe UI" pitchFamily="34" charset="0"/>
                <a:ea typeface="Segoe UI" pitchFamily="34" charset="-122"/>
                <a:cs typeface="Segoe UI" pitchFamily="34" charset="-120"/>
              </a:rPr>
              <a:t>negated price so a min-heap pops the highest bid first; asks use (price, arrival_seq)</a:t>
            </a:r>
            <a:endParaRPr lang="en-US" sz="1000" dirty="0"/>
          </a:p>
        </p:txBody>
      </p:sp>
      <p:sp>
        <p:nvSpPr>
          <p:cNvPr id="15" name="panel">
            <a:extLst>
              <a:ext uri="{C183D7F6-B498-43B3-948B-1728B52AA6E4}">
                <adec:decorative xmlns:adec="http://schemas.microsoft.com/office/drawing/2017/decorative" val="1"/>
              </a:ext>
            </a:extLst>
          </p:cNvPr>
          <p:cNvSpPr/>
          <p:nvPr/>
        </p:nvSpPr>
        <p:spPr>
          <a:xfrm>
            <a:off x="411480" y="2697480"/>
            <a:ext cx="1965960" cy="960120"/>
          </a:xfrm>
          <a:prstGeom prst="rect">
            <a:avLst/>
          </a:prstGeom>
          <a:solidFill>
            <a:srgbClr val="141C19"/>
          </a:solidFill>
          <a:ln w="12700">
            <a:solidFill>
              <a:srgbClr val="2A3A34"/>
            </a:solidFill>
            <a:prstDash val="solid"/>
          </a:ln>
        </p:spPr>
        <p:txBody>
          <a:bodyPr/>
          <a:lstStyle/>
          <a:p>
            <a:endParaRPr lang="en-SE"/>
          </a:p>
        </p:txBody>
      </p:sp>
      <p:sp>
        <p:nvSpPr>
          <p:cNvPr id="16" name="accent bar">
            <a:extLst>
              <a:ext uri="{C183D7F6-B498-43B3-948B-1728B52AA6E4}">
                <adec:decorative xmlns:adec="http://schemas.microsoft.com/office/drawing/2017/decorative" val="1"/>
              </a:ext>
            </a:extLst>
          </p:cNvPr>
          <p:cNvSpPr/>
          <p:nvPr/>
        </p:nvSpPr>
        <p:spPr>
          <a:xfrm>
            <a:off x="411480" y="2697480"/>
            <a:ext cx="54864" cy="960120"/>
          </a:xfrm>
          <a:prstGeom prst="rect">
            <a:avLst/>
          </a:prstGeom>
          <a:solidFill>
            <a:srgbClr val="39FF88"/>
          </a:solidFill>
          <a:ln w="12700">
            <a:solidFill>
              <a:srgbClr val="39FF88"/>
            </a:solidFill>
            <a:prstDash val="solid"/>
          </a:ln>
        </p:spPr>
        <p:txBody>
          <a:bodyPr/>
          <a:lstStyle/>
          <a:p>
            <a:endParaRPr lang="en-SE"/>
          </a:p>
        </p:txBody>
      </p:sp>
      <p:sp>
        <p:nvSpPr>
          <p:cNvPr id="17" name="Text 14"/>
          <p:cNvSpPr/>
          <p:nvPr/>
        </p:nvSpPr>
        <p:spPr>
          <a:xfrm>
            <a:off x="594360" y="2834640"/>
            <a:ext cx="1691640" cy="274320"/>
          </a:xfrm>
          <a:prstGeom prst="rect">
            <a:avLst/>
          </a:prstGeom>
          <a:noFill/>
          <a:ln/>
        </p:spPr>
        <p:txBody>
          <a:bodyPr wrap="square" lIns="0" tIns="0" rIns="0" bIns="0" rtlCol="0" anchor="ctr"/>
          <a:lstStyle/>
          <a:p>
            <a:pPr marL="0" indent="0">
              <a:buNone/>
            </a:pPr>
            <a:r>
              <a:rPr lang="en-US" sz="1000" b="1" dirty="0">
                <a:solidFill>
                  <a:srgbClr val="39FF88"/>
                </a:solidFill>
                <a:latin typeface="Consolas" pitchFamily="34" charset="0"/>
                <a:ea typeface="Consolas" pitchFamily="34" charset="-122"/>
                <a:cs typeface="Consolas" pitchFamily="34" charset="-120"/>
              </a:rPr>
              <a:t>_bids heap</a:t>
            </a:r>
            <a:endParaRPr lang="en-US" sz="1000" dirty="0"/>
          </a:p>
        </p:txBody>
      </p:sp>
      <p:sp>
        <p:nvSpPr>
          <p:cNvPr id="18" name="Text 15"/>
          <p:cNvSpPr/>
          <p:nvPr/>
        </p:nvSpPr>
        <p:spPr>
          <a:xfrm>
            <a:off x="594360" y="3127248"/>
            <a:ext cx="1691640" cy="457200"/>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heappush(key, order)</a:t>
            </a:r>
            <a:endParaRPr lang="en-US" sz="1000" dirty="0"/>
          </a:p>
        </p:txBody>
      </p:sp>
      <p:sp>
        <p:nvSpPr>
          <p:cNvPr id="19" name="panel">
            <a:extLst>
              <a:ext uri="{C183D7F6-B498-43B3-948B-1728B52AA6E4}">
                <adec:decorative xmlns:adec="http://schemas.microsoft.com/office/drawing/2017/decorative" val="1"/>
              </a:ext>
            </a:extLst>
          </p:cNvPr>
          <p:cNvSpPr/>
          <p:nvPr/>
        </p:nvSpPr>
        <p:spPr>
          <a:xfrm>
            <a:off x="2532888" y="2697480"/>
            <a:ext cx="1965960" cy="960120"/>
          </a:xfrm>
          <a:prstGeom prst="rect">
            <a:avLst/>
          </a:prstGeom>
          <a:solidFill>
            <a:srgbClr val="141C19"/>
          </a:solidFill>
          <a:ln w="12700">
            <a:solidFill>
              <a:srgbClr val="2A3A34"/>
            </a:solidFill>
            <a:prstDash val="solid"/>
          </a:ln>
        </p:spPr>
        <p:txBody>
          <a:bodyPr/>
          <a:lstStyle/>
          <a:p>
            <a:endParaRPr lang="en-SE"/>
          </a:p>
        </p:txBody>
      </p:sp>
      <p:sp>
        <p:nvSpPr>
          <p:cNvPr id="20" name="accent bar">
            <a:extLst>
              <a:ext uri="{C183D7F6-B498-43B3-948B-1728B52AA6E4}">
                <adec:decorative xmlns:adec="http://schemas.microsoft.com/office/drawing/2017/decorative" val="1"/>
              </a:ext>
            </a:extLst>
          </p:cNvPr>
          <p:cNvSpPr/>
          <p:nvPr/>
        </p:nvSpPr>
        <p:spPr>
          <a:xfrm>
            <a:off x="2532888" y="2697480"/>
            <a:ext cx="54864" cy="960120"/>
          </a:xfrm>
          <a:prstGeom prst="rect">
            <a:avLst/>
          </a:prstGeom>
          <a:solidFill>
            <a:srgbClr val="39FF88"/>
          </a:solidFill>
          <a:ln w="12700">
            <a:solidFill>
              <a:srgbClr val="39FF88"/>
            </a:solidFill>
            <a:prstDash val="solid"/>
          </a:ln>
        </p:spPr>
        <p:txBody>
          <a:bodyPr/>
          <a:lstStyle/>
          <a:p>
            <a:endParaRPr lang="en-SE"/>
          </a:p>
        </p:txBody>
      </p:sp>
      <p:sp>
        <p:nvSpPr>
          <p:cNvPr id="21" name="Text 18"/>
          <p:cNvSpPr/>
          <p:nvPr/>
        </p:nvSpPr>
        <p:spPr>
          <a:xfrm>
            <a:off x="2715768" y="2834640"/>
            <a:ext cx="1691640" cy="274320"/>
          </a:xfrm>
          <a:prstGeom prst="rect">
            <a:avLst/>
          </a:prstGeom>
          <a:noFill/>
          <a:ln/>
        </p:spPr>
        <p:txBody>
          <a:bodyPr wrap="square" lIns="0" tIns="0" rIns="0" bIns="0" rtlCol="0" anchor="ctr"/>
          <a:lstStyle/>
          <a:p>
            <a:pPr marL="0" indent="0">
              <a:buNone/>
            </a:pPr>
            <a:r>
              <a:rPr lang="en-US" sz="1000" b="1" dirty="0">
                <a:solidFill>
                  <a:srgbClr val="39FF88"/>
                </a:solidFill>
                <a:latin typeface="Consolas" pitchFamily="34" charset="0"/>
                <a:ea typeface="Consolas" pitchFamily="34" charset="-122"/>
                <a:cs typeface="Consolas" pitchFamily="34" charset="-120"/>
              </a:rPr>
              <a:t>_bid_qty[price]</a:t>
            </a:r>
            <a:endParaRPr lang="en-US" sz="1000" dirty="0"/>
          </a:p>
        </p:txBody>
      </p:sp>
      <p:sp>
        <p:nvSpPr>
          <p:cNvPr id="22" name="Text 19"/>
          <p:cNvSpPr/>
          <p:nvPr/>
        </p:nvSpPr>
        <p:spPr>
          <a:xfrm>
            <a:off x="2715768" y="3127248"/>
            <a:ext cx="1691640" cy="457200"/>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 remaining_qty</a:t>
            </a:r>
            <a:endParaRPr lang="en-US" sz="1000" dirty="0"/>
          </a:p>
        </p:txBody>
      </p:sp>
      <p:sp>
        <p:nvSpPr>
          <p:cNvPr id="23" name="panel">
            <a:extLst>
              <a:ext uri="{C183D7F6-B498-43B3-948B-1728B52AA6E4}">
                <adec:decorative xmlns:adec="http://schemas.microsoft.com/office/drawing/2017/decorative" val="1"/>
              </a:ext>
            </a:extLst>
          </p:cNvPr>
          <p:cNvSpPr/>
          <p:nvPr/>
        </p:nvSpPr>
        <p:spPr>
          <a:xfrm>
            <a:off x="4654296" y="2697480"/>
            <a:ext cx="1965960" cy="960120"/>
          </a:xfrm>
          <a:prstGeom prst="rect">
            <a:avLst/>
          </a:prstGeom>
          <a:solidFill>
            <a:srgbClr val="141C19"/>
          </a:solidFill>
          <a:ln w="12700">
            <a:solidFill>
              <a:srgbClr val="2A3A34"/>
            </a:solidFill>
            <a:prstDash val="solid"/>
          </a:ln>
        </p:spPr>
        <p:txBody>
          <a:bodyPr/>
          <a:lstStyle/>
          <a:p>
            <a:endParaRPr lang="en-SE"/>
          </a:p>
        </p:txBody>
      </p:sp>
      <p:sp>
        <p:nvSpPr>
          <p:cNvPr id="24" name="accent bar">
            <a:extLst>
              <a:ext uri="{C183D7F6-B498-43B3-948B-1728B52AA6E4}">
                <adec:decorative xmlns:adec="http://schemas.microsoft.com/office/drawing/2017/decorative" val="1"/>
              </a:ext>
            </a:extLst>
          </p:cNvPr>
          <p:cNvSpPr/>
          <p:nvPr/>
        </p:nvSpPr>
        <p:spPr>
          <a:xfrm>
            <a:off x="4654296" y="2697480"/>
            <a:ext cx="54864" cy="960120"/>
          </a:xfrm>
          <a:prstGeom prst="rect">
            <a:avLst/>
          </a:prstGeom>
          <a:solidFill>
            <a:srgbClr val="39FF88"/>
          </a:solidFill>
          <a:ln w="12700">
            <a:solidFill>
              <a:srgbClr val="39FF88"/>
            </a:solidFill>
            <a:prstDash val="solid"/>
          </a:ln>
        </p:spPr>
        <p:txBody>
          <a:bodyPr/>
          <a:lstStyle/>
          <a:p>
            <a:endParaRPr lang="en-SE"/>
          </a:p>
        </p:txBody>
      </p:sp>
      <p:sp>
        <p:nvSpPr>
          <p:cNvPr id="25" name="Text 22"/>
          <p:cNvSpPr/>
          <p:nvPr/>
        </p:nvSpPr>
        <p:spPr>
          <a:xfrm>
            <a:off x="4837176" y="2834640"/>
            <a:ext cx="1691640" cy="274320"/>
          </a:xfrm>
          <a:prstGeom prst="rect">
            <a:avLst/>
          </a:prstGeom>
          <a:noFill/>
          <a:ln/>
        </p:spPr>
        <p:txBody>
          <a:bodyPr wrap="square" lIns="0" tIns="0" rIns="0" bIns="0" rtlCol="0" anchor="ctr"/>
          <a:lstStyle/>
          <a:p>
            <a:pPr marL="0" indent="0">
              <a:buNone/>
            </a:pPr>
            <a:r>
              <a:rPr lang="en-US" sz="1000" b="1" dirty="0">
                <a:solidFill>
                  <a:srgbClr val="39FF88"/>
                </a:solidFill>
                <a:latin typeface="Consolas" pitchFamily="34" charset="0"/>
                <a:ea typeface="Consolas" pitchFamily="34" charset="-122"/>
                <a:cs typeface="Consolas" pitchFamily="34" charset="-120"/>
              </a:rPr>
              <a:t>_order_index[id]</a:t>
            </a:r>
            <a:endParaRPr lang="en-US" sz="1000" dirty="0"/>
          </a:p>
        </p:txBody>
      </p:sp>
      <p:sp>
        <p:nvSpPr>
          <p:cNvPr id="26" name="Text 23"/>
          <p:cNvSpPr/>
          <p:nvPr/>
        </p:nvSpPr>
        <p:spPr>
          <a:xfrm>
            <a:off x="4837176" y="3127248"/>
            <a:ext cx="1691640" cy="457200"/>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O(1) cancel / amend</a:t>
            </a:r>
            <a:endParaRPr lang="en-US" sz="1000" dirty="0"/>
          </a:p>
        </p:txBody>
      </p:sp>
      <p:sp>
        <p:nvSpPr>
          <p:cNvPr id="27" name="panel">
            <a:extLst>
              <a:ext uri="{C183D7F6-B498-43B3-948B-1728B52AA6E4}">
                <adec:decorative xmlns:adec="http://schemas.microsoft.com/office/drawing/2017/decorative" val="1"/>
              </a:ext>
            </a:extLst>
          </p:cNvPr>
          <p:cNvSpPr/>
          <p:nvPr/>
        </p:nvSpPr>
        <p:spPr>
          <a:xfrm>
            <a:off x="6775704" y="2697480"/>
            <a:ext cx="1965960" cy="960120"/>
          </a:xfrm>
          <a:prstGeom prst="rect">
            <a:avLst/>
          </a:prstGeom>
          <a:solidFill>
            <a:srgbClr val="141C19"/>
          </a:solidFill>
          <a:ln w="12700">
            <a:solidFill>
              <a:srgbClr val="2A3A34"/>
            </a:solidFill>
            <a:prstDash val="solid"/>
          </a:ln>
        </p:spPr>
        <p:txBody>
          <a:bodyPr/>
          <a:lstStyle/>
          <a:p>
            <a:endParaRPr lang="en-SE"/>
          </a:p>
        </p:txBody>
      </p:sp>
      <p:sp>
        <p:nvSpPr>
          <p:cNvPr id="28" name="accent bar">
            <a:extLst>
              <a:ext uri="{C183D7F6-B498-43B3-948B-1728B52AA6E4}">
                <adec:decorative xmlns:adec="http://schemas.microsoft.com/office/drawing/2017/decorative" val="1"/>
              </a:ext>
            </a:extLst>
          </p:cNvPr>
          <p:cNvSpPr/>
          <p:nvPr/>
        </p:nvSpPr>
        <p:spPr>
          <a:xfrm>
            <a:off x="6775704" y="2697480"/>
            <a:ext cx="54864" cy="960120"/>
          </a:xfrm>
          <a:prstGeom prst="rect">
            <a:avLst/>
          </a:prstGeom>
          <a:solidFill>
            <a:srgbClr val="39FF88"/>
          </a:solidFill>
          <a:ln w="12700">
            <a:solidFill>
              <a:srgbClr val="39FF88"/>
            </a:solidFill>
            <a:prstDash val="solid"/>
          </a:ln>
        </p:spPr>
        <p:txBody>
          <a:bodyPr/>
          <a:lstStyle/>
          <a:p>
            <a:endParaRPr lang="en-SE"/>
          </a:p>
        </p:txBody>
      </p:sp>
      <p:sp>
        <p:nvSpPr>
          <p:cNvPr id="29" name="Text 26"/>
          <p:cNvSpPr/>
          <p:nvPr/>
        </p:nvSpPr>
        <p:spPr>
          <a:xfrm>
            <a:off x="6958584" y="2834640"/>
            <a:ext cx="1691640" cy="274320"/>
          </a:xfrm>
          <a:prstGeom prst="rect">
            <a:avLst/>
          </a:prstGeom>
          <a:noFill/>
          <a:ln/>
        </p:spPr>
        <p:txBody>
          <a:bodyPr wrap="square" lIns="0" tIns="0" rIns="0" bIns="0" rtlCol="0" anchor="ctr"/>
          <a:lstStyle/>
          <a:p>
            <a:pPr marL="0" indent="0">
              <a:buNone/>
            </a:pPr>
            <a:r>
              <a:rPr lang="en-US" sz="1000" b="1" dirty="0">
                <a:solidFill>
                  <a:srgbClr val="39FF88"/>
                </a:solidFill>
                <a:latin typeface="Consolas" pitchFamily="34" charset="0"/>
                <a:ea typeface="Consolas" pitchFamily="34" charset="-122"/>
                <a:cs typeface="Consolas" pitchFamily="34" charset="-120"/>
              </a:rPr>
              <a:t>_mark_dirty(sym)</a:t>
            </a:r>
            <a:endParaRPr lang="en-US" sz="1000" dirty="0"/>
          </a:p>
        </p:txBody>
      </p:sp>
      <p:sp>
        <p:nvSpPr>
          <p:cNvPr id="30" name="Text 27"/>
          <p:cNvSpPr/>
          <p:nvPr/>
        </p:nvSpPr>
        <p:spPr>
          <a:xfrm>
            <a:off x="6958584" y="3127248"/>
            <a:ext cx="1691640" cy="457200"/>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next book.AAPL snapshot</a:t>
            </a:r>
            <a:endParaRPr lang="en-US" sz="1000" dirty="0"/>
          </a:p>
        </p:txBody>
      </p:sp>
      <p:sp>
        <p:nvSpPr>
          <p:cNvPr id="31" name="Text 28"/>
          <p:cNvSpPr/>
          <p:nvPr/>
        </p:nvSpPr>
        <p:spPr>
          <a:xfrm>
            <a:off x="411480" y="3840480"/>
            <a:ext cx="8321040" cy="274320"/>
          </a:xfrm>
          <a:prstGeom prst="rect">
            <a:avLst/>
          </a:prstGeom>
          <a:noFill/>
          <a:ln/>
        </p:spPr>
        <p:txBody>
          <a:bodyPr wrap="square" lIns="0" tIns="0" rIns="0" bIns="0" rtlCol="0" anchor="ctr"/>
          <a:lstStyle/>
          <a:p>
            <a:pPr marL="0" indent="0">
              <a:buNone/>
            </a:pPr>
            <a:r>
              <a:rPr lang="en-US" sz="1100" dirty="0">
                <a:solidFill>
                  <a:srgbClr val="EAF5F0"/>
                </a:solidFill>
                <a:latin typeface="Consolas" pitchFamily="34" charset="0"/>
                <a:ea typeface="Consolas" pitchFamily="34" charset="-122"/>
                <a:cs typeface="Consolas" pitchFamily="34" charset="-120"/>
              </a:rPr>
              <a:t>trades = []   events = []   → nothing published. The ACK is this order's only trace on the wire so far.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7B</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Outcome 2 — a crossing order, worked</a:t>
            </a:r>
            <a:endParaRPr lang="en-US" sz="2400" dirty="0"/>
          </a:p>
        </p:txBody>
      </p:sp>
      <p:sp>
        <p:nvSpPr>
          <p:cNvPr id="7" name="Text 4"/>
          <p:cNvSpPr/>
          <p:nvPr/>
        </p:nvSpPr>
        <p:spPr>
          <a:xfrm>
            <a:off x="411480" y="1051560"/>
            <a:ext cx="8321040" cy="274320"/>
          </a:xfrm>
          <a:prstGeom prst="rect">
            <a:avLst/>
          </a:prstGeom>
          <a:noFill/>
          <a:ln/>
        </p:spPr>
        <p:txBody>
          <a:bodyPr wrap="square" lIns="0" tIns="0" rIns="0" bIns="0" rtlCol="0" anchor="ctr"/>
          <a:lstStyle/>
          <a:p>
            <a:pPr marL="0" indent="0">
              <a:buNone/>
            </a:pPr>
            <a:r>
              <a:rPr lang="en-US" sz="1100" dirty="0">
                <a:solidFill>
                  <a:srgbClr val="39FF88"/>
                </a:solidFill>
                <a:latin typeface="Consolas" pitchFamily="34" charset="0"/>
                <a:ea typeface="Consolas" pitchFamily="34" charset="-122"/>
                <a:cs typeface="Consolas" pitchFamily="34" charset="-120"/>
              </a:rPr>
              <a:t>Aggressor: BUY 50 @ 150.50  ·  price check passes (150.50 is not &gt; 150.50)</a:t>
            </a:r>
            <a:endParaRPr lang="en-US" sz="1100" dirty="0"/>
          </a:p>
        </p:txBody>
      </p:sp>
      <p:sp>
        <p:nvSpPr>
          <p:cNvPr id="8" name="panel">
            <a:extLst>
              <a:ext uri="{C183D7F6-B498-43B3-948B-1728B52AA6E4}">
                <adec:decorative xmlns:adec="http://schemas.microsoft.com/office/drawing/2017/decorative" val="1"/>
              </a:ext>
            </a:extLst>
          </p:cNvPr>
          <p:cNvSpPr/>
          <p:nvPr/>
        </p:nvSpPr>
        <p:spPr>
          <a:xfrm>
            <a:off x="411480" y="1417320"/>
            <a:ext cx="8321040" cy="1234440"/>
          </a:xfrm>
          <a:prstGeom prst="rect">
            <a:avLst/>
          </a:prstGeom>
          <a:solidFill>
            <a:srgbClr val="141C19"/>
          </a:solidFill>
          <a:ln w="12700">
            <a:solidFill>
              <a:srgbClr val="2A3A34"/>
            </a:solidFill>
            <a:prstDash val="solid"/>
          </a:ln>
        </p:spPr>
        <p:txBody>
          <a:bodyPr/>
          <a:lstStyle/>
          <a:p>
            <a:endParaRPr lang="en-SE"/>
          </a:p>
        </p:txBody>
      </p:sp>
      <p:sp>
        <p:nvSpPr>
          <p:cNvPr id="9" name="Text 6"/>
          <p:cNvSpPr/>
          <p:nvPr/>
        </p:nvSpPr>
        <p:spPr>
          <a:xfrm>
            <a:off x="640080" y="1572768"/>
            <a:ext cx="7863840" cy="320040"/>
          </a:xfrm>
          <a:prstGeom prst="rect">
            <a:avLst/>
          </a:prstGeom>
          <a:noFill/>
          <a:ln/>
        </p:spPr>
        <p:txBody>
          <a:bodyPr wrap="square" lIns="0" tIns="0" rIns="0" bIns="0" rtlCol="0" anchor="ctr"/>
          <a:lstStyle/>
          <a:p>
            <a:pPr marL="0" indent="0">
              <a:buNone/>
            </a:pPr>
            <a:r>
              <a:rPr lang="en-US" sz="1600" b="1" dirty="0">
                <a:solidFill>
                  <a:srgbClr val="39FF88"/>
                </a:solidFill>
                <a:latin typeface="Consolas" pitchFamily="34" charset="0"/>
                <a:ea typeface="Consolas" pitchFamily="34" charset="-122"/>
                <a:cs typeface="Consolas" pitchFamily="34" charset="-120"/>
              </a:rPr>
              <a:t>fill_qty = min(50, 200) = 50   @ 150.50</a:t>
            </a:r>
            <a:endParaRPr lang="en-US" sz="1600" dirty="0"/>
          </a:p>
        </p:txBody>
      </p:sp>
      <p:sp>
        <p:nvSpPr>
          <p:cNvPr id="10" name="fill result">
            <a:extLst>
              <a:ext uri="{C183D7F6-B498-43B3-948B-1728B52AA6E4}">
                <adec:decorative xmlns:adec="http://schemas.microsoft.com/office/drawing/2017/decorative" val="1"/>
              </a:ext>
            </a:extLst>
          </p:cNvPr>
          <p:cNvSpPr/>
          <p:nvPr/>
        </p:nvSpPr>
        <p:spPr>
          <a:xfrm>
            <a:off x="640080" y="1947672"/>
            <a:ext cx="3749040" cy="594360"/>
          </a:xfrm>
          <a:prstGeom prst="rect">
            <a:avLst/>
          </a:prstGeom>
          <a:solidFill>
            <a:srgbClr val="1B2621"/>
          </a:solidFill>
          <a:ln w="12700">
            <a:solidFill>
              <a:srgbClr val="39FF88"/>
            </a:solidFill>
            <a:prstDash val="solid"/>
          </a:ln>
        </p:spPr>
        <p:txBody>
          <a:bodyPr/>
          <a:lstStyle/>
          <a:p>
            <a:endParaRPr lang="en-SE"/>
          </a:p>
        </p:txBody>
      </p:sp>
      <p:sp>
        <p:nvSpPr>
          <p:cNvPr id="11" name="Text 8"/>
          <p:cNvSpPr/>
          <p:nvPr/>
        </p:nvSpPr>
        <p:spPr>
          <a:xfrm>
            <a:off x="749808" y="2011680"/>
            <a:ext cx="182880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AGGRESSOR  BUY 50</a:t>
            </a:r>
            <a:endParaRPr lang="en-US" sz="900" dirty="0"/>
          </a:p>
        </p:txBody>
      </p:sp>
      <p:sp>
        <p:nvSpPr>
          <p:cNvPr id="12" name="Text 9"/>
          <p:cNvSpPr/>
          <p:nvPr/>
        </p:nvSpPr>
        <p:spPr>
          <a:xfrm>
            <a:off x="749808" y="2231136"/>
            <a:ext cx="1828800" cy="256032"/>
          </a:xfrm>
          <a:prstGeom prst="rect">
            <a:avLst/>
          </a:prstGeom>
          <a:noFill/>
          <a:ln/>
        </p:spPr>
        <p:txBody>
          <a:bodyPr wrap="square" lIns="0" tIns="0" rIns="0" bIns="0" rtlCol="0" anchor="ctr"/>
          <a:lstStyle/>
          <a:p>
            <a:pPr marL="0" indent="0">
              <a:buNone/>
            </a:pPr>
            <a:r>
              <a:rPr lang="en-US" sz="1300" b="1" dirty="0">
                <a:solidFill>
                  <a:srgbClr val="39FF88"/>
                </a:solidFill>
                <a:latin typeface="Consolas" pitchFamily="34" charset="0"/>
                <a:ea typeface="Consolas" pitchFamily="34" charset="-122"/>
                <a:cs typeface="Consolas" pitchFamily="34" charset="-120"/>
              </a:rPr>
              <a:t>50 → 0</a:t>
            </a:r>
            <a:endParaRPr lang="en-US" sz="1300" dirty="0"/>
          </a:p>
        </p:txBody>
      </p:sp>
      <p:sp>
        <p:nvSpPr>
          <p:cNvPr id="13" name="Text 10"/>
          <p:cNvSpPr/>
          <p:nvPr/>
        </p:nvSpPr>
        <p:spPr>
          <a:xfrm>
            <a:off x="2651760" y="2157984"/>
            <a:ext cx="1645920" cy="274320"/>
          </a:xfrm>
          <a:prstGeom prst="rect">
            <a:avLst/>
          </a:prstGeom>
          <a:noFill/>
          <a:ln/>
        </p:spPr>
        <p:txBody>
          <a:bodyPr wrap="square" lIns="0" tIns="0" rIns="0" bIns="0" rtlCol="0" anchor="ctr"/>
          <a:lstStyle/>
          <a:p>
            <a:pPr marL="0" indent="0" algn="r">
              <a:buNone/>
            </a:pPr>
            <a:r>
              <a:rPr lang="en-US" sz="1100" dirty="0">
                <a:solidFill>
                  <a:srgbClr val="39FF88"/>
                </a:solidFill>
                <a:latin typeface="Consolas" pitchFamily="34" charset="0"/>
                <a:ea typeface="Consolas" pitchFamily="34" charset="-122"/>
                <a:cs typeface="Consolas" pitchFamily="34" charset="-120"/>
              </a:rPr>
              <a:t>status = FILLED</a:t>
            </a:r>
            <a:endParaRPr lang="en-US" sz="1100" dirty="0"/>
          </a:p>
        </p:txBody>
      </p:sp>
      <p:sp>
        <p:nvSpPr>
          <p:cNvPr id="14" name="fill result">
            <a:extLst>
              <a:ext uri="{C183D7F6-B498-43B3-948B-1728B52AA6E4}">
                <adec:decorative xmlns:adec="http://schemas.microsoft.com/office/drawing/2017/decorative" val="1"/>
              </a:ext>
            </a:extLst>
          </p:cNvPr>
          <p:cNvSpPr/>
          <p:nvPr/>
        </p:nvSpPr>
        <p:spPr>
          <a:xfrm>
            <a:off x="4617720" y="1947672"/>
            <a:ext cx="3749040" cy="594360"/>
          </a:xfrm>
          <a:prstGeom prst="rect">
            <a:avLst/>
          </a:prstGeom>
          <a:solidFill>
            <a:srgbClr val="1B2621"/>
          </a:solidFill>
          <a:ln w="12700">
            <a:solidFill>
              <a:srgbClr val="FFC24B"/>
            </a:solidFill>
            <a:prstDash val="solid"/>
          </a:ln>
        </p:spPr>
        <p:txBody>
          <a:bodyPr/>
          <a:lstStyle/>
          <a:p>
            <a:endParaRPr lang="en-SE"/>
          </a:p>
        </p:txBody>
      </p:sp>
      <p:sp>
        <p:nvSpPr>
          <p:cNvPr id="15" name="Text 12"/>
          <p:cNvSpPr/>
          <p:nvPr/>
        </p:nvSpPr>
        <p:spPr>
          <a:xfrm>
            <a:off x="4727448" y="2011680"/>
            <a:ext cx="1828800" cy="228600"/>
          </a:xfrm>
          <a:prstGeom prst="rect">
            <a:avLst/>
          </a:prstGeom>
          <a:noFill/>
          <a:ln/>
        </p:spPr>
        <p:txBody>
          <a:bodyPr wrap="square" lIns="0" tIns="0" rIns="0" bIns="0" rtlCol="0" anchor="ctr"/>
          <a:lstStyle/>
          <a:p>
            <a:pPr marL="0" indent="0">
              <a:buNone/>
            </a:pPr>
            <a:r>
              <a:rPr lang="en-US" sz="900" dirty="0">
                <a:solidFill>
                  <a:srgbClr val="8AA79A"/>
                </a:solidFill>
                <a:latin typeface="Consolas" pitchFamily="34" charset="0"/>
                <a:ea typeface="Consolas" pitchFamily="34" charset="-122"/>
                <a:cs typeface="Consolas" pitchFamily="34" charset="-120"/>
              </a:rPr>
              <a:t>RESTING  SELL 200</a:t>
            </a:r>
            <a:endParaRPr lang="en-US" sz="900" dirty="0"/>
          </a:p>
        </p:txBody>
      </p:sp>
      <p:sp>
        <p:nvSpPr>
          <p:cNvPr id="16" name="Text 13"/>
          <p:cNvSpPr/>
          <p:nvPr/>
        </p:nvSpPr>
        <p:spPr>
          <a:xfrm>
            <a:off x="4727448" y="2231136"/>
            <a:ext cx="1828800" cy="256032"/>
          </a:xfrm>
          <a:prstGeom prst="rect">
            <a:avLst/>
          </a:prstGeom>
          <a:noFill/>
          <a:ln/>
        </p:spPr>
        <p:txBody>
          <a:bodyPr wrap="square" lIns="0" tIns="0" rIns="0" bIns="0" rtlCol="0" anchor="ctr"/>
          <a:lstStyle/>
          <a:p>
            <a:pPr marL="0" indent="0">
              <a:buNone/>
            </a:pPr>
            <a:r>
              <a:rPr lang="en-US" sz="1300" b="1" dirty="0">
                <a:solidFill>
                  <a:srgbClr val="FFC24B"/>
                </a:solidFill>
                <a:latin typeface="Consolas" pitchFamily="34" charset="0"/>
                <a:ea typeface="Consolas" pitchFamily="34" charset="-122"/>
                <a:cs typeface="Consolas" pitchFamily="34" charset="-120"/>
              </a:rPr>
              <a:t>200 → 150</a:t>
            </a:r>
            <a:endParaRPr lang="en-US" sz="1300" dirty="0"/>
          </a:p>
        </p:txBody>
      </p:sp>
      <p:sp>
        <p:nvSpPr>
          <p:cNvPr id="17" name="Text 14"/>
          <p:cNvSpPr/>
          <p:nvPr/>
        </p:nvSpPr>
        <p:spPr>
          <a:xfrm>
            <a:off x="6629400" y="2157984"/>
            <a:ext cx="1645920" cy="274320"/>
          </a:xfrm>
          <a:prstGeom prst="rect">
            <a:avLst/>
          </a:prstGeom>
          <a:noFill/>
          <a:ln/>
        </p:spPr>
        <p:txBody>
          <a:bodyPr wrap="square" lIns="0" tIns="0" rIns="0" bIns="0" rtlCol="0" anchor="ctr"/>
          <a:lstStyle/>
          <a:p>
            <a:pPr marL="0" indent="0" algn="r">
              <a:buNone/>
            </a:pPr>
            <a:r>
              <a:rPr lang="en-US" sz="1100" dirty="0">
                <a:solidFill>
                  <a:srgbClr val="FFC24B"/>
                </a:solidFill>
                <a:latin typeface="Consolas" pitchFamily="34" charset="0"/>
                <a:ea typeface="Consolas" pitchFamily="34" charset="-122"/>
                <a:cs typeface="Consolas" pitchFamily="34" charset="-120"/>
              </a:rPr>
              <a:t>status = PARTIAL</a:t>
            </a:r>
            <a:endParaRPr lang="en-US" sz="1100" dirty="0"/>
          </a:p>
        </p:txBody>
      </p:sp>
      <p:sp>
        <p:nvSpPr>
          <p:cNvPr id="18" name="panel">
            <a:extLst>
              <a:ext uri="{C183D7F6-B498-43B3-948B-1728B52AA6E4}">
                <adec:decorative xmlns:adec="http://schemas.microsoft.com/office/drawing/2017/decorative" val="1"/>
              </a:ext>
            </a:extLst>
          </p:cNvPr>
          <p:cNvSpPr/>
          <p:nvPr/>
        </p:nvSpPr>
        <p:spPr>
          <a:xfrm>
            <a:off x="411480" y="2834640"/>
            <a:ext cx="2651760" cy="914400"/>
          </a:xfrm>
          <a:prstGeom prst="rect">
            <a:avLst/>
          </a:prstGeom>
          <a:solidFill>
            <a:srgbClr val="141C19"/>
          </a:solidFill>
          <a:ln w="12700">
            <a:solidFill>
              <a:srgbClr val="2A3A34"/>
            </a:solidFill>
            <a:prstDash val="solid"/>
          </a:ln>
        </p:spPr>
        <p:txBody>
          <a:bodyPr/>
          <a:lstStyle/>
          <a:p>
            <a:endParaRPr lang="en-SE"/>
          </a:p>
        </p:txBody>
      </p:sp>
      <p:sp>
        <p:nvSpPr>
          <p:cNvPr id="19" name="accent bar">
            <a:extLst>
              <a:ext uri="{C183D7F6-B498-43B3-948B-1728B52AA6E4}">
                <adec:decorative xmlns:adec="http://schemas.microsoft.com/office/drawing/2017/decorative" val="1"/>
              </a:ext>
            </a:extLst>
          </p:cNvPr>
          <p:cNvSpPr/>
          <p:nvPr/>
        </p:nvSpPr>
        <p:spPr>
          <a:xfrm>
            <a:off x="411480" y="2834640"/>
            <a:ext cx="54864" cy="914400"/>
          </a:xfrm>
          <a:prstGeom prst="rect">
            <a:avLst/>
          </a:prstGeom>
          <a:solidFill>
            <a:srgbClr val="5AC8FA"/>
          </a:solidFill>
          <a:ln w="12700">
            <a:solidFill>
              <a:srgbClr val="5AC8FA"/>
            </a:solidFill>
            <a:prstDash val="solid"/>
          </a:ln>
        </p:spPr>
        <p:txBody>
          <a:bodyPr/>
          <a:lstStyle/>
          <a:p>
            <a:endParaRPr lang="en-SE"/>
          </a:p>
        </p:txBody>
      </p:sp>
      <p:sp>
        <p:nvSpPr>
          <p:cNvPr id="20" name="Text 17"/>
          <p:cNvSpPr/>
          <p:nvPr/>
        </p:nvSpPr>
        <p:spPr>
          <a:xfrm>
            <a:off x="594360" y="2971800"/>
            <a:ext cx="2377440" cy="274320"/>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1  Trade created</a:t>
            </a:r>
            <a:endParaRPr lang="en-US" sz="1200" dirty="0"/>
          </a:p>
        </p:txBody>
      </p:sp>
      <p:sp>
        <p:nvSpPr>
          <p:cNvPr id="21" name="Text 18"/>
          <p:cNvSpPr/>
          <p:nvPr/>
        </p:nvSpPr>
        <p:spPr>
          <a:xfrm>
            <a:off x="594360" y="3264408"/>
            <a:ext cx="2377440" cy="411480"/>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one print for the tape</a:t>
            </a:r>
            <a:endParaRPr lang="en-US" sz="1000" dirty="0"/>
          </a:p>
        </p:txBody>
      </p:sp>
      <p:sp>
        <p:nvSpPr>
          <p:cNvPr id="22" name="panel">
            <a:extLst>
              <a:ext uri="{C183D7F6-B498-43B3-948B-1728B52AA6E4}">
                <adec:decorative xmlns:adec="http://schemas.microsoft.com/office/drawing/2017/decorative" val="1"/>
              </a:ext>
            </a:extLst>
          </p:cNvPr>
          <p:cNvSpPr/>
          <p:nvPr/>
        </p:nvSpPr>
        <p:spPr>
          <a:xfrm>
            <a:off x="3246120" y="2834640"/>
            <a:ext cx="2651760" cy="914400"/>
          </a:xfrm>
          <a:prstGeom prst="rect">
            <a:avLst/>
          </a:prstGeom>
          <a:solidFill>
            <a:srgbClr val="141C19"/>
          </a:solidFill>
          <a:ln w="12700">
            <a:solidFill>
              <a:srgbClr val="2A3A34"/>
            </a:solidFill>
            <a:prstDash val="solid"/>
          </a:ln>
        </p:spPr>
        <p:txBody>
          <a:bodyPr/>
          <a:lstStyle/>
          <a:p>
            <a:endParaRPr lang="en-SE"/>
          </a:p>
        </p:txBody>
      </p:sp>
      <p:sp>
        <p:nvSpPr>
          <p:cNvPr id="23" name="accent bar">
            <a:extLst>
              <a:ext uri="{C183D7F6-B498-43B3-948B-1728B52AA6E4}">
                <adec:decorative xmlns:adec="http://schemas.microsoft.com/office/drawing/2017/decorative" val="1"/>
              </a:ext>
            </a:extLst>
          </p:cNvPr>
          <p:cNvSpPr/>
          <p:nvPr/>
        </p:nvSpPr>
        <p:spPr>
          <a:xfrm>
            <a:off x="3246120" y="2834640"/>
            <a:ext cx="54864" cy="914400"/>
          </a:xfrm>
          <a:prstGeom prst="rect">
            <a:avLst/>
          </a:prstGeom>
          <a:solidFill>
            <a:srgbClr val="5AC8FA"/>
          </a:solidFill>
          <a:ln w="12700">
            <a:solidFill>
              <a:srgbClr val="5AC8FA"/>
            </a:solidFill>
            <a:prstDash val="solid"/>
          </a:ln>
        </p:spPr>
        <p:txBody>
          <a:bodyPr/>
          <a:lstStyle/>
          <a:p>
            <a:endParaRPr lang="en-SE"/>
          </a:p>
        </p:txBody>
      </p:sp>
      <p:sp>
        <p:nvSpPr>
          <p:cNvPr id="24" name="Text 21"/>
          <p:cNvSpPr/>
          <p:nvPr/>
        </p:nvSpPr>
        <p:spPr>
          <a:xfrm>
            <a:off x="3429000" y="2971800"/>
            <a:ext cx="2377440" cy="274320"/>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2  Quantities decremented</a:t>
            </a:r>
            <a:endParaRPr lang="en-US" sz="1200" dirty="0"/>
          </a:p>
        </p:txBody>
      </p:sp>
      <p:sp>
        <p:nvSpPr>
          <p:cNvPr id="25" name="Text 22"/>
          <p:cNvSpPr/>
          <p:nvPr/>
        </p:nvSpPr>
        <p:spPr>
          <a:xfrm>
            <a:off x="3429000" y="3264408"/>
            <a:ext cx="2377440" cy="411480"/>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both sides, in one place</a:t>
            </a:r>
            <a:endParaRPr lang="en-US" sz="1000" dirty="0"/>
          </a:p>
        </p:txBody>
      </p:sp>
      <p:sp>
        <p:nvSpPr>
          <p:cNvPr id="26" name="panel">
            <a:extLst>
              <a:ext uri="{C183D7F6-B498-43B3-948B-1728B52AA6E4}">
                <adec:decorative xmlns:adec="http://schemas.microsoft.com/office/drawing/2017/decorative" val="1"/>
              </a:ext>
            </a:extLst>
          </p:cNvPr>
          <p:cNvSpPr/>
          <p:nvPr/>
        </p:nvSpPr>
        <p:spPr>
          <a:xfrm>
            <a:off x="6080760" y="2834640"/>
            <a:ext cx="2651760" cy="914400"/>
          </a:xfrm>
          <a:prstGeom prst="rect">
            <a:avLst/>
          </a:prstGeom>
          <a:solidFill>
            <a:srgbClr val="141C19"/>
          </a:solidFill>
          <a:ln w="12700">
            <a:solidFill>
              <a:srgbClr val="2A3A34"/>
            </a:solidFill>
            <a:prstDash val="solid"/>
          </a:ln>
        </p:spPr>
        <p:txBody>
          <a:bodyPr/>
          <a:lstStyle/>
          <a:p>
            <a:endParaRPr lang="en-SE"/>
          </a:p>
        </p:txBody>
      </p:sp>
      <p:sp>
        <p:nvSpPr>
          <p:cNvPr id="27" name="accent bar">
            <a:extLst>
              <a:ext uri="{C183D7F6-B498-43B3-948B-1728B52AA6E4}">
                <adec:decorative xmlns:adec="http://schemas.microsoft.com/office/drawing/2017/decorative" val="1"/>
              </a:ext>
            </a:extLst>
          </p:cNvPr>
          <p:cNvSpPr/>
          <p:nvPr/>
        </p:nvSpPr>
        <p:spPr>
          <a:xfrm>
            <a:off x="6080760" y="2834640"/>
            <a:ext cx="54864" cy="914400"/>
          </a:xfrm>
          <a:prstGeom prst="rect">
            <a:avLst/>
          </a:prstGeom>
          <a:solidFill>
            <a:srgbClr val="5AC8FA"/>
          </a:solidFill>
          <a:ln w="12700">
            <a:solidFill>
              <a:srgbClr val="5AC8FA"/>
            </a:solidFill>
            <a:prstDash val="solid"/>
          </a:ln>
        </p:spPr>
        <p:txBody>
          <a:bodyPr/>
          <a:lstStyle/>
          <a:p>
            <a:endParaRPr lang="en-SE"/>
          </a:p>
        </p:txBody>
      </p:sp>
      <p:sp>
        <p:nvSpPr>
          <p:cNvPr id="28" name="Text 25"/>
          <p:cNvSpPr/>
          <p:nvPr/>
        </p:nvSpPr>
        <p:spPr>
          <a:xfrm>
            <a:off x="6263640" y="2971800"/>
            <a:ext cx="2377440" cy="274320"/>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3  Statuses set</a:t>
            </a:r>
            <a:endParaRPr lang="en-US" sz="1200" dirty="0"/>
          </a:p>
        </p:txBody>
      </p:sp>
      <p:sp>
        <p:nvSpPr>
          <p:cNvPr id="29" name="Text 26"/>
          <p:cNvSpPr/>
          <p:nvPr/>
        </p:nvSpPr>
        <p:spPr>
          <a:xfrm>
            <a:off x="6263640" y="3264408"/>
            <a:ext cx="2377440" cy="411480"/>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FILLED if zero, else PARTIAL</a:t>
            </a:r>
            <a:endParaRPr lang="en-US" sz="1000" dirty="0"/>
          </a:p>
        </p:txBody>
      </p:sp>
      <p:sp>
        <p:nvSpPr>
          <p:cNvPr id="30" name="Text 27"/>
          <p:cNvSpPr/>
          <p:nvPr/>
        </p:nvSpPr>
        <p:spPr>
          <a:xfrm>
            <a:off x="411480" y="3931920"/>
            <a:ext cx="8321040" cy="274320"/>
          </a:xfrm>
          <a:prstGeom prst="rect">
            <a:avLst/>
          </a:prstGeom>
          <a:noFill/>
          <a:ln/>
        </p:spPr>
        <p:txBody>
          <a:bodyPr wrap="square" lIns="0" tIns="0" rIns="0" bIns="0" rtlCol="0" anchor="ctr"/>
          <a:lstStyle/>
          <a:p>
            <a:pPr marL="0" indent="0">
              <a:buNone/>
            </a:pPr>
            <a:r>
              <a:rPr lang="en-US" sz="1100" i="1" dirty="0">
                <a:solidFill>
                  <a:srgbClr val="8AA79A"/>
                </a:solidFill>
                <a:latin typeface="Segoe UI" pitchFamily="34" charset="0"/>
                <a:ea typeface="Segoe UI" pitchFamily="34" charset="-122"/>
                <a:cs typeface="Segoe UI" pitchFamily="34" charset="-120"/>
              </a:rPr>
              <a:t>The aggressor is fully filled, so it is never rested. The resting order stays on the book with 150 left.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8</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Publishing what happened</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097280"/>
            <a:ext cx="3931920" cy="1600200"/>
          </a:xfrm>
          <a:prstGeom prst="rect">
            <a:avLst/>
          </a:prstGeom>
          <a:solidFill>
            <a:srgbClr val="141C19"/>
          </a:solidFill>
          <a:ln w="12700">
            <a:solidFill>
              <a:srgbClr val="2A3A34"/>
            </a:solidFill>
            <a:prstDash val="solid"/>
          </a:ln>
        </p:spPr>
        <p:txBody>
          <a:bodyPr/>
          <a:lstStyle/>
          <a:p>
            <a:endParaRPr lang="en-SE"/>
          </a:p>
        </p:txBody>
      </p:sp>
      <p:sp>
        <p:nvSpPr>
          <p:cNvPr id="8" name="accent bar">
            <a:extLst>
              <a:ext uri="{C183D7F6-B498-43B3-948B-1728B52AA6E4}">
                <adec:decorative xmlns:adec="http://schemas.microsoft.com/office/drawing/2017/decorative" val="1"/>
              </a:ext>
            </a:extLst>
          </p:cNvPr>
          <p:cNvSpPr/>
          <p:nvPr/>
        </p:nvSpPr>
        <p:spPr>
          <a:xfrm>
            <a:off x="411480" y="1097280"/>
            <a:ext cx="54864" cy="1600200"/>
          </a:xfrm>
          <a:prstGeom prst="rect">
            <a:avLst/>
          </a:prstGeom>
          <a:solidFill>
            <a:srgbClr val="FFC24B"/>
          </a:solidFill>
          <a:ln w="12700">
            <a:solidFill>
              <a:srgbClr val="FFC24B"/>
            </a:solidFill>
            <a:prstDash val="solid"/>
          </a:ln>
        </p:spPr>
        <p:txBody>
          <a:bodyPr/>
          <a:lstStyle/>
          <a:p>
            <a:endParaRPr lang="en-SE"/>
          </a:p>
        </p:txBody>
      </p:sp>
      <p:sp>
        <p:nvSpPr>
          <p:cNvPr id="9" name="Text 6"/>
          <p:cNvSpPr/>
          <p:nvPr/>
        </p:nvSpPr>
        <p:spPr>
          <a:xfrm>
            <a:off x="640080" y="1234440"/>
            <a:ext cx="3566160" cy="274320"/>
          </a:xfrm>
          <a:prstGeom prst="rect">
            <a:avLst/>
          </a:prstGeom>
          <a:noFill/>
          <a:ln/>
        </p:spPr>
        <p:txBody>
          <a:bodyPr wrap="square" lIns="0" tIns="0" rIns="0" bIns="0" rtlCol="0" anchor="ctr"/>
          <a:lstStyle/>
          <a:p>
            <a:pPr marL="0" indent="0">
              <a:buNone/>
            </a:pPr>
            <a:r>
              <a:rPr lang="en-US" sz="1400" b="1" dirty="0">
                <a:solidFill>
                  <a:srgbClr val="FFC24B"/>
                </a:solidFill>
                <a:latin typeface="Segoe UI" pitchFamily="34" charset="0"/>
                <a:ea typeface="Segoe UI" pitchFamily="34" charset="-122"/>
                <a:cs typeface="Segoe UI" pitchFamily="34" charset="-120"/>
              </a:rPr>
              <a:t>The dedup trap</a:t>
            </a:r>
            <a:endParaRPr lang="en-US" sz="1400" dirty="0"/>
          </a:p>
        </p:txBody>
      </p:sp>
      <p:sp>
        <p:nvSpPr>
          <p:cNvPr id="10" name="Text 7"/>
          <p:cNvSpPr/>
          <p:nvPr/>
        </p:nvSpPr>
        <p:spPr>
          <a:xfrm>
            <a:off x="640080" y="1536192"/>
            <a:ext cx="3566160" cy="1051560"/>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An order sweeping three price levels appears three times in events — each carrying the same final, cumulative state. A seen-set publishes one fill per order id.</a:t>
            </a:r>
            <a:endParaRPr lang="en-US" sz="1100" dirty="0"/>
          </a:p>
        </p:txBody>
      </p:sp>
      <p:sp>
        <p:nvSpPr>
          <p:cNvPr id="11" name="panel">
            <a:extLst>
              <a:ext uri="{C183D7F6-B498-43B3-948B-1728B52AA6E4}">
                <adec:decorative xmlns:adec="http://schemas.microsoft.com/office/drawing/2017/decorative" val="1"/>
              </a:ext>
            </a:extLst>
          </p:cNvPr>
          <p:cNvSpPr/>
          <p:nvPr/>
        </p:nvSpPr>
        <p:spPr>
          <a:xfrm>
            <a:off x="4617720" y="1097280"/>
            <a:ext cx="4114800" cy="1600200"/>
          </a:xfrm>
          <a:prstGeom prst="rect">
            <a:avLst/>
          </a:prstGeom>
          <a:solidFill>
            <a:srgbClr val="0E1512"/>
          </a:solidFill>
          <a:ln w="12700">
            <a:solidFill>
              <a:srgbClr val="2A3A34"/>
            </a:solidFill>
            <a:prstDash val="solid"/>
          </a:ln>
        </p:spPr>
        <p:txBody>
          <a:bodyPr/>
          <a:lstStyle/>
          <a:p>
            <a:endParaRPr lang="en-SE" sz="2400"/>
          </a:p>
        </p:txBody>
      </p:sp>
      <p:sp>
        <p:nvSpPr>
          <p:cNvPr id="12" name="Text 9"/>
          <p:cNvSpPr/>
          <p:nvPr/>
        </p:nvSpPr>
        <p:spPr>
          <a:xfrm>
            <a:off x="4727448" y="1170432"/>
            <a:ext cx="3895344" cy="1453896"/>
          </a:xfrm>
          <a:prstGeom prst="rect">
            <a:avLst/>
          </a:prstGeom>
          <a:noFill/>
          <a:ln/>
        </p:spPr>
        <p:txBody>
          <a:bodyPr wrap="square" lIns="0" tIns="0" rIns="0" bIns="0" rtlCol="0" anchor="t"/>
          <a:lstStyle/>
          <a:p>
            <a:pPr marL="0" indent="0">
              <a:buNone/>
            </a:pPr>
            <a:r>
              <a:rPr lang="en-US" sz="1100" dirty="0">
                <a:solidFill>
                  <a:srgbClr val="39FF88"/>
                </a:solidFill>
                <a:latin typeface="Consolas" pitchFamily="34" charset="0"/>
                <a:ea typeface="Consolas" pitchFamily="34" charset="-122"/>
                <a:cs typeface="Consolas" pitchFamily="34" charset="-120"/>
              </a:rPr>
              <a:t>published_fill_ids: set[str] = set()</a:t>
            </a:r>
            <a:endParaRPr lang="en-US" sz="1100" dirty="0"/>
          </a:p>
          <a:p>
            <a:pPr marL="0" indent="0">
              <a:buNone/>
            </a:pPr>
            <a:r>
              <a:rPr lang="en-US" sz="1100" dirty="0">
                <a:solidFill>
                  <a:schemeClr val="accent2"/>
                </a:solidFill>
                <a:latin typeface="Consolas" pitchFamily="34" charset="0"/>
                <a:ea typeface="Consolas" pitchFamily="34" charset="-122"/>
                <a:cs typeface="Consolas" pitchFamily="34" charset="-120"/>
              </a:rPr>
              <a:t>for</a:t>
            </a:r>
            <a:r>
              <a:rPr lang="en-US" sz="1100" dirty="0">
                <a:solidFill>
                  <a:srgbClr val="39FF88"/>
                </a:solidFill>
                <a:latin typeface="Consolas" pitchFamily="34" charset="0"/>
                <a:ea typeface="Consolas" pitchFamily="34" charset="-122"/>
                <a:cs typeface="Consolas" pitchFamily="34" charset="-120"/>
              </a:rPr>
              <a:t> evt </a:t>
            </a:r>
            <a:r>
              <a:rPr lang="en-US" sz="1100" dirty="0">
                <a:solidFill>
                  <a:schemeClr val="accent2"/>
                </a:solidFill>
                <a:latin typeface="Consolas" pitchFamily="34" charset="0"/>
                <a:ea typeface="Consolas" pitchFamily="34" charset="-122"/>
                <a:cs typeface="Consolas" pitchFamily="34" charset="-120"/>
              </a:rPr>
              <a:t>in</a:t>
            </a:r>
            <a:r>
              <a:rPr lang="en-US" sz="1100" dirty="0">
                <a:solidFill>
                  <a:srgbClr val="39FF88"/>
                </a:solidFill>
                <a:latin typeface="Consolas" pitchFamily="34" charset="0"/>
                <a:ea typeface="Consolas" pitchFamily="34" charset="-122"/>
                <a:cs typeface="Consolas" pitchFamily="34" charset="-120"/>
              </a:rPr>
              <a:t> events:</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    filled = evt.quantity - evt.remaining_qty</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if</a:t>
            </a:r>
            <a:r>
              <a:rPr lang="en-US" sz="1100" dirty="0">
                <a:solidFill>
                  <a:srgbClr val="39FF88"/>
                </a:solidFill>
                <a:latin typeface="Consolas" pitchFamily="34" charset="0"/>
                <a:ea typeface="Consolas" pitchFamily="34" charset="-122"/>
                <a:cs typeface="Consolas" pitchFamily="34" charset="-120"/>
              </a:rPr>
              <a:t> filled </a:t>
            </a:r>
            <a:r>
              <a:rPr lang="en-US" sz="1100" dirty="0">
                <a:solidFill>
                  <a:schemeClr val="accent2"/>
                </a:solidFill>
                <a:latin typeface="Consolas" pitchFamily="34" charset="0"/>
                <a:ea typeface="Consolas" pitchFamily="34" charset="-122"/>
                <a:cs typeface="Consolas" pitchFamily="34" charset="-120"/>
              </a:rPr>
              <a:t>&gt;</a:t>
            </a:r>
            <a:r>
              <a:rPr lang="en-US" sz="1100" dirty="0">
                <a:solidFill>
                  <a:srgbClr val="39FF88"/>
                </a:solidFill>
                <a:latin typeface="Consolas" pitchFamily="34" charset="0"/>
                <a:ea typeface="Consolas" pitchFamily="34" charset="-122"/>
                <a:cs typeface="Consolas" pitchFamily="34" charset="-120"/>
              </a:rPr>
              <a:t> 0 and evt.id </a:t>
            </a:r>
            <a:r>
              <a:rPr lang="en-US" sz="1100" dirty="0">
                <a:solidFill>
                  <a:schemeClr val="accent2"/>
                </a:solidFill>
                <a:latin typeface="Consolas" pitchFamily="34" charset="0"/>
                <a:ea typeface="Consolas" pitchFamily="34" charset="-122"/>
                <a:cs typeface="Consolas" pitchFamily="34" charset="-120"/>
              </a:rPr>
              <a:t>not</a:t>
            </a:r>
            <a:r>
              <a:rPr lang="en-US" sz="1100" dirty="0">
                <a:solidFill>
                  <a:srgbClr val="39FF88"/>
                </a:solidFill>
                <a:latin typeface="Consolas" pitchFamily="34" charset="0"/>
                <a:ea typeface="Consolas" pitchFamily="34" charset="-122"/>
                <a:cs typeface="Consolas" pitchFamily="34" charset="-120"/>
              </a:rPr>
              <a:t> </a:t>
            </a:r>
            <a:r>
              <a:rPr lang="en-US" sz="1100" dirty="0">
                <a:solidFill>
                  <a:schemeClr val="accent2"/>
                </a:solidFill>
                <a:latin typeface="Consolas" pitchFamily="34" charset="0"/>
                <a:ea typeface="Consolas" pitchFamily="34" charset="-122"/>
                <a:cs typeface="Consolas" pitchFamily="34" charset="-120"/>
              </a:rPr>
              <a:t>in</a:t>
            </a:r>
            <a:r>
              <a:rPr lang="en-US" sz="1100" dirty="0">
                <a:solidFill>
                  <a:srgbClr val="39FF88"/>
                </a:solidFill>
                <a:latin typeface="Consolas" pitchFamily="34" charset="0"/>
                <a:ea typeface="Consolas" pitchFamily="34" charset="-122"/>
                <a:cs typeface="Consolas" pitchFamily="34" charset="-120"/>
              </a:rPr>
              <a:t> seen:</a:t>
            </a:r>
            <a:endParaRPr lang="en-US" sz="1100" dirty="0"/>
          </a:p>
          <a:p>
            <a:pPr marL="0" indent="0">
              <a:buNone/>
            </a:pPr>
            <a:r>
              <a:rPr lang="en-US" sz="1100" dirty="0">
                <a:solidFill>
                  <a:srgbClr val="39FF88"/>
                </a:solidFill>
                <a:latin typeface="Consolas" pitchFamily="34" charset="0"/>
                <a:ea typeface="Consolas" pitchFamily="34" charset="-122"/>
                <a:cs typeface="Consolas" pitchFamily="34" charset="-120"/>
              </a:rPr>
              <a:t>        publish order.fill.{gateway_id}</a:t>
            </a:r>
            <a:endParaRPr lang="en-US" sz="1100" dirty="0"/>
          </a:p>
        </p:txBody>
      </p:sp>
      <p:sp>
        <p:nvSpPr>
          <p:cNvPr id="13" name="fanout source">
            <a:extLst>
              <a:ext uri="{C183D7F6-B498-43B3-948B-1728B52AA6E4}">
                <adec:decorative xmlns:adec="http://schemas.microsoft.com/office/drawing/2017/decorative" val="1"/>
              </a:ext>
            </a:extLst>
          </p:cNvPr>
          <p:cNvSpPr/>
          <p:nvPr/>
        </p:nvSpPr>
        <p:spPr>
          <a:xfrm>
            <a:off x="411480" y="2880360"/>
            <a:ext cx="2011680" cy="1143000"/>
          </a:xfrm>
          <a:prstGeom prst="rect">
            <a:avLst/>
          </a:prstGeom>
          <a:solidFill>
            <a:srgbClr val="1B2621"/>
          </a:solidFill>
          <a:ln w="12700">
            <a:solidFill>
              <a:srgbClr val="39FF88"/>
            </a:solidFill>
            <a:prstDash val="solid"/>
          </a:ln>
        </p:spPr>
        <p:txBody>
          <a:bodyPr/>
          <a:lstStyle/>
          <a:p>
            <a:endParaRPr lang="en-SE"/>
          </a:p>
        </p:txBody>
      </p:sp>
      <p:sp>
        <p:nvSpPr>
          <p:cNvPr id="14" name="Text 11"/>
          <p:cNvSpPr/>
          <p:nvPr/>
        </p:nvSpPr>
        <p:spPr>
          <a:xfrm>
            <a:off x="502920" y="3200400"/>
            <a:ext cx="1828800" cy="274320"/>
          </a:xfrm>
          <a:prstGeom prst="rect">
            <a:avLst/>
          </a:prstGeom>
          <a:noFill/>
          <a:ln/>
        </p:spPr>
        <p:txBody>
          <a:bodyPr wrap="square" lIns="0" tIns="0" rIns="0" bIns="0" rtlCol="0" anchor="ctr"/>
          <a:lstStyle/>
          <a:p>
            <a:pPr marL="0" indent="0" algn="ctr">
              <a:buNone/>
            </a:pPr>
            <a:r>
              <a:rPr lang="en-US" sz="1200" b="1" dirty="0">
                <a:solidFill>
                  <a:srgbClr val="39FF88"/>
                </a:solidFill>
                <a:latin typeface="Consolas" pitchFamily="34" charset="0"/>
                <a:ea typeface="Consolas" pitchFamily="34" charset="-122"/>
                <a:cs typeface="Consolas" pitchFamily="34" charset="-120"/>
              </a:rPr>
              <a:t>_publish_trade</a:t>
            </a:r>
            <a:endParaRPr lang="en-US" sz="1200" dirty="0"/>
          </a:p>
        </p:txBody>
      </p:sp>
      <p:sp>
        <p:nvSpPr>
          <p:cNvPr id="15" name="Text 12"/>
          <p:cNvSpPr/>
          <p:nvPr/>
        </p:nvSpPr>
        <p:spPr>
          <a:xfrm>
            <a:off x="502920" y="3474720"/>
            <a:ext cx="1828800" cy="274320"/>
          </a:xfrm>
          <a:prstGeom prst="rect">
            <a:avLst/>
          </a:prstGeom>
          <a:noFill/>
          <a:ln/>
        </p:spPr>
        <p:txBody>
          <a:bodyPr wrap="square" lIns="0" tIns="0" rIns="0" bIns="0" rtlCol="0" anchor="ctr"/>
          <a:lstStyle/>
          <a:p>
            <a:pPr marL="0" indent="0" algn="ctr">
              <a:buNone/>
            </a:pPr>
            <a:r>
              <a:rPr lang="en-US" sz="900" dirty="0">
                <a:solidFill>
                  <a:srgbClr val="8AA79A"/>
                </a:solidFill>
                <a:latin typeface="Segoe UI" pitchFamily="34" charset="0"/>
                <a:ea typeface="Segoe UI" pitchFamily="34" charset="-122"/>
                <a:cs typeface="Segoe UI" pitchFamily="34" charset="-120"/>
              </a:rPr>
              <a:t>the single fan-out point</a:t>
            </a:r>
            <a:endParaRPr lang="en-US" sz="900" dirty="0"/>
          </a:p>
        </p:txBody>
      </p:sp>
      <p:sp>
        <p:nvSpPr>
          <p:cNvPr id="16" name="side effect row">
            <a:extLst>
              <a:ext uri="{C183D7F6-B498-43B3-948B-1728B52AA6E4}">
                <adec:decorative xmlns:adec="http://schemas.microsoft.com/office/drawing/2017/decorative" val="1"/>
              </a:ext>
            </a:extLst>
          </p:cNvPr>
          <p:cNvSpPr/>
          <p:nvPr/>
        </p:nvSpPr>
        <p:spPr>
          <a:xfrm>
            <a:off x="2880360" y="2880360"/>
            <a:ext cx="5852160" cy="256032"/>
          </a:xfrm>
          <a:prstGeom prst="rect">
            <a:avLst/>
          </a:prstGeom>
          <a:solidFill>
            <a:srgbClr val="141C19"/>
          </a:solidFill>
          <a:ln w="12700">
            <a:solidFill>
              <a:srgbClr val="2A3A34"/>
            </a:solidFill>
            <a:prstDash val="solid"/>
          </a:ln>
        </p:spPr>
        <p:txBody>
          <a:bodyPr/>
          <a:lstStyle/>
          <a:p>
            <a:endParaRPr lang="en-SE"/>
          </a:p>
        </p:txBody>
      </p:sp>
      <p:sp>
        <p:nvSpPr>
          <p:cNvPr id="17" name="Text 14"/>
          <p:cNvSpPr/>
          <p:nvPr/>
        </p:nvSpPr>
        <p:spPr>
          <a:xfrm>
            <a:off x="2999232" y="2907792"/>
            <a:ext cx="5577840" cy="201168"/>
          </a:xfrm>
          <a:prstGeom prst="rect">
            <a:avLst/>
          </a:prstGeom>
          <a:noFill/>
          <a:ln/>
        </p:spPr>
        <p:txBody>
          <a:bodyPr wrap="square" lIns="0" tIns="0" rIns="0" bIns="0" rtlCol="0" anchor="ctr"/>
          <a:lstStyle/>
          <a:p>
            <a:pPr marL="0" indent="0">
              <a:buNone/>
            </a:pPr>
            <a:r>
              <a:rPr lang="en-US" sz="1000" dirty="0">
                <a:solidFill>
                  <a:srgbClr val="EAF5F0"/>
                </a:solidFill>
                <a:latin typeface="Consolas" pitchFamily="34" charset="0"/>
                <a:ea typeface="Consolas" pitchFamily="34" charset="-122"/>
                <a:cs typeface="Consolas" pitchFamily="34" charset="-120"/>
              </a:rPr>
              <a:t>1. trade.executed tape event</a:t>
            </a:r>
            <a:endParaRPr lang="en-US" sz="1000" dirty="0"/>
          </a:p>
        </p:txBody>
      </p:sp>
      <p:sp>
        <p:nvSpPr>
          <p:cNvPr id="18" name="side effect row">
            <a:extLst>
              <a:ext uri="{C183D7F6-B498-43B3-948B-1728B52AA6E4}">
                <adec:decorative xmlns:adec="http://schemas.microsoft.com/office/drawing/2017/decorative" val="1"/>
              </a:ext>
            </a:extLst>
          </p:cNvPr>
          <p:cNvSpPr/>
          <p:nvPr/>
        </p:nvSpPr>
        <p:spPr>
          <a:xfrm>
            <a:off x="2880360" y="3172968"/>
            <a:ext cx="5852160" cy="256032"/>
          </a:xfrm>
          <a:prstGeom prst="rect">
            <a:avLst/>
          </a:prstGeom>
          <a:solidFill>
            <a:srgbClr val="141C19"/>
          </a:solidFill>
          <a:ln w="12700">
            <a:solidFill>
              <a:srgbClr val="2A3A34"/>
            </a:solidFill>
            <a:prstDash val="solid"/>
          </a:ln>
        </p:spPr>
        <p:txBody>
          <a:bodyPr/>
          <a:lstStyle/>
          <a:p>
            <a:endParaRPr lang="en-SE"/>
          </a:p>
        </p:txBody>
      </p:sp>
      <p:sp>
        <p:nvSpPr>
          <p:cNvPr id="19" name="Text 16"/>
          <p:cNvSpPr/>
          <p:nvPr/>
        </p:nvSpPr>
        <p:spPr>
          <a:xfrm>
            <a:off x="2999232" y="3200400"/>
            <a:ext cx="5577840" cy="201168"/>
          </a:xfrm>
          <a:prstGeom prst="rect">
            <a:avLst/>
          </a:prstGeom>
          <a:noFill/>
          <a:ln/>
        </p:spPr>
        <p:txBody>
          <a:bodyPr wrap="square" lIns="0" tIns="0" rIns="0" bIns="0" rtlCol="0" anchor="ctr"/>
          <a:lstStyle/>
          <a:p>
            <a:pPr marL="0" indent="0">
              <a:buNone/>
            </a:pPr>
            <a:r>
              <a:rPr lang="en-US" sz="1000" dirty="0">
                <a:solidFill>
                  <a:srgbClr val="EAF5F0"/>
                </a:solidFill>
                <a:latin typeface="Consolas" pitchFamily="34" charset="0"/>
                <a:ea typeface="Consolas" pitchFamily="34" charset="-122"/>
                <a:cs typeface="Consolas" pitchFamily="34" charset="-120"/>
              </a:rPr>
              <a:t>2. both position ledgers updated</a:t>
            </a:r>
            <a:endParaRPr lang="en-US" sz="1000" dirty="0"/>
          </a:p>
        </p:txBody>
      </p:sp>
      <p:sp>
        <p:nvSpPr>
          <p:cNvPr id="20" name="side effect row">
            <a:extLst>
              <a:ext uri="{C183D7F6-B498-43B3-948B-1728B52AA6E4}">
                <adec:decorative xmlns:adec="http://schemas.microsoft.com/office/drawing/2017/decorative" val="1"/>
              </a:ext>
            </a:extLst>
          </p:cNvPr>
          <p:cNvSpPr/>
          <p:nvPr/>
        </p:nvSpPr>
        <p:spPr>
          <a:xfrm>
            <a:off x="2880360" y="3465576"/>
            <a:ext cx="5852160" cy="256032"/>
          </a:xfrm>
          <a:prstGeom prst="rect">
            <a:avLst/>
          </a:prstGeom>
          <a:solidFill>
            <a:srgbClr val="141C19"/>
          </a:solidFill>
          <a:ln w="12700">
            <a:solidFill>
              <a:srgbClr val="2A3A34"/>
            </a:solidFill>
            <a:prstDash val="solid"/>
          </a:ln>
        </p:spPr>
        <p:txBody>
          <a:bodyPr/>
          <a:lstStyle/>
          <a:p>
            <a:endParaRPr lang="en-SE"/>
          </a:p>
        </p:txBody>
      </p:sp>
      <p:sp>
        <p:nvSpPr>
          <p:cNvPr id="21" name="Text 18"/>
          <p:cNvSpPr/>
          <p:nvPr/>
        </p:nvSpPr>
        <p:spPr>
          <a:xfrm>
            <a:off x="2999232" y="3493008"/>
            <a:ext cx="5577840" cy="201168"/>
          </a:xfrm>
          <a:prstGeom prst="rect">
            <a:avLst/>
          </a:prstGeom>
          <a:noFill/>
          <a:ln/>
        </p:spPr>
        <p:txBody>
          <a:bodyPr wrap="square" lIns="0" tIns="0" rIns="0" bIns="0" rtlCol="0" anchor="ctr"/>
          <a:lstStyle/>
          <a:p>
            <a:pPr marL="0" indent="0">
              <a:buNone/>
            </a:pPr>
            <a:r>
              <a:rPr lang="en-US" sz="1000" dirty="0">
                <a:solidFill>
                  <a:srgbClr val="EAF5F0"/>
                </a:solidFill>
                <a:latin typeface="Consolas" pitchFamily="34" charset="0"/>
                <a:ea typeface="Consolas" pitchFamily="34" charset="-122"/>
                <a:cs typeface="Consolas" pitchFamily="34" charset="-120"/>
              </a:rPr>
              <a:t>3. drop-copy relay fed</a:t>
            </a:r>
            <a:endParaRPr lang="en-US" sz="1000" dirty="0"/>
          </a:p>
        </p:txBody>
      </p:sp>
      <p:sp>
        <p:nvSpPr>
          <p:cNvPr id="22" name="side effect row">
            <a:extLst>
              <a:ext uri="{C183D7F6-B498-43B3-948B-1728B52AA6E4}">
                <adec:decorative xmlns:adec="http://schemas.microsoft.com/office/drawing/2017/decorative" val="1"/>
              </a:ext>
            </a:extLst>
          </p:cNvPr>
          <p:cNvSpPr/>
          <p:nvPr/>
        </p:nvSpPr>
        <p:spPr>
          <a:xfrm>
            <a:off x="2880360" y="3758184"/>
            <a:ext cx="5852160" cy="256032"/>
          </a:xfrm>
          <a:prstGeom prst="rect">
            <a:avLst/>
          </a:prstGeom>
          <a:solidFill>
            <a:srgbClr val="141C19"/>
          </a:solidFill>
          <a:ln w="12700">
            <a:solidFill>
              <a:srgbClr val="2A3A34"/>
            </a:solidFill>
            <a:prstDash val="solid"/>
          </a:ln>
        </p:spPr>
        <p:txBody>
          <a:bodyPr/>
          <a:lstStyle/>
          <a:p>
            <a:endParaRPr lang="en-SE"/>
          </a:p>
        </p:txBody>
      </p:sp>
      <p:sp>
        <p:nvSpPr>
          <p:cNvPr id="23" name="Text 20"/>
          <p:cNvSpPr/>
          <p:nvPr/>
        </p:nvSpPr>
        <p:spPr>
          <a:xfrm>
            <a:off x="2999232" y="3785616"/>
            <a:ext cx="5577840" cy="201168"/>
          </a:xfrm>
          <a:prstGeom prst="rect">
            <a:avLst/>
          </a:prstGeom>
          <a:noFill/>
          <a:ln/>
        </p:spPr>
        <p:txBody>
          <a:bodyPr wrap="square" lIns="0" tIns="0" rIns="0" bIns="0" rtlCol="0" anchor="ctr"/>
          <a:lstStyle/>
          <a:p>
            <a:pPr marL="0" indent="0">
              <a:buNone/>
            </a:pPr>
            <a:r>
              <a:rPr lang="en-US" sz="1000" dirty="0">
                <a:solidFill>
                  <a:srgbClr val="EAF5F0"/>
                </a:solidFill>
                <a:latin typeface="Consolas" pitchFamily="34" charset="0"/>
                <a:ea typeface="Consolas" pitchFamily="34" charset="-122"/>
                <a:cs typeface="Consolas" pitchFamily="34" charset="-120"/>
              </a:rPr>
              <a:t>4. circuit-breaker check</a:t>
            </a:r>
            <a:endParaRPr lang="en-US" sz="1000" dirty="0"/>
          </a:p>
        </p:txBody>
      </p:sp>
      <p:sp>
        <p:nvSpPr>
          <p:cNvPr id="24" name="flow arrow">
            <a:extLst>
              <a:ext uri="{C183D7F6-B498-43B3-948B-1728B52AA6E4}">
                <adec:decorative xmlns:adec="http://schemas.microsoft.com/office/drawing/2017/decorative" val="1"/>
              </a:ext>
            </a:extLst>
          </p:cNvPr>
          <p:cNvSpPr/>
          <p:nvPr/>
        </p:nvSpPr>
        <p:spPr>
          <a:xfrm>
            <a:off x="2468880" y="3337560"/>
            <a:ext cx="365760" cy="201168"/>
          </a:xfrm>
          <a:prstGeom prst="rightArrow">
            <a:avLst/>
          </a:prstGeom>
          <a:solidFill>
            <a:srgbClr val="1B7A4C"/>
          </a:solidFill>
          <a:ln w="12700">
            <a:solidFill>
              <a:srgbClr val="1B7A4C"/>
            </a:solidFill>
            <a:prstDash val="solid"/>
          </a:ln>
        </p:spPr>
        <p:txBody>
          <a:bodyPr/>
          <a:lstStyle/>
          <a:p>
            <a:endParaRPr lang="en-SE"/>
          </a:p>
        </p:txBody>
      </p:sp>
      <p:sp>
        <p:nvSpPr>
          <p:cNvPr id="25" name="Text 22"/>
          <p:cNvSpPr/>
          <p:nvPr/>
        </p:nvSpPr>
        <p:spPr>
          <a:xfrm>
            <a:off x="411480" y="4160520"/>
            <a:ext cx="8321040" cy="274320"/>
          </a:xfrm>
          <a:prstGeom prst="rect">
            <a:avLst/>
          </a:prstGeom>
          <a:noFill/>
          <a:ln/>
        </p:spPr>
        <p:txBody>
          <a:bodyPr wrap="square" lIns="0" tIns="0" rIns="0" bIns="0" rtlCol="0" anchor="ctr"/>
          <a:lstStyle/>
          <a:p>
            <a:pPr marL="0" indent="0">
              <a:buNone/>
            </a:pPr>
            <a:r>
              <a:rPr lang="en-US" sz="1100" i="1" dirty="0">
                <a:solidFill>
                  <a:srgbClr val="8AA79A"/>
                </a:solidFill>
                <a:latin typeface="Segoe UI" pitchFamily="34" charset="0"/>
                <a:ea typeface="Segoe UI" pitchFamily="34" charset="-122"/>
                <a:cs typeface="Segoe UI" pitchFamily="34" charset="-120"/>
              </a:rPr>
              <a:t>One path, four side effects, always in that order — for every trade, from any source.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9</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Lifetime of a resting TIF=DAY order</a:t>
            </a:r>
            <a:endParaRPr lang="en-US" sz="2400" dirty="0"/>
          </a:p>
        </p:txBody>
      </p:sp>
      <p:sp>
        <p:nvSpPr>
          <p:cNvPr id="7" name="state NEW">
            <a:extLst>
              <a:ext uri="{C183D7F6-B498-43B3-948B-1728B52AA6E4}">
                <adec:decorative xmlns:adec="http://schemas.microsoft.com/office/drawing/2017/decorative" val="1"/>
              </a:ext>
            </a:extLst>
          </p:cNvPr>
          <p:cNvSpPr/>
          <p:nvPr/>
        </p:nvSpPr>
        <p:spPr>
          <a:xfrm>
            <a:off x="411480" y="2148840"/>
            <a:ext cx="1645920" cy="685800"/>
          </a:xfrm>
          <a:prstGeom prst="rect">
            <a:avLst/>
          </a:prstGeom>
          <a:solidFill>
            <a:srgbClr val="1B2621"/>
          </a:solidFill>
          <a:ln w="25400">
            <a:solidFill>
              <a:srgbClr val="39FF88"/>
            </a:solidFill>
            <a:prstDash val="solid"/>
          </a:ln>
        </p:spPr>
        <p:txBody>
          <a:bodyPr/>
          <a:lstStyle/>
          <a:p>
            <a:endParaRPr lang="en-SE"/>
          </a:p>
        </p:txBody>
      </p:sp>
      <p:sp>
        <p:nvSpPr>
          <p:cNvPr id="8" name="Text 5"/>
          <p:cNvSpPr/>
          <p:nvPr/>
        </p:nvSpPr>
        <p:spPr>
          <a:xfrm>
            <a:off x="457200" y="2286000"/>
            <a:ext cx="1554480" cy="274320"/>
          </a:xfrm>
          <a:prstGeom prst="rect">
            <a:avLst/>
          </a:prstGeom>
          <a:noFill/>
          <a:ln/>
        </p:spPr>
        <p:txBody>
          <a:bodyPr wrap="square" lIns="0" tIns="0" rIns="0" bIns="0" rtlCol="0" anchor="ctr"/>
          <a:lstStyle/>
          <a:p>
            <a:pPr marL="0" indent="0" algn="ctr">
              <a:buNone/>
            </a:pPr>
            <a:r>
              <a:rPr lang="en-US" sz="1400" b="1" dirty="0">
                <a:solidFill>
                  <a:srgbClr val="39FF88"/>
                </a:solidFill>
                <a:latin typeface="Consolas" pitchFamily="34" charset="0"/>
                <a:ea typeface="Consolas" pitchFamily="34" charset="-122"/>
                <a:cs typeface="Consolas" pitchFamily="34" charset="-120"/>
              </a:rPr>
              <a:t>NEW</a:t>
            </a:r>
            <a:endParaRPr lang="en-US" sz="1400" dirty="0"/>
          </a:p>
        </p:txBody>
      </p:sp>
      <p:sp>
        <p:nvSpPr>
          <p:cNvPr id="9" name="Text 6"/>
          <p:cNvSpPr/>
          <p:nvPr/>
        </p:nvSpPr>
        <p:spPr>
          <a:xfrm>
            <a:off x="457200" y="2560320"/>
            <a:ext cx="1554480" cy="228600"/>
          </a:xfrm>
          <a:prstGeom prst="rect">
            <a:avLst/>
          </a:prstGeom>
          <a:noFill/>
          <a:ln/>
        </p:spPr>
        <p:txBody>
          <a:bodyPr wrap="square" lIns="0" tIns="0" rIns="0" bIns="0" rtlCol="0" anchor="ctr"/>
          <a:lstStyle/>
          <a:p>
            <a:pPr marL="0" indent="0" algn="ctr">
              <a:buNone/>
            </a:pPr>
            <a:r>
              <a:rPr lang="en-US" sz="1000" dirty="0">
                <a:solidFill>
                  <a:srgbClr val="8AA79A"/>
                </a:solidFill>
                <a:latin typeface="Segoe UI" pitchFamily="34" charset="0"/>
                <a:ea typeface="Segoe UI" pitchFamily="34" charset="-122"/>
                <a:cs typeface="Segoe UI" pitchFamily="34" charset="-120"/>
              </a:rPr>
              <a:t>resting on the book</a:t>
            </a:r>
            <a:endParaRPr lang="en-US" sz="1000" dirty="0"/>
          </a:p>
        </p:txBody>
      </p:sp>
      <p:sp>
        <p:nvSpPr>
          <p:cNvPr id="10" name="state PARTIAL">
            <a:extLst>
              <a:ext uri="{C183D7F6-B498-43B3-948B-1728B52AA6E4}">
                <adec:decorative xmlns:adec="http://schemas.microsoft.com/office/drawing/2017/decorative" val="1"/>
              </a:ext>
            </a:extLst>
          </p:cNvPr>
          <p:cNvSpPr/>
          <p:nvPr/>
        </p:nvSpPr>
        <p:spPr>
          <a:xfrm>
            <a:off x="2606040" y="2148840"/>
            <a:ext cx="1645920" cy="685800"/>
          </a:xfrm>
          <a:prstGeom prst="rect">
            <a:avLst/>
          </a:prstGeom>
          <a:solidFill>
            <a:srgbClr val="1B2621"/>
          </a:solidFill>
          <a:ln w="25400">
            <a:solidFill>
              <a:srgbClr val="FFC24B"/>
            </a:solidFill>
            <a:prstDash val="solid"/>
          </a:ln>
        </p:spPr>
        <p:txBody>
          <a:bodyPr/>
          <a:lstStyle/>
          <a:p>
            <a:endParaRPr lang="en-SE"/>
          </a:p>
        </p:txBody>
      </p:sp>
      <p:sp>
        <p:nvSpPr>
          <p:cNvPr id="11" name="Text 8"/>
          <p:cNvSpPr/>
          <p:nvPr/>
        </p:nvSpPr>
        <p:spPr>
          <a:xfrm>
            <a:off x="2651760" y="2286000"/>
            <a:ext cx="1554480" cy="274320"/>
          </a:xfrm>
          <a:prstGeom prst="rect">
            <a:avLst/>
          </a:prstGeom>
          <a:noFill/>
          <a:ln/>
        </p:spPr>
        <p:txBody>
          <a:bodyPr wrap="square" lIns="0" tIns="0" rIns="0" bIns="0" rtlCol="0" anchor="ctr"/>
          <a:lstStyle/>
          <a:p>
            <a:pPr marL="0" indent="0" algn="ctr">
              <a:buNone/>
            </a:pPr>
            <a:r>
              <a:rPr lang="en-US" sz="1400" b="1" dirty="0">
                <a:solidFill>
                  <a:srgbClr val="FFC24B"/>
                </a:solidFill>
                <a:latin typeface="Consolas" pitchFamily="34" charset="0"/>
                <a:ea typeface="Consolas" pitchFamily="34" charset="-122"/>
                <a:cs typeface="Consolas" pitchFamily="34" charset="-120"/>
              </a:rPr>
              <a:t>PARTIAL</a:t>
            </a:r>
            <a:endParaRPr lang="en-US" sz="1400" dirty="0"/>
          </a:p>
        </p:txBody>
      </p:sp>
      <p:sp>
        <p:nvSpPr>
          <p:cNvPr id="12" name="Text 9"/>
          <p:cNvSpPr/>
          <p:nvPr/>
        </p:nvSpPr>
        <p:spPr>
          <a:xfrm>
            <a:off x="2651760" y="2560320"/>
            <a:ext cx="1554480" cy="228600"/>
          </a:xfrm>
          <a:prstGeom prst="rect">
            <a:avLst/>
          </a:prstGeom>
          <a:noFill/>
          <a:ln/>
        </p:spPr>
        <p:txBody>
          <a:bodyPr wrap="square" lIns="0" tIns="0" rIns="0" bIns="0" rtlCol="0" anchor="ctr"/>
          <a:lstStyle/>
          <a:p>
            <a:pPr marL="0" indent="0" algn="ctr">
              <a:buNone/>
            </a:pPr>
            <a:r>
              <a:rPr lang="en-US" sz="1000" dirty="0">
                <a:solidFill>
                  <a:srgbClr val="8AA79A"/>
                </a:solidFill>
                <a:latin typeface="Segoe UI" pitchFamily="34" charset="0"/>
                <a:ea typeface="Segoe UI" pitchFamily="34" charset="-122"/>
                <a:cs typeface="Segoe UI" pitchFamily="34" charset="-120"/>
              </a:rPr>
              <a:t>some qty filled</a:t>
            </a:r>
            <a:endParaRPr lang="en-US" sz="1000" dirty="0"/>
          </a:p>
        </p:txBody>
      </p:sp>
      <p:sp>
        <p:nvSpPr>
          <p:cNvPr id="13" name="flow arrow">
            <a:extLst>
              <a:ext uri="{C183D7F6-B498-43B3-948B-1728B52AA6E4}">
                <adec:decorative xmlns:adec="http://schemas.microsoft.com/office/drawing/2017/decorative" val="1"/>
              </a:ext>
            </a:extLst>
          </p:cNvPr>
          <p:cNvSpPr/>
          <p:nvPr/>
        </p:nvSpPr>
        <p:spPr>
          <a:xfrm>
            <a:off x="2103120" y="2395728"/>
            <a:ext cx="457200" cy="201168"/>
          </a:xfrm>
          <a:prstGeom prst="rightArrow">
            <a:avLst/>
          </a:prstGeom>
          <a:solidFill>
            <a:srgbClr val="1B7A4C"/>
          </a:solidFill>
          <a:ln w="12700">
            <a:solidFill>
              <a:srgbClr val="1B7A4C"/>
            </a:solidFill>
            <a:prstDash val="solid"/>
          </a:ln>
        </p:spPr>
        <p:txBody>
          <a:bodyPr/>
          <a:lstStyle/>
          <a:p>
            <a:endParaRPr lang="en-SE"/>
          </a:p>
        </p:txBody>
      </p:sp>
      <p:sp>
        <p:nvSpPr>
          <p:cNvPr id="14" name="terminal state">
            <a:extLst>
              <a:ext uri="{C183D7F6-B498-43B3-948B-1728B52AA6E4}">
                <adec:decorative xmlns:adec="http://schemas.microsoft.com/office/drawing/2017/decorative" val="1"/>
              </a:ext>
            </a:extLst>
          </p:cNvPr>
          <p:cNvSpPr/>
          <p:nvPr/>
        </p:nvSpPr>
        <p:spPr>
          <a:xfrm>
            <a:off x="5577840" y="1051560"/>
            <a:ext cx="3154680" cy="731520"/>
          </a:xfrm>
          <a:prstGeom prst="rect">
            <a:avLst/>
          </a:prstGeom>
          <a:solidFill>
            <a:srgbClr val="141C19"/>
          </a:solidFill>
          <a:ln w="12700">
            <a:solidFill>
              <a:srgbClr val="39FF88"/>
            </a:solidFill>
            <a:prstDash val="solid"/>
          </a:ln>
        </p:spPr>
        <p:txBody>
          <a:bodyPr/>
          <a:lstStyle/>
          <a:p>
            <a:endParaRPr lang="en-SE"/>
          </a:p>
        </p:txBody>
      </p:sp>
      <p:sp>
        <p:nvSpPr>
          <p:cNvPr id="15" name="Text 12"/>
          <p:cNvSpPr/>
          <p:nvPr/>
        </p:nvSpPr>
        <p:spPr>
          <a:xfrm>
            <a:off x="5715000" y="1143000"/>
            <a:ext cx="283464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FILLED</a:t>
            </a:r>
            <a:endParaRPr lang="en-US" sz="1200" dirty="0"/>
          </a:p>
        </p:txBody>
      </p:sp>
      <p:sp>
        <p:nvSpPr>
          <p:cNvPr id="16" name="Text 13"/>
          <p:cNvSpPr/>
          <p:nvPr/>
        </p:nvSpPr>
        <p:spPr>
          <a:xfrm>
            <a:off x="5715000" y="1435608"/>
            <a:ext cx="283464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remainder fills</a:t>
            </a:r>
            <a:endParaRPr lang="en-US" sz="1100" dirty="0"/>
          </a:p>
        </p:txBody>
      </p:sp>
      <p:sp>
        <p:nvSpPr>
          <p:cNvPr id="17" name="terminal state">
            <a:extLst>
              <a:ext uri="{C183D7F6-B498-43B3-948B-1728B52AA6E4}">
                <adec:decorative xmlns:adec="http://schemas.microsoft.com/office/drawing/2017/decorative" val="1"/>
              </a:ext>
            </a:extLst>
          </p:cNvPr>
          <p:cNvSpPr/>
          <p:nvPr/>
        </p:nvSpPr>
        <p:spPr>
          <a:xfrm>
            <a:off x="5577840" y="1828800"/>
            <a:ext cx="3154680" cy="731520"/>
          </a:xfrm>
          <a:prstGeom prst="rect">
            <a:avLst/>
          </a:prstGeom>
          <a:solidFill>
            <a:srgbClr val="141C19"/>
          </a:solidFill>
          <a:ln w="12700">
            <a:solidFill>
              <a:srgbClr val="5AC8FA"/>
            </a:solidFill>
            <a:prstDash val="solid"/>
          </a:ln>
        </p:spPr>
        <p:txBody>
          <a:bodyPr/>
          <a:lstStyle/>
          <a:p>
            <a:endParaRPr lang="en-SE"/>
          </a:p>
        </p:txBody>
      </p:sp>
      <p:sp>
        <p:nvSpPr>
          <p:cNvPr id="18" name="Text 15"/>
          <p:cNvSpPr/>
          <p:nvPr/>
        </p:nvSpPr>
        <p:spPr>
          <a:xfrm>
            <a:off x="5715000" y="1920240"/>
            <a:ext cx="2834640" cy="274320"/>
          </a:xfrm>
          <a:prstGeom prst="rect">
            <a:avLst/>
          </a:prstGeom>
          <a:noFill/>
          <a:ln/>
        </p:spPr>
        <p:txBody>
          <a:bodyPr wrap="square" lIns="0" tIns="0" rIns="0" bIns="0" rtlCol="0" anchor="ctr"/>
          <a:lstStyle/>
          <a:p>
            <a:pPr marL="0" indent="0">
              <a:buNone/>
            </a:pPr>
            <a:r>
              <a:rPr lang="en-US" sz="1200" b="1" dirty="0">
                <a:solidFill>
                  <a:srgbClr val="5AC8FA"/>
                </a:solidFill>
                <a:latin typeface="Consolas" pitchFamily="34" charset="0"/>
                <a:ea typeface="Consolas" pitchFamily="34" charset="-122"/>
                <a:cs typeface="Consolas" pitchFamily="34" charset="-120"/>
              </a:rPr>
              <a:t>CANCELLED</a:t>
            </a:r>
            <a:endParaRPr lang="en-US" sz="1200" dirty="0"/>
          </a:p>
        </p:txBody>
      </p:sp>
      <p:sp>
        <p:nvSpPr>
          <p:cNvPr id="19" name="Text 16"/>
          <p:cNvSpPr/>
          <p:nvPr/>
        </p:nvSpPr>
        <p:spPr>
          <a:xfrm>
            <a:off x="5715000" y="2212848"/>
            <a:ext cx="283464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explicit CANCEL, any TIF</a:t>
            </a:r>
            <a:endParaRPr lang="en-US" sz="1100" dirty="0"/>
          </a:p>
        </p:txBody>
      </p:sp>
      <p:sp>
        <p:nvSpPr>
          <p:cNvPr id="20" name="terminal state">
            <a:extLst>
              <a:ext uri="{C183D7F6-B498-43B3-948B-1728B52AA6E4}">
                <adec:decorative xmlns:adec="http://schemas.microsoft.com/office/drawing/2017/decorative" val="1"/>
              </a:ext>
            </a:extLst>
          </p:cNvPr>
          <p:cNvSpPr/>
          <p:nvPr/>
        </p:nvSpPr>
        <p:spPr>
          <a:xfrm>
            <a:off x="5577840" y="2606040"/>
            <a:ext cx="3154680" cy="731520"/>
          </a:xfrm>
          <a:prstGeom prst="rect">
            <a:avLst/>
          </a:prstGeom>
          <a:solidFill>
            <a:srgbClr val="141C19"/>
          </a:solidFill>
          <a:ln w="12700">
            <a:solidFill>
              <a:srgbClr val="FFC24B"/>
            </a:solidFill>
            <a:prstDash val="solid"/>
          </a:ln>
        </p:spPr>
        <p:txBody>
          <a:bodyPr/>
          <a:lstStyle/>
          <a:p>
            <a:endParaRPr lang="en-SE"/>
          </a:p>
        </p:txBody>
      </p:sp>
      <p:sp>
        <p:nvSpPr>
          <p:cNvPr id="21" name="Text 18"/>
          <p:cNvSpPr/>
          <p:nvPr/>
        </p:nvSpPr>
        <p:spPr>
          <a:xfrm>
            <a:off x="5715000" y="2697480"/>
            <a:ext cx="2834640" cy="274320"/>
          </a:xfrm>
          <a:prstGeom prst="rect">
            <a:avLst/>
          </a:prstGeom>
          <a:noFill/>
          <a:ln/>
        </p:spPr>
        <p:txBody>
          <a:bodyPr wrap="square" lIns="0" tIns="0" rIns="0" bIns="0" rtlCol="0" anchor="ctr"/>
          <a:lstStyle/>
          <a:p>
            <a:pPr marL="0" indent="0">
              <a:buNone/>
            </a:pPr>
            <a:r>
              <a:rPr lang="en-US" sz="1200" b="1" dirty="0">
                <a:solidFill>
                  <a:srgbClr val="FFC24B"/>
                </a:solidFill>
                <a:latin typeface="Consolas" pitchFamily="34" charset="0"/>
                <a:ea typeface="Consolas" pitchFamily="34" charset="-122"/>
                <a:cs typeface="Consolas" pitchFamily="34" charset="-120"/>
              </a:rPr>
              <a:t>EXPIRED</a:t>
            </a:r>
            <a:endParaRPr lang="en-US" sz="1200" dirty="0"/>
          </a:p>
        </p:txBody>
      </p:sp>
      <p:sp>
        <p:nvSpPr>
          <p:cNvPr id="22" name="Text 19"/>
          <p:cNvSpPr/>
          <p:nvPr/>
        </p:nvSpPr>
        <p:spPr>
          <a:xfrm>
            <a:off x="5715000" y="2990088"/>
            <a:ext cx="283464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session → CLOSED (DAY only)</a:t>
            </a:r>
            <a:endParaRPr lang="en-US" sz="1100" dirty="0"/>
          </a:p>
        </p:txBody>
      </p:sp>
      <p:sp>
        <p:nvSpPr>
          <p:cNvPr id="23" name="terminal state">
            <a:extLst>
              <a:ext uri="{C183D7F6-B498-43B3-948B-1728B52AA6E4}">
                <adec:decorative xmlns:adec="http://schemas.microsoft.com/office/drawing/2017/decorative" val="1"/>
              </a:ext>
            </a:extLst>
          </p:cNvPr>
          <p:cNvSpPr/>
          <p:nvPr/>
        </p:nvSpPr>
        <p:spPr>
          <a:xfrm>
            <a:off x="5577840" y="3383280"/>
            <a:ext cx="3154680" cy="731520"/>
          </a:xfrm>
          <a:prstGeom prst="rect">
            <a:avLst/>
          </a:prstGeom>
          <a:solidFill>
            <a:srgbClr val="141C19"/>
          </a:solidFill>
          <a:ln w="12700">
            <a:solidFill>
              <a:srgbClr val="FF5C6C"/>
            </a:solidFill>
            <a:prstDash val="solid"/>
          </a:ln>
        </p:spPr>
        <p:txBody>
          <a:bodyPr/>
          <a:lstStyle/>
          <a:p>
            <a:endParaRPr lang="en-SE"/>
          </a:p>
        </p:txBody>
      </p:sp>
      <p:sp>
        <p:nvSpPr>
          <p:cNvPr id="24" name="Text 21"/>
          <p:cNvSpPr/>
          <p:nvPr/>
        </p:nvSpPr>
        <p:spPr>
          <a:xfrm>
            <a:off x="5715000" y="3474720"/>
            <a:ext cx="2834640" cy="274320"/>
          </a:xfrm>
          <a:prstGeom prst="rect">
            <a:avLst/>
          </a:prstGeom>
          <a:noFill/>
          <a:ln/>
        </p:spPr>
        <p:txBody>
          <a:bodyPr wrap="square" lIns="0" tIns="0" rIns="0" bIns="0" rtlCol="0" anchor="ctr"/>
          <a:lstStyle/>
          <a:p>
            <a:pPr marL="0" indent="0">
              <a:buNone/>
            </a:pPr>
            <a:r>
              <a:rPr lang="en-US" sz="1200" b="1" dirty="0">
                <a:solidFill>
                  <a:srgbClr val="FF5C6C"/>
                </a:solidFill>
                <a:latin typeface="Consolas" pitchFamily="34" charset="0"/>
                <a:ea typeface="Consolas" pitchFamily="34" charset="-122"/>
                <a:cs typeface="Consolas" pitchFamily="34" charset="-120"/>
              </a:rPr>
              <a:t>GONE</a:t>
            </a:r>
            <a:endParaRPr lang="en-US" sz="1200" dirty="0"/>
          </a:p>
        </p:txBody>
      </p:sp>
      <p:sp>
        <p:nvSpPr>
          <p:cNvPr id="25" name="Text 22"/>
          <p:cNvSpPr/>
          <p:nvPr/>
        </p:nvSpPr>
        <p:spPr>
          <a:xfrm>
            <a:off x="5715000" y="3767328"/>
            <a:ext cx="283464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restart, date rolled over — silent</a:t>
            </a:r>
            <a:endParaRPr lang="en-US" sz="1100" dirty="0"/>
          </a:p>
        </p:txBody>
      </p:sp>
      <p:sp>
        <p:nvSpPr>
          <p:cNvPr id="26" name="connector rail">
            <a:extLst>
              <a:ext uri="{C183D7F6-B498-43B3-948B-1728B52AA6E4}">
                <adec:decorative xmlns:adec="http://schemas.microsoft.com/office/drawing/2017/decorative" val="1"/>
              </a:ext>
            </a:extLst>
          </p:cNvPr>
          <p:cNvSpPr/>
          <p:nvPr/>
        </p:nvSpPr>
        <p:spPr>
          <a:xfrm>
            <a:off x="5074920" y="1371600"/>
            <a:ext cx="18288" cy="2468880"/>
          </a:xfrm>
          <a:prstGeom prst="rect">
            <a:avLst/>
          </a:prstGeom>
          <a:solidFill>
            <a:srgbClr val="2A3A34"/>
          </a:solidFill>
          <a:ln w="12700">
            <a:solidFill>
              <a:srgbClr val="2A3A34"/>
            </a:solidFill>
            <a:prstDash val="solid"/>
          </a:ln>
        </p:spPr>
        <p:txBody>
          <a:bodyPr/>
          <a:lstStyle/>
          <a:p>
            <a:endParaRPr lang="en-SE"/>
          </a:p>
        </p:txBody>
      </p:sp>
      <p:sp>
        <p:nvSpPr>
          <p:cNvPr id="27" name="flow arrow">
            <a:extLst>
              <a:ext uri="{C183D7F6-B498-43B3-948B-1728B52AA6E4}">
                <adec:decorative xmlns:adec="http://schemas.microsoft.com/office/drawing/2017/decorative" val="1"/>
              </a:ext>
            </a:extLst>
          </p:cNvPr>
          <p:cNvSpPr/>
          <p:nvPr/>
        </p:nvSpPr>
        <p:spPr>
          <a:xfrm>
            <a:off x="5120640" y="1353312"/>
            <a:ext cx="411480" cy="201168"/>
          </a:xfrm>
          <a:prstGeom prst="rightArrow">
            <a:avLst/>
          </a:prstGeom>
          <a:solidFill>
            <a:srgbClr val="2A3A34"/>
          </a:solidFill>
          <a:ln w="12700">
            <a:solidFill>
              <a:srgbClr val="2A3A34"/>
            </a:solidFill>
            <a:prstDash val="solid"/>
          </a:ln>
        </p:spPr>
        <p:txBody>
          <a:bodyPr/>
          <a:lstStyle/>
          <a:p>
            <a:endParaRPr lang="en-SE"/>
          </a:p>
        </p:txBody>
      </p:sp>
      <p:sp>
        <p:nvSpPr>
          <p:cNvPr id="28" name="flow arrow">
            <a:extLst>
              <a:ext uri="{C183D7F6-B498-43B3-948B-1728B52AA6E4}">
                <adec:decorative xmlns:adec="http://schemas.microsoft.com/office/drawing/2017/decorative" val="1"/>
              </a:ext>
            </a:extLst>
          </p:cNvPr>
          <p:cNvSpPr/>
          <p:nvPr/>
        </p:nvSpPr>
        <p:spPr>
          <a:xfrm>
            <a:off x="5120640" y="2130552"/>
            <a:ext cx="411480" cy="201168"/>
          </a:xfrm>
          <a:prstGeom prst="rightArrow">
            <a:avLst/>
          </a:prstGeom>
          <a:solidFill>
            <a:srgbClr val="2A3A34"/>
          </a:solidFill>
          <a:ln w="12700">
            <a:solidFill>
              <a:srgbClr val="2A3A34"/>
            </a:solidFill>
            <a:prstDash val="solid"/>
          </a:ln>
        </p:spPr>
        <p:txBody>
          <a:bodyPr/>
          <a:lstStyle/>
          <a:p>
            <a:endParaRPr lang="en-SE"/>
          </a:p>
        </p:txBody>
      </p:sp>
      <p:sp>
        <p:nvSpPr>
          <p:cNvPr id="29" name="flow arrow">
            <a:extLst>
              <a:ext uri="{C183D7F6-B498-43B3-948B-1728B52AA6E4}">
                <adec:decorative xmlns:adec="http://schemas.microsoft.com/office/drawing/2017/decorative" val="1"/>
              </a:ext>
            </a:extLst>
          </p:cNvPr>
          <p:cNvSpPr/>
          <p:nvPr/>
        </p:nvSpPr>
        <p:spPr>
          <a:xfrm>
            <a:off x="5120640" y="2907792"/>
            <a:ext cx="411480" cy="201168"/>
          </a:xfrm>
          <a:prstGeom prst="rightArrow">
            <a:avLst/>
          </a:prstGeom>
          <a:solidFill>
            <a:srgbClr val="2A3A34"/>
          </a:solidFill>
          <a:ln w="12700">
            <a:solidFill>
              <a:srgbClr val="2A3A34"/>
            </a:solidFill>
            <a:prstDash val="solid"/>
          </a:ln>
        </p:spPr>
        <p:txBody>
          <a:bodyPr/>
          <a:lstStyle/>
          <a:p>
            <a:endParaRPr lang="en-SE"/>
          </a:p>
        </p:txBody>
      </p:sp>
      <p:sp>
        <p:nvSpPr>
          <p:cNvPr id="30" name="flow arrow">
            <a:extLst>
              <a:ext uri="{C183D7F6-B498-43B3-948B-1728B52AA6E4}">
                <adec:decorative xmlns:adec="http://schemas.microsoft.com/office/drawing/2017/decorative" val="1"/>
              </a:ext>
            </a:extLst>
          </p:cNvPr>
          <p:cNvSpPr/>
          <p:nvPr/>
        </p:nvSpPr>
        <p:spPr>
          <a:xfrm>
            <a:off x="5120640" y="3685032"/>
            <a:ext cx="411480" cy="201168"/>
          </a:xfrm>
          <a:prstGeom prst="rightArrow">
            <a:avLst/>
          </a:prstGeom>
          <a:solidFill>
            <a:srgbClr val="2A3A34"/>
          </a:solidFill>
          <a:ln w="12700">
            <a:solidFill>
              <a:srgbClr val="2A3A34"/>
            </a:solidFill>
            <a:prstDash val="solid"/>
          </a:ln>
        </p:spPr>
        <p:txBody>
          <a:bodyPr/>
          <a:lstStyle/>
          <a:p>
            <a:endParaRPr lang="en-SE"/>
          </a:p>
        </p:txBody>
      </p:sp>
      <p:sp>
        <p:nvSpPr>
          <p:cNvPr id="31" name="flow arrow">
            <a:extLst>
              <a:ext uri="{C183D7F6-B498-43B3-948B-1728B52AA6E4}">
                <adec:decorative xmlns:adec="http://schemas.microsoft.com/office/drawing/2017/decorative" val="1"/>
              </a:ext>
            </a:extLst>
          </p:cNvPr>
          <p:cNvSpPr/>
          <p:nvPr/>
        </p:nvSpPr>
        <p:spPr>
          <a:xfrm>
            <a:off x="4297680" y="2395728"/>
            <a:ext cx="731520" cy="201168"/>
          </a:xfrm>
          <a:prstGeom prst="rightArrow">
            <a:avLst/>
          </a:prstGeom>
          <a:solidFill>
            <a:srgbClr val="2A3A34"/>
          </a:solidFill>
          <a:ln w="12700">
            <a:solidFill>
              <a:srgbClr val="2A3A34"/>
            </a:solidFill>
            <a:prstDash val="solid"/>
          </a:ln>
        </p:spPr>
        <p:txBody>
          <a:bodyPr/>
          <a:lstStyle/>
          <a:p>
            <a:endParaRPr lang="en-SE"/>
          </a:p>
        </p:txBody>
      </p:sp>
      <p:sp>
        <p:nvSpPr>
          <p:cNvPr id="32" name="Text 29"/>
          <p:cNvSpPr/>
          <p:nvPr/>
        </p:nvSpPr>
        <p:spPr>
          <a:xfrm>
            <a:off x="411480" y="4343400"/>
            <a:ext cx="8321040" cy="292608"/>
          </a:xfrm>
          <a:prstGeom prst="rect">
            <a:avLst/>
          </a:prstGeom>
          <a:noFill/>
          <a:ln/>
        </p:spPr>
        <p:txBody>
          <a:bodyPr wrap="square" lIns="0" tIns="0" rIns="0" bIns="0" rtlCol="0" anchor="ctr"/>
          <a:lstStyle/>
          <a:p>
            <a:pPr marL="0" indent="0">
              <a:buNone/>
            </a:pPr>
            <a:r>
              <a:rPr lang="en-US" sz="1100" i="1" dirty="0">
                <a:solidFill>
                  <a:srgbClr val="8AA79A"/>
                </a:solidFill>
                <a:latin typeface="Segoe UI" pitchFamily="34" charset="0"/>
                <a:ea typeface="Segoe UI" pitchFamily="34" charset="-122"/>
                <a:cs typeface="Segoe UI" pitchFamily="34" charset="-120"/>
              </a:rPr>
              <a:t>EXPIRED publishes an event. GONE publishes nothing — you learn about it only by absence.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9</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Exactly four exits — and what each publishes</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901976289"/>
              </p:ext>
            </p:extLst>
          </p:nvPr>
        </p:nvGraphicFramePr>
        <p:xfrm>
          <a:off x="411480" y="1097280"/>
          <a:ext cx="8321040" cy="2804160"/>
        </p:xfrm>
        <a:graphic>
          <a:graphicData uri="http://schemas.openxmlformats.org/drawingml/2006/table">
            <a:tbl>
              <a:tblPr/>
              <a:tblGrid>
                <a:gridCol w="22860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39FF88"/>
                          </a:solidFill>
                          <a:latin typeface="Segoe UI" pitchFamily="34" charset="0"/>
                          <a:ea typeface="Segoe UI" pitchFamily="34" charset="-122"/>
                          <a:cs typeface="Segoe UI" pitchFamily="34" charset="-120"/>
                        </a:rPr>
                        <a:t>Trigger</a:t>
                      </a:r>
                      <a:endParaRPr lang="en-US" sz="14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400" b="1" dirty="0">
                          <a:solidFill>
                            <a:srgbClr val="39FF88"/>
                          </a:solidFill>
                          <a:latin typeface="Segoe UI" pitchFamily="34" charset="0"/>
                          <a:ea typeface="Segoe UI" pitchFamily="34" charset="-122"/>
                          <a:cs typeface="Segoe UI" pitchFamily="34" charset="-120"/>
                        </a:rPr>
                        <a:t>Applies to</a:t>
                      </a:r>
                      <a:endParaRPr lang="en-US" sz="14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400" b="1" dirty="0">
                          <a:solidFill>
                            <a:srgbClr val="39FF88"/>
                          </a:solidFill>
                          <a:latin typeface="Segoe UI" pitchFamily="34" charset="0"/>
                          <a:ea typeface="Segoe UI" pitchFamily="34" charset="-122"/>
                          <a:cs typeface="Segoe UI" pitchFamily="34" charset="-120"/>
                        </a:rPr>
                        <a:t>Publishes order.expired?</a:t>
                      </a:r>
                      <a:endParaRPr lang="en-US" sz="14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400" b="1" dirty="0">
                          <a:solidFill>
                            <a:srgbClr val="39FF88"/>
                          </a:solidFill>
                          <a:latin typeface="Segoe UI" pitchFamily="34" charset="0"/>
                          <a:ea typeface="Segoe UI" pitchFamily="34" charset="-122"/>
                          <a:cs typeface="Segoe UI" pitchFamily="34" charset="-120"/>
                        </a:rPr>
                        <a:t>Where in the code</a:t>
                      </a:r>
                      <a:endParaRPr lang="en-US" sz="14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Fill (full or partial)</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any TIF</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No — order.fill instead</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OrderBook._apply_fill</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extLst>
                  <a:ext uri="{0D108BD9-81ED-4DB2-BD59-A6C34878D82A}">
                    <a16:rowId xmlns:a16="http://schemas.microsoft.com/office/drawing/2014/main" val="10001"/>
                  </a:ext>
                </a:extLst>
              </a:tr>
              <a:tr h="457200">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Explicit CANCEL</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any TIF</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No — order.cancelled instead</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Engine._handle_cancel</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extLst>
                  <a:ext uri="{0D108BD9-81ED-4DB2-BD59-A6C34878D82A}">
                    <a16:rowId xmlns:a16="http://schemas.microsoft.com/office/drawing/2014/main" val="10002"/>
                  </a:ext>
                </a:extLst>
              </a:tr>
              <a:tr h="457200">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Session → CLOSED</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TIF=DAY (ATO/ATC at their phases)</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YES</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Engine._expire_tif</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extLst>
                  <a:ext uri="{0D108BD9-81ED-4DB2-BD59-A6C34878D82A}">
                    <a16:rowId xmlns:a16="http://schemas.microsoft.com/office/drawing/2014/main" val="10003"/>
                  </a:ext>
                </a:extLst>
              </a:tr>
              <a:tr h="457200">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Process shutdown (clean or crash)</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none — persisted, not removed</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No</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Engine._shutdown</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extLst>
                  <a:ext uri="{0D108BD9-81ED-4DB2-BD59-A6C34878D82A}">
                    <a16:rowId xmlns:a16="http://schemas.microsoft.com/office/drawing/2014/main" val="10004"/>
                  </a:ext>
                </a:extLst>
              </a:tr>
              <a:tr h="457200">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Restart, order's date has passed</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TIF=DAY only</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No — silently dropped</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tc>
                  <a:txBody>
                    <a:bodyPr/>
                    <a:lstStyle/>
                    <a:p>
                      <a:pPr marL="0" indent="0">
                        <a:buNone/>
                      </a:pPr>
                      <a:r>
                        <a:rPr lang="en-US" sz="1000" dirty="0">
                          <a:solidFill>
                            <a:srgbClr val="EAF5F0"/>
                          </a:solidFill>
                          <a:latin typeface="Segoe UI" pitchFamily="34" charset="0"/>
                          <a:ea typeface="Segoe UI" pitchFamily="34" charset="-122"/>
                          <a:cs typeface="Segoe UI" pitchFamily="34" charset="-120"/>
                        </a:rPr>
                        <a:t>Engine._restore_gtc</a:t>
                      </a:r>
                      <a:endParaRPr lang="en-US" sz="1000" dirty="0">
                        <a:latin typeface="Segoe UI" charset="0"/>
                        <a:ea typeface="Segoe UI" charset="0"/>
                        <a:cs typeface="Segoe UI" charset="0"/>
                      </a:endParaRPr>
                    </a:p>
                  </a:txBody>
                  <a:tcPr anchor="ctr">
                    <a:lnL w="12700" cap="flat" cmpd="sng" algn="ctr">
                      <a:solidFill>
                        <a:srgbClr val="2A3A34"/>
                      </a:solidFill>
                      <a:prstDash val="solid"/>
                      <a:round/>
                      <a:headEnd type="none" w="med" len="med"/>
                      <a:tailEnd type="none" w="med" len="med"/>
                    </a:lnL>
                    <a:lnR w="12700" cap="flat" cmpd="sng" algn="ctr">
                      <a:solidFill>
                        <a:srgbClr val="2A3A34"/>
                      </a:solidFill>
                      <a:prstDash val="solid"/>
                      <a:round/>
                      <a:headEnd type="none" w="med" len="med"/>
                      <a:tailEnd type="none" w="med" len="med"/>
                    </a:lnR>
                    <a:lnT w="12700" cap="flat" cmpd="sng" algn="ctr">
                      <a:solidFill>
                        <a:srgbClr val="2A3A34"/>
                      </a:solidFill>
                      <a:prstDash val="solid"/>
                      <a:round/>
                      <a:headEnd type="none" w="med" len="med"/>
                      <a:tailEnd type="none" w="med" len="med"/>
                    </a:lnT>
                    <a:lnB w="12700" cap="flat" cmpd="sng" algn="ctr">
                      <a:solidFill>
                        <a:srgbClr val="2A3A34"/>
                      </a:solidFill>
                      <a:prstDash val="solid"/>
                      <a:round/>
                      <a:headEnd type="none" w="med" len="med"/>
                      <a:tailEnd type="none" w="med" len="med"/>
                    </a:lnB>
                    <a:solidFill>
                      <a:srgbClr val="141C19"/>
                    </a:solidFill>
                  </a:tcPr>
                </a:tc>
                <a:extLst>
                  <a:ext uri="{0D108BD9-81ED-4DB2-BD59-A6C34878D82A}">
                    <a16:rowId xmlns:a16="http://schemas.microsoft.com/office/drawing/2014/main" val="10005"/>
                  </a:ext>
                </a:extLst>
              </a:tr>
            </a:tbl>
          </a:graphicData>
        </a:graphic>
      </p:graphicFrame>
      <p:sp>
        <p:nvSpPr>
          <p:cNvPr id="8" name="Text 4"/>
          <p:cNvSpPr/>
          <p:nvPr/>
        </p:nvSpPr>
        <p:spPr>
          <a:xfrm>
            <a:off x="411480" y="4160520"/>
            <a:ext cx="8321040" cy="274320"/>
          </a:xfrm>
          <a:prstGeom prst="rect">
            <a:avLst/>
          </a:prstGeom>
          <a:noFill/>
          <a:ln/>
        </p:spPr>
        <p:txBody>
          <a:bodyPr wrap="square" lIns="0" tIns="0" rIns="0" bIns="0" rtlCol="0" anchor="ctr"/>
          <a:lstStyle/>
          <a:p>
            <a:pPr marL="0" indent="0">
              <a:buNone/>
            </a:pPr>
            <a:r>
              <a:rPr lang="en-US" sz="1100" i="1" dirty="0">
                <a:solidFill>
                  <a:srgbClr val="8AA79A"/>
                </a:solidFill>
                <a:latin typeface="Segoe UI" pitchFamily="34" charset="0"/>
                <a:ea typeface="Segoe UI" pitchFamily="34" charset="-122"/>
                <a:cs typeface="Segoe UI" pitchFamily="34" charset="-120"/>
              </a:rPr>
              <a:t>Only one row publishes order.expired — a real session transition to CLOSED.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9</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Shutdown persists. Startup decides staleness.</a:t>
            </a:r>
            <a:endParaRPr lang="en-US" sz="2400" dirty="0"/>
          </a:p>
        </p:txBody>
      </p:sp>
      <p:sp>
        <p:nvSpPr>
          <p:cNvPr id="7" name="shutdown box">
            <a:extLst>
              <a:ext uri="{C183D7F6-B498-43B3-948B-1728B52AA6E4}">
                <adec:decorative xmlns:adec="http://schemas.microsoft.com/office/drawing/2017/decorative" val="1"/>
              </a:ext>
            </a:extLst>
          </p:cNvPr>
          <p:cNvSpPr/>
          <p:nvPr/>
        </p:nvSpPr>
        <p:spPr>
          <a:xfrm>
            <a:off x="411480" y="1097280"/>
            <a:ext cx="4069080" cy="1737360"/>
          </a:xfrm>
          <a:prstGeom prst="rect">
            <a:avLst/>
          </a:prstGeom>
          <a:solidFill>
            <a:srgbClr val="0B2418"/>
          </a:solidFill>
          <a:ln w="12700">
            <a:solidFill>
              <a:srgbClr val="39FF88"/>
            </a:solidFill>
            <a:prstDash val="solid"/>
          </a:ln>
        </p:spPr>
        <p:txBody>
          <a:bodyPr/>
          <a:lstStyle/>
          <a:p>
            <a:endParaRPr lang="en-SE"/>
          </a:p>
        </p:txBody>
      </p:sp>
      <p:sp>
        <p:nvSpPr>
          <p:cNvPr id="8" name="Text 5"/>
          <p:cNvSpPr/>
          <p:nvPr/>
        </p:nvSpPr>
        <p:spPr>
          <a:xfrm>
            <a:off x="640080" y="1234440"/>
            <a:ext cx="3611880" cy="256032"/>
          </a:xfrm>
          <a:prstGeom prst="rect">
            <a:avLst/>
          </a:prstGeom>
          <a:noFill/>
          <a:ln/>
        </p:spPr>
        <p:txBody>
          <a:bodyPr wrap="square" lIns="0" tIns="0" rIns="0" bIns="0" rtlCol="0" anchor="ctr"/>
          <a:lstStyle/>
          <a:p>
            <a:pPr marL="0" indent="0">
              <a:buNone/>
            </a:pPr>
            <a:r>
              <a:rPr lang="en-US" sz="1000" kern="0" spc="100" dirty="0">
                <a:solidFill>
                  <a:srgbClr val="39FF88"/>
                </a:solidFill>
                <a:latin typeface="Consolas" pitchFamily="34" charset="0"/>
                <a:ea typeface="Consolas" pitchFamily="34" charset="-122"/>
                <a:cs typeface="Consolas" pitchFamily="34" charset="-120"/>
              </a:rPr>
              <a:t>AT SHUTDOWN — nothing is removed</a:t>
            </a:r>
            <a:endParaRPr lang="en-US" sz="1000" dirty="0"/>
          </a:p>
        </p:txBody>
      </p:sp>
      <p:sp>
        <p:nvSpPr>
          <p:cNvPr id="9" name="Text 6"/>
          <p:cNvSpPr/>
          <p:nvPr/>
        </p:nvSpPr>
        <p:spPr>
          <a:xfrm>
            <a:off x="640080" y="1554480"/>
            <a:ext cx="3611880" cy="1005840"/>
          </a:xfrm>
          <a:prstGeom prst="rect">
            <a:avLst/>
          </a:prstGeom>
          <a:noFill/>
          <a:ln/>
        </p:spPr>
        <p:txBody>
          <a:bodyPr wrap="square" lIns="0" tIns="0" rIns="0" bIns="0" rtlCol="0" anchor="ctr"/>
          <a:lstStyle/>
          <a:p>
            <a:pPr marL="0" indent="0">
              <a:buNone/>
            </a:pPr>
            <a:r>
              <a:rPr lang="en-US" sz="1100" dirty="0">
                <a:solidFill>
                  <a:srgbClr val="EAF5F0"/>
                </a:solidFill>
                <a:latin typeface="Segoe UI" pitchFamily="34" charset="0"/>
                <a:ea typeface="Segoe UI" pitchFamily="34" charset="-122"/>
                <a:cs typeface="Segoe UI" pitchFamily="34" charset="-120"/>
              </a:rPr>
              <a:t>TIF in (GTC, DAY) and status in (NEW, PARTIAL) → written to data/gtc_orders.json. Clean exit and crash leave the same file; a crash loses at most 5 s via the periodic checkpoint.</a:t>
            </a:r>
            <a:endParaRPr lang="en-US" sz="1100" dirty="0"/>
          </a:p>
        </p:txBody>
      </p:sp>
      <p:sp>
        <p:nvSpPr>
          <p:cNvPr id="10" name="Text 7"/>
          <p:cNvSpPr/>
          <p:nvPr/>
        </p:nvSpPr>
        <p:spPr>
          <a:xfrm>
            <a:off x="640080" y="2542032"/>
            <a:ext cx="3611880" cy="256032"/>
          </a:xfrm>
          <a:prstGeom prst="rect">
            <a:avLst/>
          </a:prstGeom>
          <a:noFill/>
          <a:ln/>
        </p:spPr>
        <p:txBody>
          <a:bodyPr wrap="square" lIns="0" tIns="0" rIns="0" bIns="0" rtlCol="0" anchor="ctr"/>
          <a:lstStyle/>
          <a:p>
            <a:pPr marL="0" indent="0">
              <a:buNone/>
            </a:pPr>
            <a:r>
              <a:rPr lang="en-US" sz="1100" b="1" dirty="0">
                <a:solidFill>
                  <a:srgbClr val="39FF88"/>
                </a:solidFill>
                <a:latin typeface="Segoe UI" pitchFamily="34" charset="0"/>
                <a:ea typeface="Segoe UI" pitchFamily="34" charset="-122"/>
                <a:cs typeface="Segoe UI" pitchFamily="34" charset="-120"/>
              </a:rPr>
              <a:t>A process exit is not a day boundary.</a:t>
            </a:r>
            <a:endParaRPr lang="en-US" sz="1100" dirty="0"/>
          </a:p>
        </p:txBody>
      </p:sp>
      <p:sp>
        <p:nvSpPr>
          <p:cNvPr id="11" name="startup box">
            <a:extLst>
              <a:ext uri="{C183D7F6-B498-43B3-948B-1728B52AA6E4}">
                <adec:decorative xmlns:adec="http://schemas.microsoft.com/office/drawing/2017/decorative" val="1"/>
              </a:ext>
            </a:extLst>
          </p:cNvPr>
          <p:cNvSpPr/>
          <p:nvPr/>
        </p:nvSpPr>
        <p:spPr>
          <a:xfrm>
            <a:off x="4663440" y="1097280"/>
            <a:ext cx="4069080" cy="1737360"/>
          </a:xfrm>
          <a:prstGeom prst="rect">
            <a:avLst/>
          </a:prstGeom>
          <a:solidFill>
            <a:srgbClr val="26100F"/>
          </a:solidFill>
          <a:ln w="12700">
            <a:solidFill>
              <a:srgbClr val="FF5C6C"/>
            </a:solidFill>
            <a:prstDash val="solid"/>
          </a:ln>
        </p:spPr>
        <p:txBody>
          <a:bodyPr/>
          <a:lstStyle/>
          <a:p>
            <a:endParaRPr lang="en-SE"/>
          </a:p>
        </p:txBody>
      </p:sp>
      <p:sp>
        <p:nvSpPr>
          <p:cNvPr id="12" name="Text 9"/>
          <p:cNvSpPr/>
          <p:nvPr/>
        </p:nvSpPr>
        <p:spPr>
          <a:xfrm>
            <a:off x="4892040" y="1234440"/>
            <a:ext cx="3611880" cy="256032"/>
          </a:xfrm>
          <a:prstGeom prst="rect">
            <a:avLst/>
          </a:prstGeom>
          <a:noFill/>
          <a:ln/>
        </p:spPr>
        <p:txBody>
          <a:bodyPr wrap="square" lIns="0" tIns="0" rIns="0" bIns="0" rtlCol="0" anchor="ctr"/>
          <a:lstStyle/>
          <a:p>
            <a:pPr marL="0" indent="0">
              <a:buNone/>
            </a:pPr>
            <a:r>
              <a:rPr lang="en-US" sz="1000" kern="0" spc="100" dirty="0">
                <a:solidFill>
                  <a:srgbClr val="FF5C6C"/>
                </a:solidFill>
                <a:latin typeface="Consolas" pitchFamily="34" charset="0"/>
                <a:ea typeface="Consolas" pitchFamily="34" charset="-122"/>
                <a:cs typeface="Consolas" pitchFamily="34" charset="-120"/>
              </a:rPr>
              <a:t>AT STARTUP — one date comparison</a:t>
            </a:r>
            <a:endParaRPr lang="en-US" sz="1000" dirty="0"/>
          </a:p>
        </p:txBody>
      </p:sp>
      <p:sp>
        <p:nvSpPr>
          <p:cNvPr id="13" name="Text 10"/>
          <p:cNvSpPr/>
          <p:nvPr/>
        </p:nvSpPr>
        <p:spPr>
          <a:xfrm>
            <a:off x="4892040" y="1554480"/>
            <a:ext cx="3611880" cy="1005840"/>
          </a:xfrm>
          <a:prstGeom prst="rect">
            <a:avLst/>
          </a:prstGeom>
          <a:noFill/>
          <a:ln/>
        </p:spPr>
        <p:txBody>
          <a:bodyPr wrap="square" lIns="0" tIns="0" rIns="0" bIns="0" rtlCol="0" anchor="ctr"/>
          <a:lstStyle/>
          <a:p>
            <a:pPr marL="0" indent="0">
              <a:buNone/>
            </a:pPr>
            <a:r>
              <a:rPr lang="en-US" sz="1100" dirty="0">
                <a:solidFill>
                  <a:srgbClr val="EAF5F0"/>
                </a:solidFill>
                <a:latin typeface="Segoe UI" pitchFamily="34" charset="0"/>
                <a:ea typeface="Segoe UI" pitchFamily="34" charset="-122"/>
                <a:cs typeface="Segoe UI" pitchFamily="34" charset="-120"/>
              </a:rPr>
              <a:t>_restore_gtc compares the order's original timestamp date against today — once, at process start. Not continuously, not at midnight, not via the scheduler.</a:t>
            </a:r>
            <a:endParaRPr lang="en-US" sz="1100" dirty="0"/>
          </a:p>
        </p:txBody>
      </p:sp>
      <p:sp>
        <p:nvSpPr>
          <p:cNvPr id="14" name="Text 11"/>
          <p:cNvSpPr/>
          <p:nvPr/>
        </p:nvSpPr>
        <p:spPr>
          <a:xfrm>
            <a:off x="4892040" y="2542032"/>
            <a:ext cx="3611880" cy="256032"/>
          </a:xfrm>
          <a:prstGeom prst="rect">
            <a:avLst/>
          </a:prstGeom>
          <a:noFill/>
          <a:ln/>
        </p:spPr>
        <p:txBody>
          <a:bodyPr wrap="square" lIns="0" tIns="0" rIns="0" bIns="0" rtlCol="0" anchor="ctr"/>
          <a:lstStyle/>
          <a:p>
            <a:pPr marL="0" indent="0">
              <a:buNone/>
            </a:pPr>
            <a:r>
              <a:rPr lang="en-US" sz="1100" b="1" dirty="0">
                <a:solidFill>
                  <a:srgbClr val="FF5C6C"/>
                </a:solidFill>
                <a:latin typeface="Segoe UI" pitchFamily="34" charset="0"/>
                <a:ea typeface="Segoe UI" pitchFamily="34" charset="-122"/>
                <a:cs typeface="Segoe UI" pitchFamily="34" charset="-120"/>
              </a:rPr>
              <a:t>order_day &lt; today → discarded, silently.</a:t>
            </a:r>
            <a:endParaRPr lang="en-US" sz="1100" dirty="0"/>
          </a:p>
        </p:txBody>
      </p:sp>
      <p:sp>
        <p:nvSpPr>
          <p:cNvPr id="15" name="panel">
            <a:extLst>
              <a:ext uri="{C183D7F6-B498-43B3-948B-1728B52AA6E4}">
                <adec:decorative xmlns:adec="http://schemas.microsoft.com/office/drawing/2017/decorative" val="1"/>
              </a:ext>
            </a:extLst>
          </p:cNvPr>
          <p:cNvSpPr/>
          <p:nvPr/>
        </p:nvSpPr>
        <p:spPr>
          <a:xfrm>
            <a:off x="411480" y="2971800"/>
            <a:ext cx="2651760" cy="1051560"/>
          </a:xfrm>
          <a:prstGeom prst="rect">
            <a:avLst/>
          </a:prstGeom>
          <a:solidFill>
            <a:srgbClr val="141C19"/>
          </a:solidFill>
          <a:ln w="12700">
            <a:solidFill>
              <a:srgbClr val="2A3A34"/>
            </a:solidFill>
            <a:prstDash val="solid"/>
          </a:ln>
        </p:spPr>
        <p:txBody>
          <a:bodyPr/>
          <a:lstStyle/>
          <a:p>
            <a:endParaRPr lang="en-SE"/>
          </a:p>
        </p:txBody>
      </p:sp>
      <p:sp>
        <p:nvSpPr>
          <p:cNvPr id="16" name="accent bar">
            <a:extLst>
              <a:ext uri="{C183D7F6-B498-43B3-948B-1728B52AA6E4}">
                <adec:decorative xmlns:adec="http://schemas.microsoft.com/office/drawing/2017/decorative" val="1"/>
              </a:ext>
            </a:extLst>
          </p:cNvPr>
          <p:cNvSpPr/>
          <p:nvPr/>
        </p:nvSpPr>
        <p:spPr>
          <a:xfrm>
            <a:off x="411480" y="2971800"/>
            <a:ext cx="54864" cy="1051560"/>
          </a:xfrm>
          <a:prstGeom prst="rect">
            <a:avLst/>
          </a:prstGeom>
          <a:solidFill>
            <a:srgbClr val="39FF88"/>
          </a:solidFill>
          <a:ln w="12700">
            <a:solidFill>
              <a:srgbClr val="39FF88"/>
            </a:solidFill>
            <a:prstDash val="solid"/>
          </a:ln>
        </p:spPr>
        <p:txBody>
          <a:bodyPr/>
          <a:lstStyle/>
          <a:p>
            <a:endParaRPr lang="en-SE"/>
          </a:p>
        </p:txBody>
      </p:sp>
      <p:sp>
        <p:nvSpPr>
          <p:cNvPr id="17" name="Text 14"/>
          <p:cNvSpPr/>
          <p:nvPr/>
        </p:nvSpPr>
        <p:spPr>
          <a:xfrm>
            <a:off x="594360" y="3072384"/>
            <a:ext cx="2377440" cy="256032"/>
          </a:xfrm>
          <a:prstGeom prst="rect">
            <a:avLst/>
          </a:prstGeom>
          <a:noFill/>
          <a:ln/>
        </p:spPr>
        <p:txBody>
          <a:bodyPr wrap="square" lIns="0" tIns="0" rIns="0" bIns="0" rtlCol="0" anchor="ctr"/>
          <a:lstStyle/>
          <a:p>
            <a:pPr marL="0" indent="0">
              <a:buNone/>
            </a:pPr>
            <a:r>
              <a:rPr lang="en-US" sz="1100" b="1" dirty="0">
                <a:solidFill>
                  <a:srgbClr val="39FF88"/>
                </a:solidFill>
                <a:latin typeface="Segoe UI" pitchFamily="34" charset="0"/>
                <a:ea typeface="Segoe UI" pitchFamily="34" charset="-122"/>
                <a:cs typeface="Segoe UI" pitchFamily="34" charset="-120"/>
              </a:rPr>
              <a:t>Restarts within the same day</a:t>
            </a:r>
            <a:endParaRPr lang="en-US" sz="1100" dirty="0"/>
          </a:p>
        </p:txBody>
      </p:sp>
      <p:sp>
        <p:nvSpPr>
          <p:cNvPr id="18" name="Text 15"/>
          <p:cNvSpPr/>
          <p:nvPr/>
        </p:nvSpPr>
        <p:spPr>
          <a:xfrm>
            <a:off x="594360" y="3346704"/>
            <a:ext cx="2377440" cy="603504"/>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The date check keeps passing — the order survives every one, unchanged.</a:t>
            </a:r>
            <a:endParaRPr lang="en-US" sz="1000" dirty="0"/>
          </a:p>
        </p:txBody>
      </p:sp>
      <p:sp>
        <p:nvSpPr>
          <p:cNvPr id="19" name="panel">
            <a:extLst>
              <a:ext uri="{C183D7F6-B498-43B3-948B-1728B52AA6E4}">
                <adec:decorative xmlns:adec="http://schemas.microsoft.com/office/drawing/2017/decorative" val="1"/>
              </a:ext>
            </a:extLst>
          </p:cNvPr>
          <p:cNvSpPr/>
          <p:nvPr/>
        </p:nvSpPr>
        <p:spPr>
          <a:xfrm>
            <a:off x="3246120" y="2971800"/>
            <a:ext cx="2651760" cy="1051560"/>
          </a:xfrm>
          <a:prstGeom prst="rect">
            <a:avLst/>
          </a:prstGeom>
          <a:solidFill>
            <a:srgbClr val="141C19"/>
          </a:solidFill>
          <a:ln w="12700">
            <a:solidFill>
              <a:srgbClr val="2A3A34"/>
            </a:solidFill>
            <a:prstDash val="solid"/>
          </a:ln>
        </p:spPr>
        <p:txBody>
          <a:bodyPr/>
          <a:lstStyle/>
          <a:p>
            <a:endParaRPr lang="en-SE"/>
          </a:p>
        </p:txBody>
      </p:sp>
      <p:sp>
        <p:nvSpPr>
          <p:cNvPr id="20" name="accent bar">
            <a:extLst>
              <a:ext uri="{C183D7F6-B498-43B3-948B-1728B52AA6E4}">
                <adec:decorative xmlns:adec="http://schemas.microsoft.com/office/drawing/2017/decorative" val="1"/>
              </a:ext>
            </a:extLst>
          </p:cNvPr>
          <p:cNvSpPr/>
          <p:nvPr/>
        </p:nvSpPr>
        <p:spPr>
          <a:xfrm>
            <a:off x="3246120" y="2971800"/>
            <a:ext cx="54864" cy="1051560"/>
          </a:xfrm>
          <a:prstGeom prst="rect">
            <a:avLst/>
          </a:prstGeom>
          <a:solidFill>
            <a:srgbClr val="FFC24B"/>
          </a:solidFill>
          <a:ln w="12700">
            <a:solidFill>
              <a:srgbClr val="FFC24B"/>
            </a:solidFill>
            <a:prstDash val="solid"/>
          </a:ln>
        </p:spPr>
        <p:txBody>
          <a:bodyPr/>
          <a:lstStyle/>
          <a:p>
            <a:endParaRPr lang="en-SE"/>
          </a:p>
        </p:txBody>
      </p:sp>
      <p:sp>
        <p:nvSpPr>
          <p:cNvPr id="21" name="Text 18"/>
          <p:cNvSpPr/>
          <p:nvPr/>
        </p:nvSpPr>
        <p:spPr>
          <a:xfrm>
            <a:off x="3429000" y="3072384"/>
            <a:ext cx="2377440" cy="256032"/>
          </a:xfrm>
          <a:prstGeom prst="rect">
            <a:avLst/>
          </a:prstGeom>
          <a:noFill/>
          <a:ln/>
        </p:spPr>
        <p:txBody>
          <a:bodyPr wrap="square" lIns="0" tIns="0" rIns="0" bIns="0" rtlCol="0" anchor="ctr"/>
          <a:lstStyle/>
          <a:p>
            <a:pPr marL="0" indent="0">
              <a:buNone/>
            </a:pPr>
            <a:r>
              <a:rPr lang="en-US" sz="1100" b="1" dirty="0">
                <a:solidFill>
                  <a:srgbClr val="FFC24B"/>
                </a:solidFill>
                <a:latin typeface="Segoe UI" pitchFamily="34" charset="0"/>
                <a:ea typeface="Segoe UI" pitchFamily="34" charset="-122"/>
                <a:cs typeface="Segoe UI" pitchFamily="34" charset="-120"/>
              </a:rPr>
              <a:t>Never restarts, sessions off</a:t>
            </a:r>
            <a:endParaRPr lang="en-US" sz="1100" dirty="0"/>
          </a:p>
        </p:txBody>
      </p:sp>
      <p:sp>
        <p:nvSpPr>
          <p:cNvPr id="22" name="Text 19"/>
          <p:cNvSpPr/>
          <p:nvPr/>
        </p:nvSpPr>
        <p:spPr>
          <a:xfrm>
            <a:off x="3429000" y="3346704"/>
            <a:ext cx="2377440" cy="603504"/>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No wall-clock timer exists. A DAY order then never expires at all.</a:t>
            </a:r>
            <a:endParaRPr lang="en-US" sz="1000" dirty="0"/>
          </a:p>
        </p:txBody>
      </p:sp>
      <p:sp>
        <p:nvSpPr>
          <p:cNvPr id="23" name="panel">
            <a:extLst>
              <a:ext uri="{C183D7F6-B498-43B3-948B-1728B52AA6E4}">
                <adec:decorative xmlns:adec="http://schemas.microsoft.com/office/drawing/2017/decorative" val="1"/>
              </a:ext>
            </a:extLst>
          </p:cNvPr>
          <p:cNvSpPr/>
          <p:nvPr/>
        </p:nvSpPr>
        <p:spPr>
          <a:xfrm>
            <a:off x="6080760" y="2971800"/>
            <a:ext cx="2651760" cy="1051560"/>
          </a:xfrm>
          <a:prstGeom prst="rect">
            <a:avLst/>
          </a:prstGeom>
          <a:solidFill>
            <a:srgbClr val="141C19"/>
          </a:solidFill>
          <a:ln w="12700">
            <a:solidFill>
              <a:srgbClr val="2A3A34"/>
            </a:solidFill>
            <a:prstDash val="solid"/>
          </a:ln>
        </p:spPr>
        <p:txBody>
          <a:bodyPr/>
          <a:lstStyle/>
          <a:p>
            <a:endParaRPr lang="en-SE"/>
          </a:p>
        </p:txBody>
      </p:sp>
      <p:sp>
        <p:nvSpPr>
          <p:cNvPr id="24" name="accent bar">
            <a:extLst>
              <a:ext uri="{C183D7F6-B498-43B3-948B-1728B52AA6E4}">
                <adec:decorative xmlns:adec="http://schemas.microsoft.com/office/drawing/2017/decorative" val="1"/>
              </a:ext>
            </a:extLst>
          </p:cNvPr>
          <p:cNvSpPr/>
          <p:nvPr/>
        </p:nvSpPr>
        <p:spPr>
          <a:xfrm>
            <a:off x="6080760" y="2971800"/>
            <a:ext cx="54864" cy="1051560"/>
          </a:xfrm>
          <a:prstGeom prst="rect">
            <a:avLst/>
          </a:prstGeom>
          <a:solidFill>
            <a:srgbClr val="FF5C6C"/>
          </a:solidFill>
          <a:ln w="12700">
            <a:solidFill>
              <a:srgbClr val="FF5C6C"/>
            </a:solidFill>
            <a:prstDash val="solid"/>
          </a:ln>
        </p:spPr>
        <p:txBody>
          <a:bodyPr/>
          <a:lstStyle/>
          <a:p>
            <a:endParaRPr lang="en-SE"/>
          </a:p>
        </p:txBody>
      </p:sp>
      <p:sp>
        <p:nvSpPr>
          <p:cNvPr id="25" name="Text 22"/>
          <p:cNvSpPr/>
          <p:nvPr/>
        </p:nvSpPr>
        <p:spPr>
          <a:xfrm>
            <a:off x="6263640" y="3072384"/>
            <a:ext cx="2377440" cy="256032"/>
          </a:xfrm>
          <a:prstGeom prst="rect">
            <a:avLst/>
          </a:prstGeom>
          <a:noFill/>
          <a:ln/>
        </p:spPr>
        <p:txBody>
          <a:bodyPr wrap="square" lIns="0" tIns="0" rIns="0" bIns="0" rtlCol="0" anchor="ctr"/>
          <a:lstStyle/>
          <a:p>
            <a:pPr marL="0" indent="0">
              <a:buNone/>
            </a:pPr>
            <a:r>
              <a:rPr lang="en-US" sz="1100" b="1" dirty="0">
                <a:solidFill>
                  <a:srgbClr val="FF5C6C"/>
                </a:solidFill>
                <a:latin typeface="Segoe UI" pitchFamily="34" charset="0"/>
                <a:ea typeface="Segoe UI" pitchFamily="34" charset="-122"/>
                <a:cs typeface="Segoe UI" pitchFamily="34" charset="-120"/>
              </a:rPr>
              <a:t>Discarded as stale</a:t>
            </a:r>
            <a:endParaRPr lang="en-US" sz="1100" dirty="0"/>
          </a:p>
        </p:txBody>
      </p:sp>
      <p:sp>
        <p:nvSpPr>
          <p:cNvPr id="26" name="Text 23"/>
          <p:cNvSpPr/>
          <p:nvPr/>
        </p:nvSpPr>
        <p:spPr>
          <a:xfrm>
            <a:off x="6263640" y="3346704"/>
            <a:ext cx="2377440" cy="603504"/>
          </a:xfrm>
          <a:prstGeom prst="rect">
            <a:avLst/>
          </a:prstGeom>
          <a:noFill/>
          <a:ln/>
        </p:spPr>
        <p:txBody>
          <a:bodyPr wrap="square" lIns="0" tIns="0" rIns="0" bIns="0" rtlCol="0" anchor="ctr"/>
          <a:lstStyle/>
          <a:p>
            <a:pPr marL="0" indent="0">
              <a:buNone/>
            </a:pPr>
            <a:r>
              <a:rPr lang="en-US" sz="1000" dirty="0">
                <a:solidFill>
                  <a:srgbClr val="8AA79A"/>
                </a:solidFill>
                <a:latin typeface="Segoe UI" pitchFamily="34" charset="0"/>
                <a:ea typeface="Segoe UI" pitchFamily="34" charset="-122"/>
                <a:cs typeface="Segoe UI" pitchFamily="34" charset="-120"/>
              </a:rPr>
              <a:t>No order.expired is ever sent. Absent from ORDERS and QLEGS — learn by absence.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0D"/>
        </a:solidFill>
        <a:effectLst/>
      </p:bgPr>
    </p:bg>
    <p:spTree>
      <p:nvGrpSpPr>
        <p:cNvPr id="1" name="">
          <a:extLst>
            <a:ext uri="{FF2B5EF4-FFF2-40B4-BE49-F238E27FC236}">
              <a16:creationId xmlns:a16="http://schemas.microsoft.com/office/drawing/2014/main" id="{84B9810E-7973-C1DD-73F2-73840FB5C97C}"/>
            </a:ext>
          </a:extLst>
        </p:cNvPr>
        <p:cNvGrpSpPr/>
        <p:nvPr/>
      </p:nvGrpSpPr>
      <p:grpSpPr>
        <a:xfrm>
          <a:off x="0" y="0"/>
          <a:ext cx="0" cy="0"/>
          <a:chOff x="0" y="0"/>
          <a:chExt cx="0" cy="0"/>
        </a:xfrm>
      </p:grpSpPr>
      <p:sp>
        <p:nvSpPr>
          <p:cNvPr id="2" name="top accent">
            <a:extLst>
              <a:ext uri="{FF2B5EF4-FFF2-40B4-BE49-F238E27FC236}">
                <a16:creationId xmlns:a16="http://schemas.microsoft.com/office/drawing/2014/main" id="{797CD19B-71AC-7237-FBE7-4D54D30395A3}"/>
              </a:ex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FF2B5EF4-FFF2-40B4-BE49-F238E27FC236}">
                <a16:creationId xmlns:a16="http://schemas.microsoft.com/office/drawing/2014/main" id="{04EE1C19-DAA6-C264-B654-A1CC7BAF6A6E}"/>
              </a:ex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a:extLst>
              <a:ext uri="{FF2B5EF4-FFF2-40B4-BE49-F238E27FC236}">
                <a16:creationId xmlns:a16="http://schemas.microsoft.com/office/drawing/2014/main" id="{029041ED-4883-74E1-FB20-290891D9137F}"/>
              </a:ext>
            </a:extLst>
          </p:cNvPr>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a:solidFill>
                  <a:srgbClr val="39FF88"/>
                </a:solidFill>
                <a:latin typeface="Consolas" pitchFamily="34" charset="0"/>
                <a:ea typeface="Consolas" pitchFamily="34" charset="-122"/>
                <a:cs typeface="Consolas" pitchFamily="34" charset="-120"/>
              </a:rPr>
              <a:t>SECTION 9</a:t>
            </a:r>
            <a:endParaRPr lang="en-US" sz="1000"/>
          </a:p>
        </p:txBody>
      </p:sp>
      <p:sp>
        <p:nvSpPr>
          <p:cNvPr id="6" name="Text 3">
            <a:extLst>
              <a:ext uri="{FF2B5EF4-FFF2-40B4-BE49-F238E27FC236}">
                <a16:creationId xmlns:a16="http://schemas.microsoft.com/office/drawing/2014/main" id="{90965460-6D7B-7762-01CE-42EB79D4E782}"/>
              </a:ext>
            </a:extLst>
          </p:cNvPr>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a:solidFill>
                  <a:srgbClr val="EAF5F0"/>
                </a:solidFill>
                <a:latin typeface="Segoe UI" pitchFamily="34" charset="0"/>
                <a:ea typeface="Segoe UI" pitchFamily="34" charset="-122"/>
                <a:cs typeface="Segoe UI" pitchFamily="34" charset="-120"/>
              </a:rPr>
              <a:t>Startup: re-reading the orders from file</a:t>
            </a:r>
            <a:endParaRPr lang="en-US" sz="2400"/>
          </a:p>
        </p:txBody>
      </p:sp>
      <p:sp>
        <p:nvSpPr>
          <p:cNvPr id="7" name="shutdown box">
            <a:extLst>
              <a:ext uri="{FF2B5EF4-FFF2-40B4-BE49-F238E27FC236}">
                <a16:creationId xmlns:a16="http://schemas.microsoft.com/office/drawing/2014/main" id="{E934867D-19AE-AEB9-E06C-CD66A85C0491}"/>
              </a:ext>
              <a:ext uri="{C183D7F6-B498-43B3-948B-1728B52AA6E4}">
                <adec:decorative xmlns:adec="http://schemas.microsoft.com/office/drawing/2017/decorative" val="1"/>
              </a:ext>
            </a:extLst>
          </p:cNvPr>
          <p:cNvSpPr/>
          <p:nvPr/>
        </p:nvSpPr>
        <p:spPr>
          <a:xfrm>
            <a:off x="411480" y="1097280"/>
            <a:ext cx="4069080" cy="1737360"/>
          </a:xfrm>
          <a:prstGeom prst="rect">
            <a:avLst/>
          </a:prstGeom>
          <a:solidFill>
            <a:srgbClr val="0B2418"/>
          </a:solidFill>
          <a:ln w="12700">
            <a:solidFill>
              <a:srgbClr val="39FF88"/>
            </a:solidFill>
            <a:prstDash val="solid"/>
          </a:ln>
        </p:spPr>
        <p:txBody>
          <a:bodyPr/>
          <a:lstStyle/>
          <a:p>
            <a:endParaRPr lang="en-SE"/>
          </a:p>
        </p:txBody>
      </p:sp>
      <p:sp>
        <p:nvSpPr>
          <p:cNvPr id="8" name="Text 5">
            <a:extLst>
              <a:ext uri="{FF2B5EF4-FFF2-40B4-BE49-F238E27FC236}">
                <a16:creationId xmlns:a16="http://schemas.microsoft.com/office/drawing/2014/main" id="{B93C15CF-0CFF-0BBE-2232-119F66032754}"/>
              </a:ext>
            </a:extLst>
          </p:cNvPr>
          <p:cNvSpPr/>
          <p:nvPr/>
        </p:nvSpPr>
        <p:spPr>
          <a:xfrm>
            <a:off x="640080" y="1234440"/>
            <a:ext cx="3611880" cy="256032"/>
          </a:xfrm>
          <a:prstGeom prst="rect">
            <a:avLst/>
          </a:prstGeom>
          <a:noFill/>
          <a:ln/>
        </p:spPr>
        <p:txBody>
          <a:bodyPr wrap="square" lIns="0" tIns="0" rIns="0" bIns="0" rtlCol="0" anchor="ctr"/>
          <a:lstStyle/>
          <a:p>
            <a:pPr marL="0" indent="0">
              <a:buNone/>
            </a:pPr>
            <a:r>
              <a:rPr lang="en-US" sz="1000" kern="0" spc="100">
                <a:solidFill>
                  <a:srgbClr val="39FF88"/>
                </a:solidFill>
                <a:latin typeface="Consolas" pitchFamily="34" charset="0"/>
                <a:ea typeface="Consolas" pitchFamily="34" charset="-122"/>
                <a:cs typeface="Consolas" pitchFamily="34" charset="-120"/>
              </a:rPr>
              <a:t>WHAT COMES BACK — rested, not re-traded</a:t>
            </a:r>
            <a:endParaRPr lang="en-US" sz="1000"/>
          </a:p>
        </p:txBody>
      </p:sp>
      <p:sp>
        <p:nvSpPr>
          <p:cNvPr id="9" name="Text 6">
            <a:extLst>
              <a:ext uri="{FF2B5EF4-FFF2-40B4-BE49-F238E27FC236}">
                <a16:creationId xmlns:a16="http://schemas.microsoft.com/office/drawing/2014/main" id="{F003262C-E0BF-1250-FFA0-63D05CBFCCFE}"/>
              </a:ext>
            </a:extLst>
          </p:cNvPr>
          <p:cNvSpPr/>
          <p:nvPr/>
        </p:nvSpPr>
        <p:spPr>
          <a:xfrm>
            <a:off x="640080" y="1554480"/>
            <a:ext cx="3611880" cy="1005840"/>
          </a:xfrm>
          <a:prstGeom prst="rect">
            <a:avLst/>
          </a:prstGeom>
          <a:noFill/>
          <a:ln/>
        </p:spPr>
        <p:txBody>
          <a:bodyPr wrap="square" lIns="0" tIns="0" rIns="0" bIns="0" rtlCol="0" anchor="ctr"/>
          <a:lstStyle/>
          <a:p>
            <a:pPr marL="0" indent="0">
              <a:buNone/>
            </a:pPr>
            <a:r>
              <a:rPr lang="en-US" sz="1100">
                <a:solidFill>
                  <a:srgbClr val="EAF5F0"/>
                </a:solidFill>
                <a:latin typeface="Segoe UI" pitchFamily="34" charset="0"/>
                <a:ea typeface="Segoe UI" pitchFamily="34" charset="-122"/>
                <a:cs typeface="Segoe UI" pitchFamily="34" charset="-120"/>
              </a:rPr>
              <a:t>_restore_gtc reads data/gtc_orders.json, resets each survivor to status NEW — even one that stopped as PARTIAL — and calls book.process(order, match=False).</a:t>
            </a:r>
            <a:endParaRPr lang="en-US" sz="1100"/>
          </a:p>
        </p:txBody>
      </p:sp>
      <p:sp>
        <p:nvSpPr>
          <p:cNvPr id="10" name="Text 7">
            <a:extLst>
              <a:ext uri="{FF2B5EF4-FFF2-40B4-BE49-F238E27FC236}">
                <a16:creationId xmlns:a16="http://schemas.microsoft.com/office/drawing/2014/main" id="{0E579131-A041-DF45-7C4D-617FC272008C}"/>
              </a:ext>
            </a:extLst>
          </p:cNvPr>
          <p:cNvSpPr/>
          <p:nvPr/>
        </p:nvSpPr>
        <p:spPr>
          <a:xfrm>
            <a:off x="640080" y="2542032"/>
            <a:ext cx="3611880" cy="256032"/>
          </a:xfrm>
          <a:prstGeom prst="rect">
            <a:avLst/>
          </a:prstGeom>
          <a:noFill/>
          <a:ln/>
        </p:spPr>
        <p:txBody>
          <a:bodyPr wrap="square" lIns="0" tIns="0" rIns="0" bIns="0" rtlCol="0" anchor="ctr"/>
          <a:lstStyle/>
          <a:p>
            <a:pPr marL="0" indent="0">
              <a:buNone/>
            </a:pPr>
            <a:r>
              <a:rPr lang="en-US" sz="1100" b="1">
                <a:solidFill>
                  <a:srgbClr val="39FF88"/>
                </a:solidFill>
                <a:latin typeface="Segoe UI" pitchFamily="34" charset="0"/>
                <a:ea typeface="Segoe UI" pitchFamily="34" charset="-122"/>
                <a:cs typeface="Segoe UI" pitchFamily="34" charset="-120"/>
              </a:rPr>
              <a:t>match=False: rest onto the heaps, never sweep.</a:t>
            </a:r>
            <a:endParaRPr lang="en-US" sz="1100"/>
          </a:p>
        </p:txBody>
      </p:sp>
      <p:sp>
        <p:nvSpPr>
          <p:cNvPr id="11" name="startup box">
            <a:extLst>
              <a:ext uri="{FF2B5EF4-FFF2-40B4-BE49-F238E27FC236}">
                <a16:creationId xmlns:a16="http://schemas.microsoft.com/office/drawing/2014/main" id="{B84B382E-1068-CBA5-24DB-CC7FE8E0417D}"/>
              </a:ext>
              <a:ext uri="{C183D7F6-B498-43B3-948B-1728B52AA6E4}">
                <adec:decorative xmlns:adec="http://schemas.microsoft.com/office/drawing/2017/decorative" val="1"/>
              </a:ext>
            </a:extLst>
          </p:cNvPr>
          <p:cNvSpPr/>
          <p:nvPr/>
        </p:nvSpPr>
        <p:spPr>
          <a:xfrm>
            <a:off x="4663440" y="1097280"/>
            <a:ext cx="4069080" cy="1737360"/>
          </a:xfrm>
          <a:prstGeom prst="rect">
            <a:avLst/>
          </a:prstGeom>
          <a:solidFill>
            <a:srgbClr val="26100F"/>
          </a:solidFill>
          <a:ln w="12700">
            <a:solidFill>
              <a:srgbClr val="FF5C6C"/>
            </a:solidFill>
            <a:prstDash val="solid"/>
          </a:ln>
        </p:spPr>
        <p:txBody>
          <a:bodyPr/>
          <a:lstStyle/>
          <a:p>
            <a:endParaRPr lang="en-SE"/>
          </a:p>
        </p:txBody>
      </p:sp>
      <p:sp>
        <p:nvSpPr>
          <p:cNvPr id="12" name="Text 9">
            <a:extLst>
              <a:ext uri="{FF2B5EF4-FFF2-40B4-BE49-F238E27FC236}">
                <a16:creationId xmlns:a16="http://schemas.microsoft.com/office/drawing/2014/main" id="{0F485412-9F04-20CD-EF41-491462F378EF}"/>
              </a:ext>
            </a:extLst>
          </p:cNvPr>
          <p:cNvSpPr/>
          <p:nvPr/>
        </p:nvSpPr>
        <p:spPr>
          <a:xfrm>
            <a:off x="4892040" y="1234440"/>
            <a:ext cx="3611880" cy="256032"/>
          </a:xfrm>
          <a:prstGeom prst="rect">
            <a:avLst/>
          </a:prstGeom>
          <a:noFill/>
          <a:ln/>
        </p:spPr>
        <p:txBody>
          <a:bodyPr wrap="square" lIns="0" tIns="0" rIns="0" bIns="0" rtlCol="0" anchor="ctr"/>
          <a:lstStyle/>
          <a:p>
            <a:pPr marL="0" indent="0">
              <a:buNone/>
            </a:pPr>
            <a:r>
              <a:rPr lang="en-US" sz="1000" kern="0" spc="100">
                <a:solidFill>
                  <a:srgbClr val="FF5C6C"/>
                </a:solidFill>
                <a:latin typeface="Consolas" pitchFamily="34" charset="0"/>
                <a:ea typeface="Consolas" pitchFamily="34" charset="-122"/>
                <a:cs typeface="Consolas" pitchFamily="34" charset="-120"/>
              </a:rPr>
              <a:t>WHAT DOES NOT COME BACK</a:t>
            </a:r>
            <a:endParaRPr lang="en-US" sz="1000"/>
          </a:p>
        </p:txBody>
      </p:sp>
      <p:sp>
        <p:nvSpPr>
          <p:cNvPr id="13" name="Text 10">
            <a:extLst>
              <a:ext uri="{FF2B5EF4-FFF2-40B4-BE49-F238E27FC236}">
                <a16:creationId xmlns:a16="http://schemas.microsoft.com/office/drawing/2014/main" id="{9CF9A583-B8FD-C22C-63BA-B721B8DCF2D0}"/>
              </a:ext>
            </a:extLst>
          </p:cNvPr>
          <p:cNvSpPr/>
          <p:nvPr/>
        </p:nvSpPr>
        <p:spPr>
          <a:xfrm>
            <a:off x="4892040" y="1554480"/>
            <a:ext cx="3611880" cy="1005840"/>
          </a:xfrm>
          <a:prstGeom prst="rect">
            <a:avLst/>
          </a:prstGeom>
          <a:noFill/>
          <a:ln/>
        </p:spPr>
        <p:txBody>
          <a:bodyPr wrap="square" lIns="0" tIns="0" rIns="0" bIns="0" rtlCol="0" anchor="ctr"/>
          <a:lstStyle/>
          <a:p>
            <a:pPr marL="0" indent="0">
              <a:buNone/>
            </a:pPr>
            <a:r>
              <a:rPr lang="en-US" sz="1100">
                <a:solidFill>
                  <a:srgbClr val="EAF5F0"/>
                </a:solidFill>
                <a:latin typeface="Segoe UI" pitchFamily="34" charset="0"/>
                <a:ea typeface="Segoe UI" pitchFamily="34" charset="-122"/>
                <a:cs typeface="Segoe UI" pitchFamily="34" charset="-120"/>
              </a:rPr>
              <a:t>A TIF=DAY order whose original timestamp falls on an earlier calendar day is logged and skipped — never restored, never expired, no message sent.</a:t>
            </a:r>
            <a:endParaRPr lang="en-US" sz="1100"/>
          </a:p>
        </p:txBody>
      </p:sp>
      <p:sp>
        <p:nvSpPr>
          <p:cNvPr id="14" name="Text 11">
            <a:extLst>
              <a:ext uri="{FF2B5EF4-FFF2-40B4-BE49-F238E27FC236}">
                <a16:creationId xmlns:a16="http://schemas.microsoft.com/office/drawing/2014/main" id="{F79C94B0-7DC3-4DD2-96E1-37A7FCDBD594}"/>
              </a:ext>
            </a:extLst>
          </p:cNvPr>
          <p:cNvSpPr/>
          <p:nvPr/>
        </p:nvSpPr>
        <p:spPr>
          <a:xfrm>
            <a:off x="4892040" y="2542032"/>
            <a:ext cx="3611880" cy="256032"/>
          </a:xfrm>
          <a:prstGeom prst="rect">
            <a:avLst/>
          </a:prstGeom>
          <a:noFill/>
          <a:ln/>
        </p:spPr>
        <p:txBody>
          <a:bodyPr wrap="square" lIns="0" tIns="0" rIns="0" bIns="0" rtlCol="0" anchor="ctr"/>
          <a:lstStyle/>
          <a:p>
            <a:pPr marL="0" indent="0">
              <a:buNone/>
            </a:pPr>
            <a:r>
              <a:rPr lang="en-US" sz="1100" b="1">
                <a:solidFill>
                  <a:srgbClr val="FF5C6C"/>
                </a:solidFill>
                <a:latin typeface="Segoe UI" pitchFamily="34" charset="0"/>
                <a:ea typeface="Segoe UI" pitchFamily="34" charset="-122"/>
                <a:cs typeface="Segoe UI" pitchFamily="34" charset="-120"/>
              </a:rPr>
              <a:t>“Discarding stale TIF=DAY order …”</a:t>
            </a:r>
            <a:endParaRPr lang="en-US" sz="1100"/>
          </a:p>
        </p:txBody>
      </p:sp>
      <p:sp>
        <p:nvSpPr>
          <p:cNvPr id="15" name="panel">
            <a:extLst>
              <a:ext uri="{FF2B5EF4-FFF2-40B4-BE49-F238E27FC236}">
                <a16:creationId xmlns:a16="http://schemas.microsoft.com/office/drawing/2014/main" id="{7A2C3F6E-2C2E-4354-CEEB-A5685D02E0D7}"/>
              </a:ext>
              <a:ext uri="{C183D7F6-B498-43B3-948B-1728B52AA6E4}">
                <adec:decorative xmlns:adec="http://schemas.microsoft.com/office/drawing/2017/decorative" val="1"/>
              </a:ext>
            </a:extLst>
          </p:cNvPr>
          <p:cNvSpPr/>
          <p:nvPr/>
        </p:nvSpPr>
        <p:spPr>
          <a:xfrm>
            <a:off x="411480" y="2971800"/>
            <a:ext cx="2651760" cy="1051560"/>
          </a:xfrm>
          <a:prstGeom prst="rect">
            <a:avLst/>
          </a:prstGeom>
          <a:solidFill>
            <a:srgbClr val="141C19"/>
          </a:solidFill>
          <a:ln w="12700">
            <a:solidFill>
              <a:srgbClr val="2A3A34"/>
            </a:solidFill>
            <a:prstDash val="solid"/>
          </a:ln>
        </p:spPr>
        <p:txBody>
          <a:bodyPr/>
          <a:lstStyle/>
          <a:p>
            <a:endParaRPr lang="en-SE"/>
          </a:p>
        </p:txBody>
      </p:sp>
      <p:sp>
        <p:nvSpPr>
          <p:cNvPr id="16" name="accent bar">
            <a:extLst>
              <a:ext uri="{FF2B5EF4-FFF2-40B4-BE49-F238E27FC236}">
                <a16:creationId xmlns:a16="http://schemas.microsoft.com/office/drawing/2014/main" id="{865A3EB9-A9F8-61E0-36E4-879F767BB196}"/>
              </a:ext>
              <a:ext uri="{C183D7F6-B498-43B3-948B-1728B52AA6E4}">
                <adec:decorative xmlns:adec="http://schemas.microsoft.com/office/drawing/2017/decorative" val="1"/>
              </a:ext>
            </a:extLst>
          </p:cNvPr>
          <p:cNvSpPr/>
          <p:nvPr/>
        </p:nvSpPr>
        <p:spPr>
          <a:xfrm>
            <a:off x="411480" y="2971800"/>
            <a:ext cx="54864" cy="1051560"/>
          </a:xfrm>
          <a:prstGeom prst="rect">
            <a:avLst/>
          </a:prstGeom>
          <a:solidFill>
            <a:srgbClr val="39FF88"/>
          </a:solidFill>
          <a:ln w="12700">
            <a:solidFill>
              <a:srgbClr val="39FF88"/>
            </a:solidFill>
            <a:prstDash val="solid"/>
          </a:ln>
        </p:spPr>
        <p:txBody>
          <a:bodyPr/>
          <a:lstStyle/>
          <a:p>
            <a:endParaRPr lang="en-SE"/>
          </a:p>
        </p:txBody>
      </p:sp>
      <p:sp>
        <p:nvSpPr>
          <p:cNvPr id="17" name="Text 14">
            <a:extLst>
              <a:ext uri="{FF2B5EF4-FFF2-40B4-BE49-F238E27FC236}">
                <a16:creationId xmlns:a16="http://schemas.microsoft.com/office/drawing/2014/main" id="{FD51BB5D-95B5-E59B-D549-04E56B2D3883}"/>
              </a:ext>
            </a:extLst>
          </p:cNvPr>
          <p:cNvSpPr/>
          <p:nvPr/>
        </p:nvSpPr>
        <p:spPr>
          <a:xfrm>
            <a:off x="594360" y="3072384"/>
            <a:ext cx="2377440" cy="256032"/>
          </a:xfrm>
          <a:prstGeom prst="rect">
            <a:avLst/>
          </a:prstGeom>
          <a:noFill/>
          <a:ln/>
        </p:spPr>
        <p:txBody>
          <a:bodyPr wrap="square" lIns="0" tIns="0" rIns="0" bIns="0" rtlCol="0" anchor="ctr"/>
          <a:lstStyle/>
          <a:p>
            <a:pPr marL="0" indent="0">
              <a:buNone/>
            </a:pPr>
            <a:r>
              <a:rPr lang="en-US" sz="1100" b="1">
                <a:solidFill>
                  <a:srgbClr val="39FF88"/>
                </a:solidFill>
                <a:latin typeface="Segoe UI" pitchFamily="34" charset="0"/>
                <a:ea typeface="Segoe UI" pitchFamily="34" charset="-122"/>
                <a:cs typeface="Segoe UI" pitchFamily="34" charset="-120"/>
              </a:rPr>
              <a:t>Why match=False matters</a:t>
            </a:r>
            <a:endParaRPr lang="en-US" sz="1100"/>
          </a:p>
        </p:txBody>
      </p:sp>
      <p:sp>
        <p:nvSpPr>
          <p:cNvPr id="18" name="Text 15">
            <a:extLst>
              <a:ext uri="{FF2B5EF4-FFF2-40B4-BE49-F238E27FC236}">
                <a16:creationId xmlns:a16="http://schemas.microsoft.com/office/drawing/2014/main" id="{9706FC00-0901-64C5-DBBC-9DFB3BD8EAAB}"/>
              </a:ext>
            </a:extLst>
          </p:cNvPr>
          <p:cNvSpPr/>
          <p:nvPr/>
        </p:nvSpPr>
        <p:spPr>
          <a:xfrm>
            <a:off x="594360" y="3346704"/>
            <a:ext cx="2377440" cy="603504"/>
          </a:xfrm>
          <a:prstGeom prst="rect">
            <a:avLst/>
          </a:prstGeom>
          <a:noFill/>
          <a:ln/>
        </p:spPr>
        <p:txBody>
          <a:bodyPr wrap="square" lIns="0" tIns="0" rIns="0" bIns="0" rtlCol="0" anchor="ctr"/>
          <a:lstStyle/>
          <a:p>
            <a:pPr marL="0" indent="0">
              <a:buNone/>
            </a:pPr>
            <a:r>
              <a:rPr lang="en-US" sz="1050" dirty="0">
                <a:solidFill>
                  <a:srgbClr val="8AA79A"/>
                </a:solidFill>
                <a:latin typeface="Segoe UI" pitchFamily="34" charset="0"/>
                <a:ea typeface="Segoe UI" pitchFamily="34" charset="-122"/>
                <a:cs typeface="Segoe UI" pitchFamily="34" charset="-120"/>
              </a:rPr>
              <a:t>The book is rebuilt, not re-traded. Otherwise orders that coexisted legitimately would cross at stale prices.</a:t>
            </a:r>
            <a:endParaRPr lang="en-US" sz="1050" dirty="0"/>
          </a:p>
        </p:txBody>
      </p:sp>
      <p:sp>
        <p:nvSpPr>
          <p:cNvPr id="19" name="panel">
            <a:extLst>
              <a:ext uri="{FF2B5EF4-FFF2-40B4-BE49-F238E27FC236}">
                <a16:creationId xmlns:a16="http://schemas.microsoft.com/office/drawing/2014/main" id="{FD1D470D-453E-9B05-DD67-19F6039EE20F}"/>
              </a:ext>
              <a:ext uri="{C183D7F6-B498-43B3-948B-1728B52AA6E4}">
                <adec:decorative xmlns:adec="http://schemas.microsoft.com/office/drawing/2017/decorative" val="1"/>
              </a:ext>
            </a:extLst>
          </p:cNvPr>
          <p:cNvSpPr/>
          <p:nvPr/>
        </p:nvSpPr>
        <p:spPr>
          <a:xfrm>
            <a:off x="3246120" y="2971800"/>
            <a:ext cx="2651760" cy="1051560"/>
          </a:xfrm>
          <a:prstGeom prst="rect">
            <a:avLst/>
          </a:prstGeom>
          <a:solidFill>
            <a:srgbClr val="141C19"/>
          </a:solidFill>
          <a:ln w="12700">
            <a:solidFill>
              <a:srgbClr val="2A3A34"/>
            </a:solidFill>
            <a:prstDash val="solid"/>
          </a:ln>
        </p:spPr>
        <p:txBody>
          <a:bodyPr/>
          <a:lstStyle/>
          <a:p>
            <a:endParaRPr lang="en-SE"/>
          </a:p>
        </p:txBody>
      </p:sp>
      <p:sp>
        <p:nvSpPr>
          <p:cNvPr id="20" name="accent bar">
            <a:extLst>
              <a:ext uri="{FF2B5EF4-FFF2-40B4-BE49-F238E27FC236}">
                <a16:creationId xmlns:a16="http://schemas.microsoft.com/office/drawing/2014/main" id="{70CF18B9-F75B-2BBC-E306-004106E32FD2}"/>
              </a:ext>
              <a:ext uri="{C183D7F6-B498-43B3-948B-1728B52AA6E4}">
                <adec:decorative xmlns:adec="http://schemas.microsoft.com/office/drawing/2017/decorative" val="1"/>
              </a:ext>
            </a:extLst>
          </p:cNvPr>
          <p:cNvSpPr/>
          <p:nvPr/>
        </p:nvSpPr>
        <p:spPr>
          <a:xfrm>
            <a:off x="3246120" y="2971800"/>
            <a:ext cx="54864" cy="1051560"/>
          </a:xfrm>
          <a:prstGeom prst="rect">
            <a:avLst/>
          </a:prstGeom>
          <a:solidFill>
            <a:srgbClr val="FFC24B"/>
          </a:solidFill>
          <a:ln w="12700">
            <a:solidFill>
              <a:srgbClr val="FFC24B"/>
            </a:solidFill>
            <a:prstDash val="solid"/>
          </a:ln>
        </p:spPr>
        <p:txBody>
          <a:bodyPr/>
          <a:lstStyle/>
          <a:p>
            <a:endParaRPr lang="en-SE"/>
          </a:p>
        </p:txBody>
      </p:sp>
      <p:sp>
        <p:nvSpPr>
          <p:cNvPr id="21" name="Text 18">
            <a:extLst>
              <a:ext uri="{FF2B5EF4-FFF2-40B4-BE49-F238E27FC236}">
                <a16:creationId xmlns:a16="http://schemas.microsoft.com/office/drawing/2014/main" id="{37EB6EC6-BCD4-CB5F-AB33-FE407A567F52}"/>
              </a:ext>
            </a:extLst>
          </p:cNvPr>
          <p:cNvSpPr/>
          <p:nvPr/>
        </p:nvSpPr>
        <p:spPr>
          <a:xfrm>
            <a:off x="3429000" y="3072384"/>
            <a:ext cx="2377440" cy="256032"/>
          </a:xfrm>
          <a:prstGeom prst="rect">
            <a:avLst/>
          </a:prstGeom>
          <a:noFill/>
          <a:ln/>
        </p:spPr>
        <p:txBody>
          <a:bodyPr wrap="square" lIns="0" tIns="0" rIns="0" bIns="0" rtlCol="0" anchor="ctr"/>
          <a:lstStyle/>
          <a:p>
            <a:pPr marL="0" indent="0">
              <a:buNone/>
            </a:pPr>
            <a:r>
              <a:rPr lang="en-US" sz="1100" b="1">
                <a:solidFill>
                  <a:srgbClr val="FFC24B"/>
                </a:solidFill>
                <a:latin typeface="Segoe UI" pitchFamily="34" charset="0"/>
                <a:ea typeface="Segoe UI" pitchFamily="34" charset="-122"/>
                <a:cs typeface="Segoe UI" pitchFamily="34" charset="-120"/>
              </a:rPr>
              <a:t>Priority is re-stamped</a:t>
            </a:r>
            <a:endParaRPr lang="en-US" sz="1100"/>
          </a:p>
        </p:txBody>
      </p:sp>
      <p:sp>
        <p:nvSpPr>
          <p:cNvPr id="22" name="Text 19">
            <a:extLst>
              <a:ext uri="{FF2B5EF4-FFF2-40B4-BE49-F238E27FC236}">
                <a16:creationId xmlns:a16="http://schemas.microsoft.com/office/drawing/2014/main" id="{63B97765-17D2-D4D7-8466-F139396F0791}"/>
              </a:ext>
            </a:extLst>
          </p:cNvPr>
          <p:cNvSpPr/>
          <p:nvPr/>
        </p:nvSpPr>
        <p:spPr>
          <a:xfrm>
            <a:off x="3429000" y="3346704"/>
            <a:ext cx="2377440" cy="603504"/>
          </a:xfrm>
          <a:prstGeom prst="rect">
            <a:avLst/>
          </a:prstGeom>
          <a:noFill/>
          <a:ln/>
        </p:spPr>
        <p:txBody>
          <a:bodyPr wrap="square" lIns="0" tIns="0" rIns="0" bIns="0" rtlCol="0" anchor="ctr"/>
          <a:lstStyle/>
          <a:p>
            <a:pPr marL="0" indent="0">
              <a:buNone/>
            </a:pPr>
            <a:r>
              <a:rPr lang="en-US" sz="1050">
                <a:solidFill>
                  <a:srgbClr val="8AA79A"/>
                </a:solidFill>
                <a:latin typeface="Segoe UI" pitchFamily="34" charset="0"/>
                <a:ea typeface="Segoe UI" pitchFamily="34" charset="-122"/>
                <a:cs typeface="Segoe UI" pitchFamily="34" charset="-120"/>
              </a:rPr>
              <a:t>_rest assigns a fresh arrival_seq as each order is pushed, so time priority follows the file order.</a:t>
            </a:r>
            <a:endParaRPr lang="en-US" sz="1050"/>
          </a:p>
        </p:txBody>
      </p:sp>
      <p:sp>
        <p:nvSpPr>
          <p:cNvPr id="23" name="panel">
            <a:extLst>
              <a:ext uri="{FF2B5EF4-FFF2-40B4-BE49-F238E27FC236}">
                <a16:creationId xmlns:a16="http://schemas.microsoft.com/office/drawing/2014/main" id="{2FB32A7F-D479-06CB-D172-61EDFA2667DF}"/>
              </a:ext>
              <a:ext uri="{C183D7F6-B498-43B3-948B-1728B52AA6E4}">
                <adec:decorative xmlns:adec="http://schemas.microsoft.com/office/drawing/2017/decorative" val="1"/>
              </a:ext>
            </a:extLst>
          </p:cNvPr>
          <p:cNvSpPr/>
          <p:nvPr/>
        </p:nvSpPr>
        <p:spPr>
          <a:xfrm>
            <a:off x="6080760" y="2971800"/>
            <a:ext cx="2651760" cy="1051560"/>
          </a:xfrm>
          <a:prstGeom prst="rect">
            <a:avLst/>
          </a:prstGeom>
          <a:solidFill>
            <a:srgbClr val="141C19"/>
          </a:solidFill>
          <a:ln w="12700">
            <a:solidFill>
              <a:srgbClr val="2A3A34"/>
            </a:solidFill>
            <a:prstDash val="solid"/>
          </a:ln>
        </p:spPr>
        <p:txBody>
          <a:bodyPr/>
          <a:lstStyle/>
          <a:p>
            <a:endParaRPr lang="en-SE"/>
          </a:p>
        </p:txBody>
      </p:sp>
      <p:sp>
        <p:nvSpPr>
          <p:cNvPr id="24" name="accent bar">
            <a:extLst>
              <a:ext uri="{FF2B5EF4-FFF2-40B4-BE49-F238E27FC236}">
                <a16:creationId xmlns:a16="http://schemas.microsoft.com/office/drawing/2014/main" id="{04F67BAB-A0A1-EC29-2DFD-E93BBCF9FB99}"/>
              </a:ext>
              <a:ext uri="{C183D7F6-B498-43B3-948B-1728B52AA6E4}">
                <adec:decorative xmlns:adec="http://schemas.microsoft.com/office/drawing/2017/decorative" val="1"/>
              </a:ext>
            </a:extLst>
          </p:cNvPr>
          <p:cNvSpPr/>
          <p:nvPr/>
        </p:nvSpPr>
        <p:spPr>
          <a:xfrm>
            <a:off x="6080760" y="2971800"/>
            <a:ext cx="54864" cy="1051560"/>
          </a:xfrm>
          <a:prstGeom prst="rect">
            <a:avLst/>
          </a:prstGeom>
          <a:solidFill>
            <a:srgbClr val="FF5C6C"/>
          </a:solidFill>
          <a:ln w="12700">
            <a:solidFill>
              <a:srgbClr val="FF5C6C"/>
            </a:solidFill>
            <a:prstDash val="solid"/>
          </a:ln>
        </p:spPr>
        <p:txBody>
          <a:bodyPr/>
          <a:lstStyle/>
          <a:p>
            <a:endParaRPr lang="en-SE"/>
          </a:p>
        </p:txBody>
      </p:sp>
      <p:sp>
        <p:nvSpPr>
          <p:cNvPr id="25" name="Text 22">
            <a:extLst>
              <a:ext uri="{FF2B5EF4-FFF2-40B4-BE49-F238E27FC236}">
                <a16:creationId xmlns:a16="http://schemas.microsoft.com/office/drawing/2014/main" id="{19ABFBA5-932E-D9D2-791A-0E6CC4AEE6CD}"/>
              </a:ext>
            </a:extLst>
          </p:cNvPr>
          <p:cNvSpPr/>
          <p:nvPr/>
        </p:nvSpPr>
        <p:spPr>
          <a:xfrm>
            <a:off x="6263640" y="3072384"/>
            <a:ext cx="2377440" cy="256032"/>
          </a:xfrm>
          <a:prstGeom prst="rect">
            <a:avLst/>
          </a:prstGeom>
          <a:noFill/>
          <a:ln/>
        </p:spPr>
        <p:txBody>
          <a:bodyPr wrap="square" lIns="0" tIns="0" rIns="0" bIns="0" rtlCol="0" anchor="ctr"/>
          <a:lstStyle/>
          <a:p>
            <a:pPr marL="0" indent="0">
              <a:buNone/>
            </a:pPr>
            <a:r>
              <a:rPr lang="en-US" sz="1100" b="1">
                <a:solidFill>
                  <a:srgbClr val="FF5C6C"/>
                </a:solidFill>
                <a:latin typeface="Segoe UI" pitchFamily="34" charset="0"/>
                <a:ea typeface="Segoe UI" pitchFamily="34" charset="-122"/>
                <a:cs typeface="Segoe UI" pitchFamily="34" charset="-120"/>
              </a:rPr>
              <a:t>Nothing is published</a:t>
            </a:r>
            <a:endParaRPr lang="en-US" sz="1100"/>
          </a:p>
        </p:txBody>
      </p:sp>
      <p:sp>
        <p:nvSpPr>
          <p:cNvPr id="26" name="Text 23">
            <a:extLst>
              <a:ext uri="{FF2B5EF4-FFF2-40B4-BE49-F238E27FC236}">
                <a16:creationId xmlns:a16="http://schemas.microsoft.com/office/drawing/2014/main" id="{96844828-57FC-0B34-8736-D13F0D3C366B}"/>
              </a:ext>
            </a:extLst>
          </p:cNvPr>
          <p:cNvSpPr/>
          <p:nvPr/>
        </p:nvSpPr>
        <p:spPr>
          <a:xfrm>
            <a:off x="6263640" y="3346704"/>
            <a:ext cx="2377440" cy="603504"/>
          </a:xfrm>
          <a:prstGeom prst="rect">
            <a:avLst/>
          </a:prstGeom>
          <a:noFill/>
          <a:ln/>
        </p:spPr>
        <p:txBody>
          <a:bodyPr wrap="square" lIns="0" tIns="0" rIns="0" bIns="0" rtlCol="0" anchor="ctr"/>
          <a:lstStyle/>
          <a:p>
            <a:pPr marL="0" indent="0">
              <a:buNone/>
            </a:pPr>
            <a:r>
              <a:rPr lang="en-US" sz="1050">
                <a:solidFill>
                  <a:srgbClr val="8AA79A"/>
                </a:solidFill>
                <a:latin typeface="Segoe UI" pitchFamily="34" charset="0"/>
                <a:ea typeface="Segoe UI" pitchFamily="34" charset="-122"/>
                <a:cs typeface="Segoe UI" pitchFamily="34" charset="-120"/>
              </a:rPr>
              <a:t>No ACK, no fill, no expired event. Gateways learn the rebuilt state from the ORDERS snapshot on reconnect.</a:t>
            </a:r>
            <a:endParaRPr lang="en-US" sz="1050"/>
          </a:p>
        </p:txBody>
      </p:sp>
    </p:spTree>
    <p:extLst>
      <p:ext uri="{BB962C8B-B14F-4D97-AF65-F5344CB8AC3E}">
        <p14:creationId xmlns:p14="http://schemas.microsoft.com/office/powerpoint/2010/main" val="2696575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a:solidFill>
                  <a:srgbClr val="39FF88"/>
                </a:solidFill>
                <a:latin typeface="Consolas" pitchFamily="34" charset="0"/>
                <a:ea typeface="Consolas" pitchFamily="34" charset="-122"/>
                <a:cs typeface="Consolas" pitchFamily="34" charset="-120"/>
              </a:rPr>
              <a:t>SECTION 9</a:t>
            </a:r>
            <a:endParaRPr lang="en-US" sz="100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a:solidFill>
                  <a:srgbClr val="EAF5F0"/>
                </a:solidFill>
                <a:latin typeface="Segoe UI" pitchFamily="34" charset="0"/>
                <a:ea typeface="Segoe UI" pitchFamily="34" charset="-122"/>
                <a:cs typeface="Segoe UI" pitchFamily="34" charset="-120"/>
              </a:rPr>
              <a:t>Startup: re-reading the orders from file</a:t>
            </a:r>
            <a:endParaRPr lang="en-US" sz="2400"/>
          </a:p>
        </p:txBody>
      </p:sp>
      <p:sp>
        <p:nvSpPr>
          <p:cNvPr id="4" name="panel">
            <a:extLst>
              <a:ext uri="{FF2B5EF4-FFF2-40B4-BE49-F238E27FC236}">
                <a16:creationId xmlns:a16="http://schemas.microsoft.com/office/drawing/2014/main" id="{A7DDF7E8-B305-745D-5A8C-167520C132BB}"/>
              </a:ext>
              <a:ext uri="{C183D7F6-B498-43B3-948B-1728B52AA6E4}">
                <adec:decorative xmlns:adec="http://schemas.microsoft.com/office/drawing/2017/decorative" val="1"/>
              </a:ext>
            </a:extLst>
          </p:cNvPr>
          <p:cNvSpPr/>
          <p:nvPr/>
        </p:nvSpPr>
        <p:spPr>
          <a:xfrm>
            <a:off x="411479" y="1143000"/>
            <a:ext cx="7945341" cy="2052941"/>
          </a:xfrm>
          <a:prstGeom prst="rect">
            <a:avLst/>
          </a:prstGeom>
          <a:solidFill>
            <a:srgbClr val="0E1512"/>
          </a:solidFill>
          <a:ln w="12700">
            <a:solidFill>
              <a:srgbClr val="2A3A34"/>
            </a:solidFill>
            <a:prstDash val="solid"/>
          </a:ln>
        </p:spPr>
        <p:txBody>
          <a:bodyPr/>
          <a:lstStyle/>
          <a:p>
            <a:endParaRPr lang="en-SE"/>
          </a:p>
        </p:txBody>
      </p:sp>
      <p:sp>
        <p:nvSpPr>
          <p:cNvPr id="27" name="TextBox 26">
            <a:extLst>
              <a:ext uri="{FF2B5EF4-FFF2-40B4-BE49-F238E27FC236}">
                <a16:creationId xmlns:a16="http://schemas.microsoft.com/office/drawing/2014/main" id="{78A5E683-9ECB-94DC-E0FB-454E3BAEAA4B}"/>
              </a:ext>
            </a:extLst>
          </p:cNvPr>
          <p:cNvSpPr txBox="1"/>
          <p:nvPr/>
        </p:nvSpPr>
        <p:spPr>
          <a:xfrm>
            <a:off x="565775" y="1323856"/>
            <a:ext cx="7632020" cy="1954381"/>
          </a:xfrm>
          <a:prstGeom prst="rect">
            <a:avLst/>
          </a:prstGeom>
          <a:noFill/>
        </p:spPr>
        <p:txBody>
          <a:bodyPr wrap="square" rtlCol="0">
            <a:spAutoFit/>
          </a:bodyPr>
          <a:lstStyle/>
          <a:p>
            <a:r>
              <a:rPr lang="en-SE" sz="1100" dirty="0">
                <a:solidFill>
                  <a:schemeClr val="tx1">
                    <a:lumMod val="50000"/>
                    <a:lumOff val="50000"/>
                  </a:schemeClr>
                </a:solidFill>
                <a:latin typeface="Consolas" panose="020B0609020204030204" pitchFamily="49" charset="0"/>
                <a:cs typeface="Consolas" panose="020B0609020204030204" pitchFamily="49" charset="0"/>
              </a:rPr>
              <a:t># engine/main.py — _restore_gtc (trimmed)</a:t>
            </a:r>
          </a:p>
          <a:p>
            <a:r>
              <a:rPr lang="en-SE" sz="1100" dirty="0">
                <a:solidFill>
                  <a:schemeClr val="bg1"/>
                </a:solidFill>
                <a:latin typeface="Consolas" panose="020B0609020204030204" pitchFamily="49" charset="0"/>
                <a:cs typeface="Consolas" panose="020B0609020204030204" pitchFamily="49" charset="0"/>
              </a:rPr>
              <a:t>today = datetime.now().date()</a:t>
            </a:r>
          </a:p>
          <a:p>
            <a:r>
              <a:rPr lang="en-SE" sz="1100" dirty="0">
                <a:solidFill>
                  <a:schemeClr val="accent2"/>
                </a:solidFill>
                <a:latin typeface="Consolas" panose="020B0609020204030204" pitchFamily="49" charset="0"/>
                <a:cs typeface="Consolas" panose="020B0609020204030204" pitchFamily="49" charset="0"/>
              </a:rPr>
              <a:t>for</a:t>
            </a:r>
            <a:r>
              <a:rPr lang="en-SE" sz="1100" dirty="0">
                <a:solidFill>
                  <a:schemeClr val="bg1"/>
                </a:solidFill>
                <a:latin typeface="Consolas" panose="020B0609020204030204" pitchFamily="49" charset="0"/>
                <a:cs typeface="Consolas" panose="020B0609020204030204" pitchFamily="49" charset="0"/>
              </a:rPr>
              <a:t> order in orders:                                  </a:t>
            </a:r>
            <a:r>
              <a:rPr lang="en-SE" sz="1100" dirty="0">
                <a:solidFill>
                  <a:schemeClr val="tx1">
                    <a:lumMod val="50000"/>
                    <a:lumOff val="50000"/>
                  </a:schemeClr>
                </a:solidFill>
                <a:latin typeface="Consolas" panose="020B0609020204030204" pitchFamily="49" charset="0"/>
                <a:cs typeface="Consolas" panose="020B0609020204030204" pitchFamily="49" charset="0"/>
              </a:rPr>
              <a:t># loaded from the JSON file</a:t>
            </a:r>
          </a:p>
          <a:p>
            <a:r>
              <a:rPr lang="en-SE" sz="1100" dirty="0">
                <a:solidFill>
                  <a:schemeClr val="bg1"/>
                </a:solidFill>
                <a:latin typeface="Consolas" panose="020B0609020204030204" pitchFamily="49" charset="0"/>
                <a:cs typeface="Consolas" panose="020B0609020204030204" pitchFamily="49" charset="0"/>
              </a:rPr>
              <a:t>    </a:t>
            </a:r>
            <a:r>
              <a:rPr lang="en-SE" sz="1100" dirty="0">
                <a:solidFill>
                  <a:schemeClr val="accent2"/>
                </a:solidFill>
                <a:latin typeface="Consolas" panose="020B0609020204030204" pitchFamily="49" charset="0"/>
                <a:cs typeface="Consolas" panose="020B0609020204030204" pitchFamily="49" charset="0"/>
              </a:rPr>
              <a:t>if</a:t>
            </a:r>
            <a:r>
              <a:rPr lang="en-SE" sz="1100" dirty="0">
                <a:solidFill>
                  <a:schemeClr val="bg1"/>
                </a:solidFill>
                <a:latin typeface="Consolas" panose="020B0609020204030204" pitchFamily="49" charset="0"/>
                <a:cs typeface="Consolas" panose="020B0609020204030204" pitchFamily="49" charset="0"/>
              </a:rPr>
              <a:t> order.tif </a:t>
            </a:r>
            <a:r>
              <a:rPr lang="en-SE" sz="1100" dirty="0">
                <a:solidFill>
                  <a:schemeClr val="accent2"/>
                </a:solidFill>
                <a:latin typeface="Consolas" panose="020B0609020204030204" pitchFamily="49" charset="0"/>
                <a:cs typeface="Consolas" panose="020B0609020204030204" pitchFamily="49" charset="0"/>
              </a:rPr>
              <a:t>==</a:t>
            </a:r>
            <a:r>
              <a:rPr lang="en-SE" sz="1100" dirty="0">
                <a:solidFill>
                  <a:schemeClr val="bg1"/>
                </a:solidFill>
                <a:latin typeface="Consolas" panose="020B0609020204030204" pitchFamily="49" charset="0"/>
                <a:cs typeface="Consolas" panose="020B0609020204030204" pitchFamily="49" charset="0"/>
              </a:rPr>
              <a:t> TIF.DAY:</a:t>
            </a:r>
          </a:p>
          <a:p>
            <a:r>
              <a:rPr lang="en-SE" sz="1100" dirty="0">
                <a:solidFill>
                  <a:schemeClr val="bg1"/>
                </a:solidFill>
                <a:latin typeface="Consolas" panose="020B0609020204030204" pitchFamily="49" charset="0"/>
                <a:cs typeface="Consolas" panose="020B0609020204030204" pitchFamily="49" charset="0"/>
              </a:rPr>
              <a:t>        order_day = datetime.fromtimestamp(order.timestamp / 1e9).date()</a:t>
            </a:r>
          </a:p>
          <a:p>
            <a:r>
              <a:rPr lang="en-SE" sz="1100" dirty="0">
                <a:solidFill>
                  <a:schemeClr val="bg1"/>
                </a:solidFill>
                <a:latin typeface="Consolas" panose="020B0609020204030204" pitchFamily="49" charset="0"/>
                <a:cs typeface="Consolas" panose="020B0609020204030204" pitchFamily="49" charset="0"/>
              </a:rPr>
              <a:t>        </a:t>
            </a:r>
            <a:r>
              <a:rPr lang="en-SE" sz="1100" dirty="0">
                <a:solidFill>
                  <a:schemeClr val="accent2"/>
                </a:solidFill>
                <a:latin typeface="Consolas" panose="020B0609020204030204" pitchFamily="49" charset="0"/>
                <a:cs typeface="Consolas" panose="020B0609020204030204" pitchFamily="49" charset="0"/>
              </a:rPr>
              <a:t>if</a:t>
            </a:r>
            <a:r>
              <a:rPr lang="en-SE" sz="1100" dirty="0">
                <a:solidFill>
                  <a:schemeClr val="bg1"/>
                </a:solidFill>
                <a:latin typeface="Consolas" panose="020B0609020204030204" pitchFamily="49" charset="0"/>
                <a:cs typeface="Consolas" panose="020B0609020204030204" pitchFamily="49" charset="0"/>
              </a:rPr>
              <a:t> order_day </a:t>
            </a:r>
            <a:r>
              <a:rPr lang="en-SE" sz="1100" dirty="0">
                <a:solidFill>
                  <a:schemeClr val="accent2"/>
                </a:solidFill>
                <a:latin typeface="Consolas" panose="020B0609020204030204" pitchFamily="49" charset="0"/>
                <a:cs typeface="Consolas" panose="020B0609020204030204" pitchFamily="49" charset="0"/>
              </a:rPr>
              <a:t>&lt;</a:t>
            </a:r>
            <a:r>
              <a:rPr lang="en-SE" sz="1100" dirty="0">
                <a:solidFill>
                  <a:schemeClr val="bg1"/>
                </a:solidFill>
                <a:latin typeface="Consolas" panose="020B0609020204030204" pitchFamily="49" charset="0"/>
                <a:cs typeface="Consolas" panose="020B0609020204030204" pitchFamily="49" charset="0"/>
              </a:rPr>
              <a:t> today:</a:t>
            </a:r>
          </a:p>
          <a:p>
            <a:r>
              <a:rPr lang="en-SE" sz="1100" dirty="0">
                <a:solidFill>
                  <a:schemeClr val="bg1"/>
                </a:solidFill>
                <a:latin typeface="Consolas" panose="020B0609020204030204" pitchFamily="49" charset="0"/>
                <a:cs typeface="Consolas" panose="020B0609020204030204" pitchFamily="49" charset="0"/>
              </a:rPr>
              <a:t>            log.info(f"Discarding stale TIF=DAY order {order.id[:8]} ...")</a:t>
            </a:r>
          </a:p>
          <a:p>
            <a:r>
              <a:rPr lang="en-SE" sz="1100" dirty="0">
                <a:solidFill>
                  <a:schemeClr val="bg1"/>
                </a:solidFill>
                <a:latin typeface="Consolas" panose="020B0609020204030204" pitchFamily="49" charset="0"/>
                <a:cs typeface="Consolas" panose="020B0609020204030204" pitchFamily="49" charset="0"/>
              </a:rPr>
              <a:t>            continue                                  </a:t>
            </a:r>
            <a:r>
              <a:rPr lang="en-SE" sz="1100" dirty="0">
                <a:solidFill>
                  <a:schemeClr val="tx1">
                    <a:lumMod val="50000"/>
                    <a:lumOff val="50000"/>
                  </a:schemeClr>
                </a:solidFill>
                <a:latin typeface="Consolas" panose="020B0609020204030204" pitchFamily="49" charset="0"/>
                <a:cs typeface="Consolas" panose="020B0609020204030204" pitchFamily="49" charset="0"/>
              </a:rPr>
              <a:t># &lt;- never restored, never expired</a:t>
            </a:r>
          </a:p>
          <a:p>
            <a:r>
              <a:rPr lang="en-SE" sz="1100" dirty="0">
                <a:solidFill>
                  <a:schemeClr val="bg1"/>
                </a:solidFill>
                <a:latin typeface="Consolas" panose="020B0609020204030204" pitchFamily="49" charset="0"/>
                <a:cs typeface="Consolas" panose="020B0609020204030204" pitchFamily="49" charset="0"/>
              </a:rPr>
              <a:t>    order.status = OrderStatus.NEW</a:t>
            </a:r>
          </a:p>
          <a:p>
            <a:r>
              <a:rPr lang="en-SE" sz="1100" dirty="0">
                <a:solidFill>
                  <a:schemeClr val="bg1"/>
                </a:solidFill>
                <a:latin typeface="Consolas" panose="020B0609020204030204" pitchFamily="49" charset="0"/>
                <a:cs typeface="Consolas" panose="020B0609020204030204" pitchFamily="49" charset="0"/>
              </a:rPr>
              <a:t>    book.process(order, match=False)                  </a:t>
            </a:r>
            <a:r>
              <a:rPr lang="en-SE" sz="1100" dirty="0">
                <a:solidFill>
                  <a:schemeClr val="tx1">
                    <a:lumMod val="50000"/>
                    <a:lumOff val="50000"/>
                  </a:schemeClr>
                </a:solidFill>
                <a:latin typeface="Consolas" panose="020B0609020204030204" pitchFamily="49" charset="0"/>
                <a:cs typeface="Consolas" panose="020B0609020204030204" pitchFamily="49" charset="0"/>
              </a:rPr>
              <a:t># rest it, no sweep</a:t>
            </a:r>
          </a:p>
          <a:p>
            <a:endParaRPr lang="en-SE" sz="1100" dirty="0">
              <a:solidFill>
                <a:schemeClr val="bg1"/>
              </a:solidFill>
            </a:endParaRPr>
          </a:p>
        </p:txBody>
      </p:sp>
      <p:sp>
        <p:nvSpPr>
          <p:cNvPr id="28" name="loop step">
            <a:extLst>
              <a:ext uri="{FF2B5EF4-FFF2-40B4-BE49-F238E27FC236}">
                <a16:creationId xmlns:a16="http://schemas.microsoft.com/office/drawing/2014/main" id="{3012B637-4938-C8D5-264E-0A474731ECBC}"/>
              </a:ext>
              <a:ext uri="{C183D7F6-B498-43B3-948B-1728B52AA6E4}">
                <adec:decorative xmlns:adec="http://schemas.microsoft.com/office/drawing/2017/decorative" val="1"/>
              </a:ext>
            </a:extLst>
          </p:cNvPr>
          <p:cNvSpPr/>
          <p:nvPr/>
        </p:nvSpPr>
        <p:spPr>
          <a:xfrm>
            <a:off x="427382" y="3625652"/>
            <a:ext cx="3707296" cy="420624"/>
          </a:xfrm>
          <a:prstGeom prst="rect">
            <a:avLst/>
          </a:prstGeom>
          <a:solidFill>
            <a:srgbClr val="1B2621"/>
          </a:solidFill>
          <a:ln w="12700">
            <a:solidFill>
              <a:srgbClr val="39FF88"/>
            </a:solidFill>
            <a:prstDash val="solid"/>
          </a:ln>
        </p:spPr>
        <p:txBody>
          <a:bodyPr/>
          <a:lstStyle/>
          <a:p>
            <a:endParaRPr lang="en-SE"/>
          </a:p>
        </p:txBody>
      </p:sp>
      <p:sp>
        <p:nvSpPr>
          <p:cNvPr id="29" name="Text 7">
            <a:extLst>
              <a:ext uri="{FF2B5EF4-FFF2-40B4-BE49-F238E27FC236}">
                <a16:creationId xmlns:a16="http://schemas.microsoft.com/office/drawing/2014/main" id="{2AEDA2D5-3023-65ED-AAA5-3FEA1422994E}"/>
              </a:ext>
            </a:extLst>
          </p:cNvPr>
          <p:cNvSpPr/>
          <p:nvPr/>
        </p:nvSpPr>
        <p:spPr>
          <a:xfrm>
            <a:off x="898498" y="3698776"/>
            <a:ext cx="914400" cy="256032"/>
          </a:xfrm>
          <a:prstGeom prst="rect">
            <a:avLst/>
          </a:prstGeom>
          <a:noFill/>
          <a:ln/>
        </p:spPr>
        <p:txBody>
          <a:bodyPr wrap="square" lIns="0" tIns="0" rIns="0" bIns="0" rtlCol="0" anchor="ctr"/>
          <a:lstStyle/>
          <a:p>
            <a:pPr marL="0" indent="0">
              <a:buNone/>
            </a:pPr>
            <a:r>
              <a:rPr lang="en-US" sz="1100" b="1" dirty="0">
                <a:solidFill>
                  <a:srgbClr val="39FF88"/>
                </a:solidFill>
                <a:latin typeface="Consolas" pitchFamily="34" charset="0"/>
                <a:ea typeface="Consolas" pitchFamily="34" charset="-122"/>
                <a:cs typeface="Consolas" pitchFamily="34" charset="-120"/>
              </a:rPr>
              <a:t>ORDERS</a:t>
            </a:r>
            <a:endParaRPr lang="en-US" sz="1100" dirty="0"/>
          </a:p>
        </p:txBody>
      </p:sp>
      <p:sp>
        <p:nvSpPr>
          <p:cNvPr id="30" name="Text 8">
            <a:extLst>
              <a:ext uri="{FF2B5EF4-FFF2-40B4-BE49-F238E27FC236}">
                <a16:creationId xmlns:a16="http://schemas.microsoft.com/office/drawing/2014/main" id="{A094809F-1A0D-1A70-AB83-1CC843304115}"/>
              </a:ext>
            </a:extLst>
          </p:cNvPr>
          <p:cNvSpPr/>
          <p:nvPr/>
        </p:nvSpPr>
        <p:spPr>
          <a:xfrm>
            <a:off x="1702970" y="3707891"/>
            <a:ext cx="205740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Read all orders from JSON file</a:t>
            </a:r>
            <a:endParaRPr lang="en-US" sz="1100" dirty="0"/>
          </a:p>
        </p:txBody>
      </p:sp>
      <p:sp>
        <p:nvSpPr>
          <p:cNvPr id="31" name="loop step">
            <a:extLst>
              <a:ext uri="{FF2B5EF4-FFF2-40B4-BE49-F238E27FC236}">
                <a16:creationId xmlns:a16="http://schemas.microsoft.com/office/drawing/2014/main" id="{C56AED40-B658-8392-1400-EA950D2DC203}"/>
              </a:ext>
              <a:ext uri="{C183D7F6-B498-43B3-948B-1728B52AA6E4}">
                <adec:decorative xmlns:adec="http://schemas.microsoft.com/office/drawing/2017/decorative" val="1"/>
              </a:ext>
            </a:extLst>
          </p:cNvPr>
          <p:cNvSpPr/>
          <p:nvPr/>
        </p:nvSpPr>
        <p:spPr>
          <a:xfrm>
            <a:off x="4626664" y="3625652"/>
            <a:ext cx="3723199" cy="420624"/>
          </a:xfrm>
          <a:prstGeom prst="rect">
            <a:avLst/>
          </a:prstGeom>
          <a:solidFill>
            <a:srgbClr val="1B2621"/>
          </a:solidFill>
          <a:ln w="12700">
            <a:solidFill>
              <a:srgbClr val="39FF88"/>
            </a:solidFill>
            <a:prstDash val="solid"/>
          </a:ln>
        </p:spPr>
        <p:txBody>
          <a:bodyPr/>
          <a:lstStyle/>
          <a:p>
            <a:endParaRPr lang="en-SE"/>
          </a:p>
        </p:txBody>
      </p:sp>
      <p:sp>
        <p:nvSpPr>
          <p:cNvPr id="32" name="Text 10">
            <a:extLst>
              <a:ext uri="{FF2B5EF4-FFF2-40B4-BE49-F238E27FC236}">
                <a16:creationId xmlns:a16="http://schemas.microsoft.com/office/drawing/2014/main" id="{4CCD425C-4F69-F788-FB19-0A6FC0779151}"/>
              </a:ext>
            </a:extLst>
          </p:cNvPr>
          <p:cNvSpPr/>
          <p:nvPr/>
        </p:nvSpPr>
        <p:spPr>
          <a:xfrm>
            <a:off x="5113684" y="3698776"/>
            <a:ext cx="914400" cy="256032"/>
          </a:xfrm>
          <a:prstGeom prst="rect">
            <a:avLst/>
          </a:prstGeom>
          <a:noFill/>
          <a:ln/>
        </p:spPr>
        <p:txBody>
          <a:bodyPr wrap="square" lIns="0" tIns="0" rIns="0" bIns="0" rtlCol="0" anchor="ctr"/>
          <a:lstStyle/>
          <a:p>
            <a:pPr marL="0" indent="0">
              <a:buNone/>
            </a:pPr>
            <a:r>
              <a:rPr lang="en-US" sz="1100" b="1" dirty="0">
                <a:solidFill>
                  <a:srgbClr val="39FF88"/>
                </a:solidFill>
                <a:latin typeface="Consolas" pitchFamily="34" charset="0"/>
                <a:ea typeface="Consolas" pitchFamily="34" charset="-122"/>
                <a:cs typeface="Consolas" pitchFamily="34" charset="-120"/>
              </a:rPr>
              <a:t>COMPARE</a:t>
            </a:r>
            <a:endParaRPr lang="en-US" sz="1100" dirty="0"/>
          </a:p>
        </p:txBody>
      </p:sp>
      <p:sp>
        <p:nvSpPr>
          <p:cNvPr id="33" name="Text 11">
            <a:extLst>
              <a:ext uri="{FF2B5EF4-FFF2-40B4-BE49-F238E27FC236}">
                <a16:creationId xmlns:a16="http://schemas.microsoft.com/office/drawing/2014/main" id="{01CAFE5C-E134-EEA6-3DDA-9A141FF8D78E}"/>
              </a:ext>
            </a:extLst>
          </p:cNvPr>
          <p:cNvSpPr/>
          <p:nvPr/>
        </p:nvSpPr>
        <p:spPr>
          <a:xfrm>
            <a:off x="5918156" y="3707891"/>
            <a:ext cx="2057400" cy="256032"/>
          </a:xfrm>
          <a:prstGeom prst="rect">
            <a:avLst/>
          </a:prstGeom>
          <a:noFill/>
          <a:ln/>
        </p:spPr>
        <p:txBody>
          <a:bodyPr wrap="square" lIns="0" tIns="0" rIns="0" bIns="0" rtlCol="0" anchor="ctr"/>
          <a:lstStyle/>
          <a:p>
            <a:pPr marL="0" indent="0">
              <a:buNone/>
            </a:pPr>
            <a:r>
              <a:rPr lang="en-US" sz="1100" dirty="0">
                <a:solidFill>
                  <a:srgbClr val="8AA79A"/>
                </a:solidFill>
                <a:latin typeface="Segoe UI" pitchFamily="34" charset="0"/>
                <a:ea typeface="Segoe UI" pitchFamily="34" charset="-122"/>
                <a:cs typeface="Segoe UI" pitchFamily="34" charset="-120"/>
              </a:rPr>
              <a:t>Restore only todays order</a:t>
            </a:r>
            <a:endParaRPr lang="en-US" sz="1100" dirty="0"/>
          </a:p>
        </p:txBody>
      </p:sp>
      <p:sp>
        <p:nvSpPr>
          <p:cNvPr id="40" name="gate number ring">
            <a:extLst>
              <a:ext uri="{FF2B5EF4-FFF2-40B4-BE49-F238E27FC236}">
                <a16:creationId xmlns:a16="http://schemas.microsoft.com/office/drawing/2014/main" id="{B4AB3E87-E830-4B7D-ACDF-7AD8FA9625B5}"/>
              </a:ext>
              <a:ext uri="{C183D7F6-B498-43B3-948B-1728B52AA6E4}">
                <adec:decorative xmlns:adec="http://schemas.microsoft.com/office/drawing/2017/decorative" val="1"/>
              </a:ext>
            </a:extLst>
          </p:cNvPr>
          <p:cNvSpPr/>
          <p:nvPr/>
        </p:nvSpPr>
        <p:spPr>
          <a:xfrm>
            <a:off x="489204" y="3671372"/>
            <a:ext cx="347472" cy="347472"/>
          </a:xfrm>
          <a:prstGeom prst="ellipse">
            <a:avLst/>
          </a:prstGeom>
          <a:solidFill>
            <a:srgbClr val="1B7A4C"/>
          </a:solidFill>
          <a:ln w="12700">
            <a:solidFill>
              <a:srgbClr val="39FF88"/>
            </a:solidFill>
            <a:prstDash val="solid"/>
          </a:ln>
        </p:spPr>
        <p:txBody>
          <a:bodyPr/>
          <a:lstStyle/>
          <a:p>
            <a:endParaRPr lang="en-SE"/>
          </a:p>
        </p:txBody>
      </p:sp>
      <p:sp>
        <p:nvSpPr>
          <p:cNvPr id="41" name="Text 6">
            <a:extLst>
              <a:ext uri="{FF2B5EF4-FFF2-40B4-BE49-F238E27FC236}">
                <a16:creationId xmlns:a16="http://schemas.microsoft.com/office/drawing/2014/main" id="{D9C01048-EF06-BF04-4A0D-F4E54FD980D2}"/>
              </a:ext>
            </a:extLst>
          </p:cNvPr>
          <p:cNvSpPr/>
          <p:nvPr/>
        </p:nvSpPr>
        <p:spPr>
          <a:xfrm>
            <a:off x="489204" y="3735380"/>
            <a:ext cx="347472" cy="237744"/>
          </a:xfrm>
          <a:prstGeom prst="rect">
            <a:avLst/>
          </a:prstGeom>
          <a:noFill/>
          <a:ln/>
        </p:spPr>
        <p:txBody>
          <a:bodyPr wrap="square" lIns="0" tIns="0" rIns="0" bIns="0" rtlCol="0" anchor="ctr"/>
          <a:lstStyle/>
          <a:p>
            <a:pPr marL="0" indent="0" algn="ctr">
              <a:buNone/>
            </a:pPr>
            <a:r>
              <a:rPr lang="en-US" sz="1600" b="1" dirty="0">
                <a:solidFill>
                  <a:srgbClr val="FFFF00"/>
                </a:solidFill>
                <a:latin typeface="Consolas" pitchFamily="34" charset="0"/>
                <a:ea typeface="Consolas" pitchFamily="34" charset="-122"/>
                <a:cs typeface="Consolas" pitchFamily="34" charset="-120"/>
              </a:rPr>
              <a:t>1</a:t>
            </a:r>
            <a:endParaRPr lang="en-US" sz="1600" dirty="0">
              <a:solidFill>
                <a:srgbClr val="FFFF00"/>
              </a:solidFill>
            </a:endParaRPr>
          </a:p>
        </p:txBody>
      </p:sp>
      <p:sp>
        <p:nvSpPr>
          <p:cNvPr id="42" name="gate number ring">
            <a:extLst>
              <a:ext uri="{FF2B5EF4-FFF2-40B4-BE49-F238E27FC236}">
                <a16:creationId xmlns:a16="http://schemas.microsoft.com/office/drawing/2014/main" id="{B0AC2104-3BE2-6956-FAC5-522AEB209A0E}"/>
              </a:ext>
              <a:ext uri="{C183D7F6-B498-43B3-948B-1728B52AA6E4}">
                <adec:decorative xmlns:adec="http://schemas.microsoft.com/office/drawing/2017/decorative" val="1"/>
              </a:ext>
            </a:extLst>
          </p:cNvPr>
          <p:cNvSpPr/>
          <p:nvPr/>
        </p:nvSpPr>
        <p:spPr>
          <a:xfrm>
            <a:off x="4673910" y="3652877"/>
            <a:ext cx="347472" cy="347472"/>
          </a:xfrm>
          <a:prstGeom prst="ellipse">
            <a:avLst/>
          </a:prstGeom>
          <a:solidFill>
            <a:srgbClr val="1B7A4C"/>
          </a:solidFill>
          <a:ln w="12700">
            <a:solidFill>
              <a:srgbClr val="39FF88"/>
            </a:solidFill>
            <a:prstDash val="solid"/>
          </a:ln>
        </p:spPr>
        <p:txBody>
          <a:bodyPr/>
          <a:lstStyle/>
          <a:p>
            <a:endParaRPr lang="en-SE"/>
          </a:p>
        </p:txBody>
      </p:sp>
      <p:sp>
        <p:nvSpPr>
          <p:cNvPr id="43" name="Text 6">
            <a:extLst>
              <a:ext uri="{FF2B5EF4-FFF2-40B4-BE49-F238E27FC236}">
                <a16:creationId xmlns:a16="http://schemas.microsoft.com/office/drawing/2014/main" id="{5DC4533C-2B18-BF18-EB62-4D7FD3FA78CC}"/>
              </a:ext>
            </a:extLst>
          </p:cNvPr>
          <p:cNvSpPr/>
          <p:nvPr/>
        </p:nvSpPr>
        <p:spPr>
          <a:xfrm>
            <a:off x="4673910" y="3716885"/>
            <a:ext cx="347472" cy="237744"/>
          </a:xfrm>
          <a:prstGeom prst="rect">
            <a:avLst/>
          </a:prstGeom>
          <a:noFill/>
          <a:ln/>
        </p:spPr>
        <p:txBody>
          <a:bodyPr wrap="square" lIns="0" tIns="0" rIns="0" bIns="0" rtlCol="0" anchor="ctr"/>
          <a:lstStyle/>
          <a:p>
            <a:pPr marL="0" indent="0" algn="ctr">
              <a:buNone/>
            </a:pPr>
            <a:r>
              <a:rPr lang="en-US" b="1" dirty="0">
                <a:solidFill>
                  <a:srgbClr val="FFFF00"/>
                </a:solidFill>
                <a:latin typeface="Consolas" pitchFamily="34" charset="0"/>
                <a:cs typeface="Consolas" pitchFamily="34" charset="-120"/>
              </a:rPr>
              <a:t>2</a:t>
            </a:r>
            <a:endParaRPr lang="en-US" dirty="0">
              <a:solidFill>
                <a:srgbClr val="FFFF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F0D"/>
        </a:solidFill>
        <a:effectLst/>
      </p:bgPr>
    </p:bg>
    <p:spTree>
      <p:nvGrpSpPr>
        <p:cNvPr id="1" name="">
          <a:extLst>
            <a:ext uri="{FF2B5EF4-FFF2-40B4-BE49-F238E27FC236}">
              <a16:creationId xmlns:a16="http://schemas.microsoft.com/office/drawing/2014/main" id="{A7C6248B-C739-9F67-B655-82AAE4B6E503}"/>
            </a:ext>
          </a:extLst>
        </p:cNvPr>
        <p:cNvGrpSpPr/>
        <p:nvPr/>
      </p:nvGrpSpPr>
      <p:grpSpPr>
        <a:xfrm>
          <a:off x="0" y="0"/>
          <a:ext cx="0" cy="0"/>
          <a:chOff x="0" y="0"/>
          <a:chExt cx="0" cy="0"/>
        </a:xfrm>
      </p:grpSpPr>
      <p:sp>
        <p:nvSpPr>
          <p:cNvPr id="2" name="top accent">
            <a:extLst>
              <a:ext uri="{FF2B5EF4-FFF2-40B4-BE49-F238E27FC236}">
                <a16:creationId xmlns:a16="http://schemas.microsoft.com/office/drawing/2014/main" id="{8E205A1F-37C4-BBE4-1069-53D37D0879FF}"/>
              </a:ex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FF2B5EF4-FFF2-40B4-BE49-F238E27FC236}">
                <a16:creationId xmlns:a16="http://schemas.microsoft.com/office/drawing/2014/main" id="{A5313EA3-2057-2E2D-4123-340119427D28}"/>
              </a:ex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a:extLst>
              <a:ext uri="{FF2B5EF4-FFF2-40B4-BE49-F238E27FC236}">
                <a16:creationId xmlns:a16="http://schemas.microsoft.com/office/drawing/2014/main" id="{4A3FEB7B-A7BF-1587-CE68-D17A27FB1486}"/>
              </a:ext>
            </a:extLst>
          </p:cNvPr>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a:solidFill>
                  <a:srgbClr val="39FF88"/>
                </a:solidFill>
                <a:latin typeface="Consolas" pitchFamily="34" charset="0"/>
                <a:ea typeface="Consolas" pitchFamily="34" charset="-122"/>
                <a:cs typeface="Consolas" pitchFamily="34" charset="-120"/>
              </a:rPr>
              <a:t>SECTION 9</a:t>
            </a:r>
            <a:endParaRPr lang="en-US" sz="1000"/>
          </a:p>
        </p:txBody>
      </p:sp>
      <p:sp>
        <p:nvSpPr>
          <p:cNvPr id="6" name="Text 3">
            <a:extLst>
              <a:ext uri="{FF2B5EF4-FFF2-40B4-BE49-F238E27FC236}">
                <a16:creationId xmlns:a16="http://schemas.microsoft.com/office/drawing/2014/main" id="{64566844-BF37-08D8-073B-907E3AEBBE79}"/>
              </a:ext>
            </a:extLst>
          </p:cNvPr>
          <p:cNvSpPr/>
          <p:nvPr/>
        </p:nvSpPr>
        <p:spPr>
          <a:xfrm>
            <a:off x="411480" y="438912"/>
            <a:ext cx="1907538" cy="144764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The Whole Thing: </a:t>
            </a:r>
            <a:br>
              <a:rPr lang="en-US" sz="2400" b="1" dirty="0">
                <a:solidFill>
                  <a:srgbClr val="EAF5F0"/>
                </a:solidFill>
                <a:latin typeface="Segoe UI" pitchFamily="34" charset="0"/>
                <a:ea typeface="Segoe UI" pitchFamily="34" charset="-122"/>
                <a:cs typeface="Segoe UI" pitchFamily="34" charset="-120"/>
              </a:rPr>
            </a:br>
            <a:r>
              <a:rPr lang="en-US" sz="2400" b="1" dirty="0">
                <a:solidFill>
                  <a:srgbClr val="EAF5F0"/>
                </a:solidFill>
                <a:latin typeface="Segoe UI" pitchFamily="34" charset="0"/>
                <a:ea typeface="Segoe UI" pitchFamily="34" charset="-122"/>
                <a:cs typeface="Segoe UI" pitchFamily="34" charset="-120"/>
              </a:rPr>
              <a:t>End to End</a:t>
            </a:r>
            <a:endParaRPr lang="en-US" sz="2400" dirty="0"/>
          </a:p>
        </p:txBody>
      </p:sp>
      <p:pic>
        <p:nvPicPr>
          <p:cNvPr id="8" name="Picture 7">
            <a:extLst>
              <a:ext uri="{FF2B5EF4-FFF2-40B4-BE49-F238E27FC236}">
                <a16:creationId xmlns:a16="http://schemas.microsoft.com/office/drawing/2014/main" id="{DAD0C4E3-B35B-DB1F-13D6-70E4DBC3639C}"/>
              </a:ext>
            </a:extLst>
          </p:cNvPr>
          <p:cNvPicPr>
            <a:picLocks noChangeAspect="1"/>
          </p:cNvPicPr>
          <p:nvPr/>
        </p:nvPicPr>
        <p:blipFill>
          <a:blip r:embed="rId3"/>
          <a:stretch>
            <a:fillRect/>
          </a:stretch>
        </p:blipFill>
        <p:spPr>
          <a:xfrm>
            <a:off x="2319018" y="89114"/>
            <a:ext cx="6634883" cy="4992704"/>
          </a:xfrm>
          <a:prstGeom prst="rect">
            <a:avLst/>
          </a:prstGeom>
        </p:spPr>
      </p:pic>
      <p:sp>
        <p:nvSpPr>
          <p:cNvPr id="9" name="Rounded Rectangle 8">
            <a:extLst>
              <a:ext uri="{FF2B5EF4-FFF2-40B4-BE49-F238E27FC236}">
                <a16:creationId xmlns:a16="http://schemas.microsoft.com/office/drawing/2014/main" id="{637EB537-3797-0ADC-C967-25DE184D405E}"/>
              </a:ext>
            </a:extLst>
          </p:cNvPr>
          <p:cNvSpPr/>
          <p:nvPr/>
        </p:nvSpPr>
        <p:spPr>
          <a:xfrm>
            <a:off x="190099" y="2336291"/>
            <a:ext cx="2283594" cy="1672187"/>
          </a:xfrm>
          <a:prstGeom prst="roundRect">
            <a:avLst>
              <a:gd name="adj" fmla="val 5061"/>
            </a:avLst>
          </a:prstGeom>
          <a:solidFill>
            <a:schemeClr val="tx1">
              <a:lumMod val="85000"/>
              <a:lumOff val="1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0" name="TextBox 9">
            <a:extLst>
              <a:ext uri="{FF2B5EF4-FFF2-40B4-BE49-F238E27FC236}">
                <a16:creationId xmlns:a16="http://schemas.microsoft.com/office/drawing/2014/main" id="{73DFA6F4-AB10-0D5E-1BA4-0931AAA6E32E}"/>
              </a:ext>
            </a:extLst>
          </p:cNvPr>
          <p:cNvSpPr txBox="1"/>
          <p:nvPr/>
        </p:nvSpPr>
        <p:spPr>
          <a:xfrm>
            <a:off x="221381" y="2435471"/>
            <a:ext cx="2204187" cy="1600438"/>
          </a:xfrm>
          <a:prstGeom prst="rect">
            <a:avLst/>
          </a:prstGeom>
          <a:noFill/>
        </p:spPr>
        <p:txBody>
          <a:bodyPr wrap="square" rtlCol="0">
            <a:spAutoFit/>
          </a:bodyPr>
          <a:lstStyle/>
          <a:p>
            <a:r>
              <a:rPr lang="en-SE" sz="1400" dirty="0">
                <a:solidFill>
                  <a:schemeClr val="bg1">
                    <a:lumMod val="95000"/>
                  </a:schemeClr>
                </a:solidFill>
              </a:rPr>
              <a:t>Every arrow in this diagram is a function call or a two-frame ZMQ message you can  </a:t>
            </a:r>
            <a:r>
              <a:rPr lang="en-SE" sz="1400" dirty="0">
                <a:solidFill>
                  <a:schemeClr val="accent2"/>
                </a:solidFill>
                <a:latin typeface="Consolas" panose="020B0609020204030204" pitchFamily="49" charset="0"/>
                <a:cs typeface="Consolas" panose="020B0609020204030204" pitchFamily="49" charset="0"/>
              </a:rPr>
              <a:t>rg</a:t>
            </a:r>
            <a:r>
              <a:rPr lang="en-SE" sz="1400" dirty="0">
                <a:solidFill>
                  <a:schemeClr val="bg1">
                    <a:lumMod val="95000"/>
                  </a:schemeClr>
                </a:solidFill>
              </a:rPr>
              <a:t> for by name. </a:t>
            </a:r>
          </a:p>
          <a:p>
            <a:endParaRPr lang="en-SE" sz="1400" dirty="0">
              <a:solidFill>
                <a:schemeClr val="bg1">
                  <a:lumMod val="95000"/>
                </a:schemeClr>
              </a:solidFill>
            </a:endParaRPr>
          </a:p>
          <a:p>
            <a:r>
              <a:rPr lang="en-SE" sz="1400" dirty="0">
                <a:solidFill>
                  <a:schemeClr val="bg1">
                    <a:lumMod val="95000"/>
                  </a:schemeClr>
                </a:solidFill>
              </a:rPr>
              <a:t>There is no step in between</a:t>
            </a:r>
          </a:p>
          <a:p>
            <a:endParaRPr lang="en-SE" sz="1400" dirty="0">
              <a:solidFill>
                <a:schemeClr val="bg1">
                  <a:lumMod val="95000"/>
                </a:schemeClr>
              </a:solidFill>
            </a:endParaRPr>
          </a:p>
        </p:txBody>
      </p:sp>
    </p:spTree>
    <p:extLst>
      <p:ext uri="{BB962C8B-B14F-4D97-AF65-F5344CB8AC3E}">
        <p14:creationId xmlns:p14="http://schemas.microsoft.com/office/powerpoint/2010/main" val="3411325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SECTION 10</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When an order did something you did not expect</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097280"/>
            <a:ext cx="4069080" cy="868680"/>
          </a:xfrm>
          <a:prstGeom prst="rect">
            <a:avLst/>
          </a:prstGeom>
          <a:solidFill>
            <a:srgbClr val="141C19"/>
          </a:solidFill>
          <a:ln w="12700">
            <a:solidFill>
              <a:srgbClr val="2A3A34"/>
            </a:solidFill>
            <a:prstDash val="solid"/>
          </a:ln>
        </p:spPr>
        <p:txBody>
          <a:bodyPr/>
          <a:lstStyle/>
          <a:p>
            <a:endParaRPr lang="en-SE"/>
          </a:p>
        </p:txBody>
      </p:sp>
      <p:sp>
        <p:nvSpPr>
          <p:cNvPr id="8" name="accent bar">
            <a:extLst>
              <a:ext uri="{C183D7F6-B498-43B3-948B-1728B52AA6E4}">
                <adec:decorative xmlns:adec="http://schemas.microsoft.com/office/drawing/2017/decorative" val="1"/>
              </a:ext>
            </a:extLst>
          </p:cNvPr>
          <p:cNvSpPr/>
          <p:nvPr/>
        </p:nvSpPr>
        <p:spPr>
          <a:xfrm>
            <a:off x="411480" y="1097280"/>
            <a:ext cx="54864" cy="868680"/>
          </a:xfrm>
          <a:prstGeom prst="rect">
            <a:avLst/>
          </a:prstGeom>
          <a:solidFill>
            <a:srgbClr val="39FF88"/>
          </a:solidFill>
          <a:ln w="12700">
            <a:solidFill>
              <a:srgbClr val="39FF88"/>
            </a:solidFill>
            <a:prstDash val="solid"/>
          </a:ln>
        </p:spPr>
        <p:txBody>
          <a:bodyPr/>
          <a:lstStyle/>
          <a:p>
            <a:endParaRPr lang="en-SE"/>
          </a:p>
        </p:txBody>
      </p:sp>
      <p:sp>
        <p:nvSpPr>
          <p:cNvPr id="9" name="Text 6"/>
          <p:cNvSpPr/>
          <p:nvPr/>
        </p:nvSpPr>
        <p:spPr>
          <a:xfrm>
            <a:off x="594360" y="1188720"/>
            <a:ext cx="374904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Was it rejected, and why?</a:t>
            </a:r>
            <a:endParaRPr lang="en-US" sz="1200" dirty="0"/>
          </a:p>
        </p:txBody>
      </p:sp>
      <p:sp>
        <p:nvSpPr>
          <p:cNvPr id="10" name="Text 7"/>
          <p:cNvSpPr/>
          <p:nvPr/>
        </p:nvSpPr>
        <p:spPr>
          <a:xfrm>
            <a:off x="594360" y="1481328"/>
            <a:ext cx="3749040" cy="41148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REJECT_CODE + reason on the ACK — Engine._reject always sets both</a:t>
            </a:r>
            <a:endParaRPr lang="en-US" sz="1000" dirty="0"/>
          </a:p>
        </p:txBody>
      </p:sp>
      <p:sp>
        <p:nvSpPr>
          <p:cNvPr id="11" name="panel">
            <a:extLst>
              <a:ext uri="{C183D7F6-B498-43B3-948B-1728B52AA6E4}">
                <adec:decorative xmlns:adec="http://schemas.microsoft.com/office/drawing/2017/decorative" val="1"/>
              </a:ext>
            </a:extLst>
          </p:cNvPr>
          <p:cNvSpPr/>
          <p:nvPr/>
        </p:nvSpPr>
        <p:spPr>
          <a:xfrm>
            <a:off x="4663440" y="1097280"/>
            <a:ext cx="4069080" cy="868680"/>
          </a:xfrm>
          <a:prstGeom prst="rect">
            <a:avLst/>
          </a:prstGeom>
          <a:solidFill>
            <a:srgbClr val="141C19"/>
          </a:solidFill>
          <a:ln w="12700">
            <a:solidFill>
              <a:srgbClr val="2A3A34"/>
            </a:solidFill>
            <a:prstDash val="solid"/>
          </a:ln>
        </p:spPr>
        <p:txBody>
          <a:bodyPr/>
          <a:lstStyle/>
          <a:p>
            <a:endParaRPr lang="en-SE"/>
          </a:p>
        </p:txBody>
      </p:sp>
      <p:sp>
        <p:nvSpPr>
          <p:cNvPr id="12" name="accent bar">
            <a:extLst>
              <a:ext uri="{C183D7F6-B498-43B3-948B-1728B52AA6E4}">
                <adec:decorative xmlns:adec="http://schemas.microsoft.com/office/drawing/2017/decorative" val="1"/>
              </a:ext>
            </a:extLst>
          </p:cNvPr>
          <p:cNvSpPr/>
          <p:nvPr/>
        </p:nvSpPr>
        <p:spPr>
          <a:xfrm>
            <a:off x="4663440" y="1097280"/>
            <a:ext cx="54864" cy="868680"/>
          </a:xfrm>
          <a:prstGeom prst="rect">
            <a:avLst/>
          </a:prstGeom>
          <a:solidFill>
            <a:srgbClr val="39FF88"/>
          </a:solidFill>
          <a:ln w="12700">
            <a:solidFill>
              <a:srgbClr val="39FF88"/>
            </a:solidFill>
            <a:prstDash val="solid"/>
          </a:ln>
        </p:spPr>
        <p:txBody>
          <a:bodyPr/>
          <a:lstStyle/>
          <a:p>
            <a:endParaRPr lang="en-SE"/>
          </a:p>
        </p:txBody>
      </p:sp>
      <p:sp>
        <p:nvSpPr>
          <p:cNvPr id="13" name="Text 10"/>
          <p:cNvSpPr/>
          <p:nvPr/>
        </p:nvSpPr>
        <p:spPr>
          <a:xfrm>
            <a:off x="4846320" y="1188720"/>
            <a:ext cx="374904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Did the engine even see it?</a:t>
            </a:r>
            <a:endParaRPr lang="en-US" sz="1200" dirty="0"/>
          </a:p>
        </p:txBody>
      </p:sp>
      <p:sp>
        <p:nvSpPr>
          <p:cNvPr id="14" name="Text 11"/>
          <p:cNvSpPr/>
          <p:nvPr/>
        </p:nvSpPr>
        <p:spPr>
          <a:xfrm>
            <a:off x="4846320" y="1481328"/>
            <a:ext cx="3749040" cy="41148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Engine log at INFO: NEW {id} {symbol} {side}, right before book.process</a:t>
            </a:r>
            <a:endParaRPr lang="en-US" sz="1000" dirty="0"/>
          </a:p>
        </p:txBody>
      </p:sp>
      <p:sp>
        <p:nvSpPr>
          <p:cNvPr id="15" name="panel">
            <a:extLst>
              <a:ext uri="{C183D7F6-B498-43B3-948B-1728B52AA6E4}">
                <adec:decorative xmlns:adec="http://schemas.microsoft.com/office/drawing/2017/decorative" val="1"/>
              </a:ext>
            </a:extLst>
          </p:cNvPr>
          <p:cNvSpPr/>
          <p:nvPr/>
        </p:nvSpPr>
        <p:spPr>
          <a:xfrm>
            <a:off x="411480" y="2103120"/>
            <a:ext cx="4069080" cy="868680"/>
          </a:xfrm>
          <a:prstGeom prst="rect">
            <a:avLst/>
          </a:prstGeom>
          <a:solidFill>
            <a:srgbClr val="141C19"/>
          </a:solidFill>
          <a:ln w="12700">
            <a:solidFill>
              <a:srgbClr val="2A3A34"/>
            </a:solidFill>
            <a:prstDash val="solid"/>
          </a:ln>
        </p:spPr>
        <p:txBody>
          <a:bodyPr/>
          <a:lstStyle/>
          <a:p>
            <a:endParaRPr lang="en-SE"/>
          </a:p>
        </p:txBody>
      </p:sp>
      <p:sp>
        <p:nvSpPr>
          <p:cNvPr id="16" name="accent bar">
            <a:extLst>
              <a:ext uri="{C183D7F6-B498-43B3-948B-1728B52AA6E4}">
                <adec:decorative xmlns:adec="http://schemas.microsoft.com/office/drawing/2017/decorative" val="1"/>
              </a:ext>
            </a:extLst>
          </p:cNvPr>
          <p:cNvSpPr/>
          <p:nvPr/>
        </p:nvSpPr>
        <p:spPr>
          <a:xfrm>
            <a:off x="411480" y="2103120"/>
            <a:ext cx="54864" cy="868680"/>
          </a:xfrm>
          <a:prstGeom prst="rect">
            <a:avLst/>
          </a:prstGeom>
          <a:solidFill>
            <a:srgbClr val="39FF88"/>
          </a:solidFill>
          <a:ln w="12700">
            <a:solidFill>
              <a:srgbClr val="39FF88"/>
            </a:solidFill>
            <a:prstDash val="solid"/>
          </a:ln>
        </p:spPr>
        <p:txBody>
          <a:bodyPr/>
          <a:lstStyle/>
          <a:p>
            <a:endParaRPr lang="en-SE"/>
          </a:p>
        </p:txBody>
      </p:sp>
      <p:sp>
        <p:nvSpPr>
          <p:cNvPr id="17" name="Text 14"/>
          <p:cNvSpPr/>
          <p:nvPr/>
        </p:nvSpPr>
        <p:spPr>
          <a:xfrm>
            <a:off x="594360" y="2194560"/>
            <a:ext cx="374904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Did it fill?</a:t>
            </a:r>
            <a:endParaRPr lang="en-US" sz="1200" dirty="0"/>
          </a:p>
        </p:txBody>
      </p:sp>
      <p:sp>
        <p:nvSpPr>
          <p:cNvPr id="18" name="Text 15"/>
          <p:cNvSpPr/>
          <p:nvPr/>
        </p:nvSpPr>
        <p:spPr>
          <a:xfrm>
            <a:off x="594360" y="2487168"/>
            <a:ext cx="3749040" cy="41148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order.fill.{gw} · trade.executed for the tape · TRADE log line</a:t>
            </a:r>
            <a:endParaRPr lang="en-US" sz="1000" dirty="0"/>
          </a:p>
        </p:txBody>
      </p:sp>
      <p:sp>
        <p:nvSpPr>
          <p:cNvPr id="19" name="panel">
            <a:extLst>
              <a:ext uri="{C183D7F6-B498-43B3-948B-1728B52AA6E4}">
                <adec:decorative xmlns:adec="http://schemas.microsoft.com/office/drawing/2017/decorative" val="1"/>
              </a:ext>
            </a:extLst>
          </p:cNvPr>
          <p:cNvSpPr/>
          <p:nvPr/>
        </p:nvSpPr>
        <p:spPr>
          <a:xfrm>
            <a:off x="4663440" y="2103120"/>
            <a:ext cx="4069080" cy="868680"/>
          </a:xfrm>
          <a:prstGeom prst="rect">
            <a:avLst/>
          </a:prstGeom>
          <a:solidFill>
            <a:srgbClr val="141C19"/>
          </a:solidFill>
          <a:ln w="12700">
            <a:solidFill>
              <a:srgbClr val="2A3A34"/>
            </a:solidFill>
            <a:prstDash val="solid"/>
          </a:ln>
        </p:spPr>
        <p:txBody>
          <a:bodyPr/>
          <a:lstStyle/>
          <a:p>
            <a:endParaRPr lang="en-SE"/>
          </a:p>
        </p:txBody>
      </p:sp>
      <p:sp>
        <p:nvSpPr>
          <p:cNvPr id="20" name="accent bar">
            <a:extLst>
              <a:ext uri="{C183D7F6-B498-43B3-948B-1728B52AA6E4}">
                <adec:decorative xmlns:adec="http://schemas.microsoft.com/office/drawing/2017/decorative" val="1"/>
              </a:ext>
            </a:extLst>
          </p:cNvPr>
          <p:cNvSpPr/>
          <p:nvPr/>
        </p:nvSpPr>
        <p:spPr>
          <a:xfrm>
            <a:off x="4663440" y="2103120"/>
            <a:ext cx="54864" cy="868680"/>
          </a:xfrm>
          <a:prstGeom prst="rect">
            <a:avLst/>
          </a:prstGeom>
          <a:solidFill>
            <a:srgbClr val="39FF88"/>
          </a:solidFill>
          <a:ln w="12700">
            <a:solidFill>
              <a:srgbClr val="39FF88"/>
            </a:solidFill>
            <a:prstDash val="solid"/>
          </a:ln>
        </p:spPr>
        <p:txBody>
          <a:bodyPr/>
          <a:lstStyle/>
          <a:p>
            <a:endParaRPr lang="en-SE"/>
          </a:p>
        </p:txBody>
      </p:sp>
      <p:sp>
        <p:nvSpPr>
          <p:cNvPr id="21" name="Text 18"/>
          <p:cNvSpPr/>
          <p:nvPr/>
        </p:nvSpPr>
        <p:spPr>
          <a:xfrm>
            <a:off x="4846320" y="2194560"/>
            <a:ext cx="374904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Is it still resting?</a:t>
            </a:r>
            <a:endParaRPr lang="en-US" sz="1200" dirty="0"/>
          </a:p>
        </p:txBody>
      </p:sp>
      <p:sp>
        <p:nvSpPr>
          <p:cNvPr id="22" name="Text 19"/>
          <p:cNvSpPr/>
          <p:nvPr/>
        </p:nvSpPr>
        <p:spPr>
          <a:xfrm>
            <a:off x="4846320" y="2487168"/>
            <a:ext cx="3749040" cy="41148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ORDERS / system.orders_request walks book.resting_orders() directly</a:t>
            </a:r>
            <a:endParaRPr lang="en-US" sz="1000" dirty="0"/>
          </a:p>
        </p:txBody>
      </p:sp>
      <p:sp>
        <p:nvSpPr>
          <p:cNvPr id="23" name="panel">
            <a:extLst>
              <a:ext uri="{C183D7F6-B498-43B3-948B-1728B52AA6E4}">
                <adec:decorative xmlns:adec="http://schemas.microsoft.com/office/drawing/2017/decorative" val="1"/>
              </a:ext>
            </a:extLst>
          </p:cNvPr>
          <p:cNvSpPr/>
          <p:nvPr/>
        </p:nvSpPr>
        <p:spPr>
          <a:xfrm>
            <a:off x="411480" y="3108960"/>
            <a:ext cx="4069080" cy="868680"/>
          </a:xfrm>
          <a:prstGeom prst="rect">
            <a:avLst/>
          </a:prstGeom>
          <a:solidFill>
            <a:srgbClr val="141C19"/>
          </a:solidFill>
          <a:ln w="12700">
            <a:solidFill>
              <a:srgbClr val="2A3A34"/>
            </a:solidFill>
            <a:prstDash val="solid"/>
          </a:ln>
        </p:spPr>
        <p:txBody>
          <a:bodyPr/>
          <a:lstStyle/>
          <a:p>
            <a:endParaRPr lang="en-SE"/>
          </a:p>
        </p:txBody>
      </p:sp>
      <p:sp>
        <p:nvSpPr>
          <p:cNvPr id="24" name="accent bar">
            <a:extLst>
              <a:ext uri="{C183D7F6-B498-43B3-948B-1728B52AA6E4}">
                <adec:decorative xmlns:adec="http://schemas.microsoft.com/office/drawing/2017/decorative" val="1"/>
              </a:ext>
            </a:extLst>
          </p:cNvPr>
          <p:cNvSpPr/>
          <p:nvPr/>
        </p:nvSpPr>
        <p:spPr>
          <a:xfrm>
            <a:off x="411480" y="3108960"/>
            <a:ext cx="54864" cy="868680"/>
          </a:xfrm>
          <a:prstGeom prst="rect">
            <a:avLst/>
          </a:prstGeom>
          <a:solidFill>
            <a:srgbClr val="39FF88"/>
          </a:solidFill>
          <a:ln w="12700">
            <a:solidFill>
              <a:srgbClr val="39FF88"/>
            </a:solidFill>
            <a:prstDash val="solid"/>
          </a:ln>
        </p:spPr>
        <p:txBody>
          <a:bodyPr/>
          <a:lstStyle/>
          <a:p>
            <a:endParaRPr lang="en-SE"/>
          </a:p>
        </p:txBody>
      </p:sp>
      <p:sp>
        <p:nvSpPr>
          <p:cNvPr id="25" name="Text 22"/>
          <p:cNvSpPr/>
          <p:nvPr/>
        </p:nvSpPr>
        <p:spPr>
          <a:xfrm>
            <a:off x="594360" y="3200400"/>
            <a:ext cx="374904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Did it expire, and when?</a:t>
            </a:r>
            <a:endParaRPr lang="en-US" sz="1200" dirty="0"/>
          </a:p>
        </p:txBody>
      </p:sp>
      <p:sp>
        <p:nvSpPr>
          <p:cNvPr id="26" name="Text 23"/>
          <p:cNvSpPr/>
          <p:nvPr/>
        </p:nvSpPr>
        <p:spPr>
          <a:xfrm>
            <a:off x="594360" y="3493008"/>
            <a:ext cx="3749040" cy="41148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order.expired.{gw} — only ever from _expire_tif, only on a real CLOSED</a:t>
            </a:r>
            <a:endParaRPr lang="en-US" sz="1000" dirty="0"/>
          </a:p>
        </p:txBody>
      </p:sp>
      <p:sp>
        <p:nvSpPr>
          <p:cNvPr id="27" name="panel">
            <a:extLst>
              <a:ext uri="{C183D7F6-B498-43B3-948B-1728B52AA6E4}">
                <adec:decorative xmlns:adec="http://schemas.microsoft.com/office/drawing/2017/decorative" val="1"/>
              </a:ext>
            </a:extLst>
          </p:cNvPr>
          <p:cNvSpPr/>
          <p:nvPr/>
        </p:nvSpPr>
        <p:spPr>
          <a:xfrm>
            <a:off x="4663440" y="3108960"/>
            <a:ext cx="4069080" cy="868680"/>
          </a:xfrm>
          <a:prstGeom prst="rect">
            <a:avLst/>
          </a:prstGeom>
          <a:solidFill>
            <a:srgbClr val="141C19"/>
          </a:solidFill>
          <a:ln w="12700">
            <a:solidFill>
              <a:srgbClr val="2A3A34"/>
            </a:solidFill>
            <a:prstDash val="solid"/>
          </a:ln>
        </p:spPr>
        <p:txBody>
          <a:bodyPr/>
          <a:lstStyle/>
          <a:p>
            <a:endParaRPr lang="en-SE"/>
          </a:p>
        </p:txBody>
      </p:sp>
      <p:sp>
        <p:nvSpPr>
          <p:cNvPr id="28" name="accent bar">
            <a:extLst>
              <a:ext uri="{C183D7F6-B498-43B3-948B-1728B52AA6E4}">
                <adec:decorative xmlns:adec="http://schemas.microsoft.com/office/drawing/2017/decorative" val="1"/>
              </a:ext>
            </a:extLst>
          </p:cNvPr>
          <p:cNvSpPr/>
          <p:nvPr/>
        </p:nvSpPr>
        <p:spPr>
          <a:xfrm>
            <a:off x="4663440" y="3108960"/>
            <a:ext cx="54864" cy="868680"/>
          </a:xfrm>
          <a:prstGeom prst="rect">
            <a:avLst/>
          </a:prstGeom>
          <a:solidFill>
            <a:srgbClr val="39FF88"/>
          </a:solidFill>
          <a:ln w="12700">
            <a:solidFill>
              <a:srgbClr val="39FF88"/>
            </a:solidFill>
            <a:prstDash val="solid"/>
          </a:ln>
        </p:spPr>
        <p:txBody>
          <a:bodyPr/>
          <a:lstStyle/>
          <a:p>
            <a:endParaRPr lang="en-SE"/>
          </a:p>
        </p:txBody>
      </p:sp>
      <p:sp>
        <p:nvSpPr>
          <p:cNvPr id="29" name="Text 26"/>
          <p:cNvSpPr/>
          <p:nvPr/>
        </p:nvSpPr>
        <p:spPr>
          <a:xfrm>
            <a:off x="4846320" y="3200400"/>
            <a:ext cx="3749040" cy="256032"/>
          </a:xfrm>
          <a:prstGeom prst="rect">
            <a:avLst/>
          </a:prstGeom>
          <a:noFill/>
          <a:ln/>
        </p:spPr>
        <p:txBody>
          <a:bodyPr wrap="square" lIns="0" tIns="0" rIns="0" bIns="0" rtlCol="0" anchor="ctr"/>
          <a:lstStyle/>
          <a:p>
            <a:pPr marL="0" indent="0">
              <a:buNone/>
            </a:pPr>
            <a:r>
              <a:rPr lang="en-US" sz="1200" b="1" dirty="0">
                <a:solidFill>
                  <a:srgbClr val="EAF5F0"/>
                </a:solidFill>
                <a:latin typeface="Segoe UI" pitchFamily="34" charset="0"/>
                <a:ea typeface="Segoe UI" pitchFamily="34" charset="-122"/>
                <a:cs typeface="Segoe UI" pitchFamily="34" charset="-120"/>
              </a:rPr>
              <a:t>Did I lose it in a restart?</a:t>
            </a:r>
            <a:endParaRPr lang="en-US" sz="1200" dirty="0"/>
          </a:p>
        </p:txBody>
      </p:sp>
      <p:sp>
        <p:nvSpPr>
          <p:cNvPr id="30" name="Text 27"/>
          <p:cNvSpPr/>
          <p:nvPr/>
        </p:nvSpPr>
        <p:spPr>
          <a:xfrm>
            <a:off x="4846320" y="3493008"/>
            <a:ext cx="3749040" cy="411480"/>
          </a:xfrm>
          <a:prstGeom prst="rect">
            <a:avLst/>
          </a:prstGeom>
          <a:noFill/>
          <a:ln/>
        </p:spPr>
        <p:txBody>
          <a:bodyPr wrap="square" lIns="0" tIns="0" rIns="0" bIns="0" rtlCol="0" anchor="ctr"/>
          <a:lstStyle/>
          <a:p>
            <a:pPr marL="0" indent="0">
              <a:buNone/>
            </a:pPr>
            <a:r>
              <a:rPr lang="en-US" sz="1000" dirty="0">
                <a:solidFill>
                  <a:srgbClr val="8AA79A"/>
                </a:solidFill>
                <a:latin typeface="Consolas" pitchFamily="34" charset="0"/>
                <a:ea typeface="Consolas" pitchFamily="34" charset="-122"/>
                <a:cs typeface="Consolas" pitchFamily="34" charset="-120"/>
              </a:rPr>
              <a:t>Startup log: “Discarding stale TIF=DAY order …” — nothing else will tell you</a:t>
            </a:r>
            <a:endParaRPr lang="en-US" sz="1000" dirty="0"/>
          </a:p>
        </p:txBody>
      </p:sp>
      <p:sp>
        <p:nvSpPr>
          <p:cNvPr id="31" name="Text 28"/>
          <p:cNvSpPr/>
          <p:nvPr/>
        </p:nvSpPr>
        <p:spPr>
          <a:xfrm>
            <a:off x="411480" y="4206240"/>
            <a:ext cx="8321040" cy="274320"/>
          </a:xfrm>
          <a:prstGeom prst="rect">
            <a:avLst/>
          </a:prstGeom>
          <a:noFill/>
          <a:ln/>
        </p:spPr>
        <p:txBody>
          <a:bodyPr wrap="square" lIns="0" tIns="0" rIns="0" bIns="0" rtlCol="0" anchor="ctr"/>
          <a:lstStyle/>
          <a:p>
            <a:pPr marL="0" indent="0">
              <a:buNone/>
            </a:pPr>
            <a:r>
              <a:rPr lang="en-US" sz="1100" i="1" dirty="0">
                <a:solidFill>
                  <a:srgbClr val="8AA79A"/>
                </a:solidFill>
                <a:latin typeface="Segoe UI" pitchFamily="34" charset="0"/>
                <a:ea typeface="Segoe UI" pitchFamily="34" charset="-122"/>
                <a:cs typeface="Segoe UI" pitchFamily="34" charset="-120"/>
              </a:rPr>
              <a:t>No handler can silently swallow an exception — every branch is wrapped.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0A0F0D"/>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39FF88"/>
          </a:solidFill>
          <a:ln w="12700">
            <a:solidFill>
              <a:srgbClr val="39FF88"/>
            </a:solidFill>
            <a:prstDash val="solid"/>
          </a:ln>
        </p:spPr>
        <p:txBody>
          <a:bodyPr/>
          <a:lstStyle/>
          <a:p>
            <a:endParaRPr lang="en-SE"/>
          </a:p>
        </p:txBody>
      </p:sp>
      <p:sp>
        <p:nvSpPr>
          <p:cNvPr id="3" name="bottom rule">
            <a:extLst>
              <a:ext uri="{C183D7F6-B498-43B3-948B-1728B52AA6E4}">
                <adec:decorative xmlns:adec="http://schemas.microsoft.com/office/drawing/2017/decorative" val="1"/>
              </a:ext>
            </a:extLst>
          </p:cNvPr>
          <p:cNvSpPr/>
          <p:nvPr/>
        </p:nvSpPr>
        <p:spPr>
          <a:xfrm>
            <a:off x="0" y="5116068"/>
            <a:ext cx="9144000" cy="27432"/>
          </a:xfrm>
          <a:prstGeom prst="rect">
            <a:avLst/>
          </a:prstGeom>
          <a:solidFill>
            <a:srgbClr val="2A3A34"/>
          </a:solidFill>
          <a:ln w="12700">
            <a:solidFill>
              <a:srgbClr val="2A3A34"/>
            </a:solidFill>
            <a:prstDash val="solid"/>
          </a:ln>
        </p:spPr>
        <p:txBody>
          <a:bodyPr/>
          <a:lstStyle/>
          <a:p>
            <a:endParaRPr lang="en-SE"/>
          </a:p>
        </p:txBody>
      </p:sp>
      <p:sp>
        <p:nvSpPr>
          <p:cNvPr id="5" name="Text 2"/>
          <p:cNvSpPr/>
          <p:nvPr/>
        </p:nvSpPr>
        <p:spPr>
          <a:xfrm>
            <a:off x="411480" y="201168"/>
            <a:ext cx="8321040" cy="228600"/>
          </a:xfrm>
          <a:prstGeom prst="rect">
            <a:avLst/>
          </a:prstGeom>
          <a:noFill/>
          <a:ln/>
        </p:spPr>
        <p:txBody>
          <a:bodyPr wrap="square" lIns="0" tIns="0" rIns="0" bIns="0" rtlCol="0" anchor="ctr"/>
          <a:lstStyle/>
          <a:p>
            <a:pPr marL="0" indent="0">
              <a:buNone/>
            </a:pPr>
            <a:r>
              <a:rPr lang="en-US" sz="1000" kern="0" spc="300" dirty="0">
                <a:solidFill>
                  <a:srgbClr val="39FF88"/>
                </a:solidFill>
                <a:latin typeface="Consolas" pitchFamily="34" charset="0"/>
                <a:ea typeface="Consolas" pitchFamily="34" charset="-122"/>
                <a:cs typeface="Consolas" pitchFamily="34" charset="-120"/>
              </a:rPr>
              <a:t>WRAP-UP</a:t>
            </a:r>
            <a:endParaRPr lang="en-US" sz="1000" dirty="0"/>
          </a:p>
        </p:txBody>
      </p:sp>
      <p:sp>
        <p:nvSpPr>
          <p:cNvPr id="6" name="Text 3"/>
          <p:cNvSpPr/>
          <p:nvPr/>
        </p:nvSpPr>
        <p:spPr>
          <a:xfrm>
            <a:off x="411480" y="438912"/>
            <a:ext cx="8321040" cy="457200"/>
          </a:xfrm>
          <a:prstGeom prst="rect">
            <a:avLst/>
          </a:prstGeom>
          <a:noFill/>
          <a:ln/>
        </p:spPr>
        <p:txBody>
          <a:bodyPr wrap="square" lIns="0" tIns="0" rIns="0" bIns="0" rtlCol="0" anchor="ctr"/>
          <a:lstStyle/>
          <a:p>
            <a:pPr marL="0" indent="0">
              <a:buNone/>
            </a:pPr>
            <a:r>
              <a:rPr lang="en-US" sz="2400" b="1" dirty="0">
                <a:solidFill>
                  <a:srgbClr val="EAF5F0"/>
                </a:solidFill>
                <a:latin typeface="Segoe UI" pitchFamily="34" charset="0"/>
                <a:ea typeface="Segoe UI" pitchFamily="34" charset="-122"/>
                <a:cs typeface="Segoe UI" pitchFamily="34" charset="-120"/>
              </a:rPr>
              <a:t>Five things worth remembering</a:t>
            </a:r>
            <a:endParaRPr lang="en-US" sz="2400" dirty="0"/>
          </a:p>
        </p:txBody>
      </p:sp>
      <p:sp>
        <p:nvSpPr>
          <p:cNvPr id="7" name="panel">
            <a:extLst>
              <a:ext uri="{C183D7F6-B498-43B3-948B-1728B52AA6E4}">
                <adec:decorative xmlns:adec="http://schemas.microsoft.com/office/drawing/2017/decorative" val="1"/>
              </a:ext>
            </a:extLst>
          </p:cNvPr>
          <p:cNvSpPr/>
          <p:nvPr/>
        </p:nvSpPr>
        <p:spPr>
          <a:xfrm>
            <a:off x="411480" y="1097280"/>
            <a:ext cx="8321040" cy="548640"/>
          </a:xfrm>
          <a:prstGeom prst="rect">
            <a:avLst/>
          </a:prstGeom>
          <a:solidFill>
            <a:srgbClr val="141C19"/>
          </a:solidFill>
          <a:ln w="12700">
            <a:solidFill>
              <a:srgbClr val="2A3A34"/>
            </a:solidFill>
            <a:prstDash val="solid"/>
          </a:ln>
        </p:spPr>
        <p:txBody>
          <a:bodyPr/>
          <a:lstStyle/>
          <a:p>
            <a:endParaRPr lang="en-SE"/>
          </a:p>
        </p:txBody>
      </p:sp>
      <p:sp>
        <p:nvSpPr>
          <p:cNvPr id="8" name="accent bar">
            <a:extLst>
              <a:ext uri="{C183D7F6-B498-43B3-948B-1728B52AA6E4}">
                <adec:decorative xmlns:adec="http://schemas.microsoft.com/office/drawing/2017/decorative" val="1"/>
              </a:ext>
            </a:extLst>
          </p:cNvPr>
          <p:cNvSpPr/>
          <p:nvPr/>
        </p:nvSpPr>
        <p:spPr>
          <a:xfrm>
            <a:off x="411480" y="1097280"/>
            <a:ext cx="54864" cy="548640"/>
          </a:xfrm>
          <a:prstGeom prst="rect">
            <a:avLst/>
          </a:prstGeom>
          <a:solidFill>
            <a:srgbClr val="39FF88"/>
          </a:solidFill>
          <a:ln w="12700">
            <a:solidFill>
              <a:srgbClr val="39FF88"/>
            </a:solidFill>
            <a:prstDash val="solid"/>
          </a:ln>
        </p:spPr>
        <p:txBody>
          <a:bodyPr/>
          <a:lstStyle/>
          <a:p>
            <a:endParaRPr lang="en-SE"/>
          </a:p>
        </p:txBody>
      </p:sp>
      <p:sp>
        <p:nvSpPr>
          <p:cNvPr id="9" name="Text 6"/>
          <p:cNvSpPr/>
          <p:nvPr/>
        </p:nvSpPr>
        <p:spPr>
          <a:xfrm>
            <a:off x="640080" y="1234440"/>
            <a:ext cx="246888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(topic, payload)</a:t>
            </a:r>
            <a:endParaRPr lang="en-US" sz="1200" dirty="0"/>
          </a:p>
        </p:txBody>
      </p:sp>
      <p:sp>
        <p:nvSpPr>
          <p:cNvPr id="10" name="Text 7"/>
          <p:cNvSpPr/>
          <p:nvPr/>
        </p:nvSpPr>
        <p:spPr>
          <a:xfrm>
            <a:off x="3200400" y="1243584"/>
            <a:ext cx="5349240" cy="27432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Two frames is the unit everything is built from.</a:t>
            </a:r>
            <a:endParaRPr lang="en-US" sz="1200" dirty="0"/>
          </a:p>
        </p:txBody>
      </p:sp>
      <p:sp>
        <p:nvSpPr>
          <p:cNvPr id="11" name="panel">
            <a:extLst>
              <a:ext uri="{C183D7F6-B498-43B3-948B-1728B52AA6E4}">
                <adec:decorative xmlns:adec="http://schemas.microsoft.com/office/drawing/2017/decorative" val="1"/>
              </a:ext>
            </a:extLst>
          </p:cNvPr>
          <p:cNvSpPr/>
          <p:nvPr/>
        </p:nvSpPr>
        <p:spPr>
          <a:xfrm>
            <a:off x="411480" y="1737360"/>
            <a:ext cx="8321040" cy="548640"/>
          </a:xfrm>
          <a:prstGeom prst="rect">
            <a:avLst/>
          </a:prstGeom>
          <a:solidFill>
            <a:srgbClr val="141C19"/>
          </a:solidFill>
          <a:ln w="12700">
            <a:solidFill>
              <a:srgbClr val="2A3A34"/>
            </a:solidFill>
            <a:prstDash val="solid"/>
          </a:ln>
        </p:spPr>
        <p:txBody>
          <a:bodyPr/>
          <a:lstStyle/>
          <a:p>
            <a:endParaRPr lang="en-SE"/>
          </a:p>
        </p:txBody>
      </p:sp>
      <p:sp>
        <p:nvSpPr>
          <p:cNvPr id="12" name="accent bar">
            <a:extLst>
              <a:ext uri="{C183D7F6-B498-43B3-948B-1728B52AA6E4}">
                <adec:decorative xmlns:adec="http://schemas.microsoft.com/office/drawing/2017/decorative" val="1"/>
              </a:ext>
            </a:extLst>
          </p:cNvPr>
          <p:cNvSpPr/>
          <p:nvPr/>
        </p:nvSpPr>
        <p:spPr>
          <a:xfrm>
            <a:off x="411480" y="1737360"/>
            <a:ext cx="54864" cy="548640"/>
          </a:xfrm>
          <a:prstGeom prst="rect">
            <a:avLst/>
          </a:prstGeom>
          <a:solidFill>
            <a:srgbClr val="39FF88"/>
          </a:solidFill>
          <a:ln w="12700">
            <a:solidFill>
              <a:srgbClr val="39FF88"/>
            </a:solidFill>
            <a:prstDash val="solid"/>
          </a:ln>
        </p:spPr>
        <p:txBody>
          <a:bodyPr/>
          <a:lstStyle/>
          <a:p>
            <a:endParaRPr lang="en-SE"/>
          </a:p>
        </p:txBody>
      </p:sp>
      <p:sp>
        <p:nvSpPr>
          <p:cNvPr id="13" name="Text 10"/>
          <p:cNvSpPr/>
          <p:nvPr/>
        </p:nvSpPr>
        <p:spPr>
          <a:xfrm>
            <a:off x="640080" y="1874520"/>
            <a:ext cx="246888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Eight gates, fixed order</a:t>
            </a:r>
            <a:endParaRPr lang="en-US" sz="1200" dirty="0"/>
          </a:p>
        </p:txBody>
      </p:sp>
      <p:sp>
        <p:nvSpPr>
          <p:cNvPr id="14" name="Text 11"/>
          <p:cNvSpPr/>
          <p:nvPr/>
        </p:nvSpPr>
        <p:spPr>
          <a:xfrm>
            <a:off x="3200400" y="1883664"/>
            <a:ext cx="5349240" cy="27432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Each one rejects or falls through. Validation happens before any ACK.</a:t>
            </a:r>
            <a:endParaRPr lang="en-US" sz="1200" dirty="0"/>
          </a:p>
        </p:txBody>
      </p:sp>
      <p:sp>
        <p:nvSpPr>
          <p:cNvPr id="15" name="panel">
            <a:extLst>
              <a:ext uri="{C183D7F6-B498-43B3-948B-1728B52AA6E4}">
                <adec:decorative xmlns:adec="http://schemas.microsoft.com/office/drawing/2017/decorative" val="1"/>
              </a:ext>
            </a:extLst>
          </p:cNvPr>
          <p:cNvSpPr/>
          <p:nvPr/>
        </p:nvSpPr>
        <p:spPr>
          <a:xfrm>
            <a:off x="411480" y="2377440"/>
            <a:ext cx="8321040" cy="548640"/>
          </a:xfrm>
          <a:prstGeom prst="rect">
            <a:avLst/>
          </a:prstGeom>
          <a:solidFill>
            <a:srgbClr val="141C19"/>
          </a:solidFill>
          <a:ln w="12700">
            <a:solidFill>
              <a:srgbClr val="2A3A34"/>
            </a:solidFill>
            <a:prstDash val="solid"/>
          </a:ln>
        </p:spPr>
        <p:txBody>
          <a:bodyPr/>
          <a:lstStyle/>
          <a:p>
            <a:endParaRPr lang="en-SE"/>
          </a:p>
        </p:txBody>
      </p:sp>
      <p:sp>
        <p:nvSpPr>
          <p:cNvPr id="16" name="accent bar">
            <a:extLst>
              <a:ext uri="{C183D7F6-B498-43B3-948B-1728B52AA6E4}">
                <adec:decorative xmlns:adec="http://schemas.microsoft.com/office/drawing/2017/decorative" val="1"/>
              </a:ext>
            </a:extLst>
          </p:cNvPr>
          <p:cNvSpPr/>
          <p:nvPr/>
        </p:nvSpPr>
        <p:spPr>
          <a:xfrm>
            <a:off x="411480" y="2377440"/>
            <a:ext cx="54864" cy="548640"/>
          </a:xfrm>
          <a:prstGeom prst="rect">
            <a:avLst/>
          </a:prstGeom>
          <a:solidFill>
            <a:srgbClr val="39FF88"/>
          </a:solidFill>
          <a:ln w="12700">
            <a:solidFill>
              <a:srgbClr val="39FF88"/>
            </a:solidFill>
            <a:prstDash val="solid"/>
          </a:ln>
        </p:spPr>
        <p:txBody>
          <a:bodyPr/>
          <a:lstStyle/>
          <a:p>
            <a:endParaRPr lang="en-SE"/>
          </a:p>
        </p:txBody>
      </p:sp>
      <p:sp>
        <p:nvSpPr>
          <p:cNvPr id="17" name="Text 14"/>
          <p:cNvSpPr/>
          <p:nvPr/>
        </p:nvSpPr>
        <p:spPr>
          <a:xfrm>
            <a:off x="640080" y="2514600"/>
            <a:ext cx="246888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The ACK comes first</a:t>
            </a:r>
            <a:endParaRPr lang="en-US" sz="1200" dirty="0"/>
          </a:p>
        </p:txBody>
      </p:sp>
      <p:sp>
        <p:nvSpPr>
          <p:cNvPr id="18" name="Text 15"/>
          <p:cNvSpPr/>
          <p:nvPr/>
        </p:nvSpPr>
        <p:spPr>
          <a:xfrm>
            <a:off x="3200400" y="2523744"/>
            <a:ext cx="5349240" cy="27432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Published before book.process — and it is not a final state.</a:t>
            </a:r>
            <a:endParaRPr lang="en-US" sz="1200" dirty="0"/>
          </a:p>
        </p:txBody>
      </p:sp>
      <p:sp>
        <p:nvSpPr>
          <p:cNvPr id="19" name="panel">
            <a:extLst>
              <a:ext uri="{C183D7F6-B498-43B3-948B-1728B52AA6E4}">
                <adec:decorative xmlns:adec="http://schemas.microsoft.com/office/drawing/2017/decorative" val="1"/>
              </a:ext>
            </a:extLst>
          </p:cNvPr>
          <p:cNvSpPr/>
          <p:nvPr/>
        </p:nvSpPr>
        <p:spPr>
          <a:xfrm>
            <a:off x="411480" y="3017520"/>
            <a:ext cx="8321040" cy="548640"/>
          </a:xfrm>
          <a:prstGeom prst="rect">
            <a:avLst/>
          </a:prstGeom>
          <a:solidFill>
            <a:srgbClr val="141C19"/>
          </a:solidFill>
          <a:ln w="12700">
            <a:solidFill>
              <a:srgbClr val="2A3A34"/>
            </a:solidFill>
            <a:prstDash val="solid"/>
          </a:ln>
        </p:spPr>
        <p:txBody>
          <a:bodyPr/>
          <a:lstStyle/>
          <a:p>
            <a:endParaRPr lang="en-SE"/>
          </a:p>
        </p:txBody>
      </p:sp>
      <p:sp>
        <p:nvSpPr>
          <p:cNvPr id="20" name="accent bar">
            <a:extLst>
              <a:ext uri="{C183D7F6-B498-43B3-948B-1728B52AA6E4}">
                <adec:decorative xmlns:adec="http://schemas.microsoft.com/office/drawing/2017/decorative" val="1"/>
              </a:ext>
            </a:extLst>
          </p:cNvPr>
          <p:cNvSpPr/>
          <p:nvPr/>
        </p:nvSpPr>
        <p:spPr>
          <a:xfrm>
            <a:off x="411480" y="3017520"/>
            <a:ext cx="54864" cy="548640"/>
          </a:xfrm>
          <a:prstGeom prst="rect">
            <a:avLst/>
          </a:prstGeom>
          <a:solidFill>
            <a:srgbClr val="39FF88"/>
          </a:solidFill>
          <a:ln w="12700">
            <a:solidFill>
              <a:srgbClr val="39FF88"/>
            </a:solidFill>
            <a:prstDash val="solid"/>
          </a:ln>
        </p:spPr>
        <p:txBody>
          <a:bodyPr/>
          <a:lstStyle/>
          <a:p>
            <a:endParaRPr lang="en-SE"/>
          </a:p>
        </p:txBody>
      </p:sp>
      <p:sp>
        <p:nvSpPr>
          <p:cNvPr id="21" name="Text 18"/>
          <p:cNvSpPr/>
          <p:nvPr/>
        </p:nvSpPr>
        <p:spPr>
          <a:xfrm>
            <a:off x="640080" y="3154680"/>
            <a:ext cx="246888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Routing is a string</a:t>
            </a:r>
            <a:endParaRPr lang="en-US" sz="1200" dirty="0"/>
          </a:p>
        </p:txBody>
      </p:sp>
      <p:sp>
        <p:nvSpPr>
          <p:cNvPr id="22" name="Text 19"/>
          <p:cNvSpPr/>
          <p:nvPr/>
        </p:nvSpPr>
        <p:spPr>
          <a:xfrm>
            <a:off x="3200400" y="3163824"/>
            <a:ext cx="5349240" cy="27432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order.ack.TRADER01 — filtering happens on the subscriber side.</a:t>
            </a:r>
            <a:endParaRPr lang="en-US" sz="1200" dirty="0"/>
          </a:p>
        </p:txBody>
      </p:sp>
      <p:sp>
        <p:nvSpPr>
          <p:cNvPr id="23" name="panel">
            <a:extLst>
              <a:ext uri="{C183D7F6-B498-43B3-948B-1728B52AA6E4}">
                <adec:decorative xmlns:adec="http://schemas.microsoft.com/office/drawing/2017/decorative" val="1"/>
              </a:ext>
            </a:extLst>
          </p:cNvPr>
          <p:cNvSpPr/>
          <p:nvPr/>
        </p:nvSpPr>
        <p:spPr>
          <a:xfrm>
            <a:off x="411480" y="3657600"/>
            <a:ext cx="8321040" cy="548640"/>
          </a:xfrm>
          <a:prstGeom prst="rect">
            <a:avLst/>
          </a:prstGeom>
          <a:solidFill>
            <a:srgbClr val="141C19"/>
          </a:solidFill>
          <a:ln w="12700">
            <a:solidFill>
              <a:srgbClr val="2A3A34"/>
            </a:solidFill>
            <a:prstDash val="solid"/>
          </a:ln>
        </p:spPr>
        <p:txBody>
          <a:bodyPr/>
          <a:lstStyle/>
          <a:p>
            <a:endParaRPr lang="en-SE"/>
          </a:p>
        </p:txBody>
      </p:sp>
      <p:sp>
        <p:nvSpPr>
          <p:cNvPr id="24" name="accent bar">
            <a:extLst>
              <a:ext uri="{C183D7F6-B498-43B3-948B-1728B52AA6E4}">
                <adec:decorative xmlns:adec="http://schemas.microsoft.com/office/drawing/2017/decorative" val="1"/>
              </a:ext>
            </a:extLst>
          </p:cNvPr>
          <p:cNvSpPr/>
          <p:nvPr/>
        </p:nvSpPr>
        <p:spPr>
          <a:xfrm>
            <a:off x="411480" y="3657600"/>
            <a:ext cx="54864" cy="548640"/>
          </a:xfrm>
          <a:prstGeom prst="rect">
            <a:avLst/>
          </a:prstGeom>
          <a:solidFill>
            <a:srgbClr val="39FF88"/>
          </a:solidFill>
          <a:ln w="12700">
            <a:solidFill>
              <a:srgbClr val="39FF88"/>
            </a:solidFill>
            <a:prstDash val="solid"/>
          </a:ln>
        </p:spPr>
        <p:txBody>
          <a:bodyPr/>
          <a:lstStyle/>
          <a:p>
            <a:endParaRPr lang="en-SE"/>
          </a:p>
        </p:txBody>
      </p:sp>
      <p:sp>
        <p:nvSpPr>
          <p:cNvPr id="25" name="Text 22"/>
          <p:cNvSpPr/>
          <p:nvPr/>
        </p:nvSpPr>
        <p:spPr>
          <a:xfrm>
            <a:off x="640080" y="3794760"/>
            <a:ext cx="2468880" cy="274320"/>
          </a:xfrm>
          <a:prstGeom prst="rect">
            <a:avLst/>
          </a:prstGeom>
          <a:noFill/>
          <a:ln/>
        </p:spPr>
        <p:txBody>
          <a:bodyPr wrap="square" lIns="0" tIns="0" rIns="0" bIns="0" rtlCol="0" anchor="ctr"/>
          <a:lstStyle/>
          <a:p>
            <a:pPr marL="0" indent="0">
              <a:buNone/>
            </a:pPr>
            <a:r>
              <a:rPr lang="en-US" sz="1200" b="1" dirty="0">
                <a:solidFill>
                  <a:srgbClr val="39FF88"/>
                </a:solidFill>
                <a:latin typeface="Consolas" pitchFamily="34" charset="0"/>
                <a:ea typeface="Consolas" pitchFamily="34" charset="-122"/>
                <a:cs typeface="Consolas" pitchFamily="34" charset="-120"/>
              </a:rPr>
              <a:t>DAY ≠ a clock</a:t>
            </a:r>
            <a:endParaRPr lang="en-US" sz="1200" dirty="0"/>
          </a:p>
        </p:txBody>
      </p:sp>
      <p:sp>
        <p:nvSpPr>
          <p:cNvPr id="26" name="Text 23"/>
          <p:cNvSpPr/>
          <p:nvPr/>
        </p:nvSpPr>
        <p:spPr>
          <a:xfrm>
            <a:off x="3200400" y="3803904"/>
            <a:ext cx="5349240" cy="274320"/>
          </a:xfrm>
          <a:prstGeom prst="rect">
            <a:avLst/>
          </a:prstGeom>
          <a:noFill/>
          <a:ln/>
        </p:spPr>
        <p:txBody>
          <a:bodyPr wrap="square" lIns="0" tIns="0" rIns="0" bIns="0" rtlCol="0" anchor="ctr"/>
          <a:lstStyle/>
          <a:p>
            <a:pPr marL="0" indent="0">
              <a:buNone/>
            </a:pPr>
            <a:r>
              <a:rPr lang="en-US" sz="1200" dirty="0">
                <a:solidFill>
                  <a:srgbClr val="EAF5F0"/>
                </a:solidFill>
                <a:latin typeface="Segoe UI" pitchFamily="34" charset="0"/>
                <a:ea typeface="Segoe UI" pitchFamily="34" charset="-122"/>
                <a:cs typeface="Segoe UI" pitchFamily="34" charset="-120"/>
              </a:rPr>
              <a:t>It expires on session close, or vanishes silently on a stale restart.</a:t>
            </a:r>
            <a:endParaRPr lang="en-US" sz="1200" dirty="0"/>
          </a:p>
        </p:txBody>
      </p:sp>
      <p:sp>
        <p:nvSpPr>
          <p:cNvPr id="27" name="Text 24"/>
          <p:cNvSpPr/>
          <p:nvPr/>
        </p:nvSpPr>
        <p:spPr>
          <a:xfrm>
            <a:off x="411480" y="4434840"/>
            <a:ext cx="8321040" cy="274320"/>
          </a:xfrm>
          <a:prstGeom prst="rect">
            <a:avLst/>
          </a:prstGeom>
          <a:noFill/>
          <a:ln/>
        </p:spPr>
        <p:txBody>
          <a:bodyPr wrap="square" lIns="0" tIns="0" rIns="0" bIns="0" rtlCol="0" anchor="ctr"/>
          <a:lstStyle/>
          <a:p>
            <a:pPr marL="0" indent="0" algn="ctr">
              <a:buNone/>
            </a:pPr>
            <a:r>
              <a:rPr lang="en-US" sz="1100" i="1" dirty="0">
                <a:solidFill>
                  <a:srgbClr val="8AA79A"/>
                </a:solidFill>
                <a:latin typeface="Segoe UI" pitchFamily="34" charset="0"/>
                <a:ea typeface="Segoe UI" pitchFamily="34" charset="-122"/>
                <a:cs typeface="Segoe UI" pitchFamily="34" charset="-120"/>
              </a:rPr>
              <a:t>Every arrow is a function call or a two-frame message you can grep for by name. There is no step in between.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e63fdbc-9223-49ac-a12c-b8ae101f8b2d}" enabled="1" method="Standard" siteId="{d0b75e95-684a-45e3-8d2d-53fa2a6a513f}" contentBits="2" removed="0"/>
</clbl:labelList>
</file>

<file path=docProps/app.xml><?xml version="1.0" encoding="utf-8"?>
<Properties xmlns="http://schemas.openxmlformats.org/officeDocument/2006/extended-properties" xmlns:vt="http://schemas.openxmlformats.org/officeDocument/2006/docPropsVTypes">
  <TotalTime>172</TotalTime>
  <Words>6434</Words>
  <Application>Microsoft Macintosh PowerPoint</Application>
  <PresentationFormat>On-screen Show (16:9)</PresentationFormat>
  <Paragraphs>430</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3</cp:revision>
  <dcterms:created xsi:type="dcterms:W3CDTF">2026-09-10T08:19:26Z</dcterms:created>
  <dcterms:modified xsi:type="dcterms:W3CDTF">2026-09-10T12:51:38Z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Nasdaq - Internal Use: Distribution limited to Nasdaq personnel and authorized third parties subject to confidentiality obligations</vt:lpwstr>
  </property>
</Properties>
</file>