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14"/>
    <p:restoredTop sz="94658"/>
  </p:normalViewPr>
  <p:slideViewPr>
    <p:cSldViewPr snapToGrid="0">
      <p:cViewPr>
        <p:scale>
          <a:sx n="142" d="100"/>
          <a:sy n="142" d="100"/>
        </p:scale>
        <p:origin x="98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69164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05740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4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8676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illustration of market data streaming across a dark background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darkening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81B">
              <a:alpha val="7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legibility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14181B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EDUMATCHER  ·  MARKET DATA</a:t>
            </a:r>
            <a:endParaRPr lang="en-US" sz="1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6916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kern="0" spc="200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640080" y="2971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Channel-ALF — the market data protocol, explained from zero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345643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guide to the CALF gateway: what it is, what it carries, and how to build a client that never loses a message.</a:t>
            </a:r>
            <a:endParaRPr lang="en-US" sz="1250" dirty="0"/>
          </a:p>
        </p:txBody>
      </p:sp>
      <p:sp>
        <p:nvSpPr>
          <p:cNvPr id="9" name="pi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224528"/>
            <a:ext cx="1188720" cy="310896"/>
          </a:xfrm>
          <a:prstGeom prst="roundRect">
            <a:avLst>
              <a:gd name="adj" fmla="val 35294"/>
            </a:avLst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7"/>
          <p:cNvSpPr/>
          <p:nvPr/>
        </p:nvSpPr>
        <p:spPr>
          <a:xfrm>
            <a:off x="640080" y="42245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pm-md-gwy</a:t>
            </a:r>
            <a:endParaRPr lang="en-US" sz="1000" dirty="0"/>
          </a:p>
        </p:txBody>
      </p:sp>
      <p:sp>
        <p:nvSpPr>
          <p:cNvPr id="11" name="pi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20240" y="4224528"/>
            <a:ext cx="1188720" cy="310896"/>
          </a:xfrm>
          <a:prstGeom prst="roundRect">
            <a:avLst>
              <a:gd name="adj" fmla="val 35294"/>
            </a:avLst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9"/>
          <p:cNvSpPr/>
          <p:nvPr/>
        </p:nvSpPr>
        <p:spPr>
          <a:xfrm>
            <a:off x="1920240" y="42245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:5570</a:t>
            </a:r>
            <a:endParaRPr lang="en-US" sz="1000" dirty="0"/>
          </a:p>
        </p:txBody>
      </p:sp>
      <p:sp>
        <p:nvSpPr>
          <p:cNvPr id="13" name="pi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0" y="4224528"/>
            <a:ext cx="1463040" cy="310896"/>
          </a:xfrm>
          <a:prstGeom prst="roundRect">
            <a:avLst>
              <a:gd name="adj" fmla="val 35294"/>
            </a:avLst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1"/>
          <p:cNvSpPr/>
          <p:nvPr/>
        </p:nvSpPr>
        <p:spPr>
          <a:xfrm>
            <a:off x="3200400" y="422452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PROTO=CALF1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will learn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 from “what is a gateway?” to a working, gap-proof client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98448"/>
            <a:ext cx="2624328" cy="96012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088" y="1481328"/>
            <a:ext cx="329184" cy="329184"/>
          </a:xfrm>
          <a:prstGeom prst="ellipse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704088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24712" y="1481328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 gateway exists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" y="1865376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it does between the matching engine and you</a:t>
            </a:r>
            <a:endParaRPr lang="en-US" sz="1050" dirty="0"/>
          </a:p>
        </p:txBody>
      </p:sp>
      <p:sp>
        <p:nvSpPr>
          <p:cNvPr id="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64992" y="1298448"/>
            <a:ext cx="2624328" cy="96012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47872" y="1481328"/>
            <a:ext cx="329184" cy="329184"/>
          </a:xfrm>
          <a:prstGeom prst="ellipse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3547872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68496" y="1481328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protocol is for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1865376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text line format any language can read</a:t>
            </a:r>
            <a:endParaRPr lang="en-US" sz="1050" dirty="0"/>
          </a:p>
        </p:txBody>
      </p:sp>
      <p:sp>
        <p:nvSpPr>
          <p:cNvPr id="1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8776" y="1298448"/>
            <a:ext cx="2624328" cy="96012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1656" y="1481328"/>
            <a:ext cx="329184" cy="329184"/>
          </a:xfrm>
          <a:prstGeom prst="ellipse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6391656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12280" y="1481328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data is available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91656" y="1865376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channels, from best bid to circuit breakers</a:t>
            </a:r>
            <a:endParaRPr lang="en-US" sz="1050" dirty="0"/>
          </a:p>
        </p:txBody>
      </p:sp>
      <p:sp>
        <p:nvSpPr>
          <p:cNvPr id="1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532888"/>
            <a:ext cx="2624328" cy="96012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088" y="2715768"/>
            <a:ext cx="329184" cy="329184"/>
          </a:xfrm>
          <a:prstGeom prst="ellipse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704088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24712" y="2715768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 session works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" y="3099816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Handshake, subscribe, snapshot, stream</a:t>
            </a:r>
            <a:endParaRPr lang="en-US" sz="1050" dirty="0"/>
          </a:p>
        </p:txBody>
      </p:sp>
      <p:sp>
        <p:nvSpPr>
          <p:cNvPr id="2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64992" y="2532888"/>
            <a:ext cx="2624328" cy="96012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5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47872" y="2715768"/>
            <a:ext cx="329184" cy="329184"/>
          </a:xfrm>
          <a:prstGeom prst="ellipse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3547872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68496" y="2715768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things go wrong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47872" y="3099816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codes, silent disconnects, and gaps</a:t>
            </a:r>
            <a:endParaRPr lang="en-US" sz="1050" dirty="0"/>
          </a:p>
        </p:txBody>
      </p:sp>
      <p:sp>
        <p:nvSpPr>
          <p:cNvPr id="2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8776" y="2532888"/>
            <a:ext cx="2624328" cy="96012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0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1656" y="2715768"/>
            <a:ext cx="329184" cy="329184"/>
          </a:xfrm>
          <a:prstGeom prst="ellipse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6391656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12280" y="2715768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replay what you missed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91656" y="3099816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numbers and the replay window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1208" y="42062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7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few slides go deeper: full configuration, the complete channel matrix, and every error code.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conceptual background illustration"/>
          <p:cNvPicPr>
            <a:picLocks noChangeAspect="1"/>
          </p:cNvPicPr>
          <p:nvPr/>
        </p:nvPicPr>
        <p:blipFill>
          <a:blip r:embed="rId3"/>
          <a:srcRect l="598" r="59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darkening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81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1"/>
          <p:cNvSpPr/>
          <p:nvPr/>
        </p:nvSpPr>
        <p:spPr>
          <a:xfrm>
            <a:off x="640080" y="15727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</a:t>
            </a:r>
            <a:endParaRPr lang="en-US" sz="13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057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 gateway exists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58368" y="3017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CALF was built to solve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First, what is market data?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an exchange knows, published as it happens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80160"/>
            <a:ext cx="3931920" cy="320040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the matching engine</a:t>
            </a:r>
            <a:endParaRPr lang="en-US" sz="1400" dirty="0"/>
          </a:p>
        </p:txBody>
      </p:sp>
      <p:sp>
        <p:nvSpPr>
          <p:cNvPr id="6" name="bullet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8" y="1993392"/>
            <a:ext cx="128016" cy="128016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" name="Text 5"/>
          <p:cNvSpPr/>
          <p:nvPr/>
        </p:nvSpPr>
        <p:spPr>
          <a:xfrm>
            <a:off x="1042416" y="19385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Orders arrive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42416" y="21762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and sellers post prices</a:t>
            </a:r>
            <a:endParaRPr lang="en-US" sz="1050" dirty="0"/>
          </a:p>
        </p:txBody>
      </p:sp>
      <p:sp>
        <p:nvSpPr>
          <p:cNvPr id="9" name="bullet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8" y="2596896"/>
            <a:ext cx="128016" cy="128016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1042416" y="25420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book updates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42416" y="27797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bid and ask move</a:t>
            </a:r>
            <a:endParaRPr lang="en-US" sz="1050" dirty="0"/>
          </a:p>
        </p:txBody>
      </p:sp>
      <p:sp>
        <p:nvSpPr>
          <p:cNvPr id="12" name="bullet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8" y="3200400"/>
            <a:ext cx="128016" cy="128016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042416" y="31455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Trades happen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42416" y="33832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buy and a sell match</a:t>
            </a:r>
            <a:endParaRPr lang="en-US" sz="1050" dirty="0"/>
          </a:p>
        </p:txBody>
      </p:sp>
      <p:sp>
        <p:nvSpPr>
          <p:cNvPr id="15" name="bullet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8" y="3803904"/>
            <a:ext cx="128016" cy="128016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1042416" y="37490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session shifts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42416" y="39867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pre-open, auction, continuous, closed</a:t>
            </a:r>
            <a:endParaRPr lang="en-US" sz="1050" dirty="0"/>
          </a:p>
        </p:txBody>
      </p:sp>
      <p:sp>
        <p:nvSpPr>
          <p:cNvPr id="18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0872" y="1280160"/>
            <a:ext cx="3931920" cy="3200400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4946904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consumer wants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46904" y="1874520"/>
            <a:ext cx="3419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those events is a fact somebody outside the engine wants: a price board, a trading bot, a recorder, a classroom display.</a:t>
            </a:r>
            <a:endParaRPr lang="en-US" sz="1200" dirty="0"/>
          </a:p>
        </p:txBody>
      </p:sp>
      <p:sp>
        <p:nvSpPr>
          <p:cNvPr id="21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46904" y="2697480"/>
            <a:ext cx="3419856" cy="1051560"/>
          </a:xfrm>
          <a:prstGeom prst="rect">
            <a:avLst/>
          </a:prstGeom>
          <a:solidFill>
            <a:srgbClr val="0B0F11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5074920" y="2788920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AAPL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bid  150.10 x 1200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ask  150.12 x  900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last 150.11 x  300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46904" y="3886200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is simply that stream of facts, delivered to people outside the engine.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· market data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what is a gateway for?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stands between a private engine and the public world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417320"/>
            <a:ext cx="1920240" cy="1371600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pm-engine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93852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orders. Publishes raw events on an internal socket only.</a:t>
            </a:r>
            <a:endParaRPr lang="en-US" sz="1050" dirty="0"/>
          </a:p>
        </p:txBody>
      </p:sp>
      <p:sp>
        <p:nvSpPr>
          <p:cNvPr id="7" name="pi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57600"/>
            <a:ext cx="1005840" cy="274320"/>
          </a:xfrm>
          <a:prstGeom prst="roundRect">
            <a:avLst>
              <a:gd name="adj" fmla="val 40000"/>
            </a:avLst>
          </a:prstGeom>
          <a:solidFill>
            <a:srgbClr val="2A1E1E"/>
          </a:solidFill>
          <a:ln w="12700">
            <a:solidFill>
              <a:srgbClr val="6B3F3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658368" y="3657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68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</a:t>
            </a:r>
            <a:endParaRPr lang="en-US" sz="900" dirty="0"/>
          </a:p>
        </p:txBody>
      </p:sp>
      <p:sp>
        <p:nvSpPr>
          <p:cNvPr id="9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2032" y="1993392"/>
            <a:ext cx="502920" cy="219456"/>
          </a:xfrm>
          <a:prstGeom prst="rightArrow">
            <a:avLst/>
          </a:prstGeom>
          <a:solidFill>
            <a:srgbClr val="1E8F5B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54680" y="1280160"/>
            <a:ext cx="2834640" cy="274320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1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54680" y="1280160"/>
            <a:ext cx="283464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3310128" y="1481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pm-md-gwy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10128" y="17739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CALF gateway</a:t>
            </a:r>
            <a:endParaRPr lang="en-US" sz="1050" dirty="0"/>
          </a:p>
        </p:txBody>
      </p:sp>
      <p:sp>
        <p:nvSpPr>
          <p:cNvPr id="14" name="bullet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28416" y="2176272"/>
            <a:ext cx="100584" cy="100584"/>
          </a:xfrm>
          <a:prstGeom prst="ellipse">
            <a:avLst/>
          </a:prstGeom>
          <a:solidFill>
            <a:srgbClr val="1E8F5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3529584" y="21031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engine events into text lines</a:t>
            </a:r>
            <a:endParaRPr lang="en-US" sz="1050" dirty="0"/>
          </a:p>
        </p:txBody>
      </p:sp>
      <p:sp>
        <p:nvSpPr>
          <p:cNvPr id="16" name="bullet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28416" y="2542032"/>
            <a:ext cx="100584" cy="100584"/>
          </a:xfrm>
          <a:prstGeom prst="ellipse">
            <a:avLst/>
          </a:prstGeom>
          <a:solidFill>
            <a:srgbClr val="1E8F5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3529584" y="24688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every message per stream</a:t>
            </a:r>
            <a:endParaRPr lang="en-US" sz="1050" dirty="0"/>
          </a:p>
        </p:txBody>
      </p:sp>
      <p:sp>
        <p:nvSpPr>
          <p:cNvPr id="18" name="bullet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28416" y="2907792"/>
            <a:ext cx="100584" cy="100584"/>
          </a:xfrm>
          <a:prstGeom prst="ellipse">
            <a:avLst/>
          </a:prstGeom>
          <a:solidFill>
            <a:srgbClr val="1E8F5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3529584" y="28346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short replay buffer</a:t>
            </a:r>
            <a:endParaRPr lang="en-US" sz="1050" dirty="0"/>
          </a:p>
        </p:txBody>
      </p:sp>
      <p:sp>
        <p:nvSpPr>
          <p:cNvPr id="20" name="bullet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28416" y="3273552"/>
            <a:ext cx="100584" cy="100584"/>
          </a:xfrm>
          <a:prstGeom prst="ellipse">
            <a:avLst/>
          </a:prstGeom>
          <a:solidFill>
            <a:srgbClr val="1E8F5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3529584" y="32004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out to each connected client</a:t>
            </a:r>
            <a:endParaRPr lang="en-US" sz="1050" dirty="0"/>
          </a:p>
        </p:txBody>
      </p:sp>
      <p:sp>
        <p:nvSpPr>
          <p:cNvPr id="22" name="bullet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28416" y="3639312"/>
            <a:ext cx="100584" cy="100584"/>
          </a:xfrm>
          <a:prstGeom prst="ellipse">
            <a:avLst/>
          </a:prstGeom>
          <a:solidFill>
            <a:srgbClr val="1E8F5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3529584" y="35661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engine from slow clients</a:t>
            </a:r>
            <a:endParaRPr lang="en-US" sz="1050" dirty="0"/>
          </a:p>
        </p:txBody>
      </p:sp>
      <p:sp>
        <p:nvSpPr>
          <p:cNvPr id="24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993392"/>
            <a:ext cx="502920" cy="219456"/>
          </a:xfrm>
          <a:prstGeom prst="rightArrow">
            <a:avLst/>
          </a:prstGeom>
          <a:solidFill>
            <a:srgbClr val="1E8F5B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0840" y="1280160"/>
            <a:ext cx="1920240" cy="822960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6876288" y="14264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Bots and algos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76288" y="17007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C, anything</a:t>
            </a:r>
            <a:endParaRPr lang="en-US" sz="1000" dirty="0"/>
          </a:p>
        </p:txBody>
      </p:sp>
      <p:sp>
        <p:nvSpPr>
          <p:cNvPr id="28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0840" y="2249424"/>
            <a:ext cx="1920240" cy="822960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6876288" y="2395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Recorders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876288" y="2670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database</a:t>
            </a:r>
            <a:endParaRPr lang="en-US" sz="1000" dirty="0"/>
          </a:p>
        </p:txBody>
      </p:sp>
      <p:sp>
        <p:nvSpPr>
          <p:cNvPr id="31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0840" y="3218688"/>
            <a:ext cx="1920240" cy="822960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6876288" y="3364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Displays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876288" y="36393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boards, DOM</a:t>
            </a:r>
            <a:endParaRPr lang="en-US" sz="1000" dirty="0"/>
          </a:p>
        </p:txBody>
      </p:sp>
      <p:sp>
        <p:nvSpPr>
          <p:cNvPr id="34" name="pi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0840" y="4279392"/>
            <a:ext cx="1920240" cy="292608"/>
          </a:xfrm>
          <a:prstGeom prst="roundRect">
            <a:avLst>
              <a:gd name="adj" fmla="val 37500"/>
            </a:avLst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6720840" y="42793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— plain TCP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1208" y="42519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gateway, an external client would have to speak the engine's private, binary, in-process language. The gateway is the translator and the bouncer.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· the gateway's job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 is one of four protocols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EduMatcher separates connectivity by purpose — CALF is the market data one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325880"/>
            <a:ext cx="8101584" cy="694944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ALF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74520" y="132588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entry, human readable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0" y="132588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782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pm-alf-console · pm-alf-gwy</a:t>
            </a:r>
            <a:endParaRPr lang="en-US" sz="1050" dirty="0"/>
          </a:p>
        </p:txBody>
      </p:sp>
      <p:sp>
        <p:nvSpPr>
          <p:cNvPr id="8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148840"/>
            <a:ext cx="8101584" cy="694944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BALF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74520" y="214884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entry, binary and fast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0" y="214884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782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pm-balf-gwy</a:t>
            </a:r>
            <a:endParaRPr lang="en-US" sz="1050" dirty="0"/>
          </a:p>
        </p:txBody>
      </p:sp>
      <p:sp>
        <p:nvSpPr>
          <p:cNvPr id="12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971800"/>
            <a:ext cx="8101584" cy="694944"/>
          </a:xfrm>
          <a:prstGeom prst="rect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777240" y="2971800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74520" y="297180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out to the world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297180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pm-md-gwy</a:t>
            </a:r>
            <a:endParaRPr lang="en-US" sz="1050" dirty="0"/>
          </a:p>
        </p:txBody>
      </p:sp>
      <p:sp>
        <p:nvSpPr>
          <p:cNvPr id="1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794760"/>
            <a:ext cx="8101584" cy="694944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777240" y="3794760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RALF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874520" y="379476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Post-trade, clearing and audit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0" y="379476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782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pm-ralf-gwy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1208" y="45262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707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are line-based or framed protocols over TCP. Learning one makes the next three familiar.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· protocol family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purpose of the protocol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design decisions explain almost everything about CALF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325880"/>
            <a:ext cx="3941064" cy="148132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758952" y="1527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Text, not binary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58952" y="187452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MSGTYPE|KEY=VALUE and a newline. You can read the wire with your own eyes and debug it with nc.</a:t>
            </a:r>
            <a:endParaRPr lang="en-US" sz="1150" dirty="0"/>
          </a:p>
        </p:txBody>
      </p:sp>
      <p:sp>
        <p:nvSpPr>
          <p:cNvPr id="7" name="pi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" y="2404872"/>
            <a:ext cx="1645920" cy="256032"/>
          </a:xfrm>
          <a:prstGeom prst="roundRect">
            <a:avLst>
              <a:gd name="adj" fmla="val 42857"/>
            </a:avLst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758952" y="2404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schema compiler</a:t>
            </a:r>
            <a:endParaRPr lang="en-US" sz="900" dirty="0"/>
          </a:p>
        </p:txBody>
      </p:sp>
      <p:sp>
        <p:nvSpPr>
          <p:cNvPr id="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1325880"/>
            <a:ext cx="3941064" cy="148132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4919472" y="1527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dependencies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19472" y="187452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socket and a newline split. No ZeroMQ binding, no code generation, no client library required.</a:t>
            </a:r>
            <a:endParaRPr lang="en-US" sz="1150" dirty="0"/>
          </a:p>
        </p:txBody>
      </p:sp>
      <p:sp>
        <p:nvSpPr>
          <p:cNvPr id="12" name="pi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9472" y="2404872"/>
            <a:ext cx="1645920" cy="256032"/>
          </a:xfrm>
          <a:prstGeom prst="roundRect">
            <a:avLst>
              <a:gd name="adj" fmla="val 42857"/>
            </a:avLst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4919472" y="2404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any language</a:t>
            </a:r>
            <a:endParaRPr lang="en-US" sz="900" dirty="0"/>
          </a:p>
        </p:txBody>
      </p:sp>
      <p:sp>
        <p:nvSpPr>
          <p:cNvPr id="1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990088"/>
            <a:ext cx="3941064" cy="148132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758952" y="3191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Numbered streams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8952" y="353872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carries a sequence number for its channel and symbol, so a hole is impossible to miss.</a:t>
            </a:r>
            <a:endParaRPr lang="en-US" sz="1150" dirty="0"/>
          </a:p>
        </p:txBody>
      </p:sp>
      <p:sp>
        <p:nvSpPr>
          <p:cNvPr id="17" name="pi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" y="4069080"/>
            <a:ext cx="1645920" cy="256032"/>
          </a:xfrm>
          <a:prstGeom prst="roundRect">
            <a:avLst>
              <a:gd name="adj" fmla="val 42857"/>
            </a:avLst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758952" y="4069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provable completeness</a:t>
            </a:r>
            <a:endParaRPr lang="en-US" sz="900" dirty="0"/>
          </a:p>
        </p:txBody>
      </p:sp>
      <p:sp>
        <p:nvSpPr>
          <p:cNvPr id="1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2990088"/>
            <a:ext cx="3941064" cy="148132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4919472" y="3191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Recoverable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19472" y="353872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server-side buffer lets a reconnecting client ask for exactly what it missed.</a:t>
            </a:r>
            <a:endParaRPr lang="en-US" sz="1150" dirty="0"/>
          </a:p>
        </p:txBody>
      </p:sp>
      <p:sp>
        <p:nvSpPr>
          <p:cNvPr id="22" name="pi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9472" y="4069080"/>
            <a:ext cx="1645920" cy="256032"/>
          </a:xfrm>
          <a:prstGeom prst="roundRect">
            <a:avLst>
              <a:gd name="adj" fmla="val 42857"/>
            </a:avLst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4919472" y="4069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full restart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· design goals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feed at a glance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open a connection, on one slide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98448"/>
            <a:ext cx="2624328" cy="65836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704088" y="1380744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04088" y="1591056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pm-md-gwy</a:t>
            </a:r>
            <a:endParaRPr lang="en-US" sz="1300" dirty="0"/>
          </a:p>
        </p:txBody>
      </p:sp>
      <p:sp>
        <p:nvSpPr>
          <p:cNvPr id="7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64992" y="1298448"/>
            <a:ext cx="2624328" cy="65836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3547872" y="1380744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547872" y="1591056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 TCP</a:t>
            </a:r>
            <a:endParaRPr lang="en-US" sz="1300" dirty="0"/>
          </a:p>
        </p:txBody>
      </p:sp>
      <p:sp>
        <p:nvSpPr>
          <p:cNvPr id="10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8776" y="1298448"/>
            <a:ext cx="2624328" cy="65836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6391656" y="1380744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91656" y="1591056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5570</a:t>
            </a:r>
            <a:endParaRPr lang="en-US" sz="1300" dirty="0"/>
          </a:p>
        </p:txBody>
      </p:sp>
      <p:sp>
        <p:nvSpPr>
          <p:cNvPr id="13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103120"/>
            <a:ext cx="2624328" cy="65836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704088" y="2185416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token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4088" y="239572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CALF1</a:t>
            </a:r>
            <a:endParaRPr lang="en-US" sz="1300" dirty="0"/>
          </a:p>
        </p:txBody>
      </p:sp>
      <p:sp>
        <p:nvSpPr>
          <p:cNvPr id="1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64992" y="2103120"/>
            <a:ext cx="2624328" cy="65836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3547872" y="2185416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47872" y="239572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UTF-8 text</a:t>
            </a:r>
            <a:endParaRPr lang="en-US" sz="1300" dirty="0"/>
          </a:p>
        </p:txBody>
      </p:sp>
      <p:sp>
        <p:nvSpPr>
          <p:cNvPr id="1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8776" y="2103120"/>
            <a:ext cx="2624328" cy="65836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6391656" y="2185416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ending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91656" y="239572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endParaRPr lang="en-US" sz="1300" dirty="0"/>
          </a:p>
        </p:txBody>
      </p:sp>
      <p:sp>
        <p:nvSpPr>
          <p:cNvPr id="22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907792"/>
            <a:ext cx="2624328" cy="65836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704088" y="2990088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line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4088" y="3200400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4096 bytes</a:t>
            </a:r>
            <a:endParaRPr lang="en-US" sz="1300" dirty="0"/>
          </a:p>
        </p:txBody>
      </p:sp>
      <p:sp>
        <p:nvSpPr>
          <p:cNvPr id="25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64992" y="2907792"/>
            <a:ext cx="2624328" cy="65836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3547872" y="2990088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47872" y="3200400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s when quiet</a:t>
            </a:r>
            <a:endParaRPr lang="en-US" sz="1300" dirty="0"/>
          </a:p>
        </p:txBody>
      </p:sp>
      <p:sp>
        <p:nvSpPr>
          <p:cNvPr id="28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8776" y="2907792"/>
            <a:ext cx="2624328" cy="65836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6391656" y="2990088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timeout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91656" y="3200400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s</a:t>
            </a:r>
            <a:endParaRPr lang="en-US" sz="1300" dirty="0"/>
          </a:p>
        </p:txBody>
      </p:sp>
      <p:sp>
        <p:nvSpPr>
          <p:cNvPr id="31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712464"/>
            <a:ext cx="2624328" cy="65836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704088" y="3794760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window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04088" y="400507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s</a:t>
            </a:r>
            <a:endParaRPr lang="en-US" sz="1300" dirty="0"/>
          </a:p>
        </p:txBody>
      </p:sp>
      <p:sp>
        <p:nvSpPr>
          <p:cNvPr id="3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64992" y="3712464"/>
            <a:ext cx="2624328" cy="65836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3547872" y="3794760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547872" y="400507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8776" y="3712464"/>
            <a:ext cx="2624328" cy="65836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8" name="Text 36"/>
          <p:cNvSpPr/>
          <p:nvPr/>
        </p:nvSpPr>
        <p:spPr>
          <a:xfrm>
            <a:off x="6391656" y="3794760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91656" y="400507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ISO-8601 UTC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1208" y="45262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707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shown. Every one of them is configurable — see the reference at the end.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· quick facts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conceptual background illustration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darkening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81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1"/>
          <p:cNvSpPr/>
          <p:nvPr/>
        </p:nvSpPr>
        <p:spPr>
          <a:xfrm>
            <a:off x="640080" y="15727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</a:t>
            </a:r>
            <a:endParaRPr lang="en-US" sz="13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057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the wire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58368" y="3017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format, one envelope, seven channels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 CALF 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on the wire looks exactly like this</a:t>
            </a:r>
            <a:endParaRPr lang="en-US" sz="1300" dirty="0"/>
          </a:p>
        </p:txBody>
      </p:sp>
      <p:sp>
        <p:nvSpPr>
          <p:cNvPr id="4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325880"/>
            <a:ext cx="8101584" cy="502920"/>
          </a:xfrm>
          <a:prstGeom prst="rect">
            <a:avLst/>
          </a:prstGeom>
          <a:solidFill>
            <a:srgbClr val="0B0F11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649224" y="1417320"/>
            <a:ext cx="7845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MD|CH=TOP|SYM=AAPL|SEQ=2|TS=2026-06-30T09:30:00.500Z|BID=150.11|BIDSZ=1400</a:t>
            </a:r>
            <a:endParaRPr lang="en-US" sz="1200" dirty="0"/>
          </a:p>
        </p:txBody>
      </p:sp>
      <p:sp>
        <p:nvSpPr>
          <p:cNvPr id="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057400"/>
            <a:ext cx="2560320" cy="137160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7" name="Text 5"/>
          <p:cNvSpPr/>
          <p:nvPr/>
        </p:nvSpPr>
        <p:spPr>
          <a:xfrm>
            <a:off x="722376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MSGTYPE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2376" y="257860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line this is — MD, TRADE, SNAP, ERR 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2376" y="31272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6F7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before the first pipe</a:t>
            </a:r>
            <a:endParaRPr lang="en-US" sz="950" dirty="0"/>
          </a:p>
        </p:txBody>
      </p:sp>
      <p:sp>
        <p:nvSpPr>
          <p:cNvPr id="10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057400"/>
            <a:ext cx="2560320" cy="137160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3493008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KEY=VALUE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93008" y="257860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is named. Order is not significant.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93008" y="31272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6F7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by |</a:t>
            </a:r>
            <a:endParaRPr lang="en-US" sz="950" dirty="0"/>
          </a:p>
        </p:txBody>
      </p:sp>
      <p:sp>
        <p:nvSpPr>
          <p:cNvPr id="1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2057400"/>
            <a:ext cx="2560320" cy="137160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626364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Newline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257860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 ends where the line ends.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31272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6F7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\n terminates the frame</a:t>
            </a:r>
            <a:endParaRPr lang="en-US" sz="950" dirty="0"/>
          </a:p>
        </p:txBody>
      </p:sp>
      <p:sp>
        <p:nvSpPr>
          <p:cNvPr id="18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639312"/>
            <a:ext cx="8101584" cy="914400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758952" y="37856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B3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one rule beginners always break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58952" y="4059936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is a byte stream, not a message stream. One recv() is not one line — it can be half a line, or three. Always buffer what arrives and split on newlines.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format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envelope on every data 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fields come first, always, on every market-data message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98448"/>
            <a:ext cx="5120640" cy="64008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713232" y="12984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81328" y="129844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78608" y="12984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seven feeds this line belongs to</a:t>
            </a:r>
            <a:endParaRPr lang="en-US" sz="1050" dirty="0"/>
          </a:p>
        </p:txBody>
      </p:sp>
      <p:sp>
        <p:nvSpPr>
          <p:cNvPr id="8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048256"/>
            <a:ext cx="5120640" cy="64008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713232" y="204825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81328" y="2048256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Symbol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78608" y="204825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instrument, the index id, or * for market-wide</a:t>
            </a:r>
            <a:endParaRPr lang="en-US" sz="1050" dirty="0"/>
          </a:p>
        </p:txBody>
      </p:sp>
      <p:sp>
        <p:nvSpPr>
          <p:cNvPr id="12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798064"/>
            <a:ext cx="5120640" cy="64008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713232" y="279806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B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81328" y="2798064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78608" y="279806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1, 2, 3 … per channel and symbol. Your gap detector</a:t>
            </a:r>
            <a:endParaRPr lang="en-US" sz="1050" dirty="0"/>
          </a:p>
        </p:txBody>
      </p:sp>
      <p:sp>
        <p:nvSpPr>
          <p:cNvPr id="1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547872"/>
            <a:ext cx="5120640" cy="64008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713232" y="354787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81328" y="3547872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Timestamp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78608" y="35478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time, ISO-8601 UTC with milliseconds</a:t>
            </a:r>
            <a:endParaRPr lang="en-US" sz="1050" dirty="0"/>
          </a:p>
        </p:txBody>
      </p:sp>
      <p:sp>
        <p:nvSpPr>
          <p:cNvPr id="20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0" y="1298448"/>
            <a:ext cx="2770632" cy="2834640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053328" y="1481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stream is a pair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53328" y="181051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CALF does not have one sequence counter. It has one per (CH, SYM) pair — each is an independent stream.</a:t>
            </a:r>
            <a:endParaRPr lang="en-US" sz="1100" dirty="0"/>
          </a:p>
        </p:txBody>
      </p:sp>
      <p:sp>
        <p:nvSpPr>
          <p:cNvPr id="23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3328" y="2606040"/>
            <a:ext cx="2377440" cy="914400"/>
          </a:xfrm>
          <a:prstGeom prst="rect">
            <a:avLst/>
          </a:prstGeom>
          <a:solidFill>
            <a:srgbClr val="0B0F11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6181344" y="2697480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(TOP, AAPL)   seq 1,2,3…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(TOP, MSFT)   seq 1,2,3…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(TRADE, AAPL) seq 1,2,3…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53328" y="36393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them separately and recovery becomes simple.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format · envelope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data is available: seven channels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channel is one view of market activity — subscribe to only what you need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325880"/>
            <a:ext cx="1956816" cy="1170432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325880"/>
            <a:ext cx="1956816" cy="45720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704088" y="1490472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04088" y="1856232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bid, ask and last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4088" y="224028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6F7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msg: MD</a:t>
            </a:r>
            <a:endParaRPr lang="en-US" sz="950" dirty="0"/>
          </a:p>
        </p:txBody>
      </p:sp>
      <p:sp>
        <p:nvSpPr>
          <p:cNvPr id="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79192" y="1325880"/>
            <a:ext cx="1956816" cy="1170432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79192" y="1325880"/>
            <a:ext cx="1956816" cy="45720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2862072" y="1490472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62072" y="1856232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executed print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62072" y="224028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6F7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msg: TRADE</a:t>
            </a:r>
            <a:endParaRPr lang="en-US" sz="950" dirty="0"/>
          </a:p>
        </p:txBody>
      </p:sp>
      <p:sp>
        <p:nvSpPr>
          <p:cNvPr id="1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37176" y="1325880"/>
            <a:ext cx="1956816" cy="1170432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37176" y="1325880"/>
            <a:ext cx="1956816" cy="45720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5020056" y="1490472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0056" y="1856232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order book ladder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0056" y="224028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6F7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msg: DEPTH</a:t>
            </a:r>
            <a:endParaRPr lang="en-US" sz="950" dirty="0"/>
          </a:p>
        </p:txBody>
      </p:sp>
      <p:sp>
        <p:nvSpPr>
          <p:cNvPr id="1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95160" y="1325880"/>
            <a:ext cx="1956816" cy="1170432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95160" y="1325880"/>
            <a:ext cx="1956816" cy="45720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7178040" y="1490472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78040" y="1856232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phase and halts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78040" y="224028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6F7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msg: STATE</a:t>
            </a:r>
            <a:endParaRPr lang="en-US" sz="950" dirty="0"/>
          </a:p>
        </p:txBody>
      </p:sp>
      <p:sp>
        <p:nvSpPr>
          <p:cNvPr id="2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770632"/>
            <a:ext cx="1956816" cy="1170432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5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770632"/>
            <a:ext cx="1956816" cy="45720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704088" y="2935224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04088" y="3300984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level updates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" y="3685032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6F7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msg: IDX</a:t>
            </a:r>
            <a:endParaRPr lang="en-US" sz="950" dirty="0"/>
          </a:p>
        </p:txBody>
      </p:sp>
      <p:sp>
        <p:nvSpPr>
          <p:cNvPr id="2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79192" y="2770632"/>
            <a:ext cx="1956816" cy="1170432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0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79192" y="2770632"/>
            <a:ext cx="1956816" cy="45720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2862072" y="2935224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AUCTION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2862072" y="3300984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Uncross results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862072" y="3685032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6F7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msg: AUCTION</a:t>
            </a:r>
            <a:endParaRPr lang="en-US" sz="950" dirty="0"/>
          </a:p>
        </p:txBody>
      </p:sp>
      <p:sp>
        <p:nvSpPr>
          <p:cNvPr id="3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37176" y="2770632"/>
            <a:ext cx="1956816" cy="1170432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5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37176" y="2770632"/>
            <a:ext cx="1956816" cy="45720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5020056" y="2935224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5020056" y="3300984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Circuit-breaker detail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0056" y="3685032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6F7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msg: CB</a:t>
            </a:r>
            <a:endParaRPr lang="en-US" sz="950" dirty="0"/>
          </a:p>
        </p:txBody>
      </p:sp>
      <p:sp>
        <p:nvSpPr>
          <p:cNvPr id="3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95160" y="2770632"/>
            <a:ext cx="1956816" cy="1170432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0" name="Text 38"/>
          <p:cNvSpPr/>
          <p:nvPr/>
        </p:nvSpPr>
        <p:spPr>
          <a:xfrm>
            <a:off x="717804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by what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178040" y="3127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are building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178040" y="3383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price board needs TOP. A tape needs TRADE. A ladder needs DEPTH.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channel overview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— the price everyone quotes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bid, best ask, last trade — the smallest useful view of a market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98448"/>
            <a:ext cx="3749040" cy="310896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CH=TOP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328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snapshot gives you the full picture. After that each MD line carries only the fields that changed — merge it into what you already hold.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on subscribe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50592" y="28620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SYM=* allowed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50592" y="33192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50592" y="37764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 BIDSZ ASK ASKSZ LAST LASTSZ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422452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for: price widgets, algos, watchlists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07992" y="1298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the wire</a:t>
            </a:r>
            <a:endParaRPr lang="en-US" sz="1200" dirty="0"/>
          </a:p>
        </p:txBody>
      </p:sp>
      <p:sp>
        <p:nvSpPr>
          <p:cNvPr id="15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7992" y="1572768"/>
            <a:ext cx="4114800" cy="1234440"/>
          </a:xfrm>
          <a:prstGeom prst="rect">
            <a:avLst/>
          </a:prstGeom>
          <a:solidFill>
            <a:srgbClr val="0B0F11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4636008" y="1664208"/>
            <a:ext cx="3858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SNAP|CH=TOP|SYM=AAPL|SEQ=1|BID=150.10|BIDSZ=1200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|ASK=150.12|ASKSZ=900|LAST=150.11|LASTSZ=300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  |CH=TOP|SYM=AAPL|SEQ=2|BID=150.11|BIDSZ=1400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  |CH=TOP|SYM=AAPL|SEQ=3|ASK=150.13|ASKSZ=700</a:t>
            </a:r>
            <a:endParaRPr lang="en-US" sz="900" dirty="0"/>
          </a:p>
        </p:txBody>
      </p:sp>
      <p:sp>
        <p:nvSpPr>
          <p:cNvPr id="17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7992" y="2898648"/>
            <a:ext cx="4114800" cy="1417320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4709160" y="3026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your client displays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09160" y="33558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09160" y="355701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150.11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971032" y="33558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71032" y="355701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68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150.13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32904" y="33558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232904" y="355701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150.12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709160" y="40142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from SNAP + 2 MD lines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channel CH=TOP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TRADE — the tape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executed trade. No snapshot: the tape starts when you do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98448"/>
            <a:ext cx="3749040" cy="310896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CH=TRADE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328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quantity and which side was the aggressor. Because a past print has no current state, there is nothing to snapshot — you receive trades from the moment you subscribe.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on subscribe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50592" y="28620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2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SYM=* allowed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50592" y="33192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50592" y="37764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 QTY SIDE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422452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for: time-and-sales, VWAP, OHLCV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07992" y="1298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the wire</a:t>
            </a:r>
            <a:endParaRPr lang="en-US" sz="1200" dirty="0"/>
          </a:p>
        </p:txBody>
      </p:sp>
      <p:sp>
        <p:nvSpPr>
          <p:cNvPr id="15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7992" y="1572768"/>
            <a:ext cx="4114800" cy="1051560"/>
          </a:xfrm>
          <a:prstGeom prst="rect">
            <a:avLst/>
          </a:prstGeom>
          <a:solidFill>
            <a:srgbClr val="0B0F11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4636008" y="1664208"/>
            <a:ext cx="3858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TRADE|CH=TRADE|SYM=AAPL|SEQ=44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|TS=2026-06-30T09:30:01.100Z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|PX=150.12|QTY=200|SIDE=BUY</a:t>
            </a:r>
            <a:endParaRPr lang="en-US" sz="900" dirty="0"/>
          </a:p>
        </p:txBody>
      </p:sp>
      <p:sp>
        <p:nvSpPr>
          <p:cNvPr id="17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7992" y="2715768"/>
            <a:ext cx="4114800" cy="1600200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4709160" y="2843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and sales</a:t>
            </a:r>
            <a:endParaRPr lang="en-US" sz="1150" dirty="0"/>
          </a:p>
        </p:txBody>
      </p:sp>
      <p:sp>
        <p:nvSpPr>
          <p:cNvPr id="19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172968"/>
            <a:ext cx="3712464" cy="274320"/>
          </a:xfrm>
          <a:prstGeom prst="rect">
            <a:avLst/>
          </a:prstGeom>
          <a:solidFill>
            <a:srgbClr val="222C3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4800600" y="31729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09:30:01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31729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150.12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20840" y="31729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543800" y="31729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</a:t>
            </a:r>
            <a:endParaRPr lang="en-US" sz="1000" dirty="0"/>
          </a:p>
        </p:txBody>
      </p:sp>
      <p:sp>
        <p:nvSpPr>
          <p:cNvPr id="24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502152"/>
            <a:ext cx="3712464" cy="274320"/>
          </a:xfrm>
          <a:prstGeom prst="rect">
            <a:avLst/>
          </a:prstGeom>
          <a:solidFill>
            <a:srgbClr val="1E262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4800600" y="3502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09:30:03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60720" y="3502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150.11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20840" y="3502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43800" y="3502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</a:t>
            </a:r>
            <a:endParaRPr lang="en-US" sz="1000" dirty="0"/>
          </a:p>
        </p:txBody>
      </p:sp>
      <p:sp>
        <p:nvSpPr>
          <p:cNvPr id="29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831336"/>
            <a:ext cx="3712464" cy="274320"/>
          </a:xfrm>
          <a:prstGeom prst="rect">
            <a:avLst/>
          </a:prstGeom>
          <a:solidFill>
            <a:srgbClr val="222C3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4800600" y="3831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09:30:04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60720" y="3831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150.12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20840" y="3831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43800" y="3831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channel CH=TRADE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DEPTH — the order book ladder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2: the top N price levels per side, aggregated by price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98448"/>
            <a:ext cx="3749040" cy="310896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CH=DEPTH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328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carries the complete current ladder for both sides that hold liquidity — not a diff. Replace your ladder on every line, never merge it.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on subscribe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50592" y="28620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SYM=* allowed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50592" y="33192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2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50592" y="37764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LEVELS BIDS ASKS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422452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for: DOM widgets, liquidity analysis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07992" y="1298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the wire</a:t>
            </a:r>
            <a:endParaRPr lang="en-US" sz="1200" dirty="0"/>
          </a:p>
        </p:txBody>
      </p:sp>
      <p:sp>
        <p:nvSpPr>
          <p:cNvPr id="15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7992" y="1572768"/>
            <a:ext cx="4114800" cy="1234440"/>
          </a:xfrm>
          <a:prstGeom prst="rect">
            <a:avLst/>
          </a:prstGeom>
          <a:solidFill>
            <a:srgbClr val="0B0F11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4636008" y="1664208"/>
            <a:ext cx="3858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DEPTH|CH=DEPTH|SYM=AAPL|SEQ=2|LEVELS=10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|BIDS=150.10:1400:4,150.09:800:2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2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|ASKS=150.12:900:2,150.13:600:1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level is PRICE:QTY:ORDERCOUNT</a:t>
            </a:r>
            <a:endParaRPr lang="en-US" sz="900" dirty="0"/>
          </a:p>
        </p:txBody>
      </p:sp>
      <p:sp>
        <p:nvSpPr>
          <p:cNvPr id="17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7992" y="2898648"/>
            <a:ext cx="4114800" cy="1481328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4709160" y="29900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150.13</a:t>
            </a:r>
            <a:endParaRPr lang="en-US" sz="1000" dirty="0"/>
          </a:p>
        </p:txBody>
      </p:sp>
      <p:sp>
        <p:nvSpPr>
          <p:cNvPr id="19" name="depth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13832" y="3031236"/>
            <a:ext cx="932688" cy="173736"/>
          </a:xfrm>
          <a:prstGeom prst="rect">
            <a:avLst/>
          </a:prstGeom>
          <a:solidFill>
            <a:srgbClr val="E268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6492240" y="2990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09160" y="325526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150.12</a:t>
            </a:r>
            <a:endParaRPr lang="en-US" sz="1000" dirty="0"/>
          </a:p>
        </p:txBody>
      </p:sp>
      <p:sp>
        <p:nvSpPr>
          <p:cNvPr id="22" name="depth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13832" y="3296412"/>
            <a:ext cx="1399032" cy="173736"/>
          </a:xfrm>
          <a:prstGeom prst="rect">
            <a:avLst/>
          </a:prstGeom>
          <a:solidFill>
            <a:srgbClr val="E268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6958584" y="32552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9160" y="35204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150.10</a:t>
            </a:r>
            <a:endParaRPr lang="en-US" sz="1000" dirty="0"/>
          </a:p>
        </p:txBody>
      </p:sp>
      <p:sp>
        <p:nvSpPr>
          <p:cNvPr id="25" name="depth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13832" y="3561588"/>
            <a:ext cx="2176272" cy="173736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7735824" y="35204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1400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09160" y="37856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150.09</a:t>
            </a:r>
            <a:endParaRPr lang="en-US" sz="1000" dirty="0"/>
          </a:p>
        </p:txBody>
      </p:sp>
      <p:sp>
        <p:nvSpPr>
          <p:cNvPr id="28" name="depth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13832" y="3826764"/>
            <a:ext cx="1243584" cy="173736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6803136" y="37856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09160" y="40873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above, bids below — sizes drawn to scale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channel CH=DEPTH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— is the market even open?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phases market-wide, plus halt and resume per symbol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98448"/>
            <a:ext cx="3749040" cy="310896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CH=STATE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328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SYM=* you follow the whole session's phase transitions. With a single symbol you learn when that instrument is halted and when it comes back.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on subscribe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50592" y="28620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SYM=* allowed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50592" y="33192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50592" y="37764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PREV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422452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for: gating order flow, phase displays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07992" y="1298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the wire</a:t>
            </a:r>
            <a:endParaRPr lang="en-US" sz="1200" dirty="0"/>
          </a:p>
        </p:txBody>
      </p:sp>
      <p:sp>
        <p:nvSpPr>
          <p:cNvPr id="15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7992" y="1572768"/>
            <a:ext cx="4114800" cy="1051560"/>
          </a:xfrm>
          <a:prstGeom prst="rect">
            <a:avLst/>
          </a:prstGeom>
          <a:solidFill>
            <a:srgbClr val="0B0F11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4636008" y="1664208"/>
            <a:ext cx="3858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 |CH=STATE|SYM=*|SEQ=1|SESSION=PRE_OPEN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STATE|CH=STATE|SYM=*|SEQ=2|SESSION=OPENING_AUCTION|PREV=PRE_OPEN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8B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STATE|CH=STATE|SYM=AAPL|SEQ=1|SESSION=HALTED|PREV=CONTINUOUS</a:t>
            </a:r>
            <a:endParaRPr lang="en-US" sz="850" dirty="0"/>
          </a:p>
        </p:txBody>
      </p:sp>
      <p:sp>
        <p:nvSpPr>
          <p:cNvPr id="17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7992" y="2715768"/>
            <a:ext cx="4114800" cy="1600200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4709160" y="2843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trading day</a:t>
            </a:r>
            <a:endParaRPr lang="en-US" sz="1150" dirty="0"/>
          </a:p>
        </p:txBody>
      </p:sp>
      <p:sp>
        <p:nvSpPr>
          <p:cNvPr id="19" name="session phase chevr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218688"/>
            <a:ext cx="786384" cy="502920"/>
          </a:xfrm>
          <a:prstGeom prst="chevron">
            <a:avLst/>
          </a:prstGeom>
          <a:solidFill>
            <a:srgbClr val="2E3A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4754880" y="32186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PRE_OPEN</a:t>
            </a:r>
            <a:endParaRPr lang="en-US" sz="650" dirty="0"/>
          </a:p>
        </p:txBody>
      </p:sp>
      <p:sp>
        <p:nvSpPr>
          <p:cNvPr id="21" name="session phase chevr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58968" y="3218688"/>
            <a:ext cx="786384" cy="502920"/>
          </a:xfrm>
          <a:prstGeom prst="chevron">
            <a:avLst/>
          </a:prstGeom>
          <a:solidFill>
            <a:srgbClr val="2E3A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5504688" y="32186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OPENING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AUCTION</a:t>
            </a:r>
            <a:endParaRPr lang="en-US" sz="650" dirty="0"/>
          </a:p>
        </p:txBody>
      </p:sp>
      <p:sp>
        <p:nvSpPr>
          <p:cNvPr id="23" name="session phase chevr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8776" y="3218688"/>
            <a:ext cx="786384" cy="502920"/>
          </a:xfrm>
          <a:prstGeom prst="chevron">
            <a:avLst/>
          </a:prstGeom>
          <a:solidFill>
            <a:srgbClr val="1E8F5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6254496" y="32186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</a:t>
            </a:r>
            <a:endParaRPr lang="en-US" sz="650" dirty="0"/>
          </a:p>
        </p:txBody>
      </p:sp>
      <p:sp>
        <p:nvSpPr>
          <p:cNvPr id="25" name="session phase chevr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58584" y="3218688"/>
            <a:ext cx="786384" cy="502920"/>
          </a:xfrm>
          <a:prstGeom prst="chevron">
            <a:avLst/>
          </a:prstGeom>
          <a:solidFill>
            <a:srgbClr val="2E3A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7004304" y="32186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CLOSING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AUCTION</a:t>
            </a:r>
            <a:endParaRPr lang="en-US" sz="650" dirty="0"/>
          </a:p>
        </p:txBody>
      </p:sp>
      <p:sp>
        <p:nvSpPr>
          <p:cNvPr id="27" name="session phase chevr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08392" y="3218688"/>
            <a:ext cx="786384" cy="502920"/>
          </a:xfrm>
          <a:prstGeom prst="chevron">
            <a:avLst/>
          </a:prstGeom>
          <a:solidFill>
            <a:srgbClr val="2E3A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7754112" y="321868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CLOSED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4709160" y="3849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F7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halt interrupts one symbol; the session phase carries on.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channel CH=STATE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 — the market in one number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IDX line every time the composite index is recalculated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98448"/>
            <a:ext cx="3749040" cy="310896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CH=INDEX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328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with an index id rather than a ticker, for example SYM=EDU50. A wildcard is never valid here — an explicit index id is always required.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on subscribe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50592" y="28620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SYM=* allowed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50592" y="33192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2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50592" y="37764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 SESSION OPEN CHG PCTCHG HIGH LOW AGGCAP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422452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for: benchmarks, index dashboards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07992" y="1298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the wire</a:t>
            </a:r>
            <a:endParaRPr lang="en-US" sz="1200" dirty="0"/>
          </a:p>
        </p:txBody>
      </p:sp>
      <p:sp>
        <p:nvSpPr>
          <p:cNvPr id="15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7992" y="1572768"/>
            <a:ext cx="4114800" cy="1051560"/>
          </a:xfrm>
          <a:prstGeom prst="rect">
            <a:avLst/>
          </a:prstGeom>
          <a:solidFill>
            <a:srgbClr val="0B0F11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4636008" y="1664208"/>
            <a:ext cx="3858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IDX|CH=INDEX|SYM=EDU50|SEQ=12|LEVEL=5123.45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|SESSION=CONTINUOUS|OPEN=5100.00|CHG=+23.45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|PCTCHG=+0.46|HIGH=5130.10|LOW=5098.20</a:t>
            </a:r>
            <a:endParaRPr lang="en-US" sz="900" dirty="0"/>
          </a:p>
        </p:txBody>
      </p:sp>
      <p:sp>
        <p:nvSpPr>
          <p:cNvPr id="17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7992" y="2715768"/>
            <a:ext cx="4114800" cy="1600200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4727448" y="2880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A8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EDU50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27448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5 123.45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727448" y="37216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+23.45   +0.46%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59752" y="29169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59752" y="309981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5130.10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59752" y="33284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59752" y="35112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5098.20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59752" y="37398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59752" y="392277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5100.00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channel CH=INDEX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AUCTION — how the open and close print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each time a symbol's auction uncrosses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98448"/>
            <a:ext cx="3749040" cy="310896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CH=AUCTION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328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equilibrium price, the matched quantity, how many trades it generated and any imbalance left behind. Like TRADE, there is no snapshot.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on subscribe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50592" y="28620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2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SYM=* allowed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50592" y="33192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50592" y="37764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EQPX EQQTY TRADES IMBSIDE IMBQTY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422452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for: auction monitors, imbalance panels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07992" y="1298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the wire</a:t>
            </a:r>
            <a:endParaRPr lang="en-US" sz="1200" dirty="0"/>
          </a:p>
        </p:txBody>
      </p:sp>
      <p:sp>
        <p:nvSpPr>
          <p:cNvPr id="15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7992" y="1572768"/>
            <a:ext cx="4114800" cy="1234440"/>
          </a:xfrm>
          <a:prstGeom prst="rect">
            <a:avLst/>
          </a:prstGeom>
          <a:solidFill>
            <a:srgbClr val="0B0F11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4636008" y="1664208"/>
            <a:ext cx="3858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AUCTION|CH=AUCTION|SYM=AAPL|SEQ=1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|EQPX=150.10|EQQTY=48200|TRADES=37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B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|IMBSIDE=BUY|IMBQTY=1400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cross? EQPX and IMBSIDE are omitted, not zero</a:t>
            </a:r>
            <a:endParaRPr lang="en-US" sz="900" dirty="0"/>
          </a:p>
        </p:txBody>
      </p:sp>
      <p:sp>
        <p:nvSpPr>
          <p:cNvPr id="17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7992" y="2898648"/>
            <a:ext cx="4114800" cy="1417320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4709160" y="31546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EQUILIBRIUM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09160" y="33558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150.10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89320" y="31546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89320" y="33558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48 200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69480" y="31546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269480" y="33558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B3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1 400 BUY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09160" y="38587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F7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halt always ends in a re-opening auction, published here with REASON=REOPEN.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channel CH=AUCTION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CB — the detail behind a halt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symbol stopped, at what price, and when it plans to come back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98448"/>
            <a:ext cx="3749040" cy="310896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CH=CB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328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tells you a symbol is halted. CB tells you the breaker level, the trigger and reference price, the scheduled resume time and whether the corridor was widened.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on subscribe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50592" y="28620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SYM=* allowed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50592" y="33192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2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50592" y="37764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LEVEL TRIGGERPX REFPX RESUMEAT SRC …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422452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for: halt panels, resume countdowns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07992" y="1298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the wire</a:t>
            </a:r>
            <a:endParaRPr lang="en-US" sz="1200" dirty="0"/>
          </a:p>
        </p:txBody>
      </p:sp>
      <p:sp>
        <p:nvSpPr>
          <p:cNvPr id="15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7992" y="1572768"/>
            <a:ext cx="4114800" cy="1234440"/>
          </a:xfrm>
          <a:prstGeom prst="rect">
            <a:avLst/>
          </a:prstGeom>
          <a:solidFill>
            <a:srgbClr val="0B0F11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4636008" y="1664208"/>
            <a:ext cx="3858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2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CB|CH=CB|SYM=AAPL|SEQ=2|STATUS=HALTED|LEVEL=L2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|TRIGGERPX=148.20|REFPX=150.10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|RESUMEAT=2026-07-20T10:20:00.000Z|SRC=CB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CB|CH=CB|SYM=AAPL|SEQ=3|STATUS=ACTIVE|SRC=CB</a:t>
            </a:r>
            <a:endParaRPr lang="en-US" sz="850" dirty="0"/>
          </a:p>
        </p:txBody>
      </p:sp>
      <p:sp>
        <p:nvSpPr>
          <p:cNvPr id="17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7992" y="2898648"/>
            <a:ext cx="4114800" cy="1417320"/>
          </a:xfrm>
          <a:prstGeom prst="rect">
            <a:avLst/>
          </a:prstGeom>
          <a:solidFill>
            <a:srgbClr val="2A1E1E"/>
          </a:solidFill>
          <a:ln w="12700">
            <a:solidFill>
              <a:srgbClr val="6B3F3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4709160" y="3044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B3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trap: a halt can be extended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09160" y="335584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indicative price sits outside the corridor when RESUMEAT arrives, the corridor widens (EXP counts up), a fresh call phase starts and RESUMEAT moves. A client that ignores EXP, CORRLO and CORRHI will report the symbol as overdue to reopen.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channel CH=CB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rules that catch everyone out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channels give you a baseline, and where the wildcard works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80160"/>
            <a:ext cx="3977640" cy="310896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749808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I get a baseline snapshot?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79222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arrives the moment you subscribe — it is the SEQ you anchor on.</a:t>
            </a:r>
            <a:endParaRPr lang="en-US" sz="1100" dirty="0"/>
          </a:p>
        </p:txBody>
      </p:sp>
      <p:sp>
        <p:nvSpPr>
          <p:cNvPr id="7" name="status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2286000"/>
            <a:ext cx="1691640" cy="329184"/>
          </a:xfrm>
          <a:prstGeom prst="rect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877824" y="22860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2768" y="228600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</a:t>
            </a:r>
            <a:endParaRPr lang="en-US" sz="950" dirty="0"/>
          </a:p>
        </p:txBody>
      </p:sp>
      <p:sp>
        <p:nvSpPr>
          <p:cNvPr id="10" name="status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78608" y="2286000"/>
            <a:ext cx="1691640" cy="329184"/>
          </a:xfrm>
          <a:prstGeom prst="rect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2706624" y="22860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01568" y="228600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</a:t>
            </a:r>
            <a:endParaRPr lang="en-US" sz="950" dirty="0"/>
          </a:p>
        </p:txBody>
      </p:sp>
      <p:sp>
        <p:nvSpPr>
          <p:cNvPr id="13" name="status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2688336"/>
            <a:ext cx="1691640" cy="329184"/>
          </a:xfrm>
          <a:prstGeom prst="rect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877824" y="26883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572768" y="268833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</a:t>
            </a:r>
            <a:endParaRPr lang="en-US" sz="950" dirty="0"/>
          </a:p>
        </p:txBody>
      </p:sp>
      <p:sp>
        <p:nvSpPr>
          <p:cNvPr id="16" name="status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78608" y="2688336"/>
            <a:ext cx="1691640" cy="329184"/>
          </a:xfrm>
          <a:prstGeom prst="rect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2706624" y="26883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01568" y="268833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</a:t>
            </a:r>
            <a:endParaRPr lang="en-US" sz="950" dirty="0"/>
          </a:p>
        </p:txBody>
      </p:sp>
      <p:sp>
        <p:nvSpPr>
          <p:cNvPr id="19" name="status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3090672"/>
            <a:ext cx="1691640" cy="329184"/>
          </a:xfrm>
          <a:prstGeom prst="rect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877824" y="30906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572768" y="309067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</a:t>
            </a:r>
            <a:endParaRPr lang="en-US" sz="950" dirty="0"/>
          </a:p>
        </p:txBody>
      </p:sp>
      <p:sp>
        <p:nvSpPr>
          <p:cNvPr id="22" name="status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78608" y="3090672"/>
            <a:ext cx="1691640" cy="329184"/>
          </a:xfrm>
          <a:prstGeom prst="rect">
            <a:avLst/>
          </a:prstGeom>
          <a:solidFill>
            <a:srgbClr val="2A1E1E"/>
          </a:solidFill>
          <a:ln w="12700">
            <a:solidFill>
              <a:srgbClr val="6B3F3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2706624" y="30906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01568" y="309067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2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950" dirty="0"/>
          </a:p>
        </p:txBody>
      </p:sp>
      <p:sp>
        <p:nvSpPr>
          <p:cNvPr id="25" name="status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3493008"/>
            <a:ext cx="1691640" cy="329184"/>
          </a:xfrm>
          <a:prstGeom prst="rect">
            <a:avLst/>
          </a:prstGeom>
          <a:solidFill>
            <a:srgbClr val="2A1E1E"/>
          </a:solidFill>
          <a:ln w="12700">
            <a:solidFill>
              <a:srgbClr val="6B3F3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877824" y="34930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572768" y="349300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2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950" dirty="0"/>
          </a:p>
        </p:txBody>
      </p:sp>
      <p:sp>
        <p:nvSpPr>
          <p:cNvPr id="28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280160"/>
            <a:ext cx="3977640" cy="310896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4873752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can I use SYM=*?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73752" y="179222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subscription for the whole market — but only on four channels, and never on RESUME.</a:t>
            </a:r>
            <a:endParaRPr lang="en-US" sz="1100" dirty="0"/>
          </a:p>
        </p:txBody>
      </p:sp>
      <p:sp>
        <p:nvSpPr>
          <p:cNvPr id="31" name="status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73752" y="2286000"/>
            <a:ext cx="1691640" cy="329184"/>
          </a:xfrm>
          <a:prstGeom prst="rect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5001768" y="22860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50992" y="2286000"/>
            <a:ext cx="795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SYM=*</a:t>
            </a:r>
            <a:endParaRPr lang="en-US" sz="950" dirty="0"/>
          </a:p>
        </p:txBody>
      </p:sp>
      <p:sp>
        <p:nvSpPr>
          <p:cNvPr id="34" name="status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2552" y="2286000"/>
            <a:ext cx="1691640" cy="329184"/>
          </a:xfrm>
          <a:prstGeom prst="rect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6830568" y="22860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479792" y="2286000"/>
            <a:ext cx="795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SYM=*</a:t>
            </a:r>
            <a:endParaRPr lang="en-US" sz="950" dirty="0"/>
          </a:p>
        </p:txBody>
      </p:sp>
      <p:sp>
        <p:nvSpPr>
          <p:cNvPr id="37" name="status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73752" y="2688336"/>
            <a:ext cx="1691640" cy="329184"/>
          </a:xfrm>
          <a:prstGeom prst="rect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8" name="Text 36"/>
          <p:cNvSpPr/>
          <p:nvPr/>
        </p:nvSpPr>
        <p:spPr>
          <a:xfrm>
            <a:off x="5001768" y="26883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50992" y="2688336"/>
            <a:ext cx="795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SYM=*</a:t>
            </a:r>
            <a:endParaRPr lang="en-US" sz="950" dirty="0"/>
          </a:p>
        </p:txBody>
      </p:sp>
      <p:sp>
        <p:nvSpPr>
          <p:cNvPr id="40" name="status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2552" y="2688336"/>
            <a:ext cx="1691640" cy="329184"/>
          </a:xfrm>
          <a:prstGeom prst="rect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1" name="Text 39"/>
          <p:cNvSpPr/>
          <p:nvPr/>
        </p:nvSpPr>
        <p:spPr>
          <a:xfrm>
            <a:off x="6830568" y="26883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AUCTION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479792" y="2688336"/>
            <a:ext cx="795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SYM=*</a:t>
            </a:r>
            <a:endParaRPr lang="en-US" sz="950" dirty="0"/>
          </a:p>
        </p:txBody>
      </p:sp>
      <p:sp>
        <p:nvSpPr>
          <p:cNvPr id="43" name="status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73752" y="3090672"/>
            <a:ext cx="1691640" cy="329184"/>
          </a:xfrm>
          <a:prstGeom prst="rect">
            <a:avLst/>
          </a:prstGeom>
          <a:solidFill>
            <a:srgbClr val="2A1E1E"/>
          </a:solidFill>
          <a:ln w="12700">
            <a:solidFill>
              <a:srgbClr val="6B3F3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4" name="Text 42"/>
          <p:cNvSpPr/>
          <p:nvPr/>
        </p:nvSpPr>
        <p:spPr>
          <a:xfrm>
            <a:off x="5001768" y="30906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650992" y="3090672"/>
            <a:ext cx="795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2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explicit</a:t>
            </a:r>
            <a:endParaRPr lang="en-US" sz="950" dirty="0"/>
          </a:p>
        </p:txBody>
      </p:sp>
      <p:sp>
        <p:nvSpPr>
          <p:cNvPr id="46" name="status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2552" y="3090672"/>
            <a:ext cx="1691640" cy="329184"/>
          </a:xfrm>
          <a:prstGeom prst="rect">
            <a:avLst/>
          </a:prstGeom>
          <a:solidFill>
            <a:srgbClr val="2A1E1E"/>
          </a:solidFill>
          <a:ln w="12700">
            <a:solidFill>
              <a:srgbClr val="6B3F3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7" name="Text 45"/>
          <p:cNvSpPr/>
          <p:nvPr/>
        </p:nvSpPr>
        <p:spPr>
          <a:xfrm>
            <a:off x="6830568" y="30906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479792" y="3090672"/>
            <a:ext cx="795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2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explicit</a:t>
            </a:r>
            <a:endParaRPr lang="en-US" sz="950" dirty="0"/>
          </a:p>
        </p:txBody>
      </p:sp>
      <p:sp>
        <p:nvSpPr>
          <p:cNvPr id="49" name="status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73752" y="3493008"/>
            <a:ext cx="1691640" cy="329184"/>
          </a:xfrm>
          <a:prstGeom prst="rect">
            <a:avLst/>
          </a:prstGeom>
          <a:solidFill>
            <a:srgbClr val="2A1E1E"/>
          </a:solidFill>
          <a:ln w="12700">
            <a:solidFill>
              <a:srgbClr val="6B3F3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0" name="Text 48"/>
          <p:cNvSpPr/>
          <p:nvPr/>
        </p:nvSpPr>
        <p:spPr>
          <a:xfrm>
            <a:off x="5001768" y="34930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650992" y="3493008"/>
            <a:ext cx="795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2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explicit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21208" y="4480560"/>
            <a:ext cx="8101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7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wildcard TOP subscription is the one exception to one-snapshot-per-stream: it sends one real SNAP per known symbol, then live MD — including for symbols added later.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rules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conceptual background illustration"/>
          <p:cNvPicPr>
            <a:picLocks noChangeAspect="1"/>
          </p:cNvPicPr>
          <p:nvPr/>
        </p:nvPicPr>
        <p:blipFill>
          <a:blip r:embed="rId3"/>
          <a:srcRect t="674" b="674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darkening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81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1"/>
          <p:cNvSpPr/>
          <p:nvPr/>
        </p:nvSpPr>
        <p:spPr>
          <a:xfrm>
            <a:off x="640080" y="15727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</a:t>
            </a:r>
            <a:endParaRPr lang="en-US" sz="13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057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the protocol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58368" y="3017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session, start to finish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shape of every session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steps, always in this order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98448"/>
            <a:ext cx="4937760" cy="45720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362456"/>
            <a:ext cx="329184" cy="329184"/>
          </a:xfrm>
          <a:prstGeom prst="ellipse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2984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14600" y="12984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TCP socket to port 5570</a:t>
            </a:r>
            <a:endParaRPr lang="en-US" sz="1050" dirty="0"/>
          </a:p>
        </p:txBody>
      </p:sp>
      <p:sp>
        <p:nvSpPr>
          <p:cNvPr id="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847088"/>
            <a:ext cx="4937760" cy="45720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911096"/>
            <a:ext cx="329184" cy="329184"/>
          </a:xfrm>
          <a:prstGeom prst="ellipse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658368" y="1911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18470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18470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yourself and name the protocol</a:t>
            </a:r>
            <a:endParaRPr lang="en-US" sz="1050" dirty="0"/>
          </a:p>
        </p:txBody>
      </p:sp>
      <p:sp>
        <p:nvSpPr>
          <p:cNvPr id="1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395728"/>
            <a:ext cx="4937760" cy="45720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59736"/>
            <a:ext cx="329184" cy="329184"/>
          </a:xfrm>
          <a:prstGeom prst="ellipse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658368" y="2459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2395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14600" y="2395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tells you what it supports</a:t>
            </a:r>
            <a:endParaRPr lang="en-US" sz="1050" dirty="0"/>
          </a:p>
        </p:txBody>
      </p:sp>
      <p:sp>
        <p:nvSpPr>
          <p:cNvPr id="1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944368"/>
            <a:ext cx="4937760" cy="45720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08376"/>
            <a:ext cx="329184" cy="329184"/>
          </a:xfrm>
          <a:prstGeom prst="ellipse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58368" y="3008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2944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14600" y="29443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channels × symbols</a:t>
            </a:r>
            <a:endParaRPr lang="en-US" sz="1050" dirty="0"/>
          </a:p>
        </p:txBody>
      </p:sp>
      <p:sp>
        <p:nvSpPr>
          <p:cNvPr id="2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493008"/>
            <a:ext cx="4937760" cy="457200"/>
          </a:xfrm>
          <a:prstGeom prst="rect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57016"/>
            <a:ext cx="329184" cy="329184"/>
          </a:xfrm>
          <a:prstGeom prst="ellipse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658368" y="3557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3493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 + stream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14600" y="34930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Baseline, then live updates and heartbeats</a:t>
            </a:r>
            <a:endParaRPr lang="en-US" sz="1050" dirty="0"/>
          </a:p>
        </p:txBody>
      </p:sp>
      <p:sp>
        <p:nvSpPr>
          <p:cNvPr id="2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4041648"/>
            <a:ext cx="4937760" cy="45720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105656"/>
            <a:ext cx="329184" cy="329184"/>
          </a:xfrm>
          <a:prstGeom prst="ellipse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658368" y="4105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7280" y="40416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514600" y="40416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politely</a:t>
            </a:r>
            <a:endParaRPr lang="en-US" sz="1050" dirty="0"/>
          </a:p>
        </p:txBody>
      </p:sp>
      <p:sp>
        <p:nvSpPr>
          <p:cNvPr id="3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0" y="1298448"/>
            <a:ext cx="2953512" cy="3063240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5870448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typed by hand</a:t>
            </a:r>
            <a:endParaRPr lang="en-US" sz="1200" dirty="0"/>
          </a:p>
        </p:txBody>
      </p:sp>
      <p:sp>
        <p:nvSpPr>
          <p:cNvPr id="36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70448" y="1755648"/>
            <a:ext cx="2560320" cy="2468880"/>
          </a:xfrm>
          <a:prstGeom prst="rect">
            <a:avLst/>
          </a:prstGeom>
          <a:solidFill>
            <a:srgbClr val="0B0F11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7" name="Text 35"/>
          <p:cNvSpPr/>
          <p:nvPr/>
        </p:nvSpPr>
        <p:spPr>
          <a:xfrm>
            <a:off x="5998464" y="1847088"/>
            <a:ext cx="23042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nc 127.0.0.1 5570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HELLO|CLIENT=demo01|PROTO=CALF1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WELCOME|PROTO=CALF1|GW=md-gwy01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|HBINT=1|REPLAY=30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SUB|CH=TOP,TRADE|SYM=AAPL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SNAP|CH=TOP|SYM=AAPL|SEQ=1…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MD|CH=TOP|SYM=AAPL|SEQ=2…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TRADE|CH=TRADE|SYM=AAPL…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HB|TS=…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21208" y="45902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7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client library needed to try it — nc or telnet is enough.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it · lifecycle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 — the handshake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says who you are; WELCOME tells you what this gateway can do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98448"/>
            <a:ext cx="3931920" cy="1417320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send</a:t>
            </a:r>
            <a:endParaRPr lang="en-US" sz="1200" dirty="0"/>
          </a:p>
        </p:txBody>
      </p:sp>
      <p:sp>
        <p:nvSpPr>
          <p:cNvPr id="6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755648"/>
            <a:ext cx="3520440" cy="384048"/>
          </a:xfrm>
          <a:prstGeom prst="rect">
            <a:avLst/>
          </a:prstGeom>
          <a:solidFill>
            <a:srgbClr val="0B0F11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" name="Text 5"/>
          <p:cNvSpPr/>
          <p:nvPr/>
        </p:nvSpPr>
        <p:spPr>
          <a:xfrm>
            <a:off x="859536" y="1847088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HELLO|CLIENT=mybot|PROTO=CALF1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2128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is free text, up to 32 characters, used in gateway logs. PROTO must be exactly CALF1.</a:t>
            </a:r>
            <a:endParaRPr lang="en-US" sz="1050" dirty="0"/>
          </a:p>
        </p:txBody>
      </p:sp>
      <p:sp>
        <p:nvSpPr>
          <p:cNvPr id="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880360"/>
            <a:ext cx="3931920" cy="1508760"/>
          </a:xfrm>
          <a:prstGeom prst="rect">
            <a:avLst/>
          </a:prstGeom>
          <a:solidFill>
            <a:srgbClr val="2A1E1E"/>
          </a:solidFill>
          <a:ln w="12700">
            <a:solidFill>
              <a:srgbClr val="6B3F3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31520" y="3044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3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WELCOME before you subscribe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346704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fields decide how your client behaves. Skipping them is the most common beginner mistake — you end up handling errors reactively instead of degrading gracefully.</a:t>
            </a:r>
            <a:endParaRPr lang="en-US" sz="1050" dirty="0"/>
          </a:p>
        </p:txBody>
      </p:sp>
      <p:sp>
        <p:nvSpPr>
          <p:cNvPr id="12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298448"/>
            <a:ext cx="3977640" cy="320040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4864608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WELCOME carries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181051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18105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gateway instance you reached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64608" y="21945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HBINT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21945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interval in seconds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64608" y="25786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25786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seconds of replay are buffered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296265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96265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instruments — optional, may be absent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64608" y="334670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33467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decimals per symbol, for display precision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64608" y="373075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CH_SUPPORTED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37307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channels this build actually supports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64608" y="4114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E8B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CH_SUPPORTED is absent, assume an older gateway: TOP, TRADE and STATE only.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it · handshake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 — subscribe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asks for every channel crossed with every symbol</a:t>
            </a:r>
            <a:endParaRPr lang="en-US" sz="1300" dirty="0"/>
          </a:p>
        </p:txBody>
      </p:sp>
      <p:sp>
        <p:nvSpPr>
          <p:cNvPr id="4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80160"/>
            <a:ext cx="4114800" cy="457200"/>
          </a:xfrm>
          <a:prstGeom prst="rect">
            <a:avLst/>
          </a:prstGeom>
          <a:solidFill>
            <a:srgbClr val="0B0F11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649224" y="137160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SUB|CH=TOP,TRADE|SYM=AAPL,MSFT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21208" y="1810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channels × two symbols = four streams, from one line.</a:t>
            </a:r>
            <a:endParaRPr lang="en-US" sz="1100" dirty="0"/>
          </a:p>
        </p:txBody>
      </p:sp>
      <p:sp>
        <p:nvSpPr>
          <p:cNvPr id="7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194560"/>
            <a:ext cx="1965960" cy="457200"/>
          </a:xfrm>
          <a:prstGeom prst="rect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658368" y="2194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· AAPL</a:t>
            </a:r>
            <a:endParaRPr lang="en-US" sz="1050" dirty="0"/>
          </a:p>
        </p:txBody>
      </p:sp>
      <p:sp>
        <p:nvSpPr>
          <p:cNvPr id="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4328" y="2194560"/>
            <a:ext cx="1965960" cy="457200"/>
          </a:xfrm>
          <a:prstGeom prst="rect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2761488" y="2194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· MSFT</a:t>
            </a:r>
            <a:endParaRPr lang="en-US" sz="1050" dirty="0"/>
          </a:p>
        </p:txBody>
      </p:sp>
      <p:sp>
        <p:nvSpPr>
          <p:cNvPr id="11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761488"/>
            <a:ext cx="1965960" cy="457200"/>
          </a:xfrm>
          <a:prstGeom prst="rect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 · AAPL</a:t>
            </a:r>
            <a:endParaRPr lang="en-US" sz="1050" dirty="0"/>
          </a:p>
        </p:txBody>
      </p:sp>
      <p:sp>
        <p:nvSpPr>
          <p:cNvPr id="13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4328" y="2761488"/>
            <a:ext cx="1965960" cy="457200"/>
          </a:xfrm>
          <a:prstGeom prst="rect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2761488" y="27614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 · MSFT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1208" y="34290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are cumulative — a second SUB line adds to what you already have, it never replaces it. UNSUB removes pairs and is idempotent.</a:t>
            </a:r>
            <a:endParaRPr lang="en-US" sz="1100" dirty="0"/>
          </a:p>
        </p:txBody>
      </p:sp>
      <p:sp>
        <p:nvSpPr>
          <p:cNvPr id="1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8032" y="1280160"/>
            <a:ext cx="3794760" cy="3246120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502920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subscriptions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17922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bid/ask, one symbol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0" y="19659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SUB|CH=TOP|SYM=AAPL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22402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Market-wide trade tape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0" y="24140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SUB|CH=TRADE|SYM=*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268833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for one symbol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0" y="28620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SUB|CH=TOP,TRADE,STATE|SYM=AAPL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31363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phases only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0" y="33101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SUB|CH=STATE|SYM=*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35844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book ladder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0" y="37581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SUB|CH=DEPTH|SYM=AAPL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40325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level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0" y="42062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SUB|CH=INDEX|SYM=EDU50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" y="42062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7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only to what you need — it costs the gateway fanout and costs you parsing.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it · subscribing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 — seed, then merge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habit in a market data client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371600"/>
            <a:ext cx="2514600" cy="214884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722376" y="15544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22376" y="18836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currently known</a:t>
            </a:r>
            <a:endParaRPr lang="en-US" sz="1050" dirty="0"/>
          </a:p>
        </p:txBody>
      </p:sp>
      <p:sp>
        <p:nvSpPr>
          <p:cNvPr id="7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2286000"/>
            <a:ext cx="2103120" cy="1051560"/>
          </a:xfrm>
          <a:prstGeom prst="rect">
            <a:avLst/>
          </a:prstGeom>
          <a:solidFill>
            <a:srgbClr val="0B0F11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850392" y="237744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 150.10  BIDSZ 1200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150.12  ASKSZ 900</a:t>
            </a:r>
            <a:endParaRPr lang="en-US" sz="950" dirty="0"/>
          </a:p>
        </p:txBody>
      </p:sp>
      <p:sp>
        <p:nvSpPr>
          <p:cNvPr id="9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27248" y="2331720"/>
            <a:ext cx="256032" cy="201168"/>
          </a:xfrm>
          <a:prstGeom prst="rightArrow">
            <a:avLst/>
          </a:prstGeom>
          <a:solidFill>
            <a:srgbClr val="1E8F5B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47288" y="1371600"/>
            <a:ext cx="2514600" cy="214884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3648456" y="15544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48456" y="18836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changed</a:t>
            </a:r>
            <a:endParaRPr lang="en-US" sz="1050" dirty="0"/>
          </a:p>
        </p:txBody>
      </p:sp>
      <p:sp>
        <p:nvSpPr>
          <p:cNvPr id="13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48456" y="2286000"/>
            <a:ext cx="2103120" cy="1051560"/>
          </a:xfrm>
          <a:prstGeom prst="rect">
            <a:avLst/>
          </a:prstGeom>
          <a:solidFill>
            <a:srgbClr val="0B0F11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3776472" y="237744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 150.11  BIDSZ 1400</a:t>
            </a:r>
            <a:endParaRPr lang="en-US" sz="950" dirty="0"/>
          </a:p>
        </p:txBody>
      </p:sp>
      <p:sp>
        <p:nvSpPr>
          <p:cNvPr id="15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3328" y="2331720"/>
            <a:ext cx="256032" cy="201168"/>
          </a:xfrm>
          <a:prstGeom prst="rightArrow">
            <a:avLst/>
          </a:prstGeom>
          <a:solidFill>
            <a:srgbClr val="1E8F5B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3368" y="1371600"/>
            <a:ext cx="2514600" cy="214884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6574536" y="15544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state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74536" y="18836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with the change folded in</a:t>
            </a:r>
            <a:endParaRPr lang="en-US" sz="1050" dirty="0"/>
          </a:p>
        </p:txBody>
      </p:sp>
      <p:sp>
        <p:nvSpPr>
          <p:cNvPr id="19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74536" y="2286000"/>
            <a:ext cx="2103120" cy="1051560"/>
          </a:xfrm>
          <a:prstGeom prst="rect">
            <a:avLst/>
          </a:prstGeom>
          <a:solidFill>
            <a:srgbClr val="0B0F11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6702552" y="237744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 150.11  BIDSZ 1400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150.12  ASKSZ 900</a:t>
            </a:r>
            <a:endParaRPr lang="en-US" sz="950" dirty="0"/>
          </a:p>
        </p:txBody>
      </p:sp>
      <p:sp>
        <p:nvSpPr>
          <p:cNvPr id="21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703320"/>
            <a:ext cx="8101584" cy="868680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749808" y="3840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channels break the pattern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" y="411480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replaces rather than merges — every line carries the whole ladder. TRADE and AUCTION have no state to seed at all: each line is a standalone event.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it · snapshots and increments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 — staying connected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Heartbeats, timeouts and the polite way out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325880"/>
            <a:ext cx="3941064" cy="148132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758952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15768" y="15087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" y="189280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about once a second whenever your streams are quiet. It keeps the session alive on its own — a pure listener never has to send anything.</a:t>
            </a:r>
            <a:endParaRPr lang="en-US" sz="1100" dirty="0"/>
          </a:p>
        </p:txBody>
      </p:sp>
      <p:sp>
        <p:nvSpPr>
          <p:cNvPr id="8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1325880"/>
            <a:ext cx="3941064" cy="148132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4919472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/ PONG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76288" y="15087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probe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19472" y="189280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send PING at any time; the gateway answers PONG. Useful when you want an explicit round-trip check.</a:t>
            </a:r>
            <a:endParaRPr lang="en-US" sz="1100" dirty="0"/>
          </a:p>
        </p:txBody>
      </p:sp>
      <p:sp>
        <p:nvSpPr>
          <p:cNvPr id="12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990088"/>
            <a:ext cx="3941064" cy="148132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758952" y="31729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 timeout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15768" y="317296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seconds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8952" y="355701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 closes only when nothing has flowed in either direction. In practice that means writes to your client stopped succeeding.</a:t>
            </a:r>
            <a:endParaRPr lang="en-US" sz="1100" dirty="0"/>
          </a:p>
        </p:txBody>
      </p:sp>
      <p:sp>
        <p:nvSpPr>
          <p:cNvPr id="1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2990088"/>
            <a:ext cx="3941064" cy="148132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4919472" y="31729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76288" y="317296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shutdown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19472" y="355701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 closes the session. The gateway will also close it for you if you cannot keep up.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it · liveness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conceptual background illustration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darkening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81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1"/>
          <p:cNvSpPr/>
          <p:nvPr/>
        </p:nvSpPr>
        <p:spPr>
          <a:xfrm>
            <a:off x="640080" y="15727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4</a:t>
            </a:r>
            <a:endParaRPr lang="en-US" sz="13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057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things go wrong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58368" y="3017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Errors, gaps and replay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errors are handled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 type, one code, and the session usually survives</a:t>
            </a:r>
            <a:endParaRPr lang="en-US" sz="1300" dirty="0"/>
          </a:p>
        </p:txBody>
      </p:sp>
      <p:sp>
        <p:nvSpPr>
          <p:cNvPr id="4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80160"/>
            <a:ext cx="8101584" cy="457200"/>
          </a:xfrm>
          <a:prstGeom prst="rect">
            <a:avLst/>
          </a:prstGeom>
          <a:solidFill>
            <a:srgbClr val="0B0F11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649224" y="1371600"/>
            <a:ext cx="7845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2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ERR|CODE=INVALID_SYMBOL|MSG=unknown symbol ZZZZ</a:t>
            </a:r>
            <a:endParaRPr lang="en-US" sz="1200" dirty="0"/>
          </a:p>
        </p:txBody>
      </p:sp>
      <p:sp>
        <p:nvSpPr>
          <p:cNvPr id="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874520"/>
            <a:ext cx="2560320" cy="2542032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7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874520"/>
            <a:ext cx="2560320" cy="45720"/>
          </a:xfrm>
          <a:prstGeom prst="rect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722376" y="2048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made a mistake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22376" y="23957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AUTH_REQUIRED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22376" y="26700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PROTO_MISMATCH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22376" y="2944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INVALID_CHANNEL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22376" y="32186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INVALID_SYMBOL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22376" y="34930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BAD_MESSAGE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22376" y="38221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line and send it again. The session stays open.</a:t>
            </a:r>
            <a:endParaRPr lang="en-US" sz="1000" dirty="0"/>
          </a:p>
        </p:txBody>
      </p:sp>
      <p:sp>
        <p:nvSpPr>
          <p:cNvPr id="15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874520"/>
            <a:ext cx="2560320" cy="2542032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6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874520"/>
            <a:ext cx="2560320" cy="45720"/>
          </a:xfrm>
          <a:prstGeom prst="rect">
            <a:avLst/>
          </a:prstGeom>
          <a:solidFill>
            <a:srgbClr val="E8B3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3493008" y="2048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B3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asked for too much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93008" y="23957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SUB_LIMIT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93008" y="26700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RATE_LIMITED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93008" y="38221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off: fewer symbols, or a slower send rate. The session stays open.</a:t>
            </a:r>
            <a:endParaRPr lang="en-US" sz="1000" dirty="0"/>
          </a:p>
        </p:txBody>
      </p:sp>
      <p:sp>
        <p:nvSpPr>
          <p:cNvPr id="21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874520"/>
            <a:ext cx="2560320" cy="2542032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2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874520"/>
            <a:ext cx="2560320" cy="45720"/>
          </a:xfrm>
          <a:prstGeom prst="rect">
            <a:avLst/>
          </a:prstGeom>
          <a:solidFill>
            <a:srgbClr val="E268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6263640" y="2048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68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data is gone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63640" y="23957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REPLAY_MISS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63640" y="26700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SLOW_CLIENT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63640" y="38221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Recover: accept a fresh snapshot, or reconnect and consume faster.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1208" y="4526280"/>
            <a:ext cx="8101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an ERR is a reply to something you sent, not the end of the session. Read the code, correct the request, carry on.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· the model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failures that arrive silently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cases where you get no ERR at all — plan for them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98448"/>
            <a:ext cx="3941064" cy="310896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98448"/>
            <a:ext cx="3941064" cy="45720"/>
          </a:xfrm>
          <a:prstGeom prst="rect">
            <a:avLst/>
          </a:prstGeom>
          <a:solidFill>
            <a:srgbClr val="E8B3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758952" y="1481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3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client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drain the stream fast enough and the outbound queue overflows.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58952" y="2377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58952" y="257860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drops the queue and closes the socket. ERR|CODE=SLOW_CLIENT may never reach you.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58952" y="32918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349300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any unexpected disconnect on a busy stream as this. Reconnect, then consume faster or subscribe to less.</a:t>
            </a:r>
            <a:endParaRPr lang="en-US" sz="1050" dirty="0"/>
          </a:p>
        </p:txBody>
      </p:sp>
      <p:sp>
        <p:nvSpPr>
          <p:cNvPr id="12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1298448"/>
            <a:ext cx="3941064" cy="310896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3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1298448"/>
            <a:ext cx="3941064" cy="45720"/>
          </a:xfrm>
          <a:prstGeom prst="rect">
            <a:avLst/>
          </a:prstGeom>
          <a:solidFill>
            <a:srgbClr val="E8B3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4919472" y="1481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3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 at capacity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19472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 limit is already reached.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19472" y="2377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19472" y="257860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TCP socket is accepted and closed immediately — no HELLO, no WELCOME, no ERR line.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19472" y="32918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19472" y="349300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an instant disconnect before WELCOME as a possible connection cap, not a protocol bug.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· silent cases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Spotting a gap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sequence number does all the work</a:t>
            </a:r>
            <a:endParaRPr lang="en-US" sz="1300" dirty="0"/>
          </a:p>
        </p:txBody>
      </p:sp>
      <p:sp>
        <p:nvSpPr>
          <p:cNvPr id="4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80160"/>
            <a:ext cx="5029200" cy="457200"/>
          </a:xfrm>
          <a:prstGeom prst="rect">
            <a:avLst/>
          </a:prstGeom>
          <a:solidFill>
            <a:srgbClr val="0B0F11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649224" y="1371600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8B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detected when   received_seq  !=  last_seq + 1</a:t>
            </a:r>
            <a:endParaRPr lang="en-US" sz="1200" dirty="0"/>
          </a:p>
        </p:txBody>
      </p:sp>
      <p:sp>
        <p:nvSpPr>
          <p:cNvPr id="6" name="sequence ce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965960"/>
            <a:ext cx="896112" cy="658368"/>
          </a:xfrm>
          <a:prstGeom prst="rect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" name="Text 5"/>
          <p:cNvSpPr/>
          <p:nvPr/>
        </p:nvSpPr>
        <p:spPr>
          <a:xfrm>
            <a:off x="521208" y="1965960"/>
            <a:ext cx="896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</a:t>
            </a:r>
            <a:endParaRPr lang="en-US" sz="1500" dirty="0"/>
          </a:p>
        </p:txBody>
      </p:sp>
      <p:sp>
        <p:nvSpPr>
          <p:cNvPr id="8" name="sequence ce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5336" y="1965960"/>
            <a:ext cx="896112" cy="658368"/>
          </a:xfrm>
          <a:prstGeom prst="rect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1545336" y="1965960"/>
            <a:ext cx="896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</a:t>
            </a:r>
            <a:endParaRPr lang="en-US" sz="1500" dirty="0"/>
          </a:p>
        </p:txBody>
      </p:sp>
      <p:sp>
        <p:nvSpPr>
          <p:cNvPr id="10" name="sequence ce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9464" y="1965960"/>
            <a:ext cx="896112" cy="658368"/>
          </a:xfrm>
          <a:prstGeom prst="rect">
            <a:avLst/>
          </a:prstGeom>
          <a:solidFill>
            <a:srgbClr val="2A1E1E"/>
          </a:solidFill>
          <a:ln w="19050">
            <a:solidFill>
              <a:srgbClr val="E2685F"/>
            </a:solidFill>
            <a:prstDash val="dash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2569464" y="1965960"/>
            <a:ext cx="896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2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1500" dirty="0"/>
          </a:p>
        </p:txBody>
      </p:sp>
      <p:sp>
        <p:nvSpPr>
          <p:cNvPr id="12" name="sequence ce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93592" y="1965960"/>
            <a:ext cx="896112" cy="658368"/>
          </a:xfrm>
          <a:prstGeom prst="rect">
            <a:avLst/>
          </a:prstGeom>
          <a:solidFill>
            <a:srgbClr val="2A1E1E"/>
          </a:solidFill>
          <a:ln w="19050">
            <a:solidFill>
              <a:srgbClr val="E2685F"/>
            </a:solidFill>
            <a:prstDash val="dash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3593592" y="1965960"/>
            <a:ext cx="896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2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1500" dirty="0"/>
          </a:p>
        </p:txBody>
      </p:sp>
      <p:sp>
        <p:nvSpPr>
          <p:cNvPr id="14" name="sequence ce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1965960"/>
            <a:ext cx="896112" cy="658368"/>
          </a:xfrm>
          <a:prstGeom prst="rect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4617720" y="1965960"/>
            <a:ext cx="896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" y="27249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messages on (TOP, AAPL) never arrived — 102 should have been 100.</a:t>
            </a:r>
            <a:endParaRPr lang="en-US" sz="1100" dirty="0"/>
          </a:p>
        </p:txBody>
      </p:sp>
      <p:sp>
        <p:nvSpPr>
          <p:cNvPr id="17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154680"/>
            <a:ext cx="5029200" cy="45720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bullet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310128"/>
            <a:ext cx="146304" cy="146304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932688" y="3154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SNAP is never a gap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31546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re-baselines the stream — just record its SEQ.</a:t>
            </a:r>
            <a:endParaRPr lang="en-US" sz="950" dirty="0"/>
          </a:p>
        </p:txBody>
      </p:sp>
      <p:sp>
        <p:nvSpPr>
          <p:cNvPr id="21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703320"/>
            <a:ext cx="5029200" cy="45720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bullet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858768"/>
            <a:ext cx="146304" cy="146304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932688" y="3703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 never moves backward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37033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at or below what you recorded is a replayed duplicate. Drop it.</a:t>
            </a:r>
            <a:endParaRPr lang="en-US" sz="950" dirty="0"/>
          </a:p>
        </p:txBody>
      </p:sp>
      <p:sp>
        <p:nvSpPr>
          <p:cNvPr id="25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4251960"/>
            <a:ext cx="5029200" cy="45720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bullet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4407408"/>
            <a:ext cx="146304" cy="146304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932688" y="4251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per (CH, SYM)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42519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on one stream says nothing about the others.</a:t>
            </a:r>
            <a:endParaRPr lang="en-US" sz="950" dirty="0"/>
          </a:p>
        </p:txBody>
      </p:sp>
      <p:sp>
        <p:nvSpPr>
          <p:cNvPr id="2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60720" y="1280160"/>
            <a:ext cx="2862072" cy="3291840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5961888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one small map</a:t>
            </a:r>
            <a:endParaRPr lang="en-US" sz="1300" dirty="0"/>
          </a:p>
        </p:txBody>
      </p:sp>
      <p:sp>
        <p:nvSpPr>
          <p:cNvPr id="31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61888" y="1783080"/>
            <a:ext cx="2468880" cy="2606040"/>
          </a:xfrm>
          <a:prstGeom prst="rect">
            <a:avLst/>
          </a:prstGeom>
          <a:solidFill>
            <a:srgbClr val="0B0F11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6089904" y="1874520"/>
            <a:ext cx="221284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last_seq = {}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= (ch, sym)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 = last_seq.get(key)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type == 'SNAP':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          # baseline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prev and seq &lt;= prev: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       # duplicate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prev and seq != prev+1: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8B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recover(key, prev)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last_seq[key] = seq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· gap detection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Replaying what you missed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asks the gateway for everything after a sequence you already hold</a:t>
            </a:r>
            <a:endParaRPr lang="en-US" sz="1300" dirty="0"/>
          </a:p>
        </p:txBody>
      </p:sp>
      <p:sp>
        <p:nvSpPr>
          <p:cNvPr id="4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80160"/>
            <a:ext cx="4114800" cy="960120"/>
          </a:xfrm>
          <a:prstGeom prst="rect">
            <a:avLst/>
          </a:prstGeom>
          <a:solidFill>
            <a:srgbClr val="0B0F11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649224" y="1371600"/>
            <a:ext cx="3858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HELLO|CLIENT=mybot|PROTO=CALF1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RESUME|CH=TOP|SYM=AAPL|LASTSEQ=99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RESUME|CH=TRADE|SYM=AAPL|LASTSEQ=41</a:t>
            </a:r>
            <a:endParaRPr lang="en-US" sz="1050" dirty="0"/>
          </a:p>
        </p:txBody>
      </p:sp>
      <p:sp>
        <p:nvSpPr>
          <p:cNvPr id="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423160"/>
            <a:ext cx="4114800" cy="64008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" name="Text 5"/>
          <p:cNvSpPr/>
          <p:nvPr/>
        </p:nvSpPr>
        <p:spPr>
          <a:xfrm>
            <a:off x="722376" y="24963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RESUME per stream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22376" y="27066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LASTSEQ describes a single stream's position — send as many lines as you have streams.</a:t>
            </a:r>
            <a:endParaRPr lang="en-US" sz="950" dirty="0"/>
          </a:p>
        </p:txBody>
      </p:sp>
      <p:sp>
        <p:nvSpPr>
          <p:cNvPr id="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172968"/>
            <a:ext cx="4114800" cy="64008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22376" y="32461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SYM=* is never valid here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2376" y="34564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on channels where the wildcard works for SUB. RESUME always replays one concrete symbol.</a:t>
            </a:r>
            <a:endParaRPr lang="en-US" sz="950" dirty="0"/>
          </a:p>
        </p:txBody>
      </p:sp>
      <p:sp>
        <p:nvSpPr>
          <p:cNvPr id="12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922776"/>
            <a:ext cx="4114800" cy="64008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722376" y="39959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 duplicates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2376" y="42062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overlaps live traffic. Drop anything at or below the SEQ you already recorded.</a:t>
            </a:r>
            <a:endParaRPr lang="en-US" sz="950" dirty="0"/>
          </a:p>
        </p:txBody>
      </p:sp>
      <p:sp>
        <p:nvSpPr>
          <p:cNvPr id="15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8032" y="1280160"/>
            <a:ext cx="3794760" cy="3063240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502920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replay window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177393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keeps roughly the last 30 seconds of every stream — WELCOME|REPLAY= tells you exactly how much.</a:t>
            </a:r>
            <a:endParaRPr lang="en-US" sz="1100" dirty="0"/>
          </a:p>
        </p:txBody>
      </p:sp>
      <p:sp>
        <p:nvSpPr>
          <p:cNvPr id="18" name="outside-wind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2395728"/>
            <a:ext cx="3383280" cy="457200"/>
          </a:xfrm>
          <a:prstGeom prst="rect">
            <a:avLst/>
          </a:prstGeom>
          <a:solidFill>
            <a:srgbClr val="2A1E1E"/>
          </a:solidFill>
          <a:ln w="12700">
            <a:solidFill>
              <a:srgbClr val="6B3F3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inside-wind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2395728"/>
            <a:ext cx="2103120" cy="457200"/>
          </a:xfrm>
          <a:prstGeom prst="rect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5084064" y="2395728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 old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82512" y="23957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replayable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863840" y="23957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0" y="299923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window you get the missing lines and then live traffic, seamlessly. Outside it, you get told — and on most channels a fresh snapshot follows.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3703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guaranteed baseline after reconnecting? Re-SUB the stream to force a SNAP rather than relying on RESUME alone.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· replay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things RESUME can return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all three or your client will misreport its own history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325880"/>
            <a:ext cx="2560320" cy="219456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1508760"/>
            <a:ext cx="329184" cy="329184"/>
          </a:xfrm>
          <a:prstGeom prst="ellipse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722376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2376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the window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22376" y="243230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messages arrive, then live traffic continues.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2376" y="31272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duplicates, carry on.</a:t>
            </a:r>
            <a:endParaRPr lang="en-US" sz="1000" dirty="0"/>
          </a:p>
        </p:txBody>
      </p:sp>
      <p:sp>
        <p:nvSpPr>
          <p:cNvPr id="10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325880"/>
            <a:ext cx="2560320" cy="219456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1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3008" y="1508760"/>
            <a:ext cx="329184" cy="329184"/>
          </a:xfrm>
          <a:prstGeom prst="ellipse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3493008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93008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B3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 old — REPLAY_MISS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93008" y="243230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TOP, STATE, INDEX, DEPTH and CB a fresh SNAP follows.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93008" y="31272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E8B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it and reset that stream's state.</a:t>
            </a:r>
            <a:endParaRPr lang="en-US" sz="1000" dirty="0"/>
          </a:p>
        </p:txBody>
      </p:sp>
      <p:sp>
        <p:nvSpPr>
          <p:cNvPr id="1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325880"/>
            <a:ext cx="2560320" cy="219456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7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63640" y="1508760"/>
            <a:ext cx="329184" cy="329184"/>
          </a:xfrm>
          <a:prstGeom prst="ellipse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6263640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Nothing recorded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63640" y="243230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replay lines. No error, no snapshot — the stream simply resumes live.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63640" y="31272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failure. Re-SUB if you need a baseline.</a:t>
            </a:r>
            <a:endParaRPr lang="en-US" sz="1000" dirty="0"/>
          </a:p>
        </p:txBody>
      </p:sp>
      <p:sp>
        <p:nvSpPr>
          <p:cNvPr id="22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703320"/>
            <a:ext cx="8101584" cy="914400"/>
          </a:xfrm>
          <a:prstGeom prst="rect">
            <a:avLst/>
          </a:prstGeom>
          <a:solidFill>
            <a:srgbClr val="2A1E1E"/>
          </a:solidFill>
          <a:ln w="12700">
            <a:solidFill>
              <a:srgbClr val="6B3F3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749808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68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TRADE and AUCTION are different — and it matters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9808" y="41148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past print has no current state to snapshot, so after REPLAY_MISS nothing follows and those events are gone for good. If you present a tape, mark the hole — a record with an unmarked gap is worse than one that admits it.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· outcomes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conceptual background illustration"/>
          <p:cNvPicPr>
            <a:picLocks noChangeAspect="1"/>
          </p:cNvPicPr>
          <p:nvPr/>
        </p:nvPicPr>
        <p:blipFill>
          <a:blip r:embed="rId3"/>
          <a:srcRect t="674" b="674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darkening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81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1"/>
          <p:cNvSpPr/>
          <p:nvPr/>
        </p:nvSpPr>
        <p:spPr>
          <a:xfrm>
            <a:off x="640080" y="15727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5</a:t>
            </a:r>
            <a:endParaRPr lang="en-US" sz="13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057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a client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58368" y="3017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ten-line script to a production consumer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 robust client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habits keep any CALF client correct, in any language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98448"/>
            <a:ext cx="2624328" cy="137160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1499616"/>
            <a:ext cx="347472" cy="347472"/>
          </a:xfrm>
          <a:prstGeom prst="ellipse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722376" y="1499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61288" y="149961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 properly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2376" y="1956816"/>
            <a:ext cx="2221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bytes, split on newlines. One recv() is not one message.</a:t>
            </a:r>
            <a:endParaRPr lang="en-US" sz="1100" dirty="0"/>
          </a:p>
        </p:txBody>
      </p:sp>
      <p:sp>
        <p:nvSpPr>
          <p:cNvPr id="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64992" y="1298448"/>
            <a:ext cx="2624328" cy="137160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66160" y="1499616"/>
            <a:ext cx="347472" cy="347472"/>
          </a:xfrm>
          <a:prstGeom prst="ellipse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3566160" y="1499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05072" y="149961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Handshake first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66160" y="1956816"/>
            <a:ext cx="2221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HELLO, wait for WELCOME, read SYMBOLS and CH_SUPPORTED before subscribing.</a:t>
            </a:r>
            <a:endParaRPr lang="en-US" sz="1100" dirty="0"/>
          </a:p>
        </p:txBody>
      </p:sp>
      <p:sp>
        <p:nvSpPr>
          <p:cNvPr id="1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8776" y="1298448"/>
            <a:ext cx="2624328" cy="137160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9944" y="1499616"/>
            <a:ext cx="347472" cy="347472"/>
          </a:xfrm>
          <a:prstGeom prst="ellipse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6409944" y="1499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48856" y="149961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 then update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9944" y="1956816"/>
            <a:ext cx="2221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from SNAP, merge each MD, replace the ladder on each DEPTH.</a:t>
            </a:r>
            <a:endParaRPr lang="en-US" sz="1100" dirty="0"/>
          </a:p>
        </p:txBody>
      </p:sp>
      <p:sp>
        <p:nvSpPr>
          <p:cNvPr id="1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926080"/>
            <a:ext cx="2624328" cy="137160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3127248"/>
            <a:ext cx="347472" cy="347472"/>
          </a:xfrm>
          <a:prstGeom prst="ellipse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722376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61288" y="312724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 SEQ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2376" y="3584448"/>
            <a:ext cx="2221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per (CH, SYM). On a gap, RESUME — or re-SUB for a fresh snapshot.</a:t>
            </a:r>
            <a:endParaRPr lang="en-US" sz="1100" dirty="0"/>
          </a:p>
        </p:txBody>
      </p:sp>
      <p:sp>
        <p:nvSpPr>
          <p:cNvPr id="2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64992" y="2926080"/>
            <a:ext cx="2624328" cy="137160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5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66160" y="3127248"/>
            <a:ext cx="347472" cy="347472"/>
          </a:xfrm>
          <a:prstGeom prst="ellipse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3566160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05072" y="312724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Stay alive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566160" y="3584448"/>
            <a:ext cx="2221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Heartbeats need no answer. Treat a surprise disconnect as a slow-client warning.</a:t>
            </a:r>
            <a:endParaRPr lang="en-US" sz="1100" dirty="0"/>
          </a:p>
        </p:txBody>
      </p:sp>
      <p:sp>
        <p:nvSpPr>
          <p:cNvPr id="2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8776" y="2926080"/>
            <a:ext cx="2624328" cy="137160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0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9944" y="3127248"/>
            <a:ext cx="347472" cy="347472"/>
          </a:xfrm>
          <a:prstGeom prst="ellipse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6409944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48856" y="312724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Degrade gracefully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09944" y="3584448"/>
            <a:ext cx="2221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CH_SUPPORTED lacks a channel, fall back instead of subscribing blindly.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· principles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client in fifteen lines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library, no dependencies — this is the whole point of CALF</a:t>
            </a:r>
            <a:endParaRPr lang="en-US" sz="1300" dirty="0"/>
          </a:p>
        </p:txBody>
      </p:sp>
      <p:sp>
        <p:nvSpPr>
          <p:cNvPr id="4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80160"/>
            <a:ext cx="5029200" cy="3246120"/>
          </a:xfrm>
          <a:prstGeom prst="rect">
            <a:avLst/>
          </a:prstGeom>
          <a:solidFill>
            <a:srgbClr val="0B0F11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649224" y="1371600"/>
            <a:ext cx="477316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socket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 = socket.create_connection(("127.0.0.1", 5570))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sock.sendall(b"HELLO|CLIENT=bot01|PROTO=CALF1\n")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sock.sendall(b"SUB|CH=TOP,TRADE|SYM=AAPL\n")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 = bytearray()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chunk = sock.recv(4096)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chunk: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buf.extend(chunk)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B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b"\n" in buf: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idx = buf.index(b"\n")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line = buf[:idx].decode("utf-8").strip()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del buf[:idx + 1]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line: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print(line)</a:t>
            </a:r>
            <a:endParaRPr lang="en-US" sz="950" dirty="0"/>
          </a:p>
        </p:txBody>
      </p:sp>
      <p:sp>
        <p:nvSpPr>
          <p:cNvPr id="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42432" y="1280160"/>
            <a:ext cx="2880360" cy="1508760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7" name="Text 5"/>
          <p:cNvSpPr/>
          <p:nvPr/>
        </p:nvSpPr>
        <p:spPr>
          <a:xfrm>
            <a:off x="5943600" y="1444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works anywhere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737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language has a TCP socket and a string split. That is the entire dependency list for a CALF consumer.</a:t>
            </a:r>
            <a:endParaRPr lang="en-US" sz="1100" dirty="0"/>
          </a:p>
        </p:txBody>
      </p:sp>
      <p:sp>
        <p:nvSpPr>
          <p:cNvPr id="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42432" y="3017520"/>
            <a:ext cx="2880360" cy="1508760"/>
          </a:xfrm>
          <a:prstGeom prst="rect">
            <a:avLst/>
          </a:prstGeom>
          <a:solidFill>
            <a:srgbClr val="2A1E1E"/>
          </a:solidFill>
          <a:ln w="12700">
            <a:solidFill>
              <a:srgbClr val="6B3F3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5943600" y="3182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3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does not do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34747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gap detection, no replay, no reconnect, no price precision. Fine for a smoke test — not for anything you rely 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· minimal example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the right starting point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levels, from “show me the wire” to “ship it”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98448"/>
            <a:ext cx="8101584" cy="713232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749808" y="129844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pm-calf-spy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0" y="1298448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069080" y="129844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raw feed, human-readable or JSON. No code at all.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78040" y="1298448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and debugging</a:t>
            </a:r>
            <a:endParaRPr lang="en-US" sz="950" dirty="0"/>
          </a:p>
        </p:txBody>
      </p:sp>
      <p:sp>
        <p:nvSpPr>
          <p:cNvPr id="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121408"/>
            <a:ext cx="8101584" cy="713232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49808" y="212140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calf_parser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2121408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C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69080" y="212140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line parser and serializer. No channel semantics.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78040" y="2121408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Bootstrapping a new language</a:t>
            </a:r>
            <a:endParaRPr lang="en-US" sz="950" dirty="0"/>
          </a:p>
        </p:txBody>
      </p:sp>
      <p:sp>
        <p:nvSpPr>
          <p:cNvPr id="1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944368"/>
            <a:ext cx="8101584" cy="713232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749808" y="294436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calf_subscriber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2944368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069080" y="294436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worked example: subscribe, detect gaps, repair with RESUME.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78040" y="2944368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the protocol properly</a:t>
            </a:r>
            <a:endParaRPr lang="en-US" sz="950" dirty="0"/>
          </a:p>
        </p:txBody>
      </p:sp>
      <p:sp>
        <p:nvSpPr>
          <p:cNvPr id="1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767328"/>
            <a:ext cx="8101584" cy="713232"/>
          </a:xfrm>
          <a:prstGeom prst="rect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749808" y="376732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edumatcher.calf_client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08960" y="3767328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069080" y="376732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client: reconnect with backoff, gap repair, price precision, cached market state.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78040" y="3767328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something real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1208" y="4535424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7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real Python client? Start from the library, not the example — it is deliberately standalone so it ports cleanly to new languages.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· toolbox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can build on 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these is well under a hundred lines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98448"/>
            <a:ext cx="2624328" cy="84124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722376" y="148132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and sales tape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22376" y="1773936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</a:t>
            </a:r>
            <a:endParaRPr lang="en-US" sz="1000" dirty="0"/>
          </a:p>
        </p:txBody>
      </p:sp>
      <p:sp>
        <p:nvSpPr>
          <p:cNvPr id="7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64992" y="1298448"/>
            <a:ext cx="2624328" cy="84124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3566160" y="148132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price board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66160" y="1773936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endParaRPr lang="en-US" sz="1000" dirty="0"/>
          </a:p>
        </p:txBody>
      </p:sp>
      <p:sp>
        <p:nvSpPr>
          <p:cNvPr id="10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8776" y="1298448"/>
            <a:ext cx="2624328" cy="84124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6409944" y="148132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 ladder widget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9944" y="1773936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</a:t>
            </a:r>
            <a:endParaRPr lang="en-US" sz="1000" dirty="0"/>
          </a:p>
        </p:txBody>
      </p:sp>
      <p:sp>
        <p:nvSpPr>
          <p:cNvPr id="13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359152"/>
            <a:ext cx="2624328" cy="84124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722376" y="25420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VWAP / OHLCV recorder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22376" y="2834640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</a:t>
            </a:r>
            <a:endParaRPr lang="en-US" sz="1000" dirty="0"/>
          </a:p>
        </p:txBody>
      </p:sp>
      <p:sp>
        <p:nvSpPr>
          <p:cNvPr id="1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64992" y="2359152"/>
            <a:ext cx="2624328" cy="84124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3566160" y="25420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Halt-aware alert bot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66160" y="2834640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000" dirty="0"/>
          </a:p>
        </p:txBody>
      </p:sp>
      <p:sp>
        <p:nvSpPr>
          <p:cNvPr id="1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8776" y="2359152"/>
            <a:ext cx="2624328" cy="84124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6409944" y="25420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 dashboard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9944" y="2834640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endParaRPr lang="en-US" sz="1000" dirty="0"/>
          </a:p>
        </p:txBody>
      </p:sp>
      <p:sp>
        <p:nvSpPr>
          <p:cNvPr id="22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419856"/>
            <a:ext cx="2624328" cy="84124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722376" y="3602736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Auction monitor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22376" y="3895344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AUCTION</a:t>
            </a:r>
            <a:endParaRPr lang="en-US" sz="1000" dirty="0"/>
          </a:p>
        </p:txBody>
      </p:sp>
      <p:sp>
        <p:nvSpPr>
          <p:cNvPr id="25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64992" y="3419856"/>
            <a:ext cx="2624328" cy="84124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3566160" y="3602736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Circuit-breaker panel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566160" y="3895344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</a:t>
            </a:r>
            <a:endParaRPr lang="en-US" sz="1000" dirty="0"/>
          </a:p>
        </p:txBody>
      </p:sp>
      <p:sp>
        <p:nvSpPr>
          <p:cNvPr id="28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8776" y="3419856"/>
            <a:ext cx="2624328" cy="84124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6409944" y="3602736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CSV / Parquet recorder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9944" y="3895344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 + TOP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1208" y="4443984"/>
            <a:ext cx="8101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7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cannot open a raw TCP socket — use the WebSocket feed on the API gateway, or write a small server-side bridge that relays each CALF line onward.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· project ideas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727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6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057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reference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3017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detail you will want open on a second screen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Configuration reference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market_data_gateway block — every key is optional, defaults shown</a:t>
            </a:r>
            <a:endParaRPr lang="en-US" sz="1300" dirty="0"/>
          </a:p>
        </p:txBody>
      </p:sp>
      <p:sp>
        <p:nvSpPr>
          <p:cNvPr id="4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188720"/>
            <a:ext cx="8101584" cy="265176"/>
          </a:xfrm>
          <a:prstGeom prst="rect">
            <a:avLst/>
          </a:prstGeom>
          <a:solidFill>
            <a:srgbClr val="1E262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971800" y="1188720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977640" y="1188720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false the gateway logs a warning and exits without binding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1463040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71800" y="1463040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md-gwy01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77640" y="1463040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id reported in WELCOME|GW=</a:t>
            </a:r>
            <a:endParaRPr lang="en-US" sz="950" dirty="0"/>
          </a:p>
        </p:txBody>
      </p:sp>
      <p:sp>
        <p:nvSpPr>
          <p:cNvPr id="11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737360"/>
            <a:ext cx="8101584" cy="265176"/>
          </a:xfrm>
          <a:prstGeom prst="rect">
            <a:avLst/>
          </a:prstGeom>
          <a:solidFill>
            <a:srgbClr val="1E262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658368" y="1737360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bind_address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71800" y="1737360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0.0.0.0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977640" y="1737360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listen address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2011680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71800" y="2011680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5570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977640" y="2011680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listen port</a:t>
            </a:r>
            <a:endParaRPr lang="en-US" sz="950" dirty="0"/>
          </a:p>
        </p:txBody>
      </p:sp>
      <p:sp>
        <p:nvSpPr>
          <p:cNvPr id="18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286000"/>
            <a:ext cx="8101584" cy="265176"/>
          </a:xfrm>
          <a:prstGeom prst="rect">
            <a:avLst/>
          </a:prstGeom>
          <a:solidFill>
            <a:srgbClr val="1E262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658368" y="2286000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heartbeat_interval_sec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71800" y="2286000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77640" y="2286000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 cadence when idle; advertised as HBINT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8368" y="2560320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idle_timeout_sec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971800" y="2560320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977640" y="2560320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after this long with no traffic either way</a:t>
            </a:r>
            <a:endParaRPr lang="en-US" sz="950" dirty="0"/>
          </a:p>
        </p:txBody>
      </p:sp>
      <p:sp>
        <p:nvSpPr>
          <p:cNvPr id="25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834640"/>
            <a:ext cx="8101584" cy="265176"/>
          </a:xfrm>
          <a:prstGeom prst="rect">
            <a:avLst/>
          </a:prstGeom>
          <a:solidFill>
            <a:srgbClr val="1E262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658368" y="2834640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replay_window_sec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71800" y="2834640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977640" y="2834640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Per-stream replay retention; advertised as REPLAY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8368" y="3108960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max_symbols_per_client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71800" y="3108960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977640" y="3108960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symbols across all channels; over it returns SUB_LIMIT</a:t>
            </a:r>
            <a:endParaRPr lang="en-US" sz="950" dirty="0"/>
          </a:p>
        </p:txBody>
      </p:sp>
      <p:sp>
        <p:nvSpPr>
          <p:cNvPr id="32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383280"/>
            <a:ext cx="8101584" cy="265176"/>
          </a:xfrm>
          <a:prstGeom prst="rect">
            <a:avLst/>
          </a:prstGeom>
          <a:solidFill>
            <a:srgbClr val="1E262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658368" y="3383280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max_client_queue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971800" y="3383280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977640" y="3383280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backlog; over it disconnects silently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58368" y="3657600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max_connections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971800" y="3657600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977640" y="3657600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connections; over it the socket closes immediately</a:t>
            </a:r>
            <a:endParaRPr lang="en-US" sz="950" dirty="0"/>
          </a:p>
        </p:txBody>
      </p:sp>
      <p:sp>
        <p:nvSpPr>
          <p:cNvPr id="39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931920"/>
            <a:ext cx="8101584" cy="265176"/>
          </a:xfrm>
          <a:prstGeom prst="rect">
            <a:avLst/>
          </a:prstGeom>
          <a:solidFill>
            <a:srgbClr val="1E262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0" name="Text 38"/>
          <p:cNvSpPr/>
          <p:nvPr/>
        </p:nvSpPr>
        <p:spPr>
          <a:xfrm>
            <a:off x="658368" y="3931920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max_messages_per_second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971800" y="3931920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977640" y="3931920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rate limit; over it returns RATE_LIMITED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8368" y="4206240"/>
            <a:ext cx="2286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depth_levels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971800" y="4206240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977640" y="4206240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levels per side on DEPTH; surfaced as LEVELS=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21208" y="4535424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707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must be positive integers, or the gateway refuses to start. An unreadable engine config disables known-symbol validation gateway-wide.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· configuration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 matrix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type, snapshot behaviour, wildcard support and payload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828800" y="12070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926080" y="12070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11880" y="12070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SYM=*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89120" y="1207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C8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fields</a:t>
            </a:r>
            <a:endParaRPr lang="en-US" sz="950" dirty="0"/>
          </a:p>
        </p:txBody>
      </p:sp>
      <p:sp>
        <p:nvSpPr>
          <p:cNvPr id="9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536192"/>
            <a:ext cx="8101584" cy="365760"/>
          </a:xfrm>
          <a:prstGeom prst="rect">
            <a:avLst/>
          </a:prstGeom>
          <a:solidFill>
            <a:srgbClr val="2732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658368" y="15361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28800" y="15361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26080" y="15361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11880" y="15361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0" y="15361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 BIDSZ ASK ASKSZ LAST LASTSZ</a:t>
            </a:r>
            <a:endParaRPr lang="en-US" sz="900" dirty="0"/>
          </a:p>
        </p:txBody>
      </p:sp>
      <p:sp>
        <p:nvSpPr>
          <p:cNvPr id="15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938528"/>
            <a:ext cx="8101584" cy="365760"/>
          </a:xfrm>
          <a:prstGeom prst="rect">
            <a:avLst/>
          </a:prstGeom>
          <a:solidFill>
            <a:srgbClr val="1E262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658368" y="19385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28800" y="19385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926080" y="19385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11880" y="19385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89120" y="19385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 QTY SIDE</a:t>
            </a:r>
            <a:endParaRPr lang="en-US" sz="900" dirty="0"/>
          </a:p>
        </p:txBody>
      </p:sp>
      <p:sp>
        <p:nvSpPr>
          <p:cNvPr id="21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340864"/>
            <a:ext cx="8101584" cy="365760"/>
          </a:xfrm>
          <a:prstGeom prst="rect">
            <a:avLst/>
          </a:prstGeom>
          <a:solidFill>
            <a:srgbClr val="2732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658368" y="23408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28800" y="234086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926080" y="23408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11880" y="234086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89120" y="2340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PREV</a:t>
            </a:r>
            <a:endParaRPr lang="en-US" sz="900" dirty="0"/>
          </a:p>
        </p:txBody>
      </p:sp>
      <p:sp>
        <p:nvSpPr>
          <p:cNvPr id="27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743200"/>
            <a:ext cx="8101584" cy="365760"/>
          </a:xfrm>
          <a:prstGeom prst="rect">
            <a:avLst/>
          </a:prstGeom>
          <a:solidFill>
            <a:srgbClr val="1E262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658368" y="2743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828800" y="2743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26080" y="2743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1188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89120" y="2743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 SESSION OPEN CHG PCTCHG HIGH LOW AGGCAP</a:t>
            </a:r>
            <a:endParaRPr lang="en-US" sz="900" dirty="0"/>
          </a:p>
        </p:txBody>
      </p:sp>
      <p:sp>
        <p:nvSpPr>
          <p:cNvPr id="33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145536"/>
            <a:ext cx="8101584" cy="365760"/>
          </a:xfrm>
          <a:prstGeom prst="rect">
            <a:avLst/>
          </a:prstGeom>
          <a:solidFill>
            <a:srgbClr val="2732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658368" y="31455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828800" y="31455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926080" y="31455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11880" y="31455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389120" y="31455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LEVELS BIDS ASKS</a:t>
            </a:r>
            <a:endParaRPr lang="en-US" sz="900" dirty="0"/>
          </a:p>
        </p:txBody>
      </p:sp>
      <p:sp>
        <p:nvSpPr>
          <p:cNvPr id="39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547872"/>
            <a:ext cx="8101584" cy="365760"/>
          </a:xfrm>
          <a:prstGeom prst="rect">
            <a:avLst/>
          </a:prstGeom>
          <a:solidFill>
            <a:srgbClr val="1E262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0" name="Text 38"/>
          <p:cNvSpPr/>
          <p:nvPr/>
        </p:nvSpPr>
        <p:spPr>
          <a:xfrm>
            <a:off x="658368" y="35478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AUCTION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828800" y="35478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926080" y="35478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611880" y="35478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389120" y="3547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EQPX EQQTY TRADES IMBSIDE IMBQTY</a:t>
            </a:r>
            <a:endParaRPr lang="en-US" sz="900" dirty="0"/>
          </a:p>
        </p:txBody>
      </p:sp>
      <p:sp>
        <p:nvSpPr>
          <p:cNvPr id="45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950208"/>
            <a:ext cx="8101584" cy="365760"/>
          </a:xfrm>
          <a:prstGeom prst="rect">
            <a:avLst/>
          </a:prstGeom>
          <a:solidFill>
            <a:srgbClr val="2732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6" name="Text 44"/>
          <p:cNvSpPr/>
          <p:nvPr/>
        </p:nvSpPr>
        <p:spPr>
          <a:xfrm>
            <a:off x="658368" y="39502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828800" y="39502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926080" y="39502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611880" y="39502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389120" y="39502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LEVEL TRIGGERPX REFPX RESUMEAT SRC CORRLO CORRHI EXP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21208" y="4462272"/>
            <a:ext cx="8101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07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also carries the CH, SYM, SEQ and TS envelope before these payload fields.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· channels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codes in full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and action for every code the gateway emits</a:t>
            </a:r>
            <a:endParaRPr lang="en-US" sz="1300" dirty="0"/>
          </a:p>
        </p:txBody>
      </p:sp>
      <p:sp>
        <p:nvSpPr>
          <p:cNvPr id="4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16152"/>
            <a:ext cx="8101584" cy="347472"/>
          </a:xfrm>
          <a:prstGeom prst="rect">
            <a:avLst/>
          </a:prstGeom>
          <a:solidFill>
            <a:srgbClr val="2732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658368" y="12161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B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AUTH_REQUIRED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450592" y="1216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sent before HELLO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285232" y="12161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HELLO first</a:t>
            </a:r>
            <a:endParaRPr lang="en-US" sz="950" dirty="0"/>
          </a:p>
        </p:txBody>
      </p:sp>
      <p:sp>
        <p:nvSpPr>
          <p:cNvPr id="8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581912"/>
            <a:ext cx="8101584" cy="347472"/>
          </a:xfrm>
          <a:prstGeom prst="rect">
            <a:avLst/>
          </a:prstGeom>
          <a:solidFill>
            <a:srgbClr val="1E262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658368" y="15819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B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PROTO_MISMATCH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50592" y="15819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or missing PROTO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285232" y="15819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PROTO=CALF1</a:t>
            </a:r>
            <a:endParaRPr lang="en-US" sz="950" dirty="0"/>
          </a:p>
        </p:txBody>
      </p:sp>
      <p:sp>
        <p:nvSpPr>
          <p:cNvPr id="12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947672"/>
            <a:ext cx="8101584" cy="347472"/>
          </a:xfrm>
          <a:prstGeom prst="rect">
            <a:avLst/>
          </a:prstGeom>
          <a:solidFill>
            <a:srgbClr val="2732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658368" y="19476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B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INVALID_CHANNEL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50592" y="19476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CH value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85232" y="19476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of the seven channel names</a:t>
            </a:r>
            <a:endParaRPr lang="en-US" sz="950" dirty="0"/>
          </a:p>
        </p:txBody>
      </p:sp>
      <p:sp>
        <p:nvSpPr>
          <p:cNvPr id="16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313432"/>
            <a:ext cx="8101584" cy="347472"/>
          </a:xfrm>
          <a:prstGeom prst="rect">
            <a:avLst/>
          </a:prstGeom>
          <a:solidFill>
            <a:srgbClr val="1E262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658368" y="23134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B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INVALID_SYMBOL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50592" y="23134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symbol, or SYM=* where it is not allowed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285232" y="2313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only on SUB for STATE/TOP/TRADE/AUCTION — never on RESUME</a:t>
            </a:r>
            <a:endParaRPr lang="en-US" sz="950" dirty="0"/>
          </a:p>
        </p:txBody>
      </p:sp>
      <p:sp>
        <p:nvSpPr>
          <p:cNvPr id="20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679192"/>
            <a:ext cx="8101584" cy="347472"/>
          </a:xfrm>
          <a:prstGeom prst="rect">
            <a:avLst/>
          </a:prstGeom>
          <a:solidFill>
            <a:srgbClr val="2732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58368" y="26791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B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SUB_LIMIT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50592" y="26791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unique symbols subscribed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285232" y="26791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requested symbol set</a:t>
            </a:r>
            <a:endParaRPr lang="en-US" sz="950" dirty="0"/>
          </a:p>
        </p:txBody>
      </p:sp>
      <p:sp>
        <p:nvSpPr>
          <p:cNvPr id="24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044952"/>
            <a:ext cx="8101584" cy="347472"/>
          </a:xfrm>
          <a:prstGeom prst="rect">
            <a:avLst/>
          </a:prstGeom>
          <a:solidFill>
            <a:srgbClr val="1E262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658368" y="30449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B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RATE_LIMITED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50592" y="30449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rate exceeded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285232" y="30449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down; the connection stays open</a:t>
            </a:r>
            <a:endParaRPr lang="en-US" sz="950" dirty="0"/>
          </a:p>
        </p:txBody>
      </p:sp>
      <p:sp>
        <p:nvSpPr>
          <p:cNvPr id="28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410712"/>
            <a:ext cx="8101584" cy="347472"/>
          </a:xfrm>
          <a:prstGeom prst="rect">
            <a:avLst/>
          </a:prstGeom>
          <a:solidFill>
            <a:srgbClr val="2732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658368" y="34107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B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REPLAY_MISS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450592" y="34107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replay is outside the window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285232" y="34107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fresh SNAP and reset — except on TRADE/AUCTION, where none follows</a:t>
            </a:r>
            <a:endParaRPr lang="en-US" sz="950" dirty="0"/>
          </a:p>
        </p:txBody>
      </p:sp>
      <p:sp>
        <p:nvSpPr>
          <p:cNvPr id="32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776472"/>
            <a:ext cx="8101584" cy="347472"/>
          </a:xfrm>
          <a:prstGeom prst="rect">
            <a:avLst/>
          </a:prstGeom>
          <a:solidFill>
            <a:srgbClr val="1E262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658368" y="37764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B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SLOW_CLIENT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450592" y="37764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queue could not be drained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285232" y="37764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 and consume faster; this ERR may never arrive</a:t>
            </a:r>
            <a:endParaRPr lang="en-US" sz="950" dirty="0"/>
          </a:p>
        </p:txBody>
      </p:sp>
      <p:sp>
        <p:nvSpPr>
          <p:cNvPr id="36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4142232"/>
            <a:ext cx="8101584" cy="347472"/>
          </a:xfrm>
          <a:prstGeom prst="rect">
            <a:avLst/>
          </a:prstGeom>
          <a:solidFill>
            <a:srgbClr val="2732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7" name="Text 35"/>
          <p:cNvSpPr/>
          <p:nvPr/>
        </p:nvSpPr>
        <p:spPr>
          <a:xfrm>
            <a:off x="658368" y="4142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B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BAD_MESSAGE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450592" y="41422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or oversized line, over 4096 bytes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285232" y="41422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line syntax or framing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1208" y="4553712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707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immediate disconnect before any WELCOME is not in this table — it usually means the gateway is at max_connections.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· errors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Starting the gateway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Prerequisites, commands and the overrides worth knowing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98448"/>
            <a:ext cx="3931920" cy="1463040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Prerequisites</a:t>
            </a:r>
            <a:endParaRPr lang="en-US" sz="1300" dirty="0"/>
          </a:p>
        </p:txBody>
      </p:sp>
      <p:sp>
        <p:nvSpPr>
          <p:cNvPr id="6" name="bullet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1911096"/>
            <a:ext cx="109728" cy="109728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" name="Text 5"/>
          <p:cNvSpPr/>
          <p:nvPr/>
        </p:nvSpPr>
        <p:spPr>
          <a:xfrm>
            <a:off x="969264" y="18470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pm-engine running and publishing</a:t>
            </a:r>
            <a:endParaRPr lang="en-US" sz="1100" dirty="0"/>
          </a:p>
        </p:txBody>
      </p:sp>
      <p:sp>
        <p:nvSpPr>
          <p:cNvPr id="8" name="bullet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2203704"/>
            <a:ext cx="109728" cy="109728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969264" y="213969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pm-md-gwy running</a:t>
            </a:r>
            <a:endParaRPr lang="en-US" sz="1100" dirty="0"/>
          </a:p>
        </p:txBody>
      </p:sp>
      <p:sp>
        <p:nvSpPr>
          <p:cNvPr id="10" name="bullet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2496312"/>
            <a:ext cx="109728" cy="109728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969264" y="243230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symbols configured in the engine config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2926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it</a:t>
            </a:r>
            <a:endParaRPr lang="en-US" sz="1200" dirty="0"/>
          </a:p>
        </p:txBody>
      </p:sp>
      <p:sp>
        <p:nvSpPr>
          <p:cNvPr id="13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200400"/>
            <a:ext cx="3931920" cy="1234440"/>
          </a:xfrm>
          <a:prstGeom prst="rect">
            <a:avLst/>
          </a:prstGeom>
          <a:solidFill>
            <a:srgbClr val="0B0F11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649224" y="3291840"/>
            <a:ext cx="3675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pm-engine --verbose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pm-md-gwy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developer mode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7E7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poetry run pm-md-gwy</a:t>
            </a:r>
            <a:endParaRPr lang="en-US" sz="1000" dirty="0"/>
          </a:p>
        </p:txBody>
      </p:sp>
      <p:sp>
        <p:nvSpPr>
          <p:cNvPr id="15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298448"/>
            <a:ext cx="3977640" cy="3310128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4864608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 overrides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64608" y="18105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--bind ADDR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675120" y="181051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bind address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64608" y="21579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--port PORT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75120" y="215798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listen port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64608" y="2505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--engine-pub ADDR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75120" y="2505456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PUB socket, default 127.0.0.1:5556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64608" y="28529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--index-pub ADDR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75120" y="285292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PUB socket, default 127.0.0.1:5558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64608" y="32004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--log-level LEVEL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675120" y="32004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… DEBUG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64608" y="354787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 / -vv / -q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75120" y="354787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verbosity shortcuts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64608" y="389534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--version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675120" y="389534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installed version and exit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64608" y="4224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7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must read the same engine configuration as the engine itself.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· operations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743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checklist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down this list when a feed is not behaving</a:t>
            </a:r>
            <a:endParaRPr lang="en-US" sz="1300" dirty="0"/>
          </a:p>
        </p:txBody>
      </p:sp>
      <p:sp>
        <p:nvSpPr>
          <p:cNvPr id="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280160"/>
            <a:ext cx="8101584" cy="347472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checklis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80744"/>
            <a:ext cx="146304" cy="146304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960120" y="12801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pm-engine is running and publishing</a:t>
            </a:r>
            <a:endParaRPr lang="en-US" sz="1100" dirty="0"/>
          </a:p>
        </p:txBody>
      </p:sp>
      <p:sp>
        <p:nvSpPr>
          <p:cNvPr id="7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700784"/>
            <a:ext cx="8101584" cy="347472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checklis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801368"/>
            <a:ext cx="146304" cy="146304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960120" y="170078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pm-md-gwy is running</a:t>
            </a:r>
            <a:endParaRPr lang="en-US" sz="1100" dirty="0"/>
          </a:p>
        </p:txBody>
      </p:sp>
      <p:sp>
        <p:nvSpPr>
          <p:cNvPr id="10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121408"/>
            <a:ext cx="8101584" cy="347472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checklis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221992"/>
            <a:ext cx="146304" cy="146304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960120" y="212140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TCP port is reachable — nc 127.0.0.1 5570</a:t>
            </a:r>
            <a:endParaRPr lang="en-US" sz="1100" dirty="0"/>
          </a:p>
        </p:txBody>
      </p:sp>
      <p:sp>
        <p:nvSpPr>
          <p:cNvPr id="13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542032"/>
            <a:ext cx="8101584" cy="347472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checklis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642616"/>
            <a:ext cx="146304" cy="146304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960120" y="254203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receives a WELCOME</a:t>
            </a:r>
            <a:endParaRPr lang="en-US" sz="1100" dirty="0"/>
          </a:p>
        </p:txBody>
      </p:sp>
      <p:sp>
        <p:nvSpPr>
          <p:cNvPr id="1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962656"/>
            <a:ext cx="8101584" cy="347472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checklis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063240"/>
            <a:ext cx="146304" cy="146304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960120" y="296265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receives the expected SNAP and live flow</a:t>
            </a:r>
            <a:endParaRPr lang="en-US" sz="1100" dirty="0"/>
          </a:p>
        </p:txBody>
      </p:sp>
      <p:sp>
        <p:nvSpPr>
          <p:cNvPr id="19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383280"/>
            <a:ext cx="8101584" cy="347472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checklis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483864"/>
            <a:ext cx="146304" cy="146304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960120" y="338328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is tracked per stream, and one RESUME is sent per stream on reconnect</a:t>
            </a:r>
            <a:endParaRPr lang="en-US" sz="1100" dirty="0"/>
          </a:p>
        </p:txBody>
      </p:sp>
      <p:sp>
        <p:nvSpPr>
          <p:cNvPr id="22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803904"/>
            <a:ext cx="8101584" cy="347472"/>
          </a:xfrm>
          <a:prstGeom prst="rect">
            <a:avLst/>
          </a:prstGeom>
          <a:solidFill>
            <a:srgbClr val="273238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checklis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904488"/>
            <a:ext cx="146304" cy="146304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960120" y="380390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REPLAY_MISS the recovery SNAP is accepted and local state reset</a:t>
            </a:r>
            <a:endParaRPr lang="en-US" sz="1100" dirty="0"/>
          </a:p>
        </p:txBody>
      </p:sp>
      <p:sp>
        <p:nvSpPr>
          <p:cNvPr id="25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4224528"/>
            <a:ext cx="8101584" cy="347472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checklis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4325112"/>
            <a:ext cx="146304" cy="146304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960120" y="42245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replayed messages at or below the recorded SEQ are dropped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" y="4572000"/>
            <a:ext cx="8101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707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immediate disconnect before WELCOME, or a busy stream that drops without an error, both point at limits rather than syntax.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120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· checklist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63840" y="48554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D6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CALF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illustration of market data streaming across a dark background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darkening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81B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SHORT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F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things to remember</a:t>
            </a:r>
            <a:endParaRPr lang="en-US" sz="3400" dirty="0"/>
          </a:p>
        </p:txBody>
      </p:sp>
      <p:sp>
        <p:nvSpPr>
          <p:cNvPr id="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965960"/>
            <a:ext cx="3941064" cy="105156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7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0664" y="2148840"/>
            <a:ext cx="329184" cy="329184"/>
          </a:xfrm>
          <a:prstGeom prst="ellipse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5"/>
          <p:cNvSpPr/>
          <p:nvPr/>
        </p:nvSpPr>
        <p:spPr>
          <a:xfrm>
            <a:off x="740664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61288" y="21488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gateway translates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0664" y="25328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speaks privately; CALF speaks to everyone, in plain text over TCP.</a:t>
            </a:r>
            <a:endParaRPr lang="en-US" sz="1050" dirty="0"/>
          </a:p>
        </p:txBody>
      </p:sp>
      <p:sp>
        <p:nvSpPr>
          <p:cNvPr id="11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1965960"/>
            <a:ext cx="3941064" cy="105156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2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01184" y="2148840"/>
            <a:ext cx="329184" cy="329184"/>
          </a:xfrm>
          <a:prstGeom prst="ellipse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0"/>
          <p:cNvSpPr/>
          <p:nvPr/>
        </p:nvSpPr>
        <p:spPr>
          <a:xfrm>
            <a:off x="4901184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21808" y="21488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Seven channels, one envelope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901184" y="25328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CH, SYM, SEQ and TS on every line — learn one channel and you know them all.</a:t>
            </a:r>
            <a:endParaRPr lang="en-US" sz="1050" dirty="0"/>
          </a:p>
        </p:txBody>
      </p:sp>
      <p:sp>
        <p:nvSpPr>
          <p:cNvPr id="1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200400"/>
            <a:ext cx="3941064" cy="105156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7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0664" y="3383280"/>
            <a:ext cx="329184" cy="329184"/>
          </a:xfrm>
          <a:prstGeom prst="ellipse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5"/>
          <p:cNvSpPr/>
          <p:nvPr/>
        </p:nvSpPr>
        <p:spPr>
          <a:xfrm>
            <a:off x="740664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61288" y="33832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Seed, then merge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40664" y="37673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snapshot gives you the baseline; increments only carry what changed.</a:t>
            </a:r>
            <a:endParaRPr lang="en-US" sz="1050" dirty="0"/>
          </a:p>
        </p:txBody>
      </p:sp>
      <p:sp>
        <p:nvSpPr>
          <p:cNvPr id="21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3200400"/>
            <a:ext cx="3941064" cy="1051560"/>
          </a:xfrm>
          <a:prstGeom prst="rect">
            <a:avLst/>
          </a:prstGeom>
          <a:solidFill>
            <a:srgbClr val="1E262B"/>
          </a:solidFill>
          <a:ln w="12700">
            <a:solidFill>
              <a:srgbClr val="35434A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2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01184" y="3383280"/>
            <a:ext cx="329184" cy="329184"/>
          </a:xfrm>
          <a:prstGeom prst="ellipse">
            <a:avLst/>
          </a:prstGeom>
          <a:solidFill>
            <a:srgbClr val="12281F"/>
          </a:solidFill>
          <a:ln w="12700">
            <a:solidFill>
              <a:srgbClr val="1E8F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0"/>
          <p:cNvSpPr/>
          <p:nvPr/>
        </p:nvSpPr>
        <p:spPr>
          <a:xfrm>
            <a:off x="4901184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321808" y="33832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Never ignore SEQ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901184" y="37673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difference between a feed you can trust and one you merely hope is complete.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21208" y="4553712"/>
            <a:ext cx="8101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open a socket, send HELLO, and watch the market arrive one line at a time.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5367</Words>
  <Application>Microsoft Macintosh PowerPoint</Application>
  <PresentationFormat>On-screen Show (16:9)</PresentationFormat>
  <Paragraphs>968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Consolas</vt:lpstr>
      <vt:lpstr>Trebuchet MS</vt:lpstr>
      <vt:lpstr>Office Theme</vt:lpstr>
      <vt:lpstr>CALF</vt:lpstr>
      <vt:lpstr>What you will learn</vt:lpstr>
      <vt:lpstr>Why a gateway exists</vt:lpstr>
      <vt:lpstr>First, what is market data?</vt:lpstr>
      <vt:lpstr>So what is a gateway for?</vt:lpstr>
      <vt:lpstr>CALF is one of four protocols</vt:lpstr>
      <vt:lpstr>The purpose of the protocol</vt:lpstr>
      <vt:lpstr>The feed at a glance</vt:lpstr>
      <vt:lpstr>Reading the wire</vt:lpstr>
      <vt:lpstr>Anatomy of a CALF line</vt:lpstr>
      <vt:lpstr>The envelope on every data line</vt:lpstr>
      <vt:lpstr>What data is available: seven channels</vt:lpstr>
      <vt:lpstr>TOP — the price everyone quotes</vt:lpstr>
      <vt:lpstr>TRADE — the tape</vt:lpstr>
      <vt:lpstr>DEPTH — the order book ladder</vt:lpstr>
      <vt:lpstr>STATE — is the market even open?</vt:lpstr>
      <vt:lpstr>INDEX — the market in one number</vt:lpstr>
      <vt:lpstr>AUCTION — how the open and close print</vt:lpstr>
      <vt:lpstr>CB — the detail behind a halt</vt:lpstr>
      <vt:lpstr>Two rules that catch everyone out</vt:lpstr>
      <vt:lpstr>Using the protocol</vt:lpstr>
      <vt:lpstr>The shape of every session</vt:lpstr>
      <vt:lpstr>Step 1 — the handshake</vt:lpstr>
      <vt:lpstr>Step 2 — subscribe</vt:lpstr>
      <vt:lpstr>Step 3 — seed, then merge</vt:lpstr>
      <vt:lpstr>Step 4 — staying connected</vt:lpstr>
      <vt:lpstr>When things go wrong</vt:lpstr>
      <vt:lpstr>How errors are handled</vt:lpstr>
      <vt:lpstr>The failures that arrive silently</vt:lpstr>
      <vt:lpstr>Spotting a gap</vt:lpstr>
      <vt:lpstr>Replaying what you missed</vt:lpstr>
      <vt:lpstr>Three things RESUME can return</vt:lpstr>
      <vt:lpstr>Building a client</vt:lpstr>
      <vt:lpstr>Anatomy of a robust client</vt:lpstr>
      <vt:lpstr>A client in fifteen lines</vt:lpstr>
      <vt:lpstr>Pick the right starting point</vt:lpstr>
      <vt:lpstr>What you can build on it</vt:lpstr>
      <vt:lpstr>Technical reference</vt:lpstr>
      <vt:lpstr>Configuration reference</vt:lpstr>
      <vt:lpstr>Channel matrix</vt:lpstr>
      <vt:lpstr>Error codes in full</vt:lpstr>
      <vt:lpstr>Starting the gateway</vt:lpstr>
      <vt:lpstr>Operational checklist</vt:lpstr>
      <vt:lpstr>Four things to remember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 Persson</dc:creator>
  <cp:lastModifiedBy>Johan Persson</cp:lastModifiedBy>
  <cp:revision>1</cp:revision>
  <dcterms:created xsi:type="dcterms:W3CDTF">2026-08-03T20:46:15Z</dcterms:created>
  <dcterms:modified xsi:type="dcterms:W3CDTF">2026-08-04T05:51:24Z</dcterms:modified>
</cp:coreProperties>
</file>