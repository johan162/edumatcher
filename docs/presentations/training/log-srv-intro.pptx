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8"/>
    <p:restoredTop sz="94637"/>
  </p:normalViewPr>
  <p:slideViewPr>
    <p:cSldViewPr snapToGrid="0">
      <p:cViewPr>
        <p:scale>
          <a:sx n="168" d="100"/>
          <a:sy n="168" d="100"/>
        </p:scale>
        <p:origin x="832" y="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5161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85800" y="1847088"/>
            <a:ext cx="7772400" cy="13716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5161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148840"/>
            <a:ext cx="694944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15161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475488"/>
            <a:ext cx="8010144" cy="56692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916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61A"/>
        </a:solidFill>
        <a:effectLst/>
      </p:bgPr>
    </p:bg>
    <p:spTree>
      <p:nvGrpSpPr>
        <p:cNvPr id="1" name=""/>
        <p:cNvGrpSpPr/>
        <p:nvPr/>
      </p:nvGrpSpPr>
      <p:grpSpPr>
        <a:xfrm>
          <a:off x="0" y="0"/>
          <a:ext cx="0" cy="0"/>
          <a:chOff x="0" y="0"/>
          <a:chExt cx="0" cy="0"/>
        </a:xfrm>
      </p:grpSpPr>
      <p:sp>
        <p:nvSpPr>
          <p:cNvPr id="2" name="background log-line texture">
            <a:extLst>
              <a:ext uri="{C183D7F6-B498-43B3-948B-1728B52AA6E4}">
                <adec:decorative xmlns:adec="http://schemas.microsoft.com/office/drawing/2017/decorative" val="1"/>
              </a:ext>
            </a:extLst>
          </p:cNvPr>
          <p:cNvSpPr/>
          <p:nvPr/>
        </p:nvSpPr>
        <p:spPr>
          <a:xfrm>
            <a:off x="5989320" y="384048"/>
            <a:ext cx="320040" cy="32004"/>
          </a:xfrm>
          <a:prstGeom prst="rect">
            <a:avLst/>
          </a:prstGeom>
          <a:solidFill>
            <a:srgbClr val="2E333B"/>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263640" y="557784"/>
            <a:ext cx="1783080" cy="32004"/>
          </a:xfrm>
          <a:prstGeom prst="rect">
            <a:avLst/>
          </a:prstGeom>
          <a:solidFill>
            <a:srgbClr val="23272E"/>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080760" y="731520"/>
            <a:ext cx="1325880" cy="32004"/>
          </a:xfrm>
          <a:prstGeom prst="rect">
            <a:avLst/>
          </a:prstGeom>
          <a:solidFill>
            <a:srgbClr val="23272E"/>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355080" y="905256"/>
            <a:ext cx="868680" cy="32004"/>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172200" y="1078992"/>
            <a:ext cx="411480" cy="32004"/>
          </a:xfrm>
          <a:prstGeom prst="rect">
            <a:avLst/>
          </a:prstGeom>
          <a:solidFill>
            <a:srgbClr val="23272E"/>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5989320" y="1252728"/>
            <a:ext cx="1874520" cy="32004"/>
          </a:xfrm>
          <a:prstGeom prst="rect">
            <a:avLst/>
          </a:prstGeom>
          <a:solidFill>
            <a:srgbClr val="2E333B"/>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263640" y="1426464"/>
            <a:ext cx="1417320" cy="32004"/>
          </a:xfrm>
          <a:prstGeom prst="rect">
            <a:avLst/>
          </a:prstGeom>
          <a:solidFill>
            <a:srgbClr val="23272E"/>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080760" y="1600200"/>
            <a:ext cx="960120" cy="32004"/>
          </a:xfrm>
          <a:prstGeom prst="rect">
            <a:avLst/>
          </a:prstGeom>
          <a:solidFill>
            <a:srgbClr val="23272E"/>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355080" y="1773936"/>
            <a:ext cx="502920" cy="32004"/>
          </a:xfrm>
          <a:prstGeom prst="rect">
            <a:avLst/>
          </a:prstGeom>
          <a:solidFill>
            <a:srgbClr val="23272E"/>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172200" y="1947672"/>
            <a:ext cx="1965960" cy="32004"/>
          </a:xfrm>
          <a:prstGeom prst="rect">
            <a:avLst/>
          </a:prstGeom>
          <a:solidFill>
            <a:srgbClr val="23272E"/>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5989320" y="2121408"/>
            <a:ext cx="1508760" cy="32004"/>
          </a:xfrm>
          <a:prstGeom prst="rect">
            <a:avLst/>
          </a:prstGeom>
          <a:solidFill>
            <a:srgbClr val="7A5A24"/>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263640" y="2295144"/>
            <a:ext cx="1051560" cy="32004"/>
          </a:xfrm>
          <a:prstGeom prst="rect">
            <a:avLst/>
          </a:prstGeom>
          <a:solidFill>
            <a:srgbClr val="23272E"/>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080760" y="2468880"/>
            <a:ext cx="594360" cy="32004"/>
          </a:xfrm>
          <a:prstGeom prst="rect">
            <a:avLst/>
          </a:prstGeom>
          <a:solidFill>
            <a:srgbClr val="23272E"/>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55080" y="2642616"/>
            <a:ext cx="2057400" cy="32004"/>
          </a:xfrm>
          <a:prstGeom prst="rect">
            <a:avLst/>
          </a:prstGeom>
          <a:solidFill>
            <a:srgbClr val="23272E"/>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172200" y="2816352"/>
            <a:ext cx="1600200" cy="32004"/>
          </a:xfrm>
          <a:prstGeom prst="rect">
            <a:avLst/>
          </a:prstGeom>
          <a:solidFill>
            <a:srgbClr val="23272E"/>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5989320" y="2990088"/>
            <a:ext cx="1143000" cy="32004"/>
          </a:xfrm>
          <a:prstGeom prst="rect">
            <a:avLst/>
          </a:prstGeom>
          <a:solidFill>
            <a:srgbClr val="2E333B"/>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263640" y="3163824"/>
            <a:ext cx="685800" cy="32004"/>
          </a:xfrm>
          <a:prstGeom prst="rect">
            <a:avLst/>
          </a:prstGeom>
          <a:solidFill>
            <a:srgbClr val="23272E"/>
          </a:solidFill>
          <a:ln w="12700">
            <a:solidFill>
              <a:srgbClr val="333333"/>
            </a:solidFill>
            <a:prstDash val="solid"/>
          </a:ln>
        </p:spPr>
        <p:txBody>
          <a:bodyPr/>
          <a:lstStyle/>
          <a:p>
            <a:endParaRPr lang="en-SE"/>
          </a:p>
        </p:txBody>
      </p:sp>
      <p:sp>
        <p:nvSpPr>
          <p:cNvPr id="19" name="background log-line texture">
            <a:extLst>
              <a:ext uri="{C183D7F6-B498-43B3-948B-1728B52AA6E4}">
                <adec:decorative xmlns:adec="http://schemas.microsoft.com/office/drawing/2017/decorative" val="1"/>
              </a:ext>
            </a:extLst>
          </p:cNvPr>
          <p:cNvSpPr/>
          <p:nvPr/>
        </p:nvSpPr>
        <p:spPr>
          <a:xfrm>
            <a:off x="6080760" y="3337560"/>
            <a:ext cx="2148840" cy="32004"/>
          </a:xfrm>
          <a:prstGeom prst="rect">
            <a:avLst/>
          </a:prstGeom>
          <a:solidFill>
            <a:srgbClr val="7A5A24"/>
          </a:solidFill>
          <a:ln w="12700">
            <a:solidFill>
              <a:srgbClr val="333333"/>
            </a:solidFill>
            <a:prstDash val="solid"/>
          </a:ln>
        </p:spPr>
        <p:txBody>
          <a:bodyPr/>
          <a:lstStyle/>
          <a:p>
            <a:endParaRPr lang="en-SE"/>
          </a:p>
        </p:txBody>
      </p:sp>
      <p:sp>
        <p:nvSpPr>
          <p:cNvPr id="20" name="background log-line texture">
            <a:extLst>
              <a:ext uri="{C183D7F6-B498-43B3-948B-1728B52AA6E4}">
                <adec:decorative xmlns:adec="http://schemas.microsoft.com/office/drawing/2017/decorative" val="1"/>
              </a:ext>
            </a:extLst>
          </p:cNvPr>
          <p:cNvSpPr/>
          <p:nvPr/>
        </p:nvSpPr>
        <p:spPr>
          <a:xfrm>
            <a:off x="6355080" y="3511296"/>
            <a:ext cx="1691640" cy="32004"/>
          </a:xfrm>
          <a:prstGeom prst="rect">
            <a:avLst/>
          </a:prstGeom>
          <a:solidFill>
            <a:srgbClr val="23272E"/>
          </a:solidFill>
          <a:ln w="12700">
            <a:solidFill>
              <a:srgbClr val="333333"/>
            </a:solidFill>
            <a:prstDash val="solid"/>
          </a:ln>
        </p:spPr>
        <p:txBody>
          <a:bodyPr/>
          <a:lstStyle/>
          <a:p>
            <a:endParaRPr lang="en-SE"/>
          </a:p>
        </p:txBody>
      </p:sp>
      <p:sp>
        <p:nvSpPr>
          <p:cNvPr id="21" name="background log-line texture">
            <a:extLst>
              <a:ext uri="{C183D7F6-B498-43B3-948B-1728B52AA6E4}">
                <adec:decorative xmlns:adec="http://schemas.microsoft.com/office/drawing/2017/decorative" val="1"/>
              </a:ext>
            </a:extLst>
          </p:cNvPr>
          <p:cNvSpPr/>
          <p:nvPr/>
        </p:nvSpPr>
        <p:spPr>
          <a:xfrm>
            <a:off x="6172200" y="3685032"/>
            <a:ext cx="1234440" cy="32004"/>
          </a:xfrm>
          <a:prstGeom prst="rect">
            <a:avLst/>
          </a:prstGeom>
          <a:solidFill>
            <a:srgbClr val="23272E"/>
          </a:solidFill>
          <a:ln w="12700">
            <a:solidFill>
              <a:srgbClr val="333333"/>
            </a:solidFill>
            <a:prstDash val="solid"/>
          </a:ln>
        </p:spPr>
        <p:txBody>
          <a:bodyPr/>
          <a:lstStyle/>
          <a:p>
            <a:endParaRPr lang="en-SE"/>
          </a:p>
        </p:txBody>
      </p:sp>
      <p:sp>
        <p:nvSpPr>
          <p:cNvPr id="22" name="background log-line texture">
            <a:extLst>
              <a:ext uri="{C183D7F6-B498-43B3-948B-1728B52AA6E4}">
                <adec:decorative xmlns:adec="http://schemas.microsoft.com/office/drawing/2017/decorative" val="1"/>
              </a:ext>
            </a:extLst>
          </p:cNvPr>
          <p:cNvSpPr/>
          <p:nvPr/>
        </p:nvSpPr>
        <p:spPr>
          <a:xfrm>
            <a:off x="5989320" y="3858768"/>
            <a:ext cx="777240" cy="32004"/>
          </a:xfrm>
          <a:prstGeom prst="rect">
            <a:avLst/>
          </a:prstGeom>
          <a:solidFill>
            <a:srgbClr val="2E333B"/>
          </a:solidFill>
          <a:ln w="12700">
            <a:solidFill>
              <a:srgbClr val="333333"/>
            </a:solidFill>
            <a:prstDash val="solid"/>
          </a:ln>
        </p:spPr>
        <p:txBody>
          <a:bodyPr/>
          <a:lstStyle/>
          <a:p>
            <a:endParaRPr lang="en-SE"/>
          </a:p>
        </p:txBody>
      </p:sp>
      <p:sp>
        <p:nvSpPr>
          <p:cNvPr id="23" name="background log-line texture">
            <a:extLst>
              <a:ext uri="{C183D7F6-B498-43B3-948B-1728B52AA6E4}">
                <adec:decorative xmlns:adec="http://schemas.microsoft.com/office/drawing/2017/decorative" val="1"/>
              </a:ext>
            </a:extLst>
          </p:cNvPr>
          <p:cNvSpPr/>
          <p:nvPr/>
        </p:nvSpPr>
        <p:spPr>
          <a:xfrm>
            <a:off x="6263640" y="4032504"/>
            <a:ext cx="320040" cy="32004"/>
          </a:xfrm>
          <a:prstGeom prst="rect">
            <a:avLst/>
          </a:prstGeom>
          <a:solidFill>
            <a:srgbClr val="23272E"/>
          </a:solidFill>
          <a:ln w="12700">
            <a:solidFill>
              <a:srgbClr val="333333"/>
            </a:solidFill>
            <a:prstDash val="solid"/>
          </a:ln>
        </p:spPr>
        <p:txBody>
          <a:bodyPr/>
          <a:lstStyle/>
          <a:p>
            <a:endParaRPr lang="en-SE"/>
          </a:p>
        </p:txBody>
      </p:sp>
      <p:sp>
        <p:nvSpPr>
          <p:cNvPr id="24" name="background log-line texture">
            <a:extLst>
              <a:ext uri="{C183D7F6-B498-43B3-948B-1728B52AA6E4}">
                <adec:decorative xmlns:adec="http://schemas.microsoft.com/office/drawing/2017/decorative" val="1"/>
              </a:ext>
            </a:extLst>
          </p:cNvPr>
          <p:cNvSpPr/>
          <p:nvPr/>
        </p:nvSpPr>
        <p:spPr>
          <a:xfrm>
            <a:off x="6080760" y="4206240"/>
            <a:ext cx="1783080" cy="32004"/>
          </a:xfrm>
          <a:prstGeom prst="rect">
            <a:avLst/>
          </a:prstGeom>
          <a:solidFill>
            <a:srgbClr val="23272E"/>
          </a:solidFill>
          <a:ln w="12700">
            <a:solidFill>
              <a:srgbClr val="333333"/>
            </a:solidFill>
            <a:prstDash val="solid"/>
          </a:ln>
        </p:spPr>
        <p:txBody>
          <a:bodyPr/>
          <a:lstStyle/>
          <a:p>
            <a:endParaRPr lang="en-SE"/>
          </a:p>
        </p:txBody>
      </p:sp>
      <p:sp>
        <p:nvSpPr>
          <p:cNvPr id="25" name="background log-line texture">
            <a:extLst>
              <a:ext uri="{C183D7F6-B498-43B3-948B-1728B52AA6E4}">
                <adec:decorative xmlns:adec="http://schemas.microsoft.com/office/drawing/2017/decorative" val="1"/>
              </a:ext>
            </a:extLst>
          </p:cNvPr>
          <p:cNvSpPr/>
          <p:nvPr/>
        </p:nvSpPr>
        <p:spPr>
          <a:xfrm>
            <a:off x="6355080" y="4379976"/>
            <a:ext cx="1325880" cy="32004"/>
          </a:xfrm>
          <a:prstGeom prst="rect">
            <a:avLst/>
          </a:prstGeom>
          <a:solidFill>
            <a:srgbClr val="23272E"/>
          </a:solidFill>
          <a:ln w="12700">
            <a:solidFill>
              <a:srgbClr val="333333"/>
            </a:solidFill>
            <a:prstDash val="solid"/>
          </a:ln>
        </p:spPr>
        <p:txBody>
          <a:bodyPr/>
          <a:lstStyle/>
          <a:p>
            <a:endParaRPr lang="en-SE"/>
          </a:p>
        </p:txBody>
      </p:sp>
      <p:sp>
        <p:nvSpPr>
          <p:cNvPr id="26" name="background log-line texture">
            <a:extLst>
              <a:ext uri="{C183D7F6-B498-43B3-948B-1728B52AA6E4}">
                <adec:decorative xmlns:adec="http://schemas.microsoft.com/office/drawing/2017/decorative" val="1"/>
              </a:ext>
            </a:extLst>
          </p:cNvPr>
          <p:cNvSpPr/>
          <p:nvPr/>
        </p:nvSpPr>
        <p:spPr>
          <a:xfrm>
            <a:off x="6172200" y="4553712"/>
            <a:ext cx="868680" cy="32004"/>
          </a:xfrm>
          <a:prstGeom prst="rect">
            <a:avLst/>
          </a:prstGeom>
          <a:solidFill>
            <a:srgbClr val="7A5A24"/>
          </a:solidFill>
          <a:ln w="12700">
            <a:solidFill>
              <a:srgbClr val="333333"/>
            </a:solidFill>
            <a:prstDash val="solid"/>
          </a:ln>
        </p:spPr>
        <p:txBody>
          <a:bodyPr/>
          <a:lstStyle/>
          <a:p>
            <a:endParaRPr lang="en-SE"/>
          </a:p>
        </p:txBody>
      </p:sp>
      <p:sp>
        <p:nvSpPr>
          <p:cNvPr id="27" name="background log-line texture">
            <a:extLst>
              <a:ext uri="{C183D7F6-B498-43B3-948B-1728B52AA6E4}">
                <adec:decorative xmlns:adec="http://schemas.microsoft.com/office/drawing/2017/decorative" val="1"/>
              </a:ext>
            </a:extLst>
          </p:cNvPr>
          <p:cNvSpPr/>
          <p:nvPr/>
        </p:nvSpPr>
        <p:spPr>
          <a:xfrm>
            <a:off x="5989320" y="4727448"/>
            <a:ext cx="411480" cy="32004"/>
          </a:xfrm>
          <a:prstGeom prst="rect">
            <a:avLst/>
          </a:prstGeom>
          <a:solidFill>
            <a:srgbClr val="2E333B"/>
          </a:solidFill>
          <a:ln w="12700">
            <a:solidFill>
              <a:srgbClr val="333333"/>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E8A33D"/>
          </a:solidFill>
          <a:ln w="12700">
            <a:solidFill>
              <a:srgbClr val="333333"/>
            </a:solidFill>
            <a:prstDash val="solid"/>
          </a:ln>
        </p:spPr>
        <p:txBody>
          <a:bodyPr/>
          <a:lstStyle/>
          <a:p>
            <a:endParaRPr lang="en-SE"/>
          </a:p>
        </p:txBody>
      </p:sp>
      <p:sp>
        <p:nvSpPr>
          <p:cNvPr id="29" name="title rule">
            <a:extLst>
              <a:ext uri="{C183D7F6-B498-43B3-948B-1728B52AA6E4}">
                <adec:decorative xmlns:adec="http://schemas.microsoft.com/office/drawing/2017/decorative" val="1"/>
              </a:ext>
            </a:extLst>
          </p:cNvPr>
          <p:cNvSpPr/>
          <p:nvPr/>
        </p:nvSpPr>
        <p:spPr>
          <a:xfrm>
            <a:off x="685800" y="1371600"/>
            <a:ext cx="822960" cy="32004"/>
          </a:xfrm>
          <a:prstGeom prst="rect">
            <a:avLst/>
          </a:prstGeom>
          <a:solidFill>
            <a:srgbClr val="E8A33D"/>
          </a:solidFill>
          <a:ln w="12700">
            <a:solidFill>
              <a:srgbClr val="333333"/>
            </a:solidFill>
            <a:prstDash val="solid"/>
          </a:ln>
        </p:spPr>
        <p:txBody>
          <a:bodyPr/>
          <a:lstStyle/>
          <a:p>
            <a:endParaRPr lang="en-SE"/>
          </a:p>
        </p:txBody>
      </p:sp>
      <p:sp>
        <p:nvSpPr>
          <p:cNvPr id="30" name="Text 28"/>
          <p:cNvSpPr/>
          <p:nvPr/>
        </p:nvSpPr>
        <p:spPr>
          <a:xfrm>
            <a:off x="685800" y="960120"/>
            <a:ext cx="5486400" cy="274320"/>
          </a:xfrm>
          <a:prstGeom prst="rect">
            <a:avLst/>
          </a:prstGeom>
          <a:noFill/>
          <a:ln/>
        </p:spPr>
        <p:txBody>
          <a:bodyPr wrap="square" lIns="0" tIns="0" rIns="0" bIns="0" rtlCol="0" anchor="ctr"/>
          <a:lstStyle/>
          <a:p>
            <a:pPr marL="0" indent="0">
              <a:buNone/>
            </a:pPr>
            <a:r>
              <a:rPr lang="en-US" sz="1000" b="1" kern="0" spc="300" dirty="0">
                <a:solidFill>
                  <a:srgbClr val="E8A33D"/>
                </a:solidFill>
                <a:latin typeface="Segoe UI" pitchFamily="34" charset="0"/>
                <a:ea typeface="Segoe UI" pitchFamily="34" charset="-122"/>
                <a:cs typeface="Segoe UI" pitchFamily="34" charset="-120"/>
              </a:rPr>
              <a:t>EDUMATCHER  ·  OPERATOR GUIDE</a:t>
            </a:r>
            <a:endParaRPr lang="en-US" sz="1000" dirty="0"/>
          </a:p>
        </p:txBody>
      </p:sp>
      <p:sp>
        <p:nvSpPr>
          <p:cNvPr id="31" name="Text 0"/>
          <p:cNvSpPr>
            <a:spLocks noGrp="1"/>
          </p:cNvSpPr>
          <p:nvPr>
            <p:ph type="title" idx="100" hasCustomPrompt="1"/>
          </p:nvPr>
        </p:nvSpPr>
        <p:spPr>
          <a:xfrm>
            <a:off x="685800" y="1847088"/>
            <a:ext cx="7772400" cy="1371600"/>
          </a:xfrm>
          <a:prstGeom prst="rect">
            <a:avLst/>
          </a:prstGeom>
          <a:noFill/>
          <a:ln/>
        </p:spPr>
        <p:txBody>
          <a:bodyPr wrap="square" lIns="0" tIns="0" rIns="0" bIns="0" rtlCol="0" anchor="t"/>
          <a:lstStyle/>
          <a:p>
            <a:pPr marL="0" indent="0">
              <a:buNone/>
            </a:pPr>
            <a:r>
              <a:rPr lang="en-US" sz="3800" dirty="0">
                <a:solidFill>
                  <a:srgbClr val="EDEEF1"/>
                </a:solidFill>
                <a:latin typeface="Georgia" pitchFamily="34" charset="0"/>
                <a:ea typeface="Georgia" pitchFamily="34" charset="-122"/>
                <a:cs typeface="Georgia" pitchFamily="34" charset="-120"/>
              </a:rPr>
              <a:t>Observability, Logging</a:t>
            </a:r>
            <a:endParaRPr lang="en-US" sz="3800" dirty="0"/>
          </a:p>
          <a:p>
            <a:pPr marL="0" indent="0">
              <a:buNone/>
            </a:pPr>
            <a:r>
              <a:rPr lang="en-US" sz="3800" dirty="0">
                <a:solidFill>
                  <a:srgbClr val="EDEEF1"/>
                </a:solidFill>
                <a:latin typeface="Georgia" pitchFamily="34" charset="0"/>
                <a:ea typeface="Georgia" pitchFamily="34" charset="-122"/>
                <a:cs typeface="Georgia" pitchFamily="34" charset="-120"/>
              </a:rPr>
              <a:t>and the Log Server</a:t>
            </a:r>
            <a:endParaRPr lang="en-US" sz="3800" dirty="0"/>
          </a:p>
        </p:txBody>
      </p:sp>
      <p:sp>
        <p:nvSpPr>
          <p:cNvPr id="32" name="Text 30"/>
          <p:cNvSpPr/>
          <p:nvPr/>
        </p:nvSpPr>
        <p:spPr>
          <a:xfrm>
            <a:off x="685800" y="3310128"/>
            <a:ext cx="5440680" cy="822960"/>
          </a:xfrm>
          <a:prstGeom prst="rect">
            <a:avLst/>
          </a:prstGeom>
          <a:noFill/>
          <a:ln/>
        </p:spPr>
        <p:txBody>
          <a:bodyPr wrap="square" lIns="0" tIns="0" rIns="0" bIns="0" rtlCol="0" anchor="t"/>
          <a:lstStyle/>
          <a:p>
            <a:pPr marL="0" indent="0">
              <a:lnSpc>
                <a:spcPts val="1800"/>
              </a:lnSpc>
              <a:buNone/>
            </a:pPr>
            <a:r>
              <a:rPr lang="en-US" sz="1400" dirty="0">
                <a:solidFill>
                  <a:srgbClr val="A3A9B4"/>
                </a:solidFill>
                <a:latin typeface="Segoe UI" pitchFamily="34" charset="0"/>
                <a:ea typeface="Segoe UI" pitchFamily="34" charset="-122"/>
                <a:cs typeface="Segoe UI" pitchFamily="34" charset="-120"/>
              </a:rPr>
              <a:t>How every process in the trading system reports what it is doing - and how you read it back when something goes wrong.</a:t>
            </a:r>
            <a:endParaRPr lang="en-US" sz="1400" dirty="0"/>
          </a:p>
        </p:txBody>
      </p:sp>
      <p:sp>
        <p:nvSpPr>
          <p:cNvPr id="33" name="chip background">
            <a:extLst>
              <a:ext uri="{C183D7F6-B498-43B3-948B-1728B52AA6E4}">
                <adec:decorative xmlns:adec="http://schemas.microsoft.com/office/drawing/2017/decorative" val="1"/>
              </a:ext>
            </a:extLst>
          </p:cNvPr>
          <p:cNvSpPr/>
          <p:nvPr/>
        </p:nvSpPr>
        <p:spPr>
          <a:xfrm>
            <a:off x="685800" y="4315968"/>
            <a:ext cx="1417320" cy="274320"/>
          </a:xfrm>
          <a:prstGeom prst="roundRect">
            <a:avLst>
              <a:gd name="adj" fmla="val 40000"/>
            </a:avLst>
          </a:prstGeom>
          <a:solidFill>
            <a:srgbClr val="282C33"/>
          </a:solidFill>
          <a:ln w="12700">
            <a:solidFill>
              <a:srgbClr val="444B55"/>
            </a:solidFill>
            <a:prstDash val="solid"/>
          </a:ln>
        </p:spPr>
        <p:txBody>
          <a:bodyPr/>
          <a:lstStyle/>
          <a:p>
            <a:endParaRPr lang="en-SE"/>
          </a:p>
        </p:txBody>
      </p:sp>
      <p:sp>
        <p:nvSpPr>
          <p:cNvPr id="34" name="Text 32"/>
          <p:cNvSpPr/>
          <p:nvPr/>
        </p:nvSpPr>
        <p:spPr>
          <a:xfrm>
            <a:off x="740664" y="4315968"/>
            <a:ext cx="1307592" cy="274320"/>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pm-log-srv</a:t>
            </a:r>
            <a:endParaRPr lang="en-US" sz="900" dirty="0"/>
          </a:p>
        </p:txBody>
      </p:sp>
      <p:sp>
        <p:nvSpPr>
          <p:cNvPr id="35" name="chip background">
            <a:extLst>
              <a:ext uri="{C183D7F6-B498-43B3-948B-1728B52AA6E4}">
                <adec:decorative xmlns:adec="http://schemas.microsoft.com/office/drawing/2017/decorative" val="1"/>
              </a:ext>
            </a:extLst>
          </p:cNvPr>
          <p:cNvSpPr/>
          <p:nvPr/>
        </p:nvSpPr>
        <p:spPr>
          <a:xfrm>
            <a:off x="2212848" y="4315968"/>
            <a:ext cx="1280160" cy="274320"/>
          </a:xfrm>
          <a:prstGeom prst="roundRect">
            <a:avLst>
              <a:gd name="adj" fmla="val 40000"/>
            </a:avLst>
          </a:prstGeom>
          <a:solidFill>
            <a:srgbClr val="282C33"/>
          </a:solidFill>
          <a:ln w="12700">
            <a:solidFill>
              <a:srgbClr val="444B55"/>
            </a:solidFill>
            <a:prstDash val="solid"/>
          </a:ln>
        </p:spPr>
        <p:txBody>
          <a:bodyPr/>
          <a:lstStyle/>
          <a:p>
            <a:endParaRPr lang="en-SE"/>
          </a:p>
        </p:txBody>
      </p:sp>
      <p:sp>
        <p:nvSpPr>
          <p:cNvPr id="36" name="Text 34"/>
          <p:cNvSpPr/>
          <p:nvPr/>
        </p:nvSpPr>
        <p:spPr>
          <a:xfrm>
            <a:off x="2267712" y="4315968"/>
            <a:ext cx="1170432" cy="274320"/>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pm-log-cli</a:t>
            </a:r>
            <a:endParaRPr lang="en-US" sz="900" dirty="0"/>
          </a:p>
        </p:txBody>
      </p:sp>
      <p:sp>
        <p:nvSpPr>
          <p:cNvPr id="37" name="chip background">
            <a:extLst>
              <a:ext uri="{C183D7F6-B498-43B3-948B-1728B52AA6E4}">
                <adec:decorative xmlns:adec="http://schemas.microsoft.com/office/drawing/2017/decorative" val="1"/>
              </a:ext>
            </a:extLst>
          </p:cNvPr>
          <p:cNvSpPr/>
          <p:nvPr/>
        </p:nvSpPr>
        <p:spPr>
          <a:xfrm>
            <a:off x="3602736" y="4315968"/>
            <a:ext cx="1234440" cy="274320"/>
          </a:xfrm>
          <a:prstGeom prst="roundRect">
            <a:avLst>
              <a:gd name="adj" fmla="val 40000"/>
            </a:avLst>
          </a:prstGeom>
          <a:solidFill>
            <a:srgbClr val="282C33"/>
          </a:solidFill>
          <a:ln w="12700">
            <a:solidFill>
              <a:srgbClr val="444B55"/>
            </a:solidFill>
            <a:prstDash val="solid"/>
          </a:ln>
        </p:spPr>
        <p:txBody>
          <a:bodyPr/>
          <a:lstStyle/>
          <a:p>
            <a:endParaRPr lang="en-SE"/>
          </a:p>
        </p:txBody>
      </p:sp>
      <p:sp>
        <p:nvSpPr>
          <p:cNvPr id="38" name="Text 36"/>
          <p:cNvSpPr/>
          <p:nvPr/>
        </p:nvSpPr>
        <p:spPr>
          <a:xfrm>
            <a:off x="3657600" y="4315968"/>
            <a:ext cx="1124712" cy="274320"/>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pm-log-ui</a:t>
            </a:r>
            <a:endParaRPr lang="en-US" sz="900" dirty="0"/>
          </a:p>
        </p:txBody>
      </p:sp>
      <p:sp>
        <p:nvSpPr>
          <p:cNvPr id="39" name="chip background">
            <a:extLst>
              <a:ext uri="{C183D7F6-B498-43B3-948B-1728B52AA6E4}">
                <adec:decorative xmlns:adec="http://schemas.microsoft.com/office/drawing/2017/decorative" val="1"/>
              </a:ext>
            </a:extLst>
          </p:cNvPr>
          <p:cNvSpPr/>
          <p:nvPr/>
        </p:nvSpPr>
        <p:spPr>
          <a:xfrm>
            <a:off x="4946904" y="4315968"/>
            <a:ext cx="960120" cy="274320"/>
          </a:xfrm>
          <a:prstGeom prst="roundRect">
            <a:avLst>
              <a:gd name="adj" fmla="val 40000"/>
            </a:avLst>
          </a:prstGeom>
          <a:solidFill>
            <a:srgbClr val="282C33"/>
          </a:solidFill>
          <a:ln w="12700">
            <a:solidFill>
              <a:srgbClr val="444B55"/>
            </a:solidFill>
            <a:prstDash val="solid"/>
          </a:ln>
        </p:spPr>
        <p:txBody>
          <a:bodyPr/>
          <a:lstStyle/>
          <a:p>
            <a:endParaRPr lang="en-SE"/>
          </a:p>
        </p:txBody>
      </p:sp>
      <p:sp>
        <p:nvSpPr>
          <p:cNvPr id="40" name="Text 38"/>
          <p:cNvSpPr/>
          <p:nvPr/>
        </p:nvSpPr>
        <p:spPr>
          <a:xfrm>
            <a:off x="5001768" y="4315968"/>
            <a:ext cx="850392" cy="274320"/>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LALF</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01</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Why observability matters</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400" dirty="0">
                <a:solidFill>
                  <a:srgbClr val="A3A9B4"/>
                </a:solidFill>
                <a:latin typeface="Segoe UI" pitchFamily="34" charset="0"/>
                <a:ea typeface="Segoe UI" pitchFamily="34" charset="-122"/>
                <a:cs typeface="Segoe UI" pitchFamily="34" charset="-120"/>
              </a:rPr>
              <a:t>A trading system is many processes at once. Observability is how you see inside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24358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FOUNDATIONS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03</a:t>
            </a:r>
            <a:endParaRPr lang="en-US" sz="950" dirty="0"/>
          </a:p>
        </p:txBody>
      </p:sp>
      <p:sp>
        <p:nvSpPr>
          <p:cNvPr id="6" name="Text 0"/>
          <p:cNvSpPr>
            <a:spLocks noGrp="1"/>
          </p:cNvSpPr>
          <p:nvPr>
            <p:ph type="title" idx="100" hasCustomPrompt="1"/>
          </p:nvPr>
        </p:nvSpPr>
        <p:spPr>
          <a:xfrm>
            <a:off x="566928" y="65836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Observability is being able to answer questions you didn't plan for</a:t>
            </a:r>
            <a:endParaRPr lang="en-US" sz="2700" dirty="0"/>
          </a:p>
        </p:txBody>
      </p:sp>
      <p:sp>
        <p:nvSpPr>
          <p:cNvPr id="7" name="Text 5"/>
          <p:cNvSpPr/>
          <p:nvPr/>
        </p:nvSpPr>
        <p:spPr>
          <a:xfrm>
            <a:off x="566928" y="138988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Monitoring tells you that something broke. Observability lets you work out why — from evidence the system recorded before anyone knew there was a problem.</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2084832"/>
            <a:ext cx="2542032" cy="22860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2084832"/>
            <a:ext cx="2542032" cy="45720"/>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768096" y="2286000"/>
            <a:ext cx="2103120" cy="219456"/>
          </a:xfrm>
          <a:prstGeom prst="rect">
            <a:avLst/>
          </a:prstGeom>
          <a:noFill/>
          <a:ln/>
        </p:spPr>
        <p:txBody>
          <a:bodyPr wrap="square" lIns="0" tIns="0" rIns="0" bIns="0" rtlCol="0" anchor="ctr"/>
          <a:lstStyle/>
          <a:p>
            <a:pPr marL="0" indent="0" algn="l">
              <a:buNone/>
            </a:pPr>
            <a:r>
              <a:rPr lang="en-US" sz="850" b="1" kern="0" spc="180" dirty="0">
                <a:solidFill>
                  <a:srgbClr val="E8A33D"/>
                </a:solidFill>
                <a:latin typeface="Segoe UI" pitchFamily="34" charset="0"/>
                <a:ea typeface="Segoe UI" pitchFamily="34" charset="-122"/>
                <a:cs typeface="Segoe UI" pitchFamily="34" charset="-120"/>
              </a:rPr>
              <a:t>WHAT</a:t>
            </a:r>
            <a:endParaRPr lang="en-US" sz="850" dirty="0"/>
          </a:p>
        </p:txBody>
      </p:sp>
      <p:sp>
        <p:nvSpPr>
          <p:cNvPr id="11" name="Text 9"/>
          <p:cNvSpPr/>
          <p:nvPr/>
        </p:nvSpPr>
        <p:spPr>
          <a:xfrm>
            <a:off x="768096" y="2578608"/>
            <a:ext cx="2157984"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Segoe UI" pitchFamily="34" charset="0"/>
                <a:ea typeface="Segoe UI" pitchFamily="34" charset="-122"/>
                <a:cs typeface="Segoe UI" pitchFamily="34" charset="-120"/>
              </a:rPr>
              <a:t>What happened</a:t>
            </a:r>
            <a:endParaRPr lang="en-US" sz="1400" dirty="0"/>
          </a:p>
        </p:txBody>
      </p:sp>
      <p:sp>
        <p:nvSpPr>
          <p:cNvPr id="12" name="Text 10"/>
          <p:cNvSpPr/>
          <p:nvPr/>
        </p:nvSpPr>
        <p:spPr>
          <a:xfrm>
            <a:off x="768096" y="2962656"/>
            <a:ext cx="2157984" cy="118872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The literal record: which process, which subsystem, which line of code, at what moment.</a:t>
            </a:r>
            <a:endParaRPr lang="en-US" sz="1050" dirty="0"/>
          </a:p>
        </p:txBody>
      </p:sp>
      <p:sp>
        <p:nvSpPr>
          <p:cNvPr id="13" name="card background">
            <a:extLst>
              <a:ext uri="{C183D7F6-B498-43B3-948B-1728B52AA6E4}">
                <adec:decorative xmlns:adec="http://schemas.microsoft.com/office/drawing/2017/decorative" val="1"/>
              </a:ext>
            </a:extLst>
          </p:cNvPr>
          <p:cNvSpPr/>
          <p:nvPr/>
        </p:nvSpPr>
        <p:spPr>
          <a:xfrm>
            <a:off x="3328416" y="2084832"/>
            <a:ext cx="2542032" cy="22860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4" name="card top accent">
            <a:extLst>
              <a:ext uri="{C183D7F6-B498-43B3-948B-1728B52AA6E4}">
                <adec:decorative xmlns:adec="http://schemas.microsoft.com/office/drawing/2017/decorative" val="1"/>
              </a:ext>
            </a:extLst>
          </p:cNvPr>
          <p:cNvSpPr/>
          <p:nvPr/>
        </p:nvSpPr>
        <p:spPr>
          <a:xfrm>
            <a:off x="3328416" y="2084832"/>
            <a:ext cx="2542032" cy="45720"/>
          </a:xfrm>
          <a:prstGeom prst="rect">
            <a:avLst/>
          </a:prstGeom>
          <a:solidFill>
            <a:srgbClr val="5E8CA8"/>
          </a:solidFill>
          <a:ln w="12700">
            <a:solidFill>
              <a:srgbClr val="333333"/>
            </a:solidFill>
            <a:prstDash val="solid"/>
          </a:ln>
        </p:spPr>
        <p:txBody>
          <a:bodyPr/>
          <a:lstStyle/>
          <a:p>
            <a:endParaRPr lang="en-SE"/>
          </a:p>
        </p:txBody>
      </p:sp>
      <p:sp>
        <p:nvSpPr>
          <p:cNvPr id="15" name="Text 13"/>
          <p:cNvSpPr/>
          <p:nvPr/>
        </p:nvSpPr>
        <p:spPr>
          <a:xfrm>
            <a:off x="3529584" y="2286000"/>
            <a:ext cx="2103120" cy="219456"/>
          </a:xfrm>
          <a:prstGeom prst="rect">
            <a:avLst/>
          </a:prstGeom>
          <a:noFill/>
          <a:ln/>
        </p:spPr>
        <p:txBody>
          <a:bodyPr wrap="square" lIns="0" tIns="0" rIns="0" bIns="0" rtlCol="0" anchor="ctr"/>
          <a:lstStyle/>
          <a:p>
            <a:pPr marL="0" indent="0" algn="l">
              <a:buNone/>
            </a:pPr>
            <a:r>
              <a:rPr lang="en-US" sz="850" b="1" kern="0" spc="180" dirty="0">
                <a:solidFill>
                  <a:srgbClr val="5E8CA8"/>
                </a:solidFill>
                <a:latin typeface="Segoe UI" pitchFamily="34" charset="0"/>
                <a:ea typeface="Segoe UI" pitchFamily="34" charset="-122"/>
                <a:cs typeface="Segoe UI" pitchFamily="34" charset="-120"/>
              </a:rPr>
              <a:t>WHEN</a:t>
            </a:r>
            <a:endParaRPr lang="en-US" sz="850" dirty="0"/>
          </a:p>
        </p:txBody>
      </p:sp>
      <p:sp>
        <p:nvSpPr>
          <p:cNvPr id="16" name="Text 14"/>
          <p:cNvSpPr/>
          <p:nvPr/>
        </p:nvSpPr>
        <p:spPr>
          <a:xfrm>
            <a:off x="3529584" y="2578608"/>
            <a:ext cx="2157984"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Segoe UI" pitchFamily="34" charset="0"/>
                <a:ea typeface="Segoe UI" pitchFamily="34" charset="-122"/>
                <a:cs typeface="Segoe UI" pitchFamily="34" charset="-120"/>
              </a:rPr>
              <a:t>In what order</a:t>
            </a:r>
            <a:endParaRPr lang="en-US" sz="1400" dirty="0"/>
          </a:p>
        </p:txBody>
      </p:sp>
      <p:sp>
        <p:nvSpPr>
          <p:cNvPr id="17" name="Text 15"/>
          <p:cNvSpPr/>
          <p:nvPr/>
        </p:nvSpPr>
        <p:spPr>
          <a:xfrm>
            <a:off x="3529584" y="2962656"/>
            <a:ext cx="2157984" cy="118872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Sequence is the whole game. A cause always precedes its effect — but only if the clocks agree.</a:t>
            </a:r>
            <a:endParaRPr lang="en-US" sz="1050" dirty="0"/>
          </a:p>
        </p:txBody>
      </p:sp>
      <p:sp>
        <p:nvSpPr>
          <p:cNvPr id="18" name="card background">
            <a:extLst>
              <a:ext uri="{C183D7F6-B498-43B3-948B-1728B52AA6E4}">
                <adec:decorative xmlns:adec="http://schemas.microsoft.com/office/drawing/2017/decorative" val="1"/>
              </a:ext>
            </a:extLst>
          </p:cNvPr>
          <p:cNvSpPr/>
          <p:nvPr/>
        </p:nvSpPr>
        <p:spPr>
          <a:xfrm>
            <a:off x="6089904" y="2084832"/>
            <a:ext cx="2542032" cy="22860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9" name="card top accent">
            <a:extLst>
              <a:ext uri="{C183D7F6-B498-43B3-948B-1728B52AA6E4}">
                <adec:decorative xmlns:adec="http://schemas.microsoft.com/office/drawing/2017/decorative" val="1"/>
              </a:ext>
            </a:extLst>
          </p:cNvPr>
          <p:cNvSpPr/>
          <p:nvPr/>
        </p:nvSpPr>
        <p:spPr>
          <a:xfrm>
            <a:off x="6089904" y="2084832"/>
            <a:ext cx="2542032" cy="45720"/>
          </a:xfrm>
          <a:prstGeom prst="rect">
            <a:avLst/>
          </a:prstGeom>
          <a:solidFill>
            <a:srgbClr val="8A7EA8"/>
          </a:solidFill>
          <a:ln w="12700">
            <a:solidFill>
              <a:srgbClr val="333333"/>
            </a:solidFill>
            <a:prstDash val="solid"/>
          </a:ln>
        </p:spPr>
        <p:txBody>
          <a:bodyPr/>
          <a:lstStyle/>
          <a:p>
            <a:endParaRPr lang="en-SE"/>
          </a:p>
        </p:txBody>
      </p:sp>
      <p:sp>
        <p:nvSpPr>
          <p:cNvPr id="20" name="Text 18"/>
          <p:cNvSpPr/>
          <p:nvPr/>
        </p:nvSpPr>
        <p:spPr>
          <a:xfrm>
            <a:off x="6291072" y="2286000"/>
            <a:ext cx="2103120" cy="219456"/>
          </a:xfrm>
          <a:prstGeom prst="rect">
            <a:avLst/>
          </a:prstGeom>
          <a:noFill/>
          <a:ln/>
        </p:spPr>
        <p:txBody>
          <a:bodyPr wrap="square" lIns="0" tIns="0" rIns="0" bIns="0" rtlCol="0" anchor="ctr"/>
          <a:lstStyle/>
          <a:p>
            <a:pPr marL="0" indent="0" algn="l">
              <a:buNone/>
            </a:pPr>
            <a:r>
              <a:rPr lang="en-US" sz="850" b="1" kern="0" spc="180" dirty="0">
                <a:solidFill>
                  <a:srgbClr val="8A7EA8"/>
                </a:solidFill>
                <a:latin typeface="Segoe UI" pitchFamily="34" charset="0"/>
                <a:ea typeface="Segoe UI" pitchFamily="34" charset="-122"/>
                <a:cs typeface="Segoe UI" pitchFamily="34" charset="-120"/>
              </a:rPr>
              <a:t>WHY</a:t>
            </a:r>
            <a:endParaRPr lang="en-US" sz="850" dirty="0"/>
          </a:p>
        </p:txBody>
      </p:sp>
      <p:sp>
        <p:nvSpPr>
          <p:cNvPr id="21" name="Text 19"/>
          <p:cNvSpPr/>
          <p:nvPr/>
        </p:nvSpPr>
        <p:spPr>
          <a:xfrm>
            <a:off x="6291072" y="2578608"/>
            <a:ext cx="2157984"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Segoe UI" pitchFamily="34" charset="0"/>
                <a:ea typeface="Segoe UI" pitchFamily="34" charset="-122"/>
                <a:cs typeface="Segoe UI" pitchFamily="34" charset="-120"/>
              </a:rPr>
              <a:t>Under what conditions</a:t>
            </a:r>
            <a:endParaRPr lang="en-US" sz="1400" dirty="0"/>
          </a:p>
        </p:txBody>
      </p:sp>
      <p:sp>
        <p:nvSpPr>
          <p:cNvPr id="22" name="Text 20"/>
          <p:cNvSpPr/>
          <p:nvPr/>
        </p:nvSpPr>
        <p:spPr>
          <a:xfrm>
            <a:off x="6291072" y="2962656"/>
            <a:ext cx="2157984" cy="118872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The surrounding lines: the warning ten seconds earlier, the retry loop, the traceback.</a:t>
            </a:r>
            <a:endParaRPr lang="en-US" sz="1050" dirty="0"/>
          </a:p>
        </p:txBody>
      </p:sp>
      <p:sp>
        <p:nvSpPr>
          <p:cNvPr id="23" name="Text 21"/>
          <p:cNvSpPr/>
          <p:nvPr/>
        </p:nvSpPr>
        <p:spPr>
          <a:xfrm>
            <a:off x="566928" y="4553712"/>
            <a:ext cx="8010144" cy="365760"/>
          </a:xfrm>
          <a:prstGeom prst="rect">
            <a:avLst/>
          </a:prstGeom>
          <a:noFill/>
          <a:ln/>
        </p:spPr>
        <p:txBody>
          <a:bodyPr wrap="square" lIns="0" tIns="0" rIns="0" bIns="0" rtlCol="0" anchor="t"/>
          <a:lstStyle/>
          <a:p>
            <a:pPr marL="0" indent="0" algn="l">
              <a:lnSpc>
                <a:spcPts val="1420"/>
              </a:lnSpc>
              <a:buNone/>
            </a:pPr>
            <a:r>
              <a:rPr lang="en-US" sz="1000" i="1" dirty="0">
                <a:solidFill>
                  <a:srgbClr val="747B87"/>
                </a:solidFill>
                <a:latin typeface="Segoe UI" pitchFamily="34" charset="0"/>
                <a:ea typeface="Segoe UI" pitchFamily="34" charset="-122"/>
                <a:cs typeface="Segoe UI" pitchFamily="34" charset="-120"/>
              </a:rPr>
              <a:t>In EduMatcher this is not a luxury. The engine, the gateways, the bots and the admin tools all run as separate processes — nobody can watch every terminal at once.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FOUNDATIONS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04</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same incident, with and without logging</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Nothing about the failure changes. What changes is whether you can see it.</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828800"/>
            <a:ext cx="3877056" cy="2651760"/>
          </a:xfrm>
          <a:prstGeom prst="rect">
            <a:avLst/>
          </a:prstGeom>
          <a:solidFill>
            <a:srgbClr val="1D1A1A"/>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828800"/>
            <a:ext cx="3877056" cy="45720"/>
          </a:xfrm>
          <a:prstGeom prst="rect">
            <a:avLst/>
          </a:prstGeom>
          <a:solidFill>
            <a:srgbClr val="C9584C"/>
          </a:solidFill>
          <a:ln w="12700">
            <a:solidFill>
              <a:srgbClr val="333333"/>
            </a:solidFill>
            <a:prstDash val="solid"/>
          </a:ln>
        </p:spPr>
        <p:txBody>
          <a:bodyPr/>
          <a:lstStyle/>
          <a:p>
            <a:endParaRPr lang="en-SE"/>
          </a:p>
        </p:txBody>
      </p:sp>
      <p:sp>
        <p:nvSpPr>
          <p:cNvPr id="10" name="Text 8"/>
          <p:cNvSpPr/>
          <p:nvPr/>
        </p:nvSpPr>
        <p:spPr>
          <a:xfrm>
            <a:off x="786384" y="2029968"/>
            <a:ext cx="3474720" cy="219456"/>
          </a:xfrm>
          <a:prstGeom prst="rect">
            <a:avLst/>
          </a:prstGeom>
          <a:noFill/>
          <a:ln/>
        </p:spPr>
        <p:txBody>
          <a:bodyPr wrap="square" lIns="0" tIns="0" rIns="0" bIns="0" rtlCol="0" anchor="ctr"/>
          <a:lstStyle/>
          <a:p>
            <a:pPr marL="0" indent="0" algn="l">
              <a:buNone/>
            </a:pPr>
            <a:r>
              <a:rPr lang="en-US" sz="850" b="1" kern="0" spc="180" dirty="0">
                <a:solidFill>
                  <a:srgbClr val="C9584C"/>
                </a:solidFill>
                <a:latin typeface="Segoe UI" pitchFamily="34" charset="0"/>
                <a:ea typeface="Segoe UI" pitchFamily="34" charset="-122"/>
                <a:cs typeface="Segoe UI" pitchFamily="34" charset="-120"/>
              </a:rPr>
              <a:t>WITHOUT CENTRAL LOGGING</a:t>
            </a:r>
            <a:endParaRPr lang="en-US" sz="850" dirty="0"/>
          </a:p>
        </p:txBody>
      </p:sp>
      <p:sp>
        <p:nvSpPr>
          <p:cNvPr id="11" name="Text 9"/>
          <p:cNvSpPr/>
          <p:nvPr/>
        </p:nvSpPr>
        <p:spPr>
          <a:xfrm>
            <a:off x="786384" y="2340864"/>
            <a:ext cx="347472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“It stopped working.”</a:t>
            </a:r>
            <a:endParaRPr lang="en-US" sz="1500" dirty="0"/>
          </a:p>
        </p:txBody>
      </p:sp>
      <p:sp>
        <p:nvSpPr>
          <p:cNvPr id="12" name="list marker">
            <a:extLst>
              <a:ext uri="{C183D7F6-B498-43B3-948B-1728B52AA6E4}">
                <adec:decorative xmlns:adec="http://schemas.microsoft.com/office/drawing/2017/decorative" val="1"/>
              </a:ext>
            </a:extLst>
          </p:cNvPr>
          <p:cNvSpPr/>
          <p:nvPr/>
        </p:nvSpPr>
        <p:spPr>
          <a:xfrm>
            <a:off x="804672" y="2889504"/>
            <a:ext cx="109728" cy="10973"/>
          </a:xfrm>
          <a:prstGeom prst="rect">
            <a:avLst/>
          </a:prstGeom>
          <a:solidFill>
            <a:srgbClr val="C9584C"/>
          </a:solidFill>
          <a:ln w="12700">
            <a:solidFill>
              <a:srgbClr val="333333"/>
            </a:solidFill>
            <a:prstDash val="solid"/>
          </a:ln>
        </p:spPr>
        <p:txBody>
          <a:bodyPr/>
          <a:lstStyle/>
          <a:p>
            <a:endParaRPr lang="en-SE"/>
          </a:p>
        </p:txBody>
      </p:sp>
      <p:sp>
        <p:nvSpPr>
          <p:cNvPr id="13" name="Text 11"/>
          <p:cNvSpPr/>
          <p:nvPr/>
        </p:nvSpPr>
        <p:spPr>
          <a:xfrm>
            <a:off x="1024128" y="2798064"/>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Four terminals, four scrollbacks</a:t>
            </a:r>
            <a:endParaRPr lang="en-US" sz="1050" dirty="0"/>
          </a:p>
        </p:txBody>
      </p:sp>
      <p:sp>
        <p:nvSpPr>
          <p:cNvPr id="14" name="list marker">
            <a:extLst>
              <a:ext uri="{C183D7F6-B498-43B3-948B-1728B52AA6E4}">
                <adec:decorative xmlns:adec="http://schemas.microsoft.com/office/drawing/2017/decorative" val="1"/>
              </a:ext>
            </a:extLst>
          </p:cNvPr>
          <p:cNvSpPr/>
          <p:nvPr/>
        </p:nvSpPr>
        <p:spPr>
          <a:xfrm>
            <a:off x="804672" y="3182112"/>
            <a:ext cx="109728" cy="10973"/>
          </a:xfrm>
          <a:prstGeom prst="rect">
            <a:avLst/>
          </a:prstGeom>
          <a:solidFill>
            <a:srgbClr val="C9584C"/>
          </a:solidFill>
          <a:ln w="12700">
            <a:solidFill>
              <a:srgbClr val="333333"/>
            </a:solidFill>
            <a:prstDash val="solid"/>
          </a:ln>
        </p:spPr>
        <p:txBody>
          <a:bodyPr/>
          <a:lstStyle/>
          <a:p>
            <a:endParaRPr lang="en-SE"/>
          </a:p>
        </p:txBody>
      </p:sp>
      <p:sp>
        <p:nvSpPr>
          <p:cNvPr id="15" name="Text 13"/>
          <p:cNvSpPr/>
          <p:nvPr/>
        </p:nvSpPr>
        <p:spPr>
          <a:xfrm>
            <a:off x="1024128" y="3090672"/>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Two of them already closed</a:t>
            </a:r>
            <a:endParaRPr lang="en-US" sz="1050" dirty="0"/>
          </a:p>
        </p:txBody>
      </p:sp>
      <p:sp>
        <p:nvSpPr>
          <p:cNvPr id="16" name="list marker">
            <a:extLst>
              <a:ext uri="{C183D7F6-B498-43B3-948B-1728B52AA6E4}">
                <adec:decorative xmlns:adec="http://schemas.microsoft.com/office/drawing/2017/decorative" val="1"/>
              </a:ext>
            </a:extLst>
          </p:cNvPr>
          <p:cNvSpPr/>
          <p:nvPr/>
        </p:nvSpPr>
        <p:spPr>
          <a:xfrm>
            <a:off x="804672" y="3474720"/>
            <a:ext cx="109728" cy="10973"/>
          </a:xfrm>
          <a:prstGeom prst="rect">
            <a:avLst/>
          </a:prstGeom>
          <a:solidFill>
            <a:srgbClr val="C9584C"/>
          </a:solidFill>
          <a:ln w="12700">
            <a:solidFill>
              <a:srgbClr val="333333"/>
            </a:solidFill>
            <a:prstDash val="solid"/>
          </a:ln>
        </p:spPr>
        <p:txBody>
          <a:bodyPr/>
          <a:lstStyle/>
          <a:p>
            <a:endParaRPr lang="en-SE"/>
          </a:p>
        </p:txBody>
      </p:sp>
      <p:sp>
        <p:nvSpPr>
          <p:cNvPr id="17" name="Text 15"/>
          <p:cNvSpPr/>
          <p:nvPr/>
        </p:nvSpPr>
        <p:spPr>
          <a:xfrm>
            <a:off x="1024128" y="3383280"/>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Timestamps in different formats</a:t>
            </a:r>
            <a:endParaRPr lang="en-US" sz="1050" dirty="0"/>
          </a:p>
        </p:txBody>
      </p:sp>
      <p:sp>
        <p:nvSpPr>
          <p:cNvPr id="18" name="list marker">
            <a:extLst>
              <a:ext uri="{C183D7F6-B498-43B3-948B-1728B52AA6E4}">
                <adec:decorative xmlns:adec="http://schemas.microsoft.com/office/drawing/2017/decorative" val="1"/>
              </a:ext>
            </a:extLst>
          </p:cNvPr>
          <p:cNvSpPr/>
          <p:nvPr/>
        </p:nvSpPr>
        <p:spPr>
          <a:xfrm>
            <a:off x="804672" y="3767328"/>
            <a:ext cx="109728" cy="10973"/>
          </a:xfrm>
          <a:prstGeom prst="rect">
            <a:avLst/>
          </a:prstGeom>
          <a:solidFill>
            <a:srgbClr val="C9584C"/>
          </a:solidFill>
          <a:ln w="12700">
            <a:solidFill>
              <a:srgbClr val="333333"/>
            </a:solidFill>
            <a:prstDash val="solid"/>
          </a:ln>
        </p:spPr>
        <p:txBody>
          <a:bodyPr/>
          <a:lstStyle/>
          <a:p>
            <a:endParaRPr lang="en-SE"/>
          </a:p>
        </p:txBody>
      </p:sp>
      <p:sp>
        <p:nvSpPr>
          <p:cNvPr id="19" name="Text 17"/>
          <p:cNvSpPr/>
          <p:nvPr/>
        </p:nvSpPr>
        <p:spPr>
          <a:xfrm>
            <a:off x="1024128" y="3675888"/>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No idea which process failed first</a:t>
            </a:r>
            <a:endParaRPr lang="en-US" sz="1050" dirty="0"/>
          </a:p>
        </p:txBody>
      </p:sp>
      <p:sp>
        <p:nvSpPr>
          <p:cNvPr id="20" name="list marker">
            <a:extLst>
              <a:ext uri="{C183D7F6-B498-43B3-948B-1728B52AA6E4}">
                <adec:decorative xmlns:adec="http://schemas.microsoft.com/office/drawing/2017/decorative" val="1"/>
              </a:ext>
            </a:extLst>
          </p:cNvPr>
          <p:cNvSpPr/>
          <p:nvPr/>
        </p:nvSpPr>
        <p:spPr>
          <a:xfrm>
            <a:off x="804672" y="4059936"/>
            <a:ext cx="109728" cy="10973"/>
          </a:xfrm>
          <a:prstGeom prst="rect">
            <a:avLst/>
          </a:prstGeom>
          <a:solidFill>
            <a:srgbClr val="C9584C"/>
          </a:solidFill>
          <a:ln w="12700">
            <a:solidFill>
              <a:srgbClr val="333333"/>
            </a:solidFill>
            <a:prstDash val="solid"/>
          </a:ln>
        </p:spPr>
        <p:txBody>
          <a:bodyPr/>
          <a:lstStyle/>
          <a:p>
            <a:endParaRPr lang="en-SE"/>
          </a:p>
        </p:txBody>
      </p:sp>
      <p:sp>
        <p:nvSpPr>
          <p:cNvPr id="21" name="Text 19"/>
          <p:cNvSpPr/>
          <p:nvPr/>
        </p:nvSpPr>
        <p:spPr>
          <a:xfrm>
            <a:off x="1024128" y="3968496"/>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Evidence disappears on restart</a:t>
            </a:r>
            <a:endParaRPr lang="en-US" sz="1050" dirty="0"/>
          </a:p>
        </p:txBody>
      </p:sp>
      <p:sp>
        <p:nvSpPr>
          <p:cNvPr id="22" name="card background">
            <a:extLst>
              <a:ext uri="{C183D7F6-B498-43B3-948B-1728B52AA6E4}">
                <adec:decorative xmlns:adec="http://schemas.microsoft.com/office/drawing/2017/decorative" val="1"/>
              </a:ext>
            </a:extLst>
          </p:cNvPr>
          <p:cNvSpPr/>
          <p:nvPr/>
        </p:nvSpPr>
        <p:spPr>
          <a:xfrm>
            <a:off x="4700016" y="1828800"/>
            <a:ext cx="3877056" cy="2651760"/>
          </a:xfrm>
          <a:prstGeom prst="rect">
            <a:avLst/>
          </a:prstGeom>
          <a:solidFill>
            <a:srgbClr val="1A1D1B"/>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3" name="card top accent">
            <a:extLst>
              <a:ext uri="{C183D7F6-B498-43B3-948B-1728B52AA6E4}">
                <adec:decorative xmlns:adec="http://schemas.microsoft.com/office/drawing/2017/decorative" val="1"/>
              </a:ext>
            </a:extLst>
          </p:cNvPr>
          <p:cNvSpPr/>
          <p:nvPr/>
        </p:nvSpPr>
        <p:spPr>
          <a:xfrm>
            <a:off x="4700016" y="1828800"/>
            <a:ext cx="3877056" cy="45720"/>
          </a:xfrm>
          <a:prstGeom prst="rect">
            <a:avLst/>
          </a:prstGeom>
          <a:solidFill>
            <a:srgbClr val="6FA88A"/>
          </a:solidFill>
          <a:ln w="12700">
            <a:solidFill>
              <a:srgbClr val="333333"/>
            </a:solidFill>
            <a:prstDash val="solid"/>
          </a:ln>
        </p:spPr>
        <p:txBody>
          <a:bodyPr/>
          <a:lstStyle/>
          <a:p>
            <a:endParaRPr lang="en-SE"/>
          </a:p>
        </p:txBody>
      </p:sp>
      <p:sp>
        <p:nvSpPr>
          <p:cNvPr id="24" name="Text 22"/>
          <p:cNvSpPr/>
          <p:nvPr/>
        </p:nvSpPr>
        <p:spPr>
          <a:xfrm>
            <a:off x="4919472" y="2029968"/>
            <a:ext cx="3474720" cy="219456"/>
          </a:xfrm>
          <a:prstGeom prst="rect">
            <a:avLst/>
          </a:prstGeom>
          <a:noFill/>
          <a:ln/>
        </p:spPr>
        <p:txBody>
          <a:bodyPr wrap="square" lIns="0" tIns="0" rIns="0" bIns="0" rtlCol="0" anchor="ctr"/>
          <a:lstStyle/>
          <a:p>
            <a:pPr marL="0" indent="0" algn="l">
              <a:buNone/>
            </a:pPr>
            <a:r>
              <a:rPr lang="en-US" sz="850" b="1" kern="0" spc="180" dirty="0">
                <a:solidFill>
                  <a:srgbClr val="6FA88A"/>
                </a:solidFill>
                <a:latin typeface="Segoe UI" pitchFamily="34" charset="0"/>
                <a:ea typeface="Segoe UI" pitchFamily="34" charset="-122"/>
                <a:cs typeface="Segoe UI" pitchFamily="34" charset="-120"/>
              </a:rPr>
              <a:t>WITH PM-LOG-SRV RUNNING</a:t>
            </a:r>
            <a:endParaRPr lang="en-US" sz="850" dirty="0"/>
          </a:p>
        </p:txBody>
      </p:sp>
      <p:sp>
        <p:nvSpPr>
          <p:cNvPr id="25" name="Text 23"/>
          <p:cNvSpPr/>
          <p:nvPr/>
        </p:nvSpPr>
        <p:spPr>
          <a:xfrm>
            <a:off x="4919472" y="2340864"/>
            <a:ext cx="347472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“Here is the first error.”</a:t>
            </a:r>
            <a:endParaRPr lang="en-US" sz="1500" dirty="0"/>
          </a:p>
        </p:txBody>
      </p:sp>
      <p:sp>
        <p:nvSpPr>
          <p:cNvPr id="26" name="list marker">
            <a:extLst>
              <a:ext uri="{C183D7F6-B498-43B3-948B-1728B52AA6E4}">
                <adec:decorative xmlns:adec="http://schemas.microsoft.com/office/drawing/2017/decorative" val="1"/>
              </a:ext>
            </a:extLst>
          </p:cNvPr>
          <p:cNvSpPr/>
          <p:nvPr/>
        </p:nvSpPr>
        <p:spPr>
          <a:xfrm>
            <a:off x="4937760" y="2889504"/>
            <a:ext cx="109728" cy="10973"/>
          </a:xfrm>
          <a:prstGeom prst="rect">
            <a:avLst/>
          </a:prstGeom>
          <a:solidFill>
            <a:srgbClr val="6FA88A"/>
          </a:solidFill>
          <a:ln w="12700">
            <a:solidFill>
              <a:srgbClr val="333333"/>
            </a:solidFill>
            <a:prstDash val="solid"/>
          </a:ln>
        </p:spPr>
        <p:txBody>
          <a:bodyPr/>
          <a:lstStyle/>
          <a:p>
            <a:endParaRPr lang="en-SE"/>
          </a:p>
        </p:txBody>
      </p:sp>
      <p:sp>
        <p:nvSpPr>
          <p:cNvPr id="27" name="Text 25"/>
          <p:cNvSpPr/>
          <p:nvPr/>
        </p:nvSpPr>
        <p:spPr>
          <a:xfrm>
            <a:off x="5157216" y="2798064"/>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One database, every process</a:t>
            </a:r>
            <a:endParaRPr lang="en-US" sz="1050" dirty="0"/>
          </a:p>
        </p:txBody>
      </p:sp>
      <p:sp>
        <p:nvSpPr>
          <p:cNvPr id="28" name="list marker">
            <a:extLst>
              <a:ext uri="{C183D7F6-B498-43B3-948B-1728B52AA6E4}">
                <adec:decorative xmlns:adec="http://schemas.microsoft.com/office/drawing/2017/decorative" val="1"/>
              </a:ext>
            </a:extLst>
          </p:cNvPr>
          <p:cNvSpPr/>
          <p:nvPr/>
        </p:nvSpPr>
        <p:spPr>
          <a:xfrm>
            <a:off x="4937760" y="3182112"/>
            <a:ext cx="109728" cy="10973"/>
          </a:xfrm>
          <a:prstGeom prst="rect">
            <a:avLst/>
          </a:prstGeom>
          <a:solidFill>
            <a:srgbClr val="6FA88A"/>
          </a:solidFill>
          <a:ln w="12700">
            <a:solidFill>
              <a:srgbClr val="333333"/>
            </a:solidFill>
            <a:prstDash val="solid"/>
          </a:ln>
        </p:spPr>
        <p:txBody>
          <a:bodyPr/>
          <a:lstStyle/>
          <a:p>
            <a:endParaRPr lang="en-SE"/>
          </a:p>
        </p:txBody>
      </p:sp>
      <p:sp>
        <p:nvSpPr>
          <p:cNvPr id="29" name="Text 27"/>
          <p:cNvSpPr/>
          <p:nvPr/>
        </p:nvSpPr>
        <p:spPr>
          <a:xfrm>
            <a:off x="5157216" y="3090672"/>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One monotonic ordering key</a:t>
            </a:r>
            <a:endParaRPr lang="en-US" sz="1050" dirty="0"/>
          </a:p>
        </p:txBody>
      </p:sp>
      <p:sp>
        <p:nvSpPr>
          <p:cNvPr id="30" name="list marker">
            <a:extLst>
              <a:ext uri="{C183D7F6-B498-43B3-948B-1728B52AA6E4}">
                <adec:decorative xmlns:adec="http://schemas.microsoft.com/office/drawing/2017/decorative" val="1"/>
              </a:ext>
            </a:extLst>
          </p:cNvPr>
          <p:cNvSpPr/>
          <p:nvPr/>
        </p:nvSpPr>
        <p:spPr>
          <a:xfrm>
            <a:off x="4937760" y="3474720"/>
            <a:ext cx="109728" cy="10973"/>
          </a:xfrm>
          <a:prstGeom prst="rect">
            <a:avLst/>
          </a:prstGeom>
          <a:solidFill>
            <a:srgbClr val="6FA88A"/>
          </a:solidFill>
          <a:ln w="12700">
            <a:solidFill>
              <a:srgbClr val="333333"/>
            </a:solidFill>
            <a:prstDash val="solid"/>
          </a:ln>
        </p:spPr>
        <p:txBody>
          <a:bodyPr/>
          <a:lstStyle/>
          <a:p>
            <a:endParaRPr lang="en-SE"/>
          </a:p>
        </p:txBody>
      </p:sp>
      <p:sp>
        <p:nvSpPr>
          <p:cNvPr id="31" name="Text 29"/>
          <p:cNvSpPr/>
          <p:nvPr/>
        </p:nvSpPr>
        <p:spPr>
          <a:xfrm>
            <a:off x="5157216" y="3383280"/>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Full tracebacks preserved</a:t>
            </a:r>
            <a:endParaRPr lang="en-US" sz="1050" dirty="0"/>
          </a:p>
        </p:txBody>
      </p:sp>
      <p:sp>
        <p:nvSpPr>
          <p:cNvPr id="32" name="list marker">
            <a:extLst>
              <a:ext uri="{C183D7F6-B498-43B3-948B-1728B52AA6E4}">
                <adec:decorative xmlns:adec="http://schemas.microsoft.com/office/drawing/2017/decorative" val="1"/>
              </a:ext>
            </a:extLst>
          </p:cNvPr>
          <p:cNvSpPr/>
          <p:nvPr/>
        </p:nvSpPr>
        <p:spPr>
          <a:xfrm>
            <a:off x="4937760" y="3767328"/>
            <a:ext cx="109728" cy="10973"/>
          </a:xfrm>
          <a:prstGeom prst="rect">
            <a:avLst/>
          </a:prstGeom>
          <a:solidFill>
            <a:srgbClr val="6FA88A"/>
          </a:solidFill>
          <a:ln w="12700">
            <a:solidFill>
              <a:srgbClr val="333333"/>
            </a:solidFill>
            <a:prstDash val="solid"/>
          </a:ln>
        </p:spPr>
        <p:txBody>
          <a:bodyPr/>
          <a:lstStyle/>
          <a:p>
            <a:endParaRPr lang="en-SE"/>
          </a:p>
        </p:txBody>
      </p:sp>
      <p:sp>
        <p:nvSpPr>
          <p:cNvPr id="33" name="Text 31"/>
          <p:cNvSpPr/>
          <p:nvPr/>
        </p:nvSpPr>
        <p:spPr>
          <a:xfrm>
            <a:off x="5157216" y="3675888"/>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Query by level, process, time</a:t>
            </a:r>
            <a:endParaRPr lang="en-US" sz="1050" dirty="0"/>
          </a:p>
        </p:txBody>
      </p:sp>
      <p:sp>
        <p:nvSpPr>
          <p:cNvPr id="34" name="list marker">
            <a:extLst>
              <a:ext uri="{C183D7F6-B498-43B3-948B-1728B52AA6E4}">
                <adec:decorative xmlns:adec="http://schemas.microsoft.com/office/drawing/2017/decorative" val="1"/>
              </a:ext>
            </a:extLst>
          </p:cNvPr>
          <p:cNvSpPr/>
          <p:nvPr/>
        </p:nvSpPr>
        <p:spPr>
          <a:xfrm>
            <a:off x="4937760" y="4059936"/>
            <a:ext cx="109728" cy="10973"/>
          </a:xfrm>
          <a:prstGeom prst="rect">
            <a:avLst/>
          </a:prstGeom>
          <a:solidFill>
            <a:srgbClr val="6FA88A"/>
          </a:solidFill>
          <a:ln w="12700">
            <a:solidFill>
              <a:srgbClr val="333333"/>
            </a:solidFill>
            <a:prstDash val="solid"/>
          </a:ln>
        </p:spPr>
        <p:txBody>
          <a:bodyPr/>
          <a:lstStyle/>
          <a:p>
            <a:endParaRPr lang="en-SE"/>
          </a:p>
        </p:txBody>
      </p:sp>
      <p:sp>
        <p:nvSpPr>
          <p:cNvPr id="35" name="Text 33"/>
          <p:cNvSpPr/>
          <p:nvPr/>
        </p:nvSpPr>
        <p:spPr>
          <a:xfrm>
            <a:off x="5157216" y="3968496"/>
            <a:ext cx="3200400" cy="274320"/>
          </a:xfrm>
          <a:prstGeom prst="rect">
            <a:avLst/>
          </a:prstGeom>
          <a:noFill/>
          <a:ln/>
        </p:spPr>
        <p:txBody>
          <a:bodyPr wrap="square" lIns="0" tIns="0" rIns="0" bIns="0" rtlCol="0" anchor="ctr"/>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Still there tomorrow morning</a:t>
            </a:r>
            <a:endParaRPr lang="en-US" sz="1050" dirty="0"/>
          </a:p>
        </p:txBody>
      </p:sp>
      <p:sp>
        <p:nvSpPr>
          <p:cNvPr id="36" name="Text 34"/>
          <p:cNvSpPr/>
          <p:nvPr/>
        </p:nvSpPr>
        <p:spPr>
          <a:xfrm>
            <a:off x="566928" y="4590288"/>
            <a:ext cx="8010144" cy="310896"/>
          </a:xfrm>
          <a:prstGeom prst="rect">
            <a:avLst/>
          </a:prstGeom>
          <a:noFill/>
          <a:ln/>
        </p:spPr>
        <p:txBody>
          <a:bodyPr wrap="square" lIns="0" tIns="0" rIns="0" bIns="0" rtlCol="0" anchor="t"/>
          <a:lstStyle/>
          <a:p>
            <a:pPr marL="0" indent="0" algn="ctr">
              <a:lnSpc>
                <a:spcPts val="1420"/>
              </a:lnSpc>
              <a:buNone/>
            </a:pPr>
            <a:r>
              <a:rPr lang="en-US" sz="1000" i="1" dirty="0">
                <a:solidFill>
                  <a:srgbClr val="747B87"/>
                </a:solidFill>
                <a:latin typeface="Segoe UI" pitchFamily="34" charset="0"/>
                <a:ea typeface="Segoe UI" pitchFamily="34" charset="-122"/>
                <a:cs typeface="Segoe UI" pitchFamily="34" charset="-120"/>
              </a:rPr>
              <a:t>Logging is the cheapest insurance in the system. You pay for it before the incident, never during.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FOUNDATIONS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05</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Post-mortem: reconstructing a lost minute</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A post-mortem is archaeology. You cannot re-run the market; you can only read what the system left behind.</a:t>
            </a:r>
            <a:endParaRPr lang="en-US" sz="1250" dirty="0"/>
          </a:p>
        </p:txBody>
      </p:sp>
      <p:sp>
        <p:nvSpPr>
          <p:cNvPr id="8" name="timeline axis">
            <a:extLst>
              <a:ext uri="{C183D7F6-B498-43B3-948B-1728B52AA6E4}">
                <adec:decorative xmlns:adec="http://schemas.microsoft.com/office/drawing/2017/decorative" val="1"/>
              </a:ext>
            </a:extLst>
          </p:cNvPr>
          <p:cNvSpPr/>
          <p:nvPr/>
        </p:nvSpPr>
        <p:spPr>
          <a:xfrm>
            <a:off x="1062228" y="2395728"/>
            <a:ext cx="7680960" cy="18288"/>
          </a:xfrm>
          <a:prstGeom prst="rect">
            <a:avLst/>
          </a:prstGeom>
          <a:solidFill>
            <a:srgbClr val="444B55"/>
          </a:solidFill>
          <a:ln w="12700">
            <a:solidFill>
              <a:srgbClr val="333333"/>
            </a:solidFill>
            <a:prstDash val="solid"/>
          </a:ln>
        </p:spPr>
        <p:txBody>
          <a:bodyPr/>
          <a:lstStyle/>
          <a:p>
            <a:endParaRPr lang="en-SE"/>
          </a:p>
        </p:txBody>
      </p:sp>
      <p:sp>
        <p:nvSpPr>
          <p:cNvPr id="9" name="timeline marker">
            <a:extLst>
              <a:ext uri="{C183D7F6-B498-43B3-948B-1728B52AA6E4}">
                <adec:decorative xmlns:adec="http://schemas.microsoft.com/office/drawing/2017/decorative" val="1"/>
              </a:ext>
            </a:extLst>
          </p:cNvPr>
          <p:cNvSpPr/>
          <p:nvPr/>
        </p:nvSpPr>
        <p:spPr>
          <a:xfrm>
            <a:off x="1194816" y="2327148"/>
            <a:ext cx="137160" cy="137160"/>
          </a:xfrm>
          <a:prstGeom prst="ellipse">
            <a:avLst/>
          </a:prstGeom>
          <a:solidFill>
            <a:srgbClr val="E8A33D"/>
          </a:solidFill>
          <a:ln w="19050">
            <a:solidFill>
              <a:srgbClr val="15161A"/>
            </a:solidFill>
            <a:prstDash val="solid"/>
          </a:ln>
        </p:spPr>
        <p:txBody>
          <a:bodyPr/>
          <a:lstStyle/>
          <a:p>
            <a:endParaRPr lang="en-SE"/>
          </a:p>
        </p:txBody>
      </p:sp>
      <p:sp>
        <p:nvSpPr>
          <p:cNvPr id="10" name="marker stem">
            <a:extLst>
              <a:ext uri="{C183D7F6-B498-43B3-948B-1728B52AA6E4}">
                <adec:decorative xmlns:adec="http://schemas.microsoft.com/office/drawing/2017/decorative" val="1"/>
              </a:ext>
            </a:extLst>
          </p:cNvPr>
          <p:cNvSpPr/>
          <p:nvPr/>
        </p:nvSpPr>
        <p:spPr>
          <a:xfrm>
            <a:off x="1258824" y="2478024"/>
            <a:ext cx="9144" cy="256032"/>
          </a:xfrm>
          <a:prstGeom prst="rect">
            <a:avLst/>
          </a:prstGeom>
          <a:solidFill>
            <a:srgbClr val="444B55"/>
          </a:solidFill>
          <a:ln w="12700">
            <a:solidFill>
              <a:srgbClr val="333333"/>
            </a:solidFill>
            <a:prstDash val="solid"/>
          </a:ln>
        </p:spPr>
        <p:txBody>
          <a:bodyPr/>
          <a:lstStyle/>
          <a:p>
            <a:endParaRPr lang="en-SE"/>
          </a:p>
        </p:txBody>
      </p:sp>
      <p:sp>
        <p:nvSpPr>
          <p:cNvPr id="11" name="Text 9"/>
          <p:cNvSpPr/>
          <p:nvPr/>
        </p:nvSpPr>
        <p:spPr>
          <a:xfrm>
            <a:off x="486156" y="1828800"/>
            <a:ext cx="1554480" cy="219456"/>
          </a:xfrm>
          <a:prstGeom prst="rect">
            <a:avLst/>
          </a:prstGeom>
          <a:noFill/>
          <a:ln/>
        </p:spPr>
        <p:txBody>
          <a:bodyPr wrap="square" lIns="0" tIns="0" rIns="0" bIns="0" rtlCol="0" anchor="ctr"/>
          <a:lstStyle/>
          <a:p>
            <a:pPr marL="0" indent="0" algn="ctr">
              <a:lnSpc>
                <a:spcPts val="1500"/>
              </a:lnSpc>
              <a:buNone/>
            </a:pPr>
            <a:r>
              <a:rPr lang="en-US" sz="900" dirty="0">
                <a:solidFill>
                  <a:srgbClr val="747B87"/>
                </a:solidFill>
                <a:latin typeface="Consolas" pitchFamily="34" charset="0"/>
                <a:ea typeface="Consolas" pitchFamily="34" charset="-122"/>
                <a:cs typeface="Consolas" pitchFamily="34" charset="-120"/>
              </a:rPr>
              <a:t>09:31:04</a:t>
            </a:r>
            <a:endParaRPr lang="en-US" sz="900" dirty="0"/>
          </a:p>
        </p:txBody>
      </p:sp>
      <p:sp>
        <p:nvSpPr>
          <p:cNvPr id="12" name="card background">
            <a:extLst>
              <a:ext uri="{C183D7F6-B498-43B3-948B-1728B52AA6E4}">
                <adec:decorative xmlns:adec="http://schemas.microsoft.com/office/drawing/2017/decorative" val="1"/>
              </a:ext>
            </a:extLst>
          </p:cNvPr>
          <p:cNvSpPr/>
          <p:nvPr/>
        </p:nvSpPr>
        <p:spPr>
          <a:xfrm>
            <a:off x="422148" y="2743200"/>
            <a:ext cx="1682496" cy="1060704"/>
          </a:xfrm>
          <a:prstGeom prst="rect">
            <a:avLst/>
          </a:prstGeom>
          <a:solidFill>
            <a:srgbClr val="212429"/>
          </a:solidFill>
          <a:ln w="12700">
            <a:solidFill>
              <a:srgbClr val="343941"/>
            </a:solidFill>
            <a:prstDash val="solid"/>
          </a:ln>
        </p:spPr>
        <p:txBody>
          <a:bodyPr/>
          <a:lstStyle/>
          <a:p>
            <a:endParaRPr lang="en-SE"/>
          </a:p>
        </p:txBody>
      </p:sp>
      <p:sp>
        <p:nvSpPr>
          <p:cNvPr id="13" name="card top accent">
            <a:extLst>
              <a:ext uri="{C183D7F6-B498-43B3-948B-1728B52AA6E4}">
                <adec:decorative xmlns:adec="http://schemas.microsoft.com/office/drawing/2017/decorative" val="1"/>
              </a:ext>
            </a:extLst>
          </p:cNvPr>
          <p:cNvSpPr/>
          <p:nvPr/>
        </p:nvSpPr>
        <p:spPr>
          <a:xfrm>
            <a:off x="422148" y="2743200"/>
            <a:ext cx="1682496" cy="45720"/>
          </a:xfrm>
          <a:prstGeom prst="rect">
            <a:avLst/>
          </a:prstGeom>
          <a:solidFill>
            <a:srgbClr val="E8A33D"/>
          </a:solidFill>
          <a:ln w="12700">
            <a:solidFill>
              <a:srgbClr val="333333"/>
            </a:solidFill>
            <a:prstDash val="solid"/>
          </a:ln>
        </p:spPr>
        <p:txBody>
          <a:bodyPr/>
          <a:lstStyle/>
          <a:p>
            <a:endParaRPr lang="en-SE"/>
          </a:p>
        </p:txBody>
      </p:sp>
      <p:sp>
        <p:nvSpPr>
          <p:cNvPr id="14" name="Text 12"/>
          <p:cNvSpPr/>
          <p:nvPr/>
        </p:nvSpPr>
        <p:spPr>
          <a:xfrm>
            <a:off x="550164" y="2898648"/>
            <a:ext cx="1463040" cy="219456"/>
          </a:xfrm>
          <a:prstGeom prst="rect">
            <a:avLst/>
          </a:prstGeom>
          <a:noFill/>
          <a:ln/>
        </p:spPr>
        <p:txBody>
          <a:bodyPr wrap="square" lIns="0" tIns="0" rIns="0" bIns="0" rtlCol="0" anchor="ctr"/>
          <a:lstStyle/>
          <a:p>
            <a:pPr marL="0" indent="0" algn="l">
              <a:buNone/>
            </a:pPr>
            <a:r>
              <a:rPr lang="en-US" sz="800" b="1" kern="0" spc="180" dirty="0">
                <a:solidFill>
                  <a:srgbClr val="E8A33D"/>
                </a:solidFill>
                <a:latin typeface="Segoe UI" pitchFamily="34" charset="0"/>
                <a:ea typeface="Segoe UI" pitchFamily="34" charset="-122"/>
                <a:cs typeface="Segoe UI" pitchFamily="34" charset="-120"/>
              </a:rPr>
              <a:t>WARNING</a:t>
            </a:r>
            <a:endParaRPr lang="en-US" sz="800" dirty="0"/>
          </a:p>
        </p:txBody>
      </p:sp>
      <p:sp>
        <p:nvSpPr>
          <p:cNvPr id="15" name="Text 13"/>
          <p:cNvSpPr/>
          <p:nvPr/>
        </p:nvSpPr>
        <p:spPr>
          <a:xfrm>
            <a:off x="550164" y="3154680"/>
            <a:ext cx="1463040" cy="603504"/>
          </a:xfrm>
          <a:prstGeom prst="rect">
            <a:avLst/>
          </a:prstGeom>
          <a:noFill/>
          <a:ln/>
        </p:spPr>
        <p:txBody>
          <a:bodyPr wrap="square" lIns="0" tIns="0" rIns="0" bIns="0" rtlCol="0" anchor="t"/>
          <a:lstStyle/>
          <a:p>
            <a:pPr marL="0" indent="0" algn="l">
              <a:lnSpc>
                <a:spcPts val="1200"/>
              </a:lnSpc>
              <a:buNone/>
            </a:pPr>
            <a:r>
              <a:rPr lang="en-US" sz="950" dirty="0">
                <a:solidFill>
                  <a:srgbClr val="A3A9B4"/>
                </a:solidFill>
                <a:latin typeface="Segoe UI" pitchFamily="34" charset="0"/>
                <a:ea typeface="Segoe UI" pitchFamily="34" charset="-122"/>
                <a:cs typeface="Segoe UI" pitchFamily="34" charset="-120"/>
              </a:rPr>
              <a:t>md-gwy: slow client on DEPTH</a:t>
            </a:r>
            <a:endParaRPr lang="en-US" sz="950" dirty="0"/>
          </a:p>
        </p:txBody>
      </p:sp>
      <p:sp>
        <p:nvSpPr>
          <p:cNvPr id="16" name="timeline marker">
            <a:extLst>
              <a:ext uri="{C183D7F6-B498-43B3-948B-1728B52AA6E4}">
                <adec:decorative xmlns:adec="http://schemas.microsoft.com/office/drawing/2017/decorative" val="1"/>
              </a:ext>
            </a:extLst>
          </p:cNvPr>
          <p:cNvSpPr/>
          <p:nvPr/>
        </p:nvSpPr>
        <p:spPr>
          <a:xfrm>
            <a:off x="3217469" y="2327148"/>
            <a:ext cx="137160" cy="137160"/>
          </a:xfrm>
          <a:prstGeom prst="ellipse">
            <a:avLst/>
          </a:prstGeom>
          <a:solidFill>
            <a:srgbClr val="E8A33D"/>
          </a:solidFill>
          <a:ln w="19050">
            <a:solidFill>
              <a:srgbClr val="15161A"/>
            </a:solidFill>
            <a:prstDash val="solid"/>
          </a:ln>
        </p:spPr>
        <p:txBody>
          <a:bodyPr/>
          <a:lstStyle/>
          <a:p>
            <a:endParaRPr lang="en-SE"/>
          </a:p>
        </p:txBody>
      </p:sp>
      <p:sp>
        <p:nvSpPr>
          <p:cNvPr id="17" name="marker stem">
            <a:extLst>
              <a:ext uri="{C183D7F6-B498-43B3-948B-1728B52AA6E4}">
                <adec:decorative xmlns:adec="http://schemas.microsoft.com/office/drawing/2017/decorative" val="1"/>
              </a:ext>
            </a:extLst>
          </p:cNvPr>
          <p:cNvSpPr/>
          <p:nvPr/>
        </p:nvSpPr>
        <p:spPr>
          <a:xfrm>
            <a:off x="3281477" y="2478024"/>
            <a:ext cx="9144" cy="256032"/>
          </a:xfrm>
          <a:prstGeom prst="rect">
            <a:avLst/>
          </a:prstGeom>
          <a:solidFill>
            <a:srgbClr val="444B55"/>
          </a:solidFill>
          <a:ln w="12700">
            <a:solidFill>
              <a:srgbClr val="333333"/>
            </a:solidFill>
            <a:prstDash val="solid"/>
          </a:ln>
        </p:spPr>
        <p:txBody>
          <a:bodyPr/>
          <a:lstStyle/>
          <a:p>
            <a:endParaRPr lang="en-SE"/>
          </a:p>
        </p:txBody>
      </p:sp>
      <p:sp>
        <p:nvSpPr>
          <p:cNvPr id="18" name="Text 16"/>
          <p:cNvSpPr/>
          <p:nvPr/>
        </p:nvSpPr>
        <p:spPr>
          <a:xfrm>
            <a:off x="2508809" y="1828800"/>
            <a:ext cx="1554480" cy="219456"/>
          </a:xfrm>
          <a:prstGeom prst="rect">
            <a:avLst/>
          </a:prstGeom>
          <a:noFill/>
          <a:ln/>
        </p:spPr>
        <p:txBody>
          <a:bodyPr wrap="square" lIns="0" tIns="0" rIns="0" bIns="0" rtlCol="0" anchor="ctr"/>
          <a:lstStyle/>
          <a:p>
            <a:pPr marL="0" indent="0" algn="ctr">
              <a:lnSpc>
                <a:spcPts val="1500"/>
              </a:lnSpc>
              <a:buNone/>
            </a:pPr>
            <a:r>
              <a:rPr lang="en-US" sz="900" dirty="0">
                <a:solidFill>
                  <a:srgbClr val="747B87"/>
                </a:solidFill>
                <a:latin typeface="Consolas" pitchFamily="34" charset="0"/>
                <a:ea typeface="Consolas" pitchFamily="34" charset="-122"/>
                <a:cs typeface="Consolas" pitchFamily="34" charset="-120"/>
              </a:rPr>
              <a:t>09:31:12</a:t>
            </a:r>
            <a:endParaRPr lang="en-US" sz="900" dirty="0"/>
          </a:p>
        </p:txBody>
      </p:sp>
      <p:sp>
        <p:nvSpPr>
          <p:cNvPr id="19" name="card background">
            <a:extLst>
              <a:ext uri="{C183D7F6-B498-43B3-948B-1728B52AA6E4}">
                <adec:decorative xmlns:adec="http://schemas.microsoft.com/office/drawing/2017/decorative" val="1"/>
              </a:ext>
            </a:extLst>
          </p:cNvPr>
          <p:cNvSpPr/>
          <p:nvPr/>
        </p:nvSpPr>
        <p:spPr>
          <a:xfrm>
            <a:off x="2444801" y="2743200"/>
            <a:ext cx="1682496" cy="1060704"/>
          </a:xfrm>
          <a:prstGeom prst="rect">
            <a:avLst/>
          </a:prstGeom>
          <a:solidFill>
            <a:srgbClr val="212429"/>
          </a:solidFill>
          <a:ln w="12700">
            <a:solidFill>
              <a:srgbClr val="343941"/>
            </a:solidFill>
            <a:prstDash val="solid"/>
          </a:ln>
        </p:spPr>
        <p:txBody>
          <a:bodyPr/>
          <a:lstStyle/>
          <a:p>
            <a:endParaRPr lang="en-SE"/>
          </a:p>
        </p:txBody>
      </p:sp>
      <p:sp>
        <p:nvSpPr>
          <p:cNvPr id="20" name="card top accent">
            <a:extLst>
              <a:ext uri="{C183D7F6-B498-43B3-948B-1728B52AA6E4}">
                <adec:decorative xmlns:adec="http://schemas.microsoft.com/office/drawing/2017/decorative" val="1"/>
              </a:ext>
            </a:extLst>
          </p:cNvPr>
          <p:cNvSpPr/>
          <p:nvPr/>
        </p:nvSpPr>
        <p:spPr>
          <a:xfrm>
            <a:off x="2444801" y="2743200"/>
            <a:ext cx="1682496" cy="45720"/>
          </a:xfrm>
          <a:prstGeom prst="rect">
            <a:avLst/>
          </a:prstGeom>
          <a:solidFill>
            <a:srgbClr val="E8A33D"/>
          </a:solidFill>
          <a:ln w="12700">
            <a:solidFill>
              <a:srgbClr val="333333"/>
            </a:solidFill>
            <a:prstDash val="solid"/>
          </a:ln>
        </p:spPr>
        <p:txBody>
          <a:bodyPr/>
          <a:lstStyle/>
          <a:p>
            <a:endParaRPr lang="en-SE"/>
          </a:p>
        </p:txBody>
      </p:sp>
      <p:sp>
        <p:nvSpPr>
          <p:cNvPr id="21" name="Text 19"/>
          <p:cNvSpPr/>
          <p:nvPr/>
        </p:nvSpPr>
        <p:spPr>
          <a:xfrm>
            <a:off x="2572817" y="2898648"/>
            <a:ext cx="1463040" cy="219456"/>
          </a:xfrm>
          <a:prstGeom prst="rect">
            <a:avLst/>
          </a:prstGeom>
          <a:noFill/>
          <a:ln/>
        </p:spPr>
        <p:txBody>
          <a:bodyPr wrap="square" lIns="0" tIns="0" rIns="0" bIns="0" rtlCol="0" anchor="ctr"/>
          <a:lstStyle/>
          <a:p>
            <a:pPr marL="0" indent="0" algn="l">
              <a:buNone/>
            </a:pPr>
            <a:r>
              <a:rPr lang="en-US" sz="800" b="1" kern="0" spc="180" dirty="0">
                <a:solidFill>
                  <a:srgbClr val="E8A33D"/>
                </a:solidFill>
                <a:latin typeface="Segoe UI" pitchFamily="34" charset="0"/>
                <a:ea typeface="Segoe UI" pitchFamily="34" charset="-122"/>
                <a:cs typeface="Segoe UI" pitchFamily="34" charset="-120"/>
              </a:rPr>
              <a:t>WARNING</a:t>
            </a:r>
            <a:endParaRPr lang="en-US" sz="800" dirty="0"/>
          </a:p>
        </p:txBody>
      </p:sp>
      <p:sp>
        <p:nvSpPr>
          <p:cNvPr id="22" name="Text 20"/>
          <p:cNvSpPr/>
          <p:nvPr/>
        </p:nvSpPr>
        <p:spPr>
          <a:xfrm>
            <a:off x="2572817" y="3154680"/>
            <a:ext cx="1463040" cy="603504"/>
          </a:xfrm>
          <a:prstGeom prst="rect">
            <a:avLst/>
          </a:prstGeom>
          <a:noFill/>
          <a:ln/>
        </p:spPr>
        <p:txBody>
          <a:bodyPr wrap="square" lIns="0" tIns="0" rIns="0" bIns="0" rtlCol="0" anchor="t"/>
          <a:lstStyle/>
          <a:p>
            <a:pPr marL="0" indent="0" algn="l">
              <a:lnSpc>
                <a:spcPts val="1200"/>
              </a:lnSpc>
              <a:buNone/>
            </a:pPr>
            <a:r>
              <a:rPr lang="en-US" sz="950" dirty="0">
                <a:solidFill>
                  <a:srgbClr val="A3A9B4"/>
                </a:solidFill>
                <a:latin typeface="Segoe UI" pitchFamily="34" charset="0"/>
                <a:ea typeface="Segoe UI" pitchFamily="34" charset="-122"/>
                <a:cs typeface="Segoe UI" pitchFamily="34" charset="-120"/>
              </a:rPr>
              <a:t>api-gwy: ENGINE_TIMEOUT × 6</a:t>
            </a:r>
            <a:endParaRPr lang="en-US" sz="950" dirty="0"/>
          </a:p>
        </p:txBody>
      </p:sp>
      <p:sp>
        <p:nvSpPr>
          <p:cNvPr id="23" name="timeline marker">
            <a:extLst>
              <a:ext uri="{C183D7F6-B498-43B3-948B-1728B52AA6E4}">
                <adec:decorative xmlns:adec="http://schemas.microsoft.com/office/drawing/2017/decorative" val="1"/>
              </a:ext>
            </a:extLst>
          </p:cNvPr>
          <p:cNvSpPr/>
          <p:nvPr/>
        </p:nvSpPr>
        <p:spPr>
          <a:xfrm>
            <a:off x="5240122" y="2327148"/>
            <a:ext cx="137160" cy="137160"/>
          </a:xfrm>
          <a:prstGeom prst="ellipse">
            <a:avLst/>
          </a:prstGeom>
          <a:solidFill>
            <a:srgbClr val="C9584C"/>
          </a:solidFill>
          <a:ln w="19050">
            <a:solidFill>
              <a:srgbClr val="15161A"/>
            </a:solidFill>
            <a:prstDash val="solid"/>
          </a:ln>
        </p:spPr>
        <p:txBody>
          <a:bodyPr/>
          <a:lstStyle/>
          <a:p>
            <a:endParaRPr lang="en-SE"/>
          </a:p>
        </p:txBody>
      </p:sp>
      <p:sp>
        <p:nvSpPr>
          <p:cNvPr id="24" name="marker stem">
            <a:extLst>
              <a:ext uri="{C183D7F6-B498-43B3-948B-1728B52AA6E4}">
                <adec:decorative xmlns:adec="http://schemas.microsoft.com/office/drawing/2017/decorative" val="1"/>
              </a:ext>
            </a:extLst>
          </p:cNvPr>
          <p:cNvSpPr/>
          <p:nvPr/>
        </p:nvSpPr>
        <p:spPr>
          <a:xfrm>
            <a:off x="5304130" y="2478024"/>
            <a:ext cx="9144" cy="256032"/>
          </a:xfrm>
          <a:prstGeom prst="rect">
            <a:avLst/>
          </a:prstGeom>
          <a:solidFill>
            <a:srgbClr val="444B55"/>
          </a:solidFill>
          <a:ln w="12700">
            <a:solidFill>
              <a:srgbClr val="333333"/>
            </a:solidFill>
            <a:prstDash val="solid"/>
          </a:ln>
        </p:spPr>
        <p:txBody>
          <a:bodyPr/>
          <a:lstStyle/>
          <a:p>
            <a:endParaRPr lang="en-SE"/>
          </a:p>
        </p:txBody>
      </p:sp>
      <p:sp>
        <p:nvSpPr>
          <p:cNvPr id="25" name="Text 23"/>
          <p:cNvSpPr/>
          <p:nvPr/>
        </p:nvSpPr>
        <p:spPr>
          <a:xfrm>
            <a:off x="4531462" y="1828800"/>
            <a:ext cx="1554480" cy="219456"/>
          </a:xfrm>
          <a:prstGeom prst="rect">
            <a:avLst/>
          </a:prstGeom>
          <a:noFill/>
          <a:ln/>
        </p:spPr>
        <p:txBody>
          <a:bodyPr wrap="square" lIns="0" tIns="0" rIns="0" bIns="0" rtlCol="0" anchor="ctr"/>
          <a:lstStyle/>
          <a:p>
            <a:pPr marL="0" indent="0" algn="ctr">
              <a:lnSpc>
                <a:spcPts val="1500"/>
              </a:lnSpc>
              <a:buNone/>
            </a:pPr>
            <a:r>
              <a:rPr lang="en-US" sz="900" dirty="0">
                <a:solidFill>
                  <a:srgbClr val="747B87"/>
                </a:solidFill>
                <a:latin typeface="Consolas" pitchFamily="34" charset="0"/>
                <a:ea typeface="Consolas" pitchFamily="34" charset="-122"/>
                <a:cs typeface="Consolas" pitchFamily="34" charset="-120"/>
              </a:rPr>
              <a:t>09:31:19</a:t>
            </a:r>
            <a:endParaRPr lang="en-US" sz="900" dirty="0"/>
          </a:p>
        </p:txBody>
      </p:sp>
      <p:sp>
        <p:nvSpPr>
          <p:cNvPr id="26" name="card background">
            <a:extLst>
              <a:ext uri="{C183D7F6-B498-43B3-948B-1728B52AA6E4}">
                <adec:decorative xmlns:adec="http://schemas.microsoft.com/office/drawing/2017/decorative" val="1"/>
              </a:ext>
            </a:extLst>
          </p:cNvPr>
          <p:cNvSpPr/>
          <p:nvPr/>
        </p:nvSpPr>
        <p:spPr>
          <a:xfrm>
            <a:off x="4467454" y="2743200"/>
            <a:ext cx="1682496" cy="1060704"/>
          </a:xfrm>
          <a:prstGeom prst="rect">
            <a:avLst/>
          </a:prstGeom>
          <a:solidFill>
            <a:srgbClr val="212429"/>
          </a:solidFill>
          <a:ln w="12700">
            <a:solidFill>
              <a:srgbClr val="343941"/>
            </a:solidFill>
            <a:prstDash val="solid"/>
          </a:ln>
        </p:spPr>
        <p:txBody>
          <a:bodyPr/>
          <a:lstStyle/>
          <a:p>
            <a:endParaRPr lang="en-SE"/>
          </a:p>
        </p:txBody>
      </p:sp>
      <p:sp>
        <p:nvSpPr>
          <p:cNvPr id="27" name="card top accent">
            <a:extLst>
              <a:ext uri="{C183D7F6-B498-43B3-948B-1728B52AA6E4}">
                <adec:decorative xmlns:adec="http://schemas.microsoft.com/office/drawing/2017/decorative" val="1"/>
              </a:ext>
            </a:extLst>
          </p:cNvPr>
          <p:cNvSpPr/>
          <p:nvPr/>
        </p:nvSpPr>
        <p:spPr>
          <a:xfrm>
            <a:off x="4467454" y="2743200"/>
            <a:ext cx="1682496" cy="45720"/>
          </a:xfrm>
          <a:prstGeom prst="rect">
            <a:avLst/>
          </a:prstGeom>
          <a:solidFill>
            <a:srgbClr val="C9584C"/>
          </a:solidFill>
          <a:ln w="12700">
            <a:solidFill>
              <a:srgbClr val="333333"/>
            </a:solidFill>
            <a:prstDash val="solid"/>
          </a:ln>
        </p:spPr>
        <p:txBody>
          <a:bodyPr/>
          <a:lstStyle/>
          <a:p>
            <a:endParaRPr lang="en-SE"/>
          </a:p>
        </p:txBody>
      </p:sp>
      <p:sp>
        <p:nvSpPr>
          <p:cNvPr id="28" name="Text 26"/>
          <p:cNvSpPr/>
          <p:nvPr/>
        </p:nvSpPr>
        <p:spPr>
          <a:xfrm>
            <a:off x="4595470" y="2898648"/>
            <a:ext cx="1463040" cy="219456"/>
          </a:xfrm>
          <a:prstGeom prst="rect">
            <a:avLst/>
          </a:prstGeom>
          <a:noFill/>
          <a:ln/>
        </p:spPr>
        <p:txBody>
          <a:bodyPr wrap="square" lIns="0" tIns="0" rIns="0" bIns="0" rtlCol="0" anchor="ctr"/>
          <a:lstStyle/>
          <a:p>
            <a:pPr marL="0" indent="0" algn="l">
              <a:buNone/>
            </a:pPr>
            <a:r>
              <a:rPr lang="en-US" sz="800" b="1" kern="0" spc="180" dirty="0">
                <a:solidFill>
                  <a:srgbClr val="C9584C"/>
                </a:solidFill>
                <a:latin typeface="Segoe UI" pitchFamily="34" charset="0"/>
                <a:ea typeface="Segoe UI" pitchFamily="34" charset="-122"/>
                <a:cs typeface="Segoe UI" pitchFamily="34" charset="-120"/>
              </a:rPr>
              <a:t>ERROR</a:t>
            </a:r>
            <a:endParaRPr lang="en-US" sz="800" dirty="0"/>
          </a:p>
        </p:txBody>
      </p:sp>
      <p:sp>
        <p:nvSpPr>
          <p:cNvPr id="29" name="Text 27"/>
          <p:cNvSpPr/>
          <p:nvPr/>
        </p:nvSpPr>
        <p:spPr>
          <a:xfrm>
            <a:off x="4595470" y="3154680"/>
            <a:ext cx="1463040" cy="603504"/>
          </a:xfrm>
          <a:prstGeom prst="rect">
            <a:avLst/>
          </a:prstGeom>
          <a:noFill/>
          <a:ln/>
        </p:spPr>
        <p:txBody>
          <a:bodyPr wrap="square" lIns="0" tIns="0" rIns="0" bIns="0" rtlCol="0" anchor="t"/>
          <a:lstStyle/>
          <a:p>
            <a:pPr marL="0" indent="0" algn="l">
              <a:lnSpc>
                <a:spcPts val="1200"/>
              </a:lnSpc>
              <a:buNone/>
            </a:pPr>
            <a:r>
              <a:rPr lang="en-US" sz="950" dirty="0">
                <a:solidFill>
                  <a:srgbClr val="A3A9B4"/>
                </a:solidFill>
                <a:latin typeface="Segoe UI" pitchFamily="34" charset="0"/>
                <a:ea typeface="Segoe UI" pitchFamily="34" charset="-122"/>
                <a:cs typeface="Segoe UI" pitchFamily="34" charset="-120"/>
              </a:rPr>
              <a:t>api-gwy: traceback attached</a:t>
            </a:r>
            <a:endParaRPr lang="en-US" sz="950" dirty="0"/>
          </a:p>
        </p:txBody>
      </p:sp>
      <p:sp>
        <p:nvSpPr>
          <p:cNvPr id="30" name="timeline marker">
            <a:extLst>
              <a:ext uri="{C183D7F6-B498-43B3-948B-1728B52AA6E4}">
                <adec:decorative xmlns:adec="http://schemas.microsoft.com/office/drawing/2017/decorative" val="1"/>
              </a:ext>
            </a:extLst>
          </p:cNvPr>
          <p:cNvSpPr/>
          <p:nvPr/>
        </p:nvSpPr>
        <p:spPr>
          <a:xfrm>
            <a:off x="7262774" y="2327148"/>
            <a:ext cx="137160" cy="137160"/>
          </a:xfrm>
          <a:prstGeom prst="ellipse">
            <a:avLst/>
          </a:prstGeom>
          <a:solidFill>
            <a:srgbClr val="C9584C"/>
          </a:solidFill>
          <a:ln w="19050">
            <a:solidFill>
              <a:srgbClr val="15161A"/>
            </a:solidFill>
            <a:prstDash val="solid"/>
          </a:ln>
        </p:spPr>
        <p:txBody>
          <a:bodyPr/>
          <a:lstStyle/>
          <a:p>
            <a:endParaRPr lang="en-SE"/>
          </a:p>
        </p:txBody>
      </p:sp>
      <p:sp>
        <p:nvSpPr>
          <p:cNvPr id="31" name="marker stem">
            <a:extLst>
              <a:ext uri="{C183D7F6-B498-43B3-948B-1728B52AA6E4}">
                <adec:decorative xmlns:adec="http://schemas.microsoft.com/office/drawing/2017/decorative" val="1"/>
              </a:ext>
            </a:extLst>
          </p:cNvPr>
          <p:cNvSpPr/>
          <p:nvPr/>
        </p:nvSpPr>
        <p:spPr>
          <a:xfrm>
            <a:off x="7326782" y="2478024"/>
            <a:ext cx="9144" cy="256032"/>
          </a:xfrm>
          <a:prstGeom prst="rect">
            <a:avLst/>
          </a:prstGeom>
          <a:solidFill>
            <a:srgbClr val="444B55"/>
          </a:solidFill>
          <a:ln w="12700">
            <a:solidFill>
              <a:srgbClr val="333333"/>
            </a:solidFill>
            <a:prstDash val="solid"/>
          </a:ln>
        </p:spPr>
        <p:txBody>
          <a:bodyPr/>
          <a:lstStyle/>
          <a:p>
            <a:endParaRPr lang="en-SE"/>
          </a:p>
        </p:txBody>
      </p:sp>
      <p:sp>
        <p:nvSpPr>
          <p:cNvPr id="32" name="Text 30"/>
          <p:cNvSpPr/>
          <p:nvPr/>
        </p:nvSpPr>
        <p:spPr>
          <a:xfrm>
            <a:off x="6554114" y="1828800"/>
            <a:ext cx="1554480" cy="219456"/>
          </a:xfrm>
          <a:prstGeom prst="rect">
            <a:avLst/>
          </a:prstGeom>
          <a:noFill/>
          <a:ln/>
        </p:spPr>
        <p:txBody>
          <a:bodyPr wrap="square" lIns="0" tIns="0" rIns="0" bIns="0" rtlCol="0" anchor="ctr"/>
          <a:lstStyle/>
          <a:p>
            <a:pPr marL="0" indent="0" algn="ctr">
              <a:lnSpc>
                <a:spcPts val="1500"/>
              </a:lnSpc>
              <a:buNone/>
            </a:pPr>
            <a:r>
              <a:rPr lang="en-US" sz="900" dirty="0">
                <a:solidFill>
                  <a:srgbClr val="747B87"/>
                </a:solidFill>
                <a:latin typeface="Consolas" pitchFamily="34" charset="0"/>
                <a:ea typeface="Consolas" pitchFamily="34" charset="-122"/>
                <a:cs typeface="Consolas" pitchFamily="34" charset="-120"/>
              </a:rPr>
              <a:t>09:31:20</a:t>
            </a:r>
            <a:endParaRPr lang="en-US" sz="900" dirty="0"/>
          </a:p>
        </p:txBody>
      </p:sp>
      <p:sp>
        <p:nvSpPr>
          <p:cNvPr id="33" name="card background">
            <a:extLst>
              <a:ext uri="{C183D7F6-B498-43B3-948B-1728B52AA6E4}">
                <adec:decorative xmlns:adec="http://schemas.microsoft.com/office/drawing/2017/decorative" val="1"/>
              </a:ext>
            </a:extLst>
          </p:cNvPr>
          <p:cNvSpPr/>
          <p:nvPr/>
        </p:nvSpPr>
        <p:spPr>
          <a:xfrm>
            <a:off x="6490106" y="2743200"/>
            <a:ext cx="1682496" cy="1060704"/>
          </a:xfrm>
          <a:prstGeom prst="rect">
            <a:avLst/>
          </a:prstGeom>
          <a:solidFill>
            <a:srgbClr val="212429"/>
          </a:solidFill>
          <a:ln w="12700">
            <a:solidFill>
              <a:srgbClr val="343941"/>
            </a:solidFill>
            <a:prstDash val="solid"/>
          </a:ln>
        </p:spPr>
        <p:txBody>
          <a:bodyPr/>
          <a:lstStyle/>
          <a:p>
            <a:endParaRPr lang="en-SE"/>
          </a:p>
        </p:txBody>
      </p:sp>
      <p:sp>
        <p:nvSpPr>
          <p:cNvPr id="34" name="card top accent">
            <a:extLst>
              <a:ext uri="{C183D7F6-B498-43B3-948B-1728B52AA6E4}">
                <adec:decorative xmlns:adec="http://schemas.microsoft.com/office/drawing/2017/decorative" val="1"/>
              </a:ext>
            </a:extLst>
          </p:cNvPr>
          <p:cNvSpPr/>
          <p:nvPr/>
        </p:nvSpPr>
        <p:spPr>
          <a:xfrm>
            <a:off x="6490106" y="2743200"/>
            <a:ext cx="1682496" cy="45720"/>
          </a:xfrm>
          <a:prstGeom prst="rect">
            <a:avLst/>
          </a:prstGeom>
          <a:solidFill>
            <a:srgbClr val="C9584C"/>
          </a:solidFill>
          <a:ln w="12700">
            <a:solidFill>
              <a:srgbClr val="333333"/>
            </a:solidFill>
            <a:prstDash val="solid"/>
          </a:ln>
        </p:spPr>
        <p:txBody>
          <a:bodyPr/>
          <a:lstStyle/>
          <a:p>
            <a:endParaRPr lang="en-SE"/>
          </a:p>
        </p:txBody>
      </p:sp>
      <p:sp>
        <p:nvSpPr>
          <p:cNvPr id="35" name="Text 33"/>
          <p:cNvSpPr/>
          <p:nvPr/>
        </p:nvSpPr>
        <p:spPr>
          <a:xfrm>
            <a:off x="6618122" y="2898648"/>
            <a:ext cx="1463040" cy="219456"/>
          </a:xfrm>
          <a:prstGeom prst="rect">
            <a:avLst/>
          </a:prstGeom>
          <a:noFill/>
          <a:ln/>
        </p:spPr>
        <p:txBody>
          <a:bodyPr wrap="square" lIns="0" tIns="0" rIns="0" bIns="0" rtlCol="0" anchor="ctr"/>
          <a:lstStyle/>
          <a:p>
            <a:pPr marL="0" indent="0" algn="l">
              <a:buNone/>
            </a:pPr>
            <a:r>
              <a:rPr lang="en-US" sz="800" b="1" kern="0" spc="180" dirty="0">
                <a:solidFill>
                  <a:srgbClr val="C9584C"/>
                </a:solidFill>
                <a:latin typeface="Segoe UI" pitchFamily="34" charset="0"/>
                <a:ea typeface="Segoe UI" pitchFamily="34" charset="-122"/>
                <a:cs typeface="Segoe UI" pitchFamily="34" charset="-120"/>
              </a:rPr>
              <a:t>SILENT</a:t>
            </a:r>
            <a:endParaRPr lang="en-US" sz="800" dirty="0"/>
          </a:p>
        </p:txBody>
      </p:sp>
      <p:sp>
        <p:nvSpPr>
          <p:cNvPr id="36" name="Text 34"/>
          <p:cNvSpPr/>
          <p:nvPr/>
        </p:nvSpPr>
        <p:spPr>
          <a:xfrm>
            <a:off x="6618122" y="3154680"/>
            <a:ext cx="1463040" cy="603504"/>
          </a:xfrm>
          <a:prstGeom prst="rect">
            <a:avLst/>
          </a:prstGeom>
          <a:noFill/>
          <a:ln/>
        </p:spPr>
        <p:txBody>
          <a:bodyPr wrap="square" lIns="0" tIns="0" rIns="0" bIns="0" rtlCol="0" anchor="t"/>
          <a:lstStyle/>
          <a:p>
            <a:pPr marL="0" indent="0" algn="l">
              <a:lnSpc>
                <a:spcPts val="1200"/>
              </a:lnSpc>
              <a:buNone/>
            </a:pPr>
            <a:r>
              <a:rPr lang="en-US" sz="950" dirty="0">
                <a:solidFill>
                  <a:srgbClr val="A3A9B4"/>
                </a:solidFill>
                <a:latin typeface="Segoe UI" pitchFamily="34" charset="0"/>
                <a:ea typeface="Segoe UI" pitchFamily="34" charset="-122"/>
                <a:cs typeface="Segoe UI" pitchFamily="34" charset="-120"/>
              </a:rPr>
              <a:t>engine stops logging</a:t>
            </a:r>
            <a:endParaRPr lang="en-US" sz="950" dirty="0"/>
          </a:p>
        </p:txBody>
      </p:sp>
      <p:sp>
        <p:nvSpPr>
          <p:cNvPr id="37" name="card background">
            <a:extLst>
              <a:ext uri="{C183D7F6-B498-43B3-948B-1728B52AA6E4}">
                <adec:decorative xmlns:adec="http://schemas.microsoft.com/office/drawing/2017/decorative" val="1"/>
              </a:ext>
            </a:extLst>
          </p:cNvPr>
          <p:cNvSpPr/>
          <p:nvPr/>
        </p:nvSpPr>
        <p:spPr>
          <a:xfrm>
            <a:off x="566928" y="4224528"/>
            <a:ext cx="8010144" cy="658368"/>
          </a:xfrm>
          <a:prstGeom prst="rect">
            <a:avLst/>
          </a:prstGeom>
          <a:solidFill>
            <a:srgbClr val="282C33"/>
          </a:solidFill>
          <a:ln w="12700">
            <a:solidFill>
              <a:srgbClr val="343941"/>
            </a:solidFill>
            <a:prstDash val="solid"/>
          </a:ln>
        </p:spPr>
        <p:txBody>
          <a:bodyPr/>
          <a:lstStyle/>
          <a:p>
            <a:endParaRPr lang="en-SE"/>
          </a:p>
        </p:txBody>
      </p:sp>
      <p:sp>
        <p:nvSpPr>
          <p:cNvPr id="38" name="card accent edge">
            <a:extLst>
              <a:ext uri="{C183D7F6-B498-43B3-948B-1728B52AA6E4}">
                <adec:decorative xmlns:adec="http://schemas.microsoft.com/office/drawing/2017/decorative" val="1"/>
              </a:ext>
            </a:extLst>
          </p:cNvPr>
          <p:cNvSpPr/>
          <p:nvPr/>
        </p:nvSpPr>
        <p:spPr>
          <a:xfrm>
            <a:off x="566928" y="4224528"/>
            <a:ext cx="50292" cy="658368"/>
          </a:xfrm>
          <a:prstGeom prst="rect">
            <a:avLst/>
          </a:prstGeom>
          <a:solidFill>
            <a:srgbClr val="E8A33D"/>
          </a:solidFill>
          <a:ln w="12700">
            <a:solidFill>
              <a:srgbClr val="333333"/>
            </a:solidFill>
            <a:prstDash val="solid"/>
          </a:ln>
        </p:spPr>
        <p:txBody>
          <a:bodyPr/>
          <a:lstStyle/>
          <a:p>
            <a:endParaRPr lang="en-SE"/>
          </a:p>
        </p:txBody>
      </p:sp>
      <p:sp>
        <p:nvSpPr>
          <p:cNvPr id="39" name="Text 37"/>
          <p:cNvSpPr/>
          <p:nvPr/>
        </p:nvSpPr>
        <p:spPr>
          <a:xfrm>
            <a:off x="822960" y="4370832"/>
            <a:ext cx="7498080" cy="384048"/>
          </a:xfrm>
          <a:prstGeom prst="rect">
            <a:avLst/>
          </a:prstGeom>
          <a:noFill/>
          <a:ln/>
        </p:spPr>
        <p:txBody>
          <a:bodyPr wrap="square" lIns="0" tIns="0" rIns="0" bIns="0" rtlCol="0" anchor="ctr"/>
          <a:lstStyle/>
          <a:p>
            <a:pPr marL="0" indent="0" algn="l">
              <a:lnSpc>
                <a:spcPts val="1633"/>
              </a:lnSpc>
              <a:buNone/>
            </a:pPr>
            <a:r>
              <a:rPr lang="en-US" sz="1150" dirty="0">
                <a:solidFill>
                  <a:srgbClr val="A3A9B4"/>
                </a:solidFill>
                <a:latin typeface="Segoe UI" pitchFamily="34" charset="0"/>
                <a:ea typeface="Segoe UI" pitchFamily="34" charset="-122"/>
                <a:cs typeface="Segoe UI" pitchFamily="34" charset="-120"/>
              </a:rPr>
              <a:t>The conclusion writes itself once the rows sit in one table: </a:t>
            </a:r>
            <a:r>
              <a:rPr lang="en-US" sz="1150" b="1" dirty="0">
                <a:solidFill>
                  <a:srgbClr val="F6C978"/>
                </a:solidFill>
                <a:latin typeface="Segoe UI" pitchFamily="34" charset="0"/>
                <a:ea typeface="Segoe UI" pitchFamily="34" charset="-122"/>
                <a:cs typeface="Segoe UI" pitchFamily="34" charset="-120"/>
              </a:rPr>
              <a:t>the gateway did not cause the outage — it was the first thing to notice it.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FOUNDATIONS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06</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problem a central collector actually solves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Every process already logs. The difficulty was never producing logs — it was reading four of them at the same time.</a:t>
            </a:r>
            <a:endParaRPr lang="en-US" sz="1250" dirty="0"/>
          </a:p>
        </p:txBody>
      </p:sp>
      <p:sp>
        <p:nvSpPr>
          <p:cNvPr id="8" name="Text 6"/>
          <p:cNvSpPr/>
          <p:nvPr/>
        </p:nvSpPr>
        <p:spPr>
          <a:xfrm>
            <a:off x="566928" y="1847088"/>
            <a:ext cx="3657600" cy="219456"/>
          </a:xfrm>
          <a:prstGeom prst="rect">
            <a:avLst/>
          </a:prstGeom>
          <a:noFill/>
          <a:ln/>
        </p:spPr>
        <p:txBody>
          <a:bodyPr wrap="square" lIns="0" tIns="0" rIns="0" bIns="0" rtlCol="0" anchor="ctr"/>
          <a:lstStyle/>
          <a:p>
            <a:pPr marL="0" indent="0" algn="l">
              <a:buNone/>
            </a:pPr>
            <a:r>
              <a:rPr lang="en-US" sz="900" b="1" kern="0" spc="180" dirty="0">
                <a:solidFill>
                  <a:srgbClr val="E8A33D"/>
                </a:solidFill>
                <a:latin typeface="Segoe UI" pitchFamily="34" charset="0"/>
                <a:ea typeface="Segoe UI" pitchFamily="34" charset="-122"/>
                <a:cs typeface="Segoe UI" pitchFamily="34" charset="-120"/>
              </a:rPr>
              <a:t>BEFORE — FOUR SCROLLBACKS</a:t>
            </a:r>
            <a:endParaRPr lang="en-US" sz="900" dirty="0"/>
          </a:p>
        </p:txBody>
      </p:sp>
      <p:sp>
        <p:nvSpPr>
          <p:cNvPr id="9" name="card background">
            <a:extLst>
              <a:ext uri="{C183D7F6-B498-43B3-948B-1728B52AA6E4}">
                <adec:decorative xmlns:adec="http://schemas.microsoft.com/office/drawing/2017/decorative" val="1"/>
              </a:ext>
            </a:extLst>
          </p:cNvPr>
          <p:cNvSpPr/>
          <p:nvPr/>
        </p:nvSpPr>
        <p:spPr>
          <a:xfrm>
            <a:off x="566928" y="2139696"/>
            <a:ext cx="1572768" cy="896112"/>
          </a:xfrm>
          <a:prstGeom prst="rect">
            <a:avLst/>
          </a:prstGeom>
          <a:solidFill>
            <a:srgbClr val="141519"/>
          </a:solidFill>
          <a:ln w="12700">
            <a:solidFill>
              <a:srgbClr val="343941"/>
            </a:solidFill>
            <a:prstDash val="solid"/>
          </a:ln>
        </p:spPr>
        <p:txBody>
          <a:bodyPr/>
          <a:lstStyle/>
          <a:p>
            <a:endParaRPr lang="en-SE"/>
          </a:p>
        </p:txBody>
      </p:sp>
      <p:sp>
        <p:nvSpPr>
          <p:cNvPr id="10" name="Text 8"/>
          <p:cNvSpPr/>
          <p:nvPr/>
        </p:nvSpPr>
        <p:spPr>
          <a:xfrm>
            <a:off x="694944" y="2231136"/>
            <a:ext cx="1371600" cy="201168"/>
          </a:xfrm>
          <a:prstGeom prst="rect">
            <a:avLst/>
          </a:prstGeom>
          <a:noFill/>
          <a:ln/>
        </p:spPr>
        <p:txBody>
          <a:bodyPr wrap="square" lIns="0" tIns="0" rIns="0" bIns="0" rtlCol="0" anchor="ctr"/>
          <a:lstStyle/>
          <a:p>
            <a:pPr marL="0" indent="0" algn="l">
              <a:lnSpc>
                <a:spcPts val="1500"/>
              </a:lnSpc>
              <a:buNone/>
            </a:pPr>
            <a:r>
              <a:rPr lang="en-US" sz="850" dirty="0">
                <a:solidFill>
                  <a:srgbClr val="747B87"/>
                </a:solidFill>
                <a:latin typeface="Consolas" pitchFamily="34" charset="0"/>
                <a:ea typeface="Consolas" pitchFamily="34" charset="-122"/>
                <a:cs typeface="Consolas" pitchFamily="34" charset="-120"/>
              </a:rPr>
              <a:t>pm-engine</a:t>
            </a:r>
            <a:endParaRPr lang="en-US" sz="850" dirty="0"/>
          </a:p>
        </p:txBody>
      </p:sp>
      <p:sp>
        <p:nvSpPr>
          <p:cNvPr id="11" name="log line">
            <a:extLst>
              <a:ext uri="{C183D7F6-B498-43B3-948B-1728B52AA6E4}">
                <adec:decorative xmlns:adec="http://schemas.microsoft.com/office/drawing/2017/decorative" val="1"/>
              </a:ext>
            </a:extLst>
          </p:cNvPr>
          <p:cNvSpPr/>
          <p:nvPr/>
        </p:nvSpPr>
        <p:spPr>
          <a:xfrm>
            <a:off x="694944" y="2505456"/>
            <a:ext cx="457200" cy="41148"/>
          </a:xfrm>
          <a:prstGeom prst="rect">
            <a:avLst/>
          </a:prstGeom>
          <a:solidFill>
            <a:srgbClr val="2C3038"/>
          </a:solidFill>
          <a:ln w="12700">
            <a:solidFill>
              <a:srgbClr val="333333"/>
            </a:solidFill>
            <a:prstDash val="solid"/>
          </a:ln>
        </p:spPr>
        <p:txBody>
          <a:bodyPr/>
          <a:lstStyle/>
          <a:p>
            <a:endParaRPr lang="en-SE"/>
          </a:p>
        </p:txBody>
      </p:sp>
      <p:sp>
        <p:nvSpPr>
          <p:cNvPr id="12" name="log line">
            <a:extLst>
              <a:ext uri="{C183D7F6-B498-43B3-948B-1728B52AA6E4}">
                <adec:decorative xmlns:adec="http://schemas.microsoft.com/office/drawing/2017/decorative" val="1"/>
              </a:ext>
            </a:extLst>
          </p:cNvPr>
          <p:cNvSpPr/>
          <p:nvPr/>
        </p:nvSpPr>
        <p:spPr>
          <a:xfrm>
            <a:off x="694944" y="2633472"/>
            <a:ext cx="914400" cy="41148"/>
          </a:xfrm>
          <a:prstGeom prst="rect">
            <a:avLst/>
          </a:prstGeom>
          <a:solidFill>
            <a:srgbClr val="2C3038"/>
          </a:solidFill>
          <a:ln w="12700">
            <a:solidFill>
              <a:srgbClr val="333333"/>
            </a:solidFill>
            <a:prstDash val="solid"/>
          </a:ln>
        </p:spPr>
        <p:txBody>
          <a:bodyPr/>
          <a:lstStyle/>
          <a:p>
            <a:endParaRPr lang="en-SE"/>
          </a:p>
        </p:txBody>
      </p:sp>
      <p:sp>
        <p:nvSpPr>
          <p:cNvPr id="13" name="log line">
            <a:extLst>
              <a:ext uri="{C183D7F6-B498-43B3-948B-1728B52AA6E4}">
                <adec:decorative xmlns:adec="http://schemas.microsoft.com/office/drawing/2017/decorative" val="1"/>
              </a:ext>
            </a:extLst>
          </p:cNvPr>
          <p:cNvSpPr/>
          <p:nvPr/>
        </p:nvSpPr>
        <p:spPr>
          <a:xfrm>
            <a:off x="694944" y="2761488"/>
            <a:ext cx="457200" cy="41148"/>
          </a:xfrm>
          <a:prstGeom prst="rect">
            <a:avLst/>
          </a:prstGeom>
          <a:solidFill>
            <a:srgbClr val="2C3038"/>
          </a:solidFill>
          <a:ln w="12700">
            <a:solidFill>
              <a:srgbClr val="333333"/>
            </a:solidFill>
            <a:prstDash val="solid"/>
          </a:ln>
        </p:spPr>
        <p:txBody>
          <a:bodyPr/>
          <a:lstStyle/>
          <a:p>
            <a:endParaRPr lang="en-SE"/>
          </a:p>
        </p:txBody>
      </p:sp>
      <p:sp>
        <p:nvSpPr>
          <p:cNvPr id="14" name="log line">
            <a:extLst>
              <a:ext uri="{C183D7F6-B498-43B3-948B-1728B52AA6E4}">
                <adec:decorative xmlns:adec="http://schemas.microsoft.com/office/drawing/2017/decorative" val="1"/>
              </a:ext>
            </a:extLst>
          </p:cNvPr>
          <p:cNvSpPr/>
          <p:nvPr/>
        </p:nvSpPr>
        <p:spPr>
          <a:xfrm>
            <a:off x="694944" y="2889504"/>
            <a:ext cx="914400" cy="41148"/>
          </a:xfrm>
          <a:prstGeom prst="rect">
            <a:avLst/>
          </a:prstGeom>
          <a:solidFill>
            <a:srgbClr val="2C3038"/>
          </a:solidFill>
          <a:ln w="12700">
            <a:solidFill>
              <a:srgbClr val="333333"/>
            </a:solidFill>
            <a:prstDash val="solid"/>
          </a:ln>
        </p:spPr>
        <p:txBody>
          <a:bodyPr/>
          <a:lstStyle/>
          <a:p>
            <a:endParaRPr lang="en-SE"/>
          </a:p>
        </p:txBody>
      </p:sp>
      <p:sp>
        <p:nvSpPr>
          <p:cNvPr id="15" name="card background">
            <a:extLst>
              <a:ext uri="{C183D7F6-B498-43B3-948B-1728B52AA6E4}">
                <adec:decorative xmlns:adec="http://schemas.microsoft.com/office/drawing/2017/decorative" val="1"/>
              </a:ext>
            </a:extLst>
          </p:cNvPr>
          <p:cNvSpPr/>
          <p:nvPr/>
        </p:nvSpPr>
        <p:spPr>
          <a:xfrm>
            <a:off x="2304288" y="2139696"/>
            <a:ext cx="1572768" cy="896112"/>
          </a:xfrm>
          <a:prstGeom prst="rect">
            <a:avLst/>
          </a:prstGeom>
          <a:solidFill>
            <a:srgbClr val="141519"/>
          </a:solidFill>
          <a:ln w="12700">
            <a:solidFill>
              <a:srgbClr val="343941"/>
            </a:solidFill>
            <a:prstDash val="solid"/>
          </a:ln>
        </p:spPr>
        <p:txBody>
          <a:bodyPr/>
          <a:lstStyle/>
          <a:p>
            <a:endParaRPr lang="en-SE"/>
          </a:p>
        </p:txBody>
      </p:sp>
      <p:sp>
        <p:nvSpPr>
          <p:cNvPr id="16" name="Text 14"/>
          <p:cNvSpPr/>
          <p:nvPr/>
        </p:nvSpPr>
        <p:spPr>
          <a:xfrm>
            <a:off x="2432304" y="2231136"/>
            <a:ext cx="1371600" cy="201168"/>
          </a:xfrm>
          <a:prstGeom prst="rect">
            <a:avLst/>
          </a:prstGeom>
          <a:noFill/>
          <a:ln/>
        </p:spPr>
        <p:txBody>
          <a:bodyPr wrap="square" lIns="0" tIns="0" rIns="0" bIns="0" rtlCol="0" anchor="ctr"/>
          <a:lstStyle/>
          <a:p>
            <a:pPr marL="0" indent="0" algn="l">
              <a:lnSpc>
                <a:spcPts val="1500"/>
              </a:lnSpc>
              <a:buNone/>
            </a:pPr>
            <a:r>
              <a:rPr lang="en-US" sz="850" dirty="0">
                <a:solidFill>
                  <a:srgbClr val="747B87"/>
                </a:solidFill>
                <a:latin typeface="Consolas" pitchFamily="34" charset="0"/>
                <a:ea typeface="Consolas" pitchFamily="34" charset="-122"/>
                <a:cs typeface="Consolas" pitchFamily="34" charset="-120"/>
              </a:rPr>
              <a:t>pm-md-gwy</a:t>
            </a:r>
            <a:endParaRPr lang="en-US" sz="850" dirty="0"/>
          </a:p>
        </p:txBody>
      </p:sp>
      <p:sp>
        <p:nvSpPr>
          <p:cNvPr id="17" name="log line">
            <a:extLst>
              <a:ext uri="{C183D7F6-B498-43B3-948B-1728B52AA6E4}">
                <adec:decorative xmlns:adec="http://schemas.microsoft.com/office/drawing/2017/decorative" val="1"/>
              </a:ext>
            </a:extLst>
          </p:cNvPr>
          <p:cNvSpPr/>
          <p:nvPr/>
        </p:nvSpPr>
        <p:spPr>
          <a:xfrm>
            <a:off x="2432304" y="2505456"/>
            <a:ext cx="1097280" cy="41148"/>
          </a:xfrm>
          <a:prstGeom prst="rect">
            <a:avLst/>
          </a:prstGeom>
          <a:solidFill>
            <a:srgbClr val="2C3038"/>
          </a:solidFill>
          <a:ln w="12700">
            <a:solidFill>
              <a:srgbClr val="333333"/>
            </a:solidFill>
            <a:prstDash val="solid"/>
          </a:ln>
        </p:spPr>
        <p:txBody>
          <a:bodyPr/>
          <a:lstStyle/>
          <a:p>
            <a:endParaRPr lang="en-SE"/>
          </a:p>
        </p:txBody>
      </p:sp>
      <p:sp>
        <p:nvSpPr>
          <p:cNvPr id="18" name="log line">
            <a:extLst>
              <a:ext uri="{C183D7F6-B498-43B3-948B-1728B52AA6E4}">
                <adec:decorative xmlns:adec="http://schemas.microsoft.com/office/drawing/2017/decorative" val="1"/>
              </a:ext>
            </a:extLst>
          </p:cNvPr>
          <p:cNvSpPr/>
          <p:nvPr/>
        </p:nvSpPr>
        <p:spPr>
          <a:xfrm>
            <a:off x="2432304" y="2633472"/>
            <a:ext cx="640080" cy="41148"/>
          </a:xfrm>
          <a:prstGeom prst="rect">
            <a:avLst/>
          </a:prstGeom>
          <a:solidFill>
            <a:srgbClr val="2C3038"/>
          </a:solidFill>
          <a:ln w="12700">
            <a:solidFill>
              <a:srgbClr val="333333"/>
            </a:solidFill>
            <a:prstDash val="solid"/>
          </a:ln>
        </p:spPr>
        <p:txBody>
          <a:bodyPr/>
          <a:lstStyle/>
          <a:p>
            <a:endParaRPr lang="en-SE"/>
          </a:p>
        </p:txBody>
      </p:sp>
      <p:sp>
        <p:nvSpPr>
          <p:cNvPr id="19" name="log line">
            <a:extLst>
              <a:ext uri="{C183D7F6-B498-43B3-948B-1728B52AA6E4}">
                <adec:decorative xmlns:adec="http://schemas.microsoft.com/office/drawing/2017/decorative" val="1"/>
              </a:ext>
            </a:extLst>
          </p:cNvPr>
          <p:cNvSpPr/>
          <p:nvPr/>
        </p:nvSpPr>
        <p:spPr>
          <a:xfrm>
            <a:off x="2432304" y="2761488"/>
            <a:ext cx="1097280" cy="41148"/>
          </a:xfrm>
          <a:prstGeom prst="rect">
            <a:avLst/>
          </a:prstGeom>
          <a:solidFill>
            <a:srgbClr val="2C3038"/>
          </a:solidFill>
          <a:ln w="12700">
            <a:solidFill>
              <a:srgbClr val="333333"/>
            </a:solidFill>
            <a:prstDash val="solid"/>
          </a:ln>
        </p:spPr>
        <p:txBody>
          <a:bodyPr/>
          <a:lstStyle/>
          <a:p>
            <a:endParaRPr lang="en-SE"/>
          </a:p>
        </p:txBody>
      </p:sp>
      <p:sp>
        <p:nvSpPr>
          <p:cNvPr id="20" name="log line">
            <a:extLst>
              <a:ext uri="{C183D7F6-B498-43B3-948B-1728B52AA6E4}">
                <adec:decorative xmlns:adec="http://schemas.microsoft.com/office/drawing/2017/decorative" val="1"/>
              </a:ext>
            </a:extLst>
          </p:cNvPr>
          <p:cNvSpPr/>
          <p:nvPr/>
        </p:nvSpPr>
        <p:spPr>
          <a:xfrm>
            <a:off x="2432304" y="2889504"/>
            <a:ext cx="640080" cy="41148"/>
          </a:xfrm>
          <a:prstGeom prst="rect">
            <a:avLst/>
          </a:prstGeom>
          <a:solidFill>
            <a:srgbClr val="2C3038"/>
          </a:solidFill>
          <a:ln w="12700">
            <a:solidFill>
              <a:srgbClr val="333333"/>
            </a:solidFill>
            <a:prstDash val="solid"/>
          </a:ln>
        </p:spPr>
        <p:txBody>
          <a:bodyPr/>
          <a:lstStyle/>
          <a:p>
            <a:endParaRPr lang="en-SE"/>
          </a:p>
        </p:txBody>
      </p:sp>
      <p:sp>
        <p:nvSpPr>
          <p:cNvPr id="21" name="card background">
            <a:extLst>
              <a:ext uri="{C183D7F6-B498-43B3-948B-1728B52AA6E4}">
                <adec:decorative xmlns:adec="http://schemas.microsoft.com/office/drawing/2017/decorative" val="1"/>
              </a:ext>
            </a:extLst>
          </p:cNvPr>
          <p:cNvSpPr/>
          <p:nvPr/>
        </p:nvSpPr>
        <p:spPr>
          <a:xfrm>
            <a:off x="566928" y="3200400"/>
            <a:ext cx="1572768" cy="896112"/>
          </a:xfrm>
          <a:prstGeom prst="rect">
            <a:avLst/>
          </a:prstGeom>
          <a:solidFill>
            <a:srgbClr val="141519"/>
          </a:solidFill>
          <a:ln w="12700">
            <a:solidFill>
              <a:srgbClr val="343941"/>
            </a:solidFill>
            <a:prstDash val="solid"/>
          </a:ln>
        </p:spPr>
        <p:txBody>
          <a:bodyPr/>
          <a:lstStyle/>
          <a:p>
            <a:endParaRPr lang="en-SE"/>
          </a:p>
        </p:txBody>
      </p:sp>
      <p:sp>
        <p:nvSpPr>
          <p:cNvPr id="22" name="Text 20"/>
          <p:cNvSpPr/>
          <p:nvPr/>
        </p:nvSpPr>
        <p:spPr>
          <a:xfrm>
            <a:off x="694944" y="3291840"/>
            <a:ext cx="1371600" cy="201168"/>
          </a:xfrm>
          <a:prstGeom prst="rect">
            <a:avLst/>
          </a:prstGeom>
          <a:noFill/>
          <a:ln/>
        </p:spPr>
        <p:txBody>
          <a:bodyPr wrap="square" lIns="0" tIns="0" rIns="0" bIns="0" rtlCol="0" anchor="ctr"/>
          <a:lstStyle/>
          <a:p>
            <a:pPr marL="0" indent="0" algn="l">
              <a:lnSpc>
                <a:spcPts val="1500"/>
              </a:lnSpc>
              <a:buNone/>
            </a:pPr>
            <a:r>
              <a:rPr lang="en-US" sz="850" dirty="0">
                <a:solidFill>
                  <a:srgbClr val="747B87"/>
                </a:solidFill>
                <a:latin typeface="Consolas" pitchFamily="34" charset="0"/>
                <a:ea typeface="Consolas" pitchFamily="34" charset="-122"/>
                <a:cs typeface="Consolas" pitchFamily="34" charset="-120"/>
              </a:rPr>
              <a:t>pm-api-gwy</a:t>
            </a:r>
            <a:endParaRPr lang="en-US" sz="850" dirty="0"/>
          </a:p>
        </p:txBody>
      </p:sp>
      <p:sp>
        <p:nvSpPr>
          <p:cNvPr id="23" name="log line">
            <a:extLst>
              <a:ext uri="{C183D7F6-B498-43B3-948B-1728B52AA6E4}">
                <adec:decorative xmlns:adec="http://schemas.microsoft.com/office/drawing/2017/decorative" val="1"/>
              </a:ext>
            </a:extLst>
          </p:cNvPr>
          <p:cNvSpPr/>
          <p:nvPr/>
        </p:nvSpPr>
        <p:spPr>
          <a:xfrm>
            <a:off x="694944" y="3566160"/>
            <a:ext cx="822960" cy="41148"/>
          </a:xfrm>
          <a:prstGeom prst="rect">
            <a:avLst/>
          </a:prstGeom>
          <a:solidFill>
            <a:srgbClr val="2C3038"/>
          </a:solidFill>
          <a:ln w="12700">
            <a:solidFill>
              <a:srgbClr val="333333"/>
            </a:solidFill>
            <a:prstDash val="solid"/>
          </a:ln>
        </p:spPr>
        <p:txBody>
          <a:bodyPr/>
          <a:lstStyle/>
          <a:p>
            <a:endParaRPr lang="en-SE"/>
          </a:p>
        </p:txBody>
      </p:sp>
      <p:sp>
        <p:nvSpPr>
          <p:cNvPr id="24" name="log line">
            <a:extLst>
              <a:ext uri="{C183D7F6-B498-43B3-948B-1728B52AA6E4}">
                <adec:decorative xmlns:adec="http://schemas.microsoft.com/office/drawing/2017/decorative" val="1"/>
              </a:ext>
            </a:extLst>
          </p:cNvPr>
          <p:cNvSpPr/>
          <p:nvPr/>
        </p:nvSpPr>
        <p:spPr>
          <a:xfrm>
            <a:off x="694944" y="3694176"/>
            <a:ext cx="1280160" cy="41148"/>
          </a:xfrm>
          <a:prstGeom prst="rect">
            <a:avLst/>
          </a:prstGeom>
          <a:solidFill>
            <a:srgbClr val="2C3038"/>
          </a:solidFill>
          <a:ln w="12700">
            <a:solidFill>
              <a:srgbClr val="333333"/>
            </a:solidFill>
            <a:prstDash val="solid"/>
          </a:ln>
        </p:spPr>
        <p:txBody>
          <a:bodyPr/>
          <a:lstStyle/>
          <a:p>
            <a:endParaRPr lang="en-SE"/>
          </a:p>
        </p:txBody>
      </p:sp>
      <p:sp>
        <p:nvSpPr>
          <p:cNvPr id="25" name="log line">
            <a:extLst>
              <a:ext uri="{C183D7F6-B498-43B3-948B-1728B52AA6E4}">
                <adec:decorative xmlns:adec="http://schemas.microsoft.com/office/drawing/2017/decorative" val="1"/>
              </a:ext>
            </a:extLst>
          </p:cNvPr>
          <p:cNvSpPr/>
          <p:nvPr/>
        </p:nvSpPr>
        <p:spPr>
          <a:xfrm>
            <a:off x="694944" y="3822192"/>
            <a:ext cx="822960" cy="41148"/>
          </a:xfrm>
          <a:prstGeom prst="rect">
            <a:avLst/>
          </a:prstGeom>
          <a:solidFill>
            <a:srgbClr val="C9584C"/>
          </a:solidFill>
          <a:ln w="12700">
            <a:solidFill>
              <a:srgbClr val="333333"/>
            </a:solidFill>
            <a:prstDash val="solid"/>
          </a:ln>
        </p:spPr>
        <p:txBody>
          <a:bodyPr/>
          <a:lstStyle/>
          <a:p>
            <a:endParaRPr lang="en-SE"/>
          </a:p>
        </p:txBody>
      </p:sp>
      <p:sp>
        <p:nvSpPr>
          <p:cNvPr id="26" name="log line">
            <a:extLst>
              <a:ext uri="{C183D7F6-B498-43B3-948B-1728B52AA6E4}">
                <adec:decorative xmlns:adec="http://schemas.microsoft.com/office/drawing/2017/decorative" val="1"/>
              </a:ext>
            </a:extLst>
          </p:cNvPr>
          <p:cNvSpPr/>
          <p:nvPr/>
        </p:nvSpPr>
        <p:spPr>
          <a:xfrm>
            <a:off x="694944" y="3950208"/>
            <a:ext cx="1280160" cy="41148"/>
          </a:xfrm>
          <a:prstGeom prst="rect">
            <a:avLst/>
          </a:prstGeom>
          <a:solidFill>
            <a:srgbClr val="2C3038"/>
          </a:solidFill>
          <a:ln w="12700">
            <a:solidFill>
              <a:srgbClr val="333333"/>
            </a:solidFill>
            <a:prstDash val="solid"/>
          </a:ln>
        </p:spPr>
        <p:txBody>
          <a:bodyPr/>
          <a:lstStyle/>
          <a:p>
            <a:endParaRPr lang="en-SE"/>
          </a:p>
        </p:txBody>
      </p:sp>
      <p:sp>
        <p:nvSpPr>
          <p:cNvPr id="27" name="card background">
            <a:extLst>
              <a:ext uri="{C183D7F6-B498-43B3-948B-1728B52AA6E4}">
                <adec:decorative xmlns:adec="http://schemas.microsoft.com/office/drawing/2017/decorative" val="1"/>
              </a:ext>
            </a:extLst>
          </p:cNvPr>
          <p:cNvSpPr/>
          <p:nvPr/>
        </p:nvSpPr>
        <p:spPr>
          <a:xfrm>
            <a:off x="2304288" y="3200400"/>
            <a:ext cx="1572768" cy="896112"/>
          </a:xfrm>
          <a:prstGeom prst="rect">
            <a:avLst/>
          </a:prstGeom>
          <a:solidFill>
            <a:srgbClr val="141519"/>
          </a:solidFill>
          <a:ln w="12700">
            <a:solidFill>
              <a:srgbClr val="343941"/>
            </a:solidFill>
            <a:prstDash val="solid"/>
          </a:ln>
        </p:spPr>
        <p:txBody>
          <a:bodyPr/>
          <a:lstStyle/>
          <a:p>
            <a:endParaRPr lang="en-SE"/>
          </a:p>
        </p:txBody>
      </p:sp>
      <p:sp>
        <p:nvSpPr>
          <p:cNvPr id="28" name="Text 26"/>
          <p:cNvSpPr/>
          <p:nvPr/>
        </p:nvSpPr>
        <p:spPr>
          <a:xfrm>
            <a:off x="2432304" y="3291840"/>
            <a:ext cx="1371600" cy="201168"/>
          </a:xfrm>
          <a:prstGeom prst="rect">
            <a:avLst/>
          </a:prstGeom>
          <a:noFill/>
          <a:ln/>
        </p:spPr>
        <p:txBody>
          <a:bodyPr wrap="square" lIns="0" tIns="0" rIns="0" bIns="0" rtlCol="0" anchor="ctr"/>
          <a:lstStyle/>
          <a:p>
            <a:pPr marL="0" indent="0" algn="l">
              <a:lnSpc>
                <a:spcPts val="1500"/>
              </a:lnSpc>
              <a:buNone/>
            </a:pPr>
            <a:r>
              <a:rPr lang="en-US" sz="850" dirty="0">
                <a:solidFill>
                  <a:srgbClr val="747B87"/>
                </a:solidFill>
                <a:latin typeface="Consolas" pitchFamily="34" charset="0"/>
                <a:ea typeface="Consolas" pitchFamily="34" charset="-122"/>
                <a:cs typeface="Consolas" pitchFamily="34" charset="-120"/>
              </a:rPr>
              <a:t>pm-stats</a:t>
            </a:r>
            <a:endParaRPr lang="en-US" sz="850" dirty="0"/>
          </a:p>
        </p:txBody>
      </p:sp>
      <p:sp>
        <p:nvSpPr>
          <p:cNvPr id="29" name="log line">
            <a:extLst>
              <a:ext uri="{C183D7F6-B498-43B3-948B-1728B52AA6E4}">
                <adec:decorative xmlns:adec="http://schemas.microsoft.com/office/drawing/2017/decorative" val="1"/>
              </a:ext>
            </a:extLst>
          </p:cNvPr>
          <p:cNvSpPr/>
          <p:nvPr/>
        </p:nvSpPr>
        <p:spPr>
          <a:xfrm>
            <a:off x="2432304" y="3566160"/>
            <a:ext cx="548640" cy="41148"/>
          </a:xfrm>
          <a:prstGeom prst="rect">
            <a:avLst/>
          </a:prstGeom>
          <a:solidFill>
            <a:srgbClr val="2C3038"/>
          </a:solidFill>
          <a:ln w="12700">
            <a:solidFill>
              <a:srgbClr val="333333"/>
            </a:solidFill>
            <a:prstDash val="solid"/>
          </a:ln>
        </p:spPr>
        <p:txBody>
          <a:bodyPr/>
          <a:lstStyle/>
          <a:p>
            <a:endParaRPr lang="en-SE"/>
          </a:p>
        </p:txBody>
      </p:sp>
      <p:sp>
        <p:nvSpPr>
          <p:cNvPr id="30" name="log line">
            <a:extLst>
              <a:ext uri="{C183D7F6-B498-43B3-948B-1728B52AA6E4}">
                <adec:decorative xmlns:adec="http://schemas.microsoft.com/office/drawing/2017/decorative" val="1"/>
              </a:ext>
            </a:extLst>
          </p:cNvPr>
          <p:cNvSpPr/>
          <p:nvPr/>
        </p:nvSpPr>
        <p:spPr>
          <a:xfrm>
            <a:off x="2432304" y="3694176"/>
            <a:ext cx="1005840" cy="41148"/>
          </a:xfrm>
          <a:prstGeom prst="rect">
            <a:avLst/>
          </a:prstGeom>
          <a:solidFill>
            <a:srgbClr val="2C3038"/>
          </a:solidFill>
          <a:ln w="12700">
            <a:solidFill>
              <a:srgbClr val="333333"/>
            </a:solidFill>
            <a:prstDash val="solid"/>
          </a:ln>
        </p:spPr>
        <p:txBody>
          <a:bodyPr/>
          <a:lstStyle/>
          <a:p>
            <a:endParaRPr lang="en-SE"/>
          </a:p>
        </p:txBody>
      </p:sp>
      <p:sp>
        <p:nvSpPr>
          <p:cNvPr id="31" name="log line">
            <a:extLst>
              <a:ext uri="{C183D7F6-B498-43B3-948B-1728B52AA6E4}">
                <adec:decorative xmlns:adec="http://schemas.microsoft.com/office/drawing/2017/decorative" val="1"/>
              </a:ext>
            </a:extLst>
          </p:cNvPr>
          <p:cNvSpPr/>
          <p:nvPr/>
        </p:nvSpPr>
        <p:spPr>
          <a:xfrm>
            <a:off x="2432304" y="3822192"/>
            <a:ext cx="548640" cy="41148"/>
          </a:xfrm>
          <a:prstGeom prst="rect">
            <a:avLst/>
          </a:prstGeom>
          <a:solidFill>
            <a:srgbClr val="2C3038"/>
          </a:solidFill>
          <a:ln w="12700">
            <a:solidFill>
              <a:srgbClr val="333333"/>
            </a:solidFill>
            <a:prstDash val="solid"/>
          </a:ln>
        </p:spPr>
        <p:txBody>
          <a:bodyPr/>
          <a:lstStyle/>
          <a:p>
            <a:endParaRPr lang="en-SE"/>
          </a:p>
        </p:txBody>
      </p:sp>
      <p:sp>
        <p:nvSpPr>
          <p:cNvPr id="32" name="log line">
            <a:extLst>
              <a:ext uri="{C183D7F6-B498-43B3-948B-1728B52AA6E4}">
                <adec:decorative xmlns:adec="http://schemas.microsoft.com/office/drawing/2017/decorative" val="1"/>
              </a:ext>
            </a:extLst>
          </p:cNvPr>
          <p:cNvSpPr/>
          <p:nvPr/>
        </p:nvSpPr>
        <p:spPr>
          <a:xfrm>
            <a:off x="2432304" y="3950208"/>
            <a:ext cx="1005840" cy="41148"/>
          </a:xfrm>
          <a:prstGeom prst="rect">
            <a:avLst/>
          </a:prstGeom>
          <a:solidFill>
            <a:srgbClr val="2C3038"/>
          </a:solidFill>
          <a:ln w="12700">
            <a:solidFill>
              <a:srgbClr val="333333"/>
            </a:solidFill>
            <a:prstDash val="solid"/>
          </a:ln>
        </p:spPr>
        <p:txBody>
          <a:bodyPr/>
          <a:lstStyle/>
          <a:p>
            <a:endParaRPr lang="en-SE"/>
          </a:p>
        </p:txBody>
      </p:sp>
      <p:sp>
        <p:nvSpPr>
          <p:cNvPr id="33" name="flow arrow">
            <a:extLst>
              <a:ext uri="{C183D7F6-B498-43B3-948B-1728B52AA6E4}">
                <adec:decorative xmlns:adec="http://schemas.microsoft.com/office/drawing/2017/decorative" val="1"/>
              </a:ext>
            </a:extLst>
          </p:cNvPr>
          <p:cNvSpPr/>
          <p:nvPr/>
        </p:nvSpPr>
        <p:spPr>
          <a:xfrm>
            <a:off x="4041648" y="3108960"/>
            <a:ext cx="777240" cy="0"/>
          </a:xfrm>
          <a:prstGeom prst="line">
            <a:avLst/>
          </a:prstGeom>
          <a:noFill/>
          <a:ln w="25400">
            <a:solidFill>
              <a:srgbClr val="E8A33D"/>
            </a:solidFill>
            <a:prstDash val="solid"/>
            <a:tailEnd type="triangle"/>
          </a:ln>
        </p:spPr>
        <p:txBody>
          <a:bodyPr/>
          <a:lstStyle/>
          <a:p>
            <a:endParaRPr lang="en-SE"/>
          </a:p>
        </p:txBody>
      </p:sp>
      <p:sp>
        <p:nvSpPr>
          <p:cNvPr id="34" name="Text 32"/>
          <p:cNvSpPr/>
          <p:nvPr/>
        </p:nvSpPr>
        <p:spPr>
          <a:xfrm>
            <a:off x="3931920" y="2761488"/>
            <a:ext cx="1005840" cy="219456"/>
          </a:xfrm>
          <a:prstGeom prst="rect">
            <a:avLst/>
          </a:prstGeom>
          <a:noFill/>
          <a:ln/>
        </p:spPr>
        <p:txBody>
          <a:bodyPr wrap="square" lIns="0" tIns="0" rIns="0" bIns="0" rtlCol="0" anchor="ctr"/>
          <a:lstStyle/>
          <a:p>
            <a:pPr marL="0" indent="0" algn="ctr">
              <a:lnSpc>
                <a:spcPts val="1500"/>
              </a:lnSpc>
              <a:buNone/>
            </a:pPr>
            <a:r>
              <a:rPr lang="en-US" sz="2000" dirty="0">
                <a:solidFill>
                  <a:srgbClr val="E8A33D"/>
                </a:solidFill>
                <a:latin typeface="Consolas" pitchFamily="34" charset="0"/>
                <a:ea typeface="Consolas" pitchFamily="34" charset="-122"/>
                <a:cs typeface="Consolas" pitchFamily="34" charset="-120"/>
              </a:rPr>
              <a:t>LALF</a:t>
            </a:r>
            <a:endParaRPr lang="en-US" sz="2000" dirty="0"/>
          </a:p>
        </p:txBody>
      </p:sp>
      <p:sp>
        <p:nvSpPr>
          <p:cNvPr id="35" name="Text 33"/>
          <p:cNvSpPr/>
          <p:nvPr/>
        </p:nvSpPr>
        <p:spPr>
          <a:xfrm>
            <a:off x="4956048" y="1847088"/>
            <a:ext cx="3657600" cy="219456"/>
          </a:xfrm>
          <a:prstGeom prst="rect">
            <a:avLst/>
          </a:prstGeom>
          <a:noFill/>
          <a:ln/>
        </p:spPr>
        <p:txBody>
          <a:bodyPr wrap="square" lIns="0" tIns="0" rIns="0" bIns="0" rtlCol="0" anchor="ctr"/>
          <a:lstStyle/>
          <a:p>
            <a:pPr marL="0" indent="0" algn="l">
              <a:buNone/>
            </a:pPr>
            <a:r>
              <a:rPr lang="en-US" sz="900" b="1" kern="0" spc="180" dirty="0">
                <a:solidFill>
                  <a:srgbClr val="E8A33D"/>
                </a:solidFill>
                <a:latin typeface="Segoe UI" pitchFamily="34" charset="0"/>
                <a:ea typeface="Segoe UI" pitchFamily="34" charset="-122"/>
                <a:cs typeface="Segoe UI" pitchFamily="34" charset="-120"/>
              </a:rPr>
              <a:t>AFTER — ONE QUERYABLE TABLE</a:t>
            </a:r>
            <a:endParaRPr lang="en-US" sz="900" dirty="0"/>
          </a:p>
        </p:txBody>
      </p:sp>
      <p:sp>
        <p:nvSpPr>
          <p:cNvPr id="36" name="card background">
            <a:extLst>
              <a:ext uri="{C183D7F6-B498-43B3-948B-1728B52AA6E4}">
                <adec:decorative xmlns:adec="http://schemas.microsoft.com/office/drawing/2017/decorative" val="1"/>
              </a:ext>
            </a:extLst>
          </p:cNvPr>
          <p:cNvSpPr/>
          <p:nvPr/>
        </p:nvSpPr>
        <p:spPr>
          <a:xfrm>
            <a:off x="4956048" y="2139696"/>
            <a:ext cx="3621024" cy="1975104"/>
          </a:xfrm>
          <a:prstGeom prst="rect">
            <a:avLst/>
          </a:prstGeom>
          <a:solidFill>
            <a:srgbClr val="14151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37" name="card accent edge">
            <a:extLst>
              <a:ext uri="{C183D7F6-B498-43B3-948B-1728B52AA6E4}">
                <adec:decorative xmlns:adec="http://schemas.microsoft.com/office/drawing/2017/decorative" val="1"/>
              </a:ext>
            </a:extLst>
          </p:cNvPr>
          <p:cNvSpPr/>
          <p:nvPr/>
        </p:nvSpPr>
        <p:spPr>
          <a:xfrm>
            <a:off x="4956048" y="2139696"/>
            <a:ext cx="50292" cy="1975104"/>
          </a:xfrm>
          <a:prstGeom prst="rect">
            <a:avLst/>
          </a:prstGeom>
          <a:solidFill>
            <a:srgbClr val="E8A33D"/>
          </a:solidFill>
          <a:ln w="12700">
            <a:solidFill>
              <a:srgbClr val="333333"/>
            </a:solidFill>
            <a:prstDash val="solid"/>
          </a:ln>
        </p:spPr>
        <p:txBody>
          <a:bodyPr/>
          <a:lstStyle/>
          <a:p>
            <a:endParaRPr lang="en-SE"/>
          </a:p>
        </p:txBody>
      </p:sp>
      <p:sp>
        <p:nvSpPr>
          <p:cNvPr id="38" name="Text 36"/>
          <p:cNvSpPr/>
          <p:nvPr/>
        </p:nvSpPr>
        <p:spPr>
          <a:xfrm>
            <a:off x="5138928" y="2249424"/>
            <a:ext cx="1463040" cy="219456"/>
          </a:xfrm>
          <a:prstGeom prst="rect">
            <a:avLst/>
          </a:prstGeom>
          <a:noFill/>
          <a:ln/>
        </p:spPr>
        <p:txBody>
          <a:bodyPr wrap="square" lIns="0" tIns="0" rIns="0" bIns="0" rtlCol="0" anchor="ctr"/>
          <a:lstStyle/>
          <a:p>
            <a:pPr marL="0" indent="0" algn="l">
              <a:lnSpc>
                <a:spcPts val="1500"/>
              </a:lnSpc>
              <a:buNone/>
            </a:pPr>
            <a:r>
              <a:rPr lang="en-US" sz="900" dirty="0">
                <a:solidFill>
                  <a:srgbClr val="F6C978"/>
                </a:solidFill>
                <a:latin typeface="Consolas" pitchFamily="34" charset="0"/>
                <a:ea typeface="Consolas" pitchFamily="34" charset="-122"/>
                <a:cs typeface="Consolas" pitchFamily="34" charset="-120"/>
              </a:rPr>
              <a:t>log.db</a:t>
            </a:r>
            <a:endParaRPr lang="en-US" sz="900" dirty="0"/>
          </a:p>
        </p:txBody>
      </p:sp>
      <p:sp>
        <p:nvSpPr>
          <p:cNvPr id="39" name="table row">
            <a:extLst>
              <a:ext uri="{C183D7F6-B498-43B3-948B-1728B52AA6E4}">
                <adec:decorative xmlns:adec="http://schemas.microsoft.com/office/drawing/2017/decorative" val="1"/>
              </a:ext>
            </a:extLst>
          </p:cNvPr>
          <p:cNvSpPr/>
          <p:nvPr/>
        </p:nvSpPr>
        <p:spPr>
          <a:xfrm>
            <a:off x="5120640" y="2578608"/>
            <a:ext cx="3310128" cy="237744"/>
          </a:xfrm>
          <a:prstGeom prst="rect">
            <a:avLst/>
          </a:prstGeom>
          <a:solidFill>
            <a:srgbClr val="202329"/>
          </a:solidFill>
          <a:ln w="12700">
            <a:solidFill>
              <a:srgbClr val="333333"/>
            </a:solidFill>
            <a:prstDash val="solid"/>
          </a:ln>
        </p:spPr>
        <p:txBody>
          <a:bodyPr/>
          <a:lstStyle/>
          <a:p>
            <a:endParaRPr lang="en-SE"/>
          </a:p>
        </p:txBody>
      </p:sp>
      <p:sp>
        <p:nvSpPr>
          <p:cNvPr id="40" name="severity marker">
            <a:extLst>
              <a:ext uri="{C183D7F6-B498-43B3-948B-1728B52AA6E4}">
                <adec:decorative xmlns:adec="http://schemas.microsoft.com/office/drawing/2017/decorative" val="1"/>
              </a:ext>
            </a:extLst>
          </p:cNvPr>
          <p:cNvSpPr/>
          <p:nvPr/>
        </p:nvSpPr>
        <p:spPr>
          <a:xfrm>
            <a:off x="5120640" y="2578608"/>
            <a:ext cx="32004" cy="237744"/>
          </a:xfrm>
          <a:prstGeom prst="rect">
            <a:avLst/>
          </a:prstGeom>
          <a:solidFill>
            <a:srgbClr val="E8A33D"/>
          </a:solidFill>
          <a:ln w="12700">
            <a:solidFill>
              <a:srgbClr val="333333"/>
            </a:solidFill>
            <a:prstDash val="solid"/>
          </a:ln>
        </p:spPr>
        <p:txBody>
          <a:bodyPr/>
          <a:lstStyle/>
          <a:p>
            <a:endParaRPr lang="en-SE"/>
          </a:p>
        </p:txBody>
      </p:sp>
      <p:sp>
        <p:nvSpPr>
          <p:cNvPr id="41" name="Text 39"/>
          <p:cNvSpPr/>
          <p:nvPr/>
        </p:nvSpPr>
        <p:spPr>
          <a:xfrm>
            <a:off x="5248656" y="2578608"/>
            <a:ext cx="3108960" cy="237744"/>
          </a:xfrm>
          <a:prstGeom prst="rect">
            <a:avLst/>
          </a:prstGeom>
          <a:noFill/>
          <a:ln/>
        </p:spPr>
        <p:txBody>
          <a:bodyPr wrap="square" lIns="0" tIns="0" rIns="0" bIns="0" rtlCol="0" anchor="ctr"/>
          <a:lstStyle/>
          <a:p>
            <a:pPr marL="0" indent="0" algn="l">
              <a:lnSpc>
                <a:spcPts val="1500"/>
              </a:lnSpc>
              <a:buNone/>
            </a:pPr>
            <a:r>
              <a:rPr lang="en-US" sz="850" dirty="0">
                <a:solidFill>
                  <a:srgbClr val="E8A33D"/>
                </a:solidFill>
                <a:latin typeface="Consolas" pitchFamily="34" charset="0"/>
                <a:ea typeface="Consolas" pitchFamily="34" charset="-122"/>
                <a:cs typeface="Consolas" pitchFamily="34" charset="-120"/>
              </a:rPr>
              <a:t>09:31:04   WARN   md-gwy</a:t>
            </a:r>
            <a:endParaRPr lang="en-US" sz="850" dirty="0"/>
          </a:p>
        </p:txBody>
      </p:sp>
      <p:sp>
        <p:nvSpPr>
          <p:cNvPr id="42" name="table row">
            <a:extLst>
              <a:ext uri="{C183D7F6-B498-43B3-948B-1728B52AA6E4}">
                <adec:decorative xmlns:adec="http://schemas.microsoft.com/office/drawing/2017/decorative" val="1"/>
              </a:ext>
            </a:extLst>
          </p:cNvPr>
          <p:cNvSpPr/>
          <p:nvPr/>
        </p:nvSpPr>
        <p:spPr>
          <a:xfrm>
            <a:off x="5120640" y="2862072"/>
            <a:ext cx="3310128" cy="237744"/>
          </a:xfrm>
          <a:prstGeom prst="rect">
            <a:avLst/>
          </a:prstGeom>
          <a:solidFill>
            <a:srgbClr val="1B1E23"/>
          </a:solidFill>
          <a:ln w="12700">
            <a:solidFill>
              <a:srgbClr val="333333"/>
            </a:solidFill>
            <a:prstDash val="solid"/>
          </a:ln>
        </p:spPr>
        <p:txBody>
          <a:bodyPr/>
          <a:lstStyle/>
          <a:p>
            <a:endParaRPr lang="en-SE"/>
          </a:p>
        </p:txBody>
      </p:sp>
      <p:sp>
        <p:nvSpPr>
          <p:cNvPr id="43" name="severity marker">
            <a:extLst>
              <a:ext uri="{C183D7F6-B498-43B3-948B-1728B52AA6E4}">
                <adec:decorative xmlns:adec="http://schemas.microsoft.com/office/drawing/2017/decorative" val="1"/>
              </a:ext>
            </a:extLst>
          </p:cNvPr>
          <p:cNvSpPr/>
          <p:nvPr/>
        </p:nvSpPr>
        <p:spPr>
          <a:xfrm>
            <a:off x="5120640" y="2862072"/>
            <a:ext cx="32004" cy="237744"/>
          </a:xfrm>
          <a:prstGeom prst="rect">
            <a:avLst/>
          </a:prstGeom>
          <a:solidFill>
            <a:srgbClr val="E8A33D"/>
          </a:solidFill>
          <a:ln w="12700">
            <a:solidFill>
              <a:srgbClr val="333333"/>
            </a:solidFill>
            <a:prstDash val="solid"/>
          </a:ln>
        </p:spPr>
        <p:txBody>
          <a:bodyPr/>
          <a:lstStyle/>
          <a:p>
            <a:endParaRPr lang="en-SE"/>
          </a:p>
        </p:txBody>
      </p:sp>
      <p:sp>
        <p:nvSpPr>
          <p:cNvPr id="44" name="Text 42"/>
          <p:cNvSpPr/>
          <p:nvPr/>
        </p:nvSpPr>
        <p:spPr>
          <a:xfrm>
            <a:off x="5248656" y="2862072"/>
            <a:ext cx="3108960" cy="237744"/>
          </a:xfrm>
          <a:prstGeom prst="rect">
            <a:avLst/>
          </a:prstGeom>
          <a:noFill/>
          <a:ln/>
        </p:spPr>
        <p:txBody>
          <a:bodyPr wrap="square" lIns="0" tIns="0" rIns="0" bIns="0" rtlCol="0" anchor="ctr"/>
          <a:lstStyle/>
          <a:p>
            <a:pPr marL="0" indent="0" algn="l">
              <a:lnSpc>
                <a:spcPts val="1500"/>
              </a:lnSpc>
              <a:buNone/>
            </a:pPr>
            <a:r>
              <a:rPr lang="en-US" sz="850" dirty="0">
                <a:solidFill>
                  <a:srgbClr val="E8A33D"/>
                </a:solidFill>
                <a:latin typeface="Consolas" pitchFamily="34" charset="0"/>
                <a:ea typeface="Consolas" pitchFamily="34" charset="-122"/>
                <a:cs typeface="Consolas" pitchFamily="34" charset="-120"/>
              </a:rPr>
              <a:t>09:31:12   WARN   api-gwy</a:t>
            </a:r>
            <a:endParaRPr lang="en-US" sz="850" dirty="0"/>
          </a:p>
        </p:txBody>
      </p:sp>
      <p:sp>
        <p:nvSpPr>
          <p:cNvPr id="45" name="table row">
            <a:extLst>
              <a:ext uri="{C183D7F6-B498-43B3-948B-1728B52AA6E4}">
                <adec:decorative xmlns:adec="http://schemas.microsoft.com/office/drawing/2017/decorative" val="1"/>
              </a:ext>
            </a:extLst>
          </p:cNvPr>
          <p:cNvSpPr/>
          <p:nvPr/>
        </p:nvSpPr>
        <p:spPr>
          <a:xfrm>
            <a:off x="5120640" y="3145536"/>
            <a:ext cx="3310128" cy="237744"/>
          </a:xfrm>
          <a:prstGeom prst="rect">
            <a:avLst/>
          </a:prstGeom>
          <a:solidFill>
            <a:srgbClr val="202329"/>
          </a:solidFill>
          <a:ln w="12700">
            <a:solidFill>
              <a:srgbClr val="333333"/>
            </a:solidFill>
            <a:prstDash val="solid"/>
          </a:ln>
        </p:spPr>
        <p:txBody>
          <a:bodyPr/>
          <a:lstStyle/>
          <a:p>
            <a:endParaRPr lang="en-SE"/>
          </a:p>
        </p:txBody>
      </p:sp>
      <p:sp>
        <p:nvSpPr>
          <p:cNvPr id="46" name="severity marker">
            <a:extLst>
              <a:ext uri="{C183D7F6-B498-43B3-948B-1728B52AA6E4}">
                <adec:decorative xmlns:adec="http://schemas.microsoft.com/office/drawing/2017/decorative" val="1"/>
              </a:ext>
            </a:extLst>
          </p:cNvPr>
          <p:cNvSpPr/>
          <p:nvPr/>
        </p:nvSpPr>
        <p:spPr>
          <a:xfrm>
            <a:off x="5120640" y="3145536"/>
            <a:ext cx="32004" cy="237744"/>
          </a:xfrm>
          <a:prstGeom prst="rect">
            <a:avLst/>
          </a:prstGeom>
          <a:solidFill>
            <a:srgbClr val="C9584C"/>
          </a:solidFill>
          <a:ln w="12700">
            <a:solidFill>
              <a:srgbClr val="333333"/>
            </a:solidFill>
            <a:prstDash val="solid"/>
          </a:ln>
        </p:spPr>
        <p:txBody>
          <a:bodyPr/>
          <a:lstStyle/>
          <a:p>
            <a:endParaRPr lang="en-SE"/>
          </a:p>
        </p:txBody>
      </p:sp>
      <p:sp>
        <p:nvSpPr>
          <p:cNvPr id="47" name="Text 45"/>
          <p:cNvSpPr/>
          <p:nvPr/>
        </p:nvSpPr>
        <p:spPr>
          <a:xfrm>
            <a:off x="5248656" y="3145536"/>
            <a:ext cx="3108960" cy="237744"/>
          </a:xfrm>
          <a:prstGeom prst="rect">
            <a:avLst/>
          </a:prstGeom>
          <a:noFill/>
          <a:ln/>
        </p:spPr>
        <p:txBody>
          <a:bodyPr wrap="square" lIns="0" tIns="0" rIns="0" bIns="0" rtlCol="0" anchor="ctr"/>
          <a:lstStyle/>
          <a:p>
            <a:pPr marL="0" indent="0" algn="l">
              <a:lnSpc>
                <a:spcPts val="1500"/>
              </a:lnSpc>
              <a:buNone/>
            </a:pPr>
            <a:r>
              <a:rPr lang="en-US" sz="850" dirty="0">
                <a:solidFill>
                  <a:srgbClr val="C9584C"/>
                </a:solidFill>
                <a:latin typeface="Consolas" pitchFamily="34" charset="0"/>
                <a:ea typeface="Consolas" pitchFamily="34" charset="-122"/>
                <a:cs typeface="Consolas" pitchFamily="34" charset="-120"/>
              </a:rPr>
              <a:t>09:31:19   ERR    api-gwy</a:t>
            </a:r>
            <a:endParaRPr lang="en-US" sz="850" dirty="0"/>
          </a:p>
        </p:txBody>
      </p:sp>
      <p:sp>
        <p:nvSpPr>
          <p:cNvPr id="48" name="table row">
            <a:extLst>
              <a:ext uri="{C183D7F6-B498-43B3-948B-1728B52AA6E4}">
                <adec:decorative xmlns:adec="http://schemas.microsoft.com/office/drawing/2017/decorative" val="1"/>
              </a:ext>
            </a:extLst>
          </p:cNvPr>
          <p:cNvSpPr/>
          <p:nvPr/>
        </p:nvSpPr>
        <p:spPr>
          <a:xfrm>
            <a:off x="5120640" y="3429000"/>
            <a:ext cx="3310128" cy="237744"/>
          </a:xfrm>
          <a:prstGeom prst="rect">
            <a:avLst/>
          </a:prstGeom>
          <a:solidFill>
            <a:srgbClr val="1B1E23"/>
          </a:solidFill>
          <a:ln w="12700">
            <a:solidFill>
              <a:srgbClr val="333333"/>
            </a:solidFill>
            <a:prstDash val="solid"/>
          </a:ln>
        </p:spPr>
        <p:txBody>
          <a:bodyPr/>
          <a:lstStyle/>
          <a:p>
            <a:endParaRPr lang="en-SE"/>
          </a:p>
        </p:txBody>
      </p:sp>
      <p:sp>
        <p:nvSpPr>
          <p:cNvPr id="49" name="severity marker">
            <a:extLst>
              <a:ext uri="{C183D7F6-B498-43B3-948B-1728B52AA6E4}">
                <adec:decorative xmlns:adec="http://schemas.microsoft.com/office/drawing/2017/decorative" val="1"/>
              </a:ext>
            </a:extLst>
          </p:cNvPr>
          <p:cNvSpPr/>
          <p:nvPr/>
        </p:nvSpPr>
        <p:spPr>
          <a:xfrm>
            <a:off x="5120640" y="3429000"/>
            <a:ext cx="32004" cy="237744"/>
          </a:xfrm>
          <a:prstGeom prst="rect">
            <a:avLst/>
          </a:prstGeom>
          <a:solidFill>
            <a:srgbClr val="747B87"/>
          </a:solidFill>
          <a:ln w="12700">
            <a:solidFill>
              <a:srgbClr val="333333"/>
            </a:solidFill>
            <a:prstDash val="solid"/>
          </a:ln>
        </p:spPr>
        <p:txBody>
          <a:bodyPr/>
          <a:lstStyle/>
          <a:p>
            <a:endParaRPr lang="en-SE"/>
          </a:p>
        </p:txBody>
      </p:sp>
      <p:sp>
        <p:nvSpPr>
          <p:cNvPr id="50" name="Text 48"/>
          <p:cNvSpPr/>
          <p:nvPr/>
        </p:nvSpPr>
        <p:spPr>
          <a:xfrm>
            <a:off x="5248656" y="3429000"/>
            <a:ext cx="3108960" cy="237744"/>
          </a:xfrm>
          <a:prstGeom prst="rect">
            <a:avLst/>
          </a:prstGeom>
          <a:noFill/>
          <a:ln/>
        </p:spPr>
        <p:txBody>
          <a:bodyPr wrap="square" lIns="0" tIns="0" rIns="0" bIns="0" rtlCol="0" anchor="ctr"/>
          <a:lstStyle/>
          <a:p>
            <a:pPr marL="0" indent="0" algn="l">
              <a:lnSpc>
                <a:spcPts val="1500"/>
              </a:lnSpc>
              <a:buNone/>
            </a:pPr>
            <a:r>
              <a:rPr lang="en-US" sz="850" dirty="0">
                <a:solidFill>
                  <a:srgbClr val="A3A9B4"/>
                </a:solidFill>
                <a:latin typeface="Consolas" pitchFamily="34" charset="0"/>
                <a:ea typeface="Consolas" pitchFamily="34" charset="-122"/>
                <a:cs typeface="Consolas" pitchFamily="34" charset="-120"/>
              </a:rPr>
              <a:t>09:31:21   INFO   pm-stats</a:t>
            </a:r>
            <a:endParaRPr lang="en-US" sz="850" dirty="0"/>
          </a:p>
        </p:txBody>
      </p:sp>
      <p:sp>
        <p:nvSpPr>
          <p:cNvPr id="51" name="table row">
            <a:extLst>
              <a:ext uri="{C183D7F6-B498-43B3-948B-1728B52AA6E4}">
                <adec:decorative xmlns:adec="http://schemas.microsoft.com/office/drawing/2017/decorative" val="1"/>
              </a:ext>
            </a:extLst>
          </p:cNvPr>
          <p:cNvSpPr/>
          <p:nvPr/>
        </p:nvSpPr>
        <p:spPr>
          <a:xfrm>
            <a:off x="5120640" y="3712464"/>
            <a:ext cx="3310128" cy="237744"/>
          </a:xfrm>
          <a:prstGeom prst="rect">
            <a:avLst/>
          </a:prstGeom>
          <a:solidFill>
            <a:srgbClr val="202329"/>
          </a:solidFill>
          <a:ln w="12700">
            <a:solidFill>
              <a:srgbClr val="333333"/>
            </a:solidFill>
            <a:prstDash val="solid"/>
          </a:ln>
        </p:spPr>
        <p:txBody>
          <a:bodyPr/>
          <a:lstStyle/>
          <a:p>
            <a:endParaRPr lang="en-SE"/>
          </a:p>
        </p:txBody>
      </p:sp>
      <p:sp>
        <p:nvSpPr>
          <p:cNvPr id="52" name="severity marker">
            <a:extLst>
              <a:ext uri="{C183D7F6-B498-43B3-948B-1728B52AA6E4}">
                <adec:decorative xmlns:adec="http://schemas.microsoft.com/office/drawing/2017/decorative" val="1"/>
              </a:ext>
            </a:extLst>
          </p:cNvPr>
          <p:cNvSpPr/>
          <p:nvPr/>
        </p:nvSpPr>
        <p:spPr>
          <a:xfrm>
            <a:off x="5120640" y="3712464"/>
            <a:ext cx="32004" cy="237744"/>
          </a:xfrm>
          <a:prstGeom prst="rect">
            <a:avLst/>
          </a:prstGeom>
          <a:solidFill>
            <a:srgbClr val="C9584C"/>
          </a:solidFill>
          <a:ln w="12700">
            <a:solidFill>
              <a:srgbClr val="333333"/>
            </a:solidFill>
            <a:prstDash val="solid"/>
          </a:ln>
        </p:spPr>
        <p:txBody>
          <a:bodyPr/>
          <a:lstStyle/>
          <a:p>
            <a:endParaRPr lang="en-SE"/>
          </a:p>
        </p:txBody>
      </p:sp>
      <p:sp>
        <p:nvSpPr>
          <p:cNvPr id="53" name="Text 51"/>
          <p:cNvSpPr/>
          <p:nvPr/>
        </p:nvSpPr>
        <p:spPr>
          <a:xfrm>
            <a:off x="5248656" y="3712464"/>
            <a:ext cx="3108960" cy="237744"/>
          </a:xfrm>
          <a:prstGeom prst="rect">
            <a:avLst/>
          </a:prstGeom>
          <a:noFill/>
          <a:ln/>
        </p:spPr>
        <p:txBody>
          <a:bodyPr wrap="square" lIns="0" tIns="0" rIns="0" bIns="0" rtlCol="0" anchor="ctr"/>
          <a:lstStyle/>
          <a:p>
            <a:pPr marL="0" indent="0" algn="l">
              <a:lnSpc>
                <a:spcPts val="1500"/>
              </a:lnSpc>
              <a:buNone/>
            </a:pPr>
            <a:r>
              <a:rPr lang="en-US" sz="850" dirty="0">
                <a:solidFill>
                  <a:srgbClr val="C9584C"/>
                </a:solidFill>
                <a:latin typeface="Consolas" pitchFamily="34" charset="0"/>
                <a:ea typeface="Consolas" pitchFamily="34" charset="-122"/>
                <a:cs typeface="Consolas" pitchFamily="34" charset="-120"/>
              </a:rPr>
              <a:t>09:31:24   ERR    engine</a:t>
            </a:r>
            <a:endParaRPr lang="en-US" sz="850" dirty="0"/>
          </a:p>
        </p:txBody>
      </p:sp>
      <p:sp>
        <p:nvSpPr>
          <p:cNvPr id="54" name="Text 52"/>
          <p:cNvSpPr/>
          <p:nvPr/>
        </p:nvSpPr>
        <p:spPr>
          <a:xfrm>
            <a:off x="566928" y="4443984"/>
            <a:ext cx="8010144" cy="457200"/>
          </a:xfrm>
          <a:prstGeom prst="rect">
            <a:avLst/>
          </a:prstGeom>
          <a:noFill/>
          <a:ln/>
        </p:spPr>
        <p:txBody>
          <a:bodyPr wrap="square" lIns="0" tIns="0" rIns="0" bIns="0" rtlCol="0" anchor="t"/>
          <a:lstStyle/>
          <a:p>
            <a:pPr marL="0" indent="0" algn="ctr">
              <a:lnSpc>
                <a:spcPts val="1491"/>
              </a:lnSpc>
              <a:buNone/>
            </a:pPr>
            <a:r>
              <a:rPr lang="en-US" sz="1050" i="1" dirty="0">
                <a:solidFill>
                  <a:srgbClr val="747B87"/>
                </a:solidFill>
                <a:latin typeface="Segoe UI" pitchFamily="34" charset="0"/>
                <a:ea typeface="Segoe UI" pitchFamily="34" charset="-122"/>
                <a:cs typeface="Segoe UI" pitchFamily="34" charset="-120"/>
              </a:rPr>
              <a:t>Same lines. Same processes. One ordering. That single change is what makes an incident reviewable at all.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02</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Three ways to log</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400" dirty="0">
                <a:solidFill>
                  <a:srgbClr val="A3A9B4"/>
                </a:solidFill>
                <a:latin typeface="Segoe UI" pitchFamily="34" charset="0"/>
                <a:ea typeface="Segoe UI" pitchFamily="34" charset="-122"/>
                <a:cs typeface="Segoe UI" pitchFamily="34" charset="-120"/>
              </a:rPr>
              <a:t>Terminal, file, and the central log server — and when each one is the right answer.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LOG DESTINATIONS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08</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Every process can log to three different places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These are not alternatives you must choose between once. Most operators run all three at the same time, for different reasons.</a:t>
            </a:r>
            <a:endParaRPr lang="en-US" sz="140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2542032" cy="27432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2542032" cy="45720"/>
          </a:xfrm>
          <a:prstGeom prst="rect">
            <a:avLst/>
          </a:prstGeom>
          <a:solidFill>
            <a:srgbClr val="5E8CA8"/>
          </a:solidFill>
          <a:ln w="12700">
            <a:solidFill>
              <a:srgbClr val="333333"/>
            </a:solidFill>
            <a:prstDash val="solid"/>
          </a:ln>
        </p:spPr>
        <p:txBody>
          <a:bodyPr/>
          <a:lstStyle/>
          <a:p>
            <a:endParaRPr lang="en-SE"/>
          </a:p>
        </p:txBody>
      </p:sp>
      <p:sp>
        <p:nvSpPr>
          <p:cNvPr id="10" name="Text 8"/>
          <p:cNvSpPr/>
          <p:nvPr/>
        </p:nvSpPr>
        <p:spPr>
          <a:xfrm>
            <a:off x="786384" y="1956816"/>
            <a:ext cx="548640" cy="274320"/>
          </a:xfrm>
          <a:prstGeom prst="rect">
            <a:avLst/>
          </a:prstGeom>
          <a:noFill/>
          <a:ln/>
        </p:spPr>
        <p:txBody>
          <a:bodyPr wrap="square" lIns="0" tIns="0" rIns="0" bIns="0" rtlCol="0" anchor="ctr"/>
          <a:lstStyle/>
          <a:p>
            <a:pPr marL="0" indent="0" algn="l">
              <a:lnSpc>
                <a:spcPts val="1500"/>
              </a:lnSpc>
              <a:buNone/>
            </a:pPr>
            <a:r>
              <a:rPr lang="en-US" sz="1100" dirty="0">
                <a:solidFill>
                  <a:srgbClr val="5E8CA8"/>
                </a:solidFill>
                <a:latin typeface="Consolas" pitchFamily="34" charset="0"/>
                <a:ea typeface="Consolas" pitchFamily="34" charset="-122"/>
                <a:cs typeface="Consolas" pitchFamily="34" charset="-120"/>
              </a:rPr>
              <a:t>01</a:t>
            </a:r>
            <a:endParaRPr lang="en-US" sz="1100" dirty="0"/>
          </a:p>
        </p:txBody>
      </p:sp>
      <p:sp>
        <p:nvSpPr>
          <p:cNvPr id="11" name="Text 9"/>
          <p:cNvSpPr/>
          <p:nvPr/>
        </p:nvSpPr>
        <p:spPr>
          <a:xfrm>
            <a:off x="786384" y="2286000"/>
            <a:ext cx="2103120" cy="292608"/>
          </a:xfrm>
          <a:prstGeom prst="rect">
            <a:avLst/>
          </a:prstGeom>
          <a:noFill/>
          <a:ln/>
        </p:spPr>
        <p:txBody>
          <a:bodyPr wrap="square" lIns="0" tIns="0" rIns="0" bIns="0" rtlCol="0" anchor="ctr"/>
          <a:lstStyle/>
          <a:p>
            <a:pPr marL="0" indent="0" algn="l">
              <a:buNone/>
            </a:pPr>
            <a:r>
              <a:rPr lang="en-US" sz="1600" b="1" dirty="0">
                <a:solidFill>
                  <a:srgbClr val="EDEEF1"/>
                </a:solidFill>
                <a:latin typeface="Georgia" pitchFamily="34" charset="0"/>
                <a:ea typeface="Georgia" pitchFamily="34" charset="-122"/>
                <a:cs typeface="Georgia" pitchFamily="34" charset="-120"/>
              </a:rPr>
              <a:t>Terminal</a:t>
            </a:r>
            <a:endParaRPr lang="en-US" sz="1600" dirty="0"/>
          </a:p>
        </p:txBody>
      </p:sp>
      <p:sp>
        <p:nvSpPr>
          <p:cNvPr id="12" name="Text 10"/>
          <p:cNvSpPr/>
          <p:nvPr/>
        </p:nvSpPr>
        <p:spPr>
          <a:xfrm>
            <a:off x="786384" y="2578608"/>
            <a:ext cx="2103120" cy="219456"/>
          </a:xfrm>
          <a:prstGeom prst="rect">
            <a:avLst/>
          </a:prstGeom>
          <a:noFill/>
          <a:ln/>
        </p:spPr>
        <p:txBody>
          <a:bodyPr wrap="square" lIns="0" tIns="0" rIns="0" bIns="0" rtlCol="0" anchor="ctr"/>
          <a:lstStyle/>
          <a:p>
            <a:pPr marL="0" indent="0" algn="l">
              <a:lnSpc>
                <a:spcPts val="1500"/>
              </a:lnSpc>
              <a:buNone/>
            </a:pPr>
            <a:r>
              <a:rPr lang="en-US" sz="1000" dirty="0">
                <a:solidFill>
                  <a:srgbClr val="747B87"/>
                </a:solidFill>
                <a:latin typeface="Consolas" pitchFamily="34" charset="0"/>
                <a:ea typeface="Consolas" pitchFamily="34" charset="-122"/>
                <a:cs typeface="Consolas" pitchFamily="34" charset="-120"/>
              </a:rPr>
              <a:t>stdout / stderr</a:t>
            </a:r>
            <a:endParaRPr lang="en-US" sz="1000" dirty="0"/>
          </a:p>
        </p:txBody>
      </p:sp>
      <p:sp>
        <p:nvSpPr>
          <p:cNvPr id="13" name="card rule">
            <a:extLst>
              <a:ext uri="{C183D7F6-B498-43B3-948B-1728B52AA6E4}">
                <adec:decorative xmlns:adec="http://schemas.microsoft.com/office/drawing/2017/decorative" val="1"/>
              </a:ext>
            </a:extLst>
          </p:cNvPr>
          <p:cNvSpPr/>
          <p:nvPr/>
        </p:nvSpPr>
        <p:spPr>
          <a:xfrm>
            <a:off x="786384" y="2889504"/>
            <a:ext cx="457200" cy="10973"/>
          </a:xfrm>
          <a:prstGeom prst="rect">
            <a:avLst/>
          </a:prstGeom>
          <a:solidFill>
            <a:srgbClr val="5E8CA8"/>
          </a:solidFill>
          <a:ln w="12700">
            <a:solidFill>
              <a:srgbClr val="333333"/>
            </a:solidFill>
            <a:prstDash val="solid"/>
          </a:ln>
        </p:spPr>
        <p:txBody>
          <a:bodyPr/>
          <a:lstStyle/>
          <a:p>
            <a:endParaRPr lang="en-SE"/>
          </a:p>
        </p:txBody>
      </p:sp>
      <p:sp>
        <p:nvSpPr>
          <p:cNvPr id="14" name="Text 12"/>
          <p:cNvSpPr/>
          <p:nvPr/>
        </p:nvSpPr>
        <p:spPr>
          <a:xfrm>
            <a:off x="786384" y="3054096"/>
            <a:ext cx="2103120" cy="96012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Immediate, human-readable, and gone as soon as you close the window or the scrollback fills.</a:t>
            </a:r>
            <a:endParaRPr lang="en-US" sz="1050" dirty="0"/>
          </a:p>
        </p:txBody>
      </p:sp>
      <p:sp>
        <p:nvSpPr>
          <p:cNvPr id="15" name="chip background">
            <a:extLst>
              <a:ext uri="{C183D7F6-B498-43B3-948B-1728B52AA6E4}">
                <adec:decorative xmlns:adec="http://schemas.microsoft.com/office/drawing/2017/decorative" val="1"/>
              </a:ext>
            </a:extLst>
          </p:cNvPr>
          <p:cNvSpPr/>
          <p:nvPr/>
        </p:nvSpPr>
        <p:spPr>
          <a:xfrm>
            <a:off x="786384" y="4059936"/>
            <a:ext cx="2103120" cy="274320"/>
          </a:xfrm>
          <a:prstGeom prst="roundRect">
            <a:avLst>
              <a:gd name="adj" fmla="val 40000"/>
            </a:avLst>
          </a:prstGeom>
          <a:solidFill>
            <a:srgbClr val="1B1E23"/>
          </a:solidFill>
          <a:ln w="12700">
            <a:solidFill>
              <a:srgbClr val="444B55"/>
            </a:solidFill>
            <a:prstDash val="solid"/>
          </a:ln>
        </p:spPr>
        <p:txBody>
          <a:bodyPr/>
          <a:lstStyle/>
          <a:p>
            <a:endParaRPr lang="en-SE"/>
          </a:p>
        </p:txBody>
      </p:sp>
      <p:sp>
        <p:nvSpPr>
          <p:cNvPr id="16" name="Text 14"/>
          <p:cNvSpPr/>
          <p:nvPr/>
        </p:nvSpPr>
        <p:spPr>
          <a:xfrm>
            <a:off x="841248" y="4059936"/>
            <a:ext cx="1993392" cy="274320"/>
          </a:xfrm>
          <a:prstGeom prst="rect">
            <a:avLst/>
          </a:prstGeom>
          <a:noFill/>
          <a:ln/>
        </p:spPr>
        <p:txBody>
          <a:bodyPr wrap="square" lIns="0" tIns="0" rIns="0" bIns="0" rtlCol="0" anchor="ctr"/>
          <a:lstStyle/>
          <a:p>
            <a:pPr marL="0" indent="0" algn="ctr">
              <a:buNone/>
            </a:pPr>
            <a:r>
              <a:rPr lang="en-US" sz="900" b="1" dirty="0">
                <a:solidFill>
                  <a:srgbClr val="5E8CA8"/>
                </a:solidFill>
                <a:latin typeface="Segoe UI" pitchFamily="34" charset="0"/>
                <a:ea typeface="Segoe UI" pitchFamily="34" charset="-122"/>
                <a:cs typeface="Segoe UI" pitchFamily="34" charset="-120"/>
              </a:rPr>
              <a:t>While you are watching</a:t>
            </a:r>
            <a:endParaRPr lang="en-US" sz="900" dirty="0"/>
          </a:p>
        </p:txBody>
      </p:sp>
      <p:sp>
        <p:nvSpPr>
          <p:cNvPr id="17" name="card background">
            <a:extLst>
              <a:ext uri="{C183D7F6-B498-43B3-948B-1728B52AA6E4}">
                <adec:decorative xmlns:adec="http://schemas.microsoft.com/office/drawing/2017/decorative" val="1"/>
              </a:ext>
            </a:extLst>
          </p:cNvPr>
          <p:cNvSpPr/>
          <p:nvPr/>
        </p:nvSpPr>
        <p:spPr>
          <a:xfrm>
            <a:off x="3328416" y="1773936"/>
            <a:ext cx="2542032" cy="27432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8" name="card top accent">
            <a:extLst>
              <a:ext uri="{C183D7F6-B498-43B3-948B-1728B52AA6E4}">
                <adec:decorative xmlns:adec="http://schemas.microsoft.com/office/drawing/2017/decorative" val="1"/>
              </a:ext>
            </a:extLst>
          </p:cNvPr>
          <p:cNvSpPr/>
          <p:nvPr/>
        </p:nvSpPr>
        <p:spPr>
          <a:xfrm>
            <a:off x="3328416" y="1773936"/>
            <a:ext cx="2542032" cy="45720"/>
          </a:xfrm>
          <a:prstGeom prst="rect">
            <a:avLst/>
          </a:prstGeom>
          <a:solidFill>
            <a:srgbClr val="8A7EA8"/>
          </a:solidFill>
          <a:ln w="12700">
            <a:solidFill>
              <a:srgbClr val="333333"/>
            </a:solidFill>
            <a:prstDash val="solid"/>
          </a:ln>
        </p:spPr>
        <p:txBody>
          <a:bodyPr/>
          <a:lstStyle/>
          <a:p>
            <a:endParaRPr lang="en-SE"/>
          </a:p>
        </p:txBody>
      </p:sp>
      <p:sp>
        <p:nvSpPr>
          <p:cNvPr id="19" name="Text 17"/>
          <p:cNvSpPr/>
          <p:nvPr/>
        </p:nvSpPr>
        <p:spPr>
          <a:xfrm>
            <a:off x="3547872" y="1956816"/>
            <a:ext cx="548640" cy="274320"/>
          </a:xfrm>
          <a:prstGeom prst="rect">
            <a:avLst/>
          </a:prstGeom>
          <a:noFill/>
          <a:ln/>
        </p:spPr>
        <p:txBody>
          <a:bodyPr wrap="square" lIns="0" tIns="0" rIns="0" bIns="0" rtlCol="0" anchor="ctr"/>
          <a:lstStyle/>
          <a:p>
            <a:pPr marL="0" indent="0" algn="l">
              <a:lnSpc>
                <a:spcPts val="1500"/>
              </a:lnSpc>
              <a:buNone/>
            </a:pPr>
            <a:r>
              <a:rPr lang="en-US" sz="1100" dirty="0">
                <a:solidFill>
                  <a:srgbClr val="8A7EA8"/>
                </a:solidFill>
                <a:latin typeface="Consolas" pitchFamily="34" charset="0"/>
                <a:ea typeface="Consolas" pitchFamily="34" charset="-122"/>
                <a:cs typeface="Consolas" pitchFamily="34" charset="-120"/>
              </a:rPr>
              <a:t>02</a:t>
            </a:r>
            <a:endParaRPr lang="en-US" sz="1100" dirty="0"/>
          </a:p>
        </p:txBody>
      </p:sp>
      <p:sp>
        <p:nvSpPr>
          <p:cNvPr id="20" name="Text 18"/>
          <p:cNvSpPr/>
          <p:nvPr/>
        </p:nvSpPr>
        <p:spPr>
          <a:xfrm>
            <a:off x="3547872" y="2286000"/>
            <a:ext cx="2103120" cy="292608"/>
          </a:xfrm>
          <a:prstGeom prst="rect">
            <a:avLst/>
          </a:prstGeom>
          <a:noFill/>
          <a:ln/>
        </p:spPr>
        <p:txBody>
          <a:bodyPr wrap="square" lIns="0" tIns="0" rIns="0" bIns="0" rtlCol="0" anchor="ctr"/>
          <a:lstStyle/>
          <a:p>
            <a:pPr marL="0" indent="0" algn="l">
              <a:buNone/>
            </a:pPr>
            <a:r>
              <a:rPr lang="en-US" sz="1600" b="1" dirty="0">
                <a:solidFill>
                  <a:srgbClr val="EDEEF1"/>
                </a:solidFill>
                <a:latin typeface="Georgia" pitchFamily="34" charset="0"/>
                <a:ea typeface="Georgia" pitchFamily="34" charset="-122"/>
                <a:cs typeface="Georgia" pitchFamily="34" charset="-120"/>
              </a:rPr>
              <a:t>File</a:t>
            </a:r>
            <a:endParaRPr lang="en-US" sz="1600" dirty="0"/>
          </a:p>
        </p:txBody>
      </p:sp>
      <p:sp>
        <p:nvSpPr>
          <p:cNvPr id="21" name="Text 19"/>
          <p:cNvSpPr/>
          <p:nvPr/>
        </p:nvSpPr>
        <p:spPr>
          <a:xfrm>
            <a:off x="3547872" y="2578608"/>
            <a:ext cx="2103120" cy="219456"/>
          </a:xfrm>
          <a:prstGeom prst="rect">
            <a:avLst/>
          </a:prstGeom>
          <a:noFill/>
          <a:ln/>
        </p:spPr>
        <p:txBody>
          <a:bodyPr wrap="square" lIns="0" tIns="0" rIns="0" bIns="0" rtlCol="0" anchor="ctr"/>
          <a:lstStyle/>
          <a:p>
            <a:pPr marL="0" indent="0" algn="l">
              <a:lnSpc>
                <a:spcPts val="1500"/>
              </a:lnSpc>
              <a:buNone/>
            </a:pPr>
            <a:r>
              <a:rPr lang="en-US" sz="1000" dirty="0">
                <a:solidFill>
                  <a:srgbClr val="747B87"/>
                </a:solidFill>
                <a:latin typeface="Consolas" pitchFamily="34" charset="0"/>
                <a:ea typeface="Consolas" pitchFamily="34" charset="-122"/>
                <a:cs typeface="Consolas" pitchFamily="34" charset="-120"/>
              </a:rPr>
              <a:t>redirected output</a:t>
            </a:r>
            <a:endParaRPr lang="en-US" sz="1000" dirty="0"/>
          </a:p>
        </p:txBody>
      </p:sp>
      <p:sp>
        <p:nvSpPr>
          <p:cNvPr id="22" name="card rule">
            <a:extLst>
              <a:ext uri="{C183D7F6-B498-43B3-948B-1728B52AA6E4}">
                <adec:decorative xmlns:adec="http://schemas.microsoft.com/office/drawing/2017/decorative" val="1"/>
              </a:ext>
            </a:extLst>
          </p:cNvPr>
          <p:cNvSpPr/>
          <p:nvPr/>
        </p:nvSpPr>
        <p:spPr>
          <a:xfrm>
            <a:off x="3547872" y="2889504"/>
            <a:ext cx="457200" cy="10973"/>
          </a:xfrm>
          <a:prstGeom prst="rect">
            <a:avLst/>
          </a:prstGeom>
          <a:solidFill>
            <a:srgbClr val="8A7EA8"/>
          </a:solidFill>
          <a:ln w="12700">
            <a:solidFill>
              <a:srgbClr val="333333"/>
            </a:solidFill>
            <a:prstDash val="solid"/>
          </a:ln>
        </p:spPr>
        <p:txBody>
          <a:bodyPr/>
          <a:lstStyle/>
          <a:p>
            <a:endParaRPr lang="en-SE"/>
          </a:p>
        </p:txBody>
      </p:sp>
      <p:sp>
        <p:nvSpPr>
          <p:cNvPr id="23" name="Text 21"/>
          <p:cNvSpPr/>
          <p:nvPr/>
        </p:nvSpPr>
        <p:spPr>
          <a:xfrm>
            <a:off x="3547872" y="3054096"/>
            <a:ext cx="2103120" cy="96012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Survives the session and needs nothing running. One file per process, so cross-process work is manual.</a:t>
            </a:r>
            <a:endParaRPr lang="en-US" sz="1050" dirty="0"/>
          </a:p>
        </p:txBody>
      </p:sp>
      <p:sp>
        <p:nvSpPr>
          <p:cNvPr id="24" name="chip background">
            <a:extLst>
              <a:ext uri="{C183D7F6-B498-43B3-948B-1728B52AA6E4}">
                <adec:decorative xmlns:adec="http://schemas.microsoft.com/office/drawing/2017/decorative" val="1"/>
              </a:ext>
            </a:extLst>
          </p:cNvPr>
          <p:cNvSpPr/>
          <p:nvPr/>
        </p:nvSpPr>
        <p:spPr>
          <a:xfrm>
            <a:off x="3547872" y="4059936"/>
            <a:ext cx="2103120" cy="274320"/>
          </a:xfrm>
          <a:prstGeom prst="roundRect">
            <a:avLst>
              <a:gd name="adj" fmla="val 40000"/>
            </a:avLst>
          </a:prstGeom>
          <a:solidFill>
            <a:srgbClr val="1B1E23"/>
          </a:solidFill>
          <a:ln w="12700">
            <a:solidFill>
              <a:srgbClr val="444B55"/>
            </a:solidFill>
            <a:prstDash val="solid"/>
          </a:ln>
        </p:spPr>
        <p:txBody>
          <a:bodyPr/>
          <a:lstStyle/>
          <a:p>
            <a:endParaRPr lang="en-SE"/>
          </a:p>
        </p:txBody>
      </p:sp>
      <p:sp>
        <p:nvSpPr>
          <p:cNvPr id="25" name="Text 23"/>
          <p:cNvSpPr/>
          <p:nvPr/>
        </p:nvSpPr>
        <p:spPr>
          <a:xfrm>
            <a:off x="3602736" y="4059936"/>
            <a:ext cx="1993392" cy="274320"/>
          </a:xfrm>
          <a:prstGeom prst="rect">
            <a:avLst/>
          </a:prstGeom>
          <a:noFill/>
          <a:ln/>
        </p:spPr>
        <p:txBody>
          <a:bodyPr wrap="square" lIns="0" tIns="0" rIns="0" bIns="0" rtlCol="0" anchor="ctr"/>
          <a:lstStyle/>
          <a:p>
            <a:pPr marL="0" indent="0" algn="ctr">
              <a:buNone/>
            </a:pPr>
            <a:r>
              <a:rPr lang="en-US" sz="900" b="1" dirty="0">
                <a:solidFill>
                  <a:srgbClr val="8A7EA8"/>
                </a:solidFill>
                <a:latin typeface="Segoe UI" pitchFamily="34" charset="0"/>
                <a:ea typeface="Segoe UI" pitchFamily="34" charset="-122"/>
                <a:cs typeface="Segoe UI" pitchFamily="34" charset="-120"/>
              </a:rPr>
              <a:t>Unattended runs</a:t>
            </a:r>
            <a:endParaRPr lang="en-US" sz="900" dirty="0"/>
          </a:p>
        </p:txBody>
      </p:sp>
      <p:sp>
        <p:nvSpPr>
          <p:cNvPr id="26" name="card background">
            <a:extLst>
              <a:ext uri="{C183D7F6-B498-43B3-948B-1728B52AA6E4}">
                <adec:decorative xmlns:adec="http://schemas.microsoft.com/office/drawing/2017/decorative" val="1"/>
              </a:ext>
            </a:extLst>
          </p:cNvPr>
          <p:cNvSpPr/>
          <p:nvPr/>
        </p:nvSpPr>
        <p:spPr>
          <a:xfrm>
            <a:off x="6089904" y="1773936"/>
            <a:ext cx="2542032" cy="27432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7" name="card top accent">
            <a:extLst>
              <a:ext uri="{C183D7F6-B498-43B3-948B-1728B52AA6E4}">
                <adec:decorative xmlns:adec="http://schemas.microsoft.com/office/drawing/2017/decorative" val="1"/>
              </a:ext>
            </a:extLst>
          </p:cNvPr>
          <p:cNvSpPr/>
          <p:nvPr/>
        </p:nvSpPr>
        <p:spPr>
          <a:xfrm>
            <a:off x="6089904" y="1773936"/>
            <a:ext cx="2542032" cy="45720"/>
          </a:xfrm>
          <a:prstGeom prst="rect">
            <a:avLst/>
          </a:prstGeom>
          <a:solidFill>
            <a:srgbClr val="E8A33D"/>
          </a:solidFill>
          <a:ln w="12700">
            <a:solidFill>
              <a:srgbClr val="333333"/>
            </a:solidFill>
            <a:prstDash val="solid"/>
          </a:ln>
        </p:spPr>
        <p:txBody>
          <a:bodyPr/>
          <a:lstStyle/>
          <a:p>
            <a:endParaRPr lang="en-SE"/>
          </a:p>
        </p:txBody>
      </p:sp>
      <p:sp>
        <p:nvSpPr>
          <p:cNvPr id="28" name="Text 26"/>
          <p:cNvSpPr/>
          <p:nvPr/>
        </p:nvSpPr>
        <p:spPr>
          <a:xfrm>
            <a:off x="6309360" y="1956816"/>
            <a:ext cx="548640" cy="274320"/>
          </a:xfrm>
          <a:prstGeom prst="rect">
            <a:avLst/>
          </a:prstGeom>
          <a:noFill/>
          <a:ln/>
        </p:spPr>
        <p:txBody>
          <a:bodyPr wrap="square" lIns="0" tIns="0" rIns="0" bIns="0" rtlCol="0" anchor="ctr"/>
          <a:lstStyle/>
          <a:p>
            <a:pPr marL="0" indent="0" algn="l">
              <a:lnSpc>
                <a:spcPts val="1500"/>
              </a:lnSpc>
              <a:buNone/>
            </a:pPr>
            <a:r>
              <a:rPr lang="en-US" sz="1100" dirty="0">
                <a:solidFill>
                  <a:srgbClr val="E8A33D"/>
                </a:solidFill>
                <a:latin typeface="Consolas" pitchFamily="34" charset="0"/>
                <a:ea typeface="Consolas" pitchFamily="34" charset="-122"/>
                <a:cs typeface="Consolas" pitchFamily="34" charset="-120"/>
              </a:rPr>
              <a:t>03</a:t>
            </a:r>
            <a:endParaRPr lang="en-US" sz="1100" dirty="0"/>
          </a:p>
        </p:txBody>
      </p:sp>
      <p:sp>
        <p:nvSpPr>
          <p:cNvPr id="29" name="Text 27"/>
          <p:cNvSpPr/>
          <p:nvPr/>
        </p:nvSpPr>
        <p:spPr>
          <a:xfrm>
            <a:off x="6309360" y="2286000"/>
            <a:ext cx="2103120" cy="292608"/>
          </a:xfrm>
          <a:prstGeom prst="rect">
            <a:avLst/>
          </a:prstGeom>
          <a:noFill/>
          <a:ln/>
        </p:spPr>
        <p:txBody>
          <a:bodyPr wrap="square" lIns="0" tIns="0" rIns="0" bIns="0" rtlCol="0" anchor="ctr"/>
          <a:lstStyle/>
          <a:p>
            <a:pPr marL="0" indent="0" algn="l">
              <a:buNone/>
            </a:pPr>
            <a:r>
              <a:rPr lang="en-US" sz="1600" b="1" dirty="0">
                <a:solidFill>
                  <a:srgbClr val="EDEEF1"/>
                </a:solidFill>
                <a:latin typeface="Georgia" pitchFamily="34" charset="0"/>
                <a:ea typeface="Georgia" pitchFamily="34" charset="-122"/>
                <a:cs typeface="Georgia" pitchFamily="34" charset="-120"/>
              </a:rPr>
              <a:t>Log server</a:t>
            </a:r>
            <a:endParaRPr lang="en-US" sz="1600" dirty="0"/>
          </a:p>
        </p:txBody>
      </p:sp>
      <p:sp>
        <p:nvSpPr>
          <p:cNvPr id="30" name="Text 28"/>
          <p:cNvSpPr/>
          <p:nvPr/>
        </p:nvSpPr>
        <p:spPr>
          <a:xfrm>
            <a:off x="6309360" y="2578608"/>
            <a:ext cx="2103120" cy="219456"/>
          </a:xfrm>
          <a:prstGeom prst="rect">
            <a:avLst/>
          </a:prstGeom>
          <a:noFill/>
          <a:ln/>
        </p:spPr>
        <p:txBody>
          <a:bodyPr wrap="square" lIns="0" tIns="0" rIns="0" bIns="0" rtlCol="0" anchor="ctr"/>
          <a:lstStyle/>
          <a:p>
            <a:pPr marL="0" indent="0" algn="l">
              <a:lnSpc>
                <a:spcPts val="1500"/>
              </a:lnSpc>
              <a:buNone/>
            </a:pPr>
            <a:r>
              <a:rPr lang="en-US" sz="1000" dirty="0">
                <a:solidFill>
                  <a:srgbClr val="747B87"/>
                </a:solidFill>
                <a:latin typeface="Consolas" pitchFamily="34" charset="0"/>
                <a:ea typeface="Consolas" pitchFamily="34" charset="-122"/>
                <a:cs typeface="Consolas" pitchFamily="34" charset="-120"/>
              </a:rPr>
              <a:t>LALF → pm-log-srv</a:t>
            </a:r>
            <a:endParaRPr lang="en-US" sz="1000" dirty="0"/>
          </a:p>
        </p:txBody>
      </p:sp>
      <p:sp>
        <p:nvSpPr>
          <p:cNvPr id="31" name="card rule">
            <a:extLst>
              <a:ext uri="{C183D7F6-B498-43B3-948B-1728B52AA6E4}">
                <adec:decorative xmlns:adec="http://schemas.microsoft.com/office/drawing/2017/decorative" val="1"/>
              </a:ext>
            </a:extLst>
          </p:cNvPr>
          <p:cNvSpPr/>
          <p:nvPr/>
        </p:nvSpPr>
        <p:spPr>
          <a:xfrm>
            <a:off x="6309360" y="2889504"/>
            <a:ext cx="457200" cy="10973"/>
          </a:xfrm>
          <a:prstGeom prst="rect">
            <a:avLst/>
          </a:prstGeom>
          <a:solidFill>
            <a:srgbClr val="E8A33D"/>
          </a:solidFill>
          <a:ln w="12700">
            <a:solidFill>
              <a:srgbClr val="333333"/>
            </a:solidFill>
            <a:prstDash val="solid"/>
          </a:ln>
        </p:spPr>
        <p:txBody>
          <a:bodyPr/>
          <a:lstStyle/>
          <a:p>
            <a:endParaRPr lang="en-SE"/>
          </a:p>
        </p:txBody>
      </p:sp>
      <p:sp>
        <p:nvSpPr>
          <p:cNvPr id="32" name="Text 30"/>
          <p:cNvSpPr/>
          <p:nvPr/>
        </p:nvSpPr>
        <p:spPr>
          <a:xfrm>
            <a:off x="6309360" y="3054096"/>
            <a:ext cx="2103120" cy="96012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One long-lived TCP connection per process into one SQLite database that every tool can query.</a:t>
            </a:r>
            <a:endParaRPr lang="en-US" sz="1050" dirty="0"/>
          </a:p>
        </p:txBody>
      </p:sp>
      <p:sp>
        <p:nvSpPr>
          <p:cNvPr id="33" name="chip background">
            <a:extLst>
              <a:ext uri="{C183D7F6-B498-43B3-948B-1728B52AA6E4}">
                <adec:decorative xmlns:adec="http://schemas.microsoft.com/office/drawing/2017/decorative" val="1"/>
              </a:ext>
            </a:extLst>
          </p:cNvPr>
          <p:cNvSpPr/>
          <p:nvPr/>
        </p:nvSpPr>
        <p:spPr>
          <a:xfrm>
            <a:off x="6309360" y="4059936"/>
            <a:ext cx="2103120" cy="274320"/>
          </a:xfrm>
          <a:prstGeom prst="roundRect">
            <a:avLst>
              <a:gd name="adj" fmla="val 40000"/>
            </a:avLst>
          </a:prstGeom>
          <a:solidFill>
            <a:srgbClr val="1B1E23"/>
          </a:solidFill>
          <a:ln w="12700">
            <a:solidFill>
              <a:srgbClr val="444B55"/>
            </a:solidFill>
            <a:prstDash val="solid"/>
          </a:ln>
        </p:spPr>
        <p:txBody>
          <a:bodyPr/>
          <a:lstStyle/>
          <a:p>
            <a:endParaRPr lang="en-SE"/>
          </a:p>
        </p:txBody>
      </p:sp>
      <p:sp>
        <p:nvSpPr>
          <p:cNvPr id="34" name="Text 32"/>
          <p:cNvSpPr/>
          <p:nvPr/>
        </p:nvSpPr>
        <p:spPr>
          <a:xfrm>
            <a:off x="6364224" y="4059936"/>
            <a:ext cx="1993392" cy="274320"/>
          </a:xfrm>
          <a:prstGeom prst="rect">
            <a:avLst/>
          </a:prstGeom>
          <a:noFill/>
          <a:ln/>
        </p:spPr>
        <p:txBody>
          <a:bodyPr wrap="square" lIns="0" tIns="0" rIns="0" bIns="0" rtlCol="0" anchor="ctr"/>
          <a:lstStyle/>
          <a:p>
            <a:pPr marL="0" indent="0" algn="ctr">
              <a:buNone/>
            </a:pPr>
            <a:r>
              <a:rPr lang="en-US" sz="900" b="1" dirty="0">
                <a:solidFill>
                  <a:srgbClr val="E8A33D"/>
                </a:solidFill>
                <a:latin typeface="Segoe UI" pitchFamily="34" charset="0"/>
                <a:ea typeface="Segoe UI" pitchFamily="34" charset="-122"/>
                <a:cs typeface="Segoe UI" pitchFamily="34" charset="-120"/>
              </a:rPr>
              <a:t>Anything you may investigate later</a:t>
            </a:r>
            <a:endParaRPr lang="en-US" sz="900" dirty="0"/>
          </a:p>
        </p:txBody>
      </p:sp>
      <p:sp>
        <p:nvSpPr>
          <p:cNvPr id="35" name="Text 33"/>
          <p:cNvSpPr/>
          <p:nvPr/>
        </p:nvSpPr>
        <p:spPr>
          <a:xfrm>
            <a:off x="566928" y="4626864"/>
            <a:ext cx="8010144" cy="365760"/>
          </a:xfrm>
          <a:prstGeom prst="rect">
            <a:avLst/>
          </a:prstGeom>
          <a:noFill/>
          <a:ln/>
        </p:spPr>
        <p:txBody>
          <a:bodyPr wrap="square" lIns="0" tIns="0" rIns="0" bIns="0" rtlCol="0" anchor="t"/>
          <a:lstStyle/>
          <a:p>
            <a:pPr marL="0" indent="0" algn="ctr">
              <a:lnSpc>
                <a:spcPts val="1349"/>
              </a:lnSpc>
              <a:buNone/>
            </a:pPr>
            <a:r>
              <a:rPr lang="en-US" sz="1000" i="1" dirty="0">
                <a:solidFill>
                  <a:srgbClr val="747B87"/>
                </a:solidFill>
                <a:latin typeface="Segoe UI" pitchFamily="34" charset="0"/>
                <a:ea typeface="Segoe UI" pitchFamily="34" charset="-122"/>
                <a:cs typeface="Segoe UI" pitchFamily="34" charset="-120"/>
              </a:rPr>
              <a:t>pm-log-srv is the one process that never uses the log server — it always writes to stdout or a file, because nothing is listening for its own startup messages yet.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LOG DESTINATIONS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09</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Terminal and file logging: what they are good for</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The central server does not retire these. It sits alongside them.</a:t>
            </a:r>
            <a:endParaRPr lang="en-US" sz="1400" dirty="0"/>
          </a:p>
        </p:txBody>
      </p:sp>
      <p:sp>
        <p:nvSpPr>
          <p:cNvPr id="8" name="card background">
            <a:extLst>
              <a:ext uri="{C183D7F6-B498-43B3-948B-1728B52AA6E4}">
                <adec:decorative xmlns:adec="http://schemas.microsoft.com/office/drawing/2017/decorative" val="1"/>
              </a:ext>
            </a:extLst>
          </p:cNvPr>
          <p:cNvSpPr/>
          <p:nvPr/>
        </p:nvSpPr>
        <p:spPr>
          <a:xfrm>
            <a:off x="566928" y="1792224"/>
            <a:ext cx="3877056" cy="148132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accent edge">
            <a:extLst>
              <a:ext uri="{C183D7F6-B498-43B3-948B-1728B52AA6E4}">
                <adec:decorative xmlns:adec="http://schemas.microsoft.com/office/drawing/2017/decorative" val="1"/>
              </a:ext>
            </a:extLst>
          </p:cNvPr>
          <p:cNvSpPr/>
          <p:nvPr/>
        </p:nvSpPr>
        <p:spPr>
          <a:xfrm>
            <a:off x="566928" y="1792224"/>
            <a:ext cx="50292" cy="1481328"/>
          </a:xfrm>
          <a:prstGeom prst="rect">
            <a:avLst/>
          </a:prstGeom>
          <a:solidFill>
            <a:srgbClr val="5E8CA8"/>
          </a:solidFill>
          <a:ln w="12700">
            <a:solidFill>
              <a:srgbClr val="333333"/>
            </a:solidFill>
            <a:prstDash val="solid"/>
          </a:ln>
        </p:spPr>
        <p:txBody>
          <a:bodyPr/>
          <a:lstStyle/>
          <a:p>
            <a:endParaRPr lang="en-SE"/>
          </a:p>
        </p:txBody>
      </p:sp>
      <p:sp>
        <p:nvSpPr>
          <p:cNvPr id="10" name="Text 8"/>
          <p:cNvSpPr/>
          <p:nvPr/>
        </p:nvSpPr>
        <p:spPr>
          <a:xfrm>
            <a:off x="804672" y="1938528"/>
            <a:ext cx="3291840" cy="219456"/>
          </a:xfrm>
          <a:prstGeom prst="rect">
            <a:avLst/>
          </a:prstGeom>
          <a:noFill/>
          <a:ln/>
        </p:spPr>
        <p:txBody>
          <a:bodyPr wrap="square" lIns="0" tIns="0" rIns="0" bIns="0" rtlCol="0" anchor="ctr"/>
          <a:lstStyle/>
          <a:p>
            <a:pPr marL="0" indent="0" algn="l">
              <a:buNone/>
            </a:pPr>
            <a:r>
              <a:rPr lang="en-US" sz="1200" b="1" kern="0" spc="180" dirty="0">
                <a:solidFill>
                  <a:srgbClr val="5E8CA8"/>
                </a:solidFill>
                <a:latin typeface="Segoe UI" pitchFamily="34" charset="0"/>
                <a:ea typeface="Segoe UI" pitchFamily="34" charset="-122"/>
                <a:cs typeface="Segoe UI" pitchFamily="34" charset="-120"/>
              </a:rPr>
              <a:t>TERMINAL</a:t>
            </a:r>
            <a:endParaRPr lang="en-US" sz="1200" dirty="0"/>
          </a:p>
        </p:txBody>
      </p:sp>
      <p:sp>
        <p:nvSpPr>
          <p:cNvPr id="11" name="Text 9"/>
          <p:cNvSpPr/>
          <p:nvPr/>
        </p:nvSpPr>
        <p:spPr>
          <a:xfrm>
            <a:off x="804672" y="2231136"/>
            <a:ext cx="3474720" cy="822960"/>
          </a:xfrm>
          <a:prstGeom prst="rect">
            <a:avLst/>
          </a:prstGeom>
          <a:noFill/>
          <a:ln/>
        </p:spPr>
        <p:txBody>
          <a:bodyPr wrap="square" lIns="0" tIns="0" rIns="0" bIns="0" rtlCol="0" anchor="t"/>
          <a:lstStyle/>
          <a:p>
            <a:pPr marL="0" indent="0" algn="l">
              <a:lnSpc>
                <a:spcPts val="1491"/>
              </a:lnSpc>
              <a:buNone/>
            </a:pPr>
            <a:r>
              <a:rPr lang="en-US" sz="1200" dirty="0">
                <a:solidFill>
                  <a:srgbClr val="A3A9B4"/>
                </a:solidFill>
                <a:latin typeface="Segoe UI" pitchFamily="34" charset="0"/>
                <a:ea typeface="Segoe UI" pitchFamily="34" charset="-122"/>
                <a:cs typeface="Segoe UI" pitchFamily="34" charset="-120"/>
              </a:rPr>
              <a:t>The first thing you look at when starting a process. If a gateway fails to bind its port, you see it here before any collector could have stored it.</a:t>
            </a:r>
            <a:endParaRPr lang="en-US" sz="1200" dirty="0"/>
          </a:p>
        </p:txBody>
      </p:sp>
      <p:sp>
        <p:nvSpPr>
          <p:cNvPr id="12" name="card background">
            <a:extLst>
              <a:ext uri="{C183D7F6-B498-43B3-948B-1728B52AA6E4}">
                <adec:decorative xmlns:adec="http://schemas.microsoft.com/office/drawing/2017/decorative" val="1"/>
              </a:ext>
            </a:extLst>
          </p:cNvPr>
          <p:cNvSpPr/>
          <p:nvPr/>
        </p:nvSpPr>
        <p:spPr>
          <a:xfrm>
            <a:off x="4700016" y="1792224"/>
            <a:ext cx="3877056" cy="148132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3" name="card accent edge">
            <a:extLst>
              <a:ext uri="{C183D7F6-B498-43B3-948B-1728B52AA6E4}">
                <adec:decorative xmlns:adec="http://schemas.microsoft.com/office/drawing/2017/decorative" val="1"/>
              </a:ext>
            </a:extLst>
          </p:cNvPr>
          <p:cNvSpPr/>
          <p:nvPr/>
        </p:nvSpPr>
        <p:spPr>
          <a:xfrm>
            <a:off x="4700016" y="1792224"/>
            <a:ext cx="50292" cy="1481328"/>
          </a:xfrm>
          <a:prstGeom prst="rect">
            <a:avLst/>
          </a:prstGeom>
          <a:solidFill>
            <a:srgbClr val="8A7EA8"/>
          </a:solidFill>
          <a:ln w="12700">
            <a:solidFill>
              <a:srgbClr val="333333"/>
            </a:solidFill>
            <a:prstDash val="solid"/>
          </a:ln>
        </p:spPr>
        <p:txBody>
          <a:bodyPr/>
          <a:lstStyle/>
          <a:p>
            <a:endParaRPr lang="en-SE"/>
          </a:p>
        </p:txBody>
      </p:sp>
      <p:sp>
        <p:nvSpPr>
          <p:cNvPr id="14" name="Text 12"/>
          <p:cNvSpPr/>
          <p:nvPr/>
        </p:nvSpPr>
        <p:spPr>
          <a:xfrm>
            <a:off x="4937760" y="1938528"/>
            <a:ext cx="3291840" cy="219456"/>
          </a:xfrm>
          <a:prstGeom prst="rect">
            <a:avLst/>
          </a:prstGeom>
          <a:noFill/>
          <a:ln/>
        </p:spPr>
        <p:txBody>
          <a:bodyPr wrap="square" lIns="0" tIns="0" rIns="0" bIns="0" rtlCol="0" anchor="ctr"/>
          <a:lstStyle/>
          <a:p>
            <a:pPr marL="0" indent="0" algn="l">
              <a:buNone/>
            </a:pPr>
            <a:r>
              <a:rPr lang="en-US" sz="1200" b="1" kern="0" spc="180" dirty="0">
                <a:solidFill>
                  <a:srgbClr val="8A7EA8"/>
                </a:solidFill>
                <a:latin typeface="Segoe UI" pitchFamily="34" charset="0"/>
                <a:ea typeface="Segoe UI" pitchFamily="34" charset="-122"/>
                <a:cs typeface="Segoe UI" pitchFamily="34" charset="-120"/>
              </a:rPr>
              <a:t>FILE</a:t>
            </a:r>
            <a:endParaRPr lang="en-US" sz="1200" dirty="0"/>
          </a:p>
        </p:txBody>
      </p:sp>
      <p:sp>
        <p:nvSpPr>
          <p:cNvPr id="15" name="Text 13"/>
          <p:cNvSpPr/>
          <p:nvPr/>
        </p:nvSpPr>
        <p:spPr>
          <a:xfrm>
            <a:off x="4937760" y="2231136"/>
            <a:ext cx="3474720" cy="822960"/>
          </a:xfrm>
          <a:prstGeom prst="rect">
            <a:avLst/>
          </a:prstGeom>
          <a:noFill/>
          <a:ln/>
        </p:spPr>
        <p:txBody>
          <a:bodyPr wrap="square" lIns="0" tIns="0" rIns="0" bIns="0" rtlCol="0" anchor="t"/>
          <a:lstStyle/>
          <a:p>
            <a:pPr marL="0" indent="0" algn="l">
              <a:lnSpc>
                <a:spcPts val="1491"/>
              </a:lnSpc>
              <a:buNone/>
            </a:pPr>
            <a:r>
              <a:rPr lang="en-US" sz="1200" dirty="0">
                <a:solidFill>
                  <a:srgbClr val="A3A9B4"/>
                </a:solidFill>
                <a:latin typeface="Segoe UI" pitchFamily="34" charset="0"/>
                <a:ea typeface="Segoe UI" pitchFamily="34" charset="-122"/>
                <a:cs typeface="Segoe UI" pitchFamily="34" charset="-120"/>
              </a:rPr>
              <a:t>The dependable fallback. If pm-log-srv is down, or the process cannot reach it, output still lands somewhere durable on disk.</a:t>
            </a:r>
            <a:endParaRPr lang="en-US" sz="1200" dirty="0"/>
          </a:p>
        </p:txBody>
      </p:sp>
      <p:sp>
        <p:nvSpPr>
          <p:cNvPr id="16" name="code panel">
            <a:extLst>
              <a:ext uri="{C183D7F6-B498-43B3-948B-1728B52AA6E4}">
                <adec:decorative xmlns:adec="http://schemas.microsoft.com/office/drawing/2017/decorative" val="1"/>
              </a:ext>
            </a:extLst>
          </p:cNvPr>
          <p:cNvSpPr/>
          <p:nvPr/>
        </p:nvSpPr>
        <p:spPr>
          <a:xfrm>
            <a:off x="566928" y="3438144"/>
            <a:ext cx="8010144" cy="1175004"/>
          </a:xfrm>
          <a:prstGeom prst="rect">
            <a:avLst/>
          </a:prstGeom>
          <a:solidFill>
            <a:srgbClr val="101216"/>
          </a:solidFill>
          <a:ln w="12700">
            <a:solidFill>
              <a:srgbClr val="343941"/>
            </a:solidFill>
            <a:prstDash val="solid"/>
          </a:ln>
        </p:spPr>
        <p:txBody>
          <a:bodyPr/>
          <a:lstStyle/>
          <a:p>
            <a:endParaRPr lang="en-SE"/>
          </a:p>
        </p:txBody>
      </p:sp>
      <p:sp>
        <p:nvSpPr>
          <p:cNvPr id="17" name="code accent edge">
            <a:extLst>
              <a:ext uri="{C183D7F6-B498-43B3-948B-1728B52AA6E4}">
                <adec:decorative xmlns:adec="http://schemas.microsoft.com/office/drawing/2017/decorative" val="1"/>
              </a:ext>
            </a:extLst>
          </p:cNvPr>
          <p:cNvSpPr/>
          <p:nvPr/>
        </p:nvSpPr>
        <p:spPr>
          <a:xfrm>
            <a:off x="566928" y="3438144"/>
            <a:ext cx="41148" cy="1175004"/>
          </a:xfrm>
          <a:prstGeom prst="rect">
            <a:avLst/>
          </a:prstGeom>
          <a:solidFill>
            <a:srgbClr val="7A5A24"/>
          </a:solidFill>
          <a:ln w="12700">
            <a:solidFill>
              <a:srgbClr val="333333"/>
            </a:solidFill>
            <a:prstDash val="solid"/>
          </a:ln>
        </p:spPr>
        <p:txBody>
          <a:bodyPr/>
          <a:lstStyle/>
          <a:p>
            <a:endParaRPr lang="en-SE"/>
          </a:p>
        </p:txBody>
      </p:sp>
      <p:sp>
        <p:nvSpPr>
          <p:cNvPr id="18" name="Text 16"/>
          <p:cNvSpPr/>
          <p:nvPr/>
        </p:nvSpPr>
        <p:spPr>
          <a:xfrm>
            <a:off x="768096" y="3511296"/>
            <a:ext cx="7607808" cy="237744"/>
          </a:xfrm>
          <a:prstGeom prst="rect">
            <a:avLst/>
          </a:prstGeom>
          <a:noFill/>
          <a:ln/>
        </p:spPr>
        <p:txBody>
          <a:bodyPr wrap="square" lIns="0" tIns="0" rIns="0" bIns="0" rtlCol="0" anchor="ctr"/>
          <a:lstStyle/>
          <a:p>
            <a:pPr marL="0" indent="0">
              <a:buNone/>
            </a:pPr>
            <a:r>
              <a:rPr lang="en-US" sz="850" b="1" kern="0" spc="160" dirty="0">
                <a:solidFill>
                  <a:srgbClr val="747B87"/>
                </a:solidFill>
                <a:latin typeface="Segoe UI" pitchFamily="34" charset="0"/>
                <a:ea typeface="Segoe UI" pitchFamily="34" charset="-122"/>
                <a:cs typeface="Segoe UI" pitchFamily="34" charset="-120"/>
              </a:rPr>
              <a:t>THE TWO LOCAL SINKS</a:t>
            </a:r>
            <a:endParaRPr lang="en-US" sz="850" dirty="0"/>
          </a:p>
        </p:txBody>
      </p:sp>
      <p:sp>
        <p:nvSpPr>
          <p:cNvPr id="19" name="code divider">
            <a:extLst>
              <a:ext uri="{C183D7F6-B498-43B3-948B-1728B52AA6E4}">
                <adec:decorative xmlns:adec="http://schemas.microsoft.com/office/drawing/2017/decorative" val="1"/>
              </a:ext>
            </a:extLst>
          </p:cNvPr>
          <p:cNvSpPr/>
          <p:nvPr/>
        </p:nvSpPr>
        <p:spPr>
          <a:xfrm>
            <a:off x="768096" y="3758184"/>
            <a:ext cx="7607808" cy="7315"/>
          </a:xfrm>
          <a:prstGeom prst="rect">
            <a:avLst/>
          </a:prstGeom>
          <a:solidFill>
            <a:srgbClr val="343941"/>
          </a:solidFill>
          <a:ln w="12700">
            <a:solidFill>
              <a:srgbClr val="333333"/>
            </a:solidFill>
            <a:prstDash val="solid"/>
          </a:ln>
        </p:spPr>
        <p:txBody>
          <a:bodyPr/>
          <a:lstStyle/>
          <a:p>
            <a:endParaRPr lang="en-SE"/>
          </a:p>
        </p:txBody>
      </p:sp>
      <p:sp>
        <p:nvSpPr>
          <p:cNvPr id="20" name="Text 18"/>
          <p:cNvSpPr/>
          <p:nvPr/>
        </p:nvSpPr>
        <p:spPr>
          <a:xfrm>
            <a:off x="786384" y="3822192"/>
            <a:ext cx="7589520" cy="644652"/>
          </a:xfrm>
          <a:prstGeom prst="rect">
            <a:avLst/>
          </a:prstGeom>
          <a:noFill/>
          <a:ln/>
        </p:spPr>
        <p:txBody>
          <a:bodyPr wrap="square" lIns="0" tIns="0" rIns="0" bIns="0" rtlCol="0" anchor="t"/>
          <a:lstStyle/>
          <a:p>
            <a:pPr marL="0" indent="0">
              <a:lnSpc>
                <a:spcPts val="1692"/>
              </a:lnSpc>
              <a:buNone/>
            </a:pPr>
            <a:r>
              <a:rPr lang="en-US" sz="1000" b="1" dirty="0">
                <a:solidFill>
                  <a:srgbClr val="F6C978"/>
                </a:solidFill>
                <a:latin typeface="Consolas" pitchFamily="34" charset="0"/>
                <a:ea typeface="Consolas" pitchFamily="34" charset="-122"/>
                <a:cs typeface="Consolas" pitchFamily="34" charset="-120"/>
              </a:rPr>
              <a:t>$ pm-md-gwy                                  # terminal only — you are watching it</a:t>
            </a:r>
            <a:endParaRPr lang="en-US" sz="1000" dirty="0"/>
          </a:p>
          <a:p>
            <a:pPr marL="0" indent="0">
              <a:lnSpc>
                <a:spcPts val="1692"/>
              </a:lnSpc>
              <a:buNone/>
            </a:pPr>
            <a:r>
              <a:rPr lang="en-US" sz="1000" b="1" dirty="0">
                <a:solidFill>
                  <a:srgbClr val="F6C978"/>
                </a:solidFill>
                <a:latin typeface="Consolas" pitchFamily="34" charset="0"/>
                <a:ea typeface="Consolas" pitchFamily="34" charset="-122"/>
                <a:cs typeface="Consolas" pitchFamily="34" charset="-120"/>
              </a:rPr>
              <a:t>$ pm-md-gwy &gt; logs/md-gwy.log 2&gt;&amp;1 &amp;         # file — unattended, survives the session</a:t>
            </a:r>
            <a:endParaRPr lang="en-US" sz="1000" dirty="0"/>
          </a:p>
          <a:p>
            <a:pPr marL="0" indent="0">
              <a:lnSpc>
                <a:spcPts val="1692"/>
              </a:lnSpc>
              <a:buNone/>
            </a:pPr>
            <a:r>
              <a:rPr lang="en-US" sz="1000" b="1" dirty="0">
                <a:solidFill>
                  <a:srgbClr val="F6C978"/>
                </a:solidFill>
                <a:latin typeface="Consolas" pitchFamily="34" charset="0"/>
                <a:ea typeface="Consolas" pitchFamily="34" charset="-122"/>
                <a:cs typeface="Consolas" pitchFamily="34" charset="-120"/>
              </a:rPr>
              <a:t>$ tail -f logs/md-gwy.log                    # follow one file, one process</a:t>
            </a:r>
            <a:endParaRPr lang="en-US" sz="1000" dirty="0"/>
          </a:p>
        </p:txBody>
      </p:sp>
      <p:sp>
        <p:nvSpPr>
          <p:cNvPr id="21" name="Text 19"/>
          <p:cNvSpPr/>
          <p:nvPr/>
        </p:nvSpPr>
        <p:spPr>
          <a:xfrm>
            <a:off x="566928" y="4645152"/>
            <a:ext cx="8010144" cy="329184"/>
          </a:xfrm>
          <a:prstGeom prst="rect">
            <a:avLst/>
          </a:prstGeom>
          <a:noFill/>
          <a:ln/>
        </p:spPr>
        <p:txBody>
          <a:bodyPr wrap="square" lIns="0" tIns="0" rIns="0" bIns="0" rtlCol="0" anchor="t"/>
          <a:lstStyle/>
          <a:p>
            <a:pPr marL="0" indent="0" algn="l">
              <a:lnSpc>
                <a:spcPts val="1420"/>
              </a:lnSpc>
              <a:buNone/>
            </a:pPr>
            <a:r>
              <a:rPr lang="en-US" sz="1000" i="1" dirty="0">
                <a:solidFill>
                  <a:srgbClr val="747B87"/>
                </a:solidFill>
                <a:latin typeface="Segoe UI" pitchFamily="34" charset="0"/>
                <a:ea typeface="Segoe UI" pitchFamily="34" charset="-122"/>
                <a:cs typeface="Segoe UI" pitchFamily="34" charset="-120"/>
              </a:rPr>
              <a:t>Notice the limit in that last line: it follows one process. Correlating two of them is you, with two windows and a clock.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LOG DESTINATIONS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10</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What the central log server adds on top</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pm-log-srv is a dedicated collector process. Every pm-* process opens one connection to it and streams its own log records over the LALF protocol.</a:t>
            </a:r>
            <a:endParaRPr lang="en-US" sz="1250" dirty="0"/>
          </a:p>
        </p:txBody>
      </p:sp>
      <p:sp>
        <p:nvSpPr>
          <p:cNvPr id="8" name="diagram node box">
            <a:extLst>
              <a:ext uri="{C183D7F6-B498-43B3-948B-1728B52AA6E4}">
                <adec:decorative xmlns:adec="http://schemas.microsoft.com/office/drawing/2017/decorative" val="1"/>
              </a:ext>
            </a:extLst>
          </p:cNvPr>
          <p:cNvSpPr/>
          <p:nvPr/>
        </p:nvSpPr>
        <p:spPr>
          <a:xfrm>
            <a:off x="566928" y="1993392"/>
            <a:ext cx="1572768" cy="438912"/>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9" name="Text 7"/>
          <p:cNvSpPr/>
          <p:nvPr/>
        </p:nvSpPr>
        <p:spPr>
          <a:xfrm>
            <a:off x="640080" y="1993392"/>
            <a:ext cx="1426464" cy="438912"/>
          </a:xfrm>
          <a:prstGeom prst="rect">
            <a:avLst/>
          </a:prstGeom>
          <a:noFill/>
          <a:ln/>
        </p:spPr>
        <p:txBody>
          <a:bodyPr wrap="square" lIns="0" tIns="0" rIns="0" bIns="0" rtlCol="0" anchor="ctr"/>
          <a:lstStyle/>
          <a:p>
            <a:pPr marL="0" indent="0" algn="ctr">
              <a:buNone/>
            </a:pPr>
            <a:r>
              <a:rPr lang="en-US" sz="900" b="1" dirty="0">
                <a:solidFill>
                  <a:srgbClr val="EDEEF1"/>
                </a:solidFill>
                <a:latin typeface="Consolas" pitchFamily="34" charset="0"/>
                <a:ea typeface="Consolas" pitchFamily="34" charset="-122"/>
                <a:cs typeface="Consolas" pitchFamily="34" charset="-120"/>
              </a:rPr>
              <a:t>pm-engine</a:t>
            </a:r>
            <a:endParaRPr lang="en-US" sz="900" dirty="0"/>
          </a:p>
        </p:txBody>
      </p:sp>
      <p:sp>
        <p:nvSpPr>
          <p:cNvPr id="10" name="flow arrow">
            <a:extLst>
              <a:ext uri="{C183D7F6-B498-43B3-948B-1728B52AA6E4}">
                <adec:decorative xmlns:adec="http://schemas.microsoft.com/office/drawing/2017/decorative" val="1"/>
              </a:ext>
            </a:extLst>
          </p:cNvPr>
          <p:cNvSpPr/>
          <p:nvPr/>
        </p:nvSpPr>
        <p:spPr>
          <a:xfrm>
            <a:off x="2194560" y="2212848"/>
            <a:ext cx="658368" cy="0"/>
          </a:xfrm>
          <a:prstGeom prst="line">
            <a:avLst/>
          </a:prstGeom>
          <a:noFill/>
          <a:ln w="15240">
            <a:solidFill>
              <a:srgbClr val="7A5A24"/>
            </a:solidFill>
            <a:prstDash val="solid"/>
            <a:tailEnd type="triangle"/>
          </a:ln>
        </p:spPr>
        <p:txBody>
          <a:bodyPr/>
          <a:lstStyle/>
          <a:p>
            <a:endParaRPr lang="en-SE"/>
          </a:p>
        </p:txBody>
      </p:sp>
      <p:sp>
        <p:nvSpPr>
          <p:cNvPr id="11" name="diagram node box">
            <a:extLst>
              <a:ext uri="{C183D7F6-B498-43B3-948B-1728B52AA6E4}">
                <adec:decorative xmlns:adec="http://schemas.microsoft.com/office/drawing/2017/decorative" val="1"/>
              </a:ext>
            </a:extLst>
          </p:cNvPr>
          <p:cNvSpPr/>
          <p:nvPr/>
        </p:nvSpPr>
        <p:spPr>
          <a:xfrm>
            <a:off x="566928" y="2560320"/>
            <a:ext cx="1572768" cy="438912"/>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12" name="Text 10"/>
          <p:cNvSpPr/>
          <p:nvPr/>
        </p:nvSpPr>
        <p:spPr>
          <a:xfrm>
            <a:off x="640080" y="2560320"/>
            <a:ext cx="1426464" cy="438912"/>
          </a:xfrm>
          <a:prstGeom prst="rect">
            <a:avLst/>
          </a:prstGeom>
          <a:noFill/>
          <a:ln/>
        </p:spPr>
        <p:txBody>
          <a:bodyPr wrap="square" lIns="0" tIns="0" rIns="0" bIns="0" rtlCol="0" anchor="ctr"/>
          <a:lstStyle/>
          <a:p>
            <a:pPr marL="0" indent="0" algn="ctr">
              <a:buNone/>
            </a:pPr>
            <a:r>
              <a:rPr lang="en-US" sz="900" b="1" dirty="0">
                <a:solidFill>
                  <a:srgbClr val="EDEEF1"/>
                </a:solidFill>
                <a:latin typeface="Consolas" pitchFamily="34" charset="0"/>
                <a:ea typeface="Consolas" pitchFamily="34" charset="-122"/>
                <a:cs typeface="Consolas" pitchFamily="34" charset="-120"/>
              </a:rPr>
              <a:t>pm-md-gwy</a:t>
            </a:r>
            <a:endParaRPr lang="en-US" sz="900" dirty="0"/>
          </a:p>
        </p:txBody>
      </p:sp>
      <p:sp>
        <p:nvSpPr>
          <p:cNvPr id="13" name="flow arrow">
            <a:extLst>
              <a:ext uri="{C183D7F6-B498-43B3-948B-1728B52AA6E4}">
                <adec:decorative xmlns:adec="http://schemas.microsoft.com/office/drawing/2017/decorative" val="1"/>
              </a:ext>
            </a:extLst>
          </p:cNvPr>
          <p:cNvSpPr/>
          <p:nvPr/>
        </p:nvSpPr>
        <p:spPr>
          <a:xfrm>
            <a:off x="2194560" y="2779776"/>
            <a:ext cx="658368" cy="0"/>
          </a:xfrm>
          <a:prstGeom prst="line">
            <a:avLst/>
          </a:prstGeom>
          <a:noFill/>
          <a:ln w="15240">
            <a:solidFill>
              <a:srgbClr val="7A5A24"/>
            </a:solidFill>
            <a:prstDash val="solid"/>
            <a:tailEnd type="triangle"/>
          </a:ln>
        </p:spPr>
        <p:txBody>
          <a:bodyPr/>
          <a:lstStyle/>
          <a:p>
            <a:endParaRPr lang="en-SE"/>
          </a:p>
        </p:txBody>
      </p:sp>
      <p:sp>
        <p:nvSpPr>
          <p:cNvPr id="14" name="diagram node box">
            <a:extLst>
              <a:ext uri="{C183D7F6-B498-43B3-948B-1728B52AA6E4}">
                <adec:decorative xmlns:adec="http://schemas.microsoft.com/office/drawing/2017/decorative" val="1"/>
              </a:ext>
            </a:extLst>
          </p:cNvPr>
          <p:cNvSpPr/>
          <p:nvPr/>
        </p:nvSpPr>
        <p:spPr>
          <a:xfrm>
            <a:off x="566928" y="3127248"/>
            <a:ext cx="1572768" cy="438912"/>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15" name="Text 13"/>
          <p:cNvSpPr/>
          <p:nvPr/>
        </p:nvSpPr>
        <p:spPr>
          <a:xfrm>
            <a:off x="640080" y="3127248"/>
            <a:ext cx="1426464" cy="438912"/>
          </a:xfrm>
          <a:prstGeom prst="rect">
            <a:avLst/>
          </a:prstGeom>
          <a:noFill/>
          <a:ln/>
        </p:spPr>
        <p:txBody>
          <a:bodyPr wrap="square" lIns="0" tIns="0" rIns="0" bIns="0" rtlCol="0" anchor="ctr"/>
          <a:lstStyle/>
          <a:p>
            <a:pPr marL="0" indent="0" algn="ctr">
              <a:buNone/>
            </a:pPr>
            <a:r>
              <a:rPr lang="en-US" sz="900" b="1" dirty="0">
                <a:solidFill>
                  <a:srgbClr val="EDEEF1"/>
                </a:solidFill>
                <a:latin typeface="Consolas" pitchFamily="34" charset="0"/>
                <a:ea typeface="Consolas" pitchFamily="34" charset="-122"/>
                <a:cs typeface="Consolas" pitchFamily="34" charset="-120"/>
              </a:rPr>
              <a:t>pm-api-gwy</a:t>
            </a:r>
            <a:endParaRPr lang="en-US" sz="900" dirty="0"/>
          </a:p>
        </p:txBody>
      </p:sp>
      <p:sp>
        <p:nvSpPr>
          <p:cNvPr id="16" name="flow arrow">
            <a:extLst>
              <a:ext uri="{C183D7F6-B498-43B3-948B-1728B52AA6E4}">
                <adec:decorative xmlns:adec="http://schemas.microsoft.com/office/drawing/2017/decorative" val="1"/>
              </a:ext>
            </a:extLst>
          </p:cNvPr>
          <p:cNvSpPr/>
          <p:nvPr/>
        </p:nvSpPr>
        <p:spPr>
          <a:xfrm>
            <a:off x="2194560" y="3346704"/>
            <a:ext cx="658368" cy="0"/>
          </a:xfrm>
          <a:prstGeom prst="line">
            <a:avLst/>
          </a:prstGeom>
          <a:noFill/>
          <a:ln w="15240">
            <a:solidFill>
              <a:srgbClr val="7A5A24"/>
            </a:solidFill>
            <a:prstDash val="solid"/>
            <a:tailEnd type="triangle"/>
          </a:ln>
        </p:spPr>
        <p:txBody>
          <a:bodyPr/>
          <a:lstStyle/>
          <a:p>
            <a:endParaRPr lang="en-SE"/>
          </a:p>
        </p:txBody>
      </p:sp>
      <p:sp>
        <p:nvSpPr>
          <p:cNvPr id="17" name="diagram node box">
            <a:extLst>
              <a:ext uri="{C183D7F6-B498-43B3-948B-1728B52AA6E4}">
                <adec:decorative xmlns:adec="http://schemas.microsoft.com/office/drawing/2017/decorative" val="1"/>
              </a:ext>
            </a:extLst>
          </p:cNvPr>
          <p:cNvSpPr/>
          <p:nvPr/>
        </p:nvSpPr>
        <p:spPr>
          <a:xfrm>
            <a:off x="566928" y="3694176"/>
            <a:ext cx="1572768" cy="438912"/>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18" name="Text 16"/>
          <p:cNvSpPr/>
          <p:nvPr/>
        </p:nvSpPr>
        <p:spPr>
          <a:xfrm>
            <a:off x="640080" y="3694176"/>
            <a:ext cx="1426464" cy="438912"/>
          </a:xfrm>
          <a:prstGeom prst="rect">
            <a:avLst/>
          </a:prstGeom>
          <a:noFill/>
          <a:ln/>
        </p:spPr>
        <p:txBody>
          <a:bodyPr wrap="square" lIns="0" tIns="0" rIns="0" bIns="0" rtlCol="0" anchor="ctr"/>
          <a:lstStyle/>
          <a:p>
            <a:pPr marL="0" indent="0" algn="ctr">
              <a:buNone/>
            </a:pPr>
            <a:r>
              <a:rPr lang="en-US" sz="900" b="1" dirty="0">
                <a:solidFill>
                  <a:srgbClr val="EDEEF1"/>
                </a:solidFill>
                <a:latin typeface="Consolas" pitchFamily="34" charset="0"/>
                <a:ea typeface="Consolas" pitchFamily="34" charset="-122"/>
                <a:cs typeface="Consolas" pitchFamily="34" charset="-120"/>
              </a:rPr>
              <a:t>…every other</a:t>
            </a:r>
            <a:endParaRPr lang="en-US" sz="900" dirty="0"/>
          </a:p>
        </p:txBody>
      </p:sp>
      <p:sp>
        <p:nvSpPr>
          <p:cNvPr id="19" name="flow arrow">
            <a:extLst>
              <a:ext uri="{C183D7F6-B498-43B3-948B-1728B52AA6E4}">
                <adec:decorative xmlns:adec="http://schemas.microsoft.com/office/drawing/2017/decorative" val="1"/>
              </a:ext>
            </a:extLst>
          </p:cNvPr>
          <p:cNvSpPr/>
          <p:nvPr/>
        </p:nvSpPr>
        <p:spPr>
          <a:xfrm>
            <a:off x="2194560" y="3913632"/>
            <a:ext cx="658368" cy="0"/>
          </a:xfrm>
          <a:prstGeom prst="line">
            <a:avLst/>
          </a:prstGeom>
          <a:noFill/>
          <a:ln w="15240">
            <a:solidFill>
              <a:srgbClr val="7A5A24"/>
            </a:solidFill>
            <a:prstDash val="solid"/>
            <a:tailEnd type="triangle"/>
          </a:ln>
        </p:spPr>
        <p:txBody>
          <a:bodyPr/>
          <a:lstStyle/>
          <a:p>
            <a:endParaRPr lang="en-SE"/>
          </a:p>
        </p:txBody>
      </p:sp>
      <p:sp>
        <p:nvSpPr>
          <p:cNvPr id="20" name="Text 18"/>
          <p:cNvSpPr/>
          <p:nvPr/>
        </p:nvSpPr>
        <p:spPr>
          <a:xfrm>
            <a:off x="2139696" y="4443984"/>
            <a:ext cx="1737360" cy="219456"/>
          </a:xfrm>
          <a:prstGeom prst="rect">
            <a:avLst/>
          </a:prstGeom>
          <a:noFill/>
          <a:ln/>
        </p:spPr>
        <p:txBody>
          <a:bodyPr wrap="square" lIns="0" tIns="0" rIns="0" bIns="0" rtlCol="0" anchor="ctr"/>
          <a:lstStyle/>
          <a:p>
            <a:pPr marL="0" indent="0" algn="ctr">
              <a:lnSpc>
                <a:spcPts val="1500"/>
              </a:lnSpc>
              <a:buNone/>
            </a:pPr>
            <a:r>
              <a:rPr lang="en-US" sz="800" dirty="0">
                <a:solidFill>
                  <a:srgbClr val="E8A33D"/>
                </a:solidFill>
                <a:latin typeface="Consolas" pitchFamily="34" charset="0"/>
                <a:ea typeface="Consolas" pitchFamily="34" charset="-122"/>
                <a:cs typeface="Consolas" pitchFamily="34" charset="-120"/>
              </a:rPr>
              <a:t>LALF / TCP :5600</a:t>
            </a:r>
            <a:endParaRPr lang="en-US" sz="800" dirty="0"/>
          </a:p>
        </p:txBody>
      </p:sp>
      <p:sp>
        <p:nvSpPr>
          <p:cNvPr id="21" name="diagram node box">
            <a:extLst>
              <a:ext uri="{C183D7F6-B498-43B3-948B-1728B52AA6E4}">
                <adec:decorative xmlns:adec="http://schemas.microsoft.com/office/drawing/2017/decorative" val="1"/>
              </a:ext>
            </a:extLst>
          </p:cNvPr>
          <p:cNvSpPr/>
          <p:nvPr/>
        </p:nvSpPr>
        <p:spPr>
          <a:xfrm>
            <a:off x="3035808" y="2286000"/>
            <a:ext cx="1737360" cy="1097280"/>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22" name="node accent">
            <a:extLst>
              <a:ext uri="{C183D7F6-B498-43B3-948B-1728B52AA6E4}">
                <adec:decorative xmlns:adec="http://schemas.microsoft.com/office/drawing/2017/decorative" val="1"/>
              </a:ext>
            </a:extLst>
          </p:cNvPr>
          <p:cNvSpPr/>
          <p:nvPr/>
        </p:nvSpPr>
        <p:spPr>
          <a:xfrm>
            <a:off x="3035808" y="2286000"/>
            <a:ext cx="1737360" cy="41148"/>
          </a:xfrm>
          <a:prstGeom prst="rect">
            <a:avLst/>
          </a:prstGeom>
          <a:solidFill>
            <a:srgbClr val="E8A33D"/>
          </a:solidFill>
          <a:ln w="12700">
            <a:solidFill>
              <a:srgbClr val="333333"/>
            </a:solidFill>
            <a:prstDash val="solid"/>
          </a:ln>
        </p:spPr>
        <p:txBody>
          <a:bodyPr/>
          <a:lstStyle/>
          <a:p>
            <a:endParaRPr lang="en-SE"/>
          </a:p>
        </p:txBody>
      </p:sp>
      <p:sp>
        <p:nvSpPr>
          <p:cNvPr id="23" name="Text 21"/>
          <p:cNvSpPr/>
          <p:nvPr/>
        </p:nvSpPr>
        <p:spPr>
          <a:xfrm>
            <a:off x="3108960" y="2386584"/>
            <a:ext cx="1591056" cy="274320"/>
          </a:xfrm>
          <a:prstGeom prst="rect">
            <a:avLst/>
          </a:prstGeom>
          <a:noFill/>
          <a:ln/>
        </p:spPr>
        <p:txBody>
          <a:bodyPr wrap="square" lIns="0" tIns="0" rIns="0" bIns="0" rtlCol="0" anchor="ctr"/>
          <a:lstStyle/>
          <a:p>
            <a:pPr marL="0" indent="0" algn="ctr">
              <a:buNone/>
            </a:pPr>
            <a:r>
              <a:rPr lang="en-US" sz="1100" b="1" dirty="0">
                <a:solidFill>
                  <a:srgbClr val="EDEEF1"/>
                </a:solidFill>
                <a:latin typeface="Consolas" pitchFamily="34" charset="0"/>
                <a:ea typeface="Consolas" pitchFamily="34" charset="-122"/>
                <a:cs typeface="Consolas" pitchFamily="34" charset="-120"/>
              </a:rPr>
              <a:t>pm-log-srv</a:t>
            </a:r>
            <a:endParaRPr lang="en-US" sz="1100" dirty="0"/>
          </a:p>
        </p:txBody>
      </p:sp>
      <p:sp>
        <p:nvSpPr>
          <p:cNvPr id="24" name="Text 22"/>
          <p:cNvSpPr/>
          <p:nvPr/>
        </p:nvSpPr>
        <p:spPr>
          <a:xfrm>
            <a:off x="3108960" y="2633472"/>
            <a:ext cx="1591056" cy="676656"/>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collector</a:t>
            </a:r>
            <a:endParaRPr lang="en-US" sz="850" dirty="0"/>
          </a:p>
        </p:txBody>
      </p:sp>
      <p:sp>
        <p:nvSpPr>
          <p:cNvPr id="25" name="flow arrow">
            <a:extLst>
              <a:ext uri="{C183D7F6-B498-43B3-948B-1728B52AA6E4}">
                <adec:decorative xmlns:adec="http://schemas.microsoft.com/office/drawing/2017/decorative" val="1"/>
              </a:ext>
            </a:extLst>
          </p:cNvPr>
          <p:cNvSpPr/>
          <p:nvPr/>
        </p:nvSpPr>
        <p:spPr>
          <a:xfrm>
            <a:off x="4828032" y="2834640"/>
            <a:ext cx="566928" cy="0"/>
          </a:xfrm>
          <a:prstGeom prst="line">
            <a:avLst/>
          </a:prstGeom>
          <a:noFill/>
          <a:ln w="15240">
            <a:solidFill>
              <a:srgbClr val="7A5A24"/>
            </a:solidFill>
            <a:prstDash val="solid"/>
            <a:tailEnd type="triangle"/>
          </a:ln>
        </p:spPr>
        <p:txBody>
          <a:bodyPr/>
          <a:lstStyle/>
          <a:p>
            <a:endParaRPr lang="en-SE"/>
          </a:p>
        </p:txBody>
      </p:sp>
      <p:sp>
        <p:nvSpPr>
          <p:cNvPr id="26" name="diagram node box">
            <a:extLst>
              <a:ext uri="{C183D7F6-B498-43B3-948B-1728B52AA6E4}">
                <adec:decorative xmlns:adec="http://schemas.microsoft.com/office/drawing/2017/decorative" val="1"/>
              </a:ext>
            </a:extLst>
          </p:cNvPr>
          <p:cNvSpPr/>
          <p:nvPr/>
        </p:nvSpPr>
        <p:spPr>
          <a:xfrm>
            <a:off x="5449824" y="1993392"/>
            <a:ext cx="1481328" cy="786384"/>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27" name="node accent">
            <a:extLst>
              <a:ext uri="{C183D7F6-B498-43B3-948B-1728B52AA6E4}">
                <adec:decorative xmlns:adec="http://schemas.microsoft.com/office/drawing/2017/decorative" val="1"/>
              </a:ext>
            </a:extLst>
          </p:cNvPr>
          <p:cNvSpPr/>
          <p:nvPr/>
        </p:nvSpPr>
        <p:spPr>
          <a:xfrm>
            <a:off x="5449824" y="1993392"/>
            <a:ext cx="1481328" cy="41148"/>
          </a:xfrm>
          <a:prstGeom prst="rect">
            <a:avLst/>
          </a:prstGeom>
          <a:solidFill>
            <a:srgbClr val="5E8CA8"/>
          </a:solidFill>
          <a:ln w="12700">
            <a:solidFill>
              <a:srgbClr val="333333"/>
            </a:solidFill>
            <a:prstDash val="solid"/>
          </a:ln>
        </p:spPr>
        <p:txBody>
          <a:bodyPr/>
          <a:lstStyle/>
          <a:p>
            <a:endParaRPr lang="en-SE"/>
          </a:p>
        </p:txBody>
      </p:sp>
      <p:sp>
        <p:nvSpPr>
          <p:cNvPr id="28" name="Text 26"/>
          <p:cNvSpPr/>
          <p:nvPr/>
        </p:nvSpPr>
        <p:spPr>
          <a:xfrm>
            <a:off x="5522976" y="2093976"/>
            <a:ext cx="1335024" cy="274320"/>
          </a:xfrm>
          <a:prstGeom prst="rect">
            <a:avLst/>
          </a:prstGeom>
          <a:noFill/>
          <a:ln/>
        </p:spPr>
        <p:txBody>
          <a:bodyPr wrap="square" lIns="0" tIns="0" rIns="0" bIns="0" rtlCol="0" anchor="ctr"/>
          <a:lstStyle/>
          <a:p>
            <a:pPr marL="0" indent="0" algn="ctr">
              <a:buNone/>
            </a:pPr>
            <a:r>
              <a:rPr lang="en-US" sz="1050" b="1" dirty="0">
                <a:solidFill>
                  <a:srgbClr val="EDEEF1"/>
                </a:solidFill>
                <a:latin typeface="Consolas" pitchFamily="34" charset="0"/>
                <a:ea typeface="Consolas" pitchFamily="34" charset="-122"/>
                <a:cs typeface="Consolas" pitchFamily="34" charset="-120"/>
              </a:rPr>
              <a:t>log.db</a:t>
            </a:r>
            <a:endParaRPr lang="en-US" sz="1050" dirty="0"/>
          </a:p>
        </p:txBody>
      </p:sp>
      <p:sp>
        <p:nvSpPr>
          <p:cNvPr id="29" name="Text 27"/>
          <p:cNvSpPr/>
          <p:nvPr/>
        </p:nvSpPr>
        <p:spPr>
          <a:xfrm>
            <a:off x="5522976" y="2340864"/>
            <a:ext cx="1335024" cy="365760"/>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SQLite, on disk</a:t>
            </a:r>
            <a:endParaRPr lang="en-US" sz="850" dirty="0"/>
          </a:p>
        </p:txBody>
      </p:sp>
      <p:sp>
        <p:nvSpPr>
          <p:cNvPr id="30" name="diagram node box">
            <a:extLst>
              <a:ext uri="{C183D7F6-B498-43B3-948B-1728B52AA6E4}">
                <adec:decorative xmlns:adec="http://schemas.microsoft.com/office/drawing/2017/decorative" val="1"/>
              </a:ext>
            </a:extLst>
          </p:cNvPr>
          <p:cNvSpPr/>
          <p:nvPr/>
        </p:nvSpPr>
        <p:spPr>
          <a:xfrm>
            <a:off x="5449824" y="2999232"/>
            <a:ext cx="1481328" cy="786384"/>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31" name="node accent">
            <a:extLst>
              <a:ext uri="{C183D7F6-B498-43B3-948B-1728B52AA6E4}">
                <adec:decorative xmlns:adec="http://schemas.microsoft.com/office/drawing/2017/decorative" val="1"/>
              </a:ext>
            </a:extLst>
          </p:cNvPr>
          <p:cNvSpPr/>
          <p:nvPr/>
        </p:nvSpPr>
        <p:spPr>
          <a:xfrm>
            <a:off x="5449824" y="2999232"/>
            <a:ext cx="1481328" cy="41148"/>
          </a:xfrm>
          <a:prstGeom prst="rect">
            <a:avLst/>
          </a:prstGeom>
          <a:solidFill>
            <a:srgbClr val="8A7EA8"/>
          </a:solidFill>
          <a:ln w="12700">
            <a:solidFill>
              <a:srgbClr val="333333"/>
            </a:solidFill>
            <a:prstDash val="solid"/>
          </a:ln>
        </p:spPr>
        <p:txBody>
          <a:bodyPr/>
          <a:lstStyle/>
          <a:p>
            <a:endParaRPr lang="en-SE"/>
          </a:p>
        </p:txBody>
      </p:sp>
      <p:sp>
        <p:nvSpPr>
          <p:cNvPr id="32" name="Text 30"/>
          <p:cNvSpPr/>
          <p:nvPr/>
        </p:nvSpPr>
        <p:spPr>
          <a:xfrm>
            <a:off x="5522976" y="3099816"/>
            <a:ext cx="1335024" cy="274320"/>
          </a:xfrm>
          <a:prstGeom prst="rect">
            <a:avLst/>
          </a:prstGeom>
          <a:noFill/>
          <a:ln/>
        </p:spPr>
        <p:txBody>
          <a:bodyPr wrap="square" lIns="0" tIns="0" rIns="0" bIns="0" rtlCol="0" anchor="ctr"/>
          <a:lstStyle/>
          <a:p>
            <a:pPr marL="0" indent="0" algn="ctr">
              <a:buNone/>
            </a:pPr>
            <a:r>
              <a:rPr lang="en-US" sz="1050" b="1" dirty="0">
                <a:solidFill>
                  <a:srgbClr val="EDEEF1"/>
                </a:solidFill>
                <a:latin typeface="Consolas" pitchFamily="34" charset="0"/>
                <a:ea typeface="Consolas" pitchFamily="34" charset="-122"/>
                <a:cs typeface="Consolas" pitchFamily="34" charset="-120"/>
              </a:rPr>
              <a:t>LALF-PS</a:t>
            </a:r>
            <a:endParaRPr lang="en-US" sz="1050" dirty="0"/>
          </a:p>
        </p:txBody>
      </p:sp>
      <p:sp>
        <p:nvSpPr>
          <p:cNvPr id="33" name="Text 31"/>
          <p:cNvSpPr/>
          <p:nvPr/>
        </p:nvSpPr>
        <p:spPr>
          <a:xfrm>
            <a:off x="5522976" y="3346704"/>
            <a:ext cx="1335024" cy="365760"/>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ZeroMQ, live</a:t>
            </a:r>
            <a:endParaRPr lang="en-US" sz="850" dirty="0"/>
          </a:p>
        </p:txBody>
      </p:sp>
      <p:sp>
        <p:nvSpPr>
          <p:cNvPr id="34" name="flow arrow">
            <a:extLst>
              <a:ext uri="{C183D7F6-B498-43B3-948B-1728B52AA6E4}">
                <adec:decorative xmlns:adec="http://schemas.microsoft.com/office/drawing/2017/decorative" val="1"/>
              </a:ext>
            </a:extLst>
          </p:cNvPr>
          <p:cNvSpPr/>
          <p:nvPr/>
        </p:nvSpPr>
        <p:spPr>
          <a:xfrm>
            <a:off x="5394960" y="2834640"/>
            <a:ext cx="0" cy="502920"/>
          </a:xfrm>
          <a:prstGeom prst="line">
            <a:avLst/>
          </a:prstGeom>
          <a:noFill/>
          <a:ln w="15240">
            <a:solidFill>
              <a:srgbClr val="444B55"/>
            </a:solidFill>
            <a:prstDash val="solid"/>
            <a:tailEnd type="triangle"/>
          </a:ln>
        </p:spPr>
        <p:txBody>
          <a:bodyPr/>
          <a:lstStyle/>
          <a:p>
            <a:endParaRPr lang="en-SE"/>
          </a:p>
        </p:txBody>
      </p:sp>
      <p:sp>
        <p:nvSpPr>
          <p:cNvPr id="35" name="flow arrow">
            <a:extLst>
              <a:ext uri="{C183D7F6-B498-43B3-948B-1728B52AA6E4}">
                <adec:decorative xmlns:adec="http://schemas.microsoft.com/office/drawing/2017/decorative" val="1"/>
              </a:ext>
            </a:extLst>
          </p:cNvPr>
          <p:cNvSpPr/>
          <p:nvPr/>
        </p:nvSpPr>
        <p:spPr>
          <a:xfrm>
            <a:off x="6986016" y="2386584"/>
            <a:ext cx="384048" cy="0"/>
          </a:xfrm>
          <a:prstGeom prst="line">
            <a:avLst/>
          </a:prstGeom>
          <a:noFill/>
          <a:ln w="15240">
            <a:solidFill>
              <a:srgbClr val="444B55"/>
            </a:solidFill>
            <a:prstDash val="solid"/>
            <a:tailEnd type="triangle"/>
          </a:ln>
        </p:spPr>
        <p:txBody>
          <a:bodyPr/>
          <a:lstStyle/>
          <a:p>
            <a:endParaRPr lang="en-SE"/>
          </a:p>
        </p:txBody>
      </p:sp>
      <p:sp>
        <p:nvSpPr>
          <p:cNvPr id="36" name="flow arrow">
            <a:extLst>
              <a:ext uri="{C183D7F6-B498-43B3-948B-1728B52AA6E4}">
                <adec:decorative xmlns:adec="http://schemas.microsoft.com/office/drawing/2017/decorative" val="1"/>
              </a:ext>
            </a:extLst>
          </p:cNvPr>
          <p:cNvSpPr/>
          <p:nvPr/>
        </p:nvSpPr>
        <p:spPr>
          <a:xfrm>
            <a:off x="6986016" y="3392424"/>
            <a:ext cx="384048" cy="0"/>
          </a:xfrm>
          <a:prstGeom prst="line">
            <a:avLst/>
          </a:prstGeom>
          <a:noFill/>
          <a:ln w="15240">
            <a:solidFill>
              <a:srgbClr val="444B55"/>
            </a:solidFill>
            <a:prstDash val="solid"/>
            <a:tailEnd type="triangle"/>
          </a:ln>
        </p:spPr>
        <p:txBody>
          <a:bodyPr/>
          <a:lstStyle/>
          <a:p>
            <a:endParaRPr lang="en-SE"/>
          </a:p>
        </p:txBody>
      </p:sp>
      <p:sp>
        <p:nvSpPr>
          <p:cNvPr id="37" name="diagram node box">
            <a:extLst>
              <a:ext uri="{C183D7F6-B498-43B3-948B-1728B52AA6E4}">
                <adec:decorative xmlns:adec="http://schemas.microsoft.com/office/drawing/2017/decorative" val="1"/>
              </a:ext>
            </a:extLst>
          </p:cNvPr>
          <p:cNvSpPr/>
          <p:nvPr/>
        </p:nvSpPr>
        <p:spPr>
          <a:xfrm>
            <a:off x="7406640" y="2121408"/>
            <a:ext cx="1170432" cy="548640"/>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38" name="Text 36"/>
          <p:cNvSpPr/>
          <p:nvPr/>
        </p:nvSpPr>
        <p:spPr>
          <a:xfrm>
            <a:off x="7479792" y="2121408"/>
            <a:ext cx="1024128" cy="548640"/>
          </a:xfrm>
          <a:prstGeom prst="rect">
            <a:avLst/>
          </a:prstGeom>
          <a:noFill/>
          <a:ln/>
        </p:spPr>
        <p:txBody>
          <a:bodyPr wrap="square" lIns="0" tIns="0" rIns="0" bIns="0" rtlCol="0" anchor="ctr"/>
          <a:lstStyle/>
          <a:p>
            <a:pPr marL="0" indent="0" algn="ctr">
              <a:buNone/>
            </a:pPr>
            <a:r>
              <a:rPr lang="en-US" sz="900" b="1" dirty="0">
                <a:solidFill>
                  <a:srgbClr val="EDEEF1"/>
                </a:solidFill>
                <a:latin typeface="Consolas" pitchFamily="34" charset="0"/>
                <a:ea typeface="Consolas" pitchFamily="34" charset="-122"/>
                <a:cs typeface="Consolas" pitchFamily="34" charset="-120"/>
              </a:rPr>
              <a:t>pm-log-cli</a:t>
            </a:r>
            <a:endParaRPr lang="en-US" sz="900" dirty="0"/>
          </a:p>
        </p:txBody>
      </p:sp>
      <p:sp>
        <p:nvSpPr>
          <p:cNvPr id="39" name="diagram node box">
            <a:extLst>
              <a:ext uri="{C183D7F6-B498-43B3-948B-1728B52AA6E4}">
                <adec:decorative xmlns:adec="http://schemas.microsoft.com/office/drawing/2017/decorative" val="1"/>
              </a:ext>
            </a:extLst>
          </p:cNvPr>
          <p:cNvSpPr/>
          <p:nvPr/>
        </p:nvSpPr>
        <p:spPr>
          <a:xfrm>
            <a:off x="7406640" y="3127248"/>
            <a:ext cx="1170432" cy="548640"/>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40" name="Text 38"/>
          <p:cNvSpPr/>
          <p:nvPr/>
        </p:nvSpPr>
        <p:spPr>
          <a:xfrm>
            <a:off x="7479792" y="3127248"/>
            <a:ext cx="1024128" cy="548640"/>
          </a:xfrm>
          <a:prstGeom prst="rect">
            <a:avLst/>
          </a:prstGeom>
          <a:noFill/>
          <a:ln/>
        </p:spPr>
        <p:txBody>
          <a:bodyPr wrap="square" lIns="0" tIns="0" rIns="0" bIns="0" rtlCol="0" anchor="ctr"/>
          <a:lstStyle/>
          <a:p>
            <a:pPr marL="0" indent="0" algn="ctr">
              <a:buNone/>
            </a:pPr>
            <a:r>
              <a:rPr lang="en-US" sz="900" b="1" dirty="0">
                <a:solidFill>
                  <a:srgbClr val="EDEEF1"/>
                </a:solidFill>
                <a:latin typeface="Consolas" pitchFamily="34" charset="0"/>
                <a:ea typeface="Consolas" pitchFamily="34" charset="-122"/>
                <a:cs typeface="Consolas" pitchFamily="34" charset="-120"/>
              </a:rPr>
              <a:t>pm-log-ui</a:t>
            </a:r>
            <a:endParaRPr lang="en-US" sz="900" dirty="0"/>
          </a:p>
        </p:txBody>
      </p:sp>
      <p:sp>
        <p:nvSpPr>
          <p:cNvPr id="41" name="Text 39"/>
          <p:cNvSpPr/>
          <p:nvPr/>
        </p:nvSpPr>
        <p:spPr>
          <a:xfrm>
            <a:off x="566928" y="4590288"/>
            <a:ext cx="8010144" cy="457200"/>
          </a:xfrm>
          <a:prstGeom prst="rect">
            <a:avLst/>
          </a:prstGeom>
          <a:noFill/>
          <a:ln/>
        </p:spPr>
        <p:txBody>
          <a:bodyPr wrap="square" lIns="0" tIns="0" rIns="0" bIns="0" rtlCol="0" anchor="t"/>
          <a:lstStyle/>
          <a:p>
            <a:pPr marL="0" indent="0" algn="ctr">
              <a:lnSpc>
                <a:spcPts val="1491"/>
              </a:lnSpc>
              <a:buNone/>
            </a:pPr>
            <a:r>
              <a:rPr lang="en-US" sz="1050" i="1" dirty="0">
                <a:solidFill>
                  <a:srgbClr val="747B87"/>
                </a:solidFill>
                <a:latin typeface="Segoe UI" pitchFamily="34" charset="0"/>
                <a:ea typeface="Segoe UI" pitchFamily="34" charset="-122"/>
                <a:cs typeface="Segoe UI" pitchFamily="34" charset="-120"/>
              </a:rPr>
              <a:t>Three consequences worth remembering: every process is in one ordering, the data outlives the processes, and the tools that read it are completely separate from the one that writes 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LOG DESTINATIONS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11</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Log levels: the dial that decides how much you see</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Every record carries exactly one of five levels. Filtering by level is the single most effective thing you can do when a system is noisy.</a:t>
            </a:r>
            <a:endParaRPr lang="en-US" sz="1400" dirty="0"/>
          </a:p>
        </p:txBody>
      </p:sp>
      <p:sp>
        <p:nvSpPr>
          <p:cNvPr id="8" name="level row">
            <a:extLst>
              <a:ext uri="{C183D7F6-B498-43B3-948B-1728B52AA6E4}">
                <adec:decorative xmlns:adec="http://schemas.microsoft.com/office/drawing/2017/decorative" val="1"/>
              </a:ext>
            </a:extLst>
          </p:cNvPr>
          <p:cNvSpPr/>
          <p:nvPr/>
        </p:nvSpPr>
        <p:spPr>
          <a:xfrm>
            <a:off x="566928" y="1810512"/>
            <a:ext cx="8010144" cy="493776"/>
          </a:xfrm>
          <a:prstGeom prst="rect">
            <a:avLst/>
          </a:prstGeom>
          <a:solidFill>
            <a:srgbClr val="212429"/>
          </a:solidFill>
          <a:ln w="12700">
            <a:solidFill>
              <a:srgbClr val="333333"/>
            </a:solidFill>
            <a:prstDash val="solid"/>
          </a:ln>
        </p:spPr>
        <p:txBody>
          <a:bodyPr/>
          <a:lstStyle/>
          <a:p>
            <a:endParaRPr lang="en-SE"/>
          </a:p>
        </p:txBody>
      </p:sp>
      <p:sp>
        <p:nvSpPr>
          <p:cNvPr id="9" name="level colour marker">
            <a:extLst>
              <a:ext uri="{C183D7F6-B498-43B3-948B-1728B52AA6E4}">
                <adec:decorative xmlns:adec="http://schemas.microsoft.com/office/drawing/2017/decorative" val="1"/>
              </a:ext>
            </a:extLst>
          </p:cNvPr>
          <p:cNvSpPr/>
          <p:nvPr/>
        </p:nvSpPr>
        <p:spPr>
          <a:xfrm>
            <a:off x="566928" y="1810512"/>
            <a:ext cx="54864" cy="493776"/>
          </a:xfrm>
          <a:prstGeom prst="rect">
            <a:avLst/>
          </a:prstGeom>
          <a:solidFill>
            <a:srgbClr val="4E5A6B"/>
          </a:solidFill>
          <a:ln w="12700">
            <a:solidFill>
              <a:srgbClr val="333333"/>
            </a:solidFill>
            <a:prstDash val="solid"/>
          </a:ln>
        </p:spPr>
        <p:txBody>
          <a:bodyPr/>
          <a:lstStyle/>
          <a:p>
            <a:endParaRPr lang="en-SE"/>
          </a:p>
        </p:txBody>
      </p:sp>
      <p:sp>
        <p:nvSpPr>
          <p:cNvPr id="10" name="Text 8"/>
          <p:cNvSpPr/>
          <p:nvPr/>
        </p:nvSpPr>
        <p:spPr>
          <a:xfrm>
            <a:off x="786384" y="1810512"/>
            <a:ext cx="1051560" cy="493776"/>
          </a:xfrm>
          <a:prstGeom prst="rect">
            <a:avLst/>
          </a:prstGeom>
          <a:noFill/>
          <a:ln/>
        </p:spPr>
        <p:txBody>
          <a:bodyPr wrap="square" lIns="0" tIns="0" rIns="0" bIns="0" rtlCol="0" anchor="ctr"/>
          <a:lstStyle/>
          <a:p>
            <a:pPr marL="0" indent="0" algn="l">
              <a:lnSpc>
                <a:spcPts val="1500"/>
              </a:lnSpc>
              <a:buNone/>
            </a:pPr>
            <a:r>
              <a:rPr lang="en-US" sz="1400" dirty="0">
                <a:solidFill>
                  <a:srgbClr val="4E5A6B"/>
                </a:solidFill>
                <a:latin typeface="Consolas" pitchFamily="34" charset="0"/>
                <a:ea typeface="Consolas" pitchFamily="34" charset="-122"/>
                <a:cs typeface="Consolas" pitchFamily="34" charset="-120"/>
              </a:rPr>
              <a:t>DEBUG</a:t>
            </a:r>
            <a:endParaRPr lang="en-US" sz="1400" dirty="0"/>
          </a:p>
        </p:txBody>
      </p:sp>
      <p:sp>
        <p:nvSpPr>
          <p:cNvPr id="11" name="Text 9"/>
          <p:cNvSpPr/>
          <p:nvPr/>
        </p:nvSpPr>
        <p:spPr>
          <a:xfrm>
            <a:off x="1938528" y="1810512"/>
            <a:ext cx="4660392" cy="493776"/>
          </a:xfrm>
          <a:prstGeom prst="rect">
            <a:avLst/>
          </a:prstGeom>
          <a:noFill/>
          <a:ln/>
        </p:spPr>
        <p:txBody>
          <a:bodyPr wrap="square" lIns="0" tIns="0" rIns="0" bIns="0" rtlCol="0" anchor="ctr"/>
          <a:lstStyle/>
          <a:p>
            <a:pPr marL="0" indent="0" algn="l">
              <a:lnSpc>
                <a:spcPts val="1491"/>
              </a:lnSpc>
              <a:buNone/>
            </a:pPr>
            <a:r>
              <a:rPr lang="en-US" sz="1100" dirty="0">
                <a:solidFill>
                  <a:srgbClr val="A3A9B4"/>
                </a:solidFill>
                <a:latin typeface="Segoe UI" pitchFamily="34" charset="0"/>
                <a:ea typeface="Segoe UI" pitchFamily="34" charset="-122"/>
                <a:cs typeface="Segoe UI" pitchFamily="34" charset="-120"/>
              </a:rPr>
              <a:t>Internal detail for developers. Enormous volume — turn on deliberately, turn off again.</a:t>
            </a:r>
            <a:endParaRPr lang="en-US" sz="1100" dirty="0"/>
          </a:p>
        </p:txBody>
      </p:sp>
      <p:sp>
        <p:nvSpPr>
          <p:cNvPr id="12" name="volume track">
            <a:extLst>
              <a:ext uri="{C183D7F6-B498-43B3-948B-1728B52AA6E4}">
                <adec:decorative xmlns:adec="http://schemas.microsoft.com/office/drawing/2017/decorative" val="1"/>
              </a:ext>
            </a:extLst>
          </p:cNvPr>
          <p:cNvSpPr/>
          <p:nvPr/>
        </p:nvSpPr>
        <p:spPr>
          <a:xfrm>
            <a:off x="6720840" y="2011680"/>
            <a:ext cx="1691640" cy="91440"/>
          </a:xfrm>
          <a:prstGeom prst="rect">
            <a:avLst/>
          </a:prstGeom>
          <a:solidFill>
            <a:srgbClr val="23272E"/>
          </a:solidFill>
          <a:ln w="12700">
            <a:solidFill>
              <a:srgbClr val="333333"/>
            </a:solidFill>
            <a:prstDash val="solid"/>
          </a:ln>
        </p:spPr>
        <p:txBody>
          <a:bodyPr/>
          <a:lstStyle/>
          <a:p>
            <a:endParaRPr lang="en-SE"/>
          </a:p>
        </p:txBody>
      </p:sp>
      <p:sp>
        <p:nvSpPr>
          <p:cNvPr id="13" name="relative volume bar">
            <a:extLst>
              <a:ext uri="{C183D7F6-B498-43B3-948B-1728B52AA6E4}">
                <adec:decorative xmlns:adec="http://schemas.microsoft.com/office/drawing/2017/decorative" val="1"/>
              </a:ext>
            </a:extLst>
          </p:cNvPr>
          <p:cNvSpPr/>
          <p:nvPr/>
        </p:nvSpPr>
        <p:spPr>
          <a:xfrm>
            <a:off x="6720840" y="2011680"/>
            <a:ext cx="575158" cy="91440"/>
          </a:xfrm>
          <a:prstGeom prst="rect">
            <a:avLst/>
          </a:prstGeom>
          <a:solidFill>
            <a:srgbClr val="4E5A6B"/>
          </a:solidFill>
          <a:ln w="12700">
            <a:solidFill>
              <a:srgbClr val="333333"/>
            </a:solidFill>
            <a:prstDash val="solid"/>
          </a:ln>
        </p:spPr>
        <p:txBody>
          <a:bodyPr/>
          <a:lstStyle/>
          <a:p>
            <a:endParaRPr lang="en-SE"/>
          </a:p>
        </p:txBody>
      </p:sp>
      <p:sp>
        <p:nvSpPr>
          <p:cNvPr id="14" name="level row">
            <a:extLst>
              <a:ext uri="{C183D7F6-B498-43B3-948B-1728B52AA6E4}">
                <adec:decorative xmlns:adec="http://schemas.microsoft.com/office/drawing/2017/decorative" val="1"/>
              </a:ext>
            </a:extLst>
          </p:cNvPr>
          <p:cNvSpPr/>
          <p:nvPr/>
        </p:nvSpPr>
        <p:spPr>
          <a:xfrm>
            <a:off x="566928" y="2377440"/>
            <a:ext cx="8010144" cy="493776"/>
          </a:xfrm>
          <a:prstGeom prst="rect">
            <a:avLst/>
          </a:prstGeom>
          <a:solidFill>
            <a:srgbClr val="1B1E23"/>
          </a:solidFill>
          <a:ln w="12700">
            <a:solidFill>
              <a:srgbClr val="333333"/>
            </a:solidFill>
            <a:prstDash val="solid"/>
          </a:ln>
        </p:spPr>
        <p:txBody>
          <a:bodyPr/>
          <a:lstStyle/>
          <a:p>
            <a:endParaRPr lang="en-SE"/>
          </a:p>
        </p:txBody>
      </p:sp>
      <p:sp>
        <p:nvSpPr>
          <p:cNvPr id="15" name="level colour marker">
            <a:extLst>
              <a:ext uri="{C183D7F6-B498-43B3-948B-1728B52AA6E4}">
                <adec:decorative xmlns:adec="http://schemas.microsoft.com/office/drawing/2017/decorative" val="1"/>
              </a:ext>
            </a:extLst>
          </p:cNvPr>
          <p:cNvSpPr/>
          <p:nvPr/>
        </p:nvSpPr>
        <p:spPr>
          <a:xfrm>
            <a:off x="566928" y="2377440"/>
            <a:ext cx="54864" cy="493776"/>
          </a:xfrm>
          <a:prstGeom prst="rect">
            <a:avLst/>
          </a:prstGeom>
          <a:solidFill>
            <a:srgbClr val="5E8CA8"/>
          </a:solidFill>
          <a:ln w="12700">
            <a:solidFill>
              <a:srgbClr val="333333"/>
            </a:solidFill>
            <a:prstDash val="solid"/>
          </a:ln>
        </p:spPr>
        <p:txBody>
          <a:bodyPr/>
          <a:lstStyle/>
          <a:p>
            <a:endParaRPr lang="en-SE"/>
          </a:p>
        </p:txBody>
      </p:sp>
      <p:sp>
        <p:nvSpPr>
          <p:cNvPr id="16" name="Text 14"/>
          <p:cNvSpPr/>
          <p:nvPr/>
        </p:nvSpPr>
        <p:spPr>
          <a:xfrm>
            <a:off x="786384" y="2377440"/>
            <a:ext cx="1051560" cy="493776"/>
          </a:xfrm>
          <a:prstGeom prst="rect">
            <a:avLst/>
          </a:prstGeom>
          <a:noFill/>
          <a:ln/>
        </p:spPr>
        <p:txBody>
          <a:bodyPr wrap="square" lIns="0" tIns="0" rIns="0" bIns="0" rtlCol="0" anchor="ctr"/>
          <a:lstStyle/>
          <a:p>
            <a:pPr marL="0" indent="0" algn="l">
              <a:lnSpc>
                <a:spcPts val="1500"/>
              </a:lnSpc>
              <a:buNone/>
            </a:pPr>
            <a:r>
              <a:rPr lang="en-US" sz="1400" dirty="0">
                <a:solidFill>
                  <a:srgbClr val="5E8CA8"/>
                </a:solidFill>
                <a:latin typeface="Consolas" pitchFamily="34" charset="0"/>
                <a:ea typeface="Consolas" pitchFamily="34" charset="-122"/>
                <a:cs typeface="Consolas" pitchFamily="34" charset="-120"/>
              </a:rPr>
              <a:t>INFO</a:t>
            </a:r>
            <a:endParaRPr lang="en-US" sz="1400" dirty="0"/>
          </a:p>
        </p:txBody>
      </p:sp>
      <p:sp>
        <p:nvSpPr>
          <p:cNvPr id="17" name="Text 15"/>
          <p:cNvSpPr/>
          <p:nvPr/>
        </p:nvSpPr>
        <p:spPr>
          <a:xfrm>
            <a:off x="1938528" y="2377440"/>
            <a:ext cx="4660392" cy="493776"/>
          </a:xfrm>
          <a:prstGeom prst="rect">
            <a:avLst/>
          </a:prstGeom>
          <a:noFill/>
          <a:ln/>
        </p:spPr>
        <p:txBody>
          <a:bodyPr wrap="square" lIns="0" tIns="0" rIns="0" bIns="0" rtlCol="0" anchor="ctr"/>
          <a:lstStyle/>
          <a:p>
            <a:pPr marL="0" indent="0" algn="l">
              <a:lnSpc>
                <a:spcPts val="1491"/>
              </a:lnSpc>
              <a:buNone/>
            </a:pPr>
            <a:r>
              <a:rPr lang="en-US" sz="1100" dirty="0">
                <a:solidFill>
                  <a:srgbClr val="A3A9B4"/>
                </a:solidFill>
                <a:latin typeface="Segoe UI" pitchFamily="34" charset="0"/>
                <a:ea typeface="Segoe UI" pitchFamily="34" charset="-122"/>
                <a:cs typeface="Segoe UI" pitchFamily="34" charset="-120"/>
              </a:rPr>
              <a:t>Normal milestones: started, connected, listening. This is the healthy heartbeat of the system.</a:t>
            </a:r>
            <a:endParaRPr lang="en-US" sz="1100" dirty="0"/>
          </a:p>
        </p:txBody>
      </p:sp>
      <p:sp>
        <p:nvSpPr>
          <p:cNvPr id="18" name="volume track">
            <a:extLst>
              <a:ext uri="{C183D7F6-B498-43B3-948B-1728B52AA6E4}">
                <adec:decorative xmlns:adec="http://schemas.microsoft.com/office/drawing/2017/decorative" val="1"/>
              </a:ext>
            </a:extLst>
          </p:cNvPr>
          <p:cNvSpPr/>
          <p:nvPr/>
        </p:nvSpPr>
        <p:spPr>
          <a:xfrm>
            <a:off x="6720840" y="2578608"/>
            <a:ext cx="1691640" cy="91440"/>
          </a:xfrm>
          <a:prstGeom prst="rect">
            <a:avLst/>
          </a:prstGeom>
          <a:solidFill>
            <a:srgbClr val="23272E"/>
          </a:solidFill>
          <a:ln w="12700">
            <a:solidFill>
              <a:srgbClr val="333333"/>
            </a:solidFill>
            <a:prstDash val="solid"/>
          </a:ln>
        </p:spPr>
        <p:txBody>
          <a:bodyPr/>
          <a:lstStyle/>
          <a:p>
            <a:endParaRPr lang="en-SE"/>
          </a:p>
        </p:txBody>
      </p:sp>
      <p:sp>
        <p:nvSpPr>
          <p:cNvPr id="19" name="relative volume bar">
            <a:extLst>
              <a:ext uri="{C183D7F6-B498-43B3-948B-1728B52AA6E4}">
                <adec:decorative xmlns:adec="http://schemas.microsoft.com/office/drawing/2017/decorative" val="1"/>
              </a:ext>
            </a:extLst>
          </p:cNvPr>
          <p:cNvSpPr/>
          <p:nvPr/>
        </p:nvSpPr>
        <p:spPr>
          <a:xfrm>
            <a:off x="6720840" y="2578608"/>
            <a:ext cx="405994" cy="91440"/>
          </a:xfrm>
          <a:prstGeom prst="rect">
            <a:avLst/>
          </a:prstGeom>
          <a:solidFill>
            <a:srgbClr val="5E8CA8"/>
          </a:solidFill>
          <a:ln w="12700">
            <a:solidFill>
              <a:srgbClr val="333333"/>
            </a:solidFill>
            <a:prstDash val="solid"/>
          </a:ln>
        </p:spPr>
        <p:txBody>
          <a:bodyPr/>
          <a:lstStyle/>
          <a:p>
            <a:endParaRPr lang="en-SE"/>
          </a:p>
        </p:txBody>
      </p:sp>
      <p:sp>
        <p:nvSpPr>
          <p:cNvPr id="20" name="level row">
            <a:extLst>
              <a:ext uri="{C183D7F6-B498-43B3-948B-1728B52AA6E4}">
                <adec:decorative xmlns:adec="http://schemas.microsoft.com/office/drawing/2017/decorative" val="1"/>
              </a:ext>
            </a:extLst>
          </p:cNvPr>
          <p:cNvSpPr/>
          <p:nvPr/>
        </p:nvSpPr>
        <p:spPr>
          <a:xfrm>
            <a:off x="566928" y="2944368"/>
            <a:ext cx="8010144" cy="493776"/>
          </a:xfrm>
          <a:prstGeom prst="rect">
            <a:avLst/>
          </a:prstGeom>
          <a:solidFill>
            <a:srgbClr val="212429"/>
          </a:solidFill>
          <a:ln w="12700">
            <a:solidFill>
              <a:srgbClr val="333333"/>
            </a:solidFill>
            <a:prstDash val="solid"/>
          </a:ln>
        </p:spPr>
        <p:txBody>
          <a:bodyPr/>
          <a:lstStyle/>
          <a:p>
            <a:endParaRPr lang="en-SE"/>
          </a:p>
        </p:txBody>
      </p:sp>
      <p:sp>
        <p:nvSpPr>
          <p:cNvPr id="21" name="level colour marker">
            <a:extLst>
              <a:ext uri="{C183D7F6-B498-43B3-948B-1728B52AA6E4}">
                <adec:decorative xmlns:adec="http://schemas.microsoft.com/office/drawing/2017/decorative" val="1"/>
              </a:ext>
            </a:extLst>
          </p:cNvPr>
          <p:cNvSpPr/>
          <p:nvPr/>
        </p:nvSpPr>
        <p:spPr>
          <a:xfrm>
            <a:off x="566928" y="2944368"/>
            <a:ext cx="54864" cy="493776"/>
          </a:xfrm>
          <a:prstGeom prst="rect">
            <a:avLst/>
          </a:prstGeom>
          <a:solidFill>
            <a:srgbClr val="E8A33D"/>
          </a:solidFill>
          <a:ln w="12700">
            <a:solidFill>
              <a:srgbClr val="333333"/>
            </a:solidFill>
            <a:prstDash val="solid"/>
          </a:ln>
        </p:spPr>
        <p:txBody>
          <a:bodyPr/>
          <a:lstStyle/>
          <a:p>
            <a:endParaRPr lang="en-SE"/>
          </a:p>
        </p:txBody>
      </p:sp>
      <p:sp>
        <p:nvSpPr>
          <p:cNvPr id="22" name="Text 20"/>
          <p:cNvSpPr/>
          <p:nvPr/>
        </p:nvSpPr>
        <p:spPr>
          <a:xfrm>
            <a:off x="786384" y="2944368"/>
            <a:ext cx="1051560" cy="493776"/>
          </a:xfrm>
          <a:prstGeom prst="rect">
            <a:avLst/>
          </a:prstGeom>
          <a:noFill/>
          <a:ln/>
        </p:spPr>
        <p:txBody>
          <a:bodyPr wrap="square" lIns="0" tIns="0" rIns="0" bIns="0" rtlCol="0" anchor="ctr"/>
          <a:lstStyle/>
          <a:p>
            <a:pPr marL="0" indent="0" algn="l">
              <a:lnSpc>
                <a:spcPts val="1500"/>
              </a:lnSpc>
              <a:buNone/>
            </a:pPr>
            <a:r>
              <a:rPr lang="en-US" sz="1400" dirty="0">
                <a:solidFill>
                  <a:srgbClr val="E8A33D"/>
                </a:solidFill>
                <a:latin typeface="Consolas" pitchFamily="34" charset="0"/>
                <a:ea typeface="Consolas" pitchFamily="34" charset="-122"/>
                <a:cs typeface="Consolas" pitchFamily="34" charset="-120"/>
              </a:rPr>
              <a:t>WARNING</a:t>
            </a:r>
            <a:endParaRPr lang="en-US" sz="1400" dirty="0"/>
          </a:p>
        </p:txBody>
      </p:sp>
      <p:sp>
        <p:nvSpPr>
          <p:cNvPr id="23" name="Text 21"/>
          <p:cNvSpPr/>
          <p:nvPr/>
        </p:nvSpPr>
        <p:spPr>
          <a:xfrm>
            <a:off x="1938528" y="2944368"/>
            <a:ext cx="4660392" cy="493776"/>
          </a:xfrm>
          <a:prstGeom prst="rect">
            <a:avLst/>
          </a:prstGeom>
          <a:noFill/>
          <a:ln/>
        </p:spPr>
        <p:txBody>
          <a:bodyPr wrap="square" lIns="0" tIns="0" rIns="0" bIns="0" rtlCol="0" anchor="ctr"/>
          <a:lstStyle/>
          <a:p>
            <a:pPr marL="0" indent="0" algn="l">
              <a:lnSpc>
                <a:spcPts val="1491"/>
              </a:lnSpc>
              <a:buNone/>
            </a:pPr>
            <a:r>
              <a:rPr lang="en-US" sz="1100" dirty="0">
                <a:solidFill>
                  <a:srgbClr val="A3A9B4"/>
                </a:solidFill>
                <a:latin typeface="Segoe UI" pitchFamily="34" charset="0"/>
                <a:ea typeface="Segoe UI" pitchFamily="34" charset="-122"/>
                <a:cs typeface="Segoe UI" pitchFamily="34" charset="-120"/>
              </a:rPr>
              <a:t>Something is off but the process continues. This is where an incident usually starts.</a:t>
            </a:r>
            <a:endParaRPr lang="en-US" sz="1100" dirty="0"/>
          </a:p>
        </p:txBody>
      </p:sp>
      <p:sp>
        <p:nvSpPr>
          <p:cNvPr id="24" name="volume track">
            <a:extLst>
              <a:ext uri="{C183D7F6-B498-43B3-948B-1728B52AA6E4}">
                <adec:decorative xmlns:adec="http://schemas.microsoft.com/office/drawing/2017/decorative" val="1"/>
              </a:ext>
            </a:extLst>
          </p:cNvPr>
          <p:cNvSpPr/>
          <p:nvPr/>
        </p:nvSpPr>
        <p:spPr>
          <a:xfrm>
            <a:off x="6720840" y="3145536"/>
            <a:ext cx="1691640" cy="91440"/>
          </a:xfrm>
          <a:prstGeom prst="rect">
            <a:avLst/>
          </a:prstGeom>
          <a:solidFill>
            <a:srgbClr val="23272E"/>
          </a:solidFill>
          <a:ln w="12700">
            <a:solidFill>
              <a:srgbClr val="333333"/>
            </a:solidFill>
            <a:prstDash val="solid"/>
          </a:ln>
        </p:spPr>
        <p:txBody>
          <a:bodyPr/>
          <a:lstStyle/>
          <a:p>
            <a:endParaRPr lang="en-SE"/>
          </a:p>
        </p:txBody>
      </p:sp>
      <p:sp>
        <p:nvSpPr>
          <p:cNvPr id="25" name="relative volume bar">
            <a:extLst>
              <a:ext uri="{C183D7F6-B498-43B3-948B-1728B52AA6E4}">
                <adec:decorative xmlns:adec="http://schemas.microsoft.com/office/drawing/2017/decorative" val="1"/>
              </a:ext>
            </a:extLst>
          </p:cNvPr>
          <p:cNvSpPr/>
          <p:nvPr/>
        </p:nvSpPr>
        <p:spPr>
          <a:xfrm>
            <a:off x="6720840" y="3145536"/>
            <a:ext cx="338328" cy="91440"/>
          </a:xfrm>
          <a:prstGeom prst="rect">
            <a:avLst/>
          </a:prstGeom>
          <a:solidFill>
            <a:srgbClr val="E8A33D"/>
          </a:solidFill>
          <a:ln w="12700">
            <a:solidFill>
              <a:srgbClr val="333333"/>
            </a:solidFill>
            <a:prstDash val="solid"/>
          </a:ln>
        </p:spPr>
        <p:txBody>
          <a:bodyPr/>
          <a:lstStyle/>
          <a:p>
            <a:endParaRPr lang="en-SE"/>
          </a:p>
        </p:txBody>
      </p:sp>
      <p:sp>
        <p:nvSpPr>
          <p:cNvPr id="26" name="level row">
            <a:extLst>
              <a:ext uri="{C183D7F6-B498-43B3-948B-1728B52AA6E4}">
                <adec:decorative xmlns:adec="http://schemas.microsoft.com/office/drawing/2017/decorative" val="1"/>
              </a:ext>
            </a:extLst>
          </p:cNvPr>
          <p:cNvSpPr/>
          <p:nvPr/>
        </p:nvSpPr>
        <p:spPr>
          <a:xfrm>
            <a:off x="566928" y="3511296"/>
            <a:ext cx="8010144" cy="493776"/>
          </a:xfrm>
          <a:prstGeom prst="rect">
            <a:avLst/>
          </a:prstGeom>
          <a:solidFill>
            <a:srgbClr val="1B1E23"/>
          </a:solidFill>
          <a:ln w="12700">
            <a:solidFill>
              <a:srgbClr val="333333"/>
            </a:solidFill>
            <a:prstDash val="solid"/>
          </a:ln>
        </p:spPr>
        <p:txBody>
          <a:bodyPr/>
          <a:lstStyle/>
          <a:p>
            <a:endParaRPr lang="en-SE"/>
          </a:p>
        </p:txBody>
      </p:sp>
      <p:sp>
        <p:nvSpPr>
          <p:cNvPr id="27" name="level colour marker">
            <a:extLst>
              <a:ext uri="{C183D7F6-B498-43B3-948B-1728B52AA6E4}">
                <adec:decorative xmlns:adec="http://schemas.microsoft.com/office/drawing/2017/decorative" val="1"/>
              </a:ext>
            </a:extLst>
          </p:cNvPr>
          <p:cNvSpPr/>
          <p:nvPr/>
        </p:nvSpPr>
        <p:spPr>
          <a:xfrm>
            <a:off x="566928" y="3511296"/>
            <a:ext cx="54864" cy="493776"/>
          </a:xfrm>
          <a:prstGeom prst="rect">
            <a:avLst/>
          </a:prstGeom>
          <a:solidFill>
            <a:srgbClr val="C97A4C"/>
          </a:solidFill>
          <a:ln w="12700">
            <a:solidFill>
              <a:srgbClr val="333333"/>
            </a:solidFill>
            <a:prstDash val="solid"/>
          </a:ln>
        </p:spPr>
        <p:txBody>
          <a:bodyPr/>
          <a:lstStyle/>
          <a:p>
            <a:endParaRPr lang="en-SE"/>
          </a:p>
        </p:txBody>
      </p:sp>
      <p:sp>
        <p:nvSpPr>
          <p:cNvPr id="28" name="Text 26"/>
          <p:cNvSpPr/>
          <p:nvPr/>
        </p:nvSpPr>
        <p:spPr>
          <a:xfrm>
            <a:off x="786384" y="3511296"/>
            <a:ext cx="1051560" cy="493776"/>
          </a:xfrm>
          <a:prstGeom prst="rect">
            <a:avLst/>
          </a:prstGeom>
          <a:noFill/>
          <a:ln/>
        </p:spPr>
        <p:txBody>
          <a:bodyPr wrap="square" lIns="0" tIns="0" rIns="0" bIns="0" rtlCol="0" anchor="ctr"/>
          <a:lstStyle/>
          <a:p>
            <a:pPr marL="0" indent="0" algn="l">
              <a:lnSpc>
                <a:spcPts val="1500"/>
              </a:lnSpc>
              <a:buNone/>
            </a:pPr>
            <a:r>
              <a:rPr lang="en-US" sz="1400" dirty="0">
                <a:solidFill>
                  <a:srgbClr val="C97A4C"/>
                </a:solidFill>
                <a:latin typeface="Consolas" pitchFamily="34" charset="0"/>
                <a:ea typeface="Consolas" pitchFamily="34" charset="-122"/>
                <a:cs typeface="Consolas" pitchFamily="34" charset="-120"/>
              </a:rPr>
              <a:t>ERROR</a:t>
            </a:r>
            <a:endParaRPr lang="en-US" sz="1400" dirty="0"/>
          </a:p>
        </p:txBody>
      </p:sp>
      <p:sp>
        <p:nvSpPr>
          <p:cNvPr id="29" name="Text 27"/>
          <p:cNvSpPr/>
          <p:nvPr/>
        </p:nvSpPr>
        <p:spPr>
          <a:xfrm>
            <a:off x="1938528" y="3511296"/>
            <a:ext cx="4660392" cy="493776"/>
          </a:xfrm>
          <a:prstGeom prst="rect">
            <a:avLst/>
          </a:prstGeom>
          <a:noFill/>
          <a:ln/>
        </p:spPr>
        <p:txBody>
          <a:bodyPr wrap="square" lIns="0" tIns="0" rIns="0" bIns="0" rtlCol="0" anchor="ctr"/>
          <a:lstStyle/>
          <a:p>
            <a:pPr marL="0" indent="0" algn="l">
              <a:lnSpc>
                <a:spcPts val="1491"/>
              </a:lnSpc>
              <a:buNone/>
            </a:pPr>
            <a:r>
              <a:rPr lang="en-US" sz="1100" dirty="0">
                <a:solidFill>
                  <a:srgbClr val="A3A9B4"/>
                </a:solidFill>
                <a:latin typeface="Segoe UI" pitchFamily="34" charset="0"/>
                <a:ea typeface="Segoe UI" pitchFamily="34" charset="-122"/>
                <a:cs typeface="Segoe UI" pitchFamily="34" charset="-120"/>
              </a:rPr>
              <a:t>An operation failed. Often carries a traceback you can read directly.</a:t>
            </a:r>
            <a:endParaRPr lang="en-US" sz="1100" dirty="0"/>
          </a:p>
        </p:txBody>
      </p:sp>
      <p:sp>
        <p:nvSpPr>
          <p:cNvPr id="30" name="volume track">
            <a:extLst>
              <a:ext uri="{C183D7F6-B498-43B3-948B-1728B52AA6E4}">
                <adec:decorative xmlns:adec="http://schemas.microsoft.com/office/drawing/2017/decorative" val="1"/>
              </a:ext>
            </a:extLst>
          </p:cNvPr>
          <p:cNvSpPr/>
          <p:nvPr/>
        </p:nvSpPr>
        <p:spPr>
          <a:xfrm>
            <a:off x="6720840" y="3712464"/>
            <a:ext cx="1691640" cy="91440"/>
          </a:xfrm>
          <a:prstGeom prst="rect">
            <a:avLst/>
          </a:prstGeom>
          <a:solidFill>
            <a:srgbClr val="23272E"/>
          </a:solidFill>
          <a:ln w="12700">
            <a:solidFill>
              <a:srgbClr val="333333"/>
            </a:solidFill>
            <a:prstDash val="solid"/>
          </a:ln>
        </p:spPr>
        <p:txBody>
          <a:bodyPr/>
          <a:lstStyle/>
          <a:p>
            <a:endParaRPr lang="en-SE"/>
          </a:p>
        </p:txBody>
      </p:sp>
      <p:sp>
        <p:nvSpPr>
          <p:cNvPr id="31" name="relative volume bar">
            <a:extLst>
              <a:ext uri="{C183D7F6-B498-43B3-948B-1728B52AA6E4}">
                <adec:decorative xmlns:adec="http://schemas.microsoft.com/office/drawing/2017/decorative" val="1"/>
              </a:ext>
            </a:extLst>
          </p:cNvPr>
          <p:cNvSpPr/>
          <p:nvPr/>
        </p:nvSpPr>
        <p:spPr>
          <a:xfrm>
            <a:off x="6720840" y="3712464"/>
            <a:ext cx="236830" cy="91440"/>
          </a:xfrm>
          <a:prstGeom prst="rect">
            <a:avLst/>
          </a:prstGeom>
          <a:solidFill>
            <a:srgbClr val="C97A4C"/>
          </a:solidFill>
          <a:ln w="12700">
            <a:solidFill>
              <a:srgbClr val="333333"/>
            </a:solidFill>
            <a:prstDash val="solid"/>
          </a:ln>
        </p:spPr>
        <p:txBody>
          <a:bodyPr/>
          <a:lstStyle/>
          <a:p>
            <a:endParaRPr lang="en-SE"/>
          </a:p>
        </p:txBody>
      </p:sp>
      <p:sp>
        <p:nvSpPr>
          <p:cNvPr id="32" name="level row">
            <a:extLst>
              <a:ext uri="{C183D7F6-B498-43B3-948B-1728B52AA6E4}">
                <adec:decorative xmlns:adec="http://schemas.microsoft.com/office/drawing/2017/decorative" val="1"/>
              </a:ext>
            </a:extLst>
          </p:cNvPr>
          <p:cNvSpPr/>
          <p:nvPr/>
        </p:nvSpPr>
        <p:spPr>
          <a:xfrm>
            <a:off x="566928" y="4078224"/>
            <a:ext cx="8010144" cy="493776"/>
          </a:xfrm>
          <a:prstGeom prst="rect">
            <a:avLst/>
          </a:prstGeom>
          <a:solidFill>
            <a:srgbClr val="212429"/>
          </a:solidFill>
          <a:ln w="12700">
            <a:solidFill>
              <a:srgbClr val="333333"/>
            </a:solidFill>
            <a:prstDash val="solid"/>
          </a:ln>
        </p:spPr>
        <p:txBody>
          <a:bodyPr/>
          <a:lstStyle/>
          <a:p>
            <a:endParaRPr lang="en-SE"/>
          </a:p>
        </p:txBody>
      </p:sp>
      <p:sp>
        <p:nvSpPr>
          <p:cNvPr id="33" name="level colour marker">
            <a:extLst>
              <a:ext uri="{C183D7F6-B498-43B3-948B-1728B52AA6E4}">
                <adec:decorative xmlns:adec="http://schemas.microsoft.com/office/drawing/2017/decorative" val="1"/>
              </a:ext>
            </a:extLst>
          </p:cNvPr>
          <p:cNvSpPr/>
          <p:nvPr/>
        </p:nvSpPr>
        <p:spPr>
          <a:xfrm>
            <a:off x="566928" y="4078224"/>
            <a:ext cx="54864" cy="493776"/>
          </a:xfrm>
          <a:prstGeom prst="rect">
            <a:avLst/>
          </a:prstGeom>
          <a:solidFill>
            <a:srgbClr val="C9584C"/>
          </a:solidFill>
          <a:ln w="12700">
            <a:solidFill>
              <a:srgbClr val="333333"/>
            </a:solidFill>
            <a:prstDash val="solid"/>
          </a:ln>
        </p:spPr>
        <p:txBody>
          <a:bodyPr/>
          <a:lstStyle/>
          <a:p>
            <a:endParaRPr lang="en-SE"/>
          </a:p>
        </p:txBody>
      </p:sp>
      <p:sp>
        <p:nvSpPr>
          <p:cNvPr id="34" name="Text 32"/>
          <p:cNvSpPr/>
          <p:nvPr/>
        </p:nvSpPr>
        <p:spPr>
          <a:xfrm>
            <a:off x="786384" y="4078224"/>
            <a:ext cx="1051560" cy="493776"/>
          </a:xfrm>
          <a:prstGeom prst="rect">
            <a:avLst/>
          </a:prstGeom>
          <a:noFill/>
          <a:ln/>
        </p:spPr>
        <p:txBody>
          <a:bodyPr wrap="square" lIns="0" tIns="0" rIns="0" bIns="0" rtlCol="0" anchor="ctr"/>
          <a:lstStyle/>
          <a:p>
            <a:pPr marL="0" indent="0" algn="l">
              <a:lnSpc>
                <a:spcPts val="1500"/>
              </a:lnSpc>
              <a:buNone/>
            </a:pPr>
            <a:r>
              <a:rPr lang="en-US" sz="1400" dirty="0">
                <a:solidFill>
                  <a:srgbClr val="C9584C"/>
                </a:solidFill>
                <a:latin typeface="Consolas" pitchFamily="34" charset="0"/>
                <a:ea typeface="Consolas" pitchFamily="34" charset="-122"/>
                <a:cs typeface="Consolas" pitchFamily="34" charset="-120"/>
              </a:rPr>
              <a:t>CRITICAL</a:t>
            </a:r>
            <a:endParaRPr lang="en-US" sz="1400" dirty="0"/>
          </a:p>
        </p:txBody>
      </p:sp>
      <p:sp>
        <p:nvSpPr>
          <p:cNvPr id="35" name="Text 33"/>
          <p:cNvSpPr/>
          <p:nvPr/>
        </p:nvSpPr>
        <p:spPr>
          <a:xfrm>
            <a:off x="1938528" y="4078224"/>
            <a:ext cx="4660392" cy="493776"/>
          </a:xfrm>
          <a:prstGeom prst="rect">
            <a:avLst/>
          </a:prstGeom>
          <a:noFill/>
          <a:ln/>
        </p:spPr>
        <p:txBody>
          <a:bodyPr wrap="square" lIns="0" tIns="0" rIns="0" bIns="0" rtlCol="0" anchor="ctr"/>
          <a:lstStyle/>
          <a:p>
            <a:pPr marL="0" indent="0" algn="l">
              <a:lnSpc>
                <a:spcPts val="1491"/>
              </a:lnSpc>
              <a:buNone/>
            </a:pPr>
            <a:r>
              <a:rPr lang="en-US" sz="1100" dirty="0">
                <a:solidFill>
                  <a:srgbClr val="A3A9B4"/>
                </a:solidFill>
                <a:latin typeface="Segoe UI" pitchFamily="34" charset="0"/>
                <a:ea typeface="Segoe UI" pitchFamily="34" charset="-122"/>
                <a:cs typeface="Segoe UI" pitchFamily="34" charset="-120"/>
              </a:rPr>
              <a:t>The process cannot continue doing its job. Always investigate.</a:t>
            </a:r>
            <a:endParaRPr lang="en-US" sz="1100" dirty="0"/>
          </a:p>
        </p:txBody>
      </p:sp>
      <p:sp>
        <p:nvSpPr>
          <p:cNvPr id="36" name="volume track">
            <a:extLst>
              <a:ext uri="{C183D7F6-B498-43B3-948B-1728B52AA6E4}">
                <adec:decorative xmlns:adec="http://schemas.microsoft.com/office/drawing/2017/decorative" val="1"/>
              </a:ext>
            </a:extLst>
          </p:cNvPr>
          <p:cNvSpPr/>
          <p:nvPr/>
        </p:nvSpPr>
        <p:spPr>
          <a:xfrm>
            <a:off x="6720840" y="4279392"/>
            <a:ext cx="1691640" cy="91440"/>
          </a:xfrm>
          <a:prstGeom prst="rect">
            <a:avLst/>
          </a:prstGeom>
          <a:solidFill>
            <a:srgbClr val="23272E"/>
          </a:solidFill>
          <a:ln w="12700">
            <a:solidFill>
              <a:srgbClr val="333333"/>
            </a:solidFill>
            <a:prstDash val="solid"/>
          </a:ln>
        </p:spPr>
        <p:txBody>
          <a:bodyPr/>
          <a:lstStyle/>
          <a:p>
            <a:endParaRPr lang="en-SE"/>
          </a:p>
        </p:txBody>
      </p:sp>
      <p:sp>
        <p:nvSpPr>
          <p:cNvPr id="37" name="relative volume bar">
            <a:extLst>
              <a:ext uri="{C183D7F6-B498-43B3-948B-1728B52AA6E4}">
                <adec:decorative xmlns:adec="http://schemas.microsoft.com/office/drawing/2017/decorative" val="1"/>
              </a:ext>
            </a:extLst>
          </p:cNvPr>
          <p:cNvSpPr/>
          <p:nvPr/>
        </p:nvSpPr>
        <p:spPr>
          <a:xfrm>
            <a:off x="6720840" y="4279392"/>
            <a:ext cx="135331" cy="91440"/>
          </a:xfrm>
          <a:prstGeom prst="rect">
            <a:avLst/>
          </a:prstGeom>
          <a:solidFill>
            <a:srgbClr val="C9584C"/>
          </a:solidFill>
          <a:ln w="12700">
            <a:solidFill>
              <a:srgbClr val="333333"/>
            </a:solidFill>
            <a:prstDash val="solid"/>
          </a:ln>
        </p:spPr>
        <p:txBody>
          <a:bodyPr/>
          <a:lstStyle/>
          <a:p>
            <a:endParaRPr lang="en-SE"/>
          </a:p>
        </p:txBody>
      </p:sp>
      <p:sp>
        <p:nvSpPr>
          <p:cNvPr id="38" name="Text 36"/>
          <p:cNvSpPr/>
          <p:nvPr/>
        </p:nvSpPr>
        <p:spPr>
          <a:xfrm>
            <a:off x="566928" y="4681728"/>
            <a:ext cx="8010144" cy="365760"/>
          </a:xfrm>
          <a:prstGeom prst="rect">
            <a:avLst/>
          </a:prstGeom>
          <a:noFill/>
          <a:ln/>
        </p:spPr>
        <p:txBody>
          <a:bodyPr wrap="square" lIns="0" tIns="0" rIns="0" bIns="0" rtlCol="0" anchor="t"/>
          <a:lstStyle/>
          <a:p>
            <a:pPr marL="0" indent="0" algn="l">
              <a:lnSpc>
                <a:spcPts val="1349"/>
              </a:lnSpc>
              <a:buNone/>
            </a:pPr>
            <a:r>
              <a:rPr lang="en-US" sz="950" i="1" dirty="0">
                <a:solidFill>
                  <a:srgbClr val="747B87"/>
                </a:solidFill>
                <a:latin typeface="Segoe UI" pitchFamily="34" charset="0"/>
                <a:ea typeface="Segoe UI" pitchFamily="34" charset="-122"/>
                <a:cs typeface="Segoe UI" pitchFamily="34" charset="-120"/>
              </a:rPr>
              <a:t>Bar length shows typical relative volume: DEBUG dominates, CRITICAL is rare. Filtering to WARNING and above is the usual starting point on a busy day.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03</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How logs are stored</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400" dirty="0">
                <a:solidFill>
                  <a:srgbClr val="A3A9B4"/>
                </a:solidFill>
                <a:latin typeface="Segoe UI" pitchFamily="34" charset="0"/>
                <a:ea typeface="Segoe UI" pitchFamily="34" charset="-122"/>
                <a:cs typeface="Segoe UI" pitchFamily="34" charset="-120"/>
              </a:rPr>
              <a:t>One SQLite file, one row per record, one monotonic sequence number.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STORAGE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13</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log.db — one SQLite file, not a pile of rotated text</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SQLite was chosen for a reason: it is a single ordinary file that any tool can open read-only, with no server, no daemon, and no format to parse yourself.</a:t>
            </a:r>
            <a:endParaRPr lang="en-US" sz="1400" dirty="0"/>
          </a:p>
        </p:txBody>
      </p:sp>
      <p:sp>
        <p:nvSpPr>
          <p:cNvPr id="8" name="card background">
            <a:extLst>
              <a:ext uri="{C183D7F6-B498-43B3-948B-1728B52AA6E4}">
                <adec:decorative xmlns:adec="http://schemas.microsoft.com/office/drawing/2017/decorative" val="1"/>
              </a:ext>
            </a:extLst>
          </p:cNvPr>
          <p:cNvSpPr/>
          <p:nvPr/>
        </p:nvSpPr>
        <p:spPr>
          <a:xfrm>
            <a:off x="566928" y="1883664"/>
            <a:ext cx="1856232" cy="10607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883664"/>
            <a:ext cx="1856232" cy="45720"/>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713232" y="2029968"/>
            <a:ext cx="1563624" cy="530352"/>
          </a:xfrm>
          <a:prstGeom prst="rect">
            <a:avLst/>
          </a:prstGeom>
          <a:noFill/>
          <a:ln/>
        </p:spPr>
        <p:txBody>
          <a:bodyPr wrap="square" lIns="0" tIns="0" rIns="0" bIns="0" rtlCol="0" anchor="ctr"/>
          <a:lstStyle/>
          <a:p>
            <a:pPr marL="0" indent="0" algn="l">
              <a:buNone/>
            </a:pPr>
            <a:r>
              <a:rPr lang="en-US" sz="2200" dirty="0">
                <a:solidFill>
                  <a:srgbClr val="E8A33D"/>
                </a:solidFill>
                <a:latin typeface="Georgia" pitchFamily="34" charset="0"/>
                <a:ea typeface="Georgia" pitchFamily="34" charset="-122"/>
                <a:cs typeface="Georgia" pitchFamily="34" charset="-120"/>
              </a:rPr>
              <a:t>1</a:t>
            </a:r>
            <a:endParaRPr lang="en-US" sz="2200" dirty="0"/>
          </a:p>
        </p:txBody>
      </p:sp>
      <p:sp>
        <p:nvSpPr>
          <p:cNvPr id="11" name="Text 9"/>
          <p:cNvSpPr/>
          <p:nvPr/>
        </p:nvSpPr>
        <p:spPr>
          <a:xfrm>
            <a:off x="713232" y="2520086"/>
            <a:ext cx="1563624" cy="360639"/>
          </a:xfrm>
          <a:prstGeom prst="rect">
            <a:avLst/>
          </a:prstGeom>
          <a:noFill/>
          <a:ln/>
        </p:spPr>
        <p:txBody>
          <a:bodyPr wrap="square" lIns="0" tIns="0" rIns="0" bIns="0" rtlCol="0" anchor="t"/>
          <a:lstStyle/>
          <a:p>
            <a:pPr marL="0" indent="0">
              <a:lnSpc>
                <a:spcPts val="1250"/>
              </a:lnSpc>
              <a:buNone/>
            </a:pPr>
            <a:r>
              <a:rPr lang="en-US" sz="1100" dirty="0">
                <a:solidFill>
                  <a:srgbClr val="A3A9B4"/>
                </a:solidFill>
                <a:latin typeface="Segoe UI" pitchFamily="34" charset="0"/>
                <a:ea typeface="Segoe UI" pitchFamily="34" charset="-122"/>
                <a:cs typeface="Segoe UI" pitchFamily="34" charset="-120"/>
              </a:rPr>
              <a:t>single file on disk — copy it, archive it, mail it</a:t>
            </a:r>
            <a:endParaRPr lang="en-US" sz="1100" dirty="0"/>
          </a:p>
        </p:txBody>
      </p:sp>
      <p:sp>
        <p:nvSpPr>
          <p:cNvPr id="12" name="card background">
            <a:extLst>
              <a:ext uri="{C183D7F6-B498-43B3-948B-1728B52AA6E4}">
                <adec:decorative xmlns:adec="http://schemas.microsoft.com/office/drawing/2017/decorative" val="1"/>
              </a:ext>
            </a:extLst>
          </p:cNvPr>
          <p:cNvSpPr/>
          <p:nvPr/>
        </p:nvSpPr>
        <p:spPr>
          <a:xfrm>
            <a:off x="2606040" y="1883664"/>
            <a:ext cx="1856232" cy="10607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3" name="card top accent">
            <a:extLst>
              <a:ext uri="{C183D7F6-B498-43B3-948B-1728B52AA6E4}">
                <adec:decorative xmlns:adec="http://schemas.microsoft.com/office/drawing/2017/decorative" val="1"/>
              </a:ext>
            </a:extLst>
          </p:cNvPr>
          <p:cNvSpPr/>
          <p:nvPr/>
        </p:nvSpPr>
        <p:spPr>
          <a:xfrm>
            <a:off x="2606040" y="1883664"/>
            <a:ext cx="1856232" cy="45720"/>
          </a:xfrm>
          <a:prstGeom prst="rect">
            <a:avLst/>
          </a:prstGeom>
          <a:solidFill>
            <a:srgbClr val="5E8CA8"/>
          </a:solidFill>
          <a:ln w="12700">
            <a:solidFill>
              <a:srgbClr val="333333"/>
            </a:solidFill>
            <a:prstDash val="solid"/>
          </a:ln>
        </p:spPr>
        <p:txBody>
          <a:bodyPr/>
          <a:lstStyle/>
          <a:p>
            <a:endParaRPr lang="en-SE"/>
          </a:p>
        </p:txBody>
      </p:sp>
      <p:sp>
        <p:nvSpPr>
          <p:cNvPr id="14" name="Text 12"/>
          <p:cNvSpPr/>
          <p:nvPr/>
        </p:nvSpPr>
        <p:spPr>
          <a:xfrm>
            <a:off x="2752344" y="2029968"/>
            <a:ext cx="1563624" cy="530352"/>
          </a:xfrm>
          <a:prstGeom prst="rect">
            <a:avLst/>
          </a:prstGeom>
          <a:noFill/>
          <a:ln/>
        </p:spPr>
        <p:txBody>
          <a:bodyPr wrap="square" lIns="0" tIns="0" rIns="0" bIns="0" rtlCol="0" anchor="ctr"/>
          <a:lstStyle/>
          <a:p>
            <a:pPr marL="0" indent="0" algn="l">
              <a:buNone/>
            </a:pPr>
            <a:r>
              <a:rPr lang="en-US" sz="2200" dirty="0">
                <a:solidFill>
                  <a:srgbClr val="5E8CA8"/>
                </a:solidFill>
                <a:latin typeface="Georgia" pitchFamily="34" charset="0"/>
                <a:ea typeface="Georgia" pitchFamily="34" charset="-122"/>
                <a:cs typeface="Georgia" pitchFamily="34" charset="-120"/>
              </a:rPr>
              <a:t>SQL</a:t>
            </a:r>
            <a:endParaRPr lang="en-US" sz="2200" dirty="0"/>
          </a:p>
        </p:txBody>
      </p:sp>
      <p:sp>
        <p:nvSpPr>
          <p:cNvPr id="15" name="Text 13"/>
          <p:cNvSpPr/>
          <p:nvPr/>
        </p:nvSpPr>
        <p:spPr>
          <a:xfrm>
            <a:off x="2752344" y="2520086"/>
            <a:ext cx="1563624" cy="360639"/>
          </a:xfrm>
          <a:prstGeom prst="rect">
            <a:avLst/>
          </a:prstGeom>
          <a:noFill/>
          <a:ln/>
        </p:spPr>
        <p:txBody>
          <a:bodyPr wrap="square" lIns="0" tIns="0" rIns="0" bIns="0" rtlCol="0" anchor="t"/>
          <a:lstStyle/>
          <a:p>
            <a:pPr marL="0" indent="0">
              <a:lnSpc>
                <a:spcPts val="1250"/>
              </a:lnSpc>
              <a:buNone/>
            </a:pPr>
            <a:r>
              <a:rPr lang="en-US" sz="1100" dirty="0">
                <a:solidFill>
                  <a:srgbClr val="A3A9B4"/>
                </a:solidFill>
                <a:latin typeface="Segoe UI" pitchFamily="34" charset="0"/>
                <a:ea typeface="Segoe UI" pitchFamily="34" charset="-122"/>
                <a:cs typeface="Segoe UI" pitchFamily="34" charset="-120"/>
              </a:rPr>
              <a:t>any tool that speaks SQL can read it, live</a:t>
            </a:r>
            <a:endParaRPr lang="en-US" sz="1100" dirty="0"/>
          </a:p>
        </p:txBody>
      </p:sp>
      <p:sp>
        <p:nvSpPr>
          <p:cNvPr id="16" name="card background">
            <a:extLst>
              <a:ext uri="{C183D7F6-B498-43B3-948B-1728B52AA6E4}">
                <adec:decorative xmlns:adec="http://schemas.microsoft.com/office/drawing/2017/decorative" val="1"/>
              </a:ext>
            </a:extLst>
          </p:cNvPr>
          <p:cNvSpPr/>
          <p:nvPr/>
        </p:nvSpPr>
        <p:spPr>
          <a:xfrm>
            <a:off x="4645152" y="1883664"/>
            <a:ext cx="1856232" cy="10607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7" name="card top accent">
            <a:extLst>
              <a:ext uri="{C183D7F6-B498-43B3-948B-1728B52AA6E4}">
                <adec:decorative xmlns:adec="http://schemas.microsoft.com/office/drawing/2017/decorative" val="1"/>
              </a:ext>
            </a:extLst>
          </p:cNvPr>
          <p:cNvSpPr/>
          <p:nvPr/>
        </p:nvSpPr>
        <p:spPr>
          <a:xfrm>
            <a:off x="4645152" y="1883664"/>
            <a:ext cx="1856232" cy="45720"/>
          </a:xfrm>
          <a:prstGeom prst="rect">
            <a:avLst/>
          </a:prstGeom>
          <a:solidFill>
            <a:srgbClr val="6FA88A"/>
          </a:solidFill>
          <a:ln w="12700">
            <a:solidFill>
              <a:srgbClr val="333333"/>
            </a:solidFill>
            <a:prstDash val="solid"/>
          </a:ln>
        </p:spPr>
        <p:txBody>
          <a:bodyPr/>
          <a:lstStyle/>
          <a:p>
            <a:endParaRPr lang="en-SE"/>
          </a:p>
        </p:txBody>
      </p:sp>
      <p:sp>
        <p:nvSpPr>
          <p:cNvPr id="18" name="Text 16"/>
          <p:cNvSpPr/>
          <p:nvPr/>
        </p:nvSpPr>
        <p:spPr>
          <a:xfrm>
            <a:off x="4791456" y="2029968"/>
            <a:ext cx="1563624" cy="530352"/>
          </a:xfrm>
          <a:prstGeom prst="rect">
            <a:avLst/>
          </a:prstGeom>
          <a:noFill/>
          <a:ln/>
        </p:spPr>
        <p:txBody>
          <a:bodyPr wrap="square" lIns="0" tIns="0" rIns="0" bIns="0" rtlCol="0" anchor="ctr"/>
          <a:lstStyle/>
          <a:p>
            <a:pPr marL="0" indent="0" algn="l">
              <a:buNone/>
            </a:pPr>
            <a:r>
              <a:rPr lang="en-US" sz="2200" dirty="0">
                <a:solidFill>
                  <a:srgbClr val="6FA88A"/>
                </a:solidFill>
                <a:latin typeface="Georgia" pitchFamily="34" charset="0"/>
                <a:ea typeface="Georgia" pitchFamily="34" charset="-122"/>
                <a:cs typeface="Georgia" pitchFamily="34" charset="-120"/>
              </a:rPr>
              <a:t>R/O</a:t>
            </a:r>
            <a:endParaRPr lang="en-US" sz="2200" dirty="0"/>
          </a:p>
        </p:txBody>
      </p:sp>
      <p:sp>
        <p:nvSpPr>
          <p:cNvPr id="19" name="Text 17"/>
          <p:cNvSpPr/>
          <p:nvPr/>
        </p:nvSpPr>
        <p:spPr>
          <a:xfrm>
            <a:off x="4791456" y="2520086"/>
            <a:ext cx="1563624" cy="360639"/>
          </a:xfrm>
          <a:prstGeom prst="rect">
            <a:avLst/>
          </a:prstGeom>
          <a:noFill/>
          <a:ln/>
        </p:spPr>
        <p:txBody>
          <a:bodyPr wrap="square" lIns="0" tIns="0" rIns="0" bIns="0" rtlCol="0" anchor="t"/>
          <a:lstStyle/>
          <a:p>
            <a:pPr marL="0" indent="0">
              <a:lnSpc>
                <a:spcPts val="1250"/>
              </a:lnSpc>
              <a:buNone/>
            </a:pPr>
            <a:r>
              <a:rPr lang="en-US" sz="1100" dirty="0">
                <a:solidFill>
                  <a:srgbClr val="A3A9B4"/>
                </a:solidFill>
                <a:latin typeface="Segoe UI" pitchFamily="34" charset="0"/>
                <a:ea typeface="Segoe UI" pitchFamily="34" charset="-122"/>
                <a:cs typeface="Segoe UI" pitchFamily="34" charset="-120"/>
              </a:rPr>
              <a:t>readers never block or corrupt the collector</a:t>
            </a:r>
            <a:endParaRPr lang="en-US" sz="1100" dirty="0"/>
          </a:p>
        </p:txBody>
      </p:sp>
      <p:sp>
        <p:nvSpPr>
          <p:cNvPr id="20" name="card background">
            <a:extLst>
              <a:ext uri="{C183D7F6-B498-43B3-948B-1728B52AA6E4}">
                <adec:decorative xmlns:adec="http://schemas.microsoft.com/office/drawing/2017/decorative" val="1"/>
              </a:ext>
            </a:extLst>
          </p:cNvPr>
          <p:cNvSpPr/>
          <p:nvPr/>
        </p:nvSpPr>
        <p:spPr>
          <a:xfrm>
            <a:off x="6684264" y="1883664"/>
            <a:ext cx="1856232" cy="10607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1" name="card top accent">
            <a:extLst>
              <a:ext uri="{C183D7F6-B498-43B3-948B-1728B52AA6E4}">
                <adec:decorative xmlns:adec="http://schemas.microsoft.com/office/drawing/2017/decorative" val="1"/>
              </a:ext>
            </a:extLst>
          </p:cNvPr>
          <p:cNvSpPr/>
          <p:nvPr/>
        </p:nvSpPr>
        <p:spPr>
          <a:xfrm>
            <a:off x="6684264" y="1883664"/>
            <a:ext cx="1856232" cy="45720"/>
          </a:xfrm>
          <a:prstGeom prst="rect">
            <a:avLst/>
          </a:prstGeom>
          <a:solidFill>
            <a:srgbClr val="8A7EA8"/>
          </a:solidFill>
          <a:ln w="12700">
            <a:solidFill>
              <a:srgbClr val="333333"/>
            </a:solidFill>
            <a:prstDash val="solid"/>
          </a:ln>
        </p:spPr>
        <p:txBody>
          <a:bodyPr/>
          <a:lstStyle/>
          <a:p>
            <a:endParaRPr lang="en-SE"/>
          </a:p>
        </p:txBody>
      </p:sp>
      <p:sp>
        <p:nvSpPr>
          <p:cNvPr id="22" name="Text 20"/>
          <p:cNvSpPr/>
          <p:nvPr/>
        </p:nvSpPr>
        <p:spPr>
          <a:xfrm>
            <a:off x="6830568" y="2029968"/>
            <a:ext cx="1563624" cy="530352"/>
          </a:xfrm>
          <a:prstGeom prst="rect">
            <a:avLst/>
          </a:prstGeom>
          <a:noFill/>
          <a:ln/>
        </p:spPr>
        <p:txBody>
          <a:bodyPr wrap="square" lIns="0" tIns="0" rIns="0" bIns="0" rtlCol="0" anchor="ctr"/>
          <a:lstStyle/>
          <a:p>
            <a:pPr marL="0" indent="0" algn="l">
              <a:buNone/>
            </a:pPr>
            <a:r>
              <a:rPr lang="en-US" sz="2200" dirty="0">
                <a:solidFill>
                  <a:srgbClr val="8A7EA8"/>
                </a:solidFill>
                <a:latin typeface="Georgia" pitchFamily="34" charset="0"/>
                <a:ea typeface="Georgia" pitchFamily="34" charset="-122"/>
                <a:cs typeface="Georgia" pitchFamily="34" charset="-120"/>
              </a:rPr>
              <a:t>seq</a:t>
            </a:r>
            <a:endParaRPr lang="en-US" sz="2200" dirty="0"/>
          </a:p>
        </p:txBody>
      </p:sp>
      <p:sp>
        <p:nvSpPr>
          <p:cNvPr id="23" name="Text 21"/>
          <p:cNvSpPr/>
          <p:nvPr/>
        </p:nvSpPr>
        <p:spPr>
          <a:xfrm>
            <a:off x="6830568" y="2520086"/>
            <a:ext cx="1563624" cy="360639"/>
          </a:xfrm>
          <a:prstGeom prst="rect">
            <a:avLst/>
          </a:prstGeom>
          <a:noFill/>
          <a:ln/>
        </p:spPr>
        <p:txBody>
          <a:bodyPr wrap="square" lIns="0" tIns="0" rIns="0" bIns="0" rtlCol="0" anchor="t"/>
          <a:lstStyle/>
          <a:p>
            <a:pPr marL="0" indent="0">
              <a:lnSpc>
                <a:spcPts val="1250"/>
              </a:lnSpc>
              <a:buNone/>
            </a:pPr>
            <a:r>
              <a:rPr lang="en-US" sz="1100" dirty="0">
                <a:solidFill>
                  <a:srgbClr val="A3A9B4"/>
                </a:solidFill>
                <a:latin typeface="Segoe UI" pitchFamily="34" charset="0"/>
                <a:ea typeface="Segoe UI" pitchFamily="34" charset="-122"/>
                <a:cs typeface="Segoe UI" pitchFamily="34" charset="-120"/>
              </a:rPr>
              <a:t>server-assigned monotonic ordering key</a:t>
            </a:r>
            <a:endParaRPr lang="en-US" sz="1100" dirty="0"/>
          </a:p>
        </p:txBody>
      </p:sp>
      <p:sp>
        <p:nvSpPr>
          <p:cNvPr id="24" name="card background">
            <a:extLst>
              <a:ext uri="{C183D7F6-B498-43B3-948B-1728B52AA6E4}">
                <adec:decorative xmlns:adec="http://schemas.microsoft.com/office/drawing/2017/decorative" val="1"/>
              </a:ext>
            </a:extLst>
          </p:cNvPr>
          <p:cNvSpPr/>
          <p:nvPr/>
        </p:nvSpPr>
        <p:spPr>
          <a:xfrm>
            <a:off x="566928" y="3127248"/>
            <a:ext cx="8010144" cy="1389888"/>
          </a:xfrm>
          <a:prstGeom prst="rect">
            <a:avLst/>
          </a:prstGeom>
          <a:solidFill>
            <a:srgbClr val="101216"/>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5" name="card accent edge">
            <a:extLst>
              <a:ext uri="{C183D7F6-B498-43B3-948B-1728B52AA6E4}">
                <adec:decorative xmlns:adec="http://schemas.microsoft.com/office/drawing/2017/decorative" val="1"/>
              </a:ext>
            </a:extLst>
          </p:cNvPr>
          <p:cNvSpPr/>
          <p:nvPr/>
        </p:nvSpPr>
        <p:spPr>
          <a:xfrm>
            <a:off x="566928" y="3127248"/>
            <a:ext cx="50292" cy="1389888"/>
          </a:xfrm>
          <a:prstGeom prst="rect">
            <a:avLst/>
          </a:prstGeom>
          <a:solidFill>
            <a:srgbClr val="7A5A24"/>
          </a:solidFill>
          <a:ln w="12700">
            <a:solidFill>
              <a:srgbClr val="333333"/>
            </a:solidFill>
            <a:prstDash val="solid"/>
          </a:ln>
        </p:spPr>
        <p:txBody>
          <a:bodyPr/>
          <a:lstStyle/>
          <a:p>
            <a:endParaRPr lang="en-SE"/>
          </a:p>
        </p:txBody>
      </p:sp>
      <p:sp>
        <p:nvSpPr>
          <p:cNvPr id="26" name="Text 24"/>
          <p:cNvSpPr/>
          <p:nvPr/>
        </p:nvSpPr>
        <p:spPr>
          <a:xfrm>
            <a:off x="822960" y="3273552"/>
            <a:ext cx="3657600" cy="219456"/>
          </a:xfrm>
          <a:prstGeom prst="rect">
            <a:avLst/>
          </a:prstGeom>
          <a:noFill/>
          <a:ln/>
        </p:spPr>
        <p:txBody>
          <a:bodyPr wrap="square" lIns="0" tIns="0" rIns="0" bIns="0" rtlCol="0" anchor="ctr"/>
          <a:lstStyle/>
          <a:p>
            <a:pPr marL="0" indent="0" algn="l">
              <a:buNone/>
            </a:pPr>
            <a:r>
              <a:rPr lang="en-US" sz="850" b="1" kern="0" spc="180" dirty="0">
                <a:solidFill>
                  <a:srgbClr val="E8A33D"/>
                </a:solidFill>
                <a:latin typeface="Segoe UI" pitchFamily="34" charset="0"/>
                <a:ea typeface="Segoe UI" pitchFamily="34" charset="-122"/>
                <a:cs typeface="Segoe UI" pitchFamily="34" charset="-120"/>
              </a:rPr>
              <a:t>WHAT ONE STORED ROW CARRIES</a:t>
            </a:r>
            <a:endParaRPr lang="en-US" sz="850" dirty="0"/>
          </a:p>
        </p:txBody>
      </p:sp>
      <p:sp>
        <p:nvSpPr>
          <p:cNvPr id="27" name="Text 25"/>
          <p:cNvSpPr/>
          <p:nvPr/>
        </p:nvSpPr>
        <p:spPr>
          <a:xfrm>
            <a:off x="822960" y="3566160"/>
            <a:ext cx="7498080" cy="731520"/>
          </a:xfrm>
          <a:prstGeom prst="rect">
            <a:avLst/>
          </a:prstGeom>
          <a:noFill/>
          <a:ln/>
        </p:spPr>
        <p:txBody>
          <a:bodyPr wrap="square" lIns="0" tIns="0" rIns="0" bIns="0" rtlCol="0" anchor="t"/>
          <a:lstStyle/>
          <a:p>
            <a:pPr marL="0" indent="0" algn="l">
              <a:lnSpc>
                <a:spcPts val="1700"/>
              </a:lnSpc>
              <a:buNone/>
            </a:pPr>
            <a:r>
              <a:rPr lang="en-US" sz="1050" dirty="0">
                <a:solidFill>
                  <a:srgbClr val="F6C978"/>
                </a:solidFill>
                <a:latin typeface="Consolas" pitchFamily="34" charset="0"/>
                <a:ea typeface="Consolas" pitchFamily="34" charset="-122"/>
                <a:cs typeface="Consolas" pitchFamily="34" charset="-120"/>
              </a:rPr>
              <a:t>seq   client_ts   process   instance   pid   host   session   level   logger   module   line   message   exc   truncated</a:t>
            </a:r>
            <a:endParaRPr lang="en-US" sz="1050" dirty="0"/>
          </a:p>
        </p:txBody>
      </p:sp>
      <p:sp>
        <p:nvSpPr>
          <p:cNvPr id="28" name="Text 26"/>
          <p:cNvSpPr/>
          <p:nvPr/>
        </p:nvSpPr>
        <p:spPr>
          <a:xfrm>
            <a:off x="566928" y="4626864"/>
            <a:ext cx="8010144" cy="365760"/>
          </a:xfrm>
          <a:prstGeom prst="rect">
            <a:avLst/>
          </a:prstGeom>
          <a:noFill/>
          <a:ln/>
        </p:spPr>
        <p:txBody>
          <a:bodyPr wrap="square" lIns="0" tIns="0" rIns="0" bIns="0" rtlCol="0" anchor="t"/>
          <a:lstStyle/>
          <a:p>
            <a:pPr marL="0" indent="0" algn="l">
              <a:lnSpc>
                <a:spcPts val="1420"/>
              </a:lnSpc>
              <a:buNone/>
            </a:pPr>
            <a:r>
              <a:rPr lang="en-US" sz="1000" i="1" dirty="0">
                <a:solidFill>
                  <a:srgbClr val="747B87"/>
                </a:solidFill>
                <a:latin typeface="Segoe UI" pitchFamily="34" charset="0"/>
                <a:ea typeface="Segoe UI" pitchFamily="34" charset="-122"/>
                <a:cs typeface="Segoe UI" pitchFamily="34" charset="-120"/>
              </a:rPr>
              <a:t>Two tables in practice: log_events holds the records; a connection registry records which process connected when, from where, and how much it has logged.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STORAGE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14</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Anatomy of a single log record</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This is what a process sends, and what you get back when you query. Learn these field names once — every tool in the chain uses them.</a:t>
            </a:r>
            <a:endParaRPr lang="en-US" sz="1400" dirty="0"/>
          </a:p>
        </p:txBody>
      </p:sp>
      <p:sp>
        <p:nvSpPr>
          <p:cNvPr id="8" name="code panel">
            <a:extLst>
              <a:ext uri="{C183D7F6-B498-43B3-948B-1728B52AA6E4}">
                <adec:decorative xmlns:adec="http://schemas.microsoft.com/office/drawing/2017/decorative" val="1"/>
              </a:ext>
            </a:extLst>
          </p:cNvPr>
          <p:cNvSpPr/>
          <p:nvPr/>
        </p:nvSpPr>
        <p:spPr>
          <a:xfrm>
            <a:off x="566928" y="1755648"/>
            <a:ext cx="8010144" cy="960120"/>
          </a:xfrm>
          <a:prstGeom prst="rect">
            <a:avLst/>
          </a:prstGeom>
          <a:solidFill>
            <a:srgbClr val="101216"/>
          </a:solidFill>
          <a:ln w="12700">
            <a:solidFill>
              <a:srgbClr val="343941"/>
            </a:solidFill>
            <a:prstDash val="solid"/>
          </a:ln>
        </p:spPr>
        <p:txBody>
          <a:bodyPr/>
          <a:lstStyle/>
          <a:p>
            <a:endParaRPr lang="en-SE"/>
          </a:p>
        </p:txBody>
      </p:sp>
      <p:sp>
        <p:nvSpPr>
          <p:cNvPr id="9" name="code accent edge">
            <a:extLst>
              <a:ext uri="{C183D7F6-B498-43B3-948B-1728B52AA6E4}">
                <adec:decorative xmlns:adec="http://schemas.microsoft.com/office/drawing/2017/decorative" val="1"/>
              </a:ext>
            </a:extLst>
          </p:cNvPr>
          <p:cNvSpPr/>
          <p:nvPr/>
        </p:nvSpPr>
        <p:spPr>
          <a:xfrm>
            <a:off x="566928" y="1755648"/>
            <a:ext cx="41148" cy="960120"/>
          </a:xfrm>
          <a:prstGeom prst="rect">
            <a:avLst/>
          </a:prstGeom>
          <a:solidFill>
            <a:srgbClr val="7A5A24"/>
          </a:solidFill>
          <a:ln w="12700">
            <a:solidFill>
              <a:srgbClr val="333333"/>
            </a:solidFill>
            <a:prstDash val="solid"/>
          </a:ln>
        </p:spPr>
        <p:txBody>
          <a:bodyPr/>
          <a:lstStyle/>
          <a:p>
            <a:endParaRPr lang="en-SE"/>
          </a:p>
        </p:txBody>
      </p:sp>
      <p:sp>
        <p:nvSpPr>
          <p:cNvPr id="10" name="Text 8"/>
          <p:cNvSpPr/>
          <p:nvPr/>
        </p:nvSpPr>
        <p:spPr>
          <a:xfrm>
            <a:off x="768096" y="1828800"/>
            <a:ext cx="7607808" cy="237744"/>
          </a:xfrm>
          <a:prstGeom prst="rect">
            <a:avLst/>
          </a:prstGeom>
          <a:noFill/>
          <a:ln/>
        </p:spPr>
        <p:txBody>
          <a:bodyPr wrap="square" lIns="0" tIns="0" rIns="0" bIns="0" rtlCol="0" anchor="ctr"/>
          <a:lstStyle/>
          <a:p>
            <a:pPr marL="0" indent="0">
              <a:buNone/>
            </a:pPr>
            <a:r>
              <a:rPr lang="en-US" sz="850" b="1" kern="0" spc="160" dirty="0">
                <a:solidFill>
                  <a:srgbClr val="747B87"/>
                </a:solidFill>
                <a:latin typeface="Segoe UI" pitchFamily="34" charset="0"/>
                <a:ea typeface="Segoe UI" pitchFamily="34" charset="-122"/>
                <a:cs typeface="Segoe UI" pitchFamily="34" charset="-120"/>
              </a:rPr>
              <a:t>ONE RECORD ON THE WIRE</a:t>
            </a:r>
            <a:endParaRPr lang="en-US" sz="850" dirty="0"/>
          </a:p>
        </p:txBody>
      </p:sp>
      <p:sp>
        <p:nvSpPr>
          <p:cNvPr id="11" name="code divider">
            <a:extLst>
              <a:ext uri="{C183D7F6-B498-43B3-948B-1728B52AA6E4}">
                <adec:decorative xmlns:adec="http://schemas.microsoft.com/office/drawing/2017/decorative" val="1"/>
              </a:ext>
            </a:extLst>
          </p:cNvPr>
          <p:cNvSpPr/>
          <p:nvPr/>
        </p:nvSpPr>
        <p:spPr>
          <a:xfrm>
            <a:off x="768096" y="2075688"/>
            <a:ext cx="7607808" cy="7315"/>
          </a:xfrm>
          <a:prstGeom prst="rect">
            <a:avLst/>
          </a:prstGeom>
          <a:solidFill>
            <a:srgbClr val="343941"/>
          </a:solidFill>
          <a:ln w="12700">
            <a:solidFill>
              <a:srgbClr val="333333"/>
            </a:solidFill>
            <a:prstDash val="solid"/>
          </a:ln>
        </p:spPr>
        <p:txBody>
          <a:bodyPr/>
          <a:lstStyle/>
          <a:p>
            <a:endParaRPr lang="en-SE"/>
          </a:p>
        </p:txBody>
      </p:sp>
      <p:sp>
        <p:nvSpPr>
          <p:cNvPr id="12" name="Text 10"/>
          <p:cNvSpPr/>
          <p:nvPr/>
        </p:nvSpPr>
        <p:spPr>
          <a:xfrm>
            <a:off x="786384" y="2139696"/>
            <a:ext cx="7589520" cy="429768"/>
          </a:xfrm>
          <a:prstGeom prst="rect">
            <a:avLst/>
          </a:prstGeom>
          <a:noFill/>
          <a:ln/>
        </p:spPr>
        <p:txBody>
          <a:bodyPr wrap="square" lIns="0" tIns="0" rIns="0" bIns="0" rtlCol="0" anchor="t"/>
          <a:lstStyle/>
          <a:p>
            <a:pPr marL="0" indent="0">
              <a:lnSpc>
                <a:spcPts val="1692"/>
              </a:lnSpc>
              <a:buNone/>
            </a:pPr>
            <a:r>
              <a:rPr lang="en-US" sz="1100" dirty="0">
                <a:solidFill>
                  <a:srgbClr val="F6C978"/>
                </a:solidFill>
                <a:latin typeface="Consolas" pitchFamily="34" charset="0"/>
                <a:ea typeface="Consolas" pitchFamily="34" charset="-122"/>
                <a:cs typeface="Consolas" pitchFamily="34" charset="-120"/>
              </a:rPr>
              <a:t>LOG|SEQ=1042|TS=2026-07-28T14:32:07.511Z|LEVEL=WARNING|LOGGER=edumatcher.md_gateway.gateway|LEN=57</a:t>
            </a:r>
            <a:endParaRPr lang="en-US" sz="1100" dirty="0"/>
          </a:p>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slow client detected on channel DEPTH, symbol AAPL, dropping</a:t>
            </a:r>
            <a:endParaRPr lang="en-US" sz="1100" dirty="0"/>
          </a:p>
        </p:txBody>
      </p:sp>
      <p:sp>
        <p:nvSpPr>
          <p:cNvPr id="13" name="field card">
            <a:extLst>
              <a:ext uri="{C183D7F6-B498-43B3-948B-1728B52AA6E4}">
                <adec:decorative xmlns:adec="http://schemas.microsoft.com/office/drawing/2017/decorative" val="1"/>
              </a:ext>
            </a:extLst>
          </p:cNvPr>
          <p:cNvSpPr/>
          <p:nvPr/>
        </p:nvSpPr>
        <p:spPr>
          <a:xfrm>
            <a:off x="566928" y="2724912"/>
            <a:ext cx="3877056" cy="566928"/>
          </a:xfrm>
          <a:prstGeom prst="rect">
            <a:avLst/>
          </a:prstGeom>
          <a:solidFill>
            <a:srgbClr val="212429"/>
          </a:solidFill>
          <a:ln w="12700">
            <a:solidFill>
              <a:srgbClr val="343941"/>
            </a:solidFill>
            <a:prstDash val="solid"/>
          </a:ln>
        </p:spPr>
        <p:txBody>
          <a:bodyPr/>
          <a:lstStyle/>
          <a:p>
            <a:endParaRPr lang="en-SE"/>
          </a:p>
        </p:txBody>
      </p:sp>
      <p:sp>
        <p:nvSpPr>
          <p:cNvPr id="14" name="field accent">
            <a:extLst>
              <a:ext uri="{C183D7F6-B498-43B3-948B-1728B52AA6E4}">
                <adec:decorative xmlns:adec="http://schemas.microsoft.com/office/drawing/2017/decorative" val="1"/>
              </a:ext>
            </a:extLst>
          </p:cNvPr>
          <p:cNvSpPr/>
          <p:nvPr/>
        </p:nvSpPr>
        <p:spPr>
          <a:xfrm>
            <a:off x="566928" y="2724912"/>
            <a:ext cx="45720" cy="566928"/>
          </a:xfrm>
          <a:prstGeom prst="rect">
            <a:avLst/>
          </a:prstGeom>
          <a:solidFill>
            <a:srgbClr val="E8A33D"/>
          </a:solidFill>
          <a:ln w="12700">
            <a:solidFill>
              <a:srgbClr val="333333"/>
            </a:solidFill>
            <a:prstDash val="solid"/>
          </a:ln>
        </p:spPr>
        <p:txBody>
          <a:bodyPr/>
          <a:lstStyle/>
          <a:p>
            <a:endParaRPr lang="en-SE"/>
          </a:p>
        </p:txBody>
      </p:sp>
      <p:sp>
        <p:nvSpPr>
          <p:cNvPr id="15" name="Text 13"/>
          <p:cNvSpPr/>
          <p:nvPr/>
        </p:nvSpPr>
        <p:spPr>
          <a:xfrm>
            <a:off x="749808" y="2779776"/>
            <a:ext cx="1463040" cy="219456"/>
          </a:xfrm>
          <a:prstGeom prst="rect">
            <a:avLst/>
          </a:prstGeom>
          <a:noFill/>
          <a:ln/>
        </p:spPr>
        <p:txBody>
          <a:bodyPr wrap="square" lIns="0" tIns="0" rIns="0" bIns="0" rtlCol="0" anchor="ctr"/>
          <a:lstStyle/>
          <a:p>
            <a:pPr marL="0" indent="0" algn="l">
              <a:lnSpc>
                <a:spcPts val="1500"/>
              </a:lnSpc>
              <a:buNone/>
            </a:pPr>
            <a:r>
              <a:rPr lang="en-US" sz="1200" dirty="0">
                <a:solidFill>
                  <a:srgbClr val="E8A33D"/>
                </a:solidFill>
                <a:latin typeface="Consolas" pitchFamily="34" charset="0"/>
                <a:ea typeface="Consolas" pitchFamily="34" charset="-122"/>
                <a:cs typeface="Consolas" pitchFamily="34" charset="-120"/>
              </a:rPr>
              <a:t>SEQ</a:t>
            </a:r>
            <a:endParaRPr lang="en-US" sz="1200" dirty="0"/>
          </a:p>
        </p:txBody>
      </p:sp>
      <p:sp>
        <p:nvSpPr>
          <p:cNvPr id="16" name="Text 14"/>
          <p:cNvSpPr/>
          <p:nvPr/>
        </p:nvSpPr>
        <p:spPr>
          <a:xfrm>
            <a:off x="749808" y="2999232"/>
            <a:ext cx="3566160" cy="256032"/>
          </a:xfrm>
          <a:prstGeom prst="rect">
            <a:avLst/>
          </a:prstGeom>
          <a:noFill/>
          <a:ln/>
        </p:spPr>
        <p:txBody>
          <a:bodyPr wrap="square" lIns="0" tIns="0" rIns="0" bIns="0" rtlCol="0" anchor="t"/>
          <a:lstStyle/>
          <a:p>
            <a:pPr marL="0" indent="0" algn="l">
              <a:lnSpc>
                <a:spcPts val="1349"/>
              </a:lnSpc>
              <a:buNone/>
            </a:pPr>
            <a:r>
              <a:rPr lang="en-US" sz="1050" dirty="0">
                <a:solidFill>
                  <a:srgbClr val="A3A9B4"/>
                </a:solidFill>
                <a:latin typeface="Segoe UI" pitchFamily="34" charset="0"/>
                <a:ea typeface="Segoe UI" pitchFamily="34" charset="-122"/>
                <a:cs typeface="Segoe UI" pitchFamily="34" charset="-120"/>
              </a:rPr>
              <a:t>Position in this connection's stream. Restarts at 1 on reconnect.</a:t>
            </a:r>
            <a:endParaRPr lang="en-US" sz="1050" dirty="0"/>
          </a:p>
        </p:txBody>
      </p:sp>
      <p:sp>
        <p:nvSpPr>
          <p:cNvPr id="17" name="field card">
            <a:extLst>
              <a:ext uri="{C183D7F6-B498-43B3-948B-1728B52AA6E4}">
                <adec:decorative xmlns:adec="http://schemas.microsoft.com/office/drawing/2017/decorative" val="1"/>
              </a:ext>
            </a:extLst>
          </p:cNvPr>
          <p:cNvSpPr/>
          <p:nvPr/>
        </p:nvSpPr>
        <p:spPr>
          <a:xfrm>
            <a:off x="4681728" y="2724912"/>
            <a:ext cx="3877056" cy="566928"/>
          </a:xfrm>
          <a:prstGeom prst="rect">
            <a:avLst/>
          </a:prstGeom>
          <a:solidFill>
            <a:srgbClr val="212429"/>
          </a:solidFill>
          <a:ln w="12700">
            <a:solidFill>
              <a:srgbClr val="343941"/>
            </a:solidFill>
            <a:prstDash val="solid"/>
          </a:ln>
        </p:spPr>
        <p:txBody>
          <a:bodyPr/>
          <a:lstStyle/>
          <a:p>
            <a:endParaRPr lang="en-SE"/>
          </a:p>
        </p:txBody>
      </p:sp>
      <p:sp>
        <p:nvSpPr>
          <p:cNvPr id="18" name="field accent">
            <a:extLst>
              <a:ext uri="{C183D7F6-B498-43B3-948B-1728B52AA6E4}">
                <adec:decorative xmlns:adec="http://schemas.microsoft.com/office/drawing/2017/decorative" val="1"/>
              </a:ext>
            </a:extLst>
          </p:cNvPr>
          <p:cNvSpPr/>
          <p:nvPr/>
        </p:nvSpPr>
        <p:spPr>
          <a:xfrm>
            <a:off x="4681728" y="2724912"/>
            <a:ext cx="45720" cy="566928"/>
          </a:xfrm>
          <a:prstGeom prst="rect">
            <a:avLst/>
          </a:prstGeom>
          <a:solidFill>
            <a:srgbClr val="5E8CA8"/>
          </a:solidFill>
          <a:ln w="12700">
            <a:solidFill>
              <a:srgbClr val="333333"/>
            </a:solidFill>
            <a:prstDash val="solid"/>
          </a:ln>
        </p:spPr>
        <p:txBody>
          <a:bodyPr/>
          <a:lstStyle/>
          <a:p>
            <a:endParaRPr lang="en-SE"/>
          </a:p>
        </p:txBody>
      </p:sp>
      <p:sp>
        <p:nvSpPr>
          <p:cNvPr id="19" name="Text 17"/>
          <p:cNvSpPr/>
          <p:nvPr/>
        </p:nvSpPr>
        <p:spPr>
          <a:xfrm>
            <a:off x="4864608" y="2779776"/>
            <a:ext cx="1463040" cy="219456"/>
          </a:xfrm>
          <a:prstGeom prst="rect">
            <a:avLst/>
          </a:prstGeom>
          <a:noFill/>
          <a:ln/>
        </p:spPr>
        <p:txBody>
          <a:bodyPr wrap="square" lIns="0" tIns="0" rIns="0" bIns="0" rtlCol="0" anchor="ctr"/>
          <a:lstStyle/>
          <a:p>
            <a:pPr marL="0" indent="0" algn="l">
              <a:lnSpc>
                <a:spcPts val="1500"/>
              </a:lnSpc>
              <a:buNone/>
            </a:pPr>
            <a:r>
              <a:rPr lang="en-US" sz="1200" dirty="0">
                <a:solidFill>
                  <a:srgbClr val="5E8CA8"/>
                </a:solidFill>
                <a:latin typeface="Consolas" pitchFamily="34" charset="0"/>
                <a:ea typeface="Consolas" pitchFamily="34" charset="-122"/>
                <a:cs typeface="Consolas" pitchFamily="34" charset="-120"/>
              </a:rPr>
              <a:t>TS</a:t>
            </a:r>
            <a:endParaRPr lang="en-US" sz="1200" dirty="0"/>
          </a:p>
        </p:txBody>
      </p:sp>
      <p:sp>
        <p:nvSpPr>
          <p:cNvPr id="20" name="Text 18"/>
          <p:cNvSpPr/>
          <p:nvPr/>
        </p:nvSpPr>
        <p:spPr>
          <a:xfrm>
            <a:off x="4864608" y="2999232"/>
            <a:ext cx="3566160" cy="256032"/>
          </a:xfrm>
          <a:prstGeom prst="rect">
            <a:avLst/>
          </a:prstGeom>
          <a:noFill/>
          <a:ln/>
        </p:spPr>
        <p:txBody>
          <a:bodyPr wrap="square" lIns="0" tIns="0" rIns="0" bIns="0" rtlCol="0" anchor="t"/>
          <a:lstStyle/>
          <a:p>
            <a:pPr marL="0" indent="0" algn="l">
              <a:lnSpc>
                <a:spcPts val="1349"/>
              </a:lnSpc>
              <a:buNone/>
            </a:pPr>
            <a:r>
              <a:rPr lang="en-US" sz="1050" dirty="0">
                <a:solidFill>
                  <a:srgbClr val="A3A9B4"/>
                </a:solidFill>
                <a:latin typeface="Segoe UI" pitchFamily="34" charset="0"/>
                <a:ea typeface="Segoe UI" pitchFamily="34" charset="-122"/>
                <a:cs typeface="Segoe UI" pitchFamily="34" charset="-120"/>
              </a:rPr>
              <a:t>UTC timestamp with milliseconds, set by the sending process.</a:t>
            </a:r>
            <a:endParaRPr lang="en-US" sz="1050" dirty="0"/>
          </a:p>
        </p:txBody>
      </p:sp>
      <p:sp>
        <p:nvSpPr>
          <p:cNvPr id="21" name="field card">
            <a:extLst>
              <a:ext uri="{C183D7F6-B498-43B3-948B-1728B52AA6E4}">
                <adec:decorative xmlns:adec="http://schemas.microsoft.com/office/drawing/2017/decorative" val="1"/>
              </a:ext>
            </a:extLst>
          </p:cNvPr>
          <p:cNvSpPr/>
          <p:nvPr/>
        </p:nvSpPr>
        <p:spPr>
          <a:xfrm>
            <a:off x="566928" y="3401568"/>
            <a:ext cx="3877056" cy="566928"/>
          </a:xfrm>
          <a:prstGeom prst="rect">
            <a:avLst/>
          </a:prstGeom>
          <a:solidFill>
            <a:srgbClr val="212429"/>
          </a:solidFill>
          <a:ln w="12700">
            <a:solidFill>
              <a:srgbClr val="343941"/>
            </a:solidFill>
            <a:prstDash val="solid"/>
          </a:ln>
        </p:spPr>
        <p:txBody>
          <a:bodyPr/>
          <a:lstStyle/>
          <a:p>
            <a:endParaRPr lang="en-SE"/>
          </a:p>
        </p:txBody>
      </p:sp>
      <p:sp>
        <p:nvSpPr>
          <p:cNvPr id="22" name="field accent">
            <a:extLst>
              <a:ext uri="{C183D7F6-B498-43B3-948B-1728B52AA6E4}">
                <adec:decorative xmlns:adec="http://schemas.microsoft.com/office/drawing/2017/decorative" val="1"/>
              </a:ext>
            </a:extLst>
          </p:cNvPr>
          <p:cNvSpPr/>
          <p:nvPr/>
        </p:nvSpPr>
        <p:spPr>
          <a:xfrm>
            <a:off x="566928" y="3401568"/>
            <a:ext cx="45720" cy="566928"/>
          </a:xfrm>
          <a:prstGeom prst="rect">
            <a:avLst/>
          </a:prstGeom>
          <a:solidFill>
            <a:srgbClr val="C9584C"/>
          </a:solidFill>
          <a:ln w="12700">
            <a:solidFill>
              <a:srgbClr val="333333"/>
            </a:solidFill>
            <a:prstDash val="solid"/>
          </a:ln>
        </p:spPr>
        <p:txBody>
          <a:bodyPr/>
          <a:lstStyle/>
          <a:p>
            <a:endParaRPr lang="en-SE"/>
          </a:p>
        </p:txBody>
      </p:sp>
      <p:sp>
        <p:nvSpPr>
          <p:cNvPr id="23" name="Text 21"/>
          <p:cNvSpPr/>
          <p:nvPr/>
        </p:nvSpPr>
        <p:spPr>
          <a:xfrm>
            <a:off x="749808" y="3456432"/>
            <a:ext cx="1463040" cy="219456"/>
          </a:xfrm>
          <a:prstGeom prst="rect">
            <a:avLst/>
          </a:prstGeom>
          <a:noFill/>
          <a:ln/>
        </p:spPr>
        <p:txBody>
          <a:bodyPr wrap="square" lIns="0" tIns="0" rIns="0" bIns="0" rtlCol="0" anchor="ctr"/>
          <a:lstStyle/>
          <a:p>
            <a:pPr marL="0" indent="0" algn="l">
              <a:lnSpc>
                <a:spcPts val="1500"/>
              </a:lnSpc>
              <a:buNone/>
            </a:pPr>
            <a:r>
              <a:rPr lang="en-US" sz="1200" dirty="0">
                <a:solidFill>
                  <a:srgbClr val="C9584C"/>
                </a:solidFill>
                <a:latin typeface="Consolas" pitchFamily="34" charset="0"/>
                <a:ea typeface="Consolas" pitchFamily="34" charset="-122"/>
                <a:cs typeface="Consolas" pitchFamily="34" charset="-120"/>
              </a:rPr>
              <a:t>LEVEL</a:t>
            </a:r>
            <a:endParaRPr lang="en-US" sz="1200" dirty="0"/>
          </a:p>
        </p:txBody>
      </p:sp>
      <p:sp>
        <p:nvSpPr>
          <p:cNvPr id="24" name="Text 22"/>
          <p:cNvSpPr/>
          <p:nvPr/>
        </p:nvSpPr>
        <p:spPr>
          <a:xfrm>
            <a:off x="749808" y="3675888"/>
            <a:ext cx="3566160" cy="256032"/>
          </a:xfrm>
          <a:prstGeom prst="rect">
            <a:avLst/>
          </a:prstGeom>
          <a:noFill/>
          <a:ln/>
        </p:spPr>
        <p:txBody>
          <a:bodyPr wrap="square" lIns="0" tIns="0" rIns="0" bIns="0" rtlCol="0" anchor="t"/>
          <a:lstStyle/>
          <a:p>
            <a:pPr marL="0" indent="0" algn="l">
              <a:lnSpc>
                <a:spcPts val="1349"/>
              </a:lnSpc>
              <a:buNone/>
            </a:pPr>
            <a:r>
              <a:rPr lang="en-US" sz="1050" dirty="0">
                <a:solidFill>
                  <a:srgbClr val="A3A9B4"/>
                </a:solidFill>
                <a:latin typeface="Segoe UI" pitchFamily="34" charset="0"/>
                <a:ea typeface="Segoe UI" pitchFamily="34" charset="-122"/>
                <a:cs typeface="Segoe UI" pitchFamily="34" charset="-120"/>
              </a:rPr>
              <a:t>One of the five severities. Anything else is rejected.</a:t>
            </a:r>
            <a:endParaRPr lang="en-US" sz="1050" dirty="0"/>
          </a:p>
        </p:txBody>
      </p:sp>
      <p:sp>
        <p:nvSpPr>
          <p:cNvPr id="25" name="field card">
            <a:extLst>
              <a:ext uri="{C183D7F6-B498-43B3-948B-1728B52AA6E4}">
                <adec:decorative xmlns:adec="http://schemas.microsoft.com/office/drawing/2017/decorative" val="1"/>
              </a:ext>
            </a:extLst>
          </p:cNvPr>
          <p:cNvSpPr/>
          <p:nvPr/>
        </p:nvSpPr>
        <p:spPr>
          <a:xfrm>
            <a:off x="4681728" y="3401568"/>
            <a:ext cx="3877056" cy="566928"/>
          </a:xfrm>
          <a:prstGeom prst="rect">
            <a:avLst/>
          </a:prstGeom>
          <a:solidFill>
            <a:srgbClr val="212429"/>
          </a:solidFill>
          <a:ln w="12700">
            <a:solidFill>
              <a:srgbClr val="343941"/>
            </a:solidFill>
            <a:prstDash val="solid"/>
          </a:ln>
        </p:spPr>
        <p:txBody>
          <a:bodyPr/>
          <a:lstStyle/>
          <a:p>
            <a:endParaRPr lang="en-SE"/>
          </a:p>
        </p:txBody>
      </p:sp>
      <p:sp>
        <p:nvSpPr>
          <p:cNvPr id="26" name="field accent">
            <a:extLst>
              <a:ext uri="{C183D7F6-B498-43B3-948B-1728B52AA6E4}">
                <adec:decorative xmlns:adec="http://schemas.microsoft.com/office/drawing/2017/decorative" val="1"/>
              </a:ext>
            </a:extLst>
          </p:cNvPr>
          <p:cNvSpPr/>
          <p:nvPr/>
        </p:nvSpPr>
        <p:spPr>
          <a:xfrm>
            <a:off x="4681728" y="3401568"/>
            <a:ext cx="45720" cy="566928"/>
          </a:xfrm>
          <a:prstGeom prst="rect">
            <a:avLst/>
          </a:prstGeom>
          <a:solidFill>
            <a:srgbClr val="8A7EA8"/>
          </a:solidFill>
          <a:ln w="12700">
            <a:solidFill>
              <a:srgbClr val="333333"/>
            </a:solidFill>
            <a:prstDash val="solid"/>
          </a:ln>
        </p:spPr>
        <p:txBody>
          <a:bodyPr/>
          <a:lstStyle/>
          <a:p>
            <a:endParaRPr lang="en-SE"/>
          </a:p>
        </p:txBody>
      </p:sp>
      <p:sp>
        <p:nvSpPr>
          <p:cNvPr id="27" name="Text 25"/>
          <p:cNvSpPr/>
          <p:nvPr/>
        </p:nvSpPr>
        <p:spPr>
          <a:xfrm>
            <a:off x="4864608" y="3456432"/>
            <a:ext cx="1463040" cy="219456"/>
          </a:xfrm>
          <a:prstGeom prst="rect">
            <a:avLst/>
          </a:prstGeom>
          <a:noFill/>
          <a:ln/>
        </p:spPr>
        <p:txBody>
          <a:bodyPr wrap="square" lIns="0" tIns="0" rIns="0" bIns="0" rtlCol="0" anchor="ctr"/>
          <a:lstStyle/>
          <a:p>
            <a:pPr marL="0" indent="0" algn="l">
              <a:lnSpc>
                <a:spcPts val="1500"/>
              </a:lnSpc>
              <a:buNone/>
            </a:pPr>
            <a:r>
              <a:rPr lang="en-US" sz="1200" dirty="0">
                <a:solidFill>
                  <a:srgbClr val="8A7EA8"/>
                </a:solidFill>
                <a:latin typeface="Consolas" pitchFamily="34" charset="0"/>
                <a:ea typeface="Consolas" pitchFamily="34" charset="-122"/>
                <a:cs typeface="Consolas" pitchFamily="34" charset="-120"/>
              </a:rPr>
              <a:t>LOGGER</a:t>
            </a:r>
            <a:endParaRPr lang="en-US" sz="1200" dirty="0"/>
          </a:p>
        </p:txBody>
      </p:sp>
      <p:sp>
        <p:nvSpPr>
          <p:cNvPr id="28" name="Text 26"/>
          <p:cNvSpPr/>
          <p:nvPr/>
        </p:nvSpPr>
        <p:spPr>
          <a:xfrm>
            <a:off x="4864608" y="3675888"/>
            <a:ext cx="3566160" cy="256032"/>
          </a:xfrm>
          <a:prstGeom prst="rect">
            <a:avLst/>
          </a:prstGeom>
          <a:noFill/>
          <a:ln/>
        </p:spPr>
        <p:txBody>
          <a:bodyPr wrap="square" lIns="0" tIns="0" rIns="0" bIns="0" rtlCol="0" anchor="t"/>
          <a:lstStyle/>
          <a:p>
            <a:pPr marL="0" indent="0" algn="l">
              <a:lnSpc>
                <a:spcPts val="1349"/>
              </a:lnSpc>
              <a:buNone/>
            </a:pPr>
            <a:r>
              <a:rPr lang="en-US" sz="1050" dirty="0">
                <a:solidFill>
                  <a:srgbClr val="A3A9B4"/>
                </a:solidFill>
                <a:latin typeface="Segoe UI" pitchFamily="34" charset="0"/>
                <a:ea typeface="Segoe UI" pitchFamily="34" charset="-122"/>
                <a:cs typeface="Segoe UI" pitchFamily="34" charset="-120"/>
              </a:rPr>
              <a:t>Dotted name of the subsystem — your best filter after level.</a:t>
            </a:r>
            <a:endParaRPr lang="en-US" sz="1050" dirty="0"/>
          </a:p>
        </p:txBody>
      </p:sp>
      <p:sp>
        <p:nvSpPr>
          <p:cNvPr id="29" name="field card">
            <a:extLst>
              <a:ext uri="{C183D7F6-B498-43B3-948B-1728B52AA6E4}">
                <adec:decorative xmlns:adec="http://schemas.microsoft.com/office/drawing/2017/decorative" val="1"/>
              </a:ext>
            </a:extLst>
          </p:cNvPr>
          <p:cNvSpPr/>
          <p:nvPr/>
        </p:nvSpPr>
        <p:spPr>
          <a:xfrm>
            <a:off x="566928" y="4078224"/>
            <a:ext cx="3877056" cy="566928"/>
          </a:xfrm>
          <a:prstGeom prst="rect">
            <a:avLst/>
          </a:prstGeom>
          <a:solidFill>
            <a:srgbClr val="212429"/>
          </a:solidFill>
          <a:ln w="12700">
            <a:solidFill>
              <a:srgbClr val="343941"/>
            </a:solidFill>
            <a:prstDash val="solid"/>
          </a:ln>
        </p:spPr>
        <p:txBody>
          <a:bodyPr/>
          <a:lstStyle/>
          <a:p>
            <a:endParaRPr lang="en-SE"/>
          </a:p>
        </p:txBody>
      </p:sp>
      <p:sp>
        <p:nvSpPr>
          <p:cNvPr id="30" name="field accent">
            <a:extLst>
              <a:ext uri="{C183D7F6-B498-43B3-948B-1728B52AA6E4}">
                <adec:decorative xmlns:adec="http://schemas.microsoft.com/office/drawing/2017/decorative" val="1"/>
              </a:ext>
            </a:extLst>
          </p:cNvPr>
          <p:cNvSpPr/>
          <p:nvPr/>
        </p:nvSpPr>
        <p:spPr>
          <a:xfrm>
            <a:off x="566928" y="4078224"/>
            <a:ext cx="45720" cy="566928"/>
          </a:xfrm>
          <a:prstGeom prst="rect">
            <a:avLst/>
          </a:prstGeom>
          <a:solidFill>
            <a:srgbClr val="6FA88A"/>
          </a:solidFill>
          <a:ln w="12700">
            <a:solidFill>
              <a:srgbClr val="333333"/>
            </a:solidFill>
            <a:prstDash val="solid"/>
          </a:ln>
        </p:spPr>
        <p:txBody>
          <a:bodyPr/>
          <a:lstStyle/>
          <a:p>
            <a:endParaRPr lang="en-SE"/>
          </a:p>
        </p:txBody>
      </p:sp>
      <p:sp>
        <p:nvSpPr>
          <p:cNvPr id="31" name="Text 29"/>
          <p:cNvSpPr/>
          <p:nvPr/>
        </p:nvSpPr>
        <p:spPr>
          <a:xfrm>
            <a:off x="749808" y="4133088"/>
            <a:ext cx="1463040" cy="219456"/>
          </a:xfrm>
          <a:prstGeom prst="rect">
            <a:avLst/>
          </a:prstGeom>
          <a:noFill/>
          <a:ln/>
        </p:spPr>
        <p:txBody>
          <a:bodyPr wrap="square" lIns="0" tIns="0" rIns="0" bIns="0" rtlCol="0" anchor="ctr"/>
          <a:lstStyle/>
          <a:p>
            <a:pPr marL="0" indent="0" algn="l">
              <a:lnSpc>
                <a:spcPts val="1500"/>
              </a:lnSpc>
              <a:buNone/>
            </a:pPr>
            <a:r>
              <a:rPr lang="en-US" sz="1200" dirty="0">
                <a:solidFill>
                  <a:srgbClr val="6FA88A"/>
                </a:solidFill>
                <a:latin typeface="Consolas" pitchFamily="34" charset="0"/>
                <a:ea typeface="Consolas" pitchFamily="34" charset="-122"/>
                <a:cs typeface="Consolas" pitchFamily="34" charset="-120"/>
              </a:rPr>
              <a:t>MODULE / LINE</a:t>
            </a:r>
            <a:endParaRPr lang="en-US" sz="1200" dirty="0"/>
          </a:p>
        </p:txBody>
      </p:sp>
      <p:sp>
        <p:nvSpPr>
          <p:cNvPr id="32" name="Text 30"/>
          <p:cNvSpPr/>
          <p:nvPr/>
        </p:nvSpPr>
        <p:spPr>
          <a:xfrm>
            <a:off x="749808" y="4352544"/>
            <a:ext cx="3566160" cy="256032"/>
          </a:xfrm>
          <a:prstGeom prst="rect">
            <a:avLst/>
          </a:prstGeom>
          <a:noFill/>
          <a:ln/>
        </p:spPr>
        <p:txBody>
          <a:bodyPr wrap="square" lIns="0" tIns="0" rIns="0" bIns="0" rtlCol="0" anchor="t"/>
          <a:lstStyle/>
          <a:p>
            <a:pPr marL="0" indent="0" algn="l">
              <a:lnSpc>
                <a:spcPts val="1349"/>
              </a:lnSpc>
              <a:buNone/>
            </a:pPr>
            <a:r>
              <a:rPr lang="en-US" sz="1050" dirty="0">
                <a:solidFill>
                  <a:srgbClr val="A3A9B4"/>
                </a:solidFill>
                <a:latin typeface="Segoe UI" pitchFamily="34" charset="0"/>
                <a:ea typeface="Segoe UI" pitchFamily="34" charset="-122"/>
                <a:cs typeface="Segoe UI" pitchFamily="34" charset="-120"/>
              </a:rPr>
              <a:t>Where in the source the record was emitted, when available.</a:t>
            </a:r>
            <a:endParaRPr lang="en-US" sz="1050" dirty="0"/>
          </a:p>
        </p:txBody>
      </p:sp>
      <p:sp>
        <p:nvSpPr>
          <p:cNvPr id="33" name="field card">
            <a:extLst>
              <a:ext uri="{C183D7F6-B498-43B3-948B-1728B52AA6E4}">
                <adec:decorative xmlns:adec="http://schemas.microsoft.com/office/drawing/2017/decorative" val="1"/>
              </a:ext>
            </a:extLst>
          </p:cNvPr>
          <p:cNvSpPr/>
          <p:nvPr/>
        </p:nvSpPr>
        <p:spPr>
          <a:xfrm>
            <a:off x="4681728" y="4078224"/>
            <a:ext cx="3877056" cy="566928"/>
          </a:xfrm>
          <a:prstGeom prst="rect">
            <a:avLst/>
          </a:prstGeom>
          <a:solidFill>
            <a:srgbClr val="212429"/>
          </a:solidFill>
          <a:ln w="12700">
            <a:solidFill>
              <a:srgbClr val="343941"/>
            </a:solidFill>
            <a:prstDash val="solid"/>
          </a:ln>
        </p:spPr>
        <p:txBody>
          <a:bodyPr/>
          <a:lstStyle/>
          <a:p>
            <a:endParaRPr lang="en-SE"/>
          </a:p>
        </p:txBody>
      </p:sp>
      <p:sp>
        <p:nvSpPr>
          <p:cNvPr id="34" name="field accent">
            <a:extLst>
              <a:ext uri="{C183D7F6-B498-43B3-948B-1728B52AA6E4}">
                <adec:decorative xmlns:adec="http://schemas.microsoft.com/office/drawing/2017/decorative" val="1"/>
              </a:ext>
            </a:extLst>
          </p:cNvPr>
          <p:cNvSpPr/>
          <p:nvPr/>
        </p:nvSpPr>
        <p:spPr>
          <a:xfrm>
            <a:off x="4681728" y="4078224"/>
            <a:ext cx="45720" cy="566928"/>
          </a:xfrm>
          <a:prstGeom prst="rect">
            <a:avLst/>
          </a:prstGeom>
          <a:solidFill>
            <a:srgbClr val="E8A33D"/>
          </a:solidFill>
          <a:ln w="12700">
            <a:solidFill>
              <a:srgbClr val="333333"/>
            </a:solidFill>
            <a:prstDash val="solid"/>
          </a:ln>
        </p:spPr>
        <p:txBody>
          <a:bodyPr/>
          <a:lstStyle/>
          <a:p>
            <a:endParaRPr lang="en-SE"/>
          </a:p>
        </p:txBody>
      </p:sp>
      <p:sp>
        <p:nvSpPr>
          <p:cNvPr id="35" name="Text 33"/>
          <p:cNvSpPr/>
          <p:nvPr/>
        </p:nvSpPr>
        <p:spPr>
          <a:xfrm>
            <a:off x="4864608" y="4133088"/>
            <a:ext cx="1463040" cy="219456"/>
          </a:xfrm>
          <a:prstGeom prst="rect">
            <a:avLst/>
          </a:prstGeom>
          <a:noFill/>
          <a:ln/>
        </p:spPr>
        <p:txBody>
          <a:bodyPr wrap="square" lIns="0" tIns="0" rIns="0" bIns="0" rtlCol="0" anchor="ctr"/>
          <a:lstStyle/>
          <a:p>
            <a:pPr marL="0" indent="0" algn="l">
              <a:lnSpc>
                <a:spcPts val="1500"/>
              </a:lnSpc>
              <a:buNone/>
            </a:pPr>
            <a:r>
              <a:rPr lang="en-US" sz="1200" dirty="0">
                <a:solidFill>
                  <a:srgbClr val="E8A33D"/>
                </a:solidFill>
                <a:latin typeface="Consolas" pitchFamily="34" charset="0"/>
                <a:ea typeface="Consolas" pitchFamily="34" charset="-122"/>
                <a:cs typeface="Consolas" pitchFamily="34" charset="-120"/>
              </a:rPr>
              <a:t>LEN</a:t>
            </a:r>
            <a:endParaRPr lang="en-US" sz="1200" dirty="0"/>
          </a:p>
        </p:txBody>
      </p:sp>
      <p:sp>
        <p:nvSpPr>
          <p:cNvPr id="36" name="Text 34"/>
          <p:cNvSpPr/>
          <p:nvPr/>
        </p:nvSpPr>
        <p:spPr>
          <a:xfrm>
            <a:off x="4864608" y="4352544"/>
            <a:ext cx="3566160" cy="256032"/>
          </a:xfrm>
          <a:prstGeom prst="rect">
            <a:avLst/>
          </a:prstGeom>
          <a:noFill/>
          <a:ln/>
        </p:spPr>
        <p:txBody>
          <a:bodyPr wrap="square" lIns="0" tIns="0" rIns="0" bIns="0" rtlCol="0" anchor="t"/>
          <a:lstStyle/>
          <a:p>
            <a:pPr marL="0" indent="0" algn="l">
              <a:lnSpc>
                <a:spcPts val="1349"/>
              </a:lnSpc>
              <a:buNone/>
            </a:pPr>
            <a:r>
              <a:rPr lang="en-US" sz="1050" dirty="0">
                <a:solidFill>
                  <a:srgbClr val="A3A9B4"/>
                </a:solidFill>
                <a:latin typeface="Segoe UI" pitchFamily="34" charset="0"/>
                <a:ea typeface="Segoe UI" pitchFamily="34" charset="-122"/>
                <a:cs typeface="Segoe UI" pitchFamily="34" charset="-120"/>
              </a:rPr>
              <a:t>Exact byte count of the message that follows. Never guessed.</a:t>
            </a:r>
            <a:endParaRPr lang="en-US" sz="1050" dirty="0"/>
          </a:p>
        </p:txBody>
      </p:sp>
      <p:sp>
        <p:nvSpPr>
          <p:cNvPr id="37" name="Text 35"/>
          <p:cNvSpPr/>
          <p:nvPr/>
        </p:nvSpPr>
        <p:spPr>
          <a:xfrm>
            <a:off x="566928" y="4809744"/>
            <a:ext cx="8010144" cy="292608"/>
          </a:xfrm>
          <a:prstGeom prst="rect">
            <a:avLst/>
          </a:prstGeom>
          <a:noFill/>
          <a:ln/>
        </p:spPr>
        <p:txBody>
          <a:bodyPr wrap="square" lIns="0" tIns="0" rIns="0" bIns="0" rtlCol="0" anchor="t"/>
          <a:lstStyle/>
          <a:p>
            <a:pPr marL="0" indent="0" algn="l">
              <a:lnSpc>
                <a:spcPts val="1349"/>
              </a:lnSpc>
              <a:buNone/>
            </a:pPr>
            <a:r>
              <a:rPr lang="en-US" sz="950" i="1" dirty="0">
                <a:solidFill>
                  <a:srgbClr val="747B87"/>
                </a:solidFill>
                <a:latin typeface="Segoe UI" pitchFamily="34" charset="0"/>
                <a:ea typeface="Segoe UI" pitchFamily="34" charset="-122"/>
                <a:cs typeface="Segoe UI" pitchFamily="34" charset="-120"/>
              </a:rPr>
              <a:t>The message body is length-prefixed, not line-delimited — which is precisely why a full multi-line traceback survives the trip intact.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STORAGE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15</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Where the database lives, and how long rows stay</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Two settings every operator should be able to state from memory: the path, and the retention window.</a:t>
            </a:r>
            <a:endParaRPr lang="en-US" sz="1400" dirty="0"/>
          </a:p>
        </p:txBody>
      </p:sp>
      <p:sp>
        <p:nvSpPr>
          <p:cNvPr id="8" name="card background">
            <a:extLst>
              <a:ext uri="{C183D7F6-B498-43B3-948B-1728B52AA6E4}">
                <adec:decorative xmlns:adec="http://schemas.microsoft.com/office/drawing/2017/decorative" val="1"/>
              </a:ext>
            </a:extLst>
          </p:cNvPr>
          <p:cNvSpPr/>
          <p:nvPr/>
        </p:nvSpPr>
        <p:spPr>
          <a:xfrm>
            <a:off x="566928" y="1792224"/>
            <a:ext cx="3877056" cy="157276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accent edge">
            <a:extLst>
              <a:ext uri="{C183D7F6-B498-43B3-948B-1728B52AA6E4}">
                <adec:decorative xmlns:adec="http://schemas.microsoft.com/office/drawing/2017/decorative" val="1"/>
              </a:ext>
            </a:extLst>
          </p:cNvPr>
          <p:cNvSpPr/>
          <p:nvPr/>
        </p:nvSpPr>
        <p:spPr>
          <a:xfrm>
            <a:off x="566928" y="1792224"/>
            <a:ext cx="50292" cy="1572768"/>
          </a:xfrm>
          <a:prstGeom prst="rect">
            <a:avLst/>
          </a:prstGeom>
          <a:solidFill>
            <a:srgbClr val="5E8CA8"/>
          </a:solidFill>
          <a:ln w="12700">
            <a:solidFill>
              <a:srgbClr val="333333"/>
            </a:solidFill>
            <a:prstDash val="solid"/>
          </a:ln>
        </p:spPr>
        <p:txBody>
          <a:bodyPr/>
          <a:lstStyle/>
          <a:p>
            <a:endParaRPr lang="en-SE"/>
          </a:p>
        </p:txBody>
      </p:sp>
      <p:sp>
        <p:nvSpPr>
          <p:cNvPr id="10" name="Text 8"/>
          <p:cNvSpPr/>
          <p:nvPr/>
        </p:nvSpPr>
        <p:spPr>
          <a:xfrm>
            <a:off x="804672" y="1938528"/>
            <a:ext cx="3291840" cy="219456"/>
          </a:xfrm>
          <a:prstGeom prst="rect">
            <a:avLst/>
          </a:prstGeom>
          <a:noFill/>
          <a:ln/>
        </p:spPr>
        <p:txBody>
          <a:bodyPr wrap="square" lIns="0" tIns="0" rIns="0" bIns="0" rtlCol="0" anchor="ctr"/>
          <a:lstStyle/>
          <a:p>
            <a:pPr marL="0" indent="0" algn="l">
              <a:buNone/>
            </a:pPr>
            <a:r>
              <a:rPr lang="en-US" sz="1200" b="1" kern="0" spc="180" dirty="0">
                <a:solidFill>
                  <a:srgbClr val="5E8CA8"/>
                </a:solidFill>
                <a:latin typeface="Segoe UI" pitchFamily="34" charset="0"/>
                <a:ea typeface="Segoe UI" pitchFamily="34" charset="-122"/>
                <a:cs typeface="Segoe UI" pitchFamily="34" charset="-120"/>
              </a:rPr>
              <a:t>DEFAULT LOCATION</a:t>
            </a:r>
            <a:endParaRPr lang="en-US" sz="1200" dirty="0"/>
          </a:p>
        </p:txBody>
      </p:sp>
      <p:sp>
        <p:nvSpPr>
          <p:cNvPr id="11" name="Text 9"/>
          <p:cNvSpPr/>
          <p:nvPr/>
        </p:nvSpPr>
        <p:spPr>
          <a:xfrm>
            <a:off x="804672" y="2231136"/>
            <a:ext cx="3474720" cy="219456"/>
          </a:xfrm>
          <a:prstGeom prst="rect">
            <a:avLst/>
          </a:prstGeom>
          <a:noFill/>
          <a:ln/>
        </p:spPr>
        <p:txBody>
          <a:bodyPr wrap="square" lIns="0" tIns="0" rIns="0" bIns="0" rtlCol="0" anchor="ctr"/>
          <a:lstStyle/>
          <a:p>
            <a:pPr marL="0" indent="0" algn="l">
              <a:lnSpc>
                <a:spcPts val="1500"/>
              </a:lnSpc>
              <a:buNone/>
            </a:pPr>
            <a:r>
              <a:rPr lang="en-US" sz="1050" dirty="0">
                <a:solidFill>
                  <a:srgbClr val="F6C978"/>
                </a:solidFill>
                <a:latin typeface="Consolas" pitchFamily="34" charset="0"/>
                <a:ea typeface="Consolas" pitchFamily="34" charset="-122"/>
                <a:cs typeface="Consolas" pitchFamily="34" charset="-120"/>
              </a:rPr>
              <a:t>&lt;repo&gt;/src/data/log.db</a:t>
            </a:r>
            <a:endParaRPr lang="en-US" sz="1050" dirty="0"/>
          </a:p>
        </p:txBody>
      </p:sp>
      <p:sp>
        <p:nvSpPr>
          <p:cNvPr id="12" name="Text 10"/>
          <p:cNvSpPr/>
          <p:nvPr/>
        </p:nvSpPr>
        <p:spPr>
          <a:xfrm>
            <a:off x="804672" y="2450592"/>
            <a:ext cx="3474720" cy="219456"/>
          </a:xfrm>
          <a:prstGeom prst="rect">
            <a:avLst/>
          </a:prstGeom>
          <a:noFill/>
          <a:ln/>
        </p:spPr>
        <p:txBody>
          <a:bodyPr wrap="square" lIns="0" tIns="0" rIns="0" bIns="0" rtlCol="0" anchor="t"/>
          <a:lstStyle/>
          <a:p>
            <a:pPr marL="0" indent="0" algn="l">
              <a:lnSpc>
                <a:spcPts val="1278"/>
              </a:lnSpc>
              <a:buNone/>
            </a:pPr>
            <a:r>
              <a:rPr lang="en-US" sz="1100" dirty="0">
                <a:solidFill>
                  <a:srgbClr val="A3A9B4"/>
                </a:solidFill>
                <a:latin typeface="Segoe UI" pitchFamily="34" charset="0"/>
                <a:ea typeface="Segoe UI" pitchFamily="34" charset="-122"/>
                <a:cs typeface="Segoe UI" pitchFamily="34" charset="-120"/>
              </a:rPr>
              <a:t>when run from a source checkout</a:t>
            </a:r>
            <a:endParaRPr lang="en-US" sz="1100" dirty="0"/>
          </a:p>
        </p:txBody>
      </p:sp>
      <p:sp>
        <p:nvSpPr>
          <p:cNvPr id="13" name="Text 11"/>
          <p:cNvSpPr/>
          <p:nvPr/>
        </p:nvSpPr>
        <p:spPr>
          <a:xfrm>
            <a:off x="804672" y="2724912"/>
            <a:ext cx="3474720" cy="219456"/>
          </a:xfrm>
          <a:prstGeom prst="rect">
            <a:avLst/>
          </a:prstGeom>
          <a:noFill/>
          <a:ln/>
        </p:spPr>
        <p:txBody>
          <a:bodyPr wrap="square" lIns="0" tIns="0" rIns="0" bIns="0" rtlCol="0" anchor="ctr"/>
          <a:lstStyle/>
          <a:p>
            <a:pPr marL="0" indent="0" algn="l">
              <a:lnSpc>
                <a:spcPts val="1500"/>
              </a:lnSpc>
              <a:buNone/>
            </a:pPr>
            <a:r>
              <a:rPr lang="en-US" sz="1050" dirty="0">
                <a:solidFill>
                  <a:srgbClr val="F6C978"/>
                </a:solidFill>
                <a:latin typeface="Consolas" pitchFamily="34" charset="0"/>
                <a:ea typeface="Consolas" pitchFamily="34" charset="-122"/>
                <a:cs typeface="Consolas" pitchFamily="34" charset="-120"/>
              </a:rPr>
              <a:t>~/.local/share/edumatcher/log.db</a:t>
            </a:r>
            <a:endParaRPr lang="en-US" sz="1050" dirty="0"/>
          </a:p>
        </p:txBody>
      </p:sp>
      <p:sp>
        <p:nvSpPr>
          <p:cNvPr id="14" name="Text 12"/>
          <p:cNvSpPr/>
          <p:nvPr/>
        </p:nvSpPr>
        <p:spPr>
          <a:xfrm>
            <a:off x="804672" y="2944368"/>
            <a:ext cx="3474720" cy="219456"/>
          </a:xfrm>
          <a:prstGeom prst="rect">
            <a:avLst/>
          </a:prstGeom>
          <a:noFill/>
          <a:ln/>
        </p:spPr>
        <p:txBody>
          <a:bodyPr wrap="square" lIns="0" tIns="0" rIns="0" bIns="0" rtlCol="0" anchor="t"/>
          <a:lstStyle/>
          <a:p>
            <a:pPr marL="0" indent="0" algn="l">
              <a:lnSpc>
                <a:spcPts val="1278"/>
              </a:lnSpc>
              <a:buNone/>
            </a:pPr>
            <a:r>
              <a:rPr lang="en-US" sz="1100" dirty="0">
                <a:solidFill>
                  <a:srgbClr val="A3A9B4"/>
                </a:solidFill>
                <a:latin typeface="Segoe UI" pitchFamily="34" charset="0"/>
                <a:ea typeface="Segoe UI" pitchFamily="34" charset="-122"/>
                <a:cs typeface="Segoe UI" pitchFamily="34" charset="-120"/>
              </a:rPr>
              <a:t>when installed on your PATH</a:t>
            </a:r>
            <a:endParaRPr lang="en-US" sz="1100" dirty="0"/>
          </a:p>
        </p:txBody>
      </p:sp>
      <p:sp>
        <p:nvSpPr>
          <p:cNvPr id="15" name="card background">
            <a:extLst>
              <a:ext uri="{C183D7F6-B498-43B3-948B-1728B52AA6E4}">
                <adec:decorative xmlns:adec="http://schemas.microsoft.com/office/drawing/2017/decorative" val="1"/>
              </a:ext>
            </a:extLst>
          </p:cNvPr>
          <p:cNvSpPr/>
          <p:nvPr/>
        </p:nvSpPr>
        <p:spPr>
          <a:xfrm>
            <a:off x="4700016" y="1792224"/>
            <a:ext cx="3877056" cy="157276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6" name="card accent edge">
            <a:extLst>
              <a:ext uri="{C183D7F6-B498-43B3-948B-1728B52AA6E4}">
                <adec:decorative xmlns:adec="http://schemas.microsoft.com/office/drawing/2017/decorative" val="1"/>
              </a:ext>
            </a:extLst>
          </p:cNvPr>
          <p:cNvSpPr/>
          <p:nvPr/>
        </p:nvSpPr>
        <p:spPr>
          <a:xfrm>
            <a:off x="4700016" y="1792224"/>
            <a:ext cx="50292" cy="1572768"/>
          </a:xfrm>
          <a:prstGeom prst="rect">
            <a:avLst/>
          </a:prstGeom>
          <a:solidFill>
            <a:srgbClr val="E8A33D"/>
          </a:solidFill>
          <a:ln w="12700">
            <a:solidFill>
              <a:srgbClr val="333333"/>
            </a:solidFill>
            <a:prstDash val="solid"/>
          </a:ln>
        </p:spPr>
        <p:txBody>
          <a:bodyPr/>
          <a:lstStyle/>
          <a:p>
            <a:endParaRPr lang="en-SE"/>
          </a:p>
        </p:txBody>
      </p:sp>
      <p:sp>
        <p:nvSpPr>
          <p:cNvPr id="17" name="Text 15"/>
          <p:cNvSpPr/>
          <p:nvPr/>
        </p:nvSpPr>
        <p:spPr>
          <a:xfrm>
            <a:off x="4937760" y="1938528"/>
            <a:ext cx="3474720" cy="219456"/>
          </a:xfrm>
          <a:prstGeom prst="rect">
            <a:avLst/>
          </a:prstGeom>
          <a:noFill/>
          <a:ln/>
        </p:spPr>
        <p:txBody>
          <a:bodyPr wrap="square" lIns="0" tIns="0" rIns="0" bIns="0" rtlCol="0" anchor="ctr"/>
          <a:lstStyle/>
          <a:p>
            <a:pPr marL="0" indent="0" algn="l">
              <a:buNone/>
            </a:pPr>
            <a:r>
              <a:rPr lang="en-US" sz="1200" b="1" kern="0" spc="180" dirty="0">
                <a:solidFill>
                  <a:srgbClr val="E8A33D"/>
                </a:solidFill>
                <a:latin typeface="Segoe UI" pitchFamily="34" charset="0"/>
                <a:ea typeface="Segoe UI" pitchFamily="34" charset="-122"/>
                <a:cs typeface="Segoe UI" pitchFamily="34" charset="-120"/>
              </a:rPr>
              <a:t>OVERRIDING IT — AND WHY YOU WOULD</a:t>
            </a:r>
            <a:endParaRPr lang="en-US" sz="1200" dirty="0"/>
          </a:p>
        </p:txBody>
      </p:sp>
      <p:sp>
        <p:nvSpPr>
          <p:cNvPr id="18" name="Text 16"/>
          <p:cNvSpPr/>
          <p:nvPr/>
        </p:nvSpPr>
        <p:spPr>
          <a:xfrm>
            <a:off x="4937760" y="2231136"/>
            <a:ext cx="3474720" cy="64008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Point a whole session at its own database so a training run, a test, or a replay never mixes into your real operational history.</a:t>
            </a:r>
            <a:endParaRPr lang="en-US" sz="1050" dirty="0"/>
          </a:p>
        </p:txBody>
      </p:sp>
      <p:sp>
        <p:nvSpPr>
          <p:cNvPr id="19" name="Text 17"/>
          <p:cNvSpPr/>
          <p:nvPr/>
        </p:nvSpPr>
        <p:spPr>
          <a:xfrm>
            <a:off x="4937760" y="2889504"/>
            <a:ext cx="3474720" cy="219456"/>
          </a:xfrm>
          <a:prstGeom prst="rect">
            <a:avLst/>
          </a:prstGeom>
          <a:noFill/>
          <a:ln/>
        </p:spPr>
        <p:txBody>
          <a:bodyPr wrap="square" lIns="0" tIns="0" rIns="0" bIns="0" rtlCol="0" anchor="ctr"/>
          <a:lstStyle/>
          <a:p>
            <a:pPr marL="0" indent="0" algn="l">
              <a:lnSpc>
                <a:spcPts val="1500"/>
              </a:lnSpc>
              <a:buNone/>
            </a:pPr>
            <a:r>
              <a:rPr lang="en-US" sz="900" dirty="0">
                <a:solidFill>
                  <a:srgbClr val="F6C978"/>
                </a:solidFill>
                <a:latin typeface="Consolas" pitchFamily="34" charset="0"/>
                <a:ea typeface="Consolas" pitchFamily="34" charset="-122"/>
                <a:cs typeface="Consolas" pitchFamily="34" charset="-120"/>
              </a:rPr>
              <a:t>EDUMATCHER_DATA_DIR=~/sessions/morning</a:t>
            </a:r>
            <a:endParaRPr lang="en-US" sz="900" dirty="0"/>
          </a:p>
        </p:txBody>
      </p:sp>
      <p:sp>
        <p:nvSpPr>
          <p:cNvPr id="20" name="Text 18"/>
          <p:cNvSpPr/>
          <p:nvPr/>
        </p:nvSpPr>
        <p:spPr>
          <a:xfrm>
            <a:off x="4937760" y="3108960"/>
            <a:ext cx="3474720" cy="219456"/>
          </a:xfrm>
          <a:prstGeom prst="rect">
            <a:avLst/>
          </a:prstGeom>
          <a:noFill/>
          <a:ln/>
        </p:spPr>
        <p:txBody>
          <a:bodyPr wrap="square" lIns="0" tIns="0" rIns="0" bIns="0" rtlCol="0" anchor="ctr"/>
          <a:lstStyle/>
          <a:p>
            <a:pPr marL="0" indent="0" algn="l">
              <a:lnSpc>
                <a:spcPts val="1500"/>
              </a:lnSpc>
              <a:buNone/>
            </a:pPr>
            <a:r>
              <a:rPr lang="en-US" sz="900" dirty="0">
                <a:solidFill>
                  <a:srgbClr val="F6C978"/>
                </a:solidFill>
                <a:latin typeface="Consolas" pitchFamily="34" charset="0"/>
                <a:ea typeface="Consolas" pitchFamily="34" charset="-122"/>
                <a:cs typeface="Consolas" pitchFamily="34" charset="-120"/>
              </a:rPr>
              <a:t>pm-log-srv --db /tmp/session.db</a:t>
            </a:r>
            <a:endParaRPr lang="en-US" sz="900" dirty="0"/>
          </a:p>
        </p:txBody>
      </p:sp>
      <p:sp>
        <p:nvSpPr>
          <p:cNvPr id="21" name="Text 19"/>
          <p:cNvSpPr/>
          <p:nvPr/>
        </p:nvSpPr>
        <p:spPr>
          <a:xfrm>
            <a:off x="566928" y="3584448"/>
            <a:ext cx="5486400" cy="219456"/>
          </a:xfrm>
          <a:prstGeom prst="rect">
            <a:avLst/>
          </a:prstGeom>
          <a:noFill/>
          <a:ln/>
        </p:spPr>
        <p:txBody>
          <a:bodyPr wrap="square" lIns="0" tIns="0" rIns="0" bIns="0" rtlCol="0" anchor="ctr"/>
          <a:lstStyle/>
          <a:p>
            <a:pPr marL="0" indent="0" algn="l">
              <a:buNone/>
            </a:pPr>
            <a:r>
              <a:rPr lang="en-US" sz="1000" b="1" kern="0" spc="180" dirty="0">
                <a:solidFill>
                  <a:srgbClr val="E8A33D"/>
                </a:solidFill>
                <a:latin typeface="Segoe UI" pitchFamily="34" charset="0"/>
                <a:ea typeface="Segoe UI" pitchFamily="34" charset="-122"/>
                <a:cs typeface="Segoe UI" pitchFamily="34" charset="-120"/>
              </a:rPr>
              <a:t>RETENTION — 30 DAYS BY DEFAULT, PRUNED HOURLY</a:t>
            </a:r>
            <a:endParaRPr lang="en-US" sz="1000" dirty="0"/>
          </a:p>
        </p:txBody>
      </p:sp>
      <p:sp>
        <p:nvSpPr>
          <p:cNvPr id="22" name="meter segment">
            <a:extLst>
              <a:ext uri="{C183D7F6-B498-43B3-948B-1728B52AA6E4}">
                <adec:decorative xmlns:adec="http://schemas.microsoft.com/office/drawing/2017/decorative" val="1"/>
              </a:ext>
            </a:extLst>
          </p:cNvPr>
          <p:cNvSpPr/>
          <p:nvPr/>
        </p:nvSpPr>
        <p:spPr>
          <a:xfrm>
            <a:off x="566928" y="3877056"/>
            <a:ext cx="6568318" cy="310896"/>
          </a:xfrm>
          <a:prstGeom prst="rect">
            <a:avLst/>
          </a:prstGeom>
          <a:solidFill>
            <a:srgbClr val="2E333B"/>
          </a:solidFill>
          <a:ln w="12700">
            <a:solidFill>
              <a:srgbClr val="333333"/>
            </a:solidFill>
            <a:prstDash val="solid"/>
          </a:ln>
        </p:spPr>
        <p:txBody>
          <a:bodyPr/>
          <a:lstStyle/>
          <a:p>
            <a:endParaRPr lang="en-SE"/>
          </a:p>
        </p:txBody>
      </p:sp>
      <p:sp>
        <p:nvSpPr>
          <p:cNvPr id="23" name="meter segment">
            <a:extLst>
              <a:ext uri="{C183D7F6-B498-43B3-948B-1728B52AA6E4}">
                <adec:decorative xmlns:adec="http://schemas.microsoft.com/office/drawing/2017/decorative" val="1"/>
              </a:ext>
            </a:extLst>
          </p:cNvPr>
          <p:cNvSpPr/>
          <p:nvPr/>
        </p:nvSpPr>
        <p:spPr>
          <a:xfrm>
            <a:off x="7135246" y="3877056"/>
            <a:ext cx="1441826" cy="310896"/>
          </a:xfrm>
          <a:prstGeom prst="rect">
            <a:avLst/>
          </a:prstGeom>
          <a:solidFill>
            <a:srgbClr val="6E332C"/>
          </a:solidFill>
          <a:ln w="12700">
            <a:solidFill>
              <a:srgbClr val="333333"/>
            </a:solidFill>
            <a:prstDash val="solid"/>
          </a:ln>
        </p:spPr>
        <p:txBody>
          <a:bodyPr/>
          <a:lstStyle/>
          <a:p>
            <a:endParaRPr lang="en-SE"/>
          </a:p>
        </p:txBody>
      </p:sp>
      <p:sp>
        <p:nvSpPr>
          <p:cNvPr id="24" name="Text 22"/>
          <p:cNvSpPr/>
          <p:nvPr/>
        </p:nvSpPr>
        <p:spPr>
          <a:xfrm>
            <a:off x="713232" y="3877056"/>
            <a:ext cx="2743200" cy="310896"/>
          </a:xfrm>
          <a:prstGeom prst="rect">
            <a:avLst/>
          </a:prstGeom>
          <a:noFill/>
          <a:ln/>
        </p:spPr>
        <p:txBody>
          <a:bodyPr wrap="square" lIns="0" tIns="0" rIns="0" bIns="0" rtlCol="0" anchor="ctr"/>
          <a:lstStyle/>
          <a:p>
            <a:pPr marL="0" indent="0" algn="l">
              <a:lnSpc>
                <a:spcPts val="1278"/>
              </a:lnSpc>
              <a:buNone/>
            </a:pPr>
            <a:r>
              <a:rPr lang="en-US" sz="1050" dirty="0">
                <a:solidFill>
                  <a:srgbClr val="A3A9B4"/>
                </a:solidFill>
                <a:latin typeface="Segoe UI" pitchFamily="34" charset="0"/>
                <a:ea typeface="Segoe UI" pitchFamily="34" charset="-122"/>
                <a:cs typeface="Segoe UI" pitchFamily="34" charset="-120"/>
              </a:rPr>
              <a:t>kept and queryable</a:t>
            </a:r>
            <a:endParaRPr lang="en-US" sz="1050" dirty="0"/>
          </a:p>
        </p:txBody>
      </p:sp>
      <p:sp>
        <p:nvSpPr>
          <p:cNvPr id="25" name="Text 23"/>
          <p:cNvSpPr/>
          <p:nvPr/>
        </p:nvSpPr>
        <p:spPr>
          <a:xfrm>
            <a:off x="6766560" y="3877056"/>
            <a:ext cx="1737360" cy="310896"/>
          </a:xfrm>
          <a:prstGeom prst="rect">
            <a:avLst/>
          </a:prstGeom>
          <a:noFill/>
          <a:ln/>
        </p:spPr>
        <p:txBody>
          <a:bodyPr wrap="square" lIns="0" tIns="0" rIns="0" bIns="0" rtlCol="0" anchor="ctr"/>
          <a:lstStyle/>
          <a:p>
            <a:pPr marL="0" indent="0" algn="r">
              <a:lnSpc>
                <a:spcPts val="1207"/>
              </a:lnSpc>
              <a:buNone/>
            </a:pPr>
            <a:r>
              <a:rPr lang="en-US" sz="1000" dirty="0">
                <a:solidFill>
                  <a:srgbClr val="A3A9B4"/>
                </a:solidFill>
                <a:latin typeface="Segoe UI" pitchFamily="34" charset="0"/>
                <a:ea typeface="Segoe UI" pitchFamily="34" charset="-122"/>
                <a:cs typeface="Segoe UI" pitchFamily="34" charset="-120"/>
              </a:rPr>
              <a:t>older than 30 days — deleted</a:t>
            </a:r>
            <a:endParaRPr lang="en-US" sz="1000" dirty="0"/>
          </a:p>
        </p:txBody>
      </p:sp>
      <p:sp>
        <p:nvSpPr>
          <p:cNvPr id="26" name="Text 24"/>
          <p:cNvSpPr/>
          <p:nvPr/>
        </p:nvSpPr>
        <p:spPr>
          <a:xfrm>
            <a:off x="566928" y="4334256"/>
            <a:ext cx="8010144" cy="548640"/>
          </a:xfrm>
          <a:prstGeom prst="rect">
            <a:avLst/>
          </a:prstGeom>
          <a:noFill/>
          <a:ln/>
        </p:spPr>
        <p:txBody>
          <a:bodyPr wrap="square" lIns="0" tIns="0" rIns="0" bIns="0" rtlCol="0" anchor="t"/>
          <a:lstStyle/>
          <a:p>
            <a:pPr marL="0" indent="0" algn="l">
              <a:lnSpc>
                <a:spcPts val="1420"/>
              </a:lnSpc>
              <a:buNone/>
            </a:pPr>
            <a:r>
              <a:rPr lang="en-US" sz="1200" i="1" dirty="0">
                <a:solidFill>
                  <a:srgbClr val="747B87"/>
                </a:solidFill>
                <a:latin typeface="Segoe UI" pitchFamily="34" charset="0"/>
                <a:ea typeface="Segoe UI" pitchFamily="34" charset="-122"/>
                <a:cs typeface="Segoe UI" pitchFamily="34" charset="-120"/>
              </a:rPr>
              <a:t>Operational logging is deliberately disposable — unlike the audit trail and market statistics, which are kept forever. Use --retention-days 0 to disable pruning entirely, or --retention-days 7 to keep the file small.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04</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Bringing the system up</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400" dirty="0">
                <a:solidFill>
                  <a:srgbClr val="A3A9B4"/>
                </a:solidFill>
                <a:latin typeface="Segoe UI" pitchFamily="34" charset="0"/>
                <a:ea typeface="Segoe UI" pitchFamily="34" charset="-122"/>
                <a:cs typeface="Segoe UI" pitchFamily="34" charset="-120"/>
              </a:rPr>
              <a:t>Starting the collector, the ports it claims, and the order that makes everything else easy.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STARTUP</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17</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Starting the log server</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With no arguments it reads engine_config.yaml, binds its ports and starts writing. That is genuinely all it takes on a normal day.</a:t>
            </a:r>
            <a:endParaRPr lang="en-US" sz="1400" dirty="0"/>
          </a:p>
        </p:txBody>
      </p:sp>
      <p:sp>
        <p:nvSpPr>
          <p:cNvPr id="8" name="code panel">
            <a:extLst>
              <a:ext uri="{C183D7F6-B498-43B3-948B-1728B52AA6E4}">
                <adec:decorative xmlns:adec="http://schemas.microsoft.com/office/drawing/2017/decorative" val="1"/>
              </a:ext>
            </a:extLst>
          </p:cNvPr>
          <p:cNvSpPr/>
          <p:nvPr/>
        </p:nvSpPr>
        <p:spPr>
          <a:xfrm>
            <a:off x="566928" y="1737360"/>
            <a:ext cx="3877056" cy="2249424"/>
          </a:xfrm>
          <a:prstGeom prst="rect">
            <a:avLst/>
          </a:prstGeom>
          <a:solidFill>
            <a:srgbClr val="101216"/>
          </a:solidFill>
          <a:ln w="12700">
            <a:solidFill>
              <a:srgbClr val="343941"/>
            </a:solidFill>
            <a:prstDash val="solid"/>
          </a:ln>
        </p:spPr>
        <p:txBody>
          <a:bodyPr/>
          <a:lstStyle/>
          <a:p>
            <a:endParaRPr lang="en-SE"/>
          </a:p>
        </p:txBody>
      </p:sp>
      <p:sp>
        <p:nvSpPr>
          <p:cNvPr id="9" name="code accent edge">
            <a:extLst>
              <a:ext uri="{C183D7F6-B498-43B3-948B-1728B52AA6E4}">
                <adec:decorative xmlns:adec="http://schemas.microsoft.com/office/drawing/2017/decorative" val="1"/>
              </a:ext>
            </a:extLst>
          </p:cNvPr>
          <p:cNvSpPr/>
          <p:nvPr/>
        </p:nvSpPr>
        <p:spPr>
          <a:xfrm>
            <a:off x="566928" y="1737360"/>
            <a:ext cx="41148" cy="2249424"/>
          </a:xfrm>
          <a:prstGeom prst="rect">
            <a:avLst/>
          </a:prstGeom>
          <a:solidFill>
            <a:srgbClr val="7A5A24"/>
          </a:solidFill>
          <a:ln w="12700">
            <a:solidFill>
              <a:srgbClr val="333333"/>
            </a:solidFill>
            <a:prstDash val="solid"/>
          </a:ln>
        </p:spPr>
        <p:txBody>
          <a:bodyPr/>
          <a:lstStyle/>
          <a:p>
            <a:endParaRPr lang="en-SE"/>
          </a:p>
        </p:txBody>
      </p:sp>
      <p:sp>
        <p:nvSpPr>
          <p:cNvPr id="10" name="Text 8"/>
          <p:cNvSpPr/>
          <p:nvPr/>
        </p:nvSpPr>
        <p:spPr>
          <a:xfrm>
            <a:off x="768096" y="1810512"/>
            <a:ext cx="3474720" cy="237744"/>
          </a:xfrm>
          <a:prstGeom prst="rect">
            <a:avLst/>
          </a:prstGeom>
          <a:noFill/>
          <a:ln/>
        </p:spPr>
        <p:txBody>
          <a:bodyPr wrap="square" lIns="0" tIns="0" rIns="0" bIns="0" rtlCol="0" anchor="ctr"/>
          <a:lstStyle/>
          <a:p>
            <a:pPr marL="0" indent="0">
              <a:buNone/>
            </a:pPr>
            <a:r>
              <a:rPr lang="en-US" sz="1100" b="1" kern="0" spc="160" dirty="0">
                <a:solidFill>
                  <a:srgbClr val="747B87"/>
                </a:solidFill>
                <a:latin typeface="Segoe UI" pitchFamily="34" charset="0"/>
                <a:ea typeface="Segoe UI" pitchFamily="34" charset="-122"/>
                <a:cs typeface="Segoe UI" pitchFamily="34" charset="-120"/>
              </a:rPr>
              <a:t>COMMON INVOCATIONS</a:t>
            </a:r>
            <a:endParaRPr lang="en-US" sz="1100" dirty="0"/>
          </a:p>
        </p:txBody>
      </p:sp>
      <p:sp>
        <p:nvSpPr>
          <p:cNvPr id="11" name="code divider">
            <a:extLst>
              <a:ext uri="{C183D7F6-B498-43B3-948B-1728B52AA6E4}">
                <adec:decorative xmlns:adec="http://schemas.microsoft.com/office/drawing/2017/decorative" val="1"/>
              </a:ext>
            </a:extLst>
          </p:cNvPr>
          <p:cNvSpPr/>
          <p:nvPr/>
        </p:nvSpPr>
        <p:spPr>
          <a:xfrm>
            <a:off x="768096" y="2057400"/>
            <a:ext cx="3474720" cy="7315"/>
          </a:xfrm>
          <a:prstGeom prst="rect">
            <a:avLst/>
          </a:prstGeom>
          <a:solidFill>
            <a:srgbClr val="343941"/>
          </a:solidFill>
          <a:ln w="12700">
            <a:solidFill>
              <a:srgbClr val="333333"/>
            </a:solidFill>
            <a:prstDash val="solid"/>
          </a:ln>
        </p:spPr>
        <p:txBody>
          <a:bodyPr/>
          <a:lstStyle/>
          <a:p>
            <a:endParaRPr lang="en-SE"/>
          </a:p>
        </p:txBody>
      </p:sp>
      <p:sp>
        <p:nvSpPr>
          <p:cNvPr id="12" name="Text 10"/>
          <p:cNvSpPr/>
          <p:nvPr/>
        </p:nvSpPr>
        <p:spPr>
          <a:xfrm>
            <a:off x="786384" y="2121408"/>
            <a:ext cx="3456432" cy="1719072"/>
          </a:xfrm>
          <a:prstGeom prst="rect">
            <a:avLst/>
          </a:prstGeom>
          <a:noFill/>
          <a:ln/>
        </p:spPr>
        <p:txBody>
          <a:bodyPr wrap="square" lIns="0" tIns="0" rIns="0" bIns="0" rtlCol="0" anchor="t"/>
          <a:lstStyle/>
          <a:p>
            <a:pPr marL="0" indent="0">
              <a:lnSpc>
                <a:spcPts val="1692"/>
              </a:lnSpc>
              <a:buNone/>
            </a:pPr>
            <a:r>
              <a:rPr lang="en-US" sz="1100" b="1" dirty="0">
                <a:solidFill>
                  <a:srgbClr val="F6C978"/>
                </a:solidFill>
                <a:latin typeface="Consolas" pitchFamily="34" charset="0"/>
                <a:ea typeface="Consolas" pitchFamily="34" charset="-122"/>
                <a:cs typeface="Consolas" pitchFamily="34" charset="-120"/>
              </a:rPr>
              <a:t>$ pm-log-srv</a:t>
            </a:r>
            <a:endParaRPr lang="en-US" sz="1100" dirty="0"/>
          </a:p>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 </a:t>
            </a:r>
            <a:endParaRPr lang="en-US" sz="1100" dirty="0"/>
          </a:p>
          <a:p>
            <a:pPr marL="0" indent="0">
              <a:lnSpc>
                <a:spcPts val="1692"/>
              </a:lnSpc>
              <a:buNone/>
            </a:pPr>
            <a:r>
              <a:rPr lang="en-US" sz="1100" b="1" dirty="0">
                <a:solidFill>
                  <a:srgbClr val="F6C978"/>
                </a:solidFill>
                <a:latin typeface="Consolas" pitchFamily="34" charset="0"/>
                <a:ea typeface="Consolas" pitchFamily="34" charset="-122"/>
                <a:cs typeface="Consolas" pitchFamily="34" charset="-120"/>
              </a:rPr>
              <a:t>$ pm-log-srv --host 127.0.0.1 \</a:t>
            </a:r>
            <a:endParaRPr lang="en-US" sz="1100" dirty="0"/>
          </a:p>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      --port 5600 -v</a:t>
            </a:r>
            <a:endParaRPr lang="en-US" sz="1100" dirty="0"/>
          </a:p>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 </a:t>
            </a:r>
            <a:endParaRPr lang="en-US" sz="1100" dirty="0"/>
          </a:p>
          <a:p>
            <a:pPr marL="0" indent="0">
              <a:lnSpc>
                <a:spcPts val="1692"/>
              </a:lnSpc>
              <a:buNone/>
            </a:pPr>
            <a:r>
              <a:rPr lang="en-US" sz="1100" b="1" dirty="0">
                <a:solidFill>
                  <a:srgbClr val="F6C978"/>
                </a:solidFill>
                <a:latin typeface="Consolas" pitchFamily="34" charset="0"/>
                <a:ea typeface="Consolas" pitchFamily="34" charset="-122"/>
                <a:cs typeface="Consolas" pitchFamily="34" charset="-120"/>
              </a:rPr>
              <a:t>$ pm-log-srv --retention-days 0</a:t>
            </a:r>
            <a:endParaRPr lang="en-US" sz="1100" dirty="0"/>
          </a:p>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 </a:t>
            </a:r>
            <a:endParaRPr lang="en-US" sz="1100" dirty="0"/>
          </a:p>
          <a:p>
            <a:pPr marL="0" indent="0">
              <a:lnSpc>
                <a:spcPts val="1692"/>
              </a:lnSpc>
              <a:buNone/>
            </a:pPr>
            <a:r>
              <a:rPr lang="en-US" sz="1100" b="1" dirty="0">
                <a:solidFill>
                  <a:srgbClr val="F6C978"/>
                </a:solidFill>
                <a:latin typeface="Consolas" pitchFamily="34" charset="0"/>
                <a:ea typeface="Consolas" pitchFamily="34" charset="-122"/>
                <a:cs typeface="Consolas" pitchFamily="34" charset="-120"/>
              </a:rPr>
              <a:t>$ pm-log-srv --db /tmp/session.db</a:t>
            </a:r>
            <a:endParaRPr lang="en-US" sz="1100" dirty="0"/>
          </a:p>
        </p:txBody>
      </p:sp>
      <p:sp>
        <p:nvSpPr>
          <p:cNvPr id="13" name="code panel">
            <a:extLst>
              <a:ext uri="{C183D7F6-B498-43B3-948B-1728B52AA6E4}">
                <adec:decorative xmlns:adec="http://schemas.microsoft.com/office/drawing/2017/decorative" val="1"/>
              </a:ext>
            </a:extLst>
          </p:cNvPr>
          <p:cNvSpPr/>
          <p:nvPr/>
        </p:nvSpPr>
        <p:spPr>
          <a:xfrm>
            <a:off x="4700016" y="1737360"/>
            <a:ext cx="3877056" cy="2249424"/>
          </a:xfrm>
          <a:prstGeom prst="rect">
            <a:avLst/>
          </a:prstGeom>
          <a:solidFill>
            <a:srgbClr val="101216"/>
          </a:solidFill>
          <a:ln w="12700">
            <a:solidFill>
              <a:srgbClr val="343941"/>
            </a:solidFill>
            <a:prstDash val="solid"/>
          </a:ln>
        </p:spPr>
        <p:txBody>
          <a:bodyPr/>
          <a:lstStyle/>
          <a:p>
            <a:endParaRPr lang="en-SE"/>
          </a:p>
        </p:txBody>
      </p:sp>
      <p:sp>
        <p:nvSpPr>
          <p:cNvPr id="14" name="code accent edge">
            <a:extLst>
              <a:ext uri="{C183D7F6-B498-43B3-948B-1728B52AA6E4}">
                <adec:decorative xmlns:adec="http://schemas.microsoft.com/office/drawing/2017/decorative" val="1"/>
              </a:ext>
            </a:extLst>
          </p:cNvPr>
          <p:cNvSpPr/>
          <p:nvPr/>
        </p:nvSpPr>
        <p:spPr>
          <a:xfrm>
            <a:off x="4700016" y="1737360"/>
            <a:ext cx="41148" cy="2249424"/>
          </a:xfrm>
          <a:prstGeom prst="rect">
            <a:avLst/>
          </a:prstGeom>
          <a:solidFill>
            <a:srgbClr val="6FA88A"/>
          </a:solidFill>
          <a:ln w="12700">
            <a:solidFill>
              <a:srgbClr val="333333"/>
            </a:solidFill>
            <a:prstDash val="solid"/>
          </a:ln>
        </p:spPr>
        <p:txBody>
          <a:bodyPr/>
          <a:lstStyle/>
          <a:p>
            <a:endParaRPr lang="en-SE"/>
          </a:p>
        </p:txBody>
      </p:sp>
      <p:sp>
        <p:nvSpPr>
          <p:cNvPr id="15" name="Text 13"/>
          <p:cNvSpPr/>
          <p:nvPr/>
        </p:nvSpPr>
        <p:spPr>
          <a:xfrm>
            <a:off x="4901184" y="1810512"/>
            <a:ext cx="3474720" cy="237744"/>
          </a:xfrm>
          <a:prstGeom prst="rect">
            <a:avLst/>
          </a:prstGeom>
          <a:noFill/>
          <a:ln/>
        </p:spPr>
        <p:txBody>
          <a:bodyPr wrap="square" lIns="0" tIns="0" rIns="0" bIns="0" rtlCol="0" anchor="ctr"/>
          <a:lstStyle/>
          <a:p>
            <a:pPr marL="0" indent="0">
              <a:buNone/>
            </a:pPr>
            <a:r>
              <a:rPr lang="en-US" sz="1100" b="1" kern="0" spc="160" dirty="0">
                <a:solidFill>
                  <a:srgbClr val="747B87"/>
                </a:solidFill>
                <a:latin typeface="Segoe UI" pitchFamily="34" charset="0"/>
                <a:ea typeface="Segoe UI" pitchFamily="34" charset="-122"/>
                <a:cs typeface="Segoe UI" pitchFamily="34" charset="-120"/>
              </a:rPr>
              <a:t>WHAT A HEALTHY START LOOKS LIKE</a:t>
            </a:r>
            <a:endParaRPr lang="en-US" sz="1100" dirty="0"/>
          </a:p>
        </p:txBody>
      </p:sp>
      <p:sp>
        <p:nvSpPr>
          <p:cNvPr id="16" name="code divider">
            <a:extLst>
              <a:ext uri="{C183D7F6-B498-43B3-948B-1728B52AA6E4}">
                <adec:decorative xmlns:adec="http://schemas.microsoft.com/office/drawing/2017/decorative" val="1"/>
              </a:ext>
            </a:extLst>
          </p:cNvPr>
          <p:cNvSpPr/>
          <p:nvPr/>
        </p:nvSpPr>
        <p:spPr>
          <a:xfrm>
            <a:off x="4901184" y="2057400"/>
            <a:ext cx="3474720" cy="7315"/>
          </a:xfrm>
          <a:prstGeom prst="rect">
            <a:avLst/>
          </a:prstGeom>
          <a:solidFill>
            <a:srgbClr val="343941"/>
          </a:solidFill>
          <a:ln w="12700">
            <a:solidFill>
              <a:srgbClr val="333333"/>
            </a:solidFill>
            <a:prstDash val="solid"/>
          </a:ln>
        </p:spPr>
        <p:txBody>
          <a:bodyPr/>
          <a:lstStyle/>
          <a:p>
            <a:endParaRPr lang="en-SE"/>
          </a:p>
        </p:txBody>
      </p:sp>
      <p:sp>
        <p:nvSpPr>
          <p:cNvPr id="17" name="Text 15"/>
          <p:cNvSpPr/>
          <p:nvPr/>
        </p:nvSpPr>
        <p:spPr>
          <a:xfrm>
            <a:off x="4919472" y="2121408"/>
            <a:ext cx="3456432" cy="1719072"/>
          </a:xfrm>
          <a:prstGeom prst="rect">
            <a:avLst/>
          </a:prstGeom>
          <a:noFill/>
          <a:ln/>
        </p:spPr>
        <p:txBody>
          <a:bodyPr wrap="square" lIns="0" tIns="0" rIns="0" bIns="0" rtlCol="0" anchor="t"/>
          <a:lstStyle/>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INFO  main - starting pm-log-srv</a:t>
            </a:r>
            <a:endParaRPr lang="en-US" sz="1100" dirty="0"/>
          </a:p>
          <a:p>
            <a:pPr marL="0" indent="0">
              <a:lnSpc>
                <a:spcPts val="1692"/>
              </a:lnSpc>
              <a:buNone/>
            </a:pPr>
            <a:r>
              <a:rPr lang="en-US" sz="1100" dirty="0">
                <a:solidFill>
                  <a:srgbClr val="A3A9B4"/>
                </a:solidFill>
                <a:latin typeface="Consolas" pitchFamily="34" charset="0"/>
                <a:ea typeface="Consolas" pitchFamily="34" charset="-122"/>
                <a:cs typeface="Consolas" pitchFamily="34" charset="-120"/>
              </a:rPr>
              <a:t>      with log level INFO</a:t>
            </a:r>
            <a:endParaRPr lang="en-US" sz="1100" dirty="0"/>
          </a:p>
          <a:p>
            <a:pPr marL="0" indent="0">
              <a:lnSpc>
                <a:spcPts val="1692"/>
              </a:lnSpc>
              <a:buNone/>
            </a:pPr>
            <a:r>
              <a:rPr lang="en-US" sz="1100" dirty="0">
                <a:solidFill>
                  <a:srgbClr val="6FA88A"/>
                </a:solidFill>
                <a:latin typeface="Consolas" pitchFamily="34" charset="0"/>
                <a:ea typeface="Consolas" pitchFamily="34" charset="-122"/>
                <a:cs typeface="Consolas" pitchFamily="34" charset="-120"/>
              </a:rPr>
              <a:t>INFO  server - pm-log-srv 'log-srv01'</a:t>
            </a:r>
            <a:endParaRPr lang="en-US" sz="1100" dirty="0"/>
          </a:p>
          <a:p>
            <a:pPr marL="0" indent="0">
              <a:lnSpc>
                <a:spcPts val="1692"/>
              </a:lnSpc>
              <a:buNone/>
            </a:pPr>
            <a:r>
              <a:rPr lang="en-US" sz="1100" dirty="0">
                <a:solidFill>
                  <a:srgbClr val="6FA88A"/>
                </a:solidFill>
                <a:latin typeface="Consolas" pitchFamily="34" charset="0"/>
                <a:ea typeface="Consolas" pitchFamily="34" charset="-122"/>
                <a:cs typeface="Consolas" pitchFamily="34" charset="-120"/>
              </a:rPr>
              <a:t>      listening on 127.0.0.1:5600</a:t>
            </a:r>
            <a:endParaRPr lang="en-US" sz="1100" dirty="0"/>
          </a:p>
          <a:p>
            <a:pPr marL="0" indent="0">
              <a:lnSpc>
                <a:spcPts val="1692"/>
              </a:lnSpc>
              <a:buNone/>
            </a:pPr>
            <a:r>
              <a:rPr lang="en-US" sz="1100" dirty="0">
                <a:solidFill>
                  <a:srgbClr val="6FA88A"/>
                </a:solidFill>
                <a:latin typeface="Consolas" pitchFamily="34" charset="0"/>
                <a:ea typeface="Consolas" pitchFamily="34" charset="-122"/>
                <a:cs typeface="Consolas" pitchFamily="34" charset="-120"/>
              </a:rPr>
              <a:t>      db=data/log.db</a:t>
            </a:r>
            <a:endParaRPr lang="en-US" sz="1100" dirty="0"/>
          </a:p>
          <a:p>
            <a:pPr marL="0" indent="0">
              <a:lnSpc>
                <a:spcPts val="1692"/>
              </a:lnSpc>
              <a:buNone/>
            </a:pPr>
            <a:r>
              <a:rPr lang="en-US" sz="1100" dirty="0">
                <a:solidFill>
                  <a:srgbClr val="6FA88A"/>
                </a:solidFill>
                <a:latin typeface="Consolas" pitchFamily="34" charset="0"/>
                <a:ea typeface="Consolas" pitchFamily="34" charset="-122"/>
                <a:cs typeface="Consolas" pitchFamily="34" charset="-120"/>
              </a:rPr>
              <a:t>      retention_days=30</a:t>
            </a:r>
            <a:endParaRPr lang="en-US" sz="1100" dirty="0"/>
          </a:p>
          <a:p>
            <a:pPr marL="0" indent="0">
              <a:lnSpc>
                <a:spcPts val="1692"/>
              </a:lnSpc>
              <a:buNone/>
            </a:pPr>
            <a:r>
              <a:rPr lang="en-US" sz="1100" dirty="0">
                <a:solidFill>
                  <a:srgbClr val="5E8CA8"/>
                </a:solidFill>
                <a:latin typeface="Consolas" pitchFamily="34" charset="0"/>
                <a:ea typeface="Consolas" pitchFamily="34" charset="-122"/>
                <a:cs typeface="Consolas" pitchFamily="34" charset="-120"/>
              </a:rPr>
              <a:t>INFO  pubsub - LALF-PS interface up:</a:t>
            </a:r>
            <a:endParaRPr lang="en-US" sz="1100" dirty="0"/>
          </a:p>
          <a:p>
            <a:pPr marL="0" indent="0">
              <a:lnSpc>
                <a:spcPts val="1692"/>
              </a:lnSpc>
              <a:buNone/>
            </a:pPr>
            <a:r>
              <a:rPr lang="en-US" sz="1100" dirty="0">
                <a:solidFill>
                  <a:srgbClr val="5E8CA8"/>
                </a:solidFill>
                <a:latin typeface="Consolas" pitchFamily="34" charset="0"/>
                <a:ea typeface="Consolas" pitchFamily="34" charset="-122"/>
                <a:cs typeface="Consolas" pitchFamily="34" charset="-120"/>
              </a:rPr>
              <a:t>      PUB=:5601  PULL=:5602  lease=30s</a:t>
            </a:r>
            <a:endParaRPr lang="en-US" sz="1100" dirty="0"/>
          </a:p>
        </p:txBody>
      </p:sp>
      <p:sp>
        <p:nvSpPr>
          <p:cNvPr id="18" name="card background">
            <a:extLst>
              <a:ext uri="{C183D7F6-B498-43B3-948B-1728B52AA6E4}">
                <adec:decorative xmlns:adec="http://schemas.microsoft.com/office/drawing/2017/decorative" val="1"/>
              </a:ext>
            </a:extLst>
          </p:cNvPr>
          <p:cNvSpPr/>
          <p:nvPr/>
        </p:nvSpPr>
        <p:spPr>
          <a:xfrm>
            <a:off x="566928" y="4125468"/>
            <a:ext cx="8010144" cy="914400"/>
          </a:xfrm>
          <a:prstGeom prst="rect">
            <a:avLst/>
          </a:prstGeom>
          <a:solidFill>
            <a:srgbClr val="282C33"/>
          </a:solidFill>
          <a:ln w="12700">
            <a:solidFill>
              <a:srgbClr val="343941"/>
            </a:solidFill>
            <a:prstDash val="solid"/>
          </a:ln>
        </p:spPr>
        <p:txBody>
          <a:bodyPr/>
          <a:lstStyle/>
          <a:p>
            <a:endParaRPr lang="en-SE"/>
          </a:p>
        </p:txBody>
      </p:sp>
      <p:sp>
        <p:nvSpPr>
          <p:cNvPr id="19" name="card accent edge">
            <a:extLst>
              <a:ext uri="{C183D7F6-B498-43B3-948B-1728B52AA6E4}">
                <adec:decorative xmlns:adec="http://schemas.microsoft.com/office/drawing/2017/decorative" val="1"/>
              </a:ext>
            </a:extLst>
          </p:cNvPr>
          <p:cNvSpPr/>
          <p:nvPr/>
        </p:nvSpPr>
        <p:spPr>
          <a:xfrm>
            <a:off x="566928" y="4125468"/>
            <a:ext cx="50292" cy="914400"/>
          </a:xfrm>
          <a:prstGeom prst="rect">
            <a:avLst/>
          </a:prstGeom>
          <a:solidFill>
            <a:srgbClr val="E8A33D"/>
          </a:solidFill>
          <a:ln w="12700">
            <a:solidFill>
              <a:srgbClr val="333333"/>
            </a:solidFill>
            <a:prstDash val="solid"/>
          </a:ln>
        </p:spPr>
        <p:txBody>
          <a:bodyPr/>
          <a:lstStyle/>
          <a:p>
            <a:endParaRPr lang="en-SE"/>
          </a:p>
        </p:txBody>
      </p:sp>
      <p:sp>
        <p:nvSpPr>
          <p:cNvPr id="20" name="Text 18"/>
          <p:cNvSpPr/>
          <p:nvPr/>
        </p:nvSpPr>
        <p:spPr>
          <a:xfrm>
            <a:off x="822960" y="4253484"/>
            <a:ext cx="7498080"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Segoe UI" pitchFamily="34" charset="0"/>
                <a:ea typeface="Segoe UI" pitchFamily="34" charset="-122"/>
                <a:cs typeface="Segoe UI" pitchFamily="34" charset="-120"/>
              </a:rPr>
              <a:t>Read those three lines before you start anything else</a:t>
            </a:r>
            <a:endParaRPr lang="en-US" sz="1200" dirty="0"/>
          </a:p>
        </p:txBody>
      </p:sp>
      <p:sp>
        <p:nvSpPr>
          <p:cNvPr id="21" name="Text 19"/>
          <p:cNvSpPr/>
          <p:nvPr/>
        </p:nvSpPr>
        <p:spPr>
          <a:xfrm>
            <a:off x="822960" y="4527804"/>
            <a:ext cx="7498080" cy="457200"/>
          </a:xfrm>
          <a:prstGeom prst="rect">
            <a:avLst/>
          </a:prstGeom>
          <a:noFill/>
          <a:ln/>
        </p:spPr>
        <p:txBody>
          <a:bodyPr wrap="square" lIns="0" tIns="0" rIns="0" bIns="0" rtlCol="0" anchor="t"/>
          <a:lstStyle/>
          <a:p>
            <a:pPr marL="0" indent="0" algn="l">
              <a:lnSpc>
                <a:spcPts val="1420"/>
              </a:lnSpc>
              <a:buNone/>
            </a:pPr>
            <a:r>
              <a:rPr lang="en-US" sz="1100" dirty="0">
                <a:solidFill>
                  <a:srgbClr val="A3A9B4"/>
                </a:solidFill>
                <a:latin typeface="Segoe UI" pitchFamily="34" charset="0"/>
                <a:ea typeface="Segoe UI" pitchFamily="34" charset="-122"/>
                <a:cs typeface="Segoe UI" pitchFamily="34" charset="-120"/>
              </a:rPr>
              <a:t>They tell you the bind address clients must reach, the exact database file every query tool must open, and whether live distribution came up. Almost every later confusion traces back to one of these three not being what you assumed.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STARTUP</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18</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One process, three ports - </a:t>
            </a:r>
            <a:br>
              <a:rPr lang="en-US" sz="2700" dirty="0">
                <a:solidFill>
                  <a:srgbClr val="EDEEF1"/>
                </a:solidFill>
                <a:latin typeface="Georgia" pitchFamily="34" charset="0"/>
                <a:ea typeface="Georgia" pitchFamily="34" charset="-122"/>
                <a:cs typeface="Georgia" pitchFamily="34" charset="-120"/>
              </a:rPr>
            </a:br>
            <a:r>
              <a:rPr lang="en-US" sz="2700" dirty="0">
                <a:solidFill>
                  <a:srgbClr val="EDEEF1"/>
                </a:solidFill>
                <a:latin typeface="Georgia" pitchFamily="34" charset="0"/>
                <a:ea typeface="Georgia" pitchFamily="34" charset="-122"/>
                <a:cs typeface="Georgia" pitchFamily="34" charset="-120"/>
              </a:rPr>
              <a:t>and they are not interchangeable</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pm-log-srv occupies a contiguous block. All three must be different or the server refuses to start.</a:t>
            </a:r>
            <a:endParaRPr lang="en-US" sz="140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2542032" cy="239572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2542032" cy="45720"/>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786384" y="1956816"/>
            <a:ext cx="2103120" cy="457200"/>
          </a:xfrm>
          <a:prstGeom prst="rect">
            <a:avLst/>
          </a:prstGeom>
          <a:noFill/>
          <a:ln/>
        </p:spPr>
        <p:txBody>
          <a:bodyPr wrap="square" lIns="0" tIns="0" rIns="0" bIns="0" rtlCol="0" anchor="ctr"/>
          <a:lstStyle/>
          <a:p>
            <a:pPr marL="0" indent="0" algn="l">
              <a:lnSpc>
                <a:spcPts val="1500"/>
              </a:lnSpc>
              <a:buNone/>
            </a:pPr>
            <a:r>
              <a:rPr lang="en-US" sz="2600" dirty="0">
                <a:solidFill>
                  <a:srgbClr val="E8A33D"/>
                </a:solidFill>
                <a:latin typeface="Consolas" pitchFamily="34" charset="0"/>
                <a:ea typeface="Consolas" pitchFamily="34" charset="-122"/>
                <a:cs typeface="Consolas" pitchFamily="34" charset="-120"/>
              </a:rPr>
              <a:t>5600</a:t>
            </a:r>
            <a:endParaRPr lang="en-US" sz="2600" dirty="0"/>
          </a:p>
        </p:txBody>
      </p:sp>
      <p:sp>
        <p:nvSpPr>
          <p:cNvPr id="11" name="Text 9"/>
          <p:cNvSpPr/>
          <p:nvPr/>
        </p:nvSpPr>
        <p:spPr>
          <a:xfrm>
            <a:off x="786384" y="2468880"/>
            <a:ext cx="2103120" cy="219456"/>
          </a:xfrm>
          <a:prstGeom prst="rect">
            <a:avLst/>
          </a:prstGeom>
          <a:noFill/>
          <a:ln/>
        </p:spPr>
        <p:txBody>
          <a:bodyPr wrap="square" lIns="0" tIns="0" rIns="0" bIns="0" rtlCol="0" anchor="ctr"/>
          <a:lstStyle/>
          <a:p>
            <a:pPr marL="0" indent="0" algn="l">
              <a:buNone/>
            </a:pPr>
            <a:r>
              <a:rPr lang="en-US" sz="1100" b="1" kern="0" spc="180" dirty="0">
                <a:solidFill>
                  <a:srgbClr val="EDEEF1"/>
                </a:solidFill>
                <a:latin typeface="Segoe UI" pitchFamily="34" charset="0"/>
                <a:ea typeface="Segoe UI" pitchFamily="34" charset="-122"/>
                <a:cs typeface="Segoe UI" pitchFamily="34" charset="-120"/>
              </a:rPr>
              <a:t>LALF / TCP</a:t>
            </a:r>
            <a:endParaRPr lang="en-US" sz="1100" dirty="0"/>
          </a:p>
        </p:txBody>
      </p:sp>
      <p:sp>
        <p:nvSpPr>
          <p:cNvPr id="12" name="card rule">
            <a:extLst>
              <a:ext uri="{C183D7F6-B498-43B3-948B-1728B52AA6E4}">
                <adec:decorative xmlns:adec="http://schemas.microsoft.com/office/drawing/2017/decorative" val="1"/>
              </a:ext>
            </a:extLst>
          </p:cNvPr>
          <p:cNvSpPr/>
          <p:nvPr/>
        </p:nvSpPr>
        <p:spPr>
          <a:xfrm>
            <a:off x="786384" y="2761488"/>
            <a:ext cx="457200" cy="10973"/>
          </a:xfrm>
          <a:prstGeom prst="rect">
            <a:avLst/>
          </a:prstGeom>
          <a:solidFill>
            <a:srgbClr val="E8A33D"/>
          </a:solidFill>
          <a:ln w="12700">
            <a:solidFill>
              <a:srgbClr val="333333"/>
            </a:solidFill>
            <a:prstDash val="solid"/>
          </a:ln>
        </p:spPr>
        <p:txBody>
          <a:bodyPr/>
          <a:lstStyle/>
          <a:p>
            <a:endParaRPr lang="en-SE"/>
          </a:p>
        </p:txBody>
      </p:sp>
      <p:sp>
        <p:nvSpPr>
          <p:cNvPr id="13" name="Text 11"/>
          <p:cNvSpPr/>
          <p:nvPr/>
        </p:nvSpPr>
        <p:spPr>
          <a:xfrm>
            <a:off x="786384" y="2926080"/>
            <a:ext cx="2103120" cy="822960"/>
          </a:xfrm>
          <a:prstGeom prst="rect">
            <a:avLst/>
          </a:prstGeom>
          <a:noFill/>
          <a:ln/>
        </p:spPr>
        <p:txBody>
          <a:bodyPr wrap="square" lIns="0" tIns="0" rIns="0" bIns="0" rtlCol="0" anchor="t"/>
          <a:lstStyle/>
          <a:p>
            <a:pPr marL="0" indent="0" algn="l">
              <a:lnSpc>
                <a:spcPts val="1420"/>
              </a:lnSpc>
              <a:buNone/>
            </a:pPr>
            <a:r>
              <a:rPr lang="en-US" sz="1100" dirty="0">
                <a:solidFill>
                  <a:srgbClr val="A3A9B4"/>
                </a:solidFill>
                <a:latin typeface="Segoe UI" pitchFamily="34" charset="0"/>
                <a:ea typeface="Segoe UI" pitchFamily="34" charset="-122"/>
                <a:cs typeface="Segoe UI" pitchFamily="34" charset="-120"/>
              </a:rPr>
              <a:t>Logs coming in. Every pm-* process connects here to send its own records.</a:t>
            </a:r>
            <a:endParaRPr lang="en-US" sz="1100" dirty="0"/>
          </a:p>
        </p:txBody>
      </p:sp>
      <p:sp>
        <p:nvSpPr>
          <p:cNvPr id="14" name="Text 12"/>
          <p:cNvSpPr/>
          <p:nvPr/>
        </p:nvSpPr>
        <p:spPr>
          <a:xfrm>
            <a:off x="786384" y="3767328"/>
            <a:ext cx="2103120" cy="219456"/>
          </a:xfrm>
          <a:prstGeom prst="rect">
            <a:avLst/>
          </a:prstGeom>
          <a:noFill/>
          <a:ln/>
        </p:spPr>
        <p:txBody>
          <a:bodyPr wrap="square" lIns="0" tIns="0" rIns="0" bIns="0" rtlCol="0" anchor="ctr"/>
          <a:lstStyle/>
          <a:p>
            <a:pPr marL="0" indent="0" algn="l">
              <a:lnSpc>
                <a:spcPts val="1500"/>
              </a:lnSpc>
              <a:buNone/>
            </a:pPr>
            <a:r>
              <a:rPr lang="en-US" sz="1100" dirty="0">
                <a:solidFill>
                  <a:srgbClr val="747B87"/>
                </a:solidFill>
                <a:latin typeface="Consolas" pitchFamily="34" charset="0"/>
                <a:ea typeface="Consolas" pitchFamily="34" charset="-122"/>
                <a:cs typeface="Consolas" pitchFamily="34" charset="-120"/>
              </a:rPr>
              <a:t>--port</a:t>
            </a:r>
            <a:endParaRPr lang="en-US" sz="1100" dirty="0"/>
          </a:p>
        </p:txBody>
      </p:sp>
      <p:sp>
        <p:nvSpPr>
          <p:cNvPr id="15" name="chip background">
            <a:extLst>
              <a:ext uri="{C183D7F6-B498-43B3-948B-1728B52AA6E4}">
                <adec:decorative xmlns:adec="http://schemas.microsoft.com/office/drawing/2017/decorative" val="1"/>
              </a:ext>
            </a:extLst>
          </p:cNvPr>
          <p:cNvSpPr/>
          <p:nvPr/>
        </p:nvSpPr>
        <p:spPr>
          <a:xfrm>
            <a:off x="1938528" y="3749040"/>
            <a:ext cx="950976" cy="256032"/>
          </a:xfrm>
          <a:prstGeom prst="roundRect">
            <a:avLst>
              <a:gd name="adj" fmla="val 42857"/>
            </a:avLst>
          </a:prstGeom>
          <a:solidFill>
            <a:srgbClr val="1B1E23"/>
          </a:solidFill>
          <a:ln w="12700">
            <a:solidFill>
              <a:srgbClr val="444B55"/>
            </a:solidFill>
            <a:prstDash val="solid"/>
          </a:ln>
        </p:spPr>
        <p:txBody>
          <a:bodyPr/>
          <a:lstStyle/>
          <a:p>
            <a:endParaRPr lang="en-SE"/>
          </a:p>
        </p:txBody>
      </p:sp>
      <p:sp>
        <p:nvSpPr>
          <p:cNvPr id="16" name="Text 14"/>
          <p:cNvSpPr/>
          <p:nvPr/>
        </p:nvSpPr>
        <p:spPr>
          <a:xfrm>
            <a:off x="1993392" y="3749040"/>
            <a:ext cx="841248" cy="256032"/>
          </a:xfrm>
          <a:prstGeom prst="rect">
            <a:avLst/>
          </a:prstGeom>
          <a:noFill/>
          <a:ln/>
        </p:spPr>
        <p:txBody>
          <a:bodyPr wrap="square" lIns="0" tIns="0" rIns="0" bIns="0" rtlCol="0" anchor="ctr"/>
          <a:lstStyle/>
          <a:p>
            <a:pPr marL="0" indent="0" algn="ctr">
              <a:buNone/>
            </a:pPr>
            <a:r>
              <a:rPr lang="en-US" sz="1100" b="1" dirty="0">
                <a:solidFill>
                  <a:srgbClr val="E8A33D"/>
                </a:solidFill>
                <a:latin typeface="Segoe UI" pitchFamily="34" charset="0"/>
                <a:ea typeface="Segoe UI" pitchFamily="34" charset="-122"/>
                <a:cs typeface="Segoe UI" pitchFamily="34" charset="-120"/>
              </a:rPr>
              <a:t>Producers</a:t>
            </a:r>
            <a:endParaRPr lang="en-US" sz="1100" dirty="0"/>
          </a:p>
        </p:txBody>
      </p:sp>
      <p:sp>
        <p:nvSpPr>
          <p:cNvPr id="17" name="card background">
            <a:extLst>
              <a:ext uri="{C183D7F6-B498-43B3-948B-1728B52AA6E4}">
                <adec:decorative xmlns:adec="http://schemas.microsoft.com/office/drawing/2017/decorative" val="1"/>
              </a:ext>
            </a:extLst>
          </p:cNvPr>
          <p:cNvSpPr/>
          <p:nvPr/>
        </p:nvSpPr>
        <p:spPr>
          <a:xfrm>
            <a:off x="3328416" y="1773936"/>
            <a:ext cx="2542032" cy="239572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8" name="card top accent">
            <a:extLst>
              <a:ext uri="{C183D7F6-B498-43B3-948B-1728B52AA6E4}">
                <adec:decorative xmlns:adec="http://schemas.microsoft.com/office/drawing/2017/decorative" val="1"/>
              </a:ext>
            </a:extLst>
          </p:cNvPr>
          <p:cNvSpPr/>
          <p:nvPr/>
        </p:nvSpPr>
        <p:spPr>
          <a:xfrm>
            <a:off x="3328416" y="1773936"/>
            <a:ext cx="2542032" cy="45720"/>
          </a:xfrm>
          <a:prstGeom prst="rect">
            <a:avLst/>
          </a:prstGeom>
          <a:solidFill>
            <a:srgbClr val="8A7EA8"/>
          </a:solidFill>
          <a:ln w="12700">
            <a:solidFill>
              <a:srgbClr val="333333"/>
            </a:solidFill>
            <a:prstDash val="solid"/>
          </a:ln>
        </p:spPr>
        <p:txBody>
          <a:bodyPr/>
          <a:lstStyle/>
          <a:p>
            <a:endParaRPr lang="en-SE"/>
          </a:p>
        </p:txBody>
      </p:sp>
      <p:sp>
        <p:nvSpPr>
          <p:cNvPr id="19" name="Text 17"/>
          <p:cNvSpPr/>
          <p:nvPr/>
        </p:nvSpPr>
        <p:spPr>
          <a:xfrm>
            <a:off x="3547872" y="1956816"/>
            <a:ext cx="2103120" cy="457200"/>
          </a:xfrm>
          <a:prstGeom prst="rect">
            <a:avLst/>
          </a:prstGeom>
          <a:noFill/>
          <a:ln/>
        </p:spPr>
        <p:txBody>
          <a:bodyPr wrap="square" lIns="0" tIns="0" rIns="0" bIns="0" rtlCol="0" anchor="ctr"/>
          <a:lstStyle/>
          <a:p>
            <a:pPr marL="0" indent="0" algn="l">
              <a:lnSpc>
                <a:spcPts val="1500"/>
              </a:lnSpc>
              <a:buNone/>
            </a:pPr>
            <a:r>
              <a:rPr lang="en-US" sz="2600" dirty="0">
                <a:solidFill>
                  <a:srgbClr val="8A7EA8"/>
                </a:solidFill>
                <a:latin typeface="Consolas" pitchFamily="34" charset="0"/>
                <a:ea typeface="Consolas" pitchFamily="34" charset="-122"/>
                <a:cs typeface="Consolas" pitchFamily="34" charset="-120"/>
              </a:rPr>
              <a:t>5601</a:t>
            </a:r>
            <a:endParaRPr lang="en-US" sz="2600" dirty="0"/>
          </a:p>
        </p:txBody>
      </p:sp>
      <p:sp>
        <p:nvSpPr>
          <p:cNvPr id="20" name="Text 18"/>
          <p:cNvSpPr/>
          <p:nvPr/>
        </p:nvSpPr>
        <p:spPr>
          <a:xfrm>
            <a:off x="3547872" y="2468880"/>
            <a:ext cx="2103120" cy="219456"/>
          </a:xfrm>
          <a:prstGeom prst="rect">
            <a:avLst/>
          </a:prstGeom>
          <a:noFill/>
          <a:ln/>
        </p:spPr>
        <p:txBody>
          <a:bodyPr wrap="square" lIns="0" tIns="0" rIns="0" bIns="0" rtlCol="0" anchor="ctr"/>
          <a:lstStyle/>
          <a:p>
            <a:pPr marL="0" indent="0" algn="l">
              <a:buNone/>
            </a:pPr>
            <a:r>
              <a:rPr lang="en-US" sz="1100" b="1" kern="0" spc="180" dirty="0">
                <a:solidFill>
                  <a:srgbClr val="EDEEF1"/>
                </a:solidFill>
                <a:latin typeface="Segoe UI" pitchFamily="34" charset="0"/>
                <a:ea typeface="Segoe UI" pitchFamily="34" charset="-122"/>
                <a:cs typeface="Segoe UI" pitchFamily="34" charset="-120"/>
              </a:rPr>
              <a:t>LALF-PS PUB</a:t>
            </a:r>
            <a:endParaRPr lang="en-US" sz="1100" dirty="0"/>
          </a:p>
        </p:txBody>
      </p:sp>
      <p:sp>
        <p:nvSpPr>
          <p:cNvPr id="21" name="card rule">
            <a:extLst>
              <a:ext uri="{C183D7F6-B498-43B3-948B-1728B52AA6E4}">
                <adec:decorative xmlns:adec="http://schemas.microsoft.com/office/drawing/2017/decorative" val="1"/>
              </a:ext>
            </a:extLst>
          </p:cNvPr>
          <p:cNvSpPr/>
          <p:nvPr/>
        </p:nvSpPr>
        <p:spPr>
          <a:xfrm>
            <a:off x="3547872" y="2761488"/>
            <a:ext cx="457200" cy="10973"/>
          </a:xfrm>
          <a:prstGeom prst="rect">
            <a:avLst/>
          </a:prstGeom>
          <a:solidFill>
            <a:srgbClr val="8A7EA8"/>
          </a:solidFill>
          <a:ln w="12700">
            <a:solidFill>
              <a:srgbClr val="333333"/>
            </a:solidFill>
            <a:prstDash val="solid"/>
          </a:ln>
        </p:spPr>
        <p:txBody>
          <a:bodyPr/>
          <a:lstStyle/>
          <a:p>
            <a:endParaRPr lang="en-SE"/>
          </a:p>
        </p:txBody>
      </p:sp>
      <p:sp>
        <p:nvSpPr>
          <p:cNvPr id="22" name="Text 20"/>
          <p:cNvSpPr/>
          <p:nvPr/>
        </p:nvSpPr>
        <p:spPr>
          <a:xfrm>
            <a:off x="3547872" y="2926080"/>
            <a:ext cx="2103120" cy="822960"/>
          </a:xfrm>
          <a:prstGeom prst="rect">
            <a:avLst/>
          </a:prstGeom>
          <a:noFill/>
          <a:ln/>
        </p:spPr>
        <p:txBody>
          <a:bodyPr wrap="square" lIns="0" tIns="0" rIns="0" bIns="0" rtlCol="0" anchor="t"/>
          <a:lstStyle/>
          <a:p>
            <a:pPr marL="0" indent="0" algn="l">
              <a:lnSpc>
                <a:spcPts val="1420"/>
              </a:lnSpc>
              <a:buNone/>
            </a:pPr>
            <a:r>
              <a:rPr lang="en-US" sz="1100" dirty="0">
                <a:solidFill>
                  <a:srgbClr val="A3A9B4"/>
                </a:solidFill>
                <a:latin typeface="Segoe UI" pitchFamily="34" charset="0"/>
                <a:ea typeface="Segoe UI" pitchFamily="34" charset="-122"/>
                <a:cs typeface="Segoe UI" pitchFamily="34" charset="-120"/>
              </a:rPr>
              <a:t>Live rows going out over ZeroMQ, pushed the moment each row is committed.</a:t>
            </a:r>
            <a:endParaRPr lang="en-US" sz="1100" dirty="0"/>
          </a:p>
        </p:txBody>
      </p:sp>
      <p:sp>
        <p:nvSpPr>
          <p:cNvPr id="23" name="Text 21"/>
          <p:cNvSpPr/>
          <p:nvPr/>
        </p:nvSpPr>
        <p:spPr>
          <a:xfrm>
            <a:off x="3547872" y="3767328"/>
            <a:ext cx="2103120" cy="219456"/>
          </a:xfrm>
          <a:prstGeom prst="rect">
            <a:avLst/>
          </a:prstGeom>
          <a:noFill/>
          <a:ln/>
        </p:spPr>
        <p:txBody>
          <a:bodyPr wrap="square" lIns="0" tIns="0" rIns="0" bIns="0" rtlCol="0" anchor="ctr"/>
          <a:lstStyle/>
          <a:p>
            <a:pPr marL="0" indent="0" algn="l">
              <a:lnSpc>
                <a:spcPts val="1500"/>
              </a:lnSpc>
              <a:buNone/>
            </a:pPr>
            <a:r>
              <a:rPr lang="en-US" sz="1100" dirty="0">
                <a:solidFill>
                  <a:srgbClr val="747B87"/>
                </a:solidFill>
                <a:latin typeface="Consolas" pitchFamily="34" charset="0"/>
                <a:ea typeface="Consolas" pitchFamily="34" charset="-122"/>
                <a:cs typeface="Consolas" pitchFamily="34" charset="-120"/>
              </a:rPr>
              <a:t>--pub-port</a:t>
            </a:r>
            <a:endParaRPr lang="en-US" sz="1100" dirty="0"/>
          </a:p>
        </p:txBody>
      </p:sp>
      <p:sp>
        <p:nvSpPr>
          <p:cNvPr id="24" name="chip background">
            <a:extLst>
              <a:ext uri="{C183D7F6-B498-43B3-948B-1728B52AA6E4}">
                <adec:decorative xmlns:adec="http://schemas.microsoft.com/office/drawing/2017/decorative" val="1"/>
              </a:ext>
            </a:extLst>
          </p:cNvPr>
          <p:cNvSpPr/>
          <p:nvPr/>
        </p:nvSpPr>
        <p:spPr>
          <a:xfrm>
            <a:off x="4700016" y="3749040"/>
            <a:ext cx="950976" cy="256032"/>
          </a:xfrm>
          <a:prstGeom prst="roundRect">
            <a:avLst>
              <a:gd name="adj" fmla="val 42857"/>
            </a:avLst>
          </a:prstGeom>
          <a:solidFill>
            <a:srgbClr val="1B1E23"/>
          </a:solidFill>
          <a:ln w="12700">
            <a:solidFill>
              <a:srgbClr val="444B55"/>
            </a:solidFill>
            <a:prstDash val="solid"/>
          </a:ln>
        </p:spPr>
        <p:txBody>
          <a:bodyPr/>
          <a:lstStyle/>
          <a:p>
            <a:endParaRPr lang="en-SE" sz="3200"/>
          </a:p>
        </p:txBody>
      </p:sp>
      <p:sp>
        <p:nvSpPr>
          <p:cNvPr id="25" name="Text 23"/>
          <p:cNvSpPr/>
          <p:nvPr/>
        </p:nvSpPr>
        <p:spPr>
          <a:xfrm>
            <a:off x="4754880" y="3749040"/>
            <a:ext cx="841248" cy="256032"/>
          </a:xfrm>
          <a:prstGeom prst="rect">
            <a:avLst/>
          </a:prstGeom>
          <a:noFill/>
          <a:ln/>
        </p:spPr>
        <p:txBody>
          <a:bodyPr wrap="square" lIns="0" tIns="0" rIns="0" bIns="0" rtlCol="0" anchor="ctr"/>
          <a:lstStyle/>
          <a:p>
            <a:pPr marL="0" indent="0" algn="ctr">
              <a:buNone/>
            </a:pPr>
            <a:r>
              <a:rPr lang="en-US" sz="1100" b="1" dirty="0">
                <a:solidFill>
                  <a:srgbClr val="8A7EA8"/>
                </a:solidFill>
                <a:latin typeface="Segoe UI" pitchFamily="34" charset="0"/>
                <a:ea typeface="Segoe UI" pitchFamily="34" charset="-122"/>
                <a:cs typeface="Segoe UI" pitchFamily="34" charset="-120"/>
              </a:rPr>
              <a:t>Live viewers</a:t>
            </a:r>
            <a:endParaRPr lang="en-US" sz="1100" dirty="0"/>
          </a:p>
        </p:txBody>
      </p:sp>
      <p:sp>
        <p:nvSpPr>
          <p:cNvPr id="26" name="card background">
            <a:extLst>
              <a:ext uri="{C183D7F6-B498-43B3-948B-1728B52AA6E4}">
                <adec:decorative xmlns:adec="http://schemas.microsoft.com/office/drawing/2017/decorative" val="1"/>
              </a:ext>
            </a:extLst>
          </p:cNvPr>
          <p:cNvSpPr/>
          <p:nvPr/>
        </p:nvSpPr>
        <p:spPr>
          <a:xfrm>
            <a:off x="6089904" y="1773936"/>
            <a:ext cx="2542032" cy="239572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7" name="card top accent">
            <a:extLst>
              <a:ext uri="{C183D7F6-B498-43B3-948B-1728B52AA6E4}">
                <adec:decorative xmlns:adec="http://schemas.microsoft.com/office/drawing/2017/decorative" val="1"/>
              </a:ext>
            </a:extLst>
          </p:cNvPr>
          <p:cNvSpPr/>
          <p:nvPr/>
        </p:nvSpPr>
        <p:spPr>
          <a:xfrm>
            <a:off x="6089904" y="1773936"/>
            <a:ext cx="2542032" cy="45720"/>
          </a:xfrm>
          <a:prstGeom prst="rect">
            <a:avLst/>
          </a:prstGeom>
          <a:solidFill>
            <a:srgbClr val="5E8CA8"/>
          </a:solidFill>
          <a:ln w="12700">
            <a:solidFill>
              <a:srgbClr val="333333"/>
            </a:solidFill>
            <a:prstDash val="solid"/>
          </a:ln>
        </p:spPr>
        <p:txBody>
          <a:bodyPr/>
          <a:lstStyle/>
          <a:p>
            <a:endParaRPr lang="en-SE"/>
          </a:p>
        </p:txBody>
      </p:sp>
      <p:sp>
        <p:nvSpPr>
          <p:cNvPr id="28" name="Text 26"/>
          <p:cNvSpPr/>
          <p:nvPr/>
        </p:nvSpPr>
        <p:spPr>
          <a:xfrm>
            <a:off x="6309360" y="1956816"/>
            <a:ext cx="2103120" cy="457200"/>
          </a:xfrm>
          <a:prstGeom prst="rect">
            <a:avLst/>
          </a:prstGeom>
          <a:noFill/>
          <a:ln/>
        </p:spPr>
        <p:txBody>
          <a:bodyPr wrap="square" lIns="0" tIns="0" rIns="0" bIns="0" rtlCol="0" anchor="ctr"/>
          <a:lstStyle/>
          <a:p>
            <a:pPr marL="0" indent="0" algn="l">
              <a:lnSpc>
                <a:spcPts val="1500"/>
              </a:lnSpc>
              <a:buNone/>
            </a:pPr>
            <a:r>
              <a:rPr lang="en-US" sz="2600" dirty="0">
                <a:solidFill>
                  <a:srgbClr val="5E8CA8"/>
                </a:solidFill>
                <a:latin typeface="Consolas" pitchFamily="34" charset="0"/>
                <a:ea typeface="Consolas" pitchFamily="34" charset="-122"/>
                <a:cs typeface="Consolas" pitchFamily="34" charset="-120"/>
              </a:rPr>
              <a:t>5602</a:t>
            </a:r>
            <a:endParaRPr lang="en-US" sz="2600" dirty="0"/>
          </a:p>
        </p:txBody>
      </p:sp>
      <p:sp>
        <p:nvSpPr>
          <p:cNvPr id="29" name="Text 27"/>
          <p:cNvSpPr/>
          <p:nvPr/>
        </p:nvSpPr>
        <p:spPr>
          <a:xfrm>
            <a:off x="6309360" y="2468880"/>
            <a:ext cx="2103120" cy="219456"/>
          </a:xfrm>
          <a:prstGeom prst="rect">
            <a:avLst/>
          </a:prstGeom>
          <a:noFill/>
          <a:ln/>
        </p:spPr>
        <p:txBody>
          <a:bodyPr wrap="square" lIns="0" tIns="0" rIns="0" bIns="0" rtlCol="0" anchor="ctr"/>
          <a:lstStyle/>
          <a:p>
            <a:pPr marL="0" indent="0" algn="l">
              <a:buNone/>
            </a:pPr>
            <a:r>
              <a:rPr lang="en-US" sz="1100" b="1" kern="0" spc="180" dirty="0">
                <a:solidFill>
                  <a:srgbClr val="EDEEF1"/>
                </a:solidFill>
                <a:latin typeface="Segoe UI" pitchFamily="34" charset="0"/>
                <a:ea typeface="Segoe UI" pitchFamily="34" charset="-122"/>
                <a:cs typeface="Segoe UI" pitchFamily="34" charset="-120"/>
              </a:rPr>
              <a:t>LALF-PS PULL</a:t>
            </a:r>
            <a:endParaRPr lang="en-US" sz="1100" dirty="0"/>
          </a:p>
        </p:txBody>
      </p:sp>
      <p:sp>
        <p:nvSpPr>
          <p:cNvPr id="30" name="card rule">
            <a:extLst>
              <a:ext uri="{C183D7F6-B498-43B3-948B-1728B52AA6E4}">
                <adec:decorative xmlns:adec="http://schemas.microsoft.com/office/drawing/2017/decorative" val="1"/>
              </a:ext>
            </a:extLst>
          </p:cNvPr>
          <p:cNvSpPr/>
          <p:nvPr/>
        </p:nvSpPr>
        <p:spPr>
          <a:xfrm>
            <a:off x="6309360" y="2761488"/>
            <a:ext cx="457200" cy="10973"/>
          </a:xfrm>
          <a:prstGeom prst="rect">
            <a:avLst/>
          </a:prstGeom>
          <a:solidFill>
            <a:srgbClr val="5E8CA8"/>
          </a:solidFill>
          <a:ln w="12700">
            <a:solidFill>
              <a:srgbClr val="333333"/>
            </a:solidFill>
            <a:prstDash val="solid"/>
          </a:ln>
        </p:spPr>
        <p:txBody>
          <a:bodyPr/>
          <a:lstStyle/>
          <a:p>
            <a:endParaRPr lang="en-SE"/>
          </a:p>
        </p:txBody>
      </p:sp>
      <p:sp>
        <p:nvSpPr>
          <p:cNvPr id="31" name="Text 29"/>
          <p:cNvSpPr/>
          <p:nvPr/>
        </p:nvSpPr>
        <p:spPr>
          <a:xfrm>
            <a:off x="6309360" y="2926080"/>
            <a:ext cx="2103120" cy="822960"/>
          </a:xfrm>
          <a:prstGeom prst="rect">
            <a:avLst/>
          </a:prstGeom>
          <a:noFill/>
          <a:ln/>
        </p:spPr>
        <p:txBody>
          <a:bodyPr wrap="square" lIns="0" tIns="0" rIns="0" bIns="0" rtlCol="0" anchor="t"/>
          <a:lstStyle/>
          <a:p>
            <a:pPr marL="0" indent="0" algn="l">
              <a:lnSpc>
                <a:spcPts val="1420"/>
              </a:lnSpc>
              <a:buNone/>
            </a:pPr>
            <a:r>
              <a:rPr lang="en-US" sz="1100" dirty="0">
                <a:solidFill>
                  <a:srgbClr val="A3A9B4"/>
                </a:solidFill>
                <a:latin typeface="Segoe UI" pitchFamily="34" charset="0"/>
                <a:ea typeface="Segoe UI" pitchFamily="34" charset="-122"/>
                <a:cs typeface="Segoe UI" pitchFamily="34" charset="-120"/>
              </a:rPr>
              <a:t>Subscriber control coming in: subscribe, renew, unsubscribe, status.</a:t>
            </a:r>
            <a:endParaRPr lang="en-US" sz="1100" dirty="0"/>
          </a:p>
        </p:txBody>
      </p:sp>
      <p:sp>
        <p:nvSpPr>
          <p:cNvPr id="32" name="Text 30"/>
          <p:cNvSpPr/>
          <p:nvPr/>
        </p:nvSpPr>
        <p:spPr>
          <a:xfrm>
            <a:off x="6309360" y="3767328"/>
            <a:ext cx="2103120" cy="219456"/>
          </a:xfrm>
          <a:prstGeom prst="rect">
            <a:avLst/>
          </a:prstGeom>
          <a:noFill/>
          <a:ln/>
        </p:spPr>
        <p:txBody>
          <a:bodyPr wrap="square" lIns="0" tIns="0" rIns="0" bIns="0" rtlCol="0" anchor="ctr"/>
          <a:lstStyle/>
          <a:p>
            <a:pPr marL="0" indent="0" algn="l">
              <a:lnSpc>
                <a:spcPts val="1500"/>
              </a:lnSpc>
              <a:buNone/>
            </a:pPr>
            <a:r>
              <a:rPr lang="en-US" sz="1100" dirty="0">
                <a:solidFill>
                  <a:srgbClr val="747B87"/>
                </a:solidFill>
                <a:latin typeface="Consolas" pitchFamily="34" charset="0"/>
                <a:ea typeface="Consolas" pitchFamily="34" charset="-122"/>
                <a:cs typeface="Consolas" pitchFamily="34" charset="-120"/>
              </a:rPr>
              <a:t>--pull-port</a:t>
            </a:r>
            <a:endParaRPr lang="en-US" sz="1100" dirty="0"/>
          </a:p>
        </p:txBody>
      </p:sp>
      <p:sp>
        <p:nvSpPr>
          <p:cNvPr id="33" name="chip background">
            <a:extLst>
              <a:ext uri="{C183D7F6-B498-43B3-948B-1728B52AA6E4}">
                <adec:decorative xmlns:adec="http://schemas.microsoft.com/office/drawing/2017/decorative" val="1"/>
              </a:ext>
            </a:extLst>
          </p:cNvPr>
          <p:cNvSpPr/>
          <p:nvPr/>
        </p:nvSpPr>
        <p:spPr>
          <a:xfrm>
            <a:off x="7461504" y="3749040"/>
            <a:ext cx="950976" cy="256032"/>
          </a:xfrm>
          <a:prstGeom prst="roundRect">
            <a:avLst>
              <a:gd name="adj" fmla="val 42857"/>
            </a:avLst>
          </a:prstGeom>
          <a:solidFill>
            <a:srgbClr val="1B1E23"/>
          </a:solidFill>
          <a:ln w="12700">
            <a:solidFill>
              <a:srgbClr val="444B55"/>
            </a:solidFill>
            <a:prstDash val="solid"/>
          </a:ln>
        </p:spPr>
        <p:txBody>
          <a:bodyPr/>
          <a:lstStyle/>
          <a:p>
            <a:endParaRPr lang="en-SE"/>
          </a:p>
        </p:txBody>
      </p:sp>
      <p:sp>
        <p:nvSpPr>
          <p:cNvPr id="34" name="Text 32"/>
          <p:cNvSpPr/>
          <p:nvPr/>
        </p:nvSpPr>
        <p:spPr>
          <a:xfrm>
            <a:off x="7516368" y="3749040"/>
            <a:ext cx="841248" cy="256032"/>
          </a:xfrm>
          <a:prstGeom prst="rect">
            <a:avLst/>
          </a:prstGeom>
          <a:noFill/>
          <a:ln/>
        </p:spPr>
        <p:txBody>
          <a:bodyPr wrap="square" lIns="0" tIns="0" rIns="0" bIns="0" rtlCol="0" anchor="ctr"/>
          <a:lstStyle/>
          <a:p>
            <a:pPr marL="0" indent="0" algn="ctr">
              <a:buNone/>
            </a:pPr>
            <a:r>
              <a:rPr lang="en-US" sz="1100" b="1" dirty="0">
                <a:solidFill>
                  <a:srgbClr val="5E8CA8"/>
                </a:solidFill>
                <a:latin typeface="Segoe UI" pitchFamily="34" charset="0"/>
                <a:ea typeface="Segoe UI" pitchFamily="34" charset="-122"/>
                <a:cs typeface="Segoe UI" pitchFamily="34" charset="-120"/>
              </a:rPr>
              <a:t>Live viewers</a:t>
            </a:r>
            <a:endParaRPr lang="en-US" sz="1100" dirty="0"/>
          </a:p>
        </p:txBody>
      </p:sp>
      <p:sp>
        <p:nvSpPr>
          <p:cNvPr id="35" name="card background">
            <a:extLst>
              <a:ext uri="{C183D7F6-B498-43B3-948B-1728B52AA6E4}">
                <adec:decorative xmlns:adec="http://schemas.microsoft.com/office/drawing/2017/decorative" val="1"/>
              </a:ext>
            </a:extLst>
          </p:cNvPr>
          <p:cNvSpPr/>
          <p:nvPr/>
        </p:nvSpPr>
        <p:spPr>
          <a:xfrm>
            <a:off x="566928" y="4315968"/>
            <a:ext cx="8010144" cy="566928"/>
          </a:xfrm>
          <a:prstGeom prst="rect">
            <a:avLst/>
          </a:prstGeom>
          <a:solidFill>
            <a:srgbClr val="282C33"/>
          </a:solidFill>
          <a:ln w="12700">
            <a:solidFill>
              <a:srgbClr val="343941"/>
            </a:solidFill>
            <a:prstDash val="solid"/>
          </a:ln>
        </p:spPr>
        <p:txBody>
          <a:bodyPr/>
          <a:lstStyle/>
          <a:p>
            <a:endParaRPr lang="en-SE"/>
          </a:p>
        </p:txBody>
      </p:sp>
      <p:sp>
        <p:nvSpPr>
          <p:cNvPr id="36" name="card accent edge">
            <a:extLst>
              <a:ext uri="{C183D7F6-B498-43B3-948B-1728B52AA6E4}">
                <adec:decorative xmlns:adec="http://schemas.microsoft.com/office/drawing/2017/decorative" val="1"/>
              </a:ext>
            </a:extLst>
          </p:cNvPr>
          <p:cNvSpPr/>
          <p:nvPr/>
        </p:nvSpPr>
        <p:spPr>
          <a:xfrm>
            <a:off x="566928" y="4315968"/>
            <a:ext cx="50292" cy="566928"/>
          </a:xfrm>
          <a:prstGeom prst="rect">
            <a:avLst/>
          </a:prstGeom>
          <a:solidFill>
            <a:srgbClr val="C9584C"/>
          </a:solidFill>
          <a:ln w="12700">
            <a:solidFill>
              <a:srgbClr val="333333"/>
            </a:solidFill>
            <a:prstDash val="solid"/>
          </a:ln>
        </p:spPr>
        <p:txBody>
          <a:bodyPr/>
          <a:lstStyle/>
          <a:p>
            <a:endParaRPr lang="en-SE"/>
          </a:p>
        </p:txBody>
      </p:sp>
      <p:sp>
        <p:nvSpPr>
          <p:cNvPr id="37" name="Text 35"/>
          <p:cNvSpPr/>
          <p:nvPr/>
        </p:nvSpPr>
        <p:spPr>
          <a:xfrm>
            <a:off x="822960" y="4315968"/>
            <a:ext cx="7589520" cy="566928"/>
          </a:xfrm>
          <a:prstGeom prst="rect">
            <a:avLst/>
          </a:prstGeom>
          <a:noFill/>
          <a:ln/>
        </p:spPr>
        <p:txBody>
          <a:bodyPr wrap="square" lIns="0" tIns="0" rIns="0" bIns="0" rtlCol="0" anchor="ctr"/>
          <a:lstStyle/>
          <a:p>
            <a:pPr marL="0" indent="0" algn="l">
              <a:lnSpc>
                <a:spcPts val="1491"/>
              </a:lnSpc>
              <a:buNone/>
            </a:pPr>
            <a:r>
              <a:rPr lang="en-US" sz="1100" dirty="0">
                <a:solidFill>
                  <a:srgbClr val="A3A9B4"/>
                </a:solidFill>
                <a:latin typeface="Segoe UI" pitchFamily="34" charset="0"/>
                <a:ea typeface="Segoe UI" pitchFamily="34" charset="-122"/>
                <a:cs typeface="Segoe UI" pitchFamily="34" charset="-120"/>
              </a:rPr>
              <a:t>Running two log servers on one host?  </a:t>
            </a:r>
            <a:r>
              <a:rPr lang="en-US" sz="1100" b="1" dirty="0">
                <a:solidFill>
                  <a:srgbClr val="F6C978"/>
                </a:solidFill>
                <a:latin typeface="Segoe UI" pitchFamily="34" charset="0"/>
                <a:ea typeface="Segoe UI" pitchFamily="34" charset="-122"/>
                <a:cs typeface="Segoe UI" pitchFamily="34" charset="-120"/>
              </a:rPr>
              <a:t>pm-log-srv --port 5700 --pub-port 5701 --pull-port 5702</a:t>
            </a:r>
            <a:r>
              <a:rPr lang="en-US" sz="1100" dirty="0">
                <a:solidFill>
                  <a:srgbClr val="A3A9B4"/>
                </a:solidFill>
                <a:latin typeface="Segoe UI" pitchFamily="34" charset="0"/>
                <a:ea typeface="Segoe UI" pitchFamily="34" charset="-122"/>
                <a:cs typeface="Segoe UI" pitchFamily="34" charset="-120"/>
              </a:rPr>
              <a:t>  — move all three together, never just one.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STARTUP</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19</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flags worth knowing - and why each one exists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You can run the server with none of these. You reach for them when your situation stops being the default one.</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8010144" cy="3043428"/>
        </p:xfrm>
        <a:graphic>
          <a:graphicData uri="http://schemas.openxmlformats.org/drawingml/2006/table">
            <a:tbl>
              <a:tblPr/>
              <a:tblGrid>
                <a:gridCol w="1874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901184">
                  <a:extLst>
                    <a:ext uri="{9D8B030D-6E8A-4147-A177-3AD203B41FA5}">
                      <a16:colId xmlns:a16="http://schemas.microsoft.com/office/drawing/2014/main" val="20002"/>
                    </a:ext>
                  </a:extLst>
                </a:gridCol>
              </a:tblGrid>
              <a:tr h="292608">
                <a:tc>
                  <a:txBody>
                    <a:bodyPr/>
                    <a:lstStyle/>
                    <a:p>
                      <a:pPr marL="0" indent="0" algn="l">
                        <a:buNone/>
                      </a:pPr>
                      <a:r>
                        <a:rPr lang="en-US" sz="900" b="1" kern="0" spc="100" dirty="0">
                          <a:solidFill>
                            <a:srgbClr val="E8A33D"/>
                          </a:solidFill>
                          <a:latin typeface="Segoe UI" pitchFamily="34" charset="0"/>
                          <a:ea typeface="Segoe UI" pitchFamily="34" charset="-122"/>
                          <a:cs typeface="Segoe UI" pitchFamily="34" charset="-120"/>
                        </a:rPr>
                        <a:t>FLAG</a:t>
                      </a:r>
                      <a:endParaRPr lang="en-US" sz="9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900" b="1" kern="0" spc="100" dirty="0">
                          <a:solidFill>
                            <a:srgbClr val="E8A33D"/>
                          </a:solidFill>
                          <a:latin typeface="Segoe UI" pitchFamily="34" charset="0"/>
                          <a:ea typeface="Segoe UI" pitchFamily="34" charset="-122"/>
                          <a:cs typeface="Segoe UI" pitchFamily="34" charset="-120"/>
                        </a:rPr>
                        <a:t>DEFAULT</a:t>
                      </a:r>
                      <a:endParaRPr lang="en-US" sz="9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900" b="1" kern="0" spc="100" dirty="0">
                          <a:solidFill>
                            <a:srgbClr val="E8A33D"/>
                          </a:solidFill>
                          <a:latin typeface="Segoe UI" pitchFamily="34" charset="0"/>
                          <a:ea typeface="Segoe UI" pitchFamily="34" charset="-122"/>
                          <a:cs typeface="Segoe UI" pitchFamily="34" charset="-120"/>
                        </a:rPr>
                        <a:t>WHEN YOU WOULD USE IT</a:t>
                      </a:r>
                      <a:endParaRPr lang="en-US" sz="9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--host ADDR</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0.0.0.0</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Use 127.0.0.1 when everything runs on one machine — it stops anything off-box from connecting.</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--port PORT</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5600</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Move the collector port when something else already holds 5600, or you run a second server.</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--db PATH</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data/log.db</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Send a scratch or training session to its own file so it never mixes with real history.</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--retention-days N</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30</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0 disables pruning entirely — use it when you must keep everything for a review.</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--max-message-bytes N</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65536</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Raise it if long tracebacks are being truncated. Oversized records are cut, never dropped.</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--no-pubsub</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off</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Bind no ZeroMQ sockets at all. Pure collector, no live viewers — the console will not work.</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--log-level LEVEL</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WARNING</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The server's own verbosity. Use -v while setting things up so you see what it decided.</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342900">
                <a:tc>
                  <a:txBody>
                    <a:bodyPr/>
                    <a:lstStyle/>
                    <a:p>
                      <a:pPr marL="0" indent="0" algn="l">
                        <a:buNone/>
                      </a:pPr>
                      <a:r>
                        <a:rPr lang="en-US" sz="900" dirty="0">
                          <a:solidFill>
                            <a:srgbClr val="F6C978"/>
                          </a:solidFill>
                          <a:latin typeface="Consolas" pitchFamily="34" charset="0"/>
                          <a:ea typeface="Consolas" pitchFamily="34" charset="-122"/>
                          <a:cs typeface="Consolas" pitchFamily="34" charset="-120"/>
                        </a:rPr>
                        <a:t>--config PATH</a:t>
                      </a:r>
                      <a:endParaRPr lang="en-US" sz="9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engine_config.yaml</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900" dirty="0">
                          <a:solidFill>
                            <a:srgbClr val="A3A9B4"/>
                          </a:solidFill>
                          <a:latin typeface="Segoe UI" pitchFamily="34" charset="0"/>
                          <a:ea typeface="Segoe UI" pitchFamily="34" charset="-122"/>
                          <a:cs typeface="Segoe UI" pitchFamily="34" charset="-120"/>
                        </a:rPr>
                        <a:t>Where the optional log_server: block is read from. Flags always win over the file.</a:t>
                      </a:r>
                      <a:endParaRPr lang="en-US" sz="9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bl>
          </a:graphicData>
        </a:graphic>
      </p:graphicFrame>
      <p:sp>
        <p:nvSpPr>
          <p:cNvPr id="9" name="Text 6"/>
          <p:cNvSpPr/>
          <p:nvPr/>
        </p:nvSpPr>
        <p:spPr>
          <a:xfrm>
            <a:off x="566928" y="4754880"/>
            <a:ext cx="8010144" cy="292608"/>
          </a:xfrm>
          <a:prstGeom prst="rect">
            <a:avLst/>
          </a:prstGeom>
          <a:noFill/>
          <a:ln/>
        </p:spPr>
        <p:txBody>
          <a:bodyPr wrap="square" lIns="0" tIns="0" rIns="0" bIns="0" rtlCol="0" anchor="t"/>
          <a:lstStyle/>
          <a:p>
            <a:pPr marL="0" indent="0" algn="l">
              <a:lnSpc>
                <a:spcPts val="1349"/>
              </a:lnSpc>
              <a:buNone/>
            </a:pPr>
            <a:r>
              <a:rPr lang="en-US" sz="950" i="1" dirty="0">
                <a:solidFill>
                  <a:srgbClr val="747B87"/>
                </a:solidFill>
                <a:latin typeface="Segoe UI" pitchFamily="34" charset="0"/>
                <a:ea typeface="Segoe UI" pitchFamily="34" charset="-122"/>
                <a:cs typeface="Segoe UI" pitchFamily="34" charset="-120"/>
              </a:rPr>
              <a:t>A command-line flag overrides the config file for that run only — nothing on disk changes.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STARTUP</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20</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Start the log server first. Everything else gets easier.</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Processes look for a running collector as they start. If one is already listening, they attach to it automatically — with no configuration on your part.</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920240"/>
            <a:ext cx="1810512" cy="155448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920240"/>
            <a:ext cx="1810512" cy="45720"/>
          </a:xfrm>
          <a:prstGeom prst="rect">
            <a:avLst/>
          </a:prstGeom>
          <a:solidFill>
            <a:srgbClr val="E8A33D"/>
          </a:solidFill>
          <a:ln w="12700">
            <a:solidFill>
              <a:srgbClr val="333333"/>
            </a:solidFill>
            <a:prstDash val="solid"/>
          </a:ln>
        </p:spPr>
        <p:txBody>
          <a:bodyPr/>
          <a:lstStyle/>
          <a:p>
            <a:endParaRPr lang="en-SE"/>
          </a:p>
        </p:txBody>
      </p:sp>
      <p:sp>
        <p:nvSpPr>
          <p:cNvPr id="10" name="step number badge">
            <a:extLst>
              <a:ext uri="{C183D7F6-B498-43B3-948B-1728B52AA6E4}">
                <adec:decorative xmlns:adec="http://schemas.microsoft.com/office/drawing/2017/decorative" val="1"/>
              </a:ext>
            </a:extLst>
          </p:cNvPr>
          <p:cNvSpPr/>
          <p:nvPr/>
        </p:nvSpPr>
        <p:spPr>
          <a:xfrm>
            <a:off x="749808" y="2084832"/>
            <a:ext cx="329184" cy="329184"/>
          </a:xfrm>
          <a:prstGeom prst="ellipse">
            <a:avLst/>
          </a:prstGeom>
          <a:solidFill>
            <a:srgbClr val="E8A33D"/>
          </a:solidFill>
          <a:ln w="12700">
            <a:solidFill>
              <a:srgbClr val="333333"/>
            </a:solidFill>
            <a:prstDash val="solid"/>
          </a:ln>
        </p:spPr>
        <p:txBody>
          <a:bodyPr/>
          <a:lstStyle/>
          <a:p>
            <a:endParaRPr lang="en-SE"/>
          </a:p>
        </p:txBody>
      </p:sp>
      <p:sp>
        <p:nvSpPr>
          <p:cNvPr id="11" name="Text 9"/>
          <p:cNvSpPr/>
          <p:nvPr/>
        </p:nvSpPr>
        <p:spPr>
          <a:xfrm>
            <a:off x="749808" y="2084832"/>
            <a:ext cx="329184" cy="329184"/>
          </a:xfrm>
          <a:prstGeom prst="rect">
            <a:avLst/>
          </a:prstGeom>
          <a:noFill/>
          <a:ln/>
        </p:spPr>
        <p:txBody>
          <a:bodyPr wrap="square" lIns="0" tIns="0" rIns="0" bIns="0" rtlCol="0" anchor="ctr"/>
          <a:lstStyle/>
          <a:p>
            <a:pPr marL="0" indent="0" algn="ctr">
              <a:lnSpc>
                <a:spcPts val="1500"/>
              </a:lnSpc>
              <a:buNone/>
            </a:pPr>
            <a:r>
              <a:rPr lang="en-US" sz="1100" dirty="0">
                <a:solidFill>
                  <a:srgbClr val="15161A"/>
                </a:solidFill>
                <a:latin typeface="Consolas" pitchFamily="34" charset="0"/>
                <a:ea typeface="Consolas" pitchFamily="34" charset="-122"/>
                <a:cs typeface="Consolas" pitchFamily="34" charset="-120"/>
              </a:rPr>
              <a:t>1</a:t>
            </a:r>
            <a:endParaRPr lang="en-US" sz="1100" dirty="0"/>
          </a:p>
        </p:txBody>
      </p:sp>
      <p:sp>
        <p:nvSpPr>
          <p:cNvPr id="12" name="Text 10"/>
          <p:cNvSpPr/>
          <p:nvPr/>
        </p:nvSpPr>
        <p:spPr>
          <a:xfrm>
            <a:off x="749808" y="2523744"/>
            <a:ext cx="1463040"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Consolas" pitchFamily="34" charset="0"/>
                <a:ea typeface="Consolas" pitchFamily="34" charset="-122"/>
                <a:cs typeface="Consolas" pitchFamily="34" charset="-120"/>
              </a:rPr>
              <a:t>pm-log-srv</a:t>
            </a:r>
            <a:endParaRPr lang="en-US" sz="1200" dirty="0"/>
          </a:p>
        </p:txBody>
      </p:sp>
      <p:sp>
        <p:nvSpPr>
          <p:cNvPr id="13" name="Text 11"/>
          <p:cNvSpPr/>
          <p:nvPr/>
        </p:nvSpPr>
        <p:spPr>
          <a:xfrm>
            <a:off x="749808" y="2798064"/>
            <a:ext cx="1481328" cy="585216"/>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Binds :5600 and begins accepting connections.</a:t>
            </a:r>
            <a:endParaRPr lang="en-US" sz="950" dirty="0"/>
          </a:p>
        </p:txBody>
      </p:sp>
      <p:sp>
        <p:nvSpPr>
          <p:cNvPr id="14" name="flow arrow">
            <a:extLst>
              <a:ext uri="{C183D7F6-B498-43B3-948B-1728B52AA6E4}">
                <adec:decorative xmlns:adec="http://schemas.microsoft.com/office/drawing/2017/decorative" val="1"/>
              </a:ext>
            </a:extLst>
          </p:cNvPr>
          <p:cNvSpPr/>
          <p:nvPr/>
        </p:nvSpPr>
        <p:spPr>
          <a:xfrm>
            <a:off x="2414016" y="2697480"/>
            <a:ext cx="146304" cy="0"/>
          </a:xfrm>
          <a:prstGeom prst="line">
            <a:avLst/>
          </a:prstGeom>
          <a:noFill/>
          <a:ln w="17780">
            <a:solidFill>
              <a:srgbClr val="444B55"/>
            </a:solidFill>
            <a:prstDash val="solid"/>
            <a:tailEnd type="triangle"/>
          </a:ln>
        </p:spPr>
        <p:txBody>
          <a:bodyPr/>
          <a:lstStyle/>
          <a:p>
            <a:endParaRPr lang="en-SE"/>
          </a:p>
        </p:txBody>
      </p:sp>
      <p:sp>
        <p:nvSpPr>
          <p:cNvPr id="15" name="card background">
            <a:extLst>
              <a:ext uri="{C183D7F6-B498-43B3-948B-1728B52AA6E4}">
                <adec:decorative xmlns:adec="http://schemas.microsoft.com/office/drawing/2017/decorative" val="1"/>
              </a:ext>
            </a:extLst>
          </p:cNvPr>
          <p:cNvSpPr/>
          <p:nvPr/>
        </p:nvSpPr>
        <p:spPr>
          <a:xfrm>
            <a:off x="2606040" y="1920240"/>
            <a:ext cx="1810512" cy="155448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6" name="card top accent">
            <a:extLst>
              <a:ext uri="{C183D7F6-B498-43B3-948B-1728B52AA6E4}">
                <adec:decorative xmlns:adec="http://schemas.microsoft.com/office/drawing/2017/decorative" val="1"/>
              </a:ext>
            </a:extLst>
          </p:cNvPr>
          <p:cNvSpPr/>
          <p:nvPr/>
        </p:nvSpPr>
        <p:spPr>
          <a:xfrm>
            <a:off x="2606040" y="1920240"/>
            <a:ext cx="1810512" cy="45720"/>
          </a:xfrm>
          <a:prstGeom prst="rect">
            <a:avLst/>
          </a:prstGeom>
          <a:solidFill>
            <a:srgbClr val="6FA88A"/>
          </a:solidFill>
          <a:ln w="12700">
            <a:solidFill>
              <a:srgbClr val="333333"/>
            </a:solidFill>
            <a:prstDash val="solid"/>
          </a:ln>
        </p:spPr>
        <p:txBody>
          <a:bodyPr/>
          <a:lstStyle/>
          <a:p>
            <a:endParaRPr lang="en-SE"/>
          </a:p>
        </p:txBody>
      </p:sp>
      <p:sp>
        <p:nvSpPr>
          <p:cNvPr id="17" name="step number badge">
            <a:extLst>
              <a:ext uri="{C183D7F6-B498-43B3-948B-1728B52AA6E4}">
                <adec:decorative xmlns:adec="http://schemas.microsoft.com/office/drawing/2017/decorative" val="1"/>
              </a:ext>
            </a:extLst>
          </p:cNvPr>
          <p:cNvSpPr/>
          <p:nvPr/>
        </p:nvSpPr>
        <p:spPr>
          <a:xfrm>
            <a:off x="2788920" y="2084832"/>
            <a:ext cx="329184" cy="329184"/>
          </a:xfrm>
          <a:prstGeom prst="ellipse">
            <a:avLst/>
          </a:prstGeom>
          <a:solidFill>
            <a:srgbClr val="6FA88A"/>
          </a:solidFill>
          <a:ln w="12700">
            <a:solidFill>
              <a:srgbClr val="333333"/>
            </a:solidFill>
            <a:prstDash val="solid"/>
          </a:ln>
        </p:spPr>
        <p:txBody>
          <a:bodyPr/>
          <a:lstStyle/>
          <a:p>
            <a:endParaRPr lang="en-SE"/>
          </a:p>
        </p:txBody>
      </p:sp>
      <p:sp>
        <p:nvSpPr>
          <p:cNvPr id="18" name="Text 16"/>
          <p:cNvSpPr/>
          <p:nvPr/>
        </p:nvSpPr>
        <p:spPr>
          <a:xfrm>
            <a:off x="2788920" y="2084832"/>
            <a:ext cx="329184" cy="329184"/>
          </a:xfrm>
          <a:prstGeom prst="rect">
            <a:avLst/>
          </a:prstGeom>
          <a:noFill/>
          <a:ln/>
        </p:spPr>
        <p:txBody>
          <a:bodyPr wrap="square" lIns="0" tIns="0" rIns="0" bIns="0" rtlCol="0" anchor="ctr"/>
          <a:lstStyle/>
          <a:p>
            <a:pPr marL="0" indent="0" algn="ctr">
              <a:lnSpc>
                <a:spcPts val="1500"/>
              </a:lnSpc>
              <a:buNone/>
            </a:pPr>
            <a:r>
              <a:rPr lang="en-US" sz="1100" dirty="0">
                <a:solidFill>
                  <a:srgbClr val="15161A"/>
                </a:solidFill>
                <a:latin typeface="Consolas" pitchFamily="34" charset="0"/>
                <a:ea typeface="Consolas" pitchFamily="34" charset="-122"/>
                <a:cs typeface="Consolas" pitchFamily="34" charset="-120"/>
              </a:rPr>
              <a:t>2</a:t>
            </a:r>
            <a:endParaRPr lang="en-US" sz="1100" dirty="0"/>
          </a:p>
        </p:txBody>
      </p:sp>
      <p:sp>
        <p:nvSpPr>
          <p:cNvPr id="19" name="Text 17"/>
          <p:cNvSpPr/>
          <p:nvPr/>
        </p:nvSpPr>
        <p:spPr>
          <a:xfrm>
            <a:off x="2788920" y="2523744"/>
            <a:ext cx="1463040"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Consolas" pitchFamily="34" charset="0"/>
                <a:ea typeface="Consolas" pitchFamily="34" charset="-122"/>
                <a:cs typeface="Consolas" pitchFamily="34" charset="-120"/>
              </a:rPr>
              <a:t>pm-engine</a:t>
            </a:r>
            <a:endParaRPr lang="en-US" sz="1200" dirty="0"/>
          </a:p>
        </p:txBody>
      </p:sp>
      <p:sp>
        <p:nvSpPr>
          <p:cNvPr id="20" name="Text 18"/>
          <p:cNvSpPr/>
          <p:nvPr/>
        </p:nvSpPr>
        <p:spPr>
          <a:xfrm>
            <a:off x="2788920" y="2798064"/>
            <a:ext cx="1481328" cy="585216"/>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Starts, sees the collector, attaches to it.</a:t>
            </a:r>
            <a:endParaRPr lang="en-US" sz="950" dirty="0"/>
          </a:p>
        </p:txBody>
      </p:sp>
      <p:sp>
        <p:nvSpPr>
          <p:cNvPr id="21" name="flow arrow">
            <a:extLst>
              <a:ext uri="{C183D7F6-B498-43B3-948B-1728B52AA6E4}">
                <adec:decorative xmlns:adec="http://schemas.microsoft.com/office/drawing/2017/decorative" val="1"/>
              </a:ext>
            </a:extLst>
          </p:cNvPr>
          <p:cNvSpPr/>
          <p:nvPr/>
        </p:nvSpPr>
        <p:spPr>
          <a:xfrm>
            <a:off x="4453128" y="2697480"/>
            <a:ext cx="146304" cy="0"/>
          </a:xfrm>
          <a:prstGeom prst="line">
            <a:avLst/>
          </a:prstGeom>
          <a:noFill/>
          <a:ln w="17780">
            <a:solidFill>
              <a:srgbClr val="444B55"/>
            </a:solidFill>
            <a:prstDash val="solid"/>
            <a:tailEnd type="triangle"/>
          </a:ln>
        </p:spPr>
        <p:txBody>
          <a:bodyPr/>
          <a:lstStyle/>
          <a:p>
            <a:endParaRPr lang="en-SE"/>
          </a:p>
        </p:txBody>
      </p:sp>
      <p:sp>
        <p:nvSpPr>
          <p:cNvPr id="22" name="card background">
            <a:extLst>
              <a:ext uri="{C183D7F6-B498-43B3-948B-1728B52AA6E4}">
                <adec:decorative xmlns:adec="http://schemas.microsoft.com/office/drawing/2017/decorative" val="1"/>
              </a:ext>
            </a:extLst>
          </p:cNvPr>
          <p:cNvSpPr/>
          <p:nvPr/>
        </p:nvSpPr>
        <p:spPr>
          <a:xfrm>
            <a:off x="4645152" y="1920240"/>
            <a:ext cx="1810512" cy="155448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3" name="card top accent">
            <a:extLst>
              <a:ext uri="{C183D7F6-B498-43B3-948B-1728B52AA6E4}">
                <adec:decorative xmlns:adec="http://schemas.microsoft.com/office/drawing/2017/decorative" val="1"/>
              </a:ext>
            </a:extLst>
          </p:cNvPr>
          <p:cNvSpPr/>
          <p:nvPr/>
        </p:nvSpPr>
        <p:spPr>
          <a:xfrm>
            <a:off x="4645152" y="1920240"/>
            <a:ext cx="1810512" cy="45720"/>
          </a:xfrm>
          <a:prstGeom prst="rect">
            <a:avLst/>
          </a:prstGeom>
          <a:solidFill>
            <a:srgbClr val="6FA88A"/>
          </a:solidFill>
          <a:ln w="12700">
            <a:solidFill>
              <a:srgbClr val="333333"/>
            </a:solidFill>
            <a:prstDash val="solid"/>
          </a:ln>
        </p:spPr>
        <p:txBody>
          <a:bodyPr/>
          <a:lstStyle/>
          <a:p>
            <a:endParaRPr lang="en-SE"/>
          </a:p>
        </p:txBody>
      </p:sp>
      <p:sp>
        <p:nvSpPr>
          <p:cNvPr id="24" name="step number badge">
            <a:extLst>
              <a:ext uri="{C183D7F6-B498-43B3-948B-1728B52AA6E4}">
                <adec:decorative xmlns:adec="http://schemas.microsoft.com/office/drawing/2017/decorative" val="1"/>
              </a:ext>
            </a:extLst>
          </p:cNvPr>
          <p:cNvSpPr/>
          <p:nvPr/>
        </p:nvSpPr>
        <p:spPr>
          <a:xfrm>
            <a:off x="4828032" y="2084832"/>
            <a:ext cx="329184" cy="329184"/>
          </a:xfrm>
          <a:prstGeom prst="ellipse">
            <a:avLst/>
          </a:prstGeom>
          <a:solidFill>
            <a:srgbClr val="6FA88A"/>
          </a:solidFill>
          <a:ln w="12700">
            <a:solidFill>
              <a:srgbClr val="333333"/>
            </a:solidFill>
            <a:prstDash val="solid"/>
          </a:ln>
        </p:spPr>
        <p:txBody>
          <a:bodyPr/>
          <a:lstStyle/>
          <a:p>
            <a:endParaRPr lang="en-SE"/>
          </a:p>
        </p:txBody>
      </p:sp>
      <p:sp>
        <p:nvSpPr>
          <p:cNvPr id="25" name="Text 23"/>
          <p:cNvSpPr/>
          <p:nvPr/>
        </p:nvSpPr>
        <p:spPr>
          <a:xfrm>
            <a:off x="4828032" y="2084832"/>
            <a:ext cx="329184" cy="329184"/>
          </a:xfrm>
          <a:prstGeom prst="rect">
            <a:avLst/>
          </a:prstGeom>
          <a:noFill/>
          <a:ln/>
        </p:spPr>
        <p:txBody>
          <a:bodyPr wrap="square" lIns="0" tIns="0" rIns="0" bIns="0" rtlCol="0" anchor="ctr"/>
          <a:lstStyle/>
          <a:p>
            <a:pPr marL="0" indent="0" algn="ctr">
              <a:lnSpc>
                <a:spcPts val="1500"/>
              </a:lnSpc>
              <a:buNone/>
            </a:pPr>
            <a:r>
              <a:rPr lang="en-US" sz="1100" dirty="0">
                <a:solidFill>
                  <a:srgbClr val="15161A"/>
                </a:solidFill>
                <a:latin typeface="Consolas" pitchFamily="34" charset="0"/>
                <a:ea typeface="Consolas" pitchFamily="34" charset="-122"/>
                <a:cs typeface="Consolas" pitchFamily="34" charset="-120"/>
              </a:rPr>
              <a:t>3</a:t>
            </a:r>
            <a:endParaRPr lang="en-US" sz="1100" dirty="0"/>
          </a:p>
        </p:txBody>
      </p:sp>
      <p:sp>
        <p:nvSpPr>
          <p:cNvPr id="26" name="Text 24"/>
          <p:cNvSpPr/>
          <p:nvPr/>
        </p:nvSpPr>
        <p:spPr>
          <a:xfrm>
            <a:off x="4828032" y="2523744"/>
            <a:ext cx="1463040"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Consolas" pitchFamily="34" charset="0"/>
                <a:ea typeface="Consolas" pitchFamily="34" charset="-122"/>
                <a:cs typeface="Consolas" pitchFamily="34" charset="-120"/>
              </a:rPr>
              <a:t>gateways</a:t>
            </a:r>
            <a:endParaRPr lang="en-US" sz="1200" dirty="0"/>
          </a:p>
        </p:txBody>
      </p:sp>
      <p:sp>
        <p:nvSpPr>
          <p:cNvPr id="27" name="Text 25"/>
          <p:cNvSpPr/>
          <p:nvPr/>
        </p:nvSpPr>
        <p:spPr>
          <a:xfrm>
            <a:off x="4828032" y="2798064"/>
            <a:ext cx="1481328" cy="585216"/>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Same again — nothing extra to configure.</a:t>
            </a:r>
            <a:endParaRPr lang="en-US" sz="950" dirty="0"/>
          </a:p>
        </p:txBody>
      </p:sp>
      <p:sp>
        <p:nvSpPr>
          <p:cNvPr id="28" name="flow arrow">
            <a:extLst>
              <a:ext uri="{C183D7F6-B498-43B3-948B-1728B52AA6E4}">
                <adec:decorative xmlns:adec="http://schemas.microsoft.com/office/drawing/2017/decorative" val="1"/>
              </a:ext>
            </a:extLst>
          </p:cNvPr>
          <p:cNvSpPr/>
          <p:nvPr/>
        </p:nvSpPr>
        <p:spPr>
          <a:xfrm>
            <a:off x="6492240" y="2697480"/>
            <a:ext cx="146304" cy="0"/>
          </a:xfrm>
          <a:prstGeom prst="line">
            <a:avLst/>
          </a:prstGeom>
          <a:noFill/>
          <a:ln w="17780">
            <a:solidFill>
              <a:srgbClr val="444B55"/>
            </a:solidFill>
            <a:prstDash val="solid"/>
            <a:tailEnd type="triangle"/>
          </a:ln>
        </p:spPr>
        <p:txBody>
          <a:bodyPr/>
          <a:lstStyle/>
          <a:p>
            <a:endParaRPr lang="en-SE"/>
          </a:p>
        </p:txBody>
      </p:sp>
      <p:sp>
        <p:nvSpPr>
          <p:cNvPr id="29" name="card background">
            <a:extLst>
              <a:ext uri="{C183D7F6-B498-43B3-948B-1728B52AA6E4}">
                <adec:decorative xmlns:adec="http://schemas.microsoft.com/office/drawing/2017/decorative" val="1"/>
              </a:ext>
            </a:extLst>
          </p:cNvPr>
          <p:cNvSpPr/>
          <p:nvPr/>
        </p:nvSpPr>
        <p:spPr>
          <a:xfrm>
            <a:off x="6684264" y="1920240"/>
            <a:ext cx="1810512" cy="155448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30" name="card top accent">
            <a:extLst>
              <a:ext uri="{C183D7F6-B498-43B3-948B-1728B52AA6E4}">
                <adec:decorative xmlns:adec="http://schemas.microsoft.com/office/drawing/2017/decorative" val="1"/>
              </a:ext>
            </a:extLst>
          </p:cNvPr>
          <p:cNvSpPr/>
          <p:nvPr/>
        </p:nvSpPr>
        <p:spPr>
          <a:xfrm>
            <a:off x="6684264" y="1920240"/>
            <a:ext cx="1810512" cy="45720"/>
          </a:xfrm>
          <a:prstGeom prst="rect">
            <a:avLst/>
          </a:prstGeom>
          <a:solidFill>
            <a:srgbClr val="6FA88A"/>
          </a:solidFill>
          <a:ln w="12700">
            <a:solidFill>
              <a:srgbClr val="333333"/>
            </a:solidFill>
            <a:prstDash val="solid"/>
          </a:ln>
        </p:spPr>
        <p:txBody>
          <a:bodyPr/>
          <a:lstStyle/>
          <a:p>
            <a:endParaRPr lang="en-SE"/>
          </a:p>
        </p:txBody>
      </p:sp>
      <p:sp>
        <p:nvSpPr>
          <p:cNvPr id="31" name="step number badge">
            <a:extLst>
              <a:ext uri="{C183D7F6-B498-43B3-948B-1728B52AA6E4}">
                <adec:decorative xmlns:adec="http://schemas.microsoft.com/office/drawing/2017/decorative" val="1"/>
              </a:ext>
            </a:extLst>
          </p:cNvPr>
          <p:cNvSpPr/>
          <p:nvPr/>
        </p:nvSpPr>
        <p:spPr>
          <a:xfrm>
            <a:off x="6867144" y="2084832"/>
            <a:ext cx="329184" cy="329184"/>
          </a:xfrm>
          <a:prstGeom prst="ellipse">
            <a:avLst/>
          </a:prstGeom>
          <a:solidFill>
            <a:srgbClr val="6FA88A"/>
          </a:solidFill>
          <a:ln w="12700">
            <a:solidFill>
              <a:srgbClr val="333333"/>
            </a:solidFill>
            <a:prstDash val="solid"/>
          </a:ln>
        </p:spPr>
        <p:txBody>
          <a:bodyPr/>
          <a:lstStyle/>
          <a:p>
            <a:endParaRPr lang="en-SE"/>
          </a:p>
        </p:txBody>
      </p:sp>
      <p:sp>
        <p:nvSpPr>
          <p:cNvPr id="32" name="Text 30"/>
          <p:cNvSpPr/>
          <p:nvPr/>
        </p:nvSpPr>
        <p:spPr>
          <a:xfrm>
            <a:off x="6867144" y="2084832"/>
            <a:ext cx="329184" cy="329184"/>
          </a:xfrm>
          <a:prstGeom prst="rect">
            <a:avLst/>
          </a:prstGeom>
          <a:noFill/>
          <a:ln/>
        </p:spPr>
        <p:txBody>
          <a:bodyPr wrap="square" lIns="0" tIns="0" rIns="0" bIns="0" rtlCol="0" anchor="ctr"/>
          <a:lstStyle/>
          <a:p>
            <a:pPr marL="0" indent="0" algn="ctr">
              <a:lnSpc>
                <a:spcPts val="1500"/>
              </a:lnSpc>
              <a:buNone/>
            </a:pPr>
            <a:r>
              <a:rPr lang="en-US" sz="1100" dirty="0">
                <a:solidFill>
                  <a:srgbClr val="15161A"/>
                </a:solidFill>
                <a:latin typeface="Consolas" pitchFamily="34" charset="0"/>
                <a:ea typeface="Consolas" pitchFamily="34" charset="-122"/>
                <a:cs typeface="Consolas" pitchFamily="34" charset="-120"/>
              </a:rPr>
              <a:t>4</a:t>
            </a:r>
            <a:endParaRPr lang="en-US" sz="1100" dirty="0"/>
          </a:p>
        </p:txBody>
      </p:sp>
      <p:sp>
        <p:nvSpPr>
          <p:cNvPr id="33" name="Text 31"/>
          <p:cNvSpPr/>
          <p:nvPr/>
        </p:nvSpPr>
        <p:spPr>
          <a:xfrm>
            <a:off x="6867144" y="2523744"/>
            <a:ext cx="1463040"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Consolas" pitchFamily="34" charset="0"/>
                <a:ea typeface="Consolas" pitchFamily="34" charset="-122"/>
                <a:cs typeface="Consolas" pitchFamily="34" charset="-120"/>
              </a:rPr>
              <a:t>bots, tools</a:t>
            </a:r>
            <a:endParaRPr lang="en-US" sz="1200" dirty="0"/>
          </a:p>
        </p:txBody>
      </p:sp>
      <p:sp>
        <p:nvSpPr>
          <p:cNvPr id="34" name="Text 32"/>
          <p:cNvSpPr/>
          <p:nvPr/>
        </p:nvSpPr>
        <p:spPr>
          <a:xfrm>
            <a:off x="6867144" y="2798064"/>
            <a:ext cx="1481328" cy="585216"/>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Every later process joins the same stream.</a:t>
            </a:r>
            <a:endParaRPr lang="en-US" sz="950" dirty="0"/>
          </a:p>
        </p:txBody>
      </p:sp>
      <p:sp>
        <p:nvSpPr>
          <p:cNvPr id="35" name="card background">
            <a:extLst>
              <a:ext uri="{C183D7F6-B498-43B3-948B-1728B52AA6E4}">
                <adec:decorative xmlns:adec="http://schemas.microsoft.com/office/drawing/2017/decorative" val="1"/>
              </a:ext>
            </a:extLst>
          </p:cNvPr>
          <p:cNvSpPr/>
          <p:nvPr/>
        </p:nvSpPr>
        <p:spPr>
          <a:xfrm>
            <a:off x="566928" y="3639312"/>
            <a:ext cx="3877056" cy="1225296"/>
          </a:xfrm>
          <a:prstGeom prst="rect">
            <a:avLst/>
          </a:prstGeom>
          <a:solidFill>
            <a:srgbClr val="1A1D1B"/>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36" name="card accent edge">
            <a:extLst>
              <a:ext uri="{C183D7F6-B498-43B3-948B-1728B52AA6E4}">
                <adec:decorative xmlns:adec="http://schemas.microsoft.com/office/drawing/2017/decorative" val="1"/>
              </a:ext>
            </a:extLst>
          </p:cNvPr>
          <p:cNvSpPr/>
          <p:nvPr/>
        </p:nvSpPr>
        <p:spPr>
          <a:xfrm>
            <a:off x="566928" y="3639312"/>
            <a:ext cx="50292" cy="1225296"/>
          </a:xfrm>
          <a:prstGeom prst="rect">
            <a:avLst/>
          </a:prstGeom>
          <a:solidFill>
            <a:srgbClr val="6FA88A"/>
          </a:solidFill>
          <a:ln w="12700">
            <a:solidFill>
              <a:srgbClr val="333333"/>
            </a:solidFill>
            <a:prstDash val="solid"/>
          </a:ln>
        </p:spPr>
        <p:txBody>
          <a:bodyPr/>
          <a:lstStyle/>
          <a:p>
            <a:endParaRPr lang="en-SE"/>
          </a:p>
        </p:txBody>
      </p:sp>
      <p:sp>
        <p:nvSpPr>
          <p:cNvPr id="37" name="Text 35"/>
          <p:cNvSpPr/>
          <p:nvPr/>
        </p:nvSpPr>
        <p:spPr>
          <a:xfrm>
            <a:off x="804672" y="3785616"/>
            <a:ext cx="3291840" cy="219456"/>
          </a:xfrm>
          <a:prstGeom prst="rect">
            <a:avLst/>
          </a:prstGeom>
          <a:noFill/>
          <a:ln/>
        </p:spPr>
        <p:txBody>
          <a:bodyPr wrap="square" lIns="0" tIns="0" rIns="0" bIns="0" rtlCol="0" anchor="ctr"/>
          <a:lstStyle/>
          <a:p>
            <a:pPr marL="0" indent="0" algn="l">
              <a:buNone/>
            </a:pPr>
            <a:r>
              <a:rPr lang="en-US" sz="850" b="1" kern="0" spc="180" dirty="0">
                <a:solidFill>
                  <a:srgbClr val="6FA88A"/>
                </a:solidFill>
                <a:latin typeface="Segoe UI" pitchFamily="34" charset="0"/>
                <a:ea typeface="Segoe UI" pitchFamily="34" charset="-122"/>
                <a:cs typeface="Segoe UI" pitchFamily="34" charset="-120"/>
              </a:rPr>
              <a:t>COLLECTOR UP FIRST</a:t>
            </a:r>
            <a:endParaRPr lang="en-US" sz="850" dirty="0"/>
          </a:p>
        </p:txBody>
      </p:sp>
      <p:sp>
        <p:nvSpPr>
          <p:cNvPr id="38" name="Text 36"/>
          <p:cNvSpPr/>
          <p:nvPr/>
        </p:nvSpPr>
        <p:spPr>
          <a:xfrm>
            <a:off x="804672" y="4059936"/>
            <a:ext cx="3474720" cy="694944"/>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Every process is in the database from its very first line — including the startup messages that explain a bad configuration.</a:t>
            </a:r>
            <a:endParaRPr lang="en-US" sz="1050" dirty="0"/>
          </a:p>
        </p:txBody>
      </p:sp>
      <p:sp>
        <p:nvSpPr>
          <p:cNvPr id="39" name="card background">
            <a:extLst>
              <a:ext uri="{C183D7F6-B498-43B3-948B-1728B52AA6E4}">
                <adec:decorative xmlns:adec="http://schemas.microsoft.com/office/drawing/2017/decorative" val="1"/>
              </a:ext>
            </a:extLst>
          </p:cNvPr>
          <p:cNvSpPr/>
          <p:nvPr/>
        </p:nvSpPr>
        <p:spPr>
          <a:xfrm>
            <a:off x="4700016" y="3639312"/>
            <a:ext cx="3877056" cy="1225296"/>
          </a:xfrm>
          <a:prstGeom prst="rect">
            <a:avLst/>
          </a:prstGeom>
          <a:solidFill>
            <a:srgbClr val="1D1A1A"/>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40" name="card accent edge">
            <a:extLst>
              <a:ext uri="{C183D7F6-B498-43B3-948B-1728B52AA6E4}">
                <adec:decorative xmlns:adec="http://schemas.microsoft.com/office/drawing/2017/decorative" val="1"/>
              </a:ext>
            </a:extLst>
          </p:cNvPr>
          <p:cNvSpPr/>
          <p:nvPr/>
        </p:nvSpPr>
        <p:spPr>
          <a:xfrm>
            <a:off x="4700016" y="3639312"/>
            <a:ext cx="50292" cy="1225296"/>
          </a:xfrm>
          <a:prstGeom prst="rect">
            <a:avLst/>
          </a:prstGeom>
          <a:solidFill>
            <a:srgbClr val="C9584C"/>
          </a:solidFill>
          <a:ln w="12700">
            <a:solidFill>
              <a:srgbClr val="333333"/>
            </a:solidFill>
            <a:prstDash val="solid"/>
          </a:ln>
        </p:spPr>
        <p:txBody>
          <a:bodyPr/>
          <a:lstStyle/>
          <a:p>
            <a:endParaRPr lang="en-SE"/>
          </a:p>
        </p:txBody>
      </p:sp>
      <p:sp>
        <p:nvSpPr>
          <p:cNvPr id="41" name="Text 39"/>
          <p:cNvSpPr/>
          <p:nvPr/>
        </p:nvSpPr>
        <p:spPr>
          <a:xfrm>
            <a:off x="4937760" y="3785616"/>
            <a:ext cx="3291840" cy="219456"/>
          </a:xfrm>
          <a:prstGeom prst="rect">
            <a:avLst/>
          </a:prstGeom>
          <a:noFill/>
          <a:ln/>
        </p:spPr>
        <p:txBody>
          <a:bodyPr wrap="square" lIns="0" tIns="0" rIns="0" bIns="0" rtlCol="0" anchor="ctr"/>
          <a:lstStyle/>
          <a:p>
            <a:pPr marL="0" indent="0" algn="l">
              <a:buNone/>
            </a:pPr>
            <a:r>
              <a:rPr lang="en-US" sz="850" b="1" kern="0" spc="180" dirty="0">
                <a:solidFill>
                  <a:srgbClr val="C9584C"/>
                </a:solidFill>
                <a:latin typeface="Segoe UI" pitchFamily="34" charset="0"/>
                <a:ea typeface="Segoe UI" pitchFamily="34" charset="-122"/>
                <a:cs typeface="Segoe UI" pitchFamily="34" charset="-120"/>
              </a:rPr>
              <a:t>COLLECTOR UP LATE</a:t>
            </a:r>
            <a:endParaRPr lang="en-US" sz="850" dirty="0"/>
          </a:p>
        </p:txBody>
      </p:sp>
      <p:sp>
        <p:nvSpPr>
          <p:cNvPr id="42" name="Text 40"/>
          <p:cNvSpPr/>
          <p:nvPr/>
        </p:nvSpPr>
        <p:spPr>
          <a:xfrm>
            <a:off x="4937760" y="4059936"/>
            <a:ext cx="3474720" cy="694944"/>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Processes that already started keep logging locally. Their first minutes exist only in a terminal you may have closed.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STARTUP</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21</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Nothing breaks if the collector is missing - you just lose the evidence</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This is a deliberate design choice. Logging must never be able to take the trading system down with it.</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810512"/>
            <a:ext cx="8010144" cy="896112"/>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accent edge">
            <a:extLst>
              <a:ext uri="{C183D7F6-B498-43B3-948B-1728B52AA6E4}">
                <adec:decorative xmlns:adec="http://schemas.microsoft.com/office/drawing/2017/decorative" val="1"/>
              </a:ext>
            </a:extLst>
          </p:cNvPr>
          <p:cNvSpPr/>
          <p:nvPr/>
        </p:nvSpPr>
        <p:spPr>
          <a:xfrm>
            <a:off x="566928" y="1810512"/>
            <a:ext cx="50292" cy="896112"/>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822960" y="1938528"/>
            <a:ext cx="3108960" cy="292608"/>
          </a:xfrm>
          <a:prstGeom prst="rect">
            <a:avLst/>
          </a:prstGeom>
          <a:noFill/>
          <a:ln/>
        </p:spPr>
        <p:txBody>
          <a:bodyPr wrap="square" lIns="0" tIns="0" rIns="0" bIns="0" rtlCol="0" anchor="ctr"/>
          <a:lstStyle/>
          <a:p>
            <a:pPr marL="0" indent="0" algn="l">
              <a:buNone/>
            </a:pPr>
            <a:r>
              <a:rPr lang="en-US" sz="1300" b="1" dirty="0">
                <a:solidFill>
                  <a:srgbClr val="EDEEF1"/>
                </a:solidFill>
                <a:latin typeface="Segoe UI" pitchFamily="34" charset="0"/>
                <a:ea typeface="Segoe UI" pitchFamily="34" charset="-122"/>
                <a:cs typeface="Segoe UI" pitchFamily="34" charset="-120"/>
              </a:rPr>
              <a:t>No collector at startup</a:t>
            </a:r>
            <a:endParaRPr lang="en-US" sz="1300" dirty="0"/>
          </a:p>
        </p:txBody>
      </p:sp>
      <p:sp>
        <p:nvSpPr>
          <p:cNvPr id="11" name="Text 9"/>
          <p:cNvSpPr/>
          <p:nvPr/>
        </p:nvSpPr>
        <p:spPr>
          <a:xfrm>
            <a:off x="822960" y="2212848"/>
            <a:ext cx="539496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The process falls back to its terminal or file sink and carries on trading normally. Nothing is retried in the background.</a:t>
            </a:r>
            <a:endParaRPr lang="en-US" sz="1050" dirty="0"/>
          </a:p>
        </p:txBody>
      </p:sp>
      <p:sp>
        <p:nvSpPr>
          <p:cNvPr id="12" name="chip background">
            <a:extLst>
              <a:ext uri="{C183D7F6-B498-43B3-948B-1728B52AA6E4}">
                <adec:decorative xmlns:adec="http://schemas.microsoft.com/office/drawing/2017/decorative" val="1"/>
              </a:ext>
            </a:extLst>
          </p:cNvPr>
          <p:cNvSpPr/>
          <p:nvPr/>
        </p:nvSpPr>
        <p:spPr>
          <a:xfrm>
            <a:off x="6949440" y="2103120"/>
            <a:ext cx="1371600" cy="292608"/>
          </a:xfrm>
          <a:prstGeom prst="roundRect">
            <a:avLst>
              <a:gd name="adj" fmla="val 37500"/>
            </a:avLst>
          </a:prstGeom>
          <a:solidFill>
            <a:srgbClr val="1B1E23"/>
          </a:solidFill>
          <a:ln w="12700">
            <a:solidFill>
              <a:srgbClr val="444B55"/>
            </a:solidFill>
            <a:prstDash val="solid"/>
          </a:ln>
        </p:spPr>
        <p:txBody>
          <a:bodyPr/>
          <a:lstStyle/>
          <a:p>
            <a:endParaRPr lang="en-SE"/>
          </a:p>
        </p:txBody>
      </p:sp>
      <p:sp>
        <p:nvSpPr>
          <p:cNvPr id="13" name="Text 11"/>
          <p:cNvSpPr/>
          <p:nvPr/>
        </p:nvSpPr>
        <p:spPr>
          <a:xfrm>
            <a:off x="7004304" y="2103120"/>
            <a:ext cx="1261872" cy="292608"/>
          </a:xfrm>
          <a:prstGeom prst="rect">
            <a:avLst/>
          </a:prstGeom>
          <a:noFill/>
          <a:ln/>
        </p:spPr>
        <p:txBody>
          <a:bodyPr wrap="square" lIns="0" tIns="0" rIns="0" bIns="0" rtlCol="0" anchor="ctr"/>
          <a:lstStyle/>
          <a:p>
            <a:pPr marL="0" indent="0" algn="ctr">
              <a:buNone/>
            </a:pPr>
            <a:r>
              <a:rPr lang="en-US" sz="850" b="1" dirty="0">
                <a:solidFill>
                  <a:srgbClr val="E8A33D"/>
                </a:solidFill>
                <a:latin typeface="Segoe UI" pitchFamily="34" charset="0"/>
                <a:ea typeface="Segoe UI" pitchFamily="34" charset="-122"/>
                <a:cs typeface="Segoe UI" pitchFamily="34" charset="-120"/>
              </a:rPr>
              <a:t>Falls back</a:t>
            </a:r>
            <a:endParaRPr lang="en-US" sz="850" dirty="0"/>
          </a:p>
        </p:txBody>
      </p:sp>
      <p:sp>
        <p:nvSpPr>
          <p:cNvPr id="14" name="card background">
            <a:extLst>
              <a:ext uri="{C183D7F6-B498-43B3-948B-1728B52AA6E4}">
                <adec:decorative xmlns:adec="http://schemas.microsoft.com/office/drawing/2017/decorative" val="1"/>
              </a:ext>
            </a:extLst>
          </p:cNvPr>
          <p:cNvSpPr/>
          <p:nvPr/>
        </p:nvSpPr>
        <p:spPr>
          <a:xfrm>
            <a:off x="566928" y="2834640"/>
            <a:ext cx="8010144" cy="896112"/>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5" name="card accent edge">
            <a:extLst>
              <a:ext uri="{C183D7F6-B498-43B3-948B-1728B52AA6E4}">
                <adec:decorative xmlns:adec="http://schemas.microsoft.com/office/drawing/2017/decorative" val="1"/>
              </a:ext>
            </a:extLst>
          </p:cNvPr>
          <p:cNvSpPr/>
          <p:nvPr/>
        </p:nvSpPr>
        <p:spPr>
          <a:xfrm>
            <a:off x="566928" y="2834640"/>
            <a:ext cx="50292" cy="896112"/>
          </a:xfrm>
          <a:prstGeom prst="rect">
            <a:avLst/>
          </a:prstGeom>
          <a:solidFill>
            <a:srgbClr val="C9584C"/>
          </a:solidFill>
          <a:ln w="12700">
            <a:solidFill>
              <a:srgbClr val="333333"/>
            </a:solidFill>
            <a:prstDash val="solid"/>
          </a:ln>
        </p:spPr>
        <p:txBody>
          <a:bodyPr/>
          <a:lstStyle/>
          <a:p>
            <a:endParaRPr lang="en-SE"/>
          </a:p>
        </p:txBody>
      </p:sp>
      <p:sp>
        <p:nvSpPr>
          <p:cNvPr id="16" name="Text 14"/>
          <p:cNvSpPr/>
          <p:nvPr/>
        </p:nvSpPr>
        <p:spPr>
          <a:xfrm>
            <a:off x="822960" y="2962656"/>
            <a:ext cx="3108960" cy="292608"/>
          </a:xfrm>
          <a:prstGeom prst="rect">
            <a:avLst/>
          </a:prstGeom>
          <a:noFill/>
          <a:ln/>
        </p:spPr>
        <p:txBody>
          <a:bodyPr wrap="square" lIns="0" tIns="0" rIns="0" bIns="0" rtlCol="0" anchor="ctr"/>
          <a:lstStyle/>
          <a:p>
            <a:pPr marL="0" indent="0" algn="l">
              <a:buNone/>
            </a:pPr>
            <a:r>
              <a:rPr lang="en-US" sz="1300" b="1" dirty="0">
                <a:solidFill>
                  <a:srgbClr val="EDEEF1"/>
                </a:solidFill>
                <a:latin typeface="Segoe UI" pitchFamily="34" charset="0"/>
                <a:ea typeface="Segoe UI" pitchFamily="34" charset="-122"/>
                <a:cs typeface="Segoe UI" pitchFamily="34" charset="-120"/>
              </a:rPr>
              <a:t>Collector stops mid-session</a:t>
            </a:r>
            <a:endParaRPr lang="en-US" sz="1300" dirty="0"/>
          </a:p>
        </p:txBody>
      </p:sp>
      <p:sp>
        <p:nvSpPr>
          <p:cNvPr id="17" name="Text 15"/>
          <p:cNvSpPr/>
          <p:nvPr/>
        </p:nvSpPr>
        <p:spPr>
          <a:xfrm>
            <a:off x="822960" y="3236976"/>
            <a:ext cx="539496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The connection closes. Rows already accepted are flushed and stored; records generated after that were never buffered anywhere.</a:t>
            </a:r>
            <a:endParaRPr lang="en-US" sz="1050" dirty="0"/>
          </a:p>
        </p:txBody>
      </p:sp>
      <p:sp>
        <p:nvSpPr>
          <p:cNvPr id="18" name="chip background">
            <a:extLst>
              <a:ext uri="{C183D7F6-B498-43B3-948B-1728B52AA6E4}">
                <adec:decorative xmlns:adec="http://schemas.microsoft.com/office/drawing/2017/decorative" val="1"/>
              </a:ext>
            </a:extLst>
          </p:cNvPr>
          <p:cNvSpPr/>
          <p:nvPr/>
        </p:nvSpPr>
        <p:spPr>
          <a:xfrm>
            <a:off x="6949440" y="3127248"/>
            <a:ext cx="1371600" cy="292608"/>
          </a:xfrm>
          <a:prstGeom prst="roundRect">
            <a:avLst>
              <a:gd name="adj" fmla="val 37500"/>
            </a:avLst>
          </a:prstGeom>
          <a:solidFill>
            <a:srgbClr val="1B1E23"/>
          </a:solidFill>
          <a:ln w="12700">
            <a:solidFill>
              <a:srgbClr val="444B55"/>
            </a:solidFill>
            <a:prstDash val="solid"/>
          </a:ln>
        </p:spPr>
        <p:txBody>
          <a:bodyPr/>
          <a:lstStyle/>
          <a:p>
            <a:endParaRPr lang="en-SE"/>
          </a:p>
        </p:txBody>
      </p:sp>
      <p:sp>
        <p:nvSpPr>
          <p:cNvPr id="19" name="Text 17"/>
          <p:cNvSpPr/>
          <p:nvPr/>
        </p:nvSpPr>
        <p:spPr>
          <a:xfrm>
            <a:off x="7004304" y="3127248"/>
            <a:ext cx="1261872" cy="292608"/>
          </a:xfrm>
          <a:prstGeom prst="rect">
            <a:avLst/>
          </a:prstGeom>
          <a:noFill/>
          <a:ln/>
        </p:spPr>
        <p:txBody>
          <a:bodyPr wrap="square" lIns="0" tIns="0" rIns="0" bIns="0" rtlCol="0" anchor="ctr"/>
          <a:lstStyle/>
          <a:p>
            <a:pPr marL="0" indent="0" algn="ctr">
              <a:buNone/>
            </a:pPr>
            <a:r>
              <a:rPr lang="en-US" sz="850" b="1" dirty="0">
                <a:solidFill>
                  <a:srgbClr val="C9584C"/>
                </a:solidFill>
                <a:latin typeface="Segoe UI" pitchFamily="34" charset="0"/>
                <a:ea typeface="Segoe UI" pitchFamily="34" charset="-122"/>
                <a:cs typeface="Segoe UI" pitchFamily="34" charset="-120"/>
              </a:rPr>
              <a:t>Gap in history</a:t>
            </a:r>
            <a:endParaRPr lang="en-US" sz="850" dirty="0"/>
          </a:p>
        </p:txBody>
      </p:sp>
      <p:sp>
        <p:nvSpPr>
          <p:cNvPr id="20" name="card background">
            <a:extLst>
              <a:ext uri="{C183D7F6-B498-43B3-948B-1728B52AA6E4}">
                <adec:decorative xmlns:adec="http://schemas.microsoft.com/office/drawing/2017/decorative" val="1"/>
              </a:ext>
            </a:extLst>
          </p:cNvPr>
          <p:cNvSpPr/>
          <p:nvPr/>
        </p:nvSpPr>
        <p:spPr>
          <a:xfrm>
            <a:off x="566928" y="3858768"/>
            <a:ext cx="8010144" cy="896112"/>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1" name="card accent edge">
            <a:extLst>
              <a:ext uri="{C183D7F6-B498-43B3-948B-1728B52AA6E4}">
                <adec:decorative xmlns:adec="http://schemas.microsoft.com/office/drawing/2017/decorative" val="1"/>
              </a:ext>
            </a:extLst>
          </p:cNvPr>
          <p:cNvSpPr/>
          <p:nvPr/>
        </p:nvSpPr>
        <p:spPr>
          <a:xfrm>
            <a:off x="566928" y="3858768"/>
            <a:ext cx="50292" cy="896112"/>
          </a:xfrm>
          <a:prstGeom prst="rect">
            <a:avLst/>
          </a:prstGeom>
          <a:solidFill>
            <a:srgbClr val="8A7EA8"/>
          </a:solidFill>
          <a:ln w="12700">
            <a:solidFill>
              <a:srgbClr val="333333"/>
            </a:solidFill>
            <a:prstDash val="solid"/>
          </a:ln>
        </p:spPr>
        <p:txBody>
          <a:bodyPr/>
          <a:lstStyle/>
          <a:p>
            <a:endParaRPr lang="en-SE"/>
          </a:p>
        </p:txBody>
      </p:sp>
      <p:sp>
        <p:nvSpPr>
          <p:cNvPr id="22" name="Text 20"/>
          <p:cNvSpPr/>
          <p:nvPr/>
        </p:nvSpPr>
        <p:spPr>
          <a:xfrm>
            <a:off x="822960" y="3986784"/>
            <a:ext cx="3108960" cy="292608"/>
          </a:xfrm>
          <a:prstGeom prst="rect">
            <a:avLst/>
          </a:prstGeom>
          <a:noFill/>
          <a:ln/>
        </p:spPr>
        <p:txBody>
          <a:bodyPr wrap="square" lIns="0" tIns="0" rIns="0" bIns="0" rtlCol="0" anchor="ctr"/>
          <a:lstStyle/>
          <a:p>
            <a:pPr marL="0" indent="0" algn="l">
              <a:buNone/>
            </a:pPr>
            <a:r>
              <a:rPr lang="en-US" sz="1300" b="1" dirty="0">
                <a:solidFill>
                  <a:srgbClr val="EDEEF1"/>
                </a:solidFill>
                <a:latin typeface="Segoe UI" pitchFamily="34" charset="0"/>
                <a:ea typeface="Segoe UI" pitchFamily="34" charset="-122"/>
                <a:cs typeface="Segoe UI" pitchFamily="34" charset="-120"/>
              </a:rPr>
              <a:t>Collector comes back</a:t>
            </a:r>
            <a:endParaRPr lang="en-US" sz="1300" dirty="0"/>
          </a:p>
        </p:txBody>
      </p:sp>
      <p:sp>
        <p:nvSpPr>
          <p:cNvPr id="23" name="Text 21"/>
          <p:cNvSpPr/>
          <p:nvPr/>
        </p:nvSpPr>
        <p:spPr>
          <a:xfrm>
            <a:off x="822960" y="4261104"/>
            <a:ext cx="539496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A reconnecting process starts a completely fresh session. There is no replay — the missing window stays missing.</a:t>
            </a:r>
            <a:endParaRPr lang="en-US" sz="1050" dirty="0"/>
          </a:p>
        </p:txBody>
      </p:sp>
      <p:sp>
        <p:nvSpPr>
          <p:cNvPr id="24" name="chip background">
            <a:extLst>
              <a:ext uri="{C183D7F6-B498-43B3-948B-1728B52AA6E4}">
                <adec:decorative xmlns:adec="http://schemas.microsoft.com/office/drawing/2017/decorative" val="1"/>
              </a:ext>
            </a:extLst>
          </p:cNvPr>
          <p:cNvSpPr/>
          <p:nvPr/>
        </p:nvSpPr>
        <p:spPr>
          <a:xfrm>
            <a:off x="6949440" y="4151376"/>
            <a:ext cx="1371600" cy="292608"/>
          </a:xfrm>
          <a:prstGeom prst="roundRect">
            <a:avLst>
              <a:gd name="adj" fmla="val 37500"/>
            </a:avLst>
          </a:prstGeom>
          <a:solidFill>
            <a:srgbClr val="1B1E23"/>
          </a:solidFill>
          <a:ln w="12700">
            <a:solidFill>
              <a:srgbClr val="444B55"/>
            </a:solidFill>
            <a:prstDash val="solid"/>
          </a:ln>
        </p:spPr>
        <p:txBody>
          <a:bodyPr/>
          <a:lstStyle/>
          <a:p>
            <a:endParaRPr lang="en-SE"/>
          </a:p>
        </p:txBody>
      </p:sp>
      <p:sp>
        <p:nvSpPr>
          <p:cNvPr id="25" name="Text 23"/>
          <p:cNvSpPr/>
          <p:nvPr/>
        </p:nvSpPr>
        <p:spPr>
          <a:xfrm>
            <a:off x="7004304" y="4151376"/>
            <a:ext cx="1261872" cy="292608"/>
          </a:xfrm>
          <a:prstGeom prst="rect">
            <a:avLst/>
          </a:prstGeom>
          <a:noFill/>
          <a:ln/>
        </p:spPr>
        <p:txBody>
          <a:bodyPr wrap="square" lIns="0" tIns="0" rIns="0" bIns="0" rtlCol="0" anchor="ctr"/>
          <a:lstStyle/>
          <a:p>
            <a:pPr marL="0" indent="0" algn="ctr">
              <a:buNone/>
            </a:pPr>
            <a:r>
              <a:rPr lang="en-US" sz="850" b="1" dirty="0">
                <a:solidFill>
                  <a:srgbClr val="8A7EA8"/>
                </a:solidFill>
                <a:latin typeface="Segoe UI" pitchFamily="34" charset="0"/>
                <a:ea typeface="Segoe UI" pitchFamily="34" charset="-122"/>
                <a:cs typeface="Segoe UI" pitchFamily="34" charset="-120"/>
              </a:rPr>
              <a:t>No replay</a:t>
            </a:r>
            <a:endParaRPr lang="en-US" sz="850" dirty="0"/>
          </a:p>
        </p:txBody>
      </p:sp>
      <p:sp>
        <p:nvSpPr>
          <p:cNvPr id="26" name="Text 24"/>
          <p:cNvSpPr/>
          <p:nvPr/>
        </p:nvSpPr>
        <p:spPr>
          <a:xfrm>
            <a:off x="566928" y="4754880"/>
            <a:ext cx="8010144" cy="274320"/>
          </a:xfrm>
          <a:prstGeom prst="rect">
            <a:avLst/>
          </a:prstGeom>
          <a:noFill/>
          <a:ln/>
        </p:spPr>
        <p:txBody>
          <a:bodyPr wrap="square" lIns="0" tIns="0" rIns="0" bIns="0" rtlCol="0" anchor="t"/>
          <a:lstStyle/>
          <a:p>
            <a:pPr marL="0" indent="0" algn="ctr">
              <a:lnSpc>
                <a:spcPts val="1420"/>
              </a:lnSpc>
              <a:buNone/>
            </a:pPr>
            <a:r>
              <a:rPr lang="en-US" sz="1000" i="1" dirty="0">
                <a:solidFill>
                  <a:srgbClr val="F6C978"/>
                </a:solidFill>
                <a:latin typeface="Segoe UI" pitchFamily="34" charset="0"/>
                <a:ea typeface="Segoe UI" pitchFamily="34" charset="-122"/>
                <a:cs typeface="Segoe UI" pitchFamily="34" charset="-120"/>
              </a:rPr>
              <a:t>Restated as one habit: bring pm-log-srv up before the engine, and leave it up for as long as the system is running.</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05</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The Log Operator Console</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150" dirty="0">
                <a:solidFill>
                  <a:srgbClr val="A3A9B4"/>
                </a:solidFill>
                <a:latin typeface="Segoe UI" pitchFamily="34" charset="0"/>
                <a:ea typeface="Segoe UI" pitchFamily="34" charset="-122"/>
                <a:cs typeface="Segoe UI" pitchFamily="34" charset="-120"/>
              </a:rPr>
              <a:t>A browser application over the same data — built to answer “is anything wrong right now, and has someone dealt with it?”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23</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Where the console sits in the chain</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The console is strictly additive. It never writes to log.db, never changes how collection behaves, and can be stopped at any moment without affecting anything.</a:t>
            </a:r>
            <a:endParaRPr lang="en-US" sz="1250" dirty="0"/>
          </a:p>
        </p:txBody>
      </p:sp>
      <p:sp>
        <p:nvSpPr>
          <p:cNvPr id="8" name="diagram node box">
            <a:extLst>
              <a:ext uri="{C183D7F6-B498-43B3-948B-1728B52AA6E4}">
                <adec:decorative xmlns:adec="http://schemas.microsoft.com/office/drawing/2017/decorative" val="1"/>
              </a:ext>
            </a:extLst>
          </p:cNvPr>
          <p:cNvSpPr/>
          <p:nvPr/>
        </p:nvSpPr>
        <p:spPr>
          <a:xfrm>
            <a:off x="566928" y="2157984"/>
            <a:ext cx="1463040" cy="713232"/>
          </a:xfrm>
          <a:prstGeom prst="rect">
            <a:avLst/>
          </a:prstGeom>
          <a:solidFill>
            <a:srgbClr val="282C33"/>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9" name="Text 7"/>
          <p:cNvSpPr/>
          <p:nvPr/>
        </p:nvSpPr>
        <p:spPr>
          <a:xfrm>
            <a:off x="640080" y="2258568"/>
            <a:ext cx="1316736" cy="274320"/>
          </a:xfrm>
          <a:prstGeom prst="rect">
            <a:avLst/>
          </a:prstGeom>
          <a:noFill/>
          <a:ln/>
        </p:spPr>
        <p:txBody>
          <a:bodyPr wrap="square" lIns="0" tIns="0" rIns="0" bIns="0" rtlCol="0" anchor="ctr"/>
          <a:lstStyle/>
          <a:p>
            <a:pPr marL="0" indent="0" algn="ctr">
              <a:buNone/>
            </a:pPr>
            <a:r>
              <a:rPr lang="en-US" sz="950" b="1" dirty="0">
                <a:solidFill>
                  <a:srgbClr val="EDEEF1"/>
                </a:solidFill>
                <a:latin typeface="Consolas" pitchFamily="34" charset="0"/>
                <a:ea typeface="Consolas" pitchFamily="34" charset="-122"/>
                <a:cs typeface="Consolas" pitchFamily="34" charset="-120"/>
              </a:rPr>
              <a:t>pm-* procs</a:t>
            </a:r>
            <a:endParaRPr lang="en-US" sz="950" dirty="0"/>
          </a:p>
        </p:txBody>
      </p:sp>
      <p:sp>
        <p:nvSpPr>
          <p:cNvPr id="10" name="Text 8"/>
          <p:cNvSpPr/>
          <p:nvPr/>
        </p:nvSpPr>
        <p:spPr>
          <a:xfrm>
            <a:off x="640080" y="2505456"/>
            <a:ext cx="1316736" cy="292608"/>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engine, gateways</a:t>
            </a:r>
            <a:endParaRPr lang="en-US" sz="850" dirty="0"/>
          </a:p>
        </p:txBody>
      </p:sp>
      <p:sp>
        <p:nvSpPr>
          <p:cNvPr id="11" name="flow arrow">
            <a:extLst>
              <a:ext uri="{C183D7F6-B498-43B3-948B-1728B52AA6E4}">
                <adec:decorative xmlns:adec="http://schemas.microsoft.com/office/drawing/2017/decorative" val="1"/>
              </a:ext>
            </a:extLst>
          </p:cNvPr>
          <p:cNvSpPr/>
          <p:nvPr/>
        </p:nvSpPr>
        <p:spPr>
          <a:xfrm>
            <a:off x="2084832" y="2514600"/>
            <a:ext cx="457200" cy="0"/>
          </a:xfrm>
          <a:prstGeom prst="line">
            <a:avLst/>
          </a:prstGeom>
          <a:noFill/>
          <a:ln w="16510">
            <a:solidFill>
              <a:srgbClr val="7A5A24"/>
            </a:solidFill>
            <a:prstDash val="solid"/>
            <a:tailEnd type="triangle"/>
          </a:ln>
        </p:spPr>
        <p:txBody>
          <a:bodyPr/>
          <a:lstStyle/>
          <a:p>
            <a:endParaRPr lang="en-SE"/>
          </a:p>
        </p:txBody>
      </p:sp>
      <p:sp>
        <p:nvSpPr>
          <p:cNvPr id="12" name="Text 10"/>
          <p:cNvSpPr/>
          <p:nvPr/>
        </p:nvSpPr>
        <p:spPr>
          <a:xfrm>
            <a:off x="1993392" y="2221992"/>
            <a:ext cx="640080" cy="237744"/>
          </a:xfrm>
          <a:prstGeom prst="rect">
            <a:avLst/>
          </a:prstGeom>
          <a:noFill/>
          <a:ln/>
        </p:spPr>
        <p:txBody>
          <a:bodyPr wrap="square" lIns="0" tIns="0" rIns="0" bIns="0" rtlCol="0" anchor="ctr"/>
          <a:lstStyle/>
          <a:p>
            <a:pPr marL="0" indent="0" algn="ctr">
              <a:buNone/>
            </a:pPr>
            <a:r>
              <a:rPr lang="en-US" sz="720" dirty="0">
                <a:solidFill>
                  <a:srgbClr val="E8A33D"/>
                </a:solidFill>
                <a:latin typeface="Consolas" pitchFamily="34" charset="0"/>
                <a:ea typeface="Consolas" pitchFamily="34" charset="-122"/>
                <a:cs typeface="Consolas" pitchFamily="34" charset="-120"/>
              </a:rPr>
              <a:t>LALF :5600</a:t>
            </a:r>
            <a:endParaRPr lang="en-US" sz="720" dirty="0"/>
          </a:p>
        </p:txBody>
      </p:sp>
      <p:sp>
        <p:nvSpPr>
          <p:cNvPr id="13" name="diagram node box">
            <a:extLst>
              <a:ext uri="{C183D7F6-B498-43B3-948B-1728B52AA6E4}">
                <adec:decorative xmlns:adec="http://schemas.microsoft.com/office/drawing/2017/decorative" val="1"/>
              </a:ext>
            </a:extLst>
          </p:cNvPr>
          <p:cNvSpPr/>
          <p:nvPr/>
        </p:nvSpPr>
        <p:spPr>
          <a:xfrm>
            <a:off x="2578608" y="2157984"/>
            <a:ext cx="1481328" cy="713232"/>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14" name="node accent">
            <a:extLst>
              <a:ext uri="{C183D7F6-B498-43B3-948B-1728B52AA6E4}">
                <adec:decorative xmlns:adec="http://schemas.microsoft.com/office/drawing/2017/decorative" val="1"/>
              </a:ext>
            </a:extLst>
          </p:cNvPr>
          <p:cNvSpPr/>
          <p:nvPr/>
        </p:nvSpPr>
        <p:spPr>
          <a:xfrm>
            <a:off x="2578608" y="2157984"/>
            <a:ext cx="1481328" cy="41148"/>
          </a:xfrm>
          <a:prstGeom prst="rect">
            <a:avLst/>
          </a:prstGeom>
          <a:solidFill>
            <a:srgbClr val="E8A33D"/>
          </a:solidFill>
          <a:ln w="12700">
            <a:solidFill>
              <a:srgbClr val="333333"/>
            </a:solidFill>
            <a:prstDash val="solid"/>
          </a:ln>
        </p:spPr>
        <p:txBody>
          <a:bodyPr/>
          <a:lstStyle/>
          <a:p>
            <a:endParaRPr lang="en-SE"/>
          </a:p>
        </p:txBody>
      </p:sp>
      <p:sp>
        <p:nvSpPr>
          <p:cNvPr id="15" name="Text 13"/>
          <p:cNvSpPr/>
          <p:nvPr/>
        </p:nvSpPr>
        <p:spPr>
          <a:xfrm>
            <a:off x="2651760" y="2258568"/>
            <a:ext cx="1335024" cy="274320"/>
          </a:xfrm>
          <a:prstGeom prst="rect">
            <a:avLst/>
          </a:prstGeom>
          <a:noFill/>
          <a:ln/>
        </p:spPr>
        <p:txBody>
          <a:bodyPr wrap="square" lIns="0" tIns="0" rIns="0" bIns="0" rtlCol="0" anchor="ctr"/>
          <a:lstStyle/>
          <a:p>
            <a:pPr marL="0" indent="0" algn="ctr">
              <a:buNone/>
            </a:pPr>
            <a:r>
              <a:rPr lang="en-US" sz="1050" b="1" dirty="0">
                <a:solidFill>
                  <a:srgbClr val="EDEEF1"/>
                </a:solidFill>
                <a:latin typeface="Consolas" pitchFamily="34" charset="0"/>
                <a:ea typeface="Consolas" pitchFamily="34" charset="-122"/>
                <a:cs typeface="Consolas" pitchFamily="34" charset="-120"/>
              </a:rPr>
              <a:t>pm-log-srv</a:t>
            </a:r>
            <a:endParaRPr lang="en-US" sz="1050" dirty="0"/>
          </a:p>
        </p:txBody>
      </p:sp>
      <p:sp>
        <p:nvSpPr>
          <p:cNvPr id="16" name="Text 14"/>
          <p:cNvSpPr/>
          <p:nvPr/>
        </p:nvSpPr>
        <p:spPr>
          <a:xfrm>
            <a:off x="2651760" y="2505456"/>
            <a:ext cx="1335024" cy="292608"/>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collector</a:t>
            </a:r>
            <a:endParaRPr lang="en-US" sz="850" dirty="0"/>
          </a:p>
        </p:txBody>
      </p:sp>
      <p:sp>
        <p:nvSpPr>
          <p:cNvPr id="17" name="flow arrow">
            <a:extLst>
              <a:ext uri="{C183D7F6-B498-43B3-948B-1728B52AA6E4}">
                <adec:decorative xmlns:adec="http://schemas.microsoft.com/office/drawing/2017/decorative" val="1"/>
              </a:ext>
            </a:extLst>
          </p:cNvPr>
          <p:cNvSpPr/>
          <p:nvPr/>
        </p:nvSpPr>
        <p:spPr>
          <a:xfrm>
            <a:off x="3319272" y="2926080"/>
            <a:ext cx="0" cy="475488"/>
          </a:xfrm>
          <a:prstGeom prst="line">
            <a:avLst/>
          </a:prstGeom>
          <a:noFill/>
          <a:ln w="16510">
            <a:solidFill>
              <a:srgbClr val="444B55"/>
            </a:solidFill>
            <a:prstDash val="solid"/>
            <a:tailEnd type="triangle"/>
          </a:ln>
        </p:spPr>
        <p:txBody>
          <a:bodyPr/>
          <a:lstStyle/>
          <a:p>
            <a:endParaRPr lang="en-SE"/>
          </a:p>
        </p:txBody>
      </p:sp>
      <p:sp>
        <p:nvSpPr>
          <p:cNvPr id="18" name="diagram node box">
            <a:extLst>
              <a:ext uri="{C183D7F6-B498-43B3-948B-1728B52AA6E4}">
                <adec:decorative xmlns:adec="http://schemas.microsoft.com/office/drawing/2017/decorative" val="1"/>
              </a:ext>
            </a:extLst>
          </p:cNvPr>
          <p:cNvSpPr/>
          <p:nvPr/>
        </p:nvSpPr>
        <p:spPr>
          <a:xfrm>
            <a:off x="2578608" y="3456432"/>
            <a:ext cx="1481328" cy="603504"/>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19" name="node accent">
            <a:extLst>
              <a:ext uri="{C183D7F6-B498-43B3-948B-1728B52AA6E4}">
                <adec:decorative xmlns:adec="http://schemas.microsoft.com/office/drawing/2017/decorative" val="1"/>
              </a:ext>
            </a:extLst>
          </p:cNvPr>
          <p:cNvSpPr/>
          <p:nvPr/>
        </p:nvSpPr>
        <p:spPr>
          <a:xfrm>
            <a:off x="2578608" y="3456432"/>
            <a:ext cx="1481328" cy="41148"/>
          </a:xfrm>
          <a:prstGeom prst="rect">
            <a:avLst/>
          </a:prstGeom>
          <a:solidFill>
            <a:srgbClr val="5E8CA8"/>
          </a:solidFill>
          <a:ln w="12700">
            <a:solidFill>
              <a:srgbClr val="333333"/>
            </a:solidFill>
            <a:prstDash val="solid"/>
          </a:ln>
        </p:spPr>
        <p:txBody>
          <a:bodyPr/>
          <a:lstStyle/>
          <a:p>
            <a:endParaRPr lang="en-SE"/>
          </a:p>
        </p:txBody>
      </p:sp>
      <p:sp>
        <p:nvSpPr>
          <p:cNvPr id="20" name="Text 18"/>
          <p:cNvSpPr/>
          <p:nvPr/>
        </p:nvSpPr>
        <p:spPr>
          <a:xfrm>
            <a:off x="2651760" y="3456432"/>
            <a:ext cx="1335024" cy="603504"/>
          </a:xfrm>
          <a:prstGeom prst="rect">
            <a:avLst/>
          </a:prstGeom>
          <a:noFill/>
          <a:ln/>
        </p:spPr>
        <p:txBody>
          <a:bodyPr wrap="square" lIns="0" tIns="0" rIns="0" bIns="0" rtlCol="0" anchor="ctr"/>
          <a:lstStyle/>
          <a:p>
            <a:pPr marL="0" indent="0" algn="ctr">
              <a:buNone/>
            </a:pPr>
            <a:r>
              <a:rPr lang="en-US" sz="1000" b="1" dirty="0">
                <a:solidFill>
                  <a:srgbClr val="EDEEF1"/>
                </a:solidFill>
                <a:latin typeface="Consolas" pitchFamily="34" charset="0"/>
                <a:ea typeface="Consolas" pitchFamily="34" charset="-122"/>
                <a:cs typeface="Consolas" pitchFamily="34" charset="-120"/>
              </a:rPr>
              <a:t>log.db</a:t>
            </a:r>
            <a:endParaRPr lang="en-US" sz="1000" dirty="0"/>
          </a:p>
        </p:txBody>
      </p:sp>
      <p:sp>
        <p:nvSpPr>
          <p:cNvPr id="21" name="flow arrow">
            <a:extLst>
              <a:ext uri="{C183D7F6-B498-43B3-948B-1728B52AA6E4}">
                <adec:decorative xmlns:adec="http://schemas.microsoft.com/office/drawing/2017/decorative" val="1"/>
              </a:ext>
            </a:extLst>
          </p:cNvPr>
          <p:cNvSpPr/>
          <p:nvPr/>
        </p:nvSpPr>
        <p:spPr>
          <a:xfrm>
            <a:off x="4114800" y="2514600"/>
            <a:ext cx="566928" cy="0"/>
          </a:xfrm>
          <a:prstGeom prst="line">
            <a:avLst/>
          </a:prstGeom>
          <a:noFill/>
          <a:ln w="16510">
            <a:solidFill>
              <a:srgbClr val="8A7EA8"/>
            </a:solidFill>
            <a:prstDash val="solid"/>
            <a:tailEnd type="triangle"/>
          </a:ln>
        </p:spPr>
        <p:txBody>
          <a:bodyPr/>
          <a:lstStyle/>
          <a:p>
            <a:endParaRPr lang="en-SE"/>
          </a:p>
        </p:txBody>
      </p:sp>
      <p:sp>
        <p:nvSpPr>
          <p:cNvPr id="22" name="Text 20"/>
          <p:cNvSpPr/>
          <p:nvPr/>
        </p:nvSpPr>
        <p:spPr>
          <a:xfrm>
            <a:off x="4023360" y="2221992"/>
            <a:ext cx="749808" cy="237744"/>
          </a:xfrm>
          <a:prstGeom prst="rect">
            <a:avLst/>
          </a:prstGeom>
          <a:noFill/>
          <a:ln/>
        </p:spPr>
        <p:txBody>
          <a:bodyPr wrap="square" lIns="0" tIns="0" rIns="0" bIns="0" rtlCol="0" anchor="ctr"/>
          <a:lstStyle/>
          <a:p>
            <a:pPr marL="0" indent="0" algn="ctr">
              <a:buNone/>
            </a:pPr>
            <a:r>
              <a:rPr lang="en-US" sz="720" dirty="0">
                <a:solidFill>
                  <a:srgbClr val="E8A33D"/>
                </a:solidFill>
                <a:latin typeface="Consolas" pitchFamily="34" charset="0"/>
                <a:ea typeface="Consolas" pitchFamily="34" charset="-122"/>
                <a:cs typeface="Consolas" pitchFamily="34" charset="-120"/>
              </a:rPr>
              <a:t>LALF-PS :5601</a:t>
            </a:r>
            <a:endParaRPr lang="en-US" sz="720" dirty="0"/>
          </a:p>
        </p:txBody>
      </p:sp>
      <p:sp>
        <p:nvSpPr>
          <p:cNvPr id="23" name="flow arrow">
            <a:extLst>
              <a:ext uri="{C183D7F6-B498-43B3-948B-1728B52AA6E4}">
                <adec:decorative xmlns:adec="http://schemas.microsoft.com/office/drawing/2017/decorative" val="1"/>
              </a:ext>
            </a:extLst>
          </p:cNvPr>
          <p:cNvSpPr/>
          <p:nvPr/>
        </p:nvSpPr>
        <p:spPr>
          <a:xfrm>
            <a:off x="4114800" y="3758184"/>
            <a:ext cx="566928" cy="0"/>
          </a:xfrm>
          <a:prstGeom prst="line">
            <a:avLst/>
          </a:prstGeom>
          <a:noFill/>
          <a:ln w="16510">
            <a:solidFill>
              <a:srgbClr val="5E8CA8"/>
            </a:solidFill>
            <a:prstDash val="solid"/>
            <a:tailEnd type="triangle"/>
          </a:ln>
        </p:spPr>
        <p:txBody>
          <a:bodyPr/>
          <a:lstStyle/>
          <a:p>
            <a:endParaRPr lang="en-SE"/>
          </a:p>
        </p:txBody>
      </p:sp>
      <p:sp>
        <p:nvSpPr>
          <p:cNvPr id="24" name="Text 22"/>
          <p:cNvSpPr/>
          <p:nvPr/>
        </p:nvSpPr>
        <p:spPr>
          <a:xfrm>
            <a:off x="4023360" y="3813048"/>
            <a:ext cx="749808" cy="237744"/>
          </a:xfrm>
          <a:prstGeom prst="rect">
            <a:avLst/>
          </a:prstGeom>
          <a:noFill/>
          <a:ln/>
        </p:spPr>
        <p:txBody>
          <a:bodyPr wrap="square" lIns="0" tIns="0" rIns="0" bIns="0" rtlCol="0" anchor="ctr"/>
          <a:lstStyle/>
          <a:p>
            <a:pPr marL="0" indent="0" algn="ctr">
              <a:buNone/>
            </a:pPr>
            <a:r>
              <a:rPr lang="en-US" sz="720" dirty="0">
                <a:solidFill>
                  <a:srgbClr val="E8A33D"/>
                </a:solidFill>
                <a:latin typeface="Consolas" pitchFamily="34" charset="0"/>
                <a:ea typeface="Consolas" pitchFamily="34" charset="-122"/>
                <a:cs typeface="Consolas" pitchFamily="34" charset="-120"/>
              </a:rPr>
              <a:t>read-only SQL</a:t>
            </a:r>
            <a:endParaRPr lang="en-US" sz="720" dirty="0"/>
          </a:p>
        </p:txBody>
      </p:sp>
      <p:sp>
        <p:nvSpPr>
          <p:cNvPr id="25" name="diagram node box">
            <a:extLst>
              <a:ext uri="{C183D7F6-B498-43B3-948B-1728B52AA6E4}">
                <adec:decorative xmlns:adec="http://schemas.microsoft.com/office/drawing/2017/decorative" val="1"/>
              </a:ext>
            </a:extLst>
          </p:cNvPr>
          <p:cNvSpPr/>
          <p:nvPr/>
        </p:nvSpPr>
        <p:spPr>
          <a:xfrm>
            <a:off x="4754880" y="2651760"/>
            <a:ext cx="1572768" cy="932688"/>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26" name="node accent">
            <a:extLst>
              <a:ext uri="{C183D7F6-B498-43B3-948B-1728B52AA6E4}">
                <adec:decorative xmlns:adec="http://schemas.microsoft.com/office/drawing/2017/decorative" val="1"/>
              </a:ext>
            </a:extLst>
          </p:cNvPr>
          <p:cNvSpPr/>
          <p:nvPr/>
        </p:nvSpPr>
        <p:spPr>
          <a:xfrm>
            <a:off x="4754880" y="2651760"/>
            <a:ext cx="1572768" cy="41148"/>
          </a:xfrm>
          <a:prstGeom prst="rect">
            <a:avLst/>
          </a:prstGeom>
          <a:solidFill>
            <a:srgbClr val="6FA88A"/>
          </a:solidFill>
          <a:ln w="12700">
            <a:solidFill>
              <a:srgbClr val="333333"/>
            </a:solidFill>
            <a:prstDash val="solid"/>
          </a:ln>
        </p:spPr>
        <p:txBody>
          <a:bodyPr/>
          <a:lstStyle/>
          <a:p>
            <a:endParaRPr lang="en-SE"/>
          </a:p>
        </p:txBody>
      </p:sp>
      <p:sp>
        <p:nvSpPr>
          <p:cNvPr id="27" name="Text 25"/>
          <p:cNvSpPr/>
          <p:nvPr/>
        </p:nvSpPr>
        <p:spPr>
          <a:xfrm>
            <a:off x="4828032" y="2752344"/>
            <a:ext cx="1426464" cy="274320"/>
          </a:xfrm>
          <a:prstGeom prst="rect">
            <a:avLst/>
          </a:prstGeom>
          <a:noFill/>
          <a:ln/>
        </p:spPr>
        <p:txBody>
          <a:bodyPr wrap="square" lIns="0" tIns="0" rIns="0" bIns="0" rtlCol="0" anchor="ctr"/>
          <a:lstStyle/>
          <a:p>
            <a:pPr marL="0" indent="0" algn="ctr">
              <a:buNone/>
            </a:pPr>
            <a:r>
              <a:rPr lang="en-US" sz="1050" b="1" dirty="0">
                <a:solidFill>
                  <a:srgbClr val="EDEEF1"/>
                </a:solidFill>
                <a:latin typeface="Consolas" pitchFamily="34" charset="0"/>
                <a:ea typeface="Consolas" pitchFamily="34" charset="-122"/>
                <a:cs typeface="Consolas" pitchFamily="34" charset="-120"/>
              </a:rPr>
              <a:t>bridge</a:t>
            </a:r>
            <a:endParaRPr lang="en-US" sz="1050" dirty="0"/>
          </a:p>
        </p:txBody>
      </p:sp>
      <p:sp>
        <p:nvSpPr>
          <p:cNvPr id="28" name="Text 26"/>
          <p:cNvSpPr/>
          <p:nvPr/>
        </p:nvSpPr>
        <p:spPr>
          <a:xfrm>
            <a:off x="4828032" y="2999232"/>
            <a:ext cx="1426464" cy="512064"/>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one subscription</a:t>
            </a:r>
            <a:endParaRPr lang="en-US" sz="850" dirty="0"/>
          </a:p>
        </p:txBody>
      </p:sp>
      <p:sp>
        <p:nvSpPr>
          <p:cNvPr id="29" name="flow arrow">
            <a:extLst>
              <a:ext uri="{C183D7F6-B498-43B3-948B-1728B52AA6E4}">
                <adec:decorative xmlns:adec="http://schemas.microsoft.com/office/drawing/2017/decorative" val="1"/>
              </a:ext>
            </a:extLst>
          </p:cNvPr>
          <p:cNvSpPr/>
          <p:nvPr/>
        </p:nvSpPr>
        <p:spPr>
          <a:xfrm>
            <a:off x="6382512" y="3108960"/>
            <a:ext cx="512064" cy="0"/>
          </a:xfrm>
          <a:prstGeom prst="line">
            <a:avLst/>
          </a:prstGeom>
          <a:noFill/>
          <a:ln w="16510">
            <a:solidFill>
              <a:srgbClr val="6FA88A"/>
            </a:solidFill>
            <a:prstDash val="solid"/>
            <a:tailEnd type="triangle"/>
          </a:ln>
        </p:spPr>
        <p:txBody>
          <a:bodyPr/>
          <a:lstStyle/>
          <a:p>
            <a:endParaRPr lang="en-SE"/>
          </a:p>
        </p:txBody>
      </p:sp>
      <p:sp>
        <p:nvSpPr>
          <p:cNvPr id="30" name="Text 28"/>
          <p:cNvSpPr/>
          <p:nvPr/>
        </p:nvSpPr>
        <p:spPr>
          <a:xfrm>
            <a:off x="6291072" y="2816352"/>
            <a:ext cx="694944" cy="237744"/>
          </a:xfrm>
          <a:prstGeom prst="rect">
            <a:avLst/>
          </a:prstGeom>
          <a:noFill/>
          <a:ln/>
        </p:spPr>
        <p:txBody>
          <a:bodyPr wrap="square" lIns="0" tIns="0" rIns="0" bIns="0" rtlCol="0" anchor="ctr"/>
          <a:lstStyle/>
          <a:p>
            <a:pPr marL="0" indent="0" algn="ctr">
              <a:buNone/>
            </a:pPr>
            <a:r>
              <a:rPr lang="en-US" sz="720" dirty="0">
                <a:solidFill>
                  <a:srgbClr val="E8A33D"/>
                </a:solidFill>
                <a:latin typeface="Consolas" pitchFamily="34" charset="0"/>
                <a:ea typeface="Consolas" pitchFamily="34" charset="-122"/>
                <a:cs typeface="Consolas" pitchFamily="34" charset="-120"/>
              </a:rPr>
              <a:t>REST + WS :8091</a:t>
            </a:r>
            <a:endParaRPr lang="en-US" sz="720" dirty="0"/>
          </a:p>
        </p:txBody>
      </p:sp>
      <p:sp>
        <p:nvSpPr>
          <p:cNvPr id="31" name="diagram node box">
            <a:extLst>
              <a:ext uri="{C183D7F6-B498-43B3-948B-1728B52AA6E4}">
                <adec:decorative xmlns:adec="http://schemas.microsoft.com/office/drawing/2017/decorative" val="1"/>
              </a:ext>
            </a:extLst>
          </p:cNvPr>
          <p:cNvSpPr/>
          <p:nvPr/>
        </p:nvSpPr>
        <p:spPr>
          <a:xfrm>
            <a:off x="6967728" y="2651760"/>
            <a:ext cx="1609344" cy="932688"/>
          </a:xfrm>
          <a:prstGeom prst="rect">
            <a:avLst/>
          </a:prstGeom>
          <a:solidFill>
            <a:srgbClr val="212429"/>
          </a:solidFill>
          <a:ln w="12700">
            <a:solidFill>
              <a:srgbClr val="444B55"/>
            </a:solidFill>
            <a:prstDash val="solid"/>
          </a:ln>
          <a:effectLst>
            <a:outerShdw blurRad="101600" dist="25400" dir="5400000" algn="bl" rotWithShape="0">
              <a:srgbClr val="000000">
                <a:alpha val="30000"/>
              </a:srgbClr>
            </a:outerShdw>
          </a:effectLst>
        </p:spPr>
        <p:txBody>
          <a:bodyPr/>
          <a:lstStyle/>
          <a:p>
            <a:endParaRPr lang="en-SE"/>
          </a:p>
        </p:txBody>
      </p:sp>
      <p:sp>
        <p:nvSpPr>
          <p:cNvPr id="32" name="node accent">
            <a:extLst>
              <a:ext uri="{C183D7F6-B498-43B3-948B-1728B52AA6E4}">
                <adec:decorative xmlns:adec="http://schemas.microsoft.com/office/drawing/2017/decorative" val="1"/>
              </a:ext>
            </a:extLst>
          </p:cNvPr>
          <p:cNvSpPr/>
          <p:nvPr/>
        </p:nvSpPr>
        <p:spPr>
          <a:xfrm>
            <a:off x="6967728" y="2651760"/>
            <a:ext cx="1609344" cy="41148"/>
          </a:xfrm>
          <a:prstGeom prst="rect">
            <a:avLst/>
          </a:prstGeom>
          <a:solidFill>
            <a:srgbClr val="6FA88A"/>
          </a:solidFill>
          <a:ln w="12700">
            <a:solidFill>
              <a:srgbClr val="333333"/>
            </a:solidFill>
            <a:prstDash val="solid"/>
          </a:ln>
        </p:spPr>
        <p:txBody>
          <a:bodyPr/>
          <a:lstStyle/>
          <a:p>
            <a:endParaRPr lang="en-SE"/>
          </a:p>
        </p:txBody>
      </p:sp>
      <p:sp>
        <p:nvSpPr>
          <p:cNvPr id="33" name="Text 31"/>
          <p:cNvSpPr/>
          <p:nvPr/>
        </p:nvSpPr>
        <p:spPr>
          <a:xfrm>
            <a:off x="7040880" y="2752344"/>
            <a:ext cx="1463040" cy="274320"/>
          </a:xfrm>
          <a:prstGeom prst="rect">
            <a:avLst/>
          </a:prstGeom>
          <a:noFill/>
          <a:ln/>
        </p:spPr>
        <p:txBody>
          <a:bodyPr wrap="square" lIns="0" tIns="0" rIns="0" bIns="0" rtlCol="0" anchor="ctr"/>
          <a:lstStyle/>
          <a:p>
            <a:pPr marL="0" indent="0" algn="ctr">
              <a:buNone/>
            </a:pPr>
            <a:r>
              <a:rPr lang="en-US" sz="1050" b="1" dirty="0">
                <a:solidFill>
                  <a:srgbClr val="EDEEF1"/>
                </a:solidFill>
                <a:latin typeface="Consolas" pitchFamily="34" charset="0"/>
                <a:ea typeface="Consolas" pitchFamily="34" charset="-122"/>
                <a:cs typeface="Consolas" pitchFamily="34" charset="-120"/>
              </a:rPr>
              <a:t>Browser</a:t>
            </a:r>
            <a:endParaRPr lang="en-US" sz="1050" dirty="0"/>
          </a:p>
        </p:txBody>
      </p:sp>
      <p:sp>
        <p:nvSpPr>
          <p:cNvPr id="34" name="Text 32"/>
          <p:cNvSpPr/>
          <p:nvPr/>
        </p:nvSpPr>
        <p:spPr>
          <a:xfrm>
            <a:off x="7040880" y="2999232"/>
            <a:ext cx="1463040" cy="512064"/>
          </a:xfrm>
          <a:prstGeom prst="rect">
            <a:avLst/>
          </a:prstGeom>
          <a:noFill/>
          <a:ln/>
        </p:spPr>
        <p:txBody>
          <a:bodyPr wrap="square" lIns="0" tIns="0" rIns="0" bIns="0" rtlCol="0" anchor="t"/>
          <a:lstStyle/>
          <a:p>
            <a:pPr marL="0" indent="0" algn="ctr">
              <a:lnSpc>
                <a:spcPts val="1100"/>
              </a:lnSpc>
              <a:buNone/>
            </a:pPr>
            <a:r>
              <a:rPr lang="en-US" sz="850" dirty="0">
                <a:solidFill>
                  <a:srgbClr val="747B87"/>
                </a:solidFill>
                <a:latin typeface="Segoe UI" pitchFamily="34" charset="0"/>
                <a:ea typeface="Segoe UI" pitchFamily="34" charset="-122"/>
                <a:cs typeface="Segoe UI" pitchFamily="34" charset="-120"/>
              </a:rPr>
              <a:t>six views, many tabs</a:t>
            </a:r>
            <a:endParaRPr lang="en-US" sz="850" dirty="0"/>
          </a:p>
        </p:txBody>
      </p:sp>
      <p:sp>
        <p:nvSpPr>
          <p:cNvPr id="35" name="card background">
            <a:extLst>
              <a:ext uri="{C183D7F6-B498-43B3-948B-1728B52AA6E4}">
                <adec:decorative xmlns:adec="http://schemas.microsoft.com/office/drawing/2017/decorative" val="1"/>
              </a:ext>
            </a:extLst>
          </p:cNvPr>
          <p:cNvSpPr/>
          <p:nvPr/>
        </p:nvSpPr>
        <p:spPr>
          <a:xfrm>
            <a:off x="566928" y="4261104"/>
            <a:ext cx="8010144" cy="640080"/>
          </a:xfrm>
          <a:prstGeom prst="rect">
            <a:avLst/>
          </a:prstGeom>
          <a:solidFill>
            <a:srgbClr val="282C33"/>
          </a:solidFill>
          <a:ln w="12700">
            <a:solidFill>
              <a:srgbClr val="343941"/>
            </a:solidFill>
            <a:prstDash val="solid"/>
          </a:ln>
        </p:spPr>
        <p:txBody>
          <a:bodyPr/>
          <a:lstStyle/>
          <a:p>
            <a:endParaRPr lang="en-SE"/>
          </a:p>
        </p:txBody>
      </p:sp>
      <p:sp>
        <p:nvSpPr>
          <p:cNvPr id="36" name="card accent edge">
            <a:extLst>
              <a:ext uri="{C183D7F6-B498-43B3-948B-1728B52AA6E4}">
                <adec:decorative xmlns:adec="http://schemas.microsoft.com/office/drawing/2017/decorative" val="1"/>
              </a:ext>
            </a:extLst>
          </p:cNvPr>
          <p:cNvSpPr/>
          <p:nvPr/>
        </p:nvSpPr>
        <p:spPr>
          <a:xfrm>
            <a:off x="566928" y="4261104"/>
            <a:ext cx="50292" cy="640080"/>
          </a:xfrm>
          <a:prstGeom prst="rect">
            <a:avLst/>
          </a:prstGeom>
          <a:solidFill>
            <a:srgbClr val="E8A33D"/>
          </a:solidFill>
          <a:ln w="12700">
            <a:solidFill>
              <a:srgbClr val="333333"/>
            </a:solidFill>
            <a:prstDash val="solid"/>
          </a:ln>
        </p:spPr>
        <p:txBody>
          <a:bodyPr/>
          <a:lstStyle/>
          <a:p>
            <a:endParaRPr lang="en-SE"/>
          </a:p>
        </p:txBody>
      </p:sp>
      <p:sp>
        <p:nvSpPr>
          <p:cNvPr id="37" name="Text 35"/>
          <p:cNvSpPr/>
          <p:nvPr/>
        </p:nvSpPr>
        <p:spPr>
          <a:xfrm>
            <a:off x="822960" y="4261104"/>
            <a:ext cx="7589520" cy="640080"/>
          </a:xfrm>
          <a:prstGeom prst="rect">
            <a:avLst/>
          </a:prstGeom>
          <a:noFill/>
          <a:ln/>
        </p:spPr>
        <p:txBody>
          <a:bodyPr wrap="square" lIns="0" tIns="0" rIns="0" bIns="0" rtlCol="0" anchor="ctr"/>
          <a:lstStyle/>
          <a:p>
            <a:pPr marL="0" indent="0" algn="l">
              <a:lnSpc>
                <a:spcPts val="1491"/>
              </a:lnSpc>
              <a:buNone/>
            </a:pPr>
            <a:r>
              <a:rPr lang="en-US" sz="1050" b="1" dirty="0">
                <a:solidFill>
                  <a:srgbClr val="F6C978"/>
                </a:solidFill>
                <a:latin typeface="Segoe UI" pitchFamily="34" charset="0"/>
                <a:ea typeface="Segoe UI" pitchFamily="34" charset="-122"/>
                <a:cs typeface="Segoe UI" pitchFamily="34" charset="-120"/>
              </a:rPr>
              <a:t>One bridge, however many operators. </a:t>
            </a:r>
            <a:r>
              <a:rPr lang="en-US" sz="1050" dirty="0">
                <a:solidFill>
                  <a:srgbClr val="A3A9B4"/>
                </a:solidFill>
                <a:latin typeface="Segoe UI" pitchFamily="34" charset="0"/>
                <a:ea typeface="Segoe UI" pitchFamily="34" charset="-122"/>
                <a:cs typeface="Segoe UI" pitchFamily="34" charset="-120"/>
              </a:rPr>
              <a:t>Ten people watching the console cost the log server exactly one subscriber — the bridge fans out to browser tabs over its own connection.</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24</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Two sources that fail independently - and are reported separately</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The top bar shows two distinct red states rather than one “disconnected” light, because they mean different things and have different fixes.</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3877056" cy="22860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3877056" cy="45720"/>
          </a:xfrm>
          <a:prstGeom prst="rect">
            <a:avLst/>
          </a:prstGeom>
          <a:solidFill>
            <a:srgbClr val="8A7EA8"/>
          </a:solidFill>
          <a:ln w="12700">
            <a:solidFill>
              <a:srgbClr val="333333"/>
            </a:solidFill>
            <a:prstDash val="solid"/>
          </a:ln>
        </p:spPr>
        <p:txBody>
          <a:bodyPr/>
          <a:lstStyle/>
          <a:p>
            <a:endParaRPr lang="en-SE"/>
          </a:p>
        </p:txBody>
      </p:sp>
      <p:sp>
        <p:nvSpPr>
          <p:cNvPr id="10" name="Text 8"/>
          <p:cNvSpPr/>
          <p:nvPr/>
        </p:nvSpPr>
        <p:spPr>
          <a:xfrm>
            <a:off x="804672" y="1938528"/>
            <a:ext cx="338328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Live channel</a:t>
            </a:r>
            <a:endParaRPr lang="en-US" sz="1500" dirty="0"/>
          </a:p>
        </p:txBody>
      </p:sp>
      <p:sp>
        <p:nvSpPr>
          <p:cNvPr id="11" name="Text 9"/>
          <p:cNvSpPr/>
          <p:nvPr/>
        </p:nvSpPr>
        <p:spPr>
          <a:xfrm>
            <a:off x="804672" y="2249424"/>
            <a:ext cx="3383280" cy="219456"/>
          </a:xfrm>
          <a:prstGeom prst="rect">
            <a:avLst/>
          </a:prstGeom>
          <a:noFill/>
          <a:ln/>
        </p:spPr>
        <p:txBody>
          <a:bodyPr wrap="square" lIns="0" tIns="0" rIns="0" bIns="0" rtlCol="0" anchor="ctr"/>
          <a:lstStyle/>
          <a:p>
            <a:pPr marL="0" indent="0" algn="l">
              <a:lnSpc>
                <a:spcPts val="1500"/>
              </a:lnSpc>
              <a:buNone/>
            </a:pPr>
            <a:r>
              <a:rPr lang="en-US" sz="900" dirty="0">
                <a:solidFill>
                  <a:srgbClr val="8A7EA8"/>
                </a:solidFill>
                <a:latin typeface="Consolas" pitchFamily="34" charset="0"/>
                <a:ea typeface="Consolas" pitchFamily="34" charset="-122"/>
                <a:cs typeface="Consolas" pitchFamily="34" charset="-120"/>
              </a:rPr>
              <a:t>LALF-PS from pm-log-srv</a:t>
            </a:r>
            <a:endParaRPr lang="en-US" sz="900" dirty="0"/>
          </a:p>
        </p:txBody>
      </p:sp>
      <p:sp>
        <p:nvSpPr>
          <p:cNvPr id="12" name="card rule">
            <a:extLst>
              <a:ext uri="{C183D7F6-B498-43B3-948B-1728B52AA6E4}">
                <adec:decorative xmlns:adec="http://schemas.microsoft.com/office/drawing/2017/decorative" val="1"/>
              </a:ext>
            </a:extLst>
          </p:cNvPr>
          <p:cNvSpPr/>
          <p:nvPr/>
        </p:nvSpPr>
        <p:spPr>
          <a:xfrm>
            <a:off x="804672" y="2560320"/>
            <a:ext cx="457200" cy="10973"/>
          </a:xfrm>
          <a:prstGeom prst="rect">
            <a:avLst/>
          </a:prstGeom>
          <a:solidFill>
            <a:srgbClr val="8A7EA8"/>
          </a:solidFill>
          <a:ln w="12700">
            <a:solidFill>
              <a:srgbClr val="333333"/>
            </a:solidFill>
            <a:prstDash val="solid"/>
          </a:ln>
        </p:spPr>
        <p:txBody>
          <a:bodyPr/>
          <a:lstStyle/>
          <a:p>
            <a:endParaRPr lang="en-SE"/>
          </a:p>
        </p:txBody>
      </p:sp>
      <p:sp>
        <p:nvSpPr>
          <p:cNvPr id="13" name="Text 11"/>
          <p:cNvSpPr/>
          <p:nvPr/>
        </p:nvSpPr>
        <p:spPr>
          <a:xfrm>
            <a:off x="804672" y="2706624"/>
            <a:ext cx="3383280" cy="36576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New rows as they land, plus server heartbeats</a:t>
            </a:r>
            <a:endParaRPr lang="en-US" sz="1050" dirty="0"/>
          </a:p>
        </p:txBody>
      </p:sp>
      <p:sp>
        <p:nvSpPr>
          <p:cNvPr id="14" name="Text 12"/>
          <p:cNvSpPr/>
          <p:nvPr/>
        </p:nvSpPr>
        <p:spPr>
          <a:xfrm>
            <a:off x="804672" y="3145536"/>
            <a:ext cx="3383280" cy="274320"/>
          </a:xfrm>
          <a:prstGeom prst="rect">
            <a:avLst/>
          </a:prstGeom>
          <a:noFill/>
          <a:ln/>
        </p:spPr>
        <p:txBody>
          <a:bodyPr wrap="square" lIns="0" tIns="0" rIns="0" bIns="0" rtlCol="0" anchor="t"/>
          <a:lstStyle/>
          <a:p>
            <a:pPr marL="0" indent="0" algn="l">
              <a:lnSpc>
                <a:spcPts val="1420"/>
              </a:lnSpc>
              <a:buNone/>
            </a:pPr>
            <a:r>
              <a:rPr lang="en-US" sz="1000" dirty="0">
                <a:solidFill>
                  <a:srgbClr val="C9584C"/>
                </a:solidFill>
                <a:latin typeface="Segoe UI" pitchFamily="34" charset="0"/>
                <a:ea typeface="Segoe UI" pitchFamily="34" charset="-122"/>
                <a:cs typeface="Segoe UI" pitchFamily="34" charset="-120"/>
              </a:rPr>
              <a:t>✗  Stops when pm-log-srv stops</a:t>
            </a:r>
            <a:endParaRPr lang="en-US" sz="1000" dirty="0"/>
          </a:p>
        </p:txBody>
      </p:sp>
      <p:sp>
        <p:nvSpPr>
          <p:cNvPr id="15" name="Text 13"/>
          <p:cNvSpPr/>
          <p:nvPr/>
        </p:nvSpPr>
        <p:spPr>
          <a:xfrm>
            <a:off x="804672" y="3438144"/>
            <a:ext cx="3383280" cy="274320"/>
          </a:xfrm>
          <a:prstGeom prst="rect">
            <a:avLst/>
          </a:prstGeom>
          <a:noFill/>
          <a:ln/>
        </p:spPr>
        <p:txBody>
          <a:bodyPr wrap="square" lIns="0" tIns="0" rIns="0" bIns="0" rtlCol="0" anchor="t"/>
          <a:lstStyle/>
          <a:p>
            <a:pPr marL="0" indent="0" algn="l">
              <a:lnSpc>
                <a:spcPts val="1420"/>
              </a:lnSpc>
              <a:buNone/>
            </a:pPr>
            <a:r>
              <a:rPr lang="en-US" sz="1000" dirty="0">
                <a:solidFill>
                  <a:srgbClr val="6FA88A"/>
                </a:solidFill>
                <a:latin typeface="Segoe UI" pitchFamily="34" charset="0"/>
                <a:ea typeface="Segoe UI" pitchFamily="34" charset="-122"/>
                <a:cs typeface="Segoe UI" pitchFamily="34" charset="-120"/>
              </a:rPr>
              <a:t>✓  Keeps working if log.db moves</a:t>
            </a:r>
            <a:endParaRPr lang="en-US" sz="1000" dirty="0"/>
          </a:p>
        </p:txBody>
      </p:sp>
      <p:sp>
        <p:nvSpPr>
          <p:cNvPr id="16" name="chip background">
            <a:extLst>
              <a:ext uri="{C183D7F6-B498-43B3-948B-1728B52AA6E4}">
                <adec:decorative xmlns:adec="http://schemas.microsoft.com/office/drawing/2017/decorative" val="1"/>
              </a:ext>
            </a:extLst>
          </p:cNvPr>
          <p:cNvSpPr/>
          <p:nvPr/>
        </p:nvSpPr>
        <p:spPr>
          <a:xfrm>
            <a:off x="804672" y="3712464"/>
            <a:ext cx="1554480" cy="256032"/>
          </a:xfrm>
          <a:prstGeom prst="roundRect">
            <a:avLst>
              <a:gd name="adj" fmla="val 42857"/>
            </a:avLst>
          </a:prstGeom>
          <a:solidFill>
            <a:srgbClr val="1B1E23"/>
          </a:solidFill>
          <a:ln w="12700">
            <a:solidFill>
              <a:srgbClr val="444B55"/>
            </a:solidFill>
            <a:prstDash val="solid"/>
          </a:ln>
        </p:spPr>
        <p:txBody>
          <a:bodyPr/>
          <a:lstStyle/>
          <a:p>
            <a:endParaRPr lang="en-SE"/>
          </a:p>
        </p:txBody>
      </p:sp>
      <p:sp>
        <p:nvSpPr>
          <p:cNvPr id="17" name="Text 15"/>
          <p:cNvSpPr/>
          <p:nvPr/>
        </p:nvSpPr>
        <p:spPr>
          <a:xfrm>
            <a:off x="859536" y="3712464"/>
            <a:ext cx="1444752" cy="256032"/>
          </a:xfrm>
          <a:prstGeom prst="rect">
            <a:avLst/>
          </a:prstGeom>
          <a:noFill/>
          <a:ln/>
        </p:spPr>
        <p:txBody>
          <a:bodyPr wrap="square" lIns="0" tIns="0" rIns="0" bIns="0" rtlCol="0" anchor="ctr"/>
          <a:lstStyle/>
          <a:p>
            <a:pPr marL="0" indent="0" algn="ctr">
              <a:buNone/>
            </a:pPr>
            <a:r>
              <a:rPr lang="en-US" sz="850" b="1" dirty="0">
                <a:solidFill>
                  <a:srgbClr val="8A7EA8"/>
                </a:solidFill>
                <a:latin typeface="Segoe UI" pitchFamily="34" charset="0"/>
                <a:ea typeface="Segoe UI" pitchFamily="34" charset="-122"/>
                <a:cs typeface="Segoe UI" pitchFamily="34" charset="-120"/>
              </a:rPr>
              <a:t>Pushed on commit</a:t>
            </a:r>
            <a:endParaRPr lang="en-US" sz="850" dirty="0"/>
          </a:p>
        </p:txBody>
      </p:sp>
      <p:sp>
        <p:nvSpPr>
          <p:cNvPr id="18" name="card background">
            <a:extLst>
              <a:ext uri="{C183D7F6-B498-43B3-948B-1728B52AA6E4}">
                <adec:decorative xmlns:adec="http://schemas.microsoft.com/office/drawing/2017/decorative" val="1"/>
              </a:ext>
            </a:extLst>
          </p:cNvPr>
          <p:cNvSpPr/>
          <p:nvPr/>
        </p:nvSpPr>
        <p:spPr>
          <a:xfrm>
            <a:off x="4700016" y="1773936"/>
            <a:ext cx="3877056" cy="228600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9" name="card top accent">
            <a:extLst>
              <a:ext uri="{C183D7F6-B498-43B3-948B-1728B52AA6E4}">
                <adec:decorative xmlns:adec="http://schemas.microsoft.com/office/drawing/2017/decorative" val="1"/>
              </a:ext>
            </a:extLst>
          </p:cNvPr>
          <p:cNvSpPr/>
          <p:nvPr/>
        </p:nvSpPr>
        <p:spPr>
          <a:xfrm>
            <a:off x="4700016" y="1773936"/>
            <a:ext cx="3877056" cy="45720"/>
          </a:xfrm>
          <a:prstGeom prst="rect">
            <a:avLst/>
          </a:prstGeom>
          <a:solidFill>
            <a:srgbClr val="5E8CA8"/>
          </a:solidFill>
          <a:ln w="12700">
            <a:solidFill>
              <a:srgbClr val="333333"/>
            </a:solidFill>
            <a:prstDash val="solid"/>
          </a:ln>
        </p:spPr>
        <p:txBody>
          <a:bodyPr/>
          <a:lstStyle/>
          <a:p>
            <a:endParaRPr lang="en-SE"/>
          </a:p>
        </p:txBody>
      </p:sp>
      <p:sp>
        <p:nvSpPr>
          <p:cNvPr id="20" name="Text 18"/>
          <p:cNvSpPr/>
          <p:nvPr/>
        </p:nvSpPr>
        <p:spPr>
          <a:xfrm>
            <a:off x="4937760" y="1938528"/>
            <a:ext cx="338328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History channel</a:t>
            </a:r>
            <a:endParaRPr lang="en-US" sz="1500" dirty="0"/>
          </a:p>
        </p:txBody>
      </p:sp>
      <p:sp>
        <p:nvSpPr>
          <p:cNvPr id="21" name="Text 19"/>
          <p:cNvSpPr/>
          <p:nvPr/>
        </p:nvSpPr>
        <p:spPr>
          <a:xfrm>
            <a:off x="4937760" y="2249424"/>
            <a:ext cx="3383280" cy="219456"/>
          </a:xfrm>
          <a:prstGeom prst="rect">
            <a:avLst/>
          </a:prstGeom>
          <a:noFill/>
          <a:ln/>
        </p:spPr>
        <p:txBody>
          <a:bodyPr wrap="square" lIns="0" tIns="0" rIns="0" bIns="0" rtlCol="0" anchor="ctr"/>
          <a:lstStyle/>
          <a:p>
            <a:pPr marL="0" indent="0" algn="l">
              <a:lnSpc>
                <a:spcPts val="1500"/>
              </a:lnSpc>
              <a:buNone/>
            </a:pPr>
            <a:r>
              <a:rPr lang="en-US" sz="900" dirty="0">
                <a:solidFill>
                  <a:srgbClr val="5E8CA8"/>
                </a:solidFill>
                <a:latin typeface="Consolas" pitchFamily="34" charset="0"/>
                <a:ea typeface="Consolas" pitchFamily="34" charset="-122"/>
                <a:cs typeface="Consolas" pitchFamily="34" charset="-120"/>
              </a:rPr>
              <a:t>log.db read from disk</a:t>
            </a:r>
            <a:endParaRPr lang="en-US" sz="900" dirty="0"/>
          </a:p>
        </p:txBody>
      </p:sp>
      <p:sp>
        <p:nvSpPr>
          <p:cNvPr id="22" name="card rule">
            <a:extLst>
              <a:ext uri="{C183D7F6-B498-43B3-948B-1728B52AA6E4}">
                <adec:decorative xmlns:adec="http://schemas.microsoft.com/office/drawing/2017/decorative" val="1"/>
              </a:ext>
            </a:extLst>
          </p:cNvPr>
          <p:cNvSpPr/>
          <p:nvPr/>
        </p:nvSpPr>
        <p:spPr>
          <a:xfrm>
            <a:off x="4937760" y="2560320"/>
            <a:ext cx="457200" cy="10973"/>
          </a:xfrm>
          <a:prstGeom prst="rect">
            <a:avLst/>
          </a:prstGeom>
          <a:solidFill>
            <a:srgbClr val="5E8CA8"/>
          </a:solidFill>
          <a:ln w="12700">
            <a:solidFill>
              <a:srgbClr val="333333"/>
            </a:solidFill>
            <a:prstDash val="solid"/>
          </a:ln>
        </p:spPr>
        <p:txBody>
          <a:bodyPr/>
          <a:lstStyle/>
          <a:p>
            <a:endParaRPr lang="en-SE"/>
          </a:p>
        </p:txBody>
      </p:sp>
      <p:sp>
        <p:nvSpPr>
          <p:cNvPr id="23" name="Text 21"/>
          <p:cNvSpPr/>
          <p:nvPr/>
        </p:nvSpPr>
        <p:spPr>
          <a:xfrm>
            <a:off x="4937760" y="2706624"/>
            <a:ext cx="3383280" cy="36576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Search, aggregation, counts, export</a:t>
            </a:r>
            <a:endParaRPr lang="en-US" sz="1050" dirty="0"/>
          </a:p>
        </p:txBody>
      </p:sp>
      <p:sp>
        <p:nvSpPr>
          <p:cNvPr id="24" name="Text 22"/>
          <p:cNvSpPr/>
          <p:nvPr/>
        </p:nvSpPr>
        <p:spPr>
          <a:xfrm>
            <a:off x="4937760" y="3145536"/>
            <a:ext cx="3383280" cy="274320"/>
          </a:xfrm>
          <a:prstGeom prst="rect">
            <a:avLst/>
          </a:prstGeom>
          <a:noFill/>
          <a:ln/>
        </p:spPr>
        <p:txBody>
          <a:bodyPr wrap="square" lIns="0" tIns="0" rIns="0" bIns="0" rtlCol="0" anchor="t"/>
          <a:lstStyle/>
          <a:p>
            <a:pPr marL="0" indent="0" algn="l">
              <a:lnSpc>
                <a:spcPts val="1420"/>
              </a:lnSpc>
              <a:buNone/>
            </a:pPr>
            <a:r>
              <a:rPr lang="en-US" sz="1000" dirty="0">
                <a:solidFill>
                  <a:srgbClr val="C9584C"/>
                </a:solidFill>
                <a:latin typeface="Segoe UI" pitchFamily="34" charset="0"/>
                <a:ea typeface="Segoe UI" pitchFamily="34" charset="-122"/>
                <a:cs typeface="Segoe UI" pitchFamily="34" charset="-120"/>
              </a:rPr>
              <a:t>✗  Stops if the file is unreachable</a:t>
            </a:r>
            <a:endParaRPr lang="en-US" sz="1000" dirty="0"/>
          </a:p>
        </p:txBody>
      </p:sp>
      <p:sp>
        <p:nvSpPr>
          <p:cNvPr id="25" name="Text 23"/>
          <p:cNvSpPr/>
          <p:nvPr/>
        </p:nvSpPr>
        <p:spPr>
          <a:xfrm>
            <a:off x="4937760" y="3438144"/>
            <a:ext cx="3383280" cy="274320"/>
          </a:xfrm>
          <a:prstGeom prst="rect">
            <a:avLst/>
          </a:prstGeom>
          <a:noFill/>
          <a:ln/>
        </p:spPr>
        <p:txBody>
          <a:bodyPr wrap="square" lIns="0" tIns="0" rIns="0" bIns="0" rtlCol="0" anchor="t"/>
          <a:lstStyle/>
          <a:p>
            <a:pPr marL="0" indent="0" algn="l">
              <a:lnSpc>
                <a:spcPts val="1420"/>
              </a:lnSpc>
              <a:buNone/>
            </a:pPr>
            <a:r>
              <a:rPr lang="en-US" sz="1000" dirty="0">
                <a:solidFill>
                  <a:srgbClr val="6FA88A"/>
                </a:solidFill>
                <a:latin typeface="Segoe UI" pitchFamily="34" charset="0"/>
                <a:ea typeface="Segoe UI" pitchFamily="34" charset="-122"/>
                <a:cs typeface="Segoe UI" pitchFamily="34" charset="-120"/>
              </a:rPr>
              <a:t>✓  Keeps working when the server is stopped</a:t>
            </a:r>
            <a:endParaRPr lang="en-US" sz="1000" dirty="0"/>
          </a:p>
        </p:txBody>
      </p:sp>
      <p:sp>
        <p:nvSpPr>
          <p:cNvPr id="26" name="chip background">
            <a:extLst>
              <a:ext uri="{C183D7F6-B498-43B3-948B-1728B52AA6E4}">
                <adec:decorative xmlns:adec="http://schemas.microsoft.com/office/drawing/2017/decorative" val="1"/>
              </a:ext>
            </a:extLst>
          </p:cNvPr>
          <p:cNvSpPr/>
          <p:nvPr/>
        </p:nvSpPr>
        <p:spPr>
          <a:xfrm>
            <a:off x="4937760" y="3712464"/>
            <a:ext cx="1554480" cy="256032"/>
          </a:xfrm>
          <a:prstGeom prst="roundRect">
            <a:avLst>
              <a:gd name="adj" fmla="val 42857"/>
            </a:avLst>
          </a:prstGeom>
          <a:solidFill>
            <a:srgbClr val="1B1E23"/>
          </a:solidFill>
          <a:ln w="12700">
            <a:solidFill>
              <a:srgbClr val="444B55"/>
            </a:solidFill>
            <a:prstDash val="solid"/>
          </a:ln>
        </p:spPr>
        <p:txBody>
          <a:bodyPr/>
          <a:lstStyle/>
          <a:p>
            <a:endParaRPr lang="en-SE"/>
          </a:p>
        </p:txBody>
      </p:sp>
      <p:sp>
        <p:nvSpPr>
          <p:cNvPr id="27" name="Text 25"/>
          <p:cNvSpPr/>
          <p:nvPr/>
        </p:nvSpPr>
        <p:spPr>
          <a:xfrm>
            <a:off x="4992624" y="3712464"/>
            <a:ext cx="1444752" cy="256032"/>
          </a:xfrm>
          <a:prstGeom prst="rect">
            <a:avLst/>
          </a:prstGeom>
          <a:noFill/>
          <a:ln/>
        </p:spPr>
        <p:txBody>
          <a:bodyPr wrap="square" lIns="0" tIns="0" rIns="0" bIns="0" rtlCol="0" anchor="ctr"/>
          <a:lstStyle/>
          <a:p>
            <a:pPr marL="0" indent="0" algn="ctr">
              <a:buNone/>
            </a:pPr>
            <a:r>
              <a:rPr lang="en-US" sz="850" b="1" dirty="0">
                <a:solidFill>
                  <a:srgbClr val="5E8CA8"/>
                </a:solidFill>
                <a:latin typeface="Segoe UI" pitchFamily="34" charset="0"/>
                <a:ea typeface="Segoe UI" pitchFamily="34" charset="-122"/>
                <a:cs typeface="Segoe UI" pitchFamily="34" charset="-120"/>
              </a:rPr>
              <a:t>Query time</a:t>
            </a:r>
            <a:endParaRPr lang="en-US" sz="850" dirty="0"/>
          </a:p>
        </p:txBody>
      </p:sp>
      <p:sp>
        <p:nvSpPr>
          <p:cNvPr id="28" name="card background">
            <a:extLst>
              <a:ext uri="{C183D7F6-B498-43B3-948B-1728B52AA6E4}">
                <adec:decorative xmlns:adec="http://schemas.microsoft.com/office/drawing/2017/decorative" val="1"/>
              </a:ext>
            </a:extLst>
          </p:cNvPr>
          <p:cNvSpPr/>
          <p:nvPr/>
        </p:nvSpPr>
        <p:spPr>
          <a:xfrm>
            <a:off x="566928" y="4206240"/>
            <a:ext cx="8010144" cy="694944"/>
          </a:xfrm>
          <a:prstGeom prst="rect">
            <a:avLst/>
          </a:prstGeom>
          <a:solidFill>
            <a:srgbClr val="282C33"/>
          </a:solidFill>
          <a:ln w="12700">
            <a:solidFill>
              <a:srgbClr val="343941"/>
            </a:solidFill>
            <a:prstDash val="solid"/>
          </a:ln>
        </p:spPr>
        <p:txBody>
          <a:bodyPr/>
          <a:lstStyle/>
          <a:p>
            <a:endParaRPr lang="en-SE"/>
          </a:p>
        </p:txBody>
      </p:sp>
      <p:sp>
        <p:nvSpPr>
          <p:cNvPr id="29" name="card accent edge">
            <a:extLst>
              <a:ext uri="{C183D7F6-B498-43B3-948B-1728B52AA6E4}">
                <adec:decorative xmlns:adec="http://schemas.microsoft.com/office/drawing/2017/decorative" val="1"/>
              </a:ext>
            </a:extLst>
          </p:cNvPr>
          <p:cNvSpPr/>
          <p:nvPr/>
        </p:nvSpPr>
        <p:spPr>
          <a:xfrm>
            <a:off x="566928" y="4206240"/>
            <a:ext cx="50292" cy="694944"/>
          </a:xfrm>
          <a:prstGeom prst="rect">
            <a:avLst/>
          </a:prstGeom>
          <a:solidFill>
            <a:srgbClr val="6FA88A"/>
          </a:solidFill>
          <a:ln w="12700">
            <a:solidFill>
              <a:srgbClr val="333333"/>
            </a:solidFill>
            <a:prstDash val="solid"/>
          </a:ln>
        </p:spPr>
        <p:txBody>
          <a:bodyPr/>
          <a:lstStyle/>
          <a:p>
            <a:endParaRPr lang="en-SE"/>
          </a:p>
        </p:txBody>
      </p:sp>
      <p:sp>
        <p:nvSpPr>
          <p:cNvPr id="30" name="Text 28"/>
          <p:cNvSpPr/>
          <p:nvPr/>
        </p:nvSpPr>
        <p:spPr>
          <a:xfrm>
            <a:off x="822960" y="4206240"/>
            <a:ext cx="7589520" cy="694944"/>
          </a:xfrm>
          <a:prstGeom prst="rect">
            <a:avLst/>
          </a:prstGeom>
          <a:noFill/>
          <a:ln/>
        </p:spPr>
        <p:txBody>
          <a:bodyPr wrap="square" lIns="0" tIns="0" rIns="0" bIns="0" rtlCol="0" anchor="ctr"/>
          <a:lstStyle/>
          <a:p>
            <a:pPr marL="0" indent="0" algn="l">
              <a:lnSpc>
                <a:spcPts val="1491"/>
              </a:lnSpc>
              <a:buNone/>
            </a:pPr>
            <a:r>
              <a:rPr lang="en-US" sz="1050" b="1" dirty="0">
                <a:solidFill>
                  <a:srgbClr val="E8A33D"/>
                </a:solidFill>
                <a:latin typeface="Segoe UI" pitchFamily="34" charset="0"/>
                <a:ea typeface="Segoe UI" pitchFamily="34" charset="-122"/>
                <a:cs typeface="Segoe UI" pitchFamily="34" charset="-120"/>
              </a:rPr>
              <a:t>Why this matters to you:  </a:t>
            </a:r>
            <a:r>
              <a:rPr lang="en-US" sz="1050" dirty="0">
                <a:solidFill>
                  <a:srgbClr val="A3A9B4"/>
                </a:solidFill>
                <a:latin typeface="Segoe UI" pitchFamily="34" charset="0"/>
                <a:ea typeface="Segoe UI" pitchFamily="34" charset="-122"/>
                <a:cs typeface="Segoe UI" pitchFamily="34" charset="-120"/>
              </a:rPr>
              <a:t>stop the log server and the console still searches, aggregates and exports everything it already collected. The banner reads </a:t>
            </a:r>
            <a:r>
              <a:rPr lang="en-US" sz="1050" b="1" dirty="0">
                <a:solidFill>
                  <a:srgbClr val="F6C978"/>
                </a:solidFill>
                <a:latin typeface="Segoe UI" pitchFamily="34" charset="0"/>
                <a:ea typeface="Segoe UI" pitchFamily="34" charset="-122"/>
                <a:cs typeface="Segoe UI" pitchFamily="34" charset="-120"/>
              </a:rPr>
              <a:t>log server down</a:t>
            </a:r>
            <a:r>
              <a:rPr lang="en-US" sz="1050" dirty="0">
                <a:solidFill>
                  <a:srgbClr val="A3A9B4"/>
                </a:solidFill>
                <a:latin typeface="Segoe UI" pitchFamily="34" charset="0"/>
                <a:ea typeface="Segoe UI" pitchFamily="34" charset="-122"/>
                <a:cs typeface="Segoe UI" pitchFamily="34" charset="-120"/>
              </a:rPr>
              <a:t>, the live tail freezes, and nothing else is affected.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25</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Starting the console - three routes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In increasing order of setup effort. Almost everyone wants the first one.</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37360"/>
            <a:ext cx="2542032" cy="2962656"/>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37360"/>
            <a:ext cx="2542032" cy="45720"/>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768096" y="1901952"/>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E8A33D"/>
                </a:solidFill>
                <a:latin typeface="Consolas" pitchFamily="34" charset="0"/>
                <a:ea typeface="Consolas" pitchFamily="34" charset="-122"/>
                <a:cs typeface="Consolas" pitchFamily="34" charset="-120"/>
              </a:rPr>
              <a:t>01</a:t>
            </a:r>
            <a:endParaRPr lang="en-US" sz="1050" dirty="0"/>
          </a:p>
        </p:txBody>
      </p:sp>
      <p:sp>
        <p:nvSpPr>
          <p:cNvPr id="11" name="Text 9"/>
          <p:cNvSpPr/>
          <p:nvPr/>
        </p:nvSpPr>
        <p:spPr>
          <a:xfrm>
            <a:off x="768096" y="2194560"/>
            <a:ext cx="2139696" cy="292608"/>
          </a:xfrm>
          <a:prstGeom prst="rect">
            <a:avLst/>
          </a:prstGeom>
          <a:noFill/>
          <a:ln/>
        </p:spPr>
        <p:txBody>
          <a:bodyPr wrap="square" lIns="0" tIns="0" rIns="0" bIns="0" rtlCol="0" anchor="ctr"/>
          <a:lstStyle/>
          <a:p>
            <a:pPr marL="0" indent="0" algn="l">
              <a:buNone/>
            </a:pPr>
            <a:r>
              <a:rPr lang="en-US" sz="1450" b="1" dirty="0">
                <a:solidFill>
                  <a:srgbClr val="EDEEF1"/>
                </a:solidFill>
                <a:latin typeface="Georgia" pitchFamily="34" charset="0"/>
                <a:ea typeface="Georgia" pitchFamily="34" charset="-122"/>
                <a:cs typeface="Georgia" pitchFamily="34" charset="-120"/>
              </a:rPr>
              <a:t>Container stack</a:t>
            </a:r>
            <a:endParaRPr lang="en-US" sz="1450" dirty="0"/>
          </a:p>
        </p:txBody>
      </p:sp>
      <p:sp>
        <p:nvSpPr>
          <p:cNvPr id="12" name="Text 10"/>
          <p:cNvSpPr/>
          <p:nvPr/>
        </p:nvSpPr>
        <p:spPr>
          <a:xfrm>
            <a:off x="768096" y="2468880"/>
            <a:ext cx="2139696" cy="274320"/>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Needs Podman or Docker, plus Make</a:t>
            </a:r>
            <a:endParaRPr lang="en-US" sz="900" dirty="0"/>
          </a:p>
        </p:txBody>
      </p:sp>
      <p:sp>
        <p:nvSpPr>
          <p:cNvPr id="13" name="code panel">
            <a:extLst>
              <a:ext uri="{C183D7F6-B498-43B3-948B-1728B52AA6E4}">
                <adec:decorative xmlns:adec="http://schemas.microsoft.com/office/drawing/2017/decorative" val="1"/>
              </a:ext>
            </a:extLst>
          </p:cNvPr>
          <p:cNvSpPr/>
          <p:nvPr/>
        </p:nvSpPr>
        <p:spPr>
          <a:xfrm>
            <a:off x="768096" y="2761488"/>
            <a:ext cx="2139696" cy="658368"/>
          </a:xfrm>
          <a:prstGeom prst="rect">
            <a:avLst/>
          </a:prstGeom>
          <a:solidFill>
            <a:srgbClr val="0E1014"/>
          </a:solidFill>
          <a:ln w="12700">
            <a:solidFill>
              <a:srgbClr val="343941"/>
            </a:solidFill>
            <a:prstDash val="solid"/>
          </a:ln>
        </p:spPr>
        <p:txBody>
          <a:bodyPr/>
          <a:lstStyle/>
          <a:p>
            <a:endParaRPr lang="en-SE"/>
          </a:p>
        </p:txBody>
      </p:sp>
      <p:sp>
        <p:nvSpPr>
          <p:cNvPr id="14" name="code accent edge">
            <a:extLst>
              <a:ext uri="{C183D7F6-B498-43B3-948B-1728B52AA6E4}">
                <adec:decorative xmlns:adec="http://schemas.microsoft.com/office/drawing/2017/decorative" val="1"/>
              </a:ext>
            </a:extLst>
          </p:cNvPr>
          <p:cNvSpPr/>
          <p:nvPr/>
        </p:nvSpPr>
        <p:spPr>
          <a:xfrm>
            <a:off x="768096" y="2761488"/>
            <a:ext cx="41148" cy="658368"/>
          </a:xfrm>
          <a:prstGeom prst="rect">
            <a:avLst/>
          </a:prstGeom>
          <a:solidFill>
            <a:srgbClr val="E8A33D"/>
          </a:solidFill>
          <a:ln w="12700">
            <a:solidFill>
              <a:srgbClr val="333333"/>
            </a:solidFill>
            <a:prstDash val="solid"/>
          </a:ln>
        </p:spPr>
        <p:txBody>
          <a:bodyPr/>
          <a:lstStyle/>
          <a:p>
            <a:endParaRPr lang="en-SE"/>
          </a:p>
        </p:txBody>
      </p:sp>
      <p:sp>
        <p:nvSpPr>
          <p:cNvPr id="15" name="Text 13"/>
          <p:cNvSpPr/>
          <p:nvPr/>
        </p:nvSpPr>
        <p:spPr>
          <a:xfrm>
            <a:off x="987552" y="2907792"/>
            <a:ext cx="1719072" cy="365760"/>
          </a:xfrm>
          <a:prstGeom prst="rect">
            <a:avLst/>
          </a:prstGeom>
          <a:noFill/>
          <a:ln/>
        </p:spPr>
        <p:txBody>
          <a:bodyPr wrap="square" lIns="0" tIns="0" rIns="0" bIns="0" rtlCol="0" anchor="t"/>
          <a:lstStyle/>
          <a:p>
            <a:pPr marL="0" indent="0">
              <a:lnSpc>
                <a:spcPts val="1440"/>
              </a:lnSpc>
              <a:buNone/>
            </a:pPr>
            <a:r>
              <a:rPr lang="en-US" sz="800" b="1" dirty="0">
                <a:solidFill>
                  <a:srgbClr val="F6C978"/>
                </a:solidFill>
                <a:latin typeface="Consolas" pitchFamily="34" charset="0"/>
                <a:ea typeface="Consolas" pitchFamily="34" charset="-122"/>
                <a:cs typeface="Consolas" pitchFamily="34" charset="-120"/>
              </a:rPr>
              <a:t>$ cd log-gui</a:t>
            </a:r>
            <a:endParaRPr lang="en-US" sz="800" dirty="0"/>
          </a:p>
          <a:p>
            <a:pPr marL="0" indent="0">
              <a:lnSpc>
                <a:spcPts val="1440"/>
              </a:lnSpc>
              <a:buNone/>
            </a:pPr>
            <a:r>
              <a:rPr lang="en-US" sz="800" b="1" dirty="0">
                <a:solidFill>
                  <a:srgbClr val="F6C978"/>
                </a:solidFill>
                <a:latin typeface="Consolas" pitchFamily="34" charset="0"/>
                <a:ea typeface="Consolas" pitchFamily="34" charset="-122"/>
                <a:cs typeface="Consolas" pitchFamily="34" charset="-120"/>
              </a:rPr>
              <a:t>$ make up</a:t>
            </a:r>
            <a:endParaRPr lang="en-US" sz="800" dirty="0"/>
          </a:p>
        </p:txBody>
      </p:sp>
      <p:sp>
        <p:nvSpPr>
          <p:cNvPr id="16" name="Text 14"/>
          <p:cNvSpPr/>
          <p:nvPr/>
        </p:nvSpPr>
        <p:spPr>
          <a:xfrm>
            <a:off x="768096" y="3456432"/>
            <a:ext cx="2139696" cy="731520"/>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Auto-detects the runtime, builds the image and starts the stack in the background.</a:t>
            </a:r>
            <a:endParaRPr lang="en-US" sz="950" dirty="0"/>
          </a:p>
        </p:txBody>
      </p:sp>
      <p:sp>
        <p:nvSpPr>
          <p:cNvPr id="17" name="Text 15"/>
          <p:cNvSpPr/>
          <p:nvPr/>
        </p:nvSpPr>
        <p:spPr>
          <a:xfrm>
            <a:off x="768096" y="4297680"/>
            <a:ext cx="2139696" cy="237744"/>
          </a:xfrm>
          <a:prstGeom prst="rect">
            <a:avLst/>
          </a:prstGeom>
          <a:noFill/>
          <a:ln/>
        </p:spPr>
        <p:txBody>
          <a:bodyPr wrap="square" lIns="0" tIns="0" rIns="0" bIns="0" rtlCol="0" anchor="ctr"/>
          <a:lstStyle/>
          <a:p>
            <a:pPr marL="0" indent="0" algn="l">
              <a:lnSpc>
                <a:spcPts val="1500"/>
              </a:lnSpc>
              <a:buNone/>
            </a:pPr>
            <a:r>
              <a:rPr lang="en-US" sz="850" dirty="0">
                <a:solidFill>
                  <a:srgbClr val="E8A33D"/>
                </a:solidFill>
                <a:latin typeface="Consolas" pitchFamily="34" charset="0"/>
                <a:ea typeface="Consolas" pitchFamily="34" charset="-122"/>
                <a:cs typeface="Consolas" pitchFamily="34" charset="-120"/>
              </a:rPr>
              <a:t>http://localhost:8091</a:t>
            </a:r>
            <a:endParaRPr lang="en-US" sz="850" dirty="0"/>
          </a:p>
        </p:txBody>
      </p:sp>
      <p:sp>
        <p:nvSpPr>
          <p:cNvPr id="18" name="card background">
            <a:extLst>
              <a:ext uri="{C183D7F6-B498-43B3-948B-1728B52AA6E4}">
                <adec:decorative xmlns:adec="http://schemas.microsoft.com/office/drawing/2017/decorative" val="1"/>
              </a:ext>
            </a:extLst>
          </p:cNvPr>
          <p:cNvSpPr/>
          <p:nvPr/>
        </p:nvSpPr>
        <p:spPr>
          <a:xfrm>
            <a:off x="3328416" y="1737360"/>
            <a:ext cx="2542032" cy="2962656"/>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9" name="card top accent">
            <a:extLst>
              <a:ext uri="{C183D7F6-B498-43B3-948B-1728B52AA6E4}">
                <adec:decorative xmlns:adec="http://schemas.microsoft.com/office/drawing/2017/decorative" val="1"/>
              </a:ext>
            </a:extLst>
          </p:cNvPr>
          <p:cNvSpPr/>
          <p:nvPr/>
        </p:nvSpPr>
        <p:spPr>
          <a:xfrm>
            <a:off x="3328416" y="1737360"/>
            <a:ext cx="2542032" cy="45720"/>
          </a:xfrm>
          <a:prstGeom prst="rect">
            <a:avLst/>
          </a:prstGeom>
          <a:solidFill>
            <a:srgbClr val="8A7EA8"/>
          </a:solidFill>
          <a:ln w="12700">
            <a:solidFill>
              <a:srgbClr val="333333"/>
            </a:solidFill>
            <a:prstDash val="solid"/>
          </a:ln>
        </p:spPr>
        <p:txBody>
          <a:bodyPr/>
          <a:lstStyle/>
          <a:p>
            <a:endParaRPr lang="en-SE"/>
          </a:p>
        </p:txBody>
      </p:sp>
      <p:sp>
        <p:nvSpPr>
          <p:cNvPr id="20" name="Text 18"/>
          <p:cNvSpPr/>
          <p:nvPr/>
        </p:nvSpPr>
        <p:spPr>
          <a:xfrm>
            <a:off x="3529584" y="1901952"/>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8A7EA8"/>
                </a:solidFill>
                <a:latin typeface="Consolas" pitchFamily="34" charset="0"/>
                <a:ea typeface="Consolas" pitchFamily="34" charset="-122"/>
                <a:cs typeface="Consolas" pitchFamily="34" charset="-120"/>
              </a:rPr>
              <a:t>02</a:t>
            </a:r>
            <a:endParaRPr lang="en-US" sz="1050" dirty="0"/>
          </a:p>
        </p:txBody>
      </p:sp>
      <p:sp>
        <p:nvSpPr>
          <p:cNvPr id="21" name="Text 19"/>
          <p:cNvSpPr/>
          <p:nvPr/>
        </p:nvSpPr>
        <p:spPr>
          <a:xfrm>
            <a:off x="3529584" y="2194560"/>
            <a:ext cx="2139696" cy="292608"/>
          </a:xfrm>
          <a:prstGeom prst="rect">
            <a:avLst/>
          </a:prstGeom>
          <a:noFill/>
          <a:ln/>
        </p:spPr>
        <p:txBody>
          <a:bodyPr wrap="square" lIns="0" tIns="0" rIns="0" bIns="0" rtlCol="0" anchor="ctr"/>
          <a:lstStyle/>
          <a:p>
            <a:pPr marL="0" indent="0" algn="l">
              <a:buNone/>
            </a:pPr>
            <a:r>
              <a:rPr lang="en-US" sz="1450" b="1" dirty="0">
                <a:solidFill>
                  <a:srgbClr val="EDEEF1"/>
                </a:solidFill>
                <a:latin typeface="Georgia" pitchFamily="34" charset="0"/>
                <a:ea typeface="Georgia" pitchFamily="34" charset="-122"/>
                <a:cs typeface="Georgia" pitchFamily="34" charset="-120"/>
              </a:rPr>
              <a:t>Pre-built image</a:t>
            </a:r>
            <a:endParaRPr lang="en-US" sz="1450" dirty="0"/>
          </a:p>
        </p:txBody>
      </p:sp>
      <p:sp>
        <p:nvSpPr>
          <p:cNvPr id="22" name="Text 20"/>
          <p:cNvSpPr/>
          <p:nvPr/>
        </p:nvSpPr>
        <p:spPr>
          <a:xfrm>
            <a:off x="3529584" y="2468880"/>
            <a:ext cx="2139696" cy="274320"/>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Needs Podman or Docker only</a:t>
            </a:r>
            <a:endParaRPr lang="en-US" sz="900" dirty="0"/>
          </a:p>
        </p:txBody>
      </p:sp>
      <p:sp>
        <p:nvSpPr>
          <p:cNvPr id="23" name="code panel">
            <a:extLst>
              <a:ext uri="{C183D7F6-B498-43B3-948B-1728B52AA6E4}">
                <adec:decorative xmlns:adec="http://schemas.microsoft.com/office/drawing/2017/decorative" val="1"/>
              </a:ext>
            </a:extLst>
          </p:cNvPr>
          <p:cNvSpPr/>
          <p:nvPr/>
        </p:nvSpPr>
        <p:spPr>
          <a:xfrm>
            <a:off x="3529584" y="2761488"/>
            <a:ext cx="2139696" cy="658368"/>
          </a:xfrm>
          <a:prstGeom prst="rect">
            <a:avLst/>
          </a:prstGeom>
          <a:solidFill>
            <a:srgbClr val="0E1014"/>
          </a:solidFill>
          <a:ln w="12700">
            <a:solidFill>
              <a:srgbClr val="343941"/>
            </a:solidFill>
            <a:prstDash val="solid"/>
          </a:ln>
        </p:spPr>
        <p:txBody>
          <a:bodyPr/>
          <a:lstStyle/>
          <a:p>
            <a:endParaRPr lang="en-SE"/>
          </a:p>
        </p:txBody>
      </p:sp>
      <p:sp>
        <p:nvSpPr>
          <p:cNvPr id="24" name="code accent edge">
            <a:extLst>
              <a:ext uri="{C183D7F6-B498-43B3-948B-1728B52AA6E4}">
                <adec:decorative xmlns:adec="http://schemas.microsoft.com/office/drawing/2017/decorative" val="1"/>
              </a:ext>
            </a:extLst>
          </p:cNvPr>
          <p:cNvSpPr/>
          <p:nvPr/>
        </p:nvSpPr>
        <p:spPr>
          <a:xfrm>
            <a:off x="3529584" y="2761488"/>
            <a:ext cx="41148" cy="658368"/>
          </a:xfrm>
          <a:prstGeom prst="rect">
            <a:avLst/>
          </a:prstGeom>
          <a:solidFill>
            <a:srgbClr val="8A7EA8"/>
          </a:solidFill>
          <a:ln w="12700">
            <a:solidFill>
              <a:srgbClr val="333333"/>
            </a:solidFill>
            <a:prstDash val="solid"/>
          </a:ln>
        </p:spPr>
        <p:txBody>
          <a:bodyPr/>
          <a:lstStyle/>
          <a:p>
            <a:endParaRPr lang="en-SE"/>
          </a:p>
        </p:txBody>
      </p:sp>
      <p:sp>
        <p:nvSpPr>
          <p:cNvPr id="25" name="Text 23"/>
          <p:cNvSpPr/>
          <p:nvPr/>
        </p:nvSpPr>
        <p:spPr>
          <a:xfrm>
            <a:off x="3749040" y="2907792"/>
            <a:ext cx="1719072" cy="365760"/>
          </a:xfrm>
          <a:prstGeom prst="rect">
            <a:avLst/>
          </a:prstGeom>
          <a:noFill/>
          <a:ln/>
        </p:spPr>
        <p:txBody>
          <a:bodyPr wrap="square" lIns="0" tIns="0" rIns="0" bIns="0" rtlCol="0" anchor="t"/>
          <a:lstStyle/>
          <a:p>
            <a:pPr marL="0" indent="0">
              <a:lnSpc>
                <a:spcPts val="1440"/>
              </a:lnSpc>
              <a:buNone/>
            </a:pPr>
            <a:r>
              <a:rPr lang="en-US" sz="800" b="1" dirty="0">
                <a:solidFill>
                  <a:srgbClr val="F6C978"/>
                </a:solidFill>
                <a:latin typeface="Consolas" pitchFamily="34" charset="0"/>
                <a:ea typeface="Consolas" pitchFamily="34" charset="-122"/>
                <a:cs typeface="Consolas" pitchFamily="34" charset="-120"/>
              </a:rPr>
              <a:t>$ make dist</a:t>
            </a:r>
            <a:endParaRPr lang="en-US" sz="800" dirty="0"/>
          </a:p>
          <a:p>
            <a:pPr marL="0" indent="0">
              <a:lnSpc>
                <a:spcPts val="1440"/>
              </a:lnSpc>
              <a:buNone/>
            </a:pPr>
            <a:r>
              <a:rPr lang="en-US" sz="800" b="1" dirty="0">
                <a:solidFill>
                  <a:srgbClr val="F6C978"/>
                </a:solidFill>
                <a:latin typeface="Consolas" pitchFamily="34" charset="0"/>
                <a:ea typeface="Consolas" pitchFamily="34" charset="-122"/>
                <a:cs typeface="Consolas" pitchFamily="34" charset="-120"/>
              </a:rPr>
              <a:t>$ podman load --input …tar.gz</a:t>
            </a:r>
            <a:endParaRPr lang="en-US" sz="800" dirty="0"/>
          </a:p>
        </p:txBody>
      </p:sp>
      <p:sp>
        <p:nvSpPr>
          <p:cNvPr id="26" name="Text 24"/>
          <p:cNvSpPr/>
          <p:nvPr/>
        </p:nvSpPr>
        <p:spPr>
          <a:xfrm>
            <a:off x="3529584" y="3456432"/>
            <a:ext cx="2139696" cy="731520"/>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A self-contained archive for a host with no repository checkout and no Node installed.</a:t>
            </a:r>
            <a:endParaRPr lang="en-US" sz="950" dirty="0"/>
          </a:p>
        </p:txBody>
      </p:sp>
      <p:sp>
        <p:nvSpPr>
          <p:cNvPr id="27" name="Text 25"/>
          <p:cNvSpPr/>
          <p:nvPr/>
        </p:nvSpPr>
        <p:spPr>
          <a:xfrm>
            <a:off x="3529584" y="4297680"/>
            <a:ext cx="2139696" cy="237744"/>
          </a:xfrm>
          <a:prstGeom prst="rect">
            <a:avLst/>
          </a:prstGeom>
          <a:noFill/>
          <a:ln/>
        </p:spPr>
        <p:txBody>
          <a:bodyPr wrap="square" lIns="0" tIns="0" rIns="0" bIns="0" rtlCol="0" anchor="ctr"/>
          <a:lstStyle/>
          <a:p>
            <a:pPr marL="0" indent="0" algn="l">
              <a:lnSpc>
                <a:spcPts val="1500"/>
              </a:lnSpc>
              <a:buNone/>
            </a:pPr>
            <a:r>
              <a:rPr lang="en-US" sz="850" dirty="0">
                <a:solidFill>
                  <a:srgbClr val="8A7EA8"/>
                </a:solidFill>
                <a:latin typeface="Consolas" pitchFamily="34" charset="0"/>
                <a:ea typeface="Consolas" pitchFamily="34" charset="-122"/>
                <a:cs typeface="Consolas" pitchFamily="34" charset="-120"/>
              </a:rPr>
              <a:t>http://localhost:8091</a:t>
            </a:r>
            <a:endParaRPr lang="en-US" sz="850" dirty="0"/>
          </a:p>
        </p:txBody>
      </p:sp>
      <p:sp>
        <p:nvSpPr>
          <p:cNvPr id="28" name="card background">
            <a:extLst>
              <a:ext uri="{C183D7F6-B498-43B3-948B-1728B52AA6E4}">
                <adec:decorative xmlns:adec="http://schemas.microsoft.com/office/drawing/2017/decorative" val="1"/>
              </a:ext>
            </a:extLst>
          </p:cNvPr>
          <p:cNvSpPr/>
          <p:nvPr/>
        </p:nvSpPr>
        <p:spPr>
          <a:xfrm>
            <a:off x="6089904" y="1737360"/>
            <a:ext cx="2542032" cy="2962656"/>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9" name="card top accent">
            <a:extLst>
              <a:ext uri="{C183D7F6-B498-43B3-948B-1728B52AA6E4}">
                <adec:decorative xmlns:adec="http://schemas.microsoft.com/office/drawing/2017/decorative" val="1"/>
              </a:ext>
            </a:extLst>
          </p:cNvPr>
          <p:cNvSpPr/>
          <p:nvPr/>
        </p:nvSpPr>
        <p:spPr>
          <a:xfrm>
            <a:off x="6089904" y="1737360"/>
            <a:ext cx="2542032" cy="45720"/>
          </a:xfrm>
          <a:prstGeom prst="rect">
            <a:avLst/>
          </a:prstGeom>
          <a:solidFill>
            <a:srgbClr val="5E8CA8"/>
          </a:solidFill>
          <a:ln w="12700">
            <a:solidFill>
              <a:srgbClr val="333333"/>
            </a:solidFill>
            <a:prstDash val="solid"/>
          </a:ln>
        </p:spPr>
        <p:txBody>
          <a:bodyPr/>
          <a:lstStyle/>
          <a:p>
            <a:endParaRPr lang="en-SE"/>
          </a:p>
        </p:txBody>
      </p:sp>
      <p:sp>
        <p:nvSpPr>
          <p:cNvPr id="30" name="Text 28"/>
          <p:cNvSpPr/>
          <p:nvPr/>
        </p:nvSpPr>
        <p:spPr>
          <a:xfrm>
            <a:off x="6291072" y="1901952"/>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5E8CA8"/>
                </a:solidFill>
                <a:latin typeface="Consolas" pitchFamily="34" charset="0"/>
                <a:ea typeface="Consolas" pitchFamily="34" charset="-122"/>
                <a:cs typeface="Consolas" pitchFamily="34" charset="-120"/>
              </a:rPr>
              <a:t>03</a:t>
            </a:r>
            <a:endParaRPr lang="en-US" sz="1050" dirty="0"/>
          </a:p>
        </p:txBody>
      </p:sp>
      <p:sp>
        <p:nvSpPr>
          <p:cNvPr id="31" name="Text 29"/>
          <p:cNvSpPr/>
          <p:nvPr/>
        </p:nvSpPr>
        <p:spPr>
          <a:xfrm>
            <a:off x="6291072" y="2194560"/>
            <a:ext cx="2139696" cy="292608"/>
          </a:xfrm>
          <a:prstGeom prst="rect">
            <a:avLst/>
          </a:prstGeom>
          <a:noFill/>
          <a:ln/>
        </p:spPr>
        <p:txBody>
          <a:bodyPr wrap="square" lIns="0" tIns="0" rIns="0" bIns="0" rtlCol="0" anchor="ctr"/>
          <a:lstStyle/>
          <a:p>
            <a:pPr marL="0" indent="0" algn="l">
              <a:buNone/>
            </a:pPr>
            <a:r>
              <a:rPr lang="en-US" sz="1450" b="1" dirty="0">
                <a:solidFill>
                  <a:srgbClr val="EDEEF1"/>
                </a:solidFill>
                <a:latin typeface="Georgia" pitchFamily="34" charset="0"/>
                <a:ea typeface="Georgia" pitchFamily="34" charset="-122"/>
                <a:cs typeface="Georgia" pitchFamily="34" charset="-120"/>
              </a:rPr>
              <a:t>Local development</a:t>
            </a:r>
            <a:endParaRPr lang="en-US" sz="1450" dirty="0"/>
          </a:p>
        </p:txBody>
      </p:sp>
      <p:sp>
        <p:nvSpPr>
          <p:cNvPr id="32" name="Text 30"/>
          <p:cNvSpPr/>
          <p:nvPr/>
        </p:nvSpPr>
        <p:spPr>
          <a:xfrm>
            <a:off x="6291072" y="2468880"/>
            <a:ext cx="2139696" cy="274320"/>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Needs Node.js and npm</a:t>
            </a:r>
            <a:endParaRPr lang="en-US" sz="900" dirty="0"/>
          </a:p>
        </p:txBody>
      </p:sp>
      <p:sp>
        <p:nvSpPr>
          <p:cNvPr id="33" name="code panel">
            <a:extLst>
              <a:ext uri="{C183D7F6-B498-43B3-948B-1728B52AA6E4}">
                <adec:decorative xmlns:adec="http://schemas.microsoft.com/office/drawing/2017/decorative" val="1"/>
              </a:ext>
            </a:extLst>
          </p:cNvPr>
          <p:cNvSpPr/>
          <p:nvPr/>
        </p:nvSpPr>
        <p:spPr>
          <a:xfrm>
            <a:off x="6291072" y="2761488"/>
            <a:ext cx="2139696" cy="658368"/>
          </a:xfrm>
          <a:prstGeom prst="rect">
            <a:avLst/>
          </a:prstGeom>
          <a:solidFill>
            <a:srgbClr val="0E1014"/>
          </a:solidFill>
          <a:ln w="12700">
            <a:solidFill>
              <a:srgbClr val="343941"/>
            </a:solidFill>
            <a:prstDash val="solid"/>
          </a:ln>
        </p:spPr>
        <p:txBody>
          <a:bodyPr/>
          <a:lstStyle/>
          <a:p>
            <a:endParaRPr lang="en-SE"/>
          </a:p>
        </p:txBody>
      </p:sp>
      <p:sp>
        <p:nvSpPr>
          <p:cNvPr id="34" name="code accent edge">
            <a:extLst>
              <a:ext uri="{C183D7F6-B498-43B3-948B-1728B52AA6E4}">
                <adec:decorative xmlns:adec="http://schemas.microsoft.com/office/drawing/2017/decorative" val="1"/>
              </a:ext>
            </a:extLst>
          </p:cNvPr>
          <p:cNvSpPr/>
          <p:nvPr/>
        </p:nvSpPr>
        <p:spPr>
          <a:xfrm>
            <a:off x="6291072" y="2761488"/>
            <a:ext cx="41148" cy="658368"/>
          </a:xfrm>
          <a:prstGeom prst="rect">
            <a:avLst/>
          </a:prstGeom>
          <a:solidFill>
            <a:srgbClr val="5E8CA8"/>
          </a:solidFill>
          <a:ln w="12700">
            <a:solidFill>
              <a:srgbClr val="333333"/>
            </a:solidFill>
            <a:prstDash val="solid"/>
          </a:ln>
        </p:spPr>
        <p:txBody>
          <a:bodyPr/>
          <a:lstStyle/>
          <a:p>
            <a:endParaRPr lang="en-SE"/>
          </a:p>
        </p:txBody>
      </p:sp>
      <p:sp>
        <p:nvSpPr>
          <p:cNvPr id="35" name="Text 33"/>
          <p:cNvSpPr/>
          <p:nvPr/>
        </p:nvSpPr>
        <p:spPr>
          <a:xfrm>
            <a:off x="6510528" y="2907792"/>
            <a:ext cx="1719072" cy="365760"/>
          </a:xfrm>
          <a:prstGeom prst="rect">
            <a:avLst/>
          </a:prstGeom>
          <a:noFill/>
          <a:ln/>
        </p:spPr>
        <p:txBody>
          <a:bodyPr wrap="square" lIns="0" tIns="0" rIns="0" bIns="0" rtlCol="0" anchor="t"/>
          <a:lstStyle/>
          <a:p>
            <a:pPr marL="0" indent="0">
              <a:lnSpc>
                <a:spcPts val="1440"/>
              </a:lnSpc>
              <a:buNone/>
            </a:pPr>
            <a:r>
              <a:rPr lang="en-US" sz="800" b="1" dirty="0">
                <a:solidFill>
                  <a:srgbClr val="F6C978"/>
                </a:solidFill>
                <a:latin typeface="Consolas" pitchFamily="34" charset="0"/>
                <a:ea typeface="Consolas" pitchFamily="34" charset="-122"/>
                <a:cs typeface="Consolas" pitchFamily="34" charset="-120"/>
              </a:rPr>
              <a:t>$ make install</a:t>
            </a:r>
            <a:endParaRPr lang="en-US" sz="800" dirty="0"/>
          </a:p>
          <a:p>
            <a:pPr marL="0" indent="0">
              <a:lnSpc>
                <a:spcPts val="1440"/>
              </a:lnSpc>
              <a:buNone/>
            </a:pPr>
            <a:r>
              <a:rPr lang="en-US" sz="800" b="1" dirty="0">
                <a:solidFill>
                  <a:srgbClr val="F6C978"/>
                </a:solidFill>
                <a:latin typeface="Consolas" pitchFamily="34" charset="0"/>
                <a:ea typeface="Consolas" pitchFamily="34" charset="-122"/>
                <a:cs typeface="Consolas" pitchFamily="34" charset="-120"/>
              </a:rPr>
              <a:t>$ make dev</a:t>
            </a:r>
            <a:endParaRPr lang="en-US" sz="800" dirty="0"/>
          </a:p>
        </p:txBody>
      </p:sp>
      <p:sp>
        <p:nvSpPr>
          <p:cNvPr id="36" name="Text 34"/>
          <p:cNvSpPr/>
          <p:nvPr/>
        </p:nvSpPr>
        <p:spPr>
          <a:xfrm>
            <a:off x="6291072" y="3456432"/>
            <a:ext cx="2139696" cy="731520"/>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Runs the bridge and a hot-reloading dev server together. For working on the console itself.</a:t>
            </a:r>
            <a:endParaRPr lang="en-US" sz="950" dirty="0"/>
          </a:p>
        </p:txBody>
      </p:sp>
      <p:sp>
        <p:nvSpPr>
          <p:cNvPr id="37" name="Text 35"/>
          <p:cNvSpPr/>
          <p:nvPr/>
        </p:nvSpPr>
        <p:spPr>
          <a:xfrm>
            <a:off x="6291072" y="4297680"/>
            <a:ext cx="2139696" cy="237744"/>
          </a:xfrm>
          <a:prstGeom prst="rect">
            <a:avLst/>
          </a:prstGeom>
          <a:noFill/>
          <a:ln/>
        </p:spPr>
        <p:txBody>
          <a:bodyPr wrap="square" lIns="0" tIns="0" rIns="0" bIns="0" rtlCol="0" anchor="ctr"/>
          <a:lstStyle/>
          <a:p>
            <a:pPr marL="0" indent="0" algn="l">
              <a:lnSpc>
                <a:spcPts val="1500"/>
              </a:lnSpc>
              <a:buNone/>
            </a:pPr>
            <a:r>
              <a:rPr lang="en-US" sz="850" dirty="0">
                <a:solidFill>
                  <a:srgbClr val="5E8CA8"/>
                </a:solidFill>
                <a:latin typeface="Consolas" pitchFamily="34" charset="0"/>
                <a:ea typeface="Consolas" pitchFamily="34" charset="-122"/>
                <a:cs typeface="Consolas" pitchFamily="34" charset="-120"/>
              </a:rPr>
              <a:t>http://127.0.0.1:5178</a:t>
            </a:r>
            <a:endParaRPr lang="en-US" sz="850" dirty="0"/>
          </a:p>
        </p:txBody>
      </p:sp>
      <p:sp>
        <p:nvSpPr>
          <p:cNvPr id="38" name="Text 36"/>
          <p:cNvSpPr/>
          <p:nvPr/>
        </p:nvSpPr>
        <p:spPr>
          <a:xfrm>
            <a:off x="566928" y="4791456"/>
            <a:ext cx="8010144" cy="310896"/>
          </a:xfrm>
          <a:prstGeom prst="rect">
            <a:avLst/>
          </a:prstGeom>
          <a:noFill/>
          <a:ln/>
        </p:spPr>
        <p:txBody>
          <a:bodyPr wrap="square" lIns="0" tIns="0" rIns="0" bIns="0" rtlCol="0" anchor="t"/>
          <a:lstStyle/>
          <a:p>
            <a:pPr marL="0" indent="0" algn="l">
              <a:lnSpc>
                <a:spcPts val="1349"/>
              </a:lnSpc>
              <a:buNone/>
            </a:pPr>
            <a:r>
              <a:rPr lang="en-US" sz="950" i="1" dirty="0">
                <a:solidFill>
                  <a:srgbClr val="747B87"/>
                </a:solidFill>
                <a:latin typeface="Segoe UI" pitchFamily="34" charset="0"/>
                <a:ea typeface="Segoe UI" pitchFamily="34" charset="-122"/>
                <a:cs typeface="Segoe UI" pitchFamily="34" charset="-120"/>
              </a:rPr>
              <a:t>Whichever route you take, the console must be able to reach both of its sources: ports 5601 and 5602 on the log server, and a filesystem path to log.db. It has no use at all for port 5600.</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26</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configuration you actually have to get right</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Everything is an environment variable with a sensible default. These four are the ones that cause real confusion when they are wrong.</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8010144" cy="676656"/>
          </a:xfrm>
          <a:prstGeom prst="rect">
            <a:avLst/>
          </a:prstGeom>
          <a:solidFill>
            <a:srgbClr val="212429"/>
          </a:solidFill>
          <a:ln w="12700">
            <a:solidFill>
              <a:srgbClr val="343941"/>
            </a:solidFill>
            <a:prstDash val="solid"/>
          </a:ln>
        </p:spPr>
        <p:txBody>
          <a:bodyPr/>
          <a:lstStyle/>
          <a:p>
            <a:endParaRPr lang="en-SE"/>
          </a:p>
        </p:txBody>
      </p:sp>
      <p:sp>
        <p:nvSpPr>
          <p:cNvPr id="9" name="card accent edge">
            <a:extLst>
              <a:ext uri="{C183D7F6-B498-43B3-948B-1728B52AA6E4}">
                <adec:decorative xmlns:adec="http://schemas.microsoft.com/office/drawing/2017/decorative" val="1"/>
              </a:ext>
            </a:extLst>
          </p:cNvPr>
          <p:cNvSpPr/>
          <p:nvPr/>
        </p:nvSpPr>
        <p:spPr>
          <a:xfrm>
            <a:off x="566928" y="1773936"/>
            <a:ext cx="50292" cy="676656"/>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786384" y="1865376"/>
            <a:ext cx="2011680" cy="237744"/>
          </a:xfrm>
          <a:prstGeom prst="rect">
            <a:avLst/>
          </a:prstGeom>
          <a:noFill/>
          <a:ln/>
        </p:spPr>
        <p:txBody>
          <a:bodyPr wrap="square" lIns="0" tIns="0" rIns="0" bIns="0" rtlCol="0" anchor="ctr"/>
          <a:lstStyle/>
          <a:p>
            <a:pPr marL="0" indent="0" algn="l">
              <a:lnSpc>
                <a:spcPts val="1500"/>
              </a:lnSpc>
              <a:buNone/>
            </a:pPr>
            <a:r>
              <a:rPr lang="en-US" sz="1000" dirty="0">
                <a:solidFill>
                  <a:srgbClr val="E8A33D"/>
                </a:solidFill>
                <a:latin typeface="Consolas" pitchFamily="34" charset="0"/>
                <a:ea typeface="Consolas" pitchFamily="34" charset="-122"/>
                <a:cs typeface="Consolas" pitchFamily="34" charset="-120"/>
              </a:rPr>
              <a:t>LOG_SRV_HOST</a:t>
            </a:r>
            <a:endParaRPr lang="en-US" sz="1000" dirty="0"/>
          </a:p>
        </p:txBody>
      </p:sp>
      <p:sp>
        <p:nvSpPr>
          <p:cNvPr id="11" name="Text 9"/>
          <p:cNvSpPr/>
          <p:nvPr/>
        </p:nvSpPr>
        <p:spPr>
          <a:xfrm>
            <a:off x="786384" y="2121408"/>
            <a:ext cx="2103120" cy="256032"/>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default: 127.0.0.1</a:t>
            </a:r>
            <a:endParaRPr lang="en-US" sz="850" dirty="0"/>
          </a:p>
        </p:txBody>
      </p:sp>
      <p:sp>
        <p:nvSpPr>
          <p:cNvPr id="12" name="Text 10"/>
          <p:cNvSpPr/>
          <p:nvPr/>
        </p:nvSpPr>
        <p:spPr>
          <a:xfrm>
            <a:off x="2999232" y="1847088"/>
            <a:ext cx="5394960" cy="548640"/>
          </a:xfrm>
          <a:prstGeom prst="rect">
            <a:avLst/>
          </a:prstGeom>
          <a:noFill/>
          <a:ln/>
        </p:spPr>
        <p:txBody>
          <a:bodyPr wrap="square" lIns="0" tIns="0" rIns="0" bIns="0" rtlCol="0" anchor="ctr"/>
          <a:lstStyle/>
          <a:p>
            <a:pPr marL="0" indent="0" algn="l">
              <a:lnSpc>
                <a:spcPts val="1420"/>
              </a:lnSpc>
              <a:buNone/>
            </a:pPr>
            <a:r>
              <a:rPr lang="en-US" sz="1000" dirty="0">
                <a:solidFill>
                  <a:srgbClr val="A3A9B4"/>
                </a:solidFill>
                <a:latin typeface="Segoe UI" pitchFamily="34" charset="0"/>
                <a:ea typeface="Segoe UI" pitchFamily="34" charset="-122"/>
                <a:cs typeface="Segoe UI" pitchFamily="34" charset="-120"/>
              </a:rPr>
              <a:t>Where pm-log-srv is reachable from the bridge. Inside a container, “localhost” means the container itself — use host.docker.internal, host.containers.internal, or a real hostname.</a:t>
            </a:r>
            <a:endParaRPr lang="en-US" sz="1000" dirty="0"/>
          </a:p>
        </p:txBody>
      </p:sp>
      <p:sp>
        <p:nvSpPr>
          <p:cNvPr id="13" name="card background">
            <a:extLst>
              <a:ext uri="{C183D7F6-B498-43B3-948B-1728B52AA6E4}">
                <adec:decorative xmlns:adec="http://schemas.microsoft.com/office/drawing/2017/decorative" val="1"/>
              </a:ext>
            </a:extLst>
          </p:cNvPr>
          <p:cNvSpPr/>
          <p:nvPr/>
        </p:nvSpPr>
        <p:spPr>
          <a:xfrm>
            <a:off x="566928" y="2560320"/>
            <a:ext cx="8010144" cy="676656"/>
          </a:xfrm>
          <a:prstGeom prst="rect">
            <a:avLst/>
          </a:prstGeom>
          <a:solidFill>
            <a:srgbClr val="212429"/>
          </a:solidFill>
          <a:ln w="12700">
            <a:solidFill>
              <a:srgbClr val="343941"/>
            </a:solidFill>
            <a:prstDash val="solid"/>
          </a:ln>
        </p:spPr>
        <p:txBody>
          <a:bodyPr/>
          <a:lstStyle/>
          <a:p>
            <a:endParaRPr lang="en-SE"/>
          </a:p>
        </p:txBody>
      </p:sp>
      <p:sp>
        <p:nvSpPr>
          <p:cNvPr id="14" name="card accent edge">
            <a:extLst>
              <a:ext uri="{C183D7F6-B498-43B3-948B-1728B52AA6E4}">
                <adec:decorative xmlns:adec="http://schemas.microsoft.com/office/drawing/2017/decorative" val="1"/>
              </a:ext>
            </a:extLst>
          </p:cNvPr>
          <p:cNvSpPr/>
          <p:nvPr/>
        </p:nvSpPr>
        <p:spPr>
          <a:xfrm>
            <a:off x="566928" y="2560320"/>
            <a:ext cx="50292" cy="676656"/>
          </a:xfrm>
          <a:prstGeom prst="rect">
            <a:avLst/>
          </a:prstGeom>
          <a:solidFill>
            <a:srgbClr val="5E8CA8"/>
          </a:solidFill>
          <a:ln w="12700">
            <a:solidFill>
              <a:srgbClr val="333333"/>
            </a:solidFill>
            <a:prstDash val="solid"/>
          </a:ln>
        </p:spPr>
        <p:txBody>
          <a:bodyPr/>
          <a:lstStyle/>
          <a:p>
            <a:endParaRPr lang="en-SE"/>
          </a:p>
        </p:txBody>
      </p:sp>
      <p:sp>
        <p:nvSpPr>
          <p:cNvPr id="15" name="Text 13"/>
          <p:cNvSpPr/>
          <p:nvPr/>
        </p:nvSpPr>
        <p:spPr>
          <a:xfrm>
            <a:off x="786384" y="2651760"/>
            <a:ext cx="2011680" cy="237744"/>
          </a:xfrm>
          <a:prstGeom prst="rect">
            <a:avLst/>
          </a:prstGeom>
          <a:noFill/>
          <a:ln/>
        </p:spPr>
        <p:txBody>
          <a:bodyPr wrap="square" lIns="0" tIns="0" rIns="0" bIns="0" rtlCol="0" anchor="ctr"/>
          <a:lstStyle/>
          <a:p>
            <a:pPr marL="0" indent="0" algn="l">
              <a:lnSpc>
                <a:spcPts val="1500"/>
              </a:lnSpc>
              <a:buNone/>
            </a:pPr>
            <a:r>
              <a:rPr lang="en-US" sz="1000" dirty="0">
                <a:solidFill>
                  <a:srgbClr val="5E8CA8"/>
                </a:solidFill>
                <a:latin typeface="Consolas" pitchFamily="34" charset="0"/>
                <a:ea typeface="Consolas" pitchFamily="34" charset="-122"/>
                <a:cs typeface="Consolas" pitchFamily="34" charset="-120"/>
              </a:rPr>
              <a:t>LOG_DB_PATH</a:t>
            </a:r>
            <a:endParaRPr lang="en-US" sz="1000" dirty="0"/>
          </a:p>
        </p:txBody>
      </p:sp>
      <p:sp>
        <p:nvSpPr>
          <p:cNvPr id="16" name="Text 14"/>
          <p:cNvSpPr/>
          <p:nvPr/>
        </p:nvSpPr>
        <p:spPr>
          <a:xfrm>
            <a:off x="786384" y="2907792"/>
            <a:ext cx="2103120" cy="256032"/>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default: resolved data dir /log.db</a:t>
            </a:r>
            <a:endParaRPr lang="en-US" sz="850" dirty="0"/>
          </a:p>
        </p:txBody>
      </p:sp>
      <p:sp>
        <p:nvSpPr>
          <p:cNvPr id="17" name="Text 15"/>
          <p:cNvSpPr/>
          <p:nvPr/>
        </p:nvSpPr>
        <p:spPr>
          <a:xfrm>
            <a:off x="2999232" y="2633472"/>
            <a:ext cx="5394960" cy="548640"/>
          </a:xfrm>
          <a:prstGeom prst="rect">
            <a:avLst/>
          </a:prstGeom>
          <a:noFill/>
          <a:ln/>
        </p:spPr>
        <p:txBody>
          <a:bodyPr wrap="square" lIns="0" tIns="0" rIns="0" bIns="0" rtlCol="0" anchor="ctr"/>
          <a:lstStyle/>
          <a:p>
            <a:pPr marL="0" indent="0" algn="l">
              <a:lnSpc>
                <a:spcPts val="1420"/>
              </a:lnSpc>
              <a:buNone/>
            </a:pPr>
            <a:r>
              <a:rPr lang="en-US" sz="1000" dirty="0">
                <a:solidFill>
                  <a:srgbClr val="A3A9B4"/>
                </a:solidFill>
                <a:latin typeface="Segoe UI" pitchFamily="34" charset="0"/>
                <a:ea typeface="Segoe UI" pitchFamily="34" charset="-122"/>
                <a:cs typeface="Segoe UI" pitchFamily="34" charset="-120"/>
              </a:rPr>
              <a:t>The collector's database, opened read-only. A bridge pointed at a different but valid database looks exactly like a working one with nothing in it.</a:t>
            </a:r>
            <a:endParaRPr lang="en-US" sz="1000" dirty="0"/>
          </a:p>
        </p:txBody>
      </p:sp>
      <p:sp>
        <p:nvSpPr>
          <p:cNvPr id="18" name="card background">
            <a:extLst>
              <a:ext uri="{C183D7F6-B498-43B3-948B-1728B52AA6E4}">
                <adec:decorative xmlns:adec="http://schemas.microsoft.com/office/drawing/2017/decorative" val="1"/>
              </a:ext>
            </a:extLst>
          </p:cNvPr>
          <p:cNvSpPr/>
          <p:nvPr/>
        </p:nvSpPr>
        <p:spPr>
          <a:xfrm>
            <a:off x="566928" y="3346704"/>
            <a:ext cx="8010144" cy="676656"/>
          </a:xfrm>
          <a:prstGeom prst="rect">
            <a:avLst/>
          </a:prstGeom>
          <a:solidFill>
            <a:srgbClr val="212429"/>
          </a:solidFill>
          <a:ln w="12700">
            <a:solidFill>
              <a:srgbClr val="343941"/>
            </a:solidFill>
            <a:prstDash val="solid"/>
          </a:ln>
        </p:spPr>
        <p:txBody>
          <a:bodyPr/>
          <a:lstStyle/>
          <a:p>
            <a:endParaRPr lang="en-SE"/>
          </a:p>
        </p:txBody>
      </p:sp>
      <p:sp>
        <p:nvSpPr>
          <p:cNvPr id="19" name="card accent edge">
            <a:extLst>
              <a:ext uri="{C183D7F6-B498-43B3-948B-1728B52AA6E4}">
                <adec:decorative xmlns:adec="http://schemas.microsoft.com/office/drawing/2017/decorative" val="1"/>
              </a:ext>
            </a:extLst>
          </p:cNvPr>
          <p:cNvSpPr/>
          <p:nvPr/>
        </p:nvSpPr>
        <p:spPr>
          <a:xfrm>
            <a:off x="566928" y="3346704"/>
            <a:ext cx="50292" cy="676656"/>
          </a:xfrm>
          <a:prstGeom prst="rect">
            <a:avLst/>
          </a:prstGeom>
          <a:solidFill>
            <a:srgbClr val="8A7EA8"/>
          </a:solidFill>
          <a:ln w="12700">
            <a:solidFill>
              <a:srgbClr val="333333"/>
            </a:solidFill>
            <a:prstDash val="solid"/>
          </a:ln>
        </p:spPr>
        <p:txBody>
          <a:bodyPr/>
          <a:lstStyle/>
          <a:p>
            <a:endParaRPr lang="en-SE"/>
          </a:p>
        </p:txBody>
      </p:sp>
      <p:sp>
        <p:nvSpPr>
          <p:cNvPr id="20" name="Text 18"/>
          <p:cNvSpPr/>
          <p:nvPr/>
        </p:nvSpPr>
        <p:spPr>
          <a:xfrm>
            <a:off x="786384" y="3438144"/>
            <a:ext cx="2011680" cy="237744"/>
          </a:xfrm>
          <a:prstGeom prst="rect">
            <a:avLst/>
          </a:prstGeom>
          <a:noFill/>
          <a:ln/>
        </p:spPr>
        <p:txBody>
          <a:bodyPr wrap="square" lIns="0" tIns="0" rIns="0" bIns="0" rtlCol="0" anchor="ctr"/>
          <a:lstStyle/>
          <a:p>
            <a:pPr marL="0" indent="0" algn="l">
              <a:lnSpc>
                <a:spcPts val="1500"/>
              </a:lnSpc>
              <a:buNone/>
            </a:pPr>
            <a:r>
              <a:rPr lang="en-US" sz="1000" dirty="0">
                <a:solidFill>
                  <a:srgbClr val="8A7EA8"/>
                </a:solidFill>
                <a:latin typeface="Consolas" pitchFamily="34" charset="0"/>
                <a:ea typeface="Consolas" pitchFamily="34" charset="-122"/>
                <a:cs typeface="Consolas" pitchFamily="34" charset="-120"/>
              </a:rPr>
              <a:t>ACK_STORE_PATH</a:t>
            </a:r>
            <a:endParaRPr lang="en-US" sz="1000" dirty="0"/>
          </a:p>
        </p:txBody>
      </p:sp>
      <p:sp>
        <p:nvSpPr>
          <p:cNvPr id="21" name="Text 19"/>
          <p:cNvSpPr/>
          <p:nvPr/>
        </p:nvSpPr>
        <p:spPr>
          <a:xfrm>
            <a:off x="786384" y="3694176"/>
            <a:ext cx="2103120" cy="256032"/>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default: resolved data dir /log-ui-acks.db</a:t>
            </a:r>
            <a:endParaRPr lang="en-US" sz="850" dirty="0"/>
          </a:p>
        </p:txBody>
      </p:sp>
      <p:sp>
        <p:nvSpPr>
          <p:cNvPr id="22" name="Text 20"/>
          <p:cNvSpPr/>
          <p:nvPr/>
        </p:nvSpPr>
        <p:spPr>
          <a:xfrm>
            <a:off x="2999232" y="3419856"/>
            <a:ext cx="5394960" cy="548640"/>
          </a:xfrm>
          <a:prstGeom prst="rect">
            <a:avLst/>
          </a:prstGeom>
          <a:noFill/>
          <a:ln/>
        </p:spPr>
        <p:txBody>
          <a:bodyPr wrap="square" lIns="0" tIns="0" rIns="0" bIns="0" rtlCol="0" anchor="ctr"/>
          <a:lstStyle/>
          <a:p>
            <a:pPr marL="0" indent="0" algn="l">
              <a:lnSpc>
                <a:spcPts val="1420"/>
              </a:lnSpc>
              <a:buNone/>
            </a:pPr>
            <a:r>
              <a:rPr lang="en-US" sz="1000" dirty="0">
                <a:solidFill>
                  <a:srgbClr val="A3A9B4"/>
                </a:solidFill>
                <a:latin typeface="Segoe UI" pitchFamily="34" charset="0"/>
                <a:ea typeface="Segoe UI" pitchFamily="34" charset="-122"/>
                <a:cs typeface="Segoe UI" pitchFamily="34" charset="-120"/>
              </a:rPr>
              <a:t>The console's own store — the only thing it writes. Put it on a persistent volume or your acknowledgements vanish on restart.</a:t>
            </a:r>
            <a:endParaRPr lang="en-US" sz="1000" dirty="0"/>
          </a:p>
        </p:txBody>
      </p:sp>
      <p:sp>
        <p:nvSpPr>
          <p:cNvPr id="23" name="card background">
            <a:extLst>
              <a:ext uri="{C183D7F6-B498-43B3-948B-1728B52AA6E4}">
                <adec:decorative xmlns:adec="http://schemas.microsoft.com/office/drawing/2017/decorative" val="1"/>
              </a:ext>
            </a:extLst>
          </p:cNvPr>
          <p:cNvSpPr/>
          <p:nvPr/>
        </p:nvSpPr>
        <p:spPr>
          <a:xfrm>
            <a:off x="566928" y="4133088"/>
            <a:ext cx="8010144" cy="676656"/>
          </a:xfrm>
          <a:prstGeom prst="rect">
            <a:avLst/>
          </a:prstGeom>
          <a:solidFill>
            <a:srgbClr val="212429"/>
          </a:solidFill>
          <a:ln w="12700">
            <a:solidFill>
              <a:srgbClr val="343941"/>
            </a:solidFill>
            <a:prstDash val="solid"/>
          </a:ln>
        </p:spPr>
        <p:txBody>
          <a:bodyPr/>
          <a:lstStyle/>
          <a:p>
            <a:endParaRPr lang="en-SE"/>
          </a:p>
        </p:txBody>
      </p:sp>
      <p:sp>
        <p:nvSpPr>
          <p:cNvPr id="24" name="card accent edge">
            <a:extLst>
              <a:ext uri="{C183D7F6-B498-43B3-948B-1728B52AA6E4}">
                <adec:decorative xmlns:adec="http://schemas.microsoft.com/office/drawing/2017/decorative" val="1"/>
              </a:ext>
            </a:extLst>
          </p:cNvPr>
          <p:cNvSpPr/>
          <p:nvPr/>
        </p:nvSpPr>
        <p:spPr>
          <a:xfrm>
            <a:off x="566928" y="4133088"/>
            <a:ext cx="50292" cy="676656"/>
          </a:xfrm>
          <a:prstGeom prst="rect">
            <a:avLst/>
          </a:prstGeom>
          <a:solidFill>
            <a:srgbClr val="C9584C"/>
          </a:solidFill>
          <a:ln w="12700">
            <a:solidFill>
              <a:srgbClr val="333333"/>
            </a:solidFill>
            <a:prstDash val="solid"/>
          </a:ln>
        </p:spPr>
        <p:txBody>
          <a:bodyPr/>
          <a:lstStyle/>
          <a:p>
            <a:endParaRPr lang="en-SE"/>
          </a:p>
        </p:txBody>
      </p:sp>
      <p:sp>
        <p:nvSpPr>
          <p:cNvPr id="25" name="Text 23"/>
          <p:cNvSpPr/>
          <p:nvPr/>
        </p:nvSpPr>
        <p:spPr>
          <a:xfrm>
            <a:off x="786384" y="4224528"/>
            <a:ext cx="2011680" cy="237744"/>
          </a:xfrm>
          <a:prstGeom prst="rect">
            <a:avLst/>
          </a:prstGeom>
          <a:noFill/>
          <a:ln/>
        </p:spPr>
        <p:txBody>
          <a:bodyPr wrap="square" lIns="0" tIns="0" rIns="0" bIns="0" rtlCol="0" anchor="ctr"/>
          <a:lstStyle/>
          <a:p>
            <a:pPr marL="0" indent="0" algn="l">
              <a:lnSpc>
                <a:spcPts val="1500"/>
              </a:lnSpc>
              <a:buNone/>
            </a:pPr>
            <a:r>
              <a:rPr lang="en-US" sz="1000" dirty="0">
                <a:solidFill>
                  <a:srgbClr val="C9584C"/>
                </a:solidFill>
                <a:latin typeface="Consolas" pitchFamily="34" charset="0"/>
                <a:ea typeface="Consolas" pitchFamily="34" charset="-122"/>
                <a:cs typeface="Consolas" pitchFamily="34" charset="-120"/>
              </a:rPr>
              <a:t>CORS_ORIGIN</a:t>
            </a:r>
            <a:endParaRPr lang="en-US" sz="1000" dirty="0"/>
          </a:p>
        </p:txBody>
      </p:sp>
      <p:sp>
        <p:nvSpPr>
          <p:cNvPr id="26" name="Text 24"/>
          <p:cNvSpPr/>
          <p:nvPr/>
        </p:nvSpPr>
        <p:spPr>
          <a:xfrm>
            <a:off x="786384" y="4480560"/>
            <a:ext cx="2103120" cy="256032"/>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default: *</a:t>
            </a:r>
            <a:endParaRPr lang="en-US" sz="850" dirty="0"/>
          </a:p>
        </p:txBody>
      </p:sp>
      <p:sp>
        <p:nvSpPr>
          <p:cNvPr id="27" name="Text 25"/>
          <p:cNvSpPr/>
          <p:nvPr/>
        </p:nvSpPr>
        <p:spPr>
          <a:xfrm>
            <a:off x="2999232" y="4206240"/>
            <a:ext cx="5394960" cy="548640"/>
          </a:xfrm>
          <a:prstGeom prst="rect">
            <a:avLst/>
          </a:prstGeom>
          <a:noFill/>
          <a:ln/>
        </p:spPr>
        <p:txBody>
          <a:bodyPr wrap="square" lIns="0" tIns="0" rIns="0" bIns="0" rtlCol="0" anchor="ctr"/>
          <a:lstStyle/>
          <a:p>
            <a:pPr marL="0" indent="0" algn="l">
              <a:lnSpc>
                <a:spcPts val="1420"/>
              </a:lnSpc>
              <a:buNone/>
            </a:pPr>
            <a:r>
              <a:rPr lang="en-US" sz="1000" dirty="0">
                <a:solidFill>
                  <a:srgbClr val="A3A9B4"/>
                </a:solidFill>
                <a:latin typeface="Segoe UI" pitchFamily="34" charset="0"/>
                <a:ea typeface="Segoe UI" pitchFamily="34" charset="-122"/>
                <a:cs typeface="Segoe UI" pitchFamily="34" charset="-120"/>
              </a:rPr>
              <a:t>Restrict this the moment the console is reachable beyond localhost. There is no login: anyone who reaches the port reads every log line.</a:t>
            </a:r>
            <a:endParaRPr lang="en-US" sz="1000" dirty="0"/>
          </a:p>
        </p:txBody>
      </p:sp>
      <p:sp>
        <p:nvSpPr>
          <p:cNvPr id="28" name="Text 26"/>
          <p:cNvSpPr/>
          <p:nvPr/>
        </p:nvSpPr>
        <p:spPr>
          <a:xfrm>
            <a:off x="566928" y="4809744"/>
            <a:ext cx="8010144" cy="274320"/>
          </a:xfrm>
          <a:prstGeom prst="rect">
            <a:avLst/>
          </a:prstGeom>
          <a:noFill/>
          <a:ln/>
        </p:spPr>
        <p:txBody>
          <a:bodyPr wrap="square" lIns="0" tIns="0" rIns="0" bIns="0" rtlCol="0" anchor="t"/>
          <a:lstStyle/>
          <a:p>
            <a:pPr marL="0" indent="0" algn="l">
              <a:lnSpc>
                <a:spcPts val="1278"/>
              </a:lnSpc>
              <a:buNone/>
            </a:pPr>
            <a:r>
              <a:rPr lang="en-US" sz="900" i="1" dirty="0">
                <a:solidFill>
                  <a:srgbClr val="747B87"/>
                </a:solidFill>
                <a:latin typeface="Segoe UI" pitchFamily="34" charset="0"/>
                <a:ea typeface="Segoe UI" pitchFamily="34" charset="-122"/>
                <a:cs typeface="Segoe UI" pitchFamily="34" charset="-120"/>
              </a:rPr>
              <a:t>One more worth knowing: the Diagnostics view shells out to pm-log-cli, so that tool must be on PATH where the bridge runs — which, in the default container, it is not. Point LOG_CLI_COMMAND at it, or accept that one view reporting unavailable while everything else works.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27</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console at a glance</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A fixed shell: a top bar carrying global state, a six-item navigation rail on the left, and the active view filling the rest.</a:t>
            </a:r>
            <a:endParaRPr lang="en-US" sz="1250" dirty="0"/>
          </a:p>
        </p:txBody>
      </p:sp>
      <p:sp>
        <p:nvSpPr>
          <p:cNvPr id="8" name="screenshot placeholder frame">
            <a:extLst>
              <a:ext uri="{C183D7F6-B498-43B3-948B-1728B52AA6E4}">
                <adec:decorative xmlns:adec="http://schemas.microsoft.com/office/drawing/2017/decorative" val="1"/>
              </a:ext>
            </a:extLst>
          </p:cNvPr>
          <p:cNvSpPr/>
          <p:nvPr/>
        </p:nvSpPr>
        <p:spPr>
          <a:xfrm>
            <a:off x="566928" y="1773936"/>
            <a:ext cx="5358384" cy="3072384"/>
          </a:xfrm>
          <a:prstGeom prst="rect">
            <a:avLst/>
          </a:prstGeom>
          <a:solidFill>
            <a:srgbClr val="121419"/>
          </a:solidFill>
          <a:ln w="15875">
            <a:solidFill>
              <a:srgbClr val="7A5A24"/>
            </a:solidFill>
            <a:prstDash val="dash"/>
          </a:ln>
        </p:spPr>
        <p:txBody>
          <a:bodyPr/>
          <a:lstStyle/>
          <a:p>
            <a:endParaRPr lang="en-SE"/>
          </a:p>
        </p:txBody>
      </p:sp>
      <p:sp>
        <p:nvSpPr>
          <p:cNvPr id="9" name="frame corner tick">
            <a:extLst>
              <a:ext uri="{C183D7F6-B498-43B3-948B-1728B52AA6E4}">
                <adec:decorative xmlns:adec="http://schemas.microsoft.com/office/drawing/2017/decorative" val="1"/>
              </a:ext>
            </a:extLst>
          </p:cNvPr>
          <p:cNvSpPr/>
          <p:nvPr/>
        </p:nvSpPr>
        <p:spPr>
          <a:xfrm>
            <a:off x="566928" y="1773936"/>
            <a:ext cx="274320" cy="27432"/>
          </a:xfrm>
          <a:prstGeom prst="rect">
            <a:avLst/>
          </a:prstGeom>
          <a:solidFill>
            <a:srgbClr val="E8A33D"/>
          </a:solidFill>
          <a:ln w="12700">
            <a:solidFill>
              <a:srgbClr val="333333"/>
            </a:solidFill>
            <a:prstDash val="solid"/>
          </a:ln>
        </p:spPr>
        <p:txBody>
          <a:bodyPr/>
          <a:lstStyle/>
          <a:p>
            <a:endParaRPr lang="en-SE"/>
          </a:p>
        </p:txBody>
      </p:sp>
      <p:sp>
        <p:nvSpPr>
          <p:cNvPr id="10" name="frame corner tick">
            <a:extLst>
              <a:ext uri="{C183D7F6-B498-43B3-948B-1728B52AA6E4}">
                <adec:decorative xmlns:adec="http://schemas.microsoft.com/office/drawing/2017/decorative" val="1"/>
              </a:ext>
            </a:extLst>
          </p:cNvPr>
          <p:cNvSpPr/>
          <p:nvPr/>
        </p:nvSpPr>
        <p:spPr>
          <a:xfrm>
            <a:off x="566928" y="1773936"/>
            <a:ext cx="27432" cy="274320"/>
          </a:xfrm>
          <a:prstGeom prst="rect">
            <a:avLst/>
          </a:prstGeom>
          <a:solidFill>
            <a:srgbClr val="E8A33D"/>
          </a:solidFill>
          <a:ln w="12700">
            <a:solidFill>
              <a:srgbClr val="333333"/>
            </a:solidFill>
            <a:prstDash val="solid"/>
          </a:ln>
        </p:spPr>
        <p:txBody>
          <a:bodyPr/>
          <a:lstStyle/>
          <a:p>
            <a:endParaRPr lang="en-SE"/>
          </a:p>
        </p:txBody>
      </p:sp>
      <p:sp>
        <p:nvSpPr>
          <p:cNvPr id="11" name="frame corner tick">
            <a:extLst>
              <a:ext uri="{C183D7F6-B498-43B3-948B-1728B52AA6E4}">
                <adec:decorative xmlns:adec="http://schemas.microsoft.com/office/drawing/2017/decorative" val="1"/>
              </a:ext>
            </a:extLst>
          </p:cNvPr>
          <p:cNvSpPr/>
          <p:nvPr/>
        </p:nvSpPr>
        <p:spPr>
          <a:xfrm>
            <a:off x="5650992" y="1773936"/>
            <a:ext cx="274320" cy="27432"/>
          </a:xfrm>
          <a:prstGeom prst="rect">
            <a:avLst/>
          </a:prstGeom>
          <a:solidFill>
            <a:srgbClr val="E8A33D"/>
          </a:solidFill>
          <a:ln w="12700">
            <a:solidFill>
              <a:srgbClr val="333333"/>
            </a:solidFill>
            <a:prstDash val="solid"/>
          </a:ln>
        </p:spPr>
        <p:txBody>
          <a:bodyPr/>
          <a:lstStyle/>
          <a:p>
            <a:endParaRPr lang="en-SE"/>
          </a:p>
        </p:txBody>
      </p:sp>
      <p:sp>
        <p:nvSpPr>
          <p:cNvPr id="12" name="frame corner tick">
            <a:extLst>
              <a:ext uri="{C183D7F6-B498-43B3-948B-1728B52AA6E4}">
                <adec:decorative xmlns:adec="http://schemas.microsoft.com/office/drawing/2017/decorative" val="1"/>
              </a:ext>
            </a:extLst>
          </p:cNvPr>
          <p:cNvSpPr/>
          <p:nvPr/>
        </p:nvSpPr>
        <p:spPr>
          <a:xfrm>
            <a:off x="5897880" y="1773936"/>
            <a:ext cx="27432" cy="274320"/>
          </a:xfrm>
          <a:prstGeom prst="rect">
            <a:avLst/>
          </a:prstGeom>
          <a:solidFill>
            <a:srgbClr val="E8A33D"/>
          </a:solidFill>
          <a:ln w="12700">
            <a:solidFill>
              <a:srgbClr val="333333"/>
            </a:solidFill>
            <a:prstDash val="solid"/>
          </a:ln>
        </p:spPr>
        <p:txBody>
          <a:bodyPr/>
          <a:lstStyle/>
          <a:p>
            <a:endParaRPr lang="en-SE"/>
          </a:p>
        </p:txBody>
      </p:sp>
      <p:sp>
        <p:nvSpPr>
          <p:cNvPr id="13" name="frame corner tick">
            <a:extLst>
              <a:ext uri="{C183D7F6-B498-43B3-948B-1728B52AA6E4}">
                <adec:decorative xmlns:adec="http://schemas.microsoft.com/office/drawing/2017/decorative" val="1"/>
              </a:ext>
            </a:extLst>
          </p:cNvPr>
          <p:cNvSpPr/>
          <p:nvPr/>
        </p:nvSpPr>
        <p:spPr>
          <a:xfrm>
            <a:off x="566928" y="4818888"/>
            <a:ext cx="274320" cy="27432"/>
          </a:xfrm>
          <a:prstGeom prst="rect">
            <a:avLst/>
          </a:prstGeom>
          <a:solidFill>
            <a:srgbClr val="E8A33D"/>
          </a:solidFill>
          <a:ln w="12700">
            <a:solidFill>
              <a:srgbClr val="333333"/>
            </a:solidFill>
            <a:prstDash val="solid"/>
          </a:ln>
        </p:spPr>
        <p:txBody>
          <a:bodyPr/>
          <a:lstStyle/>
          <a:p>
            <a:endParaRPr lang="en-SE"/>
          </a:p>
        </p:txBody>
      </p:sp>
      <p:sp>
        <p:nvSpPr>
          <p:cNvPr id="14" name="frame corner tick">
            <a:extLst>
              <a:ext uri="{C183D7F6-B498-43B3-948B-1728B52AA6E4}">
                <adec:decorative xmlns:adec="http://schemas.microsoft.com/office/drawing/2017/decorative" val="1"/>
              </a:ext>
            </a:extLst>
          </p:cNvPr>
          <p:cNvSpPr/>
          <p:nvPr/>
        </p:nvSpPr>
        <p:spPr>
          <a:xfrm>
            <a:off x="566928" y="4572000"/>
            <a:ext cx="27432" cy="274320"/>
          </a:xfrm>
          <a:prstGeom prst="rect">
            <a:avLst/>
          </a:prstGeom>
          <a:solidFill>
            <a:srgbClr val="E8A33D"/>
          </a:solidFill>
          <a:ln w="12700">
            <a:solidFill>
              <a:srgbClr val="333333"/>
            </a:solidFill>
            <a:prstDash val="solid"/>
          </a:ln>
        </p:spPr>
        <p:txBody>
          <a:bodyPr/>
          <a:lstStyle/>
          <a:p>
            <a:endParaRPr lang="en-SE"/>
          </a:p>
        </p:txBody>
      </p:sp>
      <p:sp>
        <p:nvSpPr>
          <p:cNvPr id="15" name="frame corner tick">
            <a:extLst>
              <a:ext uri="{C183D7F6-B498-43B3-948B-1728B52AA6E4}">
                <adec:decorative xmlns:adec="http://schemas.microsoft.com/office/drawing/2017/decorative" val="1"/>
              </a:ext>
            </a:extLst>
          </p:cNvPr>
          <p:cNvSpPr/>
          <p:nvPr/>
        </p:nvSpPr>
        <p:spPr>
          <a:xfrm>
            <a:off x="5650992" y="4818888"/>
            <a:ext cx="274320" cy="27432"/>
          </a:xfrm>
          <a:prstGeom prst="rect">
            <a:avLst/>
          </a:prstGeom>
          <a:solidFill>
            <a:srgbClr val="E8A33D"/>
          </a:solidFill>
          <a:ln w="12700">
            <a:solidFill>
              <a:srgbClr val="333333"/>
            </a:solidFill>
            <a:prstDash val="solid"/>
          </a:ln>
        </p:spPr>
        <p:txBody>
          <a:bodyPr/>
          <a:lstStyle/>
          <a:p>
            <a:endParaRPr lang="en-SE"/>
          </a:p>
        </p:txBody>
      </p:sp>
      <p:sp>
        <p:nvSpPr>
          <p:cNvPr id="16" name="frame corner tick">
            <a:extLst>
              <a:ext uri="{C183D7F6-B498-43B3-948B-1728B52AA6E4}">
                <adec:decorative xmlns:adec="http://schemas.microsoft.com/office/drawing/2017/decorative" val="1"/>
              </a:ext>
            </a:extLst>
          </p:cNvPr>
          <p:cNvSpPr/>
          <p:nvPr/>
        </p:nvSpPr>
        <p:spPr>
          <a:xfrm>
            <a:off x="5897880" y="4572000"/>
            <a:ext cx="27432" cy="274320"/>
          </a:xfrm>
          <a:prstGeom prst="rect">
            <a:avLst/>
          </a:prstGeom>
          <a:solidFill>
            <a:srgbClr val="E8A33D"/>
          </a:solidFill>
          <a:ln w="12700">
            <a:solidFill>
              <a:srgbClr val="333333"/>
            </a:solidFill>
            <a:prstDash val="solid"/>
          </a:ln>
        </p:spPr>
        <p:txBody>
          <a:bodyPr/>
          <a:lstStyle/>
          <a:p>
            <a:endParaRPr lang="en-SE"/>
          </a:p>
        </p:txBody>
      </p:sp>
      <p:sp>
        <p:nvSpPr>
          <p:cNvPr id="17" name="Text 15"/>
          <p:cNvSpPr/>
          <p:nvPr/>
        </p:nvSpPr>
        <p:spPr>
          <a:xfrm>
            <a:off x="932688" y="2907792"/>
            <a:ext cx="4626864" cy="310896"/>
          </a:xfrm>
          <a:prstGeom prst="rect">
            <a:avLst/>
          </a:prstGeom>
          <a:noFill/>
          <a:ln/>
        </p:spPr>
        <p:txBody>
          <a:bodyPr wrap="square" lIns="0" tIns="0" rIns="0" bIns="0" rtlCol="0" anchor="ctr"/>
          <a:lstStyle/>
          <a:p>
            <a:pPr marL="0" indent="0" algn="ctr">
              <a:buNone/>
            </a:pPr>
            <a:r>
              <a:rPr lang="en-US" sz="1100" b="1" kern="0" spc="220" dirty="0">
                <a:solidFill>
                  <a:srgbClr val="E8A33D"/>
                </a:solidFill>
                <a:latin typeface="Segoe UI" pitchFamily="34" charset="0"/>
                <a:ea typeface="Segoe UI" pitchFamily="34" charset="-122"/>
                <a:cs typeface="Segoe UI" pitchFamily="34" charset="-120"/>
              </a:rPr>
              <a:t>SCREENSHOT — MAIN WINDOW</a:t>
            </a:r>
            <a:endParaRPr lang="en-US" sz="1100" dirty="0"/>
          </a:p>
        </p:txBody>
      </p:sp>
      <p:sp>
        <p:nvSpPr>
          <p:cNvPr id="18" name="Text 16"/>
          <p:cNvSpPr/>
          <p:nvPr/>
        </p:nvSpPr>
        <p:spPr>
          <a:xfrm>
            <a:off x="1207008" y="3273552"/>
            <a:ext cx="4078224" cy="822960"/>
          </a:xfrm>
          <a:prstGeom prst="rect">
            <a:avLst/>
          </a:prstGeom>
          <a:noFill/>
          <a:ln/>
        </p:spPr>
        <p:txBody>
          <a:bodyPr wrap="square" lIns="0" tIns="0" rIns="0" bIns="0" rtlCol="0" anchor="t"/>
          <a:lstStyle/>
          <a:p>
            <a:pPr marL="0" indent="0" algn="ctr">
              <a:lnSpc>
                <a:spcPts val="1400"/>
              </a:lnSpc>
              <a:buNone/>
            </a:pPr>
            <a:r>
              <a:rPr lang="en-US" sz="1000" dirty="0">
                <a:solidFill>
                  <a:srgbClr val="747B87"/>
                </a:solidFill>
                <a:latin typeface="Segoe UI" pitchFamily="34" charset="0"/>
                <a:ea typeface="Segoe UI" pitchFamily="34" charset="-122"/>
                <a:cs typeface="Segoe UI" pitchFamily="34" charset="-120"/>
              </a:rPr>
              <a:t>Dashboard in dark theme with at least one unacknowledged issue, so the red banner, the top-bar unacked link and the Alerts rail badge are all visible together.</a:t>
            </a:r>
            <a:endParaRPr lang="en-US" sz="1000" dirty="0"/>
          </a:p>
        </p:txBody>
      </p:sp>
      <p:sp>
        <p:nvSpPr>
          <p:cNvPr id="19" name="Text 17"/>
          <p:cNvSpPr/>
          <p:nvPr/>
        </p:nvSpPr>
        <p:spPr>
          <a:xfrm>
            <a:off x="932688" y="2176272"/>
            <a:ext cx="4626864" cy="274320"/>
          </a:xfrm>
          <a:prstGeom prst="rect">
            <a:avLst/>
          </a:prstGeom>
          <a:noFill/>
          <a:ln/>
        </p:spPr>
        <p:txBody>
          <a:bodyPr wrap="square" lIns="0" tIns="0" rIns="0" bIns="0" rtlCol="0" anchor="ctr"/>
          <a:lstStyle/>
          <a:p>
            <a:pPr marL="0" indent="0" algn="ctr">
              <a:buNone/>
            </a:pPr>
            <a:r>
              <a:rPr lang="en-US" sz="850" dirty="0">
                <a:solidFill>
                  <a:srgbClr val="747B87"/>
                </a:solidFill>
                <a:latin typeface="Consolas" pitchFamily="34" charset="0"/>
                <a:ea typeface="Consolas" pitchFamily="34" charset="-122"/>
                <a:cs typeface="Consolas" pitchFamily="34" charset="-120"/>
              </a:rPr>
              <a:t>drop the image here</a:t>
            </a:r>
            <a:endParaRPr lang="en-US" sz="850" dirty="0"/>
          </a:p>
        </p:txBody>
      </p:sp>
      <p:sp>
        <p:nvSpPr>
          <p:cNvPr id="20" name="card background">
            <a:extLst>
              <a:ext uri="{C183D7F6-B498-43B3-948B-1728B52AA6E4}">
                <adec:decorative xmlns:adec="http://schemas.microsoft.com/office/drawing/2017/decorative" val="1"/>
              </a:ext>
            </a:extLst>
          </p:cNvPr>
          <p:cNvSpPr/>
          <p:nvPr/>
        </p:nvSpPr>
        <p:spPr>
          <a:xfrm>
            <a:off x="6144768" y="1773936"/>
            <a:ext cx="2432304" cy="914400"/>
          </a:xfrm>
          <a:prstGeom prst="rect">
            <a:avLst/>
          </a:prstGeom>
          <a:solidFill>
            <a:srgbClr val="212429"/>
          </a:solidFill>
          <a:ln w="12700">
            <a:solidFill>
              <a:srgbClr val="343941"/>
            </a:solidFill>
            <a:prstDash val="solid"/>
          </a:ln>
        </p:spPr>
        <p:txBody>
          <a:bodyPr/>
          <a:lstStyle/>
          <a:p>
            <a:endParaRPr lang="en-SE"/>
          </a:p>
        </p:txBody>
      </p:sp>
      <p:sp>
        <p:nvSpPr>
          <p:cNvPr id="21" name="card accent edge">
            <a:extLst>
              <a:ext uri="{C183D7F6-B498-43B3-948B-1728B52AA6E4}">
                <adec:decorative xmlns:adec="http://schemas.microsoft.com/office/drawing/2017/decorative" val="1"/>
              </a:ext>
            </a:extLst>
          </p:cNvPr>
          <p:cNvSpPr/>
          <p:nvPr/>
        </p:nvSpPr>
        <p:spPr>
          <a:xfrm>
            <a:off x="6144768" y="1773936"/>
            <a:ext cx="50292" cy="914400"/>
          </a:xfrm>
          <a:prstGeom prst="rect">
            <a:avLst/>
          </a:prstGeom>
          <a:solidFill>
            <a:srgbClr val="E8A33D"/>
          </a:solidFill>
          <a:ln w="12700">
            <a:solidFill>
              <a:srgbClr val="333333"/>
            </a:solidFill>
            <a:prstDash val="solid"/>
          </a:ln>
        </p:spPr>
        <p:txBody>
          <a:bodyPr/>
          <a:lstStyle/>
          <a:p>
            <a:endParaRPr lang="en-SE"/>
          </a:p>
        </p:txBody>
      </p:sp>
      <p:sp>
        <p:nvSpPr>
          <p:cNvPr id="22" name="Text 20"/>
          <p:cNvSpPr/>
          <p:nvPr/>
        </p:nvSpPr>
        <p:spPr>
          <a:xfrm>
            <a:off x="6345936" y="1883664"/>
            <a:ext cx="2103120" cy="292608"/>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Source state dot</a:t>
            </a:r>
            <a:endParaRPr lang="en-US" sz="1150" dirty="0"/>
          </a:p>
        </p:txBody>
      </p:sp>
      <p:sp>
        <p:nvSpPr>
          <p:cNvPr id="23" name="Text 21"/>
          <p:cNvSpPr/>
          <p:nvPr/>
        </p:nvSpPr>
        <p:spPr>
          <a:xfrm>
            <a:off x="6345936" y="2139696"/>
            <a:ext cx="2103120" cy="475488"/>
          </a:xfrm>
          <a:prstGeom prst="rect">
            <a:avLst/>
          </a:prstGeom>
          <a:noFill/>
          <a:ln/>
        </p:spPr>
        <p:txBody>
          <a:bodyPr wrap="square" lIns="0" tIns="0" rIns="0" bIns="0" rtlCol="0" anchor="t"/>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Green when the log server is up, yellow while reconnecting, red for either failure.</a:t>
            </a:r>
            <a:endParaRPr lang="en-US" sz="900" dirty="0"/>
          </a:p>
        </p:txBody>
      </p:sp>
      <p:sp>
        <p:nvSpPr>
          <p:cNvPr id="24" name="card background">
            <a:extLst>
              <a:ext uri="{C183D7F6-B498-43B3-948B-1728B52AA6E4}">
                <adec:decorative xmlns:adec="http://schemas.microsoft.com/office/drawing/2017/decorative" val="1"/>
              </a:ext>
            </a:extLst>
          </p:cNvPr>
          <p:cNvSpPr/>
          <p:nvPr/>
        </p:nvSpPr>
        <p:spPr>
          <a:xfrm>
            <a:off x="6144768" y="2834640"/>
            <a:ext cx="2432304" cy="914400"/>
          </a:xfrm>
          <a:prstGeom prst="rect">
            <a:avLst/>
          </a:prstGeom>
          <a:solidFill>
            <a:srgbClr val="212429"/>
          </a:solidFill>
          <a:ln w="12700">
            <a:solidFill>
              <a:srgbClr val="343941"/>
            </a:solidFill>
            <a:prstDash val="solid"/>
          </a:ln>
        </p:spPr>
        <p:txBody>
          <a:bodyPr/>
          <a:lstStyle/>
          <a:p>
            <a:endParaRPr lang="en-SE"/>
          </a:p>
        </p:txBody>
      </p:sp>
      <p:sp>
        <p:nvSpPr>
          <p:cNvPr id="25" name="card accent edge">
            <a:extLst>
              <a:ext uri="{C183D7F6-B498-43B3-948B-1728B52AA6E4}">
                <adec:decorative xmlns:adec="http://schemas.microsoft.com/office/drawing/2017/decorative" val="1"/>
              </a:ext>
            </a:extLst>
          </p:cNvPr>
          <p:cNvSpPr/>
          <p:nvPr/>
        </p:nvSpPr>
        <p:spPr>
          <a:xfrm>
            <a:off x="6144768" y="2834640"/>
            <a:ext cx="50292" cy="914400"/>
          </a:xfrm>
          <a:prstGeom prst="rect">
            <a:avLst/>
          </a:prstGeom>
          <a:solidFill>
            <a:srgbClr val="E8A33D"/>
          </a:solidFill>
          <a:ln w="12700">
            <a:solidFill>
              <a:srgbClr val="333333"/>
            </a:solidFill>
            <a:prstDash val="solid"/>
          </a:ln>
        </p:spPr>
        <p:txBody>
          <a:bodyPr/>
          <a:lstStyle/>
          <a:p>
            <a:endParaRPr lang="en-SE"/>
          </a:p>
        </p:txBody>
      </p:sp>
      <p:sp>
        <p:nvSpPr>
          <p:cNvPr id="26" name="Text 24"/>
          <p:cNvSpPr/>
          <p:nvPr/>
        </p:nvSpPr>
        <p:spPr>
          <a:xfrm>
            <a:off x="6345936" y="2944368"/>
            <a:ext cx="2103120" cy="292608"/>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Unacked count</a:t>
            </a:r>
            <a:endParaRPr lang="en-US" sz="1150" dirty="0"/>
          </a:p>
        </p:txBody>
      </p:sp>
      <p:sp>
        <p:nvSpPr>
          <p:cNvPr id="27" name="Text 25"/>
          <p:cNvSpPr/>
          <p:nvPr/>
        </p:nvSpPr>
        <p:spPr>
          <a:xfrm>
            <a:off x="6345936" y="3200400"/>
            <a:ext cx="2103120" cy="475488"/>
          </a:xfrm>
          <a:prstGeom prst="rect">
            <a:avLst/>
          </a:prstGeom>
          <a:noFill/>
          <a:ln/>
        </p:spPr>
        <p:txBody>
          <a:bodyPr wrap="square" lIns="0" tIns="0" rIns="0" bIns="0" rtlCol="0" anchor="t"/>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A link straight to Alerts, styled red whenever it is non-zero.</a:t>
            </a:r>
            <a:endParaRPr lang="en-US" sz="900" dirty="0"/>
          </a:p>
        </p:txBody>
      </p:sp>
      <p:sp>
        <p:nvSpPr>
          <p:cNvPr id="28" name="card background">
            <a:extLst>
              <a:ext uri="{C183D7F6-B498-43B3-948B-1728B52AA6E4}">
                <adec:decorative xmlns:adec="http://schemas.microsoft.com/office/drawing/2017/decorative" val="1"/>
              </a:ext>
            </a:extLst>
          </p:cNvPr>
          <p:cNvSpPr/>
          <p:nvPr/>
        </p:nvSpPr>
        <p:spPr>
          <a:xfrm>
            <a:off x="6144768" y="3895344"/>
            <a:ext cx="2432304" cy="914400"/>
          </a:xfrm>
          <a:prstGeom prst="rect">
            <a:avLst/>
          </a:prstGeom>
          <a:solidFill>
            <a:srgbClr val="212429"/>
          </a:solidFill>
          <a:ln w="12700">
            <a:solidFill>
              <a:srgbClr val="343941"/>
            </a:solidFill>
            <a:prstDash val="solid"/>
          </a:ln>
        </p:spPr>
        <p:txBody>
          <a:bodyPr/>
          <a:lstStyle/>
          <a:p>
            <a:endParaRPr lang="en-SE"/>
          </a:p>
        </p:txBody>
      </p:sp>
      <p:sp>
        <p:nvSpPr>
          <p:cNvPr id="29" name="card accent edge">
            <a:extLst>
              <a:ext uri="{C183D7F6-B498-43B3-948B-1728B52AA6E4}">
                <adec:decorative xmlns:adec="http://schemas.microsoft.com/office/drawing/2017/decorative" val="1"/>
              </a:ext>
            </a:extLst>
          </p:cNvPr>
          <p:cNvSpPr/>
          <p:nvPr/>
        </p:nvSpPr>
        <p:spPr>
          <a:xfrm>
            <a:off x="6144768" y="3895344"/>
            <a:ext cx="50292" cy="914400"/>
          </a:xfrm>
          <a:prstGeom prst="rect">
            <a:avLst/>
          </a:prstGeom>
          <a:solidFill>
            <a:srgbClr val="E8A33D"/>
          </a:solidFill>
          <a:ln w="12700">
            <a:solidFill>
              <a:srgbClr val="333333"/>
            </a:solidFill>
            <a:prstDash val="solid"/>
          </a:ln>
        </p:spPr>
        <p:txBody>
          <a:bodyPr/>
          <a:lstStyle/>
          <a:p>
            <a:endParaRPr lang="en-SE"/>
          </a:p>
        </p:txBody>
      </p:sp>
      <p:sp>
        <p:nvSpPr>
          <p:cNvPr id="30" name="Text 28"/>
          <p:cNvSpPr/>
          <p:nvPr/>
        </p:nvSpPr>
        <p:spPr>
          <a:xfrm>
            <a:off x="6345936" y="4005072"/>
            <a:ext cx="2103120" cy="292608"/>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Theme toggle</a:t>
            </a:r>
            <a:endParaRPr lang="en-US" sz="1150" dirty="0"/>
          </a:p>
        </p:txBody>
      </p:sp>
      <p:sp>
        <p:nvSpPr>
          <p:cNvPr id="31" name="Text 29"/>
          <p:cNvSpPr/>
          <p:nvPr/>
        </p:nvSpPr>
        <p:spPr>
          <a:xfrm>
            <a:off x="6345936" y="4261104"/>
            <a:ext cx="2103120" cy="475488"/>
          </a:xfrm>
          <a:prstGeom prst="rect">
            <a:avLst/>
          </a:prstGeom>
          <a:noFill/>
          <a:ln/>
        </p:spPr>
        <p:txBody>
          <a:bodyPr wrap="square" lIns="0" tIns="0" rIns="0" bIns="0" rtlCol="0" anchor="t"/>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The icon shows the theme a click switches to, not the one you are in.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28</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Dashboard, readable from across the room</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Five meter tiles, two charts and the five most recent errors — designed so a passing glance is enough to tell whether anything needs you.</a:t>
            </a:r>
            <a:endParaRPr lang="en-US" sz="1250" dirty="0"/>
          </a:p>
        </p:txBody>
      </p:sp>
      <p:sp>
        <p:nvSpPr>
          <p:cNvPr id="8" name="screenshot placeholder frame">
            <a:extLst>
              <a:ext uri="{C183D7F6-B498-43B3-948B-1728B52AA6E4}">
                <adec:decorative xmlns:adec="http://schemas.microsoft.com/office/drawing/2017/decorative" val="1"/>
              </a:ext>
            </a:extLst>
          </p:cNvPr>
          <p:cNvSpPr/>
          <p:nvPr/>
        </p:nvSpPr>
        <p:spPr>
          <a:xfrm>
            <a:off x="566928" y="1773936"/>
            <a:ext cx="5358384" cy="3072384"/>
          </a:xfrm>
          <a:prstGeom prst="rect">
            <a:avLst/>
          </a:prstGeom>
          <a:solidFill>
            <a:srgbClr val="121419"/>
          </a:solidFill>
          <a:ln w="15875">
            <a:solidFill>
              <a:srgbClr val="7A5A24"/>
            </a:solidFill>
            <a:prstDash val="dash"/>
          </a:ln>
        </p:spPr>
        <p:txBody>
          <a:bodyPr/>
          <a:lstStyle/>
          <a:p>
            <a:endParaRPr lang="en-SE"/>
          </a:p>
        </p:txBody>
      </p:sp>
      <p:sp>
        <p:nvSpPr>
          <p:cNvPr id="9" name="frame corner tick">
            <a:extLst>
              <a:ext uri="{C183D7F6-B498-43B3-948B-1728B52AA6E4}">
                <adec:decorative xmlns:adec="http://schemas.microsoft.com/office/drawing/2017/decorative" val="1"/>
              </a:ext>
            </a:extLst>
          </p:cNvPr>
          <p:cNvSpPr/>
          <p:nvPr/>
        </p:nvSpPr>
        <p:spPr>
          <a:xfrm>
            <a:off x="566928" y="1773936"/>
            <a:ext cx="274320" cy="27432"/>
          </a:xfrm>
          <a:prstGeom prst="rect">
            <a:avLst/>
          </a:prstGeom>
          <a:solidFill>
            <a:srgbClr val="E8A33D"/>
          </a:solidFill>
          <a:ln w="12700">
            <a:solidFill>
              <a:srgbClr val="333333"/>
            </a:solidFill>
            <a:prstDash val="solid"/>
          </a:ln>
        </p:spPr>
        <p:txBody>
          <a:bodyPr/>
          <a:lstStyle/>
          <a:p>
            <a:endParaRPr lang="en-SE"/>
          </a:p>
        </p:txBody>
      </p:sp>
      <p:sp>
        <p:nvSpPr>
          <p:cNvPr id="10" name="frame corner tick">
            <a:extLst>
              <a:ext uri="{C183D7F6-B498-43B3-948B-1728B52AA6E4}">
                <adec:decorative xmlns:adec="http://schemas.microsoft.com/office/drawing/2017/decorative" val="1"/>
              </a:ext>
            </a:extLst>
          </p:cNvPr>
          <p:cNvSpPr/>
          <p:nvPr/>
        </p:nvSpPr>
        <p:spPr>
          <a:xfrm>
            <a:off x="566928" y="1773936"/>
            <a:ext cx="27432" cy="274320"/>
          </a:xfrm>
          <a:prstGeom prst="rect">
            <a:avLst/>
          </a:prstGeom>
          <a:solidFill>
            <a:srgbClr val="E8A33D"/>
          </a:solidFill>
          <a:ln w="12700">
            <a:solidFill>
              <a:srgbClr val="333333"/>
            </a:solidFill>
            <a:prstDash val="solid"/>
          </a:ln>
        </p:spPr>
        <p:txBody>
          <a:bodyPr/>
          <a:lstStyle/>
          <a:p>
            <a:endParaRPr lang="en-SE"/>
          </a:p>
        </p:txBody>
      </p:sp>
      <p:sp>
        <p:nvSpPr>
          <p:cNvPr id="11" name="frame corner tick">
            <a:extLst>
              <a:ext uri="{C183D7F6-B498-43B3-948B-1728B52AA6E4}">
                <adec:decorative xmlns:adec="http://schemas.microsoft.com/office/drawing/2017/decorative" val="1"/>
              </a:ext>
            </a:extLst>
          </p:cNvPr>
          <p:cNvSpPr/>
          <p:nvPr/>
        </p:nvSpPr>
        <p:spPr>
          <a:xfrm>
            <a:off x="5650992" y="1773936"/>
            <a:ext cx="274320" cy="27432"/>
          </a:xfrm>
          <a:prstGeom prst="rect">
            <a:avLst/>
          </a:prstGeom>
          <a:solidFill>
            <a:srgbClr val="E8A33D"/>
          </a:solidFill>
          <a:ln w="12700">
            <a:solidFill>
              <a:srgbClr val="333333"/>
            </a:solidFill>
            <a:prstDash val="solid"/>
          </a:ln>
        </p:spPr>
        <p:txBody>
          <a:bodyPr/>
          <a:lstStyle/>
          <a:p>
            <a:endParaRPr lang="en-SE"/>
          </a:p>
        </p:txBody>
      </p:sp>
      <p:sp>
        <p:nvSpPr>
          <p:cNvPr id="12" name="frame corner tick">
            <a:extLst>
              <a:ext uri="{C183D7F6-B498-43B3-948B-1728B52AA6E4}">
                <adec:decorative xmlns:adec="http://schemas.microsoft.com/office/drawing/2017/decorative" val="1"/>
              </a:ext>
            </a:extLst>
          </p:cNvPr>
          <p:cNvSpPr/>
          <p:nvPr/>
        </p:nvSpPr>
        <p:spPr>
          <a:xfrm>
            <a:off x="5897880" y="1773936"/>
            <a:ext cx="27432" cy="274320"/>
          </a:xfrm>
          <a:prstGeom prst="rect">
            <a:avLst/>
          </a:prstGeom>
          <a:solidFill>
            <a:srgbClr val="E8A33D"/>
          </a:solidFill>
          <a:ln w="12700">
            <a:solidFill>
              <a:srgbClr val="333333"/>
            </a:solidFill>
            <a:prstDash val="solid"/>
          </a:ln>
        </p:spPr>
        <p:txBody>
          <a:bodyPr/>
          <a:lstStyle/>
          <a:p>
            <a:endParaRPr lang="en-SE"/>
          </a:p>
        </p:txBody>
      </p:sp>
      <p:sp>
        <p:nvSpPr>
          <p:cNvPr id="13" name="frame corner tick">
            <a:extLst>
              <a:ext uri="{C183D7F6-B498-43B3-948B-1728B52AA6E4}">
                <adec:decorative xmlns:adec="http://schemas.microsoft.com/office/drawing/2017/decorative" val="1"/>
              </a:ext>
            </a:extLst>
          </p:cNvPr>
          <p:cNvSpPr/>
          <p:nvPr/>
        </p:nvSpPr>
        <p:spPr>
          <a:xfrm>
            <a:off x="566928" y="4818888"/>
            <a:ext cx="274320" cy="27432"/>
          </a:xfrm>
          <a:prstGeom prst="rect">
            <a:avLst/>
          </a:prstGeom>
          <a:solidFill>
            <a:srgbClr val="E8A33D"/>
          </a:solidFill>
          <a:ln w="12700">
            <a:solidFill>
              <a:srgbClr val="333333"/>
            </a:solidFill>
            <a:prstDash val="solid"/>
          </a:ln>
        </p:spPr>
        <p:txBody>
          <a:bodyPr/>
          <a:lstStyle/>
          <a:p>
            <a:endParaRPr lang="en-SE"/>
          </a:p>
        </p:txBody>
      </p:sp>
      <p:sp>
        <p:nvSpPr>
          <p:cNvPr id="14" name="frame corner tick">
            <a:extLst>
              <a:ext uri="{C183D7F6-B498-43B3-948B-1728B52AA6E4}">
                <adec:decorative xmlns:adec="http://schemas.microsoft.com/office/drawing/2017/decorative" val="1"/>
              </a:ext>
            </a:extLst>
          </p:cNvPr>
          <p:cNvSpPr/>
          <p:nvPr/>
        </p:nvSpPr>
        <p:spPr>
          <a:xfrm>
            <a:off x="566928" y="4572000"/>
            <a:ext cx="27432" cy="274320"/>
          </a:xfrm>
          <a:prstGeom prst="rect">
            <a:avLst/>
          </a:prstGeom>
          <a:solidFill>
            <a:srgbClr val="E8A33D"/>
          </a:solidFill>
          <a:ln w="12700">
            <a:solidFill>
              <a:srgbClr val="333333"/>
            </a:solidFill>
            <a:prstDash val="solid"/>
          </a:ln>
        </p:spPr>
        <p:txBody>
          <a:bodyPr/>
          <a:lstStyle/>
          <a:p>
            <a:endParaRPr lang="en-SE"/>
          </a:p>
        </p:txBody>
      </p:sp>
      <p:sp>
        <p:nvSpPr>
          <p:cNvPr id="15" name="frame corner tick">
            <a:extLst>
              <a:ext uri="{C183D7F6-B498-43B3-948B-1728B52AA6E4}">
                <adec:decorative xmlns:adec="http://schemas.microsoft.com/office/drawing/2017/decorative" val="1"/>
              </a:ext>
            </a:extLst>
          </p:cNvPr>
          <p:cNvSpPr/>
          <p:nvPr/>
        </p:nvSpPr>
        <p:spPr>
          <a:xfrm>
            <a:off x="5650992" y="4818888"/>
            <a:ext cx="274320" cy="27432"/>
          </a:xfrm>
          <a:prstGeom prst="rect">
            <a:avLst/>
          </a:prstGeom>
          <a:solidFill>
            <a:srgbClr val="E8A33D"/>
          </a:solidFill>
          <a:ln w="12700">
            <a:solidFill>
              <a:srgbClr val="333333"/>
            </a:solidFill>
            <a:prstDash val="solid"/>
          </a:ln>
        </p:spPr>
        <p:txBody>
          <a:bodyPr/>
          <a:lstStyle/>
          <a:p>
            <a:endParaRPr lang="en-SE"/>
          </a:p>
        </p:txBody>
      </p:sp>
      <p:sp>
        <p:nvSpPr>
          <p:cNvPr id="16" name="frame corner tick">
            <a:extLst>
              <a:ext uri="{C183D7F6-B498-43B3-948B-1728B52AA6E4}">
                <adec:decorative xmlns:adec="http://schemas.microsoft.com/office/drawing/2017/decorative" val="1"/>
              </a:ext>
            </a:extLst>
          </p:cNvPr>
          <p:cNvSpPr/>
          <p:nvPr/>
        </p:nvSpPr>
        <p:spPr>
          <a:xfrm>
            <a:off x="5897880" y="4572000"/>
            <a:ext cx="27432" cy="274320"/>
          </a:xfrm>
          <a:prstGeom prst="rect">
            <a:avLst/>
          </a:prstGeom>
          <a:solidFill>
            <a:srgbClr val="E8A33D"/>
          </a:solidFill>
          <a:ln w="12700">
            <a:solidFill>
              <a:srgbClr val="333333"/>
            </a:solidFill>
            <a:prstDash val="solid"/>
          </a:ln>
        </p:spPr>
        <p:txBody>
          <a:bodyPr/>
          <a:lstStyle/>
          <a:p>
            <a:endParaRPr lang="en-SE"/>
          </a:p>
        </p:txBody>
      </p:sp>
      <p:sp>
        <p:nvSpPr>
          <p:cNvPr id="17" name="Text 15"/>
          <p:cNvSpPr/>
          <p:nvPr/>
        </p:nvSpPr>
        <p:spPr>
          <a:xfrm>
            <a:off x="932688" y="2907792"/>
            <a:ext cx="4626864" cy="310896"/>
          </a:xfrm>
          <a:prstGeom prst="rect">
            <a:avLst/>
          </a:prstGeom>
          <a:noFill/>
          <a:ln/>
        </p:spPr>
        <p:txBody>
          <a:bodyPr wrap="square" lIns="0" tIns="0" rIns="0" bIns="0" rtlCol="0" anchor="ctr"/>
          <a:lstStyle/>
          <a:p>
            <a:pPr marL="0" indent="0" algn="ctr">
              <a:buNone/>
            </a:pPr>
            <a:r>
              <a:rPr lang="en-US" sz="1100" b="1" kern="0" spc="220" dirty="0">
                <a:solidFill>
                  <a:srgbClr val="E8A33D"/>
                </a:solidFill>
                <a:latin typeface="Segoe UI" pitchFamily="34" charset="0"/>
                <a:ea typeface="Segoe UI" pitchFamily="34" charset="-122"/>
                <a:cs typeface="Segoe UI" pitchFamily="34" charset="-120"/>
              </a:rPr>
              <a:t>SCREENSHOT — DASHBOARD WITH AN ACTIVE ALERT</a:t>
            </a:r>
            <a:endParaRPr lang="en-US" sz="1100" dirty="0"/>
          </a:p>
        </p:txBody>
      </p:sp>
      <p:sp>
        <p:nvSpPr>
          <p:cNvPr id="18" name="Text 16"/>
          <p:cNvSpPr/>
          <p:nvPr/>
        </p:nvSpPr>
        <p:spPr>
          <a:xfrm>
            <a:off x="1207008" y="3273552"/>
            <a:ext cx="4078224" cy="822960"/>
          </a:xfrm>
          <a:prstGeom prst="rect">
            <a:avLst/>
          </a:prstGeom>
          <a:noFill/>
          <a:ln/>
        </p:spPr>
        <p:txBody>
          <a:bodyPr wrap="square" lIns="0" tIns="0" rIns="0" bIns="0" rtlCol="0" anchor="t"/>
          <a:lstStyle/>
          <a:p>
            <a:pPr marL="0" indent="0" algn="ctr">
              <a:lnSpc>
                <a:spcPts val="1400"/>
              </a:lnSpc>
              <a:buNone/>
            </a:pPr>
            <a:r>
              <a:rPr lang="en-US" sz="1000" dirty="0">
                <a:solidFill>
                  <a:srgbClr val="747B87"/>
                </a:solidFill>
                <a:latin typeface="Segoe UI" pitchFamily="34" charset="0"/>
                <a:ea typeface="Segoe UI" pitchFamily="34" charset="-122"/>
                <a:cs typeface="Segoe UI" pitchFamily="34" charset="-120"/>
              </a:rPr>
              <a:t>The full Dashboard during a period with errors: the pulsing banner, all five meter tiles with real numbers, both charts populated, and the recent-errors list.</a:t>
            </a:r>
            <a:endParaRPr lang="en-US" sz="1000" dirty="0"/>
          </a:p>
        </p:txBody>
      </p:sp>
      <p:sp>
        <p:nvSpPr>
          <p:cNvPr id="19" name="Text 17"/>
          <p:cNvSpPr/>
          <p:nvPr/>
        </p:nvSpPr>
        <p:spPr>
          <a:xfrm>
            <a:off x="932688" y="2176272"/>
            <a:ext cx="4626864" cy="274320"/>
          </a:xfrm>
          <a:prstGeom prst="rect">
            <a:avLst/>
          </a:prstGeom>
          <a:noFill/>
          <a:ln/>
        </p:spPr>
        <p:txBody>
          <a:bodyPr wrap="square" lIns="0" tIns="0" rIns="0" bIns="0" rtlCol="0" anchor="ctr"/>
          <a:lstStyle/>
          <a:p>
            <a:pPr marL="0" indent="0" algn="ctr">
              <a:buNone/>
            </a:pPr>
            <a:r>
              <a:rPr lang="en-US" sz="850" dirty="0">
                <a:solidFill>
                  <a:srgbClr val="747B87"/>
                </a:solidFill>
                <a:latin typeface="Consolas" pitchFamily="34" charset="0"/>
                <a:ea typeface="Consolas" pitchFamily="34" charset="-122"/>
                <a:cs typeface="Consolas" pitchFamily="34" charset="-120"/>
              </a:rPr>
              <a:t>drop the image here</a:t>
            </a:r>
            <a:endParaRPr lang="en-US" sz="850" dirty="0"/>
          </a:p>
        </p:txBody>
      </p:sp>
      <p:sp>
        <p:nvSpPr>
          <p:cNvPr id="20" name="card background">
            <a:extLst>
              <a:ext uri="{C183D7F6-B498-43B3-948B-1728B52AA6E4}">
                <adec:decorative xmlns:adec="http://schemas.microsoft.com/office/drawing/2017/decorative" val="1"/>
              </a:ext>
            </a:extLst>
          </p:cNvPr>
          <p:cNvSpPr/>
          <p:nvPr/>
        </p:nvSpPr>
        <p:spPr>
          <a:xfrm>
            <a:off x="6144768" y="1773936"/>
            <a:ext cx="2432304" cy="914400"/>
          </a:xfrm>
          <a:prstGeom prst="rect">
            <a:avLst/>
          </a:prstGeom>
          <a:solidFill>
            <a:srgbClr val="212429"/>
          </a:solidFill>
          <a:ln w="12700">
            <a:solidFill>
              <a:srgbClr val="343941"/>
            </a:solidFill>
            <a:prstDash val="solid"/>
          </a:ln>
        </p:spPr>
        <p:txBody>
          <a:bodyPr/>
          <a:lstStyle/>
          <a:p>
            <a:endParaRPr lang="en-SE"/>
          </a:p>
        </p:txBody>
      </p:sp>
      <p:sp>
        <p:nvSpPr>
          <p:cNvPr id="21" name="card accent edge">
            <a:extLst>
              <a:ext uri="{C183D7F6-B498-43B3-948B-1728B52AA6E4}">
                <adec:decorative xmlns:adec="http://schemas.microsoft.com/office/drawing/2017/decorative" val="1"/>
              </a:ext>
            </a:extLst>
          </p:cNvPr>
          <p:cNvSpPr/>
          <p:nvPr/>
        </p:nvSpPr>
        <p:spPr>
          <a:xfrm>
            <a:off x="6144768" y="1773936"/>
            <a:ext cx="50292" cy="914400"/>
          </a:xfrm>
          <a:prstGeom prst="rect">
            <a:avLst/>
          </a:prstGeom>
          <a:solidFill>
            <a:srgbClr val="E8A33D"/>
          </a:solidFill>
          <a:ln w="12700">
            <a:solidFill>
              <a:srgbClr val="333333"/>
            </a:solidFill>
            <a:prstDash val="solid"/>
          </a:ln>
        </p:spPr>
        <p:txBody>
          <a:bodyPr/>
          <a:lstStyle/>
          <a:p>
            <a:endParaRPr lang="en-SE"/>
          </a:p>
        </p:txBody>
      </p:sp>
      <p:sp>
        <p:nvSpPr>
          <p:cNvPr id="22" name="Text 20"/>
          <p:cNvSpPr/>
          <p:nvPr/>
        </p:nvSpPr>
        <p:spPr>
          <a:xfrm>
            <a:off x="6345936" y="1883664"/>
            <a:ext cx="2103120" cy="292608"/>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Alert banner</a:t>
            </a:r>
            <a:endParaRPr lang="en-US" sz="1150" dirty="0"/>
          </a:p>
        </p:txBody>
      </p:sp>
      <p:sp>
        <p:nvSpPr>
          <p:cNvPr id="23" name="Text 21"/>
          <p:cNvSpPr/>
          <p:nvPr/>
        </p:nvSpPr>
        <p:spPr>
          <a:xfrm>
            <a:off x="6345936" y="2139696"/>
            <a:ext cx="2103120" cy="475488"/>
          </a:xfrm>
          <a:prstGeom prst="rect">
            <a:avLst/>
          </a:prstGeom>
          <a:noFill/>
          <a:ln/>
        </p:spPr>
        <p:txBody>
          <a:bodyPr wrap="square" lIns="0" tIns="0" rIns="0" bIns="0" rtlCol="0" anchor="t"/>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Shown only when something is unacknowledged. No red at all is itself the signal.</a:t>
            </a:r>
            <a:endParaRPr lang="en-US" sz="900" dirty="0"/>
          </a:p>
        </p:txBody>
      </p:sp>
      <p:sp>
        <p:nvSpPr>
          <p:cNvPr id="24" name="card background">
            <a:extLst>
              <a:ext uri="{C183D7F6-B498-43B3-948B-1728B52AA6E4}">
                <adec:decorative xmlns:adec="http://schemas.microsoft.com/office/drawing/2017/decorative" val="1"/>
              </a:ext>
            </a:extLst>
          </p:cNvPr>
          <p:cNvSpPr/>
          <p:nvPr/>
        </p:nvSpPr>
        <p:spPr>
          <a:xfrm>
            <a:off x="6144768" y="2834640"/>
            <a:ext cx="2432304" cy="914400"/>
          </a:xfrm>
          <a:prstGeom prst="rect">
            <a:avLst/>
          </a:prstGeom>
          <a:solidFill>
            <a:srgbClr val="212429"/>
          </a:solidFill>
          <a:ln w="12700">
            <a:solidFill>
              <a:srgbClr val="343941"/>
            </a:solidFill>
            <a:prstDash val="solid"/>
          </a:ln>
        </p:spPr>
        <p:txBody>
          <a:bodyPr/>
          <a:lstStyle/>
          <a:p>
            <a:endParaRPr lang="en-SE"/>
          </a:p>
        </p:txBody>
      </p:sp>
      <p:sp>
        <p:nvSpPr>
          <p:cNvPr id="25" name="card accent edge">
            <a:extLst>
              <a:ext uri="{C183D7F6-B498-43B3-948B-1728B52AA6E4}">
                <adec:decorative xmlns:adec="http://schemas.microsoft.com/office/drawing/2017/decorative" val="1"/>
              </a:ext>
            </a:extLst>
          </p:cNvPr>
          <p:cNvSpPr/>
          <p:nvPr/>
        </p:nvSpPr>
        <p:spPr>
          <a:xfrm>
            <a:off x="6144768" y="2834640"/>
            <a:ext cx="50292" cy="914400"/>
          </a:xfrm>
          <a:prstGeom prst="rect">
            <a:avLst/>
          </a:prstGeom>
          <a:solidFill>
            <a:srgbClr val="E8A33D"/>
          </a:solidFill>
          <a:ln w="12700">
            <a:solidFill>
              <a:srgbClr val="333333"/>
            </a:solidFill>
            <a:prstDash val="solid"/>
          </a:ln>
        </p:spPr>
        <p:txBody>
          <a:bodyPr/>
          <a:lstStyle/>
          <a:p>
            <a:endParaRPr lang="en-SE"/>
          </a:p>
        </p:txBody>
      </p:sp>
      <p:sp>
        <p:nvSpPr>
          <p:cNvPr id="26" name="Text 24"/>
          <p:cNvSpPr/>
          <p:nvPr/>
        </p:nvSpPr>
        <p:spPr>
          <a:xfrm>
            <a:off x="6345936" y="2944368"/>
            <a:ext cx="2103120" cy="292608"/>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Five meters</a:t>
            </a:r>
            <a:endParaRPr lang="en-US" sz="1150" dirty="0"/>
          </a:p>
        </p:txBody>
      </p:sp>
      <p:sp>
        <p:nvSpPr>
          <p:cNvPr id="27" name="Text 25"/>
          <p:cNvSpPr/>
          <p:nvPr/>
        </p:nvSpPr>
        <p:spPr>
          <a:xfrm>
            <a:off x="6345936" y="3200400"/>
            <a:ext cx="2103120" cy="475488"/>
          </a:xfrm>
          <a:prstGeom prst="rect">
            <a:avLst/>
          </a:prstGeom>
          <a:noFill/>
          <a:ln/>
        </p:spPr>
        <p:txBody>
          <a:bodyPr wrap="square" lIns="0" tIns="0" rIns="0" bIns="0" rtlCol="0" anchor="t"/>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Total events, error rate per minute, warnings in 60 s, process count, server state.</a:t>
            </a:r>
            <a:endParaRPr lang="en-US" sz="900" dirty="0"/>
          </a:p>
        </p:txBody>
      </p:sp>
      <p:sp>
        <p:nvSpPr>
          <p:cNvPr id="28" name="card background">
            <a:extLst>
              <a:ext uri="{C183D7F6-B498-43B3-948B-1728B52AA6E4}">
                <adec:decorative xmlns:adec="http://schemas.microsoft.com/office/drawing/2017/decorative" val="1"/>
              </a:ext>
            </a:extLst>
          </p:cNvPr>
          <p:cNvSpPr/>
          <p:nvPr/>
        </p:nvSpPr>
        <p:spPr>
          <a:xfrm>
            <a:off x="6144768" y="3895344"/>
            <a:ext cx="2432304" cy="914400"/>
          </a:xfrm>
          <a:prstGeom prst="rect">
            <a:avLst/>
          </a:prstGeom>
          <a:solidFill>
            <a:srgbClr val="212429"/>
          </a:solidFill>
          <a:ln w="12700">
            <a:solidFill>
              <a:srgbClr val="343941"/>
            </a:solidFill>
            <a:prstDash val="solid"/>
          </a:ln>
        </p:spPr>
        <p:txBody>
          <a:bodyPr/>
          <a:lstStyle/>
          <a:p>
            <a:endParaRPr lang="en-SE"/>
          </a:p>
        </p:txBody>
      </p:sp>
      <p:sp>
        <p:nvSpPr>
          <p:cNvPr id="29" name="card accent edge">
            <a:extLst>
              <a:ext uri="{C183D7F6-B498-43B3-948B-1728B52AA6E4}">
                <adec:decorative xmlns:adec="http://schemas.microsoft.com/office/drawing/2017/decorative" val="1"/>
              </a:ext>
            </a:extLst>
          </p:cNvPr>
          <p:cNvSpPr/>
          <p:nvPr/>
        </p:nvSpPr>
        <p:spPr>
          <a:xfrm>
            <a:off x="6144768" y="3895344"/>
            <a:ext cx="50292" cy="914400"/>
          </a:xfrm>
          <a:prstGeom prst="rect">
            <a:avLst/>
          </a:prstGeom>
          <a:solidFill>
            <a:srgbClr val="E8A33D"/>
          </a:solidFill>
          <a:ln w="12700">
            <a:solidFill>
              <a:srgbClr val="333333"/>
            </a:solidFill>
            <a:prstDash val="solid"/>
          </a:ln>
        </p:spPr>
        <p:txBody>
          <a:bodyPr/>
          <a:lstStyle/>
          <a:p>
            <a:endParaRPr lang="en-SE"/>
          </a:p>
        </p:txBody>
      </p:sp>
      <p:sp>
        <p:nvSpPr>
          <p:cNvPr id="30" name="Text 28"/>
          <p:cNvSpPr/>
          <p:nvPr/>
        </p:nvSpPr>
        <p:spPr>
          <a:xfrm>
            <a:off x="6345936" y="4005072"/>
            <a:ext cx="2103120" cy="292608"/>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Two charts</a:t>
            </a:r>
            <a:endParaRPr lang="en-US" sz="1150" dirty="0"/>
          </a:p>
        </p:txBody>
      </p:sp>
      <p:sp>
        <p:nvSpPr>
          <p:cNvPr id="31" name="Text 29"/>
          <p:cNvSpPr/>
          <p:nvPr/>
        </p:nvSpPr>
        <p:spPr>
          <a:xfrm>
            <a:off x="6345936" y="4261104"/>
            <a:ext cx="2103120" cy="475488"/>
          </a:xfrm>
          <a:prstGeom prst="rect">
            <a:avLst/>
          </a:prstGeom>
          <a:noFill/>
          <a:ln/>
        </p:spPr>
        <p:txBody>
          <a:bodyPr wrap="square" lIns="0" tIns="0" rIns="0" bIns="0" rtlCol="0" anchor="t"/>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Events per minute over the last hour, and the processes producing the most errors.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OPERATOR CONSOLE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29</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Six views, six different questions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Each view exists to answer one question well. Knowing which one to open is most of the skill.</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2542032" cy="138988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2542032" cy="45720"/>
          </a:xfrm>
          <a:prstGeom prst="rect">
            <a:avLst/>
          </a:prstGeom>
          <a:solidFill>
            <a:srgbClr val="E8A33D"/>
          </a:solidFill>
          <a:ln w="12700">
            <a:solidFill>
              <a:srgbClr val="333333"/>
            </a:solidFill>
            <a:prstDash val="solid"/>
          </a:ln>
        </p:spPr>
        <p:txBody>
          <a:bodyPr/>
          <a:lstStyle/>
          <a:p>
            <a:endParaRPr lang="en-SE"/>
          </a:p>
        </p:txBody>
      </p:sp>
      <p:sp>
        <p:nvSpPr>
          <p:cNvPr id="10" name="view glyph tile">
            <a:extLst>
              <a:ext uri="{C183D7F6-B498-43B3-948B-1728B52AA6E4}">
                <adec:decorative xmlns:adec="http://schemas.microsoft.com/office/drawing/2017/decorative" val="1"/>
              </a:ext>
            </a:extLst>
          </p:cNvPr>
          <p:cNvSpPr/>
          <p:nvPr/>
        </p:nvSpPr>
        <p:spPr>
          <a:xfrm>
            <a:off x="768096" y="1956816"/>
            <a:ext cx="384048" cy="384048"/>
          </a:xfrm>
          <a:prstGeom prst="rect">
            <a:avLst/>
          </a:prstGeom>
          <a:solidFill>
            <a:srgbClr val="1B1E23"/>
          </a:solidFill>
          <a:ln w="12700">
            <a:solidFill>
              <a:srgbClr val="E8A33D"/>
            </a:solidFill>
            <a:prstDash val="solid"/>
          </a:ln>
        </p:spPr>
        <p:txBody>
          <a:bodyPr/>
          <a:lstStyle/>
          <a:p>
            <a:endParaRPr lang="en-SE"/>
          </a:p>
        </p:txBody>
      </p:sp>
      <p:sp>
        <p:nvSpPr>
          <p:cNvPr id="11" name="Text 9"/>
          <p:cNvSpPr/>
          <p:nvPr/>
        </p:nvSpPr>
        <p:spPr>
          <a:xfrm>
            <a:off x="768096" y="1956816"/>
            <a:ext cx="384048" cy="384048"/>
          </a:xfrm>
          <a:prstGeom prst="rect">
            <a:avLst/>
          </a:prstGeom>
          <a:noFill/>
          <a:ln/>
        </p:spPr>
        <p:txBody>
          <a:bodyPr wrap="square" lIns="0" tIns="0" rIns="0" bIns="0" rtlCol="0" anchor="ctr"/>
          <a:lstStyle/>
          <a:p>
            <a:pPr marL="0" indent="0" algn="ctr">
              <a:lnSpc>
                <a:spcPts val="1500"/>
              </a:lnSpc>
              <a:buNone/>
            </a:pPr>
            <a:r>
              <a:rPr lang="en-US" sz="1200" dirty="0">
                <a:solidFill>
                  <a:srgbClr val="E8A33D"/>
                </a:solidFill>
                <a:latin typeface="Consolas" pitchFamily="34" charset="0"/>
                <a:ea typeface="Consolas" pitchFamily="34" charset="-122"/>
                <a:cs typeface="Consolas" pitchFamily="34" charset="-120"/>
              </a:rPr>
              <a:t>▣</a:t>
            </a:r>
            <a:endParaRPr lang="en-US" sz="1200" dirty="0"/>
          </a:p>
        </p:txBody>
      </p:sp>
      <p:sp>
        <p:nvSpPr>
          <p:cNvPr id="12" name="Text 10"/>
          <p:cNvSpPr/>
          <p:nvPr/>
        </p:nvSpPr>
        <p:spPr>
          <a:xfrm>
            <a:off x="1261872" y="1975104"/>
            <a:ext cx="1645920"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Georgia" pitchFamily="34" charset="0"/>
                <a:ea typeface="Georgia" pitchFamily="34" charset="-122"/>
                <a:cs typeface="Georgia" pitchFamily="34" charset="-120"/>
              </a:rPr>
              <a:t>Dashboard</a:t>
            </a:r>
            <a:endParaRPr lang="en-US" sz="1400" dirty="0"/>
          </a:p>
        </p:txBody>
      </p:sp>
      <p:sp>
        <p:nvSpPr>
          <p:cNvPr id="13" name="Text 11"/>
          <p:cNvSpPr/>
          <p:nvPr/>
        </p:nvSpPr>
        <p:spPr>
          <a:xfrm>
            <a:off x="768096" y="2450592"/>
            <a:ext cx="2139696" cy="402336"/>
          </a:xfrm>
          <a:prstGeom prst="rect">
            <a:avLst/>
          </a:prstGeom>
          <a:noFill/>
          <a:ln/>
        </p:spPr>
        <p:txBody>
          <a:bodyPr wrap="square" lIns="0" tIns="0" rIns="0" bIns="0" rtlCol="0" anchor="t"/>
          <a:lstStyle/>
          <a:p>
            <a:pPr marL="0" indent="0" algn="l">
              <a:lnSpc>
                <a:spcPts val="1491"/>
              </a:lnSpc>
              <a:buNone/>
            </a:pPr>
            <a:r>
              <a:rPr lang="en-US" sz="1050" dirty="0">
                <a:solidFill>
                  <a:srgbClr val="EDEEF1"/>
                </a:solidFill>
                <a:latin typeface="Segoe UI" pitchFamily="34" charset="0"/>
                <a:ea typeface="Segoe UI" pitchFamily="34" charset="-122"/>
                <a:cs typeface="Segoe UI" pitchFamily="34" charset="-120"/>
              </a:rPr>
              <a:t>Is anything wrong right now?</a:t>
            </a:r>
            <a:endParaRPr lang="en-US" sz="1050" dirty="0"/>
          </a:p>
        </p:txBody>
      </p:sp>
      <p:sp>
        <p:nvSpPr>
          <p:cNvPr id="14" name="Text 12"/>
          <p:cNvSpPr/>
          <p:nvPr/>
        </p:nvSpPr>
        <p:spPr>
          <a:xfrm>
            <a:off x="768096" y="2871216"/>
            <a:ext cx="2139696" cy="219456"/>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refresh · Live + 15–30 s</a:t>
            </a:r>
            <a:endParaRPr lang="en-US" sz="850" dirty="0"/>
          </a:p>
        </p:txBody>
      </p:sp>
      <p:sp>
        <p:nvSpPr>
          <p:cNvPr id="15" name="card background">
            <a:extLst>
              <a:ext uri="{C183D7F6-B498-43B3-948B-1728B52AA6E4}">
                <adec:decorative xmlns:adec="http://schemas.microsoft.com/office/drawing/2017/decorative" val="1"/>
              </a:ext>
            </a:extLst>
          </p:cNvPr>
          <p:cNvSpPr/>
          <p:nvPr/>
        </p:nvSpPr>
        <p:spPr>
          <a:xfrm>
            <a:off x="3328416" y="1773936"/>
            <a:ext cx="2542032" cy="138988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6" name="card top accent">
            <a:extLst>
              <a:ext uri="{C183D7F6-B498-43B3-948B-1728B52AA6E4}">
                <adec:decorative xmlns:adec="http://schemas.microsoft.com/office/drawing/2017/decorative" val="1"/>
              </a:ext>
            </a:extLst>
          </p:cNvPr>
          <p:cNvSpPr/>
          <p:nvPr/>
        </p:nvSpPr>
        <p:spPr>
          <a:xfrm>
            <a:off x="3328416" y="1773936"/>
            <a:ext cx="2542032" cy="45720"/>
          </a:xfrm>
          <a:prstGeom prst="rect">
            <a:avLst/>
          </a:prstGeom>
          <a:solidFill>
            <a:srgbClr val="5E8CA8"/>
          </a:solidFill>
          <a:ln w="12700">
            <a:solidFill>
              <a:srgbClr val="333333"/>
            </a:solidFill>
            <a:prstDash val="solid"/>
          </a:ln>
        </p:spPr>
        <p:txBody>
          <a:bodyPr/>
          <a:lstStyle/>
          <a:p>
            <a:endParaRPr lang="en-SE"/>
          </a:p>
        </p:txBody>
      </p:sp>
      <p:sp>
        <p:nvSpPr>
          <p:cNvPr id="17" name="view glyph tile">
            <a:extLst>
              <a:ext uri="{C183D7F6-B498-43B3-948B-1728B52AA6E4}">
                <adec:decorative xmlns:adec="http://schemas.microsoft.com/office/drawing/2017/decorative" val="1"/>
              </a:ext>
            </a:extLst>
          </p:cNvPr>
          <p:cNvSpPr/>
          <p:nvPr/>
        </p:nvSpPr>
        <p:spPr>
          <a:xfrm>
            <a:off x="3529584" y="1956816"/>
            <a:ext cx="384048" cy="384048"/>
          </a:xfrm>
          <a:prstGeom prst="rect">
            <a:avLst/>
          </a:prstGeom>
          <a:solidFill>
            <a:srgbClr val="1B1E23"/>
          </a:solidFill>
          <a:ln w="12700">
            <a:solidFill>
              <a:srgbClr val="5E8CA8"/>
            </a:solidFill>
            <a:prstDash val="solid"/>
          </a:ln>
        </p:spPr>
        <p:txBody>
          <a:bodyPr/>
          <a:lstStyle/>
          <a:p>
            <a:endParaRPr lang="en-SE"/>
          </a:p>
        </p:txBody>
      </p:sp>
      <p:sp>
        <p:nvSpPr>
          <p:cNvPr id="18" name="Text 16"/>
          <p:cNvSpPr/>
          <p:nvPr/>
        </p:nvSpPr>
        <p:spPr>
          <a:xfrm>
            <a:off x="3529584" y="1956816"/>
            <a:ext cx="384048" cy="384048"/>
          </a:xfrm>
          <a:prstGeom prst="rect">
            <a:avLst/>
          </a:prstGeom>
          <a:noFill/>
          <a:ln/>
        </p:spPr>
        <p:txBody>
          <a:bodyPr wrap="square" lIns="0" tIns="0" rIns="0" bIns="0" rtlCol="0" anchor="ctr"/>
          <a:lstStyle/>
          <a:p>
            <a:pPr marL="0" indent="0" algn="ctr">
              <a:lnSpc>
                <a:spcPts val="1500"/>
              </a:lnSpc>
              <a:buNone/>
            </a:pPr>
            <a:r>
              <a:rPr lang="en-US" sz="1200" dirty="0">
                <a:solidFill>
                  <a:srgbClr val="5E8CA8"/>
                </a:solidFill>
                <a:latin typeface="Consolas" pitchFamily="34" charset="0"/>
                <a:ea typeface="Consolas" pitchFamily="34" charset="-122"/>
                <a:cs typeface="Consolas" pitchFamily="34" charset="-120"/>
              </a:rPr>
              <a:t>▤</a:t>
            </a:r>
            <a:endParaRPr lang="en-US" sz="1200" dirty="0"/>
          </a:p>
        </p:txBody>
      </p:sp>
      <p:sp>
        <p:nvSpPr>
          <p:cNvPr id="19" name="Text 17"/>
          <p:cNvSpPr/>
          <p:nvPr/>
        </p:nvSpPr>
        <p:spPr>
          <a:xfrm>
            <a:off x="4023360" y="1975104"/>
            <a:ext cx="1645920"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Georgia" pitchFamily="34" charset="0"/>
                <a:ea typeface="Georgia" pitchFamily="34" charset="-122"/>
                <a:cs typeface="Georgia" pitchFamily="34" charset="-120"/>
              </a:rPr>
              <a:t>Logs</a:t>
            </a:r>
            <a:endParaRPr lang="en-US" sz="1400" dirty="0"/>
          </a:p>
        </p:txBody>
      </p:sp>
      <p:sp>
        <p:nvSpPr>
          <p:cNvPr id="20" name="Text 18"/>
          <p:cNvSpPr/>
          <p:nvPr/>
        </p:nvSpPr>
        <p:spPr>
          <a:xfrm>
            <a:off x="3529584" y="2450592"/>
            <a:ext cx="2139696" cy="402336"/>
          </a:xfrm>
          <a:prstGeom prst="rect">
            <a:avLst/>
          </a:prstGeom>
          <a:noFill/>
          <a:ln/>
        </p:spPr>
        <p:txBody>
          <a:bodyPr wrap="square" lIns="0" tIns="0" rIns="0" bIns="0" rtlCol="0" anchor="t"/>
          <a:lstStyle/>
          <a:p>
            <a:pPr marL="0" indent="0" algn="l">
              <a:lnSpc>
                <a:spcPts val="1491"/>
              </a:lnSpc>
              <a:buNone/>
            </a:pPr>
            <a:r>
              <a:rPr lang="en-US" sz="1050" dirty="0">
                <a:solidFill>
                  <a:srgbClr val="EDEEF1"/>
                </a:solidFill>
                <a:latin typeface="Segoe UI" pitchFamily="34" charset="0"/>
                <a:ea typeface="Segoe UI" pitchFamily="34" charset="-122"/>
                <a:cs typeface="Segoe UI" pitchFamily="34" charset="-120"/>
              </a:rPr>
              <a:t>What exactly happened?</a:t>
            </a:r>
            <a:endParaRPr lang="en-US" sz="1050" dirty="0"/>
          </a:p>
        </p:txBody>
      </p:sp>
      <p:sp>
        <p:nvSpPr>
          <p:cNvPr id="21" name="Text 19"/>
          <p:cNvSpPr/>
          <p:nvPr/>
        </p:nvSpPr>
        <p:spPr>
          <a:xfrm>
            <a:off x="3529584" y="2871216"/>
            <a:ext cx="2139696" cy="219456"/>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refresh · Live tail or on demand</a:t>
            </a:r>
            <a:endParaRPr lang="en-US" sz="850" dirty="0"/>
          </a:p>
        </p:txBody>
      </p:sp>
      <p:sp>
        <p:nvSpPr>
          <p:cNvPr id="22" name="card background">
            <a:extLst>
              <a:ext uri="{C183D7F6-B498-43B3-948B-1728B52AA6E4}">
                <adec:decorative xmlns:adec="http://schemas.microsoft.com/office/drawing/2017/decorative" val="1"/>
              </a:ext>
            </a:extLst>
          </p:cNvPr>
          <p:cNvSpPr/>
          <p:nvPr/>
        </p:nvSpPr>
        <p:spPr>
          <a:xfrm>
            <a:off x="6089904" y="1773936"/>
            <a:ext cx="2542032" cy="138988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3" name="card top accent">
            <a:extLst>
              <a:ext uri="{C183D7F6-B498-43B3-948B-1728B52AA6E4}">
                <adec:decorative xmlns:adec="http://schemas.microsoft.com/office/drawing/2017/decorative" val="1"/>
              </a:ext>
            </a:extLst>
          </p:cNvPr>
          <p:cNvSpPr/>
          <p:nvPr/>
        </p:nvSpPr>
        <p:spPr>
          <a:xfrm>
            <a:off x="6089904" y="1773936"/>
            <a:ext cx="2542032" cy="45720"/>
          </a:xfrm>
          <a:prstGeom prst="rect">
            <a:avLst/>
          </a:prstGeom>
          <a:solidFill>
            <a:srgbClr val="C9584C"/>
          </a:solidFill>
          <a:ln w="12700">
            <a:solidFill>
              <a:srgbClr val="333333"/>
            </a:solidFill>
            <a:prstDash val="solid"/>
          </a:ln>
        </p:spPr>
        <p:txBody>
          <a:bodyPr/>
          <a:lstStyle/>
          <a:p>
            <a:endParaRPr lang="en-SE"/>
          </a:p>
        </p:txBody>
      </p:sp>
      <p:sp>
        <p:nvSpPr>
          <p:cNvPr id="24" name="view glyph tile">
            <a:extLst>
              <a:ext uri="{C183D7F6-B498-43B3-948B-1728B52AA6E4}">
                <adec:decorative xmlns:adec="http://schemas.microsoft.com/office/drawing/2017/decorative" val="1"/>
              </a:ext>
            </a:extLst>
          </p:cNvPr>
          <p:cNvSpPr/>
          <p:nvPr/>
        </p:nvSpPr>
        <p:spPr>
          <a:xfrm>
            <a:off x="6291072" y="1956816"/>
            <a:ext cx="384048" cy="384048"/>
          </a:xfrm>
          <a:prstGeom prst="rect">
            <a:avLst/>
          </a:prstGeom>
          <a:solidFill>
            <a:srgbClr val="1B1E23"/>
          </a:solidFill>
          <a:ln w="12700">
            <a:solidFill>
              <a:srgbClr val="C9584C"/>
            </a:solidFill>
            <a:prstDash val="solid"/>
          </a:ln>
        </p:spPr>
        <p:txBody>
          <a:bodyPr/>
          <a:lstStyle/>
          <a:p>
            <a:endParaRPr lang="en-SE"/>
          </a:p>
        </p:txBody>
      </p:sp>
      <p:sp>
        <p:nvSpPr>
          <p:cNvPr id="25" name="Text 23"/>
          <p:cNvSpPr/>
          <p:nvPr/>
        </p:nvSpPr>
        <p:spPr>
          <a:xfrm>
            <a:off x="6291072" y="1956816"/>
            <a:ext cx="384048" cy="384048"/>
          </a:xfrm>
          <a:prstGeom prst="rect">
            <a:avLst/>
          </a:prstGeom>
          <a:noFill/>
          <a:ln/>
        </p:spPr>
        <p:txBody>
          <a:bodyPr wrap="square" lIns="0" tIns="0" rIns="0" bIns="0" rtlCol="0" anchor="ctr"/>
          <a:lstStyle/>
          <a:p>
            <a:pPr marL="0" indent="0" algn="ctr">
              <a:lnSpc>
                <a:spcPts val="1500"/>
              </a:lnSpc>
              <a:buNone/>
            </a:pPr>
            <a:r>
              <a:rPr lang="en-US" sz="1200" dirty="0">
                <a:solidFill>
                  <a:srgbClr val="C9584C"/>
                </a:solidFill>
                <a:latin typeface="Consolas" pitchFamily="34" charset="0"/>
                <a:ea typeface="Consolas" pitchFamily="34" charset="-122"/>
                <a:cs typeface="Consolas" pitchFamily="34" charset="-120"/>
              </a:rPr>
              <a:t>⚠</a:t>
            </a:r>
            <a:endParaRPr lang="en-US" sz="1200" dirty="0"/>
          </a:p>
        </p:txBody>
      </p:sp>
      <p:sp>
        <p:nvSpPr>
          <p:cNvPr id="26" name="Text 24"/>
          <p:cNvSpPr/>
          <p:nvPr/>
        </p:nvSpPr>
        <p:spPr>
          <a:xfrm>
            <a:off x="6784848" y="1975104"/>
            <a:ext cx="1645920"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Georgia" pitchFamily="34" charset="0"/>
                <a:ea typeface="Georgia" pitchFamily="34" charset="-122"/>
                <a:cs typeface="Georgia" pitchFamily="34" charset="-120"/>
              </a:rPr>
              <a:t>Alerts</a:t>
            </a:r>
            <a:endParaRPr lang="en-US" sz="1400" dirty="0"/>
          </a:p>
        </p:txBody>
      </p:sp>
      <p:sp>
        <p:nvSpPr>
          <p:cNvPr id="27" name="Text 25"/>
          <p:cNvSpPr/>
          <p:nvPr/>
        </p:nvSpPr>
        <p:spPr>
          <a:xfrm>
            <a:off x="6291072" y="2450592"/>
            <a:ext cx="2139696" cy="402336"/>
          </a:xfrm>
          <a:prstGeom prst="rect">
            <a:avLst/>
          </a:prstGeom>
          <a:noFill/>
          <a:ln/>
        </p:spPr>
        <p:txBody>
          <a:bodyPr wrap="square" lIns="0" tIns="0" rIns="0" bIns="0" rtlCol="0" anchor="t"/>
          <a:lstStyle/>
          <a:p>
            <a:pPr marL="0" indent="0" algn="l">
              <a:lnSpc>
                <a:spcPts val="1491"/>
              </a:lnSpc>
              <a:buNone/>
            </a:pPr>
            <a:r>
              <a:rPr lang="en-US" sz="1050" dirty="0">
                <a:solidFill>
                  <a:srgbClr val="EDEEF1"/>
                </a:solidFill>
                <a:latin typeface="Segoe UI" pitchFamily="34" charset="0"/>
                <a:ea typeface="Segoe UI" pitchFamily="34" charset="-122"/>
                <a:cs typeface="Segoe UI" pitchFamily="34" charset="-120"/>
              </a:rPr>
              <a:t>What is outstanding, and who has it?</a:t>
            </a:r>
            <a:endParaRPr lang="en-US" sz="1050" dirty="0"/>
          </a:p>
        </p:txBody>
      </p:sp>
      <p:sp>
        <p:nvSpPr>
          <p:cNvPr id="28" name="Text 26"/>
          <p:cNvSpPr/>
          <p:nvPr/>
        </p:nvSpPr>
        <p:spPr>
          <a:xfrm>
            <a:off x="6291072" y="2871216"/>
            <a:ext cx="2139696" cy="219456"/>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refresh · 10 s</a:t>
            </a:r>
            <a:endParaRPr lang="en-US" sz="850" dirty="0"/>
          </a:p>
        </p:txBody>
      </p:sp>
      <p:sp>
        <p:nvSpPr>
          <p:cNvPr id="29" name="card background">
            <a:extLst>
              <a:ext uri="{C183D7F6-B498-43B3-948B-1728B52AA6E4}">
                <adec:decorative xmlns:adec="http://schemas.microsoft.com/office/drawing/2017/decorative" val="1"/>
              </a:ext>
            </a:extLst>
          </p:cNvPr>
          <p:cNvSpPr/>
          <p:nvPr/>
        </p:nvSpPr>
        <p:spPr>
          <a:xfrm>
            <a:off x="566928" y="3346704"/>
            <a:ext cx="2542032" cy="138988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30" name="card top accent">
            <a:extLst>
              <a:ext uri="{C183D7F6-B498-43B3-948B-1728B52AA6E4}">
                <adec:decorative xmlns:adec="http://schemas.microsoft.com/office/drawing/2017/decorative" val="1"/>
              </a:ext>
            </a:extLst>
          </p:cNvPr>
          <p:cNvSpPr/>
          <p:nvPr/>
        </p:nvSpPr>
        <p:spPr>
          <a:xfrm>
            <a:off x="566928" y="3346704"/>
            <a:ext cx="2542032" cy="45720"/>
          </a:xfrm>
          <a:prstGeom prst="rect">
            <a:avLst/>
          </a:prstGeom>
          <a:solidFill>
            <a:srgbClr val="6FA88A"/>
          </a:solidFill>
          <a:ln w="12700">
            <a:solidFill>
              <a:srgbClr val="333333"/>
            </a:solidFill>
            <a:prstDash val="solid"/>
          </a:ln>
        </p:spPr>
        <p:txBody>
          <a:bodyPr/>
          <a:lstStyle/>
          <a:p>
            <a:endParaRPr lang="en-SE"/>
          </a:p>
        </p:txBody>
      </p:sp>
      <p:sp>
        <p:nvSpPr>
          <p:cNvPr id="31" name="view glyph tile">
            <a:extLst>
              <a:ext uri="{C183D7F6-B498-43B3-948B-1728B52AA6E4}">
                <adec:decorative xmlns:adec="http://schemas.microsoft.com/office/drawing/2017/decorative" val="1"/>
              </a:ext>
            </a:extLst>
          </p:cNvPr>
          <p:cNvSpPr/>
          <p:nvPr/>
        </p:nvSpPr>
        <p:spPr>
          <a:xfrm>
            <a:off x="768096" y="3529584"/>
            <a:ext cx="384048" cy="384048"/>
          </a:xfrm>
          <a:prstGeom prst="rect">
            <a:avLst/>
          </a:prstGeom>
          <a:solidFill>
            <a:srgbClr val="1B1E23"/>
          </a:solidFill>
          <a:ln w="12700">
            <a:solidFill>
              <a:srgbClr val="6FA88A"/>
            </a:solidFill>
            <a:prstDash val="solid"/>
          </a:ln>
        </p:spPr>
        <p:txBody>
          <a:bodyPr/>
          <a:lstStyle/>
          <a:p>
            <a:endParaRPr lang="en-SE"/>
          </a:p>
        </p:txBody>
      </p:sp>
      <p:sp>
        <p:nvSpPr>
          <p:cNvPr id="32" name="Text 30"/>
          <p:cNvSpPr/>
          <p:nvPr/>
        </p:nvSpPr>
        <p:spPr>
          <a:xfrm>
            <a:off x="768096" y="3529584"/>
            <a:ext cx="384048" cy="384048"/>
          </a:xfrm>
          <a:prstGeom prst="rect">
            <a:avLst/>
          </a:prstGeom>
          <a:noFill/>
          <a:ln/>
        </p:spPr>
        <p:txBody>
          <a:bodyPr wrap="square" lIns="0" tIns="0" rIns="0" bIns="0" rtlCol="0" anchor="ctr"/>
          <a:lstStyle/>
          <a:p>
            <a:pPr marL="0" indent="0" algn="ctr">
              <a:lnSpc>
                <a:spcPts val="1500"/>
              </a:lnSpc>
              <a:buNone/>
            </a:pPr>
            <a:r>
              <a:rPr lang="en-US" sz="1200" dirty="0">
                <a:solidFill>
                  <a:srgbClr val="6FA88A"/>
                </a:solidFill>
                <a:latin typeface="Consolas" pitchFamily="34" charset="0"/>
                <a:ea typeface="Consolas" pitchFamily="34" charset="-122"/>
                <a:cs typeface="Consolas" pitchFamily="34" charset="-120"/>
              </a:rPr>
              <a:t>◈</a:t>
            </a:r>
            <a:endParaRPr lang="en-US" sz="1200" dirty="0"/>
          </a:p>
        </p:txBody>
      </p:sp>
      <p:sp>
        <p:nvSpPr>
          <p:cNvPr id="33" name="Text 31"/>
          <p:cNvSpPr/>
          <p:nvPr/>
        </p:nvSpPr>
        <p:spPr>
          <a:xfrm>
            <a:off x="1261872" y="3547872"/>
            <a:ext cx="1645920"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Georgia" pitchFamily="34" charset="0"/>
                <a:ea typeface="Georgia" pitchFamily="34" charset="-122"/>
                <a:cs typeface="Georgia" pitchFamily="34" charset="-120"/>
              </a:rPr>
              <a:t>Processes</a:t>
            </a:r>
            <a:endParaRPr lang="en-US" sz="1400" dirty="0"/>
          </a:p>
        </p:txBody>
      </p:sp>
      <p:sp>
        <p:nvSpPr>
          <p:cNvPr id="34" name="Text 32"/>
          <p:cNvSpPr/>
          <p:nvPr/>
        </p:nvSpPr>
        <p:spPr>
          <a:xfrm>
            <a:off x="768096" y="4023360"/>
            <a:ext cx="2139696" cy="402336"/>
          </a:xfrm>
          <a:prstGeom prst="rect">
            <a:avLst/>
          </a:prstGeom>
          <a:noFill/>
          <a:ln/>
        </p:spPr>
        <p:txBody>
          <a:bodyPr wrap="square" lIns="0" tIns="0" rIns="0" bIns="0" rtlCol="0" anchor="t"/>
          <a:lstStyle/>
          <a:p>
            <a:pPr marL="0" indent="0" algn="l">
              <a:lnSpc>
                <a:spcPts val="1491"/>
              </a:lnSpc>
              <a:buNone/>
            </a:pPr>
            <a:r>
              <a:rPr lang="en-US" sz="1050" dirty="0">
                <a:solidFill>
                  <a:srgbClr val="EDEEF1"/>
                </a:solidFill>
                <a:latin typeface="Segoe UI" pitchFamily="34" charset="0"/>
                <a:ea typeface="Segoe UI" pitchFamily="34" charset="-122"/>
                <a:cs typeface="Segoe UI" pitchFamily="34" charset="-120"/>
              </a:rPr>
              <a:t>Is everything still reporting in?</a:t>
            </a:r>
            <a:endParaRPr lang="en-US" sz="1050" dirty="0"/>
          </a:p>
        </p:txBody>
      </p:sp>
      <p:sp>
        <p:nvSpPr>
          <p:cNvPr id="35" name="Text 33"/>
          <p:cNvSpPr/>
          <p:nvPr/>
        </p:nvSpPr>
        <p:spPr>
          <a:xfrm>
            <a:off x="768096" y="4443984"/>
            <a:ext cx="2139696" cy="219456"/>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refresh · 10 s</a:t>
            </a:r>
            <a:endParaRPr lang="en-US" sz="850" dirty="0"/>
          </a:p>
        </p:txBody>
      </p:sp>
      <p:sp>
        <p:nvSpPr>
          <p:cNvPr id="36" name="card background">
            <a:extLst>
              <a:ext uri="{C183D7F6-B498-43B3-948B-1728B52AA6E4}">
                <adec:decorative xmlns:adec="http://schemas.microsoft.com/office/drawing/2017/decorative" val="1"/>
              </a:ext>
            </a:extLst>
          </p:cNvPr>
          <p:cNvSpPr/>
          <p:nvPr/>
        </p:nvSpPr>
        <p:spPr>
          <a:xfrm>
            <a:off x="3328416" y="3346704"/>
            <a:ext cx="2542032" cy="138988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37" name="card top accent">
            <a:extLst>
              <a:ext uri="{C183D7F6-B498-43B3-948B-1728B52AA6E4}">
                <adec:decorative xmlns:adec="http://schemas.microsoft.com/office/drawing/2017/decorative" val="1"/>
              </a:ext>
            </a:extLst>
          </p:cNvPr>
          <p:cNvSpPr/>
          <p:nvPr/>
        </p:nvSpPr>
        <p:spPr>
          <a:xfrm>
            <a:off x="3328416" y="3346704"/>
            <a:ext cx="2542032" cy="45720"/>
          </a:xfrm>
          <a:prstGeom prst="rect">
            <a:avLst/>
          </a:prstGeom>
          <a:solidFill>
            <a:srgbClr val="8A7EA8"/>
          </a:solidFill>
          <a:ln w="12700">
            <a:solidFill>
              <a:srgbClr val="333333"/>
            </a:solidFill>
            <a:prstDash val="solid"/>
          </a:ln>
        </p:spPr>
        <p:txBody>
          <a:bodyPr/>
          <a:lstStyle/>
          <a:p>
            <a:endParaRPr lang="en-SE"/>
          </a:p>
        </p:txBody>
      </p:sp>
      <p:sp>
        <p:nvSpPr>
          <p:cNvPr id="38" name="view glyph tile">
            <a:extLst>
              <a:ext uri="{C183D7F6-B498-43B3-948B-1728B52AA6E4}">
                <adec:decorative xmlns:adec="http://schemas.microsoft.com/office/drawing/2017/decorative" val="1"/>
              </a:ext>
            </a:extLst>
          </p:cNvPr>
          <p:cNvSpPr/>
          <p:nvPr/>
        </p:nvSpPr>
        <p:spPr>
          <a:xfrm>
            <a:off x="3529584" y="3529584"/>
            <a:ext cx="384048" cy="384048"/>
          </a:xfrm>
          <a:prstGeom prst="rect">
            <a:avLst/>
          </a:prstGeom>
          <a:solidFill>
            <a:srgbClr val="1B1E23"/>
          </a:solidFill>
          <a:ln w="12700">
            <a:solidFill>
              <a:srgbClr val="8A7EA8"/>
            </a:solidFill>
            <a:prstDash val="solid"/>
          </a:ln>
        </p:spPr>
        <p:txBody>
          <a:bodyPr/>
          <a:lstStyle/>
          <a:p>
            <a:endParaRPr lang="en-SE"/>
          </a:p>
        </p:txBody>
      </p:sp>
      <p:sp>
        <p:nvSpPr>
          <p:cNvPr id="39" name="Text 37"/>
          <p:cNvSpPr/>
          <p:nvPr/>
        </p:nvSpPr>
        <p:spPr>
          <a:xfrm>
            <a:off x="3529584" y="3529584"/>
            <a:ext cx="384048" cy="384048"/>
          </a:xfrm>
          <a:prstGeom prst="rect">
            <a:avLst/>
          </a:prstGeom>
          <a:noFill/>
          <a:ln/>
        </p:spPr>
        <p:txBody>
          <a:bodyPr wrap="square" lIns="0" tIns="0" rIns="0" bIns="0" rtlCol="0" anchor="ctr"/>
          <a:lstStyle/>
          <a:p>
            <a:pPr marL="0" indent="0" algn="ctr">
              <a:lnSpc>
                <a:spcPts val="1500"/>
              </a:lnSpc>
              <a:buNone/>
            </a:pPr>
            <a:r>
              <a:rPr lang="en-US" sz="1200" dirty="0">
                <a:solidFill>
                  <a:srgbClr val="8A7EA8"/>
                </a:solidFill>
                <a:latin typeface="Consolas" pitchFamily="34" charset="0"/>
                <a:ea typeface="Consolas" pitchFamily="34" charset="-122"/>
                <a:cs typeface="Consolas" pitchFamily="34" charset="-120"/>
              </a:rPr>
              <a:t>⚕</a:t>
            </a:r>
            <a:endParaRPr lang="en-US" sz="1200" dirty="0"/>
          </a:p>
        </p:txBody>
      </p:sp>
      <p:sp>
        <p:nvSpPr>
          <p:cNvPr id="40" name="Text 38"/>
          <p:cNvSpPr/>
          <p:nvPr/>
        </p:nvSpPr>
        <p:spPr>
          <a:xfrm>
            <a:off x="4023360" y="3547872"/>
            <a:ext cx="1645920"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Georgia" pitchFamily="34" charset="0"/>
                <a:ea typeface="Georgia" pitchFamily="34" charset="-122"/>
                <a:cs typeface="Georgia" pitchFamily="34" charset="-120"/>
              </a:rPr>
              <a:t>Diagnostics</a:t>
            </a:r>
            <a:endParaRPr lang="en-US" sz="1400" dirty="0"/>
          </a:p>
        </p:txBody>
      </p:sp>
      <p:sp>
        <p:nvSpPr>
          <p:cNvPr id="41" name="Text 39"/>
          <p:cNvSpPr/>
          <p:nvPr/>
        </p:nvSpPr>
        <p:spPr>
          <a:xfrm>
            <a:off x="3529584" y="4023360"/>
            <a:ext cx="2139696" cy="402336"/>
          </a:xfrm>
          <a:prstGeom prst="rect">
            <a:avLst/>
          </a:prstGeom>
          <a:noFill/>
          <a:ln/>
        </p:spPr>
        <p:txBody>
          <a:bodyPr wrap="square" lIns="0" tIns="0" rIns="0" bIns="0" rtlCol="0" anchor="t"/>
          <a:lstStyle/>
          <a:p>
            <a:pPr marL="0" indent="0" algn="l">
              <a:lnSpc>
                <a:spcPts val="1491"/>
              </a:lnSpc>
              <a:buNone/>
            </a:pPr>
            <a:r>
              <a:rPr lang="en-US" sz="1050" dirty="0">
                <a:solidFill>
                  <a:srgbClr val="EDEEF1"/>
                </a:solidFill>
                <a:latin typeface="Segoe UI" pitchFamily="34" charset="0"/>
                <a:ea typeface="Segoe UI" pitchFamily="34" charset="-122"/>
                <a:cs typeface="Segoe UI" pitchFamily="34" charset="-120"/>
              </a:rPr>
              <a:t>What would the diagnose rules say?</a:t>
            </a:r>
            <a:endParaRPr lang="en-US" sz="1050" dirty="0"/>
          </a:p>
        </p:txBody>
      </p:sp>
      <p:sp>
        <p:nvSpPr>
          <p:cNvPr id="42" name="Text 40"/>
          <p:cNvSpPr/>
          <p:nvPr/>
        </p:nvSpPr>
        <p:spPr>
          <a:xfrm>
            <a:off x="3529584" y="4443984"/>
            <a:ext cx="2139696" cy="219456"/>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refresh · 60 s</a:t>
            </a:r>
            <a:endParaRPr lang="en-US" sz="850" dirty="0"/>
          </a:p>
        </p:txBody>
      </p:sp>
      <p:sp>
        <p:nvSpPr>
          <p:cNvPr id="43" name="card background">
            <a:extLst>
              <a:ext uri="{C183D7F6-B498-43B3-948B-1728B52AA6E4}">
                <adec:decorative xmlns:adec="http://schemas.microsoft.com/office/drawing/2017/decorative" val="1"/>
              </a:ext>
            </a:extLst>
          </p:cNvPr>
          <p:cNvSpPr/>
          <p:nvPr/>
        </p:nvSpPr>
        <p:spPr>
          <a:xfrm>
            <a:off x="6089904" y="3346704"/>
            <a:ext cx="2542032" cy="138988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44" name="card top accent">
            <a:extLst>
              <a:ext uri="{C183D7F6-B498-43B3-948B-1728B52AA6E4}">
                <adec:decorative xmlns:adec="http://schemas.microsoft.com/office/drawing/2017/decorative" val="1"/>
              </a:ext>
            </a:extLst>
          </p:cNvPr>
          <p:cNvSpPr/>
          <p:nvPr/>
        </p:nvSpPr>
        <p:spPr>
          <a:xfrm>
            <a:off x="6089904" y="3346704"/>
            <a:ext cx="2542032" cy="45720"/>
          </a:xfrm>
          <a:prstGeom prst="rect">
            <a:avLst/>
          </a:prstGeom>
          <a:solidFill>
            <a:srgbClr val="7F8AA0"/>
          </a:solidFill>
          <a:ln w="12700">
            <a:solidFill>
              <a:srgbClr val="333333"/>
            </a:solidFill>
            <a:prstDash val="solid"/>
          </a:ln>
        </p:spPr>
        <p:txBody>
          <a:bodyPr/>
          <a:lstStyle/>
          <a:p>
            <a:endParaRPr lang="en-SE"/>
          </a:p>
        </p:txBody>
      </p:sp>
      <p:sp>
        <p:nvSpPr>
          <p:cNvPr id="45" name="view glyph tile">
            <a:extLst>
              <a:ext uri="{C183D7F6-B498-43B3-948B-1728B52AA6E4}">
                <adec:decorative xmlns:adec="http://schemas.microsoft.com/office/drawing/2017/decorative" val="1"/>
              </a:ext>
            </a:extLst>
          </p:cNvPr>
          <p:cNvSpPr/>
          <p:nvPr/>
        </p:nvSpPr>
        <p:spPr>
          <a:xfrm>
            <a:off x="6291072" y="3529584"/>
            <a:ext cx="384048" cy="384048"/>
          </a:xfrm>
          <a:prstGeom prst="rect">
            <a:avLst/>
          </a:prstGeom>
          <a:solidFill>
            <a:srgbClr val="1B1E23"/>
          </a:solidFill>
          <a:ln w="12700">
            <a:solidFill>
              <a:srgbClr val="7F8AA0"/>
            </a:solidFill>
            <a:prstDash val="solid"/>
          </a:ln>
        </p:spPr>
        <p:txBody>
          <a:bodyPr/>
          <a:lstStyle/>
          <a:p>
            <a:endParaRPr lang="en-SE"/>
          </a:p>
        </p:txBody>
      </p:sp>
      <p:sp>
        <p:nvSpPr>
          <p:cNvPr id="46" name="Text 44"/>
          <p:cNvSpPr/>
          <p:nvPr/>
        </p:nvSpPr>
        <p:spPr>
          <a:xfrm>
            <a:off x="6291072" y="3529584"/>
            <a:ext cx="384048" cy="384048"/>
          </a:xfrm>
          <a:prstGeom prst="rect">
            <a:avLst/>
          </a:prstGeom>
          <a:noFill/>
          <a:ln/>
        </p:spPr>
        <p:txBody>
          <a:bodyPr wrap="square" lIns="0" tIns="0" rIns="0" bIns="0" rtlCol="0" anchor="ctr"/>
          <a:lstStyle/>
          <a:p>
            <a:pPr marL="0" indent="0" algn="ctr">
              <a:lnSpc>
                <a:spcPts val="1500"/>
              </a:lnSpc>
              <a:buNone/>
            </a:pPr>
            <a:r>
              <a:rPr lang="en-US" sz="1200" dirty="0">
                <a:solidFill>
                  <a:srgbClr val="7F8AA0"/>
                </a:solidFill>
                <a:latin typeface="Consolas" pitchFamily="34" charset="0"/>
                <a:ea typeface="Consolas" pitchFamily="34" charset="-122"/>
                <a:cs typeface="Consolas" pitchFamily="34" charset="-120"/>
              </a:rPr>
              <a:t>♥</a:t>
            </a:r>
            <a:endParaRPr lang="en-US" sz="1200" dirty="0"/>
          </a:p>
        </p:txBody>
      </p:sp>
      <p:sp>
        <p:nvSpPr>
          <p:cNvPr id="47" name="Text 45"/>
          <p:cNvSpPr/>
          <p:nvPr/>
        </p:nvSpPr>
        <p:spPr>
          <a:xfrm>
            <a:off x="6784848" y="3547872"/>
            <a:ext cx="1645920" cy="292608"/>
          </a:xfrm>
          <a:prstGeom prst="rect">
            <a:avLst/>
          </a:prstGeom>
          <a:noFill/>
          <a:ln/>
        </p:spPr>
        <p:txBody>
          <a:bodyPr wrap="square" lIns="0" tIns="0" rIns="0" bIns="0" rtlCol="0" anchor="ctr"/>
          <a:lstStyle/>
          <a:p>
            <a:pPr marL="0" indent="0" algn="l">
              <a:buNone/>
            </a:pPr>
            <a:r>
              <a:rPr lang="en-US" sz="1400" b="1" dirty="0">
                <a:solidFill>
                  <a:srgbClr val="EDEEF1"/>
                </a:solidFill>
                <a:latin typeface="Georgia" pitchFamily="34" charset="0"/>
                <a:ea typeface="Georgia" pitchFamily="34" charset="-122"/>
                <a:cs typeface="Georgia" pitchFamily="34" charset="-120"/>
              </a:rPr>
              <a:t>Health</a:t>
            </a:r>
            <a:endParaRPr lang="en-US" sz="1400" dirty="0"/>
          </a:p>
        </p:txBody>
      </p:sp>
      <p:sp>
        <p:nvSpPr>
          <p:cNvPr id="48" name="Text 46"/>
          <p:cNvSpPr/>
          <p:nvPr/>
        </p:nvSpPr>
        <p:spPr>
          <a:xfrm>
            <a:off x="6291072" y="4023360"/>
            <a:ext cx="2139696" cy="402336"/>
          </a:xfrm>
          <a:prstGeom prst="rect">
            <a:avLst/>
          </a:prstGeom>
          <a:noFill/>
          <a:ln/>
        </p:spPr>
        <p:txBody>
          <a:bodyPr wrap="square" lIns="0" tIns="0" rIns="0" bIns="0" rtlCol="0" anchor="t"/>
          <a:lstStyle/>
          <a:p>
            <a:pPr marL="0" indent="0" algn="l">
              <a:lnSpc>
                <a:spcPts val="1491"/>
              </a:lnSpc>
              <a:buNone/>
            </a:pPr>
            <a:r>
              <a:rPr lang="en-US" sz="1050" dirty="0">
                <a:solidFill>
                  <a:srgbClr val="EDEEF1"/>
                </a:solidFill>
                <a:latin typeface="Segoe UI" pitchFamily="34" charset="0"/>
                <a:ea typeface="Segoe UI" pitchFamily="34" charset="-122"/>
                <a:cs typeface="Segoe UI" pitchFamily="34" charset="-120"/>
              </a:rPr>
              <a:t>Which component is degraded?</a:t>
            </a:r>
            <a:endParaRPr lang="en-US" sz="1050" dirty="0"/>
          </a:p>
        </p:txBody>
      </p:sp>
      <p:sp>
        <p:nvSpPr>
          <p:cNvPr id="49" name="Text 47"/>
          <p:cNvSpPr/>
          <p:nvPr/>
        </p:nvSpPr>
        <p:spPr>
          <a:xfrm>
            <a:off x="6291072" y="4443984"/>
            <a:ext cx="2139696" cy="219456"/>
          </a:xfrm>
          <a:prstGeom prst="rect">
            <a:avLst/>
          </a:prstGeom>
          <a:noFill/>
          <a:ln/>
        </p:spPr>
        <p:txBody>
          <a:bodyPr wrap="square" lIns="0" tIns="0" rIns="0" bIns="0" rtlCol="0" anchor="t"/>
          <a:lstStyle/>
          <a:p>
            <a:pPr marL="0" indent="0" algn="l">
              <a:lnSpc>
                <a:spcPts val="1207"/>
              </a:lnSpc>
              <a:buNone/>
            </a:pPr>
            <a:r>
              <a:rPr lang="en-US" sz="850" dirty="0">
                <a:solidFill>
                  <a:srgbClr val="747B87"/>
                </a:solidFill>
                <a:latin typeface="Segoe UI" pitchFamily="34" charset="0"/>
                <a:ea typeface="Segoe UI" pitchFamily="34" charset="-122"/>
                <a:cs typeface="Segoe UI" pitchFamily="34" charset="-120"/>
              </a:rPr>
              <a:t>refresh · 10–30 s</a:t>
            </a:r>
            <a:endParaRPr lang="en-US" sz="850" dirty="0"/>
          </a:p>
        </p:txBody>
      </p:sp>
      <p:sp>
        <p:nvSpPr>
          <p:cNvPr id="50" name="Text 48"/>
          <p:cNvSpPr/>
          <p:nvPr/>
        </p:nvSpPr>
        <p:spPr>
          <a:xfrm>
            <a:off x="566928" y="4850892"/>
            <a:ext cx="8010144" cy="292608"/>
          </a:xfrm>
          <a:prstGeom prst="rect">
            <a:avLst/>
          </a:prstGeom>
          <a:noFill/>
          <a:ln/>
        </p:spPr>
        <p:txBody>
          <a:bodyPr wrap="square" lIns="0" tIns="0" rIns="0" bIns="0" rtlCol="0" anchor="t"/>
          <a:lstStyle/>
          <a:p>
            <a:pPr marL="0" indent="0" algn="ctr">
              <a:lnSpc>
                <a:spcPts val="1349"/>
              </a:lnSpc>
              <a:buNone/>
            </a:pPr>
            <a:r>
              <a:rPr lang="en-US" sz="950" i="1" dirty="0">
                <a:solidFill>
                  <a:srgbClr val="747B87"/>
                </a:solidFill>
                <a:latin typeface="Segoe UI" pitchFamily="34" charset="0"/>
                <a:ea typeface="Segoe UI" pitchFamily="34" charset="-122"/>
                <a:cs typeface="Segoe UI" pitchFamily="34" charset="-120"/>
              </a:rPr>
              <a:t>The rule of thumb: Dashboard to notice, Logs to investigate, Alerts to coordinate, Health to explain why a view is empty.</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ANALYSIS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30</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Reading the error-rate meter</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The tile shows a word and a colour, not just a number — because “18 errors a minute” means nothing until you know what this venue considers busy.</a:t>
            </a:r>
            <a:endParaRPr lang="en-US" sz="1250" dirty="0"/>
          </a:p>
        </p:txBody>
      </p:sp>
      <p:sp>
        <p:nvSpPr>
          <p:cNvPr id="8" name="error rate band">
            <a:extLst>
              <a:ext uri="{C183D7F6-B498-43B3-948B-1728B52AA6E4}">
                <adec:decorative xmlns:adec="http://schemas.microsoft.com/office/drawing/2017/decorative" val="1"/>
              </a:ext>
            </a:extLst>
          </p:cNvPr>
          <p:cNvSpPr/>
          <p:nvPr/>
        </p:nvSpPr>
        <p:spPr>
          <a:xfrm>
            <a:off x="566928" y="1883664"/>
            <a:ext cx="1762232" cy="457200"/>
          </a:xfrm>
          <a:prstGeom prst="rect">
            <a:avLst/>
          </a:prstGeom>
          <a:solidFill>
            <a:srgbClr val="4E5A6B"/>
          </a:solidFill>
          <a:ln w="12700">
            <a:solidFill>
              <a:srgbClr val="333333"/>
            </a:solidFill>
            <a:prstDash val="solid"/>
          </a:ln>
        </p:spPr>
        <p:txBody>
          <a:bodyPr/>
          <a:lstStyle/>
          <a:p>
            <a:endParaRPr lang="en-SE"/>
          </a:p>
        </p:txBody>
      </p:sp>
      <p:sp>
        <p:nvSpPr>
          <p:cNvPr id="9" name="Text 7"/>
          <p:cNvSpPr/>
          <p:nvPr/>
        </p:nvSpPr>
        <p:spPr>
          <a:xfrm>
            <a:off x="566928" y="1883664"/>
            <a:ext cx="1762232" cy="457200"/>
          </a:xfrm>
          <a:prstGeom prst="rect">
            <a:avLst/>
          </a:prstGeom>
          <a:noFill/>
          <a:ln/>
        </p:spPr>
        <p:txBody>
          <a:bodyPr wrap="square" lIns="0" tIns="0" rIns="0" bIns="0" rtlCol="0" anchor="ctr"/>
          <a:lstStyle/>
          <a:p>
            <a:pPr marL="0" indent="0" algn="ctr">
              <a:lnSpc>
                <a:spcPts val="1491"/>
              </a:lnSpc>
              <a:buNone/>
            </a:pPr>
            <a:r>
              <a:rPr lang="en-US" sz="1050" b="1" dirty="0">
                <a:solidFill>
                  <a:srgbClr val="15161A"/>
                </a:solidFill>
                <a:latin typeface="Segoe UI" pitchFamily="34" charset="0"/>
                <a:ea typeface="Segoe UI" pitchFamily="34" charset="-122"/>
                <a:cs typeface="Segoe UI" pitchFamily="34" charset="-120"/>
              </a:rPr>
              <a:t>NORMAL</a:t>
            </a:r>
            <a:endParaRPr lang="en-US" sz="1050" dirty="0"/>
          </a:p>
        </p:txBody>
      </p:sp>
      <p:sp>
        <p:nvSpPr>
          <p:cNvPr id="10" name="Text 8"/>
          <p:cNvSpPr/>
          <p:nvPr/>
        </p:nvSpPr>
        <p:spPr>
          <a:xfrm>
            <a:off x="566928" y="2432304"/>
            <a:ext cx="1762232" cy="237744"/>
          </a:xfrm>
          <a:prstGeom prst="rect">
            <a:avLst/>
          </a:prstGeom>
          <a:noFill/>
          <a:ln/>
        </p:spPr>
        <p:txBody>
          <a:bodyPr wrap="square" lIns="0" tIns="0" rIns="0" bIns="0" rtlCol="0" anchor="ctr"/>
          <a:lstStyle/>
          <a:p>
            <a:pPr marL="0" indent="0" algn="ctr">
              <a:lnSpc>
                <a:spcPts val="1500"/>
              </a:lnSpc>
              <a:buNone/>
            </a:pPr>
            <a:r>
              <a:rPr lang="en-US" sz="900" dirty="0">
                <a:solidFill>
                  <a:srgbClr val="4E5A6B"/>
                </a:solidFill>
                <a:latin typeface="Consolas" pitchFamily="34" charset="0"/>
                <a:ea typeface="Consolas" pitchFamily="34" charset="-122"/>
                <a:cs typeface="Consolas" pitchFamily="34" charset="-120"/>
              </a:rPr>
              <a:t>under 5 / min</a:t>
            </a:r>
            <a:endParaRPr lang="en-US" sz="900" dirty="0"/>
          </a:p>
        </p:txBody>
      </p:sp>
      <p:sp>
        <p:nvSpPr>
          <p:cNvPr id="11" name="Text 9"/>
          <p:cNvSpPr/>
          <p:nvPr/>
        </p:nvSpPr>
        <p:spPr>
          <a:xfrm>
            <a:off x="658368" y="2743200"/>
            <a:ext cx="1579352" cy="640080"/>
          </a:xfrm>
          <a:prstGeom prst="rect">
            <a:avLst/>
          </a:prstGeom>
          <a:noFill/>
          <a:ln/>
        </p:spPr>
        <p:txBody>
          <a:bodyPr wrap="square" lIns="0" tIns="0" rIns="0" bIns="0" rtlCol="0" anchor="t"/>
          <a:lstStyle/>
          <a:p>
            <a:pPr marL="0" indent="0" algn="ctr">
              <a:lnSpc>
                <a:spcPts val="1349"/>
              </a:lnSpc>
              <a:buNone/>
            </a:pPr>
            <a:r>
              <a:rPr lang="en-US" sz="950" dirty="0">
                <a:solidFill>
                  <a:srgbClr val="A3A9B4"/>
                </a:solidFill>
                <a:latin typeface="Segoe UI" pitchFamily="34" charset="0"/>
                <a:ea typeface="Segoe UI" pitchFamily="34" charset="-122"/>
                <a:cs typeface="Segoe UI" pitchFamily="34" charset="-120"/>
              </a:rPr>
              <a:t>Background noise. Nothing to do.</a:t>
            </a:r>
            <a:endParaRPr lang="en-US" sz="950" dirty="0"/>
          </a:p>
        </p:txBody>
      </p:sp>
      <p:sp>
        <p:nvSpPr>
          <p:cNvPr id="12" name="error rate band">
            <a:extLst>
              <a:ext uri="{C183D7F6-B498-43B3-948B-1728B52AA6E4}">
                <adec:decorative xmlns:adec="http://schemas.microsoft.com/office/drawing/2017/decorative" val="1"/>
              </a:ext>
            </a:extLst>
          </p:cNvPr>
          <p:cNvSpPr/>
          <p:nvPr/>
        </p:nvSpPr>
        <p:spPr>
          <a:xfrm>
            <a:off x="2329160" y="1883664"/>
            <a:ext cx="2082637" cy="457200"/>
          </a:xfrm>
          <a:prstGeom prst="rect">
            <a:avLst/>
          </a:prstGeom>
          <a:solidFill>
            <a:srgbClr val="E8A33D"/>
          </a:solidFill>
          <a:ln w="12700">
            <a:solidFill>
              <a:srgbClr val="333333"/>
            </a:solidFill>
            <a:prstDash val="solid"/>
          </a:ln>
        </p:spPr>
        <p:txBody>
          <a:bodyPr/>
          <a:lstStyle/>
          <a:p>
            <a:endParaRPr lang="en-SE"/>
          </a:p>
        </p:txBody>
      </p:sp>
      <p:sp>
        <p:nvSpPr>
          <p:cNvPr id="13" name="Text 11"/>
          <p:cNvSpPr/>
          <p:nvPr/>
        </p:nvSpPr>
        <p:spPr>
          <a:xfrm>
            <a:off x="2329160" y="1883664"/>
            <a:ext cx="2082637" cy="457200"/>
          </a:xfrm>
          <a:prstGeom prst="rect">
            <a:avLst/>
          </a:prstGeom>
          <a:noFill/>
          <a:ln/>
        </p:spPr>
        <p:txBody>
          <a:bodyPr wrap="square" lIns="0" tIns="0" rIns="0" bIns="0" rtlCol="0" anchor="ctr"/>
          <a:lstStyle/>
          <a:p>
            <a:pPr marL="0" indent="0" algn="ctr">
              <a:lnSpc>
                <a:spcPts val="1491"/>
              </a:lnSpc>
              <a:buNone/>
            </a:pPr>
            <a:r>
              <a:rPr lang="en-US" sz="1050" b="1" dirty="0">
                <a:solidFill>
                  <a:srgbClr val="15161A"/>
                </a:solidFill>
                <a:latin typeface="Segoe UI" pitchFamily="34" charset="0"/>
                <a:ea typeface="Segoe UI" pitchFamily="34" charset="-122"/>
                <a:cs typeface="Segoe UI" pitchFamily="34" charset="-120"/>
              </a:rPr>
              <a:t>ELEVATED</a:t>
            </a:r>
            <a:endParaRPr lang="en-US" sz="1050" dirty="0"/>
          </a:p>
        </p:txBody>
      </p:sp>
      <p:sp>
        <p:nvSpPr>
          <p:cNvPr id="14" name="Text 12"/>
          <p:cNvSpPr/>
          <p:nvPr/>
        </p:nvSpPr>
        <p:spPr>
          <a:xfrm>
            <a:off x="2329160" y="2432304"/>
            <a:ext cx="2082637" cy="237744"/>
          </a:xfrm>
          <a:prstGeom prst="rect">
            <a:avLst/>
          </a:prstGeom>
          <a:noFill/>
          <a:ln/>
        </p:spPr>
        <p:txBody>
          <a:bodyPr wrap="square" lIns="0" tIns="0" rIns="0" bIns="0" rtlCol="0" anchor="ctr"/>
          <a:lstStyle/>
          <a:p>
            <a:pPr marL="0" indent="0" algn="ctr">
              <a:lnSpc>
                <a:spcPts val="1500"/>
              </a:lnSpc>
              <a:buNone/>
            </a:pPr>
            <a:r>
              <a:rPr lang="en-US" sz="900" dirty="0">
                <a:solidFill>
                  <a:srgbClr val="E8A33D"/>
                </a:solidFill>
                <a:latin typeface="Consolas" pitchFamily="34" charset="0"/>
                <a:ea typeface="Consolas" pitchFamily="34" charset="-122"/>
                <a:cs typeface="Consolas" pitchFamily="34" charset="-120"/>
              </a:rPr>
              <a:t>5 – 19 / min</a:t>
            </a:r>
            <a:endParaRPr lang="en-US" sz="900" dirty="0"/>
          </a:p>
        </p:txBody>
      </p:sp>
      <p:sp>
        <p:nvSpPr>
          <p:cNvPr id="15" name="Text 13"/>
          <p:cNvSpPr/>
          <p:nvPr/>
        </p:nvSpPr>
        <p:spPr>
          <a:xfrm>
            <a:off x="2420600" y="2743200"/>
            <a:ext cx="1899757" cy="640080"/>
          </a:xfrm>
          <a:prstGeom prst="rect">
            <a:avLst/>
          </a:prstGeom>
          <a:noFill/>
          <a:ln/>
        </p:spPr>
        <p:txBody>
          <a:bodyPr wrap="square" lIns="0" tIns="0" rIns="0" bIns="0" rtlCol="0" anchor="t"/>
          <a:lstStyle/>
          <a:p>
            <a:pPr marL="0" indent="0" algn="ctr">
              <a:lnSpc>
                <a:spcPts val="1349"/>
              </a:lnSpc>
              <a:buNone/>
            </a:pPr>
            <a:r>
              <a:rPr lang="en-US" sz="950" dirty="0">
                <a:solidFill>
                  <a:srgbClr val="A3A9B4"/>
                </a:solidFill>
                <a:latin typeface="Segoe UI" pitchFamily="34" charset="0"/>
                <a:ea typeface="Segoe UI" pitchFamily="34" charset="-122"/>
                <a:cs typeface="Segoe UI" pitchFamily="34" charset="-120"/>
              </a:rPr>
              <a:t>Worth a glance at the Logs view.</a:t>
            </a:r>
            <a:endParaRPr lang="en-US" sz="950" dirty="0"/>
          </a:p>
        </p:txBody>
      </p:sp>
      <p:sp>
        <p:nvSpPr>
          <p:cNvPr id="16" name="error rate band">
            <a:extLst>
              <a:ext uri="{C183D7F6-B498-43B3-948B-1728B52AA6E4}">
                <adec:decorative xmlns:adec="http://schemas.microsoft.com/office/drawing/2017/decorative" val="1"/>
              </a:ext>
            </a:extLst>
          </p:cNvPr>
          <p:cNvSpPr/>
          <p:nvPr/>
        </p:nvSpPr>
        <p:spPr>
          <a:xfrm>
            <a:off x="4411797" y="1883664"/>
            <a:ext cx="2082637" cy="457200"/>
          </a:xfrm>
          <a:prstGeom prst="rect">
            <a:avLst/>
          </a:prstGeom>
          <a:solidFill>
            <a:srgbClr val="C97A4C"/>
          </a:solidFill>
          <a:ln w="12700">
            <a:solidFill>
              <a:srgbClr val="333333"/>
            </a:solidFill>
            <a:prstDash val="solid"/>
          </a:ln>
        </p:spPr>
        <p:txBody>
          <a:bodyPr/>
          <a:lstStyle/>
          <a:p>
            <a:endParaRPr lang="en-SE"/>
          </a:p>
        </p:txBody>
      </p:sp>
      <p:sp>
        <p:nvSpPr>
          <p:cNvPr id="17" name="Text 15"/>
          <p:cNvSpPr/>
          <p:nvPr/>
        </p:nvSpPr>
        <p:spPr>
          <a:xfrm>
            <a:off x="4411797" y="1883664"/>
            <a:ext cx="2082637" cy="457200"/>
          </a:xfrm>
          <a:prstGeom prst="rect">
            <a:avLst/>
          </a:prstGeom>
          <a:noFill/>
          <a:ln/>
        </p:spPr>
        <p:txBody>
          <a:bodyPr wrap="square" lIns="0" tIns="0" rIns="0" bIns="0" rtlCol="0" anchor="ctr"/>
          <a:lstStyle/>
          <a:p>
            <a:pPr marL="0" indent="0" algn="ctr">
              <a:lnSpc>
                <a:spcPts val="1491"/>
              </a:lnSpc>
              <a:buNone/>
            </a:pPr>
            <a:r>
              <a:rPr lang="en-US" sz="1050" b="1" dirty="0">
                <a:solidFill>
                  <a:srgbClr val="15161A"/>
                </a:solidFill>
                <a:latin typeface="Segoe UI" pitchFamily="34" charset="0"/>
                <a:ea typeface="Segoe UI" pitchFamily="34" charset="-122"/>
                <a:cs typeface="Segoe UI" pitchFamily="34" charset="-120"/>
              </a:rPr>
              <a:t>HIGH</a:t>
            </a:r>
            <a:endParaRPr lang="en-US" sz="1050" dirty="0"/>
          </a:p>
        </p:txBody>
      </p:sp>
      <p:sp>
        <p:nvSpPr>
          <p:cNvPr id="18" name="Text 16"/>
          <p:cNvSpPr/>
          <p:nvPr/>
        </p:nvSpPr>
        <p:spPr>
          <a:xfrm>
            <a:off x="4411797" y="2432304"/>
            <a:ext cx="2082637" cy="237744"/>
          </a:xfrm>
          <a:prstGeom prst="rect">
            <a:avLst/>
          </a:prstGeom>
          <a:noFill/>
          <a:ln/>
        </p:spPr>
        <p:txBody>
          <a:bodyPr wrap="square" lIns="0" tIns="0" rIns="0" bIns="0" rtlCol="0" anchor="ctr"/>
          <a:lstStyle/>
          <a:p>
            <a:pPr marL="0" indent="0" algn="ctr">
              <a:lnSpc>
                <a:spcPts val="1500"/>
              </a:lnSpc>
              <a:buNone/>
            </a:pPr>
            <a:r>
              <a:rPr lang="en-US" sz="900" dirty="0">
                <a:solidFill>
                  <a:srgbClr val="C97A4C"/>
                </a:solidFill>
                <a:latin typeface="Consolas" pitchFamily="34" charset="0"/>
                <a:ea typeface="Consolas" pitchFamily="34" charset="-122"/>
                <a:cs typeface="Consolas" pitchFamily="34" charset="-120"/>
              </a:rPr>
              <a:t>20 – 99 / min</a:t>
            </a:r>
            <a:endParaRPr lang="en-US" sz="900" dirty="0"/>
          </a:p>
        </p:txBody>
      </p:sp>
      <p:sp>
        <p:nvSpPr>
          <p:cNvPr id="19" name="Text 17"/>
          <p:cNvSpPr/>
          <p:nvPr/>
        </p:nvSpPr>
        <p:spPr>
          <a:xfrm>
            <a:off x="4503237" y="2743200"/>
            <a:ext cx="1899757" cy="640080"/>
          </a:xfrm>
          <a:prstGeom prst="rect">
            <a:avLst/>
          </a:prstGeom>
          <a:noFill/>
          <a:ln/>
        </p:spPr>
        <p:txBody>
          <a:bodyPr wrap="square" lIns="0" tIns="0" rIns="0" bIns="0" rtlCol="0" anchor="t"/>
          <a:lstStyle/>
          <a:p>
            <a:pPr marL="0" indent="0" algn="ctr">
              <a:lnSpc>
                <a:spcPts val="1349"/>
              </a:lnSpc>
              <a:buNone/>
            </a:pPr>
            <a:r>
              <a:rPr lang="en-US" sz="950" dirty="0">
                <a:solidFill>
                  <a:srgbClr val="A3A9B4"/>
                </a:solidFill>
                <a:latin typeface="Segoe UI" pitchFamily="34" charset="0"/>
                <a:ea typeface="Segoe UI" pitchFamily="34" charset="-122"/>
                <a:cs typeface="Segoe UI" pitchFamily="34" charset="-120"/>
              </a:rPr>
              <a:t>Something is genuinely wrong. Investigate now.</a:t>
            </a:r>
            <a:endParaRPr lang="en-US" sz="950" dirty="0"/>
          </a:p>
        </p:txBody>
      </p:sp>
      <p:sp>
        <p:nvSpPr>
          <p:cNvPr id="20" name="error rate band">
            <a:extLst>
              <a:ext uri="{C183D7F6-B498-43B3-948B-1728B52AA6E4}">
                <adec:decorative xmlns:adec="http://schemas.microsoft.com/office/drawing/2017/decorative" val="1"/>
              </a:ext>
            </a:extLst>
          </p:cNvPr>
          <p:cNvSpPr/>
          <p:nvPr/>
        </p:nvSpPr>
        <p:spPr>
          <a:xfrm>
            <a:off x="6494435" y="1883664"/>
            <a:ext cx="2082637" cy="457200"/>
          </a:xfrm>
          <a:prstGeom prst="rect">
            <a:avLst/>
          </a:prstGeom>
          <a:solidFill>
            <a:srgbClr val="C9584C"/>
          </a:solidFill>
          <a:ln w="12700">
            <a:solidFill>
              <a:srgbClr val="333333"/>
            </a:solidFill>
            <a:prstDash val="solid"/>
          </a:ln>
        </p:spPr>
        <p:txBody>
          <a:bodyPr/>
          <a:lstStyle/>
          <a:p>
            <a:endParaRPr lang="en-SE"/>
          </a:p>
        </p:txBody>
      </p:sp>
      <p:sp>
        <p:nvSpPr>
          <p:cNvPr id="21" name="Text 19"/>
          <p:cNvSpPr/>
          <p:nvPr/>
        </p:nvSpPr>
        <p:spPr>
          <a:xfrm>
            <a:off x="6494435" y="1883664"/>
            <a:ext cx="2082637" cy="457200"/>
          </a:xfrm>
          <a:prstGeom prst="rect">
            <a:avLst/>
          </a:prstGeom>
          <a:noFill/>
          <a:ln/>
        </p:spPr>
        <p:txBody>
          <a:bodyPr wrap="square" lIns="0" tIns="0" rIns="0" bIns="0" rtlCol="0" anchor="ctr"/>
          <a:lstStyle/>
          <a:p>
            <a:pPr marL="0" indent="0" algn="ctr">
              <a:lnSpc>
                <a:spcPts val="1491"/>
              </a:lnSpc>
              <a:buNone/>
            </a:pPr>
            <a:r>
              <a:rPr lang="en-US" sz="1050" b="1" dirty="0">
                <a:solidFill>
                  <a:srgbClr val="15161A"/>
                </a:solidFill>
                <a:latin typeface="Segoe UI" pitchFamily="34" charset="0"/>
                <a:ea typeface="Segoe UI" pitchFamily="34" charset="-122"/>
                <a:cs typeface="Segoe UI" pitchFamily="34" charset="-120"/>
              </a:rPr>
              <a:t>SEVERE</a:t>
            </a:r>
            <a:endParaRPr lang="en-US" sz="1050" dirty="0"/>
          </a:p>
        </p:txBody>
      </p:sp>
      <p:sp>
        <p:nvSpPr>
          <p:cNvPr id="22" name="Text 20"/>
          <p:cNvSpPr/>
          <p:nvPr/>
        </p:nvSpPr>
        <p:spPr>
          <a:xfrm>
            <a:off x="6494435" y="2432304"/>
            <a:ext cx="2082637" cy="237744"/>
          </a:xfrm>
          <a:prstGeom prst="rect">
            <a:avLst/>
          </a:prstGeom>
          <a:noFill/>
          <a:ln/>
        </p:spPr>
        <p:txBody>
          <a:bodyPr wrap="square" lIns="0" tIns="0" rIns="0" bIns="0" rtlCol="0" anchor="ctr"/>
          <a:lstStyle/>
          <a:p>
            <a:pPr marL="0" indent="0" algn="ctr">
              <a:lnSpc>
                <a:spcPts val="1500"/>
              </a:lnSpc>
              <a:buNone/>
            </a:pPr>
            <a:r>
              <a:rPr lang="en-US" sz="900" dirty="0">
                <a:solidFill>
                  <a:srgbClr val="C9584C"/>
                </a:solidFill>
                <a:latin typeface="Consolas" pitchFamily="34" charset="0"/>
                <a:ea typeface="Consolas" pitchFamily="34" charset="-122"/>
                <a:cs typeface="Consolas" pitchFamily="34" charset="-120"/>
              </a:rPr>
              <a:t>100+ / min</a:t>
            </a:r>
            <a:endParaRPr lang="en-US" sz="900" dirty="0"/>
          </a:p>
        </p:txBody>
      </p:sp>
      <p:sp>
        <p:nvSpPr>
          <p:cNvPr id="23" name="Text 21"/>
          <p:cNvSpPr/>
          <p:nvPr/>
        </p:nvSpPr>
        <p:spPr>
          <a:xfrm>
            <a:off x="6585875" y="2743200"/>
            <a:ext cx="1899757" cy="640080"/>
          </a:xfrm>
          <a:prstGeom prst="rect">
            <a:avLst/>
          </a:prstGeom>
          <a:noFill/>
          <a:ln/>
        </p:spPr>
        <p:txBody>
          <a:bodyPr wrap="square" lIns="0" tIns="0" rIns="0" bIns="0" rtlCol="0" anchor="t"/>
          <a:lstStyle/>
          <a:p>
            <a:pPr marL="0" indent="0" algn="ctr">
              <a:lnSpc>
                <a:spcPts val="1349"/>
              </a:lnSpc>
              <a:buNone/>
            </a:pPr>
            <a:r>
              <a:rPr lang="en-US" sz="950" dirty="0">
                <a:solidFill>
                  <a:srgbClr val="A3A9B4"/>
                </a:solidFill>
                <a:latin typeface="Segoe UI" pitchFamily="34" charset="0"/>
                <a:ea typeface="Segoe UI" pitchFamily="34" charset="-122"/>
                <a:cs typeface="Segoe UI" pitchFamily="34" charset="-120"/>
              </a:rPr>
              <a:t>A component is failing repeatedly. Escalate.</a:t>
            </a:r>
            <a:endParaRPr lang="en-US" sz="950" dirty="0"/>
          </a:p>
        </p:txBody>
      </p:sp>
      <p:sp>
        <p:nvSpPr>
          <p:cNvPr id="24" name="card background">
            <a:extLst>
              <a:ext uri="{C183D7F6-B498-43B3-948B-1728B52AA6E4}">
                <adec:decorative xmlns:adec="http://schemas.microsoft.com/office/drawing/2017/decorative" val="1"/>
              </a:ext>
            </a:extLst>
          </p:cNvPr>
          <p:cNvSpPr/>
          <p:nvPr/>
        </p:nvSpPr>
        <p:spPr>
          <a:xfrm>
            <a:off x="566928" y="3529584"/>
            <a:ext cx="3877056" cy="1316736"/>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5" name="card accent edge">
            <a:extLst>
              <a:ext uri="{C183D7F6-B498-43B3-948B-1728B52AA6E4}">
                <adec:decorative xmlns:adec="http://schemas.microsoft.com/office/drawing/2017/decorative" val="1"/>
              </a:ext>
            </a:extLst>
          </p:cNvPr>
          <p:cNvSpPr/>
          <p:nvPr/>
        </p:nvSpPr>
        <p:spPr>
          <a:xfrm>
            <a:off x="566928" y="3529584"/>
            <a:ext cx="50292" cy="1316736"/>
          </a:xfrm>
          <a:prstGeom prst="rect">
            <a:avLst/>
          </a:prstGeom>
          <a:solidFill>
            <a:srgbClr val="E8A33D"/>
          </a:solidFill>
          <a:ln w="12700">
            <a:solidFill>
              <a:srgbClr val="333333"/>
            </a:solidFill>
            <a:prstDash val="solid"/>
          </a:ln>
        </p:spPr>
        <p:txBody>
          <a:bodyPr/>
          <a:lstStyle/>
          <a:p>
            <a:endParaRPr lang="en-SE"/>
          </a:p>
        </p:txBody>
      </p:sp>
      <p:sp>
        <p:nvSpPr>
          <p:cNvPr id="26" name="Text 24"/>
          <p:cNvSpPr/>
          <p:nvPr/>
        </p:nvSpPr>
        <p:spPr>
          <a:xfrm>
            <a:off x="804672" y="3657600"/>
            <a:ext cx="3474720" cy="219456"/>
          </a:xfrm>
          <a:prstGeom prst="rect">
            <a:avLst/>
          </a:prstGeom>
          <a:noFill/>
          <a:ln/>
        </p:spPr>
        <p:txBody>
          <a:bodyPr wrap="square" lIns="0" tIns="0" rIns="0" bIns="0" rtlCol="0" anchor="ctr"/>
          <a:lstStyle/>
          <a:p>
            <a:pPr marL="0" indent="0" algn="l">
              <a:buNone/>
            </a:pPr>
            <a:r>
              <a:rPr lang="en-US" sz="850" b="1" kern="0" spc="180" dirty="0">
                <a:solidFill>
                  <a:srgbClr val="E8A33D"/>
                </a:solidFill>
                <a:latin typeface="Segoe UI" pitchFamily="34" charset="0"/>
                <a:ea typeface="Segoe UI" pitchFamily="34" charset="-122"/>
                <a:cs typeface="Segoe UI" pitchFamily="34" charset="-120"/>
              </a:rPr>
              <a:t>THE THRESHOLDS ARE YOURS TO SET</a:t>
            </a:r>
            <a:endParaRPr lang="en-US" sz="850" dirty="0"/>
          </a:p>
        </p:txBody>
      </p:sp>
      <p:sp>
        <p:nvSpPr>
          <p:cNvPr id="27" name="Text 25"/>
          <p:cNvSpPr/>
          <p:nvPr/>
        </p:nvSpPr>
        <p:spPr>
          <a:xfrm>
            <a:off x="804672" y="3931920"/>
            <a:ext cx="3474720" cy="786384"/>
          </a:xfrm>
          <a:prstGeom prst="rect">
            <a:avLst/>
          </a:prstGeom>
          <a:noFill/>
          <a:ln/>
        </p:spPr>
        <p:txBody>
          <a:bodyPr wrap="square" lIns="0" tIns="0" rIns="0" bIns="0" rtlCol="0" anchor="t"/>
          <a:lstStyle/>
          <a:p>
            <a:pPr marL="0" indent="0" algn="l">
              <a:lnSpc>
                <a:spcPts val="1400"/>
              </a:lnSpc>
              <a:buNone/>
            </a:pPr>
            <a:r>
              <a:rPr lang="en-US" sz="900" dirty="0">
                <a:solidFill>
                  <a:srgbClr val="F6C978"/>
                </a:solidFill>
                <a:latin typeface="Consolas" pitchFamily="34" charset="0"/>
                <a:ea typeface="Consolas" pitchFamily="34" charset="-122"/>
                <a:cs typeface="Consolas" pitchFamily="34" charset="-120"/>
              </a:rPr>
              <a:t>ERROR_RATE_NORMAL_PER_MIN=5</a:t>
            </a:r>
            <a:endParaRPr lang="en-US" sz="900" dirty="0"/>
          </a:p>
          <a:p>
            <a:pPr marL="0" indent="0" algn="l">
              <a:lnSpc>
                <a:spcPts val="1400"/>
              </a:lnSpc>
              <a:buNone/>
            </a:pPr>
            <a:r>
              <a:rPr lang="en-US" sz="900" dirty="0">
                <a:solidFill>
                  <a:srgbClr val="F6C978"/>
                </a:solidFill>
                <a:latin typeface="Consolas" pitchFamily="34" charset="0"/>
                <a:ea typeface="Consolas" pitchFamily="34" charset="-122"/>
                <a:cs typeface="Consolas" pitchFamily="34" charset="-120"/>
              </a:rPr>
              <a:t>ERROR_RATE_ELEVATED_PER_MIN=20</a:t>
            </a:r>
            <a:endParaRPr lang="en-US" sz="900" dirty="0"/>
          </a:p>
          <a:p>
            <a:pPr marL="0" indent="0" algn="l">
              <a:lnSpc>
                <a:spcPts val="1400"/>
              </a:lnSpc>
              <a:buNone/>
            </a:pPr>
            <a:r>
              <a:rPr lang="en-US" sz="900" dirty="0">
                <a:solidFill>
                  <a:srgbClr val="F6C978"/>
                </a:solidFill>
                <a:latin typeface="Consolas" pitchFamily="34" charset="0"/>
                <a:ea typeface="Consolas" pitchFamily="34" charset="-122"/>
                <a:cs typeface="Consolas" pitchFamily="34" charset="-120"/>
              </a:rPr>
              <a:t>ERROR_RATE_SEVERE_PER_MIN=100</a:t>
            </a:r>
            <a:endParaRPr lang="en-US" sz="900" dirty="0"/>
          </a:p>
        </p:txBody>
      </p:sp>
      <p:sp>
        <p:nvSpPr>
          <p:cNvPr id="28" name="card background">
            <a:extLst>
              <a:ext uri="{C183D7F6-B498-43B3-948B-1728B52AA6E4}">
                <adec:decorative xmlns:adec="http://schemas.microsoft.com/office/drawing/2017/decorative" val="1"/>
              </a:ext>
            </a:extLst>
          </p:cNvPr>
          <p:cNvSpPr/>
          <p:nvPr/>
        </p:nvSpPr>
        <p:spPr>
          <a:xfrm>
            <a:off x="4700016" y="3529584"/>
            <a:ext cx="3877056" cy="1316736"/>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9" name="card accent edge">
            <a:extLst>
              <a:ext uri="{C183D7F6-B498-43B3-948B-1728B52AA6E4}">
                <adec:decorative xmlns:adec="http://schemas.microsoft.com/office/drawing/2017/decorative" val="1"/>
              </a:ext>
            </a:extLst>
          </p:cNvPr>
          <p:cNvSpPr/>
          <p:nvPr/>
        </p:nvSpPr>
        <p:spPr>
          <a:xfrm>
            <a:off x="4700016" y="3529584"/>
            <a:ext cx="50292" cy="1316736"/>
          </a:xfrm>
          <a:prstGeom prst="rect">
            <a:avLst/>
          </a:prstGeom>
          <a:solidFill>
            <a:srgbClr val="5E8CA8"/>
          </a:solidFill>
          <a:ln w="12700">
            <a:solidFill>
              <a:srgbClr val="333333"/>
            </a:solidFill>
            <a:prstDash val="solid"/>
          </a:ln>
        </p:spPr>
        <p:txBody>
          <a:bodyPr/>
          <a:lstStyle/>
          <a:p>
            <a:endParaRPr lang="en-SE"/>
          </a:p>
        </p:txBody>
      </p:sp>
      <p:sp>
        <p:nvSpPr>
          <p:cNvPr id="30" name="Text 28"/>
          <p:cNvSpPr/>
          <p:nvPr/>
        </p:nvSpPr>
        <p:spPr>
          <a:xfrm>
            <a:off x="4937760" y="3657600"/>
            <a:ext cx="3474720" cy="219456"/>
          </a:xfrm>
          <a:prstGeom prst="rect">
            <a:avLst/>
          </a:prstGeom>
          <a:noFill/>
          <a:ln/>
        </p:spPr>
        <p:txBody>
          <a:bodyPr wrap="square" lIns="0" tIns="0" rIns="0" bIns="0" rtlCol="0" anchor="ctr"/>
          <a:lstStyle/>
          <a:p>
            <a:pPr marL="0" indent="0" algn="l">
              <a:buNone/>
            </a:pPr>
            <a:r>
              <a:rPr lang="en-US" sz="850" b="1" kern="0" spc="180" dirty="0">
                <a:solidFill>
                  <a:srgbClr val="5E8CA8"/>
                </a:solidFill>
                <a:latin typeface="Segoe UI" pitchFamily="34" charset="0"/>
                <a:ea typeface="Segoe UI" pitchFamily="34" charset="-122"/>
                <a:cs typeface="Segoe UI" pitchFamily="34" charset="-120"/>
              </a:rPr>
              <a:t>WHY TILES BRIEFLY DISAGREE</a:t>
            </a:r>
            <a:endParaRPr lang="en-US" sz="850" dirty="0"/>
          </a:p>
        </p:txBody>
      </p:sp>
      <p:sp>
        <p:nvSpPr>
          <p:cNvPr id="31" name="Text 29"/>
          <p:cNvSpPr/>
          <p:nvPr/>
        </p:nvSpPr>
        <p:spPr>
          <a:xfrm>
            <a:off x="4937760" y="3931920"/>
            <a:ext cx="3474720" cy="841248"/>
          </a:xfrm>
          <a:prstGeom prst="rect">
            <a:avLst/>
          </a:prstGeom>
          <a:noFill/>
          <a:ln/>
        </p:spPr>
        <p:txBody>
          <a:bodyPr wrap="square" lIns="0" tIns="0" rIns="0" bIns="0" rtlCol="0" anchor="t"/>
          <a:lstStyle/>
          <a:p>
            <a:pPr marL="0" indent="0" algn="l">
              <a:lnSpc>
                <a:spcPts val="1420"/>
              </a:lnSpc>
              <a:buNone/>
            </a:pPr>
            <a:r>
              <a:rPr lang="en-US" sz="1000" dirty="0">
                <a:solidFill>
                  <a:srgbClr val="A3A9B4"/>
                </a:solidFill>
                <a:latin typeface="Segoe UI" pitchFamily="34" charset="0"/>
                <a:ea typeface="Segoe UI" pitchFamily="34" charset="-122"/>
                <a:cs typeface="Segoe UI" pitchFamily="34" charset="-120"/>
              </a:rPr>
              <a:t>The error rate and the 60-second warning count come from the live stream and update every second. Everything else is polled from the database every 15–30 seconds. During a burst the live counters are simply ahead.</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ANALYSIS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31</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Logs explorer: live tail and historical search</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One table, two modes, one filter bar that applies to both. This is where you spend most of an investigation.</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3877056" cy="173736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3877056" cy="45720"/>
          </a:xfrm>
          <a:prstGeom prst="rect">
            <a:avLst/>
          </a:prstGeom>
          <a:solidFill>
            <a:srgbClr val="6FA88A"/>
          </a:solidFill>
          <a:ln w="12700">
            <a:solidFill>
              <a:srgbClr val="333333"/>
            </a:solidFill>
            <a:prstDash val="solid"/>
          </a:ln>
        </p:spPr>
        <p:txBody>
          <a:bodyPr/>
          <a:lstStyle/>
          <a:p>
            <a:endParaRPr lang="en-SE"/>
          </a:p>
        </p:txBody>
      </p:sp>
      <p:sp>
        <p:nvSpPr>
          <p:cNvPr id="10" name="Text 8"/>
          <p:cNvSpPr/>
          <p:nvPr/>
        </p:nvSpPr>
        <p:spPr>
          <a:xfrm>
            <a:off x="804672" y="1920240"/>
            <a:ext cx="3291840" cy="219456"/>
          </a:xfrm>
          <a:prstGeom prst="rect">
            <a:avLst/>
          </a:prstGeom>
          <a:noFill/>
          <a:ln/>
        </p:spPr>
        <p:txBody>
          <a:bodyPr wrap="square" lIns="0" tIns="0" rIns="0" bIns="0" rtlCol="0" anchor="ctr"/>
          <a:lstStyle/>
          <a:p>
            <a:pPr marL="0" indent="0" algn="l">
              <a:buNone/>
            </a:pPr>
            <a:r>
              <a:rPr lang="en-US" sz="950" b="1" kern="0" spc="180" dirty="0">
                <a:solidFill>
                  <a:srgbClr val="6FA88A"/>
                </a:solidFill>
                <a:latin typeface="Segoe UI" pitchFamily="34" charset="0"/>
                <a:ea typeface="Segoe UI" pitchFamily="34" charset="-122"/>
                <a:cs typeface="Segoe UI" pitchFamily="34" charset="-120"/>
              </a:rPr>
              <a:t>▶ LIVE</a:t>
            </a:r>
            <a:endParaRPr lang="en-US" sz="950" dirty="0"/>
          </a:p>
        </p:txBody>
      </p:sp>
      <p:sp>
        <p:nvSpPr>
          <p:cNvPr id="11" name="Text 9"/>
          <p:cNvSpPr/>
          <p:nvPr/>
        </p:nvSpPr>
        <p:spPr>
          <a:xfrm>
            <a:off x="804672" y="2212848"/>
            <a:ext cx="3474720" cy="658368"/>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Streams from the bridge into an in-memory buffer of the most recent 2 000 rows, newest first. Rows flash briefly as they arrive.</a:t>
            </a:r>
            <a:endParaRPr lang="en-US" sz="1050" dirty="0"/>
          </a:p>
        </p:txBody>
      </p:sp>
      <p:sp>
        <p:nvSpPr>
          <p:cNvPr id="12" name="Text 10"/>
          <p:cNvSpPr/>
          <p:nvPr/>
        </p:nvSpPr>
        <p:spPr>
          <a:xfrm>
            <a:off x="804672" y="2889504"/>
            <a:ext cx="3474720" cy="548640"/>
          </a:xfrm>
          <a:prstGeom prst="rect">
            <a:avLst/>
          </a:prstGeom>
          <a:noFill/>
          <a:ln/>
        </p:spPr>
        <p:txBody>
          <a:bodyPr wrap="square" lIns="0" tIns="0" rIns="0" bIns="0" rtlCol="0" anchor="t"/>
          <a:lstStyle/>
          <a:p>
            <a:pPr marL="0" indent="0" algn="l">
              <a:lnSpc>
                <a:spcPts val="1349"/>
              </a:lnSpc>
              <a:buNone/>
            </a:pPr>
            <a:r>
              <a:rPr lang="en-US" sz="950" dirty="0">
                <a:solidFill>
                  <a:srgbClr val="747B87"/>
                </a:solidFill>
                <a:latin typeface="Segoe UI" pitchFamily="34" charset="0"/>
                <a:ea typeface="Segoe UI" pitchFamily="34" charset="-122"/>
                <a:cs typeface="Segoe UI" pitchFamily="34" charset="-120"/>
              </a:rPr>
              <a:t>Scrolling down pauses the tail on purpose — you cannot read a log that keeps jumping. A banner counts what arrived while paused; click it to resume.</a:t>
            </a:r>
            <a:endParaRPr lang="en-US" sz="950" dirty="0"/>
          </a:p>
        </p:txBody>
      </p:sp>
      <p:sp>
        <p:nvSpPr>
          <p:cNvPr id="13" name="card background">
            <a:extLst>
              <a:ext uri="{C183D7F6-B498-43B3-948B-1728B52AA6E4}">
                <adec:decorative xmlns:adec="http://schemas.microsoft.com/office/drawing/2017/decorative" val="1"/>
              </a:ext>
            </a:extLst>
          </p:cNvPr>
          <p:cNvSpPr/>
          <p:nvPr/>
        </p:nvSpPr>
        <p:spPr>
          <a:xfrm>
            <a:off x="4700016" y="1773936"/>
            <a:ext cx="3877056" cy="173736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4" name="card top accent">
            <a:extLst>
              <a:ext uri="{C183D7F6-B498-43B3-948B-1728B52AA6E4}">
                <adec:decorative xmlns:adec="http://schemas.microsoft.com/office/drawing/2017/decorative" val="1"/>
              </a:ext>
            </a:extLst>
          </p:cNvPr>
          <p:cNvSpPr/>
          <p:nvPr/>
        </p:nvSpPr>
        <p:spPr>
          <a:xfrm>
            <a:off x="4700016" y="1773936"/>
            <a:ext cx="3877056" cy="45720"/>
          </a:xfrm>
          <a:prstGeom prst="rect">
            <a:avLst/>
          </a:prstGeom>
          <a:solidFill>
            <a:srgbClr val="5E8CA8"/>
          </a:solidFill>
          <a:ln w="12700">
            <a:solidFill>
              <a:srgbClr val="333333"/>
            </a:solidFill>
            <a:prstDash val="solid"/>
          </a:ln>
        </p:spPr>
        <p:txBody>
          <a:bodyPr/>
          <a:lstStyle/>
          <a:p>
            <a:endParaRPr lang="en-SE"/>
          </a:p>
        </p:txBody>
      </p:sp>
      <p:sp>
        <p:nvSpPr>
          <p:cNvPr id="15" name="Text 13"/>
          <p:cNvSpPr/>
          <p:nvPr/>
        </p:nvSpPr>
        <p:spPr>
          <a:xfrm>
            <a:off x="4937760" y="1920240"/>
            <a:ext cx="3291840" cy="219456"/>
          </a:xfrm>
          <a:prstGeom prst="rect">
            <a:avLst/>
          </a:prstGeom>
          <a:noFill/>
          <a:ln/>
        </p:spPr>
        <p:txBody>
          <a:bodyPr wrap="square" lIns="0" tIns="0" rIns="0" bIns="0" rtlCol="0" anchor="ctr"/>
          <a:lstStyle/>
          <a:p>
            <a:pPr marL="0" indent="0" algn="l">
              <a:buNone/>
            </a:pPr>
            <a:r>
              <a:rPr lang="en-US" sz="950" b="1" kern="0" spc="180" dirty="0">
                <a:solidFill>
                  <a:srgbClr val="5E8CA8"/>
                </a:solidFill>
                <a:latin typeface="Segoe UI" pitchFamily="34" charset="0"/>
                <a:ea typeface="Segoe UI" pitchFamily="34" charset="-122"/>
                <a:cs typeface="Segoe UI" pitchFamily="34" charset="-120"/>
              </a:rPr>
              <a:t>HISTORY</a:t>
            </a:r>
            <a:endParaRPr lang="en-US" sz="950" dirty="0"/>
          </a:p>
        </p:txBody>
      </p:sp>
      <p:sp>
        <p:nvSpPr>
          <p:cNvPr id="16" name="Text 14"/>
          <p:cNvSpPr/>
          <p:nvPr/>
        </p:nvSpPr>
        <p:spPr>
          <a:xfrm>
            <a:off x="4937760" y="2212848"/>
            <a:ext cx="3474720" cy="658368"/>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Queries the database through the bridge and shows a match count, so you know whether your filter is finding anything at all.</a:t>
            </a:r>
            <a:endParaRPr lang="en-US" sz="1050" dirty="0"/>
          </a:p>
        </p:txBody>
      </p:sp>
      <p:sp>
        <p:nvSpPr>
          <p:cNvPr id="17" name="Text 15"/>
          <p:cNvSpPr/>
          <p:nvPr/>
        </p:nvSpPr>
        <p:spPr>
          <a:xfrm>
            <a:off x="4937760" y="2889504"/>
            <a:ext cx="3474720" cy="548640"/>
          </a:xfrm>
          <a:prstGeom prst="rect">
            <a:avLst/>
          </a:prstGeom>
          <a:noFill/>
          <a:ln/>
        </p:spPr>
        <p:txBody>
          <a:bodyPr wrap="square" lIns="0" tIns="0" rIns="0" bIns="0" rtlCol="0" anchor="t"/>
          <a:lstStyle/>
          <a:p>
            <a:pPr marL="0" indent="0" algn="l">
              <a:lnSpc>
                <a:spcPts val="1349"/>
              </a:lnSpc>
              <a:buNone/>
            </a:pPr>
            <a:r>
              <a:rPr lang="en-US" sz="950" dirty="0">
                <a:solidFill>
                  <a:srgbClr val="747B87"/>
                </a:solidFill>
                <a:latin typeface="Segoe UI" pitchFamily="34" charset="0"/>
                <a:ea typeface="Segoe UI" pitchFamily="34" charset="-122"/>
                <a:cs typeface="Segoe UI" pitchFamily="34" charset="-120"/>
              </a:rPr>
              <a:t>Capped at 5 000 rows per query. Fewer rows than expected usually means the cap, not a gap — narrow the filter or export instead.</a:t>
            </a:r>
            <a:endParaRPr lang="en-US" sz="950" dirty="0"/>
          </a:p>
        </p:txBody>
      </p:sp>
      <p:sp>
        <p:nvSpPr>
          <p:cNvPr id="18" name="chip background">
            <a:extLst>
              <a:ext uri="{C183D7F6-B498-43B3-948B-1728B52AA6E4}">
                <adec:decorative xmlns:adec="http://schemas.microsoft.com/office/drawing/2017/decorative" val="1"/>
              </a:ext>
            </a:extLst>
          </p:cNvPr>
          <p:cNvSpPr/>
          <p:nvPr/>
        </p:nvSpPr>
        <p:spPr>
          <a:xfrm>
            <a:off x="566928" y="3675888"/>
            <a:ext cx="1546250" cy="310896"/>
          </a:xfrm>
          <a:prstGeom prst="roundRect">
            <a:avLst>
              <a:gd name="adj" fmla="val 35294"/>
            </a:avLst>
          </a:prstGeom>
          <a:solidFill>
            <a:srgbClr val="1B1E23"/>
          </a:solidFill>
          <a:ln w="12700">
            <a:solidFill>
              <a:srgbClr val="444B55"/>
            </a:solidFill>
            <a:prstDash val="solid"/>
          </a:ln>
        </p:spPr>
        <p:txBody>
          <a:bodyPr/>
          <a:lstStyle/>
          <a:p>
            <a:endParaRPr lang="en-SE"/>
          </a:p>
        </p:txBody>
      </p:sp>
      <p:sp>
        <p:nvSpPr>
          <p:cNvPr id="19" name="Text 17"/>
          <p:cNvSpPr/>
          <p:nvPr/>
        </p:nvSpPr>
        <p:spPr>
          <a:xfrm>
            <a:off x="621792" y="3675888"/>
            <a:ext cx="1436522" cy="310896"/>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message contains…</a:t>
            </a:r>
            <a:endParaRPr lang="en-US" sz="900" dirty="0"/>
          </a:p>
        </p:txBody>
      </p:sp>
      <p:sp>
        <p:nvSpPr>
          <p:cNvPr id="20" name="chip background">
            <a:extLst>
              <a:ext uri="{C183D7F6-B498-43B3-948B-1728B52AA6E4}">
                <adec:decorative xmlns:adec="http://schemas.microsoft.com/office/drawing/2017/decorative" val="1"/>
              </a:ext>
            </a:extLst>
          </p:cNvPr>
          <p:cNvSpPr/>
          <p:nvPr/>
        </p:nvSpPr>
        <p:spPr>
          <a:xfrm>
            <a:off x="2259482" y="3675888"/>
            <a:ext cx="1394460" cy="310896"/>
          </a:xfrm>
          <a:prstGeom prst="roundRect">
            <a:avLst>
              <a:gd name="adj" fmla="val 35294"/>
            </a:avLst>
          </a:prstGeom>
          <a:solidFill>
            <a:srgbClr val="1B1E23"/>
          </a:solidFill>
          <a:ln w="12700">
            <a:solidFill>
              <a:srgbClr val="444B55"/>
            </a:solidFill>
            <a:prstDash val="solid"/>
          </a:ln>
        </p:spPr>
        <p:txBody>
          <a:bodyPr/>
          <a:lstStyle/>
          <a:p>
            <a:endParaRPr lang="en-SE"/>
          </a:p>
        </p:txBody>
      </p:sp>
      <p:sp>
        <p:nvSpPr>
          <p:cNvPr id="21" name="Text 19"/>
          <p:cNvSpPr/>
          <p:nvPr/>
        </p:nvSpPr>
        <p:spPr>
          <a:xfrm>
            <a:off x="2314346" y="3675888"/>
            <a:ext cx="1284732" cy="310896"/>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level: WARNING+</a:t>
            </a:r>
            <a:endParaRPr lang="en-US" sz="900" dirty="0"/>
          </a:p>
        </p:txBody>
      </p:sp>
      <p:sp>
        <p:nvSpPr>
          <p:cNvPr id="22" name="chip background">
            <a:extLst>
              <a:ext uri="{C183D7F6-B498-43B3-948B-1728B52AA6E4}">
                <adec:decorative xmlns:adec="http://schemas.microsoft.com/office/drawing/2017/decorative" val="1"/>
              </a:ext>
            </a:extLst>
          </p:cNvPr>
          <p:cNvSpPr/>
          <p:nvPr/>
        </p:nvSpPr>
        <p:spPr>
          <a:xfrm>
            <a:off x="3800246" y="3675888"/>
            <a:ext cx="1394460" cy="310896"/>
          </a:xfrm>
          <a:prstGeom prst="roundRect">
            <a:avLst>
              <a:gd name="adj" fmla="val 35294"/>
            </a:avLst>
          </a:prstGeom>
          <a:solidFill>
            <a:srgbClr val="1B1E23"/>
          </a:solidFill>
          <a:ln w="12700">
            <a:solidFill>
              <a:srgbClr val="444B55"/>
            </a:solidFill>
            <a:prstDash val="solid"/>
          </a:ln>
        </p:spPr>
        <p:txBody>
          <a:bodyPr/>
          <a:lstStyle/>
          <a:p>
            <a:endParaRPr lang="en-SE"/>
          </a:p>
        </p:txBody>
      </p:sp>
      <p:sp>
        <p:nvSpPr>
          <p:cNvPr id="23" name="Text 21"/>
          <p:cNvSpPr/>
          <p:nvPr/>
        </p:nvSpPr>
        <p:spPr>
          <a:xfrm>
            <a:off x="3855110" y="3675888"/>
            <a:ext cx="1284732" cy="310896"/>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exceptions only</a:t>
            </a:r>
            <a:endParaRPr lang="en-US" sz="900" dirty="0"/>
          </a:p>
        </p:txBody>
      </p:sp>
      <p:sp>
        <p:nvSpPr>
          <p:cNvPr id="24" name="chip background">
            <a:extLst>
              <a:ext uri="{C183D7F6-B498-43B3-948B-1728B52AA6E4}">
                <adec:decorative xmlns:adec="http://schemas.microsoft.com/office/drawing/2017/decorative" val="1"/>
              </a:ext>
            </a:extLst>
          </p:cNvPr>
          <p:cNvSpPr/>
          <p:nvPr/>
        </p:nvSpPr>
        <p:spPr>
          <a:xfrm>
            <a:off x="5341010" y="3675888"/>
            <a:ext cx="1698041" cy="310896"/>
          </a:xfrm>
          <a:prstGeom prst="roundRect">
            <a:avLst>
              <a:gd name="adj" fmla="val 35294"/>
            </a:avLst>
          </a:prstGeom>
          <a:solidFill>
            <a:srgbClr val="1B1E23"/>
          </a:solidFill>
          <a:ln w="12700">
            <a:solidFill>
              <a:srgbClr val="444B55"/>
            </a:solidFill>
            <a:prstDash val="solid"/>
          </a:ln>
        </p:spPr>
        <p:txBody>
          <a:bodyPr/>
          <a:lstStyle/>
          <a:p>
            <a:endParaRPr lang="en-SE"/>
          </a:p>
        </p:txBody>
      </p:sp>
      <p:sp>
        <p:nvSpPr>
          <p:cNvPr id="25" name="Text 23"/>
          <p:cNvSpPr/>
          <p:nvPr/>
        </p:nvSpPr>
        <p:spPr>
          <a:xfrm>
            <a:off x="5395874" y="3675888"/>
            <a:ext cx="1588313" cy="310896"/>
          </a:xfrm>
          <a:prstGeom prst="rect">
            <a:avLst/>
          </a:prstGeom>
          <a:noFill/>
          <a:ln/>
        </p:spPr>
        <p:txBody>
          <a:bodyPr wrap="square" lIns="0" tIns="0" rIns="0" bIns="0" rtlCol="0" anchor="ctr"/>
          <a:lstStyle/>
          <a:p>
            <a:pPr marL="0" indent="0" algn="ctr">
              <a:buNone/>
            </a:pPr>
            <a:r>
              <a:rPr lang="en-US" sz="900" b="1" dirty="0">
                <a:solidFill>
                  <a:srgbClr val="F6C978"/>
                </a:solidFill>
                <a:latin typeface="Consolas" pitchFamily="34" charset="0"/>
                <a:ea typeface="Consolas" pitchFamily="34" charset="-122"/>
                <a:cs typeface="Consolas" pitchFamily="34" charset="-120"/>
              </a:rPr>
              <a:t>process = pm-md-gwy</a:t>
            </a:r>
            <a:endParaRPr lang="en-US" sz="900" dirty="0"/>
          </a:p>
        </p:txBody>
      </p:sp>
      <p:sp>
        <p:nvSpPr>
          <p:cNvPr id="26" name="card background">
            <a:extLst>
              <a:ext uri="{C183D7F6-B498-43B3-948B-1728B52AA6E4}">
                <adec:decorative xmlns:adec="http://schemas.microsoft.com/office/drawing/2017/decorative" val="1"/>
              </a:ext>
            </a:extLst>
          </p:cNvPr>
          <p:cNvSpPr/>
          <p:nvPr/>
        </p:nvSpPr>
        <p:spPr>
          <a:xfrm>
            <a:off x="566928" y="4151376"/>
            <a:ext cx="8010144" cy="731520"/>
          </a:xfrm>
          <a:prstGeom prst="rect">
            <a:avLst/>
          </a:prstGeom>
          <a:solidFill>
            <a:srgbClr val="282C33"/>
          </a:solidFill>
          <a:ln w="12700">
            <a:solidFill>
              <a:srgbClr val="343941"/>
            </a:solidFill>
            <a:prstDash val="solid"/>
          </a:ln>
        </p:spPr>
        <p:txBody>
          <a:bodyPr/>
          <a:lstStyle/>
          <a:p>
            <a:endParaRPr lang="en-SE"/>
          </a:p>
        </p:txBody>
      </p:sp>
      <p:sp>
        <p:nvSpPr>
          <p:cNvPr id="27" name="card accent edge">
            <a:extLst>
              <a:ext uri="{C183D7F6-B498-43B3-948B-1728B52AA6E4}">
                <adec:decorative xmlns:adec="http://schemas.microsoft.com/office/drawing/2017/decorative" val="1"/>
              </a:ext>
            </a:extLst>
          </p:cNvPr>
          <p:cNvSpPr/>
          <p:nvPr/>
        </p:nvSpPr>
        <p:spPr>
          <a:xfrm>
            <a:off x="566928" y="4151376"/>
            <a:ext cx="50292" cy="731520"/>
          </a:xfrm>
          <a:prstGeom prst="rect">
            <a:avLst/>
          </a:prstGeom>
          <a:solidFill>
            <a:srgbClr val="E8A33D"/>
          </a:solidFill>
          <a:ln w="12700">
            <a:solidFill>
              <a:srgbClr val="333333"/>
            </a:solidFill>
            <a:prstDash val="solid"/>
          </a:ln>
        </p:spPr>
        <p:txBody>
          <a:bodyPr/>
          <a:lstStyle/>
          <a:p>
            <a:endParaRPr lang="en-SE"/>
          </a:p>
        </p:txBody>
      </p:sp>
      <p:sp>
        <p:nvSpPr>
          <p:cNvPr id="28" name="Text 26"/>
          <p:cNvSpPr/>
          <p:nvPr/>
        </p:nvSpPr>
        <p:spPr>
          <a:xfrm>
            <a:off x="822960" y="4151376"/>
            <a:ext cx="7589520" cy="731520"/>
          </a:xfrm>
          <a:prstGeom prst="rect">
            <a:avLst/>
          </a:prstGeom>
          <a:noFill/>
          <a:ln/>
        </p:spPr>
        <p:txBody>
          <a:bodyPr wrap="square" lIns="0" tIns="0" rIns="0" bIns="0" rtlCol="0" anchor="ctr"/>
          <a:lstStyle/>
          <a:p>
            <a:pPr marL="0" indent="0" algn="l">
              <a:lnSpc>
                <a:spcPts val="1491"/>
              </a:lnSpc>
              <a:buNone/>
            </a:pPr>
            <a:r>
              <a:rPr lang="en-US" sz="1050" b="1" dirty="0">
                <a:solidFill>
                  <a:srgbClr val="E8A33D"/>
                </a:solidFill>
                <a:latin typeface="Segoe UI" pitchFamily="34" charset="0"/>
                <a:ea typeface="Segoe UI" pitchFamily="34" charset="-122"/>
                <a:cs typeface="Segoe UI" pitchFamily="34" charset="-120"/>
              </a:rPr>
              <a:t>Every filter lives in the URL.  </a:t>
            </a:r>
            <a:r>
              <a:rPr lang="en-US" sz="1050" dirty="0">
                <a:solidFill>
                  <a:srgbClr val="A3A9B4"/>
                </a:solidFill>
                <a:latin typeface="Segoe UI" pitchFamily="34" charset="0"/>
                <a:ea typeface="Segoe UI" pitchFamily="34" charset="-122"/>
                <a:cs typeface="Segoe UI" pitchFamily="34" charset="-120"/>
              </a:rPr>
              <a:t>A filtered view is therefore a link — paste it into a ticket or a chat and a colleague opens exactly what you were looking at. Clicking any row opens a detail pane with the full field set and the untruncated message.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ANALYSIS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32</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Alerts: where the console earns its keep</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Warnings and above are fingerprinted — the same fault recurring a thousand times collapses into one entry with a count, instead of a thousand lines to scroll past.</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810512"/>
            <a:ext cx="3200400" cy="1517904"/>
          </a:xfrm>
          <a:prstGeom prst="rect">
            <a:avLst/>
          </a:prstGeom>
          <a:solidFill>
            <a:srgbClr val="14151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Text 7"/>
          <p:cNvSpPr/>
          <p:nvPr/>
        </p:nvSpPr>
        <p:spPr>
          <a:xfrm>
            <a:off x="749808" y="1938528"/>
            <a:ext cx="1828800" cy="219456"/>
          </a:xfrm>
          <a:prstGeom prst="rect">
            <a:avLst/>
          </a:prstGeom>
          <a:noFill/>
          <a:ln/>
        </p:spPr>
        <p:txBody>
          <a:bodyPr wrap="square" lIns="0" tIns="0" rIns="0" bIns="0" rtlCol="0" anchor="ctr"/>
          <a:lstStyle/>
          <a:p>
            <a:pPr marL="0" indent="0" algn="l">
              <a:buNone/>
            </a:pPr>
            <a:r>
              <a:rPr lang="en-US" sz="850" b="1" kern="0" spc="180" dirty="0">
                <a:solidFill>
                  <a:srgbClr val="747B87"/>
                </a:solidFill>
                <a:latin typeface="Segoe UI" pitchFamily="34" charset="0"/>
                <a:ea typeface="Segoe UI" pitchFamily="34" charset="-122"/>
                <a:cs typeface="Segoe UI" pitchFamily="34" charset="-120"/>
              </a:rPr>
              <a:t>RAW ROWS</a:t>
            </a:r>
            <a:endParaRPr lang="en-US" sz="850" dirty="0"/>
          </a:p>
        </p:txBody>
      </p:sp>
      <p:sp>
        <p:nvSpPr>
          <p:cNvPr id="10" name="repeated log line">
            <a:extLst>
              <a:ext uri="{C183D7F6-B498-43B3-948B-1728B52AA6E4}">
                <adec:decorative xmlns:adec="http://schemas.microsoft.com/office/drawing/2017/decorative" val="1"/>
              </a:ext>
            </a:extLst>
          </p:cNvPr>
          <p:cNvSpPr/>
          <p:nvPr/>
        </p:nvSpPr>
        <p:spPr>
          <a:xfrm>
            <a:off x="749808" y="2212848"/>
            <a:ext cx="2194560" cy="50292"/>
          </a:xfrm>
          <a:prstGeom prst="rect">
            <a:avLst/>
          </a:prstGeom>
          <a:solidFill>
            <a:srgbClr val="6E332C"/>
          </a:solidFill>
          <a:ln w="12700">
            <a:solidFill>
              <a:srgbClr val="333333"/>
            </a:solidFill>
            <a:prstDash val="solid"/>
          </a:ln>
        </p:spPr>
        <p:txBody>
          <a:bodyPr/>
          <a:lstStyle/>
          <a:p>
            <a:endParaRPr lang="en-SE"/>
          </a:p>
        </p:txBody>
      </p:sp>
      <p:sp>
        <p:nvSpPr>
          <p:cNvPr id="11" name="repeated log line">
            <a:extLst>
              <a:ext uri="{C183D7F6-B498-43B3-948B-1728B52AA6E4}">
                <adec:decorative xmlns:adec="http://schemas.microsoft.com/office/drawing/2017/decorative" val="1"/>
              </a:ext>
            </a:extLst>
          </p:cNvPr>
          <p:cNvSpPr/>
          <p:nvPr/>
        </p:nvSpPr>
        <p:spPr>
          <a:xfrm>
            <a:off x="749808" y="2386584"/>
            <a:ext cx="2286000" cy="50292"/>
          </a:xfrm>
          <a:prstGeom prst="rect">
            <a:avLst/>
          </a:prstGeom>
          <a:solidFill>
            <a:srgbClr val="6E332C"/>
          </a:solidFill>
          <a:ln w="12700">
            <a:solidFill>
              <a:srgbClr val="333333"/>
            </a:solidFill>
            <a:prstDash val="solid"/>
          </a:ln>
        </p:spPr>
        <p:txBody>
          <a:bodyPr/>
          <a:lstStyle/>
          <a:p>
            <a:endParaRPr lang="en-SE"/>
          </a:p>
        </p:txBody>
      </p:sp>
      <p:sp>
        <p:nvSpPr>
          <p:cNvPr id="12" name="repeated log line">
            <a:extLst>
              <a:ext uri="{C183D7F6-B498-43B3-948B-1728B52AA6E4}">
                <adec:decorative xmlns:adec="http://schemas.microsoft.com/office/drawing/2017/decorative" val="1"/>
              </a:ext>
            </a:extLst>
          </p:cNvPr>
          <p:cNvSpPr/>
          <p:nvPr/>
        </p:nvSpPr>
        <p:spPr>
          <a:xfrm>
            <a:off x="749808" y="2560320"/>
            <a:ext cx="2377440" cy="50292"/>
          </a:xfrm>
          <a:prstGeom prst="rect">
            <a:avLst/>
          </a:prstGeom>
          <a:solidFill>
            <a:srgbClr val="6E332C"/>
          </a:solidFill>
          <a:ln w="12700">
            <a:solidFill>
              <a:srgbClr val="333333"/>
            </a:solidFill>
            <a:prstDash val="solid"/>
          </a:ln>
        </p:spPr>
        <p:txBody>
          <a:bodyPr/>
          <a:lstStyle/>
          <a:p>
            <a:endParaRPr lang="en-SE"/>
          </a:p>
        </p:txBody>
      </p:sp>
      <p:sp>
        <p:nvSpPr>
          <p:cNvPr id="13" name="repeated log line">
            <a:extLst>
              <a:ext uri="{C183D7F6-B498-43B3-948B-1728B52AA6E4}">
                <adec:decorative xmlns:adec="http://schemas.microsoft.com/office/drawing/2017/decorative" val="1"/>
              </a:ext>
            </a:extLst>
          </p:cNvPr>
          <p:cNvSpPr/>
          <p:nvPr/>
        </p:nvSpPr>
        <p:spPr>
          <a:xfrm>
            <a:off x="749808" y="2734056"/>
            <a:ext cx="2468880" cy="50292"/>
          </a:xfrm>
          <a:prstGeom prst="rect">
            <a:avLst/>
          </a:prstGeom>
          <a:solidFill>
            <a:srgbClr val="6E332C"/>
          </a:solidFill>
          <a:ln w="12700">
            <a:solidFill>
              <a:srgbClr val="333333"/>
            </a:solidFill>
            <a:prstDash val="solid"/>
          </a:ln>
        </p:spPr>
        <p:txBody>
          <a:bodyPr/>
          <a:lstStyle/>
          <a:p>
            <a:endParaRPr lang="en-SE"/>
          </a:p>
        </p:txBody>
      </p:sp>
      <p:sp>
        <p:nvSpPr>
          <p:cNvPr id="14" name="repeated log line">
            <a:extLst>
              <a:ext uri="{C183D7F6-B498-43B3-948B-1728B52AA6E4}">
                <adec:decorative xmlns:adec="http://schemas.microsoft.com/office/drawing/2017/decorative" val="1"/>
              </a:ext>
            </a:extLst>
          </p:cNvPr>
          <p:cNvSpPr/>
          <p:nvPr/>
        </p:nvSpPr>
        <p:spPr>
          <a:xfrm>
            <a:off x="749808" y="2907792"/>
            <a:ext cx="2560320" cy="50292"/>
          </a:xfrm>
          <a:prstGeom prst="rect">
            <a:avLst/>
          </a:prstGeom>
          <a:solidFill>
            <a:srgbClr val="6E332C"/>
          </a:solidFill>
          <a:ln w="12700">
            <a:solidFill>
              <a:srgbClr val="333333"/>
            </a:solidFill>
            <a:prstDash val="solid"/>
          </a:ln>
        </p:spPr>
        <p:txBody>
          <a:bodyPr/>
          <a:lstStyle/>
          <a:p>
            <a:endParaRPr lang="en-SE"/>
          </a:p>
        </p:txBody>
      </p:sp>
      <p:sp>
        <p:nvSpPr>
          <p:cNvPr id="15" name="repeated log line">
            <a:extLst>
              <a:ext uri="{C183D7F6-B498-43B3-948B-1728B52AA6E4}">
                <adec:decorative xmlns:adec="http://schemas.microsoft.com/office/drawing/2017/decorative" val="1"/>
              </a:ext>
            </a:extLst>
          </p:cNvPr>
          <p:cNvSpPr/>
          <p:nvPr/>
        </p:nvSpPr>
        <p:spPr>
          <a:xfrm>
            <a:off x="749808" y="3081528"/>
            <a:ext cx="2651760" cy="50292"/>
          </a:xfrm>
          <a:prstGeom prst="rect">
            <a:avLst/>
          </a:prstGeom>
          <a:solidFill>
            <a:srgbClr val="6E332C"/>
          </a:solidFill>
          <a:ln w="12700">
            <a:solidFill>
              <a:srgbClr val="333333"/>
            </a:solidFill>
            <a:prstDash val="solid"/>
          </a:ln>
        </p:spPr>
        <p:txBody>
          <a:bodyPr/>
          <a:lstStyle/>
          <a:p>
            <a:endParaRPr lang="en-SE"/>
          </a:p>
        </p:txBody>
      </p:sp>
      <p:sp>
        <p:nvSpPr>
          <p:cNvPr id="16" name="Text 14"/>
          <p:cNvSpPr/>
          <p:nvPr/>
        </p:nvSpPr>
        <p:spPr>
          <a:xfrm>
            <a:off x="3172968" y="2212848"/>
            <a:ext cx="548640" cy="274320"/>
          </a:xfrm>
          <a:prstGeom prst="rect">
            <a:avLst/>
          </a:prstGeom>
          <a:noFill/>
          <a:ln/>
        </p:spPr>
        <p:txBody>
          <a:bodyPr wrap="square" lIns="0" tIns="0" rIns="0" bIns="0" rtlCol="0" anchor="ctr"/>
          <a:lstStyle/>
          <a:p>
            <a:pPr marL="0" indent="0" algn="l">
              <a:lnSpc>
                <a:spcPts val="1500"/>
              </a:lnSpc>
              <a:buNone/>
            </a:pPr>
            <a:r>
              <a:rPr lang="en-US" sz="1100" dirty="0">
                <a:solidFill>
                  <a:srgbClr val="C9584C"/>
                </a:solidFill>
                <a:latin typeface="Consolas" pitchFamily="34" charset="0"/>
                <a:ea typeface="Consolas" pitchFamily="34" charset="-122"/>
                <a:cs typeface="Consolas" pitchFamily="34" charset="-120"/>
              </a:rPr>
              <a:t>× 47</a:t>
            </a:r>
            <a:endParaRPr lang="en-US" sz="1100" dirty="0"/>
          </a:p>
        </p:txBody>
      </p:sp>
      <p:sp>
        <p:nvSpPr>
          <p:cNvPr id="17" name="flow arrow">
            <a:extLst>
              <a:ext uri="{C183D7F6-B498-43B3-948B-1728B52AA6E4}">
                <adec:decorative xmlns:adec="http://schemas.microsoft.com/office/drawing/2017/decorative" val="1"/>
              </a:ext>
            </a:extLst>
          </p:cNvPr>
          <p:cNvSpPr/>
          <p:nvPr/>
        </p:nvSpPr>
        <p:spPr>
          <a:xfrm>
            <a:off x="3913632" y="2560320"/>
            <a:ext cx="457200" cy="0"/>
          </a:xfrm>
          <a:prstGeom prst="line">
            <a:avLst/>
          </a:prstGeom>
          <a:noFill/>
          <a:ln w="22860">
            <a:solidFill>
              <a:srgbClr val="E8A33D"/>
            </a:solidFill>
            <a:prstDash val="solid"/>
            <a:tailEnd type="triangle"/>
          </a:ln>
        </p:spPr>
        <p:txBody>
          <a:bodyPr/>
          <a:lstStyle/>
          <a:p>
            <a:endParaRPr lang="en-SE"/>
          </a:p>
        </p:txBody>
      </p:sp>
      <p:sp>
        <p:nvSpPr>
          <p:cNvPr id="18" name="Text 16"/>
          <p:cNvSpPr/>
          <p:nvPr/>
        </p:nvSpPr>
        <p:spPr>
          <a:xfrm>
            <a:off x="3703320" y="2231136"/>
            <a:ext cx="914400" cy="219456"/>
          </a:xfrm>
          <a:prstGeom prst="rect">
            <a:avLst/>
          </a:prstGeom>
          <a:noFill/>
          <a:ln/>
        </p:spPr>
        <p:txBody>
          <a:bodyPr wrap="square" lIns="0" tIns="0" rIns="0" bIns="0" rtlCol="0" anchor="ctr"/>
          <a:lstStyle/>
          <a:p>
            <a:pPr marL="0" indent="0" algn="ctr">
              <a:lnSpc>
                <a:spcPts val="1500"/>
              </a:lnSpc>
              <a:buNone/>
            </a:pPr>
            <a:r>
              <a:rPr lang="en-US" sz="750" dirty="0">
                <a:solidFill>
                  <a:srgbClr val="E8A33D"/>
                </a:solidFill>
                <a:latin typeface="Consolas" pitchFamily="34" charset="0"/>
                <a:ea typeface="Consolas" pitchFamily="34" charset="-122"/>
                <a:cs typeface="Consolas" pitchFamily="34" charset="-120"/>
              </a:rPr>
              <a:t>fingerprint</a:t>
            </a:r>
            <a:endParaRPr lang="en-US" sz="750" dirty="0"/>
          </a:p>
        </p:txBody>
      </p:sp>
      <p:sp>
        <p:nvSpPr>
          <p:cNvPr id="19" name="card background">
            <a:extLst>
              <a:ext uri="{C183D7F6-B498-43B3-948B-1728B52AA6E4}">
                <adec:decorative xmlns:adec="http://schemas.microsoft.com/office/drawing/2017/decorative" val="1"/>
              </a:ext>
            </a:extLst>
          </p:cNvPr>
          <p:cNvSpPr/>
          <p:nvPr/>
        </p:nvSpPr>
        <p:spPr>
          <a:xfrm>
            <a:off x="4517136" y="1810512"/>
            <a:ext cx="4059936" cy="15179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0" name="card accent edge">
            <a:extLst>
              <a:ext uri="{C183D7F6-B498-43B3-948B-1728B52AA6E4}">
                <adec:decorative xmlns:adec="http://schemas.microsoft.com/office/drawing/2017/decorative" val="1"/>
              </a:ext>
            </a:extLst>
          </p:cNvPr>
          <p:cNvSpPr/>
          <p:nvPr/>
        </p:nvSpPr>
        <p:spPr>
          <a:xfrm>
            <a:off x="4517136" y="1810512"/>
            <a:ext cx="50292" cy="1517904"/>
          </a:xfrm>
          <a:prstGeom prst="rect">
            <a:avLst/>
          </a:prstGeom>
          <a:solidFill>
            <a:srgbClr val="C9584C"/>
          </a:solidFill>
          <a:ln w="12700">
            <a:solidFill>
              <a:srgbClr val="333333"/>
            </a:solidFill>
            <a:prstDash val="solid"/>
          </a:ln>
        </p:spPr>
        <p:txBody>
          <a:bodyPr/>
          <a:lstStyle/>
          <a:p>
            <a:endParaRPr lang="en-SE"/>
          </a:p>
        </p:txBody>
      </p:sp>
      <p:sp>
        <p:nvSpPr>
          <p:cNvPr id="21" name="Text 19"/>
          <p:cNvSpPr/>
          <p:nvPr/>
        </p:nvSpPr>
        <p:spPr>
          <a:xfrm>
            <a:off x="4736592" y="1938528"/>
            <a:ext cx="2743200" cy="256032"/>
          </a:xfrm>
          <a:prstGeom prst="rect">
            <a:avLst/>
          </a:prstGeom>
          <a:noFill/>
          <a:ln/>
        </p:spPr>
        <p:txBody>
          <a:bodyPr wrap="square" lIns="0" tIns="0" rIns="0" bIns="0" rtlCol="0" anchor="ctr"/>
          <a:lstStyle/>
          <a:p>
            <a:pPr marL="0" indent="0" algn="l">
              <a:lnSpc>
                <a:spcPts val="1500"/>
              </a:lnSpc>
              <a:buNone/>
            </a:pPr>
            <a:r>
              <a:rPr lang="en-US" sz="1000" dirty="0">
                <a:solidFill>
                  <a:srgbClr val="C9584C"/>
                </a:solidFill>
                <a:latin typeface="Consolas" pitchFamily="34" charset="0"/>
                <a:ea typeface="Consolas" pitchFamily="34" charset="-122"/>
                <a:cs typeface="Consolas" pitchFamily="34" charset="-120"/>
              </a:rPr>
              <a:t>ENGINE_TIMEOUT</a:t>
            </a:r>
            <a:endParaRPr lang="en-US" sz="1000" dirty="0"/>
          </a:p>
        </p:txBody>
      </p:sp>
      <p:sp>
        <p:nvSpPr>
          <p:cNvPr id="22" name="Text 20"/>
          <p:cNvSpPr/>
          <p:nvPr/>
        </p:nvSpPr>
        <p:spPr>
          <a:xfrm>
            <a:off x="4736592" y="2212848"/>
            <a:ext cx="3657600" cy="237744"/>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pm-api-gwy · edumatcher.api_gateway.engine_client</a:t>
            </a:r>
            <a:endParaRPr lang="en-US" sz="900" dirty="0"/>
          </a:p>
        </p:txBody>
      </p:sp>
      <p:sp>
        <p:nvSpPr>
          <p:cNvPr id="23" name="Text 21"/>
          <p:cNvSpPr/>
          <p:nvPr/>
        </p:nvSpPr>
        <p:spPr>
          <a:xfrm>
            <a:off x="4736592" y="2468880"/>
            <a:ext cx="3657600" cy="237744"/>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47 occurrences · first seen 13:04 · last seen 14:11</a:t>
            </a:r>
            <a:endParaRPr lang="en-US" sz="950" dirty="0"/>
          </a:p>
        </p:txBody>
      </p:sp>
      <p:sp>
        <p:nvSpPr>
          <p:cNvPr id="24" name="chip background">
            <a:extLst>
              <a:ext uri="{C183D7F6-B498-43B3-948B-1728B52AA6E4}">
                <adec:decorative xmlns:adec="http://schemas.microsoft.com/office/drawing/2017/decorative" val="1"/>
              </a:ext>
            </a:extLst>
          </p:cNvPr>
          <p:cNvSpPr/>
          <p:nvPr/>
        </p:nvSpPr>
        <p:spPr>
          <a:xfrm>
            <a:off x="4736592" y="2798064"/>
            <a:ext cx="1188720" cy="274320"/>
          </a:xfrm>
          <a:prstGeom prst="roundRect">
            <a:avLst>
              <a:gd name="adj" fmla="val 40000"/>
            </a:avLst>
          </a:prstGeom>
          <a:solidFill>
            <a:srgbClr val="241B1A"/>
          </a:solidFill>
          <a:ln w="12700">
            <a:solidFill>
              <a:srgbClr val="444B55"/>
            </a:solidFill>
            <a:prstDash val="solid"/>
          </a:ln>
        </p:spPr>
        <p:txBody>
          <a:bodyPr/>
          <a:lstStyle/>
          <a:p>
            <a:endParaRPr lang="en-SE"/>
          </a:p>
        </p:txBody>
      </p:sp>
      <p:sp>
        <p:nvSpPr>
          <p:cNvPr id="25" name="Text 23"/>
          <p:cNvSpPr/>
          <p:nvPr/>
        </p:nvSpPr>
        <p:spPr>
          <a:xfrm>
            <a:off x="4791456" y="2798064"/>
            <a:ext cx="1078992" cy="274320"/>
          </a:xfrm>
          <a:prstGeom prst="rect">
            <a:avLst/>
          </a:prstGeom>
          <a:noFill/>
          <a:ln/>
        </p:spPr>
        <p:txBody>
          <a:bodyPr wrap="square" lIns="0" tIns="0" rIns="0" bIns="0" rtlCol="0" anchor="ctr"/>
          <a:lstStyle/>
          <a:p>
            <a:pPr marL="0" indent="0" algn="ctr">
              <a:buNone/>
            </a:pPr>
            <a:r>
              <a:rPr lang="en-US" sz="850" b="1" dirty="0">
                <a:solidFill>
                  <a:srgbClr val="C9584C"/>
                </a:solidFill>
                <a:latin typeface="Segoe UI" pitchFamily="34" charset="0"/>
                <a:ea typeface="Segoe UI" pitchFamily="34" charset="-122"/>
                <a:cs typeface="Segoe UI" pitchFamily="34" charset="-120"/>
              </a:rPr>
              <a:t>unacked</a:t>
            </a:r>
            <a:endParaRPr lang="en-US" sz="850" dirty="0"/>
          </a:p>
        </p:txBody>
      </p:sp>
      <p:sp>
        <p:nvSpPr>
          <p:cNvPr id="26" name="chip background">
            <a:extLst>
              <a:ext uri="{C183D7F6-B498-43B3-948B-1728B52AA6E4}">
                <adec:decorative xmlns:adec="http://schemas.microsoft.com/office/drawing/2017/decorative" val="1"/>
              </a:ext>
            </a:extLst>
          </p:cNvPr>
          <p:cNvSpPr/>
          <p:nvPr/>
        </p:nvSpPr>
        <p:spPr>
          <a:xfrm>
            <a:off x="6035040" y="2798064"/>
            <a:ext cx="1737360" cy="274320"/>
          </a:xfrm>
          <a:prstGeom prst="roundRect">
            <a:avLst>
              <a:gd name="adj" fmla="val 40000"/>
            </a:avLst>
          </a:prstGeom>
          <a:solidFill>
            <a:srgbClr val="241F17"/>
          </a:solidFill>
          <a:ln w="12700">
            <a:solidFill>
              <a:srgbClr val="444B55"/>
            </a:solidFill>
            <a:prstDash val="solid"/>
          </a:ln>
        </p:spPr>
        <p:txBody>
          <a:bodyPr/>
          <a:lstStyle/>
          <a:p>
            <a:endParaRPr lang="en-SE"/>
          </a:p>
        </p:txBody>
      </p:sp>
      <p:sp>
        <p:nvSpPr>
          <p:cNvPr id="27" name="Text 25"/>
          <p:cNvSpPr/>
          <p:nvPr/>
        </p:nvSpPr>
        <p:spPr>
          <a:xfrm>
            <a:off x="6089904" y="2798064"/>
            <a:ext cx="1627632" cy="274320"/>
          </a:xfrm>
          <a:prstGeom prst="rect">
            <a:avLst/>
          </a:prstGeom>
          <a:noFill/>
          <a:ln/>
        </p:spPr>
        <p:txBody>
          <a:bodyPr wrap="square" lIns="0" tIns="0" rIns="0" bIns="0" rtlCol="0" anchor="ctr"/>
          <a:lstStyle/>
          <a:p>
            <a:pPr marL="0" indent="0" algn="ctr">
              <a:buNone/>
            </a:pPr>
            <a:r>
              <a:rPr lang="en-US" sz="850" b="1" dirty="0">
                <a:solidFill>
                  <a:srgbClr val="E8A33D"/>
                </a:solidFill>
                <a:latin typeface="Segoe UI" pitchFamily="34" charset="0"/>
                <a:ea typeface="Segoe UI" pitchFamily="34" charset="-122"/>
                <a:cs typeface="Segoe UI" pitchFamily="34" charset="-120"/>
              </a:rPr>
              <a:t>recurred since ack</a:t>
            </a:r>
            <a:endParaRPr lang="en-US" sz="850" dirty="0"/>
          </a:p>
        </p:txBody>
      </p:sp>
      <p:sp>
        <p:nvSpPr>
          <p:cNvPr id="28" name="card background">
            <a:extLst>
              <a:ext uri="{C183D7F6-B498-43B3-948B-1728B52AA6E4}">
                <adec:decorative xmlns:adec="http://schemas.microsoft.com/office/drawing/2017/decorative" val="1"/>
              </a:ext>
            </a:extLst>
          </p:cNvPr>
          <p:cNvSpPr/>
          <p:nvPr/>
        </p:nvSpPr>
        <p:spPr>
          <a:xfrm>
            <a:off x="566928" y="3493008"/>
            <a:ext cx="2542032" cy="1371600"/>
          </a:xfrm>
          <a:prstGeom prst="rect">
            <a:avLst/>
          </a:prstGeom>
          <a:solidFill>
            <a:srgbClr val="212429"/>
          </a:solidFill>
          <a:ln w="12700">
            <a:solidFill>
              <a:srgbClr val="343941"/>
            </a:solidFill>
            <a:prstDash val="solid"/>
          </a:ln>
        </p:spPr>
        <p:txBody>
          <a:bodyPr/>
          <a:lstStyle/>
          <a:p>
            <a:endParaRPr lang="en-SE"/>
          </a:p>
        </p:txBody>
      </p:sp>
      <p:sp>
        <p:nvSpPr>
          <p:cNvPr id="29" name="card top accent">
            <a:extLst>
              <a:ext uri="{C183D7F6-B498-43B3-948B-1728B52AA6E4}">
                <adec:decorative xmlns:adec="http://schemas.microsoft.com/office/drawing/2017/decorative" val="1"/>
              </a:ext>
            </a:extLst>
          </p:cNvPr>
          <p:cNvSpPr/>
          <p:nvPr/>
        </p:nvSpPr>
        <p:spPr>
          <a:xfrm>
            <a:off x="566928" y="3493008"/>
            <a:ext cx="2542032" cy="45720"/>
          </a:xfrm>
          <a:prstGeom prst="rect">
            <a:avLst/>
          </a:prstGeom>
          <a:solidFill>
            <a:srgbClr val="6FA88A"/>
          </a:solidFill>
          <a:ln w="12700">
            <a:solidFill>
              <a:srgbClr val="333333"/>
            </a:solidFill>
            <a:prstDash val="solid"/>
          </a:ln>
        </p:spPr>
        <p:txBody>
          <a:bodyPr/>
          <a:lstStyle/>
          <a:p>
            <a:endParaRPr lang="en-SE"/>
          </a:p>
        </p:txBody>
      </p:sp>
      <p:sp>
        <p:nvSpPr>
          <p:cNvPr id="30" name="Text 28"/>
          <p:cNvSpPr/>
          <p:nvPr/>
        </p:nvSpPr>
        <p:spPr>
          <a:xfrm>
            <a:off x="768096" y="3639312"/>
            <a:ext cx="2139696"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Segoe UI" pitchFamily="34" charset="0"/>
                <a:ea typeface="Segoe UI" pitchFamily="34" charset="-122"/>
                <a:cs typeface="Segoe UI" pitchFamily="34" charset="-120"/>
              </a:rPr>
              <a:t>Acknowledge</a:t>
            </a:r>
            <a:endParaRPr lang="en-US" sz="1200" dirty="0"/>
          </a:p>
        </p:txBody>
      </p:sp>
      <p:sp>
        <p:nvSpPr>
          <p:cNvPr id="31" name="Text 29"/>
          <p:cNvSpPr/>
          <p:nvPr/>
        </p:nvSpPr>
        <p:spPr>
          <a:xfrm>
            <a:off x="768096" y="3931920"/>
            <a:ext cx="2139696" cy="841248"/>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Marks it handled, attributed to your name, with an optional note recording what was done.</a:t>
            </a:r>
            <a:endParaRPr lang="en-US" sz="950" dirty="0"/>
          </a:p>
        </p:txBody>
      </p:sp>
      <p:sp>
        <p:nvSpPr>
          <p:cNvPr id="32" name="card background">
            <a:extLst>
              <a:ext uri="{C183D7F6-B498-43B3-948B-1728B52AA6E4}">
                <adec:decorative xmlns:adec="http://schemas.microsoft.com/office/drawing/2017/decorative" val="1"/>
              </a:ext>
            </a:extLst>
          </p:cNvPr>
          <p:cNvSpPr/>
          <p:nvPr/>
        </p:nvSpPr>
        <p:spPr>
          <a:xfrm>
            <a:off x="3328416" y="3493008"/>
            <a:ext cx="2542032" cy="1371600"/>
          </a:xfrm>
          <a:prstGeom prst="rect">
            <a:avLst/>
          </a:prstGeom>
          <a:solidFill>
            <a:srgbClr val="212429"/>
          </a:solidFill>
          <a:ln w="12700">
            <a:solidFill>
              <a:srgbClr val="343941"/>
            </a:solidFill>
            <a:prstDash val="solid"/>
          </a:ln>
        </p:spPr>
        <p:txBody>
          <a:bodyPr/>
          <a:lstStyle/>
          <a:p>
            <a:endParaRPr lang="en-SE"/>
          </a:p>
        </p:txBody>
      </p:sp>
      <p:sp>
        <p:nvSpPr>
          <p:cNvPr id="33" name="card top accent">
            <a:extLst>
              <a:ext uri="{C183D7F6-B498-43B3-948B-1728B52AA6E4}">
                <adec:decorative xmlns:adec="http://schemas.microsoft.com/office/drawing/2017/decorative" val="1"/>
              </a:ext>
            </a:extLst>
          </p:cNvPr>
          <p:cNvSpPr/>
          <p:nvPr/>
        </p:nvSpPr>
        <p:spPr>
          <a:xfrm>
            <a:off x="3328416" y="3493008"/>
            <a:ext cx="2542032" cy="45720"/>
          </a:xfrm>
          <a:prstGeom prst="rect">
            <a:avLst/>
          </a:prstGeom>
          <a:solidFill>
            <a:srgbClr val="E8A33D"/>
          </a:solidFill>
          <a:ln w="12700">
            <a:solidFill>
              <a:srgbClr val="333333"/>
            </a:solidFill>
            <a:prstDash val="solid"/>
          </a:ln>
        </p:spPr>
        <p:txBody>
          <a:bodyPr/>
          <a:lstStyle/>
          <a:p>
            <a:endParaRPr lang="en-SE"/>
          </a:p>
        </p:txBody>
      </p:sp>
      <p:sp>
        <p:nvSpPr>
          <p:cNvPr id="34" name="Text 32"/>
          <p:cNvSpPr/>
          <p:nvPr/>
        </p:nvSpPr>
        <p:spPr>
          <a:xfrm>
            <a:off x="3529584" y="3639312"/>
            <a:ext cx="2139696"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Segoe UI" pitchFamily="34" charset="0"/>
                <a:ea typeface="Segoe UI" pitchFamily="34" charset="-122"/>
                <a:cs typeface="Segoe UI" pitchFamily="34" charset="-120"/>
              </a:rPr>
              <a:t>Recurred since ack</a:t>
            </a:r>
            <a:endParaRPr lang="en-US" sz="1200" dirty="0"/>
          </a:p>
        </p:txBody>
      </p:sp>
      <p:sp>
        <p:nvSpPr>
          <p:cNvPr id="35" name="Text 33"/>
          <p:cNvSpPr/>
          <p:nvPr/>
        </p:nvSpPr>
        <p:spPr>
          <a:xfrm>
            <a:off x="3529584" y="3931920"/>
            <a:ext cx="2139696" cy="841248"/>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Flagged prominently when a fingerprint fires again after being acknowledged — the fix did not hold.</a:t>
            </a:r>
            <a:endParaRPr lang="en-US" sz="950" dirty="0"/>
          </a:p>
        </p:txBody>
      </p:sp>
      <p:sp>
        <p:nvSpPr>
          <p:cNvPr id="36" name="card background">
            <a:extLst>
              <a:ext uri="{C183D7F6-B498-43B3-948B-1728B52AA6E4}">
                <adec:decorative xmlns:adec="http://schemas.microsoft.com/office/drawing/2017/decorative" val="1"/>
              </a:ext>
            </a:extLst>
          </p:cNvPr>
          <p:cNvSpPr/>
          <p:nvPr/>
        </p:nvSpPr>
        <p:spPr>
          <a:xfrm>
            <a:off x="6089904" y="3493008"/>
            <a:ext cx="2542032" cy="1371600"/>
          </a:xfrm>
          <a:prstGeom prst="rect">
            <a:avLst/>
          </a:prstGeom>
          <a:solidFill>
            <a:srgbClr val="212429"/>
          </a:solidFill>
          <a:ln w="12700">
            <a:solidFill>
              <a:srgbClr val="343941"/>
            </a:solidFill>
            <a:prstDash val="solid"/>
          </a:ln>
        </p:spPr>
        <p:txBody>
          <a:bodyPr/>
          <a:lstStyle/>
          <a:p>
            <a:endParaRPr lang="en-SE"/>
          </a:p>
        </p:txBody>
      </p:sp>
      <p:sp>
        <p:nvSpPr>
          <p:cNvPr id="37" name="card top accent">
            <a:extLst>
              <a:ext uri="{C183D7F6-B498-43B3-948B-1728B52AA6E4}">
                <adec:decorative xmlns:adec="http://schemas.microsoft.com/office/drawing/2017/decorative" val="1"/>
              </a:ext>
            </a:extLst>
          </p:cNvPr>
          <p:cNvSpPr/>
          <p:nvPr/>
        </p:nvSpPr>
        <p:spPr>
          <a:xfrm>
            <a:off x="6089904" y="3493008"/>
            <a:ext cx="2542032" cy="45720"/>
          </a:xfrm>
          <a:prstGeom prst="rect">
            <a:avLst/>
          </a:prstGeom>
          <a:solidFill>
            <a:srgbClr val="C9584C"/>
          </a:solidFill>
          <a:ln w="12700">
            <a:solidFill>
              <a:srgbClr val="333333"/>
            </a:solidFill>
            <a:prstDash val="solid"/>
          </a:ln>
        </p:spPr>
        <p:txBody>
          <a:bodyPr/>
          <a:lstStyle/>
          <a:p>
            <a:endParaRPr lang="en-SE"/>
          </a:p>
        </p:txBody>
      </p:sp>
      <p:sp>
        <p:nvSpPr>
          <p:cNvPr id="38" name="Text 36"/>
          <p:cNvSpPr/>
          <p:nvPr/>
        </p:nvSpPr>
        <p:spPr>
          <a:xfrm>
            <a:off x="6291072" y="3639312"/>
            <a:ext cx="2139696" cy="292608"/>
          </a:xfrm>
          <a:prstGeom prst="rect">
            <a:avLst/>
          </a:prstGeom>
          <a:noFill/>
          <a:ln/>
        </p:spPr>
        <p:txBody>
          <a:bodyPr wrap="square" lIns="0" tIns="0" rIns="0" bIns="0" rtlCol="0" anchor="ctr"/>
          <a:lstStyle/>
          <a:p>
            <a:pPr marL="0" indent="0" algn="l">
              <a:buNone/>
            </a:pPr>
            <a:r>
              <a:rPr lang="en-US" sz="1200" b="1" dirty="0">
                <a:solidFill>
                  <a:srgbClr val="EDEEF1"/>
                </a:solidFill>
                <a:latin typeface="Segoe UI" pitchFamily="34" charset="0"/>
                <a:ea typeface="Segoe UI" pitchFamily="34" charset="-122"/>
                <a:cs typeface="Segoe UI" pitchFamily="34" charset="-120"/>
              </a:rPr>
              <a:t>Shared, not personal</a:t>
            </a:r>
            <a:endParaRPr lang="en-US" sz="1200" dirty="0"/>
          </a:p>
        </p:txBody>
      </p:sp>
      <p:sp>
        <p:nvSpPr>
          <p:cNvPr id="39" name="Text 37"/>
          <p:cNvSpPr/>
          <p:nvPr/>
        </p:nvSpPr>
        <p:spPr>
          <a:xfrm>
            <a:off x="6291072" y="3931920"/>
            <a:ext cx="2139696" cy="841248"/>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Acks live in the bridge's own store, so every operator sees the same state. It is a statement to your colleagues.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ANALYSIS</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33</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Processes, Diagnostics and Health</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The three views you open when something looks wrong but you do not yet know what.</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37360"/>
            <a:ext cx="2542032" cy="301752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37360"/>
            <a:ext cx="2542032" cy="45720"/>
          </a:xfrm>
          <a:prstGeom prst="rect">
            <a:avLst/>
          </a:prstGeom>
          <a:solidFill>
            <a:srgbClr val="6FA88A"/>
          </a:solidFill>
          <a:ln w="12700">
            <a:solidFill>
              <a:srgbClr val="333333"/>
            </a:solidFill>
            <a:prstDash val="solid"/>
          </a:ln>
        </p:spPr>
        <p:txBody>
          <a:bodyPr/>
          <a:lstStyle/>
          <a:p>
            <a:endParaRPr lang="en-SE"/>
          </a:p>
        </p:txBody>
      </p:sp>
      <p:sp>
        <p:nvSpPr>
          <p:cNvPr id="10" name="Text 8"/>
          <p:cNvSpPr/>
          <p:nvPr/>
        </p:nvSpPr>
        <p:spPr>
          <a:xfrm>
            <a:off x="768096" y="1883664"/>
            <a:ext cx="2139696"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Processes</a:t>
            </a:r>
            <a:endParaRPr lang="en-US" sz="1500" dirty="0"/>
          </a:p>
        </p:txBody>
      </p:sp>
      <p:sp>
        <p:nvSpPr>
          <p:cNvPr id="11" name="Text 9"/>
          <p:cNvSpPr/>
          <p:nvPr/>
        </p:nvSpPr>
        <p:spPr>
          <a:xfrm>
            <a:off x="768096" y="2194560"/>
            <a:ext cx="2139696" cy="402336"/>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Every process that has ever connected, with a status glyph.</a:t>
            </a:r>
            <a:endParaRPr lang="en-US" sz="950" dirty="0"/>
          </a:p>
        </p:txBody>
      </p:sp>
      <p:sp>
        <p:nvSpPr>
          <p:cNvPr id="12" name="Text 10"/>
          <p:cNvSpPr/>
          <p:nvPr/>
        </p:nvSpPr>
        <p:spPr>
          <a:xfrm>
            <a:off x="768096" y="2688336"/>
            <a:ext cx="274320" cy="292608"/>
          </a:xfrm>
          <a:prstGeom prst="rect">
            <a:avLst/>
          </a:prstGeom>
          <a:noFill/>
          <a:ln/>
        </p:spPr>
        <p:txBody>
          <a:bodyPr wrap="square" lIns="0" tIns="0" rIns="0" bIns="0" rtlCol="0" anchor="ctr"/>
          <a:lstStyle/>
          <a:p>
            <a:pPr marL="0" indent="0" algn="l">
              <a:lnSpc>
                <a:spcPts val="1500"/>
              </a:lnSpc>
              <a:buNone/>
            </a:pPr>
            <a:r>
              <a:rPr lang="en-US" sz="1200" dirty="0">
                <a:solidFill>
                  <a:srgbClr val="6FA88A"/>
                </a:solidFill>
                <a:latin typeface="Consolas" pitchFamily="34" charset="0"/>
                <a:ea typeface="Consolas" pitchFamily="34" charset="-122"/>
                <a:cs typeface="Consolas" pitchFamily="34" charset="-120"/>
              </a:rPr>
              <a:t>●</a:t>
            </a:r>
            <a:endParaRPr lang="en-US" sz="1200" dirty="0"/>
          </a:p>
        </p:txBody>
      </p:sp>
      <p:sp>
        <p:nvSpPr>
          <p:cNvPr id="13" name="Text 11"/>
          <p:cNvSpPr/>
          <p:nvPr/>
        </p:nvSpPr>
        <p:spPr>
          <a:xfrm>
            <a:off x="1078992" y="2688336"/>
            <a:ext cx="1828800" cy="292608"/>
          </a:xfrm>
          <a:prstGeom prst="rect">
            <a:avLst/>
          </a:prstGeom>
          <a:noFill/>
          <a:ln/>
        </p:spPr>
        <p:txBody>
          <a:bodyPr wrap="square" lIns="0" tIns="0" rIns="0" bIns="0" rtlCol="0" anchor="ctr"/>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Connected and logging</a:t>
            </a:r>
            <a:endParaRPr lang="en-US" sz="900" dirty="0"/>
          </a:p>
        </p:txBody>
      </p:sp>
      <p:sp>
        <p:nvSpPr>
          <p:cNvPr id="14" name="Text 12"/>
          <p:cNvSpPr/>
          <p:nvPr/>
        </p:nvSpPr>
        <p:spPr>
          <a:xfrm>
            <a:off x="768096" y="3090672"/>
            <a:ext cx="274320" cy="292608"/>
          </a:xfrm>
          <a:prstGeom prst="rect">
            <a:avLst/>
          </a:prstGeom>
          <a:noFill/>
          <a:ln/>
        </p:spPr>
        <p:txBody>
          <a:bodyPr wrap="square" lIns="0" tIns="0" rIns="0" bIns="0" rtlCol="0" anchor="ctr"/>
          <a:lstStyle/>
          <a:p>
            <a:pPr marL="0" indent="0" algn="l">
              <a:lnSpc>
                <a:spcPts val="1500"/>
              </a:lnSpc>
              <a:buNone/>
            </a:pPr>
            <a:r>
              <a:rPr lang="en-US" sz="1200" dirty="0">
                <a:solidFill>
                  <a:srgbClr val="E8A33D"/>
                </a:solidFill>
                <a:latin typeface="Consolas" pitchFamily="34" charset="0"/>
                <a:ea typeface="Consolas" pitchFamily="34" charset="-122"/>
                <a:cs typeface="Consolas" pitchFamily="34" charset="-120"/>
              </a:rPr>
              <a:t>⚠</a:t>
            </a:r>
            <a:endParaRPr lang="en-US" sz="1200" dirty="0"/>
          </a:p>
        </p:txBody>
      </p:sp>
      <p:sp>
        <p:nvSpPr>
          <p:cNvPr id="15" name="Text 13"/>
          <p:cNvSpPr/>
          <p:nvPr/>
        </p:nvSpPr>
        <p:spPr>
          <a:xfrm>
            <a:off x="1078992" y="3090672"/>
            <a:ext cx="1828800" cy="292608"/>
          </a:xfrm>
          <a:prstGeom prst="rect">
            <a:avLst/>
          </a:prstGeom>
          <a:noFill/>
          <a:ln/>
        </p:spPr>
        <p:txBody>
          <a:bodyPr wrap="square" lIns="0" tIns="0" rIns="0" bIns="0" rtlCol="0" anchor="ctr"/>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Connected but silent 30 s+</a:t>
            </a:r>
            <a:endParaRPr lang="en-US" sz="900" dirty="0"/>
          </a:p>
        </p:txBody>
      </p:sp>
      <p:sp>
        <p:nvSpPr>
          <p:cNvPr id="16" name="Text 14"/>
          <p:cNvSpPr/>
          <p:nvPr/>
        </p:nvSpPr>
        <p:spPr>
          <a:xfrm>
            <a:off x="768096" y="3493008"/>
            <a:ext cx="274320" cy="292608"/>
          </a:xfrm>
          <a:prstGeom prst="rect">
            <a:avLst/>
          </a:prstGeom>
          <a:noFill/>
          <a:ln/>
        </p:spPr>
        <p:txBody>
          <a:bodyPr wrap="square" lIns="0" tIns="0" rIns="0" bIns="0" rtlCol="0" anchor="ctr"/>
          <a:lstStyle/>
          <a:p>
            <a:pPr marL="0" indent="0" algn="l">
              <a:lnSpc>
                <a:spcPts val="1500"/>
              </a:lnSpc>
              <a:buNone/>
            </a:pPr>
            <a:r>
              <a:rPr lang="en-US" sz="1200" dirty="0">
                <a:solidFill>
                  <a:srgbClr val="747B87"/>
                </a:solidFill>
                <a:latin typeface="Consolas" pitchFamily="34" charset="0"/>
                <a:ea typeface="Consolas" pitchFamily="34" charset="-122"/>
                <a:cs typeface="Consolas" pitchFamily="34" charset="-120"/>
              </a:rPr>
              <a:t>○</a:t>
            </a:r>
            <a:endParaRPr lang="en-US" sz="1200" dirty="0"/>
          </a:p>
        </p:txBody>
      </p:sp>
      <p:sp>
        <p:nvSpPr>
          <p:cNvPr id="17" name="Text 15"/>
          <p:cNvSpPr/>
          <p:nvPr/>
        </p:nvSpPr>
        <p:spPr>
          <a:xfrm>
            <a:off x="1078992" y="3493008"/>
            <a:ext cx="1828800" cy="292608"/>
          </a:xfrm>
          <a:prstGeom prst="rect">
            <a:avLst/>
          </a:prstGeom>
          <a:noFill/>
          <a:ln/>
        </p:spPr>
        <p:txBody>
          <a:bodyPr wrap="square" lIns="0" tIns="0" rIns="0" bIns="0" rtlCol="0" anchor="ctr"/>
          <a:lstStyle/>
          <a:p>
            <a:pPr marL="0" indent="0" algn="l">
              <a:lnSpc>
                <a:spcPts val="1278"/>
              </a:lnSpc>
              <a:buNone/>
            </a:pPr>
            <a:r>
              <a:rPr lang="en-US" sz="900" dirty="0">
                <a:solidFill>
                  <a:srgbClr val="A3A9B4"/>
                </a:solidFill>
                <a:latin typeface="Segoe UI" pitchFamily="34" charset="0"/>
                <a:ea typeface="Segoe UI" pitchFamily="34" charset="-122"/>
                <a:cs typeface="Segoe UI" pitchFamily="34" charset="-120"/>
              </a:rPr>
              <a:t>Disconnected</a:t>
            </a:r>
            <a:endParaRPr lang="en-US" sz="900" dirty="0"/>
          </a:p>
        </p:txBody>
      </p:sp>
      <p:sp>
        <p:nvSpPr>
          <p:cNvPr id="18" name="Text 16"/>
          <p:cNvSpPr/>
          <p:nvPr/>
        </p:nvSpPr>
        <p:spPr>
          <a:xfrm>
            <a:off x="768096" y="3950208"/>
            <a:ext cx="2139696" cy="713232"/>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The ⚠ state is the one to watch: a process that connected then went quiet shows nothing at all in the logs, which is precisely the problem.</a:t>
            </a:r>
            <a:endParaRPr lang="en-US" sz="900" dirty="0"/>
          </a:p>
        </p:txBody>
      </p:sp>
      <p:sp>
        <p:nvSpPr>
          <p:cNvPr id="19" name="card background">
            <a:extLst>
              <a:ext uri="{C183D7F6-B498-43B3-948B-1728B52AA6E4}">
                <adec:decorative xmlns:adec="http://schemas.microsoft.com/office/drawing/2017/decorative" val="1"/>
              </a:ext>
            </a:extLst>
          </p:cNvPr>
          <p:cNvSpPr/>
          <p:nvPr/>
        </p:nvSpPr>
        <p:spPr>
          <a:xfrm>
            <a:off x="3328416" y="1737360"/>
            <a:ext cx="2542032" cy="301752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0" name="card top accent">
            <a:extLst>
              <a:ext uri="{C183D7F6-B498-43B3-948B-1728B52AA6E4}">
                <adec:decorative xmlns:adec="http://schemas.microsoft.com/office/drawing/2017/decorative" val="1"/>
              </a:ext>
            </a:extLst>
          </p:cNvPr>
          <p:cNvSpPr/>
          <p:nvPr/>
        </p:nvSpPr>
        <p:spPr>
          <a:xfrm>
            <a:off x="3328416" y="1737360"/>
            <a:ext cx="2542032" cy="45720"/>
          </a:xfrm>
          <a:prstGeom prst="rect">
            <a:avLst/>
          </a:prstGeom>
          <a:solidFill>
            <a:srgbClr val="8A7EA8"/>
          </a:solidFill>
          <a:ln w="12700">
            <a:solidFill>
              <a:srgbClr val="333333"/>
            </a:solidFill>
            <a:prstDash val="solid"/>
          </a:ln>
        </p:spPr>
        <p:txBody>
          <a:bodyPr/>
          <a:lstStyle/>
          <a:p>
            <a:endParaRPr lang="en-SE"/>
          </a:p>
        </p:txBody>
      </p:sp>
      <p:sp>
        <p:nvSpPr>
          <p:cNvPr id="21" name="Text 19"/>
          <p:cNvSpPr/>
          <p:nvPr/>
        </p:nvSpPr>
        <p:spPr>
          <a:xfrm>
            <a:off x="3529584" y="1883664"/>
            <a:ext cx="2139696"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Diagnostics</a:t>
            </a:r>
            <a:endParaRPr lang="en-US" sz="1500" dirty="0"/>
          </a:p>
        </p:txBody>
      </p:sp>
      <p:sp>
        <p:nvSpPr>
          <p:cNvPr id="22" name="Text 20"/>
          <p:cNvSpPr/>
          <p:nvPr/>
        </p:nvSpPr>
        <p:spPr>
          <a:xfrm>
            <a:off x="3529584" y="2194560"/>
            <a:ext cx="2139696" cy="457200"/>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Runs the same rule-based heuristics the command-line tool uses, every 60 seconds.</a:t>
            </a:r>
            <a:endParaRPr lang="en-US" sz="950" dirty="0"/>
          </a:p>
        </p:txBody>
      </p:sp>
      <p:sp>
        <p:nvSpPr>
          <p:cNvPr id="23" name="card background">
            <a:extLst>
              <a:ext uri="{C183D7F6-B498-43B3-948B-1728B52AA6E4}">
                <adec:decorative xmlns:adec="http://schemas.microsoft.com/office/drawing/2017/decorative" val="1"/>
              </a:ext>
            </a:extLst>
          </p:cNvPr>
          <p:cNvSpPr/>
          <p:nvPr/>
        </p:nvSpPr>
        <p:spPr>
          <a:xfrm>
            <a:off x="3529584" y="2724912"/>
            <a:ext cx="2139696" cy="987552"/>
          </a:xfrm>
          <a:prstGeom prst="rect">
            <a:avLst/>
          </a:prstGeom>
          <a:solidFill>
            <a:srgbClr val="1D1A1A"/>
          </a:solidFill>
          <a:ln w="12700">
            <a:solidFill>
              <a:srgbClr val="343941"/>
            </a:solidFill>
            <a:prstDash val="solid"/>
          </a:ln>
        </p:spPr>
        <p:txBody>
          <a:bodyPr/>
          <a:lstStyle/>
          <a:p>
            <a:endParaRPr lang="en-SE"/>
          </a:p>
        </p:txBody>
      </p:sp>
      <p:sp>
        <p:nvSpPr>
          <p:cNvPr id="24" name="Text 22"/>
          <p:cNvSpPr/>
          <p:nvPr/>
        </p:nvSpPr>
        <p:spPr>
          <a:xfrm>
            <a:off x="3639312" y="2816352"/>
            <a:ext cx="1920240" cy="201168"/>
          </a:xfrm>
          <a:prstGeom prst="rect">
            <a:avLst/>
          </a:prstGeom>
          <a:noFill/>
          <a:ln/>
        </p:spPr>
        <p:txBody>
          <a:bodyPr wrap="square" lIns="0" tIns="0" rIns="0" bIns="0" rtlCol="0" anchor="ctr"/>
          <a:lstStyle/>
          <a:p>
            <a:pPr marL="0" indent="0" algn="l">
              <a:lnSpc>
                <a:spcPts val="1500"/>
              </a:lnSpc>
              <a:buNone/>
            </a:pPr>
            <a:r>
              <a:rPr lang="en-US" sz="750" dirty="0">
                <a:solidFill>
                  <a:srgbClr val="E8A33D"/>
                </a:solidFill>
                <a:latin typeface="Consolas" pitchFamily="34" charset="0"/>
                <a:ea typeface="Consolas" pitchFamily="34" charset="-122"/>
                <a:cs typeface="Consolas" pitchFamily="34" charset="-120"/>
              </a:rPr>
              <a:t>[WARNING] repeated_warning</a:t>
            </a:r>
            <a:endParaRPr lang="en-US" sz="750" dirty="0"/>
          </a:p>
        </p:txBody>
      </p:sp>
      <p:sp>
        <p:nvSpPr>
          <p:cNvPr id="25" name="Text 23"/>
          <p:cNvSpPr/>
          <p:nvPr/>
        </p:nvSpPr>
        <p:spPr>
          <a:xfrm>
            <a:off x="3639312" y="3017520"/>
            <a:ext cx="1920240" cy="365760"/>
          </a:xfrm>
          <a:prstGeom prst="rect">
            <a:avLst/>
          </a:prstGeom>
          <a:noFill/>
          <a:ln/>
        </p:spPr>
        <p:txBody>
          <a:bodyPr wrap="square" lIns="0" tIns="0" rIns="0" bIns="0" rtlCol="0" anchor="t"/>
          <a:lstStyle/>
          <a:p>
            <a:pPr marL="0" indent="0" algn="l">
              <a:lnSpc>
                <a:spcPts val="1136"/>
              </a:lnSpc>
              <a:buNone/>
            </a:pPr>
            <a:r>
              <a:rPr lang="en-US" sz="800" dirty="0">
                <a:solidFill>
                  <a:srgbClr val="A3A9B4"/>
                </a:solidFill>
                <a:latin typeface="Segoe UI" pitchFamily="34" charset="0"/>
                <a:ea typeface="Segoe UI" pitchFamily="34" charset="-122"/>
                <a:cs typeface="Segoe UI" pitchFamily="34" charset="-120"/>
              </a:rPr>
              <a:t>pm-api-gwy logged "ENGINE_TIMEOUT" 47 times in the last hour</a:t>
            </a:r>
            <a:endParaRPr lang="en-US" sz="800" dirty="0"/>
          </a:p>
        </p:txBody>
      </p:sp>
      <p:sp>
        <p:nvSpPr>
          <p:cNvPr id="26" name="Text 24"/>
          <p:cNvSpPr/>
          <p:nvPr/>
        </p:nvSpPr>
        <p:spPr>
          <a:xfrm>
            <a:off x="3639312" y="3419856"/>
            <a:ext cx="1920240" cy="219456"/>
          </a:xfrm>
          <a:prstGeom prst="rect">
            <a:avLst/>
          </a:prstGeom>
          <a:noFill/>
          <a:ln/>
        </p:spPr>
        <p:txBody>
          <a:bodyPr wrap="square" lIns="0" tIns="0" rIns="0" bIns="0" rtlCol="0" anchor="ctr"/>
          <a:lstStyle/>
          <a:p>
            <a:pPr marL="0" indent="0" algn="l">
              <a:lnSpc>
                <a:spcPts val="1500"/>
              </a:lnSpc>
              <a:buNone/>
            </a:pPr>
            <a:r>
              <a:rPr lang="en-US" sz="720" dirty="0">
                <a:solidFill>
                  <a:srgbClr val="747B87"/>
                </a:solidFill>
                <a:latin typeface="Consolas" pitchFamily="34" charset="0"/>
                <a:ea typeface="Consolas" pitchFamily="34" charset="-122"/>
                <a:cs typeface="Consolas" pitchFamily="34" charset="-120"/>
              </a:rPr>
              <a:t>reproduce with: pm-log-cli query …</a:t>
            </a:r>
            <a:endParaRPr lang="en-US" sz="720" dirty="0"/>
          </a:p>
        </p:txBody>
      </p:sp>
      <p:sp>
        <p:nvSpPr>
          <p:cNvPr id="27" name="Text 25"/>
          <p:cNvSpPr/>
          <p:nvPr/>
        </p:nvSpPr>
        <p:spPr>
          <a:xfrm>
            <a:off x="3529584" y="3840480"/>
            <a:ext cx="2139696" cy="822960"/>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Every finding cites the exact command that reproduces it — so you can always drill from “this is flagged” to the actual log lines.</a:t>
            </a:r>
            <a:endParaRPr lang="en-US" sz="900" dirty="0"/>
          </a:p>
        </p:txBody>
      </p:sp>
      <p:sp>
        <p:nvSpPr>
          <p:cNvPr id="28" name="card background">
            <a:extLst>
              <a:ext uri="{C183D7F6-B498-43B3-948B-1728B52AA6E4}">
                <adec:decorative xmlns:adec="http://schemas.microsoft.com/office/drawing/2017/decorative" val="1"/>
              </a:ext>
            </a:extLst>
          </p:cNvPr>
          <p:cNvSpPr/>
          <p:nvPr/>
        </p:nvSpPr>
        <p:spPr>
          <a:xfrm>
            <a:off x="6035040" y="1737360"/>
            <a:ext cx="2542032" cy="3017520"/>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9" name="card top accent">
            <a:extLst>
              <a:ext uri="{C183D7F6-B498-43B3-948B-1728B52AA6E4}">
                <adec:decorative xmlns:adec="http://schemas.microsoft.com/office/drawing/2017/decorative" val="1"/>
              </a:ext>
            </a:extLst>
          </p:cNvPr>
          <p:cNvSpPr/>
          <p:nvPr/>
        </p:nvSpPr>
        <p:spPr>
          <a:xfrm>
            <a:off x="6035040" y="1737360"/>
            <a:ext cx="2542032" cy="45720"/>
          </a:xfrm>
          <a:prstGeom prst="rect">
            <a:avLst/>
          </a:prstGeom>
          <a:solidFill>
            <a:srgbClr val="7F8AA0"/>
          </a:solidFill>
          <a:ln w="12700">
            <a:solidFill>
              <a:srgbClr val="333333"/>
            </a:solidFill>
            <a:prstDash val="solid"/>
          </a:ln>
        </p:spPr>
        <p:txBody>
          <a:bodyPr/>
          <a:lstStyle/>
          <a:p>
            <a:endParaRPr lang="en-SE"/>
          </a:p>
        </p:txBody>
      </p:sp>
      <p:sp>
        <p:nvSpPr>
          <p:cNvPr id="30" name="Text 28"/>
          <p:cNvSpPr/>
          <p:nvPr/>
        </p:nvSpPr>
        <p:spPr>
          <a:xfrm>
            <a:off x="6236208" y="1883664"/>
            <a:ext cx="2139696"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Health</a:t>
            </a:r>
            <a:endParaRPr lang="en-US" sz="1500" dirty="0"/>
          </a:p>
        </p:txBody>
      </p:sp>
      <p:sp>
        <p:nvSpPr>
          <p:cNvPr id="31" name="Text 29"/>
          <p:cNvSpPr/>
          <p:nvPr/>
        </p:nvSpPr>
        <p:spPr>
          <a:xfrm>
            <a:off x="6236208" y="2194560"/>
            <a:ext cx="2139696" cy="548640"/>
          </a:xfrm>
          <a:prstGeom prst="rect">
            <a:avLst/>
          </a:prstGeom>
          <a:noFill/>
          <a:ln/>
        </p:spPr>
        <p:txBody>
          <a:bodyPr wrap="square" lIns="0" tIns="0" rIns="0" bIns="0" rtlCol="0" anchor="t"/>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Four panels for four components that fail independently — kept separate, never merged into one light.</a:t>
            </a:r>
            <a:endParaRPr lang="en-US" sz="950" dirty="0"/>
          </a:p>
        </p:txBody>
      </p:sp>
      <p:sp>
        <p:nvSpPr>
          <p:cNvPr id="32" name="health panel row">
            <a:extLst>
              <a:ext uri="{C183D7F6-B498-43B3-948B-1728B52AA6E4}">
                <adec:decorative xmlns:adec="http://schemas.microsoft.com/office/drawing/2017/decorative" val="1"/>
              </a:ext>
            </a:extLst>
          </p:cNvPr>
          <p:cNvSpPr/>
          <p:nvPr/>
        </p:nvSpPr>
        <p:spPr>
          <a:xfrm>
            <a:off x="6236208" y="2798064"/>
            <a:ext cx="2139696" cy="347472"/>
          </a:xfrm>
          <a:prstGeom prst="rect">
            <a:avLst/>
          </a:prstGeom>
          <a:solidFill>
            <a:srgbClr val="282C33"/>
          </a:solidFill>
          <a:ln w="12700">
            <a:solidFill>
              <a:srgbClr val="333333"/>
            </a:solidFill>
            <a:prstDash val="solid"/>
          </a:ln>
        </p:spPr>
        <p:txBody>
          <a:bodyPr/>
          <a:lstStyle/>
          <a:p>
            <a:endParaRPr lang="en-SE"/>
          </a:p>
        </p:txBody>
      </p:sp>
      <p:sp>
        <p:nvSpPr>
          <p:cNvPr id="33" name="Text 31"/>
          <p:cNvSpPr/>
          <p:nvPr/>
        </p:nvSpPr>
        <p:spPr>
          <a:xfrm>
            <a:off x="6327648" y="2798064"/>
            <a:ext cx="914400" cy="347472"/>
          </a:xfrm>
          <a:prstGeom prst="rect">
            <a:avLst/>
          </a:prstGeom>
          <a:noFill/>
          <a:ln/>
        </p:spPr>
        <p:txBody>
          <a:bodyPr wrap="square" lIns="0" tIns="0" rIns="0" bIns="0" rtlCol="0" anchor="ctr"/>
          <a:lstStyle/>
          <a:p>
            <a:pPr marL="0" indent="0" algn="l">
              <a:lnSpc>
                <a:spcPts val="1500"/>
              </a:lnSpc>
              <a:buNone/>
            </a:pPr>
            <a:r>
              <a:rPr lang="en-US" sz="850" dirty="0">
                <a:solidFill>
                  <a:srgbClr val="F6C978"/>
                </a:solidFill>
                <a:latin typeface="Consolas" pitchFamily="34" charset="0"/>
                <a:ea typeface="Consolas" pitchFamily="34" charset="-122"/>
                <a:cs typeface="Consolas" pitchFamily="34" charset="-120"/>
              </a:rPr>
              <a:t>pm-log-srv</a:t>
            </a:r>
            <a:endParaRPr lang="en-US" sz="850" dirty="0"/>
          </a:p>
        </p:txBody>
      </p:sp>
      <p:sp>
        <p:nvSpPr>
          <p:cNvPr id="34" name="Text 32"/>
          <p:cNvSpPr/>
          <p:nvPr/>
        </p:nvSpPr>
        <p:spPr>
          <a:xfrm>
            <a:off x="7242048" y="2798064"/>
            <a:ext cx="1097280" cy="347472"/>
          </a:xfrm>
          <a:prstGeom prst="rect">
            <a:avLst/>
          </a:prstGeom>
          <a:noFill/>
          <a:ln/>
        </p:spPr>
        <p:txBody>
          <a:bodyPr wrap="square" lIns="0" tIns="0" rIns="0" bIns="0" rtlCol="0" anchor="ctr"/>
          <a:lstStyle/>
          <a:p>
            <a:pPr marL="0" indent="0" algn="l">
              <a:lnSpc>
                <a:spcPts val="1065"/>
              </a:lnSpc>
              <a:buNone/>
            </a:pPr>
            <a:r>
              <a:rPr lang="en-US" sz="750" dirty="0">
                <a:solidFill>
                  <a:srgbClr val="A3A9B4"/>
                </a:solidFill>
                <a:latin typeface="Segoe UI" pitchFamily="34" charset="0"/>
                <a:ea typeface="Segoe UI" pitchFamily="34" charset="-122"/>
                <a:cs typeface="Segoe UI" pitchFamily="34" charset="-120"/>
              </a:rPr>
              <a:t>events, connections, truncations</a:t>
            </a:r>
            <a:endParaRPr lang="en-US" sz="750" dirty="0"/>
          </a:p>
        </p:txBody>
      </p:sp>
      <p:sp>
        <p:nvSpPr>
          <p:cNvPr id="35" name="health panel row">
            <a:extLst>
              <a:ext uri="{C183D7F6-B498-43B3-948B-1728B52AA6E4}">
                <adec:decorative xmlns:adec="http://schemas.microsoft.com/office/drawing/2017/decorative" val="1"/>
              </a:ext>
            </a:extLst>
          </p:cNvPr>
          <p:cNvSpPr/>
          <p:nvPr/>
        </p:nvSpPr>
        <p:spPr>
          <a:xfrm>
            <a:off x="6236208" y="3200400"/>
            <a:ext cx="2139696" cy="347472"/>
          </a:xfrm>
          <a:prstGeom prst="rect">
            <a:avLst/>
          </a:prstGeom>
          <a:solidFill>
            <a:srgbClr val="1B1E23"/>
          </a:solidFill>
          <a:ln w="12700">
            <a:solidFill>
              <a:srgbClr val="333333"/>
            </a:solidFill>
            <a:prstDash val="solid"/>
          </a:ln>
        </p:spPr>
        <p:txBody>
          <a:bodyPr/>
          <a:lstStyle/>
          <a:p>
            <a:endParaRPr lang="en-SE"/>
          </a:p>
        </p:txBody>
      </p:sp>
      <p:sp>
        <p:nvSpPr>
          <p:cNvPr id="36" name="Text 34"/>
          <p:cNvSpPr/>
          <p:nvPr/>
        </p:nvSpPr>
        <p:spPr>
          <a:xfrm>
            <a:off x="6327648" y="3200400"/>
            <a:ext cx="914400" cy="347472"/>
          </a:xfrm>
          <a:prstGeom prst="rect">
            <a:avLst/>
          </a:prstGeom>
          <a:noFill/>
          <a:ln/>
        </p:spPr>
        <p:txBody>
          <a:bodyPr wrap="square" lIns="0" tIns="0" rIns="0" bIns="0" rtlCol="0" anchor="ctr"/>
          <a:lstStyle/>
          <a:p>
            <a:pPr marL="0" indent="0" algn="l">
              <a:lnSpc>
                <a:spcPts val="1500"/>
              </a:lnSpc>
              <a:buNone/>
            </a:pPr>
            <a:r>
              <a:rPr lang="en-US" sz="850" dirty="0">
                <a:solidFill>
                  <a:srgbClr val="F6C978"/>
                </a:solidFill>
                <a:latin typeface="Consolas" pitchFamily="34" charset="0"/>
                <a:ea typeface="Consolas" pitchFamily="34" charset="-122"/>
                <a:cs typeface="Consolas" pitchFamily="34" charset="-120"/>
              </a:rPr>
              <a:t>LALF-PS</a:t>
            </a:r>
            <a:endParaRPr lang="en-US" sz="850" dirty="0"/>
          </a:p>
        </p:txBody>
      </p:sp>
      <p:sp>
        <p:nvSpPr>
          <p:cNvPr id="37" name="Text 35"/>
          <p:cNvSpPr/>
          <p:nvPr/>
        </p:nvSpPr>
        <p:spPr>
          <a:xfrm>
            <a:off x="7242048" y="3200400"/>
            <a:ext cx="1097280" cy="347472"/>
          </a:xfrm>
          <a:prstGeom prst="rect">
            <a:avLst/>
          </a:prstGeom>
          <a:noFill/>
          <a:ln/>
        </p:spPr>
        <p:txBody>
          <a:bodyPr wrap="square" lIns="0" tIns="0" rIns="0" bIns="0" rtlCol="0" anchor="ctr"/>
          <a:lstStyle/>
          <a:p>
            <a:pPr marL="0" indent="0" algn="l">
              <a:lnSpc>
                <a:spcPts val="1065"/>
              </a:lnSpc>
              <a:buNone/>
            </a:pPr>
            <a:r>
              <a:rPr lang="en-US" sz="750" dirty="0">
                <a:solidFill>
                  <a:srgbClr val="A3A9B4"/>
                </a:solidFill>
                <a:latin typeface="Segoe UI" pitchFamily="34" charset="0"/>
                <a:ea typeface="Segoe UI" pitchFamily="34" charset="-122"/>
                <a:cs typeface="Segoe UI" pitchFamily="34" charset="-120"/>
              </a:rPr>
              <a:t>subscribers, last sequence, drops</a:t>
            </a:r>
            <a:endParaRPr lang="en-US" sz="750" dirty="0"/>
          </a:p>
        </p:txBody>
      </p:sp>
      <p:sp>
        <p:nvSpPr>
          <p:cNvPr id="38" name="health panel row">
            <a:extLst>
              <a:ext uri="{C183D7F6-B498-43B3-948B-1728B52AA6E4}">
                <adec:decorative xmlns:adec="http://schemas.microsoft.com/office/drawing/2017/decorative" val="1"/>
              </a:ext>
            </a:extLst>
          </p:cNvPr>
          <p:cNvSpPr/>
          <p:nvPr/>
        </p:nvSpPr>
        <p:spPr>
          <a:xfrm>
            <a:off x="6236208" y="3602736"/>
            <a:ext cx="2139696" cy="347472"/>
          </a:xfrm>
          <a:prstGeom prst="rect">
            <a:avLst/>
          </a:prstGeom>
          <a:solidFill>
            <a:srgbClr val="282C33"/>
          </a:solidFill>
          <a:ln w="12700">
            <a:solidFill>
              <a:srgbClr val="333333"/>
            </a:solidFill>
            <a:prstDash val="solid"/>
          </a:ln>
        </p:spPr>
        <p:txBody>
          <a:bodyPr/>
          <a:lstStyle/>
          <a:p>
            <a:endParaRPr lang="en-SE"/>
          </a:p>
        </p:txBody>
      </p:sp>
      <p:sp>
        <p:nvSpPr>
          <p:cNvPr id="39" name="Text 37"/>
          <p:cNvSpPr/>
          <p:nvPr/>
        </p:nvSpPr>
        <p:spPr>
          <a:xfrm>
            <a:off x="6327648" y="3602736"/>
            <a:ext cx="914400" cy="347472"/>
          </a:xfrm>
          <a:prstGeom prst="rect">
            <a:avLst/>
          </a:prstGeom>
          <a:noFill/>
          <a:ln/>
        </p:spPr>
        <p:txBody>
          <a:bodyPr wrap="square" lIns="0" tIns="0" rIns="0" bIns="0" rtlCol="0" anchor="ctr"/>
          <a:lstStyle/>
          <a:p>
            <a:pPr marL="0" indent="0" algn="l">
              <a:lnSpc>
                <a:spcPts val="1500"/>
              </a:lnSpc>
              <a:buNone/>
            </a:pPr>
            <a:r>
              <a:rPr lang="en-US" sz="850" dirty="0">
                <a:solidFill>
                  <a:srgbClr val="F6C978"/>
                </a:solidFill>
                <a:latin typeface="Consolas" pitchFamily="34" charset="0"/>
                <a:ea typeface="Consolas" pitchFamily="34" charset="-122"/>
                <a:cs typeface="Consolas" pitchFamily="34" charset="-120"/>
              </a:rPr>
              <a:t>log.db</a:t>
            </a:r>
            <a:endParaRPr lang="en-US" sz="850" dirty="0"/>
          </a:p>
        </p:txBody>
      </p:sp>
      <p:sp>
        <p:nvSpPr>
          <p:cNvPr id="40" name="Text 38"/>
          <p:cNvSpPr/>
          <p:nvPr/>
        </p:nvSpPr>
        <p:spPr>
          <a:xfrm>
            <a:off x="7242048" y="3602736"/>
            <a:ext cx="1097280" cy="347472"/>
          </a:xfrm>
          <a:prstGeom prst="rect">
            <a:avLst/>
          </a:prstGeom>
          <a:noFill/>
          <a:ln/>
        </p:spPr>
        <p:txBody>
          <a:bodyPr wrap="square" lIns="0" tIns="0" rIns="0" bIns="0" rtlCol="0" anchor="ctr"/>
          <a:lstStyle/>
          <a:p>
            <a:pPr marL="0" indent="0" algn="l">
              <a:lnSpc>
                <a:spcPts val="1065"/>
              </a:lnSpc>
              <a:buNone/>
            </a:pPr>
            <a:r>
              <a:rPr lang="en-US" sz="750" dirty="0">
                <a:solidFill>
                  <a:srgbClr val="A3A9B4"/>
                </a:solidFill>
                <a:latin typeface="Segoe UI" pitchFamily="34" charset="0"/>
                <a:ea typeface="Segoe UI" pitchFamily="34" charset="-122"/>
                <a:cs typeface="Segoe UI" pitchFamily="34" charset="-120"/>
              </a:rPr>
              <a:t>path, size, rows, oldest row</a:t>
            </a:r>
            <a:endParaRPr lang="en-US" sz="750" dirty="0"/>
          </a:p>
        </p:txBody>
      </p:sp>
      <p:sp>
        <p:nvSpPr>
          <p:cNvPr id="41" name="health panel row">
            <a:extLst>
              <a:ext uri="{C183D7F6-B498-43B3-948B-1728B52AA6E4}">
                <adec:decorative xmlns:adec="http://schemas.microsoft.com/office/drawing/2017/decorative" val="1"/>
              </a:ext>
            </a:extLst>
          </p:cNvPr>
          <p:cNvSpPr/>
          <p:nvPr/>
        </p:nvSpPr>
        <p:spPr>
          <a:xfrm>
            <a:off x="6236208" y="4005072"/>
            <a:ext cx="2139696" cy="347472"/>
          </a:xfrm>
          <a:prstGeom prst="rect">
            <a:avLst/>
          </a:prstGeom>
          <a:solidFill>
            <a:srgbClr val="1B1E23"/>
          </a:solidFill>
          <a:ln w="12700">
            <a:solidFill>
              <a:srgbClr val="333333"/>
            </a:solidFill>
            <a:prstDash val="solid"/>
          </a:ln>
        </p:spPr>
        <p:txBody>
          <a:bodyPr/>
          <a:lstStyle/>
          <a:p>
            <a:endParaRPr lang="en-SE"/>
          </a:p>
        </p:txBody>
      </p:sp>
      <p:sp>
        <p:nvSpPr>
          <p:cNvPr id="42" name="Text 40"/>
          <p:cNvSpPr/>
          <p:nvPr/>
        </p:nvSpPr>
        <p:spPr>
          <a:xfrm>
            <a:off x="6327648" y="4005072"/>
            <a:ext cx="914400" cy="347472"/>
          </a:xfrm>
          <a:prstGeom prst="rect">
            <a:avLst/>
          </a:prstGeom>
          <a:noFill/>
          <a:ln/>
        </p:spPr>
        <p:txBody>
          <a:bodyPr wrap="square" lIns="0" tIns="0" rIns="0" bIns="0" rtlCol="0" anchor="ctr"/>
          <a:lstStyle/>
          <a:p>
            <a:pPr marL="0" indent="0" algn="l">
              <a:lnSpc>
                <a:spcPts val="1500"/>
              </a:lnSpc>
              <a:buNone/>
            </a:pPr>
            <a:r>
              <a:rPr lang="en-US" sz="850" dirty="0">
                <a:solidFill>
                  <a:srgbClr val="F6C978"/>
                </a:solidFill>
                <a:latin typeface="Consolas" pitchFamily="34" charset="0"/>
                <a:ea typeface="Consolas" pitchFamily="34" charset="-122"/>
                <a:cs typeface="Consolas" pitchFamily="34" charset="-120"/>
              </a:rPr>
              <a:t>Bridge</a:t>
            </a:r>
            <a:endParaRPr lang="en-US" sz="850" dirty="0"/>
          </a:p>
        </p:txBody>
      </p:sp>
      <p:sp>
        <p:nvSpPr>
          <p:cNvPr id="43" name="Text 41"/>
          <p:cNvSpPr/>
          <p:nvPr/>
        </p:nvSpPr>
        <p:spPr>
          <a:xfrm>
            <a:off x="7242048" y="4005072"/>
            <a:ext cx="1097280" cy="347472"/>
          </a:xfrm>
          <a:prstGeom prst="rect">
            <a:avLst/>
          </a:prstGeom>
          <a:noFill/>
          <a:ln/>
        </p:spPr>
        <p:txBody>
          <a:bodyPr wrap="square" lIns="0" tIns="0" rIns="0" bIns="0" rtlCol="0" anchor="ctr"/>
          <a:lstStyle/>
          <a:p>
            <a:pPr marL="0" indent="0" algn="l">
              <a:lnSpc>
                <a:spcPts val="1065"/>
              </a:lnSpc>
              <a:buNone/>
            </a:pPr>
            <a:r>
              <a:rPr lang="en-US" sz="750" dirty="0">
                <a:solidFill>
                  <a:srgbClr val="A3A9B4"/>
                </a:solidFill>
                <a:latin typeface="Segoe UI" pitchFamily="34" charset="0"/>
                <a:ea typeface="Segoe UI" pitchFamily="34" charset="-122"/>
                <a:cs typeface="Segoe UI" pitchFamily="34" charset="-120"/>
              </a:rPr>
              <a:t>clients, acks stored, sub id</a:t>
            </a:r>
            <a:endParaRPr lang="en-US" sz="750" dirty="0"/>
          </a:p>
        </p:txBody>
      </p:sp>
      <p:sp>
        <p:nvSpPr>
          <p:cNvPr id="44" name="Text 42"/>
          <p:cNvSpPr/>
          <p:nvPr/>
        </p:nvSpPr>
        <p:spPr>
          <a:xfrm>
            <a:off x="6236208" y="4443984"/>
            <a:ext cx="2139696" cy="365760"/>
          </a:xfrm>
          <a:prstGeom prst="rect">
            <a:avLst/>
          </a:prstGeom>
          <a:noFill/>
          <a:ln/>
        </p:spPr>
        <p:txBody>
          <a:bodyPr wrap="square" lIns="0" tIns="0" rIns="0" bIns="0" rtlCol="0" anchor="t"/>
          <a:lstStyle/>
          <a:p>
            <a:pPr marL="0" indent="0" algn="l">
              <a:lnSpc>
                <a:spcPts val="1278"/>
              </a:lnSpc>
              <a:buNone/>
            </a:pPr>
            <a:r>
              <a:rPr lang="en-US" sz="900" dirty="0">
                <a:solidFill>
                  <a:srgbClr val="747B87"/>
                </a:solidFill>
                <a:latin typeface="Segoe UI" pitchFamily="34" charset="0"/>
                <a:ea typeface="Segoe UI" pitchFamily="34" charset="-122"/>
                <a:cs typeface="Segoe UI" pitchFamily="34" charset="-120"/>
              </a:rPr>
              <a:t>Start here. The resolved log.db path alone answers the most common misconfiguration of all.</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06</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The LALF protocol</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150" dirty="0">
                <a:solidFill>
                  <a:srgbClr val="A3A9B4"/>
                </a:solidFill>
                <a:latin typeface="Segoe UI" pitchFamily="34" charset="0"/>
                <a:ea typeface="Segoe UI" pitchFamily="34" charset="-122"/>
                <a:cs typeface="Segoe UI" pitchFamily="34" charset="-120"/>
              </a:rPr>
              <a:t>A deliberately small wire contract — and the reasons every one of its rules is there.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LALF</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35</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Why a purpose-built protocol at all?</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LALF stands for Logging ALF. It is the sibling of the protocols the trading system already speaks — same shape, one structural difference.</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1463040" cy="786384"/>
          </a:xfrm>
          <a:prstGeom prst="rect">
            <a:avLst/>
          </a:prstGeom>
          <a:solidFill>
            <a:srgbClr val="1B1E23"/>
          </a:solidFill>
          <a:ln w="12700">
            <a:solidFill>
              <a:srgbClr val="343941"/>
            </a:solidFill>
            <a:prstDash val="solid"/>
          </a:ln>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1463040" cy="45720"/>
          </a:xfrm>
          <a:prstGeom prst="rect">
            <a:avLst/>
          </a:prstGeom>
          <a:solidFill>
            <a:srgbClr val="444B55"/>
          </a:solidFill>
          <a:ln w="12700">
            <a:solidFill>
              <a:srgbClr val="333333"/>
            </a:solidFill>
            <a:prstDash val="solid"/>
          </a:ln>
        </p:spPr>
        <p:txBody>
          <a:bodyPr/>
          <a:lstStyle/>
          <a:p>
            <a:endParaRPr lang="en-SE"/>
          </a:p>
        </p:txBody>
      </p:sp>
      <p:sp>
        <p:nvSpPr>
          <p:cNvPr id="10" name="Text 8"/>
          <p:cNvSpPr/>
          <p:nvPr/>
        </p:nvSpPr>
        <p:spPr>
          <a:xfrm>
            <a:off x="676656" y="1883664"/>
            <a:ext cx="1243584" cy="256032"/>
          </a:xfrm>
          <a:prstGeom prst="rect">
            <a:avLst/>
          </a:prstGeom>
          <a:noFill/>
          <a:ln/>
        </p:spPr>
        <p:txBody>
          <a:bodyPr wrap="square" lIns="0" tIns="0" rIns="0" bIns="0" rtlCol="0" anchor="ctr"/>
          <a:lstStyle/>
          <a:p>
            <a:pPr marL="0" indent="0" algn="ctr">
              <a:lnSpc>
                <a:spcPts val="1500"/>
              </a:lnSpc>
              <a:buNone/>
            </a:pPr>
            <a:r>
              <a:rPr lang="en-US" sz="1150" dirty="0">
                <a:solidFill>
                  <a:srgbClr val="A3A9B4"/>
                </a:solidFill>
                <a:latin typeface="Consolas" pitchFamily="34" charset="0"/>
                <a:ea typeface="Consolas" pitchFamily="34" charset="-122"/>
                <a:cs typeface="Consolas" pitchFamily="34" charset="-120"/>
              </a:rPr>
              <a:t>ALF</a:t>
            </a:r>
            <a:endParaRPr lang="en-US" sz="1150" dirty="0"/>
          </a:p>
        </p:txBody>
      </p:sp>
      <p:sp>
        <p:nvSpPr>
          <p:cNvPr id="11" name="Text 9"/>
          <p:cNvSpPr/>
          <p:nvPr/>
        </p:nvSpPr>
        <p:spPr>
          <a:xfrm>
            <a:off x="676656" y="2176272"/>
            <a:ext cx="1243584" cy="310896"/>
          </a:xfrm>
          <a:prstGeom prst="rect">
            <a:avLst/>
          </a:prstGeom>
          <a:noFill/>
          <a:ln/>
        </p:spPr>
        <p:txBody>
          <a:bodyPr wrap="square" lIns="0" tIns="0" rIns="0" bIns="0" rtlCol="0" anchor="t"/>
          <a:lstStyle/>
          <a:p>
            <a:pPr marL="0" indent="0" algn="ctr">
              <a:lnSpc>
                <a:spcPts val="1000"/>
              </a:lnSpc>
              <a:buNone/>
            </a:pPr>
            <a:r>
              <a:rPr lang="en-US" sz="850" dirty="0">
                <a:solidFill>
                  <a:srgbClr val="A3A9B4"/>
                </a:solidFill>
                <a:latin typeface="Segoe UI" pitchFamily="34" charset="0"/>
                <a:ea typeface="Segoe UI" pitchFamily="34" charset="-122"/>
                <a:cs typeface="Segoe UI" pitchFamily="34" charset="-120"/>
              </a:rPr>
              <a:t>Text order entry</a:t>
            </a:r>
            <a:endParaRPr lang="en-US" sz="850" dirty="0"/>
          </a:p>
        </p:txBody>
      </p:sp>
      <p:sp>
        <p:nvSpPr>
          <p:cNvPr id="12" name="card background">
            <a:extLst>
              <a:ext uri="{C183D7F6-B498-43B3-948B-1728B52AA6E4}">
                <adec:decorative xmlns:adec="http://schemas.microsoft.com/office/drawing/2017/decorative" val="1"/>
              </a:ext>
            </a:extLst>
          </p:cNvPr>
          <p:cNvSpPr/>
          <p:nvPr/>
        </p:nvSpPr>
        <p:spPr>
          <a:xfrm>
            <a:off x="2194560" y="1773936"/>
            <a:ext cx="1463040" cy="786384"/>
          </a:xfrm>
          <a:prstGeom prst="rect">
            <a:avLst/>
          </a:prstGeom>
          <a:solidFill>
            <a:srgbClr val="1B1E23"/>
          </a:solidFill>
          <a:ln w="12700">
            <a:solidFill>
              <a:srgbClr val="343941"/>
            </a:solidFill>
            <a:prstDash val="solid"/>
          </a:ln>
        </p:spPr>
        <p:txBody>
          <a:bodyPr/>
          <a:lstStyle/>
          <a:p>
            <a:endParaRPr lang="en-SE"/>
          </a:p>
        </p:txBody>
      </p:sp>
      <p:sp>
        <p:nvSpPr>
          <p:cNvPr id="13" name="card top accent">
            <a:extLst>
              <a:ext uri="{C183D7F6-B498-43B3-948B-1728B52AA6E4}">
                <adec:decorative xmlns:adec="http://schemas.microsoft.com/office/drawing/2017/decorative" val="1"/>
              </a:ext>
            </a:extLst>
          </p:cNvPr>
          <p:cNvSpPr/>
          <p:nvPr/>
        </p:nvSpPr>
        <p:spPr>
          <a:xfrm>
            <a:off x="2194560" y="1773936"/>
            <a:ext cx="1463040" cy="45720"/>
          </a:xfrm>
          <a:prstGeom prst="rect">
            <a:avLst/>
          </a:prstGeom>
          <a:solidFill>
            <a:srgbClr val="444B55"/>
          </a:solidFill>
          <a:ln w="12700">
            <a:solidFill>
              <a:srgbClr val="333333"/>
            </a:solidFill>
            <a:prstDash val="solid"/>
          </a:ln>
        </p:spPr>
        <p:txBody>
          <a:bodyPr/>
          <a:lstStyle/>
          <a:p>
            <a:endParaRPr lang="en-SE"/>
          </a:p>
        </p:txBody>
      </p:sp>
      <p:sp>
        <p:nvSpPr>
          <p:cNvPr id="14" name="Text 12"/>
          <p:cNvSpPr/>
          <p:nvPr/>
        </p:nvSpPr>
        <p:spPr>
          <a:xfrm>
            <a:off x="2304288" y="1883664"/>
            <a:ext cx="1243584" cy="256032"/>
          </a:xfrm>
          <a:prstGeom prst="rect">
            <a:avLst/>
          </a:prstGeom>
          <a:noFill/>
          <a:ln/>
        </p:spPr>
        <p:txBody>
          <a:bodyPr wrap="square" lIns="0" tIns="0" rIns="0" bIns="0" rtlCol="0" anchor="ctr"/>
          <a:lstStyle/>
          <a:p>
            <a:pPr marL="0" indent="0" algn="ctr">
              <a:lnSpc>
                <a:spcPts val="1500"/>
              </a:lnSpc>
              <a:buNone/>
            </a:pPr>
            <a:r>
              <a:rPr lang="en-US" sz="1150" dirty="0">
                <a:solidFill>
                  <a:srgbClr val="A3A9B4"/>
                </a:solidFill>
                <a:latin typeface="Consolas" pitchFamily="34" charset="0"/>
                <a:ea typeface="Consolas" pitchFamily="34" charset="-122"/>
                <a:cs typeface="Consolas" pitchFamily="34" charset="-120"/>
              </a:rPr>
              <a:t>BALF</a:t>
            </a:r>
            <a:endParaRPr lang="en-US" sz="1150" dirty="0"/>
          </a:p>
        </p:txBody>
      </p:sp>
      <p:sp>
        <p:nvSpPr>
          <p:cNvPr id="15" name="Text 13"/>
          <p:cNvSpPr/>
          <p:nvPr/>
        </p:nvSpPr>
        <p:spPr>
          <a:xfrm>
            <a:off x="2304288" y="2176272"/>
            <a:ext cx="1243584" cy="310896"/>
          </a:xfrm>
          <a:prstGeom prst="rect">
            <a:avLst/>
          </a:prstGeom>
          <a:noFill/>
          <a:ln/>
        </p:spPr>
        <p:txBody>
          <a:bodyPr wrap="square" lIns="0" tIns="0" rIns="0" bIns="0" rtlCol="0" anchor="t"/>
          <a:lstStyle/>
          <a:p>
            <a:pPr marL="0" indent="0" algn="ctr">
              <a:lnSpc>
                <a:spcPts val="1000"/>
              </a:lnSpc>
              <a:buNone/>
            </a:pPr>
            <a:r>
              <a:rPr lang="en-US" sz="850" dirty="0">
                <a:solidFill>
                  <a:srgbClr val="A3A9B4"/>
                </a:solidFill>
                <a:latin typeface="Segoe UI" pitchFamily="34" charset="0"/>
                <a:ea typeface="Segoe UI" pitchFamily="34" charset="-122"/>
                <a:cs typeface="Segoe UI" pitchFamily="34" charset="-120"/>
              </a:rPr>
              <a:t>Binary order entry</a:t>
            </a:r>
            <a:endParaRPr lang="en-US" sz="850" dirty="0"/>
          </a:p>
        </p:txBody>
      </p:sp>
      <p:sp>
        <p:nvSpPr>
          <p:cNvPr id="16" name="card background">
            <a:extLst>
              <a:ext uri="{C183D7F6-B498-43B3-948B-1728B52AA6E4}">
                <adec:decorative xmlns:adec="http://schemas.microsoft.com/office/drawing/2017/decorative" val="1"/>
              </a:ext>
            </a:extLst>
          </p:cNvPr>
          <p:cNvSpPr/>
          <p:nvPr/>
        </p:nvSpPr>
        <p:spPr>
          <a:xfrm>
            <a:off x="3822192" y="1773936"/>
            <a:ext cx="1463040" cy="786384"/>
          </a:xfrm>
          <a:prstGeom prst="rect">
            <a:avLst/>
          </a:prstGeom>
          <a:solidFill>
            <a:srgbClr val="1B1E23"/>
          </a:solidFill>
          <a:ln w="12700">
            <a:solidFill>
              <a:srgbClr val="343941"/>
            </a:solidFill>
            <a:prstDash val="solid"/>
          </a:ln>
        </p:spPr>
        <p:txBody>
          <a:bodyPr/>
          <a:lstStyle/>
          <a:p>
            <a:endParaRPr lang="en-SE"/>
          </a:p>
        </p:txBody>
      </p:sp>
      <p:sp>
        <p:nvSpPr>
          <p:cNvPr id="17" name="card top accent">
            <a:extLst>
              <a:ext uri="{C183D7F6-B498-43B3-948B-1728B52AA6E4}">
                <adec:decorative xmlns:adec="http://schemas.microsoft.com/office/drawing/2017/decorative" val="1"/>
              </a:ext>
            </a:extLst>
          </p:cNvPr>
          <p:cNvSpPr/>
          <p:nvPr/>
        </p:nvSpPr>
        <p:spPr>
          <a:xfrm>
            <a:off x="3822192" y="1773936"/>
            <a:ext cx="1463040" cy="45720"/>
          </a:xfrm>
          <a:prstGeom prst="rect">
            <a:avLst/>
          </a:prstGeom>
          <a:solidFill>
            <a:srgbClr val="444B55"/>
          </a:solidFill>
          <a:ln w="12700">
            <a:solidFill>
              <a:srgbClr val="333333"/>
            </a:solidFill>
            <a:prstDash val="solid"/>
          </a:ln>
        </p:spPr>
        <p:txBody>
          <a:bodyPr/>
          <a:lstStyle/>
          <a:p>
            <a:endParaRPr lang="en-SE"/>
          </a:p>
        </p:txBody>
      </p:sp>
      <p:sp>
        <p:nvSpPr>
          <p:cNvPr id="18" name="Text 16"/>
          <p:cNvSpPr/>
          <p:nvPr/>
        </p:nvSpPr>
        <p:spPr>
          <a:xfrm>
            <a:off x="3931920" y="1883664"/>
            <a:ext cx="1243584" cy="256032"/>
          </a:xfrm>
          <a:prstGeom prst="rect">
            <a:avLst/>
          </a:prstGeom>
          <a:noFill/>
          <a:ln/>
        </p:spPr>
        <p:txBody>
          <a:bodyPr wrap="square" lIns="0" tIns="0" rIns="0" bIns="0" rtlCol="0" anchor="ctr"/>
          <a:lstStyle/>
          <a:p>
            <a:pPr marL="0" indent="0" algn="ctr">
              <a:lnSpc>
                <a:spcPts val="1500"/>
              </a:lnSpc>
              <a:buNone/>
            </a:pPr>
            <a:r>
              <a:rPr lang="en-US" sz="1150" dirty="0">
                <a:solidFill>
                  <a:srgbClr val="A3A9B4"/>
                </a:solidFill>
                <a:latin typeface="Consolas" pitchFamily="34" charset="0"/>
                <a:ea typeface="Consolas" pitchFamily="34" charset="-122"/>
                <a:cs typeface="Consolas" pitchFamily="34" charset="-120"/>
              </a:rPr>
              <a:t>CALF</a:t>
            </a:r>
            <a:endParaRPr lang="en-US" sz="1150" dirty="0"/>
          </a:p>
        </p:txBody>
      </p:sp>
      <p:sp>
        <p:nvSpPr>
          <p:cNvPr id="19" name="Text 17"/>
          <p:cNvSpPr/>
          <p:nvPr/>
        </p:nvSpPr>
        <p:spPr>
          <a:xfrm>
            <a:off x="3931920" y="2176272"/>
            <a:ext cx="1243584" cy="310896"/>
          </a:xfrm>
          <a:prstGeom prst="rect">
            <a:avLst/>
          </a:prstGeom>
          <a:noFill/>
          <a:ln/>
        </p:spPr>
        <p:txBody>
          <a:bodyPr wrap="square" lIns="0" tIns="0" rIns="0" bIns="0" rtlCol="0" anchor="t"/>
          <a:lstStyle/>
          <a:p>
            <a:pPr marL="0" indent="0" algn="ctr">
              <a:lnSpc>
                <a:spcPts val="1000"/>
              </a:lnSpc>
              <a:buNone/>
            </a:pPr>
            <a:r>
              <a:rPr lang="en-US" sz="850" dirty="0">
                <a:solidFill>
                  <a:srgbClr val="A3A9B4"/>
                </a:solidFill>
                <a:latin typeface="Segoe UI" pitchFamily="34" charset="0"/>
                <a:ea typeface="Segoe UI" pitchFamily="34" charset="-122"/>
                <a:cs typeface="Segoe UI" pitchFamily="34" charset="-120"/>
              </a:rPr>
              <a:t>Market data</a:t>
            </a:r>
            <a:endParaRPr lang="en-US" sz="850" dirty="0"/>
          </a:p>
        </p:txBody>
      </p:sp>
      <p:sp>
        <p:nvSpPr>
          <p:cNvPr id="20" name="card background">
            <a:extLst>
              <a:ext uri="{C183D7F6-B498-43B3-948B-1728B52AA6E4}">
                <adec:decorative xmlns:adec="http://schemas.microsoft.com/office/drawing/2017/decorative" val="1"/>
              </a:ext>
            </a:extLst>
          </p:cNvPr>
          <p:cNvSpPr/>
          <p:nvPr/>
        </p:nvSpPr>
        <p:spPr>
          <a:xfrm>
            <a:off x="5449824" y="1773936"/>
            <a:ext cx="1463040" cy="786384"/>
          </a:xfrm>
          <a:prstGeom prst="rect">
            <a:avLst/>
          </a:prstGeom>
          <a:solidFill>
            <a:srgbClr val="1B1E23"/>
          </a:solidFill>
          <a:ln w="12700">
            <a:solidFill>
              <a:srgbClr val="343941"/>
            </a:solidFill>
            <a:prstDash val="solid"/>
          </a:ln>
        </p:spPr>
        <p:txBody>
          <a:bodyPr/>
          <a:lstStyle/>
          <a:p>
            <a:endParaRPr lang="en-SE"/>
          </a:p>
        </p:txBody>
      </p:sp>
      <p:sp>
        <p:nvSpPr>
          <p:cNvPr id="21" name="card top accent">
            <a:extLst>
              <a:ext uri="{C183D7F6-B498-43B3-948B-1728B52AA6E4}">
                <adec:decorative xmlns:adec="http://schemas.microsoft.com/office/drawing/2017/decorative" val="1"/>
              </a:ext>
            </a:extLst>
          </p:cNvPr>
          <p:cNvSpPr/>
          <p:nvPr/>
        </p:nvSpPr>
        <p:spPr>
          <a:xfrm>
            <a:off x="5449824" y="1773936"/>
            <a:ext cx="1463040" cy="45720"/>
          </a:xfrm>
          <a:prstGeom prst="rect">
            <a:avLst/>
          </a:prstGeom>
          <a:solidFill>
            <a:srgbClr val="444B55"/>
          </a:solidFill>
          <a:ln w="12700">
            <a:solidFill>
              <a:srgbClr val="333333"/>
            </a:solidFill>
            <a:prstDash val="solid"/>
          </a:ln>
        </p:spPr>
        <p:txBody>
          <a:bodyPr/>
          <a:lstStyle/>
          <a:p>
            <a:endParaRPr lang="en-SE"/>
          </a:p>
        </p:txBody>
      </p:sp>
      <p:sp>
        <p:nvSpPr>
          <p:cNvPr id="22" name="Text 20"/>
          <p:cNvSpPr/>
          <p:nvPr/>
        </p:nvSpPr>
        <p:spPr>
          <a:xfrm>
            <a:off x="5559552" y="1883664"/>
            <a:ext cx="1243584" cy="256032"/>
          </a:xfrm>
          <a:prstGeom prst="rect">
            <a:avLst/>
          </a:prstGeom>
          <a:noFill/>
          <a:ln/>
        </p:spPr>
        <p:txBody>
          <a:bodyPr wrap="square" lIns="0" tIns="0" rIns="0" bIns="0" rtlCol="0" anchor="ctr"/>
          <a:lstStyle/>
          <a:p>
            <a:pPr marL="0" indent="0" algn="ctr">
              <a:lnSpc>
                <a:spcPts val="1500"/>
              </a:lnSpc>
              <a:buNone/>
            </a:pPr>
            <a:r>
              <a:rPr lang="en-US" sz="1150" dirty="0">
                <a:solidFill>
                  <a:srgbClr val="A3A9B4"/>
                </a:solidFill>
                <a:latin typeface="Consolas" pitchFamily="34" charset="0"/>
                <a:ea typeface="Consolas" pitchFamily="34" charset="-122"/>
                <a:cs typeface="Consolas" pitchFamily="34" charset="-120"/>
              </a:rPr>
              <a:t>RALF</a:t>
            </a:r>
            <a:endParaRPr lang="en-US" sz="1150" dirty="0"/>
          </a:p>
        </p:txBody>
      </p:sp>
      <p:sp>
        <p:nvSpPr>
          <p:cNvPr id="23" name="Text 21"/>
          <p:cNvSpPr/>
          <p:nvPr/>
        </p:nvSpPr>
        <p:spPr>
          <a:xfrm>
            <a:off x="5559552" y="2176272"/>
            <a:ext cx="1243584" cy="310896"/>
          </a:xfrm>
          <a:prstGeom prst="rect">
            <a:avLst/>
          </a:prstGeom>
          <a:noFill/>
          <a:ln/>
        </p:spPr>
        <p:txBody>
          <a:bodyPr wrap="square" lIns="0" tIns="0" rIns="0" bIns="0" rtlCol="0" anchor="t"/>
          <a:lstStyle/>
          <a:p>
            <a:pPr marL="0" indent="0" algn="ctr">
              <a:lnSpc>
                <a:spcPts val="1000"/>
              </a:lnSpc>
              <a:buNone/>
            </a:pPr>
            <a:r>
              <a:rPr lang="en-US" sz="850" dirty="0">
                <a:solidFill>
                  <a:srgbClr val="A3A9B4"/>
                </a:solidFill>
                <a:latin typeface="Segoe UI" pitchFamily="34" charset="0"/>
                <a:ea typeface="Segoe UI" pitchFamily="34" charset="-122"/>
                <a:cs typeface="Segoe UI" pitchFamily="34" charset="-120"/>
              </a:rPr>
              <a:t>Post-trade</a:t>
            </a:r>
            <a:endParaRPr lang="en-US" sz="850" dirty="0"/>
          </a:p>
        </p:txBody>
      </p:sp>
      <p:sp>
        <p:nvSpPr>
          <p:cNvPr id="24" name="card background">
            <a:extLst>
              <a:ext uri="{C183D7F6-B498-43B3-948B-1728B52AA6E4}">
                <adec:decorative xmlns:adec="http://schemas.microsoft.com/office/drawing/2017/decorative" val="1"/>
              </a:ext>
            </a:extLst>
          </p:cNvPr>
          <p:cNvSpPr/>
          <p:nvPr/>
        </p:nvSpPr>
        <p:spPr>
          <a:xfrm>
            <a:off x="7077456" y="1773936"/>
            <a:ext cx="1463040" cy="786384"/>
          </a:xfrm>
          <a:prstGeom prst="rect">
            <a:avLst/>
          </a:prstGeom>
          <a:solidFill>
            <a:srgbClr val="282C33"/>
          </a:solidFill>
          <a:ln w="12700">
            <a:solidFill>
              <a:srgbClr val="343941"/>
            </a:solidFill>
            <a:prstDash val="solid"/>
          </a:ln>
        </p:spPr>
        <p:txBody>
          <a:bodyPr/>
          <a:lstStyle/>
          <a:p>
            <a:endParaRPr lang="en-SE"/>
          </a:p>
        </p:txBody>
      </p:sp>
      <p:sp>
        <p:nvSpPr>
          <p:cNvPr id="25" name="card top accent">
            <a:extLst>
              <a:ext uri="{C183D7F6-B498-43B3-948B-1728B52AA6E4}">
                <adec:decorative xmlns:adec="http://schemas.microsoft.com/office/drawing/2017/decorative" val="1"/>
              </a:ext>
            </a:extLst>
          </p:cNvPr>
          <p:cNvSpPr/>
          <p:nvPr/>
        </p:nvSpPr>
        <p:spPr>
          <a:xfrm>
            <a:off x="7077456" y="1773936"/>
            <a:ext cx="1463040" cy="45720"/>
          </a:xfrm>
          <a:prstGeom prst="rect">
            <a:avLst/>
          </a:prstGeom>
          <a:solidFill>
            <a:srgbClr val="E8A33D"/>
          </a:solidFill>
          <a:ln w="12700">
            <a:solidFill>
              <a:srgbClr val="333333"/>
            </a:solidFill>
            <a:prstDash val="solid"/>
          </a:ln>
        </p:spPr>
        <p:txBody>
          <a:bodyPr/>
          <a:lstStyle/>
          <a:p>
            <a:endParaRPr lang="en-SE"/>
          </a:p>
        </p:txBody>
      </p:sp>
      <p:sp>
        <p:nvSpPr>
          <p:cNvPr id="26" name="Text 24"/>
          <p:cNvSpPr/>
          <p:nvPr/>
        </p:nvSpPr>
        <p:spPr>
          <a:xfrm>
            <a:off x="7187184" y="1883664"/>
            <a:ext cx="1243584" cy="256032"/>
          </a:xfrm>
          <a:prstGeom prst="rect">
            <a:avLst/>
          </a:prstGeom>
          <a:noFill/>
          <a:ln/>
        </p:spPr>
        <p:txBody>
          <a:bodyPr wrap="square" lIns="0" tIns="0" rIns="0" bIns="0" rtlCol="0" anchor="ctr"/>
          <a:lstStyle/>
          <a:p>
            <a:pPr marL="0" indent="0" algn="ctr">
              <a:lnSpc>
                <a:spcPts val="1500"/>
              </a:lnSpc>
              <a:buNone/>
            </a:pPr>
            <a:r>
              <a:rPr lang="en-US" sz="1150" dirty="0">
                <a:solidFill>
                  <a:srgbClr val="E8A33D"/>
                </a:solidFill>
                <a:latin typeface="Consolas" pitchFamily="34" charset="0"/>
                <a:ea typeface="Consolas" pitchFamily="34" charset="-122"/>
                <a:cs typeface="Consolas" pitchFamily="34" charset="-120"/>
              </a:rPr>
              <a:t>LALF</a:t>
            </a:r>
            <a:endParaRPr lang="en-US" sz="1150" dirty="0"/>
          </a:p>
        </p:txBody>
      </p:sp>
      <p:sp>
        <p:nvSpPr>
          <p:cNvPr id="27" name="Text 25"/>
          <p:cNvSpPr/>
          <p:nvPr/>
        </p:nvSpPr>
        <p:spPr>
          <a:xfrm>
            <a:off x="7187184" y="2176272"/>
            <a:ext cx="1243584" cy="310896"/>
          </a:xfrm>
          <a:prstGeom prst="rect">
            <a:avLst/>
          </a:prstGeom>
          <a:noFill/>
          <a:ln/>
        </p:spPr>
        <p:txBody>
          <a:bodyPr wrap="square" lIns="0" tIns="0" rIns="0" bIns="0" rtlCol="0" anchor="t"/>
          <a:lstStyle/>
          <a:p>
            <a:pPr marL="0" indent="0" algn="ctr">
              <a:lnSpc>
                <a:spcPts val="1000"/>
              </a:lnSpc>
              <a:buNone/>
            </a:pPr>
            <a:r>
              <a:rPr lang="en-US" sz="850" dirty="0">
                <a:solidFill>
                  <a:srgbClr val="A3A9B4"/>
                </a:solidFill>
                <a:latin typeface="Segoe UI" pitchFamily="34" charset="0"/>
                <a:ea typeface="Segoe UI" pitchFamily="34" charset="-122"/>
                <a:cs typeface="Segoe UI" pitchFamily="34" charset="-120"/>
              </a:rPr>
              <a:t>Process logging</a:t>
            </a:r>
            <a:endParaRPr lang="en-US" sz="850" dirty="0"/>
          </a:p>
        </p:txBody>
      </p:sp>
      <p:sp>
        <p:nvSpPr>
          <p:cNvPr id="28" name="card background">
            <a:extLst>
              <a:ext uri="{C183D7F6-B498-43B3-948B-1728B52AA6E4}">
                <adec:decorative xmlns:adec="http://schemas.microsoft.com/office/drawing/2017/decorative" val="1"/>
              </a:ext>
            </a:extLst>
          </p:cNvPr>
          <p:cNvSpPr/>
          <p:nvPr/>
        </p:nvSpPr>
        <p:spPr>
          <a:xfrm>
            <a:off x="566928" y="2761488"/>
            <a:ext cx="8010144" cy="640080"/>
          </a:xfrm>
          <a:prstGeom prst="rect">
            <a:avLst/>
          </a:prstGeom>
          <a:solidFill>
            <a:srgbClr val="212429"/>
          </a:solidFill>
          <a:ln w="12700">
            <a:solidFill>
              <a:srgbClr val="343941"/>
            </a:solidFill>
            <a:prstDash val="solid"/>
          </a:ln>
        </p:spPr>
        <p:txBody>
          <a:bodyPr/>
          <a:lstStyle/>
          <a:p>
            <a:endParaRPr lang="en-SE"/>
          </a:p>
        </p:txBody>
      </p:sp>
      <p:sp>
        <p:nvSpPr>
          <p:cNvPr id="29" name="card accent edge">
            <a:extLst>
              <a:ext uri="{C183D7F6-B498-43B3-948B-1728B52AA6E4}">
                <adec:decorative xmlns:adec="http://schemas.microsoft.com/office/drawing/2017/decorative" val="1"/>
              </a:ext>
            </a:extLst>
          </p:cNvPr>
          <p:cNvSpPr/>
          <p:nvPr/>
        </p:nvSpPr>
        <p:spPr>
          <a:xfrm>
            <a:off x="566928" y="2761488"/>
            <a:ext cx="50292" cy="640080"/>
          </a:xfrm>
          <a:prstGeom prst="rect">
            <a:avLst/>
          </a:prstGeom>
          <a:solidFill>
            <a:srgbClr val="E8A33D"/>
          </a:solidFill>
          <a:ln w="12700">
            <a:solidFill>
              <a:srgbClr val="333333"/>
            </a:solidFill>
            <a:prstDash val="solid"/>
          </a:ln>
        </p:spPr>
        <p:txBody>
          <a:bodyPr/>
          <a:lstStyle/>
          <a:p>
            <a:endParaRPr lang="en-SE"/>
          </a:p>
        </p:txBody>
      </p:sp>
      <p:sp>
        <p:nvSpPr>
          <p:cNvPr id="30" name="Text 28"/>
          <p:cNvSpPr/>
          <p:nvPr/>
        </p:nvSpPr>
        <p:spPr>
          <a:xfrm>
            <a:off x="804672" y="2816352"/>
            <a:ext cx="2651760" cy="530352"/>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A log line is arbitrary text</a:t>
            </a:r>
            <a:endParaRPr lang="en-US" sz="1150" dirty="0"/>
          </a:p>
        </p:txBody>
      </p:sp>
      <p:sp>
        <p:nvSpPr>
          <p:cNvPr id="31" name="Text 29"/>
          <p:cNvSpPr/>
          <p:nvPr/>
        </p:nvSpPr>
        <p:spPr>
          <a:xfrm>
            <a:off x="3584448" y="2816352"/>
            <a:ext cx="4791456" cy="530352"/>
          </a:xfrm>
          <a:prstGeom prst="rect">
            <a:avLst/>
          </a:prstGeom>
          <a:noFill/>
          <a:ln/>
        </p:spPr>
        <p:txBody>
          <a:bodyPr wrap="square" lIns="0" tIns="0" rIns="0" bIns="0" rtlCol="0" anchor="ctr"/>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It can contain pipes, newlines, and any byte at all — a traceback certainly does. So the message body is length-prefixed, and read by exact byte count. Nothing is ever scanned for a delimiter.</a:t>
            </a:r>
            <a:endParaRPr lang="en-US" sz="950" dirty="0"/>
          </a:p>
        </p:txBody>
      </p:sp>
      <p:sp>
        <p:nvSpPr>
          <p:cNvPr id="32" name="card background">
            <a:extLst>
              <a:ext uri="{C183D7F6-B498-43B3-948B-1728B52AA6E4}">
                <adec:decorative xmlns:adec="http://schemas.microsoft.com/office/drawing/2017/decorative" val="1"/>
              </a:ext>
            </a:extLst>
          </p:cNvPr>
          <p:cNvSpPr/>
          <p:nvPr/>
        </p:nvSpPr>
        <p:spPr>
          <a:xfrm>
            <a:off x="566928" y="3511296"/>
            <a:ext cx="8010144" cy="640080"/>
          </a:xfrm>
          <a:prstGeom prst="rect">
            <a:avLst/>
          </a:prstGeom>
          <a:solidFill>
            <a:srgbClr val="212429"/>
          </a:solidFill>
          <a:ln w="12700">
            <a:solidFill>
              <a:srgbClr val="343941"/>
            </a:solidFill>
            <a:prstDash val="solid"/>
          </a:ln>
        </p:spPr>
        <p:txBody>
          <a:bodyPr/>
          <a:lstStyle/>
          <a:p>
            <a:endParaRPr lang="en-SE"/>
          </a:p>
        </p:txBody>
      </p:sp>
      <p:sp>
        <p:nvSpPr>
          <p:cNvPr id="33" name="card accent edge">
            <a:extLst>
              <a:ext uri="{C183D7F6-B498-43B3-948B-1728B52AA6E4}">
                <adec:decorative xmlns:adec="http://schemas.microsoft.com/office/drawing/2017/decorative" val="1"/>
              </a:ext>
            </a:extLst>
          </p:cNvPr>
          <p:cNvSpPr/>
          <p:nvPr/>
        </p:nvSpPr>
        <p:spPr>
          <a:xfrm>
            <a:off x="566928" y="3511296"/>
            <a:ext cx="50292" cy="640080"/>
          </a:xfrm>
          <a:prstGeom prst="rect">
            <a:avLst/>
          </a:prstGeom>
          <a:solidFill>
            <a:srgbClr val="8A7EA8"/>
          </a:solidFill>
          <a:ln w="12700">
            <a:solidFill>
              <a:srgbClr val="333333"/>
            </a:solidFill>
            <a:prstDash val="solid"/>
          </a:ln>
        </p:spPr>
        <p:txBody>
          <a:bodyPr/>
          <a:lstStyle/>
          <a:p>
            <a:endParaRPr lang="en-SE"/>
          </a:p>
        </p:txBody>
      </p:sp>
      <p:sp>
        <p:nvSpPr>
          <p:cNvPr id="34" name="Text 32"/>
          <p:cNvSpPr/>
          <p:nvPr/>
        </p:nvSpPr>
        <p:spPr>
          <a:xfrm>
            <a:off x="804672" y="3566160"/>
            <a:ext cx="2651760" cy="530352"/>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Every client is only a producer</a:t>
            </a:r>
            <a:endParaRPr lang="en-US" sz="1150" dirty="0"/>
          </a:p>
        </p:txBody>
      </p:sp>
      <p:sp>
        <p:nvSpPr>
          <p:cNvPr id="35" name="Text 33"/>
          <p:cNvSpPr/>
          <p:nvPr/>
        </p:nvSpPr>
        <p:spPr>
          <a:xfrm>
            <a:off x="3584448" y="3566160"/>
            <a:ext cx="4791456" cy="530352"/>
          </a:xfrm>
          <a:prstGeom prst="rect">
            <a:avLst/>
          </a:prstGeom>
          <a:noFill/>
          <a:ln/>
        </p:spPr>
        <p:txBody>
          <a:bodyPr wrap="square" lIns="0" tIns="0" rIns="0" bIns="0" rtlCol="0" anchor="ctr"/>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A process can send its own records and nothing else. There is no subscription model, no filtering, no way to read anyone else's stream. That is what makes it safe to wire into every process.</a:t>
            </a:r>
            <a:endParaRPr lang="en-US" sz="950" dirty="0"/>
          </a:p>
        </p:txBody>
      </p:sp>
      <p:sp>
        <p:nvSpPr>
          <p:cNvPr id="36" name="card background">
            <a:extLst>
              <a:ext uri="{C183D7F6-B498-43B3-948B-1728B52AA6E4}">
                <adec:decorative xmlns:adec="http://schemas.microsoft.com/office/drawing/2017/decorative" val="1"/>
              </a:ext>
            </a:extLst>
          </p:cNvPr>
          <p:cNvSpPr/>
          <p:nvPr/>
        </p:nvSpPr>
        <p:spPr>
          <a:xfrm>
            <a:off x="566928" y="4261104"/>
            <a:ext cx="8010144" cy="640080"/>
          </a:xfrm>
          <a:prstGeom prst="rect">
            <a:avLst/>
          </a:prstGeom>
          <a:solidFill>
            <a:srgbClr val="212429"/>
          </a:solidFill>
          <a:ln w="12700">
            <a:solidFill>
              <a:srgbClr val="343941"/>
            </a:solidFill>
            <a:prstDash val="solid"/>
          </a:ln>
        </p:spPr>
        <p:txBody>
          <a:bodyPr/>
          <a:lstStyle/>
          <a:p>
            <a:endParaRPr lang="en-SE"/>
          </a:p>
        </p:txBody>
      </p:sp>
      <p:sp>
        <p:nvSpPr>
          <p:cNvPr id="37" name="card accent edge">
            <a:extLst>
              <a:ext uri="{C183D7F6-B498-43B3-948B-1728B52AA6E4}">
                <adec:decorative xmlns:adec="http://schemas.microsoft.com/office/drawing/2017/decorative" val="1"/>
              </a:ext>
            </a:extLst>
          </p:cNvPr>
          <p:cNvSpPr/>
          <p:nvPr/>
        </p:nvSpPr>
        <p:spPr>
          <a:xfrm>
            <a:off x="566928" y="4261104"/>
            <a:ext cx="50292" cy="640080"/>
          </a:xfrm>
          <a:prstGeom prst="rect">
            <a:avLst/>
          </a:prstGeom>
          <a:solidFill>
            <a:srgbClr val="5E8CA8"/>
          </a:solidFill>
          <a:ln w="12700">
            <a:solidFill>
              <a:srgbClr val="333333"/>
            </a:solidFill>
            <a:prstDash val="solid"/>
          </a:ln>
        </p:spPr>
        <p:txBody>
          <a:bodyPr/>
          <a:lstStyle/>
          <a:p>
            <a:endParaRPr lang="en-SE"/>
          </a:p>
        </p:txBody>
      </p:sp>
      <p:sp>
        <p:nvSpPr>
          <p:cNvPr id="38" name="Text 36"/>
          <p:cNvSpPr/>
          <p:nvPr/>
        </p:nvSpPr>
        <p:spPr>
          <a:xfrm>
            <a:off x="804672" y="4315968"/>
            <a:ext cx="2651760" cy="530352"/>
          </a:xfrm>
          <a:prstGeom prst="rect">
            <a:avLst/>
          </a:prstGeom>
          <a:noFill/>
          <a:ln/>
        </p:spPr>
        <p:txBody>
          <a:bodyPr wrap="square" lIns="0" tIns="0" rIns="0" bIns="0" rtlCol="0" anchor="ctr"/>
          <a:lstStyle/>
          <a:p>
            <a:pPr marL="0" indent="0" algn="l">
              <a:buNone/>
            </a:pPr>
            <a:r>
              <a:rPr lang="en-US" sz="1150" b="1" dirty="0">
                <a:solidFill>
                  <a:srgbClr val="EDEEF1"/>
                </a:solidFill>
                <a:latin typeface="Segoe UI" pitchFamily="34" charset="0"/>
                <a:ea typeface="Segoe UI" pitchFamily="34" charset="-122"/>
                <a:cs typeface="Segoe UI" pitchFamily="34" charset="-120"/>
              </a:rPr>
              <a:t>Fire and forget, by design</a:t>
            </a:r>
            <a:endParaRPr lang="en-US" sz="1150" dirty="0"/>
          </a:p>
        </p:txBody>
      </p:sp>
      <p:sp>
        <p:nvSpPr>
          <p:cNvPr id="39" name="Text 37"/>
          <p:cNvSpPr/>
          <p:nvPr/>
        </p:nvSpPr>
        <p:spPr>
          <a:xfrm>
            <a:off x="3584448" y="4315968"/>
            <a:ext cx="4791456" cy="530352"/>
          </a:xfrm>
          <a:prstGeom prst="rect">
            <a:avLst/>
          </a:prstGeom>
          <a:noFill/>
          <a:ln/>
        </p:spPr>
        <p:txBody>
          <a:bodyPr wrap="square" lIns="0" tIns="0" rIns="0" bIns="0" rtlCol="0" anchor="ctr"/>
          <a:lstStyle/>
          <a:p>
            <a:pPr marL="0" indent="0" algn="l">
              <a:lnSpc>
                <a:spcPts val="1349"/>
              </a:lnSpc>
              <a:buNone/>
            </a:pPr>
            <a:r>
              <a:rPr lang="en-US" sz="950" dirty="0">
                <a:solidFill>
                  <a:srgbClr val="A3A9B4"/>
                </a:solidFill>
                <a:latin typeface="Segoe UI" pitchFamily="34" charset="0"/>
                <a:ea typeface="Segoe UI" pitchFamily="34" charset="-122"/>
                <a:cs typeface="Segoe UI" pitchFamily="34" charset="-120"/>
              </a:rPr>
              <a:t>The server never acknowledges individual records. At realistic logging rates, per-message confirmation would be pure overhead — and a process must never be slowed down by its own logging.</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LALF</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36</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One session, from HELLO to EXIT</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A long-lived TCP connection, one handshake, then a stream of records. This is the whole life of a client.</a:t>
            </a:r>
            <a:endParaRPr lang="en-US" sz="1250" dirty="0"/>
          </a:p>
        </p:txBody>
      </p:sp>
      <p:sp>
        <p:nvSpPr>
          <p:cNvPr id="8" name="code panel">
            <a:extLst>
              <a:ext uri="{C183D7F6-B498-43B3-948B-1728B52AA6E4}">
                <adec:decorative xmlns:adec="http://schemas.microsoft.com/office/drawing/2017/decorative" val="1"/>
              </a:ext>
            </a:extLst>
          </p:cNvPr>
          <p:cNvSpPr/>
          <p:nvPr/>
        </p:nvSpPr>
        <p:spPr>
          <a:xfrm>
            <a:off x="566928" y="1737360"/>
            <a:ext cx="5029200" cy="1819656"/>
          </a:xfrm>
          <a:prstGeom prst="rect">
            <a:avLst/>
          </a:prstGeom>
          <a:solidFill>
            <a:srgbClr val="101216"/>
          </a:solidFill>
          <a:ln w="12700">
            <a:solidFill>
              <a:srgbClr val="343941"/>
            </a:solidFill>
            <a:prstDash val="solid"/>
          </a:ln>
        </p:spPr>
        <p:txBody>
          <a:bodyPr/>
          <a:lstStyle/>
          <a:p>
            <a:endParaRPr lang="en-SE"/>
          </a:p>
        </p:txBody>
      </p:sp>
      <p:sp>
        <p:nvSpPr>
          <p:cNvPr id="9" name="code accent edge">
            <a:extLst>
              <a:ext uri="{C183D7F6-B498-43B3-948B-1728B52AA6E4}">
                <adec:decorative xmlns:adec="http://schemas.microsoft.com/office/drawing/2017/decorative" val="1"/>
              </a:ext>
            </a:extLst>
          </p:cNvPr>
          <p:cNvSpPr/>
          <p:nvPr/>
        </p:nvSpPr>
        <p:spPr>
          <a:xfrm>
            <a:off x="566928" y="1737360"/>
            <a:ext cx="41148" cy="1819656"/>
          </a:xfrm>
          <a:prstGeom prst="rect">
            <a:avLst/>
          </a:prstGeom>
          <a:solidFill>
            <a:srgbClr val="7A5A24"/>
          </a:solidFill>
          <a:ln w="12700">
            <a:solidFill>
              <a:srgbClr val="333333"/>
            </a:solidFill>
            <a:prstDash val="solid"/>
          </a:ln>
        </p:spPr>
        <p:txBody>
          <a:bodyPr/>
          <a:lstStyle/>
          <a:p>
            <a:endParaRPr lang="en-SE"/>
          </a:p>
        </p:txBody>
      </p:sp>
      <p:sp>
        <p:nvSpPr>
          <p:cNvPr id="10" name="Text 8"/>
          <p:cNvSpPr/>
          <p:nvPr/>
        </p:nvSpPr>
        <p:spPr>
          <a:xfrm>
            <a:off x="768096" y="1810512"/>
            <a:ext cx="4626864" cy="237744"/>
          </a:xfrm>
          <a:prstGeom prst="rect">
            <a:avLst/>
          </a:prstGeom>
          <a:noFill/>
          <a:ln/>
        </p:spPr>
        <p:txBody>
          <a:bodyPr wrap="square" lIns="0" tIns="0" rIns="0" bIns="0" rtlCol="0" anchor="ctr"/>
          <a:lstStyle/>
          <a:p>
            <a:pPr marL="0" indent="0">
              <a:buNone/>
            </a:pPr>
            <a:r>
              <a:rPr lang="en-US" sz="850" b="1" kern="0" spc="160" dirty="0">
                <a:solidFill>
                  <a:srgbClr val="747B87"/>
                </a:solidFill>
                <a:latin typeface="Segoe UI" pitchFamily="34" charset="0"/>
                <a:ea typeface="Segoe UI" pitchFamily="34" charset="-122"/>
                <a:cs typeface="Segoe UI" pitchFamily="34" charset="-120"/>
              </a:rPr>
              <a:t>A COMPLETE SESSION</a:t>
            </a:r>
            <a:endParaRPr lang="en-US" sz="850" dirty="0"/>
          </a:p>
        </p:txBody>
      </p:sp>
      <p:sp>
        <p:nvSpPr>
          <p:cNvPr id="11" name="code divider">
            <a:extLst>
              <a:ext uri="{C183D7F6-B498-43B3-948B-1728B52AA6E4}">
                <adec:decorative xmlns:adec="http://schemas.microsoft.com/office/drawing/2017/decorative" val="1"/>
              </a:ext>
            </a:extLst>
          </p:cNvPr>
          <p:cNvSpPr/>
          <p:nvPr/>
        </p:nvSpPr>
        <p:spPr>
          <a:xfrm>
            <a:off x="768096" y="2057400"/>
            <a:ext cx="4626864" cy="7315"/>
          </a:xfrm>
          <a:prstGeom prst="rect">
            <a:avLst/>
          </a:prstGeom>
          <a:solidFill>
            <a:srgbClr val="343941"/>
          </a:solidFill>
          <a:ln w="12700">
            <a:solidFill>
              <a:srgbClr val="333333"/>
            </a:solidFill>
            <a:prstDash val="solid"/>
          </a:ln>
        </p:spPr>
        <p:txBody>
          <a:bodyPr/>
          <a:lstStyle/>
          <a:p>
            <a:endParaRPr lang="en-SE"/>
          </a:p>
        </p:txBody>
      </p:sp>
      <p:sp>
        <p:nvSpPr>
          <p:cNvPr id="12" name="Text 10"/>
          <p:cNvSpPr/>
          <p:nvPr/>
        </p:nvSpPr>
        <p:spPr>
          <a:xfrm>
            <a:off x="786384" y="2121408"/>
            <a:ext cx="4608576" cy="1289304"/>
          </a:xfrm>
          <a:prstGeom prst="rect">
            <a:avLst/>
          </a:prstGeom>
          <a:noFill/>
          <a:ln/>
        </p:spPr>
        <p:txBody>
          <a:bodyPr wrap="square" lIns="0" tIns="0" rIns="0" bIns="0" rtlCol="0" anchor="t"/>
          <a:lstStyle/>
          <a:p>
            <a:pPr marL="0" indent="0">
              <a:lnSpc>
                <a:spcPts val="1692"/>
              </a:lnSpc>
              <a:buNone/>
            </a:pPr>
            <a:r>
              <a:rPr lang="en-US" sz="860" dirty="0">
                <a:solidFill>
                  <a:srgbClr val="F6C978"/>
                </a:solidFill>
                <a:latin typeface="Consolas" pitchFamily="34" charset="0"/>
                <a:ea typeface="Consolas" pitchFamily="34" charset="-122"/>
                <a:cs typeface="Consolas" pitchFamily="34" charset="-120"/>
              </a:rPr>
              <a:t>C: HELLO|CLIENT=pm-md-gwy|PID=51002|HOST=trader-laptop|PROTO=LALF1</a:t>
            </a:r>
            <a:endParaRPr lang="en-US" sz="860" dirty="0"/>
          </a:p>
          <a:p>
            <a:pPr marL="0" indent="0">
              <a:lnSpc>
                <a:spcPts val="1692"/>
              </a:lnSpc>
              <a:buNone/>
            </a:pPr>
            <a:r>
              <a:rPr lang="en-US" sz="860" dirty="0">
                <a:solidFill>
                  <a:srgbClr val="6FA88A"/>
                </a:solidFill>
                <a:latin typeface="Consolas" pitchFamily="34" charset="0"/>
                <a:ea typeface="Consolas" pitchFamily="34" charset="-122"/>
                <a:cs typeface="Consolas" pitchFamily="34" charset="-120"/>
              </a:rPr>
              <a:t>S: WELCOME|PROTO=LALF1|SRV=log-srv01|HBINT=5|SESSION=7f3a9c21</a:t>
            </a:r>
            <a:endParaRPr lang="en-US" sz="860" dirty="0"/>
          </a:p>
          <a:p>
            <a:pPr marL="0" indent="0">
              <a:lnSpc>
                <a:spcPts val="1692"/>
              </a:lnSpc>
              <a:buNone/>
            </a:pPr>
            <a:r>
              <a:rPr lang="en-US" sz="860" dirty="0">
                <a:solidFill>
                  <a:srgbClr val="F6C978"/>
                </a:solidFill>
                <a:latin typeface="Consolas" pitchFamily="34" charset="0"/>
                <a:ea typeface="Consolas" pitchFamily="34" charset="-122"/>
                <a:cs typeface="Consolas" pitchFamily="34" charset="-120"/>
              </a:rPr>
              <a:t>C: LOG|SEQ=1|TS=…09:30:00.010Z|LEVEL=INFO|LOGGER=…|LEN=29</a:t>
            </a:r>
            <a:endParaRPr lang="en-US" sz="860" dirty="0"/>
          </a:p>
          <a:p>
            <a:pPr marL="0" indent="0">
              <a:lnSpc>
                <a:spcPts val="1692"/>
              </a:lnSpc>
              <a:buNone/>
            </a:pPr>
            <a:r>
              <a:rPr lang="en-US" sz="860" dirty="0">
                <a:solidFill>
                  <a:srgbClr val="A3A9B4"/>
                </a:solidFill>
                <a:latin typeface="Consolas" pitchFamily="34" charset="0"/>
                <a:ea typeface="Consolas" pitchFamily="34" charset="-122"/>
                <a:cs typeface="Consolas" pitchFamily="34" charset="-120"/>
              </a:rPr>
              <a:t>   md-gwy01 listening on :5570</a:t>
            </a:r>
            <a:endParaRPr lang="en-US" sz="860" dirty="0"/>
          </a:p>
          <a:p>
            <a:pPr marL="0" indent="0">
              <a:lnSpc>
                <a:spcPts val="1692"/>
              </a:lnSpc>
              <a:buNone/>
            </a:pPr>
            <a:r>
              <a:rPr lang="en-US" sz="860" dirty="0">
                <a:solidFill>
                  <a:srgbClr val="5E8CA8"/>
                </a:solidFill>
                <a:latin typeface="Consolas" pitchFamily="34" charset="0"/>
                <a:ea typeface="Consolas" pitchFamily="34" charset="-122"/>
                <a:cs typeface="Consolas" pitchFamily="34" charset="-120"/>
              </a:rPr>
              <a:t>C: HB|TS=2026-07-28T09:30:05.500Z</a:t>
            </a:r>
            <a:endParaRPr lang="en-US" sz="860" dirty="0"/>
          </a:p>
          <a:p>
            <a:pPr marL="0" indent="0">
              <a:lnSpc>
                <a:spcPts val="1692"/>
              </a:lnSpc>
              <a:buNone/>
            </a:pPr>
            <a:r>
              <a:rPr lang="en-US" sz="860" dirty="0">
                <a:solidFill>
                  <a:srgbClr val="747B87"/>
                </a:solidFill>
                <a:latin typeface="Consolas" pitchFamily="34" charset="0"/>
                <a:ea typeface="Consolas" pitchFamily="34" charset="-122"/>
                <a:cs typeface="Consolas" pitchFamily="34" charset="-120"/>
              </a:rPr>
              <a:t>C: EXIT</a:t>
            </a:r>
            <a:endParaRPr lang="en-US" sz="860" dirty="0"/>
          </a:p>
        </p:txBody>
      </p:sp>
      <p:sp>
        <p:nvSpPr>
          <p:cNvPr id="13" name="card background">
            <a:extLst>
              <a:ext uri="{C183D7F6-B498-43B3-948B-1728B52AA6E4}">
                <adec:decorative xmlns:adec="http://schemas.microsoft.com/office/drawing/2017/decorative" val="1"/>
              </a:ext>
            </a:extLst>
          </p:cNvPr>
          <p:cNvSpPr/>
          <p:nvPr/>
        </p:nvSpPr>
        <p:spPr>
          <a:xfrm>
            <a:off x="5760720" y="1737360"/>
            <a:ext cx="2798064" cy="530352"/>
          </a:xfrm>
          <a:prstGeom prst="rect">
            <a:avLst/>
          </a:prstGeom>
          <a:solidFill>
            <a:srgbClr val="212429"/>
          </a:solidFill>
          <a:ln w="12700">
            <a:solidFill>
              <a:srgbClr val="343941"/>
            </a:solidFill>
            <a:prstDash val="solid"/>
          </a:ln>
        </p:spPr>
        <p:txBody>
          <a:bodyPr/>
          <a:lstStyle/>
          <a:p>
            <a:endParaRPr lang="en-SE"/>
          </a:p>
        </p:txBody>
      </p:sp>
      <p:sp>
        <p:nvSpPr>
          <p:cNvPr id="14" name="card accent edge">
            <a:extLst>
              <a:ext uri="{C183D7F6-B498-43B3-948B-1728B52AA6E4}">
                <adec:decorative xmlns:adec="http://schemas.microsoft.com/office/drawing/2017/decorative" val="1"/>
              </a:ext>
            </a:extLst>
          </p:cNvPr>
          <p:cNvSpPr/>
          <p:nvPr/>
        </p:nvSpPr>
        <p:spPr>
          <a:xfrm>
            <a:off x="5760720" y="1737360"/>
            <a:ext cx="50292" cy="530352"/>
          </a:xfrm>
          <a:prstGeom prst="rect">
            <a:avLst/>
          </a:prstGeom>
          <a:solidFill>
            <a:srgbClr val="E8A33D"/>
          </a:solidFill>
          <a:ln w="12700">
            <a:solidFill>
              <a:srgbClr val="333333"/>
            </a:solidFill>
            <a:prstDash val="solid"/>
          </a:ln>
        </p:spPr>
        <p:txBody>
          <a:bodyPr/>
          <a:lstStyle/>
          <a:p>
            <a:endParaRPr lang="en-SE"/>
          </a:p>
        </p:txBody>
      </p:sp>
      <p:sp>
        <p:nvSpPr>
          <p:cNvPr id="15" name="Text 13"/>
          <p:cNvSpPr/>
          <p:nvPr/>
        </p:nvSpPr>
        <p:spPr>
          <a:xfrm>
            <a:off x="5907024" y="1773936"/>
            <a:ext cx="822960" cy="219456"/>
          </a:xfrm>
          <a:prstGeom prst="rect">
            <a:avLst/>
          </a:prstGeom>
          <a:noFill/>
          <a:ln/>
        </p:spPr>
        <p:txBody>
          <a:bodyPr wrap="square" lIns="0" tIns="0" rIns="0" bIns="0" rtlCol="0" anchor="ctr"/>
          <a:lstStyle/>
          <a:p>
            <a:pPr marL="0" indent="0" algn="l">
              <a:lnSpc>
                <a:spcPts val="1500"/>
              </a:lnSpc>
              <a:buNone/>
            </a:pPr>
            <a:r>
              <a:rPr lang="en-US" sz="900" dirty="0">
                <a:solidFill>
                  <a:srgbClr val="E8A33D"/>
                </a:solidFill>
                <a:latin typeface="Consolas" pitchFamily="34" charset="0"/>
                <a:ea typeface="Consolas" pitchFamily="34" charset="-122"/>
                <a:cs typeface="Consolas" pitchFamily="34" charset="-120"/>
              </a:rPr>
              <a:t>HELLO</a:t>
            </a:r>
            <a:endParaRPr lang="en-US" sz="900" dirty="0"/>
          </a:p>
        </p:txBody>
      </p:sp>
      <p:sp>
        <p:nvSpPr>
          <p:cNvPr id="16" name="Text 14"/>
          <p:cNvSpPr/>
          <p:nvPr/>
        </p:nvSpPr>
        <p:spPr>
          <a:xfrm>
            <a:off x="5907024" y="1975104"/>
            <a:ext cx="2523744" cy="274320"/>
          </a:xfrm>
          <a:prstGeom prst="rect">
            <a:avLst/>
          </a:prstGeom>
          <a:noFill/>
          <a:ln/>
        </p:spPr>
        <p:txBody>
          <a:bodyPr wrap="square" lIns="0" tIns="0" rIns="0" bIns="0" rtlCol="0" anchor="t"/>
          <a:lstStyle/>
          <a:p>
            <a:pPr marL="0" indent="0" algn="l">
              <a:lnSpc>
                <a:spcPts val="950"/>
              </a:lnSpc>
              <a:buNone/>
            </a:pPr>
            <a:r>
              <a:rPr lang="en-US" sz="780" dirty="0">
                <a:solidFill>
                  <a:srgbClr val="A3A9B4"/>
                </a:solidFill>
                <a:latin typeface="Segoe UI" pitchFamily="34" charset="0"/>
                <a:ea typeface="Segoe UI" pitchFamily="34" charset="-122"/>
                <a:cs typeface="Segoe UI" pitchFamily="34" charset="-120"/>
              </a:rPr>
              <a:t>Identifies the process. Must arrive within 5 seconds of connecting or the server closes the socket.</a:t>
            </a:r>
            <a:endParaRPr lang="en-US" sz="780" dirty="0"/>
          </a:p>
        </p:txBody>
      </p:sp>
      <p:sp>
        <p:nvSpPr>
          <p:cNvPr id="17" name="card background">
            <a:extLst>
              <a:ext uri="{C183D7F6-B498-43B3-948B-1728B52AA6E4}">
                <adec:decorative xmlns:adec="http://schemas.microsoft.com/office/drawing/2017/decorative" val="1"/>
              </a:ext>
            </a:extLst>
          </p:cNvPr>
          <p:cNvSpPr/>
          <p:nvPr/>
        </p:nvSpPr>
        <p:spPr>
          <a:xfrm>
            <a:off x="5760720" y="2359152"/>
            <a:ext cx="2798064" cy="530352"/>
          </a:xfrm>
          <a:prstGeom prst="rect">
            <a:avLst/>
          </a:prstGeom>
          <a:solidFill>
            <a:srgbClr val="212429"/>
          </a:solidFill>
          <a:ln w="12700">
            <a:solidFill>
              <a:srgbClr val="343941"/>
            </a:solidFill>
            <a:prstDash val="solid"/>
          </a:ln>
        </p:spPr>
        <p:txBody>
          <a:bodyPr/>
          <a:lstStyle/>
          <a:p>
            <a:endParaRPr lang="en-SE"/>
          </a:p>
        </p:txBody>
      </p:sp>
      <p:sp>
        <p:nvSpPr>
          <p:cNvPr id="18" name="card accent edge">
            <a:extLst>
              <a:ext uri="{C183D7F6-B498-43B3-948B-1728B52AA6E4}">
                <adec:decorative xmlns:adec="http://schemas.microsoft.com/office/drawing/2017/decorative" val="1"/>
              </a:ext>
            </a:extLst>
          </p:cNvPr>
          <p:cNvSpPr/>
          <p:nvPr/>
        </p:nvSpPr>
        <p:spPr>
          <a:xfrm>
            <a:off x="5760720" y="2359152"/>
            <a:ext cx="50292" cy="530352"/>
          </a:xfrm>
          <a:prstGeom prst="rect">
            <a:avLst/>
          </a:prstGeom>
          <a:solidFill>
            <a:srgbClr val="6FA88A"/>
          </a:solidFill>
          <a:ln w="12700">
            <a:solidFill>
              <a:srgbClr val="333333"/>
            </a:solidFill>
            <a:prstDash val="solid"/>
          </a:ln>
        </p:spPr>
        <p:txBody>
          <a:bodyPr/>
          <a:lstStyle/>
          <a:p>
            <a:endParaRPr lang="en-SE"/>
          </a:p>
        </p:txBody>
      </p:sp>
      <p:sp>
        <p:nvSpPr>
          <p:cNvPr id="19" name="Text 17"/>
          <p:cNvSpPr/>
          <p:nvPr/>
        </p:nvSpPr>
        <p:spPr>
          <a:xfrm>
            <a:off x="5907024" y="2395728"/>
            <a:ext cx="822960" cy="219456"/>
          </a:xfrm>
          <a:prstGeom prst="rect">
            <a:avLst/>
          </a:prstGeom>
          <a:noFill/>
          <a:ln/>
        </p:spPr>
        <p:txBody>
          <a:bodyPr wrap="square" lIns="0" tIns="0" rIns="0" bIns="0" rtlCol="0" anchor="ctr"/>
          <a:lstStyle/>
          <a:p>
            <a:pPr marL="0" indent="0" algn="l">
              <a:lnSpc>
                <a:spcPts val="1500"/>
              </a:lnSpc>
              <a:buNone/>
            </a:pPr>
            <a:r>
              <a:rPr lang="en-US" sz="900" dirty="0">
                <a:solidFill>
                  <a:srgbClr val="6FA88A"/>
                </a:solidFill>
                <a:latin typeface="Consolas" pitchFamily="34" charset="0"/>
                <a:ea typeface="Consolas" pitchFamily="34" charset="-122"/>
                <a:cs typeface="Consolas" pitchFamily="34" charset="-120"/>
              </a:rPr>
              <a:t>WELCOME</a:t>
            </a:r>
            <a:endParaRPr lang="en-US" sz="900" dirty="0"/>
          </a:p>
        </p:txBody>
      </p:sp>
      <p:sp>
        <p:nvSpPr>
          <p:cNvPr id="20" name="Text 18"/>
          <p:cNvSpPr/>
          <p:nvPr/>
        </p:nvSpPr>
        <p:spPr>
          <a:xfrm>
            <a:off x="5907024" y="2596896"/>
            <a:ext cx="2523744" cy="274320"/>
          </a:xfrm>
          <a:prstGeom prst="rect">
            <a:avLst/>
          </a:prstGeom>
          <a:noFill/>
          <a:ln/>
        </p:spPr>
        <p:txBody>
          <a:bodyPr wrap="square" lIns="0" tIns="0" rIns="0" bIns="0" rtlCol="0" anchor="t"/>
          <a:lstStyle/>
          <a:p>
            <a:pPr marL="0" indent="0" algn="l">
              <a:lnSpc>
                <a:spcPts val="950"/>
              </a:lnSpc>
              <a:buNone/>
            </a:pPr>
            <a:r>
              <a:rPr lang="en-US" sz="780" dirty="0">
                <a:solidFill>
                  <a:srgbClr val="A3A9B4"/>
                </a:solidFill>
                <a:latin typeface="Segoe UI" pitchFamily="34" charset="0"/>
                <a:ea typeface="Segoe UI" pitchFamily="34" charset="-122"/>
                <a:cs typeface="Segoe UI" pitchFamily="34" charset="-120"/>
              </a:rPr>
              <a:t>The only positive acknowledgement of the handshake. Carries the heartbeat interval and a session id.</a:t>
            </a:r>
            <a:endParaRPr lang="en-US" sz="780" dirty="0"/>
          </a:p>
        </p:txBody>
      </p:sp>
      <p:sp>
        <p:nvSpPr>
          <p:cNvPr id="21" name="card background">
            <a:extLst>
              <a:ext uri="{C183D7F6-B498-43B3-948B-1728B52AA6E4}">
                <adec:decorative xmlns:adec="http://schemas.microsoft.com/office/drawing/2017/decorative" val="1"/>
              </a:ext>
            </a:extLst>
          </p:cNvPr>
          <p:cNvSpPr/>
          <p:nvPr/>
        </p:nvSpPr>
        <p:spPr>
          <a:xfrm>
            <a:off x="5760720" y="2980944"/>
            <a:ext cx="2798064" cy="530352"/>
          </a:xfrm>
          <a:prstGeom prst="rect">
            <a:avLst/>
          </a:prstGeom>
          <a:solidFill>
            <a:srgbClr val="212429"/>
          </a:solidFill>
          <a:ln w="12700">
            <a:solidFill>
              <a:srgbClr val="343941"/>
            </a:solidFill>
            <a:prstDash val="solid"/>
          </a:ln>
        </p:spPr>
        <p:txBody>
          <a:bodyPr/>
          <a:lstStyle/>
          <a:p>
            <a:endParaRPr lang="en-SE"/>
          </a:p>
        </p:txBody>
      </p:sp>
      <p:sp>
        <p:nvSpPr>
          <p:cNvPr id="22" name="card accent edge">
            <a:extLst>
              <a:ext uri="{C183D7F6-B498-43B3-948B-1728B52AA6E4}">
                <adec:decorative xmlns:adec="http://schemas.microsoft.com/office/drawing/2017/decorative" val="1"/>
              </a:ext>
            </a:extLst>
          </p:cNvPr>
          <p:cNvSpPr/>
          <p:nvPr/>
        </p:nvSpPr>
        <p:spPr>
          <a:xfrm>
            <a:off x="5760720" y="2980944"/>
            <a:ext cx="50292" cy="530352"/>
          </a:xfrm>
          <a:prstGeom prst="rect">
            <a:avLst/>
          </a:prstGeom>
          <a:solidFill>
            <a:srgbClr val="F6C978"/>
          </a:solidFill>
          <a:ln w="12700">
            <a:solidFill>
              <a:srgbClr val="333333"/>
            </a:solidFill>
            <a:prstDash val="solid"/>
          </a:ln>
        </p:spPr>
        <p:txBody>
          <a:bodyPr/>
          <a:lstStyle/>
          <a:p>
            <a:endParaRPr lang="en-SE"/>
          </a:p>
        </p:txBody>
      </p:sp>
      <p:sp>
        <p:nvSpPr>
          <p:cNvPr id="23" name="Text 21"/>
          <p:cNvSpPr/>
          <p:nvPr/>
        </p:nvSpPr>
        <p:spPr>
          <a:xfrm>
            <a:off x="5907024" y="3017520"/>
            <a:ext cx="822960" cy="219456"/>
          </a:xfrm>
          <a:prstGeom prst="rect">
            <a:avLst/>
          </a:prstGeom>
          <a:noFill/>
          <a:ln/>
        </p:spPr>
        <p:txBody>
          <a:bodyPr wrap="square" lIns="0" tIns="0" rIns="0" bIns="0" rtlCol="0" anchor="ctr"/>
          <a:lstStyle/>
          <a:p>
            <a:pPr marL="0" indent="0" algn="l">
              <a:lnSpc>
                <a:spcPts val="1500"/>
              </a:lnSpc>
              <a:buNone/>
            </a:pPr>
            <a:r>
              <a:rPr lang="en-US" sz="900" dirty="0">
                <a:solidFill>
                  <a:srgbClr val="F6C978"/>
                </a:solidFill>
                <a:latin typeface="Consolas" pitchFamily="34" charset="0"/>
                <a:ea typeface="Consolas" pitchFamily="34" charset="-122"/>
                <a:cs typeface="Consolas" pitchFamily="34" charset="-120"/>
              </a:rPr>
              <a:t>LOG</a:t>
            </a:r>
            <a:endParaRPr lang="en-US" sz="900" dirty="0"/>
          </a:p>
        </p:txBody>
      </p:sp>
      <p:sp>
        <p:nvSpPr>
          <p:cNvPr id="24" name="Text 22"/>
          <p:cNvSpPr/>
          <p:nvPr/>
        </p:nvSpPr>
        <p:spPr>
          <a:xfrm>
            <a:off x="5907024" y="3218688"/>
            <a:ext cx="2523744" cy="274320"/>
          </a:xfrm>
          <a:prstGeom prst="rect">
            <a:avLst/>
          </a:prstGeom>
          <a:noFill/>
          <a:ln/>
        </p:spPr>
        <p:txBody>
          <a:bodyPr wrap="square" lIns="0" tIns="0" rIns="0" bIns="0" rtlCol="0" anchor="t"/>
          <a:lstStyle/>
          <a:p>
            <a:pPr marL="0" indent="0" algn="l">
              <a:lnSpc>
                <a:spcPts val="950"/>
              </a:lnSpc>
              <a:buNone/>
            </a:pPr>
            <a:r>
              <a:rPr lang="en-US" sz="780" dirty="0">
                <a:solidFill>
                  <a:srgbClr val="A3A9B4"/>
                </a:solidFill>
                <a:latin typeface="Segoe UI" pitchFamily="34" charset="0"/>
                <a:ea typeface="Segoe UI" pitchFamily="34" charset="-122"/>
                <a:cs typeface="Segoe UI" pitchFamily="34" charset="-120"/>
              </a:rPr>
              <a:t>The only message that carries a payload, and the only one durably stored.</a:t>
            </a:r>
            <a:endParaRPr lang="en-US" sz="780" dirty="0"/>
          </a:p>
        </p:txBody>
      </p:sp>
      <p:sp>
        <p:nvSpPr>
          <p:cNvPr id="25" name="card background">
            <a:extLst>
              <a:ext uri="{C183D7F6-B498-43B3-948B-1728B52AA6E4}">
                <adec:decorative xmlns:adec="http://schemas.microsoft.com/office/drawing/2017/decorative" val="1"/>
              </a:ext>
            </a:extLst>
          </p:cNvPr>
          <p:cNvSpPr/>
          <p:nvPr/>
        </p:nvSpPr>
        <p:spPr>
          <a:xfrm>
            <a:off x="5760720" y="3602736"/>
            <a:ext cx="2798064" cy="530352"/>
          </a:xfrm>
          <a:prstGeom prst="rect">
            <a:avLst/>
          </a:prstGeom>
          <a:solidFill>
            <a:srgbClr val="212429"/>
          </a:solidFill>
          <a:ln w="12700">
            <a:solidFill>
              <a:srgbClr val="343941"/>
            </a:solidFill>
            <a:prstDash val="solid"/>
          </a:ln>
        </p:spPr>
        <p:txBody>
          <a:bodyPr/>
          <a:lstStyle/>
          <a:p>
            <a:endParaRPr lang="en-SE"/>
          </a:p>
        </p:txBody>
      </p:sp>
      <p:sp>
        <p:nvSpPr>
          <p:cNvPr id="26" name="card accent edge">
            <a:extLst>
              <a:ext uri="{C183D7F6-B498-43B3-948B-1728B52AA6E4}">
                <adec:decorative xmlns:adec="http://schemas.microsoft.com/office/drawing/2017/decorative" val="1"/>
              </a:ext>
            </a:extLst>
          </p:cNvPr>
          <p:cNvSpPr/>
          <p:nvPr/>
        </p:nvSpPr>
        <p:spPr>
          <a:xfrm>
            <a:off x="5760720" y="3602736"/>
            <a:ext cx="50292" cy="530352"/>
          </a:xfrm>
          <a:prstGeom prst="rect">
            <a:avLst/>
          </a:prstGeom>
          <a:solidFill>
            <a:srgbClr val="5E8CA8"/>
          </a:solidFill>
          <a:ln w="12700">
            <a:solidFill>
              <a:srgbClr val="333333"/>
            </a:solidFill>
            <a:prstDash val="solid"/>
          </a:ln>
        </p:spPr>
        <p:txBody>
          <a:bodyPr/>
          <a:lstStyle/>
          <a:p>
            <a:endParaRPr lang="en-SE"/>
          </a:p>
        </p:txBody>
      </p:sp>
      <p:sp>
        <p:nvSpPr>
          <p:cNvPr id="27" name="Text 25"/>
          <p:cNvSpPr/>
          <p:nvPr/>
        </p:nvSpPr>
        <p:spPr>
          <a:xfrm>
            <a:off x="5907024" y="3639312"/>
            <a:ext cx="822960" cy="219456"/>
          </a:xfrm>
          <a:prstGeom prst="rect">
            <a:avLst/>
          </a:prstGeom>
          <a:noFill/>
          <a:ln/>
        </p:spPr>
        <p:txBody>
          <a:bodyPr wrap="square" lIns="0" tIns="0" rIns="0" bIns="0" rtlCol="0" anchor="ctr"/>
          <a:lstStyle/>
          <a:p>
            <a:pPr marL="0" indent="0" algn="l">
              <a:lnSpc>
                <a:spcPts val="1500"/>
              </a:lnSpc>
              <a:buNone/>
            </a:pPr>
            <a:r>
              <a:rPr lang="en-US" sz="900" dirty="0">
                <a:solidFill>
                  <a:srgbClr val="5E8CA8"/>
                </a:solidFill>
                <a:latin typeface="Consolas" pitchFamily="34" charset="0"/>
                <a:ea typeface="Consolas" pitchFamily="34" charset="-122"/>
                <a:cs typeface="Consolas" pitchFamily="34" charset="-120"/>
              </a:rPr>
              <a:t>HB</a:t>
            </a:r>
            <a:endParaRPr lang="en-US" sz="900" dirty="0"/>
          </a:p>
        </p:txBody>
      </p:sp>
      <p:sp>
        <p:nvSpPr>
          <p:cNvPr id="28" name="Text 26"/>
          <p:cNvSpPr/>
          <p:nvPr/>
        </p:nvSpPr>
        <p:spPr>
          <a:xfrm>
            <a:off x="5907024" y="3840480"/>
            <a:ext cx="2523744" cy="274320"/>
          </a:xfrm>
          <a:prstGeom prst="rect">
            <a:avLst/>
          </a:prstGeom>
          <a:noFill/>
          <a:ln/>
        </p:spPr>
        <p:txBody>
          <a:bodyPr wrap="square" lIns="0" tIns="0" rIns="0" bIns="0" rtlCol="0" anchor="t"/>
          <a:lstStyle/>
          <a:p>
            <a:pPr marL="0" indent="0" algn="l">
              <a:lnSpc>
                <a:spcPts val="950"/>
              </a:lnSpc>
              <a:buNone/>
            </a:pPr>
            <a:r>
              <a:rPr lang="en-US" sz="780" dirty="0">
                <a:solidFill>
                  <a:srgbClr val="A3A9B4"/>
                </a:solidFill>
                <a:latin typeface="Segoe UI" pitchFamily="34" charset="0"/>
                <a:ea typeface="Segoe UI" pitchFamily="34" charset="-122"/>
                <a:cs typeface="Segoe UI" pitchFamily="34" charset="-120"/>
              </a:rPr>
              <a:t>Sent at least every HBINT seconds even when quiet. Silence for twice that marks the connection dead.</a:t>
            </a:r>
            <a:endParaRPr lang="en-US" sz="780" dirty="0"/>
          </a:p>
        </p:txBody>
      </p:sp>
      <p:sp>
        <p:nvSpPr>
          <p:cNvPr id="29" name="card background">
            <a:extLst>
              <a:ext uri="{C183D7F6-B498-43B3-948B-1728B52AA6E4}">
                <adec:decorative xmlns:adec="http://schemas.microsoft.com/office/drawing/2017/decorative" val="1"/>
              </a:ext>
            </a:extLst>
          </p:cNvPr>
          <p:cNvSpPr/>
          <p:nvPr/>
        </p:nvSpPr>
        <p:spPr>
          <a:xfrm>
            <a:off x="5760720" y="4224528"/>
            <a:ext cx="2798064" cy="530352"/>
          </a:xfrm>
          <a:prstGeom prst="rect">
            <a:avLst/>
          </a:prstGeom>
          <a:solidFill>
            <a:srgbClr val="212429"/>
          </a:solidFill>
          <a:ln w="12700">
            <a:solidFill>
              <a:srgbClr val="343941"/>
            </a:solidFill>
            <a:prstDash val="solid"/>
          </a:ln>
        </p:spPr>
        <p:txBody>
          <a:bodyPr/>
          <a:lstStyle/>
          <a:p>
            <a:endParaRPr lang="en-SE"/>
          </a:p>
        </p:txBody>
      </p:sp>
      <p:sp>
        <p:nvSpPr>
          <p:cNvPr id="30" name="card accent edge">
            <a:extLst>
              <a:ext uri="{C183D7F6-B498-43B3-948B-1728B52AA6E4}">
                <adec:decorative xmlns:adec="http://schemas.microsoft.com/office/drawing/2017/decorative" val="1"/>
              </a:ext>
            </a:extLst>
          </p:cNvPr>
          <p:cNvSpPr/>
          <p:nvPr/>
        </p:nvSpPr>
        <p:spPr>
          <a:xfrm>
            <a:off x="5760720" y="4224528"/>
            <a:ext cx="50292" cy="530352"/>
          </a:xfrm>
          <a:prstGeom prst="rect">
            <a:avLst/>
          </a:prstGeom>
          <a:solidFill>
            <a:srgbClr val="747B87"/>
          </a:solidFill>
          <a:ln w="12700">
            <a:solidFill>
              <a:srgbClr val="333333"/>
            </a:solidFill>
            <a:prstDash val="solid"/>
          </a:ln>
        </p:spPr>
        <p:txBody>
          <a:bodyPr/>
          <a:lstStyle/>
          <a:p>
            <a:endParaRPr lang="en-SE"/>
          </a:p>
        </p:txBody>
      </p:sp>
      <p:sp>
        <p:nvSpPr>
          <p:cNvPr id="31" name="Text 29"/>
          <p:cNvSpPr/>
          <p:nvPr/>
        </p:nvSpPr>
        <p:spPr>
          <a:xfrm>
            <a:off x="5907024" y="4261104"/>
            <a:ext cx="822960" cy="219456"/>
          </a:xfrm>
          <a:prstGeom prst="rect">
            <a:avLst/>
          </a:prstGeom>
          <a:noFill/>
          <a:ln/>
        </p:spPr>
        <p:txBody>
          <a:bodyPr wrap="square" lIns="0" tIns="0" rIns="0" bIns="0" rtlCol="0" anchor="ctr"/>
          <a:lstStyle/>
          <a:p>
            <a:pPr marL="0" indent="0" algn="l">
              <a:lnSpc>
                <a:spcPts val="1500"/>
              </a:lnSpc>
              <a:buNone/>
            </a:pPr>
            <a:r>
              <a:rPr lang="en-US" sz="900" dirty="0">
                <a:solidFill>
                  <a:srgbClr val="747B87"/>
                </a:solidFill>
                <a:latin typeface="Consolas" pitchFamily="34" charset="0"/>
                <a:ea typeface="Consolas" pitchFamily="34" charset="-122"/>
                <a:cs typeface="Consolas" pitchFamily="34" charset="-120"/>
              </a:rPr>
              <a:t>EXIT</a:t>
            </a:r>
            <a:endParaRPr lang="en-US" sz="900" dirty="0"/>
          </a:p>
        </p:txBody>
      </p:sp>
      <p:sp>
        <p:nvSpPr>
          <p:cNvPr id="32" name="Text 30"/>
          <p:cNvSpPr/>
          <p:nvPr/>
        </p:nvSpPr>
        <p:spPr>
          <a:xfrm>
            <a:off x="5907024" y="4462272"/>
            <a:ext cx="2523744" cy="274320"/>
          </a:xfrm>
          <a:prstGeom prst="rect">
            <a:avLst/>
          </a:prstGeom>
          <a:noFill/>
          <a:ln/>
        </p:spPr>
        <p:txBody>
          <a:bodyPr wrap="square" lIns="0" tIns="0" rIns="0" bIns="0" rtlCol="0" anchor="t"/>
          <a:lstStyle/>
          <a:p>
            <a:pPr marL="0" indent="0" algn="l">
              <a:lnSpc>
                <a:spcPts val="950"/>
              </a:lnSpc>
              <a:buNone/>
            </a:pPr>
            <a:r>
              <a:rPr lang="en-US" sz="780" dirty="0">
                <a:solidFill>
                  <a:srgbClr val="A3A9B4"/>
                </a:solidFill>
                <a:latin typeface="Segoe UI" pitchFamily="34" charset="0"/>
                <a:ea typeface="Segoe UI" pitchFamily="34" charset="-122"/>
                <a:cs typeface="Segoe UI" pitchFamily="34" charset="-120"/>
              </a:rPr>
              <a:t>A clean goodbye. Buffered rows are flushed first. A crash is treated identically.</a:t>
            </a:r>
            <a:endParaRPr lang="en-US" sz="780" dirty="0"/>
          </a:p>
        </p:txBody>
      </p:sp>
      <p:sp>
        <p:nvSpPr>
          <p:cNvPr id="33" name="card background">
            <a:extLst>
              <a:ext uri="{C183D7F6-B498-43B3-948B-1728B52AA6E4}">
                <adec:decorative xmlns:adec="http://schemas.microsoft.com/office/drawing/2017/decorative" val="1"/>
              </a:ext>
            </a:extLst>
          </p:cNvPr>
          <p:cNvSpPr/>
          <p:nvPr/>
        </p:nvSpPr>
        <p:spPr>
          <a:xfrm>
            <a:off x="566928" y="3529584"/>
            <a:ext cx="5029200" cy="1335024"/>
          </a:xfrm>
          <a:prstGeom prst="rect">
            <a:avLst/>
          </a:prstGeom>
          <a:solidFill>
            <a:srgbClr val="282C33"/>
          </a:solidFill>
          <a:ln w="12700">
            <a:solidFill>
              <a:srgbClr val="343941"/>
            </a:solidFill>
            <a:prstDash val="solid"/>
          </a:ln>
        </p:spPr>
        <p:txBody>
          <a:bodyPr/>
          <a:lstStyle/>
          <a:p>
            <a:endParaRPr lang="en-SE"/>
          </a:p>
        </p:txBody>
      </p:sp>
      <p:sp>
        <p:nvSpPr>
          <p:cNvPr id="34" name="card accent edge">
            <a:extLst>
              <a:ext uri="{C183D7F6-B498-43B3-948B-1728B52AA6E4}">
                <adec:decorative xmlns:adec="http://schemas.microsoft.com/office/drawing/2017/decorative" val="1"/>
              </a:ext>
            </a:extLst>
          </p:cNvPr>
          <p:cNvSpPr/>
          <p:nvPr/>
        </p:nvSpPr>
        <p:spPr>
          <a:xfrm>
            <a:off x="566928" y="3529584"/>
            <a:ext cx="50292" cy="1335024"/>
          </a:xfrm>
          <a:prstGeom prst="rect">
            <a:avLst/>
          </a:prstGeom>
          <a:solidFill>
            <a:srgbClr val="C9584C"/>
          </a:solidFill>
          <a:ln w="12700">
            <a:solidFill>
              <a:srgbClr val="333333"/>
            </a:solidFill>
            <a:prstDash val="solid"/>
          </a:ln>
        </p:spPr>
        <p:txBody>
          <a:bodyPr/>
          <a:lstStyle/>
          <a:p>
            <a:endParaRPr lang="en-SE"/>
          </a:p>
        </p:txBody>
      </p:sp>
      <p:sp>
        <p:nvSpPr>
          <p:cNvPr id="35" name="Text 33"/>
          <p:cNvSpPr/>
          <p:nvPr/>
        </p:nvSpPr>
        <p:spPr>
          <a:xfrm>
            <a:off x="786384" y="3657600"/>
            <a:ext cx="3657600" cy="219456"/>
          </a:xfrm>
          <a:prstGeom prst="rect">
            <a:avLst/>
          </a:prstGeom>
          <a:noFill/>
          <a:ln/>
        </p:spPr>
        <p:txBody>
          <a:bodyPr wrap="square" lIns="0" tIns="0" rIns="0" bIns="0" rtlCol="0" anchor="ctr"/>
          <a:lstStyle/>
          <a:p>
            <a:pPr marL="0" indent="0" algn="l">
              <a:buNone/>
            </a:pPr>
            <a:r>
              <a:rPr lang="en-US" sz="850" b="1" kern="0" spc="180" dirty="0">
                <a:solidFill>
                  <a:srgbClr val="C9584C"/>
                </a:solidFill>
                <a:latin typeface="Segoe UI" pitchFamily="34" charset="0"/>
                <a:ea typeface="Segoe UI" pitchFamily="34" charset="-122"/>
                <a:cs typeface="Segoe UI" pitchFamily="34" charset="-120"/>
              </a:rPr>
              <a:t>TWO RULES THAT TRIP PEOPLE UP</a:t>
            </a:r>
            <a:endParaRPr lang="en-US" sz="850" dirty="0"/>
          </a:p>
        </p:txBody>
      </p:sp>
      <p:sp>
        <p:nvSpPr>
          <p:cNvPr id="36" name="Text 34"/>
          <p:cNvSpPr/>
          <p:nvPr/>
        </p:nvSpPr>
        <p:spPr>
          <a:xfrm>
            <a:off x="786384" y="3895344"/>
            <a:ext cx="4572000" cy="877824"/>
          </a:xfrm>
          <a:prstGeom prst="rect">
            <a:avLst/>
          </a:prstGeom>
          <a:noFill/>
          <a:ln/>
        </p:spPr>
        <p:txBody>
          <a:bodyPr wrap="square" lIns="0" tIns="0" rIns="0" bIns="0" rtlCol="0" anchor="t"/>
          <a:lstStyle/>
          <a:p>
            <a:pPr marL="0" indent="0" algn="l">
              <a:lnSpc>
                <a:spcPts val="1250"/>
              </a:lnSpc>
              <a:buNone/>
            </a:pPr>
            <a:r>
              <a:rPr lang="en-US" sz="950" dirty="0">
                <a:solidFill>
                  <a:srgbClr val="A3A9B4"/>
                </a:solidFill>
                <a:latin typeface="Segoe UI" pitchFamily="34" charset="0"/>
                <a:ea typeface="Segoe UI" pitchFamily="34" charset="-122"/>
                <a:cs typeface="Segoe UI" pitchFamily="34" charset="-120"/>
              </a:rPr>
              <a:t>SEQ counts per connection, not globally — it restarts at 1 every time a process reconnects, and the session id is what tells two connections apart.</a:t>
            </a:r>
            <a:endParaRPr lang="en-US" sz="950" dirty="0"/>
          </a:p>
          <a:p>
            <a:pPr marL="0" indent="0" algn="l">
              <a:lnSpc>
                <a:spcPts val="1250"/>
              </a:lnSpc>
              <a:buNone/>
            </a:pPr>
            <a:endParaRPr lang="en-US" sz="950" dirty="0"/>
          </a:p>
          <a:p>
            <a:pPr marL="0" indent="0" algn="l">
              <a:lnSpc>
                <a:spcPts val="1250"/>
              </a:lnSpc>
              <a:buNone/>
            </a:pPr>
            <a:r>
              <a:rPr lang="en-US" sz="950" dirty="0">
                <a:solidFill>
                  <a:srgbClr val="A3A9B4"/>
                </a:solidFill>
                <a:latin typeface="Segoe UI" pitchFamily="34" charset="0"/>
                <a:ea typeface="Segoe UI" pitchFamily="34" charset="-122"/>
                <a:cs typeface="Segoe UI" pitchFamily="34" charset="-120"/>
              </a:rPr>
              <a:t>An error reply is usually not fatal. Only a protocol mismatch or a missed handshake ends the session.</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LALF</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37</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LALF brings logs in. LALF-PS sends them back out.</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This is the single most common source of confusion. They are two separate interfaces on the same process, and nothing speaks both.</a:t>
            </a:r>
            <a:endParaRPr lang="en-US" sz="1400" dirty="0"/>
          </a:p>
        </p:txBody>
      </p:sp>
      <p:sp>
        <p:nvSpPr>
          <p:cNvPr id="8" name="card background">
            <a:extLst>
              <a:ext uri="{C183D7F6-B498-43B3-948B-1728B52AA6E4}">
                <adec:decorative xmlns:adec="http://schemas.microsoft.com/office/drawing/2017/decorative" val="1"/>
              </a:ext>
            </a:extLst>
          </p:cNvPr>
          <p:cNvSpPr/>
          <p:nvPr/>
        </p:nvSpPr>
        <p:spPr>
          <a:xfrm>
            <a:off x="566928" y="1773936"/>
            <a:ext cx="3877056" cy="24323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773936"/>
            <a:ext cx="3877056" cy="45720"/>
          </a:xfrm>
          <a:prstGeom prst="rect">
            <a:avLst/>
          </a:prstGeom>
          <a:solidFill>
            <a:srgbClr val="E8A33D"/>
          </a:solidFill>
          <a:ln w="12700">
            <a:solidFill>
              <a:srgbClr val="333333"/>
            </a:solidFill>
            <a:prstDash val="solid"/>
          </a:ln>
        </p:spPr>
        <p:txBody>
          <a:bodyPr/>
          <a:lstStyle/>
          <a:p>
            <a:endParaRPr lang="en-SE"/>
          </a:p>
        </p:txBody>
      </p:sp>
      <p:sp>
        <p:nvSpPr>
          <p:cNvPr id="10" name="Text 8"/>
          <p:cNvSpPr/>
          <p:nvPr/>
        </p:nvSpPr>
        <p:spPr>
          <a:xfrm>
            <a:off x="804672" y="1938528"/>
            <a:ext cx="3383280" cy="365760"/>
          </a:xfrm>
          <a:prstGeom prst="rect">
            <a:avLst/>
          </a:prstGeom>
          <a:noFill/>
          <a:ln/>
        </p:spPr>
        <p:txBody>
          <a:bodyPr wrap="square" lIns="0" tIns="0" rIns="0" bIns="0" rtlCol="0" anchor="ctr"/>
          <a:lstStyle/>
          <a:p>
            <a:pPr marL="0" indent="0" algn="l">
              <a:lnSpc>
                <a:spcPts val="1500"/>
              </a:lnSpc>
              <a:buNone/>
            </a:pPr>
            <a:r>
              <a:rPr lang="en-US" sz="2000" dirty="0">
                <a:solidFill>
                  <a:srgbClr val="E8A33D"/>
                </a:solidFill>
                <a:latin typeface="Consolas" pitchFamily="34" charset="0"/>
                <a:ea typeface="Consolas" pitchFamily="34" charset="-122"/>
                <a:cs typeface="Consolas" pitchFamily="34" charset="-120"/>
              </a:rPr>
              <a:t>LALF</a:t>
            </a:r>
            <a:endParaRPr lang="en-US" sz="2000" dirty="0"/>
          </a:p>
        </p:txBody>
      </p:sp>
      <p:sp>
        <p:nvSpPr>
          <p:cNvPr id="11" name="Text 9"/>
          <p:cNvSpPr/>
          <p:nvPr/>
        </p:nvSpPr>
        <p:spPr>
          <a:xfrm>
            <a:off x="804672" y="2359152"/>
            <a:ext cx="3383280" cy="237744"/>
          </a:xfrm>
          <a:prstGeom prst="rect">
            <a:avLst/>
          </a:prstGeom>
          <a:noFill/>
          <a:ln/>
        </p:spPr>
        <p:txBody>
          <a:bodyPr wrap="square" lIns="0" tIns="0" rIns="0" bIns="0" rtlCol="0" anchor="t"/>
          <a:lstStyle/>
          <a:p>
            <a:pPr marL="0" indent="0" algn="l">
              <a:lnSpc>
                <a:spcPts val="1420"/>
              </a:lnSpc>
              <a:buNone/>
            </a:pPr>
            <a:r>
              <a:rPr lang="en-US" sz="1400" dirty="0">
                <a:solidFill>
                  <a:srgbClr val="EDEEF1"/>
                </a:solidFill>
                <a:latin typeface="Segoe UI" pitchFamily="34" charset="0"/>
                <a:ea typeface="Segoe UI" pitchFamily="34" charset="-122"/>
                <a:cs typeface="Segoe UI" pitchFamily="34" charset="-120"/>
              </a:rPr>
              <a:t>process → log server</a:t>
            </a:r>
            <a:endParaRPr lang="en-US" sz="1400" dirty="0"/>
          </a:p>
        </p:txBody>
      </p:sp>
      <p:sp>
        <p:nvSpPr>
          <p:cNvPr id="12" name="Text 10"/>
          <p:cNvSpPr/>
          <p:nvPr/>
        </p:nvSpPr>
        <p:spPr>
          <a:xfrm>
            <a:off x="804672" y="2615184"/>
            <a:ext cx="3383280" cy="237744"/>
          </a:xfrm>
          <a:prstGeom prst="rect">
            <a:avLst/>
          </a:prstGeom>
          <a:noFill/>
          <a:ln/>
        </p:spPr>
        <p:txBody>
          <a:bodyPr wrap="square" lIns="0" tIns="0" rIns="0" bIns="0" rtlCol="0" anchor="ctr"/>
          <a:lstStyle/>
          <a:p>
            <a:pPr marL="0" indent="0" algn="l">
              <a:lnSpc>
                <a:spcPts val="1500"/>
              </a:lnSpc>
              <a:buNone/>
            </a:pPr>
            <a:r>
              <a:rPr lang="en-US" sz="1100" dirty="0">
                <a:solidFill>
                  <a:srgbClr val="747B87"/>
                </a:solidFill>
                <a:latin typeface="Consolas" pitchFamily="34" charset="0"/>
                <a:ea typeface="Consolas" pitchFamily="34" charset="-122"/>
                <a:cs typeface="Consolas" pitchFamily="34" charset="-120"/>
              </a:rPr>
              <a:t>TCP :5600, line-oriented text</a:t>
            </a:r>
            <a:endParaRPr lang="en-US" sz="1100" dirty="0"/>
          </a:p>
        </p:txBody>
      </p:sp>
      <p:sp>
        <p:nvSpPr>
          <p:cNvPr id="13" name="card rule">
            <a:extLst>
              <a:ext uri="{C183D7F6-B498-43B3-948B-1728B52AA6E4}">
                <adec:decorative xmlns:adec="http://schemas.microsoft.com/office/drawing/2017/decorative" val="1"/>
              </a:ext>
            </a:extLst>
          </p:cNvPr>
          <p:cNvSpPr/>
          <p:nvPr/>
        </p:nvSpPr>
        <p:spPr>
          <a:xfrm>
            <a:off x="804672" y="2926080"/>
            <a:ext cx="457200" cy="10973"/>
          </a:xfrm>
          <a:prstGeom prst="rect">
            <a:avLst/>
          </a:prstGeom>
          <a:solidFill>
            <a:srgbClr val="E8A33D"/>
          </a:solidFill>
          <a:ln w="12700">
            <a:solidFill>
              <a:srgbClr val="333333"/>
            </a:solidFill>
            <a:prstDash val="solid"/>
          </a:ln>
        </p:spPr>
        <p:txBody>
          <a:bodyPr/>
          <a:lstStyle/>
          <a:p>
            <a:endParaRPr lang="en-SE"/>
          </a:p>
        </p:txBody>
      </p:sp>
      <p:sp>
        <p:nvSpPr>
          <p:cNvPr id="14" name="Text 12"/>
          <p:cNvSpPr/>
          <p:nvPr/>
        </p:nvSpPr>
        <p:spPr>
          <a:xfrm>
            <a:off x="804672" y="3072384"/>
            <a:ext cx="3383280" cy="786384"/>
          </a:xfrm>
          <a:prstGeom prst="rect">
            <a:avLst/>
          </a:prstGeom>
          <a:noFill/>
          <a:ln/>
        </p:spPr>
        <p:txBody>
          <a:bodyPr wrap="square" lIns="0" tIns="0" rIns="0" bIns="0" rtlCol="0" anchor="t"/>
          <a:lstStyle/>
          <a:p>
            <a:pPr marL="0" indent="0" algn="l">
              <a:lnSpc>
                <a:spcPts val="1420"/>
              </a:lnSpc>
              <a:buNone/>
            </a:pPr>
            <a:r>
              <a:rPr lang="en-US" sz="1200" dirty="0">
                <a:solidFill>
                  <a:srgbClr val="A3A9B4"/>
                </a:solidFill>
                <a:latin typeface="Segoe UI" pitchFamily="34" charset="0"/>
                <a:ea typeface="Segoe UI" pitchFamily="34" charset="-122"/>
                <a:cs typeface="Segoe UI" pitchFamily="34" charset="-120"/>
              </a:rPr>
              <a:t>Unidirectional and subscription-free: a client can only ever send its own records, never read anyone else's.</a:t>
            </a:r>
            <a:endParaRPr lang="en-US" sz="1200" dirty="0"/>
          </a:p>
        </p:txBody>
      </p:sp>
      <p:sp>
        <p:nvSpPr>
          <p:cNvPr id="15" name="chip background">
            <a:extLst>
              <a:ext uri="{C183D7F6-B498-43B3-948B-1728B52AA6E4}">
                <adec:decorative xmlns:adec="http://schemas.microsoft.com/office/drawing/2017/decorative" val="1"/>
              </a:ext>
            </a:extLst>
          </p:cNvPr>
          <p:cNvSpPr/>
          <p:nvPr/>
        </p:nvSpPr>
        <p:spPr>
          <a:xfrm>
            <a:off x="804672" y="3858768"/>
            <a:ext cx="3383280" cy="256032"/>
          </a:xfrm>
          <a:prstGeom prst="roundRect">
            <a:avLst>
              <a:gd name="adj" fmla="val 42857"/>
            </a:avLst>
          </a:prstGeom>
          <a:solidFill>
            <a:srgbClr val="1B1E23"/>
          </a:solidFill>
          <a:ln w="12700">
            <a:solidFill>
              <a:srgbClr val="444B55"/>
            </a:solidFill>
            <a:prstDash val="solid"/>
          </a:ln>
        </p:spPr>
        <p:txBody>
          <a:bodyPr/>
          <a:lstStyle/>
          <a:p>
            <a:endParaRPr lang="en-SE"/>
          </a:p>
        </p:txBody>
      </p:sp>
      <p:sp>
        <p:nvSpPr>
          <p:cNvPr id="16" name="Text 14"/>
          <p:cNvSpPr/>
          <p:nvPr/>
        </p:nvSpPr>
        <p:spPr>
          <a:xfrm>
            <a:off x="859536" y="3858768"/>
            <a:ext cx="3273552" cy="256032"/>
          </a:xfrm>
          <a:prstGeom prst="rect">
            <a:avLst/>
          </a:prstGeom>
          <a:noFill/>
          <a:ln/>
        </p:spPr>
        <p:txBody>
          <a:bodyPr wrap="square" lIns="0" tIns="0" rIns="0" bIns="0" rtlCol="0" anchor="ctr"/>
          <a:lstStyle/>
          <a:p>
            <a:pPr marL="0" indent="0" algn="ctr">
              <a:buNone/>
            </a:pPr>
            <a:r>
              <a:rPr lang="en-US" sz="1100" b="1" dirty="0">
                <a:solidFill>
                  <a:srgbClr val="E8A33D"/>
                </a:solidFill>
                <a:latin typeface="Segoe UI" pitchFamily="34" charset="0"/>
                <a:ea typeface="Segoe UI" pitchFamily="34" charset="-122"/>
                <a:cs typeface="Segoe UI" pitchFamily="34" charset="-120"/>
              </a:rPr>
              <a:t>Every process that logs</a:t>
            </a:r>
            <a:endParaRPr lang="en-US" sz="1100" dirty="0"/>
          </a:p>
        </p:txBody>
      </p:sp>
      <p:sp>
        <p:nvSpPr>
          <p:cNvPr id="17" name="card background">
            <a:extLst>
              <a:ext uri="{C183D7F6-B498-43B3-948B-1728B52AA6E4}">
                <adec:decorative xmlns:adec="http://schemas.microsoft.com/office/drawing/2017/decorative" val="1"/>
              </a:ext>
            </a:extLst>
          </p:cNvPr>
          <p:cNvSpPr/>
          <p:nvPr/>
        </p:nvSpPr>
        <p:spPr>
          <a:xfrm>
            <a:off x="4700016" y="1773936"/>
            <a:ext cx="3877056" cy="2432304"/>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8" name="card top accent">
            <a:extLst>
              <a:ext uri="{C183D7F6-B498-43B3-948B-1728B52AA6E4}">
                <adec:decorative xmlns:adec="http://schemas.microsoft.com/office/drawing/2017/decorative" val="1"/>
              </a:ext>
            </a:extLst>
          </p:cNvPr>
          <p:cNvSpPr/>
          <p:nvPr/>
        </p:nvSpPr>
        <p:spPr>
          <a:xfrm>
            <a:off x="4700016" y="1773936"/>
            <a:ext cx="3877056" cy="45720"/>
          </a:xfrm>
          <a:prstGeom prst="rect">
            <a:avLst/>
          </a:prstGeom>
          <a:solidFill>
            <a:srgbClr val="8A7EA8"/>
          </a:solidFill>
          <a:ln w="12700">
            <a:solidFill>
              <a:srgbClr val="333333"/>
            </a:solidFill>
            <a:prstDash val="solid"/>
          </a:ln>
        </p:spPr>
        <p:txBody>
          <a:bodyPr/>
          <a:lstStyle/>
          <a:p>
            <a:endParaRPr lang="en-SE"/>
          </a:p>
        </p:txBody>
      </p:sp>
      <p:sp>
        <p:nvSpPr>
          <p:cNvPr id="19" name="Text 17"/>
          <p:cNvSpPr/>
          <p:nvPr/>
        </p:nvSpPr>
        <p:spPr>
          <a:xfrm>
            <a:off x="4937760" y="1938528"/>
            <a:ext cx="3383280" cy="365760"/>
          </a:xfrm>
          <a:prstGeom prst="rect">
            <a:avLst/>
          </a:prstGeom>
          <a:noFill/>
          <a:ln/>
        </p:spPr>
        <p:txBody>
          <a:bodyPr wrap="square" lIns="0" tIns="0" rIns="0" bIns="0" rtlCol="0" anchor="ctr"/>
          <a:lstStyle/>
          <a:p>
            <a:pPr marL="0" indent="0" algn="l">
              <a:lnSpc>
                <a:spcPts val="1500"/>
              </a:lnSpc>
              <a:buNone/>
            </a:pPr>
            <a:r>
              <a:rPr lang="en-US" sz="2000" dirty="0">
                <a:solidFill>
                  <a:srgbClr val="8A7EA8"/>
                </a:solidFill>
                <a:latin typeface="Consolas" pitchFamily="34" charset="0"/>
                <a:ea typeface="Consolas" pitchFamily="34" charset="-122"/>
                <a:cs typeface="Consolas" pitchFamily="34" charset="-120"/>
              </a:rPr>
              <a:t>LALF-PS</a:t>
            </a:r>
            <a:endParaRPr lang="en-US" sz="2000" dirty="0"/>
          </a:p>
        </p:txBody>
      </p:sp>
      <p:sp>
        <p:nvSpPr>
          <p:cNvPr id="20" name="Text 18"/>
          <p:cNvSpPr/>
          <p:nvPr/>
        </p:nvSpPr>
        <p:spPr>
          <a:xfrm>
            <a:off x="4937760" y="2359152"/>
            <a:ext cx="3383280" cy="237744"/>
          </a:xfrm>
          <a:prstGeom prst="rect">
            <a:avLst/>
          </a:prstGeom>
          <a:noFill/>
          <a:ln/>
        </p:spPr>
        <p:txBody>
          <a:bodyPr wrap="square" lIns="0" tIns="0" rIns="0" bIns="0" rtlCol="0" anchor="t"/>
          <a:lstStyle/>
          <a:p>
            <a:pPr marL="0" indent="0" algn="l">
              <a:lnSpc>
                <a:spcPts val="1420"/>
              </a:lnSpc>
              <a:buNone/>
            </a:pPr>
            <a:r>
              <a:rPr lang="en-US" sz="1400" dirty="0">
                <a:solidFill>
                  <a:srgbClr val="EDEEF1"/>
                </a:solidFill>
                <a:latin typeface="Segoe UI" pitchFamily="34" charset="0"/>
                <a:ea typeface="Segoe UI" pitchFamily="34" charset="-122"/>
                <a:cs typeface="Segoe UI" pitchFamily="34" charset="-120"/>
              </a:rPr>
              <a:t>log server → subscriber</a:t>
            </a:r>
            <a:endParaRPr lang="en-US" sz="1400" dirty="0"/>
          </a:p>
        </p:txBody>
      </p:sp>
      <p:sp>
        <p:nvSpPr>
          <p:cNvPr id="21" name="Text 19"/>
          <p:cNvSpPr/>
          <p:nvPr/>
        </p:nvSpPr>
        <p:spPr>
          <a:xfrm>
            <a:off x="4937760" y="2615184"/>
            <a:ext cx="3383280" cy="237744"/>
          </a:xfrm>
          <a:prstGeom prst="rect">
            <a:avLst/>
          </a:prstGeom>
          <a:noFill/>
          <a:ln/>
        </p:spPr>
        <p:txBody>
          <a:bodyPr wrap="square" lIns="0" tIns="0" rIns="0" bIns="0" rtlCol="0" anchor="ctr"/>
          <a:lstStyle/>
          <a:p>
            <a:pPr marL="0" indent="0" algn="l">
              <a:lnSpc>
                <a:spcPts val="1500"/>
              </a:lnSpc>
              <a:buNone/>
            </a:pPr>
            <a:r>
              <a:rPr lang="en-US" sz="1100" dirty="0">
                <a:solidFill>
                  <a:srgbClr val="747B87"/>
                </a:solidFill>
                <a:latin typeface="Consolas" pitchFamily="34" charset="0"/>
                <a:ea typeface="Consolas" pitchFamily="34" charset="-122"/>
                <a:cs typeface="Consolas" pitchFamily="34" charset="-120"/>
              </a:rPr>
              <a:t>ZeroMQ PUB :5601 / PULL :5602, JSON</a:t>
            </a:r>
            <a:endParaRPr lang="en-US" sz="1100" dirty="0"/>
          </a:p>
        </p:txBody>
      </p:sp>
      <p:sp>
        <p:nvSpPr>
          <p:cNvPr id="22" name="card rule">
            <a:extLst>
              <a:ext uri="{C183D7F6-B498-43B3-948B-1728B52AA6E4}">
                <adec:decorative xmlns:adec="http://schemas.microsoft.com/office/drawing/2017/decorative" val="1"/>
              </a:ext>
            </a:extLst>
          </p:cNvPr>
          <p:cNvSpPr/>
          <p:nvPr/>
        </p:nvSpPr>
        <p:spPr>
          <a:xfrm>
            <a:off x="4937760" y="2926080"/>
            <a:ext cx="457200" cy="10973"/>
          </a:xfrm>
          <a:prstGeom prst="rect">
            <a:avLst/>
          </a:prstGeom>
          <a:solidFill>
            <a:srgbClr val="8A7EA8"/>
          </a:solidFill>
          <a:ln w="12700">
            <a:solidFill>
              <a:srgbClr val="333333"/>
            </a:solidFill>
            <a:prstDash val="solid"/>
          </a:ln>
        </p:spPr>
        <p:txBody>
          <a:bodyPr/>
          <a:lstStyle/>
          <a:p>
            <a:endParaRPr lang="en-SE"/>
          </a:p>
        </p:txBody>
      </p:sp>
      <p:sp>
        <p:nvSpPr>
          <p:cNvPr id="23" name="Text 21"/>
          <p:cNvSpPr/>
          <p:nvPr/>
        </p:nvSpPr>
        <p:spPr>
          <a:xfrm>
            <a:off x="4937760" y="3072384"/>
            <a:ext cx="3383280" cy="786384"/>
          </a:xfrm>
          <a:prstGeom prst="rect">
            <a:avLst/>
          </a:prstGeom>
          <a:noFill/>
          <a:ln/>
        </p:spPr>
        <p:txBody>
          <a:bodyPr wrap="square" lIns="0" tIns="0" rIns="0" bIns="0" rtlCol="0" anchor="t"/>
          <a:lstStyle/>
          <a:p>
            <a:pPr marL="0" indent="0" algn="l">
              <a:lnSpc>
                <a:spcPts val="1420"/>
              </a:lnSpc>
              <a:buNone/>
            </a:pPr>
            <a:r>
              <a:rPr lang="en-US" sz="1200" dirty="0">
                <a:solidFill>
                  <a:srgbClr val="A3A9B4"/>
                </a:solidFill>
                <a:latin typeface="Segoe UI" pitchFamily="34" charset="0"/>
                <a:ea typeface="Segoe UI" pitchFamily="34" charset="-122"/>
                <a:cs typeface="Segoe UI" pitchFamily="34" charset="-120"/>
              </a:rPr>
              <a:t>A viewer needs to read everything — the exact opposite of what LALF offers. So the server exposes a second interface.</a:t>
            </a:r>
            <a:endParaRPr lang="en-US" sz="1200" dirty="0"/>
          </a:p>
        </p:txBody>
      </p:sp>
      <p:sp>
        <p:nvSpPr>
          <p:cNvPr id="24" name="chip background">
            <a:extLst>
              <a:ext uri="{C183D7F6-B498-43B3-948B-1728B52AA6E4}">
                <adec:decorative xmlns:adec="http://schemas.microsoft.com/office/drawing/2017/decorative" val="1"/>
              </a:ext>
            </a:extLst>
          </p:cNvPr>
          <p:cNvSpPr/>
          <p:nvPr/>
        </p:nvSpPr>
        <p:spPr>
          <a:xfrm>
            <a:off x="4937760" y="3858768"/>
            <a:ext cx="3383280" cy="256032"/>
          </a:xfrm>
          <a:prstGeom prst="roundRect">
            <a:avLst>
              <a:gd name="adj" fmla="val 42857"/>
            </a:avLst>
          </a:prstGeom>
          <a:solidFill>
            <a:srgbClr val="1B1E23"/>
          </a:solidFill>
          <a:ln w="12700">
            <a:solidFill>
              <a:srgbClr val="444B55"/>
            </a:solidFill>
            <a:prstDash val="solid"/>
          </a:ln>
        </p:spPr>
        <p:txBody>
          <a:bodyPr/>
          <a:lstStyle/>
          <a:p>
            <a:endParaRPr lang="en-SE"/>
          </a:p>
        </p:txBody>
      </p:sp>
      <p:sp>
        <p:nvSpPr>
          <p:cNvPr id="25" name="Text 23"/>
          <p:cNvSpPr/>
          <p:nvPr/>
        </p:nvSpPr>
        <p:spPr>
          <a:xfrm>
            <a:off x="4992624" y="3858768"/>
            <a:ext cx="3273552" cy="256032"/>
          </a:xfrm>
          <a:prstGeom prst="rect">
            <a:avLst/>
          </a:prstGeom>
          <a:noFill/>
          <a:ln/>
        </p:spPr>
        <p:txBody>
          <a:bodyPr wrap="square" lIns="0" tIns="0" rIns="0" bIns="0" rtlCol="0" anchor="ctr"/>
          <a:lstStyle/>
          <a:p>
            <a:pPr marL="0" indent="0" algn="ctr">
              <a:buNone/>
            </a:pPr>
            <a:r>
              <a:rPr lang="en-US" sz="1100" b="1" dirty="0">
                <a:solidFill>
                  <a:srgbClr val="8A7EA8"/>
                </a:solidFill>
                <a:latin typeface="Segoe UI" pitchFamily="34" charset="0"/>
                <a:ea typeface="Segoe UI" pitchFamily="34" charset="-122"/>
                <a:cs typeface="Segoe UI" pitchFamily="34" charset="-120"/>
              </a:rPr>
              <a:t>Live viewers, including the console</a:t>
            </a:r>
            <a:endParaRPr lang="en-US" sz="1100" dirty="0"/>
          </a:p>
        </p:txBody>
      </p:sp>
      <p:sp>
        <p:nvSpPr>
          <p:cNvPr id="26" name="card background">
            <a:extLst>
              <a:ext uri="{C183D7F6-B498-43B3-948B-1728B52AA6E4}">
                <adec:decorative xmlns:adec="http://schemas.microsoft.com/office/drawing/2017/decorative" val="1"/>
              </a:ext>
            </a:extLst>
          </p:cNvPr>
          <p:cNvSpPr/>
          <p:nvPr/>
        </p:nvSpPr>
        <p:spPr>
          <a:xfrm>
            <a:off x="566928" y="4334256"/>
            <a:ext cx="8010144" cy="566928"/>
          </a:xfrm>
          <a:prstGeom prst="rect">
            <a:avLst/>
          </a:prstGeom>
          <a:solidFill>
            <a:srgbClr val="282C33"/>
          </a:solidFill>
          <a:ln w="12700">
            <a:solidFill>
              <a:srgbClr val="343941"/>
            </a:solidFill>
            <a:prstDash val="solid"/>
          </a:ln>
        </p:spPr>
        <p:txBody>
          <a:bodyPr/>
          <a:lstStyle/>
          <a:p>
            <a:endParaRPr lang="en-SE"/>
          </a:p>
        </p:txBody>
      </p:sp>
      <p:sp>
        <p:nvSpPr>
          <p:cNvPr id="27" name="card accent edge">
            <a:extLst>
              <a:ext uri="{C183D7F6-B498-43B3-948B-1728B52AA6E4}">
                <adec:decorative xmlns:adec="http://schemas.microsoft.com/office/drawing/2017/decorative" val="1"/>
              </a:ext>
            </a:extLst>
          </p:cNvPr>
          <p:cNvSpPr/>
          <p:nvPr/>
        </p:nvSpPr>
        <p:spPr>
          <a:xfrm>
            <a:off x="566928" y="4334256"/>
            <a:ext cx="50292" cy="566928"/>
          </a:xfrm>
          <a:prstGeom prst="rect">
            <a:avLst/>
          </a:prstGeom>
          <a:solidFill>
            <a:srgbClr val="E8A33D"/>
          </a:solidFill>
          <a:ln w="12700">
            <a:solidFill>
              <a:srgbClr val="333333"/>
            </a:solidFill>
            <a:prstDash val="solid"/>
          </a:ln>
        </p:spPr>
        <p:txBody>
          <a:bodyPr/>
          <a:lstStyle/>
          <a:p>
            <a:endParaRPr lang="en-SE"/>
          </a:p>
        </p:txBody>
      </p:sp>
      <p:sp>
        <p:nvSpPr>
          <p:cNvPr id="28" name="Text 26"/>
          <p:cNvSpPr/>
          <p:nvPr/>
        </p:nvSpPr>
        <p:spPr>
          <a:xfrm>
            <a:off x="822960" y="4334256"/>
            <a:ext cx="7589520" cy="566928"/>
          </a:xfrm>
          <a:prstGeom prst="rect">
            <a:avLst/>
          </a:prstGeom>
          <a:noFill/>
          <a:ln/>
        </p:spPr>
        <p:txBody>
          <a:bodyPr wrap="square" lIns="0" tIns="0" rIns="0" bIns="0" rtlCol="0" anchor="ctr"/>
          <a:lstStyle/>
          <a:p>
            <a:pPr marL="0" indent="0" algn="l">
              <a:lnSpc>
                <a:spcPts val="1491"/>
              </a:lnSpc>
              <a:buNone/>
            </a:pPr>
            <a:r>
              <a:rPr lang="en-US" sz="1200" dirty="0">
                <a:solidFill>
                  <a:srgbClr val="A3A9B4"/>
                </a:solidFill>
                <a:latin typeface="Segoe UI" pitchFamily="34" charset="0"/>
                <a:ea typeface="Segoe UI" pitchFamily="34" charset="-122"/>
                <a:cs typeface="Segoe UI" pitchFamily="34" charset="-120"/>
              </a:rPr>
              <a:t>Practical consequence: the console never connects to port 5600, and no logging process ever connects to 5601 or 5602. If you are debugging connectivity, check the right pair of ports for the right side.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1216"/>
        </a:solidFill>
        <a:effectLst/>
      </p:bgPr>
    </p:bg>
    <p:spTree>
      <p:nvGrpSpPr>
        <p:cNvPr id="1" name=""/>
        <p:cNvGrpSpPr/>
        <p:nvPr/>
      </p:nvGrpSpPr>
      <p:grpSpPr>
        <a:xfrm>
          <a:off x="0" y="0"/>
          <a:ext cx="0" cy="0"/>
          <a:chOff x="0" y="0"/>
          <a:chExt cx="0" cy="0"/>
        </a:xfrm>
      </p:grpSpPr>
      <p:sp>
        <p:nvSpPr>
          <p:cNvPr id="2" name="left accent bar">
            <a:extLst>
              <a:ext uri="{C183D7F6-B498-43B3-948B-1728B52AA6E4}">
                <adec:decorative xmlns:adec="http://schemas.microsoft.com/office/drawing/2017/decorative" val="1"/>
              </a:ext>
            </a:extLst>
          </p:cNvPr>
          <p:cNvSpPr/>
          <p:nvPr/>
        </p:nvSpPr>
        <p:spPr>
          <a:xfrm>
            <a:off x="0" y="0"/>
            <a:ext cx="68580" cy="5143500"/>
          </a:xfrm>
          <a:prstGeom prst="rect">
            <a:avLst/>
          </a:prstGeom>
          <a:solidFill>
            <a:srgbClr val="E8A33D"/>
          </a:solidFill>
          <a:ln w="12700">
            <a:solidFill>
              <a:srgbClr val="333333"/>
            </a:solidFill>
            <a:prstDash val="solid"/>
          </a:ln>
        </p:spPr>
        <p:txBody>
          <a:bodyPr/>
          <a:lstStyle/>
          <a:p>
            <a:endParaRPr lang="en-SE"/>
          </a:p>
        </p:txBody>
      </p:sp>
      <p:sp>
        <p:nvSpPr>
          <p:cNvPr id="3" name="background log-line texture">
            <a:extLst>
              <a:ext uri="{C183D7F6-B498-43B3-948B-1728B52AA6E4}">
                <adec:decorative xmlns:adec="http://schemas.microsoft.com/office/drawing/2017/decorative" val="1"/>
              </a:ext>
            </a:extLst>
          </p:cNvPr>
          <p:cNvSpPr/>
          <p:nvPr/>
        </p:nvSpPr>
        <p:spPr>
          <a:xfrm>
            <a:off x="6309360" y="914400"/>
            <a:ext cx="457200" cy="29261"/>
          </a:xfrm>
          <a:prstGeom prst="rect">
            <a:avLst/>
          </a:prstGeom>
          <a:solidFill>
            <a:srgbClr val="22262D"/>
          </a:solidFill>
          <a:ln w="12700">
            <a:solidFill>
              <a:srgbClr val="333333"/>
            </a:solidFill>
            <a:prstDash val="solid"/>
          </a:ln>
        </p:spPr>
        <p:txBody>
          <a:bodyPr/>
          <a:lstStyle/>
          <a:p>
            <a:endParaRPr lang="en-SE"/>
          </a:p>
        </p:txBody>
      </p:sp>
      <p:sp>
        <p:nvSpPr>
          <p:cNvPr id="4" name="background log-line texture">
            <a:extLst>
              <a:ext uri="{C183D7F6-B498-43B3-948B-1728B52AA6E4}">
                <adec:decorative xmlns:adec="http://schemas.microsoft.com/office/drawing/2017/decorative" val="1"/>
              </a:ext>
            </a:extLst>
          </p:cNvPr>
          <p:cNvSpPr/>
          <p:nvPr/>
        </p:nvSpPr>
        <p:spPr>
          <a:xfrm>
            <a:off x="6766560" y="1115568"/>
            <a:ext cx="1097280" cy="29261"/>
          </a:xfrm>
          <a:prstGeom prst="rect">
            <a:avLst/>
          </a:prstGeom>
          <a:solidFill>
            <a:srgbClr val="22262D"/>
          </a:solidFill>
          <a:ln w="12700">
            <a:solidFill>
              <a:srgbClr val="333333"/>
            </a:solidFill>
            <a:prstDash val="solid"/>
          </a:ln>
        </p:spPr>
        <p:txBody>
          <a:bodyPr/>
          <a:lstStyle/>
          <a:p>
            <a:endParaRPr lang="en-SE"/>
          </a:p>
        </p:txBody>
      </p:sp>
      <p:sp>
        <p:nvSpPr>
          <p:cNvPr id="5" name="background log-line texture">
            <a:extLst>
              <a:ext uri="{C183D7F6-B498-43B3-948B-1728B52AA6E4}">
                <adec:decorative xmlns:adec="http://schemas.microsoft.com/office/drawing/2017/decorative" val="1"/>
              </a:ext>
            </a:extLst>
          </p:cNvPr>
          <p:cNvSpPr/>
          <p:nvPr/>
        </p:nvSpPr>
        <p:spPr>
          <a:xfrm>
            <a:off x="6675120" y="1316736"/>
            <a:ext cx="1737360" cy="29261"/>
          </a:xfrm>
          <a:prstGeom prst="rect">
            <a:avLst/>
          </a:prstGeom>
          <a:solidFill>
            <a:srgbClr val="7A5A24"/>
          </a:solidFill>
          <a:ln w="12700">
            <a:solidFill>
              <a:srgbClr val="333333"/>
            </a:solidFill>
            <a:prstDash val="solid"/>
          </a:ln>
        </p:spPr>
        <p:txBody>
          <a:bodyPr/>
          <a:lstStyle/>
          <a:p>
            <a:endParaRPr lang="en-SE"/>
          </a:p>
        </p:txBody>
      </p:sp>
      <p:sp>
        <p:nvSpPr>
          <p:cNvPr id="6" name="background log-line texture">
            <a:extLst>
              <a:ext uri="{C183D7F6-B498-43B3-948B-1728B52AA6E4}">
                <adec:decorative xmlns:adec="http://schemas.microsoft.com/office/drawing/2017/decorative" val="1"/>
              </a:ext>
            </a:extLst>
          </p:cNvPr>
          <p:cNvSpPr/>
          <p:nvPr/>
        </p:nvSpPr>
        <p:spPr>
          <a:xfrm>
            <a:off x="6583680" y="1517904"/>
            <a:ext cx="2377440" cy="29261"/>
          </a:xfrm>
          <a:prstGeom prst="rect">
            <a:avLst/>
          </a:prstGeom>
          <a:solidFill>
            <a:srgbClr val="22262D"/>
          </a:solidFill>
          <a:ln w="12700">
            <a:solidFill>
              <a:srgbClr val="333333"/>
            </a:solidFill>
            <a:prstDash val="solid"/>
          </a:ln>
        </p:spPr>
        <p:txBody>
          <a:bodyPr/>
          <a:lstStyle/>
          <a:p>
            <a:endParaRPr lang="en-SE"/>
          </a:p>
        </p:txBody>
      </p:sp>
      <p:sp>
        <p:nvSpPr>
          <p:cNvPr id="7" name="background log-line texture">
            <a:extLst>
              <a:ext uri="{C183D7F6-B498-43B3-948B-1728B52AA6E4}">
                <adec:decorative xmlns:adec="http://schemas.microsoft.com/office/drawing/2017/decorative" val="1"/>
              </a:ext>
            </a:extLst>
          </p:cNvPr>
          <p:cNvSpPr/>
          <p:nvPr/>
        </p:nvSpPr>
        <p:spPr>
          <a:xfrm>
            <a:off x="6492240" y="1719072"/>
            <a:ext cx="1005840" cy="29261"/>
          </a:xfrm>
          <a:prstGeom prst="rect">
            <a:avLst/>
          </a:prstGeom>
          <a:solidFill>
            <a:srgbClr val="22262D"/>
          </a:solidFill>
          <a:ln w="12700">
            <a:solidFill>
              <a:srgbClr val="333333"/>
            </a:solidFill>
            <a:prstDash val="solid"/>
          </a:ln>
        </p:spPr>
        <p:txBody>
          <a:bodyPr/>
          <a:lstStyle/>
          <a:p>
            <a:endParaRPr lang="en-SE"/>
          </a:p>
        </p:txBody>
      </p:sp>
      <p:sp>
        <p:nvSpPr>
          <p:cNvPr id="8" name="background log-line texture">
            <a:extLst>
              <a:ext uri="{C183D7F6-B498-43B3-948B-1728B52AA6E4}">
                <adec:decorative xmlns:adec="http://schemas.microsoft.com/office/drawing/2017/decorative" val="1"/>
              </a:ext>
            </a:extLst>
          </p:cNvPr>
          <p:cNvSpPr/>
          <p:nvPr/>
        </p:nvSpPr>
        <p:spPr>
          <a:xfrm>
            <a:off x="6400800" y="1920240"/>
            <a:ext cx="1645920" cy="29261"/>
          </a:xfrm>
          <a:prstGeom prst="rect">
            <a:avLst/>
          </a:prstGeom>
          <a:solidFill>
            <a:srgbClr val="22262D"/>
          </a:solidFill>
          <a:ln w="12700">
            <a:solidFill>
              <a:srgbClr val="333333"/>
            </a:solidFill>
            <a:prstDash val="solid"/>
          </a:ln>
        </p:spPr>
        <p:txBody>
          <a:bodyPr/>
          <a:lstStyle/>
          <a:p>
            <a:endParaRPr lang="en-SE"/>
          </a:p>
        </p:txBody>
      </p:sp>
      <p:sp>
        <p:nvSpPr>
          <p:cNvPr id="9" name="background log-line texture">
            <a:extLst>
              <a:ext uri="{C183D7F6-B498-43B3-948B-1728B52AA6E4}">
                <adec:decorative xmlns:adec="http://schemas.microsoft.com/office/drawing/2017/decorative" val="1"/>
              </a:ext>
            </a:extLst>
          </p:cNvPr>
          <p:cNvSpPr/>
          <p:nvPr/>
        </p:nvSpPr>
        <p:spPr>
          <a:xfrm>
            <a:off x="6309360" y="2121408"/>
            <a:ext cx="2286000" cy="29261"/>
          </a:xfrm>
          <a:prstGeom prst="rect">
            <a:avLst/>
          </a:prstGeom>
          <a:solidFill>
            <a:srgbClr val="22262D"/>
          </a:solidFill>
          <a:ln w="12700">
            <a:solidFill>
              <a:srgbClr val="333333"/>
            </a:solidFill>
            <a:prstDash val="solid"/>
          </a:ln>
        </p:spPr>
        <p:txBody>
          <a:bodyPr/>
          <a:lstStyle/>
          <a:p>
            <a:endParaRPr lang="en-SE"/>
          </a:p>
        </p:txBody>
      </p:sp>
      <p:sp>
        <p:nvSpPr>
          <p:cNvPr id="10" name="background log-line texture">
            <a:extLst>
              <a:ext uri="{C183D7F6-B498-43B3-948B-1728B52AA6E4}">
                <adec:decorative xmlns:adec="http://schemas.microsoft.com/office/drawing/2017/decorative" val="1"/>
              </a:ext>
            </a:extLst>
          </p:cNvPr>
          <p:cNvSpPr/>
          <p:nvPr/>
        </p:nvSpPr>
        <p:spPr>
          <a:xfrm>
            <a:off x="6766560" y="2322576"/>
            <a:ext cx="914400" cy="29261"/>
          </a:xfrm>
          <a:prstGeom prst="rect">
            <a:avLst/>
          </a:prstGeom>
          <a:solidFill>
            <a:srgbClr val="7A5A24"/>
          </a:solidFill>
          <a:ln w="12700">
            <a:solidFill>
              <a:srgbClr val="333333"/>
            </a:solidFill>
            <a:prstDash val="solid"/>
          </a:ln>
        </p:spPr>
        <p:txBody>
          <a:bodyPr/>
          <a:lstStyle/>
          <a:p>
            <a:endParaRPr lang="en-SE"/>
          </a:p>
        </p:txBody>
      </p:sp>
      <p:sp>
        <p:nvSpPr>
          <p:cNvPr id="11" name="background log-line texture">
            <a:extLst>
              <a:ext uri="{C183D7F6-B498-43B3-948B-1728B52AA6E4}">
                <adec:decorative xmlns:adec="http://schemas.microsoft.com/office/drawing/2017/decorative" val="1"/>
              </a:ext>
            </a:extLst>
          </p:cNvPr>
          <p:cNvSpPr/>
          <p:nvPr/>
        </p:nvSpPr>
        <p:spPr>
          <a:xfrm>
            <a:off x="6675120" y="2523744"/>
            <a:ext cx="1554480" cy="29261"/>
          </a:xfrm>
          <a:prstGeom prst="rect">
            <a:avLst/>
          </a:prstGeom>
          <a:solidFill>
            <a:srgbClr val="22262D"/>
          </a:solidFill>
          <a:ln w="12700">
            <a:solidFill>
              <a:srgbClr val="333333"/>
            </a:solidFill>
            <a:prstDash val="solid"/>
          </a:ln>
        </p:spPr>
        <p:txBody>
          <a:bodyPr/>
          <a:lstStyle/>
          <a:p>
            <a:endParaRPr lang="en-SE"/>
          </a:p>
        </p:txBody>
      </p:sp>
      <p:sp>
        <p:nvSpPr>
          <p:cNvPr id="12" name="background log-line texture">
            <a:extLst>
              <a:ext uri="{C183D7F6-B498-43B3-948B-1728B52AA6E4}">
                <adec:decorative xmlns:adec="http://schemas.microsoft.com/office/drawing/2017/decorative" val="1"/>
              </a:ext>
            </a:extLst>
          </p:cNvPr>
          <p:cNvSpPr/>
          <p:nvPr/>
        </p:nvSpPr>
        <p:spPr>
          <a:xfrm>
            <a:off x="6583680" y="2724912"/>
            <a:ext cx="2194560" cy="29261"/>
          </a:xfrm>
          <a:prstGeom prst="rect">
            <a:avLst/>
          </a:prstGeom>
          <a:solidFill>
            <a:srgbClr val="22262D"/>
          </a:solidFill>
          <a:ln w="12700">
            <a:solidFill>
              <a:srgbClr val="333333"/>
            </a:solidFill>
            <a:prstDash val="solid"/>
          </a:ln>
        </p:spPr>
        <p:txBody>
          <a:bodyPr/>
          <a:lstStyle/>
          <a:p>
            <a:endParaRPr lang="en-SE"/>
          </a:p>
        </p:txBody>
      </p:sp>
      <p:sp>
        <p:nvSpPr>
          <p:cNvPr id="13" name="background log-line texture">
            <a:extLst>
              <a:ext uri="{C183D7F6-B498-43B3-948B-1728B52AA6E4}">
                <adec:decorative xmlns:adec="http://schemas.microsoft.com/office/drawing/2017/decorative" val="1"/>
              </a:ext>
            </a:extLst>
          </p:cNvPr>
          <p:cNvSpPr/>
          <p:nvPr/>
        </p:nvSpPr>
        <p:spPr>
          <a:xfrm>
            <a:off x="6492240" y="2926080"/>
            <a:ext cx="822960" cy="29261"/>
          </a:xfrm>
          <a:prstGeom prst="rect">
            <a:avLst/>
          </a:prstGeom>
          <a:solidFill>
            <a:srgbClr val="22262D"/>
          </a:solidFill>
          <a:ln w="12700">
            <a:solidFill>
              <a:srgbClr val="333333"/>
            </a:solidFill>
            <a:prstDash val="solid"/>
          </a:ln>
        </p:spPr>
        <p:txBody>
          <a:bodyPr/>
          <a:lstStyle/>
          <a:p>
            <a:endParaRPr lang="en-SE"/>
          </a:p>
        </p:txBody>
      </p:sp>
      <p:sp>
        <p:nvSpPr>
          <p:cNvPr id="14" name="background log-line texture">
            <a:extLst>
              <a:ext uri="{C183D7F6-B498-43B3-948B-1728B52AA6E4}">
                <adec:decorative xmlns:adec="http://schemas.microsoft.com/office/drawing/2017/decorative" val="1"/>
              </a:ext>
            </a:extLst>
          </p:cNvPr>
          <p:cNvSpPr/>
          <p:nvPr/>
        </p:nvSpPr>
        <p:spPr>
          <a:xfrm>
            <a:off x="6400800" y="3127248"/>
            <a:ext cx="1463040" cy="29261"/>
          </a:xfrm>
          <a:prstGeom prst="rect">
            <a:avLst/>
          </a:prstGeom>
          <a:solidFill>
            <a:srgbClr val="22262D"/>
          </a:solidFill>
          <a:ln w="12700">
            <a:solidFill>
              <a:srgbClr val="333333"/>
            </a:solidFill>
            <a:prstDash val="solid"/>
          </a:ln>
        </p:spPr>
        <p:txBody>
          <a:bodyPr/>
          <a:lstStyle/>
          <a:p>
            <a:endParaRPr lang="en-SE"/>
          </a:p>
        </p:txBody>
      </p:sp>
      <p:sp>
        <p:nvSpPr>
          <p:cNvPr id="15" name="background log-line texture">
            <a:extLst>
              <a:ext uri="{C183D7F6-B498-43B3-948B-1728B52AA6E4}">
                <adec:decorative xmlns:adec="http://schemas.microsoft.com/office/drawing/2017/decorative" val="1"/>
              </a:ext>
            </a:extLst>
          </p:cNvPr>
          <p:cNvSpPr/>
          <p:nvPr/>
        </p:nvSpPr>
        <p:spPr>
          <a:xfrm>
            <a:off x="6309360" y="3328416"/>
            <a:ext cx="2103120" cy="29261"/>
          </a:xfrm>
          <a:prstGeom prst="rect">
            <a:avLst/>
          </a:prstGeom>
          <a:solidFill>
            <a:srgbClr val="7A5A24"/>
          </a:solidFill>
          <a:ln w="12700">
            <a:solidFill>
              <a:srgbClr val="333333"/>
            </a:solidFill>
            <a:prstDash val="solid"/>
          </a:ln>
        </p:spPr>
        <p:txBody>
          <a:bodyPr/>
          <a:lstStyle/>
          <a:p>
            <a:endParaRPr lang="en-SE"/>
          </a:p>
        </p:txBody>
      </p:sp>
      <p:sp>
        <p:nvSpPr>
          <p:cNvPr id="16" name="background log-line texture">
            <a:extLst>
              <a:ext uri="{C183D7F6-B498-43B3-948B-1728B52AA6E4}">
                <adec:decorative xmlns:adec="http://schemas.microsoft.com/office/drawing/2017/decorative" val="1"/>
              </a:ext>
            </a:extLst>
          </p:cNvPr>
          <p:cNvSpPr/>
          <p:nvPr/>
        </p:nvSpPr>
        <p:spPr>
          <a:xfrm>
            <a:off x="6766560" y="3529584"/>
            <a:ext cx="731520" cy="29261"/>
          </a:xfrm>
          <a:prstGeom prst="rect">
            <a:avLst/>
          </a:prstGeom>
          <a:solidFill>
            <a:srgbClr val="22262D"/>
          </a:solidFill>
          <a:ln w="12700">
            <a:solidFill>
              <a:srgbClr val="333333"/>
            </a:solidFill>
            <a:prstDash val="solid"/>
          </a:ln>
        </p:spPr>
        <p:txBody>
          <a:bodyPr/>
          <a:lstStyle/>
          <a:p>
            <a:endParaRPr lang="en-SE"/>
          </a:p>
        </p:txBody>
      </p:sp>
      <p:sp>
        <p:nvSpPr>
          <p:cNvPr id="17" name="background log-line texture">
            <a:extLst>
              <a:ext uri="{C183D7F6-B498-43B3-948B-1728B52AA6E4}">
                <adec:decorative xmlns:adec="http://schemas.microsoft.com/office/drawing/2017/decorative" val="1"/>
              </a:ext>
            </a:extLst>
          </p:cNvPr>
          <p:cNvSpPr/>
          <p:nvPr/>
        </p:nvSpPr>
        <p:spPr>
          <a:xfrm>
            <a:off x="6675120" y="3730752"/>
            <a:ext cx="1371600" cy="29261"/>
          </a:xfrm>
          <a:prstGeom prst="rect">
            <a:avLst/>
          </a:prstGeom>
          <a:solidFill>
            <a:srgbClr val="22262D"/>
          </a:solidFill>
          <a:ln w="12700">
            <a:solidFill>
              <a:srgbClr val="333333"/>
            </a:solidFill>
            <a:prstDash val="solid"/>
          </a:ln>
        </p:spPr>
        <p:txBody>
          <a:bodyPr/>
          <a:lstStyle/>
          <a:p>
            <a:endParaRPr lang="en-SE"/>
          </a:p>
        </p:txBody>
      </p:sp>
      <p:sp>
        <p:nvSpPr>
          <p:cNvPr id="18" name="background log-line texture">
            <a:extLst>
              <a:ext uri="{C183D7F6-B498-43B3-948B-1728B52AA6E4}">
                <adec:decorative xmlns:adec="http://schemas.microsoft.com/office/drawing/2017/decorative" val="1"/>
              </a:ext>
            </a:extLst>
          </p:cNvPr>
          <p:cNvSpPr/>
          <p:nvPr/>
        </p:nvSpPr>
        <p:spPr>
          <a:xfrm>
            <a:off x="6583680" y="3931920"/>
            <a:ext cx="2011680" cy="29261"/>
          </a:xfrm>
          <a:prstGeom prst="rect">
            <a:avLst/>
          </a:prstGeom>
          <a:solidFill>
            <a:srgbClr val="22262D"/>
          </a:solidFill>
          <a:ln w="12700">
            <a:solidFill>
              <a:srgbClr val="333333"/>
            </a:solidFill>
            <a:prstDash val="solid"/>
          </a:ln>
        </p:spPr>
        <p:txBody>
          <a:bodyPr/>
          <a:lstStyle/>
          <a:p>
            <a:endParaRPr lang="en-SE"/>
          </a:p>
        </p:txBody>
      </p:sp>
      <p:sp>
        <p:nvSpPr>
          <p:cNvPr id="19" name="Text 17"/>
          <p:cNvSpPr/>
          <p:nvPr/>
        </p:nvSpPr>
        <p:spPr>
          <a:xfrm>
            <a:off x="1371600" y="1371600"/>
            <a:ext cx="1828800" cy="640080"/>
          </a:xfrm>
          <a:prstGeom prst="rect">
            <a:avLst/>
          </a:prstGeom>
          <a:noFill/>
          <a:ln/>
        </p:spPr>
        <p:txBody>
          <a:bodyPr wrap="square" lIns="0" tIns="0" rIns="0" bIns="0" rtlCol="0" anchor="ctr"/>
          <a:lstStyle/>
          <a:p>
            <a:pPr marL="0" indent="0">
              <a:buNone/>
            </a:pPr>
            <a:r>
              <a:rPr lang="en-US" sz="5200" dirty="0">
                <a:solidFill>
                  <a:srgbClr val="7A5A24"/>
                </a:solidFill>
                <a:latin typeface="Georgia" pitchFamily="34" charset="0"/>
                <a:ea typeface="Georgia" pitchFamily="34" charset="-122"/>
                <a:cs typeface="Georgia" pitchFamily="34" charset="-120"/>
              </a:rPr>
              <a:t>07</a:t>
            </a:r>
            <a:endParaRPr lang="en-US" sz="5200" dirty="0"/>
          </a:p>
        </p:txBody>
      </p:sp>
      <p:sp>
        <p:nvSpPr>
          <p:cNvPr id="20" name="section rule">
            <a:extLst>
              <a:ext uri="{C183D7F6-B498-43B3-948B-1728B52AA6E4}">
                <adec:decorative xmlns:adec="http://schemas.microsoft.com/office/drawing/2017/decorative" val="1"/>
              </a:ext>
            </a:extLst>
          </p:cNvPr>
          <p:cNvSpPr/>
          <p:nvPr/>
        </p:nvSpPr>
        <p:spPr>
          <a:xfrm>
            <a:off x="1389888" y="2048256"/>
            <a:ext cx="731520" cy="27432"/>
          </a:xfrm>
          <a:prstGeom prst="rect">
            <a:avLst/>
          </a:prstGeom>
          <a:solidFill>
            <a:srgbClr val="E8A33D"/>
          </a:solidFill>
          <a:ln w="12700">
            <a:solidFill>
              <a:srgbClr val="333333"/>
            </a:solidFill>
            <a:prstDash val="solid"/>
          </a:ln>
        </p:spPr>
        <p:txBody>
          <a:bodyPr/>
          <a:lstStyle/>
          <a:p>
            <a:endParaRPr lang="en-SE"/>
          </a:p>
        </p:txBody>
      </p:sp>
      <p:sp>
        <p:nvSpPr>
          <p:cNvPr id="21" name="Text 0"/>
          <p:cNvSpPr>
            <a:spLocks noGrp="1"/>
          </p:cNvSpPr>
          <p:nvPr>
            <p:ph type="title" idx="100" hasCustomPrompt="1"/>
          </p:nvPr>
        </p:nvSpPr>
        <p:spPr>
          <a:xfrm>
            <a:off x="1371600" y="2148840"/>
            <a:ext cx="6949440" cy="914400"/>
          </a:xfrm>
          <a:prstGeom prst="rect">
            <a:avLst/>
          </a:prstGeom>
          <a:noFill/>
          <a:ln/>
        </p:spPr>
        <p:txBody>
          <a:bodyPr wrap="square" lIns="0" tIns="0" rIns="0" bIns="0" rtlCol="0" anchor="ctr"/>
          <a:lstStyle/>
          <a:p>
            <a:pPr marL="0" indent="0">
              <a:buNone/>
            </a:pPr>
            <a:r>
              <a:rPr lang="en-US" sz="3000" dirty="0">
                <a:solidFill>
                  <a:srgbClr val="EDEEF1"/>
                </a:solidFill>
                <a:latin typeface="Georgia" pitchFamily="34" charset="0"/>
                <a:ea typeface="Georgia" pitchFamily="34" charset="-122"/>
                <a:cs typeface="Georgia" pitchFamily="34" charset="-120"/>
              </a:rPr>
              <a:t>Technical reference</a:t>
            </a:r>
            <a:endParaRPr lang="en-US" sz="3000" dirty="0"/>
          </a:p>
        </p:txBody>
      </p:sp>
      <p:sp>
        <p:nvSpPr>
          <p:cNvPr id="22" name="Text 20"/>
          <p:cNvSpPr/>
          <p:nvPr/>
        </p:nvSpPr>
        <p:spPr>
          <a:xfrm>
            <a:off x="1371600" y="3127248"/>
            <a:ext cx="4754880" cy="731520"/>
          </a:xfrm>
          <a:prstGeom prst="rect">
            <a:avLst/>
          </a:prstGeom>
          <a:noFill/>
          <a:ln/>
        </p:spPr>
        <p:txBody>
          <a:bodyPr wrap="square" lIns="0" tIns="0" rIns="0" bIns="0" rtlCol="0" anchor="t"/>
          <a:lstStyle/>
          <a:p>
            <a:pPr marL="0" indent="0">
              <a:lnSpc>
                <a:spcPts val="1700"/>
              </a:lnSpc>
              <a:buNone/>
            </a:pPr>
            <a:r>
              <a:rPr lang="en-US" sz="1400" dirty="0">
                <a:solidFill>
                  <a:srgbClr val="A3A9B4"/>
                </a:solidFill>
                <a:latin typeface="Segoe UI" pitchFamily="34" charset="0"/>
                <a:ea typeface="Segoe UI" pitchFamily="34" charset="-122"/>
                <a:cs typeface="Segoe UI" pitchFamily="34" charset="-120"/>
              </a:rPr>
              <a:t>The tables to come back to — message types, fields, codes, commands and settings.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39</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LALF message catalog</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Nine message types. Only one of them carries a payload.</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542599832"/>
              </p:ext>
            </p:extLst>
          </p:nvPr>
        </p:nvGraphicFramePr>
        <p:xfrm>
          <a:off x="566928" y="1700784"/>
          <a:ext cx="8010144" cy="2967228"/>
        </p:xfrm>
        <a:graphic>
          <a:graphicData uri="http://schemas.openxmlformats.org/drawingml/2006/table">
            <a:tbl>
              <a:tblPr/>
              <a:tblGrid>
                <a:gridCol w="13258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946904">
                  <a:extLst>
                    <a:ext uri="{9D8B030D-6E8A-4147-A177-3AD203B41FA5}">
                      <a16:colId xmlns:a16="http://schemas.microsoft.com/office/drawing/2014/main" val="20002"/>
                    </a:ext>
                  </a:extLst>
                </a:gridCol>
              </a:tblGrid>
              <a:tr h="292608">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MESSAGE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DIRECTION</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PURPOSE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HELLO</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client → server</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Starts the session and identifies the connecting process. Must be first.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WELCOME</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server → client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Confirms the session; carries server name, heartbeat interval and session id.</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client → server</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One formatted log record: header fields plus a length-prefixed body.</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ACK</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server → client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Reserved for a future revision. The shipped server never sends it.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ERR</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server → client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A protocol violation or an advisory condition on something the client sent.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HB</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client → server</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Heartbeat, sent whether or not anything was logged recently.</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PING</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either direction</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On-demand liveness check. In practice only a client initiates one.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PONG</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either direction</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Reply to PING. Carries no fields.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r h="2971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EXIT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client → server</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Clean disconnect. Buffered rows are flushed before the socket closes.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40</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LOG header fields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The field set is fixed in this revision. Five are required; the rest are supplied when available.</a:t>
            </a:r>
            <a:endParaRPr lang="en-US" sz="1250" dirty="0"/>
          </a:p>
        </p:txBody>
      </p:sp>
      <p:graphicFrame>
        <p:nvGraphicFramePr>
          <p:cNvPr id="41" name="Table 0"/>
          <p:cNvGraphicFramePr>
            <a:graphicFrameLocks noGrp="1"/>
          </p:cNvGraphicFramePr>
          <p:nvPr>
            <p:extLst>
              <p:ext uri="{D42A27DB-BD31-4B8C-83A1-F6EECF244321}">
                <p14:modId xmlns:p14="http://schemas.microsoft.com/office/powerpoint/2010/main" val="2898713375"/>
              </p:ext>
            </p:extLst>
          </p:nvPr>
        </p:nvGraphicFramePr>
        <p:xfrm>
          <a:off x="566928" y="1700784"/>
          <a:ext cx="8010144" cy="2743200"/>
        </p:xfrm>
        <a:graphic>
          <a:graphicData uri="http://schemas.openxmlformats.org/drawingml/2006/table">
            <a:tbl>
              <a:tblPr/>
              <a:tblGrid>
                <a:gridCol w="123444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5431536">
                  <a:extLst>
                    <a:ext uri="{9D8B030D-6E8A-4147-A177-3AD203B41FA5}">
                      <a16:colId xmlns:a16="http://schemas.microsoft.com/office/drawing/2014/main" val="20003"/>
                    </a:ext>
                  </a:extLst>
                </a:gridCol>
              </a:tblGrid>
              <a:tr h="292608">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FIELD</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ctr">
                        <a:buNone/>
                      </a:pPr>
                      <a:r>
                        <a:rPr lang="en-US" sz="1200" b="1" kern="0" spc="100" dirty="0">
                          <a:solidFill>
                            <a:srgbClr val="E8A33D"/>
                          </a:solidFill>
                          <a:latin typeface="Segoe UI" pitchFamily="34" charset="0"/>
                          <a:ea typeface="Segoe UI" pitchFamily="34" charset="-122"/>
                          <a:cs typeface="Segoe UI" pitchFamily="34" charset="-120"/>
                        </a:rPr>
                        <a:t>REQ</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TYPE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DESCRIPTION</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SEQ</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yes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int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Monotonic per-connection sequence number, starting at 1.</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TS</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yes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string</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UTC ISO-8601 timestamp with milliseconds, set by the client at emission.</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LEVEL</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yes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enum</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DEBUG, INFO, WARNING, ERROR or CRITICAL. Anything else is rejected.</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LOGGER</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yes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string</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Originating logger name, e.g. edumatcher.md_gateway.gateway.</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MODULE</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no</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string</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Source module the record came from, when available.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LINE</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no</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int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Source line number, when available.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EXC</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no</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bool</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Set when the payload includes a formatted exception or traceback.</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306324">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LEN</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ctr">
                        <a:buNone/>
                      </a:pPr>
                      <a:r>
                        <a:rPr lang="en-US" sz="1100" dirty="0">
                          <a:solidFill>
                            <a:srgbClr val="A3A9B4"/>
                          </a:solidFill>
                          <a:latin typeface="Segoe UI" pitchFamily="34" charset="0"/>
                          <a:ea typeface="Segoe UI" pitchFamily="34" charset="-122"/>
                          <a:cs typeface="Segoe UI" pitchFamily="34" charset="-120"/>
                        </a:rPr>
                        <a:t>yes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int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Exact byte length of the UTF-8 payload following the header line.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bl>
          </a:graphicData>
        </a:graphic>
      </p:graphicFrame>
      <p:sp>
        <p:nvSpPr>
          <p:cNvPr id="9" name="Text 6"/>
          <p:cNvSpPr/>
          <p:nvPr/>
        </p:nvSpPr>
        <p:spPr>
          <a:xfrm>
            <a:off x="566928" y="4718304"/>
            <a:ext cx="8010144" cy="292608"/>
          </a:xfrm>
          <a:prstGeom prst="rect">
            <a:avLst/>
          </a:prstGeom>
          <a:noFill/>
          <a:ln/>
        </p:spPr>
        <p:txBody>
          <a:bodyPr wrap="square" lIns="0" tIns="0" rIns="0" bIns="0" rtlCol="0" anchor="t"/>
          <a:lstStyle/>
          <a:p>
            <a:pPr marL="0" indent="0" algn="l">
              <a:lnSpc>
                <a:spcPts val="1349"/>
              </a:lnSpc>
              <a:buNone/>
            </a:pPr>
            <a:r>
              <a:rPr lang="en-US" sz="950" i="1" dirty="0">
                <a:solidFill>
                  <a:srgbClr val="747B87"/>
                </a:solidFill>
                <a:latin typeface="Segoe UI" pitchFamily="34" charset="0"/>
                <a:ea typeface="Segoe UI" pitchFamily="34" charset="-122"/>
                <a:cs typeface="Segoe UI" pitchFamily="34" charset="-120"/>
              </a:rPr>
              <a:t>Oversized payloads are truncated to max_message_bytes and stored with a truncated flag — never dropped, and never split mid-character.</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41</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Error codes — and which ones end the session</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Most errors are not fatal. A client that disconnects on every error will drop a connection over one malformed line.</a:t>
            </a:r>
            <a:endParaRPr lang="en-US" sz="1400" dirty="0"/>
          </a:p>
        </p:txBody>
      </p:sp>
      <p:graphicFrame>
        <p:nvGraphicFramePr>
          <p:cNvPr id="42" name="Table 0"/>
          <p:cNvGraphicFramePr>
            <a:graphicFrameLocks noGrp="1"/>
          </p:cNvGraphicFramePr>
          <p:nvPr>
            <p:extLst>
              <p:ext uri="{D42A27DB-BD31-4B8C-83A1-F6EECF244321}">
                <p14:modId xmlns:p14="http://schemas.microsoft.com/office/powerpoint/2010/main" val="2929223922"/>
              </p:ext>
            </p:extLst>
          </p:nvPr>
        </p:nvGraphicFramePr>
        <p:xfrm>
          <a:off x="566928" y="1700784"/>
          <a:ext cx="8010144" cy="2350008"/>
        </p:xfrm>
        <a:graphic>
          <a:graphicData uri="http://schemas.openxmlformats.org/drawingml/2006/table">
            <a:tbl>
              <a:tblPr/>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432304">
                  <a:extLst>
                    <a:ext uri="{9D8B030D-6E8A-4147-A177-3AD203B41FA5}">
                      <a16:colId xmlns:a16="http://schemas.microsoft.com/office/drawing/2014/main" val="20002"/>
                    </a:ext>
                  </a:extLst>
                </a:gridCol>
              </a:tblGrid>
              <a:tr h="292608">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CODE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MEANING</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ENDS SESSION?</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4114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INVALID_LEVEL</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The level was not one of the five valid values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No — fix the sending code and carry on</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4114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MISSING_FIELD</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A required header field was absent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No — same as above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4114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PAYLOAD_TOO_LARGE</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The record exceeded max_message_bytes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No — advisory only; already truncated and stored</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4114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PROTO_MISMATCH</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Wrong protocol version, or a second handshake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Yes — the server closes the connection</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411480">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HELLO_TIMEOUT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No handshake within 5 seconds of connecting</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Yes — and you will probably never see it on the wire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bl>
          </a:graphicData>
        </a:graphic>
      </p:graphicFrame>
      <p:sp>
        <p:nvSpPr>
          <p:cNvPr id="9" name="card background">
            <a:extLst>
              <a:ext uri="{C183D7F6-B498-43B3-948B-1728B52AA6E4}">
                <adec:decorative xmlns:adec="http://schemas.microsoft.com/office/drawing/2017/decorative" val="1"/>
              </a:ext>
            </a:extLst>
          </p:cNvPr>
          <p:cNvSpPr/>
          <p:nvPr/>
        </p:nvSpPr>
        <p:spPr>
          <a:xfrm>
            <a:off x="566928" y="4204716"/>
            <a:ext cx="8010144" cy="822960"/>
          </a:xfrm>
          <a:prstGeom prst="rect">
            <a:avLst/>
          </a:prstGeom>
          <a:solidFill>
            <a:srgbClr val="282C33"/>
          </a:solidFill>
          <a:ln w="12700">
            <a:solidFill>
              <a:srgbClr val="343941"/>
            </a:solidFill>
            <a:prstDash val="solid"/>
          </a:ln>
        </p:spPr>
        <p:txBody>
          <a:bodyPr/>
          <a:lstStyle/>
          <a:p>
            <a:endParaRPr lang="en-SE"/>
          </a:p>
        </p:txBody>
      </p:sp>
      <p:sp>
        <p:nvSpPr>
          <p:cNvPr id="10" name="card accent edge">
            <a:extLst>
              <a:ext uri="{C183D7F6-B498-43B3-948B-1728B52AA6E4}">
                <adec:decorative xmlns:adec="http://schemas.microsoft.com/office/drawing/2017/decorative" val="1"/>
              </a:ext>
            </a:extLst>
          </p:cNvPr>
          <p:cNvSpPr/>
          <p:nvPr/>
        </p:nvSpPr>
        <p:spPr>
          <a:xfrm>
            <a:off x="566928" y="4204716"/>
            <a:ext cx="50292" cy="822960"/>
          </a:xfrm>
          <a:prstGeom prst="rect">
            <a:avLst/>
          </a:prstGeom>
          <a:solidFill>
            <a:srgbClr val="E8A33D"/>
          </a:solidFill>
          <a:ln w="12700">
            <a:solidFill>
              <a:srgbClr val="333333"/>
            </a:solidFill>
            <a:prstDash val="solid"/>
          </a:ln>
        </p:spPr>
        <p:txBody>
          <a:bodyPr/>
          <a:lstStyle/>
          <a:p>
            <a:endParaRPr lang="en-SE"/>
          </a:p>
        </p:txBody>
      </p:sp>
      <p:sp>
        <p:nvSpPr>
          <p:cNvPr id="11" name="Text 8"/>
          <p:cNvSpPr/>
          <p:nvPr/>
        </p:nvSpPr>
        <p:spPr>
          <a:xfrm>
            <a:off x="822960" y="4204716"/>
            <a:ext cx="7589520" cy="822960"/>
          </a:xfrm>
          <a:prstGeom prst="rect">
            <a:avLst/>
          </a:prstGeom>
          <a:noFill/>
          <a:ln/>
        </p:spPr>
        <p:txBody>
          <a:bodyPr wrap="square" lIns="0" tIns="0" rIns="0" bIns="0" rtlCol="0" anchor="ctr"/>
          <a:lstStyle/>
          <a:p>
            <a:pPr marL="0" indent="0" algn="l">
              <a:lnSpc>
                <a:spcPts val="1420"/>
              </a:lnSpc>
              <a:buNone/>
            </a:pPr>
            <a:r>
              <a:rPr lang="en-US" sz="1000" b="1" dirty="0">
                <a:solidFill>
                  <a:srgbClr val="E8A33D"/>
                </a:solidFill>
                <a:latin typeface="Segoe UI" pitchFamily="34" charset="0"/>
                <a:ea typeface="Segoe UI" pitchFamily="34" charset="-122"/>
                <a:cs typeface="Segoe UI" pitchFamily="34" charset="-120"/>
              </a:rPr>
              <a:t>On that last row:  </a:t>
            </a:r>
            <a:r>
              <a:rPr lang="en-US" sz="1000" dirty="0">
                <a:solidFill>
                  <a:srgbClr val="A3A9B4"/>
                </a:solidFill>
                <a:latin typeface="Segoe UI" pitchFamily="34" charset="0"/>
                <a:ea typeface="Segoe UI" pitchFamily="34" charset="-122"/>
                <a:cs typeface="Segoe UI" pitchFamily="34" charset="-120"/>
              </a:rPr>
              <a:t>the handshake-timeout error is queued and the socket closed in the same step, with no guarantee it is flushed first. Treat “connected, no welcome within a few seconds, then the socket closes” as the practical signal rather than waiting for a specific code.</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42</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Transport, session and limits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The numbers behind the protocol. Most are fixed in this revision; the configurable ones name their setting.</a:t>
            </a:r>
            <a:endParaRPr lang="en-US" sz="1250" dirty="0"/>
          </a:p>
        </p:txBody>
      </p:sp>
      <p:graphicFrame>
        <p:nvGraphicFramePr>
          <p:cNvPr id="43" name="Table 0"/>
          <p:cNvGraphicFramePr>
            <a:graphicFrameLocks noGrp="1"/>
          </p:cNvGraphicFramePr>
          <p:nvPr>
            <p:extLst>
              <p:ext uri="{D42A27DB-BD31-4B8C-83A1-F6EECF244321}">
                <p14:modId xmlns:p14="http://schemas.microsoft.com/office/powerpoint/2010/main" val="2632136966"/>
              </p:ext>
            </p:extLst>
          </p:nvPr>
        </p:nvGraphicFramePr>
        <p:xfrm>
          <a:off x="566928" y="1700784"/>
          <a:ext cx="3913632" cy="3090672"/>
        </p:xfrm>
        <a:graphic>
          <a:graphicData uri="http://schemas.openxmlformats.org/drawingml/2006/table">
            <a:tbl>
              <a:tblPr/>
              <a:tblGrid>
                <a:gridCol w="1658112">
                  <a:extLst>
                    <a:ext uri="{9D8B030D-6E8A-4147-A177-3AD203B41FA5}">
                      <a16:colId xmlns:a16="http://schemas.microsoft.com/office/drawing/2014/main" val="20000"/>
                    </a:ext>
                  </a:extLst>
                </a:gridCol>
                <a:gridCol w="2255520">
                  <a:extLst>
                    <a:ext uri="{9D8B030D-6E8A-4147-A177-3AD203B41FA5}">
                      <a16:colId xmlns:a16="http://schemas.microsoft.com/office/drawing/2014/main" val="20001"/>
                    </a:ext>
                  </a:extLst>
                </a:gridCol>
              </a:tblGrid>
              <a:tr h="292608">
                <a:tc>
                  <a:txBody>
                    <a:bodyPr/>
                    <a:lstStyle/>
                    <a:p>
                      <a:pPr marL="0" indent="0" algn="l">
                        <a:buNone/>
                      </a:pPr>
                      <a:r>
                        <a:rPr lang="en-US" sz="1100" b="1" kern="0" spc="100" dirty="0">
                          <a:solidFill>
                            <a:srgbClr val="E8A33D"/>
                          </a:solidFill>
                          <a:latin typeface="Segoe UI" pitchFamily="34" charset="0"/>
                          <a:ea typeface="Segoe UI" pitchFamily="34" charset="-122"/>
                          <a:cs typeface="Segoe UI" pitchFamily="34" charset="-120"/>
                        </a:rPr>
                        <a:t>PROPERTY</a:t>
                      </a:r>
                      <a:endParaRPr lang="en-US" sz="11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100" b="1" kern="0" spc="100" dirty="0">
                          <a:solidFill>
                            <a:srgbClr val="E8A33D"/>
                          </a:solidFill>
                          <a:latin typeface="Segoe UI" pitchFamily="34" charset="0"/>
                          <a:ea typeface="Segoe UI" pitchFamily="34" charset="-122"/>
                          <a:cs typeface="Segoe UI" pitchFamily="34" charset="-120"/>
                        </a:rPr>
                        <a:t>VALUE</a:t>
                      </a:r>
                      <a:endParaRPr lang="en-US" sz="11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Transport</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TCP, one connection per process</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Default port</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5600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Encoding</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UTF-8 throughout</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Line delimiter</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A single LF ends every header</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Payload framing</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Explicit byte count (LEN)</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Max header line</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4096 bytes</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Handshake deadline</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5 seconds after accept</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Heartbeat</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HBINT seconds, default 5</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Dead connection</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Silence for 2 × HBINT</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9"/>
                  </a:ext>
                </a:extLst>
              </a:tr>
            </a:tbl>
          </a:graphicData>
        </a:graphic>
      </p:graphicFrame>
      <p:graphicFrame>
        <p:nvGraphicFramePr>
          <p:cNvPr id="85" name="Table 1"/>
          <p:cNvGraphicFramePr>
            <a:graphicFrameLocks noGrp="1"/>
          </p:cNvGraphicFramePr>
          <p:nvPr>
            <p:extLst>
              <p:ext uri="{D42A27DB-BD31-4B8C-83A1-F6EECF244321}">
                <p14:modId xmlns:p14="http://schemas.microsoft.com/office/powerpoint/2010/main" val="2961973876"/>
              </p:ext>
            </p:extLst>
          </p:nvPr>
        </p:nvGraphicFramePr>
        <p:xfrm>
          <a:off x="4700016" y="1700784"/>
          <a:ext cx="4322064" cy="3090672"/>
        </p:xfrm>
        <a:graphic>
          <a:graphicData uri="http://schemas.openxmlformats.org/drawingml/2006/table">
            <a:tbl>
              <a:tblPr/>
              <a:tblGrid>
                <a:gridCol w="2752344">
                  <a:extLst>
                    <a:ext uri="{9D8B030D-6E8A-4147-A177-3AD203B41FA5}">
                      <a16:colId xmlns:a16="http://schemas.microsoft.com/office/drawing/2014/main" val="20000"/>
                    </a:ext>
                  </a:extLst>
                </a:gridCol>
                <a:gridCol w="1569720">
                  <a:extLst>
                    <a:ext uri="{9D8B030D-6E8A-4147-A177-3AD203B41FA5}">
                      <a16:colId xmlns:a16="http://schemas.microsoft.com/office/drawing/2014/main" val="20001"/>
                    </a:ext>
                  </a:extLst>
                </a:gridCol>
              </a:tblGrid>
              <a:tr h="292608">
                <a:tc>
                  <a:txBody>
                    <a:bodyPr/>
                    <a:lstStyle/>
                    <a:p>
                      <a:pPr marL="0" indent="0" algn="l">
                        <a:buNone/>
                      </a:pPr>
                      <a:r>
                        <a:rPr lang="en-US" sz="1100" b="1" kern="0" spc="100" dirty="0">
                          <a:solidFill>
                            <a:srgbClr val="E8A33D"/>
                          </a:solidFill>
                          <a:latin typeface="Segoe UI" pitchFamily="34" charset="0"/>
                          <a:ea typeface="Segoe UI" pitchFamily="34" charset="-122"/>
                          <a:cs typeface="Segoe UI" pitchFamily="34" charset="-120"/>
                        </a:rPr>
                        <a:t>SETTING</a:t>
                      </a:r>
                      <a:endParaRPr lang="en-US" sz="11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100" b="1" kern="0" spc="100" dirty="0">
                          <a:solidFill>
                            <a:srgbClr val="E8A33D"/>
                          </a:solidFill>
                          <a:latin typeface="Segoe UI" pitchFamily="34" charset="0"/>
                          <a:ea typeface="Segoe UI" pitchFamily="34" charset="-122"/>
                          <a:cs typeface="Segoe UI" pitchFamily="34" charset="-120"/>
                        </a:rPr>
                        <a:t>DEFAULT</a:t>
                      </a:r>
                      <a:endParaRPr lang="en-US" sz="11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log_server.port</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5600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log_server.heartbeat_interval_sec</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5</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log_server.max_message_bytes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65536</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log_server.max_client_queue</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10000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lease_sec</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30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max_subscribers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32</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notify_interval_ms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250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backfill_chunk_rows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500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r h="31089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max_backfill_minutes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1440</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9"/>
                  </a:ext>
                </a:extLst>
              </a:tr>
            </a:tbl>
          </a:graphicData>
        </a:graphic>
      </p:graphicFrame>
      <p:sp>
        <p:nvSpPr>
          <p:cNvPr id="10" name="Text 6"/>
          <p:cNvSpPr/>
          <p:nvPr/>
        </p:nvSpPr>
        <p:spPr>
          <a:xfrm>
            <a:off x="566928" y="4791456"/>
            <a:ext cx="8010144" cy="292608"/>
          </a:xfrm>
          <a:prstGeom prst="rect">
            <a:avLst/>
          </a:prstGeom>
          <a:noFill/>
          <a:ln/>
        </p:spPr>
        <p:txBody>
          <a:bodyPr wrap="square" lIns="0" tIns="0" rIns="0" bIns="0" rtlCol="0" anchor="t"/>
          <a:lstStyle/>
          <a:p>
            <a:pPr marL="0" indent="0" algn="l">
              <a:lnSpc>
                <a:spcPts val="1349"/>
              </a:lnSpc>
              <a:buNone/>
            </a:pPr>
            <a:r>
              <a:rPr lang="en-US" sz="1050" i="1" dirty="0">
                <a:solidFill>
                  <a:srgbClr val="747B87"/>
                </a:solidFill>
                <a:latin typeface="Segoe UI" pitchFamily="34" charset="0"/>
                <a:ea typeface="Segoe UI" pitchFamily="34" charset="-122"/>
                <a:cs typeface="Segoe UI" pitchFamily="34" charset="-120"/>
              </a:rPr>
              <a:t>Backpressure has no message of its own. When a client's internal queue grows past its limit, the server simply stops reading from that socket and lets TCP slow the sender down.</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43</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pm-log-cli — the command-line access layer</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Read-only, reads the database directly, and works even when the collector is stopped. This remains the tool of record for scripting and large exports.</a:t>
            </a:r>
            <a:endParaRPr lang="en-US" sz="1250" dirty="0"/>
          </a:p>
        </p:txBody>
      </p:sp>
      <p:graphicFrame>
        <p:nvGraphicFramePr>
          <p:cNvPr id="44" name="Table 0"/>
          <p:cNvGraphicFramePr>
            <a:graphicFrameLocks noGrp="1"/>
          </p:cNvGraphicFramePr>
          <p:nvPr>
            <p:extLst>
              <p:ext uri="{D42A27DB-BD31-4B8C-83A1-F6EECF244321}">
                <p14:modId xmlns:p14="http://schemas.microsoft.com/office/powerpoint/2010/main" val="1121428429"/>
              </p:ext>
            </p:extLst>
          </p:nvPr>
        </p:nvGraphicFramePr>
        <p:xfrm>
          <a:off x="566928" y="1700784"/>
          <a:ext cx="8010144" cy="2377440"/>
        </p:xfrm>
        <a:graphic>
          <a:graphicData uri="http://schemas.openxmlformats.org/drawingml/2006/table">
            <a:tbl>
              <a:tblPr/>
              <a:tblGrid>
                <a:gridCol w="1234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712464">
                  <a:extLst>
                    <a:ext uri="{9D8B030D-6E8A-4147-A177-3AD203B41FA5}">
                      <a16:colId xmlns:a16="http://schemas.microsoft.com/office/drawing/2014/main" val="20002"/>
                    </a:ext>
                  </a:extLst>
                </a:gridCol>
              </a:tblGrid>
              <a:tr h="292608">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COMMAND</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WHAT IT DOES</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TYPICAL USE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query</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Filtered historical search</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 query --level ERROR,CRITICAL --since 13:00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tail</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Follows new rows by polling</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 tail --process pm-md-gwy</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processes</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Who has connected, and who still is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 processes --active</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stats</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Lifetime counters and database health</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 stats --format json</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34747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diagnose</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Rule-based troubleshooting report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 diagnose --since 13:00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34747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prune</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Deletes rows older than N days</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 prune --days 7</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bl>
          </a:graphicData>
        </a:graphic>
      </p:graphicFrame>
      <p:sp>
        <p:nvSpPr>
          <p:cNvPr id="9" name="card background">
            <a:extLst>
              <a:ext uri="{C183D7F6-B498-43B3-948B-1728B52AA6E4}">
                <adec:decorative xmlns:adec="http://schemas.microsoft.com/office/drawing/2017/decorative" val="1"/>
              </a:ext>
            </a:extLst>
          </p:cNvPr>
          <p:cNvSpPr/>
          <p:nvPr/>
        </p:nvSpPr>
        <p:spPr>
          <a:xfrm>
            <a:off x="566928" y="4181856"/>
            <a:ext cx="3877056" cy="914400"/>
          </a:xfrm>
          <a:prstGeom prst="rect">
            <a:avLst/>
          </a:prstGeom>
          <a:solidFill>
            <a:srgbClr val="212429"/>
          </a:solidFill>
          <a:ln w="12700">
            <a:solidFill>
              <a:srgbClr val="343941"/>
            </a:solidFill>
            <a:prstDash val="solid"/>
          </a:ln>
        </p:spPr>
        <p:txBody>
          <a:bodyPr/>
          <a:lstStyle/>
          <a:p>
            <a:endParaRPr lang="en-SE" sz="2800"/>
          </a:p>
        </p:txBody>
      </p:sp>
      <p:sp>
        <p:nvSpPr>
          <p:cNvPr id="10" name="card accent edge">
            <a:extLst>
              <a:ext uri="{C183D7F6-B498-43B3-948B-1728B52AA6E4}">
                <adec:decorative xmlns:adec="http://schemas.microsoft.com/office/drawing/2017/decorative" val="1"/>
              </a:ext>
            </a:extLst>
          </p:cNvPr>
          <p:cNvSpPr/>
          <p:nvPr/>
        </p:nvSpPr>
        <p:spPr>
          <a:xfrm>
            <a:off x="566928" y="4181856"/>
            <a:ext cx="50292" cy="914400"/>
          </a:xfrm>
          <a:prstGeom prst="rect">
            <a:avLst/>
          </a:prstGeom>
          <a:solidFill>
            <a:srgbClr val="5E8CA8"/>
          </a:solidFill>
          <a:ln w="12700">
            <a:solidFill>
              <a:srgbClr val="333333"/>
            </a:solidFill>
            <a:prstDash val="solid"/>
          </a:ln>
        </p:spPr>
        <p:txBody>
          <a:bodyPr/>
          <a:lstStyle/>
          <a:p>
            <a:endParaRPr lang="en-SE"/>
          </a:p>
        </p:txBody>
      </p:sp>
      <p:sp>
        <p:nvSpPr>
          <p:cNvPr id="11" name="Text 8"/>
          <p:cNvSpPr/>
          <p:nvPr/>
        </p:nvSpPr>
        <p:spPr>
          <a:xfrm>
            <a:off x="786384" y="4291584"/>
            <a:ext cx="3291840" cy="219456"/>
          </a:xfrm>
          <a:prstGeom prst="rect">
            <a:avLst/>
          </a:prstGeom>
          <a:noFill/>
          <a:ln/>
        </p:spPr>
        <p:txBody>
          <a:bodyPr wrap="square" lIns="0" tIns="0" rIns="0" bIns="0" rtlCol="0" anchor="ctr"/>
          <a:lstStyle/>
          <a:p>
            <a:pPr marL="0" indent="0" algn="l">
              <a:buNone/>
            </a:pPr>
            <a:r>
              <a:rPr lang="en-US" sz="1050" b="1" kern="0" spc="180" dirty="0">
                <a:solidFill>
                  <a:srgbClr val="5E8CA8"/>
                </a:solidFill>
                <a:latin typeface="Segoe UI" pitchFamily="34" charset="0"/>
                <a:ea typeface="Segoe UI" pitchFamily="34" charset="-122"/>
                <a:cs typeface="Segoe UI" pitchFamily="34" charset="-120"/>
              </a:rPr>
              <a:t>FILTERS ON QUERY</a:t>
            </a:r>
            <a:endParaRPr lang="en-US" sz="1050" dirty="0"/>
          </a:p>
        </p:txBody>
      </p:sp>
      <p:sp>
        <p:nvSpPr>
          <p:cNvPr id="12" name="Text 9"/>
          <p:cNvSpPr/>
          <p:nvPr/>
        </p:nvSpPr>
        <p:spPr>
          <a:xfrm>
            <a:off x="786384" y="4529328"/>
            <a:ext cx="3566160" cy="475488"/>
          </a:xfrm>
          <a:prstGeom prst="rect">
            <a:avLst/>
          </a:prstGeom>
          <a:noFill/>
          <a:ln/>
        </p:spPr>
        <p:txBody>
          <a:bodyPr wrap="square" lIns="0" tIns="0" rIns="0" bIns="0" rtlCol="0" anchor="t"/>
          <a:lstStyle/>
          <a:p>
            <a:pPr marL="0" indent="0" algn="l">
              <a:lnSpc>
                <a:spcPts val="1200"/>
              </a:lnSpc>
              <a:buNone/>
            </a:pPr>
            <a:r>
              <a:rPr lang="en-US" sz="1000" dirty="0">
                <a:solidFill>
                  <a:srgbClr val="F6C978"/>
                </a:solidFill>
                <a:latin typeface="Consolas" pitchFamily="34" charset="0"/>
                <a:ea typeface="Consolas" pitchFamily="34" charset="-122"/>
                <a:cs typeface="Consolas" pitchFamily="34" charset="-120"/>
              </a:rPr>
              <a:t>--process  --level  --logger  --since  --until</a:t>
            </a:r>
            <a:endParaRPr lang="en-US" sz="1000" dirty="0"/>
          </a:p>
          <a:p>
            <a:pPr marL="0" indent="0" algn="l">
              <a:lnSpc>
                <a:spcPts val="1200"/>
              </a:lnSpc>
              <a:buNone/>
            </a:pPr>
            <a:r>
              <a:rPr lang="en-US" sz="1000" dirty="0">
                <a:solidFill>
                  <a:srgbClr val="F6C978"/>
                </a:solidFill>
                <a:latin typeface="Consolas" pitchFamily="34" charset="0"/>
                <a:ea typeface="Consolas" pitchFamily="34" charset="-122"/>
                <a:cs typeface="Consolas" pitchFamily="34" charset="-120"/>
              </a:rPr>
              <a:t>--grep  --has-exception  --limit  --reverse</a:t>
            </a:r>
            <a:endParaRPr lang="en-US" sz="1000" dirty="0"/>
          </a:p>
        </p:txBody>
      </p:sp>
      <p:sp>
        <p:nvSpPr>
          <p:cNvPr id="13" name="card background">
            <a:extLst>
              <a:ext uri="{C183D7F6-B498-43B3-948B-1728B52AA6E4}">
                <adec:decorative xmlns:adec="http://schemas.microsoft.com/office/drawing/2017/decorative" val="1"/>
              </a:ext>
            </a:extLst>
          </p:cNvPr>
          <p:cNvSpPr/>
          <p:nvPr/>
        </p:nvSpPr>
        <p:spPr>
          <a:xfrm>
            <a:off x="4700016" y="4181856"/>
            <a:ext cx="3877056" cy="914400"/>
          </a:xfrm>
          <a:prstGeom prst="rect">
            <a:avLst/>
          </a:prstGeom>
          <a:solidFill>
            <a:srgbClr val="212429"/>
          </a:solidFill>
          <a:ln w="12700">
            <a:solidFill>
              <a:srgbClr val="343941"/>
            </a:solidFill>
            <a:prstDash val="solid"/>
          </a:ln>
        </p:spPr>
        <p:txBody>
          <a:bodyPr/>
          <a:lstStyle/>
          <a:p>
            <a:endParaRPr lang="en-SE" sz="2800"/>
          </a:p>
        </p:txBody>
      </p:sp>
      <p:sp>
        <p:nvSpPr>
          <p:cNvPr id="14" name="card accent edge">
            <a:extLst>
              <a:ext uri="{C183D7F6-B498-43B3-948B-1728B52AA6E4}">
                <adec:decorative xmlns:adec="http://schemas.microsoft.com/office/drawing/2017/decorative" val="1"/>
              </a:ext>
            </a:extLst>
          </p:cNvPr>
          <p:cNvSpPr/>
          <p:nvPr/>
        </p:nvSpPr>
        <p:spPr>
          <a:xfrm>
            <a:off x="4700016" y="4181856"/>
            <a:ext cx="50292" cy="914400"/>
          </a:xfrm>
          <a:prstGeom prst="rect">
            <a:avLst/>
          </a:prstGeom>
          <a:solidFill>
            <a:srgbClr val="E8A33D"/>
          </a:solidFill>
          <a:ln w="12700">
            <a:solidFill>
              <a:srgbClr val="333333"/>
            </a:solidFill>
            <a:prstDash val="solid"/>
          </a:ln>
        </p:spPr>
        <p:txBody>
          <a:bodyPr/>
          <a:lstStyle/>
          <a:p>
            <a:endParaRPr lang="en-SE"/>
          </a:p>
        </p:txBody>
      </p:sp>
      <p:sp>
        <p:nvSpPr>
          <p:cNvPr id="15" name="Text 12"/>
          <p:cNvSpPr/>
          <p:nvPr/>
        </p:nvSpPr>
        <p:spPr>
          <a:xfrm>
            <a:off x="4919472" y="4291584"/>
            <a:ext cx="3291840" cy="219456"/>
          </a:xfrm>
          <a:prstGeom prst="rect">
            <a:avLst/>
          </a:prstGeom>
          <a:noFill/>
          <a:ln/>
        </p:spPr>
        <p:txBody>
          <a:bodyPr wrap="square" lIns="0" tIns="0" rIns="0" bIns="0" rtlCol="0" anchor="ctr"/>
          <a:lstStyle/>
          <a:p>
            <a:pPr marL="0" indent="0" algn="l">
              <a:buNone/>
            </a:pPr>
            <a:r>
              <a:rPr lang="en-US" sz="1050" b="1" kern="0" spc="180" dirty="0">
                <a:solidFill>
                  <a:srgbClr val="E8A33D"/>
                </a:solidFill>
                <a:latin typeface="Segoe UI" pitchFamily="34" charset="0"/>
                <a:ea typeface="Segoe UI" pitchFamily="34" charset="-122"/>
                <a:cs typeface="Segoe UI" pitchFamily="34" charset="-120"/>
              </a:rPr>
              <a:t>EXIT CODES</a:t>
            </a:r>
            <a:endParaRPr lang="en-US" sz="1050" dirty="0"/>
          </a:p>
        </p:txBody>
      </p:sp>
      <p:sp>
        <p:nvSpPr>
          <p:cNvPr id="16" name="Text 13"/>
          <p:cNvSpPr/>
          <p:nvPr/>
        </p:nvSpPr>
        <p:spPr>
          <a:xfrm>
            <a:off x="4919472" y="4529328"/>
            <a:ext cx="3566160" cy="475488"/>
          </a:xfrm>
          <a:prstGeom prst="rect">
            <a:avLst/>
          </a:prstGeom>
          <a:noFill/>
          <a:ln/>
        </p:spPr>
        <p:txBody>
          <a:bodyPr wrap="square" lIns="0" tIns="0" rIns="0" bIns="0" rtlCol="0" anchor="t"/>
          <a:lstStyle/>
          <a:p>
            <a:pPr marL="0" indent="0" algn="l">
              <a:lnSpc>
                <a:spcPts val="1200"/>
              </a:lnSpc>
              <a:buNone/>
            </a:pPr>
            <a:r>
              <a:rPr lang="en-US" sz="1000" dirty="0">
                <a:solidFill>
                  <a:srgbClr val="F6C978"/>
                </a:solidFill>
                <a:latin typeface="Consolas" pitchFamily="34" charset="0"/>
                <a:ea typeface="Consolas" pitchFamily="34" charset="-122"/>
                <a:cs typeface="Consolas" pitchFamily="34" charset="-120"/>
              </a:rPr>
              <a:t>0 success    1 database unreadable</a:t>
            </a:r>
            <a:endParaRPr lang="en-US" sz="1000" dirty="0"/>
          </a:p>
          <a:p>
            <a:pPr marL="0" indent="0" algn="l">
              <a:lnSpc>
                <a:spcPts val="1200"/>
              </a:lnSpc>
              <a:buNone/>
            </a:pPr>
            <a:r>
              <a:rPr lang="en-US" sz="1000" dirty="0">
                <a:solidFill>
                  <a:srgbClr val="F6C978"/>
                </a:solidFill>
                <a:latin typeface="Consolas" pitchFamily="34" charset="0"/>
                <a:ea typeface="Consolas" pitchFamily="34" charset="-122"/>
                <a:cs typeface="Consolas" pitchFamily="34" charset="-120"/>
              </a:rPr>
              <a:t>2 bad arguments    3 diagnose found something</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44</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The seven diagnose heuristics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Every one is a plain SQL aggregate plus a fixed threshold — never a statistical model. “Why did it flag this?” always has a one-sentence answer.</a:t>
            </a:r>
            <a:endParaRPr lang="en-US" sz="1250" dirty="0"/>
          </a:p>
        </p:txBody>
      </p:sp>
      <p:sp>
        <p:nvSpPr>
          <p:cNvPr id="8" name="heuristic row">
            <a:extLst>
              <a:ext uri="{C183D7F6-B498-43B3-948B-1728B52AA6E4}">
                <adec:decorative xmlns:adec="http://schemas.microsoft.com/office/drawing/2017/decorative" val="1"/>
              </a:ext>
            </a:extLst>
          </p:cNvPr>
          <p:cNvSpPr/>
          <p:nvPr/>
        </p:nvSpPr>
        <p:spPr>
          <a:xfrm>
            <a:off x="566928" y="1737360"/>
            <a:ext cx="8010144" cy="384048"/>
          </a:xfrm>
          <a:prstGeom prst="rect">
            <a:avLst/>
          </a:prstGeom>
          <a:solidFill>
            <a:srgbClr val="212429"/>
          </a:solidFill>
          <a:ln w="12700">
            <a:solidFill>
              <a:srgbClr val="333333"/>
            </a:solidFill>
            <a:prstDash val="solid"/>
          </a:ln>
        </p:spPr>
        <p:txBody>
          <a:bodyPr/>
          <a:lstStyle/>
          <a:p>
            <a:endParaRPr lang="en-SE" sz="2800"/>
          </a:p>
        </p:txBody>
      </p:sp>
      <p:sp>
        <p:nvSpPr>
          <p:cNvPr id="9" name="heuristic marker">
            <a:extLst>
              <a:ext uri="{C183D7F6-B498-43B3-948B-1728B52AA6E4}">
                <adec:decorative xmlns:adec="http://schemas.microsoft.com/office/drawing/2017/decorative" val="1"/>
              </a:ext>
            </a:extLst>
          </p:cNvPr>
          <p:cNvSpPr/>
          <p:nvPr/>
        </p:nvSpPr>
        <p:spPr>
          <a:xfrm>
            <a:off x="566928" y="1737360"/>
            <a:ext cx="45720" cy="384048"/>
          </a:xfrm>
          <a:prstGeom prst="rect">
            <a:avLst/>
          </a:prstGeom>
          <a:solidFill>
            <a:srgbClr val="C9584C"/>
          </a:solidFill>
          <a:ln w="12700">
            <a:solidFill>
              <a:srgbClr val="333333"/>
            </a:solidFill>
            <a:prstDash val="solid"/>
          </a:ln>
        </p:spPr>
        <p:txBody>
          <a:bodyPr/>
          <a:lstStyle/>
          <a:p>
            <a:endParaRPr lang="en-SE" sz="2800"/>
          </a:p>
        </p:txBody>
      </p:sp>
      <p:sp>
        <p:nvSpPr>
          <p:cNvPr id="10" name="Text 8"/>
          <p:cNvSpPr/>
          <p:nvPr/>
        </p:nvSpPr>
        <p:spPr>
          <a:xfrm>
            <a:off x="786384" y="173736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Error-rate spike</a:t>
            </a:r>
            <a:endParaRPr lang="en-US" sz="1200" dirty="0"/>
          </a:p>
        </p:txBody>
      </p:sp>
      <p:sp>
        <p:nvSpPr>
          <p:cNvPr id="11" name="Text 9"/>
          <p:cNvSpPr/>
          <p:nvPr/>
        </p:nvSpPr>
        <p:spPr>
          <a:xfrm>
            <a:off x="3182112" y="173736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Errors in the last five minutes far exceed the preceding hour's baseline for a process.</a:t>
            </a:r>
            <a:endParaRPr lang="en-US" sz="1100" dirty="0"/>
          </a:p>
        </p:txBody>
      </p:sp>
      <p:sp>
        <p:nvSpPr>
          <p:cNvPr id="12" name="heuristic row">
            <a:extLst>
              <a:ext uri="{C183D7F6-B498-43B3-948B-1728B52AA6E4}">
                <adec:decorative xmlns:adec="http://schemas.microsoft.com/office/drawing/2017/decorative" val="1"/>
              </a:ext>
            </a:extLst>
          </p:cNvPr>
          <p:cNvSpPr/>
          <p:nvPr/>
        </p:nvSpPr>
        <p:spPr>
          <a:xfrm>
            <a:off x="566928" y="2171700"/>
            <a:ext cx="8010144" cy="384048"/>
          </a:xfrm>
          <a:prstGeom prst="rect">
            <a:avLst/>
          </a:prstGeom>
          <a:solidFill>
            <a:srgbClr val="1B1E23"/>
          </a:solidFill>
          <a:ln w="12700">
            <a:solidFill>
              <a:srgbClr val="333333"/>
            </a:solidFill>
            <a:prstDash val="solid"/>
          </a:ln>
        </p:spPr>
        <p:txBody>
          <a:bodyPr/>
          <a:lstStyle/>
          <a:p>
            <a:endParaRPr lang="en-SE" sz="2800"/>
          </a:p>
        </p:txBody>
      </p:sp>
      <p:sp>
        <p:nvSpPr>
          <p:cNvPr id="13" name="heuristic marker">
            <a:extLst>
              <a:ext uri="{C183D7F6-B498-43B3-948B-1728B52AA6E4}">
                <adec:decorative xmlns:adec="http://schemas.microsoft.com/office/drawing/2017/decorative" val="1"/>
              </a:ext>
            </a:extLst>
          </p:cNvPr>
          <p:cNvSpPr/>
          <p:nvPr/>
        </p:nvSpPr>
        <p:spPr>
          <a:xfrm>
            <a:off x="566928" y="2171700"/>
            <a:ext cx="45720" cy="384048"/>
          </a:xfrm>
          <a:prstGeom prst="rect">
            <a:avLst/>
          </a:prstGeom>
          <a:solidFill>
            <a:srgbClr val="E8A33D"/>
          </a:solidFill>
          <a:ln w="12700">
            <a:solidFill>
              <a:srgbClr val="333333"/>
            </a:solidFill>
            <a:prstDash val="solid"/>
          </a:ln>
        </p:spPr>
        <p:txBody>
          <a:bodyPr/>
          <a:lstStyle/>
          <a:p>
            <a:endParaRPr lang="en-SE" sz="2800"/>
          </a:p>
        </p:txBody>
      </p:sp>
      <p:sp>
        <p:nvSpPr>
          <p:cNvPr id="14" name="Text 12"/>
          <p:cNvSpPr/>
          <p:nvPr/>
        </p:nvSpPr>
        <p:spPr>
          <a:xfrm>
            <a:off x="786384" y="217170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Repeated identical warning</a:t>
            </a:r>
            <a:endParaRPr lang="en-US" sz="1200" dirty="0"/>
          </a:p>
        </p:txBody>
      </p:sp>
      <p:sp>
        <p:nvSpPr>
          <p:cNvPr id="15" name="Text 13"/>
          <p:cNvSpPr/>
          <p:nvPr/>
        </p:nvSpPr>
        <p:spPr>
          <a:xfrm>
            <a:off x="3182112" y="217170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The same process, logger and message repeat many times in the window.</a:t>
            </a:r>
            <a:endParaRPr lang="en-US" sz="1100" dirty="0"/>
          </a:p>
        </p:txBody>
      </p:sp>
      <p:sp>
        <p:nvSpPr>
          <p:cNvPr id="16" name="heuristic row">
            <a:extLst>
              <a:ext uri="{C183D7F6-B498-43B3-948B-1728B52AA6E4}">
                <adec:decorative xmlns:adec="http://schemas.microsoft.com/office/drawing/2017/decorative" val="1"/>
              </a:ext>
            </a:extLst>
          </p:cNvPr>
          <p:cNvSpPr/>
          <p:nvPr/>
        </p:nvSpPr>
        <p:spPr>
          <a:xfrm>
            <a:off x="566928" y="2606040"/>
            <a:ext cx="8010144" cy="384048"/>
          </a:xfrm>
          <a:prstGeom prst="rect">
            <a:avLst/>
          </a:prstGeom>
          <a:solidFill>
            <a:srgbClr val="212429"/>
          </a:solidFill>
          <a:ln w="12700">
            <a:solidFill>
              <a:srgbClr val="333333"/>
            </a:solidFill>
            <a:prstDash val="solid"/>
          </a:ln>
        </p:spPr>
        <p:txBody>
          <a:bodyPr/>
          <a:lstStyle/>
          <a:p>
            <a:endParaRPr lang="en-SE" sz="2800"/>
          </a:p>
        </p:txBody>
      </p:sp>
      <p:sp>
        <p:nvSpPr>
          <p:cNvPr id="17" name="heuristic marker">
            <a:extLst>
              <a:ext uri="{C183D7F6-B498-43B3-948B-1728B52AA6E4}">
                <adec:decorative xmlns:adec="http://schemas.microsoft.com/office/drawing/2017/decorative" val="1"/>
              </a:ext>
            </a:extLst>
          </p:cNvPr>
          <p:cNvSpPr/>
          <p:nvPr/>
        </p:nvSpPr>
        <p:spPr>
          <a:xfrm>
            <a:off x="566928" y="2606040"/>
            <a:ext cx="45720" cy="384048"/>
          </a:xfrm>
          <a:prstGeom prst="rect">
            <a:avLst/>
          </a:prstGeom>
          <a:solidFill>
            <a:srgbClr val="E8A33D"/>
          </a:solidFill>
          <a:ln w="12700">
            <a:solidFill>
              <a:srgbClr val="333333"/>
            </a:solidFill>
            <a:prstDash val="solid"/>
          </a:ln>
        </p:spPr>
        <p:txBody>
          <a:bodyPr/>
          <a:lstStyle/>
          <a:p>
            <a:endParaRPr lang="en-SE" sz="2800"/>
          </a:p>
        </p:txBody>
      </p:sp>
      <p:sp>
        <p:nvSpPr>
          <p:cNvPr id="18" name="Text 16"/>
          <p:cNvSpPr/>
          <p:nvPr/>
        </p:nvSpPr>
        <p:spPr>
          <a:xfrm>
            <a:off x="786384" y="260604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Process silence</a:t>
            </a:r>
            <a:endParaRPr lang="en-US" sz="1200" dirty="0"/>
          </a:p>
        </p:txBody>
      </p:sp>
      <p:sp>
        <p:nvSpPr>
          <p:cNvPr id="19" name="Text 17"/>
          <p:cNvSpPr/>
          <p:nvPr/>
        </p:nvSpPr>
        <p:spPr>
          <a:xfrm>
            <a:off x="3182112" y="260604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A still-connected session has not logged or heartbeated recently.</a:t>
            </a:r>
            <a:endParaRPr lang="en-US" sz="1100" dirty="0"/>
          </a:p>
        </p:txBody>
      </p:sp>
      <p:sp>
        <p:nvSpPr>
          <p:cNvPr id="20" name="heuristic row">
            <a:extLst>
              <a:ext uri="{C183D7F6-B498-43B3-948B-1728B52AA6E4}">
                <adec:decorative xmlns:adec="http://schemas.microsoft.com/office/drawing/2017/decorative" val="1"/>
              </a:ext>
            </a:extLst>
          </p:cNvPr>
          <p:cNvSpPr/>
          <p:nvPr/>
        </p:nvSpPr>
        <p:spPr>
          <a:xfrm>
            <a:off x="566928" y="3040380"/>
            <a:ext cx="8010144" cy="384048"/>
          </a:xfrm>
          <a:prstGeom prst="rect">
            <a:avLst/>
          </a:prstGeom>
          <a:solidFill>
            <a:srgbClr val="1B1E23"/>
          </a:solidFill>
          <a:ln w="12700">
            <a:solidFill>
              <a:srgbClr val="333333"/>
            </a:solidFill>
            <a:prstDash val="solid"/>
          </a:ln>
        </p:spPr>
        <p:txBody>
          <a:bodyPr/>
          <a:lstStyle/>
          <a:p>
            <a:endParaRPr lang="en-SE" sz="2800"/>
          </a:p>
        </p:txBody>
      </p:sp>
      <p:sp>
        <p:nvSpPr>
          <p:cNvPr id="21" name="heuristic marker">
            <a:extLst>
              <a:ext uri="{C183D7F6-B498-43B3-948B-1728B52AA6E4}">
                <adec:decorative xmlns:adec="http://schemas.microsoft.com/office/drawing/2017/decorative" val="1"/>
              </a:ext>
            </a:extLst>
          </p:cNvPr>
          <p:cNvSpPr/>
          <p:nvPr/>
        </p:nvSpPr>
        <p:spPr>
          <a:xfrm>
            <a:off x="566928" y="3040380"/>
            <a:ext cx="45720" cy="384048"/>
          </a:xfrm>
          <a:prstGeom prst="rect">
            <a:avLst/>
          </a:prstGeom>
          <a:solidFill>
            <a:srgbClr val="5E8CA8"/>
          </a:solidFill>
          <a:ln w="12700">
            <a:solidFill>
              <a:srgbClr val="333333"/>
            </a:solidFill>
            <a:prstDash val="solid"/>
          </a:ln>
        </p:spPr>
        <p:txBody>
          <a:bodyPr/>
          <a:lstStyle/>
          <a:p>
            <a:endParaRPr lang="en-SE" sz="2800"/>
          </a:p>
        </p:txBody>
      </p:sp>
      <p:sp>
        <p:nvSpPr>
          <p:cNvPr id="22" name="Text 20"/>
          <p:cNvSpPr/>
          <p:nvPr/>
        </p:nvSpPr>
        <p:spPr>
          <a:xfrm>
            <a:off x="786384" y="304038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Clock skew</a:t>
            </a:r>
            <a:endParaRPr lang="en-US" sz="1200" dirty="0"/>
          </a:p>
        </p:txBody>
      </p:sp>
      <p:sp>
        <p:nvSpPr>
          <p:cNvPr id="23" name="Text 21"/>
          <p:cNvSpPr/>
          <p:nvPr/>
        </p:nvSpPr>
        <p:spPr>
          <a:xfrm>
            <a:off x="3182112" y="304038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A process's timestamps run consistently ahead of or behind the server's own clock.</a:t>
            </a:r>
            <a:endParaRPr lang="en-US" sz="1100" dirty="0"/>
          </a:p>
        </p:txBody>
      </p:sp>
      <p:sp>
        <p:nvSpPr>
          <p:cNvPr id="24" name="heuristic row">
            <a:extLst>
              <a:ext uri="{C183D7F6-B498-43B3-948B-1728B52AA6E4}">
                <adec:decorative xmlns:adec="http://schemas.microsoft.com/office/drawing/2017/decorative" val="1"/>
              </a:ext>
            </a:extLst>
          </p:cNvPr>
          <p:cNvSpPr/>
          <p:nvPr/>
        </p:nvSpPr>
        <p:spPr>
          <a:xfrm>
            <a:off x="566928" y="3474720"/>
            <a:ext cx="8010144" cy="384048"/>
          </a:xfrm>
          <a:prstGeom prst="rect">
            <a:avLst/>
          </a:prstGeom>
          <a:solidFill>
            <a:srgbClr val="212429"/>
          </a:solidFill>
          <a:ln w="12700">
            <a:solidFill>
              <a:srgbClr val="333333"/>
            </a:solidFill>
            <a:prstDash val="solid"/>
          </a:ln>
        </p:spPr>
        <p:txBody>
          <a:bodyPr/>
          <a:lstStyle/>
          <a:p>
            <a:endParaRPr lang="en-SE" sz="2800"/>
          </a:p>
        </p:txBody>
      </p:sp>
      <p:sp>
        <p:nvSpPr>
          <p:cNvPr id="25" name="heuristic marker">
            <a:extLst>
              <a:ext uri="{C183D7F6-B498-43B3-948B-1728B52AA6E4}">
                <adec:decorative xmlns:adec="http://schemas.microsoft.com/office/drawing/2017/decorative" val="1"/>
              </a:ext>
            </a:extLst>
          </p:cNvPr>
          <p:cNvSpPr/>
          <p:nvPr/>
        </p:nvSpPr>
        <p:spPr>
          <a:xfrm>
            <a:off x="566928" y="3474720"/>
            <a:ext cx="45720" cy="384048"/>
          </a:xfrm>
          <a:prstGeom prst="rect">
            <a:avLst/>
          </a:prstGeom>
          <a:solidFill>
            <a:srgbClr val="8A7EA8"/>
          </a:solidFill>
          <a:ln w="12700">
            <a:solidFill>
              <a:srgbClr val="333333"/>
            </a:solidFill>
            <a:prstDash val="solid"/>
          </a:ln>
        </p:spPr>
        <p:txBody>
          <a:bodyPr/>
          <a:lstStyle/>
          <a:p>
            <a:endParaRPr lang="en-SE" sz="2800"/>
          </a:p>
        </p:txBody>
      </p:sp>
      <p:sp>
        <p:nvSpPr>
          <p:cNvPr id="26" name="Text 24"/>
          <p:cNvSpPr/>
          <p:nvPr/>
        </p:nvSpPr>
        <p:spPr>
          <a:xfrm>
            <a:off x="786384" y="347472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Truncated-message rate</a:t>
            </a:r>
            <a:endParaRPr lang="en-US" sz="1200" dirty="0"/>
          </a:p>
        </p:txBody>
      </p:sp>
      <p:sp>
        <p:nvSpPr>
          <p:cNvPr id="27" name="Text 25"/>
          <p:cNvSpPr/>
          <p:nvPr/>
        </p:nvSpPr>
        <p:spPr>
          <a:xfrm>
            <a:off x="3182112" y="347472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A process sent oversized records that had to be cut short.</a:t>
            </a:r>
            <a:endParaRPr lang="en-US" sz="1100" dirty="0"/>
          </a:p>
        </p:txBody>
      </p:sp>
      <p:sp>
        <p:nvSpPr>
          <p:cNvPr id="28" name="heuristic row">
            <a:extLst>
              <a:ext uri="{C183D7F6-B498-43B3-948B-1728B52AA6E4}">
                <adec:decorative xmlns:adec="http://schemas.microsoft.com/office/drawing/2017/decorative" val="1"/>
              </a:ext>
            </a:extLst>
          </p:cNvPr>
          <p:cNvSpPr/>
          <p:nvPr/>
        </p:nvSpPr>
        <p:spPr>
          <a:xfrm>
            <a:off x="566928" y="3909060"/>
            <a:ext cx="8010144" cy="384048"/>
          </a:xfrm>
          <a:prstGeom prst="rect">
            <a:avLst/>
          </a:prstGeom>
          <a:solidFill>
            <a:srgbClr val="1B1E23"/>
          </a:solidFill>
          <a:ln w="12700">
            <a:solidFill>
              <a:srgbClr val="333333"/>
            </a:solidFill>
            <a:prstDash val="solid"/>
          </a:ln>
        </p:spPr>
        <p:txBody>
          <a:bodyPr/>
          <a:lstStyle/>
          <a:p>
            <a:endParaRPr lang="en-SE" sz="2800"/>
          </a:p>
        </p:txBody>
      </p:sp>
      <p:sp>
        <p:nvSpPr>
          <p:cNvPr id="29" name="heuristic marker">
            <a:extLst>
              <a:ext uri="{C183D7F6-B498-43B3-948B-1728B52AA6E4}">
                <adec:decorative xmlns:adec="http://schemas.microsoft.com/office/drawing/2017/decorative" val="1"/>
              </a:ext>
            </a:extLst>
          </p:cNvPr>
          <p:cNvSpPr/>
          <p:nvPr/>
        </p:nvSpPr>
        <p:spPr>
          <a:xfrm>
            <a:off x="566928" y="3909060"/>
            <a:ext cx="45720" cy="384048"/>
          </a:xfrm>
          <a:prstGeom prst="rect">
            <a:avLst/>
          </a:prstGeom>
          <a:solidFill>
            <a:srgbClr val="C9584C"/>
          </a:solidFill>
          <a:ln w="12700">
            <a:solidFill>
              <a:srgbClr val="333333"/>
            </a:solidFill>
            <a:prstDash val="solid"/>
          </a:ln>
        </p:spPr>
        <p:txBody>
          <a:bodyPr/>
          <a:lstStyle/>
          <a:p>
            <a:endParaRPr lang="en-SE" sz="2800"/>
          </a:p>
        </p:txBody>
      </p:sp>
      <p:sp>
        <p:nvSpPr>
          <p:cNvPr id="30" name="Text 28"/>
          <p:cNvSpPr/>
          <p:nvPr/>
        </p:nvSpPr>
        <p:spPr>
          <a:xfrm>
            <a:off x="786384" y="390906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Exception clustering</a:t>
            </a:r>
            <a:endParaRPr lang="en-US" sz="1200" dirty="0"/>
          </a:p>
        </p:txBody>
      </p:sp>
      <p:sp>
        <p:nvSpPr>
          <p:cNvPr id="31" name="Text 29"/>
          <p:cNvSpPr/>
          <p:nvPr/>
        </p:nvSpPr>
        <p:spPr>
          <a:xfrm>
            <a:off x="3182112" y="390906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Most tracebacks in the window come from one specific logger.</a:t>
            </a:r>
            <a:endParaRPr lang="en-US" sz="1100" dirty="0"/>
          </a:p>
        </p:txBody>
      </p:sp>
      <p:sp>
        <p:nvSpPr>
          <p:cNvPr id="32" name="heuristic row">
            <a:extLst>
              <a:ext uri="{C183D7F6-B498-43B3-948B-1728B52AA6E4}">
                <adec:decorative xmlns:adec="http://schemas.microsoft.com/office/drawing/2017/decorative" val="1"/>
              </a:ext>
            </a:extLst>
          </p:cNvPr>
          <p:cNvSpPr/>
          <p:nvPr/>
        </p:nvSpPr>
        <p:spPr>
          <a:xfrm>
            <a:off x="566928" y="4343400"/>
            <a:ext cx="8010144" cy="384048"/>
          </a:xfrm>
          <a:prstGeom prst="rect">
            <a:avLst/>
          </a:prstGeom>
          <a:solidFill>
            <a:srgbClr val="212429"/>
          </a:solidFill>
          <a:ln w="12700">
            <a:solidFill>
              <a:srgbClr val="333333"/>
            </a:solidFill>
            <a:prstDash val="solid"/>
          </a:ln>
        </p:spPr>
        <p:txBody>
          <a:bodyPr/>
          <a:lstStyle/>
          <a:p>
            <a:endParaRPr lang="en-SE" sz="2800"/>
          </a:p>
        </p:txBody>
      </p:sp>
      <p:sp>
        <p:nvSpPr>
          <p:cNvPr id="33" name="heuristic marker">
            <a:extLst>
              <a:ext uri="{C183D7F6-B498-43B3-948B-1728B52AA6E4}">
                <adec:decorative xmlns:adec="http://schemas.microsoft.com/office/drawing/2017/decorative" val="1"/>
              </a:ext>
            </a:extLst>
          </p:cNvPr>
          <p:cNvSpPr/>
          <p:nvPr/>
        </p:nvSpPr>
        <p:spPr>
          <a:xfrm>
            <a:off x="566928" y="4343400"/>
            <a:ext cx="45720" cy="384048"/>
          </a:xfrm>
          <a:prstGeom prst="rect">
            <a:avLst/>
          </a:prstGeom>
          <a:solidFill>
            <a:srgbClr val="6FA88A"/>
          </a:solidFill>
          <a:ln w="12700">
            <a:solidFill>
              <a:srgbClr val="333333"/>
            </a:solidFill>
            <a:prstDash val="solid"/>
          </a:ln>
        </p:spPr>
        <p:txBody>
          <a:bodyPr/>
          <a:lstStyle/>
          <a:p>
            <a:endParaRPr lang="en-SE" sz="2800"/>
          </a:p>
        </p:txBody>
      </p:sp>
      <p:sp>
        <p:nvSpPr>
          <p:cNvPr id="34" name="Text 32"/>
          <p:cNvSpPr/>
          <p:nvPr/>
        </p:nvSpPr>
        <p:spPr>
          <a:xfrm>
            <a:off x="786384" y="4343400"/>
            <a:ext cx="2286000" cy="384048"/>
          </a:xfrm>
          <a:prstGeom prst="rect">
            <a:avLst/>
          </a:prstGeom>
          <a:noFill/>
          <a:ln/>
        </p:spPr>
        <p:txBody>
          <a:bodyPr wrap="square" lIns="0" tIns="0" rIns="0" bIns="0" rtlCol="0" anchor="ctr"/>
          <a:lstStyle/>
          <a:p>
            <a:pPr marL="0" indent="0" algn="l">
              <a:lnSpc>
                <a:spcPts val="1420"/>
              </a:lnSpc>
              <a:buNone/>
            </a:pPr>
            <a:r>
              <a:rPr lang="en-US" sz="1200" b="1" dirty="0">
                <a:solidFill>
                  <a:srgbClr val="EDEEF1"/>
                </a:solidFill>
                <a:latin typeface="Segoe UI" pitchFamily="34" charset="0"/>
                <a:ea typeface="Segoe UI" pitchFamily="34" charset="-122"/>
                <a:cs typeface="Segoe UI" pitchFamily="34" charset="-120"/>
              </a:rPr>
              <a:t>Likely fallback to file</a:t>
            </a:r>
            <a:endParaRPr lang="en-US" sz="1200" dirty="0"/>
          </a:p>
        </p:txBody>
      </p:sp>
      <p:sp>
        <p:nvSpPr>
          <p:cNvPr id="35" name="Text 33"/>
          <p:cNvSpPr/>
          <p:nvPr/>
        </p:nvSpPr>
        <p:spPr>
          <a:xfrm>
            <a:off x="3182112" y="4343400"/>
            <a:ext cx="5212080" cy="384048"/>
          </a:xfrm>
          <a:prstGeom prst="rect">
            <a:avLst/>
          </a:prstGeom>
          <a:noFill/>
          <a:ln/>
        </p:spPr>
        <p:txBody>
          <a:bodyPr wrap="square" lIns="0" tIns="0" rIns="0" bIns="0" rtlCol="0" anchor="ctr"/>
          <a:lstStyle/>
          <a:p>
            <a:pPr marL="0" indent="0" algn="l">
              <a:lnSpc>
                <a:spcPts val="1349"/>
              </a:lnSpc>
              <a:buNone/>
            </a:pPr>
            <a:r>
              <a:rPr lang="en-US" sz="1100" dirty="0">
                <a:solidFill>
                  <a:srgbClr val="A3A9B4"/>
                </a:solidFill>
                <a:latin typeface="Segoe UI" pitchFamily="34" charset="0"/>
                <a:ea typeface="Segoe UI" pitchFamily="34" charset="-122"/>
                <a:cs typeface="Segoe UI" pitchFamily="34" charset="-120"/>
              </a:rPr>
              <a:t>A process disconnected cleanly and never came back — distinct from one merely stalled.</a:t>
            </a:r>
            <a:endParaRPr lang="en-US" sz="1100" dirty="0"/>
          </a:p>
        </p:txBody>
      </p:sp>
      <p:sp>
        <p:nvSpPr>
          <p:cNvPr id="36" name="Text 34"/>
          <p:cNvSpPr/>
          <p:nvPr/>
        </p:nvSpPr>
        <p:spPr>
          <a:xfrm>
            <a:off x="566928" y="4828032"/>
            <a:ext cx="8010144" cy="292608"/>
          </a:xfrm>
          <a:prstGeom prst="rect">
            <a:avLst/>
          </a:prstGeom>
          <a:noFill/>
          <a:ln/>
        </p:spPr>
        <p:txBody>
          <a:bodyPr wrap="square" lIns="0" tIns="0" rIns="0" bIns="0" rtlCol="0" anchor="t"/>
          <a:lstStyle/>
          <a:p>
            <a:pPr marL="0" indent="0" algn="l">
              <a:lnSpc>
                <a:spcPts val="1349"/>
              </a:lnSpc>
              <a:buNone/>
            </a:pPr>
            <a:r>
              <a:rPr lang="en-US" sz="1100" i="1" dirty="0">
                <a:solidFill>
                  <a:srgbClr val="747B87"/>
                </a:solidFill>
                <a:latin typeface="Segoe UI" pitchFamily="34" charset="0"/>
                <a:ea typeface="Segoe UI" pitchFamily="34" charset="-122"/>
                <a:cs typeface="Segoe UI" pitchFamily="34" charset="-120"/>
              </a:rPr>
              <a:t>When nothing fires, diagnose says so explicitly — a clean run is visibly a clean run, not an empty screen.</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11404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45</a:t>
            </a:r>
            <a:endParaRPr lang="en-US" sz="950" dirty="0"/>
          </a:p>
        </p:txBody>
      </p:sp>
      <p:sp>
        <p:nvSpPr>
          <p:cNvPr id="6" name="Text 0"/>
          <p:cNvSpPr>
            <a:spLocks noGrp="1"/>
          </p:cNvSpPr>
          <p:nvPr>
            <p:ph type="title" idx="100" hasCustomPrompt="1"/>
          </p:nvPr>
        </p:nvSpPr>
        <p:spPr>
          <a:xfrm>
            <a:off x="566928" y="42214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LALF-PS: subscription modes, filters and leases</a:t>
            </a:r>
            <a:endParaRPr lang="en-US" sz="2700" dirty="0"/>
          </a:p>
        </p:txBody>
      </p:sp>
      <p:sp>
        <p:nvSpPr>
          <p:cNvPr id="7" name="Text 5"/>
          <p:cNvSpPr/>
          <p:nvPr/>
        </p:nvSpPr>
        <p:spPr>
          <a:xfrm>
            <a:off x="566928" y="113842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What a live viewer asks the log server for, and the three mechanisms that keep the server from accumulating state for viewers that died.</a:t>
            </a:r>
            <a:endParaRPr lang="en-US" sz="1250" dirty="0"/>
          </a:p>
        </p:txBody>
      </p:sp>
      <p:sp>
        <p:nvSpPr>
          <p:cNvPr id="8" name="card background">
            <a:extLst>
              <a:ext uri="{C183D7F6-B498-43B3-948B-1728B52AA6E4}">
                <adec:decorative xmlns:adec="http://schemas.microsoft.com/office/drawing/2017/decorative" val="1"/>
              </a:ext>
            </a:extLst>
          </p:cNvPr>
          <p:cNvSpPr/>
          <p:nvPr/>
        </p:nvSpPr>
        <p:spPr>
          <a:xfrm>
            <a:off x="566928" y="1668780"/>
            <a:ext cx="3877056" cy="1028700"/>
          </a:xfrm>
          <a:prstGeom prst="rect">
            <a:avLst/>
          </a:prstGeom>
          <a:solidFill>
            <a:srgbClr val="212429"/>
          </a:solidFill>
          <a:ln w="12700">
            <a:solidFill>
              <a:srgbClr val="343941"/>
            </a:solidFill>
            <a:prstDash val="solid"/>
          </a:ln>
        </p:spPr>
        <p:txBody>
          <a:bodyPr/>
          <a:lstStyle/>
          <a:p>
            <a:endParaRPr lang="en-SE"/>
          </a:p>
        </p:txBody>
      </p:sp>
      <p:sp>
        <p:nvSpPr>
          <p:cNvPr id="9" name="card top accent">
            <a:extLst>
              <a:ext uri="{C183D7F6-B498-43B3-948B-1728B52AA6E4}">
                <adec:decorative xmlns:adec="http://schemas.microsoft.com/office/drawing/2017/decorative" val="1"/>
              </a:ext>
            </a:extLst>
          </p:cNvPr>
          <p:cNvSpPr/>
          <p:nvPr/>
        </p:nvSpPr>
        <p:spPr>
          <a:xfrm>
            <a:off x="566928" y="1668780"/>
            <a:ext cx="3877056" cy="45720"/>
          </a:xfrm>
          <a:prstGeom prst="rect">
            <a:avLst/>
          </a:prstGeom>
          <a:solidFill>
            <a:srgbClr val="8A7EA8"/>
          </a:solidFill>
          <a:ln w="12700">
            <a:solidFill>
              <a:srgbClr val="333333"/>
            </a:solidFill>
            <a:prstDash val="solid"/>
          </a:ln>
        </p:spPr>
        <p:txBody>
          <a:bodyPr/>
          <a:lstStyle/>
          <a:p>
            <a:endParaRPr lang="en-SE"/>
          </a:p>
        </p:txBody>
      </p:sp>
      <p:sp>
        <p:nvSpPr>
          <p:cNvPr id="10" name="Text 8"/>
          <p:cNvSpPr/>
          <p:nvPr/>
        </p:nvSpPr>
        <p:spPr>
          <a:xfrm>
            <a:off x="786384" y="1796796"/>
            <a:ext cx="1828800" cy="219456"/>
          </a:xfrm>
          <a:prstGeom prst="rect">
            <a:avLst/>
          </a:prstGeom>
          <a:noFill/>
          <a:ln/>
        </p:spPr>
        <p:txBody>
          <a:bodyPr wrap="square" lIns="0" tIns="0" rIns="0" bIns="0" rtlCol="0" anchor="ctr"/>
          <a:lstStyle/>
          <a:p>
            <a:pPr marL="0" indent="0" algn="l">
              <a:buNone/>
            </a:pPr>
            <a:r>
              <a:rPr lang="en-US" sz="1600" b="1" kern="0" spc="180" dirty="0">
                <a:solidFill>
                  <a:srgbClr val="8A7EA8"/>
                </a:solidFill>
                <a:latin typeface="Segoe UI" pitchFamily="34" charset="0"/>
                <a:ea typeface="Segoe UI" pitchFamily="34" charset="-122"/>
                <a:cs typeface="Segoe UI" pitchFamily="34" charset="-120"/>
              </a:rPr>
              <a:t>STREAM</a:t>
            </a:r>
            <a:endParaRPr lang="en-US" sz="1600" dirty="0"/>
          </a:p>
        </p:txBody>
      </p:sp>
      <p:sp>
        <p:nvSpPr>
          <p:cNvPr id="11" name="Text 9"/>
          <p:cNvSpPr/>
          <p:nvPr/>
        </p:nvSpPr>
        <p:spPr>
          <a:xfrm>
            <a:off x="786384" y="2052828"/>
            <a:ext cx="3474720" cy="822960"/>
          </a:xfrm>
          <a:prstGeom prst="rect">
            <a:avLst/>
          </a:prstGeom>
          <a:noFill/>
          <a:ln/>
        </p:spPr>
        <p:txBody>
          <a:bodyPr wrap="square" lIns="0" tIns="0" rIns="0" bIns="0" rtlCol="0" anchor="t"/>
          <a:lstStyle/>
          <a:p>
            <a:pPr marL="0" indent="0" algn="l">
              <a:lnSpc>
                <a:spcPts val="1420"/>
              </a:lnSpc>
              <a:buNone/>
            </a:pPr>
            <a:r>
              <a:rPr lang="en-US" sz="1200" dirty="0">
                <a:solidFill>
                  <a:srgbClr val="A3A9B4"/>
                </a:solidFill>
                <a:latin typeface="Segoe UI" pitchFamily="34" charset="0"/>
                <a:ea typeface="Segoe UI" pitchFamily="34" charset="-122"/>
                <a:cs typeface="Segoe UI" pitchFamily="34" charset="-120"/>
              </a:rPr>
              <a:t>Full rows pushed as they are committed. What a live tail wants — the viewer never touches the database at all.</a:t>
            </a:r>
            <a:endParaRPr lang="en-US" sz="1200" dirty="0"/>
          </a:p>
        </p:txBody>
      </p:sp>
      <p:sp>
        <p:nvSpPr>
          <p:cNvPr id="12" name="card background">
            <a:extLst>
              <a:ext uri="{C183D7F6-B498-43B3-948B-1728B52AA6E4}">
                <adec:decorative xmlns:adec="http://schemas.microsoft.com/office/drawing/2017/decorative" val="1"/>
              </a:ext>
            </a:extLst>
          </p:cNvPr>
          <p:cNvSpPr/>
          <p:nvPr/>
        </p:nvSpPr>
        <p:spPr>
          <a:xfrm>
            <a:off x="4700016" y="1668780"/>
            <a:ext cx="3877056" cy="1028700"/>
          </a:xfrm>
          <a:prstGeom prst="rect">
            <a:avLst/>
          </a:prstGeom>
          <a:solidFill>
            <a:srgbClr val="212429"/>
          </a:solidFill>
          <a:ln w="12700">
            <a:solidFill>
              <a:srgbClr val="343941"/>
            </a:solidFill>
            <a:prstDash val="solid"/>
          </a:ln>
        </p:spPr>
        <p:txBody>
          <a:bodyPr/>
          <a:lstStyle/>
          <a:p>
            <a:endParaRPr lang="en-SE"/>
          </a:p>
        </p:txBody>
      </p:sp>
      <p:sp>
        <p:nvSpPr>
          <p:cNvPr id="13" name="card top accent">
            <a:extLst>
              <a:ext uri="{C183D7F6-B498-43B3-948B-1728B52AA6E4}">
                <adec:decorative xmlns:adec="http://schemas.microsoft.com/office/drawing/2017/decorative" val="1"/>
              </a:ext>
            </a:extLst>
          </p:cNvPr>
          <p:cNvSpPr/>
          <p:nvPr/>
        </p:nvSpPr>
        <p:spPr>
          <a:xfrm>
            <a:off x="4700016" y="1668780"/>
            <a:ext cx="3877056" cy="45720"/>
          </a:xfrm>
          <a:prstGeom prst="rect">
            <a:avLst/>
          </a:prstGeom>
          <a:solidFill>
            <a:srgbClr val="5E8CA8"/>
          </a:solidFill>
          <a:ln w="12700">
            <a:solidFill>
              <a:srgbClr val="333333"/>
            </a:solidFill>
            <a:prstDash val="solid"/>
          </a:ln>
        </p:spPr>
        <p:txBody>
          <a:bodyPr/>
          <a:lstStyle/>
          <a:p>
            <a:endParaRPr lang="en-SE"/>
          </a:p>
        </p:txBody>
      </p:sp>
      <p:sp>
        <p:nvSpPr>
          <p:cNvPr id="14" name="Text 12"/>
          <p:cNvSpPr/>
          <p:nvPr/>
        </p:nvSpPr>
        <p:spPr>
          <a:xfrm>
            <a:off x="4919472" y="1796796"/>
            <a:ext cx="1828800" cy="219456"/>
          </a:xfrm>
          <a:prstGeom prst="rect">
            <a:avLst/>
          </a:prstGeom>
          <a:noFill/>
          <a:ln/>
        </p:spPr>
        <p:txBody>
          <a:bodyPr wrap="square" lIns="0" tIns="0" rIns="0" bIns="0" rtlCol="0" anchor="ctr"/>
          <a:lstStyle/>
          <a:p>
            <a:pPr marL="0" indent="0" algn="l">
              <a:buNone/>
            </a:pPr>
            <a:r>
              <a:rPr lang="en-US" sz="1600" b="1" kern="0" spc="180" dirty="0">
                <a:solidFill>
                  <a:srgbClr val="5E8CA8"/>
                </a:solidFill>
                <a:latin typeface="Segoe UI" pitchFamily="34" charset="0"/>
                <a:ea typeface="Segoe UI" pitchFamily="34" charset="-122"/>
                <a:cs typeface="Segoe UI" pitchFamily="34" charset="-120"/>
              </a:rPr>
              <a:t>NOTIFY</a:t>
            </a:r>
            <a:endParaRPr lang="en-US" sz="1600" dirty="0"/>
          </a:p>
        </p:txBody>
      </p:sp>
      <p:sp>
        <p:nvSpPr>
          <p:cNvPr id="15" name="Text 13"/>
          <p:cNvSpPr/>
          <p:nvPr/>
        </p:nvSpPr>
        <p:spPr>
          <a:xfrm>
            <a:off x="4919472" y="2052828"/>
            <a:ext cx="3474720" cy="822960"/>
          </a:xfrm>
          <a:prstGeom prst="rect">
            <a:avLst/>
          </a:prstGeom>
          <a:noFill/>
          <a:ln/>
        </p:spPr>
        <p:txBody>
          <a:bodyPr wrap="square" lIns="0" tIns="0" rIns="0" bIns="0" rtlCol="0" anchor="t"/>
          <a:lstStyle/>
          <a:p>
            <a:pPr marL="0" indent="0" algn="l">
              <a:lnSpc>
                <a:spcPts val="1420"/>
              </a:lnSpc>
              <a:buNone/>
            </a:pPr>
            <a:r>
              <a:rPr lang="en-US" sz="1200" dirty="0">
                <a:solidFill>
                  <a:srgbClr val="A3A9B4"/>
                </a:solidFill>
                <a:latin typeface="Segoe UI" pitchFamily="34" charset="0"/>
                <a:ea typeface="Segoe UI" pitchFamily="34" charset="-122"/>
                <a:cs typeface="Segoe UI" pitchFamily="34" charset="-120"/>
              </a:rPr>
              <a:t>Only a small tick: how many rows matched and the highest sequence. For a UI that reads the database itself and just needs to know when to refresh.</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667568720"/>
              </p:ext>
            </p:extLst>
          </p:nvPr>
        </p:nvGraphicFramePr>
        <p:xfrm>
          <a:off x="566928" y="2836164"/>
          <a:ext cx="3877056" cy="1883664"/>
        </p:xfrm>
        <a:graphic>
          <a:graphicData uri="http://schemas.openxmlformats.org/drawingml/2006/table">
            <a:tbl>
              <a:tblPr/>
              <a:tblGrid>
                <a:gridCol w="1572768">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tblGrid>
              <a:tr h="292608">
                <a:tc>
                  <a:txBody>
                    <a:bodyPr/>
                    <a:lstStyle/>
                    <a:p>
                      <a:pPr marL="0" indent="0" algn="l">
                        <a:buNone/>
                      </a:pPr>
                      <a:r>
                        <a:rPr lang="en-US" sz="1100" b="1" kern="0" spc="100" dirty="0">
                          <a:solidFill>
                            <a:srgbClr val="E8A33D"/>
                          </a:solidFill>
                          <a:latin typeface="Segoe UI" pitchFamily="34" charset="0"/>
                          <a:ea typeface="Segoe UI" pitchFamily="34" charset="-122"/>
                          <a:cs typeface="Segoe UI" pitchFamily="34" charset="-120"/>
                        </a:rPr>
                        <a:t>FILTER FIELD</a:t>
                      </a:r>
                      <a:endParaRPr lang="en-US" sz="11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100" b="1" kern="0" spc="100" dirty="0">
                          <a:solidFill>
                            <a:srgbClr val="E8A33D"/>
                          </a:solidFill>
                          <a:latin typeface="Segoe UI" pitchFamily="34" charset="0"/>
                          <a:ea typeface="Segoe UI" pitchFamily="34" charset="-122"/>
                          <a:cs typeface="Segoe UI" pitchFamily="34" charset="-120"/>
                        </a:rPr>
                        <a:t>MATCHES</a:t>
                      </a:r>
                      <a:endParaRPr lang="en-US" sz="11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26517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min_level</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Rows at or above this severity</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26517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processes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Exact process-name match</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26517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loggers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Prefix match on the logger name</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26517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sessions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One connection of one process</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26517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contains</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Case-insensitive text in the body</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265176">
                <a:tc>
                  <a:txBody>
                    <a:bodyPr/>
                    <a:lstStyle/>
                    <a:p>
                      <a:pPr marL="0" indent="0" algn="l">
                        <a:buNone/>
                      </a:pPr>
                      <a:r>
                        <a:rPr lang="en-US" sz="1050" dirty="0">
                          <a:solidFill>
                            <a:srgbClr val="F6C978"/>
                          </a:solidFill>
                          <a:latin typeface="Consolas" pitchFamily="34" charset="0"/>
                          <a:ea typeface="Consolas" pitchFamily="34" charset="-122"/>
                          <a:cs typeface="Consolas" pitchFamily="34" charset="-120"/>
                        </a:rPr>
                        <a:t>exceptions_only</a:t>
                      </a:r>
                      <a:endParaRPr lang="en-US" sz="105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50" dirty="0">
                          <a:solidFill>
                            <a:srgbClr val="A3A9B4"/>
                          </a:solidFill>
                          <a:latin typeface="Segoe UI" pitchFamily="34" charset="0"/>
                          <a:ea typeface="Segoe UI" pitchFamily="34" charset="-122"/>
                          <a:cs typeface="Segoe UI" pitchFamily="34" charset="-120"/>
                        </a:rPr>
                        <a:t>Only rows carrying a traceback</a:t>
                      </a:r>
                      <a:endParaRPr lang="en-US" sz="105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bl>
          </a:graphicData>
        </a:graphic>
      </p:graphicFrame>
      <p:sp>
        <p:nvSpPr>
          <p:cNvPr id="17" name="card background">
            <a:extLst>
              <a:ext uri="{C183D7F6-B498-43B3-948B-1728B52AA6E4}">
                <adec:decorative xmlns:adec="http://schemas.microsoft.com/office/drawing/2017/decorative" val="1"/>
              </a:ext>
            </a:extLst>
          </p:cNvPr>
          <p:cNvSpPr/>
          <p:nvPr/>
        </p:nvSpPr>
        <p:spPr>
          <a:xfrm>
            <a:off x="4700016" y="2836164"/>
            <a:ext cx="3877056" cy="1627632"/>
          </a:xfrm>
          <a:prstGeom prst="rect">
            <a:avLst/>
          </a:prstGeom>
          <a:solidFill>
            <a:srgbClr val="212429"/>
          </a:solidFill>
          <a:ln w="12700">
            <a:solidFill>
              <a:srgbClr val="343941"/>
            </a:solidFill>
            <a:prstDash val="solid"/>
          </a:ln>
        </p:spPr>
        <p:txBody>
          <a:bodyPr/>
          <a:lstStyle/>
          <a:p>
            <a:endParaRPr lang="en-SE"/>
          </a:p>
        </p:txBody>
      </p:sp>
      <p:sp>
        <p:nvSpPr>
          <p:cNvPr id="18" name="card accent edge">
            <a:extLst>
              <a:ext uri="{C183D7F6-B498-43B3-948B-1728B52AA6E4}">
                <adec:decorative xmlns:adec="http://schemas.microsoft.com/office/drawing/2017/decorative" val="1"/>
              </a:ext>
            </a:extLst>
          </p:cNvPr>
          <p:cNvSpPr/>
          <p:nvPr/>
        </p:nvSpPr>
        <p:spPr>
          <a:xfrm>
            <a:off x="4700016" y="2836164"/>
            <a:ext cx="50292" cy="1627632"/>
          </a:xfrm>
          <a:prstGeom prst="rect">
            <a:avLst/>
          </a:prstGeom>
          <a:solidFill>
            <a:srgbClr val="E8A33D"/>
          </a:solidFill>
          <a:ln w="12700">
            <a:solidFill>
              <a:srgbClr val="333333"/>
            </a:solidFill>
            <a:prstDash val="solid"/>
          </a:ln>
        </p:spPr>
        <p:txBody>
          <a:bodyPr/>
          <a:lstStyle/>
          <a:p>
            <a:endParaRPr lang="en-SE"/>
          </a:p>
        </p:txBody>
      </p:sp>
      <p:sp>
        <p:nvSpPr>
          <p:cNvPr id="19" name="Text 16"/>
          <p:cNvSpPr/>
          <p:nvPr/>
        </p:nvSpPr>
        <p:spPr>
          <a:xfrm>
            <a:off x="4919472" y="2964180"/>
            <a:ext cx="3474720" cy="219456"/>
          </a:xfrm>
          <a:prstGeom prst="rect">
            <a:avLst/>
          </a:prstGeom>
          <a:noFill/>
          <a:ln/>
        </p:spPr>
        <p:txBody>
          <a:bodyPr wrap="square" lIns="0" tIns="0" rIns="0" bIns="0" rtlCol="0" anchor="ctr"/>
          <a:lstStyle/>
          <a:p>
            <a:pPr marL="0" indent="0" algn="l">
              <a:buNone/>
            </a:pPr>
            <a:r>
              <a:rPr lang="en-US" sz="1050" b="1" kern="0" spc="180" dirty="0">
                <a:solidFill>
                  <a:srgbClr val="E8A33D"/>
                </a:solidFill>
                <a:latin typeface="Segoe UI" pitchFamily="34" charset="0"/>
                <a:ea typeface="Segoe UI" pitchFamily="34" charset="-122"/>
                <a:cs typeface="Segoe UI" pitchFamily="34" charset="-120"/>
              </a:rPr>
              <a:t>WHY SUBSCRIPTIONS ARE LEASES</a:t>
            </a:r>
            <a:endParaRPr lang="en-US" sz="1050" dirty="0"/>
          </a:p>
        </p:txBody>
      </p:sp>
      <p:sp>
        <p:nvSpPr>
          <p:cNvPr id="20" name="Text 17"/>
          <p:cNvSpPr/>
          <p:nvPr/>
        </p:nvSpPr>
        <p:spPr>
          <a:xfrm>
            <a:off x="4919472" y="3220212"/>
            <a:ext cx="3474720" cy="1005840"/>
          </a:xfrm>
          <a:prstGeom prst="rect">
            <a:avLst/>
          </a:prstGeom>
          <a:noFill/>
          <a:ln/>
        </p:spPr>
        <p:txBody>
          <a:bodyPr wrap="square" lIns="0" tIns="0" rIns="0" bIns="0" rtlCol="0" anchor="t"/>
          <a:lstStyle/>
          <a:p>
            <a:pPr marL="0" indent="0" algn="l">
              <a:lnSpc>
                <a:spcPts val="1349"/>
              </a:lnSpc>
              <a:buNone/>
            </a:pPr>
            <a:r>
              <a:rPr lang="en-US" sz="1200" dirty="0">
                <a:solidFill>
                  <a:srgbClr val="A3A9B4"/>
                </a:solidFill>
                <a:latin typeface="Segoe UI" pitchFamily="34" charset="0"/>
                <a:ea typeface="Segoe UI" pitchFamily="34" charset="-122"/>
                <a:cs typeface="Segoe UI" pitchFamily="34" charset="-120"/>
              </a:rPr>
              <a:t>A publish socket is blind — it never learns that a subscriber died, and publishing into the void succeeds silently. So every subscription carries a time-to-live that must be renewed, and anything that stops renewing is reaped: filter state gone, buffers discarded.</a:t>
            </a:r>
            <a:endParaRPr lang="en-US" sz="1200" dirty="0"/>
          </a:p>
        </p:txBody>
      </p:sp>
      <p:sp>
        <p:nvSpPr>
          <p:cNvPr id="21" name="Text 18"/>
          <p:cNvSpPr/>
          <p:nvPr/>
        </p:nvSpPr>
        <p:spPr>
          <a:xfrm>
            <a:off x="566928" y="4792980"/>
            <a:ext cx="8010144" cy="274320"/>
          </a:xfrm>
          <a:prstGeom prst="rect">
            <a:avLst/>
          </a:prstGeom>
          <a:noFill/>
          <a:ln/>
        </p:spPr>
        <p:txBody>
          <a:bodyPr wrap="square" lIns="0" tIns="0" rIns="0" bIns="0" rtlCol="0" anchor="t"/>
          <a:lstStyle/>
          <a:p>
            <a:pPr marL="0" indent="0" algn="l">
              <a:lnSpc>
                <a:spcPts val="1278"/>
              </a:lnSpc>
              <a:buNone/>
            </a:pPr>
            <a:r>
              <a:rPr lang="en-US" sz="1000" i="1" dirty="0">
                <a:solidFill>
                  <a:srgbClr val="747B87"/>
                </a:solidFill>
                <a:latin typeface="Segoe UI" pitchFamily="34" charset="0"/>
                <a:ea typeface="Segoe UI" pitchFamily="34" charset="-122"/>
                <a:cs typeface="Segoe UI" pitchFamily="34" charset="-120"/>
              </a:rPr>
              <a:t>All present filter fields are combined with AND. A malformed filter is rejected outright rather than quietly matching everything — a filter that stops filtering is how a viewer ends up flooded.</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46</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Console environment variables</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250" dirty="0">
                <a:solidFill>
                  <a:srgbClr val="A3A9B4"/>
                </a:solidFill>
                <a:latin typeface="Segoe UI" pitchFamily="34" charset="0"/>
                <a:ea typeface="Segoe UI" pitchFamily="34" charset="-122"/>
                <a:cs typeface="Segoe UI" pitchFamily="34" charset="-120"/>
              </a:rPr>
              <a:t>All bridge configuration is environment variables. Invalid values fall back to the default rather than failing startup.</a:t>
            </a:r>
            <a:endParaRPr lang="en-US" sz="1250" dirty="0"/>
          </a:p>
        </p:txBody>
      </p:sp>
      <p:graphicFrame>
        <p:nvGraphicFramePr>
          <p:cNvPr id="47" name="Table 0"/>
          <p:cNvGraphicFramePr>
            <a:graphicFrameLocks noGrp="1"/>
          </p:cNvGraphicFramePr>
          <p:nvPr>
            <p:extLst>
              <p:ext uri="{D42A27DB-BD31-4B8C-83A1-F6EECF244321}">
                <p14:modId xmlns:p14="http://schemas.microsoft.com/office/powerpoint/2010/main" val="3708395284"/>
              </p:ext>
            </p:extLst>
          </p:nvPr>
        </p:nvGraphicFramePr>
        <p:xfrm>
          <a:off x="566928" y="1495044"/>
          <a:ext cx="3913632" cy="3214116"/>
        </p:xfrm>
        <a:graphic>
          <a:graphicData uri="http://schemas.openxmlformats.org/drawingml/2006/table">
            <a:tbl>
              <a:tblPr/>
              <a:tblGrid>
                <a:gridCol w="2286000">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tblGrid>
              <a:tr h="292608">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VARIABLE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DEFAULT</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HOST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127.0.0.1</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PORT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8091</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CORS_ORIGIN</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LOG_SRV_HOST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127.0.0.1</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LOG_SRV_PUB_PORT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5601</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LOG_SRV_PULL_PORT</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5602</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LEASE_SEC</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30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LOG_DB_PATH</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data dir /log.db</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ACK_STORE_PATH</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data dir /log-ui-acks.db</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9"/>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LOG_CLI_COMMAND</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pm-log-cli</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10"/>
                  </a:ext>
                </a:extLst>
              </a:tr>
            </a:tbl>
          </a:graphicData>
        </a:graphic>
      </p:graphicFrame>
      <p:graphicFrame>
        <p:nvGraphicFramePr>
          <p:cNvPr id="93" name="Table 1"/>
          <p:cNvGraphicFramePr>
            <a:graphicFrameLocks noGrp="1"/>
          </p:cNvGraphicFramePr>
          <p:nvPr>
            <p:extLst>
              <p:ext uri="{D42A27DB-BD31-4B8C-83A1-F6EECF244321}">
                <p14:modId xmlns:p14="http://schemas.microsoft.com/office/powerpoint/2010/main" val="2096780901"/>
              </p:ext>
            </p:extLst>
          </p:nvPr>
        </p:nvGraphicFramePr>
        <p:xfrm>
          <a:off x="4700016" y="1495044"/>
          <a:ext cx="3877056" cy="3081528"/>
        </p:xfrm>
        <a:graphic>
          <a:graphicData uri="http://schemas.openxmlformats.org/drawingml/2006/table">
            <a:tbl>
              <a:tblPr/>
              <a:tblGrid>
                <a:gridCol w="2377440">
                  <a:extLst>
                    <a:ext uri="{9D8B030D-6E8A-4147-A177-3AD203B41FA5}">
                      <a16:colId xmlns:a16="http://schemas.microsoft.com/office/drawing/2014/main" val="20000"/>
                    </a:ext>
                  </a:extLst>
                </a:gridCol>
                <a:gridCol w="1499616">
                  <a:extLst>
                    <a:ext uri="{9D8B030D-6E8A-4147-A177-3AD203B41FA5}">
                      <a16:colId xmlns:a16="http://schemas.microsoft.com/office/drawing/2014/main" val="20001"/>
                    </a:ext>
                  </a:extLst>
                </a:gridCol>
              </a:tblGrid>
              <a:tr h="292608">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VARIABLE</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200" b="1" kern="0" spc="100" dirty="0">
                          <a:solidFill>
                            <a:srgbClr val="E8A33D"/>
                          </a:solidFill>
                          <a:latin typeface="Segoe UI" pitchFamily="34" charset="0"/>
                          <a:ea typeface="Segoe UI" pitchFamily="34" charset="-122"/>
                          <a:cs typeface="Segoe UI" pitchFamily="34" charset="-120"/>
                        </a:rPr>
                        <a:t>DEFAULT</a:t>
                      </a:r>
                      <a:endParaRPr lang="en-US" sz="120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ISSUES_RETENTION_DAYS</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7</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ISSUES_MIN_LEVEL</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WARNING</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ISSUES_ALERT_LEVEL</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ERROR</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PROCESS_SILENCE_SEC</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30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ERROR_RATE_NORMAL_PER_MIN</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5</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ERROR_RATE_ELEVATED_PER_MIN</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20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ERROR_RATE_SEVERE_PER_MIN</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100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QUERY_MAX_ROWS</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5000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EXPORT_MAX_ROWS</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1000000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9"/>
                  </a:ext>
                </a:extLst>
              </a:tr>
              <a:tr h="278892">
                <a:tc>
                  <a:txBody>
                    <a:bodyPr/>
                    <a:lstStyle/>
                    <a:p>
                      <a:pPr marL="0" indent="0" algn="l">
                        <a:buNone/>
                      </a:pPr>
                      <a:r>
                        <a:rPr lang="en-US" sz="1100" dirty="0">
                          <a:solidFill>
                            <a:srgbClr val="F6C978"/>
                          </a:solidFill>
                          <a:latin typeface="Consolas" pitchFamily="34" charset="0"/>
                          <a:ea typeface="Consolas" pitchFamily="34" charset="-122"/>
                          <a:cs typeface="Consolas" pitchFamily="34" charset="-120"/>
                        </a:rPr>
                        <a:t>LIVE_BATCH_THRESHOLD_PER_SEC</a:t>
                      </a:r>
                      <a:endParaRPr lang="en-US" sz="1100" dirty="0">
                        <a:latin typeface="Consolas" charset="0"/>
                        <a:ea typeface="Consolas" charset="0"/>
                        <a:cs typeface="Consolas"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100" dirty="0">
                          <a:solidFill>
                            <a:srgbClr val="A3A9B4"/>
                          </a:solidFill>
                          <a:latin typeface="Segoe UI" pitchFamily="34" charset="0"/>
                          <a:ea typeface="Segoe UI" pitchFamily="34" charset="-122"/>
                          <a:cs typeface="Segoe UI" pitchFamily="34" charset="-120"/>
                        </a:rPr>
                        <a:t>50</a:t>
                      </a:r>
                      <a:endParaRPr lang="en-US" sz="11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10"/>
                  </a:ext>
                </a:extLst>
              </a:tr>
            </a:tbl>
          </a:graphicData>
        </a:graphic>
      </p:graphicFrame>
      <p:sp>
        <p:nvSpPr>
          <p:cNvPr id="10" name="Text 6"/>
          <p:cNvSpPr/>
          <p:nvPr/>
        </p:nvSpPr>
        <p:spPr>
          <a:xfrm>
            <a:off x="566928" y="4767072"/>
            <a:ext cx="8010144" cy="292608"/>
          </a:xfrm>
          <a:prstGeom prst="rect">
            <a:avLst/>
          </a:prstGeom>
          <a:noFill/>
          <a:ln/>
        </p:spPr>
        <p:txBody>
          <a:bodyPr wrap="square" lIns="0" tIns="0" rIns="0" bIns="0" rtlCol="0" anchor="t"/>
          <a:lstStyle/>
          <a:p>
            <a:pPr marL="0" indent="0" algn="l">
              <a:lnSpc>
                <a:spcPts val="1349"/>
              </a:lnSpc>
              <a:buNone/>
            </a:pPr>
            <a:r>
              <a:rPr lang="en-US" sz="1100" i="1" dirty="0">
                <a:solidFill>
                  <a:srgbClr val="747B87"/>
                </a:solidFill>
                <a:latin typeface="Segoe UI" pitchFamily="34" charset="0"/>
                <a:ea typeface="Segoe UI" pitchFamily="34" charset="-122"/>
                <a:cs typeface="Segoe UI" pitchFamily="34" charset="-120"/>
              </a:rPr>
              <a:t>The two level variables are independent and the order matters: the minimum level decides what is tracked at all, the alert level decides what is counted as demanding attention.</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5161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REFERENCE</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47</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Troubleshooting, in one table</a:t>
            </a:r>
            <a:endParaRPr lang="en-US" sz="2700" dirty="0"/>
          </a:p>
        </p:txBody>
      </p:sp>
      <p:sp>
        <p:nvSpPr>
          <p:cNvPr id="7" name="Text 5"/>
          <p:cNvSpPr/>
          <p:nvPr/>
        </p:nvSpPr>
        <p:spPr>
          <a:xfrm>
            <a:off x="566928" y="1207008"/>
            <a:ext cx="8010144" cy="384048"/>
          </a:xfrm>
          <a:prstGeom prst="rect">
            <a:avLst/>
          </a:prstGeom>
          <a:noFill/>
          <a:ln/>
        </p:spPr>
        <p:txBody>
          <a:bodyPr wrap="square" lIns="0" tIns="0" rIns="0" bIns="0" rtlCol="0" anchor="t"/>
          <a:lstStyle/>
          <a:p>
            <a:pPr marL="0" indent="0">
              <a:lnSpc>
                <a:spcPts val="1600"/>
              </a:lnSpc>
              <a:buNone/>
            </a:pPr>
            <a:r>
              <a:rPr lang="en-US" sz="1400" dirty="0">
                <a:solidFill>
                  <a:srgbClr val="A3A9B4"/>
                </a:solidFill>
                <a:latin typeface="Segoe UI" pitchFamily="34" charset="0"/>
                <a:ea typeface="Segoe UI" pitchFamily="34" charset="-122"/>
                <a:cs typeface="Segoe UI" pitchFamily="34" charset="-120"/>
              </a:rPr>
              <a:t>The symptoms you are most likely to meet in the first month, and what each one usually means.</a:t>
            </a:r>
            <a:endParaRPr lang="en-US" sz="1400" dirty="0"/>
          </a:p>
        </p:txBody>
      </p:sp>
      <p:graphicFrame>
        <p:nvGraphicFramePr>
          <p:cNvPr id="48" name="Table 0"/>
          <p:cNvGraphicFramePr>
            <a:graphicFrameLocks noGrp="1"/>
          </p:cNvGraphicFramePr>
          <p:nvPr>
            <p:extLst>
              <p:ext uri="{D42A27DB-BD31-4B8C-83A1-F6EECF244321}">
                <p14:modId xmlns:p14="http://schemas.microsoft.com/office/powerpoint/2010/main" val="1501635191"/>
              </p:ext>
            </p:extLst>
          </p:nvPr>
        </p:nvGraphicFramePr>
        <p:xfrm>
          <a:off x="566928" y="1664208"/>
          <a:ext cx="8010144" cy="3281172"/>
        </p:xfrm>
        <a:graphic>
          <a:graphicData uri="http://schemas.openxmlformats.org/drawingml/2006/table">
            <a:tbl>
              <a:tblPr/>
              <a:tblGrid>
                <a:gridCol w="25146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3072384">
                  <a:extLst>
                    <a:ext uri="{9D8B030D-6E8A-4147-A177-3AD203B41FA5}">
                      <a16:colId xmlns:a16="http://schemas.microsoft.com/office/drawing/2014/main" val="20002"/>
                    </a:ext>
                  </a:extLst>
                </a:gridCol>
              </a:tblGrid>
              <a:tr h="292608">
                <a:tc>
                  <a:txBody>
                    <a:bodyPr/>
                    <a:lstStyle/>
                    <a:p>
                      <a:pPr marL="0" indent="0" algn="l">
                        <a:buNone/>
                      </a:pPr>
                      <a:r>
                        <a:rPr lang="en-US" sz="1050" b="1" kern="0" spc="100" dirty="0">
                          <a:solidFill>
                            <a:srgbClr val="E8A33D"/>
                          </a:solidFill>
                          <a:latin typeface="Segoe UI" pitchFamily="34" charset="0"/>
                          <a:ea typeface="Segoe UI" pitchFamily="34" charset="-122"/>
                          <a:cs typeface="Segoe UI" pitchFamily="34" charset="-120"/>
                        </a:rPr>
                        <a:t>SYMPTOM</a:t>
                      </a:r>
                      <a:endParaRPr lang="en-US" sz="105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050" b="1" kern="0" spc="100" dirty="0">
                          <a:solidFill>
                            <a:srgbClr val="E8A33D"/>
                          </a:solidFill>
                          <a:latin typeface="Segoe UI" pitchFamily="34" charset="0"/>
                          <a:ea typeface="Segoe UI" pitchFamily="34" charset="-122"/>
                          <a:cs typeface="Segoe UI" pitchFamily="34" charset="-120"/>
                        </a:rPr>
                        <a:t>LIKELY CAUSE</a:t>
                      </a:r>
                      <a:endParaRPr lang="en-US" sz="105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tc>
                  <a:txBody>
                    <a:bodyPr/>
                    <a:lstStyle/>
                    <a:p>
                      <a:pPr marL="0" indent="0" algn="l">
                        <a:buNone/>
                      </a:pPr>
                      <a:r>
                        <a:rPr lang="en-US" sz="1050" b="1" kern="0" spc="100" dirty="0">
                          <a:solidFill>
                            <a:srgbClr val="E8A33D"/>
                          </a:solidFill>
                          <a:latin typeface="Segoe UI" pitchFamily="34" charset="0"/>
                          <a:ea typeface="Segoe UI" pitchFamily="34" charset="-122"/>
                          <a:cs typeface="Segoe UI" pitchFamily="34" charset="-120"/>
                        </a:rPr>
                        <a:t>WHAT TO DO</a:t>
                      </a:r>
                      <a:endParaRPr lang="en-US" sz="1050" dirty="0">
                        <a:latin typeface="Segoe UI" charset="0"/>
                        <a:ea typeface="Segoe UI" charset="0"/>
                        <a:cs typeface="Segoe UI" charset="0"/>
                      </a:endParaRPr>
                    </a:p>
                  </a:txBody>
                  <a:tcPr marL="88900" marR="88900" marT="50800" marB="508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A2E36"/>
                    </a:solidFill>
                  </a:tcPr>
                </a:tc>
                <a:extLst>
                  <a:ext uri="{0D108BD9-81ED-4DB2-BD59-A6C34878D82A}">
                    <a16:rowId xmlns:a16="http://schemas.microsoft.com/office/drawing/2014/main" val="10000"/>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Server refuses to start</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Its three ports are not all distinct</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Give each of 5600/5601/5602 a different value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1"/>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“log server down”, history fine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The collector is stopped or unreachable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Start it; check the host and that 5601/5602 are reachable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2"/>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“log.db unavailable”, tail fine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The bridge cannot open the file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Compare the path in Health with where the server writes</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3"/>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Every view empty, no error</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Reading a different, valid database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Check the resolved paths logged at startup</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4"/>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Live tail stopped after scrolling</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Expected — scrolling pauses the tail</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Click the “new rows — jump to top” banner</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5"/>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“Diagnostics unavailable”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pm-log-cli is not on PATH for the bridge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Set LOG_CLI_COMMAND, or run the bridge where it is installed</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6"/>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Acks vanish after a restart</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The ack store is on ephemeral storage</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Mount a persistent volume — it is the only state you own</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202329"/>
                    </a:solidFill>
                  </a:tcPr>
                </a:tc>
                <a:extLst>
                  <a:ext uri="{0D108BD9-81ED-4DB2-BD59-A6C34878D82A}">
                    <a16:rowId xmlns:a16="http://schemas.microsoft.com/office/drawing/2014/main" val="10007"/>
                  </a:ext>
                </a:extLst>
              </a:tr>
              <a:tr h="361188">
                <a:tc>
                  <a:txBody>
                    <a:bodyPr/>
                    <a:lstStyle/>
                    <a:p>
                      <a:pPr marL="0" indent="0" algn="l">
                        <a:buNone/>
                      </a:pPr>
                      <a:r>
                        <a:rPr lang="en-US" sz="1000" dirty="0">
                          <a:solidFill>
                            <a:srgbClr val="EDEEF1"/>
                          </a:solidFill>
                          <a:latin typeface="Segoe UI" pitchFamily="34" charset="0"/>
                          <a:ea typeface="Segoe UI" pitchFamily="34" charset="-122"/>
                          <a:cs typeface="Segoe UI" pitchFamily="34" charset="-120"/>
                        </a:rPr>
                        <a:t>An export looks complete but is short</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The export row cap was reached</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tc>
                  <a:txBody>
                    <a:bodyPr/>
                    <a:lstStyle/>
                    <a:p>
                      <a:pPr marL="0" indent="0" algn="l">
                        <a:buNone/>
                      </a:pPr>
                      <a:r>
                        <a:rPr lang="en-US" sz="1000" dirty="0">
                          <a:solidFill>
                            <a:srgbClr val="A3A9B4"/>
                          </a:solidFill>
                          <a:latin typeface="Segoe UI" pitchFamily="34" charset="0"/>
                          <a:ea typeface="Segoe UI" pitchFamily="34" charset="-122"/>
                          <a:cs typeface="Segoe UI" pitchFamily="34" charset="-120"/>
                        </a:rPr>
                        <a:t>Check the truncation header; narrow the filter or use the CLI</a:t>
                      </a:r>
                      <a:endParaRPr lang="en-US" sz="1000" dirty="0">
                        <a:latin typeface="Segoe UI" charset="0"/>
                        <a:ea typeface="Segoe UI" charset="0"/>
                        <a:cs typeface="Segoe UI" charset="0"/>
                      </a:endParaRPr>
                    </a:p>
                  </a:txBody>
                  <a:tcPr marL="88900" marR="88900" marT="38100" marB="38100" anchor="ctr">
                    <a:lnL w="6350" cap="flat" cmpd="sng" algn="ctr">
                      <a:solidFill>
                        <a:srgbClr val="343941"/>
                      </a:solidFill>
                      <a:prstDash val="solid"/>
                      <a:round/>
                      <a:headEnd type="none" w="med" len="med"/>
                      <a:tailEnd type="none" w="med" len="med"/>
                    </a:lnL>
                    <a:lnR w="6350" cap="flat" cmpd="sng" algn="ctr">
                      <a:solidFill>
                        <a:srgbClr val="343941"/>
                      </a:solidFill>
                      <a:prstDash val="solid"/>
                      <a:round/>
                      <a:headEnd type="none" w="med" len="med"/>
                      <a:tailEnd type="none" w="med" len="med"/>
                    </a:lnR>
                    <a:lnT w="6350" cap="flat" cmpd="sng" algn="ctr">
                      <a:solidFill>
                        <a:srgbClr val="343941"/>
                      </a:solidFill>
                      <a:prstDash val="solid"/>
                      <a:round/>
                      <a:headEnd type="none" w="med" len="med"/>
                      <a:tailEnd type="none" w="med" len="med"/>
                    </a:lnT>
                    <a:lnB w="6350" cap="flat" cmpd="sng" algn="ctr">
                      <a:solidFill>
                        <a:srgbClr val="343941"/>
                      </a:solidFill>
                      <a:prstDash val="solid"/>
                      <a:round/>
                      <a:headEnd type="none" w="med" len="med"/>
                      <a:tailEnd type="none" w="med" len="med"/>
                    </a:lnB>
                    <a:solidFill>
                      <a:srgbClr val="1B1E2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01216"/>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68580"/>
          </a:xfrm>
          <a:prstGeom prst="rect">
            <a:avLst/>
          </a:prstGeom>
          <a:solidFill>
            <a:srgbClr val="E8A33D"/>
          </a:solidFill>
          <a:ln w="12700">
            <a:solidFill>
              <a:srgbClr val="333333"/>
            </a:solidFill>
            <a:prstDash val="solid"/>
          </a:ln>
        </p:spPr>
        <p:txBody>
          <a:bodyPr/>
          <a:lstStyle/>
          <a:p>
            <a:endParaRPr lang="en-SE"/>
          </a:p>
        </p:txBody>
      </p:sp>
      <p:sp>
        <p:nvSpPr>
          <p:cNvPr id="3" name="title rule">
            <a:extLst>
              <a:ext uri="{C183D7F6-B498-43B3-948B-1728B52AA6E4}">
                <adec:decorative xmlns:adec="http://schemas.microsoft.com/office/drawing/2017/decorative" val="1"/>
              </a:ext>
            </a:extLst>
          </p:cNvPr>
          <p:cNvSpPr/>
          <p:nvPr/>
        </p:nvSpPr>
        <p:spPr>
          <a:xfrm>
            <a:off x="566928" y="1060704"/>
            <a:ext cx="8010144" cy="10973"/>
          </a:xfrm>
          <a:prstGeom prst="rect">
            <a:avLst/>
          </a:prstGeom>
          <a:solidFill>
            <a:srgbClr val="343941"/>
          </a:solidFill>
          <a:ln w="12700">
            <a:solidFill>
              <a:srgbClr val="333333"/>
            </a:solidFill>
            <a:prstDash val="solid"/>
          </a:ln>
        </p:spPr>
        <p:txBody>
          <a:bodyPr/>
          <a:lstStyle/>
          <a:p>
            <a:endParaRPr lang="en-SE"/>
          </a:p>
        </p:txBody>
      </p:sp>
      <p:sp>
        <p:nvSpPr>
          <p:cNvPr id="4" name="Text 2"/>
          <p:cNvSpPr/>
          <p:nvPr/>
        </p:nvSpPr>
        <p:spPr>
          <a:xfrm>
            <a:off x="566928" y="173736"/>
            <a:ext cx="5943600" cy="274320"/>
          </a:xfrm>
          <a:prstGeom prst="rect">
            <a:avLst/>
          </a:prstGeom>
          <a:noFill/>
          <a:ln/>
        </p:spPr>
        <p:txBody>
          <a:bodyPr wrap="square" lIns="0" tIns="0" rIns="0" bIns="0" rtlCol="0" anchor="ctr"/>
          <a:lstStyle/>
          <a:p>
            <a:pPr marL="0" indent="0">
              <a:buNone/>
            </a:pPr>
            <a:r>
              <a:rPr lang="en-US" sz="950" b="1" kern="0" spc="240" dirty="0">
                <a:solidFill>
                  <a:srgbClr val="E8A33D"/>
                </a:solidFill>
                <a:latin typeface="Segoe UI" pitchFamily="34" charset="0"/>
                <a:ea typeface="Segoe UI" pitchFamily="34" charset="-122"/>
                <a:cs typeface="Segoe UI" pitchFamily="34" charset="-120"/>
              </a:rPr>
              <a:t>IN CLOSING</a:t>
            </a:r>
            <a:endParaRPr lang="en-US" sz="950" dirty="0"/>
          </a:p>
        </p:txBody>
      </p:sp>
      <p:sp>
        <p:nvSpPr>
          <p:cNvPr id="5" name="Text 3"/>
          <p:cNvSpPr/>
          <p:nvPr/>
        </p:nvSpPr>
        <p:spPr>
          <a:xfrm>
            <a:off x="7845552" y="173736"/>
            <a:ext cx="731520" cy="274320"/>
          </a:xfrm>
          <a:prstGeom prst="rect">
            <a:avLst/>
          </a:prstGeom>
          <a:noFill/>
          <a:ln/>
        </p:spPr>
        <p:txBody>
          <a:bodyPr wrap="square" lIns="0" tIns="0" rIns="0" bIns="0" rtlCol="0" anchor="ctr"/>
          <a:lstStyle/>
          <a:p>
            <a:pPr marL="0" indent="0" algn="r">
              <a:buNone/>
            </a:pPr>
            <a:r>
              <a:rPr lang="en-US" sz="950" dirty="0">
                <a:solidFill>
                  <a:srgbClr val="747B87"/>
                </a:solidFill>
                <a:latin typeface="Consolas" pitchFamily="34" charset="0"/>
                <a:ea typeface="Consolas" pitchFamily="34" charset="-122"/>
                <a:cs typeface="Consolas" pitchFamily="34" charset="-120"/>
              </a:rPr>
              <a:t>48</a:t>
            </a:r>
            <a:endParaRPr lang="en-US" sz="950" dirty="0"/>
          </a:p>
        </p:txBody>
      </p:sp>
      <p:sp>
        <p:nvSpPr>
          <p:cNvPr id="6" name="Text 0"/>
          <p:cNvSpPr>
            <a:spLocks noGrp="1"/>
          </p:cNvSpPr>
          <p:nvPr>
            <p:ph type="title" idx="100" hasCustomPrompt="1"/>
          </p:nvPr>
        </p:nvSpPr>
        <p:spPr>
          <a:xfrm>
            <a:off x="566928" y="475488"/>
            <a:ext cx="8010144" cy="566928"/>
          </a:xfrm>
          <a:prstGeom prst="rect">
            <a:avLst/>
          </a:prstGeom>
          <a:noFill/>
          <a:ln/>
        </p:spPr>
        <p:txBody>
          <a:bodyPr wrap="square" lIns="0" tIns="0" rIns="0" bIns="0" rtlCol="0" anchor="b"/>
          <a:lstStyle/>
          <a:p>
            <a:pPr marL="0" indent="0">
              <a:buNone/>
            </a:pPr>
            <a:r>
              <a:rPr lang="en-US" sz="2700" dirty="0">
                <a:solidFill>
                  <a:srgbClr val="EDEEF1"/>
                </a:solidFill>
                <a:latin typeface="Georgia" pitchFamily="34" charset="0"/>
                <a:ea typeface="Georgia" pitchFamily="34" charset="-122"/>
                <a:cs typeface="Georgia" pitchFamily="34" charset="-120"/>
              </a:rPr>
              <a:t>Four habits worth forming</a:t>
            </a:r>
            <a:endParaRPr lang="en-US" sz="2700" dirty="0"/>
          </a:p>
        </p:txBody>
      </p:sp>
      <p:sp>
        <p:nvSpPr>
          <p:cNvPr id="7" name="card background">
            <a:extLst>
              <a:ext uri="{C183D7F6-B498-43B3-948B-1728B52AA6E4}">
                <adec:decorative xmlns:adec="http://schemas.microsoft.com/office/drawing/2017/decorative" val="1"/>
              </a:ext>
            </a:extLst>
          </p:cNvPr>
          <p:cNvSpPr/>
          <p:nvPr/>
        </p:nvSpPr>
        <p:spPr>
          <a:xfrm>
            <a:off x="566928" y="1572768"/>
            <a:ext cx="3877056" cy="129844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8" name="card accent edge">
            <a:extLst>
              <a:ext uri="{C183D7F6-B498-43B3-948B-1728B52AA6E4}">
                <adec:decorative xmlns:adec="http://schemas.microsoft.com/office/drawing/2017/decorative" val="1"/>
              </a:ext>
            </a:extLst>
          </p:cNvPr>
          <p:cNvSpPr/>
          <p:nvPr/>
        </p:nvSpPr>
        <p:spPr>
          <a:xfrm>
            <a:off x="566928" y="1572768"/>
            <a:ext cx="50292" cy="1298448"/>
          </a:xfrm>
          <a:prstGeom prst="rect">
            <a:avLst/>
          </a:prstGeom>
          <a:solidFill>
            <a:srgbClr val="E8A33D"/>
          </a:solidFill>
          <a:ln w="12700">
            <a:solidFill>
              <a:srgbClr val="333333"/>
            </a:solidFill>
            <a:prstDash val="solid"/>
          </a:ln>
        </p:spPr>
        <p:txBody>
          <a:bodyPr/>
          <a:lstStyle/>
          <a:p>
            <a:endParaRPr lang="en-SE"/>
          </a:p>
        </p:txBody>
      </p:sp>
      <p:sp>
        <p:nvSpPr>
          <p:cNvPr id="9" name="Text 7"/>
          <p:cNvSpPr/>
          <p:nvPr/>
        </p:nvSpPr>
        <p:spPr>
          <a:xfrm>
            <a:off x="804672" y="1719072"/>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E8A33D"/>
                </a:solidFill>
                <a:latin typeface="Consolas" pitchFamily="34" charset="0"/>
                <a:ea typeface="Consolas" pitchFamily="34" charset="-122"/>
                <a:cs typeface="Consolas" pitchFamily="34" charset="-120"/>
              </a:rPr>
              <a:t>01</a:t>
            </a:r>
            <a:endParaRPr lang="en-US" sz="1050" dirty="0"/>
          </a:p>
        </p:txBody>
      </p:sp>
      <p:sp>
        <p:nvSpPr>
          <p:cNvPr id="10" name="Text 8"/>
          <p:cNvSpPr/>
          <p:nvPr/>
        </p:nvSpPr>
        <p:spPr>
          <a:xfrm>
            <a:off x="804672" y="2029968"/>
            <a:ext cx="347472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Start the log server first</a:t>
            </a:r>
            <a:endParaRPr lang="en-US" sz="1500" dirty="0"/>
          </a:p>
        </p:txBody>
      </p:sp>
      <p:sp>
        <p:nvSpPr>
          <p:cNvPr id="11" name="Text 9"/>
          <p:cNvSpPr/>
          <p:nvPr/>
        </p:nvSpPr>
        <p:spPr>
          <a:xfrm>
            <a:off x="804672" y="2340864"/>
            <a:ext cx="347472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Before the engine, before the gateways. Everything that starts later joins on its own.</a:t>
            </a:r>
            <a:endParaRPr lang="en-US" sz="1050" dirty="0"/>
          </a:p>
        </p:txBody>
      </p:sp>
      <p:sp>
        <p:nvSpPr>
          <p:cNvPr id="12" name="card background">
            <a:extLst>
              <a:ext uri="{C183D7F6-B498-43B3-948B-1728B52AA6E4}">
                <adec:decorative xmlns:adec="http://schemas.microsoft.com/office/drawing/2017/decorative" val="1"/>
              </a:ext>
            </a:extLst>
          </p:cNvPr>
          <p:cNvSpPr/>
          <p:nvPr/>
        </p:nvSpPr>
        <p:spPr>
          <a:xfrm>
            <a:off x="4700016" y="1572768"/>
            <a:ext cx="3877056" cy="129844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3" name="card accent edge">
            <a:extLst>
              <a:ext uri="{C183D7F6-B498-43B3-948B-1728B52AA6E4}">
                <adec:decorative xmlns:adec="http://schemas.microsoft.com/office/drawing/2017/decorative" val="1"/>
              </a:ext>
            </a:extLst>
          </p:cNvPr>
          <p:cNvSpPr/>
          <p:nvPr/>
        </p:nvSpPr>
        <p:spPr>
          <a:xfrm>
            <a:off x="4700016" y="1572768"/>
            <a:ext cx="50292" cy="1298448"/>
          </a:xfrm>
          <a:prstGeom prst="rect">
            <a:avLst/>
          </a:prstGeom>
          <a:solidFill>
            <a:srgbClr val="5E8CA8"/>
          </a:solidFill>
          <a:ln w="12700">
            <a:solidFill>
              <a:srgbClr val="333333"/>
            </a:solidFill>
            <a:prstDash val="solid"/>
          </a:ln>
        </p:spPr>
        <p:txBody>
          <a:bodyPr/>
          <a:lstStyle/>
          <a:p>
            <a:endParaRPr lang="en-SE"/>
          </a:p>
        </p:txBody>
      </p:sp>
      <p:sp>
        <p:nvSpPr>
          <p:cNvPr id="14" name="Text 12"/>
          <p:cNvSpPr/>
          <p:nvPr/>
        </p:nvSpPr>
        <p:spPr>
          <a:xfrm>
            <a:off x="4937760" y="1719072"/>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5E8CA8"/>
                </a:solidFill>
                <a:latin typeface="Consolas" pitchFamily="34" charset="0"/>
                <a:ea typeface="Consolas" pitchFamily="34" charset="-122"/>
                <a:cs typeface="Consolas" pitchFamily="34" charset="-120"/>
              </a:rPr>
              <a:t>02</a:t>
            </a:r>
            <a:endParaRPr lang="en-US" sz="1050" dirty="0"/>
          </a:p>
        </p:txBody>
      </p:sp>
      <p:sp>
        <p:nvSpPr>
          <p:cNvPr id="15" name="Text 13"/>
          <p:cNvSpPr/>
          <p:nvPr/>
        </p:nvSpPr>
        <p:spPr>
          <a:xfrm>
            <a:off x="4937760" y="2029968"/>
            <a:ext cx="347472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Know your three numbers</a:t>
            </a:r>
            <a:endParaRPr lang="en-US" sz="1500" dirty="0"/>
          </a:p>
        </p:txBody>
      </p:sp>
      <p:sp>
        <p:nvSpPr>
          <p:cNvPr id="16" name="Text 14"/>
          <p:cNvSpPr/>
          <p:nvPr/>
        </p:nvSpPr>
        <p:spPr>
          <a:xfrm>
            <a:off x="4937760" y="2340864"/>
            <a:ext cx="347472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The bind address, the database path, and the retention window. Read them off the startup lines.</a:t>
            </a:r>
            <a:endParaRPr lang="en-US" sz="1050" dirty="0"/>
          </a:p>
        </p:txBody>
      </p:sp>
      <p:sp>
        <p:nvSpPr>
          <p:cNvPr id="17" name="card background">
            <a:extLst>
              <a:ext uri="{C183D7F6-B498-43B3-948B-1728B52AA6E4}">
                <adec:decorative xmlns:adec="http://schemas.microsoft.com/office/drawing/2017/decorative" val="1"/>
              </a:ext>
            </a:extLst>
          </p:cNvPr>
          <p:cNvSpPr/>
          <p:nvPr/>
        </p:nvSpPr>
        <p:spPr>
          <a:xfrm>
            <a:off x="566928" y="3054096"/>
            <a:ext cx="3877056" cy="129844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18" name="card accent edge">
            <a:extLst>
              <a:ext uri="{C183D7F6-B498-43B3-948B-1728B52AA6E4}">
                <adec:decorative xmlns:adec="http://schemas.microsoft.com/office/drawing/2017/decorative" val="1"/>
              </a:ext>
            </a:extLst>
          </p:cNvPr>
          <p:cNvSpPr/>
          <p:nvPr/>
        </p:nvSpPr>
        <p:spPr>
          <a:xfrm>
            <a:off x="566928" y="3054096"/>
            <a:ext cx="50292" cy="1298448"/>
          </a:xfrm>
          <a:prstGeom prst="rect">
            <a:avLst/>
          </a:prstGeom>
          <a:solidFill>
            <a:srgbClr val="8A7EA8"/>
          </a:solidFill>
          <a:ln w="12700">
            <a:solidFill>
              <a:srgbClr val="333333"/>
            </a:solidFill>
            <a:prstDash val="solid"/>
          </a:ln>
        </p:spPr>
        <p:txBody>
          <a:bodyPr/>
          <a:lstStyle/>
          <a:p>
            <a:endParaRPr lang="en-SE"/>
          </a:p>
        </p:txBody>
      </p:sp>
      <p:sp>
        <p:nvSpPr>
          <p:cNvPr id="19" name="Text 17"/>
          <p:cNvSpPr/>
          <p:nvPr/>
        </p:nvSpPr>
        <p:spPr>
          <a:xfrm>
            <a:off x="804672" y="3200400"/>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8A7EA8"/>
                </a:solidFill>
                <a:latin typeface="Consolas" pitchFamily="34" charset="0"/>
                <a:ea typeface="Consolas" pitchFamily="34" charset="-122"/>
                <a:cs typeface="Consolas" pitchFamily="34" charset="-120"/>
              </a:rPr>
              <a:t>03</a:t>
            </a:r>
            <a:endParaRPr lang="en-US" sz="1050" dirty="0"/>
          </a:p>
        </p:txBody>
      </p:sp>
      <p:sp>
        <p:nvSpPr>
          <p:cNvPr id="20" name="Text 18"/>
          <p:cNvSpPr/>
          <p:nvPr/>
        </p:nvSpPr>
        <p:spPr>
          <a:xfrm>
            <a:off x="804672" y="3511296"/>
            <a:ext cx="347472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Filter before you scroll</a:t>
            </a:r>
            <a:endParaRPr lang="en-US" sz="1500" dirty="0"/>
          </a:p>
        </p:txBody>
      </p:sp>
      <p:sp>
        <p:nvSpPr>
          <p:cNvPr id="21" name="Text 19"/>
          <p:cNvSpPr/>
          <p:nvPr/>
        </p:nvSpPr>
        <p:spPr>
          <a:xfrm>
            <a:off x="804672" y="3822192"/>
            <a:ext cx="347472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Level first, then process, then text. A whole-system search at DEBUG helps nobody.</a:t>
            </a:r>
            <a:endParaRPr lang="en-US" sz="1050" dirty="0"/>
          </a:p>
        </p:txBody>
      </p:sp>
      <p:sp>
        <p:nvSpPr>
          <p:cNvPr id="22" name="card background">
            <a:extLst>
              <a:ext uri="{C183D7F6-B498-43B3-948B-1728B52AA6E4}">
                <adec:decorative xmlns:adec="http://schemas.microsoft.com/office/drawing/2017/decorative" val="1"/>
              </a:ext>
            </a:extLst>
          </p:cNvPr>
          <p:cNvSpPr/>
          <p:nvPr/>
        </p:nvSpPr>
        <p:spPr>
          <a:xfrm>
            <a:off x="4700016" y="3054096"/>
            <a:ext cx="3877056" cy="1298448"/>
          </a:xfrm>
          <a:prstGeom prst="rect">
            <a:avLst/>
          </a:prstGeom>
          <a:solidFill>
            <a:srgbClr val="212429"/>
          </a:solidFill>
          <a:ln w="12700">
            <a:solidFill>
              <a:srgbClr val="343941"/>
            </a:solidFill>
            <a:prstDash val="solid"/>
          </a:ln>
          <a:effectLst>
            <a:outerShdw blurRad="152400" dist="38100" dir="5400000" algn="bl" rotWithShape="0">
              <a:srgbClr val="000000">
                <a:alpha val="35000"/>
              </a:srgbClr>
            </a:outerShdw>
          </a:effectLst>
        </p:spPr>
        <p:txBody>
          <a:bodyPr/>
          <a:lstStyle/>
          <a:p>
            <a:endParaRPr lang="en-SE"/>
          </a:p>
        </p:txBody>
      </p:sp>
      <p:sp>
        <p:nvSpPr>
          <p:cNvPr id="23" name="card accent edge">
            <a:extLst>
              <a:ext uri="{C183D7F6-B498-43B3-948B-1728B52AA6E4}">
                <adec:decorative xmlns:adec="http://schemas.microsoft.com/office/drawing/2017/decorative" val="1"/>
              </a:ext>
            </a:extLst>
          </p:cNvPr>
          <p:cNvSpPr/>
          <p:nvPr/>
        </p:nvSpPr>
        <p:spPr>
          <a:xfrm>
            <a:off x="4700016" y="3054096"/>
            <a:ext cx="50292" cy="1298448"/>
          </a:xfrm>
          <a:prstGeom prst="rect">
            <a:avLst/>
          </a:prstGeom>
          <a:solidFill>
            <a:srgbClr val="6FA88A"/>
          </a:solidFill>
          <a:ln w="12700">
            <a:solidFill>
              <a:srgbClr val="333333"/>
            </a:solidFill>
            <a:prstDash val="solid"/>
          </a:ln>
        </p:spPr>
        <p:txBody>
          <a:bodyPr/>
          <a:lstStyle/>
          <a:p>
            <a:endParaRPr lang="en-SE"/>
          </a:p>
        </p:txBody>
      </p:sp>
      <p:sp>
        <p:nvSpPr>
          <p:cNvPr id="24" name="Text 22"/>
          <p:cNvSpPr/>
          <p:nvPr/>
        </p:nvSpPr>
        <p:spPr>
          <a:xfrm>
            <a:off x="4937760" y="3200400"/>
            <a:ext cx="548640" cy="256032"/>
          </a:xfrm>
          <a:prstGeom prst="rect">
            <a:avLst/>
          </a:prstGeom>
          <a:noFill/>
          <a:ln/>
        </p:spPr>
        <p:txBody>
          <a:bodyPr wrap="square" lIns="0" tIns="0" rIns="0" bIns="0" rtlCol="0" anchor="ctr"/>
          <a:lstStyle/>
          <a:p>
            <a:pPr marL="0" indent="0" algn="l">
              <a:lnSpc>
                <a:spcPts val="1500"/>
              </a:lnSpc>
              <a:buNone/>
            </a:pPr>
            <a:r>
              <a:rPr lang="en-US" sz="1050" dirty="0">
                <a:solidFill>
                  <a:srgbClr val="6FA88A"/>
                </a:solidFill>
                <a:latin typeface="Consolas" pitchFamily="34" charset="0"/>
                <a:ea typeface="Consolas" pitchFamily="34" charset="-122"/>
                <a:cs typeface="Consolas" pitchFamily="34" charset="-120"/>
              </a:rPr>
              <a:t>04</a:t>
            </a:r>
            <a:endParaRPr lang="en-US" sz="1050" dirty="0"/>
          </a:p>
        </p:txBody>
      </p:sp>
      <p:sp>
        <p:nvSpPr>
          <p:cNvPr id="25" name="Text 23"/>
          <p:cNvSpPr/>
          <p:nvPr/>
        </p:nvSpPr>
        <p:spPr>
          <a:xfrm>
            <a:off x="4937760" y="3511296"/>
            <a:ext cx="3474720" cy="292608"/>
          </a:xfrm>
          <a:prstGeom prst="rect">
            <a:avLst/>
          </a:prstGeom>
          <a:noFill/>
          <a:ln/>
        </p:spPr>
        <p:txBody>
          <a:bodyPr wrap="square" lIns="0" tIns="0" rIns="0" bIns="0" rtlCol="0" anchor="ctr"/>
          <a:lstStyle/>
          <a:p>
            <a:pPr marL="0" indent="0" algn="l">
              <a:buNone/>
            </a:pPr>
            <a:r>
              <a:rPr lang="en-US" sz="1500" b="1" dirty="0">
                <a:solidFill>
                  <a:srgbClr val="EDEEF1"/>
                </a:solidFill>
                <a:latin typeface="Georgia" pitchFamily="34" charset="0"/>
                <a:ea typeface="Georgia" pitchFamily="34" charset="-122"/>
                <a:cs typeface="Georgia" pitchFamily="34" charset="-120"/>
              </a:rPr>
              <a:t>Acknowledge with a note</a:t>
            </a:r>
            <a:endParaRPr lang="en-US" sz="1500" dirty="0"/>
          </a:p>
        </p:txBody>
      </p:sp>
      <p:sp>
        <p:nvSpPr>
          <p:cNvPr id="26" name="Text 24"/>
          <p:cNvSpPr/>
          <p:nvPr/>
        </p:nvSpPr>
        <p:spPr>
          <a:xfrm>
            <a:off x="4937760" y="3822192"/>
            <a:ext cx="3474720" cy="457200"/>
          </a:xfrm>
          <a:prstGeom prst="rect">
            <a:avLst/>
          </a:prstGeom>
          <a:noFill/>
          <a:ln/>
        </p:spPr>
        <p:txBody>
          <a:bodyPr wrap="square" lIns="0" tIns="0" rIns="0" bIns="0" rtlCol="0" anchor="t"/>
          <a:lstStyle/>
          <a:p>
            <a:pPr marL="0" indent="0" algn="l">
              <a:lnSpc>
                <a:spcPts val="1491"/>
              </a:lnSpc>
              <a:buNone/>
            </a:pPr>
            <a:r>
              <a:rPr lang="en-US" sz="1050" dirty="0">
                <a:solidFill>
                  <a:srgbClr val="A3A9B4"/>
                </a:solidFill>
                <a:latin typeface="Segoe UI" pitchFamily="34" charset="0"/>
                <a:ea typeface="Segoe UI" pitchFamily="34" charset="-122"/>
                <a:cs typeface="Segoe UI" pitchFamily="34" charset="-120"/>
              </a:rPr>
              <a:t>An acknowledgement is a message to your colleagues, not a way to hide a red badge.</a:t>
            </a:r>
            <a:endParaRPr lang="en-US" sz="1050" dirty="0"/>
          </a:p>
        </p:txBody>
      </p:sp>
      <p:sp>
        <p:nvSpPr>
          <p:cNvPr id="27" name="Text 25"/>
          <p:cNvSpPr/>
          <p:nvPr/>
        </p:nvSpPr>
        <p:spPr>
          <a:xfrm>
            <a:off x="566928" y="4590288"/>
            <a:ext cx="8010144" cy="329184"/>
          </a:xfrm>
          <a:prstGeom prst="rect">
            <a:avLst/>
          </a:prstGeom>
          <a:noFill/>
          <a:ln/>
        </p:spPr>
        <p:txBody>
          <a:bodyPr wrap="square" lIns="0" tIns="0" rIns="0" bIns="0" rtlCol="0" anchor="t"/>
          <a:lstStyle/>
          <a:p>
            <a:pPr marL="0" indent="0" algn="ctr">
              <a:lnSpc>
                <a:spcPts val="1562"/>
              </a:lnSpc>
              <a:buNone/>
            </a:pPr>
            <a:r>
              <a:rPr lang="en-US" sz="1400" i="1" dirty="0">
                <a:solidFill>
                  <a:srgbClr val="F6C978"/>
                </a:solidFill>
                <a:latin typeface="Segoe UI" pitchFamily="34" charset="0"/>
                <a:ea typeface="Segoe UI" pitchFamily="34" charset="-122"/>
                <a:cs typeface="Segoe UI" pitchFamily="34" charset="-120"/>
              </a:rPr>
              <a:t>Logging is only worth what it is worth on your worst day. Everything above is preparation for that day.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6717</Words>
  <Application>Microsoft Macintosh PowerPoint</Application>
  <PresentationFormat>On-screen Show (16:9)</PresentationFormat>
  <Paragraphs>965</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Consolas</vt:lpstr>
      <vt:lpstr>Georgia</vt:lpstr>
      <vt:lpstr>Segoe UI</vt:lpstr>
      <vt:lpstr>Office Theme</vt:lpstr>
      <vt:lpstr>Observability, Logging and the Log Server</vt:lpstr>
      <vt:lpstr>Why observability matters</vt:lpstr>
      <vt:lpstr>Observability is being able to answer questions you didn't plan for</vt:lpstr>
      <vt:lpstr>The same incident, with and without logging</vt:lpstr>
      <vt:lpstr>Post-mortem: reconstructing a lost minute</vt:lpstr>
      <vt:lpstr>The problem a central collector actually solves</vt:lpstr>
      <vt:lpstr>Three ways to log</vt:lpstr>
      <vt:lpstr>Every process can log to three different places</vt:lpstr>
      <vt:lpstr>Terminal and file logging: what they are good for</vt:lpstr>
      <vt:lpstr>What the central log server adds on top</vt:lpstr>
      <vt:lpstr>Log levels: the dial that decides how much you see</vt:lpstr>
      <vt:lpstr>How logs are stored</vt:lpstr>
      <vt:lpstr>log.db — one SQLite file, not a pile of rotated text</vt:lpstr>
      <vt:lpstr>Anatomy of a single log record</vt:lpstr>
      <vt:lpstr>Where the database lives, and how long rows stay</vt:lpstr>
      <vt:lpstr>Bringing the system up</vt:lpstr>
      <vt:lpstr>Starting the log server</vt:lpstr>
      <vt:lpstr>One process, three ports -  and they are not interchangeable</vt:lpstr>
      <vt:lpstr>The flags worth knowing - and why each one exists</vt:lpstr>
      <vt:lpstr>Start the log server first. Everything else gets easier.</vt:lpstr>
      <vt:lpstr>Nothing breaks if the collector is missing - you just lose the evidence</vt:lpstr>
      <vt:lpstr>The Log Operator Console</vt:lpstr>
      <vt:lpstr>Where the console sits in the chain</vt:lpstr>
      <vt:lpstr>Two sources that fail independently - and are reported separately</vt:lpstr>
      <vt:lpstr>Starting the console - three routes</vt:lpstr>
      <vt:lpstr>The configuration you actually have to get right</vt:lpstr>
      <vt:lpstr>The console at a glance</vt:lpstr>
      <vt:lpstr>The Dashboard, readable from across the room</vt:lpstr>
      <vt:lpstr>Six views, six different questions</vt:lpstr>
      <vt:lpstr>Reading the error-rate meter</vt:lpstr>
      <vt:lpstr>The Logs explorer: live tail and historical search</vt:lpstr>
      <vt:lpstr>Alerts: where the console earns its keep</vt:lpstr>
      <vt:lpstr>Processes, Diagnostics and Health</vt:lpstr>
      <vt:lpstr>The LALF protocol</vt:lpstr>
      <vt:lpstr>Why a purpose-built protocol at all?</vt:lpstr>
      <vt:lpstr>One session, from HELLO to EXIT</vt:lpstr>
      <vt:lpstr>LALF brings logs in. LALF-PS sends them back out.</vt:lpstr>
      <vt:lpstr>Technical reference</vt:lpstr>
      <vt:lpstr>LALF message catalog</vt:lpstr>
      <vt:lpstr>LOG header fields</vt:lpstr>
      <vt:lpstr>Error codes — and which ones end the session</vt:lpstr>
      <vt:lpstr>Transport, session and limits</vt:lpstr>
      <vt:lpstr>pm-log-cli — the command-line access layer</vt:lpstr>
      <vt:lpstr>The seven diagnose heuristics</vt:lpstr>
      <vt:lpstr>LALF-PS: subscription modes, filters and leases</vt:lpstr>
      <vt:lpstr>Console environment variables</vt:lpstr>
      <vt:lpstr>Troubleshooting, in one table</vt:lpstr>
      <vt:lpstr>Four habits worth forming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2</cp:revision>
  <dcterms:created xsi:type="dcterms:W3CDTF">2026-08-05T05:04:08Z</dcterms:created>
  <dcterms:modified xsi:type="dcterms:W3CDTF">2026-08-05T06:39:51Z</dcterms:modified>
</cp:coreProperties>
</file>