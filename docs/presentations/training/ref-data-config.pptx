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13"/>
    <p:restoredTop sz="94652"/>
  </p:normalViewPr>
  <p:slideViewPr>
    <p:cSldViewPr snapToGrid="0">
      <p:cViewPr>
        <p:scale>
          <a:sx n="150" d="100"/>
          <a:sy n="150" d="100"/>
        </p:scale>
        <p:origin x="-24"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04614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7223760" y="3474720"/>
            <a:ext cx="182880" cy="502920"/>
          </a:xfrm>
          <a:prstGeom prst="rect">
            <a:avLst/>
          </a:prstGeom>
          <a:solidFill>
            <a:srgbClr val="34D6BE"/>
          </a:solidFill>
          <a:ln w="12700">
            <a:solidFill>
              <a:srgbClr val="333333"/>
            </a:solidFill>
            <a:prstDash val="solid"/>
          </a:ln>
        </p:spPr>
        <p:txBody>
          <a:bodyPr/>
          <a:lstStyle/>
          <a:p>
            <a:endParaRPr lang="en-SE"/>
          </a:p>
        </p:txBody>
      </p:sp>
      <p:sp>
        <p:nvSpPr>
          <p:cNvPr id="3" name="Shape 1"/>
          <p:cNvSpPr/>
          <p:nvPr/>
        </p:nvSpPr>
        <p:spPr>
          <a:xfrm>
            <a:off x="7552944" y="3246120"/>
            <a:ext cx="182880" cy="731520"/>
          </a:xfrm>
          <a:prstGeom prst="rect">
            <a:avLst/>
          </a:prstGeom>
          <a:solidFill>
            <a:srgbClr val="252B33"/>
          </a:solidFill>
          <a:ln w="12700">
            <a:solidFill>
              <a:srgbClr val="333333"/>
            </a:solidFill>
            <a:prstDash val="solid"/>
          </a:ln>
        </p:spPr>
        <p:txBody>
          <a:bodyPr/>
          <a:lstStyle/>
          <a:p>
            <a:endParaRPr lang="en-SE"/>
          </a:p>
        </p:txBody>
      </p:sp>
      <p:sp>
        <p:nvSpPr>
          <p:cNvPr id="4" name="Shape 2"/>
          <p:cNvSpPr/>
          <p:nvPr/>
        </p:nvSpPr>
        <p:spPr>
          <a:xfrm>
            <a:off x="7882128" y="3566160"/>
            <a:ext cx="182880" cy="411480"/>
          </a:xfrm>
          <a:prstGeom prst="rect">
            <a:avLst/>
          </a:prstGeom>
          <a:solidFill>
            <a:srgbClr val="252B33"/>
          </a:solidFill>
          <a:ln w="12700">
            <a:solidFill>
              <a:srgbClr val="333333"/>
            </a:solidFill>
            <a:prstDash val="solid"/>
          </a:ln>
        </p:spPr>
        <p:txBody>
          <a:bodyPr/>
          <a:lstStyle/>
          <a:p>
            <a:endParaRPr lang="en-SE"/>
          </a:p>
        </p:txBody>
      </p:sp>
      <p:sp>
        <p:nvSpPr>
          <p:cNvPr id="5" name="Shape 3"/>
          <p:cNvSpPr/>
          <p:nvPr/>
        </p:nvSpPr>
        <p:spPr>
          <a:xfrm>
            <a:off x="8211312" y="2926080"/>
            <a:ext cx="182880" cy="1051560"/>
          </a:xfrm>
          <a:prstGeom prst="rect">
            <a:avLst/>
          </a:prstGeom>
          <a:solidFill>
            <a:srgbClr val="34D6BE"/>
          </a:solidFill>
          <a:ln w="12700">
            <a:solidFill>
              <a:srgbClr val="333333"/>
            </a:solidFill>
            <a:prstDash val="solid"/>
          </a:ln>
        </p:spPr>
        <p:txBody>
          <a:bodyPr/>
          <a:lstStyle/>
          <a:p>
            <a:endParaRPr lang="en-SE"/>
          </a:p>
        </p:txBody>
      </p:sp>
      <p:sp>
        <p:nvSpPr>
          <p:cNvPr id="6" name="Shape 4"/>
          <p:cNvSpPr/>
          <p:nvPr/>
        </p:nvSpPr>
        <p:spPr>
          <a:xfrm>
            <a:off x="8540496" y="3337560"/>
            <a:ext cx="182880" cy="640080"/>
          </a:xfrm>
          <a:prstGeom prst="rect">
            <a:avLst/>
          </a:prstGeom>
          <a:solidFill>
            <a:srgbClr val="252B33"/>
          </a:solidFill>
          <a:ln w="12700">
            <a:solidFill>
              <a:srgbClr val="333333"/>
            </a:solidFill>
            <a:prstDash val="solid"/>
          </a:ln>
        </p:spPr>
        <p:txBody>
          <a:bodyPr/>
          <a:lstStyle/>
          <a:p>
            <a:endParaRPr lang="en-SE"/>
          </a:p>
        </p:txBody>
      </p:sp>
      <p:sp>
        <p:nvSpPr>
          <p:cNvPr id="7" name="Shape 5"/>
          <p:cNvSpPr/>
          <p:nvPr/>
        </p:nvSpPr>
        <p:spPr>
          <a:xfrm>
            <a:off x="8869680" y="2606040"/>
            <a:ext cx="182880" cy="1371600"/>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9198864" y="3108960"/>
            <a:ext cx="182880" cy="868680"/>
          </a:xfrm>
          <a:prstGeom prst="rect">
            <a:avLst/>
          </a:prstGeom>
          <a:solidFill>
            <a:srgbClr val="34D6BE"/>
          </a:solidFill>
          <a:ln w="12700">
            <a:solidFill>
              <a:srgbClr val="333333"/>
            </a:solidFill>
            <a:prstDash val="solid"/>
          </a:ln>
        </p:spPr>
        <p:txBody>
          <a:bodyPr/>
          <a:lstStyle/>
          <a:p>
            <a:endParaRPr lang="en-SE"/>
          </a:p>
        </p:txBody>
      </p:sp>
      <p:sp>
        <p:nvSpPr>
          <p:cNvPr id="9" name="Shape 7"/>
          <p:cNvSpPr/>
          <p:nvPr/>
        </p:nvSpPr>
        <p:spPr>
          <a:xfrm>
            <a:off x="9528048" y="2331720"/>
            <a:ext cx="182880" cy="1645920"/>
          </a:xfrm>
          <a:prstGeom prst="rect">
            <a:avLst/>
          </a:prstGeom>
          <a:solidFill>
            <a:srgbClr val="252B33"/>
          </a:solidFill>
          <a:ln w="12700">
            <a:solidFill>
              <a:srgbClr val="333333"/>
            </a:solidFill>
            <a:prstDash val="solid"/>
          </a:ln>
        </p:spPr>
        <p:txBody>
          <a:bodyPr/>
          <a:lstStyle/>
          <a:p>
            <a:endParaRPr lang="en-SE"/>
          </a:p>
        </p:txBody>
      </p:sp>
      <p:sp>
        <p:nvSpPr>
          <p:cNvPr id="10" name="Shape 8"/>
          <p:cNvSpPr/>
          <p:nvPr/>
        </p:nvSpPr>
        <p:spPr>
          <a:xfrm>
            <a:off x="9857232" y="2834640"/>
            <a:ext cx="182880" cy="1143000"/>
          </a:xfrm>
          <a:prstGeom prst="rect">
            <a:avLst/>
          </a:prstGeom>
          <a:solidFill>
            <a:srgbClr val="252B33"/>
          </a:solidFill>
          <a:ln w="12700">
            <a:solidFill>
              <a:srgbClr val="333333"/>
            </a:solidFill>
            <a:prstDash val="solid"/>
          </a:ln>
        </p:spPr>
        <p:txBody>
          <a:bodyPr/>
          <a:lstStyle/>
          <a:p>
            <a:endParaRPr lang="en-SE"/>
          </a:p>
        </p:txBody>
      </p:sp>
      <p:sp>
        <p:nvSpPr>
          <p:cNvPr id="11" name="Shape 9"/>
          <p:cNvSpPr/>
          <p:nvPr/>
        </p:nvSpPr>
        <p:spPr>
          <a:xfrm>
            <a:off x="10186416" y="2057400"/>
            <a:ext cx="182880" cy="1920240"/>
          </a:xfrm>
          <a:prstGeom prst="rect">
            <a:avLst/>
          </a:prstGeom>
          <a:solidFill>
            <a:srgbClr val="34D6BE"/>
          </a:solidFill>
          <a:ln w="12700">
            <a:solidFill>
              <a:srgbClr val="333333"/>
            </a:solidFill>
            <a:prstDash val="solid"/>
          </a:ln>
        </p:spPr>
        <p:txBody>
          <a:bodyPr/>
          <a:lstStyle/>
          <a:p>
            <a:endParaRPr lang="en-SE"/>
          </a:p>
        </p:txBody>
      </p:sp>
      <p:sp>
        <p:nvSpPr>
          <p:cNvPr id="12" name="Shape 10"/>
          <p:cNvSpPr/>
          <p:nvPr/>
        </p:nvSpPr>
        <p:spPr>
          <a:xfrm>
            <a:off x="10515600" y="2560320"/>
            <a:ext cx="182880" cy="1417320"/>
          </a:xfrm>
          <a:prstGeom prst="rect">
            <a:avLst/>
          </a:prstGeom>
          <a:solidFill>
            <a:srgbClr val="252B33"/>
          </a:solidFill>
          <a:ln w="12700">
            <a:solidFill>
              <a:srgbClr val="333333"/>
            </a:solidFill>
            <a:prstDash val="solid"/>
          </a:ln>
        </p:spPr>
        <p:txBody>
          <a:bodyPr/>
          <a:lstStyle/>
          <a:p>
            <a:endParaRPr lang="en-SE"/>
          </a:p>
        </p:txBody>
      </p:sp>
      <p:sp>
        <p:nvSpPr>
          <p:cNvPr id="13" name="Shape 11"/>
          <p:cNvSpPr/>
          <p:nvPr/>
        </p:nvSpPr>
        <p:spPr>
          <a:xfrm>
            <a:off x="10844784" y="3017520"/>
            <a:ext cx="182880" cy="960120"/>
          </a:xfrm>
          <a:prstGeom prst="rect">
            <a:avLst/>
          </a:prstGeom>
          <a:solidFill>
            <a:srgbClr val="252B33"/>
          </a:solidFill>
          <a:ln w="12700">
            <a:solidFill>
              <a:srgbClr val="333333"/>
            </a:solidFill>
            <a:prstDash val="solid"/>
          </a:ln>
        </p:spPr>
        <p:txBody>
          <a:bodyPr/>
          <a:lstStyle/>
          <a:p>
            <a:endParaRPr lang="en-SE"/>
          </a:p>
        </p:txBody>
      </p:sp>
      <p:sp>
        <p:nvSpPr>
          <p:cNvPr id="14" name="Shape 12"/>
          <p:cNvSpPr/>
          <p:nvPr/>
        </p:nvSpPr>
        <p:spPr>
          <a:xfrm>
            <a:off x="11173968" y="3291840"/>
            <a:ext cx="182880" cy="685800"/>
          </a:xfrm>
          <a:prstGeom prst="rect">
            <a:avLst/>
          </a:prstGeom>
          <a:solidFill>
            <a:srgbClr val="34D6BE"/>
          </a:solidFill>
          <a:ln w="12700">
            <a:solidFill>
              <a:srgbClr val="333333"/>
            </a:solidFill>
            <a:prstDash val="solid"/>
          </a:ln>
        </p:spPr>
        <p:txBody>
          <a:bodyPr/>
          <a:lstStyle/>
          <a:p>
            <a:endParaRPr lang="en-SE"/>
          </a:p>
        </p:txBody>
      </p:sp>
      <p:sp>
        <p:nvSpPr>
          <p:cNvPr id="15" name="Shape 13"/>
          <p:cNvSpPr/>
          <p:nvPr/>
        </p:nvSpPr>
        <p:spPr>
          <a:xfrm>
            <a:off x="11503152" y="2743200"/>
            <a:ext cx="182880" cy="1234440"/>
          </a:xfrm>
          <a:prstGeom prst="rect">
            <a:avLst/>
          </a:prstGeom>
          <a:solidFill>
            <a:srgbClr val="252B33"/>
          </a:solidFill>
          <a:ln w="12700">
            <a:solidFill>
              <a:srgbClr val="333333"/>
            </a:solidFill>
            <a:prstDash val="solid"/>
          </a:ln>
        </p:spPr>
        <p:txBody>
          <a:bodyPr/>
          <a:lstStyle/>
          <a:p>
            <a:endParaRPr lang="en-SE"/>
          </a:p>
        </p:txBody>
      </p:sp>
      <p:sp>
        <p:nvSpPr>
          <p:cNvPr id="16" name="Shape 14"/>
          <p:cNvSpPr/>
          <p:nvPr/>
        </p:nvSpPr>
        <p:spPr>
          <a:xfrm>
            <a:off x="11832336" y="3429000"/>
            <a:ext cx="182880" cy="548640"/>
          </a:xfrm>
          <a:prstGeom prst="rect">
            <a:avLst/>
          </a:prstGeom>
          <a:solidFill>
            <a:srgbClr val="252B33"/>
          </a:solidFill>
          <a:ln w="12700">
            <a:solidFill>
              <a:srgbClr val="333333"/>
            </a:solidFill>
            <a:prstDash val="solid"/>
          </a:ln>
        </p:spPr>
        <p:txBody>
          <a:bodyPr/>
          <a:lstStyle/>
          <a:p>
            <a:endParaRPr lang="en-SE"/>
          </a:p>
        </p:txBody>
      </p:sp>
      <p:sp>
        <p:nvSpPr>
          <p:cNvPr id="17" name="Shape 15"/>
          <p:cNvSpPr/>
          <p:nvPr/>
        </p:nvSpPr>
        <p:spPr>
          <a:xfrm>
            <a:off x="7223760" y="3977640"/>
            <a:ext cx="4297680" cy="18288"/>
          </a:xfrm>
          <a:prstGeom prst="rect">
            <a:avLst/>
          </a:prstGeom>
          <a:solidFill>
            <a:srgbClr val="3B4450"/>
          </a:solidFill>
          <a:ln w="12700">
            <a:solidFill>
              <a:srgbClr val="333333"/>
            </a:solidFill>
            <a:prstDash val="solid"/>
          </a:ln>
        </p:spPr>
        <p:txBody>
          <a:bodyPr/>
          <a:lstStyle/>
          <a:p>
            <a:endParaRPr lang="en-SE"/>
          </a:p>
        </p:txBody>
      </p:sp>
      <p:sp>
        <p:nvSpPr>
          <p:cNvPr id="18" name="Shape 16"/>
          <p:cNvSpPr/>
          <p:nvPr/>
        </p:nvSpPr>
        <p:spPr>
          <a:xfrm>
            <a:off x="640080" y="1737360"/>
            <a:ext cx="457200" cy="82296"/>
          </a:xfrm>
          <a:prstGeom prst="rect">
            <a:avLst/>
          </a:prstGeom>
          <a:solidFill>
            <a:srgbClr val="34D6BE"/>
          </a:solidFill>
          <a:ln w="12700">
            <a:solidFill>
              <a:srgbClr val="333333"/>
            </a:solidFill>
            <a:prstDash val="solid"/>
          </a:ln>
        </p:spPr>
        <p:txBody>
          <a:bodyPr/>
          <a:lstStyle/>
          <a:p>
            <a:endParaRPr lang="en-SE"/>
          </a:p>
        </p:txBody>
      </p:sp>
      <p:sp>
        <p:nvSpPr>
          <p:cNvPr id="19" name="Text 17"/>
          <p:cNvSpPr/>
          <p:nvPr/>
        </p:nvSpPr>
        <p:spPr>
          <a:xfrm>
            <a:off x="640080" y="1965960"/>
            <a:ext cx="6400800" cy="292608"/>
          </a:xfrm>
          <a:prstGeom prst="rect">
            <a:avLst/>
          </a:prstGeom>
          <a:noFill/>
          <a:ln/>
        </p:spPr>
        <p:txBody>
          <a:bodyPr wrap="square" lIns="0" tIns="0" rIns="0" bIns="0" rtlCol="0" anchor="ctr"/>
          <a:lstStyle/>
          <a:p>
            <a:pPr marL="0" indent="0">
              <a:buNone/>
            </a:pPr>
            <a:r>
              <a:rPr lang="en-US" sz="1200" b="1" kern="0" spc="300" dirty="0">
                <a:solidFill>
                  <a:srgbClr val="34D6BE"/>
                </a:solidFill>
                <a:latin typeface="Calibri" pitchFamily="34" charset="0"/>
                <a:ea typeface="Calibri" pitchFamily="34" charset="-122"/>
                <a:cs typeface="Calibri" pitchFamily="34" charset="-120"/>
              </a:rPr>
              <a:t>EDUMATCHER · OPERATOR TRAINING</a:t>
            </a:r>
            <a:endParaRPr lang="en-US" sz="1200" dirty="0"/>
          </a:p>
        </p:txBody>
      </p:sp>
      <p:sp>
        <p:nvSpPr>
          <p:cNvPr id="20" name="Text 18"/>
          <p:cNvSpPr/>
          <p:nvPr/>
        </p:nvSpPr>
        <p:spPr>
          <a:xfrm>
            <a:off x="640080" y="2331720"/>
            <a:ext cx="6583680" cy="1828800"/>
          </a:xfrm>
          <a:prstGeom prst="rect">
            <a:avLst/>
          </a:prstGeom>
          <a:noFill/>
          <a:ln/>
        </p:spPr>
        <p:txBody>
          <a:bodyPr wrap="square" lIns="0" tIns="0" rIns="0" bIns="0" rtlCol="0" anchor="t"/>
          <a:lstStyle/>
          <a:p>
            <a:pPr marL="0" indent="0">
              <a:lnSpc>
                <a:spcPts val="6000"/>
              </a:lnSpc>
              <a:buNone/>
            </a:pPr>
            <a:r>
              <a:rPr lang="en-US" sz="5400" b="1" dirty="0">
                <a:solidFill>
                  <a:srgbClr val="F1F4F8"/>
                </a:solidFill>
                <a:latin typeface="Trebuchet MS" pitchFamily="34" charset="0"/>
                <a:ea typeface="Trebuchet MS" pitchFamily="34" charset="-122"/>
                <a:cs typeface="Trebuchet MS" pitchFamily="34" charset="-120"/>
              </a:rPr>
              <a:t>Configuring a</a:t>
            </a:r>
            <a:endParaRPr lang="en-US" sz="5400" dirty="0"/>
          </a:p>
          <a:p>
            <a:pPr marL="0" indent="0">
              <a:lnSpc>
                <a:spcPts val="6000"/>
              </a:lnSpc>
              <a:buNone/>
            </a:pPr>
            <a:r>
              <a:rPr lang="en-US" sz="5400" b="1" dirty="0">
                <a:solidFill>
                  <a:srgbClr val="F1F4F8"/>
                </a:solidFill>
                <a:latin typeface="Trebuchet MS" pitchFamily="34" charset="0"/>
                <a:ea typeface="Trebuchet MS" pitchFamily="34" charset="-122"/>
                <a:cs typeface="Trebuchet MS" pitchFamily="34" charset="-120"/>
              </a:rPr>
              <a:t>Trading System</a:t>
            </a:r>
            <a:endParaRPr lang="en-US" sz="5400" dirty="0"/>
          </a:p>
        </p:txBody>
      </p:sp>
      <p:sp>
        <p:nvSpPr>
          <p:cNvPr id="21" name="Text 19"/>
          <p:cNvSpPr/>
          <p:nvPr/>
        </p:nvSpPr>
        <p:spPr>
          <a:xfrm>
            <a:off x="640080" y="4297680"/>
            <a:ext cx="6035040" cy="914400"/>
          </a:xfrm>
          <a:prstGeom prst="rect">
            <a:avLst/>
          </a:prstGeom>
          <a:noFill/>
          <a:ln/>
        </p:spPr>
        <p:txBody>
          <a:bodyPr wrap="square" lIns="0" tIns="0" rIns="0" bIns="0" rtlCol="0" anchor="t"/>
          <a:lstStyle/>
          <a:p>
            <a:pPr marL="0" indent="0">
              <a:lnSpc>
                <a:spcPts val="2200"/>
              </a:lnSpc>
              <a:buNone/>
            </a:pPr>
            <a:r>
              <a:rPr lang="en-US" sz="1500" dirty="0">
                <a:solidFill>
                  <a:srgbClr val="8D97A5"/>
                </a:solidFill>
                <a:latin typeface="Calibri" pitchFamily="34" charset="0"/>
                <a:ea typeface="Calibri" pitchFamily="34" charset="-122"/>
                <a:cs typeface="Calibri" pitchFamily="34" charset="-120"/>
              </a:rPr>
              <a:t>From an empty file to a running exchange — what every setting means, why it matters, and how to prove it is correct before anyone trades.</a:t>
            </a:r>
            <a:endParaRPr lang="en-US" sz="1500" dirty="0"/>
          </a:p>
        </p:txBody>
      </p:sp>
      <p:sp>
        <p:nvSpPr>
          <p:cNvPr id="22" name="Shape 20"/>
          <p:cNvSpPr/>
          <p:nvPr/>
        </p:nvSpPr>
        <p:spPr>
          <a:xfrm>
            <a:off x="640080" y="5440680"/>
            <a:ext cx="6035040" cy="10973"/>
          </a:xfrm>
          <a:prstGeom prst="rect">
            <a:avLst/>
          </a:prstGeom>
          <a:solidFill>
            <a:srgbClr val="3B4450"/>
          </a:solidFill>
          <a:ln w="12700">
            <a:solidFill>
              <a:srgbClr val="333333"/>
            </a:solidFill>
            <a:prstDash val="solid"/>
          </a:ln>
        </p:spPr>
        <p:txBody>
          <a:bodyPr/>
          <a:lstStyle/>
          <a:p>
            <a:endParaRPr lang="en-SE"/>
          </a:p>
        </p:txBody>
      </p:sp>
      <p:sp>
        <p:nvSpPr>
          <p:cNvPr id="23" name="Text 21"/>
          <p:cNvSpPr/>
          <p:nvPr/>
        </p:nvSpPr>
        <p:spPr>
          <a:xfrm>
            <a:off x="640080" y="5577840"/>
            <a:ext cx="6035040" cy="31089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beginner's guide for new exchange operators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WHY THIS MATTERS</a:t>
            </a:r>
            <a:endParaRPr lang="en-US" sz="1050" dirty="0"/>
          </a:p>
        </p:txBody>
      </p:sp>
      <p:sp>
        <p:nvSpPr>
          <p:cNvPr id="4" name="Text 2"/>
          <p:cNvSpPr/>
          <p:nvPr/>
        </p:nvSpPr>
        <p:spPr>
          <a:xfrm>
            <a:off x="640080" y="749808"/>
            <a:ext cx="1091153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Configuration is the exchange</a:t>
            </a:r>
            <a:endParaRPr lang="en-US" sz="3000" dirty="0"/>
          </a:p>
        </p:txBody>
      </p:sp>
      <p:sp>
        <p:nvSpPr>
          <p:cNvPr id="5" name="Text 3"/>
          <p:cNvSpPr/>
          <p:nvPr/>
        </p:nvSpPr>
        <p:spPr>
          <a:xfrm>
            <a:off x="640080" y="1417320"/>
            <a:ext cx="6766560" cy="1188720"/>
          </a:xfrm>
          <a:prstGeom prst="rect">
            <a:avLst/>
          </a:prstGeom>
          <a:noFill/>
          <a:ln/>
        </p:spPr>
        <p:txBody>
          <a:bodyPr wrap="square" lIns="0" tIns="0" rIns="0" bIns="0" rtlCol="0" anchor="t"/>
          <a:lstStyle/>
          <a:p>
            <a:pPr marL="0" indent="0">
              <a:lnSpc>
                <a:spcPts val="2300"/>
              </a:lnSpc>
              <a:buNone/>
            </a:pPr>
            <a:r>
              <a:rPr lang="en-US" sz="1500" dirty="0">
                <a:solidFill>
                  <a:srgbClr val="C2CAD4"/>
                </a:solidFill>
                <a:latin typeface="Calibri" pitchFamily="34" charset="0"/>
                <a:ea typeface="Calibri" pitchFamily="34" charset="-122"/>
                <a:cs typeface="Calibri" pitchFamily="34" charset="-120"/>
              </a:rPr>
              <a:t>The matching engine ships with no opinions. Which instruments exist, who may connect, when the market opens, how far a price may move before it is rejected — none of that is in the code. It is all in one file. Change the file and you have changed the exchange.</a:t>
            </a:r>
            <a:endParaRPr lang="en-US" sz="1500" dirty="0"/>
          </a:p>
        </p:txBody>
      </p:sp>
      <p:sp>
        <p:nvSpPr>
          <p:cNvPr id="6" name="Text 4"/>
          <p:cNvSpPr/>
          <p:nvPr/>
        </p:nvSpPr>
        <p:spPr>
          <a:xfrm>
            <a:off x="640080" y="2788920"/>
            <a:ext cx="2743200" cy="749808"/>
          </a:xfrm>
          <a:prstGeom prst="rect">
            <a:avLst/>
          </a:prstGeom>
          <a:noFill/>
          <a:ln/>
        </p:spPr>
        <p:txBody>
          <a:bodyPr wrap="square" lIns="0" tIns="0" rIns="0" bIns="0" rtlCol="0" anchor="ctr"/>
          <a:lstStyle/>
          <a:p>
            <a:pPr marL="0" indent="0" algn="l">
              <a:buNone/>
            </a:pPr>
            <a:r>
              <a:rPr lang="en-US" sz="4600" b="1" dirty="0">
                <a:solidFill>
                  <a:srgbClr val="34D6BE"/>
                </a:solidFill>
                <a:latin typeface="Trebuchet MS" pitchFamily="34" charset="0"/>
                <a:ea typeface="Trebuchet MS" pitchFamily="34" charset="-122"/>
                <a:cs typeface="Trebuchet MS" pitchFamily="34" charset="-120"/>
              </a:rPr>
              <a:t>1</a:t>
            </a:r>
            <a:endParaRPr lang="en-US" sz="4600" dirty="0"/>
          </a:p>
        </p:txBody>
      </p:sp>
      <p:sp>
        <p:nvSpPr>
          <p:cNvPr id="7" name="Text 5"/>
          <p:cNvSpPr/>
          <p:nvPr/>
        </p:nvSpPr>
        <p:spPr>
          <a:xfrm>
            <a:off x="640080" y="3520440"/>
            <a:ext cx="2743200" cy="457200"/>
          </a:xfrm>
          <a:prstGeom prst="rect">
            <a:avLst/>
          </a:prstGeom>
          <a:noFill/>
          <a:ln/>
        </p:spPr>
        <p:txBody>
          <a:bodyPr wrap="square" lIns="0" tIns="0" rIns="0" bIns="0" rtlCol="0" anchor="t"/>
          <a:lstStyle/>
          <a:p>
            <a:pPr marL="0" indent="0">
              <a:buNone/>
            </a:pPr>
            <a:r>
              <a:rPr lang="en-US" sz="1600" dirty="0">
                <a:solidFill>
                  <a:srgbClr val="8D97A5"/>
                </a:solidFill>
                <a:latin typeface="Calibri" pitchFamily="34" charset="0"/>
                <a:ea typeface="Calibri" pitchFamily="34" charset="-122"/>
                <a:cs typeface="Calibri" pitchFamily="34" charset="-120"/>
              </a:rPr>
              <a:t>shared reference-data file</a:t>
            </a:r>
            <a:endParaRPr lang="en-US" sz="1600" dirty="0"/>
          </a:p>
        </p:txBody>
      </p:sp>
      <p:sp>
        <p:nvSpPr>
          <p:cNvPr id="8" name="Text 6"/>
          <p:cNvSpPr/>
          <p:nvPr/>
        </p:nvSpPr>
        <p:spPr>
          <a:xfrm>
            <a:off x="3474720" y="2788920"/>
            <a:ext cx="2743200" cy="749808"/>
          </a:xfrm>
          <a:prstGeom prst="rect">
            <a:avLst/>
          </a:prstGeom>
          <a:noFill/>
          <a:ln/>
        </p:spPr>
        <p:txBody>
          <a:bodyPr wrap="square" lIns="0" tIns="0" rIns="0" bIns="0" rtlCol="0" anchor="ctr"/>
          <a:lstStyle/>
          <a:p>
            <a:pPr marL="0" indent="0" algn="l">
              <a:buNone/>
            </a:pPr>
            <a:r>
              <a:rPr lang="en-US" sz="4600" b="1" dirty="0">
                <a:solidFill>
                  <a:srgbClr val="F3B441"/>
                </a:solidFill>
                <a:latin typeface="Trebuchet MS" pitchFamily="34" charset="0"/>
                <a:ea typeface="Trebuchet MS" pitchFamily="34" charset="-122"/>
                <a:cs typeface="Trebuchet MS" pitchFamily="34" charset="-120"/>
              </a:rPr>
              <a:t>20</a:t>
            </a:r>
            <a:endParaRPr lang="en-US" sz="4600" dirty="0"/>
          </a:p>
        </p:txBody>
      </p:sp>
      <p:sp>
        <p:nvSpPr>
          <p:cNvPr id="9" name="Text 7"/>
          <p:cNvSpPr/>
          <p:nvPr/>
        </p:nvSpPr>
        <p:spPr>
          <a:xfrm>
            <a:off x="3474720" y="3520440"/>
            <a:ext cx="2743200" cy="457200"/>
          </a:xfrm>
          <a:prstGeom prst="rect">
            <a:avLst/>
          </a:prstGeom>
          <a:noFill/>
          <a:ln/>
        </p:spPr>
        <p:txBody>
          <a:bodyPr wrap="square" lIns="0" tIns="0" rIns="0" bIns="0" rtlCol="0" anchor="t"/>
          <a:lstStyle/>
          <a:p>
            <a:pPr marL="0" indent="0">
              <a:buNone/>
            </a:pPr>
            <a:r>
              <a:rPr lang="en-US" sz="1600" dirty="0">
                <a:solidFill>
                  <a:srgbClr val="8D97A5"/>
                </a:solidFill>
                <a:latin typeface="Calibri" pitchFamily="34" charset="0"/>
                <a:ea typeface="Calibri" pitchFamily="34" charset="-122"/>
                <a:cs typeface="Calibri" pitchFamily="34" charset="-120"/>
              </a:rPr>
              <a:t>top-level sections</a:t>
            </a:r>
            <a:endParaRPr lang="en-US" sz="1600" dirty="0"/>
          </a:p>
        </p:txBody>
      </p:sp>
      <p:sp>
        <p:nvSpPr>
          <p:cNvPr id="10" name="Text 8"/>
          <p:cNvSpPr/>
          <p:nvPr/>
        </p:nvSpPr>
        <p:spPr>
          <a:xfrm>
            <a:off x="640080" y="4160520"/>
            <a:ext cx="2743200" cy="749808"/>
          </a:xfrm>
          <a:prstGeom prst="rect">
            <a:avLst/>
          </a:prstGeom>
          <a:noFill/>
          <a:ln/>
        </p:spPr>
        <p:txBody>
          <a:bodyPr wrap="square" lIns="0" tIns="0" rIns="0" bIns="0" rtlCol="0" anchor="ctr"/>
          <a:lstStyle/>
          <a:p>
            <a:pPr marL="0" indent="0" algn="l">
              <a:buNone/>
            </a:pPr>
            <a:r>
              <a:rPr lang="en-US" sz="4600" b="1" dirty="0">
                <a:solidFill>
                  <a:srgbClr val="9B8CFF"/>
                </a:solidFill>
                <a:latin typeface="Trebuchet MS" pitchFamily="34" charset="0"/>
                <a:ea typeface="Trebuchet MS" pitchFamily="34" charset="-122"/>
                <a:cs typeface="Trebuchet MS" pitchFamily="34" charset="-120"/>
              </a:rPr>
              <a:t>2</a:t>
            </a:r>
            <a:endParaRPr lang="en-US" sz="4600" dirty="0"/>
          </a:p>
        </p:txBody>
      </p:sp>
      <p:sp>
        <p:nvSpPr>
          <p:cNvPr id="11" name="Text 9"/>
          <p:cNvSpPr/>
          <p:nvPr/>
        </p:nvSpPr>
        <p:spPr>
          <a:xfrm>
            <a:off x="640080" y="4892040"/>
            <a:ext cx="2743200" cy="457200"/>
          </a:xfrm>
          <a:prstGeom prst="rect">
            <a:avLst/>
          </a:prstGeom>
          <a:noFill/>
          <a:ln/>
        </p:spPr>
        <p:txBody>
          <a:bodyPr wrap="square" lIns="0" tIns="0" rIns="0" bIns="0" rtlCol="0" anchor="t"/>
          <a:lstStyle/>
          <a:p>
            <a:pPr marL="0" indent="0">
              <a:buNone/>
            </a:pPr>
            <a:r>
              <a:rPr lang="en-US" sz="1600" dirty="0">
                <a:solidFill>
                  <a:srgbClr val="8D97A5"/>
                </a:solidFill>
                <a:latin typeface="Calibri" pitchFamily="34" charset="0"/>
                <a:ea typeface="Calibri" pitchFamily="34" charset="-122"/>
                <a:cs typeface="Calibri" pitchFamily="34" charset="-120"/>
              </a:rPr>
              <a:t>sections that are mandatory</a:t>
            </a:r>
            <a:endParaRPr lang="en-US" sz="1600" dirty="0"/>
          </a:p>
        </p:txBody>
      </p:sp>
      <p:sp>
        <p:nvSpPr>
          <p:cNvPr id="12" name="Text 10"/>
          <p:cNvSpPr/>
          <p:nvPr/>
        </p:nvSpPr>
        <p:spPr>
          <a:xfrm>
            <a:off x="3474720" y="4160520"/>
            <a:ext cx="2743200" cy="749808"/>
          </a:xfrm>
          <a:prstGeom prst="rect">
            <a:avLst/>
          </a:prstGeom>
          <a:noFill/>
          <a:ln/>
        </p:spPr>
        <p:txBody>
          <a:bodyPr wrap="square" lIns="0" tIns="0" rIns="0" bIns="0" rtlCol="0" anchor="ctr"/>
          <a:lstStyle/>
          <a:p>
            <a:pPr marL="0" indent="0" algn="l">
              <a:buNone/>
            </a:pPr>
            <a:r>
              <a:rPr lang="en-US" sz="4600" b="1" dirty="0">
                <a:solidFill>
                  <a:srgbClr val="5AB2F7"/>
                </a:solidFill>
                <a:latin typeface="Trebuchet MS" pitchFamily="34" charset="0"/>
                <a:ea typeface="Trebuchet MS" pitchFamily="34" charset="-122"/>
                <a:cs typeface="Trebuchet MS" pitchFamily="34" charset="-120"/>
              </a:rPr>
              <a:t>10</a:t>
            </a:r>
            <a:endParaRPr lang="en-US" sz="4600" dirty="0"/>
          </a:p>
        </p:txBody>
      </p:sp>
      <p:sp>
        <p:nvSpPr>
          <p:cNvPr id="13" name="Text 11"/>
          <p:cNvSpPr/>
          <p:nvPr/>
        </p:nvSpPr>
        <p:spPr>
          <a:xfrm>
            <a:off x="3474720" y="4892040"/>
            <a:ext cx="2743200" cy="457200"/>
          </a:xfrm>
          <a:prstGeom prst="rect">
            <a:avLst/>
          </a:prstGeom>
          <a:noFill/>
          <a:ln/>
        </p:spPr>
        <p:txBody>
          <a:bodyPr wrap="square" lIns="0" tIns="0" rIns="0" bIns="0" rtlCol="0" anchor="t"/>
          <a:lstStyle/>
          <a:p>
            <a:pPr marL="0" indent="0">
              <a:buNone/>
            </a:pPr>
            <a:r>
              <a:rPr lang="en-US" sz="1600" dirty="0">
                <a:solidFill>
                  <a:srgbClr val="8D97A5"/>
                </a:solidFill>
                <a:latin typeface="Calibri" pitchFamily="34" charset="0"/>
                <a:ea typeface="Calibri" pitchFamily="34" charset="-122"/>
                <a:cs typeface="Calibri" pitchFamily="34" charset="-120"/>
              </a:rPr>
              <a:t>processes that read from it</a:t>
            </a:r>
            <a:endParaRPr lang="en-US" sz="1600" dirty="0"/>
          </a:p>
        </p:txBody>
      </p:sp>
      <p:sp>
        <p:nvSpPr>
          <p:cNvPr id="14" name="Shape 12"/>
          <p:cNvSpPr/>
          <p:nvPr/>
        </p:nvSpPr>
        <p:spPr>
          <a:xfrm>
            <a:off x="7726680" y="1371600"/>
            <a:ext cx="3840480" cy="4206240"/>
          </a:xfrm>
          <a:prstGeom prst="roundRect">
            <a:avLst>
              <a:gd name="adj" fmla="val 1429"/>
            </a:avLst>
          </a:prstGeom>
          <a:solidFill>
            <a:srgbClr val="252B33"/>
          </a:solidFill>
          <a:ln w="12700">
            <a:solidFill>
              <a:srgbClr val="3B4450"/>
            </a:solidFill>
            <a:prstDash val="solid"/>
          </a:ln>
        </p:spPr>
        <p:txBody>
          <a:bodyPr/>
          <a:lstStyle/>
          <a:p>
            <a:endParaRPr lang="en-SE"/>
          </a:p>
        </p:txBody>
      </p:sp>
      <p:sp>
        <p:nvSpPr>
          <p:cNvPr id="15" name="Shape 13"/>
          <p:cNvSpPr/>
          <p:nvPr/>
        </p:nvSpPr>
        <p:spPr>
          <a:xfrm>
            <a:off x="7726680" y="1371600"/>
            <a:ext cx="3840480" cy="50292"/>
          </a:xfrm>
          <a:prstGeom prst="rect">
            <a:avLst/>
          </a:prstGeom>
          <a:solidFill>
            <a:srgbClr val="FF7A6B"/>
          </a:solidFill>
          <a:ln w="12700">
            <a:solidFill>
              <a:srgbClr val="333333"/>
            </a:solidFill>
            <a:prstDash val="solid"/>
          </a:ln>
        </p:spPr>
        <p:txBody>
          <a:bodyPr/>
          <a:lstStyle/>
          <a:p>
            <a:endParaRPr lang="en-SE"/>
          </a:p>
        </p:txBody>
      </p:sp>
      <p:sp>
        <p:nvSpPr>
          <p:cNvPr id="16" name="Text 14"/>
          <p:cNvSpPr/>
          <p:nvPr/>
        </p:nvSpPr>
        <p:spPr>
          <a:xfrm>
            <a:off x="7964424" y="1600200"/>
            <a:ext cx="3383280" cy="365760"/>
          </a:xfrm>
          <a:prstGeom prst="rect">
            <a:avLst/>
          </a:prstGeom>
          <a:noFill/>
          <a:ln/>
        </p:spPr>
        <p:txBody>
          <a:bodyPr wrap="square" lIns="0" tIns="0" rIns="0" bIns="0" rtlCol="0" anchor="ctr"/>
          <a:lstStyle/>
          <a:p>
            <a:pPr marL="0" indent="0">
              <a:buNone/>
            </a:pPr>
            <a:r>
              <a:rPr lang="en-US" sz="1700" b="1" dirty="0">
                <a:solidFill>
                  <a:srgbClr val="F1F4F8"/>
                </a:solidFill>
                <a:latin typeface="Trebuchet MS" pitchFamily="34" charset="0"/>
                <a:ea typeface="Trebuchet MS" pitchFamily="34" charset="-122"/>
                <a:cs typeface="Trebuchet MS" pitchFamily="34" charset="-120"/>
              </a:rPr>
              <a:t>The uncomfortable truth</a:t>
            </a:r>
            <a:endParaRPr lang="en-US" sz="1700" dirty="0"/>
          </a:p>
        </p:txBody>
      </p:sp>
      <p:sp>
        <p:nvSpPr>
          <p:cNvPr id="17" name="Shape 15"/>
          <p:cNvSpPr/>
          <p:nvPr/>
        </p:nvSpPr>
        <p:spPr>
          <a:xfrm>
            <a:off x="7964424" y="2185416"/>
            <a:ext cx="82296" cy="82296"/>
          </a:xfrm>
          <a:prstGeom prst="rect">
            <a:avLst/>
          </a:prstGeom>
          <a:solidFill>
            <a:srgbClr val="FF7A6B"/>
          </a:solidFill>
          <a:ln w="12700">
            <a:solidFill>
              <a:srgbClr val="333333"/>
            </a:solidFill>
            <a:prstDash val="solid"/>
          </a:ln>
        </p:spPr>
        <p:txBody>
          <a:bodyPr/>
          <a:lstStyle/>
          <a:p>
            <a:endParaRPr lang="en-SE"/>
          </a:p>
        </p:txBody>
      </p:sp>
      <p:sp>
        <p:nvSpPr>
          <p:cNvPr id="18" name="Text 16"/>
          <p:cNvSpPr/>
          <p:nvPr/>
        </p:nvSpPr>
        <p:spPr>
          <a:xfrm>
            <a:off x="8202168" y="2084832"/>
            <a:ext cx="3145536" cy="82296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Silent.  </a:t>
            </a:r>
            <a:r>
              <a:rPr lang="en-US" sz="1200" dirty="0">
                <a:solidFill>
                  <a:srgbClr val="C2CAD4"/>
                </a:solidFill>
                <a:latin typeface="Calibri" pitchFamily="34" charset="0"/>
                <a:ea typeface="Calibri" pitchFamily="34" charset="-122"/>
                <a:cs typeface="Calibri" pitchFamily="34" charset="-120"/>
              </a:rPr>
              <a:t>A missing config file does not stop the engine — it starts wide open.</a:t>
            </a:r>
            <a:endParaRPr lang="en-US" sz="1200" dirty="0"/>
          </a:p>
        </p:txBody>
      </p:sp>
      <p:sp>
        <p:nvSpPr>
          <p:cNvPr id="19" name="Shape 17"/>
          <p:cNvSpPr/>
          <p:nvPr/>
        </p:nvSpPr>
        <p:spPr>
          <a:xfrm>
            <a:off x="7964424" y="3008376"/>
            <a:ext cx="82296" cy="82296"/>
          </a:xfrm>
          <a:prstGeom prst="rect">
            <a:avLst/>
          </a:prstGeom>
          <a:solidFill>
            <a:srgbClr val="FF7A6B"/>
          </a:solidFill>
          <a:ln w="12700">
            <a:solidFill>
              <a:srgbClr val="333333"/>
            </a:solidFill>
            <a:prstDash val="solid"/>
          </a:ln>
        </p:spPr>
        <p:txBody>
          <a:bodyPr/>
          <a:lstStyle/>
          <a:p>
            <a:endParaRPr lang="en-SE"/>
          </a:p>
        </p:txBody>
      </p:sp>
      <p:sp>
        <p:nvSpPr>
          <p:cNvPr id="20" name="Text 18"/>
          <p:cNvSpPr/>
          <p:nvPr/>
        </p:nvSpPr>
        <p:spPr>
          <a:xfrm>
            <a:off x="8202168" y="2907792"/>
            <a:ext cx="3145536" cy="82296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Partial.  </a:t>
            </a:r>
            <a:r>
              <a:rPr lang="en-US" sz="1200" dirty="0">
                <a:solidFill>
                  <a:srgbClr val="C2CAD4"/>
                </a:solidFill>
                <a:latin typeface="Calibri" pitchFamily="34" charset="0"/>
                <a:ea typeface="Calibri" pitchFamily="34" charset="-122"/>
                <a:cs typeface="Calibri" pitchFamily="34" charset="-120"/>
              </a:rPr>
              <a:t>A typo in one section is invisible to the process that never reads it.</a:t>
            </a:r>
            <a:endParaRPr lang="en-US" sz="1200" dirty="0"/>
          </a:p>
        </p:txBody>
      </p:sp>
      <p:sp>
        <p:nvSpPr>
          <p:cNvPr id="21" name="Shape 19"/>
          <p:cNvSpPr/>
          <p:nvPr/>
        </p:nvSpPr>
        <p:spPr>
          <a:xfrm>
            <a:off x="7964424" y="3831336"/>
            <a:ext cx="82296" cy="82296"/>
          </a:xfrm>
          <a:prstGeom prst="rect">
            <a:avLst/>
          </a:prstGeom>
          <a:solidFill>
            <a:srgbClr val="FF7A6B"/>
          </a:solidFill>
          <a:ln w="12700">
            <a:solidFill>
              <a:srgbClr val="333333"/>
            </a:solidFill>
            <a:prstDash val="solid"/>
          </a:ln>
        </p:spPr>
        <p:txBody>
          <a:bodyPr/>
          <a:lstStyle/>
          <a:p>
            <a:endParaRPr lang="en-SE"/>
          </a:p>
        </p:txBody>
      </p:sp>
      <p:sp>
        <p:nvSpPr>
          <p:cNvPr id="22" name="Text 20"/>
          <p:cNvSpPr/>
          <p:nvPr/>
        </p:nvSpPr>
        <p:spPr>
          <a:xfrm>
            <a:off x="8202168" y="3730752"/>
            <a:ext cx="3145536" cy="82296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Late.  </a:t>
            </a:r>
            <a:r>
              <a:rPr lang="en-US" sz="1200" dirty="0">
                <a:solidFill>
                  <a:srgbClr val="C2CAD4"/>
                </a:solidFill>
                <a:latin typeface="Calibri" pitchFamily="34" charset="0"/>
                <a:ea typeface="Calibri" pitchFamily="34" charset="-122"/>
                <a:cs typeface="Calibri" pitchFamily="34" charset="-120"/>
              </a:rPr>
              <a:t>The loader reports only the first error, then aborts.</a:t>
            </a:r>
            <a:endParaRPr lang="en-US" sz="1200" dirty="0"/>
          </a:p>
        </p:txBody>
      </p:sp>
      <p:sp>
        <p:nvSpPr>
          <p:cNvPr id="23" name="Shape 21"/>
          <p:cNvSpPr/>
          <p:nvPr/>
        </p:nvSpPr>
        <p:spPr>
          <a:xfrm>
            <a:off x="7964424" y="4654296"/>
            <a:ext cx="82296" cy="82296"/>
          </a:xfrm>
          <a:prstGeom prst="rect">
            <a:avLst/>
          </a:prstGeom>
          <a:solidFill>
            <a:srgbClr val="FF7A6B"/>
          </a:solidFill>
          <a:ln w="12700">
            <a:solidFill>
              <a:srgbClr val="333333"/>
            </a:solidFill>
            <a:prstDash val="solid"/>
          </a:ln>
        </p:spPr>
        <p:txBody>
          <a:bodyPr/>
          <a:lstStyle/>
          <a:p>
            <a:endParaRPr lang="en-SE"/>
          </a:p>
        </p:txBody>
      </p:sp>
      <p:sp>
        <p:nvSpPr>
          <p:cNvPr id="24" name="Text 22"/>
          <p:cNvSpPr/>
          <p:nvPr/>
        </p:nvSpPr>
        <p:spPr>
          <a:xfrm>
            <a:off x="8202168" y="4553712"/>
            <a:ext cx="3145536" cy="82296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Costly.  </a:t>
            </a:r>
            <a:r>
              <a:rPr lang="en-US" sz="1200" dirty="0">
                <a:solidFill>
                  <a:srgbClr val="C2CAD4"/>
                </a:solidFill>
                <a:latin typeface="Calibri" pitchFamily="34" charset="0"/>
                <a:ea typeface="Calibri" pitchFamily="34" charset="-122"/>
                <a:cs typeface="Calibri" pitchFamily="34" charset="-120"/>
              </a:rPr>
              <a:t>A wrong tick size or missing collar is discovered by a bad trade.</a:t>
            </a:r>
            <a:endParaRPr lang="en-US" sz="1200" dirty="0"/>
          </a:p>
        </p:txBody>
      </p:sp>
      <p:sp>
        <p:nvSpPr>
          <p:cNvPr id="25" name="Text 2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Introduction</a:t>
            </a:r>
            <a:endParaRPr lang="en-US" sz="950" dirty="0"/>
          </a:p>
        </p:txBody>
      </p:sp>
      <p:sp>
        <p:nvSpPr>
          <p:cNvPr id="26" name="Text 2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ROADMAP</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What this session covers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Nine questions, answered in order. No prior knowledge assumed.</a:t>
            </a:r>
            <a:endParaRPr lang="en-US" sz="1450" dirty="0"/>
          </a:p>
        </p:txBody>
      </p:sp>
      <p:sp>
        <p:nvSpPr>
          <p:cNvPr id="6" name="Shape 4"/>
          <p:cNvSpPr/>
          <p:nvPr/>
        </p:nvSpPr>
        <p:spPr>
          <a:xfrm>
            <a:off x="640080" y="1965960"/>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7" name="Text 5"/>
          <p:cNvSpPr/>
          <p:nvPr/>
        </p:nvSpPr>
        <p:spPr>
          <a:xfrm>
            <a:off x="859536" y="2130552"/>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01</a:t>
            </a:r>
            <a:endParaRPr lang="en-US" sz="2200" dirty="0"/>
          </a:p>
        </p:txBody>
      </p:sp>
      <p:sp>
        <p:nvSpPr>
          <p:cNvPr id="8" name="Text 6"/>
          <p:cNvSpPr/>
          <p:nvPr/>
        </p:nvSpPr>
        <p:spPr>
          <a:xfrm>
            <a:off x="859536" y="2514600"/>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What is configuration?</a:t>
            </a:r>
            <a:endParaRPr lang="en-US" sz="1400" dirty="0"/>
          </a:p>
        </p:txBody>
      </p:sp>
      <p:sp>
        <p:nvSpPr>
          <p:cNvPr id="9" name="Text 7"/>
          <p:cNvSpPr/>
          <p:nvPr/>
        </p:nvSpPr>
        <p:spPr>
          <a:xfrm>
            <a:off x="859536" y="2834640"/>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The mental model</a:t>
            </a:r>
            <a:endParaRPr lang="en-US" sz="1100" dirty="0"/>
          </a:p>
        </p:txBody>
      </p:sp>
      <p:sp>
        <p:nvSpPr>
          <p:cNvPr id="10" name="Shape 8"/>
          <p:cNvSpPr/>
          <p:nvPr/>
        </p:nvSpPr>
        <p:spPr>
          <a:xfrm>
            <a:off x="4277258" y="1965960"/>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11" name="Text 9"/>
          <p:cNvSpPr/>
          <p:nvPr/>
        </p:nvSpPr>
        <p:spPr>
          <a:xfrm>
            <a:off x="4496714" y="2130552"/>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02</a:t>
            </a:r>
            <a:endParaRPr lang="en-US" sz="2200" dirty="0"/>
          </a:p>
        </p:txBody>
      </p:sp>
      <p:sp>
        <p:nvSpPr>
          <p:cNvPr id="12" name="Text 10"/>
          <p:cNvSpPr/>
          <p:nvPr/>
        </p:nvSpPr>
        <p:spPr>
          <a:xfrm>
            <a:off x="4496714" y="2514600"/>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What must be configured</a:t>
            </a:r>
            <a:endParaRPr lang="en-US" sz="1400" dirty="0"/>
          </a:p>
        </p:txBody>
      </p:sp>
      <p:sp>
        <p:nvSpPr>
          <p:cNvPr id="13" name="Text 11"/>
          <p:cNvSpPr/>
          <p:nvPr/>
        </p:nvSpPr>
        <p:spPr>
          <a:xfrm>
            <a:off x="4496714" y="2834640"/>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The category map</a:t>
            </a:r>
            <a:endParaRPr lang="en-US" sz="1100" dirty="0"/>
          </a:p>
        </p:txBody>
      </p:sp>
      <p:sp>
        <p:nvSpPr>
          <p:cNvPr id="14" name="Shape 12"/>
          <p:cNvSpPr/>
          <p:nvPr/>
        </p:nvSpPr>
        <p:spPr>
          <a:xfrm>
            <a:off x="7914437" y="1965960"/>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15" name="Text 13"/>
          <p:cNvSpPr/>
          <p:nvPr/>
        </p:nvSpPr>
        <p:spPr>
          <a:xfrm>
            <a:off x="8133893" y="2130552"/>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03</a:t>
            </a:r>
            <a:endParaRPr lang="en-US" sz="2200" dirty="0"/>
          </a:p>
        </p:txBody>
      </p:sp>
      <p:sp>
        <p:nvSpPr>
          <p:cNvPr id="16" name="Text 14"/>
          <p:cNvSpPr/>
          <p:nvPr/>
        </p:nvSpPr>
        <p:spPr>
          <a:xfrm>
            <a:off x="8133893" y="2514600"/>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How to create it</a:t>
            </a:r>
            <a:endParaRPr lang="en-US" sz="1400" dirty="0"/>
          </a:p>
        </p:txBody>
      </p:sp>
      <p:sp>
        <p:nvSpPr>
          <p:cNvPr id="17" name="Text 15"/>
          <p:cNvSpPr/>
          <p:nvPr/>
        </p:nvSpPr>
        <p:spPr>
          <a:xfrm>
            <a:off x="8133893" y="2834640"/>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By hand, CLI, or GUI</a:t>
            </a:r>
            <a:endParaRPr lang="en-US" sz="1100" dirty="0"/>
          </a:p>
        </p:txBody>
      </p:sp>
      <p:sp>
        <p:nvSpPr>
          <p:cNvPr id="18" name="Shape 16"/>
          <p:cNvSpPr/>
          <p:nvPr/>
        </p:nvSpPr>
        <p:spPr>
          <a:xfrm>
            <a:off x="640080" y="3447288"/>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19" name="Text 17"/>
          <p:cNvSpPr/>
          <p:nvPr/>
        </p:nvSpPr>
        <p:spPr>
          <a:xfrm>
            <a:off x="859536" y="3611880"/>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04</a:t>
            </a:r>
            <a:endParaRPr lang="en-US" sz="2200" dirty="0"/>
          </a:p>
        </p:txBody>
      </p:sp>
      <p:sp>
        <p:nvSpPr>
          <p:cNvPr id="20" name="Text 18"/>
          <p:cNvSpPr/>
          <p:nvPr/>
        </p:nvSpPr>
        <p:spPr>
          <a:xfrm>
            <a:off x="859536" y="3995928"/>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How to verify it</a:t>
            </a:r>
            <a:endParaRPr lang="en-US" sz="1400" dirty="0"/>
          </a:p>
        </p:txBody>
      </p:sp>
      <p:sp>
        <p:nvSpPr>
          <p:cNvPr id="21" name="Text 19"/>
          <p:cNvSpPr/>
          <p:nvPr/>
        </p:nvSpPr>
        <p:spPr>
          <a:xfrm>
            <a:off x="859536" y="4315968"/>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pm-cverifier</a:t>
            </a:r>
            <a:endParaRPr lang="en-US" sz="1100" dirty="0"/>
          </a:p>
        </p:txBody>
      </p:sp>
      <p:sp>
        <p:nvSpPr>
          <p:cNvPr id="22" name="Shape 20"/>
          <p:cNvSpPr/>
          <p:nvPr/>
        </p:nvSpPr>
        <p:spPr>
          <a:xfrm>
            <a:off x="4277258" y="3447288"/>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23" name="Text 21"/>
          <p:cNvSpPr/>
          <p:nvPr/>
        </p:nvSpPr>
        <p:spPr>
          <a:xfrm>
            <a:off x="4496714" y="3611880"/>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05</a:t>
            </a:r>
            <a:endParaRPr lang="en-US" sz="2200" dirty="0"/>
          </a:p>
        </p:txBody>
      </p:sp>
      <p:sp>
        <p:nvSpPr>
          <p:cNvPr id="24" name="Text 22"/>
          <p:cNvSpPr/>
          <p:nvPr/>
        </p:nvSpPr>
        <p:spPr>
          <a:xfrm>
            <a:off x="4496714" y="3995928"/>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Why a compiled artifact</a:t>
            </a:r>
            <a:endParaRPr lang="en-US" sz="1400" dirty="0"/>
          </a:p>
        </p:txBody>
      </p:sp>
      <p:sp>
        <p:nvSpPr>
          <p:cNvPr id="25" name="Text 23"/>
          <p:cNvSpPr/>
          <p:nvPr/>
        </p:nvSpPr>
        <p:spPr>
          <a:xfrm>
            <a:off x="4496714" y="4315968"/>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YAML in, JSON out</a:t>
            </a:r>
            <a:endParaRPr lang="en-US" sz="1100" dirty="0"/>
          </a:p>
        </p:txBody>
      </p:sp>
      <p:sp>
        <p:nvSpPr>
          <p:cNvPr id="26" name="Shape 24"/>
          <p:cNvSpPr/>
          <p:nvPr/>
        </p:nvSpPr>
        <p:spPr>
          <a:xfrm>
            <a:off x="7914437" y="3447288"/>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27" name="Text 25"/>
          <p:cNvSpPr/>
          <p:nvPr/>
        </p:nvSpPr>
        <p:spPr>
          <a:xfrm>
            <a:off x="8133893" y="3611880"/>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06</a:t>
            </a:r>
            <a:endParaRPr lang="en-US" sz="2200" dirty="0"/>
          </a:p>
        </p:txBody>
      </p:sp>
      <p:sp>
        <p:nvSpPr>
          <p:cNvPr id="28" name="Text 26"/>
          <p:cNvSpPr/>
          <p:nvPr/>
        </p:nvSpPr>
        <p:spPr>
          <a:xfrm>
            <a:off x="8133893" y="3995928"/>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Every top-level section</a:t>
            </a:r>
            <a:endParaRPr lang="en-US" sz="1400" dirty="0"/>
          </a:p>
        </p:txBody>
      </p:sp>
      <p:sp>
        <p:nvSpPr>
          <p:cNvPr id="29" name="Text 27"/>
          <p:cNvSpPr/>
          <p:nvPr/>
        </p:nvSpPr>
        <p:spPr>
          <a:xfrm>
            <a:off x="8133893" y="4315968"/>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Field by field</a:t>
            </a:r>
            <a:endParaRPr lang="en-US" sz="1100" dirty="0"/>
          </a:p>
        </p:txBody>
      </p:sp>
      <p:sp>
        <p:nvSpPr>
          <p:cNvPr id="30" name="Shape 28"/>
          <p:cNvSpPr/>
          <p:nvPr/>
        </p:nvSpPr>
        <p:spPr>
          <a:xfrm>
            <a:off x="640080" y="4928616"/>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31" name="Text 29"/>
          <p:cNvSpPr/>
          <p:nvPr/>
        </p:nvSpPr>
        <p:spPr>
          <a:xfrm>
            <a:off x="859536" y="5093208"/>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07</a:t>
            </a:r>
            <a:endParaRPr lang="en-US" sz="2200" dirty="0"/>
          </a:p>
        </p:txBody>
      </p:sp>
      <p:sp>
        <p:nvSpPr>
          <p:cNvPr id="32" name="Text 30"/>
          <p:cNvSpPr/>
          <p:nvPr/>
        </p:nvSpPr>
        <p:spPr>
          <a:xfrm>
            <a:off x="859536" y="5477256"/>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The minimal configuration</a:t>
            </a:r>
            <a:endParaRPr lang="en-US" sz="1400" dirty="0"/>
          </a:p>
        </p:txBody>
      </p:sp>
      <p:sp>
        <p:nvSpPr>
          <p:cNvPr id="33" name="Text 31"/>
          <p:cNvSpPr/>
          <p:nvPr/>
        </p:nvSpPr>
        <p:spPr>
          <a:xfrm>
            <a:off x="859536" y="5797296"/>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The smallest thing that works</a:t>
            </a:r>
            <a:endParaRPr lang="en-US" sz="1100" dirty="0"/>
          </a:p>
        </p:txBody>
      </p:sp>
      <p:sp>
        <p:nvSpPr>
          <p:cNvPr id="34" name="Shape 32"/>
          <p:cNvSpPr/>
          <p:nvPr/>
        </p:nvSpPr>
        <p:spPr>
          <a:xfrm>
            <a:off x="4277258" y="4928616"/>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35" name="Text 33"/>
          <p:cNvSpPr/>
          <p:nvPr/>
        </p:nvSpPr>
        <p:spPr>
          <a:xfrm>
            <a:off x="4496714" y="5093208"/>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08</a:t>
            </a:r>
            <a:endParaRPr lang="en-US" sz="2200" dirty="0"/>
          </a:p>
        </p:txBody>
      </p:sp>
      <p:sp>
        <p:nvSpPr>
          <p:cNvPr id="36" name="Text 34"/>
          <p:cNvSpPr/>
          <p:nvPr/>
        </p:nvSpPr>
        <p:spPr>
          <a:xfrm>
            <a:off x="4496714" y="5477256"/>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Who reads the config</a:t>
            </a:r>
            <a:endParaRPr lang="en-US" sz="1400" dirty="0"/>
          </a:p>
        </p:txBody>
      </p:sp>
      <p:sp>
        <p:nvSpPr>
          <p:cNvPr id="37" name="Text 35"/>
          <p:cNvSpPr/>
          <p:nvPr/>
        </p:nvSpPr>
        <p:spPr>
          <a:xfrm>
            <a:off x="4496714" y="5797296"/>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Direct and indirect readers</a:t>
            </a:r>
            <a:endParaRPr lang="en-US" sz="1100" dirty="0"/>
          </a:p>
        </p:txBody>
      </p:sp>
      <p:sp>
        <p:nvSpPr>
          <p:cNvPr id="38" name="Shape 36"/>
          <p:cNvSpPr/>
          <p:nvPr/>
        </p:nvSpPr>
        <p:spPr>
          <a:xfrm>
            <a:off x="7914437" y="4928616"/>
            <a:ext cx="3417722" cy="1261872"/>
          </a:xfrm>
          <a:prstGeom prst="roundRect">
            <a:avLst>
              <a:gd name="adj" fmla="val 4348"/>
            </a:avLst>
          </a:prstGeom>
          <a:solidFill>
            <a:srgbClr val="252B33"/>
          </a:solidFill>
          <a:ln w="12700">
            <a:solidFill>
              <a:srgbClr val="3B4450"/>
            </a:solidFill>
            <a:prstDash val="solid"/>
          </a:ln>
        </p:spPr>
        <p:txBody>
          <a:bodyPr/>
          <a:lstStyle/>
          <a:p>
            <a:endParaRPr lang="en-SE"/>
          </a:p>
        </p:txBody>
      </p:sp>
      <p:sp>
        <p:nvSpPr>
          <p:cNvPr id="39" name="Text 37"/>
          <p:cNvSpPr/>
          <p:nvPr/>
        </p:nvSpPr>
        <p:spPr>
          <a:xfrm>
            <a:off x="8133893" y="5093208"/>
            <a:ext cx="914400" cy="365760"/>
          </a:xfrm>
          <a:prstGeom prst="rect">
            <a:avLst/>
          </a:prstGeom>
          <a:noFill/>
          <a:ln/>
        </p:spPr>
        <p:txBody>
          <a:bodyPr wrap="square" lIns="0" tIns="0" rIns="0" bIns="0" rtlCol="0" anchor="ctr"/>
          <a:lstStyle/>
          <a:p>
            <a:pPr marL="0" indent="0">
              <a:buNone/>
            </a:pPr>
            <a:r>
              <a:rPr lang="en-US" sz="2200" b="1" dirty="0">
                <a:solidFill>
                  <a:srgbClr val="34D6BE"/>
                </a:solidFill>
                <a:latin typeface="Trebuchet MS" pitchFamily="34" charset="0"/>
                <a:ea typeface="Trebuchet MS" pitchFamily="34" charset="-122"/>
                <a:cs typeface="Trebuchet MS" pitchFamily="34" charset="-120"/>
              </a:rPr>
              <a:t>09</a:t>
            </a:r>
            <a:endParaRPr lang="en-US" sz="2200" dirty="0"/>
          </a:p>
        </p:txBody>
      </p:sp>
      <p:sp>
        <p:nvSpPr>
          <p:cNvPr id="40" name="Text 38"/>
          <p:cNvSpPr/>
          <p:nvPr/>
        </p:nvSpPr>
        <p:spPr>
          <a:xfrm>
            <a:off x="8133893" y="5477256"/>
            <a:ext cx="2978810" cy="310896"/>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A workflow that works</a:t>
            </a:r>
            <a:endParaRPr lang="en-US" sz="1400" dirty="0"/>
          </a:p>
        </p:txBody>
      </p:sp>
      <p:sp>
        <p:nvSpPr>
          <p:cNvPr id="41" name="Text 39"/>
          <p:cNvSpPr/>
          <p:nvPr/>
        </p:nvSpPr>
        <p:spPr>
          <a:xfrm>
            <a:off x="8133893" y="5797296"/>
            <a:ext cx="2978810" cy="274320"/>
          </a:xfrm>
          <a:prstGeom prst="rect">
            <a:avLst/>
          </a:prstGeom>
          <a:noFill/>
          <a:ln/>
        </p:spPr>
        <p:txBody>
          <a:bodyPr wrap="square" lIns="0" tIns="0" rIns="0" bIns="0" rtlCol="0" anchor="t"/>
          <a:lstStyle/>
          <a:p>
            <a:pPr marL="0" indent="0">
              <a:buNone/>
            </a:pPr>
            <a:r>
              <a:rPr lang="en-US" sz="1100" dirty="0">
                <a:solidFill>
                  <a:srgbClr val="8D97A5"/>
                </a:solidFill>
                <a:latin typeface="Calibri" pitchFamily="34" charset="0"/>
                <a:ea typeface="Calibri" pitchFamily="34" charset="-122"/>
                <a:cs typeface="Calibri" pitchFamily="34" charset="-120"/>
              </a:rPr>
              <a:t>Setting up a new exchange</a:t>
            </a:r>
            <a:endParaRPr lang="en-US" sz="1100" dirty="0"/>
          </a:p>
        </p:txBody>
      </p:sp>
      <p:sp>
        <p:nvSpPr>
          <p:cNvPr id="42" name="Text 40"/>
          <p:cNvSpPr/>
          <p:nvPr/>
        </p:nvSpPr>
        <p:spPr>
          <a:xfrm>
            <a:off x="640080" y="6035040"/>
            <a:ext cx="10911535" cy="274320"/>
          </a:xfrm>
          <a:prstGeom prst="rect">
            <a:avLst/>
          </a:prstGeom>
          <a:noFill/>
          <a:ln/>
        </p:spPr>
        <p:txBody>
          <a:bodyPr wrap="square" lIns="0" tIns="0" rIns="0" bIns="0" rtlCol="0" anchor="ctr"/>
          <a:lstStyle/>
          <a:p>
            <a:pPr marL="0" indent="0">
              <a:buNone/>
            </a:pPr>
            <a:r>
              <a:rPr lang="en-US" sz="1150" i="1" dirty="0">
                <a:solidFill>
                  <a:srgbClr val="8D97A5"/>
                </a:solidFill>
                <a:latin typeface="Calibri" pitchFamily="34" charset="0"/>
                <a:ea typeface="Calibri" pitchFamily="34" charset="-122"/>
                <a:cs typeface="Calibri" pitchFamily="34" charset="-120"/>
              </a:rPr>
              <a:t>The last few slides are a technical reference you can come back to.</a:t>
            </a:r>
            <a:endParaRPr lang="en-US" sz="1150" dirty="0"/>
          </a:p>
        </p:txBody>
      </p:sp>
      <p:sp>
        <p:nvSpPr>
          <p:cNvPr id="43" name="Text 4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Introduction</a:t>
            </a:r>
            <a:endParaRPr lang="en-US" sz="950" dirty="0"/>
          </a:p>
        </p:txBody>
      </p:sp>
      <p:sp>
        <p:nvSpPr>
          <p:cNvPr id="44" name="Text 4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WHOLE STORY</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60-second mental model</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600" dirty="0">
                <a:solidFill>
                  <a:srgbClr val="8D97A5"/>
                </a:solidFill>
                <a:latin typeface="Calibri" pitchFamily="34" charset="0"/>
                <a:ea typeface="Calibri" pitchFamily="34" charset="-122"/>
                <a:cs typeface="Calibri" pitchFamily="34" charset="-120"/>
              </a:rPr>
              <a:t>Everything in this deck is one of these five moves.</a:t>
            </a:r>
            <a:endParaRPr lang="en-US" sz="1600" dirty="0"/>
          </a:p>
        </p:txBody>
      </p:sp>
      <p:sp>
        <p:nvSpPr>
          <p:cNvPr id="6" name="Shape 4"/>
          <p:cNvSpPr/>
          <p:nvPr/>
        </p:nvSpPr>
        <p:spPr>
          <a:xfrm>
            <a:off x="640080" y="210312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104034"/>
            <a:ext cx="1829349"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22959" y="2249424"/>
            <a:ext cx="760307" cy="237744"/>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AUTHOR</a:t>
            </a:r>
            <a:endParaRPr lang="en-US" sz="1100" dirty="0"/>
          </a:p>
        </p:txBody>
      </p:sp>
      <p:sp>
        <p:nvSpPr>
          <p:cNvPr id="9" name="Text 7"/>
          <p:cNvSpPr/>
          <p:nvPr/>
        </p:nvSpPr>
        <p:spPr>
          <a:xfrm>
            <a:off x="822960" y="2487168"/>
            <a:ext cx="1465417"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Write it</a:t>
            </a:r>
            <a:endParaRPr lang="en-US" sz="1600" dirty="0"/>
          </a:p>
        </p:txBody>
      </p:sp>
      <p:sp>
        <p:nvSpPr>
          <p:cNvPr id="10" name="Text 8"/>
          <p:cNvSpPr/>
          <p:nvPr/>
        </p:nvSpPr>
        <p:spPr>
          <a:xfrm>
            <a:off x="822960" y="2816352"/>
            <a:ext cx="1598507" cy="1005840"/>
          </a:xfrm>
          <a:prstGeom prst="rect">
            <a:avLst/>
          </a:prstGeom>
          <a:noFill/>
          <a:ln/>
        </p:spPr>
        <p:txBody>
          <a:bodyPr wrap="square" lIns="0" tIns="0" rIns="0" bIns="0" rtlCol="0" anchor="t"/>
          <a:lstStyle/>
          <a:p>
            <a:pPr marL="0" indent="0">
              <a:lnSpc>
                <a:spcPts val="1300"/>
              </a:lnSpc>
              <a:buNone/>
            </a:pPr>
            <a:r>
              <a:rPr lang="en-US" sz="1200" dirty="0">
                <a:solidFill>
                  <a:srgbClr val="8D97A5"/>
                </a:solidFill>
                <a:latin typeface="Calibri" pitchFamily="34" charset="0"/>
                <a:ea typeface="Calibri" pitchFamily="34" charset="-122"/>
                <a:cs typeface="Calibri" pitchFamily="34" charset="-120"/>
              </a:rPr>
              <a:t>engine_config.yaml — the file you edit and keep in version control</a:t>
            </a:r>
            <a:endParaRPr lang="en-US" sz="1200" dirty="0"/>
          </a:p>
        </p:txBody>
      </p:sp>
      <p:sp>
        <p:nvSpPr>
          <p:cNvPr id="11" name="Text 9"/>
          <p:cNvSpPr/>
          <p:nvPr/>
        </p:nvSpPr>
        <p:spPr>
          <a:xfrm>
            <a:off x="2571841" y="27614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2910169" y="210312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2911084" y="2104034"/>
            <a:ext cx="1829349" cy="45720"/>
          </a:xfrm>
          <a:prstGeom prst="rect">
            <a:avLst/>
          </a:prstGeom>
          <a:solidFill>
            <a:srgbClr val="F3B441"/>
          </a:solidFill>
          <a:ln w="12700">
            <a:solidFill>
              <a:srgbClr val="333333"/>
            </a:solidFill>
            <a:prstDash val="solid"/>
          </a:ln>
        </p:spPr>
        <p:txBody>
          <a:bodyPr/>
          <a:lstStyle/>
          <a:p>
            <a:endParaRPr lang="en-SE"/>
          </a:p>
        </p:txBody>
      </p:sp>
      <p:sp>
        <p:nvSpPr>
          <p:cNvPr id="14" name="Text 12"/>
          <p:cNvSpPr/>
          <p:nvPr/>
        </p:nvSpPr>
        <p:spPr>
          <a:xfrm>
            <a:off x="3093049" y="2249424"/>
            <a:ext cx="801618" cy="237744"/>
          </a:xfrm>
          <a:prstGeom prst="rect">
            <a:avLst/>
          </a:prstGeom>
          <a:noFill/>
          <a:ln/>
        </p:spPr>
        <p:txBody>
          <a:bodyPr wrap="square" lIns="0" tIns="0" rIns="0" bIns="0" rtlCol="0" anchor="ctr"/>
          <a:lstStyle/>
          <a:p>
            <a:pPr marL="0" indent="0">
              <a:buNone/>
            </a:pPr>
            <a:r>
              <a:rPr lang="en-US" sz="1100" b="1" dirty="0">
                <a:solidFill>
                  <a:srgbClr val="F3B441"/>
                </a:solidFill>
                <a:latin typeface="Consolas" pitchFamily="34" charset="0"/>
                <a:ea typeface="Consolas" pitchFamily="34" charset="-122"/>
                <a:cs typeface="Consolas" pitchFamily="34" charset="-120"/>
              </a:rPr>
              <a:t>VERIFY</a:t>
            </a:r>
            <a:endParaRPr lang="en-US" sz="1100" dirty="0"/>
          </a:p>
        </p:txBody>
      </p:sp>
      <p:sp>
        <p:nvSpPr>
          <p:cNvPr id="15" name="Text 13"/>
          <p:cNvSpPr/>
          <p:nvPr/>
        </p:nvSpPr>
        <p:spPr>
          <a:xfrm>
            <a:off x="3093049" y="2487168"/>
            <a:ext cx="1465417"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Check it</a:t>
            </a:r>
            <a:endParaRPr lang="en-US" sz="1600" dirty="0"/>
          </a:p>
        </p:txBody>
      </p:sp>
      <p:sp>
        <p:nvSpPr>
          <p:cNvPr id="16" name="Text 14"/>
          <p:cNvSpPr/>
          <p:nvPr/>
        </p:nvSpPr>
        <p:spPr>
          <a:xfrm>
            <a:off x="3093049" y="2816352"/>
            <a:ext cx="1589018" cy="1005840"/>
          </a:xfrm>
          <a:prstGeom prst="rect">
            <a:avLst/>
          </a:prstGeom>
          <a:noFill/>
          <a:ln/>
        </p:spPr>
        <p:txBody>
          <a:bodyPr wrap="square" lIns="0" tIns="0" rIns="0" bIns="0" rtlCol="0" anchor="t"/>
          <a:lstStyle/>
          <a:p>
            <a:pPr marL="0" indent="0">
              <a:lnSpc>
                <a:spcPts val="1300"/>
              </a:lnSpc>
              <a:buNone/>
            </a:pPr>
            <a:r>
              <a:rPr lang="en-US" sz="1200" dirty="0">
                <a:solidFill>
                  <a:srgbClr val="8D97A5"/>
                </a:solidFill>
                <a:latin typeface="Calibri" pitchFamily="34" charset="0"/>
                <a:ea typeface="Calibri" pitchFamily="34" charset="-122"/>
                <a:cs typeface="Calibri" pitchFamily="34" charset="-120"/>
              </a:rPr>
              <a:t>pm-cverifier reads every section and reports every problem at once</a:t>
            </a:r>
            <a:endParaRPr lang="en-US" sz="1200" dirty="0"/>
          </a:p>
        </p:txBody>
      </p:sp>
      <p:sp>
        <p:nvSpPr>
          <p:cNvPr id="17" name="Text 15"/>
          <p:cNvSpPr/>
          <p:nvPr/>
        </p:nvSpPr>
        <p:spPr>
          <a:xfrm>
            <a:off x="4841931" y="27614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5180259" y="210312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5181173" y="2104034"/>
            <a:ext cx="1829349" cy="45720"/>
          </a:xfrm>
          <a:prstGeom prst="rect">
            <a:avLst/>
          </a:prstGeom>
          <a:solidFill>
            <a:srgbClr val="9B8CFF"/>
          </a:solidFill>
          <a:ln w="12700">
            <a:solidFill>
              <a:srgbClr val="333333"/>
            </a:solidFill>
            <a:prstDash val="solid"/>
          </a:ln>
        </p:spPr>
        <p:txBody>
          <a:bodyPr/>
          <a:lstStyle/>
          <a:p>
            <a:endParaRPr lang="en-SE"/>
          </a:p>
        </p:txBody>
      </p:sp>
      <p:sp>
        <p:nvSpPr>
          <p:cNvPr id="20" name="Text 18"/>
          <p:cNvSpPr/>
          <p:nvPr/>
        </p:nvSpPr>
        <p:spPr>
          <a:xfrm>
            <a:off x="5363138" y="2249424"/>
            <a:ext cx="732861" cy="237744"/>
          </a:xfrm>
          <a:prstGeom prst="rect">
            <a:avLst/>
          </a:prstGeom>
          <a:noFill/>
          <a:ln/>
        </p:spPr>
        <p:txBody>
          <a:bodyPr wrap="square" lIns="0" tIns="0" rIns="0" bIns="0" rtlCol="0" anchor="ctr"/>
          <a:lstStyle/>
          <a:p>
            <a:pPr marL="0" indent="0">
              <a:buNone/>
            </a:pPr>
            <a:r>
              <a:rPr lang="en-US" sz="1100" b="1" dirty="0">
                <a:solidFill>
                  <a:srgbClr val="9B8CFF"/>
                </a:solidFill>
                <a:latin typeface="Consolas" pitchFamily="34" charset="0"/>
                <a:ea typeface="Consolas" pitchFamily="34" charset="-122"/>
                <a:cs typeface="Consolas" pitchFamily="34" charset="-120"/>
              </a:rPr>
              <a:t>COMPILE</a:t>
            </a:r>
            <a:endParaRPr lang="en-US" sz="1100" dirty="0"/>
          </a:p>
        </p:txBody>
      </p:sp>
      <p:sp>
        <p:nvSpPr>
          <p:cNvPr id="21" name="Text 19"/>
          <p:cNvSpPr/>
          <p:nvPr/>
        </p:nvSpPr>
        <p:spPr>
          <a:xfrm>
            <a:off x="5363139" y="2487168"/>
            <a:ext cx="1465417"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Deploy it</a:t>
            </a:r>
            <a:endParaRPr lang="en-US" sz="1600" dirty="0"/>
          </a:p>
        </p:txBody>
      </p:sp>
      <p:sp>
        <p:nvSpPr>
          <p:cNvPr id="22" name="Text 20"/>
          <p:cNvSpPr/>
          <p:nvPr/>
        </p:nvSpPr>
        <p:spPr>
          <a:xfrm>
            <a:off x="5363139" y="2816352"/>
            <a:ext cx="1587994" cy="1005840"/>
          </a:xfrm>
          <a:prstGeom prst="rect">
            <a:avLst/>
          </a:prstGeom>
          <a:noFill/>
          <a:ln/>
        </p:spPr>
        <p:txBody>
          <a:bodyPr wrap="square" lIns="0" tIns="0" rIns="0" bIns="0" rtlCol="0" anchor="t"/>
          <a:lstStyle/>
          <a:p>
            <a:pPr marL="0" indent="0">
              <a:lnSpc>
                <a:spcPts val="1300"/>
              </a:lnSpc>
              <a:buNone/>
            </a:pPr>
            <a:r>
              <a:rPr lang="en-US" sz="1200" dirty="0">
                <a:solidFill>
                  <a:srgbClr val="8D97A5"/>
                </a:solidFill>
                <a:latin typeface="Calibri" pitchFamily="34" charset="0"/>
                <a:ea typeface="Calibri" pitchFamily="34" charset="-122"/>
                <a:cs typeface="Calibri" pitchFamily="34" charset="-120"/>
              </a:rPr>
              <a:t>pm-config-deploy resolves defaults and installs engine_config.json</a:t>
            </a:r>
            <a:endParaRPr lang="en-US" sz="1200" dirty="0"/>
          </a:p>
        </p:txBody>
      </p:sp>
      <p:sp>
        <p:nvSpPr>
          <p:cNvPr id="23" name="Text 21"/>
          <p:cNvSpPr/>
          <p:nvPr/>
        </p:nvSpPr>
        <p:spPr>
          <a:xfrm>
            <a:off x="7112020" y="27614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24" name="Shape 22"/>
          <p:cNvSpPr/>
          <p:nvPr/>
        </p:nvSpPr>
        <p:spPr>
          <a:xfrm>
            <a:off x="7450348" y="210312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7451263" y="2104034"/>
            <a:ext cx="1829349" cy="45720"/>
          </a:xfrm>
          <a:prstGeom prst="rect">
            <a:avLst/>
          </a:prstGeom>
          <a:solidFill>
            <a:srgbClr val="6BD98A"/>
          </a:solidFill>
          <a:ln w="12700">
            <a:solidFill>
              <a:srgbClr val="333333"/>
            </a:solidFill>
            <a:prstDash val="solid"/>
          </a:ln>
        </p:spPr>
        <p:txBody>
          <a:bodyPr/>
          <a:lstStyle/>
          <a:p>
            <a:endParaRPr lang="en-SE"/>
          </a:p>
        </p:txBody>
      </p:sp>
      <p:sp>
        <p:nvSpPr>
          <p:cNvPr id="26" name="Text 24"/>
          <p:cNvSpPr/>
          <p:nvPr/>
        </p:nvSpPr>
        <p:spPr>
          <a:xfrm>
            <a:off x="7633228" y="2249424"/>
            <a:ext cx="457200" cy="237744"/>
          </a:xfrm>
          <a:prstGeom prst="rect">
            <a:avLst/>
          </a:prstGeom>
          <a:noFill/>
          <a:ln/>
        </p:spPr>
        <p:txBody>
          <a:bodyPr wrap="square" lIns="0" tIns="0" rIns="0" bIns="0" rtlCol="0" anchor="ctr"/>
          <a:lstStyle/>
          <a:p>
            <a:pPr marL="0" indent="0">
              <a:buNone/>
            </a:pPr>
            <a:r>
              <a:rPr lang="en-US" sz="1100" b="1" dirty="0">
                <a:solidFill>
                  <a:srgbClr val="6BD98A"/>
                </a:solidFill>
                <a:latin typeface="Consolas" pitchFamily="34" charset="0"/>
                <a:ea typeface="Consolas" pitchFamily="34" charset="-122"/>
                <a:cs typeface="Consolas" pitchFamily="34" charset="-120"/>
              </a:rPr>
              <a:t>RUN</a:t>
            </a:r>
            <a:endParaRPr lang="en-US" sz="1100" dirty="0"/>
          </a:p>
        </p:txBody>
      </p:sp>
      <p:sp>
        <p:nvSpPr>
          <p:cNvPr id="27" name="Text 25"/>
          <p:cNvSpPr/>
          <p:nvPr/>
        </p:nvSpPr>
        <p:spPr>
          <a:xfrm>
            <a:off x="7633228" y="2487168"/>
            <a:ext cx="1465417"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Start it</a:t>
            </a:r>
            <a:endParaRPr lang="en-US" sz="1600" dirty="0"/>
          </a:p>
        </p:txBody>
      </p:sp>
      <p:sp>
        <p:nvSpPr>
          <p:cNvPr id="28" name="Text 26"/>
          <p:cNvSpPr/>
          <p:nvPr/>
        </p:nvSpPr>
        <p:spPr>
          <a:xfrm>
            <a:off x="7633228" y="2816352"/>
            <a:ext cx="1612372" cy="1005840"/>
          </a:xfrm>
          <a:prstGeom prst="rect">
            <a:avLst/>
          </a:prstGeom>
          <a:noFill/>
          <a:ln/>
        </p:spPr>
        <p:txBody>
          <a:bodyPr wrap="square" lIns="0" tIns="0" rIns="0" bIns="0" rtlCol="0" anchor="t"/>
          <a:lstStyle/>
          <a:p>
            <a:pPr marL="0" indent="0">
              <a:lnSpc>
                <a:spcPts val="1300"/>
              </a:lnSpc>
              <a:buNone/>
            </a:pPr>
            <a:r>
              <a:rPr lang="en-US" sz="1200" dirty="0">
                <a:solidFill>
                  <a:srgbClr val="8D97A5"/>
                </a:solidFill>
                <a:latin typeface="Calibri" pitchFamily="34" charset="0"/>
                <a:ea typeface="Calibri" pitchFamily="34" charset="-122"/>
                <a:cs typeface="Calibri" pitchFamily="34" charset="-120"/>
              </a:rPr>
              <a:t>pm-engine first, then scheduler, gateways and observers</a:t>
            </a:r>
            <a:endParaRPr lang="en-US" sz="1200" dirty="0"/>
          </a:p>
        </p:txBody>
      </p:sp>
      <p:sp>
        <p:nvSpPr>
          <p:cNvPr id="29" name="Text 27"/>
          <p:cNvSpPr/>
          <p:nvPr/>
        </p:nvSpPr>
        <p:spPr>
          <a:xfrm>
            <a:off x="9382110" y="27614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30" name="Shape 28"/>
          <p:cNvSpPr/>
          <p:nvPr/>
        </p:nvSpPr>
        <p:spPr>
          <a:xfrm>
            <a:off x="9720438" y="210312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31" name="Shape 29"/>
          <p:cNvSpPr/>
          <p:nvPr/>
        </p:nvSpPr>
        <p:spPr>
          <a:xfrm>
            <a:off x="9721352" y="2104034"/>
            <a:ext cx="1829349" cy="45720"/>
          </a:xfrm>
          <a:prstGeom prst="rect">
            <a:avLst/>
          </a:prstGeom>
          <a:solidFill>
            <a:srgbClr val="5AB2F7"/>
          </a:solidFill>
          <a:ln w="12700">
            <a:solidFill>
              <a:srgbClr val="333333"/>
            </a:solidFill>
            <a:prstDash val="solid"/>
          </a:ln>
        </p:spPr>
        <p:txBody>
          <a:bodyPr/>
          <a:lstStyle/>
          <a:p>
            <a:endParaRPr lang="en-SE"/>
          </a:p>
        </p:txBody>
      </p:sp>
      <p:sp>
        <p:nvSpPr>
          <p:cNvPr id="32" name="Text 30"/>
          <p:cNvSpPr/>
          <p:nvPr/>
        </p:nvSpPr>
        <p:spPr>
          <a:xfrm>
            <a:off x="9903317" y="2249424"/>
            <a:ext cx="925549" cy="237744"/>
          </a:xfrm>
          <a:prstGeom prst="rect">
            <a:avLst/>
          </a:prstGeom>
          <a:noFill/>
          <a:ln/>
        </p:spPr>
        <p:txBody>
          <a:bodyPr wrap="square" lIns="0" tIns="0" rIns="0" bIns="0" rtlCol="0" anchor="ctr"/>
          <a:lstStyle/>
          <a:p>
            <a:pPr marL="0" indent="0">
              <a:buNone/>
            </a:pPr>
            <a:r>
              <a:rPr lang="en-US" sz="1100" b="1" dirty="0">
                <a:solidFill>
                  <a:srgbClr val="5AB2F7"/>
                </a:solidFill>
                <a:latin typeface="Consolas" pitchFamily="34" charset="0"/>
                <a:ea typeface="Consolas" pitchFamily="34" charset="-122"/>
                <a:cs typeface="Consolas" pitchFamily="34" charset="-120"/>
              </a:rPr>
              <a:t>OPERATE</a:t>
            </a:r>
            <a:endParaRPr lang="en-US" sz="1100" dirty="0"/>
          </a:p>
        </p:txBody>
      </p:sp>
      <p:sp>
        <p:nvSpPr>
          <p:cNvPr id="33" name="Text 31"/>
          <p:cNvSpPr/>
          <p:nvPr/>
        </p:nvSpPr>
        <p:spPr>
          <a:xfrm>
            <a:off x="9903318" y="2487168"/>
            <a:ext cx="1465417"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Prove it</a:t>
            </a:r>
            <a:endParaRPr lang="en-US" sz="1600" dirty="0"/>
          </a:p>
        </p:txBody>
      </p:sp>
      <p:sp>
        <p:nvSpPr>
          <p:cNvPr id="34" name="Text 32"/>
          <p:cNvSpPr/>
          <p:nvPr/>
        </p:nvSpPr>
        <p:spPr>
          <a:xfrm>
            <a:off x="9903318" y="2816352"/>
            <a:ext cx="1619815" cy="1005840"/>
          </a:xfrm>
          <a:prstGeom prst="rect">
            <a:avLst/>
          </a:prstGeom>
          <a:noFill/>
          <a:ln/>
        </p:spPr>
        <p:txBody>
          <a:bodyPr wrap="square" lIns="0" tIns="0" rIns="0" bIns="0" rtlCol="0" anchor="t"/>
          <a:lstStyle/>
          <a:p>
            <a:pPr marL="0" indent="0">
              <a:lnSpc>
                <a:spcPts val="1300"/>
              </a:lnSpc>
              <a:buNone/>
            </a:pPr>
            <a:r>
              <a:rPr lang="en-US" sz="1200" dirty="0">
                <a:solidFill>
                  <a:srgbClr val="8D97A5"/>
                </a:solidFill>
                <a:latin typeface="Calibri" pitchFamily="34" charset="0"/>
                <a:ea typeface="Calibri" pitchFamily="34" charset="-122"/>
                <a:cs typeface="Calibri" pitchFamily="34" charset="-120"/>
              </a:rPr>
              <a:t>Query the running exchange to confirm it matches your intent</a:t>
            </a:r>
            <a:endParaRPr lang="en-US" sz="1200" dirty="0"/>
          </a:p>
        </p:txBody>
      </p:sp>
      <p:sp>
        <p:nvSpPr>
          <p:cNvPr id="35" name="Shape 33"/>
          <p:cNvSpPr/>
          <p:nvPr/>
        </p:nvSpPr>
        <p:spPr>
          <a:xfrm>
            <a:off x="640080" y="4297680"/>
            <a:ext cx="10911535" cy="1087120"/>
          </a:xfrm>
          <a:prstGeom prst="roundRect">
            <a:avLst>
              <a:gd name="adj" fmla="val 6000"/>
            </a:avLst>
          </a:prstGeom>
          <a:solidFill>
            <a:srgbClr val="4A3714"/>
          </a:solidFill>
          <a:ln w="12700">
            <a:solidFill>
              <a:srgbClr val="F3B441"/>
            </a:solidFill>
            <a:prstDash val="solid"/>
          </a:ln>
        </p:spPr>
        <p:txBody>
          <a:bodyPr/>
          <a:lstStyle/>
          <a:p>
            <a:endParaRPr lang="en-SE"/>
          </a:p>
        </p:txBody>
      </p:sp>
      <p:sp>
        <p:nvSpPr>
          <p:cNvPr id="36" name="Text 34"/>
          <p:cNvSpPr/>
          <p:nvPr/>
        </p:nvSpPr>
        <p:spPr>
          <a:xfrm>
            <a:off x="877823" y="4389120"/>
            <a:ext cx="3601043" cy="237744"/>
          </a:xfrm>
          <a:prstGeom prst="rect">
            <a:avLst/>
          </a:prstGeom>
          <a:noFill/>
          <a:ln/>
        </p:spPr>
        <p:txBody>
          <a:bodyPr wrap="square" lIns="0" tIns="0" rIns="0" bIns="0" rtlCol="0" anchor="ctr"/>
          <a:lstStyle/>
          <a:p>
            <a:pPr marL="0" indent="0">
              <a:buNone/>
            </a:pPr>
            <a:r>
              <a:rPr lang="en-US" sz="1600" b="1" kern="0" spc="160" dirty="0">
                <a:solidFill>
                  <a:srgbClr val="F3B441"/>
                </a:solidFill>
                <a:latin typeface="Calibri" pitchFamily="34" charset="0"/>
                <a:ea typeface="Calibri" pitchFamily="34" charset="-122"/>
                <a:cs typeface="Calibri" pitchFamily="34" charset="-120"/>
              </a:rPr>
              <a:t>THE ONE RULE TO REMEMBER</a:t>
            </a:r>
            <a:endParaRPr lang="en-US" sz="1600" dirty="0"/>
          </a:p>
        </p:txBody>
      </p:sp>
      <p:sp>
        <p:nvSpPr>
          <p:cNvPr id="37" name="Text 35"/>
          <p:cNvSpPr/>
          <p:nvPr/>
        </p:nvSpPr>
        <p:spPr>
          <a:xfrm>
            <a:off x="877824" y="4729818"/>
            <a:ext cx="10436047" cy="457200"/>
          </a:xfrm>
          <a:prstGeom prst="rect">
            <a:avLst/>
          </a:prstGeom>
          <a:noFill/>
          <a:ln/>
        </p:spPr>
        <p:txBody>
          <a:bodyPr wrap="square" lIns="0" tIns="0" rIns="0" bIns="0" rtlCol="0" anchor="t"/>
          <a:lstStyle/>
          <a:p>
            <a:pPr marL="0" indent="0">
              <a:lnSpc>
                <a:spcPts val="1600"/>
              </a:lnSpc>
              <a:buNone/>
            </a:pPr>
            <a:r>
              <a:rPr lang="en-US" sz="1400" dirty="0">
                <a:solidFill>
                  <a:srgbClr val="F1F4F8"/>
                </a:solidFill>
                <a:latin typeface="Calibri" pitchFamily="34" charset="0"/>
                <a:ea typeface="Calibri" pitchFamily="34" charset="-122"/>
                <a:cs typeface="Calibri" pitchFamily="34" charset="-120"/>
              </a:rPr>
              <a:t>You author YAML, but no running process ever reads it. Every process reads the compiled JSON artifact produced by pm-config-deploy. Editing YAML without deploying changes nothing.</a:t>
            </a:r>
            <a:endParaRPr lang="en-US" sz="1400" dirty="0"/>
          </a:p>
        </p:txBody>
      </p:sp>
      <p:sp>
        <p:nvSpPr>
          <p:cNvPr id="38" name="Text 36"/>
          <p:cNvSpPr/>
          <p:nvPr/>
        </p:nvSpPr>
        <p:spPr>
          <a:xfrm>
            <a:off x="640080" y="5486400"/>
            <a:ext cx="10911535" cy="274320"/>
          </a:xfrm>
          <a:prstGeom prst="rect">
            <a:avLst/>
          </a:prstGeom>
          <a:noFill/>
          <a:ln/>
        </p:spPr>
        <p:txBody>
          <a:bodyPr wrap="square" lIns="0" tIns="0" rIns="0" bIns="0" rtlCol="0" anchor="ctr"/>
          <a:lstStyle/>
          <a:p>
            <a:pPr marL="0" indent="0">
              <a:buNone/>
            </a:pPr>
            <a:r>
              <a:rPr lang="en-US" sz="1150" i="1" dirty="0">
                <a:solidFill>
                  <a:srgbClr val="8D97A5"/>
                </a:solidFill>
                <a:latin typeface="Calibri" pitchFamily="34" charset="0"/>
                <a:ea typeface="Calibri" pitchFamily="34" charset="-122"/>
                <a:cs typeface="Calibri" pitchFamily="34" charset="-120"/>
              </a:rPr>
              <a:t>Sections 03, 04, 05 and 09 of this deck each expand one of these five moves.</a:t>
            </a:r>
            <a:endParaRPr lang="en-US" sz="1150" dirty="0"/>
          </a:p>
        </p:txBody>
      </p:sp>
      <p:sp>
        <p:nvSpPr>
          <p:cNvPr id="39" name="Text 3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Introduction</a:t>
            </a:r>
            <a:endParaRPr lang="en-US" sz="950" dirty="0"/>
          </a:p>
        </p:txBody>
      </p:sp>
      <p:sp>
        <p:nvSpPr>
          <p:cNvPr id="40" name="Text 3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01</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01</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What is configuration</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of a trading system?</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600" dirty="0">
                <a:solidFill>
                  <a:srgbClr val="8D97A5"/>
                </a:solidFill>
                <a:latin typeface="Calibri" pitchFamily="34" charset="0"/>
                <a:ea typeface="Calibri" pitchFamily="34" charset="-122"/>
                <a:cs typeface="Calibri" pitchFamily="34" charset="-120"/>
              </a:rPr>
              <a:t>Before the settings, the concepts. What an exchange actually is, and which parts of it are decided by a file rather than by code.</a:t>
            </a:r>
            <a:endParaRPr lang="en-US" sz="16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exchange, assembled</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Code vs. configuration</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Unrestricted mode</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vocabulary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FIRST PRINCIPLES</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What a trading system is made of</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An exchange is not one program. It is a matching engine surrounded by gateways, and a shared file that tells them all who and what is allowed.</a:t>
            </a:r>
            <a:endParaRPr lang="en-US" sz="1450" dirty="0"/>
          </a:p>
        </p:txBody>
      </p:sp>
      <p:sp>
        <p:nvSpPr>
          <p:cNvPr id="6" name="Shape 4"/>
          <p:cNvSpPr/>
          <p:nvPr/>
        </p:nvSpPr>
        <p:spPr>
          <a:xfrm>
            <a:off x="4800600" y="2880360"/>
            <a:ext cx="2606040" cy="1371600"/>
          </a:xfrm>
          <a:prstGeom prst="roundRect">
            <a:avLst>
              <a:gd name="adj" fmla="val 4000"/>
            </a:avLst>
          </a:prstGeom>
          <a:solidFill>
            <a:srgbClr val="13463F"/>
          </a:solidFill>
          <a:ln w="12700">
            <a:solidFill>
              <a:srgbClr val="34D6BE"/>
            </a:solidFill>
            <a:prstDash val="solid"/>
          </a:ln>
        </p:spPr>
        <p:txBody>
          <a:bodyPr/>
          <a:lstStyle/>
          <a:p>
            <a:endParaRPr lang="en-SE"/>
          </a:p>
        </p:txBody>
      </p:sp>
      <p:sp>
        <p:nvSpPr>
          <p:cNvPr id="7" name="Text 5"/>
          <p:cNvSpPr/>
          <p:nvPr/>
        </p:nvSpPr>
        <p:spPr>
          <a:xfrm>
            <a:off x="4800600" y="3127248"/>
            <a:ext cx="2606040" cy="365760"/>
          </a:xfrm>
          <a:prstGeom prst="rect">
            <a:avLst/>
          </a:prstGeom>
          <a:noFill/>
          <a:ln/>
        </p:spPr>
        <p:txBody>
          <a:bodyPr wrap="square" lIns="0" tIns="0" rIns="0" bIns="0" rtlCol="0" anchor="ctr"/>
          <a:lstStyle/>
          <a:p>
            <a:pPr marL="0" indent="0" algn="ctr">
              <a:buNone/>
            </a:pPr>
            <a:r>
              <a:rPr lang="en-US" sz="2000" b="1" dirty="0">
                <a:solidFill>
                  <a:srgbClr val="34D6BE"/>
                </a:solidFill>
                <a:latin typeface="Consolas" pitchFamily="34" charset="0"/>
                <a:ea typeface="Consolas" pitchFamily="34" charset="-122"/>
                <a:cs typeface="Consolas" pitchFamily="34" charset="-120"/>
              </a:rPr>
              <a:t>pm-engine</a:t>
            </a:r>
            <a:endParaRPr lang="en-US" sz="2000" dirty="0"/>
          </a:p>
        </p:txBody>
      </p:sp>
      <p:sp>
        <p:nvSpPr>
          <p:cNvPr id="8" name="Text 6"/>
          <p:cNvSpPr/>
          <p:nvPr/>
        </p:nvSpPr>
        <p:spPr>
          <a:xfrm>
            <a:off x="4892040" y="3493008"/>
            <a:ext cx="2423160" cy="640080"/>
          </a:xfrm>
          <a:prstGeom prst="rect">
            <a:avLst/>
          </a:prstGeom>
          <a:noFill/>
          <a:ln/>
        </p:spPr>
        <p:txBody>
          <a:bodyPr wrap="square" lIns="0" tIns="0" rIns="0" bIns="0" rtlCol="0" anchor="t"/>
          <a:lstStyle/>
          <a:p>
            <a:pPr marL="0" indent="0" algn="ctr">
              <a:lnSpc>
                <a:spcPts val="1400"/>
              </a:lnSpc>
              <a:buNone/>
            </a:pPr>
            <a:r>
              <a:rPr lang="en-US" sz="1400" dirty="0">
                <a:solidFill>
                  <a:srgbClr val="C2CAD4"/>
                </a:solidFill>
                <a:latin typeface="Calibri" pitchFamily="34" charset="0"/>
                <a:ea typeface="Calibri" pitchFamily="34" charset="-122"/>
                <a:cs typeface="Calibri" pitchFamily="34" charset="-120"/>
              </a:rPr>
              <a:t>The matching engine</a:t>
            </a:r>
            <a:endParaRPr lang="en-US" sz="1400" dirty="0"/>
          </a:p>
          <a:p>
            <a:pPr marL="0" indent="0" algn="ctr">
              <a:lnSpc>
                <a:spcPts val="1400"/>
              </a:lnSpc>
              <a:buNone/>
            </a:pPr>
            <a:r>
              <a:rPr lang="en-US" sz="1400" dirty="0">
                <a:solidFill>
                  <a:srgbClr val="C2CAD4"/>
                </a:solidFill>
                <a:latin typeface="Calibri" pitchFamily="34" charset="0"/>
                <a:ea typeface="Calibri" pitchFamily="34" charset="-122"/>
                <a:cs typeface="Calibri" pitchFamily="34" charset="-120"/>
              </a:rPr>
              <a:t>The single writer of the order book</a:t>
            </a:r>
            <a:endParaRPr lang="en-US" sz="1400" dirty="0"/>
          </a:p>
        </p:txBody>
      </p:sp>
      <p:sp>
        <p:nvSpPr>
          <p:cNvPr id="9" name="Shape 7"/>
          <p:cNvSpPr/>
          <p:nvPr/>
        </p:nvSpPr>
        <p:spPr>
          <a:xfrm>
            <a:off x="640080" y="2011680"/>
            <a:ext cx="2816352"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10" name="Shape 8"/>
          <p:cNvSpPr/>
          <p:nvPr/>
        </p:nvSpPr>
        <p:spPr>
          <a:xfrm>
            <a:off x="640080" y="2011680"/>
            <a:ext cx="2816352" cy="45720"/>
          </a:xfrm>
          <a:prstGeom prst="rect">
            <a:avLst/>
          </a:prstGeom>
          <a:solidFill>
            <a:srgbClr val="5AB2F7"/>
          </a:solidFill>
          <a:ln w="12700">
            <a:solidFill>
              <a:srgbClr val="333333"/>
            </a:solidFill>
            <a:prstDash val="solid"/>
          </a:ln>
        </p:spPr>
        <p:txBody>
          <a:bodyPr/>
          <a:lstStyle/>
          <a:p>
            <a:endParaRPr lang="en-SE"/>
          </a:p>
        </p:txBody>
      </p:sp>
      <p:sp>
        <p:nvSpPr>
          <p:cNvPr id="11" name="Text 9"/>
          <p:cNvSpPr/>
          <p:nvPr/>
        </p:nvSpPr>
        <p:spPr>
          <a:xfrm>
            <a:off x="841248" y="2212848"/>
            <a:ext cx="2414016" cy="329184"/>
          </a:xfrm>
          <a:prstGeom prst="rect">
            <a:avLst/>
          </a:prstGeom>
          <a:noFill/>
          <a:ln/>
        </p:spPr>
        <p:txBody>
          <a:bodyPr wrap="square" lIns="0" tIns="0" rIns="0" bIns="0" rtlCol="0" anchor="ctr"/>
          <a:lstStyle/>
          <a:p>
            <a:pPr marL="0" indent="0">
              <a:buNone/>
            </a:pPr>
            <a:r>
              <a:rPr lang="en-US" b="1" dirty="0">
                <a:solidFill>
                  <a:srgbClr val="F1F4F8"/>
                </a:solidFill>
                <a:latin typeface="Trebuchet MS" pitchFamily="34" charset="0"/>
                <a:ea typeface="Trebuchet MS" pitchFamily="34" charset="-122"/>
                <a:cs typeface="Trebuchet MS" pitchFamily="34" charset="-120"/>
              </a:rPr>
              <a:t>Participants</a:t>
            </a:r>
            <a:endParaRPr lang="en-US" dirty="0"/>
          </a:p>
        </p:txBody>
      </p:sp>
      <p:sp>
        <p:nvSpPr>
          <p:cNvPr id="12" name="Text 10"/>
          <p:cNvSpPr/>
          <p:nvPr/>
        </p:nvSpPr>
        <p:spPr>
          <a:xfrm>
            <a:off x="841248" y="2615184"/>
            <a:ext cx="2414016" cy="1005840"/>
          </a:xfrm>
          <a:prstGeom prst="rect">
            <a:avLst/>
          </a:prstGeom>
          <a:noFill/>
          <a:ln/>
        </p:spPr>
        <p:txBody>
          <a:bodyPr wrap="square" lIns="0" tIns="0" rIns="0" bIns="0" rtlCol="0" anchor="t"/>
          <a:lstStyle/>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Traders, market makers</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and operators connect</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through a gateway</a:t>
            </a:r>
            <a:endParaRPr lang="en-US" sz="1600" dirty="0"/>
          </a:p>
        </p:txBody>
      </p:sp>
      <p:sp>
        <p:nvSpPr>
          <p:cNvPr id="13" name="Shape 11"/>
          <p:cNvSpPr/>
          <p:nvPr/>
        </p:nvSpPr>
        <p:spPr>
          <a:xfrm>
            <a:off x="640080" y="4343400"/>
            <a:ext cx="2816352"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40080" y="4343400"/>
            <a:ext cx="2816352" cy="45720"/>
          </a:xfrm>
          <a:prstGeom prst="rect">
            <a:avLst/>
          </a:prstGeom>
          <a:solidFill>
            <a:srgbClr val="9B8CFF"/>
          </a:solidFill>
          <a:ln w="12700">
            <a:solidFill>
              <a:srgbClr val="333333"/>
            </a:solidFill>
            <a:prstDash val="solid"/>
          </a:ln>
        </p:spPr>
        <p:txBody>
          <a:bodyPr/>
          <a:lstStyle/>
          <a:p>
            <a:endParaRPr lang="en-SE"/>
          </a:p>
        </p:txBody>
      </p:sp>
      <p:sp>
        <p:nvSpPr>
          <p:cNvPr id="15" name="Text 13"/>
          <p:cNvSpPr/>
          <p:nvPr/>
        </p:nvSpPr>
        <p:spPr>
          <a:xfrm>
            <a:off x="841248" y="4544568"/>
            <a:ext cx="2414016" cy="329184"/>
          </a:xfrm>
          <a:prstGeom prst="rect">
            <a:avLst/>
          </a:prstGeom>
          <a:noFill/>
          <a:ln/>
        </p:spPr>
        <p:txBody>
          <a:bodyPr wrap="square" lIns="0" tIns="0" rIns="0" bIns="0" rtlCol="0" anchor="ctr"/>
          <a:lstStyle/>
          <a:p>
            <a:pPr marL="0" indent="0">
              <a:buNone/>
            </a:pPr>
            <a:r>
              <a:rPr lang="en-US" b="1" dirty="0">
                <a:solidFill>
                  <a:srgbClr val="F1F4F8"/>
                </a:solidFill>
                <a:latin typeface="Trebuchet MS" pitchFamily="34" charset="0"/>
                <a:ea typeface="Trebuchet MS" pitchFamily="34" charset="-122"/>
                <a:cs typeface="Trebuchet MS" pitchFamily="34" charset="-120"/>
              </a:rPr>
              <a:t>Market data</a:t>
            </a:r>
            <a:endParaRPr lang="en-US" dirty="0"/>
          </a:p>
        </p:txBody>
      </p:sp>
      <p:sp>
        <p:nvSpPr>
          <p:cNvPr id="16" name="Text 14"/>
          <p:cNvSpPr/>
          <p:nvPr/>
        </p:nvSpPr>
        <p:spPr>
          <a:xfrm>
            <a:off x="841248" y="4946904"/>
            <a:ext cx="2414016" cy="1005840"/>
          </a:xfrm>
          <a:prstGeom prst="rect">
            <a:avLst/>
          </a:prstGeom>
          <a:noFill/>
          <a:ln/>
        </p:spPr>
        <p:txBody>
          <a:bodyPr wrap="square" lIns="0" tIns="0" rIns="0" bIns="0" rtlCol="0" anchor="t"/>
          <a:lstStyle/>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Books, trades and</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indices published out</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to subscribers</a:t>
            </a:r>
            <a:endParaRPr lang="en-US" sz="1600" dirty="0"/>
          </a:p>
        </p:txBody>
      </p:sp>
      <p:sp>
        <p:nvSpPr>
          <p:cNvPr id="17" name="Shape 15"/>
          <p:cNvSpPr/>
          <p:nvPr/>
        </p:nvSpPr>
        <p:spPr>
          <a:xfrm>
            <a:off x="8732520" y="2011680"/>
            <a:ext cx="2816352"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18" name="Shape 16"/>
          <p:cNvSpPr/>
          <p:nvPr/>
        </p:nvSpPr>
        <p:spPr>
          <a:xfrm>
            <a:off x="8732520" y="2011680"/>
            <a:ext cx="2816352" cy="45720"/>
          </a:xfrm>
          <a:prstGeom prst="rect">
            <a:avLst/>
          </a:prstGeom>
          <a:solidFill>
            <a:srgbClr val="F3B441"/>
          </a:solidFill>
          <a:ln w="12700">
            <a:solidFill>
              <a:srgbClr val="333333"/>
            </a:solidFill>
            <a:prstDash val="solid"/>
          </a:ln>
        </p:spPr>
        <p:txBody>
          <a:bodyPr/>
          <a:lstStyle/>
          <a:p>
            <a:endParaRPr lang="en-SE"/>
          </a:p>
        </p:txBody>
      </p:sp>
      <p:sp>
        <p:nvSpPr>
          <p:cNvPr id="19" name="Text 17"/>
          <p:cNvSpPr/>
          <p:nvPr/>
        </p:nvSpPr>
        <p:spPr>
          <a:xfrm>
            <a:off x="8933688" y="2212848"/>
            <a:ext cx="2414016" cy="329184"/>
          </a:xfrm>
          <a:prstGeom prst="rect">
            <a:avLst/>
          </a:prstGeom>
          <a:noFill/>
          <a:ln/>
        </p:spPr>
        <p:txBody>
          <a:bodyPr wrap="square" lIns="0" tIns="0" rIns="0" bIns="0" rtlCol="0" anchor="ctr"/>
          <a:lstStyle/>
          <a:p>
            <a:pPr marL="0" indent="0">
              <a:buNone/>
            </a:pPr>
            <a:r>
              <a:rPr lang="en-US" b="1" dirty="0">
                <a:solidFill>
                  <a:srgbClr val="F1F4F8"/>
                </a:solidFill>
                <a:latin typeface="Trebuchet MS" pitchFamily="34" charset="0"/>
                <a:ea typeface="Trebuchet MS" pitchFamily="34" charset="-122"/>
                <a:cs typeface="Trebuchet MS" pitchFamily="34" charset="-120"/>
              </a:rPr>
              <a:t>Post-trade</a:t>
            </a:r>
            <a:endParaRPr lang="en-US" dirty="0"/>
          </a:p>
        </p:txBody>
      </p:sp>
      <p:sp>
        <p:nvSpPr>
          <p:cNvPr id="20" name="Text 18"/>
          <p:cNvSpPr/>
          <p:nvPr/>
        </p:nvSpPr>
        <p:spPr>
          <a:xfrm>
            <a:off x="8933688" y="2615184"/>
            <a:ext cx="2414016" cy="1005840"/>
          </a:xfrm>
          <a:prstGeom prst="rect">
            <a:avLst/>
          </a:prstGeom>
          <a:noFill/>
          <a:ln/>
        </p:spPr>
        <p:txBody>
          <a:bodyPr wrap="square" lIns="0" tIns="0" rIns="0" bIns="0" rtlCol="0" anchor="t"/>
          <a:lstStyle/>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Fills, drop-copy and</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audit feeds for</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clearing</a:t>
            </a:r>
            <a:endParaRPr lang="en-US" sz="1600" dirty="0"/>
          </a:p>
        </p:txBody>
      </p:sp>
      <p:sp>
        <p:nvSpPr>
          <p:cNvPr id="21" name="Shape 19"/>
          <p:cNvSpPr/>
          <p:nvPr/>
        </p:nvSpPr>
        <p:spPr>
          <a:xfrm>
            <a:off x="8732520" y="4343400"/>
            <a:ext cx="2816352"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8732520" y="4343400"/>
            <a:ext cx="2816352" cy="45720"/>
          </a:xfrm>
          <a:prstGeom prst="rect">
            <a:avLst/>
          </a:prstGeom>
          <a:solidFill>
            <a:srgbClr val="6BD98A"/>
          </a:solidFill>
          <a:ln w="12700">
            <a:solidFill>
              <a:srgbClr val="333333"/>
            </a:solidFill>
            <a:prstDash val="solid"/>
          </a:ln>
        </p:spPr>
        <p:txBody>
          <a:bodyPr/>
          <a:lstStyle/>
          <a:p>
            <a:endParaRPr lang="en-SE"/>
          </a:p>
        </p:txBody>
      </p:sp>
      <p:sp>
        <p:nvSpPr>
          <p:cNvPr id="23" name="Text 21"/>
          <p:cNvSpPr/>
          <p:nvPr/>
        </p:nvSpPr>
        <p:spPr>
          <a:xfrm>
            <a:off x="8933688" y="4544568"/>
            <a:ext cx="2414016" cy="329184"/>
          </a:xfrm>
          <a:prstGeom prst="rect">
            <a:avLst/>
          </a:prstGeom>
          <a:noFill/>
          <a:ln/>
        </p:spPr>
        <p:txBody>
          <a:bodyPr wrap="square" lIns="0" tIns="0" rIns="0" bIns="0" rtlCol="0" anchor="ctr"/>
          <a:lstStyle/>
          <a:p>
            <a:pPr marL="0" indent="0">
              <a:buNone/>
            </a:pPr>
            <a:r>
              <a:rPr lang="en-US" b="1" dirty="0">
                <a:solidFill>
                  <a:srgbClr val="F1F4F8"/>
                </a:solidFill>
                <a:latin typeface="Trebuchet MS" pitchFamily="34" charset="0"/>
                <a:ea typeface="Trebuchet MS" pitchFamily="34" charset="-122"/>
                <a:cs typeface="Trebuchet MS" pitchFamily="34" charset="-120"/>
              </a:rPr>
              <a:t>Observers</a:t>
            </a:r>
            <a:endParaRPr lang="en-US" dirty="0"/>
          </a:p>
        </p:txBody>
      </p:sp>
      <p:sp>
        <p:nvSpPr>
          <p:cNvPr id="24" name="Text 22"/>
          <p:cNvSpPr/>
          <p:nvPr/>
        </p:nvSpPr>
        <p:spPr>
          <a:xfrm>
            <a:off x="8933688" y="4946904"/>
            <a:ext cx="2414016" cy="1005840"/>
          </a:xfrm>
          <a:prstGeom prst="rect">
            <a:avLst/>
          </a:prstGeom>
          <a:noFill/>
          <a:ln/>
        </p:spPr>
        <p:txBody>
          <a:bodyPr wrap="square" lIns="0" tIns="0" rIns="0" bIns="0" rtlCol="0" anchor="t"/>
          <a:lstStyle/>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Viewers, tickers,</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boards and P&amp;L</a:t>
            </a:r>
            <a:endParaRPr lang="en-US" sz="1600" dirty="0"/>
          </a:p>
          <a:p>
            <a:pPr marL="0" indent="0">
              <a:lnSpc>
                <a:spcPts val="1500"/>
              </a:lnSpc>
              <a:buNone/>
            </a:pPr>
            <a:r>
              <a:rPr lang="en-US" sz="1600" dirty="0">
                <a:solidFill>
                  <a:srgbClr val="8D97A5"/>
                </a:solidFill>
                <a:latin typeface="Calibri" pitchFamily="34" charset="0"/>
                <a:ea typeface="Calibri" pitchFamily="34" charset="-122"/>
                <a:cs typeface="Calibri" pitchFamily="34" charset="-120"/>
              </a:rPr>
              <a:t>tools</a:t>
            </a:r>
            <a:endParaRPr lang="en-US" sz="1600" dirty="0"/>
          </a:p>
        </p:txBody>
      </p:sp>
      <p:sp>
        <p:nvSpPr>
          <p:cNvPr id="25" name="Shape 23"/>
          <p:cNvSpPr/>
          <p:nvPr/>
        </p:nvSpPr>
        <p:spPr>
          <a:xfrm>
            <a:off x="3456432" y="2880360"/>
            <a:ext cx="1344168" cy="685800"/>
          </a:xfrm>
          <a:prstGeom prst="line">
            <a:avLst/>
          </a:prstGeom>
          <a:noFill/>
          <a:ln w="19050">
            <a:solidFill>
              <a:srgbClr val="3B4450"/>
            </a:solidFill>
            <a:prstDash val="solid"/>
          </a:ln>
        </p:spPr>
        <p:txBody>
          <a:bodyPr/>
          <a:lstStyle/>
          <a:p>
            <a:endParaRPr lang="en-SE"/>
          </a:p>
        </p:txBody>
      </p:sp>
      <p:sp>
        <p:nvSpPr>
          <p:cNvPr id="26" name="Shape 24"/>
          <p:cNvSpPr/>
          <p:nvPr/>
        </p:nvSpPr>
        <p:spPr>
          <a:xfrm>
            <a:off x="3456432" y="5212080"/>
            <a:ext cx="1344168" cy="685800"/>
          </a:xfrm>
          <a:prstGeom prst="line">
            <a:avLst/>
          </a:prstGeom>
          <a:noFill/>
          <a:ln w="19050">
            <a:solidFill>
              <a:srgbClr val="3B4450"/>
            </a:solidFill>
            <a:prstDash val="solid"/>
          </a:ln>
        </p:spPr>
        <p:txBody>
          <a:bodyPr/>
          <a:lstStyle/>
          <a:p>
            <a:endParaRPr lang="en-SE"/>
          </a:p>
        </p:txBody>
      </p:sp>
      <p:sp>
        <p:nvSpPr>
          <p:cNvPr id="27" name="Shape 25"/>
          <p:cNvSpPr/>
          <p:nvPr/>
        </p:nvSpPr>
        <p:spPr>
          <a:xfrm>
            <a:off x="7406640" y="3566160"/>
            <a:ext cx="1325880" cy="685800"/>
          </a:xfrm>
          <a:prstGeom prst="line">
            <a:avLst/>
          </a:prstGeom>
          <a:noFill/>
          <a:ln w="19050">
            <a:solidFill>
              <a:srgbClr val="3B4450"/>
            </a:solidFill>
            <a:prstDash val="solid"/>
          </a:ln>
        </p:spPr>
        <p:txBody>
          <a:bodyPr/>
          <a:lstStyle/>
          <a:p>
            <a:endParaRPr lang="en-SE"/>
          </a:p>
        </p:txBody>
      </p:sp>
      <p:sp>
        <p:nvSpPr>
          <p:cNvPr id="28" name="Shape 26"/>
          <p:cNvSpPr/>
          <p:nvPr/>
        </p:nvSpPr>
        <p:spPr>
          <a:xfrm>
            <a:off x="7406640" y="3566160"/>
            <a:ext cx="1325880" cy="685800"/>
          </a:xfrm>
          <a:prstGeom prst="line">
            <a:avLst/>
          </a:prstGeom>
          <a:noFill/>
          <a:ln w="19050">
            <a:solidFill>
              <a:srgbClr val="3B4450"/>
            </a:solidFill>
            <a:prstDash val="solid"/>
          </a:ln>
        </p:spPr>
        <p:txBody>
          <a:bodyPr/>
          <a:lstStyle/>
          <a:p>
            <a:endParaRPr lang="en-SE"/>
          </a:p>
        </p:txBody>
      </p:sp>
      <p:sp>
        <p:nvSpPr>
          <p:cNvPr id="29" name="Text 27"/>
          <p:cNvSpPr/>
          <p:nvPr/>
        </p:nvSpPr>
        <p:spPr>
          <a:xfrm>
            <a:off x="640080" y="5943600"/>
            <a:ext cx="10911535" cy="310896"/>
          </a:xfrm>
          <a:prstGeom prst="rect">
            <a:avLst/>
          </a:prstGeom>
          <a:noFill/>
          <a:ln/>
        </p:spPr>
        <p:txBody>
          <a:bodyPr wrap="square" lIns="0" tIns="0" rIns="0" bIns="0" rtlCol="0" anchor="ctr"/>
          <a:lstStyle/>
          <a:p>
            <a:pPr marL="0" indent="0" algn="ctr">
              <a:buNone/>
            </a:pPr>
            <a:r>
              <a:rPr lang="en-US" sz="1250" dirty="0">
                <a:solidFill>
                  <a:srgbClr val="C2CAD4"/>
                </a:solidFill>
                <a:latin typeface="Calibri" pitchFamily="34" charset="0"/>
                <a:ea typeface="Calibri" pitchFamily="34" charset="-122"/>
                <a:cs typeface="Calibri" pitchFamily="34" charset="-120"/>
              </a:rPr>
              <a:t>Every one of these processes learns what it may do from the same configuration.</a:t>
            </a:r>
            <a:endParaRPr lang="en-US" sz="1250" dirty="0"/>
          </a:p>
        </p:txBody>
      </p:sp>
      <p:sp>
        <p:nvSpPr>
          <p:cNvPr id="30" name="Text 28"/>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01 · What is configuration?</a:t>
            </a:r>
            <a:endParaRPr lang="en-US" sz="950" dirty="0"/>
          </a:p>
        </p:txBody>
      </p:sp>
      <p:sp>
        <p:nvSpPr>
          <p:cNvPr id="31" name="Text 29"/>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DEFINITION</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Configuration is reference data</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In exchange language, "reference data" is the set of facts about the market that must be true before the first order arrives.</a:t>
            </a:r>
            <a:endParaRPr lang="en-US" sz="1450" dirty="0"/>
          </a:p>
        </p:txBody>
      </p:sp>
      <p:sp>
        <p:nvSpPr>
          <p:cNvPr id="6" name="Shape 4"/>
          <p:cNvSpPr/>
          <p:nvPr/>
        </p:nvSpPr>
        <p:spPr>
          <a:xfrm>
            <a:off x="640080" y="2148840"/>
            <a:ext cx="5212080" cy="3108960"/>
          </a:xfrm>
          <a:prstGeom prst="roundRect">
            <a:avLst>
              <a:gd name="adj" fmla="val 1765"/>
            </a:avLst>
          </a:prstGeom>
          <a:solidFill>
            <a:srgbClr val="252B33"/>
          </a:solidFill>
          <a:ln w="12700">
            <a:solidFill>
              <a:srgbClr val="3B4450"/>
            </a:solidFill>
            <a:prstDash val="solid"/>
          </a:ln>
        </p:spPr>
        <p:txBody>
          <a:bodyPr/>
          <a:lstStyle/>
          <a:p>
            <a:endParaRPr lang="en-SE"/>
          </a:p>
        </p:txBody>
      </p:sp>
      <p:sp>
        <p:nvSpPr>
          <p:cNvPr id="7" name="Text 5"/>
          <p:cNvSpPr/>
          <p:nvPr/>
        </p:nvSpPr>
        <p:spPr>
          <a:xfrm>
            <a:off x="914400" y="2377440"/>
            <a:ext cx="4663440" cy="365760"/>
          </a:xfrm>
          <a:prstGeom prst="rect">
            <a:avLst/>
          </a:prstGeom>
          <a:noFill/>
          <a:ln/>
        </p:spPr>
        <p:txBody>
          <a:bodyPr wrap="square" lIns="0" tIns="0" rIns="0" bIns="0" rtlCol="0" anchor="ctr"/>
          <a:lstStyle/>
          <a:p>
            <a:pPr marL="0" indent="0">
              <a:buNone/>
            </a:pPr>
            <a:r>
              <a:rPr lang="en-US" sz="1700" b="1" dirty="0">
                <a:solidFill>
                  <a:srgbClr val="F1F4F8"/>
                </a:solidFill>
                <a:latin typeface="Trebuchet MS" pitchFamily="34" charset="0"/>
                <a:ea typeface="Trebuchet MS" pitchFamily="34" charset="-122"/>
                <a:cs typeface="Trebuchet MS" pitchFamily="34" charset="-120"/>
              </a:rPr>
              <a:t>It answers four questions</a:t>
            </a:r>
            <a:endParaRPr lang="en-US" sz="1700" dirty="0"/>
          </a:p>
        </p:txBody>
      </p:sp>
      <p:sp>
        <p:nvSpPr>
          <p:cNvPr id="8" name="Shape 6"/>
          <p:cNvSpPr/>
          <p:nvPr/>
        </p:nvSpPr>
        <p:spPr>
          <a:xfrm>
            <a:off x="914400" y="2962656"/>
            <a:ext cx="82296" cy="82296"/>
          </a:xfrm>
          <a:prstGeom prst="rect">
            <a:avLst/>
          </a:prstGeom>
          <a:solidFill>
            <a:srgbClr val="34D6BE"/>
          </a:solidFill>
          <a:ln w="12700">
            <a:solidFill>
              <a:srgbClr val="333333"/>
            </a:solidFill>
            <a:prstDash val="solid"/>
          </a:ln>
        </p:spPr>
        <p:txBody>
          <a:bodyPr/>
          <a:lstStyle/>
          <a:p>
            <a:endParaRPr lang="en-SE"/>
          </a:p>
        </p:txBody>
      </p:sp>
      <p:sp>
        <p:nvSpPr>
          <p:cNvPr id="9" name="Text 7"/>
          <p:cNvSpPr/>
          <p:nvPr/>
        </p:nvSpPr>
        <p:spPr>
          <a:xfrm>
            <a:off x="1152144" y="2862072"/>
            <a:ext cx="44256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What trades?  </a:t>
            </a:r>
            <a:r>
              <a:rPr lang="en-US" sz="1200" dirty="0">
                <a:solidFill>
                  <a:srgbClr val="C2CAD4"/>
                </a:solidFill>
                <a:latin typeface="Calibri" pitchFamily="34" charset="0"/>
                <a:ea typeface="Calibri" pitchFamily="34" charset="-122"/>
                <a:cs typeface="Calibri" pitchFamily="34" charset="-120"/>
              </a:rPr>
              <a:t>The symbol universe — the instrument allowlist.</a:t>
            </a:r>
            <a:endParaRPr lang="en-US" sz="1200" dirty="0"/>
          </a:p>
        </p:txBody>
      </p:sp>
      <p:sp>
        <p:nvSpPr>
          <p:cNvPr id="10" name="Shape 8"/>
          <p:cNvSpPr/>
          <p:nvPr/>
        </p:nvSpPr>
        <p:spPr>
          <a:xfrm>
            <a:off x="914400" y="3529584"/>
            <a:ext cx="82296" cy="82296"/>
          </a:xfrm>
          <a:prstGeom prst="rect">
            <a:avLst/>
          </a:prstGeom>
          <a:solidFill>
            <a:srgbClr val="F3B441"/>
          </a:solidFill>
          <a:ln w="12700">
            <a:solidFill>
              <a:srgbClr val="333333"/>
            </a:solidFill>
            <a:prstDash val="solid"/>
          </a:ln>
        </p:spPr>
        <p:txBody>
          <a:bodyPr/>
          <a:lstStyle/>
          <a:p>
            <a:endParaRPr lang="en-SE"/>
          </a:p>
        </p:txBody>
      </p:sp>
      <p:sp>
        <p:nvSpPr>
          <p:cNvPr id="11" name="Text 9"/>
          <p:cNvSpPr/>
          <p:nvPr/>
        </p:nvSpPr>
        <p:spPr>
          <a:xfrm>
            <a:off x="1152144" y="3429000"/>
            <a:ext cx="44256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Who may connect?  </a:t>
            </a:r>
            <a:r>
              <a:rPr lang="en-US" sz="1200" dirty="0">
                <a:solidFill>
                  <a:srgbClr val="C2CAD4"/>
                </a:solidFill>
                <a:latin typeface="Calibri" pitchFamily="34" charset="0"/>
                <a:ea typeface="Calibri" pitchFamily="34" charset="-122"/>
                <a:cs typeface="Calibri" pitchFamily="34" charset="-120"/>
              </a:rPr>
              <a:t>The gateway allowlist, and each one's role.</a:t>
            </a:r>
            <a:endParaRPr lang="en-US" sz="1200" dirty="0"/>
          </a:p>
        </p:txBody>
      </p:sp>
      <p:sp>
        <p:nvSpPr>
          <p:cNvPr id="12" name="Shape 10"/>
          <p:cNvSpPr/>
          <p:nvPr/>
        </p:nvSpPr>
        <p:spPr>
          <a:xfrm>
            <a:off x="914400" y="4096512"/>
            <a:ext cx="82296" cy="82296"/>
          </a:xfrm>
          <a:prstGeom prst="rect">
            <a:avLst/>
          </a:prstGeom>
          <a:solidFill>
            <a:srgbClr val="9B8CFF"/>
          </a:solidFill>
          <a:ln w="12700">
            <a:solidFill>
              <a:srgbClr val="333333"/>
            </a:solidFill>
            <a:prstDash val="solid"/>
          </a:ln>
        </p:spPr>
        <p:txBody>
          <a:bodyPr/>
          <a:lstStyle/>
          <a:p>
            <a:endParaRPr lang="en-SE"/>
          </a:p>
        </p:txBody>
      </p:sp>
      <p:sp>
        <p:nvSpPr>
          <p:cNvPr id="13" name="Text 11"/>
          <p:cNvSpPr/>
          <p:nvPr/>
        </p:nvSpPr>
        <p:spPr>
          <a:xfrm>
            <a:off x="1152144" y="3995928"/>
            <a:ext cx="44256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When is the market open?  </a:t>
            </a:r>
            <a:r>
              <a:rPr lang="en-US" sz="1200" dirty="0">
                <a:solidFill>
                  <a:srgbClr val="C2CAD4"/>
                </a:solidFill>
                <a:latin typeface="Calibri" pitchFamily="34" charset="0"/>
                <a:ea typeface="Calibri" pitchFamily="34" charset="-122"/>
                <a:cs typeface="Calibri" pitchFamily="34" charset="-120"/>
              </a:rPr>
              <a:t>Sessions, auctions and the daily schedule.</a:t>
            </a:r>
            <a:endParaRPr lang="en-US" sz="1200" dirty="0"/>
          </a:p>
        </p:txBody>
      </p:sp>
      <p:sp>
        <p:nvSpPr>
          <p:cNvPr id="14" name="Shape 12"/>
          <p:cNvSpPr/>
          <p:nvPr/>
        </p:nvSpPr>
        <p:spPr>
          <a:xfrm>
            <a:off x="914400" y="4663440"/>
            <a:ext cx="82296" cy="82296"/>
          </a:xfrm>
          <a:prstGeom prst="rect">
            <a:avLst/>
          </a:prstGeom>
          <a:solidFill>
            <a:srgbClr val="FF7A6B"/>
          </a:solidFill>
          <a:ln w="12700">
            <a:solidFill>
              <a:srgbClr val="333333"/>
            </a:solidFill>
            <a:prstDash val="solid"/>
          </a:ln>
        </p:spPr>
        <p:txBody>
          <a:bodyPr/>
          <a:lstStyle/>
          <a:p>
            <a:endParaRPr lang="en-SE"/>
          </a:p>
        </p:txBody>
      </p:sp>
      <p:sp>
        <p:nvSpPr>
          <p:cNvPr id="15" name="Text 13"/>
          <p:cNvSpPr/>
          <p:nvPr/>
        </p:nvSpPr>
        <p:spPr>
          <a:xfrm>
            <a:off x="1152144" y="4562856"/>
            <a:ext cx="44256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What is not allowed?  </a:t>
            </a:r>
            <a:r>
              <a:rPr lang="en-US" sz="1200" dirty="0">
                <a:solidFill>
                  <a:srgbClr val="C2CAD4"/>
                </a:solidFill>
                <a:latin typeface="Calibri" pitchFamily="34" charset="0"/>
                <a:ea typeface="Calibri" pitchFamily="34" charset="-122"/>
                <a:cs typeface="Calibri" pitchFamily="34" charset="-120"/>
              </a:rPr>
              <a:t>Collars, circuit breakers and obligations.</a:t>
            </a:r>
            <a:endParaRPr lang="en-US" sz="1200" dirty="0"/>
          </a:p>
        </p:txBody>
      </p:sp>
      <p:sp>
        <p:nvSpPr>
          <p:cNvPr id="16" name="Shape 14"/>
          <p:cNvSpPr/>
          <p:nvPr/>
        </p:nvSpPr>
        <p:spPr>
          <a:xfrm>
            <a:off x="6172200" y="2148840"/>
            <a:ext cx="5376672" cy="2651760"/>
          </a:xfrm>
          <a:prstGeom prst="roundRect">
            <a:avLst>
              <a:gd name="adj" fmla="val 1724"/>
            </a:avLst>
          </a:prstGeom>
          <a:solidFill>
            <a:srgbClr val="15181D"/>
          </a:solidFill>
          <a:ln w="12700">
            <a:solidFill>
              <a:srgbClr val="3B4450"/>
            </a:solidFill>
            <a:prstDash val="solid"/>
          </a:ln>
        </p:spPr>
        <p:txBody>
          <a:bodyPr/>
          <a:lstStyle/>
          <a:p>
            <a:endParaRPr lang="en-SE"/>
          </a:p>
        </p:txBody>
      </p:sp>
      <p:sp>
        <p:nvSpPr>
          <p:cNvPr id="17" name="Shape 15"/>
          <p:cNvSpPr/>
          <p:nvPr/>
        </p:nvSpPr>
        <p:spPr>
          <a:xfrm>
            <a:off x="6173114" y="2149754"/>
            <a:ext cx="5374843" cy="310896"/>
          </a:xfrm>
          <a:prstGeom prst="rect">
            <a:avLst/>
          </a:prstGeom>
          <a:solidFill>
            <a:srgbClr val="252B33"/>
          </a:solidFill>
          <a:ln w="12700">
            <a:solidFill>
              <a:srgbClr val="333333"/>
            </a:solidFill>
            <a:prstDash val="solid"/>
          </a:ln>
        </p:spPr>
        <p:txBody>
          <a:bodyPr/>
          <a:lstStyle/>
          <a:p>
            <a:endParaRPr lang="en-SE"/>
          </a:p>
        </p:txBody>
      </p:sp>
      <p:sp>
        <p:nvSpPr>
          <p:cNvPr id="18" name="Shape 16"/>
          <p:cNvSpPr/>
          <p:nvPr/>
        </p:nvSpPr>
        <p:spPr>
          <a:xfrm>
            <a:off x="6300216" y="2253996"/>
            <a:ext cx="100584" cy="100584"/>
          </a:xfrm>
          <a:prstGeom prst="ellipse">
            <a:avLst/>
          </a:prstGeom>
          <a:solidFill>
            <a:srgbClr val="FF7A6B"/>
          </a:solidFill>
          <a:ln w="12700">
            <a:solidFill>
              <a:srgbClr val="333333"/>
            </a:solidFill>
            <a:prstDash val="solid"/>
          </a:ln>
        </p:spPr>
        <p:txBody>
          <a:bodyPr/>
          <a:lstStyle/>
          <a:p>
            <a:endParaRPr lang="en-SE"/>
          </a:p>
        </p:txBody>
      </p:sp>
      <p:sp>
        <p:nvSpPr>
          <p:cNvPr id="19" name="Shape 17"/>
          <p:cNvSpPr/>
          <p:nvPr/>
        </p:nvSpPr>
        <p:spPr>
          <a:xfrm>
            <a:off x="6473952" y="2253996"/>
            <a:ext cx="100584" cy="100584"/>
          </a:xfrm>
          <a:prstGeom prst="ellipse">
            <a:avLst/>
          </a:prstGeom>
          <a:solidFill>
            <a:srgbClr val="F3B441"/>
          </a:solidFill>
          <a:ln w="12700">
            <a:solidFill>
              <a:srgbClr val="333333"/>
            </a:solidFill>
            <a:prstDash val="solid"/>
          </a:ln>
        </p:spPr>
        <p:txBody>
          <a:bodyPr/>
          <a:lstStyle/>
          <a:p>
            <a:endParaRPr lang="en-SE"/>
          </a:p>
        </p:txBody>
      </p:sp>
      <p:sp>
        <p:nvSpPr>
          <p:cNvPr id="20" name="Shape 18"/>
          <p:cNvSpPr/>
          <p:nvPr/>
        </p:nvSpPr>
        <p:spPr>
          <a:xfrm>
            <a:off x="6647688" y="2253996"/>
            <a:ext cx="100584" cy="100584"/>
          </a:xfrm>
          <a:prstGeom prst="ellipse">
            <a:avLst/>
          </a:prstGeom>
          <a:solidFill>
            <a:srgbClr val="6BD98A"/>
          </a:solidFill>
          <a:ln w="12700">
            <a:solidFill>
              <a:srgbClr val="333333"/>
            </a:solidFill>
            <a:prstDash val="solid"/>
          </a:ln>
        </p:spPr>
        <p:txBody>
          <a:bodyPr/>
          <a:lstStyle/>
          <a:p>
            <a:endParaRPr lang="en-SE"/>
          </a:p>
        </p:txBody>
      </p:sp>
      <p:sp>
        <p:nvSpPr>
          <p:cNvPr id="21" name="Text 19"/>
          <p:cNvSpPr/>
          <p:nvPr/>
        </p:nvSpPr>
        <p:spPr>
          <a:xfrm>
            <a:off x="6885432" y="2167128"/>
            <a:ext cx="4553712"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engine_config.yaml</a:t>
            </a:r>
            <a:endParaRPr lang="en-US" sz="950" dirty="0"/>
          </a:p>
        </p:txBody>
      </p:sp>
      <p:sp>
        <p:nvSpPr>
          <p:cNvPr id="22" name="Text 20"/>
          <p:cNvSpPr/>
          <p:nvPr/>
        </p:nvSpPr>
        <p:spPr>
          <a:xfrm>
            <a:off x="6373368" y="2514600"/>
            <a:ext cx="5010912" cy="2194560"/>
          </a:xfrm>
          <a:prstGeom prst="rect">
            <a:avLst/>
          </a:prstGeom>
          <a:noFill/>
          <a:ln/>
        </p:spPr>
        <p:txBody>
          <a:bodyPr wrap="square" lIns="0" tIns="0" rIns="0" bIns="0" rtlCol="0" anchor="t"/>
          <a:lstStyle/>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symbols:</a:t>
            </a:r>
            <a:endParaRPr lang="en-US" sz="1250" dirty="0"/>
          </a:p>
          <a:p>
            <a:pPr marL="0" indent="0">
              <a:lnSpc>
                <a:spcPts val="1650"/>
              </a:lnSpc>
              <a:buNone/>
            </a:pPr>
            <a:r>
              <a:rPr lang="en-US" sz="1250" dirty="0">
                <a:solidFill>
                  <a:srgbClr val="F1F4F8"/>
                </a:solidFill>
                <a:latin typeface="Consolas" pitchFamily="34" charset="0"/>
                <a:ea typeface="Consolas" pitchFamily="34" charset="-122"/>
                <a:cs typeface="Consolas" pitchFamily="34" charset="-120"/>
              </a:rPr>
              <a:t>  AAPL:</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tick_decimals: 2</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last_buy_price: 149.90</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last_sell_price: 150.10</a:t>
            </a:r>
            <a:endParaRPr lang="en-US" sz="1250" dirty="0"/>
          </a:p>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gateways:</a:t>
            </a:r>
            <a:endParaRPr lang="en-US" sz="1250" dirty="0"/>
          </a:p>
          <a:p>
            <a:pPr marL="0" indent="0">
              <a:lnSpc>
                <a:spcPts val="1650"/>
              </a:lnSpc>
              <a:buNone/>
            </a:pPr>
            <a:r>
              <a:rPr lang="en-US" sz="1250" dirty="0">
                <a:solidFill>
                  <a:srgbClr val="F1F4F8"/>
                </a:solidFill>
                <a:latin typeface="Consolas" pitchFamily="34" charset="0"/>
                <a:ea typeface="Consolas" pitchFamily="34" charset="-122"/>
                <a:cs typeface="Consolas" pitchFamily="34" charset="-120"/>
              </a:rPr>
              <a:t>  alf:</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 id: TRADER01</a:t>
            </a:r>
            <a:endParaRPr lang="en-US" sz="1250" dirty="0"/>
          </a:p>
        </p:txBody>
      </p:sp>
      <p:sp>
        <p:nvSpPr>
          <p:cNvPr id="23" name="Shape 21"/>
          <p:cNvSpPr/>
          <p:nvPr/>
        </p:nvSpPr>
        <p:spPr>
          <a:xfrm>
            <a:off x="640080" y="5486400"/>
            <a:ext cx="10911535" cy="777240"/>
          </a:xfrm>
          <a:prstGeom prst="roundRect">
            <a:avLst>
              <a:gd name="adj" fmla="val 7059"/>
            </a:avLst>
          </a:prstGeom>
          <a:solidFill>
            <a:srgbClr val="13463F"/>
          </a:solidFill>
          <a:ln w="12700">
            <a:solidFill>
              <a:srgbClr val="34D6BE"/>
            </a:solidFill>
            <a:prstDash val="solid"/>
          </a:ln>
        </p:spPr>
        <p:txBody>
          <a:bodyPr/>
          <a:lstStyle/>
          <a:p>
            <a:endParaRPr lang="en-SE"/>
          </a:p>
        </p:txBody>
      </p:sp>
      <p:sp>
        <p:nvSpPr>
          <p:cNvPr id="24" name="Text 22"/>
          <p:cNvSpPr/>
          <p:nvPr/>
        </p:nvSpPr>
        <p:spPr>
          <a:xfrm>
            <a:off x="877824" y="557784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READ THIS AS</a:t>
            </a:r>
            <a:endParaRPr lang="en-US" sz="950" dirty="0"/>
          </a:p>
        </p:txBody>
      </p:sp>
      <p:sp>
        <p:nvSpPr>
          <p:cNvPr id="25" name="Text 23"/>
          <p:cNvSpPr/>
          <p:nvPr/>
        </p:nvSpPr>
        <p:spPr>
          <a:xfrm>
            <a:off x="877824" y="583387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One instrument called AAPL priced in cents around 150, and one participant called TRADER01 who is allowed to connect. That is already a working exchange.</a:t>
            </a:r>
            <a:endParaRPr lang="en-US" sz="1250" dirty="0"/>
          </a:p>
        </p:txBody>
      </p:sp>
      <p:sp>
        <p:nvSpPr>
          <p:cNvPr id="26" name="Text 2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01 · What is configuration?</a:t>
            </a:r>
            <a:endParaRPr lang="en-US" sz="950" dirty="0"/>
          </a:p>
        </p:txBody>
      </p:sp>
      <p:sp>
        <p:nvSpPr>
          <p:cNvPr id="27" name="Text 2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BOUNDARIES</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What configuration decides — and what it never touches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common beginner question: if it is in the file, can I change it? Here is the line.</a:t>
            </a:r>
            <a:endParaRPr lang="en-US" sz="1450" dirty="0"/>
          </a:p>
        </p:txBody>
      </p:sp>
      <p:sp>
        <p:nvSpPr>
          <p:cNvPr id="6" name="Shape 4"/>
          <p:cNvSpPr/>
          <p:nvPr/>
        </p:nvSpPr>
        <p:spPr>
          <a:xfrm>
            <a:off x="640080" y="2148840"/>
            <a:ext cx="5349240" cy="3200400"/>
          </a:xfrm>
          <a:prstGeom prst="roundRect">
            <a:avLst>
              <a:gd name="adj" fmla="val 1714"/>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149754"/>
            <a:ext cx="5347411"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914400" y="2395728"/>
            <a:ext cx="4754880" cy="365760"/>
          </a:xfrm>
          <a:prstGeom prst="rect">
            <a:avLst/>
          </a:prstGeom>
          <a:noFill/>
          <a:ln/>
        </p:spPr>
        <p:txBody>
          <a:bodyPr wrap="square" lIns="0" tIns="0" rIns="0" bIns="0" rtlCol="0" anchor="ctr"/>
          <a:lstStyle/>
          <a:p>
            <a:pPr marL="0" indent="0">
              <a:buNone/>
            </a:pPr>
            <a:r>
              <a:rPr lang="en-US" sz="1700" b="1" dirty="0">
                <a:solidFill>
                  <a:srgbClr val="34D6BE"/>
                </a:solidFill>
                <a:latin typeface="Trebuchet MS" pitchFamily="34" charset="0"/>
                <a:ea typeface="Trebuchet MS" pitchFamily="34" charset="-122"/>
                <a:cs typeface="Trebuchet MS" pitchFamily="34" charset="-120"/>
              </a:rPr>
              <a:t>Configuration decides</a:t>
            </a:r>
            <a:endParaRPr lang="en-US" sz="1700" dirty="0"/>
          </a:p>
        </p:txBody>
      </p:sp>
      <p:sp>
        <p:nvSpPr>
          <p:cNvPr id="9" name="Shape 7"/>
          <p:cNvSpPr/>
          <p:nvPr/>
        </p:nvSpPr>
        <p:spPr>
          <a:xfrm>
            <a:off x="914400" y="2962656"/>
            <a:ext cx="82296" cy="82296"/>
          </a:xfrm>
          <a:prstGeom prst="rect">
            <a:avLst/>
          </a:prstGeom>
          <a:solidFill>
            <a:srgbClr val="34D6BE"/>
          </a:solidFill>
          <a:ln w="12700">
            <a:solidFill>
              <a:srgbClr val="333333"/>
            </a:solidFill>
            <a:prstDash val="solid"/>
          </a:ln>
        </p:spPr>
        <p:txBody>
          <a:bodyPr/>
          <a:lstStyle/>
          <a:p>
            <a:endParaRPr lang="en-SE"/>
          </a:p>
        </p:txBody>
      </p:sp>
      <p:sp>
        <p:nvSpPr>
          <p:cNvPr id="10" name="Text 8"/>
          <p:cNvSpPr/>
          <p:nvPr/>
        </p:nvSpPr>
        <p:spPr>
          <a:xfrm>
            <a:off x="1152144" y="2862072"/>
            <a:ext cx="456285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Universe  </a:t>
            </a:r>
            <a:r>
              <a:rPr lang="en-US" sz="1200" dirty="0">
                <a:solidFill>
                  <a:srgbClr val="C2CAD4"/>
                </a:solidFill>
                <a:latin typeface="Calibri" pitchFamily="34" charset="0"/>
                <a:ea typeface="Calibri" pitchFamily="34" charset="-122"/>
                <a:cs typeface="Calibri" pitchFamily="34" charset="-120"/>
              </a:rPr>
              <a:t>which symbols exist and their price precision</a:t>
            </a:r>
            <a:endParaRPr lang="en-US" sz="1200" dirty="0"/>
          </a:p>
        </p:txBody>
      </p:sp>
      <p:sp>
        <p:nvSpPr>
          <p:cNvPr id="11" name="Shape 9"/>
          <p:cNvSpPr/>
          <p:nvPr/>
        </p:nvSpPr>
        <p:spPr>
          <a:xfrm>
            <a:off x="914400" y="3419856"/>
            <a:ext cx="82296" cy="82296"/>
          </a:xfrm>
          <a:prstGeom prst="rect">
            <a:avLst/>
          </a:prstGeom>
          <a:solidFill>
            <a:srgbClr val="34D6BE"/>
          </a:solidFill>
          <a:ln w="12700">
            <a:solidFill>
              <a:srgbClr val="333333"/>
            </a:solidFill>
            <a:prstDash val="solid"/>
          </a:ln>
        </p:spPr>
        <p:txBody>
          <a:bodyPr/>
          <a:lstStyle/>
          <a:p>
            <a:endParaRPr lang="en-SE"/>
          </a:p>
        </p:txBody>
      </p:sp>
      <p:sp>
        <p:nvSpPr>
          <p:cNvPr id="12" name="Text 10"/>
          <p:cNvSpPr/>
          <p:nvPr/>
        </p:nvSpPr>
        <p:spPr>
          <a:xfrm>
            <a:off x="1152144" y="3319272"/>
            <a:ext cx="456285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Access  </a:t>
            </a:r>
            <a:r>
              <a:rPr lang="en-US" sz="1200" dirty="0">
                <a:solidFill>
                  <a:srgbClr val="C2CAD4"/>
                </a:solidFill>
                <a:latin typeface="Calibri" pitchFamily="34" charset="0"/>
                <a:ea typeface="Calibri" pitchFamily="34" charset="-122"/>
                <a:cs typeface="Calibri" pitchFamily="34" charset="-120"/>
              </a:rPr>
              <a:t>which gateway IDs may connect, and their roles</a:t>
            </a:r>
            <a:endParaRPr lang="en-US" sz="1200" dirty="0"/>
          </a:p>
        </p:txBody>
      </p:sp>
      <p:sp>
        <p:nvSpPr>
          <p:cNvPr id="13" name="Shape 11"/>
          <p:cNvSpPr/>
          <p:nvPr/>
        </p:nvSpPr>
        <p:spPr>
          <a:xfrm>
            <a:off x="914400" y="3877056"/>
            <a:ext cx="82296" cy="82296"/>
          </a:xfrm>
          <a:prstGeom prst="rect">
            <a:avLst/>
          </a:prstGeom>
          <a:solidFill>
            <a:srgbClr val="34D6BE"/>
          </a:solidFill>
          <a:ln w="12700">
            <a:solidFill>
              <a:srgbClr val="333333"/>
            </a:solidFill>
            <a:prstDash val="solid"/>
          </a:ln>
        </p:spPr>
        <p:txBody>
          <a:bodyPr/>
          <a:lstStyle/>
          <a:p>
            <a:endParaRPr lang="en-SE"/>
          </a:p>
        </p:txBody>
      </p:sp>
      <p:sp>
        <p:nvSpPr>
          <p:cNvPr id="14" name="Text 12"/>
          <p:cNvSpPr/>
          <p:nvPr/>
        </p:nvSpPr>
        <p:spPr>
          <a:xfrm>
            <a:off x="1152144" y="3776472"/>
            <a:ext cx="456285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Policy  </a:t>
            </a:r>
            <a:r>
              <a:rPr lang="en-US" sz="1200" dirty="0">
                <a:solidFill>
                  <a:srgbClr val="C2CAD4"/>
                </a:solidFill>
                <a:latin typeface="Calibri" pitchFamily="34" charset="0"/>
                <a:ea typeface="Calibri" pitchFamily="34" charset="-122"/>
                <a:cs typeface="Calibri" pitchFamily="34" charset="-120"/>
              </a:rPr>
              <a:t>collars, circuit-breaker ladders, MM obligations</a:t>
            </a:r>
            <a:endParaRPr lang="en-US" sz="1200" dirty="0"/>
          </a:p>
        </p:txBody>
      </p:sp>
      <p:sp>
        <p:nvSpPr>
          <p:cNvPr id="15" name="Shape 13"/>
          <p:cNvSpPr/>
          <p:nvPr/>
        </p:nvSpPr>
        <p:spPr>
          <a:xfrm>
            <a:off x="914400" y="4334256"/>
            <a:ext cx="82296" cy="82296"/>
          </a:xfrm>
          <a:prstGeom prst="rect">
            <a:avLst/>
          </a:prstGeom>
          <a:solidFill>
            <a:srgbClr val="34D6BE"/>
          </a:solidFill>
          <a:ln w="12700">
            <a:solidFill>
              <a:srgbClr val="333333"/>
            </a:solidFill>
            <a:prstDash val="solid"/>
          </a:ln>
        </p:spPr>
        <p:txBody>
          <a:bodyPr/>
          <a:lstStyle/>
          <a:p>
            <a:endParaRPr lang="en-SE"/>
          </a:p>
        </p:txBody>
      </p:sp>
      <p:sp>
        <p:nvSpPr>
          <p:cNvPr id="16" name="Text 14"/>
          <p:cNvSpPr/>
          <p:nvPr/>
        </p:nvSpPr>
        <p:spPr>
          <a:xfrm>
            <a:off x="1152144" y="4233672"/>
            <a:ext cx="456285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Rhythm  </a:t>
            </a:r>
            <a:r>
              <a:rPr lang="en-US" sz="1200" dirty="0">
                <a:solidFill>
                  <a:srgbClr val="C2CAD4"/>
                </a:solidFill>
                <a:latin typeface="Calibri" pitchFamily="34" charset="0"/>
                <a:ea typeface="Calibri" pitchFamily="34" charset="-122"/>
                <a:cs typeface="Calibri" pitchFamily="34" charset="-120"/>
              </a:rPr>
              <a:t>session phases, auction times, holiday calendar</a:t>
            </a:r>
            <a:endParaRPr lang="en-US" sz="1200" dirty="0"/>
          </a:p>
        </p:txBody>
      </p:sp>
      <p:sp>
        <p:nvSpPr>
          <p:cNvPr id="17" name="Shape 15"/>
          <p:cNvSpPr/>
          <p:nvPr/>
        </p:nvSpPr>
        <p:spPr>
          <a:xfrm>
            <a:off x="914400" y="4791456"/>
            <a:ext cx="82296" cy="82296"/>
          </a:xfrm>
          <a:prstGeom prst="rect">
            <a:avLst/>
          </a:prstGeom>
          <a:solidFill>
            <a:srgbClr val="34D6BE"/>
          </a:solidFill>
          <a:ln w="12700">
            <a:solidFill>
              <a:srgbClr val="333333"/>
            </a:solidFill>
            <a:prstDash val="solid"/>
          </a:ln>
        </p:spPr>
        <p:txBody>
          <a:bodyPr/>
          <a:lstStyle/>
          <a:p>
            <a:endParaRPr lang="en-SE"/>
          </a:p>
        </p:txBody>
      </p:sp>
      <p:sp>
        <p:nvSpPr>
          <p:cNvPr id="18" name="Text 16"/>
          <p:cNvSpPr/>
          <p:nvPr/>
        </p:nvSpPr>
        <p:spPr>
          <a:xfrm>
            <a:off x="1152144" y="4690872"/>
            <a:ext cx="456285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Plumbing  </a:t>
            </a:r>
            <a:r>
              <a:rPr lang="en-US" sz="1200" dirty="0">
                <a:solidFill>
                  <a:srgbClr val="C2CAD4"/>
                </a:solidFill>
                <a:latin typeface="Calibri" pitchFamily="34" charset="0"/>
                <a:ea typeface="Calibri" pitchFamily="34" charset="-122"/>
                <a:cs typeface="Calibri" pitchFamily="34" charset="-120"/>
              </a:rPr>
              <a:t>ports, timeouts, queue limits for every gateway</a:t>
            </a:r>
            <a:endParaRPr lang="en-US" sz="1200" dirty="0"/>
          </a:p>
        </p:txBody>
      </p:sp>
      <p:sp>
        <p:nvSpPr>
          <p:cNvPr id="19" name="Shape 17"/>
          <p:cNvSpPr/>
          <p:nvPr/>
        </p:nvSpPr>
        <p:spPr>
          <a:xfrm>
            <a:off x="6537960" y="2148840"/>
            <a:ext cx="5010912" cy="3200400"/>
          </a:xfrm>
          <a:prstGeom prst="roundRect">
            <a:avLst>
              <a:gd name="adj" fmla="val 1714"/>
            </a:avLst>
          </a:prstGeom>
          <a:solidFill>
            <a:srgbClr val="252B33"/>
          </a:solidFill>
          <a:ln w="12700">
            <a:solidFill>
              <a:srgbClr val="3B4450"/>
            </a:solidFill>
            <a:prstDash val="solid"/>
          </a:ln>
        </p:spPr>
        <p:txBody>
          <a:bodyPr/>
          <a:lstStyle/>
          <a:p>
            <a:endParaRPr lang="en-SE"/>
          </a:p>
        </p:txBody>
      </p:sp>
      <p:sp>
        <p:nvSpPr>
          <p:cNvPr id="20" name="Shape 18"/>
          <p:cNvSpPr/>
          <p:nvPr/>
        </p:nvSpPr>
        <p:spPr>
          <a:xfrm>
            <a:off x="6538874" y="2149754"/>
            <a:ext cx="5009083" cy="50292"/>
          </a:xfrm>
          <a:prstGeom prst="rect">
            <a:avLst/>
          </a:prstGeom>
          <a:solidFill>
            <a:srgbClr val="FF7A6B"/>
          </a:solidFill>
          <a:ln w="12700">
            <a:solidFill>
              <a:srgbClr val="333333"/>
            </a:solidFill>
            <a:prstDash val="solid"/>
          </a:ln>
        </p:spPr>
        <p:txBody>
          <a:bodyPr/>
          <a:lstStyle/>
          <a:p>
            <a:endParaRPr lang="en-SE"/>
          </a:p>
        </p:txBody>
      </p:sp>
      <p:sp>
        <p:nvSpPr>
          <p:cNvPr id="21" name="Text 19"/>
          <p:cNvSpPr/>
          <p:nvPr/>
        </p:nvSpPr>
        <p:spPr>
          <a:xfrm>
            <a:off x="6812280" y="2395728"/>
            <a:ext cx="4480560" cy="365760"/>
          </a:xfrm>
          <a:prstGeom prst="rect">
            <a:avLst/>
          </a:prstGeom>
          <a:noFill/>
          <a:ln/>
        </p:spPr>
        <p:txBody>
          <a:bodyPr wrap="square" lIns="0" tIns="0" rIns="0" bIns="0" rtlCol="0" anchor="ctr"/>
          <a:lstStyle/>
          <a:p>
            <a:pPr marL="0" indent="0">
              <a:buNone/>
            </a:pPr>
            <a:r>
              <a:rPr lang="en-US" sz="1700" b="1" dirty="0">
                <a:solidFill>
                  <a:srgbClr val="FF7A6B"/>
                </a:solidFill>
                <a:latin typeface="Trebuchet MS" pitchFamily="34" charset="0"/>
                <a:ea typeface="Trebuchet MS" pitchFamily="34" charset="-122"/>
                <a:cs typeface="Trebuchet MS" pitchFamily="34" charset="-120"/>
              </a:rPr>
              <a:t>Code decides</a:t>
            </a:r>
            <a:endParaRPr lang="en-US" sz="1700" dirty="0"/>
          </a:p>
        </p:txBody>
      </p:sp>
      <p:sp>
        <p:nvSpPr>
          <p:cNvPr id="22" name="Shape 20"/>
          <p:cNvSpPr/>
          <p:nvPr/>
        </p:nvSpPr>
        <p:spPr>
          <a:xfrm>
            <a:off x="6812280" y="2962656"/>
            <a:ext cx="82296" cy="82296"/>
          </a:xfrm>
          <a:prstGeom prst="rect">
            <a:avLst/>
          </a:prstGeom>
          <a:solidFill>
            <a:srgbClr val="FF7A6B"/>
          </a:solidFill>
          <a:ln w="12700">
            <a:solidFill>
              <a:srgbClr val="333333"/>
            </a:solidFill>
            <a:prstDash val="solid"/>
          </a:ln>
        </p:spPr>
        <p:txBody>
          <a:bodyPr/>
          <a:lstStyle/>
          <a:p>
            <a:endParaRPr lang="en-SE"/>
          </a:p>
        </p:txBody>
      </p:sp>
      <p:sp>
        <p:nvSpPr>
          <p:cNvPr id="23" name="Text 21"/>
          <p:cNvSpPr/>
          <p:nvPr/>
        </p:nvSpPr>
        <p:spPr>
          <a:xfrm>
            <a:off x="7050024" y="2862072"/>
            <a:ext cx="424281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Matching  </a:t>
            </a:r>
            <a:r>
              <a:rPr lang="en-US" sz="1200" dirty="0">
                <a:solidFill>
                  <a:srgbClr val="C2CAD4"/>
                </a:solidFill>
                <a:latin typeface="Calibri" pitchFamily="34" charset="0"/>
                <a:ea typeface="Calibri" pitchFamily="34" charset="-122"/>
                <a:cs typeface="Calibri" pitchFamily="34" charset="-120"/>
              </a:rPr>
              <a:t>price-time priority and the auction uncross</a:t>
            </a:r>
            <a:endParaRPr lang="en-US" sz="1200" dirty="0"/>
          </a:p>
        </p:txBody>
      </p:sp>
      <p:sp>
        <p:nvSpPr>
          <p:cNvPr id="24" name="Shape 22"/>
          <p:cNvSpPr/>
          <p:nvPr/>
        </p:nvSpPr>
        <p:spPr>
          <a:xfrm>
            <a:off x="6812280" y="3419856"/>
            <a:ext cx="82296" cy="82296"/>
          </a:xfrm>
          <a:prstGeom prst="rect">
            <a:avLst/>
          </a:prstGeom>
          <a:solidFill>
            <a:srgbClr val="FF7A6B"/>
          </a:solidFill>
          <a:ln w="12700">
            <a:solidFill>
              <a:srgbClr val="333333"/>
            </a:solidFill>
            <a:prstDash val="solid"/>
          </a:ln>
        </p:spPr>
        <p:txBody>
          <a:bodyPr/>
          <a:lstStyle/>
          <a:p>
            <a:endParaRPr lang="en-SE"/>
          </a:p>
        </p:txBody>
      </p:sp>
      <p:sp>
        <p:nvSpPr>
          <p:cNvPr id="25" name="Text 23"/>
          <p:cNvSpPr/>
          <p:nvPr/>
        </p:nvSpPr>
        <p:spPr>
          <a:xfrm>
            <a:off x="7050024" y="3319272"/>
            <a:ext cx="424281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Order types  </a:t>
            </a:r>
            <a:r>
              <a:rPr lang="en-US" sz="1200" dirty="0">
                <a:solidFill>
                  <a:srgbClr val="C2CAD4"/>
                </a:solidFill>
                <a:latin typeface="Calibri" pitchFamily="34" charset="0"/>
                <a:ea typeface="Calibri" pitchFamily="34" charset="-122"/>
                <a:cs typeface="Calibri" pitchFamily="34" charset="-120"/>
              </a:rPr>
              <a:t>what LIMIT, STOP or ICEBERG actually do</a:t>
            </a:r>
            <a:endParaRPr lang="en-US" sz="1200" dirty="0"/>
          </a:p>
        </p:txBody>
      </p:sp>
      <p:sp>
        <p:nvSpPr>
          <p:cNvPr id="26" name="Shape 24"/>
          <p:cNvSpPr/>
          <p:nvPr/>
        </p:nvSpPr>
        <p:spPr>
          <a:xfrm>
            <a:off x="6812280" y="3877056"/>
            <a:ext cx="82296" cy="82296"/>
          </a:xfrm>
          <a:prstGeom prst="rect">
            <a:avLst/>
          </a:prstGeom>
          <a:solidFill>
            <a:srgbClr val="FF7A6B"/>
          </a:solidFill>
          <a:ln w="12700">
            <a:solidFill>
              <a:srgbClr val="333333"/>
            </a:solidFill>
            <a:prstDash val="solid"/>
          </a:ln>
        </p:spPr>
        <p:txBody>
          <a:bodyPr/>
          <a:lstStyle/>
          <a:p>
            <a:endParaRPr lang="en-SE"/>
          </a:p>
        </p:txBody>
      </p:sp>
      <p:sp>
        <p:nvSpPr>
          <p:cNvPr id="27" name="Text 25"/>
          <p:cNvSpPr/>
          <p:nvPr/>
        </p:nvSpPr>
        <p:spPr>
          <a:xfrm>
            <a:off x="7050024" y="3776472"/>
            <a:ext cx="424281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Protocols  </a:t>
            </a:r>
            <a:r>
              <a:rPr lang="en-US" sz="1200" dirty="0">
                <a:solidFill>
                  <a:srgbClr val="C2CAD4"/>
                </a:solidFill>
                <a:latin typeface="Calibri" pitchFamily="34" charset="0"/>
                <a:ea typeface="Calibri" pitchFamily="34" charset="-122"/>
                <a:cs typeface="Calibri" pitchFamily="34" charset="-120"/>
              </a:rPr>
              <a:t>the ALF, BALF, CALF and RALF message formats</a:t>
            </a:r>
            <a:endParaRPr lang="en-US" sz="1200" dirty="0"/>
          </a:p>
        </p:txBody>
      </p:sp>
      <p:sp>
        <p:nvSpPr>
          <p:cNvPr id="28" name="Shape 26"/>
          <p:cNvSpPr/>
          <p:nvPr/>
        </p:nvSpPr>
        <p:spPr>
          <a:xfrm>
            <a:off x="6812280" y="4334256"/>
            <a:ext cx="82296" cy="82296"/>
          </a:xfrm>
          <a:prstGeom prst="rect">
            <a:avLst/>
          </a:prstGeom>
          <a:solidFill>
            <a:srgbClr val="FF7A6B"/>
          </a:solidFill>
          <a:ln w="12700">
            <a:solidFill>
              <a:srgbClr val="333333"/>
            </a:solidFill>
            <a:prstDash val="solid"/>
          </a:ln>
        </p:spPr>
        <p:txBody>
          <a:bodyPr/>
          <a:lstStyle/>
          <a:p>
            <a:endParaRPr lang="en-SE"/>
          </a:p>
        </p:txBody>
      </p:sp>
      <p:sp>
        <p:nvSpPr>
          <p:cNvPr id="29" name="Text 27"/>
          <p:cNvSpPr/>
          <p:nvPr/>
        </p:nvSpPr>
        <p:spPr>
          <a:xfrm>
            <a:off x="7050024" y="4233672"/>
            <a:ext cx="424281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Transport  </a:t>
            </a:r>
            <a:r>
              <a:rPr lang="en-US" sz="1200" dirty="0">
                <a:solidFill>
                  <a:srgbClr val="C2CAD4"/>
                </a:solidFill>
                <a:latin typeface="Calibri" pitchFamily="34" charset="0"/>
                <a:ea typeface="Calibri" pitchFamily="34" charset="-122"/>
                <a:cs typeface="Calibri" pitchFamily="34" charset="-120"/>
              </a:rPr>
              <a:t>the ZeroMQ socket pattern between processes</a:t>
            </a:r>
            <a:endParaRPr lang="en-US" sz="1200" dirty="0"/>
          </a:p>
        </p:txBody>
      </p:sp>
      <p:sp>
        <p:nvSpPr>
          <p:cNvPr id="30" name="Shape 28"/>
          <p:cNvSpPr/>
          <p:nvPr/>
        </p:nvSpPr>
        <p:spPr>
          <a:xfrm>
            <a:off x="6812280" y="4791456"/>
            <a:ext cx="82296" cy="82296"/>
          </a:xfrm>
          <a:prstGeom prst="rect">
            <a:avLst/>
          </a:prstGeom>
          <a:solidFill>
            <a:srgbClr val="FF7A6B"/>
          </a:solidFill>
          <a:ln w="12700">
            <a:solidFill>
              <a:srgbClr val="333333"/>
            </a:solidFill>
            <a:prstDash val="solid"/>
          </a:ln>
        </p:spPr>
        <p:txBody>
          <a:bodyPr/>
          <a:lstStyle/>
          <a:p>
            <a:endParaRPr lang="en-SE"/>
          </a:p>
        </p:txBody>
      </p:sp>
      <p:sp>
        <p:nvSpPr>
          <p:cNvPr id="31" name="Text 29"/>
          <p:cNvSpPr/>
          <p:nvPr/>
        </p:nvSpPr>
        <p:spPr>
          <a:xfrm>
            <a:off x="7050024" y="4690872"/>
            <a:ext cx="4242816" cy="45720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Persistence  </a:t>
            </a:r>
            <a:r>
              <a:rPr lang="en-US" sz="1200" dirty="0">
                <a:solidFill>
                  <a:srgbClr val="C2CAD4"/>
                </a:solidFill>
                <a:latin typeface="Calibri" pitchFamily="34" charset="0"/>
                <a:ea typeface="Calibri" pitchFamily="34" charset="-122"/>
                <a:cs typeface="Calibri" pitchFamily="34" charset="-120"/>
              </a:rPr>
              <a:t>which state survives a restart</a:t>
            </a:r>
            <a:endParaRPr lang="en-US" sz="1200" dirty="0"/>
          </a:p>
        </p:txBody>
      </p:sp>
      <p:sp>
        <p:nvSpPr>
          <p:cNvPr id="32" name="Shape 30"/>
          <p:cNvSpPr/>
          <p:nvPr/>
        </p:nvSpPr>
        <p:spPr>
          <a:xfrm>
            <a:off x="640080" y="5532120"/>
            <a:ext cx="10911535" cy="731520"/>
          </a:xfrm>
          <a:prstGeom prst="roundRect">
            <a:avLst>
              <a:gd name="adj" fmla="val 7500"/>
            </a:avLst>
          </a:prstGeom>
          <a:solidFill>
            <a:srgbClr val="2E2A52"/>
          </a:solidFill>
          <a:ln w="12700">
            <a:solidFill>
              <a:srgbClr val="9B8CFF"/>
            </a:solidFill>
            <a:prstDash val="solid"/>
          </a:ln>
        </p:spPr>
        <p:txBody>
          <a:bodyPr/>
          <a:lstStyle/>
          <a:p>
            <a:endParaRPr lang="en-SE"/>
          </a:p>
        </p:txBody>
      </p:sp>
      <p:sp>
        <p:nvSpPr>
          <p:cNvPr id="33" name="Text 31"/>
          <p:cNvSpPr/>
          <p:nvPr/>
        </p:nvSpPr>
        <p:spPr>
          <a:xfrm>
            <a:off x="877824" y="562356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RULE OF THUMB</a:t>
            </a:r>
            <a:endParaRPr lang="en-US" sz="950" dirty="0"/>
          </a:p>
        </p:txBody>
      </p:sp>
      <p:sp>
        <p:nvSpPr>
          <p:cNvPr id="34" name="Text 32"/>
          <p:cNvSpPr/>
          <p:nvPr/>
        </p:nvSpPr>
        <p:spPr>
          <a:xfrm>
            <a:off x="877824" y="5879592"/>
            <a:ext cx="10436047" cy="2743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Configuration describes your market. Code implements the mechanics of any market. If a change would alter how matching works, it is not a config change.</a:t>
            </a:r>
            <a:endParaRPr lang="en-US" sz="1250" dirty="0"/>
          </a:p>
        </p:txBody>
      </p:sp>
      <p:sp>
        <p:nvSpPr>
          <p:cNvPr id="35" name="Text 3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01 · What is configuration?</a:t>
            </a:r>
            <a:endParaRPr lang="en-US" sz="950" dirty="0"/>
          </a:p>
        </p:txBody>
      </p:sp>
      <p:sp>
        <p:nvSpPr>
          <p:cNvPr id="36" name="Text 3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FAILURE YOU WILL NOT NOTICE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No config file? The engine still starts.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This surprises everyone. A missing configuration is not an error — it is a mode.</a:t>
            </a:r>
            <a:endParaRPr lang="en-US" sz="1450" dirty="0"/>
          </a:p>
        </p:txBody>
      </p:sp>
      <p:sp>
        <p:nvSpPr>
          <p:cNvPr id="6" name="Shape 4"/>
          <p:cNvSpPr/>
          <p:nvPr/>
        </p:nvSpPr>
        <p:spPr>
          <a:xfrm>
            <a:off x="640080" y="2103120"/>
            <a:ext cx="5349240" cy="2331720"/>
          </a:xfrm>
          <a:prstGeom prst="roundRect">
            <a:avLst>
              <a:gd name="adj" fmla="val 2353"/>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104034"/>
            <a:ext cx="5347411" cy="50292"/>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914400" y="2359152"/>
            <a:ext cx="4754880" cy="329184"/>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Unrestricted mode means</a:t>
            </a:r>
            <a:endParaRPr lang="en-US" sz="1650" dirty="0"/>
          </a:p>
        </p:txBody>
      </p:sp>
      <p:sp>
        <p:nvSpPr>
          <p:cNvPr id="9" name="Text 7"/>
          <p:cNvSpPr/>
          <p:nvPr/>
        </p:nvSpPr>
        <p:spPr>
          <a:xfrm>
            <a:off x="914400" y="2788920"/>
            <a:ext cx="4800600" cy="1463040"/>
          </a:xfrm>
          <a:prstGeom prst="rect">
            <a:avLst/>
          </a:prstGeom>
          <a:noFill/>
          <a:ln/>
        </p:spPr>
        <p:txBody>
          <a:bodyPr wrap="square" lIns="0" tIns="0" rIns="0" bIns="0" rtlCol="0" anchor="t"/>
          <a:lstStyle/>
          <a:p>
            <a:pPr marL="0" indent="0">
              <a:lnSpc>
                <a:spcPts val="2100"/>
              </a:lnSpc>
              <a:buNone/>
            </a:pPr>
            <a:r>
              <a:rPr lang="en-US" sz="1300" dirty="0">
                <a:solidFill>
                  <a:srgbClr val="C2CAD4"/>
                </a:solidFill>
                <a:latin typeface="Calibri" pitchFamily="34" charset="0"/>
                <a:ea typeface="Calibri" pitchFamily="34" charset="-122"/>
                <a:cs typeface="Calibri" pitchFamily="34" charset="-120"/>
              </a:rPr>
              <a:t>No symbol allowlist  ·  No gateway allowlist  ·  No risk levels  ·  No seeded last prices  ·  No market-maker quotes  ·  No startup combos  ·  No outstanding-share metadata  ·  Sessions disabled</a:t>
            </a:r>
            <a:endParaRPr lang="en-US" sz="1300" dirty="0"/>
          </a:p>
        </p:txBody>
      </p:sp>
      <p:sp>
        <p:nvSpPr>
          <p:cNvPr id="10" name="Shape 8"/>
          <p:cNvSpPr/>
          <p:nvPr/>
        </p:nvSpPr>
        <p:spPr>
          <a:xfrm>
            <a:off x="6537960" y="2103120"/>
            <a:ext cx="5010912" cy="2331720"/>
          </a:xfrm>
          <a:prstGeom prst="roundRect">
            <a:avLst>
              <a:gd name="adj" fmla="val 2353"/>
            </a:avLst>
          </a:prstGeom>
          <a:solidFill>
            <a:srgbClr val="252B33"/>
          </a:solidFill>
          <a:ln w="12700">
            <a:solidFill>
              <a:srgbClr val="3B4450"/>
            </a:solidFill>
            <a:prstDash val="solid"/>
          </a:ln>
        </p:spPr>
        <p:txBody>
          <a:bodyPr/>
          <a:lstStyle/>
          <a:p>
            <a:endParaRPr lang="en-SE"/>
          </a:p>
        </p:txBody>
      </p:sp>
      <p:sp>
        <p:nvSpPr>
          <p:cNvPr id="11" name="Shape 9"/>
          <p:cNvSpPr/>
          <p:nvPr/>
        </p:nvSpPr>
        <p:spPr>
          <a:xfrm>
            <a:off x="6538874" y="2104034"/>
            <a:ext cx="5009083" cy="50292"/>
          </a:xfrm>
          <a:prstGeom prst="rect">
            <a:avLst/>
          </a:prstGeom>
          <a:solidFill>
            <a:srgbClr val="F3B441"/>
          </a:solidFill>
          <a:ln w="12700">
            <a:solidFill>
              <a:srgbClr val="333333"/>
            </a:solidFill>
            <a:prstDash val="solid"/>
          </a:ln>
        </p:spPr>
        <p:txBody>
          <a:bodyPr/>
          <a:lstStyle/>
          <a:p>
            <a:endParaRPr lang="en-SE"/>
          </a:p>
        </p:txBody>
      </p:sp>
      <p:sp>
        <p:nvSpPr>
          <p:cNvPr id="12" name="Text 10"/>
          <p:cNvSpPr/>
          <p:nvPr/>
        </p:nvSpPr>
        <p:spPr>
          <a:xfrm>
            <a:off x="6812280" y="2359152"/>
            <a:ext cx="4480560" cy="329184"/>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Books are created on demand</a:t>
            </a:r>
            <a:endParaRPr lang="en-US" sz="1650" dirty="0"/>
          </a:p>
        </p:txBody>
      </p:sp>
      <p:sp>
        <p:nvSpPr>
          <p:cNvPr id="13" name="Text 11"/>
          <p:cNvSpPr/>
          <p:nvPr/>
        </p:nvSpPr>
        <p:spPr>
          <a:xfrm>
            <a:off x="6812280" y="2788920"/>
            <a:ext cx="4480560" cy="914400"/>
          </a:xfrm>
          <a:prstGeom prst="rect">
            <a:avLst/>
          </a:prstGeom>
          <a:noFill/>
          <a:ln/>
        </p:spPr>
        <p:txBody>
          <a:bodyPr wrap="square" lIns="0" tIns="0" rIns="0" bIns="0" rtlCol="0" anchor="t"/>
          <a:lstStyle/>
          <a:p>
            <a:pPr marL="0" indent="0">
              <a:lnSpc>
                <a:spcPts val="1900"/>
              </a:lnSpc>
              <a:buNone/>
            </a:pPr>
            <a:r>
              <a:rPr lang="en-US" sz="1300" dirty="0">
                <a:solidFill>
                  <a:srgbClr val="C2CAD4"/>
                </a:solidFill>
                <a:latin typeface="Calibri" pitchFamily="34" charset="0"/>
                <a:ea typeface="Calibri" pitchFamily="34" charset="-122"/>
                <a:cs typeface="Calibri" pitchFamily="34" charset="-120"/>
              </a:rPr>
              <a:t>Any gateway ID can connect. An order for any symbol is accepted, and an order book for it is created on first use. Nothing is rejected, because nothing was ever declared.</a:t>
            </a:r>
            <a:endParaRPr lang="en-US" sz="1300" dirty="0"/>
          </a:p>
        </p:txBody>
      </p:sp>
      <p:sp>
        <p:nvSpPr>
          <p:cNvPr id="14" name="Text 12"/>
          <p:cNvSpPr/>
          <p:nvPr/>
        </p:nvSpPr>
        <p:spPr>
          <a:xfrm>
            <a:off x="6812280" y="3886200"/>
            <a:ext cx="4480560" cy="365760"/>
          </a:xfrm>
          <a:prstGeom prst="rect">
            <a:avLst/>
          </a:prstGeom>
          <a:noFill/>
          <a:ln/>
        </p:spPr>
        <p:txBody>
          <a:bodyPr wrap="square" lIns="0" tIns="0" rIns="0" bIns="0" rtlCol="0" anchor="t"/>
          <a:lstStyle/>
          <a:p>
            <a:pPr marL="0" indent="0">
              <a:buNone/>
            </a:pPr>
            <a:r>
              <a:rPr lang="en-US" sz="1250" i="1" dirty="0">
                <a:solidFill>
                  <a:srgbClr val="F3B441"/>
                </a:solidFill>
                <a:latin typeface="Calibri" pitchFamily="34" charset="0"/>
                <a:ea typeface="Calibri" pitchFamily="34" charset="-122"/>
                <a:cs typeface="Calibri" pitchFamily="34" charset="-120"/>
              </a:rPr>
              <a:t>Convenient for a first experiment. Dangerous as a default.</a:t>
            </a:r>
            <a:endParaRPr lang="en-US" sz="1250" dirty="0"/>
          </a:p>
        </p:txBody>
      </p:sp>
      <p:sp>
        <p:nvSpPr>
          <p:cNvPr id="15" name="Shape 13"/>
          <p:cNvSpPr/>
          <p:nvPr/>
        </p:nvSpPr>
        <p:spPr>
          <a:xfrm>
            <a:off x="640080" y="4663440"/>
            <a:ext cx="10911535" cy="347472"/>
          </a:xfrm>
          <a:prstGeom prst="rect">
            <a:avLst/>
          </a:prstGeom>
          <a:solidFill>
            <a:srgbClr val="2E353F"/>
          </a:solidFill>
          <a:ln w="12700">
            <a:solidFill>
              <a:srgbClr val="333333"/>
            </a:solidFill>
            <a:prstDash val="solid"/>
          </a:ln>
        </p:spPr>
        <p:txBody>
          <a:bodyPr/>
          <a:lstStyle/>
          <a:p>
            <a:endParaRPr lang="en-SE"/>
          </a:p>
        </p:txBody>
      </p:sp>
      <p:sp>
        <p:nvSpPr>
          <p:cNvPr id="16" name="Text 14"/>
          <p:cNvSpPr/>
          <p:nvPr/>
        </p:nvSpPr>
        <p:spPr>
          <a:xfrm>
            <a:off x="786384" y="4663440"/>
            <a:ext cx="239931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PROCESS</a:t>
            </a:r>
            <a:endParaRPr lang="en-US" sz="950" dirty="0"/>
          </a:p>
        </p:txBody>
      </p:sp>
      <p:sp>
        <p:nvSpPr>
          <p:cNvPr id="17" name="Text 15"/>
          <p:cNvSpPr/>
          <p:nvPr/>
        </p:nvSpPr>
        <p:spPr>
          <a:xfrm>
            <a:off x="3405152" y="4663440"/>
            <a:ext cx="3926927"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MISSING DEFAULT CONFIG</a:t>
            </a:r>
            <a:endParaRPr lang="en-US" sz="950" dirty="0"/>
          </a:p>
        </p:txBody>
      </p:sp>
      <p:sp>
        <p:nvSpPr>
          <p:cNvPr id="18" name="Text 16"/>
          <p:cNvSpPr/>
          <p:nvPr/>
        </p:nvSpPr>
        <p:spPr>
          <a:xfrm>
            <a:off x="7551536" y="4663440"/>
            <a:ext cx="3926927"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MISSING EXPLICIT --CONFIG</a:t>
            </a:r>
            <a:endParaRPr lang="en-US" sz="950" dirty="0"/>
          </a:p>
        </p:txBody>
      </p:sp>
      <p:sp>
        <p:nvSpPr>
          <p:cNvPr id="19" name="Shape 17"/>
          <p:cNvSpPr/>
          <p:nvPr/>
        </p:nvSpPr>
        <p:spPr>
          <a:xfrm>
            <a:off x="640080" y="5010912"/>
            <a:ext cx="10911535" cy="329184"/>
          </a:xfrm>
          <a:prstGeom prst="rect">
            <a:avLst/>
          </a:prstGeom>
          <a:solidFill>
            <a:srgbClr val="252B33"/>
          </a:solidFill>
          <a:ln w="12700">
            <a:solidFill>
              <a:srgbClr val="333333"/>
            </a:solidFill>
            <a:prstDash val="solid"/>
          </a:ln>
        </p:spPr>
        <p:txBody>
          <a:bodyPr/>
          <a:lstStyle/>
          <a:p>
            <a:endParaRPr lang="en-SE"/>
          </a:p>
        </p:txBody>
      </p:sp>
      <p:sp>
        <p:nvSpPr>
          <p:cNvPr id="20" name="Text 18"/>
          <p:cNvSpPr/>
          <p:nvPr/>
        </p:nvSpPr>
        <p:spPr>
          <a:xfrm>
            <a:off x="786384" y="5010912"/>
            <a:ext cx="239931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alibri" pitchFamily="34" charset="0"/>
                <a:ea typeface="Calibri" pitchFamily="34" charset="-122"/>
                <a:cs typeface="Calibri" pitchFamily="34" charset="-120"/>
              </a:rPr>
              <a:t>pm-engine</a:t>
            </a:r>
            <a:endParaRPr lang="en-US" sz="1200" dirty="0"/>
          </a:p>
        </p:txBody>
      </p:sp>
      <p:sp>
        <p:nvSpPr>
          <p:cNvPr id="21" name="Text 19"/>
          <p:cNvSpPr/>
          <p:nvPr/>
        </p:nvSpPr>
        <p:spPr>
          <a:xfrm>
            <a:off x="3405152" y="5010912"/>
            <a:ext cx="3926927" cy="329184"/>
          </a:xfrm>
          <a:prstGeom prst="rect">
            <a:avLst/>
          </a:prstGeom>
          <a:noFill/>
          <a:ln/>
        </p:spPr>
        <p:txBody>
          <a:bodyPr wrap="square" lIns="0" tIns="0" rIns="0" bIns="0" rtlCol="0" anchor="ctr"/>
          <a:lstStyle/>
          <a:p>
            <a:pPr marL="0" indent="0" algn="l">
              <a:buNone/>
            </a:pPr>
            <a:r>
              <a:rPr lang="en-US" sz="1200" dirty="0">
                <a:solidFill>
                  <a:srgbClr val="F3B441"/>
                </a:solidFill>
                <a:latin typeface="Calibri" pitchFamily="34" charset="0"/>
                <a:ea typeface="Calibri" pitchFamily="34" charset="-122"/>
                <a:cs typeface="Calibri" pitchFamily="34" charset="-120"/>
              </a:rPr>
              <a:t>Starts unrestricted</a:t>
            </a:r>
            <a:endParaRPr lang="en-US" sz="1200" dirty="0"/>
          </a:p>
        </p:txBody>
      </p:sp>
      <p:sp>
        <p:nvSpPr>
          <p:cNvPr id="22" name="Text 20"/>
          <p:cNvSpPr/>
          <p:nvPr/>
        </p:nvSpPr>
        <p:spPr>
          <a:xfrm>
            <a:off x="7551536" y="5010912"/>
            <a:ext cx="3926927" cy="329184"/>
          </a:xfrm>
          <a:prstGeom prst="rect">
            <a:avLst/>
          </a:prstGeom>
          <a:noFill/>
          <a:ln/>
        </p:spPr>
        <p:txBody>
          <a:bodyPr wrap="square" lIns="0" tIns="0" rIns="0" bIns="0" rtlCol="0" anchor="ctr"/>
          <a:lstStyle/>
          <a:p>
            <a:pPr marL="0" indent="0" algn="l">
              <a:buNone/>
            </a:pPr>
            <a:r>
              <a:rPr lang="en-US" sz="1200" dirty="0">
                <a:solidFill>
                  <a:srgbClr val="F3B441"/>
                </a:solidFill>
                <a:latin typeface="Calibri" pitchFamily="34" charset="0"/>
                <a:ea typeface="Calibri" pitchFamily="34" charset="-122"/>
                <a:cs typeface="Calibri" pitchFamily="34" charset="-120"/>
              </a:rPr>
              <a:t>Starts unrestricted for that path</a:t>
            </a:r>
            <a:endParaRPr lang="en-US" sz="1200" dirty="0"/>
          </a:p>
        </p:txBody>
      </p:sp>
      <p:sp>
        <p:nvSpPr>
          <p:cNvPr id="23" name="Text 21"/>
          <p:cNvSpPr/>
          <p:nvPr/>
        </p:nvSpPr>
        <p:spPr>
          <a:xfrm>
            <a:off x="786384" y="5340096"/>
            <a:ext cx="239931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alibri" pitchFamily="34" charset="0"/>
                <a:ea typeface="Calibri" pitchFamily="34" charset="-122"/>
                <a:cs typeface="Calibri" pitchFamily="34" charset="-120"/>
              </a:rPr>
              <a:t>pm-scheduler</a:t>
            </a:r>
            <a:endParaRPr lang="en-US" sz="1200" dirty="0"/>
          </a:p>
        </p:txBody>
      </p:sp>
      <p:sp>
        <p:nvSpPr>
          <p:cNvPr id="24" name="Text 22"/>
          <p:cNvSpPr/>
          <p:nvPr/>
        </p:nvSpPr>
        <p:spPr>
          <a:xfrm>
            <a:off x="3405152" y="5340096"/>
            <a:ext cx="3926927" cy="329184"/>
          </a:xfrm>
          <a:prstGeom prst="rect">
            <a:avLst/>
          </a:prstGeom>
          <a:noFill/>
          <a:ln/>
        </p:spPr>
        <p:txBody>
          <a:bodyPr wrap="square" lIns="0" tIns="0" rIns="0" bIns="0" rtlCol="0" anchor="ctr"/>
          <a:lstStyle/>
          <a:p>
            <a:pPr marL="0" indent="0" algn="l">
              <a:buNone/>
            </a:pPr>
            <a:r>
              <a:rPr lang="en-US" sz="1200" dirty="0">
                <a:solidFill>
                  <a:srgbClr val="C2CAD4"/>
                </a:solidFill>
                <a:latin typeface="Calibri" pitchFamily="34" charset="0"/>
                <a:ea typeface="Calibri" pitchFamily="34" charset="-122"/>
                <a:cs typeface="Calibri" pitchFamily="34" charset="-120"/>
              </a:rPr>
              <a:t>Uses the built-in schedule</a:t>
            </a:r>
            <a:endParaRPr lang="en-US" sz="1200" dirty="0"/>
          </a:p>
        </p:txBody>
      </p:sp>
      <p:sp>
        <p:nvSpPr>
          <p:cNvPr id="25" name="Text 23"/>
          <p:cNvSpPr/>
          <p:nvPr/>
        </p:nvSpPr>
        <p:spPr>
          <a:xfrm>
            <a:off x="7551536" y="5340096"/>
            <a:ext cx="3926927" cy="329184"/>
          </a:xfrm>
          <a:prstGeom prst="rect">
            <a:avLst/>
          </a:prstGeom>
          <a:noFill/>
          <a:ln/>
        </p:spPr>
        <p:txBody>
          <a:bodyPr wrap="square" lIns="0" tIns="0" rIns="0" bIns="0" rtlCol="0" anchor="ctr"/>
          <a:lstStyle/>
          <a:p>
            <a:pPr marL="0" indent="0" algn="l">
              <a:buNone/>
            </a:pPr>
            <a:r>
              <a:rPr lang="en-US" sz="1200" dirty="0">
                <a:solidFill>
                  <a:srgbClr val="FF7A6B"/>
                </a:solidFill>
                <a:latin typeface="Calibri" pitchFamily="34" charset="0"/>
                <a:ea typeface="Calibri" pitchFamily="34" charset="-122"/>
                <a:cs typeface="Calibri" pitchFamily="34" charset="-120"/>
              </a:rPr>
              <a:t>Fatal error</a:t>
            </a:r>
            <a:endParaRPr lang="en-US" sz="1200" dirty="0"/>
          </a:p>
        </p:txBody>
      </p:sp>
      <p:sp>
        <p:nvSpPr>
          <p:cNvPr id="26" name="Text 24"/>
          <p:cNvSpPr/>
          <p:nvPr/>
        </p:nvSpPr>
        <p:spPr>
          <a:xfrm>
            <a:off x="640080" y="5989320"/>
            <a:ext cx="10911535" cy="292608"/>
          </a:xfrm>
          <a:prstGeom prst="rect">
            <a:avLst/>
          </a:prstGeom>
          <a:noFill/>
          <a:ln/>
        </p:spPr>
        <p:txBody>
          <a:bodyPr wrap="square" lIns="0" tIns="0" rIns="0" bIns="0" rtlCol="0" anchor="ctr"/>
          <a:lstStyle/>
          <a:p>
            <a:pPr marL="0" indent="0">
              <a:buNone/>
            </a:pPr>
            <a:r>
              <a:rPr lang="en-US" sz="1250" i="1" dirty="0">
                <a:solidFill>
                  <a:srgbClr val="8D97A5"/>
                </a:solidFill>
                <a:latin typeface="Calibri" pitchFamily="34" charset="0"/>
                <a:ea typeface="Calibri" pitchFamily="34" charset="-122"/>
                <a:cs typeface="Calibri" pitchFamily="34" charset="-120"/>
              </a:rPr>
              <a:t>So "the engine started" is never proof that your configuration was loaded.</a:t>
            </a:r>
            <a:endParaRPr lang="en-US" sz="125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01 · What is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GLOSSARY</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Eight words you need before we go further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one of these appears in the configuration file.</a:t>
            </a:r>
            <a:endParaRPr lang="en-US" sz="1450" dirty="0"/>
          </a:p>
        </p:txBody>
      </p:sp>
      <p:sp>
        <p:nvSpPr>
          <p:cNvPr id="6" name="Shape 4"/>
          <p:cNvSpPr/>
          <p:nvPr/>
        </p:nvSpPr>
        <p:spPr>
          <a:xfrm>
            <a:off x="640080" y="196596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859536" y="2240280"/>
            <a:ext cx="91440" cy="9144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1060704" y="213055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Symbol</a:t>
            </a:r>
            <a:endParaRPr lang="en-US" sz="1450" dirty="0"/>
          </a:p>
        </p:txBody>
      </p:sp>
      <p:sp>
        <p:nvSpPr>
          <p:cNvPr id="9" name="Text 7"/>
          <p:cNvSpPr/>
          <p:nvPr/>
        </p:nvSpPr>
        <p:spPr>
          <a:xfrm>
            <a:off x="1060704" y="246888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 tradable instrument. AAPL, MSFT. Always stored upper-case.</a:t>
            </a:r>
            <a:endParaRPr lang="en-US" sz="1150" dirty="0"/>
          </a:p>
        </p:txBody>
      </p:sp>
      <p:sp>
        <p:nvSpPr>
          <p:cNvPr id="10" name="Shape 8"/>
          <p:cNvSpPr/>
          <p:nvPr/>
        </p:nvSpPr>
        <p:spPr>
          <a:xfrm>
            <a:off x="6205576" y="196596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1" name="Shape 9"/>
          <p:cNvSpPr/>
          <p:nvPr/>
        </p:nvSpPr>
        <p:spPr>
          <a:xfrm>
            <a:off x="6425032" y="2240280"/>
            <a:ext cx="91440" cy="91440"/>
          </a:xfrm>
          <a:prstGeom prst="rect">
            <a:avLst/>
          </a:prstGeom>
          <a:solidFill>
            <a:srgbClr val="5AB2F7"/>
          </a:solidFill>
          <a:ln w="12700">
            <a:solidFill>
              <a:srgbClr val="333333"/>
            </a:solidFill>
            <a:prstDash val="solid"/>
          </a:ln>
        </p:spPr>
        <p:txBody>
          <a:bodyPr/>
          <a:lstStyle/>
          <a:p>
            <a:endParaRPr lang="en-SE"/>
          </a:p>
        </p:txBody>
      </p:sp>
      <p:sp>
        <p:nvSpPr>
          <p:cNvPr id="12" name="Text 10"/>
          <p:cNvSpPr/>
          <p:nvPr/>
        </p:nvSpPr>
        <p:spPr>
          <a:xfrm>
            <a:off x="6626200" y="213055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Gateway</a:t>
            </a:r>
            <a:endParaRPr lang="en-US" sz="1450" dirty="0"/>
          </a:p>
        </p:txBody>
      </p:sp>
      <p:sp>
        <p:nvSpPr>
          <p:cNvPr id="13" name="Text 11"/>
          <p:cNvSpPr/>
          <p:nvPr/>
        </p:nvSpPr>
        <p:spPr>
          <a:xfrm>
            <a:off x="6626200" y="246888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 permitted connection identity — a trader, a market maker, or an operator console.</a:t>
            </a:r>
            <a:endParaRPr lang="en-US" sz="1150" dirty="0"/>
          </a:p>
        </p:txBody>
      </p:sp>
      <p:sp>
        <p:nvSpPr>
          <p:cNvPr id="14" name="Shape 12"/>
          <p:cNvSpPr/>
          <p:nvPr/>
        </p:nvSpPr>
        <p:spPr>
          <a:xfrm>
            <a:off x="640080" y="301752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5" name="Shape 13"/>
          <p:cNvSpPr/>
          <p:nvPr/>
        </p:nvSpPr>
        <p:spPr>
          <a:xfrm>
            <a:off x="859536" y="3291840"/>
            <a:ext cx="91440" cy="91440"/>
          </a:xfrm>
          <a:prstGeom prst="rect">
            <a:avLst/>
          </a:prstGeom>
          <a:solidFill>
            <a:srgbClr val="5AB2F7"/>
          </a:solidFill>
          <a:ln w="12700">
            <a:solidFill>
              <a:srgbClr val="333333"/>
            </a:solidFill>
            <a:prstDash val="solid"/>
          </a:ln>
        </p:spPr>
        <p:txBody>
          <a:bodyPr/>
          <a:lstStyle/>
          <a:p>
            <a:endParaRPr lang="en-SE"/>
          </a:p>
        </p:txBody>
      </p:sp>
      <p:sp>
        <p:nvSpPr>
          <p:cNvPr id="16" name="Text 14"/>
          <p:cNvSpPr/>
          <p:nvPr/>
        </p:nvSpPr>
        <p:spPr>
          <a:xfrm>
            <a:off x="1060704" y="318211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Role</a:t>
            </a:r>
            <a:endParaRPr lang="en-US" sz="1450" dirty="0"/>
          </a:p>
        </p:txBody>
      </p:sp>
      <p:sp>
        <p:nvSpPr>
          <p:cNvPr id="17" name="Text 15"/>
          <p:cNvSpPr/>
          <p:nvPr/>
        </p:nvSpPr>
        <p:spPr>
          <a:xfrm>
            <a:off x="1060704" y="352044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What a gateway may do: TRADER, MARKET_MAKER or ADMIN.</a:t>
            </a:r>
            <a:endParaRPr lang="en-US" sz="1150" dirty="0"/>
          </a:p>
        </p:txBody>
      </p:sp>
      <p:sp>
        <p:nvSpPr>
          <p:cNvPr id="18" name="Shape 16"/>
          <p:cNvSpPr/>
          <p:nvPr/>
        </p:nvSpPr>
        <p:spPr>
          <a:xfrm>
            <a:off x="6205576" y="301752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425032" y="3291840"/>
            <a:ext cx="91440" cy="91440"/>
          </a:xfrm>
          <a:prstGeom prst="rect">
            <a:avLst/>
          </a:prstGeom>
          <a:solidFill>
            <a:srgbClr val="34D6BE"/>
          </a:solidFill>
          <a:ln w="12700">
            <a:solidFill>
              <a:srgbClr val="333333"/>
            </a:solidFill>
            <a:prstDash val="solid"/>
          </a:ln>
        </p:spPr>
        <p:txBody>
          <a:bodyPr/>
          <a:lstStyle/>
          <a:p>
            <a:endParaRPr lang="en-SE"/>
          </a:p>
        </p:txBody>
      </p:sp>
      <p:sp>
        <p:nvSpPr>
          <p:cNvPr id="20" name="Text 18"/>
          <p:cNvSpPr/>
          <p:nvPr/>
        </p:nvSpPr>
        <p:spPr>
          <a:xfrm>
            <a:off x="6626200" y="318211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Tick</a:t>
            </a:r>
            <a:endParaRPr lang="en-US" sz="1450" dirty="0"/>
          </a:p>
        </p:txBody>
      </p:sp>
      <p:sp>
        <p:nvSpPr>
          <p:cNvPr id="21" name="Text 19"/>
          <p:cNvSpPr/>
          <p:nvPr/>
        </p:nvSpPr>
        <p:spPr>
          <a:xfrm>
            <a:off x="6626200" y="352044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The smallest price increment. tick_decimals: 2 means cents.</a:t>
            </a:r>
            <a:endParaRPr lang="en-US" sz="1150" dirty="0"/>
          </a:p>
        </p:txBody>
      </p:sp>
      <p:sp>
        <p:nvSpPr>
          <p:cNvPr id="22" name="Shape 20"/>
          <p:cNvSpPr/>
          <p:nvPr/>
        </p:nvSpPr>
        <p:spPr>
          <a:xfrm>
            <a:off x="640080" y="406908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23" name="Shape 21"/>
          <p:cNvSpPr/>
          <p:nvPr/>
        </p:nvSpPr>
        <p:spPr>
          <a:xfrm>
            <a:off x="859536" y="4343400"/>
            <a:ext cx="91440" cy="91440"/>
          </a:xfrm>
          <a:prstGeom prst="rect">
            <a:avLst/>
          </a:prstGeom>
          <a:solidFill>
            <a:srgbClr val="FF7A6B"/>
          </a:solidFill>
          <a:ln w="12700">
            <a:solidFill>
              <a:srgbClr val="333333"/>
            </a:solidFill>
            <a:prstDash val="solid"/>
          </a:ln>
        </p:spPr>
        <p:txBody>
          <a:bodyPr/>
          <a:lstStyle/>
          <a:p>
            <a:endParaRPr lang="en-SE"/>
          </a:p>
        </p:txBody>
      </p:sp>
      <p:sp>
        <p:nvSpPr>
          <p:cNvPr id="24" name="Text 22"/>
          <p:cNvSpPr/>
          <p:nvPr/>
        </p:nvSpPr>
        <p:spPr>
          <a:xfrm>
            <a:off x="1060704" y="423367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Collar</a:t>
            </a:r>
            <a:endParaRPr lang="en-US" sz="1450" dirty="0"/>
          </a:p>
        </p:txBody>
      </p:sp>
      <p:sp>
        <p:nvSpPr>
          <p:cNvPr id="25" name="Text 23"/>
          <p:cNvSpPr/>
          <p:nvPr/>
        </p:nvSpPr>
        <p:spPr>
          <a:xfrm>
            <a:off x="1060704" y="457200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 price band. Orders outside it are rejected — fat-finger protection.</a:t>
            </a:r>
            <a:endParaRPr lang="en-US" sz="1150" dirty="0"/>
          </a:p>
        </p:txBody>
      </p:sp>
      <p:sp>
        <p:nvSpPr>
          <p:cNvPr id="26" name="Shape 24"/>
          <p:cNvSpPr/>
          <p:nvPr/>
        </p:nvSpPr>
        <p:spPr>
          <a:xfrm>
            <a:off x="6205576" y="406908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6425032" y="4343400"/>
            <a:ext cx="91440" cy="91440"/>
          </a:xfrm>
          <a:prstGeom prst="rect">
            <a:avLst/>
          </a:prstGeom>
          <a:solidFill>
            <a:srgbClr val="FF7A6B"/>
          </a:solidFill>
          <a:ln w="12700">
            <a:solidFill>
              <a:srgbClr val="333333"/>
            </a:solidFill>
            <a:prstDash val="solid"/>
          </a:ln>
        </p:spPr>
        <p:txBody>
          <a:bodyPr/>
          <a:lstStyle/>
          <a:p>
            <a:endParaRPr lang="en-SE"/>
          </a:p>
        </p:txBody>
      </p:sp>
      <p:sp>
        <p:nvSpPr>
          <p:cNvPr id="28" name="Text 26"/>
          <p:cNvSpPr/>
          <p:nvPr/>
        </p:nvSpPr>
        <p:spPr>
          <a:xfrm>
            <a:off x="6626200" y="423367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Circuit breaker</a:t>
            </a:r>
            <a:endParaRPr lang="en-US" sz="1450" dirty="0"/>
          </a:p>
        </p:txBody>
      </p:sp>
      <p:sp>
        <p:nvSpPr>
          <p:cNvPr id="29" name="Text 27"/>
          <p:cNvSpPr/>
          <p:nvPr/>
        </p:nvSpPr>
        <p:spPr>
          <a:xfrm>
            <a:off x="6626200" y="457200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An automatic trading halt when a price moves too far, too fast.</a:t>
            </a:r>
            <a:endParaRPr lang="en-US" sz="1150" dirty="0"/>
          </a:p>
        </p:txBody>
      </p:sp>
      <p:sp>
        <p:nvSpPr>
          <p:cNvPr id="30" name="Shape 28"/>
          <p:cNvSpPr/>
          <p:nvPr/>
        </p:nvSpPr>
        <p:spPr>
          <a:xfrm>
            <a:off x="640080" y="512064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31" name="Shape 29"/>
          <p:cNvSpPr/>
          <p:nvPr/>
        </p:nvSpPr>
        <p:spPr>
          <a:xfrm>
            <a:off x="859536" y="5394960"/>
            <a:ext cx="91440" cy="91440"/>
          </a:xfrm>
          <a:prstGeom prst="rect">
            <a:avLst/>
          </a:prstGeom>
          <a:solidFill>
            <a:srgbClr val="9B8CFF"/>
          </a:solidFill>
          <a:ln w="12700">
            <a:solidFill>
              <a:srgbClr val="333333"/>
            </a:solidFill>
            <a:prstDash val="solid"/>
          </a:ln>
        </p:spPr>
        <p:txBody>
          <a:bodyPr/>
          <a:lstStyle/>
          <a:p>
            <a:endParaRPr lang="en-SE"/>
          </a:p>
        </p:txBody>
      </p:sp>
      <p:sp>
        <p:nvSpPr>
          <p:cNvPr id="32" name="Text 30"/>
          <p:cNvSpPr/>
          <p:nvPr/>
        </p:nvSpPr>
        <p:spPr>
          <a:xfrm>
            <a:off x="1060704" y="528523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Session</a:t>
            </a:r>
            <a:endParaRPr lang="en-US" sz="1450" dirty="0"/>
          </a:p>
        </p:txBody>
      </p:sp>
      <p:sp>
        <p:nvSpPr>
          <p:cNvPr id="33" name="Text 31"/>
          <p:cNvSpPr/>
          <p:nvPr/>
        </p:nvSpPr>
        <p:spPr>
          <a:xfrm>
            <a:off x="1060704" y="562356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 phase of the trading day: pre-open, auction, continuous, closed.</a:t>
            </a:r>
            <a:endParaRPr lang="en-US" sz="1150" dirty="0"/>
          </a:p>
        </p:txBody>
      </p:sp>
      <p:sp>
        <p:nvSpPr>
          <p:cNvPr id="34" name="Shape 32"/>
          <p:cNvSpPr/>
          <p:nvPr/>
        </p:nvSpPr>
        <p:spPr>
          <a:xfrm>
            <a:off x="6205576" y="5120640"/>
            <a:ext cx="5346040"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35" name="Shape 33"/>
          <p:cNvSpPr/>
          <p:nvPr/>
        </p:nvSpPr>
        <p:spPr>
          <a:xfrm>
            <a:off x="6425032" y="5394960"/>
            <a:ext cx="91440" cy="91440"/>
          </a:xfrm>
          <a:prstGeom prst="rect">
            <a:avLst/>
          </a:prstGeom>
          <a:solidFill>
            <a:srgbClr val="F3B441"/>
          </a:solidFill>
          <a:ln w="12700">
            <a:solidFill>
              <a:srgbClr val="333333"/>
            </a:solidFill>
            <a:prstDash val="solid"/>
          </a:ln>
        </p:spPr>
        <p:txBody>
          <a:bodyPr/>
          <a:lstStyle/>
          <a:p>
            <a:endParaRPr lang="en-SE"/>
          </a:p>
        </p:txBody>
      </p:sp>
      <p:sp>
        <p:nvSpPr>
          <p:cNvPr id="36" name="Text 34"/>
          <p:cNvSpPr/>
          <p:nvPr/>
        </p:nvSpPr>
        <p:spPr>
          <a:xfrm>
            <a:off x="6626200" y="5285232"/>
            <a:ext cx="4705960" cy="310896"/>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Seed quote</a:t>
            </a:r>
            <a:endParaRPr lang="en-US" sz="1450" dirty="0"/>
          </a:p>
        </p:txBody>
      </p:sp>
      <p:sp>
        <p:nvSpPr>
          <p:cNvPr id="37" name="Text 35"/>
          <p:cNvSpPr/>
          <p:nvPr/>
        </p:nvSpPr>
        <p:spPr>
          <a:xfrm>
            <a:off x="6626200" y="5623560"/>
            <a:ext cx="4687672" cy="365760"/>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A resting bid and ask injected at startup so the book is not empty.</a:t>
            </a:r>
            <a:endParaRPr lang="en-US" sz="1150" dirty="0"/>
          </a:p>
        </p:txBody>
      </p:sp>
      <p:sp>
        <p:nvSpPr>
          <p:cNvPr id="38" name="Text 3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01 · What is configuration?</a:t>
            </a:r>
            <a:endParaRPr lang="en-US" sz="950" dirty="0"/>
          </a:p>
        </p:txBody>
      </p:sp>
      <p:sp>
        <p:nvSpPr>
          <p:cNvPr id="39" name="Text 3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02</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02</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What categories must</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be specified?</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Twenty top-level keys, but only two are required. Here is how to think about the rest — grouped by the job they do rather than by their order in the file.</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Required vs optional</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Six categories</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full key map</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Default ports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WHOLE SURFACE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Twenty top-level keys, six jobs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Colour tells you which category a key belongs to. Two keys carry a solid border: those are the only mandatory ones.</a:t>
            </a:r>
            <a:endParaRPr lang="en-US" sz="1450" dirty="0"/>
          </a:p>
        </p:txBody>
      </p:sp>
      <p:sp>
        <p:nvSpPr>
          <p:cNvPr id="6" name="Text 4"/>
          <p:cNvSpPr/>
          <p:nvPr/>
        </p:nvSpPr>
        <p:spPr>
          <a:xfrm>
            <a:off x="640080" y="2011680"/>
            <a:ext cx="2377440" cy="274320"/>
          </a:xfrm>
          <a:prstGeom prst="rect">
            <a:avLst/>
          </a:prstGeom>
          <a:noFill/>
          <a:ln/>
        </p:spPr>
        <p:txBody>
          <a:bodyPr wrap="square" lIns="0" tIns="0" rIns="0" bIns="0" rtlCol="0" anchor="ctr"/>
          <a:lstStyle/>
          <a:p>
            <a:pPr marL="0" indent="0">
              <a:buNone/>
            </a:pPr>
            <a:r>
              <a:rPr lang="en-US" sz="950" b="1" kern="0" spc="140" dirty="0">
                <a:solidFill>
                  <a:srgbClr val="34D6BE"/>
                </a:solidFill>
                <a:latin typeface="Calibri" pitchFamily="34" charset="0"/>
                <a:ea typeface="Calibri" pitchFamily="34" charset="-122"/>
                <a:cs typeface="Calibri" pitchFamily="34" charset="-120"/>
              </a:rPr>
              <a:t>IDENTITY &amp; UNIVERSE</a:t>
            </a:r>
            <a:endParaRPr lang="en-US" sz="950" dirty="0"/>
          </a:p>
        </p:txBody>
      </p:sp>
      <p:sp>
        <p:nvSpPr>
          <p:cNvPr id="7" name="Shape 5"/>
          <p:cNvSpPr/>
          <p:nvPr/>
        </p:nvSpPr>
        <p:spPr>
          <a:xfrm>
            <a:off x="3154680" y="2002536"/>
            <a:ext cx="782726" cy="292608"/>
          </a:xfrm>
          <a:prstGeom prst="roundRect">
            <a:avLst>
              <a:gd name="adj" fmla="val 15625"/>
            </a:avLst>
          </a:prstGeom>
          <a:solidFill>
            <a:srgbClr val="34D6BE"/>
          </a:solidFill>
          <a:ln w="19050">
            <a:solidFill>
              <a:srgbClr val="34D6BE"/>
            </a:solidFill>
            <a:prstDash val="solid"/>
          </a:ln>
        </p:spPr>
        <p:txBody>
          <a:bodyPr/>
          <a:lstStyle/>
          <a:p>
            <a:endParaRPr lang="en-SE"/>
          </a:p>
        </p:txBody>
      </p:sp>
      <p:sp>
        <p:nvSpPr>
          <p:cNvPr id="8" name="Text 6"/>
          <p:cNvSpPr/>
          <p:nvPr/>
        </p:nvSpPr>
        <p:spPr>
          <a:xfrm>
            <a:off x="3154680" y="2002536"/>
            <a:ext cx="782726" cy="292608"/>
          </a:xfrm>
          <a:prstGeom prst="rect">
            <a:avLst/>
          </a:prstGeom>
          <a:noFill/>
          <a:ln/>
        </p:spPr>
        <p:txBody>
          <a:bodyPr wrap="square" lIns="0" tIns="0" rIns="0" bIns="0" rtlCol="0" anchor="ctr"/>
          <a:lstStyle/>
          <a:p>
            <a:pPr marL="0" indent="0" algn="ctr">
              <a:buNone/>
            </a:pPr>
            <a:r>
              <a:rPr lang="en-US" sz="1050" b="1" dirty="0">
                <a:solidFill>
                  <a:srgbClr val="15181D"/>
                </a:solidFill>
                <a:latin typeface="Consolas" pitchFamily="34" charset="0"/>
                <a:ea typeface="Consolas" pitchFamily="34" charset="-122"/>
                <a:cs typeface="Consolas" pitchFamily="34" charset="-120"/>
              </a:rPr>
              <a:t>symbols</a:t>
            </a:r>
            <a:endParaRPr lang="en-US" sz="1050" dirty="0"/>
          </a:p>
        </p:txBody>
      </p:sp>
      <p:sp>
        <p:nvSpPr>
          <p:cNvPr id="9" name="Shape 7"/>
          <p:cNvSpPr/>
          <p:nvPr/>
        </p:nvSpPr>
        <p:spPr>
          <a:xfrm>
            <a:off x="4065422" y="2002536"/>
            <a:ext cx="1185062" cy="292608"/>
          </a:xfrm>
          <a:prstGeom prst="roundRect">
            <a:avLst>
              <a:gd name="adj" fmla="val 15625"/>
            </a:avLst>
          </a:prstGeom>
          <a:solidFill>
            <a:srgbClr val="34D6BE"/>
          </a:solidFill>
          <a:ln w="19050">
            <a:solidFill>
              <a:srgbClr val="34D6BE"/>
            </a:solidFill>
            <a:prstDash val="solid"/>
          </a:ln>
        </p:spPr>
        <p:txBody>
          <a:bodyPr/>
          <a:lstStyle/>
          <a:p>
            <a:endParaRPr lang="en-SE"/>
          </a:p>
        </p:txBody>
      </p:sp>
      <p:sp>
        <p:nvSpPr>
          <p:cNvPr id="10" name="Text 8"/>
          <p:cNvSpPr/>
          <p:nvPr/>
        </p:nvSpPr>
        <p:spPr>
          <a:xfrm>
            <a:off x="4065422" y="2002536"/>
            <a:ext cx="1185062" cy="292608"/>
          </a:xfrm>
          <a:prstGeom prst="rect">
            <a:avLst/>
          </a:prstGeom>
          <a:noFill/>
          <a:ln/>
        </p:spPr>
        <p:txBody>
          <a:bodyPr wrap="square" lIns="0" tIns="0" rIns="0" bIns="0" rtlCol="0" anchor="ctr"/>
          <a:lstStyle/>
          <a:p>
            <a:pPr marL="0" indent="0" algn="ctr">
              <a:buNone/>
            </a:pPr>
            <a:r>
              <a:rPr lang="en-US" sz="1050" b="1" dirty="0">
                <a:solidFill>
                  <a:srgbClr val="15181D"/>
                </a:solidFill>
                <a:latin typeface="Consolas" pitchFamily="34" charset="0"/>
                <a:ea typeface="Consolas" pitchFamily="34" charset="-122"/>
                <a:cs typeface="Consolas" pitchFamily="34" charset="-120"/>
              </a:rPr>
              <a:t>gateways.alf</a:t>
            </a:r>
            <a:endParaRPr lang="en-US" sz="1050" dirty="0"/>
          </a:p>
        </p:txBody>
      </p:sp>
      <p:sp>
        <p:nvSpPr>
          <p:cNvPr id="11" name="Text 9"/>
          <p:cNvSpPr/>
          <p:nvPr/>
        </p:nvSpPr>
        <p:spPr>
          <a:xfrm>
            <a:off x="640080" y="2578608"/>
            <a:ext cx="2377440" cy="274320"/>
          </a:xfrm>
          <a:prstGeom prst="rect">
            <a:avLst/>
          </a:prstGeom>
          <a:noFill/>
          <a:ln/>
        </p:spPr>
        <p:txBody>
          <a:bodyPr wrap="square" lIns="0" tIns="0" rIns="0" bIns="0" rtlCol="0" anchor="ctr"/>
          <a:lstStyle/>
          <a:p>
            <a:pPr marL="0" indent="0">
              <a:buNone/>
            </a:pPr>
            <a:r>
              <a:rPr lang="en-US" sz="950" b="1" kern="0" spc="140" dirty="0">
                <a:solidFill>
                  <a:srgbClr val="9B8CFF"/>
                </a:solidFill>
                <a:latin typeface="Calibri" pitchFamily="34" charset="0"/>
                <a:ea typeface="Calibri" pitchFamily="34" charset="-122"/>
                <a:cs typeface="Calibri" pitchFamily="34" charset="-120"/>
              </a:rPr>
              <a:t>ENGINE BEHAVIOUR</a:t>
            </a:r>
            <a:endParaRPr lang="en-US" sz="950" dirty="0"/>
          </a:p>
        </p:txBody>
      </p:sp>
      <p:sp>
        <p:nvSpPr>
          <p:cNvPr id="12" name="Shape 10"/>
          <p:cNvSpPr/>
          <p:nvPr/>
        </p:nvSpPr>
        <p:spPr>
          <a:xfrm>
            <a:off x="3154680" y="2569464"/>
            <a:ext cx="1506931"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13" name="Text 11"/>
          <p:cNvSpPr/>
          <p:nvPr/>
        </p:nvSpPr>
        <p:spPr>
          <a:xfrm>
            <a:off x="3154680" y="2569464"/>
            <a:ext cx="1506931"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sessions_enabled</a:t>
            </a:r>
            <a:endParaRPr lang="en-US" sz="1050" dirty="0"/>
          </a:p>
        </p:txBody>
      </p:sp>
      <p:sp>
        <p:nvSpPr>
          <p:cNvPr id="14" name="Shape 12"/>
          <p:cNvSpPr/>
          <p:nvPr/>
        </p:nvSpPr>
        <p:spPr>
          <a:xfrm>
            <a:off x="4789627" y="2569464"/>
            <a:ext cx="1426464"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15" name="Text 13"/>
          <p:cNvSpPr/>
          <p:nvPr/>
        </p:nvSpPr>
        <p:spPr>
          <a:xfrm>
            <a:off x="4789627" y="2569464"/>
            <a:ext cx="1426464"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enforce_collars</a:t>
            </a:r>
            <a:endParaRPr lang="en-US" sz="1050" dirty="0"/>
          </a:p>
        </p:txBody>
      </p:sp>
      <p:sp>
        <p:nvSpPr>
          <p:cNvPr id="16" name="Shape 14"/>
          <p:cNvSpPr/>
          <p:nvPr/>
        </p:nvSpPr>
        <p:spPr>
          <a:xfrm>
            <a:off x="6344107" y="2569464"/>
            <a:ext cx="2150669"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17" name="Text 15"/>
          <p:cNvSpPr/>
          <p:nvPr/>
        </p:nvSpPr>
        <p:spPr>
          <a:xfrm>
            <a:off x="6344107" y="2569464"/>
            <a:ext cx="2150669"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enforce_circuit_breakers</a:t>
            </a:r>
            <a:endParaRPr lang="en-US" sz="1050" dirty="0"/>
          </a:p>
        </p:txBody>
      </p:sp>
      <p:sp>
        <p:nvSpPr>
          <p:cNvPr id="18" name="Shape 16"/>
          <p:cNvSpPr/>
          <p:nvPr/>
        </p:nvSpPr>
        <p:spPr>
          <a:xfrm>
            <a:off x="8622792" y="2569464"/>
            <a:ext cx="1909267"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19" name="Text 17"/>
          <p:cNvSpPr/>
          <p:nvPr/>
        </p:nvSpPr>
        <p:spPr>
          <a:xfrm>
            <a:off x="8622792" y="2569464"/>
            <a:ext cx="1909267"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snapshot_interval_sec</a:t>
            </a:r>
            <a:endParaRPr lang="en-US" sz="1050" dirty="0"/>
          </a:p>
        </p:txBody>
      </p:sp>
      <p:sp>
        <p:nvSpPr>
          <p:cNvPr id="20" name="Text 18"/>
          <p:cNvSpPr/>
          <p:nvPr/>
        </p:nvSpPr>
        <p:spPr>
          <a:xfrm>
            <a:off x="640080" y="3145536"/>
            <a:ext cx="2377440" cy="274320"/>
          </a:xfrm>
          <a:prstGeom prst="rect">
            <a:avLst/>
          </a:prstGeom>
          <a:noFill/>
          <a:ln/>
        </p:spPr>
        <p:txBody>
          <a:bodyPr wrap="square" lIns="0" tIns="0" rIns="0" bIns="0" rtlCol="0" anchor="ctr"/>
          <a:lstStyle/>
          <a:p>
            <a:pPr marL="0" indent="0">
              <a:buNone/>
            </a:pPr>
            <a:r>
              <a:rPr lang="en-US" sz="950" b="1" kern="0" spc="140" dirty="0">
                <a:solidFill>
                  <a:srgbClr val="FF7A6B"/>
                </a:solidFill>
                <a:latin typeface="Calibri" pitchFamily="34" charset="0"/>
                <a:ea typeface="Calibri" pitchFamily="34" charset="-122"/>
                <a:cs typeface="Calibri" pitchFamily="34" charset="-120"/>
              </a:rPr>
              <a:t>RISK POLICY</a:t>
            </a:r>
            <a:endParaRPr lang="en-US" sz="950" dirty="0"/>
          </a:p>
        </p:txBody>
      </p:sp>
      <p:sp>
        <p:nvSpPr>
          <p:cNvPr id="21" name="Shape 19"/>
          <p:cNvSpPr/>
          <p:nvPr/>
        </p:nvSpPr>
        <p:spPr>
          <a:xfrm>
            <a:off x="3154680" y="3136392"/>
            <a:ext cx="1265530"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22" name="Text 20"/>
          <p:cNvSpPr/>
          <p:nvPr/>
        </p:nvSpPr>
        <p:spPr>
          <a:xfrm>
            <a:off x="3154680" y="3136392"/>
            <a:ext cx="1265530"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risk_controls</a:t>
            </a:r>
            <a:endParaRPr lang="en-US" sz="1050" dirty="0"/>
          </a:p>
        </p:txBody>
      </p:sp>
      <p:sp>
        <p:nvSpPr>
          <p:cNvPr id="23" name="Shape 21"/>
          <p:cNvSpPr/>
          <p:nvPr/>
        </p:nvSpPr>
        <p:spPr>
          <a:xfrm>
            <a:off x="4548226" y="3136392"/>
            <a:ext cx="2150669"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24" name="Text 22"/>
          <p:cNvSpPr/>
          <p:nvPr/>
        </p:nvSpPr>
        <p:spPr>
          <a:xfrm>
            <a:off x="4548226" y="3136392"/>
            <a:ext cx="2150669"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circuit_breaker_defaults</a:t>
            </a:r>
            <a:endParaRPr lang="en-US" sz="1050" dirty="0"/>
          </a:p>
        </p:txBody>
      </p:sp>
      <p:sp>
        <p:nvSpPr>
          <p:cNvPr id="25" name="Text 23"/>
          <p:cNvSpPr/>
          <p:nvPr/>
        </p:nvSpPr>
        <p:spPr>
          <a:xfrm>
            <a:off x="640080" y="3712464"/>
            <a:ext cx="2377440" cy="274320"/>
          </a:xfrm>
          <a:prstGeom prst="rect">
            <a:avLst/>
          </a:prstGeom>
          <a:noFill/>
          <a:ln/>
        </p:spPr>
        <p:txBody>
          <a:bodyPr wrap="square" lIns="0" tIns="0" rIns="0" bIns="0" rtlCol="0" anchor="ctr"/>
          <a:lstStyle/>
          <a:p>
            <a:pPr marL="0" indent="0">
              <a:buNone/>
            </a:pPr>
            <a:r>
              <a:rPr lang="en-US" sz="950" b="1" kern="0" spc="140" dirty="0">
                <a:solidFill>
                  <a:srgbClr val="F3B441"/>
                </a:solidFill>
                <a:latin typeface="Calibri" pitchFamily="34" charset="0"/>
                <a:ea typeface="Calibri" pitchFamily="34" charset="-122"/>
                <a:cs typeface="Calibri" pitchFamily="34" charset="-120"/>
              </a:rPr>
              <a:t>LIQUIDITY</a:t>
            </a:r>
            <a:endParaRPr lang="en-US" sz="950" dirty="0"/>
          </a:p>
        </p:txBody>
      </p:sp>
      <p:sp>
        <p:nvSpPr>
          <p:cNvPr id="26" name="Shape 24"/>
          <p:cNvSpPr/>
          <p:nvPr/>
        </p:nvSpPr>
        <p:spPr>
          <a:xfrm>
            <a:off x="3154680" y="3703320"/>
            <a:ext cx="1989734"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27" name="Text 25"/>
          <p:cNvSpPr/>
          <p:nvPr/>
        </p:nvSpPr>
        <p:spPr>
          <a:xfrm>
            <a:off x="3154680" y="3703320"/>
            <a:ext cx="1989734"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mm_obligation_defaults</a:t>
            </a:r>
            <a:endParaRPr lang="en-US" sz="1050" dirty="0"/>
          </a:p>
        </p:txBody>
      </p:sp>
      <p:sp>
        <p:nvSpPr>
          <p:cNvPr id="28" name="Shape 26"/>
          <p:cNvSpPr/>
          <p:nvPr/>
        </p:nvSpPr>
        <p:spPr>
          <a:xfrm>
            <a:off x="5272430" y="3703320"/>
            <a:ext cx="1748333"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29" name="Text 27"/>
          <p:cNvSpPr/>
          <p:nvPr/>
        </p:nvSpPr>
        <p:spPr>
          <a:xfrm>
            <a:off x="5272430" y="3703320"/>
            <a:ext cx="1748333"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market_maker_combos</a:t>
            </a:r>
            <a:endParaRPr lang="en-US" sz="1050" dirty="0"/>
          </a:p>
        </p:txBody>
      </p:sp>
      <p:sp>
        <p:nvSpPr>
          <p:cNvPr id="30" name="Text 28"/>
          <p:cNvSpPr/>
          <p:nvPr/>
        </p:nvSpPr>
        <p:spPr>
          <a:xfrm>
            <a:off x="640080" y="4279392"/>
            <a:ext cx="2377440" cy="274320"/>
          </a:xfrm>
          <a:prstGeom prst="rect">
            <a:avLst/>
          </a:prstGeom>
          <a:noFill/>
          <a:ln/>
        </p:spPr>
        <p:txBody>
          <a:bodyPr wrap="square" lIns="0" tIns="0" rIns="0" bIns="0" rtlCol="0" anchor="ctr"/>
          <a:lstStyle/>
          <a:p>
            <a:pPr marL="0" indent="0">
              <a:buNone/>
            </a:pPr>
            <a:r>
              <a:rPr lang="en-US" sz="950" b="1" kern="0" spc="140" dirty="0">
                <a:solidFill>
                  <a:srgbClr val="6BD98A"/>
                </a:solidFill>
                <a:latin typeface="Calibri" pitchFamily="34" charset="0"/>
                <a:ea typeface="Calibri" pitchFamily="34" charset="-122"/>
                <a:cs typeface="Calibri" pitchFamily="34" charset="-120"/>
              </a:rPr>
              <a:t>MARKET RHYTHM &amp; DATA</a:t>
            </a:r>
            <a:endParaRPr lang="en-US" sz="950" dirty="0"/>
          </a:p>
        </p:txBody>
      </p:sp>
      <p:sp>
        <p:nvSpPr>
          <p:cNvPr id="31" name="Shape 29"/>
          <p:cNvSpPr/>
          <p:nvPr/>
        </p:nvSpPr>
        <p:spPr>
          <a:xfrm>
            <a:off x="3154680" y="4270248"/>
            <a:ext cx="863194"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32" name="Text 30"/>
          <p:cNvSpPr/>
          <p:nvPr/>
        </p:nvSpPr>
        <p:spPr>
          <a:xfrm>
            <a:off x="3154680" y="4270248"/>
            <a:ext cx="863194"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schedule</a:t>
            </a:r>
            <a:endParaRPr lang="en-US" sz="1050" dirty="0"/>
          </a:p>
        </p:txBody>
      </p:sp>
      <p:sp>
        <p:nvSpPr>
          <p:cNvPr id="33" name="Shape 31"/>
          <p:cNvSpPr/>
          <p:nvPr/>
        </p:nvSpPr>
        <p:spPr>
          <a:xfrm>
            <a:off x="4145890" y="4270248"/>
            <a:ext cx="782726"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34" name="Text 32"/>
          <p:cNvSpPr/>
          <p:nvPr/>
        </p:nvSpPr>
        <p:spPr>
          <a:xfrm>
            <a:off x="4145890" y="4270248"/>
            <a:ext cx="782726"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country</a:t>
            </a:r>
            <a:endParaRPr lang="en-US" sz="1050" dirty="0"/>
          </a:p>
        </p:txBody>
      </p:sp>
      <p:sp>
        <p:nvSpPr>
          <p:cNvPr id="35" name="Shape 33"/>
          <p:cNvSpPr/>
          <p:nvPr/>
        </p:nvSpPr>
        <p:spPr>
          <a:xfrm>
            <a:off x="5056632" y="4270248"/>
            <a:ext cx="782726"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36" name="Text 34"/>
          <p:cNvSpPr/>
          <p:nvPr/>
        </p:nvSpPr>
        <p:spPr>
          <a:xfrm>
            <a:off x="5056632" y="4270248"/>
            <a:ext cx="782726"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indices</a:t>
            </a:r>
            <a:endParaRPr lang="en-US" sz="1050" dirty="0"/>
          </a:p>
        </p:txBody>
      </p:sp>
      <p:sp>
        <p:nvSpPr>
          <p:cNvPr id="37" name="Text 35"/>
          <p:cNvSpPr/>
          <p:nvPr/>
        </p:nvSpPr>
        <p:spPr>
          <a:xfrm>
            <a:off x="640080" y="4846320"/>
            <a:ext cx="2377440" cy="274320"/>
          </a:xfrm>
          <a:prstGeom prst="rect">
            <a:avLst/>
          </a:prstGeom>
          <a:noFill/>
          <a:ln/>
        </p:spPr>
        <p:txBody>
          <a:bodyPr wrap="square" lIns="0" tIns="0" rIns="0" bIns="0" rtlCol="0" anchor="ctr"/>
          <a:lstStyle/>
          <a:p>
            <a:pPr marL="0" indent="0">
              <a:buNone/>
            </a:pPr>
            <a:r>
              <a:rPr lang="en-US" sz="950" b="1" kern="0" spc="140" dirty="0">
                <a:solidFill>
                  <a:srgbClr val="5AB2F7"/>
                </a:solidFill>
                <a:latin typeface="Calibri" pitchFamily="34" charset="0"/>
                <a:ea typeface="Calibri" pitchFamily="34" charset="-122"/>
                <a:cs typeface="Calibri" pitchFamily="34" charset="-120"/>
              </a:rPr>
              <a:t>CONNECTIVITY BLOCKS</a:t>
            </a:r>
            <a:endParaRPr lang="en-US" sz="950" dirty="0"/>
          </a:p>
        </p:txBody>
      </p:sp>
      <p:sp>
        <p:nvSpPr>
          <p:cNvPr id="38" name="Shape 36"/>
          <p:cNvSpPr/>
          <p:nvPr/>
        </p:nvSpPr>
        <p:spPr>
          <a:xfrm>
            <a:off x="3154680" y="4837176"/>
            <a:ext cx="1104595"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39" name="Text 37"/>
          <p:cNvSpPr/>
          <p:nvPr/>
        </p:nvSpPr>
        <p:spPr>
          <a:xfrm>
            <a:off x="3154680" y="4837176"/>
            <a:ext cx="1104595"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alf_gateway</a:t>
            </a:r>
            <a:endParaRPr lang="en-US" sz="1050" dirty="0"/>
          </a:p>
        </p:txBody>
      </p:sp>
      <p:sp>
        <p:nvSpPr>
          <p:cNvPr id="40" name="Shape 38"/>
          <p:cNvSpPr/>
          <p:nvPr/>
        </p:nvSpPr>
        <p:spPr>
          <a:xfrm>
            <a:off x="4387291" y="4837176"/>
            <a:ext cx="1185062"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41" name="Text 39"/>
          <p:cNvSpPr/>
          <p:nvPr/>
        </p:nvSpPr>
        <p:spPr>
          <a:xfrm>
            <a:off x="4387291" y="4837176"/>
            <a:ext cx="1185062"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balf_gateway</a:t>
            </a:r>
            <a:endParaRPr lang="en-US" sz="1050" dirty="0"/>
          </a:p>
        </p:txBody>
      </p:sp>
      <p:sp>
        <p:nvSpPr>
          <p:cNvPr id="42" name="Shape 40"/>
          <p:cNvSpPr/>
          <p:nvPr/>
        </p:nvSpPr>
        <p:spPr>
          <a:xfrm>
            <a:off x="5700370" y="4837176"/>
            <a:ext cx="1748333"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43" name="Text 41"/>
          <p:cNvSpPr/>
          <p:nvPr/>
        </p:nvSpPr>
        <p:spPr>
          <a:xfrm>
            <a:off x="5700370" y="4837176"/>
            <a:ext cx="1748333"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market_data_gateway</a:t>
            </a:r>
            <a:endParaRPr lang="en-US" sz="1050" dirty="0"/>
          </a:p>
        </p:txBody>
      </p:sp>
      <p:sp>
        <p:nvSpPr>
          <p:cNvPr id="44" name="Shape 42"/>
          <p:cNvSpPr/>
          <p:nvPr/>
        </p:nvSpPr>
        <p:spPr>
          <a:xfrm>
            <a:off x="7576718" y="4837176"/>
            <a:ext cx="1667866"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45" name="Text 43"/>
          <p:cNvSpPr/>
          <p:nvPr/>
        </p:nvSpPr>
        <p:spPr>
          <a:xfrm>
            <a:off x="7576718" y="4837176"/>
            <a:ext cx="1667866"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post_trade_gateway</a:t>
            </a:r>
            <a:endParaRPr lang="en-US" sz="1050" dirty="0"/>
          </a:p>
        </p:txBody>
      </p:sp>
      <p:sp>
        <p:nvSpPr>
          <p:cNvPr id="46" name="Shape 44"/>
          <p:cNvSpPr/>
          <p:nvPr/>
        </p:nvSpPr>
        <p:spPr>
          <a:xfrm>
            <a:off x="9372600" y="4837176"/>
            <a:ext cx="1024128"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47" name="Text 45"/>
          <p:cNvSpPr/>
          <p:nvPr/>
        </p:nvSpPr>
        <p:spPr>
          <a:xfrm>
            <a:off x="9372600" y="4837176"/>
            <a:ext cx="1024128"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dc_gateway</a:t>
            </a:r>
            <a:endParaRPr lang="en-US" sz="1050" dirty="0"/>
          </a:p>
        </p:txBody>
      </p:sp>
      <p:sp>
        <p:nvSpPr>
          <p:cNvPr id="48" name="Shape 46"/>
          <p:cNvSpPr/>
          <p:nvPr/>
        </p:nvSpPr>
        <p:spPr>
          <a:xfrm>
            <a:off x="10524744" y="4837176"/>
            <a:ext cx="1185062"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49" name="Text 47"/>
          <p:cNvSpPr/>
          <p:nvPr/>
        </p:nvSpPr>
        <p:spPr>
          <a:xfrm>
            <a:off x="10524744" y="4837176"/>
            <a:ext cx="1185062"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api_gateways</a:t>
            </a:r>
            <a:endParaRPr lang="en-US" sz="1050" dirty="0"/>
          </a:p>
        </p:txBody>
      </p:sp>
      <p:sp>
        <p:nvSpPr>
          <p:cNvPr id="50" name="Shape 48"/>
          <p:cNvSpPr/>
          <p:nvPr/>
        </p:nvSpPr>
        <p:spPr>
          <a:xfrm>
            <a:off x="11167872" y="4837176"/>
            <a:ext cx="1024128" cy="292608"/>
          </a:xfrm>
          <a:prstGeom prst="roundRect">
            <a:avLst>
              <a:gd name="adj" fmla="val 15625"/>
            </a:avLst>
          </a:prstGeom>
          <a:solidFill>
            <a:srgbClr val="252B33"/>
          </a:solidFill>
          <a:ln w="12700">
            <a:solidFill>
              <a:srgbClr val="3B4450"/>
            </a:solidFill>
            <a:prstDash val="solid"/>
          </a:ln>
        </p:spPr>
        <p:txBody>
          <a:bodyPr/>
          <a:lstStyle/>
          <a:p>
            <a:endParaRPr lang="en-SE"/>
          </a:p>
        </p:txBody>
      </p:sp>
      <p:sp>
        <p:nvSpPr>
          <p:cNvPr id="51" name="Text 49"/>
          <p:cNvSpPr/>
          <p:nvPr/>
        </p:nvSpPr>
        <p:spPr>
          <a:xfrm>
            <a:off x="11167872" y="4837176"/>
            <a:ext cx="1024128" cy="292608"/>
          </a:xfrm>
          <a:prstGeom prst="rect">
            <a:avLst/>
          </a:prstGeom>
          <a:noFill/>
          <a:ln/>
        </p:spPr>
        <p:txBody>
          <a:bodyPr wrap="square" lIns="0" tIns="0" rIns="0" bIns="0" rtlCol="0" anchor="ctr"/>
          <a:lstStyle/>
          <a:p>
            <a:pPr marL="0" indent="0" algn="ctr">
              <a:buNone/>
            </a:pPr>
            <a:r>
              <a:rPr lang="en-US" sz="1050" dirty="0">
                <a:solidFill>
                  <a:srgbClr val="C2CAD4"/>
                </a:solidFill>
                <a:latin typeface="Consolas" pitchFamily="34" charset="0"/>
                <a:ea typeface="Consolas" pitchFamily="34" charset="-122"/>
                <a:cs typeface="Consolas" pitchFamily="34" charset="-120"/>
              </a:rPr>
              <a:t>log_server</a:t>
            </a:r>
            <a:endParaRPr lang="en-US" sz="1050" dirty="0"/>
          </a:p>
        </p:txBody>
      </p:sp>
      <p:sp>
        <p:nvSpPr>
          <p:cNvPr id="52" name="Shape 50"/>
          <p:cNvSpPr/>
          <p:nvPr/>
        </p:nvSpPr>
        <p:spPr>
          <a:xfrm>
            <a:off x="640080" y="5577840"/>
            <a:ext cx="10911535" cy="777240"/>
          </a:xfrm>
          <a:prstGeom prst="roundRect">
            <a:avLst>
              <a:gd name="adj" fmla="val 7059"/>
            </a:avLst>
          </a:prstGeom>
          <a:solidFill>
            <a:srgbClr val="13463F"/>
          </a:solidFill>
          <a:ln w="12700">
            <a:solidFill>
              <a:srgbClr val="34D6BE"/>
            </a:solidFill>
            <a:prstDash val="solid"/>
          </a:ln>
        </p:spPr>
        <p:txBody>
          <a:bodyPr/>
          <a:lstStyle/>
          <a:p>
            <a:endParaRPr lang="en-SE"/>
          </a:p>
        </p:txBody>
      </p:sp>
      <p:sp>
        <p:nvSpPr>
          <p:cNvPr id="53" name="Text 51"/>
          <p:cNvSpPr/>
          <p:nvPr/>
        </p:nvSpPr>
        <p:spPr>
          <a:xfrm>
            <a:off x="877824" y="566928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READ THE MAP THIS WAY</a:t>
            </a:r>
            <a:endParaRPr lang="en-US" sz="950" dirty="0"/>
          </a:p>
        </p:txBody>
      </p:sp>
      <p:sp>
        <p:nvSpPr>
          <p:cNvPr id="54" name="Text 52"/>
          <p:cNvSpPr/>
          <p:nvPr/>
        </p:nvSpPr>
        <p:spPr>
          <a:xfrm>
            <a:off x="877824" y="592531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Start at the top and stop as soon as your exchange works. Rows one and two get you trading; rows three to five make the market realistic; row six only matters once external clients need to connect.</a:t>
            </a:r>
            <a:endParaRPr lang="en-US" sz="1250" dirty="0"/>
          </a:p>
        </p:txBody>
      </p:sp>
      <p:sp>
        <p:nvSpPr>
          <p:cNvPr id="55" name="Text 5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56" name="Text 5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FLOOR</a:t>
            </a:r>
            <a:endParaRPr lang="en-US" sz="1050" dirty="0"/>
          </a:p>
        </p:txBody>
      </p:sp>
      <p:sp>
        <p:nvSpPr>
          <p:cNvPr id="4" name="Text 2"/>
          <p:cNvSpPr/>
          <p:nvPr/>
        </p:nvSpPr>
        <p:spPr>
          <a:xfrm>
            <a:off x="640080" y="749808"/>
            <a:ext cx="1091153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Only two things are required</a:t>
            </a:r>
            <a:endParaRPr lang="en-US" sz="3000" dirty="0"/>
          </a:p>
        </p:txBody>
      </p:sp>
      <p:sp>
        <p:nvSpPr>
          <p:cNvPr id="5" name="Text 3"/>
          <p:cNvSpPr/>
          <p:nvPr/>
        </p:nvSpPr>
        <p:spPr>
          <a:xfrm>
            <a:off x="640080" y="1371600"/>
            <a:ext cx="7772400" cy="457200"/>
          </a:xfrm>
          <a:prstGeom prst="rect">
            <a:avLst/>
          </a:prstGeom>
          <a:noFill/>
          <a:ln/>
        </p:spPr>
        <p:txBody>
          <a:bodyPr wrap="square" lIns="0" tIns="0" rIns="0" bIns="0" rtlCol="0" anchor="t"/>
          <a:lstStyle/>
          <a:p>
            <a:pPr marL="0" indent="0">
              <a:buNone/>
            </a:pPr>
            <a:r>
              <a:rPr lang="en-US" sz="1500" dirty="0">
                <a:solidFill>
                  <a:srgbClr val="8D97A5"/>
                </a:solidFill>
                <a:latin typeface="Calibri" pitchFamily="34" charset="0"/>
                <a:ea typeface="Calibri" pitchFamily="34" charset="-122"/>
                <a:cs typeface="Calibri" pitchFamily="34" charset="-120"/>
              </a:rPr>
              <a:t>Everything else in the file has a default. These two do not — omit either and the engine refuses to start.</a:t>
            </a:r>
            <a:endParaRPr lang="en-US" sz="1500" dirty="0"/>
          </a:p>
        </p:txBody>
      </p:sp>
      <p:sp>
        <p:nvSpPr>
          <p:cNvPr id="6" name="Shape 4"/>
          <p:cNvSpPr/>
          <p:nvPr/>
        </p:nvSpPr>
        <p:spPr>
          <a:xfrm>
            <a:off x="640080" y="2011680"/>
            <a:ext cx="5349240" cy="2834640"/>
          </a:xfrm>
          <a:prstGeom prst="roundRect">
            <a:avLst>
              <a:gd name="adj" fmla="val 1935"/>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5347411"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914400" y="2240280"/>
            <a:ext cx="548640" cy="548640"/>
          </a:xfrm>
          <a:prstGeom prst="rect">
            <a:avLst/>
          </a:prstGeom>
          <a:noFill/>
          <a:ln/>
        </p:spPr>
        <p:txBody>
          <a:bodyPr wrap="square" lIns="0" tIns="0" rIns="0" bIns="0" rtlCol="0" anchor="ctr"/>
          <a:lstStyle/>
          <a:p>
            <a:pPr marL="0" indent="0">
              <a:buNone/>
            </a:pPr>
            <a:r>
              <a:rPr lang="en-US" sz="3400" b="1" dirty="0">
                <a:solidFill>
                  <a:srgbClr val="34D6BE"/>
                </a:solidFill>
                <a:latin typeface="Trebuchet MS" pitchFamily="34" charset="0"/>
                <a:ea typeface="Trebuchet MS" pitchFamily="34" charset="-122"/>
                <a:cs typeface="Trebuchet MS" pitchFamily="34" charset="-120"/>
              </a:rPr>
              <a:t>1</a:t>
            </a:r>
            <a:endParaRPr lang="en-US" sz="3400" dirty="0"/>
          </a:p>
        </p:txBody>
      </p:sp>
      <p:sp>
        <p:nvSpPr>
          <p:cNvPr id="9" name="Text 7"/>
          <p:cNvSpPr/>
          <p:nvPr/>
        </p:nvSpPr>
        <p:spPr>
          <a:xfrm>
            <a:off x="1508760" y="2240280"/>
            <a:ext cx="4114800" cy="548640"/>
          </a:xfrm>
          <a:prstGeom prst="rect">
            <a:avLst/>
          </a:prstGeom>
          <a:noFill/>
          <a:ln/>
        </p:spPr>
        <p:txBody>
          <a:bodyPr wrap="square" lIns="0" tIns="0" rIns="0" bIns="0" rtlCol="0" anchor="ctr"/>
          <a:lstStyle/>
          <a:p>
            <a:pPr marL="0" indent="0">
              <a:buNone/>
            </a:pPr>
            <a:r>
              <a:rPr lang="en-US" sz="2200" b="1" dirty="0">
                <a:solidFill>
                  <a:srgbClr val="F1F4F8"/>
                </a:solidFill>
                <a:latin typeface="Consolas" pitchFamily="34" charset="0"/>
                <a:ea typeface="Consolas" pitchFamily="34" charset="-122"/>
                <a:cs typeface="Consolas" pitchFamily="34" charset="-120"/>
              </a:rPr>
              <a:t>symbols</a:t>
            </a:r>
            <a:endParaRPr lang="en-US" sz="2200" dirty="0"/>
          </a:p>
        </p:txBody>
      </p:sp>
      <p:sp>
        <p:nvSpPr>
          <p:cNvPr id="10" name="Text 8"/>
          <p:cNvSpPr/>
          <p:nvPr/>
        </p:nvSpPr>
        <p:spPr>
          <a:xfrm>
            <a:off x="914400" y="2926080"/>
            <a:ext cx="480060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A mapping of symbol name to its settings. This is the instrument allowlist: an order for anything not listed here is rejected with "Symbol not configured".</a:t>
            </a:r>
            <a:endParaRPr lang="en-US" sz="1250" dirty="0"/>
          </a:p>
        </p:txBody>
      </p:sp>
      <p:sp>
        <p:nvSpPr>
          <p:cNvPr id="11" name="Text 9"/>
          <p:cNvSpPr/>
          <p:nvPr/>
        </p:nvSpPr>
        <p:spPr>
          <a:xfrm>
            <a:off x="914400" y="3977640"/>
            <a:ext cx="4800600" cy="640080"/>
          </a:xfrm>
          <a:prstGeom prst="rect">
            <a:avLst/>
          </a:prstGeom>
          <a:noFill/>
          <a:ln/>
        </p:spPr>
        <p:txBody>
          <a:bodyPr wrap="square" lIns="0" tIns="0" rIns="0" bIns="0" rtlCol="0" anchor="t"/>
          <a:lstStyle/>
          <a:p>
            <a:pPr marL="0" indent="0">
              <a:lnSpc>
                <a:spcPts val="1700"/>
              </a:lnSpc>
              <a:buNone/>
            </a:pPr>
            <a:r>
              <a:rPr lang="en-US" sz="1200" i="1" dirty="0">
                <a:solidFill>
                  <a:srgbClr val="F3B441"/>
                </a:solidFill>
                <a:latin typeface="Calibri" pitchFamily="34" charset="0"/>
                <a:ea typeface="Calibri" pitchFamily="34" charset="-122"/>
                <a:cs typeface="Calibri" pitchFamily="34" charset="-120"/>
              </a:rPr>
              <a:t>MUST be a mapping. If it is anything else, the engine exits with a fatal config error.</a:t>
            </a:r>
            <a:endParaRPr lang="en-US" sz="1200" dirty="0"/>
          </a:p>
        </p:txBody>
      </p:sp>
      <p:sp>
        <p:nvSpPr>
          <p:cNvPr id="12" name="Shape 10"/>
          <p:cNvSpPr/>
          <p:nvPr/>
        </p:nvSpPr>
        <p:spPr>
          <a:xfrm>
            <a:off x="6537960" y="2011680"/>
            <a:ext cx="5010912" cy="2834640"/>
          </a:xfrm>
          <a:prstGeom prst="roundRect">
            <a:avLst>
              <a:gd name="adj" fmla="val 1935"/>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6538874" y="2012594"/>
            <a:ext cx="5009083" cy="50292"/>
          </a:xfrm>
          <a:prstGeom prst="rect">
            <a:avLst/>
          </a:prstGeom>
          <a:solidFill>
            <a:srgbClr val="5AB2F7"/>
          </a:solidFill>
          <a:ln w="12700">
            <a:solidFill>
              <a:srgbClr val="333333"/>
            </a:solidFill>
            <a:prstDash val="solid"/>
          </a:ln>
        </p:spPr>
        <p:txBody>
          <a:bodyPr/>
          <a:lstStyle/>
          <a:p>
            <a:endParaRPr lang="en-SE"/>
          </a:p>
        </p:txBody>
      </p:sp>
      <p:sp>
        <p:nvSpPr>
          <p:cNvPr id="14" name="Text 12"/>
          <p:cNvSpPr/>
          <p:nvPr/>
        </p:nvSpPr>
        <p:spPr>
          <a:xfrm>
            <a:off x="6812280" y="2240280"/>
            <a:ext cx="548640" cy="548640"/>
          </a:xfrm>
          <a:prstGeom prst="rect">
            <a:avLst/>
          </a:prstGeom>
          <a:noFill/>
          <a:ln/>
        </p:spPr>
        <p:txBody>
          <a:bodyPr wrap="square" lIns="0" tIns="0" rIns="0" bIns="0" rtlCol="0" anchor="ctr"/>
          <a:lstStyle/>
          <a:p>
            <a:pPr marL="0" indent="0">
              <a:buNone/>
            </a:pPr>
            <a:r>
              <a:rPr lang="en-US" sz="3400" b="1" dirty="0">
                <a:solidFill>
                  <a:srgbClr val="5AB2F7"/>
                </a:solidFill>
                <a:latin typeface="Trebuchet MS" pitchFamily="34" charset="0"/>
                <a:ea typeface="Trebuchet MS" pitchFamily="34" charset="-122"/>
                <a:cs typeface="Trebuchet MS" pitchFamily="34" charset="-120"/>
              </a:rPr>
              <a:t>2</a:t>
            </a:r>
            <a:endParaRPr lang="en-US" sz="3400" dirty="0"/>
          </a:p>
        </p:txBody>
      </p:sp>
      <p:sp>
        <p:nvSpPr>
          <p:cNvPr id="15" name="Text 13"/>
          <p:cNvSpPr/>
          <p:nvPr/>
        </p:nvSpPr>
        <p:spPr>
          <a:xfrm>
            <a:off x="7406640" y="2240280"/>
            <a:ext cx="3931920" cy="548640"/>
          </a:xfrm>
          <a:prstGeom prst="rect">
            <a:avLst/>
          </a:prstGeom>
          <a:noFill/>
          <a:ln/>
        </p:spPr>
        <p:txBody>
          <a:bodyPr wrap="square" lIns="0" tIns="0" rIns="0" bIns="0" rtlCol="0" anchor="ctr"/>
          <a:lstStyle/>
          <a:p>
            <a:pPr marL="0" indent="0">
              <a:buNone/>
            </a:pPr>
            <a:r>
              <a:rPr lang="en-US" sz="2200" b="1" dirty="0">
                <a:solidFill>
                  <a:srgbClr val="F1F4F8"/>
                </a:solidFill>
                <a:latin typeface="Consolas" pitchFamily="34" charset="0"/>
                <a:ea typeface="Consolas" pitchFamily="34" charset="-122"/>
                <a:cs typeface="Consolas" pitchFamily="34" charset="-120"/>
              </a:rPr>
              <a:t>gateways.alf</a:t>
            </a:r>
            <a:endParaRPr lang="en-US" sz="2200" dirty="0"/>
          </a:p>
        </p:txBody>
      </p:sp>
      <p:sp>
        <p:nvSpPr>
          <p:cNvPr id="16" name="Text 14"/>
          <p:cNvSpPr/>
          <p:nvPr/>
        </p:nvSpPr>
        <p:spPr>
          <a:xfrm>
            <a:off x="6812280" y="2926080"/>
            <a:ext cx="448056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A list with at least one entry. This is the participant allowlist. A gateway ID that is not here can still attempt to connect — the engine simply ignores it, and the client times out.</a:t>
            </a:r>
            <a:endParaRPr lang="en-US" sz="1250" dirty="0"/>
          </a:p>
        </p:txBody>
      </p:sp>
      <p:sp>
        <p:nvSpPr>
          <p:cNvPr id="17" name="Text 15"/>
          <p:cNvSpPr/>
          <p:nvPr/>
        </p:nvSpPr>
        <p:spPr>
          <a:xfrm>
            <a:off x="6812280" y="3977640"/>
            <a:ext cx="4480560" cy="640080"/>
          </a:xfrm>
          <a:prstGeom prst="rect">
            <a:avLst/>
          </a:prstGeom>
          <a:noFill/>
          <a:ln/>
        </p:spPr>
        <p:txBody>
          <a:bodyPr wrap="square" lIns="0" tIns="0" rIns="0" bIns="0" rtlCol="0" anchor="t"/>
          <a:lstStyle/>
          <a:p>
            <a:pPr marL="0" indent="0">
              <a:lnSpc>
                <a:spcPts val="1700"/>
              </a:lnSpc>
              <a:buNone/>
            </a:pPr>
            <a:r>
              <a:rPr lang="en-US" sz="1200" i="1" dirty="0">
                <a:solidFill>
                  <a:srgbClr val="F3B441"/>
                </a:solidFill>
                <a:latin typeface="Calibri" pitchFamily="34" charset="0"/>
                <a:ea typeface="Calibri" pitchFamily="34" charset="-122"/>
                <a:cs typeface="Calibri" pitchFamily="34" charset="-120"/>
              </a:rPr>
              <a:t>MUST be a list with one or more entries. IDs are unique and stored upper-case.</a:t>
            </a:r>
            <a:endParaRPr lang="en-US" sz="1200" dirty="0"/>
          </a:p>
        </p:txBody>
      </p:sp>
      <p:sp>
        <p:nvSpPr>
          <p:cNvPr id="18" name="Shape 16"/>
          <p:cNvSpPr/>
          <p:nvPr/>
        </p:nvSpPr>
        <p:spPr>
          <a:xfrm>
            <a:off x="640080" y="5074920"/>
            <a:ext cx="10911535" cy="868680"/>
          </a:xfrm>
          <a:prstGeom prst="roundRect">
            <a:avLst>
              <a:gd name="adj" fmla="val 6316"/>
            </a:avLst>
          </a:prstGeom>
          <a:solidFill>
            <a:srgbClr val="4C2420"/>
          </a:solidFill>
          <a:ln w="12700">
            <a:solidFill>
              <a:srgbClr val="FF7A6B"/>
            </a:solidFill>
            <a:prstDash val="solid"/>
          </a:ln>
        </p:spPr>
        <p:txBody>
          <a:bodyPr/>
          <a:lstStyle/>
          <a:p>
            <a:endParaRPr lang="en-SE"/>
          </a:p>
        </p:txBody>
      </p:sp>
      <p:sp>
        <p:nvSpPr>
          <p:cNvPr id="19" name="Text 17"/>
          <p:cNvSpPr/>
          <p:nvPr/>
        </p:nvSpPr>
        <p:spPr>
          <a:xfrm>
            <a:off x="877824" y="516636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WHY THE SILENT IGNORE MATTERS</a:t>
            </a:r>
            <a:endParaRPr lang="en-US" sz="950" dirty="0"/>
          </a:p>
        </p:txBody>
      </p:sp>
      <p:sp>
        <p:nvSpPr>
          <p:cNvPr id="20" name="Text 18"/>
          <p:cNvSpPr/>
          <p:nvPr/>
        </p:nvSpPr>
        <p:spPr>
          <a:xfrm>
            <a:off x="877824" y="542239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An unknown gateway ID produces no error on the engine side at all. The only symptom is a client that says "Gateway authentication timed out". Nine times out of ten that is a missing entry in gateways.alf.</a:t>
            </a:r>
            <a:endParaRPr lang="en-US" sz="1250" dirty="0"/>
          </a:p>
        </p:txBody>
      </p:sp>
      <p:sp>
        <p:nvSpPr>
          <p:cNvPr id="21" name="Text 1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2" name="Text 2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1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Identity &amp; universe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Who exists and what trades. Nothing else in the file makes sense until these are right.</a:t>
            </a:r>
            <a:endParaRPr lang="en-US" sz="1450" dirty="0"/>
          </a:p>
        </p:txBody>
      </p:sp>
      <p:sp>
        <p:nvSpPr>
          <p:cNvPr id="6" name="Shape 4"/>
          <p:cNvSpPr/>
          <p:nvPr/>
        </p:nvSpPr>
        <p:spPr>
          <a:xfrm>
            <a:off x="640080" y="1965960"/>
            <a:ext cx="813816" cy="292608"/>
          </a:xfrm>
          <a:prstGeom prst="roundRect">
            <a:avLst>
              <a:gd name="adj" fmla="val 15625"/>
            </a:avLst>
          </a:prstGeom>
          <a:solidFill>
            <a:srgbClr val="252B33"/>
          </a:solidFill>
          <a:ln w="12700">
            <a:solidFill>
              <a:srgbClr val="34D6BE"/>
            </a:solidFill>
            <a:prstDash val="solid"/>
          </a:ln>
        </p:spPr>
        <p:txBody>
          <a:bodyPr/>
          <a:lstStyle/>
          <a:p>
            <a:endParaRPr lang="en-SE"/>
          </a:p>
        </p:txBody>
      </p:sp>
      <p:sp>
        <p:nvSpPr>
          <p:cNvPr id="7" name="Text 5"/>
          <p:cNvSpPr/>
          <p:nvPr/>
        </p:nvSpPr>
        <p:spPr>
          <a:xfrm>
            <a:off x="640080" y="1965960"/>
            <a:ext cx="813816" cy="292608"/>
          </a:xfrm>
          <a:prstGeom prst="rect">
            <a:avLst/>
          </a:prstGeom>
          <a:noFill/>
          <a:ln/>
        </p:spPr>
        <p:txBody>
          <a:bodyPr wrap="square" lIns="0" tIns="0" rIns="0" bIns="0" rtlCol="0" anchor="ctr"/>
          <a:lstStyle/>
          <a:p>
            <a:pPr marL="0" indent="0" algn="ctr">
              <a:buNone/>
            </a:pPr>
            <a:r>
              <a:rPr lang="en-US" sz="1050" dirty="0">
                <a:solidFill>
                  <a:srgbClr val="34D6BE"/>
                </a:solidFill>
                <a:latin typeface="Consolas" pitchFamily="34" charset="0"/>
                <a:ea typeface="Consolas" pitchFamily="34" charset="-122"/>
                <a:cs typeface="Consolas" pitchFamily="34" charset="-120"/>
              </a:rPr>
              <a:t>symbols</a:t>
            </a:r>
            <a:endParaRPr lang="en-US" sz="1050" dirty="0"/>
          </a:p>
        </p:txBody>
      </p:sp>
      <p:sp>
        <p:nvSpPr>
          <p:cNvPr id="8" name="Shape 6"/>
          <p:cNvSpPr/>
          <p:nvPr/>
        </p:nvSpPr>
        <p:spPr>
          <a:xfrm>
            <a:off x="1581912" y="1965960"/>
            <a:ext cx="1225296" cy="292608"/>
          </a:xfrm>
          <a:prstGeom prst="roundRect">
            <a:avLst>
              <a:gd name="adj" fmla="val 15625"/>
            </a:avLst>
          </a:prstGeom>
          <a:solidFill>
            <a:srgbClr val="252B33"/>
          </a:solidFill>
          <a:ln w="12700">
            <a:solidFill>
              <a:srgbClr val="34D6BE"/>
            </a:solidFill>
            <a:prstDash val="solid"/>
          </a:ln>
        </p:spPr>
        <p:txBody>
          <a:bodyPr/>
          <a:lstStyle/>
          <a:p>
            <a:endParaRPr lang="en-SE"/>
          </a:p>
        </p:txBody>
      </p:sp>
      <p:sp>
        <p:nvSpPr>
          <p:cNvPr id="9" name="Text 7"/>
          <p:cNvSpPr/>
          <p:nvPr/>
        </p:nvSpPr>
        <p:spPr>
          <a:xfrm>
            <a:off x="1581912" y="1965960"/>
            <a:ext cx="1225296" cy="292608"/>
          </a:xfrm>
          <a:prstGeom prst="rect">
            <a:avLst/>
          </a:prstGeom>
          <a:noFill/>
          <a:ln/>
        </p:spPr>
        <p:txBody>
          <a:bodyPr wrap="square" lIns="0" tIns="0" rIns="0" bIns="0" rtlCol="0" anchor="ctr"/>
          <a:lstStyle/>
          <a:p>
            <a:pPr marL="0" indent="0" algn="ctr">
              <a:buNone/>
            </a:pPr>
            <a:r>
              <a:rPr lang="en-US" sz="1050" dirty="0">
                <a:solidFill>
                  <a:srgbClr val="34D6BE"/>
                </a:solidFill>
                <a:latin typeface="Consolas" pitchFamily="34" charset="0"/>
                <a:ea typeface="Consolas" pitchFamily="34" charset="-122"/>
                <a:cs typeface="Consolas" pitchFamily="34" charset="-120"/>
              </a:rPr>
              <a:t>gateways.alf</a:t>
            </a:r>
            <a:endParaRPr lang="en-US" sz="1050" dirty="0"/>
          </a:p>
        </p:txBody>
      </p:sp>
      <p:sp>
        <p:nvSpPr>
          <p:cNvPr id="10" name="Shape 8"/>
          <p:cNvSpPr/>
          <p:nvPr/>
        </p:nvSpPr>
        <p:spPr>
          <a:xfrm>
            <a:off x="640080" y="2551176"/>
            <a:ext cx="82296" cy="82296"/>
          </a:xfrm>
          <a:prstGeom prst="rect">
            <a:avLst/>
          </a:prstGeom>
          <a:solidFill>
            <a:srgbClr val="34D6BE"/>
          </a:solidFill>
          <a:ln w="12700">
            <a:solidFill>
              <a:srgbClr val="333333"/>
            </a:solidFill>
            <a:prstDash val="solid"/>
          </a:ln>
        </p:spPr>
        <p:txBody>
          <a:bodyPr/>
          <a:lstStyle/>
          <a:p>
            <a:endParaRPr lang="en-SE"/>
          </a:p>
        </p:txBody>
      </p:sp>
      <p:sp>
        <p:nvSpPr>
          <p:cNvPr id="11" name="Text 9"/>
          <p:cNvSpPr/>
          <p:nvPr/>
        </p:nvSpPr>
        <p:spPr>
          <a:xfrm>
            <a:off x="877824" y="2441448"/>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Symbol name  —  </a:t>
            </a:r>
            <a:r>
              <a:rPr lang="en-US" sz="1250" dirty="0">
                <a:solidFill>
                  <a:srgbClr val="C2CAD4"/>
                </a:solidFill>
                <a:latin typeface="Calibri" pitchFamily="34" charset="0"/>
                <a:ea typeface="Calibri" pitchFamily="34" charset="-122"/>
                <a:cs typeface="Calibri" pitchFamily="34" charset="-120"/>
              </a:rPr>
              <a:t>The key of the symbols mapping. Upper-cased on load — aapl and AAPL are the same instrument.</a:t>
            </a:r>
            <a:endParaRPr lang="en-US" sz="1250" dirty="0"/>
          </a:p>
        </p:txBody>
      </p:sp>
      <p:sp>
        <p:nvSpPr>
          <p:cNvPr id="12" name="Shape 10"/>
          <p:cNvSpPr/>
          <p:nvPr/>
        </p:nvSpPr>
        <p:spPr>
          <a:xfrm>
            <a:off x="640080" y="3072384"/>
            <a:ext cx="82296" cy="82296"/>
          </a:xfrm>
          <a:prstGeom prst="rect">
            <a:avLst/>
          </a:prstGeom>
          <a:solidFill>
            <a:srgbClr val="34D6BE"/>
          </a:solidFill>
          <a:ln w="12700">
            <a:solidFill>
              <a:srgbClr val="333333"/>
            </a:solidFill>
            <a:prstDash val="solid"/>
          </a:ln>
        </p:spPr>
        <p:txBody>
          <a:bodyPr/>
          <a:lstStyle/>
          <a:p>
            <a:endParaRPr lang="en-SE"/>
          </a:p>
        </p:txBody>
      </p:sp>
      <p:sp>
        <p:nvSpPr>
          <p:cNvPr id="13" name="Text 11"/>
          <p:cNvSpPr/>
          <p:nvPr/>
        </p:nvSpPr>
        <p:spPr>
          <a:xfrm>
            <a:off x="877824" y="2962656"/>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tick_decimals  —  </a:t>
            </a:r>
            <a:r>
              <a:rPr lang="en-US" sz="1250" dirty="0">
                <a:solidFill>
                  <a:srgbClr val="C2CAD4"/>
                </a:solidFill>
                <a:latin typeface="Calibri" pitchFamily="34" charset="0"/>
                <a:ea typeface="Calibri" pitchFamily="34" charset="-122"/>
                <a:cs typeface="Calibri" pitchFamily="34" charset="-120"/>
              </a:rPr>
              <a:t>Price precision, 0 to 8, default 2. Two decimals means prices move in cents. Get this wrong and every price displays wrong.</a:t>
            </a:r>
            <a:endParaRPr lang="en-US" sz="1250" dirty="0"/>
          </a:p>
        </p:txBody>
      </p:sp>
      <p:sp>
        <p:nvSpPr>
          <p:cNvPr id="14" name="Shape 12"/>
          <p:cNvSpPr/>
          <p:nvPr/>
        </p:nvSpPr>
        <p:spPr>
          <a:xfrm>
            <a:off x="640080" y="3593592"/>
            <a:ext cx="82296" cy="82296"/>
          </a:xfrm>
          <a:prstGeom prst="rect">
            <a:avLst/>
          </a:prstGeom>
          <a:solidFill>
            <a:srgbClr val="34D6BE"/>
          </a:solidFill>
          <a:ln w="12700">
            <a:solidFill>
              <a:srgbClr val="333333"/>
            </a:solidFill>
            <a:prstDash val="solid"/>
          </a:ln>
        </p:spPr>
        <p:txBody>
          <a:bodyPr/>
          <a:lstStyle/>
          <a:p>
            <a:endParaRPr lang="en-SE"/>
          </a:p>
        </p:txBody>
      </p:sp>
      <p:sp>
        <p:nvSpPr>
          <p:cNvPr id="15" name="Text 13"/>
          <p:cNvSpPr/>
          <p:nvPr/>
        </p:nvSpPr>
        <p:spPr>
          <a:xfrm>
            <a:off x="877824" y="3483864"/>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last_buy_price / last_sell_price  —  </a:t>
            </a:r>
            <a:r>
              <a:rPr lang="en-US" sz="1250" dirty="0">
                <a:solidFill>
                  <a:srgbClr val="C2CAD4"/>
                </a:solidFill>
                <a:latin typeface="Calibri" pitchFamily="34" charset="0"/>
                <a:ea typeface="Calibri" pitchFamily="34" charset="-122"/>
                <a:cs typeface="Calibri" pitchFamily="34" charset="-120"/>
              </a:rPr>
              <a:t>Seed reference prices. On day one there is no trade history, so collars and circuit breakers have nothing to anchor to unless you supply these.</a:t>
            </a:r>
            <a:endParaRPr lang="en-US" sz="1250" dirty="0"/>
          </a:p>
        </p:txBody>
      </p:sp>
      <p:sp>
        <p:nvSpPr>
          <p:cNvPr id="16" name="Shape 14"/>
          <p:cNvSpPr/>
          <p:nvPr/>
        </p:nvSpPr>
        <p:spPr>
          <a:xfrm>
            <a:off x="640080" y="4114800"/>
            <a:ext cx="82296" cy="82296"/>
          </a:xfrm>
          <a:prstGeom prst="rect">
            <a:avLst/>
          </a:prstGeom>
          <a:solidFill>
            <a:srgbClr val="34D6BE"/>
          </a:solidFill>
          <a:ln w="12700">
            <a:solidFill>
              <a:srgbClr val="333333"/>
            </a:solidFill>
            <a:prstDash val="solid"/>
          </a:ln>
        </p:spPr>
        <p:txBody>
          <a:bodyPr/>
          <a:lstStyle/>
          <a:p>
            <a:endParaRPr lang="en-SE"/>
          </a:p>
        </p:txBody>
      </p:sp>
      <p:sp>
        <p:nvSpPr>
          <p:cNvPr id="17" name="Text 15"/>
          <p:cNvSpPr/>
          <p:nvPr/>
        </p:nvSpPr>
        <p:spPr>
          <a:xfrm>
            <a:off x="877824" y="4005072"/>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outstanding_shares  —  </a:t>
            </a:r>
            <a:r>
              <a:rPr lang="en-US" sz="1250" dirty="0">
                <a:solidFill>
                  <a:srgbClr val="C2CAD4"/>
                </a:solidFill>
                <a:latin typeface="Calibri" pitchFamily="34" charset="0"/>
                <a:ea typeface="Calibri" pitchFamily="34" charset="-122"/>
                <a:cs typeface="Calibri" pitchFamily="34" charset="-120"/>
              </a:rPr>
              <a:t>Share count. Optional — until the symbol joins a cap-weighted index, where it becomes required.</a:t>
            </a:r>
            <a:endParaRPr lang="en-US" sz="1250" dirty="0"/>
          </a:p>
        </p:txBody>
      </p:sp>
      <p:sp>
        <p:nvSpPr>
          <p:cNvPr id="18" name="Shape 16"/>
          <p:cNvSpPr/>
          <p:nvPr/>
        </p:nvSpPr>
        <p:spPr>
          <a:xfrm>
            <a:off x="640080" y="4636008"/>
            <a:ext cx="82296" cy="82296"/>
          </a:xfrm>
          <a:prstGeom prst="rect">
            <a:avLst/>
          </a:prstGeom>
          <a:solidFill>
            <a:srgbClr val="34D6BE"/>
          </a:solidFill>
          <a:ln w="12700">
            <a:solidFill>
              <a:srgbClr val="333333"/>
            </a:solidFill>
            <a:prstDash val="solid"/>
          </a:ln>
        </p:spPr>
        <p:txBody>
          <a:bodyPr/>
          <a:lstStyle/>
          <a:p>
            <a:endParaRPr lang="en-SE"/>
          </a:p>
        </p:txBody>
      </p:sp>
      <p:sp>
        <p:nvSpPr>
          <p:cNvPr id="19" name="Text 17"/>
          <p:cNvSpPr/>
          <p:nvPr/>
        </p:nvSpPr>
        <p:spPr>
          <a:xfrm>
            <a:off x="877824" y="4526280"/>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id / role  —  </a:t>
            </a:r>
            <a:r>
              <a:rPr lang="en-US" sz="1250" dirty="0">
                <a:solidFill>
                  <a:srgbClr val="C2CAD4"/>
                </a:solidFill>
                <a:latin typeface="Calibri" pitchFamily="34" charset="0"/>
                <a:ea typeface="Calibri" pitchFamily="34" charset="-122"/>
                <a:cs typeface="Calibri" pitchFamily="34" charset="-120"/>
              </a:rPr>
              <a:t>The gateway identity and what it may do. The ID must exactly match what the client passes on the command line.</a:t>
            </a:r>
            <a:endParaRPr lang="en-US" sz="1250" dirty="0"/>
          </a:p>
        </p:txBody>
      </p:sp>
      <p:sp>
        <p:nvSpPr>
          <p:cNvPr id="20" name="Shape 18"/>
          <p:cNvSpPr/>
          <p:nvPr/>
        </p:nvSpPr>
        <p:spPr>
          <a:xfrm>
            <a:off x="640080" y="5257800"/>
            <a:ext cx="10911535" cy="868680"/>
          </a:xfrm>
          <a:prstGeom prst="roundRect">
            <a:avLst>
              <a:gd name="adj" fmla="val 6316"/>
            </a:avLst>
          </a:prstGeom>
          <a:solidFill>
            <a:srgbClr val="252B33"/>
          </a:solidFill>
          <a:ln w="12700">
            <a:solidFill>
              <a:srgbClr val="34D6BE"/>
            </a:solidFill>
            <a:prstDash val="solid"/>
          </a:ln>
        </p:spPr>
        <p:txBody>
          <a:bodyPr/>
          <a:lstStyle/>
          <a:p>
            <a:endParaRPr lang="en-SE"/>
          </a:p>
        </p:txBody>
      </p:sp>
      <p:sp>
        <p:nvSpPr>
          <p:cNvPr id="21" name="Text 19"/>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WHY A BEGINNER SHOULD CARE</a:t>
            </a:r>
            <a:endParaRPr lang="en-US" sz="950" dirty="0"/>
          </a:p>
        </p:txBody>
      </p:sp>
      <p:sp>
        <p:nvSpPr>
          <p:cNvPr id="22" name="Text 20"/>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beginner's exchange needs exactly this: a handful of symbols with sane prices, and one gateway ID per person in the room.</a:t>
            </a:r>
            <a:endParaRPr lang="en-US" sz="1250" dirty="0"/>
          </a:p>
        </p:txBody>
      </p:sp>
      <p:sp>
        <p:nvSpPr>
          <p:cNvPr id="23" name="Text 2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4" name="Text 2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2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Engine behaviour flags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Four booleans and one number that change how the engine behaves globally. All default to safe values.</a:t>
            </a:r>
            <a:endParaRPr lang="en-US" sz="1450" dirty="0"/>
          </a:p>
        </p:txBody>
      </p:sp>
      <p:sp>
        <p:nvSpPr>
          <p:cNvPr id="6" name="Shape 4"/>
          <p:cNvSpPr/>
          <p:nvPr/>
        </p:nvSpPr>
        <p:spPr>
          <a:xfrm>
            <a:off x="640080" y="1965960"/>
            <a:ext cx="1554480" cy="292608"/>
          </a:xfrm>
          <a:prstGeom prst="roundRect">
            <a:avLst>
              <a:gd name="adj" fmla="val 15625"/>
            </a:avLst>
          </a:prstGeom>
          <a:solidFill>
            <a:srgbClr val="252B33"/>
          </a:solidFill>
          <a:ln w="12700">
            <a:solidFill>
              <a:srgbClr val="9B8CFF"/>
            </a:solidFill>
            <a:prstDash val="solid"/>
          </a:ln>
        </p:spPr>
        <p:txBody>
          <a:bodyPr/>
          <a:lstStyle/>
          <a:p>
            <a:endParaRPr lang="en-SE"/>
          </a:p>
        </p:txBody>
      </p:sp>
      <p:sp>
        <p:nvSpPr>
          <p:cNvPr id="7" name="Text 5"/>
          <p:cNvSpPr/>
          <p:nvPr/>
        </p:nvSpPr>
        <p:spPr>
          <a:xfrm>
            <a:off x="640080" y="1965960"/>
            <a:ext cx="1554480" cy="292608"/>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sessions_enabled</a:t>
            </a:r>
            <a:endParaRPr lang="en-US" sz="1050" dirty="0"/>
          </a:p>
        </p:txBody>
      </p:sp>
      <p:sp>
        <p:nvSpPr>
          <p:cNvPr id="8" name="Shape 6"/>
          <p:cNvSpPr/>
          <p:nvPr/>
        </p:nvSpPr>
        <p:spPr>
          <a:xfrm>
            <a:off x="2322576" y="1965960"/>
            <a:ext cx="1472184" cy="292608"/>
          </a:xfrm>
          <a:prstGeom prst="roundRect">
            <a:avLst>
              <a:gd name="adj" fmla="val 15625"/>
            </a:avLst>
          </a:prstGeom>
          <a:solidFill>
            <a:srgbClr val="252B33"/>
          </a:solidFill>
          <a:ln w="12700">
            <a:solidFill>
              <a:srgbClr val="9B8CFF"/>
            </a:solidFill>
            <a:prstDash val="solid"/>
          </a:ln>
        </p:spPr>
        <p:txBody>
          <a:bodyPr/>
          <a:lstStyle/>
          <a:p>
            <a:endParaRPr lang="en-SE"/>
          </a:p>
        </p:txBody>
      </p:sp>
      <p:sp>
        <p:nvSpPr>
          <p:cNvPr id="9" name="Text 7"/>
          <p:cNvSpPr/>
          <p:nvPr/>
        </p:nvSpPr>
        <p:spPr>
          <a:xfrm>
            <a:off x="2322576" y="1965960"/>
            <a:ext cx="1472184" cy="292608"/>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enforce_collars</a:t>
            </a:r>
            <a:endParaRPr lang="en-US" sz="1050" dirty="0"/>
          </a:p>
        </p:txBody>
      </p:sp>
      <p:sp>
        <p:nvSpPr>
          <p:cNvPr id="10" name="Shape 8"/>
          <p:cNvSpPr/>
          <p:nvPr/>
        </p:nvSpPr>
        <p:spPr>
          <a:xfrm>
            <a:off x="3922776" y="1965960"/>
            <a:ext cx="2212848" cy="292608"/>
          </a:xfrm>
          <a:prstGeom prst="roundRect">
            <a:avLst>
              <a:gd name="adj" fmla="val 15625"/>
            </a:avLst>
          </a:prstGeom>
          <a:solidFill>
            <a:srgbClr val="252B33"/>
          </a:solidFill>
          <a:ln w="12700">
            <a:solidFill>
              <a:srgbClr val="9B8CFF"/>
            </a:solidFill>
            <a:prstDash val="solid"/>
          </a:ln>
        </p:spPr>
        <p:txBody>
          <a:bodyPr/>
          <a:lstStyle/>
          <a:p>
            <a:endParaRPr lang="en-SE"/>
          </a:p>
        </p:txBody>
      </p:sp>
      <p:sp>
        <p:nvSpPr>
          <p:cNvPr id="11" name="Text 9"/>
          <p:cNvSpPr/>
          <p:nvPr/>
        </p:nvSpPr>
        <p:spPr>
          <a:xfrm>
            <a:off x="3922776" y="1965960"/>
            <a:ext cx="2212848" cy="292608"/>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enforce_circuit_breakers</a:t>
            </a:r>
            <a:endParaRPr lang="en-US" sz="1050" dirty="0"/>
          </a:p>
        </p:txBody>
      </p:sp>
      <p:sp>
        <p:nvSpPr>
          <p:cNvPr id="12" name="Shape 10"/>
          <p:cNvSpPr/>
          <p:nvPr/>
        </p:nvSpPr>
        <p:spPr>
          <a:xfrm>
            <a:off x="6263640" y="1965960"/>
            <a:ext cx="1965960" cy="292608"/>
          </a:xfrm>
          <a:prstGeom prst="roundRect">
            <a:avLst>
              <a:gd name="adj" fmla="val 15625"/>
            </a:avLst>
          </a:prstGeom>
          <a:solidFill>
            <a:srgbClr val="252B33"/>
          </a:solidFill>
          <a:ln w="12700">
            <a:solidFill>
              <a:srgbClr val="9B8CFF"/>
            </a:solidFill>
            <a:prstDash val="solid"/>
          </a:ln>
        </p:spPr>
        <p:txBody>
          <a:bodyPr/>
          <a:lstStyle/>
          <a:p>
            <a:endParaRPr lang="en-SE"/>
          </a:p>
        </p:txBody>
      </p:sp>
      <p:sp>
        <p:nvSpPr>
          <p:cNvPr id="13" name="Text 11"/>
          <p:cNvSpPr/>
          <p:nvPr/>
        </p:nvSpPr>
        <p:spPr>
          <a:xfrm>
            <a:off x="6263640" y="1965960"/>
            <a:ext cx="1965960" cy="292608"/>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snapshot_interval_sec</a:t>
            </a:r>
            <a:endParaRPr lang="en-US" sz="1050" dirty="0"/>
          </a:p>
        </p:txBody>
      </p:sp>
      <p:sp>
        <p:nvSpPr>
          <p:cNvPr id="14" name="Shape 12"/>
          <p:cNvSpPr/>
          <p:nvPr/>
        </p:nvSpPr>
        <p:spPr>
          <a:xfrm>
            <a:off x="640080" y="2551176"/>
            <a:ext cx="82296" cy="82296"/>
          </a:xfrm>
          <a:prstGeom prst="rect">
            <a:avLst/>
          </a:prstGeom>
          <a:solidFill>
            <a:srgbClr val="9B8CFF"/>
          </a:solidFill>
          <a:ln w="12700">
            <a:solidFill>
              <a:srgbClr val="333333"/>
            </a:solidFill>
            <a:prstDash val="solid"/>
          </a:ln>
        </p:spPr>
        <p:txBody>
          <a:bodyPr/>
          <a:lstStyle/>
          <a:p>
            <a:endParaRPr lang="en-SE"/>
          </a:p>
        </p:txBody>
      </p:sp>
      <p:sp>
        <p:nvSpPr>
          <p:cNvPr id="15" name="Text 13"/>
          <p:cNvSpPr/>
          <p:nvPr/>
        </p:nvSpPr>
        <p:spPr>
          <a:xfrm>
            <a:off x="877824" y="244144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sessions_enabled  —  </a:t>
            </a:r>
            <a:r>
              <a:rPr lang="en-US" sz="1250" dirty="0">
                <a:solidFill>
                  <a:srgbClr val="C2CAD4"/>
                </a:solidFill>
                <a:latin typeface="Calibri" pitchFamily="34" charset="0"/>
                <a:ea typeface="Calibri" pitchFamily="34" charset="-122"/>
                <a:cs typeface="Calibri" pitchFamily="34" charset="-120"/>
              </a:rPr>
              <a:t>Default true. When true the engine starts CLOSED and waits to be driven through the trading day. When false it starts and stays in CONTINUOUS.</a:t>
            </a:r>
            <a:endParaRPr lang="en-US" sz="1250" dirty="0"/>
          </a:p>
        </p:txBody>
      </p:sp>
      <p:sp>
        <p:nvSpPr>
          <p:cNvPr id="16" name="Shape 14"/>
          <p:cNvSpPr/>
          <p:nvPr/>
        </p:nvSpPr>
        <p:spPr>
          <a:xfrm>
            <a:off x="640080" y="3202686"/>
            <a:ext cx="82296" cy="82296"/>
          </a:xfrm>
          <a:prstGeom prst="rect">
            <a:avLst/>
          </a:prstGeom>
          <a:solidFill>
            <a:srgbClr val="9B8CFF"/>
          </a:solidFill>
          <a:ln w="12700">
            <a:solidFill>
              <a:srgbClr val="333333"/>
            </a:solidFill>
            <a:prstDash val="solid"/>
          </a:ln>
        </p:spPr>
        <p:txBody>
          <a:bodyPr/>
          <a:lstStyle/>
          <a:p>
            <a:endParaRPr lang="en-SE"/>
          </a:p>
        </p:txBody>
      </p:sp>
      <p:sp>
        <p:nvSpPr>
          <p:cNvPr id="17" name="Text 15"/>
          <p:cNvSpPr/>
          <p:nvPr/>
        </p:nvSpPr>
        <p:spPr>
          <a:xfrm>
            <a:off x="877824" y="309295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enforce_collars  —  </a:t>
            </a:r>
            <a:r>
              <a:rPr lang="en-US" sz="1250" dirty="0">
                <a:solidFill>
                  <a:srgbClr val="C2CAD4"/>
                </a:solidFill>
                <a:latin typeface="Calibri" pitchFamily="34" charset="0"/>
                <a:ea typeface="Calibri" pitchFamily="34" charset="-122"/>
                <a:cs typeface="Calibri" pitchFamily="34" charset="-120"/>
              </a:rPr>
              <a:t>Default true. The master switch for price-band rejection. Turning it off does not delete your collar settings — it just stops applying them.</a:t>
            </a:r>
            <a:endParaRPr lang="en-US" sz="1250" dirty="0"/>
          </a:p>
        </p:txBody>
      </p:sp>
      <p:sp>
        <p:nvSpPr>
          <p:cNvPr id="18" name="Shape 16"/>
          <p:cNvSpPr/>
          <p:nvPr/>
        </p:nvSpPr>
        <p:spPr>
          <a:xfrm>
            <a:off x="640080" y="3854196"/>
            <a:ext cx="82296" cy="82296"/>
          </a:xfrm>
          <a:prstGeom prst="rect">
            <a:avLst/>
          </a:prstGeom>
          <a:solidFill>
            <a:srgbClr val="9B8CFF"/>
          </a:solidFill>
          <a:ln w="12700">
            <a:solidFill>
              <a:srgbClr val="333333"/>
            </a:solidFill>
            <a:prstDash val="solid"/>
          </a:ln>
        </p:spPr>
        <p:txBody>
          <a:bodyPr/>
          <a:lstStyle/>
          <a:p>
            <a:endParaRPr lang="en-SE"/>
          </a:p>
        </p:txBody>
      </p:sp>
      <p:sp>
        <p:nvSpPr>
          <p:cNvPr id="19" name="Text 17"/>
          <p:cNvSpPr/>
          <p:nvPr/>
        </p:nvSpPr>
        <p:spPr>
          <a:xfrm>
            <a:off x="877824" y="374446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enforce_circuit_breakers  —  </a:t>
            </a:r>
            <a:r>
              <a:rPr lang="en-US" sz="1250" dirty="0">
                <a:solidFill>
                  <a:srgbClr val="C2CAD4"/>
                </a:solidFill>
                <a:latin typeface="Calibri" pitchFamily="34" charset="0"/>
                <a:ea typeface="Calibri" pitchFamily="34" charset="-122"/>
                <a:cs typeface="Calibri" pitchFamily="34" charset="-120"/>
              </a:rPr>
              <a:t>Default true. The master switch for volatility halts.</a:t>
            </a:r>
            <a:endParaRPr lang="en-US" sz="1250" dirty="0"/>
          </a:p>
        </p:txBody>
      </p:sp>
      <p:sp>
        <p:nvSpPr>
          <p:cNvPr id="20" name="Shape 18"/>
          <p:cNvSpPr/>
          <p:nvPr/>
        </p:nvSpPr>
        <p:spPr>
          <a:xfrm>
            <a:off x="640080" y="4505706"/>
            <a:ext cx="82296" cy="82296"/>
          </a:xfrm>
          <a:prstGeom prst="rect">
            <a:avLst/>
          </a:prstGeom>
          <a:solidFill>
            <a:srgbClr val="9B8CFF"/>
          </a:solidFill>
          <a:ln w="12700">
            <a:solidFill>
              <a:srgbClr val="333333"/>
            </a:solidFill>
            <a:prstDash val="solid"/>
          </a:ln>
        </p:spPr>
        <p:txBody>
          <a:bodyPr/>
          <a:lstStyle/>
          <a:p>
            <a:endParaRPr lang="en-SE"/>
          </a:p>
        </p:txBody>
      </p:sp>
      <p:sp>
        <p:nvSpPr>
          <p:cNvPr id="21" name="Text 19"/>
          <p:cNvSpPr/>
          <p:nvPr/>
        </p:nvSpPr>
        <p:spPr>
          <a:xfrm>
            <a:off x="877824" y="439597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snapshot_interval_sec  —  </a:t>
            </a:r>
            <a:r>
              <a:rPr lang="en-US" sz="1250" dirty="0">
                <a:solidFill>
                  <a:srgbClr val="C2CAD4"/>
                </a:solidFill>
                <a:latin typeface="Calibri" pitchFamily="34" charset="0"/>
                <a:ea typeface="Calibri" pitchFamily="34" charset="-122"/>
                <a:cs typeface="Calibri" pitchFamily="34" charset="-120"/>
              </a:rPr>
              <a:t>Default 0.5. The minimum gap between published order-book snapshots for a busy symbol. Lower means more data and more load.</a:t>
            </a:r>
            <a:endParaRPr lang="en-US" sz="1250" dirty="0"/>
          </a:p>
        </p:txBody>
      </p:sp>
      <p:sp>
        <p:nvSpPr>
          <p:cNvPr id="22" name="Shape 20"/>
          <p:cNvSpPr/>
          <p:nvPr/>
        </p:nvSpPr>
        <p:spPr>
          <a:xfrm>
            <a:off x="640080" y="5257800"/>
            <a:ext cx="10911535" cy="868680"/>
          </a:xfrm>
          <a:prstGeom prst="roundRect">
            <a:avLst>
              <a:gd name="adj" fmla="val 6316"/>
            </a:avLst>
          </a:prstGeom>
          <a:solidFill>
            <a:srgbClr val="252B33"/>
          </a:solidFill>
          <a:ln w="12700">
            <a:solidFill>
              <a:srgbClr val="9B8CFF"/>
            </a:solidFill>
            <a:prstDash val="solid"/>
          </a:ln>
        </p:spPr>
        <p:txBody>
          <a:bodyPr/>
          <a:lstStyle/>
          <a:p>
            <a:endParaRPr lang="en-SE"/>
          </a:p>
        </p:txBody>
      </p:sp>
      <p:sp>
        <p:nvSpPr>
          <p:cNvPr id="23" name="Text 21"/>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WHY A BEGINNER SHOULD CARE</a:t>
            </a:r>
            <a:endParaRPr lang="en-US" sz="950" dirty="0"/>
          </a:p>
        </p:txBody>
      </p:sp>
      <p:sp>
        <p:nvSpPr>
          <p:cNvPr id="24" name="Text 22"/>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classic beginner trap: sessions_enabled is true by default, so the engine starts CLOSED. If nobody runs the scheduler, the market never opens and no order will match.</a:t>
            </a:r>
            <a:endParaRPr lang="en-US" sz="1250" dirty="0"/>
          </a:p>
        </p:txBody>
      </p:sp>
      <p:sp>
        <p:nvSpPr>
          <p:cNvPr id="25" name="Text 2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6" name="Text 2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3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Risk policy</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two mechanisms that stop a bad price from becoming a bad trade. Both are on by default.</a:t>
            </a:r>
            <a:endParaRPr lang="en-US" sz="1450" dirty="0"/>
          </a:p>
        </p:txBody>
      </p:sp>
      <p:sp>
        <p:nvSpPr>
          <p:cNvPr id="6" name="Shape 4"/>
          <p:cNvSpPr/>
          <p:nvPr/>
        </p:nvSpPr>
        <p:spPr>
          <a:xfrm>
            <a:off x="640080" y="1965960"/>
            <a:ext cx="1307592" cy="292608"/>
          </a:xfrm>
          <a:prstGeom prst="roundRect">
            <a:avLst>
              <a:gd name="adj" fmla="val 15625"/>
            </a:avLst>
          </a:prstGeom>
          <a:solidFill>
            <a:srgbClr val="252B33"/>
          </a:solidFill>
          <a:ln w="12700">
            <a:solidFill>
              <a:srgbClr val="FF7A6B"/>
            </a:solidFill>
            <a:prstDash val="solid"/>
          </a:ln>
        </p:spPr>
        <p:txBody>
          <a:bodyPr/>
          <a:lstStyle/>
          <a:p>
            <a:endParaRPr lang="en-SE"/>
          </a:p>
        </p:txBody>
      </p:sp>
      <p:sp>
        <p:nvSpPr>
          <p:cNvPr id="7" name="Text 5"/>
          <p:cNvSpPr/>
          <p:nvPr/>
        </p:nvSpPr>
        <p:spPr>
          <a:xfrm>
            <a:off x="640080" y="1965960"/>
            <a:ext cx="1307592" cy="292608"/>
          </a:xfrm>
          <a:prstGeom prst="rect">
            <a:avLst/>
          </a:prstGeom>
          <a:noFill/>
          <a:ln/>
        </p:spPr>
        <p:txBody>
          <a:bodyPr wrap="square" lIns="0" tIns="0" rIns="0" bIns="0" rtlCol="0" anchor="ctr"/>
          <a:lstStyle/>
          <a:p>
            <a:pPr marL="0" indent="0" algn="ctr">
              <a:buNone/>
            </a:pPr>
            <a:r>
              <a:rPr lang="en-US" sz="1050" dirty="0">
                <a:solidFill>
                  <a:srgbClr val="FF7A6B"/>
                </a:solidFill>
                <a:latin typeface="Consolas" pitchFamily="34" charset="0"/>
                <a:ea typeface="Consolas" pitchFamily="34" charset="-122"/>
                <a:cs typeface="Consolas" pitchFamily="34" charset="-120"/>
              </a:rPr>
              <a:t>risk_controls</a:t>
            </a:r>
            <a:endParaRPr lang="en-US" sz="1050" dirty="0"/>
          </a:p>
        </p:txBody>
      </p:sp>
      <p:sp>
        <p:nvSpPr>
          <p:cNvPr id="8" name="Shape 6"/>
          <p:cNvSpPr/>
          <p:nvPr/>
        </p:nvSpPr>
        <p:spPr>
          <a:xfrm>
            <a:off x="2075688" y="1965960"/>
            <a:ext cx="2212848" cy="292608"/>
          </a:xfrm>
          <a:prstGeom prst="roundRect">
            <a:avLst>
              <a:gd name="adj" fmla="val 15625"/>
            </a:avLst>
          </a:prstGeom>
          <a:solidFill>
            <a:srgbClr val="252B33"/>
          </a:solidFill>
          <a:ln w="12700">
            <a:solidFill>
              <a:srgbClr val="FF7A6B"/>
            </a:solidFill>
            <a:prstDash val="solid"/>
          </a:ln>
        </p:spPr>
        <p:txBody>
          <a:bodyPr/>
          <a:lstStyle/>
          <a:p>
            <a:endParaRPr lang="en-SE"/>
          </a:p>
        </p:txBody>
      </p:sp>
      <p:sp>
        <p:nvSpPr>
          <p:cNvPr id="9" name="Text 7"/>
          <p:cNvSpPr/>
          <p:nvPr/>
        </p:nvSpPr>
        <p:spPr>
          <a:xfrm>
            <a:off x="2075688" y="1965960"/>
            <a:ext cx="2212848" cy="292608"/>
          </a:xfrm>
          <a:prstGeom prst="rect">
            <a:avLst/>
          </a:prstGeom>
          <a:noFill/>
          <a:ln/>
        </p:spPr>
        <p:txBody>
          <a:bodyPr wrap="square" lIns="0" tIns="0" rIns="0" bIns="0" rtlCol="0" anchor="ctr"/>
          <a:lstStyle/>
          <a:p>
            <a:pPr marL="0" indent="0" algn="ctr">
              <a:buNone/>
            </a:pPr>
            <a:r>
              <a:rPr lang="en-US" sz="1050" dirty="0">
                <a:solidFill>
                  <a:srgbClr val="FF7A6B"/>
                </a:solidFill>
                <a:latin typeface="Consolas" pitchFamily="34" charset="0"/>
                <a:ea typeface="Consolas" pitchFamily="34" charset="-122"/>
                <a:cs typeface="Consolas" pitchFamily="34" charset="-120"/>
              </a:rPr>
              <a:t>circuit_breaker_defaults</a:t>
            </a:r>
            <a:endParaRPr lang="en-US" sz="1050" dirty="0"/>
          </a:p>
        </p:txBody>
      </p:sp>
      <p:sp>
        <p:nvSpPr>
          <p:cNvPr id="10" name="Shape 8"/>
          <p:cNvSpPr/>
          <p:nvPr/>
        </p:nvSpPr>
        <p:spPr>
          <a:xfrm>
            <a:off x="640080" y="2551176"/>
            <a:ext cx="82296" cy="82296"/>
          </a:xfrm>
          <a:prstGeom prst="rect">
            <a:avLst/>
          </a:prstGeom>
          <a:solidFill>
            <a:srgbClr val="FF7A6B"/>
          </a:solidFill>
          <a:ln w="12700">
            <a:solidFill>
              <a:srgbClr val="333333"/>
            </a:solidFill>
            <a:prstDash val="solid"/>
          </a:ln>
        </p:spPr>
        <p:txBody>
          <a:bodyPr/>
          <a:lstStyle/>
          <a:p>
            <a:endParaRPr lang="en-SE"/>
          </a:p>
        </p:txBody>
      </p:sp>
      <p:sp>
        <p:nvSpPr>
          <p:cNvPr id="11" name="Text 9"/>
          <p:cNvSpPr/>
          <p:nvPr/>
        </p:nvSpPr>
        <p:spPr>
          <a:xfrm>
            <a:off x="877824" y="2441448"/>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Collars  —  </a:t>
            </a:r>
            <a:r>
              <a:rPr lang="en-US" sz="1250" dirty="0">
                <a:solidFill>
                  <a:srgbClr val="C2CAD4"/>
                </a:solidFill>
                <a:latin typeface="Calibri" pitchFamily="34" charset="0"/>
                <a:ea typeface="Calibri" pitchFamily="34" charset="-122"/>
                <a:cs typeface="Calibri" pitchFamily="34" charset="-120"/>
              </a:rPr>
              <a:t>A price band around a reference price. static_band_pct anchors to a session reference (default 20%); dynamic_band_pct tracks near-live prices (default 2%). Orders outside are rejected.</a:t>
            </a:r>
            <a:endParaRPr lang="en-US" sz="1250" dirty="0"/>
          </a:p>
        </p:txBody>
      </p:sp>
      <p:sp>
        <p:nvSpPr>
          <p:cNvPr id="12" name="Shape 10"/>
          <p:cNvSpPr/>
          <p:nvPr/>
        </p:nvSpPr>
        <p:spPr>
          <a:xfrm>
            <a:off x="640080" y="3072384"/>
            <a:ext cx="82296" cy="82296"/>
          </a:xfrm>
          <a:prstGeom prst="rect">
            <a:avLst/>
          </a:prstGeom>
          <a:solidFill>
            <a:srgbClr val="FF7A6B"/>
          </a:solidFill>
          <a:ln w="12700">
            <a:solidFill>
              <a:srgbClr val="333333"/>
            </a:solidFill>
            <a:prstDash val="solid"/>
          </a:ln>
        </p:spPr>
        <p:txBody>
          <a:bodyPr/>
          <a:lstStyle/>
          <a:p>
            <a:endParaRPr lang="en-SE"/>
          </a:p>
        </p:txBody>
      </p:sp>
      <p:sp>
        <p:nvSpPr>
          <p:cNvPr id="13" name="Text 11"/>
          <p:cNvSpPr/>
          <p:nvPr/>
        </p:nvSpPr>
        <p:spPr>
          <a:xfrm>
            <a:off x="877824" y="2962656"/>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Risk levels  —  </a:t>
            </a:r>
            <a:r>
              <a:rPr lang="en-US" sz="1250" dirty="0">
                <a:solidFill>
                  <a:srgbClr val="C2CAD4"/>
                </a:solidFill>
                <a:latin typeface="Calibri" pitchFamily="34" charset="0"/>
                <a:ea typeface="Calibri" pitchFamily="34" charset="-122"/>
                <a:cs typeface="Calibri" pitchFamily="34" charset="-120"/>
              </a:rPr>
              <a:t>Named bundles of collar settings — CORE, HIGH_BETA — that symbols reference by name, so you set the policy once and apply it to many instruments.</a:t>
            </a:r>
            <a:endParaRPr lang="en-US" sz="1250" dirty="0"/>
          </a:p>
        </p:txBody>
      </p:sp>
      <p:sp>
        <p:nvSpPr>
          <p:cNvPr id="14" name="Shape 12"/>
          <p:cNvSpPr/>
          <p:nvPr/>
        </p:nvSpPr>
        <p:spPr>
          <a:xfrm>
            <a:off x="640080" y="3593592"/>
            <a:ext cx="82296" cy="82296"/>
          </a:xfrm>
          <a:prstGeom prst="rect">
            <a:avLst/>
          </a:prstGeom>
          <a:solidFill>
            <a:srgbClr val="FF7A6B"/>
          </a:solidFill>
          <a:ln w="12700">
            <a:solidFill>
              <a:srgbClr val="333333"/>
            </a:solidFill>
            <a:prstDash val="solid"/>
          </a:ln>
        </p:spPr>
        <p:txBody>
          <a:bodyPr/>
          <a:lstStyle/>
          <a:p>
            <a:endParaRPr lang="en-SE"/>
          </a:p>
        </p:txBody>
      </p:sp>
      <p:sp>
        <p:nvSpPr>
          <p:cNvPr id="15" name="Text 13"/>
          <p:cNvSpPr/>
          <p:nvPr/>
        </p:nvSpPr>
        <p:spPr>
          <a:xfrm>
            <a:off x="877824" y="3483864"/>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default_level  —  </a:t>
            </a:r>
            <a:r>
              <a:rPr lang="en-US" sz="1250" dirty="0">
                <a:solidFill>
                  <a:srgbClr val="C2CAD4"/>
                </a:solidFill>
                <a:latin typeface="Calibri" pitchFamily="34" charset="0"/>
                <a:ea typeface="Calibri" pitchFamily="34" charset="-122"/>
                <a:cs typeface="Calibri" pitchFamily="34" charset="-120"/>
              </a:rPr>
              <a:t>The level applied to any symbol that does not name its own. Must be a level that actually exists.</a:t>
            </a:r>
            <a:endParaRPr lang="en-US" sz="1250" dirty="0"/>
          </a:p>
        </p:txBody>
      </p:sp>
      <p:sp>
        <p:nvSpPr>
          <p:cNvPr id="16" name="Shape 14"/>
          <p:cNvSpPr/>
          <p:nvPr/>
        </p:nvSpPr>
        <p:spPr>
          <a:xfrm>
            <a:off x="640080" y="4114800"/>
            <a:ext cx="82296" cy="82296"/>
          </a:xfrm>
          <a:prstGeom prst="rect">
            <a:avLst/>
          </a:prstGeom>
          <a:solidFill>
            <a:srgbClr val="FF7A6B"/>
          </a:solidFill>
          <a:ln w="12700">
            <a:solidFill>
              <a:srgbClr val="333333"/>
            </a:solidFill>
            <a:prstDash val="solid"/>
          </a:ln>
        </p:spPr>
        <p:txBody>
          <a:bodyPr/>
          <a:lstStyle/>
          <a:p>
            <a:endParaRPr lang="en-SE"/>
          </a:p>
        </p:txBody>
      </p:sp>
      <p:sp>
        <p:nvSpPr>
          <p:cNvPr id="17" name="Text 15"/>
          <p:cNvSpPr/>
          <p:nvPr/>
        </p:nvSpPr>
        <p:spPr>
          <a:xfrm>
            <a:off x="877824" y="4005072"/>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Circuit-breaker ladder  —  </a:t>
            </a:r>
            <a:r>
              <a:rPr lang="en-US" sz="1250" dirty="0">
                <a:solidFill>
                  <a:srgbClr val="C2CAD4"/>
                </a:solidFill>
                <a:latin typeface="Calibri" pitchFamily="34" charset="0"/>
                <a:ea typeface="Calibri" pitchFamily="34" charset="-122"/>
                <a:cs typeface="Calibri" pitchFamily="34" charset="-120"/>
              </a:rPr>
              <a:t>Levels L1, L2, L3, each with a price shift that triggers it and a halt duration. Built-in ladder: 7% for 5 min, 13% for 15 min, 20% for the rest of the day.</a:t>
            </a:r>
            <a:endParaRPr lang="en-US" sz="1250" dirty="0"/>
          </a:p>
        </p:txBody>
      </p:sp>
      <p:sp>
        <p:nvSpPr>
          <p:cNvPr id="18" name="Shape 16"/>
          <p:cNvSpPr/>
          <p:nvPr/>
        </p:nvSpPr>
        <p:spPr>
          <a:xfrm>
            <a:off x="640080" y="4636008"/>
            <a:ext cx="82296" cy="82296"/>
          </a:xfrm>
          <a:prstGeom prst="rect">
            <a:avLst/>
          </a:prstGeom>
          <a:solidFill>
            <a:srgbClr val="FF7A6B"/>
          </a:solidFill>
          <a:ln w="12700">
            <a:solidFill>
              <a:srgbClr val="333333"/>
            </a:solidFill>
            <a:prstDash val="solid"/>
          </a:ln>
        </p:spPr>
        <p:txBody>
          <a:bodyPr/>
          <a:lstStyle/>
          <a:p>
            <a:endParaRPr lang="en-SE"/>
          </a:p>
        </p:txBody>
      </p:sp>
      <p:sp>
        <p:nvSpPr>
          <p:cNvPr id="19" name="Text 17"/>
          <p:cNvSpPr/>
          <p:nvPr/>
        </p:nvSpPr>
        <p:spPr>
          <a:xfrm>
            <a:off x="877824" y="4526280"/>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Reopening (ACE)  —  </a:t>
            </a:r>
            <a:r>
              <a:rPr lang="en-US" sz="1250" dirty="0">
                <a:solidFill>
                  <a:srgbClr val="C2CAD4"/>
                </a:solidFill>
                <a:latin typeface="Calibri" pitchFamily="34" charset="0"/>
                <a:ea typeface="Calibri" pitchFamily="34" charset="-122"/>
                <a:cs typeface="Calibri" pitchFamily="34" charset="-120"/>
              </a:rPr>
              <a:t>Automated Corridor Expansion — how the market restarts after a halt, widening the allowed corridor in stages until it can reopen.</a:t>
            </a:r>
            <a:endParaRPr lang="en-US" sz="1250" dirty="0"/>
          </a:p>
        </p:txBody>
      </p:sp>
      <p:sp>
        <p:nvSpPr>
          <p:cNvPr id="20" name="Shape 18"/>
          <p:cNvSpPr/>
          <p:nvPr/>
        </p:nvSpPr>
        <p:spPr>
          <a:xfrm>
            <a:off x="640080" y="5257800"/>
            <a:ext cx="10911535" cy="868680"/>
          </a:xfrm>
          <a:prstGeom prst="roundRect">
            <a:avLst>
              <a:gd name="adj" fmla="val 6316"/>
            </a:avLst>
          </a:prstGeom>
          <a:solidFill>
            <a:srgbClr val="252B33"/>
          </a:solidFill>
          <a:ln w="12700">
            <a:solidFill>
              <a:srgbClr val="FF7A6B"/>
            </a:solidFill>
            <a:prstDash val="solid"/>
          </a:ln>
        </p:spPr>
        <p:txBody>
          <a:bodyPr/>
          <a:lstStyle/>
          <a:p>
            <a:endParaRPr lang="en-SE"/>
          </a:p>
        </p:txBody>
      </p:sp>
      <p:sp>
        <p:nvSpPr>
          <p:cNvPr id="21" name="Text 19"/>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WHY A BEGINNER SHOULD CARE</a:t>
            </a:r>
            <a:endParaRPr lang="en-US" sz="950" dirty="0"/>
          </a:p>
        </p:txBody>
      </p:sp>
      <p:sp>
        <p:nvSpPr>
          <p:cNvPr id="22" name="Text 20"/>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Without collars, a student who types 15000 instead of 150.00 prints a trade at a hundred times the market. Leave both mechanisms on.</a:t>
            </a:r>
            <a:endParaRPr lang="en-US" sz="1250" dirty="0"/>
          </a:p>
        </p:txBody>
      </p:sp>
      <p:sp>
        <p:nvSpPr>
          <p:cNvPr id="23" name="Text 2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4" name="Text 2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4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Liquidity</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An empty order book teaches nobody anything. These settings put resting prices in the book before the first participant connects.</a:t>
            </a:r>
            <a:endParaRPr lang="en-US" sz="1450" dirty="0"/>
          </a:p>
        </p:txBody>
      </p:sp>
      <p:sp>
        <p:nvSpPr>
          <p:cNvPr id="6" name="Shape 4"/>
          <p:cNvSpPr/>
          <p:nvPr/>
        </p:nvSpPr>
        <p:spPr>
          <a:xfrm>
            <a:off x="640080" y="1965960"/>
            <a:ext cx="2048256" cy="292608"/>
          </a:xfrm>
          <a:prstGeom prst="roundRect">
            <a:avLst>
              <a:gd name="adj" fmla="val 15625"/>
            </a:avLst>
          </a:prstGeom>
          <a:solidFill>
            <a:srgbClr val="252B33"/>
          </a:solidFill>
          <a:ln w="12700">
            <a:solidFill>
              <a:srgbClr val="F3B441"/>
            </a:solidFill>
            <a:prstDash val="solid"/>
          </a:ln>
        </p:spPr>
        <p:txBody>
          <a:bodyPr/>
          <a:lstStyle/>
          <a:p>
            <a:endParaRPr lang="en-SE"/>
          </a:p>
        </p:txBody>
      </p:sp>
      <p:sp>
        <p:nvSpPr>
          <p:cNvPr id="7" name="Text 5"/>
          <p:cNvSpPr/>
          <p:nvPr/>
        </p:nvSpPr>
        <p:spPr>
          <a:xfrm>
            <a:off x="640080" y="1965960"/>
            <a:ext cx="2048256" cy="292608"/>
          </a:xfrm>
          <a:prstGeom prst="rect">
            <a:avLst/>
          </a:prstGeom>
          <a:noFill/>
          <a:ln/>
        </p:spPr>
        <p:txBody>
          <a:bodyPr wrap="square" lIns="0" tIns="0" rIns="0" bIns="0" rtlCol="0" anchor="ctr"/>
          <a:lstStyle/>
          <a:p>
            <a:pPr marL="0" indent="0" algn="ctr">
              <a:buNone/>
            </a:pPr>
            <a:r>
              <a:rPr lang="en-US" sz="1050" dirty="0">
                <a:solidFill>
                  <a:srgbClr val="F3B441"/>
                </a:solidFill>
                <a:latin typeface="Consolas" pitchFamily="34" charset="0"/>
                <a:ea typeface="Consolas" pitchFamily="34" charset="-122"/>
                <a:cs typeface="Consolas" pitchFamily="34" charset="-120"/>
              </a:rPr>
              <a:t>mm_obligation_defaults</a:t>
            </a:r>
            <a:endParaRPr lang="en-US" sz="1050" dirty="0"/>
          </a:p>
        </p:txBody>
      </p:sp>
      <p:sp>
        <p:nvSpPr>
          <p:cNvPr id="8" name="Shape 6"/>
          <p:cNvSpPr/>
          <p:nvPr/>
        </p:nvSpPr>
        <p:spPr>
          <a:xfrm>
            <a:off x="2816352" y="1965960"/>
            <a:ext cx="1801368" cy="292608"/>
          </a:xfrm>
          <a:prstGeom prst="roundRect">
            <a:avLst>
              <a:gd name="adj" fmla="val 15625"/>
            </a:avLst>
          </a:prstGeom>
          <a:solidFill>
            <a:srgbClr val="252B33"/>
          </a:solidFill>
          <a:ln w="12700">
            <a:solidFill>
              <a:srgbClr val="F3B441"/>
            </a:solidFill>
            <a:prstDash val="solid"/>
          </a:ln>
        </p:spPr>
        <p:txBody>
          <a:bodyPr/>
          <a:lstStyle/>
          <a:p>
            <a:endParaRPr lang="en-SE"/>
          </a:p>
        </p:txBody>
      </p:sp>
      <p:sp>
        <p:nvSpPr>
          <p:cNvPr id="9" name="Text 7"/>
          <p:cNvSpPr/>
          <p:nvPr/>
        </p:nvSpPr>
        <p:spPr>
          <a:xfrm>
            <a:off x="2816352" y="1965960"/>
            <a:ext cx="1801368" cy="292608"/>
          </a:xfrm>
          <a:prstGeom prst="rect">
            <a:avLst/>
          </a:prstGeom>
          <a:noFill/>
          <a:ln/>
        </p:spPr>
        <p:txBody>
          <a:bodyPr wrap="square" lIns="0" tIns="0" rIns="0" bIns="0" rtlCol="0" anchor="ctr"/>
          <a:lstStyle/>
          <a:p>
            <a:pPr marL="0" indent="0" algn="ctr">
              <a:buNone/>
            </a:pPr>
            <a:r>
              <a:rPr lang="en-US" sz="1050" dirty="0">
                <a:solidFill>
                  <a:srgbClr val="F3B441"/>
                </a:solidFill>
                <a:latin typeface="Consolas" pitchFamily="34" charset="0"/>
                <a:ea typeface="Consolas" pitchFamily="34" charset="-122"/>
                <a:cs typeface="Consolas" pitchFamily="34" charset="-120"/>
              </a:rPr>
              <a:t>market_maker_quotes</a:t>
            </a:r>
            <a:endParaRPr lang="en-US" sz="1050" dirty="0"/>
          </a:p>
        </p:txBody>
      </p:sp>
      <p:sp>
        <p:nvSpPr>
          <p:cNvPr id="10" name="Shape 8"/>
          <p:cNvSpPr/>
          <p:nvPr/>
        </p:nvSpPr>
        <p:spPr>
          <a:xfrm>
            <a:off x="4745736" y="1965960"/>
            <a:ext cx="1801368" cy="292608"/>
          </a:xfrm>
          <a:prstGeom prst="roundRect">
            <a:avLst>
              <a:gd name="adj" fmla="val 15625"/>
            </a:avLst>
          </a:prstGeom>
          <a:solidFill>
            <a:srgbClr val="252B33"/>
          </a:solidFill>
          <a:ln w="12700">
            <a:solidFill>
              <a:srgbClr val="F3B441"/>
            </a:solidFill>
            <a:prstDash val="solid"/>
          </a:ln>
        </p:spPr>
        <p:txBody>
          <a:bodyPr/>
          <a:lstStyle/>
          <a:p>
            <a:endParaRPr lang="en-SE"/>
          </a:p>
        </p:txBody>
      </p:sp>
      <p:sp>
        <p:nvSpPr>
          <p:cNvPr id="11" name="Text 9"/>
          <p:cNvSpPr/>
          <p:nvPr/>
        </p:nvSpPr>
        <p:spPr>
          <a:xfrm>
            <a:off x="4745736" y="1965960"/>
            <a:ext cx="1801368" cy="292608"/>
          </a:xfrm>
          <a:prstGeom prst="rect">
            <a:avLst/>
          </a:prstGeom>
          <a:noFill/>
          <a:ln/>
        </p:spPr>
        <p:txBody>
          <a:bodyPr wrap="square" lIns="0" tIns="0" rIns="0" bIns="0" rtlCol="0" anchor="ctr"/>
          <a:lstStyle/>
          <a:p>
            <a:pPr marL="0" indent="0" algn="ctr">
              <a:buNone/>
            </a:pPr>
            <a:r>
              <a:rPr lang="en-US" sz="1050" dirty="0">
                <a:solidFill>
                  <a:srgbClr val="F3B441"/>
                </a:solidFill>
                <a:latin typeface="Consolas" pitchFamily="34" charset="0"/>
                <a:ea typeface="Consolas" pitchFamily="34" charset="-122"/>
                <a:cs typeface="Consolas" pitchFamily="34" charset="-120"/>
              </a:rPr>
              <a:t>market_maker_combos</a:t>
            </a:r>
            <a:endParaRPr lang="en-US" sz="1050" dirty="0"/>
          </a:p>
        </p:txBody>
      </p:sp>
      <p:sp>
        <p:nvSpPr>
          <p:cNvPr id="12" name="Shape 10"/>
          <p:cNvSpPr/>
          <p:nvPr/>
        </p:nvSpPr>
        <p:spPr>
          <a:xfrm>
            <a:off x="640080" y="2551176"/>
            <a:ext cx="82296" cy="82296"/>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877824" y="244144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market_maker_quotes  —  </a:t>
            </a:r>
            <a:r>
              <a:rPr lang="en-US" sz="1250" dirty="0">
                <a:solidFill>
                  <a:srgbClr val="C2CAD4"/>
                </a:solidFill>
                <a:latin typeface="Calibri" pitchFamily="34" charset="0"/>
                <a:ea typeface="Calibri" pitchFamily="34" charset="-122"/>
                <a:cs typeface="Calibri" pitchFamily="34" charset="-120"/>
              </a:rPr>
              <a:t>Per symbol: a bid price, an ask price and sizes, attributed to a MARKET_MAKER gateway. The engine injects them when that gateway authenticates.</a:t>
            </a:r>
            <a:endParaRPr lang="en-US" sz="1250" dirty="0"/>
          </a:p>
        </p:txBody>
      </p:sp>
      <p:sp>
        <p:nvSpPr>
          <p:cNvPr id="14" name="Shape 12"/>
          <p:cNvSpPr/>
          <p:nvPr/>
        </p:nvSpPr>
        <p:spPr>
          <a:xfrm>
            <a:off x="640080" y="3202686"/>
            <a:ext cx="82296" cy="82296"/>
          </a:xfrm>
          <a:prstGeom prst="rect">
            <a:avLst/>
          </a:prstGeom>
          <a:solidFill>
            <a:srgbClr val="F3B441"/>
          </a:solidFill>
          <a:ln w="12700">
            <a:solidFill>
              <a:srgbClr val="333333"/>
            </a:solidFill>
            <a:prstDash val="solid"/>
          </a:ln>
        </p:spPr>
        <p:txBody>
          <a:bodyPr/>
          <a:lstStyle/>
          <a:p>
            <a:endParaRPr lang="en-SE"/>
          </a:p>
        </p:txBody>
      </p:sp>
      <p:sp>
        <p:nvSpPr>
          <p:cNvPr id="15" name="Text 13"/>
          <p:cNvSpPr/>
          <p:nvPr/>
        </p:nvSpPr>
        <p:spPr>
          <a:xfrm>
            <a:off x="877824" y="309295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seed_once  —  </a:t>
            </a:r>
            <a:r>
              <a:rPr lang="en-US" sz="1250" dirty="0">
                <a:solidFill>
                  <a:srgbClr val="C2CAD4"/>
                </a:solidFill>
                <a:latin typeface="Calibri" pitchFamily="34" charset="0"/>
                <a:ea typeface="Calibri" pitchFamily="34" charset="-122"/>
                <a:cs typeface="Calibri" pitchFamily="34" charset="-120"/>
              </a:rPr>
              <a:t>Default true. Skip injection if the engine already has prior book state for the symbol, so a restart does not double-seed.</a:t>
            </a:r>
            <a:endParaRPr lang="en-US" sz="1250" dirty="0"/>
          </a:p>
        </p:txBody>
      </p:sp>
      <p:sp>
        <p:nvSpPr>
          <p:cNvPr id="16" name="Shape 14"/>
          <p:cNvSpPr/>
          <p:nvPr/>
        </p:nvSpPr>
        <p:spPr>
          <a:xfrm>
            <a:off x="640080" y="3854196"/>
            <a:ext cx="82296" cy="82296"/>
          </a:xfrm>
          <a:prstGeom prst="rect">
            <a:avLst/>
          </a:prstGeom>
          <a:solidFill>
            <a:srgbClr val="F3B441"/>
          </a:solidFill>
          <a:ln w="12700">
            <a:solidFill>
              <a:srgbClr val="333333"/>
            </a:solidFill>
            <a:prstDash val="solid"/>
          </a:ln>
        </p:spPr>
        <p:txBody>
          <a:bodyPr/>
          <a:lstStyle/>
          <a:p>
            <a:endParaRPr lang="en-SE"/>
          </a:p>
        </p:txBody>
      </p:sp>
      <p:sp>
        <p:nvSpPr>
          <p:cNvPr id="17" name="Text 15"/>
          <p:cNvSpPr/>
          <p:nvPr/>
        </p:nvSpPr>
        <p:spPr>
          <a:xfrm>
            <a:off x="877824" y="374446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mm_obligation_defaults  —  </a:t>
            </a:r>
            <a:r>
              <a:rPr lang="en-US" sz="1250" dirty="0">
                <a:solidFill>
                  <a:srgbClr val="C2CAD4"/>
                </a:solidFill>
                <a:latin typeface="Calibri" pitchFamily="34" charset="0"/>
                <a:ea typeface="Calibri" pitchFamily="34" charset="-122"/>
                <a:cs typeface="Calibri" pitchFamily="34" charset="-120"/>
              </a:rPr>
              <a:t>Exchange-wide market-maker duties: whether obligations are enforced at all, the widest allowed spread in ticks (default 10) and the minimum size on each side (default 100).</a:t>
            </a:r>
            <a:endParaRPr lang="en-US" sz="1250" dirty="0"/>
          </a:p>
        </p:txBody>
      </p:sp>
      <p:sp>
        <p:nvSpPr>
          <p:cNvPr id="18" name="Shape 16"/>
          <p:cNvSpPr/>
          <p:nvPr/>
        </p:nvSpPr>
        <p:spPr>
          <a:xfrm>
            <a:off x="640080" y="4505706"/>
            <a:ext cx="82296" cy="82296"/>
          </a:xfrm>
          <a:prstGeom prst="rect">
            <a:avLst/>
          </a:prstGeom>
          <a:solidFill>
            <a:srgbClr val="F3B441"/>
          </a:solidFill>
          <a:ln w="12700">
            <a:solidFill>
              <a:srgbClr val="333333"/>
            </a:solidFill>
            <a:prstDash val="solid"/>
          </a:ln>
        </p:spPr>
        <p:txBody>
          <a:bodyPr/>
          <a:lstStyle/>
          <a:p>
            <a:endParaRPr lang="en-SE"/>
          </a:p>
        </p:txBody>
      </p:sp>
      <p:sp>
        <p:nvSpPr>
          <p:cNvPr id="19" name="Text 17"/>
          <p:cNvSpPr/>
          <p:nvPr/>
        </p:nvSpPr>
        <p:spPr>
          <a:xfrm>
            <a:off x="877824" y="439597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market_maker_combos  —  </a:t>
            </a:r>
            <a:r>
              <a:rPr lang="en-US" sz="1250" dirty="0">
                <a:solidFill>
                  <a:srgbClr val="C2CAD4"/>
                </a:solidFill>
                <a:latin typeface="Calibri" pitchFamily="34" charset="0"/>
                <a:ea typeface="Calibri" pitchFamily="34" charset="-122"/>
                <a:cs typeface="Calibri" pitchFamily="34" charset="-120"/>
              </a:rPr>
              <a:t>Multi-leg seed orders — two to ten legs — placed as a single all-or-none package at startup. Spreads, pairs and hedged entries.</a:t>
            </a:r>
            <a:endParaRPr lang="en-US" sz="1250" dirty="0"/>
          </a:p>
        </p:txBody>
      </p:sp>
      <p:sp>
        <p:nvSpPr>
          <p:cNvPr id="20" name="Shape 18"/>
          <p:cNvSpPr/>
          <p:nvPr/>
        </p:nvSpPr>
        <p:spPr>
          <a:xfrm>
            <a:off x="640080" y="5257800"/>
            <a:ext cx="10911535" cy="868680"/>
          </a:xfrm>
          <a:prstGeom prst="roundRect">
            <a:avLst>
              <a:gd name="adj" fmla="val 6316"/>
            </a:avLst>
          </a:prstGeom>
          <a:solidFill>
            <a:srgbClr val="252B33"/>
          </a:solidFill>
          <a:ln w="12700">
            <a:solidFill>
              <a:srgbClr val="F3B441"/>
            </a:solidFill>
            <a:prstDash val="solid"/>
          </a:ln>
        </p:spPr>
        <p:txBody>
          <a:bodyPr/>
          <a:lstStyle/>
          <a:p>
            <a:endParaRPr lang="en-SE"/>
          </a:p>
        </p:txBody>
      </p:sp>
      <p:sp>
        <p:nvSpPr>
          <p:cNvPr id="21" name="Text 19"/>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WHY A BEGINNER SHOULD CARE</a:t>
            </a:r>
            <a:endParaRPr lang="en-US" sz="950" dirty="0"/>
          </a:p>
        </p:txBody>
      </p:sp>
      <p:sp>
        <p:nvSpPr>
          <p:cNvPr id="22" name="Text 20"/>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If a MARKET_MAKER gateway exists, the spec then requires every symbol to define at least one quote. Adding the role is what triggers the requirement.</a:t>
            </a:r>
            <a:endParaRPr lang="en-US" sz="1250" dirty="0"/>
          </a:p>
        </p:txBody>
      </p:sp>
      <p:sp>
        <p:nvSpPr>
          <p:cNvPr id="23" name="Text 2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4" name="Text 2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5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Market rhythm &amp; analytics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When the market is open, which days it skips, and what is calculated from it.</a:t>
            </a:r>
            <a:endParaRPr lang="en-US" sz="1450" dirty="0"/>
          </a:p>
        </p:txBody>
      </p:sp>
      <p:sp>
        <p:nvSpPr>
          <p:cNvPr id="6" name="Shape 4"/>
          <p:cNvSpPr/>
          <p:nvPr/>
        </p:nvSpPr>
        <p:spPr>
          <a:xfrm>
            <a:off x="640080" y="1965960"/>
            <a:ext cx="896112" cy="292608"/>
          </a:xfrm>
          <a:prstGeom prst="roundRect">
            <a:avLst>
              <a:gd name="adj" fmla="val 15625"/>
            </a:avLst>
          </a:prstGeom>
          <a:solidFill>
            <a:srgbClr val="252B33"/>
          </a:solidFill>
          <a:ln w="12700">
            <a:solidFill>
              <a:srgbClr val="6BD98A"/>
            </a:solidFill>
            <a:prstDash val="solid"/>
          </a:ln>
        </p:spPr>
        <p:txBody>
          <a:bodyPr/>
          <a:lstStyle/>
          <a:p>
            <a:endParaRPr lang="en-SE"/>
          </a:p>
        </p:txBody>
      </p:sp>
      <p:sp>
        <p:nvSpPr>
          <p:cNvPr id="7" name="Text 5"/>
          <p:cNvSpPr/>
          <p:nvPr/>
        </p:nvSpPr>
        <p:spPr>
          <a:xfrm>
            <a:off x="640080" y="1965960"/>
            <a:ext cx="896112" cy="292608"/>
          </a:xfrm>
          <a:prstGeom prst="rect">
            <a:avLst/>
          </a:prstGeom>
          <a:noFill/>
          <a:ln/>
        </p:spPr>
        <p:txBody>
          <a:bodyPr wrap="square" lIns="0" tIns="0" rIns="0" bIns="0" rtlCol="0" anchor="ctr"/>
          <a:lstStyle/>
          <a:p>
            <a:pPr marL="0" indent="0" algn="ctr">
              <a:buNone/>
            </a:pPr>
            <a:r>
              <a:rPr lang="en-US" sz="1050" dirty="0">
                <a:solidFill>
                  <a:srgbClr val="6BD98A"/>
                </a:solidFill>
                <a:latin typeface="Consolas" pitchFamily="34" charset="0"/>
                <a:ea typeface="Consolas" pitchFamily="34" charset="-122"/>
                <a:cs typeface="Consolas" pitchFamily="34" charset="-120"/>
              </a:rPr>
              <a:t>schedule</a:t>
            </a:r>
            <a:endParaRPr lang="en-US" sz="1050" dirty="0"/>
          </a:p>
        </p:txBody>
      </p:sp>
      <p:sp>
        <p:nvSpPr>
          <p:cNvPr id="8" name="Shape 6"/>
          <p:cNvSpPr/>
          <p:nvPr/>
        </p:nvSpPr>
        <p:spPr>
          <a:xfrm>
            <a:off x="1664208" y="1965960"/>
            <a:ext cx="813816" cy="292608"/>
          </a:xfrm>
          <a:prstGeom prst="roundRect">
            <a:avLst>
              <a:gd name="adj" fmla="val 15625"/>
            </a:avLst>
          </a:prstGeom>
          <a:solidFill>
            <a:srgbClr val="252B33"/>
          </a:solidFill>
          <a:ln w="12700">
            <a:solidFill>
              <a:srgbClr val="6BD98A"/>
            </a:solidFill>
            <a:prstDash val="solid"/>
          </a:ln>
        </p:spPr>
        <p:txBody>
          <a:bodyPr/>
          <a:lstStyle/>
          <a:p>
            <a:endParaRPr lang="en-SE"/>
          </a:p>
        </p:txBody>
      </p:sp>
      <p:sp>
        <p:nvSpPr>
          <p:cNvPr id="9" name="Text 7"/>
          <p:cNvSpPr/>
          <p:nvPr/>
        </p:nvSpPr>
        <p:spPr>
          <a:xfrm>
            <a:off x="1664208" y="1965960"/>
            <a:ext cx="813816" cy="292608"/>
          </a:xfrm>
          <a:prstGeom prst="rect">
            <a:avLst/>
          </a:prstGeom>
          <a:noFill/>
          <a:ln/>
        </p:spPr>
        <p:txBody>
          <a:bodyPr wrap="square" lIns="0" tIns="0" rIns="0" bIns="0" rtlCol="0" anchor="ctr"/>
          <a:lstStyle/>
          <a:p>
            <a:pPr marL="0" indent="0" algn="ctr">
              <a:buNone/>
            </a:pPr>
            <a:r>
              <a:rPr lang="en-US" sz="1050" dirty="0">
                <a:solidFill>
                  <a:srgbClr val="6BD98A"/>
                </a:solidFill>
                <a:latin typeface="Consolas" pitchFamily="34" charset="0"/>
                <a:ea typeface="Consolas" pitchFamily="34" charset="-122"/>
                <a:cs typeface="Consolas" pitchFamily="34" charset="-120"/>
              </a:rPr>
              <a:t>country</a:t>
            </a:r>
            <a:endParaRPr lang="en-US" sz="1050" dirty="0"/>
          </a:p>
        </p:txBody>
      </p:sp>
      <p:sp>
        <p:nvSpPr>
          <p:cNvPr id="10" name="Shape 8"/>
          <p:cNvSpPr/>
          <p:nvPr/>
        </p:nvSpPr>
        <p:spPr>
          <a:xfrm>
            <a:off x="2606040" y="1965960"/>
            <a:ext cx="813816" cy="292608"/>
          </a:xfrm>
          <a:prstGeom prst="roundRect">
            <a:avLst>
              <a:gd name="adj" fmla="val 15625"/>
            </a:avLst>
          </a:prstGeom>
          <a:solidFill>
            <a:srgbClr val="252B33"/>
          </a:solidFill>
          <a:ln w="12700">
            <a:solidFill>
              <a:srgbClr val="6BD98A"/>
            </a:solidFill>
            <a:prstDash val="solid"/>
          </a:ln>
        </p:spPr>
        <p:txBody>
          <a:bodyPr/>
          <a:lstStyle/>
          <a:p>
            <a:endParaRPr lang="en-SE"/>
          </a:p>
        </p:txBody>
      </p:sp>
      <p:sp>
        <p:nvSpPr>
          <p:cNvPr id="11" name="Text 9"/>
          <p:cNvSpPr/>
          <p:nvPr/>
        </p:nvSpPr>
        <p:spPr>
          <a:xfrm>
            <a:off x="2606040" y="1965960"/>
            <a:ext cx="813816" cy="292608"/>
          </a:xfrm>
          <a:prstGeom prst="rect">
            <a:avLst/>
          </a:prstGeom>
          <a:noFill/>
          <a:ln/>
        </p:spPr>
        <p:txBody>
          <a:bodyPr wrap="square" lIns="0" tIns="0" rIns="0" bIns="0" rtlCol="0" anchor="ctr"/>
          <a:lstStyle/>
          <a:p>
            <a:pPr marL="0" indent="0" algn="ctr">
              <a:buNone/>
            </a:pPr>
            <a:r>
              <a:rPr lang="en-US" sz="1050" dirty="0">
                <a:solidFill>
                  <a:srgbClr val="6BD98A"/>
                </a:solidFill>
                <a:latin typeface="Consolas" pitchFamily="34" charset="0"/>
                <a:ea typeface="Consolas" pitchFamily="34" charset="-122"/>
                <a:cs typeface="Consolas" pitchFamily="34" charset="-120"/>
              </a:rPr>
              <a:t>indices</a:t>
            </a:r>
            <a:endParaRPr lang="en-US" sz="1050" dirty="0"/>
          </a:p>
        </p:txBody>
      </p:sp>
      <p:sp>
        <p:nvSpPr>
          <p:cNvPr id="12" name="Shape 10"/>
          <p:cNvSpPr/>
          <p:nvPr/>
        </p:nvSpPr>
        <p:spPr>
          <a:xfrm>
            <a:off x="640080" y="2551176"/>
            <a:ext cx="82296" cy="82296"/>
          </a:xfrm>
          <a:prstGeom prst="rect">
            <a:avLst/>
          </a:prstGeom>
          <a:solidFill>
            <a:srgbClr val="6BD98A"/>
          </a:solidFill>
          <a:ln w="12700">
            <a:solidFill>
              <a:srgbClr val="333333"/>
            </a:solidFill>
            <a:prstDash val="solid"/>
          </a:ln>
        </p:spPr>
        <p:txBody>
          <a:bodyPr/>
          <a:lstStyle/>
          <a:p>
            <a:endParaRPr lang="en-SE"/>
          </a:p>
        </p:txBody>
      </p:sp>
      <p:sp>
        <p:nvSpPr>
          <p:cNvPr id="13" name="Text 11"/>
          <p:cNvSpPr/>
          <p:nvPr/>
        </p:nvSpPr>
        <p:spPr>
          <a:xfrm>
            <a:off x="877824" y="244144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schedule  —  </a:t>
            </a:r>
            <a:r>
              <a:rPr lang="en-US" sz="1250" dirty="0">
                <a:solidFill>
                  <a:srgbClr val="C2CAD4"/>
                </a:solidFill>
                <a:latin typeface="Calibri" pitchFamily="34" charset="0"/>
                <a:ea typeface="Calibri" pitchFamily="34" charset="-122"/>
                <a:cs typeface="Calibri" pitchFamily="34" charset="-120"/>
              </a:rPr>
              <a:t>Five wall-clock times: pre_open 09:00, opening_auction_start 09:25, continuous_start 09:30, closing_auction_start 16:00, closing_auction_end 16:05. They must be strictly increasing.</a:t>
            </a:r>
            <a:endParaRPr lang="en-US" sz="1250" dirty="0"/>
          </a:p>
        </p:txBody>
      </p:sp>
      <p:sp>
        <p:nvSpPr>
          <p:cNvPr id="14" name="Shape 12"/>
          <p:cNvSpPr/>
          <p:nvPr/>
        </p:nvSpPr>
        <p:spPr>
          <a:xfrm>
            <a:off x="640080" y="3202686"/>
            <a:ext cx="82296" cy="82296"/>
          </a:xfrm>
          <a:prstGeom prst="rect">
            <a:avLst/>
          </a:prstGeom>
          <a:solidFill>
            <a:srgbClr val="6BD98A"/>
          </a:solidFill>
          <a:ln w="12700">
            <a:solidFill>
              <a:srgbClr val="333333"/>
            </a:solidFill>
            <a:prstDash val="solid"/>
          </a:ln>
        </p:spPr>
        <p:txBody>
          <a:bodyPr/>
          <a:lstStyle/>
          <a:p>
            <a:endParaRPr lang="en-SE"/>
          </a:p>
        </p:txBody>
      </p:sp>
      <p:sp>
        <p:nvSpPr>
          <p:cNvPr id="15" name="Text 13"/>
          <p:cNvSpPr/>
          <p:nvPr/>
        </p:nvSpPr>
        <p:spPr>
          <a:xfrm>
            <a:off x="877824" y="309295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country  —  </a:t>
            </a:r>
            <a:r>
              <a:rPr lang="en-US" sz="1250" dirty="0">
                <a:solidFill>
                  <a:srgbClr val="C2CAD4"/>
                </a:solidFill>
                <a:latin typeface="Calibri" pitchFamily="34" charset="0"/>
                <a:ea typeface="Calibri" pitchFamily="34" charset="-122"/>
                <a:cs typeface="Calibri" pitchFamily="34" charset="-120"/>
              </a:rPr>
              <a:t>Default "Sweden". A country name or ISO code used to look up bank holidays. The scheduler treats weekends and holidays as non-trading days.</a:t>
            </a:r>
            <a:endParaRPr lang="en-US" sz="1250" dirty="0"/>
          </a:p>
        </p:txBody>
      </p:sp>
      <p:sp>
        <p:nvSpPr>
          <p:cNvPr id="16" name="Shape 14"/>
          <p:cNvSpPr/>
          <p:nvPr/>
        </p:nvSpPr>
        <p:spPr>
          <a:xfrm>
            <a:off x="640080" y="3854196"/>
            <a:ext cx="82296" cy="82296"/>
          </a:xfrm>
          <a:prstGeom prst="rect">
            <a:avLst/>
          </a:prstGeom>
          <a:solidFill>
            <a:srgbClr val="6BD98A"/>
          </a:solidFill>
          <a:ln w="12700">
            <a:solidFill>
              <a:srgbClr val="333333"/>
            </a:solidFill>
            <a:prstDash val="solid"/>
          </a:ln>
        </p:spPr>
        <p:txBody>
          <a:bodyPr/>
          <a:lstStyle/>
          <a:p>
            <a:endParaRPr lang="en-SE"/>
          </a:p>
        </p:txBody>
      </p:sp>
      <p:sp>
        <p:nvSpPr>
          <p:cNvPr id="17" name="Text 15"/>
          <p:cNvSpPr/>
          <p:nvPr/>
        </p:nvSpPr>
        <p:spPr>
          <a:xfrm>
            <a:off x="877824" y="374446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indices  —  </a:t>
            </a:r>
            <a:r>
              <a:rPr lang="en-US" sz="1250" dirty="0">
                <a:solidFill>
                  <a:srgbClr val="C2CAD4"/>
                </a:solidFill>
                <a:latin typeface="Calibri" pitchFamily="34" charset="0"/>
                <a:ea typeface="Calibri" pitchFamily="34" charset="-122"/>
                <a:cs typeface="Calibri" pitchFamily="34" charset="-120"/>
              </a:rPr>
              <a:t>Up to five cap-weighted indices. Each names its constituents, a base value (default 1000) and how often it publishes (default every second).</a:t>
            </a:r>
            <a:endParaRPr lang="en-US" sz="1250" dirty="0"/>
          </a:p>
        </p:txBody>
      </p:sp>
      <p:sp>
        <p:nvSpPr>
          <p:cNvPr id="18" name="Shape 16"/>
          <p:cNvSpPr/>
          <p:nvPr/>
        </p:nvSpPr>
        <p:spPr>
          <a:xfrm>
            <a:off x="640080" y="4505706"/>
            <a:ext cx="82296" cy="82296"/>
          </a:xfrm>
          <a:prstGeom prst="rect">
            <a:avLst/>
          </a:prstGeom>
          <a:solidFill>
            <a:srgbClr val="6BD98A"/>
          </a:solidFill>
          <a:ln w="12700">
            <a:solidFill>
              <a:srgbClr val="333333"/>
            </a:solidFill>
            <a:prstDash val="solid"/>
          </a:ln>
        </p:spPr>
        <p:txBody>
          <a:bodyPr/>
          <a:lstStyle/>
          <a:p>
            <a:endParaRPr lang="en-SE"/>
          </a:p>
        </p:txBody>
      </p:sp>
      <p:sp>
        <p:nvSpPr>
          <p:cNvPr id="19" name="Text 17"/>
          <p:cNvSpPr/>
          <p:nvPr/>
        </p:nvSpPr>
        <p:spPr>
          <a:xfrm>
            <a:off x="877824" y="4395978"/>
            <a:ext cx="10673791" cy="651510"/>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Constituent rule  —  </a:t>
            </a:r>
            <a:r>
              <a:rPr lang="en-US" sz="1250" dirty="0">
                <a:solidFill>
                  <a:srgbClr val="C2CAD4"/>
                </a:solidFill>
                <a:latin typeface="Calibri" pitchFamily="34" charset="0"/>
                <a:ea typeface="Calibri" pitchFamily="34" charset="-122"/>
                <a:cs typeface="Calibri" pitchFamily="34" charset="-120"/>
              </a:rPr>
              <a:t>Every constituent must be a configured symbol that also defines outstanding_shares — the weight cannot be computed without it.</a:t>
            </a:r>
            <a:endParaRPr lang="en-US" sz="1250" dirty="0"/>
          </a:p>
        </p:txBody>
      </p:sp>
      <p:sp>
        <p:nvSpPr>
          <p:cNvPr id="20" name="Shape 18"/>
          <p:cNvSpPr/>
          <p:nvPr/>
        </p:nvSpPr>
        <p:spPr>
          <a:xfrm>
            <a:off x="640080" y="5257800"/>
            <a:ext cx="10911535" cy="868680"/>
          </a:xfrm>
          <a:prstGeom prst="roundRect">
            <a:avLst>
              <a:gd name="adj" fmla="val 6316"/>
            </a:avLst>
          </a:prstGeom>
          <a:solidFill>
            <a:srgbClr val="252B33"/>
          </a:solidFill>
          <a:ln w="12700">
            <a:solidFill>
              <a:srgbClr val="6BD98A"/>
            </a:solidFill>
            <a:prstDash val="solid"/>
          </a:ln>
        </p:spPr>
        <p:txBody>
          <a:bodyPr/>
          <a:lstStyle/>
          <a:p>
            <a:endParaRPr lang="en-SE"/>
          </a:p>
        </p:txBody>
      </p:sp>
      <p:sp>
        <p:nvSpPr>
          <p:cNvPr id="21" name="Text 19"/>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WHY A BEGINNER SHOULD CARE</a:t>
            </a:r>
            <a:endParaRPr lang="en-US" sz="950" dirty="0"/>
          </a:p>
        </p:txBody>
      </p:sp>
      <p:sp>
        <p:nvSpPr>
          <p:cNvPr id="22" name="Text 20"/>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country is a top-level key, a sibling of schedule — not nested inside it. It is also the one field where a bad value produces a warning instead of a failure.</a:t>
            </a:r>
            <a:endParaRPr lang="en-US" sz="1250" dirty="0"/>
          </a:p>
        </p:txBody>
      </p:sp>
      <p:sp>
        <p:nvSpPr>
          <p:cNvPr id="23" name="Text 2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24" name="Text 2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CATEGORY 6 OF 6</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Connectivity blocks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Seven optional blocks, one per external-facing service. Each is read only by its own process — the engine ignores all of them.</a:t>
            </a:r>
            <a:endParaRPr lang="en-US" sz="1450" dirty="0"/>
          </a:p>
        </p:txBody>
      </p:sp>
      <p:sp>
        <p:nvSpPr>
          <p:cNvPr id="6" name="Shape 4"/>
          <p:cNvSpPr/>
          <p:nvPr/>
        </p:nvSpPr>
        <p:spPr>
          <a:xfrm>
            <a:off x="640080" y="1965960"/>
            <a:ext cx="1143000"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7" name="Text 5"/>
          <p:cNvSpPr/>
          <p:nvPr/>
        </p:nvSpPr>
        <p:spPr>
          <a:xfrm>
            <a:off x="640080" y="1965960"/>
            <a:ext cx="1143000"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alf_gateway</a:t>
            </a:r>
            <a:endParaRPr lang="en-US" sz="1050" dirty="0"/>
          </a:p>
        </p:txBody>
      </p:sp>
      <p:sp>
        <p:nvSpPr>
          <p:cNvPr id="8" name="Shape 6"/>
          <p:cNvSpPr/>
          <p:nvPr/>
        </p:nvSpPr>
        <p:spPr>
          <a:xfrm>
            <a:off x="1911096" y="1965960"/>
            <a:ext cx="1225296"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9" name="Text 7"/>
          <p:cNvSpPr/>
          <p:nvPr/>
        </p:nvSpPr>
        <p:spPr>
          <a:xfrm>
            <a:off x="1911096" y="1965960"/>
            <a:ext cx="1225296"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balf_gateway</a:t>
            </a:r>
            <a:endParaRPr lang="en-US" sz="1050" dirty="0"/>
          </a:p>
        </p:txBody>
      </p:sp>
      <p:sp>
        <p:nvSpPr>
          <p:cNvPr id="10" name="Shape 8"/>
          <p:cNvSpPr/>
          <p:nvPr/>
        </p:nvSpPr>
        <p:spPr>
          <a:xfrm>
            <a:off x="3264408" y="1965960"/>
            <a:ext cx="1801368"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11" name="Text 9"/>
          <p:cNvSpPr/>
          <p:nvPr/>
        </p:nvSpPr>
        <p:spPr>
          <a:xfrm>
            <a:off x="3264408" y="1965960"/>
            <a:ext cx="1801368"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market_data_gateway</a:t>
            </a:r>
            <a:endParaRPr lang="en-US" sz="1050" dirty="0"/>
          </a:p>
        </p:txBody>
      </p:sp>
      <p:sp>
        <p:nvSpPr>
          <p:cNvPr id="12" name="Shape 10"/>
          <p:cNvSpPr/>
          <p:nvPr/>
        </p:nvSpPr>
        <p:spPr>
          <a:xfrm>
            <a:off x="5193792" y="1965960"/>
            <a:ext cx="1719072"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13" name="Text 11"/>
          <p:cNvSpPr/>
          <p:nvPr/>
        </p:nvSpPr>
        <p:spPr>
          <a:xfrm>
            <a:off x="5193792" y="1965960"/>
            <a:ext cx="1719072"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post_trade_gateway</a:t>
            </a:r>
            <a:endParaRPr lang="en-US" sz="1050" dirty="0"/>
          </a:p>
        </p:txBody>
      </p:sp>
      <p:sp>
        <p:nvSpPr>
          <p:cNvPr id="14" name="Shape 12"/>
          <p:cNvSpPr/>
          <p:nvPr/>
        </p:nvSpPr>
        <p:spPr>
          <a:xfrm>
            <a:off x="7040880" y="1965960"/>
            <a:ext cx="1060704"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15" name="Text 13"/>
          <p:cNvSpPr/>
          <p:nvPr/>
        </p:nvSpPr>
        <p:spPr>
          <a:xfrm>
            <a:off x="7040880" y="1965960"/>
            <a:ext cx="1060704"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dc_gateway</a:t>
            </a:r>
            <a:endParaRPr lang="en-US" sz="1050" dirty="0"/>
          </a:p>
        </p:txBody>
      </p:sp>
      <p:sp>
        <p:nvSpPr>
          <p:cNvPr id="16" name="Shape 14"/>
          <p:cNvSpPr/>
          <p:nvPr/>
        </p:nvSpPr>
        <p:spPr>
          <a:xfrm>
            <a:off x="8229600" y="1965960"/>
            <a:ext cx="1225296"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17" name="Text 15"/>
          <p:cNvSpPr/>
          <p:nvPr/>
        </p:nvSpPr>
        <p:spPr>
          <a:xfrm>
            <a:off x="8229600" y="1965960"/>
            <a:ext cx="1225296"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api_gateways</a:t>
            </a:r>
            <a:endParaRPr lang="en-US" sz="1050" dirty="0"/>
          </a:p>
        </p:txBody>
      </p:sp>
      <p:sp>
        <p:nvSpPr>
          <p:cNvPr id="18" name="Shape 16"/>
          <p:cNvSpPr/>
          <p:nvPr/>
        </p:nvSpPr>
        <p:spPr>
          <a:xfrm>
            <a:off x="9582912" y="1965960"/>
            <a:ext cx="1060704" cy="292608"/>
          </a:xfrm>
          <a:prstGeom prst="roundRect">
            <a:avLst>
              <a:gd name="adj" fmla="val 15625"/>
            </a:avLst>
          </a:prstGeom>
          <a:solidFill>
            <a:srgbClr val="252B33"/>
          </a:solidFill>
          <a:ln w="12700">
            <a:solidFill>
              <a:srgbClr val="5AB2F7"/>
            </a:solidFill>
            <a:prstDash val="solid"/>
          </a:ln>
        </p:spPr>
        <p:txBody>
          <a:bodyPr/>
          <a:lstStyle/>
          <a:p>
            <a:endParaRPr lang="en-SE"/>
          </a:p>
        </p:txBody>
      </p:sp>
      <p:sp>
        <p:nvSpPr>
          <p:cNvPr id="19" name="Text 17"/>
          <p:cNvSpPr/>
          <p:nvPr/>
        </p:nvSpPr>
        <p:spPr>
          <a:xfrm>
            <a:off x="9582912" y="1965960"/>
            <a:ext cx="1060704" cy="292608"/>
          </a:xfrm>
          <a:prstGeom prst="rect">
            <a:avLst/>
          </a:prstGeom>
          <a:noFill/>
          <a:ln/>
        </p:spPr>
        <p:txBody>
          <a:bodyPr wrap="square" lIns="0" tIns="0" rIns="0" bIns="0" rtlCol="0" anchor="ctr"/>
          <a:lstStyle/>
          <a:p>
            <a:pPr marL="0" indent="0" algn="ctr">
              <a:buNone/>
            </a:pPr>
            <a:r>
              <a:rPr lang="en-US" sz="1050" dirty="0">
                <a:solidFill>
                  <a:srgbClr val="5AB2F7"/>
                </a:solidFill>
                <a:latin typeface="Consolas" pitchFamily="34" charset="0"/>
                <a:ea typeface="Consolas" pitchFamily="34" charset="-122"/>
                <a:cs typeface="Consolas" pitchFamily="34" charset="-120"/>
              </a:rPr>
              <a:t>log_server</a:t>
            </a:r>
            <a:endParaRPr lang="en-US" sz="1050" dirty="0"/>
          </a:p>
        </p:txBody>
      </p:sp>
      <p:sp>
        <p:nvSpPr>
          <p:cNvPr id="20" name="Shape 18"/>
          <p:cNvSpPr/>
          <p:nvPr/>
        </p:nvSpPr>
        <p:spPr>
          <a:xfrm>
            <a:off x="640080" y="2551176"/>
            <a:ext cx="82296" cy="82296"/>
          </a:xfrm>
          <a:prstGeom prst="rect">
            <a:avLst/>
          </a:prstGeom>
          <a:solidFill>
            <a:srgbClr val="5AB2F7"/>
          </a:solidFill>
          <a:ln w="12700">
            <a:solidFill>
              <a:srgbClr val="333333"/>
            </a:solidFill>
            <a:prstDash val="solid"/>
          </a:ln>
        </p:spPr>
        <p:txBody>
          <a:bodyPr/>
          <a:lstStyle/>
          <a:p>
            <a:endParaRPr lang="en-SE"/>
          </a:p>
        </p:txBody>
      </p:sp>
      <p:sp>
        <p:nvSpPr>
          <p:cNvPr id="21" name="Text 19"/>
          <p:cNvSpPr/>
          <p:nvPr/>
        </p:nvSpPr>
        <p:spPr>
          <a:xfrm>
            <a:off x="877824" y="2441448"/>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The same shape every time  —  </a:t>
            </a:r>
            <a:r>
              <a:rPr lang="en-US" sz="1250" dirty="0">
                <a:solidFill>
                  <a:srgbClr val="C2CAD4"/>
                </a:solidFill>
                <a:latin typeface="Calibri" pitchFamily="34" charset="0"/>
                <a:ea typeface="Calibri" pitchFamily="34" charset="-122"/>
                <a:cs typeface="Calibri" pitchFamily="34" charset="-120"/>
              </a:rPr>
              <a:t>Each block carries a bind address, a port, heartbeat and idle timeouts, connection limits and queue caps. Learn one and you have learned all seven.</a:t>
            </a:r>
            <a:endParaRPr lang="en-US" sz="1250" dirty="0"/>
          </a:p>
        </p:txBody>
      </p:sp>
      <p:sp>
        <p:nvSpPr>
          <p:cNvPr id="22" name="Shape 20"/>
          <p:cNvSpPr/>
          <p:nvPr/>
        </p:nvSpPr>
        <p:spPr>
          <a:xfrm>
            <a:off x="640080" y="3072384"/>
            <a:ext cx="82296" cy="82296"/>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877824" y="2962656"/>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alf_gateway / balf_gateway  —  </a:t>
            </a:r>
            <a:r>
              <a:rPr lang="en-US" sz="1250" dirty="0">
                <a:solidFill>
                  <a:srgbClr val="C2CAD4"/>
                </a:solidFill>
                <a:latin typeface="Calibri" pitchFamily="34" charset="0"/>
                <a:ea typeface="Calibri" pitchFamily="34" charset="-122"/>
                <a:cs typeface="Calibri" pitchFamily="34" charset="-120"/>
              </a:rPr>
              <a:t>Order entry, text and binary. Both also read gateways.alf for the identity and role of each session.</a:t>
            </a:r>
            <a:endParaRPr lang="en-US" sz="1250" dirty="0"/>
          </a:p>
        </p:txBody>
      </p:sp>
      <p:sp>
        <p:nvSpPr>
          <p:cNvPr id="24" name="Shape 22"/>
          <p:cNvSpPr/>
          <p:nvPr/>
        </p:nvSpPr>
        <p:spPr>
          <a:xfrm>
            <a:off x="640080" y="3593592"/>
            <a:ext cx="82296" cy="82296"/>
          </a:xfrm>
          <a:prstGeom prst="rect">
            <a:avLst/>
          </a:prstGeom>
          <a:solidFill>
            <a:srgbClr val="5AB2F7"/>
          </a:solidFill>
          <a:ln w="12700">
            <a:solidFill>
              <a:srgbClr val="333333"/>
            </a:solidFill>
            <a:prstDash val="solid"/>
          </a:ln>
        </p:spPr>
        <p:txBody>
          <a:bodyPr/>
          <a:lstStyle/>
          <a:p>
            <a:endParaRPr lang="en-SE"/>
          </a:p>
        </p:txBody>
      </p:sp>
      <p:sp>
        <p:nvSpPr>
          <p:cNvPr id="25" name="Text 23"/>
          <p:cNvSpPr/>
          <p:nvPr/>
        </p:nvSpPr>
        <p:spPr>
          <a:xfrm>
            <a:off x="877824" y="3483864"/>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market_data_gateway  —  </a:t>
            </a:r>
            <a:r>
              <a:rPr lang="en-US" sz="1250" dirty="0">
                <a:solidFill>
                  <a:srgbClr val="C2CAD4"/>
                </a:solidFill>
                <a:latin typeface="Calibri" pitchFamily="34" charset="0"/>
                <a:ea typeface="Calibri" pitchFamily="34" charset="-122"/>
                <a:cs typeface="Calibri" pitchFamily="34" charset="-120"/>
              </a:rPr>
              <a:t>The CALF feed: top-of-book, trades and index values, with a replay window and a depth level count.</a:t>
            </a:r>
            <a:endParaRPr lang="en-US" sz="1250" dirty="0"/>
          </a:p>
        </p:txBody>
      </p:sp>
      <p:sp>
        <p:nvSpPr>
          <p:cNvPr id="26" name="Shape 24"/>
          <p:cNvSpPr/>
          <p:nvPr/>
        </p:nvSpPr>
        <p:spPr>
          <a:xfrm>
            <a:off x="640080" y="4114800"/>
            <a:ext cx="82296" cy="82296"/>
          </a:xfrm>
          <a:prstGeom prst="rect">
            <a:avLst/>
          </a:prstGeom>
          <a:solidFill>
            <a:srgbClr val="5AB2F7"/>
          </a:solidFill>
          <a:ln w="12700">
            <a:solidFill>
              <a:srgbClr val="333333"/>
            </a:solidFill>
            <a:prstDash val="solid"/>
          </a:ln>
        </p:spPr>
        <p:txBody>
          <a:bodyPr/>
          <a:lstStyle/>
          <a:p>
            <a:endParaRPr lang="en-SE"/>
          </a:p>
        </p:txBody>
      </p:sp>
      <p:sp>
        <p:nvSpPr>
          <p:cNvPr id="27" name="Text 25"/>
          <p:cNvSpPr/>
          <p:nvPr/>
        </p:nvSpPr>
        <p:spPr>
          <a:xfrm>
            <a:off x="877824" y="4005072"/>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post_trade_gateway / dc_gateway  —  </a:t>
            </a:r>
            <a:r>
              <a:rPr lang="en-US" sz="1250" dirty="0">
                <a:solidFill>
                  <a:srgbClr val="C2CAD4"/>
                </a:solidFill>
                <a:latin typeface="Calibri" pitchFamily="34" charset="0"/>
                <a:ea typeface="Calibri" pitchFamily="34" charset="-122"/>
                <a:cs typeface="Calibri" pitchFamily="34" charset="-120"/>
              </a:rPr>
              <a:t>Fills and drop-copy for clearing and audit. Neither has an enabled key — configuring it is enabling it.</a:t>
            </a:r>
            <a:endParaRPr lang="en-US" sz="1250" dirty="0"/>
          </a:p>
        </p:txBody>
      </p:sp>
      <p:sp>
        <p:nvSpPr>
          <p:cNvPr id="28" name="Shape 26"/>
          <p:cNvSpPr/>
          <p:nvPr/>
        </p:nvSpPr>
        <p:spPr>
          <a:xfrm>
            <a:off x="640080" y="4636008"/>
            <a:ext cx="82296" cy="82296"/>
          </a:xfrm>
          <a:prstGeom prst="rect">
            <a:avLst/>
          </a:prstGeom>
          <a:solidFill>
            <a:srgbClr val="5AB2F7"/>
          </a:solidFill>
          <a:ln w="12700">
            <a:solidFill>
              <a:srgbClr val="333333"/>
            </a:solidFill>
            <a:prstDash val="solid"/>
          </a:ln>
        </p:spPr>
        <p:txBody>
          <a:bodyPr/>
          <a:lstStyle/>
          <a:p>
            <a:endParaRPr lang="en-SE"/>
          </a:p>
        </p:txBody>
      </p:sp>
      <p:sp>
        <p:nvSpPr>
          <p:cNvPr id="29" name="Text 27"/>
          <p:cNvSpPr/>
          <p:nvPr/>
        </p:nvSpPr>
        <p:spPr>
          <a:xfrm>
            <a:off x="877824" y="4526280"/>
            <a:ext cx="10673791" cy="521208"/>
          </a:xfrm>
          <a:prstGeom prst="rect">
            <a:avLst/>
          </a:prstGeom>
          <a:noFill/>
          <a:ln/>
        </p:spPr>
        <p:txBody>
          <a:bodyPr wrap="square" lIns="0" tIns="0" rIns="0" bIns="0" rtlCol="0" anchor="t"/>
          <a:lstStyle/>
          <a:p>
            <a:pPr marL="0" indent="0">
              <a:lnSpc>
                <a:spcPts val="1700"/>
              </a:lnSpc>
              <a:buNone/>
            </a:pPr>
            <a:r>
              <a:rPr lang="en-US" sz="1250" b="1" dirty="0">
                <a:solidFill>
                  <a:srgbClr val="F1F4F8"/>
                </a:solidFill>
                <a:latin typeface="Calibri" pitchFamily="34" charset="0"/>
                <a:ea typeface="Calibri" pitchFamily="34" charset="-122"/>
                <a:cs typeface="Calibri" pitchFamily="34" charset="-120"/>
              </a:rPr>
              <a:t>api_gateways / log_server  —  </a:t>
            </a:r>
            <a:r>
              <a:rPr lang="en-US" sz="1250" dirty="0">
                <a:solidFill>
                  <a:srgbClr val="C2CAD4"/>
                </a:solidFill>
                <a:latin typeface="Calibri" pitchFamily="34" charset="0"/>
                <a:ea typeface="Calibri" pitchFamily="34" charset="-122"/>
                <a:cs typeface="Calibri" pitchFamily="34" charset="-120"/>
              </a:rPr>
              <a:t>Named REST and WebSocket instances with API credentials, and the central log collector with its retention settings.</a:t>
            </a:r>
            <a:endParaRPr lang="en-US" sz="1250" dirty="0"/>
          </a:p>
        </p:txBody>
      </p:sp>
      <p:sp>
        <p:nvSpPr>
          <p:cNvPr id="30" name="Shape 28"/>
          <p:cNvSpPr/>
          <p:nvPr/>
        </p:nvSpPr>
        <p:spPr>
          <a:xfrm>
            <a:off x="640080" y="5257800"/>
            <a:ext cx="10911535" cy="868680"/>
          </a:xfrm>
          <a:prstGeom prst="roundRect">
            <a:avLst>
              <a:gd name="adj" fmla="val 6316"/>
            </a:avLst>
          </a:prstGeom>
          <a:solidFill>
            <a:srgbClr val="252B33"/>
          </a:solidFill>
          <a:ln w="12700">
            <a:solidFill>
              <a:srgbClr val="5AB2F7"/>
            </a:solidFill>
            <a:prstDash val="solid"/>
          </a:ln>
        </p:spPr>
        <p:txBody>
          <a:bodyPr/>
          <a:lstStyle/>
          <a:p>
            <a:endParaRPr lang="en-SE"/>
          </a:p>
        </p:txBody>
      </p:sp>
      <p:sp>
        <p:nvSpPr>
          <p:cNvPr id="31" name="Text 29"/>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5AB2F7"/>
                </a:solidFill>
                <a:latin typeface="Calibri" pitchFamily="34" charset="0"/>
                <a:ea typeface="Calibri" pitchFamily="34" charset="-122"/>
                <a:cs typeface="Calibri" pitchFamily="34" charset="-120"/>
              </a:rPr>
              <a:t>WHY A BEGINNER SHOULD CARE</a:t>
            </a:r>
            <a:endParaRPr lang="en-US" sz="950" dirty="0"/>
          </a:p>
        </p:txBody>
      </p:sp>
      <p:sp>
        <p:nvSpPr>
          <p:cNvPr id="32" name="Text 30"/>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You need none of these for a classroom exchange driven by consoles. Add them the day something outside the room needs to connect.</a:t>
            </a:r>
            <a:endParaRPr lang="en-US" sz="1250" dirty="0"/>
          </a:p>
        </p:txBody>
      </p:sp>
      <p:sp>
        <p:nvSpPr>
          <p:cNvPr id="33" name="Text 3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34" name="Text 3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DECISION AID</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Do I actually need this section?</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practical reading of the twenty keys for someone standing up their first exchange.</a:t>
            </a:r>
            <a:endParaRPr lang="en-US" sz="1450" dirty="0"/>
          </a:p>
        </p:txBody>
      </p:sp>
      <p:sp>
        <p:nvSpPr>
          <p:cNvPr id="6" name="Shape 4"/>
          <p:cNvSpPr/>
          <p:nvPr/>
        </p:nvSpPr>
        <p:spPr>
          <a:xfrm>
            <a:off x="640080" y="2057400"/>
            <a:ext cx="10911535"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2057400"/>
            <a:ext cx="2617543"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SECTION</a:t>
            </a:r>
            <a:endParaRPr lang="en-US" sz="950" dirty="0"/>
          </a:p>
        </p:txBody>
      </p:sp>
      <p:sp>
        <p:nvSpPr>
          <p:cNvPr id="8" name="Text 6"/>
          <p:cNvSpPr/>
          <p:nvPr/>
        </p:nvSpPr>
        <p:spPr>
          <a:xfrm>
            <a:off x="3623383" y="2057400"/>
            <a:ext cx="1526390"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STATUS</a:t>
            </a:r>
            <a:endParaRPr lang="en-US" sz="950" dirty="0"/>
          </a:p>
        </p:txBody>
      </p:sp>
      <p:sp>
        <p:nvSpPr>
          <p:cNvPr id="9" name="Text 7"/>
          <p:cNvSpPr/>
          <p:nvPr/>
        </p:nvSpPr>
        <p:spPr>
          <a:xfrm>
            <a:off x="5369229" y="2057400"/>
            <a:ext cx="6109234"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SKIP IT IF…</a:t>
            </a:r>
            <a:endParaRPr lang="en-US" sz="950" dirty="0"/>
          </a:p>
        </p:txBody>
      </p:sp>
      <p:sp>
        <p:nvSpPr>
          <p:cNvPr id="10" name="Shape 8"/>
          <p:cNvSpPr/>
          <p:nvPr/>
        </p:nvSpPr>
        <p:spPr>
          <a:xfrm>
            <a:off x="640080" y="2404872"/>
            <a:ext cx="10911535" cy="347472"/>
          </a:xfrm>
          <a:prstGeom prst="rect">
            <a:avLst/>
          </a:prstGeom>
          <a:solidFill>
            <a:srgbClr val="252B33"/>
          </a:solidFill>
          <a:ln w="12700">
            <a:solidFill>
              <a:srgbClr val="333333"/>
            </a:solidFill>
            <a:prstDash val="solid"/>
          </a:ln>
        </p:spPr>
        <p:txBody>
          <a:bodyPr/>
          <a:lstStyle/>
          <a:p>
            <a:endParaRPr lang="en-SE"/>
          </a:p>
        </p:txBody>
      </p:sp>
      <p:sp>
        <p:nvSpPr>
          <p:cNvPr id="11" name="Text 9"/>
          <p:cNvSpPr/>
          <p:nvPr/>
        </p:nvSpPr>
        <p:spPr>
          <a:xfrm>
            <a:off x="786384" y="2404872"/>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symbols</a:t>
            </a:r>
            <a:endParaRPr lang="en-US" sz="1150" dirty="0"/>
          </a:p>
        </p:txBody>
      </p:sp>
      <p:sp>
        <p:nvSpPr>
          <p:cNvPr id="12" name="Text 10"/>
          <p:cNvSpPr/>
          <p:nvPr/>
        </p:nvSpPr>
        <p:spPr>
          <a:xfrm>
            <a:off x="3623383" y="2404872"/>
            <a:ext cx="1526390" cy="347472"/>
          </a:xfrm>
          <a:prstGeom prst="rect">
            <a:avLst/>
          </a:prstGeom>
          <a:noFill/>
          <a:ln/>
        </p:spPr>
        <p:txBody>
          <a:bodyPr wrap="square" lIns="0" tIns="0" rIns="0" bIns="0" rtlCol="0" anchor="ctr"/>
          <a:lstStyle/>
          <a:p>
            <a:pPr marL="0" indent="0" algn="l">
              <a:buNone/>
            </a:pPr>
            <a:r>
              <a:rPr lang="en-US" sz="1150" dirty="0">
                <a:solidFill>
                  <a:srgbClr val="FF7A6B"/>
                </a:solidFill>
                <a:latin typeface="Calibri" pitchFamily="34" charset="0"/>
                <a:ea typeface="Calibri" pitchFamily="34" charset="-122"/>
                <a:cs typeface="Calibri" pitchFamily="34" charset="-120"/>
              </a:rPr>
              <a:t>REQUIRED</a:t>
            </a:r>
            <a:endParaRPr lang="en-US" sz="1150" dirty="0"/>
          </a:p>
        </p:txBody>
      </p:sp>
      <p:sp>
        <p:nvSpPr>
          <p:cNvPr id="13" name="Text 11"/>
          <p:cNvSpPr/>
          <p:nvPr/>
        </p:nvSpPr>
        <p:spPr>
          <a:xfrm>
            <a:off x="5369229" y="2404872"/>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Never. Without it the engine will not start.</a:t>
            </a:r>
            <a:endParaRPr lang="en-US" sz="1150" dirty="0"/>
          </a:p>
        </p:txBody>
      </p:sp>
      <p:sp>
        <p:nvSpPr>
          <p:cNvPr id="14" name="Text 12"/>
          <p:cNvSpPr/>
          <p:nvPr/>
        </p:nvSpPr>
        <p:spPr>
          <a:xfrm>
            <a:off x="786384" y="2752344"/>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gateways.alf</a:t>
            </a:r>
            <a:endParaRPr lang="en-US" sz="1150" dirty="0"/>
          </a:p>
        </p:txBody>
      </p:sp>
      <p:sp>
        <p:nvSpPr>
          <p:cNvPr id="15" name="Text 13"/>
          <p:cNvSpPr/>
          <p:nvPr/>
        </p:nvSpPr>
        <p:spPr>
          <a:xfrm>
            <a:off x="3623383" y="2752344"/>
            <a:ext cx="1526390" cy="347472"/>
          </a:xfrm>
          <a:prstGeom prst="rect">
            <a:avLst/>
          </a:prstGeom>
          <a:noFill/>
          <a:ln/>
        </p:spPr>
        <p:txBody>
          <a:bodyPr wrap="square" lIns="0" tIns="0" rIns="0" bIns="0" rtlCol="0" anchor="ctr"/>
          <a:lstStyle/>
          <a:p>
            <a:pPr marL="0" indent="0" algn="l">
              <a:buNone/>
            </a:pPr>
            <a:r>
              <a:rPr lang="en-US" sz="1150" dirty="0">
                <a:solidFill>
                  <a:srgbClr val="FF7A6B"/>
                </a:solidFill>
                <a:latin typeface="Calibri" pitchFamily="34" charset="0"/>
                <a:ea typeface="Calibri" pitchFamily="34" charset="-122"/>
                <a:cs typeface="Calibri" pitchFamily="34" charset="-120"/>
              </a:rPr>
              <a:t>REQUIRED</a:t>
            </a:r>
            <a:endParaRPr lang="en-US" sz="1150" dirty="0"/>
          </a:p>
        </p:txBody>
      </p:sp>
      <p:sp>
        <p:nvSpPr>
          <p:cNvPr id="16" name="Text 14"/>
          <p:cNvSpPr/>
          <p:nvPr/>
        </p:nvSpPr>
        <p:spPr>
          <a:xfrm>
            <a:off x="5369229" y="2752344"/>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Never. Without it nobody can connect.</a:t>
            </a:r>
            <a:endParaRPr lang="en-US" sz="1150" dirty="0"/>
          </a:p>
        </p:txBody>
      </p:sp>
      <p:sp>
        <p:nvSpPr>
          <p:cNvPr id="17" name="Shape 15"/>
          <p:cNvSpPr/>
          <p:nvPr/>
        </p:nvSpPr>
        <p:spPr>
          <a:xfrm>
            <a:off x="640080" y="3099816"/>
            <a:ext cx="10911535" cy="347472"/>
          </a:xfrm>
          <a:prstGeom prst="rect">
            <a:avLst/>
          </a:prstGeom>
          <a:solidFill>
            <a:srgbClr val="252B33"/>
          </a:solidFill>
          <a:ln w="12700">
            <a:solidFill>
              <a:srgbClr val="333333"/>
            </a:solidFill>
            <a:prstDash val="solid"/>
          </a:ln>
        </p:spPr>
        <p:txBody>
          <a:bodyPr/>
          <a:lstStyle/>
          <a:p>
            <a:endParaRPr lang="en-SE"/>
          </a:p>
        </p:txBody>
      </p:sp>
      <p:sp>
        <p:nvSpPr>
          <p:cNvPr id="18" name="Text 16"/>
          <p:cNvSpPr/>
          <p:nvPr/>
        </p:nvSpPr>
        <p:spPr>
          <a:xfrm>
            <a:off x="786384" y="3099816"/>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schedule + sessions_enabled</a:t>
            </a:r>
            <a:endParaRPr lang="en-US" sz="1150" dirty="0"/>
          </a:p>
        </p:txBody>
      </p:sp>
      <p:sp>
        <p:nvSpPr>
          <p:cNvPr id="19" name="Text 17"/>
          <p:cNvSpPr/>
          <p:nvPr/>
        </p:nvSpPr>
        <p:spPr>
          <a:xfrm>
            <a:off x="3623383" y="3099816"/>
            <a:ext cx="1526390" cy="347472"/>
          </a:xfrm>
          <a:prstGeom prst="rect">
            <a:avLst/>
          </a:prstGeom>
          <a:noFill/>
          <a:ln/>
        </p:spPr>
        <p:txBody>
          <a:bodyPr wrap="square" lIns="0" tIns="0" rIns="0" bIns="0" rtlCol="0" anchor="ctr"/>
          <a:lstStyle/>
          <a:p>
            <a:pPr marL="0" indent="0" algn="l">
              <a:buNone/>
            </a:pPr>
            <a:r>
              <a:rPr lang="en-US" sz="1150" dirty="0">
                <a:solidFill>
                  <a:srgbClr val="F3B441"/>
                </a:solidFill>
                <a:latin typeface="Calibri" pitchFamily="34" charset="0"/>
                <a:ea typeface="Calibri" pitchFamily="34" charset="-122"/>
                <a:cs typeface="Calibri" pitchFamily="34" charset="-120"/>
              </a:rPr>
              <a:t>Recommended</a:t>
            </a:r>
            <a:endParaRPr lang="en-US" sz="1150" dirty="0"/>
          </a:p>
        </p:txBody>
      </p:sp>
      <p:sp>
        <p:nvSpPr>
          <p:cNvPr id="20" name="Text 18"/>
          <p:cNvSpPr/>
          <p:nvPr/>
        </p:nvSpPr>
        <p:spPr>
          <a:xfrm>
            <a:off x="5369229" y="3099816"/>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are happy running always-open: set sessions_enabled to false.</a:t>
            </a:r>
            <a:endParaRPr lang="en-US" sz="1150" dirty="0"/>
          </a:p>
        </p:txBody>
      </p:sp>
      <p:sp>
        <p:nvSpPr>
          <p:cNvPr id="21" name="Text 19"/>
          <p:cNvSpPr/>
          <p:nvPr/>
        </p:nvSpPr>
        <p:spPr>
          <a:xfrm>
            <a:off x="786384" y="3447288"/>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market_maker_quotes</a:t>
            </a:r>
            <a:endParaRPr lang="en-US" sz="1150" dirty="0"/>
          </a:p>
        </p:txBody>
      </p:sp>
      <p:sp>
        <p:nvSpPr>
          <p:cNvPr id="22" name="Text 20"/>
          <p:cNvSpPr/>
          <p:nvPr/>
        </p:nvSpPr>
        <p:spPr>
          <a:xfrm>
            <a:off x="3623383" y="3447288"/>
            <a:ext cx="1526390" cy="347472"/>
          </a:xfrm>
          <a:prstGeom prst="rect">
            <a:avLst/>
          </a:prstGeom>
          <a:noFill/>
          <a:ln/>
        </p:spPr>
        <p:txBody>
          <a:bodyPr wrap="square" lIns="0" tIns="0" rIns="0" bIns="0" rtlCol="0" anchor="ctr"/>
          <a:lstStyle/>
          <a:p>
            <a:pPr marL="0" indent="0" algn="l">
              <a:buNone/>
            </a:pPr>
            <a:r>
              <a:rPr lang="en-US" sz="1150" dirty="0">
                <a:solidFill>
                  <a:srgbClr val="F3B441"/>
                </a:solidFill>
                <a:latin typeface="Calibri" pitchFamily="34" charset="0"/>
                <a:ea typeface="Calibri" pitchFamily="34" charset="-122"/>
                <a:cs typeface="Calibri" pitchFamily="34" charset="-120"/>
              </a:rPr>
              <a:t>Recommended</a:t>
            </a:r>
            <a:endParaRPr lang="en-US" sz="1150" dirty="0"/>
          </a:p>
        </p:txBody>
      </p:sp>
      <p:sp>
        <p:nvSpPr>
          <p:cNvPr id="23" name="Text 21"/>
          <p:cNvSpPr/>
          <p:nvPr/>
        </p:nvSpPr>
        <p:spPr>
          <a:xfrm>
            <a:off x="5369229" y="3447288"/>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will place the first orders manually and do not mind an empty book.</a:t>
            </a:r>
            <a:endParaRPr lang="en-US" sz="1150" dirty="0"/>
          </a:p>
        </p:txBody>
      </p:sp>
      <p:sp>
        <p:nvSpPr>
          <p:cNvPr id="24" name="Shape 22"/>
          <p:cNvSpPr/>
          <p:nvPr/>
        </p:nvSpPr>
        <p:spPr>
          <a:xfrm>
            <a:off x="640080" y="3794760"/>
            <a:ext cx="10911535" cy="347472"/>
          </a:xfrm>
          <a:prstGeom prst="rect">
            <a:avLst/>
          </a:prstGeom>
          <a:solidFill>
            <a:srgbClr val="252B33"/>
          </a:solidFill>
          <a:ln w="12700">
            <a:solidFill>
              <a:srgbClr val="333333"/>
            </a:solidFill>
            <a:prstDash val="solid"/>
          </a:ln>
        </p:spPr>
        <p:txBody>
          <a:bodyPr/>
          <a:lstStyle/>
          <a:p>
            <a:endParaRPr lang="en-SE"/>
          </a:p>
        </p:txBody>
      </p:sp>
      <p:sp>
        <p:nvSpPr>
          <p:cNvPr id="25" name="Text 23"/>
          <p:cNvSpPr/>
          <p:nvPr/>
        </p:nvSpPr>
        <p:spPr>
          <a:xfrm>
            <a:off x="786384" y="3794760"/>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risk_controls</a:t>
            </a:r>
            <a:endParaRPr lang="en-US" sz="1150" dirty="0"/>
          </a:p>
        </p:txBody>
      </p:sp>
      <p:sp>
        <p:nvSpPr>
          <p:cNvPr id="26" name="Text 24"/>
          <p:cNvSpPr/>
          <p:nvPr/>
        </p:nvSpPr>
        <p:spPr>
          <a:xfrm>
            <a:off x="3623383" y="3794760"/>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27" name="Text 25"/>
          <p:cNvSpPr/>
          <p:nvPr/>
        </p:nvSpPr>
        <p:spPr>
          <a:xfrm>
            <a:off x="5369229" y="3794760"/>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Default collar bands of 20% static and 2% dynamic are fine for you.</a:t>
            </a:r>
            <a:endParaRPr lang="en-US" sz="1150" dirty="0"/>
          </a:p>
        </p:txBody>
      </p:sp>
      <p:sp>
        <p:nvSpPr>
          <p:cNvPr id="28" name="Text 26"/>
          <p:cNvSpPr/>
          <p:nvPr/>
        </p:nvSpPr>
        <p:spPr>
          <a:xfrm>
            <a:off x="786384" y="4142232"/>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circuit_breaker_defaults</a:t>
            </a:r>
            <a:endParaRPr lang="en-US" sz="1150" dirty="0"/>
          </a:p>
        </p:txBody>
      </p:sp>
      <p:sp>
        <p:nvSpPr>
          <p:cNvPr id="29" name="Text 27"/>
          <p:cNvSpPr/>
          <p:nvPr/>
        </p:nvSpPr>
        <p:spPr>
          <a:xfrm>
            <a:off x="3623383" y="4142232"/>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30" name="Text 28"/>
          <p:cNvSpPr/>
          <p:nvPr/>
        </p:nvSpPr>
        <p:spPr>
          <a:xfrm>
            <a:off x="5369229" y="4142232"/>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built-in 7/13/20 percent ladder suits your scenario.</a:t>
            </a:r>
            <a:endParaRPr lang="en-US" sz="1150" dirty="0"/>
          </a:p>
        </p:txBody>
      </p:sp>
      <p:sp>
        <p:nvSpPr>
          <p:cNvPr id="31" name="Shape 29"/>
          <p:cNvSpPr/>
          <p:nvPr/>
        </p:nvSpPr>
        <p:spPr>
          <a:xfrm>
            <a:off x="640080" y="4489704"/>
            <a:ext cx="10911535" cy="347472"/>
          </a:xfrm>
          <a:prstGeom prst="rect">
            <a:avLst/>
          </a:prstGeom>
          <a:solidFill>
            <a:srgbClr val="252B33"/>
          </a:solidFill>
          <a:ln w="12700">
            <a:solidFill>
              <a:srgbClr val="333333"/>
            </a:solidFill>
            <a:prstDash val="solid"/>
          </a:ln>
        </p:spPr>
        <p:txBody>
          <a:bodyPr/>
          <a:lstStyle/>
          <a:p>
            <a:endParaRPr lang="en-SE"/>
          </a:p>
        </p:txBody>
      </p:sp>
      <p:sp>
        <p:nvSpPr>
          <p:cNvPr id="32" name="Text 30"/>
          <p:cNvSpPr/>
          <p:nvPr/>
        </p:nvSpPr>
        <p:spPr>
          <a:xfrm>
            <a:off x="786384" y="4489704"/>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mm_obligation_defaults</a:t>
            </a:r>
            <a:endParaRPr lang="en-US" sz="1150" dirty="0"/>
          </a:p>
        </p:txBody>
      </p:sp>
      <p:sp>
        <p:nvSpPr>
          <p:cNvPr id="33" name="Text 31"/>
          <p:cNvSpPr/>
          <p:nvPr/>
        </p:nvSpPr>
        <p:spPr>
          <a:xfrm>
            <a:off x="3623383" y="4489704"/>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34" name="Text 32"/>
          <p:cNvSpPr/>
          <p:nvPr/>
        </p:nvSpPr>
        <p:spPr>
          <a:xfrm>
            <a:off x="5369229" y="4489704"/>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are not grading market makers on quote quality.</a:t>
            </a:r>
            <a:endParaRPr lang="en-US" sz="1150" dirty="0"/>
          </a:p>
        </p:txBody>
      </p:sp>
      <p:sp>
        <p:nvSpPr>
          <p:cNvPr id="35" name="Text 33"/>
          <p:cNvSpPr/>
          <p:nvPr/>
        </p:nvSpPr>
        <p:spPr>
          <a:xfrm>
            <a:off x="786384" y="4837176"/>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indices</a:t>
            </a:r>
            <a:endParaRPr lang="en-US" sz="1150" dirty="0"/>
          </a:p>
        </p:txBody>
      </p:sp>
      <p:sp>
        <p:nvSpPr>
          <p:cNvPr id="36" name="Text 34"/>
          <p:cNvSpPr/>
          <p:nvPr/>
        </p:nvSpPr>
        <p:spPr>
          <a:xfrm>
            <a:off x="3623383" y="4837176"/>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37" name="Text 35"/>
          <p:cNvSpPr/>
          <p:nvPr/>
        </p:nvSpPr>
        <p:spPr>
          <a:xfrm>
            <a:off x="5369229" y="4837176"/>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do not need an index published.</a:t>
            </a:r>
            <a:endParaRPr lang="en-US" sz="1150" dirty="0"/>
          </a:p>
        </p:txBody>
      </p:sp>
      <p:sp>
        <p:nvSpPr>
          <p:cNvPr id="38" name="Shape 36"/>
          <p:cNvSpPr/>
          <p:nvPr/>
        </p:nvSpPr>
        <p:spPr>
          <a:xfrm>
            <a:off x="640080" y="5184648"/>
            <a:ext cx="10911535" cy="347472"/>
          </a:xfrm>
          <a:prstGeom prst="rect">
            <a:avLst/>
          </a:prstGeom>
          <a:solidFill>
            <a:srgbClr val="252B33"/>
          </a:solidFill>
          <a:ln w="12700">
            <a:solidFill>
              <a:srgbClr val="333333"/>
            </a:solidFill>
            <a:prstDash val="solid"/>
          </a:ln>
        </p:spPr>
        <p:txBody>
          <a:bodyPr/>
          <a:lstStyle/>
          <a:p>
            <a:endParaRPr lang="en-SE"/>
          </a:p>
        </p:txBody>
      </p:sp>
      <p:sp>
        <p:nvSpPr>
          <p:cNvPr id="39" name="Text 37"/>
          <p:cNvSpPr/>
          <p:nvPr/>
        </p:nvSpPr>
        <p:spPr>
          <a:xfrm>
            <a:off x="786384" y="5184648"/>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market_maker_combos</a:t>
            </a:r>
            <a:endParaRPr lang="en-US" sz="1150" dirty="0"/>
          </a:p>
        </p:txBody>
      </p:sp>
      <p:sp>
        <p:nvSpPr>
          <p:cNvPr id="40" name="Text 38"/>
          <p:cNvSpPr/>
          <p:nvPr/>
        </p:nvSpPr>
        <p:spPr>
          <a:xfrm>
            <a:off x="3623383" y="5184648"/>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41" name="Text 39"/>
          <p:cNvSpPr/>
          <p:nvPr/>
        </p:nvSpPr>
        <p:spPr>
          <a:xfrm>
            <a:off x="5369229" y="5184648"/>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are not teaching multi-leg orders yet.</a:t>
            </a:r>
            <a:endParaRPr lang="en-US" sz="1150" dirty="0"/>
          </a:p>
        </p:txBody>
      </p:sp>
      <p:sp>
        <p:nvSpPr>
          <p:cNvPr id="42" name="Text 40"/>
          <p:cNvSpPr/>
          <p:nvPr/>
        </p:nvSpPr>
        <p:spPr>
          <a:xfrm>
            <a:off x="786384" y="5532120"/>
            <a:ext cx="2617543" cy="347472"/>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The seven gateway blocks</a:t>
            </a:r>
            <a:endParaRPr lang="en-US" sz="1150" dirty="0"/>
          </a:p>
        </p:txBody>
      </p:sp>
      <p:sp>
        <p:nvSpPr>
          <p:cNvPr id="43" name="Text 41"/>
          <p:cNvSpPr/>
          <p:nvPr/>
        </p:nvSpPr>
        <p:spPr>
          <a:xfrm>
            <a:off x="3623383" y="5532120"/>
            <a:ext cx="1526390"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Optional</a:t>
            </a:r>
            <a:endParaRPr lang="en-US" sz="1150" dirty="0"/>
          </a:p>
        </p:txBody>
      </p:sp>
      <p:sp>
        <p:nvSpPr>
          <p:cNvPr id="44" name="Text 42"/>
          <p:cNvSpPr/>
          <p:nvPr/>
        </p:nvSpPr>
        <p:spPr>
          <a:xfrm>
            <a:off x="5369229" y="5532120"/>
            <a:ext cx="6109234" cy="347472"/>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Everyone connects with the bundled console tools.</a:t>
            </a:r>
            <a:endParaRPr lang="en-US" sz="1150" dirty="0"/>
          </a:p>
        </p:txBody>
      </p:sp>
      <p:sp>
        <p:nvSpPr>
          <p:cNvPr id="45" name="Text 43"/>
          <p:cNvSpPr/>
          <p:nvPr/>
        </p:nvSpPr>
        <p:spPr>
          <a:xfrm>
            <a:off x="640080" y="6035040"/>
            <a:ext cx="10911535" cy="292608"/>
          </a:xfrm>
          <a:prstGeom prst="rect">
            <a:avLst/>
          </a:prstGeom>
          <a:noFill/>
          <a:ln/>
        </p:spPr>
        <p:txBody>
          <a:bodyPr wrap="square" lIns="0" tIns="0" rIns="0" bIns="0" rtlCol="0" anchor="ctr"/>
          <a:lstStyle/>
          <a:p>
            <a:pPr marL="0" indent="0">
              <a:buNone/>
            </a:pPr>
            <a:r>
              <a:rPr lang="en-US" sz="1250" i="1" dirty="0">
                <a:solidFill>
                  <a:srgbClr val="8D97A5"/>
                </a:solidFill>
                <a:latin typeface="Calibri" pitchFamily="34" charset="0"/>
                <a:ea typeface="Calibri" pitchFamily="34" charset="-122"/>
                <a:cs typeface="Calibri" pitchFamily="34" charset="-120"/>
              </a:rPr>
              <a:t>Start with the two required sections plus a schedule and a seed quote. Add the rest when you have a reason.</a:t>
            </a:r>
            <a:endParaRPr lang="en-US" sz="1250" dirty="0"/>
          </a:p>
        </p:txBody>
      </p:sp>
      <p:sp>
        <p:nvSpPr>
          <p:cNvPr id="46" name="Text 4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47" name="Text 4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CONNECTIVITY AT A GLANCE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Every default port in one picture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If two blocks end up on the same port, nothing starts. This is the map to check against.</a:t>
            </a:r>
            <a:endParaRPr lang="en-US" sz="1450" dirty="0"/>
          </a:p>
        </p:txBody>
      </p:sp>
      <p:sp>
        <p:nvSpPr>
          <p:cNvPr id="6" name="Shape 4"/>
          <p:cNvSpPr/>
          <p:nvPr/>
        </p:nvSpPr>
        <p:spPr>
          <a:xfrm>
            <a:off x="640080" y="2011680"/>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11680"/>
            <a:ext cx="50292" cy="100584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59536" y="2139696"/>
            <a:ext cx="2197532" cy="384048"/>
          </a:xfrm>
          <a:prstGeom prst="rect">
            <a:avLst/>
          </a:prstGeom>
          <a:noFill/>
          <a:ln/>
        </p:spPr>
        <p:txBody>
          <a:bodyPr wrap="square" lIns="0" tIns="0" rIns="0" bIns="0" rtlCol="0" anchor="ctr"/>
          <a:lstStyle/>
          <a:p>
            <a:pPr marL="0" indent="0">
              <a:buNone/>
            </a:pPr>
            <a:r>
              <a:rPr lang="en-US" sz="2000" b="1" dirty="0">
                <a:solidFill>
                  <a:srgbClr val="34D6BE"/>
                </a:solidFill>
                <a:latin typeface="Consolas" pitchFamily="34" charset="0"/>
                <a:ea typeface="Consolas" pitchFamily="34" charset="-122"/>
                <a:cs typeface="Consolas" pitchFamily="34" charset="-120"/>
              </a:rPr>
              <a:t>5555</a:t>
            </a:r>
            <a:endParaRPr lang="en-US" sz="2000" dirty="0"/>
          </a:p>
        </p:txBody>
      </p:sp>
      <p:sp>
        <p:nvSpPr>
          <p:cNvPr id="9" name="Text 7"/>
          <p:cNvSpPr/>
          <p:nvPr/>
        </p:nvSpPr>
        <p:spPr>
          <a:xfrm>
            <a:off x="859536" y="2523744"/>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Engine PULL</a:t>
            </a:r>
            <a:endParaRPr lang="en-US" sz="1150" dirty="0"/>
          </a:p>
        </p:txBody>
      </p:sp>
      <p:sp>
        <p:nvSpPr>
          <p:cNvPr id="10" name="Text 8"/>
          <p:cNvSpPr/>
          <p:nvPr/>
        </p:nvSpPr>
        <p:spPr>
          <a:xfrm>
            <a:off x="859536" y="2761488"/>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orders in</a:t>
            </a:r>
            <a:endParaRPr lang="en-US" sz="1050" dirty="0"/>
          </a:p>
        </p:txBody>
      </p:sp>
      <p:sp>
        <p:nvSpPr>
          <p:cNvPr id="11" name="Shape 9"/>
          <p:cNvSpPr/>
          <p:nvPr/>
        </p:nvSpPr>
        <p:spPr>
          <a:xfrm>
            <a:off x="3367964" y="2011680"/>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3367964" y="2011680"/>
            <a:ext cx="50292" cy="1005840"/>
          </a:xfrm>
          <a:prstGeom prst="rect">
            <a:avLst/>
          </a:prstGeom>
          <a:solidFill>
            <a:srgbClr val="34D6BE"/>
          </a:solidFill>
          <a:ln w="12700">
            <a:solidFill>
              <a:srgbClr val="333333"/>
            </a:solidFill>
            <a:prstDash val="solid"/>
          </a:ln>
        </p:spPr>
        <p:txBody>
          <a:bodyPr/>
          <a:lstStyle/>
          <a:p>
            <a:endParaRPr lang="en-SE"/>
          </a:p>
        </p:txBody>
      </p:sp>
      <p:sp>
        <p:nvSpPr>
          <p:cNvPr id="13" name="Text 11"/>
          <p:cNvSpPr/>
          <p:nvPr/>
        </p:nvSpPr>
        <p:spPr>
          <a:xfrm>
            <a:off x="3587420" y="2139696"/>
            <a:ext cx="2197532" cy="384048"/>
          </a:xfrm>
          <a:prstGeom prst="rect">
            <a:avLst/>
          </a:prstGeom>
          <a:noFill/>
          <a:ln/>
        </p:spPr>
        <p:txBody>
          <a:bodyPr wrap="square" lIns="0" tIns="0" rIns="0" bIns="0" rtlCol="0" anchor="ctr"/>
          <a:lstStyle/>
          <a:p>
            <a:pPr marL="0" indent="0">
              <a:buNone/>
            </a:pPr>
            <a:r>
              <a:rPr lang="en-US" sz="2000" b="1" dirty="0">
                <a:solidFill>
                  <a:srgbClr val="34D6BE"/>
                </a:solidFill>
                <a:latin typeface="Consolas" pitchFamily="34" charset="0"/>
                <a:ea typeface="Consolas" pitchFamily="34" charset="-122"/>
                <a:cs typeface="Consolas" pitchFamily="34" charset="-120"/>
              </a:rPr>
              <a:t>5556</a:t>
            </a:r>
            <a:endParaRPr lang="en-US" sz="2000" dirty="0"/>
          </a:p>
        </p:txBody>
      </p:sp>
      <p:sp>
        <p:nvSpPr>
          <p:cNvPr id="14" name="Text 12"/>
          <p:cNvSpPr/>
          <p:nvPr/>
        </p:nvSpPr>
        <p:spPr>
          <a:xfrm>
            <a:off x="3587420" y="2523744"/>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Engine PUB</a:t>
            </a:r>
            <a:endParaRPr lang="en-US" sz="1150" dirty="0"/>
          </a:p>
        </p:txBody>
      </p:sp>
      <p:sp>
        <p:nvSpPr>
          <p:cNvPr id="15" name="Text 13"/>
          <p:cNvSpPr/>
          <p:nvPr/>
        </p:nvSpPr>
        <p:spPr>
          <a:xfrm>
            <a:off x="3587420" y="2761488"/>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events out</a:t>
            </a:r>
            <a:endParaRPr lang="en-US" sz="1050" dirty="0"/>
          </a:p>
        </p:txBody>
      </p:sp>
      <p:sp>
        <p:nvSpPr>
          <p:cNvPr id="16" name="Shape 14"/>
          <p:cNvSpPr/>
          <p:nvPr/>
        </p:nvSpPr>
        <p:spPr>
          <a:xfrm>
            <a:off x="6095848" y="2011680"/>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6095848" y="2011680"/>
            <a:ext cx="50292" cy="1005840"/>
          </a:xfrm>
          <a:prstGeom prst="rect">
            <a:avLst/>
          </a:prstGeom>
          <a:solidFill>
            <a:srgbClr val="34D6BE"/>
          </a:solidFill>
          <a:ln w="12700">
            <a:solidFill>
              <a:srgbClr val="333333"/>
            </a:solidFill>
            <a:prstDash val="solid"/>
          </a:ln>
        </p:spPr>
        <p:txBody>
          <a:bodyPr/>
          <a:lstStyle/>
          <a:p>
            <a:endParaRPr lang="en-SE"/>
          </a:p>
        </p:txBody>
      </p:sp>
      <p:sp>
        <p:nvSpPr>
          <p:cNvPr id="18" name="Text 16"/>
          <p:cNvSpPr/>
          <p:nvPr/>
        </p:nvSpPr>
        <p:spPr>
          <a:xfrm>
            <a:off x="6315304" y="2139696"/>
            <a:ext cx="2197532" cy="384048"/>
          </a:xfrm>
          <a:prstGeom prst="rect">
            <a:avLst/>
          </a:prstGeom>
          <a:noFill/>
          <a:ln/>
        </p:spPr>
        <p:txBody>
          <a:bodyPr wrap="square" lIns="0" tIns="0" rIns="0" bIns="0" rtlCol="0" anchor="ctr"/>
          <a:lstStyle/>
          <a:p>
            <a:pPr marL="0" indent="0">
              <a:buNone/>
            </a:pPr>
            <a:r>
              <a:rPr lang="en-US" sz="2000" b="1" dirty="0">
                <a:solidFill>
                  <a:srgbClr val="34D6BE"/>
                </a:solidFill>
                <a:latin typeface="Consolas" pitchFamily="34" charset="0"/>
                <a:ea typeface="Consolas" pitchFamily="34" charset="-122"/>
                <a:cs typeface="Consolas" pitchFamily="34" charset="-120"/>
              </a:rPr>
              <a:t>5557</a:t>
            </a:r>
            <a:endParaRPr lang="en-US" sz="2000" dirty="0"/>
          </a:p>
        </p:txBody>
      </p:sp>
      <p:sp>
        <p:nvSpPr>
          <p:cNvPr id="19" name="Text 17"/>
          <p:cNvSpPr/>
          <p:nvPr/>
        </p:nvSpPr>
        <p:spPr>
          <a:xfrm>
            <a:off x="6315304" y="2523744"/>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Engine PUB</a:t>
            </a:r>
            <a:endParaRPr lang="en-US" sz="1150" dirty="0"/>
          </a:p>
        </p:txBody>
      </p:sp>
      <p:sp>
        <p:nvSpPr>
          <p:cNvPr id="20" name="Text 18"/>
          <p:cNvSpPr/>
          <p:nvPr/>
        </p:nvSpPr>
        <p:spPr>
          <a:xfrm>
            <a:off x="6315304" y="2761488"/>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drop copy</a:t>
            </a:r>
            <a:endParaRPr lang="en-US" sz="1050" dirty="0"/>
          </a:p>
        </p:txBody>
      </p:sp>
      <p:sp>
        <p:nvSpPr>
          <p:cNvPr id="21" name="Shape 19"/>
          <p:cNvSpPr/>
          <p:nvPr/>
        </p:nvSpPr>
        <p:spPr>
          <a:xfrm>
            <a:off x="8823731" y="2011680"/>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8823731" y="2011680"/>
            <a:ext cx="50292" cy="1005840"/>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9043187" y="2139696"/>
            <a:ext cx="2197532" cy="384048"/>
          </a:xfrm>
          <a:prstGeom prst="rect">
            <a:avLst/>
          </a:prstGeom>
          <a:noFill/>
          <a:ln/>
        </p:spPr>
        <p:txBody>
          <a:bodyPr wrap="square" lIns="0" tIns="0" rIns="0" bIns="0" rtlCol="0" anchor="ctr"/>
          <a:lstStyle/>
          <a:p>
            <a:pPr marL="0" indent="0">
              <a:buNone/>
            </a:pPr>
            <a:r>
              <a:rPr lang="en-US" sz="2000" b="1" dirty="0">
                <a:solidFill>
                  <a:srgbClr val="5AB2F7"/>
                </a:solidFill>
                <a:latin typeface="Consolas" pitchFamily="34" charset="0"/>
                <a:ea typeface="Consolas" pitchFamily="34" charset="-122"/>
                <a:cs typeface="Consolas" pitchFamily="34" charset="-120"/>
              </a:rPr>
              <a:t>5560</a:t>
            </a:r>
            <a:endParaRPr lang="en-US" sz="2000" dirty="0"/>
          </a:p>
        </p:txBody>
      </p:sp>
      <p:sp>
        <p:nvSpPr>
          <p:cNvPr id="24" name="Text 22"/>
          <p:cNvSpPr/>
          <p:nvPr/>
        </p:nvSpPr>
        <p:spPr>
          <a:xfrm>
            <a:off x="9043187" y="2523744"/>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balf_gateway</a:t>
            </a:r>
            <a:endParaRPr lang="en-US" sz="1150" dirty="0"/>
          </a:p>
        </p:txBody>
      </p:sp>
      <p:sp>
        <p:nvSpPr>
          <p:cNvPr id="25" name="Text 23"/>
          <p:cNvSpPr/>
          <p:nvPr/>
        </p:nvSpPr>
        <p:spPr>
          <a:xfrm>
            <a:off x="9043187" y="2761488"/>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binary order entry</a:t>
            </a:r>
            <a:endParaRPr lang="en-US" sz="1050" dirty="0"/>
          </a:p>
        </p:txBody>
      </p:sp>
      <p:sp>
        <p:nvSpPr>
          <p:cNvPr id="26" name="Shape 24"/>
          <p:cNvSpPr/>
          <p:nvPr/>
        </p:nvSpPr>
        <p:spPr>
          <a:xfrm>
            <a:off x="640080" y="3182112"/>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640080" y="3182112"/>
            <a:ext cx="50292" cy="1005840"/>
          </a:xfrm>
          <a:prstGeom prst="rect">
            <a:avLst/>
          </a:prstGeom>
          <a:solidFill>
            <a:srgbClr val="5AB2F7"/>
          </a:solidFill>
          <a:ln w="12700">
            <a:solidFill>
              <a:srgbClr val="333333"/>
            </a:solidFill>
            <a:prstDash val="solid"/>
          </a:ln>
        </p:spPr>
        <p:txBody>
          <a:bodyPr/>
          <a:lstStyle/>
          <a:p>
            <a:endParaRPr lang="en-SE"/>
          </a:p>
        </p:txBody>
      </p:sp>
      <p:sp>
        <p:nvSpPr>
          <p:cNvPr id="28" name="Text 26"/>
          <p:cNvSpPr/>
          <p:nvPr/>
        </p:nvSpPr>
        <p:spPr>
          <a:xfrm>
            <a:off x="859536" y="3310128"/>
            <a:ext cx="2197532" cy="384048"/>
          </a:xfrm>
          <a:prstGeom prst="rect">
            <a:avLst/>
          </a:prstGeom>
          <a:noFill/>
          <a:ln/>
        </p:spPr>
        <p:txBody>
          <a:bodyPr wrap="square" lIns="0" tIns="0" rIns="0" bIns="0" rtlCol="0" anchor="ctr"/>
          <a:lstStyle/>
          <a:p>
            <a:pPr marL="0" indent="0">
              <a:buNone/>
            </a:pPr>
            <a:r>
              <a:rPr lang="en-US" sz="2000" b="1" dirty="0">
                <a:solidFill>
                  <a:srgbClr val="5AB2F7"/>
                </a:solidFill>
                <a:latin typeface="Consolas" pitchFamily="34" charset="0"/>
                <a:ea typeface="Consolas" pitchFamily="34" charset="-122"/>
                <a:cs typeface="Consolas" pitchFamily="34" charset="-120"/>
              </a:rPr>
              <a:t>5565</a:t>
            </a:r>
            <a:endParaRPr lang="en-US" sz="2000" dirty="0"/>
          </a:p>
        </p:txBody>
      </p:sp>
      <p:sp>
        <p:nvSpPr>
          <p:cNvPr id="29" name="Text 27"/>
          <p:cNvSpPr/>
          <p:nvPr/>
        </p:nvSpPr>
        <p:spPr>
          <a:xfrm>
            <a:off x="859536" y="3694176"/>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alf_gateway</a:t>
            </a:r>
            <a:endParaRPr lang="en-US" sz="1150" dirty="0"/>
          </a:p>
        </p:txBody>
      </p:sp>
      <p:sp>
        <p:nvSpPr>
          <p:cNvPr id="30" name="Text 28"/>
          <p:cNvSpPr/>
          <p:nvPr/>
        </p:nvSpPr>
        <p:spPr>
          <a:xfrm>
            <a:off x="859536" y="3931920"/>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text order entry</a:t>
            </a:r>
            <a:endParaRPr lang="en-US" sz="1050" dirty="0"/>
          </a:p>
        </p:txBody>
      </p:sp>
      <p:sp>
        <p:nvSpPr>
          <p:cNvPr id="31" name="Shape 29"/>
          <p:cNvSpPr/>
          <p:nvPr/>
        </p:nvSpPr>
        <p:spPr>
          <a:xfrm>
            <a:off x="3367964" y="3182112"/>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32" name="Shape 30"/>
          <p:cNvSpPr/>
          <p:nvPr/>
        </p:nvSpPr>
        <p:spPr>
          <a:xfrm>
            <a:off x="3367964" y="3182112"/>
            <a:ext cx="50292" cy="1005840"/>
          </a:xfrm>
          <a:prstGeom prst="rect">
            <a:avLst/>
          </a:prstGeom>
          <a:solidFill>
            <a:srgbClr val="9B8CFF"/>
          </a:solidFill>
          <a:ln w="12700">
            <a:solidFill>
              <a:srgbClr val="333333"/>
            </a:solidFill>
            <a:prstDash val="solid"/>
          </a:ln>
        </p:spPr>
        <p:txBody>
          <a:bodyPr/>
          <a:lstStyle/>
          <a:p>
            <a:endParaRPr lang="en-SE"/>
          </a:p>
        </p:txBody>
      </p:sp>
      <p:sp>
        <p:nvSpPr>
          <p:cNvPr id="33" name="Text 31"/>
          <p:cNvSpPr/>
          <p:nvPr/>
        </p:nvSpPr>
        <p:spPr>
          <a:xfrm>
            <a:off x="3587420" y="3310128"/>
            <a:ext cx="2197532" cy="384048"/>
          </a:xfrm>
          <a:prstGeom prst="rect">
            <a:avLst/>
          </a:prstGeom>
          <a:noFill/>
          <a:ln/>
        </p:spPr>
        <p:txBody>
          <a:bodyPr wrap="square" lIns="0" tIns="0" rIns="0" bIns="0" rtlCol="0" anchor="ctr"/>
          <a:lstStyle/>
          <a:p>
            <a:pPr marL="0" indent="0">
              <a:buNone/>
            </a:pPr>
            <a:r>
              <a:rPr lang="en-US" sz="2000" b="1" dirty="0">
                <a:solidFill>
                  <a:srgbClr val="9B8CFF"/>
                </a:solidFill>
                <a:latin typeface="Consolas" pitchFamily="34" charset="0"/>
                <a:ea typeface="Consolas" pitchFamily="34" charset="-122"/>
                <a:cs typeface="Consolas" pitchFamily="34" charset="-120"/>
              </a:rPr>
              <a:t>5570</a:t>
            </a:r>
            <a:endParaRPr lang="en-US" sz="2000" dirty="0"/>
          </a:p>
        </p:txBody>
      </p:sp>
      <p:sp>
        <p:nvSpPr>
          <p:cNvPr id="34" name="Text 32"/>
          <p:cNvSpPr/>
          <p:nvPr/>
        </p:nvSpPr>
        <p:spPr>
          <a:xfrm>
            <a:off x="3587420" y="3694176"/>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market_data_gateway</a:t>
            </a:r>
            <a:endParaRPr lang="en-US" sz="1150" dirty="0"/>
          </a:p>
        </p:txBody>
      </p:sp>
      <p:sp>
        <p:nvSpPr>
          <p:cNvPr id="35" name="Text 33"/>
          <p:cNvSpPr/>
          <p:nvPr/>
        </p:nvSpPr>
        <p:spPr>
          <a:xfrm>
            <a:off x="3587420" y="3931920"/>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CALF market data</a:t>
            </a:r>
            <a:endParaRPr lang="en-US" sz="1050" dirty="0"/>
          </a:p>
        </p:txBody>
      </p:sp>
      <p:sp>
        <p:nvSpPr>
          <p:cNvPr id="36" name="Shape 34"/>
          <p:cNvSpPr/>
          <p:nvPr/>
        </p:nvSpPr>
        <p:spPr>
          <a:xfrm>
            <a:off x="6095848" y="3182112"/>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37" name="Shape 35"/>
          <p:cNvSpPr/>
          <p:nvPr/>
        </p:nvSpPr>
        <p:spPr>
          <a:xfrm>
            <a:off x="6095848" y="3182112"/>
            <a:ext cx="50292" cy="1005840"/>
          </a:xfrm>
          <a:prstGeom prst="rect">
            <a:avLst/>
          </a:prstGeom>
          <a:solidFill>
            <a:srgbClr val="F3B441"/>
          </a:solidFill>
          <a:ln w="12700">
            <a:solidFill>
              <a:srgbClr val="333333"/>
            </a:solidFill>
            <a:prstDash val="solid"/>
          </a:ln>
        </p:spPr>
        <p:txBody>
          <a:bodyPr/>
          <a:lstStyle/>
          <a:p>
            <a:endParaRPr lang="en-SE"/>
          </a:p>
        </p:txBody>
      </p:sp>
      <p:sp>
        <p:nvSpPr>
          <p:cNvPr id="38" name="Text 36"/>
          <p:cNvSpPr/>
          <p:nvPr/>
        </p:nvSpPr>
        <p:spPr>
          <a:xfrm>
            <a:off x="6315304" y="3310128"/>
            <a:ext cx="2197532" cy="384048"/>
          </a:xfrm>
          <a:prstGeom prst="rect">
            <a:avLst/>
          </a:prstGeom>
          <a:noFill/>
          <a:ln/>
        </p:spPr>
        <p:txBody>
          <a:bodyPr wrap="square" lIns="0" tIns="0" rIns="0" bIns="0" rtlCol="0" anchor="ctr"/>
          <a:lstStyle/>
          <a:p>
            <a:pPr marL="0" indent="0">
              <a:buNone/>
            </a:pPr>
            <a:r>
              <a:rPr lang="en-US" sz="2000" b="1" dirty="0">
                <a:solidFill>
                  <a:srgbClr val="F3B441"/>
                </a:solidFill>
                <a:latin typeface="Consolas" pitchFamily="34" charset="0"/>
                <a:ea typeface="Consolas" pitchFamily="34" charset="-122"/>
                <a:cs typeface="Consolas" pitchFamily="34" charset="-120"/>
              </a:rPr>
              <a:t>5580</a:t>
            </a:r>
            <a:endParaRPr lang="en-US" sz="2000" dirty="0"/>
          </a:p>
        </p:txBody>
      </p:sp>
      <p:sp>
        <p:nvSpPr>
          <p:cNvPr id="39" name="Text 37"/>
          <p:cNvSpPr/>
          <p:nvPr/>
        </p:nvSpPr>
        <p:spPr>
          <a:xfrm>
            <a:off x="6315304" y="3694176"/>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post_trade_gateway</a:t>
            </a:r>
            <a:endParaRPr lang="en-US" sz="1150" dirty="0"/>
          </a:p>
        </p:txBody>
      </p:sp>
      <p:sp>
        <p:nvSpPr>
          <p:cNvPr id="40" name="Text 38"/>
          <p:cNvSpPr/>
          <p:nvPr/>
        </p:nvSpPr>
        <p:spPr>
          <a:xfrm>
            <a:off x="6315304" y="3931920"/>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RALF post-trade</a:t>
            </a:r>
            <a:endParaRPr lang="en-US" sz="1050" dirty="0"/>
          </a:p>
        </p:txBody>
      </p:sp>
      <p:sp>
        <p:nvSpPr>
          <p:cNvPr id="41" name="Shape 39"/>
          <p:cNvSpPr/>
          <p:nvPr/>
        </p:nvSpPr>
        <p:spPr>
          <a:xfrm>
            <a:off x="8823731" y="3182112"/>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42" name="Shape 40"/>
          <p:cNvSpPr/>
          <p:nvPr/>
        </p:nvSpPr>
        <p:spPr>
          <a:xfrm>
            <a:off x="8823731" y="3182112"/>
            <a:ext cx="50292" cy="1005840"/>
          </a:xfrm>
          <a:prstGeom prst="rect">
            <a:avLst/>
          </a:prstGeom>
          <a:solidFill>
            <a:srgbClr val="F3B441"/>
          </a:solidFill>
          <a:ln w="12700">
            <a:solidFill>
              <a:srgbClr val="333333"/>
            </a:solidFill>
            <a:prstDash val="solid"/>
          </a:ln>
        </p:spPr>
        <p:txBody>
          <a:bodyPr/>
          <a:lstStyle/>
          <a:p>
            <a:endParaRPr lang="en-SE"/>
          </a:p>
        </p:txBody>
      </p:sp>
      <p:sp>
        <p:nvSpPr>
          <p:cNvPr id="43" name="Text 41"/>
          <p:cNvSpPr/>
          <p:nvPr/>
        </p:nvSpPr>
        <p:spPr>
          <a:xfrm>
            <a:off x="9043187" y="3310128"/>
            <a:ext cx="2197532" cy="384048"/>
          </a:xfrm>
          <a:prstGeom prst="rect">
            <a:avLst/>
          </a:prstGeom>
          <a:noFill/>
          <a:ln/>
        </p:spPr>
        <p:txBody>
          <a:bodyPr wrap="square" lIns="0" tIns="0" rIns="0" bIns="0" rtlCol="0" anchor="ctr"/>
          <a:lstStyle/>
          <a:p>
            <a:pPr marL="0" indent="0">
              <a:buNone/>
            </a:pPr>
            <a:r>
              <a:rPr lang="en-US" sz="2000" b="1" dirty="0">
                <a:solidFill>
                  <a:srgbClr val="F3B441"/>
                </a:solidFill>
                <a:latin typeface="Consolas" pitchFamily="34" charset="0"/>
                <a:ea typeface="Consolas" pitchFamily="34" charset="-122"/>
                <a:cs typeface="Consolas" pitchFamily="34" charset="-120"/>
              </a:rPr>
              <a:t>5590</a:t>
            </a:r>
            <a:endParaRPr lang="en-US" sz="2000" dirty="0"/>
          </a:p>
        </p:txBody>
      </p:sp>
      <p:sp>
        <p:nvSpPr>
          <p:cNvPr id="44" name="Text 42"/>
          <p:cNvSpPr/>
          <p:nvPr/>
        </p:nvSpPr>
        <p:spPr>
          <a:xfrm>
            <a:off x="9043187" y="3694176"/>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dc_gateway</a:t>
            </a:r>
            <a:endParaRPr lang="en-US" sz="1150" dirty="0"/>
          </a:p>
        </p:txBody>
      </p:sp>
      <p:sp>
        <p:nvSpPr>
          <p:cNvPr id="45" name="Text 43"/>
          <p:cNvSpPr/>
          <p:nvPr/>
        </p:nvSpPr>
        <p:spPr>
          <a:xfrm>
            <a:off x="9043187" y="3931920"/>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drop-copy relay</a:t>
            </a:r>
            <a:endParaRPr lang="en-US" sz="1050" dirty="0"/>
          </a:p>
        </p:txBody>
      </p:sp>
      <p:sp>
        <p:nvSpPr>
          <p:cNvPr id="46" name="Shape 44"/>
          <p:cNvSpPr/>
          <p:nvPr/>
        </p:nvSpPr>
        <p:spPr>
          <a:xfrm>
            <a:off x="640080" y="4352544"/>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47" name="Shape 45"/>
          <p:cNvSpPr/>
          <p:nvPr/>
        </p:nvSpPr>
        <p:spPr>
          <a:xfrm>
            <a:off x="640080" y="4352544"/>
            <a:ext cx="50292" cy="1005840"/>
          </a:xfrm>
          <a:prstGeom prst="rect">
            <a:avLst/>
          </a:prstGeom>
          <a:solidFill>
            <a:srgbClr val="6BD98A"/>
          </a:solidFill>
          <a:ln w="12700">
            <a:solidFill>
              <a:srgbClr val="333333"/>
            </a:solidFill>
            <a:prstDash val="solid"/>
          </a:ln>
        </p:spPr>
        <p:txBody>
          <a:bodyPr/>
          <a:lstStyle/>
          <a:p>
            <a:endParaRPr lang="en-SE"/>
          </a:p>
        </p:txBody>
      </p:sp>
      <p:sp>
        <p:nvSpPr>
          <p:cNvPr id="48" name="Text 46"/>
          <p:cNvSpPr/>
          <p:nvPr/>
        </p:nvSpPr>
        <p:spPr>
          <a:xfrm>
            <a:off x="859536" y="4480560"/>
            <a:ext cx="2197532" cy="384048"/>
          </a:xfrm>
          <a:prstGeom prst="rect">
            <a:avLst/>
          </a:prstGeom>
          <a:noFill/>
          <a:ln/>
        </p:spPr>
        <p:txBody>
          <a:bodyPr wrap="square" lIns="0" tIns="0" rIns="0" bIns="0" rtlCol="0" anchor="ctr"/>
          <a:lstStyle/>
          <a:p>
            <a:pPr marL="0" indent="0">
              <a:buNone/>
            </a:pPr>
            <a:r>
              <a:rPr lang="en-US" sz="2000" b="1" dirty="0">
                <a:solidFill>
                  <a:srgbClr val="6BD98A"/>
                </a:solidFill>
                <a:latin typeface="Consolas" pitchFamily="34" charset="0"/>
                <a:ea typeface="Consolas" pitchFamily="34" charset="-122"/>
                <a:cs typeface="Consolas" pitchFamily="34" charset="-120"/>
              </a:rPr>
              <a:t>5600</a:t>
            </a:r>
            <a:endParaRPr lang="en-US" sz="2000" dirty="0"/>
          </a:p>
        </p:txBody>
      </p:sp>
      <p:sp>
        <p:nvSpPr>
          <p:cNvPr id="49" name="Text 47"/>
          <p:cNvSpPr/>
          <p:nvPr/>
        </p:nvSpPr>
        <p:spPr>
          <a:xfrm>
            <a:off x="859536" y="4864608"/>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log_server</a:t>
            </a:r>
            <a:endParaRPr lang="en-US" sz="1150" dirty="0"/>
          </a:p>
        </p:txBody>
      </p:sp>
      <p:sp>
        <p:nvSpPr>
          <p:cNvPr id="50" name="Text 48"/>
          <p:cNvSpPr/>
          <p:nvPr/>
        </p:nvSpPr>
        <p:spPr>
          <a:xfrm>
            <a:off x="859536" y="5102352"/>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LALF log collector</a:t>
            </a:r>
            <a:endParaRPr lang="en-US" sz="1050" dirty="0"/>
          </a:p>
        </p:txBody>
      </p:sp>
      <p:sp>
        <p:nvSpPr>
          <p:cNvPr id="51" name="Shape 49"/>
          <p:cNvSpPr/>
          <p:nvPr/>
        </p:nvSpPr>
        <p:spPr>
          <a:xfrm>
            <a:off x="3367964" y="4352544"/>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52" name="Shape 50"/>
          <p:cNvSpPr/>
          <p:nvPr/>
        </p:nvSpPr>
        <p:spPr>
          <a:xfrm>
            <a:off x="3367964" y="4352544"/>
            <a:ext cx="50292" cy="1005840"/>
          </a:xfrm>
          <a:prstGeom prst="rect">
            <a:avLst/>
          </a:prstGeom>
          <a:solidFill>
            <a:srgbClr val="6BD98A"/>
          </a:solidFill>
          <a:ln w="12700">
            <a:solidFill>
              <a:srgbClr val="333333"/>
            </a:solidFill>
            <a:prstDash val="solid"/>
          </a:ln>
        </p:spPr>
        <p:txBody>
          <a:bodyPr/>
          <a:lstStyle/>
          <a:p>
            <a:endParaRPr lang="en-SE"/>
          </a:p>
        </p:txBody>
      </p:sp>
      <p:sp>
        <p:nvSpPr>
          <p:cNvPr id="53" name="Text 51"/>
          <p:cNvSpPr/>
          <p:nvPr/>
        </p:nvSpPr>
        <p:spPr>
          <a:xfrm>
            <a:off x="3587420" y="4480560"/>
            <a:ext cx="2197532" cy="384048"/>
          </a:xfrm>
          <a:prstGeom prst="rect">
            <a:avLst/>
          </a:prstGeom>
          <a:noFill/>
          <a:ln/>
        </p:spPr>
        <p:txBody>
          <a:bodyPr wrap="square" lIns="0" tIns="0" rIns="0" bIns="0" rtlCol="0" anchor="ctr"/>
          <a:lstStyle/>
          <a:p>
            <a:pPr marL="0" indent="0">
              <a:buNone/>
            </a:pPr>
            <a:r>
              <a:rPr lang="en-US" sz="2000" b="1" dirty="0">
                <a:solidFill>
                  <a:srgbClr val="6BD98A"/>
                </a:solidFill>
                <a:latin typeface="Consolas" pitchFamily="34" charset="0"/>
                <a:ea typeface="Consolas" pitchFamily="34" charset="-122"/>
                <a:cs typeface="Consolas" pitchFamily="34" charset="-120"/>
              </a:rPr>
              <a:t>5601</a:t>
            </a:r>
            <a:endParaRPr lang="en-US" sz="2000" dirty="0"/>
          </a:p>
        </p:txBody>
      </p:sp>
      <p:sp>
        <p:nvSpPr>
          <p:cNvPr id="54" name="Text 52"/>
          <p:cNvSpPr/>
          <p:nvPr/>
        </p:nvSpPr>
        <p:spPr>
          <a:xfrm>
            <a:off x="3587420" y="4864608"/>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log_server pub</a:t>
            </a:r>
            <a:endParaRPr lang="en-US" sz="1150" dirty="0"/>
          </a:p>
        </p:txBody>
      </p:sp>
      <p:sp>
        <p:nvSpPr>
          <p:cNvPr id="55" name="Text 53"/>
          <p:cNvSpPr/>
          <p:nvPr/>
        </p:nvSpPr>
        <p:spPr>
          <a:xfrm>
            <a:off x="3587420" y="5102352"/>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log distribution</a:t>
            </a:r>
            <a:endParaRPr lang="en-US" sz="1050" dirty="0"/>
          </a:p>
        </p:txBody>
      </p:sp>
      <p:sp>
        <p:nvSpPr>
          <p:cNvPr id="56" name="Shape 54"/>
          <p:cNvSpPr/>
          <p:nvPr/>
        </p:nvSpPr>
        <p:spPr>
          <a:xfrm>
            <a:off x="6095848" y="4352544"/>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57" name="Shape 55"/>
          <p:cNvSpPr/>
          <p:nvPr/>
        </p:nvSpPr>
        <p:spPr>
          <a:xfrm>
            <a:off x="6095848" y="4352544"/>
            <a:ext cx="50292" cy="1005840"/>
          </a:xfrm>
          <a:prstGeom prst="rect">
            <a:avLst/>
          </a:prstGeom>
          <a:solidFill>
            <a:srgbClr val="6BD98A"/>
          </a:solidFill>
          <a:ln w="12700">
            <a:solidFill>
              <a:srgbClr val="333333"/>
            </a:solidFill>
            <a:prstDash val="solid"/>
          </a:ln>
        </p:spPr>
        <p:txBody>
          <a:bodyPr/>
          <a:lstStyle/>
          <a:p>
            <a:endParaRPr lang="en-SE"/>
          </a:p>
        </p:txBody>
      </p:sp>
      <p:sp>
        <p:nvSpPr>
          <p:cNvPr id="58" name="Text 56"/>
          <p:cNvSpPr/>
          <p:nvPr/>
        </p:nvSpPr>
        <p:spPr>
          <a:xfrm>
            <a:off x="6315304" y="4480560"/>
            <a:ext cx="2197532" cy="384048"/>
          </a:xfrm>
          <a:prstGeom prst="rect">
            <a:avLst/>
          </a:prstGeom>
          <a:noFill/>
          <a:ln/>
        </p:spPr>
        <p:txBody>
          <a:bodyPr wrap="square" lIns="0" tIns="0" rIns="0" bIns="0" rtlCol="0" anchor="ctr"/>
          <a:lstStyle/>
          <a:p>
            <a:pPr marL="0" indent="0">
              <a:buNone/>
            </a:pPr>
            <a:r>
              <a:rPr lang="en-US" sz="2000" b="1" dirty="0">
                <a:solidFill>
                  <a:srgbClr val="6BD98A"/>
                </a:solidFill>
                <a:latin typeface="Consolas" pitchFamily="34" charset="0"/>
                <a:ea typeface="Consolas" pitchFamily="34" charset="-122"/>
                <a:cs typeface="Consolas" pitchFamily="34" charset="-120"/>
              </a:rPr>
              <a:t>5602</a:t>
            </a:r>
            <a:endParaRPr lang="en-US" sz="2000" dirty="0"/>
          </a:p>
        </p:txBody>
      </p:sp>
      <p:sp>
        <p:nvSpPr>
          <p:cNvPr id="59" name="Text 57"/>
          <p:cNvSpPr/>
          <p:nvPr/>
        </p:nvSpPr>
        <p:spPr>
          <a:xfrm>
            <a:off x="6315304" y="4864608"/>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log_server pull</a:t>
            </a:r>
            <a:endParaRPr lang="en-US" sz="1150" dirty="0"/>
          </a:p>
        </p:txBody>
      </p:sp>
      <p:sp>
        <p:nvSpPr>
          <p:cNvPr id="60" name="Text 58"/>
          <p:cNvSpPr/>
          <p:nvPr/>
        </p:nvSpPr>
        <p:spPr>
          <a:xfrm>
            <a:off x="6315304" y="5102352"/>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subscriber control</a:t>
            </a:r>
            <a:endParaRPr lang="en-US" sz="1050" dirty="0"/>
          </a:p>
        </p:txBody>
      </p:sp>
      <p:sp>
        <p:nvSpPr>
          <p:cNvPr id="61" name="Shape 59"/>
          <p:cNvSpPr/>
          <p:nvPr/>
        </p:nvSpPr>
        <p:spPr>
          <a:xfrm>
            <a:off x="8823731" y="4352544"/>
            <a:ext cx="2563292" cy="1005840"/>
          </a:xfrm>
          <a:prstGeom prst="roundRect">
            <a:avLst>
              <a:gd name="adj" fmla="val 5455"/>
            </a:avLst>
          </a:prstGeom>
          <a:solidFill>
            <a:srgbClr val="252B33"/>
          </a:solidFill>
          <a:ln w="12700">
            <a:solidFill>
              <a:srgbClr val="3B4450"/>
            </a:solidFill>
            <a:prstDash val="solid"/>
          </a:ln>
        </p:spPr>
        <p:txBody>
          <a:bodyPr/>
          <a:lstStyle/>
          <a:p>
            <a:endParaRPr lang="en-SE"/>
          </a:p>
        </p:txBody>
      </p:sp>
      <p:sp>
        <p:nvSpPr>
          <p:cNvPr id="62" name="Shape 60"/>
          <p:cNvSpPr/>
          <p:nvPr/>
        </p:nvSpPr>
        <p:spPr>
          <a:xfrm>
            <a:off x="8823731" y="4352544"/>
            <a:ext cx="50292" cy="1005840"/>
          </a:xfrm>
          <a:prstGeom prst="rect">
            <a:avLst/>
          </a:prstGeom>
          <a:solidFill>
            <a:srgbClr val="FF7A6B"/>
          </a:solidFill>
          <a:ln w="12700">
            <a:solidFill>
              <a:srgbClr val="333333"/>
            </a:solidFill>
            <a:prstDash val="solid"/>
          </a:ln>
        </p:spPr>
        <p:txBody>
          <a:bodyPr/>
          <a:lstStyle/>
          <a:p>
            <a:endParaRPr lang="en-SE"/>
          </a:p>
        </p:txBody>
      </p:sp>
      <p:sp>
        <p:nvSpPr>
          <p:cNvPr id="63" name="Text 61"/>
          <p:cNvSpPr/>
          <p:nvPr/>
        </p:nvSpPr>
        <p:spPr>
          <a:xfrm>
            <a:off x="9043187" y="4480560"/>
            <a:ext cx="2197532" cy="384048"/>
          </a:xfrm>
          <a:prstGeom prst="rect">
            <a:avLst/>
          </a:prstGeom>
          <a:noFill/>
          <a:ln/>
        </p:spPr>
        <p:txBody>
          <a:bodyPr wrap="square" lIns="0" tIns="0" rIns="0" bIns="0" rtlCol="0" anchor="ctr"/>
          <a:lstStyle/>
          <a:p>
            <a:pPr marL="0" indent="0">
              <a:buNone/>
            </a:pPr>
            <a:r>
              <a:rPr lang="en-US" sz="2000" b="1" dirty="0">
                <a:solidFill>
                  <a:srgbClr val="FF7A6B"/>
                </a:solidFill>
                <a:latin typeface="Consolas" pitchFamily="34" charset="0"/>
                <a:ea typeface="Consolas" pitchFamily="34" charset="-122"/>
                <a:cs typeface="Consolas" pitchFamily="34" charset="-120"/>
              </a:rPr>
              <a:t>8080</a:t>
            </a:r>
            <a:endParaRPr lang="en-US" sz="2000" dirty="0"/>
          </a:p>
        </p:txBody>
      </p:sp>
      <p:sp>
        <p:nvSpPr>
          <p:cNvPr id="64" name="Text 62"/>
          <p:cNvSpPr/>
          <p:nvPr/>
        </p:nvSpPr>
        <p:spPr>
          <a:xfrm>
            <a:off x="9043187" y="4864608"/>
            <a:ext cx="2197532" cy="256032"/>
          </a:xfrm>
          <a:prstGeom prst="rect">
            <a:avLst/>
          </a:prstGeom>
          <a:noFill/>
          <a:ln/>
        </p:spPr>
        <p:txBody>
          <a:bodyPr wrap="square" lIns="0" tIns="0" rIns="0" bIns="0" rtlCol="0" anchor="ctr"/>
          <a:lstStyle/>
          <a:p>
            <a:pPr marL="0" indent="0">
              <a:buNone/>
            </a:pPr>
            <a:r>
              <a:rPr lang="en-US" sz="1150" b="1" dirty="0">
                <a:solidFill>
                  <a:srgbClr val="F1F4F8"/>
                </a:solidFill>
                <a:latin typeface="Calibri" pitchFamily="34" charset="0"/>
                <a:ea typeface="Calibri" pitchFamily="34" charset="-122"/>
                <a:cs typeface="Calibri" pitchFamily="34" charset="-120"/>
              </a:rPr>
              <a:t>api_gateways</a:t>
            </a:r>
            <a:endParaRPr lang="en-US" sz="1150" dirty="0"/>
          </a:p>
        </p:txBody>
      </p:sp>
      <p:sp>
        <p:nvSpPr>
          <p:cNvPr id="65" name="Text 63"/>
          <p:cNvSpPr/>
          <p:nvPr/>
        </p:nvSpPr>
        <p:spPr>
          <a:xfrm>
            <a:off x="9043187" y="5102352"/>
            <a:ext cx="2197532" cy="219456"/>
          </a:xfrm>
          <a:prstGeom prst="rect">
            <a:avLst/>
          </a:prstGeom>
          <a:noFill/>
          <a:ln/>
        </p:spPr>
        <p:txBody>
          <a:bodyPr wrap="square" lIns="0" tIns="0" rIns="0" bIns="0" rtlCol="0" anchor="t"/>
          <a:lstStyle/>
          <a:p>
            <a:pPr marL="0" indent="0">
              <a:buNone/>
            </a:pPr>
            <a:r>
              <a:rPr lang="en-US" sz="1050" dirty="0">
                <a:solidFill>
                  <a:srgbClr val="8D97A5"/>
                </a:solidFill>
                <a:latin typeface="Calibri" pitchFamily="34" charset="0"/>
                <a:ea typeface="Calibri" pitchFamily="34" charset="-122"/>
                <a:cs typeface="Calibri" pitchFamily="34" charset="-120"/>
              </a:rPr>
              <a:t>REST / WebSocket</a:t>
            </a:r>
            <a:endParaRPr lang="en-US" sz="1050" dirty="0"/>
          </a:p>
        </p:txBody>
      </p:sp>
      <p:sp>
        <p:nvSpPr>
          <p:cNvPr id="66" name="Shape 64"/>
          <p:cNvSpPr/>
          <p:nvPr/>
        </p:nvSpPr>
        <p:spPr>
          <a:xfrm>
            <a:off x="640080" y="5577840"/>
            <a:ext cx="10911535" cy="822960"/>
          </a:xfrm>
          <a:prstGeom prst="roundRect">
            <a:avLst>
              <a:gd name="adj" fmla="val 6667"/>
            </a:avLst>
          </a:prstGeom>
          <a:solidFill>
            <a:srgbClr val="17334D"/>
          </a:solidFill>
          <a:ln w="12700">
            <a:solidFill>
              <a:srgbClr val="5AB2F7"/>
            </a:solidFill>
            <a:prstDash val="solid"/>
          </a:ln>
        </p:spPr>
        <p:txBody>
          <a:bodyPr/>
          <a:lstStyle/>
          <a:p>
            <a:endParaRPr lang="en-SE"/>
          </a:p>
        </p:txBody>
      </p:sp>
      <p:sp>
        <p:nvSpPr>
          <p:cNvPr id="67" name="Text 65"/>
          <p:cNvSpPr/>
          <p:nvPr/>
        </p:nvSpPr>
        <p:spPr>
          <a:xfrm>
            <a:off x="877824" y="5669280"/>
            <a:ext cx="1737360" cy="237744"/>
          </a:xfrm>
          <a:prstGeom prst="rect">
            <a:avLst/>
          </a:prstGeom>
          <a:noFill/>
          <a:ln/>
        </p:spPr>
        <p:txBody>
          <a:bodyPr wrap="square" lIns="0" tIns="0" rIns="0" bIns="0" rtlCol="0" anchor="ctr"/>
          <a:lstStyle/>
          <a:p>
            <a:pPr marL="0" indent="0">
              <a:buNone/>
            </a:pPr>
            <a:r>
              <a:rPr lang="en-US" sz="950" b="1" kern="0" spc="160" dirty="0">
                <a:solidFill>
                  <a:srgbClr val="5AB2F7"/>
                </a:solidFill>
                <a:latin typeface="Calibri" pitchFamily="34" charset="0"/>
                <a:ea typeface="Calibri" pitchFamily="34" charset="-122"/>
                <a:cs typeface="Calibri" pitchFamily="34" charset="-120"/>
              </a:rPr>
              <a:t>COLLISION CHECK</a:t>
            </a:r>
            <a:endParaRPr lang="en-US" sz="950" dirty="0"/>
          </a:p>
        </p:txBody>
      </p:sp>
      <p:sp>
        <p:nvSpPr>
          <p:cNvPr id="68" name="Text 66"/>
          <p:cNvSpPr/>
          <p:nvPr/>
        </p:nvSpPr>
        <p:spPr>
          <a:xfrm>
            <a:off x="877824" y="5925312"/>
            <a:ext cx="10436047" cy="3657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verifier compares effective ports — the value you wrote, or the default if you wrote nothing. Setting log_server.pub_port to 5600 collides with the log server's own default listen port even though you never typed 5600 twice.</a:t>
            </a:r>
            <a:endParaRPr lang="en-US" sz="1250" dirty="0"/>
          </a:p>
        </p:txBody>
      </p:sp>
      <p:sp>
        <p:nvSpPr>
          <p:cNvPr id="69" name="Text 6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02 · What must be configured</a:t>
            </a:r>
            <a:endParaRPr lang="en-US" sz="950" dirty="0"/>
          </a:p>
        </p:txBody>
      </p:sp>
      <p:sp>
        <p:nvSpPr>
          <p:cNvPr id="70" name="Text 6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03</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03</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How can a configuration</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be created?</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Three roads lead to the same file. Pick the one that matches how you work — and know that the file, not the tool, is what matters.</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By hand</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pm-config-gen</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config-gui</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Choosing well</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OVERVIEW</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Three ways to produce the same file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All three emit an engine_config.yaml in exactly the same format. Nothing downstream can tell which one you used.</a:t>
            </a:r>
            <a:endParaRPr lang="en-US" sz="1450" dirty="0"/>
          </a:p>
        </p:txBody>
      </p:sp>
      <p:sp>
        <p:nvSpPr>
          <p:cNvPr id="6" name="Shape 4"/>
          <p:cNvSpPr/>
          <p:nvPr/>
        </p:nvSpPr>
        <p:spPr>
          <a:xfrm>
            <a:off x="640080" y="1965960"/>
            <a:ext cx="3454298" cy="3657600"/>
          </a:xfrm>
          <a:prstGeom prst="roundRect">
            <a:avLst>
              <a:gd name="adj" fmla="val 158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1966874"/>
            <a:ext cx="3452470" cy="50292"/>
          </a:xfrm>
          <a:prstGeom prst="rect">
            <a:avLst/>
          </a:prstGeom>
          <a:solidFill>
            <a:srgbClr val="9B8CFF"/>
          </a:solidFill>
          <a:ln w="12700">
            <a:solidFill>
              <a:srgbClr val="333333"/>
            </a:solidFill>
            <a:prstDash val="solid"/>
          </a:ln>
        </p:spPr>
        <p:txBody>
          <a:bodyPr/>
          <a:lstStyle/>
          <a:p>
            <a:endParaRPr lang="en-SE"/>
          </a:p>
        </p:txBody>
      </p:sp>
      <p:sp>
        <p:nvSpPr>
          <p:cNvPr id="8" name="Text 6"/>
          <p:cNvSpPr/>
          <p:nvPr/>
        </p:nvSpPr>
        <p:spPr>
          <a:xfrm>
            <a:off x="877824" y="2212848"/>
            <a:ext cx="2997098" cy="384048"/>
          </a:xfrm>
          <a:prstGeom prst="rect">
            <a:avLst/>
          </a:prstGeom>
          <a:noFill/>
          <a:ln/>
        </p:spPr>
        <p:txBody>
          <a:bodyPr wrap="square" lIns="0" tIns="0" rIns="0" bIns="0" rtlCol="0" anchor="ctr"/>
          <a:lstStyle/>
          <a:p>
            <a:pPr marL="0" indent="0">
              <a:buNone/>
            </a:pPr>
            <a:r>
              <a:rPr lang="en-US" sz="2000" b="1" dirty="0">
                <a:solidFill>
                  <a:srgbClr val="F1F4F8"/>
                </a:solidFill>
                <a:latin typeface="Trebuchet MS" pitchFamily="34" charset="0"/>
                <a:ea typeface="Trebuchet MS" pitchFamily="34" charset="-122"/>
                <a:cs typeface="Trebuchet MS" pitchFamily="34" charset="-120"/>
              </a:rPr>
              <a:t>By hand</a:t>
            </a:r>
            <a:endParaRPr lang="en-US" sz="2000" dirty="0"/>
          </a:p>
        </p:txBody>
      </p:sp>
      <p:sp>
        <p:nvSpPr>
          <p:cNvPr id="9" name="Text 7"/>
          <p:cNvSpPr/>
          <p:nvPr/>
        </p:nvSpPr>
        <p:spPr>
          <a:xfrm>
            <a:off x="877824" y="2596896"/>
            <a:ext cx="2997098" cy="256032"/>
          </a:xfrm>
          <a:prstGeom prst="rect">
            <a:avLst/>
          </a:prstGeom>
          <a:noFill/>
          <a:ln/>
        </p:spPr>
        <p:txBody>
          <a:bodyPr wrap="square" lIns="0" tIns="0" rIns="0" bIns="0" rtlCol="0" anchor="ctr"/>
          <a:lstStyle/>
          <a:p>
            <a:pPr marL="0" indent="0">
              <a:buNone/>
            </a:pPr>
            <a:r>
              <a:rPr lang="en-US" sz="1150" dirty="0">
                <a:solidFill>
                  <a:srgbClr val="9B8CFF"/>
                </a:solidFill>
                <a:latin typeface="Calibri" pitchFamily="34" charset="0"/>
                <a:ea typeface="Calibri" pitchFamily="34" charset="-122"/>
                <a:cs typeface="Calibri" pitchFamily="34" charset="-120"/>
              </a:rPr>
              <a:t>A text editor</a:t>
            </a:r>
            <a:endParaRPr lang="en-US" sz="1150" dirty="0"/>
          </a:p>
        </p:txBody>
      </p:sp>
      <p:sp>
        <p:nvSpPr>
          <p:cNvPr id="10" name="Shape 8"/>
          <p:cNvSpPr/>
          <p:nvPr/>
        </p:nvSpPr>
        <p:spPr>
          <a:xfrm>
            <a:off x="877824" y="3099816"/>
            <a:ext cx="82296" cy="82296"/>
          </a:xfrm>
          <a:prstGeom prst="rect">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115568" y="299923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Strength  </a:t>
            </a:r>
            <a:r>
              <a:rPr lang="en-US" sz="1150" dirty="0">
                <a:solidFill>
                  <a:srgbClr val="C2CAD4"/>
                </a:solidFill>
                <a:latin typeface="Calibri" pitchFamily="34" charset="0"/>
                <a:ea typeface="Calibri" pitchFamily="34" charset="-122"/>
                <a:cs typeface="Calibri" pitchFamily="34" charset="-120"/>
              </a:rPr>
              <a:t>Total control. Comments stay where you put them. Diffs are meaningful in version control.</a:t>
            </a:r>
            <a:endParaRPr lang="en-US" sz="1150" dirty="0"/>
          </a:p>
        </p:txBody>
      </p:sp>
      <p:sp>
        <p:nvSpPr>
          <p:cNvPr id="12" name="Shape 10"/>
          <p:cNvSpPr/>
          <p:nvPr/>
        </p:nvSpPr>
        <p:spPr>
          <a:xfrm>
            <a:off x="877824" y="3968496"/>
            <a:ext cx="82296" cy="82296"/>
          </a:xfrm>
          <a:prstGeom prst="rect">
            <a:avLst/>
          </a:prstGeom>
          <a:solidFill>
            <a:srgbClr val="FF7A6B"/>
          </a:solidFill>
          <a:ln w="12700">
            <a:solidFill>
              <a:srgbClr val="333333"/>
            </a:solidFill>
            <a:prstDash val="solid"/>
          </a:ln>
        </p:spPr>
        <p:txBody>
          <a:bodyPr/>
          <a:lstStyle/>
          <a:p>
            <a:endParaRPr lang="en-SE"/>
          </a:p>
        </p:txBody>
      </p:sp>
      <p:sp>
        <p:nvSpPr>
          <p:cNvPr id="13" name="Text 11"/>
          <p:cNvSpPr/>
          <p:nvPr/>
        </p:nvSpPr>
        <p:spPr>
          <a:xfrm>
            <a:off x="1115568" y="386791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Cost  </a:t>
            </a:r>
            <a:r>
              <a:rPr lang="en-US" sz="1150" dirty="0">
                <a:solidFill>
                  <a:srgbClr val="C2CAD4"/>
                </a:solidFill>
                <a:latin typeface="Calibri" pitchFamily="34" charset="0"/>
                <a:ea typeface="Calibri" pitchFamily="34" charset="-122"/>
                <a:cs typeface="Calibri" pitchFamily="34" charset="-120"/>
              </a:rPr>
              <a:t>Nothing catches a mistake until you run something. Easy to miss a required field.</a:t>
            </a:r>
            <a:endParaRPr lang="en-US" sz="1150" dirty="0"/>
          </a:p>
        </p:txBody>
      </p:sp>
      <p:sp>
        <p:nvSpPr>
          <p:cNvPr id="14" name="Shape 12"/>
          <p:cNvSpPr/>
          <p:nvPr/>
        </p:nvSpPr>
        <p:spPr>
          <a:xfrm>
            <a:off x="877824" y="4837176"/>
            <a:ext cx="82296" cy="82296"/>
          </a:xfrm>
          <a:prstGeom prst="rect">
            <a:avLst/>
          </a:prstGeom>
          <a:solidFill>
            <a:srgbClr val="9B8CFF"/>
          </a:solidFill>
          <a:ln w="12700">
            <a:solidFill>
              <a:srgbClr val="333333"/>
            </a:solidFill>
            <a:prstDash val="solid"/>
          </a:ln>
        </p:spPr>
        <p:txBody>
          <a:bodyPr/>
          <a:lstStyle/>
          <a:p>
            <a:endParaRPr lang="en-SE"/>
          </a:p>
        </p:txBody>
      </p:sp>
      <p:sp>
        <p:nvSpPr>
          <p:cNvPr id="15" name="Text 13"/>
          <p:cNvSpPr/>
          <p:nvPr/>
        </p:nvSpPr>
        <p:spPr>
          <a:xfrm>
            <a:off x="1115568" y="473659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Best for  </a:t>
            </a:r>
            <a:r>
              <a:rPr lang="en-US" sz="1150" dirty="0">
                <a:solidFill>
                  <a:srgbClr val="C2CAD4"/>
                </a:solidFill>
                <a:latin typeface="Calibri" pitchFamily="34" charset="0"/>
                <a:ea typeface="Calibri" pitchFamily="34" charset="-122"/>
                <a:cs typeface="Calibri" pitchFamily="34" charset="-120"/>
              </a:rPr>
              <a:t>Small edits to a file you already understand.</a:t>
            </a:r>
            <a:endParaRPr lang="en-US" sz="1150" dirty="0"/>
          </a:p>
        </p:txBody>
      </p:sp>
      <p:sp>
        <p:nvSpPr>
          <p:cNvPr id="16" name="Shape 14"/>
          <p:cNvSpPr/>
          <p:nvPr/>
        </p:nvSpPr>
        <p:spPr>
          <a:xfrm>
            <a:off x="4277258" y="1965960"/>
            <a:ext cx="3454298" cy="3657600"/>
          </a:xfrm>
          <a:prstGeom prst="roundRect">
            <a:avLst>
              <a:gd name="adj" fmla="val 1588"/>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4278173" y="1966874"/>
            <a:ext cx="3452470" cy="50292"/>
          </a:xfrm>
          <a:prstGeom prst="rect">
            <a:avLst/>
          </a:prstGeom>
          <a:solidFill>
            <a:srgbClr val="F3B441"/>
          </a:solidFill>
          <a:ln w="12700">
            <a:solidFill>
              <a:srgbClr val="333333"/>
            </a:solidFill>
            <a:prstDash val="solid"/>
          </a:ln>
        </p:spPr>
        <p:txBody>
          <a:bodyPr/>
          <a:lstStyle/>
          <a:p>
            <a:endParaRPr lang="en-SE"/>
          </a:p>
        </p:txBody>
      </p:sp>
      <p:sp>
        <p:nvSpPr>
          <p:cNvPr id="18" name="Text 16"/>
          <p:cNvSpPr/>
          <p:nvPr/>
        </p:nvSpPr>
        <p:spPr>
          <a:xfrm>
            <a:off x="4515002" y="2212848"/>
            <a:ext cx="2997098" cy="384048"/>
          </a:xfrm>
          <a:prstGeom prst="rect">
            <a:avLst/>
          </a:prstGeom>
          <a:noFill/>
          <a:ln/>
        </p:spPr>
        <p:txBody>
          <a:bodyPr wrap="square" lIns="0" tIns="0" rIns="0" bIns="0" rtlCol="0" anchor="ctr"/>
          <a:lstStyle/>
          <a:p>
            <a:pPr marL="0" indent="0">
              <a:buNone/>
            </a:pPr>
            <a:r>
              <a:rPr lang="en-US" sz="2000" b="1" dirty="0">
                <a:solidFill>
                  <a:srgbClr val="F1F4F8"/>
                </a:solidFill>
                <a:latin typeface="Trebuchet MS" pitchFamily="34" charset="0"/>
                <a:ea typeface="Trebuchet MS" pitchFamily="34" charset="-122"/>
                <a:cs typeface="Trebuchet MS" pitchFamily="34" charset="-120"/>
              </a:rPr>
              <a:t>pm-config-gen</a:t>
            </a:r>
            <a:endParaRPr lang="en-US" sz="2000" dirty="0"/>
          </a:p>
        </p:txBody>
      </p:sp>
      <p:sp>
        <p:nvSpPr>
          <p:cNvPr id="19" name="Text 17"/>
          <p:cNvSpPr/>
          <p:nvPr/>
        </p:nvSpPr>
        <p:spPr>
          <a:xfrm>
            <a:off x="4515002" y="2596896"/>
            <a:ext cx="2997098" cy="256032"/>
          </a:xfrm>
          <a:prstGeom prst="rect">
            <a:avLst/>
          </a:prstGeom>
          <a:noFill/>
          <a:ln/>
        </p:spPr>
        <p:txBody>
          <a:bodyPr wrap="square" lIns="0" tIns="0" rIns="0" bIns="0" rtlCol="0" anchor="ctr"/>
          <a:lstStyle/>
          <a:p>
            <a:pPr marL="0" indent="0">
              <a:buNone/>
            </a:pPr>
            <a:r>
              <a:rPr lang="en-US" sz="1150" dirty="0">
                <a:solidFill>
                  <a:srgbClr val="F3B441"/>
                </a:solidFill>
                <a:latin typeface="Calibri" pitchFamily="34" charset="0"/>
                <a:ea typeface="Calibri" pitchFamily="34" charset="-122"/>
                <a:cs typeface="Calibri" pitchFamily="34" charset="-120"/>
              </a:rPr>
              <a:t>One command</a:t>
            </a:r>
            <a:endParaRPr lang="en-US" sz="1150" dirty="0"/>
          </a:p>
        </p:txBody>
      </p:sp>
      <p:sp>
        <p:nvSpPr>
          <p:cNvPr id="20" name="Shape 18"/>
          <p:cNvSpPr/>
          <p:nvPr/>
        </p:nvSpPr>
        <p:spPr>
          <a:xfrm>
            <a:off x="4515002" y="3099816"/>
            <a:ext cx="82296" cy="82296"/>
          </a:xfrm>
          <a:prstGeom prst="rect">
            <a:avLst/>
          </a:prstGeom>
          <a:solidFill>
            <a:srgbClr val="6BD98A"/>
          </a:solidFill>
          <a:ln w="12700">
            <a:solidFill>
              <a:srgbClr val="333333"/>
            </a:solidFill>
            <a:prstDash val="solid"/>
          </a:ln>
        </p:spPr>
        <p:txBody>
          <a:bodyPr/>
          <a:lstStyle/>
          <a:p>
            <a:endParaRPr lang="en-SE"/>
          </a:p>
        </p:txBody>
      </p:sp>
      <p:sp>
        <p:nvSpPr>
          <p:cNvPr id="21" name="Text 19"/>
          <p:cNvSpPr/>
          <p:nvPr/>
        </p:nvSpPr>
        <p:spPr>
          <a:xfrm>
            <a:off x="4752746" y="299923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Strength  </a:t>
            </a:r>
            <a:r>
              <a:rPr lang="en-US" sz="1150" dirty="0">
                <a:solidFill>
                  <a:srgbClr val="C2CAD4"/>
                </a:solidFill>
                <a:latin typeface="Calibri" pitchFamily="34" charset="0"/>
                <a:ea typeface="Calibri" pitchFamily="34" charset="-122"/>
                <a:cs typeface="Calibri" pitchFamily="34" charset="-120"/>
              </a:rPr>
              <a:t>Repeatable and scriptable. Consistent defaults every time. Ideal inside CI.</a:t>
            </a:r>
            <a:endParaRPr lang="en-US" sz="1150" dirty="0"/>
          </a:p>
        </p:txBody>
      </p:sp>
      <p:sp>
        <p:nvSpPr>
          <p:cNvPr id="22" name="Shape 20"/>
          <p:cNvSpPr/>
          <p:nvPr/>
        </p:nvSpPr>
        <p:spPr>
          <a:xfrm>
            <a:off x="4515002" y="3968496"/>
            <a:ext cx="82296" cy="82296"/>
          </a:xfrm>
          <a:prstGeom prst="rect">
            <a:avLst/>
          </a:prstGeom>
          <a:solidFill>
            <a:srgbClr val="FF7A6B"/>
          </a:solidFill>
          <a:ln w="12700">
            <a:solidFill>
              <a:srgbClr val="333333"/>
            </a:solidFill>
            <a:prstDash val="solid"/>
          </a:ln>
        </p:spPr>
        <p:txBody>
          <a:bodyPr/>
          <a:lstStyle/>
          <a:p>
            <a:endParaRPr lang="en-SE"/>
          </a:p>
        </p:txBody>
      </p:sp>
      <p:sp>
        <p:nvSpPr>
          <p:cNvPr id="23" name="Text 21"/>
          <p:cNvSpPr/>
          <p:nvPr/>
        </p:nvSpPr>
        <p:spPr>
          <a:xfrm>
            <a:off x="4752746" y="386791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Cost  </a:t>
            </a:r>
            <a:r>
              <a:rPr lang="en-US" sz="1150" dirty="0">
                <a:solidFill>
                  <a:srgbClr val="C2CAD4"/>
                </a:solidFill>
                <a:latin typeface="Calibri" pitchFamily="34" charset="0"/>
                <a:ea typeface="Calibri" pitchFamily="34" charset="-122"/>
                <a:cs typeface="Calibri" pitchFamily="34" charset="-120"/>
              </a:rPr>
              <a:t>Concise flags only reach so far — complex risk or index setups still need editing afterwards.</a:t>
            </a:r>
            <a:endParaRPr lang="en-US" sz="1150" dirty="0"/>
          </a:p>
        </p:txBody>
      </p:sp>
      <p:sp>
        <p:nvSpPr>
          <p:cNvPr id="24" name="Shape 22"/>
          <p:cNvSpPr/>
          <p:nvPr/>
        </p:nvSpPr>
        <p:spPr>
          <a:xfrm>
            <a:off x="4515002" y="4837176"/>
            <a:ext cx="82296" cy="82296"/>
          </a:xfrm>
          <a:prstGeom prst="rect">
            <a:avLst/>
          </a:prstGeom>
          <a:solidFill>
            <a:srgbClr val="F3B441"/>
          </a:solidFill>
          <a:ln w="12700">
            <a:solidFill>
              <a:srgbClr val="333333"/>
            </a:solidFill>
            <a:prstDash val="solid"/>
          </a:ln>
        </p:spPr>
        <p:txBody>
          <a:bodyPr/>
          <a:lstStyle/>
          <a:p>
            <a:endParaRPr lang="en-SE"/>
          </a:p>
        </p:txBody>
      </p:sp>
      <p:sp>
        <p:nvSpPr>
          <p:cNvPr id="25" name="Text 23"/>
          <p:cNvSpPr/>
          <p:nvPr/>
        </p:nvSpPr>
        <p:spPr>
          <a:xfrm>
            <a:off x="4752746" y="473659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Best for  </a:t>
            </a:r>
            <a:r>
              <a:rPr lang="en-US" sz="1150" dirty="0">
                <a:solidFill>
                  <a:srgbClr val="C2CAD4"/>
                </a:solidFill>
                <a:latin typeface="Calibri" pitchFamily="34" charset="0"/>
                <a:ea typeface="Calibri" pitchFamily="34" charset="-122"/>
                <a:cs typeface="Calibri" pitchFamily="34" charset="-120"/>
              </a:rPr>
              <a:t>Bootstrapping a new class or demo from scratch.</a:t>
            </a:r>
            <a:endParaRPr lang="en-US" sz="1150" dirty="0"/>
          </a:p>
        </p:txBody>
      </p:sp>
      <p:sp>
        <p:nvSpPr>
          <p:cNvPr id="26" name="Shape 24"/>
          <p:cNvSpPr/>
          <p:nvPr/>
        </p:nvSpPr>
        <p:spPr>
          <a:xfrm>
            <a:off x="7914437" y="1965960"/>
            <a:ext cx="3454298" cy="3657600"/>
          </a:xfrm>
          <a:prstGeom prst="roundRect">
            <a:avLst>
              <a:gd name="adj" fmla="val 1588"/>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7915351" y="1966874"/>
            <a:ext cx="3452470" cy="50292"/>
          </a:xfrm>
          <a:prstGeom prst="rect">
            <a:avLst/>
          </a:prstGeom>
          <a:solidFill>
            <a:srgbClr val="34D6BE"/>
          </a:solidFill>
          <a:ln w="12700">
            <a:solidFill>
              <a:srgbClr val="333333"/>
            </a:solidFill>
            <a:prstDash val="solid"/>
          </a:ln>
        </p:spPr>
        <p:txBody>
          <a:bodyPr/>
          <a:lstStyle/>
          <a:p>
            <a:endParaRPr lang="en-SE"/>
          </a:p>
        </p:txBody>
      </p:sp>
      <p:sp>
        <p:nvSpPr>
          <p:cNvPr id="28" name="Text 26"/>
          <p:cNvSpPr/>
          <p:nvPr/>
        </p:nvSpPr>
        <p:spPr>
          <a:xfrm>
            <a:off x="8152181" y="2212848"/>
            <a:ext cx="2997098" cy="384048"/>
          </a:xfrm>
          <a:prstGeom prst="rect">
            <a:avLst/>
          </a:prstGeom>
          <a:noFill/>
          <a:ln/>
        </p:spPr>
        <p:txBody>
          <a:bodyPr wrap="square" lIns="0" tIns="0" rIns="0" bIns="0" rtlCol="0" anchor="ctr"/>
          <a:lstStyle/>
          <a:p>
            <a:pPr marL="0" indent="0">
              <a:buNone/>
            </a:pPr>
            <a:r>
              <a:rPr lang="en-US" sz="2000" b="1" dirty="0">
                <a:solidFill>
                  <a:srgbClr val="F1F4F8"/>
                </a:solidFill>
                <a:latin typeface="Trebuchet MS" pitchFamily="34" charset="0"/>
                <a:ea typeface="Trebuchet MS" pitchFamily="34" charset="-122"/>
                <a:cs typeface="Trebuchet MS" pitchFamily="34" charset="-120"/>
              </a:rPr>
              <a:t>config-gui</a:t>
            </a:r>
            <a:endParaRPr lang="en-US" sz="2000" dirty="0"/>
          </a:p>
        </p:txBody>
      </p:sp>
      <p:sp>
        <p:nvSpPr>
          <p:cNvPr id="29" name="Text 27"/>
          <p:cNvSpPr/>
          <p:nvPr/>
        </p:nvSpPr>
        <p:spPr>
          <a:xfrm>
            <a:off x="8152181" y="2596896"/>
            <a:ext cx="2997098" cy="256032"/>
          </a:xfrm>
          <a:prstGeom prst="rect">
            <a:avLst/>
          </a:prstGeom>
          <a:noFill/>
          <a:ln/>
        </p:spPr>
        <p:txBody>
          <a:bodyPr wrap="square" lIns="0" tIns="0" rIns="0" bIns="0" rtlCol="0" anchor="ctr"/>
          <a:lstStyle/>
          <a:p>
            <a:pPr marL="0" indent="0">
              <a:buNone/>
            </a:pPr>
            <a:r>
              <a:rPr lang="en-US" sz="1150" dirty="0">
                <a:solidFill>
                  <a:srgbClr val="34D6BE"/>
                </a:solidFill>
                <a:latin typeface="Calibri" pitchFamily="34" charset="0"/>
                <a:ea typeface="Calibri" pitchFamily="34" charset="-122"/>
                <a:cs typeface="Calibri" pitchFamily="34" charset="-120"/>
              </a:rPr>
              <a:t>A web application</a:t>
            </a:r>
            <a:endParaRPr lang="en-US" sz="1150" dirty="0"/>
          </a:p>
        </p:txBody>
      </p:sp>
      <p:sp>
        <p:nvSpPr>
          <p:cNvPr id="30" name="Shape 28"/>
          <p:cNvSpPr/>
          <p:nvPr/>
        </p:nvSpPr>
        <p:spPr>
          <a:xfrm>
            <a:off x="8152181" y="3099816"/>
            <a:ext cx="82296" cy="82296"/>
          </a:xfrm>
          <a:prstGeom prst="rect">
            <a:avLst/>
          </a:prstGeom>
          <a:solidFill>
            <a:srgbClr val="6BD98A"/>
          </a:solidFill>
          <a:ln w="12700">
            <a:solidFill>
              <a:srgbClr val="333333"/>
            </a:solidFill>
            <a:prstDash val="solid"/>
          </a:ln>
        </p:spPr>
        <p:txBody>
          <a:bodyPr/>
          <a:lstStyle/>
          <a:p>
            <a:endParaRPr lang="en-SE"/>
          </a:p>
        </p:txBody>
      </p:sp>
      <p:sp>
        <p:nvSpPr>
          <p:cNvPr id="31" name="Text 29"/>
          <p:cNvSpPr/>
          <p:nvPr/>
        </p:nvSpPr>
        <p:spPr>
          <a:xfrm>
            <a:off x="8389925" y="299923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Strength  </a:t>
            </a:r>
            <a:r>
              <a:rPr lang="en-US" sz="1150" dirty="0">
                <a:solidFill>
                  <a:srgbClr val="C2CAD4"/>
                </a:solidFill>
                <a:latin typeface="Calibri" pitchFamily="34" charset="0"/>
                <a:ea typeface="Calibri" pitchFamily="34" charset="-122"/>
                <a:cs typeface="Calibri" pitchFamily="34" charset="-120"/>
              </a:rPr>
              <a:t>Forms with inline help, live cross-field validation, and an export gate that blocks broken files.</a:t>
            </a:r>
            <a:endParaRPr lang="en-US" sz="1150" dirty="0"/>
          </a:p>
        </p:txBody>
      </p:sp>
      <p:sp>
        <p:nvSpPr>
          <p:cNvPr id="32" name="Shape 30"/>
          <p:cNvSpPr/>
          <p:nvPr/>
        </p:nvSpPr>
        <p:spPr>
          <a:xfrm>
            <a:off x="8152181" y="3968496"/>
            <a:ext cx="82296" cy="82296"/>
          </a:xfrm>
          <a:prstGeom prst="rect">
            <a:avLst/>
          </a:prstGeom>
          <a:solidFill>
            <a:srgbClr val="FF7A6B"/>
          </a:solidFill>
          <a:ln w="12700">
            <a:solidFill>
              <a:srgbClr val="333333"/>
            </a:solidFill>
            <a:prstDash val="solid"/>
          </a:ln>
        </p:spPr>
        <p:txBody>
          <a:bodyPr/>
          <a:lstStyle/>
          <a:p>
            <a:endParaRPr lang="en-SE"/>
          </a:p>
        </p:txBody>
      </p:sp>
      <p:sp>
        <p:nvSpPr>
          <p:cNvPr id="33" name="Text 31"/>
          <p:cNvSpPr/>
          <p:nvPr/>
        </p:nvSpPr>
        <p:spPr>
          <a:xfrm>
            <a:off x="8389925" y="386791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Cost  </a:t>
            </a:r>
            <a:r>
              <a:rPr lang="en-US" sz="1150" dirty="0">
                <a:solidFill>
                  <a:srgbClr val="C2CAD4"/>
                </a:solidFill>
                <a:latin typeface="Calibri" pitchFamily="34" charset="0"/>
                <a:ea typeface="Calibri" pitchFamily="34" charset="-122"/>
                <a:cs typeface="Calibri" pitchFamily="34" charset="-120"/>
              </a:rPr>
              <a:t>Needs a container runtime. Inline comments in an imported file are not preserved.</a:t>
            </a:r>
            <a:endParaRPr lang="en-US" sz="1150" dirty="0"/>
          </a:p>
        </p:txBody>
      </p:sp>
      <p:sp>
        <p:nvSpPr>
          <p:cNvPr id="34" name="Shape 32"/>
          <p:cNvSpPr/>
          <p:nvPr/>
        </p:nvSpPr>
        <p:spPr>
          <a:xfrm>
            <a:off x="8152181" y="4837176"/>
            <a:ext cx="82296" cy="82296"/>
          </a:xfrm>
          <a:prstGeom prst="rect">
            <a:avLst/>
          </a:prstGeom>
          <a:solidFill>
            <a:srgbClr val="34D6BE"/>
          </a:solidFill>
          <a:ln w="12700">
            <a:solidFill>
              <a:srgbClr val="333333"/>
            </a:solidFill>
            <a:prstDash val="solid"/>
          </a:ln>
        </p:spPr>
        <p:txBody>
          <a:bodyPr/>
          <a:lstStyle/>
          <a:p>
            <a:endParaRPr lang="en-SE"/>
          </a:p>
        </p:txBody>
      </p:sp>
      <p:sp>
        <p:nvSpPr>
          <p:cNvPr id="35" name="Text 33"/>
          <p:cNvSpPr/>
          <p:nvPr/>
        </p:nvSpPr>
        <p:spPr>
          <a:xfrm>
            <a:off x="8389925" y="4736592"/>
            <a:ext cx="2759354" cy="868680"/>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Best for  </a:t>
            </a:r>
            <a:r>
              <a:rPr lang="en-US" sz="1150" dirty="0">
                <a:solidFill>
                  <a:srgbClr val="C2CAD4"/>
                </a:solidFill>
                <a:latin typeface="Calibri" pitchFamily="34" charset="0"/>
                <a:ea typeface="Calibri" pitchFamily="34" charset="-122"/>
                <a:cs typeface="Calibri" pitchFamily="34" charset="-120"/>
              </a:rPr>
              <a:t>Learning the schema, or building a full environment visually.</a:t>
            </a:r>
            <a:endParaRPr lang="en-US" sz="1150" dirty="0"/>
          </a:p>
        </p:txBody>
      </p:sp>
      <p:sp>
        <p:nvSpPr>
          <p:cNvPr id="36" name="Shape 34"/>
          <p:cNvSpPr/>
          <p:nvPr/>
        </p:nvSpPr>
        <p:spPr>
          <a:xfrm>
            <a:off x="640080" y="5806440"/>
            <a:ext cx="10911535" cy="640080"/>
          </a:xfrm>
          <a:prstGeom prst="roundRect">
            <a:avLst>
              <a:gd name="adj" fmla="val 8571"/>
            </a:avLst>
          </a:prstGeom>
          <a:solidFill>
            <a:srgbClr val="13463F"/>
          </a:solidFill>
          <a:ln w="12700">
            <a:solidFill>
              <a:srgbClr val="34D6BE"/>
            </a:solidFill>
            <a:prstDash val="solid"/>
          </a:ln>
        </p:spPr>
        <p:txBody>
          <a:bodyPr/>
          <a:lstStyle/>
          <a:p>
            <a:endParaRPr lang="en-SE"/>
          </a:p>
        </p:txBody>
      </p:sp>
      <p:sp>
        <p:nvSpPr>
          <p:cNvPr id="37" name="Text 35"/>
          <p:cNvSpPr/>
          <p:nvPr/>
        </p:nvSpPr>
        <p:spPr>
          <a:xfrm>
            <a:off x="877824" y="589788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COMMON PRACTICE</a:t>
            </a:r>
            <a:endParaRPr lang="en-US" sz="950" dirty="0"/>
          </a:p>
        </p:txBody>
      </p:sp>
      <p:sp>
        <p:nvSpPr>
          <p:cNvPr id="38" name="Text 36"/>
          <p:cNvSpPr/>
          <p:nvPr/>
        </p:nvSpPr>
        <p:spPr>
          <a:xfrm>
            <a:off x="877824" y="6153912"/>
            <a:ext cx="10436047" cy="1828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Generate the skeleton with pm-config-gen or the GUI, then hand-edit the details. Verify whichever way you got there.</a:t>
            </a:r>
            <a:endParaRPr lang="en-US" sz="1250" dirty="0"/>
          </a:p>
        </p:txBody>
      </p:sp>
      <p:sp>
        <p:nvSpPr>
          <p:cNvPr id="39" name="Text 3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40" name="Text 3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PATH A</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Writing it by hand</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file is YAML: indentation is structure, and a mapping is a set of key/value pairs. Two rules cause most beginner failures.</a:t>
            </a:r>
            <a:endParaRPr lang="en-US" sz="1450" dirty="0"/>
          </a:p>
        </p:txBody>
      </p:sp>
      <p:sp>
        <p:nvSpPr>
          <p:cNvPr id="6" name="Shape 4"/>
          <p:cNvSpPr/>
          <p:nvPr/>
        </p:nvSpPr>
        <p:spPr>
          <a:xfrm>
            <a:off x="640080" y="2011680"/>
            <a:ext cx="6035040" cy="3954780"/>
          </a:xfrm>
          <a:prstGeom prst="roundRect">
            <a:avLst>
              <a:gd name="adj" fmla="val 1156"/>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603321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521208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engine_config.yaml</a:t>
            </a:r>
            <a:endParaRPr lang="en-US" sz="950" dirty="0"/>
          </a:p>
        </p:txBody>
      </p:sp>
      <p:sp>
        <p:nvSpPr>
          <p:cNvPr id="12" name="Text 10"/>
          <p:cNvSpPr/>
          <p:nvPr/>
        </p:nvSpPr>
        <p:spPr>
          <a:xfrm>
            <a:off x="841248" y="2377440"/>
            <a:ext cx="5669280" cy="3497580"/>
          </a:xfrm>
          <a:prstGeom prst="rect">
            <a:avLst/>
          </a:prstGeom>
          <a:noFill/>
          <a:ln/>
        </p:spPr>
        <p:txBody>
          <a:bodyPr wrap="square" lIns="0" tIns="0" rIns="0" bIns="0" rtlCol="0" anchor="t"/>
          <a:lstStyle/>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gateways:</a:t>
            </a:r>
            <a:endParaRPr lang="en-US" sz="1250" dirty="0"/>
          </a:p>
          <a:p>
            <a:pPr marL="0" indent="0">
              <a:lnSpc>
                <a:spcPts val="1650"/>
              </a:lnSpc>
              <a:buNone/>
            </a:pPr>
            <a:r>
              <a:rPr lang="en-US" sz="1250" dirty="0">
                <a:solidFill>
                  <a:srgbClr val="8D97A5"/>
                </a:solidFill>
                <a:latin typeface="Consolas" pitchFamily="34" charset="0"/>
                <a:ea typeface="Consolas" pitchFamily="34" charset="-122"/>
                <a:cs typeface="Consolas" pitchFamily="34" charset="-120"/>
              </a:rPr>
              <a:t>  alf:                       # a LIST — note the dashes</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 id: TRADER01</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description: First trader</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 id: MM01</a:t>
            </a:r>
            <a:endParaRPr lang="en-US" sz="1250" dirty="0"/>
          </a:p>
          <a:p>
            <a:pPr marL="0" indent="0">
              <a:lnSpc>
                <a:spcPts val="1650"/>
              </a:lnSpc>
              <a:buNone/>
            </a:pPr>
            <a:r>
              <a:rPr lang="en-US" sz="1250" dirty="0">
                <a:solidFill>
                  <a:srgbClr val="F3B441"/>
                </a:solidFill>
                <a:latin typeface="Consolas" pitchFamily="34" charset="0"/>
                <a:ea typeface="Consolas" pitchFamily="34" charset="-122"/>
                <a:cs typeface="Consolas" pitchFamily="34" charset="-120"/>
              </a:rPr>
              <a:t>      role: MARKET_MAKER</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 id: GW_ADMIN</a:t>
            </a:r>
            <a:endParaRPr lang="en-US" sz="1250" dirty="0"/>
          </a:p>
          <a:p>
            <a:pPr marL="0" indent="0">
              <a:lnSpc>
                <a:spcPts val="1650"/>
              </a:lnSpc>
              <a:buNone/>
            </a:pPr>
            <a:r>
              <a:rPr lang="en-US" sz="1250" dirty="0">
                <a:solidFill>
                  <a:srgbClr val="F3B441"/>
                </a:solidFill>
                <a:latin typeface="Consolas" pitchFamily="34" charset="0"/>
                <a:ea typeface="Consolas" pitchFamily="34" charset="-122"/>
                <a:cs typeface="Consolas" pitchFamily="34" charset="-120"/>
              </a:rPr>
              <a:t>      role: ADMIN</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a:t>
            </a:r>
            <a:endParaRPr lang="en-US" sz="1250" dirty="0"/>
          </a:p>
          <a:p>
            <a:pPr marL="0" indent="0">
              <a:lnSpc>
                <a:spcPts val="1650"/>
              </a:lnSpc>
              <a:buNone/>
            </a:pPr>
            <a:r>
              <a:rPr lang="en-US" sz="1250" dirty="0">
                <a:solidFill>
                  <a:srgbClr val="8D97A5"/>
                </a:solidFill>
                <a:latin typeface="Consolas" pitchFamily="34" charset="0"/>
                <a:ea typeface="Consolas" pitchFamily="34" charset="-122"/>
                <a:cs typeface="Consolas" pitchFamily="34" charset="-120"/>
              </a:rPr>
              <a:t>symbols:                     # a MAPPING — note no dashes</a:t>
            </a:r>
            <a:endParaRPr lang="en-US" sz="1250" dirty="0"/>
          </a:p>
          <a:p>
            <a:pPr marL="0" indent="0">
              <a:lnSpc>
                <a:spcPts val="1650"/>
              </a:lnSpc>
              <a:buNone/>
            </a:pPr>
            <a:r>
              <a:rPr lang="en-US" sz="1250" dirty="0">
                <a:solidFill>
                  <a:srgbClr val="F1F4F8"/>
                </a:solidFill>
                <a:latin typeface="Consolas" pitchFamily="34" charset="0"/>
                <a:ea typeface="Consolas" pitchFamily="34" charset="-122"/>
                <a:cs typeface="Consolas" pitchFamily="34" charset="-120"/>
              </a:rPr>
              <a:t>  AAPL:</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tick_decimals: 2</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last_buy_price: 149.90</a:t>
            </a:r>
            <a:endParaRPr lang="en-US" sz="1250" dirty="0"/>
          </a:p>
        </p:txBody>
      </p:sp>
      <p:sp>
        <p:nvSpPr>
          <p:cNvPr id="13" name="Shape 11"/>
          <p:cNvSpPr/>
          <p:nvPr/>
        </p:nvSpPr>
        <p:spPr>
          <a:xfrm>
            <a:off x="6949440" y="2011680"/>
            <a:ext cx="4599432"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950354" y="2012594"/>
            <a:ext cx="4597603" cy="50292"/>
          </a:xfrm>
          <a:prstGeom prst="rect">
            <a:avLst/>
          </a:prstGeom>
          <a:solidFill>
            <a:srgbClr val="FF7A6B"/>
          </a:solidFill>
          <a:ln w="12700">
            <a:solidFill>
              <a:srgbClr val="333333"/>
            </a:solidFill>
            <a:prstDash val="solid"/>
          </a:ln>
        </p:spPr>
        <p:txBody>
          <a:bodyPr/>
          <a:lstStyle/>
          <a:p>
            <a:endParaRPr lang="en-SE"/>
          </a:p>
        </p:txBody>
      </p:sp>
      <p:sp>
        <p:nvSpPr>
          <p:cNvPr id="15" name="Text 13"/>
          <p:cNvSpPr/>
          <p:nvPr/>
        </p:nvSpPr>
        <p:spPr>
          <a:xfrm>
            <a:off x="7187184" y="2240280"/>
            <a:ext cx="4114800"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Rule 1 — shape matters</a:t>
            </a:r>
            <a:endParaRPr lang="en-US" sz="1550" dirty="0"/>
          </a:p>
        </p:txBody>
      </p:sp>
      <p:sp>
        <p:nvSpPr>
          <p:cNvPr id="16" name="Text 14"/>
          <p:cNvSpPr/>
          <p:nvPr/>
        </p:nvSpPr>
        <p:spPr>
          <a:xfrm>
            <a:off x="7187184" y="2615184"/>
            <a:ext cx="4114800" cy="10972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gateways.alf must be a list. symbols must be a mapping. Swap them and the engine exits with a fatal config error naming the offending key.</a:t>
            </a:r>
            <a:endParaRPr lang="en-US" sz="1200" dirty="0"/>
          </a:p>
        </p:txBody>
      </p:sp>
      <p:sp>
        <p:nvSpPr>
          <p:cNvPr id="17" name="Shape 15"/>
          <p:cNvSpPr/>
          <p:nvPr/>
        </p:nvSpPr>
        <p:spPr>
          <a:xfrm>
            <a:off x="6949440" y="4023360"/>
            <a:ext cx="4599432"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8" name="Shape 16"/>
          <p:cNvSpPr/>
          <p:nvPr/>
        </p:nvSpPr>
        <p:spPr>
          <a:xfrm>
            <a:off x="6950354" y="4024274"/>
            <a:ext cx="4597603" cy="50292"/>
          </a:xfrm>
          <a:prstGeom prst="rect">
            <a:avLst/>
          </a:prstGeom>
          <a:solidFill>
            <a:srgbClr val="F3B441"/>
          </a:solidFill>
          <a:ln w="12700">
            <a:solidFill>
              <a:srgbClr val="333333"/>
            </a:solidFill>
            <a:prstDash val="solid"/>
          </a:ln>
        </p:spPr>
        <p:txBody>
          <a:bodyPr/>
          <a:lstStyle/>
          <a:p>
            <a:endParaRPr lang="en-SE"/>
          </a:p>
        </p:txBody>
      </p:sp>
      <p:sp>
        <p:nvSpPr>
          <p:cNvPr id="19" name="Text 17"/>
          <p:cNvSpPr/>
          <p:nvPr/>
        </p:nvSpPr>
        <p:spPr>
          <a:xfrm>
            <a:off x="7187184" y="4251960"/>
            <a:ext cx="4114800"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Rule 2 — quote your times</a:t>
            </a:r>
            <a:endParaRPr lang="en-US" sz="1550" dirty="0"/>
          </a:p>
        </p:txBody>
      </p:sp>
      <p:sp>
        <p:nvSpPr>
          <p:cNvPr id="20" name="Text 18"/>
          <p:cNvSpPr/>
          <p:nvPr/>
        </p:nvSpPr>
        <p:spPr>
          <a:xfrm>
            <a:off x="7187184" y="4626864"/>
            <a:ext cx="4114800" cy="10972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Schedule values must be quoted strings: "09:30", not 09:30. Unquoted, YAML reads it as a sexagesimal number and the schedule silently becomes nonsense.</a:t>
            </a:r>
            <a:endParaRPr lang="en-US" sz="1200" dirty="0"/>
          </a:p>
        </p:txBody>
      </p:sp>
      <p:sp>
        <p:nvSpPr>
          <p:cNvPr id="21" name="Text 1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2" name="Text 2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PATH B</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pm-config-gen — bootstrap in one line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Built for operators and instructors who want a new session running without writing large YAML blocks by hand.</a:t>
            </a:r>
            <a:endParaRPr lang="en-US" sz="1450" dirty="0"/>
          </a:p>
        </p:txBody>
      </p:sp>
      <p:sp>
        <p:nvSpPr>
          <p:cNvPr id="6" name="Shape 4"/>
          <p:cNvSpPr/>
          <p:nvPr/>
        </p:nvSpPr>
        <p:spPr>
          <a:xfrm>
            <a:off x="640080" y="2011680"/>
            <a:ext cx="10911535" cy="1679570"/>
          </a:xfrm>
          <a:prstGeom prst="roundRect">
            <a:avLst>
              <a:gd name="adj" fmla="val 2722"/>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10909706"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10088575"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terminal</a:t>
            </a:r>
            <a:endParaRPr lang="en-US" sz="950" dirty="0"/>
          </a:p>
        </p:txBody>
      </p:sp>
      <p:sp>
        <p:nvSpPr>
          <p:cNvPr id="12" name="Text 10"/>
          <p:cNvSpPr/>
          <p:nvPr/>
        </p:nvSpPr>
        <p:spPr>
          <a:xfrm>
            <a:off x="841248" y="2377440"/>
            <a:ext cx="10545775" cy="1222370"/>
          </a:xfrm>
          <a:prstGeom prst="rect">
            <a:avLst/>
          </a:prstGeom>
          <a:noFill/>
          <a:ln/>
        </p:spPr>
        <p:txBody>
          <a:bodyPr wrap="square" lIns="0" tIns="0" rIns="0" bIns="0" rtlCol="0" anchor="t"/>
          <a:lstStyle/>
          <a:p>
            <a:pPr marL="0" indent="0">
              <a:lnSpc>
                <a:spcPts val="1782"/>
              </a:lnSpc>
              <a:buNone/>
            </a:pPr>
            <a:r>
              <a:rPr lang="en-US" sz="1350" dirty="0">
                <a:solidFill>
                  <a:srgbClr val="34D6BE"/>
                </a:solidFill>
                <a:latin typeface="Consolas" pitchFamily="34" charset="0"/>
                <a:ea typeface="Consolas" pitchFamily="34" charset="-122"/>
                <a:cs typeface="Consolas" pitchFamily="34" charset="-120"/>
              </a:rPr>
              <a:t>pm-config-gen \</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--symbols AAPL MSFT TSLA \</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--gateways TRADER01 MM01:MARKET_MAKER GW_ADMIN:ADMIN \</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--output engine_config.yaml</a:t>
            </a:r>
            <a:endParaRPr lang="en-US" sz="1350" dirty="0"/>
          </a:p>
        </p:txBody>
      </p:sp>
      <p:sp>
        <p:nvSpPr>
          <p:cNvPr id="13" name="Text 11"/>
          <p:cNvSpPr/>
          <p:nvPr/>
        </p:nvSpPr>
        <p:spPr>
          <a:xfrm>
            <a:off x="640080" y="3429000"/>
            <a:ext cx="10911535" cy="310896"/>
          </a:xfrm>
          <a:prstGeom prst="rect">
            <a:avLst/>
          </a:prstGeom>
          <a:noFill/>
          <a:ln/>
        </p:spPr>
        <p:txBody>
          <a:bodyPr wrap="square" lIns="0" tIns="0" rIns="0" bIns="0" rtlCol="0" anchor="t"/>
          <a:lstStyle/>
          <a:p>
            <a:pPr marL="0" indent="0">
              <a:buNone/>
            </a:pPr>
            <a:r>
              <a:rPr lang="en-US" sz="1250" i="1" dirty="0">
                <a:solidFill>
                  <a:srgbClr val="8D97A5"/>
                </a:solidFill>
                <a:latin typeface="Calibri" pitchFamily="34" charset="0"/>
                <a:ea typeface="Calibri" pitchFamily="34" charset="-122"/>
                <a:cs typeface="Calibri" pitchFamily="34" charset="-120"/>
              </a:rPr>
              <a:t>Read the gateway argument as ID:ROLE. Omit the role and the gateway is a plain TRADER.</a:t>
            </a:r>
            <a:endParaRPr lang="en-US" sz="1250" dirty="0"/>
          </a:p>
        </p:txBody>
      </p:sp>
      <p:sp>
        <p:nvSpPr>
          <p:cNvPr id="14" name="Shape 12"/>
          <p:cNvSpPr/>
          <p:nvPr/>
        </p:nvSpPr>
        <p:spPr>
          <a:xfrm>
            <a:off x="640080" y="3886200"/>
            <a:ext cx="3454298" cy="1783080"/>
          </a:xfrm>
          <a:prstGeom prst="roundRect">
            <a:avLst>
              <a:gd name="adj" fmla="val 3077"/>
            </a:avLst>
          </a:prstGeom>
          <a:solidFill>
            <a:srgbClr val="252B33"/>
          </a:solidFill>
          <a:ln w="12700">
            <a:solidFill>
              <a:srgbClr val="3B4450"/>
            </a:solidFill>
            <a:prstDash val="solid"/>
          </a:ln>
        </p:spPr>
        <p:txBody>
          <a:bodyPr/>
          <a:lstStyle/>
          <a:p>
            <a:endParaRPr lang="en-SE"/>
          </a:p>
        </p:txBody>
      </p:sp>
      <p:sp>
        <p:nvSpPr>
          <p:cNvPr id="15" name="Shape 13"/>
          <p:cNvSpPr/>
          <p:nvPr/>
        </p:nvSpPr>
        <p:spPr>
          <a:xfrm>
            <a:off x="640994" y="3887114"/>
            <a:ext cx="3452470" cy="50292"/>
          </a:xfrm>
          <a:prstGeom prst="rect">
            <a:avLst/>
          </a:prstGeom>
          <a:solidFill>
            <a:srgbClr val="34D6BE"/>
          </a:solidFill>
          <a:ln w="12700">
            <a:solidFill>
              <a:srgbClr val="333333"/>
            </a:solidFill>
            <a:prstDash val="solid"/>
          </a:ln>
        </p:spPr>
        <p:txBody>
          <a:bodyPr/>
          <a:lstStyle/>
          <a:p>
            <a:endParaRPr lang="en-SE"/>
          </a:p>
        </p:txBody>
      </p:sp>
      <p:sp>
        <p:nvSpPr>
          <p:cNvPr id="16" name="Text 14"/>
          <p:cNvSpPr/>
          <p:nvPr/>
        </p:nvSpPr>
        <p:spPr>
          <a:xfrm>
            <a:off x="877824" y="4160520"/>
            <a:ext cx="297881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Use it when</a:t>
            </a:r>
            <a:endParaRPr lang="en-US" sz="1500" dirty="0"/>
          </a:p>
        </p:txBody>
      </p:sp>
      <p:sp>
        <p:nvSpPr>
          <p:cNvPr id="17" name="Text 15"/>
          <p:cNvSpPr/>
          <p:nvPr/>
        </p:nvSpPr>
        <p:spPr>
          <a:xfrm>
            <a:off x="877824" y="4544568"/>
            <a:ext cx="2978810" cy="96012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You are creating a new class or demo config from scratch, want consistent defaults, or need repeatable generation inside a script.</a:t>
            </a:r>
            <a:endParaRPr lang="en-US" sz="1200" dirty="0"/>
          </a:p>
        </p:txBody>
      </p:sp>
      <p:sp>
        <p:nvSpPr>
          <p:cNvPr id="18" name="Shape 16"/>
          <p:cNvSpPr/>
          <p:nvPr/>
        </p:nvSpPr>
        <p:spPr>
          <a:xfrm>
            <a:off x="4277258" y="3886200"/>
            <a:ext cx="3454298" cy="1783080"/>
          </a:xfrm>
          <a:prstGeom prst="roundRect">
            <a:avLst>
              <a:gd name="adj" fmla="val 3077"/>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4278173" y="3887114"/>
            <a:ext cx="3452470" cy="50292"/>
          </a:xfrm>
          <a:prstGeom prst="rect">
            <a:avLst/>
          </a:prstGeom>
          <a:solidFill>
            <a:srgbClr val="F3B441"/>
          </a:solidFill>
          <a:ln w="12700">
            <a:solidFill>
              <a:srgbClr val="333333"/>
            </a:solidFill>
            <a:prstDash val="solid"/>
          </a:ln>
        </p:spPr>
        <p:txBody>
          <a:bodyPr/>
          <a:lstStyle/>
          <a:p>
            <a:endParaRPr lang="en-SE"/>
          </a:p>
        </p:txBody>
      </p:sp>
      <p:sp>
        <p:nvSpPr>
          <p:cNvPr id="20" name="Text 18"/>
          <p:cNvSpPr/>
          <p:nvPr/>
        </p:nvSpPr>
        <p:spPr>
          <a:xfrm>
            <a:off x="4515002" y="4160520"/>
            <a:ext cx="297881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What you still do</a:t>
            </a:r>
            <a:endParaRPr lang="en-US" sz="1500" dirty="0"/>
          </a:p>
        </p:txBody>
      </p:sp>
      <p:sp>
        <p:nvSpPr>
          <p:cNvPr id="21" name="Text 19"/>
          <p:cNvSpPr/>
          <p:nvPr/>
        </p:nvSpPr>
        <p:spPr>
          <a:xfrm>
            <a:off x="4515002" y="4544568"/>
            <a:ext cx="2978810" cy="96012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Fill in the market-maker bid and ask prices before starting the engine. Generated quote blocks arrive as stubs, not prices.</a:t>
            </a:r>
            <a:endParaRPr lang="en-US" sz="1200" dirty="0"/>
          </a:p>
        </p:txBody>
      </p:sp>
      <p:sp>
        <p:nvSpPr>
          <p:cNvPr id="22" name="Shape 20"/>
          <p:cNvSpPr/>
          <p:nvPr/>
        </p:nvSpPr>
        <p:spPr>
          <a:xfrm>
            <a:off x="7914437" y="3886200"/>
            <a:ext cx="3454298" cy="1783080"/>
          </a:xfrm>
          <a:prstGeom prst="roundRect">
            <a:avLst>
              <a:gd name="adj" fmla="val 3077"/>
            </a:avLst>
          </a:prstGeom>
          <a:solidFill>
            <a:srgbClr val="252B33"/>
          </a:solidFill>
          <a:ln w="12700">
            <a:solidFill>
              <a:srgbClr val="3B4450"/>
            </a:solidFill>
            <a:prstDash val="solid"/>
          </a:ln>
        </p:spPr>
        <p:txBody>
          <a:bodyPr/>
          <a:lstStyle/>
          <a:p>
            <a:endParaRPr lang="en-SE"/>
          </a:p>
        </p:txBody>
      </p:sp>
      <p:sp>
        <p:nvSpPr>
          <p:cNvPr id="23" name="Shape 21"/>
          <p:cNvSpPr/>
          <p:nvPr/>
        </p:nvSpPr>
        <p:spPr>
          <a:xfrm>
            <a:off x="7915351" y="3887114"/>
            <a:ext cx="3452470" cy="50292"/>
          </a:xfrm>
          <a:prstGeom prst="rect">
            <a:avLst/>
          </a:prstGeom>
          <a:solidFill>
            <a:srgbClr val="9B8CFF"/>
          </a:solidFill>
          <a:ln w="12700">
            <a:solidFill>
              <a:srgbClr val="333333"/>
            </a:solidFill>
            <a:prstDash val="solid"/>
          </a:ln>
        </p:spPr>
        <p:txBody>
          <a:bodyPr/>
          <a:lstStyle/>
          <a:p>
            <a:endParaRPr lang="en-SE"/>
          </a:p>
        </p:txBody>
      </p:sp>
      <p:sp>
        <p:nvSpPr>
          <p:cNvPr id="24" name="Text 22"/>
          <p:cNvSpPr/>
          <p:nvPr/>
        </p:nvSpPr>
        <p:spPr>
          <a:xfrm>
            <a:off x="8152181" y="4160520"/>
            <a:ext cx="297881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The companion flag</a:t>
            </a:r>
            <a:endParaRPr lang="en-US" sz="1500" dirty="0"/>
          </a:p>
        </p:txBody>
      </p:sp>
      <p:sp>
        <p:nvSpPr>
          <p:cNvPr id="25" name="Text 23"/>
          <p:cNvSpPr/>
          <p:nvPr/>
        </p:nvSpPr>
        <p:spPr>
          <a:xfrm>
            <a:off x="8152181" y="4544568"/>
            <a:ext cx="2978810" cy="96012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Ask it to emit the full commented reference block, so the generated file doubles as documentation of every field you did not set.</a:t>
            </a:r>
            <a:endParaRPr lang="en-US" sz="1200" dirty="0"/>
          </a:p>
        </p:txBody>
      </p:sp>
      <p:sp>
        <p:nvSpPr>
          <p:cNvPr id="26" name="Text 2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7" name="Text 2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PATH C</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config-gui — the Config Builder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browser application for creating, importing, editing, validating and exporting the same engine_config.yaml. A companion to the CLI, not a replacement.</a:t>
            </a:r>
            <a:endParaRPr lang="en-US" sz="1450" dirty="0"/>
          </a:p>
        </p:txBody>
      </p:sp>
      <p:sp>
        <p:nvSpPr>
          <p:cNvPr id="6" name="Shape 4"/>
          <p:cNvSpPr/>
          <p:nvPr/>
        </p:nvSpPr>
        <p:spPr>
          <a:xfrm>
            <a:off x="640080" y="2011680"/>
            <a:ext cx="345429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452470"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77824" y="2286000"/>
            <a:ext cx="2978810"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Live cross-field validation</a:t>
            </a:r>
            <a:endParaRPr lang="en-US" sz="1550" dirty="0"/>
          </a:p>
        </p:txBody>
      </p:sp>
      <p:sp>
        <p:nvSpPr>
          <p:cNvPr id="9" name="Text 7"/>
          <p:cNvSpPr/>
          <p:nvPr/>
        </p:nvSpPr>
        <p:spPr>
          <a:xfrm>
            <a:off x="877824" y="2670048"/>
            <a:ext cx="2978810" cy="100584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Undefined risk levels, port collisions and out-of-order schedules are flagged as you type, not after you run something.</a:t>
            </a:r>
            <a:endParaRPr lang="en-US" sz="1200" dirty="0"/>
          </a:p>
        </p:txBody>
      </p:sp>
      <p:sp>
        <p:nvSpPr>
          <p:cNvPr id="10" name="Shape 8"/>
          <p:cNvSpPr/>
          <p:nvPr/>
        </p:nvSpPr>
        <p:spPr>
          <a:xfrm>
            <a:off x="4277258" y="2011680"/>
            <a:ext cx="345429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1" name="Shape 9"/>
          <p:cNvSpPr/>
          <p:nvPr/>
        </p:nvSpPr>
        <p:spPr>
          <a:xfrm>
            <a:off x="4278173" y="2012594"/>
            <a:ext cx="3452470" cy="50292"/>
          </a:xfrm>
          <a:prstGeom prst="rect">
            <a:avLst/>
          </a:prstGeom>
          <a:solidFill>
            <a:srgbClr val="9B8CFF"/>
          </a:solidFill>
          <a:ln w="12700">
            <a:solidFill>
              <a:srgbClr val="333333"/>
            </a:solidFill>
            <a:prstDash val="solid"/>
          </a:ln>
        </p:spPr>
        <p:txBody>
          <a:bodyPr/>
          <a:lstStyle/>
          <a:p>
            <a:endParaRPr lang="en-SE"/>
          </a:p>
        </p:txBody>
      </p:sp>
      <p:sp>
        <p:nvSpPr>
          <p:cNvPr id="12" name="Text 10"/>
          <p:cNvSpPr/>
          <p:nvPr/>
        </p:nvSpPr>
        <p:spPr>
          <a:xfrm>
            <a:off x="4515002" y="2286000"/>
            <a:ext cx="2978810"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Progressive disclosure</a:t>
            </a:r>
            <a:endParaRPr lang="en-US" sz="1550" dirty="0"/>
          </a:p>
        </p:txBody>
      </p:sp>
      <p:sp>
        <p:nvSpPr>
          <p:cNvPr id="13" name="Text 11"/>
          <p:cNvSpPr/>
          <p:nvPr/>
        </p:nvSpPr>
        <p:spPr>
          <a:xfrm>
            <a:off x="4515002" y="2670048"/>
            <a:ext cx="2978810" cy="100584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Beginners see a handful of fields. Experts see everything. The same file underneath.</a:t>
            </a:r>
            <a:endParaRPr lang="en-US" sz="1200" dirty="0"/>
          </a:p>
        </p:txBody>
      </p:sp>
      <p:sp>
        <p:nvSpPr>
          <p:cNvPr id="14" name="Shape 12"/>
          <p:cNvSpPr/>
          <p:nvPr/>
        </p:nvSpPr>
        <p:spPr>
          <a:xfrm>
            <a:off x="7914437" y="2011680"/>
            <a:ext cx="345429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5" name="Shape 13"/>
          <p:cNvSpPr/>
          <p:nvPr/>
        </p:nvSpPr>
        <p:spPr>
          <a:xfrm>
            <a:off x="7915351" y="2012594"/>
            <a:ext cx="3452470" cy="50292"/>
          </a:xfrm>
          <a:prstGeom prst="rect">
            <a:avLst/>
          </a:prstGeom>
          <a:solidFill>
            <a:srgbClr val="F3B441"/>
          </a:solidFill>
          <a:ln w="12700">
            <a:solidFill>
              <a:srgbClr val="333333"/>
            </a:solidFill>
            <a:prstDash val="solid"/>
          </a:ln>
        </p:spPr>
        <p:txBody>
          <a:bodyPr/>
          <a:lstStyle/>
          <a:p>
            <a:endParaRPr lang="en-SE"/>
          </a:p>
        </p:txBody>
      </p:sp>
      <p:sp>
        <p:nvSpPr>
          <p:cNvPr id="16" name="Text 14"/>
          <p:cNvSpPr/>
          <p:nvPr/>
        </p:nvSpPr>
        <p:spPr>
          <a:xfrm>
            <a:off x="8152181" y="2286000"/>
            <a:ext cx="2978810"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Full round-trip import</a:t>
            </a:r>
            <a:endParaRPr lang="en-US" sz="1550" dirty="0"/>
          </a:p>
        </p:txBody>
      </p:sp>
      <p:sp>
        <p:nvSpPr>
          <p:cNvPr id="17" name="Text 15"/>
          <p:cNvSpPr/>
          <p:nvPr/>
        </p:nvSpPr>
        <p:spPr>
          <a:xfrm>
            <a:off x="8152181" y="2670048"/>
            <a:ext cx="2978810" cy="100584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Load an existing file, edit it visually, export it back. Sections it does not model are preserved verbatim.</a:t>
            </a:r>
            <a:endParaRPr lang="en-US" sz="1200" dirty="0"/>
          </a:p>
        </p:txBody>
      </p:sp>
      <p:sp>
        <p:nvSpPr>
          <p:cNvPr id="18" name="Shape 16"/>
          <p:cNvSpPr/>
          <p:nvPr/>
        </p:nvSpPr>
        <p:spPr>
          <a:xfrm>
            <a:off x="640080" y="4114800"/>
            <a:ext cx="6035040" cy="1574231"/>
          </a:xfrm>
          <a:prstGeom prst="roundRect">
            <a:avLst>
              <a:gd name="adj" fmla="val 2904"/>
            </a:avLst>
          </a:prstGeom>
          <a:solidFill>
            <a:srgbClr val="15181D"/>
          </a:solidFill>
          <a:ln w="12700">
            <a:solidFill>
              <a:srgbClr val="3B4450"/>
            </a:solidFill>
            <a:prstDash val="solid"/>
          </a:ln>
        </p:spPr>
        <p:txBody>
          <a:bodyPr/>
          <a:lstStyle/>
          <a:p>
            <a:endParaRPr lang="en-SE"/>
          </a:p>
        </p:txBody>
      </p:sp>
      <p:sp>
        <p:nvSpPr>
          <p:cNvPr id="19" name="Shape 17"/>
          <p:cNvSpPr/>
          <p:nvPr/>
        </p:nvSpPr>
        <p:spPr>
          <a:xfrm>
            <a:off x="640994" y="4115714"/>
            <a:ext cx="6033211" cy="310896"/>
          </a:xfrm>
          <a:prstGeom prst="rect">
            <a:avLst/>
          </a:prstGeom>
          <a:solidFill>
            <a:srgbClr val="252B33"/>
          </a:solidFill>
          <a:ln w="12700">
            <a:solidFill>
              <a:srgbClr val="333333"/>
            </a:solidFill>
            <a:prstDash val="solid"/>
          </a:ln>
        </p:spPr>
        <p:txBody>
          <a:bodyPr/>
          <a:lstStyle/>
          <a:p>
            <a:endParaRPr lang="en-SE"/>
          </a:p>
        </p:txBody>
      </p:sp>
      <p:sp>
        <p:nvSpPr>
          <p:cNvPr id="20" name="Shape 18"/>
          <p:cNvSpPr/>
          <p:nvPr/>
        </p:nvSpPr>
        <p:spPr>
          <a:xfrm>
            <a:off x="768096" y="4219956"/>
            <a:ext cx="100584" cy="100584"/>
          </a:xfrm>
          <a:prstGeom prst="ellipse">
            <a:avLst/>
          </a:prstGeom>
          <a:solidFill>
            <a:srgbClr val="FF7A6B"/>
          </a:solidFill>
          <a:ln w="12700">
            <a:solidFill>
              <a:srgbClr val="333333"/>
            </a:solidFill>
            <a:prstDash val="solid"/>
          </a:ln>
        </p:spPr>
        <p:txBody>
          <a:bodyPr/>
          <a:lstStyle/>
          <a:p>
            <a:endParaRPr lang="en-SE"/>
          </a:p>
        </p:txBody>
      </p:sp>
      <p:sp>
        <p:nvSpPr>
          <p:cNvPr id="21" name="Shape 19"/>
          <p:cNvSpPr/>
          <p:nvPr/>
        </p:nvSpPr>
        <p:spPr>
          <a:xfrm>
            <a:off x="941832" y="4219956"/>
            <a:ext cx="100584" cy="100584"/>
          </a:xfrm>
          <a:prstGeom prst="ellipse">
            <a:avLst/>
          </a:prstGeom>
          <a:solidFill>
            <a:srgbClr val="F3B441"/>
          </a:solidFill>
          <a:ln w="12700">
            <a:solidFill>
              <a:srgbClr val="333333"/>
            </a:solidFill>
            <a:prstDash val="solid"/>
          </a:ln>
        </p:spPr>
        <p:txBody>
          <a:bodyPr/>
          <a:lstStyle/>
          <a:p>
            <a:endParaRPr lang="en-SE"/>
          </a:p>
        </p:txBody>
      </p:sp>
      <p:sp>
        <p:nvSpPr>
          <p:cNvPr id="22" name="Shape 20"/>
          <p:cNvSpPr/>
          <p:nvPr/>
        </p:nvSpPr>
        <p:spPr>
          <a:xfrm>
            <a:off x="1115568" y="4219956"/>
            <a:ext cx="100584" cy="100584"/>
          </a:xfrm>
          <a:prstGeom prst="ellipse">
            <a:avLst/>
          </a:prstGeom>
          <a:solidFill>
            <a:srgbClr val="6BD98A"/>
          </a:solidFill>
          <a:ln w="12700">
            <a:solidFill>
              <a:srgbClr val="333333"/>
            </a:solidFill>
            <a:prstDash val="solid"/>
          </a:ln>
        </p:spPr>
        <p:txBody>
          <a:bodyPr/>
          <a:lstStyle/>
          <a:p>
            <a:endParaRPr lang="en-SE"/>
          </a:p>
        </p:txBody>
      </p:sp>
      <p:sp>
        <p:nvSpPr>
          <p:cNvPr id="23" name="Text 21"/>
          <p:cNvSpPr/>
          <p:nvPr/>
        </p:nvSpPr>
        <p:spPr>
          <a:xfrm>
            <a:off x="1353312" y="4133088"/>
            <a:ext cx="521208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the quickest way to run it</a:t>
            </a:r>
            <a:endParaRPr lang="en-US" sz="950" dirty="0"/>
          </a:p>
        </p:txBody>
      </p:sp>
      <p:sp>
        <p:nvSpPr>
          <p:cNvPr id="24" name="Text 22"/>
          <p:cNvSpPr/>
          <p:nvPr/>
        </p:nvSpPr>
        <p:spPr>
          <a:xfrm>
            <a:off x="841248" y="4480560"/>
            <a:ext cx="5669280" cy="1117031"/>
          </a:xfrm>
          <a:prstGeom prst="rect">
            <a:avLst/>
          </a:prstGeom>
          <a:noFill/>
          <a:ln/>
        </p:spPr>
        <p:txBody>
          <a:bodyPr wrap="square" lIns="0" tIns="0" rIns="0" bIns="0" rtlCol="0" anchor="t"/>
          <a:lstStyle/>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podman load --input dist/edumatcher-config-gui-&lt;VER&gt;.tar.gz</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podman run -p 8080:8080 edumatcher-config-gui:&lt;VER&gt;</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 </a:t>
            </a:r>
            <a:endParaRPr lang="en-US" sz="1200" dirty="0"/>
          </a:p>
          <a:p>
            <a:pPr marL="0" indent="0">
              <a:lnSpc>
                <a:spcPts val="1584"/>
              </a:lnSpc>
              <a:buNone/>
            </a:pPr>
            <a:r>
              <a:rPr lang="en-US" sz="1200" dirty="0">
                <a:solidFill>
                  <a:srgbClr val="34D6BE"/>
                </a:solidFill>
                <a:latin typeface="Consolas" pitchFamily="34" charset="0"/>
                <a:ea typeface="Consolas" pitchFamily="34" charset="-122"/>
                <a:cs typeface="Consolas" pitchFamily="34" charset="-120"/>
              </a:rPr>
              <a:t># then open  http://localhost:8080/</a:t>
            </a:r>
            <a:endParaRPr lang="en-US" sz="1200" dirty="0"/>
          </a:p>
        </p:txBody>
      </p:sp>
      <p:sp>
        <p:nvSpPr>
          <p:cNvPr id="25" name="Shape 23"/>
          <p:cNvSpPr/>
          <p:nvPr/>
        </p:nvSpPr>
        <p:spPr>
          <a:xfrm>
            <a:off x="6949440" y="4114800"/>
            <a:ext cx="4599432"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26" name="Text 24"/>
          <p:cNvSpPr/>
          <p:nvPr/>
        </p:nvSpPr>
        <p:spPr>
          <a:xfrm>
            <a:off x="7187184" y="4315968"/>
            <a:ext cx="4114800" cy="31089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The correctness guarantee</a:t>
            </a:r>
            <a:endParaRPr lang="en-US" sz="1500" dirty="0"/>
          </a:p>
        </p:txBody>
      </p:sp>
      <p:sp>
        <p:nvSpPr>
          <p:cNvPr id="27" name="Text 25"/>
          <p:cNvSpPr/>
          <p:nvPr/>
        </p:nvSpPr>
        <p:spPr>
          <a:xfrm>
            <a:off x="7187184" y="4681728"/>
            <a:ext cx="4114800" cy="100584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A golden-file test pipes generated configs through the engine's own loader. Anything the GUI exports is guaranteed to load — that check is what keeps two implementations of the same format honest.</a:t>
            </a:r>
            <a:endParaRPr lang="en-US" sz="1200" dirty="0"/>
          </a:p>
        </p:txBody>
      </p:sp>
      <p:sp>
        <p:nvSpPr>
          <p:cNvPr id="28" name="Text 2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9" name="Text 2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A tour of the interface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Three panes that never move, so you always know where you are and what is wrong.</a:t>
            </a:r>
            <a:endParaRPr lang="en-US" sz="1450" dirty="0"/>
          </a:p>
        </p:txBody>
      </p:sp>
      <p:sp>
        <p:nvSpPr>
          <p:cNvPr id="6" name="Shape 4"/>
          <p:cNvSpPr/>
          <p:nvPr/>
        </p:nvSpPr>
        <p:spPr>
          <a:xfrm>
            <a:off x="640080" y="2011680"/>
            <a:ext cx="3017520"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015691" cy="50292"/>
          </a:xfrm>
          <a:prstGeom prst="rect">
            <a:avLst/>
          </a:prstGeom>
          <a:solidFill>
            <a:srgbClr val="5AB2F7"/>
          </a:solidFill>
          <a:ln w="12700">
            <a:solidFill>
              <a:srgbClr val="333333"/>
            </a:solidFill>
            <a:prstDash val="solid"/>
          </a:ln>
        </p:spPr>
        <p:txBody>
          <a:bodyPr/>
          <a:lstStyle/>
          <a:p>
            <a:endParaRPr lang="en-SE"/>
          </a:p>
        </p:txBody>
      </p:sp>
      <p:sp>
        <p:nvSpPr>
          <p:cNvPr id="8" name="Text 6"/>
          <p:cNvSpPr/>
          <p:nvPr/>
        </p:nvSpPr>
        <p:spPr>
          <a:xfrm>
            <a:off x="877824" y="2267712"/>
            <a:ext cx="256032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Navigation</a:t>
            </a:r>
            <a:endParaRPr lang="en-US" sz="1650" dirty="0"/>
          </a:p>
        </p:txBody>
      </p:sp>
      <p:sp>
        <p:nvSpPr>
          <p:cNvPr id="9" name="Text 7"/>
          <p:cNvSpPr/>
          <p:nvPr/>
        </p:nvSpPr>
        <p:spPr>
          <a:xfrm>
            <a:off x="877824" y="2670048"/>
            <a:ext cx="2560320" cy="1828800"/>
          </a:xfrm>
          <a:prstGeom prst="rect">
            <a:avLst/>
          </a:prstGeom>
          <a:noFill/>
          <a:ln/>
        </p:spPr>
        <p:txBody>
          <a:bodyPr wrap="square" lIns="0" tIns="0" rIns="0" bIns="0" rtlCol="0" anchor="t"/>
          <a:lstStyle/>
          <a:p>
            <a:pPr marL="0" indent="0">
              <a:lnSpc>
                <a:spcPts val="1750"/>
              </a:lnSpc>
              <a:buNone/>
            </a:pPr>
            <a:r>
              <a:rPr lang="en-US" sz="1200" dirty="0">
                <a:solidFill>
                  <a:srgbClr val="C2CAD4"/>
                </a:solidFill>
                <a:latin typeface="Calibri" pitchFamily="34" charset="0"/>
                <a:ea typeface="Calibri" pitchFamily="34" charset="-122"/>
                <a:cs typeface="Calibri" pitchFamily="34" charset="-120"/>
              </a:rPr>
              <a:t>The tab list. Each tab carries a status glyph — valid, warning, error, or untouched — so the health of the whole config is visible at a glance.</a:t>
            </a:r>
            <a:endParaRPr lang="en-US" sz="1200" dirty="0"/>
          </a:p>
        </p:txBody>
      </p:sp>
      <p:sp>
        <p:nvSpPr>
          <p:cNvPr id="10" name="Shape 8"/>
          <p:cNvSpPr/>
          <p:nvPr/>
        </p:nvSpPr>
        <p:spPr>
          <a:xfrm>
            <a:off x="3794760" y="2011680"/>
            <a:ext cx="4572000"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11" name="Shape 9"/>
          <p:cNvSpPr/>
          <p:nvPr/>
        </p:nvSpPr>
        <p:spPr>
          <a:xfrm>
            <a:off x="3795674" y="2012594"/>
            <a:ext cx="4570171" cy="50292"/>
          </a:xfrm>
          <a:prstGeom prst="rect">
            <a:avLst/>
          </a:prstGeom>
          <a:solidFill>
            <a:srgbClr val="34D6BE"/>
          </a:solidFill>
          <a:ln w="12700">
            <a:solidFill>
              <a:srgbClr val="333333"/>
            </a:solidFill>
            <a:prstDash val="solid"/>
          </a:ln>
        </p:spPr>
        <p:txBody>
          <a:bodyPr/>
          <a:lstStyle/>
          <a:p>
            <a:endParaRPr lang="en-SE"/>
          </a:p>
        </p:txBody>
      </p:sp>
      <p:sp>
        <p:nvSpPr>
          <p:cNvPr id="12" name="Text 10"/>
          <p:cNvSpPr/>
          <p:nvPr/>
        </p:nvSpPr>
        <p:spPr>
          <a:xfrm>
            <a:off x="4032504" y="2267712"/>
            <a:ext cx="411480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Active panel</a:t>
            </a:r>
            <a:endParaRPr lang="en-US" sz="1650" dirty="0"/>
          </a:p>
        </p:txBody>
      </p:sp>
      <p:sp>
        <p:nvSpPr>
          <p:cNvPr id="13" name="Text 11"/>
          <p:cNvSpPr/>
          <p:nvPr/>
        </p:nvSpPr>
        <p:spPr>
          <a:xfrm>
            <a:off x="4032504" y="2670048"/>
            <a:ext cx="4114800" cy="1828800"/>
          </a:xfrm>
          <a:prstGeom prst="rect">
            <a:avLst/>
          </a:prstGeom>
          <a:noFill/>
          <a:ln/>
        </p:spPr>
        <p:txBody>
          <a:bodyPr wrap="square" lIns="0" tIns="0" rIns="0" bIns="0" rtlCol="0" anchor="t"/>
          <a:lstStyle/>
          <a:p>
            <a:pPr marL="0" indent="0">
              <a:lnSpc>
                <a:spcPts val="1750"/>
              </a:lnSpc>
              <a:buNone/>
            </a:pPr>
            <a:r>
              <a:rPr lang="en-US" sz="1200" dirty="0">
                <a:solidFill>
                  <a:srgbClr val="C2CAD4"/>
                </a:solidFill>
                <a:latin typeface="Calibri" pitchFamily="34" charset="0"/>
                <a:ea typeface="Calibri" pitchFamily="34" charset="-122"/>
                <a:cs typeface="Calibri" pitchFamily="34" charset="-120"/>
              </a:rPr>
              <a:t>The form for the selected tab. Mandatory fields carry a red marker; optional fields show their default as ghost text until you set them. Every non-obvious field has a help popover naming the equivalent CLI flag.</a:t>
            </a:r>
            <a:endParaRPr lang="en-US" sz="1200" dirty="0"/>
          </a:p>
        </p:txBody>
      </p:sp>
      <p:sp>
        <p:nvSpPr>
          <p:cNvPr id="14" name="Shape 12"/>
          <p:cNvSpPr/>
          <p:nvPr/>
        </p:nvSpPr>
        <p:spPr>
          <a:xfrm>
            <a:off x="8503920" y="2011680"/>
            <a:ext cx="3044952"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15" name="Shape 13"/>
          <p:cNvSpPr/>
          <p:nvPr/>
        </p:nvSpPr>
        <p:spPr>
          <a:xfrm>
            <a:off x="8504834" y="2012594"/>
            <a:ext cx="3043123" cy="50292"/>
          </a:xfrm>
          <a:prstGeom prst="rect">
            <a:avLst/>
          </a:prstGeom>
          <a:solidFill>
            <a:srgbClr val="FF7A6B"/>
          </a:solidFill>
          <a:ln w="12700">
            <a:solidFill>
              <a:srgbClr val="333333"/>
            </a:solidFill>
            <a:prstDash val="solid"/>
          </a:ln>
        </p:spPr>
        <p:txBody>
          <a:bodyPr/>
          <a:lstStyle/>
          <a:p>
            <a:endParaRPr lang="en-SE"/>
          </a:p>
        </p:txBody>
      </p:sp>
      <p:sp>
        <p:nvSpPr>
          <p:cNvPr id="16" name="Text 14"/>
          <p:cNvSpPr/>
          <p:nvPr/>
        </p:nvSpPr>
        <p:spPr>
          <a:xfrm>
            <a:off x="8741664" y="2267712"/>
            <a:ext cx="2587752"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Diagnostics drawer</a:t>
            </a:r>
            <a:endParaRPr lang="en-US" sz="1650" dirty="0"/>
          </a:p>
        </p:txBody>
      </p:sp>
      <p:sp>
        <p:nvSpPr>
          <p:cNvPr id="17" name="Text 15"/>
          <p:cNvSpPr/>
          <p:nvPr/>
        </p:nvSpPr>
        <p:spPr>
          <a:xfrm>
            <a:off x="8741664" y="2670048"/>
            <a:ext cx="2587752" cy="1828800"/>
          </a:xfrm>
          <a:prstGeom prst="rect">
            <a:avLst/>
          </a:prstGeom>
          <a:noFill/>
          <a:ln/>
        </p:spPr>
        <p:txBody>
          <a:bodyPr wrap="square" lIns="0" tIns="0" rIns="0" bIns="0" rtlCol="0" anchor="t"/>
          <a:lstStyle/>
          <a:p>
            <a:pPr marL="0" indent="0">
              <a:lnSpc>
                <a:spcPts val="1750"/>
              </a:lnSpc>
              <a:buNone/>
            </a:pPr>
            <a:r>
              <a:rPr lang="en-US" sz="1200" dirty="0">
                <a:solidFill>
                  <a:srgbClr val="C2CAD4"/>
                </a:solidFill>
                <a:latin typeface="Calibri" pitchFamily="34" charset="0"/>
                <a:ea typeface="Calibri" pitchFamily="34" charset="-122"/>
                <a:cs typeface="Calibri" pitchFamily="34" charset="-120"/>
              </a:rPr>
              <a:t>Always visible. Lists every issue across the whole configuration — not just this tab — each with a jump action that navigates to and highlights the offending field.</a:t>
            </a:r>
            <a:endParaRPr lang="en-US" sz="1200" dirty="0"/>
          </a:p>
        </p:txBody>
      </p:sp>
      <p:sp>
        <p:nvSpPr>
          <p:cNvPr id="18" name="Shape 16"/>
          <p:cNvSpPr/>
          <p:nvPr/>
        </p:nvSpPr>
        <p:spPr>
          <a:xfrm>
            <a:off x="640080" y="4892040"/>
            <a:ext cx="10911535" cy="777240"/>
          </a:xfrm>
          <a:prstGeom prst="roundRect">
            <a:avLst>
              <a:gd name="adj" fmla="val 7059"/>
            </a:avLst>
          </a:prstGeom>
          <a:solidFill>
            <a:srgbClr val="2E2A52"/>
          </a:solidFill>
          <a:ln w="12700">
            <a:solidFill>
              <a:srgbClr val="9B8CFF"/>
            </a:solidFill>
            <a:prstDash val="solid"/>
          </a:ln>
        </p:spPr>
        <p:txBody>
          <a:bodyPr/>
          <a:lstStyle/>
          <a:p>
            <a:endParaRPr lang="en-SE"/>
          </a:p>
        </p:txBody>
      </p:sp>
      <p:sp>
        <p:nvSpPr>
          <p:cNvPr id="19" name="Text 17"/>
          <p:cNvSpPr/>
          <p:nvPr/>
        </p:nvSpPr>
        <p:spPr>
          <a:xfrm>
            <a:off x="877824" y="498348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PLUS A TOP BAR</a:t>
            </a:r>
            <a:endParaRPr lang="en-US" sz="950" dirty="0"/>
          </a:p>
        </p:txBody>
      </p:sp>
      <p:sp>
        <p:nvSpPr>
          <p:cNvPr id="20" name="Text 18"/>
          <p:cNvSpPr/>
          <p:nvPr/>
        </p:nvSpPr>
        <p:spPr>
          <a:xfrm>
            <a:off x="877824" y="523951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Import an existing file, start a blank draft, toggle the theme, and save. Your draft is autosaved continuously in the browser, so a refresh or a crash never loses work.</a:t>
            </a:r>
            <a:endParaRPr lang="en-US" sz="1250" dirty="0"/>
          </a:p>
        </p:txBody>
      </p:sp>
      <p:sp>
        <p:nvSpPr>
          <p:cNvPr id="21" name="Text 1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2" name="Text 2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Personas — see only what you need</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One global setting controls how much of the field surface is visible. It is a view filter, never a data filter: switching never discards a value.</a:t>
            </a:r>
            <a:endParaRPr lang="en-US" sz="1450" dirty="0"/>
          </a:p>
        </p:txBody>
      </p:sp>
      <p:sp>
        <p:nvSpPr>
          <p:cNvPr id="6" name="Shape 4"/>
          <p:cNvSpPr/>
          <p:nvPr/>
        </p:nvSpPr>
        <p:spPr>
          <a:xfrm>
            <a:off x="640080" y="2011680"/>
            <a:ext cx="10911535" cy="1234440"/>
          </a:xfrm>
          <a:prstGeom prst="roundRect">
            <a:avLst>
              <a:gd name="adj" fmla="val 4444"/>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11680"/>
            <a:ext cx="54864" cy="123444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914400" y="2176272"/>
            <a:ext cx="2011680" cy="365760"/>
          </a:xfrm>
          <a:prstGeom prst="rect">
            <a:avLst/>
          </a:prstGeom>
          <a:noFill/>
          <a:ln/>
        </p:spPr>
        <p:txBody>
          <a:bodyPr wrap="square" lIns="0" tIns="0" rIns="0" bIns="0" rtlCol="0" anchor="ctr"/>
          <a:lstStyle/>
          <a:p>
            <a:pPr marL="0" indent="0">
              <a:buNone/>
            </a:pPr>
            <a:r>
              <a:rPr lang="en-US" sz="1900" b="1" dirty="0">
                <a:solidFill>
                  <a:srgbClr val="34D6BE"/>
                </a:solidFill>
                <a:latin typeface="Trebuchet MS" pitchFamily="34" charset="0"/>
                <a:ea typeface="Trebuchet MS" pitchFamily="34" charset="-122"/>
                <a:cs typeface="Trebuchet MS" pitchFamily="34" charset="-120"/>
              </a:rPr>
              <a:t>Beginner</a:t>
            </a:r>
            <a:endParaRPr lang="en-US" sz="1900" dirty="0"/>
          </a:p>
        </p:txBody>
      </p:sp>
      <p:sp>
        <p:nvSpPr>
          <p:cNvPr id="9" name="Text 7"/>
          <p:cNvSpPr/>
          <p:nvPr/>
        </p:nvSpPr>
        <p:spPr>
          <a:xfrm>
            <a:off x="914400" y="2578608"/>
            <a:ext cx="2194560" cy="548640"/>
          </a:xfrm>
          <a:prstGeom prst="rect">
            <a:avLst/>
          </a:prstGeom>
          <a:noFill/>
          <a:ln/>
        </p:spPr>
        <p:txBody>
          <a:bodyPr wrap="square" lIns="0" tIns="0" rIns="0" bIns="0" rtlCol="0" anchor="t"/>
          <a:lstStyle/>
          <a:p>
            <a:pPr marL="0" indent="0">
              <a:lnSpc>
                <a:spcPts val="1400"/>
              </a:lnSpc>
              <a:buNone/>
            </a:pPr>
            <a:r>
              <a:rPr lang="en-US" sz="1100" dirty="0">
                <a:solidFill>
                  <a:srgbClr val="8D97A5"/>
                </a:solidFill>
                <a:latin typeface="Calibri" pitchFamily="34" charset="0"/>
                <a:ea typeface="Calibri" pitchFamily="34" charset="-122"/>
                <a:cs typeface="Calibri" pitchFamily="34" charset="-120"/>
              </a:rPr>
              <a:t>A first-time student standing up a classroom exchange.</a:t>
            </a:r>
            <a:endParaRPr lang="en-US" sz="1100" dirty="0"/>
          </a:p>
        </p:txBody>
      </p:sp>
      <p:sp>
        <p:nvSpPr>
          <p:cNvPr id="10" name="Text 8"/>
          <p:cNvSpPr/>
          <p:nvPr/>
        </p:nvSpPr>
        <p:spPr>
          <a:xfrm>
            <a:off x="3383280" y="2212848"/>
            <a:ext cx="4206240" cy="868680"/>
          </a:xfrm>
          <a:prstGeom prst="rect">
            <a:avLst/>
          </a:prstGeom>
          <a:noFill/>
          <a:ln/>
        </p:spPr>
        <p:txBody>
          <a:bodyPr wrap="square" lIns="0" tIns="0" rIns="0" bIns="0" rtlCol="0" anchor="t"/>
          <a:lstStyle/>
          <a:p>
            <a:pPr marL="0" indent="0">
              <a:lnSpc>
                <a:spcPts val="1700"/>
              </a:lnSpc>
              <a:buNone/>
            </a:pPr>
            <a:r>
              <a:rPr lang="en-US" sz="1250" dirty="0">
                <a:solidFill>
                  <a:srgbClr val="C2CAD4"/>
                </a:solidFill>
                <a:latin typeface="Calibri" pitchFamily="34" charset="0"/>
                <a:ea typeface="Calibri" pitchFamily="34" charset="-122"/>
                <a:cs typeface="Calibri" pitchFamily="34" charset="-120"/>
              </a:rPr>
              <a:t>Show only what a minimal, safe exchange needs. Everything else takes a safe default.</a:t>
            </a:r>
            <a:endParaRPr lang="en-US" sz="1250" dirty="0"/>
          </a:p>
        </p:txBody>
      </p:sp>
      <p:sp>
        <p:nvSpPr>
          <p:cNvPr id="11" name="Text 9"/>
          <p:cNvSpPr/>
          <p:nvPr/>
        </p:nvSpPr>
        <p:spPr>
          <a:xfrm>
            <a:off x="7863840" y="2194560"/>
            <a:ext cx="3474720" cy="219456"/>
          </a:xfrm>
          <a:prstGeom prst="rect">
            <a:avLst/>
          </a:prstGeom>
          <a:noFill/>
          <a:ln/>
        </p:spPr>
        <p:txBody>
          <a:bodyPr wrap="square" lIns="0" tIns="0" rIns="0" bIns="0" rtlCol="0" anchor="ctr"/>
          <a:lstStyle/>
          <a:p>
            <a:pPr marL="0" indent="0">
              <a:buNone/>
            </a:pPr>
            <a:r>
              <a:rPr lang="en-US" sz="900" b="1" kern="0" spc="160" dirty="0">
                <a:solidFill>
                  <a:srgbClr val="8D97A5"/>
                </a:solidFill>
                <a:latin typeface="Calibri" pitchFamily="34" charset="0"/>
                <a:ea typeface="Calibri" pitchFamily="34" charset="-122"/>
                <a:cs typeface="Calibri" pitchFamily="34" charset="-120"/>
              </a:rPr>
              <a:t>TABS</a:t>
            </a:r>
            <a:endParaRPr lang="en-US" sz="900" dirty="0"/>
          </a:p>
        </p:txBody>
      </p:sp>
      <p:sp>
        <p:nvSpPr>
          <p:cNvPr id="12" name="Text 10"/>
          <p:cNvSpPr/>
          <p:nvPr/>
        </p:nvSpPr>
        <p:spPr>
          <a:xfrm>
            <a:off x="7863840" y="2468880"/>
            <a:ext cx="3520440" cy="685800"/>
          </a:xfrm>
          <a:prstGeom prst="rect">
            <a:avLst/>
          </a:prstGeom>
          <a:noFill/>
          <a:ln/>
        </p:spPr>
        <p:txBody>
          <a:bodyPr wrap="square" lIns="0" tIns="0" rIns="0" bIns="0" rtlCol="0" anchor="t"/>
          <a:lstStyle/>
          <a:p>
            <a:pPr marL="0" indent="0">
              <a:lnSpc>
                <a:spcPts val="1600"/>
              </a:lnSpc>
              <a:buNone/>
            </a:pPr>
            <a:r>
              <a:rPr lang="en-US" sz="1150" dirty="0">
                <a:solidFill>
                  <a:srgbClr val="34D6BE"/>
                </a:solidFill>
                <a:latin typeface="Calibri" pitchFamily="34" charset="0"/>
                <a:ea typeface="Calibri" pitchFamily="34" charset="-122"/>
                <a:cs typeface="Calibri" pitchFamily="34" charset="-120"/>
              </a:rPr>
              <a:t>Basics · Sessions &amp; Schedule · Market Maker · Review &amp; Export</a:t>
            </a:r>
            <a:endParaRPr lang="en-US" sz="1150" dirty="0"/>
          </a:p>
        </p:txBody>
      </p:sp>
      <p:sp>
        <p:nvSpPr>
          <p:cNvPr id="13" name="Shape 11"/>
          <p:cNvSpPr/>
          <p:nvPr/>
        </p:nvSpPr>
        <p:spPr>
          <a:xfrm>
            <a:off x="640080" y="3383280"/>
            <a:ext cx="10911535" cy="1234440"/>
          </a:xfrm>
          <a:prstGeom prst="roundRect">
            <a:avLst>
              <a:gd name="adj" fmla="val 4444"/>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40080" y="3383280"/>
            <a:ext cx="54864" cy="1234440"/>
          </a:xfrm>
          <a:prstGeom prst="rect">
            <a:avLst/>
          </a:prstGeom>
          <a:solidFill>
            <a:srgbClr val="F3B441"/>
          </a:solidFill>
          <a:ln w="12700">
            <a:solidFill>
              <a:srgbClr val="333333"/>
            </a:solidFill>
            <a:prstDash val="solid"/>
          </a:ln>
        </p:spPr>
        <p:txBody>
          <a:bodyPr/>
          <a:lstStyle/>
          <a:p>
            <a:endParaRPr lang="en-SE"/>
          </a:p>
        </p:txBody>
      </p:sp>
      <p:sp>
        <p:nvSpPr>
          <p:cNvPr id="15" name="Text 13"/>
          <p:cNvSpPr/>
          <p:nvPr/>
        </p:nvSpPr>
        <p:spPr>
          <a:xfrm>
            <a:off x="914400" y="3547872"/>
            <a:ext cx="2011680" cy="365760"/>
          </a:xfrm>
          <a:prstGeom prst="rect">
            <a:avLst/>
          </a:prstGeom>
          <a:noFill/>
          <a:ln/>
        </p:spPr>
        <p:txBody>
          <a:bodyPr wrap="square" lIns="0" tIns="0" rIns="0" bIns="0" rtlCol="0" anchor="ctr"/>
          <a:lstStyle/>
          <a:p>
            <a:pPr marL="0" indent="0">
              <a:buNone/>
            </a:pPr>
            <a:r>
              <a:rPr lang="en-US" sz="1900" b="1" dirty="0">
                <a:solidFill>
                  <a:srgbClr val="F3B441"/>
                </a:solidFill>
                <a:latin typeface="Trebuchet MS" pitchFamily="34" charset="0"/>
                <a:ea typeface="Trebuchet MS" pitchFamily="34" charset="-122"/>
                <a:cs typeface="Trebuchet MS" pitchFamily="34" charset="-120"/>
              </a:rPr>
              <a:t>Intermediate</a:t>
            </a:r>
            <a:endParaRPr lang="en-US" sz="1900" dirty="0"/>
          </a:p>
        </p:txBody>
      </p:sp>
      <p:sp>
        <p:nvSpPr>
          <p:cNvPr id="16" name="Text 14"/>
          <p:cNvSpPr/>
          <p:nvPr/>
        </p:nvSpPr>
        <p:spPr>
          <a:xfrm>
            <a:off x="914400" y="3950208"/>
            <a:ext cx="2194560" cy="548640"/>
          </a:xfrm>
          <a:prstGeom prst="rect">
            <a:avLst/>
          </a:prstGeom>
          <a:noFill/>
          <a:ln/>
        </p:spPr>
        <p:txBody>
          <a:bodyPr wrap="square" lIns="0" tIns="0" rIns="0" bIns="0" rtlCol="0" anchor="t"/>
          <a:lstStyle/>
          <a:p>
            <a:pPr marL="0" indent="0">
              <a:lnSpc>
                <a:spcPts val="1400"/>
              </a:lnSpc>
              <a:buNone/>
            </a:pPr>
            <a:r>
              <a:rPr lang="en-US" sz="1100" dirty="0">
                <a:solidFill>
                  <a:srgbClr val="8D97A5"/>
                </a:solidFill>
                <a:latin typeface="Calibri" pitchFamily="34" charset="0"/>
                <a:ea typeface="Calibri" pitchFamily="34" charset="-122"/>
                <a:cs typeface="Calibri" pitchFamily="34" charset="-120"/>
              </a:rPr>
              <a:t>A teaching assistant or instructor tuning a scenario.</a:t>
            </a:r>
            <a:endParaRPr lang="en-US" sz="1100" dirty="0"/>
          </a:p>
        </p:txBody>
      </p:sp>
      <p:sp>
        <p:nvSpPr>
          <p:cNvPr id="17" name="Text 15"/>
          <p:cNvSpPr/>
          <p:nvPr/>
        </p:nvSpPr>
        <p:spPr>
          <a:xfrm>
            <a:off x="3383280" y="3584448"/>
            <a:ext cx="4206240" cy="868680"/>
          </a:xfrm>
          <a:prstGeom prst="rect">
            <a:avLst/>
          </a:prstGeom>
          <a:noFill/>
          <a:ln/>
        </p:spPr>
        <p:txBody>
          <a:bodyPr wrap="square" lIns="0" tIns="0" rIns="0" bIns="0" rtlCol="0" anchor="t"/>
          <a:lstStyle/>
          <a:p>
            <a:pPr marL="0" indent="0">
              <a:lnSpc>
                <a:spcPts val="1700"/>
              </a:lnSpc>
              <a:buNone/>
            </a:pPr>
            <a:r>
              <a:rPr lang="en-US" sz="1250" dirty="0">
                <a:solidFill>
                  <a:srgbClr val="C2CAD4"/>
                </a:solidFill>
                <a:latin typeface="Calibri" pitchFamily="34" charset="0"/>
                <a:ea typeface="Calibri" pitchFamily="34" charset="-122"/>
                <a:cs typeface="Calibri" pitchFamily="34" charset="-120"/>
              </a:rPr>
              <a:t>Adds risk levels, circuit-breaker tuning, per-symbol overrides, indices and the common gateways.</a:t>
            </a:r>
            <a:endParaRPr lang="en-US" sz="1250" dirty="0"/>
          </a:p>
        </p:txBody>
      </p:sp>
      <p:sp>
        <p:nvSpPr>
          <p:cNvPr id="18" name="Text 16"/>
          <p:cNvSpPr/>
          <p:nvPr/>
        </p:nvSpPr>
        <p:spPr>
          <a:xfrm>
            <a:off x="7863840" y="3566160"/>
            <a:ext cx="3474720" cy="219456"/>
          </a:xfrm>
          <a:prstGeom prst="rect">
            <a:avLst/>
          </a:prstGeom>
          <a:noFill/>
          <a:ln/>
        </p:spPr>
        <p:txBody>
          <a:bodyPr wrap="square" lIns="0" tIns="0" rIns="0" bIns="0" rtlCol="0" anchor="ctr"/>
          <a:lstStyle/>
          <a:p>
            <a:pPr marL="0" indent="0">
              <a:buNone/>
            </a:pPr>
            <a:r>
              <a:rPr lang="en-US" sz="900" b="1" kern="0" spc="160" dirty="0">
                <a:solidFill>
                  <a:srgbClr val="8D97A5"/>
                </a:solidFill>
                <a:latin typeface="Calibri" pitchFamily="34" charset="0"/>
                <a:ea typeface="Calibri" pitchFamily="34" charset="-122"/>
                <a:cs typeface="Calibri" pitchFamily="34" charset="-120"/>
              </a:rPr>
              <a:t>TABS</a:t>
            </a:r>
            <a:endParaRPr lang="en-US" sz="900" dirty="0"/>
          </a:p>
        </p:txBody>
      </p:sp>
      <p:sp>
        <p:nvSpPr>
          <p:cNvPr id="19" name="Text 17"/>
          <p:cNvSpPr/>
          <p:nvPr/>
        </p:nvSpPr>
        <p:spPr>
          <a:xfrm>
            <a:off x="7863840" y="3840480"/>
            <a:ext cx="3520440" cy="685800"/>
          </a:xfrm>
          <a:prstGeom prst="rect">
            <a:avLst/>
          </a:prstGeom>
          <a:noFill/>
          <a:ln/>
        </p:spPr>
        <p:txBody>
          <a:bodyPr wrap="square" lIns="0" tIns="0" rIns="0" bIns="0" rtlCol="0" anchor="t"/>
          <a:lstStyle/>
          <a:p>
            <a:pPr marL="0" indent="0">
              <a:lnSpc>
                <a:spcPts val="1600"/>
              </a:lnSpc>
              <a:buNone/>
            </a:pPr>
            <a:r>
              <a:rPr lang="en-US" sz="1150" dirty="0">
                <a:solidFill>
                  <a:srgbClr val="F3B441"/>
                </a:solidFill>
                <a:latin typeface="Calibri" pitchFamily="34" charset="0"/>
                <a:ea typeface="Calibri" pitchFamily="34" charset="-122"/>
                <a:cs typeface="Calibri" pitchFamily="34" charset="-120"/>
              </a:rPr>
              <a:t>+ Risk &amp; Collars · Circuit Breakers · Symbols · Indices · Auxiliary Gateways</a:t>
            </a:r>
            <a:endParaRPr lang="en-US" sz="1150" dirty="0"/>
          </a:p>
        </p:txBody>
      </p:sp>
      <p:sp>
        <p:nvSpPr>
          <p:cNvPr id="20" name="Shape 18"/>
          <p:cNvSpPr/>
          <p:nvPr/>
        </p:nvSpPr>
        <p:spPr>
          <a:xfrm>
            <a:off x="640080" y="4754880"/>
            <a:ext cx="10911535" cy="1234440"/>
          </a:xfrm>
          <a:prstGeom prst="roundRect">
            <a:avLst>
              <a:gd name="adj" fmla="val 4444"/>
            </a:avLst>
          </a:prstGeom>
          <a:solidFill>
            <a:srgbClr val="252B33"/>
          </a:solidFill>
          <a:ln w="12700">
            <a:solidFill>
              <a:srgbClr val="3B4450"/>
            </a:solidFill>
            <a:prstDash val="solid"/>
          </a:ln>
        </p:spPr>
        <p:txBody>
          <a:bodyPr/>
          <a:lstStyle/>
          <a:p>
            <a:endParaRPr lang="en-SE"/>
          </a:p>
        </p:txBody>
      </p:sp>
      <p:sp>
        <p:nvSpPr>
          <p:cNvPr id="21" name="Shape 19"/>
          <p:cNvSpPr/>
          <p:nvPr/>
        </p:nvSpPr>
        <p:spPr>
          <a:xfrm>
            <a:off x="640080" y="4754880"/>
            <a:ext cx="54864" cy="1234440"/>
          </a:xfrm>
          <a:prstGeom prst="rect">
            <a:avLst/>
          </a:prstGeom>
          <a:solidFill>
            <a:srgbClr val="9B8CFF"/>
          </a:solidFill>
          <a:ln w="12700">
            <a:solidFill>
              <a:srgbClr val="333333"/>
            </a:solidFill>
            <a:prstDash val="solid"/>
          </a:ln>
        </p:spPr>
        <p:txBody>
          <a:bodyPr/>
          <a:lstStyle/>
          <a:p>
            <a:endParaRPr lang="en-SE"/>
          </a:p>
        </p:txBody>
      </p:sp>
      <p:sp>
        <p:nvSpPr>
          <p:cNvPr id="22" name="Text 20"/>
          <p:cNvSpPr/>
          <p:nvPr/>
        </p:nvSpPr>
        <p:spPr>
          <a:xfrm>
            <a:off x="914400" y="4919472"/>
            <a:ext cx="2011680" cy="365760"/>
          </a:xfrm>
          <a:prstGeom prst="rect">
            <a:avLst/>
          </a:prstGeom>
          <a:noFill/>
          <a:ln/>
        </p:spPr>
        <p:txBody>
          <a:bodyPr wrap="square" lIns="0" tIns="0" rIns="0" bIns="0" rtlCol="0" anchor="ctr"/>
          <a:lstStyle/>
          <a:p>
            <a:pPr marL="0" indent="0">
              <a:buNone/>
            </a:pPr>
            <a:r>
              <a:rPr lang="en-US" sz="1900" b="1" dirty="0">
                <a:solidFill>
                  <a:srgbClr val="9B8CFF"/>
                </a:solidFill>
                <a:latin typeface="Trebuchet MS" pitchFamily="34" charset="0"/>
                <a:ea typeface="Trebuchet MS" pitchFamily="34" charset="-122"/>
                <a:cs typeface="Trebuchet MS" pitchFamily="34" charset="-120"/>
              </a:rPr>
              <a:t>Expert</a:t>
            </a:r>
            <a:endParaRPr lang="en-US" sz="1900" dirty="0"/>
          </a:p>
        </p:txBody>
      </p:sp>
      <p:sp>
        <p:nvSpPr>
          <p:cNvPr id="23" name="Text 21"/>
          <p:cNvSpPr/>
          <p:nvPr/>
        </p:nvSpPr>
        <p:spPr>
          <a:xfrm>
            <a:off x="914400" y="5321808"/>
            <a:ext cx="2194560" cy="548640"/>
          </a:xfrm>
          <a:prstGeom prst="rect">
            <a:avLst/>
          </a:prstGeom>
          <a:noFill/>
          <a:ln/>
        </p:spPr>
        <p:txBody>
          <a:bodyPr wrap="square" lIns="0" tIns="0" rIns="0" bIns="0" rtlCol="0" anchor="t"/>
          <a:lstStyle/>
          <a:p>
            <a:pPr marL="0" indent="0">
              <a:lnSpc>
                <a:spcPts val="1400"/>
              </a:lnSpc>
              <a:buNone/>
            </a:pPr>
            <a:r>
              <a:rPr lang="en-US" sz="1100" dirty="0">
                <a:solidFill>
                  <a:srgbClr val="8D97A5"/>
                </a:solidFill>
                <a:latin typeface="Calibri" pitchFamily="34" charset="0"/>
                <a:ea typeface="Calibri" pitchFamily="34" charset="-122"/>
                <a:cs typeface="Calibri" pitchFamily="34" charset="-120"/>
              </a:rPr>
              <a:t>A course author building the full environment.</a:t>
            </a:r>
            <a:endParaRPr lang="en-US" sz="1100" dirty="0"/>
          </a:p>
        </p:txBody>
      </p:sp>
      <p:sp>
        <p:nvSpPr>
          <p:cNvPr id="24" name="Text 22"/>
          <p:cNvSpPr/>
          <p:nvPr/>
        </p:nvSpPr>
        <p:spPr>
          <a:xfrm>
            <a:off x="3383280" y="4956048"/>
            <a:ext cx="4206240" cy="868680"/>
          </a:xfrm>
          <a:prstGeom prst="rect">
            <a:avLst/>
          </a:prstGeom>
          <a:noFill/>
          <a:ln/>
        </p:spPr>
        <p:txBody>
          <a:bodyPr wrap="square" lIns="0" tIns="0" rIns="0" bIns="0" rtlCol="0" anchor="t"/>
          <a:lstStyle/>
          <a:p>
            <a:pPr marL="0" indent="0">
              <a:lnSpc>
                <a:spcPts val="1700"/>
              </a:lnSpc>
              <a:buNone/>
            </a:pPr>
            <a:r>
              <a:rPr lang="en-US" sz="1250" dirty="0">
                <a:solidFill>
                  <a:srgbClr val="C2CAD4"/>
                </a:solidFill>
                <a:latin typeface="Calibri" pitchFamily="34" charset="0"/>
                <a:ea typeface="Calibri" pitchFamily="34" charset="-122"/>
                <a:cs typeface="Calibri" pitchFamily="34" charset="-120"/>
              </a:rPr>
              <a:t>Everything — combos, per-gateway MM overrides, BALF and API gateways, engine tuning, deterministic seeding.</a:t>
            </a:r>
            <a:endParaRPr lang="en-US" sz="1250" dirty="0"/>
          </a:p>
        </p:txBody>
      </p:sp>
      <p:sp>
        <p:nvSpPr>
          <p:cNvPr id="25" name="Text 23"/>
          <p:cNvSpPr/>
          <p:nvPr/>
        </p:nvSpPr>
        <p:spPr>
          <a:xfrm>
            <a:off x="7863840" y="4937760"/>
            <a:ext cx="3474720" cy="219456"/>
          </a:xfrm>
          <a:prstGeom prst="rect">
            <a:avLst/>
          </a:prstGeom>
          <a:noFill/>
          <a:ln/>
        </p:spPr>
        <p:txBody>
          <a:bodyPr wrap="square" lIns="0" tIns="0" rIns="0" bIns="0" rtlCol="0" anchor="ctr"/>
          <a:lstStyle/>
          <a:p>
            <a:pPr marL="0" indent="0">
              <a:buNone/>
            </a:pPr>
            <a:r>
              <a:rPr lang="en-US" sz="900" b="1" kern="0" spc="160" dirty="0">
                <a:solidFill>
                  <a:srgbClr val="8D97A5"/>
                </a:solidFill>
                <a:latin typeface="Calibri" pitchFamily="34" charset="0"/>
                <a:ea typeface="Calibri" pitchFamily="34" charset="-122"/>
                <a:cs typeface="Calibri" pitchFamily="34" charset="-120"/>
              </a:rPr>
              <a:t>TABS</a:t>
            </a:r>
            <a:endParaRPr lang="en-US" sz="900" dirty="0"/>
          </a:p>
        </p:txBody>
      </p:sp>
      <p:sp>
        <p:nvSpPr>
          <p:cNvPr id="26" name="Text 24"/>
          <p:cNvSpPr/>
          <p:nvPr/>
        </p:nvSpPr>
        <p:spPr>
          <a:xfrm>
            <a:off x="7863840" y="5212080"/>
            <a:ext cx="3520440" cy="685800"/>
          </a:xfrm>
          <a:prstGeom prst="rect">
            <a:avLst/>
          </a:prstGeom>
          <a:noFill/>
          <a:ln/>
        </p:spPr>
        <p:txBody>
          <a:bodyPr wrap="square" lIns="0" tIns="0" rIns="0" bIns="0" rtlCol="0" anchor="t"/>
          <a:lstStyle/>
          <a:p>
            <a:pPr marL="0" indent="0">
              <a:lnSpc>
                <a:spcPts val="1600"/>
              </a:lnSpc>
              <a:buNone/>
            </a:pPr>
            <a:r>
              <a:rPr lang="en-US" sz="1150" dirty="0">
                <a:solidFill>
                  <a:srgbClr val="9B8CFF"/>
                </a:solidFill>
                <a:latin typeface="Calibri" pitchFamily="34" charset="0"/>
                <a:ea typeface="Calibri" pitchFamily="34" charset="-122"/>
                <a:cs typeface="Calibri" pitchFamily="34" charset="-120"/>
              </a:rPr>
              <a:t>+ Combos · Engine Tuning</a:t>
            </a:r>
            <a:endParaRPr lang="en-US" sz="1150" dirty="0"/>
          </a:p>
        </p:txBody>
      </p:sp>
      <p:sp>
        <p:nvSpPr>
          <p:cNvPr id="27" name="Shape 25"/>
          <p:cNvSpPr/>
          <p:nvPr/>
        </p:nvSpPr>
        <p:spPr>
          <a:xfrm>
            <a:off x="640080" y="6172200"/>
            <a:ext cx="10911535" cy="502920"/>
          </a:xfrm>
          <a:prstGeom prst="roundRect">
            <a:avLst>
              <a:gd name="adj" fmla="val 10909"/>
            </a:avLst>
          </a:prstGeom>
          <a:solidFill>
            <a:srgbClr val="252B33"/>
          </a:solidFill>
          <a:ln w="12700">
            <a:solidFill>
              <a:srgbClr val="3B4450"/>
            </a:solidFill>
            <a:prstDash val="solid"/>
          </a:ln>
        </p:spPr>
        <p:txBody>
          <a:bodyPr/>
          <a:lstStyle/>
          <a:p>
            <a:endParaRPr lang="en-SE"/>
          </a:p>
        </p:txBody>
      </p:sp>
      <p:sp>
        <p:nvSpPr>
          <p:cNvPr id="28" name="Text 26"/>
          <p:cNvSpPr/>
          <p:nvPr/>
        </p:nvSpPr>
        <p:spPr>
          <a:xfrm>
            <a:off x="877824" y="6263640"/>
            <a:ext cx="1737360" cy="237744"/>
          </a:xfrm>
          <a:prstGeom prst="rect">
            <a:avLst/>
          </a:prstGeom>
          <a:noFill/>
          <a:ln/>
        </p:spPr>
        <p:txBody>
          <a:bodyPr wrap="square" lIns="0" tIns="0" rIns="0" bIns="0" rtlCol="0" anchor="ctr"/>
          <a:lstStyle/>
          <a:p>
            <a:pPr marL="0" indent="0">
              <a:buNone/>
            </a:pPr>
            <a:endParaRPr lang="en-US" sz="950" dirty="0"/>
          </a:p>
        </p:txBody>
      </p:sp>
      <p:sp>
        <p:nvSpPr>
          <p:cNvPr id="29" name="Text 27"/>
          <p:cNvSpPr/>
          <p:nvPr/>
        </p:nvSpPr>
        <p:spPr>
          <a:xfrm>
            <a:off x="877824" y="6519672"/>
            <a:ext cx="10436047" cy="457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Market Maker tab appears at any persona — but only once at least one gateway carries the MARKET_MAKER role.</a:t>
            </a:r>
            <a:endParaRPr lang="en-US" sz="1250" dirty="0"/>
          </a:p>
        </p:txBody>
      </p:sp>
      <p:sp>
        <p:nvSpPr>
          <p:cNvPr id="30" name="Text 28"/>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31" name="Text 29"/>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Adding a symbol is an IPO</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GUI does not ask for a symbol name. It opens a listing dialog — because on the very first tick the engine has no trade history to anchor to.</a:t>
            </a:r>
            <a:endParaRPr lang="en-US" sz="1450" dirty="0"/>
          </a:p>
        </p:txBody>
      </p:sp>
      <p:sp>
        <p:nvSpPr>
          <p:cNvPr id="6" name="Shape 4"/>
          <p:cNvSpPr/>
          <p:nvPr/>
        </p:nvSpPr>
        <p:spPr>
          <a:xfrm>
            <a:off x="640080" y="2011680"/>
            <a:ext cx="5486400" cy="3291840"/>
          </a:xfrm>
          <a:prstGeom prst="roundRect">
            <a:avLst>
              <a:gd name="adj" fmla="val 1667"/>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5484571"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96112" y="2267712"/>
            <a:ext cx="4937760" cy="347472"/>
          </a:xfrm>
          <a:prstGeom prst="rect">
            <a:avLst/>
          </a:prstGeom>
          <a:noFill/>
          <a:ln/>
        </p:spPr>
        <p:txBody>
          <a:bodyPr wrap="square" lIns="0" tIns="0" rIns="0" bIns="0" rtlCol="0" anchor="ctr"/>
          <a:lstStyle/>
          <a:p>
            <a:pPr marL="0" indent="0">
              <a:buNone/>
            </a:pPr>
            <a:r>
              <a:rPr lang="en-US" sz="1700" b="1" dirty="0">
                <a:solidFill>
                  <a:srgbClr val="F1F4F8"/>
                </a:solidFill>
                <a:latin typeface="Trebuchet MS" pitchFamily="34" charset="0"/>
                <a:ea typeface="Trebuchet MS" pitchFamily="34" charset="-122"/>
                <a:cs typeface="Trebuchet MS" pitchFamily="34" charset="-120"/>
              </a:rPr>
              <a:t>List a new symbol (IPO)</a:t>
            </a:r>
            <a:endParaRPr lang="en-US" sz="1700" dirty="0"/>
          </a:p>
        </p:txBody>
      </p:sp>
      <p:sp>
        <p:nvSpPr>
          <p:cNvPr id="9" name="Shape 7"/>
          <p:cNvSpPr/>
          <p:nvPr/>
        </p:nvSpPr>
        <p:spPr>
          <a:xfrm>
            <a:off x="896112" y="2807208"/>
            <a:ext cx="82296" cy="82296"/>
          </a:xfrm>
          <a:prstGeom prst="rect">
            <a:avLst/>
          </a:prstGeom>
          <a:solidFill>
            <a:srgbClr val="34D6BE"/>
          </a:solidFill>
          <a:ln w="12700">
            <a:solidFill>
              <a:srgbClr val="333333"/>
            </a:solidFill>
            <a:prstDash val="solid"/>
          </a:ln>
        </p:spPr>
        <p:txBody>
          <a:bodyPr/>
          <a:lstStyle/>
          <a:p>
            <a:endParaRPr lang="en-SE"/>
          </a:p>
        </p:txBody>
      </p:sp>
      <p:sp>
        <p:nvSpPr>
          <p:cNvPr id="10" name="Text 8"/>
          <p:cNvSpPr/>
          <p:nvPr/>
        </p:nvSpPr>
        <p:spPr>
          <a:xfrm>
            <a:off x="1133856" y="2706624"/>
            <a:ext cx="47457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Symbol name  </a:t>
            </a:r>
            <a:r>
              <a:rPr lang="en-US" sz="1200" dirty="0">
                <a:solidFill>
                  <a:srgbClr val="C2CAD4"/>
                </a:solidFill>
                <a:latin typeface="Calibri" pitchFamily="34" charset="0"/>
                <a:ea typeface="Calibri" pitchFamily="34" charset="-122"/>
                <a:cs typeface="Calibri" pitchFamily="34" charset="-120"/>
              </a:rPr>
              <a:t>upper-cased automatically, must be unique</a:t>
            </a:r>
            <a:endParaRPr lang="en-US" sz="1200" dirty="0"/>
          </a:p>
        </p:txBody>
      </p:sp>
      <p:sp>
        <p:nvSpPr>
          <p:cNvPr id="11" name="Shape 9"/>
          <p:cNvSpPr/>
          <p:nvPr/>
        </p:nvSpPr>
        <p:spPr>
          <a:xfrm>
            <a:off x="896112" y="3374136"/>
            <a:ext cx="82296" cy="82296"/>
          </a:xfrm>
          <a:prstGeom prst="rect">
            <a:avLst/>
          </a:prstGeom>
          <a:solidFill>
            <a:srgbClr val="34D6BE"/>
          </a:solidFill>
          <a:ln w="12700">
            <a:solidFill>
              <a:srgbClr val="333333"/>
            </a:solidFill>
            <a:prstDash val="solid"/>
          </a:ln>
        </p:spPr>
        <p:txBody>
          <a:bodyPr/>
          <a:lstStyle/>
          <a:p>
            <a:endParaRPr lang="en-SE"/>
          </a:p>
        </p:txBody>
      </p:sp>
      <p:sp>
        <p:nvSpPr>
          <p:cNvPr id="12" name="Text 10"/>
          <p:cNvSpPr/>
          <p:nvPr/>
        </p:nvSpPr>
        <p:spPr>
          <a:xfrm>
            <a:off x="1133856" y="3273552"/>
            <a:ext cx="47457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Reference price  </a:t>
            </a:r>
            <a:r>
              <a:rPr lang="en-US" sz="1200" dirty="0">
                <a:solidFill>
                  <a:srgbClr val="C2CAD4"/>
                </a:solidFill>
                <a:latin typeface="Calibri" pitchFamily="34" charset="0"/>
                <a:ea typeface="Calibri" pitchFamily="34" charset="-122"/>
                <a:cs typeface="Calibri" pitchFamily="34" charset="-120"/>
              </a:rPr>
              <a:t>the opening mid — derives last buy/sell prices and the collar's day-one anchor</a:t>
            </a:r>
            <a:endParaRPr lang="en-US" sz="1200" dirty="0"/>
          </a:p>
        </p:txBody>
      </p:sp>
      <p:sp>
        <p:nvSpPr>
          <p:cNvPr id="13" name="Shape 11"/>
          <p:cNvSpPr/>
          <p:nvPr/>
        </p:nvSpPr>
        <p:spPr>
          <a:xfrm>
            <a:off x="896112" y="3941064"/>
            <a:ext cx="82296" cy="82296"/>
          </a:xfrm>
          <a:prstGeom prst="rect">
            <a:avLst/>
          </a:prstGeom>
          <a:solidFill>
            <a:srgbClr val="5AB2F7"/>
          </a:solidFill>
          <a:ln w="12700">
            <a:solidFill>
              <a:srgbClr val="333333"/>
            </a:solidFill>
            <a:prstDash val="solid"/>
          </a:ln>
        </p:spPr>
        <p:txBody>
          <a:bodyPr/>
          <a:lstStyle/>
          <a:p>
            <a:endParaRPr lang="en-SE"/>
          </a:p>
        </p:txBody>
      </p:sp>
      <p:sp>
        <p:nvSpPr>
          <p:cNvPr id="14" name="Text 12"/>
          <p:cNvSpPr/>
          <p:nvPr/>
        </p:nvSpPr>
        <p:spPr>
          <a:xfrm>
            <a:off x="1133856" y="3840480"/>
            <a:ext cx="47457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Tick decimals  </a:t>
            </a:r>
            <a:r>
              <a:rPr lang="en-US" sz="1200" dirty="0">
                <a:solidFill>
                  <a:srgbClr val="C2CAD4"/>
                </a:solidFill>
                <a:latin typeface="Calibri" pitchFamily="34" charset="0"/>
                <a:ea typeface="Calibri" pitchFamily="34" charset="-122"/>
                <a:cs typeface="Calibri" pitchFamily="34" charset="-120"/>
              </a:rPr>
              <a:t>price precision, 0 to 8</a:t>
            </a:r>
            <a:endParaRPr lang="en-US" sz="1200" dirty="0"/>
          </a:p>
        </p:txBody>
      </p:sp>
      <p:sp>
        <p:nvSpPr>
          <p:cNvPr id="15" name="Shape 13"/>
          <p:cNvSpPr/>
          <p:nvPr/>
        </p:nvSpPr>
        <p:spPr>
          <a:xfrm>
            <a:off x="896112" y="4507992"/>
            <a:ext cx="82296" cy="82296"/>
          </a:xfrm>
          <a:prstGeom prst="rect">
            <a:avLst/>
          </a:prstGeom>
          <a:solidFill>
            <a:srgbClr val="5AB2F7"/>
          </a:solidFill>
          <a:ln w="12700">
            <a:solidFill>
              <a:srgbClr val="333333"/>
            </a:solidFill>
            <a:prstDash val="solid"/>
          </a:ln>
        </p:spPr>
        <p:txBody>
          <a:bodyPr/>
          <a:lstStyle/>
          <a:p>
            <a:endParaRPr lang="en-SE"/>
          </a:p>
        </p:txBody>
      </p:sp>
      <p:sp>
        <p:nvSpPr>
          <p:cNvPr id="16" name="Text 14"/>
          <p:cNvSpPr/>
          <p:nvPr/>
        </p:nvSpPr>
        <p:spPr>
          <a:xfrm>
            <a:off x="1133856" y="4407408"/>
            <a:ext cx="47457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Outstanding shares  </a:t>
            </a:r>
            <a:r>
              <a:rPr lang="en-US" sz="1200" dirty="0">
                <a:solidFill>
                  <a:srgbClr val="C2CAD4"/>
                </a:solidFill>
                <a:latin typeface="Calibri" pitchFamily="34" charset="0"/>
                <a:ea typeface="Calibri" pitchFamily="34" charset="-122"/>
                <a:cs typeface="Calibri" pitchFamily="34" charset="-120"/>
              </a:rPr>
              <a:t>required if the symbol will join an index</a:t>
            </a:r>
            <a:endParaRPr lang="en-US" sz="1200" dirty="0"/>
          </a:p>
        </p:txBody>
      </p:sp>
      <p:sp>
        <p:nvSpPr>
          <p:cNvPr id="17" name="Shape 15"/>
          <p:cNvSpPr/>
          <p:nvPr/>
        </p:nvSpPr>
        <p:spPr>
          <a:xfrm>
            <a:off x="896112" y="5074920"/>
            <a:ext cx="82296" cy="82296"/>
          </a:xfrm>
          <a:prstGeom prst="rect">
            <a:avLst/>
          </a:prstGeom>
          <a:solidFill>
            <a:srgbClr val="F3B441"/>
          </a:solidFill>
          <a:ln w="12700">
            <a:solidFill>
              <a:srgbClr val="333333"/>
            </a:solidFill>
            <a:prstDash val="solid"/>
          </a:ln>
        </p:spPr>
        <p:txBody>
          <a:bodyPr/>
          <a:lstStyle/>
          <a:p>
            <a:endParaRPr lang="en-SE"/>
          </a:p>
        </p:txBody>
      </p:sp>
      <p:sp>
        <p:nvSpPr>
          <p:cNvPr id="18" name="Text 16"/>
          <p:cNvSpPr/>
          <p:nvPr/>
        </p:nvSpPr>
        <p:spPr>
          <a:xfrm>
            <a:off x="1133856" y="4974336"/>
            <a:ext cx="47457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Opening spread + quote size  </a:t>
            </a:r>
            <a:r>
              <a:rPr lang="en-US" sz="1200" dirty="0">
                <a:solidFill>
                  <a:srgbClr val="C2CAD4"/>
                </a:solidFill>
                <a:latin typeface="Calibri" pitchFamily="34" charset="0"/>
                <a:ea typeface="Calibri" pitchFamily="34" charset="-122"/>
                <a:cs typeface="Calibri" pitchFamily="34" charset="-120"/>
              </a:rPr>
              <a:t>auto-derives the market maker's first bid and ask around the reference price</a:t>
            </a:r>
            <a:endParaRPr lang="en-US" sz="1200" dirty="0"/>
          </a:p>
        </p:txBody>
      </p:sp>
      <p:sp>
        <p:nvSpPr>
          <p:cNvPr id="19" name="Shape 17"/>
          <p:cNvSpPr/>
          <p:nvPr/>
        </p:nvSpPr>
        <p:spPr>
          <a:xfrm>
            <a:off x="6355080" y="2011680"/>
            <a:ext cx="5193792" cy="1554480"/>
          </a:xfrm>
          <a:prstGeom prst="roundRect">
            <a:avLst>
              <a:gd name="adj" fmla="val 3529"/>
            </a:avLst>
          </a:prstGeom>
          <a:solidFill>
            <a:srgbClr val="252B33"/>
          </a:solidFill>
          <a:ln w="12700">
            <a:solidFill>
              <a:srgbClr val="3B4450"/>
            </a:solidFill>
            <a:prstDash val="solid"/>
          </a:ln>
        </p:spPr>
        <p:txBody>
          <a:bodyPr/>
          <a:lstStyle/>
          <a:p>
            <a:endParaRPr lang="en-SE"/>
          </a:p>
        </p:txBody>
      </p:sp>
      <p:sp>
        <p:nvSpPr>
          <p:cNvPr id="20" name="Shape 18"/>
          <p:cNvSpPr/>
          <p:nvPr/>
        </p:nvSpPr>
        <p:spPr>
          <a:xfrm>
            <a:off x="6355994" y="2012594"/>
            <a:ext cx="5191963" cy="50292"/>
          </a:xfrm>
          <a:prstGeom prst="rect">
            <a:avLst/>
          </a:prstGeom>
          <a:solidFill>
            <a:srgbClr val="F3B441"/>
          </a:solidFill>
          <a:ln w="12700">
            <a:solidFill>
              <a:srgbClr val="333333"/>
            </a:solidFill>
            <a:prstDash val="solid"/>
          </a:ln>
        </p:spPr>
        <p:txBody>
          <a:bodyPr/>
          <a:lstStyle/>
          <a:p>
            <a:endParaRPr lang="en-SE"/>
          </a:p>
        </p:txBody>
      </p:sp>
      <p:sp>
        <p:nvSpPr>
          <p:cNvPr id="21" name="Text 19"/>
          <p:cNvSpPr/>
          <p:nvPr/>
        </p:nvSpPr>
        <p:spPr>
          <a:xfrm>
            <a:off x="6611112" y="2249424"/>
            <a:ext cx="4663440"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Why one number drives five</a:t>
            </a:r>
            <a:endParaRPr lang="en-US" sz="1600" dirty="0"/>
          </a:p>
        </p:txBody>
      </p:sp>
      <p:sp>
        <p:nvSpPr>
          <p:cNvPr id="22" name="Text 20"/>
          <p:cNvSpPr/>
          <p:nvPr/>
        </p:nvSpPr>
        <p:spPr>
          <a:xfrm>
            <a:off x="6611112" y="2651760"/>
            <a:ext cx="4663440" cy="91440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Collar reference, circuit-breaker reference, last buy price, last sell price and the opening quote must all agree. Capturing them separately is how they drift apart. The dialog captures one price and derives the rest.</a:t>
            </a:r>
            <a:endParaRPr lang="en-US" sz="1200" dirty="0"/>
          </a:p>
        </p:txBody>
      </p:sp>
      <p:sp>
        <p:nvSpPr>
          <p:cNvPr id="23" name="Shape 21"/>
          <p:cNvSpPr/>
          <p:nvPr/>
        </p:nvSpPr>
        <p:spPr>
          <a:xfrm>
            <a:off x="6355080" y="3703320"/>
            <a:ext cx="5193792" cy="1600200"/>
          </a:xfrm>
          <a:prstGeom prst="roundRect">
            <a:avLst>
              <a:gd name="adj" fmla="val 3429"/>
            </a:avLst>
          </a:prstGeom>
          <a:solidFill>
            <a:srgbClr val="252B33"/>
          </a:solidFill>
          <a:ln w="12700">
            <a:solidFill>
              <a:srgbClr val="3B4450"/>
            </a:solidFill>
            <a:prstDash val="solid"/>
          </a:ln>
        </p:spPr>
        <p:txBody>
          <a:bodyPr/>
          <a:lstStyle/>
          <a:p>
            <a:endParaRPr lang="en-SE"/>
          </a:p>
        </p:txBody>
      </p:sp>
      <p:sp>
        <p:nvSpPr>
          <p:cNvPr id="24" name="Shape 22"/>
          <p:cNvSpPr/>
          <p:nvPr/>
        </p:nvSpPr>
        <p:spPr>
          <a:xfrm>
            <a:off x="6355994" y="3704234"/>
            <a:ext cx="5191963" cy="50292"/>
          </a:xfrm>
          <a:prstGeom prst="rect">
            <a:avLst/>
          </a:prstGeom>
          <a:solidFill>
            <a:srgbClr val="9B8CFF"/>
          </a:solidFill>
          <a:ln w="12700">
            <a:solidFill>
              <a:srgbClr val="333333"/>
            </a:solidFill>
            <a:prstDash val="solid"/>
          </a:ln>
        </p:spPr>
        <p:txBody>
          <a:bodyPr/>
          <a:lstStyle/>
          <a:p>
            <a:endParaRPr lang="en-SE"/>
          </a:p>
        </p:txBody>
      </p:sp>
      <p:sp>
        <p:nvSpPr>
          <p:cNvPr id="25" name="Text 23"/>
          <p:cNvSpPr/>
          <p:nvPr/>
        </p:nvSpPr>
        <p:spPr>
          <a:xfrm>
            <a:off x="6611112" y="3941064"/>
            <a:ext cx="4663440"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The Symbol Overview</a:t>
            </a:r>
            <a:endParaRPr lang="en-US" sz="1600" dirty="0"/>
          </a:p>
        </p:txBody>
      </p:sp>
      <p:sp>
        <p:nvSpPr>
          <p:cNvPr id="26" name="Text 24"/>
          <p:cNvSpPr/>
          <p:nvPr/>
        </p:nvSpPr>
        <p:spPr>
          <a:xfrm>
            <a:off x="6611112" y="4343400"/>
            <a:ext cx="4663440" cy="91440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A read-only view of the effective values — what the engine will actually use after every inheritance and merge rule — with each value tagged by where it came from. Your last sanity check before export.</a:t>
            </a:r>
            <a:endParaRPr lang="en-US" sz="120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Seeding the book: two routes and a trap</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Before the engine starts there must be resting quotes, or the first participant sees an empty book.</a:t>
            </a:r>
            <a:endParaRPr lang="en-US" sz="1450" dirty="0"/>
          </a:p>
        </p:txBody>
      </p:sp>
      <p:sp>
        <p:nvSpPr>
          <p:cNvPr id="6" name="Shape 4"/>
          <p:cNvSpPr/>
          <p:nvPr/>
        </p:nvSpPr>
        <p:spPr>
          <a:xfrm>
            <a:off x="640080" y="2011680"/>
            <a:ext cx="3520440" cy="2377440"/>
          </a:xfrm>
          <a:prstGeom prst="roundRect">
            <a:avLst>
              <a:gd name="adj" fmla="val 230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518611"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77824" y="2286000"/>
            <a:ext cx="3044952" cy="219456"/>
          </a:xfrm>
          <a:prstGeom prst="rect">
            <a:avLst/>
          </a:prstGeom>
          <a:noFill/>
          <a:ln/>
        </p:spPr>
        <p:txBody>
          <a:bodyPr wrap="square" lIns="0" tIns="0" rIns="0" bIns="0" rtlCol="0" anchor="ctr"/>
          <a:lstStyle/>
          <a:p>
            <a:pPr marL="0" indent="0">
              <a:buNone/>
            </a:pPr>
            <a:r>
              <a:rPr lang="en-US" sz="900" b="1" kern="0" spc="160" dirty="0">
                <a:solidFill>
                  <a:srgbClr val="34D6BE"/>
                </a:solidFill>
                <a:latin typeface="Calibri" pitchFamily="34" charset="0"/>
                <a:ea typeface="Calibri" pitchFamily="34" charset="-122"/>
                <a:cs typeface="Calibri" pitchFamily="34" charset="-120"/>
              </a:rPr>
              <a:t>PRECISE</a:t>
            </a:r>
            <a:endParaRPr lang="en-US" sz="900" dirty="0"/>
          </a:p>
        </p:txBody>
      </p:sp>
      <p:sp>
        <p:nvSpPr>
          <p:cNvPr id="9" name="Text 7"/>
          <p:cNvSpPr/>
          <p:nvPr/>
        </p:nvSpPr>
        <p:spPr>
          <a:xfrm>
            <a:off x="877824" y="256032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Option A — explicit quotes</a:t>
            </a:r>
            <a:endParaRPr lang="en-US" sz="1550" dirty="0"/>
          </a:p>
        </p:txBody>
      </p:sp>
      <p:sp>
        <p:nvSpPr>
          <p:cNvPr id="10" name="Text 8"/>
          <p:cNvSpPr/>
          <p:nvPr/>
        </p:nvSpPr>
        <p:spPr>
          <a:xfrm>
            <a:off x="877824" y="2944368"/>
            <a:ext cx="3044952" cy="128016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Enter a specific bid price, ask price and sizes for each symbol and market-maker pair. Highest precedence. Use when different symbols need different opening prices.</a:t>
            </a:r>
            <a:endParaRPr lang="en-US" sz="1200" dirty="0"/>
          </a:p>
        </p:txBody>
      </p:sp>
      <p:sp>
        <p:nvSpPr>
          <p:cNvPr id="11" name="Shape 9"/>
          <p:cNvSpPr/>
          <p:nvPr/>
        </p:nvSpPr>
        <p:spPr>
          <a:xfrm>
            <a:off x="4343400" y="2011680"/>
            <a:ext cx="3520440" cy="2377440"/>
          </a:xfrm>
          <a:prstGeom prst="roundRect">
            <a:avLst>
              <a:gd name="adj" fmla="val 2308"/>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4344314" y="2012594"/>
            <a:ext cx="3518611" cy="50292"/>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4581144" y="2286000"/>
            <a:ext cx="3044952" cy="219456"/>
          </a:xfrm>
          <a:prstGeom prst="rect">
            <a:avLst/>
          </a:prstGeom>
          <a:noFill/>
          <a:ln/>
        </p:spPr>
        <p:txBody>
          <a:bodyPr wrap="square" lIns="0" tIns="0" rIns="0" bIns="0" rtlCol="0" anchor="ctr"/>
          <a:lstStyle/>
          <a:p>
            <a:pPr marL="0" indent="0">
              <a:buNone/>
            </a:pPr>
            <a:r>
              <a:rPr lang="en-US" sz="900" b="1" kern="0" spc="160" dirty="0">
                <a:solidFill>
                  <a:srgbClr val="F3B441"/>
                </a:solidFill>
                <a:latin typeface="Calibri" pitchFamily="34" charset="0"/>
                <a:ea typeface="Calibri" pitchFamily="34" charset="-122"/>
                <a:cs typeface="Calibri" pitchFamily="34" charset="-120"/>
              </a:rPr>
              <a:t>FAST</a:t>
            </a:r>
            <a:endParaRPr lang="en-US" sz="900" dirty="0"/>
          </a:p>
        </p:txBody>
      </p:sp>
      <p:sp>
        <p:nvSpPr>
          <p:cNvPr id="14" name="Text 12"/>
          <p:cNvSpPr/>
          <p:nvPr/>
        </p:nvSpPr>
        <p:spPr>
          <a:xfrm>
            <a:off x="4581144" y="256032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Option B — mid-range seeding</a:t>
            </a:r>
            <a:endParaRPr lang="en-US" sz="1550" dirty="0"/>
          </a:p>
        </p:txBody>
      </p:sp>
      <p:sp>
        <p:nvSpPr>
          <p:cNvPr id="15" name="Text 13"/>
          <p:cNvSpPr/>
          <p:nvPr/>
        </p:nvSpPr>
        <p:spPr>
          <a:xfrm>
            <a:off x="4581144" y="2944368"/>
            <a:ext cx="3044952" cy="128016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Set one price range on the Market Maker tab. The builder computes a single midpoint and places a bid one tick below and an ask one tick above.</a:t>
            </a:r>
            <a:endParaRPr lang="en-US" sz="1200" dirty="0"/>
          </a:p>
        </p:txBody>
      </p:sp>
      <p:sp>
        <p:nvSpPr>
          <p:cNvPr id="16" name="Shape 14"/>
          <p:cNvSpPr/>
          <p:nvPr/>
        </p:nvSpPr>
        <p:spPr>
          <a:xfrm>
            <a:off x="8046720" y="2011680"/>
            <a:ext cx="3502152" cy="2377440"/>
          </a:xfrm>
          <a:prstGeom prst="roundRect">
            <a:avLst>
              <a:gd name="adj" fmla="val 2308"/>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8047634" y="2012594"/>
            <a:ext cx="3500323" cy="50292"/>
          </a:xfrm>
          <a:prstGeom prst="rect">
            <a:avLst/>
          </a:prstGeom>
          <a:solidFill>
            <a:srgbClr val="FF7A6B"/>
          </a:solidFill>
          <a:ln w="12700">
            <a:solidFill>
              <a:srgbClr val="333333"/>
            </a:solidFill>
            <a:prstDash val="solid"/>
          </a:ln>
        </p:spPr>
        <p:txBody>
          <a:bodyPr/>
          <a:lstStyle/>
          <a:p>
            <a:endParaRPr lang="en-SE"/>
          </a:p>
        </p:txBody>
      </p:sp>
      <p:sp>
        <p:nvSpPr>
          <p:cNvPr id="18" name="Text 16"/>
          <p:cNvSpPr/>
          <p:nvPr/>
        </p:nvSpPr>
        <p:spPr>
          <a:xfrm>
            <a:off x="8284464" y="2286000"/>
            <a:ext cx="3026664" cy="219456"/>
          </a:xfrm>
          <a:prstGeom prst="rect">
            <a:avLst/>
          </a:prstGeom>
          <a:noFill/>
          <a:ln/>
        </p:spPr>
        <p:txBody>
          <a:bodyPr wrap="square" lIns="0" tIns="0" rIns="0" bIns="0" rtlCol="0" anchor="ctr"/>
          <a:lstStyle/>
          <a:p>
            <a:pPr marL="0" indent="0">
              <a:buNone/>
            </a:pPr>
            <a:r>
              <a:rPr lang="en-US" sz="900" b="1" kern="0" spc="160" dirty="0">
                <a:solidFill>
                  <a:srgbClr val="FF7A6B"/>
                </a:solidFill>
                <a:latin typeface="Calibri" pitchFamily="34" charset="0"/>
                <a:ea typeface="Calibri" pitchFamily="34" charset="-122"/>
                <a:cs typeface="Calibri" pitchFamily="34" charset="-120"/>
              </a:rPr>
              <a:t>BLOCKED</a:t>
            </a:r>
            <a:endParaRPr lang="en-US" sz="900" dirty="0"/>
          </a:p>
        </p:txBody>
      </p:sp>
      <p:sp>
        <p:nvSpPr>
          <p:cNvPr id="19" name="Text 17"/>
          <p:cNvSpPr/>
          <p:nvPr/>
        </p:nvSpPr>
        <p:spPr>
          <a:xfrm>
            <a:off x="8284464" y="2560320"/>
            <a:ext cx="3026664"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Fallback — a null stub</a:t>
            </a:r>
            <a:endParaRPr lang="en-US" sz="1550" dirty="0"/>
          </a:p>
        </p:txBody>
      </p:sp>
      <p:sp>
        <p:nvSpPr>
          <p:cNvPr id="20" name="Text 18"/>
          <p:cNvSpPr/>
          <p:nvPr/>
        </p:nvSpPr>
        <p:spPr>
          <a:xfrm>
            <a:off x="8284464" y="2944368"/>
            <a:ext cx="3026664" cy="128016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Neither supplied? The builder emits an empty quote. The review panel flags it and export is blocked until you resolve it.</a:t>
            </a:r>
            <a:endParaRPr lang="en-US" sz="1200" dirty="0"/>
          </a:p>
        </p:txBody>
      </p:sp>
      <p:sp>
        <p:nvSpPr>
          <p:cNvPr id="21" name="Shape 19"/>
          <p:cNvSpPr/>
          <p:nvPr/>
        </p:nvSpPr>
        <p:spPr>
          <a:xfrm>
            <a:off x="640080" y="4617720"/>
            <a:ext cx="10911535" cy="1051560"/>
          </a:xfrm>
          <a:prstGeom prst="roundRect">
            <a:avLst>
              <a:gd name="adj" fmla="val 5217"/>
            </a:avLst>
          </a:prstGeom>
          <a:solidFill>
            <a:srgbClr val="4C2420"/>
          </a:solidFill>
          <a:ln w="12700">
            <a:solidFill>
              <a:srgbClr val="FF7A6B"/>
            </a:solidFill>
            <a:prstDash val="solid"/>
          </a:ln>
        </p:spPr>
        <p:txBody>
          <a:bodyPr/>
          <a:lstStyle/>
          <a:p>
            <a:endParaRPr lang="en-SE"/>
          </a:p>
        </p:txBody>
      </p:sp>
      <p:sp>
        <p:nvSpPr>
          <p:cNvPr id="22" name="Text 20"/>
          <p:cNvSpPr/>
          <p:nvPr/>
        </p:nvSpPr>
        <p:spPr>
          <a:xfrm>
            <a:off x="877824" y="470916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THE TRAP IN OPTION B</a:t>
            </a:r>
            <a:endParaRPr lang="en-US" sz="950" dirty="0"/>
          </a:p>
        </p:txBody>
      </p:sp>
      <p:sp>
        <p:nvSpPr>
          <p:cNvPr id="23" name="Text 21"/>
          <p:cNvSpPr/>
          <p:nvPr/>
        </p:nvSpPr>
        <p:spPr>
          <a:xfrm>
            <a:off x="877824" y="4965192"/>
            <a:ext cx="10436047" cy="5943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range is averaged into one value and applied to every symbol — it is not distributed across them. A range of 200 to 220 gives every instrument a midpoint of 210, so AAPL and TSLA both open at 209.99 bid, 210.01 ask. For different opening prices per symbol, use explicit quotes.</a:t>
            </a:r>
            <a:endParaRPr lang="en-US" sz="1250" dirty="0"/>
          </a:p>
        </p:txBody>
      </p:sp>
      <p:sp>
        <p:nvSpPr>
          <p:cNvPr id="24" name="Shape 22"/>
          <p:cNvSpPr/>
          <p:nvPr/>
        </p:nvSpPr>
        <p:spPr>
          <a:xfrm>
            <a:off x="640080" y="5806440"/>
            <a:ext cx="10911535" cy="640080"/>
          </a:xfrm>
          <a:prstGeom prst="roundRect">
            <a:avLst>
              <a:gd name="adj" fmla="val 8571"/>
            </a:avLst>
          </a:prstGeom>
          <a:solidFill>
            <a:srgbClr val="252B33"/>
          </a:solidFill>
          <a:ln w="12700">
            <a:solidFill>
              <a:srgbClr val="3B4450"/>
            </a:solidFill>
            <a:prstDash val="solid"/>
          </a:ln>
        </p:spPr>
        <p:txBody>
          <a:bodyPr/>
          <a:lstStyle/>
          <a:p>
            <a:endParaRPr lang="en-SE"/>
          </a:p>
        </p:txBody>
      </p:sp>
      <p:sp>
        <p:nvSpPr>
          <p:cNvPr id="25" name="Text 23"/>
          <p:cNvSpPr/>
          <p:nvPr/>
        </p:nvSpPr>
        <p:spPr>
          <a:xfrm>
            <a:off x="877824" y="5897880"/>
            <a:ext cx="1737360" cy="237744"/>
          </a:xfrm>
          <a:prstGeom prst="rect">
            <a:avLst/>
          </a:prstGeom>
          <a:noFill/>
          <a:ln/>
        </p:spPr>
        <p:txBody>
          <a:bodyPr wrap="square" lIns="0" tIns="0" rIns="0" bIns="0" rtlCol="0" anchor="ctr"/>
          <a:lstStyle/>
          <a:p>
            <a:pPr marL="0" indent="0">
              <a:buNone/>
            </a:pPr>
            <a:r>
              <a:rPr lang="en-US" sz="950" b="1" kern="0" spc="160" dirty="0">
                <a:solidFill>
                  <a:srgbClr val="3B4450"/>
                </a:solidFill>
                <a:latin typeface="Calibri" pitchFamily="34" charset="0"/>
                <a:ea typeface="Calibri" pitchFamily="34" charset="-122"/>
                <a:cs typeface="Calibri" pitchFamily="34" charset="-120"/>
              </a:rPr>
              <a:t>SEED ONCE</a:t>
            </a:r>
            <a:endParaRPr lang="en-US" sz="950" dirty="0"/>
          </a:p>
        </p:txBody>
      </p:sp>
      <p:sp>
        <p:nvSpPr>
          <p:cNvPr id="26" name="Text 24"/>
          <p:cNvSpPr/>
          <p:nvPr/>
        </p:nvSpPr>
        <p:spPr>
          <a:xfrm>
            <a:off x="877824" y="6153912"/>
            <a:ext cx="10436047" cy="1828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On by default: the engine injects a seed quote only if it has no prior book state for that symbol, so a restart with existing history does not re-inject it.</a:t>
            </a:r>
            <a:endParaRPr lang="en-US" sz="125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Live diagnostics and the export gate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rule runs on each change, and again before export. Results appear in three coordinated places at once.</a:t>
            </a:r>
            <a:endParaRPr lang="en-US" sz="1450" dirty="0"/>
          </a:p>
        </p:txBody>
      </p:sp>
      <p:sp>
        <p:nvSpPr>
          <p:cNvPr id="6" name="Shape 4"/>
          <p:cNvSpPr/>
          <p:nvPr/>
        </p:nvSpPr>
        <p:spPr>
          <a:xfrm>
            <a:off x="640080" y="2011680"/>
            <a:ext cx="3344570" cy="1554480"/>
          </a:xfrm>
          <a:prstGeom prst="roundRect">
            <a:avLst>
              <a:gd name="adj" fmla="val 3529"/>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342742" cy="45720"/>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822960" y="2157984"/>
            <a:ext cx="457200" cy="237744"/>
          </a:xfrm>
          <a:prstGeom prst="rect">
            <a:avLst/>
          </a:prstGeom>
          <a:noFill/>
          <a:ln/>
        </p:spPr>
        <p:txBody>
          <a:bodyPr wrap="square" lIns="0" tIns="0" rIns="0" bIns="0" rtlCol="0" anchor="ctr"/>
          <a:lstStyle/>
          <a:p>
            <a:pPr marL="0" indent="0">
              <a:buNone/>
            </a:pPr>
            <a:r>
              <a:rPr lang="en-US" sz="1000" b="1" dirty="0">
                <a:solidFill>
                  <a:srgbClr val="FF7A6B"/>
                </a:solidFill>
                <a:latin typeface="Consolas" pitchFamily="34" charset="0"/>
                <a:ea typeface="Consolas" pitchFamily="34" charset="-122"/>
                <a:cs typeface="Consolas" pitchFamily="34" charset="-120"/>
              </a:rPr>
              <a:t>SEE IT</a:t>
            </a:r>
            <a:endParaRPr lang="en-US" sz="1000" dirty="0"/>
          </a:p>
        </p:txBody>
      </p:sp>
      <p:sp>
        <p:nvSpPr>
          <p:cNvPr id="9" name="Text 7"/>
          <p:cNvSpPr/>
          <p:nvPr/>
        </p:nvSpPr>
        <p:spPr>
          <a:xfrm>
            <a:off x="822960"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Field markers</a:t>
            </a:r>
            <a:endParaRPr lang="en-US" sz="1350" dirty="0"/>
          </a:p>
        </p:txBody>
      </p:sp>
      <p:sp>
        <p:nvSpPr>
          <p:cNvPr id="10" name="Text 8"/>
          <p:cNvSpPr/>
          <p:nvPr/>
        </p:nvSpPr>
        <p:spPr>
          <a:xfrm>
            <a:off x="822960" y="2724912"/>
            <a:ext cx="2978810" cy="73152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A coloured border, an inline icon and a tooltip on the offending field itself</a:t>
            </a:r>
            <a:endParaRPr lang="en-US" sz="1050" dirty="0"/>
          </a:p>
        </p:txBody>
      </p:sp>
      <p:sp>
        <p:nvSpPr>
          <p:cNvPr id="11" name="Text 9"/>
          <p:cNvSpPr/>
          <p:nvPr/>
        </p:nvSpPr>
        <p:spPr>
          <a:xfrm>
            <a:off x="4085234" y="25328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4423562" y="2011680"/>
            <a:ext cx="3344570" cy="1554480"/>
          </a:xfrm>
          <a:prstGeom prst="roundRect">
            <a:avLst>
              <a:gd name="adj" fmla="val 3529"/>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4424477" y="2012594"/>
            <a:ext cx="3342742" cy="45720"/>
          </a:xfrm>
          <a:prstGeom prst="rect">
            <a:avLst/>
          </a:prstGeom>
          <a:solidFill>
            <a:srgbClr val="F3B441"/>
          </a:solidFill>
          <a:ln w="12700">
            <a:solidFill>
              <a:srgbClr val="333333"/>
            </a:solidFill>
            <a:prstDash val="solid"/>
          </a:ln>
        </p:spPr>
        <p:txBody>
          <a:bodyPr/>
          <a:lstStyle/>
          <a:p>
            <a:endParaRPr lang="en-SE"/>
          </a:p>
        </p:txBody>
      </p:sp>
      <p:sp>
        <p:nvSpPr>
          <p:cNvPr id="14" name="Text 12"/>
          <p:cNvSpPr/>
          <p:nvPr/>
        </p:nvSpPr>
        <p:spPr>
          <a:xfrm>
            <a:off x="4606442" y="2157984"/>
            <a:ext cx="45720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SCAN IT</a:t>
            </a:r>
            <a:endParaRPr lang="en-US" sz="1000" dirty="0"/>
          </a:p>
        </p:txBody>
      </p:sp>
      <p:sp>
        <p:nvSpPr>
          <p:cNvPr id="15" name="Text 13"/>
          <p:cNvSpPr/>
          <p:nvPr/>
        </p:nvSpPr>
        <p:spPr>
          <a:xfrm>
            <a:off x="4606442"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Tab glyphs</a:t>
            </a:r>
            <a:endParaRPr lang="en-US" sz="1350" dirty="0"/>
          </a:p>
        </p:txBody>
      </p:sp>
      <p:sp>
        <p:nvSpPr>
          <p:cNvPr id="16" name="Text 14"/>
          <p:cNvSpPr/>
          <p:nvPr/>
        </p:nvSpPr>
        <p:spPr>
          <a:xfrm>
            <a:off x="4606442" y="2724912"/>
            <a:ext cx="2978810" cy="73152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Each tab shows the worst severity it contains, so nothing hides behind a closed tab</a:t>
            </a:r>
            <a:endParaRPr lang="en-US" sz="1050" dirty="0"/>
          </a:p>
        </p:txBody>
      </p:sp>
      <p:sp>
        <p:nvSpPr>
          <p:cNvPr id="17" name="Text 15"/>
          <p:cNvSpPr/>
          <p:nvPr/>
        </p:nvSpPr>
        <p:spPr>
          <a:xfrm>
            <a:off x="7868717" y="253288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8207045" y="2011680"/>
            <a:ext cx="3344570" cy="1554480"/>
          </a:xfrm>
          <a:prstGeom prst="roundRect">
            <a:avLst>
              <a:gd name="adj" fmla="val 3529"/>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8207959" y="2012594"/>
            <a:ext cx="3342742" cy="45720"/>
          </a:xfrm>
          <a:prstGeom prst="rect">
            <a:avLst/>
          </a:prstGeom>
          <a:solidFill>
            <a:srgbClr val="34D6BE"/>
          </a:solidFill>
          <a:ln w="12700">
            <a:solidFill>
              <a:srgbClr val="333333"/>
            </a:solidFill>
            <a:prstDash val="solid"/>
          </a:ln>
        </p:spPr>
        <p:txBody>
          <a:bodyPr/>
          <a:lstStyle/>
          <a:p>
            <a:endParaRPr lang="en-SE"/>
          </a:p>
        </p:txBody>
      </p:sp>
      <p:sp>
        <p:nvSpPr>
          <p:cNvPr id="20" name="Text 18"/>
          <p:cNvSpPr/>
          <p:nvPr/>
        </p:nvSpPr>
        <p:spPr>
          <a:xfrm>
            <a:off x="8389925" y="2157984"/>
            <a:ext cx="457200" cy="237744"/>
          </a:xfrm>
          <a:prstGeom prst="rect">
            <a:avLst/>
          </a:prstGeom>
          <a:noFill/>
          <a:ln/>
        </p:spPr>
        <p:txBody>
          <a:bodyPr wrap="square" lIns="0" tIns="0" rIns="0" bIns="0" rtlCol="0" anchor="ctr"/>
          <a:lstStyle/>
          <a:p>
            <a:pPr marL="0" indent="0">
              <a:buNone/>
            </a:pPr>
            <a:r>
              <a:rPr lang="en-US" sz="1000" b="1" dirty="0">
                <a:solidFill>
                  <a:srgbClr val="34D6BE"/>
                </a:solidFill>
                <a:latin typeface="Consolas" pitchFamily="34" charset="0"/>
                <a:ea typeface="Consolas" pitchFamily="34" charset="-122"/>
                <a:cs typeface="Consolas" pitchFamily="34" charset="-120"/>
              </a:rPr>
              <a:t>FIX IT</a:t>
            </a:r>
            <a:endParaRPr lang="en-US" sz="1000" dirty="0"/>
          </a:p>
        </p:txBody>
      </p:sp>
      <p:sp>
        <p:nvSpPr>
          <p:cNvPr id="21" name="Text 19"/>
          <p:cNvSpPr/>
          <p:nvPr/>
        </p:nvSpPr>
        <p:spPr>
          <a:xfrm>
            <a:off x="8389925"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Diagnostics drawer</a:t>
            </a:r>
            <a:endParaRPr lang="en-US" sz="1350" dirty="0"/>
          </a:p>
        </p:txBody>
      </p:sp>
      <p:sp>
        <p:nvSpPr>
          <p:cNvPr id="22" name="Text 20"/>
          <p:cNvSpPr/>
          <p:nvPr/>
        </p:nvSpPr>
        <p:spPr>
          <a:xfrm>
            <a:off x="8389925" y="2724912"/>
            <a:ext cx="2978810" cy="73152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A global issue list with a jump action that navigates to and highlights the linked fields</a:t>
            </a:r>
            <a:endParaRPr lang="en-US" sz="1050" dirty="0"/>
          </a:p>
        </p:txBody>
      </p:sp>
      <p:sp>
        <p:nvSpPr>
          <p:cNvPr id="23" name="Shape 21"/>
          <p:cNvSpPr/>
          <p:nvPr/>
        </p:nvSpPr>
        <p:spPr>
          <a:xfrm>
            <a:off x="640080" y="3886200"/>
            <a:ext cx="5349240"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24" name="Shape 22"/>
          <p:cNvSpPr/>
          <p:nvPr/>
        </p:nvSpPr>
        <p:spPr>
          <a:xfrm>
            <a:off x="640994" y="3887114"/>
            <a:ext cx="5347411" cy="50292"/>
          </a:xfrm>
          <a:prstGeom prst="rect">
            <a:avLst/>
          </a:prstGeom>
          <a:solidFill>
            <a:srgbClr val="9B8CFF"/>
          </a:solidFill>
          <a:ln w="12700">
            <a:solidFill>
              <a:srgbClr val="333333"/>
            </a:solidFill>
            <a:prstDash val="solid"/>
          </a:ln>
        </p:spPr>
        <p:txBody>
          <a:bodyPr/>
          <a:lstStyle/>
          <a:p>
            <a:endParaRPr lang="en-SE"/>
          </a:p>
        </p:txBody>
      </p:sp>
      <p:sp>
        <p:nvSpPr>
          <p:cNvPr id="25" name="Text 23"/>
          <p:cNvSpPr/>
          <p:nvPr/>
        </p:nvSpPr>
        <p:spPr>
          <a:xfrm>
            <a:off x="896112" y="4114800"/>
            <a:ext cx="475488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What it checks</a:t>
            </a:r>
            <a:endParaRPr lang="en-US" sz="1550" dirty="0"/>
          </a:p>
        </p:txBody>
      </p:sp>
      <p:sp>
        <p:nvSpPr>
          <p:cNvPr id="26" name="Text 24"/>
          <p:cNvSpPr/>
          <p:nvPr/>
        </p:nvSpPr>
        <p:spPr>
          <a:xfrm>
            <a:off x="896112" y="4480560"/>
            <a:ext cx="4800600" cy="10972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The same rules the command-line verifier applies — undefined risk levels, a lone gateway, no admin gateway, disabled risk controls, port collisions, out-of-order schedules — plus structural checks on index constituents, combo legs and obligation symbols.</a:t>
            </a:r>
            <a:endParaRPr lang="en-US" sz="1200" dirty="0"/>
          </a:p>
        </p:txBody>
      </p:sp>
      <p:sp>
        <p:nvSpPr>
          <p:cNvPr id="27" name="Shape 25"/>
          <p:cNvSpPr/>
          <p:nvPr/>
        </p:nvSpPr>
        <p:spPr>
          <a:xfrm>
            <a:off x="6537960" y="3886200"/>
            <a:ext cx="5010912"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28" name="Shape 26"/>
          <p:cNvSpPr/>
          <p:nvPr/>
        </p:nvSpPr>
        <p:spPr>
          <a:xfrm>
            <a:off x="6538874" y="3887114"/>
            <a:ext cx="5009083" cy="50292"/>
          </a:xfrm>
          <a:prstGeom prst="rect">
            <a:avLst/>
          </a:prstGeom>
          <a:solidFill>
            <a:srgbClr val="6BD98A"/>
          </a:solidFill>
          <a:ln w="12700">
            <a:solidFill>
              <a:srgbClr val="333333"/>
            </a:solidFill>
            <a:prstDash val="solid"/>
          </a:ln>
        </p:spPr>
        <p:txBody>
          <a:bodyPr/>
          <a:lstStyle/>
          <a:p>
            <a:endParaRPr lang="en-SE"/>
          </a:p>
        </p:txBody>
      </p:sp>
      <p:sp>
        <p:nvSpPr>
          <p:cNvPr id="29" name="Text 27"/>
          <p:cNvSpPr/>
          <p:nvPr/>
        </p:nvSpPr>
        <p:spPr>
          <a:xfrm>
            <a:off x="6793992" y="4114800"/>
            <a:ext cx="448056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The export gate</a:t>
            </a:r>
            <a:endParaRPr lang="en-US" sz="1550" dirty="0"/>
          </a:p>
        </p:txBody>
      </p:sp>
      <p:sp>
        <p:nvSpPr>
          <p:cNvPr id="30" name="Text 28"/>
          <p:cNvSpPr/>
          <p:nvPr/>
        </p:nvSpPr>
        <p:spPr>
          <a:xfrm>
            <a:off x="6793992" y="4480560"/>
            <a:ext cx="4480560" cy="10972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Download is disabled while any error-severity issue exists anywhere in the configuration. Warnings do not block export, but they require a one-time acknowledgement — you cannot ship a broken file by accident.</a:t>
            </a:r>
            <a:endParaRPr lang="en-US" sz="1200" dirty="0"/>
          </a:p>
        </p:txBody>
      </p:sp>
      <p:sp>
        <p:nvSpPr>
          <p:cNvPr id="31" name="Text 2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32" name="Text 3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CONFIG-GUI</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Importing an existing configuration</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You are rarely starting from nothing. Import maps an existing file into the form and opens the review tab first, reporting the health of what you loaded.</a:t>
            </a:r>
            <a:endParaRPr lang="en-US" sz="1450" dirty="0"/>
          </a:p>
        </p:txBody>
      </p:sp>
      <p:sp>
        <p:nvSpPr>
          <p:cNvPr id="6" name="Shape 4"/>
          <p:cNvSpPr/>
          <p:nvPr/>
        </p:nvSpPr>
        <p:spPr>
          <a:xfrm>
            <a:off x="640080" y="2011680"/>
            <a:ext cx="2398700" cy="1417320"/>
          </a:xfrm>
          <a:prstGeom prst="roundRect">
            <a:avLst>
              <a:gd name="adj" fmla="val 3871"/>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2396871"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22960" y="2157984"/>
            <a:ext cx="457200" cy="237744"/>
          </a:xfrm>
          <a:prstGeom prst="rect">
            <a:avLst/>
          </a:prstGeom>
          <a:noFill/>
          <a:ln/>
        </p:spPr>
        <p:txBody>
          <a:bodyPr wrap="square" lIns="0" tIns="0" rIns="0" bIns="0" rtlCol="0" anchor="ctr"/>
          <a:lstStyle/>
          <a:p>
            <a:pPr marL="0" indent="0">
              <a:buNone/>
            </a:pPr>
            <a:r>
              <a:rPr lang="en-US" sz="1000" b="1" dirty="0">
                <a:solidFill>
                  <a:srgbClr val="34D6BE"/>
                </a:solidFill>
                <a:latin typeface="Consolas" pitchFamily="34" charset="0"/>
                <a:ea typeface="Consolas" pitchFamily="34" charset="-122"/>
                <a:cs typeface="Consolas" pitchFamily="34" charset="-120"/>
              </a:rPr>
              <a:t>1</a:t>
            </a:r>
            <a:endParaRPr lang="en-US" sz="1000" dirty="0"/>
          </a:p>
        </p:txBody>
      </p:sp>
      <p:sp>
        <p:nvSpPr>
          <p:cNvPr id="9" name="Text 7"/>
          <p:cNvSpPr/>
          <p:nvPr/>
        </p:nvSpPr>
        <p:spPr>
          <a:xfrm>
            <a:off x="822960" y="239572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Import</a:t>
            </a:r>
            <a:endParaRPr lang="en-US" sz="1350" dirty="0"/>
          </a:p>
        </p:txBody>
      </p:sp>
      <p:sp>
        <p:nvSpPr>
          <p:cNvPr id="10" name="Text 8"/>
          <p:cNvSpPr/>
          <p:nvPr/>
        </p:nvSpPr>
        <p:spPr>
          <a:xfrm>
            <a:off x="822960" y="2724912"/>
            <a:ext cx="2032940" cy="5943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Load your engine_config.yaml</a:t>
            </a:r>
            <a:endParaRPr lang="en-US" sz="1050" dirty="0"/>
          </a:p>
        </p:txBody>
      </p:sp>
      <p:sp>
        <p:nvSpPr>
          <p:cNvPr id="11" name="Text 9"/>
          <p:cNvSpPr/>
          <p:nvPr/>
        </p:nvSpPr>
        <p:spPr>
          <a:xfrm>
            <a:off x="3139364" y="246430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3477692" y="2011680"/>
            <a:ext cx="2398700" cy="1417320"/>
          </a:xfrm>
          <a:prstGeom prst="roundRect">
            <a:avLst>
              <a:gd name="adj" fmla="val 3871"/>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3478606" y="2012594"/>
            <a:ext cx="2396871" cy="45720"/>
          </a:xfrm>
          <a:prstGeom prst="rect">
            <a:avLst/>
          </a:prstGeom>
          <a:solidFill>
            <a:srgbClr val="F3B441"/>
          </a:solidFill>
          <a:ln w="12700">
            <a:solidFill>
              <a:srgbClr val="333333"/>
            </a:solidFill>
            <a:prstDash val="solid"/>
          </a:ln>
        </p:spPr>
        <p:txBody>
          <a:bodyPr/>
          <a:lstStyle/>
          <a:p>
            <a:endParaRPr lang="en-SE"/>
          </a:p>
        </p:txBody>
      </p:sp>
      <p:sp>
        <p:nvSpPr>
          <p:cNvPr id="14" name="Text 12"/>
          <p:cNvSpPr/>
          <p:nvPr/>
        </p:nvSpPr>
        <p:spPr>
          <a:xfrm>
            <a:off x="3660572" y="2157984"/>
            <a:ext cx="45720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2</a:t>
            </a:r>
            <a:endParaRPr lang="en-US" sz="1000" dirty="0"/>
          </a:p>
        </p:txBody>
      </p:sp>
      <p:sp>
        <p:nvSpPr>
          <p:cNvPr id="15" name="Text 13"/>
          <p:cNvSpPr/>
          <p:nvPr/>
        </p:nvSpPr>
        <p:spPr>
          <a:xfrm>
            <a:off x="3660572" y="239572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Review</a:t>
            </a:r>
            <a:endParaRPr lang="en-US" sz="1350" dirty="0"/>
          </a:p>
        </p:txBody>
      </p:sp>
      <p:sp>
        <p:nvSpPr>
          <p:cNvPr id="16" name="Text 14"/>
          <p:cNvSpPr/>
          <p:nvPr/>
        </p:nvSpPr>
        <p:spPr>
          <a:xfrm>
            <a:off x="3660572" y="2724912"/>
            <a:ext cx="2032940" cy="5943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The GUI reports every issue it found in the file as loaded</a:t>
            </a:r>
            <a:endParaRPr lang="en-US" sz="1050" dirty="0"/>
          </a:p>
        </p:txBody>
      </p:sp>
      <p:sp>
        <p:nvSpPr>
          <p:cNvPr id="17" name="Text 15"/>
          <p:cNvSpPr/>
          <p:nvPr/>
        </p:nvSpPr>
        <p:spPr>
          <a:xfrm>
            <a:off x="5976976" y="246430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6315304" y="2011680"/>
            <a:ext cx="2398700" cy="1417320"/>
          </a:xfrm>
          <a:prstGeom prst="roundRect">
            <a:avLst>
              <a:gd name="adj" fmla="val 3871"/>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316218" y="2012594"/>
            <a:ext cx="2396871" cy="45720"/>
          </a:xfrm>
          <a:prstGeom prst="rect">
            <a:avLst/>
          </a:prstGeom>
          <a:solidFill>
            <a:srgbClr val="9B8CFF"/>
          </a:solidFill>
          <a:ln w="12700">
            <a:solidFill>
              <a:srgbClr val="333333"/>
            </a:solidFill>
            <a:prstDash val="solid"/>
          </a:ln>
        </p:spPr>
        <p:txBody>
          <a:bodyPr/>
          <a:lstStyle/>
          <a:p>
            <a:endParaRPr lang="en-SE"/>
          </a:p>
        </p:txBody>
      </p:sp>
      <p:sp>
        <p:nvSpPr>
          <p:cNvPr id="20" name="Text 18"/>
          <p:cNvSpPr/>
          <p:nvPr/>
        </p:nvSpPr>
        <p:spPr>
          <a:xfrm>
            <a:off x="6498184" y="2157984"/>
            <a:ext cx="457200" cy="237744"/>
          </a:xfrm>
          <a:prstGeom prst="rect">
            <a:avLst/>
          </a:prstGeom>
          <a:noFill/>
          <a:ln/>
        </p:spPr>
        <p:txBody>
          <a:bodyPr wrap="square" lIns="0" tIns="0" rIns="0" bIns="0" rtlCol="0" anchor="ctr"/>
          <a:lstStyle/>
          <a:p>
            <a:pPr marL="0" indent="0">
              <a:buNone/>
            </a:pPr>
            <a:r>
              <a:rPr lang="en-US" sz="1000" b="1" dirty="0">
                <a:solidFill>
                  <a:srgbClr val="9B8CFF"/>
                </a:solidFill>
                <a:latin typeface="Consolas" pitchFamily="34" charset="0"/>
                <a:ea typeface="Consolas" pitchFamily="34" charset="-122"/>
                <a:cs typeface="Consolas" pitchFamily="34" charset="-120"/>
              </a:rPr>
              <a:t>3</a:t>
            </a:r>
            <a:endParaRPr lang="en-US" sz="1000" dirty="0"/>
          </a:p>
        </p:txBody>
      </p:sp>
      <p:sp>
        <p:nvSpPr>
          <p:cNvPr id="21" name="Text 19"/>
          <p:cNvSpPr/>
          <p:nvPr/>
        </p:nvSpPr>
        <p:spPr>
          <a:xfrm>
            <a:off x="6498184" y="239572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Edit</a:t>
            </a:r>
            <a:endParaRPr lang="en-US" sz="1350" dirty="0"/>
          </a:p>
        </p:txBody>
      </p:sp>
      <p:sp>
        <p:nvSpPr>
          <p:cNvPr id="22" name="Text 20"/>
          <p:cNvSpPr/>
          <p:nvPr/>
        </p:nvSpPr>
        <p:spPr>
          <a:xfrm>
            <a:off x="6498184" y="2724912"/>
            <a:ext cx="2032940" cy="5943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Change what you need through the forms</a:t>
            </a:r>
            <a:endParaRPr lang="en-US" sz="1050" dirty="0"/>
          </a:p>
        </p:txBody>
      </p:sp>
      <p:sp>
        <p:nvSpPr>
          <p:cNvPr id="23" name="Text 21"/>
          <p:cNvSpPr/>
          <p:nvPr/>
        </p:nvSpPr>
        <p:spPr>
          <a:xfrm>
            <a:off x="8814587" y="246430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24" name="Shape 22"/>
          <p:cNvSpPr/>
          <p:nvPr/>
        </p:nvSpPr>
        <p:spPr>
          <a:xfrm>
            <a:off x="9152915" y="2011680"/>
            <a:ext cx="2398700" cy="1417320"/>
          </a:xfrm>
          <a:prstGeom prst="roundRect">
            <a:avLst>
              <a:gd name="adj" fmla="val 3871"/>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9153830" y="2012594"/>
            <a:ext cx="2396871" cy="45720"/>
          </a:xfrm>
          <a:prstGeom prst="rect">
            <a:avLst/>
          </a:prstGeom>
          <a:solidFill>
            <a:srgbClr val="6BD98A"/>
          </a:solidFill>
          <a:ln w="12700">
            <a:solidFill>
              <a:srgbClr val="333333"/>
            </a:solidFill>
            <a:prstDash val="solid"/>
          </a:ln>
        </p:spPr>
        <p:txBody>
          <a:bodyPr/>
          <a:lstStyle/>
          <a:p>
            <a:endParaRPr lang="en-SE"/>
          </a:p>
        </p:txBody>
      </p:sp>
      <p:sp>
        <p:nvSpPr>
          <p:cNvPr id="26" name="Text 24"/>
          <p:cNvSpPr/>
          <p:nvPr/>
        </p:nvSpPr>
        <p:spPr>
          <a:xfrm>
            <a:off x="9335795" y="2157984"/>
            <a:ext cx="457200" cy="237744"/>
          </a:xfrm>
          <a:prstGeom prst="rect">
            <a:avLst/>
          </a:prstGeom>
          <a:noFill/>
          <a:ln/>
        </p:spPr>
        <p:txBody>
          <a:bodyPr wrap="square" lIns="0" tIns="0" rIns="0" bIns="0" rtlCol="0" anchor="ctr"/>
          <a:lstStyle/>
          <a:p>
            <a:pPr marL="0" indent="0">
              <a:buNone/>
            </a:pPr>
            <a:r>
              <a:rPr lang="en-US" sz="1000" b="1" dirty="0">
                <a:solidFill>
                  <a:srgbClr val="6BD98A"/>
                </a:solidFill>
                <a:latin typeface="Consolas" pitchFamily="34" charset="0"/>
                <a:ea typeface="Consolas" pitchFamily="34" charset="-122"/>
                <a:cs typeface="Consolas" pitchFamily="34" charset="-120"/>
              </a:rPr>
              <a:t>4</a:t>
            </a:r>
            <a:endParaRPr lang="en-US" sz="1000" dirty="0"/>
          </a:p>
        </p:txBody>
      </p:sp>
      <p:sp>
        <p:nvSpPr>
          <p:cNvPr id="27" name="Text 25"/>
          <p:cNvSpPr/>
          <p:nvPr/>
        </p:nvSpPr>
        <p:spPr>
          <a:xfrm>
            <a:off x="9335795" y="239572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Export</a:t>
            </a:r>
            <a:endParaRPr lang="en-US" sz="1350" dirty="0"/>
          </a:p>
        </p:txBody>
      </p:sp>
      <p:sp>
        <p:nvSpPr>
          <p:cNvPr id="28" name="Text 26"/>
          <p:cNvSpPr/>
          <p:nvPr/>
        </p:nvSpPr>
        <p:spPr>
          <a:xfrm>
            <a:off x="9335795" y="2724912"/>
            <a:ext cx="2032940" cy="5943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Download the regenerated file</a:t>
            </a:r>
            <a:endParaRPr lang="en-US" sz="1050" dirty="0"/>
          </a:p>
        </p:txBody>
      </p:sp>
      <p:sp>
        <p:nvSpPr>
          <p:cNvPr id="29" name="Shape 27"/>
          <p:cNvSpPr/>
          <p:nvPr/>
        </p:nvSpPr>
        <p:spPr>
          <a:xfrm>
            <a:off x="640080" y="3749040"/>
            <a:ext cx="5349240" cy="1965960"/>
          </a:xfrm>
          <a:prstGeom prst="roundRect">
            <a:avLst>
              <a:gd name="adj" fmla="val 2791"/>
            </a:avLst>
          </a:prstGeom>
          <a:solidFill>
            <a:srgbClr val="252B33"/>
          </a:solidFill>
          <a:ln w="12700">
            <a:solidFill>
              <a:srgbClr val="3B4450"/>
            </a:solidFill>
            <a:prstDash val="solid"/>
          </a:ln>
        </p:spPr>
        <p:txBody>
          <a:bodyPr/>
          <a:lstStyle/>
          <a:p>
            <a:endParaRPr lang="en-SE"/>
          </a:p>
        </p:txBody>
      </p:sp>
      <p:sp>
        <p:nvSpPr>
          <p:cNvPr id="30" name="Shape 28"/>
          <p:cNvSpPr/>
          <p:nvPr/>
        </p:nvSpPr>
        <p:spPr>
          <a:xfrm>
            <a:off x="640994" y="3749954"/>
            <a:ext cx="5347411" cy="50292"/>
          </a:xfrm>
          <a:prstGeom prst="rect">
            <a:avLst/>
          </a:prstGeom>
          <a:solidFill>
            <a:srgbClr val="6BD98A"/>
          </a:solidFill>
          <a:ln w="12700">
            <a:solidFill>
              <a:srgbClr val="333333"/>
            </a:solidFill>
            <a:prstDash val="solid"/>
          </a:ln>
        </p:spPr>
        <p:txBody>
          <a:bodyPr/>
          <a:lstStyle/>
          <a:p>
            <a:endParaRPr lang="en-SE"/>
          </a:p>
        </p:txBody>
      </p:sp>
      <p:sp>
        <p:nvSpPr>
          <p:cNvPr id="31" name="Text 29"/>
          <p:cNvSpPr/>
          <p:nvPr/>
        </p:nvSpPr>
        <p:spPr>
          <a:xfrm>
            <a:off x="896112" y="3977640"/>
            <a:ext cx="4754880"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Nothing is silently dropped</a:t>
            </a:r>
            <a:endParaRPr lang="en-US" sz="1600" dirty="0"/>
          </a:p>
        </p:txBody>
      </p:sp>
      <p:sp>
        <p:nvSpPr>
          <p:cNvPr id="32" name="Text 30"/>
          <p:cNvSpPr/>
          <p:nvPr/>
        </p:nvSpPr>
        <p:spPr>
          <a:xfrm>
            <a:off x="896112" y="4370832"/>
            <a:ext cx="4800600" cy="118872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Anything the GUI does not model — a hand-added section, or a field from a newer schema — is preserved verbatim in a per-section passthrough and re-emitted unchanged. A banner marks any tab carrying such content.</a:t>
            </a:r>
            <a:endParaRPr lang="en-US" sz="1200" dirty="0"/>
          </a:p>
        </p:txBody>
      </p:sp>
      <p:sp>
        <p:nvSpPr>
          <p:cNvPr id="33" name="Shape 31"/>
          <p:cNvSpPr/>
          <p:nvPr/>
        </p:nvSpPr>
        <p:spPr>
          <a:xfrm>
            <a:off x="6537960" y="3749040"/>
            <a:ext cx="5010912" cy="1965960"/>
          </a:xfrm>
          <a:prstGeom prst="roundRect">
            <a:avLst>
              <a:gd name="adj" fmla="val 2791"/>
            </a:avLst>
          </a:prstGeom>
          <a:solidFill>
            <a:srgbClr val="252B33"/>
          </a:solidFill>
          <a:ln w="12700">
            <a:solidFill>
              <a:srgbClr val="3B4450"/>
            </a:solidFill>
            <a:prstDash val="solid"/>
          </a:ln>
        </p:spPr>
        <p:txBody>
          <a:bodyPr/>
          <a:lstStyle/>
          <a:p>
            <a:endParaRPr lang="en-SE"/>
          </a:p>
        </p:txBody>
      </p:sp>
      <p:sp>
        <p:nvSpPr>
          <p:cNvPr id="34" name="Shape 32"/>
          <p:cNvSpPr/>
          <p:nvPr/>
        </p:nvSpPr>
        <p:spPr>
          <a:xfrm>
            <a:off x="6538874" y="3749954"/>
            <a:ext cx="5009083" cy="50292"/>
          </a:xfrm>
          <a:prstGeom prst="rect">
            <a:avLst/>
          </a:prstGeom>
          <a:solidFill>
            <a:srgbClr val="FF7A6B"/>
          </a:solidFill>
          <a:ln w="12700">
            <a:solidFill>
              <a:srgbClr val="333333"/>
            </a:solidFill>
            <a:prstDash val="solid"/>
          </a:ln>
        </p:spPr>
        <p:txBody>
          <a:bodyPr/>
          <a:lstStyle/>
          <a:p>
            <a:endParaRPr lang="en-SE"/>
          </a:p>
        </p:txBody>
      </p:sp>
      <p:sp>
        <p:nvSpPr>
          <p:cNvPr id="35" name="Text 33"/>
          <p:cNvSpPr/>
          <p:nvPr/>
        </p:nvSpPr>
        <p:spPr>
          <a:xfrm>
            <a:off x="6793992" y="3977640"/>
            <a:ext cx="4480560"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One thing is: your comments</a:t>
            </a:r>
            <a:endParaRPr lang="en-US" sz="1600" dirty="0"/>
          </a:p>
        </p:txBody>
      </p:sp>
      <p:sp>
        <p:nvSpPr>
          <p:cNvPr id="36" name="Text 34"/>
          <p:cNvSpPr/>
          <p:nvPr/>
        </p:nvSpPr>
        <p:spPr>
          <a:xfrm>
            <a:off x="6793992" y="4370832"/>
            <a:ext cx="4480560" cy="118872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The GUI is a structural editor, not a text editor. It regenerates the header and comment block fresh, but inline comments from the imported file are not round-tripped. If your comments are the documentation, keep the authored file as the source of truth.</a:t>
            </a:r>
            <a:endParaRPr lang="en-US" sz="1200" dirty="0"/>
          </a:p>
        </p:txBody>
      </p:sp>
      <p:sp>
        <p:nvSpPr>
          <p:cNvPr id="37" name="Text 3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03 · How to create a configuration</a:t>
            </a:r>
            <a:endParaRPr lang="en-US" sz="950" dirty="0"/>
          </a:p>
        </p:txBody>
      </p:sp>
      <p:sp>
        <p:nvSpPr>
          <p:cNvPr id="38" name="Text 3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04</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04</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How can you verify</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a configuration?</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One read-only command that reads the entire file, applies four layers of checks, and tells you in plain English what your configuration actually does.</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Why it exists</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Four layers</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Reading the report</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risk summary</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MOTIVATION</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Why a verifier exists at all</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engine's own loader is a poor teacher. It was built to load a file, not to explain one.</a:t>
            </a:r>
            <a:endParaRPr lang="en-US" sz="1450" dirty="0"/>
          </a:p>
        </p:txBody>
      </p:sp>
      <p:sp>
        <p:nvSpPr>
          <p:cNvPr id="6" name="Shape 4"/>
          <p:cNvSpPr/>
          <p:nvPr/>
        </p:nvSpPr>
        <p:spPr>
          <a:xfrm>
            <a:off x="640080" y="2011680"/>
            <a:ext cx="5349240" cy="2834640"/>
          </a:xfrm>
          <a:prstGeom prst="roundRect">
            <a:avLst>
              <a:gd name="adj" fmla="val 1935"/>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5347411" cy="50292"/>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896112" y="2249424"/>
            <a:ext cx="475488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Without it: the guessing loop</a:t>
            </a:r>
            <a:endParaRPr lang="en-US" sz="1650" dirty="0"/>
          </a:p>
        </p:txBody>
      </p:sp>
      <p:sp>
        <p:nvSpPr>
          <p:cNvPr id="9" name="Shape 7"/>
          <p:cNvSpPr/>
          <p:nvPr/>
        </p:nvSpPr>
        <p:spPr>
          <a:xfrm>
            <a:off x="914400" y="2697480"/>
            <a:ext cx="274320" cy="274320"/>
          </a:xfrm>
          <a:prstGeom prst="ellipse">
            <a:avLst/>
          </a:prstGeom>
          <a:solidFill>
            <a:srgbClr val="4C2420"/>
          </a:solidFill>
          <a:ln w="13970">
            <a:solidFill>
              <a:srgbClr val="34D6BE"/>
            </a:solidFill>
            <a:prstDash val="solid"/>
          </a:ln>
        </p:spPr>
        <p:txBody>
          <a:bodyPr/>
          <a:lstStyle/>
          <a:p>
            <a:endParaRPr lang="en-SE"/>
          </a:p>
        </p:txBody>
      </p:sp>
      <p:sp>
        <p:nvSpPr>
          <p:cNvPr id="10" name="Text 8"/>
          <p:cNvSpPr/>
          <p:nvPr/>
        </p:nvSpPr>
        <p:spPr>
          <a:xfrm>
            <a:off x="914400" y="2697480"/>
            <a:ext cx="274320" cy="274320"/>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1325880" y="2697480"/>
            <a:ext cx="4206240" cy="274320"/>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Edit the file</a:t>
            </a:r>
            <a:endParaRPr lang="en-US" sz="1250" dirty="0"/>
          </a:p>
        </p:txBody>
      </p:sp>
      <p:sp>
        <p:nvSpPr>
          <p:cNvPr id="12" name="Shape 10"/>
          <p:cNvSpPr/>
          <p:nvPr/>
        </p:nvSpPr>
        <p:spPr>
          <a:xfrm>
            <a:off x="914400" y="3099816"/>
            <a:ext cx="274320" cy="274320"/>
          </a:xfrm>
          <a:prstGeom prst="ellipse">
            <a:avLst/>
          </a:prstGeom>
          <a:solidFill>
            <a:srgbClr val="4C2420"/>
          </a:solidFill>
          <a:ln w="13970">
            <a:solidFill>
              <a:srgbClr val="34D6BE"/>
            </a:solidFill>
            <a:prstDash val="solid"/>
          </a:ln>
        </p:spPr>
        <p:txBody>
          <a:bodyPr/>
          <a:lstStyle/>
          <a:p>
            <a:endParaRPr lang="en-SE"/>
          </a:p>
        </p:txBody>
      </p:sp>
      <p:sp>
        <p:nvSpPr>
          <p:cNvPr id="13" name="Text 11"/>
          <p:cNvSpPr/>
          <p:nvPr/>
        </p:nvSpPr>
        <p:spPr>
          <a:xfrm>
            <a:off x="914400" y="3099816"/>
            <a:ext cx="274320" cy="274320"/>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2</a:t>
            </a:r>
            <a:endParaRPr lang="en-US" sz="1100" dirty="0"/>
          </a:p>
        </p:txBody>
      </p:sp>
      <p:sp>
        <p:nvSpPr>
          <p:cNvPr id="14" name="Text 12"/>
          <p:cNvSpPr/>
          <p:nvPr/>
        </p:nvSpPr>
        <p:spPr>
          <a:xfrm>
            <a:off x="1325880" y="3099816"/>
            <a:ext cx="4206240" cy="274320"/>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Start the engine</a:t>
            </a:r>
            <a:endParaRPr lang="en-US" sz="1250" dirty="0"/>
          </a:p>
        </p:txBody>
      </p:sp>
      <p:sp>
        <p:nvSpPr>
          <p:cNvPr id="15" name="Shape 13"/>
          <p:cNvSpPr/>
          <p:nvPr/>
        </p:nvSpPr>
        <p:spPr>
          <a:xfrm>
            <a:off x="914400" y="3502152"/>
            <a:ext cx="274320" cy="274320"/>
          </a:xfrm>
          <a:prstGeom prst="ellipse">
            <a:avLst/>
          </a:prstGeom>
          <a:solidFill>
            <a:srgbClr val="4C2420"/>
          </a:solidFill>
          <a:ln w="13970">
            <a:solidFill>
              <a:srgbClr val="34D6BE"/>
            </a:solidFill>
            <a:prstDash val="solid"/>
          </a:ln>
        </p:spPr>
        <p:txBody>
          <a:bodyPr/>
          <a:lstStyle/>
          <a:p>
            <a:endParaRPr lang="en-SE"/>
          </a:p>
        </p:txBody>
      </p:sp>
      <p:sp>
        <p:nvSpPr>
          <p:cNvPr id="16" name="Text 14"/>
          <p:cNvSpPr/>
          <p:nvPr/>
        </p:nvSpPr>
        <p:spPr>
          <a:xfrm>
            <a:off x="914400" y="3502152"/>
            <a:ext cx="274320" cy="274320"/>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3</a:t>
            </a:r>
            <a:endParaRPr lang="en-US" sz="1100" dirty="0"/>
          </a:p>
        </p:txBody>
      </p:sp>
      <p:sp>
        <p:nvSpPr>
          <p:cNvPr id="17" name="Text 15"/>
          <p:cNvSpPr/>
          <p:nvPr/>
        </p:nvSpPr>
        <p:spPr>
          <a:xfrm>
            <a:off x="1325880" y="3502152"/>
            <a:ext cx="4206240" cy="274320"/>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Read one terse error</a:t>
            </a:r>
            <a:endParaRPr lang="en-US" sz="1250" dirty="0"/>
          </a:p>
        </p:txBody>
      </p:sp>
      <p:sp>
        <p:nvSpPr>
          <p:cNvPr id="18" name="Shape 16"/>
          <p:cNvSpPr/>
          <p:nvPr/>
        </p:nvSpPr>
        <p:spPr>
          <a:xfrm>
            <a:off x="914400" y="3904488"/>
            <a:ext cx="274320" cy="274320"/>
          </a:xfrm>
          <a:prstGeom prst="ellipse">
            <a:avLst/>
          </a:prstGeom>
          <a:solidFill>
            <a:srgbClr val="4C2420"/>
          </a:solidFill>
          <a:ln w="13970">
            <a:solidFill>
              <a:srgbClr val="34D6BE"/>
            </a:solidFill>
            <a:prstDash val="solid"/>
          </a:ln>
        </p:spPr>
        <p:txBody>
          <a:bodyPr/>
          <a:lstStyle/>
          <a:p>
            <a:endParaRPr lang="en-SE"/>
          </a:p>
        </p:txBody>
      </p:sp>
      <p:sp>
        <p:nvSpPr>
          <p:cNvPr id="19" name="Text 17"/>
          <p:cNvSpPr/>
          <p:nvPr/>
        </p:nvSpPr>
        <p:spPr>
          <a:xfrm>
            <a:off x="914400" y="3904488"/>
            <a:ext cx="274320" cy="274320"/>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4</a:t>
            </a:r>
            <a:endParaRPr lang="en-US" sz="1100" dirty="0"/>
          </a:p>
        </p:txBody>
      </p:sp>
      <p:sp>
        <p:nvSpPr>
          <p:cNvPr id="20" name="Text 18"/>
          <p:cNvSpPr/>
          <p:nvPr/>
        </p:nvSpPr>
        <p:spPr>
          <a:xfrm>
            <a:off x="1325880" y="3904488"/>
            <a:ext cx="4206240" cy="274320"/>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Fix that one thing</a:t>
            </a:r>
            <a:endParaRPr lang="en-US" sz="1250" dirty="0"/>
          </a:p>
        </p:txBody>
      </p:sp>
      <p:sp>
        <p:nvSpPr>
          <p:cNvPr id="21" name="Shape 19"/>
          <p:cNvSpPr/>
          <p:nvPr/>
        </p:nvSpPr>
        <p:spPr>
          <a:xfrm>
            <a:off x="914400" y="4306824"/>
            <a:ext cx="274320" cy="274320"/>
          </a:xfrm>
          <a:prstGeom prst="ellipse">
            <a:avLst/>
          </a:prstGeom>
          <a:solidFill>
            <a:srgbClr val="4C2420"/>
          </a:solidFill>
          <a:ln w="13970">
            <a:solidFill>
              <a:srgbClr val="34D6BE"/>
            </a:solidFill>
            <a:prstDash val="solid"/>
          </a:ln>
        </p:spPr>
        <p:txBody>
          <a:bodyPr/>
          <a:lstStyle/>
          <a:p>
            <a:endParaRPr lang="en-SE"/>
          </a:p>
        </p:txBody>
      </p:sp>
      <p:sp>
        <p:nvSpPr>
          <p:cNvPr id="22" name="Text 20"/>
          <p:cNvSpPr/>
          <p:nvPr/>
        </p:nvSpPr>
        <p:spPr>
          <a:xfrm>
            <a:off x="914400" y="4306824"/>
            <a:ext cx="274320" cy="274320"/>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5</a:t>
            </a:r>
            <a:endParaRPr lang="en-US" sz="1100" dirty="0"/>
          </a:p>
        </p:txBody>
      </p:sp>
      <p:sp>
        <p:nvSpPr>
          <p:cNvPr id="23" name="Text 21"/>
          <p:cNvSpPr/>
          <p:nvPr/>
        </p:nvSpPr>
        <p:spPr>
          <a:xfrm>
            <a:off x="1325880" y="4306824"/>
            <a:ext cx="4206240" cy="274320"/>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Start the engine again</a:t>
            </a:r>
            <a:endParaRPr lang="en-US" sz="1250" dirty="0"/>
          </a:p>
        </p:txBody>
      </p:sp>
      <p:sp>
        <p:nvSpPr>
          <p:cNvPr id="24" name="Shape 22"/>
          <p:cNvSpPr/>
          <p:nvPr/>
        </p:nvSpPr>
        <p:spPr>
          <a:xfrm>
            <a:off x="6537960" y="2011680"/>
            <a:ext cx="5010912" cy="2834640"/>
          </a:xfrm>
          <a:prstGeom prst="roundRect">
            <a:avLst>
              <a:gd name="adj" fmla="val 1935"/>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6538874" y="2012594"/>
            <a:ext cx="5009083" cy="50292"/>
          </a:xfrm>
          <a:prstGeom prst="rect">
            <a:avLst/>
          </a:prstGeom>
          <a:solidFill>
            <a:srgbClr val="34D6BE"/>
          </a:solidFill>
          <a:ln w="12700">
            <a:solidFill>
              <a:srgbClr val="333333"/>
            </a:solidFill>
            <a:prstDash val="solid"/>
          </a:ln>
        </p:spPr>
        <p:txBody>
          <a:bodyPr/>
          <a:lstStyle/>
          <a:p>
            <a:endParaRPr lang="en-SE"/>
          </a:p>
        </p:txBody>
      </p:sp>
      <p:sp>
        <p:nvSpPr>
          <p:cNvPr id="26" name="Text 24"/>
          <p:cNvSpPr/>
          <p:nvPr/>
        </p:nvSpPr>
        <p:spPr>
          <a:xfrm>
            <a:off x="6793992" y="2249424"/>
            <a:ext cx="448056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With it: one pass, everything</a:t>
            </a:r>
            <a:endParaRPr lang="en-US" sz="1650" dirty="0"/>
          </a:p>
        </p:txBody>
      </p:sp>
      <p:sp>
        <p:nvSpPr>
          <p:cNvPr id="27" name="Shape 25"/>
          <p:cNvSpPr/>
          <p:nvPr/>
        </p:nvSpPr>
        <p:spPr>
          <a:xfrm>
            <a:off x="6793992" y="2779776"/>
            <a:ext cx="82296" cy="82296"/>
          </a:xfrm>
          <a:prstGeom prst="rect">
            <a:avLst/>
          </a:prstGeom>
          <a:solidFill>
            <a:srgbClr val="34D6BE"/>
          </a:solidFill>
          <a:ln w="12700">
            <a:solidFill>
              <a:srgbClr val="333333"/>
            </a:solidFill>
            <a:prstDash val="solid"/>
          </a:ln>
        </p:spPr>
        <p:txBody>
          <a:bodyPr/>
          <a:lstStyle/>
          <a:p>
            <a:endParaRPr lang="en-SE"/>
          </a:p>
        </p:txBody>
      </p:sp>
      <p:sp>
        <p:nvSpPr>
          <p:cNvPr id="28" name="Text 26"/>
          <p:cNvSpPr/>
          <p:nvPr/>
        </p:nvSpPr>
        <p:spPr>
          <a:xfrm>
            <a:off x="7031736" y="2679192"/>
            <a:ext cx="4242816" cy="51206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Every syntax error  </a:t>
            </a:r>
            <a:r>
              <a:rPr lang="en-US" sz="1200" dirty="0">
                <a:solidFill>
                  <a:srgbClr val="C2CAD4"/>
                </a:solidFill>
                <a:latin typeface="Calibri" pitchFamily="34" charset="0"/>
                <a:ea typeface="Calibri" pitchFamily="34" charset="-122"/>
                <a:cs typeface="Calibri" pitchFamily="34" charset="-120"/>
              </a:rPr>
              <a:t>that would stop the file being parsed</a:t>
            </a:r>
            <a:endParaRPr lang="en-US" sz="1200" dirty="0"/>
          </a:p>
        </p:txBody>
      </p:sp>
      <p:sp>
        <p:nvSpPr>
          <p:cNvPr id="29" name="Shape 27"/>
          <p:cNvSpPr/>
          <p:nvPr/>
        </p:nvSpPr>
        <p:spPr>
          <a:xfrm>
            <a:off x="6793992" y="3291840"/>
            <a:ext cx="82296" cy="82296"/>
          </a:xfrm>
          <a:prstGeom prst="rect">
            <a:avLst/>
          </a:prstGeom>
          <a:solidFill>
            <a:srgbClr val="34D6BE"/>
          </a:solidFill>
          <a:ln w="12700">
            <a:solidFill>
              <a:srgbClr val="333333"/>
            </a:solidFill>
            <a:prstDash val="solid"/>
          </a:ln>
        </p:spPr>
        <p:txBody>
          <a:bodyPr/>
          <a:lstStyle/>
          <a:p>
            <a:endParaRPr lang="en-SE"/>
          </a:p>
        </p:txBody>
      </p:sp>
      <p:sp>
        <p:nvSpPr>
          <p:cNvPr id="30" name="Text 28"/>
          <p:cNvSpPr/>
          <p:nvPr/>
        </p:nvSpPr>
        <p:spPr>
          <a:xfrm>
            <a:off x="7031736" y="3191256"/>
            <a:ext cx="4242816" cy="51206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Every hard error  </a:t>
            </a:r>
            <a:r>
              <a:rPr lang="en-US" sz="1200" dirty="0">
                <a:solidFill>
                  <a:srgbClr val="C2CAD4"/>
                </a:solidFill>
                <a:latin typeface="Calibri" pitchFamily="34" charset="0"/>
                <a:ea typeface="Calibri" pitchFamily="34" charset="-122"/>
                <a:cs typeface="Calibri" pitchFamily="34" charset="-120"/>
              </a:rPr>
              <a:t>the loader would raise — and more besides</a:t>
            </a:r>
            <a:endParaRPr lang="en-US" sz="1200" dirty="0"/>
          </a:p>
        </p:txBody>
      </p:sp>
      <p:sp>
        <p:nvSpPr>
          <p:cNvPr id="31" name="Shape 29"/>
          <p:cNvSpPr/>
          <p:nvPr/>
        </p:nvSpPr>
        <p:spPr>
          <a:xfrm>
            <a:off x="6793992" y="3803904"/>
            <a:ext cx="82296" cy="82296"/>
          </a:xfrm>
          <a:prstGeom prst="rect">
            <a:avLst/>
          </a:prstGeom>
          <a:solidFill>
            <a:srgbClr val="F3B441"/>
          </a:solidFill>
          <a:ln w="12700">
            <a:solidFill>
              <a:srgbClr val="333333"/>
            </a:solidFill>
            <a:prstDash val="solid"/>
          </a:ln>
        </p:spPr>
        <p:txBody>
          <a:bodyPr/>
          <a:lstStyle/>
          <a:p>
            <a:endParaRPr lang="en-SE"/>
          </a:p>
        </p:txBody>
      </p:sp>
      <p:sp>
        <p:nvSpPr>
          <p:cNvPr id="32" name="Text 30"/>
          <p:cNvSpPr/>
          <p:nvPr/>
        </p:nvSpPr>
        <p:spPr>
          <a:xfrm>
            <a:off x="7031736" y="3703320"/>
            <a:ext cx="4242816" cy="51206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Completeness gaps  </a:t>
            </a:r>
            <a:r>
              <a:rPr lang="en-US" sz="1200" dirty="0">
                <a:solidFill>
                  <a:srgbClr val="C2CAD4"/>
                </a:solidFill>
                <a:latin typeface="Calibri" pitchFamily="34" charset="0"/>
                <a:ea typeface="Calibri" pitchFamily="34" charset="-122"/>
                <a:cs typeface="Calibri" pitchFamily="34" charset="-120"/>
              </a:rPr>
              <a:t>settings that are missing but probably should not be</a:t>
            </a:r>
            <a:endParaRPr lang="en-US" sz="1200" dirty="0"/>
          </a:p>
        </p:txBody>
      </p:sp>
      <p:sp>
        <p:nvSpPr>
          <p:cNvPr id="33" name="Shape 31"/>
          <p:cNvSpPr/>
          <p:nvPr/>
        </p:nvSpPr>
        <p:spPr>
          <a:xfrm>
            <a:off x="6793992" y="4315968"/>
            <a:ext cx="82296" cy="82296"/>
          </a:xfrm>
          <a:prstGeom prst="rect">
            <a:avLst/>
          </a:prstGeom>
          <a:solidFill>
            <a:srgbClr val="5AB2F7"/>
          </a:solidFill>
          <a:ln w="12700">
            <a:solidFill>
              <a:srgbClr val="333333"/>
            </a:solidFill>
            <a:prstDash val="solid"/>
          </a:ln>
        </p:spPr>
        <p:txBody>
          <a:bodyPr/>
          <a:lstStyle/>
          <a:p>
            <a:endParaRPr lang="en-SE"/>
          </a:p>
        </p:txBody>
      </p:sp>
      <p:sp>
        <p:nvSpPr>
          <p:cNvPr id="34" name="Text 32"/>
          <p:cNvSpPr/>
          <p:nvPr/>
        </p:nvSpPr>
        <p:spPr>
          <a:xfrm>
            <a:off x="7031736" y="4215384"/>
            <a:ext cx="4242816" cy="51206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Advisories  </a:t>
            </a:r>
            <a:r>
              <a:rPr lang="en-US" sz="1200" dirty="0">
                <a:solidFill>
                  <a:srgbClr val="C2CAD4"/>
                </a:solidFill>
                <a:latin typeface="Calibri" pitchFamily="34" charset="0"/>
                <a:ea typeface="Calibri" pitchFamily="34" charset="-122"/>
                <a:cs typeface="Calibri" pitchFamily="34" charset="-120"/>
              </a:rPr>
              <a:t>valid settings that are likely to surprise you later</a:t>
            </a:r>
            <a:endParaRPr lang="en-US" sz="1200" dirty="0"/>
          </a:p>
        </p:txBody>
      </p:sp>
      <p:sp>
        <p:nvSpPr>
          <p:cNvPr id="35" name="Shape 33"/>
          <p:cNvSpPr/>
          <p:nvPr/>
        </p:nvSpPr>
        <p:spPr>
          <a:xfrm>
            <a:off x="640080" y="5074920"/>
            <a:ext cx="10911535" cy="914400"/>
          </a:xfrm>
          <a:prstGeom prst="roundRect">
            <a:avLst>
              <a:gd name="adj" fmla="val 6000"/>
            </a:avLst>
          </a:prstGeom>
          <a:solidFill>
            <a:srgbClr val="4A3714"/>
          </a:solidFill>
          <a:ln w="12700">
            <a:solidFill>
              <a:srgbClr val="F3B441"/>
            </a:solidFill>
            <a:prstDash val="solid"/>
          </a:ln>
        </p:spPr>
        <p:txBody>
          <a:bodyPr/>
          <a:lstStyle/>
          <a:p>
            <a:endParaRPr lang="en-SE"/>
          </a:p>
        </p:txBody>
      </p:sp>
      <p:sp>
        <p:nvSpPr>
          <p:cNvPr id="36" name="Text 34"/>
          <p:cNvSpPr/>
          <p:nvPr/>
        </p:nvSpPr>
        <p:spPr>
          <a:xfrm>
            <a:off x="877824" y="516636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THE TWO PROBLEMS IT SOLVES</a:t>
            </a:r>
            <a:endParaRPr lang="en-US" sz="950" dirty="0"/>
          </a:p>
        </p:txBody>
      </p:sp>
      <p:sp>
        <p:nvSpPr>
          <p:cNvPr id="37" name="Text 35"/>
          <p:cNvSpPr/>
          <p:nvPr/>
        </p:nvSpPr>
        <p:spPr>
          <a:xfrm>
            <a:off x="877824" y="5422392"/>
            <a:ext cx="10436047" cy="4572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loader reports only the first hard error it finds before aborting — so you never see the shape of the problem. And it has no concept of a warning, so a valid config that quietly uses defaults you did not intend is accepted without comment.</a:t>
            </a:r>
            <a:endParaRPr lang="en-US" sz="1250" dirty="0"/>
          </a:p>
        </p:txBody>
      </p:sp>
      <p:sp>
        <p:nvSpPr>
          <p:cNvPr id="38" name="Text 3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39" name="Text 3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One command, three ways to run it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Read-only, with no effect on the engine or any runtime state. Safe to run at any time — including while the exchange is live.</a:t>
            </a:r>
            <a:endParaRPr lang="en-US" sz="1450" dirty="0"/>
          </a:p>
        </p:txBody>
      </p:sp>
      <p:sp>
        <p:nvSpPr>
          <p:cNvPr id="6" name="Shape 4"/>
          <p:cNvSpPr/>
          <p:nvPr/>
        </p:nvSpPr>
        <p:spPr>
          <a:xfrm>
            <a:off x="640080" y="2011680"/>
            <a:ext cx="10911535" cy="2721986"/>
          </a:xfrm>
          <a:prstGeom prst="roundRect">
            <a:avLst>
              <a:gd name="adj" fmla="val 1680"/>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10909706"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10088575"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terminal</a:t>
            </a:r>
            <a:endParaRPr lang="en-US" sz="950" dirty="0"/>
          </a:p>
        </p:txBody>
      </p:sp>
      <p:sp>
        <p:nvSpPr>
          <p:cNvPr id="12" name="Text 10"/>
          <p:cNvSpPr/>
          <p:nvPr/>
        </p:nvSpPr>
        <p:spPr>
          <a:xfrm>
            <a:off x="841248" y="2377440"/>
            <a:ext cx="10545775" cy="2264786"/>
          </a:xfrm>
          <a:prstGeom prst="rect">
            <a:avLst/>
          </a:prstGeom>
          <a:noFill/>
          <a:ln/>
        </p:spPr>
        <p:txBody>
          <a:bodyPr wrap="square" lIns="0" tIns="0" rIns="0" bIns="0" rtlCol="0" anchor="t"/>
          <a:lstStyle/>
          <a:p>
            <a:pPr marL="0" indent="0">
              <a:lnSpc>
                <a:spcPts val="1716"/>
              </a:lnSpc>
              <a:buNone/>
            </a:pPr>
            <a:r>
              <a:rPr lang="en-US" sz="1300" dirty="0">
                <a:solidFill>
                  <a:srgbClr val="8D97A5"/>
                </a:solidFill>
                <a:latin typeface="Consolas" pitchFamily="34" charset="0"/>
                <a:ea typeface="Consolas" pitchFamily="34" charset="-122"/>
                <a:cs typeface="Consolas" pitchFamily="34" charset="-120"/>
              </a:rPr>
              <a:t># the everyday check — a full human-readable report</a:t>
            </a:r>
            <a:endParaRPr lang="en-US" sz="1300" dirty="0"/>
          </a:p>
          <a:p>
            <a:pPr marL="0" indent="0">
              <a:lnSpc>
                <a:spcPts val="1716"/>
              </a:lnSpc>
              <a:buNone/>
            </a:pPr>
            <a:r>
              <a:rPr lang="en-US" sz="1300" dirty="0">
                <a:solidFill>
                  <a:srgbClr val="34D6BE"/>
                </a:solidFill>
                <a:latin typeface="Consolas" pitchFamily="34" charset="0"/>
                <a:ea typeface="Consolas" pitchFamily="34" charset="-122"/>
                <a:cs typeface="Consolas" pitchFamily="34" charset="-120"/>
              </a:rPr>
              <a:t>pm-cverifier engine_config.yaml</a:t>
            </a:r>
            <a:endParaRPr lang="en-US" sz="1300" dirty="0"/>
          </a:p>
          <a:p>
            <a:pPr marL="0" indent="0">
              <a:lnSpc>
                <a:spcPts val="1716"/>
              </a:lnSpc>
              <a:buNone/>
            </a:pPr>
            <a:r>
              <a:rPr lang="en-US" sz="1300" dirty="0">
                <a:solidFill>
                  <a:srgbClr val="C2CAD4"/>
                </a:solidFill>
                <a:latin typeface="Consolas" pitchFamily="34" charset="0"/>
                <a:ea typeface="Consolas" pitchFamily="34" charset="-122"/>
                <a:cs typeface="Consolas" pitchFamily="34" charset="-120"/>
              </a:rPr>
              <a:t> </a:t>
            </a:r>
            <a:endParaRPr lang="en-US" sz="1300" dirty="0"/>
          </a:p>
          <a:p>
            <a:pPr marL="0" indent="0">
              <a:lnSpc>
                <a:spcPts val="1716"/>
              </a:lnSpc>
              <a:buNone/>
            </a:pPr>
            <a:r>
              <a:rPr lang="en-US" sz="1300" dirty="0">
                <a:solidFill>
                  <a:srgbClr val="8D97A5"/>
                </a:solidFill>
                <a:latin typeface="Consolas" pitchFamily="34" charset="0"/>
                <a:ea typeface="Consolas" pitchFamily="34" charset="-122"/>
                <a:cs typeface="Consolas" pitchFamily="34" charset="-120"/>
              </a:rPr>
              <a:t># quieter: warnings and above only, no info-level advisories</a:t>
            </a:r>
            <a:endParaRPr lang="en-US" sz="1300" dirty="0"/>
          </a:p>
          <a:p>
            <a:pPr marL="0" indent="0">
              <a:lnSpc>
                <a:spcPts val="1716"/>
              </a:lnSpc>
              <a:buNone/>
            </a:pPr>
            <a:r>
              <a:rPr lang="en-US" sz="1300" dirty="0">
                <a:solidFill>
                  <a:srgbClr val="34D6BE"/>
                </a:solidFill>
                <a:latin typeface="Consolas" pitchFamily="34" charset="0"/>
                <a:ea typeface="Consolas" pitchFamily="34" charset="-122"/>
                <a:cs typeface="Consolas" pitchFamily="34" charset="-120"/>
              </a:rPr>
              <a:t>pm-cverifier --level warn engine_config.yaml</a:t>
            </a:r>
            <a:endParaRPr lang="en-US" sz="1300" dirty="0"/>
          </a:p>
          <a:p>
            <a:pPr marL="0" indent="0">
              <a:lnSpc>
                <a:spcPts val="1716"/>
              </a:lnSpc>
              <a:buNone/>
            </a:pPr>
            <a:r>
              <a:rPr lang="en-US" sz="1300" dirty="0">
                <a:solidFill>
                  <a:srgbClr val="C2CAD4"/>
                </a:solidFill>
                <a:latin typeface="Consolas" pitchFamily="34" charset="0"/>
                <a:ea typeface="Consolas" pitchFamily="34" charset="-122"/>
                <a:cs typeface="Consolas" pitchFamily="34" charset="-120"/>
              </a:rPr>
              <a:t> </a:t>
            </a:r>
            <a:endParaRPr lang="en-US" sz="1300" dirty="0"/>
          </a:p>
          <a:p>
            <a:pPr marL="0" indent="0">
              <a:lnSpc>
                <a:spcPts val="1716"/>
              </a:lnSpc>
              <a:buNone/>
            </a:pPr>
            <a:r>
              <a:rPr lang="en-US" sz="1300" dirty="0">
                <a:solidFill>
                  <a:srgbClr val="8D97A5"/>
                </a:solidFill>
                <a:latin typeface="Consolas" pitchFamily="34" charset="0"/>
                <a:ea typeface="Consolas" pitchFamily="34" charset="-122"/>
                <a:cs typeface="Consolas" pitchFamily="34" charset="-120"/>
              </a:rPr>
              <a:t># for CI: machine-readable, and fail the build on any warning</a:t>
            </a:r>
            <a:endParaRPr lang="en-US" sz="1300" dirty="0"/>
          </a:p>
          <a:p>
            <a:pPr marL="0" indent="0">
              <a:lnSpc>
                <a:spcPts val="1716"/>
              </a:lnSpc>
              <a:buNone/>
            </a:pPr>
            <a:r>
              <a:rPr lang="en-US" sz="1300" dirty="0">
                <a:solidFill>
                  <a:srgbClr val="34D6BE"/>
                </a:solidFill>
                <a:latin typeface="Consolas" pitchFamily="34" charset="0"/>
                <a:ea typeface="Consolas" pitchFamily="34" charset="-122"/>
                <a:cs typeface="Consolas" pitchFamily="34" charset="-120"/>
              </a:rPr>
              <a:t>pm-cverifier --strict --format json engine_config.yaml</a:t>
            </a:r>
            <a:endParaRPr lang="en-US" sz="1300" dirty="0"/>
          </a:p>
        </p:txBody>
      </p:sp>
      <p:sp>
        <p:nvSpPr>
          <p:cNvPr id="13" name="Shape 11"/>
          <p:cNvSpPr/>
          <p:nvPr/>
        </p:nvSpPr>
        <p:spPr>
          <a:xfrm>
            <a:off x="640080" y="4480560"/>
            <a:ext cx="10911535" cy="347472"/>
          </a:xfrm>
          <a:prstGeom prst="rect">
            <a:avLst/>
          </a:prstGeom>
          <a:solidFill>
            <a:srgbClr val="2E353F"/>
          </a:solidFill>
          <a:ln w="12700">
            <a:solidFill>
              <a:srgbClr val="333333"/>
            </a:solidFill>
            <a:prstDash val="solid"/>
          </a:ln>
        </p:spPr>
        <p:txBody>
          <a:bodyPr/>
          <a:lstStyle/>
          <a:p>
            <a:endParaRPr lang="en-SE"/>
          </a:p>
        </p:txBody>
      </p:sp>
      <p:sp>
        <p:nvSpPr>
          <p:cNvPr id="14" name="Text 12"/>
          <p:cNvSpPr/>
          <p:nvPr/>
        </p:nvSpPr>
        <p:spPr>
          <a:xfrm>
            <a:off x="786384" y="4480560"/>
            <a:ext cx="218108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FLAG</a:t>
            </a:r>
            <a:endParaRPr lang="en-US" sz="950" dirty="0"/>
          </a:p>
        </p:txBody>
      </p:sp>
      <p:sp>
        <p:nvSpPr>
          <p:cNvPr id="15" name="Text 13"/>
          <p:cNvSpPr/>
          <p:nvPr/>
        </p:nvSpPr>
        <p:spPr>
          <a:xfrm>
            <a:off x="3186922" y="4480560"/>
            <a:ext cx="8291541"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DOES</a:t>
            </a:r>
            <a:endParaRPr lang="en-US" sz="950" dirty="0"/>
          </a:p>
        </p:txBody>
      </p:sp>
      <p:sp>
        <p:nvSpPr>
          <p:cNvPr id="16" name="Shape 14"/>
          <p:cNvSpPr/>
          <p:nvPr/>
        </p:nvSpPr>
        <p:spPr>
          <a:xfrm>
            <a:off x="640080" y="4828032"/>
            <a:ext cx="10911535" cy="329184"/>
          </a:xfrm>
          <a:prstGeom prst="rect">
            <a:avLst/>
          </a:prstGeom>
          <a:solidFill>
            <a:srgbClr val="252B33"/>
          </a:solidFill>
          <a:ln w="12700">
            <a:solidFill>
              <a:srgbClr val="333333"/>
            </a:solidFill>
            <a:prstDash val="solid"/>
          </a:ln>
        </p:spPr>
        <p:txBody>
          <a:bodyPr/>
          <a:lstStyle/>
          <a:p>
            <a:endParaRPr lang="en-SE"/>
          </a:p>
        </p:txBody>
      </p:sp>
      <p:sp>
        <p:nvSpPr>
          <p:cNvPr id="17" name="Text 15"/>
          <p:cNvSpPr/>
          <p:nvPr/>
        </p:nvSpPr>
        <p:spPr>
          <a:xfrm>
            <a:off x="786384" y="4828032"/>
            <a:ext cx="218108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onsolas" pitchFamily="34" charset="0"/>
                <a:ea typeface="Consolas" pitchFamily="34" charset="-122"/>
                <a:cs typeface="Consolas" pitchFamily="34" charset="-120"/>
              </a:rPr>
              <a:t>--format</a:t>
            </a:r>
            <a:endParaRPr lang="en-US" sz="1200" dirty="0"/>
          </a:p>
        </p:txBody>
      </p:sp>
      <p:sp>
        <p:nvSpPr>
          <p:cNvPr id="18" name="Text 16"/>
          <p:cNvSpPr/>
          <p:nvPr/>
        </p:nvSpPr>
        <p:spPr>
          <a:xfrm>
            <a:off x="3186922" y="4828032"/>
            <a:ext cx="8291541" cy="329184"/>
          </a:xfrm>
          <a:prstGeom prst="rect">
            <a:avLst/>
          </a:prstGeom>
          <a:noFill/>
          <a:ln/>
        </p:spPr>
        <p:txBody>
          <a:bodyPr wrap="square" lIns="0" tIns="0" rIns="0" bIns="0" rtlCol="0" anchor="ctr"/>
          <a:lstStyle/>
          <a:p>
            <a:pPr marL="0" indent="0" algn="l">
              <a:buNone/>
            </a:pPr>
            <a:r>
              <a:rPr lang="en-US" sz="1200" dirty="0">
                <a:solidFill>
                  <a:srgbClr val="C2CAD4"/>
                </a:solidFill>
                <a:latin typeface="Calibri" pitchFamily="34" charset="0"/>
                <a:ea typeface="Calibri" pitchFamily="34" charset="-122"/>
                <a:cs typeface="Calibri" pitchFamily="34" charset="-120"/>
              </a:rPr>
              <a:t>text (default) or json</a:t>
            </a:r>
            <a:endParaRPr lang="en-US" sz="1200" dirty="0"/>
          </a:p>
        </p:txBody>
      </p:sp>
      <p:sp>
        <p:nvSpPr>
          <p:cNvPr id="19" name="Text 17"/>
          <p:cNvSpPr/>
          <p:nvPr/>
        </p:nvSpPr>
        <p:spPr>
          <a:xfrm>
            <a:off x="786384" y="5157216"/>
            <a:ext cx="218108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onsolas" pitchFamily="34" charset="0"/>
                <a:ea typeface="Consolas" pitchFamily="34" charset="-122"/>
                <a:cs typeface="Consolas" pitchFamily="34" charset="-120"/>
              </a:rPr>
              <a:t>--level</a:t>
            </a:r>
            <a:endParaRPr lang="en-US" sz="1200" dirty="0"/>
          </a:p>
        </p:txBody>
      </p:sp>
      <p:sp>
        <p:nvSpPr>
          <p:cNvPr id="20" name="Text 18"/>
          <p:cNvSpPr/>
          <p:nvPr/>
        </p:nvSpPr>
        <p:spPr>
          <a:xfrm>
            <a:off x="3186922" y="5157216"/>
            <a:ext cx="8291541" cy="329184"/>
          </a:xfrm>
          <a:prstGeom prst="rect">
            <a:avLst/>
          </a:prstGeom>
          <a:noFill/>
          <a:ln/>
        </p:spPr>
        <p:txBody>
          <a:bodyPr wrap="square" lIns="0" tIns="0" rIns="0" bIns="0" rtlCol="0" anchor="ctr"/>
          <a:lstStyle/>
          <a:p>
            <a:pPr marL="0" indent="0" algn="l">
              <a:buNone/>
            </a:pPr>
            <a:r>
              <a:rPr lang="en-US" sz="1200" dirty="0">
                <a:solidFill>
                  <a:srgbClr val="C2CAD4"/>
                </a:solidFill>
                <a:latin typeface="Calibri" pitchFamily="34" charset="0"/>
                <a:ea typeface="Calibri" pitchFamily="34" charset="-122"/>
                <a:cs typeface="Calibri" pitchFamily="34" charset="-120"/>
              </a:rPr>
              <a:t>info, warn or error — the minimum severity to show</a:t>
            </a:r>
            <a:endParaRPr lang="en-US" sz="1200" dirty="0"/>
          </a:p>
        </p:txBody>
      </p:sp>
      <p:sp>
        <p:nvSpPr>
          <p:cNvPr id="21" name="Shape 19"/>
          <p:cNvSpPr/>
          <p:nvPr/>
        </p:nvSpPr>
        <p:spPr>
          <a:xfrm>
            <a:off x="640080" y="5486400"/>
            <a:ext cx="10911535" cy="329184"/>
          </a:xfrm>
          <a:prstGeom prst="rect">
            <a:avLst/>
          </a:prstGeom>
          <a:solidFill>
            <a:srgbClr val="252B33"/>
          </a:solidFill>
          <a:ln w="12700">
            <a:solidFill>
              <a:srgbClr val="333333"/>
            </a:solidFill>
            <a:prstDash val="solid"/>
          </a:ln>
        </p:spPr>
        <p:txBody>
          <a:bodyPr/>
          <a:lstStyle/>
          <a:p>
            <a:endParaRPr lang="en-SE"/>
          </a:p>
        </p:txBody>
      </p:sp>
      <p:sp>
        <p:nvSpPr>
          <p:cNvPr id="22" name="Text 20"/>
          <p:cNvSpPr/>
          <p:nvPr/>
        </p:nvSpPr>
        <p:spPr>
          <a:xfrm>
            <a:off x="786384" y="5486400"/>
            <a:ext cx="218108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onsolas" pitchFamily="34" charset="0"/>
                <a:ea typeface="Consolas" pitchFamily="34" charset="-122"/>
                <a:cs typeface="Consolas" pitchFamily="34" charset="-120"/>
              </a:rPr>
              <a:t>--strict</a:t>
            </a:r>
            <a:endParaRPr lang="en-US" sz="1200" dirty="0"/>
          </a:p>
        </p:txBody>
      </p:sp>
      <p:sp>
        <p:nvSpPr>
          <p:cNvPr id="23" name="Text 21"/>
          <p:cNvSpPr/>
          <p:nvPr/>
        </p:nvSpPr>
        <p:spPr>
          <a:xfrm>
            <a:off x="3186922" y="5486400"/>
            <a:ext cx="8291541" cy="329184"/>
          </a:xfrm>
          <a:prstGeom prst="rect">
            <a:avLst/>
          </a:prstGeom>
          <a:noFill/>
          <a:ln/>
        </p:spPr>
        <p:txBody>
          <a:bodyPr wrap="square" lIns="0" tIns="0" rIns="0" bIns="0" rtlCol="0" anchor="ctr"/>
          <a:lstStyle/>
          <a:p>
            <a:pPr marL="0" indent="0" algn="l">
              <a:buNone/>
            </a:pPr>
            <a:r>
              <a:rPr lang="en-US" sz="1200" dirty="0">
                <a:solidFill>
                  <a:srgbClr val="C2CAD4"/>
                </a:solidFill>
                <a:latin typeface="Calibri" pitchFamily="34" charset="0"/>
                <a:ea typeface="Calibri" pitchFamily="34" charset="-122"/>
                <a:cs typeface="Calibri" pitchFamily="34" charset="-120"/>
              </a:rPr>
              <a:t>treat warnings as errors for the exit code</a:t>
            </a:r>
            <a:endParaRPr lang="en-US" sz="1200" dirty="0"/>
          </a:p>
        </p:txBody>
      </p:sp>
      <p:sp>
        <p:nvSpPr>
          <p:cNvPr id="24" name="Text 22"/>
          <p:cNvSpPr/>
          <p:nvPr/>
        </p:nvSpPr>
        <p:spPr>
          <a:xfrm>
            <a:off x="786384" y="5815584"/>
            <a:ext cx="2181082" cy="329184"/>
          </a:xfrm>
          <a:prstGeom prst="rect">
            <a:avLst/>
          </a:prstGeom>
          <a:noFill/>
          <a:ln/>
        </p:spPr>
        <p:txBody>
          <a:bodyPr wrap="square" lIns="0" tIns="0" rIns="0" bIns="0" rtlCol="0" anchor="ctr"/>
          <a:lstStyle/>
          <a:p>
            <a:pPr marL="0" indent="0" algn="l">
              <a:buNone/>
            </a:pPr>
            <a:r>
              <a:rPr lang="en-US" sz="1200" b="1" dirty="0">
                <a:solidFill>
                  <a:srgbClr val="F1F4F8"/>
                </a:solidFill>
                <a:latin typeface="Consolas" pitchFamily="34" charset="0"/>
                <a:ea typeface="Consolas" pitchFamily="34" charset="-122"/>
                <a:cs typeface="Consolas" pitchFamily="34" charset="-120"/>
              </a:rPr>
              <a:t>--no-color</a:t>
            </a:r>
            <a:endParaRPr lang="en-US" sz="1200" dirty="0"/>
          </a:p>
        </p:txBody>
      </p:sp>
      <p:sp>
        <p:nvSpPr>
          <p:cNvPr id="25" name="Text 23"/>
          <p:cNvSpPr/>
          <p:nvPr/>
        </p:nvSpPr>
        <p:spPr>
          <a:xfrm>
            <a:off x="3186922" y="5815584"/>
            <a:ext cx="8291541" cy="329184"/>
          </a:xfrm>
          <a:prstGeom prst="rect">
            <a:avLst/>
          </a:prstGeom>
          <a:noFill/>
          <a:ln/>
        </p:spPr>
        <p:txBody>
          <a:bodyPr wrap="square" lIns="0" tIns="0" rIns="0" bIns="0" rtlCol="0" anchor="ctr"/>
          <a:lstStyle/>
          <a:p>
            <a:pPr marL="0" indent="0" algn="l">
              <a:buNone/>
            </a:pPr>
            <a:r>
              <a:rPr lang="en-US" sz="1200" dirty="0">
                <a:solidFill>
                  <a:srgbClr val="C2CAD4"/>
                </a:solidFill>
                <a:latin typeface="Calibri" pitchFamily="34" charset="0"/>
                <a:ea typeface="Calibri" pitchFamily="34" charset="-122"/>
                <a:cs typeface="Calibri" pitchFamily="34" charset="-120"/>
              </a:rPr>
              <a:t>disable ANSI colour in text output</a:t>
            </a:r>
            <a:endParaRPr lang="en-US" sz="1200" dirty="0"/>
          </a:p>
        </p:txBody>
      </p:sp>
      <p:sp>
        <p:nvSpPr>
          <p:cNvPr id="26" name="Text 2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27" name="Text 2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Four layers, run in order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hard failure in layer 1 or 2 stops the later layers — they are reported as skipped, because there is no point checking consistency in a file that does not parse.</a:t>
            </a:r>
            <a:endParaRPr lang="en-US" sz="1450" dirty="0"/>
          </a:p>
        </p:txBody>
      </p:sp>
      <p:sp>
        <p:nvSpPr>
          <p:cNvPr id="6" name="Shape 4"/>
          <p:cNvSpPr/>
          <p:nvPr/>
        </p:nvSpPr>
        <p:spPr>
          <a:xfrm>
            <a:off x="640080" y="2057400"/>
            <a:ext cx="10911535" cy="841248"/>
          </a:xfrm>
          <a:prstGeom prst="roundRect">
            <a:avLst>
              <a:gd name="adj" fmla="val 6522"/>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57400"/>
            <a:ext cx="54864" cy="841248"/>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914400" y="2167128"/>
            <a:ext cx="1280160" cy="237744"/>
          </a:xfrm>
          <a:prstGeom prst="rect">
            <a:avLst/>
          </a:prstGeom>
          <a:noFill/>
          <a:ln/>
        </p:spPr>
        <p:txBody>
          <a:bodyPr wrap="square" lIns="0" tIns="0" rIns="0" bIns="0" rtlCol="0" anchor="ctr"/>
          <a:lstStyle/>
          <a:p>
            <a:pPr marL="0" indent="0">
              <a:buNone/>
            </a:pPr>
            <a:r>
              <a:rPr lang="en-US" sz="1000" b="1" dirty="0">
                <a:solidFill>
                  <a:srgbClr val="FF7A6B"/>
                </a:solidFill>
                <a:latin typeface="Consolas" pitchFamily="34" charset="0"/>
                <a:ea typeface="Consolas" pitchFamily="34" charset="-122"/>
                <a:cs typeface="Consolas" pitchFamily="34" charset="-120"/>
              </a:rPr>
              <a:t>LAYER 1</a:t>
            </a:r>
            <a:endParaRPr lang="en-US" sz="1000" dirty="0"/>
          </a:p>
        </p:txBody>
      </p:sp>
      <p:sp>
        <p:nvSpPr>
          <p:cNvPr id="9" name="Text 7"/>
          <p:cNvSpPr/>
          <p:nvPr/>
        </p:nvSpPr>
        <p:spPr>
          <a:xfrm>
            <a:off x="914400" y="2441448"/>
            <a:ext cx="2103120" cy="310896"/>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YAML syntax</a:t>
            </a:r>
            <a:endParaRPr lang="en-US" sz="1600" dirty="0"/>
          </a:p>
        </p:txBody>
      </p:sp>
      <p:sp>
        <p:nvSpPr>
          <p:cNvPr id="10" name="Text 8"/>
          <p:cNvSpPr/>
          <p:nvPr/>
        </p:nvSpPr>
        <p:spPr>
          <a:xfrm>
            <a:off x="3200400" y="2185416"/>
            <a:ext cx="4114800" cy="274320"/>
          </a:xfrm>
          <a:prstGeom prst="rect">
            <a:avLst/>
          </a:prstGeom>
          <a:noFill/>
          <a:ln/>
        </p:spPr>
        <p:txBody>
          <a:bodyPr wrap="square" lIns="0" tIns="0" rIns="0" bIns="0" rtlCol="0" anchor="ctr"/>
          <a:lstStyle/>
          <a:p>
            <a:pPr marL="0" indent="0">
              <a:buNone/>
            </a:pPr>
            <a:r>
              <a:rPr lang="en-US" sz="1250" i="1" dirty="0">
                <a:solidFill>
                  <a:srgbClr val="F1F4F8"/>
                </a:solidFill>
                <a:latin typeface="Calibri" pitchFamily="34" charset="0"/>
                <a:ea typeface="Calibri" pitchFamily="34" charset="-122"/>
                <a:cs typeface="Calibri" pitchFamily="34" charset="-120"/>
              </a:rPr>
              <a:t>Can the file be parsed at all?</a:t>
            </a:r>
            <a:endParaRPr lang="en-US" sz="1250" dirty="0"/>
          </a:p>
        </p:txBody>
      </p:sp>
      <p:sp>
        <p:nvSpPr>
          <p:cNvPr id="11" name="Text 9"/>
          <p:cNvSpPr/>
          <p:nvPr/>
        </p:nvSpPr>
        <p:spPr>
          <a:xfrm>
            <a:off x="3200400" y="2487168"/>
            <a:ext cx="5852160" cy="329184"/>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File readable, valid YAML, top level is a mapping.</a:t>
            </a:r>
            <a:endParaRPr lang="en-US" sz="1150" dirty="0"/>
          </a:p>
        </p:txBody>
      </p:sp>
      <p:sp>
        <p:nvSpPr>
          <p:cNvPr id="12" name="Shape 10"/>
          <p:cNvSpPr/>
          <p:nvPr/>
        </p:nvSpPr>
        <p:spPr>
          <a:xfrm>
            <a:off x="9859975" y="2331720"/>
            <a:ext cx="1463040" cy="274320"/>
          </a:xfrm>
          <a:prstGeom prst="roundRect">
            <a:avLst>
              <a:gd name="adj" fmla="val 46667"/>
            </a:avLst>
          </a:prstGeom>
          <a:solidFill>
            <a:srgbClr val="15181D"/>
          </a:solidFill>
          <a:ln w="9525">
            <a:solidFill>
              <a:srgbClr val="FF7A6B"/>
            </a:solidFill>
            <a:prstDash val="solid"/>
          </a:ln>
        </p:spPr>
        <p:txBody>
          <a:bodyPr/>
          <a:lstStyle/>
          <a:p>
            <a:endParaRPr lang="en-SE"/>
          </a:p>
        </p:txBody>
      </p:sp>
      <p:sp>
        <p:nvSpPr>
          <p:cNvPr id="13" name="Text 11"/>
          <p:cNvSpPr/>
          <p:nvPr/>
        </p:nvSpPr>
        <p:spPr>
          <a:xfrm>
            <a:off x="9859975" y="2331720"/>
            <a:ext cx="1463040" cy="274320"/>
          </a:xfrm>
          <a:prstGeom prst="rect">
            <a:avLst/>
          </a:prstGeom>
          <a:noFill/>
          <a:ln/>
        </p:spPr>
        <p:txBody>
          <a:bodyPr wrap="square" lIns="0" tIns="0" rIns="0" bIns="0" rtlCol="0" anchor="ctr"/>
          <a:lstStyle/>
          <a:p>
            <a:pPr marL="0" indent="0" algn="ctr">
              <a:buNone/>
            </a:pPr>
            <a:r>
              <a:rPr lang="en-US" sz="950" b="1" kern="0" spc="80" dirty="0">
                <a:solidFill>
                  <a:srgbClr val="FF7A6B"/>
                </a:solidFill>
                <a:latin typeface="Calibri" pitchFamily="34" charset="0"/>
                <a:ea typeface="Calibri" pitchFamily="34" charset="-122"/>
                <a:cs typeface="Calibri" pitchFamily="34" charset="-120"/>
              </a:rPr>
              <a:t>ERROR</a:t>
            </a:r>
            <a:endParaRPr lang="en-US" sz="950" dirty="0"/>
          </a:p>
        </p:txBody>
      </p:sp>
      <p:sp>
        <p:nvSpPr>
          <p:cNvPr id="14" name="Text 12"/>
          <p:cNvSpPr/>
          <p:nvPr/>
        </p:nvSpPr>
        <p:spPr>
          <a:xfrm>
            <a:off x="859536" y="2880360"/>
            <a:ext cx="274320" cy="128016"/>
          </a:xfrm>
          <a:prstGeom prst="rect">
            <a:avLst/>
          </a:prstGeom>
          <a:noFill/>
          <a:ln/>
        </p:spPr>
        <p:txBody>
          <a:bodyPr wrap="square" lIns="0" tIns="0" rIns="0" bIns="0" rtlCol="0" anchor="ctr"/>
          <a:lstStyle/>
          <a:p>
            <a:pPr marL="0" indent="0" algn="ctr">
              <a:buNone/>
            </a:pPr>
            <a:r>
              <a:rPr lang="en-US" sz="1100" dirty="0">
                <a:solidFill>
                  <a:srgbClr val="3B4450"/>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640080" y="3017520"/>
            <a:ext cx="10911535" cy="841248"/>
          </a:xfrm>
          <a:prstGeom prst="roundRect">
            <a:avLst>
              <a:gd name="adj" fmla="val 6522"/>
            </a:avLst>
          </a:prstGeom>
          <a:solidFill>
            <a:srgbClr val="252B33"/>
          </a:solidFill>
          <a:ln w="12700">
            <a:solidFill>
              <a:srgbClr val="3B4450"/>
            </a:solidFill>
            <a:prstDash val="solid"/>
          </a:ln>
        </p:spPr>
        <p:txBody>
          <a:bodyPr/>
          <a:lstStyle/>
          <a:p>
            <a:endParaRPr lang="en-SE"/>
          </a:p>
        </p:txBody>
      </p:sp>
      <p:sp>
        <p:nvSpPr>
          <p:cNvPr id="16" name="Shape 14"/>
          <p:cNvSpPr/>
          <p:nvPr/>
        </p:nvSpPr>
        <p:spPr>
          <a:xfrm>
            <a:off x="640080" y="3017520"/>
            <a:ext cx="54864" cy="841248"/>
          </a:xfrm>
          <a:prstGeom prst="rect">
            <a:avLst/>
          </a:prstGeom>
          <a:solidFill>
            <a:srgbClr val="FF7A6B"/>
          </a:solidFill>
          <a:ln w="12700">
            <a:solidFill>
              <a:srgbClr val="333333"/>
            </a:solidFill>
            <a:prstDash val="solid"/>
          </a:ln>
        </p:spPr>
        <p:txBody>
          <a:bodyPr/>
          <a:lstStyle/>
          <a:p>
            <a:endParaRPr lang="en-SE"/>
          </a:p>
        </p:txBody>
      </p:sp>
      <p:sp>
        <p:nvSpPr>
          <p:cNvPr id="17" name="Text 15"/>
          <p:cNvSpPr/>
          <p:nvPr/>
        </p:nvSpPr>
        <p:spPr>
          <a:xfrm>
            <a:off x="914400" y="3127248"/>
            <a:ext cx="1280160" cy="237744"/>
          </a:xfrm>
          <a:prstGeom prst="rect">
            <a:avLst/>
          </a:prstGeom>
          <a:noFill/>
          <a:ln/>
        </p:spPr>
        <p:txBody>
          <a:bodyPr wrap="square" lIns="0" tIns="0" rIns="0" bIns="0" rtlCol="0" anchor="ctr"/>
          <a:lstStyle/>
          <a:p>
            <a:pPr marL="0" indent="0">
              <a:buNone/>
            </a:pPr>
            <a:r>
              <a:rPr lang="en-US" sz="1000" b="1" dirty="0">
                <a:solidFill>
                  <a:srgbClr val="FF7A6B"/>
                </a:solidFill>
                <a:latin typeface="Consolas" pitchFamily="34" charset="0"/>
                <a:ea typeface="Consolas" pitchFamily="34" charset="-122"/>
                <a:cs typeface="Consolas" pitchFamily="34" charset="-120"/>
              </a:rPr>
              <a:t>LAYER 2</a:t>
            </a:r>
            <a:endParaRPr lang="en-US" sz="1000" dirty="0"/>
          </a:p>
        </p:txBody>
      </p:sp>
      <p:sp>
        <p:nvSpPr>
          <p:cNvPr id="18" name="Text 16"/>
          <p:cNvSpPr/>
          <p:nvPr/>
        </p:nvSpPr>
        <p:spPr>
          <a:xfrm>
            <a:off x="914400" y="3401568"/>
            <a:ext cx="2103120" cy="310896"/>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Schema</a:t>
            </a:r>
            <a:endParaRPr lang="en-US" sz="1600" dirty="0"/>
          </a:p>
        </p:txBody>
      </p:sp>
      <p:sp>
        <p:nvSpPr>
          <p:cNvPr id="19" name="Text 17"/>
          <p:cNvSpPr/>
          <p:nvPr/>
        </p:nvSpPr>
        <p:spPr>
          <a:xfrm>
            <a:off x="3200400" y="3145536"/>
            <a:ext cx="4114800" cy="274320"/>
          </a:xfrm>
          <a:prstGeom prst="rect">
            <a:avLst/>
          </a:prstGeom>
          <a:noFill/>
          <a:ln/>
        </p:spPr>
        <p:txBody>
          <a:bodyPr wrap="square" lIns="0" tIns="0" rIns="0" bIns="0" rtlCol="0" anchor="ctr"/>
          <a:lstStyle/>
          <a:p>
            <a:pPr marL="0" indent="0">
              <a:buNone/>
            </a:pPr>
            <a:r>
              <a:rPr lang="en-US" sz="1250" i="1" dirty="0">
                <a:solidFill>
                  <a:srgbClr val="F1F4F8"/>
                </a:solidFill>
                <a:latin typeface="Calibri" pitchFamily="34" charset="0"/>
                <a:ea typeface="Calibri" pitchFamily="34" charset="-122"/>
                <a:cs typeface="Calibri" pitchFamily="34" charset="-120"/>
              </a:rPr>
              <a:t>Do the fields exist and have the right types?</a:t>
            </a:r>
            <a:endParaRPr lang="en-US" sz="1250" dirty="0"/>
          </a:p>
        </p:txBody>
      </p:sp>
      <p:sp>
        <p:nvSpPr>
          <p:cNvPr id="20" name="Text 18"/>
          <p:cNvSpPr/>
          <p:nvPr/>
        </p:nvSpPr>
        <p:spPr>
          <a:xfrm>
            <a:off x="3200400" y="3447288"/>
            <a:ext cx="5852160" cy="329184"/>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Required keys present, correct types, values in range.</a:t>
            </a:r>
            <a:endParaRPr lang="en-US" sz="1150" dirty="0"/>
          </a:p>
        </p:txBody>
      </p:sp>
      <p:sp>
        <p:nvSpPr>
          <p:cNvPr id="21" name="Shape 19"/>
          <p:cNvSpPr/>
          <p:nvPr/>
        </p:nvSpPr>
        <p:spPr>
          <a:xfrm>
            <a:off x="9859975" y="3291840"/>
            <a:ext cx="1463040" cy="274320"/>
          </a:xfrm>
          <a:prstGeom prst="roundRect">
            <a:avLst>
              <a:gd name="adj" fmla="val 46667"/>
            </a:avLst>
          </a:prstGeom>
          <a:solidFill>
            <a:srgbClr val="15181D"/>
          </a:solidFill>
          <a:ln w="9525">
            <a:solidFill>
              <a:srgbClr val="FF7A6B"/>
            </a:solidFill>
            <a:prstDash val="solid"/>
          </a:ln>
        </p:spPr>
        <p:txBody>
          <a:bodyPr/>
          <a:lstStyle/>
          <a:p>
            <a:endParaRPr lang="en-SE"/>
          </a:p>
        </p:txBody>
      </p:sp>
      <p:sp>
        <p:nvSpPr>
          <p:cNvPr id="22" name="Text 20"/>
          <p:cNvSpPr/>
          <p:nvPr/>
        </p:nvSpPr>
        <p:spPr>
          <a:xfrm>
            <a:off x="9859975" y="3291840"/>
            <a:ext cx="1463040" cy="274320"/>
          </a:xfrm>
          <a:prstGeom prst="rect">
            <a:avLst/>
          </a:prstGeom>
          <a:noFill/>
          <a:ln/>
        </p:spPr>
        <p:txBody>
          <a:bodyPr wrap="square" lIns="0" tIns="0" rIns="0" bIns="0" rtlCol="0" anchor="ctr"/>
          <a:lstStyle/>
          <a:p>
            <a:pPr marL="0" indent="0" algn="ctr">
              <a:buNone/>
            </a:pPr>
            <a:r>
              <a:rPr lang="en-US" sz="950" b="1" kern="0" spc="80" dirty="0">
                <a:solidFill>
                  <a:srgbClr val="FF7A6B"/>
                </a:solidFill>
                <a:latin typeface="Calibri" pitchFamily="34" charset="0"/>
                <a:ea typeface="Calibri" pitchFamily="34" charset="-122"/>
                <a:cs typeface="Calibri" pitchFamily="34" charset="-120"/>
              </a:rPr>
              <a:t>ERROR</a:t>
            </a:r>
            <a:endParaRPr lang="en-US" sz="950" dirty="0"/>
          </a:p>
        </p:txBody>
      </p:sp>
      <p:sp>
        <p:nvSpPr>
          <p:cNvPr id="23" name="Text 21"/>
          <p:cNvSpPr/>
          <p:nvPr/>
        </p:nvSpPr>
        <p:spPr>
          <a:xfrm>
            <a:off x="859536" y="3840480"/>
            <a:ext cx="274320" cy="128016"/>
          </a:xfrm>
          <a:prstGeom prst="rect">
            <a:avLst/>
          </a:prstGeom>
          <a:noFill/>
          <a:ln/>
        </p:spPr>
        <p:txBody>
          <a:bodyPr wrap="square" lIns="0" tIns="0" rIns="0" bIns="0" rtlCol="0" anchor="ctr"/>
          <a:lstStyle/>
          <a:p>
            <a:pPr marL="0" indent="0" algn="ctr">
              <a:buNone/>
            </a:pPr>
            <a:r>
              <a:rPr lang="en-US" sz="1100" dirty="0">
                <a:solidFill>
                  <a:srgbClr val="3B4450"/>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640080" y="3977640"/>
            <a:ext cx="10911535" cy="841248"/>
          </a:xfrm>
          <a:prstGeom prst="roundRect">
            <a:avLst>
              <a:gd name="adj" fmla="val 6522"/>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640080" y="3977640"/>
            <a:ext cx="54864" cy="841248"/>
          </a:xfrm>
          <a:prstGeom prst="rect">
            <a:avLst/>
          </a:prstGeom>
          <a:solidFill>
            <a:srgbClr val="F3B441"/>
          </a:solidFill>
          <a:ln w="12700">
            <a:solidFill>
              <a:srgbClr val="333333"/>
            </a:solidFill>
            <a:prstDash val="solid"/>
          </a:ln>
        </p:spPr>
        <p:txBody>
          <a:bodyPr/>
          <a:lstStyle/>
          <a:p>
            <a:endParaRPr lang="en-SE"/>
          </a:p>
        </p:txBody>
      </p:sp>
      <p:sp>
        <p:nvSpPr>
          <p:cNvPr id="26" name="Text 24"/>
          <p:cNvSpPr/>
          <p:nvPr/>
        </p:nvSpPr>
        <p:spPr>
          <a:xfrm>
            <a:off x="914400" y="4087368"/>
            <a:ext cx="128016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LAYER 3</a:t>
            </a:r>
            <a:endParaRPr lang="en-US" sz="1000" dirty="0"/>
          </a:p>
        </p:txBody>
      </p:sp>
      <p:sp>
        <p:nvSpPr>
          <p:cNvPr id="27" name="Text 25"/>
          <p:cNvSpPr/>
          <p:nvPr/>
        </p:nvSpPr>
        <p:spPr>
          <a:xfrm>
            <a:off x="914400" y="4361688"/>
            <a:ext cx="2103120" cy="310896"/>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Semantic</a:t>
            </a:r>
            <a:endParaRPr lang="en-US" sz="1600" dirty="0"/>
          </a:p>
        </p:txBody>
      </p:sp>
      <p:sp>
        <p:nvSpPr>
          <p:cNvPr id="28" name="Text 26"/>
          <p:cNvSpPr/>
          <p:nvPr/>
        </p:nvSpPr>
        <p:spPr>
          <a:xfrm>
            <a:off x="3200400" y="4105656"/>
            <a:ext cx="4114800" cy="274320"/>
          </a:xfrm>
          <a:prstGeom prst="rect">
            <a:avLst/>
          </a:prstGeom>
          <a:noFill/>
          <a:ln/>
        </p:spPr>
        <p:txBody>
          <a:bodyPr wrap="square" lIns="0" tIns="0" rIns="0" bIns="0" rtlCol="0" anchor="ctr"/>
          <a:lstStyle/>
          <a:p>
            <a:pPr marL="0" indent="0">
              <a:buNone/>
            </a:pPr>
            <a:r>
              <a:rPr lang="en-US" sz="1250" i="1" dirty="0">
                <a:solidFill>
                  <a:srgbClr val="F1F4F8"/>
                </a:solidFill>
                <a:latin typeface="Calibri" pitchFamily="34" charset="0"/>
                <a:ea typeface="Calibri" pitchFamily="34" charset="-122"/>
                <a:cs typeface="Calibri" pitchFamily="34" charset="-120"/>
              </a:rPr>
              <a:t>Are the values consistent with each other?</a:t>
            </a:r>
            <a:endParaRPr lang="en-US" sz="1250" dirty="0"/>
          </a:p>
        </p:txBody>
      </p:sp>
      <p:sp>
        <p:nvSpPr>
          <p:cNvPr id="29" name="Text 27"/>
          <p:cNvSpPr/>
          <p:nvPr/>
        </p:nvSpPr>
        <p:spPr>
          <a:xfrm>
            <a:off x="3200400" y="4407408"/>
            <a:ext cx="5852160" cy="329184"/>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Cross-field rules and referential integrity between sections.</a:t>
            </a:r>
            <a:endParaRPr lang="en-US" sz="1150" dirty="0"/>
          </a:p>
        </p:txBody>
      </p:sp>
      <p:sp>
        <p:nvSpPr>
          <p:cNvPr id="30" name="Shape 28"/>
          <p:cNvSpPr/>
          <p:nvPr/>
        </p:nvSpPr>
        <p:spPr>
          <a:xfrm>
            <a:off x="9859975" y="4251960"/>
            <a:ext cx="1463040" cy="274320"/>
          </a:xfrm>
          <a:prstGeom prst="roundRect">
            <a:avLst>
              <a:gd name="adj" fmla="val 46667"/>
            </a:avLst>
          </a:prstGeom>
          <a:solidFill>
            <a:srgbClr val="15181D"/>
          </a:solidFill>
          <a:ln w="9525">
            <a:solidFill>
              <a:srgbClr val="F3B441"/>
            </a:solidFill>
            <a:prstDash val="solid"/>
          </a:ln>
        </p:spPr>
        <p:txBody>
          <a:bodyPr/>
          <a:lstStyle/>
          <a:p>
            <a:endParaRPr lang="en-SE"/>
          </a:p>
        </p:txBody>
      </p:sp>
      <p:sp>
        <p:nvSpPr>
          <p:cNvPr id="31" name="Text 29"/>
          <p:cNvSpPr/>
          <p:nvPr/>
        </p:nvSpPr>
        <p:spPr>
          <a:xfrm>
            <a:off x="9859975" y="4251960"/>
            <a:ext cx="1463040" cy="274320"/>
          </a:xfrm>
          <a:prstGeom prst="rect">
            <a:avLst/>
          </a:prstGeom>
          <a:noFill/>
          <a:ln/>
        </p:spPr>
        <p:txBody>
          <a:bodyPr wrap="square" lIns="0" tIns="0" rIns="0" bIns="0" rtlCol="0" anchor="ctr"/>
          <a:lstStyle/>
          <a:p>
            <a:pPr marL="0" indent="0" algn="ctr">
              <a:buNone/>
            </a:pPr>
            <a:r>
              <a:rPr lang="en-US" sz="950" b="1" kern="0" spc="80" dirty="0">
                <a:solidFill>
                  <a:srgbClr val="F3B441"/>
                </a:solidFill>
                <a:latin typeface="Calibri" pitchFamily="34" charset="0"/>
                <a:ea typeface="Calibri" pitchFamily="34" charset="-122"/>
                <a:cs typeface="Calibri" pitchFamily="34" charset="-120"/>
              </a:rPr>
              <a:t>ERROR / WARN</a:t>
            </a:r>
            <a:endParaRPr lang="en-US" sz="950" dirty="0"/>
          </a:p>
        </p:txBody>
      </p:sp>
      <p:sp>
        <p:nvSpPr>
          <p:cNvPr id="32" name="Text 30"/>
          <p:cNvSpPr/>
          <p:nvPr/>
        </p:nvSpPr>
        <p:spPr>
          <a:xfrm>
            <a:off x="859536" y="4800600"/>
            <a:ext cx="274320" cy="128016"/>
          </a:xfrm>
          <a:prstGeom prst="rect">
            <a:avLst/>
          </a:prstGeom>
          <a:noFill/>
          <a:ln/>
        </p:spPr>
        <p:txBody>
          <a:bodyPr wrap="square" lIns="0" tIns="0" rIns="0" bIns="0" rtlCol="0" anchor="ctr"/>
          <a:lstStyle/>
          <a:p>
            <a:pPr marL="0" indent="0" algn="ctr">
              <a:buNone/>
            </a:pPr>
            <a:r>
              <a:rPr lang="en-US" sz="1100" dirty="0">
                <a:solidFill>
                  <a:srgbClr val="3B4450"/>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640080" y="4937760"/>
            <a:ext cx="10911535" cy="841248"/>
          </a:xfrm>
          <a:prstGeom prst="roundRect">
            <a:avLst>
              <a:gd name="adj" fmla="val 6522"/>
            </a:avLst>
          </a:prstGeom>
          <a:solidFill>
            <a:srgbClr val="252B33"/>
          </a:solidFill>
          <a:ln w="12700">
            <a:solidFill>
              <a:srgbClr val="3B4450"/>
            </a:solidFill>
            <a:prstDash val="solid"/>
          </a:ln>
        </p:spPr>
        <p:txBody>
          <a:bodyPr/>
          <a:lstStyle/>
          <a:p>
            <a:endParaRPr lang="en-SE"/>
          </a:p>
        </p:txBody>
      </p:sp>
      <p:sp>
        <p:nvSpPr>
          <p:cNvPr id="34" name="Shape 32"/>
          <p:cNvSpPr/>
          <p:nvPr/>
        </p:nvSpPr>
        <p:spPr>
          <a:xfrm>
            <a:off x="640080" y="4937760"/>
            <a:ext cx="54864" cy="841248"/>
          </a:xfrm>
          <a:prstGeom prst="rect">
            <a:avLst/>
          </a:prstGeom>
          <a:solidFill>
            <a:srgbClr val="5AB2F7"/>
          </a:solidFill>
          <a:ln w="12700">
            <a:solidFill>
              <a:srgbClr val="333333"/>
            </a:solidFill>
            <a:prstDash val="solid"/>
          </a:ln>
        </p:spPr>
        <p:txBody>
          <a:bodyPr/>
          <a:lstStyle/>
          <a:p>
            <a:endParaRPr lang="en-SE"/>
          </a:p>
        </p:txBody>
      </p:sp>
      <p:sp>
        <p:nvSpPr>
          <p:cNvPr id="35" name="Text 33"/>
          <p:cNvSpPr/>
          <p:nvPr/>
        </p:nvSpPr>
        <p:spPr>
          <a:xfrm>
            <a:off x="914400" y="5047488"/>
            <a:ext cx="1280160" cy="237744"/>
          </a:xfrm>
          <a:prstGeom prst="rect">
            <a:avLst/>
          </a:prstGeom>
          <a:noFill/>
          <a:ln/>
        </p:spPr>
        <p:txBody>
          <a:bodyPr wrap="square" lIns="0" tIns="0" rIns="0" bIns="0" rtlCol="0" anchor="ctr"/>
          <a:lstStyle/>
          <a:p>
            <a:pPr marL="0" indent="0">
              <a:buNone/>
            </a:pPr>
            <a:r>
              <a:rPr lang="en-US" sz="1000" b="1" dirty="0">
                <a:solidFill>
                  <a:srgbClr val="5AB2F7"/>
                </a:solidFill>
                <a:latin typeface="Consolas" pitchFamily="34" charset="0"/>
                <a:ea typeface="Consolas" pitchFamily="34" charset="-122"/>
                <a:cs typeface="Consolas" pitchFamily="34" charset="-120"/>
              </a:rPr>
              <a:t>LAYER 4</a:t>
            </a:r>
            <a:endParaRPr lang="en-US" sz="1000" dirty="0"/>
          </a:p>
        </p:txBody>
      </p:sp>
      <p:sp>
        <p:nvSpPr>
          <p:cNvPr id="36" name="Text 34"/>
          <p:cNvSpPr/>
          <p:nvPr/>
        </p:nvSpPr>
        <p:spPr>
          <a:xfrm>
            <a:off x="914400" y="5321808"/>
            <a:ext cx="2103120" cy="310896"/>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Completeness</a:t>
            </a:r>
            <a:endParaRPr lang="en-US" sz="1600" dirty="0"/>
          </a:p>
        </p:txBody>
      </p:sp>
      <p:sp>
        <p:nvSpPr>
          <p:cNvPr id="37" name="Text 35"/>
          <p:cNvSpPr/>
          <p:nvPr/>
        </p:nvSpPr>
        <p:spPr>
          <a:xfrm>
            <a:off x="3200400" y="5065776"/>
            <a:ext cx="4114800" cy="274320"/>
          </a:xfrm>
          <a:prstGeom prst="rect">
            <a:avLst/>
          </a:prstGeom>
          <a:noFill/>
          <a:ln/>
        </p:spPr>
        <p:txBody>
          <a:bodyPr wrap="square" lIns="0" tIns="0" rIns="0" bIns="0" rtlCol="0" anchor="ctr"/>
          <a:lstStyle/>
          <a:p>
            <a:pPr marL="0" indent="0">
              <a:buNone/>
            </a:pPr>
            <a:r>
              <a:rPr lang="en-US" sz="1250" i="1" dirty="0">
                <a:solidFill>
                  <a:srgbClr val="F1F4F8"/>
                </a:solidFill>
                <a:latin typeface="Calibri" pitchFamily="34" charset="0"/>
                <a:ea typeface="Calibri" pitchFamily="34" charset="-122"/>
                <a:cs typeface="Calibri" pitchFamily="34" charset="-120"/>
              </a:rPr>
              <a:t>Are recommended settings present and plausible?</a:t>
            </a:r>
            <a:endParaRPr lang="en-US" sz="1250" dirty="0"/>
          </a:p>
        </p:txBody>
      </p:sp>
      <p:sp>
        <p:nvSpPr>
          <p:cNvPr id="38" name="Text 36"/>
          <p:cNvSpPr/>
          <p:nvPr/>
        </p:nvSpPr>
        <p:spPr>
          <a:xfrm>
            <a:off x="3200400" y="5367528"/>
            <a:ext cx="5852160" cy="329184"/>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Missing-but-recommended settings and default-value notices.</a:t>
            </a:r>
            <a:endParaRPr lang="en-US" sz="1150" dirty="0"/>
          </a:p>
        </p:txBody>
      </p:sp>
      <p:sp>
        <p:nvSpPr>
          <p:cNvPr id="39" name="Shape 37"/>
          <p:cNvSpPr/>
          <p:nvPr/>
        </p:nvSpPr>
        <p:spPr>
          <a:xfrm>
            <a:off x="9859975" y="5212080"/>
            <a:ext cx="1463040" cy="274320"/>
          </a:xfrm>
          <a:prstGeom prst="roundRect">
            <a:avLst>
              <a:gd name="adj" fmla="val 46667"/>
            </a:avLst>
          </a:prstGeom>
          <a:solidFill>
            <a:srgbClr val="15181D"/>
          </a:solidFill>
          <a:ln w="9525">
            <a:solidFill>
              <a:srgbClr val="5AB2F7"/>
            </a:solidFill>
            <a:prstDash val="solid"/>
          </a:ln>
        </p:spPr>
        <p:txBody>
          <a:bodyPr/>
          <a:lstStyle/>
          <a:p>
            <a:endParaRPr lang="en-SE"/>
          </a:p>
        </p:txBody>
      </p:sp>
      <p:sp>
        <p:nvSpPr>
          <p:cNvPr id="40" name="Text 38"/>
          <p:cNvSpPr/>
          <p:nvPr/>
        </p:nvSpPr>
        <p:spPr>
          <a:xfrm>
            <a:off x="9859975" y="5212080"/>
            <a:ext cx="1463040" cy="274320"/>
          </a:xfrm>
          <a:prstGeom prst="rect">
            <a:avLst/>
          </a:prstGeom>
          <a:noFill/>
          <a:ln/>
        </p:spPr>
        <p:txBody>
          <a:bodyPr wrap="square" lIns="0" tIns="0" rIns="0" bIns="0" rtlCol="0" anchor="ctr"/>
          <a:lstStyle/>
          <a:p>
            <a:pPr marL="0" indent="0" algn="ctr">
              <a:buNone/>
            </a:pPr>
            <a:r>
              <a:rPr lang="en-US" sz="950" b="1" kern="0" spc="80" dirty="0">
                <a:solidFill>
                  <a:srgbClr val="5AB2F7"/>
                </a:solidFill>
                <a:latin typeface="Calibri" pitchFamily="34" charset="0"/>
                <a:ea typeface="Calibri" pitchFamily="34" charset="-122"/>
                <a:cs typeface="Calibri" pitchFamily="34" charset="-120"/>
              </a:rPr>
              <a:t>WARN / INFO</a:t>
            </a:r>
            <a:endParaRPr lang="en-US" sz="950" dirty="0"/>
          </a:p>
        </p:txBody>
      </p:sp>
      <p:sp>
        <p:nvSpPr>
          <p:cNvPr id="41" name="Shape 39"/>
          <p:cNvSpPr/>
          <p:nvPr/>
        </p:nvSpPr>
        <p:spPr>
          <a:xfrm>
            <a:off x="640080" y="5989320"/>
            <a:ext cx="10911535" cy="502920"/>
          </a:xfrm>
          <a:prstGeom prst="roundRect">
            <a:avLst>
              <a:gd name="adj" fmla="val 10909"/>
            </a:avLst>
          </a:prstGeom>
          <a:solidFill>
            <a:srgbClr val="252B33"/>
          </a:solidFill>
          <a:ln w="12700">
            <a:solidFill>
              <a:srgbClr val="3B4450"/>
            </a:solidFill>
            <a:prstDash val="solid"/>
          </a:ln>
        </p:spPr>
        <p:txBody>
          <a:bodyPr/>
          <a:lstStyle/>
          <a:p>
            <a:endParaRPr lang="en-SE"/>
          </a:p>
        </p:txBody>
      </p:sp>
      <p:sp>
        <p:nvSpPr>
          <p:cNvPr id="42" name="Text 40"/>
          <p:cNvSpPr/>
          <p:nvPr/>
        </p:nvSpPr>
        <p:spPr>
          <a:xfrm>
            <a:off x="877824" y="6080760"/>
            <a:ext cx="1737360" cy="237744"/>
          </a:xfrm>
          <a:prstGeom prst="rect">
            <a:avLst/>
          </a:prstGeom>
          <a:noFill/>
          <a:ln/>
        </p:spPr>
        <p:txBody>
          <a:bodyPr wrap="square" lIns="0" tIns="0" rIns="0" bIns="0" rtlCol="0" anchor="ctr"/>
          <a:lstStyle/>
          <a:p>
            <a:pPr marL="0" indent="0">
              <a:buNone/>
            </a:pPr>
            <a:endParaRPr lang="en-US" sz="950" dirty="0"/>
          </a:p>
        </p:txBody>
      </p:sp>
      <p:sp>
        <p:nvSpPr>
          <p:cNvPr id="43" name="Text 41"/>
          <p:cNvSpPr/>
          <p:nvPr/>
        </p:nvSpPr>
        <p:spPr>
          <a:xfrm>
            <a:off x="877824" y="6336792"/>
            <a:ext cx="10436047" cy="457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Within a layer, every independent problem is reported — so one pass surfaces as many issues as it possibly can.</a:t>
            </a:r>
            <a:endParaRPr lang="en-US" sz="1250" dirty="0"/>
          </a:p>
        </p:txBody>
      </p:sp>
      <p:sp>
        <p:nvSpPr>
          <p:cNvPr id="44" name="Text 4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45" name="Text 4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Reading the report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finding carries a code, a severity, one sentence naming the exact field, and a concrete fix — often as a snippet you can paste.</a:t>
            </a:r>
            <a:endParaRPr lang="en-US" sz="1450" dirty="0"/>
          </a:p>
        </p:txBody>
      </p:sp>
      <p:sp>
        <p:nvSpPr>
          <p:cNvPr id="6" name="Shape 4"/>
          <p:cNvSpPr/>
          <p:nvPr/>
        </p:nvSpPr>
        <p:spPr>
          <a:xfrm>
            <a:off x="640080" y="2011680"/>
            <a:ext cx="6858000" cy="3726546"/>
          </a:xfrm>
          <a:prstGeom prst="roundRect">
            <a:avLst>
              <a:gd name="adj" fmla="val 1227"/>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685617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603504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text output</a:t>
            </a:r>
            <a:endParaRPr lang="en-US" sz="950" dirty="0"/>
          </a:p>
        </p:txBody>
      </p:sp>
      <p:sp>
        <p:nvSpPr>
          <p:cNvPr id="12" name="Text 10"/>
          <p:cNvSpPr/>
          <p:nvPr/>
        </p:nvSpPr>
        <p:spPr>
          <a:xfrm>
            <a:off x="841248" y="2377440"/>
            <a:ext cx="6492240" cy="3269346"/>
          </a:xfrm>
          <a:prstGeom prst="rect">
            <a:avLst/>
          </a:prstGeom>
          <a:noFill/>
          <a:ln/>
        </p:spPr>
        <p:txBody>
          <a:bodyPr wrap="square" lIns="0" tIns="0" rIns="0" bIns="0" rtlCol="0" anchor="t"/>
          <a:lstStyle/>
          <a:p>
            <a:pPr marL="0" indent="0">
              <a:lnSpc>
                <a:spcPts val="1518"/>
              </a:lnSpc>
              <a:buNone/>
            </a:pPr>
            <a:r>
              <a:rPr lang="en-US" sz="1150" dirty="0">
                <a:solidFill>
                  <a:srgbClr val="F1F4F8"/>
                </a:solidFill>
                <a:latin typeface="Consolas" pitchFamily="34" charset="0"/>
                <a:ea typeface="Consolas" pitchFamily="34" charset="-122"/>
                <a:cs typeface="Consolas" pitchFamily="34" charset="-120"/>
              </a:rPr>
              <a:t>$ pm-cverifier engine_config.yaml</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OK  YAML syntax: OK</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OK  Schema: 0 errors</a:t>
            </a:r>
            <a:endParaRPr lang="en-US" sz="1150" dirty="0"/>
          </a:p>
          <a:p>
            <a:pPr marL="0" indent="0">
              <a:lnSpc>
                <a:spcPts val="1518"/>
              </a:lnSpc>
              <a:buNone/>
            </a:pPr>
            <a:r>
              <a:rPr lang="en-US" sz="1150" dirty="0">
                <a:solidFill>
                  <a:srgbClr val="F3B441"/>
                </a:solidFill>
                <a:latin typeface="Consolas" pitchFamily="34" charset="0"/>
                <a:ea typeface="Consolas" pitchFamily="34" charset="-122"/>
                <a:cs typeface="Consolas" pitchFamily="34" charset="-120"/>
              </a:rPr>
              <a:t>!   Semantic: 1 warning</a:t>
            </a:r>
            <a:endParaRPr lang="en-US" sz="1150" dirty="0"/>
          </a:p>
          <a:p>
            <a:pPr marL="0" indent="0">
              <a:lnSpc>
                <a:spcPts val="1518"/>
              </a:lnSpc>
              <a:buNone/>
            </a:pPr>
            <a:r>
              <a:rPr lang="en-US" sz="1150" dirty="0">
                <a:solidFill>
                  <a:srgbClr val="5AB2F7"/>
                </a:solidFill>
                <a:latin typeface="Consolas" pitchFamily="34" charset="0"/>
                <a:ea typeface="Consolas" pitchFamily="34" charset="-122"/>
                <a:cs typeface="Consolas" pitchFamily="34" charset="-120"/>
              </a:rPr>
              <a:t>i   Completeness: 2 advisories</a:t>
            </a:r>
            <a:endParaRPr lang="en-US" sz="1150" dirty="0"/>
          </a:p>
          <a:p>
            <a:pPr marL="0" indent="0">
              <a:lnSpc>
                <a:spcPts val="1518"/>
              </a:lnSpc>
              <a:buNone/>
            </a:pPr>
            <a:r>
              <a:rPr lang="en-US" sz="1150" dirty="0">
                <a:solidFill>
                  <a:srgbClr val="3B4450"/>
                </a:solidFill>
                <a:latin typeface="Consolas" pitchFamily="34" charset="0"/>
                <a:ea typeface="Consolas" pitchFamily="34" charset="-122"/>
                <a:cs typeface="Consolas" pitchFamily="34" charset="-120"/>
              </a:rPr>
              <a:t>--------------------------------------------------</a:t>
            </a:r>
            <a:endParaRPr lang="en-US" sz="1150" dirty="0"/>
          </a:p>
          <a:p>
            <a:pPr marL="0" indent="0">
              <a:lnSpc>
                <a:spcPts val="1518"/>
              </a:lnSpc>
              <a:buNone/>
            </a:pPr>
            <a:r>
              <a:rPr lang="en-US" sz="1150" dirty="0">
                <a:solidFill>
                  <a:srgbClr val="F3B441"/>
                </a:solidFill>
                <a:latin typeface="Consolas" pitchFamily="34" charset="0"/>
                <a:ea typeface="Consolas" pitchFamily="34" charset="-122"/>
                <a:cs typeface="Consolas" pitchFamily="34" charset="-120"/>
              </a:rPr>
              <a:t>[M013] WARN  No gateway has role: ADMIN.</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-&gt; Without an admin gateway, halt, resume, kill-switch</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and emergency commands cannot be issued at runtime.</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Add a gateway with role: ADMIN:</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 id: OPS01</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role: ADMIN</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disconnect_behaviour: LEAVE_ALL</a:t>
            </a:r>
            <a:endParaRPr lang="en-US" sz="1150" dirty="0"/>
          </a:p>
        </p:txBody>
      </p:sp>
      <p:sp>
        <p:nvSpPr>
          <p:cNvPr id="13" name="Shape 11"/>
          <p:cNvSpPr/>
          <p:nvPr/>
        </p:nvSpPr>
        <p:spPr>
          <a:xfrm>
            <a:off x="7680960" y="2011680"/>
            <a:ext cx="3867912" cy="2011680"/>
          </a:xfrm>
          <a:prstGeom prst="roundRect">
            <a:avLst>
              <a:gd name="adj" fmla="val 2727"/>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7681874" y="2012594"/>
            <a:ext cx="3866083" cy="50292"/>
          </a:xfrm>
          <a:prstGeom prst="rect">
            <a:avLst/>
          </a:prstGeom>
          <a:solidFill>
            <a:srgbClr val="9B8CFF"/>
          </a:solidFill>
          <a:ln w="12700">
            <a:solidFill>
              <a:srgbClr val="333333"/>
            </a:solidFill>
            <a:prstDash val="solid"/>
          </a:ln>
        </p:spPr>
        <p:txBody>
          <a:bodyPr/>
          <a:lstStyle/>
          <a:p>
            <a:endParaRPr lang="en-SE"/>
          </a:p>
        </p:txBody>
      </p:sp>
      <p:sp>
        <p:nvSpPr>
          <p:cNvPr id="15" name="Text 13"/>
          <p:cNvSpPr/>
          <p:nvPr/>
        </p:nvSpPr>
        <p:spPr>
          <a:xfrm>
            <a:off x="7918704" y="2231136"/>
            <a:ext cx="338328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Three severities</a:t>
            </a:r>
            <a:endParaRPr lang="en-US" sz="1550" dirty="0"/>
          </a:p>
        </p:txBody>
      </p:sp>
      <p:sp>
        <p:nvSpPr>
          <p:cNvPr id="16" name="Shape 14"/>
          <p:cNvSpPr/>
          <p:nvPr/>
        </p:nvSpPr>
        <p:spPr>
          <a:xfrm>
            <a:off x="7918704" y="2697480"/>
            <a:ext cx="82296" cy="82296"/>
          </a:xfrm>
          <a:prstGeom prst="rect">
            <a:avLst/>
          </a:prstGeom>
          <a:solidFill>
            <a:srgbClr val="FF7A6B"/>
          </a:solidFill>
          <a:ln w="12700">
            <a:solidFill>
              <a:srgbClr val="333333"/>
            </a:solidFill>
            <a:prstDash val="solid"/>
          </a:ln>
        </p:spPr>
        <p:txBody>
          <a:bodyPr/>
          <a:lstStyle/>
          <a:p>
            <a:endParaRPr lang="en-SE"/>
          </a:p>
        </p:txBody>
      </p:sp>
      <p:sp>
        <p:nvSpPr>
          <p:cNvPr id="17" name="Text 15"/>
          <p:cNvSpPr/>
          <p:nvPr/>
        </p:nvSpPr>
        <p:spPr>
          <a:xfrm>
            <a:off x="8156448" y="2596896"/>
            <a:ext cx="3145536" cy="438912"/>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ERROR  </a:t>
            </a:r>
            <a:r>
              <a:rPr lang="en-US" sz="1150" dirty="0">
                <a:solidFill>
                  <a:srgbClr val="C2CAD4"/>
                </a:solidFill>
                <a:latin typeface="Calibri" pitchFamily="34" charset="0"/>
                <a:ea typeface="Calibri" pitchFamily="34" charset="-122"/>
                <a:cs typeface="Calibri" pitchFamily="34" charset="-120"/>
              </a:rPr>
              <a:t>the engine will not load this</a:t>
            </a:r>
            <a:endParaRPr lang="en-US" sz="1150" dirty="0"/>
          </a:p>
        </p:txBody>
      </p:sp>
      <p:sp>
        <p:nvSpPr>
          <p:cNvPr id="18" name="Shape 16"/>
          <p:cNvSpPr/>
          <p:nvPr/>
        </p:nvSpPr>
        <p:spPr>
          <a:xfrm>
            <a:off x="7918704" y="3136392"/>
            <a:ext cx="82296" cy="82296"/>
          </a:xfrm>
          <a:prstGeom prst="rect">
            <a:avLst/>
          </a:prstGeom>
          <a:solidFill>
            <a:srgbClr val="F3B441"/>
          </a:solidFill>
          <a:ln w="12700">
            <a:solidFill>
              <a:srgbClr val="333333"/>
            </a:solidFill>
            <a:prstDash val="solid"/>
          </a:ln>
        </p:spPr>
        <p:txBody>
          <a:bodyPr/>
          <a:lstStyle/>
          <a:p>
            <a:endParaRPr lang="en-SE"/>
          </a:p>
        </p:txBody>
      </p:sp>
      <p:sp>
        <p:nvSpPr>
          <p:cNvPr id="19" name="Text 17"/>
          <p:cNvSpPr/>
          <p:nvPr/>
        </p:nvSpPr>
        <p:spPr>
          <a:xfrm>
            <a:off x="8156448" y="3035808"/>
            <a:ext cx="3145536" cy="438912"/>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WARN  </a:t>
            </a:r>
            <a:r>
              <a:rPr lang="en-US" sz="1150" dirty="0">
                <a:solidFill>
                  <a:srgbClr val="C2CAD4"/>
                </a:solidFill>
                <a:latin typeface="Calibri" pitchFamily="34" charset="0"/>
                <a:ea typeface="Calibri" pitchFamily="34" charset="-122"/>
                <a:cs typeface="Calibri" pitchFamily="34" charset="-120"/>
              </a:rPr>
              <a:t>it loads, but review it</a:t>
            </a:r>
            <a:endParaRPr lang="en-US" sz="1150" dirty="0"/>
          </a:p>
        </p:txBody>
      </p:sp>
      <p:sp>
        <p:nvSpPr>
          <p:cNvPr id="20" name="Shape 18"/>
          <p:cNvSpPr/>
          <p:nvPr/>
        </p:nvSpPr>
        <p:spPr>
          <a:xfrm>
            <a:off x="7918704" y="3575304"/>
            <a:ext cx="82296" cy="82296"/>
          </a:xfrm>
          <a:prstGeom prst="rect">
            <a:avLst/>
          </a:prstGeom>
          <a:solidFill>
            <a:srgbClr val="5AB2F7"/>
          </a:solidFill>
          <a:ln w="12700">
            <a:solidFill>
              <a:srgbClr val="333333"/>
            </a:solidFill>
            <a:prstDash val="solid"/>
          </a:ln>
        </p:spPr>
        <p:txBody>
          <a:bodyPr/>
          <a:lstStyle/>
          <a:p>
            <a:endParaRPr lang="en-SE"/>
          </a:p>
        </p:txBody>
      </p:sp>
      <p:sp>
        <p:nvSpPr>
          <p:cNvPr id="21" name="Text 19"/>
          <p:cNvSpPr/>
          <p:nvPr/>
        </p:nvSpPr>
        <p:spPr>
          <a:xfrm>
            <a:off x="8156448" y="3474720"/>
            <a:ext cx="3145536" cy="438912"/>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INFO  </a:t>
            </a:r>
            <a:r>
              <a:rPr lang="en-US" sz="1150" dirty="0">
                <a:solidFill>
                  <a:srgbClr val="C2CAD4"/>
                </a:solidFill>
                <a:latin typeface="Calibri" pitchFamily="34" charset="0"/>
                <a:ea typeface="Calibri" pitchFamily="34" charset="-122"/>
                <a:cs typeface="Calibri" pitchFamily="34" charset="-120"/>
              </a:rPr>
              <a:t>a default you may not have intended</a:t>
            </a:r>
            <a:endParaRPr lang="en-US" sz="1150" dirty="0"/>
          </a:p>
        </p:txBody>
      </p:sp>
      <p:sp>
        <p:nvSpPr>
          <p:cNvPr id="22" name="Shape 20"/>
          <p:cNvSpPr/>
          <p:nvPr/>
        </p:nvSpPr>
        <p:spPr>
          <a:xfrm>
            <a:off x="7680960" y="4160520"/>
            <a:ext cx="3867912" cy="1965960"/>
          </a:xfrm>
          <a:prstGeom prst="roundRect">
            <a:avLst>
              <a:gd name="adj" fmla="val 2791"/>
            </a:avLst>
          </a:prstGeom>
          <a:solidFill>
            <a:srgbClr val="252B33"/>
          </a:solidFill>
          <a:ln w="12700">
            <a:solidFill>
              <a:srgbClr val="3B4450"/>
            </a:solidFill>
            <a:prstDash val="solid"/>
          </a:ln>
        </p:spPr>
        <p:txBody>
          <a:bodyPr/>
          <a:lstStyle/>
          <a:p>
            <a:endParaRPr lang="en-SE"/>
          </a:p>
        </p:txBody>
      </p:sp>
      <p:sp>
        <p:nvSpPr>
          <p:cNvPr id="23" name="Shape 21"/>
          <p:cNvSpPr/>
          <p:nvPr/>
        </p:nvSpPr>
        <p:spPr>
          <a:xfrm>
            <a:off x="7681874" y="4161434"/>
            <a:ext cx="3866083" cy="50292"/>
          </a:xfrm>
          <a:prstGeom prst="rect">
            <a:avLst/>
          </a:prstGeom>
          <a:solidFill>
            <a:srgbClr val="6BD98A"/>
          </a:solidFill>
          <a:ln w="12700">
            <a:solidFill>
              <a:srgbClr val="333333"/>
            </a:solidFill>
            <a:prstDash val="solid"/>
          </a:ln>
        </p:spPr>
        <p:txBody>
          <a:bodyPr/>
          <a:lstStyle/>
          <a:p>
            <a:endParaRPr lang="en-SE"/>
          </a:p>
        </p:txBody>
      </p:sp>
      <p:sp>
        <p:nvSpPr>
          <p:cNvPr id="24" name="Text 22"/>
          <p:cNvSpPr/>
          <p:nvPr/>
        </p:nvSpPr>
        <p:spPr>
          <a:xfrm>
            <a:off x="7918704" y="4379976"/>
            <a:ext cx="338328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Exit codes</a:t>
            </a:r>
            <a:endParaRPr lang="en-US" sz="1550" dirty="0"/>
          </a:p>
        </p:txBody>
      </p:sp>
      <p:sp>
        <p:nvSpPr>
          <p:cNvPr id="25" name="Shape 23"/>
          <p:cNvSpPr/>
          <p:nvPr/>
        </p:nvSpPr>
        <p:spPr>
          <a:xfrm>
            <a:off x="7918704" y="4846320"/>
            <a:ext cx="82296" cy="82296"/>
          </a:xfrm>
          <a:prstGeom prst="rect">
            <a:avLst/>
          </a:prstGeom>
          <a:solidFill>
            <a:srgbClr val="6BD98A"/>
          </a:solidFill>
          <a:ln w="12700">
            <a:solidFill>
              <a:srgbClr val="333333"/>
            </a:solidFill>
            <a:prstDash val="solid"/>
          </a:ln>
        </p:spPr>
        <p:txBody>
          <a:bodyPr/>
          <a:lstStyle/>
          <a:p>
            <a:endParaRPr lang="en-SE"/>
          </a:p>
        </p:txBody>
      </p:sp>
      <p:sp>
        <p:nvSpPr>
          <p:cNvPr id="26" name="Text 24"/>
          <p:cNvSpPr/>
          <p:nvPr/>
        </p:nvSpPr>
        <p:spPr>
          <a:xfrm>
            <a:off x="8156448" y="4745736"/>
            <a:ext cx="3145536" cy="329184"/>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0  </a:t>
            </a:r>
            <a:r>
              <a:rPr lang="en-US" sz="1150" dirty="0">
                <a:solidFill>
                  <a:srgbClr val="C2CAD4"/>
                </a:solidFill>
                <a:latin typeface="Calibri" pitchFamily="34" charset="0"/>
                <a:ea typeface="Calibri" pitchFamily="34" charset="-122"/>
                <a:cs typeface="Calibri" pitchFamily="34" charset="-120"/>
              </a:rPr>
              <a:t>no errors, no warnings</a:t>
            </a:r>
            <a:endParaRPr lang="en-US" sz="1150" dirty="0"/>
          </a:p>
        </p:txBody>
      </p:sp>
      <p:sp>
        <p:nvSpPr>
          <p:cNvPr id="27" name="Shape 25"/>
          <p:cNvSpPr/>
          <p:nvPr/>
        </p:nvSpPr>
        <p:spPr>
          <a:xfrm>
            <a:off x="7918704" y="5175504"/>
            <a:ext cx="82296" cy="82296"/>
          </a:xfrm>
          <a:prstGeom prst="rect">
            <a:avLst/>
          </a:prstGeom>
          <a:solidFill>
            <a:srgbClr val="F3B441"/>
          </a:solidFill>
          <a:ln w="12700">
            <a:solidFill>
              <a:srgbClr val="333333"/>
            </a:solidFill>
            <a:prstDash val="solid"/>
          </a:ln>
        </p:spPr>
        <p:txBody>
          <a:bodyPr/>
          <a:lstStyle/>
          <a:p>
            <a:endParaRPr lang="en-SE"/>
          </a:p>
        </p:txBody>
      </p:sp>
      <p:sp>
        <p:nvSpPr>
          <p:cNvPr id="28" name="Text 26"/>
          <p:cNvSpPr/>
          <p:nvPr/>
        </p:nvSpPr>
        <p:spPr>
          <a:xfrm>
            <a:off x="8156448" y="5074920"/>
            <a:ext cx="3145536" cy="329184"/>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1  </a:t>
            </a:r>
            <a:r>
              <a:rPr lang="en-US" sz="1150" dirty="0">
                <a:solidFill>
                  <a:srgbClr val="C2CAD4"/>
                </a:solidFill>
                <a:latin typeface="Calibri" pitchFamily="34" charset="0"/>
                <a:ea typeface="Calibri" pitchFamily="34" charset="-122"/>
                <a:cs typeface="Calibri" pitchFamily="34" charset="-120"/>
              </a:rPr>
              <a:t>warnings only</a:t>
            </a:r>
            <a:endParaRPr lang="en-US" sz="1150" dirty="0"/>
          </a:p>
        </p:txBody>
      </p:sp>
      <p:sp>
        <p:nvSpPr>
          <p:cNvPr id="29" name="Shape 27"/>
          <p:cNvSpPr/>
          <p:nvPr/>
        </p:nvSpPr>
        <p:spPr>
          <a:xfrm>
            <a:off x="7918704" y="5504688"/>
            <a:ext cx="82296" cy="82296"/>
          </a:xfrm>
          <a:prstGeom prst="rect">
            <a:avLst/>
          </a:prstGeom>
          <a:solidFill>
            <a:srgbClr val="FF7A6B"/>
          </a:solidFill>
          <a:ln w="12700">
            <a:solidFill>
              <a:srgbClr val="333333"/>
            </a:solidFill>
            <a:prstDash val="solid"/>
          </a:ln>
        </p:spPr>
        <p:txBody>
          <a:bodyPr/>
          <a:lstStyle/>
          <a:p>
            <a:endParaRPr lang="en-SE"/>
          </a:p>
        </p:txBody>
      </p:sp>
      <p:sp>
        <p:nvSpPr>
          <p:cNvPr id="30" name="Text 28"/>
          <p:cNvSpPr/>
          <p:nvPr/>
        </p:nvSpPr>
        <p:spPr>
          <a:xfrm>
            <a:off x="8156448" y="5404104"/>
            <a:ext cx="3145536" cy="329184"/>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2  </a:t>
            </a:r>
            <a:r>
              <a:rPr lang="en-US" sz="1150" dirty="0">
                <a:solidFill>
                  <a:srgbClr val="C2CAD4"/>
                </a:solidFill>
                <a:latin typeface="Calibri" pitchFamily="34" charset="0"/>
                <a:ea typeface="Calibri" pitchFamily="34" charset="-122"/>
                <a:cs typeface="Calibri" pitchFamily="34" charset="-120"/>
              </a:rPr>
              <a:t>one or more hard errors</a:t>
            </a:r>
            <a:endParaRPr lang="en-US" sz="1150" dirty="0"/>
          </a:p>
        </p:txBody>
      </p:sp>
      <p:sp>
        <p:nvSpPr>
          <p:cNvPr id="31" name="Shape 29"/>
          <p:cNvSpPr/>
          <p:nvPr/>
        </p:nvSpPr>
        <p:spPr>
          <a:xfrm>
            <a:off x="7918704" y="5833872"/>
            <a:ext cx="82296" cy="82296"/>
          </a:xfrm>
          <a:prstGeom prst="rect">
            <a:avLst/>
          </a:prstGeom>
          <a:solidFill>
            <a:srgbClr val="9B8CFF"/>
          </a:solidFill>
          <a:ln w="12700">
            <a:solidFill>
              <a:srgbClr val="333333"/>
            </a:solidFill>
            <a:prstDash val="solid"/>
          </a:ln>
        </p:spPr>
        <p:txBody>
          <a:bodyPr/>
          <a:lstStyle/>
          <a:p>
            <a:endParaRPr lang="en-SE"/>
          </a:p>
        </p:txBody>
      </p:sp>
      <p:sp>
        <p:nvSpPr>
          <p:cNvPr id="32" name="Text 30"/>
          <p:cNvSpPr/>
          <p:nvPr/>
        </p:nvSpPr>
        <p:spPr>
          <a:xfrm>
            <a:off x="8156448" y="5733288"/>
            <a:ext cx="3145536" cy="329184"/>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--strict  </a:t>
            </a:r>
            <a:r>
              <a:rPr lang="en-US" sz="1150" dirty="0">
                <a:solidFill>
                  <a:srgbClr val="C2CAD4"/>
                </a:solidFill>
                <a:latin typeface="Calibri" pitchFamily="34" charset="0"/>
                <a:ea typeface="Calibri" pitchFamily="34" charset="-122"/>
                <a:cs typeface="Calibri" pitchFamily="34" charset="-120"/>
              </a:rPr>
              <a:t>any warning also returns 2</a:t>
            </a:r>
            <a:endParaRPr lang="en-US" sz="1150" dirty="0"/>
          </a:p>
        </p:txBody>
      </p:sp>
      <p:sp>
        <p:nvSpPr>
          <p:cNvPr id="33" name="Text 3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34" name="Text 3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Risk Summary — the part to actually read</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Printed at the end of every report. It answers a question no error list can: what does this configuration actually do at runtime?</a:t>
            </a:r>
            <a:endParaRPr lang="en-US" sz="1450" dirty="0"/>
          </a:p>
        </p:txBody>
      </p:sp>
      <p:sp>
        <p:nvSpPr>
          <p:cNvPr id="6" name="Shape 4"/>
          <p:cNvSpPr/>
          <p:nvPr/>
        </p:nvSpPr>
        <p:spPr>
          <a:xfrm>
            <a:off x="640080" y="2011680"/>
            <a:ext cx="6858000" cy="2581534"/>
          </a:xfrm>
          <a:prstGeom prst="roundRect">
            <a:avLst>
              <a:gd name="adj" fmla="val 1771"/>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685617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603504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Risk Summary</a:t>
            </a:r>
            <a:endParaRPr lang="en-US" sz="950" dirty="0"/>
          </a:p>
        </p:txBody>
      </p:sp>
      <p:sp>
        <p:nvSpPr>
          <p:cNvPr id="12" name="Text 10"/>
          <p:cNvSpPr/>
          <p:nvPr/>
        </p:nvSpPr>
        <p:spPr>
          <a:xfrm>
            <a:off x="841248" y="2377440"/>
            <a:ext cx="6492240" cy="2124334"/>
          </a:xfrm>
          <a:prstGeom prst="rect">
            <a:avLst/>
          </a:prstGeom>
          <a:noFill/>
          <a:ln/>
        </p:spPr>
        <p:txBody>
          <a:bodyPr wrap="square" lIns="0" tIns="0" rIns="0" bIns="0" rtlCol="0" anchor="t"/>
          <a:lstStyle/>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Symbols          2  (AAPL, MSFT)</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Gateways         2  (TRADER01: TRADER, MM01: MARKET_MAKER)</a:t>
            </a:r>
            <a:endParaRPr lang="en-US" sz="1200" dirty="0"/>
          </a:p>
          <a:p>
            <a:pPr marL="0" indent="0">
              <a:lnSpc>
                <a:spcPts val="1584"/>
              </a:lnSpc>
              <a:buNone/>
            </a:pPr>
            <a:r>
              <a:rPr lang="en-US" sz="1200" dirty="0">
                <a:solidFill>
                  <a:srgbClr val="F3B441"/>
                </a:solidFill>
                <a:latin typeface="Consolas" pitchFamily="34" charset="0"/>
                <a:ea typeface="Consolas" pitchFamily="34" charset="-122"/>
                <a:cs typeface="Consolas" pitchFamily="34" charset="-120"/>
              </a:rPr>
              <a:t>Sessions         disabled - always CONTINUOUS</a:t>
            </a:r>
            <a:endParaRPr lang="en-US" sz="1200" dirty="0"/>
          </a:p>
          <a:p>
            <a:pPr marL="0" indent="0">
              <a:lnSpc>
                <a:spcPts val="1584"/>
              </a:lnSpc>
              <a:buNone/>
            </a:pPr>
            <a:r>
              <a:rPr lang="en-US" sz="1200" dirty="0">
                <a:solidFill>
                  <a:srgbClr val="6BD98A"/>
                </a:solidFill>
                <a:latin typeface="Consolas" pitchFamily="34" charset="0"/>
                <a:ea typeface="Consolas" pitchFamily="34" charset="-122"/>
                <a:cs typeface="Consolas" pitchFamily="34" charset="-120"/>
              </a:rPr>
              <a:t>Collars          enabled - DEFAULT: static=20%, dynamic=2%</a:t>
            </a:r>
            <a:endParaRPr lang="en-US" sz="1200" dirty="0"/>
          </a:p>
          <a:p>
            <a:pPr marL="0" indent="0">
              <a:lnSpc>
                <a:spcPts val="1584"/>
              </a:lnSpc>
              <a:buNone/>
            </a:pPr>
            <a:r>
              <a:rPr lang="en-US" sz="1200" dirty="0">
                <a:solidFill>
                  <a:srgbClr val="6BD98A"/>
                </a:solidFill>
                <a:latin typeface="Consolas" pitchFamily="34" charset="0"/>
                <a:ea typeface="Consolas" pitchFamily="34" charset="-122"/>
                <a:cs typeface="Consolas" pitchFamily="34" charset="-120"/>
              </a:rPr>
              <a:t>Circuit breakers enabled - L1=7% (5 min), L2=13% (15 min),</a:t>
            </a:r>
            <a:endParaRPr lang="en-US" sz="1200" dirty="0"/>
          </a:p>
          <a:p>
            <a:pPr marL="0" indent="0">
              <a:lnSpc>
                <a:spcPts val="1584"/>
              </a:lnSpc>
              <a:buNone/>
            </a:pPr>
            <a:r>
              <a:rPr lang="en-US" sz="1200" dirty="0">
                <a:solidFill>
                  <a:srgbClr val="6BD98A"/>
                </a:solidFill>
                <a:latin typeface="Consolas" pitchFamily="34" charset="0"/>
                <a:ea typeface="Consolas" pitchFamily="34" charset="-122"/>
                <a:cs typeface="Consolas" pitchFamily="34" charset="-120"/>
              </a:rPr>
              <a:t>                 L3=20% (rest-of-day)</a:t>
            </a:r>
            <a:endParaRPr lang="en-US" sz="1200" dirty="0"/>
          </a:p>
          <a:p>
            <a:pPr marL="0" indent="0">
              <a:lnSpc>
                <a:spcPts val="1584"/>
              </a:lnSpc>
              <a:buNone/>
            </a:pPr>
            <a:r>
              <a:rPr lang="en-US" sz="1200" dirty="0">
                <a:solidFill>
                  <a:srgbClr val="F3B441"/>
                </a:solidFill>
                <a:latin typeface="Consolas" pitchFamily="34" charset="0"/>
                <a:ea typeface="Consolas" pitchFamily="34" charset="-122"/>
                <a:cs typeface="Consolas" pitchFamily="34" charset="-120"/>
              </a:rPr>
              <a:t>MM obligations   not enforced</a:t>
            </a:r>
            <a:endParaRPr lang="en-US" sz="1200" dirty="0"/>
          </a:p>
          <a:p>
            <a:pPr marL="0" indent="0">
              <a:lnSpc>
                <a:spcPts val="1584"/>
              </a:lnSpc>
              <a:buNone/>
            </a:pPr>
            <a:r>
              <a:rPr lang="en-US" sz="1200" dirty="0">
                <a:solidFill>
                  <a:srgbClr val="FF7A6B"/>
                </a:solidFill>
                <a:latin typeface="Consolas" pitchFamily="34" charset="0"/>
                <a:ea typeface="Consolas" pitchFamily="34" charset="-122"/>
                <a:cs typeface="Consolas" pitchFamily="34" charset="-120"/>
              </a:rPr>
              <a:t>Admin gateway    none  !</a:t>
            </a:r>
            <a:endParaRPr lang="en-US" sz="1200" dirty="0"/>
          </a:p>
        </p:txBody>
      </p:sp>
      <p:sp>
        <p:nvSpPr>
          <p:cNvPr id="13" name="Shape 11"/>
          <p:cNvSpPr/>
          <p:nvPr/>
        </p:nvSpPr>
        <p:spPr>
          <a:xfrm>
            <a:off x="7680960" y="2011680"/>
            <a:ext cx="3867912" cy="4114800"/>
          </a:xfrm>
          <a:prstGeom prst="roundRect">
            <a:avLst>
              <a:gd name="adj" fmla="val 1418"/>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7681874" y="2012594"/>
            <a:ext cx="3866083" cy="50292"/>
          </a:xfrm>
          <a:prstGeom prst="rect">
            <a:avLst/>
          </a:prstGeom>
          <a:solidFill>
            <a:srgbClr val="34D6BE"/>
          </a:solidFill>
          <a:ln w="12700">
            <a:solidFill>
              <a:srgbClr val="333333"/>
            </a:solidFill>
            <a:prstDash val="solid"/>
          </a:ln>
        </p:spPr>
        <p:txBody>
          <a:bodyPr/>
          <a:lstStyle/>
          <a:p>
            <a:endParaRPr lang="en-SE"/>
          </a:p>
        </p:txBody>
      </p:sp>
      <p:sp>
        <p:nvSpPr>
          <p:cNvPr id="15" name="Text 13"/>
          <p:cNvSpPr/>
          <p:nvPr/>
        </p:nvSpPr>
        <p:spPr>
          <a:xfrm>
            <a:off x="7918704" y="2240280"/>
            <a:ext cx="3383280" cy="548640"/>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Why it is the most useful output</a:t>
            </a:r>
            <a:endParaRPr lang="en-US" sz="1550" dirty="0"/>
          </a:p>
        </p:txBody>
      </p:sp>
      <p:sp>
        <p:nvSpPr>
          <p:cNvPr id="16" name="Text 14"/>
          <p:cNvSpPr/>
          <p:nvPr/>
        </p:nvSpPr>
        <p:spPr>
          <a:xfrm>
            <a:off x="7918704" y="2834640"/>
            <a:ext cx="3383280" cy="118872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An error list tells you what is broken. The risk summary tells you what is true. It is the fastest way to catch a configuration that is perfectly valid and completely wrong for what you intended.</a:t>
            </a:r>
            <a:endParaRPr lang="en-US" sz="1200" dirty="0"/>
          </a:p>
        </p:txBody>
      </p:sp>
      <p:sp>
        <p:nvSpPr>
          <p:cNvPr id="17" name="Text 15"/>
          <p:cNvSpPr/>
          <p:nvPr/>
        </p:nvSpPr>
        <p:spPr>
          <a:xfrm>
            <a:off x="7918704" y="4069080"/>
            <a:ext cx="3383280" cy="1188720"/>
          </a:xfrm>
          <a:prstGeom prst="rect">
            <a:avLst/>
          </a:prstGeom>
          <a:noFill/>
          <a:ln/>
        </p:spPr>
        <p:txBody>
          <a:bodyPr wrap="square" lIns="0" tIns="0" rIns="0" bIns="0" rtlCol="0" anchor="t"/>
          <a:lstStyle/>
          <a:p>
            <a:pPr marL="0" indent="0">
              <a:lnSpc>
                <a:spcPts val="1700"/>
              </a:lnSpc>
              <a:buNone/>
            </a:pPr>
            <a:r>
              <a:rPr lang="en-US" sz="1200" dirty="0">
                <a:solidFill>
                  <a:srgbClr val="8D97A5"/>
                </a:solidFill>
                <a:latin typeface="Calibri" pitchFamily="34" charset="0"/>
                <a:ea typeface="Calibri" pitchFamily="34" charset="-122"/>
                <a:cs typeface="Calibri" pitchFamily="34" charset="-120"/>
              </a:rPr>
              <a:t>A marker beside a line flags a risky or incomplete subsystem even when the overall verdict is OK — a missing admin gateway, for instance, or absent collar configuration.</a:t>
            </a:r>
            <a:endParaRPr lang="en-US" sz="1200" dirty="0"/>
          </a:p>
        </p:txBody>
      </p:sp>
      <p:sp>
        <p:nvSpPr>
          <p:cNvPr id="18" name="Text 16"/>
          <p:cNvSpPr/>
          <p:nvPr/>
        </p:nvSpPr>
        <p:spPr>
          <a:xfrm>
            <a:off x="7918704" y="5440680"/>
            <a:ext cx="3383280" cy="548640"/>
          </a:xfrm>
          <a:prstGeom prst="rect">
            <a:avLst/>
          </a:prstGeom>
          <a:noFill/>
          <a:ln/>
        </p:spPr>
        <p:txBody>
          <a:bodyPr wrap="square" lIns="0" tIns="0" rIns="0" bIns="0" rtlCol="0" anchor="t"/>
          <a:lstStyle/>
          <a:p>
            <a:pPr marL="0" indent="0">
              <a:lnSpc>
                <a:spcPts val="1700"/>
              </a:lnSpc>
              <a:buNone/>
            </a:pPr>
            <a:r>
              <a:rPr lang="en-US" sz="1250" i="1" dirty="0">
                <a:solidFill>
                  <a:srgbClr val="34D6BE"/>
                </a:solidFill>
                <a:latin typeface="Calibri" pitchFamily="34" charset="0"/>
                <a:ea typeface="Calibri" pitchFamily="34" charset="-122"/>
                <a:cs typeface="Calibri" pitchFamily="34" charset="-120"/>
              </a:rPr>
              <a:t>Read this out loud before every first start.</a:t>
            </a:r>
            <a:endParaRPr lang="en-US" sz="1250" dirty="0"/>
          </a:p>
        </p:txBody>
      </p:sp>
      <p:sp>
        <p:nvSpPr>
          <p:cNvPr id="19" name="Text 1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20" name="Text 1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Ten mistakes it catches before you do</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sample from the catalogue. Each has a stable code you can look up, and most name the exact field.</a:t>
            </a:r>
            <a:endParaRPr lang="en-US" sz="1450" dirty="0"/>
          </a:p>
        </p:txBody>
      </p:sp>
      <p:sp>
        <p:nvSpPr>
          <p:cNvPr id="6" name="Shape 4"/>
          <p:cNvSpPr/>
          <p:nvPr/>
        </p:nvSpPr>
        <p:spPr>
          <a:xfrm>
            <a:off x="640080" y="2011680"/>
            <a:ext cx="10911535" cy="384048"/>
          </a:xfrm>
          <a:prstGeom prst="rect">
            <a:avLst/>
          </a:prstGeom>
          <a:solidFill>
            <a:srgbClr val="252B33"/>
          </a:solidFill>
          <a:ln w="12700">
            <a:solidFill>
              <a:srgbClr val="333333"/>
            </a:solidFill>
            <a:prstDash val="solid"/>
          </a:ln>
        </p:spPr>
        <p:txBody>
          <a:bodyPr/>
          <a:lstStyle/>
          <a:p>
            <a:endParaRPr lang="en-SE"/>
          </a:p>
        </p:txBody>
      </p:sp>
      <p:sp>
        <p:nvSpPr>
          <p:cNvPr id="7" name="Text 5"/>
          <p:cNvSpPr/>
          <p:nvPr/>
        </p:nvSpPr>
        <p:spPr>
          <a:xfrm>
            <a:off x="822960" y="2011680"/>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M002</a:t>
            </a:r>
            <a:endParaRPr lang="en-US" sz="1150" dirty="0"/>
          </a:p>
        </p:txBody>
      </p:sp>
      <p:sp>
        <p:nvSpPr>
          <p:cNvPr id="8" name="Text 6"/>
          <p:cNvSpPr/>
          <p:nvPr/>
        </p:nvSpPr>
        <p:spPr>
          <a:xfrm>
            <a:off x="1783080" y="2011680"/>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seed quote names a gateway that does not exist</a:t>
            </a:r>
            <a:endParaRPr lang="en-US" sz="1250" dirty="0"/>
          </a:p>
        </p:txBody>
      </p:sp>
      <p:sp>
        <p:nvSpPr>
          <p:cNvPr id="9" name="Text 7"/>
          <p:cNvSpPr/>
          <p:nvPr/>
        </p:nvSpPr>
        <p:spPr>
          <a:xfrm>
            <a:off x="10362895" y="2011680"/>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10" name="Text 8"/>
          <p:cNvSpPr/>
          <p:nvPr/>
        </p:nvSpPr>
        <p:spPr>
          <a:xfrm>
            <a:off x="822960" y="2414016"/>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M020</a:t>
            </a:r>
            <a:endParaRPr lang="en-US" sz="1150" dirty="0"/>
          </a:p>
        </p:txBody>
      </p:sp>
      <p:sp>
        <p:nvSpPr>
          <p:cNvPr id="11" name="Text 9"/>
          <p:cNvSpPr/>
          <p:nvPr/>
        </p:nvSpPr>
        <p:spPr>
          <a:xfrm>
            <a:off x="1783080" y="2414016"/>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seed quote names a gateway that is not a market maker</a:t>
            </a:r>
            <a:endParaRPr lang="en-US" sz="1250" dirty="0"/>
          </a:p>
        </p:txBody>
      </p:sp>
      <p:sp>
        <p:nvSpPr>
          <p:cNvPr id="12" name="Text 10"/>
          <p:cNvSpPr/>
          <p:nvPr/>
        </p:nvSpPr>
        <p:spPr>
          <a:xfrm>
            <a:off x="10362895" y="2414016"/>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13" name="Shape 11"/>
          <p:cNvSpPr/>
          <p:nvPr/>
        </p:nvSpPr>
        <p:spPr>
          <a:xfrm>
            <a:off x="640080" y="2816352"/>
            <a:ext cx="10911535" cy="384048"/>
          </a:xfrm>
          <a:prstGeom prst="rect">
            <a:avLst/>
          </a:prstGeom>
          <a:solidFill>
            <a:srgbClr val="252B33"/>
          </a:solidFill>
          <a:ln w="12700">
            <a:solidFill>
              <a:srgbClr val="333333"/>
            </a:solidFill>
            <a:prstDash val="solid"/>
          </a:ln>
        </p:spPr>
        <p:txBody>
          <a:bodyPr/>
          <a:lstStyle/>
          <a:p>
            <a:endParaRPr lang="en-SE"/>
          </a:p>
        </p:txBody>
      </p:sp>
      <p:sp>
        <p:nvSpPr>
          <p:cNvPr id="14" name="Text 12"/>
          <p:cNvSpPr/>
          <p:nvPr/>
        </p:nvSpPr>
        <p:spPr>
          <a:xfrm>
            <a:off x="822960" y="2816352"/>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S015</a:t>
            </a:r>
            <a:endParaRPr lang="en-US" sz="1150" dirty="0"/>
          </a:p>
        </p:txBody>
      </p:sp>
      <p:sp>
        <p:nvSpPr>
          <p:cNvPr id="15" name="Text 13"/>
          <p:cNvSpPr/>
          <p:nvPr/>
        </p:nvSpPr>
        <p:spPr>
          <a:xfrm>
            <a:off x="1783080" y="2816352"/>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seed quote's bid is at or above its ask — a crossed book on startup</a:t>
            </a:r>
            <a:endParaRPr lang="en-US" sz="1250" dirty="0"/>
          </a:p>
        </p:txBody>
      </p:sp>
      <p:sp>
        <p:nvSpPr>
          <p:cNvPr id="16" name="Text 14"/>
          <p:cNvSpPr/>
          <p:nvPr/>
        </p:nvSpPr>
        <p:spPr>
          <a:xfrm>
            <a:off x="10362895" y="2816352"/>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17" name="Text 15"/>
          <p:cNvSpPr/>
          <p:nvPr/>
        </p:nvSpPr>
        <p:spPr>
          <a:xfrm>
            <a:off x="822960" y="3218688"/>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M004</a:t>
            </a:r>
            <a:endParaRPr lang="en-US" sz="1150" dirty="0"/>
          </a:p>
        </p:txBody>
      </p:sp>
      <p:sp>
        <p:nvSpPr>
          <p:cNvPr id="18" name="Text 16"/>
          <p:cNvSpPr/>
          <p:nvPr/>
        </p:nvSpPr>
        <p:spPr>
          <a:xfrm>
            <a:off x="1783080" y="3218688"/>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Sessions are enabled but there is no schedule</a:t>
            </a:r>
            <a:endParaRPr lang="en-US" sz="1250" dirty="0"/>
          </a:p>
        </p:txBody>
      </p:sp>
      <p:sp>
        <p:nvSpPr>
          <p:cNvPr id="19" name="Text 17"/>
          <p:cNvSpPr/>
          <p:nvPr/>
        </p:nvSpPr>
        <p:spPr>
          <a:xfrm>
            <a:off x="10362895" y="3218688"/>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20" name="Shape 18"/>
          <p:cNvSpPr/>
          <p:nvPr/>
        </p:nvSpPr>
        <p:spPr>
          <a:xfrm>
            <a:off x="640080" y="3621024"/>
            <a:ext cx="10911535" cy="384048"/>
          </a:xfrm>
          <a:prstGeom prst="rect">
            <a:avLst/>
          </a:prstGeom>
          <a:solidFill>
            <a:srgbClr val="252B33"/>
          </a:solidFill>
          <a:ln w="12700">
            <a:solidFill>
              <a:srgbClr val="333333"/>
            </a:solidFill>
            <a:prstDash val="solid"/>
          </a:ln>
        </p:spPr>
        <p:txBody>
          <a:bodyPr/>
          <a:lstStyle/>
          <a:p>
            <a:endParaRPr lang="en-SE"/>
          </a:p>
        </p:txBody>
      </p:sp>
      <p:sp>
        <p:nvSpPr>
          <p:cNvPr id="21" name="Text 19"/>
          <p:cNvSpPr/>
          <p:nvPr/>
        </p:nvSpPr>
        <p:spPr>
          <a:xfrm>
            <a:off x="822960" y="3621024"/>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M021</a:t>
            </a:r>
            <a:endParaRPr lang="en-US" sz="1150" dirty="0"/>
          </a:p>
        </p:txBody>
      </p:sp>
      <p:sp>
        <p:nvSpPr>
          <p:cNvPr id="22" name="Text 20"/>
          <p:cNvSpPr/>
          <p:nvPr/>
        </p:nvSpPr>
        <p:spPr>
          <a:xfrm>
            <a:off x="1783080" y="3621024"/>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schedule time was written unquoted and parsed as a number</a:t>
            </a:r>
            <a:endParaRPr lang="en-US" sz="1250" dirty="0"/>
          </a:p>
        </p:txBody>
      </p:sp>
      <p:sp>
        <p:nvSpPr>
          <p:cNvPr id="23" name="Text 21"/>
          <p:cNvSpPr/>
          <p:nvPr/>
        </p:nvSpPr>
        <p:spPr>
          <a:xfrm>
            <a:off x="10362895" y="3621024"/>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24" name="Text 22"/>
          <p:cNvSpPr/>
          <p:nvPr/>
        </p:nvSpPr>
        <p:spPr>
          <a:xfrm>
            <a:off x="822960" y="4023360"/>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M018</a:t>
            </a:r>
            <a:endParaRPr lang="en-US" sz="1150" dirty="0"/>
          </a:p>
        </p:txBody>
      </p:sp>
      <p:sp>
        <p:nvSpPr>
          <p:cNvPr id="25" name="Text 23"/>
          <p:cNvSpPr/>
          <p:nvPr/>
        </p:nvSpPr>
        <p:spPr>
          <a:xfrm>
            <a:off x="1783080" y="4023360"/>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Two configured listeners would bind the same port</a:t>
            </a:r>
            <a:endParaRPr lang="en-US" sz="1250" dirty="0"/>
          </a:p>
        </p:txBody>
      </p:sp>
      <p:sp>
        <p:nvSpPr>
          <p:cNvPr id="26" name="Text 24"/>
          <p:cNvSpPr/>
          <p:nvPr/>
        </p:nvSpPr>
        <p:spPr>
          <a:xfrm>
            <a:off x="10362895" y="4023360"/>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27" name="Shape 25"/>
          <p:cNvSpPr/>
          <p:nvPr/>
        </p:nvSpPr>
        <p:spPr>
          <a:xfrm>
            <a:off x="640080" y="4425696"/>
            <a:ext cx="10911535" cy="384048"/>
          </a:xfrm>
          <a:prstGeom prst="rect">
            <a:avLst/>
          </a:prstGeom>
          <a:solidFill>
            <a:srgbClr val="252B33"/>
          </a:solidFill>
          <a:ln w="12700">
            <a:solidFill>
              <a:srgbClr val="333333"/>
            </a:solidFill>
            <a:prstDash val="solid"/>
          </a:ln>
        </p:spPr>
        <p:txBody>
          <a:bodyPr/>
          <a:lstStyle/>
          <a:p>
            <a:endParaRPr lang="en-SE"/>
          </a:p>
        </p:txBody>
      </p:sp>
      <p:sp>
        <p:nvSpPr>
          <p:cNvPr id="28" name="Text 26"/>
          <p:cNvSpPr/>
          <p:nvPr/>
        </p:nvSpPr>
        <p:spPr>
          <a:xfrm>
            <a:off x="822960" y="4425696"/>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S013</a:t>
            </a:r>
            <a:endParaRPr lang="en-US" sz="1150" dirty="0"/>
          </a:p>
        </p:txBody>
      </p:sp>
      <p:sp>
        <p:nvSpPr>
          <p:cNvPr id="29" name="Text 27"/>
          <p:cNvSpPr/>
          <p:nvPr/>
        </p:nvSpPr>
        <p:spPr>
          <a:xfrm>
            <a:off x="1783080" y="4425696"/>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symbol references a risk level that was never defined</a:t>
            </a:r>
            <a:endParaRPr lang="en-US" sz="1250" dirty="0"/>
          </a:p>
        </p:txBody>
      </p:sp>
      <p:sp>
        <p:nvSpPr>
          <p:cNvPr id="30" name="Text 28"/>
          <p:cNvSpPr/>
          <p:nvPr/>
        </p:nvSpPr>
        <p:spPr>
          <a:xfrm>
            <a:off x="10362895" y="4425696"/>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31" name="Text 29"/>
          <p:cNvSpPr/>
          <p:nvPr/>
        </p:nvSpPr>
        <p:spPr>
          <a:xfrm>
            <a:off x="822960" y="4828032"/>
            <a:ext cx="822960" cy="384048"/>
          </a:xfrm>
          <a:prstGeom prst="rect">
            <a:avLst/>
          </a:prstGeom>
          <a:noFill/>
          <a:ln/>
        </p:spPr>
        <p:txBody>
          <a:bodyPr wrap="square" lIns="0" tIns="0" rIns="0" bIns="0" rtlCol="0" anchor="ctr"/>
          <a:lstStyle/>
          <a:p>
            <a:pPr marL="0" indent="0">
              <a:buNone/>
            </a:pPr>
            <a:r>
              <a:rPr lang="en-US" sz="1150" b="1" dirty="0">
                <a:solidFill>
                  <a:srgbClr val="FF7A6B"/>
                </a:solidFill>
                <a:latin typeface="Consolas" pitchFamily="34" charset="0"/>
                <a:ea typeface="Consolas" pitchFamily="34" charset="-122"/>
                <a:cs typeface="Consolas" pitchFamily="34" charset="-120"/>
              </a:rPr>
              <a:t>M009</a:t>
            </a:r>
            <a:endParaRPr lang="en-US" sz="1150" dirty="0"/>
          </a:p>
        </p:txBody>
      </p:sp>
      <p:sp>
        <p:nvSpPr>
          <p:cNvPr id="32" name="Text 30"/>
          <p:cNvSpPr/>
          <p:nvPr/>
        </p:nvSpPr>
        <p:spPr>
          <a:xfrm>
            <a:off x="1783080" y="4828032"/>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An index constituent is not in the symbol universe</a:t>
            </a:r>
            <a:endParaRPr lang="en-US" sz="1250" dirty="0"/>
          </a:p>
        </p:txBody>
      </p:sp>
      <p:sp>
        <p:nvSpPr>
          <p:cNvPr id="33" name="Text 31"/>
          <p:cNvSpPr/>
          <p:nvPr/>
        </p:nvSpPr>
        <p:spPr>
          <a:xfrm>
            <a:off x="10362895" y="4828032"/>
            <a:ext cx="1005840" cy="384048"/>
          </a:xfrm>
          <a:prstGeom prst="rect">
            <a:avLst/>
          </a:prstGeom>
          <a:noFill/>
          <a:ln/>
        </p:spPr>
        <p:txBody>
          <a:bodyPr wrap="square" lIns="0" tIns="0" rIns="0" bIns="0" rtlCol="0" anchor="ctr"/>
          <a:lstStyle/>
          <a:p>
            <a:pPr marL="0" indent="0" algn="r">
              <a:buNone/>
            </a:pPr>
            <a:r>
              <a:rPr lang="en-US" sz="1000" b="1" dirty="0">
                <a:solidFill>
                  <a:srgbClr val="FF7A6B"/>
                </a:solidFill>
                <a:latin typeface="Calibri" pitchFamily="34" charset="0"/>
                <a:ea typeface="Calibri" pitchFamily="34" charset="-122"/>
                <a:cs typeface="Calibri" pitchFamily="34" charset="-120"/>
              </a:rPr>
              <a:t>ERROR</a:t>
            </a:r>
            <a:endParaRPr lang="en-US" sz="1000" dirty="0"/>
          </a:p>
        </p:txBody>
      </p:sp>
      <p:sp>
        <p:nvSpPr>
          <p:cNvPr id="34" name="Shape 32"/>
          <p:cNvSpPr/>
          <p:nvPr/>
        </p:nvSpPr>
        <p:spPr>
          <a:xfrm>
            <a:off x="640080" y="5230368"/>
            <a:ext cx="10911535" cy="384048"/>
          </a:xfrm>
          <a:prstGeom prst="rect">
            <a:avLst/>
          </a:prstGeom>
          <a:solidFill>
            <a:srgbClr val="252B33"/>
          </a:solidFill>
          <a:ln w="12700">
            <a:solidFill>
              <a:srgbClr val="333333"/>
            </a:solidFill>
            <a:prstDash val="solid"/>
          </a:ln>
        </p:spPr>
        <p:txBody>
          <a:bodyPr/>
          <a:lstStyle/>
          <a:p>
            <a:endParaRPr lang="en-SE"/>
          </a:p>
        </p:txBody>
      </p:sp>
      <p:sp>
        <p:nvSpPr>
          <p:cNvPr id="35" name="Text 33"/>
          <p:cNvSpPr/>
          <p:nvPr/>
        </p:nvSpPr>
        <p:spPr>
          <a:xfrm>
            <a:off x="822960" y="5230368"/>
            <a:ext cx="822960" cy="384048"/>
          </a:xfrm>
          <a:prstGeom prst="rect">
            <a:avLst/>
          </a:prstGeom>
          <a:noFill/>
          <a:ln/>
        </p:spPr>
        <p:txBody>
          <a:bodyPr wrap="square" lIns="0" tIns="0" rIns="0" bIns="0" rtlCol="0" anchor="ctr"/>
          <a:lstStyle/>
          <a:p>
            <a:pPr marL="0" indent="0">
              <a:buNone/>
            </a:pPr>
            <a:r>
              <a:rPr lang="en-US" sz="1150" b="1" dirty="0">
                <a:solidFill>
                  <a:srgbClr val="F3B441"/>
                </a:solidFill>
                <a:latin typeface="Consolas" pitchFamily="34" charset="0"/>
                <a:ea typeface="Consolas" pitchFamily="34" charset="-122"/>
                <a:cs typeface="Consolas" pitchFamily="34" charset="-120"/>
              </a:rPr>
              <a:t>M013</a:t>
            </a:r>
            <a:endParaRPr lang="en-US" sz="1150" dirty="0"/>
          </a:p>
        </p:txBody>
      </p:sp>
      <p:sp>
        <p:nvSpPr>
          <p:cNvPr id="36" name="Text 34"/>
          <p:cNvSpPr/>
          <p:nvPr/>
        </p:nvSpPr>
        <p:spPr>
          <a:xfrm>
            <a:off x="1783080" y="5230368"/>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No gateway has the ADMIN role — nobody can halt the market</a:t>
            </a:r>
            <a:endParaRPr lang="en-US" sz="1250" dirty="0"/>
          </a:p>
        </p:txBody>
      </p:sp>
      <p:sp>
        <p:nvSpPr>
          <p:cNvPr id="37" name="Text 35"/>
          <p:cNvSpPr/>
          <p:nvPr/>
        </p:nvSpPr>
        <p:spPr>
          <a:xfrm>
            <a:off x="10362895" y="5230368"/>
            <a:ext cx="1005840" cy="384048"/>
          </a:xfrm>
          <a:prstGeom prst="rect">
            <a:avLst/>
          </a:prstGeom>
          <a:noFill/>
          <a:ln/>
        </p:spPr>
        <p:txBody>
          <a:bodyPr wrap="square" lIns="0" tIns="0" rIns="0" bIns="0" rtlCol="0" anchor="ctr"/>
          <a:lstStyle/>
          <a:p>
            <a:pPr marL="0" indent="0" algn="r">
              <a:buNone/>
            </a:pPr>
            <a:r>
              <a:rPr lang="en-US" sz="1000" b="1" dirty="0">
                <a:solidFill>
                  <a:srgbClr val="F3B441"/>
                </a:solidFill>
                <a:latin typeface="Calibri" pitchFamily="34" charset="0"/>
                <a:ea typeface="Calibri" pitchFamily="34" charset="-122"/>
                <a:cs typeface="Calibri" pitchFamily="34" charset="-120"/>
              </a:rPr>
              <a:t>WARN</a:t>
            </a:r>
            <a:endParaRPr lang="en-US" sz="1000" dirty="0"/>
          </a:p>
        </p:txBody>
      </p:sp>
      <p:sp>
        <p:nvSpPr>
          <p:cNvPr id="38" name="Text 36"/>
          <p:cNvSpPr/>
          <p:nvPr/>
        </p:nvSpPr>
        <p:spPr>
          <a:xfrm>
            <a:off x="822960" y="5632704"/>
            <a:ext cx="822960" cy="384048"/>
          </a:xfrm>
          <a:prstGeom prst="rect">
            <a:avLst/>
          </a:prstGeom>
          <a:noFill/>
          <a:ln/>
        </p:spPr>
        <p:txBody>
          <a:bodyPr wrap="square" lIns="0" tIns="0" rIns="0" bIns="0" rtlCol="0" anchor="ctr"/>
          <a:lstStyle/>
          <a:p>
            <a:pPr marL="0" indent="0">
              <a:buNone/>
            </a:pPr>
            <a:r>
              <a:rPr lang="en-US" sz="1150" b="1" dirty="0">
                <a:solidFill>
                  <a:srgbClr val="F3B441"/>
                </a:solidFill>
                <a:latin typeface="Consolas" pitchFamily="34" charset="0"/>
                <a:ea typeface="Consolas" pitchFamily="34" charset="-122"/>
                <a:cs typeface="Consolas" pitchFamily="34" charset="-120"/>
              </a:rPr>
              <a:t>C001</a:t>
            </a:r>
            <a:endParaRPr lang="en-US" sz="1150" dirty="0"/>
          </a:p>
        </p:txBody>
      </p:sp>
      <p:sp>
        <p:nvSpPr>
          <p:cNvPr id="39" name="Text 37"/>
          <p:cNvSpPr/>
          <p:nvPr/>
        </p:nvSpPr>
        <p:spPr>
          <a:xfrm>
            <a:off x="1783080" y="5632704"/>
            <a:ext cx="8534095" cy="384048"/>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No symbol has a reference price — collars have nothing to anchor to</a:t>
            </a:r>
            <a:endParaRPr lang="en-US" sz="1250" dirty="0"/>
          </a:p>
        </p:txBody>
      </p:sp>
      <p:sp>
        <p:nvSpPr>
          <p:cNvPr id="40" name="Text 38"/>
          <p:cNvSpPr/>
          <p:nvPr/>
        </p:nvSpPr>
        <p:spPr>
          <a:xfrm>
            <a:off x="10362895" y="5632704"/>
            <a:ext cx="1005840" cy="384048"/>
          </a:xfrm>
          <a:prstGeom prst="rect">
            <a:avLst/>
          </a:prstGeom>
          <a:noFill/>
          <a:ln/>
        </p:spPr>
        <p:txBody>
          <a:bodyPr wrap="square" lIns="0" tIns="0" rIns="0" bIns="0" rtlCol="0" anchor="ctr"/>
          <a:lstStyle/>
          <a:p>
            <a:pPr marL="0" indent="0" algn="r">
              <a:buNone/>
            </a:pPr>
            <a:r>
              <a:rPr lang="en-US" sz="1000" b="1" dirty="0">
                <a:solidFill>
                  <a:srgbClr val="F3B441"/>
                </a:solidFill>
                <a:latin typeface="Calibri" pitchFamily="34" charset="0"/>
                <a:ea typeface="Calibri" pitchFamily="34" charset="-122"/>
                <a:cs typeface="Calibri" pitchFamily="34" charset="-120"/>
              </a:rPr>
              <a:t>WARN</a:t>
            </a:r>
            <a:endParaRPr lang="en-US" sz="1000" dirty="0"/>
          </a:p>
        </p:txBody>
      </p:sp>
      <p:sp>
        <p:nvSpPr>
          <p:cNvPr id="41" name="Shape 39"/>
          <p:cNvSpPr/>
          <p:nvPr/>
        </p:nvSpPr>
        <p:spPr>
          <a:xfrm>
            <a:off x="640080" y="6172200"/>
            <a:ext cx="10911535" cy="502920"/>
          </a:xfrm>
          <a:prstGeom prst="roundRect">
            <a:avLst>
              <a:gd name="adj" fmla="val 10909"/>
            </a:avLst>
          </a:prstGeom>
          <a:solidFill>
            <a:srgbClr val="252B33"/>
          </a:solidFill>
          <a:ln w="12700">
            <a:solidFill>
              <a:srgbClr val="3B4450"/>
            </a:solidFill>
            <a:prstDash val="solid"/>
          </a:ln>
        </p:spPr>
        <p:txBody>
          <a:bodyPr/>
          <a:lstStyle/>
          <a:p>
            <a:endParaRPr lang="en-SE"/>
          </a:p>
        </p:txBody>
      </p:sp>
      <p:sp>
        <p:nvSpPr>
          <p:cNvPr id="42" name="Text 40"/>
          <p:cNvSpPr/>
          <p:nvPr/>
        </p:nvSpPr>
        <p:spPr>
          <a:xfrm>
            <a:off x="877824" y="6263640"/>
            <a:ext cx="1737360" cy="237744"/>
          </a:xfrm>
          <a:prstGeom prst="rect">
            <a:avLst/>
          </a:prstGeom>
          <a:noFill/>
          <a:ln/>
        </p:spPr>
        <p:txBody>
          <a:bodyPr wrap="square" lIns="0" tIns="0" rIns="0" bIns="0" rtlCol="0" anchor="ctr"/>
          <a:lstStyle/>
          <a:p>
            <a:pPr marL="0" indent="0">
              <a:buNone/>
            </a:pPr>
            <a:endParaRPr lang="en-US" sz="950" dirty="0"/>
          </a:p>
        </p:txBody>
      </p:sp>
      <p:sp>
        <p:nvSpPr>
          <p:cNvPr id="43" name="Text 41"/>
          <p:cNvSpPr/>
          <p:nvPr/>
        </p:nvSpPr>
        <p:spPr>
          <a:xfrm>
            <a:off x="877824" y="6519672"/>
            <a:ext cx="10436047" cy="457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full catalogue runs to several hundred codes across four families — Y for syntax, S for schema, M for semantic, C for completeness.</a:t>
            </a:r>
            <a:endParaRPr lang="en-US" sz="1250" dirty="0"/>
          </a:p>
        </p:txBody>
      </p:sp>
      <p:sp>
        <p:nvSpPr>
          <p:cNvPr id="44" name="Text 4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45" name="Text 4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PM-CVERIFIER</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Make it impossible to deploy a bad config</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verifier earns its keep when nobody has to remember to run it.</a:t>
            </a:r>
            <a:endParaRPr lang="en-US" sz="1450" dirty="0"/>
          </a:p>
        </p:txBody>
      </p:sp>
      <p:sp>
        <p:nvSpPr>
          <p:cNvPr id="6" name="Shape 4"/>
          <p:cNvSpPr/>
          <p:nvPr/>
        </p:nvSpPr>
        <p:spPr>
          <a:xfrm>
            <a:off x="640080" y="2011680"/>
            <a:ext cx="5852160" cy="2329708"/>
          </a:xfrm>
          <a:prstGeom prst="roundRect">
            <a:avLst>
              <a:gd name="adj" fmla="val 1962"/>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585033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502920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continuous integration</a:t>
            </a:r>
            <a:endParaRPr lang="en-US" sz="950" dirty="0"/>
          </a:p>
        </p:txBody>
      </p:sp>
      <p:sp>
        <p:nvSpPr>
          <p:cNvPr id="12" name="Text 10"/>
          <p:cNvSpPr/>
          <p:nvPr/>
        </p:nvSpPr>
        <p:spPr>
          <a:xfrm>
            <a:off x="841248" y="2377440"/>
            <a:ext cx="5486400" cy="1872508"/>
          </a:xfrm>
          <a:prstGeom prst="rect">
            <a:avLst/>
          </a:prstGeom>
          <a:noFill/>
          <a:ln/>
        </p:spPr>
        <p:txBody>
          <a:bodyPr wrap="square" lIns="0" tIns="0" rIns="0" bIns="0" rtlCol="0" anchor="t"/>
          <a:lstStyle/>
          <a:p>
            <a:pPr marL="0" indent="0">
              <a:lnSpc>
                <a:spcPts val="1584"/>
              </a:lnSpc>
              <a:buNone/>
            </a:pPr>
            <a:r>
              <a:rPr lang="en-US" sz="1200" dirty="0">
                <a:solidFill>
                  <a:srgbClr val="8D97A5"/>
                </a:solidFill>
                <a:latin typeface="Consolas" pitchFamily="34" charset="0"/>
                <a:ea typeface="Consolas" pitchFamily="34" charset="-122"/>
                <a:cs typeface="Consolas" pitchFamily="34" charset="-120"/>
              </a:rPr>
              <a:t># pre-flight check inside a deployment script</a:t>
            </a:r>
            <a:endParaRPr lang="en-US" sz="1200" dirty="0"/>
          </a:p>
          <a:p>
            <a:pPr marL="0" indent="0">
              <a:lnSpc>
                <a:spcPts val="1584"/>
              </a:lnSpc>
              <a:buNone/>
            </a:pPr>
            <a:r>
              <a:rPr lang="en-US" sz="1200" dirty="0">
                <a:solidFill>
                  <a:srgbClr val="34D6BE"/>
                </a:solidFill>
                <a:latin typeface="Consolas" pitchFamily="34" charset="0"/>
                <a:ea typeface="Consolas" pitchFamily="34" charset="-122"/>
                <a:cs typeface="Consolas" pitchFamily="34" charset="-120"/>
              </a:rPr>
              <a:t>pm-cverifier --strict --format json engine_config.yaml</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echo "Config OK"</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 </a:t>
            </a:r>
            <a:endParaRPr lang="en-US" sz="1200" dirty="0"/>
          </a:p>
          <a:p>
            <a:pPr marL="0" indent="0">
              <a:lnSpc>
                <a:spcPts val="1584"/>
              </a:lnSpc>
              <a:buNone/>
            </a:pPr>
            <a:r>
              <a:rPr lang="en-US" sz="1200" dirty="0">
                <a:solidFill>
                  <a:srgbClr val="8D97A5"/>
                </a:solidFill>
                <a:latin typeface="Consolas" pitchFamily="34" charset="0"/>
                <a:ea typeface="Consolas" pitchFamily="34" charset="-122"/>
                <a:cs typeface="Consolas" pitchFamily="34" charset="-120"/>
              </a:rPr>
              <a:t># as a build step</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 name: Verify engine config</a:t>
            </a:r>
            <a:endParaRPr lang="en-US" sz="1200" dirty="0"/>
          </a:p>
          <a:p>
            <a:pPr marL="0" indent="0">
              <a:lnSpc>
                <a:spcPts val="1584"/>
              </a:lnSpc>
              <a:buNone/>
            </a:pPr>
            <a:r>
              <a:rPr lang="en-US" sz="1200" dirty="0">
                <a:solidFill>
                  <a:srgbClr val="C2CAD4"/>
                </a:solidFill>
                <a:latin typeface="Consolas" pitchFamily="34" charset="0"/>
                <a:ea typeface="Consolas" pitchFamily="34" charset="-122"/>
                <a:cs typeface="Consolas" pitchFamily="34" charset="-120"/>
              </a:rPr>
              <a:t>  run: pm-cverifier --strict --format json engine_config.yaml</a:t>
            </a:r>
            <a:endParaRPr lang="en-US" sz="1200" dirty="0"/>
          </a:p>
        </p:txBody>
      </p:sp>
      <p:sp>
        <p:nvSpPr>
          <p:cNvPr id="13" name="Shape 11"/>
          <p:cNvSpPr/>
          <p:nvPr/>
        </p:nvSpPr>
        <p:spPr>
          <a:xfrm>
            <a:off x="6629400" y="2011680"/>
            <a:ext cx="4919472" cy="1600200"/>
          </a:xfrm>
          <a:prstGeom prst="roundRect">
            <a:avLst>
              <a:gd name="adj" fmla="val 3429"/>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630314" y="2012594"/>
            <a:ext cx="4917643" cy="50292"/>
          </a:xfrm>
          <a:prstGeom prst="rect">
            <a:avLst/>
          </a:prstGeom>
          <a:solidFill>
            <a:srgbClr val="F3B441"/>
          </a:solidFill>
          <a:ln w="12700">
            <a:solidFill>
              <a:srgbClr val="333333"/>
            </a:solidFill>
            <a:prstDash val="solid"/>
          </a:ln>
        </p:spPr>
        <p:txBody>
          <a:bodyPr/>
          <a:lstStyle/>
          <a:p>
            <a:endParaRPr lang="en-SE"/>
          </a:p>
        </p:txBody>
      </p:sp>
      <p:sp>
        <p:nvSpPr>
          <p:cNvPr id="15" name="Text 13"/>
          <p:cNvSpPr/>
          <p:nvPr/>
        </p:nvSpPr>
        <p:spPr>
          <a:xfrm>
            <a:off x="6867144" y="2286000"/>
            <a:ext cx="4443984"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Strict mode is the point</a:t>
            </a:r>
            <a:endParaRPr lang="en-US" sz="1550" dirty="0"/>
          </a:p>
        </p:txBody>
      </p:sp>
      <p:sp>
        <p:nvSpPr>
          <p:cNvPr id="16" name="Text 14"/>
          <p:cNvSpPr/>
          <p:nvPr/>
        </p:nvSpPr>
        <p:spPr>
          <a:xfrm>
            <a:off x="6867144" y="2670048"/>
            <a:ext cx="4443984" cy="77724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With --strict, any warning returns exit code 2. The build fails fast rather than silently shipping a market with no admin gateway and no collars.</a:t>
            </a:r>
            <a:endParaRPr lang="en-US" sz="1200" dirty="0"/>
          </a:p>
        </p:txBody>
      </p:sp>
      <p:sp>
        <p:nvSpPr>
          <p:cNvPr id="17" name="Shape 15"/>
          <p:cNvSpPr/>
          <p:nvPr/>
        </p:nvSpPr>
        <p:spPr>
          <a:xfrm>
            <a:off x="6629400" y="3794760"/>
            <a:ext cx="4919472" cy="1600200"/>
          </a:xfrm>
          <a:prstGeom prst="roundRect">
            <a:avLst>
              <a:gd name="adj" fmla="val 3429"/>
            </a:avLst>
          </a:prstGeom>
          <a:solidFill>
            <a:srgbClr val="252B33"/>
          </a:solidFill>
          <a:ln w="12700">
            <a:solidFill>
              <a:srgbClr val="3B4450"/>
            </a:solidFill>
            <a:prstDash val="solid"/>
          </a:ln>
        </p:spPr>
        <p:txBody>
          <a:bodyPr/>
          <a:lstStyle/>
          <a:p>
            <a:endParaRPr lang="en-SE"/>
          </a:p>
        </p:txBody>
      </p:sp>
      <p:sp>
        <p:nvSpPr>
          <p:cNvPr id="18" name="Shape 16"/>
          <p:cNvSpPr/>
          <p:nvPr/>
        </p:nvSpPr>
        <p:spPr>
          <a:xfrm>
            <a:off x="6630314" y="3795674"/>
            <a:ext cx="4917643" cy="50292"/>
          </a:xfrm>
          <a:prstGeom prst="rect">
            <a:avLst/>
          </a:prstGeom>
          <a:solidFill>
            <a:srgbClr val="5AB2F7"/>
          </a:solidFill>
          <a:ln w="12700">
            <a:solidFill>
              <a:srgbClr val="333333"/>
            </a:solidFill>
            <a:prstDash val="solid"/>
          </a:ln>
        </p:spPr>
        <p:txBody>
          <a:bodyPr/>
          <a:lstStyle/>
          <a:p>
            <a:endParaRPr lang="en-SE"/>
          </a:p>
        </p:txBody>
      </p:sp>
      <p:sp>
        <p:nvSpPr>
          <p:cNvPr id="19" name="Text 17"/>
          <p:cNvSpPr/>
          <p:nvPr/>
        </p:nvSpPr>
        <p:spPr>
          <a:xfrm>
            <a:off x="6867144" y="4069080"/>
            <a:ext cx="4443984"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JSON output is stable</a:t>
            </a:r>
            <a:endParaRPr lang="en-US" sz="1550" dirty="0"/>
          </a:p>
        </p:txBody>
      </p:sp>
      <p:sp>
        <p:nvSpPr>
          <p:cNvPr id="20" name="Text 18"/>
          <p:cNvSpPr/>
          <p:nvPr/>
        </p:nvSpPr>
        <p:spPr>
          <a:xfrm>
            <a:off x="6867144" y="4453128"/>
            <a:ext cx="4443984" cy="777240"/>
          </a:xfrm>
          <a:prstGeom prst="rect">
            <a:avLst/>
          </a:prstGeom>
          <a:noFill/>
          <a:ln/>
        </p:spPr>
        <p:txBody>
          <a:bodyPr wrap="square" lIns="0" tIns="0" rIns="0" bIns="0" rtlCol="0" anchor="t"/>
          <a:lstStyle/>
          <a:p>
            <a:pPr marL="0" indent="0">
              <a:lnSpc>
                <a:spcPts val="1608"/>
              </a:lnSpc>
              <a:buNone/>
            </a:pPr>
            <a:r>
              <a:rPr lang="en-US" sz="1200" dirty="0">
                <a:solidFill>
                  <a:srgbClr val="C2CAD4"/>
                </a:solidFill>
                <a:latin typeface="Calibri" pitchFamily="34" charset="0"/>
                <a:ea typeface="Calibri" pitchFamily="34" charset="-122"/>
                <a:cs typeface="Calibri" pitchFamily="34" charset="-120"/>
              </a:rPr>
              <a:t>The machine-readable form carries the same findings plus a risk_summary object with extra fields — including a flag telling you the built-in circuit-breaker ladder is in effect because you configured none.</a:t>
            </a:r>
            <a:endParaRPr lang="en-US" sz="1200" dirty="0"/>
          </a:p>
        </p:txBody>
      </p:sp>
      <p:sp>
        <p:nvSpPr>
          <p:cNvPr id="21" name="Shape 19"/>
          <p:cNvSpPr/>
          <p:nvPr/>
        </p:nvSpPr>
        <p:spPr>
          <a:xfrm>
            <a:off x="640080" y="4023360"/>
            <a:ext cx="5852160" cy="1005840"/>
          </a:xfrm>
          <a:prstGeom prst="roundRect">
            <a:avLst>
              <a:gd name="adj" fmla="val 5455"/>
            </a:avLst>
          </a:prstGeom>
          <a:solidFill>
            <a:srgbClr val="13463F"/>
          </a:solidFill>
          <a:ln w="12700">
            <a:solidFill>
              <a:srgbClr val="34D6BE"/>
            </a:solidFill>
            <a:prstDash val="solid"/>
          </a:ln>
        </p:spPr>
        <p:txBody>
          <a:bodyPr/>
          <a:lstStyle/>
          <a:p>
            <a:endParaRPr lang="en-SE"/>
          </a:p>
        </p:txBody>
      </p:sp>
      <p:sp>
        <p:nvSpPr>
          <p:cNvPr id="22" name="Text 20"/>
          <p:cNvSpPr/>
          <p:nvPr/>
        </p:nvSpPr>
        <p:spPr>
          <a:xfrm>
            <a:off x="877824" y="411480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WHERE IT SITS AMONG THE TOOLS</a:t>
            </a:r>
            <a:endParaRPr lang="en-US" sz="950" dirty="0"/>
          </a:p>
        </p:txBody>
      </p:sp>
      <p:sp>
        <p:nvSpPr>
          <p:cNvPr id="23" name="Text 21"/>
          <p:cNvSpPr/>
          <p:nvPr/>
        </p:nvSpPr>
        <p:spPr>
          <a:xfrm>
            <a:off x="877824" y="4370832"/>
            <a:ext cx="5376672" cy="5486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pm-config-gen and config-gui generate. pm-cverifier verifies. pm-config-deploy compiles and installs. pm-engine loads. Four tools, one file format.</a:t>
            </a:r>
            <a:endParaRPr lang="en-US" sz="1250" dirty="0"/>
          </a:p>
        </p:txBody>
      </p:sp>
      <p:sp>
        <p:nvSpPr>
          <p:cNvPr id="24" name="Text 2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04 · How to verify a configuration</a:t>
            </a:r>
            <a:endParaRPr lang="en-US" sz="950" dirty="0"/>
          </a:p>
        </p:txBody>
      </p:sp>
      <p:sp>
        <p:nvSpPr>
          <p:cNvPr id="25" name="Text 2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05</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05</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Why a compiled JSON,</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not the YAML spec file?</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The single most important idea in this deck, and the one most likely to trip you up on day one: the file you edit is not the file that runs.</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drift problem</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pm-config-deploy</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meta block</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Two digests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PROBLEM</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Eight loaders, eight copies of the truth</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process parses the config independently. Before compilation, that meant every process also carried its own copy of every default.</a:t>
            </a:r>
            <a:endParaRPr lang="en-US" sz="1450" dirty="0"/>
          </a:p>
        </p:txBody>
      </p:sp>
      <p:sp>
        <p:nvSpPr>
          <p:cNvPr id="6" name="Shape 4"/>
          <p:cNvSpPr/>
          <p:nvPr/>
        </p:nvSpPr>
        <p:spPr>
          <a:xfrm>
            <a:off x="640080" y="2011680"/>
            <a:ext cx="5349240" cy="3017520"/>
          </a:xfrm>
          <a:prstGeom prst="roundRect">
            <a:avLst>
              <a:gd name="adj" fmla="val 181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5347411" cy="50292"/>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896112" y="2249424"/>
            <a:ext cx="475488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What went wrong</a:t>
            </a:r>
            <a:endParaRPr lang="en-US" sz="1650" dirty="0"/>
          </a:p>
        </p:txBody>
      </p:sp>
      <p:sp>
        <p:nvSpPr>
          <p:cNvPr id="9" name="Shape 7"/>
          <p:cNvSpPr/>
          <p:nvPr/>
        </p:nvSpPr>
        <p:spPr>
          <a:xfrm>
            <a:off x="896112" y="2807208"/>
            <a:ext cx="82296" cy="82296"/>
          </a:xfrm>
          <a:prstGeom prst="rect">
            <a:avLst/>
          </a:prstGeom>
          <a:solidFill>
            <a:srgbClr val="FF7A6B"/>
          </a:solidFill>
          <a:ln w="12700">
            <a:solidFill>
              <a:srgbClr val="333333"/>
            </a:solidFill>
            <a:prstDash val="solid"/>
          </a:ln>
        </p:spPr>
        <p:txBody>
          <a:bodyPr/>
          <a:lstStyle/>
          <a:p>
            <a:endParaRPr lang="en-SE"/>
          </a:p>
        </p:txBody>
      </p:sp>
      <p:sp>
        <p:nvSpPr>
          <p:cNvPr id="10" name="Text 8"/>
          <p:cNvSpPr/>
          <p:nvPr/>
        </p:nvSpPr>
        <p:spPr>
          <a:xfrm>
            <a:off x="1133856" y="2706624"/>
            <a:ext cx="456285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Drift.  </a:t>
            </a:r>
            <a:r>
              <a:rPr lang="en-US" sz="1200" dirty="0">
                <a:solidFill>
                  <a:srgbClr val="C2CAD4"/>
                </a:solidFill>
                <a:latin typeface="Calibri" pitchFamily="34" charset="0"/>
                <a:ea typeface="Calibri" pitchFamily="34" charset="-122"/>
                <a:cs typeface="Calibri" pitchFamily="34" charset="-120"/>
              </a:rPr>
              <a:t>Eight independent default tables can disagree — and did.</a:t>
            </a:r>
            <a:endParaRPr lang="en-US" sz="1200" dirty="0"/>
          </a:p>
        </p:txBody>
      </p:sp>
      <p:sp>
        <p:nvSpPr>
          <p:cNvPr id="11" name="Shape 9"/>
          <p:cNvSpPr/>
          <p:nvPr/>
        </p:nvSpPr>
        <p:spPr>
          <a:xfrm>
            <a:off x="896112" y="3410712"/>
            <a:ext cx="82296" cy="82296"/>
          </a:xfrm>
          <a:prstGeom prst="rect">
            <a:avLst/>
          </a:prstGeom>
          <a:solidFill>
            <a:srgbClr val="FF7A6B"/>
          </a:solidFill>
          <a:ln w="12700">
            <a:solidFill>
              <a:srgbClr val="333333"/>
            </a:solidFill>
            <a:prstDash val="solid"/>
          </a:ln>
        </p:spPr>
        <p:txBody>
          <a:bodyPr/>
          <a:lstStyle/>
          <a:p>
            <a:endParaRPr lang="en-SE"/>
          </a:p>
        </p:txBody>
      </p:sp>
      <p:sp>
        <p:nvSpPr>
          <p:cNvPr id="12" name="Text 10"/>
          <p:cNvSpPr/>
          <p:nvPr/>
        </p:nvSpPr>
        <p:spPr>
          <a:xfrm>
            <a:off x="1133856" y="3310128"/>
            <a:ext cx="456285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No gate.  </a:t>
            </a:r>
            <a:r>
              <a:rPr lang="en-US" sz="1200" dirty="0">
                <a:solidFill>
                  <a:srgbClr val="C2CAD4"/>
                </a:solidFill>
                <a:latin typeface="Calibri" pitchFamily="34" charset="0"/>
                <a:ea typeface="Calibri" pitchFamily="34" charset="-122"/>
                <a:cs typeface="Calibri" pitchFamily="34" charset="-120"/>
              </a:rPr>
              <a:t>A configuration nobody had checked could reach a running exchange.</a:t>
            </a:r>
            <a:endParaRPr lang="en-US" sz="1200" dirty="0"/>
          </a:p>
        </p:txBody>
      </p:sp>
      <p:sp>
        <p:nvSpPr>
          <p:cNvPr id="13" name="Shape 11"/>
          <p:cNvSpPr/>
          <p:nvPr/>
        </p:nvSpPr>
        <p:spPr>
          <a:xfrm>
            <a:off x="896112" y="4014216"/>
            <a:ext cx="82296" cy="82296"/>
          </a:xfrm>
          <a:prstGeom prst="rect">
            <a:avLst/>
          </a:prstGeom>
          <a:solidFill>
            <a:srgbClr val="FF7A6B"/>
          </a:solidFill>
          <a:ln w="12700">
            <a:solidFill>
              <a:srgbClr val="333333"/>
            </a:solidFill>
            <a:prstDash val="solid"/>
          </a:ln>
        </p:spPr>
        <p:txBody>
          <a:bodyPr/>
          <a:lstStyle/>
          <a:p>
            <a:endParaRPr lang="en-SE"/>
          </a:p>
        </p:txBody>
      </p:sp>
      <p:sp>
        <p:nvSpPr>
          <p:cNvPr id="14" name="Text 12"/>
          <p:cNvSpPr/>
          <p:nvPr/>
        </p:nvSpPr>
        <p:spPr>
          <a:xfrm>
            <a:off x="1133856" y="3913632"/>
            <a:ext cx="456285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Ambiguity.  </a:t>
            </a:r>
            <a:r>
              <a:rPr lang="en-US" sz="1200" dirty="0">
                <a:solidFill>
                  <a:srgbClr val="C2CAD4"/>
                </a:solidFill>
                <a:latin typeface="Calibri" pitchFamily="34" charset="0"/>
                <a:ea typeface="Calibri" pitchFamily="34" charset="-122"/>
                <a:cs typeface="Calibri" pitchFamily="34" charset="-120"/>
              </a:rPr>
              <a:t>Different processes could be pointed at different files.</a:t>
            </a:r>
            <a:endParaRPr lang="en-US" sz="1200" dirty="0"/>
          </a:p>
        </p:txBody>
      </p:sp>
      <p:sp>
        <p:nvSpPr>
          <p:cNvPr id="15" name="Shape 13"/>
          <p:cNvSpPr/>
          <p:nvPr/>
        </p:nvSpPr>
        <p:spPr>
          <a:xfrm>
            <a:off x="896112" y="4617720"/>
            <a:ext cx="82296" cy="82296"/>
          </a:xfrm>
          <a:prstGeom prst="rect">
            <a:avLst/>
          </a:prstGeom>
          <a:solidFill>
            <a:srgbClr val="FF7A6B"/>
          </a:solidFill>
          <a:ln w="12700">
            <a:solidFill>
              <a:srgbClr val="333333"/>
            </a:solidFill>
            <a:prstDash val="solid"/>
          </a:ln>
        </p:spPr>
        <p:txBody>
          <a:bodyPr/>
          <a:lstStyle/>
          <a:p>
            <a:endParaRPr lang="en-SE"/>
          </a:p>
        </p:txBody>
      </p:sp>
      <p:sp>
        <p:nvSpPr>
          <p:cNvPr id="16" name="Text 14"/>
          <p:cNvSpPr/>
          <p:nvPr/>
        </p:nvSpPr>
        <p:spPr>
          <a:xfrm>
            <a:off x="1133856" y="4517136"/>
            <a:ext cx="456285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Invisibility.  </a:t>
            </a:r>
            <a:r>
              <a:rPr lang="en-US" sz="1200" dirty="0">
                <a:solidFill>
                  <a:srgbClr val="C2CAD4"/>
                </a:solidFill>
                <a:latin typeface="Calibri" pitchFamily="34" charset="0"/>
                <a:ea typeface="Calibri" pitchFamily="34" charset="-122"/>
                <a:cs typeface="Calibri" pitchFamily="34" charset="-120"/>
              </a:rPr>
              <a:t>An edit you forgot to apply looked identical to one you had.</a:t>
            </a:r>
            <a:endParaRPr lang="en-US" sz="1200" dirty="0"/>
          </a:p>
        </p:txBody>
      </p:sp>
      <p:sp>
        <p:nvSpPr>
          <p:cNvPr id="17" name="Shape 15"/>
          <p:cNvSpPr/>
          <p:nvPr/>
        </p:nvSpPr>
        <p:spPr>
          <a:xfrm>
            <a:off x="6537960" y="2011680"/>
            <a:ext cx="5010912" cy="3017520"/>
          </a:xfrm>
          <a:prstGeom prst="roundRect">
            <a:avLst>
              <a:gd name="adj" fmla="val 1818"/>
            </a:avLst>
          </a:prstGeom>
          <a:solidFill>
            <a:srgbClr val="252B33"/>
          </a:solidFill>
          <a:ln w="12700">
            <a:solidFill>
              <a:srgbClr val="3B4450"/>
            </a:solidFill>
            <a:prstDash val="solid"/>
          </a:ln>
        </p:spPr>
        <p:txBody>
          <a:bodyPr/>
          <a:lstStyle/>
          <a:p>
            <a:endParaRPr lang="en-SE"/>
          </a:p>
        </p:txBody>
      </p:sp>
      <p:sp>
        <p:nvSpPr>
          <p:cNvPr id="18" name="Shape 16"/>
          <p:cNvSpPr/>
          <p:nvPr/>
        </p:nvSpPr>
        <p:spPr>
          <a:xfrm>
            <a:off x="6538874" y="2012594"/>
            <a:ext cx="5009083" cy="50292"/>
          </a:xfrm>
          <a:prstGeom prst="rect">
            <a:avLst/>
          </a:prstGeom>
          <a:solidFill>
            <a:srgbClr val="34D6BE"/>
          </a:solidFill>
          <a:ln w="12700">
            <a:solidFill>
              <a:srgbClr val="333333"/>
            </a:solidFill>
            <a:prstDash val="solid"/>
          </a:ln>
        </p:spPr>
        <p:txBody>
          <a:bodyPr/>
          <a:lstStyle/>
          <a:p>
            <a:endParaRPr lang="en-SE"/>
          </a:p>
        </p:txBody>
      </p:sp>
      <p:sp>
        <p:nvSpPr>
          <p:cNvPr id="19" name="Text 17"/>
          <p:cNvSpPr/>
          <p:nvPr/>
        </p:nvSpPr>
        <p:spPr>
          <a:xfrm>
            <a:off x="6793992" y="2249424"/>
            <a:ext cx="4480560" cy="347472"/>
          </a:xfrm>
          <a:prstGeom prst="rect">
            <a:avLst/>
          </a:prstGeom>
          <a:noFill/>
          <a:ln/>
        </p:spPr>
        <p:txBody>
          <a:bodyPr wrap="square" lIns="0" tIns="0" rIns="0" bIns="0" rtlCol="0" anchor="ctr"/>
          <a:lstStyle/>
          <a:p>
            <a:pPr marL="0" indent="0">
              <a:buNone/>
            </a:pPr>
            <a:r>
              <a:rPr lang="en-US" sz="1650" b="1" dirty="0">
                <a:solidFill>
                  <a:srgbClr val="F1F4F8"/>
                </a:solidFill>
                <a:latin typeface="Trebuchet MS" pitchFamily="34" charset="0"/>
                <a:ea typeface="Trebuchet MS" pitchFamily="34" charset="-122"/>
                <a:cs typeface="Trebuchet MS" pitchFamily="34" charset="-120"/>
              </a:rPr>
              <a:t>What compilation fixes</a:t>
            </a:r>
            <a:endParaRPr lang="en-US" sz="1650" dirty="0"/>
          </a:p>
        </p:txBody>
      </p:sp>
      <p:sp>
        <p:nvSpPr>
          <p:cNvPr id="20" name="Shape 18"/>
          <p:cNvSpPr/>
          <p:nvPr/>
        </p:nvSpPr>
        <p:spPr>
          <a:xfrm>
            <a:off x="6793992" y="2807208"/>
            <a:ext cx="82296" cy="82296"/>
          </a:xfrm>
          <a:prstGeom prst="rect">
            <a:avLst/>
          </a:prstGeom>
          <a:solidFill>
            <a:srgbClr val="34D6BE"/>
          </a:solidFill>
          <a:ln w="12700">
            <a:solidFill>
              <a:srgbClr val="333333"/>
            </a:solidFill>
            <a:prstDash val="solid"/>
          </a:ln>
        </p:spPr>
        <p:txBody>
          <a:bodyPr/>
          <a:lstStyle/>
          <a:p>
            <a:endParaRPr lang="en-SE"/>
          </a:p>
        </p:txBody>
      </p:sp>
      <p:sp>
        <p:nvSpPr>
          <p:cNvPr id="21" name="Text 19"/>
          <p:cNvSpPr/>
          <p:nvPr/>
        </p:nvSpPr>
        <p:spPr>
          <a:xfrm>
            <a:off x="7031736" y="2706624"/>
            <a:ext cx="424281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resolver.  </a:t>
            </a:r>
            <a:r>
              <a:rPr lang="en-US" sz="1200" dirty="0">
                <a:solidFill>
                  <a:srgbClr val="C2CAD4"/>
                </a:solidFill>
                <a:latin typeface="Calibri" pitchFamily="34" charset="0"/>
                <a:ea typeface="Calibri" pitchFamily="34" charset="-122"/>
                <a:cs typeface="Calibri" pitchFamily="34" charset="-120"/>
              </a:rPr>
              <a:t>Defaults are resolved exactly once, at compile time.</a:t>
            </a:r>
            <a:endParaRPr lang="en-US" sz="1200" dirty="0"/>
          </a:p>
        </p:txBody>
      </p:sp>
      <p:sp>
        <p:nvSpPr>
          <p:cNvPr id="22" name="Shape 20"/>
          <p:cNvSpPr/>
          <p:nvPr/>
        </p:nvSpPr>
        <p:spPr>
          <a:xfrm>
            <a:off x="6793992" y="3410712"/>
            <a:ext cx="82296" cy="82296"/>
          </a:xfrm>
          <a:prstGeom prst="rect">
            <a:avLst/>
          </a:prstGeom>
          <a:solidFill>
            <a:srgbClr val="34D6BE"/>
          </a:solidFill>
          <a:ln w="12700">
            <a:solidFill>
              <a:srgbClr val="333333"/>
            </a:solidFill>
            <a:prstDash val="solid"/>
          </a:ln>
        </p:spPr>
        <p:txBody>
          <a:bodyPr/>
          <a:lstStyle/>
          <a:p>
            <a:endParaRPr lang="en-SE"/>
          </a:p>
        </p:txBody>
      </p:sp>
      <p:sp>
        <p:nvSpPr>
          <p:cNvPr id="23" name="Text 21"/>
          <p:cNvSpPr/>
          <p:nvPr/>
        </p:nvSpPr>
        <p:spPr>
          <a:xfrm>
            <a:off x="7031736" y="3310128"/>
            <a:ext cx="424281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gate.  </a:t>
            </a:r>
            <a:r>
              <a:rPr lang="en-US" sz="1200" dirty="0">
                <a:solidFill>
                  <a:srgbClr val="C2CAD4"/>
                </a:solidFill>
                <a:latin typeface="Calibri" pitchFamily="34" charset="0"/>
                <a:ea typeface="Calibri" pitchFamily="34" charset="-122"/>
                <a:cs typeface="Calibri" pitchFamily="34" charset="-120"/>
              </a:rPr>
              <a:t>All four verifier layers run before anything is installed.</a:t>
            </a:r>
            <a:endParaRPr lang="en-US" sz="1200" dirty="0"/>
          </a:p>
        </p:txBody>
      </p:sp>
      <p:sp>
        <p:nvSpPr>
          <p:cNvPr id="24" name="Shape 22"/>
          <p:cNvSpPr/>
          <p:nvPr/>
        </p:nvSpPr>
        <p:spPr>
          <a:xfrm>
            <a:off x="6793992" y="4014216"/>
            <a:ext cx="82296" cy="82296"/>
          </a:xfrm>
          <a:prstGeom prst="rect">
            <a:avLst/>
          </a:prstGeom>
          <a:solidFill>
            <a:srgbClr val="34D6BE"/>
          </a:solidFill>
          <a:ln w="12700">
            <a:solidFill>
              <a:srgbClr val="333333"/>
            </a:solidFill>
            <a:prstDash val="solid"/>
          </a:ln>
        </p:spPr>
        <p:txBody>
          <a:bodyPr/>
          <a:lstStyle/>
          <a:p>
            <a:endParaRPr lang="en-SE"/>
          </a:p>
        </p:txBody>
      </p:sp>
      <p:sp>
        <p:nvSpPr>
          <p:cNvPr id="25" name="Text 23"/>
          <p:cNvSpPr/>
          <p:nvPr/>
        </p:nvSpPr>
        <p:spPr>
          <a:xfrm>
            <a:off x="7031736" y="3913632"/>
            <a:ext cx="424281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file.  </a:t>
            </a:r>
            <a:r>
              <a:rPr lang="en-US" sz="1200" dirty="0">
                <a:solidFill>
                  <a:srgbClr val="C2CAD4"/>
                </a:solidFill>
                <a:latin typeface="Calibri" pitchFamily="34" charset="0"/>
                <a:ea typeface="Calibri" pitchFamily="34" charset="-122"/>
                <a:cs typeface="Calibri" pitchFamily="34" charset="-120"/>
              </a:rPr>
              <a:t>No process accepts a config path, so they cannot diverge.</a:t>
            </a:r>
            <a:endParaRPr lang="en-US" sz="1200" dirty="0"/>
          </a:p>
        </p:txBody>
      </p:sp>
      <p:sp>
        <p:nvSpPr>
          <p:cNvPr id="26" name="Shape 24"/>
          <p:cNvSpPr/>
          <p:nvPr/>
        </p:nvSpPr>
        <p:spPr>
          <a:xfrm>
            <a:off x="6793992" y="4617720"/>
            <a:ext cx="82296" cy="82296"/>
          </a:xfrm>
          <a:prstGeom prst="rect">
            <a:avLst/>
          </a:prstGeom>
          <a:solidFill>
            <a:srgbClr val="34D6BE"/>
          </a:solidFill>
          <a:ln w="12700">
            <a:solidFill>
              <a:srgbClr val="333333"/>
            </a:solidFill>
            <a:prstDash val="solid"/>
          </a:ln>
        </p:spPr>
        <p:txBody>
          <a:bodyPr/>
          <a:lstStyle/>
          <a:p>
            <a:endParaRPr lang="en-SE"/>
          </a:p>
        </p:txBody>
      </p:sp>
      <p:sp>
        <p:nvSpPr>
          <p:cNvPr id="27" name="Text 25"/>
          <p:cNvSpPr/>
          <p:nvPr/>
        </p:nvSpPr>
        <p:spPr>
          <a:xfrm>
            <a:off x="7031736" y="4517136"/>
            <a:ext cx="4242816" cy="603504"/>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fingerprint.  </a:t>
            </a:r>
            <a:r>
              <a:rPr lang="en-US" sz="1200" dirty="0">
                <a:solidFill>
                  <a:srgbClr val="C2CAD4"/>
                </a:solidFill>
                <a:latin typeface="Calibri" pitchFamily="34" charset="0"/>
                <a:ea typeface="Calibri" pitchFamily="34" charset="-122"/>
                <a:cs typeface="Calibri" pitchFamily="34" charset="-120"/>
              </a:rPr>
              <a:t>Processes warn at startup when the source has changed.</a:t>
            </a:r>
            <a:endParaRPr lang="en-US" sz="1200" dirty="0"/>
          </a:p>
        </p:txBody>
      </p:sp>
      <p:sp>
        <p:nvSpPr>
          <p:cNvPr id="28" name="Shape 26"/>
          <p:cNvSpPr/>
          <p:nvPr/>
        </p:nvSpPr>
        <p:spPr>
          <a:xfrm>
            <a:off x="640080" y="5257800"/>
            <a:ext cx="10911535" cy="868680"/>
          </a:xfrm>
          <a:prstGeom prst="roundRect">
            <a:avLst>
              <a:gd name="adj" fmla="val 6316"/>
            </a:avLst>
          </a:prstGeom>
          <a:solidFill>
            <a:srgbClr val="2E2A52"/>
          </a:solidFill>
          <a:ln w="12700">
            <a:solidFill>
              <a:srgbClr val="9B8CFF"/>
            </a:solidFill>
            <a:prstDash val="solid"/>
          </a:ln>
        </p:spPr>
        <p:txBody>
          <a:bodyPr/>
          <a:lstStyle/>
          <a:p>
            <a:endParaRPr lang="en-SE"/>
          </a:p>
        </p:txBody>
      </p:sp>
      <p:sp>
        <p:nvSpPr>
          <p:cNvPr id="29" name="Text 27"/>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THE DESIGN SHIFT</a:t>
            </a:r>
            <a:endParaRPr lang="en-US" sz="950" dirty="0"/>
          </a:p>
        </p:txBody>
      </p:sp>
      <p:sp>
        <p:nvSpPr>
          <p:cNvPr id="30" name="Text 28"/>
          <p:cNvSpPr/>
          <p:nvPr/>
        </p:nvSpPr>
        <p:spPr>
          <a:xfrm>
            <a:off x="877824" y="560527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Each process now deserialises rather than decides. It reads a fully-resolved section and applies it — there is no logic left in a loader for two loaders to disagree about.</a:t>
            </a:r>
            <a:endParaRPr lang="en-US" sz="1250" dirty="0"/>
          </a:p>
        </p:txBody>
      </p:sp>
      <p:sp>
        <p:nvSpPr>
          <p:cNvPr id="31" name="Text 2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32" name="Text 3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SPLIT</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file you author is not the file that runs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Two artifacts, two jobs. Confusing them is the most common day-one mistake.</a:t>
            </a:r>
            <a:endParaRPr lang="en-US" sz="1450" dirty="0"/>
          </a:p>
        </p:txBody>
      </p:sp>
      <p:sp>
        <p:nvSpPr>
          <p:cNvPr id="6" name="Shape 4"/>
          <p:cNvSpPr/>
          <p:nvPr/>
        </p:nvSpPr>
        <p:spPr>
          <a:xfrm>
            <a:off x="640080" y="2011680"/>
            <a:ext cx="4937760" cy="3566160"/>
          </a:xfrm>
          <a:prstGeom prst="roundRect">
            <a:avLst>
              <a:gd name="adj" fmla="val 153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4935931" cy="50292"/>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914400" y="2286000"/>
            <a:ext cx="4389120" cy="384048"/>
          </a:xfrm>
          <a:prstGeom prst="rect">
            <a:avLst/>
          </a:prstGeom>
          <a:noFill/>
          <a:ln/>
        </p:spPr>
        <p:txBody>
          <a:bodyPr wrap="square" lIns="0" tIns="0" rIns="0" bIns="0" rtlCol="0" anchor="ctr"/>
          <a:lstStyle/>
          <a:p>
            <a:pPr marL="0" indent="0">
              <a:buNone/>
            </a:pPr>
            <a:r>
              <a:rPr lang="en-US" sz="1800" b="1" dirty="0">
                <a:solidFill>
                  <a:srgbClr val="34D6BE"/>
                </a:solidFill>
                <a:latin typeface="Consolas" pitchFamily="34" charset="0"/>
                <a:ea typeface="Consolas" pitchFamily="34" charset="-122"/>
                <a:cs typeface="Consolas" pitchFamily="34" charset="-120"/>
              </a:rPr>
              <a:t>engine_config.yaml</a:t>
            </a:r>
            <a:endParaRPr lang="en-US" sz="1800" dirty="0"/>
          </a:p>
        </p:txBody>
      </p:sp>
      <p:sp>
        <p:nvSpPr>
          <p:cNvPr id="9" name="Text 7"/>
          <p:cNvSpPr/>
          <p:nvPr/>
        </p:nvSpPr>
        <p:spPr>
          <a:xfrm>
            <a:off x="914400" y="2688336"/>
            <a:ext cx="4389120" cy="237744"/>
          </a:xfrm>
          <a:prstGeom prst="rect">
            <a:avLst/>
          </a:prstGeom>
          <a:noFill/>
          <a:ln/>
        </p:spPr>
        <p:txBody>
          <a:bodyPr wrap="square" lIns="0" tIns="0" rIns="0" bIns="0" rtlCol="0" anchor="ctr"/>
          <a:lstStyle/>
          <a:p>
            <a:pPr marL="0" indent="0">
              <a:buNone/>
            </a:pPr>
            <a:r>
              <a:rPr lang="en-US" sz="950" b="1" kern="0" spc="180" dirty="0">
                <a:solidFill>
                  <a:srgbClr val="8D97A5"/>
                </a:solidFill>
                <a:latin typeface="Calibri" pitchFamily="34" charset="0"/>
                <a:ea typeface="Calibri" pitchFamily="34" charset="-122"/>
                <a:cs typeface="Calibri" pitchFamily="34" charset="-120"/>
              </a:rPr>
              <a:t>THE FILE YOU AUTHOR</a:t>
            </a:r>
            <a:endParaRPr lang="en-US" sz="950" dirty="0"/>
          </a:p>
        </p:txBody>
      </p:sp>
      <p:sp>
        <p:nvSpPr>
          <p:cNvPr id="10" name="Shape 8"/>
          <p:cNvSpPr/>
          <p:nvPr/>
        </p:nvSpPr>
        <p:spPr>
          <a:xfrm>
            <a:off x="914400" y="3191256"/>
            <a:ext cx="82296" cy="82296"/>
          </a:xfrm>
          <a:prstGeom prst="rect">
            <a:avLst/>
          </a:prstGeom>
          <a:solidFill>
            <a:srgbClr val="34D6BE"/>
          </a:solidFill>
          <a:ln w="12700">
            <a:solidFill>
              <a:srgbClr val="333333"/>
            </a:solidFill>
            <a:prstDash val="solid"/>
          </a:ln>
        </p:spPr>
        <p:txBody>
          <a:bodyPr/>
          <a:lstStyle/>
          <a:p>
            <a:endParaRPr lang="en-SE"/>
          </a:p>
        </p:txBody>
      </p:sp>
      <p:sp>
        <p:nvSpPr>
          <p:cNvPr id="11" name="Text 9"/>
          <p:cNvSpPr/>
          <p:nvPr/>
        </p:nvSpPr>
        <p:spPr>
          <a:xfrm>
            <a:off x="1152144" y="3090672"/>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Lives  </a:t>
            </a:r>
            <a:r>
              <a:rPr lang="en-US" sz="1150" dirty="0">
                <a:solidFill>
                  <a:srgbClr val="C2CAD4"/>
                </a:solidFill>
                <a:latin typeface="Calibri" pitchFamily="34" charset="0"/>
                <a:ea typeface="Calibri" pitchFamily="34" charset="-122"/>
                <a:cs typeface="Calibri" pitchFamily="34" charset="-120"/>
              </a:rPr>
              <a:t>wherever suits you — normally in version control with the rest of your course material</a:t>
            </a:r>
            <a:endParaRPr lang="en-US" sz="1150" dirty="0"/>
          </a:p>
        </p:txBody>
      </p:sp>
      <p:sp>
        <p:nvSpPr>
          <p:cNvPr id="12" name="Shape 10"/>
          <p:cNvSpPr/>
          <p:nvPr/>
        </p:nvSpPr>
        <p:spPr>
          <a:xfrm>
            <a:off x="914400" y="3758184"/>
            <a:ext cx="82296" cy="82296"/>
          </a:xfrm>
          <a:prstGeom prst="rect">
            <a:avLst/>
          </a:prstGeom>
          <a:solidFill>
            <a:srgbClr val="34D6BE"/>
          </a:solidFill>
          <a:ln w="12700">
            <a:solidFill>
              <a:srgbClr val="333333"/>
            </a:solidFill>
            <a:prstDash val="solid"/>
          </a:ln>
        </p:spPr>
        <p:txBody>
          <a:bodyPr/>
          <a:lstStyle/>
          <a:p>
            <a:endParaRPr lang="en-SE"/>
          </a:p>
        </p:txBody>
      </p:sp>
      <p:sp>
        <p:nvSpPr>
          <p:cNvPr id="13" name="Text 11"/>
          <p:cNvSpPr/>
          <p:nvPr/>
        </p:nvSpPr>
        <p:spPr>
          <a:xfrm>
            <a:off x="1152144" y="3657600"/>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Human  </a:t>
            </a:r>
            <a:r>
              <a:rPr lang="en-US" sz="1150" dirty="0">
                <a:solidFill>
                  <a:srgbClr val="C2CAD4"/>
                </a:solidFill>
                <a:latin typeface="Calibri" pitchFamily="34" charset="0"/>
                <a:ea typeface="Calibri" pitchFamily="34" charset="-122"/>
                <a:cs typeface="Calibri" pitchFamily="34" charset="-120"/>
              </a:rPr>
              <a:t>commented, diffable, reviewable in a pull request</a:t>
            </a:r>
            <a:endParaRPr lang="en-US" sz="1150" dirty="0"/>
          </a:p>
        </p:txBody>
      </p:sp>
      <p:sp>
        <p:nvSpPr>
          <p:cNvPr id="14" name="Shape 12"/>
          <p:cNvSpPr/>
          <p:nvPr/>
        </p:nvSpPr>
        <p:spPr>
          <a:xfrm>
            <a:off x="914400" y="4325112"/>
            <a:ext cx="82296" cy="82296"/>
          </a:xfrm>
          <a:prstGeom prst="rect">
            <a:avLst/>
          </a:prstGeom>
          <a:solidFill>
            <a:srgbClr val="34D6BE"/>
          </a:solidFill>
          <a:ln w="12700">
            <a:solidFill>
              <a:srgbClr val="333333"/>
            </a:solidFill>
            <a:prstDash val="solid"/>
          </a:ln>
        </p:spPr>
        <p:txBody>
          <a:bodyPr/>
          <a:lstStyle/>
          <a:p>
            <a:endParaRPr lang="en-SE"/>
          </a:p>
        </p:txBody>
      </p:sp>
      <p:sp>
        <p:nvSpPr>
          <p:cNvPr id="15" name="Text 13"/>
          <p:cNvSpPr/>
          <p:nvPr/>
        </p:nvSpPr>
        <p:spPr>
          <a:xfrm>
            <a:off x="1152144" y="4224528"/>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Partial  </a:t>
            </a:r>
            <a:r>
              <a:rPr lang="en-US" sz="1150" dirty="0">
                <a:solidFill>
                  <a:srgbClr val="C2CAD4"/>
                </a:solidFill>
                <a:latin typeface="Calibri" pitchFamily="34" charset="0"/>
                <a:ea typeface="Calibri" pitchFamily="34" charset="-122"/>
                <a:cs typeface="Calibri" pitchFamily="34" charset="-120"/>
              </a:rPr>
              <a:t>you write only what differs from the defaults</a:t>
            </a:r>
            <a:endParaRPr lang="en-US" sz="1150" dirty="0"/>
          </a:p>
        </p:txBody>
      </p:sp>
      <p:sp>
        <p:nvSpPr>
          <p:cNvPr id="16" name="Shape 14"/>
          <p:cNvSpPr/>
          <p:nvPr/>
        </p:nvSpPr>
        <p:spPr>
          <a:xfrm>
            <a:off x="914400" y="4892040"/>
            <a:ext cx="82296" cy="82296"/>
          </a:xfrm>
          <a:prstGeom prst="rect">
            <a:avLst/>
          </a:prstGeom>
          <a:solidFill>
            <a:srgbClr val="F3B441"/>
          </a:solidFill>
          <a:ln w="12700">
            <a:solidFill>
              <a:srgbClr val="333333"/>
            </a:solidFill>
            <a:prstDash val="solid"/>
          </a:ln>
        </p:spPr>
        <p:txBody>
          <a:bodyPr/>
          <a:lstStyle/>
          <a:p>
            <a:endParaRPr lang="en-SE"/>
          </a:p>
        </p:txBody>
      </p:sp>
      <p:sp>
        <p:nvSpPr>
          <p:cNvPr id="17" name="Text 15"/>
          <p:cNvSpPr/>
          <p:nvPr/>
        </p:nvSpPr>
        <p:spPr>
          <a:xfrm>
            <a:off x="1152144" y="4791456"/>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Read by  </a:t>
            </a:r>
            <a:r>
              <a:rPr lang="en-US" sz="1150" dirty="0">
                <a:solidFill>
                  <a:srgbClr val="C2CAD4"/>
                </a:solidFill>
                <a:latin typeface="Calibri" pitchFamily="34" charset="0"/>
                <a:ea typeface="Calibri" pitchFamily="34" charset="-122"/>
                <a:cs typeface="Calibri" pitchFamily="34" charset="-120"/>
              </a:rPr>
              <a:t>you, your team, and the verification tools — never by a running process</a:t>
            </a:r>
            <a:endParaRPr lang="en-US" sz="1150" dirty="0"/>
          </a:p>
        </p:txBody>
      </p:sp>
      <p:sp>
        <p:nvSpPr>
          <p:cNvPr id="18" name="Text 16"/>
          <p:cNvSpPr/>
          <p:nvPr/>
        </p:nvSpPr>
        <p:spPr>
          <a:xfrm>
            <a:off x="5715000" y="3520440"/>
            <a:ext cx="640080" cy="640080"/>
          </a:xfrm>
          <a:prstGeom prst="rect">
            <a:avLst/>
          </a:prstGeom>
          <a:noFill/>
          <a:ln/>
        </p:spPr>
        <p:txBody>
          <a:bodyPr wrap="square" lIns="0" tIns="0" rIns="0" bIns="0" rtlCol="0" anchor="ctr"/>
          <a:lstStyle/>
          <a:p>
            <a:pPr marL="0" indent="0" algn="ctr">
              <a:buNone/>
            </a:pPr>
            <a:r>
              <a:rPr lang="en-US" sz="4000" dirty="0">
                <a:solidFill>
                  <a:srgbClr val="3B4450"/>
                </a:solidFill>
                <a:latin typeface="Trebuchet MS" pitchFamily="34" charset="0"/>
                <a:ea typeface="Trebuchet MS" pitchFamily="34" charset="-122"/>
                <a:cs typeface="Trebuchet MS" pitchFamily="34" charset="-120"/>
              </a:rPr>
              <a:t>›</a:t>
            </a:r>
            <a:endParaRPr lang="en-US" sz="4000" dirty="0"/>
          </a:p>
        </p:txBody>
      </p:sp>
      <p:sp>
        <p:nvSpPr>
          <p:cNvPr id="19" name="Text 17"/>
          <p:cNvSpPr/>
          <p:nvPr/>
        </p:nvSpPr>
        <p:spPr>
          <a:xfrm>
            <a:off x="5394960" y="4114800"/>
            <a:ext cx="1280160" cy="274320"/>
          </a:xfrm>
          <a:prstGeom prst="rect">
            <a:avLst/>
          </a:prstGeom>
          <a:noFill/>
          <a:ln/>
        </p:spPr>
        <p:txBody>
          <a:bodyPr wrap="square" lIns="0" tIns="0" rIns="0" bIns="0" rtlCol="0" anchor="ctr"/>
          <a:lstStyle/>
          <a:p>
            <a:pPr marL="0" indent="0" algn="ctr">
              <a:buNone/>
            </a:pPr>
            <a:r>
              <a:rPr lang="en-US" sz="900" dirty="0">
                <a:solidFill>
                  <a:srgbClr val="9B8CFF"/>
                </a:solidFill>
                <a:latin typeface="Consolas" pitchFamily="34" charset="0"/>
                <a:ea typeface="Consolas" pitchFamily="34" charset="-122"/>
                <a:cs typeface="Consolas" pitchFamily="34" charset="-120"/>
              </a:rPr>
              <a:t>pm-config-deploy</a:t>
            </a:r>
            <a:endParaRPr lang="en-US" sz="900" dirty="0"/>
          </a:p>
        </p:txBody>
      </p:sp>
      <p:sp>
        <p:nvSpPr>
          <p:cNvPr id="20" name="Shape 18"/>
          <p:cNvSpPr/>
          <p:nvPr/>
        </p:nvSpPr>
        <p:spPr>
          <a:xfrm>
            <a:off x="6611112" y="2011680"/>
            <a:ext cx="4937760" cy="3566160"/>
          </a:xfrm>
          <a:prstGeom prst="roundRect">
            <a:avLst>
              <a:gd name="adj" fmla="val 1538"/>
            </a:avLst>
          </a:prstGeom>
          <a:solidFill>
            <a:srgbClr val="252B33"/>
          </a:solidFill>
          <a:ln w="12700">
            <a:solidFill>
              <a:srgbClr val="3B4450"/>
            </a:solidFill>
            <a:prstDash val="solid"/>
          </a:ln>
        </p:spPr>
        <p:txBody>
          <a:bodyPr/>
          <a:lstStyle/>
          <a:p>
            <a:endParaRPr lang="en-SE"/>
          </a:p>
        </p:txBody>
      </p:sp>
      <p:sp>
        <p:nvSpPr>
          <p:cNvPr id="21" name="Shape 19"/>
          <p:cNvSpPr/>
          <p:nvPr/>
        </p:nvSpPr>
        <p:spPr>
          <a:xfrm>
            <a:off x="6612026" y="2012594"/>
            <a:ext cx="4935931" cy="50292"/>
          </a:xfrm>
          <a:prstGeom prst="rect">
            <a:avLst/>
          </a:prstGeom>
          <a:solidFill>
            <a:srgbClr val="9B8CFF"/>
          </a:solidFill>
          <a:ln w="12700">
            <a:solidFill>
              <a:srgbClr val="333333"/>
            </a:solidFill>
            <a:prstDash val="solid"/>
          </a:ln>
        </p:spPr>
        <p:txBody>
          <a:bodyPr/>
          <a:lstStyle/>
          <a:p>
            <a:endParaRPr lang="en-SE"/>
          </a:p>
        </p:txBody>
      </p:sp>
      <p:sp>
        <p:nvSpPr>
          <p:cNvPr id="22" name="Text 20"/>
          <p:cNvSpPr/>
          <p:nvPr/>
        </p:nvSpPr>
        <p:spPr>
          <a:xfrm>
            <a:off x="6885432" y="2286000"/>
            <a:ext cx="4389120" cy="384048"/>
          </a:xfrm>
          <a:prstGeom prst="rect">
            <a:avLst/>
          </a:prstGeom>
          <a:noFill/>
          <a:ln/>
        </p:spPr>
        <p:txBody>
          <a:bodyPr wrap="square" lIns="0" tIns="0" rIns="0" bIns="0" rtlCol="0" anchor="ctr"/>
          <a:lstStyle/>
          <a:p>
            <a:pPr marL="0" indent="0">
              <a:buNone/>
            </a:pPr>
            <a:r>
              <a:rPr lang="en-US" sz="1800" b="1" dirty="0">
                <a:solidFill>
                  <a:srgbClr val="9B8CFF"/>
                </a:solidFill>
                <a:latin typeface="Consolas" pitchFamily="34" charset="0"/>
                <a:ea typeface="Consolas" pitchFamily="34" charset="-122"/>
                <a:cs typeface="Consolas" pitchFamily="34" charset="-120"/>
              </a:rPr>
              <a:t>engine_config.json</a:t>
            </a:r>
            <a:endParaRPr lang="en-US" sz="1800" dirty="0"/>
          </a:p>
        </p:txBody>
      </p:sp>
      <p:sp>
        <p:nvSpPr>
          <p:cNvPr id="23" name="Text 21"/>
          <p:cNvSpPr/>
          <p:nvPr/>
        </p:nvSpPr>
        <p:spPr>
          <a:xfrm>
            <a:off x="6885432" y="2688336"/>
            <a:ext cx="4389120" cy="237744"/>
          </a:xfrm>
          <a:prstGeom prst="rect">
            <a:avLst/>
          </a:prstGeom>
          <a:noFill/>
          <a:ln/>
        </p:spPr>
        <p:txBody>
          <a:bodyPr wrap="square" lIns="0" tIns="0" rIns="0" bIns="0" rtlCol="0" anchor="ctr"/>
          <a:lstStyle/>
          <a:p>
            <a:pPr marL="0" indent="0">
              <a:buNone/>
            </a:pPr>
            <a:r>
              <a:rPr lang="en-US" sz="950" b="1" kern="0" spc="180" dirty="0">
                <a:solidFill>
                  <a:srgbClr val="8D97A5"/>
                </a:solidFill>
                <a:latin typeface="Calibri" pitchFamily="34" charset="0"/>
                <a:ea typeface="Calibri" pitchFamily="34" charset="-122"/>
                <a:cs typeface="Calibri" pitchFamily="34" charset="-120"/>
              </a:rPr>
              <a:t>THE FILE THAT RUNS</a:t>
            </a:r>
            <a:endParaRPr lang="en-US" sz="950" dirty="0"/>
          </a:p>
        </p:txBody>
      </p:sp>
      <p:sp>
        <p:nvSpPr>
          <p:cNvPr id="24" name="Shape 22"/>
          <p:cNvSpPr/>
          <p:nvPr/>
        </p:nvSpPr>
        <p:spPr>
          <a:xfrm>
            <a:off x="6885432" y="3191256"/>
            <a:ext cx="82296" cy="82296"/>
          </a:xfrm>
          <a:prstGeom prst="rect">
            <a:avLst/>
          </a:prstGeom>
          <a:solidFill>
            <a:srgbClr val="9B8CFF"/>
          </a:solidFill>
          <a:ln w="12700">
            <a:solidFill>
              <a:srgbClr val="333333"/>
            </a:solidFill>
            <a:prstDash val="solid"/>
          </a:ln>
        </p:spPr>
        <p:txBody>
          <a:bodyPr/>
          <a:lstStyle/>
          <a:p>
            <a:endParaRPr lang="en-SE"/>
          </a:p>
        </p:txBody>
      </p:sp>
      <p:sp>
        <p:nvSpPr>
          <p:cNvPr id="25" name="Text 23"/>
          <p:cNvSpPr/>
          <p:nvPr/>
        </p:nvSpPr>
        <p:spPr>
          <a:xfrm>
            <a:off x="7123176" y="3090672"/>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Lives  </a:t>
            </a:r>
            <a:r>
              <a:rPr lang="en-US" sz="1150" dirty="0">
                <a:solidFill>
                  <a:srgbClr val="C2CAD4"/>
                </a:solidFill>
                <a:latin typeface="Calibri" pitchFamily="34" charset="0"/>
                <a:ea typeface="Calibri" pitchFamily="34" charset="-122"/>
                <a:cs typeface="Calibri" pitchFamily="34" charset="-120"/>
              </a:rPr>
              <a:t>at one fixed path inside the data directory, under ref_data</a:t>
            </a:r>
            <a:endParaRPr lang="en-US" sz="1150" dirty="0"/>
          </a:p>
        </p:txBody>
      </p:sp>
      <p:sp>
        <p:nvSpPr>
          <p:cNvPr id="26" name="Shape 24"/>
          <p:cNvSpPr/>
          <p:nvPr/>
        </p:nvSpPr>
        <p:spPr>
          <a:xfrm>
            <a:off x="6885432" y="3758184"/>
            <a:ext cx="82296" cy="82296"/>
          </a:xfrm>
          <a:prstGeom prst="rect">
            <a:avLst/>
          </a:prstGeom>
          <a:solidFill>
            <a:srgbClr val="9B8CFF"/>
          </a:solidFill>
          <a:ln w="12700">
            <a:solidFill>
              <a:srgbClr val="333333"/>
            </a:solidFill>
            <a:prstDash val="solid"/>
          </a:ln>
        </p:spPr>
        <p:txBody>
          <a:bodyPr/>
          <a:lstStyle/>
          <a:p>
            <a:endParaRPr lang="en-SE"/>
          </a:p>
        </p:txBody>
      </p:sp>
      <p:sp>
        <p:nvSpPr>
          <p:cNvPr id="27" name="Text 25"/>
          <p:cNvSpPr/>
          <p:nvPr/>
        </p:nvSpPr>
        <p:spPr>
          <a:xfrm>
            <a:off x="7123176" y="3657600"/>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Machine  </a:t>
            </a:r>
            <a:r>
              <a:rPr lang="en-US" sz="1150" dirty="0">
                <a:solidFill>
                  <a:srgbClr val="C2CAD4"/>
                </a:solidFill>
                <a:latin typeface="Calibri" pitchFamily="34" charset="0"/>
                <a:ea typeface="Calibri" pitchFamily="34" charset="-122"/>
                <a:cs typeface="Calibri" pitchFamily="34" charset="-120"/>
              </a:rPr>
              <a:t>fully resolved, every default expanded, nothing to interpret</a:t>
            </a:r>
            <a:endParaRPr lang="en-US" sz="1150" dirty="0"/>
          </a:p>
        </p:txBody>
      </p:sp>
      <p:sp>
        <p:nvSpPr>
          <p:cNvPr id="28" name="Shape 26"/>
          <p:cNvSpPr/>
          <p:nvPr/>
        </p:nvSpPr>
        <p:spPr>
          <a:xfrm>
            <a:off x="6885432" y="4325112"/>
            <a:ext cx="82296" cy="82296"/>
          </a:xfrm>
          <a:prstGeom prst="rect">
            <a:avLst/>
          </a:prstGeom>
          <a:solidFill>
            <a:srgbClr val="9B8CFF"/>
          </a:solidFill>
          <a:ln w="12700">
            <a:solidFill>
              <a:srgbClr val="333333"/>
            </a:solidFill>
            <a:prstDash val="solid"/>
          </a:ln>
        </p:spPr>
        <p:txBody>
          <a:bodyPr/>
          <a:lstStyle/>
          <a:p>
            <a:endParaRPr lang="en-SE"/>
          </a:p>
        </p:txBody>
      </p:sp>
      <p:sp>
        <p:nvSpPr>
          <p:cNvPr id="29" name="Text 27"/>
          <p:cNvSpPr/>
          <p:nvPr/>
        </p:nvSpPr>
        <p:spPr>
          <a:xfrm>
            <a:off x="7123176" y="4224528"/>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Complete  </a:t>
            </a:r>
            <a:r>
              <a:rPr lang="en-US" sz="1150" dirty="0">
                <a:solidFill>
                  <a:srgbClr val="C2CAD4"/>
                </a:solidFill>
                <a:latin typeface="Calibri" pitchFamily="34" charset="0"/>
                <a:ea typeface="Calibri" pitchFamily="34" charset="-122"/>
                <a:cs typeface="Calibri" pitchFamily="34" charset="-120"/>
              </a:rPr>
              <a:t>two authored keys compile to nine fully-populated sections</a:t>
            </a:r>
            <a:endParaRPr lang="en-US" sz="1150" dirty="0"/>
          </a:p>
        </p:txBody>
      </p:sp>
      <p:sp>
        <p:nvSpPr>
          <p:cNvPr id="30" name="Shape 28"/>
          <p:cNvSpPr/>
          <p:nvPr/>
        </p:nvSpPr>
        <p:spPr>
          <a:xfrm>
            <a:off x="6885432" y="4892040"/>
            <a:ext cx="82296" cy="82296"/>
          </a:xfrm>
          <a:prstGeom prst="rect">
            <a:avLst/>
          </a:prstGeom>
          <a:solidFill>
            <a:srgbClr val="6BD98A"/>
          </a:solidFill>
          <a:ln w="12700">
            <a:solidFill>
              <a:srgbClr val="333333"/>
            </a:solidFill>
            <a:prstDash val="solid"/>
          </a:ln>
        </p:spPr>
        <p:txBody>
          <a:bodyPr/>
          <a:lstStyle/>
          <a:p>
            <a:endParaRPr lang="en-SE"/>
          </a:p>
        </p:txBody>
      </p:sp>
      <p:sp>
        <p:nvSpPr>
          <p:cNvPr id="31" name="Text 29"/>
          <p:cNvSpPr/>
          <p:nvPr/>
        </p:nvSpPr>
        <p:spPr>
          <a:xfrm>
            <a:off x="7123176" y="4791456"/>
            <a:ext cx="4197096" cy="566928"/>
          </a:xfrm>
          <a:prstGeom prst="rect">
            <a:avLst/>
          </a:prstGeom>
          <a:noFill/>
          <a:ln/>
        </p:spPr>
        <p:txBody>
          <a:bodyPr wrap="square" lIns="0" tIns="0" rIns="0" bIns="0" rtlCol="0" anchor="t"/>
          <a:lstStyle/>
          <a:p>
            <a:pPr marL="0" indent="0">
              <a:lnSpc>
                <a:spcPts val="1518"/>
              </a:lnSpc>
              <a:buNone/>
            </a:pPr>
            <a:r>
              <a:rPr lang="en-US" sz="1150" b="1" dirty="0">
                <a:solidFill>
                  <a:srgbClr val="F1F4F8"/>
                </a:solidFill>
                <a:latin typeface="Calibri" pitchFamily="34" charset="0"/>
                <a:ea typeface="Calibri" pitchFamily="34" charset="-122"/>
                <a:cs typeface="Calibri" pitchFamily="34" charset="-120"/>
              </a:rPr>
              <a:t>Read by  </a:t>
            </a:r>
            <a:r>
              <a:rPr lang="en-US" sz="1150" dirty="0">
                <a:solidFill>
                  <a:srgbClr val="C2CAD4"/>
                </a:solidFill>
                <a:latin typeface="Calibri" pitchFamily="34" charset="0"/>
                <a:ea typeface="Calibri" pitchFamily="34" charset="-122"/>
                <a:cs typeface="Calibri" pitchFamily="34" charset="-120"/>
              </a:rPr>
              <a:t>every running process — and by nothing else</a:t>
            </a:r>
            <a:endParaRPr lang="en-US" sz="1150" dirty="0"/>
          </a:p>
        </p:txBody>
      </p:sp>
      <p:sp>
        <p:nvSpPr>
          <p:cNvPr id="32" name="Shape 30"/>
          <p:cNvSpPr/>
          <p:nvPr/>
        </p:nvSpPr>
        <p:spPr>
          <a:xfrm>
            <a:off x="640080" y="5806440"/>
            <a:ext cx="10911535" cy="640080"/>
          </a:xfrm>
          <a:prstGeom prst="roundRect">
            <a:avLst>
              <a:gd name="adj" fmla="val 8571"/>
            </a:avLst>
          </a:prstGeom>
          <a:solidFill>
            <a:srgbClr val="1B4227"/>
          </a:solidFill>
          <a:ln w="12700">
            <a:solidFill>
              <a:srgbClr val="6BD98A"/>
            </a:solidFill>
            <a:prstDash val="solid"/>
          </a:ln>
        </p:spPr>
        <p:txBody>
          <a:bodyPr/>
          <a:lstStyle/>
          <a:p>
            <a:endParaRPr lang="en-SE"/>
          </a:p>
        </p:txBody>
      </p:sp>
      <p:sp>
        <p:nvSpPr>
          <p:cNvPr id="33" name="Text 31"/>
          <p:cNvSpPr/>
          <p:nvPr/>
        </p:nvSpPr>
        <p:spPr>
          <a:xfrm>
            <a:off x="877824" y="589788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THE CONSEQUENCE</a:t>
            </a:r>
            <a:endParaRPr lang="en-US" sz="950" dirty="0"/>
          </a:p>
        </p:txBody>
      </p:sp>
      <p:sp>
        <p:nvSpPr>
          <p:cNvPr id="34" name="Text 32"/>
          <p:cNvSpPr/>
          <p:nvPr/>
        </p:nvSpPr>
        <p:spPr>
          <a:xfrm>
            <a:off x="877824" y="6153912"/>
            <a:ext cx="10436047" cy="1828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No process accepts a config path. It is therefore not possible to start two of them against different files.</a:t>
            </a:r>
            <a:endParaRPr lang="en-US" sz="1250" dirty="0"/>
          </a:p>
        </p:txBody>
      </p:sp>
      <p:sp>
        <p:nvSpPr>
          <p:cNvPr id="35" name="Text 3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36" name="Text 3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BRIDGE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pm-config-deploy does three things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It is the only route from an authored file to a running exchange — and the reason an unchecked configuration can no longer reach one.</a:t>
            </a:r>
            <a:endParaRPr lang="en-US" sz="1450" dirty="0"/>
          </a:p>
        </p:txBody>
      </p:sp>
      <p:sp>
        <p:nvSpPr>
          <p:cNvPr id="6" name="Shape 4"/>
          <p:cNvSpPr/>
          <p:nvPr/>
        </p:nvSpPr>
        <p:spPr>
          <a:xfrm>
            <a:off x="640080" y="2011680"/>
            <a:ext cx="3344570"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342742"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22960" y="2157984"/>
            <a:ext cx="457200" cy="237744"/>
          </a:xfrm>
          <a:prstGeom prst="rect">
            <a:avLst/>
          </a:prstGeom>
          <a:noFill/>
          <a:ln/>
        </p:spPr>
        <p:txBody>
          <a:bodyPr wrap="square" lIns="0" tIns="0" rIns="0" bIns="0" rtlCol="0" anchor="ctr"/>
          <a:lstStyle/>
          <a:p>
            <a:pPr marL="0" indent="0">
              <a:buNone/>
            </a:pPr>
            <a:r>
              <a:rPr lang="en-US" sz="1000" b="1" dirty="0">
                <a:solidFill>
                  <a:srgbClr val="34D6BE"/>
                </a:solidFill>
                <a:latin typeface="Consolas" pitchFamily="34" charset="0"/>
                <a:ea typeface="Consolas" pitchFamily="34" charset="-122"/>
                <a:cs typeface="Consolas" pitchFamily="34" charset="-120"/>
              </a:rPr>
              <a:t>1</a:t>
            </a:r>
            <a:endParaRPr lang="en-US" sz="1000" dirty="0"/>
          </a:p>
        </p:txBody>
      </p:sp>
      <p:sp>
        <p:nvSpPr>
          <p:cNvPr id="9" name="Text 7"/>
          <p:cNvSpPr/>
          <p:nvPr/>
        </p:nvSpPr>
        <p:spPr>
          <a:xfrm>
            <a:off x="822960"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Validates</a:t>
            </a:r>
            <a:endParaRPr lang="en-US" sz="1350" dirty="0"/>
          </a:p>
        </p:txBody>
      </p:sp>
      <p:sp>
        <p:nvSpPr>
          <p:cNvPr id="10" name="Text 8"/>
          <p:cNvSpPr/>
          <p:nvPr/>
        </p:nvSpPr>
        <p:spPr>
          <a:xfrm>
            <a:off x="822960" y="2724912"/>
            <a:ext cx="2978810" cy="10515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Runs all four verifier layers against the authored file. A configuration nobody checked can no longer reach a running exchange.</a:t>
            </a:r>
            <a:endParaRPr lang="en-US" sz="1050" dirty="0"/>
          </a:p>
        </p:txBody>
      </p:sp>
      <p:sp>
        <p:nvSpPr>
          <p:cNvPr id="11" name="Text 9"/>
          <p:cNvSpPr/>
          <p:nvPr/>
        </p:nvSpPr>
        <p:spPr>
          <a:xfrm>
            <a:off x="4085234" y="269290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4423562" y="2011680"/>
            <a:ext cx="3344570"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4424477" y="2012594"/>
            <a:ext cx="3342742" cy="45720"/>
          </a:xfrm>
          <a:prstGeom prst="rect">
            <a:avLst/>
          </a:prstGeom>
          <a:solidFill>
            <a:srgbClr val="F3B441"/>
          </a:solidFill>
          <a:ln w="12700">
            <a:solidFill>
              <a:srgbClr val="333333"/>
            </a:solidFill>
            <a:prstDash val="solid"/>
          </a:ln>
        </p:spPr>
        <p:txBody>
          <a:bodyPr/>
          <a:lstStyle/>
          <a:p>
            <a:endParaRPr lang="en-SE"/>
          </a:p>
        </p:txBody>
      </p:sp>
      <p:sp>
        <p:nvSpPr>
          <p:cNvPr id="14" name="Text 12"/>
          <p:cNvSpPr/>
          <p:nvPr/>
        </p:nvSpPr>
        <p:spPr>
          <a:xfrm>
            <a:off x="4606442" y="2157984"/>
            <a:ext cx="45720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2</a:t>
            </a:r>
            <a:endParaRPr lang="en-US" sz="1000" dirty="0"/>
          </a:p>
        </p:txBody>
      </p:sp>
      <p:sp>
        <p:nvSpPr>
          <p:cNvPr id="15" name="Text 13"/>
          <p:cNvSpPr/>
          <p:nvPr/>
        </p:nvSpPr>
        <p:spPr>
          <a:xfrm>
            <a:off x="4606442"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Resolves</a:t>
            </a:r>
            <a:endParaRPr lang="en-US" sz="1350" dirty="0"/>
          </a:p>
        </p:txBody>
      </p:sp>
      <p:sp>
        <p:nvSpPr>
          <p:cNvPr id="16" name="Text 14"/>
          <p:cNvSpPr/>
          <p:nvPr/>
        </p:nvSpPr>
        <p:spPr>
          <a:xfrm>
            <a:off x="4606442" y="2724912"/>
            <a:ext cx="2978810" cy="10515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Expands every default exactly once, rather than in the eight loaders that used to hold their own copies and could drift apart.</a:t>
            </a:r>
            <a:endParaRPr lang="en-US" sz="1050" dirty="0"/>
          </a:p>
        </p:txBody>
      </p:sp>
      <p:sp>
        <p:nvSpPr>
          <p:cNvPr id="17" name="Text 15"/>
          <p:cNvSpPr/>
          <p:nvPr/>
        </p:nvSpPr>
        <p:spPr>
          <a:xfrm>
            <a:off x="7868717" y="269290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8207045" y="2011680"/>
            <a:ext cx="3344570"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8207959" y="2012594"/>
            <a:ext cx="3342742" cy="45720"/>
          </a:xfrm>
          <a:prstGeom prst="rect">
            <a:avLst/>
          </a:prstGeom>
          <a:solidFill>
            <a:srgbClr val="9B8CFF"/>
          </a:solidFill>
          <a:ln w="12700">
            <a:solidFill>
              <a:srgbClr val="333333"/>
            </a:solidFill>
            <a:prstDash val="solid"/>
          </a:ln>
        </p:spPr>
        <p:txBody>
          <a:bodyPr/>
          <a:lstStyle/>
          <a:p>
            <a:endParaRPr lang="en-SE"/>
          </a:p>
        </p:txBody>
      </p:sp>
      <p:sp>
        <p:nvSpPr>
          <p:cNvPr id="20" name="Text 18"/>
          <p:cNvSpPr/>
          <p:nvPr/>
        </p:nvSpPr>
        <p:spPr>
          <a:xfrm>
            <a:off x="8389925" y="2157984"/>
            <a:ext cx="457200" cy="237744"/>
          </a:xfrm>
          <a:prstGeom prst="rect">
            <a:avLst/>
          </a:prstGeom>
          <a:noFill/>
          <a:ln/>
        </p:spPr>
        <p:txBody>
          <a:bodyPr wrap="square" lIns="0" tIns="0" rIns="0" bIns="0" rtlCol="0" anchor="ctr"/>
          <a:lstStyle/>
          <a:p>
            <a:pPr marL="0" indent="0">
              <a:buNone/>
            </a:pPr>
            <a:r>
              <a:rPr lang="en-US" sz="1000" b="1" dirty="0">
                <a:solidFill>
                  <a:srgbClr val="9B8CFF"/>
                </a:solidFill>
                <a:latin typeface="Consolas" pitchFamily="34" charset="0"/>
                <a:ea typeface="Consolas" pitchFamily="34" charset="-122"/>
                <a:cs typeface="Consolas" pitchFamily="34" charset="-120"/>
              </a:rPr>
              <a:t>3</a:t>
            </a:r>
            <a:endParaRPr lang="en-US" sz="1000" dirty="0"/>
          </a:p>
        </p:txBody>
      </p:sp>
      <p:sp>
        <p:nvSpPr>
          <p:cNvPr id="21" name="Text 19"/>
          <p:cNvSpPr/>
          <p:nvPr/>
        </p:nvSpPr>
        <p:spPr>
          <a:xfrm>
            <a:off x="8389925" y="2395728"/>
            <a:ext cx="297881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Installs</a:t>
            </a:r>
            <a:endParaRPr lang="en-US" sz="1350" dirty="0"/>
          </a:p>
        </p:txBody>
      </p:sp>
      <p:sp>
        <p:nvSpPr>
          <p:cNvPr id="22" name="Text 20"/>
          <p:cNvSpPr/>
          <p:nvPr/>
        </p:nvSpPr>
        <p:spPr>
          <a:xfrm>
            <a:off x="8389925" y="2724912"/>
            <a:ext cx="2978810" cy="105156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Writes the result atomically, alongside a copy of the source it was built from — so the artifact always carries its own provenance.</a:t>
            </a:r>
            <a:endParaRPr lang="en-US" sz="1050" dirty="0"/>
          </a:p>
        </p:txBody>
      </p:sp>
      <p:sp>
        <p:nvSpPr>
          <p:cNvPr id="23" name="Shape 21"/>
          <p:cNvSpPr/>
          <p:nvPr/>
        </p:nvSpPr>
        <p:spPr>
          <a:xfrm>
            <a:off x="640080" y="4251960"/>
            <a:ext cx="10911535" cy="1348740"/>
          </a:xfrm>
          <a:prstGeom prst="roundRect">
            <a:avLst>
              <a:gd name="adj" fmla="val 3390"/>
            </a:avLst>
          </a:prstGeom>
          <a:solidFill>
            <a:srgbClr val="15181D"/>
          </a:solidFill>
          <a:ln w="12700">
            <a:solidFill>
              <a:srgbClr val="3B4450"/>
            </a:solidFill>
            <a:prstDash val="solid"/>
          </a:ln>
        </p:spPr>
        <p:txBody>
          <a:bodyPr/>
          <a:lstStyle/>
          <a:p>
            <a:endParaRPr lang="en-SE"/>
          </a:p>
        </p:txBody>
      </p:sp>
      <p:sp>
        <p:nvSpPr>
          <p:cNvPr id="24" name="Shape 22"/>
          <p:cNvSpPr/>
          <p:nvPr/>
        </p:nvSpPr>
        <p:spPr>
          <a:xfrm>
            <a:off x="640994" y="4252874"/>
            <a:ext cx="10909706" cy="310896"/>
          </a:xfrm>
          <a:prstGeom prst="rect">
            <a:avLst/>
          </a:prstGeom>
          <a:solidFill>
            <a:srgbClr val="252B33"/>
          </a:solidFill>
          <a:ln w="12700">
            <a:solidFill>
              <a:srgbClr val="333333"/>
            </a:solidFill>
            <a:prstDash val="solid"/>
          </a:ln>
        </p:spPr>
        <p:txBody>
          <a:bodyPr/>
          <a:lstStyle/>
          <a:p>
            <a:endParaRPr lang="en-SE"/>
          </a:p>
        </p:txBody>
      </p:sp>
      <p:sp>
        <p:nvSpPr>
          <p:cNvPr id="25" name="Shape 23"/>
          <p:cNvSpPr/>
          <p:nvPr/>
        </p:nvSpPr>
        <p:spPr>
          <a:xfrm>
            <a:off x="768096" y="4357116"/>
            <a:ext cx="100584" cy="100584"/>
          </a:xfrm>
          <a:prstGeom prst="ellipse">
            <a:avLst/>
          </a:prstGeom>
          <a:solidFill>
            <a:srgbClr val="FF7A6B"/>
          </a:solidFill>
          <a:ln w="12700">
            <a:solidFill>
              <a:srgbClr val="333333"/>
            </a:solidFill>
            <a:prstDash val="solid"/>
          </a:ln>
        </p:spPr>
        <p:txBody>
          <a:bodyPr/>
          <a:lstStyle/>
          <a:p>
            <a:endParaRPr lang="en-SE"/>
          </a:p>
        </p:txBody>
      </p:sp>
      <p:sp>
        <p:nvSpPr>
          <p:cNvPr id="26" name="Shape 24"/>
          <p:cNvSpPr/>
          <p:nvPr/>
        </p:nvSpPr>
        <p:spPr>
          <a:xfrm>
            <a:off x="941832" y="4357116"/>
            <a:ext cx="100584" cy="100584"/>
          </a:xfrm>
          <a:prstGeom prst="ellipse">
            <a:avLst/>
          </a:prstGeom>
          <a:solidFill>
            <a:srgbClr val="F3B441"/>
          </a:solidFill>
          <a:ln w="12700">
            <a:solidFill>
              <a:srgbClr val="333333"/>
            </a:solidFill>
            <a:prstDash val="solid"/>
          </a:ln>
        </p:spPr>
        <p:txBody>
          <a:bodyPr/>
          <a:lstStyle/>
          <a:p>
            <a:endParaRPr lang="en-SE"/>
          </a:p>
        </p:txBody>
      </p:sp>
      <p:sp>
        <p:nvSpPr>
          <p:cNvPr id="27" name="Shape 25"/>
          <p:cNvSpPr/>
          <p:nvPr/>
        </p:nvSpPr>
        <p:spPr>
          <a:xfrm>
            <a:off x="1115568" y="4357116"/>
            <a:ext cx="100584" cy="100584"/>
          </a:xfrm>
          <a:prstGeom prst="ellipse">
            <a:avLst/>
          </a:prstGeom>
          <a:solidFill>
            <a:srgbClr val="6BD98A"/>
          </a:solidFill>
          <a:ln w="12700">
            <a:solidFill>
              <a:srgbClr val="333333"/>
            </a:solidFill>
            <a:prstDash val="solid"/>
          </a:ln>
        </p:spPr>
        <p:txBody>
          <a:bodyPr/>
          <a:lstStyle/>
          <a:p>
            <a:endParaRPr lang="en-SE"/>
          </a:p>
        </p:txBody>
      </p:sp>
      <p:sp>
        <p:nvSpPr>
          <p:cNvPr id="28" name="Text 26"/>
          <p:cNvSpPr/>
          <p:nvPr/>
        </p:nvSpPr>
        <p:spPr>
          <a:xfrm>
            <a:off x="1353312" y="4270248"/>
            <a:ext cx="10088575"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terminal</a:t>
            </a:r>
            <a:endParaRPr lang="en-US" sz="950" dirty="0"/>
          </a:p>
        </p:txBody>
      </p:sp>
      <p:sp>
        <p:nvSpPr>
          <p:cNvPr id="29" name="Text 27"/>
          <p:cNvSpPr/>
          <p:nvPr/>
        </p:nvSpPr>
        <p:spPr>
          <a:xfrm>
            <a:off x="841248" y="4617720"/>
            <a:ext cx="10545775" cy="891540"/>
          </a:xfrm>
          <a:prstGeom prst="rect">
            <a:avLst/>
          </a:prstGeom>
          <a:noFill/>
          <a:ln/>
        </p:spPr>
        <p:txBody>
          <a:bodyPr wrap="square" lIns="0" tIns="0" rIns="0" bIns="0" rtlCol="0" anchor="t"/>
          <a:lstStyle/>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pm-config-deploy my_config.yaml          # validate, compile and install</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pm-config-deploy --check my_config.yaml  # validate only, install nothing</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pm-config-deploy --show                  # where do the deployed files live?</a:t>
            </a:r>
            <a:endParaRPr lang="en-US" sz="1250" dirty="0"/>
          </a:p>
        </p:txBody>
      </p:sp>
      <p:sp>
        <p:nvSpPr>
          <p:cNvPr id="30" name="Shape 28"/>
          <p:cNvSpPr/>
          <p:nvPr/>
        </p:nvSpPr>
        <p:spPr>
          <a:xfrm>
            <a:off x="640080" y="5715000"/>
            <a:ext cx="10911535" cy="685800"/>
          </a:xfrm>
          <a:prstGeom prst="roundRect">
            <a:avLst>
              <a:gd name="adj" fmla="val 8000"/>
            </a:avLst>
          </a:prstGeom>
          <a:solidFill>
            <a:srgbClr val="4A3714"/>
          </a:solidFill>
          <a:ln w="12700">
            <a:solidFill>
              <a:srgbClr val="F3B441"/>
            </a:solidFill>
            <a:prstDash val="solid"/>
          </a:ln>
        </p:spPr>
        <p:txBody>
          <a:bodyPr/>
          <a:lstStyle/>
          <a:p>
            <a:endParaRPr lang="en-SE"/>
          </a:p>
        </p:txBody>
      </p:sp>
      <p:sp>
        <p:nvSpPr>
          <p:cNvPr id="31" name="Text 29"/>
          <p:cNvSpPr/>
          <p:nvPr/>
        </p:nvSpPr>
        <p:spPr>
          <a:xfrm>
            <a:off x="877824" y="580644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DEPLOYING DOES NOT RESTART ANYTHING</a:t>
            </a:r>
            <a:endParaRPr lang="en-US" sz="950" dirty="0"/>
          </a:p>
        </p:txBody>
      </p:sp>
      <p:sp>
        <p:nvSpPr>
          <p:cNvPr id="32" name="Text 30"/>
          <p:cNvSpPr/>
          <p:nvPr/>
        </p:nvSpPr>
        <p:spPr>
          <a:xfrm>
            <a:off x="877824" y="606247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Deployment replaces the running configuration but does not disturb live processes. Restart them to pick it up.</a:t>
            </a:r>
            <a:endParaRPr lang="en-US" sz="1250" dirty="0"/>
          </a:p>
        </p:txBody>
      </p:sp>
      <p:sp>
        <p:nvSpPr>
          <p:cNvPr id="33" name="Text 3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34" name="Text 3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WHAT COMPILATION PRODUCES</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Two keys in, nine resolved sections out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artifact is not a reformatted copy of your YAML. It is the complete, expanded state of the exchange.</a:t>
            </a:r>
            <a:endParaRPr lang="en-US" sz="1450" dirty="0"/>
          </a:p>
        </p:txBody>
      </p:sp>
      <p:sp>
        <p:nvSpPr>
          <p:cNvPr id="6" name="Shape 4"/>
          <p:cNvSpPr/>
          <p:nvPr/>
        </p:nvSpPr>
        <p:spPr>
          <a:xfrm>
            <a:off x="640080" y="2057400"/>
            <a:ext cx="4572000" cy="2130552"/>
          </a:xfrm>
          <a:prstGeom prst="roundRect">
            <a:avLst>
              <a:gd name="adj" fmla="val 2146"/>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58314"/>
            <a:ext cx="457017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6255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6255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6255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75688"/>
            <a:ext cx="374904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what you wrote</a:t>
            </a:r>
            <a:endParaRPr lang="en-US" sz="950" dirty="0"/>
          </a:p>
        </p:txBody>
      </p:sp>
      <p:sp>
        <p:nvSpPr>
          <p:cNvPr id="12" name="Text 10"/>
          <p:cNvSpPr/>
          <p:nvPr/>
        </p:nvSpPr>
        <p:spPr>
          <a:xfrm>
            <a:off x="841248" y="2423160"/>
            <a:ext cx="4206240" cy="1673352"/>
          </a:xfrm>
          <a:prstGeom prst="rect">
            <a:avLst/>
          </a:prstGeom>
          <a:noFill/>
          <a:ln/>
        </p:spPr>
        <p:txBody>
          <a:bodyPr wrap="square" lIns="0" tIns="0" rIns="0" bIns="0" rtlCol="0" anchor="t"/>
          <a:lstStyle/>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symbols:</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AAPL:</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tick_decimals: 2</a:t>
            </a:r>
            <a:endParaRPr lang="en-US" sz="1250" dirty="0"/>
          </a:p>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gateways:</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alf:</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 id: TRADER01</a:t>
            </a:r>
            <a:endParaRPr lang="en-US" sz="1250" dirty="0"/>
          </a:p>
        </p:txBody>
      </p:sp>
      <p:sp>
        <p:nvSpPr>
          <p:cNvPr id="13" name="Text 11"/>
          <p:cNvSpPr/>
          <p:nvPr/>
        </p:nvSpPr>
        <p:spPr>
          <a:xfrm>
            <a:off x="4892040" y="3246120"/>
            <a:ext cx="1371600" cy="365760"/>
          </a:xfrm>
          <a:prstGeom prst="rect">
            <a:avLst/>
          </a:prstGeom>
          <a:noFill/>
          <a:ln/>
        </p:spPr>
        <p:txBody>
          <a:bodyPr wrap="square" lIns="0" tIns="0" rIns="0" bIns="0" rtlCol="0" anchor="ctr"/>
          <a:lstStyle/>
          <a:p>
            <a:pPr marL="0" indent="0" algn="ctr">
              <a:buNone/>
            </a:pPr>
            <a:r>
              <a:rPr lang="en-US" sz="1100" i="1" dirty="0">
                <a:solidFill>
                  <a:srgbClr val="8D97A5"/>
                </a:solidFill>
                <a:latin typeface="Calibri" pitchFamily="34" charset="0"/>
                <a:ea typeface="Calibri" pitchFamily="34" charset="-122"/>
                <a:cs typeface="Calibri" pitchFamily="34" charset="-120"/>
              </a:rPr>
              <a:t>compiles to</a:t>
            </a:r>
            <a:endParaRPr lang="en-US" sz="1100" dirty="0"/>
          </a:p>
        </p:txBody>
      </p:sp>
      <p:sp>
        <p:nvSpPr>
          <p:cNvPr id="14" name="Text 12"/>
          <p:cNvSpPr/>
          <p:nvPr/>
        </p:nvSpPr>
        <p:spPr>
          <a:xfrm>
            <a:off x="4892040" y="2834640"/>
            <a:ext cx="1371600" cy="457200"/>
          </a:xfrm>
          <a:prstGeom prst="rect">
            <a:avLst/>
          </a:prstGeom>
          <a:noFill/>
          <a:ln/>
        </p:spPr>
        <p:txBody>
          <a:bodyPr wrap="square" lIns="0" tIns="0" rIns="0" bIns="0" rtlCol="0" anchor="ctr"/>
          <a:lstStyle/>
          <a:p>
            <a:pPr marL="0" indent="0" algn="ctr">
              <a:buNone/>
            </a:pPr>
            <a:r>
              <a:rPr lang="en-US" sz="3200" dirty="0">
                <a:solidFill>
                  <a:srgbClr val="3B4450"/>
                </a:solidFill>
                <a:latin typeface="Trebuchet MS" pitchFamily="34" charset="0"/>
                <a:ea typeface="Trebuchet MS" pitchFamily="34" charset="-122"/>
                <a:cs typeface="Trebuchet MS" pitchFamily="34" charset="-120"/>
              </a:rPr>
              <a:t>›</a:t>
            </a:r>
            <a:endParaRPr lang="en-US" sz="3200" dirty="0"/>
          </a:p>
        </p:txBody>
      </p:sp>
      <p:sp>
        <p:nvSpPr>
          <p:cNvPr id="15" name="Shape 13"/>
          <p:cNvSpPr/>
          <p:nvPr/>
        </p:nvSpPr>
        <p:spPr>
          <a:xfrm>
            <a:off x="6400800" y="20574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16" name="Text 14"/>
          <p:cNvSpPr/>
          <p:nvPr/>
        </p:nvSpPr>
        <p:spPr>
          <a:xfrm>
            <a:off x="6400800" y="20574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symbols</a:t>
            </a:r>
            <a:endParaRPr lang="en-US" sz="1050" dirty="0"/>
          </a:p>
        </p:txBody>
      </p:sp>
      <p:sp>
        <p:nvSpPr>
          <p:cNvPr id="17" name="Shape 15"/>
          <p:cNvSpPr/>
          <p:nvPr/>
        </p:nvSpPr>
        <p:spPr>
          <a:xfrm>
            <a:off x="9052560" y="20574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18" name="Text 16"/>
          <p:cNvSpPr/>
          <p:nvPr/>
        </p:nvSpPr>
        <p:spPr>
          <a:xfrm>
            <a:off x="9052560" y="20574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gateways</a:t>
            </a:r>
            <a:endParaRPr lang="en-US" sz="1050" dirty="0"/>
          </a:p>
        </p:txBody>
      </p:sp>
      <p:sp>
        <p:nvSpPr>
          <p:cNvPr id="19" name="Shape 17"/>
          <p:cNvSpPr/>
          <p:nvPr/>
        </p:nvSpPr>
        <p:spPr>
          <a:xfrm>
            <a:off x="6400800" y="25146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20" name="Text 18"/>
          <p:cNvSpPr/>
          <p:nvPr/>
        </p:nvSpPr>
        <p:spPr>
          <a:xfrm>
            <a:off x="6400800" y="25146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engine flags</a:t>
            </a:r>
            <a:endParaRPr lang="en-US" sz="1050" dirty="0"/>
          </a:p>
        </p:txBody>
      </p:sp>
      <p:sp>
        <p:nvSpPr>
          <p:cNvPr id="21" name="Shape 19"/>
          <p:cNvSpPr/>
          <p:nvPr/>
        </p:nvSpPr>
        <p:spPr>
          <a:xfrm>
            <a:off x="9052560" y="25146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22" name="Text 20"/>
          <p:cNvSpPr/>
          <p:nvPr/>
        </p:nvSpPr>
        <p:spPr>
          <a:xfrm>
            <a:off x="9052560" y="25146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risk_controls</a:t>
            </a:r>
            <a:endParaRPr lang="en-US" sz="1050" dirty="0"/>
          </a:p>
        </p:txBody>
      </p:sp>
      <p:sp>
        <p:nvSpPr>
          <p:cNvPr id="23" name="Shape 21"/>
          <p:cNvSpPr/>
          <p:nvPr/>
        </p:nvSpPr>
        <p:spPr>
          <a:xfrm>
            <a:off x="6400800" y="29718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24" name="Text 22"/>
          <p:cNvSpPr/>
          <p:nvPr/>
        </p:nvSpPr>
        <p:spPr>
          <a:xfrm>
            <a:off x="6400800" y="29718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circuit_breaker_defaults</a:t>
            </a:r>
            <a:endParaRPr lang="en-US" sz="1050" dirty="0"/>
          </a:p>
        </p:txBody>
      </p:sp>
      <p:sp>
        <p:nvSpPr>
          <p:cNvPr id="25" name="Shape 23"/>
          <p:cNvSpPr/>
          <p:nvPr/>
        </p:nvSpPr>
        <p:spPr>
          <a:xfrm>
            <a:off x="9052560" y="29718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26" name="Text 24"/>
          <p:cNvSpPr/>
          <p:nvPr/>
        </p:nvSpPr>
        <p:spPr>
          <a:xfrm>
            <a:off x="9052560" y="29718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mm_obligation_defaults</a:t>
            </a:r>
            <a:endParaRPr lang="en-US" sz="1050" dirty="0"/>
          </a:p>
        </p:txBody>
      </p:sp>
      <p:sp>
        <p:nvSpPr>
          <p:cNvPr id="27" name="Shape 25"/>
          <p:cNvSpPr/>
          <p:nvPr/>
        </p:nvSpPr>
        <p:spPr>
          <a:xfrm>
            <a:off x="6400800" y="34290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28" name="Text 26"/>
          <p:cNvSpPr/>
          <p:nvPr/>
        </p:nvSpPr>
        <p:spPr>
          <a:xfrm>
            <a:off x="6400800" y="34290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schedule</a:t>
            </a:r>
            <a:endParaRPr lang="en-US" sz="1050" dirty="0"/>
          </a:p>
        </p:txBody>
      </p:sp>
      <p:sp>
        <p:nvSpPr>
          <p:cNvPr id="29" name="Shape 27"/>
          <p:cNvSpPr/>
          <p:nvPr/>
        </p:nvSpPr>
        <p:spPr>
          <a:xfrm>
            <a:off x="9052560" y="34290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30" name="Text 28"/>
          <p:cNvSpPr/>
          <p:nvPr/>
        </p:nvSpPr>
        <p:spPr>
          <a:xfrm>
            <a:off x="9052560" y="3429000"/>
            <a:ext cx="2487168" cy="365760"/>
          </a:xfrm>
          <a:prstGeom prst="rect">
            <a:avLst/>
          </a:prstGeom>
          <a:noFill/>
          <a:ln/>
        </p:spPr>
        <p:txBody>
          <a:bodyPr wrap="square" lIns="0" tIns="0" rIns="0" bIns="0" rtlCol="0" anchor="ctr"/>
          <a:lstStyle/>
          <a:p>
            <a:pPr marL="0" indent="0" algn="ctr">
              <a:buNone/>
            </a:pPr>
            <a:r>
              <a:rPr lang="en-US" sz="1050" dirty="0">
                <a:solidFill>
                  <a:srgbClr val="9B8CFF"/>
                </a:solidFill>
                <a:latin typeface="Consolas" pitchFamily="34" charset="0"/>
                <a:ea typeface="Consolas" pitchFamily="34" charset="-122"/>
                <a:cs typeface="Consolas" pitchFamily="34" charset="-120"/>
              </a:rPr>
              <a:t>market_data_gateway</a:t>
            </a:r>
            <a:endParaRPr lang="en-US" sz="1050" dirty="0"/>
          </a:p>
        </p:txBody>
      </p:sp>
      <p:sp>
        <p:nvSpPr>
          <p:cNvPr id="31" name="Shape 29"/>
          <p:cNvSpPr/>
          <p:nvPr/>
        </p:nvSpPr>
        <p:spPr>
          <a:xfrm>
            <a:off x="6400800" y="3886200"/>
            <a:ext cx="2487168" cy="365760"/>
          </a:xfrm>
          <a:prstGeom prst="roundRect">
            <a:avLst>
              <a:gd name="adj" fmla="val 12500"/>
            </a:avLst>
          </a:prstGeom>
          <a:solidFill>
            <a:srgbClr val="252B33"/>
          </a:solidFill>
          <a:ln w="11430">
            <a:solidFill>
              <a:srgbClr val="9B8CFF"/>
            </a:solidFill>
            <a:prstDash val="solid"/>
          </a:ln>
        </p:spPr>
        <p:txBody>
          <a:bodyPr/>
          <a:lstStyle/>
          <a:p>
            <a:endParaRPr lang="en-SE"/>
          </a:p>
        </p:txBody>
      </p:sp>
      <p:sp>
        <p:nvSpPr>
          <p:cNvPr id="32" name="Text 30"/>
          <p:cNvSpPr/>
          <p:nvPr/>
        </p:nvSpPr>
        <p:spPr>
          <a:xfrm>
            <a:off x="6400800" y="3886200"/>
            <a:ext cx="2487168" cy="365760"/>
          </a:xfrm>
          <a:prstGeom prst="rect">
            <a:avLst/>
          </a:prstGeom>
          <a:noFill/>
          <a:ln/>
        </p:spPr>
        <p:txBody>
          <a:bodyPr wrap="square" lIns="0" tIns="0" rIns="0" bIns="0" rtlCol="0" anchor="ctr"/>
          <a:lstStyle/>
          <a:p>
            <a:pPr marL="0" indent="0" algn="ctr">
              <a:buNone/>
            </a:pPr>
            <a:r>
              <a:rPr lang="en-US" sz="1050" dirty="0">
                <a:solidFill>
                  <a:srgbClr val="8D97A5"/>
                </a:solidFill>
                <a:latin typeface="Consolas" pitchFamily="34" charset="0"/>
                <a:ea typeface="Consolas" pitchFamily="34" charset="-122"/>
                <a:cs typeface="Consolas" pitchFamily="34" charset="-120"/>
              </a:rPr>
              <a:t>…and every other block</a:t>
            </a:r>
            <a:endParaRPr lang="en-US" sz="1050" dirty="0"/>
          </a:p>
        </p:txBody>
      </p:sp>
      <p:sp>
        <p:nvSpPr>
          <p:cNvPr id="33" name="Shape 31"/>
          <p:cNvSpPr/>
          <p:nvPr/>
        </p:nvSpPr>
        <p:spPr>
          <a:xfrm>
            <a:off x="640080" y="4434840"/>
            <a:ext cx="10911535" cy="822960"/>
          </a:xfrm>
          <a:prstGeom prst="roundRect">
            <a:avLst>
              <a:gd name="adj" fmla="val 6667"/>
            </a:avLst>
          </a:prstGeom>
          <a:solidFill>
            <a:srgbClr val="2E2A52"/>
          </a:solidFill>
          <a:ln w="12700">
            <a:solidFill>
              <a:srgbClr val="9B8CFF"/>
            </a:solidFill>
            <a:prstDash val="solid"/>
          </a:ln>
        </p:spPr>
        <p:txBody>
          <a:bodyPr/>
          <a:lstStyle/>
          <a:p>
            <a:endParaRPr lang="en-SE"/>
          </a:p>
        </p:txBody>
      </p:sp>
      <p:sp>
        <p:nvSpPr>
          <p:cNvPr id="34" name="Text 32"/>
          <p:cNvSpPr/>
          <p:nvPr/>
        </p:nvSpPr>
        <p:spPr>
          <a:xfrm>
            <a:off x="877824" y="452628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THE POINT OF THE EXPANSION</a:t>
            </a:r>
            <a:endParaRPr lang="en-US" sz="950" dirty="0"/>
          </a:p>
        </p:txBody>
      </p:sp>
      <p:sp>
        <p:nvSpPr>
          <p:cNvPr id="35" name="Text 33"/>
          <p:cNvSpPr/>
          <p:nvPr/>
        </p:nvSpPr>
        <p:spPr>
          <a:xfrm>
            <a:off x="877824" y="4782312"/>
            <a:ext cx="10436047" cy="3657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market_data_gateway block you never wrote still arrives with all of its fields populated. That is what lets each process deserialise a section rather than decide what it should have been.</a:t>
            </a:r>
            <a:endParaRPr lang="en-US" sz="1250" dirty="0"/>
          </a:p>
        </p:txBody>
      </p:sp>
      <p:sp>
        <p:nvSpPr>
          <p:cNvPr id="36" name="Shape 34"/>
          <p:cNvSpPr/>
          <p:nvPr/>
        </p:nvSpPr>
        <p:spPr>
          <a:xfrm>
            <a:off x="640080" y="5440680"/>
            <a:ext cx="10911535" cy="822960"/>
          </a:xfrm>
          <a:prstGeom prst="roundRect">
            <a:avLst>
              <a:gd name="adj" fmla="val 6667"/>
            </a:avLst>
          </a:prstGeom>
          <a:solidFill>
            <a:srgbClr val="13463F"/>
          </a:solidFill>
          <a:ln w="12700">
            <a:solidFill>
              <a:srgbClr val="34D6BE"/>
            </a:solidFill>
            <a:prstDash val="solid"/>
          </a:ln>
        </p:spPr>
        <p:txBody>
          <a:bodyPr/>
          <a:lstStyle/>
          <a:p>
            <a:endParaRPr lang="en-SE"/>
          </a:p>
        </p:txBody>
      </p:sp>
      <p:sp>
        <p:nvSpPr>
          <p:cNvPr id="37" name="Text 35"/>
          <p:cNvSpPr/>
          <p:nvPr/>
        </p:nvSpPr>
        <p:spPr>
          <a:xfrm>
            <a:off x="877824" y="553212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SO WHY NOT JUST READ THE YAML?</a:t>
            </a:r>
            <a:endParaRPr lang="en-US" sz="950" dirty="0"/>
          </a:p>
        </p:txBody>
      </p:sp>
      <p:sp>
        <p:nvSpPr>
          <p:cNvPr id="38" name="Text 36"/>
          <p:cNvSpPr/>
          <p:nvPr/>
        </p:nvSpPr>
        <p:spPr>
          <a:xfrm>
            <a:off x="877824" y="5788152"/>
            <a:ext cx="10436047" cy="3657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Because your YAML is incomplete by design. Somebody has to fill in the other ninety percent — and if that somebody is eight separate loaders, they will eventually disagree.</a:t>
            </a:r>
            <a:endParaRPr lang="en-US" sz="1250" dirty="0"/>
          </a:p>
        </p:txBody>
      </p:sp>
      <p:sp>
        <p:nvSpPr>
          <p:cNvPr id="39" name="Text 3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40" name="Text 3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PROVENANCE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artifact records what it is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compiled file carries a meta block describing where it came from and what built it.</a:t>
            </a:r>
            <a:endParaRPr lang="en-US" sz="1450" dirty="0"/>
          </a:p>
        </p:txBody>
      </p:sp>
      <p:sp>
        <p:nvSpPr>
          <p:cNvPr id="6" name="Shape 4"/>
          <p:cNvSpPr/>
          <p:nvPr/>
        </p:nvSpPr>
        <p:spPr>
          <a:xfrm>
            <a:off x="640080" y="2011680"/>
            <a:ext cx="5943600" cy="2651760"/>
          </a:xfrm>
          <a:prstGeom prst="roundRect">
            <a:avLst>
              <a:gd name="adj" fmla="val 1724"/>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594177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512064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engine_config.json</a:t>
            </a:r>
            <a:endParaRPr lang="en-US" sz="950" dirty="0"/>
          </a:p>
        </p:txBody>
      </p:sp>
      <p:sp>
        <p:nvSpPr>
          <p:cNvPr id="12" name="Text 10"/>
          <p:cNvSpPr/>
          <p:nvPr/>
        </p:nvSpPr>
        <p:spPr>
          <a:xfrm>
            <a:off x="841248" y="2377440"/>
            <a:ext cx="5577840" cy="2194560"/>
          </a:xfrm>
          <a:prstGeom prst="rect">
            <a:avLst/>
          </a:prstGeom>
          <a:noFill/>
          <a:ln/>
        </p:spPr>
        <p:txBody>
          <a:bodyPr wrap="square" lIns="0" tIns="0" rIns="0" bIns="0" rtlCol="0" anchor="t"/>
          <a:lstStyle/>
          <a:p>
            <a:pPr marL="0" indent="0">
              <a:lnSpc>
                <a:spcPts val="1650"/>
              </a:lnSpc>
              <a:buNone/>
            </a:pPr>
            <a:r>
              <a:rPr lang="en-US" sz="1250" dirty="0">
                <a:solidFill>
                  <a:srgbClr val="F1F4F8"/>
                </a:solidFill>
                <a:latin typeface="Consolas" pitchFamily="34" charset="0"/>
                <a:ea typeface="Consolas" pitchFamily="34" charset="-122"/>
                <a:cs typeface="Consolas" pitchFamily="34" charset="-120"/>
              </a:rPr>
              <a:t>"meta": {</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"schema_version": 3,</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"compiler_version": "0.17.0",</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"compiled_at": "2026-07-30T16:43:18.000Z",</a:t>
            </a:r>
            <a:endParaRPr lang="en-US" sz="1250" dirty="0"/>
          </a:p>
          <a:p>
            <a:pPr marL="0" indent="0">
              <a:lnSpc>
                <a:spcPts val="1650"/>
              </a:lnSpc>
              <a:buNone/>
            </a:pPr>
            <a:r>
              <a:rPr lang="en-US" sz="1250" dirty="0">
                <a:solidFill>
                  <a:srgbClr val="C2CAD4"/>
                </a:solidFill>
                <a:latin typeface="Consolas" pitchFamily="34" charset="0"/>
                <a:ea typeface="Consolas" pitchFamily="34" charset="-122"/>
                <a:cs typeface="Consolas" pitchFamily="34" charset="-120"/>
              </a:rPr>
              <a:t>  "source_path": "/Users/you/course/engine_config.yaml",</a:t>
            </a:r>
            <a:endParaRPr lang="en-US" sz="1250" dirty="0"/>
          </a:p>
          <a:p>
            <a:pPr marL="0" indent="0">
              <a:lnSpc>
                <a:spcPts val="1650"/>
              </a:lnSpc>
              <a:buNone/>
            </a:pPr>
            <a:r>
              <a:rPr lang="en-US" sz="1250" dirty="0">
                <a:solidFill>
                  <a:srgbClr val="F3B441"/>
                </a:solidFill>
                <a:latin typeface="Consolas" pitchFamily="34" charset="0"/>
                <a:ea typeface="Consolas" pitchFamily="34" charset="-122"/>
                <a:cs typeface="Consolas" pitchFamily="34" charset="-120"/>
              </a:rPr>
              <a:t>  "source_sha256": "e3bc2f14cf5c10da...",</a:t>
            </a:r>
            <a:endParaRPr lang="en-US" sz="1250" dirty="0"/>
          </a:p>
          <a:p>
            <a:pPr marL="0" indent="0">
              <a:lnSpc>
                <a:spcPts val="1650"/>
              </a:lnSpc>
              <a:buNone/>
            </a:pPr>
            <a:r>
              <a:rPr lang="en-US" sz="1250" dirty="0">
                <a:solidFill>
                  <a:srgbClr val="34D6BE"/>
                </a:solidFill>
                <a:latin typeface="Consolas" pitchFamily="34" charset="0"/>
                <a:ea typeface="Consolas" pitchFamily="34" charset="-122"/>
                <a:cs typeface="Consolas" pitchFamily="34" charset="-120"/>
              </a:rPr>
              <a:t>  "content_sha256": "87be4dc0b9b645cb..."</a:t>
            </a:r>
            <a:endParaRPr lang="en-US" sz="1250" dirty="0"/>
          </a:p>
          <a:p>
            <a:pPr marL="0" indent="0">
              <a:lnSpc>
                <a:spcPts val="1650"/>
              </a:lnSpc>
              <a:buNone/>
            </a:pPr>
            <a:r>
              <a:rPr lang="en-US" sz="1250" dirty="0">
                <a:solidFill>
                  <a:srgbClr val="F1F4F8"/>
                </a:solidFill>
                <a:latin typeface="Consolas" pitchFamily="34" charset="0"/>
                <a:ea typeface="Consolas" pitchFamily="34" charset="-122"/>
                <a:cs typeface="Consolas" pitchFamily="34" charset="-120"/>
              </a:rPr>
              <a:t>}</a:t>
            </a:r>
            <a:endParaRPr lang="en-US" sz="1250" dirty="0"/>
          </a:p>
        </p:txBody>
      </p:sp>
      <p:sp>
        <p:nvSpPr>
          <p:cNvPr id="13" name="Shape 11"/>
          <p:cNvSpPr/>
          <p:nvPr/>
        </p:nvSpPr>
        <p:spPr>
          <a:xfrm>
            <a:off x="6720840" y="2011680"/>
            <a:ext cx="4828032" cy="1600200"/>
          </a:xfrm>
          <a:prstGeom prst="roundRect">
            <a:avLst>
              <a:gd name="adj" fmla="val 3429"/>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721754" y="2012594"/>
            <a:ext cx="4826203" cy="50292"/>
          </a:xfrm>
          <a:prstGeom prst="rect">
            <a:avLst/>
          </a:prstGeom>
          <a:solidFill>
            <a:srgbClr val="F3B441"/>
          </a:solidFill>
          <a:ln w="12700">
            <a:solidFill>
              <a:srgbClr val="333333"/>
            </a:solidFill>
            <a:prstDash val="solid"/>
          </a:ln>
        </p:spPr>
        <p:txBody>
          <a:bodyPr/>
          <a:lstStyle/>
          <a:p>
            <a:endParaRPr lang="en-SE"/>
          </a:p>
        </p:txBody>
      </p:sp>
      <p:sp>
        <p:nvSpPr>
          <p:cNvPr id="15" name="Text 13"/>
          <p:cNvSpPr/>
          <p:nvPr/>
        </p:nvSpPr>
        <p:spPr>
          <a:xfrm>
            <a:off x="6958584" y="2212848"/>
            <a:ext cx="4389120" cy="310896"/>
          </a:xfrm>
          <a:prstGeom prst="rect">
            <a:avLst/>
          </a:prstGeom>
          <a:noFill/>
          <a:ln/>
        </p:spPr>
        <p:txBody>
          <a:bodyPr wrap="square" lIns="0" tIns="0" rIns="0" bIns="0" rtlCol="0" anchor="ctr"/>
          <a:lstStyle/>
          <a:p>
            <a:pPr marL="0" indent="0">
              <a:buNone/>
            </a:pPr>
            <a:r>
              <a:rPr lang="en-US" sz="1400" b="1" dirty="0">
                <a:solidFill>
                  <a:srgbClr val="F3B441"/>
                </a:solidFill>
                <a:latin typeface="Consolas" pitchFamily="34" charset="0"/>
                <a:ea typeface="Consolas" pitchFamily="34" charset="-122"/>
                <a:cs typeface="Consolas" pitchFamily="34" charset="-120"/>
              </a:rPr>
              <a:t>source_sha256</a:t>
            </a:r>
            <a:endParaRPr lang="en-US" sz="1400" dirty="0"/>
          </a:p>
        </p:txBody>
      </p:sp>
      <p:sp>
        <p:nvSpPr>
          <p:cNvPr id="16" name="Text 14"/>
          <p:cNvSpPr/>
          <p:nvPr/>
        </p:nvSpPr>
        <p:spPr>
          <a:xfrm>
            <a:off x="6958584" y="2542032"/>
            <a:ext cx="4389120" cy="292608"/>
          </a:xfrm>
          <a:prstGeom prst="rect">
            <a:avLst/>
          </a:prstGeom>
          <a:noFill/>
          <a:ln/>
        </p:spPr>
        <p:txBody>
          <a:bodyPr wrap="square" lIns="0" tIns="0" rIns="0" bIns="0" rtlCol="0" anchor="ctr"/>
          <a:lstStyle/>
          <a:p>
            <a:pPr marL="0" indent="0">
              <a:buNone/>
            </a:pPr>
            <a:r>
              <a:rPr lang="en-US" sz="1200" i="1" dirty="0">
                <a:solidFill>
                  <a:srgbClr val="F1F4F8"/>
                </a:solidFill>
                <a:latin typeface="Calibri" pitchFamily="34" charset="0"/>
                <a:ea typeface="Calibri" pitchFamily="34" charset="-122"/>
                <a:cs typeface="Calibri" pitchFamily="34" charset="-120"/>
              </a:rPr>
              <a:t>Has the authored file changed since this was built?</a:t>
            </a:r>
            <a:endParaRPr lang="en-US" sz="1200" dirty="0"/>
          </a:p>
        </p:txBody>
      </p:sp>
      <p:sp>
        <p:nvSpPr>
          <p:cNvPr id="17" name="Text 15"/>
          <p:cNvSpPr/>
          <p:nvPr/>
        </p:nvSpPr>
        <p:spPr>
          <a:xfrm>
            <a:off x="6958584" y="2889504"/>
            <a:ext cx="4389120" cy="658368"/>
          </a:xfrm>
          <a:prstGeom prst="rect">
            <a:avLst/>
          </a:prstGeom>
          <a:noFill/>
          <a:ln/>
        </p:spPr>
        <p:txBody>
          <a:bodyPr wrap="square" lIns="0" tIns="0" rIns="0" bIns="0" rtlCol="0" anchor="t"/>
          <a:lstStyle/>
          <a:p>
            <a:pPr marL="0" indent="0">
              <a:lnSpc>
                <a:spcPts val="1600"/>
              </a:lnSpc>
              <a:buNone/>
            </a:pPr>
            <a:r>
              <a:rPr lang="en-US" sz="1150" dirty="0">
                <a:solidFill>
                  <a:srgbClr val="8D97A5"/>
                </a:solidFill>
                <a:latin typeface="Calibri" pitchFamily="34" charset="0"/>
                <a:ea typeface="Calibri" pitchFamily="34" charset="-122"/>
                <a:cs typeface="Calibri" pitchFamily="34" charset="-120"/>
              </a:rPr>
              <a:t>Each process warns at startup when it has — so an edit you forgot to deploy is visible rather than silently ignored.</a:t>
            </a:r>
            <a:endParaRPr lang="en-US" sz="1150" dirty="0"/>
          </a:p>
        </p:txBody>
      </p:sp>
      <p:sp>
        <p:nvSpPr>
          <p:cNvPr id="18" name="Shape 16"/>
          <p:cNvSpPr/>
          <p:nvPr/>
        </p:nvSpPr>
        <p:spPr>
          <a:xfrm>
            <a:off x="6720840" y="3749040"/>
            <a:ext cx="4828032" cy="1600200"/>
          </a:xfrm>
          <a:prstGeom prst="roundRect">
            <a:avLst>
              <a:gd name="adj" fmla="val 3429"/>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721754" y="3749954"/>
            <a:ext cx="4826203" cy="50292"/>
          </a:xfrm>
          <a:prstGeom prst="rect">
            <a:avLst/>
          </a:prstGeom>
          <a:solidFill>
            <a:srgbClr val="34D6BE"/>
          </a:solidFill>
          <a:ln w="12700">
            <a:solidFill>
              <a:srgbClr val="333333"/>
            </a:solidFill>
            <a:prstDash val="solid"/>
          </a:ln>
        </p:spPr>
        <p:txBody>
          <a:bodyPr/>
          <a:lstStyle/>
          <a:p>
            <a:endParaRPr lang="en-SE"/>
          </a:p>
        </p:txBody>
      </p:sp>
      <p:sp>
        <p:nvSpPr>
          <p:cNvPr id="20" name="Text 18"/>
          <p:cNvSpPr/>
          <p:nvPr/>
        </p:nvSpPr>
        <p:spPr>
          <a:xfrm>
            <a:off x="6958584" y="3950208"/>
            <a:ext cx="4389120" cy="310896"/>
          </a:xfrm>
          <a:prstGeom prst="rect">
            <a:avLst/>
          </a:prstGeom>
          <a:noFill/>
          <a:ln/>
        </p:spPr>
        <p:txBody>
          <a:bodyPr wrap="square" lIns="0" tIns="0" rIns="0" bIns="0" rtlCol="0" anchor="ctr"/>
          <a:lstStyle/>
          <a:p>
            <a:pPr marL="0" indent="0">
              <a:buNone/>
            </a:pPr>
            <a:r>
              <a:rPr lang="en-US" sz="1400" b="1" dirty="0">
                <a:solidFill>
                  <a:srgbClr val="34D6BE"/>
                </a:solidFill>
                <a:latin typeface="Consolas" pitchFamily="34" charset="0"/>
                <a:ea typeface="Consolas" pitchFamily="34" charset="-122"/>
                <a:cs typeface="Consolas" pitchFamily="34" charset="-120"/>
              </a:rPr>
              <a:t>content_sha256</a:t>
            </a:r>
            <a:endParaRPr lang="en-US" sz="1400" dirty="0"/>
          </a:p>
        </p:txBody>
      </p:sp>
      <p:sp>
        <p:nvSpPr>
          <p:cNvPr id="21" name="Text 19"/>
          <p:cNvSpPr/>
          <p:nvPr/>
        </p:nvSpPr>
        <p:spPr>
          <a:xfrm>
            <a:off x="6958584" y="4279392"/>
            <a:ext cx="4389120" cy="292608"/>
          </a:xfrm>
          <a:prstGeom prst="rect">
            <a:avLst/>
          </a:prstGeom>
          <a:noFill/>
          <a:ln/>
        </p:spPr>
        <p:txBody>
          <a:bodyPr wrap="square" lIns="0" tIns="0" rIns="0" bIns="0" rtlCol="0" anchor="ctr"/>
          <a:lstStyle/>
          <a:p>
            <a:pPr marL="0" indent="0">
              <a:buNone/>
            </a:pPr>
            <a:r>
              <a:rPr lang="en-US" sz="1200" i="1" dirty="0">
                <a:solidFill>
                  <a:srgbClr val="F1F4F8"/>
                </a:solidFill>
                <a:latin typeface="Calibri" pitchFamily="34" charset="0"/>
                <a:ea typeface="Calibri" pitchFamily="34" charset="-122"/>
                <a:cs typeface="Calibri" pitchFamily="34" charset="-120"/>
              </a:rPr>
              <a:t>Has this file changed since it was built?</a:t>
            </a:r>
            <a:endParaRPr lang="en-US" sz="1200" dirty="0"/>
          </a:p>
        </p:txBody>
      </p:sp>
      <p:sp>
        <p:nvSpPr>
          <p:cNvPr id="22" name="Text 20"/>
          <p:cNvSpPr/>
          <p:nvPr/>
        </p:nvSpPr>
        <p:spPr>
          <a:xfrm>
            <a:off x="6958584" y="4626864"/>
            <a:ext cx="4389120" cy="658368"/>
          </a:xfrm>
          <a:prstGeom prst="rect">
            <a:avLst/>
          </a:prstGeom>
          <a:noFill/>
          <a:ln/>
        </p:spPr>
        <p:txBody>
          <a:bodyPr wrap="square" lIns="0" tIns="0" rIns="0" bIns="0" rtlCol="0" anchor="t"/>
          <a:lstStyle/>
          <a:p>
            <a:pPr marL="0" indent="0">
              <a:lnSpc>
                <a:spcPts val="1600"/>
              </a:lnSpc>
              <a:buNone/>
            </a:pPr>
            <a:r>
              <a:rPr lang="en-US" sz="1150" dirty="0">
                <a:solidFill>
                  <a:srgbClr val="8D97A5"/>
                </a:solidFill>
                <a:latin typeface="Calibri" pitchFamily="34" charset="0"/>
                <a:ea typeface="Calibri" pitchFamily="34" charset="-122"/>
                <a:cs typeface="Calibri" pitchFamily="34" charset="-120"/>
              </a:rPr>
              <a:t>Recomputed on every load. Editing the deployed artifact by hand is refused, naming pm-config-deploy as the proper way to make the change.</a:t>
            </a:r>
            <a:endParaRPr lang="en-US" sz="1150" dirty="0"/>
          </a:p>
        </p:txBody>
      </p:sp>
      <p:sp>
        <p:nvSpPr>
          <p:cNvPr id="23" name="Shape 21"/>
          <p:cNvSpPr/>
          <p:nvPr/>
        </p:nvSpPr>
        <p:spPr>
          <a:xfrm>
            <a:off x="640080" y="5577840"/>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24" name="Text 22"/>
          <p:cNvSpPr/>
          <p:nvPr/>
        </p:nvSpPr>
        <p:spPr>
          <a:xfrm>
            <a:off x="877824" y="5669280"/>
            <a:ext cx="1737360" cy="237744"/>
          </a:xfrm>
          <a:prstGeom prst="rect">
            <a:avLst/>
          </a:prstGeom>
          <a:noFill/>
          <a:ln/>
        </p:spPr>
        <p:txBody>
          <a:bodyPr wrap="square" lIns="0" tIns="0" rIns="0" bIns="0" rtlCol="0" anchor="ctr"/>
          <a:lstStyle/>
          <a:p>
            <a:pPr marL="0" indent="0">
              <a:buNone/>
            </a:pPr>
            <a:r>
              <a:rPr lang="en-US" sz="950" b="1" kern="0" spc="160" dirty="0">
                <a:solidFill>
                  <a:srgbClr val="3B4450"/>
                </a:solidFill>
                <a:latin typeface="Calibri" pitchFamily="34" charset="0"/>
                <a:ea typeface="Calibri" pitchFamily="34" charset="-122"/>
                <a:cs typeface="Calibri" pitchFamily="34" charset="-120"/>
              </a:rPr>
              <a:t>TWO HONEST LIMITS</a:t>
            </a:r>
            <a:endParaRPr lang="en-US" sz="950" dirty="0"/>
          </a:p>
        </p:txBody>
      </p:sp>
      <p:sp>
        <p:nvSpPr>
          <p:cNvPr id="25" name="Text 23"/>
          <p:cNvSpPr/>
          <p:nvPr/>
        </p:nvSpPr>
        <p:spPr>
          <a:xfrm>
            <a:off x="877824" y="5925312"/>
            <a:ext cx="10436047" cy="4572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payload digest detects modification, not malice — it travels inside the file it protects, so anyone who edits the payload can recompute it. And schema_version guards against a build reading an artifact shaped for another: an unknown version is refused with a message telling you to recompile.</a:t>
            </a:r>
            <a:endParaRPr lang="en-US" sz="1250" dirty="0"/>
          </a:p>
        </p:txBody>
      </p:sp>
      <p:sp>
        <p:nvSpPr>
          <p:cNvPr id="26" name="Text 2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27" name="Text 2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05 IN ONE SLIDE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Five reasons the JSON is the reference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If you remember nothing else from this section, remember these.</a:t>
            </a:r>
            <a:endParaRPr lang="en-US" sz="1450" dirty="0"/>
          </a:p>
        </p:txBody>
      </p:sp>
      <p:sp>
        <p:nvSpPr>
          <p:cNvPr id="6" name="Shape 4"/>
          <p:cNvSpPr/>
          <p:nvPr/>
        </p:nvSpPr>
        <p:spPr>
          <a:xfrm>
            <a:off x="640080" y="2011680"/>
            <a:ext cx="10911535" cy="676656"/>
          </a:xfrm>
          <a:prstGeom prst="roundRect">
            <a:avLst>
              <a:gd name="adj" fmla="val 810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11680"/>
            <a:ext cx="50292" cy="676656"/>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96112" y="2011680"/>
            <a:ext cx="365760" cy="676656"/>
          </a:xfrm>
          <a:prstGeom prst="rect">
            <a:avLst/>
          </a:prstGeom>
          <a:noFill/>
          <a:ln/>
        </p:spPr>
        <p:txBody>
          <a:bodyPr wrap="square" lIns="0" tIns="0" rIns="0" bIns="0" rtlCol="0" anchor="ctr"/>
          <a:lstStyle/>
          <a:p>
            <a:pPr marL="0" indent="0">
              <a:buNone/>
            </a:pPr>
            <a:r>
              <a:rPr lang="en-US" sz="1800" b="1" dirty="0">
                <a:solidFill>
                  <a:srgbClr val="34D6BE"/>
                </a:solidFill>
                <a:latin typeface="Trebuchet MS" pitchFamily="34" charset="0"/>
                <a:ea typeface="Trebuchet MS" pitchFamily="34" charset="-122"/>
                <a:cs typeface="Trebuchet MS" pitchFamily="34" charset="-120"/>
              </a:rPr>
              <a:t>1</a:t>
            </a:r>
            <a:endParaRPr lang="en-US" sz="1800" dirty="0"/>
          </a:p>
        </p:txBody>
      </p:sp>
      <p:sp>
        <p:nvSpPr>
          <p:cNvPr id="9" name="Text 7"/>
          <p:cNvSpPr/>
          <p:nvPr/>
        </p:nvSpPr>
        <p:spPr>
          <a:xfrm>
            <a:off x="1371600" y="2011680"/>
            <a:ext cx="3200400" cy="67665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Because it is validated</a:t>
            </a:r>
            <a:endParaRPr lang="en-US" sz="1500" dirty="0"/>
          </a:p>
        </p:txBody>
      </p:sp>
      <p:sp>
        <p:nvSpPr>
          <p:cNvPr id="10" name="Text 8"/>
          <p:cNvSpPr/>
          <p:nvPr/>
        </p:nvSpPr>
        <p:spPr>
          <a:xfrm>
            <a:off x="4663440" y="2011680"/>
            <a:ext cx="6705295" cy="67665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Nothing reaches a running exchange without passing all four verifier layers first.</a:t>
            </a:r>
            <a:endParaRPr lang="en-US" sz="1250" dirty="0"/>
          </a:p>
        </p:txBody>
      </p:sp>
      <p:sp>
        <p:nvSpPr>
          <p:cNvPr id="11" name="Shape 9"/>
          <p:cNvSpPr/>
          <p:nvPr/>
        </p:nvSpPr>
        <p:spPr>
          <a:xfrm>
            <a:off x="640080" y="2798064"/>
            <a:ext cx="10911535" cy="676656"/>
          </a:xfrm>
          <a:prstGeom prst="roundRect">
            <a:avLst>
              <a:gd name="adj" fmla="val 8108"/>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640080" y="2798064"/>
            <a:ext cx="50292" cy="676656"/>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896112" y="2798064"/>
            <a:ext cx="365760" cy="676656"/>
          </a:xfrm>
          <a:prstGeom prst="rect">
            <a:avLst/>
          </a:prstGeom>
          <a:noFill/>
          <a:ln/>
        </p:spPr>
        <p:txBody>
          <a:bodyPr wrap="square" lIns="0" tIns="0" rIns="0" bIns="0" rtlCol="0" anchor="ctr"/>
          <a:lstStyle/>
          <a:p>
            <a:pPr marL="0" indent="0">
              <a:buNone/>
            </a:pPr>
            <a:r>
              <a:rPr lang="en-US" sz="1800" b="1" dirty="0">
                <a:solidFill>
                  <a:srgbClr val="F3B441"/>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1371600" y="2798064"/>
            <a:ext cx="3200400" cy="67665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Because it is complete</a:t>
            </a:r>
            <a:endParaRPr lang="en-US" sz="1500" dirty="0"/>
          </a:p>
        </p:txBody>
      </p:sp>
      <p:sp>
        <p:nvSpPr>
          <p:cNvPr id="15" name="Text 13"/>
          <p:cNvSpPr/>
          <p:nvPr/>
        </p:nvSpPr>
        <p:spPr>
          <a:xfrm>
            <a:off x="4663440" y="2798064"/>
            <a:ext cx="6705295" cy="67665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Every default is resolved exactly once, at compile time, by one piece of code.</a:t>
            </a:r>
            <a:endParaRPr lang="en-US" sz="1250" dirty="0"/>
          </a:p>
        </p:txBody>
      </p:sp>
      <p:sp>
        <p:nvSpPr>
          <p:cNvPr id="16" name="Shape 14"/>
          <p:cNvSpPr/>
          <p:nvPr/>
        </p:nvSpPr>
        <p:spPr>
          <a:xfrm>
            <a:off x="640080" y="3584448"/>
            <a:ext cx="10911535" cy="676656"/>
          </a:xfrm>
          <a:prstGeom prst="roundRect">
            <a:avLst>
              <a:gd name="adj" fmla="val 8108"/>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640080" y="3584448"/>
            <a:ext cx="50292" cy="676656"/>
          </a:xfrm>
          <a:prstGeom prst="rect">
            <a:avLst/>
          </a:prstGeom>
          <a:solidFill>
            <a:srgbClr val="9B8CFF"/>
          </a:solidFill>
          <a:ln w="12700">
            <a:solidFill>
              <a:srgbClr val="333333"/>
            </a:solidFill>
            <a:prstDash val="solid"/>
          </a:ln>
        </p:spPr>
        <p:txBody>
          <a:bodyPr/>
          <a:lstStyle/>
          <a:p>
            <a:endParaRPr lang="en-SE"/>
          </a:p>
        </p:txBody>
      </p:sp>
      <p:sp>
        <p:nvSpPr>
          <p:cNvPr id="18" name="Text 16"/>
          <p:cNvSpPr/>
          <p:nvPr/>
        </p:nvSpPr>
        <p:spPr>
          <a:xfrm>
            <a:off x="896112" y="3584448"/>
            <a:ext cx="365760" cy="676656"/>
          </a:xfrm>
          <a:prstGeom prst="rect">
            <a:avLst/>
          </a:prstGeom>
          <a:noFill/>
          <a:ln/>
        </p:spPr>
        <p:txBody>
          <a:bodyPr wrap="square" lIns="0" tIns="0" rIns="0" bIns="0" rtlCol="0" anchor="ctr"/>
          <a:lstStyle/>
          <a:p>
            <a:pPr marL="0" indent="0">
              <a:buNone/>
            </a:pPr>
            <a:r>
              <a:rPr lang="en-US" sz="1800" b="1" dirty="0">
                <a:solidFill>
                  <a:srgbClr val="9B8CFF"/>
                </a:solidFill>
                <a:latin typeface="Trebuchet MS" pitchFamily="34" charset="0"/>
                <a:ea typeface="Trebuchet MS" pitchFamily="34" charset="-122"/>
                <a:cs typeface="Trebuchet MS" pitchFamily="34" charset="-120"/>
              </a:rPr>
              <a:t>3</a:t>
            </a:r>
            <a:endParaRPr lang="en-US" sz="1800" dirty="0"/>
          </a:p>
        </p:txBody>
      </p:sp>
      <p:sp>
        <p:nvSpPr>
          <p:cNvPr id="19" name="Text 17"/>
          <p:cNvSpPr/>
          <p:nvPr/>
        </p:nvSpPr>
        <p:spPr>
          <a:xfrm>
            <a:off x="1371600" y="3584448"/>
            <a:ext cx="3200400" cy="67665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Because it is singular</a:t>
            </a:r>
            <a:endParaRPr lang="en-US" sz="1500" dirty="0"/>
          </a:p>
        </p:txBody>
      </p:sp>
      <p:sp>
        <p:nvSpPr>
          <p:cNvPr id="20" name="Text 18"/>
          <p:cNvSpPr/>
          <p:nvPr/>
        </p:nvSpPr>
        <p:spPr>
          <a:xfrm>
            <a:off x="4663440" y="3584448"/>
            <a:ext cx="6705295" cy="67665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No process accepts a config path. Two processes cannot be run against different files.</a:t>
            </a:r>
            <a:endParaRPr lang="en-US" sz="1250" dirty="0"/>
          </a:p>
        </p:txBody>
      </p:sp>
      <p:sp>
        <p:nvSpPr>
          <p:cNvPr id="21" name="Shape 19"/>
          <p:cNvSpPr/>
          <p:nvPr/>
        </p:nvSpPr>
        <p:spPr>
          <a:xfrm>
            <a:off x="640080" y="4370832"/>
            <a:ext cx="10911535" cy="676656"/>
          </a:xfrm>
          <a:prstGeom prst="roundRect">
            <a:avLst>
              <a:gd name="adj" fmla="val 8108"/>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640080" y="4370832"/>
            <a:ext cx="50292" cy="676656"/>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896112" y="4370832"/>
            <a:ext cx="365760" cy="676656"/>
          </a:xfrm>
          <a:prstGeom prst="rect">
            <a:avLst/>
          </a:prstGeom>
          <a:noFill/>
          <a:ln/>
        </p:spPr>
        <p:txBody>
          <a:bodyPr wrap="square" lIns="0" tIns="0" rIns="0" bIns="0" rtlCol="0" anchor="ctr"/>
          <a:lstStyle/>
          <a:p>
            <a:pPr marL="0" indent="0">
              <a:buNone/>
            </a:pPr>
            <a:r>
              <a:rPr lang="en-US" sz="1800" b="1" dirty="0">
                <a:solidFill>
                  <a:srgbClr val="5AB2F7"/>
                </a:solidFill>
                <a:latin typeface="Trebuchet MS" pitchFamily="34" charset="0"/>
                <a:ea typeface="Trebuchet MS" pitchFamily="34" charset="-122"/>
                <a:cs typeface="Trebuchet MS" pitchFamily="34" charset="-120"/>
              </a:rPr>
              <a:t>4</a:t>
            </a:r>
            <a:endParaRPr lang="en-US" sz="1800" dirty="0"/>
          </a:p>
        </p:txBody>
      </p:sp>
      <p:sp>
        <p:nvSpPr>
          <p:cNvPr id="24" name="Text 22"/>
          <p:cNvSpPr/>
          <p:nvPr/>
        </p:nvSpPr>
        <p:spPr>
          <a:xfrm>
            <a:off x="1371600" y="4370832"/>
            <a:ext cx="3200400" cy="67665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Because it is fingerprinted</a:t>
            </a:r>
            <a:endParaRPr lang="en-US" sz="1500" dirty="0"/>
          </a:p>
        </p:txBody>
      </p:sp>
      <p:sp>
        <p:nvSpPr>
          <p:cNvPr id="25" name="Text 23"/>
          <p:cNvSpPr/>
          <p:nvPr/>
        </p:nvSpPr>
        <p:spPr>
          <a:xfrm>
            <a:off x="4663440" y="4370832"/>
            <a:ext cx="6705295" cy="67665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Processes warn when the authored source has moved on, and refuse a hand-edited artifact.</a:t>
            </a:r>
            <a:endParaRPr lang="en-US" sz="1250" dirty="0"/>
          </a:p>
        </p:txBody>
      </p:sp>
      <p:sp>
        <p:nvSpPr>
          <p:cNvPr id="26" name="Shape 24"/>
          <p:cNvSpPr/>
          <p:nvPr/>
        </p:nvSpPr>
        <p:spPr>
          <a:xfrm>
            <a:off x="640080" y="5157216"/>
            <a:ext cx="10911535" cy="676656"/>
          </a:xfrm>
          <a:prstGeom prst="roundRect">
            <a:avLst>
              <a:gd name="adj" fmla="val 8108"/>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640080" y="5157216"/>
            <a:ext cx="50292" cy="676656"/>
          </a:xfrm>
          <a:prstGeom prst="rect">
            <a:avLst/>
          </a:prstGeom>
          <a:solidFill>
            <a:srgbClr val="6BD98A"/>
          </a:solidFill>
          <a:ln w="12700">
            <a:solidFill>
              <a:srgbClr val="333333"/>
            </a:solidFill>
            <a:prstDash val="solid"/>
          </a:ln>
        </p:spPr>
        <p:txBody>
          <a:bodyPr/>
          <a:lstStyle/>
          <a:p>
            <a:endParaRPr lang="en-SE"/>
          </a:p>
        </p:txBody>
      </p:sp>
      <p:sp>
        <p:nvSpPr>
          <p:cNvPr id="28" name="Text 26"/>
          <p:cNvSpPr/>
          <p:nvPr/>
        </p:nvSpPr>
        <p:spPr>
          <a:xfrm>
            <a:off x="896112" y="5157216"/>
            <a:ext cx="365760" cy="676656"/>
          </a:xfrm>
          <a:prstGeom prst="rect">
            <a:avLst/>
          </a:prstGeom>
          <a:noFill/>
          <a:ln/>
        </p:spPr>
        <p:txBody>
          <a:bodyPr wrap="square" lIns="0" tIns="0" rIns="0" bIns="0" rtlCol="0" anchor="ctr"/>
          <a:lstStyle/>
          <a:p>
            <a:pPr marL="0" indent="0">
              <a:buNone/>
            </a:pPr>
            <a:r>
              <a:rPr lang="en-US" sz="1800" b="1" dirty="0">
                <a:solidFill>
                  <a:srgbClr val="6BD98A"/>
                </a:solidFill>
                <a:latin typeface="Trebuchet MS" pitchFamily="34" charset="0"/>
                <a:ea typeface="Trebuchet MS" pitchFamily="34" charset="-122"/>
                <a:cs typeface="Trebuchet MS" pitchFamily="34" charset="-120"/>
              </a:rPr>
              <a:t>5</a:t>
            </a:r>
            <a:endParaRPr lang="en-US" sz="1800" dirty="0"/>
          </a:p>
        </p:txBody>
      </p:sp>
      <p:sp>
        <p:nvSpPr>
          <p:cNvPr id="29" name="Text 27"/>
          <p:cNvSpPr/>
          <p:nvPr/>
        </p:nvSpPr>
        <p:spPr>
          <a:xfrm>
            <a:off x="1371600" y="5157216"/>
            <a:ext cx="3200400" cy="67665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Because it is versioned</a:t>
            </a:r>
            <a:endParaRPr lang="en-US" sz="1500" dirty="0"/>
          </a:p>
        </p:txBody>
      </p:sp>
      <p:sp>
        <p:nvSpPr>
          <p:cNvPr id="30" name="Text 28"/>
          <p:cNvSpPr/>
          <p:nvPr/>
        </p:nvSpPr>
        <p:spPr>
          <a:xfrm>
            <a:off x="4663440" y="5157216"/>
            <a:ext cx="6705295" cy="676656"/>
          </a:xfrm>
          <a:prstGeom prst="rect">
            <a:avLst/>
          </a:prstGeom>
          <a:noFill/>
          <a:ln/>
        </p:spPr>
        <p:txBody>
          <a:bodyPr wrap="square" lIns="0" tIns="0" rIns="0" bIns="0" rtlCol="0" anchor="ctr"/>
          <a:lstStyle/>
          <a:p>
            <a:pPr marL="0" indent="0">
              <a:buNone/>
            </a:pPr>
            <a:r>
              <a:rPr lang="en-US" sz="1250" dirty="0">
                <a:solidFill>
                  <a:srgbClr val="C2CAD4"/>
                </a:solidFill>
                <a:latin typeface="Calibri" pitchFamily="34" charset="0"/>
                <a:ea typeface="Calibri" pitchFamily="34" charset="-122"/>
                <a:cs typeface="Calibri" pitchFamily="34" charset="-120"/>
              </a:rPr>
              <a:t>A build refuses an artifact shaped for a different schema rather than misreading it.</a:t>
            </a:r>
            <a:endParaRPr lang="en-US" sz="1250" dirty="0"/>
          </a:p>
        </p:txBody>
      </p:sp>
      <p:sp>
        <p:nvSpPr>
          <p:cNvPr id="31" name="Text 29"/>
          <p:cNvSpPr/>
          <p:nvPr/>
        </p:nvSpPr>
        <p:spPr>
          <a:xfrm>
            <a:off x="640080" y="6126480"/>
            <a:ext cx="10911535" cy="310896"/>
          </a:xfrm>
          <a:prstGeom prst="rect">
            <a:avLst/>
          </a:prstGeom>
          <a:noFill/>
          <a:ln/>
        </p:spPr>
        <p:txBody>
          <a:bodyPr wrap="square" lIns="0" tIns="0" rIns="0" bIns="0" rtlCol="0" anchor="ctr"/>
          <a:lstStyle/>
          <a:p>
            <a:pPr marL="0" indent="0" algn="ctr">
              <a:buNone/>
            </a:pPr>
            <a:r>
              <a:rPr lang="en-US" sz="1300" i="1" dirty="0">
                <a:solidFill>
                  <a:srgbClr val="34D6BE"/>
                </a:solidFill>
                <a:latin typeface="Calibri" pitchFamily="34" charset="0"/>
                <a:ea typeface="Calibri" pitchFamily="34" charset="-122"/>
                <a:cs typeface="Calibri" pitchFamily="34" charset="-120"/>
              </a:rPr>
              <a:t>The YAML remains the thing you edit, review and version. It just is not the thing that runs.</a:t>
            </a:r>
            <a:endParaRPr lang="en-US" sz="1300" dirty="0"/>
          </a:p>
        </p:txBody>
      </p:sp>
      <p:sp>
        <p:nvSpPr>
          <p:cNvPr id="32" name="Text 30"/>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05 · Why a compiled artifact</a:t>
            </a:r>
            <a:endParaRPr lang="en-US" sz="950" dirty="0"/>
          </a:p>
        </p:txBody>
      </p:sp>
      <p:sp>
        <p:nvSpPr>
          <p:cNvPr id="33" name="Text 31"/>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06</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06</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The top-level sections,</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explained</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One slide per section: what it is for, its most important fields, the defaults you inherit if you say nothing, and the mistake people make.</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Universe &amp; access</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Risk policy</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Liquidity</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Rhythm &amp; plumbing</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1091153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symbols</a:t>
            </a:r>
            <a:endParaRPr lang="en-US" sz="3000" dirty="0"/>
          </a:p>
        </p:txBody>
      </p:sp>
      <p:sp>
        <p:nvSpPr>
          <p:cNvPr id="5" name="Shape 3"/>
          <p:cNvSpPr/>
          <p:nvPr/>
        </p:nvSpPr>
        <p:spPr>
          <a:xfrm>
            <a:off x="640080" y="1417320"/>
            <a:ext cx="1234440" cy="292608"/>
          </a:xfrm>
          <a:prstGeom prst="roundRect">
            <a:avLst>
              <a:gd name="adj" fmla="val 15625"/>
            </a:avLst>
          </a:prstGeom>
          <a:solidFill>
            <a:srgbClr val="4C2420"/>
          </a:solidFill>
          <a:ln w="12700">
            <a:solidFill>
              <a:srgbClr val="FF7A6B"/>
            </a:solidFill>
            <a:prstDash val="solid"/>
          </a:ln>
        </p:spPr>
        <p:txBody>
          <a:bodyPr/>
          <a:lstStyle/>
          <a:p>
            <a:endParaRPr lang="en-SE"/>
          </a:p>
        </p:txBody>
      </p:sp>
      <p:sp>
        <p:nvSpPr>
          <p:cNvPr id="6" name="Text 4"/>
          <p:cNvSpPr/>
          <p:nvPr/>
        </p:nvSpPr>
        <p:spPr>
          <a:xfrm>
            <a:off x="640080" y="1417320"/>
            <a:ext cx="1234440" cy="292608"/>
          </a:xfrm>
          <a:prstGeom prst="rect">
            <a:avLst/>
          </a:prstGeom>
          <a:noFill/>
          <a:ln/>
        </p:spPr>
        <p:txBody>
          <a:bodyPr wrap="square" lIns="0" tIns="0" rIns="0" bIns="0" rtlCol="0" anchor="ctr"/>
          <a:lstStyle/>
          <a:p>
            <a:pPr marL="0" indent="0" algn="ctr">
              <a:buNone/>
            </a:pPr>
            <a:r>
              <a:rPr lang="en-US" sz="950" b="1" kern="0" spc="100" dirty="0">
                <a:solidFill>
                  <a:srgbClr val="FF7A6B"/>
                </a:solidFill>
                <a:latin typeface="Calibri" pitchFamily="34" charset="0"/>
                <a:ea typeface="Calibri" pitchFamily="34" charset="-122"/>
                <a:cs typeface="Calibri" pitchFamily="34" charset="-120"/>
              </a:rPr>
              <a:t>REQUIRED</a:t>
            </a:r>
            <a:endParaRPr lang="en-US" sz="950" dirty="0"/>
          </a:p>
        </p:txBody>
      </p:sp>
      <p:sp>
        <p:nvSpPr>
          <p:cNvPr id="7" name="Text 5"/>
          <p:cNvSpPr/>
          <p:nvPr/>
        </p:nvSpPr>
        <p:spPr>
          <a:xfrm>
            <a:off x="2103120" y="1399032"/>
            <a:ext cx="9448495" cy="457200"/>
          </a:xfrm>
          <a:prstGeom prst="rect">
            <a:avLst/>
          </a:prstGeom>
          <a:noFill/>
          <a:ln/>
        </p:spPr>
        <p:txBody>
          <a:bodyPr wrap="square" lIns="0" tIns="0" rIns="0" bIns="0" rtlCol="0" anchor="t"/>
          <a:lstStyle/>
          <a:p>
            <a:pPr marL="0" indent="0">
              <a:lnSpc>
                <a:spcPts val="1900"/>
              </a:lnSpc>
              <a:buNone/>
            </a:pPr>
            <a:r>
              <a:rPr lang="en-US" sz="1400" dirty="0">
                <a:solidFill>
                  <a:srgbClr val="8D97A5"/>
                </a:solidFill>
                <a:latin typeface="Calibri" pitchFamily="34" charset="0"/>
                <a:ea typeface="Calibri" pitchFamily="34" charset="-122"/>
                <a:cs typeface="Calibri" pitchFamily="34" charset="-120"/>
              </a:rPr>
              <a:t>A mapping of symbol name to its settings. This is the instrument allowlist — an order for anything not listed is rejected outright.</a:t>
            </a:r>
            <a:endParaRPr lang="en-US" sz="1400" dirty="0"/>
          </a:p>
        </p:txBody>
      </p:sp>
      <p:sp>
        <p:nvSpPr>
          <p:cNvPr id="8" name="Shape 6"/>
          <p:cNvSpPr/>
          <p:nvPr/>
        </p:nvSpPr>
        <p:spPr>
          <a:xfrm>
            <a:off x="640080" y="2103120"/>
            <a:ext cx="10911535" cy="347472"/>
          </a:xfrm>
          <a:prstGeom prst="rect">
            <a:avLst/>
          </a:prstGeom>
          <a:solidFill>
            <a:srgbClr val="2E353F"/>
          </a:solidFill>
          <a:ln w="12700">
            <a:solidFill>
              <a:srgbClr val="333333"/>
            </a:solidFill>
            <a:prstDash val="solid"/>
          </a:ln>
        </p:spPr>
        <p:txBody>
          <a:bodyPr/>
          <a:lstStyle/>
          <a:p>
            <a:endParaRPr lang="en-SE"/>
          </a:p>
        </p:txBody>
      </p:sp>
      <p:sp>
        <p:nvSpPr>
          <p:cNvPr id="9" name="Text 7"/>
          <p:cNvSpPr/>
          <p:nvPr/>
        </p:nvSpPr>
        <p:spPr>
          <a:xfrm>
            <a:off x="786384" y="2103120"/>
            <a:ext cx="2617543"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FIELD</a:t>
            </a:r>
            <a:endParaRPr lang="en-US" sz="950" dirty="0"/>
          </a:p>
        </p:txBody>
      </p:sp>
      <p:sp>
        <p:nvSpPr>
          <p:cNvPr id="10" name="Text 8"/>
          <p:cNvSpPr/>
          <p:nvPr/>
        </p:nvSpPr>
        <p:spPr>
          <a:xfrm>
            <a:off x="3623383" y="2103120"/>
            <a:ext cx="1526390"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DEFAULT</a:t>
            </a:r>
            <a:endParaRPr lang="en-US" sz="950" dirty="0"/>
          </a:p>
        </p:txBody>
      </p:sp>
      <p:sp>
        <p:nvSpPr>
          <p:cNvPr id="11" name="Text 9"/>
          <p:cNvSpPr/>
          <p:nvPr/>
        </p:nvSpPr>
        <p:spPr>
          <a:xfrm>
            <a:off x="5369229" y="2103120"/>
            <a:ext cx="6109234"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DOES AND WHY IT MATTERS</a:t>
            </a:r>
            <a:endParaRPr lang="en-US" sz="950" dirty="0"/>
          </a:p>
        </p:txBody>
      </p:sp>
      <p:sp>
        <p:nvSpPr>
          <p:cNvPr id="12" name="Shape 10"/>
          <p:cNvSpPr/>
          <p:nvPr/>
        </p:nvSpPr>
        <p:spPr>
          <a:xfrm>
            <a:off x="640080" y="2450592"/>
            <a:ext cx="10911535" cy="420624"/>
          </a:xfrm>
          <a:prstGeom prst="rect">
            <a:avLst/>
          </a:prstGeom>
          <a:solidFill>
            <a:srgbClr val="252B33"/>
          </a:solidFill>
          <a:ln w="12700">
            <a:solidFill>
              <a:srgbClr val="333333"/>
            </a:solidFill>
            <a:prstDash val="solid"/>
          </a:ln>
        </p:spPr>
        <p:txBody>
          <a:bodyPr/>
          <a:lstStyle/>
          <a:p>
            <a:endParaRPr lang="en-SE"/>
          </a:p>
        </p:txBody>
      </p:sp>
      <p:sp>
        <p:nvSpPr>
          <p:cNvPr id="13" name="Text 11"/>
          <p:cNvSpPr/>
          <p:nvPr/>
        </p:nvSpPr>
        <p:spPr>
          <a:xfrm>
            <a:off x="786384" y="2450592"/>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tick_decimals</a:t>
            </a:r>
            <a:endParaRPr lang="en-US" sz="1150" dirty="0"/>
          </a:p>
        </p:txBody>
      </p:sp>
      <p:sp>
        <p:nvSpPr>
          <p:cNvPr id="14" name="Text 12"/>
          <p:cNvSpPr/>
          <p:nvPr/>
        </p:nvSpPr>
        <p:spPr>
          <a:xfrm>
            <a:off x="3623383" y="2450592"/>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5369229" y="2450592"/>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Price precision, 0 to 8. Two means prices move in cents. This fixes the price grid everything else snaps to.</a:t>
            </a:r>
            <a:endParaRPr lang="en-US" sz="1150" dirty="0"/>
          </a:p>
        </p:txBody>
      </p:sp>
      <p:sp>
        <p:nvSpPr>
          <p:cNvPr id="16" name="Text 14"/>
          <p:cNvSpPr/>
          <p:nvPr/>
        </p:nvSpPr>
        <p:spPr>
          <a:xfrm>
            <a:off x="786384" y="2871216"/>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last_buy_price</a:t>
            </a:r>
            <a:endParaRPr lang="en-US" sz="1150" dirty="0"/>
          </a:p>
        </p:txBody>
      </p:sp>
      <p:sp>
        <p:nvSpPr>
          <p:cNvPr id="17" name="Text 15"/>
          <p:cNvSpPr/>
          <p:nvPr/>
        </p:nvSpPr>
        <p:spPr>
          <a:xfrm>
            <a:off x="3623383" y="2871216"/>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18" name="Text 16"/>
          <p:cNvSpPr/>
          <p:nvPr/>
        </p:nvSpPr>
        <p:spPr>
          <a:xfrm>
            <a:off x="5369229" y="2871216"/>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 seed reference price. On day one there is no trade history, so a collar has nothing to anchor to without it.</a:t>
            </a:r>
            <a:endParaRPr lang="en-US" sz="1150" dirty="0"/>
          </a:p>
        </p:txBody>
      </p:sp>
      <p:sp>
        <p:nvSpPr>
          <p:cNvPr id="19" name="Shape 17"/>
          <p:cNvSpPr/>
          <p:nvPr/>
        </p:nvSpPr>
        <p:spPr>
          <a:xfrm>
            <a:off x="640080" y="3291840"/>
            <a:ext cx="10911535" cy="420624"/>
          </a:xfrm>
          <a:prstGeom prst="rect">
            <a:avLst/>
          </a:prstGeom>
          <a:solidFill>
            <a:srgbClr val="252B33"/>
          </a:solidFill>
          <a:ln w="12700">
            <a:solidFill>
              <a:srgbClr val="333333"/>
            </a:solidFill>
            <a:prstDash val="solid"/>
          </a:ln>
        </p:spPr>
        <p:txBody>
          <a:bodyPr/>
          <a:lstStyle/>
          <a:p>
            <a:endParaRPr lang="en-SE"/>
          </a:p>
        </p:txBody>
      </p:sp>
      <p:sp>
        <p:nvSpPr>
          <p:cNvPr id="20" name="Text 18"/>
          <p:cNvSpPr/>
          <p:nvPr/>
        </p:nvSpPr>
        <p:spPr>
          <a:xfrm>
            <a:off x="786384" y="3291840"/>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last_sell_price</a:t>
            </a:r>
            <a:endParaRPr lang="en-US" sz="1150" dirty="0"/>
          </a:p>
        </p:txBody>
      </p:sp>
      <p:sp>
        <p:nvSpPr>
          <p:cNvPr id="21" name="Text 19"/>
          <p:cNvSpPr/>
          <p:nvPr/>
        </p:nvSpPr>
        <p:spPr>
          <a:xfrm>
            <a:off x="3623383" y="3291840"/>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22" name="Text 20"/>
          <p:cNvSpPr/>
          <p:nvPr/>
        </p:nvSpPr>
        <p:spPr>
          <a:xfrm>
            <a:off x="5369229" y="3291840"/>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other half of the day-one reference. Set both, and set them consistently with your opening quote.</a:t>
            </a:r>
            <a:endParaRPr lang="en-US" sz="1150" dirty="0"/>
          </a:p>
        </p:txBody>
      </p:sp>
      <p:sp>
        <p:nvSpPr>
          <p:cNvPr id="23" name="Text 21"/>
          <p:cNvSpPr/>
          <p:nvPr/>
        </p:nvSpPr>
        <p:spPr>
          <a:xfrm>
            <a:off x="786384" y="3712464"/>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outstanding_shares</a:t>
            </a:r>
            <a:endParaRPr lang="en-US" sz="1150" dirty="0"/>
          </a:p>
        </p:txBody>
      </p:sp>
      <p:sp>
        <p:nvSpPr>
          <p:cNvPr id="24" name="Text 22"/>
          <p:cNvSpPr/>
          <p:nvPr/>
        </p:nvSpPr>
        <p:spPr>
          <a:xfrm>
            <a:off x="3623383" y="3712464"/>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25" name="Text 23"/>
          <p:cNvSpPr/>
          <p:nvPr/>
        </p:nvSpPr>
        <p:spPr>
          <a:xfrm>
            <a:off x="5369229" y="3712464"/>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Share count. Optional until the symbol joins an index, where it becomes required to compute the weight.</a:t>
            </a:r>
            <a:endParaRPr lang="en-US" sz="1150" dirty="0"/>
          </a:p>
        </p:txBody>
      </p:sp>
      <p:sp>
        <p:nvSpPr>
          <p:cNvPr id="26" name="Shape 24"/>
          <p:cNvSpPr/>
          <p:nvPr/>
        </p:nvSpPr>
        <p:spPr>
          <a:xfrm>
            <a:off x="640080" y="4133088"/>
            <a:ext cx="10911535" cy="420624"/>
          </a:xfrm>
          <a:prstGeom prst="rect">
            <a:avLst/>
          </a:prstGeom>
          <a:solidFill>
            <a:srgbClr val="252B33"/>
          </a:solidFill>
          <a:ln w="12700">
            <a:solidFill>
              <a:srgbClr val="333333"/>
            </a:solidFill>
            <a:prstDash val="solid"/>
          </a:ln>
        </p:spPr>
        <p:txBody>
          <a:bodyPr/>
          <a:lstStyle/>
          <a:p>
            <a:endParaRPr lang="en-SE"/>
          </a:p>
        </p:txBody>
      </p:sp>
      <p:sp>
        <p:nvSpPr>
          <p:cNvPr id="27" name="Text 25"/>
          <p:cNvSpPr/>
          <p:nvPr/>
        </p:nvSpPr>
        <p:spPr>
          <a:xfrm>
            <a:off x="786384" y="4133088"/>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level</a:t>
            </a:r>
            <a:endParaRPr lang="en-US" sz="1150" dirty="0"/>
          </a:p>
        </p:txBody>
      </p:sp>
      <p:sp>
        <p:nvSpPr>
          <p:cNvPr id="28" name="Text 26"/>
          <p:cNvSpPr/>
          <p:nvPr/>
        </p:nvSpPr>
        <p:spPr>
          <a:xfrm>
            <a:off x="3623383" y="4133088"/>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5369229" y="4133088"/>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Names a risk level from risk_controls. The level supplies this symbol's collar bands.</a:t>
            </a:r>
            <a:endParaRPr lang="en-US" sz="1150" dirty="0"/>
          </a:p>
        </p:txBody>
      </p:sp>
      <p:sp>
        <p:nvSpPr>
          <p:cNvPr id="30" name="Text 28"/>
          <p:cNvSpPr/>
          <p:nvPr/>
        </p:nvSpPr>
        <p:spPr>
          <a:xfrm>
            <a:off x="786384" y="4553712"/>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collar</a:t>
            </a:r>
            <a:endParaRPr lang="en-US" sz="1150" dirty="0"/>
          </a:p>
        </p:txBody>
      </p:sp>
      <p:sp>
        <p:nvSpPr>
          <p:cNvPr id="31" name="Text 29"/>
          <p:cNvSpPr/>
          <p:nvPr/>
        </p:nvSpPr>
        <p:spPr>
          <a:xfrm>
            <a:off x="3623383" y="4553712"/>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32" name="Text 30"/>
          <p:cNvSpPr/>
          <p:nvPr/>
        </p:nvSpPr>
        <p:spPr>
          <a:xfrm>
            <a:off x="5369229" y="4553712"/>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 per-symbol band override, merged over the level's collar. Symbol keys win.</a:t>
            </a:r>
            <a:endParaRPr lang="en-US" sz="1150" dirty="0"/>
          </a:p>
        </p:txBody>
      </p:sp>
      <p:sp>
        <p:nvSpPr>
          <p:cNvPr id="33" name="Shape 31"/>
          <p:cNvSpPr/>
          <p:nvPr/>
        </p:nvSpPr>
        <p:spPr>
          <a:xfrm>
            <a:off x="640080" y="4974336"/>
            <a:ext cx="10911535" cy="420624"/>
          </a:xfrm>
          <a:prstGeom prst="rect">
            <a:avLst/>
          </a:prstGeom>
          <a:solidFill>
            <a:srgbClr val="252B33"/>
          </a:solidFill>
          <a:ln w="12700">
            <a:solidFill>
              <a:srgbClr val="333333"/>
            </a:solidFill>
            <a:prstDash val="solid"/>
          </a:ln>
        </p:spPr>
        <p:txBody>
          <a:bodyPr/>
          <a:lstStyle/>
          <a:p>
            <a:endParaRPr lang="en-SE"/>
          </a:p>
        </p:txBody>
      </p:sp>
      <p:sp>
        <p:nvSpPr>
          <p:cNvPr id="34" name="Text 32"/>
          <p:cNvSpPr/>
          <p:nvPr/>
        </p:nvSpPr>
        <p:spPr>
          <a:xfrm>
            <a:off x="786384" y="4974336"/>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market_maker_quotes</a:t>
            </a:r>
            <a:endParaRPr lang="en-US" sz="1150" dirty="0"/>
          </a:p>
        </p:txBody>
      </p:sp>
      <p:sp>
        <p:nvSpPr>
          <p:cNvPr id="35" name="Text 33"/>
          <p:cNvSpPr/>
          <p:nvPr/>
        </p:nvSpPr>
        <p:spPr>
          <a:xfrm>
            <a:off x="3623383" y="4974336"/>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36" name="Text 34"/>
          <p:cNvSpPr/>
          <p:nvPr/>
        </p:nvSpPr>
        <p:spPr>
          <a:xfrm>
            <a:off x="5369229" y="4974336"/>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Opening bid and ask injected when the named market-maker gateway authenticates.</a:t>
            </a:r>
            <a:endParaRPr lang="en-US" sz="1150" dirty="0"/>
          </a:p>
        </p:txBody>
      </p:sp>
      <p:sp>
        <p:nvSpPr>
          <p:cNvPr id="37" name="Text 35"/>
          <p:cNvSpPr/>
          <p:nvPr/>
        </p:nvSpPr>
        <p:spPr>
          <a:xfrm>
            <a:off x="786384" y="5394960"/>
            <a:ext cx="2617543" cy="420624"/>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circuit_breaker</a:t>
            </a:r>
            <a:endParaRPr lang="en-US" sz="1150" dirty="0"/>
          </a:p>
        </p:txBody>
      </p:sp>
      <p:sp>
        <p:nvSpPr>
          <p:cNvPr id="38" name="Text 36"/>
          <p:cNvSpPr/>
          <p:nvPr/>
        </p:nvSpPr>
        <p:spPr>
          <a:xfrm>
            <a:off x="3623383" y="5394960"/>
            <a:ext cx="1526390"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39" name="Text 37"/>
          <p:cNvSpPr/>
          <p:nvPr/>
        </p:nvSpPr>
        <p:spPr>
          <a:xfrm>
            <a:off x="5369229" y="5394960"/>
            <a:ext cx="6109234" cy="420624"/>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 per-symbol override of the halt ladder, merged level by level over the exchange defaults.</a:t>
            </a:r>
            <a:endParaRPr lang="en-US" sz="1150" dirty="0"/>
          </a:p>
        </p:txBody>
      </p:sp>
      <p:sp>
        <p:nvSpPr>
          <p:cNvPr id="40" name="Shape 38"/>
          <p:cNvSpPr/>
          <p:nvPr/>
        </p:nvSpPr>
        <p:spPr>
          <a:xfrm>
            <a:off x="640080" y="5943600"/>
            <a:ext cx="10911535" cy="685800"/>
          </a:xfrm>
          <a:prstGeom prst="roundRect">
            <a:avLst>
              <a:gd name="adj" fmla="val 8000"/>
            </a:avLst>
          </a:prstGeom>
          <a:solidFill>
            <a:srgbClr val="252B33"/>
          </a:solidFill>
          <a:ln w="12700">
            <a:solidFill>
              <a:srgbClr val="34D6BE"/>
            </a:solidFill>
            <a:prstDash val="solid"/>
          </a:ln>
        </p:spPr>
        <p:txBody>
          <a:bodyPr/>
          <a:lstStyle/>
          <a:p>
            <a:endParaRPr lang="en-SE"/>
          </a:p>
        </p:txBody>
      </p:sp>
      <p:sp>
        <p:nvSpPr>
          <p:cNvPr id="41" name="Text 39"/>
          <p:cNvSpPr/>
          <p:nvPr/>
        </p:nvSpPr>
        <p:spPr>
          <a:xfrm>
            <a:off x="877824" y="603504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WATCH OUT</a:t>
            </a:r>
            <a:endParaRPr lang="en-US" sz="950" dirty="0"/>
          </a:p>
        </p:txBody>
      </p:sp>
      <p:sp>
        <p:nvSpPr>
          <p:cNvPr id="42" name="Text 40"/>
          <p:cNvSpPr/>
          <p:nvPr/>
        </p:nvSpPr>
        <p:spPr>
          <a:xfrm>
            <a:off x="877824" y="629107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Symbol names are upper-cased on load, so aapl and AAPL are the same instrument. A symbol with an empty settings block is perfectly valid — it simply inherits everything.</a:t>
            </a:r>
            <a:endParaRPr lang="en-US" sz="1250" dirty="0"/>
          </a:p>
        </p:txBody>
      </p:sp>
      <p:sp>
        <p:nvSpPr>
          <p:cNvPr id="43" name="Text 4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44" name="Text 4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1091153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gateways.alf</a:t>
            </a:r>
            <a:endParaRPr lang="en-US" sz="3000" dirty="0"/>
          </a:p>
        </p:txBody>
      </p:sp>
      <p:sp>
        <p:nvSpPr>
          <p:cNvPr id="5" name="Shape 3"/>
          <p:cNvSpPr/>
          <p:nvPr/>
        </p:nvSpPr>
        <p:spPr>
          <a:xfrm>
            <a:off x="640080" y="1417320"/>
            <a:ext cx="1234440" cy="292608"/>
          </a:xfrm>
          <a:prstGeom prst="roundRect">
            <a:avLst>
              <a:gd name="adj" fmla="val 15625"/>
            </a:avLst>
          </a:prstGeom>
          <a:solidFill>
            <a:srgbClr val="4C2420"/>
          </a:solidFill>
          <a:ln w="12700">
            <a:solidFill>
              <a:srgbClr val="FF7A6B"/>
            </a:solidFill>
            <a:prstDash val="solid"/>
          </a:ln>
        </p:spPr>
        <p:txBody>
          <a:bodyPr/>
          <a:lstStyle/>
          <a:p>
            <a:endParaRPr lang="en-SE"/>
          </a:p>
        </p:txBody>
      </p:sp>
      <p:sp>
        <p:nvSpPr>
          <p:cNvPr id="6" name="Text 4"/>
          <p:cNvSpPr/>
          <p:nvPr/>
        </p:nvSpPr>
        <p:spPr>
          <a:xfrm>
            <a:off x="640080" y="1417320"/>
            <a:ext cx="1234440" cy="292608"/>
          </a:xfrm>
          <a:prstGeom prst="rect">
            <a:avLst/>
          </a:prstGeom>
          <a:noFill/>
          <a:ln/>
        </p:spPr>
        <p:txBody>
          <a:bodyPr wrap="square" lIns="0" tIns="0" rIns="0" bIns="0" rtlCol="0" anchor="ctr"/>
          <a:lstStyle/>
          <a:p>
            <a:pPr marL="0" indent="0" algn="ctr">
              <a:buNone/>
            </a:pPr>
            <a:r>
              <a:rPr lang="en-US" sz="950" b="1" kern="0" spc="100" dirty="0">
                <a:solidFill>
                  <a:srgbClr val="FF7A6B"/>
                </a:solidFill>
                <a:latin typeface="Calibri" pitchFamily="34" charset="0"/>
                <a:ea typeface="Calibri" pitchFamily="34" charset="-122"/>
                <a:cs typeface="Calibri" pitchFamily="34" charset="-120"/>
              </a:rPr>
              <a:t>REQUIRED</a:t>
            </a:r>
            <a:endParaRPr lang="en-US" sz="950" dirty="0"/>
          </a:p>
        </p:txBody>
      </p:sp>
      <p:sp>
        <p:nvSpPr>
          <p:cNvPr id="7" name="Text 5"/>
          <p:cNvSpPr/>
          <p:nvPr/>
        </p:nvSpPr>
        <p:spPr>
          <a:xfrm>
            <a:off x="2103120" y="1399032"/>
            <a:ext cx="9448495" cy="457200"/>
          </a:xfrm>
          <a:prstGeom prst="rect">
            <a:avLst/>
          </a:prstGeom>
          <a:noFill/>
          <a:ln/>
        </p:spPr>
        <p:txBody>
          <a:bodyPr wrap="square" lIns="0" tIns="0" rIns="0" bIns="0" rtlCol="0" anchor="t"/>
          <a:lstStyle/>
          <a:p>
            <a:pPr marL="0" indent="0">
              <a:lnSpc>
                <a:spcPts val="1900"/>
              </a:lnSpc>
              <a:buNone/>
            </a:pPr>
            <a:r>
              <a:rPr lang="en-US" sz="1400" dirty="0">
                <a:solidFill>
                  <a:srgbClr val="8D97A5"/>
                </a:solidFill>
                <a:latin typeface="Calibri" pitchFamily="34" charset="0"/>
                <a:ea typeface="Calibri" pitchFamily="34" charset="-122"/>
                <a:cs typeface="Calibri" pitchFamily="34" charset="-120"/>
              </a:rPr>
              <a:t>A list with at least one entry. This is the participant allowlist: who may connect, as what, and what happens to their orders when they disappear.</a:t>
            </a:r>
            <a:endParaRPr lang="en-US" sz="1400" dirty="0"/>
          </a:p>
        </p:txBody>
      </p:sp>
      <p:sp>
        <p:nvSpPr>
          <p:cNvPr id="8" name="Shape 6"/>
          <p:cNvSpPr/>
          <p:nvPr/>
        </p:nvSpPr>
        <p:spPr>
          <a:xfrm>
            <a:off x="640080" y="2103120"/>
            <a:ext cx="10911535" cy="347472"/>
          </a:xfrm>
          <a:prstGeom prst="rect">
            <a:avLst/>
          </a:prstGeom>
          <a:solidFill>
            <a:srgbClr val="2E353F"/>
          </a:solidFill>
          <a:ln w="12700">
            <a:solidFill>
              <a:srgbClr val="333333"/>
            </a:solidFill>
            <a:prstDash val="solid"/>
          </a:ln>
        </p:spPr>
        <p:txBody>
          <a:bodyPr/>
          <a:lstStyle/>
          <a:p>
            <a:endParaRPr lang="en-SE"/>
          </a:p>
        </p:txBody>
      </p:sp>
      <p:sp>
        <p:nvSpPr>
          <p:cNvPr id="9" name="Text 7"/>
          <p:cNvSpPr/>
          <p:nvPr/>
        </p:nvSpPr>
        <p:spPr>
          <a:xfrm>
            <a:off x="786384" y="2103120"/>
            <a:ext cx="2617543"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FIELD</a:t>
            </a:r>
            <a:endParaRPr lang="en-US" sz="950" dirty="0"/>
          </a:p>
        </p:txBody>
      </p:sp>
      <p:sp>
        <p:nvSpPr>
          <p:cNvPr id="10" name="Text 8"/>
          <p:cNvSpPr/>
          <p:nvPr/>
        </p:nvSpPr>
        <p:spPr>
          <a:xfrm>
            <a:off x="3623383" y="2103120"/>
            <a:ext cx="1526390"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DEFAULT</a:t>
            </a:r>
            <a:endParaRPr lang="en-US" sz="950" dirty="0"/>
          </a:p>
        </p:txBody>
      </p:sp>
      <p:sp>
        <p:nvSpPr>
          <p:cNvPr id="11" name="Text 9"/>
          <p:cNvSpPr/>
          <p:nvPr/>
        </p:nvSpPr>
        <p:spPr>
          <a:xfrm>
            <a:off x="5369229" y="2103120"/>
            <a:ext cx="6109234"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DOES AND WHY IT MATTERS</a:t>
            </a:r>
            <a:endParaRPr lang="en-US" sz="950" dirty="0"/>
          </a:p>
        </p:txBody>
      </p:sp>
      <p:sp>
        <p:nvSpPr>
          <p:cNvPr id="12" name="Shape 10"/>
          <p:cNvSpPr/>
          <p:nvPr/>
        </p:nvSpPr>
        <p:spPr>
          <a:xfrm>
            <a:off x="640080" y="2450592"/>
            <a:ext cx="10911535" cy="502920"/>
          </a:xfrm>
          <a:prstGeom prst="rect">
            <a:avLst/>
          </a:prstGeom>
          <a:solidFill>
            <a:srgbClr val="252B33"/>
          </a:solidFill>
          <a:ln w="12700">
            <a:solidFill>
              <a:srgbClr val="333333"/>
            </a:solidFill>
            <a:prstDash val="solid"/>
          </a:ln>
        </p:spPr>
        <p:txBody>
          <a:bodyPr/>
          <a:lstStyle/>
          <a:p>
            <a:endParaRPr lang="en-SE"/>
          </a:p>
        </p:txBody>
      </p:sp>
      <p:sp>
        <p:nvSpPr>
          <p:cNvPr id="13" name="Text 11"/>
          <p:cNvSpPr/>
          <p:nvPr/>
        </p:nvSpPr>
        <p:spPr>
          <a:xfrm>
            <a:off x="786384" y="245059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id</a:t>
            </a:r>
            <a:endParaRPr lang="en-US" sz="1150" dirty="0"/>
          </a:p>
        </p:txBody>
      </p:sp>
      <p:sp>
        <p:nvSpPr>
          <p:cNvPr id="14" name="Text 12"/>
          <p:cNvSpPr/>
          <p:nvPr/>
        </p:nvSpPr>
        <p:spPr>
          <a:xfrm>
            <a:off x="3623383" y="245059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15" name="Text 13"/>
          <p:cNvSpPr/>
          <p:nvPr/>
        </p:nvSpPr>
        <p:spPr>
          <a:xfrm>
            <a:off x="5369229" y="245059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gateway identity. Must exactly match what the client passes on the command line. Upper-cased, and must be unique.</a:t>
            </a:r>
            <a:endParaRPr lang="en-US" sz="1150" dirty="0"/>
          </a:p>
        </p:txBody>
      </p:sp>
      <p:sp>
        <p:nvSpPr>
          <p:cNvPr id="16" name="Text 14"/>
          <p:cNvSpPr/>
          <p:nvPr/>
        </p:nvSpPr>
        <p:spPr>
          <a:xfrm>
            <a:off x="786384" y="295351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description</a:t>
            </a:r>
            <a:endParaRPr lang="en-US" sz="1150" dirty="0"/>
          </a:p>
        </p:txBody>
      </p:sp>
      <p:sp>
        <p:nvSpPr>
          <p:cNvPr id="17" name="Text 15"/>
          <p:cNvSpPr/>
          <p:nvPr/>
        </p:nvSpPr>
        <p:spPr>
          <a:xfrm>
            <a:off x="3623383" y="295351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empty</a:t>
            </a:r>
            <a:endParaRPr lang="en-US" sz="1150" dirty="0"/>
          </a:p>
        </p:txBody>
      </p:sp>
      <p:sp>
        <p:nvSpPr>
          <p:cNvPr id="18" name="Text 16"/>
          <p:cNvSpPr/>
          <p:nvPr/>
        </p:nvSpPr>
        <p:spPr>
          <a:xfrm>
            <a:off x="5369229" y="295351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Free text, shown in the operator console's gateway table. Use it — future you will be grateful.</a:t>
            </a:r>
            <a:endParaRPr lang="en-US" sz="1150" dirty="0"/>
          </a:p>
        </p:txBody>
      </p:sp>
      <p:sp>
        <p:nvSpPr>
          <p:cNvPr id="19" name="Shape 17"/>
          <p:cNvSpPr/>
          <p:nvPr/>
        </p:nvSpPr>
        <p:spPr>
          <a:xfrm>
            <a:off x="640080" y="3456432"/>
            <a:ext cx="10911535" cy="502920"/>
          </a:xfrm>
          <a:prstGeom prst="rect">
            <a:avLst/>
          </a:prstGeom>
          <a:solidFill>
            <a:srgbClr val="252B33"/>
          </a:solidFill>
          <a:ln w="12700">
            <a:solidFill>
              <a:srgbClr val="333333"/>
            </a:solidFill>
            <a:prstDash val="solid"/>
          </a:ln>
        </p:spPr>
        <p:txBody>
          <a:bodyPr/>
          <a:lstStyle/>
          <a:p>
            <a:endParaRPr lang="en-SE"/>
          </a:p>
        </p:txBody>
      </p:sp>
      <p:sp>
        <p:nvSpPr>
          <p:cNvPr id="20" name="Text 18"/>
          <p:cNvSpPr/>
          <p:nvPr/>
        </p:nvSpPr>
        <p:spPr>
          <a:xfrm>
            <a:off x="786384" y="345643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role</a:t>
            </a:r>
            <a:endParaRPr lang="en-US" sz="1150" dirty="0"/>
          </a:p>
        </p:txBody>
      </p:sp>
      <p:sp>
        <p:nvSpPr>
          <p:cNvPr id="21" name="Text 19"/>
          <p:cNvSpPr/>
          <p:nvPr/>
        </p:nvSpPr>
        <p:spPr>
          <a:xfrm>
            <a:off x="3623383" y="345643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TRADER</a:t>
            </a:r>
            <a:endParaRPr lang="en-US" sz="1150" dirty="0"/>
          </a:p>
        </p:txBody>
      </p:sp>
      <p:sp>
        <p:nvSpPr>
          <p:cNvPr id="22" name="Text 20"/>
          <p:cNvSpPr/>
          <p:nvPr/>
        </p:nvSpPr>
        <p:spPr>
          <a:xfrm>
            <a:off x="5369229" y="345643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TRADER, MARKET_MAKER or ADMIN. Determines what commands the session may issue.</a:t>
            </a:r>
            <a:endParaRPr lang="en-US" sz="1150" dirty="0"/>
          </a:p>
        </p:txBody>
      </p:sp>
      <p:sp>
        <p:nvSpPr>
          <p:cNvPr id="23" name="Text 21"/>
          <p:cNvSpPr/>
          <p:nvPr/>
        </p:nvSpPr>
        <p:spPr>
          <a:xfrm>
            <a:off x="786384" y="395935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disconnect_behaviour</a:t>
            </a:r>
            <a:endParaRPr lang="en-US" sz="1150" dirty="0"/>
          </a:p>
        </p:txBody>
      </p:sp>
      <p:sp>
        <p:nvSpPr>
          <p:cNvPr id="24" name="Text 22"/>
          <p:cNvSpPr/>
          <p:nvPr/>
        </p:nvSpPr>
        <p:spPr>
          <a:xfrm>
            <a:off x="3623383" y="395935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CANCEL_QUOTES_ONLY</a:t>
            </a:r>
            <a:endParaRPr lang="en-US" sz="1150" dirty="0"/>
          </a:p>
        </p:txBody>
      </p:sp>
      <p:sp>
        <p:nvSpPr>
          <p:cNvPr id="25" name="Text 23"/>
          <p:cNvSpPr/>
          <p:nvPr/>
        </p:nvSpPr>
        <p:spPr>
          <a:xfrm>
            <a:off x="5369229" y="395935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What happens to resting orders when the session drops: cancel quotes only, cancel everything, or leave everything.</a:t>
            </a:r>
            <a:endParaRPr lang="en-US" sz="1150" dirty="0"/>
          </a:p>
        </p:txBody>
      </p:sp>
      <p:sp>
        <p:nvSpPr>
          <p:cNvPr id="26" name="Shape 24"/>
          <p:cNvSpPr/>
          <p:nvPr/>
        </p:nvSpPr>
        <p:spPr>
          <a:xfrm>
            <a:off x="640080" y="4462272"/>
            <a:ext cx="10911535" cy="502920"/>
          </a:xfrm>
          <a:prstGeom prst="rect">
            <a:avLst/>
          </a:prstGeom>
          <a:solidFill>
            <a:srgbClr val="252B33"/>
          </a:solidFill>
          <a:ln w="12700">
            <a:solidFill>
              <a:srgbClr val="333333"/>
            </a:solidFill>
            <a:prstDash val="solid"/>
          </a:ln>
        </p:spPr>
        <p:txBody>
          <a:bodyPr/>
          <a:lstStyle/>
          <a:p>
            <a:endParaRPr lang="en-SE"/>
          </a:p>
        </p:txBody>
      </p:sp>
      <p:sp>
        <p:nvSpPr>
          <p:cNvPr id="27" name="Text 25"/>
          <p:cNvSpPr/>
          <p:nvPr/>
        </p:nvSpPr>
        <p:spPr>
          <a:xfrm>
            <a:off x="786384" y="446227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quote_refresh_policy</a:t>
            </a:r>
            <a:endParaRPr lang="en-US" sz="1150" dirty="0"/>
          </a:p>
        </p:txBody>
      </p:sp>
      <p:sp>
        <p:nvSpPr>
          <p:cNvPr id="28" name="Text 26"/>
          <p:cNvSpPr/>
          <p:nvPr/>
        </p:nvSpPr>
        <p:spPr>
          <a:xfrm>
            <a:off x="3623383" y="446227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INACTIVATE_ON_ANY_FILL</a:t>
            </a:r>
            <a:endParaRPr lang="en-US" sz="1150" dirty="0"/>
          </a:p>
        </p:txBody>
      </p:sp>
      <p:sp>
        <p:nvSpPr>
          <p:cNvPr id="29" name="Text 27"/>
          <p:cNvSpPr/>
          <p:nvPr/>
        </p:nvSpPr>
        <p:spPr>
          <a:xfrm>
            <a:off x="5369229" y="446227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When a seeded quote stops being live after a fill — on any fill, on a full fill, or never.</a:t>
            </a:r>
            <a:endParaRPr lang="en-US" sz="1150" dirty="0"/>
          </a:p>
        </p:txBody>
      </p:sp>
      <p:sp>
        <p:nvSpPr>
          <p:cNvPr id="30" name="Text 28"/>
          <p:cNvSpPr/>
          <p:nvPr/>
        </p:nvSpPr>
        <p:spPr>
          <a:xfrm>
            <a:off x="786384" y="496519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smp_action</a:t>
            </a:r>
            <a:endParaRPr lang="en-US" sz="1150" dirty="0"/>
          </a:p>
        </p:txBody>
      </p:sp>
      <p:sp>
        <p:nvSpPr>
          <p:cNvPr id="31" name="Text 29"/>
          <p:cNvSpPr/>
          <p:nvPr/>
        </p:nvSpPr>
        <p:spPr>
          <a:xfrm>
            <a:off x="3623383" y="496519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NONE</a:t>
            </a:r>
            <a:endParaRPr lang="en-US" sz="1150" dirty="0"/>
          </a:p>
        </p:txBody>
      </p:sp>
      <p:sp>
        <p:nvSpPr>
          <p:cNvPr id="32" name="Text 30"/>
          <p:cNvSpPr/>
          <p:nvPr/>
        </p:nvSpPr>
        <p:spPr>
          <a:xfrm>
            <a:off x="5369229" y="496519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Self-match prevention for this gateway's orders when the order itself does not specify one.</a:t>
            </a:r>
            <a:endParaRPr lang="en-US" sz="1150" dirty="0"/>
          </a:p>
        </p:txBody>
      </p:sp>
      <p:sp>
        <p:nvSpPr>
          <p:cNvPr id="33" name="Shape 31"/>
          <p:cNvSpPr/>
          <p:nvPr/>
        </p:nvSpPr>
        <p:spPr>
          <a:xfrm>
            <a:off x="640080" y="5468112"/>
            <a:ext cx="10911535" cy="502920"/>
          </a:xfrm>
          <a:prstGeom prst="rect">
            <a:avLst/>
          </a:prstGeom>
          <a:solidFill>
            <a:srgbClr val="252B33"/>
          </a:solidFill>
          <a:ln w="12700">
            <a:solidFill>
              <a:srgbClr val="333333"/>
            </a:solidFill>
            <a:prstDash val="solid"/>
          </a:ln>
        </p:spPr>
        <p:txBody>
          <a:bodyPr/>
          <a:lstStyle/>
          <a:p>
            <a:endParaRPr lang="en-SE"/>
          </a:p>
        </p:txBody>
      </p:sp>
      <p:sp>
        <p:nvSpPr>
          <p:cNvPr id="34" name="Text 32"/>
          <p:cNvSpPr/>
          <p:nvPr/>
        </p:nvSpPr>
        <p:spPr>
          <a:xfrm>
            <a:off x="786384" y="5468112"/>
            <a:ext cx="2617543" cy="50292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mm_obligations</a:t>
            </a:r>
            <a:endParaRPr lang="en-US" sz="1150" dirty="0"/>
          </a:p>
        </p:txBody>
      </p:sp>
      <p:sp>
        <p:nvSpPr>
          <p:cNvPr id="35" name="Text 33"/>
          <p:cNvSpPr/>
          <p:nvPr/>
        </p:nvSpPr>
        <p:spPr>
          <a:xfrm>
            <a:off x="3623383" y="5468112"/>
            <a:ext cx="1526390"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t>
            </a:r>
            <a:endParaRPr lang="en-US" sz="1150" dirty="0"/>
          </a:p>
        </p:txBody>
      </p:sp>
      <p:sp>
        <p:nvSpPr>
          <p:cNvPr id="36" name="Text 34"/>
          <p:cNvSpPr/>
          <p:nvPr/>
        </p:nvSpPr>
        <p:spPr>
          <a:xfrm>
            <a:off x="5369229" y="5468112"/>
            <a:ext cx="6109234" cy="50292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Per-symbol market-making duties for this gateway — the finest-grained level of obligation control.</a:t>
            </a:r>
            <a:endParaRPr lang="en-US" sz="1150" dirty="0"/>
          </a:p>
        </p:txBody>
      </p:sp>
      <p:sp>
        <p:nvSpPr>
          <p:cNvPr id="37" name="Shape 35"/>
          <p:cNvSpPr/>
          <p:nvPr/>
        </p:nvSpPr>
        <p:spPr>
          <a:xfrm>
            <a:off x="640080" y="5943600"/>
            <a:ext cx="10911535" cy="685800"/>
          </a:xfrm>
          <a:prstGeom prst="roundRect">
            <a:avLst>
              <a:gd name="adj" fmla="val 8000"/>
            </a:avLst>
          </a:prstGeom>
          <a:solidFill>
            <a:srgbClr val="252B33"/>
          </a:solidFill>
          <a:ln w="12700">
            <a:solidFill>
              <a:srgbClr val="5AB2F7"/>
            </a:solidFill>
            <a:prstDash val="solid"/>
          </a:ln>
        </p:spPr>
        <p:txBody>
          <a:bodyPr/>
          <a:lstStyle/>
          <a:p>
            <a:endParaRPr lang="en-SE"/>
          </a:p>
        </p:txBody>
      </p:sp>
      <p:sp>
        <p:nvSpPr>
          <p:cNvPr id="38" name="Text 36"/>
          <p:cNvSpPr/>
          <p:nvPr/>
        </p:nvSpPr>
        <p:spPr>
          <a:xfrm>
            <a:off x="877824" y="6035040"/>
            <a:ext cx="1737360" cy="237744"/>
          </a:xfrm>
          <a:prstGeom prst="rect">
            <a:avLst/>
          </a:prstGeom>
          <a:noFill/>
          <a:ln/>
        </p:spPr>
        <p:txBody>
          <a:bodyPr wrap="square" lIns="0" tIns="0" rIns="0" bIns="0" rtlCol="0" anchor="ctr"/>
          <a:lstStyle/>
          <a:p>
            <a:pPr marL="0" indent="0">
              <a:buNone/>
            </a:pPr>
            <a:r>
              <a:rPr lang="en-US" sz="950" b="1" kern="0" spc="160" dirty="0">
                <a:solidFill>
                  <a:srgbClr val="5AB2F7"/>
                </a:solidFill>
                <a:latin typeface="Calibri" pitchFamily="34" charset="0"/>
                <a:ea typeface="Calibri" pitchFamily="34" charset="-122"/>
                <a:cs typeface="Calibri" pitchFamily="34" charset="-120"/>
              </a:rPr>
              <a:t>WATCH OUT</a:t>
            </a:r>
            <a:endParaRPr lang="en-US" sz="950" dirty="0"/>
          </a:p>
        </p:txBody>
      </p:sp>
      <p:sp>
        <p:nvSpPr>
          <p:cNvPr id="39" name="Text 37"/>
          <p:cNvSpPr/>
          <p:nvPr/>
        </p:nvSpPr>
        <p:spPr>
          <a:xfrm>
            <a:off x="877824" y="629107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No gateway ID may be a prefix of another. TRADER0 and TRADER01 together will be rejected — the gateways cannot tell the sessions apart.</a:t>
            </a:r>
            <a:endParaRPr lang="en-US" sz="1250" dirty="0"/>
          </a:p>
        </p:txBody>
      </p:sp>
      <p:sp>
        <p:nvSpPr>
          <p:cNvPr id="40" name="Text 38"/>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41" name="Text 39"/>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GATEWAYS.ALF</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three roles, and what they unlock</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Role is not about trust. It is about which commands the engine will accept from that session.</a:t>
            </a:r>
            <a:endParaRPr lang="en-US" sz="1450" dirty="0"/>
          </a:p>
        </p:txBody>
      </p:sp>
      <p:sp>
        <p:nvSpPr>
          <p:cNvPr id="6" name="Shape 4"/>
          <p:cNvSpPr/>
          <p:nvPr/>
        </p:nvSpPr>
        <p:spPr>
          <a:xfrm>
            <a:off x="640080" y="2011680"/>
            <a:ext cx="3454298"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452470" cy="50292"/>
          </a:xfrm>
          <a:prstGeom prst="rect">
            <a:avLst/>
          </a:prstGeom>
          <a:solidFill>
            <a:srgbClr val="5AB2F7"/>
          </a:solidFill>
          <a:ln w="12700">
            <a:solidFill>
              <a:srgbClr val="333333"/>
            </a:solidFill>
            <a:prstDash val="solid"/>
          </a:ln>
        </p:spPr>
        <p:txBody>
          <a:bodyPr/>
          <a:lstStyle/>
          <a:p>
            <a:endParaRPr lang="en-SE"/>
          </a:p>
        </p:txBody>
      </p:sp>
      <p:sp>
        <p:nvSpPr>
          <p:cNvPr id="8" name="Text 6"/>
          <p:cNvSpPr/>
          <p:nvPr/>
        </p:nvSpPr>
        <p:spPr>
          <a:xfrm>
            <a:off x="877824" y="2267712"/>
            <a:ext cx="2997098" cy="384048"/>
          </a:xfrm>
          <a:prstGeom prst="rect">
            <a:avLst/>
          </a:prstGeom>
          <a:noFill/>
          <a:ln/>
        </p:spPr>
        <p:txBody>
          <a:bodyPr wrap="square" lIns="0" tIns="0" rIns="0" bIns="0" rtlCol="0" anchor="ctr"/>
          <a:lstStyle/>
          <a:p>
            <a:pPr marL="0" indent="0">
              <a:buNone/>
            </a:pPr>
            <a:r>
              <a:rPr lang="en-US" sz="1700" b="1" dirty="0">
                <a:solidFill>
                  <a:srgbClr val="5AB2F7"/>
                </a:solidFill>
                <a:latin typeface="Consolas" pitchFamily="34" charset="0"/>
                <a:ea typeface="Consolas" pitchFamily="34" charset="-122"/>
                <a:cs typeface="Consolas" pitchFamily="34" charset="-120"/>
              </a:rPr>
              <a:t>TRADER</a:t>
            </a:r>
            <a:endParaRPr lang="en-US" sz="1700" dirty="0"/>
          </a:p>
        </p:txBody>
      </p:sp>
      <p:sp>
        <p:nvSpPr>
          <p:cNvPr id="9" name="Text 7"/>
          <p:cNvSpPr/>
          <p:nvPr/>
        </p:nvSpPr>
        <p:spPr>
          <a:xfrm>
            <a:off x="877824" y="2724912"/>
            <a:ext cx="2997098" cy="128016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The default. Submits, amends and cancels its own orders. Everything a participant in a classroom exercise needs.</a:t>
            </a:r>
            <a:endParaRPr lang="en-US" sz="1200" dirty="0"/>
          </a:p>
        </p:txBody>
      </p:sp>
      <p:sp>
        <p:nvSpPr>
          <p:cNvPr id="10" name="Text 8"/>
          <p:cNvSpPr/>
          <p:nvPr/>
        </p:nvSpPr>
        <p:spPr>
          <a:xfrm>
            <a:off x="877824" y="4023360"/>
            <a:ext cx="2997098" cy="548640"/>
          </a:xfrm>
          <a:prstGeom prst="rect">
            <a:avLst/>
          </a:prstGeom>
          <a:noFill/>
          <a:ln/>
        </p:spPr>
        <p:txBody>
          <a:bodyPr wrap="square" lIns="0" tIns="0" rIns="0" bIns="0" rtlCol="0" anchor="t"/>
          <a:lstStyle/>
          <a:p>
            <a:pPr marL="0" indent="0">
              <a:lnSpc>
                <a:spcPts val="1600"/>
              </a:lnSpc>
              <a:buNone/>
            </a:pPr>
            <a:r>
              <a:rPr lang="en-US" sz="1150" i="1" dirty="0">
                <a:solidFill>
                  <a:srgbClr val="5AB2F7"/>
                </a:solidFill>
                <a:latin typeface="Calibri" pitchFamily="34" charset="0"/>
                <a:ea typeface="Calibri" pitchFamily="34" charset="-122"/>
                <a:cs typeface="Calibri" pitchFamily="34" charset="-120"/>
              </a:rPr>
              <a:t>Nothing special. This is the baseline.</a:t>
            </a:r>
            <a:endParaRPr lang="en-US" sz="1150" dirty="0"/>
          </a:p>
        </p:txBody>
      </p:sp>
      <p:sp>
        <p:nvSpPr>
          <p:cNvPr id="11" name="Shape 9"/>
          <p:cNvSpPr/>
          <p:nvPr/>
        </p:nvSpPr>
        <p:spPr>
          <a:xfrm>
            <a:off x="4277258" y="2011680"/>
            <a:ext cx="3454298"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4278173" y="2012594"/>
            <a:ext cx="3452470" cy="50292"/>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4515002" y="2267712"/>
            <a:ext cx="2997098" cy="384048"/>
          </a:xfrm>
          <a:prstGeom prst="rect">
            <a:avLst/>
          </a:prstGeom>
          <a:noFill/>
          <a:ln/>
        </p:spPr>
        <p:txBody>
          <a:bodyPr wrap="square" lIns="0" tIns="0" rIns="0" bIns="0" rtlCol="0" anchor="ctr"/>
          <a:lstStyle/>
          <a:p>
            <a:pPr marL="0" indent="0">
              <a:buNone/>
            </a:pPr>
            <a:r>
              <a:rPr lang="en-US" sz="1700" b="1" dirty="0">
                <a:solidFill>
                  <a:srgbClr val="F3B441"/>
                </a:solidFill>
                <a:latin typeface="Consolas" pitchFamily="34" charset="0"/>
                <a:ea typeface="Consolas" pitchFamily="34" charset="-122"/>
                <a:cs typeface="Consolas" pitchFamily="34" charset="-120"/>
              </a:rPr>
              <a:t>MARKET_MAKER</a:t>
            </a:r>
            <a:endParaRPr lang="en-US" sz="1700" dirty="0"/>
          </a:p>
        </p:txBody>
      </p:sp>
      <p:sp>
        <p:nvSpPr>
          <p:cNvPr id="14" name="Text 12"/>
          <p:cNvSpPr/>
          <p:nvPr/>
        </p:nvSpPr>
        <p:spPr>
          <a:xfrm>
            <a:off x="4515002" y="2724912"/>
            <a:ext cx="2997098" cy="128016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Everything a trader can do, plus two-sided quoting. Seed quotes are injected on its behalf when it authenticates.</a:t>
            </a:r>
            <a:endParaRPr lang="en-US" sz="1200" dirty="0"/>
          </a:p>
        </p:txBody>
      </p:sp>
      <p:sp>
        <p:nvSpPr>
          <p:cNvPr id="15" name="Text 13"/>
          <p:cNvSpPr/>
          <p:nvPr/>
        </p:nvSpPr>
        <p:spPr>
          <a:xfrm>
            <a:off x="4515002" y="4023360"/>
            <a:ext cx="2997098" cy="548640"/>
          </a:xfrm>
          <a:prstGeom prst="rect">
            <a:avLst/>
          </a:prstGeom>
          <a:noFill/>
          <a:ln/>
        </p:spPr>
        <p:txBody>
          <a:bodyPr wrap="square" lIns="0" tIns="0" rIns="0" bIns="0" rtlCol="0" anchor="t"/>
          <a:lstStyle/>
          <a:p>
            <a:pPr marL="0" indent="0">
              <a:lnSpc>
                <a:spcPts val="1600"/>
              </a:lnSpc>
              <a:buNone/>
            </a:pPr>
            <a:r>
              <a:rPr lang="en-US" sz="1150" i="1" dirty="0">
                <a:solidFill>
                  <a:srgbClr val="F3B441"/>
                </a:solidFill>
                <a:latin typeface="Calibri" pitchFamily="34" charset="0"/>
                <a:ea typeface="Calibri" pitchFamily="34" charset="-122"/>
                <a:cs typeface="Calibri" pitchFamily="34" charset="-120"/>
              </a:rPr>
              <a:t>Unlocks quote seeding and obligation enforcement.</a:t>
            </a:r>
            <a:endParaRPr lang="en-US" sz="1150" dirty="0"/>
          </a:p>
        </p:txBody>
      </p:sp>
      <p:sp>
        <p:nvSpPr>
          <p:cNvPr id="16" name="Shape 14"/>
          <p:cNvSpPr/>
          <p:nvPr/>
        </p:nvSpPr>
        <p:spPr>
          <a:xfrm>
            <a:off x="7914437" y="2011680"/>
            <a:ext cx="3454298" cy="2651760"/>
          </a:xfrm>
          <a:prstGeom prst="roundRect">
            <a:avLst>
              <a:gd name="adj" fmla="val 2069"/>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7915351" y="2012594"/>
            <a:ext cx="3452470" cy="50292"/>
          </a:xfrm>
          <a:prstGeom prst="rect">
            <a:avLst/>
          </a:prstGeom>
          <a:solidFill>
            <a:srgbClr val="FF7A6B"/>
          </a:solidFill>
          <a:ln w="12700">
            <a:solidFill>
              <a:srgbClr val="333333"/>
            </a:solidFill>
            <a:prstDash val="solid"/>
          </a:ln>
        </p:spPr>
        <p:txBody>
          <a:bodyPr/>
          <a:lstStyle/>
          <a:p>
            <a:endParaRPr lang="en-SE"/>
          </a:p>
        </p:txBody>
      </p:sp>
      <p:sp>
        <p:nvSpPr>
          <p:cNvPr id="18" name="Text 16"/>
          <p:cNvSpPr/>
          <p:nvPr/>
        </p:nvSpPr>
        <p:spPr>
          <a:xfrm>
            <a:off x="8152181" y="2267712"/>
            <a:ext cx="2997098" cy="384048"/>
          </a:xfrm>
          <a:prstGeom prst="rect">
            <a:avLst/>
          </a:prstGeom>
          <a:noFill/>
          <a:ln/>
        </p:spPr>
        <p:txBody>
          <a:bodyPr wrap="square" lIns="0" tIns="0" rIns="0" bIns="0" rtlCol="0" anchor="ctr"/>
          <a:lstStyle/>
          <a:p>
            <a:pPr marL="0" indent="0">
              <a:buNone/>
            </a:pPr>
            <a:r>
              <a:rPr lang="en-US" sz="1700" b="1" dirty="0">
                <a:solidFill>
                  <a:srgbClr val="FF7A6B"/>
                </a:solidFill>
                <a:latin typeface="Consolas" pitchFamily="34" charset="0"/>
                <a:ea typeface="Consolas" pitchFamily="34" charset="-122"/>
                <a:cs typeface="Consolas" pitchFamily="34" charset="-120"/>
              </a:rPr>
              <a:t>ADMIN</a:t>
            </a:r>
            <a:endParaRPr lang="en-US" sz="1700" dirty="0"/>
          </a:p>
        </p:txBody>
      </p:sp>
      <p:sp>
        <p:nvSpPr>
          <p:cNvPr id="19" name="Text 17"/>
          <p:cNvSpPr/>
          <p:nvPr/>
        </p:nvSpPr>
        <p:spPr>
          <a:xfrm>
            <a:off x="8152181" y="2724912"/>
            <a:ext cx="2997098" cy="128016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Everything a trader can do, plus the five exchange-wide controls: halt, resume, per-symbol halt and resume, and symbol-level mass cancel.</a:t>
            </a:r>
            <a:endParaRPr lang="en-US" sz="1200" dirty="0"/>
          </a:p>
        </p:txBody>
      </p:sp>
      <p:sp>
        <p:nvSpPr>
          <p:cNvPr id="20" name="Text 18"/>
          <p:cNvSpPr/>
          <p:nvPr/>
        </p:nvSpPr>
        <p:spPr>
          <a:xfrm>
            <a:off x="8152181" y="4023360"/>
            <a:ext cx="2997098" cy="548640"/>
          </a:xfrm>
          <a:prstGeom prst="rect">
            <a:avLst/>
          </a:prstGeom>
          <a:noFill/>
          <a:ln/>
        </p:spPr>
        <p:txBody>
          <a:bodyPr wrap="square" lIns="0" tIns="0" rIns="0" bIns="0" rtlCol="0" anchor="t"/>
          <a:lstStyle/>
          <a:p>
            <a:pPr marL="0" indent="0">
              <a:lnSpc>
                <a:spcPts val="1600"/>
              </a:lnSpc>
              <a:buNone/>
            </a:pPr>
            <a:r>
              <a:rPr lang="en-US" sz="1150" i="1" dirty="0">
                <a:solidFill>
                  <a:srgbClr val="FF7A6B"/>
                </a:solidFill>
                <a:latin typeface="Calibri" pitchFamily="34" charset="0"/>
                <a:ea typeface="Calibri" pitchFamily="34" charset="-122"/>
                <a:cs typeface="Calibri" pitchFamily="34" charset="-120"/>
              </a:rPr>
              <a:t>Without one, nobody can stop the market.</a:t>
            </a:r>
            <a:endParaRPr lang="en-US" sz="1150" dirty="0"/>
          </a:p>
        </p:txBody>
      </p:sp>
      <p:sp>
        <p:nvSpPr>
          <p:cNvPr id="21" name="Shape 19"/>
          <p:cNvSpPr/>
          <p:nvPr/>
        </p:nvSpPr>
        <p:spPr>
          <a:xfrm>
            <a:off x="640080" y="4892040"/>
            <a:ext cx="10911535" cy="1005840"/>
          </a:xfrm>
          <a:prstGeom prst="roundRect">
            <a:avLst>
              <a:gd name="adj" fmla="val 5455"/>
            </a:avLst>
          </a:prstGeom>
          <a:solidFill>
            <a:srgbClr val="4C2420"/>
          </a:solidFill>
          <a:ln w="12700">
            <a:solidFill>
              <a:srgbClr val="FF7A6B"/>
            </a:solidFill>
            <a:prstDash val="solid"/>
          </a:ln>
        </p:spPr>
        <p:txBody>
          <a:bodyPr/>
          <a:lstStyle/>
          <a:p>
            <a:endParaRPr lang="en-SE"/>
          </a:p>
        </p:txBody>
      </p:sp>
      <p:sp>
        <p:nvSpPr>
          <p:cNvPr id="22" name="Text 20"/>
          <p:cNvSpPr/>
          <p:nvPr/>
        </p:nvSpPr>
        <p:spPr>
          <a:xfrm>
            <a:off x="877824" y="498348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TWO THINGS BEGINNERS GET WRONG HERE</a:t>
            </a:r>
            <a:endParaRPr lang="en-US" sz="950" dirty="0"/>
          </a:p>
        </p:txBody>
      </p:sp>
      <p:sp>
        <p:nvSpPr>
          <p:cNvPr id="23" name="Text 21"/>
          <p:cNvSpPr/>
          <p:nvPr/>
        </p:nvSpPr>
        <p:spPr>
          <a:xfrm>
            <a:off x="877824" y="5239512"/>
            <a:ext cx="10436047" cy="5486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Connecting does not require ADMIN — any configured ID can open an operator console and run read-only commands. The role is checked per command, and only for those five. And adding a MARKET_MAKER gateway is what makes seed quotes mandatory on every symbol: the role creates the obligation.</a:t>
            </a:r>
            <a:endParaRPr lang="en-US" sz="1250" dirty="0"/>
          </a:p>
        </p:txBody>
      </p:sp>
      <p:sp>
        <p:nvSpPr>
          <p:cNvPr id="24" name="Text 2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25" name="Text 2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Engine behaviour flags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Four global switches. All default to the safe answer, which is not always the answer you want.</a:t>
            </a:r>
            <a:endParaRPr lang="en-US" sz="1450" dirty="0"/>
          </a:p>
        </p:txBody>
      </p:sp>
      <p:sp>
        <p:nvSpPr>
          <p:cNvPr id="6" name="Shape 4"/>
          <p:cNvSpPr/>
          <p:nvPr/>
        </p:nvSpPr>
        <p:spPr>
          <a:xfrm>
            <a:off x="640080" y="1965960"/>
            <a:ext cx="10911535" cy="960120"/>
          </a:xfrm>
          <a:prstGeom prst="roundRect">
            <a:avLst>
              <a:gd name="adj" fmla="val 5714"/>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1965960"/>
            <a:ext cx="50292" cy="960120"/>
          </a:xfrm>
          <a:prstGeom prst="rect">
            <a:avLst/>
          </a:prstGeom>
          <a:solidFill>
            <a:srgbClr val="9B8CFF"/>
          </a:solidFill>
          <a:ln w="12700">
            <a:solidFill>
              <a:srgbClr val="333333"/>
            </a:solidFill>
            <a:prstDash val="solid"/>
          </a:ln>
        </p:spPr>
        <p:txBody>
          <a:bodyPr/>
          <a:lstStyle/>
          <a:p>
            <a:endParaRPr lang="en-SE"/>
          </a:p>
        </p:txBody>
      </p:sp>
      <p:sp>
        <p:nvSpPr>
          <p:cNvPr id="8" name="Text 6"/>
          <p:cNvSpPr/>
          <p:nvPr/>
        </p:nvSpPr>
        <p:spPr>
          <a:xfrm>
            <a:off x="896112" y="2075688"/>
            <a:ext cx="3291840" cy="310896"/>
          </a:xfrm>
          <a:prstGeom prst="rect">
            <a:avLst/>
          </a:prstGeom>
          <a:noFill/>
          <a:ln/>
        </p:spPr>
        <p:txBody>
          <a:bodyPr wrap="square" lIns="0" tIns="0" rIns="0" bIns="0" rtlCol="0" anchor="ctr"/>
          <a:lstStyle/>
          <a:p>
            <a:pPr marL="0" indent="0">
              <a:buNone/>
            </a:pPr>
            <a:r>
              <a:rPr lang="en-US" sz="1350" b="1" dirty="0">
                <a:solidFill>
                  <a:srgbClr val="9B8CFF"/>
                </a:solidFill>
                <a:latin typeface="Consolas" pitchFamily="34" charset="0"/>
                <a:ea typeface="Consolas" pitchFamily="34" charset="-122"/>
                <a:cs typeface="Consolas" pitchFamily="34" charset="-120"/>
              </a:rPr>
              <a:t>sessions_enabled</a:t>
            </a:r>
            <a:endParaRPr lang="en-US" sz="1350" dirty="0"/>
          </a:p>
        </p:txBody>
      </p:sp>
      <p:sp>
        <p:nvSpPr>
          <p:cNvPr id="9" name="Text 7"/>
          <p:cNvSpPr/>
          <p:nvPr/>
        </p:nvSpPr>
        <p:spPr>
          <a:xfrm>
            <a:off x="896112" y="2423160"/>
            <a:ext cx="3291840" cy="256032"/>
          </a:xfrm>
          <a:prstGeom prst="rect">
            <a:avLst/>
          </a:prstGeom>
          <a:noFill/>
          <a:ln/>
        </p:spPr>
        <p:txBody>
          <a:bodyPr wrap="square" lIns="0" tIns="0" rIns="0" bIns="0" rtlCol="0" anchor="ctr"/>
          <a:lstStyle/>
          <a:p>
            <a:pPr marL="0" indent="0">
              <a:buNone/>
            </a:pPr>
            <a:r>
              <a:rPr lang="en-US" sz="1050" dirty="0">
                <a:solidFill>
                  <a:srgbClr val="8D97A5"/>
                </a:solidFill>
                <a:latin typeface="Consolas" pitchFamily="34" charset="0"/>
                <a:ea typeface="Consolas" pitchFamily="34" charset="-122"/>
                <a:cs typeface="Consolas" pitchFamily="34" charset="-120"/>
              </a:rPr>
              <a:t>default: true</a:t>
            </a:r>
            <a:endParaRPr lang="en-US" sz="1050" dirty="0"/>
          </a:p>
        </p:txBody>
      </p:sp>
      <p:sp>
        <p:nvSpPr>
          <p:cNvPr id="10" name="Text 8"/>
          <p:cNvSpPr/>
          <p:nvPr/>
        </p:nvSpPr>
        <p:spPr>
          <a:xfrm>
            <a:off x="4343400" y="2093976"/>
            <a:ext cx="7040880" cy="365760"/>
          </a:xfrm>
          <a:prstGeom prst="rect">
            <a:avLst/>
          </a:prstGeom>
          <a:noFill/>
          <a:ln/>
        </p:spPr>
        <p:txBody>
          <a:bodyPr wrap="square" lIns="0" tIns="0" rIns="0" bIns="0" rtlCol="0" anchor="t"/>
          <a:lstStyle/>
          <a:p>
            <a:pPr marL="0" indent="0">
              <a:lnSpc>
                <a:spcPts val="1700"/>
              </a:lnSpc>
              <a:buNone/>
            </a:pPr>
            <a:r>
              <a:rPr lang="en-US" sz="1250" dirty="0">
                <a:solidFill>
                  <a:srgbClr val="F1F4F8"/>
                </a:solidFill>
                <a:latin typeface="Calibri" pitchFamily="34" charset="0"/>
                <a:ea typeface="Calibri" pitchFamily="34" charset="-122"/>
                <a:cs typeface="Calibri" pitchFamily="34" charset="-120"/>
              </a:rPr>
              <a:t>When true the engine starts CLOSED and honours session transitions. When false it starts and stays in CONTINUOUS.</a:t>
            </a:r>
            <a:endParaRPr lang="en-US" sz="1250" dirty="0"/>
          </a:p>
        </p:txBody>
      </p:sp>
      <p:sp>
        <p:nvSpPr>
          <p:cNvPr id="11" name="Text 9"/>
          <p:cNvSpPr/>
          <p:nvPr/>
        </p:nvSpPr>
        <p:spPr>
          <a:xfrm>
            <a:off x="4343400" y="2478024"/>
            <a:ext cx="7040880" cy="402336"/>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This is the number one reason a new exchange "does not match anything". It is true by default, so without a scheduler the market never opens.</a:t>
            </a:r>
            <a:endParaRPr lang="en-US" sz="1150" dirty="0"/>
          </a:p>
        </p:txBody>
      </p:sp>
      <p:sp>
        <p:nvSpPr>
          <p:cNvPr id="12" name="Shape 10"/>
          <p:cNvSpPr/>
          <p:nvPr/>
        </p:nvSpPr>
        <p:spPr>
          <a:xfrm>
            <a:off x="640080" y="3026664"/>
            <a:ext cx="10911535" cy="960120"/>
          </a:xfrm>
          <a:prstGeom prst="roundRect">
            <a:avLst>
              <a:gd name="adj" fmla="val 5714"/>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640080" y="3026664"/>
            <a:ext cx="50292" cy="960120"/>
          </a:xfrm>
          <a:prstGeom prst="rect">
            <a:avLst/>
          </a:prstGeom>
          <a:solidFill>
            <a:srgbClr val="FF7A6B"/>
          </a:solidFill>
          <a:ln w="12700">
            <a:solidFill>
              <a:srgbClr val="333333"/>
            </a:solidFill>
            <a:prstDash val="solid"/>
          </a:ln>
        </p:spPr>
        <p:txBody>
          <a:bodyPr/>
          <a:lstStyle/>
          <a:p>
            <a:endParaRPr lang="en-SE"/>
          </a:p>
        </p:txBody>
      </p:sp>
      <p:sp>
        <p:nvSpPr>
          <p:cNvPr id="14" name="Text 12"/>
          <p:cNvSpPr/>
          <p:nvPr/>
        </p:nvSpPr>
        <p:spPr>
          <a:xfrm>
            <a:off x="896112" y="3136392"/>
            <a:ext cx="3291840" cy="310896"/>
          </a:xfrm>
          <a:prstGeom prst="rect">
            <a:avLst/>
          </a:prstGeom>
          <a:noFill/>
          <a:ln/>
        </p:spPr>
        <p:txBody>
          <a:bodyPr wrap="square" lIns="0" tIns="0" rIns="0" bIns="0" rtlCol="0" anchor="ctr"/>
          <a:lstStyle/>
          <a:p>
            <a:pPr marL="0" indent="0">
              <a:buNone/>
            </a:pPr>
            <a:r>
              <a:rPr lang="en-US" sz="1350" b="1" dirty="0">
                <a:solidFill>
                  <a:srgbClr val="FF7A6B"/>
                </a:solidFill>
                <a:latin typeface="Consolas" pitchFamily="34" charset="0"/>
                <a:ea typeface="Consolas" pitchFamily="34" charset="-122"/>
                <a:cs typeface="Consolas" pitchFamily="34" charset="-120"/>
              </a:rPr>
              <a:t>enforce_collars</a:t>
            </a:r>
            <a:endParaRPr lang="en-US" sz="1350" dirty="0"/>
          </a:p>
        </p:txBody>
      </p:sp>
      <p:sp>
        <p:nvSpPr>
          <p:cNvPr id="15" name="Text 13"/>
          <p:cNvSpPr/>
          <p:nvPr/>
        </p:nvSpPr>
        <p:spPr>
          <a:xfrm>
            <a:off x="896112" y="3483864"/>
            <a:ext cx="3291840" cy="256032"/>
          </a:xfrm>
          <a:prstGeom prst="rect">
            <a:avLst/>
          </a:prstGeom>
          <a:noFill/>
          <a:ln/>
        </p:spPr>
        <p:txBody>
          <a:bodyPr wrap="square" lIns="0" tIns="0" rIns="0" bIns="0" rtlCol="0" anchor="ctr"/>
          <a:lstStyle/>
          <a:p>
            <a:pPr marL="0" indent="0">
              <a:buNone/>
            </a:pPr>
            <a:r>
              <a:rPr lang="en-US" sz="1050" dirty="0">
                <a:solidFill>
                  <a:srgbClr val="8D97A5"/>
                </a:solidFill>
                <a:latin typeface="Consolas" pitchFamily="34" charset="0"/>
                <a:ea typeface="Consolas" pitchFamily="34" charset="-122"/>
                <a:cs typeface="Consolas" pitchFamily="34" charset="-120"/>
              </a:rPr>
              <a:t>default: true</a:t>
            </a:r>
            <a:endParaRPr lang="en-US" sz="1050" dirty="0"/>
          </a:p>
        </p:txBody>
      </p:sp>
      <p:sp>
        <p:nvSpPr>
          <p:cNvPr id="16" name="Text 14"/>
          <p:cNvSpPr/>
          <p:nvPr/>
        </p:nvSpPr>
        <p:spPr>
          <a:xfrm>
            <a:off x="4343400" y="3154680"/>
            <a:ext cx="7040880" cy="365760"/>
          </a:xfrm>
          <a:prstGeom prst="rect">
            <a:avLst/>
          </a:prstGeom>
          <a:noFill/>
          <a:ln/>
        </p:spPr>
        <p:txBody>
          <a:bodyPr wrap="square" lIns="0" tIns="0" rIns="0" bIns="0" rtlCol="0" anchor="t"/>
          <a:lstStyle/>
          <a:p>
            <a:pPr marL="0" indent="0">
              <a:lnSpc>
                <a:spcPts val="1700"/>
              </a:lnSpc>
              <a:buNone/>
            </a:pPr>
            <a:r>
              <a:rPr lang="en-US" sz="1250" dirty="0">
                <a:solidFill>
                  <a:srgbClr val="F1F4F8"/>
                </a:solidFill>
                <a:latin typeface="Calibri" pitchFamily="34" charset="0"/>
                <a:ea typeface="Calibri" pitchFamily="34" charset="-122"/>
                <a:cs typeface="Calibri" pitchFamily="34" charset="-120"/>
              </a:rPr>
              <a:t>The master switch for price-band rejection across the whole exchange.</a:t>
            </a:r>
            <a:endParaRPr lang="en-US" sz="1250" dirty="0"/>
          </a:p>
        </p:txBody>
      </p:sp>
      <p:sp>
        <p:nvSpPr>
          <p:cNvPr id="17" name="Text 15"/>
          <p:cNvSpPr/>
          <p:nvPr/>
        </p:nvSpPr>
        <p:spPr>
          <a:xfrm>
            <a:off x="4343400" y="3538728"/>
            <a:ext cx="7040880" cy="402336"/>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Turning it off does not delete your collar settings. It just stops applying them — and the verifier will tell you so.</a:t>
            </a:r>
            <a:endParaRPr lang="en-US" sz="1150" dirty="0"/>
          </a:p>
        </p:txBody>
      </p:sp>
      <p:sp>
        <p:nvSpPr>
          <p:cNvPr id="18" name="Shape 16"/>
          <p:cNvSpPr/>
          <p:nvPr/>
        </p:nvSpPr>
        <p:spPr>
          <a:xfrm>
            <a:off x="640080" y="4087368"/>
            <a:ext cx="10911535" cy="960120"/>
          </a:xfrm>
          <a:prstGeom prst="roundRect">
            <a:avLst>
              <a:gd name="adj" fmla="val 5714"/>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40080" y="4087368"/>
            <a:ext cx="50292" cy="960120"/>
          </a:xfrm>
          <a:prstGeom prst="rect">
            <a:avLst/>
          </a:prstGeom>
          <a:solidFill>
            <a:srgbClr val="FF7A6B"/>
          </a:solidFill>
          <a:ln w="12700">
            <a:solidFill>
              <a:srgbClr val="333333"/>
            </a:solidFill>
            <a:prstDash val="solid"/>
          </a:ln>
        </p:spPr>
        <p:txBody>
          <a:bodyPr/>
          <a:lstStyle/>
          <a:p>
            <a:endParaRPr lang="en-SE"/>
          </a:p>
        </p:txBody>
      </p:sp>
      <p:sp>
        <p:nvSpPr>
          <p:cNvPr id="20" name="Text 18"/>
          <p:cNvSpPr/>
          <p:nvPr/>
        </p:nvSpPr>
        <p:spPr>
          <a:xfrm>
            <a:off x="896112" y="4197096"/>
            <a:ext cx="3291840" cy="310896"/>
          </a:xfrm>
          <a:prstGeom prst="rect">
            <a:avLst/>
          </a:prstGeom>
          <a:noFill/>
          <a:ln/>
        </p:spPr>
        <p:txBody>
          <a:bodyPr wrap="square" lIns="0" tIns="0" rIns="0" bIns="0" rtlCol="0" anchor="ctr"/>
          <a:lstStyle/>
          <a:p>
            <a:pPr marL="0" indent="0">
              <a:buNone/>
            </a:pPr>
            <a:r>
              <a:rPr lang="en-US" sz="1350" b="1" dirty="0">
                <a:solidFill>
                  <a:srgbClr val="FF7A6B"/>
                </a:solidFill>
                <a:latin typeface="Consolas" pitchFamily="34" charset="0"/>
                <a:ea typeface="Consolas" pitchFamily="34" charset="-122"/>
                <a:cs typeface="Consolas" pitchFamily="34" charset="-120"/>
              </a:rPr>
              <a:t>enforce_circuit_breakers</a:t>
            </a:r>
            <a:endParaRPr lang="en-US" sz="1350" dirty="0"/>
          </a:p>
        </p:txBody>
      </p:sp>
      <p:sp>
        <p:nvSpPr>
          <p:cNvPr id="21" name="Text 19"/>
          <p:cNvSpPr/>
          <p:nvPr/>
        </p:nvSpPr>
        <p:spPr>
          <a:xfrm>
            <a:off x="896112" y="4544568"/>
            <a:ext cx="3291840" cy="256032"/>
          </a:xfrm>
          <a:prstGeom prst="rect">
            <a:avLst/>
          </a:prstGeom>
          <a:noFill/>
          <a:ln/>
        </p:spPr>
        <p:txBody>
          <a:bodyPr wrap="square" lIns="0" tIns="0" rIns="0" bIns="0" rtlCol="0" anchor="ctr"/>
          <a:lstStyle/>
          <a:p>
            <a:pPr marL="0" indent="0">
              <a:buNone/>
            </a:pPr>
            <a:r>
              <a:rPr lang="en-US" sz="1050" dirty="0">
                <a:solidFill>
                  <a:srgbClr val="8D97A5"/>
                </a:solidFill>
                <a:latin typeface="Consolas" pitchFamily="34" charset="0"/>
                <a:ea typeface="Consolas" pitchFamily="34" charset="-122"/>
                <a:cs typeface="Consolas" pitchFamily="34" charset="-120"/>
              </a:rPr>
              <a:t>default: true</a:t>
            </a:r>
            <a:endParaRPr lang="en-US" sz="1050" dirty="0"/>
          </a:p>
        </p:txBody>
      </p:sp>
      <p:sp>
        <p:nvSpPr>
          <p:cNvPr id="22" name="Text 20"/>
          <p:cNvSpPr/>
          <p:nvPr/>
        </p:nvSpPr>
        <p:spPr>
          <a:xfrm>
            <a:off x="4343400" y="4215384"/>
            <a:ext cx="7040880" cy="365760"/>
          </a:xfrm>
          <a:prstGeom prst="rect">
            <a:avLst/>
          </a:prstGeom>
          <a:noFill/>
          <a:ln/>
        </p:spPr>
        <p:txBody>
          <a:bodyPr wrap="square" lIns="0" tIns="0" rIns="0" bIns="0" rtlCol="0" anchor="t"/>
          <a:lstStyle/>
          <a:p>
            <a:pPr marL="0" indent="0">
              <a:lnSpc>
                <a:spcPts val="1700"/>
              </a:lnSpc>
              <a:buNone/>
            </a:pPr>
            <a:r>
              <a:rPr lang="en-US" sz="1250" dirty="0">
                <a:solidFill>
                  <a:srgbClr val="F1F4F8"/>
                </a:solidFill>
                <a:latin typeface="Calibri" pitchFamily="34" charset="0"/>
                <a:ea typeface="Calibri" pitchFamily="34" charset="-122"/>
                <a:cs typeface="Calibri" pitchFamily="34" charset="-120"/>
              </a:rPr>
              <a:t>The master switch for automatic volatility halts.</a:t>
            </a:r>
            <a:endParaRPr lang="en-US" sz="1250" dirty="0"/>
          </a:p>
        </p:txBody>
      </p:sp>
      <p:sp>
        <p:nvSpPr>
          <p:cNvPr id="23" name="Text 21"/>
          <p:cNvSpPr/>
          <p:nvPr/>
        </p:nvSpPr>
        <p:spPr>
          <a:xfrm>
            <a:off x="4343400" y="4599432"/>
            <a:ext cx="7040880" cy="402336"/>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Leave it on. A halted symbol is a teaching moment; a symbol that fell ninety percent is an incident.</a:t>
            </a:r>
            <a:endParaRPr lang="en-US" sz="1150" dirty="0"/>
          </a:p>
        </p:txBody>
      </p:sp>
      <p:sp>
        <p:nvSpPr>
          <p:cNvPr id="24" name="Shape 22"/>
          <p:cNvSpPr/>
          <p:nvPr/>
        </p:nvSpPr>
        <p:spPr>
          <a:xfrm>
            <a:off x="640080" y="5148072"/>
            <a:ext cx="10911535" cy="960120"/>
          </a:xfrm>
          <a:prstGeom prst="roundRect">
            <a:avLst>
              <a:gd name="adj" fmla="val 5714"/>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640080" y="5148072"/>
            <a:ext cx="50292" cy="960120"/>
          </a:xfrm>
          <a:prstGeom prst="rect">
            <a:avLst/>
          </a:prstGeom>
          <a:solidFill>
            <a:srgbClr val="5AB2F7"/>
          </a:solidFill>
          <a:ln w="12700">
            <a:solidFill>
              <a:srgbClr val="333333"/>
            </a:solidFill>
            <a:prstDash val="solid"/>
          </a:ln>
        </p:spPr>
        <p:txBody>
          <a:bodyPr/>
          <a:lstStyle/>
          <a:p>
            <a:endParaRPr lang="en-SE"/>
          </a:p>
        </p:txBody>
      </p:sp>
      <p:sp>
        <p:nvSpPr>
          <p:cNvPr id="26" name="Text 24"/>
          <p:cNvSpPr/>
          <p:nvPr/>
        </p:nvSpPr>
        <p:spPr>
          <a:xfrm>
            <a:off x="896112" y="5257800"/>
            <a:ext cx="3291840" cy="310896"/>
          </a:xfrm>
          <a:prstGeom prst="rect">
            <a:avLst/>
          </a:prstGeom>
          <a:noFill/>
          <a:ln/>
        </p:spPr>
        <p:txBody>
          <a:bodyPr wrap="square" lIns="0" tIns="0" rIns="0" bIns="0" rtlCol="0" anchor="ctr"/>
          <a:lstStyle/>
          <a:p>
            <a:pPr marL="0" indent="0">
              <a:buNone/>
            </a:pPr>
            <a:r>
              <a:rPr lang="en-US" sz="1350" b="1" dirty="0">
                <a:solidFill>
                  <a:srgbClr val="5AB2F7"/>
                </a:solidFill>
                <a:latin typeface="Consolas" pitchFamily="34" charset="0"/>
                <a:ea typeface="Consolas" pitchFamily="34" charset="-122"/>
                <a:cs typeface="Consolas" pitchFamily="34" charset="-120"/>
              </a:rPr>
              <a:t>snapshot_interval_sec</a:t>
            </a:r>
            <a:endParaRPr lang="en-US" sz="1350" dirty="0"/>
          </a:p>
        </p:txBody>
      </p:sp>
      <p:sp>
        <p:nvSpPr>
          <p:cNvPr id="27" name="Text 25"/>
          <p:cNvSpPr/>
          <p:nvPr/>
        </p:nvSpPr>
        <p:spPr>
          <a:xfrm>
            <a:off x="896112" y="5605272"/>
            <a:ext cx="3291840" cy="256032"/>
          </a:xfrm>
          <a:prstGeom prst="rect">
            <a:avLst/>
          </a:prstGeom>
          <a:noFill/>
          <a:ln/>
        </p:spPr>
        <p:txBody>
          <a:bodyPr wrap="square" lIns="0" tIns="0" rIns="0" bIns="0" rtlCol="0" anchor="ctr"/>
          <a:lstStyle/>
          <a:p>
            <a:pPr marL="0" indent="0">
              <a:buNone/>
            </a:pPr>
            <a:r>
              <a:rPr lang="en-US" sz="1050" dirty="0">
                <a:solidFill>
                  <a:srgbClr val="8D97A5"/>
                </a:solidFill>
                <a:latin typeface="Consolas" pitchFamily="34" charset="0"/>
                <a:ea typeface="Consolas" pitchFamily="34" charset="-122"/>
                <a:cs typeface="Consolas" pitchFamily="34" charset="-120"/>
              </a:rPr>
              <a:t>default: 0.5</a:t>
            </a:r>
            <a:endParaRPr lang="en-US" sz="1050" dirty="0"/>
          </a:p>
        </p:txBody>
      </p:sp>
      <p:sp>
        <p:nvSpPr>
          <p:cNvPr id="28" name="Text 26"/>
          <p:cNvSpPr/>
          <p:nvPr/>
        </p:nvSpPr>
        <p:spPr>
          <a:xfrm>
            <a:off x="4343400" y="5276088"/>
            <a:ext cx="7040880" cy="365760"/>
          </a:xfrm>
          <a:prstGeom prst="rect">
            <a:avLst/>
          </a:prstGeom>
          <a:noFill/>
          <a:ln/>
        </p:spPr>
        <p:txBody>
          <a:bodyPr wrap="square" lIns="0" tIns="0" rIns="0" bIns="0" rtlCol="0" anchor="t"/>
          <a:lstStyle/>
          <a:p>
            <a:pPr marL="0" indent="0">
              <a:lnSpc>
                <a:spcPts val="1700"/>
              </a:lnSpc>
              <a:buNone/>
            </a:pPr>
            <a:r>
              <a:rPr lang="en-US" sz="1250" dirty="0">
                <a:solidFill>
                  <a:srgbClr val="F1F4F8"/>
                </a:solidFill>
                <a:latin typeface="Calibri" pitchFamily="34" charset="0"/>
                <a:ea typeface="Calibri" pitchFamily="34" charset="-122"/>
                <a:cs typeface="Calibri" pitchFamily="34" charset="-120"/>
              </a:rPr>
              <a:t>The minimum gap between published order-book snapshots for a busy symbol.</a:t>
            </a:r>
            <a:endParaRPr lang="en-US" sz="1250" dirty="0"/>
          </a:p>
        </p:txBody>
      </p:sp>
      <p:sp>
        <p:nvSpPr>
          <p:cNvPr id="29" name="Text 27"/>
          <p:cNvSpPr/>
          <p:nvPr/>
        </p:nvSpPr>
        <p:spPr>
          <a:xfrm>
            <a:off x="4343400" y="5660136"/>
            <a:ext cx="7040880" cy="402336"/>
          </a:xfrm>
          <a:prstGeom prst="rect">
            <a:avLst/>
          </a:prstGeom>
          <a:noFill/>
          <a:ln/>
        </p:spPr>
        <p:txBody>
          <a:bodyPr wrap="square" lIns="0" tIns="0" rIns="0" bIns="0" rtlCol="0" anchor="t"/>
          <a:lstStyle/>
          <a:p>
            <a:pPr marL="0" indent="0">
              <a:lnSpc>
                <a:spcPts val="1500"/>
              </a:lnSpc>
              <a:buNone/>
            </a:pPr>
            <a:r>
              <a:rPr lang="en-US" sz="1150" dirty="0">
                <a:solidFill>
                  <a:srgbClr val="8D97A5"/>
                </a:solidFill>
                <a:latin typeface="Calibri" pitchFamily="34" charset="0"/>
                <a:ea typeface="Calibri" pitchFamily="34" charset="-122"/>
                <a:cs typeface="Calibri" pitchFamily="34" charset="-120"/>
              </a:rPr>
              <a:t>Lower means more data and more load. Below 0.2 across more than twenty symbols draws a warning.</a:t>
            </a:r>
            <a:endParaRPr lang="en-US" sz="1150" dirty="0"/>
          </a:p>
        </p:txBody>
      </p:sp>
      <p:sp>
        <p:nvSpPr>
          <p:cNvPr id="30" name="Text 28"/>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31" name="Text 29"/>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risk_controls — how a collar works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collar is a band around a reference price. An order priced outside it is rejected before it can ever trade.</a:t>
            </a:r>
            <a:endParaRPr lang="en-US" sz="1450" dirty="0"/>
          </a:p>
        </p:txBody>
      </p:sp>
      <p:sp>
        <p:nvSpPr>
          <p:cNvPr id="6" name="Shape 4"/>
          <p:cNvSpPr/>
          <p:nvPr/>
        </p:nvSpPr>
        <p:spPr>
          <a:xfrm>
            <a:off x="640080" y="2148840"/>
            <a:ext cx="6583680" cy="2286000"/>
          </a:xfrm>
          <a:prstGeom prst="roundRect">
            <a:avLst>
              <a:gd name="adj" fmla="val 24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1188720" y="2560320"/>
            <a:ext cx="5486400" cy="1463040"/>
          </a:xfrm>
          <a:prstGeom prst="rect">
            <a:avLst/>
          </a:prstGeom>
          <a:solidFill>
            <a:srgbClr val="4C2420"/>
          </a:solidFill>
          <a:ln w="12700">
            <a:solidFill>
              <a:srgbClr val="333333"/>
            </a:solidFill>
            <a:prstDash val="solid"/>
          </a:ln>
        </p:spPr>
        <p:txBody>
          <a:bodyPr/>
          <a:lstStyle/>
          <a:p>
            <a:endParaRPr lang="en-SE"/>
          </a:p>
        </p:txBody>
      </p:sp>
      <p:sp>
        <p:nvSpPr>
          <p:cNvPr id="8" name="Shape 6"/>
          <p:cNvSpPr/>
          <p:nvPr/>
        </p:nvSpPr>
        <p:spPr>
          <a:xfrm>
            <a:off x="1188720" y="3017520"/>
            <a:ext cx="5486400" cy="548640"/>
          </a:xfrm>
          <a:prstGeom prst="rect">
            <a:avLst/>
          </a:prstGeom>
          <a:solidFill>
            <a:srgbClr val="13463F"/>
          </a:solidFill>
          <a:ln w="12700">
            <a:solidFill>
              <a:srgbClr val="333333"/>
            </a:solidFill>
            <a:prstDash val="solid"/>
          </a:ln>
        </p:spPr>
        <p:txBody>
          <a:bodyPr/>
          <a:lstStyle/>
          <a:p>
            <a:endParaRPr lang="en-SE"/>
          </a:p>
        </p:txBody>
      </p:sp>
      <p:sp>
        <p:nvSpPr>
          <p:cNvPr id="9" name="Shape 7"/>
          <p:cNvSpPr/>
          <p:nvPr/>
        </p:nvSpPr>
        <p:spPr>
          <a:xfrm>
            <a:off x="1188720" y="3282696"/>
            <a:ext cx="5486400" cy="22860"/>
          </a:xfrm>
          <a:prstGeom prst="rect">
            <a:avLst/>
          </a:prstGeom>
          <a:solidFill>
            <a:srgbClr val="34D6BE"/>
          </a:solidFill>
          <a:ln w="12700">
            <a:solidFill>
              <a:srgbClr val="333333"/>
            </a:solidFill>
            <a:prstDash val="solid"/>
          </a:ln>
        </p:spPr>
        <p:txBody>
          <a:bodyPr/>
          <a:lstStyle/>
          <a:p>
            <a:endParaRPr lang="en-SE"/>
          </a:p>
        </p:txBody>
      </p:sp>
      <p:sp>
        <p:nvSpPr>
          <p:cNvPr id="10" name="Text 8"/>
          <p:cNvSpPr/>
          <p:nvPr/>
        </p:nvSpPr>
        <p:spPr>
          <a:xfrm>
            <a:off x="1325880" y="3319272"/>
            <a:ext cx="2194560" cy="237744"/>
          </a:xfrm>
          <a:prstGeom prst="rect">
            <a:avLst/>
          </a:prstGeom>
          <a:noFill/>
          <a:ln/>
        </p:spPr>
        <p:txBody>
          <a:bodyPr wrap="square" lIns="0" tIns="0" rIns="0" bIns="0" rtlCol="0" anchor="ctr"/>
          <a:lstStyle/>
          <a:p>
            <a:pPr marL="0" indent="0">
              <a:buNone/>
            </a:pPr>
            <a:r>
              <a:rPr lang="en-US" sz="1000" dirty="0">
                <a:solidFill>
                  <a:srgbClr val="34D6BE"/>
                </a:solidFill>
                <a:latin typeface="Calibri" pitchFamily="34" charset="0"/>
                <a:ea typeface="Calibri" pitchFamily="34" charset="-122"/>
                <a:cs typeface="Calibri" pitchFamily="34" charset="-120"/>
              </a:rPr>
              <a:t>reference price</a:t>
            </a:r>
            <a:endParaRPr lang="en-US" sz="1000" dirty="0"/>
          </a:p>
        </p:txBody>
      </p:sp>
      <p:sp>
        <p:nvSpPr>
          <p:cNvPr id="11" name="Text 9"/>
          <p:cNvSpPr/>
          <p:nvPr/>
        </p:nvSpPr>
        <p:spPr>
          <a:xfrm>
            <a:off x="4754880" y="3063240"/>
            <a:ext cx="2194560" cy="237744"/>
          </a:xfrm>
          <a:prstGeom prst="rect">
            <a:avLst/>
          </a:prstGeom>
          <a:noFill/>
          <a:ln/>
        </p:spPr>
        <p:txBody>
          <a:bodyPr wrap="square" lIns="0" tIns="0" rIns="0" bIns="0" rtlCol="0" anchor="ctr"/>
          <a:lstStyle/>
          <a:p>
            <a:pPr marL="0" indent="0" algn="r">
              <a:buNone/>
            </a:pPr>
            <a:r>
              <a:rPr lang="en-US" sz="1000" dirty="0">
                <a:solidFill>
                  <a:srgbClr val="34D6BE"/>
                </a:solidFill>
                <a:latin typeface="Calibri" pitchFamily="34" charset="0"/>
                <a:ea typeface="Calibri" pitchFamily="34" charset="-122"/>
                <a:cs typeface="Calibri" pitchFamily="34" charset="-120"/>
              </a:rPr>
              <a:t>dynamic band  ±2%</a:t>
            </a:r>
            <a:endParaRPr lang="en-US" sz="1000" dirty="0"/>
          </a:p>
        </p:txBody>
      </p:sp>
      <p:sp>
        <p:nvSpPr>
          <p:cNvPr id="12" name="Text 10"/>
          <p:cNvSpPr/>
          <p:nvPr/>
        </p:nvSpPr>
        <p:spPr>
          <a:xfrm>
            <a:off x="4754880" y="2606040"/>
            <a:ext cx="2194560" cy="237744"/>
          </a:xfrm>
          <a:prstGeom prst="rect">
            <a:avLst/>
          </a:prstGeom>
          <a:noFill/>
          <a:ln/>
        </p:spPr>
        <p:txBody>
          <a:bodyPr wrap="square" lIns="0" tIns="0" rIns="0" bIns="0" rtlCol="0" anchor="ctr"/>
          <a:lstStyle/>
          <a:p>
            <a:pPr marL="0" indent="0" algn="r">
              <a:buNone/>
            </a:pPr>
            <a:r>
              <a:rPr lang="en-US" sz="1000" dirty="0">
                <a:solidFill>
                  <a:srgbClr val="FF7A6B"/>
                </a:solidFill>
                <a:latin typeface="Calibri" pitchFamily="34" charset="0"/>
                <a:ea typeface="Calibri" pitchFamily="34" charset="-122"/>
                <a:cs typeface="Calibri" pitchFamily="34" charset="-120"/>
              </a:rPr>
              <a:t>static band  ±20%</a:t>
            </a:r>
            <a:endParaRPr lang="en-US" sz="1000" dirty="0"/>
          </a:p>
        </p:txBody>
      </p:sp>
      <p:sp>
        <p:nvSpPr>
          <p:cNvPr id="13" name="Text 11"/>
          <p:cNvSpPr/>
          <p:nvPr/>
        </p:nvSpPr>
        <p:spPr>
          <a:xfrm>
            <a:off x="1325880" y="2286000"/>
            <a:ext cx="2194560" cy="237744"/>
          </a:xfrm>
          <a:prstGeom prst="rect">
            <a:avLst/>
          </a:prstGeom>
          <a:noFill/>
          <a:ln/>
        </p:spPr>
        <p:txBody>
          <a:bodyPr wrap="square" lIns="0" tIns="0" rIns="0" bIns="0" rtlCol="0" anchor="ctr"/>
          <a:lstStyle/>
          <a:p>
            <a:pPr marL="0" indent="0">
              <a:buNone/>
            </a:pPr>
            <a:r>
              <a:rPr lang="en-US" sz="1000" b="1" dirty="0">
                <a:solidFill>
                  <a:srgbClr val="FF7A6B"/>
                </a:solidFill>
                <a:latin typeface="Calibri" pitchFamily="34" charset="0"/>
                <a:ea typeface="Calibri" pitchFamily="34" charset="-122"/>
                <a:cs typeface="Calibri" pitchFamily="34" charset="-120"/>
              </a:rPr>
              <a:t>REJECTED</a:t>
            </a:r>
            <a:endParaRPr lang="en-US" sz="1000" dirty="0"/>
          </a:p>
        </p:txBody>
      </p:sp>
      <p:sp>
        <p:nvSpPr>
          <p:cNvPr id="14" name="Text 12"/>
          <p:cNvSpPr/>
          <p:nvPr/>
        </p:nvSpPr>
        <p:spPr>
          <a:xfrm>
            <a:off x="1325880" y="4105656"/>
            <a:ext cx="2194560" cy="237744"/>
          </a:xfrm>
          <a:prstGeom prst="rect">
            <a:avLst/>
          </a:prstGeom>
          <a:noFill/>
          <a:ln/>
        </p:spPr>
        <p:txBody>
          <a:bodyPr wrap="square" lIns="0" tIns="0" rIns="0" bIns="0" rtlCol="0" anchor="ctr"/>
          <a:lstStyle/>
          <a:p>
            <a:pPr marL="0" indent="0">
              <a:buNone/>
            </a:pPr>
            <a:r>
              <a:rPr lang="en-US" sz="1000" b="1" dirty="0">
                <a:solidFill>
                  <a:srgbClr val="FF7A6B"/>
                </a:solidFill>
                <a:latin typeface="Calibri" pitchFamily="34" charset="0"/>
                <a:ea typeface="Calibri" pitchFamily="34" charset="-122"/>
                <a:cs typeface="Calibri" pitchFamily="34" charset="-120"/>
              </a:rPr>
              <a:t>REJECTED</a:t>
            </a:r>
            <a:endParaRPr lang="en-US" sz="1000" dirty="0"/>
          </a:p>
        </p:txBody>
      </p:sp>
      <p:sp>
        <p:nvSpPr>
          <p:cNvPr id="15" name="Shape 13"/>
          <p:cNvSpPr/>
          <p:nvPr/>
        </p:nvSpPr>
        <p:spPr>
          <a:xfrm>
            <a:off x="7498080" y="2231136"/>
            <a:ext cx="82296" cy="82296"/>
          </a:xfrm>
          <a:prstGeom prst="rect">
            <a:avLst/>
          </a:prstGeom>
          <a:solidFill>
            <a:srgbClr val="FF7A6B"/>
          </a:solidFill>
          <a:ln w="12700">
            <a:solidFill>
              <a:srgbClr val="333333"/>
            </a:solidFill>
            <a:prstDash val="solid"/>
          </a:ln>
        </p:spPr>
        <p:txBody>
          <a:bodyPr/>
          <a:lstStyle/>
          <a:p>
            <a:endParaRPr lang="en-SE"/>
          </a:p>
        </p:txBody>
      </p:sp>
      <p:sp>
        <p:nvSpPr>
          <p:cNvPr id="16" name="Text 14"/>
          <p:cNvSpPr/>
          <p:nvPr/>
        </p:nvSpPr>
        <p:spPr>
          <a:xfrm>
            <a:off x="7735824" y="2130552"/>
            <a:ext cx="3785616" cy="621792"/>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static_band_pct  </a:t>
            </a:r>
            <a:r>
              <a:rPr lang="en-US" sz="1200" dirty="0">
                <a:solidFill>
                  <a:srgbClr val="C2CAD4"/>
                </a:solidFill>
                <a:latin typeface="Calibri" pitchFamily="34" charset="0"/>
                <a:ea typeface="Calibri" pitchFamily="34" charset="-122"/>
                <a:cs typeface="Calibri" pitchFamily="34" charset="-120"/>
              </a:rPr>
              <a:t>default 0.20 — anchored to a session reference price</a:t>
            </a:r>
            <a:endParaRPr lang="en-US" sz="1200" dirty="0"/>
          </a:p>
        </p:txBody>
      </p:sp>
      <p:sp>
        <p:nvSpPr>
          <p:cNvPr id="17" name="Shape 15"/>
          <p:cNvSpPr/>
          <p:nvPr/>
        </p:nvSpPr>
        <p:spPr>
          <a:xfrm>
            <a:off x="7498080" y="2852928"/>
            <a:ext cx="82296" cy="82296"/>
          </a:xfrm>
          <a:prstGeom prst="rect">
            <a:avLst/>
          </a:prstGeom>
          <a:solidFill>
            <a:srgbClr val="34D6BE"/>
          </a:solidFill>
          <a:ln w="12700">
            <a:solidFill>
              <a:srgbClr val="333333"/>
            </a:solidFill>
            <a:prstDash val="solid"/>
          </a:ln>
        </p:spPr>
        <p:txBody>
          <a:bodyPr/>
          <a:lstStyle/>
          <a:p>
            <a:endParaRPr lang="en-SE"/>
          </a:p>
        </p:txBody>
      </p:sp>
      <p:sp>
        <p:nvSpPr>
          <p:cNvPr id="18" name="Text 16"/>
          <p:cNvSpPr/>
          <p:nvPr/>
        </p:nvSpPr>
        <p:spPr>
          <a:xfrm>
            <a:off x="7735824" y="2752344"/>
            <a:ext cx="3785616" cy="621792"/>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dynamic_band_pct  </a:t>
            </a:r>
            <a:r>
              <a:rPr lang="en-US" sz="1200" dirty="0">
                <a:solidFill>
                  <a:srgbClr val="C2CAD4"/>
                </a:solidFill>
                <a:latin typeface="Calibri" pitchFamily="34" charset="0"/>
                <a:ea typeface="Calibri" pitchFamily="34" charset="-122"/>
                <a:cs typeface="Calibri" pitchFamily="34" charset="-120"/>
              </a:rPr>
              <a:t>default 0.02 — tracks near-live prices as they move</a:t>
            </a:r>
            <a:endParaRPr lang="en-US" sz="1200" dirty="0"/>
          </a:p>
        </p:txBody>
      </p:sp>
      <p:sp>
        <p:nvSpPr>
          <p:cNvPr id="19" name="Shape 17"/>
          <p:cNvSpPr/>
          <p:nvPr/>
        </p:nvSpPr>
        <p:spPr>
          <a:xfrm>
            <a:off x="7498080" y="3474720"/>
            <a:ext cx="82296" cy="82296"/>
          </a:xfrm>
          <a:prstGeom prst="rect">
            <a:avLst/>
          </a:prstGeom>
          <a:solidFill>
            <a:srgbClr val="9B8CFF"/>
          </a:solidFill>
          <a:ln w="12700">
            <a:solidFill>
              <a:srgbClr val="333333"/>
            </a:solidFill>
            <a:prstDash val="solid"/>
          </a:ln>
        </p:spPr>
        <p:txBody>
          <a:bodyPr/>
          <a:lstStyle/>
          <a:p>
            <a:endParaRPr lang="en-SE"/>
          </a:p>
        </p:txBody>
      </p:sp>
      <p:sp>
        <p:nvSpPr>
          <p:cNvPr id="20" name="Text 18"/>
          <p:cNvSpPr/>
          <p:nvPr/>
        </p:nvSpPr>
        <p:spPr>
          <a:xfrm>
            <a:off x="7735824" y="3374136"/>
            <a:ext cx="3785616" cy="621792"/>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levels  </a:t>
            </a:r>
            <a:r>
              <a:rPr lang="en-US" sz="1200" dirty="0">
                <a:solidFill>
                  <a:srgbClr val="C2CAD4"/>
                </a:solidFill>
                <a:latin typeface="Calibri" pitchFamily="34" charset="0"/>
                <a:ea typeface="Calibri" pitchFamily="34" charset="-122"/>
                <a:cs typeface="Calibri" pitchFamily="34" charset="-120"/>
              </a:rPr>
              <a:t>named bundles of collar settings that symbols reference by name</a:t>
            </a:r>
            <a:endParaRPr lang="en-US" sz="1200" dirty="0"/>
          </a:p>
        </p:txBody>
      </p:sp>
      <p:sp>
        <p:nvSpPr>
          <p:cNvPr id="21" name="Shape 19"/>
          <p:cNvSpPr/>
          <p:nvPr/>
        </p:nvSpPr>
        <p:spPr>
          <a:xfrm>
            <a:off x="7498080" y="4096512"/>
            <a:ext cx="82296" cy="82296"/>
          </a:xfrm>
          <a:prstGeom prst="rect">
            <a:avLst/>
          </a:prstGeom>
          <a:solidFill>
            <a:srgbClr val="5AB2F7"/>
          </a:solidFill>
          <a:ln w="12700">
            <a:solidFill>
              <a:srgbClr val="333333"/>
            </a:solidFill>
            <a:prstDash val="solid"/>
          </a:ln>
        </p:spPr>
        <p:txBody>
          <a:bodyPr/>
          <a:lstStyle/>
          <a:p>
            <a:endParaRPr lang="en-SE"/>
          </a:p>
        </p:txBody>
      </p:sp>
      <p:sp>
        <p:nvSpPr>
          <p:cNvPr id="22" name="Text 20"/>
          <p:cNvSpPr/>
          <p:nvPr/>
        </p:nvSpPr>
        <p:spPr>
          <a:xfrm>
            <a:off x="7735824" y="3995928"/>
            <a:ext cx="3785616" cy="621792"/>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default_level  </a:t>
            </a:r>
            <a:r>
              <a:rPr lang="en-US" sz="1200" dirty="0">
                <a:solidFill>
                  <a:srgbClr val="C2CAD4"/>
                </a:solidFill>
                <a:latin typeface="Calibri" pitchFamily="34" charset="0"/>
                <a:ea typeface="Calibri" pitchFamily="34" charset="-122"/>
                <a:cs typeface="Calibri" pitchFamily="34" charset="-120"/>
              </a:rPr>
              <a:t>applied to any symbol that does not name its own</a:t>
            </a:r>
            <a:endParaRPr lang="en-US" sz="1200" dirty="0"/>
          </a:p>
        </p:txBody>
      </p:sp>
      <p:sp>
        <p:nvSpPr>
          <p:cNvPr id="23" name="Shape 21"/>
          <p:cNvSpPr/>
          <p:nvPr/>
        </p:nvSpPr>
        <p:spPr>
          <a:xfrm>
            <a:off x="640080" y="4754880"/>
            <a:ext cx="10911535" cy="777240"/>
          </a:xfrm>
          <a:prstGeom prst="roundRect">
            <a:avLst>
              <a:gd name="adj" fmla="val 7059"/>
            </a:avLst>
          </a:prstGeom>
          <a:solidFill>
            <a:srgbClr val="4A3714"/>
          </a:solidFill>
          <a:ln w="12700">
            <a:solidFill>
              <a:srgbClr val="F3B441"/>
            </a:solidFill>
            <a:prstDash val="solid"/>
          </a:ln>
        </p:spPr>
        <p:txBody>
          <a:bodyPr/>
          <a:lstStyle/>
          <a:p>
            <a:endParaRPr lang="en-SE"/>
          </a:p>
        </p:txBody>
      </p:sp>
      <p:sp>
        <p:nvSpPr>
          <p:cNvPr id="24" name="Text 22"/>
          <p:cNvSpPr/>
          <p:nvPr/>
        </p:nvSpPr>
        <p:spPr>
          <a:xfrm>
            <a:off x="877824" y="484632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THE MERGE RULE</a:t>
            </a:r>
            <a:endParaRPr lang="en-US" sz="950" dirty="0"/>
          </a:p>
        </p:txBody>
      </p:sp>
      <p:sp>
        <p:nvSpPr>
          <p:cNvPr id="25" name="Text 23"/>
          <p:cNvSpPr/>
          <p:nvPr/>
        </p:nvSpPr>
        <p:spPr>
          <a:xfrm>
            <a:off x="877824" y="510235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per-symbol collar is merged over the symbol's resolved level collar, and symbol keys win. If neither is present, no collar applies to that symbol at all — which is a silence, not an error.</a:t>
            </a:r>
            <a:endParaRPr lang="en-US" sz="1250" dirty="0"/>
          </a:p>
        </p:txBody>
      </p:sp>
      <p:sp>
        <p:nvSpPr>
          <p:cNvPr id="26" name="Shape 24"/>
          <p:cNvSpPr/>
          <p:nvPr/>
        </p:nvSpPr>
        <p:spPr>
          <a:xfrm>
            <a:off x="640080" y="5669280"/>
            <a:ext cx="10911535" cy="685800"/>
          </a:xfrm>
          <a:prstGeom prst="roundRect">
            <a:avLst>
              <a:gd name="adj" fmla="val 8000"/>
            </a:avLst>
          </a:prstGeom>
          <a:solidFill>
            <a:srgbClr val="13463F"/>
          </a:solidFill>
          <a:ln w="12700">
            <a:solidFill>
              <a:srgbClr val="34D6BE"/>
            </a:solidFill>
            <a:prstDash val="solid"/>
          </a:ln>
        </p:spPr>
        <p:txBody>
          <a:bodyPr/>
          <a:lstStyle/>
          <a:p>
            <a:endParaRPr lang="en-SE"/>
          </a:p>
        </p:txBody>
      </p:sp>
      <p:sp>
        <p:nvSpPr>
          <p:cNvPr id="27" name="Text 25"/>
          <p:cNvSpPr/>
          <p:nvPr/>
        </p:nvSpPr>
        <p:spPr>
          <a:xfrm>
            <a:off x="877824" y="576072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WHY A BEGINNER NEEDS THIS ON DAY ONE</a:t>
            </a:r>
            <a:endParaRPr lang="en-US" sz="950" dirty="0"/>
          </a:p>
        </p:txBody>
      </p:sp>
      <p:sp>
        <p:nvSpPr>
          <p:cNvPr id="28" name="Text 26"/>
          <p:cNvSpPr/>
          <p:nvPr/>
        </p:nvSpPr>
        <p:spPr>
          <a:xfrm>
            <a:off x="877824" y="601675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student who types 15000 instead of 150.00 prints a trade at a hundred times the market. The collar is the difference between a typo and a ruined exercise.</a:t>
            </a:r>
            <a:endParaRPr lang="en-US" sz="1250" dirty="0"/>
          </a:p>
        </p:txBody>
      </p:sp>
      <p:sp>
        <p:nvSpPr>
          <p:cNvPr id="29" name="Text 27"/>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30" name="Text 28"/>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circuit_breaker_defaults — the halt ladder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When a price moves too far, too fast, trading in that symbol stops for a cool-off. The ladder decides how far is too far.</a:t>
            </a:r>
            <a:endParaRPr lang="en-US" sz="1450" dirty="0"/>
          </a:p>
        </p:txBody>
      </p:sp>
      <p:sp>
        <p:nvSpPr>
          <p:cNvPr id="6" name="Shape 4"/>
          <p:cNvSpPr/>
          <p:nvPr/>
        </p:nvSpPr>
        <p:spPr>
          <a:xfrm>
            <a:off x="640080" y="2011680"/>
            <a:ext cx="3454298"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452470" cy="50292"/>
          </a:xfrm>
          <a:prstGeom prst="rect">
            <a:avLst/>
          </a:prstGeom>
          <a:solidFill>
            <a:srgbClr val="F3B441"/>
          </a:solidFill>
          <a:ln w="12700">
            <a:solidFill>
              <a:srgbClr val="333333"/>
            </a:solidFill>
            <a:prstDash val="solid"/>
          </a:ln>
        </p:spPr>
        <p:txBody>
          <a:bodyPr/>
          <a:lstStyle/>
          <a:p>
            <a:endParaRPr lang="en-SE"/>
          </a:p>
        </p:txBody>
      </p:sp>
      <p:sp>
        <p:nvSpPr>
          <p:cNvPr id="8" name="Text 6"/>
          <p:cNvSpPr/>
          <p:nvPr/>
        </p:nvSpPr>
        <p:spPr>
          <a:xfrm>
            <a:off x="877824" y="2212848"/>
            <a:ext cx="914400" cy="329184"/>
          </a:xfrm>
          <a:prstGeom prst="rect">
            <a:avLst/>
          </a:prstGeom>
          <a:noFill/>
          <a:ln/>
        </p:spPr>
        <p:txBody>
          <a:bodyPr wrap="square" lIns="0" tIns="0" rIns="0" bIns="0" rtlCol="0" anchor="ctr"/>
          <a:lstStyle/>
          <a:p>
            <a:pPr marL="0" indent="0">
              <a:buNone/>
            </a:pPr>
            <a:r>
              <a:rPr lang="en-US" sz="1300" b="1" dirty="0">
                <a:solidFill>
                  <a:srgbClr val="F3B441"/>
                </a:solidFill>
                <a:latin typeface="Consolas" pitchFamily="34" charset="0"/>
                <a:ea typeface="Consolas" pitchFamily="34" charset="-122"/>
                <a:cs typeface="Consolas" pitchFamily="34" charset="-120"/>
              </a:rPr>
              <a:t>L1</a:t>
            </a:r>
            <a:endParaRPr lang="en-US" sz="1300" dirty="0"/>
          </a:p>
        </p:txBody>
      </p:sp>
      <p:sp>
        <p:nvSpPr>
          <p:cNvPr id="9" name="Text 7"/>
          <p:cNvSpPr/>
          <p:nvPr/>
        </p:nvSpPr>
        <p:spPr>
          <a:xfrm>
            <a:off x="877824" y="2542032"/>
            <a:ext cx="2997098" cy="566928"/>
          </a:xfrm>
          <a:prstGeom prst="rect">
            <a:avLst/>
          </a:prstGeom>
          <a:noFill/>
          <a:ln/>
        </p:spPr>
        <p:txBody>
          <a:bodyPr wrap="square" lIns="0" tIns="0" rIns="0" bIns="0" rtlCol="0" anchor="ctr"/>
          <a:lstStyle/>
          <a:p>
            <a:pPr marL="0" indent="0">
              <a:buNone/>
            </a:pPr>
            <a:r>
              <a:rPr lang="en-US" sz="3800" b="1" dirty="0">
                <a:solidFill>
                  <a:srgbClr val="F1F4F8"/>
                </a:solidFill>
                <a:latin typeface="Trebuchet MS" pitchFamily="34" charset="0"/>
                <a:ea typeface="Trebuchet MS" pitchFamily="34" charset="-122"/>
                <a:cs typeface="Trebuchet MS" pitchFamily="34" charset="-120"/>
              </a:rPr>
              <a:t>7%</a:t>
            </a:r>
            <a:endParaRPr lang="en-US" sz="3800" dirty="0"/>
          </a:p>
        </p:txBody>
      </p:sp>
      <p:sp>
        <p:nvSpPr>
          <p:cNvPr id="10" name="Text 8"/>
          <p:cNvSpPr/>
          <p:nvPr/>
        </p:nvSpPr>
        <p:spPr>
          <a:xfrm>
            <a:off x="877824" y="3127248"/>
            <a:ext cx="2997098" cy="274320"/>
          </a:xfrm>
          <a:prstGeom prst="rect">
            <a:avLst/>
          </a:prstGeom>
          <a:noFill/>
          <a:ln/>
        </p:spPr>
        <p:txBody>
          <a:bodyPr wrap="square" lIns="0" tIns="0" rIns="0" bIns="0" rtlCol="0" anchor="ctr"/>
          <a:lstStyle/>
          <a:p>
            <a:pPr marL="0" indent="0">
              <a:buNone/>
            </a:pPr>
            <a:r>
              <a:rPr lang="en-US" sz="1200" dirty="0">
                <a:solidFill>
                  <a:srgbClr val="F3B441"/>
                </a:solidFill>
                <a:latin typeface="Calibri" pitchFamily="34" charset="0"/>
                <a:ea typeface="Calibri" pitchFamily="34" charset="-122"/>
                <a:cs typeface="Calibri" pitchFamily="34" charset="-120"/>
              </a:rPr>
              <a:t>halt for 5 minutes</a:t>
            </a:r>
            <a:endParaRPr lang="en-US" sz="1200" dirty="0"/>
          </a:p>
        </p:txBody>
      </p:sp>
      <p:sp>
        <p:nvSpPr>
          <p:cNvPr id="11" name="Text 9"/>
          <p:cNvSpPr/>
          <p:nvPr/>
        </p:nvSpPr>
        <p:spPr>
          <a:xfrm>
            <a:off x="877824" y="3429000"/>
            <a:ext cx="2997098" cy="402336"/>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A sharp move. Pause, let everyone re-read the book.</a:t>
            </a:r>
            <a:endParaRPr lang="en-US" sz="1100" dirty="0"/>
          </a:p>
        </p:txBody>
      </p:sp>
      <p:sp>
        <p:nvSpPr>
          <p:cNvPr id="12" name="Shape 10"/>
          <p:cNvSpPr/>
          <p:nvPr/>
        </p:nvSpPr>
        <p:spPr>
          <a:xfrm>
            <a:off x="4277258" y="2011680"/>
            <a:ext cx="3454298"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4278173" y="2012594"/>
            <a:ext cx="3452470" cy="50292"/>
          </a:xfrm>
          <a:prstGeom prst="rect">
            <a:avLst/>
          </a:prstGeom>
          <a:solidFill>
            <a:srgbClr val="FF7A6B"/>
          </a:solidFill>
          <a:ln w="12700">
            <a:solidFill>
              <a:srgbClr val="333333"/>
            </a:solidFill>
            <a:prstDash val="solid"/>
          </a:ln>
        </p:spPr>
        <p:txBody>
          <a:bodyPr/>
          <a:lstStyle/>
          <a:p>
            <a:endParaRPr lang="en-SE"/>
          </a:p>
        </p:txBody>
      </p:sp>
      <p:sp>
        <p:nvSpPr>
          <p:cNvPr id="14" name="Text 12"/>
          <p:cNvSpPr/>
          <p:nvPr/>
        </p:nvSpPr>
        <p:spPr>
          <a:xfrm>
            <a:off x="4515002" y="2212848"/>
            <a:ext cx="914400" cy="329184"/>
          </a:xfrm>
          <a:prstGeom prst="rect">
            <a:avLst/>
          </a:prstGeom>
          <a:noFill/>
          <a:ln/>
        </p:spPr>
        <p:txBody>
          <a:bodyPr wrap="square" lIns="0" tIns="0" rIns="0" bIns="0" rtlCol="0" anchor="ctr"/>
          <a:lstStyle/>
          <a:p>
            <a:pPr marL="0" indent="0">
              <a:buNone/>
            </a:pPr>
            <a:r>
              <a:rPr lang="en-US" sz="1300" b="1" dirty="0">
                <a:solidFill>
                  <a:srgbClr val="FF7A6B"/>
                </a:solidFill>
                <a:latin typeface="Consolas" pitchFamily="34" charset="0"/>
                <a:ea typeface="Consolas" pitchFamily="34" charset="-122"/>
                <a:cs typeface="Consolas" pitchFamily="34" charset="-120"/>
              </a:rPr>
              <a:t>L2</a:t>
            </a:r>
            <a:endParaRPr lang="en-US" sz="1300" dirty="0"/>
          </a:p>
        </p:txBody>
      </p:sp>
      <p:sp>
        <p:nvSpPr>
          <p:cNvPr id="15" name="Text 13"/>
          <p:cNvSpPr/>
          <p:nvPr/>
        </p:nvSpPr>
        <p:spPr>
          <a:xfrm>
            <a:off x="4515002" y="2542032"/>
            <a:ext cx="2997098" cy="566928"/>
          </a:xfrm>
          <a:prstGeom prst="rect">
            <a:avLst/>
          </a:prstGeom>
          <a:noFill/>
          <a:ln/>
        </p:spPr>
        <p:txBody>
          <a:bodyPr wrap="square" lIns="0" tIns="0" rIns="0" bIns="0" rtlCol="0" anchor="ctr"/>
          <a:lstStyle/>
          <a:p>
            <a:pPr marL="0" indent="0">
              <a:buNone/>
            </a:pPr>
            <a:r>
              <a:rPr lang="en-US" sz="3800" b="1" dirty="0">
                <a:solidFill>
                  <a:srgbClr val="F1F4F8"/>
                </a:solidFill>
                <a:latin typeface="Trebuchet MS" pitchFamily="34" charset="0"/>
                <a:ea typeface="Trebuchet MS" pitchFamily="34" charset="-122"/>
                <a:cs typeface="Trebuchet MS" pitchFamily="34" charset="-120"/>
              </a:rPr>
              <a:t>13%</a:t>
            </a:r>
            <a:endParaRPr lang="en-US" sz="3800" dirty="0"/>
          </a:p>
        </p:txBody>
      </p:sp>
      <p:sp>
        <p:nvSpPr>
          <p:cNvPr id="16" name="Text 14"/>
          <p:cNvSpPr/>
          <p:nvPr/>
        </p:nvSpPr>
        <p:spPr>
          <a:xfrm>
            <a:off x="4515002" y="3127248"/>
            <a:ext cx="2997098" cy="274320"/>
          </a:xfrm>
          <a:prstGeom prst="rect">
            <a:avLst/>
          </a:prstGeom>
          <a:noFill/>
          <a:ln/>
        </p:spPr>
        <p:txBody>
          <a:bodyPr wrap="square" lIns="0" tIns="0" rIns="0" bIns="0" rtlCol="0" anchor="ctr"/>
          <a:lstStyle/>
          <a:p>
            <a:pPr marL="0" indent="0">
              <a:buNone/>
            </a:pPr>
            <a:r>
              <a:rPr lang="en-US" sz="1200" dirty="0">
                <a:solidFill>
                  <a:srgbClr val="FF7A6B"/>
                </a:solidFill>
                <a:latin typeface="Calibri" pitchFamily="34" charset="0"/>
                <a:ea typeface="Calibri" pitchFamily="34" charset="-122"/>
                <a:cs typeface="Calibri" pitchFamily="34" charset="-120"/>
              </a:rPr>
              <a:t>halt for 15 minutes</a:t>
            </a:r>
            <a:endParaRPr lang="en-US" sz="1200" dirty="0"/>
          </a:p>
        </p:txBody>
      </p:sp>
      <p:sp>
        <p:nvSpPr>
          <p:cNvPr id="17" name="Text 15"/>
          <p:cNvSpPr/>
          <p:nvPr/>
        </p:nvSpPr>
        <p:spPr>
          <a:xfrm>
            <a:off x="4515002" y="3429000"/>
            <a:ext cx="2997098" cy="402336"/>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A serious dislocation. A longer pause.</a:t>
            </a:r>
            <a:endParaRPr lang="en-US" sz="1100" dirty="0"/>
          </a:p>
        </p:txBody>
      </p:sp>
      <p:sp>
        <p:nvSpPr>
          <p:cNvPr id="18" name="Shape 16"/>
          <p:cNvSpPr/>
          <p:nvPr/>
        </p:nvSpPr>
        <p:spPr>
          <a:xfrm>
            <a:off x="7914437" y="2011680"/>
            <a:ext cx="3454298" cy="1874520"/>
          </a:xfrm>
          <a:prstGeom prst="roundRect">
            <a:avLst>
              <a:gd name="adj" fmla="val 2927"/>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7915351" y="2012594"/>
            <a:ext cx="3452470" cy="50292"/>
          </a:xfrm>
          <a:prstGeom prst="rect">
            <a:avLst/>
          </a:prstGeom>
          <a:solidFill>
            <a:srgbClr val="FF7A6B"/>
          </a:solidFill>
          <a:ln w="12700">
            <a:solidFill>
              <a:srgbClr val="333333"/>
            </a:solidFill>
            <a:prstDash val="solid"/>
          </a:ln>
        </p:spPr>
        <p:txBody>
          <a:bodyPr/>
          <a:lstStyle/>
          <a:p>
            <a:endParaRPr lang="en-SE"/>
          </a:p>
        </p:txBody>
      </p:sp>
      <p:sp>
        <p:nvSpPr>
          <p:cNvPr id="20" name="Text 18"/>
          <p:cNvSpPr/>
          <p:nvPr/>
        </p:nvSpPr>
        <p:spPr>
          <a:xfrm>
            <a:off x="8152181" y="2212848"/>
            <a:ext cx="914400" cy="329184"/>
          </a:xfrm>
          <a:prstGeom prst="rect">
            <a:avLst/>
          </a:prstGeom>
          <a:noFill/>
          <a:ln/>
        </p:spPr>
        <p:txBody>
          <a:bodyPr wrap="square" lIns="0" tIns="0" rIns="0" bIns="0" rtlCol="0" anchor="ctr"/>
          <a:lstStyle/>
          <a:p>
            <a:pPr marL="0" indent="0">
              <a:buNone/>
            </a:pPr>
            <a:r>
              <a:rPr lang="en-US" sz="1300" b="1" dirty="0">
                <a:solidFill>
                  <a:srgbClr val="FF7A6B"/>
                </a:solidFill>
                <a:latin typeface="Consolas" pitchFamily="34" charset="0"/>
                <a:ea typeface="Consolas" pitchFamily="34" charset="-122"/>
                <a:cs typeface="Consolas" pitchFamily="34" charset="-120"/>
              </a:rPr>
              <a:t>L3</a:t>
            </a:r>
            <a:endParaRPr lang="en-US" sz="1300" dirty="0"/>
          </a:p>
        </p:txBody>
      </p:sp>
      <p:sp>
        <p:nvSpPr>
          <p:cNvPr id="21" name="Text 19"/>
          <p:cNvSpPr/>
          <p:nvPr/>
        </p:nvSpPr>
        <p:spPr>
          <a:xfrm>
            <a:off x="8152181" y="2542032"/>
            <a:ext cx="2997098" cy="566928"/>
          </a:xfrm>
          <a:prstGeom prst="rect">
            <a:avLst/>
          </a:prstGeom>
          <a:noFill/>
          <a:ln/>
        </p:spPr>
        <p:txBody>
          <a:bodyPr wrap="square" lIns="0" tIns="0" rIns="0" bIns="0" rtlCol="0" anchor="ctr"/>
          <a:lstStyle/>
          <a:p>
            <a:pPr marL="0" indent="0">
              <a:buNone/>
            </a:pPr>
            <a:r>
              <a:rPr lang="en-US" sz="3800" b="1" dirty="0">
                <a:solidFill>
                  <a:srgbClr val="F1F4F8"/>
                </a:solidFill>
                <a:latin typeface="Trebuchet MS" pitchFamily="34" charset="0"/>
                <a:ea typeface="Trebuchet MS" pitchFamily="34" charset="-122"/>
                <a:cs typeface="Trebuchet MS" pitchFamily="34" charset="-120"/>
              </a:rPr>
              <a:t>20%</a:t>
            </a:r>
            <a:endParaRPr lang="en-US" sz="3800" dirty="0"/>
          </a:p>
        </p:txBody>
      </p:sp>
      <p:sp>
        <p:nvSpPr>
          <p:cNvPr id="22" name="Text 20"/>
          <p:cNvSpPr/>
          <p:nvPr/>
        </p:nvSpPr>
        <p:spPr>
          <a:xfrm>
            <a:off x="8152181" y="3127248"/>
            <a:ext cx="2997098" cy="274320"/>
          </a:xfrm>
          <a:prstGeom prst="rect">
            <a:avLst/>
          </a:prstGeom>
          <a:noFill/>
          <a:ln/>
        </p:spPr>
        <p:txBody>
          <a:bodyPr wrap="square" lIns="0" tIns="0" rIns="0" bIns="0" rtlCol="0" anchor="ctr"/>
          <a:lstStyle/>
          <a:p>
            <a:pPr marL="0" indent="0">
              <a:buNone/>
            </a:pPr>
            <a:r>
              <a:rPr lang="en-US" sz="1200" dirty="0">
                <a:solidFill>
                  <a:srgbClr val="FF7A6B"/>
                </a:solidFill>
                <a:latin typeface="Calibri" pitchFamily="34" charset="0"/>
                <a:ea typeface="Calibri" pitchFamily="34" charset="-122"/>
                <a:cs typeface="Calibri" pitchFamily="34" charset="-120"/>
              </a:rPr>
              <a:t>halt for rest of day</a:t>
            </a:r>
            <a:endParaRPr lang="en-US" sz="1200" dirty="0"/>
          </a:p>
        </p:txBody>
      </p:sp>
      <p:sp>
        <p:nvSpPr>
          <p:cNvPr id="23" name="Text 21"/>
          <p:cNvSpPr/>
          <p:nvPr/>
        </p:nvSpPr>
        <p:spPr>
          <a:xfrm>
            <a:off x="8152181" y="3429000"/>
            <a:ext cx="2997098" cy="402336"/>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Something is wrong. The symbol is done for the day.</a:t>
            </a:r>
            <a:endParaRPr lang="en-US" sz="1100" dirty="0"/>
          </a:p>
        </p:txBody>
      </p:sp>
      <p:sp>
        <p:nvSpPr>
          <p:cNvPr id="24" name="Text 22"/>
          <p:cNvSpPr/>
          <p:nvPr/>
        </p:nvSpPr>
        <p:spPr>
          <a:xfrm>
            <a:off x="640080" y="3977640"/>
            <a:ext cx="10911535" cy="274320"/>
          </a:xfrm>
          <a:prstGeom prst="rect">
            <a:avLst/>
          </a:prstGeom>
          <a:noFill/>
          <a:ln/>
        </p:spPr>
        <p:txBody>
          <a:bodyPr wrap="square" lIns="0" tIns="0" rIns="0" bIns="0" rtlCol="0" anchor="ctr"/>
          <a:lstStyle/>
          <a:p>
            <a:pPr marL="0" indent="0">
              <a:buNone/>
            </a:pPr>
            <a:r>
              <a:rPr lang="en-US" sz="1200" i="1" dirty="0">
                <a:solidFill>
                  <a:srgbClr val="8D97A5"/>
                </a:solidFill>
                <a:latin typeface="Calibri" pitchFamily="34" charset="0"/>
                <a:ea typeface="Calibri" pitchFamily="34" charset="-122"/>
                <a:cs typeface="Calibri" pitchFamily="34" charset="-120"/>
              </a:rPr>
              <a:t>This is the built-in ladder. It applies if you configure nothing at all.</a:t>
            </a:r>
            <a:endParaRPr lang="en-US" sz="1200" dirty="0"/>
          </a:p>
        </p:txBody>
      </p:sp>
      <p:sp>
        <p:nvSpPr>
          <p:cNvPr id="25" name="Shape 23"/>
          <p:cNvSpPr/>
          <p:nvPr/>
        </p:nvSpPr>
        <p:spPr>
          <a:xfrm>
            <a:off x="640080" y="4471416"/>
            <a:ext cx="82296" cy="82296"/>
          </a:xfrm>
          <a:prstGeom prst="rect">
            <a:avLst/>
          </a:prstGeom>
          <a:solidFill>
            <a:srgbClr val="9B8CFF"/>
          </a:solidFill>
          <a:ln w="12700">
            <a:solidFill>
              <a:srgbClr val="333333"/>
            </a:solidFill>
            <a:prstDash val="solid"/>
          </a:ln>
        </p:spPr>
        <p:txBody>
          <a:bodyPr/>
          <a:lstStyle/>
          <a:p>
            <a:endParaRPr lang="en-SE"/>
          </a:p>
        </p:txBody>
      </p:sp>
      <p:sp>
        <p:nvSpPr>
          <p:cNvPr id="26" name="Text 24"/>
          <p:cNvSpPr/>
          <p:nvPr/>
        </p:nvSpPr>
        <p:spPr>
          <a:xfrm>
            <a:off x="877824" y="4370832"/>
            <a:ext cx="51114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reference_window_ns  </a:t>
            </a:r>
            <a:r>
              <a:rPr lang="en-US" sz="1200" dirty="0">
                <a:solidFill>
                  <a:srgbClr val="C2CAD4"/>
                </a:solidFill>
                <a:latin typeface="Calibri" pitchFamily="34" charset="0"/>
                <a:ea typeface="Calibri" pitchFamily="34" charset="-122"/>
                <a:cs typeface="Calibri" pitchFamily="34" charset="-120"/>
              </a:rPr>
              <a:t>the rolling window the price shift is measured against — five minutes by default</a:t>
            </a:r>
            <a:endParaRPr lang="en-US" sz="1200" dirty="0"/>
          </a:p>
        </p:txBody>
      </p:sp>
      <p:sp>
        <p:nvSpPr>
          <p:cNvPr id="27" name="Shape 25"/>
          <p:cNvSpPr/>
          <p:nvPr/>
        </p:nvSpPr>
        <p:spPr>
          <a:xfrm>
            <a:off x="640080" y="5038344"/>
            <a:ext cx="82296" cy="82296"/>
          </a:xfrm>
          <a:prstGeom prst="rect">
            <a:avLst/>
          </a:prstGeom>
          <a:solidFill>
            <a:srgbClr val="FF7A6B"/>
          </a:solidFill>
          <a:ln w="12700">
            <a:solidFill>
              <a:srgbClr val="333333"/>
            </a:solidFill>
            <a:prstDash val="solid"/>
          </a:ln>
        </p:spPr>
        <p:txBody>
          <a:bodyPr/>
          <a:lstStyle/>
          <a:p>
            <a:endParaRPr lang="en-SE"/>
          </a:p>
        </p:txBody>
      </p:sp>
      <p:sp>
        <p:nvSpPr>
          <p:cNvPr id="28" name="Text 26"/>
          <p:cNvSpPr/>
          <p:nvPr/>
        </p:nvSpPr>
        <p:spPr>
          <a:xfrm>
            <a:off x="877824" y="4937760"/>
            <a:ext cx="51114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price_shift_pct  </a:t>
            </a:r>
            <a:r>
              <a:rPr lang="en-US" sz="1200" dirty="0">
                <a:solidFill>
                  <a:srgbClr val="C2CAD4"/>
                </a:solidFill>
                <a:latin typeface="Calibri" pitchFamily="34" charset="0"/>
                <a:ea typeface="Calibri" pitchFamily="34" charset="-122"/>
                <a:cs typeface="Calibri" pitchFamily="34" charset="-120"/>
              </a:rPr>
              <a:t>how far the price must move to trigger this level, as a fraction between 0 and 1</a:t>
            </a:r>
            <a:endParaRPr lang="en-US" sz="1200" dirty="0"/>
          </a:p>
        </p:txBody>
      </p:sp>
      <p:sp>
        <p:nvSpPr>
          <p:cNvPr id="29" name="Shape 27"/>
          <p:cNvSpPr/>
          <p:nvPr/>
        </p:nvSpPr>
        <p:spPr>
          <a:xfrm>
            <a:off x="640080" y="5605272"/>
            <a:ext cx="82296" cy="82296"/>
          </a:xfrm>
          <a:prstGeom prst="rect">
            <a:avLst/>
          </a:prstGeom>
          <a:solidFill>
            <a:srgbClr val="FF7A6B"/>
          </a:solidFill>
          <a:ln w="12700">
            <a:solidFill>
              <a:srgbClr val="333333"/>
            </a:solidFill>
            <a:prstDash val="solid"/>
          </a:ln>
        </p:spPr>
        <p:txBody>
          <a:bodyPr/>
          <a:lstStyle/>
          <a:p>
            <a:endParaRPr lang="en-SE"/>
          </a:p>
        </p:txBody>
      </p:sp>
      <p:sp>
        <p:nvSpPr>
          <p:cNvPr id="30" name="Text 28"/>
          <p:cNvSpPr/>
          <p:nvPr/>
        </p:nvSpPr>
        <p:spPr>
          <a:xfrm>
            <a:off x="877824" y="5504688"/>
            <a:ext cx="511149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halt_duration_ns  </a:t>
            </a:r>
            <a:r>
              <a:rPr lang="en-US" sz="1200" dirty="0">
                <a:solidFill>
                  <a:srgbClr val="C2CAD4"/>
                </a:solidFill>
                <a:latin typeface="Calibri" pitchFamily="34" charset="0"/>
                <a:ea typeface="Calibri" pitchFamily="34" charset="-122"/>
                <a:cs typeface="Calibri" pitchFamily="34" charset="-120"/>
              </a:rPr>
              <a:t>the cool-off. Leave it empty to halt for the remainder of the trading day</a:t>
            </a:r>
            <a:endParaRPr lang="en-US" sz="1200" dirty="0"/>
          </a:p>
        </p:txBody>
      </p:sp>
      <p:sp>
        <p:nvSpPr>
          <p:cNvPr id="31" name="Shape 29"/>
          <p:cNvSpPr/>
          <p:nvPr/>
        </p:nvSpPr>
        <p:spPr>
          <a:xfrm>
            <a:off x="6537960" y="4389120"/>
            <a:ext cx="5010912"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32" name="Shape 30"/>
          <p:cNvSpPr/>
          <p:nvPr/>
        </p:nvSpPr>
        <p:spPr>
          <a:xfrm>
            <a:off x="6538874" y="4390034"/>
            <a:ext cx="5009083" cy="50292"/>
          </a:xfrm>
          <a:prstGeom prst="rect">
            <a:avLst/>
          </a:prstGeom>
          <a:solidFill>
            <a:srgbClr val="6BD98A"/>
          </a:solidFill>
          <a:ln w="12700">
            <a:solidFill>
              <a:srgbClr val="333333"/>
            </a:solidFill>
            <a:prstDash val="solid"/>
          </a:ln>
        </p:spPr>
        <p:txBody>
          <a:bodyPr/>
          <a:lstStyle/>
          <a:p>
            <a:endParaRPr lang="en-SE"/>
          </a:p>
        </p:txBody>
      </p:sp>
      <p:sp>
        <p:nvSpPr>
          <p:cNvPr id="33" name="Text 31"/>
          <p:cNvSpPr/>
          <p:nvPr/>
        </p:nvSpPr>
        <p:spPr>
          <a:xfrm>
            <a:off x="6793992" y="4572000"/>
            <a:ext cx="4480560" cy="365760"/>
          </a:xfrm>
          <a:prstGeom prst="rect">
            <a:avLst/>
          </a:prstGeom>
          <a:noFill/>
          <a:ln/>
        </p:spPr>
        <p:txBody>
          <a:bodyPr wrap="square" lIns="0" tIns="0" rIns="0" bIns="0" rtlCol="0" anchor="ctr"/>
          <a:lstStyle/>
          <a:p>
            <a:pPr marL="0" indent="0">
              <a:buNone/>
            </a:pPr>
            <a:r>
              <a:rPr lang="en-US" sz="1450" b="1" dirty="0">
                <a:solidFill>
                  <a:srgbClr val="F1F4F8"/>
                </a:solidFill>
                <a:latin typeface="Trebuchet MS" pitchFamily="34" charset="0"/>
                <a:ea typeface="Trebuchet MS" pitchFamily="34" charset="-122"/>
                <a:cs typeface="Trebuchet MS" pitchFamily="34" charset="-120"/>
              </a:rPr>
              <a:t>Reopening — Automated Corridor Expansion</a:t>
            </a:r>
            <a:endParaRPr lang="en-US" sz="1450" dirty="0"/>
          </a:p>
        </p:txBody>
      </p:sp>
      <p:sp>
        <p:nvSpPr>
          <p:cNvPr id="34" name="Text 32"/>
          <p:cNvSpPr/>
          <p:nvPr/>
        </p:nvSpPr>
        <p:spPr>
          <a:xfrm>
            <a:off x="6793992" y="4956048"/>
            <a:ext cx="4480560" cy="1051560"/>
          </a:xfrm>
          <a:prstGeom prst="rect">
            <a:avLst/>
          </a:prstGeom>
          <a:noFill/>
          <a:ln/>
        </p:spPr>
        <p:txBody>
          <a:bodyPr wrap="square" lIns="0" tIns="0" rIns="0" bIns="0" rtlCol="0" anchor="t"/>
          <a:lstStyle/>
          <a:p>
            <a:pPr marL="0" indent="0">
              <a:lnSpc>
                <a:spcPts val="1600"/>
              </a:lnSpc>
              <a:buNone/>
            </a:pPr>
            <a:r>
              <a:rPr lang="en-US" sz="1150" dirty="0">
                <a:solidFill>
                  <a:srgbClr val="C2CAD4"/>
                </a:solidFill>
                <a:latin typeface="Calibri" pitchFamily="34" charset="0"/>
                <a:ea typeface="Calibri" pitchFamily="34" charset="-122"/>
                <a:cs typeface="Calibri" pitchFamily="34" charset="-120"/>
              </a:rPr>
              <a:t>A halted symbol does not simply resume. It reopens through a corridor that starts narrow — ten percent by default — and widens in timed stages until the market can cross again. A small random tail on the end prevents everyone timing the reopen to the second.</a:t>
            </a:r>
            <a:endParaRPr lang="en-US" sz="1150" dirty="0"/>
          </a:p>
        </p:txBody>
      </p:sp>
      <p:sp>
        <p:nvSpPr>
          <p:cNvPr id="35" name="Text 3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36" name="Text 3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mm_obligation_defaults — three tiers of inheritance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 market maker promises to keep a tight, sized, two-sided quote. This is where you say how tight, how big, and whether you actually check.</a:t>
            </a:r>
            <a:endParaRPr lang="en-US" sz="1450" dirty="0"/>
          </a:p>
        </p:txBody>
      </p:sp>
      <p:sp>
        <p:nvSpPr>
          <p:cNvPr id="6" name="Shape 4"/>
          <p:cNvSpPr/>
          <p:nvPr/>
        </p:nvSpPr>
        <p:spPr>
          <a:xfrm>
            <a:off x="640080" y="2011680"/>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11680"/>
            <a:ext cx="50292" cy="91440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96112" y="2121408"/>
            <a:ext cx="3840480" cy="31089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Exchange-wide defaults</a:t>
            </a:r>
            <a:endParaRPr lang="en-US" sz="1500" dirty="0"/>
          </a:p>
        </p:txBody>
      </p:sp>
      <p:sp>
        <p:nvSpPr>
          <p:cNvPr id="9" name="Text 7"/>
          <p:cNvSpPr/>
          <p:nvPr/>
        </p:nvSpPr>
        <p:spPr>
          <a:xfrm>
            <a:off x="896112" y="2468880"/>
            <a:ext cx="4572000" cy="274320"/>
          </a:xfrm>
          <a:prstGeom prst="rect">
            <a:avLst/>
          </a:prstGeom>
          <a:noFill/>
          <a:ln/>
        </p:spPr>
        <p:txBody>
          <a:bodyPr wrap="square" lIns="0" tIns="0" rIns="0" bIns="0" rtlCol="0" anchor="ctr"/>
          <a:lstStyle/>
          <a:p>
            <a:pPr marL="0" indent="0">
              <a:buNone/>
            </a:pPr>
            <a:r>
              <a:rPr lang="en-US" sz="1050" dirty="0">
                <a:solidFill>
                  <a:srgbClr val="34D6BE"/>
                </a:solidFill>
                <a:latin typeface="Consolas" pitchFamily="34" charset="0"/>
                <a:ea typeface="Consolas" pitchFamily="34" charset="-122"/>
                <a:cs typeface="Consolas" pitchFamily="34" charset="-120"/>
              </a:rPr>
              <a:t>mm_obligation_defaults</a:t>
            </a:r>
            <a:endParaRPr lang="en-US" sz="1050" dirty="0"/>
          </a:p>
        </p:txBody>
      </p:sp>
      <p:sp>
        <p:nvSpPr>
          <p:cNvPr id="10" name="Text 8"/>
          <p:cNvSpPr/>
          <p:nvPr/>
        </p:nvSpPr>
        <p:spPr>
          <a:xfrm>
            <a:off x="5760720" y="2231136"/>
            <a:ext cx="5516575" cy="6400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enforce (default off) · max spread 10 ticks · min quantity 100</a:t>
            </a:r>
            <a:endParaRPr lang="en-US" sz="1200" dirty="0"/>
          </a:p>
        </p:txBody>
      </p:sp>
      <p:sp>
        <p:nvSpPr>
          <p:cNvPr id="11" name="Shape 9"/>
          <p:cNvSpPr/>
          <p:nvPr/>
        </p:nvSpPr>
        <p:spPr>
          <a:xfrm>
            <a:off x="1097280" y="3063240"/>
            <a:ext cx="104543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1097280" y="3063240"/>
            <a:ext cx="50292" cy="914400"/>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1353312" y="3172968"/>
            <a:ext cx="3840480" cy="31089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Per-symbol override</a:t>
            </a:r>
            <a:endParaRPr lang="en-US" sz="1500" dirty="0"/>
          </a:p>
        </p:txBody>
      </p:sp>
      <p:sp>
        <p:nvSpPr>
          <p:cNvPr id="14" name="Text 12"/>
          <p:cNvSpPr/>
          <p:nvPr/>
        </p:nvSpPr>
        <p:spPr>
          <a:xfrm>
            <a:off x="1353312" y="3520440"/>
            <a:ext cx="4572000" cy="274320"/>
          </a:xfrm>
          <a:prstGeom prst="rect">
            <a:avLst/>
          </a:prstGeom>
          <a:noFill/>
          <a:ln/>
        </p:spPr>
        <p:txBody>
          <a:bodyPr wrap="square" lIns="0" tIns="0" rIns="0" bIns="0" rtlCol="0" anchor="ctr"/>
          <a:lstStyle/>
          <a:p>
            <a:pPr marL="0" indent="0">
              <a:buNone/>
            </a:pPr>
            <a:r>
              <a:rPr lang="en-US" sz="1050" dirty="0">
                <a:solidFill>
                  <a:srgbClr val="F3B441"/>
                </a:solidFill>
                <a:latin typeface="Consolas" pitchFamily="34" charset="0"/>
                <a:ea typeface="Consolas" pitchFamily="34" charset="-122"/>
                <a:cs typeface="Consolas" pitchFamily="34" charset="-120"/>
              </a:rPr>
              <a:t>mm_obligation_defaults.symbols.&lt;SYM&gt;</a:t>
            </a:r>
            <a:endParaRPr lang="en-US" sz="1050" dirty="0"/>
          </a:p>
        </p:txBody>
      </p:sp>
      <p:sp>
        <p:nvSpPr>
          <p:cNvPr id="15" name="Text 13"/>
          <p:cNvSpPr/>
          <p:nvPr/>
        </p:nvSpPr>
        <p:spPr>
          <a:xfrm>
            <a:off x="6217920" y="3282696"/>
            <a:ext cx="5059375" cy="6400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Relax or tighten the duty for one instrument — a thin small-cap need not quote like a blue chip</a:t>
            </a:r>
            <a:endParaRPr lang="en-US" sz="1200" dirty="0"/>
          </a:p>
        </p:txBody>
      </p:sp>
      <p:sp>
        <p:nvSpPr>
          <p:cNvPr id="16" name="Shape 14"/>
          <p:cNvSpPr/>
          <p:nvPr/>
        </p:nvSpPr>
        <p:spPr>
          <a:xfrm>
            <a:off x="1554480" y="4114800"/>
            <a:ext cx="99971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1554480" y="4114800"/>
            <a:ext cx="50292" cy="914400"/>
          </a:xfrm>
          <a:prstGeom prst="rect">
            <a:avLst/>
          </a:prstGeom>
          <a:solidFill>
            <a:srgbClr val="9B8CFF"/>
          </a:solidFill>
          <a:ln w="12700">
            <a:solidFill>
              <a:srgbClr val="333333"/>
            </a:solidFill>
            <a:prstDash val="solid"/>
          </a:ln>
        </p:spPr>
        <p:txBody>
          <a:bodyPr/>
          <a:lstStyle/>
          <a:p>
            <a:endParaRPr lang="en-SE"/>
          </a:p>
        </p:txBody>
      </p:sp>
      <p:sp>
        <p:nvSpPr>
          <p:cNvPr id="18" name="Text 16"/>
          <p:cNvSpPr/>
          <p:nvPr/>
        </p:nvSpPr>
        <p:spPr>
          <a:xfrm>
            <a:off x="1810512" y="4224528"/>
            <a:ext cx="3840480" cy="310896"/>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Per-gateway, per-symbol</a:t>
            </a:r>
            <a:endParaRPr lang="en-US" sz="1500" dirty="0"/>
          </a:p>
        </p:txBody>
      </p:sp>
      <p:sp>
        <p:nvSpPr>
          <p:cNvPr id="19" name="Text 17"/>
          <p:cNvSpPr/>
          <p:nvPr/>
        </p:nvSpPr>
        <p:spPr>
          <a:xfrm>
            <a:off x="1810512" y="4572000"/>
            <a:ext cx="4572000" cy="274320"/>
          </a:xfrm>
          <a:prstGeom prst="rect">
            <a:avLst/>
          </a:prstGeom>
          <a:noFill/>
          <a:ln/>
        </p:spPr>
        <p:txBody>
          <a:bodyPr wrap="square" lIns="0" tIns="0" rIns="0" bIns="0" rtlCol="0" anchor="ctr"/>
          <a:lstStyle/>
          <a:p>
            <a:pPr marL="0" indent="0">
              <a:buNone/>
            </a:pPr>
            <a:r>
              <a:rPr lang="en-US" sz="1050" dirty="0">
                <a:solidFill>
                  <a:srgbClr val="9B8CFF"/>
                </a:solidFill>
                <a:latin typeface="Consolas" pitchFamily="34" charset="0"/>
                <a:ea typeface="Consolas" pitchFamily="34" charset="-122"/>
                <a:cs typeface="Consolas" pitchFamily="34" charset="-120"/>
              </a:rPr>
              <a:t>gateways.alf[].mm_obligations.&lt;SYM&gt;</a:t>
            </a:r>
            <a:endParaRPr lang="en-US" sz="1050" dirty="0"/>
          </a:p>
        </p:txBody>
      </p:sp>
      <p:sp>
        <p:nvSpPr>
          <p:cNvPr id="20" name="Text 18"/>
          <p:cNvSpPr/>
          <p:nvPr/>
        </p:nvSpPr>
        <p:spPr>
          <a:xfrm>
            <a:off x="6675120" y="4334256"/>
            <a:ext cx="4602175" cy="64008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The finest grain: this market maker, this instrument. Highest precedence of all</a:t>
            </a:r>
            <a:endParaRPr lang="en-US" sz="1200" dirty="0"/>
          </a:p>
        </p:txBody>
      </p:sp>
      <p:sp>
        <p:nvSpPr>
          <p:cNvPr id="21" name="Text 19"/>
          <p:cNvSpPr/>
          <p:nvPr/>
        </p:nvSpPr>
        <p:spPr>
          <a:xfrm>
            <a:off x="640080" y="5257800"/>
            <a:ext cx="10911535" cy="274320"/>
          </a:xfrm>
          <a:prstGeom prst="rect">
            <a:avLst/>
          </a:prstGeom>
          <a:noFill/>
          <a:ln/>
        </p:spPr>
        <p:txBody>
          <a:bodyPr wrap="square" lIns="0" tIns="0" rIns="0" bIns="0" rtlCol="0" anchor="ctr"/>
          <a:lstStyle/>
          <a:p>
            <a:pPr marL="0" indent="0" algn="r">
              <a:buNone/>
            </a:pPr>
            <a:r>
              <a:rPr lang="en-US" sz="1100" i="1" dirty="0">
                <a:solidFill>
                  <a:srgbClr val="8D97A5"/>
                </a:solidFill>
                <a:latin typeface="Calibri" pitchFamily="34" charset="0"/>
                <a:ea typeface="Calibri" pitchFamily="34" charset="-122"/>
                <a:cs typeface="Calibri" pitchFamily="34" charset="-120"/>
              </a:rPr>
              <a:t>higher precedence  ↓</a:t>
            </a:r>
            <a:endParaRPr lang="en-US" sz="1100" dirty="0"/>
          </a:p>
        </p:txBody>
      </p:sp>
      <p:sp>
        <p:nvSpPr>
          <p:cNvPr id="22" name="Shape 20"/>
          <p:cNvSpPr/>
          <p:nvPr/>
        </p:nvSpPr>
        <p:spPr>
          <a:xfrm>
            <a:off x="640080" y="5577840"/>
            <a:ext cx="10911535" cy="777240"/>
          </a:xfrm>
          <a:prstGeom prst="roundRect">
            <a:avLst>
              <a:gd name="adj" fmla="val 7059"/>
            </a:avLst>
          </a:prstGeom>
          <a:solidFill>
            <a:srgbClr val="13463F"/>
          </a:solidFill>
          <a:ln w="12700">
            <a:solidFill>
              <a:srgbClr val="34D6BE"/>
            </a:solidFill>
            <a:prstDash val="solid"/>
          </a:ln>
        </p:spPr>
        <p:txBody>
          <a:bodyPr/>
          <a:lstStyle/>
          <a:p>
            <a:endParaRPr lang="en-SE"/>
          </a:p>
        </p:txBody>
      </p:sp>
      <p:sp>
        <p:nvSpPr>
          <p:cNvPr id="23" name="Text 21"/>
          <p:cNvSpPr/>
          <p:nvPr/>
        </p:nvSpPr>
        <p:spPr>
          <a:xfrm>
            <a:off x="877824" y="566928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THE THREE SETTINGS, IN PLAIN ENGLISH</a:t>
            </a:r>
            <a:endParaRPr lang="en-US" sz="950" dirty="0"/>
          </a:p>
        </p:txBody>
      </p:sp>
      <p:sp>
        <p:nvSpPr>
          <p:cNvPr id="24" name="Text 22"/>
          <p:cNvSpPr/>
          <p:nvPr/>
        </p:nvSpPr>
        <p:spPr>
          <a:xfrm>
            <a:off x="877824" y="592531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Is the duty checked at all · how wide may the bid-to-ask spread be, counted in ticks · how much size must sit on each side. A quote that breaks the promise is rejected.</a:t>
            </a:r>
            <a:endParaRPr lang="en-US" sz="1250" dirty="0"/>
          </a:p>
        </p:txBody>
      </p:sp>
      <p:sp>
        <p:nvSpPr>
          <p:cNvPr id="25" name="Text 23"/>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26" name="Text 24"/>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Seeding the book: quotes, combos and indices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Three optional sections that make an empty exchange feel like a real market from the first second.</a:t>
            </a:r>
            <a:endParaRPr lang="en-US" sz="1450" dirty="0"/>
          </a:p>
        </p:txBody>
      </p:sp>
      <p:sp>
        <p:nvSpPr>
          <p:cNvPr id="6" name="Shape 4"/>
          <p:cNvSpPr/>
          <p:nvPr/>
        </p:nvSpPr>
        <p:spPr>
          <a:xfrm>
            <a:off x="640080" y="1965960"/>
            <a:ext cx="3520440" cy="4023360"/>
          </a:xfrm>
          <a:prstGeom prst="roundRect">
            <a:avLst>
              <a:gd name="adj" fmla="val 155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1966874"/>
            <a:ext cx="3518611" cy="50292"/>
          </a:xfrm>
          <a:prstGeom prst="rect">
            <a:avLst/>
          </a:prstGeom>
          <a:solidFill>
            <a:srgbClr val="F3B441"/>
          </a:solidFill>
          <a:ln w="12700">
            <a:solidFill>
              <a:srgbClr val="333333"/>
            </a:solidFill>
            <a:prstDash val="solid"/>
          </a:ln>
        </p:spPr>
        <p:txBody>
          <a:bodyPr/>
          <a:lstStyle/>
          <a:p>
            <a:endParaRPr lang="en-SE"/>
          </a:p>
        </p:txBody>
      </p:sp>
      <p:sp>
        <p:nvSpPr>
          <p:cNvPr id="8" name="Text 6"/>
          <p:cNvSpPr/>
          <p:nvPr/>
        </p:nvSpPr>
        <p:spPr>
          <a:xfrm>
            <a:off x="877824" y="2240280"/>
            <a:ext cx="3044952" cy="219456"/>
          </a:xfrm>
          <a:prstGeom prst="rect">
            <a:avLst/>
          </a:prstGeom>
          <a:noFill/>
          <a:ln/>
        </p:spPr>
        <p:txBody>
          <a:bodyPr wrap="square" lIns="0" tIns="0" rIns="0" bIns="0" rtlCol="0" anchor="ctr"/>
          <a:lstStyle/>
          <a:p>
            <a:pPr marL="0" indent="0">
              <a:buNone/>
            </a:pPr>
            <a:r>
              <a:rPr lang="en-US" sz="900" b="1" kern="0" spc="160" dirty="0">
                <a:solidFill>
                  <a:srgbClr val="F3B441"/>
                </a:solidFill>
                <a:latin typeface="Calibri" pitchFamily="34" charset="0"/>
                <a:ea typeface="Calibri" pitchFamily="34" charset="-122"/>
                <a:cs typeface="Calibri" pitchFamily="34" charset="-120"/>
              </a:rPr>
              <a:t>LIQUIDITY</a:t>
            </a:r>
            <a:endParaRPr lang="en-US" sz="900" dirty="0"/>
          </a:p>
        </p:txBody>
      </p:sp>
      <p:sp>
        <p:nvSpPr>
          <p:cNvPr id="9" name="Text 7"/>
          <p:cNvSpPr/>
          <p:nvPr/>
        </p:nvSpPr>
        <p:spPr>
          <a:xfrm>
            <a:off x="877824" y="251460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market_maker_quotes</a:t>
            </a:r>
            <a:endParaRPr lang="en-US" sz="1550" dirty="0"/>
          </a:p>
        </p:txBody>
      </p:sp>
      <p:sp>
        <p:nvSpPr>
          <p:cNvPr id="10" name="Text 8"/>
          <p:cNvSpPr/>
          <p:nvPr/>
        </p:nvSpPr>
        <p:spPr>
          <a:xfrm>
            <a:off x="877824" y="2898648"/>
            <a:ext cx="3044952" cy="292608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A per-symbol list of opening quotes, each attributed to a market-maker gateway.</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bid_price must be strictly below ask_price, and both sizes must be positive — a crossed seed quote is rejected.</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seed_once, on by default, means the engine skips injection if it already holds book state for that symbol. A restart with history does not double-seed.</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The quote is injected when the named gateway authenticates, not at engine startup.</a:t>
            </a:r>
            <a:endParaRPr lang="en-US" sz="1150" dirty="0"/>
          </a:p>
        </p:txBody>
      </p:sp>
      <p:sp>
        <p:nvSpPr>
          <p:cNvPr id="11" name="Shape 9"/>
          <p:cNvSpPr/>
          <p:nvPr/>
        </p:nvSpPr>
        <p:spPr>
          <a:xfrm>
            <a:off x="4343400" y="1965960"/>
            <a:ext cx="3520440" cy="4023360"/>
          </a:xfrm>
          <a:prstGeom prst="roundRect">
            <a:avLst>
              <a:gd name="adj" fmla="val 1558"/>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4344314" y="1966874"/>
            <a:ext cx="3518611" cy="50292"/>
          </a:xfrm>
          <a:prstGeom prst="rect">
            <a:avLst/>
          </a:prstGeom>
          <a:solidFill>
            <a:srgbClr val="9B8CFF"/>
          </a:solidFill>
          <a:ln w="12700">
            <a:solidFill>
              <a:srgbClr val="333333"/>
            </a:solidFill>
            <a:prstDash val="solid"/>
          </a:ln>
        </p:spPr>
        <p:txBody>
          <a:bodyPr/>
          <a:lstStyle/>
          <a:p>
            <a:endParaRPr lang="en-SE"/>
          </a:p>
        </p:txBody>
      </p:sp>
      <p:sp>
        <p:nvSpPr>
          <p:cNvPr id="13" name="Text 11"/>
          <p:cNvSpPr/>
          <p:nvPr/>
        </p:nvSpPr>
        <p:spPr>
          <a:xfrm>
            <a:off x="4581144" y="2240280"/>
            <a:ext cx="3044952" cy="219456"/>
          </a:xfrm>
          <a:prstGeom prst="rect">
            <a:avLst/>
          </a:prstGeom>
          <a:noFill/>
          <a:ln/>
        </p:spPr>
        <p:txBody>
          <a:bodyPr wrap="square" lIns="0" tIns="0" rIns="0" bIns="0" rtlCol="0" anchor="ctr"/>
          <a:lstStyle/>
          <a:p>
            <a:pPr marL="0" indent="0">
              <a:buNone/>
            </a:pPr>
            <a:r>
              <a:rPr lang="en-US" sz="900" b="1" kern="0" spc="160" dirty="0">
                <a:solidFill>
                  <a:srgbClr val="9B8CFF"/>
                </a:solidFill>
                <a:latin typeface="Calibri" pitchFamily="34" charset="0"/>
                <a:ea typeface="Calibri" pitchFamily="34" charset="-122"/>
                <a:cs typeface="Calibri" pitchFamily="34" charset="-120"/>
              </a:rPr>
              <a:t>ADVANCED</a:t>
            </a:r>
            <a:endParaRPr lang="en-US" sz="900" dirty="0"/>
          </a:p>
        </p:txBody>
      </p:sp>
      <p:sp>
        <p:nvSpPr>
          <p:cNvPr id="14" name="Text 12"/>
          <p:cNvSpPr/>
          <p:nvPr/>
        </p:nvSpPr>
        <p:spPr>
          <a:xfrm>
            <a:off x="4581144" y="251460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market_maker_combos</a:t>
            </a:r>
            <a:endParaRPr lang="en-US" sz="1550" dirty="0"/>
          </a:p>
        </p:txBody>
      </p:sp>
      <p:sp>
        <p:nvSpPr>
          <p:cNvPr id="15" name="Text 13"/>
          <p:cNvSpPr/>
          <p:nvPr/>
        </p:nvSpPr>
        <p:spPr>
          <a:xfrm>
            <a:off x="4581144" y="2898648"/>
            <a:ext cx="3044952" cy="292608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Multi-leg seed orders: between two and ten legs, placed as a single all-or-none package.</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Each leg names a symbol, a side, an order type and a quantity. Symbols must be unique within a combo and must exist in the universe.</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Use them to teach spreads, pairs and hedged entries — where the whole package trades or none of it does.</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An expert-level feature. Skip it until the basics are solid.</a:t>
            </a:r>
            <a:endParaRPr lang="en-US" sz="1150" dirty="0"/>
          </a:p>
        </p:txBody>
      </p:sp>
      <p:sp>
        <p:nvSpPr>
          <p:cNvPr id="16" name="Shape 14"/>
          <p:cNvSpPr/>
          <p:nvPr/>
        </p:nvSpPr>
        <p:spPr>
          <a:xfrm>
            <a:off x="8046720" y="1965960"/>
            <a:ext cx="3502152" cy="4023360"/>
          </a:xfrm>
          <a:prstGeom prst="roundRect">
            <a:avLst>
              <a:gd name="adj" fmla="val 1567"/>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8047634" y="1966874"/>
            <a:ext cx="3500323" cy="50292"/>
          </a:xfrm>
          <a:prstGeom prst="rect">
            <a:avLst/>
          </a:prstGeom>
          <a:solidFill>
            <a:srgbClr val="6BD98A"/>
          </a:solidFill>
          <a:ln w="12700">
            <a:solidFill>
              <a:srgbClr val="333333"/>
            </a:solidFill>
            <a:prstDash val="solid"/>
          </a:ln>
        </p:spPr>
        <p:txBody>
          <a:bodyPr/>
          <a:lstStyle/>
          <a:p>
            <a:endParaRPr lang="en-SE"/>
          </a:p>
        </p:txBody>
      </p:sp>
      <p:sp>
        <p:nvSpPr>
          <p:cNvPr id="18" name="Text 16"/>
          <p:cNvSpPr/>
          <p:nvPr/>
        </p:nvSpPr>
        <p:spPr>
          <a:xfrm>
            <a:off x="8284464" y="2240280"/>
            <a:ext cx="3026664" cy="219456"/>
          </a:xfrm>
          <a:prstGeom prst="rect">
            <a:avLst/>
          </a:prstGeom>
          <a:noFill/>
          <a:ln/>
        </p:spPr>
        <p:txBody>
          <a:bodyPr wrap="square" lIns="0" tIns="0" rIns="0" bIns="0" rtlCol="0" anchor="ctr"/>
          <a:lstStyle/>
          <a:p>
            <a:pPr marL="0" indent="0">
              <a:buNone/>
            </a:pPr>
            <a:r>
              <a:rPr lang="en-US" sz="900" b="1" kern="0" spc="160" dirty="0">
                <a:solidFill>
                  <a:srgbClr val="6BD98A"/>
                </a:solidFill>
                <a:latin typeface="Calibri" pitchFamily="34" charset="0"/>
                <a:ea typeface="Calibri" pitchFamily="34" charset="-122"/>
                <a:cs typeface="Calibri" pitchFamily="34" charset="-120"/>
              </a:rPr>
              <a:t>ANALYTICS</a:t>
            </a:r>
            <a:endParaRPr lang="en-US" sz="900" dirty="0"/>
          </a:p>
        </p:txBody>
      </p:sp>
      <p:sp>
        <p:nvSpPr>
          <p:cNvPr id="19" name="Text 17"/>
          <p:cNvSpPr/>
          <p:nvPr/>
        </p:nvSpPr>
        <p:spPr>
          <a:xfrm>
            <a:off x="8284464" y="2514600"/>
            <a:ext cx="3026664"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indices</a:t>
            </a:r>
            <a:endParaRPr lang="en-US" sz="1550" dirty="0"/>
          </a:p>
        </p:txBody>
      </p:sp>
      <p:sp>
        <p:nvSpPr>
          <p:cNvPr id="20" name="Text 18"/>
          <p:cNvSpPr/>
          <p:nvPr/>
        </p:nvSpPr>
        <p:spPr>
          <a:xfrm>
            <a:off x="8284464" y="2898648"/>
            <a:ext cx="3026664" cy="292608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Up to five calculated, cap-weighted indices.</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Each names its constituents, a base value (default 1000) and a publish interval (default one second).</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Every constituent must be a configured symbol that also defines outstanding_shares — without a share count there is no weight to compute.</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The index process reads this section and the per-symbol share counts, and nothing else.</a:t>
            </a:r>
            <a:endParaRPr lang="en-US" sz="1150" dirty="0"/>
          </a:p>
        </p:txBody>
      </p:sp>
      <p:sp>
        <p:nvSpPr>
          <p:cNvPr id="21" name="Text 1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22" name="Text 2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schedule and country — the trading day</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Five wall-clock times that must be strictly increasing, plus a holiday calendar.</a:t>
            </a:r>
            <a:endParaRPr lang="en-US" sz="1450" dirty="0"/>
          </a:p>
        </p:txBody>
      </p:sp>
      <p:sp>
        <p:nvSpPr>
          <p:cNvPr id="6" name="Shape 4"/>
          <p:cNvSpPr/>
          <p:nvPr/>
        </p:nvSpPr>
        <p:spPr>
          <a:xfrm>
            <a:off x="640080" y="2148840"/>
            <a:ext cx="2036003"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148840"/>
            <a:ext cx="2036003" cy="45720"/>
          </a:xfrm>
          <a:prstGeom prst="rect">
            <a:avLst/>
          </a:prstGeom>
          <a:solidFill>
            <a:srgbClr val="5AB2F7"/>
          </a:solidFill>
          <a:ln w="12700">
            <a:solidFill>
              <a:srgbClr val="333333"/>
            </a:solidFill>
            <a:prstDash val="solid"/>
          </a:ln>
        </p:spPr>
        <p:txBody>
          <a:bodyPr/>
          <a:lstStyle/>
          <a:p>
            <a:endParaRPr lang="en-SE"/>
          </a:p>
        </p:txBody>
      </p:sp>
      <p:sp>
        <p:nvSpPr>
          <p:cNvPr id="8" name="Text 6"/>
          <p:cNvSpPr/>
          <p:nvPr/>
        </p:nvSpPr>
        <p:spPr>
          <a:xfrm>
            <a:off x="822960" y="2331720"/>
            <a:ext cx="1670243" cy="402336"/>
          </a:xfrm>
          <a:prstGeom prst="rect">
            <a:avLst/>
          </a:prstGeom>
          <a:noFill/>
          <a:ln/>
        </p:spPr>
        <p:txBody>
          <a:bodyPr wrap="square" lIns="0" tIns="0" rIns="0" bIns="0" rtlCol="0" anchor="ctr"/>
          <a:lstStyle/>
          <a:p>
            <a:pPr marL="0" indent="0">
              <a:buNone/>
            </a:pPr>
            <a:r>
              <a:rPr lang="en-US" sz="2000" b="1" dirty="0">
                <a:solidFill>
                  <a:srgbClr val="5AB2F7"/>
                </a:solidFill>
                <a:latin typeface="Consolas" pitchFamily="34" charset="0"/>
                <a:ea typeface="Consolas" pitchFamily="34" charset="-122"/>
                <a:cs typeface="Consolas" pitchFamily="34" charset="-120"/>
              </a:rPr>
              <a:t>09:00</a:t>
            </a:r>
            <a:endParaRPr lang="en-US" sz="2000" dirty="0"/>
          </a:p>
        </p:txBody>
      </p:sp>
      <p:sp>
        <p:nvSpPr>
          <p:cNvPr id="9" name="Text 7"/>
          <p:cNvSpPr/>
          <p:nvPr/>
        </p:nvSpPr>
        <p:spPr>
          <a:xfrm>
            <a:off x="822960" y="2761488"/>
            <a:ext cx="1670243" cy="274320"/>
          </a:xfrm>
          <a:prstGeom prst="rect">
            <a:avLst/>
          </a:prstGeom>
          <a:noFill/>
          <a:ln/>
        </p:spPr>
        <p:txBody>
          <a:bodyPr wrap="square" lIns="0" tIns="0" rIns="0" bIns="0" rtlCol="0" anchor="ctr"/>
          <a:lstStyle/>
          <a:p>
            <a:pPr marL="0" indent="0">
              <a:buNone/>
            </a:pPr>
            <a:r>
              <a:rPr lang="en-US" sz="1050" b="1" kern="0" spc="80" dirty="0">
                <a:solidFill>
                  <a:srgbClr val="F1F4F8"/>
                </a:solidFill>
                <a:latin typeface="Calibri" pitchFamily="34" charset="0"/>
                <a:ea typeface="Calibri" pitchFamily="34" charset="-122"/>
                <a:cs typeface="Calibri" pitchFamily="34" charset="-120"/>
              </a:rPr>
              <a:t>PRE_OPEN</a:t>
            </a:r>
            <a:endParaRPr lang="en-US" sz="1050" dirty="0"/>
          </a:p>
        </p:txBody>
      </p:sp>
      <p:sp>
        <p:nvSpPr>
          <p:cNvPr id="10" name="Text 8"/>
          <p:cNvSpPr/>
          <p:nvPr/>
        </p:nvSpPr>
        <p:spPr>
          <a:xfrm>
            <a:off x="822960" y="3072384"/>
            <a:ext cx="1670243" cy="640080"/>
          </a:xfrm>
          <a:prstGeom prst="rect">
            <a:avLst/>
          </a:prstGeom>
          <a:noFill/>
          <a:ln/>
        </p:spPr>
        <p:txBody>
          <a:bodyPr wrap="square" lIns="0" tIns="0" rIns="0" bIns="0" rtlCol="0" anchor="t"/>
          <a:lstStyle/>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Orders accepted,</a:t>
            </a:r>
            <a:endParaRPr lang="en-US" sz="1050" dirty="0"/>
          </a:p>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nothing matches</a:t>
            </a:r>
            <a:endParaRPr lang="en-US" sz="1050" dirty="0"/>
          </a:p>
        </p:txBody>
      </p:sp>
      <p:sp>
        <p:nvSpPr>
          <p:cNvPr id="11" name="Text 9"/>
          <p:cNvSpPr/>
          <p:nvPr/>
        </p:nvSpPr>
        <p:spPr>
          <a:xfrm>
            <a:off x="2676083" y="2743200"/>
            <a:ext cx="146304" cy="457200"/>
          </a:xfrm>
          <a:prstGeom prst="rect">
            <a:avLst/>
          </a:prstGeom>
          <a:noFill/>
          <a:ln/>
        </p:spPr>
        <p:txBody>
          <a:bodyPr wrap="square" lIns="0" tIns="0" rIns="0" bIns="0" rtlCol="0" anchor="ctr"/>
          <a:lstStyle/>
          <a:p>
            <a:pPr marL="0" indent="0" algn="ctr">
              <a:buNone/>
            </a:pPr>
            <a:r>
              <a:rPr lang="en-US" sz="1800" dirty="0">
                <a:solidFill>
                  <a:srgbClr val="3B4450"/>
                </a:solidFill>
                <a:latin typeface="Trebuchet MS" pitchFamily="34" charset="0"/>
                <a:ea typeface="Trebuchet MS" pitchFamily="34" charset="-122"/>
                <a:cs typeface="Trebuchet MS" pitchFamily="34" charset="-120"/>
              </a:rPr>
              <a:t>›</a:t>
            </a:r>
            <a:endParaRPr lang="en-US" sz="1800" dirty="0"/>
          </a:p>
        </p:txBody>
      </p:sp>
      <p:sp>
        <p:nvSpPr>
          <p:cNvPr id="12" name="Shape 10"/>
          <p:cNvSpPr/>
          <p:nvPr/>
        </p:nvSpPr>
        <p:spPr>
          <a:xfrm>
            <a:off x="2822387" y="2148840"/>
            <a:ext cx="2036003"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2822387" y="2148840"/>
            <a:ext cx="2036003" cy="45720"/>
          </a:xfrm>
          <a:prstGeom prst="rect">
            <a:avLst/>
          </a:prstGeom>
          <a:solidFill>
            <a:srgbClr val="9B8CFF"/>
          </a:solidFill>
          <a:ln w="12700">
            <a:solidFill>
              <a:srgbClr val="333333"/>
            </a:solidFill>
            <a:prstDash val="solid"/>
          </a:ln>
        </p:spPr>
        <p:txBody>
          <a:bodyPr/>
          <a:lstStyle/>
          <a:p>
            <a:endParaRPr lang="en-SE"/>
          </a:p>
        </p:txBody>
      </p:sp>
      <p:sp>
        <p:nvSpPr>
          <p:cNvPr id="14" name="Text 12"/>
          <p:cNvSpPr/>
          <p:nvPr/>
        </p:nvSpPr>
        <p:spPr>
          <a:xfrm>
            <a:off x="3005267" y="2331720"/>
            <a:ext cx="1670243" cy="402336"/>
          </a:xfrm>
          <a:prstGeom prst="rect">
            <a:avLst/>
          </a:prstGeom>
          <a:noFill/>
          <a:ln/>
        </p:spPr>
        <p:txBody>
          <a:bodyPr wrap="square" lIns="0" tIns="0" rIns="0" bIns="0" rtlCol="0" anchor="ctr"/>
          <a:lstStyle/>
          <a:p>
            <a:pPr marL="0" indent="0">
              <a:buNone/>
            </a:pPr>
            <a:r>
              <a:rPr lang="en-US" sz="2000" b="1" dirty="0">
                <a:solidFill>
                  <a:srgbClr val="9B8CFF"/>
                </a:solidFill>
                <a:latin typeface="Consolas" pitchFamily="34" charset="0"/>
                <a:ea typeface="Consolas" pitchFamily="34" charset="-122"/>
                <a:cs typeface="Consolas" pitchFamily="34" charset="-120"/>
              </a:rPr>
              <a:t>09:25</a:t>
            </a:r>
            <a:endParaRPr lang="en-US" sz="2000" dirty="0"/>
          </a:p>
        </p:txBody>
      </p:sp>
      <p:sp>
        <p:nvSpPr>
          <p:cNvPr id="15" name="Text 13"/>
          <p:cNvSpPr/>
          <p:nvPr/>
        </p:nvSpPr>
        <p:spPr>
          <a:xfrm>
            <a:off x="3005267" y="2761488"/>
            <a:ext cx="1670243" cy="274320"/>
          </a:xfrm>
          <a:prstGeom prst="rect">
            <a:avLst/>
          </a:prstGeom>
          <a:noFill/>
          <a:ln/>
        </p:spPr>
        <p:txBody>
          <a:bodyPr wrap="square" lIns="0" tIns="0" rIns="0" bIns="0" rtlCol="0" anchor="ctr"/>
          <a:lstStyle/>
          <a:p>
            <a:pPr marL="0" indent="0">
              <a:buNone/>
            </a:pPr>
            <a:r>
              <a:rPr lang="en-US" sz="1050" b="1" kern="0" spc="80" dirty="0">
                <a:solidFill>
                  <a:srgbClr val="F1F4F8"/>
                </a:solidFill>
                <a:latin typeface="Calibri" pitchFamily="34" charset="0"/>
                <a:ea typeface="Calibri" pitchFamily="34" charset="-122"/>
                <a:cs typeface="Calibri" pitchFamily="34" charset="-120"/>
              </a:rPr>
              <a:t>OPENING AUCTION</a:t>
            </a:r>
            <a:endParaRPr lang="en-US" sz="1050" dirty="0"/>
          </a:p>
        </p:txBody>
      </p:sp>
      <p:sp>
        <p:nvSpPr>
          <p:cNvPr id="16" name="Text 14"/>
          <p:cNvSpPr/>
          <p:nvPr/>
        </p:nvSpPr>
        <p:spPr>
          <a:xfrm>
            <a:off x="3005267" y="3072384"/>
            <a:ext cx="1670243" cy="640080"/>
          </a:xfrm>
          <a:prstGeom prst="rect">
            <a:avLst/>
          </a:prstGeom>
          <a:noFill/>
          <a:ln/>
        </p:spPr>
        <p:txBody>
          <a:bodyPr wrap="square" lIns="0" tIns="0" rIns="0" bIns="0" rtlCol="0" anchor="t"/>
          <a:lstStyle/>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The uncross that</a:t>
            </a:r>
            <a:endParaRPr lang="en-US" sz="1050" dirty="0"/>
          </a:p>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sets the open</a:t>
            </a:r>
            <a:endParaRPr lang="en-US" sz="1050" dirty="0"/>
          </a:p>
        </p:txBody>
      </p:sp>
      <p:sp>
        <p:nvSpPr>
          <p:cNvPr id="17" name="Text 15"/>
          <p:cNvSpPr/>
          <p:nvPr/>
        </p:nvSpPr>
        <p:spPr>
          <a:xfrm>
            <a:off x="4858390" y="2743200"/>
            <a:ext cx="146304" cy="457200"/>
          </a:xfrm>
          <a:prstGeom prst="rect">
            <a:avLst/>
          </a:prstGeom>
          <a:noFill/>
          <a:ln/>
        </p:spPr>
        <p:txBody>
          <a:bodyPr wrap="square" lIns="0" tIns="0" rIns="0" bIns="0" rtlCol="0" anchor="ctr"/>
          <a:lstStyle/>
          <a:p>
            <a:pPr marL="0" indent="0" algn="ctr">
              <a:buNone/>
            </a:pPr>
            <a:r>
              <a:rPr lang="en-US" sz="1800" dirty="0">
                <a:solidFill>
                  <a:srgbClr val="3B4450"/>
                </a:solidFill>
                <a:latin typeface="Trebuchet MS" pitchFamily="34" charset="0"/>
                <a:ea typeface="Trebuchet MS" pitchFamily="34" charset="-122"/>
                <a:cs typeface="Trebuchet MS" pitchFamily="34" charset="-120"/>
              </a:rPr>
              <a:t>›</a:t>
            </a:r>
            <a:endParaRPr lang="en-US" sz="1800" dirty="0"/>
          </a:p>
        </p:txBody>
      </p:sp>
      <p:sp>
        <p:nvSpPr>
          <p:cNvPr id="18" name="Shape 16"/>
          <p:cNvSpPr/>
          <p:nvPr/>
        </p:nvSpPr>
        <p:spPr>
          <a:xfrm>
            <a:off x="5004694" y="2148840"/>
            <a:ext cx="2036003"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5004694" y="2148840"/>
            <a:ext cx="2036003" cy="45720"/>
          </a:xfrm>
          <a:prstGeom prst="rect">
            <a:avLst/>
          </a:prstGeom>
          <a:solidFill>
            <a:srgbClr val="34D6BE"/>
          </a:solidFill>
          <a:ln w="12700">
            <a:solidFill>
              <a:srgbClr val="333333"/>
            </a:solidFill>
            <a:prstDash val="solid"/>
          </a:ln>
        </p:spPr>
        <p:txBody>
          <a:bodyPr/>
          <a:lstStyle/>
          <a:p>
            <a:endParaRPr lang="en-SE"/>
          </a:p>
        </p:txBody>
      </p:sp>
      <p:sp>
        <p:nvSpPr>
          <p:cNvPr id="20" name="Text 18"/>
          <p:cNvSpPr/>
          <p:nvPr/>
        </p:nvSpPr>
        <p:spPr>
          <a:xfrm>
            <a:off x="5187574" y="2331720"/>
            <a:ext cx="1670243" cy="402336"/>
          </a:xfrm>
          <a:prstGeom prst="rect">
            <a:avLst/>
          </a:prstGeom>
          <a:noFill/>
          <a:ln/>
        </p:spPr>
        <p:txBody>
          <a:bodyPr wrap="square" lIns="0" tIns="0" rIns="0" bIns="0" rtlCol="0" anchor="ctr"/>
          <a:lstStyle/>
          <a:p>
            <a:pPr marL="0" indent="0">
              <a:buNone/>
            </a:pPr>
            <a:r>
              <a:rPr lang="en-US" sz="2000" b="1" dirty="0">
                <a:solidFill>
                  <a:srgbClr val="34D6BE"/>
                </a:solidFill>
                <a:latin typeface="Consolas" pitchFamily="34" charset="0"/>
                <a:ea typeface="Consolas" pitchFamily="34" charset="-122"/>
                <a:cs typeface="Consolas" pitchFamily="34" charset="-120"/>
              </a:rPr>
              <a:t>09:30</a:t>
            </a:r>
            <a:endParaRPr lang="en-US" sz="2000" dirty="0"/>
          </a:p>
        </p:txBody>
      </p:sp>
      <p:sp>
        <p:nvSpPr>
          <p:cNvPr id="21" name="Text 19"/>
          <p:cNvSpPr/>
          <p:nvPr/>
        </p:nvSpPr>
        <p:spPr>
          <a:xfrm>
            <a:off x="5187574" y="2761488"/>
            <a:ext cx="1670243" cy="274320"/>
          </a:xfrm>
          <a:prstGeom prst="rect">
            <a:avLst/>
          </a:prstGeom>
          <a:noFill/>
          <a:ln/>
        </p:spPr>
        <p:txBody>
          <a:bodyPr wrap="square" lIns="0" tIns="0" rIns="0" bIns="0" rtlCol="0" anchor="ctr"/>
          <a:lstStyle/>
          <a:p>
            <a:pPr marL="0" indent="0">
              <a:buNone/>
            </a:pPr>
            <a:r>
              <a:rPr lang="en-US" sz="1050" b="1" kern="0" spc="80" dirty="0">
                <a:solidFill>
                  <a:srgbClr val="F1F4F8"/>
                </a:solidFill>
                <a:latin typeface="Calibri" pitchFamily="34" charset="0"/>
                <a:ea typeface="Calibri" pitchFamily="34" charset="-122"/>
                <a:cs typeface="Calibri" pitchFamily="34" charset="-120"/>
              </a:rPr>
              <a:t>CONTINUOUS</a:t>
            </a:r>
            <a:endParaRPr lang="en-US" sz="1050" dirty="0"/>
          </a:p>
        </p:txBody>
      </p:sp>
      <p:sp>
        <p:nvSpPr>
          <p:cNvPr id="22" name="Text 20"/>
          <p:cNvSpPr/>
          <p:nvPr/>
        </p:nvSpPr>
        <p:spPr>
          <a:xfrm>
            <a:off x="5187574" y="3072384"/>
            <a:ext cx="1670243" cy="640080"/>
          </a:xfrm>
          <a:prstGeom prst="rect">
            <a:avLst/>
          </a:prstGeom>
          <a:noFill/>
          <a:ln/>
        </p:spPr>
        <p:txBody>
          <a:bodyPr wrap="square" lIns="0" tIns="0" rIns="0" bIns="0" rtlCol="0" anchor="t"/>
          <a:lstStyle/>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Normal trading,</a:t>
            </a:r>
            <a:endParaRPr lang="en-US" sz="1050" dirty="0"/>
          </a:p>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price-time priority</a:t>
            </a:r>
            <a:endParaRPr lang="en-US" sz="1050" dirty="0"/>
          </a:p>
        </p:txBody>
      </p:sp>
      <p:sp>
        <p:nvSpPr>
          <p:cNvPr id="23" name="Text 21"/>
          <p:cNvSpPr/>
          <p:nvPr/>
        </p:nvSpPr>
        <p:spPr>
          <a:xfrm>
            <a:off x="7040697" y="2743200"/>
            <a:ext cx="146304" cy="457200"/>
          </a:xfrm>
          <a:prstGeom prst="rect">
            <a:avLst/>
          </a:prstGeom>
          <a:noFill/>
          <a:ln/>
        </p:spPr>
        <p:txBody>
          <a:bodyPr wrap="square" lIns="0" tIns="0" rIns="0" bIns="0" rtlCol="0" anchor="ctr"/>
          <a:lstStyle/>
          <a:p>
            <a:pPr marL="0" indent="0" algn="ctr">
              <a:buNone/>
            </a:pPr>
            <a:r>
              <a:rPr lang="en-US" sz="1800" dirty="0">
                <a:solidFill>
                  <a:srgbClr val="3B4450"/>
                </a:solidFill>
                <a:latin typeface="Trebuchet MS" pitchFamily="34" charset="0"/>
                <a:ea typeface="Trebuchet MS" pitchFamily="34" charset="-122"/>
                <a:cs typeface="Trebuchet MS" pitchFamily="34" charset="-120"/>
              </a:rPr>
              <a:t>›</a:t>
            </a:r>
            <a:endParaRPr lang="en-US" sz="1800" dirty="0"/>
          </a:p>
        </p:txBody>
      </p:sp>
      <p:sp>
        <p:nvSpPr>
          <p:cNvPr id="24" name="Shape 22"/>
          <p:cNvSpPr/>
          <p:nvPr/>
        </p:nvSpPr>
        <p:spPr>
          <a:xfrm>
            <a:off x="7187001" y="2148840"/>
            <a:ext cx="2036003"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7187001" y="2148840"/>
            <a:ext cx="2036003" cy="45720"/>
          </a:xfrm>
          <a:prstGeom prst="rect">
            <a:avLst/>
          </a:prstGeom>
          <a:solidFill>
            <a:srgbClr val="9B8CFF"/>
          </a:solidFill>
          <a:ln w="12700">
            <a:solidFill>
              <a:srgbClr val="333333"/>
            </a:solidFill>
            <a:prstDash val="solid"/>
          </a:ln>
        </p:spPr>
        <p:txBody>
          <a:bodyPr/>
          <a:lstStyle/>
          <a:p>
            <a:endParaRPr lang="en-SE"/>
          </a:p>
        </p:txBody>
      </p:sp>
      <p:sp>
        <p:nvSpPr>
          <p:cNvPr id="26" name="Text 24"/>
          <p:cNvSpPr/>
          <p:nvPr/>
        </p:nvSpPr>
        <p:spPr>
          <a:xfrm>
            <a:off x="7369881" y="2331720"/>
            <a:ext cx="1670243" cy="402336"/>
          </a:xfrm>
          <a:prstGeom prst="rect">
            <a:avLst/>
          </a:prstGeom>
          <a:noFill/>
          <a:ln/>
        </p:spPr>
        <p:txBody>
          <a:bodyPr wrap="square" lIns="0" tIns="0" rIns="0" bIns="0" rtlCol="0" anchor="ctr"/>
          <a:lstStyle/>
          <a:p>
            <a:pPr marL="0" indent="0">
              <a:buNone/>
            </a:pPr>
            <a:r>
              <a:rPr lang="en-US" sz="2000" b="1" dirty="0">
                <a:solidFill>
                  <a:srgbClr val="9B8CFF"/>
                </a:solidFill>
                <a:latin typeface="Consolas" pitchFamily="34" charset="0"/>
                <a:ea typeface="Consolas" pitchFamily="34" charset="-122"/>
                <a:cs typeface="Consolas" pitchFamily="34" charset="-120"/>
              </a:rPr>
              <a:t>16:00</a:t>
            </a:r>
            <a:endParaRPr lang="en-US" sz="2000" dirty="0"/>
          </a:p>
        </p:txBody>
      </p:sp>
      <p:sp>
        <p:nvSpPr>
          <p:cNvPr id="27" name="Text 25"/>
          <p:cNvSpPr/>
          <p:nvPr/>
        </p:nvSpPr>
        <p:spPr>
          <a:xfrm>
            <a:off x="7369881" y="2761488"/>
            <a:ext cx="1670243" cy="274320"/>
          </a:xfrm>
          <a:prstGeom prst="rect">
            <a:avLst/>
          </a:prstGeom>
          <a:noFill/>
          <a:ln/>
        </p:spPr>
        <p:txBody>
          <a:bodyPr wrap="square" lIns="0" tIns="0" rIns="0" bIns="0" rtlCol="0" anchor="ctr"/>
          <a:lstStyle/>
          <a:p>
            <a:pPr marL="0" indent="0">
              <a:buNone/>
            </a:pPr>
            <a:r>
              <a:rPr lang="en-US" sz="1050" b="1" kern="0" spc="80" dirty="0">
                <a:solidFill>
                  <a:srgbClr val="F1F4F8"/>
                </a:solidFill>
                <a:latin typeface="Calibri" pitchFamily="34" charset="0"/>
                <a:ea typeface="Calibri" pitchFamily="34" charset="-122"/>
                <a:cs typeface="Calibri" pitchFamily="34" charset="-120"/>
              </a:rPr>
              <a:t>CLOSING AUCTION</a:t>
            </a:r>
            <a:endParaRPr lang="en-US" sz="1050" dirty="0"/>
          </a:p>
        </p:txBody>
      </p:sp>
      <p:sp>
        <p:nvSpPr>
          <p:cNvPr id="28" name="Text 26"/>
          <p:cNvSpPr/>
          <p:nvPr/>
        </p:nvSpPr>
        <p:spPr>
          <a:xfrm>
            <a:off x="7369881" y="3072384"/>
            <a:ext cx="1670243" cy="640080"/>
          </a:xfrm>
          <a:prstGeom prst="rect">
            <a:avLst/>
          </a:prstGeom>
          <a:noFill/>
          <a:ln/>
        </p:spPr>
        <p:txBody>
          <a:bodyPr wrap="square" lIns="0" tIns="0" rIns="0" bIns="0" rtlCol="0" anchor="t"/>
          <a:lstStyle/>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The uncross that</a:t>
            </a:r>
            <a:endParaRPr lang="en-US" sz="1050" dirty="0"/>
          </a:p>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sets the close</a:t>
            </a:r>
            <a:endParaRPr lang="en-US" sz="1050" dirty="0"/>
          </a:p>
        </p:txBody>
      </p:sp>
      <p:sp>
        <p:nvSpPr>
          <p:cNvPr id="29" name="Text 27"/>
          <p:cNvSpPr/>
          <p:nvPr/>
        </p:nvSpPr>
        <p:spPr>
          <a:xfrm>
            <a:off x="9223004" y="2743200"/>
            <a:ext cx="146304" cy="457200"/>
          </a:xfrm>
          <a:prstGeom prst="rect">
            <a:avLst/>
          </a:prstGeom>
          <a:noFill/>
          <a:ln/>
        </p:spPr>
        <p:txBody>
          <a:bodyPr wrap="square" lIns="0" tIns="0" rIns="0" bIns="0" rtlCol="0" anchor="ctr"/>
          <a:lstStyle/>
          <a:p>
            <a:pPr marL="0" indent="0" algn="ctr">
              <a:buNone/>
            </a:pPr>
            <a:r>
              <a:rPr lang="en-US" sz="1800" dirty="0">
                <a:solidFill>
                  <a:srgbClr val="3B4450"/>
                </a:solidFill>
                <a:latin typeface="Trebuchet MS" pitchFamily="34" charset="0"/>
                <a:ea typeface="Trebuchet MS" pitchFamily="34" charset="-122"/>
                <a:cs typeface="Trebuchet MS" pitchFamily="34" charset="-120"/>
              </a:rPr>
              <a:t>›</a:t>
            </a:r>
            <a:endParaRPr lang="en-US" sz="1800" dirty="0"/>
          </a:p>
        </p:txBody>
      </p:sp>
      <p:sp>
        <p:nvSpPr>
          <p:cNvPr id="30" name="Shape 28"/>
          <p:cNvSpPr/>
          <p:nvPr/>
        </p:nvSpPr>
        <p:spPr>
          <a:xfrm>
            <a:off x="9369308" y="2148840"/>
            <a:ext cx="2036003"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31" name="Shape 29"/>
          <p:cNvSpPr/>
          <p:nvPr/>
        </p:nvSpPr>
        <p:spPr>
          <a:xfrm>
            <a:off x="9369308" y="2148840"/>
            <a:ext cx="2036003" cy="45720"/>
          </a:xfrm>
          <a:prstGeom prst="rect">
            <a:avLst/>
          </a:prstGeom>
          <a:solidFill>
            <a:srgbClr val="8D97A5"/>
          </a:solidFill>
          <a:ln w="12700">
            <a:solidFill>
              <a:srgbClr val="333333"/>
            </a:solidFill>
            <a:prstDash val="solid"/>
          </a:ln>
        </p:spPr>
        <p:txBody>
          <a:bodyPr/>
          <a:lstStyle/>
          <a:p>
            <a:endParaRPr lang="en-SE"/>
          </a:p>
        </p:txBody>
      </p:sp>
      <p:sp>
        <p:nvSpPr>
          <p:cNvPr id="32" name="Text 30"/>
          <p:cNvSpPr/>
          <p:nvPr/>
        </p:nvSpPr>
        <p:spPr>
          <a:xfrm>
            <a:off x="9552188" y="2331720"/>
            <a:ext cx="1670243" cy="402336"/>
          </a:xfrm>
          <a:prstGeom prst="rect">
            <a:avLst/>
          </a:prstGeom>
          <a:noFill/>
          <a:ln/>
        </p:spPr>
        <p:txBody>
          <a:bodyPr wrap="square" lIns="0" tIns="0" rIns="0" bIns="0" rtlCol="0" anchor="ctr"/>
          <a:lstStyle/>
          <a:p>
            <a:pPr marL="0" indent="0">
              <a:buNone/>
            </a:pPr>
            <a:r>
              <a:rPr lang="en-US" sz="2000" b="1" dirty="0">
                <a:solidFill>
                  <a:srgbClr val="8D97A5"/>
                </a:solidFill>
                <a:latin typeface="Consolas" pitchFamily="34" charset="0"/>
                <a:ea typeface="Consolas" pitchFamily="34" charset="-122"/>
                <a:cs typeface="Consolas" pitchFamily="34" charset="-120"/>
              </a:rPr>
              <a:t>16:05</a:t>
            </a:r>
            <a:endParaRPr lang="en-US" sz="2000" dirty="0"/>
          </a:p>
        </p:txBody>
      </p:sp>
      <p:sp>
        <p:nvSpPr>
          <p:cNvPr id="33" name="Text 31"/>
          <p:cNvSpPr/>
          <p:nvPr/>
        </p:nvSpPr>
        <p:spPr>
          <a:xfrm>
            <a:off x="9552188" y="2761488"/>
            <a:ext cx="1670243" cy="274320"/>
          </a:xfrm>
          <a:prstGeom prst="rect">
            <a:avLst/>
          </a:prstGeom>
          <a:noFill/>
          <a:ln/>
        </p:spPr>
        <p:txBody>
          <a:bodyPr wrap="square" lIns="0" tIns="0" rIns="0" bIns="0" rtlCol="0" anchor="ctr"/>
          <a:lstStyle/>
          <a:p>
            <a:pPr marL="0" indent="0">
              <a:buNone/>
            </a:pPr>
            <a:r>
              <a:rPr lang="en-US" sz="1050" b="1" kern="0" spc="80" dirty="0">
                <a:solidFill>
                  <a:srgbClr val="F1F4F8"/>
                </a:solidFill>
                <a:latin typeface="Calibri" pitchFamily="34" charset="0"/>
                <a:ea typeface="Calibri" pitchFamily="34" charset="-122"/>
                <a:cs typeface="Calibri" pitchFamily="34" charset="-120"/>
              </a:rPr>
              <a:t>CLOSED</a:t>
            </a:r>
            <a:endParaRPr lang="en-US" sz="1050" dirty="0"/>
          </a:p>
        </p:txBody>
      </p:sp>
      <p:sp>
        <p:nvSpPr>
          <p:cNvPr id="34" name="Text 32"/>
          <p:cNvSpPr/>
          <p:nvPr/>
        </p:nvSpPr>
        <p:spPr>
          <a:xfrm>
            <a:off x="9552188" y="3072384"/>
            <a:ext cx="1670243" cy="640080"/>
          </a:xfrm>
          <a:prstGeom prst="rect">
            <a:avLst/>
          </a:prstGeom>
          <a:noFill/>
          <a:ln/>
        </p:spPr>
        <p:txBody>
          <a:bodyPr wrap="square" lIns="0" tIns="0" rIns="0" bIns="0" rtlCol="0" anchor="t"/>
          <a:lstStyle/>
          <a:p>
            <a:pPr marL="0" indent="0">
              <a:lnSpc>
                <a:spcPts val="1400"/>
              </a:lnSpc>
              <a:buNone/>
            </a:pPr>
            <a:r>
              <a:rPr lang="en-US" sz="1050" dirty="0">
                <a:solidFill>
                  <a:srgbClr val="8D97A5"/>
                </a:solidFill>
                <a:latin typeface="Calibri" pitchFamily="34" charset="0"/>
                <a:ea typeface="Calibri" pitchFamily="34" charset="-122"/>
                <a:cs typeface="Calibri" pitchFamily="34" charset="-120"/>
              </a:rPr>
              <a:t>The day ends</a:t>
            </a:r>
            <a:endParaRPr lang="en-US" sz="1050" dirty="0"/>
          </a:p>
        </p:txBody>
      </p:sp>
      <p:sp>
        <p:nvSpPr>
          <p:cNvPr id="35" name="Shape 33"/>
          <p:cNvSpPr/>
          <p:nvPr/>
        </p:nvSpPr>
        <p:spPr>
          <a:xfrm>
            <a:off x="640080" y="4069080"/>
            <a:ext cx="5349240" cy="960120"/>
          </a:xfrm>
          <a:prstGeom prst="roundRect">
            <a:avLst>
              <a:gd name="adj" fmla="val 5714"/>
            </a:avLst>
          </a:prstGeom>
          <a:solidFill>
            <a:srgbClr val="4C2420"/>
          </a:solidFill>
          <a:ln w="12700">
            <a:solidFill>
              <a:srgbClr val="FF7A6B"/>
            </a:solidFill>
            <a:prstDash val="solid"/>
          </a:ln>
        </p:spPr>
        <p:txBody>
          <a:bodyPr/>
          <a:lstStyle/>
          <a:p>
            <a:endParaRPr lang="en-SE"/>
          </a:p>
        </p:txBody>
      </p:sp>
      <p:sp>
        <p:nvSpPr>
          <p:cNvPr id="36" name="Text 34"/>
          <p:cNvSpPr/>
          <p:nvPr/>
        </p:nvSpPr>
        <p:spPr>
          <a:xfrm>
            <a:off x="877824" y="416052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QUOTE YOUR TIMES</a:t>
            </a:r>
            <a:endParaRPr lang="en-US" sz="950" dirty="0"/>
          </a:p>
        </p:txBody>
      </p:sp>
      <p:sp>
        <p:nvSpPr>
          <p:cNvPr id="37" name="Text 35"/>
          <p:cNvSpPr/>
          <p:nvPr/>
        </p:nvSpPr>
        <p:spPr>
          <a:xfrm>
            <a:off x="877824" y="4416552"/>
            <a:ext cx="4873752" cy="5029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Write "09:30" with quotes. Unquoted, YAML reads it as a sexagesimal number and your schedule silently becomes nonsense. The verifier catches this one.</a:t>
            </a:r>
            <a:endParaRPr lang="en-US" sz="1250" dirty="0"/>
          </a:p>
        </p:txBody>
      </p:sp>
      <p:sp>
        <p:nvSpPr>
          <p:cNvPr id="38" name="Shape 36"/>
          <p:cNvSpPr/>
          <p:nvPr/>
        </p:nvSpPr>
        <p:spPr>
          <a:xfrm>
            <a:off x="6537960" y="4069080"/>
            <a:ext cx="5010912" cy="960120"/>
          </a:xfrm>
          <a:prstGeom prst="roundRect">
            <a:avLst>
              <a:gd name="adj" fmla="val 5714"/>
            </a:avLst>
          </a:prstGeom>
          <a:solidFill>
            <a:srgbClr val="1B4227"/>
          </a:solidFill>
          <a:ln w="12700">
            <a:solidFill>
              <a:srgbClr val="6BD98A"/>
            </a:solidFill>
            <a:prstDash val="solid"/>
          </a:ln>
        </p:spPr>
        <p:txBody>
          <a:bodyPr/>
          <a:lstStyle/>
          <a:p>
            <a:endParaRPr lang="en-SE"/>
          </a:p>
        </p:txBody>
      </p:sp>
      <p:sp>
        <p:nvSpPr>
          <p:cNvPr id="39" name="Text 37"/>
          <p:cNvSpPr/>
          <p:nvPr/>
        </p:nvSpPr>
        <p:spPr>
          <a:xfrm>
            <a:off x="6775704" y="416052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COUNTRY IS A SIBLING, NOT A CHILD</a:t>
            </a:r>
            <a:endParaRPr lang="en-US" sz="950" dirty="0"/>
          </a:p>
        </p:txBody>
      </p:sp>
      <p:sp>
        <p:nvSpPr>
          <p:cNvPr id="40" name="Text 38"/>
          <p:cNvSpPr/>
          <p:nvPr/>
        </p:nvSpPr>
        <p:spPr>
          <a:xfrm>
            <a:off x="6775704" y="4416552"/>
            <a:ext cx="4535424" cy="5029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It sits at the top level next to schedule — not inside it. Default "Sweden". The scheduler uses it to skip weekends and bank holidays.</a:t>
            </a:r>
            <a:endParaRPr lang="en-US" sz="1250" dirty="0"/>
          </a:p>
        </p:txBody>
      </p:sp>
      <p:sp>
        <p:nvSpPr>
          <p:cNvPr id="41" name="Shape 39"/>
          <p:cNvSpPr/>
          <p:nvPr/>
        </p:nvSpPr>
        <p:spPr>
          <a:xfrm>
            <a:off x="640080" y="5212080"/>
            <a:ext cx="10911535" cy="777240"/>
          </a:xfrm>
          <a:prstGeom prst="roundRect">
            <a:avLst>
              <a:gd name="adj" fmla="val 7059"/>
            </a:avLst>
          </a:prstGeom>
          <a:solidFill>
            <a:srgbClr val="4A3714"/>
          </a:solidFill>
          <a:ln w="12700">
            <a:solidFill>
              <a:srgbClr val="F3B441"/>
            </a:solidFill>
            <a:prstDash val="solid"/>
          </a:ln>
        </p:spPr>
        <p:txBody>
          <a:bodyPr/>
          <a:lstStyle/>
          <a:p>
            <a:endParaRPr lang="en-SE"/>
          </a:p>
        </p:txBody>
      </p:sp>
      <p:sp>
        <p:nvSpPr>
          <p:cNvPr id="42" name="Text 40"/>
          <p:cNvSpPr/>
          <p:nvPr/>
        </p:nvSpPr>
        <p:spPr>
          <a:xfrm>
            <a:off x="877824" y="530352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THE ONE FORGIVING FIELD IN THE WHOLE FILE</a:t>
            </a:r>
            <a:endParaRPr lang="en-US" sz="950" dirty="0"/>
          </a:p>
        </p:txBody>
      </p:sp>
      <p:sp>
        <p:nvSpPr>
          <p:cNvPr id="43" name="Text 41"/>
          <p:cNvSpPr/>
          <p:nvPr/>
        </p:nvSpPr>
        <p:spPr>
          <a:xfrm>
            <a:off x="877824" y="555955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An unrecognised country does not abort the load. The scheduler logs a warning and falls back to the default. Every other invalid value in the file is fatal.</a:t>
            </a:r>
            <a:endParaRPr lang="en-US" sz="1250" dirty="0"/>
          </a:p>
        </p:txBody>
      </p:sp>
      <p:sp>
        <p:nvSpPr>
          <p:cNvPr id="44" name="Text 4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45" name="Text 4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SECTION 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seven auxiliary gateway blocks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Learn one and you have learned all seven — they share the same shape. Each is read only by its own process.</a:t>
            </a:r>
            <a:endParaRPr lang="en-US" sz="1450" dirty="0"/>
          </a:p>
        </p:txBody>
      </p:sp>
      <p:sp>
        <p:nvSpPr>
          <p:cNvPr id="6" name="Shape 4"/>
          <p:cNvSpPr/>
          <p:nvPr/>
        </p:nvSpPr>
        <p:spPr>
          <a:xfrm>
            <a:off x="640080" y="2011680"/>
            <a:ext cx="10911535"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2011680"/>
            <a:ext cx="218108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BLOCK</a:t>
            </a:r>
            <a:endParaRPr lang="en-US" sz="950" dirty="0"/>
          </a:p>
        </p:txBody>
      </p:sp>
      <p:sp>
        <p:nvSpPr>
          <p:cNvPr id="8" name="Text 6"/>
          <p:cNvSpPr/>
          <p:nvPr/>
        </p:nvSpPr>
        <p:spPr>
          <a:xfrm>
            <a:off x="3186922" y="2011680"/>
            <a:ext cx="1417274"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PROCESS</a:t>
            </a:r>
            <a:endParaRPr lang="en-US" sz="950" dirty="0"/>
          </a:p>
        </p:txBody>
      </p:sp>
      <p:sp>
        <p:nvSpPr>
          <p:cNvPr id="9" name="Text 7"/>
          <p:cNvSpPr/>
          <p:nvPr/>
        </p:nvSpPr>
        <p:spPr>
          <a:xfrm>
            <a:off x="4823652" y="2011680"/>
            <a:ext cx="76258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PORT</a:t>
            </a:r>
            <a:endParaRPr lang="en-US" sz="950" dirty="0"/>
          </a:p>
        </p:txBody>
      </p:sp>
      <p:sp>
        <p:nvSpPr>
          <p:cNvPr id="10" name="Text 8"/>
          <p:cNvSpPr/>
          <p:nvPr/>
        </p:nvSpPr>
        <p:spPr>
          <a:xfrm>
            <a:off x="5805690" y="2011680"/>
            <a:ext cx="5672773"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SERVES</a:t>
            </a:r>
            <a:endParaRPr lang="en-US" sz="950" dirty="0"/>
          </a:p>
        </p:txBody>
      </p:sp>
      <p:sp>
        <p:nvSpPr>
          <p:cNvPr id="11" name="Shape 9"/>
          <p:cNvSpPr/>
          <p:nvPr/>
        </p:nvSpPr>
        <p:spPr>
          <a:xfrm>
            <a:off x="640080" y="2359152"/>
            <a:ext cx="10911535" cy="457200"/>
          </a:xfrm>
          <a:prstGeom prst="rect">
            <a:avLst/>
          </a:prstGeom>
          <a:solidFill>
            <a:srgbClr val="252B33"/>
          </a:solidFill>
          <a:ln w="12700">
            <a:solidFill>
              <a:srgbClr val="333333"/>
            </a:solidFill>
            <a:prstDash val="solid"/>
          </a:ln>
        </p:spPr>
        <p:txBody>
          <a:bodyPr/>
          <a:lstStyle/>
          <a:p>
            <a:endParaRPr lang="en-SE"/>
          </a:p>
        </p:txBody>
      </p:sp>
      <p:sp>
        <p:nvSpPr>
          <p:cNvPr id="12" name="Text 10"/>
          <p:cNvSpPr/>
          <p:nvPr/>
        </p:nvSpPr>
        <p:spPr>
          <a:xfrm>
            <a:off x="786384" y="2359152"/>
            <a:ext cx="2181082" cy="45720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alf_gateway</a:t>
            </a:r>
            <a:endParaRPr lang="en-US" sz="1150" dirty="0"/>
          </a:p>
        </p:txBody>
      </p:sp>
      <p:sp>
        <p:nvSpPr>
          <p:cNvPr id="13" name="Text 11"/>
          <p:cNvSpPr/>
          <p:nvPr/>
        </p:nvSpPr>
        <p:spPr>
          <a:xfrm>
            <a:off x="3186922" y="23591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pm-alf-gwy</a:t>
            </a:r>
            <a:endParaRPr lang="en-US" sz="1150" dirty="0"/>
          </a:p>
        </p:txBody>
      </p:sp>
      <p:sp>
        <p:nvSpPr>
          <p:cNvPr id="14" name="Text 12"/>
          <p:cNvSpPr/>
          <p:nvPr/>
        </p:nvSpPr>
        <p:spPr>
          <a:xfrm>
            <a:off x="4823652" y="23591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5565</a:t>
            </a:r>
            <a:endParaRPr lang="en-US" sz="1150" dirty="0"/>
          </a:p>
        </p:txBody>
      </p:sp>
      <p:sp>
        <p:nvSpPr>
          <p:cNvPr id="15" name="Text 13"/>
          <p:cNvSpPr/>
          <p:nvPr/>
        </p:nvSpPr>
        <p:spPr>
          <a:xfrm>
            <a:off x="5805690" y="23591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Text order entry. Also reads gateways.alf for session identity and role.</a:t>
            </a:r>
            <a:endParaRPr lang="en-US" sz="1150" dirty="0"/>
          </a:p>
        </p:txBody>
      </p:sp>
      <p:sp>
        <p:nvSpPr>
          <p:cNvPr id="16" name="Text 14"/>
          <p:cNvSpPr/>
          <p:nvPr/>
        </p:nvSpPr>
        <p:spPr>
          <a:xfrm>
            <a:off x="786384" y="2816352"/>
            <a:ext cx="2181082" cy="457200"/>
          </a:xfrm>
          <a:prstGeom prst="rect">
            <a:avLst/>
          </a:prstGeom>
          <a:noFill/>
          <a:ln/>
        </p:spPr>
        <p:txBody>
          <a:bodyPr wrap="square" lIns="0" tIns="0" rIns="0" bIns="0" rtlCol="0" anchor="ctr"/>
          <a:lstStyle/>
          <a:p>
            <a:pPr marL="0" indent="0" algn="l">
              <a:buNone/>
            </a:pPr>
            <a:r>
              <a:rPr lang="en-US" sz="1150" dirty="0">
                <a:solidFill>
                  <a:srgbClr val="5AB2F7"/>
                </a:solidFill>
                <a:latin typeface="Consolas" pitchFamily="34" charset="0"/>
                <a:ea typeface="Consolas" pitchFamily="34" charset="-122"/>
                <a:cs typeface="Consolas" pitchFamily="34" charset="-120"/>
              </a:rPr>
              <a:t>balf_gateway</a:t>
            </a:r>
            <a:endParaRPr lang="en-US" sz="1150" dirty="0"/>
          </a:p>
        </p:txBody>
      </p:sp>
      <p:sp>
        <p:nvSpPr>
          <p:cNvPr id="17" name="Text 15"/>
          <p:cNvSpPr/>
          <p:nvPr/>
        </p:nvSpPr>
        <p:spPr>
          <a:xfrm>
            <a:off x="3186922" y="28163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pm-balf-gwy</a:t>
            </a:r>
            <a:endParaRPr lang="en-US" sz="1150" dirty="0"/>
          </a:p>
        </p:txBody>
      </p:sp>
      <p:sp>
        <p:nvSpPr>
          <p:cNvPr id="18" name="Text 16"/>
          <p:cNvSpPr/>
          <p:nvPr/>
        </p:nvSpPr>
        <p:spPr>
          <a:xfrm>
            <a:off x="4823652" y="28163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5560</a:t>
            </a:r>
            <a:endParaRPr lang="en-US" sz="1150" dirty="0"/>
          </a:p>
        </p:txBody>
      </p:sp>
      <p:sp>
        <p:nvSpPr>
          <p:cNvPr id="19" name="Text 17"/>
          <p:cNvSpPr/>
          <p:nvPr/>
        </p:nvSpPr>
        <p:spPr>
          <a:xfrm>
            <a:off x="5805690" y="28163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Binary order entry. Adds a duplicate-session policy: reject the new one, or evict the old.</a:t>
            </a:r>
            <a:endParaRPr lang="en-US" sz="1150" dirty="0"/>
          </a:p>
        </p:txBody>
      </p:sp>
      <p:sp>
        <p:nvSpPr>
          <p:cNvPr id="20" name="Shape 18"/>
          <p:cNvSpPr/>
          <p:nvPr/>
        </p:nvSpPr>
        <p:spPr>
          <a:xfrm>
            <a:off x="640080" y="3273552"/>
            <a:ext cx="10911535" cy="457200"/>
          </a:xfrm>
          <a:prstGeom prst="rect">
            <a:avLst/>
          </a:prstGeom>
          <a:solidFill>
            <a:srgbClr val="252B33"/>
          </a:solidFill>
          <a:ln w="12700">
            <a:solidFill>
              <a:srgbClr val="333333"/>
            </a:solidFill>
            <a:prstDash val="solid"/>
          </a:ln>
        </p:spPr>
        <p:txBody>
          <a:bodyPr/>
          <a:lstStyle/>
          <a:p>
            <a:endParaRPr lang="en-SE"/>
          </a:p>
        </p:txBody>
      </p:sp>
      <p:sp>
        <p:nvSpPr>
          <p:cNvPr id="21" name="Text 19"/>
          <p:cNvSpPr/>
          <p:nvPr/>
        </p:nvSpPr>
        <p:spPr>
          <a:xfrm>
            <a:off x="786384" y="3273552"/>
            <a:ext cx="2181082" cy="457200"/>
          </a:xfrm>
          <a:prstGeom prst="rect">
            <a:avLst/>
          </a:prstGeom>
          <a:noFill/>
          <a:ln/>
        </p:spPr>
        <p:txBody>
          <a:bodyPr wrap="square" lIns="0" tIns="0" rIns="0" bIns="0" rtlCol="0" anchor="ctr"/>
          <a:lstStyle/>
          <a:p>
            <a:pPr marL="0" indent="0" algn="l">
              <a:buNone/>
            </a:pPr>
            <a:r>
              <a:rPr lang="en-US" sz="1150" dirty="0">
                <a:solidFill>
                  <a:srgbClr val="9B8CFF"/>
                </a:solidFill>
                <a:latin typeface="Consolas" pitchFamily="34" charset="0"/>
                <a:ea typeface="Consolas" pitchFamily="34" charset="-122"/>
                <a:cs typeface="Consolas" pitchFamily="34" charset="-120"/>
              </a:rPr>
              <a:t>market_data_gateway</a:t>
            </a:r>
            <a:endParaRPr lang="en-US" sz="1150" dirty="0"/>
          </a:p>
        </p:txBody>
      </p:sp>
      <p:sp>
        <p:nvSpPr>
          <p:cNvPr id="22" name="Text 20"/>
          <p:cNvSpPr/>
          <p:nvPr/>
        </p:nvSpPr>
        <p:spPr>
          <a:xfrm>
            <a:off x="3186922" y="32735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pm-md-gwy</a:t>
            </a:r>
            <a:endParaRPr lang="en-US" sz="1150" dirty="0"/>
          </a:p>
        </p:txBody>
      </p:sp>
      <p:sp>
        <p:nvSpPr>
          <p:cNvPr id="23" name="Text 21"/>
          <p:cNvSpPr/>
          <p:nvPr/>
        </p:nvSpPr>
        <p:spPr>
          <a:xfrm>
            <a:off x="4823652" y="32735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5570</a:t>
            </a:r>
            <a:endParaRPr lang="en-US" sz="1150" dirty="0"/>
          </a:p>
        </p:txBody>
      </p:sp>
      <p:sp>
        <p:nvSpPr>
          <p:cNvPr id="24" name="Text 22"/>
          <p:cNvSpPr/>
          <p:nvPr/>
        </p:nvSpPr>
        <p:spPr>
          <a:xfrm>
            <a:off x="5805690" y="32735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market-data feed. Carries a replay window and the number of depth levels to publish.</a:t>
            </a:r>
            <a:endParaRPr lang="en-US" sz="1150" dirty="0"/>
          </a:p>
        </p:txBody>
      </p:sp>
      <p:sp>
        <p:nvSpPr>
          <p:cNvPr id="25" name="Text 23"/>
          <p:cNvSpPr/>
          <p:nvPr/>
        </p:nvSpPr>
        <p:spPr>
          <a:xfrm>
            <a:off x="786384" y="3730752"/>
            <a:ext cx="2181082" cy="457200"/>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post_trade_gateway</a:t>
            </a:r>
            <a:endParaRPr lang="en-US" sz="1150" dirty="0"/>
          </a:p>
        </p:txBody>
      </p:sp>
      <p:sp>
        <p:nvSpPr>
          <p:cNvPr id="26" name="Text 24"/>
          <p:cNvSpPr/>
          <p:nvPr/>
        </p:nvSpPr>
        <p:spPr>
          <a:xfrm>
            <a:off x="3186922" y="37307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pm-ralf-gwy</a:t>
            </a:r>
            <a:endParaRPr lang="en-US" sz="1150" dirty="0"/>
          </a:p>
        </p:txBody>
      </p:sp>
      <p:sp>
        <p:nvSpPr>
          <p:cNvPr id="27" name="Text 25"/>
          <p:cNvSpPr/>
          <p:nvPr/>
        </p:nvSpPr>
        <p:spPr>
          <a:xfrm>
            <a:off x="4823652" y="37307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5580</a:t>
            </a:r>
            <a:endParaRPr lang="en-US" sz="1150" dirty="0"/>
          </a:p>
        </p:txBody>
      </p:sp>
      <p:sp>
        <p:nvSpPr>
          <p:cNvPr id="28" name="Text 26"/>
          <p:cNvSpPr/>
          <p:nvPr/>
        </p:nvSpPr>
        <p:spPr>
          <a:xfrm>
            <a:off x="5805690" y="37307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Fills for clearing, drop-copy and audit subscribers, with an allowed-roles list.</a:t>
            </a:r>
            <a:endParaRPr lang="en-US" sz="1150" dirty="0"/>
          </a:p>
        </p:txBody>
      </p:sp>
      <p:sp>
        <p:nvSpPr>
          <p:cNvPr id="29" name="Shape 27"/>
          <p:cNvSpPr/>
          <p:nvPr/>
        </p:nvSpPr>
        <p:spPr>
          <a:xfrm>
            <a:off x="640080" y="4187952"/>
            <a:ext cx="10911535" cy="457200"/>
          </a:xfrm>
          <a:prstGeom prst="rect">
            <a:avLst/>
          </a:prstGeom>
          <a:solidFill>
            <a:srgbClr val="252B33"/>
          </a:solidFill>
          <a:ln w="12700">
            <a:solidFill>
              <a:srgbClr val="333333"/>
            </a:solidFill>
            <a:prstDash val="solid"/>
          </a:ln>
        </p:spPr>
        <p:txBody>
          <a:bodyPr/>
          <a:lstStyle/>
          <a:p>
            <a:endParaRPr lang="en-SE"/>
          </a:p>
        </p:txBody>
      </p:sp>
      <p:sp>
        <p:nvSpPr>
          <p:cNvPr id="30" name="Text 28"/>
          <p:cNvSpPr/>
          <p:nvPr/>
        </p:nvSpPr>
        <p:spPr>
          <a:xfrm>
            <a:off x="786384" y="4187952"/>
            <a:ext cx="2181082" cy="457200"/>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dc_gateway</a:t>
            </a:r>
            <a:endParaRPr lang="en-US" sz="1150" dirty="0"/>
          </a:p>
        </p:txBody>
      </p:sp>
      <p:sp>
        <p:nvSpPr>
          <p:cNvPr id="31" name="Text 29"/>
          <p:cNvSpPr/>
          <p:nvPr/>
        </p:nvSpPr>
        <p:spPr>
          <a:xfrm>
            <a:off x="3186922" y="41879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pm-dc-gwy</a:t>
            </a:r>
            <a:endParaRPr lang="en-US" sz="1150" dirty="0"/>
          </a:p>
        </p:txBody>
      </p:sp>
      <p:sp>
        <p:nvSpPr>
          <p:cNvPr id="32" name="Text 30"/>
          <p:cNvSpPr/>
          <p:nvPr/>
        </p:nvSpPr>
        <p:spPr>
          <a:xfrm>
            <a:off x="4823652" y="41879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5590</a:t>
            </a:r>
            <a:endParaRPr lang="en-US" sz="1150" dirty="0"/>
          </a:p>
        </p:txBody>
      </p:sp>
      <p:sp>
        <p:nvSpPr>
          <p:cNvPr id="33" name="Text 31"/>
          <p:cNvSpPr/>
          <p:nvPr/>
        </p:nvSpPr>
        <p:spPr>
          <a:xfrm>
            <a:off x="5805690" y="41879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 drop-copy relay. Has no enabled key — configuring it is enabling it.</a:t>
            </a:r>
            <a:endParaRPr lang="en-US" sz="1150" dirty="0"/>
          </a:p>
        </p:txBody>
      </p:sp>
      <p:sp>
        <p:nvSpPr>
          <p:cNvPr id="34" name="Text 32"/>
          <p:cNvSpPr/>
          <p:nvPr/>
        </p:nvSpPr>
        <p:spPr>
          <a:xfrm>
            <a:off x="786384" y="4645152"/>
            <a:ext cx="2181082" cy="457200"/>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api_gateways</a:t>
            </a:r>
            <a:endParaRPr lang="en-US" sz="1150" dirty="0"/>
          </a:p>
        </p:txBody>
      </p:sp>
      <p:sp>
        <p:nvSpPr>
          <p:cNvPr id="35" name="Text 33"/>
          <p:cNvSpPr/>
          <p:nvPr/>
        </p:nvSpPr>
        <p:spPr>
          <a:xfrm>
            <a:off x="3186922" y="46451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pm-api-gwy</a:t>
            </a:r>
            <a:endParaRPr lang="en-US" sz="1150" dirty="0"/>
          </a:p>
        </p:txBody>
      </p:sp>
      <p:sp>
        <p:nvSpPr>
          <p:cNvPr id="36" name="Text 34"/>
          <p:cNvSpPr/>
          <p:nvPr/>
        </p:nvSpPr>
        <p:spPr>
          <a:xfrm>
            <a:off x="4823652" y="46451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8080</a:t>
            </a:r>
            <a:endParaRPr lang="en-US" sz="1150" dirty="0"/>
          </a:p>
        </p:txBody>
      </p:sp>
      <p:sp>
        <p:nvSpPr>
          <p:cNvPr id="37" name="Text 35"/>
          <p:cNvSpPr/>
          <p:nvPr/>
        </p:nvSpPr>
        <p:spPr>
          <a:xfrm>
            <a:off x="5805690" y="46451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Named REST and WebSocket instances, each with its own API credentials and rate limits.</a:t>
            </a:r>
            <a:endParaRPr lang="en-US" sz="1150" dirty="0"/>
          </a:p>
        </p:txBody>
      </p:sp>
      <p:sp>
        <p:nvSpPr>
          <p:cNvPr id="38" name="Shape 36"/>
          <p:cNvSpPr/>
          <p:nvPr/>
        </p:nvSpPr>
        <p:spPr>
          <a:xfrm>
            <a:off x="640080" y="5102352"/>
            <a:ext cx="10911535" cy="457200"/>
          </a:xfrm>
          <a:prstGeom prst="rect">
            <a:avLst/>
          </a:prstGeom>
          <a:solidFill>
            <a:srgbClr val="252B33"/>
          </a:solidFill>
          <a:ln w="12700">
            <a:solidFill>
              <a:srgbClr val="333333"/>
            </a:solidFill>
            <a:prstDash val="solid"/>
          </a:ln>
        </p:spPr>
        <p:txBody>
          <a:bodyPr/>
          <a:lstStyle/>
          <a:p>
            <a:endParaRPr lang="en-SE"/>
          </a:p>
        </p:txBody>
      </p:sp>
      <p:sp>
        <p:nvSpPr>
          <p:cNvPr id="39" name="Text 37"/>
          <p:cNvSpPr/>
          <p:nvPr/>
        </p:nvSpPr>
        <p:spPr>
          <a:xfrm>
            <a:off x="786384" y="5102352"/>
            <a:ext cx="2181082" cy="457200"/>
          </a:xfrm>
          <a:prstGeom prst="rect">
            <a:avLst/>
          </a:prstGeom>
          <a:noFill/>
          <a:ln/>
        </p:spPr>
        <p:txBody>
          <a:bodyPr wrap="square" lIns="0" tIns="0" rIns="0" bIns="0" rtlCol="0" anchor="ctr"/>
          <a:lstStyle/>
          <a:p>
            <a:pPr marL="0" indent="0" algn="l">
              <a:buNone/>
            </a:pPr>
            <a:r>
              <a:rPr lang="en-US" sz="1150" dirty="0">
                <a:solidFill>
                  <a:srgbClr val="6BD98A"/>
                </a:solidFill>
                <a:latin typeface="Consolas" pitchFamily="34" charset="0"/>
                <a:ea typeface="Consolas" pitchFamily="34" charset="-122"/>
                <a:cs typeface="Consolas" pitchFamily="34" charset="-120"/>
              </a:rPr>
              <a:t>log_server</a:t>
            </a:r>
            <a:endParaRPr lang="en-US" sz="1150" dirty="0"/>
          </a:p>
        </p:txBody>
      </p:sp>
      <p:sp>
        <p:nvSpPr>
          <p:cNvPr id="40" name="Text 38"/>
          <p:cNvSpPr/>
          <p:nvPr/>
        </p:nvSpPr>
        <p:spPr>
          <a:xfrm>
            <a:off x="3186922" y="5102352"/>
            <a:ext cx="1417274"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pm-log-srv</a:t>
            </a:r>
            <a:endParaRPr lang="en-US" sz="1150" dirty="0"/>
          </a:p>
        </p:txBody>
      </p:sp>
      <p:sp>
        <p:nvSpPr>
          <p:cNvPr id="41" name="Text 39"/>
          <p:cNvSpPr/>
          <p:nvPr/>
        </p:nvSpPr>
        <p:spPr>
          <a:xfrm>
            <a:off x="4823652" y="5102352"/>
            <a:ext cx="762582"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5600</a:t>
            </a:r>
            <a:endParaRPr lang="en-US" sz="1150" dirty="0"/>
          </a:p>
        </p:txBody>
      </p:sp>
      <p:sp>
        <p:nvSpPr>
          <p:cNvPr id="42" name="Text 40"/>
          <p:cNvSpPr/>
          <p:nvPr/>
        </p:nvSpPr>
        <p:spPr>
          <a:xfrm>
            <a:off x="5805690" y="5102352"/>
            <a:ext cx="5672773"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central log collector, with retention, batching and a log-distribution interface.</a:t>
            </a:r>
            <a:endParaRPr lang="en-US" sz="1150" dirty="0"/>
          </a:p>
        </p:txBody>
      </p:sp>
      <p:sp>
        <p:nvSpPr>
          <p:cNvPr id="43" name="Shape 41"/>
          <p:cNvSpPr/>
          <p:nvPr/>
        </p:nvSpPr>
        <p:spPr>
          <a:xfrm>
            <a:off x="640080" y="5577840"/>
            <a:ext cx="10911535" cy="868680"/>
          </a:xfrm>
          <a:prstGeom prst="roundRect">
            <a:avLst>
              <a:gd name="adj" fmla="val 6316"/>
            </a:avLst>
          </a:prstGeom>
          <a:solidFill>
            <a:srgbClr val="17334D"/>
          </a:solidFill>
          <a:ln w="12700">
            <a:solidFill>
              <a:srgbClr val="5AB2F7"/>
            </a:solidFill>
            <a:prstDash val="solid"/>
          </a:ln>
        </p:spPr>
        <p:txBody>
          <a:bodyPr/>
          <a:lstStyle/>
          <a:p>
            <a:endParaRPr lang="en-SE"/>
          </a:p>
        </p:txBody>
      </p:sp>
      <p:sp>
        <p:nvSpPr>
          <p:cNvPr id="44" name="Text 42"/>
          <p:cNvSpPr/>
          <p:nvPr/>
        </p:nvSpPr>
        <p:spPr>
          <a:xfrm>
            <a:off x="877824" y="5669280"/>
            <a:ext cx="1737360" cy="237744"/>
          </a:xfrm>
          <a:prstGeom prst="rect">
            <a:avLst/>
          </a:prstGeom>
          <a:noFill/>
          <a:ln/>
        </p:spPr>
        <p:txBody>
          <a:bodyPr wrap="square" lIns="0" tIns="0" rIns="0" bIns="0" rtlCol="0" anchor="ctr"/>
          <a:lstStyle/>
          <a:p>
            <a:pPr marL="0" indent="0">
              <a:buNone/>
            </a:pPr>
            <a:r>
              <a:rPr lang="en-US" sz="950" b="1" kern="0" spc="160" dirty="0">
                <a:solidFill>
                  <a:srgbClr val="5AB2F7"/>
                </a:solidFill>
                <a:latin typeface="Calibri" pitchFamily="34" charset="0"/>
                <a:ea typeface="Calibri" pitchFamily="34" charset="-122"/>
                <a:cs typeface="Calibri" pitchFamily="34" charset="-120"/>
              </a:rPr>
              <a:t>TWO RULES THAT CATCH PEOPLE OUT</a:t>
            </a:r>
            <a:endParaRPr lang="en-US" sz="950" dirty="0"/>
          </a:p>
        </p:txBody>
      </p:sp>
      <p:sp>
        <p:nvSpPr>
          <p:cNvPr id="45" name="Text 43"/>
          <p:cNvSpPr/>
          <p:nvPr/>
        </p:nvSpPr>
        <p:spPr>
          <a:xfrm>
            <a:off x="877824" y="5925312"/>
            <a:ext cx="10436047" cy="41148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API block is plural — api_gateways — because it holds named instances. The singular form is rejected outright. And post_trade_gateway and dc_gateway have no enabled switch at all: if the block is there, the service is on.</a:t>
            </a:r>
            <a:endParaRPr lang="en-US" sz="1250" dirty="0"/>
          </a:p>
        </p:txBody>
      </p:sp>
      <p:sp>
        <p:nvSpPr>
          <p:cNvPr id="46" name="Text 44"/>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06 · The top-level sections</a:t>
            </a:r>
            <a:endParaRPr lang="en-US" sz="950" dirty="0"/>
          </a:p>
        </p:txBody>
      </p:sp>
      <p:sp>
        <p:nvSpPr>
          <p:cNvPr id="47" name="Text 45"/>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07</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07</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What is a minimal</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configuration?</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Two answers, and the gap between them is where beginners get stuck: the smallest file that loads, versus the smallest file that gives you something worth trading on.</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spec minimum</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gap</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practical minimum</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A checklist</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ANSWER ONE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smallest file that loads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Straight from the normative specification. Two sections, four lines of content.</a:t>
            </a:r>
            <a:endParaRPr lang="en-US" sz="1450" dirty="0"/>
          </a:p>
        </p:txBody>
      </p:sp>
      <p:sp>
        <p:nvSpPr>
          <p:cNvPr id="6" name="Shape 4"/>
          <p:cNvSpPr/>
          <p:nvPr/>
        </p:nvSpPr>
        <p:spPr>
          <a:xfrm>
            <a:off x="640080" y="2011680"/>
            <a:ext cx="5760720" cy="2792212"/>
          </a:xfrm>
          <a:prstGeom prst="roundRect">
            <a:avLst>
              <a:gd name="adj" fmla="val 1637"/>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2012594"/>
            <a:ext cx="575889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11683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11683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11683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2029968"/>
            <a:ext cx="493776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the minimal conformant document</a:t>
            </a:r>
            <a:endParaRPr lang="en-US" sz="950" dirty="0"/>
          </a:p>
        </p:txBody>
      </p:sp>
      <p:sp>
        <p:nvSpPr>
          <p:cNvPr id="12" name="Text 10"/>
          <p:cNvSpPr/>
          <p:nvPr/>
        </p:nvSpPr>
        <p:spPr>
          <a:xfrm>
            <a:off x="841248" y="2377440"/>
            <a:ext cx="5394960" cy="2335012"/>
          </a:xfrm>
          <a:prstGeom prst="rect">
            <a:avLst/>
          </a:prstGeom>
          <a:noFill/>
          <a:ln/>
        </p:spPr>
        <p:txBody>
          <a:bodyPr wrap="square" lIns="0" tIns="0" rIns="0" bIns="0" rtlCol="0" anchor="t"/>
          <a:lstStyle/>
          <a:p>
            <a:pPr marL="0" indent="0">
              <a:lnSpc>
                <a:spcPts val="1782"/>
              </a:lnSpc>
              <a:buNone/>
            </a:pPr>
            <a:r>
              <a:rPr lang="en-US" sz="1350" dirty="0">
                <a:solidFill>
                  <a:srgbClr val="34D6BE"/>
                </a:solidFill>
                <a:latin typeface="Consolas" pitchFamily="34" charset="0"/>
                <a:ea typeface="Consolas" pitchFamily="34" charset="-122"/>
                <a:cs typeface="Consolas" pitchFamily="34" charset="-120"/>
              </a:rPr>
              <a:t>gateways:</a:t>
            </a:r>
            <a:endParaRPr lang="en-US" sz="1350" dirty="0"/>
          </a:p>
          <a:p>
            <a:pPr marL="0" indent="0">
              <a:lnSpc>
                <a:spcPts val="1782"/>
              </a:lnSpc>
              <a:buNone/>
            </a:pPr>
            <a:r>
              <a:rPr lang="en-US" sz="1350" dirty="0">
                <a:solidFill>
                  <a:srgbClr val="F1F4F8"/>
                </a:solidFill>
                <a:latin typeface="Consolas" pitchFamily="34" charset="0"/>
                <a:ea typeface="Consolas" pitchFamily="34" charset="-122"/>
                <a:cs typeface="Consolas" pitchFamily="34" charset="-120"/>
              </a:rPr>
              <a:t>  alf:</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 id: TRADER01</a:t>
            </a:r>
            <a:endParaRPr lang="en-US" sz="1350" dirty="0"/>
          </a:p>
          <a:p>
            <a:pPr marL="0" indent="0">
              <a:lnSpc>
                <a:spcPts val="1782"/>
              </a:lnSpc>
              <a:buNone/>
            </a:pPr>
            <a:r>
              <a:rPr lang="en-US" sz="1350" dirty="0">
                <a:solidFill>
                  <a:srgbClr val="34D6BE"/>
                </a:solidFill>
                <a:latin typeface="Consolas" pitchFamily="34" charset="0"/>
                <a:ea typeface="Consolas" pitchFamily="34" charset="-122"/>
                <a:cs typeface="Consolas" pitchFamily="34" charset="-120"/>
              </a:rPr>
              <a:t>symbols:</a:t>
            </a:r>
            <a:endParaRPr lang="en-US" sz="1350" dirty="0"/>
          </a:p>
          <a:p>
            <a:pPr marL="0" indent="0">
              <a:lnSpc>
                <a:spcPts val="1782"/>
              </a:lnSpc>
              <a:buNone/>
            </a:pPr>
            <a:r>
              <a:rPr lang="en-US" sz="1350" dirty="0">
                <a:solidFill>
                  <a:srgbClr val="F1F4F8"/>
                </a:solidFill>
                <a:latin typeface="Consolas" pitchFamily="34" charset="0"/>
                <a:ea typeface="Consolas" pitchFamily="34" charset="-122"/>
                <a:cs typeface="Consolas" pitchFamily="34" charset="-120"/>
              </a:rPr>
              <a:t>  AAPL:</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tick_decimals: 2</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last_buy_price: 149.90</a:t>
            </a:r>
            <a:endParaRPr lang="en-US" sz="1350" dirty="0"/>
          </a:p>
          <a:p>
            <a:pPr marL="0" indent="0">
              <a:lnSpc>
                <a:spcPts val="1782"/>
              </a:lnSpc>
              <a:buNone/>
            </a:pPr>
            <a:r>
              <a:rPr lang="en-US" sz="1350" dirty="0">
                <a:solidFill>
                  <a:srgbClr val="C2CAD4"/>
                </a:solidFill>
                <a:latin typeface="Consolas" pitchFamily="34" charset="0"/>
                <a:ea typeface="Consolas" pitchFamily="34" charset="-122"/>
                <a:cs typeface="Consolas" pitchFamily="34" charset="-120"/>
              </a:rPr>
              <a:t>    last_sell_price: 150.10</a:t>
            </a:r>
            <a:endParaRPr lang="en-US" sz="1350" dirty="0"/>
          </a:p>
        </p:txBody>
      </p:sp>
      <p:sp>
        <p:nvSpPr>
          <p:cNvPr id="13" name="Shape 11"/>
          <p:cNvSpPr/>
          <p:nvPr/>
        </p:nvSpPr>
        <p:spPr>
          <a:xfrm>
            <a:off x="6720840" y="2011680"/>
            <a:ext cx="4828032" cy="3063240"/>
          </a:xfrm>
          <a:prstGeom prst="roundRect">
            <a:avLst>
              <a:gd name="adj" fmla="val 1791"/>
            </a:avLst>
          </a:prstGeom>
          <a:solidFill>
            <a:srgbClr val="252B33"/>
          </a:solidFill>
          <a:ln w="12700">
            <a:solidFill>
              <a:srgbClr val="3B4450"/>
            </a:solidFill>
            <a:prstDash val="solid"/>
          </a:ln>
        </p:spPr>
        <p:txBody>
          <a:bodyPr/>
          <a:lstStyle/>
          <a:p>
            <a:endParaRPr lang="en-SE"/>
          </a:p>
        </p:txBody>
      </p:sp>
      <p:sp>
        <p:nvSpPr>
          <p:cNvPr id="14" name="Shape 12"/>
          <p:cNvSpPr/>
          <p:nvPr/>
        </p:nvSpPr>
        <p:spPr>
          <a:xfrm>
            <a:off x="6721754" y="2012594"/>
            <a:ext cx="4826203" cy="50292"/>
          </a:xfrm>
          <a:prstGeom prst="rect">
            <a:avLst/>
          </a:prstGeom>
          <a:solidFill>
            <a:srgbClr val="34D6BE"/>
          </a:solidFill>
          <a:ln w="12700">
            <a:solidFill>
              <a:srgbClr val="333333"/>
            </a:solidFill>
            <a:prstDash val="solid"/>
          </a:ln>
        </p:spPr>
        <p:txBody>
          <a:bodyPr/>
          <a:lstStyle/>
          <a:p>
            <a:endParaRPr lang="en-SE"/>
          </a:p>
        </p:txBody>
      </p:sp>
      <p:sp>
        <p:nvSpPr>
          <p:cNvPr id="15" name="Text 13"/>
          <p:cNvSpPr/>
          <p:nvPr/>
        </p:nvSpPr>
        <p:spPr>
          <a:xfrm>
            <a:off x="6976872" y="2249424"/>
            <a:ext cx="4297680" cy="32918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What you get</a:t>
            </a:r>
            <a:endParaRPr lang="en-US" sz="1600" dirty="0"/>
          </a:p>
        </p:txBody>
      </p:sp>
      <p:sp>
        <p:nvSpPr>
          <p:cNvPr id="16" name="Shape 14"/>
          <p:cNvSpPr/>
          <p:nvPr/>
        </p:nvSpPr>
        <p:spPr>
          <a:xfrm>
            <a:off x="6976872" y="2770632"/>
            <a:ext cx="82296" cy="82296"/>
          </a:xfrm>
          <a:prstGeom prst="rect">
            <a:avLst/>
          </a:prstGeom>
          <a:solidFill>
            <a:srgbClr val="34D6BE"/>
          </a:solidFill>
          <a:ln w="12700">
            <a:solidFill>
              <a:srgbClr val="333333"/>
            </a:solidFill>
            <a:prstDash val="solid"/>
          </a:ln>
        </p:spPr>
        <p:txBody>
          <a:bodyPr/>
          <a:lstStyle/>
          <a:p>
            <a:endParaRPr lang="en-SE"/>
          </a:p>
        </p:txBody>
      </p:sp>
      <p:sp>
        <p:nvSpPr>
          <p:cNvPr id="17" name="Text 15"/>
          <p:cNvSpPr/>
          <p:nvPr/>
        </p:nvSpPr>
        <p:spPr>
          <a:xfrm>
            <a:off x="7214616" y="2670048"/>
            <a:ext cx="40599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instrument  </a:t>
            </a:r>
            <a:r>
              <a:rPr lang="en-US" sz="1200" dirty="0">
                <a:solidFill>
                  <a:srgbClr val="C2CAD4"/>
                </a:solidFill>
                <a:latin typeface="Calibri" pitchFamily="34" charset="0"/>
                <a:ea typeface="Calibri" pitchFamily="34" charset="-122"/>
                <a:cs typeface="Calibri" pitchFamily="34" charset="-120"/>
              </a:rPr>
              <a:t>AAPL, priced in cents around 150</a:t>
            </a:r>
            <a:endParaRPr lang="en-US" sz="1200" dirty="0"/>
          </a:p>
        </p:txBody>
      </p:sp>
      <p:sp>
        <p:nvSpPr>
          <p:cNvPr id="18" name="Shape 16"/>
          <p:cNvSpPr/>
          <p:nvPr/>
        </p:nvSpPr>
        <p:spPr>
          <a:xfrm>
            <a:off x="6976872" y="3337560"/>
            <a:ext cx="82296" cy="82296"/>
          </a:xfrm>
          <a:prstGeom prst="rect">
            <a:avLst/>
          </a:prstGeom>
          <a:solidFill>
            <a:srgbClr val="34D6BE"/>
          </a:solidFill>
          <a:ln w="12700">
            <a:solidFill>
              <a:srgbClr val="333333"/>
            </a:solidFill>
            <a:prstDash val="solid"/>
          </a:ln>
        </p:spPr>
        <p:txBody>
          <a:bodyPr/>
          <a:lstStyle/>
          <a:p>
            <a:endParaRPr lang="en-SE"/>
          </a:p>
        </p:txBody>
      </p:sp>
      <p:sp>
        <p:nvSpPr>
          <p:cNvPr id="19" name="Text 17"/>
          <p:cNvSpPr/>
          <p:nvPr/>
        </p:nvSpPr>
        <p:spPr>
          <a:xfrm>
            <a:off x="7214616" y="3236976"/>
            <a:ext cx="40599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One participant  </a:t>
            </a:r>
            <a:r>
              <a:rPr lang="en-US" sz="1200" dirty="0">
                <a:solidFill>
                  <a:srgbClr val="C2CAD4"/>
                </a:solidFill>
                <a:latin typeface="Calibri" pitchFamily="34" charset="0"/>
                <a:ea typeface="Calibri" pitchFamily="34" charset="-122"/>
                <a:cs typeface="Calibri" pitchFamily="34" charset="-120"/>
              </a:rPr>
              <a:t>TRADER01 may connect</a:t>
            </a:r>
            <a:endParaRPr lang="en-US" sz="1200" dirty="0"/>
          </a:p>
        </p:txBody>
      </p:sp>
      <p:sp>
        <p:nvSpPr>
          <p:cNvPr id="20" name="Shape 18"/>
          <p:cNvSpPr/>
          <p:nvPr/>
        </p:nvSpPr>
        <p:spPr>
          <a:xfrm>
            <a:off x="6976872" y="3904488"/>
            <a:ext cx="82296" cy="82296"/>
          </a:xfrm>
          <a:prstGeom prst="rect">
            <a:avLst/>
          </a:prstGeom>
          <a:solidFill>
            <a:srgbClr val="34D6BE"/>
          </a:solidFill>
          <a:ln w="12700">
            <a:solidFill>
              <a:srgbClr val="333333"/>
            </a:solidFill>
            <a:prstDash val="solid"/>
          </a:ln>
        </p:spPr>
        <p:txBody>
          <a:bodyPr/>
          <a:lstStyle/>
          <a:p>
            <a:endParaRPr lang="en-SE"/>
          </a:p>
        </p:txBody>
      </p:sp>
      <p:sp>
        <p:nvSpPr>
          <p:cNvPr id="21" name="Text 19"/>
          <p:cNvSpPr/>
          <p:nvPr/>
        </p:nvSpPr>
        <p:spPr>
          <a:xfrm>
            <a:off x="7214616" y="3803904"/>
            <a:ext cx="40599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Default risk  </a:t>
            </a:r>
            <a:r>
              <a:rPr lang="en-US" sz="1200" dirty="0">
                <a:solidFill>
                  <a:srgbClr val="C2CAD4"/>
                </a:solidFill>
                <a:latin typeface="Calibri" pitchFamily="34" charset="0"/>
                <a:ea typeface="Calibri" pitchFamily="34" charset="-122"/>
                <a:cs typeface="Calibri" pitchFamily="34" charset="-120"/>
              </a:rPr>
              <a:t>collars and circuit breakers on, at their built-in values</a:t>
            </a:r>
            <a:endParaRPr lang="en-US" sz="1200" dirty="0"/>
          </a:p>
        </p:txBody>
      </p:sp>
      <p:sp>
        <p:nvSpPr>
          <p:cNvPr id="22" name="Shape 20"/>
          <p:cNvSpPr/>
          <p:nvPr/>
        </p:nvSpPr>
        <p:spPr>
          <a:xfrm>
            <a:off x="6976872" y="4471416"/>
            <a:ext cx="82296" cy="82296"/>
          </a:xfrm>
          <a:prstGeom prst="rect">
            <a:avLst/>
          </a:prstGeom>
          <a:solidFill>
            <a:srgbClr val="F3B441"/>
          </a:solidFill>
          <a:ln w="12700">
            <a:solidFill>
              <a:srgbClr val="333333"/>
            </a:solidFill>
            <a:prstDash val="solid"/>
          </a:ln>
        </p:spPr>
        <p:txBody>
          <a:bodyPr/>
          <a:lstStyle/>
          <a:p>
            <a:endParaRPr lang="en-SE"/>
          </a:p>
        </p:txBody>
      </p:sp>
      <p:sp>
        <p:nvSpPr>
          <p:cNvPr id="23" name="Text 21"/>
          <p:cNvSpPr/>
          <p:nvPr/>
        </p:nvSpPr>
        <p:spPr>
          <a:xfrm>
            <a:off x="7214616" y="4370832"/>
            <a:ext cx="4059936" cy="566928"/>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Sessions on  </a:t>
            </a:r>
            <a:r>
              <a:rPr lang="en-US" sz="1200" dirty="0">
                <a:solidFill>
                  <a:srgbClr val="C2CAD4"/>
                </a:solidFill>
                <a:latin typeface="Calibri" pitchFamily="34" charset="0"/>
                <a:ea typeface="Calibri" pitchFamily="34" charset="-122"/>
                <a:cs typeface="Calibri" pitchFamily="34" charset="-120"/>
              </a:rPr>
              <a:t>so the engine starts CLOSED and waits</a:t>
            </a:r>
            <a:endParaRPr lang="en-US" sz="1200" dirty="0"/>
          </a:p>
        </p:txBody>
      </p:sp>
      <p:sp>
        <p:nvSpPr>
          <p:cNvPr id="24" name="Shape 22"/>
          <p:cNvSpPr/>
          <p:nvPr/>
        </p:nvSpPr>
        <p:spPr>
          <a:xfrm>
            <a:off x="640080" y="5303520"/>
            <a:ext cx="10911535" cy="777240"/>
          </a:xfrm>
          <a:prstGeom prst="roundRect">
            <a:avLst>
              <a:gd name="adj" fmla="val 7059"/>
            </a:avLst>
          </a:prstGeom>
          <a:solidFill>
            <a:srgbClr val="2E2A52"/>
          </a:solidFill>
          <a:ln w="12700">
            <a:solidFill>
              <a:srgbClr val="9B8CFF"/>
            </a:solidFill>
            <a:prstDash val="solid"/>
          </a:ln>
        </p:spPr>
        <p:txBody>
          <a:bodyPr/>
          <a:lstStyle/>
          <a:p>
            <a:endParaRPr lang="en-SE"/>
          </a:p>
        </p:txBody>
      </p:sp>
      <p:sp>
        <p:nvSpPr>
          <p:cNvPr id="25" name="Text 23"/>
          <p:cNvSpPr/>
          <p:nvPr/>
        </p:nvSpPr>
        <p:spPr>
          <a:xfrm>
            <a:off x="877824" y="5394960"/>
            <a:ext cx="1737360" cy="237744"/>
          </a:xfrm>
          <a:prstGeom prst="rect">
            <a:avLst/>
          </a:prstGeom>
          <a:noFill/>
          <a:ln/>
        </p:spPr>
        <p:txBody>
          <a:bodyPr wrap="square" lIns="0" tIns="0" rIns="0" bIns="0" rtlCol="0" anchor="ctr"/>
          <a:lstStyle/>
          <a:p>
            <a:pPr marL="0" indent="0">
              <a:buNone/>
            </a:pPr>
            <a:r>
              <a:rPr lang="en-US" sz="950" b="1" kern="0" spc="160" dirty="0">
                <a:solidFill>
                  <a:srgbClr val="9B8CFF"/>
                </a:solidFill>
                <a:latin typeface="Calibri" pitchFamily="34" charset="0"/>
                <a:ea typeface="Calibri" pitchFamily="34" charset="-122"/>
                <a:cs typeface="Calibri" pitchFamily="34" charset="-120"/>
              </a:rPr>
              <a:t>AND ONE CONDITIONAL RULE</a:t>
            </a:r>
            <a:endParaRPr lang="en-US" sz="950" dirty="0"/>
          </a:p>
        </p:txBody>
      </p:sp>
      <p:sp>
        <p:nvSpPr>
          <p:cNvPr id="26" name="Text 24"/>
          <p:cNvSpPr/>
          <p:nvPr/>
        </p:nvSpPr>
        <p:spPr>
          <a:xfrm>
            <a:off x="877824" y="565099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Add a gateway with the MARKET_MAKER role and the specification immediately requires a market_maker_quotes block on every symbol. The role creates the obligation.</a:t>
            </a:r>
            <a:endParaRPr lang="en-US" sz="125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07 · The minimal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GAP</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Why the minimum is not enough</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That file loads perfectly. Then you connect, and nothing happens. Here is why.</a:t>
            </a:r>
            <a:endParaRPr lang="en-US" sz="1450" dirty="0"/>
          </a:p>
        </p:txBody>
      </p:sp>
      <p:sp>
        <p:nvSpPr>
          <p:cNvPr id="6" name="Shape 4"/>
          <p:cNvSpPr/>
          <p:nvPr/>
        </p:nvSpPr>
        <p:spPr>
          <a:xfrm>
            <a:off x="640080" y="1965960"/>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1965960"/>
            <a:ext cx="50292" cy="914400"/>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914400" y="2057400"/>
            <a:ext cx="320040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The market is closed</a:t>
            </a:r>
            <a:endParaRPr lang="en-US" sz="1500" dirty="0"/>
          </a:p>
        </p:txBody>
      </p:sp>
      <p:sp>
        <p:nvSpPr>
          <p:cNvPr id="9" name="Text 7"/>
          <p:cNvSpPr/>
          <p:nvPr/>
        </p:nvSpPr>
        <p:spPr>
          <a:xfrm>
            <a:off x="914400" y="2423160"/>
            <a:ext cx="3291840" cy="402336"/>
          </a:xfrm>
          <a:prstGeom prst="rect">
            <a:avLst/>
          </a:prstGeom>
          <a:noFill/>
          <a:ln/>
        </p:spPr>
        <p:txBody>
          <a:bodyPr wrap="square" lIns="0" tIns="0" rIns="0" bIns="0" rtlCol="0" anchor="t"/>
          <a:lstStyle/>
          <a:p>
            <a:pPr marL="0" indent="0">
              <a:lnSpc>
                <a:spcPts val="1500"/>
              </a:lnSpc>
              <a:buNone/>
            </a:pPr>
            <a:r>
              <a:rPr lang="en-US" sz="1100" dirty="0">
                <a:solidFill>
                  <a:srgbClr val="FF7A6B"/>
                </a:solidFill>
                <a:latin typeface="Calibri" pitchFamily="34" charset="0"/>
                <a:ea typeface="Calibri" pitchFamily="34" charset="-122"/>
                <a:cs typeface="Calibri" pitchFamily="34" charset="-120"/>
              </a:rPr>
              <a:t>Add a schedule, or set sessions_enabled to false.</a:t>
            </a:r>
            <a:endParaRPr lang="en-US" sz="1100" dirty="0"/>
          </a:p>
        </p:txBody>
      </p:sp>
      <p:sp>
        <p:nvSpPr>
          <p:cNvPr id="10" name="Text 8"/>
          <p:cNvSpPr/>
          <p:nvPr/>
        </p:nvSpPr>
        <p:spPr>
          <a:xfrm>
            <a:off x="4434840" y="2148840"/>
            <a:ext cx="6842455" cy="658368"/>
          </a:xfrm>
          <a:prstGeom prst="rect">
            <a:avLst/>
          </a:prstGeom>
          <a:noFill/>
          <a:ln/>
        </p:spPr>
        <p:txBody>
          <a:bodyPr wrap="square" lIns="0" tIns="0" rIns="0" bIns="0" rtlCol="0" anchor="t"/>
          <a:lstStyle/>
          <a:p>
            <a:pPr marL="0" indent="0">
              <a:lnSpc>
                <a:spcPts val="1750"/>
              </a:lnSpc>
              <a:buNone/>
            </a:pPr>
            <a:r>
              <a:rPr lang="en-US" sz="1250" dirty="0">
                <a:solidFill>
                  <a:srgbClr val="C2CAD4"/>
                </a:solidFill>
                <a:latin typeface="Calibri" pitchFamily="34" charset="0"/>
                <a:ea typeface="Calibri" pitchFamily="34" charset="-122"/>
                <a:cs typeface="Calibri" pitchFamily="34" charset="-120"/>
              </a:rPr>
              <a:t>sessions_enabled defaults to true, so the engine starts CLOSED and waits to be driven through the day. With no schedule and no scheduler, it waits forever.</a:t>
            </a:r>
            <a:endParaRPr lang="en-US" sz="1250" dirty="0"/>
          </a:p>
        </p:txBody>
      </p:sp>
      <p:sp>
        <p:nvSpPr>
          <p:cNvPr id="11" name="Shape 9"/>
          <p:cNvSpPr/>
          <p:nvPr/>
        </p:nvSpPr>
        <p:spPr>
          <a:xfrm>
            <a:off x="640080" y="2999232"/>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640080" y="2999232"/>
            <a:ext cx="50292" cy="914400"/>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914400" y="3090672"/>
            <a:ext cx="320040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The book is empty</a:t>
            </a:r>
            <a:endParaRPr lang="en-US" sz="1500" dirty="0"/>
          </a:p>
        </p:txBody>
      </p:sp>
      <p:sp>
        <p:nvSpPr>
          <p:cNvPr id="14" name="Text 12"/>
          <p:cNvSpPr/>
          <p:nvPr/>
        </p:nvSpPr>
        <p:spPr>
          <a:xfrm>
            <a:off x="914400" y="3456432"/>
            <a:ext cx="3291840" cy="402336"/>
          </a:xfrm>
          <a:prstGeom prst="rect">
            <a:avLst/>
          </a:prstGeom>
          <a:noFill/>
          <a:ln/>
        </p:spPr>
        <p:txBody>
          <a:bodyPr wrap="square" lIns="0" tIns="0" rIns="0" bIns="0" rtlCol="0" anchor="t"/>
          <a:lstStyle/>
          <a:p>
            <a:pPr marL="0" indent="0">
              <a:lnSpc>
                <a:spcPts val="1500"/>
              </a:lnSpc>
              <a:buNone/>
            </a:pPr>
            <a:r>
              <a:rPr lang="en-US" sz="1100" dirty="0">
                <a:solidFill>
                  <a:srgbClr val="F3B441"/>
                </a:solidFill>
                <a:latin typeface="Calibri" pitchFamily="34" charset="0"/>
                <a:ea typeface="Calibri" pitchFamily="34" charset="-122"/>
                <a:cs typeface="Calibri" pitchFamily="34" charset="-120"/>
              </a:rPr>
              <a:t>Add a MARKET_MAKER gateway and a seed quote.</a:t>
            </a:r>
            <a:endParaRPr lang="en-US" sz="1100" dirty="0"/>
          </a:p>
        </p:txBody>
      </p:sp>
      <p:sp>
        <p:nvSpPr>
          <p:cNvPr id="15" name="Text 13"/>
          <p:cNvSpPr/>
          <p:nvPr/>
        </p:nvSpPr>
        <p:spPr>
          <a:xfrm>
            <a:off x="4434840" y="3182112"/>
            <a:ext cx="6842455" cy="658368"/>
          </a:xfrm>
          <a:prstGeom prst="rect">
            <a:avLst/>
          </a:prstGeom>
          <a:noFill/>
          <a:ln/>
        </p:spPr>
        <p:txBody>
          <a:bodyPr wrap="square" lIns="0" tIns="0" rIns="0" bIns="0" rtlCol="0" anchor="t"/>
          <a:lstStyle/>
          <a:p>
            <a:pPr marL="0" indent="0">
              <a:lnSpc>
                <a:spcPts val="1750"/>
              </a:lnSpc>
              <a:buNone/>
            </a:pPr>
            <a:r>
              <a:rPr lang="en-US" sz="1250" dirty="0">
                <a:solidFill>
                  <a:srgbClr val="C2CAD4"/>
                </a:solidFill>
                <a:latin typeface="Calibri" pitchFamily="34" charset="0"/>
                <a:ea typeface="Calibri" pitchFamily="34" charset="-122"/>
                <a:cs typeface="Calibri" pitchFamily="34" charset="-120"/>
              </a:rPr>
              <a:t>There is no market maker and no seed quote, so there is nothing to trade against. The first order just rests there alone.</a:t>
            </a:r>
            <a:endParaRPr lang="en-US" sz="1250" dirty="0"/>
          </a:p>
        </p:txBody>
      </p:sp>
      <p:sp>
        <p:nvSpPr>
          <p:cNvPr id="16" name="Shape 14"/>
          <p:cNvSpPr/>
          <p:nvPr/>
        </p:nvSpPr>
        <p:spPr>
          <a:xfrm>
            <a:off x="640080" y="4032504"/>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640080" y="4032504"/>
            <a:ext cx="50292" cy="914400"/>
          </a:xfrm>
          <a:prstGeom prst="rect">
            <a:avLst/>
          </a:prstGeom>
          <a:solidFill>
            <a:srgbClr val="9B8CFF"/>
          </a:solidFill>
          <a:ln w="12700">
            <a:solidFill>
              <a:srgbClr val="333333"/>
            </a:solidFill>
            <a:prstDash val="solid"/>
          </a:ln>
        </p:spPr>
        <p:txBody>
          <a:bodyPr/>
          <a:lstStyle/>
          <a:p>
            <a:endParaRPr lang="en-SE"/>
          </a:p>
        </p:txBody>
      </p:sp>
      <p:sp>
        <p:nvSpPr>
          <p:cNvPr id="18" name="Text 16"/>
          <p:cNvSpPr/>
          <p:nvPr/>
        </p:nvSpPr>
        <p:spPr>
          <a:xfrm>
            <a:off x="914400" y="4123944"/>
            <a:ext cx="320040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Nobody can intervene</a:t>
            </a:r>
            <a:endParaRPr lang="en-US" sz="1500" dirty="0"/>
          </a:p>
        </p:txBody>
      </p:sp>
      <p:sp>
        <p:nvSpPr>
          <p:cNvPr id="19" name="Text 17"/>
          <p:cNvSpPr/>
          <p:nvPr/>
        </p:nvSpPr>
        <p:spPr>
          <a:xfrm>
            <a:off x="914400" y="4489704"/>
            <a:ext cx="3291840" cy="402336"/>
          </a:xfrm>
          <a:prstGeom prst="rect">
            <a:avLst/>
          </a:prstGeom>
          <a:noFill/>
          <a:ln/>
        </p:spPr>
        <p:txBody>
          <a:bodyPr wrap="square" lIns="0" tIns="0" rIns="0" bIns="0" rtlCol="0" anchor="t"/>
          <a:lstStyle/>
          <a:p>
            <a:pPr marL="0" indent="0">
              <a:lnSpc>
                <a:spcPts val="1500"/>
              </a:lnSpc>
              <a:buNone/>
            </a:pPr>
            <a:r>
              <a:rPr lang="en-US" sz="1100" dirty="0">
                <a:solidFill>
                  <a:srgbClr val="9B8CFF"/>
                </a:solidFill>
                <a:latin typeface="Calibri" pitchFamily="34" charset="0"/>
                <a:ea typeface="Calibri" pitchFamily="34" charset="-122"/>
                <a:cs typeface="Calibri" pitchFamily="34" charset="-120"/>
              </a:rPr>
              <a:t>Add a gateway with the ADMIN role.</a:t>
            </a:r>
            <a:endParaRPr lang="en-US" sz="1100" dirty="0"/>
          </a:p>
        </p:txBody>
      </p:sp>
      <p:sp>
        <p:nvSpPr>
          <p:cNvPr id="20" name="Text 18"/>
          <p:cNvSpPr/>
          <p:nvPr/>
        </p:nvSpPr>
        <p:spPr>
          <a:xfrm>
            <a:off x="4434840" y="4215384"/>
            <a:ext cx="6842455" cy="658368"/>
          </a:xfrm>
          <a:prstGeom prst="rect">
            <a:avLst/>
          </a:prstGeom>
          <a:noFill/>
          <a:ln/>
        </p:spPr>
        <p:txBody>
          <a:bodyPr wrap="square" lIns="0" tIns="0" rIns="0" bIns="0" rtlCol="0" anchor="t"/>
          <a:lstStyle/>
          <a:p>
            <a:pPr marL="0" indent="0">
              <a:lnSpc>
                <a:spcPts val="1750"/>
              </a:lnSpc>
              <a:buNone/>
            </a:pPr>
            <a:r>
              <a:rPr lang="en-US" sz="1250" dirty="0">
                <a:solidFill>
                  <a:srgbClr val="C2CAD4"/>
                </a:solidFill>
                <a:latin typeface="Calibri" pitchFamily="34" charset="0"/>
                <a:ea typeface="Calibri" pitchFamily="34" charset="-122"/>
                <a:cs typeface="Calibri" pitchFamily="34" charset="-120"/>
              </a:rPr>
              <a:t>No gateway has the ADMIN role, so nothing can halt or resume the market, or mass-cancel a symbol, if something goes wrong.</a:t>
            </a:r>
            <a:endParaRPr lang="en-US" sz="1250" dirty="0"/>
          </a:p>
        </p:txBody>
      </p:sp>
      <p:sp>
        <p:nvSpPr>
          <p:cNvPr id="21" name="Shape 19"/>
          <p:cNvSpPr/>
          <p:nvPr/>
        </p:nvSpPr>
        <p:spPr>
          <a:xfrm>
            <a:off x="640080" y="5065776"/>
            <a:ext cx="10911535" cy="914400"/>
          </a:xfrm>
          <a:prstGeom prst="roundRect">
            <a:avLst>
              <a:gd name="adj" fmla="val 6000"/>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640080" y="5065776"/>
            <a:ext cx="50292" cy="914400"/>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914400" y="5157216"/>
            <a:ext cx="3200400" cy="329184"/>
          </a:xfrm>
          <a:prstGeom prst="rect">
            <a:avLst/>
          </a:prstGeom>
          <a:noFill/>
          <a:ln/>
        </p:spPr>
        <p:txBody>
          <a:bodyPr wrap="square" lIns="0" tIns="0" rIns="0" bIns="0" rtlCol="0" anchor="ctr"/>
          <a:lstStyle/>
          <a:p>
            <a:pPr marL="0" indent="0">
              <a:buNone/>
            </a:pPr>
            <a:r>
              <a:rPr lang="en-US" sz="1500" b="1" dirty="0">
                <a:solidFill>
                  <a:srgbClr val="F1F4F8"/>
                </a:solidFill>
                <a:latin typeface="Trebuchet MS" pitchFamily="34" charset="0"/>
                <a:ea typeface="Trebuchet MS" pitchFamily="34" charset="-122"/>
                <a:cs typeface="Trebuchet MS" pitchFamily="34" charset="-120"/>
              </a:rPr>
              <a:t>One participant is not a market</a:t>
            </a:r>
            <a:endParaRPr lang="en-US" sz="1500" dirty="0"/>
          </a:p>
        </p:txBody>
      </p:sp>
      <p:sp>
        <p:nvSpPr>
          <p:cNvPr id="24" name="Text 22"/>
          <p:cNvSpPr/>
          <p:nvPr/>
        </p:nvSpPr>
        <p:spPr>
          <a:xfrm>
            <a:off x="914400" y="5522976"/>
            <a:ext cx="3291840" cy="402336"/>
          </a:xfrm>
          <a:prstGeom prst="rect">
            <a:avLst/>
          </a:prstGeom>
          <a:noFill/>
          <a:ln/>
        </p:spPr>
        <p:txBody>
          <a:bodyPr wrap="square" lIns="0" tIns="0" rIns="0" bIns="0" rtlCol="0" anchor="t"/>
          <a:lstStyle/>
          <a:p>
            <a:pPr marL="0" indent="0">
              <a:lnSpc>
                <a:spcPts val="1500"/>
              </a:lnSpc>
              <a:buNone/>
            </a:pPr>
            <a:r>
              <a:rPr lang="en-US" sz="1100" dirty="0">
                <a:solidFill>
                  <a:srgbClr val="5AB2F7"/>
                </a:solidFill>
                <a:latin typeface="Calibri" pitchFamily="34" charset="0"/>
                <a:ea typeface="Calibri" pitchFamily="34" charset="-122"/>
                <a:cs typeface="Calibri" pitchFamily="34" charset="-120"/>
              </a:rPr>
              <a:t>Add a second trader.</a:t>
            </a:r>
            <a:endParaRPr lang="en-US" sz="1100" dirty="0"/>
          </a:p>
        </p:txBody>
      </p:sp>
      <p:sp>
        <p:nvSpPr>
          <p:cNvPr id="25" name="Text 23"/>
          <p:cNvSpPr/>
          <p:nvPr/>
        </p:nvSpPr>
        <p:spPr>
          <a:xfrm>
            <a:off x="4434840" y="5248656"/>
            <a:ext cx="6842455" cy="658368"/>
          </a:xfrm>
          <a:prstGeom prst="rect">
            <a:avLst/>
          </a:prstGeom>
          <a:noFill/>
          <a:ln/>
        </p:spPr>
        <p:txBody>
          <a:bodyPr wrap="square" lIns="0" tIns="0" rIns="0" bIns="0" rtlCol="0" anchor="t"/>
          <a:lstStyle/>
          <a:p>
            <a:pPr marL="0" indent="0">
              <a:lnSpc>
                <a:spcPts val="1750"/>
              </a:lnSpc>
              <a:buNone/>
            </a:pPr>
            <a:r>
              <a:rPr lang="en-US" sz="1250" dirty="0">
                <a:solidFill>
                  <a:srgbClr val="C2CAD4"/>
                </a:solidFill>
                <a:latin typeface="Calibri" pitchFamily="34" charset="0"/>
                <a:ea typeface="Calibri" pitchFamily="34" charset="-122"/>
                <a:cs typeface="Calibri" pitchFamily="34" charset="-120"/>
              </a:rPr>
              <a:t>One trader can only trade with themselves — and self-match prevention may well stop even that.</a:t>
            </a:r>
            <a:endParaRPr lang="en-US" sz="1250" dirty="0"/>
          </a:p>
        </p:txBody>
      </p:sp>
      <p:sp>
        <p:nvSpPr>
          <p:cNvPr id="26" name="Text 24"/>
          <p:cNvSpPr/>
          <p:nvPr/>
        </p:nvSpPr>
        <p:spPr>
          <a:xfrm>
            <a:off x="640080" y="6172200"/>
            <a:ext cx="10911535" cy="292608"/>
          </a:xfrm>
          <a:prstGeom prst="rect">
            <a:avLst/>
          </a:prstGeom>
          <a:noFill/>
          <a:ln/>
        </p:spPr>
        <p:txBody>
          <a:bodyPr wrap="square" lIns="0" tIns="0" rIns="0" bIns="0" rtlCol="0" anchor="ctr"/>
          <a:lstStyle/>
          <a:p>
            <a:pPr marL="0" indent="0">
              <a:buNone/>
            </a:pPr>
            <a:r>
              <a:rPr lang="en-US" sz="1250" i="1" dirty="0">
                <a:solidFill>
                  <a:srgbClr val="F3B441"/>
                </a:solidFill>
                <a:latin typeface="Calibri" pitchFamily="34" charset="0"/>
                <a:ea typeface="Calibri" pitchFamily="34" charset="-122"/>
                <a:cs typeface="Calibri" pitchFamily="34" charset="-120"/>
              </a:rPr>
              <a:t>None of these is an error. All four are silences — which is exactly what makes them hard for a beginner to diagnose.</a:t>
            </a:r>
            <a:endParaRPr lang="en-US" sz="125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07 · The minimal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ANSWER TWO</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minimum that is actually useful</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Three gateways, one symbol, one seed quote. This is the file to start from.</a:t>
            </a:r>
            <a:endParaRPr lang="en-US" sz="1450" dirty="0"/>
          </a:p>
        </p:txBody>
      </p:sp>
      <p:sp>
        <p:nvSpPr>
          <p:cNvPr id="6" name="Shape 4"/>
          <p:cNvSpPr/>
          <p:nvPr/>
        </p:nvSpPr>
        <p:spPr>
          <a:xfrm>
            <a:off x="640080" y="1371417"/>
            <a:ext cx="6400800" cy="5486583"/>
          </a:xfrm>
          <a:prstGeom prst="roundRect">
            <a:avLst>
              <a:gd name="adj" fmla="val 833"/>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1966874"/>
            <a:ext cx="6398971"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07111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07111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07111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1984248"/>
            <a:ext cx="5577840"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engine_config.yaml</a:t>
            </a:r>
            <a:endParaRPr lang="en-US" sz="950" dirty="0"/>
          </a:p>
        </p:txBody>
      </p:sp>
      <p:sp>
        <p:nvSpPr>
          <p:cNvPr id="12" name="Text 10"/>
          <p:cNvSpPr/>
          <p:nvPr/>
        </p:nvSpPr>
        <p:spPr>
          <a:xfrm>
            <a:off x="841248" y="1828617"/>
            <a:ext cx="6035040" cy="5029383"/>
          </a:xfrm>
          <a:prstGeom prst="rect">
            <a:avLst/>
          </a:prstGeom>
          <a:noFill/>
          <a:ln/>
        </p:spPr>
        <p:txBody>
          <a:bodyPr wrap="square" lIns="0" tIns="0" rIns="0" bIns="0" rtlCol="0" anchor="t"/>
          <a:lstStyle/>
          <a:p>
            <a:pPr marL="0" indent="0">
              <a:lnSpc>
                <a:spcPts val="1452"/>
              </a:lnSpc>
              <a:buNone/>
            </a:pPr>
            <a:r>
              <a:rPr lang="en-US" sz="1100" dirty="0">
                <a:solidFill>
                  <a:srgbClr val="34D6BE"/>
                </a:solidFill>
                <a:latin typeface="Consolas" pitchFamily="34" charset="0"/>
                <a:ea typeface="Consolas" pitchFamily="34" charset="-122"/>
                <a:cs typeface="Consolas" pitchFamily="34" charset="-120"/>
              </a:rPr>
              <a:t>gateways:</a:t>
            </a:r>
            <a:endParaRPr lang="en-US" sz="1100" dirty="0"/>
          </a:p>
          <a:p>
            <a:pPr marL="0" indent="0">
              <a:lnSpc>
                <a:spcPts val="1452"/>
              </a:lnSpc>
              <a:buNone/>
            </a:pPr>
            <a:r>
              <a:rPr lang="en-US" sz="1100" dirty="0">
                <a:solidFill>
                  <a:srgbClr val="F1F4F8"/>
                </a:solidFill>
                <a:latin typeface="Consolas" pitchFamily="34" charset="0"/>
                <a:ea typeface="Consolas" pitchFamily="34" charset="-122"/>
                <a:cs typeface="Consolas" pitchFamily="34" charset="-120"/>
              </a:rPr>
              <a:t>  alf:</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 id: TRADER01</a:t>
            </a:r>
            <a:endParaRPr lang="en-US" sz="1100" dirty="0"/>
          </a:p>
          <a:p>
            <a:pPr marL="0" indent="0">
              <a:lnSpc>
                <a:spcPts val="1452"/>
              </a:lnSpc>
              <a:buNone/>
            </a:pPr>
            <a:r>
              <a:rPr lang="en-US" sz="1100" dirty="0">
                <a:solidFill>
                  <a:srgbClr val="8D97A5"/>
                </a:solidFill>
                <a:latin typeface="Consolas" pitchFamily="34" charset="0"/>
                <a:ea typeface="Consolas" pitchFamily="34" charset="-122"/>
                <a:cs typeface="Consolas" pitchFamily="34" charset="-120"/>
              </a:rPr>
              <a:t>      description: First trader</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 id: MM01</a:t>
            </a:r>
            <a:endParaRPr lang="en-US" sz="1100" dirty="0"/>
          </a:p>
          <a:p>
            <a:pPr marL="0" indent="0">
              <a:lnSpc>
                <a:spcPts val="1452"/>
              </a:lnSpc>
              <a:buNone/>
            </a:pPr>
            <a:r>
              <a:rPr lang="en-US" sz="1100" dirty="0">
                <a:solidFill>
                  <a:srgbClr val="8D97A5"/>
                </a:solidFill>
                <a:latin typeface="Consolas" pitchFamily="34" charset="0"/>
                <a:ea typeface="Consolas" pitchFamily="34" charset="-122"/>
                <a:cs typeface="Consolas" pitchFamily="34" charset="-120"/>
              </a:rPr>
              <a:t>      description: Market maker</a:t>
            </a:r>
            <a:endParaRPr lang="en-US" sz="1100" dirty="0"/>
          </a:p>
          <a:p>
            <a:pPr marL="0" indent="0">
              <a:lnSpc>
                <a:spcPts val="1452"/>
              </a:lnSpc>
              <a:buNone/>
            </a:pPr>
            <a:r>
              <a:rPr lang="en-US" sz="1100" dirty="0">
                <a:solidFill>
                  <a:srgbClr val="F3B441"/>
                </a:solidFill>
                <a:latin typeface="Consolas" pitchFamily="34" charset="0"/>
                <a:ea typeface="Consolas" pitchFamily="34" charset="-122"/>
                <a:cs typeface="Consolas" pitchFamily="34" charset="-120"/>
              </a:rPr>
              <a:t>      role: MARKET_MAKER</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 id: GW_ADMIN</a:t>
            </a:r>
            <a:endParaRPr lang="en-US" sz="1100" dirty="0"/>
          </a:p>
          <a:p>
            <a:pPr marL="0" indent="0">
              <a:lnSpc>
                <a:spcPts val="1452"/>
              </a:lnSpc>
              <a:buNone/>
            </a:pPr>
            <a:r>
              <a:rPr lang="en-US" sz="1100" dirty="0">
                <a:solidFill>
                  <a:srgbClr val="8D97A5"/>
                </a:solidFill>
                <a:latin typeface="Consolas" pitchFamily="34" charset="0"/>
                <a:ea typeface="Consolas" pitchFamily="34" charset="-122"/>
                <a:cs typeface="Consolas" pitchFamily="34" charset="-120"/>
              </a:rPr>
              <a:t>      description: Operator console</a:t>
            </a:r>
            <a:endParaRPr lang="en-US" sz="1100" dirty="0"/>
          </a:p>
          <a:p>
            <a:pPr marL="0" indent="0">
              <a:lnSpc>
                <a:spcPts val="1452"/>
              </a:lnSpc>
              <a:buNone/>
            </a:pPr>
            <a:r>
              <a:rPr lang="en-US" sz="1100" dirty="0">
                <a:solidFill>
                  <a:srgbClr val="F3B441"/>
                </a:solidFill>
                <a:latin typeface="Consolas" pitchFamily="34" charset="0"/>
                <a:ea typeface="Consolas" pitchFamily="34" charset="-122"/>
                <a:cs typeface="Consolas" pitchFamily="34" charset="-120"/>
              </a:rPr>
              <a:t>      role: ADMIN</a:t>
            </a:r>
            <a:endParaRPr lang="en-US" sz="1100" dirty="0"/>
          </a:p>
          <a:p>
            <a:pPr marL="0" indent="0">
              <a:lnSpc>
                <a:spcPts val="1452"/>
              </a:lnSpc>
              <a:buNone/>
            </a:pPr>
            <a:r>
              <a:rPr lang="en-US" sz="1100" dirty="0">
                <a:solidFill>
                  <a:srgbClr val="34D6BE"/>
                </a:solidFill>
                <a:latin typeface="Consolas" pitchFamily="34" charset="0"/>
                <a:ea typeface="Consolas" pitchFamily="34" charset="-122"/>
                <a:cs typeface="Consolas" pitchFamily="34" charset="-120"/>
              </a:rPr>
              <a:t>symbols:</a:t>
            </a:r>
            <a:endParaRPr lang="en-US" sz="1100" dirty="0"/>
          </a:p>
          <a:p>
            <a:pPr marL="0" indent="0">
              <a:lnSpc>
                <a:spcPts val="1452"/>
              </a:lnSpc>
              <a:buNone/>
            </a:pPr>
            <a:r>
              <a:rPr lang="en-US" sz="1100" dirty="0">
                <a:solidFill>
                  <a:srgbClr val="F1F4F8"/>
                </a:solidFill>
                <a:latin typeface="Consolas" pitchFamily="34" charset="0"/>
                <a:ea typeface="Consolas" pitchFamily="34" charset="-122"/>
                <a:cs typeface="Consolas" pitchFamily="34" charset="-120"/>
              </a:rPr>
              <a:t>  AAPL:</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tick_decimals: 2</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last_buy_price: 149.90</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last_sell_price: 150.10</a:t>
            </a:r>
            <a:endParaRPr lang="en-US" sz="1100" dirty="0"/>
          </a:p>
          <a:p>
            <a:pPr marL="0" indent="0">
              <a:lnSpc>
                <a:spcPts val="1452"/>
              </a:lnSpc>
              <a:buNone/>
            </a:pPr>
            <a:r>
              <a:rPr lang="en-US" sz="1100" dirty="0">
                <a:solidFill>
                  <a:srgbClr val="9B8CFF"/>
                </a:solidFill>
                <a:latin typeface="Consolas" pitchFamily="34" charset="0"/>
                <a:ea typeface="Consolas" pitchFamily="34" charset="-122"/>
                <a:cs typeface="Consolas" pitchFamily="34" charset="-120"/>
              </a:rPr>
              <a:t>    market_maker_quotes:</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 gateway_id: MM01</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bid_price: 149.90</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ask_price: 150.10</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bid_qty: 500</a:t>
            </a:r>
            <a:endParaRPr lang="en-US" sz="1100" dirty="0"/>
          </a:p>
          <a:p>
            <a:pPr marL="0" indent="0">
              <a:lnSpc>
                <a:spcPts val="1452"/>
              </a:lnSpc>
              <a:buNone/>
            </a:pPr>
            <a:r>
              <a:rPr lang="en-US" sz="1100" dirty="0">
                <a:solidFill>
                  <a:srgbClr val="C2CAD4"/>
                </a:solidFill>
                <a:latin typeface="Consolas" pitchFamily="34" charset="0"/>
                <a:ea typeface="Consolas" pitchFamily="34" charset="-122"/>
                <a:cs typeface="Consolas" pitchFamily="34" charset="-120"/>
              </a:rPr>
              <a:t>        ask_qty: 500</a:t>
            </a:r>
            <a:endParaRPr lang="en-US" sz="1100" dirty="0"/>
          </a:p>
        </p:txBody>
      </p:sp>
      <p:sp>
        <p:nvSpPr>
          <p:cNvPr id="13" name="Shape 11"/>
          <p:cNvSpPr/>
          <p:nvPr/>
        </p:nvSpPr>
        <p:spPr>
          <a:xfrm>
            <a:off x="7223760" y="2093976"/>
            <a:ext cx="82296" cy="82296"/>
          </a:xfrm>
          <a:prstGeom prst="rect">
            <a:avLst/>
          </a:prstGeom>
          <a:solidFill>
            <a:srgbClr val="34D6BE"/>
          </a:solidFill>
          <a:ln w="12700">
            <a:solidFill>
              <a:srgbClr val="333333"/>
            </a:solidFill>
            <a:prstDash val="solid"/>
          </a:ln>
        </p:spPr>
        <p:txBody>
          <a:bodyPr/>
          <a:lstStyle/>
          <a:p>
            <a:endParaRPr lang="en-SE"/>
          </a:p>
        </p:txBody>
      </p:sp>
      <p:sp>
        <p:nvSpPr>
          <p:cNvPr id="14" name="Text 12"/>
          <p:cNvSpPr/>
          <p:nvPr/>
        </p:nvSpPr>
        <p:spPr>
          <a:xfrm>
            <a:off x="7461504" y="1993392"/>
            <a:ext cx="4087368" cy="96012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Three roles, one file.  </a:t>
            </a:r>
            <a:r>
              <a:rPr lang="en-US" sz="1200" dirty="0">
                <a:solidFill>
                  <a:srgbClr val="C2CAD4"/>
                </a:solidFill>
                <a:latin typeface="Calibri" pitchFamily="34" charset="0"/>
                <a:ea typeface="Calibri" pitchFamily="34" charset="-122"/>
                <a:cs typeface="Calibri" pitchFamily="34" charset="-120"/>
              </a:rPr>
              <a:t>A trader to act, a market maker to quote against, an operator to intervene.</a:t>
            </a:r>
            <a:endParaRPr lang="en-US" sz="1200" dirty="0"/>
          </a:p>
        </p:txBody>
      </p:sp>
      <p:sp>
        <p:nvSpPr>
          <p:cNvPr id="15" name="Shape 13"/>
          <p:cNvSpPr/>
          <p:nvPr/>
        </p:nvSpPr>
        <p:spPr>
          <a:xfrm>
            <a:off x="7223760" y="3054096"/>
            <a:ext cx="82296" cy="82296"/>
          </a:xfrm>
          <a:prstGeom prst="rect">
            <a:avLst/>
          </a:prstGeom>
          <a:solidFill>
            <a:srgbClr val="F3B441"/>
          </a:solidFill>
          <a:ln w="12700">
            <a:solidFill>
              <a:srgbClr val="333333"/>
            </a:solidFill>
            <a:prstDash val="solid"/>
          </a:ln>
        </p:spPr>
        <p:txBody>
          <a:bodyPr/>
          <a:lstStyle/>
          <a:p>
            <a:endParaRPr lang="en-SE"/>
          </a:p>
        </p:txBody>
      </p:sp>
      <p:sp>
        <p:nvSpPr>
          <p:cNvPr id="16" name="Text 14"/>
          <p:cNvSpPr/>
          <p:nvPr/>
        </p:nvSpPr>
        <p:spPr>
          <a:xfrm>
            <a:off x="7461504" y="2953512"/>
            <a:ext cx="4087368" cy="96012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A live book from second one.  </a:t>
            </a:r>
            <a:r>
              <a:rPr lang="en-US" sz="1200" dirty="0">
                <a:solidFill>
                  <a:srgbClr val="C2CAD4"/>
                </a:solidFill>
                <a:latin typeface="Calibri" pitchFamily="34" charset="0"/>
                <a:ea typeface="Calibri" pitchFamily="34" charset="-122"/>
                <a:cs typeface="Calibri" pitchFamily="34" charset="-120"/>
              </a:rPr>
              <a:t>The seed quote is injected when MM01 authenticates, so there is always something to hit.</a:t>
            </a:r>
            <a:endParaRPr lang="en-US" sz="1200" dirty="0"/>
          </a:p>
        </p:txBody>
      </p:sp>
      <p:sp>
        <p:nvSpPr>
          <p:cNvPr id="17" name="Shape 15"/>
          <p:cNvSpPr/>
          <p:nvPr/>
        </p:nvSpPr>
        <p:spPr>
          <a:xfrm>
            <a:off x="7223760" y="4014216"/>
            <a:ext cx="82296" cy="82296"/>
          </a:xfrm>
          <a:prstGeom prst="rect">
            <a:avLst/>
          </a:prstGeom>
          <a:solidFill>
            <a:srgbClr val="9B8CFF"/>
          </a:solidFill>
          <a:ln w="12700">
            <a:solidFill>
              <a:srgbClr val="333333"/>
            </a:solidFill>
            <a:prstDash val="solid"/>
          </a:ln>
        </p:spPr>
        <p:txBody>
          <a:bodyPr/>
          <a:lstStyle/>
          <a:p>
            <a:endParaRPr lang="en-SE"/>
          </a:p>
        </p:txBody>
      </p:sp>
      <p:sp>
        <p:nvSpPr>
          <p:cNvPr id="18" name="Text 16"/>
          <p:cNvSpPr/>
          <p:nvPr/>
        </p:nvSpPr>
        <p:spPr>
          <a:xfrm>
            <a:off x="7461504" y="3913632"/>
            <a:ext cx="4087368" cy="96012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Prices that agree.  </a:t>
            </a:r>
            <a:r>
              <a:rPr lang="en-US" sz="1200" dirty="0">
                <a:solidFill>
                  <a:srgbClr val="C2CAD4"/>
                </a:solidFill>
                <a:latin typeface="Calibri" pitchFamily="34" charset="0"/>
                <a:ea typeface="Calibri" pitchFamily="34" charset="-122"/>
                <a:cs typeface="Calibri" pitchFamily="34" charset="-120"/>
              </a:rPr>
              <a:t>The seed quote sits exactly on the last buy and sell prices, so the collar reference and the visible market are the same number.</a:t>
            </a:r>
            <a:endParaRPr lang="en-US" sz="1200" dirty="0"/>
          </a:p>
        </p:txBody>
      </p:sp>
      <p:sp>
        <p:nvSpPr>
          <p:cNvPr id="19" name="Shape 17"/>
          <p:cNvSpPr/>
          <p:nvPr/>
        </p:nvSpPr>
        <p:spPr>
          <a:xfrm>
            <a:off x="7223760" y="4974336"/>
            <a:ext cx="82296" cy="82296"/>
          </a:xfrm>
          <a:prstGeom prst="rect">
            <a:avLst/>
          </a:prstGeom>
          <a:solidFill>
            <a:srgbClr val="5AB2F7"/>
          </a:solidFill>
          <a:ln w="12700">
            <a:solidFill>
              <a:srgbClr val="333333"/>
            </a:solidFill>
            <a:prstDash val="solid"/>
          </a:ln>
        </p:spPr>
        <p:txBody>
          <a:bodyPr/>
          <a:lstStyle/>
          <a:p>
            <a:endParaRPr lang="en-SE"/>
          </a:p>
        </p:txBody>
      </p:sp>
      <p:sp>
        <p:nvSpPr>
          <p:cNvPr id="20" name="Text 18"/>
          <p:cNvSpPr/>
          <p:nvPr/>
        </p:nvSpPr>
        <p:spPr>
          <a:xfrm>
            <a:off x="7461504" y="4873752"/>
            <a:ext cx="4087368" cy="960120"/>
          </a:xfrm>
          <a:prstGeom prst="rect">
            <a:avLst/>
          </a:prstGeom>
          <a:noFill/>
          <a:ln/>
        </p:spPr>
        <p:txBody>
          <a:bodyPr wrap="square" lIns="0" tIns="0" rIns="0" bIns="0" rtlCol="0" anchor="t"/>
          <a:lstStyle/>
          <a:p>
            <a:pPr marL="0" indent="0">
              <a:lnSpc>
                <a:spcPts val="1584"/>
              </a:lnSpc>
              <a:buNone/>
            </a:pPr>
            <a:r>
              <a:rPr lang="en-US" sz="1200" b="1" dirty="0">
                <a:solidFill>
                  <a:srgbClr val="F1F4F8"/>
                </a:solidFill>
                <a:latin typeface="Calibri" pitchFamily="34" charset="0"/>
                <a:ea typeface="Calibri" pitchFamily="34" charset="-122"/>
                <a:cs typeface="Calibri" pitchFamily="34" charset="-120"/>
              </a:rPr>
              <a:t>Room to grow.  </a:t>
            </a:r>
            <a:r>
              <a:rPr lang="en-US" sz="1200" dirty="0">
                <a:solidFill>
                  <a:srgbClr val="C2CAD4"/>
                </a:solidFill>
                <a:latin typeface="Calibri" pitchFamily="34" charset="0"/>
                <a:ea typeface="Calibri" pitchFamily="34" charset="-122"/>
                <a:cs typeface="Calibri" pitchFamily="34" charset="-120"/>
              </a:rPr>
              <a:t>Add symbols by copying the AAPL block. Add participants by adding a line.</a:t>
            </a:r>
            <a:endParaRPr lang="en-US" sz="1200" dirty="0"/>
          </a:p>
        </p:txBody>
      </p:sp>
      <p:sp>
        <p:nvSpPr>
          <p:cNvPr id="21" name="Text 19"/>
          <p:cNvSpPr/>
          <p:nvPr/>
        </p:nvSpPr>
        <p:spPr>
          <a:xfrm>
            <a:off x="7223760" y="5943600"/>
            <a:ext cx="4325112" cy="640080"/>
          </a:xfrm>
          <a:prstGeom prst="rect">
            <a:avLst/>
          </a:prstGeom>
          <a:noFill/>
          <a:ln/>
        </p:spPr>
        <p:txBody>
          <a:bodyPr wrap="square" lIns="0" tIns="0" rIns="0" bIns="0" rtlCol="0" anchor="t"/>
          <a:lstStyle/>
          <a:p>
            <a:pPr marL="0" indent="0">
              <a:lnSpc>
                <a:spcPts val="1300"/>
              </a:lnSpc>
              <a:buNone/>
            </a:pPr>
            <a:r>
              <a:rPr lang="en-US" sz="900" dirty="0">
                <a:solidFill>
                  <a:srgbClr val="8D97A5"/>
                </a:solidFill>
                <a:latin typeface="Consolas" pitchFamily="34" charset="0"/>
                <a:ea typeface="Consolas" pitchFamily="34" charset="-122"/>
                <a:cs typeface="Consolas" pitchFamily="34" charset="-120"/>
              </a:rPr>
              <a:t>Or generate exactly this:  pm-config-gen --symbols AAPL --gateways TRADER01 MM01:MARKET_MAKER GW_ADMIN:ADMIN --output engine_config.yaml</a:t>
            </a:r>
            <a:endParaRPr lang="en-US" sz="900" dirty="0"/>
          </a:p>
        </p:txBody>
      </p:sp>
      <p:sp>
        <p:nvSpPr>
          <p:cNvPr id="22" name="Text 20"/>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07 · The minimal configuration</a:t>
            </a:r>
            <a:endParaRPr lang="en-US" sz="950" dirty="0"/>
          </a:p>
        </p:txBody>
      </p:sp>
      <p:sp>
        <p:nvSpPr>
          <p:cNvPr id="23" name="Text 21"/>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BEFORE THE FIRST START</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The seven-point checklist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Read this list out loud against your file. Each line has a reason.</a:t>
            </a:r>
            <a:endParaRPr lang="en-US" sz="1450" dirty="0"/>
          </a:p>
        </p:txBody>
      </p:sp>
      <p:sp>
        <p:nvSpPr>
          <p:cNvPr id="6" name="Shape 4"/>
          <p:cNvSpPr/>
          <p:nvPr/>
        </p:nvSpPr>
        <p:spPr>
          <a:xfrm>
            <a:off x="640080" y="1965960"/>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841248" y="2112264"/>
            <a:ext cx="219456" cy="219456"/>
          </a:xfrm>
          <a:prstGeom prst="ellipse">
            <a:avLst/>
          </a:prstGeom>
          <a:solidFill>
            <a:srgbClr val="13463F"/>
          </a:solidFill>
          <a:ln w="12700">
            <a:solidFill>
              <a:srgbClr val="34D6BE"/>
            </a:solidFill>
            <a:prstDash val="solid"/>
          </a:ln>
        </p:spPr>
        <p:txBody>
          <a:bodyPr/>
          <a:lstStyle/>
          <a:p>
            <a:endParaRPr lang="en-SE"/>
          </a:p>
        </p:txBody>
      </p:sp>
      <p:sp>
        <p:nvSpPr>
          <p:cNvPr id="8" name="Text 6"/>
          <p:cNvSpPr/>
          <p:nvPr/>
        </p:nvSpPr>
        <p:spPr>
          <a:xfrm>
            <a:off x="841248" y="2112264"/>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1207008" y="1965960"/>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At least one entry under gateways.alf</a:t>
            </a:r>
            <a:endParaRPr lang="en-US" sz="1250" dirty="0"/>
          </a:p>
        </p:txBody>
      </p:sp>
      <p:sp>
        <p:nvSpPr>
          <p:cNvPr id="10" name="Text 8"/>
          <p:cNvSpPr/>
          <p:nvPr/>
        </p:nvSpPr>
        <p:spPr>
          <a:xfrm>
            <a:off x="5852160" y="1965960"/>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No gateways means nobody can connect at all.</a:t>
            </a:r>
            <a:endParaRPr lang="en-US" sz="1150" dirty="0"/>
          </a:p>
        </p:txBody>
      </p:sp>
      <p:sp>
        <p:nvSpPr>
          <p:cNvPr id="11" name="Shape 9"/>
          <p:cNvSpPr/>
          <p:nvPr/>
        </p:nvSpPr>
        <p:spPr>
          <a:xfrm>
            <a:off x="640080" y="2569464"/>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841248" y="2715768"/>
            <a:ext cx="219456" cy="219456"/>
          </a:xfrm>
          <a:prstGeom prst="ellipse">
            <a:avLst/>
          </a:prstGeom>
          <a:solidFill>
            <a:srgbClr val="13463F"/>
          </a:solidFill>
          <a:ln w="12700">
            <a:solidFill>
              <a:srgbClr val="34D6BE"/>
            </a:solidFill>
            <a:prstDash val="solid"/>
          </a:ln>
        </p:spPr>
        <p:txBody>
          <a:bodyPr/>
          <a:lstStyle/>
          <a:p>
            <a:endParaRPr lang="en-SE"/>
          </a:p>
        </p:txBody>
      </p:sp>
      <p:sp>
        <p:nvSpPr>
          <p:cNvPr id="13" name="Text 11"/>
          <p:cNvSpPr/>
          <p:nvPr/>
        </p:nvSpPr>
        <p:spPr>
          <a:xfrm>
            <a:off x="841248" y="2715768"/>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1207008" y="2569464"/>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At least one entry under symbols</a:t>
            </a:r>
            <a:endParaRPr lang="en-US" sz="1250" dirty="0"/>
          </a:p>
        </p:txBody>
      </p:sp>
      <p:sp>
        <p:nvSpPr>
          <p:cNvPr id="15" name="Text 13"/>
          <p:cNvSpPr/>
          <p:nvPr/>
        </p:nvSpPr>
        <p:spPr>
          <a:xfrm>
            <a:off x="5852160" y="2569464"/>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No symbols means no books, and nothing to trade.</a:t>
            </a:r>
            <a:endParaRPr lang="en-US" sz="1150" dirty="0"/>
          </a:p>
        </p:txBody>
      </p:sp>
      <p:sp>
        <p:nvSpPr>
          <p:cNvPr id="16" name="Shape 14"/>
          <p:cNvSpPr/>
          <p:nvPr/>
        </p:nvSpPr>
        <p:spPr>
          <a:xfrm>
            <a:off x="640080" y="3172968"/>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841248" y="3319272"/>
            <a:ext cx="219456" cy="219456"/>
          </a:xfrm>
          <a:prstGeom prst="ellipse">
            <a:avLst/>
          </a:prstGeom>
          <a:solidFill>
            <a:srgbClr val="13463F"/>
          </a:solidFill>
          <a:ln w="12700">
            <a:solidFill>
              <a:srgbClr val="34D6BE"/>
            </a:solidFill>
            <a:prstDash val="solid"/>
          </a:ln>
        </p:spPr>
        <p:txBody>
          <a:bodyPr/>
          <a:lstStyle/>
          <a:p>
            <a:endParaRPr lang="en-SE"/>
          </a:p>
        </p:txBody>
      </p:sp>
      <p:sp>
        <p:nvSpPr>
          <p:cNvPr id="18" name="Text 16"/>
          <p:cNvSpPr/>
          <p:nvPr/>
        </p:nvSpPr>
        <p:spPr>
          <a:xfrm>
            <a:off x="841248" y="3319272"/>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1207008" y="3172968"/>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Every gateway ID matches what the client will pass</a:t>
            </a:r>
            <a:endParaRPr lang="en-US" sz="1250" dirty="0"/>
          </a:p>
        </p:txBody>
      </p:sp>
      <p:sp>
        <p:nvSpPr>
          <p:cNvPr id="20" name="Text 18"/>
          <p:cNvSpPr/>
          <p:nvPr/>
        </p:nvSpPr>
        <p:spPr>
          <a:xfrm>
            <a:off x="5852160" y="3172968"/>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IDs are matched case-insensitively on connect, but a mismatch is silent — the client just times out.</a:t>
            </a:r>
            <a:endParaRPr lang="en-US" sz="1150" dirty="0"/>
          </a:p>
        </p:txBody>
      </p:sp>
      <p:sp>
        <p:nvSpPr>
          <p:cNvPr id="21" name="Shape 19"/>
          <p:cNvSpPr/>
          <p:nvPr/>
        </p:nvSpPr>
        <p:spPr>
          <a:xfrm>
            <a:off x="640080" y="3776472"/>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841248" y="3922776"/>
            <a:ext cx="219456" cy="219456"/>
          </a:xfrm>
          <a:prstGeom prst="ellipse">
            <a:avLst/>
          </a:prstGeom>
          <a:solidFill>
            <a:srgbClr val="13463F"/>
          </a:solidFill>
          <a:ln w="12700">
            <a:solidFill>
              <a:srgbClr val="34D6BE"/>
            </a:solidFill>
            <a:prstDash val="solid"/>
          </a:ln>
        </p:spPr>
        <p:txBody>
          <a:bodyPr/>
          <a:lstStyle/>
          <a:p>
            <a:endParaRPr lang="en-SE"/>
          </a:p>
        </p:txBody>
      </p:sp>
      <p:sp>
        <p:nvSpPr>
          <p:cNvPr id="23" name="Text 21"/>
          <p:cNvSpPr/>
          <p:nvPr/>
        </p:nvSpPr>
        <p:spPr>
          <a:xfrm>
            <a:off x="841248" y="3922776"/>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1207008" y="3776472"/>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At least one gateway has the ADMIN role</a:t>
            </a:r>
            <a:endParaRPr lang="en-US" sz="1250" dirty="0"/>
          </a:p>
        </p:txBody>
      </p:sp>
      <p:sp>
        <p:nvSpPr>
          <p:cNvPr id="25" name="Text 23"/>
          <p:cNvSpPr/>
          <p:nvPr/>
        </p:nvSpPr>
        <p:spPr>
          <a:xfrm>
            <a:off x="5852160" y="3776472"/>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Required to halt, resume, or mass-cancel from the operator console.</a:t>
            </a:r>
            <a:endParaRPr lang="en-US" sz="1150" dirty="0"/>
          </a:p>
        </p:txBody>
      </p:sp>
      <p:sp>
        <p:nvSpPr>
          <p:cNvPr id="26" name="Shape 24"/>
          <p:cNvSpPr/>
          <p:nvPr/>
        </p:nvSpPr>
        <p:spPr>
          <a:xfrm>
            <a:off x="640080" y="4379976"/>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841248" y="4526280"/>
            <a:ext cx="219456" cy="219456"/>
          </a:xfrm>
          <a:prstGeom prst="ellipse">
            <a:avLst/>
          </a:prstGeom>
          <a:solidFill>
            <a:srgbClr val="13463F"/>
          </a:solidFill>
          <a:ln w="12700">
            <a:solidFill>
              <a:srgbClr val="34D6BE"/>
            </a:solidFill>
            <a:prstDash val="solid"/>
          </a:ln>
        </p:spPr>
        <p:txBody>
          <a:bodyPr/>
          <a:lstStyle/>
          <a:p>
            <a:endParaRPr lang="en-SE"/>
          </a:p>
        </p:txBody>
      </p:sp>
      <p:sp>
        <p:nvSpPr>
          <p:cNvPr id="28" name="Text 26"/>
          <p:cNvSpPr/>
          <p:nvPr/>
        </p:nvSpPr>
        <p:spPr>
          <a:xfrm>
            <a:off x="841248" y="4526280"/>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29" name="Text 27"/>
          <p:cNvSpPr/>
          <p:nvPr/>
        </p:nvSpPr>
        <p:spPr>
          <a:xfrm>
            <a:off x="1207008" y="4379976"/>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tick_decimals is correct for each symbol</a:t>
            </a:r>
            <a:endParaRPr lang="en-US" sz="1250" dirty="0"/>
          </a:p>
        </p:txBody>
      </p:sp>
      <p:sp>
        <p:nvSpPr>
          <p:cNvPr id="30" name="Text 28"/>
          <p:cNvSpPr/>
          <p:nvPr/>
        </p:nvSpPr>
        <p:spPr>
          <a:xfrm>
            <a:off x="5852160" y="4379976"/>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It fixes the price grid. Wrong here means every price is wrong.</a:t>
            </a:r>
            <a:endParaRPr lang="en-US" sz="1150" dirty="0"/>
          </a:p>
        </p:txBody>
      </p:sp>
      <p:sp>
        <p:nvSpPr>
          <p:cNvPr id="31" name="Shape 29"/>
          <p:cNvSpPr/>
          <p:nvPr/>
        </p:nvSpPr>
        <p:spPr>
          <a:xfrm>
            <a:off x="640080" y="4983480"/>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32" name="Shape 30"/>
          <p:cNvSpPr/>
          <p:nvPr/>
        </p:nvSpPr>
        <p:spPr>
          <a:xfrm>
            <a:off x="841248" y="5129784"/>
            <a:ext cx="219456" cy="219456"/>
          </a:xfrm>
          <a:prstGeom prst="ellipse">
            <a:avLst/>
          </a:prstGeom>
          <a:solidFill>
            <a:srgbClr val="13463F"/>
          </a:solidFill>
          <a:ln w="12700">
            <a:solidFill>
              <a:srgbClr val="34D6BE"/>
            </a:solidFill>
            <a:prstDash val="solid"/>
          </a:ln>
        </p:spPr>
        <p:txBody>
          <a:bodyPr/>
          <a:lstStyle/>
          <a:p>
            <a:endParaRPr lang="en-SE"/>
          </a:p>
        </p:txBody>
      </p:sp>
      <p:sp>
        <p:nvSpPr>
          <p:cNvPr id="33" name="Text 31"/>
          <p:cNvSpPr/>
          <p:nvPr/>
        </p:nvSpPr>
        <p:spPr>
          <a:xfrm>
            <a:off x="841248" y="5129784"/>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34" name="Text 32"/>
          <p:cNvSpPr/>
          <p:nvPr/>
        </p:nvSpPr>
        <p:spPr>
          <a:xfrm>
            <a:off x="1207008" y="4983480"/>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Sessions decided: a schedule, or sessions_enabled false</a:t>
            </a:r>
            <a:endParaRPr lang="en-US" sz="1250" dirty="0"/>
          </a:p>
        </p:txBody>
      </p:sp>
      <p:sp>
        <p:nvSpPr>
          <p:cNvPr id="35" name="Text 33"/>
          <p:cNvSpPr/>
          <p:nvPr/>
        </p:nvSpPr>
        <p:spPr>
          <a:xfrm>
            <a:off x="5852160" y="4983480"/>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Omit both and the market never opens.</a:t>
            </a:r>
            <a:endParaRPr lang="en-US" sz="1150" dirty="0"/>
          </a:p>
        </p:txBody>
      </p:sp>
      <p:sp>
        <p:nvSpPr>
          <p:cNvPr id="36" name="Shape 34"/>
          <p:cNvSpPr/>
          <p:nvPr/>
        </p:nvSpPr>
        <p:spPr>
          <a:xfrm>
            <a:off x="640080" y="5586984"/>
            <a:ext cx="10911535" cy="512064"/>
          </a:xfrm>
          <a:prstGeom prst="roundRect">
            <a:avLst>
              <a:gd name="adj" fmla="val 10714"/>
            </a:avLst>
          </a:prstGeom>
          <a:solidFill>
            <a:srgbClr val="252B33"/>
          </a:solidFill>
          <a:ln w="12700">
            <a:solidFill>
              <a:srgbClr val="3B4450"/>
            </a:solidFill>
            <a:prstDash val="solid"/>
          </a:ln>
        </p:spPr>
        <p:txBody>
          <a:bodyPr/>
          <a:lstStyle/>
          <a:p>
            <a:endParaRPr lang="en-SE"/>
          </a:p>
        </p:txBody>
      </p:sp>
      <p:sp>
        <p:nvSpPr>
          <p:cNvPr id="37" name="Shape 35"/>
          <p:cNvSpPr/>
          <p:nvPr/>
        </p:nvSpPr>
        <p:spPr>
          <a:xfrm>
            <a:off x="841248" y="5733288"/>
            <a:ext cx="219456" cy="219456"/>
          </a:xfrm>
          <a:prstGeom prst="ellipse">
            <a:avLst/>
          </a:prstGeom>
          <a:solidFill>
            <a:srgbClr val="13463F"/>
          </a:solidFill>
          <a:ln w="12700">
            <a:solidFill>
              <a:srgbClr val="34D6BE"/>
            </a:solidFill>
            <a:prstDash val="solid"/>
          </a:ln>
        </p:spPr>
        <p:txBody>
          <a:bodyPr/>
          <a:lstStyle/>
          <a:p>
            <a:endParaRPr lang="en-SE"/>
          </a:p>
        </p:txBody>
      </p:sp>
      <p:sp>
        <p:nvSpPr>
          <p:cNvPr id="38" name="Text 36"/>
          <p:cNvSpPr/>
          <p:nvPr/>
        </p:nvSpPr>
        <p:spPr>
          <a:xfrm>
            <a:off x="841248" y="5733288"/>
            <a:ext cx="219456" cy="219456"/>
          </a:xfrm>
          <a:prstGeom prst="rect">
            <a:avLst/>
          </a:prstGeom>
          <a:noFill/>
          <a:ln/>
        </p:spPr>
        <p:txBody>
          <a:bodyPr wrap="square" lIns="0" tIns="0" rIns="0" bIns="0" rtlCol="0" anchor="ctr"/>
          <a:lstStyle/>
          <a:p>
            <a:pPr marL="0" indent="0" algn="ctr">
              <a:buNone/>
            </a:pPr>
            <a:r>
              <a:rPr lang="en-US" sz="1000" b="1" dirty="0">
                <a:solidFill>
                  <a:srgbClr val="34D6BE"/>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1207008" y="5586984"/>
            <a:ext cx="4480560" cy="512064"/>
          </a:xfrm>
          <a:prstGeom prst="rect">
            <a:avLst/>
          </a:prstGeom>
          <a:noFill/>
          <a:ln/>
        </p:spPr>
        <p:txBody>
          <a:bodyPr wrap="square" lIns="0" tIns="0" rIns="0" bIns="0" rtlCol="0" anchor="ctr"/>
          <a:lstStyle/>
          <a:p>
            <a:pPr marL="0" indent="0">
              <a:buNone/>
            </a:pPr>
            <a:r>
              <a:rPr lang="en-US" sz="1250" b="1" dirty="0">
                <a:solidFill>
                  <a:srgbClr val="F1F4F8"/>
                </a:solidFill>
                <a:latin typeface="Calibri" pitchFamily="34" charset="0"/>
                <a:ea typeface="Calibri" pitchFamily="34" charset="-122"/>
                <a:cs typeface="Calibri" pitchFamily="34" charset="-120"/>
              </a:rPr>
              <a:t>Each symbol that needs liquidity has a seed quote</a:t>
            </a:r>
            <a:endParaRPr lang="en-US" sz="1250" dirty="0"/>
          </a:p>
        </p:txBody>
      </p:sp>
      <p:sp>
        <p:nvSpPr>
          <p:cNvPr id="40" name="Text 38"/>
          <p:cNvSpPr/>
          <p:nvPr/>
        </p:nvSpPr>
        <p:spPr>
          <a:xfrm>
            <a:off x="5852160" y="5586984"/>
            <a:ext cx="5470855" cy="512064"/>
          </a:xfrm>
          <a:prstGeom prst="rect">
            <a:avLst/>
          </a:prstGeom>
          <a:noFill/>
          <a:ln/>
        </p:spPr>
        <p:txBody>
          <a:bodyPr wrap="square" lIns="0" tIns="0" rIns="0" bIns="0" rtlCol="0" anchor="ctr"/>
          <a:lstStyle/>
          <a:p>
            <a:pPr marL="0" indent="0">
              <a:buNone/>
            </a:pPr>
            <a:r>
              <a:rPr lang="en-US" sz="1150" dirty="0">
                <a:solidFill>
                  <a:srgbClr val="8D97A5"/>
                </a:solidFill>
                <a:latin typeface="Calibri" pitchFamily="34" charset="0"/>
                <a:ea typeface="Calibri" pitchFamily="34" charset="-122"/>
                <a:cs typeface="Calibri" pitchFamily="34" charset="-120"/>
              </a:rPr>
              <a:t>Referencing a MARKET_MAKER gateway. Without it the book starts empty.</a:t>
            </a:r>
            <a:endParaRPr lang="en-US" sz="1150" dirty="0"/>
          </a:p>
        </p:txBody>
      </p:sp>
      <p:sp>
        <p:nvSpPr>
          <p:cNvPr id="41" name="Text 3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07 · The minimal configuration</a:t>
            </a:r>
            <a:endParaRPr lang="en-US" sz="950" dirty="0"/>
          </a:p>
        </p:txBody>
      </p:sp>
      <p:sp>
        <p:nvSpPr>
          <p:cNvPr id="42" name="Text 4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08</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08</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What processes read</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from the configuration?</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One shared file, ten readers, and not one of them reads all of it. Understanding this split explains a whole class of confusing failures.</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ownership rule</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The reader map</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Indirect readers</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Two consequences</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OWNERSHIP RULE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No single process reads the whole file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Each process opens the configuration independently at its own startup, ignores every key it does not recognise, and parses only the sections it owns.</a:t>
            </a:r>
            <a:endParaRPr lang="en-US" sz="1450" dirty="0"/>
          </a:p>
        </p:txBody>
      </p:sp>
      <p:sp>
        <p:nvSpPr>
          <p:cNvPr id="6" name="Text 4"/>
          <p:cNvSpPr/>
          <p:nvPr/>
        </p:nvSpPr>
        <p:spPr>
          <a:xfrm>
            <a:off x="640080" y="2011680"/>
            <a:ext cx="2926080" cy="749808"/>
          </a:xfrm>
          <a:prstGeom prst="rect">
            <a:avLst/>
          </a:prstGeom>
          <a:noFill/>
          <a:ln/>
        </p:spPr>
        <p:txBody>
          <a:bodyPr wrap="square" lIns="0" tIns="0" rIns="0" bIns="0" rtlCol="0" anchor="ctr"/>
          <a:lstStyle/>
          <a:p>
            <a:pPr marL="0" indent="0" algn="l">
              <a:buNone/>
            </a:pPr>
            <a:r>
              <a:rPr lang="en-US" sz="4600" b="1" dirty="0">
                <a:solidFill>
                  <a:srgbClr val="34D6BE"/>
                </a:solidFill>
                <a:latin typeface="Trebuchet MS" pitchFamily="34" charset="0"/>
                <a:ea typeface="Trebuchet MS" pitchFamily="34" charset="-122"/>
                <a:cs typeface="Trebuchet MS" pitchFamily="34" charset="-120"/>
              </a:rPr>
              <a:t>10</a:t>
            </a:r>
            <a:endParaRPr lang="en-US" sz="4600" dirty="0"/>
          </a:p>
        </p:txBody>
      </p:sp>
      <p:sp>
        <p:nvSpPr>
          <p:cNvPr id="7" name="Text 5"/>
          <p:cNvSpPr/>
          <p:nvPr/>
        </p:nvSpPr>
        <p:spPr>
          <a:xfrm>
            <a:off x="640080" y="2743200"/>
            <a:ext cx="2926080" cy="457200"/>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processes read from it</a:t>
            </a:r>
            <a:endParaRPr lang="en-US" sz="1150" dirty="0"/>
          </a:p>
        </p:txBody>
      </p:sp>
      <p:sp>
        <p:nvSpPr>
          <p:cNvPr id="8" name="Text 6"/>
          <p:cNvSpPr/>
          <p:nvPr/>
        </p:nvSpPr>
        <p:spPr>
          <a:xfrm>
            <a:off x="3657600" y="2011680"/>
            <a:ext cx="2926080" cy="749808"/>
          </a:xfrm>
          <a:prstGeom prst="rect">
            <a:avLst/>
          </a:prstGeom>
          <a:noFill/>
          <a:ln/>
        </p:spPr>
        <p:txBody>
          <a:bodyPr wrap="square" lIns="0" tIns="0" rIns="0" bIns="0" rtlCol="0" anchor="ctr"/>
          <a:lstStyle/>
          <a:p>
            <a:pPr marL="0" indent="0" algn="l">
              <a:buNone/>
            </a:pPr>
            <a:r>
              <a:rPr lang="en-US" sz="4600" b="1" dirty="0">
                <a:solidFill>
                  <a:srgbClr val="F3B441"/>
                </a:solidFill>
                <a:latin typeface="Trebuchet MS" pitchFamily="34" charset="0"/>
                <a:ea typeface="Trebuchet MS" pitchFamily="34" charset="-122"/>
                <a:cs typeface="Trebuchet MS" pitchFamily="34" charset="-120"/>
              </a:rPr>
              <a:t>1</a:t>
            </a:r>
            <a:endParaRPr lang="en-US" sz="4600" dirty="0"/>
          </a:p>
        </p:txBody>
      </p:sp>
      <p:sp>
        <p:nvSpPr>
          <p:cNvPr id="9" name="Text 7"/>
          <p:cNvSpPr/>
          <p:nvPr/>
        </p:nvSpPr>
        <p:spPr>
          <a:xfrm>
            <a:off x="3657600" y="2743200"/>
            <a:ext cx="2926080" cy="457200"/>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reads most of it</a:t>
            </a:r>
            <a:endParaRPr lang="en-US" sz="1150" dirty="0"/>
          </a:p>
        </p:txBody>
      </p:sp>
      <p:sp>
        <p:nvSpPr>
          <p:cNvPr id="10" name="Text 8"/>
          <p:cNvSpPr/>
          <p:nvPr/>
        </p:nvSpPr>
        <p:spPr>
          <a:xfrm>
            <a:off x="6675120" y="2011680"/>
            <a:ext cx="2926080" cy="749808"/>
          </a:xfrm>
          <a:prstGeom prst="rect">
            <a:avLst/>
          </a:prstGeom>
          <a:noFill/>
          <a:ln/>
        </p:spPr>
        <p:txBody>
          <a:bodyPr wrap="square" lIns="0" tIns="0" rIns="0" bIns="0" rtlCol="0" anchor="ctr"/>
          <a:lstStyle/>
          <a:p>
            <a:pPr marL="0" indent="0" algn="l">
              <a:buNone/>
            </a:pPr>
            <a:r>
              <a:rPr lang="en-US" sz="4600" b="1" dirty="0">
                <a:solidFill>
                  <a:srgbClr val="FF7A6B"/>
                </a:solidFill>
                <a:latin typeface="Trebuchet MS" pitchFamily="34" charset="0"/>
                <a:ea typeface="Trebuchet MS" pitchFamily="34" charset="-122"/>
                <a:cs typeface="Trebuchet MS" pitchFamily="34" charset="-120"/>
              </a:rPr>
              <a:t>0</a:t>
            </a:r>
            <a:endParaRPr lang="en-US" sz="4600" dirty="0"/>
          </a:p>
        </p:txBody>
      </p:sp>
      <p:sp>
        <p:nvSpPr>
          <p:cNvPr id="11" name="Text 9"/>
          <p:cNvSpPr/>
          <p:nvPr/>
        </p:nvSpPr>
        <p:spPr>
          <a:xfrm>
            <a:off x="6675120" y="2743200"/>
            <a:ext cx="2926080" cy="457200"/>
          </a:xfrm>
          <a:prstGeom prst="rect">
            <a:avLst/>
          </a:prstGeom>
          <a:noFill/>
          <a:ln/>
        </p:spPr>
        <p:txBody>
          <a:bodyPr wrap="square" lIns="0" tIns="0" rIns="0" bIns="0" rtlCol="0" anchor="t"/>
          <a:lstStyle/>
          <a:p>
            <a:pPr marL="0" indent="0">
              <a:buNone/>
            </a:pPr>
            <a:r>
              <a:rPr lang="en-US" sz="1150" dirty="0">
                <a:solidFill>
                  <a:srgbClr val="8D97A5"/>
                </a:solidFill>
                <a:latin typeface="Calibri" pitchFamily="34" charset="0"/>
                <a:ea typeface="Calibri" pitchFamily="34" charset="-122"/>
                <a:cs typeface="Calibri" pitchFamily="34" charset="-120"/>
              </a:rPr>
              <a:t>read all of it</a:t>
            </a:r>
            <a:endParaRPr lang="en-US" sz="1150" dirty="0"/>
          </a:p>
        </p:txBody>
      </p:sp>
      <p:sp>
        <p:nvSpPr>
          <p:cNvPr id="12" name="Shape 10"/>
          <p:cNvSpPr/>
          <p:nvPr/>
        </p:nvSpPr>
        <p:spPr>
          <a:xfrm>
            <a:off x="640080" y="3520440"/>
            <a:ext cx="10911535" cy="914400"/>
          </a:xfrm>
          <a:prstGeom prst="roundRect">
            <a:avLst>
              <a:gd name="adj" fmla="val 6000"/>
            </a:avLst>
          </a:prstGeom>
          <a:solidFill>
            <a:srgbClr val="13463F"/>
          </a:solidFill>
          <a:ln w="12700">
            <a:solidFill>
              <a:srgbClr val="34D6BE"/>
            </a:solidFill>
            <a:prstDash val="solid"/>
          </a:ln>
        </p:spPr>
        <p:txBody>
          <a:bodyPr/>
          <a:lstStyle/>
          <a:p>
            <a:endParaRPr lang="en-SE"/>
          </a:p>
        </p:txBody>
      </p:sp>
      <p:sp>
        <p:nvSpPr>
          <p:cNvPr id="13" name="Text 11"/>
          <p:cNvSpPr/>
          <p:nvPr/>
        </p:nvSpPr>
        <p:spPr>
          <a:xfrm>
            <a:off x="877824" y="361188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THE ENGINE IS THE BIGGEST READER — AND STILL NOT THE ONLY ONE</a:t>
            </a:r>
            <a:endParaRPr lang="en-US" sz="950" dirty="0"/>
          </a:p>
        </p:txBody>
      </p:sp>
      <p:sp>
        <p:nvSpPr>
          <p:cNvPr id="14" name="Text 12"/>
          <p:cNvSpPr/>
          <p:nvPr/>
        </p:nvSpPr>
        <p:spPr>
          <a:xfrm>
            <a:off x="877824" y="3867912"/>
            <a:ext cx="10436047" cy="4572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pm-engine reads the symbol universe, the gateway allowlist, the behaviour flags, risk controls, circuit breakers, market-maker obligations, combos, indices and the schedule. It never touches a single one of the seven gateway blocks.</a:t>
            </a:r>
            <a:endParaRPr lang="en-US" sz="1250" dirty="0"/>
          </a:p>
        </p:txBody>
      </p:sp>
      <p:sp>
        <p:nvSpPr>
          <p:cNvPr id="15" name="Shape 13"/>
          <p:cNvSpPr/>
          <p:nvPr/>
        </p:nvSpPr>
        <p:spPr>
          <a:xfrm>
            <a:off x="640080" y="4617720"/>
            <a:ext cx="5349240"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16" name="Shape 14"/>
          <p:cNvSpPr/>
          <p:nvPr/>
        </p:nvSpPr>
        <p:spPr>
          <a:xfrm>
            <a:off x="640994" y="4618634"/>
            <a:ext cx="5347411" cy="50292"/>
          </a:xfrm>
          <a:prstGeom prst="rect">
            <a:avLst/>
          </a:prstGeom>
          <a:solidFill>
            <a:srgbClr val="9B8CFF"/>
          </a:solidFill>
          <a:ln w="12700">
            <a:solidFill>
              <a:srgbClr val="333333"/>
            </a:solidFill>
            <a:prstDash val="solid"/>
          </a:ln>
        </p:spPr>
        <p:txBody>
          <a:bodyPr/>
          <a:lstStyle/>
          <a:p>
            <a:endParaRPr lang="en-SE"/>
          </a:p>
        </p:txBody>
      </p:sp>
      <p:sp>
        <p:nvSpPr>
          <p:cNvPr id="17" name="Text 15"/>
          <p:cNvSpPr/>
          <p:nvPr/>
        </p:nvSpPr>
        <p:spPr>
          <a:xfrm>
            <a:off x="896112" y="4828032"/>
            <a:ext cx="475488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Permissive by design</a:t>
            </a:r>
            <a:endParaRPr lang="en-US" sz="1550" dirty="0"/>
          </a:p>
        </p:txBody>
      </p:sp>
      <p:sp>
        <p:nvSpPr>
          <p:cNvPr id="18" name="Text 16"/>
          <p:cNvSpPr/>
          <p:nvPr/>
        </p:nvSpPr>
        <p:spPr>
          <a:xfrm>
            <a:off x="896112" y="5193792"/>
            <a:ext cx="4800600" cy="100584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A key a loader does not define is ignored, not rejected. That is what lets ten processes share one file — but it also means a typo in a key name is simply invisible to the process reading it.</a:t>
            </a:r>
            <a:endParaRPr lang="en-US" sz="1200" dirty="0"/>
          </a:p>
        </p:txBody>
      </p:sp>
      <p:sp>
        <p:nvSpPr>
          <p:cNvPr id="19" name="Shape 17"/>
          <p:cNvSpPr/>
          <p:nvPr/>
        </p:nvSpPr>
        <p:spPr>
          <a:xfrm>
            <a:off x="6537960" y="4617720"/>
            <a:ext cx="5010912" cy="1691640"/>
          </a:xfrm>
          <a:prstGeom prst="roundRect">
            <a:avLst>
              <a:gd name="adj" fmla="val 3243"/>
            </a:avLst>
          </a:prstGeom>
          <a:solidFill>
            <a:srgbClr val="252B33"/>
          </a:solidFill>
          <a:ln w="12700">
            <a:solidFill>
              <a:srgbClr val="3B4450"/>
            </a:solidFill>
            <a:prstDash val="solid"/>
          </a:ln>
        </p:spPr>
        <p:txBody>
          <a:bodyPr/>
          <a:lstStyle/>
          <a:p>
            <a:endParaRPr lang="en-SE"/>
          </a:p>
        </p:txBody>
      </p:sp>
      <p:sp>
        <p:nvSpPr>
          <p:cNvPr id="20" name="Shape 18"/>
          <p:cNvSpPr/>
          <p:nvPr/>
        </p:nvSpPr>
        <p:spPr>
          <a:xfrm>
            <a:off x="6538874" y="4618634"/>
            <a:ext cx="5009083" cy="50292"/>
          </a:xfrm>
          <a:prstGeom prst="rect">
            <a:avLst/>
          </a:prstGeom>
          <a:solidFill>
            <a:srgbClr val="F3B441"/>
          </a:solidFill>
          <a:ln w="12700">
            <a:solidFill>
              <a:srgbClr val="333333"/>
            </a:solidFill>
            <a:prstDash val="solid"/>
          </a:ln>
        </p:spPr>
        <p:txBody>
          <a:bodyPr/>
          <a:lstStyle/>
          <a:p>
            <a:endParaRPr lang="en-SE"/>
          </a:p>
        </p:txBody>
      </p:sp>
      <p:sp>
        <p:nvSpPr>
          <p:cNvPr id="21" name="Text 19"/>
          <p:cNvSpPr/>
          <p:nvPr/>
        </p:nvSpPr>
        <p:spPr>
          <a:xfrm>
            <a:off x="6793992" y="4828032"/>
            <a:ext cx="4480560" cy="310896"/>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The one exception</a:t>
            </a:r>
            <a:endParaRPr lang="en-US" sz="1550" dirty="0"/>
          </a:p>
        </p:txBody>
      </p:sp>
      <p:sp>
        <p:nvSpPr>
          <p:cNvPr id="22" name="Text 20"/>
          <p:cNvSpPr/>
          <p:nvPr/>
        </p:nvSpPr>
        <p:spPr>
          <a:xfrm>
            <a:off x="6793992" y="5193792"/>
            <a:ext cx="4480560" cy="1005840"/>
          </a:xfrm>
          <a:prstGeom prst="rect">
            <a:avLst/>
          </a:prstGeom>
          <a:noFill/>
          <a:ln/>
        </p:spPr>
        <p:txBody>
          <a:bodyPr wrap="square" lIns="0" tIns="0" rIns="0" bIns="0" rtlCol="0" anchor="t"/>
          <a:lstStyle/>
          <a:p>
            <a:pPr marL="0" indent="0">
              <a:lnSpc>
                <a:spcPts val="1700"/>
              </a:lnSpc>
              <a:buNone/>
            </a:pPr>
            <a:r>
              <a:rPr lang="en-US" sz="1200" dirty="0">
                <a:solidFill>
                  <a:srgbClr val="C2CAD4"/>
                </a:solidFill>
                <a:latin typeface="Calibri" pitchFamily="34" charset="0"/>
                <a:ea typeface="Calibri" pitchFamily="34" charset="-122"/>
                <a:cs typeface="Calibri" pitchFamily="34" charset="-120"/>
              </a:rPr>
              <a:t>pm-cverifier is a static linter, not an operational reader. It parses and cross-validates the whole file — including sections that no running process consumes on its own.</a:t>
            </a:r>
            <a:endParaRPr lang="en-US" sz="1200" dirty="0"/>
          </a:p>
        </p:txBody>
      </p:sp>
      <p:sp>
        <p:nvSpPr>
          <p:cNvPr id="23" name="Text 2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08 · Who reads the configuration</a:t>
            </a:r>
            <a:endParaRPr lang="en-US" sz="950" dirty="0"/>
          </a:p>
        </p:txBody>
      </p:sp>
      <p:sp>
        <p:nvSpPr>
          <p:cNvPr id="24" name="Text 2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READER MAP</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Who reads what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Direct readers. Find your process, and you know which part of the file can possibly affect it.</a:t>
            </a:r>
            <a:endParaRPr lang="en-US" sz="1450" dirty="0"/>
          </a:p>
        </p:txBody>
      </p:sp>
      <p:sp>
        <p:nvSpPr>
          <p:cNvPr id="6" name="Shape 4"/>
          <p:cNvSpPr/>
          <p:nvPr/>
        </p:nvSpPr>
        <p:spPr>
          <a:xfrm>
            <a:off x="640080" y="1920240"/>
            <a:ext cx="10911535"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1920240"/>
            <a:ext cx="1635505"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PROCESS</a:t>
            </a:r>
            <a:endParaRPr lang="en-US" sz="950" dirty="0"/>
          </a:p>
        </p:txBody>
      </p:sp>
      <p:sp>
        <p:nvSpPr>
          <p:cNvPr id="8" name="Text 6"/>
          <p:cNvSpPr/>
          <p:nvPr/>
        </p:nvSpPr>
        <p:spPr>
          <a:xfrm>
            <a:off x="2641345" y="1920240"/>
            <a:ext cx="4254273"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SECTIONS IT READS</a:t>
            </a:r>
            <a:endParaRPr lang="en-US" sz="950" dirty="0"/>
          </a:p>
        </p:txBody>
      </p:sp>
      <p:sp>
        <p:nvSpPr>
          <p:cNvPr id="9" name="Text 7"/>
          <p:cNvSpPr/>
          <p:nvPr/>
        </p:nvSpPr>
        <p:spPr>
          <a:xfrm>
            <a:off x="7115074" y="1920240"/>
            <a:ext cx="4363389"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NEEDS THEM FOR</a:t>
            </a:r>
            <a:endParaRPr lang="en-US" sz="950" dirty="0"/>
          </a:p>
        </p:txBody>
      </p:sp>
      <p:sp>
        <p:nvSpPr>
          <p:cNvPr id="10" name="Shape 8"/>
          <p:cNvSpPr/>
          <p:nvPr/>
        </p:nvSpPr>
        <p:spPr>
          <a:xfrm>
            <a:off x="640080" y="2267712"/>
            <a:ext cx="10911535" cy="502920"/>
          </a:xfrm>
          <a:prstGeom prst="rect">
            <a:avLst/>
          </a:prstGeom>
          <a:solidFill>
            <a:srgbClr val="252B33"/>
          </a:solidFill>
          <a:ln w="12700">
            <a:solidFill>
              <a:srgbClr val="333333"/>
            </a:solidFill>
            <a:prstDash val="solid"/>
          </a:ln>
        </p:spPr>
        <p:txBody>
          <a:bodyPr/>
          <a:lstStyle/>
          <a:p>
            <a:endParaRPr lang="en-SE"/>
          </a:p>
        </p:txBody>
      </p:sp>
      <p:sp>
        <p:nvSpPr>
          <p:cNvPr id="11" name="Text 9"/>
          <p:cNvSpPr/>
          <p:nvPr/>
        </p:nvSpPr>
        <p:spPr>
          <a:xfrm>
            <a:off x="786384" y="2267712"/>
            <a:ext cx="1635505" cy="502920"/>
          </a:xfrm>
          <a:prstGeom prst="rect">
            <a:avLst/>
          </a:prstGeom>
          <a:noFill/>
          <a:ln/>
        </p:spPr>
        <p:txBody>
          <a:bodyPr wrap="square" lIns="0" tIns="0" rIns="0" bIns="0" rtlCol="0" anchor="ctr"/>
          <a:lstStyle/>
          <a:p>
            <a:pPr marL="0" indent="0" algn="l">
              <a:buNone/>
            </a:pPr>
            <a:r>
              <a:rPr lang="en-US" sz="1100" dirty="0">
                <a:solidFill>
                  <a:srgbClr val="34D6BE"/>
                </a:solidFill>
                <a:latin typeface="Consolas" pitchFamily="34" charset="0"/>
                <a:ea typeface="Consolas" pitchFamily="34" charset="-122"/>
                <a:cs typeface="Consolas" pitchFamily="34" charset="-120"/>
              </a:rPr>
              <a:t>pm-engine</a:t>
            </a:r>
            <a:endParaRPr lang="en-US" sz="1100" dirty="0"/>
          </a:p>
        </p:txBody>
      </p:sp>
      <p:sp>
        <p:nvSpPr>
          <p:cNvPr id="12" name="Text 10"/>
          <p:cNvSpPr/>
          <p:nvPr/>
        </p:nvSpPr>
        <p:spPr>
          <a:xfrm>
            <a:off x="2641345" y="226771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symbols · gateways.alf · behaviour flags · risk_controls · circuit_breaker_defaults · mm_obligation_defaults · market_maker_combos · schedule · indices</a:t>
            </a:r>
            <a:endParaRPr lang="en-US" sz="1100" dirty="0"/>
          </a:p>
        </p:txBody>
      </p:sp>
      <p:sp>
        <p:nvSpPr>
          <p:cNvPr id="13" name="Text 11"/>
          <p:cNvSpPr/>
          <p:nvPr/>
        </p:nvSpPr>
        <p:spPr>
          <a:xfrm>
            <a:off x="7115074" y="226771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The market itself: universe, access, session and risk policy, obligations, startup seeds</a:t>
            </a:r>
            <a:endParaRPr lang="en-US" sz="1100" dirty="0"/>
          </a:p>
        </p:txBody>
      </p:sp>
      <p:sp>
        <p:nvSpPr>
          <p:cNvPr id="14" name="Text 12"/>
          <p:cNvSpPr/>
          <p:nvPr/>
        </p:nvSpPr>
        <p:spPr>
          <a:xfrm>
            <a:off x="786384" y="2770632"/>
            <a:ext cx="1635505" cy="502920"/>
          </a:xfrm>
          <a:prstGeom prst="rect">
            <a:avLst/>
          </a:prstGeom>
          <a:noFill/>
          <a:ln/>
        </p:spPr>
        <p:txBody>
          <a:bodyPr wrap="square" lIns="0" tIns="0" rIns="0" bIns="0" rtlCol="0" anchor="ctr"/>
          <a:lstStyle/>
          <a:p>
            <a:pPr marL="0" indent="0" algn="l">
              <a:buNone/>
            </a:pPr>
            <a:r>
              <a:rPr lang="en-US" sz="1100" dirty="0">
                <a:solidFill>
                  <a:srgbClr val="5AB2F7"/>
                </a:solidFill>
                <a:latin typeface="Consolas" pitchFamily="34" charset="0"/>
                <a:ea typeface="Consolas" pitchFamily="34" charset="-122"/>
                <a:cs typeface="Consolas" pitchFamily="34" charset="-120"/>
              </a:rPr>
              <a:t>pm-alf-gwy</a:t>
            </a:r>
            <a:endParaRPr lang="en-US" sz="1100" dirty="0"/>
          </a:p>
        </p:txBody>
      </p:sp>
      <p:sp>
        <p:nvSpPr>
          <p:cNvPr id="15" name="Text 13"/>
          <p:cNvSpPr/>
          <p:nvPr/>
        </p:nvSpPr>
        <p:spPr>
          <a:xfrm>
            <a:off x="2641345" y="277063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alf_gateway · gateways.alf</a:t>
            </a:r>
            <a:endParaRPr lang="en-US" sz="1100" dirty="0"/>
          </a:p>
        </p:txBody>
      </p:sp>
      <p:sp>
        <p:nvSpPr>
          <p:cNvPr id="16" name="Text 14"/>
          <p:cNvSpPr/>
          <p:nvPr/>
        </p:nvSpPr>
        <p:spPr>
          <a:xfrm>
            <a:off x="7115074" y="277063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Its own bind address, port and timeouts, plus the gateway allowlist and roles</a:t>
            </a:r>
            <a:endParaRPr lang="en-US" sz="1100" dirty="0"/>
          </a:p>
        </p:txBody>
      </p:sp>
      <p:sp>
        <p:nvSpPr>
          <p:cNvPr id="17" name="Shape 15"/>
          <p:cNvSpPr/>
          <p:nvPr/>
        </p:nvSpPr>
        <p:spPr>
          <a:xfrm>
            <a:off x="640080" y="3273552"/>
            <a:ext cx="10911535" cy="502920"/>
          </a:xfrm>
          <a:prstGeom prst="rect">
            <a:avLst/>
          </a:prstGeom>
          <a:solidFill>
            <a:srgbClr val="252B33"/>
          </a:solidFill>
          <a:ln w="12700">
            <a:solidFill>
              <a:srgbClr val="333333"/>
            </a:solidFill>
            <a:prstDash val="solid"/>
          </a:ln>
        </p:spPr>
        <p:txBody>
          <a:bodyPr/>
          <a:lstStyle/>
          <a:p>
            <a:endParaRPr lang="en-SE"/>
          </a:p>
        </p:txBody>
      </p:sp>
      <p:sp>
        <p:nvSpPr>
          <p:cNvPr id="18" name="Text 16"/>
          <p:cNvSpPr/>
          <p:nvPr/>
        </p:nvSpPr>
        <p:spPr>
          <a:xfrm>
            <a:off x="786384" y="3273552"/>
            <a:ext cx="1635505" cy="502920"/>
          </a:xfrm>
          <a:prstGeom prst="rect">
            <a:avLst/>
          </a:prstGeom>
          <a:noFill/>
          <a:ln/>
        </p:spPr>
        <p:txBody>
          <a:bodyPr wrap="square" lIns="0" tIns="0" rIns="0" bIns="0" rtlCol="0" anchor="ctr"/>
          <a:lstStyle/>
          <a:p>
            <a:pPr marL="0" indent="0" algn="l">
              <a:buNone/>
            </a:pPr>
            <a:r>
              <a:rPr lang="en-US" sz="1100" dirty="0">
                <a:solidFill>
                  <a:srgbClr val="5AB2F7"/>
                </a:solidFill>
                <a:latin typeface="Consolas" pitchFamily="34" charset="0"/>
                <a:ea typeface="Consolas" pitchFamily="34" charset="-122"/>
                <a:cs typeface="Consolas" pitchFamily="34" charset="-120"/>
              </a:rPr>
              <a:t>pm-balf-gwy</a:t>
            </a:r>
            <a:endParaRPr lang="en-US" sz="1100" dirty="0"/>
          </a:p>
        </p:txBody>
      </p:sp>
      <p:sp>
        <p:nvSpPr>
          <p:cNvPr id="19" name="Text 17"/>
          <p:cNvSpPr/>
          <p:nvPr/>
        </p:nvSpPr>
        <p:spPr>
          <a:xfrm>
            <a:off x="2641345" y="327355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balf_gateway · gateways.alf</a:t>
            </a:r>
            <a:endParaRPr lang="en-US" sz="1100" dirty="0"/>
          </a:p>
        </p:txBody>
      </p:sp>
      <p:sp>
        <p:nvSpPr>
          <p:cNvPr id="20" name="Text 18"/>
          <p:cNvSpPr/>
          <p:nvPr/>
        </p:nvSpPr>
        <p:spPr>
          <a:xfrm>
            <a:off x="7115074" y="327355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The same, plus each gateway's disconnect behaviour for binary sessions</a:t>
            </a:r>
            <a:endParaRPr lang="en-US" sz="1100" dirty="0"/>
          </a:p>
        </p:txBody>
      </p:sp>
      <p:sp>
        <p:nvSpPr>
          <p:cNvPr id="21" name="Text 19"/>
          <p:cNvSpPr/>
          <p:nvPr/>
        </p:nvSpPr>
        <p:spPr>
          <a:xfrm>
            <a:off x="786384" y="3776472"/>
            <a:ext cx="1635505" cy="502920"/>
          </a:xfrm>
          <a:prstGeom prst="rect">
            <a:avLst/>
          </a:prstGeom>
          <a:noFill/>
          <a:ln/>
        </p:spPr>
        <p:txBody>
          <a:bodyPr wrap="square" lIns="0" tIns="0" rIns="0" bIns="0" rtlCol="0" anchor="ctr"/>
          <a:lstStyle/>
          <a:p>
            <a:pPr marL="0" indent="0" algn="l">
              <a:buNone/>
            </a:pPr>
            <a:r>
              <a:rPr lang="en-US" sz="1100" dirty="0">
                <a:solidFill>
                  <a:srgbClr val="9B8CFF"/>
                </a:solidFill>
                <a:latin typeface="Consolas" pitchFamily="34" charset="0"/>
                <a:ea typeface="Consolas" pitchFamily="34" charset="-122"/>
                <a:cs typeface="Consolas" pitchFamily="34" charset="-120"/>
              </a:rPr>
              <a:t>pm-md-gwy</a:t>
            </a:r>
            <a:endParaRPr lang="en-US" sz="1100" dirty="0"/>
          </a:p>
        </p:txBody>
      </p:sp>
      <p:sp>
        <p:nvSpPr>
          <p:cNvPr id="22" name="Text 20"/>
          <p:cNvSpPr/>
          <p:nvPr/>
        </p:nvSpPr>
        <p:spPr>
          <a:xfrm>
            <a:off x="2641345" y="377647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market_data_gateway</a:t>
            </a:r>
            <a:endParaRPr lang="en-US" sz="1100" dirty="0"/>
          </a:p>
        </p:txBody>
      </p:sp>
      <p:sp>
        <p:nvSpPr>
          <p:cNvPr id="23" name="Text 21"/>
          <p:cNvSpPr/>
          <p:nvPr/>
        </p:nvSpPr>
        <p:spPr>
          <a:xfrm>
            <a:off x="7115074" y="377647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Bind settings, the replay window and how many depth levels to publish</a:t>
            </a:r>
            <a:endParaRPr lang="en-US" sz="1100" dirty="0"/>
          </a:p>
        </p:txBody>
      </p:sp>
      <p:sp>
        <p:nvSpPr>
          <p:cNvPr id="24" name="Shape 22"/>
          <p:cNvSpPr/>
          <p:nvPr/>
        </p:nvSpPr>
        <p:spPr>
          <a:xfrm>
            <a:off x="640080" y="4279392"/>
            <a:ext cx="10911535" cy="502920"/>
          </a:xfrm>
          <a:prstGeom prst="rect">
            <a:avLst/>
          </a:prstGeom>
          <a:solidFill>
            <a:srgbClr val="252B33"/>
          </a:solidFill>
          <a:ln w="12700">
            <a:solidFill>
              <a:srgbClr val="333333"/>
            </a:solidFill>
            <a:prstDash val="solid"/>
          </a:ln>
        </p:spPr>
        <p:txBody>
          <a:bodyPr/>
          <a:lstStyle/>
          <a:p>
            <a:endParaRPr lang="en-SE"/>
          </a:p>
        </p:txBody>
      </p:sp>
      <p:sp>
        <p:nvSpPr>
          <p:cNvPr id="25" name="Text 23"/>
          <p:cNvSpPr/>
          <p:nvPr/>
        </p:nvSpPr>
        <p:spPr>
          <a:xfrm>
            <a:off x="786384" y="4279392"/>
            <a:ext cx="1635505" cy="502920"/>
          </a:xfrm>
          <a:prstGeom prst="rect">
            <a:avLst/>
          </a:prstGeom>
          <a:noFill/>
          <a:ln/>
        </p:spPr>
        <p:txBody>
          <a:bodyPr wrap="square" lIns="0" tIns="0" rIns="0" bIns="0" rtlCol="0" anchor="ctr"/>
          <a:lstStyle/>
          <a:p>
            <a:pPr marL="0" indent="0" algn="l">
              <a:buNone/>
            </a:pPr>
            <a:r>
              <a:rPr lang="en-US" sz="1100" dirty="0">
                <a:solidFill>
                  <a:srgbClr val="F3B441"/>
                </a:solidFill>
                <a:latin typeface="Consolas" pitchFamily="34" charset="0"/>
                <a:ea typeface="Consolas" pitchFamily="34" charset="-122"/>
                <a:cs typeface="Consolas" pitchFamily="34" charset="-120"/>
              </a:rPr>
              <a:t>pm-ralf-gwy</a:t>
            </a:r>
            <a:endParaRPr lang="en-US" sz="1100" dirty="0"/>
          </a:p>
        </p:txBody>
      </p:sp>
      <p:sp>
        <p:nvSpPr>
          <p:cNvPr id="26" name="Text 24"/>
          <p:cNvSpPr/>
          <p:nvPr/>
        </p:nvSpPr>
        <p:spPr>
          <a:xfrm>
            <a:off x="2641345" y="427939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post_trade_gateway</a:t>
            </a:r>
            <a:endParaRPr lang="en-US" sz="1100" dirty="0"/>
          </a:p>
        </p:txBody>
      </p:sp>
      <p:sp>
        <p:nvSpPr>
          <p:cNvPr id="27" name="Text 25"/>
          <p:cNvSpPr/>
          <p:nvPr/>
        </p:nvSpPr>
        <p:spPr>
          <a:xfrm>
            <a:off x="7115074" y="427939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Bind settings and the roles allowed to subscribe to post-trade data</a:t>
            </a:r>
            <a:endParaRPr lang="en-US" sz="1100" dirty="0"/>
          </a:p>
        </p:txBody>
      </p:sp>
      <p:sp>
        <p:nvSpPr>
          <p:cNvPr id="28" name="Text 26"/>
          <p:cNvSpPr/>
          <p:nvPr/>
        </p:nvSpPr>
        <p:spPr>
          <a:xfrm>
            <a:off x="786384" y="4782312"/>
            <a:ext cx="1635505" cy="502920"/>
          </a:xfrm>
          <a:prstGeom prst="rect">
            <a:avLst/>
          </a:prstGeom>
          <a:noFill/>
          <a:ln/>
        </p:spPr>
        <p:txBody>
          <a:bodyPr wrap="square" lIns="0" tIns="0" rIns="0" bIns="0" rtlCol="0" anchor="ctr"/>
          <a:lstStyle/>
          <a:p>
            <a:pPr marL="0" indent="0" algn="l">
              <a:buNone/>
            </a:pPr>
            <a:r>
              <a:rPr lang="en-US" sz="1100" dirty="0">
                <a:solidFill>
                  <a:srgbClr val="F3B441"/>
                </a:solidFill>
                <a:latin typeface="Consolas" pitchFamily="34" charset="0"/>
                <a:ea typeface="Consolas" pitchFamily="34" charset="-122"/>
                <a:cs typeface="Consolas" pitchFamily="34" charset="-120"/>
              </a:rPr>
              <a:t>pm-dc-gwy</a:t>
            </a:r>
            <a:endParaRPr lang="en-US" sz="1100" dirty="0"/>
          </a:p>
        </p:txBody>
      </p:sp>
      <p:sp>
        <p:nvSpPr>
          <p:cNvPr id="29" name="Text 27"/>
          <p:cNvSpPr/>
          <p:nvPr/>
        </p:nvSpPr>
        <p:spPr>
          <a:xfrm>
            <a:off x="2641345" y="478231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dc_gateway</a:t>
            </a:r>
            <a:endParaRPr lang="en-US" sz="1100" dirty="0"/>
          </a:p>
        </p:txBody>
      </p:sp>
      <p:sp>
        <p:nvSpPr>
          <p:cNvPr id="30" name="Text 28"/>
          <p:cNvSpPr/>
          <p:nvPr/>
        </p:nvSpPr>
        <p:spPr>
          <a:xfrm>
            <a:off x="7115074" y="478231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Bind settings and the per-client queue limit for the drop-copy relay</a:t>
            </a:r>
            <a:endParaRPr lang="en-US" sz="1100" dirty="0"/>
          </a:p>
        </p:txBody>
      </p:sp>
      <p:sp>
        <p:nvSpPr>
          <p:cNvPr id="31" name="Shape 29"/>
          <p:cNvSpPr/>
          <p:nvPr/>
        </p:nvSpPr>
        <p:spPr>
          <a:xfrm>
            <a:off x="640080" y="5285232"/>
            <a:ext cx="10911535" cy="502920"/>
          </a:xfrm>
          <a:prstGeom prst="rect">
            <a:avLst/>
          </a:prstGeom>
          <a:solidFill>
            <a:srgbClr val="252B33"/>
          </a:solidFill>
          <a:ln w="12700">
            <a:solidFill>
              <a:srgbClr val="333333"/>
            </a:solidFill>
            <a:prstDash val="solid"/>
          </a:ln>
        </p:spPr>
        <p:txBody>
          <a:bodyPr/>
          <a:lstStyle/>
          <a:p>
            <a:endParaRPr lang="en-SE"/>
          </a:p>
        </p:txBody>
      </p:sp>
      <p:sp>
        <p:nvSpPr>
          <p:cNvPr id="32" name="Text 30"/>
          <p:cNvSpPr/>
          <p:nvPr/>
        </p:nvSpPr>
        <p:spPr>
          <a:xfrm>
            <a:off x="786384" y="5285232"/>
            <a:ext cx="1635505" cy="502920"/>
          </a:xfrm>
          <a:prstGeom prst="rect">
            <a:avLst/>
          </a:prstGeom>
          <a:noFill/>
          <a:ln/>
        </p:spPr>
        <p:txBody>
          <a:bodyPr wrap="square" lIns="0" tIns="0" rIns="0" bIns="0" rtlCol="0" anchor="ctr"/>
          <a:lstStyle/>
          <a:p>
            <a:pPr marL="0" indent="0" algn="l">
              <a:buNone/>
            </a:pPr>
            <a:r>
              <a:rPr lang="en-US" sz="1100" dirty="0">
                <a:solidFill>
                  <a:srgbClr val="FF7A6B"/>
                </a:solidFill>
                <a:latin typeface="Consolas" pitchFamily="34" charset="0"/>
                <a:ea typeface="Consolas" pitchFamily="34" charset="-122"/>
                <a:cs typeface="Consolas" pitchFamily="34" charset="-120"/>
              </a:rPr>
              <a:t>pm-api-gwy</a:t>
            </a:r>
            <a:endParaRPr lang="en-US" sz="1100" dirty="0"/>
          </a:p>
        </p:txBody>
      </p:sp>
      <p:sp>
        <p:nvSpPr>
          <p:cNvPr id="33" name="Text 31"/>
          <p:cNvSpPr/>
          <p:nvPr/>
        </p:nvSpPr>
        <p:spPr>
          <a:xfrm>
            <a:off x="2641345" y="528523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api_gateways</a:t>
            </a:r>
            <a:endParaRPr lang="en-US" sz="1100" dirty="0"/>
          </a:p>
        </p:txBody>
      </p:sp>
      <p:sp>
        <p:nvSpPr>
          <p:cNvPr id="34" name="Text 32"/>
          <p:cNvSpPr/>
          <p:nvPr/>
        </p:nvSpPr>
        <p:spPr>
          <a:xfrm>
            <a:off x="7115074" y="528523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Named REST and WebSocket instances, credentials, rate limits and timeouts</a:t>
            </a:r>
            <a:endParaRPr lang="en-US" sz="1100" dirty="0"/>
          </a:p>
        </p:txBody>
      </p:sp>
      <p:sp>
        <p:nvSpPr>
          <p:cNvPr id="35" name="Text 33"/>
          <p:cNvSpPr/>
          <p:nvPr/>
        </p:nvSpPr>
        <p:spPr>
          <a:xfrm>
            <a:off x="786384" y="5788152"/>
            <a:ext cx="1635505" cy="502920"/>
          </a:xfrm>
          <a:prstGeom prst="rect">
            <a:avLst/>
          </a:prstGeom>
          <a:noFill/>
          <a:ln/>
        </p:spPr>
        <p:txBody>
          <a:bodyPr wrap="square" lIns="0" tIns="0" rIns="0" bIns="0" rtlCol="0" anchor="ctr"/>
          <a:lstStyle/>
          <a:p>
            <a:pPr marL="0" indent="0" algn="l">
              <a:buNone/>
            </a:pPr>
            <a:r>
              <a:rPr lang="en-US" sz="1100" dirty="0">
                <a:solidFill>
                  <a:srgbClr val="6BD98A"/>
                </a:solidFill>
                <a:latin typeface="Consolas" pitchFamily="34" charset="0"/>
                <a:ea typeface="Consolas" pitchFamily="34" charset="-122"/>
                <a:cs typeface="Consolas" pitchFamily="34" charset="-120"/>
              </a:rPr>
              <a:t>pm-log-srv</a:t>
            </a:r>
            <a:endParaRPr lang="en-US" sz="1100" dirty="0"/>
          </a:p>
        </p:txBody>
      </p:sp>
      <p:sp>
        <p:nvSpPr>
          <p:cNvPr id="36" name="Text 34"/>
          <p:cNvSpPr/>
          <p:nvPr/>
        </p:nvSpPr>
        <p:spPr>
          <a:xfrm>
            <a:off x="2641345" y="5788152"/>
            <a:ext cx="4254273"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log_server</a:t>
            </a:r>
            <a:endParaRPr lang="en-US" sz="1100" dirty="0"/>
          </a:p>
        </p:txBody>
      </p:sp>
      <p:sp>
        <p:nvSpPr>
          <p:cNvPr id="37" name="Text 35"/>
          <p:cNvSpPr/>
          <p:nvPr/>
        </p:nvSpPr>
        <p:spPr>
          <a:xfrm>
            <a:off x="7115074" y="5788152"/>
            <a:ext cx="4363389" cy="502920"/>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Bind, retention and throughput settings for the central log collector</a:t>
            </a:r>
            <a:endParaRPr lang="en-US" sz="1100" dirty="0"/>
          </a:p>
        </p:txBody>
      </p:sp>
      <p:sp>
        <p:nvSpPr>
          <p:cNvPr id="38" name="Text 3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08 · Who reads the configuration</a:t>
            </a:r>
            <a:endParaRPr lang="en-US" sz="950" dirty="0"/>
          </a:p>
        </p:txBody>
      </p:sp>
      <p:sp>
        <p:nvSpPr>
          <p:cNvPr id="39" name="Text 3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THE READER MAP</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Indirect readers, and why they matter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Two processes read the config through another process's loader, and one reads it without running anything at all.</a:t>
            </a:r>
            <a:endParaRPr lang="en-US" sz="1450" dirty="0"/>
          </a:p>
        </p:txBody>
      </p:sp>
      <p:sp>
        <p:nvSpPr>
          <p:cNvPr id="6" name="Shape 4"/>
          <p:cNvSpPr/>
          <p:nvPr/>
        </p:nvSpPr>
        <p:spPr>
          <a:xfrm>
            <a:off x="640080" y="2011680"/>
            <a:ext cx="3520440" cy="2468880"/>
          </a:xfrm>
          <a:prstGeom prst="roundRect">
            <a:avLst>
              <a:gd name="adj" fmla="val 2222"/>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3518611" cy="50292"/>
          </a:xfrm>
          <a:prstGeom prst="rect">
            <a:avLst/>
          </a:prstGeom>
          <a:solidFill>
            <a:srgbClr val="9B8CFF"/>
          </a:solidFill>
          <a:ln w="12700">
            <a:solidFill>
              <a:srgbClr val="333333"/>
            </a:solidFill>
            <a:prstDash val="solid"/>
          </a:ln>
        </p:spPr>
        <p:txBody>
          <a:bodyPr/>
          <a:lstStyle/>
          <a:p>
            <a:endParaRPr lang="en-SE"/>
          </a:p>
        </p:txBody>
      </p:sp>
      <p:sp>
        <p:nvSpPr>
          <p:cNvPr id="8" name="Text 6"/>
          <p:cNvSpPr/>
          <p:nvPr/>
        </p:nvSpPr>
        <p:spPr>
          <a:xfrm>
            <a:off x="877824" y="2286000"/>
            <a:ext cx="3044952" cy="219456"/>
          </a:xfrm>
          <a:prstGeom prst="rect">
            <a:avLst/>
          </a:prstGeom>
          <a:noFill/>
          <a:ln/>
        </p:spPr>
        <p:txBody>
          <a:bodyPr wrap="square" lIns="0" tIns="0" rIns="0" bIns="0" rtlCol="0" anchor="ctr"/>
          <a:lstStyle/>
          <a:p>
            <a:pPr marL="0" indent="0">
              <a:buNone/>
            </a:pPr>
            <a:r>
              <a:rPr lang="en-US" sz="900" b="1" kern="0" spc="160" dirty="0">
                <a:solidFill>
                  <a:srgbClr val="9B8CFF"/>
                </a:solidFill>
                <a:latin typeface="Calibri" pitchFamily="34" charset="0"/>
                <a:ea typeface="Calibri" pitchFamily="34" charset="-122"/>
                <a:cs typeface="Calibri" pitchFamily="34" charset="-120"/>
              </a:rPr>
              <a:t>INDIRECT</a:t>
            </a:r>
            <a:endParaRPr lang="en-US" sz="900" dirty="0"/>
          </a:p>
        </p:txBody>
      </p:sp>
      <p:sp>
        <p:nvSpPr>
          <p:cNvPr id="9" name="Text 7"/>
          <p:cNvSpPr/>
          <p:nvPr/>
        </p:nvSpPr>
        <p:spPr>
          <a:xfrm>
            <a:off x="877824" y="256032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pm-index</a:t>
            </a:r>
            <a:endParaRPr lang="en-US" sz="1550" dirty="0"/>
          </a:p>
        </p:txBody>
      </p:sp>
      <p:sp>
        <p:nvSpPr>
          <p:cNvPr id="10" name="Text 8"/>
          <p:cNvSpPr/>
          <p:nvPr/>
        </p:nvSpPr>
        <p:spPr>
          <a:xfrm>
            <a:off x="877824" y="2944368"/>
            <a:ext cx="3044952" cy="137160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Reads the index definitions plus, for every constituent, the outstanding share count and the reference prices.</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It wraps the engine's own loader rather than defining its own — which is why an index constituent missing a share count is an error the engine would never have raised on its own.</a:t>
            </a:r>
            <a:endParaRPr lang="en-US" sz="1150" dirty="0"/>
          </a:p>
        </p:txBody>
      </p:sp>
      <p:sp>
        <p:nvSpPr>
          <p:cNvPr id="11" name="Shape 9"/>
          <p:cNvSpPr/>
          <p:nvPr/>
        </p:nvSpPr>
        <p:spPr>
          <a:xfrm>
            <a:off x="4343400" y="2011680"/>
            <a:ext cx="3520440" cy="2468880"/>
          </a:xfrm>
          <a:prstGeom prst="roundRect">
            <a:avLst>
              <a:gd name="adj" fmla="val 2222"/>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4344314" y="2012594"/>
            <a:ext cx="3518611" cy="50292"/>
          </a:xfrm>
          <a:prstGeom prst="rect">
            <a:avLst/>
          </a:prstGeom>
          <a:solidFill>
            <a:srgbClr val="6BD98A"/>
          </a:solidFill>
          <a:ln w="12700">
            <a:solidFill>
              <a:srgbClr val="333333"/>
            </a:solidFill>
            <a:prstDash val="solid"/>
          </a:ln>
        </p:spPr>
        <p:txBody>
          <a:bodyPr/>
          <a:lstStyle/>
          <a:p>
            <a:endParaRPr lang="en-SE"/>
          </a:p>
        </p:txBody>
      </p:sp>
      <p:sp>
        <p:nvSpPr>
          <p:cNvPr id="13" name="Text 11"/>
          <p:cNvSpPr/>
          <p:nvPr/>
        </p:nvSpPr>
        <p:spPr>
          <a:xfrm>
            <a:off x="4581144" y="2286000"/>
            <a:ext cx="3044952" cy="219456"/>
          </a:xfrm>
          <a:prstGeom prst="rect">
            <a:avLst/>
          </a:prstGeom>
          <a:noFill/>
          <a:ln/>
        </p:spPr>
        <p:txBody>
          <a:bodyPr wrap="square" lIns="0" tIns="0" rIns="0" bIns="0" rtlCol="0" anchor="ctr"/>
          <a:lstStyle/>
          <a:p>
            <a:pPr marL="0" indent="0">
              <a:buNone/>
            </a:pPr>
            <a:r>
              <a:rPr lang="en-US" sz="900" b="1" kern="0" spc="160" dirty="0">
                <a:solidFill>
                  <a:srgbClr val="6BD98A"/>
                </a:solidFill>
                <a:latin typeface="Calibri" pitchFamily="34" charset="0"/>
                <a:ea typeface="Calibri" pitchFamily="34" charset="-122"/>
                <a:cs typeface="Calibri" pitchFamily="34" charset="-120"/>
              </a:rPr>
              <a:t>INDEPENDENT</a:t>
            </a:r>
            <a:endParaRPr lang="en-US" sz="900" dirty="0"/>
          </a:p>
        </p:txBody>
      </p:sp>
      <p:sp>
        <p:nvSpPr>
          <p:cNvPr id="14" name="Text 12"/>
          <p:cNvSpPr/>
          <p:nvPr/>
        </p:nvSpPr>
        <p:spPr>
          <a:xfrm>
            <a:off x="4581144" y="2560320"/>
            <a:ext cx="3044952"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pm-scheduler</a:t>
            </a:r>
            <a:endParaRPr lang="en-US" sz="1550" dirty="0"/>
          </a:p>
        </p:txBody>
      </p:sp>
      <p:sp>
        <p:nvSpPr>
          <p:cNvPr id="15" name="Text 13"/>
          <p:cNvSpPr/>
          <p:nvPr/>
        </p:nvSpPr>
        <p:spPr>
          <a:xfrm>
            <a:off x="4581144" y="2944368"/>
            <a:ext cx="3044952" cy="137160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Reads only the schedule and the country.</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It re-reads the same schedule block the engine reads, but as an independent process — so the trading day can be driven or tested from outside. The country is used to skip weekends and bank holidays.</a:t>
            </a:r>
            <a:endParaRPr lang="en-US" sz="1150" dirty="0"/>
          </a:p>
        </p:txBody>
      </p:sp>
      <p:sp>
        <p:nvSpPr>
          <p:cNvPr id="16" name="Shape 14"/>
          <p:cNvSpPr/>
          <p:nvPr/>
        </p:nvSpPr>
        <p:spPr>
          <a:xfrm>
            <a:off x="8046720" y="2011680"/>
            <a:ext cx="3502152" cy="2468880"/>
          </a:xfrm>
          <a:prstGeom prst="roundRect">
            <a:avLst>
              <a:gd name="adj" fmla="val 2222"/>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8047634" y="2012594"/>
            <a:ext cx="3500323" cy="50292"/>
          </a:xfrm>
          <a:prstGeom prst="rect">
            <a:avLst/>
          </a:prstGeom>
          <a:solidFill>
            <a:srgbClr val="34D6BE"/>
          </a:solidFill>
          <a:ln w="12700">
            <a:solidFill>
              <a:srgbClr val="333333"/>
            </a:solidFill>
            <a:prstDash val="solid"/>
          </a:ln>
        </p:spPr>
        <p:txBody>
          <a:bodyPr/>
          <a:lstStyle/>
          <a:p>
            <a:endParaRPr lang="en-SE"/>
          </a:p>
        </p:txBody>
      </p:sp>
      <p:sp>
        <p:nvSpPr>
          <p:cNvPr id="18" name="Text 16"/>
          <p:cNvSpPr/>
          <p:nvPr/>
        </p:nvSpPr>
        <p:spPr>
          <a:xfrm>
            <a:off x="8284464" y="2286000"/>
            <a:ext cx="3026664" cy="219456"/>
          </a:xfrm>
          <a:prstGeom prst="rect">
            <a:avLst/>
          </a:prstGeom>
          <a:noFill/>
          <a:ln/>
        </p:spPr>
        <p:txBody>
          <a:bodyPr wrap="square" lIns="0" tIns="0" rIns="0" bIns="0" rtlCol="0" anchor="ctr"/>
          <a:lstStyle/>
          <a:p>
            <a:pPr marL="0" indent="0">
              <a:buNone/>
            </a:pPr>
            <a:r>
              <a:rPr lang="en-US" sz="900" b="1" kern="0" spc="160" dirty="0">
                <a:solidFill>
                  <a:srgbClr val="34D6BE"/>
                </a:solidFill>
                <a:latin typeface="Calibri" pitchFamily="34" charset="0"/>
                <a:ea typeface="Calibri" pitchFamily="34" charset="-122"/>
                <a:cs typeface="Calibri" pitchFamily="34" charset="-120"/>
              </a:rPr>
              <a:t>EVERYTHING</a:t>
            </a:r>
            <a:endParaRPr lang="en-US" sz="900" dirty="0"/>
          </a:p>
        </p:txBody>
      </p:sp>
      <p:sp>
        <p:nvSpPr>
          <p:cNvPr id="19" name="Text 17"/>
          <p:cNvSpPr/>
          <p:nvPr/>
        </p:nvSpPr>
        <p:spPr>
          <a:xfrm>
            <a:off x="8284464" y="2560320"/>
            <a:ext cx="3026664" cy="329184"/>
          </a:xfrm>
          <a:prstGeom prst="rect">
            <a:avLst/>
          </a:prstGeom>
          <a:noFill/>
          <a:ln/>
        </p:spPr>
        <p:txBody>
          <a:bodyPr wrap="square" lIns="0" tIns="0" rIns="0" bIns="0" rtlCol="0" anchor="ctr"/>
          <a:lstStyle/>
          <a:p>
            <a:pPr marL="0" indent="0">
              <a:buNone/>
            </a:pPr>
            <a:r>
              <a:rPr lang="en-US" sz="1550" b="1" dirty="0">
                <a:solidFill>
                  <a:srgbClr val="F1F4F8"/>
                </a:solidFill>
                <a:latin typeface="Trebuchet MS" pitchFamily="34" charset="0"/>
                <a:ea typeface="Trebuchet MS" pitchFamily="34" charset="-122"/>
                <a:cs typeface="Trebuchet MS" pitchFamily="34" charset="-120"/>
              </a:rPr>
              <a:t>pm-cverifier</a:t>
            </a:r>
            <a:endParaRPr lang="en-US" sz="1550" dirty="0"/>
          </a:p>
        </p:txBody>
      </p:sp>
      <p:sp>
        <p:nvSpPr>
          <p:cNvPr id="20" name="Text 18"/>
          <p:cNvSpPr/>
          <p:nvPr/>
        </p:nvSpPr>
        <p:spPr>
          <a:xfrm>
            <a:off x="8284464" y="2944368"/>
            <a:ext cx="3026664" cy="1371600"/>
          </a:xfrm>
          <a:prstGeom prst="rect">
            <a:avLst/>
          </a:prstGeom>
          <a:noFill/>
          <a:ln/>
        </p:spPr>
        <p:txBody>
          <a:bodyPr wrap="square" lIns="0" tIns="0" rIns="0" bIns="0" rtlCol="0" anchor="t"/>
          <a:lstStyle/>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Reads everything.</a:t>
            </a:r>
            <a:endParaRPr lang="en-US" sz="1150" dirty="0"/>
          </a:p>
          <a:p>
            <a:pPr marL="0" indent="0">
              <a:lnSpc>
                <a:spcPts val="1541"/>
              </a:lnSpc>
              <a:buNone/>
            </a:pPr>
            <a:endParaRPr lang="en-US" sz="1150" dirty="0"/>
          </a:p>
          <a:p>
            <a:pPr marL="0" indent="0">
              <a:lnSpc>
                <a:spcPts val="1541"/>
              </a:lnSpc>
              <a:buNone/>
            </a:pPr>
            <a:r>
              <a:rPr lang="en-US" sz="1150" dirty="0">
                <a:solidFill>
                  <a:srgbClr val="C2CAD4"/>
                </a:solidFill>
                <a:latin typeface="Calibri" pitchFamily="34" charset="0"/>
                <a:ea typeface="Calibri" pitchFamily="34" charset="-122"/>
                <a:cs typeface="Calibri" pitchFamily="34" charset="-120"/>
              </a:rPr>
              <a:t>As a static linter it parses and cross-validates the whole file, including sections that no runtime process consumes on its own. It is the only thing that ever sees the complete picture before deployment.</a:t>
            </a:r>
            <a:endParaRPr lang="en-US" sz="1150" dirty="0"/>
          </a:p>
        </p:txBody>
      </p:sp>
      <p:sp>
        <p:nvSpPr>
          <p:cNvPr id="21" name="Shape 19"/>
          <p:cNvSpPr/>
          <p:nvPr/>
        </p:nvSpPr>
        <p:spPr>
          <a:xfrm>
            <a:off x="640080" y="4709160"/>
            <a:ext cx="10911535" cy="777240"/>
          </a:xfrm>
          <a:prstGeom prst="roundRect">
            <a:avLst>
              <a:gd name="adj" fmla="val 7059"/>
            </a:avLst>
          </a:prstGeom>
          <a:solidFill>
            <a:srgbClr val="4C2420"/>
          </a:solidFill>
          <a:ln w="12700">
            <a:solidFill>
              <a:srgbClr val="FF7A6B"/>
            </a:solidFill>
            <a:prstDash val="solid"/>
          </a:ln>
        </p:spPr>
        <p:txBody>
          <a:bodyPr/>
          <a:lstStyle/>
          <a:p>
            <a:endParaRPr lang="en-SE"/>
          </a:p>
        </p:txBody>
      </p:sp>
      <p:sp>
        <p:nvSpPr>
          <p:cNvPr id="22" name="Text 20"/>
          <p:cNvSpPr/>
          <p:nvPr/>
        </p:nvSpPr>
        <p:spPr>
          <a:xfrm>
            <a:off x="877824" y="4800600"/>
            <a:ext cx="1737360" cy="237744"/>
          </a:xfrm>
          <a:prstGeom prst="rect">
            <a:avLst/>
          </a:prstGeom>
          <a:noFill/>
          <a:ln/>
        </p:spPr>
        <p:txBody>
          <a:bodyPr wrap="square" lIns="0" tIns="0" rIns="0" bIns="0" rtlCol="0" anchor="ctr"/>
          <a:lstStyle/>
          <a:p>
            <a:pPr marL="0" indent="0">
              <a:buNone/>
            </a:pPr>
            <a:r>
              <a:rPr lang="en-US" sz="950" b="1" kern="0" spc="160" dirty="0">
                <a:solidFill>
                  <a:srgbClr val="FF7A6B"/>
                </a:solidFill>
                <a:latin typeface="Calibri" pitchFamily="34" charset="0"/>
                <a:ea typeface="Calibri" pitchFamily="34" charset="-122"/>
                <a:cs typeface="Calibri" pitchFamily="34" charset="-120"/>
              </a:rPr>
              <a:t>CONSEQUENCE ONE — A TYPO CAN HIDE IN PLAIN SIGHT</a:t>
            </a:r>
            <a:endParaRPr lang="en-US" sz="950" dirty="0"/>
          </a:p>
        </p:txBody>
      </p:sp>
      <p:sp>
        <p:nvSpPr>
          <p:cNvPr id="23" name="Text 21"/>
          <p:cNvSpPr/>
          <p:nvPr/>
        </p:nvSpPr>
        <p:spPr>
          <a:xfrm>
            <a:off x="877824" y="5056632"/>
            <a:ext cx="10436047" cy="32004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mistake in the binary gateway block will not be caught by the engine at all. Only that gateway's own process, or the verifier, will ever reject it. Run the verifier before starting a full stack.</a:t>
            </a:r>
            <a:endParaRPr lang="en-US" sz="1250" dirty="0"/>
          </a:p>
        </p:txBody>
      </p:sp>
      <p:sp>
        <p:nvSpPr>
          <p:cNvPr id="24" name="Shape 22"/>
          <p:cNvSpPr/>
          <p:nvPr/>
        </p:nvSpPr>
        <p:spPr>
          <a:xfrm>
            <a:off x="640080" y="5623560"/>
            <a:ext cx="10911535" cy="685800"/>
          </a:xfrm>
          <a:prstGeom prst="roundRect">
            <a:avLst>
              <a:gd name="adj" fmla="val 8000"/>
            </a:avLst>
          </a:prstGeom>
          <a:solidFill>
            <a:srgbClr val="1B4227"/>
          </a:solidFill>
          <a:ln w="12700">
            <a:solidFill>
              <a:srgbClr val="6BD98A"/>
            </a:solidFill>
            <a:prstDash val="solid"/>
          </a:ln>
        </p:spPr>
        <p:txBody>
          <a:bodyPr/>
          <a:lstStyle/>
          <a:p>
            <a:endParaRPr lang="en-SE"/>
          </a:p>
        </p:txBody>
      </p:sp>
      <p:sp>
        <p:nvSpPr>
          <p:cNvPr id="25" name="Text 23"/>
          <p:cNvSpPr/>
          <p:nvPr/>
        </p:nvSpPr>
        <p:spPr>
          <a:xfrm>
            <a:off x="877824" y="571500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CONSEQUENCE TWO — YOU CAN RESTART JUST ONE PIECE</a:t>
            </a:r>
            <a:endParaRPr lang="en-US" sz="950" dirty="0"/>
          </a:p>
        </p:txBody>
      </p:sp>
      <p:sp>
        <p:nvSpPr>
          <p:cNvPr id="26" name="Text 24"/>
          <p:cNvSpPr/>
          <p:nvPr/>
        </p:nvSpPr>
        <p:spPr>
          <a:xfrm>
            <a:off x="877824" y="597103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Change the market-data depth level and restart only that gateway. The engine never reads that section, so it does not need to know.</a:t>
            </a:r>
            <a:endParaRPr lang="en-US" sz="1250" dirty="0"/>
          </a:p>
        </p:txBody>
      </p:sp>
      <p:sp>
        <p:nvSpPr>
          <p:cNvPr id="27" name="Text 25"/>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08 · Who reads the configuration</a:t>
            </a:r>
            <a:endParaRPr lang="en-US" sz="950" dirty="0"/>
          </a:p>
        </p:txBody>
      </p:sp>
      <p:sp>
        <p:nvSpPr>
          <p:cNvPr id="28" name="Text 26"/>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09</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09</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A workflow for setting</a:t>
            </a:r>
            <a:endParaRPr lang="en-US" sz="4200" dirty="0"/>
          </a:p>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up a new exchange</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Nine steps, in the order that avoids rework. Follow them once and the tenth exchange takes twenty minutes.</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Decide</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Author</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Verify</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Deploy</a:t>
            </a:r>
            <a:endParaRPr lang="en-US" sz="1050" dirty="0"/>
          </a:p>
        </p:txBody>
      </p:sp>
      <p:sp>
        <p:nvSpPr>
          <p:cNvPr id="11" name="Text 9"/>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Start</a:t>
            </a:r>
            <a:endParaRPr lang="en-US" sz="1050" dirty="0"/>
          </a:p>
        </p:txBody>
      </p:sp>
      <p:sp>
        <p:nvSpPr>
          <p:cNvPr id="12" name="Text 10"/>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Prove</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END TO END</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Nine steps, in order</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Each step is cheap. Doing them out of order is what costs an afternoon.</a:t>
            </a:r>
            <a:endParaRPr lang="en-US" sz="1450" dirty="0"/>
          </a:p>
        </p:txBody>
      </p:sp>
      <p:sp>
        <p:nvSpPr>
          <p:cNvPr id="6" name="Shape 4"/>
          <p:cNvSpPr/>
          <p:nvPr/>
        </p:nvSpPr>
        <p:spPr>
          <a:xfrm>
            <a:off x="640080" y="1965960"/>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1965960"/>
            <a:ext cx="3454298"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59536" y="2112264"/>
            <a:ext cx="457200" cy="329184"/>
          </a:xfrm>
          <a:prstGeom prst="rect">
            <a:avLst/>
          </a:prstGeom>
          <a:noFill/>
          <a:ln/>
        </p:spPr>
        <p:txBody>
          <a:bodyPr wrap="square" lIns="0" tIns="0" rIns="0" bIns="0" rtlCol="0" anchor="ctr"/>
          <a:lstStyle/>
          <a:p>
            <a:pPr marL="0" indent="0">
              <a:buNone/>
            </a:pPr>
            <a:r>
              <a:rPr lang="en-US" sz="2000" b="1" dirty="0">
                <a:solidFill>
                  <a:srgbClr val="34D6BE"/>
                </a:solidFill>
                <a:latin typeface="Trebuchet MS" pitchFamily="34" charset="0"/>
                <a:ea typeface="Trebuchet MS" pitchFamily="34" charset="-122"/>
                <a:cs typeface="Trebuchet MS" pitchFamily="34" charset="-120"/>
              </a:rPr>
              <a:t>1</a:t>
            </a:r>
            <a:endParaRPr lang="en-US" sz="2000" dirty="0"/>
          </a:p>
        </p:txBody>
      </p:sp>
      <p:sp>
        <p:nvSpPr>
          <p:cNvPr id="9" name="Text 7"/>
          <p:cNvSpPr/>
          <p:nvPr/>
        </p:nvSpPr>
        <p:spPr>
          <a:xfrm>
            <a:off x="1298448" y="2112264"/>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Decide the shape</a:t>
            </a:r>
            <a:endParaRPr lang="en-US" sz="1400" dirty="0"/>
          </a:p>
        </p:txBody>
      </p:sp>
      <p:sp>
        <p:nvSpPr>
          <p:cNvPr id="10" name="Text 8"/>
          <p:cNvSpPr/>
          <p:nvPr/>
        </p:nvSpPr>
        <p:spPr>
          <a:xfrm>
            <a:off x="859536" y="2514600"/>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How many instruments, how many participants, is there a market maker, does the day have sessions</a:t>
            </a:r>
            <a:endParaRPr lang="en-US" sz="1100" dirty="0"/>
          </a:p>
        </p:txBody>
      </p:sp>
      <p:sp>
        <p:nvSpPr>
          <p:cNvPr id="11" name="Shape 9"/>
          <p:cNvSpPr/>
          <p:nvPr/>
        </p:nvSpPr>
        <p:spPr>
          <a:xfrm>
            <a:off x="4277258" y="1965960"/>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4277258" y="1965960"/>
            <a:ext cx="3454298" cy="45720"/>
          </a:xfrm>
          <a:prstGeom prst="rect">
            <a:avLst/>
          </a:prstGeom>
          <a:solidFill>
            <a:srgbClr val="34D6BE"/>
          </a:solidFill>
          <a:ln w="12700">
            <a:solidFill>
              <a:srgbClr val="333333"/>
            </a:solidFill>
            <a:prstDash val="solid"/>
          </a:ln>
        </p:spPr>
        <p:txBody>
          <a:bodyPr/>
          <a:lstStyle/>
          <a:p>
            <a:endParaRPr lang="en-SE"/>
          </a:p>
        </p:txBody>
      </p:sp>
      <p:sp>
        <p:nvSpPr>
          <p:cNvPr id="13" name="Text 11"/>
          <p:cNvSpPr/>
          <p:nvPr/>
        </p:nvSpPr>
        <p:spPr>
          <a:xfrm>
            <a:off x="4496714" y="2112264"/>
            <a:ext cx="457200" cy="329184"/>
          </a:xfrm>
          <a:prstGeom prst="rect">
            <a:avLst/>
          </a:prstGeom>
          <a:noFill/>
          <a:ln/>
        </p:spPr>
        <p:txBody>
          <a:bodyPr wrap="square" lIns="0" tIns="0" rIns="0" bIns="0" rtlCol="0" anchor="ctr"/>
          <a:lstStyle/>
          <a:p>
            <a:pPr marL="0" indent="0">
              <a:buNone/>
            </a:pPr>
            <a:r>
              <a:rPr lang="en-US" sz="2000" b="1" dirty="0">
                <a:solidFill>
                  <a:srgbClr val="34D6BE"/>
                </a:solidFill>
                <a:latin typeface="Trebuchet MS" pitchFamily="34" charset="0"/>
                <a:ea typeface="Trebuchet MS" pitchFamily="34" charset="-122"/>
                <a:cs typeface="Trebuchet MS" pitchFamily="34" charset="-120"/>
              </a:rPr>
              <a:t>2</a:t>
            </a:r>
            <a:endParaRPr lang="en-US" sz="2000" dirty="0"/>
          </a:p>
        </p:txBody>
      </p:sp>
      <p:sp>
        <p:nvSpPr>
          <p:cNvPr id="14" name="Text 12"/>
          <p:cNvSpPr/>
          <p:nvPr/>
        </p:nvSpPr>
        <p:spPr>
          <a:xfrm>
            <a:off x="4935626" y="2112264"/>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Generate a skeleton</a:t>
            </a:r>
            <a:endParaRPr lang="en-US" sz="1400" dirty="0"/>
          </a:p>
        </p:txBody>
      </p:sp>
      <p:sp>
        <p:nvSpPr>
          <p:cNvPr id="15" name="Text 13"/>
          <p:cNvSpPr/>
          <p:nvPr/>
        </p:nvSpPr>
        <p:spPr>
          <a:xfrm>
            <a:off x="4496714" y="2514600"/>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pm-config-gen or the config GUI. Do not start from a blank file</a:t>
            </a:r>
            <a:endParaRPr lang="en-US" sz="1100" dirty="0"/>
          </a:p>
        </p:txBody>
      </p:sp>
      <p:sp>
        <p:nvSpPr>
          <p:cNvPr id="16" name="Shape 14"/>
          <p:cNvSpPr/>
          <p:nvPr/>
        </p:nvSpPr>
        <p:spPr>
          <a:xfrm>
            <a:off x="7914437" y="1965960"/>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7914437" y="1965960"/>
            <a:ext cx="3454298" cy="45720"/>
          </a:xfrm>
          <a:prstGeom prst="rect">
            <a:avLst/>
          </a:prstGeom>
          <a:solidFill>
            <a:srgbClr val="5AB2F7"/>
          </a:solidFill>
          <a:ln w="12700">
            <a:solidFill>
              <a:srgbClr val="333333"/>
            </a:solidFill>
            <a:prstDash val="solid"/>
          </a:ln>
        </p:spPr>
        <p:txBody>
          <a:bodyPr/>
          <a:lstStyle/>
          <a:p>
            <a:endParaRPr lang="en-SE"/>
          </a:p>
        </p:txBody>
      </p:sp>
      <p:sp>
        <p:nvSpPr>
          <p:cNvPr id="18" name="Text 16"/>
          <p:cNvSpPr/>
          <p:nvPr/>
        </p:nvSpPr>
        <p:spPr>
          <a:xfrm>
            <a:off x="8133893" y="2112264"/>
            <a:ext cx="457200" cy="329184"/>
          </a:xfrm>
          <a:prstGeom prst="rect">
            <a:avLst/>
          </a:prstGeom>
          <a:noFill/>
          <a:ln/>
        </p:spPr>
        <p:txBody>
          <a:bodyPr wrap="square" lIns="0" tIns="0" rIns="0" bIns="0" rtlCol="0" anchor="ctr"/>
          <a:lstStyle/>
          <a:p>
            <a:pPr marL="0" indent="0">
              <a:buNone/>
            </a:pPr>
            <a:r>
              <a:rPr lang="en-US" sz="2000" b="1" dirty="0">
                <a:solidFill>
                  <a:srgbClr val="5AB2F7"/>
                </a:solidFill>
                <a:latin typeface="Trebuchet MS" pitchFamily="34" charset="0"/>
                <a:ea typeface="Trebuchet MS" pitchFamily="34" charset="-122"/>
                <a:cs typeface="Trebuchet MS" pitchFamily="34" charset="-120"/>
              </a:rPr>
              <a:t>3</a:t>
            </a:r>
            <a:endParaRPr lang="en-US" sz="2000" dirty="0"/>
          </a:p>
        </p:txBody>
      </p:sp>
      <p:sp>
        <p:nvSpPr>
          <p:cNvPr id="19" name="Text 17"/>
          <p:cNvSpPr/>
          <p:nvPr/>
        </p:nvSpPr>
        <p:spPr>
          <a:xfrm>
            <a:off x="8572805" y="2112264"/>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Set the universe</a:t>
            </a:r>
            <a:endParaRPr lang="en-US" sz="1400" dirty="0"/>
          </a:p>
        </p:txBody>
      </p:sp>
      <p:sp>
        <p:nvSpPr>
          <p:cNvPr id="20" name="Text 18"/>
          <p:cNvSpPr/>
          <p:nvPr/>
        </p:nvSpPr>
        <p:spPr>
          <a:xfrm>
            <a:off x="8133893" y="2514600"/>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Symbols with tick precision and honest reference prices — the anchor everything else uses</a:t>
            </a:r>
            <a:endParaRPr lang="en-US" sz="1100" dirty="0"/>
          </a:p>
        </p:txBody>
      </p:sp>
      <p:sp>
        <p:nvSpPr>
          <p:cNvPr id="21" name="Shape 19"/>
          <p:cNvSpPr/>
          <p:nvPr/>
        </p:nvSpPr>
        <p:spPr>
          <a:xfrm>
            <a:off x="640080" y="3447288"/>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640080" y="3447288"/>
            <a:ext cx="3454298" cy="45720"/>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859536" y="3593592"/>
            <a:ext cx="457200" cy="329184"/>
          </a:xfrm>
          <a:prstGeom prst="rect">
            <a:avLst/>
          </a:prstGeom>
          <a:noFill/>
          <a:ln/>
        </p:spPr>
        <p:txBody>
          <a:bodyPr wrap="square" lIns="0" tIns="0" rIns="0" bIns="0" rtlCol="0" anchor="ctr"/>
          <a:lstStyle/>
          <a:p>
            <a:pPr marL="0" indent="0">
              <a:buNone/>
            </a:pPr>
            <a:r>
              <a:rPr lang="en-US" sz="2000" b="1" dirty="0">
                <a:solidFill>
                  <a:srgbClr val="5AB2F7"/>
                </a:solidFill>
                <a:latin typeface="Trebuchet MS" pitchFamily="34" charset="0"/>
                <a:ea typeface="Trebuchet MS" pitchFamily="34" charset="-122"/>
                <a:cs typeface="Trebuchet MS" pitchFamily="34" charset="-120"/>
              </a:rPr>
              <a:t>4</a:t>
            </a:r>
            <a:endParaRPr lang="en-US" sz="2000" dirty="0"/>
          </a:p>
        </p:txBody>
      </p:sp>
      <p:sp>
        <p:nvSpPr>
          <p:cNvPr id="24" name="Text 22"/>
          <p:cNvSpPr/>
          <p:nvPr/>
        </p:nvSpPr>
        <p:spPr>
          <a:xfrm>
            <a:off x="1298448" y="3593592"/>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Set access</a:t>
            </a:r>
            <a:endParaRPr lang="en-US" sz="1400" dirty="0"/>
          </a:p>
        </p:txBody>
      </p:sp>
      <p:sp>
        <p:nvSpPr>
          <p:cNvPr id="25" name="Text 23"/>
          <p:cNvSpPr/>
          <p:nvPr/>
        </p:nvSpPr>
        <p:spPr>
          <a:xfrm>
            <a:off x="859536" y="3995928"/>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One gateway per participant, plus a market maker and an operator with the ADMIN role</a:t>
            </a:r>
            <a:endParaRPr lang="en-US" sz="1100" dirty="0"/>
          </a:p>
        </p:txBody>
      </p:sp>
      <p:sp>
        <p:nvSpPr>
          <p:cNvPr id="26" name="Shape 24"/>
          <p:cNvSpPr/>
          <p:nvPr/>
        </p:nvSpPr>
        <p:spPr>
          <a:xfrm>
            <a:off x="4277258" y="3447288"/>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4277258" y="3447288"/>
            <a:ext cx="3454298" cy="45720"/>
          </a:xfrm>
          <a:prstGeom prst="rect">
            <a:avLst/>
          </a:prstGeom>
          <a:solidFill>
            <a:srgbClr val="F3B441"/>
          </a:solidFill>
          <a:ln w="12700">
            <a:solidFill>
              <a:srgbClr val="333333"/>
            </a:solidFill>
            <a:prstDash val="solid"/>
          </a:ln>
        </p:spPr>
        <p:txBody>
          <a:bodyPr/>
          <a:lstStyle/>
          <a:p>
            <a:endParaRPr lang="en-SE"/>
          </a:p>
        </p:txBody>
      </p:sp>
      <p:sp>
        <p:nvSpPr>
          <p:cNvPr id="28" name="Text 26"/>
          <p:cNvSpPr/>
          <p:nvPr/>
        </p:nvSpPr>
        <p:spPr>
          <a:xfrm>
            <a:off x="4496714" y="3593592"/>
            <a:ext cx="457200" cy="329184"/>
          </a:xfrm>
          <a:prstGeom prst="rect">
            <a:avLst/>
          </a:prstGeom>
          <a:noFill/>
          <a:ln/>
        </p:spPr>
        <p:txBody>
          <a:bodyPr wrap="square" lIns="0" tIns="0" rIns="0" bIns="0" rtlCol="0" anchor="ctr"/>
          <a:lstStyle/>
          <a:p>
            <a:pPr marL="0" indent="0">
              <a:buNone/>
            </a:pPr>
            <a:r>
              <a:rPr lang="en-US" sz="2000" b="1" dirty="0">
                <a:solidFill>
                  <a:srgbClr val="F3B441"/>
                </a:solidFill>
                <a:latin typeface="Trebuchet MS" pitchFamily="34" charset="0"/>
                <a:ea typeface="Trebuchet MS" pitchFamily="34" charset="-122"/>
                <a:cs typeface="Trebuchet MS" pitchFamily="34" charset="-120"/>
              </a:rPr>
              <a:t>5</a:t>
            </a:r>
            <a:endParaRPr lang="en-US" sz="2000" dirty="0"/>
          </a:p>
        </p:txBody>
      </p:sp>
      <p:sp>
        <p:nvSpPr>
          <p:cNvPr id="29" name="Text 27"/>
          <p:cNvSpPr/>
          <p:nvPr/>
        </p:nvSpPr>
        <p:spPr>
          <a:xfrm>
            <a:off x="4935626" y="3593592"/>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Seed the book</a:t>
            </a:r>
            <a:endParaRPr lang="en-US" sz="1400" dirty="0"/>
          </a:p>
        </p:txBody>
      </p:sp>
      <p:sp>
        <p:nvSpPr>
          <p:cNvPr id="30" name="Text 28"/>
          <p:cNvSpPr/>
          <p:nvPr/>
        </p:nvSpPr>
        <p:spPr>
          <a:xfrm>
            <a:off x="4496714" y="3995928"/>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A two-sided quote per symbol, priced to agree with the reference prices</a:t>
            </a:r>
            <a:endParaRPr lang="en-US" sz="1100" dirty="0"/>
          </a:p>
        </p:txBody>
      </p:sp>
      <p:sp>
        <p:nvSpPr>
          <p:cNvPr id="31" name="Shape 29"/>
          <p:cNvSpPr/>
          <p:nvPr/>
        </p:nvSpPr>
        <p:spPr>
          <a:xfrm>
            <a:off x="7914437" y="3447288"/>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32" name="Shape 30"/>
          <p:cNvSpPr/>
          <p:nvPr/>
        </p:nvSpPr>
        <p:spPr>
          <a:xfrm>
            <a:off x="7914437" y="3447288"/>
            <a:ext cx="3454298" cy="45720"/>
          </a:xfrm>
          <a:prstGeom prst="rect">
            <a:avLst/>
          </a:prstGeom>
          <a:solidFill>
            <a:srgbClr val="F3B441"/>
          </a:solidFill>
          <a:ln w="12700">
            <a:solidFill>
              <a:srgbClr val="333333"/>
            </a:solidFill>
            <a:prstDash val="solid"/>
          </a:ln>
        </p:spPr>
        <p:txBody>
          <a:bodyPr/>
          <a:lstStyle/>
          <a:p>
            <a:endParaRPr lang="en-SE"/>
          </a:p>
        </p:txBody>
      </p:sp>
      <p:sp>
        <p:nvSpPr>
          <p:cNvPr id="33" name="Text 31"/>
          <p:cNvSpPr/>
          <p:nvPr/>
        </p:nvSpPr>
        <p:spPr>
          <a:xfrm>
            <a:off x="8133893" y="3593592"/>
            <a:ext cx="457200" cy="329184"/>
          </a:xfrm>
          <a:prstGeom prst="rect">
            <a:avLst/>
          </a:prstGeom>
          <a:noFill/>
          <a:ln/>
        </p:spPr>
        <p:txBody>
          <a:bodyPr wrap="square" lIns="0" tIns="0" rIns="0" bIns="0" rtlCol="0" anchor="ctr"/>
          <a:lstStyle/>
          <a:p>
            <a:pPr marL="0" indent="0">
              <a:buNone/>
            </a:pPr>
            <a:r>
              <a:rPr lang="en-US" sz="2000" b="1" dirty="0">
                <a:solidFill>
                  <a:srgbClr val="F3B441"/>
                </a:solidFill>
                <a:latin typeface="Trebuchet MS" pitchFamily="34" charset="0"/>
                <a:ea typeface="Trebuchet MS" pitchFamily="34" charset="-122"/>
                <a:cs typeface="Trebuchet MS" pitchFamily="34" charset="-120"/>
              </a:rPr>
              <a:t>6</a:t>
            </a:r>
            <a:endParaRPr lang="en-US" sz="2000" dirty="0"/>
          </a:p>
        </p:txBody>
      </p:sp>
      <p:sp>
        <p:nvSpPr>
          <p:cNvPr id="34" name="Text 32"/>
          <p:cNvSpPr/>
          <p:nvPr/>
        </p:nvSpPr>
        <p:spPr>
          <a:xfrm>
            <a:off x="8572805" y="3593592"/>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Decide the day</a:t>
            </a:r>
            <a:endParaRPr lang="en-US" sz="1400" dirty="0"/>
          </a:p>
        </p:txBody>
      </p:sp>
      <p:sp>
        <p:nvSpPr>
          <p:cNvPr id="35" name="Text 33"/>
          <p:cNvSpPr/>
          <p:nvPr/>
        </p:nvSpPr>
        <p:spPr>
          <a:xfrm>
            <a:off x="8133893" y="3995928"/>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A schedule with quoted times, or sessions_enabled set to false for always-open</a:t>
            </a:r>
            <a:endParaRPr lang="en-US" sz="1100" dirty="0"/>
          </a:p>
        </p:txBody>
      </p:sp>
      <p:sp>
        <p:nvSpPr>
          <p:cNvPr id="36" name="Shape 34"/>
          <p:cNvSpPr/>
          <p:nvPr/>
        </p:nvSpPr>
        <p:spPr>
          <a:xfrm>
            <a:off x="640080" y="4928616"/>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37" name="Shape 35"/>
          <p:cNvSpPr/>
          <p:nvPr/>
        </p:nvSpPr>
        <p:spPr>
          <a:xfrm>
            <a:off x="640080" y="4928616"/>
            <a:ext cx="3454298" cy="45720"/>
          </a:xfrm>
          <a:prstGeom prst="rect">
            <a:avLst/>
          </a:prstGeom>
          <a:solidFill>
            <a:srgbClr val="9B8CFF"/>
          </a:solidFill>
          <a:ln w="12700">
            <a:solidFill>
              <a:srgbClr val="333333"/>
            </a:solidFill>
            <a:prstDash val="solid"/>
          </a:ln>
        </p:spPr>
        <p:txBody>
          <a:bodyPr/>
          <a:lstStyle/>
          <a:p>
            <a:endParaRPr lang="en-SE"/>
          </a:p>
        </p:txBody>
      </p:sp>
      <p:sp>
        <p:nvSpPr>
          <p:cNvPr id="38" name="Text 36"/>
          <p:cNvSpPr/>
          <p:nvPr/>
        </p:nvSpPr>
        <p:spPr>
          <a:xfrm>
            <a:off x="859536" y="5074920"/>
            <a:ext cx="457200" cy="329184"/>
          </a:xfrm>
          <a:prstGeom prst="rect">
            <a:avLst/>
          </a:prstGeom>
          <a:noFill/>
          <a:ln/>
        </p:spPr>
        <p:txBody>
          <a:bodyPr wrap="square" lIns="0" tIns="0" rIns="0" bIns="0" rtlCol="0" anchor="ctr"/>
          <a:lstStyle/>
          <a:p>
            <a:pPr marL="0" indent="0">
              <a:buNone/>
            </a:pPr>
            <a:r>
              <a:rPr lang="en-US" sz="2000" b="1" dirty="0">
                <a:solidFill>
                  <a:srgbClr val="9B8CFF"/>
                </a:solidFill>
                <a:latin typeface="Trebuchet MS" pitchFamily="34" charset="0"/>
                <a:ea typeface="Trebuchet MS" pitchFamily="34" charset="-122"/>
                <a:cs typeface="Trebuchet MS" pitchFamily="34" charset="-120"/>
              </a:rPr>
              <a:t>7</a:t>
            </a:r>
            <a:endParaRPr lang="en-US" sz="2000" dirty="0"/>
          </a:p>
        </p:txBody>
      </p:sp>
      <p:sp>
        <p:nvSpPr>
          <p:cNvPr id="39" name="Text 37"/>
          <p:cNvSpPr/>
          <p:nvPr/>
        </p:nvSpPr>
        <p:spPr>
          <a:xfrm>
            <a:off x="1298448" y="5074920"/>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Verify</a:t>
            </a:r>
            <a:endParaRPr lang="en-US" sz="1400" dirty="0"/>
          </a:p>
        </p:txBody>
      </p:sp>
      <p:sp>
        <p:nvSpPr>
          <p:cNvPr id="40" name="Text 38"/>
          <p:cNvSpPr/>
          <p:nvPr/>
        </p:nvSpPr>
        <p:spPr>
          <a:xfrm>
            <a:off x="859536" y="5477256"/>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pm-cverifier. Fix every error, read every warning, then read the risk summary out loud</a:t>
            </a:r>
            <a:endParaRPr lang="en-US" sz="1100" dirty="0"/>
          </a:p>
        </p:txBody>
      </p:sp>
      <p:sp>
        <p:nvSpPr>
          <p:cNvPr id="41" name="Shape 39"/>
          <p:cNvSpPr/>
          <p:nvPr/>
        </p:nvSpPr>
        <p:spPr>
          <a:xfrm>
            <a:off x="4277258" y="4928616"/>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42" name="Shape 40"/>
          <p:cNvSpPr/>
          <p:nvPr/>
        </p:nvSpPr>
        <p:spPr>
          <a:xfrm>
            <a:off x="4277258" y="4928616"/>
            <a:ext cx="3454298" cy="45720"/>
          </a:xfrm>
          <a:prstGeom prst="rect">
            <a:avLst/>
          </a:prstGeom>
          <a:solidFill>
            <a:srgbClr val="9B8CFF"/>
          </a:solidFill>
          <a:ln w="12700">
            <a:solidFill>
              <a:srgbClr val="333333"/>
            </a:solidFill>
            <a:prstDash val="solid"/>
          </a:ln>
        </p:spPr>
        <p:txBody>
          <a:bodyPr/>
          <a:lstStyle/>
          <a:p>
            <a:endParaRPr lang="en-SE"/>
          </a:p>
        </p:txBody>
      </p:sp>
      <p:sp>
        <p:nvSpPr>
          <p:cNvPr id="43" name="Text 41"/>
          <p:cNvSpPr/>
          <p:nvPr/>
        </p:nvSpPr>
        <p:spPr>
          <a:xfrm>
            <a:off x="4496714" y="5074920"/>
            <a:ext cx="457200" cy="329184"/>
          </a:xfrm>
          <a:prstGeom prst="rect">
            <a:avLst/>
          </a:prstGeom>
          <a:noFill/>
          <a:ln/>
        </p:spPr>
        <p:txBody>
          <a:bodyPr wrap="square" lIns="0" tIns="0" rIns="0" bIns="0" rtlCol="0" anchor="ctr"/>
          <a:lstStyle/>
          <a:p>
            <a:pPr marL="0" indent="0">
              <a:buNone/>
            </a:pPr>
            <a:r>
              <a:rPr lang="en-US" sz="2000" b="1" dirty="0">
                <a:solidFill>
                  <a:srgbClr val="9B8CFF"/>
                </a:solidFill>
                <a:latin typeface="Trebuchet MS" pitchFamily="34" charset="0"/>
                <a:ea typeface="Trebuchet MS" pitchFamily="34" charset="-122"/>
                <a:cs typeface="Trebuchet MS" pitchFamily="34" charset="-120"/>
              </a:rPr>
              <a:t>8</a:t>
            </a:r>
            <a:endParaRPr lang="en-US" sz="2000" dirty="0"/>
          </a:p>
        </p:txBody>
      </p:sp>
      <p:sp>
        <p:nvSpPr>
          <p:cNvPr id="44" name="Text 42"/>
          <p:cNvSpPr/>
          <p:nvPr/>
        </p:nvSpPr>
        <p:spPr>
          <a:xfrm>
            <a:off x="4935626" y="5074920"/>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Deploy</a:t>
            </a:r>
            <a:endParaRPr lang="en-US" sz="1400" dirty="0"/>
          </a:p>
        </p:txBody>
      </p:sp>
      <p:sp>
        <p:nvSpPr>
          <p:cNvPr id="45" name="Text 43"/>
          <p:cNvSpPr/>
          <p:nvPr/>
        </p:nvSpPr>
        <p:spPr>
          <a:xfrm>
            <a:off x="4496714" y="5477256"/>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pm-config-deploy. Nothing runs against your YAML — this is the step people forget</a:t>
            </a:r>
            <a:endParaRPr lang="en-US" sz="1100" dirty="0"/>
          </a:p>
        </p:txBody>
      </p:sp>
      <p:sp>
        <p:nvSpPr>
          <p:cNvPr id="46" name="Shape 44"/>
          <p:cNvSpPr/>
          <p:nvPr/>
        </p:nvSpPr>
        <p:spPr>
          <a:xfrm>
            <a:off x="7914437" y="4928616"/>
            <a:ext cx="3454298" cy="1280160"/>
          </a:xfrm>
          <a:prstGeom prst="roundRect">
            <a:avLst>
              <a:gd name="adj" fmla="val 4286"/>
            </a:avLst>
          </a:prstGeom>
          <a:solidFill>
            <a:srgbClr val="252B33"/>
          </a:solidFill>
          <a:ln w="12700">
            <a:solidFill>
              <a:srgbClr val="3B4450"/>
            </a:solidFill>
            <a:prstDash val="solid"/>
          </a:ln>
        </p:spPr>
        <p:txBody>
          <a:bodyPr/>
          <a:lstStyle/>
          <a:p>
            <a:endParaRPr lang="en-SE"/>
          </a:p>
        </p:txBody>
      </p:sp>
      <p:sp>
        <p:nvSpPr>
          <p:cNvPr id="47" name="Shape 45"/>
          <p:cNvSpPr/>
          <p:nvPr/>
        </p:nvSpPr>
        <p:spPr>
          <a:xfrm>
            <a:off x="7914437" y="4928616"/>
            <a:ext cx="3454298" cy="45720"/>
          </a:xfrm>
          <a:prstGeom prst="rect">
            <a:avLst/>
          </a:prstGeom>
          <a:solidFill>
            <a:srgbClr val="6BD98A"/>
          </a:solidFill>
          <a:ln w="12700">
            <a:solidFill>
              <a:srgbClr val="333333"/>
            </a:solidFill>
            <a:prstDash val="solid"/>
          </a:ln>
        </p:spPr>
        <p:txBody>
          <a:bodyPr/>
          <a:lstStyle/>
          <a:p>
            <a:endParaRPr lang="en-SE"/>
          </a:p>
        </p:txBody>
      </p:sp>
      <p:sp>
        <p:nvSpPr>
          <p:cNvPr id="48" name="Text 46"/>
          <p:cNvSpPr/>
          <p:nvPr/>
        </p:nvSpPr>
        <p:spPr>
          <a:xfrm>
            <a:off x="8133893" y="5074920"/>
            <a:ext cx="457200" cy="329184"/>
          </a:xfrm>
          <a:prstGeom prst="rect">
            <a:avLst/>
          </a:prstGeom>
          <a:noFill/>
          <a:ln/>
        </p:spPr>
        <p:txBody>
          <a:bodyPr wrap="square" lIns="0" tIns="0" rIns="0" bIns="0" rtlCol="0" anchor="ctr"/>
          <a:lstStyle/>
          <a:p>
            <a:pPr marL="0" indent="0">
              <a:buNone/>
            </a:pPr>
            <a:r>
              <a:rPr lang="en-US" sz="2000" b="1" dirty="0">
                <a:solidFill>
                  <a:srgbClr val="6BD98A"/>
                </a:solidFill>
                <a:latin typeface="Trebuchet MS" pitchFamily="34" charset="0"/>
                <a:ea typeface="Trebuchet MS" pitchFamily="34" charset="-122"/>
                <a:cs typeface="Trebuchet MS" pitchFamily="34" charset="-120"/>
              </a:rPr>
              <a:t>9</a:t>
            </a:r>
            <a:endParaRPr lang="en-US" sz="2000" dirty="0"/>
          </a:p>
        </p:txBody>
      </p:sp>
      <p:sp>
        <p:nvSpPr>
          <p:cNvPr id="49" name="Text 47"/>
          <p:cNvSpPr/>
          <p:nvPr/>
        </p:nvSpPr>
        <p:spPr>
          <a:xfrm>
            <a:off x="8572805" y="5074920"/>
            <a:ext cx="2576474" cy="329184"/>
          </a:xfrm>
          <a:prstGeom prst="rect">
            <a:avLst/>
          </a:prstGeom>
          <a:noFill/>
          <a:ln/>
        </p:spPr>
        <p:txBody>
          <a:bodyPr wrap="square" lIns="0" tIns="0" rIns="0" bIns="0" rtlCol="0" anchor="ctr"/>
          <a:lstStyle/>
          <a:p>
            <a:pPr marL="0" indent="0">
              <a:buNone/>
            </a:pPr>
            <a:r>
              <a:rPr lang="en-US" sz="1400" b="1" dirty="0">
                <a:solidFill>
                  <a:srgbClr val="F1F4F8"/>
                </a:solidFill>
                <a:latin typeface="Trebuchet MS" pitchFamily="34" charset="0"/>
                <a:ea typeface="Trebuchet MS" pitchFamily="34" charset="-122"/>
                <a:cs typeface="Trebuchet MS" pitchFamily="34" charset="-120"/>
              </a:rPr>
              <a:t>Start and prove</a:t>
            </a:r>
            <a:endParaRPr lang="en-US" sz="1400" dirty="0"/>
          </a:p>
        </p:txBody>
      </p:sp>
      <p:sp>
        <p:nvSpPr>
          <p:cNvPr id="50" name="Text 48"/>
          <p:cNvSpPr/>
          <p:nvPr/>
        </p:nvSpPr>
        <p:spPr>
          <a:xfrm>
            <a:off x="8133893" y="5477256"/>
            <a:ext cx="3015386" cy="658368"/>
          </a:xfrm>
          <a:prstGeom prst="rect">
            <a:avLst/>
          </a:prstGeom>
          <a:noFill/>
          <a:ln/>
        </p:spPr>
        <p:txBody>
          <a:bodyPr wrap="square" lIns="0" tIns="0" rIns="0" bIns="0" rtlCol="0" anchor="t"/>
          <a:lstStyle/>
          <a:p>
            <a:pPr marL="0" indent="0">
              <a:lnSpc>
                <a:spcPts val="1500"/>
              </a:lnSpc>
              <a:buNone/>
            </a:pPr>
            <a:r>
              <a:rPr lang="en-US" sz="1100" dirty="0">
                <a:solidFill>
                  <a:srgbClr val="8D97A5"/>
                </a:solidFill>
                <a:latin typeface="Calibri" pitchFamily="34" charset="0"/>
                <a:ea typeface="Calibri" pitchFamily="34" charset="-122"/>
                <a:cs typeface="Calibri" pitchFamily="34" charset="-120"/>
              </a:rPr>
              <a:t>Engine first. Then confirm the running exchange lists the symbols and gateways you intended</a:t>
            </a:r>
            <a:endParaRPr lang="en-US" sz="1100" dirty="0"/>
          </a:p>
        </p:txBody>
      </p:sp>
      <p:sp>
        <p:nvSpPr>
          <p:cNvPr id="51" name="Text 49"/>
          <p:cNvSpPr/>
          <p:nvPr/>
        </p:nvSpPr>
        <p:spPr>
          <a:xfrm>
            <a:off x="640080" y="6080760"/>
            <a:ext cx="10911535" cy="292608"/>
          </a:xfrm>
          <a:prstGeom prst="rect">
            <a:avLst/>
          </a:prstGeom>
          <a:noFill/>
          <a:ln/>
        </p:spPr>
        <p:txBody>
          <a:bodyPr wrap="square" lIns="0" tIns="0" rIns="0" bIns="0" rtlCol="0" anchor="ctr"/>
          <a:lstStyle/>
          <a:p>
            <a:pPr marL="0" indent="0">
              <a:buNone/>
            </a:pPr>
            <a:r>
              <a:rPr lang="en-US" sz="1250" i="1" dirty="0">
                <a:solidFill>
                  <a:srgbClr val="F3B441"/>
                </a:solidFill>
                <a:latin typeface="Calibri" pitchFamily="34" charset="0"/>
                <a:ea typeface="Calibri" pitchFamily="34" charset="-122"/>
                <a:cs typeface="Calibri" pitchFamily="34" charset="-120"/>
              </a:rPr>
              <a:t>Steps 7 and 8 are the two that beginners skip, and they are the two that cause the most confusion later.</a:t>
            </a:r>
            <a:endParaRPr lang="en-US" sz="1250" dirty="0"/>
          </a:p>
        </p:txBody>
      </p:sp>
      <p:sp>
        <p:nvSpPr>
          <p:cNvPr id="52" name="Text 50"/>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09 · A workflow for a new exchange</a:t>
            </a:r>
            <a:endParaRPr lang="en-US" sz="950" dirty="0"/>
          </a:p>
        </p:txBody>
      </p:sp>
      <p:sp>
        <p:nvSpPr>
          <p:cNvPr id="53" name="Text 51"/>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STEP 9</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Startup order: the engine goes first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engine binds the sockets everything else connects to. A process that starts too early either times out or silently drops its first messages.</a:t>
            </a:r>
            <a:endParaRPr lang="en-US" sz="1450" dirty="0"/>
          </a:p>
        </p:txBody>
      </p:sp>
      <p:sp>
        <p:nvSpPr>
          <p:cNvPr id="6" name="Shape 4"/>
          <p:cNvSpPr/>
          <p:nvPr/>
        </p:nvSpPr>
        <p:spPr>
          <a:xfrm>
            <a:off x="640080" y="201168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1829349"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22960" y="2157984"/>
            <a:ext cx="457200" cy="237744"/>
          </a:xfrm>
          <a:prstGeom prst="rect">
            <a:avLst/>
          </a:prstGeom>
          <a:noFill/>
          <a:ln/>
        </p:spPr>
        <p:txBody>
          <a:bodyPr wrap="square" lIns="0" tIns="0" rIns="0" bIns="0" rtlCol="0" anchor="ctr"/>
          <a:lstStyle/>
          <a:p>
            <a:pPr marL="0" indent="0">
              <a:buNone/>
            </a:pPr>
            <a:r>
              <a:rPr lang="en-US" sz="1000" b="1" dirty="0">
                <a:solidFill>
                  <a:srgbClr val="34D6BE"/>
                </a:solidFill>
                <a:latin typeface="Consolas" pitchFamily="34" charset="0"/>
                <a:ea typeface="Consolas" pitchFamily="34" charset="-122"/>
                <a:cs typeface="Consolas" pitchFamily="34" charset="-120"/>
              </a:rPr>
              <a:t>FIRST</a:t>
            </a:r>
            <a:endParaRPr lang="en-US" sz="1000" dirty="0"/>
          </a:p>
        </p:txBody>
      </p:sp>
      <p:sp>
        <p:nvSpPr>
          <p:cNvPr id="9" name="Text 7"/>
          <p:cNvSpPr/>
          <p:nvPr/>
        </p:nvSpPr>
        <p:spPr>
          <a:xfrm>
            <a:off x="822960" y="2395728"/>
            <a:ext cx="1465417"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pm-engine</a:t>
            </a:r>
            <a:endParaRPr lang="en-US" sz="1350" dirty="0"/>
          </a:p>
        </p:txBody>
      </p:sp>
      <p:sp>
        <p:nvSpPr>
          <p:cNvPr id="10" name="Text 8"/>
          <p:cNvSpPr/>
          <p:nvPr/>
        </p:nvSpPr>
        <p:spPr>
          <a:xfrm>
            <a:off x="822960" y="2724912"/>
            <a:ext cx="1465417" cy="100584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Binds all three sockets and loads the deployed configuration. Wait for its listening line.</a:t>
            </a:r>
            <a:endParaRPr lang="en-US" sz="1050" dirty="0"/>
          </a:p>
        </p:txBody>
      </p:sp>
      <p:sp>
        <p:nvSpPr>
          <p:cNvPr id="11" name="Text 9"/>
          <p:cNvSpPr/>
          <p:nvPr/>
        </p:nvSpPr>
        <p:spPr>
          <a:xfrm>
            <a:off x="2571841"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2910169" y="201168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2911084" y="2012594"/>
            <a:ext cx="1829349" cy="45720"/>
          </a:xfrm>
          <a:prstGeom prst="rect">
            <a:avLst/>
          </a:prstGeom>
          <a:solidFill>
            <a:srgbClr val="9B8CFF"/>
          </a:solidFill>
          <a:ln w="12700">
            <a:solidFill>
              <a:srgbClr val="333333"/>
            </a:solidFill>
            <a:prstDash val="solid"/>
          </a:ln>
        </p:spPr>
        <p:txBody>
          <a:bodyPr/>
          <a:lstStyle/>
          <a:p>
            <a:endParaRPr lang="en-SE"/>
          </a:p>
        </p:txBody>
      </p:sp>
      <p:sp>
        <p:nvSpPr>
          <p:cNvPr id="14" name="Text 12"/>
          <p:cNvSpPr/>
          <p:nvPr/>
        </p:nvSpPr>
        <p:spPr>
          <a:xfrm>
            <a:off x="3093049" y="2157984"/>
            <a:ext cx="457200" cy="237744"/>
          </a:xfrm>
          <a:prstGeom prst="rect">
            <a:avLst/>
          </a:prstGeom>
          <a:noFill/>
          <a:ln/>
        </p:spPr>
        <p:txBody>
          <a:bodyPr wrap="square" lIns="0" tIns="0" rIns="0" bIns="0" rtlCol="0" anchor="ctr"/>
          <a:lstStyle/>
          <a:p>
            <a:pPr marL="0" indent="0">
              <a:buNone/>
            </a:pPr>
            <a:r>
              <a:rPr lang="en-US" sz="1000" b="1" dirty="0">
                <a:solidFill>
                  <a:srgbClr val="9B8CFF"/>
                </a:solidFill>
                <a:latin typeface="Consolas" pitchFamily="34" charset="0"/>
                <a:ea typeface="Consolas" pitchFamily="34" charset="-122"/>
                <a:cs typeface="Consolas" pitchFamily="34" charset="-120"/>
              </a:rPr>
              <a:t>THEN</a:t>
            </a:r>
            <a:endParaRPr lang="en-US" sz="1000" dirty="0"/>
          </a:p>
        </p:txBody>
      </p:sp>
      <p:sp>
        <p:nvSpPr>
          <p:cNvPr id="15" name="Text 13"/>
          <p:cNvSpPr/>
          <p:nvPr/>
        </p:nvSpPr>
        <p:spPr>
          <a:xfrm>
            <a:off x="3093049" y="2395728"/>
            <a:ext cx="1465417"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pm-scheduler</a:t>
            </a:r>
            <a:endParaRPr lang="en-US" sz="1350" dirty="0"/>
          </a:p>
        </p:txBody>
      </p:sp>
      <p:sp>
        <p:nvSpPr>
          <p:cNvPr id="16" name="Text 14"/>
          <p:cNvSpPr/>
          <p:nvPr/>
        </p:nvSpPr>
        <p:spPr>
          <a:xfrm>
            <a:off x="3093049" y="2724912"/>
            <a:ext cx="1465417" cy="100584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Optional. Must connect before the first scheduled time or it misses that transition.</a:t>
            </a:r>
            <a:endParaRPr lang="en-US" sz="1050" dirty="0"/>
          </a:p>
        </p:txBody>
      </p:sp>
      <p:sp>
        <p:nvSpPr>
          <p:cNvPr id="17" name="Text 15"/>
          <p:cNvSpPr/>
          <p:nvPr/>
        </p:nvSpPr>
        <p:spPr>
          <a:xfrm>
            <a:off x="4841931"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5180259" y="201168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5181173" y="2012594"/>
            <a:ext cx="1829349" cy="45720"/>
          </a:xfrm>
          <a:prstGeom prst="rect">
            <a:avLst/>
          </a:prstGeom>
          <a:solidFill>
            <a:srgbClr val="5AB2F7"/>
          </a:solidFill>
          <a:ln w="12700">
            <a:solidFill>
              <a:srgbClr val="333333"/>
            </a:solidFill>
            <a:prstDash val="solid"/>
          </a:ln>
        </p:spPr>
        <p:txBody>
          <a:bodyPr/>
          <a:lstStyle/>
          <a:p>
            <a:endParaRPr lang="en-SE"/>
          </a:p>
        </p:txBody>
      </p:sp>
      <p:sp>
        <p:nvSpPr>
          <p:cNvPr id="20" name="Text 18"/>
          <p:cNvSpPr/>
          <p:nvPr/>
        </p:nvSpPr>
        <p:spPr>
          <a:xfrm>
            <a:off x="5363139" y="2157984"/>
            <a:ext cx="457200" cy="237744"/>
          </a:xfrm>
          <a:prstGeom prst="rect">
            <a:avLst/>
          </a:prstGeom>
          <a:noFill/>
          <a:ln/>
        </p:spPr>
        <p:txBody>
          <a:bodyPr wrap="square" lIns="0" tIns="0" rIns="0" bIns="0" rtlCol="0" anchor="ctr"/>
          <a:lstStyle/>
          <a:p>
            <a:pPr marL="0" indent="0">
              <a:buNone/>
            </a:pPr>
            <a:r>
              <a:rPr lang="en-US" sz="1000" b="1" dirty="0">
                <a:solidFill>
                  <a:srgbClr val="5AB2F7"/>
                </a:solidFill>
                <a:latin typeface="Consolas" pitchFamily="34" charset="0"/>
                <a:ea typeface="Consolas" pitchFamily="34" charset="-122"/>
                <a:cs typeface="Consolas" pitchFamily="34" charset="-120"/>
              </a:rPr>
              <a:t>THEN</a:t>
            </a:r>
            <a:endParaRPr lang="en-US" sz="1000" dirty="0"/>
          </a:p>
        </p:txBody>
      </p:sp>
      <p:sp>
        <p:nvSpPr>
          <p:cNvPr id="21" name="Text 19"/>
          <p:cNvSpPr/>
          <p:nvPr/>
        </p:nvSpPr>
        <p:spPr>
          <a:xfrm>
            <a:off x="5363139" y="2395728"/>
            <a:ext cx="1465417"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Gateways</a:t>
            </a:r>
            <a:endParaRPr lang="en-US" sz="1350" dirty="0"/>
          </a:p>
        </p:txBody>
      </p:sp>
      <p:sp>
        <p:nvSpPr>
          <p:cNvPr id="22" name="Text 20"/>
          <p:cNvSpPr/>
          <p:nvPr/>
        </p:nvSpPr>
        <p:spPr>
          <a:xfrm>
            <a:off x="5363139" y="2724912"/>
            <a:ext cx="1465417" cy="100584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One console per participant. The ID must match a configured gateway exactly.</a:t>
            </a:r>
            <a:endParaRPr lang="en-US" sz="1050" dirty="0"/>
          </a:p>
        </p:txBody>
      </p:sp>
      <p:sp>
        <p:nvSpPr>
          <p:cNvPr id="23" name="Text 21"/>
          <p:cNvSpPr/>
          <p:nvPr/>
        </p:nvSpPr>
        <p:spPr>
          <a:xfrm>
            <a:off x="7112020"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24" name="Shape 22"/>
          <p:cNvSpPr/>
          <p:nvPr/>
        </p:nvSpPr>
        <p:spPr>
          <a:xfrm>
            <a:off x="7450348" y="201168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7451263" y="2012594"/>
            <a:ext cx="1829349" cy="45720"/>
          </a:xfrm>
          <a:prstGeom prst="rect">
            <a:avLst/>
          </a:prstGeom>
          <a:solidFill>
            <a:srgbClr val="F3B441"/>
          </a:solidFill>
          <a:ln w="12700">
            <a:solidFill>
              <a:srgbClr val="333333"/>
            </a:solidFill>
            <a:prstDash val="solid"/>
          </a:ln>
        </p:spPr>
        <p:txBody>
          <a:bodyPr/>
          <a:lstStyle/>
          <a:p>
            <a:endParaRPr lang="en-SE"/>
          </a:p>
        </p:txBody>
      </p:sp>
      <p:sp>
        <p:nvSpPr>
          <p:cNvPr id="26" name="Text 24"/>
          <p:cNvSpPr/>
          <p:nvPr/>
        </p:nvSpPr>
        <p:spPr>
          <a:xfrm>
            <a:off x="7633228" y="2157984"/>
            <a:ext cx="45720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THEN</a:t>
            </a:r>
            <a:endParaRPr lang="en-US" sz="1000" dirty="0"/>
          </a:p>
        </p:txBody>
      </p:sp>
      <p:sp>
        <p:nvSpPr>
          <p:cNvPr id="27" name="Text 25"/>
          <p:cNvSpPr/>
          <p:nvPr/>
        </p:nvSpPr>
        <p:spPr>
          <a:xfrm>
            <a:off x="7633228" y="2395728"/>
            <a:ext cx="1465417"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Observers</a:t>
            </a:r>
            <a:endParaRPr lang="en-US" sz="1350" dirty="0"/>
          </a:p>
        </p:txBody>
      </p:sp>
      <p:sp>
        <p:nvSpPr>
          <p:cNvPr id="28" name="Text 26"/>
          <p:cNvSpPr/>
          <p:nvPr/>
        </p:nvSpPr>
        <p:spPr>
          <a:xfrm>
            <a:off x="7633228" y="2724912"/>
            <a:ext cx="1465417" cy="100584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Viewers, order monitors, audit, clearing and statistics — in any order.</a:t>
            </a:r>
            <a:endParaRPr lang="en-US" sz="1050" dirty="0"/>
          </a:p>
        </p:txBody>
      </p:sp>
      <p:sp>
        <p:nvSpPr>
          <p:cNvPr id="29" name="Text 27"/>
          <p:cNvSpPr/>
          <p:nvPr/>
        </p:nvSpPr>
        <p:spPr>
          <a:xfrm>
            <a:off x="9382110"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30" name="Shape 28"/>
          <p:cNvSpPr/>
          <p:nvPr/>
        </p:nvSpPr>
        <p:spPr>
          <a:xfrm>
            <a:off x="9720438" y="2011680"/>
            <a:ext cx="1831177"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31" name="Shape 29"/>
          <p:cNvSpPr/>
          <p:nvPr/>
        </p:nvSpPr>
        <p:spPr>
          <a:xfrm>
            <a:off x="9721352" y="2012594"/>
            <a:ext cx="1829349" cy="45720"/>
          </a:xfrm>
          <a:prstGeom prst="rect">
            <a:avLst/>
          </a:prstGeom>
          <a:solidFill>
            <a:srgbClr val="6BD98A"/>
          </a:solidFill>
          <a:ln w="12700">
            <a:solidFill>
              <a:srgbClr val="333333"/>
            </a:solidFill>
            <a:prstDash val="solid"/>
          </a:ln>
        </p:spPr>
        <p:txBody>
          <a:bodyPr/>
          <a:lstStyle/>
          <a:p>
            <a:endParaRPr lang="en-SE"/>
          </a:p>
        </p:txBody>
      </p:sp>
      <p:sp>
        <p:nvSpPr>
          <p:cNvPr id="32" name="Text 30"/>
          <p:cNvSpPr/>
          <p:nvPr/>
        </p:nvSpPr>
        <p:spPr>
          <a:xfrm>
            <a:off x="9903318" y="2157984"/>
            <a:ext cx="457200" cy="237744"/>
          </a:xfrm>
          <a:prstGeom prst="rect">
            <a:avLst/>
          </a:prstGeom>
          <a:noFill/>
          <a:ln/>
        </p:spPr>
        <p:txBody>
          <a:bodyPr wrap="square" lIns="0" tIns="0" rIns="0" bIns="0" rtlCol="0" anchor="ctr"/>
          <a:lstStyle/>
          <a:p>
            <a:pPr marL="0" indent="0">
              <a:buNone/>
            </a:pPr>
            <a:r>
              <a:rPr lang="en-US" sz="1000" b="1" dirty="0">
                <a:solidFill>
                  <a:srgbClr val="6BD98A"/>
                </a:solidFill>
                <a:latin typeface="Consolas" pitchFamily="34" charset="0"/>
                <a:ea typeface="Consolas" pitchFamily="34" charset="-122"/>
                <a:cs typeface="Consolas" pitchFamily="34" charset="-120"/>
              </a:rPr>
              <a:t>LAST</a:t>
            </a:r>
            <a:endParaRPr lang="en-US" sz="1000" dirty="0"/>
          </a:p>
        </p:txBody>
      </p:sp>
      <p:sp>
        <p:nvSpPr>
          <p:cNvPr id="33" name="Text 31"/>
          <p:cNvSpPr/>
          <p:nvPr/>
        </p:nvSpPr>
        <p:spPr>
          <a:xfrm>
            <a:off x="9903318" y="2395728"/>
            <a:ext cx="1465417"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Displays</a:t>
            </a:r>
            <a:endParaRPr lang="en-US" sz="1350" dirty="0"/>
          </a:p>
        </p:txBody>
      </p:sp>
      <p:sp>
        <p:nvSpPr>
          <p:cNvPr id="34" name="Text 32"/>
          <p:cNvSpPr/>
          <p:nvPr/>
        </p:nvSpPr>
        <p:spPr>
          <a:xfrm>
            <a:off x="9903318" y="2724912"/>
            <a:ext cx="1465417" cy="100584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Ticker and board read the statistics database, so statistics must be running first.</a:t>
            </a:r>
            <a:endParaRPr lang="en-US" sz="1050" dirty="0"/>
          </a:p>
        </p:txBody>
      </p:sp>
      <p:sp>
        <p:nvSpPr>
          <p:cNvPr id="35" name="Shape 33"/>
          <p:cNvSpPr/>
          <p:nvPr/>
        </p:nvSpPr>
        <p:spPr>
          <a:xfrm>
            <a:off x="640080" y="4206240"/>
            <a:ext cx="5349240" cy="1051560"/>
          </a:xfrm>
          <a:prstGeom prst="roundRect">
            <a:avLst>
              <a:gd name="adj" fmla="val 5217"/>
            </a:avLst>
          </a:prstGeom>
          <a:solidFill>
            <a:srgbClr val="4A3714"/>
          </a:solidFill>
          <a:ln w="12700">
            <a:solidFill>
              <a:srgbClr val="F3B441"/>
            </a:solidFill>
            <a:prstDash val="solid"/>
          </a:ln>
        </p:spPr>
        <p:txBody>
          <a:bodyPr/>
          <a:lstStyle/>
          <a:p>
            <a:endParaRPr lang="en-SE"/>
          </a:p>
        </p:txBody>
      </p:sp>
      <p:sp>
        <p:nvSpPr>
          <p:cNvPr id="36" name="Text 34"/>
          <p:cNvSpPr/>
          <p:nvPr/>
        </p:nvSpPr>
        <p:spPr>
          <a:xfrm>
            <a:off x="877824" y="429768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HOW DO YOU KNOW THE ENGINE IS READY?</a:t>
            </a:r>
            <a:endParaRPr lang="en-US" sz="950" dirty="0"/>
          </a:p>
        </p:txBody>
      </p:sp>
      <p:sp>
        <p:nvSpPr>
          <p:cNvPr id="37" name="Text 35"/>
          <p:cNvSpPr/>
          <p:nvPr/>
        </p:nvSpPr>
        <p:spPr>
          <a:xfrm>
            <a:off x="877824" y="4553712"/>
            <a:ext cx="4873752" cy="5943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Run it verbosely and wait for the line that reports the bound sockets. Without that flag the engine starts identically but prints nothing — those are informational messages, and the default level is higher.</a:t>
            </a:r>
            <a:endParaRPr lang="en-US" sz="1250" dirty="0"/>
          </a:p>
        </p:txBody>
      </p:sp>
      <p:sp>
        <p:nvSpPr>
          <p:cNvPr id="38" name="Shape 36"/>
          <p:cNvSpPr/>
          <p:nvPr/>
        </p:nvSpPr>
        <p:spPr>
          <a:xfrm>
            <a:off x="6537960" y="4206240"/>
            <a:ext cx="5010912" cy="1051560"/>
          </a:xfrm>
          <a:prstGeom prst="roundRect">
            <a:avLst>
              <a:gd name="adj" fmla="val 5217"/>
            </a:avLst>
          </a:prstGeom>
          <a:solidFill>
            <a:srgbClr val="1B4227"/>
          </a:solidFill>
          <a:ln w="12700">
            <a:solidFill>
              <a:srgbClr val="6BD98A"/>
            </a:solidFill>
            <a:prstDash val="solid"/>
          </a:ln>
        </p:spPr>
        <p:txBody>
          <a:bodyPr/>
          <a:lstStyle/>
          <a:p>
            <a:endParaRPr lang="en-SE"/>
          </a:p>
        </p:txBody>
      </p:sp>
      <p:sp>
        <p:nvSpPr>
          <p:cNvPr id="39" name="Text 37"/>
          <p:cNvSpPr/>
          <p:nvPr/>
        </p:nvSpPr>
        <p:spPr>
          <a:xfrm>
            <a:off x="6775704" y="429768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RESTARTING ONE PROCESS IS SAFE</a:t>
            </a:r>
            <a:endParaRPr lang="en-US" sz="950" dirty="0"/>
          </a:p>
        </p:txBody>
      </p:sp>
      <p:sp>
        <p:nvSpPr>
          <p:cNvPr id="40" name="Text 38"/>
          <p:cNvSpPr/>
          <p:nvPr/>
        </p:nvSpPr>
        <p:spPr>
          <a:xfrm>
            <a:off x="6775704" y="4553712"/>
            <a:ext cx="4535424" cy="59436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Every process connects to the engine, never the other way round. Any non-engine process can be stopped and restarted at will. Restarting the engine, however, disconnects every gateway.</a:t>
            </a:r>
            <a:endParaRPr lang="en-US" sz="1250" dirty="0"/>
          </a:p>
        </p:txBody>
      </p:sp>
      <p:sp>
        <p:nvSpPr>
          <p:cNvPr id="41" name="Shape 39"/>
          <p:cNvSpPr/>
          <p:nvPr/>
        </p:nvSpPr>
        <p:spPr>
          <a:xfrm>
            <a:off x="640080" y="5440680"/>
            <a:ext cx="10911535" cy="731520"/>
          </a:xfrm>
          <a:prstGeom prst="roundRect">
            <a:avLst>
              <a:gd name="adj" fmla="val 7500"/>
            </a:avLst>
          </a:prstGeom>
          <a:solidFill>
            <a:srgbClr val="13463F"/>
          </a:solidFill>
          <a:ln w="12700">
            <a:solidFill>
              <a:srgbClr val="34D6BE"/>
            </a:solidFill>
            <a:prstDash val="solid"/>
          </a:ln>
        </p:spPr>
        <p:txBody>
          <a:bodyPr/>
          <a:lstStyle/>
          <a:p>
            <a:endParaRPr lang="en-SE"/>
          </a:p>
        </p:txBody>
      </p:sp>
      <p:sp>
        <p:nvSpPr>
          <p:cNvPr id="42" name="Text 40"/>
          <p:cNvSpPr/>
          <p:nvPr/>
        </p:nvSpPr>
        <p:spPr>
          <a:xfrm>
            <a:off x="877824" y="553212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TIMING</a:t>
            </a:r>
            <a:endParaRPr lang="en-US" sz="950" dirty="0"/>
          </a:p>
        </p:txBody>
      </p:sp>
      <p:sp>
        <p:nvSpPr>
          <p:cNvPr id="43" name="Text 41"/>
          <p:cNvSpPr/>
          <p:nvPr/>
        </p:nvSpPr>
        <p:spPr>
          <a:xfrm>
            <a:off x="877824" y="5788152"/>
            <a:ext cx="10436047" cy="2743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A conventional stagger of a third of a second to a second between processes is enough.</a:t>
            </a:r>
            <a:endParaRPr lang="en-US" sz="1250" dirty="0"/>
          </a:p>
        </p:txBody>
      </p:sp>
      <p:sp>
        <p:nvSpPr>
          <p:cNvPr id="44" name="Text 4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09 · A workflow for a new exchange</a:t>
            </a:r>
            <a:endParaRPr lang="en-US" sz="950" dirty="0"/>
          </a:p>
        </p:txBody>
      </p:sp>
      <p:sp>
        <p:nvSpPr>
          <p:cNvPr id="45" name="Text 4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STEP 9</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Prove the configuration actually took effect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engine started" is not proof. These four checks are.</a:t>
            </a:r>
            <a:endParaRPr lang="en-US" sz="1450" dirty="0"/>
          </a:p>
        </p:txBody>
      </p:sp>
      <p:sp>
        <p:nvSpPr>
          <p:cNvPr id="6" name="Shape 4"/>
          <p:cNvSpPr/>
          <p:nvPr/>
        </p:nvSpPr>
        <p:spPr>
          <a:xfrm>
            <a:off x="640080" y="2011680"/>
            <a:ext cx="531860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12594"/>
            <a:ext cx="5316779" cy="50292"/>
          </a:xfrm>
          <a:prstGeom prst="rect">
            <a:avLst/>
          </a:prstGeom>
          <a:solidFill>
            <a:srgbClr val="34D6BE"/>
          </a:solidFill>
          <a:ln w="12700">
            <a:solidFill>
              <a:srgbClr val="333333"/>
            </a:solidFill>
            <a:prstDash val="solid"/>
          </a:ln>
        </p:spPr>
        <p:txBody>
          <a:bodyPr/>
          <a:lstStyle/>
          <a:p>
            <a:endParaRPr lang="en-SE"/>
          </a:p>
        </p:txBody>
      </p:sp>
      <p:sp>
        <p:nvSpPr>
          <p:cNvPr id="8" name="Shape 6"/>
          <p:cNvSpPr/>
          <p:nvPr/>
        </p:nvSpPr>
        <p:spPr>
          <a:xfrm>
            <a:off x="877824" y="2286000"/>
            <a:ext cx="384048" cy="384048"/>
          </a:xfrm>
          <a:prstGeom prst="ellipse">
            <a:avLst/>
          </a:prstGeom>
          <a:solidFill>
            <a:srgbClr val="15181D"/>
          </a:solidFill>
          <a:ln w="13970">
            <a:solidFill>
              <a:srgbClr val="34D6BE"/>
            </a:solidFill>
            <a:prstDash val="solid"/>
          </a:ln>
        </p:spPr>
        <p:txBody>
          <a:bodyPr/>
          <a:lstStyle/>
          <a:p>
            <a:endParaRPr lang="en-SE"/>
          </a:p>
        </p:txBody>
      </p:sp>
      <p:sp>
        <p:nvSpPr>
          <p:cNvPr id="9" name="Text 7"/>
          <p:cNvSpPr/>
          <p:nvPr/>
        </p:nvSpPr>
        <p:spPr>
          <a:xfrm>
            <a:off x="877824" y="2286000"/>
            <a:ext cx="384048" cy="384048"/>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1</a:t>
            </a:r>
            <a:endParaRPr lang="en-US" sz="1100" dirty="0"/>
          </a:p>
        </p:txBody>
      </p:sp>
      <p:sp>
        <p:nvSpPr>
          <p:cNvPr id="10" name="Text 8"/>
          <p:cNvSpPr/>
          <p:nvPr/>
        </p:nvSpPr>
        <p:spPr>
          <a:xfrm>
            <a:off x="1417320" y="2267712"/>
            <a:ext cx="4312768" cy="42062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Read the startup banner</a:t>
            </a:r>
            <a:endParaRPr lang="en-US" sz="1600" dirty="0"/>
          </a:p>
        </p:txBody>
      </p:sp>
      <p:sp>
        <p:nvSpPr>
          <p:cNvPr id="11" name="Text 9"/>
          <p:cNvSpPr/>
          <p:nvPr/>
        </p:nvSpPr>
        <p:spPr>
          <a:xfrm>
            <a:off x="877824" y="2834640"/>
            <a:ext cx="484312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It names the loaded config, the symbol count, the gateway count, and whether sessions and risk enforcement are on. If the counts are not what you expect, stop here.</a:t>
            </a:r>
            <a:endParaRPr lang="en-US" sz="1250" dirty="0"/>
          </a:p>
        </p:txBody>
      </p:sp>
      <p:sp>
        <p:nvSpPr>
          <p:cNvPr id="12" name="Shape 10"/>
          <p:cNvSpPr/>
          <p:nvPr/>
        </p:nvSpPr>
        <p:spPr>
          <a:xfrm>
            <a:off x="6233008" y="2011680"/>
            <a:ext cx="531860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6233922" y="2012594"/>
            <a:ext cx="5316779" cy="50292"/>
          </a:xfrm>
          <a:prstGeom prst="rect">
            <a:avLst/>
          </a:prstGeom>
          <a:solidFill>
            <a:srgbClr val="5AB2F7"/>
          </a:solidFill>
          <a:ln w="12700">
            <a:solidFill>
              <a:srgbClr val="333333"/>
            </a:solidFill>
            <a:prstDash val="solid"/>
          </a:ln>
        </p:spPr>
        <p:txBody>
          <a:bodyPr/>
          <a:lstStyle/>
          <a:p>
            <a:endParaRPr lang="en-SE"/>
          </a:p>
        </p:txBody>
      </p:sp>
      <p:sp>
        <p:nvSpPr>
          <p:cNvPr id="14" name="Shape 12"/>
          <p:cNvSpPr/>
          <p:nvPr/>
        </p:nvSpPr>
        <p:spPr>
          <a:xfrm>
            <a:off x="6470752" y="2286000"/>
            <a:ext cx="384048" cy="384048"/>
          </a:xfrm>
          <a:prstGeom prst="ellipse">
            <a:avLst/>
          </a:prstGeom>
          <a:solidFill>
            <a:srgbClr val="15181D"/>
          </a:solidFill>
          <a:ln w="13970">
            <a:solidFill>
              <a:srgbClr val="34D6BE"/>
            </a:solidFill>
            <a:prstDash val="solid"/>
          </a:ln>
        </p:spPr>
        <p:txBody>
          <a:bodyPr/>
          <a:lstStyle/>
          <a:p>
            <a:endParaRPr lang="en-SE"/>
          </a:p>
        </p:txBody>
      </p:sp>
      <p:sp>
        <p:nvSpPr>
          <p:cNvPr id="15" name="Text 13"/>
          <p:cNvSpPr/>
          <p:nvPr/>
        </p:nvSpPr>
        <p:spPr>
          <a:xfrm>
            <a:off x="6470752" y="2286000"/>
            <a:ext cx="384048" cy="384048"/>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2</a:t>
            </a:r>
            <a:endParaRPr lang="en-US" sz="1100" dirty="0"/>
          </a:p>
        </p:txBody>
      </p:sp>
      <p:sp>
        <p:nvSpPr>
          <p:cNvPr id="16" name="Text 14"/>
          <p:cNvSpPr/>
          <p:nvPr/>
        </p:nvSpPr>
        <p:spPr>
          <a:xfrm>
            <a:off x="7010248" y="2267712"/>
            <a:ext cx="4312768" cy="42062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Ask the running exchange</a:t>
            </a:r>
            <a:endParaRPr lang="en-US" sz="1600" dirty="0"/>
          </a:p>
        </p:txBody>
      </p:sp>
      <p:sp>
        <p:nvSpPr>
          <p:cNvPr id="17" name="Text 15"/>
          <p:cNvSpPr/>
          <p:nvPr/>
        </p:nvSpPr>
        <p:spPr>
          <a:xfrm>
            <a:off x="6470752" y="2834640"/>
            <a:ext cx="484312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From an operator console, list the symbols and the gateways. This is the engine telling you what it believes, not what your file says.</a:t>
            </a:r>
            <a:endParaRPr lang="en-US" sz="1250" dirty="0"/>
          </a:p>
        </p:txBody>
      </p:sp>
      <p:sp>
        <p:nvSpPr>
          <p:cNvPr id="18" name="Shape 16"/>
          <p:cNvSpPr/>
          <p:nvPr/>
        </p:nvSpPr>
        <p:spPr>
          <a:xfrm>
            <a:off x="640080" y="4023360"/>
            <a:ext cx="531860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40994" y="4024274"/>
            <a:ext cx="5316779" cy="50292"/>
          </a:xfrm>
          <a:prstGeom prst="rect">
            <a:avLst/>
          </a:prstGeom>
          <a:solidFill>
            <a:srgbClr val="9B8CFF"/>
          </a:solidFill>
          <a:ln w="12700">
            <a:solidFill>
              <a:srgbClr val="333333"/>
            </a:solidFill>
            <a:prstDash val="solid"/>
          </a:ln>
        </p:spPr>
        <p:txBody>
          <a:bodyPr/>
          <a:lstStyle/>
          <a:p>
            <a:endParaRPr lang="en-SE"/>
          </a:p>
        </p:txBody>
      </p:sp>
      <p:sp>
        <p:nvSpPr>
          <p:cNvPr id="20" name="Shape 18"/>
          <p:cNvSpPr/>
          <p:nvPr/>
        </p:nvSpPr>
        <p:spPr>
          <a:xfrm>
            <a:off x="877824" y="4297680"/>
            <a:ext cx="384048" cy="384048"/>
          </a:xfrm>
          <a:prstGeom prst="ellipse">
            <a:avLst/>
          </a:prstGeom>
          <a:solidFill>
            <a:srgbClr val="15181D"/>
          </a:solidFill>
          <a:ln w="13970">
            <a:solidFill>
              <a:srgbClr val="34D6BE"/>
            </a:solidFill>
            <a:prstDash val="solid"/>
          </a:ln>
        </p:spPr>
        <p:txBody>
          <a:bodyPr/>
          <a:lstStyle/>
          <a:p>
            <a:endParaRPr lang="en-SE"/>
          </a:p>
        </p:txBody>
      </p:sp>
      <p:sp>
        <p:nvSpPr>
          <p:cNvPr id="21" name="Text 19"/>
          <p:cNvSpPr/>
          <p:nvPr/>
        </p:nvSpPr>
        <p:spPr>
          <a:xfrm>
            <a:off x="877824" y="4297680"/>
            <a:ext cx="384048" cy="384048"/>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3</a:t>
            </a:r>
            <a:endParaRPr lang="en-US" sz="1100" dirty="0"/>
          </a:p>
        </p:txBody>
      </p:sp>
      <p:sp>
        <p:nvSpPr>
          <p:cNvPr id="22" name="Text 20"/>
          <p:cNvSpPr/>
          <p:nvPr/>
        </p:nvSpPr>
        <p:spPr>
          <a:xfrm>
            <a:off x="1417320" y="4279392"/>
            <a:ext cx="4312768" cy="42062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Check the session state</a:t>
            </a:r>
            <a:endParaRPr lang="en-US" sz="1600" dirty="0"/>
          </a:p>
        </p:txBody>
      </p:sp>
      <p:sp>
        <p:nvSpPr>
          <p:cNvPr id="23" name="Text 21"/>
          <p:cNvSpPr/>
          <p:nvPr/>
        </p:nvSpPr>
        <p:spPr>
          <a:xfrm>
            <a:off x="877824" y="4846320"/>
            <a:ext cx="484312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Query the current session state and the schedule. A market stuck in CLOSED with no scheduler running is the most common first-day surprise.</a:t>
            </a:r>
            <a:endParaRPr lang="en-US" sz="1250" dirty="0"/>
          </a:p>
        </p:txBody>
      </p:sp>
      <p:sp>
        <p:nvSpPr>
          <p:cNvPr id="24" name="Shape 22"/>
          <p:cNvSpPr/>
          <p:nvPr/>
        </p:nvSpPr>
        <p:spPr>
          <a:xfrm>
            <a:off x="6233008" y="4023360"/>
            <a:ext cx="5318608" cy="1828800"/>
          </a:xfrm>
          <a:prstGeom prst="roundRect">
            <a:avLst>
              <a:gd name="adj" fmla="val 3000"/>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6233922" y="4024274"/>
            <a:ext cx="5316779" cy="50292"/>
          </a:xfrm>
          <a:prstGeom prst="rect">
            <a:avLst/>
          </a:prstGeom>
          <a:solidFill>
            <a:srgbClr val="6BD98A"/>
          </a:solidFill>
          <a:ln w="12700">
            <a:solidFill>
              <a:srgbClr val="333333"/>
            </a:solidFill>
            <a:prstDash val="solid"/>
          </a:ln>
        </p:spPr>
        <p:txBody>
          <a:bodyPr/>
          <a:lstStyle/>
          <a:p>
            <a:endParaRPr lang="en-SE"/>
          </a:p>
        </p:txBody>
      </p:sp>
      <p:sp>
        <p:nvSpPr>
          <p:cNvPr id="26" name="Shape 24"/>
          <p:cNvSpPr/>
          <p:nvPr/>
        </p:nvSpPr>
        <p:spPr>
          <a:xfrm>
            <a:off x="6470752" y="4297680"/>
            <a:ext cx="384048" cy="384048"/>
          </a:xfrm>
          <a:prstGeom prst="ellipse">
            <a:avLst/>
          </a:prstGeom>
          <a:solidFill>
            <a:srgbClr val="15181D"/>
          </a:solidFill>
          <a:ln w="13970">
            <a:solidFill>
              <a:srgbClr val="34D6BE"/>
            </a:solidFill>
            <a:prstDash val="solid"/>
          </a:ln>
        </p:spPr>
        <p:txBody>
          <a:bodyPr/>
          <a:lstStyle/>
          <a:p>
            <a:endParaRPr lang="en-SE"/>
          </a:p>
        </p:txBody>
      </p:sp>
      <p:sp>
        <p:nvSpPr>
          <p:cNvPr id="27" name="Text 25"/>
          <p:cNvSpPr/>
          <p:nvPr/>
        </p:nvSpPr>
        <p:spPr>
          <a:xfrm>
            <a:off x="6470752" y="4297680"/>
            <a:ext cx="384048" cy="384048"/>
          </a:xfrm>
          <a:prstGeom prst="rect">
            <a:avLst/>
          </a:prstGeom>
          <a:noFill/>
          <a:ln/>
        </p:spPr>
        <p:txBody>
          <a:bodyPr wrap="square" lIns="0" tIns="0" rIns="0" bIns="0" rtlCol="0" anchor="ctr"/>
          <a:lstStyle/>
          <a:p>
            <a:pPr marL="0" indent="0" algn="ctr">
              <a:buNone/>
            </a:pPr>
            <a:r>
              <a:rPr lang="en-US" sz="1100" b="1" dirty="0">
                <a:solidFill>
                  <a:srgbClr val="34D6BE"/>
                </a:solidFill>
                <a:latin typeface="Trebuchet MS" pitchFamily="34" charset="0"/>
                <a:ea typeface="Trebuchet MS" pitchFamily="34" charset="-122"/>
                <a:cs typeface="Trebuchet MS" pitchFamily="34" charset="-120"/>
              </a:rPr>
              <a:t>4</a:t>
            </a:r>
            <a:endParaRPr lang="en-US" sz="1100" dirty="0"/>
          </a:p>
        </p:txBody>
      </p:sp>
      <p:sp>
        <p:nvSpPr>
          <p:cNvPr id="28" name="Text 26"/>
          <p:cNvSpPr/>
          <p:nvPr/>
        </p:nvSpPr>
        <p:spPr>
          <a:xfrm>
            <a:off x="7010248" y="4279392"/>
            <a:ext cx="4312768" cy="420624"/>
          </a:xfrm>
          <a:prstGeom prst="rect">
            <a:avLst/>
          </a:prstGeom>
          <a:noFill/>
          <a:ln/>
        </p:spPr>
        <p:txBody>
          <a:bodyPr wrap="square" lIns="0" tIns="0" rIns="0" bIns="0" rtlCol="0" anchor="ctr"/>
          <a:lstStyle/>
          <a:p>
            <a:pPr marL="0" indent="0">
              <a:buNone/>
            </a:pPr>
            <a:r>
              <a:rPr lang="en-US" sz="1600" b="1" dirty="0">
                <a:solidFill>
                  <a:srgbClr val="F1F4F8"/>
                </a:solidFill>
                <a:latin typeface="Trebuchet MS" pitchFamily="34" charset="0"/>
                <a:ea typeface="Trebuchet MS" pitchFamily="34" charset="-122"/>
                <a:cs typeface="Trebuchet MS" pitchFamily="34" charset="-120"/>
              </a:rPr>
              <a:t>Send one order</a:t>
            </a:r>
            <a:endParaRPr lang="en-US" sz="1600" dirty="0"/>
          </a:p>
        </p:txBody>
      </p:sp>
      <p:sp>
        <p:nvSpPr>
          <p:cNvPr id="29" name="Text 27"/>
          <p:cNvSpPr/>
          <p:nvPr/>
        </p:nvSpPr>
        <p:spPr>
          <a:xfrm>
            <a:off x="6470752" y="4846320"/>
            <a:ext cx="4843120" cy="91440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A single limit order proves the whole path: client to engine, matching, and the event back out again. Then watch it appear in a book viewer.</a:t>
            </a:r>
            <a:endParaRPr lang="en-US" sz="1250" dirty="0"/>
          </a:p>
        </p:txBody>
      </p:sp>
      <p:sp>
        <p:nvSpPr>
          <p:cNvPr id="30" name="Text 28"/>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09 · A workflow for a new exchange</a:t>
            </a:r>
            <a:endParaRPr lang="en-US" sz="950" dirty="0"/>
          </a:p>
        </p:txBody>
      </p:sp>
      <p:sp>
        <p:nvSpPr>
          <p:cNvPr id="31" name="Text 29"/>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STEP 9</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Symptom to config mistake, in one table</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Almost every startup problem on a new exchange is one of these six.</a:t>
            </a:r>
            <a:endParaRPr lang="en-US" sz="1450" dirty="0"/>
          </a:p>
        </p:txBody>
      </p:sp>
      <p:sp>
        <p:nvSpPr>
          <p:cNvPr id="6" name="Shape 4"/>
          <p:cNvSpPr/>
          <p:nvPr/>
        </p:nvSpPr>
        <p:spPr>
          <a:xfrm>
            <a:off x="640080" y="2011680"/>
            <a:ext cx="10911535"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2011680"/>
            <a:ext cx="3381351"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YOU SEE</a:t>
            </a:r>
            <a:endParaRPr lang="en-US" sz="950" dirty="0"/>
          </a:p>
        </p:txBody>
      </p:sp>
      <p:sp>
        <p:nvSpPr>
          <p:cNvPr id="8" name="Text 6"/>
          <p:cNvSpPr/>
          <p:nvPr/>
        </p:nvSpPr>
        <p:spPr>
          <a:xfrm>
            <a:off x="4387191" y="2011680"/>
            <a:ext cx="3490466"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WHAT IT REALLY IS</a:t>
            </a:r>
            <a:endParaRPr lang="en-US" sz="950" dirty="0"/>
          </a:p>
        </p:txBody>
      </p:sp>
      <p:sp>
        <p:nvSpPr>
          <p:cNvPr id="9" name="Text 7"/>
          <p:cNvSpPr/>
          <p:nvPr/>
        </p:nvSpPr>
        <p:spPr>
          <a:xfrm>
            <a:off x="8097113" y="2011680"/>
            <a:ext cx="3381351"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THE FIX</a:t>
            </a:r>
            <a:endParaRPr lang="en-US" sz="950" dirty="0"/>
          </a:p>
        </p:txBody>
      </p:sp>
      <p:sp>
        <p:nvSpPr>
          <p:cNvPr id="10" name="Shape 8"/>
          <p:cNvSpPr/>
          <p:nvPr/>
        </p:nvSpPr>
        <p:spPr>
          <a:xfrm>
            <a:off x="640080" y="2359152"/>
            <a:ext cx="10911535" cy="457200"/>
          </a:xfrm>
          <a:prstGeom prst="rect">
            <a:avLst/>
          </a:prstGeom>
          <a:solidFill>
            <a:srgbClr val="252B33"/>
          </a:solidFill>
          <a:ln w="12700">
            <a:solidFill>
              <a:srgbClr val="333333"/>
            </a:solidFill>
            <a:prstDash val="solid"/>
          </a:ln>
        </p:spPr>
        <p:txBody>
          <a:bodyPr/>
          <a:lstStyle/>
          <a:p>
            <a:endParaRPr lang="en-SE"/>
          </a:p>
        </p:txBody>
      </p:sp>
      <p:sp>
        <p:nvSpPr>
          <p:cNvPr id="11" name="Text 9"/>
          <p:cNvSpPr/>
          <p:nvPr/>
        </p:nvSpPr>
        <p:spPr>
          <a:xfrm>
            <a:off x="786384" y="23591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Fatal: gateways.alf must be a list</a:t>
            </a:r>
            <a:endParaRPr lang="en-US" sz="1150" dirty="0"/>
          </a:p>
        </p:txBody>
      </p:sp>
      <p:sp>
        <p:nvSpPr>
          <p:cNvPr id="12" name="Text 10"/>
          <p:cNvSpPr/>
          <p:nvPr/>
        </p:nvSpPr>
        <p:spPr>
          <a:xfrm>
            <a:off x="4387191" y="23591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You wrote it as a mapping, without dashes</a:t>
            </a:r>
            <a:endParaRPr lang="en-US" sz="1150" dirty="0"/>
          </a:p>
        </p:txBody>
      </p:sp>
      <p:sp>
        <p:nvSpPr>
          <p:cNvPr id="13" name="Text 11"/>
          <p:cNvSpPr/>
          <p:nvPr/>
        </p:nvSpPr>
        <p:spPr>
          <a:xfrm>
            <a:off x="8097113" y="23591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Correct the shape of the section</a:t>
            </a:r>
            <a:endParaRPr lang="en-US" sz="1150" dirty="0"/>
          </a:p>
        </p:txBody>
      </p:sp>
      <p:sp>
        <p:nvSpPr>
          <p:cNvPr id="14" name="Text 12"/>
          <p:cNvSpPr/>
          <p:nvPr/>
        </p:nvSpPr>
        <p:spPr>
          <a:xfrm>
            <a:off x="786384" y="28163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Fatal: symbol config must be a mapping</a:t>
            </a:r>
            <a:endParaRPr lang="en-US" sz="1150" dirty="0"/>
          </a:p>
        </p:txBody>
      </p:sp>
      <p:sp>
        <p:nvSpPr>
          <p:cNvPr id="15" name="Text 13"/>
          <p:cNvSpPr/>
          <p:nvPr/>
        </p:nvSpPr>
        <p:spPr>
          <a:xfrm>
            <a:off x="4387191" y="28163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 symbol entry is a list or a scalar</a:t>
            </a:r>
            <a:endParaRPr lang="en-US" sz="1150" dirty="0"/>
          </a:p>
        </p:txBody>
      </p:sp>
      <p:sp>
        <p:nvSpPr>
          <p:cNvPr id="16" name="Text 14"/>
          <p:cNvSpPr/>
          <p:nvPr/>
        </p:nvSpPr>
        <p:spPr>
          <a:xfrm>
            <a:off x="8097113" y="28163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Correct the shape of that symbol</a:t>
            </a:r>
            <a:endParaRPr lang="en-US" sz="1150" dirty="0"/>
          </a:p>
        </p:txBody>
      </p:sp>
      <p:sp>
        <p:nvSpPr>
          <p:cNvPr id="17" name="Shape 15"/>
          <p:cNvSpPr/>
          <p:nvPr/>
        </p:nvSpPr>
        <p:spPr>
          <a:xfrm>
            <a:off x="640080" y="3273552"/>
            <a:ext cx="10911535" cy="457200"/>
          </a:xfrm>
          <a:prstGeom prst="rect">
            <a:avLst/>
          </a:prstGeom>
          <a:solidFill>
            <a:srgbClr val="252B33"/>
          </a:solidFill>
          <a:ln w="12700">
            <a:solidFill>
              <a:srgbClr val="333333"/>
            </a:solidFill>
            <a:prstDash val="solid"/>
          </a:ln>
        </p:spPr>
        <p:txBody>
          <a:bodyPr/>
          <a:lstStyle/>
          <a:p>
            <a:endParaRPr lang="en-SE"/>
          </a:p>
        </p:txBody>
      </p:sp>
      <p:sp>
        <p:nvSpPr>
          <p:cNvPr id="18" name="Text 16"/>
          <p:cNvSpPr/>
          <p:nvPr/>
        </p:nvSpPr>
        <p:spPr>
          <a:xfrm>
            <a:off x="786384" y="32735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Gateway authentication timed out</a:t>
            </a:r>
            <a:endParaRPr lang="en-US" sz="1150" dirty="0"/>
          </a:p>
        </p:txBody>
      </p:sp>
      <p:sp>
        <p:nvSpPr>
          <p:cNvPr id="19" name="Text 17"/>
          <p:cNvSpPr/>
          <p:nvPr/>
        </p:nvSpPr>
        <p:spPr>
          <a:xfrm>
            <a:off x="4387191" y="32735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ID is not in the allowlist — the engine ignores it silently</a:t>
            </a:r>
            <a:endParaRPr lang="en-US" sz="1150" dirty="0"/>
          </a:p>
        </p:txBody>
      </p:sp>
      <p:sp>
        <p:nvSpPr>
          <p:cNvPr id="20" name="Text 18"/>
          <p:cNvSpPr/>
          <p:nvPr/>
        </p:nvSpPr>
        <p:spPr>
          <a:xfrm>
            <a:off x="8097113" y="32735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Add the ID, then restart the engine</a:t>
            </a:r>
            <a:endParaRPr lang="en-US" sz="1150" dirty="0"/>
          </a:p>
        </p:txBody>
      </p:sp>
      <p:sp>
        <p:nvSpPr>
          <p:cNvPr id="21" name="Text 19"/>
          <p:cNvSpPr/>
          <p:nvPr/>
        </p:nvSpPr>
        <p:spPr>
          <a:xfrm>
            <a:off x="786384" y="37307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Order rejected: symbol not configured</a:t>
            </a:r>
            <a:endParaRPr lang="en-US" sz="1150" dirty="0"/>
          </a:p>
        </p:txBody>
      </p:sp>
      <p:sp>
        <p:nvSpPr>
          <p:cNvPr id="22" name="Text 20"/>
          <p:cNvSpPr/>
          <p:nvPr/>
        </p:nvSpPr>
        <p:spPr>
          <a:xfrm>
            <a:off x="4387191" y="37307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symbol is absent from the universe</a:t>
            </a:r>
            <a:endParaRPr lang="en-US" sz="1150" dirty="0"/>
          </a:p>
        </p:txBody>
      </p:sp>
      <p:sp>
        <p:nvSpPr>
          <p:cNvPr id="23" name="Text 21"/>
          <p:cNvSpPr/>
          <p:nvPr/>
        </p:nvSpPr>
        <p:spPr>
          <a:xfrm>
            <a:off x="8097113" y="37307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Add it to symbols and restart</a:t>
            </a:r>
            <a:endParaRPr lang="en-US" sz="1150" dirty="0"/>
          </a:p>
        </p:txBody>
      </p:sp>
      <p:sp>
        <p:nvSpPr>
          <p:cNvPr id="24" name="Shape 22"/>
          <p:cNvSpPr/>
          <p:nvPr/>
        </p:nvSpPr>
        <p:spPr>
          <a:xfrm>
            <a:off x="640080" y="4187952"/>
            <a:ext cx="10911535" cy="457200"/>
          </a:xfrm>
          <a:prstGeom prst="rect">
            <a:avLst/>
          </a:prstGeom>
          <a:solidFill>
            <a:srgbClr val="252B33"/>
          </a:solidFill>
          <a:ln w="12700">
            <a:solidFill>
              <a:srgbClr val="333333"/>
            </a:solidFill>
            <a:prstDash val="solid"/>
          </a:ln>
        </p:spPr>
        <p:txBody>
          <a:bodyPr/>
          <a:lstStyle/>
          <a:p>
            <a:endParaRPr lang="en-SE"/>
          </a:p>
        </p:txBody>
      </p:sp>
      <p:sp>
        <p:nvSpPr>
          <p:cNvPr id="25" name="Text 23"/>
          <p:cNvSpPr/>
          <p:nvPr/>
        </p:nvSpPr>
        <p:spPr>
          <a:xfrm>
            <a:off x="786384" y="41879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Scheduler exits: config missing</a:t>
            </a:r>
            <a:endParaRPr lang="en-US" sz="1150" dirty="0"/>
          </a:p>
        </p:txBody>
      </p:sp>
      <p:sp>
        <p:nvSpPr>
          <p:cNvPr id="26" name="Text 24"/>
          <p:cNvSpPr/>
          <p:nvPr/>
        </p:nvSpPr>
        <p:spPr>
          <a:xfrm>
            <a:off x="4387191" y="41879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There is no schedule block at all</a:t>
            </a:r>
            <a:endParaRPr lang="en-US" sz="1150" dirty="0"/>
          </a:p>
        </p:txBody>
      </p:sp>
      <p:sp>
        <p:nvSpPr>
          <p:cNvPr id="27" name="Text 25"/>
          <p:cNvSpPr/>
          <p:nvPr/>
        </p:nvSpPr>
        <p:spPr>
          <a:xfrm>
            <a:off x="8097113" y="41879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Add a schedule, or run it in immediate mode</a:t>
            </a:r>
            <a:endParaRPr lang="en-US" sz="1150" dirty="0"/>
          </a:p>
        </p:txBody>
      </p:sp>
      <p:sp>
        <p:nvSpPr>
          <p:cNvPr id="28" name="Text 26"/>
          <p:cNvSpPr/>
          <p:nvPr/>
        </p:nvSpPr>
        <p:spPr>
          <a:xfrm>
            <a:off x="786384" y="46451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Halt or resume is rejected</a:t>
            </a:r>
            <a:endParaRPr lang="en-US" sz="1150" dirty="0"/>
          </a:p>
        </p:txBody>
      </p:sp>
      <p:sp>
        <p:nvSpPr>
          <p:cNvPr id="29" name="Text 27"/>
          <p:cNvSpPr/>
          <p:nvPr/>
        </p:nvSpPr>
        <p:spPr>
          <a:xfrm>
            <a:off x="4387191" y="46451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The gateway exists but has no ADMIN role</a:t>
            </a:r>
            <a:endParaRPr lang="en-US" sz="1150" dirty="0"/>
          </a:p>
        </p:txBody>
      </p:sp>
      <p:sp>
        <p:nvSpPr>
          <p:cNvPr id="30" name="Text 28"/>
          <p:cNvSpPr/>
          <p:nvPr/>
        </p:nvSpPr>
        <p:spPr>
          <a:xfrm>
            <a:off x="8097113" y="46451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Add the role, then restart the engine</a:t>
            </a:r>
            <a:endParaRPr lang="en-US" sz="1150" dirty="0"/>
          </a:p>
        </p:txBody>
      </p:sp>
      <p:sp>
        <p:nvSpPr>
          <p:cNvPr id="31" name="Shape 29"/>
          <p:cNvSpPr/>
          <p:nvPr/>
        </p:nvSpPr>
        <p:spPr>
          <a:xfrm>
            <a:off x="640080" y="5102352"/>
            <a:ext cx="10911535" cy="457200"/>
          </a:xfrm>
          <a:prstGeom prst="rect">
            <a:avLst/>
          </a:prstGeom>
          <a:solidFill>
            <a:srgbClr val="252B33"/>
          </a:solidFill>
          <a:ln w="12700">
            <a:solidFill>
              <a:srgbClr val="333333"/>
            </a:solidFill>
            <a:prstDash val="solid"/>
          </a:ln>
        </p:spPr>
        <p:txBody>
          <a:bodyPr/>
          <a:lstStyle/>
          <a:p>
            <a:endParaRPr lang="en-SE"/>
          </a:p>
        </p:txBody>
      </p:sp>
      <p:sp>
        <p:nvSpPr>
          <p:cNvPr id="32" name="Text 30"/>
          <p:cNvSpPr/>
          <p:nvPr/>
        </p:nvSpPr>
        <p:spPr>
          <a:xfrm>
            <a:off x="786384" y="5102352"/>
            <a:ext cx="3381351" cy="457200"/>
          </a:xfrm>
          <a:prstGeom prst="rect">
            <a:avLst/>
          </a:prstGeom>
          <a:noFill/>
          <a:ln/>
        </p:spPr>
        <p:txBody>
          <a:bodyPr wrap="square" lIns="0" tIns="0" rIns="0" bIns="0" rtlCol="0" anchor="ctr"/>
          <a:lstStyle/>
          <a:p>
            <a:pPr marL="0" indent="0" algn="l">
              <a:buNone/>
            </a:pPr>
            <a:r>
              <a:rPr lang="en-US" sz="1150" b="1" dirty="0">
                <a:solidFill>
                  <a:srgbClr val="F1F4F8"/>
                </a:solidFill>
                <a:latin typeface="Calibri" pitchFamily="34" charset="0"/>
                <a:ea typeface="Calibri" pitchFamily="34" charset="-122"/>
                <a:cs typeface="Calibri" pitchFamily="34" charset="-120"/>
              </a:rPr>
              <a:t>The book is empty and nothing matches</a:t>
            </a:r>
            <a:endParaRPr lang="en-US" sz="1150" dirty="0"/>
          </a:p>
        </p:txBody>
      </p:sp>
      <p:sp>
        <p:nvSpPr>
          <p:cNvPr id="33" name="Text 31"/>
          <p:cNvSpPr/>
          <p:nvPr/>
        </p:nvSpPr>
        <p:spPr>
          <a:xfrm>
            <a:off x="4387191" y="5102352"/>
            <a:ext cx="3490466"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No seed quote, or the market is still CLOSED</a:t>
            </a:r>
            <a:endParaRPr lang="en-US" sz="1150" dirty="0"/>
          </a:p>
        </p:txBody>
      </p:sp>
      <p:sp>
        <p:nvSpPr>
          <p:cNvPr id="34" name="Text 32"/>
          <p:cNvSpPr/>
          <p:nvPr/>
        </p:nvSpPr>
        <p:spPr>
          <a:xfrm>
            <a:off x="8097113" y="5102352"/>
            <a:ext cx="3381351" cy="457200"/>
          </a:xfrm>
          <a:prstGeom prst="rect">
            <a:avLst/>
          </a:prstGeom>
          <a:noFill/>
          <a:ln/>
        </p:spPr>
        <p:txBody>
          <a:bodyPr wrap="square" lIns="0" tIns="0" rIns="0" bIns="0" rtlCol="0" anchor="ctr"/>
          <a:lstStyle/>
          <a:p>
            <a:pPr marL="0" indent="0" algn="l">
              <a:buNone/>
            </a:pPr>
            <a:r>
              <a:rPr lang="en-US" sz="1150" dirty="0">
                <a:solidFill>
                  <a:srgbClr val="C2CAD4"/>
                </a:solidFill>
                <a:latin typeface="Calibri" pitchFamily="34" charset="0"/>
                <a:ea typeface="Calibri" pitchFamily="34" charset="-122"/>
                <a:cs typeface="Calibri" pitchFamily="34" charset="-120"/>
              </a:rPr>
              <a:t>Add a seed quote; check the session state</a:t>
            </a:r>
            <a:endParaRPr lang="en-US" sz="1150" dirty="0"/>
          </a:p>
        </p:txBody>
      </p:sp>
      <p:sp>
        <p:nvSpPr>
          <p:cNvPr id="35" name="Shape 33"/>
          <p:cNvSpPr/>
          <p:nvPr/>
        </p:nvSpPr>
        <p:spPr>
          <a:xfrm>
            <a:off x="640080" y="5806440"/>
            <a:ext cx="10911535" cy="685800"/>
          </a:xfrm>
          <a:prstGeom prst="roundRect">
            <a:avLst>
              <a:gd name="adj" fmla="val 8000"/>
            </a:avLst>
          </a:prstGeom>
          <a:solidFill>
            <a:srgbClr val="4A3714"/>
          </a:solidFill>
          <a:ln w="12700">
            <a:solidFill>
              <a:srgbClr val="F3B441"/>
            </a:solidFill>
            <a:prstDash val="solid"/>
          </a:ln>
        </p:spPr>
        <p:txBody>
          <a:bodyPr/>
          <a:lstStyle/>
          <a:p>
            <a:endParaRPr lang="en-SE"/>
          </a:p>
        </p:txBody>
      </p:sp>
      <p:sp>
        <p:nvSpPr>
          <p:cNvPr id="36" name="Text 34"/>
          <p:cNvSpPr/>
          <p:nvPr/>
        </p:nvSpPr>
        <p:spPr>
          <a:xfrm>
            <a:off x="877824" y="589788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THE PATTERN</a:t>
            </a:r>
            <a:endParaRPr lang="en-US" sz="950" dirty="0"/>
          </a:p>
        </p:txBody>
      </p:sp>
      <p:sp>
        <p:nvSpPr>
          <p:cNvPr id="37" name="Text 35"/>
          <p:cNvSpPr/>
          <p:nvPr/>
        </p:nvSpPr>
        <p:spPr>
          <a:xfrm>
            <a:off x="877824" y="615391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Five of these seven are silences rather than errors. That is precisely why the verifier and the risk summary are worth the thirty seconds they cost.</a:t>
            </a:r>
            <a:endParaRPr lang="en-US" sz="1250" dirty="0"/>
          </a:p>
        </p:txBody>
      </p:sp>
      <p:sp>
        <p:nvSpPr>
          <p:cNvPr id="38" name="Text 3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09 · A workflow for a new exchange</a:t>
            </a:r>
            <a:endParaRPr lang="en-US" sz="950" dirty="0"/>
          </a:p>
        </p:txBody>
      </p:sp>
      <p:sp>
        <p:nvSpPr>
          <p:cNvPr id="39" name="Text 3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AFTERWARDS</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Changing a configuration safely</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same loop, every time, whether you are adding one symbol or rebuilding the risk policy.</a:t>
            </a:r>
            <a:endParaRPr lang="en-US" sz="1450" dirty="0"/>
          </a:p>
        </p:txBody>
      </p:sp>
      <p:sp>
        <p:nvSpPr>
          <p:cNvPr id="6" name="Shape 4"/>
          <p:cNvSpPr/>
          <p:nvPr/>
        </p:nvSpPr>
        <p:spPr>
          <a:xfrm>
            <a:off x="640080" y="2057400"/>
            <a:ext cx="2398700"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994" y="2058314"/>
            <a:ext cx="2396871" cy="45720"/>
          </a:xfrm>
          <a:prstGeom prst="rect">
            <a:avLst/>
          </a:prstGeom>
          <a:solidFill>
            <a:srgbClr val="34D6BE"/>
          </a:solidFill>
          <a:ln w="12700">
            <a:solidFill>
              <a:srgbClr val="333333"/>
            </a:solidFill>
            <a:prstDash val="solid"/>
          </a:ln>
        </p:spPr>
        <p:txBody>
          <a:bodyPr/>
          <a:lstStyle/>
          <a:p>
            <a:endParaRPr lang="en-SE"/>
          </a:p>
        </p:txBody>
      </p:sp>
      <p:sp>
        <p:nvSpPr>
          <p:cNvPr id="8" name="Text 6"/>
          <p:cNvSpPr/>
          <p:nvPr/>
        </p:nvSpPr>
        <p:spPr>
          <a:xfrm>
            <a:off x="822960" y="2203704"/>
            <a:ext cx="457200" cy="237744"/>
          </a:xfrm>
          <a:prstGeom prst="rect">
            <a:avLst/>
          </a:prstGeom>
          <a:noFill/>
          <a:ln/>
        </p:spPr>
        <p:txBody>
          <a:bodyPr wrap="square" lIns="0" tIns="0" rIns="0" bIns="0" rtlCol="0" anchor="ctr"/>
          <a:lstStyle/>
          <a:p>
            <a:pPr marL="0" indent="0">
              <a:buNone/>
            </a:pPr>
            <a:r>
              <a:rPr lang="en-US" sz="1000" b="1" dirty="0">
                <a:solidFill>
                  <a:srgbClr val="34D6BE"/>
                </a:solidFill>
                <a:latin typeface="Consolas" pitchFamily="34" charset="0"/>
                <a:ea typeface="Consolas" pitchFamily="34" charset="-122"/>
                <a:cs typeface="Consolas" pitchFamily="34" charset="-120"/>
              </a:rPr>
              <a:t>1</a:t>
            </a:r>
            <a:endParaRPr lang="en-US" sz="1000" dirty="0"/>
          </a:p>
        </p:txBody>
      </p:sp>
      <p:sp>
        <p:nvSpPr>
          <p:cNvPr id="9" name="Text 7"/>
          <p:cNvSpPr/>
          <p:nvPr/>
        </p:nvSpPr>
        <p:spPr>
          <a:xfrm>
            <a:off x="822960" y="244144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Edit the YAML</a:t>
            </a:r>
            <a:endParaRPr lang="en-US" sz="1350" dirty="0"/>
          </a:p>
        </p:txBody>
      </p:sp>
      <p:sp>
        <p:nvSpPr>
          <p:cNvPr id="10" name="Text 8"/>
          <p:cNvSpPr/>
          <p:nvPr/>
        </p:nvSpPr>
        <p:spPr>
          <a:xfrm>
            <a:off x="822960" y="2770632"/>
            <a:ext cx="2032940" cy="91440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The authored file, in version control. Never the deployed artifact — that edit is refused.</a:t>
            </a:r>
            <a:endParaRPr lang="en-US" sz="1050" dirty="0"/>
          </a:p>
        </p:txBody>
      </p:sp>
      <p:sp>
        <p:nvSpPr>
          <p:cNvPr id="11" name="Text 9"/>
          <p:cNvSpPr/>
          <p:nvPr/>
        </p:nvSpPr>
        <p:spPr>
          <a:xfrm>
            <a:off x="3139364"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2" name="Shape 10"/>
          <p:cNvSpPr/>
          <p:nvPr/>
        </p:nvSpPr>
        <p:spPr>
          <a:xfrm>
            <a:off x="3477692" y="2057400"/>
            <a:ext cx="2398700"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13" name="Shape 11"/>
          <p:cNvSpPr/>
          <p:nvPr/>
        </p:nvSpPr>
        <p:spPr>
          <a:xfrm>
            <a:off x="3478606" y="2058314"/>
            <a:ext cx="2396871" cy="45720"/>
          </a:xfrm>
          <a:prstGeom prst="rect">
            <a:avLst/>
          </a:prstGeom>
          <a:solidFill>
            <a:srgbClr val="F3B441"/>
          </a:solidFill>
          <a:ln w="12700">
            <a:solidFill>
              <a:srgbClr val="333333"/>
            </a:solidFill>
            <a:prstDash val="solid"/>
          </a:ln>
        </p:spPr>
        <p:txBody>
          <a:bodyPr/>
          <a:lstStyle/>
          <a:p>
            <a:endParaRPr lang="en-SE"/>
          </a:p>
        </p:txBody>
      </p:sp>
      <p:sp>
        <p:nvSpPr>
          <p:cNvPr id="14" name="Text 12"/>
          <p:cNvSpPr/>
          <p:nvPr/>
        </p:nvSpPr>
        <p:spPr>
          <a:xfrm>
            <a:off x="3660572" y="2203704"/>
            <a:ext cx="457200" cy="237744"/>
          </a:xfrm>
          <a:prstGeom prst="rect">
            <a:avLst/>
          </a:prstGeom>
          <a:noFill/>
          <a:ln/>
        </p:spPr>
        <p:txBody>
          <a:bodyPr wrap="square" lIns="0" tIns="0" rIns="0" bIns="0" rtlCol="0" anchor="ctr"/>
          <a:lstStyle/>
          <a:p>
            <a:pPr marL="0" indent="0">
              <a:buNone/>
            </a:pPr>
            <a:r>
              <a:rPr lang="en-US" sz="1000" b="1" dirty="0">
                <a:solidFill>
                  <a:srgbClr val="F3B441"/>
                </a:solidFill>
                <a:latin typeface="Consolas" pitchFamily="34" charset="0"/>
                <a:ea typeface="Consolas" pitchFamily="34" charset="-122"/>
                <a:cs typeface="Consolas" pitchFamily="34" charset="-120"/>
              </a:rPr>
              <a:t>2</a:t>
            </a:r>
            <a:endParaRPr lang="en-US" sz="1000" dirty="0"/>
          </a:p>
        </p:txBody>
      </p:sp>
      <p:sp>
        <p:nvSpPr>
          <p:cNvPr id="15" name="Text 13"/>
          <p:cNvSpPr/>
          <p:nvPr/>
        </p:nvSpPr>
        <p:spPr>
          <a:xfrm>
            <a:off x="3660572" y="244144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Verify</a:t>
            </a:r>
            <a:endParaRPr lang="en-US" sz="1350" dirty="0"/>
          </a:p>
        </p:txBody>
      </p:sp>
      <p:sp>
        <p:nvSpPr>
          <p:cNvPr id="16" name="Text 14"/>
          <p:cNvSpPr/>
          <p:nvPr/>
        </p:nvSpPr>
        <p:spPr>
          <a:xfrm>
            <a:off x="3660572" y="2770632"/>
            <a:ext cx="2032940" cy="91440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Fix every error and read every warning before going further.</a:t>
            </a:r>
            <a:endParaRPr lang="en-US" sz="1050" dirty="0"/>
          </a:p>
        </p:txBody>
      </p:sp>
      <p:sp>
        <p:nvSpPr>
          <p:cNvPr id="17" name="Text 15"/>
          <p:cNvSpPr/>
          <p:nvPr/>
        </p:nvSpPr>
        <p:spPr>
          <a:xfrm>
            <a:off x="5976976"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6315304" y="2057400"/>
            <a:ext cx="2398700"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19" name="Shape 17"/>
          <p:cNvSpPr/>
          <p:nvPr/>
        </p:nvSpPr>
        <p:spPr>
          <a:xfrm>
            <a:off x="6316218" y="2058314"/>
            <a:ext cx="2396871" cy="45720"/>
          </a:xfrm>
          <a:prstGeom prst="rect">
            <a:avLst/>
          </a:prstGeom>
          <a:solidFill>
            <a:srgbClr val="9B8CFF"/>
          </a:solidFill>
          <a:ln w="12700">
            <a:solidFill>
              <a:srgbClr val="333333"/>
            </a:solidFill>
            <a:prstDash val="solid"/>
          </a:ln>
        </p:spPr>
        <p:txBody>
          <a:bodyPr/>
          <a:lstStyle/>
          <a:p>
            <a:endParaRPr lang="en-SE"/>
          </a:p>
        </p:txBody>
      </p:sp>
      <p:sp>
        <p:nvSpPr>
          <p:cNvPr id="20" name="Text 18"/>
          <p:cNvSpPr/>
          <p:nvPr/>
        </p:nvSpPr>
        <p:spPr>
          <a:xfrm>
            <a:off x="6498184" y="2203704"/>
            <a:ext cx="457200" cy="237744"/>
          </a:xfrm>
          <a:prstGeom prst="rect">
            <a:avLst/>
          </a:prstGeom>
          <a:noFill/>
          <a:ln/>
        </p:spPr>
        <p:txBody>
          <a:bodyPr wrap="square" lIns="0" tIns="0" rIns="0" bIns="0" rtlCol="0" anchor="ctr"/>
          <a:lstStyle/>
          <a:p>
            <a:pPr marL="0" indent="0">
              <a:buNone/>
            </a:pPr>
            <a:r>
              <a:rPr lang="en-US" sz="1000" b="1" dirty="0">
                <a:solidFill>
                  <a:srgbClr val="9B8CFF"/>
                </a:solidFill>
                <a:latin typeface="Consolas" pitchFamily="34" charset="0"/>
                <a:ea typeface="Consolas" pitchFamily="34" charset="-122"/>
                <a:cs typeface="Consolas" pitchFamily="34" charset="-120"/>
              </a:rPr>
              <a:t>3</a:t>
            </a:r>
            <a:endParaRPr lang="en-US" sz="1000" dirty="0"/>
          </a:p>
        </p:txBody>
      </p:sp>
      <p:sp>
        <p:nvSpPr>
          <p:cNvPr id="21" name="Text 19"/>
          <p:cNvSpPr/>
          <p:nvPr/>
        </p:nvSpPr>
        <p:spPr>
          <a:xfrm>
            <a:off x="6498184" y="244144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Deploy</a:t>
            </a:r>
            <a:endParaRPr lang="en-US" sz="1350" dirty="0"/>
          </a:p>
        </p:txBody>
      </p:sp>
      <p:sp>
        <p:nvSpPr>
          <p:cNvPr id="22" name="Text 20"/>
          <p:cNvSpPr/>
          <p:nvPr/>
        </p:nvSpPr>
        <p:spPr>
          <a:xfrm>
            <a:off x="6498184" y="2770632"/>
            <a:ext cx="2032940" cy="91440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Compile and install. Live processes are not disturbed by this.</a:t>
            </a:r>
            <a:endParaRPr lang="en-US" sz="1050" dirty="0"/>
          </a:p>
        </p:txBody>
      </p:sp>
      <p:sp>
        <p:nvSpPr>
          <p:cNvPr id="23" name="Text 21"/>
          <p:cNvSpPr/>
          <p:nvPr/>
        </p:nvSpPr>
        <p:spPr>
          <a:xfrm>
            <a:off x="8814587" y="2670048"/>
            <a:ext cx="237744" cy="512064"/>
          </a:xfrm>
          <a:prstGeom prst="rect">
            <a:avLst/>
          </a:prstGeom>
          <a:noFill/>
          <a:ln/>
        </p:spPr>
        <p:txBody>
          <a:bodyPr wrap="square" lIns="0" tIns="0" rIns="0" bIns="0" rtlCol="0" anchor="ctr"/>
          <a:lstStyle/>
          <a:p>
            <a:pPr marL="0" indent="0" algn="ctr">
              <a:buNone/>
            </a:pPr>
            <a:r>
              <a:rPr lang="en-US" sz="2600" dirty="0">
                <a:solidFill>
                  <a:srgbClr val="3B4450"/>
                </a:solidFill>
                <a:latin typeface="Trebuchet MS" pitchFamily="34" charset="0"/>
                <a:ea typeface="Trebuchet MS" pitchFamily="34" charset="-122"/>
                <a:cs typeface="Trebuchet MS" pitchFamily="34" charset="-120"/>
              </a:rPr>
              <a:t>›</a:t>
            </a:r>
            <a:endParaRPr lang="en-US" sz="2600" dirty="0"/>
          </a:p>
        </p:txBody>
      </p:sp>
      <p:sp>
        <p:nvSpPr>
          <p:cNvPr id="24" name="Shape 22"/>
          <p:cNvSpPr/>
          <p:nvPr/>
        </p:nvSpPr>
        <p:spPr>
          <a:xfrm>
            <a:off x="9152915" y="2057400"/>
            <a:ext cx="2398700" cy="1737360"/>
          </a:xfrm>
          <a:prstGeom prst="roundRect">
            <a:avLst>
              <a:gd name="adj" fmla="val 3158"/>
            </a:avLst>
          </a:prstGeom>
          <a:solidFill>
            <a:srgbClr val="252B33"/>
          </a:solidFill>
          <a:ln w="12700">
            <a:solidFill>
              <a:srgbClr val="3B4450"/>
            </a:solidFill>
            <a:prstDash val="solid"/>
          </a:ln>
        </p:spPr>
        <p:txBody>
          <a:bodyPr/>
          <a:lstStyle/>
          <a:p>
            <a:endParaRPr lang="en-SE"/>
          </a:p>
        </p:txBody>
      </p:sp>
      <p:sp>
        <p:nvSpPr>
          <p:cNvPr id="25" name="Shape 23"/>
          <p:cNvSpPr/>
          <p:nvPr/>
        </p:nvSpPr>
        <p:spPr>
          <a:xfrm>
            <a:off x="9153830" y="2058314"/>
            <a:ext cx="2396871" cy="45720"/>
          </a:xfrm>
          <a:prstGeom prst="rect">
            <a:avLst/>
          </a:prstGeom>
          <a:solidFill>
            <a:srgbClr val="6BD98A"/>
          </a:solidFill>
          <a:ln w="12700">
            <a:solidFill>
              <a:srgbClr val="333333"/>
            </a:solidFill>
            <a:prstDash val="solid"/>
          </a:ln>
        </p:spPr>
        <p:txBody>
          <a:bodyPr/>
          <a:lstStyle/>
          <a:p>
            <a:endParaRPr lang="en-SE"/>
          </a:p>
        </p:txBody>
      </p:sp>
      <p:sp>
        <p:nvSpPr>
          <p:cNvPr id="26" name="Text 24"/>
          <p:cNvSpPr/>
          <p:nvPr/>
        </p:nvSpPr>
        <p:spPr>
          <a:xfrm>
            <a:off x="9335795" y="2203704"/>
            <a:ext cx="457200" cy="237744"/>
          </a:xfrm>
          <a:prstGeom prst="rect">
            <a:avLst/>
          </a:prstGeom>
          <a:noFill/>
          <a:ln/>
        </p:spPr>
        <p:txBody>
          <a:bodyPr wrap="square" lIns="0" tIns="0" rIns="0" bIns="0" rtlCol="0" anchor="ctr"/>
          <a:lstStyle/>
          <a:p>
            <a:pPr marL="0" indent="0">
              <a:buNone/>
            </a:pPr>
            <a:r>
              <a:rPr lang="en-US" sz="1000" b="1" dirty="0">
                <a:solidFill>
                  <a:srgbClr val="6BD98A"/>
                </a:solidFill>
                <a:latin typeface="Consolas" pitchFamily="34" charset="0"/>
                <a:ea typeface="Consolas" pitchFamily="34" charset="-122"/>
                <a:cs typeface="Consolas" pitchFamily="34" charset="-120"/>
              </a:rPr>
              <a:t>4</a:t>
            </a:r>
            <a:endParaRPr lang="en-US" sz="1000" dirty="0"/>
          </a:p>
        </p:txBody>
      </p:sp>
      <p:sp>
        <p:nvSpPr>
          <p:cNvPr id="27" name="Text 25"/>
          <p:cNvSpPr/>
          <p:nvPr/>
        </p:nvSpPr>
        <p:spPr>
          <a:xfrm>
            <a:off x="9335795" y="2441448"/>
            <a:ext cx="2032940" cy="329184"/>
          </a:xfrm>
          <a:prstGeom prst="rect">
            <a:avLst/>
          </a:prstGeom>
          <a:noFill/>
          <a:ln/>
        </p:spPr>
        <p:txBody>
          <a:bodyPr wrap="square" lIns="0" tIns="0" rIns="0" bIns="0" rtlCol="0" anchor="ctr"/>
          <a:lstStyle/>
          <a:p>
            <a:pPr marL="0" indent="0">
              <a:buNone/>
            </a:pPr>
            <a:r>
              <a:rPr lang="en-US" sz="1350" b="1" dirty="0">
                <a:solidFill>
                  <a:srgbClr val="F1F4F8"/>
                </a:solidFill>
                <a:latin typeface="Trebuchet MS" pitchFamily="34" charset="0"/>
                <a:ea typeface="Trebuchet MS" pitchFamily="34" charset="-122"/>
                <a:cs typeface="Trebuchet MS" pitchFamily="34" charset="-120"/>
              </a:rPr>
              <a:t>Restart what changed</a:t>
            </a:r>
            <a:endParaRPr lang="en-US" sz="1350" dirty="0"/>
          </a:p>
        </p:txBody>
      </p:sp>
      <p:sp>
        <p:nvSpPr>
          <p:cNvPr id="28" name="Text 26"/>
          <p:cNvSpPr/>
          <p:nvPr/>
        </p:nvSpPr>
        <p:spPr>
          <a:xfrm>
            <a:off x="9335795" y="2770632"/>
            <a:ext cx="2032940" cy="914400"/>
          </a:xfrm>
          <a:prstGeom prst="rect">
            <a:avLst/>
          </a:prstGeom>
          <a:noFill/>
          <a:ln/>
        </p:spPr>
        <p:txBody>
          <a:bodyPr wrap="square" lIns="0" tIns="0" rIns="0" bIns="0" rtlCol="0" anchor="t"/>
          <a:lstStyle/>
          <a:p>
            <a:pPr marL="0" indent="0">
              <a:lnSpc>
                <a:spcPts val="1300"/>
              </a:lnSpc>
              <a:buNone/>
            </a:pPr>
            <a:r>
              <a:rPr lang="en-US" sz="1050" dirty="0">
                <a:solidFill>
                  <a:srgbClr val="8D97A5"/>
                </a:solidFill>
                <a:latin typeface="Calibri" pitchFamily="34" charset="0"/>
                <a:ea typeface="Calibri" pitchFamily="34" charset="-122"/>
                <a:cs typeface="Calibri" pitchFamily="34" charset="-120"/>
              </a:rPr>
              <a:t>Only the processes that read the sections you touched.</a:t>
            </a:r>
            <a:endParaRPr lang="en-US" sz="1050" dirty="0"/>
          </a:p>
        </p:txBody>
      </p:sp>
      <p:sp>
        <p:nvSpPr>
          <p:cNvPr id="29" name="Shape 27"/>
          <p:cNvSpPr/>
          <p:nvPr/>
        </p:nvSpPr>
        <p:spPr>
          <a:xfrm>
            <a:off x="640080" y="4114800"/>
            <a:ext cx="5349240" cy="960120"/>
          </a:xfrm>
          <a:prstGeom prst="roundRect">
            <a:avLst>
              <a:gd name="adj" fmla="val 5714"/>
            </a:avLst>
          </a:prstGeom>
          <a:solidFill>
            <a:srgbClr val="17334D"/>
          </a:solidFill>
          <a:ln w="12700">
            <a:solidFill>
              <a:srgbClr val="5AB2F7"/>
            </a:solidFill>
            <a:prstDash val="solid"/>
          </a:ln>
        </p:spPr>
        <p:txBody>
          <a:bodyPr/>
          <a:lstStyle/>
          <a:p>
            <a:endParaRPr lang="en-SE"/>
          </a:p>
        </p:txBody>
      </p:sp>
      <p:sp>
        <p:nvSpPr>
          <p:cNvPr id="30" name="Text 28"/>
          <p:cNvSpPr/>
          <p:nvPr/>
        </p:nvSpPr>
        <p:spPr>
          <a:xfrm>
            <a:off x="877824" y="4206240"/>
            <a:ext cx="1737360" cy="237744"/>
          </a:xfrm>
          <a:prstGeom prst="rect">
            <a:avLst/>
          </a:prstGeom>
          <a:noFill/>
          <a:ln/>
        </p:spPr>
        <p:txBody>
          <a:bodyPr wrap="square" lIns="0" tIns="0" rIns="0" bIns="0" rtlCol="0" anchor="ctr"/>
          <a:lstStyle/>
          <a:p>
            <a:pPr marL="0" indent="0">
              <a:buNone/>
            </a:pPr>
            <a:r>
              <a:rPr lang="en-US" sz="950" b="1" kern="0" spc="160" dirty="0">
                <a:solidFill>
                  <a:srgbClr val="5AB2F7"/>
                </a:solidFill>
                <a:latin typeface="Calibri" pitchFamily="34" charset="0"/>
                <a:ea typeface="Calibri" pitchFamily="34" charset="-122"/>
                <a:cs typeface="Calibri" pitchFamily="34" charset="-120"/>
              </a:rPr>
              <a:t>ADDING OR REMOVING A SYMBOL</a:t>
            </a:r>
            <a:endParaRPr lang="en-US" sz="950" dirty="0"/>
          </a:p>
        </p:txBody>
      </p:sp>
      <p:sp>
        <p:nvSpPr>
          <p:cNvPr id="31" name="Text 29"/>
          <p:cNvSpPr/>
          <p:nvPr/>
        </p:nvSpPr>
        <p:spPr>
          <a:xfrm>
            <a:off x="877824" y="4462272"/>
            <a:ext cx="4873752" cy="5029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The universe is built once at engine startup. A new symbol needs an engine restart before an order for it will be accepted.</a:t>
            </a:r>
            <a:endParaRPr lang="en-US" sz="1250" dirty="0"/>
          </a:p>
        </p:txBody>
      </p:sp>
      <p:sp>
        <p:nvSpPr>
          <p:cNvPr id="32" name="Shape 30"/>
          <p:cNvSpPr/>
          <p:nvPr/>
        </p:nvSpPr>
        <p:spPr>
          <a:xfrm>
            <a:off x="6537960" y="4114800"/>
            <a:ext cx="5010912" cy="960120"/>
          </a:xfrm>
          <a:prstGeom prst="roundRect">
            <a:avLst>
              <a:gd name="adj" fmla="val 5714"/>
            </a:avLst>
          </a:prstGeom>
          <a:solidFill>
            <a:srgbClr val="1B4227"/>
          </a:solidFill>
          <a:ln w="12700">
            <a:solidFill>
              <a:srgbClr val="6BD98A"/>
            </a:solidFill>
            <a:prstDash val="solid"/>
          </a:ln>
        </p:spPr>
        <p:txBody>
          <a:bodyPr/>
          <a:lstStyle/>
          <a:p>
            <a:endParaRPr lang="en-SE"/>
          </a:p>
        </p:txBody>
      </p:sp>
      <p:sp>
        <p:nvSpPr>
          <p:cNvPr id="33" name="Text 31"/>
          <p:cNvSpPr/>
          <p:nvPr/>
        </p:nvSpPr>
        <p:spPr>
          <a:xfrm>
            <a:off x="6775704" y="4206240"/>
            <a:ext cx="1737360" cy="237744"/>
          </a:xfrm>
          <a:prstGeom prst="rect">
            <a:avLst/>
          </a:prstGeom>
          <a:noFill/>
          <a:ln/>
        </p:spPr>
        <p:txBody>
          <a:bodyPr wrap="square" lIns="0" tIns="0" rIns="0" bIns="0" rtlCol="0" anchor="ctr"/>
          <a:lstStyle/>
          <a:p>
            <a:pPr marL="0" indent="0">
              <a:buNone/>
            </a:pPr>
            <a:r>
              <a:rPr lang="en-US" sz="950" b="1" kern="0" spc="160" dirty="0">
                <a:solidFill>
                  <a:srgbClr val="6BD98A"/>
                </a:solidFill>
                <a:latin typeface="Calibri" pitchFamily="34" charset="0"/>
                <a:ea typeface="Calibri" pitchFamily="34" charset="-122"/>
                <a:cs typeface="Calibri" pitchFamily="34" charset="-120"/>
              </a:rPr>
              <a:t>TUNING ONE GATEWAY</a:t>
            </a:r>
            <a:endParaRPr lang="en-US" sz="950" dirty="0"/>
          </a:p>
        </p:txBody>
      </p:sp>
      <p:sp>
        <p:nvSpPr>
          <p:cNvPr id="34" name="Text 32"/>
          <p:cNvSpPr/>
          <p:nvPr/>
        </p:nvSpPr>
        <p:spPr>
          <a:xfrm>
            <a:off x="6775704" y="4462272"/>
            <a:ext cx="4535424" cy="5029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Change a gateway's own block and restart only that gateway. The engine never reads those sections, so it does not need to know.</a:t>
            </a:r>
            <a:endParaRPr lang="en-US" sz="1250" dirty="0"/>
          </a:p>
        </p:txBody>
      </p:sp>
      <p:sp>
        <p:nvSpPr>
          <p:cNvPr id="35" name="Shape 33"/>
          <p:cNvSpPr/>
          <p:nvPr/>
        </p:nvSpPr>
        <p:spPr>
          <a:xfrm>
            <a:off x="640080" y="5257800"/>
            <a:ext cx="10911535" cy="731520"/>
          </a:xfrm>
          <a:prstGeom prst="roundRect">
            <a:avLst>
              <a:gd name="adj" fmla="val 7500"/>
            </a:avLst>
          </a:prstGeom>
          <a:solidFill>
            <a:srgbClr val="13463F"/>
          </a:solidFill>
          <a:ln w="12700">
            <a:solidFill>
              <a:srgbClr val="34D6BE"/>
            </a:solidFill>
            <a:prstDash val="solid"/>
          </a:ln>
        </p:spPr>
        <p:txBody>
          <a:bodyPr/>
          <a:lstStyle/>
          <a:p>
            <a:endParaRPr lang="en-SE"/>
          </a:p>
        </p:txBody>
      </p:sp>
      <p:sp>
        <p:nvSpPr>
          <p:cNvPr id="36" name="Text 34"/>
          <p:cNvSpPr/>
          <p:nvPr/>
        </p:nvSpPr>
        <p:spPr>
          <a:xfrm>
            <a:off x="877824" y="5349240"/>
            <a:ext cx="1737360" cy="237744"/>
          </a:xfrm>
          <a:prstGeom prst="rect">
            <a:avLst/>
          </a:prstGeom>
          <a:noFill/>
          <a:ln/>
        </p:spPr>
        <p:txBody>
          <a:bodyPr wrap="square" lIns="0" tIns="0" rIns="0" bIns="0" rtlCol="0" anchor="ctr"/>
          <a:lstStyle/>
          <a:p>
            <a:pPr marL="0" indent="0">
              <a:buNone/>
            </a:pPr>
            <a:r>
              <a:rPr lang="en-US" sz="950" b="1" kern="0" spc="160" dirty="0">
                <a:solidFill>
                  <a:srgbClr val="34D6BE"/>
                </a:solidFill>
                <a:latin typeface="Calibri" pitchFamily="34" charset="0"/>
                <a:ea typeface="Calibri" pitchFamily="34" charset="-122"/>
                <a:cs typeface="Calibri" pitchFamily="34" charset="-120"/>
              </a:rPr>
              <a:t>THE HABIT WORTH BUILDING</a:t>
            </a:r>
            <a:endParaRPr lang="en-US" sz="950" dirty="0"/>
          </a:p>
        </p:txBody>
      </p:sp>
      <p:sp>
        <p:nvSpPr>
          <p:cNvPr id="37" name="Text 35"/>
          <p:cNvSpPr/>
          <p:nvPr/>
        </p:nvSpPr>
        <p:spPr>
          <a:xfrm>
            <a:off x="877824" y="5605272"/>
            <a:ext cx="10436047" cy="27432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Treat the authored file like source code: reviewed, versioned, and never edited on a live machine. The deployed artifact is a build output, not a place to make changes.</a:t>
            </a:r>
            <a:endParaRPr lang="en-US" sz="1250" dirty="0"/>
          </a:p>
        </p:txBody>
      </p:sp>
      <p:sp>
        <p:nvSpPr>
          <p:cNvPr id="38" name="Text 36"/>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09 · A workflow for a new exchange</a:t>
            </a:r>
            <a:endParaRPr lang="en-US" sz="950" dirty="0"/>
          </a:p>
        </p:txBody>
      </p:sp>
      <p:sp>
        <p:nvSpPr>
          <p:cNvPr id="39" name="Text 37"/>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914400" y="64008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IN CLOSING</a:t>
            </a:r>
            <a:endParaRPr lang="en-US" sz="1100" dirty="0"/>
          </a:p>
        </p:txBody>
      </p:sp>
      <p:sp>
        <p:nvSpPr>
          <p:cNvPr id="4" name="Text 2"/>
          <p:cNvSpPr/>
          <p:nvPr/>
        </p:nvSpPr>
        <p:spPr>
          <a:xfrm>
            <a:off x="914400" y="1005840"/>
            <a:ext cx="9144000" cy="640080"/>
          </a:xfrm>
          <a:prstGeom prst="rect">
            <a:avLst/>
          </a:prstGeom>
          <a:noFill/>
          <a:ln/>
        </p:spPr>
        <p:txBody>
          <a:bodyPr wrap="square" lIns="0" tIns="0" rIns="0" bIns="0" rtlCol="0" anchor="ctr"/>
          <a:lstStyle/>
          <a:p>
            <a:pPr marL="0" indent="0">
              <a:buNone/>
            </a:pPr>
            <a:r>
              <a:rPr lang="en-US" sz="3400" b="1" dirty="0">
                <a:solidFill>
                  <a:srgbClr val="F1F4F8"/>
                </a:solidFill>
                <a:latin typeface="Trebuchet MS" pitchFamily="34" charset="0"/>
                <a:ea typeface="Trebuchet MS" pitchFamily="34" charset="-122"/>
                <a:cs typeface="Trebuchet MS" pitchFamily="34" charset="-120"/>
              </a:rPr>
              <a:t>Eight rules worth remembering</a:t>
            </a:r>
            <a:endParaRPr lang="en-US" sz="3400" dirty="0"/>
          </a:p>
        </p:txBody>
      </p:sp>
      <p:sp>
        <p:nvSpPr>
          <p:cNvPr id="5" name="Shape 3"/>
          <p:cNvSpPr/>
          <p:nvPr/>
        </p:nvSpPr>
        <p:spPr>
          <a:xfrm>
            <a:off x="914400" y="2057400"/>
            <a:ext cx="36576" cy="868680"/>
          </a:xfrm>
          <a:prstGeom prst="rect">
            <a:avLst/>
          </a:prstGeom>
          <a:solidFill>
            <a:srgbClr val="34D6BE"/>
          </a:solidFill>
          <a:ln w="12700">
            <a:solidFill>
              <a:srgbClr val="333333"/>
            </a:solidFill>
            <a:prstDash val="solid"/>
          </a:ln>
        </p:spPr>
        <p:txBody>
          <a:bodyPr/>
          <a:lstStyle/>
          <a:p>
            <a:endParaRPr lang="en-SE"/>
          </a:p>
        </p:txBody>
      </p:sp>
      <p:sp>
        <p:nvSpPr>
          <p:cNvPr id="6" name="Text 4"/>
          <p:cNvSpPr/>
          <p:nvPr/>
        </p:nvSpPr>
        <p:spPr>
          <a:xfrm>
            <a:off x="1133856" y="207568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01</a:t>
            </a:r>
            <a:endParaRPr lang="en-US" sz="1100" dirty="0"/>
          </a:p>
        </p:txBody>
      </p:sp>
      <p:sp>
        <p:nvSpPr>
          <p:cNvPr id="7" name="Text 5"/>
          <p:cNvSpPr/>
          <p:nvPr/>
        </p:nvSpPr>
        <p:spPr>
          <a:xfrm>
            <a:off x="1133856" y="236829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Two sections are required. Everything else has a default — know what you are inheriting.</a:t>
            </a:r>
            <a:endParaRPr lang="en-US" sz="1250" dirty="0"/>
          </a:p>
        </p:txBody>
      </p:sp>
      <p:sp>
        <p:nvSpPr>
          <p:cNvPr id="8" name="Shape 6"/>
          <p:cNvSpPr/>
          <p:nvPr/>
        </p:nvSpPr>
        <p:spPr>
          <a:xfrm>
            <a:off x="6355080" y="2057400"/>
            <a:ext cx="36576" cy="868680"/>
          </a:xfrm>
          <a:prstGeom prst="rect">
            <a:avLst/>
          </a:prstGeom>
          <a:solidFill>
            <a:srgbClr val="34D6BE"/>
          </a:solidFill>
          <a:ln w="12700">
            <a:solidFill>
              <a:srgbClr val="333333"/>
            </a:solidFill>
            <a:prstDash val="solid"/>
          </a:ln>
        </p:spPr>
        <p:txBody>
          <a:bodyPr/>
          <a:lstStyle/>
          <a:p>
            <a:endParaRPr lang="en-SE"/>
          </a:p>
        </p:txBody>
      </p:sp>
      <p:sp>
        <p:nvSpPr>
          <p:cNvPr id="9" name="Text 7"/>
          <p:cNvSpPr/>
          <p:nvPr/>
        </p:nvSpPr>
        <p:spPr>
          <a:xfrm>
            <a:off x="6574536" y="207568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02</a:t>
            </a:r>
            <a:endParaRPr lang="en-US" sz="1100" dirty="0"/>
          </a:p>
        </p:txBody>
      </p:sp>
      <p:sp>
        <p:nvSpPr>
          <p:cNvPr id="10" name="Text 8"/>
          <p:cNvSpPr/>
          <p:nvPr/>
        </p:nvSpPr>
        <p:spPr>
          <a:xfrm>
            <a:off x="6574536" y="236829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A missing config file is not an error. It is unrestricted mode, and it is not what you want.</a:t>
            </a:r>
            <a:endParaRPr lang="en-US" sz="1250" dirty="0"/>
          </a:p>
        </p:txBody>
      </p:sp>
      <p:sp>
        <p:nvSpPr>
          <p:cNvPr id="11" name="Shape 9"/>
          <p:cNvSpPr/>
          <p:nvPr/>
        </p:nvSpPr>
        <p:spPr>
          <a:xfrm>
            <a:off x="914400" y="3108960"/>
            <a:ext cx="36576" cy="868680"/>
          </a:xfrm>
          <a:prstGeom prst="rect">
            <a:avLst/>
          </a:prstGeom>
          <a:solidFill>
            <a:srgbClr val="34D6BE"/>
          </a:solidFill>
          <a:ln w="12700">
            <a:solidFill>
              <a:srgbClr val="333333"/>
            </a:solidFill>
            <a:prstDash val="solid"/>
          </a:ln>
        </p:spPr>
        <p:txBody>
          <a:bodyPr/>
          <a:lstStyle/>
          <a:p>
            <a:endParaRPr lang="en-SE"/>
          </a:p>
        </p:txBody>
      </p:sp>
      <p:sp>
        <p:nvSpPr>
          <p:cNvPr id="12" name="Text 10"/>
          <p:cNvSpPr/>
          <p:nvPr/>
        </p:nvSpPr>
        <p:spPr>
          <a:xfrm>
            <a:off x="1133856" y="312724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03</a:t>
            </a:r>
            <a:endParaRPr lang="en-US" sz="1100" dirty="0"/>
          </a:p>
        </p:txBody>
      </p:sp>
      <p:sp>
        <p:nvSpPr>
          <p:cNvPr id="13" name="Text 11"/>
          <p:cNvSpPr/>
          <p:nvPr/>
        </p:nvSpPr>
        <p:spPr>
          <a:xfrm>
            <a:off x="1133856" y="341985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You author YAML. Nothing runs it. Deploy, or your change does not exist.</a:t>
            </a:r>
            <a:endParaRPr lang="en-US" sz="1250" dirty="0"/>
          </a:p>
        </p:txBody>
      </p:sp>
      <p:sp>
        <p:nvSpPr>
          <p:cNvPr id="14" name="Shape 12"/>
          <p:cNvSpPr/>
          <p:nvPr/>
        </p:nvSpPr>
        <p:spPr>
          <a:xfrm>
            <a:off x="6355080" y="3108960"/>
            <a:ext cx="36576" cy="868680"/>
          </a:xfrm>
          <a:prstGeom prst="rect">
            <a:avLst/>
          </a:prstGeom>
          <a:solidFill>
            <a:srgbClr val="34D6BE"/>
          </a:solidFill>
          <a:ln w="12700">
            <a:solidFill>
              <a:srgbClr val="333333"/>
            </a:solidFill>
            <a:prstDash val="solid"/>
          </a:ln>
        </p:spPr>
        <p:txBody>
          <a:bodyPr/>
          <a:lstStyle/>
          <a:p>
            <a:endParaRPr lang="en-SE"/>
          </a:p>
        </p:txBody>
      </p:sp>
      <p:sp>
        <p:nvSpPr>
          <p:cNvPr id="15" name="Text 13"/>
          <p:cNvSpPr/>
          <p:nvPr/>
        </p:nvSpPr>
        <p:spPr>
          <a:xfrm>
            <a:off x="6574536" y="312724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04</a:t>
            </a:r>
            <a:endParaRPr lang="en-US" sz="1100" dirty="0"/>
          </a:p>
        </p:txBody>
      </p:sp>
      <p:sp>
        <p:nvSpPr>
          <p:cNvPr id="16" name="Text 14"/>
          <p:cNvSpPr/>
          <p:nvPr/>
        </p:nvSpPr>
        <p:spPr>
          <a:xfrm>
            <a:off x="6574536" y="341985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Verify before you deploy, and read the risk summary out loud before you start.</a:t>
            </a:r>
            <a:endParaRPr lang="en-US" sz="1250" dirty="0"/>
          </a:p>
        </p:txBody>
      </p:sp>
      <p:sp>
        <p:nvSpPr>
          <p:cNvPr id="17" name="Shape 15"/>
          <p:cNvSpPr/>
          <p:nvPr/>
        </p:nvSpPr>
        <p:spPr>
          <a:xfrm>
            <a:off x="914400" y="4160520"/>
            <a:ext cx="36576" cy="868680"/>
          </a:xfrm>
          <a:prstGeom prst="rect">
            <a:avLst/>
          </a:prstGeom>
          <a:solidFill>
            <a:srgbClr val="34D6BE"/>
          </a:solidFill>
          <a:ln w="12700">
            <a:solidFill>
              <a:srgbClr val="333333"/>
            </a:solidFill>
            <a:prstDash val="solid"/>
          </a:ln>
        </p:spPr>
        <p:txBody>
          <a:bodyPr/>
          <a:lstStyle/>
          <a:p>
            <a:endParaRPr lang="en-SE"/>
          </a:p>
        </p:txBody>
      </p:sp>
      <p:sp>
        <p:nvSpPr>
          <p:cNvPr id="18" name="Text 16"/>
          <p:cNvSpPr/>
          <p:nvPr/>
        </p:nvSpPr>
        <p:spPr>
          <a:xfrm>
            <a:off x="1133856" y="417880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05</a:t>
            </a:r>
            <a:endParaRPr lang="en-US" sz="1100" dirty="0"/>
          </a:p>
        </p:txBody>
      </p:sp>
      <p:sp>
        <p:nvSpPr>
          <p:cNvPr id="19" name="Text 17"/>
          <p:cNvSpPr/>
          <p:nvPr/>
        </p:nvSpPr>
        <p:spPr>
          <a:xfrm>
            <a:off x="1133856" y="447141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Quote your schedule times. Unquoted, they silently become numbers.</a:t>
            </a:r>
            <a:endParaRPr lang="en-US" sz="1250" dirty="0"/>
          </a:p>
        </p:txBody>
      </p:sp>
      <p:sp>
        <p:nvSpPr>
          <p:cNvPr id="20" name="Shape 18"/>
          <p:cNvSpPr/>
          <p:nvPr/>
        </p:nvSpPr>
        <p:spPr>
          <a:xfrm>
            <a:off x="6355080" y="4160520"/>
            <a:ext cx="36576" cy="868680"/>
          </a:xfrm>
          <a:prstGeom prst="rect">
            <a:avLst/>
          </a:prstGeom>
          <a:solidFill>
            <a:srgbClr val="34D6BE"/>
          </a:solidFill>
          <a:ln w="12700">
            <a:solidFill>
              <a:srgbClr val="333333"/>
            </a:solidFill>
            <a:prstDash val="solid"/>
          </a:ln>
        </p:spPr>
        <p:txBody>
          <a:bodyPr/>
          <a:lstStyle/>
          <a:p>
            <a:endParaRPr lang="en-SE"/>
          </a:p>
        </p:txBody>
      </p:sp>
      <p:sp>
        <p:nvSpPr>
          <p:cNvPr id="21" name="Text 19"/>
          <p:cNvSpPr/>
          <p:nvPr/>
        </p:nvSpPr>
        <p:spPr>
          <a:xfrm>
            <a:off x="6574536" y="417880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06</a:t>
            </a:r>
            <a:endParaRPr lang="en-US" sz="1100" dirty="0"/>
          </a:p>
        </p:txBody>
      </p:sp>
      <p:sp>
        <p:nvSpPr>
          <p:cNvPr id="22" name="Text 20"/>
          <p:cNvSpPr/>
          <p:nvPr/>
        </p:nvSpPr>
        <p:spPr>
          <a:xfrm>
            <a:off x="6574536" y="447141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Sessions are on by default, so a new engine starts closed and waits.</a:t>
            </a:r>
            <a:endParaRPr lang="en-US" sz="1250" dirty="0"/>
          </a:p>
        </p:txBody>
      </p:sp>
      <p:sp>
        <p:nvSpPr>
          <p:cNvPr id="23" name="Shape 21"/>
          <p:cNvSpPr/>
          <p:nvPr/>
        </p:nvSpPr>
        <p:spPr>
          <a:xfrm>
            <a:off x="914400" y="5212080"/>
            <a:ext cx="36576" cy="868680"/>
          </a:xfrm>
          <a:prstGeom prst="rect">
            <a:avLst/>
          </a:prstGeom>
          <a:solidFill>
            <a:srgbClr val="34D6BE"/>
          </a:solidFill>
          <a:ln w="12700">
            <a:solidFill>
              <a:srgbClr val="333333"/>
            </a:solidFill>
            <a:prstDash val="solid"/>
          </a:ln>
        </p:spPr>
        <p:txBody>
          <a:bodyPr/>
          <a:lstStyle/>
          <a:p>
            <a:endParaRPr lang="en-SE"/>
          </a:p>
        </p:txBody>
      </p:sp>
      <p:sp>
        <p:nvSpPr>
          <p:cNvPr id="24" name="Text 22"/>
          <p:cNvSpPr/>
          <p:nvPr/>
        </p:nvSpPr>
        <p:spPr>
          <a:xfrm>
            <a:off x="1133856" y="523036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07</a:t>
            </a:r>
            <a:endParaRPr lang="en-US" sz="1100" dirty="0"/>
          </a:p>
        </p:txBody>
      </p:sp>
      <p:sp>
        <p:nvSpPr>
          <p:cNvPr id="25" name="Text 23"/>
          <p:cNvSpPr/>
          <p:nvPr/>
        </p:nvSpPr>
        <p:spPr>
          <a:xfrm>
            <a:off x="1133856" y="552297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No single process reads the whole file — which is why a typo can hide from the engine.</a:t>
            </a:r>
            <a:endParaRPr lang="en-US" sz="1250" dirty="0"/>
          </a:p>
        </p:txBody>
      </p:sp>
      <p:sp>
        <p:nvSpPr>
          <p:cNvPr id="26" name="Shape 24"/>
          <p:cNvSpPr/>
          <p:nvPr/>
        </p:nvSpPr>
        <p:spPr>
          <a:xfrm>
            <a:off x="6355080" y="5212080"/>
            <a:ext cx="36576" cy="868680"/>
          </a:xfrm>
          <a:prstGeom prst="rect">
            <a:avLst/>
          </a:prstGeom>
          <a:solidFill>
            <a:srgbClr val="34D6BE"/>
          </a:solidFill>
          <a:ln w="12700">
            <a:solidFill>
              <a:srgbClr val="333333"/>
            </a:solidFill>
            <a:prstDash val="solid"/>
          </a:ln>
        </p:spPr>
        <p:txBody>
          <a:bodyPr/>
          <a:lstStyle/>
          <a:p>
            <a:endParaRPr lang="en-SE"/>
          </a:p>
        </p:txBody>
      </p:sp>
      <p:sp>
        <p:nvSpPr>
          <p:cNvPr id="27" name="Text 25"/>
          <p:cNvSpPr/>
          <p:nvPr/>
        </p:nvSpPr>
        <p:spPr>
          <a:xfrm>
            <a:off x="6574536" y="5230368"/>
            <a:ext cx="548640" cy="274320"/>
          </a:xfrm>
          <a:prstGeom prst="rect">
            <a:avLst/>
          </a:prstGeom>
          <a:noFill/>
          <a:ln/>
        </p:spPr>
        <p:txBody>
          <a:bodyPr wrap="square" lIns="0" tIns="0" rIns="0" bIns="0" rtlCol="0" anchor="ctr"/>
          <a:lstStyle/>
          <a:p>
            <a:pPr marL="0" indent="0">
              <a:buNone/>
            </a:pPr>
            <a:r>
              <a:rPr lang="en-US" sz="1100" b="1" dirty="0">
                <a:solidFill>
                  <a:srgbClr val="34D6BE"/>
                </a:solidFill>
                <a:latin typeface="Consolas" pitchFamily="34" charset="0"/>
                <a:ea typeface="Consolas" pitchFamily="34" charset="-122"/>
                <a:cs typeface="Consolas" pitchFamily="34" charset="-120"/>
              </a:rPr>
              <a:t>08</a:t>
            </a:r>
            <a:endParaRPr lang="en-US" sz="1100" dirty="0"/>
          </a:p>
        </p:txBody>
      </p:sp>
      <p:sp>
        <p:nvSpPr>
          <p:cNvPr id="28" name="Text 26"/>
          <p:cNvSpPr/>
          <p:nvPr/>
        </p:nvSpPr>
        <p:spPr>
          <a:xfrm>
            <a:off x="6574536" y="5522976"/>
            <a:ext cx="4754880" cy="640080"/>
          </a:xfrm>
          <a:prstGeom prst="rect">
            <a:avLst/>
          </a:prstGeom>
          <a:noFill/>
          <a:ln/>
        </p:spPr>
        <p:txBody>
          <a:bodyPr wrap="square" lIns="0" tIns="0" rIns="0" bIns="0" rtlCol="0" anchor="t"/>
          <a:lstStyle/>
          <a:p>
            <a:pPr marL="0" indent="0">
              <a:lnSpc>
                <a:spcPts val="1800"/>
              </a:lnSpc>
              <a:buNone/>
            </a:pPr>
            <a:r>
              <a:rPr lang="en-US" sz="1250" dirty="0">
                <a:solidFill>
                  <a:srgbClr val="C2CAD4"/>
                </a:solidFill>
                <a:latin typeface="Calibri" pitchFamily="34" charset="0"/>
                <a:ea typeface="Calibri" pitchFamily="34" charset="-122"/>
                <a:cs typeface="Calibri" pitchFamily="34" charset="-120"/>
              </a:rPr>
              <a:t>The engine starts first. Everything else connects to it, never the other way round.</a:t>
            </a:r>
            <a:endParaRPr lang="en-US" sz="1250" dirty="0"/>
          </a:p>
        </p:txBody>
      </p:sp>
      <p:sp>
        <p:nvSpPr>
          <p:cNvPr id="29" name="Text 27"/>
          <p:cNvSpPr/>
          <p:nvPr/>
        </p:nvSpPr>
        <p:spPr>
          <a:xfrm>
            <a:off x="914400" y="6263640"/>
            <a:ext cx="10515600" cy="365760"/>
          </a:xfrm>
          <a:prstGeom prst="rect">
            <a:avLst/>
          </a:prstGeom>
          <a:noFill/>
          <a:ln/>
        </p:spPr>
        <p:txBody>
          <a:bodyPr wrap="square" lIns="0" tIns="0" rIns="0" bIns="0" rtlCol="0" anchor="ctr"/>
          <a:lstStyle/>
          <a:p>
            <a:pPr marL="0" indent="0">
              <a:buNone/>
            </a:pPr>
            <a:r>
              <a:rPr lang="en-US" sz="1350" i="1" dirty="0">
                <a:solidFill>
                  <a:srgbClr val="34D6BE"/>
                </a:solidFill>
                <a:latin typeface="Calibri" pitchFamily="34" charset="0"/>
                <a:ea typeface="Calibri" pitchFamily="34" charset="-122"/>
                <a:cs typeface="Calibri" pitchFamily="34" charset="-120"/>
              </a:rPr>
              <a:t>The configuration is the exchange. Treat it like the most important file you own.</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5181D"/>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4D6BE"/>
          </a:solidFill>
          <a:ln w="12700">
            <a:solidFill>
              <a:srgbClr val="333333"/>
            </a:solidFill>
            <a:prstDash val="solid"/>
          </a:ln>
        </p:spPr>
        <p:txBody>
          <a:bodyPr/>
          <a:lstStyle/>
          <a:p>
            <a:endParaRPr lang="en-SE"/>
          </a:p>
        </p:txBody>
      </p:sp>
      <p:sp>
        <p:nvSpPr>
          <p:cNvPr id="3" name="Text 1"/>
          <p:cNvSpPr/>
          <p:nvPr/>
        </p:nvSpPr>
        <p:spPr>
          <a:xfrm>
            <a:off x="8168335" y="365760"/>
            <a:ext cx="3657600" cy="3840480"/>
          </a:xfrm>
          <a:prstGeom prst="rect">
            <a:avLst/>
          </a:prstGeom>
          <a:noFill/>
          <a:ln/>
        </p:spPr>
        <p:txBody>
          <a:bodyPr wrap="square" lIns="0" tIns="0" rIns="0" bIns="0" rtlCol="0" anchor="ctr"/>
          <a:lstStyle/>
          <a:p>
            <a:pPr marL="0" indent="0" algn="r">
              <a:buNone/>
            </a:pPr>
            <a:r>
              <a:rPr lang="en-US" sz="20000" b="1" dirty="0">
                <a:solidFill>
                  <a:srgbClr val="252B33"/>
                </a:solidFill>
                <a:latin typeface="Trebuchet MS" pitchFamily="34" charset="0"/>
                <a:ea typeface="Trebuchet MS" pitchFamily="34" charset="-122"/>
                <a:cs typeface="Trebuchet MS" pitchFamily="34" charset="-120"/>
              </a:rPr>
              <a:t>R</a:t>
            </a:r>
            <a:endParaRPr lang="en-US" sz="20000" dirty="0"/>
          </a:p>
        </p:txBody>
      </p:sp>
      <p:sp>
        <p:nvSpPr>
          <p:cNvPr id="4" name="Text 2"/>
          <p:cNvSpPr/>
          <p:nvPr/>
        </p:nvSpPr>
        <p:spPr>
          <a:xfrm>
            <a:off x="1005840" y="2148840"/>
            <a:ext cx="7315200" cy="310896"/>
          </a:xfrm>
          <a:prstGeom prst="rect">
            <a:avLst/>
          </a:prstGeom>
          <a:noFill/>
          <a:ln/>
        </p:spPr>
        <p:txBody>
          <a:bodyPr wrap="square" lIns="0" tIns="0" rIns="0" bIns="0" rtlCol="0" anchor="ctr"/>
          <a:lstStyle/>
          <a:p>
            <a:pPr marL="0" indent="0">
              <a:buNone/>
            </a:pPr>
            <a:r>
              <a:rPr lang="en-US" sz="1100" b="1" kern="0" spc="300" dirty="0">
                <a:solidFill>
                  <a:srgbClr val="34D6BE"/>
                </a:solidFill>
                <a:latin typeface="Calibri" pitchFamily="34" charset="0"/>
                <a:ea typeface="Calibri" pitchFamily="34" charset="-122"/>
                <a:cs typeface="Calibri" pitchFamily="34" charset="-120"/>
              </a:rPr>
              <a:t>SECTION R</a:t>
            </a:r>
            <a:endParaRPr lang="en-US" sz="1100" dirty="0"/>
          </a:p>
        </p:txBody>
      </p:sp>
      <p:sp>
        <p:nvSpPr>
          <p:cNvPr id="5" name="Text 3"/>
          <p:cNvSpPr/>
          <p:nvPr/>
        </p:nvSpPr>
        <p:spPr>
          <a:xfrm>
            <a:off x="1005840" y="2514600"/>
            <a:ext cx="7863840" cy="1371600"/>
          </a:xfrm>
          <a:prstGeom prst="rect">
            <a:avLst/>
          </a:prstGeom>
          <a:noFill/>
          <a:ln/>
        </p:spPr>
        <p:txBody>
          <a:bodyPr wrap="square" lIns="0" tIns="0" rIns="0" bIns="0" rtlCol="0" anchor="t"/>
          <a:lstStyle/>
          <a:p>
            <a:pPr marL="0" indent="0">
              <a:lnSpc>
                <a:spcPts val="4600"/>
              </a:lnSpc>
              <a:buNone/>
            </a:pPr>
            <a:r>
              <a:rPr lang="en-US" sz="4200" b="1" dirty="0">
                <a:solidFill>
                  <a:srgbClr val="F1F4F8"/>
                </a:solidFill>
                <a:latin typeface="Trebuchet MS" pitchFamily="34" charset="0"/>
                <a:ea typeface="Trebuchet MS" pitchFamily="34" charset="-122"/>
                <a:cs typeface="Trebuchet MS" pitchFamily="34" charset="-120"/>
              </a:rPr>
              <a:t>Technical reference</a:t>
            </a:r>
            <a:endParaRPr lang="en-US" sz="4200" dirty="0"/>
          </a:p>
        </p:txBody>
      </p:sp>
      <p:sp>
        <p:nvSpPr>
          <p:cNvPr id="6" name="Text 4"/>
          <p:cNvSpPr/>
          <p:nvPr/>
        </p:nvSpPr>
        <p:spPr>
          <a:xfrm>
            <a:off x="1005840" y="3977640"/>
            <a:ext cx="7315200" cy="822960"/>
          </a:xfrm>
          <a:prstGeom prst="rect">
            <a:avLst/>
          </a:prstGeom>
          <a:noFill/>
          <a:ln/>
        </p:spPr>
        <p:txBody>
          <a:bodyPr wrap="square" lIns="0" tIns="0" rIns="0" bIns="0" rtlCol="0" anchor="t"/>
          <a:lstStyle/>
          <a:p>
            <a:pPr marL="0" indent="0">
              <a:lnSpc>
                <a:spcPts val="2100"/>
              </a:lnSpc>
              <a:buNone/>
            </a:pPr>
            <a:r>
              <a:rPr lang="en-US" sz="1500" dirty="0">
                <a:solidFill>
                  <a:srgbClr val="8D97A5"/>
                </a:solidFill>
                <a:latin typeface="Calibri" pitchFamily="34" charset="0"/>
                <a:ea typeface="Calibri" pitchFamily="34" charset="-122"/>
                <a:cs typeface="Calibri" pitchFamily="34" charset="-120"/>
              </a:rPr>
              <a:t>Tables to come back to. Nothing new here — this is the material from the previous sections, arranged for lookup rather than for learning.</a:t>
            </a:r>
            <a:endParaRPr lang="en-US" sz="1500" dirty="0"/>
          </a:p>
        </p:txBody>
      </p:sp>
      <p:sp>
        <p:nvSpPr>
          <p:cNvPr id="7" name="Text 5"/>
          <p:cNvSpPr/>
          <p:nvPr/>
        </p:nvSpPr>
        <p:spPr>
          <a:xfrm>
            <a:off x="100584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Enumerations</a:t>
            </a:r>
            <a:endParaRPr lang="en-US" sz="1050" dirty="0"/>
          </a:p>
        </p:txBody>
      </p:sp>
      <p:sp>
        <p:nvSpPr>
          <p:cNvPr id="8" name="Text 6"/>
          <p:cNvSpPr/>
          <p:nvPr/>
        </p:nvSpPr>
        <p:spPr>
          <a:xfrm>
            <a:off x="384048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Constraints</a:t>
            </a:r>
            <a:endParaRPr lang="en-US" sz="1050" dirty="0"/>
          </a:p>
        </p:txBody>
      </p:sp>
      <p:sp>
        <p:nvSpPr>
          <p:cNvPr id="9" name="Text 7"/>
          <p:cNvSpPr/>
          <p:nvPr/>
        </p:nvSpPr>
        <p:spPr>
          <a:xfrm>
            <a:off x="667512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Defaults</a:t>
            </a:r>
            <a:endParaRPr lang="en-US" sz="1050" dirty="0"/>
          </a:p>
        </p:txBody>
      </p:sp>
      <p:sp>
        <p:nvSpPr>
          <p:cNvPr id="10" name="Text 8"/>
          <p:cNvSpPr/>
          <p:nvPr/>
        </p:nvSpPr>
        <p:spPr>
          <a:xfrm>
            <a:off x="9448800" y="5029200"/>
            <a:ext cx="2743200" cy="274320"/>
          </a:xfrm>
          <a:prstGeom prst="rect">
            <a:avLst/>
          </a:prstGeom>
          <a:noFill/>
          <a:ln/>
        </p:spPr>
        <p:txBody>
          <a:bodyPr wrap="square" lIns="0" tIns="0" rIns="0" bIns="0" rtlCol="0" anchor="ctr"/>
          <a:lstStyle/>
          <a:p>
            <a:pPr marL="0" indent="0">
              <a:buNone/>
            </a:pPr>
            <a:r>
              <a:rPr lang="en-US" sz="1050" kern="0" spc="100" dirty="0">
                <a:solidFill>
                  <a:srgbClr val="3B4450"/>
                </a:solidFill>
                <a:latin typeface="Calibri" pitchFamily="34" charset="0"/>
                <a:ea typeface="Calibri" pitchFamily="34" charset="-122"/>
                <a:cs typeface="Calibri" pitchFamily="34" charset="-120"/>
              </a:rPr>
              <a:t>Commands</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Enumerations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Every enum value is case-insensitive on input and stored upper-case. A value outside the member set is rejected.</a:t>
            </a:r>
            <a:endParaRPr lang="en-US" sz="1450" dirty="0"/>
          </a:p>
        </p:txBody>
      </p:sp>
      <p:sp>
        <p:nvSpPr>
          <p:cNvPr id="6" name="Shape 4"/>
          <p:cNvSpPr/>
          <p:nvPr/>
        </p:nvSpPr>
        <p:spPr>
          <a:xfrm>
            <a:off x="640080" y="2011680"/>
            <a:ext cx="10911535"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2011680"/>
            <a:ext cx="218108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ENUM</a:t>
            </a:r>
            <a:endParaRPr lang="en-US" sz="950" dirty="0"/>
          </a:p>
        </p:txBody>
      </p:sp>
      <p:sp>
        <p:nvSpPr>
          <p:cNvPr id="8" name="Text 6"/>
          <p:cNvSpPr/>
          <p:nvPr/>
        </p:nvSpPr>
        <p:spPr>
          <a:xfrm>
            <a:off x="3186922" y="2011680"/>
            <a:ext cx="523631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MEMBERS</a:t>
            </a:r>
            <a:endParaRPr lang="en-US" sz="950" dirty="0"/>
          </a:p>
        </p:txBody>
      </p:sp>
      <p:sp>
        <p:nvSpPr>
          <p:cNvPr id="9" name="Text 7"/>
          <p:cNvSpPr/>
          <p:nvPr/>
        </p:nvSpPr>
        <p:spPr>
          <a:xfrm>
            <a:off x="8642689" y="2011680"/>
            <a:ext cx="2835774"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USED BY</a:t>
            </a:r>
            <a:endParaRPr lang="en-US" sz="950" dirty="0"/>
          </a:p>
        </p:txBody>
      </p:sp>
      <p:sp>
        <p:nvSpPr>
          <p:cNvPr id="10" name="Shape 8"/>
          <p:cNvSpPr/>
          <p:nvPr/>
        </p:nvSpPr>
        <p:spPr>
          <a:xfrm>
            <a:off x="640080" y="2359152"/>
            <a:ext cx="10911535" cy="420624"/>
          </a:xfrm>
          <a:prstGeom prst="rect">
            <a:avLst/>
          </a:prstGeom>
          <a:solidFill>
            <a:srgbClr val="252B33"/>
          </a:solidFill>
          <a:ln w="12700">
            <a:solidFill>
              <a:srgbClr val="333333"/>
            </a:solidFill>
            <a:prstDash val="solid"/>
          </a:ln>
        </p:spPr>
        <p:txBody>
          <a:bodyPr/>
          <a:lstStyle/>
          <a:p>
            <a:endParaRPr lang="en-SE"/>
          </a:p>
        </p:txBody>
      </p:sp>
      <p:sp>
        <p:nvSpPr>
          <p:cNvPr id="11" name="Text 9"/>
          <p:cNvSpPr/>
          <p:nvPr/>
        </p:nvSpPr>
        <p:spPr>
          <a:xfrm>
            <a:off x="786384" y="2359152"/>
            <a:ext cx="2181082" cy="420624"/>
          </a:xfrm>
          <a:prstGeom prst="rect">
            <a:avLst/>
          </a:prstGeom>
          <a:noFill/>
          <a:ln/>
        </p:spPr>
        <p:txBody>
          <a:bodyPr wrap="square" lIns="0" tIns="0" rIns="0" bIns="0" rtlCol="0" anchor="ctr"/>
          <a:lstStyle/>
          <a:p>
            <a:pPr marL="0" indent="0" algn="l">
              <a:buNone/>
            </a:pPr>
            <a:r>
              <a:rPr lang="en-US" sz="1100" dirty="0">
                <a:solidFill>
                  <a:srgbClr val="34D6BE"/>
                </a:solidFill>
                <a:latin typeface="Consolas" pitchFamily="34" charset="0"/>
                <a:ea typeface="Consolas" pitchFamily="34" charset="-122"/>
                <a:cs typeface="Consolas" pitchFamily="34" charset="-120"/>
              </a:rPr>
              <a:t>Role</a:t>
            </a:r>
            <a:endParaRPr lang="en-US" sz="1100" dirty="0"/>
          </a:p>
        </p:txBody>
      </p:sp>
      <p:sp>
        <p:nvSpPr>
          <p:cNvPr id="12" name="Text 10"/>
          <p:cNvSpPr/>
          <p:nvPr/>
        </p:nvSpPr>
        <p:spPr>
          <a:xfrm>
            <a:off x="3186922" y="2359152"/>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TRADER · MARKET_MAKER · ADMIN</a:t>
            </a:r>
            <a:endParaRPr lang="en-US" sz="1100" dirty="0"/>
          </a:p>
        </p:txBody>
      </p:sp>
      <p:sp>
        <p:nvSpPr>
          <p:cNvPr id="13" name="Text 11"/>
          <p:cNvSpPr/>
          <p:nvPr/>
        </p:nvSpPr>
        <p:spPr>
          <a:xfrm>
            <a:off x="8642689" y="2359152"/>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gateway role</a:t>
            </a:r>
            <a:endParaRPr lang="en-US" sz="1100" dirty="0"/>
          </a:p>
        </p:txBody>
      </p:sp>
      <p:sp>
        <p:nvSpPr>
          <p:cNvPr id="14" name="Text 12"/>
          <p:cNvSpPr/>
          <p:nvPr/>
        </p:nvSpPr>
        <p:spPr>
          <a:xfrm>
            <a:off x="786384" y="2779776"/>
            <a:ext cx="2181082" cy="420624"/>
          </a:xfrm>
          <a:prstGeom prst="rect">
            <a:avLst/>
          </a:prstGeom>
          <a:noFill/>
          <a:ln/>
        </p:spPr>
        <p:txBody>
          <a:bodyPr wrap="square" lIns="0" tIns="0" rIns="0" bIns="0" rtlCol="0" anchor="ctr"/>
          <a:lstStyle/>
          <a:p>
            <a:pPr marL="0" indent="0" algn="l">
              <a:buNone/>
            </a:pPr>
            <a:r>
              <a:rPr lang="en-US" sz="1100" dirty="0">
                <a:solidFill>
                  <a:srgbClr val="34D6BE"/>
                </a:solidFill>
                <a:latin typeface="Consolas" pitchFamily="34" charset="0"/>
                <a:ea typeface="Consolas" pitchFamily="34" charset="-122"/>
                <a:cs typeface="Consolas" pitchFamily="34" charset="-120"/>
              </a:rPr>
              <a:t>DisconnectBehaviour</a:t>
            </a:r>
            <a:endParaRPr lang="en-US" sz="1100" dirty="0"/>
          </a:p>
        </p:txBody>
      </p:sp>
      <p:sp>
        <p:nvSpPr>
          <p:cNvPr id="15" name="Text 13"/>
          <p:cNvSpPr/>
          <p:nvPr/>
        </p:nvSpPr>
        <p:spPr>
          <a:xfrm>
            <a:off x="3186922" y="2779776"/>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CANCEL_QUOTES_ONLY · CANCEL_ALL · LEAVE_ALL</a:t>
            </a:r>
            <a:endParaRPr lang="en-US" sz="1100" dirty="0"/>
          </a:p>
        </p:txBody>
      </p:sp>
      <p:sp>
        <p:nvSpPr>
          <p:cNvPr id="16" name="Text 14"/>
          <p:cNvSpPr/>
          <p:nvPr/>
        </p:nvSpPr>
        <p:spPr>
          <a:xfrm>
            <a:off x="8642689" y="2779776"/>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gateway disconnect</a:t>
            </a:r>
            <a:endParaRPr lang="en-US" sz="1100" dirty="0"/>
          </a:p>
        </p:txBody>
      </p:sp>
      <p:sp>
        <p:nvSpPr>
          <p:cNvPr id="17" name="Shape 15"/>
          <p:cNvSpPr/>
          <p:nvPr/>
        </p:nvSpPr>
        <p:spPr>
          <a:xfrm>
            <a:off x="640080" y="3200400"/>
            <a:ext cx="10911535" cy="420624"/>
          </a:xfrm>
          <a:prstGeom prst="rect">
            <a:avLst/>
          </a:prstGeom>
          <a:solidFill>
            <a:srgbClr val="252B33"/>
          </a:solidFill>
          <a:ln w="12700">
            <a:solidFill>
              <a:srgbClr val="333333"/>
            </a:solidFill>
            <a:prstDash val="solid"/>
          </a:ln>
        </p:spPr>
        <p:txBody>
          <a:bodyPr/>
          <a:lstStyle/>
          <a:p>
            <a:endParaRPr lang="en-SE"/>
          </a:p>
        </p:txBody>
      </p:sp>
      <p:sp>
        <p:nvSpPr>
          <p:cNvPr id="18" name="Text 16"/>
          <p:cNvSpPr/>
          <p:nvPr/>
        </p:nvSpPr>
        <p:spPr>
          <a:xfrm>
            <a:off x="786384" y="3200400"/>
            <a:ext cx="2181082" cy="420624"/>
          </a:xfrm>
          <a:prstGeom prst="rect">
            <a:avLst/>
          </a:prstGeom>
          <a:noFill/>
          <a:ln/>
        </p:spPr>
        <p:txBody>
          <a:bodyPr wrap="square" lIns="0" tIns="0" rIns="0" bIns="0" rtlCol="0" anchor="ctr"/>
          <a:lstStyle/>
          <a:p>
            <a:pPr marL="0" indent="0" algn="l">
              <a:buNone/>
            </a:pPr>
            <a:r>
              <a:rPr lang="en-US" sz="1100" dirty="0">
                <a:solidFill>
                  <a:srgbClr val="34D6BE"/>
                </a:solidFill>
                <a:latin typeface="Consolas" pitchFamily="34" charset="0"/>
                <a:ea typeface="Consolas" pitchFamily="34" charset="-122"/>
                <a:cs typeface="Consolas" pitchFamily="34" charset="-120"/>
              </a:rPr>
              <a:t>QuoteRefreshPolicy</a:t>
            </a:r>
            <a:endParaRPr lang="en-US" sz="1100" dirty="0"/>
          </a:p>
        </p:txBody>
      </p:sp>
      <p:sp>
        <p:nvSpPr>
          <p:cNvPr id="19" name="Text 17"/>
          <p:cNvSpPr/>
          <p:nvPr/>
        </p:nvSpPr>
        <p:spPr>
          <a:xfrm>
            <a:off x="3186922" y="3200400"/>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INACTIVATE_ON_ANY_FILL · INACTIVATE_ON_FULL_FILL · NEVER_INACTIVATE</a:t>
            </a:r>
            <a:endParaRPr lang="en-US" sz="1100" dirty="0"/>
          </a:p>
        </p:txBody>
      </p:sp>
      <p:sp>
        <p:nvSpPr>
          <p:cNvPr id="20" name="Text 18"/>
          <p:cNvSpPr/>
          <p:nvPr/>
        </p:nvSpPr>
        <p:spPr>
          <a:xfrm>
            <a:off x="8642689" y="3200400"/>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gateway quoting</a:t>
            </a:r>
            <a:endParaRPr lang="en-US" sz="1100" dirty="0"/>
          </a:p>
        </p:txBody>
      </p:sp>
      <p:sp>
        <p:nvSpPr>
          <p:cNvPr id="21" name="Text 19"/>
          <p:cNvSpPr/>
          <p:nvPr/>
        </p:nvSpPr>
        <p:spPr>
          <a:xfrm>
            <a:off x="786384" y="3621024"/>
            <a:ext cx="2181082" cy="420624"/>
          </a:xfrm>
          <a:prstGeom prst="rect">
            <a:avLst/>
          </a:prstGeom>
          <a:noFill/>
          <a:ln/>
        </p:spPr>
        <p:txBody>
          <a:bodyPr wrap="square" lIns="0" tIns="0" rIns="0" bIns="0" rtlCol="0" anchor="ctr"/>
          <a:lstStyle/>
          <a:p>
            <a:pPr marL="0" indent="0" algn="l">
              <a:buNone/>
            </a:pPr>
            <a:r>
              <a:rPr lang="en-US" sz="1100" dirty="0">
                <a:solidFill>
                  <a:srgbClr val="F3B441"/>
                </a:solidFill>
                <a:latin typeface="Consolas" pitchFamily="34" charset="0"/>
                <a:ea typeface="Consolas" pitchFamily="34" charset="-122"/>
                <a:cs typeface="Consolas" pitchFamily="34" charset="-120"/>
              </a:rPr>
              <a:t>TIF</a:t>
            </a:r>
            <a:endParaRPr lang="en-US" sz="1100" dirty="0"/>
          </a:p>
        </p:txBody>
      </p:sp>
      <p:sp>
        <p:nvSpPr>
          <p:cNvPr id="22" name="Text 20"/>
          <p:cNvSpPr/>
          <p:nvPr/>
        </p:nvSpPr>
        <p:spPr>
          <a:xfrm>
            <a:off x="3186922" y="3621024"/>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DAY · GTC · ATO · ATC</a:t>
            </a:r>
            <a:endParaRPr lang="en-US" sz="1100" dirty="0"/>
          </a:p>
        </p:txBody>
      </p:sp>
      <p:sp>
        <p:nvSpPr>
          <p:cNvPr id="23" name="Text 21"/>
          <p:cNvSpPr/>
          <p:nvPr/>
        </p:nvSpPr>
        <p:spPr>
          <a:xfrm>
            <a:off x="8642689" y="3621024"/>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quote and combo seeds</a:t>
            </a:r>
            <a:endParaRPr lang="en-US" sz="1100" dirty="0"/>
          </a:p>
        </p:txBody>
      </p:sp>
      <p:sp>
        <p:nvSpPr>
          <p:cNvPr id="24" name="Shape 22"/>
          <p:cNvSpPr/>
          <p:nvPr/>
        </p:nvSpPr>
        <p:spPr>
          <a:xfrm>
            <a:off x="640080" y="4041648"/>
            <a:ext cx="10911535" cy="420624"/>
          </a:xfrm>
          <a:prstGeom prst="rect">
            <a:avLst/>
          </a:prstGeom>
          <a:solidFill>
            <a:srgbClr val="252B33"/>
          </a:solidFill>
          <a:ln w="12700">
            <a:solidFill>
              <a:srgbClr val="333333"/>
            </a:solidFill>
            <a:prstDash val="solid"/>
          </a:ln>
        </p:spPr>
        <p:txBody>
          <a:bodyPr/>
          <a:lstStyle/>
          <a:p>
            <a:endParaRPr lang="en-SE"/>
          </a:p>
        </p:txBody>
      </p:sp>
      <p:sp>
        <p:nvSpPr>
          <p:cNvPr id="25" name="Text 23"/>
          <p:cNvSpPr/>
          <p:nvPr/>
        </p:nvSpPr>
        <p:spPr>
          <a:xfrm>
            <a:off x="786384" y="4041648"/>
            <a:ext cx="2181082" cy="420624"/>
          </a:xfrm>
          <a:prstGeom prst="rect">
            <a:avLst/>
          </a:prstGeom>
          <a:noFill/>
          <a:ln/>
        </p:spPr>
        <p:txBody>
          <a:bodyPr wrap="square" lIns="0" tIns="0" rIns="0" bIns="0" rtlCol="0" anchor="ctr"/>
          <a:lstStyle/>
          <a:p>
            <a:pPr marL="0" indent="0" algn="l">
              <a:buNone/>
            </a:pPr>
            <a:r>
              <a:rPr lang="en-US" sz="1100" dirty="0">
                <a:solidFill>
                  <a:srgbClr val="F3B441"/>
                </a:solidFill>
                <a:latin typeface="Consolas" pitchFamily="34" charset="0"/>
                <a:ea typeface="Consolas" pitchFamily="34" charset="-122"/>
                <a:cs typeface="Consolas" pitchFamily="34" charset="-120"/>
              </a:rPr>
              <a:t>ComboType</a:t>
            </a:r>
            <a:endParaRPr lang="en-US" sz="1100" dirty="0"/>
          </a:p>
        </p:txBody>
      </p:sp>
      <p:sp>
        <p:nvSpPr>
          <p:cNvPr id="26" name="Text 24"/>
          <p:cNvSpPr/>
          <p:nvPr/>
        </p:nvSpPr>
        <p:spPr>
          <a:xfrm>
            <a:off x="3186922" y="4041648"/>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AON</a:t>
            </a:r>
            <a:endParaRPr lang="en-US" sz="1100" dirty="0"/>
          </a:p>
        </p:txBody>
      </p:sp>
      <p:sp>
        <p:nvSpPr>
          <p:cNvPr id="27" name="Text 25"/>
          <p:cNvSpPr/>
          <p:nvPr/>
        </p:nvSpPr>
        <p:spPr>
          <a:xfrm>
            <a:off x="8642689" y="4041648"/>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combo seeds</a:t>
            </a:r>
            <a:endParaRPr lang="en-US" sz="1100" dirty="0"/>
          </a:p>
        </p:txBody>
      </p:sp>
      <p:sp>
        <p:nvSpPr>
          <p:cNvPr id="28" name="Text 26"/>
          <p:cNvSpPr/>
          <p:nvPr/>
        </p:nvSpPr>
        <p:spPr>
          <a:xfrm>
            <a:off x="786384" y="4462272"/>
            <a:ext cx="2181082" cy="420624"/>
          </a:xfrm>
          <a:prstGeom prst="rect">
            <a:avLst/>
          </a:prstGeom>
          <a:noFill/>
          <a:ln/>
        </p:spPr>
        <p:txBody>
          <a:bodyPr wrap="square" lIns="0" tIns="0" rIns="0" bIns="0" rtlCol="0" anchor="ctr"/>
          <a:lstStyle/>
          <a:p>
            <a:pPr marL="0" indent="0" algn="l">
              <a:buNone/>
            </a:pPr>
            <a:r>
              <a:rPr lang="en-US" sz="1100" dirty="0">
                <a:solidFill>
                  <a:srgbClr val="F3B441"/>
                </a:solidFill>
                <a:latin typeface="Consolas" pitchFamily="34" charset="0"/>
                <a:ea typeface="Consolas" pitchFamily="34" charset="-122"/>
                <a:cs typeface="Consolas" pitchFamily="34" charset="-120"/>
              </a:rPr>
              <a:t>Side</a:t>
            </a:r>
            <a:endParaRPr lang="en-US" sz="1100" dirty="0"/>
          </a:p>
        </p:txBody>
      </p:sp>
      <p:sp>
        <p:nvSpPr>
          <p:cNvPr id="29" name="Text 27"/>
          <p:cNvSpPr/>
          <p:nvPr/>
        </p:nvSpPr>
        <p:spPr>
          <a:xfrm>
            <a:off x="3186922" y="4462272"/>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BUY · SELL</a:t>
            </a:r>
            <a:endParaRPr lang="en-US" sz="1100" dirty="0"/>
          </a:p>
        </p:txBody>
      </p:sp>
      <p:sp>
        <p:nvSpPr>
          <p:cNvPr id="30" name="Text 28"/>
          <p:cNvSpPr/>
          <p:nvPr/>
        </p:nvSpPr>
        <p:spPr>
          <a:xfrm>
            <a:off x="8642689" y="4462272"/>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combo legs</a:t>
            </a:r>
            <a:endParaRPr lang="en-US" sz="1100" dirty="0"/>
          </a:p>
        </p:txBody>
      </p:sp>
      <p:sp>
        <p:nvSpPr>
          <p:cNvPr id="31" name="Shape 29"/>
          <p:cNvSpPr/>
          <p:nvPr/>
        </p:nvSpPr>
        <p:spPr>
          <a:xfrm>
            <a:off x="640080" y="4882896"/>
            <a:ext cx="10911535" cy="420624"/>
          </a:xfrm>
          <a:prstGeom prst="rect">
            <a:avLst/>
          </a:prstGeom>
          <a:solidFill>
            <a:srgbClr val="252B33"/>
          </a:solidFill>
          <a:ln w="12700">
            <a:solidFill>
              <a:srgbClr val="333333"/>
            </a:solidFill>
            <a:prstDash val="solid"/>
          </a:ln>
        </p:spPr>
        <p:txBody>
          <a:bodyPr/>
          <a:lstStyle/>
          <a:p>
            <a:endParaRPr lang="en-SE"/>
          </a:p>
        </p:txBody>
      </p:sp>
      <p:sp>
        <p:nvSpPr>
          <p:cNvPr id="32" name="Text 30"/>
          <p:cNvSpPr/>
          <p:nvPr/>
        </p:nvSpPr>
        <p:spPr>
          <a:xfrm>
            <a:off x="786384" y="4882896"/>
            <a:ext cx="2181082" cy="420624"/>
          </a:xfrm>
          <a:prstGeom prst="rect">
            <a:avLst/>
          </a:prstGeom>
          <a:noFill/>
          <a:ln/>
        </p:spPr>
        <p:txBody>
          <a:bodyPr wrap="square" lIns="0" tIns="0" rIns="0" bIns="0" rtlCol="0" anchor="ctr"/>
          <a:lstStyle/>
          <a:p>
            <a:pPr marL="0" indent="0" algn="l">
              <a:buNone/>
            </a:pPr>
            <a:r>
              <a:rPr lang="en-US" sz="1100" dirty="0">
                <a:solidFill>
                  <a:srgbClr val="9B8CFF"/>
                </a:solidFill>
                <a:latin typeface="Consolas" pitchFamily="34" charset="0"/>
                <a:ea typeface="Consolas" pitchFamily="34" charset="-122"/>
                <a:cs typeface="Consolas" pitchFamily="34" charset="-120"/>
              </a:rPr>
              <a:t>OrderType</a:t>
            </a:r>
            <a:endParaRPr lang="en-US" sz="1100" dirty="0"/>
          </a:p>
        </p:txBody>
      </p:sp>
      <p:sp>
        <p:nvSpPr>
          <p:cNvPr id="33" name="Text 31"/>
          <p:cNvSpPr/>
          <p:nvPr/>
        </p:nvSpPr>
        <p:spPr>
          <a:xfrm>
            <a:off x="3186922" y="4882896"/>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MARKET · LIMIT · STOP · STOP_LIMIT · FOK · ICEBERG · IOC · TRAILING_STOP</a:t>
            </a:r>
            <a:endParaRPr lang="en-US" sz="1100" dirty="0"/>
          </a:p>
        </p:txBody>
      </p:sp>
      <p:sp>
        <p:nvSpPr>
          <p:cNvPr id="34" name="Text 32"/>
          <p:cNvSpPr/>
          <p:nvPr/>
        </p:nvSpPr>
        <p:spPr>
          <a:xfrm>
            <a:off x="8642689" y="4882896"/>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combo legs</a:t>
            </a:r>
            <a:endParaRPr lang="en-US" sz="1100" dirty="0"/>
          </a:p>
        </p:txBody>
      </p:sp>
      <p:sp>
        <p:nvSpPr>
          <p:cNvPr id="35" name="Text 33"/>
          <p:cNvSpPr/>
          <p:nvPr/>
        </p:nvSpPr>
        <p:spPr>
          <a:xfrm>
            <a:off x="786384" y="5303520"/>
            <a:ext cx="2181082" cy="420624"/>
          </a:xfrm>
          <a:prstGeom prst="rect">
            <a:avLst/>
          </a:prstGeom>
          <a:noFill/>
          <a:ln/>
        </p:spPr>
        <p:txBody>
          <a:bodyPr wrap="square" lIns="0" tIns="0" rIns="0" bIns="0" rtlCol="0" anchor="ctr"/>
          <a:lstStyle/>
          <a:p>
            <a:pPr marL="0" indent="0" algn="l">
              <a:buNone/>
            </a:pPr>
            <a:r>
              <a:rPr lang="en-US" sz="1100" dirty="0">
                <a:solidFill>
                  <a:srgbClr val="9B8CFF"/>
                </a:solidFill>
                <a:latin typeface="Consolas" pitchFamily="34" charset="0"/>
                <a:ea typeface="Consolas" pitchFamily="34" charset="-122"/>
                <a:cs typeface="Consolas" pitchFamily="34" charset="-120"/>
              </a:rPr>
              <a:t>SmpAction</a:t>
            </a:r>
            <a:endParaRPr lang="en-US" sz="1100" dirty="0"/>
          </a:p>
        </p:txBody>
      </p:sp>
      <p:sp>
        <p:nvSpPr>
          <p:cNvPr id="36" name="Text 34"/>
          <p:cNvSpPr/>
          <p:nvPr/>
        </p:nvSpPr>
        <p:spPr>
          <a:xfrm>
            <a:off x="3186922" y="5303520"/>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NONE · CANCEL_AGGRESSOR · CANCEL_RESTING · CANCEL_BOTH</a:t>
            </a:r>
            <a:endParaRPr lang="en-US" sz="1100" dirty="0"/>
          </a:p>
        </p:txBody>
      </p:sp>
      <p:sp>
        <p:nvSpPr>
          <p:cNvPr id="37" name="Text 35"/>
          <p:cNvSpPr/>
          <p:nvPr/>
        </p:nvSpPr>
        <p:spPr>
          <a:xfrm>
            <a:off x="8642689" y="5303520"/>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self-match prevention</a:t>
            </a:r>
            <a:endParaRPr lang="en-US" sz="1100" dirty="0"/>
          </a:p>
        </p:txBody>
      </p:sp>
      <p:sp>
        <p:nvSpPr>
          <p:cNvPr id="38" name="Shape 36"/>
          <p:cNvSpPr/>
          <p:nvPr/>
        </p:nvSpPr>
        <p:spPr>
          <a:xfrm>
            <a:off x="640080" y="5724144"/>
            <a:ext cx="10911535" cy="420624"/>
          </a:xfrm>
          <a:prstGeom prst="rect">
            <a:avLst/>
          </a:prstGeom>
          <a:solidFill>
            <a:srgbClr val="252B33"/>
          </a:solidFill>
          <a:ln w="12700">
            <a:solidFill>
              <a:srgbClr val="333333"/>
            </a:solidFill>
            <a:prstDash val="solid"/>
          </a:ln>
        </p:spPr>
        <p:txBody>
          <a:bodyPr/>
          <a:lstStyle/>
          <a:p>
            <a:endParaRPr lang="en-SE"/>
          </a:p>
        </p:txBody>
      </p:sp>
      <p:sp>
        <p:nvSpPr>
          <p:cNvPr id="39" name="Text 37"/>
          <p:cNvSpPr/>
          <p:nvPr/>
        </p:nvSpPr>
        <p:spPr>
          <a:xfrm>
            <a:off x="786384" y="5724144"/>
            <a:ext cx="2181082" cy="420624"/>
          </a:xfrm>
          <a:prstGeom prst="rect">
            <a:avLst/>
          </a:prstGeom>
          <a:noFill/>
          <a:ln/>
        </p:spPr>
        <p:txBody>
          <a:bodyPr wrap="square" lIns="0" tIns="0" rIns="0" bIns="0" rtlCol="0" anchor="ctr"/>
          <a:lstStyle/>
          <a:p>
            <a:pPr marL="0" indent="0" algn="l">
              <a:buNone/>
            </a:pPr>
            <a:r>
              <a:rPr lang="en-US" sz="1100" dirty="0">
                <a:solidFill>
                  <a:srgbClr val="5AB2F7"/>
                </a:solidFill>
                <a:latin typeface="Consolas" pitchFamily="34" charset="0"/>
                <a:ea typeface="Consolas" pitchFamily="34" charset="-122"/>
                <a:cs typeface="Consolas" pitchFamily="34" charset="-120"/>
              </a:rPr>
              <a:t>DuplicateSessionPolicy</a:t>
            </a:r>
            <a:endParaRPr lang="en-US" sz="1100" dirty="0"/>
          </a:p>
        </p:txBody>
      </p:sp>
      <p:sp>
        <p:nvSpPr>
          <p:cNvPr id="40" name="Text 38"/>
          <p:cNvSpPr/>
          <p:nvPr/>
        </p:nvSpPr>
        <p:spPr>
          <a:xfrm>
            <a:off x="3186922" y="5724144"/>
            <a:ext cx="5236312"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REJECT_NEW · EVICT_OLD</a:t>
            </a:r>
            <a:endParaRPr lang="en-US" sz="1100" dirty="0"/>
          </a:p>
        </p:txBody>
      </p:sp>
      <p:sp>
        <p:nvSpPr>
          <p:cNvPr id="41" name="Text 39"/>
          <p:cNvSpPr/>
          <p:nvPr/>
        </p:nvSpPr>
        <p:spPr>
          <a:xfrm>
            <a:off x="8642689" y="5724144"/>
            <a:ext cx="2835774" cy="420624"/>
          </a:xfrm>
          <a:prstGeom prst="rect">
            <a:avLst/>
          </a:prstGeom>
          <a:noFill/>
          <a:ln/>
        </p:spPr>
        <p:txBody>
          <a:bodyPr wrap="square" lIns="0" tIns="0" rIns="0" bIns="0" rtlCol="0" anchor="ctr"/>
          <a:lstStyle/>
          <a:p>
            <a:pPr marL="0" indent="0" algn="l">
              <a:buNone/>
            </a:pPr>
            <a:r>
              <a:rPr lang="en-US" sz="1100" dirty="0">
                <a:solidFill>
                  <a:srgbClr val="C2CAD4"/>
                </a:solidFill>
                <a:latin typeface="Calibri" pitchFamily="34" charset="0"/>
                <a:ea typeface="Calibri" pitchFamily="34" charset="-122"/>
                <a:cs typeface="Calibri" pitchFamily="34" charset="-120"/>
              </a:rPr>
              <a:t>binary gateway sessions</a:t>
            </a:r>
            <a:endParaRPr lang="en-US" sz="1100" dirty="0"/>
          </a:p>
        </p:txBody>
      </p:sp>
      <p:sp>
        <p:nvSpPr>
          <p:cNvPr id="42" name="Text 40"/>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Technical reference</a:t>
            </a:r>
            <a:endParaRPr lang="en-US" sz="950" dirty="0"/>
          </a:p>
        </p:txBody>
      </p:sp>
      <p:sp>
        <p:nvSpPr>
          <p:cNvPr id="43" name="Text 41"/>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Cross-field constraints</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Rules that span more than one section. A violation is rejected at load — with one documented exception.</a:t>
            </a:r>
            <a:endParaRPr lang="en-US" sz="1450" dirty="0"/>
          </a:p>
        </p:txBody>
      </p:sp>
      <p:sp>
        <p:nvSpPr>
          <p:cNvPr id="6" name="Shape 4"/>
          <p:cNvSpPr/>
          <p:nvPr/>
        </p:nvSpPr>
        <p:spPr>
          <a:xfrm>
            <a:off x="640080" y="2093976"/>
            <a:ext cx="73152" cy="73152"/>
          </a:xfrm>
          <a:prstGeom prst="rect">
            <a:avLst/>
          </a:prstGeom>
          <a:solidFill>
            <a:srgbClr val="FF7A6B"/>
          </a:solidFill>
          <a:ln w="12700">
            <a:solidFill>
              <a:srgbClr val="333333"/>
            </a:solidFill>
            <a:prstDash val="solid"/>
          </a:ln>
        </p:spPr>
        <p:txBody>
          <a:bodyPr/>
          <a:lstStyle/>
          <a:p>
            <a:endParaRPr lang="en-SE"/>
          </a:p>
        </p:txBody>
      </p:sp>
      <p:sp>
        <p:nvSpPr>
          <p:cNvPr id="7" name="Text 5"/>
          <p:cNvSpPr/>
          <p:nvPr/>
        </p:nvSpPr>
        <p:spPr>
          <a:xfrm>
            <a:off x="859536" y="1984248"/>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Both required sections present; the gateway list has at least one entry</a:t>
            </a:r>
            <a:endParaRPr lang="en-US" sz="1150" dirty="0"/>
          </a:p>
        </p:txBody>
      </p:sp>
      <p:sp>
        <p:nvSpPr>
          <p:cNvPr id="8" name="Shape 6"/>
          <p:cNvSpPr/>
          <p:nvPr/>
        </p:nvSpPr>
        <p:spPr>
          <a:xfrm>
            <a:off x="6233008" y="2093976"/>
            <a:ext cx="73152" cy="73152"/>
          </a:xfrm>
          <a:prstGeom prst="rect">
            <a:avLst/>
          </a:prstGeom>
          <a:solidFill>
            <a:srgbClr val="FF7A6B"/>
          </a:solidFill>
          <a:ln w="12700">
            <a:solidFill>
              <a:srgbClr val="333333"/>
            </a:solidFill>
            <a:prstDash val="solid"/>
          </a:ln>
        </p:spPr>
        <p:txBody>
          <a:bodyPr/>
          <a:lstStyle/>
          <a:p>
            <a:endParaRPr lang="en-SE"/>
          </a:p>
        </p:txBody>
      </p:sp>
      <p:sp>
        <p:nvSpPr>
          <p:cNvPr id="9" name="Text 7"/>
          <p:cNvSpPr/>
          <p:nvPr/>
        </p:nvSpPr>
        <p:spPr>
          <a:xfrm>
            <a:off x="6452464" y="1984248"/>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Gateway IDs are unique, and no ID is a prefix of another</a:t>
            </a:r>
            <a:endParaRPr lang="en-US" sz="1150" dirty="0"/>
          </a:p>
        </p:txBody>
      </p:sp>
      <p:sp>
        <p:nvSpPr>
          <p:cNvPr id="10" name="Shape 8"/>
          <p:cNvSpPr/>
          <p:nvPr/>
        </p:nvSpPr>
        <p:spPr>
          <a:xfrm>
            <a:off x="640080" y="2679192"/>
            <a:ext cx="73152" cy="73152"/>
          </a:xfrm>
          <a:prstGeom prst="rect">
            <a:avLst/>
          </a:prstGeom>
          <a:solidFill>
            <a:srgbClr val="F3B441"/>
          </a:solidFill>
          <a:ln w="12700">
            <a:solidFill>
              <a:srgbClr val="333333"/>
            </a:solidFill>
            <a:prstDash val="solid"/>
          </a:ln>
        </p:spPr>
        <p:txBody>
          <a:bodyPr/>
          <a:lstStyle/>
          <a:p>
            <a:endParaRPr lang="en-SE"/>
          </a:p>
        </p:txBody>
      </p:sp>
      <p:sp>
        <p:nvSpPr>
          <p:cNvPr id="11" name="Text 9"/>
          <p:cNvSpPr/>
          <p:nvPr/>
        </p:nvSpPr>
        <p:spPr>
          <a:xfrm>
            <a:off x="859536" y="2569464"/>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If any gateway is a market maker, every symbol must define at least one seed quote</a:t>
            </a:r>
            <a:endParaRPr lang="en-US" sz="1150" dirty="0"/>
          </a:p>
        </p:txBody>
      </p:sp>
      <p:sp>
        <p:nvSpPr>
          <p:cNvPr id="12" name="Shape 10"/>
          <p:cNvSpPr/>
          <p:nvPr/>
        </p:nvSpPr>
        <p:spPr>
          <a:xfrm>
            <a:off x="6233008" y="2679192"/>
            <a:ext cx="73152" cy="73152"/>
          </a:xfrm>
          <a:prstGeom prst="rect">
            <a:avLst/>
          </a:prstGeom>
          <a:solidFill>
            <a:srgbClr val="F3B441"/>
          </a:solidFill>
          <a:ln w="12700">
            <a:solidFill>
              <a:srgbClr val="333333"/>
            </a:solidFill>
            <a:prstDash val="solid"/>
          </a:ln>
        </p:spPr>
        <p:txBody>
          <a:bodyPr/>
          <a:lstStyle/>
          <a:p>
            <a:endParaRPr lang="en-SE"/>
          </a:p>
        </p:txBody>
      </p:sp>
      <p:sp>
        <p:nvSpPr>
          <p:cNvPr id="13" name="Text 11"/>
          <p:cNvSpPr/>
          <p:nvPr/>
        </p:nvSpPr>
        <p:spPr>
          <a:xfrm>
            <a:off x="6452464" y="2569464"/>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Every seed quote names a gateway that exists and carries the MARKET_MAKER role</a:t>
            </a:r>
            <a:endParaRPr lang="en-US" sz="1150" dirty="0"/>
          </a:p>
        </p:txBody>
      </p:sp>
      <p:sp>
        <p:nvSpPr>
          <p:cNvPr id="14" name="Shape 12"/>
          <p:cNvSpPr/>
          <p:nvPr/>
        </p:nvSpPr>
        <p:spPr>
          <a:xfrm>
            <a:off x="640080" y="3264408"/>
            <a:ext cx="73152" cy="73152"/>
          </a:xfrm>
          <a:prstGeom prst="rect">
            <a:avLst/>
          </a:prstGeom>
          <a:solidFill>
            <a:srgbClr val="F3B441"/>
          </a:solidFill>
          <a:ln w="12700">
            <a:solidFill>
              <a:srgbClr val="333333"/>
            </a:solidFill>
            <a:prstDash val="solid"/>
          </a:ln>
        </p:spPr>
        <p:txBody>
          <a:bodyPr/>
          <a:lstStyle/>
          <a:p>
            <a:endParaRPr lang="en-SE"/>
          </a:p>
        </p:txBody>
      </p:sp>
      <p:sp>
        <p:nvSpPr>
          <p:cNvPr id="15" name="Text 13"/>
          <p:cNvSpPr/>
          <p:nvPr/>
        </p:nvSpPr>
        <p:spPr>
          <a:xfrm>
            <a:off x="859536" y="3154680"/>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Every seed quote has a bid strictly below its ask, and positive sizes on both sides</a:t>
            </a:r>
            <a:endParaRPr lang="en-US" sz="1150" dirty="0"/>
          </a:p>
        </p:txBody>
      </p:sp>
      <p:sp>
        <p:nvSpPr>
          <p:cNvPr id="16" name="Shape 14"/>
          <p:cNvSpPr/>
          <p:nvPr/>
        </p:nvSpPr>
        <p:spPr>
          <a:xfrm>
            <a:off x="6233008" y="3264408"/>
            <a:ext cx="73152" cy="73152"/>
          </a:xfrm>
          <a:prstGeom prst="rect">
            <a:avLst/>
          </a:prstGeom>
          <a:solidFill>
            <a:srgbClr val="9B8CFF"/>
          </a:solidFill>
          <a:ln w="12700">
            <a:solidFill>
              <a:srgbClr val="333333"/>
            </a:solidFill>
            <a:prstDash val="solid"/>
          </a:ln>
        </p:spPr>
        <p:txBody>
          <a:bodyPr/>
          <a:lstStyle/>
          <a:p>
            <a:endParaRPr lang="en-SE"/>
          </a:p>
        </p:txBody>
      </p:sp>
      <p:sp>
        <p:nvSpPr>
          <p:cNvPr id="17" name="Text 15"/>
          <p:cNvSpPr/>
          <p:nvPr/>
        </p:nvSpPr>
        <p:spPr>
          <a:xfrm>
            <a:off x="6452464" y="3154680"/>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Every risk level a symbol references — explicitly or by default — actually exists</a:t>
            </a:r>
            <a:endParaRPr lang="en-US" sz="1150" dirty="0"/>
          </a:p>
        </p:txBody>
      </p:sp>
      <p:sp>
        <p:nvSpPr>
          <p:cNvPr id="18" name="Shape 16"/>
          <p:cNvSpPr/>
          <p:nvPr/>
        </p:nvSpPr>
        <p:spPr>
          <a:xfrm>
            <a:off x="640080" y="3849624"/>
            <a:ext cx="73152" cy="73152"/>
          </a:xfrm>
          <a:prstGeom prst="rect">
            <a:avLst/>
          </a:prstGeom>
          <a:solidFill>
            <a:srgbClr val="9B8CFF"/>
          </a:solidFill>
          <a:ln w="12700">
            <a:solidFill>
              <a:srgbClr val="333333"/>
            </a:solidFill>
            <a:prstDash val="solid"/>
          </a:ln>
        </p:spPr>
        <p:txBody>
          <a:bodyPr/>
          <a:lstStyle/>
          <a:p>
            <a:endParaRPr lang="en-SE"/>
          </a:p>
        </p:txBody>
      </p:sp>
      <p:sp>
        <p:nvSpPr>
          <p:cNvPr id="19" name="Text 17"/>
          <p:cNvSpPr/>
          <p:nvPr/>
        </p:nvSpPr>
        <p:spPr>
          <a:xfrm>
            <a:off x="859536" y="3739896"/>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A circuit-breaker block may not appear inside a risk level</a:t>
            </a:r>
            <a:endParaRPr lang="en-US" sz="1150" dirty="0"/>
          </a:p>
        </p:txBody>
      </p:sp>
      <p:sp>
        <p:nvSpPr>
          <p:cNvPr id="20" name="Shape 18"/>
          <p:cNvSpPr/>
          <p:nvPr/>
        </p:nvSpPr>
        <p:spPr>
          <a:xfrm>
            <a:off x="6233008" y="3849624"/>
            <a:ext cx="73152" cy="73152"/>
          </a:xfrm>
          <a:prstGeom prst="rect">
            <a:avLst/>
          </a:prstGeom>
          <a:solidFill>
            <a:srgbClr val="5AB2F7"/>
          </a:solidFill>
          <a:ln w="12700">
            <a:solidFill>
              <a:srgbClr val="333333"/>
            </a:solidFill>
            <a:prstDash val="solid"/>
          </a:ln>
        </p:spPr>
        <p:txBody>
          <a:bodyPr/>
          <a:lstStyle/>
          <a:p>
            <a:endParaRPr lang="en-SE"/>
          </a:p>
        </p:txBody>
      </p:sp>
      <p:sp>
        <p:nvSpPr>
          <p:cNvPr id="21" name="Text 19"/>
          <p:cNvSpPr/>
          <p:nvPr/>
        </p:nvSpPr>
        <p:spPr>
          <a:xfrm>
            <a:off x="6452464" y="3739896"/>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Each combo has two to ten legs, with unique symbols that all exist in the universe</a:t>
            </a:r>
            <a:endParaRPr lang="en-US" sz="1150" dirty="0"/>
          </a:p>
        </p:txBody>
      </p:sp>
      <p:sp>
        <p:nvSpPr>
          <p:cNvPr id="22" name="Shape 20"/>
          <p:cNvSpPr/>
          <p:nvPr/>
        </p:nvSpPr>
        <p:spPr>
          <a:xfrm>
            <a:off x="640080" y="4434840"/>
            <a:ext cx="73152" cy="73152"/>
          </a:xfrm>
          <a:prstGeom prst="rect">
            <a:avLst/>
          </a:prstGeom>
          <a:solidFill>
            <a:srgbClr val="5AB2F7"/>
          </a:solidFill>
          <a:ln w="12700">
            <a:solidFill>
              <a:srgbClr val="333333"/>
            </a:solidFill>
            <a:prstDash val="solid"/>
          </a:ln>
        </p:spPr>
        <p:txBody>
          <a:bodyPr/>
          <a:lstStyle/>
          <a:p>
            <a:endParaRPr lang="en-SE"/>
          </a:p>
        </p:txBody>
      </p:sp>
      <p:sp>
        <p:nvSpPr>
          <p:cNvPr id="23" name="Text 21"/>
          <p:cNvSpPr/>
          <p:nvPr/>
        </p:nvSpPr>
        <p:spPr>
          <a:xfrm>
            <a:off x="859536" y="4325112"/>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At most five indices; every constituent exists and defines a share count</a:t>
            </a:r>
            <a:endParaRPr lang="en-US" sz="1150" dirty="0"/>
          </a:p>
        </p:txBody>
      </p:sp>
      <p:sp>
        <p:nvSpPr>
          <p:cNvPr id="24" name="Shape 22"/>
          <p:cNvSpPr/>
          <p:nvPr/>
        </p:nvSpPr>
        <p:spPr>
          <a:xfrm>
            <a:off x="6233008" y="4434840"/>
            <a:ext cx="73152" cy="73152"/>
          </a:xfrm>
          <a:prstGeom prst="rect">
            <a:avLst/>
          </a:prstGeom>
          <a:solidFill>
            <a:srgbClr val="34D6BE"/>
          </a:solidFill>
          <a:ln w="12700">
            <a:solidFill>
              <a:srgbClr val="333333"/>
            </a:solidFill>
            <a:prstDash val="solid"/>
          </a:ln>
        </p:spPr>
        <p:txBody>
          <a:bodyPr/>
          <a:lstStyle/>
          <a:p>
            <a:endParaRPr lang="en-SE"/>
          </a:p>
        </p:txBody>
      </p:sp>
      <p:sp>
        <p:nvSpPr>
          <p:cNvPr id="25" name="Text 23"/>
          <p:cNvSpPr/>
          <p:nvPr/>
        </p:nvSpPr>
        <p:spPr>
          <a:xfrm>
            <a:off x="6452464" y="4325112"/>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Collar bands and price shifts are fractions strictly between zero and one</a:t>
            </a:r>
            <a:endParaRPr lang="en-US" sz="1150" dirty="0"/>
          </a:p>
        </p:txBody>
      </p:sp>
      <p:sp>
        <p:nvSpPr>
          <p:cNvPr id="26" name="Shape 24"/>
          <p:cNvSpPr/>
          <p:nvPr/>
        </p:nvSpPr>
        <p:spPr>
          <a:xfrm>
            <a:off x="640080" y="5020056"/>
            <a:ext cx="73152" cy="73152"/>
          </a:xfrm>
          <a:prstGeom prst="rect">
            <a:avLst/>
          </a:prstGeom>
          <a:solidFill>
            <a:srgbClr val="34D6BE"/>
          </a:solidFill>
          <a:ln w="12700">
            <a:solidFill>
              <a:srgbClr val="333333"/>
            </a:solidFill>
            <a:prstDash val="solid"/>
          </a:ln>
        </p:spPr>
        <p:txBody>
          <a:bodyPr/>
          <a:lstStyle/>
          <a:p>
            <a:endParaRPr lang="en-SE"/>
          </a:p>
        </p:txBody>
      </p:sp>
      <p:sp>
        <p:nvSpPr>
          <p:cNvPr id="27" name="Text 25"/>
          <p:cNvSpPr/>
          <p:nvPr/>
        </p:nvSpPr>
        <p:spPr>
          <a:xfrm>
            <a:off x="859536" y="4910328"/>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Tick decimals between zero and eight; share counts positive when present</a:t>
            </a:r>
            <a:endParaRPr lang="en-US" sz="1150" dirty="0"/>
          </a:p>
        </p:txBody>
      </p:sp>
      <p:sp>
        <p:nvSpPr>
          <p:cNvPr id="28" name="Shape 26"/>
          <p:cNvSpPr/>
          <p:nvPr/>
        </p:nvSpPr>
        <p:spPr>
          <a:xfrm>
            <a:off x="6233008" y="5020056"/>
            <a:ext cx="73152" cy="73152"/>
          </a:xfrm>
          <a:prstGeom prst="rect">
            <a:avLst/>
          </a:prstGeom>
          <a:solidFill>
            <a:srgbClr val="6BD98A"/>
          </a:solidFill>
          <a:ln w="12700">
            <a:solidFill>
              <a:srgbClr val="333333"/>
            </a:solidFill>
            <a:prstDash val="solid"/>
          </a:ln>
        </p:spPr>
        <p:txBody>
          <a:bodyPr/>
          <a:lstStyle/>
          <a:p>
            <a:endParaRPr lang="en-SE"/>
          </a:p>
        </p:txBody>
      </p:sp>
      <p:sp>
        <p:nvSpPr>
          <p:cNvPr id="29" name="Text 27"/>
          <p:cNvSpPr/>
          <p:nvPr/>
        </p:nvSpPr>
        <p:spPr>
          <a:xfrm>
            <a:off x="6452464" y="4910328"/>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The singular API gateway key is not supported, and credentials are not shared across instances</a:t>
            </a:r>
            <a:endParaRPr lang="en-US" sz="1150" dirty="0"/>
          </a:p>
        </p:txBody>
      </p:sp>
      <p:sp>
        <p:nvSpPr>
          <p:cNvPr id="30" name="Shape 28"/>
          <p:cNvSpPr/>
          <p:nvPr/>
        </p:nvSpPr>
        <p:spPr>
          <a:xfrm>
            <a:off x="640080" y="5605272"/>
            <a:ext cx="73152" cy="73152"/>
          </a:xfrm>
          <a:prstGeom prst="rect">
            <a:avLst/>
          </a:prstGeom>
          <a:solidFill>
            <a:srgbClr val="6BD98A"/>
          </a:solidFill>
          <a:ln w="12700">
            <a:solidFill>
              <a:srgbClr val="333333"/>
            </a:solidFill>
            <a:prstDash val="solid"/>
          </a:ln>
        </p:spPr>
        <p:txBody>
          <a:bodyPr/>
          <a:lstStyle/>
          <a:p>
            <a:endParaRPr lang="en-SE"/>
          </a:p>
        </p:txBody>
      </p:sp>
      <p:sp>
        <p:nvSpPr>
          <p:cNvPr id="31" name="Text 29"/>
          <p:cNvSpPr/>
          <p:nvPr/>
        </p:nvSpPr>
        <p:spPr>
          <a:xfrm>
            <a:off x="859536" y="5495544"/>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No two configured listeners resolve to the same effective port</a:t>
            </a:r>
            <a:endParaRPr lang="en-US" sz="1150" dirty="0"/>
          </a:p>
        </p:txBody>
      </p:sp>
      <p:sp>
        <p:nvSpPr>
          <p:cNvPr id="32" name="Shape 30"/>
          <p:cNvSpPr/>
          <p:nvPr/>
        </p:nvSpPr>
        <p:spPr>
          <a:xfrm>
            <a:off x="6233008" y="5605272"/>
            <a:ext cx="73152" cy="73152"/>
          </a:xfrm>
          <a:prstGeom prst="rect">
            <a:avLst/>
          </a:prstGeom>
          <a:solidFill>
            <a:srgbClr val="F3B441"/>
          </a:solidFill>
          <a:ln w="12700">
            <a:solidFill>
              <a:srgbClr val="333333"/>
            </a:solidFill>
            <a:prstDash val="solid"/>
          </a:ln>
        </p:spPr>
        <p:txBody>
          <a:bodyPr/>
          <a:lstStyle/>
          <a:p>
            <a:endParaRPr lang="en-SE"/>
          </a:p>
        </p:txBody>
      </p:sp>
      <p:sp>
        <p:nvSpPr>
          <p:cNvPr id="33" name="Text 31"/>
          <p:cNvSpPr/>
          <p:nvPr/>
        </p:nvSpPr>
        <p:spPr>
          <a:xfrm>
            <a:off x="6452464" y="5495544"/>
            <a:ext cx="5062576" cy="530352"/>
          </a:xfrm>
          <a:prstGeom prst="rect">
            <a:avLst/>
          </a:prstGeom>
          <a:noFill/>
          <a:ln/>
        </p:spPr>
        <p:txBody>
          <a:bodyPr wrap="square" lIns="0" tIns="0" rIns="0" bIns="0" rtlCol="0" anchor="t"/>
          <a:lstStyle/>
          <a:p>
            <a:pPr marL="0" indent="0">
              <a:lnSpc>
                <a:spcPts val="1550"/>
              </a:lnSpc>
              <a:buNone/>
            </a:pPr>
            <a:r>
              <a:rPr lang="en-US" sz="1150" dirty="0">
                <a:solidFill>
                  <a:srgbClr val="C2CAD4"/>
                </a:solidFill>
                <a:latin typeface="Calibri" pitchFamily="34" charset="0"/>
                <a:ea typeface="Calibri" pitchFamily="34" charset="-122"/>
                <a:cs typeface="Calibri" pitchFamily="34" charset="-120"/>
              </a:rPr>
              <a:t>An unrecognised country is the sole exception: it warns and falls back to the default</a:t>
            </a:r>
            <a:endParaRPr lang="en-US" sz="1150" dirty="0"/>
          </a:p>
        </p:txBody>
      </p:sp>
      <p:sp>
        <p:nvSpPr>
          <p:cNvPr id="34" name="Text 32"/>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Technical reference</a:t>
            </a:r>
            <a:endParaRPr lang="en-US" sz="950" dirty="0"/>
          </a:p>
        </p:txBody>
      </p:sp>
      <p:sp>
        <p:nvSpPr>
          <p:cNvPr id="35" name="Text 33"/>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Defaults you inherit by saying nothing</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If a field is not in your file, this is what the exchange uses.</a:t>
            </a:r>
            <a:endParaRPr lang="en-US" sz="1450" dirty="0"/>
          </a:p>
        </p:txBody>
      </p:sp>
      <p:sp>
        <p:nvSpPr>
          <p:cNvPr id="6" name="Shape 4"/>
          <p:cNvSpPr/>
          <p:nvPr/>
        </p:nvSpPr>
        <p:spPr>
          <a:xfrm>
            <a:off x="640080" y="2011680"/>
            <a:ext cx="5394960" cy="347472"/>
          </a:xfrm>
          <a:prstGeom prst="rect">
            <a:avLst/>
          </a:prstGeom>
          <a:solidFill>
            <a:srgbClr val="2E353F"/>
          </a:solidFill>
          <a:ln w="12700">
            <a:solidFill>
              <a:srgbClr val="333333"/>
            </a:solidFill>
            <a:prstDash val="solid"/>
          </a:ln>
        </p:spPr>
        <p:txBody>
          <a:bodyPr/>
          <a:lstStyle/>
          <a:p>
            <a:endParaRPr lang="en-SE"/>
          </a:p>
        </p:txBody>
      </p:sp>
      <p:sp>
        <p:nvSpPr>
          <p:cNvPr id="7" name="Text 5"/>
          <p:cNvSpPr/>
          <p:nvPr/>
        </p:nvSpPr>
        <p:spPr>
          <a:xfrm>
            <a:off x="786384" y="2011680"/>
            <a:ext cx="2747772"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FIELD</a:t>
            </a:r>
            <a:endParaRPr lang="en-US" sz="950" dirty="0"/>
          </a:p>
        </p:txBody>
      </p:sp>
      <p:sp>
        <p:nvSpPr>
          <p:cNvPr id="8" name="Text 6"/>
          <p:cNvSpPr/>
          <p:nvPr/>
        </p:nvSpPr>
        <p:spPr>
          <a:xfrm>
            <a:off x="3753612" y="2011680"/>
            <a:ext cx="2208276"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DEFAULT</a:t>
            </a:r>
            <a:endParaRPr lang="en-US" sz="950" dirty="0"/>
          </a:p>
        </p:txBody>
      </p:sp>
      <p:sp>
        <p:nvSpPr>
          <p:cNvPr id="9" name="Shape 7"/>
          <p:cNvSpPr/>
          <p:nvPr/>
        </p:nvSpPr>
        <p:spPr>
          <a:xfrm>
            <a:off x="640080" y="2359152"/>
            <a:ext cx="5394960" cy="384048"/>
          </a:xfrm>
          <a:prstGeom prst="rect">
            <a:avLst/>
          </a:prstGeom>
          <a:solidFill>
            <a:srgbClr val="252B33"/>
          </a:solidFill>
          <a:ln w="12700">
            <a:solidFill>
              <a:srgbClr val="333333"/>
            </a:solidFill>
            <a:prstDash val="solid"/>
          </a:ln>
        </p:spPr>
        <p:txBody>
          <a:bodyPr/>
          <a:lstStyle/>
          <a:p>
            <a:endParaRPr lang="en-SE"/>
          </a:p>
        </p:txBody>
      </p:sp>
      <p:sp>
        <p:nvSpPr>
          <p:cNvPr id="10" name="Text 8"/>
          <p:cNvSpPr/>
          <p:nvPr/>
        </p:nvSpPr>
        <p:spPr>
          <a:xfrm>
            <a:off x="786384" y="2359152"/>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tick_decimals</a:t>
            </a:r>
            <a:endParaRPr lang="en-US" sz="1150" dirty="0"/>
          </a:p>
        </p:txBody>
      </p:sp>
      <p:sp>
        <p:nvSpPr>
          <p:cNvPr id="11" name="Text 9"/>
          <p:cNvSpPr/>
          <p:nvPr/>
        </p:nvSpPr>
        <p:spPr>
          <a:xfrm>
            <a:off x="3753612" y="2359152"/>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2</a:t>
            </a:r>
            <a:endParaRPr lang="en-US" sz="1150" dirty="0"/>
          </a:p>
        </p:txBody>
      </p:sp>
      <p:sp>
        <p:nvSpPr>
          <p:cNvPr id="12" name="Text 10"/>
          <p:cNvSpPr/>
          <p:nvPr/>
        </p:nvSpPr>
        <p:spPr>
          <a:xfrm>
            <a:off x="786384" y="2743200"/>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sessions_enabled</a:t>
            </a:r>
            <a:endParaRPr lang="en-US" sz="1150" dirty="0"/>
          </a:p>
        </p:txBody>
      </p:sp>
      <p:sp>
        <p:nvSpPr>
          <p:cNvPr id="13" name="Text 11"/>
          <p:cNvSpPr/>
          <p:nvPr/>
        </p:nvSpPr>
        <p:spPr>
          <a:xfrm>
            <a:off x="3753612" y="2743200"/>
            <a:ext cx="2208276" cy="384048"/>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true</a:t>
            </a:r>
            <a:endParaRPr lang="en-US" sz="1150" dirty="0"/>
          </a:p>
        </p:txBody>
      </p:sp>
      <p:sp>
        <p:nvSpPr>
          <p:cNvPr id="14" name="Shape 12"/>
          <p:cNvSpPr/>
          <p:nvPr/>
        </p:nvSpPr>
        <p:spPr>
          <a:xfrm>
            <a:off x="640080" y="3127248"/>
            <a:ext cx="5394960" cy="384048"/>
          </a:xfrm>
          <a:prstGeom prst="rect">
            <a:avLst/>
          </a:prstGeom>
          <a:solidFill>
            <a:srgbClr val="252B33"/>
          </a:solidFill>
          <a:ln w="12700">
            <a:solidFill>
              <a:srgbClr val="333333"/>
            </a:solidFill>
            <a:prstDash val="solid"/>
          </a:ln>
        </p:spPr>
        <p:txBody>
          <a:bodyPr/>
          <a:lstStyle/>
          <a:p>
            <a:endParaRPr lang="en-SE"/>
          </a:p>
        </p:txBody>
      </p:sp>
      <p:sp>
        <p:nvSpPr>
          <p:cNvPr id="15" name="Text 13"/>
          <p:cNvSpPr/>
          <p:nvPr/>
        </p:nvSpPr>
        <p:spPr>
          <a:xfrm>
            <a:off x="786384" y="3127248"/>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enforce_collars</a:t>
            </a:r>
            <a:endParaRPr lang="en-US" sz="1150" dirty="0"/>
          </a:p>
        </p:txBody>
      </p:sp>
      <p:sp>
        <p:nvSpPr>
          <p:cNvPr id="16" name="Text 14"/>
          <p:cNvSpPr/>
          <p:nvPr/>
        </p:nvSpPr>
        <p:spPr>
          <a:xfrm>
            <a:off x="3753612" y="3127248"/>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true</a:t>
            </a:r>
            <a:endParaRPr lang="en-US" sz="1150" dirty="0"/>
          </a:p>
        </p:txBody>
      </p:sp>
      <p:sp>
        <p:nvSpPr>
          <p:cNvPr id="17" name="Text 15"/>
          <p:cNvSpPr/>
          <p:nvPr/>
        </p:nvSpPr>
        <p:spPr>
          <a:xfrm>
            <a:off x="786384" y="3511296"/>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enforce_circuit_breakers</a:t>
            </a:r>
            <a:endParaRPr lang="en-US" sz="1150" dirty="0"/>
          </a:p>
        </p:txBody>
      </p:sp>
      <p:sp>
        <p:nvSpPr>
          <p:cNvPr id="18" name="Text 16"/>
          <p:cNvSpPr/>
          <p:nvPr/>
        </p:nvSpPr>
        <p:spPr>
          <a:xfrm>
            <a:off x="3753612" y="3511296"/>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true</a:t>
            </a:r>
            <a:endParaRPr lang="en-US" sz="1150" dirty="0"/>
          </a:p>
        </p:txBody>
      </p:sp>
      <p:sp>
        <p:nvSpPr>
          <p:cNvPr id="19" name="Shape 17"/>
          <p:cNvSpPr/>
          <p:nvPr/>
        </p:nvSpPr>
        <p:spPr>
          <a:xfrm>
            <a:off x="640080" y="3895344"/>
            <a:ext cx="5394960" cy="384048"/>
          </a:xfrm>
          <a:prstGeom prst="rect">
            <a:avLst/>
          </a:prstGeom>
          <a:solidFill>
            <a:srgbClr val="252B33"/>
          </a:solidFill>
          <a:ln w="12700">
            <a:solidFill>
              <a:srgbClr val="333333"/>
            </a:solidFill>
            <a:prstDash val="solid"/>
          </a:ln>
        </p:spPr>
        <p:txBody>
          <a:bodyPr/>
          <a:lstStyle/>
          <a:p>
            <a:endParaRPr lang="en-SE"/>
          </a:p>
        </p:txBody>
      </p:sp>
      <p:sp>
        <p:nvSpPr>
          <p:cNvPr id="20" name="Text 18"/>
          <p:cNvSpPr/>
          <p:nvPr/>
        </p:nvSpPr>
        <p:spPr>
          <a:xfrm>
            <a:off x="786384" y="3895344"/>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snapshot_interval_sec</a:t>
            </a:r>
            <a:endParaRPr lang="en-US" sz="1150" dirty="0"/>
          </a:p>
        </p:txBody>
      </p:sp>
      <p:sp>
        <p:nvSpPr>
          <p:cNvPr id="21" name="Text 19"/>
          <p:cNvSpPr/>
          <p:nvPr/>
        </p:nvSpPr>
        <p:spPr>
          <a:xfrm>
            <a:off x="3753612" y="3895344"/>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0.5</a:t>
            </a:r>
            <a:endParaRPr lang="en-US" sz="1150" dirty="0"/>
          </a:p>
        </p:txBody>
      </p:sp>
      <p:sp>
        <p:nvSpPr>
          <p:cNvPr id="22" name="Text 20"/>
          <p:cNvSpPr/>
          <p:nvPr/>
        </p:nvSpPr>
        <p:spPr>
          <a:xfrm>
            <a:off x="786384" y="4279392"/>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role</a:t>
            </a:r>
            <a:endParaRPr lang="en-US" sz="1150" dirty="0"/>
          </a:p>
        </p:txBody>
      </p:sp>
      <p:sp>
        <p:nvSpPr>
          <p:cNvPr id="23" name="Text 21"/>
          <p:cNvSpPr/>
          <p:nvPr/>
        </p:nvSpPr>
        <p:spPr>
          <a:xfrm>
            <a:off x="3753612" y="4279392"/>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TRADER</a:t>
            </a:r>
            <a:endParaRPr lang="en-US" sz="1150" dirty="0"/>
          </a:p>
        </p:txBody>
      </p:sp>
      <p:sp>
        <p:nvSpPr>
          <p:cNvPr id="24" name="Shape 22"/>
          <p:cNvSpPr/>
          <p:nvPr/>
        </p:nvSpPr>
        <p:spPr>
          <a:xfrm>
            <a:off x="640080" y="4663440"/>
            <a:ext cx="5394960" cy="384048"/>
          </a:xfrm>
          <a:prstGeom prst="rect">
            <a:avLst/>
          </a:prstGeom>
          <a:solidFill>
            <a:srgbClr val="252B33"/>
          </a:solidFill>
          <a:ln w="12700">
            <a:solidFill>
              <a:srgbClr val="333333"/>
            </a:solidFill>
            <a:prstDash val="solid"/>
          </a:ln>
        </p:spPr>
        <p:txBody>
          <a:bodyPr/>
          <a:lstStyle/>
          <a:p>
            <a:endParaRPr lang="en-SE"/>
          </a:p>
        </p:txBody>
      </p:sp>
      <p:sp>
        <p:nvSpPr>
          <p:cNvPr id="25" name="Text 23"/>
          <p:cNvSpPr/>
          <p:nvPr/>
        </p:nvSpPr>
        <p:spPr>
          <a:xfrm>
            <a:off x="786384" y="4663440"/>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disconnect_behaviour</a:t>
            </a:r>
            <a:endParaRPr lang="en-US" sz="1150" dirty="0"/>
          </a:p>
        </p:txBody>
      </p:sp>
      <p:sp>
        <p:nvSpPr>
          <p:cNvPr id="26" name="Text 24"/>
          <p:cNvSpPr/>
          <p:nvPr/>
        </p:nvSpPr>
        <p:spPr>
          <a:xfrm>
            <a:off x="3753612" y="4663440"/>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CANCEL_QUOTES_ONLY</a:t>
            </a:r>
            <a:endParaRPr lang="en-US" sz="1150" dirty="0"/>
          </a:p>
        </p:txBody>
      </p:sp>
      <p:sp>
        <p:nvSpPr>
          <p:cNvPr id="27" name="Text 25"/>
          <p:cNvSpPr/>
          <p:nvPr/>
        </p:nvSpPr>
        <p:spPr>
          <a:xfrm>
            <a:off x="786384" y="5047488"/>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smp_action</a:t>
            </a:r>
            <a:endParaRPr lang="en-US" sz="1150" dirty="0"/>
          </a:p>
        </p:txBody>
      </p:sp>
      <p:sp>
        <p:nvSpPr>
          <p:cNvPr id="28" name="Text 26"/>
          <p:cNvSpPr/>
          <p:nvPr/>
        </p:nvSpPr>
        <p:spPr>
          <a:xfrm>
            <a:off x="3753612" y="5047488"/>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NONE</a:t>
            </a:r>
            <a:endParaRPr lang="en-US" sz="1150" dirty="0"/>
          </a:p>
        </p:txBody>
      </p:sp>
      <p:sp>
        <p:nvSpPr>
          <p:cNvPr id="29" name="Shape 27"/>
          <p:cNvSpPr/>
          <p:nvPr/>
        </p:nvSpPr>
        <p:spPr>
          <a:xfrm>
            <a:off x="640080" y="5431536"/>
            <a:ext cx="5394960" cy="384048"/>
          </a:xfrm>
          <a:prstGeom prst="rect">
            <a:avLst/>
          </a:prstGeom>
          <a:solidFill>
            <a:srgbClr val="252B33"/>
          </a:solidFill>
          <a:ln w="12700">
            <a:solidFill>
              <a:srgbClr val="333333"/>
            </a:solidFill>
            <a:prstDash val="solid"/>
          </a:ln>
        </p:spPr>
        <p:txBody>
          <a:bodyPr/>
          <a:lstStyle/>
          <a:p>
            <a:endParaRPr lang="en-SE"/>
          </a:p>
        </p:txBody>
      </p:sp>
      <p:sp>
        <p:nvSpPr>
          <p:cNvPr id="30" name="Text 28"/>
          <p:cNvSpPr/>
          <p:nvPr/>
        </p:nvSpPr>
        <p:spPr>
          <a:xfrm>
            <a:off x="786384" y="5431536"/>
            <a:ext cx="2747772"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country</a:t>
            </a:r>
            <a:endParaRPr lang="en-US" sz="1150" dirty="0"/>
          </a:p>
        </p:txBody>
      </p:sp>
      <p:sp>
        <p:nvSpPr>
          <p:cNvPr id="31" name="Text 29"/>
          <p:cNvSpPr/>
          <p:nvPr/>
        </p:nvSpPr>
        <p:spPr>
          <a:xfrm>
            <a:off x="3753612" y="5431536"/>
            <a:ext cx="2208276" cy="384048"/>
          </a:xfrm>
          <a:prstGeom prst="rect">
            <a:avLst/>
          </a:prstGeom>
          <a:noFill/>
          <a:ln/>
        </p:spPr>
        <p:txBody>
          <a:bodyPr wrap="square" lIns="0" tIns="0" rIns="0" bIns="0" rtlCol="0" anchor="ctr"/>
          <a:lstStyle/>
          <a:p>
            <a:pPr marL="0" indent="0" algn="l">
              <a:buNone/>
            </a:pPr>
            <a:r>
              <a:rPr lang="en-US" sz="1150" dirty="0">
                <a:solidFill>
                  <a:srgbClr val="34D6BE"/>
                </a:solidFill>
                <a:latin typeface="Consolas" pitchFamily="34" charset="0"/>
                <a:ea typeface="Consolas" pitchFamily="34" charset="-122"/>
                <a:cs typeface="Consolas" pitchFamily="34" charset="-120"/>
              </a:rPr>
              <a:t>Sweden</a:t>
            </a:r>
            <a:endParaRPr lang="en-US" sz="1150" dirty="0"/>
          </a:p>
        </p:txBody>
      </p:sp>
      <p:sp>
        <p:nvSpPr>
          <p:cNvPr id="32" name="Shape 30"/>
          <p:cNvSpPr/>
          <p:nvPr/>
        </p:nvSpPr>
        <p:spPr>
          <a:xfrm>
            <a:off x="6583680" y="2011680"/>
            <a:ext cx="4965192" cy="347472"/>
          </a:xfrm>
          <a:prstGeom prst="rect">
            <a:avLst/>
          </a:prstGeom>
          <a:solidFill>
            <a:srgbClr val="2E353F"/>
          </a:solidFill>
          <a:ln w="12700">
            <a:solidFill>
              <a:srgbClr val="333333"/>
            </a:solidFill>
            <a:prstDash val="solid"/>
          </a:ln>
        </p:spPr>
        <p:txBody>
          <a:bodyPr/>
          <a:lstStyle/>
          <a:p>
            <a:endParaRPr lang="en-SE"/>
          </a:p>
        </p:txBody>
      </p:sp>
      <p:sp>
        <p:nvSpPr>
          <p:cNvPr id="33" name="Text 31"/>
          <p:cNvSpPr/>
          <p:nvPr/>
        </p:nvSpPr>
        <p:spPr>
          <a:xfrm>
            <a:off x="6729984" y="2011680"/>
            <a:ext cx="2511400"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FIELD</a:t>
            </a:r>
            <a:endParaRPr lang="en-US" sz="950" dirty="0"/>
          </a:p>
        </p:txBody>
      </p:sp>
      <p:sp>
        <p:nvSpPr>
          <p:cNvPr id="34" name="Text 32"/>
          <p:cNvSpPr/>
          <p:nvPr/>
        </p:nvSpPr>
        <p:spPr>
          <a:xfrm>
            <a:off x="9460840" y="2011680"/>
            <a:ext cx="2014880" cy="347472"/>
          </a:xfrm>
          <a:prstGeom prst="rect">
            <a:avLst/>
          </a:prstGeom>
          <a:noFill/>
          <a:ln/>
        </p:spPr>
        <p:txBody>
          <a:bodyPr wrap="square" lIns="0" tIns="0" rIns="0" bIns="0" rtlCol="0" anchor="ctr"/>
          <a:lstStyle/>
          <a:p>
            <a:pPr marL="0" indent="0" algn="l">
              <a:buNone/>
            </a:pPr>
            <a:r>
              <a:rPr lang="en-US" sz="950" b="1" kern="0" spc="120" dirty="0">
                <a:solidFill>
                  <a:srgbClr val="8D97A5"/>
                </a:solidFill>
                <a:latin typeface="Calibri" pitchFamily="34" charset="0"/>
                <a:ea typeface="Calibri" pitchFamily="34" charset="-122"/>
                <a:cs typeface="Calibri" pitchFamily="34" charset="-120"/>
              </a:rPr>
              <a:t>DEFAULT</a:t>
            </a:r>
            <a:endParaRPr lang="en-US" sz="950" dirty="0"/>
          </a:p>
        </p:txBody>
      </p:sp>
      <p:sp>
        <p:nvSpPr>
          <p:cNvPr id="35" name="Shape 33"/>
          <p:cNvSpPr/>
          <p:nvPr/>
        </p:nvSpPr>
        <p:spPr>
          <a:xfrm>
            <a:off x="6583680" y="2359152"/>
            <a:ext cx="4965192" cy="384048"/>
          </a:xfrm>
          <a:prstGeom prst="rect">
            <a:avLst/>
          </a:prstGeom>
          <a:solidFill>
            <a:srgbClr val="252B33"/>
          </a:solidFill>
          <a:ln w="12700">
            <a:solidFill>
              <a:srgbClr val="333333"/>
            </a:solidFill>
            <a:prstDash val="solid"/>
          </a:ln>
        </p:spPr>
        <p:txBody>
          <a:bodyPr/>
          <a:lstStyle/>
          <a:p>
            <a:endParaRPr lang="en-SE"/>
          </a:p>
        </p:txBody>
      </p:sp>
      <p:sp>
        <p:nvSpPr>
          <p:cNvPr id="36" name="Text 34"/>
          <p:cNvSpPr/>
          <p:nvPr/>
        </p:nvSpPr>
        <p:spPr>
          <a:xfrm>
            <a:off x="6729984" y="2359152"/>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static_band_pct</a:t>
            </a:r>
            <a:endParaRPr lang="en-US" sz="1150" dirty="0"/>
          </a:p>
        </p:txBody>
      </p:sp>
      <p:sp>
        <p:nvSpPr>
          <p:cNvPr id="37" name="Text 35"/>
          <p:cNvSpPr/>
          <p:nvPr/>
        </p:nvSpPr>
        <p:spPr>
          <a:xfrm>
            <a:off x="9460840" y="2359152"/>
            <a:ext cx="2014880" cy="384048"/>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0.20</a:t>
            </a:r>
            <a:endParaRPr lang="en-US" sz="1150" dirty="0"/>
          </a:p>
        </p:txBody>
      </p:sp>
      <p:sp>
        <p:nvSpPr>
          <p:cNvPr id="38" name="Text 36"/>
          <p:cNvSpPr/>
          <p:nvPr/>
        </p:nvSpPr>
        <p:spPr>
          <a:xfrm>
            <a:off x="6729984" y="2743200"/>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dynamic_band_pct</a:t>
            </a:r>
            <a:endParaRPr lang="en-US" sz="1150" dirty="0"/>
          </a:p>
        </p:txBody>
      </p:sp>
      <p:sp>
        <p:nvSpPr>
          <p:cNvPr id="39" name="Text 37"/>
          <p:cNvSpPr/>
          <p:nvPr/>
        </p:nvSpPr>
        <p:spPr>
          <a:xfrm>
            <a:off x="9460840" y="2743200"/>
            <a:ext cx="2014880" cy="384048"/>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0.02</a:t>
            </a:r>
            <a:endParaRPr lang="en-US" sz="1150" dirty="0"/>
          </a:p>
        </p:txBody>
      </p:sp>
      <p:sp>
        <p:nvSpPr>
          <p:cNvPr id="40" name="Shape 38"/>
          <p:cNvSpPr/>
          <p:nvPr/>
        </p:nvSpPr>
        <p:spPr>
          <a:xfrm>
            <a:off x="6583680" y="3127248"/>
            <a:ext cx="4965192" cy="384048"/>
          </a:xfrm>
          <a:prstGeom prst="rect">
            <a:avLst/>
          </a:prstGeom>
          <a:solidFill>
            <a:srgbClr val="252B33"/>
          </a:solidFill>
          <a:ln w="12700">
            <a:solidFill>
              <a:srgbClr val="333333"/>
            </a:solidFill>
            <a:prstDash val="solid"/>
          </a:ln>
        </p:spPr>
        <p:txBody>
          <a:bodyPr/>
          <a:lstStyle/>
          <a:p>
            <a:endParaRPr lang="en-SE"/>
          </a:p>
        </p:txBody>
      </p:sp>
      <p:sp>
        <p:nvSpPr>
          <p:cNvPr id="41" name="Text 39"/>
          <p:cNvSpPr/>
          <p:nvPr/>
        </p:nvSpPr>
        <p:spPr>
          <a:xfrm>
            <a:off x="6729984" y="3127248"/>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CB ladder L1 / L2 / L3</a:t>
            </a:r>
            <a:endParaRPr lang="en-US" sz="1150" dirty="0"/>
          </a:p>
        </p:txBody>
      </p:sp>
      <p:sp>
        <p:nvSpPr>
          <p:cNvPr id="42" name="Text 40"/>
          <p:cNvSpPr/>
          <p:nvPr/>
        </p:nvSpPr>
        <p:spPr>
          <a:xfrm>
            <a:off x="9460840" y="3127248"/>
            <a:ext cx="2014880" cy="384048"/>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7% / 13% / 20%</a:t>
            </a:r>
            <a:endParaRPr lang="en-US" sz="1150" dirty="0"/>
          </a:p>
        </p:txBody>
      </p:sp>
      <p:sp>
        <p:nvSpPr>
          <p:cNvPr id="43" name="Text 41"/>
          <p:cNvSpPr/>
          <p:nvPr/>
        </p:nvSpPr>
        <p:spPr>
          <a:xfrm>
            <a:off x="6729984" y="3511296"/>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CB halt durations</a:t>
            </a:r>
            <a:endParaRPr lang="en-US" sz="1150" dirty="0"/>
          </a:p>
        </p:txBody>
      </p:sp>
      <p:sp>
        <p:nvSpPr>
          <p:cNvPr id="44" name="Text 42"/>
          <p:cNvSpPr/>
          <p:nvPr/>
        </p:nvSpPr>
        <p:spPr>
          <a:xfrm>
            <a:off x="9460840" y="3511296"/>
            <a:ext cx="2014880" cy="384048"/>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5 min / 15 min / day</a:t>
            </a:r>
            <a:endParaRPr lang="en-US" sz="1150" dirty="0"/>
          </a:p>
        </p:txBody>
      </p:sp>
      <p:sp>
        <p:nvSpPr>
          <p:cNvPr id="45" name="Shape 43"/>
          <p:cNvSpPr/>
          <p:nvPr/>
        </p:nvSpPr>
        <p:spPr>
          <a:xfrm>
            <a:off x="6583680" y="3895344"/>
            <a:ext cx="4965192" cy="384048"/>
          </a:xfrm>
          <a:prstGeom prst="rect">
            <a:avLst/>
          </a:prstGeom>
          <a:solidFill>
            <a:srgbClr val="252B33"/>
          </a:solidFill>
          <a:ln w="12700">
            <a:solidFill>
              <a:srgbClr val="333333"/>
            </a:solidFill>
            <a:prstDash val="solid"/>
          </a:ln>
        </p:spPr>
        <p:txBody>
          <a:bodyPr/>
          <a:lstStyle/>
          <a:p>
            <a:endParaRPr lang="en-SE"/>
          </a:p>
        </p:txBody>
      </p:sp>
      <p:sp>
        <p:nvSpPr>
          <p:cNvPr id="46" name="Text 44"/>
          <p:cNvSpPr/>
          <p:nvPr/>
        </p:nvSpPr>
        <p:spPr>
          <a:xfrm>
            <a:off x="6729984" y="3895344"/>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reference window</a:t>
            </a:r>
            <a:endParaRPr lang="en-US" sz="1150" dirty="0"/>
          </a:p>
        </p:txBody>
      </p:sp>
      <p:sp>
        <p:nvSpPr>
          <p:cNvPr id="47" name="Text 45"/>
          <p:cNvSpPr/>
          <p:nvPr/>
        </p:nvSpPr>
        <p:spPr>
          <a:xfrm>
            <a:off x="9460840" y="3895344"/>
            <a:ext cx="2014880" cy="384048"/>
          </a:xfrm>
          <a:prstGeom prst="rect">
            <a:avLst/>
          </a:prstGeom>
          <a:noFill/>
          <a:ln/>
        </p:spPr>
        <p:txBody>
          <a:bodyPr wrap="square" lIns="0" tIns="0" rIns="0" bIns="0" rtlCol="0" anchor="ctr"/>
          <a:lstStyle/>
          <a:p>
            <a:pPr marL="0" indent="0" algn="l">
              <a:buNone/>
            </a:pPr>
            <a:r>
              <a:rPr lang="en-US" sz="1150" dirty="0">
                <a:solidFill>
                  <a:srgbClr val="FF7A6B"/>
                </a:solidFill>
                <a:latin typeface="Consolas" pitchFamily="34" charset="0"/>
                <a:ea typeface="Consolas" pitchFamily="34" charset="-122"/>
                <a:cs typeface="Consolas" pitchFamily="34" charset="-120"/>
              </a:rPr>
              <a:t>5 minutes</a:t>
            </a:r>
            <a:endParaRPr lang="en-US" sz="1150" dirty="0"/>
          </a:p>
        </p:txBody>
      </p:sp>
      <p:sp>
        <p:nvSpPr>
          <p:cNvPr id="48" name="Text 46"/>
          <p:cNvSpPr/>
          <p:nvPr/>
        </p:nvSpPr>
        <p:spPr>
          <a:xfrm>
            <a:off x="6729984" y="4279392"/>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mm_max_spread_ticks</a:t>
            </a:r>
            <a:endParaRPr lang="en-US" sz="1150" dirty="0"/>
          </a:p>
        </p:txBody>
      </p:sp>
      <p:sp>
        <p:nvSpPr>
          <p:cNvPr id="49" name="Text 47"/>
          <p:cNvSpPr/>
          <p:nvPr/>
        </p:nvSpPr>
        <p:spPr>
          <a:xfrm>
            <a:off x="9460840" y="4279392"/>
            <a:ext cx="2014880" cy="384048"/>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10</a:t>
            </a:r>
            <a:endParaRPr lang="en-US" sz="1150" dirty="0"/>
          </a:p>
        </p:txBody>
      </p:sp>
      <p:sp>
        <p:nvSpPr>
          <p:cNvPr id="50" name="Shape 48"/>
          <p:cNvSpPr/>
          <p:nvPr/>
        </p:nvSpPr>
        <p:spPr>
          <a:xfrm>
            <a:off x="6583680" y="4663440"/>
            <a:ext cx="4965192" cy="384048"/>
          </a:xfrm>
          <a:prstGeom prst="rect">
            <a:avLst/>
          </a:prstGeom>
          <a:solidFill>
            <a:srgbClr val="252B33"/>
          </a:solidFill>
          <a:ln w="12700">
            <a:solidFill>
              <a:srgbClr val="333333"/>
            </a:solidFill>
            <a:prstDash val="solid"/>
          </a:ln>
        </p:spPr>
        <p:txBody>
          <a:bodyPr/>
          <a:lstStyle/>
          <a:p>
            <a:endParaRPr lang="en-SE"/>
          </a:p>
        </p:txBody>
      </p:sp>
      <p:sp>
        <p:nvSpPr>
          <p:cNvPr id="51" name="Text 49"/>
          <p:cNvSpPr/>
          <p:nvPr/>
        </p:nvSpPr>
        <p:spPr>
          <a:xfrm>
            <a:off x="6729984" y="4663440"/>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mm_min_qty</a:t>
            </a:r>
            <a:endParaRPr lang="en-US" sz="1150" dirty="0"/>
          </a:p>
        </p:txBody>
      </p:sp>
      <p:sp>
        <p:nvSpPr>
          <p:cNvPr id="52" name="Text 50"/>
          <p:cNvSpPr/>
          <p:nvPr/>
        </p:nvSpPr>
        <p:spPr>
          <a:xfrm>
            <a:off x="9460840" y="4663440"/>
            <a:ext cx="2014880" cy="384048"/>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100</a:t>
            </a:r>
            <a:endParaRPr lang="en-US" sz="1150" dirty="0"/>
          </a:p>
        </p:txBody>
      </p:sp>
      <p:sp>
        <p:nvSpPr>
          <p:cNvPr id="53" name="Text 51"/>
          <p:cNvSpPr/>
          <p:nvPr/>
        </p:nvSpPr>
        <p:spPr>
          <a:xfrm>
            <a:off x="6729984" y="5047488"/>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enforce_mm_obligation</a:t>
            </a:r>
            <a:endParaRPr lang="en-US" sz="1150" dirty="0"/>
          </a:p>
        </p:txBody>
      </p:sp>
      <p:sp>
        <p:nvSpPr>
          <p:cNvPr id="54" name="Text 52"/>
          <p:cNvSpPr/>
          <p:nvPr/>
        </p:nvSpPr>
        <p:spPr>
          <a:xfrm>
            <a:off x="9460840" y="5047488"/>
            <a:ext cx="2014880" cy="384048"/>
          </a:xfrm>
          <a:prstGeom prst="rect">
            <a:avLst/>
          </a:prstGeom>
          <a:noFill/>
          <a:ln/>
        </p:spPr>
        <p:txBody>
          <a:bodyPr wrap="square" lIns="0" tIns="0" rIns="0" bIns="0" rtlCol="0" anchor="ctr"/>
          <a:lstStyle/>
          <a:p>
            <a:pPr marL="0" indent="0" algn="l">
              <a:buNone/>
            </a:pPr>
            <a:r>
              <a:rPr lang="en-US" sz="1150" dirty="0">
                <a:solidFill>
                  <a:srgbClr val="F3B441"/>
                </a:solidFill>
                <a:latin typeface="Consolas" pitchFamily="34" charset="0"/>
                <a:ea typeface="Consolas" pitchFamily="34" charset="-122"/>
                <a:cs typeface="Consolas" pitchFamily="34" charset="-120"/>
              </a:rPr>
              <a:t>false</a:t>
            </a:r>
            <a:endParaRPr lang="en-US" sz="1150" dirty="0"/>
          </a:p>
        </p:txBody>
      </p:sp>
      <p:sp>
        <p:nvSpPr>
          <p:cNvPr id="55" name="Shape 53"/>
          <p:cNvSpPr/>
          <p:nvPr/>
        </p:nvSpPr>
        <p:spPr>
          <a:xfrm>
            <a:off x="6583680" y="5431536"/>
            <a:ext cx="4965192" cy="384048"/>
          </a:xfrm>
          <a:prstGeom prst="rect">
            <a:avLst/>
          </a:prstGeom>
          <a:solidFill>
            <a:srgbClr val="252B33"/>
          </a:solidFill>
          <a:ln w="12700">
            <a:solidFill>
              <a:srgbClr val="333333"/>
            </a:solidFill>
            <a:prstDash val="solid"/>
          </a:ln>
        </p:spPr>
        <p:txBody>
          <a:bodyPr/>
          <a:lstStyle/>
          <a:p>
            <a:endParaRPr lang="en-SE"/>
          </a:p>
        </p:txBody>
      </p:sp>
      <p:sp>
        <p:nvSpPr>
          <p:cNvPr id="56" name="Text 54"/>
          <p:cNvSpPr/>
          <p:nvPr/>
        </p:nvSpPr>
        <p:spPr>
          <a:xfrm>
            <a:off x="6729984" y="5431536"/>
            <a:ext cx="2511400" cy="384048"/>
          </a:xfrm>
          <a:prstGeom prst="rect">
            <a:avLst/>
          </a:prstGeom>
          <a:noFill/>
          <a:ln/>
        </p:spPr>
        <p:txBody>
          <a:bodyPr wrap="square" lIns="0" tIns="0" rIns="0" bIns="0" rtlCol="0" anchor="ctr"/>
          <a:lstStyle/>
          <a:p>
            <a:pPr marL="0" indent="0" algn="l">
              <a:buNone/>
            </a:pPr>
            <a:r>
              <a:rPr lang="en-US" sz="1150" dirty="0">
                <a:solidFill>
                  <a:srgbClr val="000000"/>
                </a:solidFill>
                <a:latin typeface="Consolas" pitchFamily="34" charset="0"/>
                <a:ea typeface="Consolas" pitchFamily="34" charset="-122"/>
                <a:cs typeface="Consolas" pitchFamily="34" charset="-120"/>
              </a:rPr>
              <a:t>index base value</a:t>
            </a:r>
            <a:endParaRPr lang="en-US" sz="1150" dirty="0"/>
          </a:p>
        </p:txBody>
      </p:sp>
      <p:sp>
        <p:nvSpPr>
          <p:cNvPr id="57" name="Text 55"/>
          <p:cNvSpPr/>
          <p:nvPr/>
        </p:nvSpPr>
        <p:spPr>
          <a:xfrm>
            <a:off x="9460840" y="5431536"/>
            <a:ext cx="2014880" cy="384048"/>
          </a:xfrm>
          <a:prstGeom prst="rect">
            <a:avLst/>
          </a:prstGeom>
          <a:noFill/>
          <a:ln/>
        </p:spPr>
        <p:txBody>
          <a:bodyPr wrap="square" lIns="0" tIns="0" rIns="0" bIns="0" rtlCol="0" anchor="ctr"/>
          <a:lstStyle/>
          <a:p>
            <a:pPr marL="0" indent="0" algn="l">
              <a:buNone/>
            </a:pPr>
            <a:r>
              <a:rPr lang="en-US" sz="1150" dirty="0">
                <a:solidFill>
                  <a:srgbClr val="9B8CFF"/>
                </a:solidFill>
                <a:latin typeface="Consolas" pitchFamily="34" charset="0"/>
                <a:ea typeface="Consolas" pitchFamily="34" charset="-122"/>
                <a:cs typeface="Consolas" pitchFamily="34" charset="-120"/>
              </a:rPr>
              <a:t>1000.0</a:t>
            </a:r>
            <a:endParaRPr lang="en-US" sz="1150" dirty="0"/>
          </a:p>
        </p:txBody>
      </p:sp>
      <p:sp>
        <p:nvSpPr>
          <p:cNvPr id="58" name="Shape 56"/>
          <p:cNvSpPr/>
          <p:nvPr/>
        </p:nvSpPr>
        <p:spPr>
          <a:xfrm>
            <a:off x="640080" y="5806440"/>
            <a:ext cx="10911535" cy="685800"/>
          </a:xfrm>
          <a:prstGeom prst="roundRect">
            <a:avLst>
              <a:gd name="adj" fmla="val 8000"/>
            </a:avLst>
          </a:prstGeom>
          <a:solidFill>
            <a:srgbClr val="4A3714"/>
          </a:solidFill>
          <a:ln w="12700">
            <a:solidFill>
              <a:srgbClr val="F3B441"/>
            </a:solidFill>
            <a:prstDash val="solid"/>
          </a:ln>
        </p:spPr>
        <p:txBody>
          <a:bodyPr/>
          <a:lstStyle/>
          <a:p>
            <a:endParaRPr lang="en-SE"/>
          </a:p>
        </p:txBody>
      </p:sp>
      <p:sp>
        <p:nvSpPr>
          <p:cNvPr id="59" name="Text 57"/>
          <p:cNvSpPr/>
          <p:nvPr/>
        </p:nvSpPr>
        <p:spPr>
          <a:xfrm>
            <a:off x="877824" y="5897880"/>
            <a:ext cx="1737360" cy="237744"/>
          </a:xfrm>
          <a:prstGeom prst="rect">
            <a:avLst/>
          </a:prstGeom>
          <a:noFill/>
          <a:ln/>
        </p:spPr>
        <p:txBody>
          <a:bodyPr wrap="square" lIns="0" tIns="0" rIns="0" bIns="0" rtlCol="0" anchor="ctr"/>
          <a:lstStyle/>
          <a:p>
            <a:pPr marL="0" indent="0">
              <a:buNone/>
            </a:pPr>
            <a:r>
              <a:rPr lang="en-US" sz="950" b="1" kern="0" spc="160" dirty="0">
                <a:solidFill>
                  <a:srgbClr val="F3B441"/>
                </a:solidFill>
                <a:latin typeface="Calibri" pitchFamily="34" charset="0"/>
                <a:ea typeface="Calibri" pitchFamily="34" charset="-122"/>
                <a:cs typeface="Calibri" pitchFamily="34" charset="-120"/>
              </a:rPr>
              <a:t>THE TWO TO DOUBLE-CHECK</a:t>
            </a:r>
            <a:endParaRPr lang="en-US" sz="950" dirty="0"/>
          </a:p>
        </p:txBody>
      </p:sp>
      <p:sp>
        <p:nvSpPr>
          <p:cNvPr id="60" name="Text 58"/>
          <p:cNvSpPr/>
          <p:nvPr/>
        </p:nvSpPr>
        <p:spPr>
          <a:xfrm>
            <a:off x="877824" y="6153912"/>
            <a:ext cx="10436047" cy="228600"/>
          </a:xfrm>
          <a:prstGeom prst="rect">
            <a:avLst/>
          </a:prstGeom>
          <a:noFill/>
          <a:ln/>
        </p:spPr>
        <p:txBody>
          <a:bodyPr wrap="square" lIns="0" tIns="0" rIns="0" bIns="0" rtlCol="0" anchor="t"/>
          <a:lstStyle/>
          <a:p>
            <a:pPr marL="0" indent="0">
              <a:lnSpc>
                <a:spcPts val="1600"/>
              </a:lnSpc>
              <a:buNone/>
            </a:pPr>
            <a:r>
              <a:rPr lang="en-US" sz="1250" dirty="0">
                <a:solidFill>
                  <a:srgbClr val="F1F4F8"/>
                </a:solidFill>
                <a:latin typeface="Calibri" pitchFamily="34" charset="0"/>
                <a:ea typeface="Calibri" pitchFamily="34" charset="-122"/>
                <a:cs typeface="Calibri" pitchFamily="34" charset="-120"/>
              </a:rPr>
              <a:t>Sessions default to on, so the engine starts closed. Market-maker obligations default to off, so nobody is being graded on quote quality unless you say so.</a:t>
            </a:r>
            <a:endParaRPr lang="en-US" sz="1250" dirty="0"/>
          </a:p>
        </p:txBody>
      </p:sp>
      <p:sp>
        <p:nvSpPr>
          <p:cNvPr id="61" name="Text 59"/>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Technical reference</a:t>
            </a:r>
            <a:endParaRPr lang="en-US" sz="950" dirty="0"/>
          </a:p>
        </p:txBody>
      </p:sp>
      <p:sp>
        <p:nvSpPr>
          <p:cNvPr id="62" name="Text 60"/>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Command cheat sheet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The commands from this deck, in the order you would actually use them.</a:t>
            </a:r>
            <a:endParaRPr lang="en-US" sz="1450" dirty="0"/>
          </a:p>
        </p:txBody>
      </p:sp>
      <p:sp>
        <p:nvSpPr>
          <p:cNvPr id="6" name="Shape 4"/>
          <p:cNvSpPr/>
          <p:nvPr/>
        </p:nvSpPr>
        <p:spPr>
          <a:xfrm>
            <a:off x="640080" y="1673169"/>
            <a:ext cx="10911535" cy="5184831"/>
          </a:xfrm>
          <a:prstGeom prst="roundRect">
            <a:avLst>
              <a:gd name="adj" fmla="val 882"/>
            </a:avLst>
          </a:prstGeom>
          <a:solidFill>
            <a:srgbClr val="15181D"/>
          </a:solidFill>
          <a:ln w="12700">
            <a:solidFill>
              <a:srgbClr val="3B4450"/>
            </a:solidFill>
            <a:prstDash val="solid"/>
          </a:ln>
        </p:spPr>
        <p:txBody>
          <a:bodyPr/>
          <a:lstStyle/>
          <a:p>
            <a:endParaRPr lang="en-SE"/>
          </a:p>
        </p:txBody>
      </p:sp>
      <p:sp>
        <p:nvSpPr>
          <p:cNvPr id="7" name="Shape 5"/>
          <p:cNvSpPr/>
          <p:nvPr/>
        </p:nvSpPr>
        <p:spPr>
          <a:xfrm>
            <a:off x="640994" y="1966874"/>
            <a:ext cx="10909706" cy="310896"/>
          </a:xfrm>
          <a:prstGeom prst="rect">
            <a:avLst/>
          </a:prstGeom>
          <a:solidFill>
            <a:srgbClr val="252B33"/>
          </a:solidFill>
          <a:ln w="12700">
            <a:solidFill>
              <a:srgbClr val="333333"/>
            </a:solidFill>
            <a:prstDash val="solid"/>
          </a:ln>
        </p:spPr>
        <p:txBody>
          <a:bodyPr/>
          <a:lstStyle/>
          <a:p>
            <a:endParaRPr lang="en-SE"/>
          </a:p>
        </p:txBody>
      </p:sp>
      <p:sp>
        <p:nvSpPr>
          <p:cNvPr id="8" name="Shape 6"/>
          <p:cNvSpPr/>
          <p:nvPr/>
        </p:nvSpPr>
        <p:spPr>
          <a:xfrm>
            <a:off x="768096" y="2071116"/>
            <a:ext cx="100584" cy="100584"/>
          </a:xfrm>
          <a:prstGeom prst="ellipse">
            <a:avLst/>
          </a:prstGeom>
          <a:solidFill>
            <a:srgbClr val="FF7A6B"/>
          </a:solidFill>
          <a:ln w="12700">
            <a:solidFill>
              <a:srgbClr val="333333"/>
            </a:solidFill>
            <a:prstDash val="solid"/>
          </a:ln>
        </p:spPr>
        <p:txBody>
          <a:bodyPr/>
          <a:lstStyle/>
          <a:p>
            <a:endParaRPr lang="en-SE"/>
          </a:p>
        </p:txBody>
      </p:sp>
      <p:sp>
        <p:nvSpPr>
          <p:cNvPr id="9" name="Shape 7"/>
          <p:cNvSpPr/>
          <p:nvPr/>
        </p:nvSpPr>
        <p:spPr>
          <a:xfrm>
            <a:off x="941832" y="2071116"/>
            <a:ext cx="100584" cy="100584"/>
          </a:xfrm>
          <a:prstGeom prst="ellipse">
            <a:avLst/>
          </a:prstGeom>
          <a:solidFill>
            <a:srgbClr val="F3B441"/>
          </a:solidFill>
          <a:ln w="12700">
            <a:solidFill>
              <a:srgbClr val="333333"/>
            </a:solidFill>
            <a:prstDash val="solid"/>
          </a:ln>
        </p:spPr>
        <p:txBody>
          <a:bodyPr/>
          <a:lstStyle/>
          <a:p>
            <a:endParaRPr lang="en-SE"/>
          </a:p>
        </p:txBody>
      </p:sp>
      <p:sp>
        <p:nvSpPr>
          <p:cNvPr id="10" name="Shape 8"/>
          <p:cNvSpPr/>
          <p:nvPr/>
        </p:nvSpPr>
        <p:spPr>
          <a:xfrm>
            <a:off x="1115568" y="2071116"/>
            <a:ext cx="100584" cy="100584"/>
          </a:xfrm>
          <a:prstGeom prst="ellipse">
            <a:avLst/>
          </a:prstGeom>
          <a:solidFill>
            <a:srgbClr val="6BD98A"/>
          </a:solidFill>
          <a:ln w="12700">
            <a:solidFill>
              <a:srgbClr val="333333"/>
            </a:solidFill>
            <a:prstDash val="solid"/>
          </a:ln>
        </p:spPr>
        <p:txBody>
          <a:bodyPr/>
          <a:lstStyle/>
          <a:p>
            <a:endParaRPr lang="en-SE"/>
          </a:p>
        </p:txBody>
      </p:sp>
      <p:sp>
        <p:nvSpPr>
          <p:cNvPr id="11" name="Text 9"/>
          <p:cNvSpPr/>
          <p:nvPr/>
        </p:nvSpPr>
        <p:spPr>
          <a:xfrm>
            <a:off x="1353312" y="1984248"/>
            <a:ext cx="10088575" cy="274320"/>
          </a:xfrm>
          <a:prstGeom prst="rect">
            <a:avLst/>
          </a:prstGeom>
          <a:noFill/>
          <a:ln/>
        </p:spPr>
        <p:txBody>
          <a:bodyPr wrap="square" lIns="0" tIns="0" rIns="0" bIns="0" rtlCol="0" anchor="ctr"/>
          <a:lstStyle/>
          <a:p>
            <a:pPr marL="0" indent="0">
              <a:buNone/>
            </a:pPr>
            <a:r>
              <a:rPr lang="en-US" sz="950" dirty="0">
                <a:solidFill>
                  <a:srgbClr val="8D97A5"/>
                </a:solidFill>
                <a:latin typeface="Consolas" pitchFamily="34" charset="0"/>
                <a:ea typeface="Consolas" pitchFamily="34" charset="-122"/>
                <a:cs typeface="Consolas" pitchFamily="34" charset="-120"/>
              </a:rPr>
              <a:t>the whole lifecycle</a:t>
            </a:r>
            <a:endParaRPr lang="en-US" sz="950" dirty="0"/>
          </a:p>
        </p:txBody>
      </p:sp>
      <p:sp>
        <p:nvSpPr>
          <p:cNvPr id="12" name="Text 10"/>
          <p:cNvSpPr/>
          <p:nvPr/>
        </p:nvSpPr>
        <p:spPr>
          <a:xfrm>
            <a:off x="841248" y="2130369"/>
            <a:ext cx="10545775" cy="4727631"/>
          </a:xfrm>
          <a:prstGeom prst="rect">
            <a:avLst/>
          </a:prstGeom>
          <a:noFill/>
          <a:ln/>
        </p:spPr>
        <p:txBody>
          <a:bodyPr wrap="square" lIns="0" tIns="0" rIns="0" bIns="0" rtlCol="0" anchor="t"/>
          <a:lstStyle/>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1 — generate a starting point</a:t>
            </a:r>
            <a:endParaRPr lang="en-US" sz="1150" dirty="0"/>
          </a:p>
          <a:p>
            <a:pPr marL="0" indent="0">
              <a:lnSpc>
                <a:spcPts val="1518"/>
              </a:lnSpc>
              <a:buNone/>
            </a:pPr>
            <a:r>
              <a:rPr lang="en-US" sz="1150" dirty="0">
                <a:solidFill>
                  <a:srgbClr val="34D6BE"/>
                </a:solidFill>
                <a:latin typeface="Consolas" pitchFamily="34" charset="0"/>
                <a:ea typeface="Consolas" pitchFamily="34" charset="-122"/>
                <a:cs typeface="Consolas" pitchFamily="34" charset="-120"/>
              </a:rPr>
              <a:t>pm-config-gen --symbols AAPL MSFT --gateways TRADER01 MM01:MARKET_MAKER GW_ADMIN:ADMIN \</a:t>
            </a:r>
            <a:endParaRPr lang="en-US" sz="1150" dirty="0"/>
          </a:p>
          <a:p>
            <a:pPr marL="0" indent="0">
              <a:lnSpc>
                <a:spcPts val="1518"/>
              </a:lnSpc>
              <a:buNone/>
            </a:pPr>
            <a:r>
              <a:rPr lang="en-US" sz="1150" dirty="0">
                <a:solidFill>
                  <a:srgbClr val="34D6BE"/>
                </a:solidFill>
                <a:latin typeface="Consolas" pitchFamily="34" charset="0"/>
                <a:ea typeface="Consolas" pitchFamily="34" charset="-122"/>
                <a:cs typeface="Consolas" pitchFamily="34" charset="-120"/>
              </a:rPr>
              <a:t>               --output engine_config.yaml</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2 — verify it</a:t>
            </a:r>
            <a:endParaRPr lang="en-US" sz="1150" dirty="0"/>
          </a:p>
          <a:p>
            <a:pPr marL="0" indent="0">
              <a:lnSpc>
                <a:spcPts val="1518"/>
              </a:lnSpc>
              <a:buNone/>
            </a:pPr>
            <a:r>
              <a:rPr lang="en-US" sz="1150" dirty="0">
                <a:solidFill>
                  <a:srgbClr val="F3B441"/>
                </a:solidFill>
                <a:latin typeface="Consolas" pitchFamily="34" charset="0"/>
                <a:ea typeface="Consolas" pitchFamily="34" charset="-122"/>
                <a:cs typeface="Consolas" pitchFamily="34" charset="-120"/>
              </a:rPr>
              <a:t>pm-cverifier engine_config.yaml                             # full report</a:t>
            </a:r>
            <a:endParaRPr lang="en-US" sz="1150" dirty="0"/>
          </a:p>
          <a:p>
            <a:pPr marL="0" indent="0">
              <a:lnSpc>
                <a:spcPts val="1518"/>
              </a:lnSpc>
              <a:buNone/>
            </a:pPr>
            <a:r>
              <a:rPr lang="en-US" sz="1150" dirty="0">
                <a:solidFill>
                  <a:srgbClr val="F3B441"/>
                </a:solidFill>
                <a:latin typeface="Consolas" pitchFamily="34" charset="0"/>
                <a:ea typeface="Consolas" pitchFamily="34" charset="-122"/>
                <a:cs typeface="Consolas" pitchFamily="34" charset="-120"/>
              </a:rPr>
              <a:t>pm-cverifier --level warn engine_config.yaml                # warnings and above</a:t>
            </a:r>
            <a:endParaRPr lang="en-US" sz="1150" dirty="0"/>
          </a:p>
          <a:p>
            <a:pPr marL="0" indent="0">
              <a:lnSpc>
                <a:spcPts val="1518"/>
              </a:lnSpc>
              <a:buNone/>
            </a:pPr>
            <a:r>
              <a:rPr lang="en-US" sz="1150" dirty="0">
                <a:solidFill>
                  <a:srgbClr val="F3B441"/>
                </a:solidFill>
                <a:latin typeface="Consolas" pitchFamily="34" charset="0"/>
                <a:ea typeface="Consolas" pitchFamily="34" charset="-122"/>
                <a:cs typeface="Consolas" pitchFamily="34" charset="-120"/>
              </a:rPr>
              <a:t>pm-cverifier --strict --format json engine_config.yaml      # for CI</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3 — compile and install it</a:t>
            </a:r>
            <a:endParaRPr lang="en-US" sz="1150" dirty="0"/>
          </a:p>
          <a:p>
            <a:pPr marL="0" indent="0">
              <a:lnSpc>
                <a:spcPts val="1518"/>
              </a:lnSpc>
              <a:buNone/>
            </a:pPr>
            <a:r>
              <a:rPr lang="en-US" sz="1150" dirty="0">
                <a:solidFill>
                  <a:srgbClr val="9B8CFF"/>
                </a:solidFill>
                <a:latin typeface="Consolas" pitchFamily="34" charset="0"/>
                <a:ea typeface="Consolas" pitchFamily="34" charset="-122"/>
                <a:cs typeface="Consolas" pitchFamily="34" charset="-120"/>
              </a:rPr>
              <a:t>pm-config-deploy engine_config.yaml                         # validate, compile, install</a:t>
            </a:r>
            <a:endParaRPr lang="en-US" sz="1150" dirty="0"/>
          </a:p>
          <a:p>
            <a:pPr marL="0" indent="0">
              <a:lnSpc>
                <a:spcPts val="1518"/>
              </a:lnSpc>
              <a:buNone/>
            </a:pPr>
            <a:r>
              <a:rPr lang="en-US" sz="1150" dirty="0">
                <a:solidFill>
                  <a:srgbClr val="9B8CFF"/>
                </a:solidFill>
                <a:latin typeface="Consolas" pitchFamily="34" charset="0"/>
                <a:ea typeface="Consolas" pitchFamily="34" charset="-122"/>
                <a:cs typeface="Consolas" pitchFamily="34" charset="-120"/>
              </a:rPr>
              <a:t>pm-config-deploy --check engine_config.yaml                 # validate only</a:t>
            </a:r>
            <a:endParaRPr lang="en-US" sz="1150" dirty="0"/>
          </a:p>
          <a:p>
            <a:pPr marL="0" indent="0">
              <a:lnSpc>
                <a:spcPts val="1518"/>
              </a:lnSpc>
              <a:buNone/>
            </a:pPr>
            <a:r>
              <a:rPr lang="en-US" sz="1150" dirty="0">
                <a:solidFill>
                  <a:srgbClr val="9B8CFF"/>
                </a:solidFill>
                <a:latin typeface="Consolas" pitchFamily="34" charset="0"/>
                <a:ea typeface="Consolas" pitchFamily="34" charset="-122"/>
                <a:cs typeface="Consolas" pitchFamily="34" charset="-120"/>
              </a:rPr>
              <a:t>pm-config-deploy --show                                     # where do the files live?</a:t>
            </a:r>
            <a:endParaRPr lang="en-US" sz="1150" dirty="0"/>
          </a:p>
          <a:p>
            <a:pPr marL="0" indent="0">
              <a:lnSpc>
                <a:spcPts val="1518"/>
              </a:lnSpc>
              <a:buNone/>
            </a:pPr>
            <a:r>
              <a:rPr lang="en-US" sz="1150" dirty="0">
                <a:solidFill>
                  <a:srgbClr val="C2CAD4"/>
                </a:solidFill>
                <a:latin typeface="Consolas" pitchFamily="34" charset="0"/>
                <a:ea typeface="Consolas" pitchFamily="34" charset="-122"/>
                <a:cs typeface="Consolas" pitchFamily="34" charset="-120"/>
              </a:rPr>
              <a:t> </a:t>
            </a:r>
            <a:endParaRPr lang="en-US" sz="1150" dirty="0"/>
          </a:p>
          <a:p>
            <a:pPr marL="0" indent="0">
              <a:lnSpc>
                <a:spcPts val="1518"/>
              </a:lnSpc>
              <a:buNone/>
            </a:pPr>
            <a:r>
              <a:rPr lang="en-US" sz="1150" dirty="0">
                <a:solidFill>
                  <a:srgbClr val="8D97A5"/>
                </a:solidFill>
                <a:latin typeface="Consolas" pitchFamily="34" charset="0"/>
                <a:ea typeface="Consolas" pitchFamily="34" charset="-122"/>
                <a:cs typeface="Consolas" pitchFamily="34" charset="-120"/>
              </a:rPr>
              <a:t># 4 — start it, engine first</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pm-engine -v</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pm-scheduler                                                # or --now for testing</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pm-alf-console --id TRADER01</a:t>
            </a:r>
            <a:endParaRPr lang="en-US" sz="1150" dirty="0"/>
          </a:p>
          <a:p>
            <a:pPr marL="0" indent="0">
              <a:lnSpc>
                <a:spcPts val="1518"/>
              </a:lnSpc>
              <a:buNone/>
            </a:pPr>
            <a:r>
              <a:rPr lang="en-US" sz="1150" dirty="0">
                <a:solidFill>
                  <a:srgbClr val="6BD98A"/>
                </a:solidFill>
                <a:latin typeface="Consolas" pitchFamily="34" charset="0"/>
                <a:ea typeface="Consolas" pitchFamily="34" charset="-122"/>
                <a:cs typeface="Consolas" pitchFamily="34" charset="-120"/>
              </a:rPr>
              <a:t>pm-admin --id GW_ADMIN</a:t>
            </a:r>
            <a:endParaRPr lang="en-US" sz="1150" dirty="0"/>
          </a:p>
        </p:txBody>
      </p:sp>
      <p:sp>
        <p:nvSpPr>
          <p:cNvPr id="13" name="Text 11"/>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Technical reference</a:t>
            </a:r>
            <a:endParaRPr lang="en-US" sz="950" dirty="0"/>
          </a:p>
        </p:txBody>
      </p:sp>
      <p:sp>
        <p:nvSpPr>
          <p:cNvPr id="14" name="Text 12"/>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B1F25"/>
        </a:solidFill>
        <a:effectLst/>
      </p:bgPr>
    </p:bg>
    <p:spTree>
      <p:nvGrpSpPr>
        <p:cNvPr id="1" name=""/>
        <p:cNvGrpSpPr/>
        <p:nvPr/>
      </p:nvGrpSpPr>
      <p:grpSpPr>
        <a:xfrm>
          <a:off x="0" y="0"/>
          <a:ext cx="0" cy="0"/>
          <a:chOff x="0" y="0"/>
          <a:chExt cx="0" cy="0"/>
        </a:xfrm>
      </p:grpSpPr>
      <p:sp>
        <p:nvSpPr>
          <p:cNvPr id="2" name="Shape 0"/>
          <p:cNvSpPr/>
          <p:nvPr/>
        </p:nvSpPr>
        <p:spPr>
          <a:xfrm>
            <a:off x="640080" y="475488"/>
            <a:ext cx="118872" cy="118872"/>
          </a:xfrm>
          <a:prstGeom prst="rect">
            <a:avLst/>
          </a:prstGeom>
          <a:solidFill>
            <a:srgbClr val="34D6BE"/>
          </a:solidFill>
          <a:ln/>
        </p:spPr>
        <p:txBody>
          <a:bodyPr/>
          <a:lstStyle/>
          <a:p>
            <a:endParaRPr lang="en-SE"/>
          </a:p>
        </p:txBody>
      </p:sp>
      <p:sp>
        <p:nvSpPr>
          <p:cNvPr id="3" name="Text 1"/>
          <p:cNvSpPr/>
          <p:nvPr/>
        </p:nvSpPr>
        <p:spPr>
          <a:xfrm>
            <a:off x="877824" y="402336"/>
            <a:ext cx="10637215" cy="274320"/>
          </a:xfrm>
          <a:prstGeom prst="rect">
            <a:avLst/>
          </a:prstGeom>
          <a:noFill/>
          <a:ln/>
        </p:spPr>
        <p:txBody>
          <a:bodyPr wrap="square" lIns="0" tIns="0" rIns="0" bIns="0" rtlCol="0" anchor="ctr"/>
          <a:lstStyle/>
          <a:p>
            <a:pPr marL="0" indent="0">
              <a:buNone/>
            </a:pPr>
            <a:r>
              <a:rPr lang="en-US" sz="1050" b="1" kern="0" spc="220" dirty="0">
                <a:solidFill>
                  <a:srgbClr val="34D6BE"/>
                </a:solidFill>
                <a:latin typeface="Calibri" pitchFamily="34" charset="0"/>
                <a:ea typeface="Calibri" pitchFamily="34" charset="-122"/>
                <a:cs typeface="Calibri" pitchFamily="34" charset="-120"/>
              </a:rPr>
              <a:t>REFERENCE</a:t>
            </a:r>
            <a:endParaRPr lang="en-US" sz="1050" dirty="0"/>
          </a:p>
        </p:txBody>
      </p:sp>
      <p:sp>
        <p:nvSpPr>
          <p:cNvPr id="4" name="Text 2"/>
          <p:cNvSpPr/>
          <p:nvPr/>
        </p:nvSpPr>
        <p:spPr>
          <a:xfrm>
            <a:off x="640080" y="749808"/>
            <a:ext cx="7856305" cy="658368"/>
          </a:xfrm>
          <a:prstGeom prst="rect">
            <a:avLst/>
          </a:prstGeom>
          <a:noFill/>
          <a:ln/>
        </p:spPr>
        <p:txBody>
          <a:bodyPr wrap="square" lIns="0" tIns="0" rIns="0" bIns="0" rtlCol="0" anchor="ctr"/>
          <a:lstStyle/>
          <a:p>
            <a:pPr marL="0" indent="0">
              <a:buNone/>
            </a:pPr>
            <a:r>
              <a:rPr lang="en-US" sz="3000" b="1" dirty="0">
                <a:solidFill>
                  <a:srgbClr val="F1F4F8"/>
                </a:solidFill>
                <a:latin typeface="Trebuchet MS" pitchFamily="34" charset="0"/>
                <a:ea typeface="Trebuchet MS" pitchFamily="34" charset="-122"/>
                <a:cs typeface="Trebuchet MS" pitchFamily="34" charset="-120"/>
              </a:rPr>
              <a:t>Where to go next</a:t>
            </a:r>
            <a:endParaRPr lang="en-US" sz="3000" dirty="0"/>
          </a:p>
        </p:txBody>
      </p:sp>
      <p:sp>
        <p:nvSpPr>
          <p:cNvPr id="5" name="Text 3"/>
          <p:cNvSpPr/>
          <p:nvPr/>
        </p:nvSpPr>
        <p:spPr>
          <a:xfrm>
            <a:off x="640080" y="1389888"/>
            <a:ext cx="10911535" cy="384048"/>
          </a:xfrm>
          <a:prstGeom prst="rect">
            <a:avLst/>
          </a:prstGeom>
          <a:noFill/>
          <a:ln/>
        </p:spPr>
        <p:txBody>
          <a:bodyPr wrap="square" lIns="0" tIns="0" rIns="0" bIns="0" rtlCol="0" anchor="t"/>
          <a:lstStyle/>
          <a:p>
            <a:pPr marL="0" indent="0">
              <a:buNone/>
            </a:pPr>
            <a:r>
              <a:rPr lang="en-US" sz="1450" dirty="0">
                <a:solidFill>
                  <a:srgbClr val="8D97A5"/>
                </a:solidFill>
                <a:latin typeface="Calibri" pitchFamily="34" charset="0"/>
                <a:ea typeface="Calibri" pitchFamily="34" charset="-122"/>
                <a:cs typeface="Calibri" pitchFamily="34" charset="-120"/>
              </a:rPr>
              <a:t>This deck is a guided tour. These are the documents it was built from.</a:t>
            </a:r>
            <a:endParaRPr lang="en-US" sz="1450" dirty="0"/>
          </a:p>
        </p:txBody>
      </p:sp>
      <p:sp>
        <p:nvSpPr>
          <p:cNvPr id="6" name="Shape 4"/>
          <p:cNvSpPr/>
          <p:nvPr/>
        </p:nvSpPr>
        <p:spPr>
          <a:xfrm>
            <a:off x="640080" y="2011680"/>
            <a:ext cx="10911535" cy="731520"/>
          </a:xfrm>
          <a:prstGeom prst="roundRect">
            <a:avLst>
              <a:gd name="adj" fmla="val 7500"/>
            </a:avLst>
          </a:prstGeom>
          <a:solidFill>
            <a:srgbClr val="252B33"/>
          </a:solidFill>
          <a:ln w="12700">
            <a:solidFill>
              <a:srgbClr val="3B4450"/>
            </a:solidFill>
            <a:prstDash val="solid"/>
          </a:ln>
        </p:spPr>
        <p:txBody>
          <a:bodyPr/>
          <a:lstStyle/>
          <a:p>
            <a:endParaRPr lang="en-SE"/>
          </a:p>
        </p:txBody>
      </p:sp>
      <p:sp>
        <p:nvSpPr>
          <p:cNvPr id="7" name="Shape 5"/>
          <p:cNvSpPr/>
          <p:nvPr/>
        </p:nvSpPr>
        <p:spPr>
          <a:xfrm>
            <a:off x="640080" y="2011680"/>
            <a:ext cx="50292" cy="731520"/>
          </a:xfrm>
          <a:prstGeom prst="rect">
            <a:avLst/>
          </a:prstGeom>
          <a:solidFill>
            <a:srgbClr val="FF7A6B"/>
          </a:solidFill>
          <a:ln w="12700">
            <a:solidFill>
              <a:srgbClr val="333333"/>
            </a:solidFill>
            <a:prstDash val="solid"/>
          </a:ln>
        </p:spPr>
        <p:txBody>
          <a:bodyPr/>
          <a:lstStyle/>
          <a:p>
            <a:endParaRPr lang="en-SE"/>
          </a:p>
        </p:txBody>
      </p:sp>
      <p:sp>
        <p:nvSpPr>
          <p:cNvPr id="8" name="Text 6"/>
          <p:cNvSpPr/>
          <p:nvPr/>
        </p:nvSpPr>
        <p:spPr>
          <a:xfrm>
            <a:off x="914400" y="2084832"/>
            <a:ext cx="3291840" cy="310896"/>
          </a:xfrm>
          <a:prstGeom prst="rect">
            <a:avLst/>
          </a:prstGeom>
          <a:noFill/>
          <a:ln/>
        </p:spPr>
        <p:txBody>
          <a:bodyPr wrap="square" lIns="0" tIns="0" rIns="0" bIns="0" rtlCol="0" anchor="ctr"/>
          <a:lstStyle/>
          <a:p>
            <a:pPr marL="0" indent="0">
              <a:buNone/>
            </a:pPr>
            <a:r>
              <a:rPr lang="en-US" sz="1250" b="1" dirty="0">
                <a:solidFill>
                  <a:srgbClr val="FF7A6B"/>
                </a:solidFill>
                <a:latin typeface="Consolas" pitchFamily="34" charset="0"/>
                <a:ea typeface="Consolas" pitchFamily="34" charset="-122"/>
                <a:cs typeface="Consolas" pitchFamily="34" charset="-120"/>
              </a:rPr>
              <a:t>990-app-config-spec.md</a:t>
            </a:r>
            <a:endParaRPr lang="en-US" sz="1250" dirty="0"/>
          </a:p>
        </p:txBody>
      </p:sp>
      <p:sp>
        <p:nvSpPr>
          <p:cNvPr id="9" name="Text 7"/>
          <p:cNvSpPr/>
          <p:nvPr/>
        </p:nvSpPr>
        <p:spPr>
          <a:xfrm>
            <a:off x="914400" y="2414016"/>
            <a:ext cx="3291840" cy="256032"/>
          </a:xfrm>
          <a:prstGeom prst="rect">
            <a:avLst/>
          </a:prstGeom>
          <a:noFill/>
          <a:ln/>
        </p:spPr>
        <p:txBody>
          <a:bodyPr wrap="square" lIns="0" tIns="0" rIns="0" bIns="0" rtlCol="0" anchor="ctr"/>
          <a:lstStyle/>
          <a:p>
            <a:pPr marL="0" indent="0">
              <a:buNone/>
            </a:pPr>
            <a:r>
              <a:rPr lang="en-US" sz="1100" dirty="0">
                <a:solidFill>
                  <a:srgbClr val="8D97A5"/>
                </a:solidFill>
                <a:latin typeface="Calibri" pitchFamily="34" charset="0"/>
                <a:ea typeface="Calibri" pitchFamily="34" charset="-122"/>
                <a:cs typeface="Calibri" pitchFamily="34" charset="-120"/>
              </a:rPr>
              <a:t>The normative reference</a:t>
            </a:r>
            <a:endParaRPr lang="en-US" sz="1100" dirty="0"/>
          </a:p>
        </p:txBody>
      </p:sp>
      <p:sp>
        <p:nvSpPr>
          <p:cNvPr id="10" name="Text 8"/>
          <p:cNvSpPr/>
          <p:nvPr/>
        </p:nvSpPr>
        <p:spPr>
          <a:xfrm>
            <a:off x="4434840" y="2157984"/>
            <a:ext cx="6842455" cy="548640"/>
          </a:xfrm>
          <a:prstGeom prst="rect">
            <a:avLst/>
          </a:prstGeom>
          <a:noFill/>
          <a:ln/>
        </p:spPr>
        <p:txBody>
          <a:bodyPr wrap="square" lIns="0" tIns="0" rIns="0" bIns="0" rtlCol="0" anchor="t"/>
          <a:lstStyle/>
          <a:p>
            <a:pPr marL="0" indent="0">
              <a:lnSpc>
                <a:spcPts val="1650"/>
              </a:lnSpc>
              <a:buNone/>
            </a:pPr>
            <a:r>
              <a:rPr lang="en-US" sz="1200" dirty="0">
                <a:solidFill>
                  <a:srgbClr val="C2CAD4"/>
                </a:solidFill>
                <a:latin typeface="Calibri" pitchFamily="34" charset="0"/>
                <a:ea typeface="Calibri" pitchFamily="34" charset="-122"/>
                <a:cs typeface="Calibri" pitchFamily="34" charset="-120"/>
              </a:rPr>
              <a:t>The formal schema: every field, type, default and constraint. Where this deck and that document disagree, that document wins.</a:t>
            </a:r>
            <a:endParaRPr lang="en-US" sz="1200" dirty="0"/>
          </a:p>
        </p:txBody>
      </p:sp>
      <p:sp>
        <p:nvSpPr>
          <p:cNvPr id="11" name="Shape 9"/>
          <p:cNvSpPr/>
          <p:nvPr/>
        </p:nvSpPr>
        <p:spPr>
          <a:xfrm>
            <a:off x="640080" y="2852928"/>
            <a:ext cx="10911535" cy="731520"/>
          </a:xfrm>
          <a:prstGeom prst="roundRect">
            <a:avLst>
              <a:gd name="adj" fmla="val 7500"/>
            </a:avLst>
          </a:prstGeom>
          <a:solidFill>
            <a:srgbClr val="252B33"/>
          </a:solidFill>
          <a:ln w="12700">
            <a:solidFill>
              <a:srgbClr val="3B4450"/>
            </a:solidFill>
            <a:prstDash val="solid"/>
          </a:ln>
        </p:spPr>
        <p:txBody>
          <a:bodyPr/>
          <a:lstStyle/>
          <a:p>
            <a:endParaRPr lang="en-SE"/>
          </a:p>
        </p:txBody>
      </p:sp>
      <p:sp>
        <p:nvSpPr>
          <p:cNvPr id="12" name="Shape 10"/>
          <p:cNvSpPr/>
          <p:nvPr/>
        </p:nvSpPr>
        <p:spPr>
          <a:xfrm>
            <a:off x="640080" y="2852928"/>
            <a:ext cx="50292" cy="731520"/>
          </a:xfrm>
          <a:prstGeom prst="rect">
            <a:avLst/>
          </a:prstGeom>
          <a:solidFill>
            <a:srgbClr val="34D6BE"/>
          </a:solidFill>
          <a:ln w="12700">
            <a:solidFill>
              <a:srgbClr val="333333"/>
            </a:solidFill>
            <a:prstDash val="solid"/>
          </a:ln>
        </p:spPr>
        <p:txBody>
          <a:bodyPr/>
          <a:lstStyle/>
          <a:p>
            <a:endParaRPr lang="en-SE"/>
          </a:p>
        </p:txBody>
      </p:sp>
      <p:sp>
        <p:nvSpPr>
          <p:cNvPr id="13" name="Text 11"/>
          <p:cNvSpPr/>
          <p:nvPr/>
        </p:nvSpPr>
        <p:spPr>
          <a:xfrm>
            <a:off x="914400" y="2926080"/>
            <a:ext cx="3291840" cy="310896"/>
          </a:xfrm>
          <a:prstGeom prst="rect">
            <a:avLst/>
          </a:prstGeom>
          <a:noFill/>
          <a:ln/>
        </p:spPr>
        <p:txBody>
          <a:bodyPr wrap="square" lIns="0" tIns="0" rIns="0" bIns="0" rtlCol="0" anchor="ctr"/>
          <a:lstStyle/>
          <a:p>
            <a:pPr marL="0" indent="0">
              <a:buNone/>
            </a:pPr>
            <a:r>
              <a:rPr lang="en-US" sz="1250" b="1" dirty="0">
                <a:solidFill>
                  <a:srgbClr val="34D6BE"/>
                </a:solidFill>
                <a:latin typeface="Consolas" pitchFamily="34" charset="0"/>
                <a:ea typeface="Consolas" pitchFamily="34" charset="-122"/>
                <a:cs typeface="Consolas" pitchFamily="34" charset="-120"/>
              </a:rPr>
              <a:t>010-configuration.md</a:t>
            </a:r>
            <a:endParaRPr lang="en-US" sz="1250" dirty="0"/>
          </a:p>
        </p:txBody>
      </p:sp>
      <p:sp>
        <p:nvSpPr>
          <p:cNvPr id="14" name="Text 12"/>
          <p:cNvSpPr/>
          <p:nvPr/>
        </p:nvSpPr>
        <p:spPr>
          <a:xfrm>
            <a:off x="914400" y="3255264"/>
            <a:ext cx="3291840" cy="256032"/>
          </a:xfrm>
          <a:prstGeom prst="rect">
            <a:avLst/>
          </a:prstGeom>
          <a:noFill/>
          <a:ln/>
        </p:spPr>
        <p:txBody>
          <a:bodyPr wrap="square" lIns="0" tIns="0" rIns="0" bIns="0" rtlCol="0" anchor="ctr"/>
          <a:lstStyle/>
          <a:p>
            <a:pPr marL="0" indent="0">
              <a:buNone/>
            </a:pPr>
            <a:r>
              <a:rPr lang="en-US" sz="1100" dirty="0">
                <a:solidFill>
                  <a:srgbClr val="8D97A5"/>
                </a:solidFill>
                <a:latin typeface="Calibri" pitchFamily="34" charset="0"/>
                <a:ea typeface="Calibri" pitchFamily="34" charset="-122"/>
                <a:cs typeface="Calibri" pitchFamily="34" charset="-120"/>
              </a:rPr>
              <a:t>The full configuration guide</a:t>
            </a:r>
            <a:endParaRPr lang="en-US" sz="1100" dirty="0"/>
          </a:p>
        </p:txBody>
      </p:sp>
      <p:sp>
        <p:nvSpPr>
          <p:cNvPr id="15" name="Text 13"/>
          <p:cNvSpPr/>
          <p:nvPr/>
        </p:nvSpPr>
        <p:spPr>
          <a:xfrm>
            <a:off x="4434840" y="2999232"/>
            <a:ext cx="6842455" cy="548640"/>
          </a:xfrm>
          <a:prstGeom prst="rect">
            <a:avLst/>
          </a:prstGeom>
          <a:noFill/>
          <a:ln/>
        </p:spPr>
        <p:txBody>
          <a:bodyPr wrap="square" lIns="0" tIns="0" rIns="0" bIns="0" rtlCol="0" anchor="t"/>
          <a:lstStyle/>
          <a:p>
            <a:pPr marL="0" indent="0">
              <a:lnSpc>
                <a:spcPts val="1650"/>
              </a:lnSpc>
              <a:buNone/>
            </a:pPr>
            <a:r>
              <a:rPr lang="en-US" sz="1200" dirty="0">
                <a:solidFill>
                  <a:srgbClr val="C2CAD4"/>
                </a:solidFill>
                <a:latin typeface="Calibri" pitchFamily="34" charset="0"/>
                <a:ea typeface="Calibri" pitchFamily="34" charset="-122"/>
                <a:cs typeface="Calibri" pitchFamily="34" charset="-120"/>
              </a:rPr>
              <a:t>Worked examples from minimal to fully complex, the process-to-section map, and a section per domain topic.</a:t>
            </a:r>
            <a:endParaRPr lang="en-US" sz="1200" dirty="0"/>
          </a:p>
        </p:txBody>
      </p:sp>
      <p:sp>
        <p:nvSpPr>
          <p:cNvPr id="16" name="Shape 14"/>
          <p:cNvSpPr/>
          <p:nvPr/>
        </p:nvSpPr>
        <p:spPr>
          <a:xfrm>
            <a:off x="640080" y="3694176"/>
            <a:ext cx="10911535" cy="731520"/>
          </a:xfrm>
          <a:prstGeom prst="roundRect">
            <a:avLst>
              <a:gd name="adj" fmla="val 7500"/>
            </a:avLst>
          </a:prstGeom>
          <a:solidFill>
            <a:srgbClr val="252B33"/>
          </a:solidFill>
          <a:ln w="12700">
            <a:solidFill>
              <a:srgbClr val="3B4450"/>
            </a:solidFill>
            <a:prstDash val="solid"/>
          </a:ln>
        </p:spPr>
        <p:txBody>
          <a:bodyPr/>
          <a:lstStyle/>
          <a:p>
            <a:endParaRPr lang="en-SE"/>
          </a:p>
        </p:txBody>
      </p:sp>
      <p:sp>
        <p:nvSpPr>
          <p:cNvPr id="17" name="Shape 15"/>
          <p:cNvSpPr/>
          <p:nvPr/>
        </p:nvSpPr>
        <p:spPr>
          <a:xfrm>
            <a:off x="640080" y="3694176"/>
            <a:ext cx="50292" cy="731520"/>
          </a:xfrm>
          <a:prstGeom prst="rect">
            <a:avLst/>
          </a:prstGeom>
          <a:solidFill>
            <a:srgbClr val="F3B441"/>
          </a:solidFill>
          <a:ln w="12700">
            <a:solidFill>
              <a:srgbClr val="333333"/>
            </a:solidFill>
            <a:prstDash val="solid"/>
          </a:ln>
        </p:spPr>
        <p:txBody>
          <a:bodyPr/>
          <a:lstStyle/>
          <a:p>
            <a:endParaRPr lang="en-SE"/>
          </a:p>
        </p:txBody>
      </p:sp>
      <p:sp>
        <p:nvSpPr>
          <p:cNvPr id="18" name="Text 16"/>
          <p:cNvSpPr/>
          <p:nvPr/>
        </p:nvSpPr>
        <p:spPr>
          <a:xfrm>
            <a:off x="914400" y="3767328"/>
            <a:ext cx="3291840" cy="310896"/>
          </a:xfrm>
          <a:prstGeom prst="rect">
            <a:avLst/>
          </a:prstGeom>
          <a:noFill/>
          <a:ln/>
        </p:spPr>
        <p:txBody>
          <a:bodyPr wrap="square" lIns="0" tIns="0" rIns="0" bIns="0" rtlCol="0" anchor="ctr"/>
          <a:lstStyle/>
          <a:p>
            <a:pPr marL="0" indent="0">
              <a:buNone/>
            </a:pPr>
            <a:r>
              <a:rPr lang="en-US" sz="1250" b="1" dirty="0">
                <a:solidFill>
                  <a:srgbClr val="F3B441"/>
                </a:solidFill>
                <a:latin typeface="Consolas" pitchFamily="34" charset="0"/>
                <a:ea typeface="Consolas" pitchFamily="34" charset="-122"/>
                <a:cs typeface="Consolas" pitchFamily="34" charset="-120"/>
              </a:rPr>
              <a:t>020-config-verifier.md</a:t>
            </a:r>
            <a:endParaRPr lang="en-US" sz="1250" dirty="0"/>
          </a:p>
        </p:txBody>
      </p:sp>
      <p:sp>
        <p:nvSpPr>
          <p:cNvPr id="19" name="Text 17"/>
          <p:cNvSpPr/>
          <p:nvPr/>
        </p:nvSpPr>
        <p:spPr>
          <a:xfrm>
            <a:off x="914400" y="4096512"/>
            <a:ext cx="3291840" cy="256032"/>
          </a:xfrm>
          <a:prstGeom prst="rect">
            <a:avLst/>
          </a:prstGeom>
          <a:noFill/>
          <a:ln/>
        </p:spPr>
        <p:txBody>
          <a:bodyPr wrap="square" lIns="0" tIns="0" rIns="0" bIns="0" rtlCol="0" anchor="ctr"/>
          <a:lstStyle/>
          <a:p>
            <a:pPr marL="0" indent="0">
              <a:buNone/>
            </a:pPr>
            <a:r>
              <a:rPr lang="en-US" sz="1100" dirty="0">
                <a:solidFill>
                  <a:srgbClr val="8D97A5"/>
                </a:solidFill>
                <a:latin typeface="Calibri" pitchFamily="34" charset="0"/>
                <a:ea typeface="Calibri" pitchFamily="34" charset="-122"/>
                <a:cs typeface="Calibri" pitchFamily="34" charset="-120"/>
              </a:rPr>
              <a:t>The verifier</a:t>
            </a:r>
            <a:endParaRPr lang="en-US" sz="1100" dirty="0"/>
          </a:p>
        </p:txBody>
      </p:sp>
      <p:sp>
        <p:nvSpPr>
          <p:cNvPr id="20" name="Text 18"/>
          <p:cNvSpPr/>
          <p:nvPr/>
        </p:nvSpPr>
        <p:spPr>
          <a:xfrm>
            <a:off x="4434840" y="3840480"/>
            <a:ext cx="6842455" cy="548640"/>
          </a:xfrm>
          <a:prstGeom prst="rect">
            <a:avLst/>
          </a:prstGeom>
          <a:noFill/>
          <a:ln/>
        </p:spPr>
        <p:txBody>
          <a:bodyPr wrap="square" lIns="0" tIns="0" rIns="0" bIns="0" rtlCol="0" anchor="t"/>
          <a:lstStyle/>
          <a:p>
            <a:pPr marL="0" indent="0">
              <a:lnSpc>
                <a:spcPts val="1650"/>
              </a:lnSpc>
              <a:buNone/>
            </a:pPr>
            <a:r>
              <a:rPr lang="en-US" sz="1200" dirty="0">
                <a:solidFill>
                  <a:srgbClr val="C2CAD4"/>
                </a:solidFill>
                <a:latin typeface="Calibri" pitchFamily="34" charset="0"/>
                <a:ea typeface="Calibri" pitchFamily="34" charset="-122"/>
                <a:cs typeface="Calibri" pitchFamily="34" charset="-120"/>
              </a:rPr>
              <a:t>The complete CLI reference, all four layers, and the full catalogue of check codes with their meanings.</a:t>
            </a:r>
            <a:endParaRPr lang="en-US" sz="1200" dirty="0"/>
          </a:p>
        </p:txBody>
      </p:sp>
      <p:sp>
        <p:nvSpPr>
          <p:cNvPr id="21" name="Shape 19"/>
          <p:cNvSpPr/>
          <p:nvPr/>
        </p:nvSpPr>
        <p:spPr>
          <a:xfrm>
            <a:off x="640080" y="4535424"/>
            <a:ext cx="10911535" cy="731520"/>
          </a:xfrm>
          <a:prstGeom prst="roundRect">
            <a:avLst>
              <a:gd name="adj" fmla="val 7500"/>
            </a:avLst>
          </a:prstGeom>
          <a:solidFill>
            <a:srgbClr val="252B33"/>
          </a:solidFill>
          <a:ln w="12700">
            <a:solidFill>
              <a:srgbClr val="3B4450"/>
            </a:solidFill>
            <a:prstDash val="solid"/>
          </a:ln>
        </p:spPr>
        <p:txBody>
          <a:bodyPr/>
          <a:lstStyle/>
          <a:p>
            <a:endParaRPr lang="en-SE"/>
          </a:p>
        </p:txBody>
      </p:sp>
      <p:sp>
        <p:nvSpPr>
          <p:cNvPr id="22" name="Shape 20"/>
          <p:cNvSpPr/>
          <p:nvPr/>
        </p:nvSpPr>
        <p:spPr>
          <a:xfrm>
            <a:off x="640080" y="4535424"/>
            <a:ext cx="50292" cy="731520"/>
          </a:xfrm>
          <a:prstGeom prst="rect">
            <a:avLst/>
          </a:prstGeom>
          <a:solidFill>
            <a:srgbClr val="9B8CFF"/>
          </a:solidFill>
          <a:ln w="12700">
            <a:solidFill>
              <a:srgbClr val="333333"/>
            </a:solidFill>
            <a:prstDash val="solid"/>
          </a:ln>
        </p:spPr>
        <p:txBody>
          <a:bodyPr/>
          <a:lstStyle/>
          <a:p>
            <a:endParaRPr lang="en-SE"/>
          </a:p>
        </p:txBody>
      </p:sp>
      <p:sp>
        <p:nvSpPr>
          <p:cNvPr id="23" name="Text 21"/>
          <p:cNvSpPr/>
          <p:nvPr/>
        </p:nvSpPr>
        <p:spPr>
          <a:xfrm>
            <a:off x="914400" y="4608576"/>
            <a:ext cx="3291840" cy="310896"/>
          </a:xfrm>
          <a:prstGeom prst="rect">
            <a:avLst/>
          </a:prstGeom>
          <a:noFill/>
          <a:ln/>
        </p:spPr>
        <p:txBody>
          <a:bodyPr wrap="square" lIns="0" tIns="0" rIns="0" bIns="0" rtlCol="0" anchor="ctr"/>
          <a:lstStyle/>
          <a:p>
            <a:pPr marL="0" indent="0">
              <a:buNone/>
            </a:pPr>
            <a:r>
              <a:rPr lang="en-US" sz="1250" b="1" dirty="0">
                <a:solidFill>
                  <a:srgbClr val="9B8CFF"/>
                </a:solidFill>
                <a:latin typeface="Consolas" pitchFamily="34" charset="0"/>
                <a:ea typeface="Consolas" pitchFamily="34" charset="-122"/>
                <a:cs typeface="Consolas" pitchFamily="34" charset="-120"/>
              </a:rPr>
              <a:t>030-config-GUI.md</a:t>
            </a:r>
            <a:endParaRPr lang="en-US" sz="1250" dirty="0"/>
          </a:p>
        </p:txBody>
      </p:sp>
      <p:sp>
        <p:nvSpPr>
          <p:cNvPr id="24" name="Text 22"/>
          <p:cNvSpPr/>
          <p:nvPr/>
        </p:nvSpPr>
        <p:spPr>
          <a:xfrm>
            <a:off x="914400" y="4937760"/>
            <a:ext cx="3291840" cy="256032"/>
          </a:xfrm>
          <a:prstGeom prst="rect">
            <a:avLst/>
          </a:prstGeom>
          <a:noFill/>
          <a:ln/>
        </p:spPr>
        <p:txBody>
          <a:bodyPr wrap="square" lIns="0" tIns="0" rIns="0" bIns="0" rtlCol="0" anchor="ctr"/>
          <a:lstStyle/>
          <a:p>
            <a:pPr marL="0" indent="0">
              <a:buNone/>
            </a:pPr>
            <a:r>
              <a:rPr lang="en-US" sz="1100" dirty="0">
                <a:solidFill>
                  <a:srgbClr val="8D97A5"/>
                </a:solidFill>
                <a:latin typeface="Calibri" pitchFamily="34" charset="0"/>
                <a:ea typeface="Calibri" pitchFamily="34" charset="-122"/>
                <a:cs typeface="Calibri" pitchFamily="34" charset="-120"/>
              </a:rPr>
              <a:t>The Config Builder</a:t>
            </a:r>
            <a:endParaRPr lang="en-US" sz="1100" dirty="0"/>
          </a:p>
        </p:txBody>
      </p:sp>
      <p:sp>
        <p:nvSpPr>
          <p:cNvPr id="25" name="Text 23"/>
          <p:cNvSpPr/>
          <p:nvPr/>
        </p:nvSpPr>
        <p:spPr>
          <a:xfrm>
            <a:off x="4434840" y="4681728"/>
            <a:ext cx="6842455" cy="548640"/>
          </a:xfrm>
          <a:prstGeom prst="rect">
            <a:avLst/>
          </a:prstGeom>
          <a:noFill/>
          <a:ln/>
        </p:spPr>
        <p:txBody>
          <a:bodyPr wrap="square" lIns="0" tIns="0" rIns="0" bIns="0" rtlCol="0" anchor="t"/>
          <a:lstStyle/>
          <a:p>
            <a:pPr marL="0" indent="0">
              <a:lnSpc>
                <a:spcPts val="1650"/>
              </a:lnSpc>
              <a:buNone/>
            </a:pPr>
            <a:r>
              <a:rPr lang="en-US" sz="1200" dirty="0">
                <a:solidFill>
                  <a:srgbClr val="C2CAD4"/>
                </a:solidFill>
                <a:latin typeface="Calibri" pitchFamily="34" charset="0"/>
                <a:ea typeface="Calibri" pitchFamily="34" charset="-122"/>
                <a:cs typeface="Calibri" pitchFamily="34" charset="-120"/>
              </a:rPr>
              <a:t>Running it, the personas, every tab, the workflows, and troubleshooting.</a:t>
            </a:r>
            <a:endParaRPr lang="en-US" sz="1200" dirty="0"/>
          </a:p>
        </p:txBody>
      </p:sp>
      <p:sp>
        <p:nvSpPr>
          <p:cNvPr id="26" name="Shape 24"/>
          <p:cNvSpPr/>
          <p:nvPr/>
        </p:nvSpPr>
        <p:spPr>
          <a:xfrm>
            <a:off x="640080" y="5376672"/>
            <a:ext cx="10911535" cy="731520"/>
          </a:xfrm>
          <a:prstGeom prst="roundRect">
            <a:avLst>
              <a:gd name="adj" fmla="val 7500"/>
            </a:avLst>
          </a:prstGeom>
          <a:solidFill>
            <a:srgbClr val="252B33"/>
          </a:solidFill>
          <a:ln w="12700">
            <a:solidFill>
              <a:srgbClr val="3B4450"/>
            </a:solidFill>
            <a:prstDash val="solid"/>
          </a:ln>
        </p:spPr>
        <p:txBody>
          <a:bodyPr/>
          <a:lstStyle/>
          <a:p>
            <a:endParaRPr lang="en-SE"/>
          </a:p>
        </p:txBody>
      </p:sp>
      <p:sp>
        <p:nvSpPr>
          <p:cNvPr id="27" name="Shape 25"/>
          <p:cNvSpPr/>
          <p:nvPr/>
        </p:nvSpPr>
        <p:spPr>
          <a:xfrm>
            <a:off x="640080" y="5376672"/>
            <a:ext cx="50292" cy="731520"/>
          </a:xfrm>
          <a:prstGeom prst="rect">
            <a:avLst/>
          </a:prstGeom>
          <a:solidFill>
            <a:srgbClr val="6BD98A"/>
          </a:solidFill>
          <a:ln w="12700">
            <a:solidFill>
              <a:srgbClr val="333333"/>
            </a:solidFill>
            <a:prstDash val="solid"/>
          </a:ln>
        </p:spPr>
        <p:txBody>
          <a:bodyPr/>
          <a:lstStyle/>
          <a:p>
            <a:endParaRPr lang="en-SE"/>
          </a:p>
        </p:txBody>
      </p:sp>
      <p:sp>
        <p:nvSpPr>
          <p:cNvPr id="28" name="Text 26"/>
          <p:cNvSpPr/>
          <p:nvPr/>
        </p:nvSpPr>
        <p:spPr>
          <a:xfrm>
            <a:off x="914400" y="5449824"/>
            <a:ext cx="3291840" cy="310896"/>
          </a:xfrm>
          <a:prstGeom prst="rect">
            <a:avLst/>
          </a:prstGeom>
          <a:noFill/>
          <a:ln/>
        </p:spPr>
        <p:txBody>
          <a:bodyPr wrap="square" lIns="0" tIns="0" rIns="0" bIns="0" rtlCol="0" anchor="ctr"/>
          <a:lstStyle/>
          <a:p>
            <a:pPr marL="0" indent="0">
              <a:buNone/>
            </a:pPr>
            <a:r>
              <a:rPr lang="en-US" sz="1250" b="1" dirty="0">
                <a:solidFill>
                  <a:srgbClr val="6BD98A"/>
                </a:solidFill>
                <a:latin typeface="Consolas" pitchFamily="34" charset="0"/>
                <a:ea typeface="Consolas" pitchFamily="34" charset="-122"/>
                <a:cs typeface="Consolas" pitchFamily="34" charset="-120"/>
              </a:rPr>
              <a:t>040-running-the-exchange.md</a:t>
            </a:r>
            <a:endParaRPr lang="en-US" sz="1250" dirty="0"/>
          </a:p>
        </p:txBody>
      </p:sp>
      <p:sp>
        <p:nvSpPr>
          <p:cNvPr id="29" name="Text 27"/>
          <p:cNvSpPr/>
          <p:nvPr/>
        </p:nvSpPr>
        <p:spPr>
          <a:xfrm>
            <a:off x="914400" y="5779008"/>
            <a:ext cx="3291840" cy="256032"/>
          </a:xfrm>
          <a:prstGeom prst="rect">
            <a:avLst/>
          </a:prstGeom>
          <a:noFill/>
          <a:ln/>
        </p:spPr>
        <p:txBody>
          <a:bodyPr wrap="square" lIns="0" tIns="0" rIns="0" bIns="0" rtlCol="0" anchor="ctr"/>
          <a:lstStyle/>
          <a:p>
            <a:pPr marL="0" indent="0">
              <a:buNone/>
            </a:pPr>
            <a:r>
              <a:rPr lang="en-US" sz="1100" dirty="0">
                <a:solidFill>
                  <a:srgbClr val="8D97A5"/>
                </a:solidFill>
                <a:latin typeface="Calibri" pitchFamily="34" charset="0"/>
                <a:ea typeface="Calibri" pitchFamily="34" charset="-122"/>
                <a:cs typeface="Calibri" pitchFamily="34" charset="-120"/>
              </a:rPr>
              <a:t>Running the exchange</a:t>
            </a:r>
            <a:endParaRPr lang="en-US" sz="1100" dirty="0"/>
          </a:p>
        </p:txBody>
      </p:sp>
      <p:sp>
        <p:nvSpPr>
          <p:cNvPr id="30" name="Text 28"/>
          <p:cNvSpPr/>
          <p:nvPr/>
        </p:nvSpPr>
        <p:spPr>
          <a:xfrm>
            <a:off x="4434840" y="5522976"/>
            <a:ext cx="6842455" cy="548640"/>
          </a:xfrm>
          <a:prstGeom prst="rect">
            <a:avLst/>
          </a:prstGeom>
          <a:noFill/>
          <a:ln/>
        </p:spPr>
        <p:txBody>
          <a:bodyPr wrap="square" lIns="0" tIns="0" rIns="0" bIns="0" rtlCol="0" anchor="t"/>
          <a:lstStyle/>
          <a:p>
            <a:pPr marL="0" indent="0">
              <a:lnSpc>
                <a:spcPts val="1650"/>
              </a:lnSpc>
              <a:buNone/>
            </a:pPr>
            <a:r>
              <a:rPr lang="en-US" sz="1200" dirty="0">
                <a:solidFill>
                  <a:srgbClr val="C2CAD4"/>
                </a:solidFill>
                <a:latin typeface="Calibri" pitchFamily="34" charset="0"/>
                <a:ea typeface="Calibri" pitchFamily="34" charset="-122"/>
                <a:cs typeface="Calibri" pitchFamily="34" charset="-120"/>
              </a:rPr>
              <a:t>Startup order, the full process reference, verification steps and startup troubleshooting.</a:t>
            </a:r>
            <a:endParaRPr lang="en-US" sz="1200" dirty="0"/>
          </a:p>
        </p:txBody>
      </p:sp>
      <p:sp>
        <p:nvSpPr>
          <p:cNvPr id="31" name="Text 29"/>
          <p:cNvSpPr/>
          <p:nvPr/>
        </p:nvSpPr>
        <p:spPr>
          <a:xfrm>
            <a:off x="640080" y="6355080"/>
            <a:ext cx="10911535" cy="310896"/>
          </a:xfrm>
          <a:prstGeom prst="rect">
            <a:avLst/>
          </a:prstGeom>
          <a:noFill/>
          <a:ln/>
        </p:spPr>
        <p:txBody>
          <a:bodyPr wrap="square" lIns="0" tIns="0" rIns="0" bIns="0" rtlCol="0" anchor="ctr"/>
          <a:lstStyle/>
          <a:p>
            <a:pPr marL="0" indent="0">
              <a:buNone/>
            </a:pPr>
            <a:r>
              <a:rPr lang="en-US" sz="1250" i="1" dirty="0">
                <a:solidFill>
                  <a:srgbClr val="34D6BE"/>
                </a:solidFill>
                <a:latin typeface="Calibri" pitchFamily="34" charset="0"/>
                <a:ea typeface="Calibri" pitchFamily="34" charset="-122"/>
                <a:cs typeface="Calibri" pitchFamily="34" charset="-120"/>
              </a:rPr>
              <a:t>Start with the guide, keep the specification open beside it, and run the verifier after every change.</a:t>
            </a:r>
            <a:endParaRPr lang="en-US" sz="1250" dirty="0"/>
          </a:p>
        </p:txBody>
      </p:sp>
      <p:sp>
        <p:nvSpPr>
          <p:cNvPr id="32" name="Text 30"/>
          <p:cNvSpPr/>
          <p:nvPr/>
        </p:nvSpPr>
        <p:spPr>
          <a:xfrm>
            <a:off x="640080" y="6382512"/>
            <a:ext cx="7315200" cy="274320"/>
          </a:xfrm>
          <a:prstGeom prst="rect">
            <a:avLst/>
          </a:prstGeom>
          <a:noFill/>
          <a:ln/>
        </p:spPr>
        <p:txBody>
          <a:bodyPr wrap="square" lIns="0" tIns="0" rIns="0" bIns="0" rtlCol="0" anchor="ctr"/>
          <a:lstStyle/>
          <a:p>
            <a:pPr marL="0" indent="0">
              <a:buNone/>
            </a:pPr>
            <a:r>
              <a:rPr lang="en-US" sz="950" kern="0" spc="160" dirty="0">
                <a:solidFill>
                  <a:srgbClr val="8D97A5"/>
                </a:solidFill>
                <a:latin typeface="Calibri" pitchFamily="34" charset="0"/>
                <a:ea typeface="Calibri" pitchFamily="34" charset="-122"/>
                <a:cs typeface="Calibri" pitchFamily="34" charset="-120"/>
              </a:rPr>
              <a:t>Technical reference</a:t>
            </a:r>
            <a:endParaRPr lang="en-US" sz="950" dirty="0"/>
          </a:p>
        </p:txBody>
      </p:sp>
      <p:sp>
        <p:nvSpPr>
          <p:cNvPr id="33" name="Text 31"/>
          <p:cNvSpPr/>
          <p:nvPr/>
        </p:nvSpPr>
        <p:spPr>
          <a:xfrm>
            <a:off x="10637215" y="6382512"/>
            <a:ext cx="914400" cy="274320"/>
          </a:xfrm>
          <a:prstGeom prst="rect">
            <a:avLst/>
          </a:prstGeom>
          <a:noFill/>
          <a:ln/>
        </p:spPr>
        <p:txBody>
          <a:bodyPr wrap="square" lIns="0" tIns="0" rIns="0" bIns="0" rtlCol="0" anchor="ctr"/>
          <a:lstStyle/>
          <a:p>
            <a:pPr marL="0" indent="0" algn="r">
              <a:buNone/>
            </a:pPr>
            <a:r>
              <a:rPr lang="en-US" sz="1000" dirty="0">
                <a:solidFill>
                  <a:srgbClr val="3B4450"/>
                </a:solidFill>
                <a:latin typeface="Consolas" pitchFamily="34" charset="0"/>
                <a:ea typeface="Consolas" pitchFamily="34" charset="-122"/>
                <a:cs typeface="Consolas" pitchFamily="34" charset="-120"/>
              </a:rPr>
              <a:t>80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13883</Words>
  <Application>Microsoft Macintosh PowerPoint</Application>
  <PresentationFormat>Widescreen</PresentationFormat>
  <Paragraphs>1818</Paragraphs>
  <Slides>80</Slides>
  <Notes>80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80</vt:i4>
      </vt:variant>
    </vt:vector>
  </HeadingPairs>
  <TitlesOfParts>
    <vt:vector size="85"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1</cp:revision>
  <dcterms:created xsi:type="dcterms:W3CDTF">2026-08-04T11:04:35Z</dcterms:created>
  <dcterms:modified xsi:type="dcterms:W3CDTF">2026-08-04T11:59:43Z</dcterms:modified>
</cp:coreProperties>
</file>