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49"/>
    <p:restoredTop sz="94650"/>
  </p:normalViewPr>
  <p:slideViewPr>
    <p:cSldViewPr snapToGrid="0">
      <p:cViewPr>
        <p:scale>
          <a:sx n="145" d="100"/>
          <a:sy n="145" d="100"/>
        </p:scale>
        <p:origin x="656" y="1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RO">
    <p:bg>
      <p:bgPr>
        <a:solidFill>
          <a:srgbClr val="1216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874520"/>
            <a:ext cx="5669280" cy="12344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D11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2148840"/>
            <a:ext cx="60350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1216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75488"/>
            <a:ext cx="813816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7025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bstract artwork of data streams flowing from an engine core through a gateway into three channels"/>
          <p:cNvPicPr>
            <a:picLocks noChangeAspect="1"/>
          </p:cNvPicPr>
          <p:nvPr/>
        </p:nvPicPr>
        <p:blipFill>
          <a:blip r:embed="rId3"/>
          <a:srcRect t="7813" b="781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Hero scri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D10">
              <a:alpha val="70000"/>
            </a:srgbClr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" name="Hero left scri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852160" cy="5143500"/>
          </a:xfrm>
          <a:prstGeom prst="rect">
            <a:avLst/>
          </a:prstGeom>
          <a:solidFill>
            <a:srgbClr val="0A0D10">
              <a:alpha val="82000"/>
            </a:srgbClr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5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68580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6" name="Pill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960120"/>
            <a:ext cx="2148840" cy="292608"/>
          </a:xfrm>
          <a:prstGeom prst="roundRect">
            <a:avLst>
              <a:gd name="adj" fmla="val 50000"/>
            </a:avLst>
          </a:prstGeom>
          <a:solidFill>
            <a:srgbClr val="1F8A5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7" name="Text 4"/>
          <p:cNvSpPr/>
          <p:nvPr/>
        </p:nvSpPr>
        <p:spPr>
          <a:xfrm>
            <a:off x="548640" y="96012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EF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EDUMATCHER  ·  RALF1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48640" y="1298448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kern="0" spc="20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RALF</a:t>
            </a:r>
            <a:endParaRPr lang="en-US" sz="5000" dirty="0"/>
          </a:p>
        </p:txBody>
      </p:sp>
      <p:sp>
        <p:nvSpPr>
          <p:cNvPr id="9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874520"/>
            <a:ext cx="5669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EEF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post-trade protocol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548640" y="2907792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Reconciliation ALF — how clearing, risk and audit systems get the trade data they need, in plain text over TCP.</a:t>
            </a:r>
            <a:endParaRPr lang="en-US" sz="1300" dirty="0"/>
          </a:p>
        </p:txBody>
      </p:sp>
      <p:sp>
        <p:nvSpPr>
          <p:cNvPr id="11" name="Divid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794760"/>
            <a:ext cx="1005840" cy="27432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2" name="Text 9"/>
          <p:cNvSpPr/>
          <p:nvPr/>
        </p:nvSpPr>
        <p:spPr>
          <a:xfrm>
            <a:off x="548640" y="39502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beginner's guide  ·  pm-ralf-gwy  ·  TCP 5580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502920" y="17373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4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ROADMAP</a:t>
            </a:r>
            <a:endParaRPr lang="en-US" sz="95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EEF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Eight questions this deck answers</a:t>
            </a:r>
            <a:endParaRPr lang="en-US" sz="2500" dirty="0"/>
          </a:p>
        </p:txBody>
      </p:sp>
      <p:sp>
        <p:nvSpPr>
          <p:cNvPr id="5" name="Title under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88136"/>
            <a:ext cx="566928" cy="32004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6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791456"/>
            <a:ext cx="8138160" cy="18288"/>
          </a:xfrm>
          <a:prstGeom prst="rect">
            <a:avLst/>
          </a:prstGeom>
          <a:solidFill>
            <a:srgbClr val="36424B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7" name="Text 5"/>
          <p:cNvSpPr/>
          <p:nvPr/>
        </p:nvSpPr>
        <p:spPr>
          <a:xfrm>
            <a:off x="502920" y="48280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575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EduMatcher  ·  RALF post-trade protocol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543800" y="48280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575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850" dirty="0"/>
          </a:p>
        </p:txBody>
      </p:sp>
      <p:sp>
        <p:nvSpPr>
          <p:cNvPr id="9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371600"/>
            <a:ext cx="3959352" cy="749808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0" name="Card accent 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371600"/>
            <a:ext cx="50292" cy="749808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1" name="Text 9"/>
          <p:cNvSpPr/>
          <p:nvPr/>
        </p:nvSpPr>
        <p:spPr>
          <a:xfrm>
            <a:off x="667512" y="14538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69848" y="1453896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EF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a gateway?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69848" y="1746504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an exchange never lets you talk to the engine directly</a:t>
            </a:r>
            <a:endParaRPr lang="en-US" sz="950" dirty="0"/>
          </a:p>
        </p:txBody>
      </p:sp>
      <p:sp>
        <p:nvSpPr>
          <p:cNvPr id="14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81728" y="1371600"/>
            <a:ext cx="3959352" cy="749808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5" name="Card accent 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81728" y="1371600"/>
            <a:ext cx="50292" cy="749808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6" name="Text 14"/>
          <p:cNvSpPr/>
          <p:nvPr/>
        </p:nvSpPr>
        <p:spPr>
          <a:xfrm>
            <a:off x="4846320" y="14538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48656" y="1453896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EF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RALF for?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248656" y="1746504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job the protocol exists to do</a:t>
            </a:r>
            <a:endParaRPr lang="en-US" sz="950" dirty="0"/>
          </a:p>
        </p:txBody>
      </p:sp>
      <p:sp>
        <p:nvSpPr>
          <p:cNvPr id="19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231136"/>
            <a:ext cx="3959352" cy="749808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0" name="Card accent 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231136"/>
            <a:ext cx="50292" cy="749808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1" name="Text 19"/>
          <p:cNvSpPr/>
          <p:nvPr/>
        </p:nvSpPr>
        <p:spPr>
          <a:xfrm>
            <a:off x="667512" y="23134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69848" y="2313432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EF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is it used?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069848" y="2606040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session, from connect to disconnect</a:t>
            </a:r>
            <a:endParaRPr lang="en-US" sz="950" dirty="0"/>
          </a:p>
        </p:txBody>
      </p:sp>
      <p:sp>
        <p:nvSpPr>
          <p:cNvPr id="24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81728" y="2231136"/>
            <a:ext cx="3959352" cy="749808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5" name="Card accent 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81728" y="2231136"/>
            <a:ext cx="50292" cy="749808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6" name="Text 24"/>
          <p:cNvSpPr/>
          <p:nvPr/>
        </p:nvSpPr>
        <p:spPr>
          <a:xfrm>
            <a:off x="4846320" y="23134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48656" y="2313432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EF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can be sent?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248656" y="2606040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channels, two event families</a:t>
            </a:r>
            <a:endParaRPr lang="en-US" sz="950" dirty="0"/>
          </a:p>
        </p:txBody>
      </p:sp>
      <p:sp>
        <p:nvSpPr>
          <p:cNvPr id="29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090672"/>
            <a:ext cx="3959352" cy="749808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0" name="Card accent 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090672"/>
            <a:ext cx="50292" cy="749808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1" name="Text 29"/>
          <p:cNvSpPr/>
          <p:nvPr/>
        </p:nvSpPr>
        <p:spPr>
          <a:xfrm>
            <a:off x="667512" y="31729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69848" y="3172968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EF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is data shaped?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069848" y="3465576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line format and its fields</a:t>
            </a:r>
            <a:endParaRPr lang="en-US" sz="950" dirty="0"/>
          </a:p>
        </p:txBody>
      </p:sp>
      <p:sp>
        <p:nvSpPr>
          <p:cNvPr id="34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81728" y="3090672"/>
            <a:ext cx="3959352" cy="749808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5" name="Card accent 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81728" y="3090672"/>
            <a:ext cx="50292" cy="749808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6" name="Text 34"/>
          <p:cNvSpPr/>
          <p:nvPr/>
        </p:nvSpPr>
        <p:spPr>
          <a:xfrm>
            <a:off x="4846320" y="31729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248656" y="3172968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EF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do errors work?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5248656" y="3465576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Sequence gaps, replay and error codes</a:t>
            </a:r>
            <a:endParaRPr lang="en-US" sz="950" dirty="0"/>
          </a:p>
        </p:txBody>
      </p:sp>
      <p:sp>
        <p:nvSpPr>
          <p:cNvPr id="39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950208"/>
            <a:ext cx="3959352" cy="749808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0" name="Card accent 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950208"/>
            <a:ext cx="50292" cy="749808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1" name="Text 39"/>
          <p:cNvSpPr/>
          <p:nvPr/>
        </p:nvSpPr>
        <p:spPr>
          <a:xfrm>
            <a:off x="667512" y="40325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069848" y="4032504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EF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do I build a client?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1069848" y="4325112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checklist and working code</a:t>
            </a:r>
            <a:endParaRPr lang="en-US" sz="950" dirty="0"/>
          </a:p>
        </p:txBody>
      </p:sp>
      <p:sp>
        <p:nvSpPr>
          <p:cNvPr id="44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81728" y="3950208"/>
            <a:ext cx="3959352" cy="749808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5" name="Card accent 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81728" y="3950208"/>
            <a:ext cx="50292" cy="749808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6" name="Text 44"/>
          <p:cNvSpPr/>
          <p:nvPr/>
        </p:nvSpPr>
        <p:spPr>
          <a:xfrm>
            <a:off x="4846320" y="40325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248656" y="4032504"/>
            <a:ext cx="3227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EF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do I read more?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5248656" y="4325112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reference map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502920" y="17373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4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BIG PICTURE</a:t>
            </a:r>
            <a:endParaRPr lang="en-US" sz="95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EEF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RALF in one picture</a:t>
            </a:r>
            <a:endParaRPr lang="en-US" sz="2500" dirty="0"/>
          </a:p>
        </p:txBody>
      </p:sp>
      <p:sp>
        <p:nvSpPr>
          <p:cNvPr id="5" name="Title under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88136"/>
            <a:ext cx="566928" cy="32004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6" name="Text 4"/>
          <p:cNvSpPr/>
          <p:nvPr/>
        </p:nvSpPr>
        <p:spPr>
          <a:xfrm>
            <a:off x="502920" y="113385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Trades happen inside the engine. RALF is how they leave the building.</a:t>
            </a:r>
            <a:endParaRPr lang="en-US" sz="1200" dirty="0"/>
          </a:p>
        </p:txBody>
      </p:sp>
      <p:sp>
        <p:nvSpPr>
          <p:cNvPr id="7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791456"/>
            <a:ext cx="8138160" cy="18288"/>
          </a:xfrm>
          <a:prstGeom prst="rect">
            <a:avLst/>
          </a:prstGeom>
          <a:solidFill>
            <a:srgbClr val="36424B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8" name="Text 6"/>
          <p:cNvSpPr/>
          <p:nvPr/>
        </p:nvSpPr>
        <p:spPr>
          <a:xfrm>
            <a:off x="502920" y="48280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575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EduMatcher  ·  RALF post-trade protocol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43800" y="48280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575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850" dirty="0"/>
          </a:p>
        </p:txBody>
      </p:sp>
      <p:sp>
        <p:nvSpPr>
          <p:cNvPr id="10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874520"/>
            <a:ext cx="1828800" cy="1371600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1" name="Card 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874520"/>
            <a:ext cx="1828800" cy="50292"/>
          </a:xfrm>
          <a:prstGeom prst="rect">
            <a:avLst/>
          </a:prstGeom>
          <a:solidFill>
            <a:srgbClr val="6FA8D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2" name="Text 10"/>
          <p:cNvSpPr/>
          <p:nvPr/>
        </p:nvSpPr>
        <p:spPr>
          <a:xfrm>
            <a:off x="502920" y="20756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FA8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MATCHING ENGINE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2648" y="2404872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Orders meet.</a:t>
            </a:r>
            <a:endParaRPr lang="en-US" sz="10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Trades are made.</a:t>
            </a:r>
            <a:endParaRPr lang="en-US" sz="1000" dirty="0"/>
          </a:p>
        </p:txBody>
      </p:sp>
      <p:sp>
        <p:nvSpPr>
          <p:cNvPr id="14" name="Flow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441448" y="2500884"/>
            <a:ext cx="658368" cy="118872"/>
          </a:xfrm>
          <a:prstGeom prst="rightArrow">
            <a:avLst/>
          </a:prstGeom>
          <a:solidFill>
            <a:srgbClr val="6FA8D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5" name="Text 13"/>
          <p:cNvSpPr/>
          <p:nvPr/>
        </p:nvSpPr>
        <p:spPr>
          <a:xfrm>
            <a:off x="2212848" y="2139696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internal events</a:t>
            </a:r>
            <a:endParaRPr lang="en-US" sz="850" dirty="0"/>
          </a:p>
        </p:txBody>
      </p:sp>
      <p:sp>
        <p:nvSpPr>
          <p:cNvPr id="16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09544" y="1673352"/>
            <a:ext cx="2103120" cy="1773936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7" name="Card 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09544" y="1673352"/>
            <a:ext cx="2103120" cy="50292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8" name="Text 16"/>
          <p:cNvSpPr/>
          <p:nvPr/>
        </p:nvSpPr>
        <p:spPr>
          <a:xfrm>
            <a:off x="3209544" y="18928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pm-ralf-gwy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09544" y="214884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6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GATEWAY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319272" y="2441448"/>
            <a:ext cx="1883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Translates · sequences</a:t>
            </a:r>
            <a:endParaRPr lang="en-US" sz="10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authenticates · replays</a:t>
            </a:r>
            <a:endParaRPr lang="en-US" sz="1000" dirty="0"/>
          </a:p>
        </p:txBody>
      </p:sp>
      <p:sp>
        <p:nvSpPr>
          <p:cNvPr id="21" name="Pill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49040" y="3008376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0D1114"/>
          </a:solidFill>
          <a:ln w="9525">
            <a:solidFill>
              <a:srgbClr val="3DD68C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2" name="Text 20"/>
          <p:cNvSpPr/>
          <p:nvPr/>
        </p:nvSpPr>
        <p:spPr>
          <a:xfrm>
            <a:off x="3749040" y="3008376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 5580</a:t>
            </a:r>
            <a:endParaRPr lang="en-US" sz="900" dirty="0"/>
          </a:p>
        </p:txBody>
      </p:sp>
      <p:sp>
        <p:nvSpPr>
          <p:cNvPr id="23" name="Flow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22392" y="2500884"/>
            <a:ext cx="658368" cy="118872"/>
          </a:xfrm>
          <a:prstGeom prst="rightArrow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4" name="Text 22"/>
          <p:cNvSpPr/>
          <p:nvPr/>
        </p:nvSpPr>
        <p:spPr>
          <a:xfrm>
            <a:off x="5193792" y="2139696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RALF1 text lines</a:t>
            </a:r>
            <a:endParaRPr lang="en-US" sz="850" dirty="0"/>
          </a:p>
        </p:txBody>
      </p:sp>
      <p:sp>
        <p:nvSpPr>
          <p:cNvPr id="25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90488" y="1618488"/>
            <a:ext cx="1947672" cy="548640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6" name="Card accent 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90488" y="1618488"/>
            <a:ext cx="50292" cy="548640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7" name="Text 25"/>
          <p:cNvSpPr/>
          <p:nvPr/>
        </p:nvSpPr>
        <p:spPr>
          <a:xfrm>
            <a:off x="6355080" y="161848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CLEARING</a:t>
            </a:r>
            <a:endParaRPr lang="en-US" sz="1050" dirty="0"/>
          </a:p>
        </p:txBody>
      </p:sp>
      <p:sp>
        <p:nvSpPr>
          <p:cNvPr id="28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90488" y="2276856"/>
            <a:ext cx="1947672" cy="548640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9" name="Card accent 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90488" y="2276856"/>
            <a:ext cx="50292" cy="548640"/>
          </a:xfrm>
          <a:prstGeom prst="rect">
            <a:avLst/>
          </a:prstGeom>
          <a:solidFill>
            <a:srgbClr val="A98BE0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0" name="Text 28"/>
          <p:cNvSpPr/>
          <p:nvPr/>
        </p:nvSpPr>
        <p:spPr>
          <a:xfrm>
            <a:off x="6355080" y="227685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98B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DROP_COPY</a:t>
            </a:r>
            <a:endParaRPr lang="en-US" sz="1050" dirty="0"/>
          </a:p>
        </p:txBody>
      </p:sp>
      <p:sp>
        <p:nvSpPr>
          <p:cNvPr id="31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90488" y="2935224"/>
            <a:ext cx="1947672" cy="548640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2" name="Card accent 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90488" y="2935224"/>
            <a:ext cx="50292" cy="548640"/>
          </a:xfrm>
          <a:prstGeom prst="rect">
            <a:avLst/>
          </a:prstGeom>
          <a:solidFill>
            <a:srgbClr val="E8B44A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3" name="Text 31"/>
          <p:cNvSpPr/>
          <p:nvPr/>
        </p:nvSpPr>
        <p:spPr>
          <a:xfrm>
            <a:off x="6355080" y="293522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B4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190488" y="3602736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external audiences, one feed</a:t>
            </a:r>
            <a:endParaRPr lang="en-US" sz="850" dirty="0"/>
          </a:p>
        </p:txBody>
      </p:sp>
      <p:sp>
        <p:nvSpPr>
          <p:cNvPr id="35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968496"/>
            <a:ext cx="8138160" cy="548640"/>
          </a:xfrm>
          <a:prstGeom prst="rect">
            <a:avLst/>
          </a:prstGeom>
          <a:solidFill>
            <a:srgbClr val="232C33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6" name="Card accent 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968496"/>
            <a:ext cx="50292" cy="548640"/>
          </a:xfrm>
          <a:prstGeom prst="rect">
            <a:avLst/>
          </a:prstGeom>
          <a:solidFill>
            <a:srgbClr val="7BE8B8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7" name="Text 35"/>
          <p:cNvSpPr/>
          <p:nvPr/>
        </p:nvSpPr>
        <p:spPr>
          <a:xfrm>
            <a:off x="502920" y="3968496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BE8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Read-only: clients subscribe and receive. Nobody sends an order over RALF.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bstract conceptual artwork introducing the section"/>
          <p:cNvPicPr>
            <a:picLocks noChangeAspect="1"/>
          </p:cNvPicPr>
          <p:nvPr/>
        </p:nvPicPr>
        <p:blipFill>
          <a:blip r:embed="rId3"/>
          <a:srcRect t="7813" b="781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Image scri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E11">
              <a:alpha val="66000"/>
            </a:srgbClr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" name="Left scri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669280" cy="5143500"/>
          </a:xfrm>
          <a:prstGeom prst="rect">
            <a:avLst/>
          </a:prstGeom>
          <a:solidFill>
            <a:srgbClr val="0B0E11">
              <a:alpha val="76000"/>
            </a:srgbClr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5" name="Left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8580" cy="5143500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6" name="Text 3"/>
          <p:cNvSpPr/>
          <p:nvPr/>
        </p:nvSpPr>
        <p:spPr>
          <a:xfrm>
            <a:off x="640080" y="15727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01</a:t>
            </a:r>
            <a:endParaRPr lang="en-US" sz="1250" dirty="0"/>
          </a:p>
        </p:txBody>
      </p:sp>
      <p:sp>
        <p:nvSpPr>
          <p:cNvPr id="7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2148840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EF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a gateway?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640080" y="306324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exchange has a hard border. A gateway is the controlled doorway through it — and the reason external systems can be trusted with internal data.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502920" y="17373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4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95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EEF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engine is not something you plug into</a:t>
            </a:r>
            <a:endParaRPr lang="en-US" sz="2500" dirty="0"/>
          </a:p>
        </p:txBody>
      </p:sp>
      <p:sp>
        <p:nvSpPr>
          <p:cNvPr id="5" name="Title under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88136"/>
            <a:ext cx="566928" cy="32004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6" name="Text 4"/>
          <p:cNvSpPr/>
          <p:nvPr/>
        </p:nvSpPr>
        <p:spPr>
          <a:xfrm>
            <a:off x="502920" y="113385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Internal event buses are fast, fragile and unauthenticated. They are not built for outsiders.</a:t>
            </a:r>
            <a:endParaRPr lang="en-US" sz="1200" dirty="0"/>
          </a:p>
        </p:txBody>
      </p:sp>
      <p:sp>
        <p:nvSpPr>
          <p:cNvPr id="7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791456"/>
            <a:ext cx="8138160" cy="18288"/>
          </a:xfrm>
          <a:prstGeom prst="rect">
            <a:avLst/>
          </a:prstGeom>
          <a:solidFill>
            <a:srgbClr val="36424B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8" name="Text 6"/>
          <p:cNvSpPr/>
          <p:nvPr/>
        </p:nvSpPr>
        <p:spPr>
          <a:xfrm>
            <a:off x="502920" y="48280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575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EduMatcher  ·  RALF post-trade protocol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43800" y="48280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575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850" dirty="0"/>
          </a:p>
        </p:txBody>
      </p:sp>
      <p:sp>
        <p:nvSpPr>
          <p:cNvPr id="10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72768"/>
            <a:ext cx="1897380" cy="2194560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1" name="Card 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72768"/>
            <a:ext cx="1897380" cy="50292"/>
          </a:xfrm>
          <a:prstGeom prst="rect">
            <a:avLst/>
          </a:prstGeom>
          <a:solidFill>
            <a:srgbClr val="E8695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2" name="Glyph ti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32154" y="184708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32C33"/>
          </a:solidFill>
          <a:ln w="13970">
            <a:solidFill>
              <a:srgbClr val="E8695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Text 11"/>
          <p:cNvSpPr/>
          <p:nvPr/>
        </p:nvSpPr>
        <p:spPr>
          <a:xfrm>
            <a:off x="1232154" y="18470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48" b="1" dirty="0">
                <a:solidFill>
                  <a:srgbClr val="E86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1248" dirty="0"/>
          </a:p>
        </p:txBody>
      </p:sp>
      <p:sp>
        <p:nvSpPr>
          <p:cNvPr id="14" name="Text 12"/>
          <p:cNvSpPr/>
          <p:nvPr/>
        </p:nvSpPr>
        <p:spPr>
          <a:xfrm>
            <a:off x="612648" y="2414016"/>
            <a:ext cx="16779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EF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Wrong transport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9224" y="2743200"/>
            <a:ext cx="16047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engine publishes on an internal ZeroMQ socket. Outside networks cannot and should not reach it.</a:t>
            </a:r>
            <a:endParaRPr lang="en-US" sz="950" dirty="0"/>
          </a:p>
        </p:txBody>
      </p:sp>
      <p:sp>
        <p:nvSpPr>
          <p:cNvPr id="16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83180" y="1572768"/>
            <a:ext cx="1897380" cy="2194560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7" name="Card 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83180" y="1572768"/>
            <a:ext cx="1897380" cy="50292"/>
          </a:xfrm>
          <a:prstGeom prst="rect">
            <a:avLst/>
          </a:prstGeom>
          <a:solidFill>
            <a:srgbClr val="E8695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8" name="Glyph ti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12414" y="184708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32C33"/>
          </a:solidFill>
          <a:ln w="13970">
            <a:solidFill>
              <a:srgbClr val="E8695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9" name="Text 17"/>
          <p:cNvSpPr/>
          <p:nvPr/>
        </p:nvSpPr>
        <p:spPr>
          <a:xfrm>
            <a:off x="3312414" y="18470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48" b="1" dirty="0">
                <a:solidFill>
                  <a:srgbClr val="E86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1248" dirty="0"/>
          </a:p>
        </p:txBody>
      </p:sp>
      <p:sp>
        <p:nvSpPr>
          <p:cNvPr id="20" name="Text 18"/>
          <p:cNvSpPr/>
          <p:nvPr/>
        </p:nvSpPr>
        <p:spPr>
          <a:xfrm>
            <a:off x="2692908" y="2414016"/>
            <a:ext cx="16779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EF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Wrong format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29484" y="2743200"/>
            <a:ext cx="16047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Internal events are raw engine objects — they change whenever the engine changes.</a:t>
            </a:r>
            <a:endParaRPr lang="en-US" sz="950" dirty="0"/>
          </a:p>
        </p:txBody>
      </p:sp>
      <p:sp>
        <p:nvSpPr>
          <p:cNvPr id="22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572768"/>
            <a:ext cx="1897380" cy="2194560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3" name="Card 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572768"/>
            <a:ext cx="1897380" cy="50292"/>
          </a:xfrm>
          <a:prstGeom prst="rect">
            <a:avLst/>
          </a:prstGeom>
          <a:solidFill>
            <a:srgbClr val="E8695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4" name="Glyph ti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92674" y="184708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32C33"/>
          </a:solidFill>
          <a:ln w="13970">
            <a:solidFill>
              <a:srgbClr val="E8695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5" name="Text 23"/>
          <p:cNvSpPr/>
          <p:nvPr/>
        </p:nvSpPr>
        <p:spPr>
          <a:xfrm>
            <a:off x="5392674" y="18470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48" b="1" dirty="0">
                <a:solidFill>
                  <a:srgbClr val="E86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1248" dirty="0"/>
          </a:p>
        </p:txBody>
      </p:sp>
      <p:sp>
        <p:nvSpPr>
          <p:cNvPr id="26" name="Text 24"/>
          <p:cNvSpPr/>
          <p:nvPr/>
        </p:nvSpPr>
        <p:spPr>
          <a:xfrm>
            <a:off x="4773168" y="2414016"/>
            <a:ext cx="16779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EF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identity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09744" y="2743200"/>
            <a:ext cx="16047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bus has no idea who you are, and no way to limit what you see.</a:t>
            </a:r>
            <a:endParaRPr lang="en-US" sz="950" dirty="0"/>
          </a:p>
        </p:txBody>
      </p:sp>
      <p:sp>
        <p:nvSpPr>
          <p:cNvPr id="28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43700" y="1572768"/>
            <a:ext cx="1897380" cy="2194560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9" name="Card 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43700" y="1572768"/>
            <a:ext cx="1897380" cy="50292"/>
          </a:xfrm>
          <a:prstGeom prst="rect">
            <a:avLst/>
          </a:prstGeom>
          <a:solidFill>
            <a:srgbClr val="E8695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0" name="Glyph ti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72934" y="184708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32C33"/>
          </a:solidFill>
          <a:ln w="13970">
            <a:solidFill>
              <a:srgbClr val="E8695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1" name="Text 29"/>
          <p:cNvSpPr/>
          <p:nvPr/>
        </p:nvSpPr>
        <p:spPr>
          <a:xfrm>
            <a:off x="7472934" y="18470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48" b="1" dirty="0">
                <a:solidFill>
                  <a:srgbClr val="E86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1248" dirty="0"/>
          </a:p>
        </p:txBody>
      </p:sp>
      <p:sp>
        <p:nvSpPr>
          <p:cNvPr id="32" name="Text 30"/>
          <p:cNvSpPr/>
          <p:nvPr/>
        </p:nvSpPr>
        <p:spPr>
          <a:xfrm>
            <a:off x="6853428" y="2414016"/>
            <a:ext cx="16779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EF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recovery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90004" y="2743200"/>
            <a:ext cx="16047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Miss a message and it is simply gone. There is no journal to ask again.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02920" y="404164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gateway solves all four at once — and that is the whole idea.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502920" y="17373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4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CONCEPT</a:t>
            </a:r>
            <a:endParaRPr lang="en-US" sz="95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EEF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a gateway actually does</a:t>
            </a:r>
            <a:endParaRPr lang="en-US" sz="2500" dirty="0"/>
          </a:p>
        </p:txBody>
      </p:sp>
      <p:sp>
        <p:nvSpPr>
          <p:cNvPr id="5" name="Title under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88136"/>
            <a:ext cx="566928" cy="32004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6" name="Text 4"/>
          <p:cNvSpPr/>
          <p:nvPr/>
        </p:nvSpPr>
        <p:spPr>
          <a:xfrm>
            <a:off x="502920" y="113385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jobs, performed on every message, for every client.</a:t>
            </a:r>
            <a:endParaRPr lang="en-US" sz="1200" dirty="0"/>
          </a:p>
        </p:txBody>
      </p:sp>
      <p:sp>
        <p:nvSpPr>
          <p:cNvPr id="7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791456"/>
            <a:ext cx="8138160" cy="18288"/>
          </a:xfrm>
          <a:prstGeom prst="rect">
            <a:avLst/>
          </a:prstGeom>
          <a:solidFill>
            <a:srgbClr val="36424B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8" name="Text 6"/>
          <p:cNvSpPr/>
          <p:nvPr/>
        </p:nvSpPr>
        <p:spPr>
          <a:xfrm>
            <a:off x="502920" y="48280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575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EduMatcher  ·  RALF post-trade protocol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43800" y="48280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575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850" dirty="0"/>
          </a:p>
        </p:txBody>
      </p:sp>
      <p:sp>
        <p:nvSpPr>
          <p:cNvPr id="10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81328"/>
            <a:ext cx="8138160" cy="676656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Card accent 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81328"/>
            <a:ext cx="50292" cy="676656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2" name="Badge dis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4088" y="1655064"/>
            <a:ext cx="329184" cy="329184"/>
          </a:xfrm>
          <a:prstGeom prst="ellipse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3" name="Text 11"/>
          <p:cNvSpPr/>
          <p:nvPr/>
        </p:nvSpPr>
        <p:spPr>
          <a:xfrm>
            <a:off x="704088" y="16550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61288" y="1481328"/>
            <a:ext cx="1600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88920" y="1481328"/>
            <a:ext cx="5623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Turns internal engine events into a stable, documented wire format that will not break when the engine changes.</a:t>
            </a:r>
            <a:endParaRPr lang="en-US" sz="1050" dirty="0"/>
          </a:p>
        </p:txBody>
      </p:sp>
      <p:sp>
        <p:nvSpPr>
          <p:cNvPr id="16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258568"/>
            <a:ext cx="8138160" cy="676656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" name="Card accent 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258568"/>
            <a:ext cx="50292" cy="676656"/>
          </a:xfrm>
          <a:prstGeom prst="rect">
            <a:avLst/>
          </a:prstGeom>
          <a:solidFill>
            <a:srgbClr val="6FA8D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8" name="Badge dis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4088" y="2432304"/>
            <a:ext cx="329184" cy="329184"/>
          </a:xfrm>
          <a:prstGeom prst="ellipse">
            <a:avLst/>
          </a:prstGeom>
          <a:solidFill>
            <a:srgbClr val="6FA8D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9" name="Text 17"/>
          <p:cNvSpPr/>
          <p:nvPr/>
        </p:nvSpPr>
        <p:spPr>
          <a:xfrm>
            <a:off x="704088" y="24323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61288" y="2258568"/>
            <a:ext cx="1600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6FA8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AUTHENTICATE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88920" y="2258568"/>
            <a:ext cx="5623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Identifies the client, checks its declared role, and limits it to the data that role is entitled to see.</a:t>
            </a:r>
            <a:endParaRPr lang="en-US" sz="1050" dirty="0"/>
          </a:p>
        </p:txBody>
      </p:sp>
      <p:sp>
        <p:nvSpPr>
          <p:cNvPr id="22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035808"/>
            <a:ext cx="8138160" cy="676656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3" name="Card accent 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035808"/>
            <a:ext cx="50292" cy="676656"/>
          </a:xfrm>
          <a:prstGeom prst="rect">
            <a:avLst/>
          </a:prstGeom>
          <a:solidFill>
            <a:srgbClr val="A98BE0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4" name="Badge dis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4088" y="3209544"/>
            <a:ext cx="329184" cy="329184"/>
          </a:xfrm>
          <a:prstGeom prst="ellipse">
            <a:avLst/>
          </a:prstGeom>
          <a:solidFill>
            <a:srgbClr val="A98BE0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5" name="Text 23"/>
          <p:cNvSpPr/>
          <p:nvPr/>
        </p:nvSpPr>
        <p:spPr>
          <a:xfrm>
            <a:off x="704088" y="3209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61288" y="3035808"/>
            <a:ext cx="1600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A98B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SEQUENCE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788920" y="3035808"/>
            <a:ext cx="5623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Numbers every message so a client can prove nothing was lost, and keeps a journal so gaps can be refilled.</a:t>
            </a:r>
            <a:endParaRPr lang="en-US" sz="1050" dirty="0"/>
          </a:p>
        </p:txBody>
      </p:sp>
      <p:sp>
        <p:nvSpPr>
          <p:cNvPr id="28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813048"/>
            <a:ext cx="8138160" cy="676656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9" name="Card accent 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813048"/>
            <a:ext cx="50292" cy="676656"/>
          </a:xfrm>
          <a:prstGeom prst="rect">
            <a:avLst/>
          </a:prstGeom>
          <a:solidFill>
            <a:srgbClr val="E8B44A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0" name="Badge dis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4088" y="3986784"/>
            <a:ext cx="329184" cy="329184"/>
          </a:xfrm>
          <a:prstGeom prst="ellipse">
            <a:avLst/>
          </a:prstGeom>
          <a:solidFill>
            <a:srgbClr val="E8B44A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1" name="Text 29"/>
          <p:cNvSpPr/>
          <p:nvPr/>
        </p:nvSpPr>
        <p:spPr>
          <a:xfrm>
            <a:off x="704088" y="3986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161288" y="3813048"/>
            <a:ext cx="1600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B4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PROTECT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788920" y="3813048"/>
            <a:ext cx="5623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Buffers slow consumers, heartbeats idle links, and disconnects anything that endangers the feed.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02920" y="451713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RALF is the wire format. pm-ralf-gwy is the process that performs all four jobs.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502920" y="17373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4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ORIENTATION</a:t>
            </a:r>
            <a:endParaRPr lang="en-US" sz="95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EEF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EduMatcher has four external protocols</a:t>
            </a:r>
            <a:endParaRPr lang="en-US" sz="2500" dirty="0"/>
          </a:p>
        </p:txBody>
      </p:sp>
      <p:sp>
        <p:nvSpPr>
          <p:cNvPr id="5" name="Title under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88136"/>
            <a:ext cx="566928" cy="32004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6" name="Text 4"/>
          <p:cNvSpPr/>
          <p:nvPr/>
        </p:nvSpPr>
        <p:spPr>
          <a:xfrm>
            <a:off x="502920" y="113385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They are siblings — same naming family, very different jobs.</a:t>
            </a:r>
            <a:endParaRPr lang="en-US" sz="1200" dirty="0"/>
          </a:p>
        </p:txBody>
      </p:sp>
      <p:sp>
        <p:nvSpPr>
          <p:cNvPr id="7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791456"/>
            <a:ext cx="8138160" cy="18288"/>
          </a:xfrm>
          <a:prstGeom prst="rect">
            <a:avLst/>
          </a:prstGeom>
          <a:solidFill>
            <a:srgbClr val="36424B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8" name="Text 6"/>
          <p:cNvSpPr/>
          <p:nvPr/>
        </p:nvSpPr>
        <p:spPr>
          <a:xfrm>
            <a:off x="502920" y="48280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575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EduMatcher  ·  RALF post-trade protocol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43800" y="48280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575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850" dirty="0"/>
          </a:p>
        </p:txBody>
      </p:sp>
      <p:sp>
        <p:nvSpPr>
          <p:cNvPr id="10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17904"/>
            <a:ext cx="1924812" cy="2331720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1" name="Card 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17904"/>
            <a:ext cx="1924812" cy="50292"/>
          </a:xfrm>
          <a:prstGeom prst="rect">
            <a:avLst/>
          </a:prstGeom>
          <a:solidFill>
            <a:srgbClr val="36424B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2" name="Text 10"/>
          <p:cNvSpPr/>
          <p:nvPr/>
        </p:nvSpPr>
        <p:spPr>
          <a:xfrm>
            <a:off x="502920" y="1691640"/>
            <a:ext cx="19248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EEF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ALF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502920" y="2084832"/>
            <a:ext cx="19248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575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Almost FIX</a:t>
            </a:r>
            <a:endParaRPr lang="en-US" sz="900" dirty="0"/>
          </a:p>
        </p:txBody>
      </p:sp>
      <p:sp>
        <p:nvSpPr>
          <p:cNvPr id="14" name="Connector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72718" y="2395728"/>
            <a:ext cx="585216" cy="18288"/>
          </a:xfrm>
          <a:prstGeom prst="rect">
            <a:avLst/>
          </a:prstGeom>
          <a:solidFill>
            <a:srgbClr val="36424B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5" name="Text 13"/>
          <p:cNvSpPr/>
          <p:nvPr/>
        </p:nvSpPr>
        <p:spPr>
          <a:xfrm>
            <a:off x="630936" y="2514600"/>
            <a:ext cx="16687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Human-readable order entry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94360" y="3182112"/>
            <a:ext cx="17419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657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pm-alf-console</a:t>
            </a:r>
            <a:endParaRPr lang="en-US" sz="85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657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pm-alf-gwy</a:t>
            </a:r>
            <a:endParaRPr lang="en-US" sz="850" dirty="0"/>
          </a:p>
        </p:txBody>
      </p:sp>
      <p:sp>
        <p:nvSpPr>
          <p:cNvPr id="17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55748" y="1517904"/>
            <a:ext cx="1924812" cy="2331720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8" name="Card 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55748" y="1517904"/>
            <a:ext cx="1924812" cy="50292"/>
          </a:xfrm>
          <a:prstGeom prst="rect">
            <a:avLst/>
          </a:prstGeom>
          <a:solidFill>
            <a:srgbClr val="36424B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9" name="Text 17"/>
          <p:cNvSpPr/>
          <p:nvPr/>
        </p:nvSpPr>
        <p:spPr>
          <a:xfrm>
            <a:off x="2555748" y="1691640"/>
            <a:ext cx="19248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EEF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BALF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2555748" y="2084832"/>
            <a:ext cx="19248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575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Binary ALF</a:t>
            </a:r>
            <a:endParaRPr lang="en-US" sz="900" dirty="0"/>
          </a:p>
        </p:txBody>
      </p:sp>
      <p:sp>
        <p:nvSpPr>
          <p:cNvPr id="21" name="Connector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25546" y="2395728"/>
            <a:ext cx="585216" cy="18288"/>
          </a:xfrm>
          <a:prstGeom prst="rect">
            <a:avLst/>
          </a:prstGeom>
          <a:solidFill>
            <a:srgbClr val="36424B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2" name="Text 20"/>
          <p:cNvSpPr/>
          <p:nvPr/>
        </p:nvSpPr>
        <p:spPr>
          <a:xfrm>
            <a:off x="2683764" y="2514600"/>
            <a:ext cx="16687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Low-latency order entry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647188" y="3182112"/>
            <a:ext cx="17419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657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pm-balf-gwy</a:t>
            </a:r>
            <a:endParaRPr lang="en-US" sz="850" dirty="0"/>
          </a:p>
        </p:txBody>
      </p:sp>
      <p:sp>
        <p:nvSpPr>
          <p:cNvPr id="24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08576" y="1517904"/>
            <a:ext cx="1924812" cy="2331720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5" name="Card 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08576" y="1517904"/>
            <a:ext cx="1924812" cy="50292"/>
          </a:xfrm>
          <a:prstGeom prst="rect">
            <a:avLst/>
          </a:prstGeom>
          <a:solidFill>
            <a:srgbClr val="36424B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6" name="Text 24"/>
          <p:cNvSpPr/>
          <p:nvPr/>
        </p:nvSpPr>
        <p:spPr>
          <a:xfrm>
            <a:off x="4608576" y="1691640"/>
            <a:ext cx="19248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EEF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CALF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4608576" y="2084832"/>
            <a:ext cx="19248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575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Channel ALF</a:t>
            </a:r>
            <a:endParaRPr lang="en-US" sz="900" dirty="0"/>
          </a:p>
        </p:txBody>
      </p:sp>
      <p:sp>
        <p:nvSpPr>
          <p:cNvPr id="28" name="Connector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78374" y="2395728"/>
            <a:ext cx="585216" cy="18288"/>
          </a:xfrm>
          <a:prstGeom prst="rect">
            <a:avLst/>
          </a:prstGeom>
          <a:solidFill>
            <a:srgbClr val="36424B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9" name="Text 27"/>
          <p:cNvSpPr/>
          <p:nvPr/>
        </p:nvSpPr>
        <p:spPr>
          <a:xfrm>
            <a:off x="4736592" y="2514600"/>
            <a:ext cx="16687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 data (pre-trade)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700016" y="3182112"/>
            <a:ext cx="17419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657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pm-md-gwy</a:t>
            </a:r>
            <a:endParaRPr lang="en-US" sz="850" dirty="0"/>
          </a:p>
        </p:txBody>
      </p:sp>
      <p:sp>
        <p:nvSpPr>
          <p:cNvPr id="31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61404" y="1517904"/>
            <a:ext cx="1924812" cy="2331720"/>
          </a:xfrm>
          <a:prstGeom prst="rect">
            <a:avLst/>
          </a:prstGeom>
          <a:solidFill>
            <a:srgbClr val="232C33"/>
          </a:solidFill>
          <a:ln w="9525">
            <a:solidFill>
              <a:srgbClr val="3DD68C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32" name="Card 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61404" y="1517904"/>
            <a:ext cx="1924812" cy="50292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3" name="Text 31"/>
          <p:cNvSpPr/>
          <p:nvPr/>
        </p:nvSpPr>
        <p:spPr>
          <a:xfrm>
            <a:off x="6661404" y="1691640"/>
            <a:ext cx="19248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RALF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6661404" y="2084832"/>
            <a:ext cx="19248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575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Reconciliation ALF</a:t>
            </a:r>
            <a:endParaRPr lang="en-US" sz="900" dirty="0"/>
          </a:p>
        </p:txBody>
      </p:sp>
      <p:sp>
        <p:nvSpPr>
          <p:cNvPr id="35" name="Connector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31202" y="2395728"/>
            <a:ext cx="585216" cy="18288"/>
          </a:xfrm>
          <a:prstGeom prst="rect">
            <a:avLst/>
          </a:prstGeom>
          <a:solidFill>
            <a:srgbClr val="36424B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6" name="Text 34"/>
          <p:cNvSpPr/>
          <p:nvPr/>
        </p:nvSpPr>
        <p:spPr>
          <a:xfrm>
            <a:off x="6789420" y="2514600"/>
            <a:ext cx="16687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EEF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Post-trade dissemination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752844" y="3182112"/>
            <a:ext cx="17419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7BE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pm-ralf-gwy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02920" y="4005072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0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They all share one style: uppercase message type, then FIELD=VALUE pairs separated by a pipe. Learn one, and the rest read easily.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502920" y="17373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4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RALF SITS</a:t>
            </a:r>
            <a:endParaRPr lang="en-US" sz="95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EEF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 the trade, and after it</a:t>
            </a:r>
            <a:endParaRPr lang="en-US" sz="2500" dirty="0"/>
          </a:p>
        </p:txBody>
      </p:sp>
      <p:sp>
        <p:nvSpPr>
          <p:cNvPr id="5" name="Title under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88136"/>
            <a:ext cx="566928" cy="32004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6" name="Text 4"/>
          <p:cNvSpPr/>
          <p:nvPr/>
        </p:nvSpPr>
        <p:spPr>
          <a:xfrm>
            <a:off x="502920" y="113385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RALF only speaks about things that have already happened.</a:t>
            </a:r>
            <a:endParaRPr lang="en-US" sz="1200" dirty="0"/>
          </a:p>
        </p:txBody>
      </p:sp>
      <p:sp>
        <p:nvSpPr>
          <p:cNvPr id="7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791456"/>
            <a:ext cx="8138160" cy="18288"/>
          </a:xfrm>
          <a:prstGeom prst="rect">
            <a:avLst/>
          </a:prstGeom>
          <a:solidFill>
            <a:srgbClr val="36424B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8" name="Text 6"/>
          <p:cNvSpPr/>
          <p:nvPr/>
        </p:nvSpPr>
        <p:spPr>
          <a:xfrm>
            <a:off x="502920" y="48280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575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EduMatcher  ·  RALF post-trade protocol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43800" y="48280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575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850" dirty="0"/>
          </a:p>
        </p:txBody>
      </p:sp>
      <p:sp>
        <p:nvSpPr>
          <p:cNvPr id="10" name="Connector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331720"/>
            <a:ext cx="8138160" cy="27432"/>
          </a:xfrm>
          <a:prstGeom prst="rect">
            <a:avLst/>
          </a:prstGeom>
          <a:solidFill>
            <a:srgbClr val="36424B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1" name="Timeline nod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02336" y="2244852"/>
            <a:ext cx="201168" cy="201168"/>
          </a:xfrm>
          <a:prstGeom prst="ellipse">
            <a:avLst/>
          </a:prstGeom>
          <a:solidFill>
            <a:srgbClr val="657580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2" name="Text 10"/>
          <p:cNvSpPr/>
          <p:nvPr/>
        </p:nvSpPr>
        <p:spPr>
          <a:xfrm>
            <a:off x="54864" y="161848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6575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sent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" y="2514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57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ALF / BALF</a:t>
            </a:r>
            <a:endParaRPr lang="en-US" sz="900" dirty="0"/>
          </a:p>
        </p:txBody>
      </p:sp>
      <p:sp>
        <p:nvSpPr>
          <p:cNvPr id="14" name="Timeline nod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396185" y="2244852"/>
            <a:ext cx="201168" cy="201168"/>
          </a:xfrm>
          <a:prstGeom prst="ellipse">
            <a:avLst/>
          </a:prstGeom>
          <a:solidFill>
            <a:srgbClr val="657580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5" name="Text 13"/>
          <p:cNvSpPr/>
          <p:nvPr/>
        </p:nvSpPr>
        <p:spPr>
          <a:xfrm>
            <a:off x="1719529" y="161848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6575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Book updates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719529" y="2514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57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CALF</a:t>
            </a:r>
            <a:endParaRPr lang="en-US" sz="900" dirty="0"/>
          </a:p>
        </p:txBody>
      </p:sp>
      <p:sp>
        <p:nvSpPr>
          <p:cNvPr id="17" name="Timeline nod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90034" y="2244852"/>
            <a:ext cx="201168" cy="201168"/>
          </a:xfrm>
          <a:prstGeom prst="ellipse">
            <a:avLst/>
          </a:prstGeom>
          <a:solidFill>
            <a:srgbClr val="EEF3F5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8" name="Text 16"/>
          <p:cNvSpPr/>
          <p:nvPr/>
        </p:nvSpPr>
        <p:spPr>
          <a:xfrm>
            <a:off x="3713378" y="161848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EEF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TRADE HAPPENS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713378" y="2514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EF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moment</a:t>
            </a:r>
            <a:endParaRPr lang="en-US" sz="900" dirty="0"/>
          </a:p>
        </p:txBody>
      </p:sp>
      <p:sp>
        <p:nvSpPr>
          <p:cNvPr id="20" name="Timeline nod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83884" y="2244852"/>
            <a:ext cx="201168" cy="201168"/>
          </a:xfrm>
          <a:prstGeom prst="ellipse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1" name="Text 19"/>
          <p:cNvSpPr/>
          <p:nvPr/>
        </p:nvSpPr>
        <p:spPr>
          <a:xfrm>
            <a:off x="5707228" y="161848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Trade published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707228" y="2514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RALF</a:t>
            </a:r>
            <a:endParaRPr lang="en-US" sz="900" dirty="0"/>
          </a:p>
        </p:txBody>
      </p:sp>
      <p:sp>
        <p:nvSpPr>
          <p:cNvPr id="23" name="Timeline nod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77733" y="2244852"/>
            <a:ext cx="201168" cy="201168"/>
          </a:xfrm>
          <a:prstGeom prst="ellipse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4" name="Text 22"/>
          <p:cNvSpPr/>
          <p:nvPr/>
        </p:nvSpPr>
        <p:spPr>
          <a:xfrm>
            <a:off x="7534656" y="161848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Cleared &amp; audited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534656" y="2514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RALF</a:t>
            </a:r>
            <a:endParaRPr lang="en-US" sz="900" dirty="0"/>
          </a:p>
        </p:txBody>
      </p:sp>
      <p:sp>
        <p:nvSpPr>
          <p:cNvPr id="26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" y="3127248"/>
            <a:ext cx="4079138" cy="658368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7" name="Text 25"/>
          <p:cNvSpPr/>
          <p:nvPr/>
        </p:nvSpPr>
        <p:spPr>
          <a:xfrm>
            <a:off x="502920" y="3127248"/>
            <a:ext cx="398769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PRE-TRADE   —   intention and quotes</a:t>
            </a:r>
            <a:endParaRPr lang="en-US" sz="1050" dirty="0"/>
          </a:p>
        </p:txBody>
      </p:sp>
      <p:sp>
        <p:nvSpPr>
          <p:cNvPr id="28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00346" y="3127248"/>
            <a:ext cx="4040734" cy="658368"/>
          </a:xfrm>
          <a:prstGeom prst="rect">
            <a:avLst/>
          </a:prstGeom>
          <a:solidFill>
            <a:srgbClr val="232C33"/>
          </a:solidFill>
          <a:ln w="9525">
            <a:solidFill>
              <a:srgbClr val="3DD68C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9" name="Text 27"/>
          <p:cNvSpPr/>
          <p:nvPr/>
        </p:nvSpPr>
        <p:spPr>
          <a:xfrm>
            <a:off x="4600346" y="2880360"/>
            <a:ext cx="404073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POST-TRADE   —   fact and obligation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2920" y="396849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you need the current best bid and offer, RALF is the wrong protocol — use CALF. If you need to know what was actually executed, RALF is exactly right.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bstract conceptual artwork introducing the section"/>
          <p:cNvPicPr>
            <a:picLocks noChangeAspect="1"/>
          </p:cNvPicPr>
          <p:nvPr/>
        </p:nvPicPr>
        <p:blipFill>
          <a:blip r:embed="rId3"/>
          <a:srcRect t="7813" b="781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Image scri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E11">
              <a:alpha val="66000"/>
            </a:srgbClr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" name="Left scri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669280" cy="5143500"/>
          </a:xfrm>
          <a:prstGeom prst="rect">
            <a:avLst/>
          </a:prstGeom>
          <a:solidFill>
            <a:srgbClr val="0B0E11">
              <a:alpha val="76000"/>
            </a:srgbClr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5" name="Left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8580" cy="5143500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6" name="Text 3"/>
          <p:cNvSpPr/>
          <p:nvPr/>
        </p:nvSpPr>
        <p:spPr>
          <a:xfrm>
            <a:off x="640080" y="15727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02</a:t>
            </a:r>
            <a:endParaRPr lang="en-US" sz="1250" dirty="0"/>
          </a:p>
        </p:txBody>
      </p:sp>
      <p:sp>
        <p:nvSpPr>
          <p:cNvPr id="7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2148840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EF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purpose of RALF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640080" y="306324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Post-trade systems do not care how a price was discovered. They care what was executed, by whom, and whether their copy of the record is complete.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502920" y="17373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4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DEFINITION</a:t>
            </a:r>
            <a:endParaRPr lang="en-US" sz="95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EEF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RALF in one sentence</a:t>
            </a:r>
            <a:endParaRPr lang="en-US" sz="2500" dirty="0"/>
          </a:p>
        </p:txBody>
      </p:sp>
      <p:sp>
        <p:nvSpPr>
          <p:cNvPr id="5" name="Title under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88136"/>
            <a:ext cx="566928" cy="32004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6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791456"/>
            <a:ext cx="8138160" cy="18288"/>
          </a:xfrm>
          <a:prstGeom prst="rect">
            <a:avLst/>
          </a:prstGeom>
          <a:solidFill>
            <a:srgbClr val="36424B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7" name="Text 5"/>
          <p:cNvSpPr/>
          <p:nvPr/>
        </p:nvSpPr>
        <p:spPr>
          <a:xfrm>
            <a:off x="502920" y="48280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575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EduMatcher  ·  RALF post-trade protocol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543800" y="48280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575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850" dirty="0"/>
          </a:p>
        </p:txBody>
      </p:sp>
      <p:sp>
        <p:nvSpPr>
          <p:cNvPr id="9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8138160" cy="1207008"/>
          </a:xfrm>
          <a:prstGeom prst="rect">
            <a:avLst/>
          </a:prstGeom>
          <a:solidFill>
            <a:srgbClr val="232C33"/>
          </a:solidFill>
          <a:ln w="9525">
            <a:solidFill>
              <a:srgbClr val="36424B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0" name="Card 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8138160" cy="50292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1" name="Text 9"/>
          <p:cNvSpPr/>
          <p:nvPr/>
        </p:nvSpPr>
        <p:spPr>
          <a:xfrm>
            <a:off x="822960" y="1572768"/>
            <a:ext cx="74980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RALF </a:t>
            </a:r>
            <a:r>
              <a:rPr lang="en-US" sz="1800" dirty="0">
                <a:solidFill>
                  <a:srgbClr val="EEF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streams </a:t>
            </a:r>
            <a:r>
              <a:rPr lang="en-US" sz="1800" b="1" dirty="0">
                <a:solidFill>
                  <a:srgbClr val="7BE8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executed-trade and end-of-day events </a:t>
            </a:r>
            <a:r>
              <a:rPr lang="en-US" sz="1800" dirty="0">
                <a:solidFill>
                  <a:srgbClr val="EEF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 </a:t>
            </a:r>
            <a:r>
              <a:rPr lang="en-US" sz="1800" b="1" dirty="0">
                <a:solidFill>
                  <a:srgbClr val="7BE8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plain-text TCP </a:t>
            </a:r>
            <a:r>
              <a:rPr lang="en-US" sz="1800" dirty="0">
                <a:solidFill>
                  <a:srgbClr val="EEF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 external back-office consumers.</a:t>
            </a:r>
            <a:endParaRPr lang="en-US" sz="1800" dirty="0"/>
          </a:p>
        </p:txBody>
      </p:sp>
      <p:sp>
        <p:nvSpPr>
          <p:cNvPr id="12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852928"/>
            <a:ext cx="2593848" cy="1207008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Card accent 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852928"/>
            <a:ext cx="50292" cy="1207008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4" name="Text 12"/>
          <p:cNvSpPr/>
          <p:nvPr/>
        </p:nvSpPr>
        <p:spPr>
          <a:xfrm>
            <a:off x="685800" y="2999232"/>
            <a:ext cx="2273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READ-ONLY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85800" y="3310128"/>
            <a:ext cx="2246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Clients subscribe and receive.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They never submit orders.</a:t>
            </a:r>
            <a:endParaRPr lang="en-US" sz="1000" dirty="0"/>
          </a:p>
        </p:txBody>
      </p:sp>
      <p:sp>
        <p:nvSpPr>
          <p:cNvPr id="16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33928" y="2852928"/>
            <a:ext cx="2593848" cy="1207008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" name="Card accent 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33928" y="2852928"/>
            <a:ext cx="50292" cy="1207008"/>
          </a:xfrm>
          <a:prstGeom prst="rect">
            <a:avLst/>
          </a:prstGeom>
          <a:solidFill>
            <a:srgbClr val="6FA8D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8" name="Text 16"/>
          <p:cNvSpPr/>
          <p:nvPr/>
        </p:nvSpPr>
        <p:spPr>
          <a:xfrm>
            <a:off x="3416808" y="2999232"/>
            <a:ext cx="2273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6FA8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DERIVED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416808" y="3310128"/>
            <a:ext cx="2246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line comes from an engine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 — never invented by the gateway.</a:t>
            </a:r>
            <a:endParaRPr lang="en-US" sz="1000" dirty="0"/>
          </a:p>
        </p:txBody>
      </p:sp>
      <p:sp>
        <p:nvSpPr>
          <p:cNvPr id="20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64936" y="2852928"/>
            <a:ext cx="2593848" cy="1207008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1" name="Card accent 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64936" y="2852928"/>
            <a:ext cx="50292" cy="1207008"/>
          </a:xfrm>
          <a:prstGeom prst="rect">
            <a:avLst/>
          </a:prstGeom>
          <a:solidFill>
            <a:srgbClr val="A98BE0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2" name="Text 20"/>
          <p:cNvSpPr/>
          <p:nvPr/>
        </p:nvSpPr>
        <p:spPr>
          <a:xfrm>
            <a:off x="6147816" y="2999232"/>
            <a:ext cx="2273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A98B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RECOVERABLE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147816" y="3310128"/>
            <a:ext cx="2246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Numbered and journalled, so a client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 always prove it saw everything.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422452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797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 token: RALF1  ·  Transport: TCP  ·  Encoding: UTF-8 lines ending in a newline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502920" y="17373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4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AUDIENCE</a:t>
            </a:r>
            <a:endParaRPr lang="en-US" sz="95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EEF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kinds of system listen to RALF</a:t>
            </a:r>
            <a:endParaRPr lang="en-US" sz="2500" dirty="0"/>
          </a:p>
        </p:txBody>
      </p:sp>
      <p:sp>
        <p:nvSpPr>
          <p:cNvPr id="5" name="Title under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88136"/>
            <a:ext cx="566928" cy="32004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6" name="Text 4"/>
          <p:cNvSpPr/>
          <p:nvPr/>
        </p:nvSpPr>
        <p:spPr>
          <a:xfrm>
            <a:off x="502920" y="113385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has a different question, and each gets its own channel.</a:t>
            </a:r>
            <a:endParaRPr lang="en-US" sz="1200" dirty="0"/>
          </a:p>
        </p:txBody>
      </p:sp>
      <p:sp>
        <p:nvSpPr>
          <p:cNvPr id="7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791456"/>
            <a:ext cx="8138160" cy="18288"/>
          </a:xfrm>
          <a:prstGeom prst="rect">
            <a:avLst/>
          </a:prstGeom>
          <a:solidFill>
            <a:srgbClr val="36424B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8" name="Text 6"/>
          <p:cNvSpPr/>
          <p:nvPr/>
        </p:nvSpPr>
        <p:spPr>
          <a:xfrm>
            <a:off x="502920" y="48280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575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EduMatcher  ·  RALF post-trade protocol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43800" y="48280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575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850" dirty="0"/>
          </a:p>
        </p:txBody>
      </p:sp>
      <p:sp>
        <p:nvSpPr>
          <p:cNvPr id="10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81328"/>
            <a:ext cx="2593848" cy="2743200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1" name="Card 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81328"/>
            <a:ext cx="2593848" cy="50292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2" name="Text 10"/>
          <p:cNvSpPr/>
          <p:nvPr/>
        </p:nvSpPr>
        <p:spPr>
          <a:xfrm>
            <a:off x="502920" y="1664208"/>
            <a:ext cx="2593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CLEARING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9224" y="2011680"/>
            <a:ext cx="2301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EEF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"Do our books match yours?"</a:t>
            </a:r>
            <a:endParaRPr lang="en-US" sz="1050" dirty="0"/>
          </a:p>
        </p:txBody>
      </p:sp>
      <p:sp>
        <p:nvSpPr>
          <p:cNvPr id="14" name="Connector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2542032"/>
            <a:ext cx="1953768" cy="18288"/>
          </a:xfrm>
          <a:prstGeom prst="rect">
            <a:avLst/>
          </a:prstGeom>
          <a:solidFill>
            <a:srgbClr val="36424B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5" name="Bullet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2376" y="2825496"/>
            <a:ext cx="91440" cy="91440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6" name="Text 14"/>
          <p:cNvSpPr/>
          <p:nvPr/>
        </p:nvSpPr>
        <p:spPr>
          <a:xfrm>
            <a:off x="923544" y="2697480"/>
            <a:ext cx="1990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Trade reconciliation</a:t>
            </a:r>
            <a:endParaRPr lang="en-US" sz="1000" dirty="0"/>
          </a:p>
        </p:txBody>
      </p:sp>
      <p:sp>
        <p:nvSpPr>
          <p:cNvPr id="17" name="Bullet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2376" y="3227832"/>
            <a:ext cx="91440" cy="91440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8" name="Text 16"/>
          <p:cNvSpPr/>
          <p:nvPr/>
        </p:nvSpPr>
        <p:spPr>
          <a:xfrm>
            <a:off x="923544" y="3099816"/>
            <a:ext cx="1990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Position keeping</a:t>
            </a:r>
            <a:endParaRPr lang="en-US" sz="1000" dirty="0"/>
          </a:p>
        </p:txBody>
      </p:sp>
      <p:sp>
        <p:nvSpPr>
          <p:cNvPr id="19" name="Bullet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2376" y="3630168"/>
            <a:ext cx="91440" cy="91440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0" name="Text 18"/>
          <p:cNvSpPr/>
          <p:nvPr/>
        </p:nvSpPr>
        <p:spPr>
          <a:xfrm>
            <a:off x="923544" y="3502152"/>
            <a:ext cx="1990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Clearing obligations</a:t>
            </a:r>
            <a:endParaRPr lang="en-US" sz="1000" dirty="0"/>
          </a:p>
        </p:txBody>
      </p:sp>
      <p:sp>
        <p:nvSpPr>
          <p:cNvPr id="21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33928" y="1481328"/>
            <a:ext cx="2593848" cy="2743200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2" name="Card 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33928" y="1481328"/>
            <a:ext cx="2593848" cy="50292"/>
          </a:xfrm>
          <a:prstGeom prst="rect">
            <a:avLst/>
          </a:prstGeom>
          <a:solidFill>
            <a:srgbClr val="A98BE0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3" name="Text 21"/>
          <p:cNvSpPr/>
          <p:nvPr/>
        </p:nvSpPr>
        <p:spPr>
          <a:xfrm>
            <a:off x="3233928" y="1664208"/>
            <a:ext cx="2593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A98B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DROP_COPY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3380232" y="2011680"/>
            <a:ext cx="2301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EEF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"What is our exposure right now?"</a:t>
            </a:r>
            <a:endParaRPr lang="en-US" sz="1050" dirty="0"/>
          </a:p>
        </p:txBody>
      </p:sp>
      <p:sp>
        <p:nvSpPr>
          <p:cNvPr id="25" name="Connector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53968" y="2542032"/>
            <a:ext cx="1953768" cy="18288"/>
          </a:xfrm>
          <a:prstGeom prst="rect">
            <a:avLst/>
          </a:prstGeom>
          <a:solidFill>
            <a:srgbClr val="36424B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6" name="Bullet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53384" y="2825496"/>
            <a:ext cx="91440" cy="91440"/>
          </a:xfrm>
          <a:prstGeom prst="rect">
            <a:avLst/>
          </a:prstGeom>
          <a:solidFill>
            <a:srgbClr val="A98BE0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7" name="Text 25"/>
          <p:cNvSpPr/>
          <p:nvPr/>
        </p:nvSpPr>
        <p:spPr>
          <a:xfrm>
            <a:off x="3654552" y="2697480"/>
            <a:ext cx="1990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position risk</a:t>
            </a:r>
            <a:endParaRPr lang="en-US" sz="1000" dirty="0"/>
          </a:p>
        </p:txBody>
      </p:sp>
      <p:sp>
        <p:nvSpPr>
          <p:cNvPr id="28" name="Bullet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53384" y="3227832"/>
            <a:ext cx="91440" cy="91440"/>
          </a:xfrm>
          <a:prstGeom prst="rect">
            <a:avLst/>
          </a:prstGeom>
          <a:solidFill>
            <a:srgbClr val="A98BE0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9" name="Text 27"/>
          <p:cNvSpPr/>
          <p:nvPr/>
        </p:nvSpPr>
        <p:spPr>
          <a:xfrm>
            <a:off x="3654552" y="3099816"/>
            <a:ext cx="1990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Pre-trade limit monitoring</a:t>
            </a:r>
            <a:endParaRPr lang="en-US" sz="1000" dirty="0"/>
          </a:p>
        </p:txBody>
      </p:sp>
      <p:sp>
        <p:nvSpPr>
          <p:cNvPr id="30" name="Bullet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53384" y="3630168"/>
            <a:ext cx="91440" cy="91440"/>
          </a:xfrm>
          <a:prstGeom prst="rect">
            <a:avLst/>
          </a:prstGeom>
          <a:solidFill>
            <a:srgbClr val="A98BE0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1" name="Text 29"/>
          <p:cNvSpPr/>
          <p:nvPr/>
        </p:nvSpPr>
        <p:spPr>
          <a:xfrm>
            <a:off x="3654552" y="3502152"/>
            <a:ext cx="1990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Compliance surveillance</a:t>
            </a:r>
            <a:endParaRPr lang="en-US" sz="1000" dirty="0"/>
          </a:p>
        </p:txBody>
      </p:sp>
      <p:sp>
        <p:nvSpPr>
          <p:cNvPr id="32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64936" y="1481328"/>
            <a:ext cx="2593848" cy="2743200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33" name="Card 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64936" y="1481328"/>
            <a:ext cx="2593848" cy="50292"/>
          </a:xfrm>
          <a:prstGeom prst="rect">
            <a:avLst/>
          </a:prstGeom>
          <a:solidFill>
            <a:srgbClr val="E8B44A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4" name="Text 32"/>
          <p:cNvSpPr/>
          <p:nvPr/>
        </p:nvSpPr>
        <p:spPr>
          <a:xfrm>
            <a:off x="5964936" y="1664208"/>
            <a:ext cx="2593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E8B4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6111240" y="2011680"/>
            <a:ext cx="2301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EEF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"Can we reconstruct the day?"</a:t>
            </a:r>
            <a:endParaRPr lang="en-US" sz="1050" dirty="0"/>
          </a:p>
        </p:txBody>
      </p:sp>
      <p:sp>
        <p:nvSpPr>
          <p:cNvPr id="36" name="Connector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84976" y="2542032"/>
            <a:ext cx="1953768" cy="18288"/>
          </a:xfrm>
          <a:prstGeom prst="rect">
            <a:avLst/>
          </a:prstGeom>
          <a:solidFill>
            <a:srgbClr val="36424B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7" name="Bullet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84392" y="2825496"/>
            <a:ext cx="91440" cy="91440"/>
          </a:xfrm>
          <a:prstGeom prst="rect">
            <a:avLst/>
          </a:prstGeom>
          <a:solidFill>
            <a:srgbClr val="E8B44A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8" name="Text 36"/>
          <p:cNvSpPr/>
          <p:nvPr/>
        </p:nvSpPr>
        <p:spPr>
          <a:xfrm>
            <a:off x="6385560" y="2697480"/>
            <a:ext cx="1990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Regulatory reporting</a:t>
            </a:r>
            <a:endParaRPr lang="en-US" sz="1000" dirty="0"/>
          </a:p>
        </p:txBody>
      </p:sp>
      <p:sp>
        <p:nvSpPr>
          <p:cNvPr id="39" name="Bullet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84392" y="3227832"/>
            <a:ext cx="91440" cy="91440"/>
          </a:xfrm>
          <a:prstGeom prst="rect">
            <a:avLst/>
          </a:prstGeom>
          <a:solidFill>
            <a:srgbClr val="E8B44A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0" name="Text 38"/>
          <p:cNvSpPr/>
          <p:nvPr/>
        </p:nvSpPr>
        <p:spPr>
          <a:xfrm>
            <a:off x="6385560" y="3099816"/>
            <a:ext cx="1990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Trade reconstruction</a:t>
            </a:r>
            <a:endParaRPr lang="en-US" sz="1000" dirty="0"/>
          </a:p>
        </p:txBody>
      </p:sp>
      <p:sp>
        <p:nvSpPr>
          <p:cNvPr id="41" name="Bullet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84392" y="3630168"/>
            <a:ext cx="91440" cy="91440"/>
          </a:xfrm>
          <a:prstGeom prst="rect">
            <a:avLst/>
          </a:prstGeom>
          <a:solidFill>
            <a:srgbClr val="E8B44A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2" name="Text 40"/>
          <p:cNvSpPr/>
          <p:nvPr/>
        </p:nvSpPr>
        <p:spPr>
          <a:xfrm>
            <a:off x="6385560" y="3502152"/>
            <a:ext cx="1990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End-of-day audit files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502920" y="17373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4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</a:t>
            </a:r>
            <a:endParaRPr lang="en-US" sz="95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EEF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the gateway sits</a:t>
            </a:r>
            <a:endParaRPr lang="en-US" sz="2500" dirty="0"/>
          </a:p>
        </p:txBody>
      </p:sp>
      <p:sp>
        <p:nvSpPr>
          <p:cNvPr id="5" name="Title under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88136"/>
            <a:ext cx="566928" cy="32004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6" name="Text 4"/>
          <p:cNvSpPr/>
          <p:nvPr/>
        </p:nvSpPr>
        <p:spPr>
          <a:xfrm>
            <a:off x="502920" y="113385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engine's internal bus stays internal. Only the gateway crosses the border.</a:t>
            </a:r>
            <a:endParaRPr lang="en-US" sz="1200" dirty="0"/>
          </a:p>
        </p:txBody>
      </p:sp>
      <p:sp>
        <p:nvSpPr>
          <p:cNvPr id="7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791456"/>
            <a:ext cx="8138160" cy="18288"/>
          </a:xfrm>
          <a:prstGeom prst="rect">
            <a:avLst/>
          </a:prstGeom>
          <a:solidFill>
            <a:srgbClr val="36424B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8" name="Text 6"/>
          <p:cNvSpPr/>
          <p:nvPr/>
        </p:nvSpPr>
        <p:spPr>
          <a:xfrm>
            <a:off x="502920" y="48280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575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EduMatcher  ·  RALF post-trade protocol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43800" y="48280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575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850" dirty="0"/>
          </a:p>
        </p:txBody>
      </p:sp>
      <p:sp>
        <p:nvSpPr>
          <p:cNvPr id="10" name="Internal zone boundary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17904"/>
            <a:ext cx="3566160" cy="2651760"/>
          </a:xfrm>
          <a:prstGeom prst="rect">
            <a:avLst/>
          </a:prstGeom>
          <a:solidFill>
            <a:srgbClr val="0D1114"/>
          </a:solidFill>
          <a:ln w="9525">
            <a:solidFill>
              <a:srgbClr val="36424B"/>
            </a:solidFill>
            <a:prstDash val="dash"/>
          </a:ln>
        </p:spPr>
        <p:txBody>
          <a:bodyPr/>
          <a:lstStyle/>
          <a:p>
            <a:endParaRPr lang="en-SE"/>
          </a:p>
        </p:txBody>
      </p:sp>
      <p:sp>
        <p:nvSpPr>
          <p:cNvPr id="11" name="Text 9"/>
          <p:cNvSpPr/>
          <p:nvPr/>
        </p:nvSpPr>
        <p:spPr>
          <a:xfrm>
            <a:off x="502920" y="159105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6575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INTERNAL NETWORK</a:t>
            </a:r>
            <a:endParaRPr lang="en-US" sz="850" dirty="0"/>
          </a:p>
        </p:txBody>
      </p:sp>
      <p:sp>
        <p:nvSpPr>
          <p:cNvPr id="12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1965960"/>
            <a:ext cx="2926080" cy="685800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3" name="Card 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1965960"/>
            <a:ext cx="2926080" cy="50292"/>
          </a:xfrm>
          <a:prstGeom prst="rect">
            <a:avLst/>
          </a:prstGeom>
          <a:solidFill>
            <a:srgbClr val="6FA8D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4" name="Text 12"/>
          <p:cNvSpPr/>
          <p:nvPr/>
        </p:nvSpPr>
        <p:spPr>
          <a:xfrm>
            <a:off x="822960" y="208483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FA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pm-engine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234086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publishes trade.executed and system.eod</a:t>
            </a:r>
            <a:endParaRPr lang="en-US" sz="900" dirty="0"/>
          </a:p>
        </p:txBody>
      </p:sp>
      <p:sp>
        <p:nvSpPr>
          <p:cNvPr id="16" name="Flow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26564" y="2724912"/>
            <a:ext cx="118872" cy="402336"/>
          </a:xfrm>
          <a:prstGeom prst="downArrow">
            <a:avLst/>
          </a:prstGeom>
          <a:solidFill>
            <a:srgbClr val="6FA8D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7" name="Pill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14600" y="2798064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0D1114"/>
          </a:solidFill>
          <a:ln w="9525">
            <a:solidFill>
              <a:srgbClr val="6FA8DC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8" name="Text 16"/>
          <p:cNvSpPr/>
          <p:nvPr/>
        </p:nvSpPr>
        <p:spPr>
          <a:xfrm>
            <a:off x="2514600" y="279806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FA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ZMQ PUB :5556</a:t>
            </a:r>
            <a:endParaRPr lang="en-US" sz="800" dirty="0"/>
          </a:p>
        </p:txBody>
      </p:sp>
      <p:sp>
        <p:nvSpPr>
          <p:cNvPr id="19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3200400"/>
            <a:ext cx="2926080" cy="685800"/>
          </a:xfrm>
          <a:prstGeom prst="rect">
            <a:avLst/>
          </a:prstGeom>
          <a:solidFill>
            <a:srgbClr val="232C33"/>
          </a:solidFill>
          <a:ln w="9525">
            <a:solidFill>
              <a:srgbClr val="36424B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0" name="Card 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3200400"/>
            <a:ext cx="2926080" cy="50292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1" name="Text 19"/>
          <p:cNvSpPr/>
          <p:nvPr/>
        </p:nvSpPr>
        <p:spPr>
          <a:xfrm>
            <a:off x="822960" y="33192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pm-ralf-gwy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357530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subscribes, translates, sequences, journals</a:t>
            </a:r>
            <a:endParaRPr lang="en-US" sz="900" dirty="0"/>
          </a:p>
        </p:txBody>
      </p:sp>
      <p:sp>
        <p:nvSpPr>
          <p:cNvPr id="23" name="Network boundary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70248" y="1517904"/>
            <a:ext cx="41148" cy="2651760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4" name="Text 22"/>
          <p:cNvSpPr/>
          <p:nvPr/>
        </p:nvSpPr>
        <p:spPr>
          <a:xfrm>
            <a:off x="3904488" y="422452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 :5580</a:t>
            </a:r>
            <a:endParaRPr lang="en-US" sz="850" dirty="0"/>
          </a:p>
        </p:txBody>
      </p:sp>
      <p:sp>
        <p:nvSpPr>
          <p:cNvPr id="25" name="Flow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16552" y="3488436"/>
            <a:ext cx="502920" cy="118872"/>
          </a:xfrm>
          <a:prstGeom prst="rightArrow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6" name="External zone boundary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74920" y="1517904"/>
            <a:ext cx="3566160" cy="2651760"/>
          </a:xfrm>
          <a:prstGeom prst="rect">
            <a:avLst/>
          </a:prstGeom>
          <a:solidFill>
            <a:srgbClr val="0D1114"/>
          </a:solidFill>
          <a:ln w="9525">
            <a:solidFill>
              <a:srgbClr val="36424B"/>
            </a:solidFill>
            <a:prstDash val="dash"/>
          </a:ln>
        </p:spPr>
        <p:txBody>
          <a:bodyPr/>
          <a:lstStyle/>
          <a:p>
            <a:endParaRPr lang="en-SE"/>
          </a:p>
        </p:txBody>
      </p:sp>
      <p:sp>
        <p:nvSpPr>
          <p:cNvPr id="27" name="Text 25"/>
          <p:cNvSpPr/>
          <p:nvPr/>
        </p:nvSpPr>
        <p:spPr>
          <a:xfrm>
            <a:off x="5074920" y="159105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6575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EXTERNAL CONSUMERS</a:t>
            </a:r>
            <a:endParaRPr lang="en-US" sz="850" dirty="0"/>
          </a:p>
        </p:txBody>
      </p:sp>
      <p:sp>
        <p:nvSpPr>
          <p:cNvPr id="28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49240" y="1938528"/>
            <a:ext cx="3017520" cy="594360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9" name="Card accent 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49240" y="1938528"/>
            <a:ext cx="50292" cy="594360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0" name="Text 28"/>
          <p:cNvSpPr/>
          <p:nvPr/>
        </p:nvSpPr>
        <p:spPr>
          <a:xfrm>
            <a:off x="5577840" y="19933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EF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Clearing &amp; reconciliation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577840" y="224942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ROLE=CLEARING</a:t>
            </a:r>
            <a:endParaRPr lang="en-US" sz="850" dirty="0"/>
          </a:p>
        </p:txBody>
      </p:sp>
      <p:sp>
        <p:nvSpPr>
          <p:cNvPr id="32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49240" y="2651760"/>
            <a:ext cx="3017520" cy="594360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3" name="Card accent 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49240" y="2651760"/>
            <a:ext cx="50292" cy="594360"/>
          </a:xfrm>
          <a:prstGeom prst="rect">
            <a:avLst/>
          </a:prstGeom>
          <a:solidFill>
            <a:srgbClr val="A98BE0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4" name="Text 32"/>
          <p:cNvSpPr/>
          <p:nvPr/>
        </p:nvSpPr>
        <p:spPr>
          <a:xfrm>
            <a:off x="5577840" y="27066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EF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&amp; compliance drop-copy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577840" y="296265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98B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ROLE=DROP_COPY</a:t>
            </a:r>
            <a:endParaRPr lang="en-US" sz="850" dirty="0"/>
          </a:p>
        </p:txBody>
      </p:sp>
      <p:sp>
        <p:nvSpPr>
          <p:cNvPr id="36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49240" y="3364992"/>
            <a:ext cx="3017520" cy="594360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7" name="Card accent 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49240" y="3364992"/>
            <a:ext cx="50292" cy="594360"/>
          </a:xfrm>
          <a:prstGeom prst="rect">
            <a:avLst/>
          </a:prstGeom>
          <a:solidFill>
            <a:srgbClr val="E8B44A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8" name="Text 36"/>
          <p:cNvSpPr/>
          <p:nvPr/>
        </p:nvSpPr>
        <p:spPr>
          <a:xfrm>
            <a:off x="5577840" y="34198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EF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 &amp; surveillance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577840" y="36758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B4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ROLE=AUDIT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502920" y="17373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4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RESPONSIBILITIES</a:t>
            </a:r>
            <a:endParaRPr lang="en-US" sz="95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EEF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 gateway does for you</a:t>
            </a:r>
            <a:endParaRPr lang="en-US" sz="2500" dirty="0"/>
          </a:p>
        </p:txBody>
      </p:sp>
      <p:sp>
        <p:nvSpPr>
          <p:cNvPr id="5" name="Title under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88136"/>
            <a:ext cx="566928" cy="32004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6" name="Text 4"/>
          <p:cNvSpPr/>
          <p:nvPr/>
        </p:nvSpPr>
        <p:spPr>
          <a:xfrm>
            <a:off x="502920" y="113385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Five guarantees you get for free by using RALF instead of the raw bus.</a:t>
            </a:r>
            <a:endParaRPr lang="en-US" sz="1200" dirty="0"/>
          </a:p>
        </p:txBody>
      </p:sp>
      <p:sp>
        <p:nvSpPr>
          <p:cNvPr id="7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791456"/>
            <a:ext cx="8138160" cy="18288"/>
          </a:xfrm>
          <a:prstGeom prst="rect">
            <a:avLst/>
          </a:prstGeom>
          <a:solidFill>
            <a:srgbClr val="36424B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8" name="Text 6"/>
          <p:cNvSpPr/>
          <p:nvPr/>
        </p:nvSpPr>
        <p:spPr>
          <a:xfrm>
            <a:off x="502920" y="48280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575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EduMatcher  ·  RALF post-trade protocol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43800" y="48280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575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850" dirty="0"/>
          </a:p>
        </p:txBody>
      </p:sp>
      <p:sp>
        <p:nvSpPr>
          <p:cNvPr id="10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8138160" cy="548640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Card accent 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50292" cy="548640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2" name="R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563624"/>
            <a:ext cx="347472" cy="347472"/>
          </a:xfrm>
          <a:prstGeom prst="ellipse">
            <a:avLst/>
          </a:prstGeom>
          <a:solidFill>
            <a:srgbClr val="1B2228"/>
          </a:solidFill>
          <a:ln w="19050">
            <a:solidFill>
              <a:srgbClr val="3DD68C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Text 11"/>
          <p:cNvSpPr/>
          <p:nvPr/>
        </p:nvSpPr>
        <p:spPr>
          <a:xfrm>
            <a:off x="685800" y="1563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61288" y="14630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EF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971800" y="1463040"/>
            <a:ext cx="5440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 events become RALF lines, one per subscribed channel.</a:t>
            </a:r>
            <a:endParaRPr lang="en-US" sz="1050" dirty="0"/>
          </a:p>
        </p:txBody>
      </p:sp>
      <p:sp>
        <p:nvSpPr>
          <p:cNvPr id="16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103120"/>
            <a:ext cx="8138160" cy="548640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" name="Card accent 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103120"/>
            <a:ext cx="50292" cy="548640"/>
          </a:xfrm>
          <a:prstGeom prst="rect">
            <a:avLst/>
          </a:prstGeom>
          <a:solidFill>
            <a:srgbClr val="6FA8D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8" name="R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2203704"/>
            <a:ext cx="347472" cy="347472"/>
          </a:xfrm>
          <a:prstGeom prst="ellipse">
            <a:avLst/>
          </a:prstGeom>
          <a:solidFill>
            <a:srgbClr val="1B2228"/>
          </a:solidFill>
          <a:ln w="19050">
            <a:solidFill>
              <a:srgbClr val="6FA8DC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9" name="Text 17"/>
          <p:cNvSpPr/>
          <p:nvPr/>
        </p:nvSpPr>
        <p:spPr>
          <a:xfrm>
            <a:off x="685800" y="2203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FA8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61288" y="21031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EF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Sequencing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971800" y="2103120"/>
            <a:ext cx="5440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monotonic SEQ is assigned per channel, so gaps are detectable.</a:t>
            </a:r>
            <a:endParaRPr lang="en-US" sz="1050" dirty="0"/>
          </a:p>
        </p:txBody>
      </p:sp>
      <p:sp>
        <p:nvSpPr>
          <p:cNvPr id="22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743200"/>
            <a:ext cx="8138160" cy="548640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3" name="Card accent 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743200"/>
            <a:ext cx="50292" cy="548640"/>
          </a:xfrm>
          <a:prstGeom prst="rect">
            <a:avLst/>
          </a:prstGeom>
          <a:solidFill>
            <a:srgbClr val="A98BE0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4" name="R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2843784"/>
            <a:ext cx="347472" cy="347472"/>
          </a:xfrm>
          <a:prstGeom prst="ellipse">
            <a:avLst/>
          </a:prstGeom>
          <a:solidFill>
            <a:srgbClr val="1B2228"/>
          </a:solidFill>
          <a:ln w="19050">
            <a:solidFill>
              <a:srgbClr val="A98BE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5" name="Text 23"/>
          <p:cNvSpPr/>
          <p:nvPr/>
        </p:nvSpPr>
        <p:spPr>
          <a:xfrm>
            <a:off x="685800" y="28437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98B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61288" y="27432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EF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Replay journal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971800" y="2743200"/>
            <a:ext cx="5440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time-bounded journal lets reconnecting clients recover what they missed.</a:t>
            </a:r>
            <a:endParaRPr lang="en-US" sz="1050" dirty="0"/>
          </a:p>
        </p:txBody>
      </p:sp>
      <p:sp>
        <p:nvSpPr>
          <p:cNvPr id="28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383280"/>
            <a:ext cx="8138160" cy="548640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9" name="Card accent 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383280"/>
            <a:ext cx="50292" cy="548640"/>
          </a:xfrm>
          <a:prstGeom prst="rect">
            <a:avLst/>
          </a:prstGeom>
          <a:solidFill>
            <a:srgbClr val="7BE8B8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0" name="R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3483864"/>
            <a:ext cx="347472" cy="347472"/>
          </a:xfrm>
          <a:prstGeom prst="ellipse">
            <a:avLst/>
          </a:prstGeom>
          <a:solidFill>
            <a:srgbClr val="1B2228"/>
          </a:solidFill>
          <a:ln w="19050">
            <a:solidFill>
              <a:srgbClr val="7BE8B8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1" name="Text 29"/>
          <p:cNvSpPr/>
          <p:nvPr/>
        </p:nvSpPr>
        <p:spPr>
          <a:xfrm>
            <a:off x="685800" y="34838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BE8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161288" y="33832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EF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Baseline snapshot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2971800" y="3383280"/>
            <a:ext cx="5440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SNAP is sent automatically on subscribe, giving you a starting sequence.</a:t>
            </a:r>
            <a:endParaRPr lang="en-US" sz="1050" dirty="0"/>
          </a:p>
        </p:txBody>
      </p:sp>
      <p:sp>
        <p:nvSpPr>
          <p:cNvPr id="34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023360"/>
            <a:ext cx="8138160" cy="548640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5" name="Card accent 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023360"/>
            <a:ext cx="50292" cy="548640"/>
          </a:xfrm>
          <a:prstGeom prst="rect">
            <a:avLst/>
          </a:prstGeom>
          <a:solidFill>
            <a:srgbClr val="E8B44A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6" name="R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4123944"/>
            <a:ext cx="347472" cy="347472"/>
          </a:xfrm>
          <a:prstGeom prst="ellipse">
            <a:avLst/>
          </a:prstGeom>
          <a:solidFill>
            <a:srgbClr val="1B2228"/>
          </a:solidFill>
          <a:ln w="19050">
            <a:solidFill>
              <a:srgbClr val="E8B44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7" name="Text 35"/>
          <p:cNvSpPr/>
          <p:nvPr/>
        </p:nvSpPr>
        <p:spPr>
          <a:xfrm>
            <a:off x="685800" y="41239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B4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161288" y="40233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EF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control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2971800" y="4023360"/>
            <a:ext cx="5440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 are enforced per channel, and slow clients are dropped to protect the feed.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02920" y="4645152"/>
            <a:ext cx="8138160" cy="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" dirty="0">
                <a:solidFill>
                  <a:srgbClr val="12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Without a gateway you would have to build all five yourself — and get them right.</a:t>
            </a:r>
            <a:endParaRPr lang="en-US" sz="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502920" y="17373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4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CHOOSING</a:t>
            </a:r>
            <a:endParaRPr lang="en-US" sz="95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EEF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RALF is the right answer — and when it is not</a:t>
            </a:r>
            <a:endParaRPr lang="en-US" sz="2500" dirty="0"/>
          </a:p>
        </p:txBody>
      </p:sp>
      <p:sp>
        <p:nvSpPr>
          <p:cNvPr id="5" name="Title under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88136"/>
            <a:ext cx="566928" cy="32004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6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791456"/>
            <a:ext cx="8138160" cy="18288"/>
          </a:xfrm>
          <a:prstGeom prst="rect">
            <a:avLst/>
          </a:prstGeom>
          <a:solidFill>
            <a:srgbClr val="36424B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7" name="Text 5"/>
          <p:cNvSpPr/>
          <p:nvPr/>
        </p:nvSpPr>
        <p:spPr>
          <a:xfrm>
            <a:off x="502920" y="48280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575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EduMatcher  ·  RALF post-trade protocol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543800" y="48280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575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850" dirty="0"/>
          </a:p>
        </p:txBody>
      </p:sp>
      <p:sp>
        <p:nvSpPr>
          <p:cNvPr id="9" name="Table header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8138160" cy="310896"/>
          </a:xfrm>
          <a:prstGeom prst="rect">
            <a:avLst/>
          </a:prstGeom>
          <a:solidFill>
            <a:srgbClr val="2C363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0" name="Text 8"/>
          <p:cNvSpPr/>
          <p:nvPr/>
        </p:nvSpPr>
        <p:spPr>
          <a:xfrm>
            <a:off x="621792" y="14630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kern="0" spc="10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APPROACH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2542032" y="146304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kern="0" spc="10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TRANSPORT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3730752" y="146304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kern="0" spc="10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BEST FOR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6565392" y="146304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kern="0" spc="10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SUITABLE FOR</a:t>
            </a:r>
            <a:endParaRPr lang="en-US" sz="820" dirty="0"/>
          </a:p>
        </p:txBody>
      </p:sp>
      <p:sp>
        <p:nvSpPr>
          <p:cNvPr id="14" name="Table 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773936"/>
            <a:ext cx="8138160" cy="548640"/>
          </a:xfrm>
          <a:prstGeom prst="rect">
            <a:avLst/>
          </a:prstGeom>
          <a:solidFill>
            <a:srgbClr val="0D1114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5" name="Text 13"/>
          <p:cNvSpPr/>
          <p:nvPr/>
        </p:nvSpPr>
        <p:spPr>
          <a:xfrm>
            <a:off x="621792" y="177393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RALF  (pm-ralf-gwy)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42032" y="1773936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TCP text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730752" y="177393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EEF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External clearing, drop-copy and audit consumers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65392" y="177393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Pre-trade market data; top-of-book</a:t>
            </a:r>
            <a:endParaRPr lang="en-US" sz="1000" dirty="0"/>
          </a:p>
        </p:txBody>
      </p:sp>
      <p:sp>
        <p:nvSpPr>
          <p:cNvPr id="19" name="Table 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322576"/>
            <a:ext cx="8138160" cy="548640"/>
          </a:xfrm>
          <a:prstGeom prst="rect">
            <a:avLst/>
          </a:prstGeom>
          <a:solidFill>
            <a:srgbClr val="1B2228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0" name="Text 18"/>
          <p:cNvSpPr/>
          <p:nvPr/>
        </p:nvSpPr>
        <p:spPr>
          <a:xfrm>
            <a:off x="621792" y="232257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EEF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CALF  (pm-md-gwy)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542032" y="2322576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TCP text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730752" y="232257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External market data: TOP, TRADE, STATE, INDEX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65392" y="232257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Post-trade events</a:t>
            </a:r>
            <a:endParaRPr lang="en-US" sz="1000" dirty="0"/>
          </a:p>
        </p:txBody>
      </p:sp>
      <p:sp>
        <p:nvSpPr>
          <p:cNvPr id="24" name="Table 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871216"/>
            <a:ext cx="8138160" cy="548640"/>
          </a:xfrm>
          <a:prstGeom prst="rect">
            <a:avLst/>
          </a:prstGeom>
          <a:solidFill>
            <a:srgbClr val="0D1114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5" name="Text 23"/>
          <p:cNvSpPr/>
          <p:nvPr/>
        </p:nvSpPr>
        <p:spPr>
          <a:xfrm>
            <a:off x="621792" y="287121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EEF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Internal ZMQ PUB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542032" y="2871216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ZMQ binary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730752" y="287121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Internal Python processes inside the engine host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565392" y="287121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External clients</a:t>
            </a:r>
            <a:endParaRPr lang="en-US" sz="1000" dirty="0"/>
          </a:p>
        </p:txBody>
      </p:sp>
      <p:sp>
        <p:nvSpPr>
          <p:cNvPr id="29" name="Table 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419856"/>
            <a:ext cx="8138160" cy="548640"/>
          </a:xfrm>
          <a:prstGeom prst="rect">
            <a:avLst/>
          </a:prstGeom>
          <a:solidFill>
            <a:srgbClr val="1B2228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0" name="Text 28"/>
          <p:cNvSpPr/>
          <p:nvPr/>
        </p:nvSpPr>
        <p:spPr>
          <a:xfrm>
            <a:off x="621792" y="341985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EEF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 / WebSocket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542032" y="3419856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HTTP/JSON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730752" y="341985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dashboards and one-shot queries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565392" y="341985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High-frequency streaming</a:t>
            </a:r>
            <a:endParaRPr lang="en-US" sz="1000" dirty="0"/>
          </a:p>
        </p:txBody>
      </p:sp>
      <p:sp>
        <p:nvSpPr>
          <p:cNvPr id="34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133088"/>
            <a:ext cx="8138160" cy="530352"/>
          </a:xfrm>
          <a:prstGeom prst="rect">
            <a:avLst/>
          </a:prstGeom>
          <a:solidFill>
            <a:srgbClr val="232C33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5" name="Card accent 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133088"/>
            <a:ext cx="50292" cy="530352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6" name="Text 34"/>
          <p:cNvSpPr/>
          <p:nvPr/>
        </p:nvSpPr>
        <p:spPr>
          <a:xfrm>
            <a:off x="777240" y="4133088"/>
            <a:ext cx="7635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BE8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 of thumb: if the question starts with "what was executed", it is RALF. If it starts with "what is the price", it is CALF.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bstract conceptual artwork introducing the section"/>
          <p:cNvPicPr>
            <a:picLocks noChangeAspect="1"/>
          </p:cNvPicPr>
          <p:nvPr/>
        </p:nvPicPr>
        <p:blipFill>
          <a:blip r:embed="rId3"/>
          <a:srcRect l="10300" r="1030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Image scri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E11">
              <a:alpha val="66000"/>
            </a:srgbClr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" name="Left scri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669280" cy="5143500"/>
          </a:xfrm>
          <a:prstGeom prst="rect">
            <a:avLst/>
          </a:prstGeom>
          <a:solidFill>
            <a:srgbClr val="0B0E11">
              <a:alpha val="76000"/>
            </a:srgbClr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5" name="Left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8580" cy="5143500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6" name="Text 3"/>
          <p:cNvSpPr/>
          <p:nvPr/>
        </p:nvSpPr>
        <p:spPr>
          <a:xfrm>
            <a:off x="640080" y="15727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03</a:t>
            </a:r>
            <a:endParaRPr lang="en-US" sz="1250" dirty="0"/>
          </a:p>
        </p:txBody>
      </p:sp>
      <p:sp>
        <p:nvSpPr>
          <p:cNvPr id="7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2148840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EF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the protocol is used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640080" y="306324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RALF session is a short conversation followed by a long silence-punctuated stream. Six steps, and you have seen all of them.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502920" y="17373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4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 MODEL</a:t>
            </a:r>
            <a:endParaRPr lang="en-US" sz="95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EEF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whole conversation, at a glance</a:t>
            </a:r>
            <a:endParaRPr lang="en-US" sz="2500" dirty="0"/>
          </a:p>
        </p:txBody>
      </p:sp>
      <p:sp>
        <p:nvSpPr>
          <p:cNvPr id="5" name="Title under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88136"/>
            <a:ext cx="566928" cy="32004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6" name="Text 4"/>
          <p:cNvSpPr/>
          <p:nvPr/>
        </p:nvSpPr>
        <p:spPr>
          <a:xfrm>
            <a:off x="502920" y="113385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authenticated session per TCP connection, held open for as long as you need it.</a:t>
            </a:r>
            <a:endParaRPr lang="en-US" sz="1200" dirty="0"/>
          </a:p>
        </p:txBody>
      </p:sp>
      <p:sp>
        <p:nvSpPr>
          <p:cNvPr id="7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791456"/>
            <a:ext cx="8138160" cy="18288"/>
          </a:xfrm>
          <a:prstGeom prst="rect">
            <a:avLst/>
          </a:prstGeom>
          <a:solidFill>
            <a:srgbClr val="36424B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8" name="Text 6"/>
          <p:cNvSpPr/>
          <p:nvPr/>
        </p:nvSpPr>
        <p:spPr>
          <a:xfrm>
            <a:off x="502920" y="48280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575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EduMatcher  ·  RALF post-trade protocol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43800" y="48280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575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850" dirty="0"/>
          </a:p>
        </p:txBody>
      </p:sp>
      <p:sp>
        <p:nvSpPr>
          <p:cNvPr id="10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72768"/>
            <a:ext cx="1234440" cy="1371600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1" name="Card 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72768"/>
            <a:ext cx="1234440" cy="50292"/>
          </a:xfrm>
          <a:prstGeom prst="rect">
            <a:avLst/>
          </a:prstGeom>
          <a:solidFill>
            <a:srgbClr val="8797A2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2" name="Badge dis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46404" y="1737360"/>
            <a:ext cx="347472" cy="347472"/>
          </a:xfrm>
          <a:prstGeom prst="ellipse">
            <a:avLst/>
          </a:prstGeom>
          <a:solidFill>
            <a:srgbClr val="8797A2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3" name="Text 11"/>
          <p:cNvSpPr/>
          <p:nvPr/>
        </p:nvSpPr>
        <p:spPr>
          <a:xfrm>
            <a:off x="946404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215798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797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57784" y="2450592"/>
            <a:ext cx="1124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TCP :5580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48640" y="3017520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→</a:t>
            </a:r>
            <a:endParaRPr lang="en-US" sz="800" dirty="0"/>
          </a:p>
        </p:txBody>
      </p:sp>
      <p:sp>
        <p:nvSpPr>
          <p:cNvPr id="17" name="Flow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55648" y="2212848"/>
            <a:ext cx="109728" cy="91440"/>
          </a:xfrm>
          <a:prstGeom prst="rightArrow">
            <a:avLst/>
          </a:prstGeom>
          <a:solidFill>
            <a:srgbClr val="36424B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8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83664" y="1572768"/>
            <a:ext cx="1234440" cy="1371600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9" name="Card 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83664" y="1572768"/>
            <a:ext cx="1234440" cy="50292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0" name="Badge dis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327148" y="1737360"/>
            <a:ext cx="347472" cy="347472"/>
          </a:xfrm>
          <a:prstGeom prst="ellipse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1" name="Text 19"/>
          <p:cNvSpPr/>
          <p:nvPr/>
        </p:nvSpPr>
        <p:spPr>
          <a:xfrm>
            <a:off x="2327148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929384" y="215798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938528" y="2450592"/>
            <a:ext cx="1124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I am, my role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929384" y="3017520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→</a:t>
            </a:r>
            <a:endParaRPr lang="en-US" sz="800" dirty="0"/>
          </a:p>
        </p:txBody>
      </p:sp>
      <p:sp>
        <p:nvSpPr>
          <p:cNvPr id="25" name="Flow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36392" y="2212848"/>
            <a:ext cx="109728" cy="91440"/>
          </a:xfrm>
          <a:prstGeom prst="rightArrow">
            <a:avLst/>
          </a:prstGeom>
          <a:solidFill>
            <a:srgbClr val="36424B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6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64408" y="1572768"/>
            <a:ext cx="1234440" cy="1371600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7" name="Card 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64408" y="1572768"/>
            <a:ext cx="1234440" cy="50292"/>
          </a:xfrm>
          <a:prstGeom prst="rect">
            <a:avLst/>
          </a:prstGeom>
          <a:solidFill>
            <a:srgbClr val="6FA8D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8" name="Badge dis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07892" y="1737360"/>
            <a:ext cx="347472" cy="347472"/>
          </a:xfrm>
          <a:prstGeom prst="ellipse">
            <a:avLst/>
          </a:prstGeom>
          <a:solidFill>
            <a:srgbClr val="6FA8D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9" name="Text 27"/>
          <p:cNvSpPr/>
          <p:nvPr/>
        </p:nvSpPr>
        <p:spPr>
          <a:xfrm>
            <a:off x="3707892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310128" y="215798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FA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WELCOME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319272" y="2450592"/>
            <a:ext cx="1124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accepted, here are the terms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310128" y="3017520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FA8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← gateway</a:t>
            </a:r>
            <a:endParaRPr lang="en-US" sz="800" dirty="0"/>
          </a:p>
        </p:txBody>
      </p:sp>
      <p:sp>
        <p:nvSpPr>
          <p:cNvPr id="33" name="Flow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17136" y="2212848"/>
            <a:ext cx="109728" cy="91440"/>
          </a:xfrm>
          <a:prstGeom prst="rightArrow">
            <a:avLst/>
          </a:prstGeom>
          <a:solidFill>
            <a:srgbClr val="36424B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4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5152" y="1572768"/>
            <a:ext cx="1234440" cy="1371600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35" name="Card 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5152" y="1572768"/>
            <a:ext cx="1234440" cy="50292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6" name="Badge dis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88636" y="1737360"/>
            <a:ext cx="347472" cy="347472"/>
          </a:xfrm>
          <a:prstGeom prst="ellipse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7" name="Text 35"/>
          <p:cNvSpPr/>
          <p:nvPr/>
        </p:nvSpPr>
        <p:spPr>
          <a:xfrm>
            <a:off x="5088636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690872" y="215798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00016" y="2450592"/>
            <a:ext cx="1124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 want to see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690872" y="3017520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→</a:t>
            </a:r>
            <a:endParaRPr lang="en-US" sz="800" dirty="0"/>
          </a:p>
        </p:txBody>
      </p:sp>
      <p:sp>
        <p:nvSpPr>
          <p:cNvPr id="41" name="Flow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97880" y="2212848"/>
            <a:ext cx="109728" cy="91440"/>
          </a:xfrm>
          <a:prstGeom prst="rightArrow">
            <a:avLst/>
          </a:prstGeom>
          <a:solidFill>
            <a:srgbClr val="36424B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2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25896" y="1572768"/>
            <a:ext cx="1234440" cy="1371600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43" name="Card 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25896" y="1572768"/>
            <a:ext cx="1234440" cy="50292"/>
          </a:xfrm>
          <a:prstGeom prst="rect">
            <a:avLst/>
          </a:prstGeom>
          <a:solidFill>
            <a:srgbClr val="6FA8D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4" name="Badge dis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69380" y="1737360"/>
            <a:ext cx="347472" cy="347472"/>
          </a:xfrm>
          <a:prstGeom prst="ellipse">
            <a:avLst/>
          </a:prstGeom>
          <a:solidFill>
            <a:srgbClr val="6FA8D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5" name="Text 43"/>
          <p:cNvSpPr/>
          <p:nvPr/>
        </p:nvSpPr>
        <p:spPr>
          <a:xfrm>
            <a:off x="6469380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071616" y="215798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FA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SNAP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080760" y="2450592"/>
            <a:ext cx="1124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sequence baseline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071616" y="3017520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FA8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← gateway</a:t>
            </a:r>
            <a:endParaRPr lang="en-US" sz="800" dirty="0"/>
          </a:p>
        </p:txBody>
      </p:sp>
      <p:sp>
        <p:nvSpPr>
          <p:cNvPr id="49" name="Flow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78624" y="2212848"/>
            <a:ext cx="109728" cy="91440"/>
          </a:xfrm>
          <a:prstGeom prst="rightArrow">
            <a:avLst/>
          </a:prstGeom>
          <a:solidFill>
            <a:srgbClr val="36424B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50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06640" y="1572768"/>
            <a:ext cx="1234440" cy="1371600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51" name="Card 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06640" y="1572768"/>
            <a:ext cx="1234440" cy="50292"/>
          </a:xfrm>
          <a:prstGeom prst="rect">
            <a:avLst/>
          </a:prstGeom>
          <a:solidFill>
            <a:srgbClr val="7BE8B8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52" name="Badge dis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50124" y="1737360"/>
            <a:ext cx="347472" cy="347472"/>
          </a:xfrm>
          <a:prstGeom prst="ellipse">
            <a:avLst/>
          </a:prstGeom>
          <a:solidFill>
            <a:srgbClr val="7BE8B8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53" name="Text 51"/>
          <p:cNvSpPr/>
          <p:nvPr/>
        </p:nvSpPr>
        <p:spPr>
          <a:xfrm>
            <a:off x="7850124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7452360" y="215798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BE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7461504" y="2450592"/>
            <a:ext cx="1124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5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 · EOD · HB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7452360" y="3017520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FA8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← gateway</a:t>
            </a:r>
            <a:endParaRPr lang="en-US" sz="800" dirty="0"/>
          </a:p>
        </p:txBody>
      </p:sp>
      <p:sp>
        <p:nvSpPr>
          <p:cNvPr id="57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401568"/>
            <a:ext cx="3947008" cy="914400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58" name="Card accent 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401568"/>
            <a:ext cx="50292" cy="914400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59" name="Text 57"/>
          <p:cNvSpPr/>
          <p:nvPr/>
        </p:nvSpPr>
        <p:spPr>
          <a:xfrm>
            <a:off x="731520" y="349300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may also send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731520" y="3749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UNSUB   ·   PING   ·   EXIT</a:t>
            </a:r>
            <a:endParaRPr lang="en-US" sz="1300" dirty="0"/>
          </a:p>
        </p:txBody>
      </p:sp>
      <p:sp>
        <p:nvSpPr>
          <p:cNvPr id="61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94072" y="3401568"/>
            <a:ext cx="3947008" cy="914400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62" name="Card accent 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94072" y="3401568"/>
            <a:ext cx="50292" cy="914400"/>
          </a:xfrm>
          <a:prstGeom prst="rect">
            <a:avLst/>
          </a:prstGeom>
          <a:solidFill>
            <a:srgbClr val="6FA8D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63" name="Text 61"/>
          <p:cNvSpPr/>
          <p:nvPr/>
        </p:nvSpPr>
        <p:spPr>
          <a:xfrm>
            <a:off x="4922672" y="349300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Gateway may also send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922672" y="3749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FA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HB   ·   PONG   ·   ERR   ·   EXIT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502920" y="44074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B4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HELLO must come first. Any other opening message is rejected with AUTH_REQUIRED.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502920" y="17373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4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 OF 6</a:t>
            </a:r>
            <a:endParaRPr lang="en-US" sz="95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EEF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HELLO — introduce yourself</a:t>
            </a:r>
            <a:endParaRPr lang="en-US" sz="2500" dirty="0"/>
          </a:p>
        </p:txBody>
      </p:sp>
      <p:sp>
        <p:nvSpPr>
          <p:cNvPr id="5" name="Title under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88136"/>
            <a:ext cx="566928" cy="32004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6" name="Text 4"/>
          <p:cNvSpPr/>
          <p:nvPr/>
        </p:nvSpPr>
        <p:spPr>
          <a:xfrm>
            <a:off x="502920" y="113385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Declares who you are, which protocol version you speak, and what you are entitled to see.</a:t>
            </a:r>
            <a:endParaRPr lang="en-US" sz="1200" dirty="0"/>
          </a:p>
        </p:txBody>
      </p:sp>
      <p:sp>
        <p:nvSpPr>
          <p:cNvPr id="7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791456"/>
            <a:ext cx="8138160" cy="18288"/>
          </a:xfrm>
          <a:prstGeom prst="rect">
            <a:avLst/>
          </a:prstGeom>
          <a:solidFill>
            <a:srgbClr val="36424B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8" name="Text 6"/>
          <p:cNvSpPr/>
          <p:nvPr/>
        </p:nvSpPr>
        <p:spPr>
          <a:xfrm>
            <a:off x="502920" y="48280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575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EduMatcher  ·  RALF post-trade protocol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43800" y="48280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575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850" dirty="0"/>
          </a:p>
        </p:txBody>
      </p:sp>
      <p:sp>
        <p:nvSpPr>
          <p:cNvPr id="10" name="Wire field blo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627632"/>
            <a:ext cx="793699" cy="402336"/>
          </a:xfrm>
          <a:prstGeom prst="rect">
            <a:avLst/>
          </a:prstGeom>
          <a:solidFill>
            <a:srgbClr val="1F8A5C"/>
          </a:solidFill>
          <a:ln w="7620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Text 9"/>
          <p:cNvSpPr/>
          <p:nvPr/>
        </p:nvSpPr>
        <p:spPr>
          <a:xfrm>
            <a:off x="502920" y="1627632"/>
            <a:ext cx="79369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EF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48056" y="2093976"/>
            <a:ext cx="9034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5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message type,</a:t>
            </a:r>
            <a:endParaRPr lang="en-US" sz="750" dirty="0"/>
          </a:p>
          <a:p>
            <a:pPr marL="0" indent="0" algn="ctr">
              <a:lnSpc>
                <a:spcPts val="950"/>
              </a:lnSpc>
              <a:buNone/>
            </a:pPr>
            <a:r>
              <a:rPr lang="en-US" sz="75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always first</a:t>
            </a:r>
            <a:endParaRPr lang="en-US" sz="750" dirty="0"/>
          </a:p>
        </p:txBody>
      </p:sp>
      <p:sp>
        <p:nvSpPr>
          <p:cNvPr id="13" name="Wire field blo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46911" y="1627632"/>
            <a:ext cx="1904878" cy="402336"/>
          </a:xfrm>
          <a:prstGeom prst="rect">
            <a:avLst/>
          </a:prstGeom>
          <a:solidFill>
            <a:srgbClr val="232C33"/>
          </a:solidFill>
          <a:ln w="7620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4" name="Text 12"/>
          <p:cNvSpPr/>
          <p:nvPr/>
        </p:nvSpPr>
        <p:spPr>
          <a:xfrm>
            <a:off x="1346911" y="1627632"/>
            <a:ext cx="190487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BE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CLIENT=ext01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292047" y="2093976"/>
            <a:ext cx="20146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5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free-text id used</a:t>
            </a:r>
            <a:endParaRPr lang="en-US" sz="750" dirty="0"/>
          </a:p>
          <a:p>
            <a:pPr marL="0" indent="0" algn="ctr">
              <a:lnSpc>
                <a:spcPts val="950"/>
              </a:lnSpc>
              <a:buNone/>
            </a:pPr>
            <a:r>
              <a:rPr lang="en-US" sz="75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gateway logs</a:t>
            </a:r>
            <a:endParaRPr lang="en-US" sz="750" dirty="0"/>
          </a:p>
        </p:txBody>
      </p:sp>
      <p:sp>
        <p:nvSpPr>
          <p:cNvPr id="16" name="Wire field blo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02081" y="1627632"/>
            <a:ext cx="1746138" cy="402336"/>
          </a:xfrm>
          <a:prstGeom prst="rect">
            <a:avLst/>
          </a:prstGeom>
          <a:solidFill>
            <a:srgbClr val="232C33"/>
          </a:solidFill>
          <a:ln w="7620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" name="Text 15"/>
          <p:cNvSpPr/>
          <p:nvPr/>
        </p:nvSpPr>
        <p:spPr>
          <a:xfrm>
            <a:off x="3302081" y="1627632"/>
            <a:ext cx="174613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BE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PROTO=RALF1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47217" y="2093976"/>
            <a:ext cx="18558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5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must be exactly</a:t>
            </a:r>
            <a:endParaRPr lang="en-US" sz="750" dirty="0"/>
          </a:p>
          <a:p>
            <a:pPr marL="0" indent="0" algn="ctr">
              <a:lnSpc>
                <a:spcPts val="950"/>
              </a:lnSpc>
              <a:buNone/>
            </a:pPr>
            <a:r>
              <a:rPr lang="en-US" sz="75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RALF1</a:t>
            </a:r>
            <a:endParaRPr lang="en-US" sz="750" dirty="0"/>
          </a:p>
        </p:txBody>
      </p:sp>
      <p:sp>
        <p:nvSpPr>
          <p:cNvPr id="19" name="Wire field blo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98512" y="1627632"/>
            <a:ext cx="2063618" cy="402336"/>
          </a:xfrm>
          <a:prstGeom prst="rect">
            <a:avLst/>
          </a:prstGeom>
          <a:solidFill>
            <a:srgbClr val="1F8A5C"/>
          </a:solidFill>
          <a:ln w="7620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0" name="Text 18"/>
          <p:cNvSpPr/>
          <p:nvPr/>
        </p:nvSpPr>
        <p:spPr>
          <a:xfrm>
            <a:off x="5098512" y="1627632"/>
            <a:ext cx="206361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EF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ROLE=CLEARING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43648" y="2093976"/>
            <a:ext cx="21733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5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access tier —</a:t>
            </a:r>
            <a:endParaRPr lang="en-US" sz="750" dirty="0"/>
          </a:p>
          <a:p>
            <a:pPr marL="0" indent="0" algn="ctr">
              <a:lnSpc>
                <a:spcPts val="950"/>
              </a:lnSpc>
              <a:buNone/>
            </a:pPr>
            <a:r>
              <a:rPr lang="en-US" sz="75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checked on every SUB</a:t>
            </a:r>
            <a:endParaRPr lang="en-US" sz="750" dirty="0"/>
          </a:p>
        </p:txBody>
      </p:sp>
      <p:sp>
        <p:nvSpPr>
          <p:cNvPr id="22" name="Wire field blo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12421" y="1627632"/>
            <a:ext cx="1428659" cy="402336"/>
          </a:xfrm>
          <a:prstGeom prst="rect">
            <a:avLst/>
          </a:prstGeom>
          <a:solidFill>
            <a:srgbClr val="232C33"/>
          </a:solidFill>
          <a:ln w="7620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3" name="Text 21"/>
          <p:cNvSpPr/>
          <p:nvPr/>
        </p:nvSpPr>
        <p:spPr>
          <a:xfrm>
            <a:off x="7212421" y="1627632"/>
            <a:ext cx="14286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BE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LASTSEQ=0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157557" y="2093976"/>
            <a:ext cx="15383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5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 = start live.</a:t>
            </a:r>
            <a:endParaRPr lang="en-US" sz="750" dirty="0"/>
          </a:p>
          <a:p>
            <a:pPr marL="0" indent="0" algn="ctr">
              <a:lnSpc>
                <a:spcPts val="950"/>
              </a:lnSpc>
              <a:buNone/>
            </a:pPr>
            <a:r>
              <a:rPr lang="en-US" sz="75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Any other value replays</a:t>
            </a:r>
            <a:endParaRPr lang="en-US" sz="750" dirty="0"/>
          </a:p>
        </p:txBody>
      </p:sp>
      <p:sp>
        <p:nvSpPr>
          <p:cNvPr id="25" name="Table header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670048"/>
            <a:ext cx="8138160" cy="310896"/>
          </a:xfrm>
          <a:prstGeom prst="rect">
            <a:avLst/>
          </a:prstGeom>
          <a:solidFill>
            <a:srgbClr val="2C363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6" name="Text 24"/>
          <p:cNvSpPr/>
          <p:nvPr/>
        </p:nvSpPr>
        <p:spPr>
          <a:xfrm>
            <a:off x="621792" y="26700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kern="0" spc="10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FIELD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1901952" y="267004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kern="0" spc="10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REQUIRED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2999232" y="267004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kern="0" spc="10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IT MEANS</a:t>
            </a:r>
            <a:endParaRPr lang="en-US" sz="820" dirty="0"/>
          </a:p>
        </p:txBody>
      </p:sp>
      <p:sp>
        <p:nvSpPr>
          <p:cNvPr id="29" name="Table 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980944"/>
            <a:ext cx="8138160" cy="347472"/>
          </a:xfrm>
          <a:prstGeom prst="rect">
            <a:avLst/>
          </a:prstGeom>
          <a:solidFill>
            <a:srgbClr val="0D1114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0" name="Text 28"/>
          <p:cNvSpPr/>
          <p:nvPr/>
        </p:nvSpPr>
        <p:spPr>
          <a:xfrm>
            <a:off x="621792" y="298094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EEF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901952" y="298094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999232" y="2980944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identifier for you. Maximum 32 characters. It only appears in gateway logs.</a:t>
            </a:r>
            <a:endParaRPr lang="en-US" sz="950" dirty="0"/>
          </a:p>
        </p:txBody>
      </p:sp>
      <p:sp>
        <p:nvSpPr>
          <p:cNvPr id="33" name="Table 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328416"/>
            <a:ext cx="8138160" cy="347472"/>
          </a:xfrm>
          <a:prstGeom prst="rect">
            <a:avLst/>
          </a:prstGeom>
          <a:solidFill>
            <a:srgbClr val="1B2228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4" name="Text 32"/>
          <p:cNvSpPr/>
          <p:nvPr/>
        </p:nvSpPr>
        <p:spPr>
          <a:xfrm>
            <a:off x="621792" y="332841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EEF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PROTO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901952" y="332841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999232" y="3328416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protocol version token. Anything other than RALF1 is refused.</a:t>
            </a:r>
            <a:endParaRPr lang="en-US" sz="950" dirty="0"/>
          </a:p>
        </p:txBody>
      </p:sp>
      <p:sp>
        <p:nvSpPr>
          <p:cNvPr id="37" name="Table 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675888"/>
            <a:ext cx="8138160" cy="347472"/>
          </a:xfrm>
          <a:prstGeom prst="rect">
            <a:avLst/>
          </a:prstGeom>
          <a:solidFill>
            <a:srgbClr val="0D1114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8" name="Text 36"/>
          <p:cNvSpPr/>
          <p:nvPr/>
        </p:nvSpPr>
        <p:spPr>
          <a:xfrm>
            <a:off x="621792" y="367588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EEF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901952" y="367588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999232" y="3675888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of CLEARING, DROP_COPY or AUDIT — and it must be in the gateway's allowed_roles.</a:t>
            </a:r>
            <a:endParaRPr lang="en-US" sz="950" dirty="0"/>
          </a:p>
        </p:txBody>
      </p:sp>
      <p:sp>
        <p:nvSpPr>
          <p:cNvPr id="41" name="Table 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023360"/>
            <a:ext cx="8138160" cy="347472"/>
          </a:xfrm>
          <a:prstGeom prst="rect">
            <a:avLst/>
          </a:prstGeom>
          <a:solidFill>
            <a:srgbClr val="1B2228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2" name="Text 40"/>
          <p:cNvSpPr/>
          <p:nvPr/>
        </p:nvSpPr>
        <p:spPr>
          <a:xfrm>
            <a:off x="621792" y="40233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EEF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LASTSEQ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1901952" y="40233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optional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2999232" y="402336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replay checkpoint. Ask for everything after this sequence number.</a:t>
            </a:r>
            <a:endParaRPr lang="en-US" sz="950" dirty="0"/>
          </a:p>
        </p:txBody>
      </p:sp>
      <p:sp>
        <p:nvSpPr>
          <p:cNvPr id="45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443984"/>
            <a:ext cx="8138160" cy="310896"/>
          </a:xfrm>
          <a:prstGeom prst="rect">
            <a:avLst/>
          </a:prstGeom>
          <a:solidFill>
            <a:srgbClr val="232C33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6" name="Card accent 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443984"/>
            <a:ext cx="50292" cy="310896"/>
          </a:xfrm>
          <a:prstGeom prst="rect">
            <a:avLst/>
          </a:prstGeom>
          <a:solidFill>
            <a:srgbClr val="E8B44A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7" name="Text 45"/>
          <p:cNvSpPr/>
          <p:nvPr/>
        </p:nvSpPr>
        <p:spPr>
          <a:xfrm>
            <a:off x="777240" y="4443984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Missing CLIENT, PROTO or ROLE gives AUTH_REQUIRED. A role outside allowed_roles gives ENTITLEMENT_DENIED.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502920" y="17373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4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2 OF 6</a:t>
            </a:r>
            <a:endParaRPr lang="en-US" sz="95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EEF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WELCOME — the gateway states the terms</a:t>
            </a:r>
            <a:endParaRPr lang="en-US" sz="2500" dirty="0"/>
          </a:p>
        </p:txBody>
      </p:sp>
      <p:sp>
        <p:nvSpPr>
          <p:cNvPr id="5" name="Title under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88136"/>
            <a:ext cx="566928" cy="32004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6" name="Text 4"/>
          <p:cNvSpPr/>
          <p:nvPr/>
        </p:nvSpPr>
        <p:spPr>
          <a:xfrm>
            <a:off x="502920" y="113385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 not hard-code these values. Read them from WELCOME and let the gateway tell you.</a:t>
            </a:r>
            <a:endParaRPr lang="en-US" sz="1200" dirty="0"/>
          </a:p>
        </p:txBody>
      </p:sp>
      <p:sp>
        <p:nvSpPr>
          <p:cNvPr id="7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791456"/>
            <a:ext cx="8138160" cy="18288"/>
          </a:xfrm>
          <a:prstGeom prst="rect">
            <a:avLst/>
          </a:prstGeom>
          <a:solidFill>
            <a:srgbClr val="36424B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8" name="Text 6"/>
          <p:cNvSpPr/>
          <p:nvPr/>
        </p:nvSpPr>
        <p:spPr>
          <a:xfrm>
            <a:off x="502920" y="48280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575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EduMatcher  ·  RALF post-trade protocol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43800" y="48280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575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</a:t>
            </a:r>
            <a:endParaRPr lang="en-US" sz="850" dirty="0"/>
          </a:p>
        </p:txBody>
      </p:sp>
      <p:sp>
        <p:nvSpPr>
          <p:cNvPr id="10" name="Wire field blo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627632"/>
            <a:ext cx="876300" cy="402336"/>
          </a:xfrm>
          <a:prstGeom prst="rect">
            <a:avLst/>
          </a:prstGeom>
          <a:solidFill>
            <a:srgbClr val="1F8A5C"/>
          </a:solidFill>
          <a:ln w="7620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Text 9"/>
          <p:cNvSpPr/>
          <p:nvPr/>
        </p:nvSpPr>
        <p:spPr>
          <a:xfrm>
            <a:off x="502920" y="1627632"/>
            <a:ext cx="8763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EF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WELCOME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48056" y="2093976"/>
            <a:ext cx="9860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5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 accepted</a:t>
            </a:r>
            <a:endParaRPr lang="en-US" sz="750" dirty="0"/>
          </a:p>
        </p:txBody>
      </p:sp>
      <p:sp>
        <p:nvSpPr>
          <p:cNvPr id="13" name="Wire field blo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29512" y="1627632"/>
            <a:ext cx="1377043" cy="402336"/>
          </a:xfrm>
          <a:prstGeom prst="rect">
            <a:avLst/>
          </a:prstGeom>
          <a:solidFill>
            <a:srgbClr val="232C33"/>
          </a:solidFill>
          <a:ln w="7620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4" name="Text 12"/>
          <p:cNvSpPr/>
          <p:nvPr/>
        </p:nvSpPr>
        <p:spPr>
          <a:xfrm>
            <a:off x="1429512" y="1627632"/>
            <a:ext cx="137704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BE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PROTO=RALF1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374648" y="2093976"/>
            <a:ext cx="14867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5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negotiated version</a:t>
            </a:r>
            <a:endParaRPr lang="en-US" sz="750" dirty="0"/>
          </a:p>
        </p:txBody>
      </p:sp>
      <p:sp>
        <p:nvSpPr>
          <p:cNvPr id="16" name="Wire field blo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56847" y="1627632"/>
            <a:ext cx="1627414" cy="402336"/>
          </a:xfrm>
          <a:prstGeom prst="rect">
            <a:avLst/>
          </a:prstGeom>
          <a:solidFill>
            <a:srgbClr val="232C33"/>
          </a:solidFill>
          <a:ln w="7620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" name="Text 15"/>
          <p:cNvSpPr/>
          <p:nvPr/>
        </p:nvSpPr>
        <p:spPr>
          <a:xfrm>
            <a:off x="2856847" y="1627632"/>
            <a:ext cx="162741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BE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GW=ralf-gwy01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801983" y="2093976"/>
            <a:ext cx="17371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5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gateway you</a:t>
            </a:r>
            <a:endParaRPr lang="en-US" sz="750" dirty="0"/>
          </a:p>
          <a:p>
            <a:pPr marL="0" indent="0" algn="ctr">
              <a:lnSpc>
                <a:spcPts val="950"/>
              </a:lnSpc>
              <a:buNone/>
            </a:pPr>
            <a:r>
              <a:rPr lang="en-US" sz="75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reached</a:t>
            </a:r>
            <a:endParaRPr lang="en-US" sz="750" dirty="0"/>
          </a:p>
        </p:txBody>
      </p:sp>
      <p:sp>
        <p:nvSpPr>
          <p:cNvPr id="19" name="Wire field blo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34553" y="1627632"/>
            <a:ext cx="1627414" cy="402336"/>
          </a:xfrm>
          <a:prstGeom prst="rect">
            <a:avLst/>
          </a:prstGeom>
          <a:solidFill>
            <a:srgbClr val="232C33"/>
          </a:solidFill>
          <a:ln w="7620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0" name="Text 18"/>
          <p:cNvSpPr/>
          <p:nvPr/>
        </p:nvSpPr>
        <p:spPr>
          <a:xfrm>
            <a:off x="4534553" y="1627632"/>
            <a:ext cx="162741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BE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ROLE=CLEARING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479689" y="2093976"/>
            <a:ext cx="17371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5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role that was</a:t>
            </a:r>
            <a:endParaRPr lang="en-US" sz="750" dirty="0"/>
          </a:p>
          <a:p>
            <a:pPr marL="0" indent="0" algn="ctr">
              <a:lnSpc>
                <a:spcPts val="950"/>
              </a:lnSpc>
              <a:buNone/>
            </a:pPr>
            <a:r>
              <a:rPr lang="en-US" sz="75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accepted</a:t>
            </a:r>
            <a:endParaRPr lang="en-US" sz="750" dirty="0"/>
          </a:p>
        </p:txBody>
      </p:sp>
      <p:sp>
        <p:nvSpPr>
          <p:cNvPr id="22" name="Wire field blo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2259" y="1627632"/>
            <a:ext cx="1502229" cy="402336"/>
          </a:xfrm>
          <a:prstGeom prst="rect">
            <a:avLst/>
          </a:prstGeom>
          <a:solidFill>
            <a:srgbClr val="1F8A5C"/>
          </a:solidFill>
          <a:ln w="7620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3" name="Text 21"/>
          <p:cNvSpPr/>
          <p:nvPr/>
        </p:nvSpPr>
        <p:spPr>
          <a:xfrm>
            <a:off x="6212259" y="1627632"/>
            <a:ext cx="150222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EF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REPLAY=86400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157395" y="2093976"/>
            <a:ext cx="161195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5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seconds of journal</a:t>
            </a:r>
            <a:endParaRPr lang="en-US" sz="750" dirty="0"/>
          </a:p>
          <a:p>
            <a:pPr marL="0" indent="0" algn="ctr">
              <a:lnSpc>
                <a:spcPts val="950"/>
              </a:lnSpc>
              <a:buNone/>
            </a:pPr>
            <a:r>
              <a:rPr lang="en-US" sz="75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can ask back for</a:t>
            </a:r>
            <a:endParaRPr lang="en-US" sz="750" dirty="0"/>
          </a:p>
        </p:txBody>
      </p:sp>
      <p:sp>
        <p:nvSpPr>
          <p:cNvPr id="25" name="Wire field blo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64780" y="1627632"/>
            <a:ext cx="876300" cy="402336"/>
          </a:xfrm>
          <a:prstGeom prst="rect">
            <a:avLst/>
          </a:prstGeom>
          <a:solidFill>
            <a:srgbClr val="1F8A5C"/>
          </a:solidFill>
          <a:ln w="7620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6" name="Text 24"/>
          <p:cNvSpPr/>
          <p:nvPr/>
        </p:nvSpPr>
        <p:spPr>
          <a:xfrm>
            <a:off x="7764780" y="1627632"/>
            <a:ext cx="8763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EF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HBINT=1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709916" y="2093976"/>
            <a:ext cx="9860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5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heartbeat cadence</a:t>
            </a:r>
            <a:endParaRPr lang="en-US" sz="750" dirty="0"/>
          </a:p>
          <a:p>
            <a:pPr marL="0" indent="0" algn="ctr">
              <a:lnSpc>
                <a:spcPts val="950"/>
              </a:lnSpc>
              <a:buNone/>
            </a:pPr>
            <a:r>
              <a:rPr lang="en-US" sz="75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seconds</a:t>
            </a:r>
            <a:endParaRPr lang="en-US" sz="750" dirty="0"/>
          </a:p>
        </p:txBody>
      </p:sp>
      <p:sp>
        <p:nvSpPr>
          <p:cNvPr id="28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880360"/>
            <a:ext cx="3941064" cy="1298448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9" name="Card 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880360"/>
            <a:ext cx="3941064" cy="50292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0" name="Text 28"/>
          <p:cNvSpPr/>
          <p:nvPr/>
        </p:nvSpPr>
        <p:spPr>
          <a:xfrm>
            <a:off x="704088" y="3035808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REPLAY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04088" y="3035808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default 86400 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04088" y="3364992"/>
            <a:ext cx="3538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far back the journal reaches. Use it to decide whether a reconnect can be lossless — the default covers a full trading day.</a:t>
            </a:r>
            <a:endParaRPr lang="en-US" sz="1050" dirty="0"/>
          </a:p>
        </p:txBody>
      </p:sp>
      <p:sp>
        <p:nvSpPr>
          <p:cNvPr id="33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0016" y="2880360"/>
            <a:ext cx="3941064" cy="1298448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34" name="Card 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0016" y="2880360"/>
            <a:ext cx="3941064" cy="50292"/>
          </a:xfrm>
          <a:prstGeom prst="rect">
            <a:avLst/>
          </a:prstGeom>
          <a:solidFill>
            <a:srgbClr val="6FA8D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5" name="Text 33"/>
          <p:cNvSpPr/>
          <p:nvPr/>
        </p:nvSpPr>
        <p:spPr>
          <a:xfrm>
            <a:off x="4901184" y="3035808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FA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HBINT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901184" y="3035808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default 1 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901184" y="3364992"/>
            <a:ext cx="3538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often the gateway will send a heartbeat while the stream is quiet. Use it to set your own liveness alarm.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02920" y="431596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the gateway refuses you, it does not send WELCOME — it sends an ERR line or simply closes the connection.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502920" y="17373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4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3 OF 6</a:t>
            </a:r>
            <a:endParaRPr lang="en-US" sz="95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EEF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 — say what you want to see</a:t>
            </a:r>
            <a:endParaRPr lang="en-US" sz="2500" dirty="0"/>
          </a:p>
        </p:txBody>
      </p:sp>
      <p:sp>
        <p:nvSpPr>
          <p:cNvPr id="5" name="Title under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88136"/>
            <a:ext cx="566928" cy="32004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6" name="Text 4"/>
          <p:cNvSpPr/>
          <p:nvPr/>
        </p:nvSpPr>
        <p:spPr>
          <a:xfrm>
            <a:off x="502920" y="113385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subscription is every channel you name, multiplied by every symbol you name.</a:t>
            </a:r>
            <a:endParaRPr lang="en-US" sz="1200" dirty="0"/>
          </a:p>
        </p:txBody>
      </p:sp>
      <p:sp>
        <p:nvSpPr>
          <p:cNvPr id="7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791456"/>
            <a:ext cx="8138160" cy="18288"/>
          </a:xfrm>
          <a:prstGeom prst="rect">
            <a:avLst/>
          </a:prstGeom>
          <a:solidFill>
            <a:srgbClr val="36424B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8" name="Text 6"/>
          <p:cNvSpPr/>
          <p:nvPr/>
        </p:nvSpPr>
        <p:spPr>
          <a:xfrm>
            <a:off x="502920" y="48280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575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EduMatcher  ·  RALF post-trade protocol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43800" y="48280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575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</a:t>
            </a:r>
            <a:endParaRPr lang="en-US" sz="850" dirty="0"/>
          </a:p>
        </p:txBody>
      </p:sp>
      <p:sp>
        <p:nvSpPr>
          <p:cNvPr id="10" name="Code block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72768"/>
            <a:ext cx="3743554" cy="868680"/>
          </a:xfrm>
          <a:prstGeom prst="rect">
            <a:avLst/>
          </a:prstGeom>
          <a:solidFill>
            <a:srgbClr val="0D1114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Code block 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72768"/>
            <a:ext cx="41148" cy="868680"/>
          </a:xfrm>
          <a:prstGeom prst="rect">
            <a:avLst/>
          </a:prstGeom>
          <a:solidFill>
            <a:srgbClr val="1F8A5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2" name="Text 10"/>
          <p:cNvSpPr/>
          <p:nvPr/>
        </p:nvSpPr>
        <p:spPr>
          <a:xfrm>
            <a:off x="685800" y="1691640"/>
            <a:ext cx="341437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5"/>
              </a:lnSpc>
              <a:buNone/>
            </a:pPr>
            <a:r>
              <a:rPr lang="en-US" sz="950" dirty="0">
                <a:solidFill>
                  <a:srgbClr val="7BE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SUB|CH=CLEARING|SYM=*</a:t>
            </a:r>
            <a:endParaRPr lang="en-US" sz="950" dirty="0"/>
          </a:p>
          <a:p>
            <a:pPr marL="0" indent="0">
              <a:lnSpc>
                <a:spcPts val="1425"/>
              </a:lnSpc>
              <a:buNone/>
            </a:pPr>
            <a:r>
              <a:rPr lang="en-US" sz="950" dirty="0">
                <a:solidFill>
                  <a:srgbClr val="7BE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SUB|CH=CLEARING,DROP_COPY|SYM=AAPL,MSFT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2542032"/>
            <a:ext cx="37435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SYM defaults to * (all symbols). Multiple SUB lines are cumulative — they add to what you already have.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0" y="137160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8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  ×  SYM  =  your streams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742432" y="1627632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EF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AAPL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912864" y="1627632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EF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MSFT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53712" y="2121408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CLEARING</a:t>
            </a:r>
            <a:endParaRPr lang="en-US" sz="950" dirty="0"/>
          </a:p>
        </p:txBody>
      </p:sp>
      <p:sp>
        <p:nvSpPr>
          <p:cNvPr id="18" name="Stream ce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42432" y="2121408"/>
            <a:ext cx="1078992" cy="402336"/>
          </a:xfrm>
          <a:prstGeom prst="rect">
            <a:avLst/>
          </a:prstGeom>
          <a:solidFill>
            <a:srgbClr val="232C33"/>
          </a:solidFill>
          <a:ln w="11430">
            <a:solidFill>
              <a:srgbClr val="3DD68C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9" name="Text 17"/>
          <p:cNvSpPr/>
          <p:nvPr/>
        </p:nvSpPr>
        <p:spPr>
          <a:xfrm>
            <a:off x="5742432" y="2121408"/>
            <a:ext cx="1078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</a:t>
            </a:r>
            <a:endParaRPr lang="en-US" sz="900" dirty="0"/>
          </a:p>
        </p:txBody>
      </p:sp>
      <p:sp>
        <p:nvSpPr>
          <p:cNvPr id="20" name="Stream ce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12864" y="2121408"/>
            <a:ext cx="1078992" cy="402336"/>
          </a:xfrm>
          <a:prstGeom prst="rect">
            <a:avLst/>
          </a:prstGeom>
          <a:solidFill>
            <a:srgbClr val="232C33"/>
          </a:solidFill>
          <a:ln w="11430">
            <a:solidFill>
              <a:srgbClr val="3DD68C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1" name="Text 19"/>
          <p:cNvSpPr/>
          <p:nvPr/>
        </p:nvSpPr>
        <p:spPr>
          <a:xfrm>
            <a:off x="6912864" y="2121408"/>
            <a:ext cx="1078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53712" y="2615184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A98B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DROP_COPY</a:t>
            </a:r>
            <a:endParaRPr lang="en-US" sz="950" dirty="0"/>
          </a:p>
        </p:txBody>
      </p:sp>
      <p:sp>
        <p:nvSpPr>
          <p:cNvPr id="23" name="Stream ce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42432" y="2615184"/>
            <a:ext cx="1078992" cy="402336"/>
          </a:xfrm>
          <a:prstGeom prst="rect">
            <a:avLst/>
          </a:prstGeom>
          <a:solidFill>
            <a:srgbClr val="232C33"/>
          </a:solidFill>
          <a:ln w="11430">
            <a:solidFill>
              <a:srgbClr val="A98BE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4" name="Text 22"/>
          <p:cNvSpPr/>
          <p:nvPr/>
        </p:nvSpPr>
        <p:spPr>
          <a:xfrm>
            <a:off x="5742432" y="2615184"/>
            <a:ext cx="1078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98B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</a:t>
            </a:r>
            <a:endParaRPr lang="en-US" sz="900" dirty="0"/>
          </a:p>
        </p:txBody>
      </p:sp>
      <p:sp>
        <p:nvSpPr>
          <p:cNvPr id="25" name="Stream ce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12864" y="2615184"/>
            <a:ext cx="1078992" cy="402336"/>
          </a:xfrm>
          <a:prstGeom prst="rect">
            <a:avLst/>
          </a:prstGeom>
          <a:solidFill>
            <a:srgbClr val="232C33"/>
          </a:solidFill>
          <a:ln w="11430">
            <a:solidFill>
              <a:srgbClr val="A98BE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6" name="Text 24"/>
          <p:cNvSpPr/>
          <p:nvPr/>
        </p:nvSpPr>
        <p:spPr>
          <a:xfrm>
            <a:off x="6912864" y="2615184"/>
            <a:ext cx="1078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98B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0" y="312724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channels × two symbols = four independent streams, each with its own sequence number.</a:t>
            </a:r>
            <a:endParaRPr lang="en-US" sz="950" dirty="0"/>
          </a:p>
        </p:txBody>
      </p:sp>
      <p:sp>
        <p:nvSpPr>
          <p:cNvPr id="28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0" y="3310128"/>
            <a:ext cx="4069080" cy="1298448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9" name="Card 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0" y="3310128"/>
            <a:ext cx="4069080" cy="50292"/>
          </a:xfrm>
          <a:prstGeom prst="rect">
            <a:avLst/>
          </a:prstGeom>
          <a:solidFill>
            <a:srgbClr val="6FA8D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0" name="Text 28"/>
          <p:cNvSpPr/>
          <p:nvPr/>
        </p:nvSpPr>
        <p:spPr>
          <a:xfrm>
            <a:off x="4773168" y="34564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FA8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UNSUB is the mirror image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73168" y="3749040"/>
            <a:ext cx="36667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UNSUB|CH=DROP_COPY|SYM=AAPL removes exactly the pairs it names and leaves everything else running. It is idempotent, so it is always safe to send.</a:t>
            </a:r>
            <a:endParaRPr lang="en-US" sz="1000" dirty="0"/>
          </a:p>
        </p:txBody>
      </p:sp>
      <p:sp>
        <p:nvSpPr>
          <p:cNvPr id="32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310128"/>
            <a:ext cx="3743554" cy="1298448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33" name="Card 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310128"/>
            <a:ext cx="3743554" cy="50292"/>
          </a:xfrm>
          <a:prstGeom prst="rect">
            <a:avLst/>
          </a:prstGeom>
          <a:solidFill>
            <a:srgbClr val="E8B44A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4" name="Text 32"/>
          <p:cNvSpPr/>
          <p:nvPr/>
        </p:nvSpPr>
        <p:spPr>
          <a:xfrm>
            <a:off x="704088" y="34564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B4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rules to remember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04088" y="3730752"/>
            <a:ext cx="334121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role may only subscribe to its own channel — except AUDIT, which may subscribe to any.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new (channel, symbol) pair triggers one SNAP.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502920" y="17373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4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4 OF 6</a:t>
            </a:r>
            <a:endParaRPr lang="en-US" sz="95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EEF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SNAP — your baseline, not your book</a:t>
            </a:r>
            <a:endParaRPr lang="en-US" sz="2500" dirty="0"/>
          </a:p>
        </p:txBody>
      </p:sp>
      <p:sp>
        <p:nvSpPr>
          <p:cNvPr id="5" name="Title under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88136"/>
            <a:ext cx="566928" cy="32004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6" name="Text 4"/>
          <p:cNvSpPr/>
          <p:nvPr/>
        </p:nvSpPr>
        <p:spPr>
          <a:xfrm>
            <a:off x="502920" y="113385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single most misunderstood message in RALF.</a:t>
            </a:r>
            <a:endParaRPr lang="en-US" sz="1200" dirty="0"/>
          </a:p>
        </p:txBody>
      </p:sp>
      <p:sp>
        <p:nvSpPr>
          <p:cNvPr id="7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791456"/>
            <a:ext cx="8138160" cy="18288"/>
          </a:xfrm>
          <a:prstGeom prst="rect">
            <a:avLst/>
          </a:prstGeom>
          <a:solidFill>
            <a:srgbClr val="36424B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8" name="Text 6"/>
          <p:cNvSpPr/>
          <p:nvPr/>
        </p:nvSpPr>
        <p:spPr>
          <a:xfrm>
            <a:off x="502920" y="48280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575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EduMatcher  ·  RALF post-trade protocol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43800" y="48280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575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</a:t>
            </a:r>
            <a:endParaRPr lang="en-US" sz="850" dirty="0"/>
          </a:p>
        </p:txBody>
      </p:sp>
      <p:sp>
        <p:nvSpPr>
          <p:cNvPr id="10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36192"/>
            <a:ext cx="3941064" cy="1417320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1" name="Card 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36192"/>
            <a:ext cx="3941064" cy="50292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2" name="Glyph ti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2376" y="175564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32C33"/>
          </a:solidFill>
          <a:ln w="13970">
            <a:solidFill>
              <a:srgbClr val="3DD68C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Text 11"/>
          <p:cNvSpPr/>
          <p:nvPr/>
        </p:nvSpPr>
        <p:spPr>
          <a:xfrm>
            <a:off x="722376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092" dirty="0"/>
          </a:p>
        </p:txBody>
      </p:sp>
      <p:sp>
        <p:nvSpPr>
          <p:cNvPr id="14" name="Text 12"/>
          <p:cNvSpPr/>
          <p:nvPr/>
        </p:nvSpPr>
        <p:spPr>
          <a:xfrm>
            <a:off x="1216152" y="1755648"/>
            <a:ext cx="3026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IT IS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22376" y="2267712"/>
            <a:ext cx="3502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sequence baseline. It tells you the number your stream is currently at, so you know what to expect next.</a:t>
            </a:r>
            <a:endParaRPr lang="en-US" sz="1050" dirty="0"/>
          </a:p>
        </p:txBody>
      </p:sp>
      <p:sp>
        <p:nvSpPr>
          <p:cNvPr id="16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0016" y="1536192"/>
            <a:ext cx="3941064" cy="1417320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7" name="Card 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0016" y="1536192"/>
            <a:ext cx="3941064" cy="50292"/>
          </a:xfrm>
          <a:prstGeom prst="rect">
            <a:avLst/>
          </a:prstGeom>
          <a:solidFill>
            <a:srgbClr val="E8695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8" name="Glyph ti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19472" y="175564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32C33"/>
          </a:solidFill>
          <a:ln w="13970">
            <a:solidFill>
              <a:srgbClr val="E8695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9" name="Text 17"/>
          <p:cNvSpPr/>
          <p:nvPr/>
        </p:nvSpPr>
        <p:spPr>
          <a:xfrm>
            <a:off x="4919472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E86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</a:t>
            </a:r>
            <a:endParaRPr lang="en-US" sz="1092" dirty="0"/>
          </a:p>
        </p:txBody>
      </p:sp>
      <p:sp>
        <p:nvSpPr>
          <p:cNvPr id="20" name="Text 18"/>
          <p:cNvSpPr/>
          <p:nvPr/>
        </p:nvSpPr>
        <p:spPr>
          <a:xfrm>
            <a:off x="5413248" y="1755648"/>
            <a:ext cx="3026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E869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IT IS NOT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919472" y="2267712"/>
            <a:ext cx="3502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state dump. RALF's SNAP carries no book, no positions and no open trades — only CH, SYM, SEQ and TS.</a:t>
            </a:r>
            <a:endParaRPr lang="en-US" sz="1050" dirty="0"/>
          </a:p>
        </p:txBody>
      </p:sp>
      <p:sp>
        <p:nvSpPr>
          <p:cNvPr id="22" name="Wire field blo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200400"/>
            <a:ext cx="599018" cy="402336"/>
          </a:xfrm>
          <a:prstGeom prst="rect">
            <a:avLst/>
          </a:prstGeom>
          <a:solidFill>
            <a:srgbClr val="1F8A5C"/>
          </a:solidFill>
          <a:ln w="7620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3" name="Text 21"/>
          <p:cNvSpPr/>
          <p:nvPr/>
        </p:nvSpPr>
        <p:spPr>
          <a:xfrm>
            <a:off x="502920" y="3200400"/>
            <a:ext cx="59901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EF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SNAP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48056" y="3666744"/>
            <a:ext cx="7087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5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baseline marker</a:t>
            </a:r>
            <a:endParaRPr lang="en-US" sz="750" dirty="0"/>
          </a:p>
        </p:txBody>
      </p:sp>
      <p:sp>
        <p:nvSpPr>
          <p:cNvPr id="25" name="Wire field blo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52230" y="3200400"/>
            <a:ext cx="1647300" cy="402336"/>
          </a:xfrm>
          <a:prstGeom prst="rect">
            <a:avLst/>
          </a:prstGeom>
          <a:solidFill>
            <a:srgbClr val="232C33"/>
          </a:solidFill>
          <a:ln w="7620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6" name="Text 24"/>
          <p:cNvSpPr/>
          <p:nvPr/>
        </p:nvSpPr>
        <p:spPr>
          <a:xfrm>
            <a:off x="1152230" y="3200400"/>
            <a:ext cx="16473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BE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CH=CLEARING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97366" y="3666744"/>
            <a:ext cx="17570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5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channels covered</a:t>
            </a:r>
            <a:endParaRPr lang="en-US" sz="750" dirty="0"/>
          </a:p>
        </p:txBody>
      </p:sp>
      <p:sp>
        <p:nvSpPr>
          <p:cNvPr id="28" name="Wire field blo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49822" y="3200400"/>
            <a:ext cx="748773" cy="402336"/>
          </a:xfrm>
          <a:prstGeom prst="rect">
            <a:avLst/>
          </a:prstGeom>
          <a:solidFill>
            <a:srgbClr val="232C33"/>
          </a:solidFill>
          <a:ln w="7620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9" name="Text 27"/>
          <p:cNvSpPr/>
          <p:nvPr/>
        </p:nvSpPr>
        <p:spPr>
          <a:xfrm>
            <a:off x="2849822" y="3200400"/>
            <a:ext cx="74877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BE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SYM=*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794958" y="3666744"/>
            <a:ext cx="85850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5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symbol scope</a:t>
            </a:r>
            <a:endParaRPr lang="en-US" sz="750" dirty="0"/>
          </a:p>
        </p:txBody>
      </p:sp>
      <p:sp>
        <p:nvSpPr>
          <p:cNvPr id="31" name="Wire field blo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48887" y="3200400"/>
            <a:ext cx="898527" cy="402336"/>
          </a:xfrm>
          <a:prstGeom prst="rect">
            <a:avLst/>
          </a:prstGeom>
          <a:solidFill>
            <a:srgbClr val="1F8A5C"/>
          </a:solidFill>
          <a:ln w="7620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2" name="Text 30"/>
          <p:cNvSpPr/>
          <p:nvPr/>
        </p:nvSpPr>
        <p:spPr>
          <a:xfrm>
            <a:off x="3648887" y="3200400"/>
            <a:ext cx="89852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EF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SEQ=42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594023" y="3666744"/>
            <a:ext cx="10082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5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store this —</a:t>
            </a:r>
            <a:endParaRPr lang="en-US" sz="750" dirty="0"/>
          </a:p>
          <a:p>
            <a:pPr marL="0" indent="0" algn="ctr">
              <a:lnSpc>
                <a:spcPts val="950"/>
              </a:lnSpc>
              <a:buNone/>
            </a:pPr>
            <a:r>
              <a:rPr lang="en-US" sz="75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baseline</a:t>
            </a:r>
            <a:endParaRPr lang="en-US" sz="750" dirty="0"/>
          </a:p>
        </p:txBody>
      </p:sp>
      <p:sp>
        <p:nvSpPr>
          <p:cNvPr id="34" name="Wire field blo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97707" y="3200400"/>
            <a:ext cx="4043373" cy="402336"/>
          </a:xfrm>
          <a:prstGeom prst="rect">
            <a:avLst/>
          </a:prstGeom>
          <a:solidFill>
            <a:srgbClr val="232C33"/>
          </a:solidFill>
          <a:ln w="7620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5" name="Text 33"/>
          <p:cNvSpPr/>
          <p:nvPr/>
        </p:nvSpPr>
        <p:spPr>
          <a:xfrm>
            <a:off x="4597707" y="3200400"/>
            <a:ext cx="404337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BE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TS=2026-06-30T09:30:00.000Z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42843" y="3666744"/>
            <a:ext cx="415310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75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UTC, milliseconds, Z suffix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502920" y="422452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BE8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Store the SEQ per (channel, symbol). Everything you do later — gap detection, replay, reconnection — is measured from it.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502920" y="17373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4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5 OF 6</a:t>
            </a:r>
            <a:endParaRPr lang="en-US" sz="95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EEF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live stream</a:t>
            </a:r>
            <a:endParaRPr lang="en-US" sz="2500" dirty="0"/>
          </a:p>
        </p:txBody>
      </p:sp>
      <p:sp>
        <p:nvSpPr>
          <p:cNvPr id="5" name="Title under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88136"/>
            <a:ext cx="566928" cy="32004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6" name="Text 4"/>
          <p:cNvSpPr/>
          <p:nvPr/>
        </p:nvSpPr>
        <p:spPr>
          <a:xfrm>
            <a:off x="502920" y="113385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 the snapshot, the gateway simply talks. Your job is to keep listening.</a:t>
            </a:r>
            <a:endParaRPr lang="en-US" sz="1200" dirty="0"/>
          </a:p>
        </p:txBody>
      </p:sp>
      <p:sp>
        <p:nvSpPr>
          <p:cNvPr id="7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791456"/>
            <a:ext cx="8138160" cy="18288"/>
          </a:xfrm>
          <a:prstGeom prst="rect">
            <a:avLst/>
          </a:prstGeom>
          <a:solidFill>
            <a:srgbClr val="36424B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8" name="Text 6"/>
          <p:cNvSpPr/>
          <p:nvPr/>
        </p:nvSpPr>
        <p:spPr>
          <a:xfrm>
            <a:off x="502920" y="48280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575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EduMatcher  ·  RALF post-trade protocol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43800" y="48280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575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</a:t>
            </a:r>
            <a:endParaRPr lang="en-US" sz="850" dirty="0"/>
          </a:p>
        </p:txBody>
      </p:sp>
      <p:sp>
        <p:nvSpPr>
          <p:cNvPr id="10" name="Code block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36192"/>
            <a:ext cx="8138160" cy="1874520"/>
          </a:xfrm>
          <a:prstGeom prst="rect">
            <a:avLst/>
          </a:prstGeom>
          <a:solidFill>
            <a:srgbClr val="0D1114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Code block 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36192"/>
            <a:ext cx="41148" cy="1874520"/>
          </a:xfrm>
          <a:prstGeom prst="rect">
            <a:avLst/>
          </a:prstGeom>
          <a:solidFill>
            <a:srgbClr val="1F8A5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2" name="Text 10"/>
          <p:cNvSpPr/>
          <p:nvPr/>
        </p:nvSpPr>
        <p:spPr>
          <a:xfrm>
            <a:off x="685800" y="1655064"/>
            <a:ext cx="7808976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5"/>
              </a:lnSpc>
              <a:buNone/>
            </a:pPr>
            <a:r>
              <a:rPr lang="en-US" sz="950" dirty="0">
                <a:solidFill>
                  <a:srgbClr val="6FA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SNAP|CH=CLEARING|SYM=*|SEQ=0|TS=2026-06-30T09:30:00.000Z</a:t>
            </a:r>
            <a:endParaRPr lang="en-US" sz="950" dirty="0"/>
          </a:p>
          <a:p>
            <a:pPr marL="0" indent="0">
              <a:lnSpc>
                <a:spcPts val="1425"/>
              </a:lnSpc>
              <a:buNone/>
            </a:pPr>
            <a:r>
              <a:rPr lang="en-US" sz="950" dirty="0">
                <a:solidFill>
                  <a:srgbClr val="7BE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EXEC|CH=CLEARING|SYM=AAPL|SEQ=1|TS=...|EXEC_ID=E001|SIDE=BUY|QTY=200|PX=150.12</a:t>
            </a:r>
            <a:endParaRPr lang="en-US" sz="950" dirty="0"/>
          </a:p>
          <a:p>
            <a:pPr marL="0" indent="0">
              <a:lnSpc>
                <a:spcPts val="1425"/>
              </a:lnSpc>
              <a:buNone/>
            </a:pPr>
            <a:r>
              <a:rPr lang="en-US" sz="950" dirty="0">
                <a:solidFill>
                  <a:srgbClr val="7BE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EXEC|CH=CLEARING|SYM=AAPL|SEQ=2|TS=...|EXEC_ID=E002|SIDE=SELL|QTY=100|PX=150.14</a:t>
            </a:r>
            <a:endParaRPr lang="en-US" sz="950" dirty="0"/>
          </a:p>
          <a:p>
            <a:pPr marL="0" indent="0">
              <a:lnSpc>
                <a:spcPts val="1425"/>
              </a:lnSpc>
              <a:buNone/>
            </a:pPr>
            <a:r>
              <a:rPr lang="en-US" sz="950" dirty="0">
                <a:solidFill>
                  <a:srgbClr val="8797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HB|TS=2026-06-30T09:45:00.000Z</a:t>
            </a:r>
            <a:endParaRPr lang="en-US" sz="950" dirty="0"/>
          </a:p>
          <a:p>
            <a:pPr marL="0" indent="0">
              <a:lnSpc>
                <a:spcPts val="1425"/>
              </a:lnSpc>
              <a:buNone/>
            </a:pPr>
            <a:r>
              <a:rPr lang="en-US" sz="950" dirty="0">
                <a:solidFill>
                  <a:srgbClr val="A98B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EOD|CH=CLEARING|SYM=AAPL|SEQ=3|TS=...|TRADE_COUNT=2|EXEC_COUNT=2</a:t>
            </a:r>
            <a:endParaRPr lang="en-US" sz="950" dirty="0"/>
          </a:p>
        </p:txBody>
      </p:sp>
      <p:sp>
        <p:nvSpPr>
          <p:cNvPr id="13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584448"/>
            <a:ext cx="2593848" cy="1024128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4" name="Card accent 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584448"/>
            <a:ext cx="50292" cy="1024128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5" name="Text 13"/>
          <p:cNvSpPr/>
          <p:nvPr/>
        </p:nvSpPr>
        <p:spPr>
          <a:xfrm>
            <a:off x="685800" y="36758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3675888"/>
            <a:ext cx="2228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executed trade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85800" y="3968496"/>
            <a:ext cx="2228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Sent as each match occurs. This is the payload you came for.</a:t>
            </a:r>
            <a:endParaRPr lang="en-US" sz="1000" dirty="0"/>
          </a:p>
        </p:txBody>
      </p:sp>
      <p:sp>
        <p:nvSpPr>
          <p:cNvPr id="18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33928" y="3584448"/>
            <a:ext cx="2593848" cy="1024128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9" name="Card accent 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33928" y="3584448"/>
            <a:ext cx="50292" cy="1024128"/>
          </a:xfrm>
          <a:prstGeom prst="rect">
            <a:avLst/>
          </a:prstGeom>
          <a:solidFill>
            <a:srgbClr val="A98BE0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0" name="Text 18"/>
          <p:cNvSpPr/>
          <p:nvPr/>
        </p:nvSpPr>
        <p:spPr>
          <a:xfrm>
            <a:off x="3416808" y="36758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98B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EOD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16808" y="3675888"/>
            <a:ext cx="2228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End-of-day marker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416808" y="3968496"/>
            <a:ext cx="2228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per symbol, summarising the session's trade counts.</a:t>
            </a:r>
            <a:endParaRPr lang="en-US" sz="1000" dirty="0"/>
          </a:p>
        </p:txBody>
      </p:sp>
      <p:sp>
        <p:nvSpPr>
          <p:cNvPr id="23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64936" y="3584448"/>
            <a:ext cx="2593848" cy="1024128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4" name="Card accent 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64936" y="3584448"/>
            <a:ext cx="50292" cy="1024128"/>
          </a:xfrm>
          <a:prstGeom prst="rect">
            <a:avLst/>
          </a:prstGeom>
          <a:solidFill>
            <a:srgbClr val="8797A2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5" name="Text 23"/>
          <p:cNvSpPr/>
          <p:nvPr/>
        </p:nvSpPr>
        <p:spPr>
          <a:xfrm>
            <a:off x="6147816" y="36758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797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HB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147816" y="3675888"/>
            <a:ext cx="2228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Heartbeat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147816" y="3968496"/>
            <a:ext cx="2228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Sent only when nothing else has been sent. Proof the link is alive.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502920" y="17373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4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6 OF 6</a:t>
            </a:r>
            <a:endParaRPr lang="en-US" sz="95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EEF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Staying alive, and leaving cleanly</a:t>
            </a:r>
            <a:endParaRPr lang="en-US" sz="2500" dirty="0"/>
          </a:p>
        </p:txBody>
      </p:sp>
      <p:sp>
        <p:nvSpPr>
          <p:cNvPr id="5" name="Title under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88136"/>
            <a:ext cx="566928" cy="32004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6" name="Text 4"/>
          <p:cNvSpPr/>
          <p:nvPr/>
        </p:nvSpPr>
        <p:spPr>
          <a:xfrm>
            <a:off x="502920" y="113385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gateway will drop a client that goes quiet or falls behind. Both are avoidable.</a:t>
            </a:r>
            <a:endParaRPr lang="en-US" sz="1200" dirty="0"/>
          </a:p>
        </p:txBody>
      </p:sp>
      <p:sp>
        <p:nvSpPr>
          <p:cNvPr id="7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791456"/>
            <a:ext cx="8138160" cy="18288"/>
          </a:xfrm>
          <a:prstGeom prst="rect">
            <a:avLst/>
          </a:prstGeom>
          <a:solidFill>
            <a:srgbClr val="36424B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8" name="Text 6"/>
          <p:cNvSpPr/>
          <p:nvPr/>
        </p:nvSpPr>
        <p:spPr>
          <a:xfrm>
            <a:off x="502920" y="48280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575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EduMatcher  ·  RALF post-trade protocol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43800" y="48280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575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</a:t>
            </a:r>
            <a:endParaRPr lang="en-US" sz="850" dirty="0"/>
          </a:p>
        </p:txBody>
      </p:sp>
      <p:sp>
        <p:nvSpPr>
          <p:cNvPr id="10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17904"/>
            <a:ext cx="5045659" cy="676656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Card accent 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17904"/>
            <a:ext cx="50292" cy="676656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2" name="Text 10"/>
          <p:cNvSpPr/>
          <p:nvPr/>
        </p:nvSpPr>
        <p:spPr>
          <a:xfrm>
            <a:off x="722376" y="15727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UNSUB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286000" y="1572768"/>
            <a:ext cx="30339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E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UNSUB|CH=DROP_COPY|SYM=AAPL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22376" y="1865376"/>
            <a:ext cx="460674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Removes matching pairs. Idempotent — sending it twice is harmless.</a:t>
            </a:r>
            <a:endParaRPr lang="en-US" sz="950" dirty="0"/>
          </a:p>
        </p:txBody>
      </p:sp>
      <p:sp>
        <p:nvSpPr>
          <p:cNvPr id="15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304288"/>
            <a:ext cx="5045659" cy="676656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6" name="Card accent 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304288"/>
            <a:ext cx="50292" cy="676656"/>
          </a:xfrm>
          <a:prstGeom prst="rect">
            <a:avLst/>
          </a:prstGeom>
          <a:solidFill>
            <a:srgbClr val="6FA8D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7" name="Text 15"/>
          <p:cNvSpPr/>
          <p:nvPr/>
        </p:nvSpPr>
        <p:spPr>
          <a:xfrm>
            <a:off x="722376" y="23591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FA8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PING / PONG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286000" y="2359152"/>
            <a:ext cx="30339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E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PING  →  PONG|TS=...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22376" y="2651760"/>
            <a:ext cx="460674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liveness probe. Also counts as inbound traffic, which resets the idle timer.</a:t>
            </a:r>
            <a:endParaRPr lang="en-US" sz="950" dirty="0"/>
          </a:p>
        </p:txBody>
      </p:sp>
      <p:sp>
        <p:nvSpPr>
          <p:cNvPr id="20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090672"/>
            <a:ext cx="5045659" cy="676656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1" name="Card accent 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090672"/>
            <a:ext cx="50292" cy="676656"/>
          </a:xfrm>
          <a:prstGeom prst="rect">
            <a:avLst/>
          </a:prstGeom>
          <a:solidFill>
            <a:srgbClr val="A98BE0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2" name="Text 20"/>
          <p:cNvSpPr/>
          <p:nvPr/>
        </p:nvSpPr>
        <p:spPr>
          <a:xfrm>
            <a:off x="722376" y="314553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98B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286000" y="3145536"/>
            <a:ext cx="30339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E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EXIT|REASON=idle_timeout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22376" y="3438144"/>
            <a:ext cx="460674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Either side can end the session. The gateway sends it with a reason.</a:t>
            </a:r>
            <a:endParaRPr lang="en-US" sz="950" dirty="0"/>
          </a:p>
        </p:txBody>
      </p:sp>
      <p:sp>
        <p:nvSpPr>
          <p:cNvPr id="25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52033" y="1517904"/>
            <a:ext cx="2889047" cy="2249424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6" name="Card 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52033" y="1517904"/>
            <a:ext cx="2889047" cy="50292"/>
          </a:xfrm>
          <a:prstGeom prst="rect">
            <a:avLst/>
          </a:prstGeom>
          <a:solidFill>
            <a:srgbClr val="E8B44A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7" name="Text 25"/>
          <p:cNvSpPr/>
          <p:nvPr/>
        </p:nvSpPr>
        <p:spPr>
          <a:xfrm>
            <a:off x="5752033" y="1664208"/>
            <a:ext cx="288904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40" dirty="0">
                <a:solidFill>
                  <a:srgbClr val="E8B4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THREE CLOCKS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880049" y="201168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6FA8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032193" y="2011680"/>
            <a:ext cx="14717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heartbeat interval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80049" y="2578608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E869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032193" y="2578608"/>
            <a:ext cx="14717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idle timeout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880049" y="314553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A98B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10 000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032193" y="3145536"/>
            <a:ext cx="14717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max queued messages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880049" y="3493008"/>
            <a:ext cx="26330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575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Defaults — the first two are advertised in WELCOME.</a:t>
            </a:r>
            <a:endParaRPr lang="en-US" sz="850" dirty="0"/>
          </a:p>
        </p:txBody>
      </p:sp>
      <p:sp>
        <p:nvSpPr>
          <p:cNvPr id="35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950208"/>
            <a:ext cx="8138160" cy="621792"/>
          </a:xfrm>
          <a:prstGeom prst="rect">
            <a:avLst/>
          </a:prstGeom>
          <a:solidFill>
            <a:srgbClr val="232C33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6" name="Card accent 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950208"/>
            <a:ext cx="50292" cy="621792"/>
          </a:xfrm>
          <a:prstGeom prst="rect">
            <a:avLst/>
          </a:prstGeom>
          <a:solidFill>
            <a:srgbClr val="E8695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7" name="Text 35"/>
          <p:cNvSpPr/>
          <p:nvPr/>
        </p:nvSpPr>
        <p:spPr>
          <a:xfrm>
            <a:off x="777240" y="3950208"/>
            <a:ext cx="7635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ways to get disconnected: send nothing inbound for the idle timeout, or let your outbound queue overflow (SLOW_CLIENT). Read fast, and ping when idle.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bstract conceptual artwork introducing the section"/>
          <p:cNvPicPr>
            <a:picLocks noChangeAspect="1"/>
          </p:cNvPicPr>
          <p:nvPr/>
        </p:nvPicPr>
        <p:blipFill>
          <a:blip r:embed="rId3"/>
          <a:srcRect l="3788" r="3788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Image scri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E11">
              <a:alpha val="66000"/>
            </a:srgbClr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" name="Left scri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669280" cy="5143500"/>
          </a:xfrm>
          <a:prstGeom prst="rect">
            <a:avLst/>
          </a:prstGeom>
          <a:solidFill>
            <a:srgbClr val="0B0E11">
              <a:alpha val="76000"/>
            </a:srgbClr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5" name="Left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8580" cy="5143500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6" name="Text 3"/>
          <p:cNvSpPr/>
          <p:nvPr/>
        </p:nvSpPr>
        <p:spPr>
          <a:xfrm>
            <a:off x="640080" y="15727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04</a:t>
            </a:r>
            <a:endParaRPr lang="en-US" sz="1250" dirty="0"/>
          </a:p>
        </p:txBody>
      </p:sp>
      <p:sp>
        <p:nvSpPr>
          <p:cNvPr id="7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2148840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EF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information can be sent?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640080" y="306324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channels carry two event families. That is the entire surface area of RALF1 — and it is deliberately small.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502920" y="17373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4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CATEGORIES</a:t>
            </a:r>
            <a:endParaRPr lang="en-US" sz="95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EEF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channels, one source of truth</a:t>
            </a:r>
            <a:endParaRPr lang="en-US" sz="2500" dirty="0"/>
          </a:p>
        </p:txBody>
      </p:sp>
      <p:sp>
        <p:nvSpPr>
          <p:cNvPr id="5" name="Title under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88136"/>
            <a:ext cx="566928" cy="32004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6" name="Text 4"/>
          <p:cNvSpPr/>
          <p:nvPr/>
        </p:nvSpPr>
        <p:spPr>
          <a:xfrm>
            <a:off x="502920" y="113385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same trade appears on more than one channel — each copy with its own sequence number.</a:t>
            </a:r>
            <a:endParaRPr lang="en-US" sz="1200" dirty="0"/>
          </a:p>
        </p:txBody>
      </p:sp>
      <p:sp>
        <p:nvSpPr>
          <p:cNvPr id="7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791456"/>
            <a:ext cx="8138160" cy="18288"/>
          </a:xfrm>
          <a:prstGeom prst="rect">
            <a:avLst/>
          </a:prstGeom>
          <a:solidFill>
            <a:srgbClr val="36424B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8" name="Text 6"/>
          <p:cNvSpPr/>
          <p:nvPr/>
        </p:nvSpPr>
        <p:spPr>
          <a:xfrm>
            <a:off x="502920" y="48280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575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EduMatcher  ·  RALF post-trade protocol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43800" y="48280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575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</a:t>
            </a:r>
            <a:endParaRPr lang="en-US" sz="850" dirty="0"/>
          </a:p>
        </p:txBody>
      </p:sp>
      <p:sp>
        <p:nvSpPr>
          <p:cNvPr id="10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130552"/>
            <a:ext cx="1600200" cy="731520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1" name="Card 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130552"/>
            <a:ext cx="1600200" cy="50292"/>
          </a:xfrm>
          <a:prstGeom prst="rect">
            <a:avLst/>
          </a:prstGeom>
          <a:solidFill>
            <a:srgbClr val="6FA8D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2" name="Text 10"/>
          <p:cNvSpPr/>
          <p:nvPr/>
        </p:nvSpPr>
        <p:spPr>
          <a:xfrm>
            <a:off x="502920" y="2130552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EEF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trade</a:t>
            </a:r>
            <a:endParaRPr lang="en-US" sz="11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EEF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executes</a:t>
            </a:r>
            <a:endParaRPr lang="en-US" sz="1100" dirty="0"/>
          </a:p>
        </p:txBody>
      </p:sp>
      <p:sp>
        <p:nvSpPr>
          <p:cNvPr id="13" name="Connector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67128" y="2450592"/>
            <a:ext cx="566928" cy="18288"/>
          </a:xfrm>
          <a:prstGeom prst="rect">
            <a:avLst/>
          </a:prstGeom>
          <a:solidFill>
            <a:srgbClr val="36424B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4" name="Flow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14600" y="1947672"/>
            <a:ext cx="274320" cy="91440"/>
          </a:xfrm>
          <a:prstGeom prst="rightArrow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5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80360" y="1627632"/>
            <a:ext cx="5760720" cy="713232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6" name="Card accent 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80360" y="1627632"/>
            <a:ext cx="50292" cy="713232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7" name="Text 15"/>
          <p:cNvSpPr/>
          <p:nvPr/>
        </p:nvSpPr>
        <p:spPr>
          <a:xfrm>
            <a:off x="3108960" y="1627632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CLEARING</a:t>
            </a:r>
            <a:endParaRPr lang="en-US" sz="1200" dirty="0"/>
          </a:p>
        </p:txBody>
      </p:sp>
      <p:sp>
        <p:nvSpPr>
          <p:cNvPr id="18" name="Pill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17720" y="1847088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0D1114"/>
          </a:solidFill>
          <a:ln w="9525">
            <a:solidFill>
              <a:srgbClr val="3DD68C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9" name="Text 17"/>
          <p:cNvSpPr/>
          <p:nvPr/>
        </p:nvSpPr>
        <p:spPr>
          <a:xfrm>
            <a:off x="4617720" y="184708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 + EOD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806440" y="162763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consumer: clearing and reconciliation systems</a:t>
            </a:r>
            <a:endParaRPr lang="en-US" sz="950" dirty="0"/>
          </a:p>
        </p:txBody>
      </p:sp>
      <p:sp>
        <p:nvSpPr>
          <p:cNvPr id="21" name="Connector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67128" y="3291840"/>
            <a:ext cx="566928" cy="18288"/>
          </a:xfrm>
          <a:prstGeom prst="rect">
            <a:avLst/>
          </a:prstGeom>
          <a:solidFill>
            <a:srgbClr val="36424B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2" name="Flow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14600" y="2788920"/>
            <a:ext cx="274320" cy="91440"/>
          </a:xfrm>
          <a:prstGeom prst="rightArrow">
            <a:avLst/>
          </a:prstGeom>
          <a:solidFill>
            <a:srgbClr val="A98BE0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3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80360" y="2468880"/>
            <a:ext cx="5760720" cy="713232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4" name="Card accent 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80360" y="2468880"/>
            <a:ext cx="50292" cy="713232"/>
          </a:xfrm>
          <a:prstGeom prst="rect">
            <a:avLst/>
          </a:prstGeom>
          <a:solidFill>
            <a:srgbClr val="A98BE0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5" name="Text 23"/>
          <p:cNvSpPr/>
          <p:nvPr/>
        </p:nvSpPr>
        <p:spPr>
          <a:xfrm>
            <a:off x="3108960" y="2468880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98B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DROP_COPY</a:t>
            </a:r>
            <a:endParaRPr lang="en-US" sz="1200" dirty="0"/>
          </a:p>
        </p:txBody>
      </p:sp>
      <p:sp>
        <p:nvSpPr>
          <p:cNvPr id="26" name="Pill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17720" y="2688336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0D1114"/>
          </a:solidFill>
          <a:ln w="9525">
            <a:solidFill>
              <a:srgbClr val="A98BE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7" name="Text 25"/>
          <p:cNvSpPr/>
          <p:nvPr/>
        </p:nvSpPr>
        <p:spPr>
          <a:xfrm>
            <a:off x="4617720" y="268833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A98B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 only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806440" y="246888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consumer: risk and compliance drop-copy</a:t>
            </a:r>
            <a:endParaRPr lang="en-US" sz="950" dirty="0"/>
          </a:p>
        </p:txBody>
      </p:sp>
      <p:sp>
        <p:nvSpPr>
          <p:cNvPr id="29" name="Connector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67128" y="4133088"/>
            <a:ext cx="566928" cy="18288"/>
          </a:xfrm>
          <a:prstGeom prst="rect">
            <a:avLst/>
          </a:prstGeom>
          <a:solidFill>
            <a:srgbClr val="36424B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0" name="Flow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14600" y="3630168"/>
            <a:ext cx="274320" cy="91440"/>
          </a:xfrm>
          <a:prstGeom prst="rightArrow">
            <a:avLst/>
          </a:prstGeom>
          <a:solidFill>
            <a:srgbClr val="E8B44A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1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80360" y="3310128"/>
            <a:ext cx="5760720" cy="713232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2" name="Card accent 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80360" y="3310128"/>
            <a:ext cx="50292" cy="713232"/>
          </a:xfrm>
          <a:prstGeom prst="rect">
            <a:avLst/>
          </a:prstGeom>
          <a:solidFill>
            <a:srgbClr val="E8B44A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3" name="Text 31"/>
          <p:cNvSpPr/>
          <p:nvPr/>
        </p:nvSpPr>
        <p:spPr>
          <a:xfrm>
            <a:off x="3108960" y="3310128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B4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</a:t>
            </a:r>
            <a:endParaRPr lang="en-US" sz="1200" dirty="0"/>
          </a:p>
        </p:txBody>
      </p:sp>
      <p:sp>
        <p:nvSpPr>
          <p:cNvPr id="34" name="Pill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17720" y="3529584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0D1114"/>
          </a:solidFill>
          <a:ln w="9525">
            <a:solidFill>
              <a:srgbClr val="E8B44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5" name="Text 33"/>
          <p:cNvSpPr/>
          <p:nvPr/>
        </p:nvSpPr>
        <p:spPr>
          <a:xfrm>
            <a:off x="4617720" y="352958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8B4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 + EOD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806440" y="33101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consumer: audit and surveillance tooling</a:t>
            </a:r>
            <a:endParaRPr lang="en-US" sz="950" dirty="0"/>
          </a:p>
        </p:txBody>
      </p:sp>
      <p:sp>
        <p:nvSpPr>
          <p:cNvPr id="37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114800"/>
            <a:ext cx="8138160" cy="502920"/>
          </a:xfrm>
          <a:prstGeom prst="rect">
            <a:avLst/>
          </a:prstGeom>
          <a:solidFill>
            <a:srgbClr val="232C33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8" name="Card accent 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114800"/>
            <a:ext cx="50292" cy="502920"/>
          </a:xfrm>
          <a:prstGeom prst="rect">
            <a:avLst/>
          </a:prstGeom>
          <a:solidFill>
            <a:srgbClr val="7BE8B8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9" name="Text 37"/>
          <p:cNvSpPr/>
          <p:nvPr/>
        </p:nvSpPr>
        <p:spPr>
          <a:xfrm>
            <a:off x="777240" y="4114800"/>
            <a:ext cx="7635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BE8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channel sends a SNAP on subscribe, and every channel accepts SYM=* for all symbols.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502920" y="17373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4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CHANNEL 1 OF 3</a:t>
            </a:r>
            <a:endParaRPr lang="en-US" sz="95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EEF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CLEARING — the reconciliation feed</a:t>
            </a:r>
            <a:endParaRPr lang="en-US" sz="2500" dirty="0"/>
          </a:p>
        </p:txBody>
      </p:sp>
      <p:sp>
        <p:nvSpPr>
          <p:cNvPr id="5" name="Title under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88136"/>
            <a:ext cx="566928" cy="32004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6" name="Text 4"/>
          <p:cNvSpPr/>
          <p:nvPr/>
        </p:nvSpPr>
        <p:spPr>
          <a:xfrm>
            <a:off x="502920" y="113385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EXEC line per matched trade, plus an EOD summary per symbol at end of day.</a:t>
            </a:r>
            <a:endParaRPr lang="en-US" sz="1200" dirty="0"/>
          </a:p>
        </p:txBody>
      </p:sp>
      <p:sp>
        <p:nvSpPr>
          <p:cNvPr id="7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791456"/>
            <a:ext cx="8138160" cy="18288"/>
          </a:xfrm>
          <a:prstGeom prst="rect">
            <a:avLst/>
          </a:prstGeom>
          <a:solidFill>
            <a:srgbClr val="36424B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8" name="Text 6"/>
          <p:cNvSpPr/>
          <p:nvPr/>
        </p:nvSpPr>
        <p:spPr>
          <a:xfrm>
            <a:off x="502920" y="48280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575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EduMatcher  ·  RALF post-trade protocol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43800" y="48280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575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</a:t>
            </a:r>
            <a:endParaRPr lang="en-US" sz="850" dirty="0"/>
          </a:p>
        </p:txBody>
      </p:sp>
      <p:sp>
        <p:nvSpPr>
          <p:cNvPr id="10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72768"/>
            <a:ext cx="2766974" cy="1572768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1" name="Card 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72768"/>
            <a:ext cx="2766974" cy="50292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2" name="Text 10"/>
          <p:cNvSpPr/>
          <p:nvPr/>
        </p:nvSpPr>
        <p:spPr>
          <a:xfrm>
            <a:off x="704088" y="170078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4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TYPICAL USES</a:t>
            </a:r>
            <a:endParaRPr lang="en-US" sz="850" dirty="0"/>
          </a:p>
        </p:txBody>
      </p:sp>
      <p:sp>
        <p:nvSpPr>
          <p:cNvPr id="13" name="Bullet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2376" y="2121408"/>
            <a:ext cx="82296" cy="82296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4" name="Text 12"/>
          <p:cNvSpPr/>
          <p:nvPr/>
        </p:nvSpPr>
        <p:spPr>
          <a:xfrm>
            <a:off x="923544" y="1993392"/>
            <a:ext cx="21268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Trade reconciliation</a:t>
            </a:r>
            <a:endParaRPr lang="en-US" sz="1000" dirty="0"/>
          </a:p>
        </p:txBody>
      </p:sp>
      <p:sp>
        <p:nvSpPr>
          <p:cNvPr id="15" name="Bullet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2376" y="2487168"/>
            <a:ext cx="82296" cy="82296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6" name="Text 14"/>
          <p:cNvSpPr/>
          <p:nvPr/>
        </p:nvSpPr>
        <p:spPr>
          <a:xfrm>
            <a:off x="923544" y="2359152"/>
            <a:ext cx="21268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Position keeping</a:t>
            </a:r>
            <a:endParaRPr lang="en-US" sz="1000" dirty="0"/>
          </a:p>
        </p:txBody>
      </p:sp>
      <p:sp>
        <p:nvSpPr>
          <p:cNvPr id="17" name="Bullet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2376" y="2852928"/>
            <a:ext cx="82296" cy="82296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8" name="Text 16"/>
          <p:cNvSpPr/>
          <p:nvPr/>
        </p:nvSpPr>
        <p:spPr>
          <a:xfrm>
            <a:off x="923544" y="2724912"/>
            <a:ext cx="21268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Clearing obligation calculation</a:t>
            </a:r>
            <a:endParaRPr lang="en-US" sz="1000" dirty="0"/>
          </a:p>
        </p:txBody>
      </p:sp>
      <p:sp>
        <p:nvSpPr>
          <p:cNvPr id="19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32658" y="1572768"/>
            <a:ext cx="5208422" cy="1572768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0" name="Card 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32658" y="1572768"/>
            <a:ext cx="5208422" cy="50292"/>
          </a:xfrm>
          <a:prstGeom prst="rect">
            <a:avLst/>
          </a:prstGeom>
          <a:solidFill>
            <a:srgbClr val="36424B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1" name="Text 19"/>
          <p:cNvSpPr/>
          <p:nvPr/>
        </p:nvSpPr>
        <p:spPr>
          <a:xfrm>
            <a:off x="3633826" y="170078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4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TO SUBSCRIBE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633826" y="1956816"/>
            <a:ext cx="48060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SUB|CH=CLEARING|SYM=*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33826" y="2395728"/>
            <a:ext cx="48060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gateway replies immediately with a SNAP baseline, then streams events as they occur.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32918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4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THE WIRE</a:t>
            </a:r>
            <a:endParaRPr lang="en-US" sz="850" dirty="0"/>
          </a:p>
        </p:txBody>
      </p:sp>
      <p:sp>
        <p:nvSpPr>
          <p:cNvPr id="25" name="Code block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493008"/>
            <a:ext cx="8138160" cy="1005840"/>
          </a:xfrm>
          <a:prstGeom prst="rect">
            <a:avLst/>
          </a:prstGeom>
          <a:solidFill>
            <a:srgbClr val="0D1114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6" name="Code block 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493008"/>
            <a:ext cx="41148" cy="1005840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7" name="Text 25"/>
          <p:cNvSpPr/>
          <p:nvPr/>
        </p:nvSpPr>
        <p:spPr>
          <a:xfrm>
            <a:off x="685800" y="3611880"/>
            <a:ext cx="780897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75"/>
              </a:lnSpc>
              <a:buNone/>
            </a:pPr>
            <a:r>
              <a:rPr lang="en-US" sz="850" dirty="0">
                <a:solidFill>
                  <a:srgbClr val="6FA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SNAP|CH=CLEARING|SYM=*|SEQ=0|TS=2026-06-30T09:30:00.000Z</a:t>
            </a:r>
            <a:endParaRPr lang="en-US" sz="850" dirty="0"/>
          </a:p>
          <a:p>
            <a:pPr marL="0" indent="0">
              <a:lnSpc>
                <a:spcPts val="1275"/>
              </a:lnSpc>
              <a:buNone/>
            </a:pPr>
            <a:r>
              <a:rPr lang="en-US" sz="850" dirty="0">
                <a:solidFill>
                  <a:srgbClr val="7BE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EXEC|CH=CLEARING|SYM=AAPL|SEQ=1|EXEC_ID=E001|BUY_GW=gw01|SELL_GW=gw01|SIDE=BUY|QTY=200|PX=150.12</a:t>
            </a:r>
            <a:endParaRPr lang="en-US" sz="850" dirty="0"/>
          </a:p>
          <a:p>
            <a:pPr marL="0" indent="0">
              <a:lnSpc>
                <a:spcPts val="1275"/>
              </a:lnSpc>
              <a:buNone/>
            </a:pPr>
            <a:r>
              <a:rPr lang="en-US" sz="850" dirty="0">
                <a:solidFill>
                  <a:srgbClr val="7BE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EXEC|CH=CLEARING|SYM=AAPL|SEQ=2|EXEC_ID=E002|BUY_GW=gw01|SELL_GW=gw02|SIDE=SELL|QTY=100|PX=150.14</a:t>
            </a:r>
            <a:endParaRPr lang="en-US" sz="850" dirty="0"/>
          </a:p>
          <a:p>
            <a:pPr marL="0" indent="0">
              <a:lnSpc>
                <a:spcPts val="1275"/>
              </a:lnSpc>
              <a:buNone/>
            </a:pPr>
            <a:r>
              <a:rPr lang="en-US" sz="850" dirty="0">
                <a:solidFill>
                  <a:srgbClr val="A98B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EOD |CH=CLEARING|SYM=AAPL|SEQ=3|TRADE_COUNT=2|EXEC_COUNT=2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02920" y="4553712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is the channel to start with. If you are building a back-office integration, CLEARING is almost certainly what you want.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502920" y="17373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4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CHANNEL 2 OF 3</a:t>
            </a:r>
            <a:endParaRPr lang="en-US" sz="95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EEF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DROP_COPY — the real-time risk feed</a:t>
            </a:r>
            <a:endParaRPr lang="en-US" sz="2500" dirty="0"/>
          </a:p>
        </p:txBody>
      </p:sp>
      <p:sp>
        <p:nvSpPr>
          <p:cNvPr id="5" name="Title under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88136"/>
            <a:ext cx="566928" cy="32004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6" name="Text 4"/>
          <p:cNvSpPr/>
          <p:nvPr/>
        </p:nvSpPr>
        <p:spPr>
          <a:xfrm>
            <a:off x="502920" y="113385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same EXEC events, aimed at systems that must react to fills as they happen.</a:t>
            </a:r>
            <a:endParaRPr lang="en-US" sz="1200" dirty="0"/>
          </a:p>
        </p:txBody>
      </p:sp>
      <p:sp>
        <p:nvSpPr>
          <p:cNvPr id="7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791456"/>
            <a:ext cx="8138160" cy="18288"/>
          </a:xfrm>
          <a:prstGeom prst="rect">
            <a:avLst/>
          </a:prstGeom>
          <a:solidFill>
            <a:srgbClr val="36424B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8" name="Text 6"/>
          <p:cNvSpPr/>
          <p:nvPr/>
        </p:nvSpPr>
        <p:spPr>
          <a:xfrm>
            <a:off x="502920" y="48280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575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EduMatcher  ·  RALF post-trade protocol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43800" y="48280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575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</a:t>
            </a:r>
            <a:endParaRPr lang="en-US" sz="850" dirty="0"/>
          </a:p>
        </p:txBody>
      </p:sp>
      <p:sp>
        <p:nvSpPr>
          <p:cNvPr id="10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72768"/>
            <a:ext cx="2766974" cy="1572768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1" name="Card 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72768"/>
            <a:ext cx="2766974" cy="50292"/>
          </a:xfrm>
          <a:prstGeom prst="rect">
            <a:avLst/>
          </a:prstGeom>
          <a:solidFill>
            <a:srgbClr val="A98BE0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2" name="Text 10"/>
          <p:cNvSpPr/>
          <p:nvPr/>
        </p:nvSpPr>
        <p:spPr>
          <a:xfrm>
            <a:off x="704088" y="170078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40" dirty="0">
                <a:solidFill>
                  <a:srgbClr val="A98B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TYPICAL USES</a:t>
            </a:r>
            <a:endParaRPr lang="en-US" sz="850" dirty="0"/>
          </a:p>
        </p:txBody>
      </p:sp>
      <p:sp>
        <p:nvSpPr>
          <p:cNvPr id="13" name="Bullet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2376" y="2121408"/>
            <a:ext cx="82296" cy="82296"/>
          </a:xfrm>
          <a:prstGeom prst="rect">
            <a:avLst/>
          </a:prstGeom>
          <a:solidFill>
            <a:srgbClr val="A98BE0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4" name="Text 12"/>
          <p:cNvSpPr/>
          <p:nvPr/>
        </p:nvSpPr>
        <p:spPr>
          <a:xfrm>
            <a:off x="923544" y="1993392"/>
            <a:ext cx="21268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position risk</a:t>
            </a:r>
            <a:endParaRPr lang="en-US" sz="1000" dirty="0"/>
          </a:p>
        </p:txBody>
      </p:sp>
      <p:sp>
        <p:nvSpPr>
          <p:cNvPr id="15" name="Bullet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2376" y="2487168"/>
            <a:ext cx="82296" cy="82296"/>
          </a:xfrm>
          <a:prstGeom prst="rect">
            <a:avLst/>
          </a:prstGeom>
          <a:solidFill>
            <a:srgbClr val="A98BE0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6" name="Text 14"/>
          <p:cNvSpPr/>
          <p:nvPr/>
        </p:nvSpPr>
        <p:spPr>
          <a:xfrm>
            <a:off x="923544" y="2359152"/>
            <a:ext cx="21268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Pre-trade limit monitoring</a:t>
            </a:r>
            <a:endParaRPr lang="en-US" sz="1000" dirty="0"/>
          </a:p>
        </p:txBody>
      </p:sp>
      <p:sp>
        <p:nvSpPr>
          <p:cNvPr id="17" name="Bullet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2376" y="2852928"/>
            <a:ext cx="82296" cy="82296"/>
          </a:xfrm>
          <a:prstGeom prst="rect">
            <a:avLst/>
          </a:prstGeom>
          <a:solidFill>
            <a:srgbClr val="A98BE0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8" name="Text 16"/>
          <p:cNvSpPr/>
          <p:nvPr/>
        </p:nvSpPr>
        <p:spPr>
          <a:xfrm>
            <a:off x="923544" y="2724912"/>
            <a:ext cx="21268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Compliance surveillance</a:t>
            </a:r>
            <a:endParaRPr lang="en-US" sz="1000" dirty="0"/>
          </a:p>
        </p:txBody>
      </p:sp>
      <p:sp>
        <p:nvSpPr>
          <p:cNvPr id="19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32658" y="1572768"/>
            <a:ext cx="5208422" cy="1572768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0" name="Card 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32658" y="1572768"/>
            <a:ext cx="5208422" cy="50292"/>
          </a:xfrm>
          <a:prstGeom prst="rect">
            <a:avLst/>
          </a:prstGeom>
          <a:solidFill>
            <a:srgbClr val="36424B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1" name="Text 19"/>
          <p:cNvSpPr/>
          <p:nvPr/>
        </p:nvSpPr>
        <p:spPr>
          <a:xfrm>
            <a:off x="3633826" y="170078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4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TO SUBSCRIBE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633826" y="1956816"/>
            <a:ext cx="48060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98B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SUB|CH=DROP_COPY|SYM=AAPL,MSFT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33826" y="2395728"/>
            <a:ext cx="48060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gateway replies immediately with a SNAP baseline, then streams events as they occur.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32918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40" dirty="0">
                <a:solidFill>
                  <a:srgbClr val="A98B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THE WIRE</a:t>
            </a:r>
            <a:endParaRPr lang="en-US" sz="850" dirty="0"/>
          </a:p>
        </p:txBody>
      </p:sp>
      <p:sp>
        <p:nvSpPr>
          <p:cNvPr id="25" name="Code block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493008"/>
            <a:ext cx="8138160" cy="877824"/>
          </a:xfrm>
          <a:prstGeom prst="rect">
            <a:avLst/>
          </a:prstGeom>
          <a:solidFill>
            <a:srgbClr val="0D1114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6" name="Code block 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493008"/>
            <a:ext cx="41148" cy="877824"/>
          </a:xfrm>
          <a:prstGeom prst="rect">
            <a:avLst/>
          </a:prstGeom>
          <a:solidFill>
            <a:srgbClr val="A98BE0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7" name="Text 25"/>
          <p:cNvSpPr/>
          <p:nvPr/>
        </p:nvSpPr>
        <p:spPr>
          <a:xfrm>
            <a:off x="685800" y="3611880"/>
            <a:ext cx="7808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75"/>
              </a:lnSpc>
              <a:buNone/>
            </a:pPr>
            <a:r>
              <a:rPr lang="en-US" sz="850" dirty="0">
                <a:solidFill>
                  <a:srgbClr val="6FA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SNAP|CH=DROP_COPY|SYM=AAPL|SEQ=0|TS=2026-06-30T09:30:00.000Z</a:t>
            </a:r>
            <a:endParaRPr lang="en-US" sz="850" dirty="0"/>
          </a:p>
          <a:p>
            <a:pPr marL="0" indent="0">
              <a:lnSpc>
                <a:spcPts val="1275"/>
              </a:lnSpc>
              <a:buNone/>
            </a:pPr>
            <a:r>
              <a:rPr lang="en-US" sz="850" dirty="0">
                <a:solidFill>
                  <a:srgbClr val="7BE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EXEC|CH=DROP_COPY|SYM=AAPL|SEQ=1|EXEC_ID=E001|MATCH_ID=E001|BUY_ORDER_ID=O100</a:t>
            </a:r>
            <a:endParaRPr lang="en-US" sz="850" dirty="0"/>
          </a:p>
          <a:p>
            <a:pPr marL="0" indent="0">
              <a:lnSpc>
                <a:spcPts val="1275"/>
              </a:lnSpc>
              <a:buNone/>
            </a:pPr>
            <a:r>
              <a:rPr lang="en-US" sz="850" dirty="0">
                <a:solidFill>
                  <a:srgbClr val="7BE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|SELL_ORDER_ID=O101|BUY_GW=gw01|SELL_GW=gw01|SIDE=BUY|QTY=200|PX=150.12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02920" y="4553712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DROP_COPY carries EXEC only — no EOD. If you need the end-of-day marker as well, use CLEARING or AUDIT.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502920" y="17373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4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CHANNEL 3 OF 3</a:t>
            </a:r>
            <a:endParaRPr lang="en-US" sz="95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EEF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 — the complete trail</a:t>
            </a:r>
            <a:endParaRPr lang="en-US" sz="2500" dirty="0"/>
          </a:p>
        </p:txBody>
      </p:sp>
      <p:sp>
        <p:nvSpPr>
          <p:cNvPr id="5" name="Title under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88136"/>
            <a:ext cx="566928" cy="32004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6" name="Text 4"/>
          <p:cNvSpPr/>
          <p:nvPr/>
        </p:nvSpPr>
        <p:spPr>
          <a:xfrm>
            <a:off x="502920" y="113385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post-trade events, for consumers who must be able to reconstruct the whole day.</a:t>
            </a:r>
            <a:endParaRPr lang="en-US" sz="1200" dirty="0"/>
          </a:p>
        </p:txBody>
      </p:sp>
      <p:sp>
        <p:nvSpPr>
          <p:cNvPr id="7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791456"/>
            <a:ext cx="8138160" cy="18288"/>
          </a:xfrm>
          <a:prstGeom prst="rect">
            <a:avLst/>
          </a:prstGeom>
          <a:solidFill>
            <a:srgbClr val="36424B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8" name="Text 6"/>
          <p:cNvSpPr/>
          <p:nvPr/>
        </p:nvSpPr>
        <p:spPr>
          <a:xfrm>
            <a:off x="502920" y="48280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575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EduMatcher  ·  RALF post-trade protocol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43800" y="48280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575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27</a:t>
            </a:r>
            <a:endParaRPr lang="en-US" sz="850" dirty="0"/>
          </a:p>
        </p:txBody>
      </p:sp>
      <p:sp>
        <p:nvSpPr>
          <p:cNvPr id="10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72768"/>
            <a:ext cx="2766974" cy="1572768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1" name="Card 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72768"/>
            <a:ext cx="2766974" cy="50292"/>
          </a:xfrm>
          <a:prstGeom prst="rect">
            <a:avLst/>
          </a:prstGeom>
          <a:solidFill>
            <a:srgbClr val="E8B44A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2" name="Text 10"/>
          <p:cNvSpPr/>
          <p:nvPr/>
        </p:nvSpPr>
        <p:spPr>
          <a:xfrm>
            <a:off x="704088" y="170078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40" dirty="0">
                <a:solidFill>
                  <a:srgbClr val="E8B4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TYPICAL USES</a:t>
            </a:r>
            <a:endParaRPr lang="en-US" sz="850" dirty="0"/>
          </a:p>
        </p:txBody>
      </p:sp>
      <p:sp>
        <p:nvSpPr>
          <p:cNvPr id="13" name="Bullet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2376" y="2121408"/>
            <a:ext cx="82296" cy="82296"/>
          </a:xfrm>
          <a:prstGeom prst="rect">
            <a:avLst/>
          </a:prstGeom>
          <a:solidFill>
            <a:srgbClr val="E8B44A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4" name="Text 12"/>
          <p:cNvSpPr/>
          <p:nvPr/>
        </p:nvSpPr>
        <p:spPr>
          <a:xfrm>
            <a:off x="923544" y="1993392"/>
            <a:ext cx="21268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Regulatory reporting</a:t>
            </a:r>
            <a:endParaRPr lang="en-US" sz="1000" dirty="0"/>
          </a:p>
        </p:txBody>
      </p:sp>
      <p:sp>
        <p:nvSpPr>
          <p:cNvPr id="15" name="Bullet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2376" y="2487168"/>
            <a:ext cx="82296" cy="82296"/>
          </a:xfrm>
          <a:prstGeom prst="rect">
            <a:avLst/>
          </a:prstGeom>
          <a:solidFill>
            <a:srgbClr val="E8B44A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6" name="Text 14"/>
          <p:cNvSpPr/>
          <p:nvPr/>
        </p:nvSpPr>
        <p:spPr>
          <a:xfrm>
            <a:off x="923544" y="2359152"/>
            <a:ext cx="21268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Trade reconstruction</a:t>
            </a:r>
            <a:endParaRPr lang="en-US" sz="1000" dirty="0"/>
          </a:p>
        </p:txBody>
      </p:sp>
      <p:sp>
        <p:nvSpPr>
          <p:cNvPr id="17" name="Bullet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2376" y="2852928"/>
            <a:ext cx="82296" cy="82296"/>
          </a:xfrm>
          <a:prstGeom prst="rect">
            <a:avLst/>
          </a:prstGeom>
          <a:solidFill>
            <a:srgbClr val="E8B44A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8" name="Text 16"/>
          <p:cNvSpPr/>
          <p:nvPr/>
        </p:nvSpPr>
        <p:spPr>
          <a:xfrm>
            <a:off x="923544" y="2724912"/>
            <a:ext cx="21268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End-of-day audit file generation</a:t>
            </a:r>
            <a:endParaRPr lang="en-US" sz="1000" dirty="0"/>
          </a:p>
        </p:txBody>
      </p:sp>
      <p:sp>
        <p:nvSpPr>
          <p:cNvPr id="19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32658" y="1572768"/>
            <a:ext cx="5208422" cy="1572768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0" name="Card 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32658" y="1572768"/>
            <a:ext cx="5208422" cy="50292"/>
          </a:xfrm>
          <a:prstGeom prst="rect">
            <a:avLst/>
          </a:prstGeom>
          <a:solidFill>
            <a:srgbClr val="36424B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1" name="Text 19"/>
          <p:cNvSpPr/>
          <p:nvPr/>
        </p:nvSpPr>
        <p:spPr>
          <a:xfrm>
            <a:off x="3633826" y="170078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4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TO SUBSCRIBE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633826" y="1956816"/>
            <a:ext cx="48060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B4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SUB|CH=AUDIT|SYM=*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33826" y="2395728"/>
            <a:ext cx="48060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gateway replies immediately with a SNAP baseline, then streams events as they occur.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32918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40" dirty="0">
                <a:solidFill>
                  <a:srgbClr val="E8B4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THE WIRE</a:t>
            </a:r>
            <a:endParaRPr lang="en-US" sz="850" dirty="0"/>
          </a:p>
        </p:txBody>
      </p:sp>
      <p:sp>
        <p:nvSpPr>
          <p:cNvPr id="25" name="Code block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493008"/>
            <a:ext cx="8138160" cy="877824"/>
          </a:xfrm>
          <a:prstGeom prst="rect">
            <a:avLst/>
          </a:prstGeom>
          <a:solidFill>
            <a:srgbClr val="0D1114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6" name="Code block 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493008"/>
            <a:ext cx="41148" cy="877824"/>
          </a:xfrm>
          <a:prstGeom prst="rect">
            <a:avLst/>
          </a:prstGeom>
          <a:solidFill>
            <a:srgbClr val="E8B44A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7" name="Text 25"/>
          <p:cNvSpPr/>
          <p:nvPr/>
        </p:nvSpPr>
        <p:spPr>
          <a:xfrm>
            <a:off x="685800" y="3611880"/>
            <a:ext cx="7808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75"/>
              </a:lnSpc>
              <a:buNone/>
            </a:pPr>
            <a:r>
              <a:rPr lang="en-US" sz="850" dirty="0">
                <a:solidFill>
                  <a:srgbClr val="6FA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SNAP|CH=AUDIT|SYM=*|SEQ=0|TS=2026-06-30T09:30:00.000Z</a:t>
            </a:r>
            <a:endParaRPr lang="en-US" sz="850" dirty="0"/>
          </a:p>
          <a:p>
            <a:pPr marL="0" indent="0">
              <a:lnSpc>
                <a:spcPts val="1275"/>
              </a:lnSpc>
              <a:buNone/>
            </a:pPr>
            <a:r>
              <a:rPr lang="en-US" sz="850" dirty="0">
                <a:solidFill>
                  <a:srgbClr val="7BE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EXEC|CH=AUDIT|SYM=AAPL|SEQ=1|EXEC_ID=E001|SIDE=BUY|QTY=200|PX=150.12</a:t>
            </a:r>
            <a:endParaRPr lang="en-US" sz="850" dirty="0"/>
          </a:p>
          <a:p>
            <a:pPr marL="0" indent="0">
              <a:lnSpc>
                <a:spcPts val="1275"/>
              </a:lnSpc>
              <a:buNone/>
            </a:pPr>
            <a:r>
              <a:rPr lang="en-US" sz="850" dirty="0">
                <a:solidFill>
                  <a:srgbClr val="A98B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EOD |CH=AUDIT|SYM=AAPL|SEQ=2|TRADE_COUNT=1|EXEC_COUNT=1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02920" y="4553712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 is also the only privileged role: a client authenticated as AUDIT may subscribe to any channel, not just its own.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502920" y="17373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4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CONTROL</a:t>
            </a:r>
            <a:endParaRPr lang="en-US" sz="95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EEF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 decide what you may subscribe to</a:t>
            </a:r>
            <a:endParaRPr lang="en-US" sz="2500" dirty="0"/>
          </a:p>
        </p:txBody>
      </p:sp>
      <p:sp>
        <p:nvSpPr>
          <p:cNvPr id="5" name="Title under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88136"/>
            <a:ext cx="566928" cy="32004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6" name="Text 4"/>
          <p:cNvSpPr/>
          <p:nvPr/>
        </p:nvSpPr>
        <p:spPr>
          <a:xfrm>
            <a:off x="502920" y="113385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 and channels share the same three names — but they are not the same thing.</a:t>
            </a:r>
            <a:endParaRPr lang="en-US" sz="1200" dirty="0"/>
          </a:p>
        </p:txBody>
      </p:sp>
      <p:sp>
        <p:nvSpPr>
          <p:cNvPr id="7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791456"/>
            <a:ext cx="8138160" cy="18288"/>
          </a:xfrm>
          <a:prstGeom prst="rect">
            <a:avLst/>
          </a:prstGeom>
          <a:solidFill>
            <a:srgbClr val="36424B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8" name="Text 6"/>
          <p:cNvSpPr/>
          <p:nvPr/>
        </p:nvSpPr>
        <p:spPr>
          <a:xfrm>
            <a:off x="502920" y="48280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575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EduMatcher  ·  RALF post-trade protocol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43800" y="48280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575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28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240280" y="155448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2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CHANNEL →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40280" y="182880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CLEARING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60520" y="182880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98B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DROP_COPY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080760" y="182880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8B4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182880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 ↓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2231136"/>
            <a:ext cx="1645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CLEARING</a:t>
            </a:r>
            <a:endParaRPr lang="en-US" sz="1050" dirty="0"/>
          </a:p>
        </p:txBody>
      </p:sp>
      <p:sp>
        <p:nvSpPr>
          <p:cNvPr id="16" name="Entitlement cell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95144" y="2231136"/>
            <a:ext cx="1810512" cy="493776"/>
          </a:xfrm>
          <a:prstGeom prst="rect">
            <a:avLst/>
          </a:prstGeom>
          <a:solidFill>
            <a:srgbClr val="232C33"/>
          </a:solidFill>
          <a:ln w="15240">
            <a:solidFill>
              <a:srgbClr val="3DD68C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" name="Text 15"/>
          <p:cNvSpPr/>
          <p:nvPr/>
        </p:nvSpPr>
        <p:spPr>
          <a:xfrm>
            <a:off x="2295144" y="2231136"/>
            <a:ext cx="1810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allowed</a:t>
            </a:r>
            <a:endParaRPr lang="en-US" sz="1000" dirty="0"/>
          </a:p>
        </p:txBody>
      </p:sp>
      <p:sp>
        <p:nvSpPr>
          <p:cNvPr id="18" name="Entitlement cell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15384" y="2231136"/>
            <a:ext cx="1810512" cy="493776"/>
          </a:xfrm>
          <a:prstGeom prst="rect">
            <a:avLst/>
          </a:prstGeom>
          <a:solidFill>
            <a:srgbClr val="0D1114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9" name="Text 17"/>
          <p:cNvSpPr/>
          <p:nvPr/>
        </p:nvSpPr>
        <p:spPr>
          <a:xfrm>
            <a:off x="4215384" y="2231136"/>
            <a:ext cx="1810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575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denied</a:t>
            </a:r>
            <a:endParaRPr lang="en-US" sz="1000" dirty="0"/>
          </a:p>
        </p:txBody>
      </p:sp>
      <p:sp>
        <p:nvSpPr>
          <p:cNvPr id="20" name="Entitlement cell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35624" y="2231136"/>
            <a:ext cx="1810512" cy="493776"/>
          </a:xfrm>
          <a:prstGeom prst="rect">
            <a:avLst/>
          </a:prstGeom>
          <a:solidFill>
            <a:srgbClr val="0D1114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1" name="Text 19"/>
          <p:cNvSpPr/>
          <p:nvPr/>
        </p:nvSpPr>
        <p:spPr>
          <a:xfrm>
            <a:off x="6135624" y="2231136"/>
            <a:ext cx="1810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575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denied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2798064"/>
            <a:ext cx="1645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98B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DROP_COPY</a:t>
            </a:r>
            <a:endParaRPr lang="en-US" sz="1050" dirty="0"/>
          </a:p>
        </p:txBody>
      </p:sp>
      <p:sp>
        <p:nvSpPr>
          <p:cNvPr id="23" name="Entitlement cell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95144" y="2798064"/>
            <a:ext cx="1810512" cy="493776"/>
          </a:xfrm>
          <a:prstGeom prst="rect">
            <a:avLst/>
          </a:prstGeom>
          <a:solidFill>
            <a:srgbClr val="0D1114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4" name="Text 22"/>
          <p:cNvSpPr/>
          <p:nvPr/>
        </p:nvSpPr>
        <p:spPr>
          <a:xfrm>
            <a:off x="2295144" y="2798064"/>
            <a:ext cx="1810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575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denied</a:t>
            </a:r>
            <a:endParaRPr lang="en-US" sz="1000" dirty="0"/>
          </a:p>
        </p:txBody>
      </p:sp>
      <p:sp>
        <p:nvSpPr>
          <p:cNvPr id="25" name="Entitlement cell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15384" y="2798064"/>
            <a:ext cx="1810512" cy="493776"/>
          </a:xfrm>
          <a:prstGeom prst="rect">
            <a:avLst/>
          </a:prstGeom>
          <a:solidFill>
            <a:srgbClr val="232C33"/>
          </a:solidFill>
          <a:ln w="15240">
            <a:solidFill>
              <a:srgbClr val="A98BE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6" name="Text 24"/>
          <p:cNvSpPr/>
          <p:nvPr/>
        </p:nvSpPr>
        <p:spPr>
          <a:xfrm>
            <a:off x="4215384" y="2798064"/>
            <a:ext cx="1810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98B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allowed</a:t>
            </a:r>
            <a:endParaRPr lang="en-US" sz="1000" dirty="0"/>
          </a:p>
        </p:txBody>
      </p:sp>
      <p:sp>
        <p:nvSpPr>
          <p:cNvPr id="27" name="Entitlement cell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35624" y="2798064"/>
            <a:ext cx="1810512" cy="493776"/>
          </a:xfrm>
          <a:prstGeom prst="rect">
            <a:avLst/>
          </a:prstGeom>
          <a:solidFill>
            <a:srgbClr val="0D1114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8" name="Text 26"/>
          <p:cNvSpPr/>
          <p:nvPr/>
        </p:nvSpPr>
        <p:spPr>
          <a:xfrm>
            <a:off x="6135624" y="2798064"/>
            <a:ext cx="1810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575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denied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" y="3364992"/>
            <a:ext cx="1645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B4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</a:t>
            </a:r>
            <a:endParaRPr lang="en-US" sz="1050" dirty="0"/>
          </a:p>
        </p:txBody>
      </p:sp>
      <p:sp>
        <p:nvSpPr>
          <p:cNvPr id="30" name="Entitlement cell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95144" y="3364992"/>
            <a:ext cx="1810512" cy="493776"/>
          </a:xfrm>
          <a:prstGeom prst="rect">
            <a:avLst/>
          </a:prstGeom>
          <a:solidFill>
            <a:srgbClr val="232C33"/>
          </a:solidFill>
          <a:ln w="15240">
            <a:solidFill>
              <a:srgbClr val="E8B44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1" name="Text 29"/>
          <p:cNvSpPr/>
          <p:nvPr/>
        </p:nvSpPr>
        <p:spPr>
          <a:xfrm>
            <a:off x="2295144" y="3364992"/>
            <a:ext cx="1810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B4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allowed</a:t>
            </a:r>
            <a:endParaRPr lang="en-US" sz="1000" dirty="0"/>
          </a:p>
        </p:txBody>
      </p:sp>
      <p:sp>
        <p:nvSpPr>
          <p:cNvPr id="32" name="Entitlement cell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15384" y="3364992"/>
            <a:ext cx="1810512" cy="493776"/>
          </a:xfrm>
          <a:prstGeom prst="rect">
            <a:avLst/>
          </a:prstGeom>
          <a:solidFill>
            <a:srgbClr val="232C33"/>
          </a:solidFill>
          <a:ln w="15240">
            <a:solidFill>
              <a:srgbClr val="E8B44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3" name="Text 31"/>
          <p:cNvSpPr/>
          <p:nvPr/>
        </p:nvSpPr>
        <p:spPr>
          <a:xfrm>
            <a:off x="4215384" y="3364992"/>
            <a:ext cx="1810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B4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allowed</a:t>
            </a:r>
            <a:endParaRPr lang="en-US" sz="1000" dirty="0"/>
          </a:p>
        </p:txBody>
      </p:sp>
      <p:sp>
        <p:nvSpPr>
          <p:cNvPr id="34" name="Entitlement cell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35624" y="3364992"/>
            <a:ext cx="1810512" cy="493776"/>
          </a:xfrm>
          <a:prstGeom prst="rect">
            <a:avLst/>
          </a:prstGeom>
          <a:solidFill>
            <a:srgbClr val="232C33"/>
          </a:solidFill>
          <a:ln w="15240">
            <a:solidFill>
              <a:srgbClr val="E8B44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5" name="Text 33"/>
          <p:cNvSpPr/>
          <p:nvPr/>
        </p:nvSpPr>
        <p:spPr>
          <a:xfrm>
            <a:off x="6135624" y="3364992"/>
            <a:ext cx="1810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B4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allowed</a:t>
            </a:r>
            <a:endParaRPr lang="en-US" sz="1000" dirty="0"/>
          </a:p>
        </p:txBody>
      </p:sp>
      <p:sp>
        <p:nvSpPr>
          <p:cNvPr id="36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023360"/>
            <a:ext cx="8138160" cy="603504"/>
          </a:xfrm>
          <a:prstGeom prst="rect">
            <a:avLst/>
          </a:prstGeom>
          <a:solidFill>
            <a:srgbClr val="232C33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7" name="Card accent 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023360"/>
            <a:ext cx="50292" cy="603504"/>
          </a:xfrm>
          <a:prstGeom prst="rect">
            <a:avLst/>
          </a:prstGeom>
          <a:solidFill>
            <a:srgbClr val="E8B44A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8" name="Text 36"/>
          <p:cNvSpPr/>
          <p:nvPr/>
        </p:nvSpPr>
        <p:spPr>
          <a:xfrm>
            <a:off x="777240" y="4023360"/>
            <a:ext cx="7635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 is the privileged role — it may subscribe to any channel. Everyone else is confined to their own. Subscribing outside your entitlement returns ENTITLEMENT_DENIED. Only roles listed in the gateway's allowed_roles may authenticate at all.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502920" y="17373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4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SCOPE</a:t>
            </a:r>
            <a:endParaRPr lang="en-US" sz="95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EEF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RALF1 has exactly two event families</a:t>
            </a:r>
            <a:endParaRPr lang="en-US" sz="2500" dirty="0"/>
          </a:p>
        </p:txBody>
      </p:sp>
      <p:sp>
        <p:nvSpPr>
          <p:cNvPr id="5" name="Title under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88136"/>
            <a:ext cx="566928" cy="32004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6" name="Text 4"/>
          <p:cNvSpPr/>
          <p:nvPr/>
        </p:nvSpPr>
        <p:spPr>
          <a:xfrm>
            <a:off x="502920" y="113385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data line you will ever receive is derived from one of two engine broadcasts.</a:t>
            </a:r>
            <a:endParaRPr lang="en-US" sz="1200" dirty="0"/>
          </a:p>
        </p:txBody>
      </p:sp>
      <p:sp>
        <p:nvSpPr>
          <p:cNvPr id="7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791456"/>
            <a:ext cx="8138160" cy="18288"/>
          </a:xfrm>
          <a:prstGeom prst="rect">
            <a:avLst/>
          </a:prstGeom>
          <a:solidFill>
            <a:srgbClr val="36424B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8" name="Text 6"/>
          <p:cNvSpPr/>
          <p:nvPr/>
        </p:nvSpPr>
        <p:spPr>
          <a:xfrm>
            <a:off x="502920" y="48280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575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EduMatcher  ·  RALF post-trade protocol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43800" y="48280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575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29</a:t>
            </a:r>
            <a:endParaRPr lang="en-US" sz="850" dirty="0"/>
          </a:p>
        </p:txBody>
      </p:sp>
      <p:sp>
        <p:nvSpPr>
          <p:cNvPr id="10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17904"/>
            <a:ext cx="3941064" cy="1600200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1" name="Card 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17904"/>
            <a:ext cx="3941064" cy="50292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2" name="Text 10"/>
          <p:cNvSpPr/>
          <p:nvPr/>
        </p:nvSpPr>
        <p:spPr>
          <a:xfrm>
            <a:off x="704088" y="1664208"/>
            <a:ext cx="3538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20" dirty="0">
                <a:solidFill>
                  <a:srgbClr val="6575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 event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04088" y="1865376"/>
            <a:ext cx="3538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FA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trade.executed</a:t>
            </a:r>
            <a:endParaRPr lang="en-US" sz="1250" dirty="0"/>
          </a:p>
        </p:txBody>
      </p:sp>
      <p:sp>
        <p:nvSpPr>
          <p:cNvPr id="14" name="Flow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7532" y="2194560"/>
            <a:ext cx="118872" cy="256032"/>
          </a:xfrm>
          <a:prstGeom prst="downArrow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5" name="Text 13"/>
          <p:cNvSpPr/>
          <p:nvPr/>
        </p:nvSpPr>
        <p:spPr>
          <a:xfrm>
            <a:off x="1069848" y="21945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becomes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04088" y="2468880"/>
            <a:ext cx="3538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04088" y="2798064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line per executed trade, emitted once per subscribed channel.</a:t>
            </a:r>
            <a:endParaRPr lang="en-US" sz="950" dirty="0"/>
          </a:p>
        </p:txBody>
      </p:sp>
      <p:sp>
        <p:nvSpPr>
          <p:cNvPr id="18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0016" y="1517904"/>
            <a:ext cx="3941064" cy="1600200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9" name="Card 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0016" y="1517904"/>
            <a:ext cx="3941064" cy="50292"/>
          </a:xfrm>
          <a:prstGeom prst="rect">
            <a:avLst/>
          </a:prstGeom>
          <a:solidFill>
            <a:srgbClr val="A98BE0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0" name="Text 18"/>
          <p:cNvSpPr/>
          <p:nvPr/>
        </p:nvSpPr>
        <p:spPr>
          <a:xfrm>
            <a:off x="4901184" y="1664208"/>
            <a:ext cx="3538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20" dirty="0">
                <a:solidFill>
                  <a:srgbClr val="6575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 event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901184" y="1865376"/>
            <a:ext cx="3538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FA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system.eod</a:t>
            </a:r>
            <a:endParaRPr lang="en-US" sz="1250" dirty="0"/>
          </a:p>
        </p:txBody>
      </p:sp>
      <p:sp>
        <p:nvSpPr>
          <p:cNvPr id="22" name="Flow arrow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4628" y="2194560"/>
            <a:ext cx="118872" cy="256032"/>
          </a:xfrm>
          <a:prstGeom prst="downArrow">
            <a:avLst/>
          </a:prstGeom>
          <a:solidFill>
            <a:srgbClr val="A98BE0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3" name="Text 21"/>
          <p:cNvSpPr/>
          <p:nvPr/>
        </p:nvSpPr>
        <p:spPr>
          <a:xfrm>
            <a:off x="5266944" y="21945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becomes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901184" y="2468880"/>
            <a:ext cx="3538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98B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EOD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901184" y="2798064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per-symbol end-of-day marker, emitted on all three channels.</a:t>
            </a:r>
            <a:endParaRPr lang="en-US" sz="950" dirty="0"/>
          </a:p>
        </p:txBody>
      </p:sp>
      <p:sp>
        <p:nvSpPr>
          <p:cNvPr id="26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291840"/>
            <a:ext cx="8138160" cy="1298448"/>
          </a:xfrm>
          <a:prstGeom prst="rect">
            <a:avLst/>
          </a:prstGeom>
          <a:solidFill>
            <a:srgbClr val="0D1114"/>
          </a:solidFill>
          <a:ln w="9525">
            <a:solidFill>
              <a:srgbClr val="36424B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7" name="Card 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291840"/>
            <a:ext cx="8138160" cy="50292"/>
          </a:xfrm>
          <a:prstGeom prst="rect">
            <a:avLst/>
          </a:prstGeom>
          <a:solidFill>
            <a:srgbClr val="657580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8" name="Text 26"/>
          <p:cNvSpPr/>
          <p:nvPr/>
        </p:nvSpPr>
        <p:spPr>
          <a:xfrm>
            <a:off x="758952" y="3419856"/>
            <a:ext cx="7626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6575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IN RALF1 — reserved for future revisions</a:t>
            </a:r>
            <a:endParaRPr lang="en-US" sz="950" dirty="0"/>
          </a:p>
        </p:txBody>
      </p:sp>
      <p:sp>
        <p:nvSpPr>
          <p:cNvPr id="29" name="Pill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8952" y="3749040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0" name="Text 28"/>
          <p:cNvSpPr/>
          <p:nvPr/>
        </p:nvSpPr>
        <p:spPr>
          <a:xfrm>
            <a:off x="758952" y="374904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57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CORRECT</a:t>
            </a:r>
            <a:endParaRPr lang="en-US" sz="1000" dirty="0"/>
          </a:p>
        </p:txBody>
      </p:sp>
      <p:sp>
        <p:nvSpPr>
          <p:cNvPr id="31" name="Pill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76272" y="3749040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2" name="Text 30"/>
          <p:cNvSpPr/>
          <p:nvPr/>
        </p:nvSpPr>
        <p:spPr>
          <a:xfrm>
            <a:off x="2176272" y="374904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57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BUST</a:t>
            </a:r>
            <a:endParaRPr lang="en-US" sz="1000" dirty="0"/>
          </a:p>
        </p:txBody>
      </p:sp>
      <p:sp>
        <p:nvSpPr>
          <p:cNvPr id="33" name="Pill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93592" y="3749040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4" name="Text 32"/>
          <p:cNvSpPr/>
          <p:nvPr/>
        </p:nvSpPr>
        <p:spPr>
          <a:xfrm>
            <a:off x="3593592" y="374904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57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ALLOC</a:t>
            </a:r>
            <a:endParaRPr lang="en-US" sz="1000" dirty="0"/>
          </a:p>
        </p:txBody>
      </p:sp>
      <p:sp>
        <p:nvSpPr>
          <p:cNvPr id="35" name="Pill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10912" y="3749040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6" name="Text 34"/>
          <p:cNvSpPr/>
          <p:nvPr/>
        </p:nvSpPr>
        <p:spPr>
          <a:xfrm>
            <a:off x="5010912" y="374904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57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SETTLE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537960" y="3639312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5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These families will appear only when the corresponding engine events exist. Write your parser so it ignores message types it does not know — that is how you stay forward-compatible.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bstract conceptual artwork introducing the section"/>
          <p:cNvPicPr>
            <a:picLocks noChangeAspect="1"/>
          </p:cNvPicPr>
          <p:nvPr/>
        </p:nvPicPr>
        <p:blipFill>
          <a:blip r:embed="rId3"/>
          <a:srcRect t="7813" b="781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Image scri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E11">
              <a:alpha val="66000"/>
            </a:srgbClr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" name="Left scri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669280" cy="5143500"/>
          </a:xfrm>
          <a:prstGeom prst="rect">
            <a:avLst/>
          </a:prstGeom>
          <a:solidFill>
            <a:srgbClr val="0B0E11">
              <a:alpha val="76000"/>
            </a:srgbClr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5" name="Left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8580" cy="5143500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6" name="Text 3"/>
          <p:cNvSpPr/>
          <p:nvPr/>
        </p:nvSpPr>
        <p:spPr>
          <a:xfrm>
            <a:off x="640080" y="15727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05</a:t>
            </a:r>
            <a:endParaRPr lang="en-US" sz="1250" dirty="0"/>
          </a:p>
        </p:txBody>
      </p:sp>
      <p:sp>
        <p:nvSpPr>
          <p:cNvPr id="7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2148840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EF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structure of the information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640080" y="306324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message per line. A type, then key-value pairs. If you can split a string, you can parse RALF.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502920" y="17373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4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WIRE FORMAT</a:t>
            </a:r>
            <a:endParaRPr lang="en-US" sz="95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EEF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Anatomy of a RALF line</a:t>
            </a:r>
            <a:endParaRPr lang="en-US" sz="2500" dirty="0"/>
          </a:p>
        </p:txBody>
      </p:sp>
      <p:sp>
        <p:nvSpPr>
          <p:cNvPr id="5" name="Title under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88136"/>
            <a:ext cx="566928" cy="32004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6" name="Text 4"/>
          <p:cNvSpPr/>
          <p:nvPr/>
        </p:nvSpPr>
        <p:spPr>
          <a:xfrm>
            <a:off x="502920" y="113385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message — control or data — follows the same shape.</a:t>
            </a:r>
            <a:endParaRPr lang="en-US" sz="1200" dirty="0"/>
          </a:p>
        </p:txBody>
      </p:sp>
      <p:sp>
        <p:nvSpPr>
          <p:cNvPr id="7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791456"/>
            <a:ext cx="8138160" cy="18288"/>
          </a:xfrm>
          <a:prstGeom prst="rect">
            <a:avLst/>
          </a:prstGeom>
          <a:solidFill>
            <a:srgbClr val="36424B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8" name="Text 6"/>
          <p:cNvSpPr/>
          <p:nvPr/>
        </p:nvSpPr>
        <p:spPr>
          <a:xfrm>
            <a:off x="502920" y="48280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575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EduMatcher  ·  RALF post-trade protocol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43800" y="48280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575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31</a:t>
            </a:r>
            <a:endParaRPr lang="en-US" sz="850" dirty="0"/>
          </a:p>
        </p:txBody>
      </p:sp>
      <p:sp>
        <p:nvSpPr>
          <p:cNvPr id="10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17904"/>
            <a:ext cx="8138160" cy="658368"/>
          </a:xfrm>
          <a:prstGeom prst="rect">
            <a:avLst/>
          </a:prstGeom>
          <a:solidFill>
            <a:srgbClr val="0D1114"/>
          </a:solidFill>
          <a:ln w="9525">
            <a:solidFill>
              <a:srgbClr val="3DD68C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Text 9"/>
          <p:cNvSpPr/>
          <p:nvPr/>
        </p:nvSpPr>
        <p:spPr>
          <a:xfrm>
            <a:off x="502920" y="1517904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EF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MSGTYPE</a:t>
            </a:r>
            <a:r>
              <a:rPr lang="en-US" sz="190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r>
              <a:rPr lang="en-US" sz="1900" dirty="0">
                <a:solidFill>
                  <a:srgbClr val="7BE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KEY=VALUE</a:t>
            </a:r>
            <a:r>
              <a:rPr lang="en-US" sz="190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r>
              <a:rPr lang="en-US" sz="1900" dirty="0">
                <a:solidFill>
                  <a:srgbClr val="7BE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KEY=VALUE</a:t>
            </a:r>
            <a:r>
              <a:rPr lang="en-US" sz="190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r>
              <a:rPr lang="en-US" sz="1900" dirty="0">
                <a:solidFill>
                  <a:srgbClr val="8797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r>
              <a:rPr lang="en-US" sz="1900" b="1" dirty="0">
                <a:solidFill>
                  <a:srgbClr val="E8B4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\n</a:t>
            </a:r>
            <a:endParaRPr lang="en-US" sz="1900" dirty="0"/>
          </a:p>
        </p:txBody>
      </p:sp>
      <p:sp>
        <p:nvSpPr>
          <p:cNvPr id="12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377440"/>
            <a:ext cx="3941064" cy="859536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Card accent 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377440"/>
            <a:ext cx="50292" cy="859536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4" name="Text 12"/>
          <p:cNvSpPr/>
          <p:nvPr/>
        </p:nvSpPr>
        <p:spPr>
          <a:xfrm>
            <a:off x="722376" y="2468880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type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22376" y="2743200"/>
            <a:ext cx="3502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Uppercase ASCII only — letters, digits and underscore. Always the first token on the line.</a:t>
            </a:r>
            <a:endParaRPr lang="en-US" sz="1000" dirty="0"/>
          </a:p>
        </p:txBody>
      </p:sp>
      <p:sp>
        <p:nvSpPr>
          <p:cNvPr id="16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0016" y="2377440"/>
            <a:ext cx="3941064" cy="859536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" name="Card accent 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0016" y="2377440"/>
            <a:ext cx="50292" cy="859536"/>
          </a:xfrm>
          <a:prstGeom prst="rect">
            <a:avLst/>
          </a:prstGeom>
          <a:solidFill>
            <a:srgbClr val="6FA8D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8" name="Text 16"/>
          <p:cNvSpPr/>
          <p:nvPr/>
        </p:nvSpPr>
        <p:spPr>
          <a:xfrm>
            <a:off x="4919472" y="2468880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FA8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separator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919472" y="2743200"/>
            <a:ext cx="3502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Fields are separated by a pipe. Values never contain a pipe or a newline.</a:t>
            </a:r>
            <a:endParaRPr lang="en-US" sz="1000" dirty="0"/>
          </a:p>
        </p:txBody>
      </p:sp>
      <p:sp>
        <p:nvSpPr>
          <p:cNvPr id="20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346704"/>
            <a:ext cx="3941064" cy="859536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1" name="Card accent 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346704"/>
            <a:ext cx="50292" cy="859536"/>
          </a:xfrm>
          <a:prstGeom prst="rect">
            <a:avLst/>
          </a:prstGeom>
          <a:solidFill>
            <a:srgbClr val="A98BE0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2" name="Text 20"/>
          <p:cNvSpPr/>
          <p:nvPr/>
        </p:nvSpPr>
        <p:spPr>
          <a:xfrm>
            <a:off x="722376" y="3438144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98B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split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22376" y="3712464"/>
            <a:ext cx="3502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field splits into key and value on the FIRST equals sign — later ones belong to the value.</a:t>
            </a:r>
            <a:endParaRPr lang="en-US" sz="1000" dirty="0"/>
          </a:p>
        </p:txBody>
      </p:sp>
      <p:sp>
        <p:nvSpPr>
          <p:cNvPr id="24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0016" y="3346704"/>
            <a:ext cx="3941064" cy="859536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5" name="Card accent 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0016" y="3346704"/>
            <a:ext cx="50292" cy="859536"/>
          </a:xfrm>
          <a:prstGeom prst="rect">
            <a:avLst/>
          </a:prstGeom>
          <a:solidFill>
            <a:srgbClr val="E8B44A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6" name="Text 24"/>
          <p:cNvSpPr/>
          <p:nvPr/>
        </p:nvSpPr>
        <p:spPr>
          <a:xfrm>
            <a:off x="4919472" y="3438144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B4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terminator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919472" y="3712464"/>
            <a:ext cx="3502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single newline ends the message. Nothing else terminates a line.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" y="4352544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BE8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Unknown fields must be ignored, not rejected. That single rule is what lets the protocol grow without breaking your client.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502920" y="17373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4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COMMON FIELDS</a:t>
            </a:r>
            <a:endParaRPr lang="en-US" sz="95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EEF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envelope: four keys on almost every message</a:t>
            </a:r>
            <a:endParaRPr lang="en-US" sz="2500" dirty="0"/>
          </a:p>
        </p:txBody>
      </p:sp>
      <p:sp>
        <p:nvSpPr>
          <p:cNvPr id="5" name="Title under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88136"/>
            <a:ext cx="566928" cy="32004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6" name="Text 4"/>
          <p:cNvSpPr/>
          <p:nvPr/>
        </p:nvSpPr>
        <p:spPr>
          <a:xfrm>
            <a:off x="502920" y="113385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 these once and every RALF message becomes readable.</a:t>
            </a:r>
            <a:endParaRPr lang="en-US" sz="1200" dirty="0"/>
          </a:p>
        </p:txBody>
      </p:sp>
      <p:sp>
        <p:nvSpPr>
          <p:cNvPr id="7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791456"/>
            <a:ext cx="8138160" cy="18288"/>
          </a:xfrm>
          <a:prstGeom prst="rect">
            <a:avLst/>
          </a:prstGeom>
          <a:solidFill>
            <a:srgbClr val="36424B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8" name="Text 6"/>
          <p:cNvSpPr/>
          <p:nvPr/>
        </p:nvSpPr>
        <p:spPr>
          <a:xfrm>
            <a:off x="502920" y="48280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575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EduMatcher  ·  RALF post-trade protocol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43800" y="48280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575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32</a:t>
            </a:r>
            <a:endParaRPr lang="en-US" sz="850" dirty="0"/>
          </a:p>
        </p:txBody>
      </p:sp>
      <p:sp>
        <p:nvSpPr>
          <p:cNvPr id="10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81328"/>
            <a:ext cx="8138160" cy="658368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Card accent 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81328"/>
            <a:ext cx="50292" cy="658368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2" name="Text 10"/>
          <p:cNvSpPr/>
          <p:nvPr/>
        </p:nvSpPr>
        <p:spPr>
          <a:xfrm>
            <a:off x="740664" y="1481328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600200" y="1481328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EF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Channel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017520" y="1481328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CLEARING, DROP_COPY or AUDIT. On control messages it is what you asked for; on data messages it is where the event came from.</a:t>
            </a:r>
            <a:endParaRPr lang="en-US" sz="1000" dirty="0"/>
          </a:p>
        </p:txBody>
      </p:sp>
      <p:sp>
        <p:nvSpPr>
          <p:cNvPr id="15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240280"/>
            <a:ext cx="8138160" cy="658368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6" name="Card accent 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240280"/>
            <a:ext cx="50292" cy="658368"/>
          </a:xfrm>
          <a:prstGeom prst="rect">
            <a:avLst/>
          </a:prstGeom>
          <a:solidFill>
            <a:srgbClr val="6FA8D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7" name="Text 15"/>
          <p:cNvSpPr/>
          <p:nvPr/>
        </p:nvSpPr>
        <p:spPr>
          <a:xfrm>
            <a:off x="740664" y="2240280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FA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SYM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600200" y="224028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EF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Symbol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017520" y="2240280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instrument. On control messages it is a filter; on data messages it is the actual symbol. * means all.</a:t>
            </a:r>
            <a:endParaRPr lang="en-US" sz="1000" dirty="0"/>
          </a:p>
        </p:txBody>
      </p:sp>
      <p:sp>
        <p:nvSpPr>
          <p:cNvPr id="20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999232"/>
            <a:ext cx="8138160" cy="658368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1" name="Card accent 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999232"/>
            <a:ext cx="50292" cy="658368"/>
          </a:xfrm>
          <a:prstGeom prst="rect">
            <a:avLst/>
          </a:prstGeom>
          <a:solidFill>
            <a:srgbClr val="A98BE0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2" name="Text 20"/>
          <p:cNvSpPr/>
          <p:nvPr/>
        </p:nvSpPr>
        <p:spPr>
          <a:xfrm>
            <a:off x="740664" y="2999232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A98B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600200" y="299923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EF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Sequence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017520" y="2999232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channel-local counter that increases by exactly one per emitted line. Your gap-detection anchor.</a:t>
            </a:r>
            <a:endParaRPr lang="en-US" sz="1000" dirty="0"/>
          </a:p>
        </p:txBody>
      </p:sp>
      <p:sp>
        <p:nvSpPr>
          <p:cNvPr id="25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758184"/>
            <a:ext cx="8138160" cy="658368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6" name="Card accent 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758184"/>
            <a:ext cx="50292" cy="658368"/>
          </a:xfrm>
          <a:prstGeom prst="rect">
            <a:avLst/>
          </a:prstGeom>
          <a:solidFill>
            <a:srgbClr val="E8B44A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7" name="Text 25"/>
          <p:cNvSpPr/>
          <p:nvPr/>
        </p:nvSpPr>
        <p:spPr>
          <a:xfrm>
            <a:off x="740664" y="3758184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B4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600200" y="3758184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EF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Timestamp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017520" y="3758184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UTC ISO-8601 with milliseconds and a Z suffix — for example 2026-06-30T09:30:01.100Z.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" y="448056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B4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SEQ is per channel — never global. Two channels can both be at SEQ=42 and mean completely different things.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502920" y="17373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4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MESSAGE</a:t>
            </a:r>
            <a:endParaRPr lang="en-US" sz="95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EEF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Inside an EXEC — one executed trade</a:t>
            </a:r>
            <a:endParaRPr lang="en-US" sz="2500" dirty="0"/>
          </a:p>
        </p:txBody>
      </p:sp>
      <p:sp>
        <p:nvSpPr>
          <p:cNvPr id="5" name="Title under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88136"/>
            <a:ext cx="566928" cy="32004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6" name="Text 4"/>
          <p:cNvSpPr/>
          <p:nvPr/>
        </p:nvSpPr>
        <p:spPr>
          <a:xfrm>
            <a:off x="502920" y="113385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envelope, then everything you need to book the trade.</a:t>
            </a:r>
            <a:endParaRPr lang="en-US" sz="1200" dirty="0"/>
          </a:p>
        </p:txBody>
      </p:sp>
      <p:sp>
        <p:nvSpPr>
          <p:cNvPr id="7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791456"/>
            <a:ext cx="8138160" cy="18288"/>
          </a:xfrm>
          <a:prstGeom prst="rect">
            <a:avLst/>
          </a:prstGeom>
          <a:solidFill>
            <a:srgbClr val="36424B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8" name="Text 6"/>
          <p:cNvSpPr/>
          <p:nvPr/>
        </p:nvSpPr>
        <p:spPr>
          <a:xfrm>
            <a:off x="502920" y="48280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575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EduMatcher  ·  RALF post-trade protocol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43800" y="48280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575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33</a:t>
            </a:r>
            <a:endParaRPr lang="en-US" sz="850" dirty="0"/>
          </a:p>
        </p:txBody>
      </p:sp>
      <p:sp>
        <p:nvSpPr>
          <p:cNvPr id="10" name="Wire field blo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54480"/>
            <a:ext cx="418153" cy="365760"/>
          </a:xfrm>
          <a:prstGeom prst="rect">
            <a:avLst/>
          </a:prstGeom>
          <a:solidFill>
            <a:srgbClr val="1F8A5C"/>
          </a:solidFill>
          <a:ln w="7620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Text 9"/>
          <p:cNvSpPr/>
          <p:nvPr/>
        </p:nvSpPr>
        <p:spPr>
          <a:xfrm>
            <a:off x="502920" y="1554480"/>
            <a:ext cx="41815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EF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</a:t>
            </a:r>
            <a:endParaRPr lang="en-US" sz="800" dirty="0"/>
          </a:p>
        </p:txBody>
      </p:sp>
      <p:sp>
        <p:nvSpPr>
          <p:cNvPr id="12" name="Wire field blo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71365" y="1554480"/>
            <a:ext cx="1149920" cy="365760"/>
          </a:xfrm>
          <a:prstGeom prst="rect">
            <a:avLst/>
          </a:prstGeom>
          <a:solidFill>
            <a:srgbClr val="232C33"/>
          </a:solidFill>
          <a:ln w="7620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Text 11"/>
          <p:cNvSpPr/>
          <p:nvPr/>
        </p:nvSpPr>
        <p:spPr>
          <a:xfrm>
            <a:off x="971365" y="1554480"/>
            <a:ext cx="114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BE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CH=CLEARING</a:t>
            </a:r>
            <a:endParaRPr lang="en-US" sz="800" dirty="0"/>
          </a:p>
        </p:txBody>
      </p:sp>
      <p:sp>
        <p:nvSpPr>
          <p:cNvPr id="14" name="Wire field blo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71576" y="1554480"/>
            <a:ext cx="836305" cy="365760"/>
          </a:xfrm>
          <a:prstGeom prst="rect">
            <a:avLst/>
          </a:prstGeom>
          <a:solidFill>
            <a:srgbClr val="232C33"/>
          </a:solidFill>
          <a:ln w="7620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5" name="Text 13"/>
          <p:cNvSpPr/>
          <p:nvPr/>
        </p:nvSpPr>
        <p:spPr>
          <a:xfrm>
            <a:off x="2171576" y="1554480"/>
            <a:ext cx="8363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BE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SYM=AAPL</a:t>
            </a:r>
            <a:endParaRPr lang="en-US" sz="800" dirty="0"/>
          </a:p>
        </p:txBody>
      </p:sp>
      <p:sp>
        <p:nvSpPr>
          <p:cNvPr id="16" name="Wire field blo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58174" y="1554480"/>
            <a:ext cx="522691" cy="365760"/>
          </a:xfrm>
          <a:prstGeom prst="rect">
            <a:avLst/>
          </a:prstGeom>
          <a:solidFill>
            <a:srgbClr val="232C33"/>
          </a:solidFill>
          <a:ln w="7620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" name="Text 15"/>
          <p:cNvSpPr/>
          <p:nvPr/>
        </p:nvSpPr>
        <p:spPr>
          <a:xfrm>
            <a:off x="3058174" y="1554480"/>
            <a:ext cx="52269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BE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SEQ=1</a:t>
            </a:r>
            <a:endParaRPr lang="en-US" sz="800" dirty="0"/>
          </a:p>
        </p:txBody>
      </p:sp>
      <p:sp>
        <p:nvSpPr>
          <p:cNvPr id="18" name="Wire field blo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31157" y="1554480"/>
            <a:ext cx="1045382" cy="365760"/>
          </a:xfrm>
          <a:prstGeom prst="rect">
            <a:avLst/>
          </a:prstGeom>
          <a:solidFill>
            <a:srgbClr val="232C33"/>
          </a:solidFill>
          <a:ln w="7620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9" name="Text 17"/>
          <p:cNvSpPr/>
          <p:nvPr/>
        </p:nvSpPr>
        <p:spPr>
          <a:xfrm>
            <a:off x="3631157" y="1554480"/>
            <a:ext cx="10453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BE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TS=...100Z</a:t>
            </a:r>
            <a:endParaRPr lang="en-US" sz="800" dirty="0"/>
          </a:p>
        </p:txBody>
      </p:sp>
      <p:sp>
        <p:nvSpPr>
          <p:cNvPr id="20" name="Wire field blo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26830" y="1554480"/>
            <a:ext cx="1254458" cy="365760"/>
          </a:xfrm>
          <a:prstGeom prst="rect">
            <a:avLst/>
          </a:prstGeom>
          <a:solidFill>
            <a:srgbClr val="1F8A5C"/>
          </a:solidFill>
          <a:ln w="7620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1" name="Text 19"/>
          <p:cNvSpPr/>
          <p:nvPr/>
        </p:nvSpPr>
        <p:spPr>
          <a:xfrm>
            <a:off x="4726830" y="1554480"/>
            <a:ext cx="12544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EF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EXEC_ID=E001</a:t>
            </a:r>
            <a:endParaRPr lang="en-US" sz="800" dirty="0"/>
          </a:p>
        </p:txBody>
      </p:sp>
      <p:sp>
        <p:nvSpPr>
          <p:cNvPr id="22" name="Wire field blo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31580" y="1554480"/>
            <a:ext cx="836305" cy="365760"/>
          </a:xfrm>
          <a:prstGeom prst="rect">
            <a:avLst/>
          </a:prstGeom>
          <a:solidFill>
            <a:srgbClr val="1F8A5C"/>
          </a:solidFill>
          <a:ln w="7620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3" name="Text 21"/>
          <p:cNvSpPr/>
          <p:nvPr/>
        </p:nvSpPr>
        <p:spPr>
          <a:xfrm>
            <a:off x="6031580" y="1554480"/>
            <a:ext cx="8363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EF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SIDE=BUY</a:t>
            </a:r>
            <a:endParaRPr lang="en-US" sz="800" dirty="0"/>
          </a:p>
        </p:txBody>
      </p:sp>
      <p:sp>
        <p:nvSpPr>
          <p:cNvPr id="24" name="Wire field blo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18177" y="1554480"/>
            <a:ext cx="731767" cy="365760"/>
          </a:xfrm>
          <a:prstGeom prst="rect">
            <a:avLst/>
          </a:prstGeom>
          <a:solidFill>
            <a:srgbClr val="1F8A5C"/>
          </a:solidFill>
          <a:ln w="7620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5" name="Text 23"/>
          <p:cNvSpPr/>
          <p:nvPr/>
        </p:nvSpPr>
        <p:spPr>
          <a:xfrm>
            <a:off x="6918177" y="1554480"/>
            <a:ext cx="73176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EF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QTY=200</a:t>
            </a:r>
            <a:endParaRPr lang="en-US" sz="800" dirty="0"/>
          </a:p>
        </p:txBody>
      </p:sp>
      <p:sp>
        <p:nvSpPr>
          <p:cNvPr id="26" name="Wire field blo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00237" y="1554480"/>
            <a:ext cx="940843" cy="365760"/>
          </a:xfrm>
          <a:prstGeom prst="rect">
            <a:avLst/>
          </a:prstGeom>
          <a:solidFill>
            <a:srgbClr val="1F8A5C"/>
          </a:solidFill>
          <a:ln w="7620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7" name="Text 25"/>
          <p:cNvSpPr/>
          <p:nvPr/>
        </p:nvSpPr>
        <p:spPr>
          <a:xfrm>
            <a:off x="7700237" y="1554480"/>
            <a:ext cx="9408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EF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PX=150.12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02920" y="1956816"/>
            <a:ext cx="358079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envelope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572000" y="1956816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payload</a:t>
            </a:r>
            <a:endParaRPr lang="en-US" sz="850" dirty="0"/>
          </a:p>
        </p:txBody>
      </p:sp>
      <p:sp>
        <p:nvSpPr>
          <p:cNvPr id="30" name="Table header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267712"/>
            <a:ext cx="8138160" cy="310896"/>
          </a:xfrm>
          <a:prstGeom prst="rect">
            <a:avLst/>
          </a:prstGeom>
          <a:solidFill>
            <a:srgbClr val="2C363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1" name="Text 29"/>
          <p:cNvSpPr/>
          <p:nvPr/>
        </p:nvSpPr>
        <p:spPr>
          <a:xfrm>
            <a:off x="621792" y="226771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kern="0" spc="10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FIELD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3456432" y="226771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kern="0" spc="10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MEANING</a:t>
            </a:r>
            <a:endParaRPr lang="en-US" sz="820" dirty="0"/>
          </a:p>
        </p:txBody>
      </p:sp>
      <p:sp>
        <p:nvSpPr>
          <p:cNvPr id="33" name="Table 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578608"/>
            <a:ext cx="8138160" cy="283464"/>
          </a:xfrm>
          <a:prstGeom prst="rect">
            <a:avLst/>
          </a:prstGeom>
          <a:solidFill>
            <a:srgbClr val="0D1114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4" name="Text 32"/>
          <p:cNvSpPr/>
          <p:nvPr/>
        </p:nvSpPr>
        <p:spPr>
          <a:xfrm>
            <a:off x="621792" y="2578608"/>
            <a:ext cx="2651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EXEC_ID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456432" y="2578608"/>
            <a:ext cx="5120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execution identifier — the engine's trade id.</a:t>
            </a:r>
            <a:endParaRPr lang="en-US" sz="950" dirty="0"/>
          </a:p>
        </p:txBody>
      </p:sp>
      <p:sp>
        <p:nvSpPr>
          <p:cNvPr id="36" name="Table 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862072"/>
            <a:ext cx="8138160" cy="283464"/>
          </a:xfrm>
          <a:prstGeom prst="rect">
            <a:avLst/>
          </a:prstGeom>
          <a:solidFill>
            <a:srgbClr val="1B2228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7" name="Text 35"/>
          <p:cNvSpPr/>
          <p:nvPr/>
        </p:nvSpPr>
        <p:spPr>
          <a:xfrm>
            <a:off x="621792" y="2862072"/>
            <a:ext cx="2651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MATCH_ID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456432" y="2862072"/>
            <a:ext cx="5120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match identifier. In RALF1 it is always identical to EXEC_ID.</a:t>
            </a:r>
            <a:endParaRPr lang="en-US" sz="950" dirty="0"/>
          </a:p>
        </p:txBody>
      </p:sp>
      <p:sp>
        <p:nvSpPr>
          <p:cNvPr id="39" name="Table 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145536"/>
            <a:ext cx="8138160" cy="283464"/>
          </a:xfrm>
          <a:prstGeom prst="rect">
            <a:avLst/>
          </a:prstGeom>
          <a:solidFill>
            <a:srgbClr val="0D1114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0" name="Text 38"/>
          <p:cNvSpPr/>
          <p:nvPr/>
        </p:nvSpPr>
        <p:spPr>
          <a:xfrm>
            <a:off x="621792" y="3145536"/>
            <a:ext cx="2651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BUY_ORDER_ID / SELL_ORDER_ID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456432" y="3145536"/>
            <a:ext cx="5120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resting and aggressing order identifiers on each side.</a:t>
            </a:r>
            <a:endParaRPr lang="en-US" sz="950" dirty="0"/>
          </a:p>
        </p:txBody>
      </p:sp>
      <p:sp>
        <p:nvSpPr>
          <p:cNvPr id="42" name="Table 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429000"/>
            <a:ext cx="8138160" cy="283464"/>
          </a:xfrm>
          <a:prstGeom prst="rect">
            <a:avLst/>
          </a:prstGeom>
          <a:solidFill>
            <a:srgbClr val="1B2228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3" name="Text 41"/>
          <p:cNvSpPr/>
          <p:nvPr/>
        </p:nvSpPr>
        <p:spPr>
          <a:xfrm>
            <a:off x="621792" y="3429000"/>
            <a:ext cx="2651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BUY_GW / SELL_GW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456432" y="3429000"/>
            <a:ext cx="5120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gateway each side came through — how you attribute the trade to a participant.</a:t>
            </a:r>
            <a:endParaRPr lang="en-US" sz="950" dirty="0"/>
          </a:p>
        </p:txBody>
      </p:sp>
      <p:sp>
        <p:nvSpPr>
          <p:cNvPr id="45" name="Table 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712464"/>
            <a:ext cx="8138160" cy="283464"/>
          </a:xfrm>
          <a:prstGeom prst="rect">
            <a:avLst/>
          </a:prstGeom>
          <a:solidFill>
            <a:srgbClr val="0D1114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6" name="Text 44"/>
          <p:cNvSpPr/>
          <p:nvPr/>
        </p:nvSpPr>
        <p:spPr>
          <a:xfrm>
            <a:off x="621792" y="3712464"/>
            <a:ext cx="2651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456432" y="3712464"/>
            <a:ext cx="5120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aggressor side: BUY or SELL.</a:t>
            </a:r>
            <a:endParaRPr lang="en-US" sz="950" dirty="0"/>
          </a:p>
        </p:txBody>
      </p:sp>
      <p:sp>
        <p:nvSpPr>
          <p:cNvPr id="48" name="Table 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995928"/>
            <a:ext cx="8138160" cy="283464"/>
          </a:xfrm>
          <a:prstGeom prst="rect">
            <a:avLst/>
          </a:prstGeom>
          <a:solidFill>
            <a:srgbClr val="1B2228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9" name="Text 47"/>
          <p:cNvSpPr/>
          <p:nvPr/>
        </p:nvSpPr>
        <p:spPr>
          <a:xfrm>
            <a:off x="621792" y="3995928"/>
            <a:ext cx="2651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QTY  /  PX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3456432" y="3995928"/>
            <a:ext cx="5120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Executed quantity and execution price, in display units.</a:t>
            </a:r>
            <a:endParaRPr lang="en-US" sz="950" dirty="0"/>
          </a:p>
        </p:txBody>
      </p:sp>
      <p:sp>
        <p:nvSpPr>
          <p:cNvPr id="51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352544"/>
            <a:ext cx="8138160" cy="384048"/>
          </a:xfrm>
          <a:prstGeom prst="rect">
            <a:avLst/>
          </a:prstGeom>
          <a:solidFill>
            <a:srgbClr val="232C33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52" name="Card accent 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352544"/>
            <a:ext cx="50292" cy="384048"/>
          </a:xfrm>
          <a:prstGeom prst="rect">
            <a:avLst/>
          </a:prstGeom>
          <a:solidFill>
            <a:srgbClr val="E8B44A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53" name="Text 51"/>
          <p:cNvSpPr/>
          <p:nvPr/>
        </p:nvSpPr>
        <p:spPr>
          <a:xfrm>
            <a:off x="777240" y="4352544"/>
            <a:ext cx="7635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single trade is emitted once per channel — and each copy consumes its own sequence number on that channel.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502920" y="17373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4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MESSAGE</a:t>
            </a:r>
            <a:endParaRPr lang="en-US" sz="95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EEF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EOD, and the small messages around it</a:t>
            </a:r>
            <a:endParaRPr lang="en-US" sz="2500" dirty="0"/>
          </a:p>
        </p:txBody>
      </p:sp>
      <p:sp>
        <p:nvSpPr>
          <p:cNvPr id="5" name="Title under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88136"/>
            <a:ext cx="566928" cy="32004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6" name="Text 4"/>
          <p:cNvSpPr/>
          <p:nvPr/>
        </p:nvSpPr>
        <p:spPr>
          <a:xfrm>
            <a:off x="502920" y="113385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Everything that is not an EXEC is short — and most of it carries only an envelope.</a:t>
            </a:r>
            <a:endParaRPr lang="en-US" sz="1200" dirty="0"/>
          </a:p>
        </p:txBody>
      </p:sp>
      <p:sp>
        <p:nvSpPr>
          <p:cNvPr id="7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791456"/>
            <a:ext cx="8138160" cy="18288"/>
          </a:xfrm>
          <a:prstGeom prst="rect">
            <a:avLst/>
          </a:prstGeom>
          <a:solidFill>
            <a:srgbClr val="36424B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8" name="Text 6"/>
          <p:cNvSpPr/>
          <p:nvPr/>
        </p:nvSpPr>
        <p:spPr>
          <a:xfrm>
            <a:off x="502920" y="48280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575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EduMatcher  ·  RALF post-trade protocol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43800" y="48280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575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34</a:t>
            </a:r>
            <a:endParaRPr lang="en-US" sz="850" dirty="0"/>
          </a:p>
        </p:txBody>
      </p:sp>
      <p:sp>
        <p:nvSpPr>
          <p:cNvPr id="10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17904"/>
            <a:ext cx="4231843" cy="1627632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1" name="Card 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17904"/>
            <a:ext cx="4231843" cy="50292"/>
          </a:xfrm>
          <a:prstGeom prst="rect">
            <a:avLst/>
          </a:prstGeom>
          <a:solidFill>
            <a:srgbClr val="A98BE0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2" name="Text 10"/>
          <p:cNvSpPr/>
          <p:nvPr/>
        </p:nvSpPr>
        <p:spPr>
          <a:xfrm>
            <a:off x="722376" y="1664208"/>
            <a:ext cx="37929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98B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EOD — end of day, per symbol</a:t>
            </a:r>
            <a:endParaRPr lang="en-US" sz="1150" dirty="0"/>
          </a:p>
        </p:txBody>
      </p:sp>
      <p:sp>
        <p:nvSpPr>
          <p:cNvPr id="13" name="Code block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2376" y="1975104"/>
            <a:ext cx="3792931" cy="475488"/>
          </a:xfrm>
          <a:prstGeom prst="rect">
            <a:avLst/>
          </a:prstGeom>
          <a:solidFill>
            <a:srgbClr val="0D1114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4" name="Code block 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2376" y="1975104"/>
            <a:ext cx="41148" cy="475488"/>
          </a:xfrm>
          <a:prstGeom prst="rect">
            <a:avLst/>
          </a:prstGeom>
          <a:solidFill>
            <a:srgbClr val="A98BE0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5" name="Text 13"/>
          <p:cNvSpPr/>
          <p:nvPr/>
        </p:nvSpPr>
        <p:spPr>
          <a:xfrm>
            <a:off x="905256" y="2093976"/>
            <a:ext cx="346374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08"/>
              </a:lnSpc>
              <a:buNone/>
            </a:pPr>
            <a:r>
              <a:rPr lang="en-US" sz="672" dirty="0">
                <a:solidFill>
                  <a:srgbClr val="7BE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EOD|CH=CLEARING|SYM=AAPL|SEQ=3</a:t>
            </a:r>
            <a:endParaRPr lang="en-US" sz="672" dirty="0"/>
          </a:p>
          <a:p>
            <a:pPr marL="0" indent="0">
              <a:lnSpc>
                <a:spcPts val="1008"/>
              </a:lnSpc>
              <a:buNone/>
            </a:pPr>
            <a:r>
              <a:rPr lang="en-US" sz="672" dirty="0">
                <a:solidFill>
                  <a:srgbClr val="7BE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|TRADE_COUNT=2|EXEC_COUNT=2</a:t>
            </a:r>
            <a:endParaRPr lang="en-US" sz="672" dirty="0"/>
          </a:p>
        </p:txBody>
      </p:sp>
      <p:sp>
        <p:nvSpPr>
          <p:cNvPr id="16" name="Text 14"/>
          <p:cNvSpPr/>
          <p:nvPr/>
        </p:nvSpPr>
        <p:spPr>
          <a:xfrm>
            <a:off x="722376" y="2560320"/>
            <a:ext cx="379293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A98B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TRADE_COUNT</a:t>
            </a:r>
            <a:r>
              <a:rPr lang="en-US" sz="10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trades seen for that symbol this session.  </a:t>
            </a:r>
            <a:r>
              <a:rPr lang="en-US" sz="1000" b="1" dirty="0">
                <a:solidFill>
                  <a:srgbClr val="A98B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EXEC_COUNT</a:t>
            </a:r>
            <a:r>
              <a:rPr lang="en-US" sz="10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is identical to it in RALF1.</a:t>
            </a:r>
            <a:endParaRPr lang="en-US" sz="1000" dirty="0"/>
          </a:p>
        </p:txBody>
      </p:sp>
      <p:sp>
        <p:nvSpPr>
          <p:cNvPr id="17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78908" y="1517904"/>
            <a:ext cx="3662172" cy="347472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8" name="Card accent 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78908" y="1517904"/>
            <a:ext cx="50292" cy="347472"/>
          </a:xfrm>
          <a:prstGeom prst="rect">
            <a:avLst/>
          </a:prstGeom>
          <a:solidFill>
            <a:srgbClr val="6FA8D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9" name="Text 17"/>
          <p:cNvSpPr/>
          <p:nvPr/>
        </p:nvSpPr>
        <p:spPr>
          <a:xfrm>
            <a:off x="5143500" y="1517904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FA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SNAP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213348" y="1517904"/>
            <a:ext cx="22905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Baseline. Envelope only — no book, no positions.</a:t>
            </a:r>
            <a:endParaRPr lang="en-US" sz="900" dirty="0"/>
          </a:p>
        </p:txBody>
      </p:sp>
      <p:sp>
        <p:nvSpPr>
          <p:cNvPr id="21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78908" y="1938528"/>
            <a:ext cx="3662172" cy="347472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2" name="Card accent 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78908" y="1938528"/>
            <a:ext cx="50292" cy="347472"/>
          </a:xfrm>
          <a:prstGeom prst="rect">
            <a:avLst/>
          </a:prstGeom>
          <a:solidFill>
            <a:srgbClr val="8797A2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3" name="Text 21"/>
          <p:cNvSpPr/>
          <p:nvPr/>
        </p:nvSpPr>
        <p:spPr>
          <a:xfrm>
            <a:off x="5143500" y="1938528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797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HB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213348" y="1938528"/>
            <a:ext cx="22905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HB|TS=... — sent only when nothing else was sent.</a:t>
            </a:r>
            <a:endParaRPr lang="en-US" sz="900" dirty="0"/>
          </a:p>
        </p:txBody>
      </p:sp>
      <p:sp>
        <p:nvSpPr>
          <p:cNvPr id="25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78908" y="2359152"/>
            <a:ext cx="3662172" cy="347472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6" name="Card accent 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78908" y="2359152"/>
            <a:ext cx="50292" cy="347472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7" name="Text 25"/>
          <p:cNvSpPr/>
          <p:nvPr/>
        </p:nvSpPr>
        <p:spPr>
          <a:xfrm>
            <a:off x="5143500" y="2359152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PING / PONG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13348" y="2359152"/>
            <a:ext cx="22905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probe, and the gateway's reply.</a:t>
            </a:r>
            <a:endParaRPr lang="en-US" sz="900" dirty="0"/>
          </a:p>
        </p:txBody>
      </p:sp>
      <p:sp>
        <p:nvSpPr>
          <p:cNvPr id="29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78908" y="2779776"/>
            <a:ext cx="3662172" cy="347472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0" name="Card accent 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78908" y="2779776"/>
            <a:ext cx="50292" cy="347472"/>
          </a:xfrm>
          <a:prstGeom prst="rect">
            <a:avLst/>
          </a:prstGeom>
          <a:solidFill>
            <a:srgbClr val="E8695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1" name="Text 29"/>
          <p:cNvSpPr/>
          <p:nvPr/>
        </p:nvSpPr>
        <p:spPr>
          <a:xfrm>
            <a:off x="5143500" y="2779776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6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213348" y="2779776"/>
            <a:ext cx="22905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EXIT|REASON=idle_timeout|TS=... — session over.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978908" y="3291840"/>
            <a:ext cx="3662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EOD is emitted once per symbol on all three channels.</a:t>
            </a:r>
            <a:endParaRPr lang="en-US" sz="950" dirty="0"/>
          </a:p>
        </p:txBody>
      </p:sp>
      <p:sp>
        <p:nvSpPr>
          <p:cNvPr id="34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346704"/>
            <a:ext cx="4231843" cy="1225296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35" name="Card 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346704"/>
            <a:ext cx="4231843" cy="50292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6" name="Text 34"/>
          <p:cNvSpPr/>
          <p:nvPr/>
        </p:nvSpPr>
        <p:spPr>
          <a:xfrm>
            <a:off x="722376" y="34747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Reading an EOD line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22376" y="3749040"/>
            <a:ext cx="379293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is a marker, not a report. It tells you the symbol's trading session is closed and how many executions you should have counted — which makes it an excellent self-check on your own tally.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502920" y="17373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4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IMPLEMENTATION</a:t>
            </a:r>
            <a:endParaRPr lang="en-US" sz="95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EEF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Five parsing rules that will save you</a:t>
            </a:r>
            <a:endParaRPr lang="en-US" sz="2500" dirty="0"/>
          </a:p>
        </p:txBody>
      </p:sp>
      <p:sp>
        <p:nvSpPr>
          <p:cNvPr id="5" name="Title under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88136"/>
            <a:ext cx="566928" cy="32004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6" name="Text 4"/>
          <p:cNvSpPr/>
          <p:nvPr/>
        </p:nvSpPr>
        <p:spPr>
          <a:xfrm>
            <a:off x="502920" y="113385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Most first-attempt RALF clients fail on one of these.</a:t>
            </a:r>
            <a:endParaRPr lang="en-US" sz="1200" dirty="0"/>
          </a:p>
        </p:txBody>
      </p:sp>
      <p:sp>
        <p:nvSpPr>
          <p:cNvPr id="7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791456"/>
            <a:ext cx="8138160" cy="18288"/>
          </a:xfrm>
          <a:prstGeom prst="rect">
            <a:avLst/>
          </a:prstGeom>
          <a:solidFill>
            <a:srgbClr val="36424B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8" name="Text 6"/>
          <p:cNvSpPr/>
          <p:nvPr/>
        </p:nvSpPr>
        <p:spPr>
          <a:xfrm>
            <a:off x="502920" y="48280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575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EduMatcher  ·  RALF post-trade protocol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43800" y="48280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575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</a:t>
            </a:r>
            <a:endParaRPr lang="en-US" sz="850" dirty="0"/>
          </a:p>
        </p:txBody>
      </p:sp>
      <p:sp>
        <p:nvSpPr>
          <p:cNvPr id="10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8138160" cy="548640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Card accent 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50292" cy="548640"/>
          </a:xfrm>
          <a:prstGeom prst="rect">
            <a:avLst/>
          </a:prstGeom>
          <a:solidFill>
            <a:srgbClr val="E8695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2" name="R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563624"/>
            <a:ext cx="347472" cy="347472"/>
          </a:xfrm>
          <a:prstGeom prst="ellipse">
            <a:avLst/>
          </a:prstGeom>
          <a:solidFill>
            <a:srgbClr val="1B2228"/>
          </a:solidFill>
          <a:ln w="19050">
            <a:solidFill>
              <a:srgbClr val="E8695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Text 11"/>
          <p:cNvSpPr/>
          <p:nvPr/>
        </p:nvSpPr>
        <p:spPr>
          <a:xfrm>
            <a:off x="685800" y="1563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69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61288" y="146304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EF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TCP is a byte stream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03320" y="146304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recv() is not one message. Buffer bytes and split on newline — always.</a:t>
            </a:r>
            <a:endParaRPr lang="en-US" sz="1000" dirty="0"/>
          </a:p>
        </p:txBody>
      </p:sp>
      <p:sp>
        <p:nvSpPr>
          <p:cNvPr id="16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103120"/>
            <a:ext cx="8138160" cy="548640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" name="Card accent 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103120"/>
            <a:ext cx="50292" cy="548640"/>
          </a:xfrm>
          <a:prstGeom prst="rect">
            <a:avLst/>
          </a:prstGeom>
          <a:solidFill>
            <a:srgbClr val="E8B44A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8" name="R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2203704"/>
            <a:ext cx="347472" cy="347472"/>
          </a:xfrm>
          <a:prstGeom prst="ellipse">
            <a:avLst/>
          </a:prstGeom>
          <a:solidFill>
            <a:srgbClr val="1B2228"/>
          </a:solidFill>
          <a:ln w="19050">
            <a:solidFill>
              <a:srgbClr val="E8B44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9" name="Text 17"/>
          <p:cNvSpPr/>
          <p:nvPr/>
        </p:nvSpPr>
        <p:spPr>
          <a:xfrm>
            <a:off x="685800" y="2203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B4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61288" y="21031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EF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Split on the FIRST equals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703320" y="210312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value may legitimately contain an equals sign. Only the first one separates key from value.</a:t>
            </a:r>
            <a:endParaRPr lang="en-US" sz="1000" dirty="0"/>
          </a:p>
        </p:txBody>
      </p:sp>
      <p:sp>
        <p:nvSpPr>
          <p:cNvPr id="22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743200"/>
            <a:ext cx="8138160" cy="548640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3" name="Card accent 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743200"/>
            <a:ext cx="50292" cy="548640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4" name="R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2843784"/>
            <a:ext cx="347472" cy="347472"/>
          </a:xfrm>
          <a:prstGeom prst="ellipse">
            <a:avLst/>
          </a:prstGeom>
          <a:solidFill>
            <a:srgbClr val="1B2228"/>
          </a:solidFill>
          <a:ln w="19050">
            <a:solidFill>
              <a:srgbClr val="3DD68C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5" name="Text 23"/>
          <p:cNvSpPr/>
          <p:nvPr/>
        </p:nvSpPr>
        <p:spPr>
          <a:xfrm>
            <a:off x="685800" y="28437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61288" y="27432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EF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Ignore unknown fields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703320" y="274320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fields will appear. A parser that rejects them will break on the next release.</a:t>
            </a:r>
            <a:endParaRPr lang="en-US" sz="1000" dirty="0"/>
          </a:p>
        </p:txBody>
      </p:sp>
      <p:sp>
        <p:nvSpPr>
          <p:cNvPr id="28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383280"/>
            <a:ext cx="8138160" cy="548640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9" name="Card accent 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383280"/>
            <a:ext cx="50292" cy="548640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0" name="R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3483864"/>
            <a:ext cx="347472" cy="347472"/>
          </a:xfrm>
          <a:prstGeom prst="ellipse">
            <a:avLst/>
          </a:prstGeom>
          <a:solidFill>
            <a:srgbClr val="1B2228"/>
          </a:solidFill>
          <a:ln w="19050">
            <a:solidFill>
              <a:srgbClr val="3DD68C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1" name="Text 29"/>
          <p:cNvSpPr/>
          <p:nvPr/>
        </p:nvSpPr>
        <p:spPr>
          <a:xfrm>
            <a:off x="685800" y="34838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161288" y="338328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EF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Ignore unknown message types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703320" y="338328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event families are coming. Skip what you do not recognise instead of failing.</a:t>
            </a:r>
            <a:endParaRPr lang="en-US" sz="1000" dirty="0"/>
          </a:p>
        </p:txBody>
      </p:sp>
      <p:sp>
        <p:nvSpPr>
          <p:cNvPr id="34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023360"/>
            <a:ext cx="8138160" cy="548640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5" name="Card accent 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023360"/>
            <a:ext cx="50292" cy="548640"/>
          </a:xfrm>
          <a:prstGeom prst="rect">
            <a:avLst/>
          </a:prstGeom>
          <a:solidFill>
            <a:srgbClr val="A98BE0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6" name="Ri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4123944"/>
            <a:ext cx="347472" cy="347472"/>
          </a:xfrm>
          <a:prstGeom prst="ellipse">
            <a:avLst/>
          </a:prstGeom>
          <a:solidFill>
            <a:srgbClr val="1B2228"/>
          </a:solidFill>
          <a:ln w="19050">
            <a:solidFill>
              <a:srgbClr val="A98BE0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7" name="Text 35"/>
          <p:cNvSpPr/>
          <p:nvPr/>
        </p:nvSpPr>
        <p:spPr>
          <a:xfrm>
            <a:off x="685800" y="41239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98B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161288" y="40233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EF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Respect the line limit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703320" y="402336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line longer than 4096 bytes is refused with BAD_MESSAGE. Frame properly and this never happens.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bstract conceptual artwork introducing the section"/>
          <p:cNvPicPr>
            <a:picLocks noChangeAspect="1"/>
          </p:cNvPicPr>
          <p:nvPr/>
        </p:nvPicPr>
        <p:blipFill>
          <a:blip r:embed="rId3"/>
          <a:srcRect t="7813" b="781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Image scri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E11">
              <a:alpha val="66000"/>
            </a:srgbClr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" name="Left scri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669280" cy="5143500"/>
          </a:xfrm>
          <a:prstGeom prst="rect">
            <a:avLst/>
          </a:prstGeom>
          <a:solidFill>
            <a:srgbClr val="0B0E11">
              <a:alpha val="76000"/>
            </a:srgbClr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5" name="Left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8580" cy="5143500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6" name="Text 3"/>
          <p:cNvSpPr/>
          <p:nvPr/>
        </p:nvSpPr>
        <p:spPr>
          <a:xfrm>
            <a:off x="640080" y="15727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06</a:t>
            </a:r>
            <a:endParaRPr lang="en-US" sz="1250" dirty="0"/>
          </a:p>
        </p:txBody>
      </p:sp>
      <p:sp>
        <p:nvSpPr>
          <p:cNvPr id="7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2148840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EF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errors are handled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640080" y="306324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RALF assumes things will go wrong: messages get missed, clients fall behind, connections drop. Every one of those has a defined recovery.</a:t>
            </a:r>
            <a:endParaRPr lang="en-US" sz="1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502920" y="17373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4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INTEGRITY</a:t>
            </a:r>
            <a:endParaRPr lang="en-US" sz="95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EEF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Sequence numbers and gap detection</a:t>
            </a:r>
            <a:endParaRPr lang="en-US" sz="2500" dirty="0"/>
          </a:p>
        </p:txBody>
      </p:sp>
      <p:sp>
        <p:nvSpPr>
          <p:cNvPr id="5" name="Title under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88136"/>
            <a:ext cx="566928" cy="32004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6" name="Text 4"/>
          <p:cNvSpPr/>
          <p:nvPr/>
        </p:nvSpPr>
        <p:spPr>
          <a:xfrm>
            <a:off x="502920" y="113385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SEQ is how you prove — not hope — that your copy of the day is complete.</a:t>
            </a:r>
            <a:endParaRPr lang="en-US" sz="1200" dirty="0"/>
          </a:p>
        </p:txBody>
      </p:sp>
      <p:sp>
        <p:nvSpPr>
          <p:cNvPr id="7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791456"/>
            <a:ext cx="8138160" cy="18288"/>
          </a:xfrm>
          <a:prstGeom prst="rect">
            <a:avLst/>
          </a:prstGeom>
          <a:solidFill>
            <a:srgbClr val="36424B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8" name="Text 6"/>
          <p:cNvSpPr/>
          <p:nvPr/>
        </p:nvSpPr>
        <p:spPr>
          <a:xfrm>
            <a:off x="502920" y="48280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575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EduMatcher  ·  RALF post-trade protocol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43800" y="48280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575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37</a:t>
            </a:r>
            <a:endParaRPr lang="en-US" sz="850" dirty="0"/>
          </a:p>
        </p:txBody>
      </p:sp>
      <p:sp>
        <p:nvSpPr>
          <p:cNvPr id="10" name="Sequence blo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8680" y="1572768"/>
            <a:ext cx="658368" cy="548640"/>
          </a:xfrm>
          <a:prstGeom prst="rect">
            <a:avLst/>
          </a:prstGeom>
          <a:solidFill>
            <a:srgbClr val="232C33"/>
          </a:solidFill>
          <a:ln w="12700">
            <a:solidFill>
              <a:srgbClr val="3DD68C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Text 9"/>
          <p:cNvSpPr/>
          <p:nvPr/>
        </p:nvSpPr>
        <p:spPr>
          <a:xfrm>
            <a:off x="868680" y="1572768"/>
            <a:ext cx="658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Sequence blo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655064" y="1572768"/>
            <a:ext cx="658368" cy="548640"/>
          </a:xfrm>
          <a:prstGeom prst="rect">
            <a:avLst/>
          </a:prstGeom>
          <a:solidFill>
            <a:srgbClr val="232C33"/>
          </a:solidFill>
          <a:ln w="12700">
            <a:solidFill>
              <a:srgbClr val="3DD68C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Text 11"/>
          <p:cNvSpPr/>
          <p:nvPr/>
        </p:nvSpPr>
        <p:spPr>
          <a:xfrm>
            <a:off x="1655064" y="1572768"/>
            <a:ext cx="658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Sequence blo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441448" y="1572768"/>
            <a:ext cx="658368" cy="548640"/>
          </a:xfrm>
          <a:prstGeom prst="rect">
            <a:avLst/>
          </a:prstGeom>
          <a:solidFill>
            <a:srgbClr val="232C33"/>
          </a:solidFill>
          <a:ln w="12700">
            <a:solidFill>
              <a:srgbClr val="3DD68C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5" name="Text 13"/>
          <p:cNvSpPr/>
          <p:nvPr/>
        </p:nvSpPr>
        <p:spPr>
          <a:xfrm>
            <a:off x="2441448" y="1572768"/>
            <a:ext cx="658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Sequence blo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27832" y="1572768"/>
            <a:ext cx="658368" cy="548640"/>
          </a:xfrm>
          <a:prstGeom prst="rect">
            <a:avLst/>
          </a:prstGeom>
          <a:solidFill>
            <a:srgbClr val="0D1114"/>
          </a:solidFill>
          <a:ln w="19050">
            <a:solidFill>
              <a:srgbClr val="E8695E"/>
            </a:solidFill>
            <a:prstDash val="dash"/>
          </a:ln>
        </p:spPr>
        <p:txBody>
          <a:bodyPr/>
          <a:lstStyle/>
          <a:p>
            <a:endParaRPr lang="en-SE"/>
          </a:p>
        </p:txBody>
      </p:sp>
      <p:sp>
        <p:nvSpPr>
          <p:cNvPr id="17" name="Text 15"/>
          <p:cNvSpPr/>
          <p:nvPr/>
        </p:nvSpPr>
        <p:spPr>
          <a:xfrm>
            <a:off x="3227832" y="1572768"/>
            <a:ext cx="658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6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endParaRPr lang="en-US" sz="1500" dirty="0"/>
          </a:p>
        </p:txBody>
      </p:sp>
      <p:sp>
        <p:nvSpPr>
          <p:cNvPr id="18" name="Sequence blo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014216" y="1572768"/>
            <a:ext cx="658368" cy="548640"/>
          </a:xfrm>
          <a:prstGeom prst="rect">
            <a:avLst/>
          </a:prstGeom>
          <a:solidFill>
            <a:srgbClr val="232C33"/>
          </a:solidFill>
          <a:ln w="12700">
            <a:solidFill>
              <a:srgbClr val="3DD68C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9" name="Text 17"/>
          <p:cNvSpPr/>
          <p:nvPr/>
        </p:nvSpPr>
        <p:spPr>
          <a:xfrm>
            <a:off x="4014216" y="1572768"/>
            <a:ext cx="658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500" dirty="0"/>
          </a:p>
        </p:txBody>
      </p:sp>
      <p:sp>
        <p:nvSpPr>
          <p:cNvPr id="20" name="Sequence blo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00600" y="1572768"/>
            <a:ext cx="658368" cy="548640"/>
          </a:xfrm>
          <a:prstGeom prst="rect">
            <a:avLst/>
          </a:prstGeom>
          <a:solidFill>
            <a:srgbClr val="232C33"/>
          </a:solidFill>
          <a:ln w="12700">
            <a:solidFill>
              <a:srgbClr val="3DD68C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1" name="Text 19"/>
          <p:cNvSpPr/>
          <p:nvPr/>
        </p:nvSpPr>
        <p:spPr>
          <a:xfrm>
            <a:off x="4800600" y="1572768"/>
            <a:ext cx="658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246120" y="21945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69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SEQ=4 never arrived — that is a gap</a:t>
            </a:r>
            <a:endParaRPr lang="en-US" sz="1000" dirty="0"/>
          </a:p>
        </p:txBody>
      </p:sp>
      <p:sp>
        <p:nvSpPr>
          <p:cNvPr id="23" name="Code block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97880" y="1517904"/>
            <a:ext cx="2743200" cy="658368"/>
          </a:xfrm>
          <a:prstGeom prst="rect">
            <a:avLst/>
          </a:prstGeom>
          <a:solidFill>
            <a:srgbClr val="0D1114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4" name="Code block 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97880" y="1517904"/>
            <a:ext cx="41148" cy="658368"/>
          </a:xfrm>
          <a:prstGeom prst="rect">
            <a:avLst/>
          </a:prstGeom>
          <a:solidFill>
            <a:srgbClr val="E8695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5" name="Text 23"/>
          <p:cNvSpPr/>
          <p:nvPr/>
        </p:nvSpPr>
        <p:spPr>
          <a:xfrm>
            <a:off x="6080760" y="1636776"/>
            <a:ext cx="2414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25"/>
              </a:lnSpc>
              <a:buNone/>
            </a:pPr>
            <a:r>
              <a:rPr lang="en-US" sz="950" dirty="0">
                <a:solidFill>
                  <a:srgbClr val="8797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 when:</a:t>
            </a:r>
            <a:endParaRPr lang="en-US" sz="950" dirty="0"/>
          </a:p>
          <a:p>
            <a:pPr marL="0" indent="0">
              <a:lnSpc>
                <a:spcPts val="1425"/>
              </a:lnSpc>
              <a:buNone/>
            </a:pPr>
            <a:r>
              <a:rPr lang="en-US" sz="950" b="1" dirty="0">
                <a:solidFill>
                  <a:srgbClr val="E86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received_seq != last_seq + 1</a:t>
            </a:r>
            <a:endParaRPr lang="en-US" sz="950" dirty="0"/>
          </a:p>
        </p:txBody>
      </p:sp>
      <p:sp>
        <p:nvSpPr>
          <p:cNvPr id="26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615184"/>
            <a:ext cx="2593848" cy="1170432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7" name="Card 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615184"/>
            <a:ext cx="2593848" cy="50292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8" name="Text 26"/>
          <p:cNvSpPr/>
          <p:nvPr/>
        </p:nvSpPr>
        <p:spPr>
          <a:xfrm>
            <a:off x="685800" y="2761488"/>
            <a:ext cx="2228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 channel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85800" y="3054096"/>
            <a:ext cx="2228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channel keeps its own counter, strictly increasing by one per emitted line.</a:t>
            </a:r>
            <a:endParaRPr lang="en-US" sz="1000" dirty="0"/>
          </a:p>
        </p:txBody>
      </p:sp>
      <p:sp>
        <p:nvSpPr>
          <p:cNvPr id="30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33928" y="2615184"/>
            <a:ext cx="2593848" cy="1170432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31" name="Card 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33928" y="2615184"/>
            <a:ext cx="2593848" cy="50292"/>
          </a:xfrm>
          <a:prstGeom prst="rect">
            <a:avLst/>
          </a:prstGeom>
          <a:solidFill>
            <a:srgbClr val="E8B44A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2" name="Text 30"/>
          <p:cNvSpPr/>
          <p:nvPr/>
        </p:nvSpPr>
        <p:spPr>
          <a:xfrm>
            <a:off x="3416808" y="2761488"/>
            <a:ext cx="2228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B4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global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416808" y="3054096"/>
            <a:ext cx="2228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Sequence numbers from different channels are independent — never compare or merge them.</a:t>
            </a:r>
            <a:endParaRPr lang="en-US" sz="1000" dirty="0"/>
          </a:p>
        </p:txBody>
      </p:sp>
      <p:sp>
        <p:nvSpPr>
          <p:cNvPr id="34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64936" y="2615184"/>
            <a:ext cx="2593848" cy="1170432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35" name="Card 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64936" y="2615184"/>
            <a:ext cx="2593848" cy="50292"/>
          </a:xfrm>
          <a:prstGeom prst="rect">
            <a:avLst/>
          </a:prstGeom>
          <a:solidFill>
            <a:srgbClr val="6FA8D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6" name="Text 34"/>
          <p:cNvSpPr/>
          <p:nvPr/>
        </p:nvSpPr>
        <p:spPr>
          <a:xfrm>
            <a:off x="6147816" y="2761488"/>
            <a:ext cx="2228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FA8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 per stream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147816" y="3054096"/>
            <a:ext cx="2228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 last_seq keyed on (CH, SYM) and check every single message you receive.</a:t>
            </a:r>
            <a:endParaRPr lang="en-US" sz="1000" dirty="0"/>
          </a:p>
        </p:txBody>
      </p:sp>
      <p:sp>
        <p:nvSpPr>
          <p:cNvPr id="38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968496"/>
            <a:ext cx="8138160" cy="621792"/>
          </a:xfrm>
          <a:prstGeom prst="rect">
            <a:avLst/>
          </a:prstGeom>
          <a:solidFill>
            <a:srgbClr val="232C33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9" name="Card accent 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968496"/>
            <a:ext cx="50292" cy="621792"/>
          </a:xfrm>
          <a:prstGeom prst="rect">
            <a:avLst/>
          </a:prstGeom>
          <a:solidFill>
            <a:srgbClr val="7BE8B8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0" name="Text 38"/>
          <p:cNvSpPr/>
          <p:nvPr/>
        </p:nvSpPr>
        <p:spPr>
          <a:xfrm>
            <a:off x="777240" y="3968496"/>
            <a:ext cx="7635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E8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Detecting a gap is not an emergency — it is the system working. The next slide is what you do about it.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502920" y="17373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4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RECOVERY</a:t>
            </a:r>
            <a:endParaRPr lang="en-US" sz="95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EEF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Replay — asking for what you missed</a:t>
            </a:r>
            <a:endParaRPr lang="en-US" sz="2500" dirty="0"/>
          </a:p>
        </p:txBody>
      </p:sp>
      <p:sp>
        <p:nvSpPr>
          <p:cNvPr id="5" name="Title under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88136"/>
            <a:ext cx="566928" cy="32004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6" name="Text 4"/>
          <p:cNvSpPr/>
          <p:nvPr/>
        </p:nvSpPr>
        <p:spPr>
          <a:xfrm>
            <a:off x="502920" y="113385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Reconnect with a checkpoint and the gateway resends from the journal.</a:t>
            </a:r>
            <a:endParaRPr lang="en-US" sz="1200" dirty="0"/>
          </a:p>
        </p:txBody>
      </p:sp>
      <p:sp>
        <p:nvSpPr>
          <p:cNvPr id="7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791456"/>
            <a:ext cx="8138160" cy="18288"/>
          </a:xfrm>
          <a:prstGeom prst="rect">
            <a:avLst/>
          </a:prstGeom>
          <a:solidFill>
            <a:srgbClr val="36424B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8" name="Text 6"/>
          <p:cNvSpPr/>
          <p:nvPr/>
        </p:nvSpPr>
        <p:spPr>
          <a:xfrm>
            <a:off x="502920" y="48280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575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EduMatcher  ·  RALF post-trade protocol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43800" y="48280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575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38</a:t>
            </a:r>
            <a:endParaRPr lang="en-US" sz="850" dirty="0"/>
          </a:p>
        </p:txBody>
      </p:sp>
      <p:sp>
        <p:nvSpPr>
          <p:cNvPr id="10" name="Code block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36192"/>
            <a:ext cx="8138160" cy="420624"/>
          </a:xfrm>
          <a:prstGeom prst="rect">
            <a:avLst/>
          </a:prstGeom>
          <a:solidFill>
            <a:srgbClr val="0D1114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Code block 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36192"/>
            <a:ext cx="41148" cy="420624"/>
          </a:xfrm>
          <a:prstGeom prst="rect">
            <a:avLst/>
          </a:prstGeom>
          <a:solidFill>
            <a:srgbClr val="1F8A5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2" name="Text 10"/>
          <p:cNvSpPr/>
          <p:nvPr/>
        </p:nvSpPr>
        <p:spPr>
          <a:xfrm>
            <a:off x="685800" y="1655064"/>
            <a:ext cx="7808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84"/>
              </a:lnSpc>
              <a:buNone/>
            </a:pPr>
            <a:r>
              <a:rPr lang="en-US" sz="1056" b="1" dirty="0">
                <a:solidFill>
                  <a:srgbClr val="7BE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HELLO|CLIENT=ext01|PROTO=RALF1|ROLE=CLEARING|LASTSEQ=1200</a:t>
            </a:r>
            <a:endParaRPr lang="en-US" sz="1056" dirty="0"/>
          </a:p>
        </p:txBody>
      </p:sp>
      <p:sp>
        <p:nvSpPr>
          <p:cNvPr id="13" name="Text 11"/>
          <p:cNvSpPr/>
          <p:nvPr/>
        </p:nvSpPr>
        <p:spPr>
          <a:xfrm>
            <a:off x="502920" y="197510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"Send me everything after 1200."</a:t>
            </a:r>
            <a:endParaRPr lang="en-US" sz="1000" dirty="0"/>
          </a:p>
        </p:txBody>
      </p:sp>
      <p:sp>
        <p:nvSpPr>
          <p:cNvPr id="14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304288"/>
            <a:ext cx="3941064" cy="1755648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5" name="Card 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304288"/>
            <a:ext cx="3941064" cy="50292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6" name="Glyph ti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4088" y="248716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232C33"/>
          </a:solidFill>
          <a:ln w="13970">
            <a:solidFill>
              <a:srgbClr val="3DD68C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7" name="Text 15"/>
          <p:cNvSpPr/>
          <p:nvPr/>
        </p:nvSpPr>
        <p:spPr>
          <a:xfrm>
            <a:off x="704088" y="2487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040" dirty="0"/>
          </a:p>
        </p:txBody>
      </p:sp>
      <p:sp>
        <p:nvSpPr>
          <p:cNvPr id="18" name="Text 16"/>
          <p:cNvSpPr/>
          <p:nvPr/>
        </p:nvSpPr>
        <p:spPr>
          <a:xfrm>
            <a:off x="1179576" y="248716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REPLAY HIT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04088" y="2926080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checkpoint is inside the retention window.</a:t>
            </a:r>
            <a:endParaRPr lang="en-US" sz="950" dirty="0"/>
          </a:p>
        </p:txBody>
      </p:sp>
      <p:sp>
        <p:nvSpPr>
          <p:cNvPr id="20" name="Bullet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2376" y="3300984"/>
            <a:ext cx="73152" cy="73152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1" name="Text 19"/>
          <p:cNvSpPr/>
          <p:nvPr/>
        </p:nvSpPr>
        <p:spPr>
          <a:xfrm>
            <a:off x="905256" y="32004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Journalled events with SEQ &gt; LASTSEQ are resent</a:t>
            </a:r>
            <a:endParaRPr lang="en-US" sz="950" dirty="0"/>
          </a:p>
        </p:txBody>
      </p:sp>
      <p:sp>
        <p:nvSpPr>
          <p:cNvPr id="22" name="Bullet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2376" y="3584448"/>
            <a:ext cx="73152" cy="73152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3" name="Text 21"/>
          <p:cNvSpPr/>
          <p:nvPr/>
        </p:nvSpPr>
        <p:spPr>
          <a:xfrm>
            <a:off x="905256" y="348386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stream continues live, seamlessly</a:t>
            </a:r>
            <a:endParaRPr lang="en-US" sz="950" dirty="0"/>
          </a:p>
        </p:txBody>
      </p:sp>
      <p:sp>
        <p:nvSpPr>
          <p:cNvPr id="24" name="Bullet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2376" y="3867912"/>
            <a:ext cx="73152" cy="73152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5" name="Text 23"/>
          <p:cNvSpPr/>
          <p:nvPr/>
        </p:nvSpPr>
        <p:spPr>
          <a:xfrm>
            <a:off x="905256" y="376732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Nothing is lost</a:t>
            </a:r>
            <a:endParaRPr lang="en-US" sz="950" dirty="0"/>
          </a:p>
        </p:txBody>
      </p:sp>
      <p:sp>
        <p:nvSpPr>
          <p:cNvPr id="26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0016" y="2304288"/>
            <a:ext cx="3941064" cy="1755648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7" name="Card 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0016" y="2304288"/>
            <a:ext cx="3941064" cy="50292"/>
          </a:xfrm>
          <a:prstGeom prst="rect">
            <a:avLst/>
          </a:prstGeom>
          <a:solidFill>
            <a:srgbClr val="E8695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8" name="Glyph ti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01184" y="248716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232C33"/>
          </a:solidFill>
          <a:ln w="13970">
            <a:solidFill>
              <a:srgbClr val="E8695E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9" name="Text 27"/>
          <p:cNvSpPr/>
          <p:nvPr/>
        </p:nvSpPr>
        <p:spPr>
          <a:xfrm>
            <a:off x="4901184" y="2487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E86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</a:t>
            </a:r>
            <a:endParaRPr lang="en-US" sz="1040" dirty="0"/>
          </a:p>
        </p:txBody>
      </p:sp>
      <p:sp>
        <p:nvSpPr>
          <p:cNvPr id="30" name="Text 28"/>
          <p:cNvSpPr/>
          <p:nvPr/>
        </p:nvSpPr>
        <p:spPr>
          <a:xfrm>
            <a:off x="5376672" y="248716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69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REPLAY MISS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901184" y="2926080"/>
            <a:ext cx="3538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checkpoint is older than the journal.</a:t>
            </a:r>
            <a:endParaRPr lang="en-US" sz="950" dirty="0"/>
          </a:p>
        </p:txBody>
      </p:sp>
      <p:sp>
        <p:nvSpPr>
          <p:cNvPr id="32" name="Bullet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19472" y="3300984"/>
            <a:ext cx="73152" cy="73152"/>
          </a:xfrm>
          <a:prstGeom prst="rect">
            <a:avLst/>
          </a:prstGeom>
          <a:solidFill>
            <a:srgbClr val="E8695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3" name="Text 31"/>
          <p:cNvSpPr/>
          <p:nvPr/>
        </p:nvSpPr>
        <p:spPr>
          <a:xfrm>
            <a:off x="5102352" y="32004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ERR|CODE=REPLAY_MISS arrives first</a:t>
            </a:r>
            <a:endParaRPr lang="en-US" sz="950" dirty="0"/>
          </a:p>
        </p:txBody>
      </p:sp>
      <p:sp>
        <p:nvSpPr>
          <p:cNvPr id="34" name="Bullet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19472" y="3584448"/>
            <a:ext cx="73152" cy="73152"/>
          </a:xfrm>
          <a:prstGeom prst="rect">
            <a:avLst/>
          </a:prstGeom>
          <a:solidFill>
            <a:srgbClr val="E8695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5" name="Text 33"/>
          <p:cNvSpPr/>
          <p:nvPr/>
        </p:nvSpPr>
        <p:spPr>
          <a:xfrm>
            <a:off x="5102352" y="348386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fresh SNAP follows it</a:t>
            </a:r>
            <a:endParaRPr lang="en-US" sz="950" dirty="0"/>
          </a:p>
        </p:txBody>
      </p:sp>
      <p:sp>
        <p:nvSpPr>
          <p:cNvPr id="36" name="Bullet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19472" y="3867912"/>
            <a:ext cx="73152" cy="73152"/>
          </a:xfrm>
          <a:prstGeom prst="rect">
            <a:avLst/>
          </a:prstGeom>
          <a:solidFill>
            <a:srgbClr val="E8695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7" name="Text 35"/>
          <p:cNvSpPr/>
          <p:nvPr/>
        </p:nvSpPr>
        <p:spPr>
          <a:xfrm>
            <a:off x="5102352" y="376732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MUST reset local state to that baseline</a:t>
            </a:r>
            <a:endParaRPr lang="en-US" sz="950" dirty="0"/>
          </a:p>
        </p:txBody>
      </p:sp>
      <p:sp>
        <p:nvSpPr>
          <p:cNvPr id="38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169664"/>
            <a:ext cx="8138160" cy="457200"/>
          </a:xfrm>
          <a:prstGeom prst="rect">
            <a:avLst/>
          </a:prstGeom>
          <a:solidFill>
            <a:srgbClr val="232C33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9" name="Card accent 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169664"/>
            <a:ext cx="50292" cy="457200"/>
          </a:xfrm>
          <a:prstGeom prst="rect">
            <a:avLst/>
          </a:prstGeom>
          <a:solidFill>
            <a:srgbClr val="6FA8D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0" name="Text 38"/>
          <p:cNvSpPr/>
          <p:nvPr/>
        </p:nvSpPr>
        <p:spPr>
          <a:xfrm>
            <a:off x="777240" y="4169664"/>
            <a:ext cx="7635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default journal covers 86 400 seconds — one full trading day — which makes an intraday reconnect lossless in normal operation.</a:t>
            </a:r>
            <a:endParaRPr lang="en-US" sz="10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502920" y="17373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4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ERROR HANDLING</a:t>
            </a:r>
            <a:endParaRPr lang="en-US" sz="95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EEF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error code, and what to do about it</a:t>
            </a:r>
            <a:endParaRPr lang="en-US" sz="2500" dirty="0"/>
          </a:p>
        </p:txBody>
      </p:sp>
      <p:sp>
        <p:nvSpPr>
          <p:cNvPr id="5" name="Title under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88136"/>
            <a:ext cx="566928" cy="32004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6" name="Text 4"/>
          <p:cNvSpPr/>
          <p:nvPr/>
        </p:nvSpPr>
        <p:spPr>
          <a:xfrm>
            <a:off x="502920" y="113385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 carries a CODE and a human-readable DETAIL. The code is what you branch on.</a:t>
            </a:r>
            <a:endParaRPr lang="en-US" sz="1200" dirty="0"/>
          </a:p>
        </p:txBody>
      </p:sp>
      <p:sp>
        <p:nvSpPr>
          <p:cNvPr id="7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791456"/>
            <a:ext cx="8138160" cy="18288"/>
          </a:xfrm>
          <a:prstGeom prst="rect">
            <a:avLst/>
          </a:prstGeom>
          <a:solidFill>
            <a:srgbClr val="36424B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8" name="Text 6"/>
          <p:cNvSpPr/>
          <p:nvPr/>
        </p:nvSpPr>
        <p:spPr>
          <a:xfrm>
            <a:off x="502920" y="48280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575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EduMatcher  ·  RALF post-trade protocol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43800" y="48280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575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39</a:t>
            </a:r>
            <a:endParaRPr lang="en-US" sz="850" dirty="0"/>
          </a:p>
        </p:txBody>
      </p:sp>
      <p:sp>
        <p:nvSpPr>
          <p:cNvPr id="10" name="Code block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44752"/>
            <a:ext cx="8138160" cy="365760"/>
          </a:xfrm>
          <a:prstGeom prst="rect">
            <a:avLst/>
          </a:prstGeom>
          <a:solidFill>
            <a:srgbClr val="0D1114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Code block 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44752"/>
            <a:ext cx="41148" cy="365760"/>
          </a:xfrm>
          <a:prstGeom prst="rect">
            <a:avLst/>
          </a:prstGeom>
          <a:solidFill>
            <a:srgbClr val="E8695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2" name="Text 10"/>
          <p:cNvSpPr/>
          <p:nvPr/>
        </p:nvSpPr>
        <p:spPr>
          <a:xfrm>
            <a:off x="685800" y="1563624"/>
            <a:ext cx="78089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2"/>
              </a:lnSpc>
              <a:buNone/>
            </a:pPr>
            <a:r>
              <a:rPr lang="en-US" sz="768" dirty="0">
                <a:solidFill>
                  <a:srgbClr val="E86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ERR|CODE=REPLAY_MISS|DETAIL=requested seq outside retention</a:t>
            </a:r>
            <a:endParaRPr lang="en-US" sz="768" dirty="0"/>
          </a:p>
        </p:txBody>
      </p:sp>
      <p:sp>
        <p:nvSpPr>
          <p:cNvPr id="13" name="Table header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883664"/>
            <a:ext cx="8138160" cy="310896"/>
          </a:xfrm>
          <a:prstGeom prst="rect">
            <a:avLst/>
          </a:prstGeom>
          <a:solidFill>
            <a:srgbClr val="2C363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4" name="Text 12"/>
          <p:cNvSpPr/>
          <p:nvPr/>
        </p:nvSpPr>
        <p:spPr>
          <a:xfrm>
            <a:off x="621792" y="188366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kern="0" spc="10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2724912" y="188366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kern="0" spc="10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TYPICAL CAUSE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5559552" y="188366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kern="0" spc="10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YOU DO</a:t>
            </a:r>
            <a:endParaRPr lang="en-US" sz="820" dirty="0"/>
          </a:p>
        </p:txBody>
      </p:sp>
      <p:sp>
        <p:nvSpPr>
          <p:cNvPr id="17" name="Table 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194560"/>
            <a:ext cx="8138160" cy="297180"/>
          </a:xfrm>
          <a:prstGeom prst="rect">
            <a:avLst/>
          </a:prstGeom>
          <a:solidFill>
            <a:srgbClr val="0D1114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8" name="Text 16"/>
          <p:cNvSpPr/>
          <p:nvPr/>
        </p:nvSpPr>
        <p:spPr>
          <a:xfrm>
            <a:off x="621792" y="2194560"/>
            <a:ext cx="19202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E8B4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AUTH_REQUIRED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724912" y="2194560"/>
            <a:ext cx="26517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 sent before a successful HELLO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559552" y="2194560"/>
            <a:ext cx="30175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Send HELLO first — it must be the opening message</a:t>
            </a:r>
            <a:endParaRPr lang="en-US" sz="900" dirty="0"/>
          </a:p>
        </p:txBody>
      </p:sp>
      <p:sp>
        <p:nvSpPr>
          <p:cNvPr id="21" name="Table 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491740"/>
            <a:ext cx="8138160" cy="297180"/>
          </a:xfrm>
          <a:prstGeom prst="rect">
            <a:avLst/>
          </a:prstGeom>
          <a:solidFill>
            <a:srgbClr val="1B2228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2" name="Text 20"/>
          <p:cNvSpPr/>
          <p:nvPr/>
        </p:nvSpPr>
        <p:spPr>
          <a:xfrm>
            <a:off x="621792" y="2491740"/>
            <a:ext cx="19202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E8B4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PROTO_MISMATCH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724912" y="2491740"/>
            <a:ext cx="26517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Wrong or missing PROTO value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559552" y="2491740"/>
            <a:ext cx="30175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PROTO=RALF1 exactly</a:t>
            </a:r>
            <a:endParaRPr lang="en-US" sz="900" dirty="0"/>
          </a:p>
        </p:txBody>
      </p:sp>
      <p:sp>
        <p:nvSpPr>
          <p:cNvPr id="25" name="Table 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788920"/>
            <a:ext cx="8138160" cy="297180"/>
          </a:xfrm>
          <a:prstGeom prst="rect">
            <a:avLst/>
          </a:prstGeom>
          <a:solidFill>
            <a:srgbClr val="0D1114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6" name="Text 24"/>
          <p:cNvSpPr/>
          <p:nvPr/>
        </p:nvSpPr>
        <p:spPr>
          <a:xfrm>
            <a:off x="621792" y="2788920"/>
            <a:ext cx="19202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E8B4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ENTITLEMENT_DENIED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724912" y="2788920"/>
            <a:ext cx="26517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 not permitted for that channel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59552" y="2788920"/>
            <a:ext cx="30175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Subscribe to the channel matching your role; AUDIT may access all</a:t>
            </a:r>
            <a:endParaRPr lang="en-US" sz="900" dirty="0"/>
          </a:p>
        </p:txBody>
      </p:sp>
      <p:sp>
        <p:nvSpPr>
          <p:cNvPr id="29" name="Table 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086100"/>
            <a:ext cx="8138160" cy="297180"/>
          </a:xfrm>
          <a:prstGeom prst="rect">
            <a:avLst/>
          </a:prstGeom>
          <a:solidFill>
            <a:srgbClr val="1B2228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0" name="Text 28"/>
          <p:cNvSpPr/>
          <p:nvPr/>
        </p:nvSpPr>
        <p:spPr>
          <a:xfrm>
            <a:off x="621792" y="3086100"/>
            <a:ext cx="19202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E8B4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INVALID_CHANNEL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724912" y="3086100"/>
            <a:ext cx="26517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Unknown or empty CH value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559552" y="3086100"/>
            <a:ext cx="30175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CLEARING, DROP_COPY or AUDIT</a:t>
            </a:r>
            <a:endParaRPr lang="en-US" sz="900" dirty="0"/>
          </a:p>
        </p:txBody>
      </p:sp>
      <p:sp>
        <p:nvSpPr>
          <p:cNvPr id="33" name="Table 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383280"/>
            <a:ext cx="8138160" cy="297180"/>
          </a:xfrm>
          <a:prstGeom prst="rect">
            <a:avLst/>
          </a:prstGeom>
          <a:solidFill>
            <a:srgbClr val="0D1114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4" name="Text 32"/>
          <p:cNvSpPr/>
          <p:nvPr/>
        </p:nvSpPr>
        <p:spPr>
          <a:xfrm>
            <a:off x="621792" y="3383280"/>
            <a:ext cx="19202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E86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REPLAY_MISS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724912" y="3383280"/>
            <a:ext cx="26517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LASTSEQ is outside the journal window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559552" y="3383280"/>
            <a:ext cx="30175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Accept the recovery SNAP and reset your local baseline</a:t>
            </a:r>
            <a:endParaRPr lang="en-US" sz="900" dirty="0"/>
          </a:p>
        </p:txBody>
      </p:sp>
      <p:sp>
        <p:nvSpPr>
          <p:cNvPr id="37" name="Table 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680460"/>
            <a:ext cx="8138160" cy="297180"/>
          </a:xfrm>
          <a:prstGeom prst="rect">
            <a:avLst/>
          </a:prstGeom>
          <a:solidFill>
            <a:srgbClr val="1B2228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8" name="Text 36"/>
          <p:cNvSpPr/>
          <p:nvPr/>
        </p:nvSpPr>
        <p:spPr>
          <a:xfrm>
            <a:off x="621792" y="3680460"/>
            <a:ext cx="19202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E86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SLOW_CLIENT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724912" y="3680460"/>
            <a:ext cx="26517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cannot drain the stream fast enough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559552" y="3680460"/>
            <a:ext cx="30175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Terminal — reconnect and process faster</a:t>
            </a:r>
            <a:endParaRPr lang="en-US" sz="900" dirty="0"/>
          </a:p>
        </p:txBody>
      </p:sp>
      <p:sp>
        <p:nvSpPr>
          <p:cNvPr id="41" name="Table 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977640"/>
            <a:ext cx="8138160" cy="297180"/>
          </a:xfrm>
          <a:prstGeom prst="rect">
            <a:avLst/>
          </a:prstGeom>
          <a:solidFill>
            <a:srgbClr val="0D1114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2" name="Text 40"/>
          <p:cNvSpPr/>
          <p:nvPr/>
        </p:nvSpPr>
        <p:spPr>
          <a:xfrm>
            <a:off x="621792" y="3977640"/>
            <a:ext cx="192024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E86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BAD_MESSAGE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724912" y="3977640"/>
            <a:ext cx="26517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Malformed or oversized line (over 4096 bytes)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559552" y="3977640"/>
            <a:ext cx="30175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80"/>
              </a:lnSpc>
              <a:buNone/>
            </a:pPr>
            <a:r>
              <a:rPr lang="en-US" sz="9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 your line syntax and framing</a:t>
            </a:r>
            <a:endParaRPr lang="en-US" sz="900" dirty="0"/>
          </a:p>
        </p:txBody>
      </p:sp>
      <p:sp>
        <p:nvSpPr>
          <p:cNvPr id="45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370832"/>
            <a:ext cx="8138160" cy="310896"/>
          </a:xfrm>
          <a:prstGeom prst="rect">
            <a:avLst/>
          </a:prstGeom>
          <a:solidFill>
            <a:srgbClr val="232C33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6" name="Card accent 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370832"/>
            <a:ext cx="50292" cy="310896"/>
          </a:xfrm>
          <a:prstGeom prst="rect">
            <a:avLst/>
          </a:prstGeom>
          <a:solidFill>
            <a:srgbClr val="E8695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7" name="Text 45"/>
          <p:cNvSpPr/>
          <p:nvPr/>
        </p:nvSpPr>
        <p:spPr>
          <a:xfrm>
            <a:off x="777240" y="4370832"/>
            <a:ext cx="7635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are terminal — SLOW_CLIENT and a failed handshake end the session. The rest you can recover from in place.</a:t>
            </a:r>
            <a:endParaRPr lang="en-US" sz="9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bstract conceptual artwork introducing the section"/>
          <p:cNvPicPr>
            <a:picLocks noChangeAspect="1"/>
          </p:cNvPicPr>
          <p:nvPr/>
        </p:nvPicPr>
        <p:blipFill>
          <a:blip r:embed="rId3"/>
          <a:srcRect t="7813" b="781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Image scri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E11">
              <a:alpha val="66000"/>
            </a:srgbClr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" name="Left scri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669280" cy="5143500"/>
          </a:xfrm>
          <a:prstGeom prst="rect">
            <a:avLst/>
          </a:prstGeom>
          <a:solidFill>
            <a:srgbClr val="0B0E11">
              <a:alpha val="76000"/>
            </a:srgbClr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5" name="Left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8580" cy="5143500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6" name="Text 3"/>
          <p:cNvSpPr/>
          <p:nvPr/>
        </p:nvSpPr>
        <p:spPr>
          <a:xfrm>
            <a:off x="640080" y="15727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07</a:t>
            </a:r>
            <a:endParaRPr lang="en-US" sz="1250" dirty="0"/>
          </a:p>
        </p:txBody>
      </p:sp>
      <p:sp>
        <p:nvSpPr>
          <p:cNvPr id="7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2148840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EF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Using RALF as a client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640080" y="306324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can test the protocol by hand in under a minute, then build a robust subscriber in about forty lines.</a:t>
            </a:r>
            <a:endParaRPr lang="en-US" sz="13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502920" y="17373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4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GUIDE</a:t>
            </a:r>
            <a:endParaRPr lang="en-US" sz="95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EEF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client checklist</a:t>
            </a:r>
            <a:endParaRPr lang="en-US" sz="2500" dirty="0"/>
          </a:p>
        </p:txBody>
      </p:sp>
      <p:sp>
        <p:nvSpPr>
          <p:cNvPr id="5" name="Title under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88136"/>
            <a:ext cx="566928" cy="32004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6" name="Text 4"/>
          <p:cNvSpPr/>
          <p:nvPr/>
        </p:nvSpPr>
        <p:spPr>
          <a:xfrm>
            <a:off x="502920" y="113385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 these eight things and your client is production-shaped.</a:t>
            </a:r>
            <a:endParaRPr lang="en-US" sz="1200" dirty="0"/>
          </a:p>
        </p:txBody>
      </p:sp>
      <p:sp>
        <p:nvSpPr>
          <p:cNvPr id="7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791456"/>
            <a:ext cx="8138160" cy="18288"/>
          </a:xfrm>
          <a:prstGeom prst="rect">
            <a:avLst/>
          </a:prstGeom>
          <a:solidFill>
            <a:srgbClr val="36424B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8" name="Text 6"/>
          <p:cNvSpPr/>
          <p:nvPr/>
        </p:nvSpPr>
        <p:spPr>
          <a:xfrm>
            <a:off x="502920" y="48280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575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EduMatcher  ·  RALF post-trade protocol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43800" y="48280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575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41</a:t>
            </a:r>
            <a:endParaRPr lang="en-US" sz="850" dirty="0"/>
          </a:p>
        </p:txBody>
      </p:sp>
      <p:sp>
        <p:nvSpPr>
          <p:cNvPr id="10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26464"/>
            <a:ext cx="3959352" cy="694944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Card accent 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26464"/>
            <a:ext cx="50292" cy="694944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2" name="Badge dis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7512" y="1609344"/>
            <a:ext cx="329184" cy="329184"/>
          </a:xfrm>
          <a:prstGeom prst="ellipse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3" name="Text 11"/>
          <p:cNvSpPr/>
          <p:nvPr/>
        </p:nvSpPr>
        <p:spPr>
          <a:xfrm>
            <a:off x="667512" y="1609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06424" y="1463040"/>
            <a:ext cx="31729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one long-lived TCP connection to port 5580</a:t>
            </a:r>
            <a:endParaRPr lang="en-US" sz="1000" dirty="0"/>
          </a:p>
        </p:txBody>
      </p:sp>
      <p:sp>
        <p:nvSpPr>
          <p:cNvPr id="15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81728" y="1426464"/>
            <a:ext cx="3959352" cy="694944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6" name="Card accent 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81728" y="1426464"/>
            <a:ext cx="50292" cy="694944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7" name="Badge dis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46320" y="1609344"/>
            <a:ext cx="329184" cy="329184"/>
          </a:xfrm>
          <a:prstGeom prst="ellipse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8" name="Text 16"/>
          <p:cNvSpPr/>
          <p:nvPr/>
        </p:nvSpPr>
        <p:spPr>
          <a:xfrm>
            <a:off x="4846320" y="1609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85232" y="1463040"/>
            <a:ext cx="31729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Send HELLO first — CLIENT, PROTO=RALF1, ROLE, and LASTSEQ</a:t>
            </a:r>
            <a:endParaRPr lang="en-US" sz="1000" dirty="0"/>
          </a:p>
        </p:txBody>
      </p:sp>
      <p:sp>
        <p:nvSpPr>
          <p:cNvPr id="20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231136"/>
            <a:ext cx="3959352" cy="694944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1" name="Card accent 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231136"/>
            <a:ext cx="50292" cy="694944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2" name="Badge dis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7512" y="2414016"/>
            <a:ext cx="329184" cy="329184"/>
          </a:xfrm>
          <a:prstGeom prst="ellipse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3" name="Text 21"/>
          <p:cNvSpPr/>
          <p:nvPr/>
        </p:nvSpPr>
        <p:spPr>
          <a:xfrm>
            <a:off x="667512" y="24140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06424" y="2267712"/>
            <a:ext cx="31729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Wait for WELCOME; read REPLAY and HBINT from it rather than assuming</a:t>
            </a:r>
            <a:endParaRPr lang="en-US" sz="1000" dirty="0"/>
          </a:p>
        </p:txBody>
      </p:sp>
      <p:sp>
        <p:nvSpPr>
          <p:cNvPr id="25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81728" y="2231136"/>
            <a:ext cx="3959352" cy="694944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6" name="Card accent 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81728" y="2231136"/>
            <a:ext cx="50292" cy="694944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7" name="Badge dis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46320" y="2414016"/>
            <a:ext cx="329184" cy="329184"/>
          </a:xfrm>
          <a:prstGeom prst="ellipse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8" name="Text 26"/>
          <p:cNvSpPr/>
          <p:nvPr/>
        </p:nvSpPr>
        <p:spPr>
          <a:xfrm>
            <a:off x="4846320" y="24140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85232" y="2267712"/>
            <a:ext cx="31729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Subscribe only to channels your role is entitled to</a:t>
            </a:r>
            <a:endParaRPr lang="en-US" sz="1000" dirty="0"/>
          </a:p>
        </p:txBody>
      </p:sp>
      <p:sp>
        <p:nvSpPr>
          <p:cNvPr id="30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035808"/>
            <a:ext cx="3959352" cy="694944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1" name="Card accent 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035808"/>
            <a:ext cx="50292" cy="694944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2" name="Badge dis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7512" y="3218688"/>
            <a:ext cx="329184" cy="329184"/>
          </a:xfrm>
          <a:prstGeom prst="ellipse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3" name="Text 31"/>
          <p:cNvSpPr/>
          <p:nvPr/>
        </p:nvSpPr>
        <p:spPr>
          <a:xfrm>
            <a:off x="667512" y="32186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06424" y="3072384"/>
            <a:ext cx="31729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Store the SNAP sequence per (CH, SYM) as your baseline</a:t>
            </a:r>
            <a:endParaRPr lang="en-US" sz="1000" dirty="0"/>
          </a:p>
        </p:txBody>
      </p:sp>
      <p:sp>
        <p:nvSpPr>
          <p:cNvPr id="35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81728" y="3035808"/>
            <a:ext cx="3959352" cy="694944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6" name="Card accent 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81728" y="3035808"/>
            <a:ext cx="50292" cy="694944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7" name="Badge dis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46320" y="3218688"/>
            <a:ext cx="329184" cy="329184"/>
          </a:xfrm>
          <a:prstGeom prst="ellipse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8" name="Text 36"/>
          <p:cNvSpPr/>
          <p:nvPr/>
        </p:nvSpPr>
        <p:spPr>
          <a:xfrm>
            <a:off x="4846320" y="32186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85232" y="3072384"/>
            <a:ext cx="31729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Buffer bytes and split on newline — never treat a read as a message</a:t>
            </a:r>
            <a:endParaRPr lang="en-US" sz="1000" dirty="0"/>
          </a:p>
        </p:txBody>
      </p:sp>
      <p:sp>
        <p:nvSpPr>
          <p:cNvPr id="40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840480"/>
            <a:ext cx="3959352" cy="694944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1" name="Card accent 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840480"/>
            <a:ext cx="50292" cy="694944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2" name="Badge dis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7512" y="4023360"/>
            <a:ext cx="329184" cy="329184"/>
          </a:xfrm>
          <a:prstGeom prst="ellipse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3" name="Text 41"/>
          <p:cNvSpPr/>
          <p:nvPr/>
        </p:nvSpPr>
        <p:spPr>
          <a:xfrm>
            <a:off x="667512" y="40233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106424" y="3877056"/>
            <a:ext cx="31729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every SEQ for gaps and remember the last one you saw</a:t>
            </a:r>
            <a:endParaRPr lang="en-US" sz="1000" dirty="0"/>
          </a:p>
        </p:txBody>
      </p:sp>
      <p:sp>
        <p:nvSpPr>
          <p:cNvPr id="45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81728" y="3840480"/>
            <a:ext cx="3959352" cy="694944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6" name="Card accent 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81728" y="3840480"/>
            <a:ext cx="50292" cy="694944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7" name="Badge dis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46320" y="4023360"/>
            <a:ext cx="329184" cy="329184"/>
          </a:xfrm>
          <a:prstGeom prst="ellipse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8" name="Text 46"/>
          <p:cNvSpPr/>
          <p:nvPr/>
        </p:nvSpPr>
        <p:spPr>
          <a:xfrm>
            <a:off x="4846320" y="40233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285232" y="3877056"/>
            <a:ext cx="31729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reconnect, send your last good SEQ as LASTSEQ and handle REPLAY_MISS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02920" y="4626864"/>
            <a:ext cx="8138160" cy="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" dirty="0">
                <a:solidFill>
                  <a:srgbClr val="12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Everything else — heartbeats, entitlements, journalling — the gateway already does for you.</a:t>
            </a:r>
            <a:endParaRPr lang="en-US" sz="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502920" y="17373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4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FIRST CONTACT</a:t>
            </a:r>
            <a:endParaRPr lang="en-US" sz="95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EEF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Try it in sixty seconds — no code required</a:t>
            </a:r>
            <a:endParaRPr lang="en-US" sz="2500" dirty="0"/>
          </a:p>
        </p:txBody>
      </p:sp>
      <p:sp>
        <p:nvSpPr>
          <p:cNvPr id="5" name="Title under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88136"/>
            <a:ext cx="566928" cy="32004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6" name="Text 4"/>
          <p:cNvSpPr/>
          <p:nvPr/>
        </p:nvSpPr>
        <p:spPr>
          <a:xfrm>
            <a:off x="502920" y="113385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 the line protocol by hand before you write a single line of client.</a:t>
            </a:r>
            <a:endParaRPr lang="en-US" sz="1200" dirty="0"/>
          </a:p>
        </p:txBody>
      </p:sp>
      <p:sp>
        <p:nvSpPr>
          <p:cNvPr id="7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791456"/>
            <a:ext cx="8138160" cy="18288"/>
          </a:xfrm>
          <a:prstGeom prst="rect">
            <a:avLst/>
          </a:prstGeom>
          <a:solidFill>
            <a:srgbClr val="36424B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8" name="Text 6"/>
          <p:cNvSpPr/>
          <p:nvPr/>
        </p:nvSpPr>
        <p:spPr>
          <a:xfrm>
            <a:off x="502920" y="48280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575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EduMatcher  ·  RALF post-trade protocol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43800" y="48280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575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42</a:t>
            </a:r>
            <a:endParaRPr lang="en-US" sz="850" dirty="0"/>
          </a:p>
        </p:txBody>
      </p:sp>
      <p:sp>
        <p:nvSpPr>
          <p:cNvPr id="10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17904"/>
            <a:ext cx="3941064" cy="2331720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1" name="Card 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517904"/>
            <a:ext cx="3941064" cy="50292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2" name="Text 10"/>
          <p:cNvSpPr/>
          <p:nvPr/>
        </p:nvSpPr>
        <p:spPr>
          <a:xfrm>
            <a:off x="722376" y="16642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Option A — by hand</a:t>
            </a:r>
            <a:endParaRPr lang="en-US" sz="1200" dirty="0"/>
          </a:p>
        </p:txBody>
      </p:sp>
      <p:sp>
        <p:nvSpPr>
          <p:cNvPr id="13" name="Code block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2376" y="1993392"/>
            <a:ext cx="3502152" cy="1005840"/>
          </a:xfrm>
          <a:prstGeom prst="rect">
            <a:avLst/>
          </a:prstGeom>
          <a:solidFill>
            <a:srgbClr val="0D1114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4" name="Code block 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2376" y="1993392"/>
            <a:ext cx="41148" cy="1005840"/>
          </a:xfrm>
          <a:prstGeom prst="rect">
            <a:avLst/>
          </a:prstGeom>
          <a:solidFill>
            <a:srgbClr val="1F8A5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5" name="Text 13"/>
          <p:cNvSpPr/>
          <p:nvPr/>
        </p:nvSpPr>
        <p:spPr>
          <a:xfrm>
            <a:off x="905256" y="2112264"/>
            <a:ext cx="31729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75"/>
              </a:lnSpc>
              <a:buNone/>
            </a:pPr>
            <a:r>
              <a:rPr lang="en-US" sz="850" b="1" dirty="0">
                <a:solidFill>
                  <a:srgbClr val="EEF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 127.0.0.1 5580</a:t>
            </a:r>
            <a:endParaRPr lang="en-US" sz="850" dirty="0"/>
          </a:p>
          <a:p>
            <a:pPr marL="0" indent="0">
              <a:lnSpc>
                <a:spcPts val="1275"/>
              </a:lnSpc>
              <a:buNone/>
            </a:pPr>
            <a:r>
              <a:rPr lang="en-US" sz="850" dirty="0">
                <a:solidFill>
                  <a:srgbClr val="7BE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HELLO|CLIENT=ops01|PROTO=RALF1|</a:t>
            </a:r>
            <a:endParaRPr lang="en-US" sz="850" dirty="0"/>
          </a:p>
          <a:p>
            <a:pPr marL="0" indent="0">
              <a:lnSpc>
                <a:spcPts val="1275"/>
              </a:lnSpc>
              <a:buNone/>
            </a:pPr>
            <a:r>
              <a:rPr lang="en-US" sz="850" dirty="0">
                <a:solidFill>
                  <a:srgbClr val="7BE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ROLE=CLEARING|LASTSEQ=0</a:t>
            </a:r>
            <a:endParaRPr lang="en-US" sz="850" dirty="0"/>
          </a:p>
          <a:p>
            <a:pPr marL="0" indent="0">
              <a:lnSpc>
                <a:spcPts val="1275"/>
              </a:lnSpc>
              <a:buNone/>
            </a:pPr>
            <a:r>
              <a:rPr lang="en-US" sz="850" dirty="0">
                <a:solidFill>
                  <a:srgbClr val="7BE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SUB|CH=CLEARING|SYM=*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22376" y="3108960"/>
            <a:ext cx="3502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Expect WELCOME, then SNAP, then live EXEC and EOD lines, with HB while idle.</a:t>
            </a:r>
            <a:endParaRPr lang="en-US" sz="950" dirty="0"/>
          </a:p>
        </p:txBody>
      </p:sp>
      <p:sp>
        <p:nvSpPr>
          <p:cNvPr id="17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0016" y="1517904"/>
            <a:ext cx="3941064" cy="2331720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8" name="Card 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0016" y="1517904"/>
            <a:ext cx="3941064" cy="50292"/>
          </a:xfrm>
          <a:prstGeom prst="rect">
            <a:avLst/>
          </a:prstGeom>
          <a:solidFill>
            <a:srgbClr val="6FA8D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9" name="Text 17"/>
          <p:cNvSpPr/>
          <p:nvPr/>
        </p:nvSpPr>
        <p:spPr>
          <a:xfrm>
            <a:off x="4919472" y="16642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FA8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Option B — ready-made</a:t>
            </a:r>
            <a:endParaRPr lang="en-US" sz="1200" dirty="0"/>
          </a:p>
        </p:txBody>
      </p:sp>
      <p:sp>
        <p:nvSpPr>
          <p:cNvPr id="20" name="Code block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19472" y="1993392"/>
            <a:ext cx="3502152" cy="475488"/>
          </a:xfrm>
          <a:prstGeom prst="rect">
            <a:avLst/>
          </a:prstGeom>
          <a:solidFill>
            <a:srgbClr val="0D1114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1" name="Code block 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19472" y="1993392"/>
            <a:ext cx="41148" cy="475488"/>
          </a:xfrm>
          <a:prstGeom prst="rect">
            <a:avLst/>
          </a:prstGeom>
          <a:solidFill>
            <a:srgbClr val="6FA8D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2" name="Text 20"/>
          <p:cNvSpPr/>
          <p:nvPr/>
        </p:nvSpPr>
        <p:spPr>
          <a:xfrm>
            <a:off x="5102352" y="2112264"/>
            <a:ext cx="3172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EEF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pm-ralf-spy --role CLEARING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19472" y="2578608"/>
            <a:ext cx="3502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protocol spy performs the handshake, subscribes, and pretty-prints every line for you — no hand-typed messages at all. It is read-only, so it is safe to point at a live gateway.</a:t>
            </a:r>
            <a:endParaRPr lang="en-US" sz="950" dirty="0"/>
          </a:p>
        </p:txBody>
      </p:sp>
      <p:sp>
        <p:nvSpPr>
          <p:cNvPr id="24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005072"/>
            <a:ext cx="8138160" cy="603504"/>
          </a:xfrm>
          <a:prstGeom prst="rect">
            <a:avLst/>
          </a:prstGeom>
          <a:solidFill>
            <a:srgbClr val="232C33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5" name="Card accent 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005072"/>
            <a:ext cx="50292" cy="603504"/>
          </a:xfrm>
          <a:prstGeom prst="rect">
            <a:avLst/>
          </a:prstGeom>
          <a:solidFill>
            <a:srgbClr val="E8B44A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6" name="Text 24"/>
          <p:cNvSpPr/>
          <p:nvPr/>
        </p:nvSpPr>
        <p:spPr>
          <a:xfrm>
            <a:off x="777240" y="4005072"/>
            <a:ext cx="7635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 either works: pm-engine must be running and publishing, pm-ralf-gwy must be running, and your symbols must exist in engine_config.yaml.</a:t>
            </a:r>
            <a:endParaRPr lang="en-US" sz="10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502920" y="17373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4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CODE</a:t>
            </a:r>
            <a:endParaRPr lang="en-US" sz="95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EEF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minimal client, with no dependencies</a:t>
            </a:r>
            <a:endParaRPr lang="en-US" sz="2500" dirty="0"/>
          </a:p>
        </p:txBody>
      </p:sp>
      <p:sp>
        <p:nvSpPr>
          <p:cNvPr id="5" name="Title under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88136"/>
            <a:ext cx="566928" cy="32004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6" name="Text 4"/>
          <p:cNvSpPr/>
          <p:nvPr/>
        </p:nvSpPr>
        <p:spPr>
          <a:xfrm>
            <a:off x="502920" y="113385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Enough to prove the connection works. Note the buffering — that part is not optional.</a:t>
            </a:r>
            <a:endParaRPr lang="en-US" sz="1200" dirty="0"/>
          </a:p>
        </p:txBody>
      </p:sp>
      <p:sp>
        <p:nvSpPr>
          <p:cNvPr id="7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791456"/>
            <a:ext cx="8138160" cy="18288"/>
          </a:xfrm>
          <a:prstGeom prst="rect">
            <a:avLst/>
          </a:prstGeom>
          <a:solidFill>
            <a:srgbClr val="36424B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8" name="Text 6"/>
          <p:cNvSpPr/>
          <p:nvPr/>
        </p:nvSpPr>
        <p:spPr>
          <a:xfrm>
            <a:off x="502920" y="48280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575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EduMatcher  ·  RALF post-trade protocol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43800" y="48280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575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43</a:t>
            </a:r>
            <a:endParaRPr lang="en-US" sz="850" dirty="0"/>
          </a:p>
        </p:txBody>
      </p:sp>
      <p:sp>
        <p:nvSpPr>
          <p:cNvPr id="10" name="Code block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4882896" cy="3127248"/>
          </a:xfrm>
          <a:prstGeom prst="rect">
            <a:avLst/>
          </a:prstGeom>
          <a:solidFill>
            <a:srgbClr val="0D1114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Code block 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41148" cy="3127248"/>
          </a:xfrm>
          <a:prstGeom prst="rect">
            <a:avLst/>
          </a:prstGeom>
          <a:solidFill>
            <a:srgbClr val="1F8A5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2" name="Text 10"/>
          <p:cNvSpPr/>
          <p:nvPr/>
        </p:nvSpPr>
        <p:spPr>
          <a:xfrm>
            <a:off x="685800" y="1581912"/>
            <a:ext cx="4553712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5"/>
              </a:lnSpc>
              <a:buNone/>
            </a:pPr>
            <a:r>
              <a:rPr lang="en-US" sz="803" dirty="0">
                <a:solidFill>
                  <a:srgbClr val="A98B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socket</a:t>
            </a:r>
            <a:endParaRPr lang="en-US" sz="803" dirty="0"/>
          </a:p>
          <a:p>
            <a:pPr marL="0" indent="0">
              <a:lnSpc>
                <a:spcPts val="1205"/>
              </a:lnSpc>
              <a:buNone/>
            </a:pPr>
            <a:endParaRPr lang="en-US" sz="803" dirty="0"/>
          </a:p>
          <a:p>
            <a:pPr marL="0" indent="0">
              <a:lnSpc>
                <a:spcPts val="1205"/>
              </a:lnSpc>
              <a:buNone/>
            </a:pPr>
            <a:r>
              <a:rPr lang="en-US" sz="803" dirty="0">
                <a:solidFill>
                  <a:srgbClr val="7BE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sock = socket.create_connection(("127.0.0.1", 5580))</a:t>
            </a:r>
            <a:endParaRPr lang="en-US" sz="803" dirty="0"/>
          </a:p>
          <a:p>
            <a:pPr marL="0" indent="0">
              <a:lnSpc>
                <a:spcPts val="1205"/>
              </a:lnSpc>
              <a:buNone/>
            </a:pPr>
            <a:r>
              <a:rPr lang="en-US" sz="803" dirty="0">
                <a:solidFill>
                  <a:srgbClr val="7BE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sock.sendall(b"HELLO|CLIENT=bot01|PROTO=RALF1|"</a:t>
            </a:r>
            <a:endParaRPr lang="en-US" sz="803" dirty="0"/>
          </a:p>
          <a:p>
            <a:pPr marL="0" indent="0">
              <a:lnSpc>
                <a:spcPts val="1205"/>
              </a:lnSpc>
              <a:buNone/>
            </a:pPr>
            <a:r>
              <a:rPr lang="en-US" sz="803" dirty="0">
                <a:solidFill>
                  <a:srgbClr val="7BE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b"ROLE=CLEARING|LASTSEQ=0\n")</a:t>
            </a:r>
            <a:endParaRPr lang="en-US" sz="803" dirty="0"/>
          </a:p>
          <a:p>
            <a:pPr marL="0" indent="0">
              <a:lnSpc>
                <a:spcPts val="1205"/>
              </a:lnSpc>
              <a:buNone/>
            </a:pPr>
            <a:r>
              <a:rPr lang="en-US" sz="803" dirty="0">
                <a:solidFill>
                  <a:srgbClr val="7BE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sock.sendall(b"SUB|CH=CLEARING|SYM=*\n")</a:t>
            </a:r>
            <a:endParaRPr lang="en-US" sz="803" dirty="0"/>
          </a:p>
          <a:p>
            <a:pPr marL="0" indent="0">
              <a:lnSpc>
                <a:spcPts val="1205"/>
              </a:lnSpc>
              <a:buNone/>
            </a:pPr>
            <a:endParaRPr lang="en-US" sz="803" dirty="0"/>
          </a:p>
          <a:p>
            <a:pPr marL="0" indent="0">
              <a:lnSpc>
                <a:spcPts val="1205"/>
              </a:lnSpc>
              <a:buNone/>
            </a:pPr>
            <a:r>
              <a:rPr lang="en-US" sz="803" dirty="0">
                <a:solidFill>
                  <a:srgbClr val="EEF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buf = bytearray()</a:t>
            </a:r>
            <a:endParaRPr lang="en-US" sz="803" dirty="0"/>
          </a:p>
          <a:p>
            <a:pPr marL="0" indent="0">
              <a:lnSpc>
                <a:spcPts val="1205"/>
              </a:lnSpc>
              <a:buNone/>
            </a:pPr>
            <a:r>
              <a:rPr lang="en-US" sz="803" dirty="0">
                <a:solidFill>
                  <a:srgbClr val="A98B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True:</a:t>
            </a:r>
            <a:endParaRPr lang="en-US" sz="803" dirty="0"/>
          </a:p>
          <a:p>
            <a:pPr marL="0" indent="0">
              <a:lnSpc>
                <a:spcPts val="1205"/>
              </a:lnSpc>
              <a:buNone/>
            </a:pPr>
            <a:r>
              <a:rPr lang="en-US" sz="803" dirty="0">
                <a:solidFill>
                  <a:srgbClr val="EEF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chunk = sock.recv(4096)</a:t>
            </a:r>
            <a:endParaRPr lang="en-US" sz="803" dirty="0"/>
          </a:p>
          <a:p>
            <a:pPr marL="0" indent="0">
              <a:lnSpc>
                <a:spcPts val="1205"/>
              </a:lnSpc>
              <a:buNone/>
            </a:pPr>
            <a:r>
              <a:rPr lang="en-US" sz="803" dirty="0">
                <a:solidFill>
                  <a:srgbClr val="A98B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chunk:</a:t>
            </a:r>
            <a:endParaRPr lang="en-US" sz="803" dirty="0"/>
          </a:p>
          <a:p>
            <a:pPr marL="0" indent="0">
              <a:lnSpc>
                <a:spcPts val="1205"/>
              </a:lnSpc>
              <a:buNone/>
            </a:pPr>
            <a:r>
              <a:rPr lang="en-US" sz="803" dirty="0">
                <a:solidFill>
                  <a:srgbClr val="A98B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break</a:t>
            </a:r>
            <a:endParaRPr lang="en-US" sz="803" dirty="0"/>
          </a:p>
          <a:p>
            <a:pPr marL="0" indent="0">
              <a:lnSpc>
                <a:spcPts val="1205"/>
              </a:lnSpc>
              <a:buNone/>
            </a:pPr>
            <a:r>
              <a:rPr lang="en-US" sz="803" dirty="0">
                <a:solidFill>
                  <a:srgbClr val="EEF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buf.extend(chunk)</a:t>
            </a:r>
            <a:endParaRPr lang="en-US" sz="803" dirty="0"/>
          </a:p>
          <a:p>
            <a:pPr marL="0" indent="0">
              <a:lnSpc>
                <a:spcPts val="1205"/>
              </a:lnSpc>
              <a:buNone/>
            </a:pPr>
            <a:r>
              <a:rPr lang="en-US" sz="803" dirty="0">
                <a:solidFill>
                  <a:srgbClr val="A98B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b"\n" in buf:</a:t>
            </a:r>
            <a:endParaRPr lang="en-US" sz="803" dirty="0"/>
          </a:p>
          <a:p>
            <a:pPr marL="0" indent="0">
              <a:lnSpc>
                <a:spcPts val="1205"/>
              </a:lnSpc>
              <a:buNone/>
            </a:pPr>
            <a:r>
              <a:rPr lang="en-US" sz="803" dirty="0">
                <a:solidFill>
                  <a:srgbClr val="EEF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idx = buf.index(b"\n")</a:t>
            </a:r>
            <a:endParaRPr lang="en-US" sz="803" dirty="0"/>
          </a:p>
          <a:p>
            <a:pPr marL="0" indent="0">
              <a:lnSpc>
                <a:spcPts val="1205"/>
              </a:lnSpc>
              <a:buNone/>
            </a:pPr>
            <a:r>
              <a:rPr lang="en-US" sz="803" dirty="0">
                <a:solidFill>
                  <a:srgbClr val="EEF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line = buf[:idx].decode().strip()</a:t>
            </a:r>
            <a:endParaRPr lang="en-US" sz="803" dirty="0"/>
          </a:p>
          <a:p>
            <a:pPr marL="0" indent="0">
              <a:lnSpc>
                <a:spcPts val="1205"/>
              </a:lnSpc>
              <a:buNone/>
            </a:pPr>
            <a:r>
              <a:rPr lang="en-US" sz="803" dirty="0">
                <a:solidFill>
                  <a:srgbClr val="EEF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del buf[:idx + 1]</a:t>
            </a:r>
            <a:endParaRPr lang="en-US" sz="803" dirty="0"/>
          </a:p>
          <a:p>
            <a:pPr marL="0" indent="0">
              <a:lnSpc>
                <a:spcPts val="1205"/>
              </a:lnSpc>
              <a:buNone/>
            </a:pPr>
            <a:r>
              <a:rPr lang="en-US" sz="803" dirty="0">
                <a:solidFill>
                  <a:srgbClr val="A98B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line:</a:t>
            </a:r>
            <a:endParaRPr lang="en-US" sz="803" dirty="0"/>
          </a:p>
          <a:p>
            <a:pPr marL="0" indent="0">
              <a:lnSpc>
                <a:spcPts val="1205"/>
              </a:lnSpc>
              <a:buNone/>
            </a:pPr>
            <a:r>
              <a:rPr lang="en-US" sz="803" dirty="0">
                <a:solidFill>
                  <a:srgbClr val="EEF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print(line)</a:t>
            </a:r>
            <a:endParaRPr lang="en-US" sz="803" dirty="0"/>
          </a:p>
        </p:txBody>
      </p:sp>
      <p:sp>
        <p:nvSpPr>
          <p:cNvPr id="13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29961" y="1481328"/>
            <a:ext cx="3011119" cy="1371600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4" name="Card 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29961" y="1481328"/>
            <a:ext cx="3011119" cy="50292"/>
          </a:xfrm>
          <a:prstGeom prst="rect">
            <a:avLst/>
          </a:prstGeom>
          <a:solidFill>
            <a:srgbClr val="E8695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5" name="Text 13"/>
          <p:cNvSpPr/>
          <p:nvPr/>
        </p:nvSpPr>
        <p:spPr>
          <a:xfrm>
            <a:off x="5812841" y="1627632"/>
            <a:ext cx="26453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9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one mistake everyone makes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812841" y="1920240"/>
            <a:ext cx="264535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Never assume one recv() returns exactly one message. TCP is a byte stream — it may hand you half a line, or three lines at once. Always buffer and split on newline.</a:t>
            </a:r>
            <a:endParaRPr lang="en-US" sz="1000" dirty="0"/>
          </a:p>
        </p:txBody>
      </p:sp>
      <p:sp>
        <p:nvSpPr>
          <p:cNvPr id="17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29961" y="2980944"/>
            <a:ext cx="3011119" cy="1517904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8" name="Card 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29961" y="2980944"/>
            <a:ext cx="3011119" cy="50292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9" name="Text 17"/>
          <p:cNvSpPr/>
          <p:nvPr/>
        </p:nvSpPr>
        <p:spPr>
          <a:xfrm>
            <a:off x="5812841" y="3127248"/>
            <a:ext cx="26453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 use the bundled library</a:t>
            </a:r>
            <a:endParaRPr lang="en-US" sz="1100" dirty="0"/>
          </a:p>
        </p:txBody>
      </p:sp>
      <p:sp>
        <p:nvSpPr>
          <p:cNvPr id="20" name="Code block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12841" y="3419856"/>
            <a:ext cx="2645359" cy="914400"/>
          </a:xfrm>
          <a:prstGeom prst="rect">
            <a:avLst/>
          </a:prstGeom>
          <a:solidFill>
            <a:srgbClr val="0D1114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1" name="Code block 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12841" y="3419856"/>
            <a:ext cx="41148" cy="914400"/>
          </a:xfrm>
          <a:prstGeom prst="rect">
            <a:avLst/>
          </a:prstGeom>
          <a:solidFill>
            <a:srgbClr val="1F8A5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2" name="Text 20"/>
          <p:cNvSpPr/>
          <p:nvPr/>
        </p:nvSpPr>
        <p:spPr>
          <a:xfrm>
            <a:off x="5995721" y="3538728"/>
            <a:ext cx="231617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75"/>
              </a:lnSpc>
              <a:buNone/>
            </a:pPr>
            <a:r>
              <a:rPr lang="en-US" sz="850" dirty="0">
                <a:solidFill>
                  <a:srgbClr val="7BE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ralf_parser import (</a:t>
            </a:r>
            <a:endParaRPr lang="en-US" sz="850" dirty="0"/>
          </a:p>
          <a:p>
            <a:pPr marL="0" indent="0">
              <a:lnSpc>
                <a:spcPts val="1275"/>
              </a:lnSpc>
              <a:buNone/>
            </a:pPr>
            <a:r>
              <a:rPr lang="en-US" sz="850" dirty="0">
                <a:solidFill>
                  <a:srgbClr val="7BE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parse_ralf_line,</a:t>
            </a:r>
            <a:endParaRPr lang="en-US" sz="850" dirty="0"/>
          </a:p>
          <a:p>
            <a:pPr marL="0" indent="0">
              <a:lnSpc>
                <a:spcPts val="1275"/>
              </a:lnSpc>
              <a:buNone/>
            </a:pPr>
            <a:r>
              <a:rPr lang="en-US" sz="850" dirty="0">
                <a:solidFill>
                  <a:srgbClr val="7BE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build_ralf_line)</a:t>
            </a:r>
            <a:endParaRPr lang="en-US" sz="8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502920" y="17373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4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CODE</a:t>
            </a:r>
            <a:endParaRPr lang="en-US" sz="95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EEF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shape of a real subscriber</a:t>
            </a:r>
            <a:endParaRPr lang="en-US" sz="2500" dirty="0"/>
          </a:p>
        </p:txBody>
      </p:sp>
      <p:sp>
        <p:nvSpPr>
          <p:cNvPr id="5" name="Title under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88136"/>
            <a:ext cx="566928" cy="32004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6" name="Text 4"/>
          <p:cNvSpPr/>
          <p:nvPr/>
        </p:nvSpPr>
        <p:spPr>
          <a:xfrm>
            <a:off x="502920" y="113385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Condensed from the bundled example — the four patterns that matter.</a:t>
            </a:r>
            <a:endParaRPr lang="en-US" sz="1200" dirty="0"/>
          </a:p>
        </p:txBody>
      </p:sp>
      <p:sp>
        <p:nvSpPr>
          <p:cNvPr id="7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791456"/>
            <a:ext cx="8138160" cy="18288"/>
          </a:xfrm>
          <a:prstGeom prst="rect">
            <a:avLst/>
          </a:prstGeom>
          <a:solidFill>
            <a:srgbClr val="36424B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8" name="Text 6"/>
          <p:cNvSpPr/>
          <p:nvPr/>
        </p:nvSpPr>
        <p:spPr>
          <a:xfrm>
            <a:off x="502920" y="48280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575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EduMatcher  ·  RALF post-trade protocol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43800" y="48280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575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44</a:t>
            </a:r>
            <a:endParaRPr lang="en-US" sz="850" dirty="0"/>
          </a:p>
        </p:txBody>
      </p:sp>
      <p:sp>
        <p:nvSpPr>
          <p:cNvPr id="10" name="Code block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44752"/>
            <a:ext cx="5045659" cy="3255264"/>
          </a:xfrm>
          <a:prstGeom prst="rect">
            <a:avLst/>
          </a:prstGeom>
          <a:solidFill>
            <a:srgbClr val="0D1114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1" name="Code block 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44752"/>
            <a:ext cx="41148" cy="3255264"/>
          </a:xfrm>
          <a:prstGeom prst="rect">
            <a:avLst/>
          </a:prstGeom>
          <a:solidFill>
            <a:srgbClr val="1F8A5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2" name="Text 10"/>
          <p:cNvSpPr/>
          <p:nvPr/>
        </p:nvSpPr>
        <p:spPr>
          <a:xfrm>
            <a:off x="685800" y="1563624"/>
            <a:ext cx="471647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39"/>
              </a:lnSpc>
              <a:buNone/>
            </a:pPr>
            <a:r>
              <a:rPr lang="en-US" sz="693" dirty="0">
                <a:solidFill>
                  <a:srgbClr val="7BE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socket.create_connection((HOST, 5580), timeout=5) as sock:</a:t>
            </a:r>
            <a:endParaRPr lang="en-US" sz="693" dirty="0"/>
          </a:p>
          <a:p>
            <a:pPr marL="0" indent="0">
              <a:lnSpc>
                <a:spcPts val="1039"/>
              </a:lnSpc>
              <a:buNone/>
            </a:pPr>
            <a:r>
              <a:rPr lang="en-US" sz="693" dirty="0">
                <a:solidFill>
                  <a:srgbClr val="8797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reader = LineReader(sock)          # buffers, yields lines</a:t>
            </a:r>
            <a:endParaRPr lang="en-US" sz="693" dirty="0"/>
          </a:p>
          <a:p>
            <a:pPr marL="0" indent="0">
              <a:lnSpc>
                <a:spcPts val="1039"/>
              </a:lnSpc>
              <a:buNone/>
            </a:pPr>
            <a:endParaRPr lang="en-US" sz="693" dirty="0"/>
          </a:p>
          <a:p>
            <a:pPr marL="0" indent="0">
              <a:lnSpc>
                <a:spcPts val="1039"/>
              </a:lnSpc>
              <a:buNone/>
            </a:pPr>
            <a:r>
              <a:rPr lang="en-US" sz="693" dirty="0">
                <a:solidFill>
                  <a:srgbClr val="EEF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send(sock, "HELLO", {"CLIENT": "mybot", "PROTO": "RALF1",</a:t>
            </a:r>
            <a:endParaRPr lang="en-US" sz="693" dirty="0"/>
          </a:p>
          <a:p>
            <a:pPr marL="0" indent="0">
              <a:lnSpc>
                <a:spcPts val="1039"/>
              </a:lnSpc>
              <a:buNone/>
            </a:pPr>
            <a:r>
              <a:rPr lang="en-US" sz="693" dirty="0">
                <a:solidFill>
                  <a:srgbClr val="EEF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"ROLE": "CLEARING", "LASTSEQ": "0"})</a:t>
            </a:r>
            <a:endParaRPr lang="en-US" sz="693" dirty="0"/>
          </a:p>
          <a:p>
            <a:pPr marL="0" indent="0">
              <a:lnSpc>
                <a:spcPts val="1039"/>
              </a:lnSpc>
              <a:buNone/>
            </a:pPr>
            <a:r>
              <a:rPr lang="en-US" sz="693" dirty="0">
                <a:solidFill>
                  <a:srgbClr val="EEF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welcome = parse_ralf_line(reader.recv_line())</a:t>
            </a:r>
            <a:endParaRPr lang="en-US" sz="693" dirty="0"/>
          </a:p>
          <a:p>
            <a:pPr marL="0" indent="0">
              <a:lnSpc>
                <a:spcPts val="1039"/>
              </a:lnSpc>
              <a:buNone/>
            </a:pPr>
            <a:r>
              <a:rPr lang="en-US" sz="693" dirty="0">
                <a:solidFill>
                  <a:srgbClr val="EEF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welcome.msg_type == "WELCOME"</a:t>
            </a:r>
            <a:endParaRPr lang="en-US" sz="693" dirty="0"/>
          </a:p>
          <a:p>
            <a:pPr marL="0" indent="0">
              <a:lnSpc>
                <a:spcPts val="1039"/>
              </a:lnSpc>
              <a:buNone/>
            </a:pPr>
            <a:r>
              <a:rPr lang="en-US" sz="693" dirty="0">
                <a:solidFill>
                  <a:srgbClr val="EEF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replay_sec = welcome.fields.get("REPLAY")</a:t>
            </a:r>
            <a:endParaRPr lang="en-US" sz="693" dirty="0"/>
          </a:p>
          <a:p>
            <a:pPr marL="0" indent="0">
              <a:lnSpc>
                <a:spcPts val="1039"/>
              </a:lnSpc>
              <a:buNone/>
            </a:pPr>
            <a:endParaRPr lang="en-US" sz="693" dirty="0"/>
          </a:p>
          <a:p>
            <a:pPr marL="0" indent="0">
              <a:lnSpc>
                <a:spcPts val="1039"/>
              </a:lnSpc>
              <a:buNone/>
            </a:pPr>
            <a:r>
              <a:rPr lang="en-US" sz="693" dirty="0">
                <a:solidFill>
                  <a:srgbClr val="EEF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send(sock, "SUB", {"CH": "CLEARING", "SYM": "*"})</a:t>
            </a:r>
            <a:endParaRPr lang="en-US" sz="693" dirty="0"/>
          </a:p>
          <a:p>
            <a:pPr marL="0" indent="0">
              <a:lnSpc>
                <a:spcPts val="1039"/>
              </a:lnSpc>
              <a:buNone/>
            </a:pPr>
            <a:r>
              <a:rPr lang="en-US" sz="693" dirty="0">
                <a:solidFill>
                  <a:srgbClr val="EEF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last_seq: dict[tuple[str, str], int] = {}</a:t>
            </a:r>
            <a:endParaRPr lang="en-US" sz="693" dirty="0"/>
          </a:p>
          <a:p>
            <a:pPr marL="0" indent="0">
              <a:lnSpc>
                <a:spcPts val="1039"/>
              </a:lnSpc>
              <a:buNone/>
            </a:pPr>
            <a:endParaRPr lang="en-US" sz="693" dirty="0"/>
          </a:p>
          <a:p>
            <a:pPr marL="0" indent="0">
              <a:lnSpc>
                <a:spcPts val="1039"/>
              </a:lnSpc>
              <a:buNone/>
            </a:pPr>
            <a:r>
              <a:rPr lang="en-US" sz="693" dirty="0">
                <a:solidFill>
                  <a:srgbClr val="A98B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True:</a:t>
            </a:r>
            <a:endParaRPr lang="en-US" sz="693" dirty="0"/>
          </a:p>
          <a:p>
            <a:pPr marL="0" indent="0">
              <a:lnSpc>
                <a:spcPts val="1039"/>
              </a:lnSpc>
              <a:buNone/>
            </a:pPr>
            <a:r>
              <a:rPr lang="en-US" sz="693" dirty="0">
                <a:solidFill>
                  <a:srgbClr val="EEF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msg = parse_ralf_line(reader.recv_line())</a:t>
            </a:r>
            <a:endParaRPr lang="en-US" sz="693" dirty="0"/>
          </a:p>
          <a:p>
            <a:pPr marL="0" indent="0">
              <a:lnSpc>
                <a:spcPts val="1039"/>
              </a:lnSpc>
              <a:buNone/>
            </a:pPr>
            <a:r>
              <a:rPr lang="en-US" sz="693" dirty="0">
                <a:solidFill>
                  <a:srgbClr val="A98B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msg.msg_type in ("EXEC", "EOD", "SNAP"):</a:t>
            </a:r>
            <a:endParaRPr lang="en-US" sz="693" dirty="0"/>
          </a:p>
          <a:p>
            <a:pPr marL="0" indent="0">
              <a:lnSpc>
                <a:spcPts val="1039"/>
              </a:lnSpc>
              <a:buNone/>
            </a:pPr>
            <a:r>
              <a:rPr lang="en-US" sz="693" dirty="0">
                <a:solidFill>
                  <a:srgbClr val="EEF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key = (msg.fields["CH"], msg.fields["SYM"])</a:t>
            </a:r>
            <a:endParaRPr lang="en-US" sz="693" dirty="0"/>
          </a:p>
          <a:p>
            <a:pPr marL="0" indent="0">
              <a:lnSpc>
                <a:spcPts val="1039"/>
              </a:lnSpc>
              <a:buNone/>
            </a:pPr>
            <a:r>
              <a:rPr lang="en-US" sz="693" dirty="0">
                <a:solidFill>
                  <a:srgbClr val="EEF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seq = int(msg.fields["SEQ"])</a:t>
            </a:r>
            <a:endParaRPr lang="en-US" sz="693" dirty="0"/>
          </a:p>
          <a:p>
            <a:pPr marL="0" indent="0">
              <a:lnSpc>
                <a:spcPts val="1039"/>
              </a:lnSpc>
              <a:buNone/>
            </a:pPr>
            <a:r>
              <a:rPr lang="en-US" sz="693" dirty="0">
                <a:solidFill>
                  <a:srgbClr val="EEF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prev = last_seq.get(key)</a:t>
            </a:r>
            <a:endParaRPr lang="en-US" sz="693" dirty="0"/>
          </a:p>
          <a:p>
            <a:pPr marL="0" indent="0">
              <a:lnSpc>
                <a:spcPts val="1039"/>
              </a:lnSpc>
              <a:buNone/>
            </a:pPr>
            <a:r>
              <a:rPr lang="en-US" sz="693" dirty="0">
                <a:solidFill>
                  <a:srgbClr val="E8B4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prev is not None and seq != prev + 1:</a:t>
            </a:r>
            <a:endParaRPr lang="en-US" sz="693" dirty="0"/>
          </a:p>
          <a:p>
            <a:pPr marL="0" indent="0">
              <a:lnSpc>
                <a:spcPts val="1039"/>
              </a:lnSpc>
              <a:buNone/>
            </a:pPr>
            <a:r>
              <a:rPr lang="en-US" sz="693" dirty="0">
                <a:solidFill>
                  <a:srgbClr val="E8B4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handle_gap(key, prev, seq)   # reconnect w/ LASTSEQ</a:t>
            </a:r>
            <a:endParaRPr lang="en-US" sz="693" dirty="0"/>
          </a:p>
          <a:p>
            <a:pPr marL="0" indent="0">
              <a:lnSpc>
                <a:spcPts val="1039"/>
              </a:lnSpc>
              <a:buNone/>
            </a:pPr>
            <a:r>
              <a:rPr lang="en-US" sz="693" dirty="0">
                <a:solidFill>
                  <a:srgbClr val="EEF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last_seq[key] = seq</a:t>
            </a:r>
            <a:endParaRPr lang="en-US" sz="693" dirty="0"/>
          </a:p>
          <a:p>
            <a:pPr marL="0" indent="0">
              <a:lnSpc>
                <a:spcPts val="1039"/>
              </a:lnSpc>
              <a:buNone/>
            </a:pPr>
            <a:r>
              <a:rPr lang="en-US" sz="693" dirty="0">
                <a:solidFill>
                  <a:srgbClr val="A98B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elif msg.msg_type == "ERR":</a:t>
            </a:r>
            <a:endParaRPr lang="en-US" sz="693" dirty="0"/>
          </a:p>
          <a:p>
            <a:pPr marL="0" indent="0">
              <a:lnSpc>
                <a:spcPts val="1039"/>
              </a:lnSpc>
              <a:buNone/>
            </a:pPr>
            <a:r>
              <a:rPr lang="en-US" sz="693" dirty="0">
                <a:solidFill>
                  <a:srgbClr val="E869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msg.fields["CODE"] == "SLOW_CLIENT": break</a:t>
            </a:r>
            <a:endParaRPr lang="en-US" sz="693" dirty="0"/>
          </a:p>
        </p:txBody>
      </p:sp>
      <p:sp>
        <p:nvSpPr>
          <p:cNvPr id="13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92724" y="1463040"/>
            <a:ext cx="2848356" cy="694944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4" name="Card accent 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92724" y="1463040"/>
            <a:ext cx="50292" cy="694944"/>
          </a:xfrm>
          <a:prstGeom prst="rect">
            <a:avLst/>
          </a:prstGeom>
          <a:solidFill>
            <a:srgbClr val="6FA8D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5" name="Text 13"/>
          <p:cNvSpPr/>
          <p:nvPr/>
        </p:nvSpPr>
        <p:spPr>
          <a:xfrm>
            <a:off x="5975604" y="1517904"/>
            <a:ext cx="24825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FA8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 Line buffering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975604" y="1773936"/>
            <a:ext cx="24825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reader that turns bytes into whole lines.</a:t>
            </a:r>
            <a:endParaRPr lang="en-US" sz="900" dirty="0"/>
          </a:p>
        </p:txBody>
      </p:sp>
      <p:sp>
        <p:nvSpPr>
          <p:cNvPr id="17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92724" y="2267712"/>
            <a:ext cx="2848356" cy="694944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8" name="Card accent 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92724" y="2267712"/>
            <a:ext cx="50292" cy="694944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9" name="Text 17"/>
          <p:cNvSpPr/>
          <p:nvPr/>
        </p:nvSpPr>
        <p:spPr>
          <a:xfrm>
            <a:off x="5975604" y="2322576"/>
            <a:ext cx="24825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 Assert the handshake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975604" y="2578608"/>
            <a:ext cx="24825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 loudly if WELCOME does not arrive.</a:t>
            </a:r>
            <a:endParaRPr lang="en-US" sz="900" dirty="0"/>
          </a:p>
        </p:txBody>
      </p:sp>
      <p:sp>
        <p:nvSpPr>
          <p:cNvPr id="21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92724" y="3072384"/>
            <a:ext cx="2848356" cy="694944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2" name="Card accent 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92724" y="3072384"/>
            <a:ext cx="50292" cy="694944"/>
          </a:xfrm>
          <a:prstGeom prst="rect">
            <a:avLst/>
          </a:prstGeom>
          <a:solidFill>
            <a:srgbClr val="A98BE0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3" name="Text 21"/>
          <p:cNvSpPr/>
          <p:nvPr/>
        </p:nvSpPr>
        <p:spPr>
          <a:xfrm>
            <a:off x="5975604" y="3127248"/>
            <a:ext cx="24825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98B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 Per-stream sequence map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975604" y="3383280"/>
            <a:ext cx="24825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Keyed on (CH, SYM), checked on every message.</a:t>
            </a:r>
            <a:endParaRPr lang="en-US" sz="900" dirty="0"/>
          </a:p>
        </p:txBody>
      </p:sp>
      <p:sp>
        <p:nvSpPr>
          <p:cNvPr id="25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92724" y="3877056"/>
            <a:ext cx="2848356" cy="694944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6" name="Card accent 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92724" y="3877056"/>
            <a:ext cx="50292" cy="694944"/>
          </a:xfrm>
          <a:prstGeom prst="rect">
            <a:avLst/>
          </a:prstGeom>
          <a:solidFill>
            <a:srgbClr val="E8695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7" name="Text 25"/>
          <p:cNvSpPr/>
          <p:nvPr/>
        </p:nvSpPr>
        <p:spPr>
          <a:xfrm>
            <a:off x="5975604" y="3931920"/>
            <a:ext cx="24825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69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 Terminal error branch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975604" y="4187952"/>
            <a:ext cx="24825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SLOW_CLIENT means reconnect — do not retry in place.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502920" y="17373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4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</a:t>
            </a:r>
            <a:endParaRPr lang="en-US" sz="95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EEF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Gateway configuration you should know about</a:t>
            </a:r>
            <a:endParaRPr lang="en-US" sz="2500" dirty="0"/>
          </a:p>
        </p:txBody>
      </p:sp>
      <p:sp>
        <p:nvSpPr>
          <p:cNvPr id="5" name="Title under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88136"/>
            <a:ext cx="566928" cy="32004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6" name="Text 4"/>
          <p:cNvSpPr/>
          <p:nvPr/>
        </p:nvSpPr>
        <p:spPr>
          <a:xfrm>
            <a:off x="502920" y="113385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post_trade_gateway block in engine_config.yaml — read only by pm-ralf-gwy.</a:t>
            </a:r>
            <a:endParaRPr lang="en-US" sz="1200" dirty="0"/>
          </a:p>
        </p:txBody>
      </p:sp>
      <p:sp>
        <p:nvSpPr>
          <p:cNvPr id="7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791456"/>
            <a:ext cx="8138160" cy="18288"/>
          </a:xfrm>
          <a:prstGeom prst="rect">
            <a:avLst/>
          </a:prstGeom>
          <a:solidFill>
            <a:srgbClr val="36424B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8" name="Text 6"/>
          <p:cNvSpPr/>
          <p:nvPr/>
        </p:nvSpPr>
        <p:spPr>
          <a:xfrm>
            <a:off x="502920" y="48280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575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EduMatcher  ·  RALF post-trade protocol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43800" y="48280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575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45</a:t>
            </a:r>
            <a:endParaRPr lang="en-US" sz="850" dirty="0"/>
          </a:p>
        </p:txBody>
      </p:sp>
      <p:sp>
        <p:nvSpPr>
          <p:cNvPr id="10" name="Table header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5004968" cy="310896"/>
          </a:xfrm>
          <a:prstGeom prst="rect">
            <a:avLst/>
          </a:prstGeom>
          <a:solidFill>
            <a:srgbClr val="2C363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1" name="Text 9"/>
          <p:cNvSpPr/>
          <p:nvPr/>
        </p:nvSpPr>
        <p:spPr>
          <a:xfrm>
            <a:off x="621792" y="1463040"/>
            <a:ext cx="15579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kern="0" spc="10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2362651" y="1463040"/>
            <a:ext cx="90515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kern="0" spc="10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DEFAULT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3450687" y="1463040"/>
            <a:ext cx="199319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kern="0" spc="10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PURPOSE</a:t>
            </a:r>
            <a:endParaRPr lang="en-US" sz="820" dirty="0"/>
          </a:p>
        </p:txBody>
      </p:sp>
      <p:sp>
        <p:nvSpPr>
          <p:cNvPr id="14" name="Table 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773936"/>
            <a:ext cx="5004968" cy="301752"/>
          </a:xfrm>
          <a:prstGeom prst="rect">
            <a:avLst/>
          </a:prstGeom>
          <a:solidFill>
            <a:srgbClr val="0D1114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5" name="Text 13"/>
          <p:cNvSpPr/>
          <p:nvPr/>
        </p:nvSpPr>
        <p:spPr>
          <a:xfrm>
            <a:off x="621792" y="1773936"/>
            <a:ext cx="1557979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56"/>
              </a:lnSpc>
              <a:buNone/>
            </a:pPr>
            <a:r>
              <a:rPr lang="en-US" sz="880" dirty="0">
                <a:solidFill>
                  <a:srgbClr val="EEF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2362651" y="1773936"/>
            <a:ext cx="905157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56"/>
              </a:lnSpc>
              <a:buNone/>
            </a:pPr>
            <a:r>
              <a:rPr lang="en-US" sz="880" dirty="0">
                <a:solidFill>
                  <a:srgbClr val="C6D2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ralf-gwy01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3450687" y="1773936"/>
            <a:ext cx="1993193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56"/>
              </a:lnSpc>
              <a:buNone/>
            </a:pPr>
            <a:r>
              <a:rPr lang="en-US" sz="88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Gateway id, echoed in WELCOME|GW=</a:t>
            </a:r>
            <a:endParaRPr lang="en-US" sz="880" dirty="0"/>
          </a:p>
        </p:txBody>
      </p:sp>
      <p:sp>
        <p:nvSpPr>
          <p:cNvPr id="18" name="Table 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075688"/>
            <a:ext cx="5004968" cy="301752"/>
          </a:xfrm>
          <a:prstGeom prst="rect">
            <a:avLst/>
          </a:prstGeom>
          <a:solidFill>
            <a:srgbClr val="1B2228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9" name="Text 17"/>
          <p:cNvSpPr/>
          <p:nvPr/>
        </p:nvSpPr>
        <p:spPr>
          <a:xfrm>
            <a:off x="621792" y="2075688"/>
            <a:ext cx="1557979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56"/>
              </a:lnSpc>
              <a:buNone/>
            </a:pPr>
            <a:r>
              <a:rPr lang="en-US" sz="880" dirty="0">
                <a:solidFill>
                  <a:srgbClr val="EEF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bind_address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2362651" y="2075688"/>
            <a:ext cx="905157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56"/>
              </a:lnSpc>
              <a:buNone/>
            </a:pPr>
            <a:r>
              <a:rPr lang="en-US" sz="880" dirty="0">
                <a:solidFill>
                  <a:srgbClr val="C6D2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0.0.0.0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3450687" y="2075688"/>
            <a:ext cx="1993193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56"/>
              </a:lnSpc>
              <a:buNone/>
            </a:pPr>
            <a:r>
              <a:rPr lang="en-US" sz="88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TCP listen address</a:t>
            </a:r>
            <a:endParaRPr lang="en-US" sz="880" dirty="0"/>
          </a:p>
        </p:txBody>
      </p:sp>
      <p:sp>
        <p:nvSpPr>
          <p:cNvPr id="22" name="Table 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377440"/>
            <a:ext cx="5004968" cy="301752"/>
          </a:xfrm>
          <a:prstGeom prst="rect">
            <a:avLst/>
          </a:prstGeom>
          <a:solidFill>
            <a:srgbClr val="0D1114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3" name="Text 21"/>
          <p:cNvSpPr/>
          <p:nvPr/>
        </p:nvSpPr>
        <p:spPr>
          <a:xfrm>
            <a:off x="621792" y="2377440"/>
            <a:ext cx="1557979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56"/>
              </a:lnSpc>
              <a:buNone/>
            </a:pPr>
            <a:r>
              <a:rPr lang="en-US" sz="880" dirty="0">
                <a:solidFill>
                  <a:srgbClr val="EEF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2362651" y="2377440"/>
            <a:ext cx="905157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56"/>
              </a:lnSpc>
              <a:buNone/>
            </a:pPr>
            <a:r>
              <a:rPr lang="en-US" sz="880" dirty="0">
                <a:solidFill>
                  <a:srgbClr val="C6D2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5580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3450687" y="2377440"/>
            <a:ext cx="1993193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56"/>
              </a:lnSpc>
              <a:buNone/>
            </a:pPr>
            <a:r>
              <a:rPr lang="en-US" sz="88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TCP listen port</a:t>
            </a:r>
            <a:endParaRPr lang="en-US" sz="880" dirty="0"/>
          </a:p>
        </p:txBody>
      </p:sp>
      <p:sp>
        <p:nvSpPr>
          <p:cNvPr id="26" name="Table 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679192"/>
            <a:ext cx="5004968" cy="301752"/>
          </a:xfrm>
          <a:prstGeom prst="rect">
            <a:avLst/>
          </a:prstGeom>
          <a:solidFill>
            <a:srgbClr val="1B2228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7" name="Text 25"/>
          <p:cNvSpPr/>
          <p:nvPr/>
        </p:nvSpPr>
        <p:spPr>
          <a:xfrm>
            <a:off x="621792" y="2679192"/>
            <a:ext cx="1557979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56"/>
              </a:lnSpc>
              <a:buNone/>
            </a:pPr>
            <a:r>
              <a:rPr lang="en-US" sz="880" dirty="0">
                <a:solidFill>
                  <a:srgbClr val="EEF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replay_retention_sec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2362651" y="2679192"/>
            <a:ext cx="905157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56"/>
              </a:lnSpc>
              <a:buNone/>
            </a:pPr>
            <a:r>
              <a:rPr lang="en-US" sz="880" dirty="0">
                <a:solidFill>
                  <a:srgbClr val="C6D2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86400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3450687" y="2679192"/>
            <a:ext cx="1993193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56"/>
              </a:lnSpc>
              <a:buNone/>
            </a:pPr>
            <a:r>
              <a:rPr lang="en-US" sz="88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Journal window; advertised as REPLAY</a:t>
            </a:r>
            <a:endParaRPr lang="en-US" sz="880" dirty="0"/>
          </a:p>
        </p:txBody>
      </p:sp>
      <p:sp>
        <p:nvSpPr>
          <p:cNvPr id="30" name="Table 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980944"/>
            <a:ext cx="5004968" cy="301752"/>
          </a:xfrm>
          <a:prstGeom prst="rect">
            <a:avLst/>
          </a:prstGeom>
          <a:solidFill>
            <a:srgbClr val="0D1114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1" name="Text 29"/>
          <p:cNvSpPr/>
          <p:nvPr/>
        </p:nvSpPr>
        <p:spPr>
          <a:xfrm>
            <a:off x="621792" y="2980944"/>
            <a:ext cx="1557979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56"/>
              </a:lnSpc>
              <a:buNone/>
            </a:pPr>
            <a:r>
              <a:rPr lang="en-US" sz="880" dirty="0">
                <a:solidFill>
                  <a:srgbClr val="EEF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heartbeat_interval_sec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2362651" y="2980944"/>
            <a:ext cx="905157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56"/>
              </a:lnSpc>
              <a:buNone/>
            </a:pPr>
            <a:r>
              <a:rPr lang="en-US" sz="880" dirty="0">
                <a:solidFill>
                  <a:srgbClr val="C6D2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3450687" y="2980944"/>
            <a:ext cx="1993193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56"/>
              </a:lnSpc>
              <a:buNone/>
            </a:pPr>
            <a:r>
              <a:rPr lang="en-US" sz="88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HB cadence; advertised as HBINT</a:t>
            </a:r>
            <a:endParaRPr lang="en-US" sz="880" dirty="0"/>
          </a:p>
        </p:txBody>
      </p:sp>
      <p:sp>
        <p:nvSpPr>
          <p:cNvPr id="34" name="Table 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282696"/>
            <a:ext cx="5004968" cy="301752"/>
          </a:xfrm>
          <a:prstGeom prst="rect">
            <a:avLst/>
          </a:prstGeom>
          <a:solidFill>
            <a:srgbClr val="1B2228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5" name="Text 33"/>
          <p:cNvSpPr/>
          <p:nvPr/>
        </p:nvSpPr>
        <p:spPr>
          <a:xfrm>
            <a:off x="621792" y="3282696"/>
            <a:ext cx="1557979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56"/>
              </a:lnSpc>
              <a:buNone/>
            </a:pPr>
            <a:r>
              <a:rPr lang="en-US" sz="880" dirty="0">
                <a:solidFill>
                  <a:srgbClr val="EEF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idle_timeout_sec</a:t>
            </a:r>
            <a:endParaRPr lang="en-US" sz="880" dirty="0"/>
          </a:p>
        </p:txBody>
      </p:sp>
      <p:sp>
        <p:nvSpPr>
          <p:cNvPr id="36" name="Text 34"/>
          <p:cNvSpPr/>
          <p:nvPr/>
        </p:nvSpPr>
        <p:spPr>
          <a:xfrm>
            <a:off x="2362651" y="3282696"/>
            <a:ext cx="905157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56"/>
              </a:lnSpc>
              <a:buNone/>
            </a:pPr>
            <a:r>
              <a:rPr lang="en-US" sz="880" dirty="0">
                <a:solidFill>
                  <a:srgbClr val="C6D2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880" dirty="0"/>
          </a:p>
        </p:txBody>
      </p:sp>
      <p:sp>
        <p:nvSpPr>
          <p:cNvPr id="37" name="Text 35"/>
          <p:cNvSpPr/>
          <p:nvPr/>
        </p:nvSpPr>
        <p:spPr>
          <a:xfrm>
            <a:off x="3450687" y="3282696"/>
            <a:ext cx="1993193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56"/>
              </a:lnSpc>
              <a:buNone/>
            </a:pPr>
            <a:r>
              <a:rPr lang="en-US" sz="88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Inbound-idle disconnect</a:t>
            </a:r>
            <a:endParaRPr lang="en-US" sz="880" dirty="0"/>
          </a:p>
        </p:txBody>
      </p:sp>
      <p:sp>
        <p:nvSpPr>
          <p:cNvPr id="38" name="Table 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584448"/>
            <a:ext cx="5004968" cy="301752"/>
          </a:xfrm>
          <a:prstGeom prst="rect">
            <a:avLst/>
          </a:prstGeom>
          <a:solidFill>
            <a:srgbClr val="0D1114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9" name="Text 37"/>
          <p:cNvSpPr/>
          <p:nvPr/>
        </p:nvSpPr>
        <p:spPr>
          <a:xfrm>
            <a:off x="621792" y="3584448"/>
            <a:ext cx="1557979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56"/>
              </a:lnSpc>
              <a:buNone/>
            </a:pPr>
            <a:r>
              <a:rPr lang="en-US" sz="880" dirty="0">
                <a:solidFill>
                  <a:srgbClr val="EEF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max_client_queue</a:t>
            </a:r>
            <a:endParaRPr lang="en-US" sz="880" dirty="0"/>
          </a:p>
        </p:txBody>
      </p:sp>
      <p:sp>
        <p:nvSpPr>
          <p:cNvPr id="40" name="Text 38"/>
          <p:cNvSpPr/>
          <p:nvPr/>
        </p:nvSpPr>
        <p:spPr>
          <a:xfrm>
            <a:off x="2362651" y="3584448"/>
            <a:ext cx="905157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56"/>
              </a:lnSpc>
              <a:buNone/>
            </a:pPr>
            <a:r>
              <a:rPr lang="en-US" sz="880" dirty="0">
                <a:solidFill>
                  <a:srgbClr val="C6D2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10000</a:t>
            </a:r>
            <a:endParaRPr lang="en-US" sz="880" dirty="0"/>
          </a:p>
        </p:txBody>
      </p:sp>
      <p:sp>
        <p:nvSpPr>
          <p:cNvPr id="41" name="Text 39"/>
          <p:cNvSpPr/>
          <p:nvPr/>
        </p:nvSpPr>
        <p:spPr>
          <a:xfrm>
            <a:off x="3450687" y="3584448"/>
            <a:ext cx="1993193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56"/>
              </a:lnSpc>
              <a:buNone/>
            </a:pPr>
            <a:r>
              <a:rPr lang="en-US" sz="88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Backlog before SLOW_CLIENT</a:t>
            </a:r>
            <a:endParaRPr lang="en-US" sz="880" dirty="0"/>
          </a:p>
        </p:txBody>
      </p:sp>
      <p:sp>
        <p:nvSpPr>
          <p:cNvPr id="42" name="Table row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886200"/>
            <a:ext cx="5004968" cy="301752"/>
          </a:xfrm>
          <a:prstGeom prst="rect">
            <a:avLst/>
          </a:prstGeom>
          <a:solidFill>
            <a:srgbClr val="1B2228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3" name="Text 41"/>
          <p:cNvSpPr/>
          <p:nvPr/>
        </p:nvSpPr>
        <p:spPr>
          <a:xfrm>
            <a:off x="621792" y="3886200"/>
            <a:ext cx="1557979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56"/>
              </a:lnSpc>
              <a:buNone/>
            </a:pPr>
            <a:r>
              <a:rPr lang="en-US" sz="880" dirty="0">
                <a:solidFill>
                  <a:srgbClr val="EEF3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allowed_roles</a:t>
            </a:r>
            <a:endParaRPr lang="en-US" sz="880" dirty="0"/>
          </a:p>
        </p:txBody>
      </p:sp>
      <p:sp>
        <p:nvSpPr>
          <p:cNvPr id="44" name="Text 42"/>
          <p:cNvSpPr/>
          <p:nvPr/>
        </p:nvSpPr>
        <p:spPr>
          <a:xfrm>
            <a:off x="2362651" y="3886200"/>
            <a:ext cx="905157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56"/>
              </a:lnSpc>
              <a:buNone/>
            </a:pPr>
            <a:r>
              <a:rPr lang="en-US" sz="880" dirty="0">
                <a:solidFill>
                  <a:srgbClr val="C6D2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three</a:t>
            </a:r>
            <a:endParaRPr lang="en-US" sz="880" dirty="0"/>
          </a:p>
        </p:txBody>
      </p:sp>
      <p:sp>
        <p:nvSpPr>
          <p:cNvPr id="45" name="Text 43"/>
          <p:cNvSpPr/>
          <p:nvPr/>
        </p:nvSpPr>
        <p:spPr>
          <a:xfrm>
            <a:off x="3450687" y="3886200"/>
            <a:ext cx="1993193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56"/>
              </a:lnSpc>
              <a:buNone/>
            </a:pPr>
            <a:r>
              <a:rPr lang="en-US" sz="88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 permitted to authenticate</a:t>
            </a:r>
            <a:endParaRPr lang="en-US" sz="880" dirty="0"/>
          </a:p>
        </p:txBody>
      </p:sp>
      <p:sp>
        <p:nvSpPr>
          <p:cNvPr id="46" name="Code block backgrou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70652" y="1463040"/>
            <a:ext cx="2970428" cy="2084832"/>
          </a:xfrm>
          <a:prstGeom prst="rect">
            <a:avLst/>
          </a:prstGeom>
          <a:solidFill>
            <a:srgbClr val="0D1114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47" name="Code block 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70652" y="1463040"/>
            <a:ext cx="41148" cy="2084832"/>
          </a:xfrm>
          <a:prstGeom prst="rect">
            <a:avLst/>
          </a:prstGeom>
          <a:solidFill>
            <a:srgbClr val="1F8A5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8" name="Text 46"/>
          <p:cNvSpPr/>
          <p:nvPr/>
        </p:nvSpPr>
        <p:spPr>
          <a:xfrm>
            <a:off x="5853532" y="1581912"/>
            <a:ext cx="2641244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24"/>
              </a:lnSpc>
              <a:buNone/>
            </a:pPr>
            <a:r>
              <a:rPr lang="en-US" sz="816" b="1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post_trade_gateway:</a:t>
            </a:r>
            <a:endParaRPr lang="en-US" sz="816" dirty="0"/>
          </a:p>
          <a:p>
            <a:pPr marL="0" indent="0">
              <a:lnSpc>
                <a:spcPts val="1224"/>
              </a:lnSpc>
              <a:buNone/>
            </a:pPr>
            <a:r>
              <a:rPr lang="en-US" sz="816" dirty="0">
                <a:solidFill>
                  <a:srgbClr val="7BE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"ralf-gwy01"</a:t>
            </a:r>
            <a:endParaRPr lang="en-US" sz="816" dirty="0"/>
          </a:p>
          <a:p>
            <a:pPr marL="0" indent="0">
              <a:lnSpc>
                <a:spcPts val="1224"/>
              </a:lnSpc>
              <a:buNone/>
            </a:pPr>
            <a:r>
              <a:rPr lang="en-US" sz="816" dirty="0">
                <a:solidFill>
                  <a:srgbClr val="7BE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bind_address: "0.0.0.0"</a:t>
            </a:r>
            <a:endParaRPr lang="en-US" sz="816" dirty="0"/>
          </a:p>
          <a:p>
            <a:pPr marL="0" indent="0">
              <a:lnSpc>
                <a:spcPts val="1224"/>
              </a:lnSpc>
              <a:buNone/>
            </a:pPr>
            <a:r>
              <a:rPr lang="en-US" sz="816" dirty="0">
                <a:solidFill>
                  <a:srgbClr val="7BE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port: 5580</a:t>
            </a:r>
            <a:endParaRPr lang="en-US" sz="816" dirty="0"/>
          </a:p>
          <a:p>
            <a:pPr marL="0" indent="0">
              <a:lnSpc>
                <a:spcPts val="1224"/>
              </a:lnSpc>
              <a:buNone/>
            </a:pPr>
            <a:r>
              <a:rPr lang="en-US" sz="816" dirty="0">
                <a:solidFill>
                  <a:srgbClr val="7BE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replay_retention_sec: 86400</a:t>
            </a:r>
            <a:endParaRPr lang="en-US" sz="816" dirty="0"/>
          </a:p>
          <a:p>
            <a:pPr marL="0" indent="0">
              <a:lnSpc>
                <a:spcPts val="1224"/>
              </a:lnSpc>
              <a:buNone/>
            </a:pPr>
            <a:r>
              <a:rPr lang="en-US" sz="816" dirty="0">
                <a:solidFill>
                  <a:srgbClr val="7BE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heartbeat_interval_sec: 1</a:t>
            </a:r>
            <a:endParaRPr lang="en-US" sz="816" dirty="0"/>
          </a:p>
          <a:p>
            <a:pPr marL="0" indent="0">
              <a:lnSpc>
                <a:spcPts val="1224"/>
              </a:lnSpc>
              <a:buNone/>
            </a:pPr>
            <a:r>
              <a:rPr lang="en-US" sz="816" dirty="0">
                <a:solidFill>
                  <a:srgbClr val="7BE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idle_timeout_sec: 5</a:t>
            </a:r>
            <a:endParaRPr lang="en-US" sz="816" dirty="0"/>
          </a:p>
          <a:p>
            <a:pPr marL="0" indent="0">
              <a:lnSpc>
                <a:spcPts val="1224"/>
              </a:lnSpc>
              <a:buNone/>
            </a:pPr>
            <a:r>
              <a:rPr lang="en-US" sz="816" dirty="0">
                <a:solidFill>
                  <a:srgbClr val="7BE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max_client_queue: 10000</a:t>
            </a:r>
            <a:endParaRPr lang="en-US" sz="816" dirty="0"/>
          </a:p>
          <a:p>
            <a:pPr marL="0" indent="0">
              <a:lnSpc>
                <a:spcPts val="1224"/>
              </a:lnSpc>
              <a:buNone/>
            </a:pPr>
            <a:r>
              <a:rPr lang="en-US" sz="816" dirty="0">
                <a:solidFill>
                  <a:srgbClr val="7BE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allowed_roles:</a:t>
            </a:r>
            <a:endParaRPr lang="en-US" sz="816" dirty="0"/>
          </a:p>
          <a:p>
            <a:pPr marL="0" indent="0">
              <a:lnSpc>
                <a:spcPts val="1224"/>
              </a:lnSpc>
              <a:buNone/>
            </a:pPr>
            <a:r>
              <a:rPr lang="en-US" sz="816" dirty="0">
                <a:solidFill>
                  <a:srgbClr val="7BE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CLEARING</a:t>
            </a:r>
            <a:endParaRPr lang="en-US" sz="816" dirty="0"/>
          </a:p>
          <a:p>
            <a:pPr marL="0" indent="0">
              <a:lnSpc>
                <a:spcPts val="1224"/>
              </a:lnSpc>
              <a:buNone/>
            </a:pPr>
            <a:r>
              <a:rPr lang="en-US" sz="816" dirty="0">
                <a:solidFill>
                  <a:srgbClr val="7BE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DROP_COPY</a:t>
            </a:r>
            <a:endParaRPr lang="en-US" sz="816" dirty="0"/>
          </a:p>
          <a:p>
            <a:pPr marL="0" indent="0">
              <a:lnSpc>
                <a:spcPts val="1224"/>
              </a:lnSpc>
              <a:buNone/>
            </a:pPr>
            <a:r>
              <a:rPr lang="en-US" sz="816" dirty="0">
                <a:solidFill>
                  <a:srgbClr val="7BE8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AUDIT</a:t>
            </a:r>
            <a:endParaRPr lang="en-US" sz="816" dirty="0"/>
          </a:p>
        </p:txBody>
      </p:sp>
      <p:sp>
        <p:nvSpPr>
          <p:cNvPr id="49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70652" y="3657600"/>
            <a:ext cx="2970428" cy="932688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50" name="Card 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70652" y="3657600"/>
            <a:ext cx="2970428" cy="50292"/>
          </a:xfrm>
          <a:prstGeom prst="rect">
            <a:avLst/>
          </a:prstGeom>
          <a:solidFill>
            <a:srgbClr val="6FA8D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51" name="Text 49"/>
          <p:cNvSpPr/>
          <p:nvPr/>
        </p:nvSpPr>
        <p:spPr>
          <a:xfrm>
            <a:off x="5853532" y="3767328"/>
            <a:ext cx="26046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FA8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 it instead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5853532" y="4023360"/>
            <a:ext cx="26046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pm-config-gen --post-trade-gateway writes this block alongside the main engine config, so you never hand-edit it.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02920" y="4261104"/>
            <a:ext cx="5004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a single-host lab, bind to 127.0.0.1. For multi-host, use a controlled interface and restrict access at the network boundary.</a:t>
            </a:r>
            <a:endParaRPr lang="en-US" sz="9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502920" y="17373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4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</a:t>
            </a:r>
            <a:endParaRPr lang="en-US" sz="95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EEF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Conformance, and one deviation to know</a:t>
            </a:r>
            <a:endParaRPr lang="en-US" sz="2500" dirty="0"/>
          </a:p>
        </p:txBody>
      </p:sp>
      <p:sp>
        <p:nvSpPr>
          <p:cNvPr id="5" name="Title under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88136"/>
            <a:ext cx="566928" cy="32004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6" name="Text 4"/>
          <p:cNvSpPr/>
          <p:nvPr/>
        </p:nvSpPr>
        <p:spPr>
          <a:xfrm>
            <a:off x="502920" y="113385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a conforming RALF1 implementation must do — and where the current gateway differs.</a:t>
            </a:r>
            <a:endParaRPr lang="en-US" sz="1200" dirty="0"/>
          </a:p>
        </p:txBody>
      </p:sp>
      <p:sp>
        <p:nvSpPr>
          <p:cNvPr id="7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791456"/>
            <a:ext cx="8138160" cy="18288"/>
          </a:xfrm>
          <a:prstGeom prst="rect">
            <a:avLst/>
          </a:prstGeom>
          <a:solidFill>
            <a:srgbClr val="36424B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8" name="Text 6"/>
          <p:cNvSpPr/>
          <p:nvPr/>
        </p:nvSpPr>
        <p:spPr>
          <a:xfrm>
            <a:off x="502920" y="48280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575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EduMatcher  ·  RALF post-trade protocol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43800" y="48280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575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46</a:t>
            </a:r>
            <a:endParaRPr lang="en-US" sz="850" dirty="0"/>
          </a:p>
        </p:txBody>
      </p:sp>
      <p:sp>
        <p:nvSpPr>
          <p:cNvPr id="10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4882896" cy="2395728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1" name="Card 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4882896" cy="50292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2" name="Text 10"/>
          <p:cNvSpPr/>
          <p:nvPr/>
        </p:nvSpPr>
        <p:spPr>
          <a:xfrm>
            <a:off x="722376" y="1591056"/>
            <a:ext cx="4443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3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CONFORMING RALF1 IMPLEMENTATION</a:t>
            </a:r>
            <a:endParaRPr lang="en-US" sz="900" dirty="0"/>
          </a:p>
        </p:txBody>
      </p:sp>
      <p:sp>
        <p:nvSpPr>
          <p:cNvPr id="13" name="Bullet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0664" y="2039112"/>
            <a:ext cx="82296" cy="82296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4" name="Text 12"/>
          <p:cNvSpPr/>
          <p:nvPr/>
        </p:nvSpPr>
        <p:spPr>
          <a:xfrm>
            <a:off x="941832" y="19019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Derives events solely from engine broadcasts — trade.executed becomes EXEC, system.eod becomes EOD</a:t>
            </a:r>
            <a:endParaRPr lang="en-US" sz="950" dirty="0"/>
          </a:p>
        </p:txBody>
      </p:sp>
      <p:sp>
        <p:nvSpPr>
          <p:cNvPr id="15" name="Bullet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0664" y="2423160"/>
            <a:ext cx="82296" cy="82296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6" name="Text 14"/>
          <p:cNvSpPr/>
          <p:nvPr/>
        </p:nvSpPr>
        <p:spPr>
          <a:xfrm>
            <a:off x="941832" y="22860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Sends HELLO and WELCOME before any data, and rejects pre-auth data with AUTH_REQUIRED</a:t>
            </a:r>
            <a:endParaRPr lang="en-US" sz="950" dirty="0"/>
          </a:p>
        </p:txBody>
      </p:sp>
      <p:sp>
        <p:nvSpPr>
          <p:cNvPr id="17" name="Bullet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0664" y="2807208"/>
            <a:ext cx="82296" cy="82296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8" name="Text 16"/>
          <p:cNvSpPr/>
          <p:nvPr/>
        </p:nvSpPr>
        <p:spPr>
          <a:xfrm>
            <a:off x="941832" y="26700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Enforces the role entitlement matrix on every SUB</a:t>
            </a:r>
            <a:endParaRPr lang="en-US" sz="950" dirty="0"/>
          </a:p>
        </p:txBody>
      </p:sp>
      <p:sp>
        <p:nvSpPr>
          <p:cNvPr id="19" name="Bullet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0664" y="3191256"/>
            <a:ext cx="82296" cy="82296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0" name="Text 18"/>
          <p:cNvSpPr/>
          <p:nvPr/>
        </p:nvSpPr>
        <p:spPr>
          <a:xfrm>
            <a:off x="941832" y="305409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Applies per-channel SEQ semantics — there is no global sequence stream</a:t>
            </a:r>
            <a:endParaRPr lang="en-US" sz="950" dirty="0"/>
          </a:p>
        </p:txBody>
      </p:sp>
      <p:sp>
        <p:nvSpPr>
          <p:cNvPr id="21" name="Bullet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0664" y="3575304"/>
            <a:ext cx="82296" cy="82296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2" name="Text 20"/>
          <p:cNvSpPr/>
          <p:nvPr/>
        </p:nvSpPr>
        <p:spPr>
          <a:xfrm>
            <a:off x="941832" y="343814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Advertises REPLAY and HBINT in WELCOME matching its own configuration</a:t>
            </a:r>
            <a:endParaRPr lang="en-US" sz="950" dirty="0"/>
          </a:p>
        </p:txBody>
      </p:sp>
      <p:sp>
        <p:nvSpPr>
          <p:cNvPr id="23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48579" y="1463040"/>
            <a:ext cx="3092501" cy="2395728"/>
          </a:xfrm>
          <a:prstGeom prst="rect">
            <a:avLst/>
          </a:prstGeom>
          <a:solidFill>
            <a:srgbClr val="232C33"/>
          </a:solidFill>
          <a:ln w="9525">
            <a:solidFill>
              <a:srgbClr val="36424B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4" name="Card 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48579" y="1463040"/>
            <a:ext cx="3092501" cy="50292"/>
          </a:xfrm>
          <a:prstGeom prst="rect">
            <a:avLst/>
          </a:prstGeom>
          <a:solidFill>
            <a:srgbClr val="E8B44A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5" name="Glyph ti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49747" y="162763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32C33"/>
          </a:solidFill>
          <a:ln w="13970">
            <a:solidFill>
              <a:srgbClr val="E8B44A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6" name="Text 24"/>
          <p:cNvSpPr/>
          <p:nvPr/>
        </p:nvSpPr>
        <p:spPr>
          <a:xfrm>
            <a:off x="5749747" y="1627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E8B4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1092" dirty="0"/>
          </a:p>
        </p:txBody>
      </p:sp>
      <p:sp>
        <p:nvSpPr>
          <p:cNvPr id="27" name="Text 25"/>
          <p:cNvSpPr/>
          <p:nvPr/>
        </p:nvSpPr>
        <p:spPr>
          <a:xfrm>
            <a:off x="6243523" y="1627632"/>
            <a:ext cx="217810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E8B4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KNOWN DEVIATION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749747" y="2103120"/>
            <a:ext cx="269016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EEF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Replay is entitlement-filtered, but not subscription-filtered.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749747" y="2560320"/>
            <a:ext cx="269016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Replay happens during HELLO, before any SUB is processed — so it cannot know your subscriptions yet. You may receive replayed events for symbols and channels you did not ask for. Filter them yourself on the client side.</a:t>
            </a:r>
            <a:endParaRPr lang="en-US" sz="950" dirty="0"/>
          </a:p>
        </p:txBody>
      </p:sp>
      <p:sp>
        <p:nvSpPr>
          <p:cNvPr id="30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005072"/>
            <a:ext cx="8138160" cy="603504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1" name="Card accent 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005072"/>
            <a:ext cx="50292" cy="603504"/>
          </a:xfrm>
          <a:prstGeom prst="rect">
            <a:avLst/>
          </a:prstGeom>
          <a:solidFill>
            <a:srgbClr val="6FA8D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2" name="Text 30"/>
          <p:cNvSpPr/>
          <p:nvPr/>
        </p:nvSpPr>
        <p:spPr>
          <a:xfrm>
            <a:off x="777240" y="4005072"/>
            <a:ext cx="7635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normative reference is the RALF protocol appendix. Where the tutorial and the appendix disagree, the appendix wins.</a:t>
            </a:r>
            <a:endParaRPr lang="en-US" sz="10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502920" y="17373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4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GOING FURTHER</a:t>
            </a:r>
            <a:endParaRPr lang="en-US" sz="95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EEF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to find more information</a:t>
            </a:r>
            <a:endParaRPr lang="en-US" sz="2500" dirty="0"/>
          </a:p>
        </p:txBody>
      </p:sp>
      <p:sp>
        <p:nvSpPr>
          <p:cNvPr id="5" name="Title under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88136"/>
            <a:ext cx="566928" cy="32004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6" name="Text 4"/>
          <p:cNvSpPr/>
          <p:nvPr/>
        </p:nvSpPr>
        <p:spPr>
          <a:xfrm>
            <a:off x="502920" y="113385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797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documents, each answering a different kind of question.</a:t>
            </a:r>
            <a:endParaRPr lang="en-US" sz="1200" dirty="0"/>
          </a:p>
        </p:txBody>
      </p:sp>
      <p:sp>
        <p:nvSpPr>
          <p:cNvPr id="7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791456"/>
            <a:ext cx="8138160" cy="18288"/>
          </a:xfrm>
          <a:prstGeom prst="rect">
            <a:avLst/>
          </a:prstGeom>
          <a:solidFill>
            <a:srgbClr val="36424B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8" name="Text 6"/>
          <p:cNvSpPr/>
          <p:nvPr/>
        </p:nvSpPr>
        <p:spPr>
          <a:xfrm>
            <a:off x="502920" y="48280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575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EduMatcher  ·  RALF post-trade protocol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43800" y="48280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575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47</a:t>
            </a:r>
            <a:endParaRPr lang="en-US" sz="850" dirty="0"/>
          </a:p>
        </p:txBody>
      </p:sp>
      <p:sp>
        <p:nvSpPr>
          <p:cNvPr id="10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26464"/>
            <a:ext cx="3959352" cy="1481328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1" name="Card 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26464"/>
            <a:ext cx="3959352" cy="50292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2" name="Text 10"/>
          <p:cNvSpPr/>
          <p:nvPr/>
        </p:nvSpPr>
        <p:spPr>
          <a:xfrm>
            <a:off x="704088" y="1554480"/>
            <a:ext cx="3557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EF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Post-Trade Dissemination (RALF)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04088" y="1847088"/>
            <a:ext cx="3557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D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250-ralf-gateway.md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04088" y="2121408"/>
            <a:ext cx="35570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operational guide: quick start, configuration, channel descriptions, client examples and the operator runbook.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04088" y="2615184"/>
            <a:ext cx="3557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"How do I run and use it?"</a:t>
            </a:r>
            <a:endParaRPr lang="en-US" sz="950" dirty="0"/>
          </a:p>
        </p:txBody>
      </p:sp>
      <p:sp>
        <p:nvSpPr>
          <p:cNvPr id="16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81728" y="1426464"/>
            <a:ext cx="3959352" cy="1481328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7" name="Card 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81728" y="1426464"/>
            <a:ext cx="3959352" cy="50292"/>
          </a:xfrm>
          <a:prstGeom prst="rect">
            <a:avLst/>
          </a:prstGeom>
          <a:solidFill>
            <a:srgbClr val="A98BE0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8" name="Text 16"/>
          <p:cNvSpPr/>
          <p:nvPr/>
        </p:nvSpPr>
        <p:spPr>
          <a:xfrm>
            <a:off x="4882896" y="1554480"/>
            <a:ext cx="3557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EF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Appendix — RALF Protocol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82896" y="1847088"/>
            <a:ext cx="3557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8B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930-app-ralf-protocol.md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82896" y="2121408"/>
            <a:ext cx="35570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normative wire reference: framing, message set, field tables, entitlements, sequencing and error codes.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82896" y="2615184"/>
            <a:ext cx="3557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98B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"What is the exact rule?"</a:t>
            </a:r>
            <a:endParaRPr lang="en-US" sz="950" dirty="0"/>
          </a:p>
        </p:txBody>
      </p:sp>
      <p:sp>
        <p:nvSpPr>
          <p:cNvPr id="22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054096"/>
            <a:ext cx="3959352" cy="1481328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3" name="Card 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054096"/>
            <a:ext cx="3959352" cy="50292"/>
          </a:xfrm>
          <a:prstGeom prst="rect">
            <a:avLst/>
          </a:prstGeom>
          <a:solidFill>
            <a:srgbClr val="6FA8D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4" name="Text 22"/>
          <p:cNvSpPr/>
          <p:nvPr/>
        </p:nvSpPr>
        <p:spPr>
          <a:xfrm>
            <a:off x="704088" y="3182112"/>
            <a:ext cx="3557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EF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External Protocols Overview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04088" y="3474720"/>
            <a:ext cx="3557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FA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210-protocols-overview.md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04088" y="3749040"/>
            <a:ext cx="35570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map of ALF, BALF, CALF and RALF, with a quick selection guide for choosing between them.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04088" y="4242816"/>
            <a:ext cx="3557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FA8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"Which protocol do I want?"</a:t>
            </a:r>
            <a:endParaRPr lang="en-US" sz="950" dirty="0"/>
          </a:p>
        </p:txBody>
      </p:sp>
      <p:sp>
        <p:nvSpPr>
          <p:cNvPr id="28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81728" y="3054096"/>
            <a:ext cx="3959352" cy="1481328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  <a:effectLst>
            <a:outerShdw blurRad="1270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9" name="Card 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81728" y="3054096"/>
            <a:ext cx="3959352" cy="50292"/>
          </a:xfrm>
          <a:prstGeom prst="rect">
            <a:avLst/>
          </a:prstGeom>
          <a:solidFill>
            <a:srgbClr val="E8B44A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0" name="Text 28"/>
          <p:cNvSpPr/>
          <p:nvPr/>
        </p:nvSpPr>
        <p:spPr>
          <a:xfrm>
            <a:off x="4882896" y="3182112"/>
            <a:ext cx="3557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EF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RALF Protocol Spy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882896" y="3474720"/>
            <a:ext cx="3557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B4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251-ralf-spy-cli.md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82896" y="3749040"/>
            <a:ext cx="35570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read-only CLI that watches the raw feed in human-readable or JSON form — the fastest way to see it working.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82896" y="4242816"/>
            <a:ext cx="3557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E8B4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"Can I just look at it?"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02920" y="4617720"/>
            <a:ext cx="8138160" cy="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" dirty="0">
                <a:solidFill>
                  <a:srgbClr val="1216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Working code lives in examples/ralf/ — a Python parser and subscriber, plus a C implementation and Makefile.</a:t>
            </a:r>
            <a:endParaRPr lang="en-US" sz="1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Text 1"/>
          <p:cNvSpPr/>
          <p:nvPr/>
        </p:nvSpPr>
        <p:spPr>
          <a:xfrm>
            <a:off x="502920" y="17373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4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SUMMARY</a:t>
            </a:r>
            <a:endParaRPr lang="en-US" sz="95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502920" y="47548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EEF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Five things to remember</a:t>
            </a:r>
            <a:endParaRPr lang="en-US" sz="2500" dirty="0"/>
          </a:p>
        </p:txBody>
      </p:sp>
      <p:sp>
        <p:nvSpPr>
          <p:cNvPr id="5" name="Title under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088136"/>
            <a:ext cx="566928" cy="32004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6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353312"/>
            <a:ext cx="8138160" cy="566928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7" name="Card accent 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353312"/>
            <a:ext cx="50292" cy="566928"/>
          </a:xfrm>
          <a:prstGeom prst="rect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8" name="Badge dis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463040"/>
            <a:ext cx="347472" cy="347472"/>
          </a:xfrm>
          <a:prstGeom prst="ellipse">
            <a:avLst/>
          </a:prstGeom>
          <a:solidFill>
            <a:srgbClr val="3DD68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9" name="Text 7"/>
          <p:cNvSpPr/>
          <p:nvPr/>
        </p:nvSpPr>
        <p:spPr>
          <a:xfrm>
            <a:off x="685800" y="1463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79576" y="135331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gateway is a controlled doorway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977640" y="1353312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translates, authenticates, sequences and protects — so the engine never has to talk to the outside world.</a:t>
            </a:r>
            <a:endParaRPr lang="en-US" sz="1000" dirty="0"/>
          </a:p>
        </p:txBody>
      </p:sp>
      <p:sp>
        <p:nvSpPr>
          <p:cNvPr id="12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984248"/>
            <a:ext cx="8138160" cy="566928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3" name="Card accent 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984248"/>
            <a:ext cx="50292" cy="566928"/>
          </a:xfrm>
          <a:prstGeom prst="rect">
            <a:avLst/>
          </a:prstGeom>
          <a:solidFill>
            <a:srgbClr val="6FA8D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4" name="Badge dis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2093976"/>
            <a:ext cx="347472" cy="347472"/>
          </a:xfrm>
          <a:prstGeom prst="ellipse">
            <a:avLst/>
          </a:prstGeom>
          <a:solidFill>
            <a:srgbClr val="6FA8D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5" name="Text 13"/>
          <p:cNvSpPr/>
          <p:nvPr/>
        </p:nvSpPr>
        <p:spPr>
          <a:xfrm>
            <a:off x="685800" y="20939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79576" y="198424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FA8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RALF is post-trade, and read-only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977640" y="1984248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answers "what was executed", never "what is the price", and no client ever sends an order over it.</a:t>
            </a:r>
            <a:endParaRPr lang="en-US" sz="1000" dirty="0"/>
          </a:p>
        </p:txBody>
      </p:sp>
      <p:sp>
        <p:nvSpPr>
          <p:cNvPr id="18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615184"/>
            <a:ext cx="8138160" cy="566928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19" name="Card accent 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615184"/>
            <a:ext cx="50292" cy="566928"/>
          </a:xfrm>
          <a:prstGeom prst="rect">
            <a:avLst/>
          </a:prstGeom>
          <a:solidFill>
            <a:srgbClr val="A98BE0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0" name="Badge dis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2724912"/>
            <a:ext cx="347472" cy="347472"/>
          </a:xfrm>
          <a:prstGeom prst="ellipse">
            <a:avLst/>
          </a:prstGeom>
          <a:solidFill>
            <a:srgbClr val="A98BE0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1" name="Text 19"/>
          <p:cNvSpPr/>
          <p:nvPr/>
        </p:nvSpPr>
        <p:spPr>
          <a:xfrm>
            <a:off x="685800" y="27249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79576" y="261518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98B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channels, two event families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977640" y="2615184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CLEARING, DROP_COPY and AUDIT carry EXEC and EOD. Your role decides which you may see.</a:t>
            </a:r>
            <a:endParaRPr lang="en-US" sz="1000" dirty="0"/>
          </a:p>
        </p:txBody>
      </p:sp>
      <p:sp>
        <p:nvSpPr>
          <p:cNvPr id="24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246120"/>
            <a:ext cx="8138160" cy="566928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25" name="Card accent 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246120"/>
            <a:ext cx="50292" cy="566928"/>
          </a:xfrm>
          <a:prstGeom prst="rect">
            <a:avLst/>
          </a:prstGeom>
          <a:solidFill>
            <a:srgbClr val="7BE8B8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6" name="Badge dis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3355848"/>
            <a:ext cx="347472" cy="347472"/>
          </a:xfrm>
          <a:prstGeom prst="ellipse">
            <a:avLst/>
          </a:prstGeom>
          <a:solidFill>
            <a:srgbClr val="7BE8B8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7" name="Text 25"/>
          <p:cNvSpPr/>
          <p:nvPr/>
        </p:nvSpPr>
        <p:spPr>
          <a:xfrm>
            <a:off x="685800" y="3355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79576" y="324612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E8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line, one message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977640" y="3246120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Type, then FIELD=VALUE pairs, terminated by a newline. Buffer your bytes and split on the first equals.</a:t>
            </a:r>
            <a:endParaRPr lang="en-US" sz="1000" dirty="0"/>
          </a:p>
        </p:txBody>
      </p:sp>
      <p:sp>
        <p:nvSpPr>
          <p:cNvPr id="30" name="Card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877056"/>
            <a:ext cx="8138160" cy="566928"/>
          </a:xfrm>
          <a:prstGeom prst="rect">
            <a:avLst/>
          </a:prstGeom>
          <a:solidFill>
            <a:srgbClr val="1B2228"/>
          </a:solidFill>
          <a:ln w="9525">
            <a:solidFill>
              <a:srgbClr val="36424B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31" name="Card accent edg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877056"/>
            <a:ext cx="50292" cy="566928"/>
          </a:xfrm>
          <a:prstGeom prst="rect">
            <a:avLst/>
          </a:prstGeom>
          <a:solidFill>
            <a:srgbClr val="E8B44A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2" name="Badge dis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3986784"/>
            <a:ext cx="347472" cy="347472"/>
          </a:xfrm>
          <a:prstGeom prst="ellipse">
            <a:avLst/>
          </a:prstGeom>
          <a:solidFill>
            <a:srgbClr val="E8B44A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3" name="Text 31"/>
          <p:cNvSpPr/>
          <p:nvPr/>
        </p:nvSpPr>
        <p:spPr>
          <a:xfrm>
            <a:off x="685800" y="39867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79576" y="387705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B4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SEQ is the safety net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977640" y="3877056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6D2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 it per channel and symbol, detect gaps, and reconnect with LASTSEQ to recover from the journal.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2920" y="455371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DD6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step: run pm-ralf-spy --role CLEARING against a live gateway and watch the lines arrive.</a:t>
            </a:r>
            <a:endParaRPr lang="en-US" sz="950" dirty="0"/>
          </a:p>
        </p:txBody>
      </p:sp>
      <p:sp>
        <p:nvSpPr>
          <p:cNvPr id="37" name="Footer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791456"/>
            <a:ext cx="8138160" cy="18288"/>
          </a:xfrm>
          <a:prstGeom prst="rect">
            <a:avLst/>
          </a:prstGeom>
          <a:solidFill>
            <a:srgbClr val="36424B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8" name="Text 36"/>
          <p:cNvSpPr/>
          <p:nvPr/>
        </p:nvSpPr>
        <p:spPr>
          <a:xfrm>
            <a:off x="502920" y="48280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575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EduMatcher  ·  RALF post-trade protocol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543800" y="48280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575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48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6311</Words>
  <Application>Microsoft Macintosh PowerPoint</Application>
  <PresentationFormat>On-screen Show (16:9)</PresentationFormat>
  <Paragraphs>982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3" baseType="lpstr">
      <vt:lpstr>Arial</vt:lpstr>
      <vt:lpstr>Calibri</vt:lpstr>
      <vt:lpstr>Consolas</vt:lpstr>
      <vt:lpstr>Segoe UI</vt:lpstr>
      <vt:lpstr>Office Theme</vt:lpstr>
      <vt:lpstr>The post-trade protocol</vt:lpstr>
      <vt:lpstr>Eight questions this deck answers</vt:lpstr>
      <vt:lpstr>RALF in one picture</vt:lpstr>
      <vt:lpstr>What is a gateway?</vt:lpstr>
      <vt:lpstr>The engine is not something you plug into</vt:lpstr>
      <vt:lpstr>What a gateway actually does</vt:lpstr>
      <vt:lpstr>EduMatcher has four external protocols</vt:lpstr>
      <vt:lpstr>Before the trade, and after it</vt:lpstr>
      <vt:lpstr>The purpose of RALF</vt:lpstr>
      <vt:lpstr>RALF in one sentence</vt:lpstr>
      <vt:lpstr>Three kinds of system listen to RALF</vt:lpstr>
      <vt:lpstr>Where the gateway sits</vt:lpstr>
      <vt:lpstr>What the gateway does for you</vt:lpstr>
      <vt:lpstr>When RALF is the right answer — and when it is not</vt:lpstr>
      <vt:lpstr>How the protocol is used</vt:lpstr>
      <vt:lpstr>The whole conversation, at a glance</vt:lpstr>
      <vt:lpstr>HELLO — introduce yourself</vt:lpstr>
      <vt:lpstr>WELCOME — the gateway states the terms</vt:lpstr>
      <vt:lpstr>SUB — say what you want to see</vt:lpstr>
      <vt:lpstr>SNAP — your baseline, not your book</vt:lpstr>
      <vt:lpstr>The live stream</vt:lpstr>
      <vt:lpstr>Staying alive, and leaving cleanly</vt:lpstr>
      <vt:lpstr>What information can be sent?</vt:lpstr>
      <vt:lpstr>Three channels, one source of truth</vt:lpstr>
      <vt:lpstr>CLEARING — the reconciliation feed</vt:lpstr>
      <vt:lpstr>DROP_COPY — the real-time risk feed</vt:lpstr>
      <vt:lpstr>AUDIT — the complete trail</vt:lpstr>
      <vt:lpstr>Roles decide what you may subscribe to</vt:lpstr>
      <vt:lpstr>RALF1 has exactly two event families</vt:lpstr>
      <vt:lpstr>The structure of the information</vt:lpstr>
      <vt:lpstr>Anatomy of a RALF line</vt:lpstr>
      <vt:lpstr>The envelope: four keys on almost every message</vt:lpstr>
      <vt:lpstr>Inside an EXEC — one executed trade</vt:lpstr>
      <vt:lpstr>EOD, and the small messages around it</vt:lpstr>
      <vt:lpstr>Five parsing rules that will save you</vt:lpstr>
      <vt:lpstr>How errors are handled</vt:lpstr>
      <vt:lpstr>Sequence numbers and gap detection</vt:lpstr>
      <vt:lpstr>Replay — asking for what you missed</vt:lpstr>
      <vt:lpstr>Every error code, and what to do about it</vt:lpstr>
      <vt:lpstr>Using RALF as a client</vt:lpstr>
      <vt:lpstr>The client checklist</vt:lpstr>
      <vt:lpstr>Try it in sixty seconds — no code required</vt:lpstr>
      <vt:lpstr>A minimal client, with no dependencies</vt:lpstr>
      <vt:lpstr>The shape of a real subscriber</vt:lpstr>
      <vt:lpstr>Gateway configuration you should know about</vt:lpstr>
      <vt:lpstr>Conformance, and one deviation to know</vt:lpstr>
      <vt:lpstr>Where to find more information</vt:lpstr>
      <vt:lpstr>Five things to remember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Johan Persson</dc:creator>
  <cp:lastModifiedBy>Johan Persson</cp:lastModifiedBy>
  <cp:revision>1</cp:revision>
  <dcterms:created xsi:type="dcterms:W3CDTF">2026-08-04T07:34:55Z</dcterms:created>
  <dcterms:modified xsi:type="dcterms:W3CDTF">2026-08-04T09:35:45Z</dcterms:modified>
</cp:coreProperties>
</file>