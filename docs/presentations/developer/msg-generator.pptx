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19"/>
    <p:restoredTop sz="94658"/>
  </p:normalViewPr>
  <p:slideViewPr>
    <p:cSldViewPr snapToGrid="0">
      <p:cViewPr varScale="1">
        <p:scale>
          <a:sx n="160" d="100"/>
          <a:sy n="160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2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73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 dirty="0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777240"/>
            <a:ext cx="3657600" cy="356616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777240"/>
            <a:ext cx="36576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02936" y="8732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8732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5544" y="8732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696712" y="8321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 — spec tree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76088" y="1161288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spec/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76088" y="1357884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76088" y="1554480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transports.yaml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76088" y="1751076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6088" y="1947672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trade.yaml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76088" y="2144268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order.yaml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76088" y="2340864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session.yaml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76088" y="2537460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book.yaml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76088" y="2734056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76088" y="2930652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 generate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76088" y="3127248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families  20 messages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76088" y="3323844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   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structs + parsers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76088" y="3520440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   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271-message-appendix.md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76088" y="3717036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76088" y="3913632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 check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76088" y="4110228"/>
            <a:ext cx="32918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ok: committed output matches spec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1097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 · MESSAGE LAYER</a:t>
            </a:r>
            <a:endParaRPr lang="en-US" sz="1050" dirty="0"/>
          </a:p>
        </p:txBody>
      </p:sp>
      <p:sp>
        <p:nvSpPr>
          <p:cNvPr id="27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spec.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binding.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drift.</a:t>
            </a:r>
            <a:endParaRPr lang="en-US" sz="3100" dirty="0"/>
          </a:p>
        </p:txBody>
      </p:sp>
      <p:sp>
        <p:nvSpPr>
          <p:cNvPr id="29" name="Text 27"/>
          <p:cNvSpPr/>
          <p:nvPr/>
        </p:nvSpPr>
        <p:spPr>
          <a:xfrm>
            <a:off x="640080" y="36941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beginner's guide to pm-msgen — the message generator behind the EduMatcher trading system's buses and protocols.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43159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5.1a · trade · order · session · book</a:t>
            </a:r>
            <a:endParaRPr lang="en-US" sz="9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12A740-1688-9D75-D295-216E45DBE475}"/>
              </a:ext>
            </a:extLst>
          </p:cNvPr>
          <p:cNvSpPr txBox="1"/>
          <p:nvPr/>
        </p:nvSpPr>
        <p:spPr>
          <a:xfrm>
            <a:off x="6957391" y="4723075"/>
            <a:ext cx="1828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E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J. Persson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read this deck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prior knowledge of EduMatcher's internals is assumed. Every term is defined the first time it appears.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1645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173736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1—4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95681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2249424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generator exists, what an IDL is, why we built our own, and the principles behind ours.</a:t>
            </a:r>
            <a:endParaRPr lang="en-US" sz="10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572768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572768"/>
            <a:ext cx="50292" cy="16459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502152" y="173736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5—8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195681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practice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02152" y="2249424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code, using it from Python and C, generating docs, and gating every build on it.</a:t>
            </a:r>
            <a:endParaRPr lang="en-US" sz="10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572768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572768"/>
            <a:ext cx="50292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281928" y="173736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195681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reference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81928" y="2249424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keys, validation rules, presence regimes, binary layout rules and error codes to look up later.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8138160" cy="11887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50292" cy="11887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58952" y="352958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sentence to hold on to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" y="3822192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generator turns a single human-readable description of a message into the code that builds it, the code that reads it, and the documentation that explains it — so those three can never disagree again.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will cover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0292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58952" y="1554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554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 message generator at all?</a:t>
            </a:r>
            <a:endParaRPr lang="en-US" sz="125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67128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67128"/>
            <a:ext cx="50292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58952" y="23500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4168" y="2350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IDL?</a:t>
            </a:r>
            <a:endParaRPr lang="en-US" sz="125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62656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62656"/>
            <a:ext cx="50292" cy="65836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58952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4168" y="31455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our own, and not an off-the-shelf one?</a:t>
            </a:r>
            <a:endParaRPr lang="en-US" sz="12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58184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58184"/>
            <a:ext cx="50292" cy="65836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758952" y="39410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4168" y="3941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principles of our IDL</a:t>
            </a:r>
            <a:endParaRPr lang="en-US" sz="12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371600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371600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4928616" y="15544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13832" y="15544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code, and using it in Python and C</a:t>
            </a:r>
            <a:endParaRPr lang="en-US" sz="125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167128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167128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928616" y="23500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513832" y="2350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the message documentation</a:t>
            </a:r>
            <a:endParaRPr lang="en-US" sz="125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962656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962656"/>
            <a:ext cx="50292" cy="6583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4928616" y="31455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13832" y="31455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 of bugs this removes</a:t>
            </a:r>
            <a:endParaRPr lang="en-US" sz="1250" dirty="0"/>
          </a:p>
        </p:txBody>
      </p:sp>
      <p:sp>
        <p:nvSpPr>
          <p:cNvPr id="3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758184"/>
            <a:ext cx="3968496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758184"/>
            <a:ext cx="50292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4928616" y="39410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513832" y="39410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Validating every build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457200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technical reference appendix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 you need a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generator?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EduMatcher's components never call each other directly. They speak by sending messages. So the description of a message is the real interface of the system.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First, what is a message here?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is many small programs that never share memory — only messages.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0020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12648" y="174650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203911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matches orders</a:t>
            </a:r>
            <a:endParaRPr lang="en-US" sz="9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724" y="205740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0612" y="160020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720340" y="174650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0340" y="203911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ZeroMQ PUB/SUB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205740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60020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28032" y="174650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203911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 to client protocols</a:t>
            </a:r>
            <a:endParaRPr lang="en-US" sz="95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9108" y="205740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996" y="160020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35724" y="174650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5724" y="203911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and C consumers</a:t>
            </a:r>
            <a:endParaRPr lang="en-US" sz="9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8138160" cy="9601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50292" cy="9601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is two frames on the wire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3364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b'trade.executed' ,  b'{"id":"42","symbol":"ACME","price":101.5, ...}' ]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416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1 is the topic — what subscribers filter on. Frame 2 is the payload — the fields.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message, described three times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 three is authoritative. Nothing checks them against each other.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560320" cy="16002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16002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975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publisher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" y="23042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factory in models/message.py, or an inline dict in the producer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72768"/>
            <a:ext cx="2560320" cy="16002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1572768"/>
            <a:ext cx="50292" cy="160020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51129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11296" y="1975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subscriber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11296" y="23042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topic string literal, repeated across gateways and tools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572768"/>
            <a:ext cx="2560320" cy="16002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572768"/>
            <a:ext cx="50292" cy="160020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300216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0216" y="19751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documentation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2304288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270-message-reference.md, hand-maintained prose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2724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16168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3310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link between them</a:t>
            </a:r>
            <a:endParaRPr lang="en-US" sz="1100" dirty="0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8138160" cy="9144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50292" cy="9144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758952" y="380390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failure this creates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8952" y="40965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Rename a field on the publisher side and the subscriber keeps compiling, keeps running, and simply stops seeing the value. No error. Just wrong.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rename, in slow motion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in this sequence fails loudly. That is the whole problem.</a:t>
            </a:r>
            <a:endParaRPr lang="en-US" sz="13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120" y="1481328"/>
            <a:ext cx="0" cy="2514600"/>
          </a:xfrm>
          <a:prstGeom prst="line">
            <a:avLst/>
          </a:prstGeom>
          <a:noFill/>
          <a:ln w="25400">
            <a:solidFill>
              <a:srgbClr val="232A34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1517904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1234440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09:00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14630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developer renames qty to quantity in the publisher.</a:t>
            </a:r>
            <a:endParaRPr lang="en-US" sz="1200" dirty="0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1956816"/>
            <a:ext cx="164592" cy="16459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23444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09:01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9019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pass. The publisher is internally consistent.</a:t>
            </a:r>
            <a:endParaRPr lang="en-US" sz="1200" dirty="0"/>
          </a:p>
        </p:txBody>
      </p:sp>
      <p:sp>
        <p:nvSpPr>
          <p:cNvPr id="1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2395728"/>
            <a:ext cx="164592" cy="164592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1234440" y="23408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09:05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3408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Merged. CI is green — nothing compares the two sides.</a:t>
            </a:r>
            <a:endParaRPr lang="en-US" sz="1200" dirty="0"/>
          </a:p>
        </p:txBody>
      </p:sp>
      <p:sp>
        <p:nvSpPr>
          <p:cNvPr id="1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2834640"/>
            <a:ext cx="164592" cy="164592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1234440" y="27797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 11:20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277977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subscriber still reads payload.get("qty") → None.</a:t>
            </a:r>
            <a:endParaRPr lang="en-US" sz="1200" dirty="0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3273552"/>
            <a:ext cx="164592" cy="164592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1234440" y="32186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 14:00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32186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 show volume quietly collapsing to zero.</a:t>
            </a:r>
            <a:endParaRPr lang="en-US" sz="1200" dirty="0"/>
          </a:p>
        </p:txBody>
      </p:sp>
      <p:sp>
        <p:nvSpPr>
          <p:cNvPr id="2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2396" y="3712464"/>
            <a:ext cx="164592" cy="164592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1234440" y="3657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6576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days of tracing to find a six-character rename.</a:t>
            </a:r>
            <a:endParaRPr lang="en-US" sz="12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8229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41513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fix is not more discipline.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444398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to make one file the source of truth, generate the rest from it, and fail the build when they disagree.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big is the problem? It was counted.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point-in-time snapshot of the EduMatcher tree. The shape matters more than the exact numbers.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2494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publisher factories in models/message.py</a:t>
            </a:r>
            <a:endParaRPr lang="en-US" sz="10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627632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627632"/>
            <a:ext cx="50292" cy="105156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852928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52928" y="22494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those with a typed payload contract</a:t>
            </a:r>
            <a:endParaRPr lang="en-US" sz="10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627632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627632"/>
            <a:ext cx="50292" cy="105156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974336" y="17556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74336" y="22494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 documented by hand, across 2 222 lines</a:t>
            </a:r>
            <a:endParaRPr lang="en-US" sz="10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627632"/>
            <a:ext cx="1773936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627632"/>
            <a:ext cx="50292" cy="105156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095744" y="1755648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095744" y="22494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checks linking any of them</a:t>
            </a:r>
            <a:endParaRPr lang="en-US" sz="10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8138160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26080"/>
            <a:ext cx="50292" cy="9144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31520" y="305409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108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920240" y="31272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distinct topic string literals outside message.py, spread across 25 files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920240" y="34564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is a place where a publisher-side rename goes unnoticed.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 of 92 messages declare what their fields mean. The other 85 build a dict literal inline — a reader must infer from the code whether price is display money or engine ticks.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drifts in both directions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Hand-maintained reference pages rot in two independent ways.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3968496" cy="23317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233172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3968496" cy="23317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50292" cy="2331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A — CODE AHEAD OF DOCS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topics exist only in code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5915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auction.indicative.{}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book.depth.{}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index.constituent_change_ack.{}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index.corp_action_ack.{}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index.history.{}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risk.symbol_halt_ack.{} — and two more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B — DOCS AHEAD OF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 silently go stale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5915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trades CLI example lost a column when aggressor_side was added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book.{SYMBOL} gained tick_decimals and three surfaces needed a manual edit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 clients were never going to get either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330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of these needed a human to remember. That is not a system property — it is luck.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C clients had no message types at all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 side saw a generic bag of strings — never a trade.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2860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5049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5049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5049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60934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calf_parser.h — before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3852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key[64];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12598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char value[512];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31343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calf_field_t;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50088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688336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87578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msg_type[32];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306324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field_count;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25069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calf_field_t fields[64];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43814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calf_message_t;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3968496" cy="22860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50292" cy="22860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4901184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that costs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01184" y="2103120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 client re-types field names as string literals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 client re-implements parsing, per field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rename in Python cannot reach them at all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types: a price and a quantity are both just text</a:t>
            </a:r>
            <a:endParaRPr lang="en-US" sz="11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65836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41513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generator's promise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44439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description of a trade produces the Python class, the C struct, and the reference page — in one step, checked by CI.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shape of the answer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 is authoritative. Everything else is output.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2286000" cy="13716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1371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13232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OF TRUTH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197510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spec/messages/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trade.yaml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578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human-written, reviewed</a:t>
            </a:r>
            <a:endParaRPr lang="en-US" sz="950" dirty="0"/>
          </a:p>
        </p:txBody>
      </p:sp>
      <p:sp>
        <p:nvSpPr>
          <p:cNvPr id="13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2240280"/>
            <a:ext cx="6858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761488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95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1554480"/>
            <a:ext cx="4937760" cy="8229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1554480"/>
            <a:ext cx="50292" cy="8229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931920" y="1682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binding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dataclass, constructor, parser, topic constants</a:t>
            </a:r>
            <a:endParaRPr lang="en-US" sz="10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514600"/>
            <a:ext cx="4937760" cy="8229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2514600"/>
            <a:ext cx="50292" cy="82296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931920" y="26426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binding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2953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struct, parser, validator, enum names</a:t>
            </a:r>
            <a:endParaRPr lang="en-US" sz="10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3474720"/>
            <a:ext cx="4937760" cy="8229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3320" y="3474720"/>
            <a:ext cx="5029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3931920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message appendix, per transport</a:t>
            </a:r>
            <a:endParaRPr lang="en-US" sz="105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6858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415137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files are committed to the repository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444398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reader browsing the code never has to run the generator — and a CI check proves the committed copy still matches the spec.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IDL?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Definition Language: a small, strict language whose only job is to describe the shape of data that crosses a boundary between programs.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IDL, in one picture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write the description once. A generator writes the code for each language.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554480"/>
            <a:ext cx="2651760" cy="9144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1554480"/>
            <a:ext cx="50292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3429000" y="1700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trade.yaml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interface definition</a:t>
            </a:r>
            <a:endParaRPr lang="en-US" sz="1050" dirty="0"/>
          </a:p>
        </p:txBody>
      </p:sp>
      <p:sp>
        <p:nvSpPr>
          <p:cNvPr id="12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28800" y="2651760"/>
            <a:ext cx="0" cy="384048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2651760" cy="10058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50292" cy="10058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04088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4088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 TradeExecuted</a:t>
            </a:r>
            <a:endParaRPr lang="en-US" sz="1000" dirty="0"/>
          </a:p>
        </p:txBody>
      </p:sp>
      <p:sp>
        <p:nvSpPr>
          <p:cNvPr id="17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651760"/>
            <a:ext cx="0" cy="384048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3035808"/>
            <a:ext cx="2651760" cy="10058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6120" y="3035808"/>
            <a:ext cx="50292" cy="10058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3447288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47288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edu_trade_executed_calf_t</a:t>
            </a:r>
            <a:endParaRPr lang="en-US" sz="1000" dirty="0"/>
          </a:p>
        </p:txBody>
      </p:sp>
      <p:sp>
        <p:nvSpPr>
          <p:cNvPr id="22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2651760"/>
            <a:ext cx="0" cy="384048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3035808"/>
            <a:ext cx="2651760" cy="10058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3035808"/>
            <a:ext cx="50292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190488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90488" y="3493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table + examples</a:t>
            </a:r>
            <a:endParaRPr lang="en-US" sz="1000" dirty="0"/>
          </a:p>
        </p:txBody>
      </p:sp>
      <p:sp>
        <p:nvSpPr>
          <p:cNvPr id="27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19656" y="2651760"/>
            <a:ext cx="5504688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468880"/>
            <a:ext cx="0" cy="201168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8138160" cy="804672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80467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758952" y="42428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new programming language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8952" y="45354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IDL has no loops, no functions and no behaviour. It only states what fields exist, what type each is, and what counts as valid.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analogy you already know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78608" cy="18288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182880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22376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KITCHEN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" y="186537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recipe card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" y="2157984"/>
            <a:ext cx="21671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Ingredients and quantities, written once. Every cook in every kitchen works from the same card instead of remembering their own version.</a:t>
            </a:r>
            <a:endParaRPr lang="en-US" sz="10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81328"/>
            <a:ext cx="2578608" cy="18288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81328"/>
            <a:ext cx="50292" cy="182880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502152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A BUILDING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186537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architectural plan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02152" y="2395728"/>
            <a:ext cx="2167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plumber and the electrician never speak, yet their work fits — because both read the same drawing rather than each other's walls.</a:t>
            </a:r>
            <a:endParaRPr lang="en-US" sz="100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481328"/>
            <a:ext cx="2578608" cy="18288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481328"/>
            <a:ext cx="50292" cy="1828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281928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OUR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81928" y="186537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spec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81928" y="2157984"/>
            <a:ext cx="21671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engine, the gateways, the C clients and the docs all derive from one YAML file rather than from copies of each other.</a:t>
            </a:r>
            <a:endParaRPr lang="en-US" sz="10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84448"/>
            <a:ext cx="8138160" cy="9601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84448"/>
            <a:ext cx="502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758952" y="371246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property all three share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" y="4005072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exactly one place to change something, and a mechanical way to check that everything downstream followed. Remove either half and you are back to hoping.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an IDL file actually contains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kinds of statement — nothing else.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246120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74520" y="157276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family this is, and what version of it</a:t>
            </a:r>
            <a:endParaRPr lang="en-US" sz="9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12848"/>
            <a:ext cx="3246120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12848"/>
            <a:ext cx="50292" cy="548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31520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74520" y="223113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messages, their fields, and each field's type</a:t>
            </a:r>
            <a:endParaRPr lang="en-US" sz="9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71216"/>
            <a:ext cx="3246120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71216"/>
            <a:ext cx="50292" cy="548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31520" y="2871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74520" y="288950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a value legal: ranges, lengths, patterns, enumerated values</a:t>
            </a:r>
            <a:endParaRPr lang="en-US" sz="9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9584"/>
            <a:ext cx="3246120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9584"/>
            <a:ext cx="50292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31520" y="35295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874520" y="354787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message travels and what it looks like on each wire</a:t>
            </a:r>
            <a:endParaRPr lang="en-US" sz="950" dirty="0"/>
          </a:p>
        </p:txBody>
      </p:sp>
      <p:sp>
        <p:nvSpPr>
          <p:cNvPr id="24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1554480"/>
            <a:ext cx="4663440" cy="301752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77640" y="1554480"/>
            <a:ext cx="46634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05656" y="165049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60" y="165049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8264" y="165049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599432" y="16093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spec/messages/heartbeat.yaml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78808" y="19385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78808" y="21214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78808" y="23042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78808" y="24871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engine_alive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78808" y="26700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"system.heartbeat"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78808" y="28529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transport: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[engine_pub]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78808" y="30358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78808" y="32186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motivation: "Liveness ping so 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78808" y="34015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subscriber can tell a quiet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78808" y="35844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engine from a dead one."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78808" y="37673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78808" y="39502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sent_at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78808" y="41330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78808" y="43159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required: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enough to generate a dataclass, a validating constructor, a parser and a topic constant.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that file line by line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key earns its place. Nothing here is decoration.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5544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23160" y="1554480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namespace. Must equal the filename stem: heartbeat.yaml.</a:t>
            </a:r>
            <a:endParaRPr lang="en-US" sz="110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56816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19568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956816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Lets the spec evolve deliberately rather than by accident.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" y="235915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359152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message name. Becomes the class name and every function suffix.</a:t>
            </a:r>
            <a:endParaRPr lang="en-US" sz="110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27614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761488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subscribers filter on. Becomes a generated constant.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" y="31638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3163824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wires this message travels on, by name from the registry.</a:t>
            </a:r>
            <a:endParaRPr lang="en-US" sz="1100" dirty="0"/>
          </a:p>
        </p:txBody>
      </p:sp>
      <p:sp>
        <p:nvSpPr>
          <p:cNvPr id="2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30936" y="3566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doc.motivation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3566160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Prose for the generated documentation. Never reaches the wire.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" y="3968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23160" y="3968496"/>
            <a:ext cx="6080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payload: one entry per field, each with type, rules and a unit.</a:t>
            </a:r>
            <a:endParaRPr lang="en-US" sz="1100" dirty="0"/>
          </a:p>
        </p:txBody>
      </p:sp>
      <p:sp>
        <p:nvSpPr>
          <p:cNvPr id="25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8138160" cy="2816352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50292" cy="45720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758952" y="4590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loader is strict on purpose: an unknown key raises an error. It is not ignored, and it is not warned about.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VOCABULARY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an IDL is deliberately not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Knowing the boundary is what keeps the tool small enough to trust.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3968496" cy="23774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237744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3968496" cy="23774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50292" cy="2377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DOES NOT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behaviour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59152"/>
            <a:ext cx="3511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business logic — matching, risk and clearing stay hand-written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stateful normalisation — caches and delta suppression stay in the gateways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opinion on how a client renders a value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RPC, no services, no schemas for anything but messages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DOES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message shape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59152"/>
            <a:ext cx="3511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fields exist, and what each one means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types they are, in every target language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counts as a valid value, enforced identically in Python and 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same event projects onto each wire format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6966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Drawing the line at "the generator owns the field map, the gateway owns the state" is what keeps this a message-shape tool rather than a second gateway.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our own IDL,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not an existing one?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Off-the-shelf IDLs exist and are excellent. Each one, applied here, would have cost something the system cannot give up.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candidates, and why each was rejected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was a deliberate decision, not an oversight.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47548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Buffers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97480" y="15544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Would replace the wire format itself</a:t>
            </a:r>
            <a:endParaRPr lang="en-US" sz="10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21408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21408"/>
            <a:ext cx="50292" cy="47548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31520" y="21214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FlatBuffers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97480" y="212140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problem — and EduMatcher's formats are the teaching material</a:t>
            </a:r>
            <a:endParaRPr lang="en-US" sz="10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88336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88336"/>
            <a:ext cx="50292" cy="47548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31520" y="26883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Schema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97480" y="2688336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JSON only. No C generation, no binary layout, no topic model</a:t>
            </a:r>
            <a:endParaRPr lang="en-US" sz="10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55264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55264"/>
            <a:ext cx="50292" cy="47548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31520" y="32552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AsyncAPI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97480" y="3255264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Closest fit and the topic model is right — but its targets are web-oriented and it cannot express BALF's fixed binary header or CALF's positional text</a:t>
            </a:r>
            <a:endParaRPr lang="en-US" sz="10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22192"/>
            <a:ext cx="8138160" cy="47548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22192"/>
            <a:ext cx="50292" cy="47548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31520" y="38221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Hand-written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97480" y="382219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status quo. Section 1 measured the result: 108 literals, 25 files</a:t>
            </a:r>
            <a:endParaRPr lang="en-US" sz="10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50292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58952" y="4590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EduMatcher's CALF text and BALF binary formats are pedagogical artefacts — students read and parse them by hand. Replacing them removes the teaching value.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differentiator: projections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logical event travels on four wires — and it is a different shape on each.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192024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658368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trade.executed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20299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 event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fields</a:t>
            </a:r>
            <a:endParaRPr lang="en-US" sz="1000" dirty="0"/>
          </a:p>
        </p:txBody>
      </p:sp>
      <p:sp>
        <p:nvSpPr>
          <p:cNvPr id="12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23160" y="2057400"/>
            <a:ext cx="320040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1847088"/>
            <a:ext cx="0" cy="2450592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projection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1847088"/>
            <a:ext cx="310896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1536192"/>
            <a:ext cx="5532120" cy="62179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1536192"/>
            <a:ext cx="50292" cy="62179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310128" y="15361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JSON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5361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11 fields, internal names</a:t>
            </a:r>
            <a:endParaRPr lang="en-US" sz="1050" dirty="0"/>
          </a:p>
        </p:txBody>
      </p:sp>
      <p:sp>
        <p:nvSpPr>
          <p:cNvPr id="19" name="projection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2624328"/>
            <a:ext cx="310896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2313432"/>
            <a:ext cx="5532120" cy="62179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2313432"/>
            <a:ext cx="50292" cy="621792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3310128" y="231343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 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31343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fields → PX, QTY, SIDE</a:t>
            </a:r>
            <a:endParaRPr lang="en-US" sz="1050" dirty="0"/>
          </a:p>
        </p:txBody>
      </p:sp>
      <p:sp>
        <p:nvSpPr>
          <p:cNvPr id="24" name="projection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3401568"/>
            <a:ext cx="310896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3090672"/>
            <a:ext cx="5532120" cy="62179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3090672"/>
            <a:ext cx="50292" cy="6217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3310128" y="309067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 text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09067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fields, one renamed twice</a:t>
            </a:r>
            <a:endParaRPr lang="en-US" sz="1050" dirty="0"/>
          </a:p>
        </p:txBody>
      </p:sp>
      <p:sp>
        <p:nvSpPr>
          <p:cNvPr id="29" name="projection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0" y="4178808"/>
            <a:ext cx="310896" cy="0"/>
          </a:xfrm>
          <a:prstGeom prst="line">
            <a:avLst/>
          </a:prstGeom>
          <a:noFill/>
          <a:ln w="1270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3867912"/>
            <a:ext cx="5532120" cy="62179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08960" y="3867912"/>
            <a:ext cx="50292" cy="62179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3310128" y="3867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BALF binary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86791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64-byte frame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590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projection is a subset of fields, each renamed, some supplied by the gateway rather than the message. No off-the-shelf tool models projection across heterogeneous wire formats.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trade, three ways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the same fields under three names — genuinely different content per feed.</a:t>
            </a:r>
            <a:endParaRPr lang="en-US" sz="1300" dirty="0"/>
          </a:p>
        </p:txBody>
      </p:sp>
      <p:sp>
        <p:nvSpPr>
          <p:cNvPr id="8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32004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49224" y="15179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(bus)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35224" y="15179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JSON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55464" y="15179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92824" y="1517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18379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35224" y="18379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5464" y="18379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not public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92824" y="1837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EXEC_ID, MATCH_ID</a:t>
            </a:r>
            <a:endParaRPr lang="en-US" sz="1000" dirty="0"/>
          </a:p>
        </p:txBody>
      </p:sp>
      <p:sp>
        <p:nvSpPr>
          <p:cNvPr id="17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57984"/>
            <a:ext cx="8138160" cy="32004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9224" y="21579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35224" y="21579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55464" y="21579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 (gateway)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92824" y="21579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 (gateway)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" y="2478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buy_order_id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35224" y="24780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buy_order_id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55464" y="24780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92824" y="2478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BUY_ORDER_ID</a:t>
            </a:r>
            <a:endParaRPr lang="en-US" sz="1000" dirty="0"/>
          </a:p>
        </p:txBody>
      </p:sp>
      <p:sp>
        <p:nvSpPr>
          <p:cNvPr id="26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98064"/>
            <a:ext cx="8138160" cy="32004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49224" y="27980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35224" y="27980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55464" y="27980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92824" y="27980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" y="31181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35224" y="3118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55464" y="31181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92824" y="3118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</a:t>
            </a:r>
            <a:endParaRPr lang="en-US" sz="1000" dirty="0"/>
          </a:p>
        </p:txBody>
      </p:sp>
      <p:sp>
        <p:nvSpPr>
          <p:cNvPr id="3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38144"/>
            <a:ext cx="8138160" cy="32004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49224" y="34381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aggressor_side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35224" y="34381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aggressor_side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55464" y="343814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92824" y="3438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" y="37581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935224" y="3758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55464" y="37581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(gateway)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92824" y="37581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(gateway)</a:t>
            </a:r>
            <a:endParaRPr lang="en-US" sz="1000" dirty="0"/>
          </a:p>
        </p:txBody>
      </p:sp>
      <p:sp>
        <p:nvSpPr>
          <p:cNvPr id="44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78224"/>
            <a:ext cx="8138160" cy="32004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649224" y="40782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tick_decimals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35224" y="4078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tick_decimals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55464" y="407822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92824" y="40782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49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288036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502920" y="448056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public CALF feed carries three of the eleven fields. A C client sees a three-field struct — not the bus payload.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VS BUY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So: own it, but keep it small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of ownership is only acceptable because the scope is tight.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3968496" cy="23317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50292" cy="233172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3968496" cy="23317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72768"/>
            <a:ext cx="50292" cy="2331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OF BENDING A BIG TOOL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avoided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5915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Rewriting the wire formats students learn from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generator plugin for a format the tool was never designed to emit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pinning and upstream breakage in a teaching repo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Explaining someone else's model before explaining ours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190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OF OWNING A SMALL 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568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accepted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59152"/>
            <a:ext cx="35112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YAML loader with strict, tested rejection rules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emitters — Python and C — plus a docs emitter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Determinism as a hard requirement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specification we must document ourselves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1148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specification needed is small enough that owning it is cheaper than bending one that does not fit.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principles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our IDL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Seven ideas explain almost every rule in the language. Each one exists because a specific failure was possible without it.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seven principles at a glance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35024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35024"/>
            <a:ext cx="50292" cy="16642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22376" y="1499616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" y="171907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" y="224942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file is authoritative; everything else is generated and committed.</a:t>
            </a:r>
            <a:endParaRPr lang="en-US" sz="10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335024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335024"/>
            <a:ext cx="50292" cy="16642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807208" y="1499616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07208" y="171907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by default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807208" y="224942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unknown key raises. Ambiguity is a spec error, never a runtime guess.</a:t>
            </a:r>
            <a:endParaRPr lang="en-US" sz="100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335024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335024"/>
            <a:ext cx="50292" cy="166420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892040" y="1499616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71907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Presence is explicit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92040" y="224942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means one of four precise things, and you must say which.</a:t>
            </a:r>
            <a:endParaRPr lang="en-US" sz="10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335024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335024"/>
            <a:ext cx="50292" cy="166420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6976872" y="1499616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76872" y="171907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Units are mandatory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76872" y="2249424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number declares what it measures — ticks are not money.</a:t>
            </a:r>
            <a:endParaRPr lang="en-US" sz="10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50292" cy="166420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22376" y="3364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" y="3584448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Coercion ≠ validation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22376" y="411480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data and asserting it is correct are separate jobs.</a:t>
            </a:r>
            <a:endParaRPr lang="en-US" sz="10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3200400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3200400"/>
            <a:ext cx="50292" cy="166420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2807208" y="3364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07208" y="3584448"/>
            <a:ext cx="1472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over convention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807208" y="4352544"/>
            <a:ext cx="1472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Records make illegal states unrepresentable instead of merely invalid.</a:t>
            </a:r>
            <a:endParaRPr lang="en-US" sz="1000" dirty="0"/>
          </a:p>
        </p:txBody>
      </p:sp>
      <p:sp>
        <p:nvSpPr>
          <p:cNvPr id="3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200400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200400"/>
            <a:ext cx="50292" cy="16642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4892040" y="3364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3584448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output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892040" y="411480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Byte-identical generation is what makes the CI check possible at all.</a:t>
            </a:r>
            <a:endParaRPr lang="en-US" sz="1000" dirty="0"/>
          </a:p>
        </p:txBody>
      </p:sp>
      <p:sp>
        <p:nvSpPr>
          <p:cNvPr id="4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3200400"/>
            <a:ext cx="1883664" cy="16642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3200400"/>
            <a:ext cx="50292" cy="1664208"/>
          </a:xfrm>
          <a:prstGeom prst="rect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4" name="Text 42"/>
          <p:cNvSpPr/>
          <p:nvPr/>
        </p:nvSpPr>
        <p:spPr>
          <a:xfrm>
            <a:off x="6976872" y="336499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76872" y="3584448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short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976872" y="3877056"/>
            <a:ext cx="14721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it once, state it precisely, and let the machine keep everything else in step.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1 — one source of truth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spec is the only place a field is described. Everything downstream is output.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12648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spec/*.yaml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edit this</a:t>
            </a:r>
            <a:endParaRPr lang="en-US" sz="9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724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0612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720340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0340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emitter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28032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committed, DO NOT EDIT</a:t>
            </a:r>
            <a:endParaRPr lang="en-US" sz="95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9108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996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35724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 check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5724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proves they match</a:t>
            </a:r>
            <a:endParaRPr lang="en-US" sz="9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3968496" cy="9601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502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58952" y="291693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generated code is committed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" y="345643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reader browsing the repository never needs to run the generator, and reviewers see the real diff of a spec change.</a:t>
            </a:r>
            <a:endParaRPr lang="en-US" sz="11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3968496" cy="9601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50292" cy="9601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928616" y="291693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hand-edits cannot survive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28616" y="345643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re-renders every artefact and diffs it. A hand-edit to a generated file fails the build exactly like a stale one.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04164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vim spec/messages/trade.yaml   →   $ make msgen   →   $ git add spec/ src/.../generated/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2 — the loader is strict on purpose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rejection below is a spec-file error, not a wrong answer in shipped code.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53312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53312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151790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73736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record inside a record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226771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both generators non-recursive. Nothing here needs deeper structure.</a:t>
            </a:r>
            <a:endParaRPr lang="en-US" sz="10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53312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353312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3502152" y="151790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173736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nullable list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02152" y="2029968"/>
            <a:ext cx="2167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empty list already says "nothing". null would be a second spelling every reader must handle.</a:t>
            </a:r>
            <a:endParaRPr lang="en-US" sz="10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53312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353312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281928" y="151790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173736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type nothing references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81928" y="226771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would generate a class that nothing ever constructs.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27248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27248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22376" y="329184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" y="351129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min_items above max_items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22376" y="404164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list could satisfy it, so every message would fail validation at runtime.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3127248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3127248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3502152" y="329184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02152" y="3511296"/>
            <a:ext cx="2167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literal address in the transport registry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02152" y="4279392"/>
            <a:ext cx="2167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Symbolic config keys only — that is what keeps ports out of generated code.</a:t>
            </a:r>
            <a:endParaRPr lang="en-US" sz="100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3127248"/>
            <a:ext cx="2578608" cy="15727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3127248"/>
            <a:ext cx="50292" cy="15727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281928" y="329184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81928" y="351129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unknown key, anywhere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281928" y="404164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ignored, not warned about. A typo must not silently do nothing.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572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Failing early in a YAML file is cheap. Failing late on a live wire is not.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3 — presence: four regimes, stated explicitly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optional field is one of four things on the wire. The loader will not guess which.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60350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6035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49808" y="1517904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151790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present, "" when omitted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5179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default: ""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8138160" cy="60350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50292" cy="603504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49808" y="2231136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7008" y="22311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present, null when unset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22311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nullable: true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8138160" cy="60350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50292" cy="603504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49808" y="2944368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7008" y="294436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entirely when unset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294436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nullable: true, omit_when_none: true</a:t>
            </a:r>
            <a:endParaRPr lang="en-US" sz="10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8138160" cy="60350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50292" cy="6035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49808" y="3657600"/>
            <a:ext cx="320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7008" y="365760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absent when the string is empty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0" y="36576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omit_when_empty: true</a:t>
            </a:r>
            <a:endParaRPr lang="en-US" sz="10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8138160" cy="5029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07408"/>
            <a:ext cx="50292" cy="5029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58952" y="455371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Regime 4 is strings only — on a number, omitting on empty would silently drop a legitimate zero. It cannot be combined with omit_when_none or with default; both are loader errors.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omission is modelled at all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Emitting null everywhere would be simpler grammar and a worse wire.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16916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5049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5049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5049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60934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3852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_topic, payload = decode(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12598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make_cancelled_msg("GW1", "O1"))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231343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" y="250088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{'order_id': 'O1'}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2688336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 client_tag key at all</a:t>
            </a:r>
            <a:endParaRPr lang="en-US" sz="105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3968496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50292" cy="1691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4901184" y="1719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reasoning, from the codebase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01184" y="204825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"An ordinary single order carries none of these, and its events should not grow four empty fields to say so."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901184" y="28346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models/message.py</a:t>
            </a:r>
            <a:endParaRPr lang="en-US" sz="9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7315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50292" cy="7315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58952" y="35570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rule only fires on a value that exists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8952" y="384962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applies only when a nullable field is set. None means "not set" — not "set to something invalid" — so max_len on an absent client_tag does not fire.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3159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hand-written builders already dropped keys with `if x:`. The IDL names that behaviour instead of leaving it as a habit.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4 — every number declares its unit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never converts anything. It makes a mismatch reviewable.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81381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105156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77240" y="17007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bug that made this mandatory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trade.executed.price is display money. trade_log.price is ticks. Both are floats, so no type system catches the mismatch — it cost a full session to untangle.</a:t>
            </a:r>
            <a:endParaRPr lang="en-US" sz="1150" dirty="0"/>
          </a:p>
        </p:txBody>
      </p:sp>
      <p:sp>
        <p:nvSpPr>
          <p:cNvPr id="12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3968496" cy="13258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283921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83921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283921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1124712" y="279806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trade.yaml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" y="312724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" y="331470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</a:t>
            </a:r>
            <a:r>
              <a:rPr lang="en-US" sz="10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" y="350215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unit: 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display_price</a:t>
            </a: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not ticks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4088" y="368960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validate: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gt: 0 }</a:t>
            </a:r>
            <a:endParaRPr lang="en-US" sz="105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43200"/>
            <a:ext cx="3968496" cy="132588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43200"/>
            <a:ext cx="50292" cy="132588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4901184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legal units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01184" y="316382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display_price   ticks   shares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epoch_seconds   epoch_nanos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   dimensionless   money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22452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on every numeric field. A reviewer can see it; the generator can print it in the docs.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5 — coercion and validation are different jobs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 value and asserting it is correct must be separable.</a:t>
            </a:r>
            <a:endParaRPr lang="en-US" sz="1300" dirty="0"/>
          </a:p>
        </p:txBody>
      </p:sp>
      <p:sp>
        <p:nvSpPr>
          <p:cNvPr id="8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384048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49224" y="151790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63824" y="15179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COERCES?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52544" y="1517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32704" y="151790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IT WHEN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" y="19019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from_dict(payload)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63824" y="19019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52544" y="1901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32704" y="19019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history: replay, archive, audit</a:t>
            </a:r>
            <a:endParaRPr lang="en-US" sz="1050" dirty="0"/>
          </a:p>
        </p:txBody>
      </p:sp>
      <p:sp>
        <p:nvSpPr>
          <p:cNvPr id="17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86000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49224" y="22860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63824" y="2286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52544" y="2286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32704" y="22860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want to know, separately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make_*(**kw)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63824" y="26700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52544" y="2670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32704" y="26700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publishing — always</a:t>
            </a:r>
            <a:endParaRPr lang="en-US" sz="1050" dirty="0"/>
          </a:p>
        </p:txBody>
      </p:sp>
      <p:sp>
        <p:nvSpPr>
          <p:cNvPr id="26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49224" y="305409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make_*_unchecked(**kw)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63824" y="3054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52544" y="3054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32704" y="3054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measured hot path only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" y="34381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parse_*(frames)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163824" y="34381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52544" y="34381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32704" y="34381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receiving a live message</a:t>
            </a:r>
            <a:endParaRPr lang="en-US" sz="1050" dirty="0"/>
          </a:p>
        </p:txBody>
      </p:sp>
      <p:sp>
        <p:nvSpPr>
          <p:cNvPr id="3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22192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49224" y="382219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63824" y="3822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52544" y="3822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32704" y="38221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handing back a plain dict</a:t>
            </a:r>
            <a:endParaRPr lang="en-US" sz="1050" dirty="0"/>
          </a:p>
        </p:txBody>
      </p:sp>
      <p:sp>
        <p:nvSpPr>
          <p:cNvPr id="40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2688336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315968"/>
            <a:ext cx="8138160" cy="5486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315968"/>
            <a:ext cx="50292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758952" y="44622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the spec should state the honest contract, but the system has an archive written before that contract existed. Those two needs conflict unless reading and asserting are separated.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worked case: aggressor_side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lenient fallback for reading, without weakening the contract.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68496" cy="15544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trade.yaml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0195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aggressor_side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208940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</a:t>
            </a:r>
            <a:r>
              <a:rPr lang="en-US" sz="10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" y="2276856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values: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[BUY, SELL, AUCTION]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04088" y="246430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required: </a:t>
            </a:r>
            <a:r>
              <a:rPr lang="en-US" sz="10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265176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parse_default: </a:t>
            </a:r>
            <a:r>
              <a:rPr lang="en-US" sz="10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NOT legal</a:t>
            </a:r>
            <a:endParaRPr lang="en-US" sz="1050" dirty="0"/>
          </a:p>
        </p:txBody>
      </p:sp>
      <p:sp>
        <p:nvSpPr>
          <p:cNvPr id="19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17904"/>
            <a:ext cx="3968496" cy="15544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17904"/>
            <a:ext cx="3968496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3208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294376" y="157276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1901952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archived = {...}  # no aggressor_side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73752" y="2089404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from_dict(archived).aggressor_side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73752" y="2276856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   — reads fine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73752" y="2464308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from_dict(archived).validate()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73752" y="2651760"/>
            <a:ext cx="3602736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MessageValidationError</a:t>
            </a:r>
            <a:endParaRPr lang="en-US" sz="1050" dirty="0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3968496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50292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758952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that reads history breaks</a:t>
            </a:r>
            <a:endParaRPr lang="en-US" sz="115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246120"/>
            <a:ext cx="3968496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246120"/>
            <a:ext cx="50292" cy="548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4928616" y="3246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published message is still checked</a:t>
            </a:r>
            <a:endParaRPr lang="en-US" sz="1150" dirty="0"/>
          </a:p>
        </p:txBody>
      </p:sp>
      <p:sp>
        <p:nvSpPr>
          <p:cNvPr id="3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04488"/>
            <a:ext cx="3968496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04488"/>
            <a:ext cx="50292" cy="548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758952" y="3904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"" never becomes part of the contract</a:t>
            </a:r>
            <a:endParaRPr lang="en-US" sz="1150" dirty="0"/>
          </a:p>
        </p:txBody>
      </p:sp>
      <p:sp>
        <p:nvSpPr>
          <p:cNvPr id="3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904488"/>
            <a:ext cx="3968496" cy="548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904488"/>
            <a:ext cx="50292" cy="548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4928616" y="39044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"" population becomes countable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45720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Had "" been declared a legal enum value, it would have had to become a C enum member — exporting an accident into a second language and freezing it in a wire format.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6 — records: declare once, embed anywhere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family declares record types at the top of its file and references them by name.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114800" cy="288036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1148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spec/messages/book.yaml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01952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80260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BookLevel: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58568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doc: "One aggregated level."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36876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615184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name: price, type: float,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93492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unit: display_price 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71800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name: qty,   type: int,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50108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unit: shares }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328416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3506724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name: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book_snapshot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" y="3685032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fields: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" y="3863340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name: bids, type: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" y="4041648"/>
            <a:ext cx="3749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ref: BookLevel }</a:t>
            </a:r>
            <a:endParaRPr lang="en-US" sz="10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517904"/>
            <a:ext cx="3822192" cy="13716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517904"/>
            <a:ext cx="50292" cy="1371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5047488" y="16459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get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47488" y="193852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snap.bids[0].price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95.0        # a real BookLevel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snap.validate()   # walks both ladders</a:t>
            </a:r>
            <a:endParaRPr lang="en-US" sz="10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026664"/>
            <a:ext cx="3822192" cy="13716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026664"/>
            <a:ext cx="50292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5074920" y="3154680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nested = both-or-neither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74920" y="3447288"/>
            <a:ext cx="3364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pair of keys that must travel together is a record that was flattened. A nullable record makes the half-set state unrepresentable rather than merely invalid — which is why the IDL has no co_present constraint.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5354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declared on a record's fields apply everywhere it is embedded. That is the point of declaring it once.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7 — determinism is not optional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 gate only works if generation is byte-identical every time.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8138160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spec  ·  run twice  ·  on any machine  →  byte-identical output</a:t>
            </a:r>
            <a:endParaRPr lang="en-US" sz="160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0320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0320"/>
            <a:ext cx="50292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22376" y="2724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" y="2944368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Formatting is emitted, not applied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" y="3474720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emitter reproduces black's rules directly. Running black at generation time would make output depend on the installed version.</a:t>
            </a:r>
            <a:endParaRPr lang="en-US" sz="10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560320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560320"/>
            <a:ext cx="50292" cy="1691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3502152" y="2724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2944368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Enums become named aliases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02152" y="3474720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alias per enum keeps every use site short, so no line-wrapping rule can ever apply — however many values a future enum grows.</a:t>
            </a:r>
            <a:endParaRPr lang="en-US" sz="10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560320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560320"/>
            <a:ext cx="50292" cy="1691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81928" y="27249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CONSEQUENCE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1928" y="2944368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 are constants, not text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81928" y="3474720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regex is interpolated by object, because a spec pattern may contain quotes or braces that would break the f-string carrying it.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4074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generator that occasionally reorders its own output turns the CI check into flaky failures — which is worse than not having a check at all.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Topics, transports and the registry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more pieces of the language, both about where a message goes.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114800" cy="16002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1148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parameterised topic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901952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89404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topic: </a:t>
            </a: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"order.ack.{gateway_id}"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76856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transport: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[engine_pub]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64308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fields: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651760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{ name: gateway_id, type: string }</a:t>
            </a:r>
            <a:endParaRPr lang="en-US" sz="1000" dirty="0"/>
          </a:p>
        </p:txBody>
      </p:sp>
      <p:sp>
        <p:nvSpPr>
          <p:cNvPr id="19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517904"/>
            <a:ext cx="3822192" cy="16002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517904"/>
            <a:ext cx="3822192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1613916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3208" y="1613916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9512" y="1613916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440680" y="157276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spec/transports.yaml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0056" y="1901952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engine_pub: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0056" y="2089404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pattern: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0056" y="2276856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subscriber_pattern: </a:t>
            </a: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0056" y="2464308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address_config_key: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0056" y="2651760"/>
            <a:ext cx="34564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ENGINE_PUB_ADDR</a:t>
            </a: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symbolic</a:t>
            </a:r>
            <a:endParaRPr lang="en-US" sz="1000" dirty="0"/>
          </a:p>
        </p:txBody>
      </p:sp>
      <p:sp>
        <p:nvSpPr>
          <p:cNvPr id="3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55264"/>
            <a:ext cx="4114800" cy="777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55264"/>
            <a:ext cx="50292" cy="7772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758952" y="338328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topic segment can name a field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58952" y="39227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what removes hand-typed topic literals from every subscriber in the tree.</a:t>
            </a:r>
            <a:endParaRPr lang="en-US" sz="1100" dirty="0"/>
          </a:p>
        </p:txBody>
      </p:sp>
      <p:sp>
        <p:nvSpPr>
          <p:cNvPr id="3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255264"/>
            <a:ext cx="3822192" cy="777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255264"/>
            <a:ext cx="50292" cy="7772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5074920" y="3383280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 literal address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74920" y="3675888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address_config_key must be symbolic. lint rejects anything that looks like tcp://…</a:t>
            </a:r>
            <a:endParaRPr lang="en-US" sz="1100" dirty="0"/>
          </a:p>
        </p:txBody>
      </p:sp>
      <p:sp>
        <p:nvSpPr>
          <p:cNvPr id="3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69664"/>
            <a:ext cx="8138160" cy="65836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69664"/>
            <a:ext cx="50292" cy="65836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758952" y="4297680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topic parameter is dropped from the payload by default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58952" y="4590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order.ack.{gateway_id} names the gateway in its topic and does not repeat it in the body — matching what the hand-written builder already did.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messages: BALF declares a byte layout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 wire keys, a fixed frame — and every byte must be accounted for.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4572000" cy="30632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77340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77340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77340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361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order.yaml — encoding: balf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653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482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balf: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311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msg_type: </a:t>
            </a: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4140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frame_size: </a:t>
            </a: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8 hdr + 56 body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968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price_scale: </a:t>
            </a: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100000000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797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layout: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626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field: order_id,  repr: u64,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" y="31455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offset: 8 }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" y="33284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field: fill_price, repr: i64,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4088" y="351129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offset: 16, scale: price_scale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" y="369417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field: symbol, repr: "char[8]",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3877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offset: 40 }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" y="40599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field: side, repr: u8, offset: 48,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" y="42428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enum_map: { BUY: 1, SELL: 2 } 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64-byte frame</a:t>
            </a:r>
            <a:endParaRPr lang="en-US" sz="1300" dirty="0"/>
          </a:p>
        </p:txBody>
      </p:sp>
      <p:sp>
        <p:nvSpPr>
          <p:cNvPr id="29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184708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1847088"/>
            <a:ext cx="45720" cy="310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5440680" y="18470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0–7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69480" y="18470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generator-owned</a:t>
            </a:r>
            <a:endParaRPr lang="en-US" sz="900" dirty="0"/>
          </a:p>
        </p:txBody>
      </p:sp>
      <p:sp>
        <p:nvSpPr>
          <p:cNvPr id="33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21284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212848"/>
            <a:ext cx="45720" cy="31089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5440680" y="22128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 8–15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22128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u64</a:t>
            </a:r>
            <a:endParaRPr lang="en-US" sz="900" dirty="0"/>
          </a:p>
        </p:txBody>
      </p:sp>
      <p:sp>
        <p:nvSpPr>
          <p:cNvPr id="37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57860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578608"/>
            <a:ext cx="45720" cy="310896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5440680" y="25786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fill_price 16–23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69480" y="25786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i64 ÷ 1e8</a:t>
            </a:r>
            <a:endParaRPr lang="en-US" sz="900" dirty="0"/>
          </a:p>
        </p:txBody>
      </p:sp>
      <p:sp>
        <p:nvSpPr>
          <p:cNvPr id="41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94436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2944368"/>
            <a:ext cx="45720" cy="310896"/>
          </a:xfrm>
          <a:prstGeom prst="rect">
            <a:avLst/>
          </a:prstGeom>
          <a:solidFill>
            <a:srgbClr val="5C6577"/>
          </a:solidFill>
          <a:ln w="12700">
            <a:solidFill>
              <a:srgbClr val="5C6577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5440680" y="29443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24–39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269480" y="2944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declared fields</a:t>
            </a:r>
            <a:endParaRPr lang="en-US" sz="900" dirty="0"/>
          </a:p>
        </p:txBody>
      </p:sp>
      <p:sp>
        <p:nvSpPr>
          <p:cNvPr id="45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331012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3310128"/>
            <a:ext cx="45720" cy="310896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5440680" y="33101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 40–47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69480" y="33101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char[8]</a:t>
            </a:r>
            <a:endParaRPr lang="en-US" sz="900" dirty="0"/>
          </a:p>
        </p:txBody>
      </p:sp>
      <p:sp>
        <p:nvSpPr>
          <p:cNvPr id="49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367588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3675888"/>
            <a:ext cx="45720" cy="31089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1" name="Text 49"/>
          <p:cNvSpPr/>
          <p:nvPr/>
        </p:nvSpPr>
        <p:spPr>
          <a:xfrm>
            <a:off x="5440680" y="3675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48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69480" y="36758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u8</a:t>
            </a:r>
            <a:endParaRPr lang="en-US" sz="900" dirty="0"/>
          </a:p>
        </p:txBody>
      </p:sp>
      <p:sp>
        <p:nvSpPr>
          <p:cNvPr id="53" name="frame seg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4041648"/>
            <a:ext cx="3383280" cy="310896"/>
          </a:xfrm>
          <a:prstGeom prst="rect">
            <a:avLst/>
          </a:prstGeom>
          <a:solidFill>
            <a:srgbClr val="161A21"/>
          </a:solidFill>
          <a:ln w="12700">
            <a:solidFill>
              <a:srgbClr val="3A425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4" name="seg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4041648"/>
            <a:ext cx="45720" cy="310896"/>
          </a:xfrm>
          <a:prstGeom prst="rect">
            <a:avLst/>
          </a:prstGeom>
          <a:solidFill>
            <a:srgbClr val="3A4250"/>
          </a:solidFill>
          <a:ln w="12700">
            <a:solidFill>
              <a:srgbClr val="3A425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5" name="Text 53"/>
          <p:cNvSpPr/>
          <p:nvPr/>
        </p:nvSpPr>
        <p:spPr>
          <a:xfrm>
            <a:off x="5440680" y="40416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50–55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269480" y="404164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gap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57800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repr: "char[8]" is quoted — unquoted, YAML reads [ as a flow sequence.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rules the binary loader enforces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one turns a runtime mystery into a spec-file error.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38404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4813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body byte is covered exactly once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51960" y="1481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gap must be an explicit reserved run, so a hole is a decision rather than an oversight</a:t>
            </a:r>
            <a:endParaRPr lang="en-US" sz="10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385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385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31520" y="1938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Offsets may not overlap or overrun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19385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fields sharing a byte is undecodable</a:t>
            </a:r>
            <a:endParaRPr lang="en-US" sz="10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957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957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31520" y="23957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field needs a layout entry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23957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field with nowhere to go would silently never be sent</a:t>
            </a:r>
            <a:endParaRPr lang="en-US" sz="10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529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529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31520" y="28529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char[N] must equal the field's max_len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2852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Otherwise a legal value would not fit the frame the spec describes</a:t>
            </a:r>
            <a:endParaRPr lang="en-US" sz="100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31520" y="3310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binary enum needs a complete enum_map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33101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missing name is a value that cannot be encoded — discovered at runtime otherwise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31520" y="37673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msg_type is unique across all families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51960" y="37673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all a receiver has to tell frames apart</a:t>
            </a:r>
            <a:endParaRPr lang="en-US" sz="10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8138160" cy="38404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50292" cy="384048"/>
          </a:xfrm>
          <a:prstGeom prst="rect">
            <a:avLst/>
          </a:prstGeom>
          <a:solidFill>
            <a:srgbClr val="2A313D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731520" y="42245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repr must be able to carry the type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51960" y="42245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u64 cannot hold a string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7000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coverage rule is the one that earns its keep — a layout eight bytes short of its frame_size fails to load, loudly.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the code,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using it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commands, one edit loop, and a small predictable set of symbols per family — in both Python and C.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commands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tool does, from the command line.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53035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5303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49808" y="148132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pm-msgen lint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48132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the spec only — no files written</a:t>
            </a:r>
            <a:endParaRPr lang="en-US" sz="11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21408"/>
            <a:ext cx="8138160" cy="53035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21408"/>
            <a:ext cx="50292" cy="53035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49808" y="21214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pm-msgen generate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212140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the generated Python, C and docs</a:t>
            </a:r>
            <a:endParaRPr lang="en-US" sz="11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8138160" cy="53035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50292" cy="530352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49808" y="27614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pm-msgen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27614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if committed output differs from the spec</a:t>
            </a:r>
            <a:endParaRPr lang="en-US" sz="11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8138160" cy="53035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50292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49808" y="340156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pm-msgen grep-literals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40156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which topics are still hard-coded</a:t>
            </a:r>
            <a:endParaRPr lang="en-US" sz="110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3968496" cy="7498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7498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31520" y="4206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the Makefile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480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msgen        make msgen-check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4114800"/>
            <a:ext cx="3968496" cy="74980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4114800"/>
            <a:ext cx="50292" cy="74980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901184" y="4206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codes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01184" y="4480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success   1 drift — regenerate   2 the spec is broken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normal edit loop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steps. Forgetting the middle one is what CI now catches.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128016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vim spec/messages/trade.yaml</a:t>
            </a: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add a field, change a constraint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" y="20665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msgen</a:t>
            </a: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# regenerate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" y="2286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spec/ src/edumatcher/models/generated/</a:t>
            </a:r>
            <a:endParaRPr lang="en-US" sz="1100" dirty="0"/>
          </a:p>
        </p:txBody>
      </p:sp>
      <p:sp>
        <p:nvSpPr>
          <p:cNvPr id="17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8138160" cy="187452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813816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297637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97637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297637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1124712" y="2935224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 if you forget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088" y="3264408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check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" y="3456432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Checking generated messages match the spec (pm-msgen)...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" y="3648456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pm-msgen check: generated output is out of date with the spec.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4088" y="3840480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generated/trade.py (committed)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" y="4032504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+++ generated/trade.py (from spec)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04088" y="4224528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    if self.tick_decimals &gt; 8: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4088" y="4416552"/>
            <a:ext cx="7772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    if self.tick_decimals &gt; 6: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one family gives you in Python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fixed, predictable set of symbols. You never hand-write any of them.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4630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TradeExecuted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03320" y="146304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frozen dataclass, one attribute per field</a:t>
            </a:r>
            <a:endParaRPr lang="en-US" sz="100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92224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17922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TOPIC_TRADE_EXECUTED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03320" y="179222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topic constant — replaces every string literal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21214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is_trade_executed(topic)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212140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test, for messages with no parameters</a:t>
            </a:r>
            <a:endParaRPr lang="en-US" sz="100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50592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24505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topic_*() / PREFIX_* / match_*()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03320" y="245059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build, subscribe to and destructure a parameterised topic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" y="27797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make_trade_executed(**kw)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277977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coerce, validate, return the two bus frames</a:t>
            </a:r>
            <a:endParaRPr lang="en-US" sz="1000" dirty="0"/>
          </a:p>
        </p:txBody>
      </p:sp>
      <p:sp>
        <p:nvSpPr>
          <p:cNvPr id="2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08960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30936" y="31089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make_trade_executed_unchecked(**kw)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310896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identical frames, no validation — measured hot paths only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" y="343814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parse_trade_executed(frames)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343814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frames to a validated object</a:t>
            </a:r>
            <a:endParaRPr lang="en-US" sz="1000" dirty="0"/>
          </a:p>
        </p:txBody>
      </p:sp>
      <p:sp>
        <p:nvSpPr>
          <p:cNvPr id="2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30936" y="3767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.from_dict() / .to_dict() / .validate()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03320" y="37673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interop with dict-based code, plus the strictness gate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" y="40965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describe_trade_executed()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03320" y="409651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metadata at runtime, for spy and pretty-print tools</a:t>
            </a:r>
            <a:endParaRPr lang="en-US" sz="1000" dirty="0"/>
          </a:p>
        </p:txBody>
      </p:sp>
      <p:sp>
        <p:nvSpPr>
          <p:cNvPr id="3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25696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0936" y="44256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FAMILY, FAMILY_VERSION, FAMILY_TOPICS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03320" y="442569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 information, for routers</a:t>
            </a:r>
            <a:endParaRPr lang="en-US" sz="1000" dirty="0"/>
          </a:p>
        </p:txBody>
      </p:sp>
      <p:sp>
        <p:nvSpPr>
          <p:cNvPr id="33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329184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502920" y="48463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 them from edumatcher.models.generated.trade.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publishing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coerces, validates, and returns exactly two frames.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32004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edumatcher.models.generated.trade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make_trade_executed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 = make_trade_executed(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id="42", symbol="ACME",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buy_order_id="b-1", sell_order_id="s-1",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price=101.5, quantity=300,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272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aggressor_side="BUY",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3101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timestamp=1_700_000_000.0,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34930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tick_decimals=2,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" y="36758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4088" y="38587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[b'trade.executed',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" y="40416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b'{"id":"42","symbol":"ACME",...}']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" y="42245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publisher.send_multipart(frames)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11887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11887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83387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 two frames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33872" y="188366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per-topic sequence number is a third frame appended by the publisher at send time — never by make_*. Adding it here would double-stamp every message.</a:t>
            </a:r>
            <a:endParaRPr lang="en-US" sz="11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761488"/>
            <a:ext cx="3063240" cy="9601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761488"/>
            <a:ext cx="502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5833872" y="288950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Coercion on the way in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833872" y="34290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price=100 (an int) puts 100.0 on the wire. A missing required field raises KeyError.</a:t>
            </a:r>
            <a:endParaRPr lang="en-US" sz="1100" dirty="0"/>
          </a:p>
        </p:txBody>
      </p:sp>
      <p:sp>
        <p:nvSpPr>
          <p:cNvPr id="3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3822192"/>
            <a:ext cx="3063240" cy="8686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3822192"/>
            <a:ext cx="50292" cy="86868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5833872" y="3950208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now validates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833872" y="4242816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zero price, or a payload with no aggressor_side, used to go out silently. It now raises.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consuming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parse_* coerces and validates, so a malformed payload fails at the boundary.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6060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subscriber.py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...generated.trade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3454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is_trade_executed, parse_trade_executed)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edumatcher.models.message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decode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0944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596896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 = subscriber.recv_multipart()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8434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topic, _payload = decode(frames)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7180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is_trade_executed(topic):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5925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trade = parse_trade_executed(frames)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34670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print(f"{trade.symbol} {trade.quantity}"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" y="3534156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 @ {trade.price}")</a:t>
            </a:r>
            <a:endParaRPr lang="en-US" sz="100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12344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83387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at the boundary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33872" y="1883664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malformed message raises here rather than producing a plausible-looking object that fails somewhere much deeper.</a:t>
            </a:r>
            <a:endParaRPr lang="en-US" sz="11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834640"/>
            <a:ext cx="3063240" cy="12344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834640"/>
            <a:ext cx="50292" cy="12344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833872" y="29626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Sequence-safe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33872" y="3255264"/>
            <a:ext cx="2606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parse_* reads only the first two frames, so a sequence-stamped message parses unchanged.</a:t>
            </a:r>
            <a:endParaRPr lang="en-US" sz="11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8138160" cy="804672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804672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758952" y="42428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recorder is the exception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58952" y="45354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pm-stats adopted the topic constant but not the parser: a recorder records what it received. Refusing to store a message because it fails the current spec destroys the evidence you need to find out why it was malformed.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subscribing without a topic literal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parameterised topic the generator emits three helpers.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19456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...generated.orders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3454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PREFIX_ORDER_ACK, match_order_ack,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topic_order_ack)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0944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596896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sock.setsockopt_string(zmq.SUBSCRIBE,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8434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PREFIX_ORDER_ACK)</a:t>
            </a: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"order.ack."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7180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gateway_id = match_order_ack(topic)</a:t>
            </a: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"GW1" or None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5925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sock.send_multipart(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334670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encode(topic_order_ack("GW1"), payload))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21945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219456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5833872" y="159105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[^.]+ and not .+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33872" y="1883664"/>
            <a:ext cx="26060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match_* matches a single dot-delimited segment. A greedy .+ would make order.ack.GW1.extra match and return a subtly wrong gateway id instead of a clean None.</a:t>
            </a:r>
            <a:endParaRPr lang="en-US" sz="11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8138160" cy="9601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50292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31520" y="3950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is mechanical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"trade.executed"   →   TOPIC_TRADE_EXECUTED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98678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family is migrated when its literal count reaches zero — and a test keeps it there. trade and order are at zero today.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the hot path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validates on every call. The engine publishes per match, so there is a twin.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19202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engine/main.py::_publish_trade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...generated.trade </a:t>
            </a: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3454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make_trade_executed_unchecked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09444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self.pub_sock.send_multipart(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" y="2596896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make_trade_executed_unchecked(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" y="2784348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id=trade.id, symbol=trade.symbol,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4088" y="2971800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price=from_ticks(trade.price, ...),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" y="3159252"/>
            <a:ext cx="452628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quantity=trade.quantity, ...))</a:t>
            </a:r>
            <a:endParaRPr lang="en-US" sz="10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1920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192024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833872" y="159105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on a measured path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833872" y="2130552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exists for the engine's trade publication loop, not for convenience. Everywhere else the validation is the point — never reach for it to silence a real finding.</a:t>
            </a:r>
            <a:endParaRPr lang="en-US" sz="1100" dirty="0"/>
          </a:p>
        </p:txBody>
      </p:sp>
      <p:sp>
        <p:nvSpPr>
          <p:cNvPr id="26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0440"/>
            <a:ext cx="8138160" cy="301752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30936" y="35204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08576" y="35204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µs/CALL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97296" y="3520440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HAND-WRITTEN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260336" y="3520440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IDENTICAL FRAMES?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0936" y="38221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hand-written dict literal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08576" y="382219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97296" y="382219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60336" y="382219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950" dirty="0"/>
          </a:p>
        </p:txBody>
      </p:sp>
      <p:sp>
        <p:nvSpPr>
          <p:cNvPr id="3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23944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30936" y="412394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literal, no coercion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08576" y="412394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97296" y="41239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0336" y="412394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" y="44256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literal, inline coercion — ships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608576" y="442569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1.47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797296" y="442569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60336" y="4425696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44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27448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630936" y="47274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from_dict → dataclass → to_dict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08576" y="472744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797296" y="472744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+3.08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260336" y="472744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50" dirty="0"/>
          </a:p>
        </p:txBody>
      </p:sp>
      <p:sp>
        <p:nvSpPr>
          <p:cNvPr id="49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20440"/>
            <a:ext cx="8138160" cy="150876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Text 48"/>
          <p:cNvSpPr/>
          <p:nvPr/>
        </p:nvSpPr>
        <p:spPr>
          <a:xfrm>
            <a:off x="502920" y="480060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200 000 iterations, orjson. Dropping coercion saves 0.34 µs and would silently diverge from make_* — so it is paid.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the generated C struct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 struct mirrors what its transport carries, not the internal bus payload.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8892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9204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edumatcher_trade.h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enum {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EDU_TRADE_EXECUTED_AGGRESSOR_SIDE_BUY = 1,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EDU_..._SELL = 2, EDU_..._AUCTION =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edu_trade_executed_aggressor_side_t;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double  price;     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PX,  display_price */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" y="31272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int64_t quantity;  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QTY, shares */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" y="331012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edu_..._side_t aggressor_side;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SIDE */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4088" y="349300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edu_trade_executed_calf_t;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" y="36758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38587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edu_trade_executed_calf_parse(...);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" y="404164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edu_trade_executed_calf_validate(...);</a:t>
            </a:r>
            <a:endParaRPr lang="en-US" sz="95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3063240" cy="13258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463040"/>
            <a:ext cx="50292" cy="1325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5833872" y="159105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fields, not eleven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833872" y="21305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clients speak CALF and never see the bus. The struct is the projection.</a:t>
            </a:r>
            <a:endParaRPr lang="en-US" sz="11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926080"/>
            <a:ext cx="3063240" cy="13258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2926080"/>
            <a:ext cx="50292" cy="132588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5833872" y="305409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allocation, ever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833872" y="3346704"/>
            <a:ext cx="2606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buffers and int returns, matching the hand-written examples. A string becomes char name[max_len + 1] — which is why max_len is mandatory.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3891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types say what the values are, not what carries them: a scaled i64 price becomes a double; an enum byte becomes a real enum.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reading a trade in C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steps, mirroring from_dict and validate() in Python.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394960" cy="30632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39496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your_client.c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"edumatcher_trade.h"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calf_message_t msg;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(calf_parse_line(line, &amp;msg) != 0) return;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edu_trade_executed_calf_t trade;  char err[128];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rc = edu_trade_executed_calf_parse(&amp;msg, &amp;trade);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" y="31272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(rc != EDU_MSG_OK)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" y="33101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fprintf(stderr, "TRADE: %s\n",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4088" y="34930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edu_msg_strerror(rc)); return; 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" y="36758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" y="385876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(edu_trade_executed_calf_validate(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4088" y="40416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&amp;trade, err, sizeof(err)) != EDU_MSG_OK) {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" y="4224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fprintf(stderr, "rejected: %s\n", err); return; }</a:t>
            </a:r>
            <a:endParaRPr lang="en-US" sz="9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63040"/>
            <a:ext cx="2560320" cy="14630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1463040"/>
            <a:ext cx="50292" cy="14630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336792" y="15910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parse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36792" y="1883664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Coerces, and reports a missing or unparseable field.</a:t>
            </a:r>
            <a:endParaRPr lang="en-US" sz="110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3063240"/>
            <a:ext cx="2560320" cy="14630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0760" y="3063240"/>
            <a:ext cx="50292" cy="14630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336792" y="31912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validate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336792" y="3483864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the declared rules. A client that prefers to show a questionable print simply skips this call.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CFLAGS := -std=c11 -Wall -Wextra -I. -I$(GEN_DIR)      # -I. is needed too: the generated header includes "calf_parser.h"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it — the binary path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BALF frames are fixed-size, and length is checked before anything else.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00" cy="20116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= serialise_execution_report_balf(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payload, seq_no=session.next_seq())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sock.sendall(frame)  </a:t>
            </a: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exactly 64 bytes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= parse_execution_report_balf(frame)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report.fill_price  </a:t>
            </a: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150.0, scaling undone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report.side        </a:t>
            </a:r>
            <a:r>
              <a:rPr lang="en-US" sz="9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"BUY"</a:t>
            </a:r>
            <a:endParaRPr lang="en-US" sz="950" dirty="0"/>
          </a:p>
        </p:txBody>
      </p:sp>
      <p:sp>
        <p:nvSpPr>
          <p:cNvPr id="21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63040"/>
            <a:ext cx="3822192" cy="201168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63040"/>
            <a:ext cx="3822192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3208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9512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440680" y="151790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0056" y="18470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edu_execution_report_balf_t er;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0056" y="202996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rc = edu_execution_report_balf_parse(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0056" y="221284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frame, len, &amp;er);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0056" y="23957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er.fill_price; 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double, ÷1e8 done */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0056" y="257860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er.order_id;   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uint64_t */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0056" y="276148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edu_..._side_to_str(er.side); </a:t>
            </a: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"BUY" */</a:t>
            </a:r>
            <a:endParaRPr lang="en-US" sz="950" dirty="0"/>
          </a:p>
        </p:txBody>
      </p:sp>
      <p:sp>
        <p:nvSpPr>
          <p:cNvPr id="3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4114800" cy="11887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50292" cy="11887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758952" y="3739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length comes first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58952" y="40325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frame of the wrong length is not this message. Unpacking it anyway would read neighbouring bytes as field values and hand back a plausible result — so both bindings refuse rather than guess.</a:t>
            </a:r>
            <a:endParaRPr lang="en-US" sz="1100" dirty="0"/>
          </a:p>
        </p:txBody>
      </p:sp>
      <p:sp>
        <p:nvSpPr>
          <p:cNvPr id="3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611880"/>
            <a:ext cx="3822192" cy="11887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3611880"/>
            <a:ext cx="50292" cy="11887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5074920" y="3739896"/>
            <a:ext cx="3364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8-byte header is the generator's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074920" y="4279392"/>
            <a:ext cx="3364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Magic 0xBA, version, msg_type, flags and a u32 sequence number. It must not appear in layout, and parse_* checks all of it first.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two bindings are kept honest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test compiles the committed C and feeds it lines built by the committed Python.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12648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a CALF line</a:t>
            </a:r>
            <a:endParaRPr lang="en-US" sz="9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724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0612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720340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wire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0340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key-value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28032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.c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compiled -Werror</a:t>
            </a:r>
            <a:endParaRPr lang="en-US" sz="95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9108" y="2011680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996" y="1554480"/>
            <a:ext cx="1815084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35724" y="170078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5724" y="1993392"/>
            <a:ext cx="15956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by field</a:t>
            </a:r>
            <a:endParaRPr lang="en-US" sz="9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3968496" cy="10972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50292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58952" y="291693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property nothing could state before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" y="3456432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"the generator works", but "a C client and a Python publisher read the same bytes the same way" — and reject the same values.</a:t>
            </a:r>
            <a:endParaRPr lang="en-US" sz="11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3968496" cy="10972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788920"/>
            <a:ext cx="50292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928616" y="2916936"/>
            <a:ext cx="3511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new dependencies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28616" y="3209544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shutil.which("cc") plus pytest.skip — no cffi, no marker, no CI install step. The proposed harness turned out to be unnecessary.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1148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binding that only round-trips against itself proves nothing. That lesson is section 7.</a:t>
            </a:r>
            <a:endParaRPr lang="en-US" sz="11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Generating the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documentation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spec that produces the bindings produces the reference chapter — so the docs stop being a separate thing someone has to remember.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generated appendix contains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message, in the existing chapter's table style.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1883664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22376" y="1645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2376" y="1865376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" y="2157984"/>
            <a:ext cx="1472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doc.motivation prose from the spec — why this message exists at all.</a:t>
            </a:r>
            <a:endParaRPr lang="en-US" sz="100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81328"/>
            <a:ext cx="1883664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7752" y="1481328"/>
            <a:ext cx="50292" cy="1691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2807208" y="1645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07208" y="1865376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07208" y="2157984"/>
            <a:ext cx="1472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transport's pattern and config key, taken from the registry. Nothing restated per message.</a:t>
            </a:r>
            <a:endParaRPr lang="en-US" sz="10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81328"/>
            <a:ext cx="1883664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81328"/>
            <a:ext cx="50292" cy="1691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892040" y="1645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865376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table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2157984"/>
            <a:ext cx="1472184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Type, unit, required, constraints and description — the part that currently rots.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81328"/>
            <a:ext cx="1883664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57416" y="1481328"/>
            <a:ext cx="50292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976872" y="1645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76872" y="1865376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examples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76872" y="2395728"/>
            <a:ext cx="14721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 declared transport: bus JSON, a CALF or RALF line, or a BALF hexdump.</a:t>
            </a:r>
            <a:endParaRPr lang="en-US" sz="100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50292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58952" y="35570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transports the message actually appears 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8952" y="3849624"/>
            <a:ext cx="7680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public-feed message shows no BALF example, and an order-entry message shows no bus example. Because the docs are generated from the same projection model as the code, they cannot describe a shape the code does not emit.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stays hand-written, and why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generator takes the mechanical half and leaves the narrative alone.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194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219456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3968496" cy="2194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50292" cy="2194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007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270-MESSAGE-REFERENCE.MD — KEPT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narrative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40864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diagrams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tables and walkthroughs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explanations and rationale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 generator should not attempt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007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271-MESSAGE-APPENDIX.MD — GENERATED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3852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mechanical detail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40864"/>
            <a:ext cx="3511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Field-by-field tables with units and constraints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Per-transport worked examples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Regenerated on every spec change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Diffed by CI against the spec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8138160" cy="86868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50292" cy="86868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58952" y="407822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nav entry is part of the artefact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" y="4370832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mkdocs' navigation is a hand-maintained list, not auto-discovered. A generated page that isn't in the nav builds silently and is unreachable — so generate also inserts the nav line idempotently, and check fails if the page exists without it.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metadata: docs for tools, not just readers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describe_*() hands a program the same field table the docs are built from.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297680" cy="23774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29768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spy_tool.py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...generated.trade </a:t>
            </a: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0299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describe_trade_executed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4088" y="22128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" y="2395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field in describe_trade_executed():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4088" y="25786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 = f" [{field['unit']}]" if ... else ""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4088" y="27614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print(f"{field['name']:&lt;16}"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" y="29443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f"{field['type']:&lt;8}{unit}")</a:t>
            </a:r>
            <a:endParaRPr lang="en-US" sz="950" dirty="0"/>
          </a:p>
        </p:txBody>
      </p:sp>
      <p:sp>
        <p:nvSpPr>
          <p:cNvPr id="21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01768" y="1463040"/>
            <a:ext cx="3639312" cy="23774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01768" y="1463040"/>
            <a:ext cx="3639312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9784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6088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22392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623560" y="151790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02936" y="18470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          string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02936" y="20299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          string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02936" y="22128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          float   [display_price]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02936" y="239572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       int     [shares]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02936" y="257860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aggressor_side  enum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02936" y="27614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      float   [epoch_seconds]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02936" y="294436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tick_decimals   int     [dimensionless]</a:t>
            </a:r>
            <a:endParaRPr lang="en-US" sz="950" dirty="0"/>
          </a:p>
        </p:txBody>
      </p:sp>
      <p:sp>
        <p:nvSpPr>
          <p:cNvPr id="3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8138160" cy="8229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50292" cy="8229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758952" y="410565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description, three audiences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58952" y="43982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human reads the appendix, a program reads describe_*(), and a compiler reads the generated struct. All three come from the same YAML lines, so none of them can be out of date on its own.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 of bugs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prevents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"fewer bugs" in general. One specific, mechanical failure class — and the reason a careful reviewer does not reliably catch it.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failure class, named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 error, just wrong" — the recurring theme across this system's reviews.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9144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9144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481328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mechanical inconsistency between two surfaces that describe the same thing</a:t>
            </a:r>
            <a:endParaRPr lang="en-US" sz="170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4203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42032"/>
            <a:ext cx="50292" cy="16459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22376" y="270662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HIDES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" y="292608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fails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" y="3218688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sides compile, both run, both pass their own tests. Each side is internally consistent.</a:t>
            </a:r>
            <a:endParaRPr lang="en-US" sz="10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54203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542032"/>
            <a:ext cx="50292" cy="16459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3502152" y="270662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HIDES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292608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signal is data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02152" y="3456432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symptom is a missing value or a wrong number, seen far downstream and far later.</a:t>
            </a:r>
            <a:endParaRPr lang="en-US" sz="1000" dirty="0"/>
          </a:p>
        </p:txBody>
      </p:sp>
      <p:sp>
        <p:nvSpPr>
          <p:cNvPr id="2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54203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542032"/>
            <a:ext cx="50292" cy="164592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81928" y="270662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HIDES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1928" y="292608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cannot scale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81928" y="3456432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Catching it means holding three files in your head at once, every time anyone edits one of them.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2793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generator removes the class by construction: there is only one description, so there is nothing for a second one to disagree with.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defects this repository actually produced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real history, not hypotheticals.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6583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13232" y="148132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5910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book.{SYMBOL} gained tick_decimals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97280" y="1847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surfaces needed the edit. The C clients were never going to get it.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8138160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50292" cy="6583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13232" y="22585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3682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trades CLI example lost a column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2624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aggressor_side was added; the example output silently went stale. Caught by a later manual audit.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8138160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13232" y="303580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1455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topics exist only in code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" y="34015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Constructed by producers, absent from the hand-written reference entirely.</a:t>
            </a:r>
            <a:endParaRPr lang="en-US" sz="10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13048"/>
            <a:ext cx="8138160" cy="658368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13048"/>
            <a:ext cx="50292" cy="65836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13232" y="381304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922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EodBookPayload.from_dict dropped tick_decimals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" y="41788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typed payload was not updated alongside the producer. Found only by tracing the field by hand.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62686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is a mechanical inconsistency between surfaces — exactly the class a generator removes and a reviewer does not reliably catch.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case study: a reference implementation that lied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 the BALF spec meant finding an authoritative layout. Four sources disagreed.</a:t>
            </a:r>
            <a:endParaRPr lang="en-US" sz="1300" dirty="0"/>
          </a:p>
        </p:txBody>
      </p:sp>
      <p:sp>
        <p:nvSpPr>
          <p:cNvPr id="8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384048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49224" y="15179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66944" y="15179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EXECUTION_REPORT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95744" y="151790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" y="19019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910-app-balf-protocol.md — "normative"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66944" y="1901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bytes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95744" y="190195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u64</a:t>
            </a:r>
            <a:endParaRPr lang="en-US" sz="1000" dirty="0"/>
          </a:p>
        </p:txBody>
      </p:sp>
      <p:sp>
        <p:nvSpPr>
          <p:cNvPr id="1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86000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49224" y="2286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balf_gwy/codec.py — emits the frames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66944" y="22860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bytes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95744" y="2286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u64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" y="26700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test_balf_gwy_unit.py — asserts offset 48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66944" y="26700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bytes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95744" y="26700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u64</a:t>
            </a:r>
            <a:endParaRPr lang="en-US" sz="1000" dirty="0"/>
          </a:p>
        </p:txBody>
      </p:sp>
      <p:sp>
        <p:nvSpPr>
          <p:cNvPr id="22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8138160" cy="384048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49224" y="305409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docs/examples/balf/balf_parser.{py,c}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66944" y="30540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 bytes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95744" y="30540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char[16]</a:t>
            </a:r>
            <a:endParaRPr lang="en-US" sz="1000" dirty="0"/>
          </a:p>
        </p:txBody>
      </p:sp>
      <p:sp>
        <p:nvSpPr>
          <p:cNvPr id="26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192024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138160" cy="84124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50292" cy="841248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341985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customer reference implementation was the wrong one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37124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Modelling order_id as a 16-byte string where the protocol defines a u64 made it exactly eight bytes too large on all six messages that carry one. A customer writing a client from it would mis-parse every single one.</a:t>
            </a:r>
            <a:endParaRPr lang="en-US" sz="11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8138160" cy="65836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758952" y="435254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it propagated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" y="464515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design document used that layout as its worked example, and even listed it under "claims that checked out" — the verification was real; the source was wrong.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nothing caught it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example had a self-test. The self-test passed.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68496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169164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682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against yourself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9933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example parser checked itself against frames the same file built. It agreed with itself perfectly — while disagreeing with the gateway that actually emits the bytes.</a:t>
            </a:r>
            <a:endParaRPr lang="en-US" sz="11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17904"/>
            <a:ext cx="3968496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17904"/>
            <a:ext cx="50292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4901184" y="1682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across a boundary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1184" y="19933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generator's tests compare against codec.py and against a different language — never against themselves. Two independent implementations must agree on the same bytes.</a:t>
            </a:r>
            <a:endParaRPr lang="en-US" sz="110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64992"/>
            <a:ext cx="8138160" cy="8229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64992"/>
            <a:ext cx="5029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758952" y="3493008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 to take away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" y="37856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binding that only round-trips against itself proves nothing. Correctness claims must cross a boundary — another implementation, another language, or the real producer.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1596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episode is kept in the design document rather than tidied away: it is the clearest evidence that the problem is not hypothetical.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generator can and cannot promise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Being precise about this is what keeps the tool trustworthy.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3968496" cy="246888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50292" cy="246888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3968496" cy="246888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554480"/>
            <a:ext cx="50292" cy="24688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7007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CANNOT PREVENT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93852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 of meaning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340864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wrong price computed by the engine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rule that is expressed correctly but is the wrong rule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that should never have been sent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unspecified — four of roughly fifteen families have a spec today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7007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DOES PREVENT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93852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 of disagreement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340864"/>
            <a:ext cx="35112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field renamed on one side only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type or unit that differs between languages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describing a shape the code no longer emits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binary layout that no longer matches the frame it declares</a:t>
            </a:r>
            <a:endParaRPr lang="en-US" sz="11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06240"/>
            <a:ext cx="50292" cy="65836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58952" y="433425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only covers what is specified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" y="4626864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log, index and risk have no spec yet, and everything unspecified still drifts exactly as it did before. The check cannot protect a message it has never been told about.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Validating every build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check, a generator is a scaffolder and the drift returns within a release. This is the part that makes the guarantee real.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pm-msgen check actually does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re-renders every artefact from the spec and diffs it against what is committed.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815084" cy="868680"/>
          </a:xfrm>
          <a:prstGeom prst="rect">
            <a:avLst/>
          </a:prstGeom>
          <a:solidFill>
            <a:srgbClr val="161A21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12648" y="166420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spec/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" y="1956816"/>
            <a:ext cx="159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source of truth</a:t>
            </a:r>
            <a:endParaRPr lang="en-US" sz="950" dirty="0"/>
          </a:p>
        </p:txBody>
      </p:sp>
      <p:sp>
        <p:nvSpPr>
          <p:cNvPr id="1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3724" y="1952244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0612" y="1517904"/>
            <a:ext cx="1815084" cy="868680"/>
          </a:xfrm>
          <a:prstGeom prst="rect">
            <a:avLst/>
          </a:prstGeom>
          <a:solidFill>
            <a:srgbClr val="161A21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2720340" y="166420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re-render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0340" y="1956816"/>
            <a:ext cx="159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c, docs</a:t>
            </a:r>
            <a:endParaRPr lang="en-US" sz="95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71416" y="1952244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8304" y="1517904"/>
            <a:ext cx="1815084" cy="868680"/>
          </a:xfrm>
          <a:prstGeom prst="rect">
            <a:avLst/>
          </a:prstGeom>
          <a:solidFill>
            <a:srgbClr val="161A21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828032" y="166420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956816"/>
            <a:ext cx="159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against committed files</a:t>
            </a:r>
            <a:endParaRPr lang="en-US" sz="950" dirty="0"/>
          </a:p>
        </p:txBody>
      </p:sp>
      <p:sp>
        <p:nvSpPr>
          <p:cNvPr id="1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9108" y="1952244"/>
            <a:ext cx="201168" cy="0"/>
          </a:xfrm>
          <a:prstGeom prst="line">
            <a:avLst/>
          </a:prstGeom>
          <a:noFill/>
          <a:ln w="19050">
            <a:solidFill>
              <a:srgbClr val="5C6577"/>
            </a:solidFill>
            <a:prstDash val="solid"/>
            <a:tailEnd type="triangle"/>
          </a:ln>
        </p:spPr>
        <p:txBody>
          <a:bodyPr/>
          <a:lstStyle/>
          <a:p>
            <a:endParaRPr lang="en-SE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25996" y="1517904"/>
            <a:ext cx="1815084" cy="868680"/>
          </a:xfrm>
          <a:prstGeom prst="rect">
            <a:avLst/>
          </a:prstGeom>
          <a:solidFill>
            <a:srgbClr val="161A21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35724" y="166420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5724" y="1956816"/>
            <a:ext cx="15956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 1 or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of these fails the build</a:t>
            </a:r>
            <a:endParaRPr lang="en-US" sz="1250" dirty="0"/>
          </a:p>
        </p:txBody>
      </p:sp>
      <p:sp>
        <p:nvSpPr>
          <p:cNvPr id="2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3968496" cy="51206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44368"/>
            <a:ext cx="50292" cy="512064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22376" y="294436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6424" y="29443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 change without regenerating</a:t>
            </a:r>
            <a:endParaRPr lang="en-US" sz="1150" dirty="0"/>
          </a:p>
        </p:txBody>
      </p:sp>
      <p:sp>
        <p:nvSpPr>
          <p:cNvPr id="2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944368"/>
            <a:ext cx="3968496" cy="51206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944368"/>
            <a:ext cx="50292" cy="512064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892040" y="294436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76088" y="294436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hand-edit to a generated file</a:t>
            </a:r>
            <a:endParaRPr lang="en-US" sz="1150" dirty="0"/>
          </a:p>
        </p:txBody>
      </p:sp>
      <p:sp>
        <p:nvSpPr>
          <p:cNvPr id="3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3968496" cy="51206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50292" cy="512064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722376" y="356616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06424" y="35661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missing generated file</a:t>
            </a:r>
            <a:endParaRPr lang="en-US" sz="1150" dirty="0"/>
          </a:p>
        </p:txBody>
      </p:sp>
      <p:sp>
        <p:nvSpPr>
          <p:cNvPr id="3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566160"/>
            <a:ext cx="3968496" cy="512064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566160"/>
            <a:ext cx="50292" cy="512064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4892040" y="356616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76088" y="356616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generated doc page with no nav entry</a:t>
            </a:r>
            <a:endParaRPr lang="en-US" sz="1150" dirty="0"/>
          </a:p>
        </p:txBody>
      </p:sp>
      <p:sp>
        <p:nvSpPr>
          <p:cNvPr id="4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8138160" cy="8229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24528"/>
            <a:ext cx="50292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Text 40"/>
          <p:cNvSpPr/>
          <p:nvPr/>
        </p:nvSpPr>
        <p:spPr>
          <a:xfrm>
            <a:off x="758952" y="435254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exit codes are the message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58952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means "you forgot to regenerate". 2 means "your spec is wrong". A build gate needs to tell those apart — they need different fixes.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gate runs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local build and in CI, deliberately invoked in two different ways.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9144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check / make pre-commit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msgen-check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51790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stamp-cached on spec/*.yaml and src/**/*.py — free when nothing changed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9464"/>
            <a:ext cx="8138160" cy="9144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69464"/>
            <a:ext cx="50292" cy="91440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77240" y="2697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CI, code-check job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00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edumatcher.msgen.cli check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56946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alongside black, flake8 and mypy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8138160" cy="777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57600"/>
            <a:ext cx="50292" cy="7772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58952" y="37856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CI invokes the module, not the script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" y="407822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code-check job installs without the project root, so console scripts are not on PATH — only dependencies are. "Simplifying" that step would fail with command not found instead of a drift report.</a:t>
            </a:r>
            <a:endParaRPr lang="en-US" sz="11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8138160" cy="4572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50292" cy="45720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758952" y="4590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guarantee that an unrelated refactor can delete without anyone noticing is not a guarantee.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wiring itself is tested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test parses the Makefile and the CI config and fails if the gate disappears.</a:t>
            </a:r>
            <a:endParaRPr lang="en-US" sz="1300" dirty="0"/>
          </a:p>
        </p:txBody>
      </p:sp>
      <p:sp>
        <p:nvSpPr>
          <p:cNvPr id="8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00" cy="160020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" y="155905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55905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544" y="155905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124712" y="15179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tests/test_msgen_ci_wiring.py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1847088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fails if msgen-check drops out of _check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2034540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"msgen-check" in makefile_check_deps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2221992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fails if the CI step disappears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2409444"/>
            <a:ext cx="374904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</a:t>
            </a: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msgen_step in ci_yaml_steps</a:t>
            </a:r>
            <a:endParaRPr lang="en-US" sz="100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63040"/>
            <a:ext cx="3822192" cy="16002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8888" y="1463040"/>
            <a:ext cx="50292" cy="1600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74920" y="1591056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Guarding the guard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74920" y="1883664"/>
            <a:ext cx="33649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check is only useful while it runs. Asserting on the build files themselves is what keeps a well-meaning refactor from quietly removing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test suite behind the generator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" y="35661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test_msgen_spec.py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11880" y="35661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loader and its strictness — every rejection is a test</a:t>
            </a:r>
            <a:endParaRPr lang="en-US" sz="1000" dirty="0"/>
          </a:p>
        </p:txBody>
      </p:sp>
      <p:sp>
        <p:nvSpPr>
          <p:cNvPr id="2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77056"/>
            <a:ext cx="8138160" cy="31089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30936" y="38770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test_msgen_python.py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38770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determinism, drift detection, parameterised topics, every rule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" y="41879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test_msgen_calf_roundtrip.py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418795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compiled C vs Python over the CALF wire</a:t>
            </a:r>
            <a:endParaRPr lang="en-US" sz="1000" dirty="0"/>
          </a:p>
        </p:txBody>
      </p:sp>
      <p:sp>
        <p:nvSpPr>
          <p:cNvPr id="3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98848"/>
            <a:ext cx="8138160" cy="31089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0936" y="4498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test_msgen_balf_roundtrip.py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11880" y="449884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frames: byte-identity with codec.py, plus a C round-trip</a:t>
            </a:r>
            <a:endParaRPr lang="en-US" sz="1000" dirty="0"/>
          </a:p>
        </p:txBody>
      </p:sp>
      <p:sp>
        <p:nvSpPr>
          <p:cNvPr id="33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66160"/>
            <a:ext cx="8138160" cy="1243584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Adopting a new family safely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steps, and the third is non-negotiable.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8138160" cy="676656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0292" cy="67665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49808" y="14173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1527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spec/messages/&lt;family&gt;.yaml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pm-msgen lint until it passes.</a:t>
            </a:r>
            <a:endParaRPr lang="en-US" sz="10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94560"/>
            <a:ext cx="8138160" cy="676656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94560"/>
            <a:ext cx="50292" cy="676656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749808" y="219456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pm-msgen generate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21945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the generated file as you would any other code.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8138160" cy="676656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71800"/>
            <a:ext cx="50292" cy="676656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749808" y="29718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25880" y="3081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 wire-compatibility test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29718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generated output against the existing hand-written producer. No family is adopted without one.</a:t>
            </a:r>
            <a:endParaRPr lang="en-US" sz="105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8138160" cy="676656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49040"/>
            <a:ext cx="50292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49808" y="37490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32588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then change call sites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37490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Adoption is incremental and reversible. There is no big-bang migration.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comparisons, not one — see the appendix for why byte-identity is right in one direction and wrong in the other.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guarantee stands today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families of roughly fifteen are specified — and provably in sync.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" y="21396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families specified: trade, order, session, book</a:t>
            </a:r>
            <a:endParaRPr lang="en-US" sz="105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517904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24328" y="1517904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2852928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852928" y="21396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 under the guarantee</a:t>
            </a:r>
            <a:endParaRPr lang="en-US" sz="1050" dirty="0"/>
          </a:p>
        </p:txBody>
      </p:sp>
      <p:sp>
        <p:nvSpPr>
          <p:cNvPr id="1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517904"/>
            <a:ext cx="1965960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517904"/>
            <a:ext cx="50292" cy="105156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974336" y="1645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74336" y="21396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types declared and reused</a:t>
            </a:r>
            <a:endParaRPr lang="en-US" sz="105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517904"/>
            <a:ext cx="1773936" cy="105156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1517904"/>
            <a:ext cx="50292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095744" y="16459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095744" y="213969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literals left in trade and order</a:t>
            </a:r>
            <a:endParaRPr lang="en-US" sz="1050" dirty="0"/>
          </a:p>
        </p:txBody>
      </p:sp>
      <p:sp>
        <p:nvSpPr>
          <p:cNvPr id="24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8138160" cy="36576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85800" y="2788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1–3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0312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Generator, trade family, CI check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2788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4a–4b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0312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CALF text and BALF binary projections, Python and 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000" dirty="0"/>
          </a:p>
        </p:txBody>
      </p:sp>
      <p:sp>
        <p:nvSpPr>
          <p:cNvPr id="31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11880"/>
            <a:ext cx="8138160" cy="36576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68580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5.0–5.2b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0312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Literal migration; order, session and book families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5.2c+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10312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log, index and risk families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408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8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685800" y="4434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6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103120" y="4434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message appendix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040880" y="4434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864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every specified family, the committed bindings provably match the spec on main.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BUILD GATE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idea, on one slide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8138160" cy="105156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0292" cy="10515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file describes a message. Everything else is generated, committed, and checked.</a:t>
            </a:r>
            <a:endParaRPr lang="en-US" sz="180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3347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33472"/>
            <a:ext cx="50292" cy="164592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22376" y="279806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2376" y="301752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descriptions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2376" y="3547872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authoritative, none checked. A rename is silent and shows up as wrong data, days later.</a:t>
            </a:r>
            <a:endParaRPr lang="en-US" sz="100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63347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633472"/>
            <a:ext cx="50292" cy="16459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502152" y="279806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02152" y="3017520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description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02152" y="3310128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C and the docs derive from it. Disagreement becomes impossible by construction.</a:t>
            </a:r>
            <a:endParaRPr lang="en-US" sz="1000" dirty="0"/>
          </a:p>
        </p:txBody>
      </p:sp>
      <p:sp>
        <p:nvSpPr>
          <p:cNvPr id="2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633472"/>
            <a:ext cx="2578608" cy="164592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2633472"/>
            <a:ext cx="50292" cy="16459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281928" y="279806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81928" y="3017520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gate that proves 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81928" y="3547872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re-renders and diffs. Forgetting to regenerate fails the build instead of merging quietly.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3159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msgen &amp;&amp; make check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6035040" y="12344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35040" y="14813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messages/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trade.yaml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9568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order.yaml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session.yaml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book.yaml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26700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transports.yaml</a:t>
            </a:r>
            <a:endParaRPr lang="en-US" sz="1100" dirty="0"/>
          </a:p>
        </p:txBody>
      </p:sp>
      <p:sp>
        <p:nvSpPr>
          <p:cNvPr id="10" name="edge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1005840" y="1316736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32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005840" y="106070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13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reference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Lookup material: field keys, validation rules, presence, binary layout, error codes and the helper surface.</a:t>
            </a:r>
            <a:endParaRPr lang="en-US" sz="1200" dirty="0"/>
          </a:p>
        </p:txBody>
      </p:sp>
      <p:sp>
        <p:nvSpPr>
          <p:cNvPr id="15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840" y="3273552"/>
            <a:ext cx="201168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8183880" y="3200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field keys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key allowed on a field entry.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37160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1371600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snake_case identifier, unique within the message</a:t>
            </a:r>
            <a:endParaRPr lang="en-US" sz="100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36776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163677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1636776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string, int, float, bool, enum, ticks, nested, 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190195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901952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for nested and list: a family-level entry under types:</a:t>
            </a:r>
            <a:endParaRPr lang="en-US" sz="100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67128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216712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2167128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true; required: false must state its presence regime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" y="243230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432304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producer gets when it omits the field; must be a legal value</a:t>
            </a:r>
            <a:endParaRPr lang="en-US" sz="1000" dirty="0"/>
          </a:p>
        </p:txBody>
      </p:sp>
      <p:sp>
        <p:nvSpPr>
          <p:cNvPr id="2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97480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30936" y="269748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2697480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value may be None; the key is still always emitted, as null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" y="296265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omit_when_none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2962656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implies nullable, and omits the key entirely when None</a:t>
            </a:r>
            <a:endParaRPr lang="en-US" sz="1000" dirty="0"/>
          </a:p>
        </p:txBody>
      </p:sp>
      <p:sp>
        <p:nvSpPr>
          <p:cNvPr id="2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27832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30936" y="322783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omit_when_empty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227832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strings only; omits the key when the value is ""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" y="3493008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parse_default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3493008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from_dict substitutes when the key is missing inbound; need not be legal</a:t>
            </a:r>
            <a:endParaRPr lang="en-US" sz="1000" dirty="0"/>
          </a:p>
        </p:txBody>
      </p:sp>
      <p:sp>
        <p:nvSpPr>
          <p:cNvPr id="3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58184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0936" y="3758184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3758184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on every numeric field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" y="4023360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4023360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for type: enum; declaration order is authoritative</a:t>
            </a:r>
            <a:endParaRPr lang="en-US" sz="1000" dirty="0"/>
          </a:p>
        </p:txBody>
      </p:sp>
      <p:sp>
        <p:nvSpPr>
          <p:cNvPr id="3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288536"/>
            <a:ext cx="8138160" cy="26517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30936" y="4288536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06040" y="4288536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constraint block — see the next slide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" y="4553712"/>
            <a:ext cx="19202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06040" y="4553712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prose for the generated documentation and describe_*()</a:t>
            </a:r>
            <a:endParaRPr lang="en-US" sz="1000" dirty="0"/>
          </a:p>
        </p:txBody>
      </p:sp>
      <p:sp>
        <p:nvSpPr>
          <p:cNvPr id="40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8138160" cy="3447288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validation rules and units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validate: keys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7007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 / 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57400" y="17007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than / greater or equal</a:t>
            </a:r>
            <a:endParaRPr lang="en-US" sz="95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57984"/>
            <a:ext cx="3968496" cy="45720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21579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 / 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57400" y="21579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than / less or equal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0936" y="26151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max_len / min_len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26151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length bounds; max_len is mandatory for any string reaching C</a:t>
            </a:r>
            <a:endParaRPr lang="en-US" sz="95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2384"/>
            <a:ext cx="3968496" cy="457200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30723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min_items / max_items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30723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length bounds, enforced in both bindings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0936" y="35295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57400" y="3529584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regex; emitted as a module constant, interpolated by object</a:t>
            </a:r>
            <a:endParaRPr lang="en-US" sz="950" dirty="0"/>
          </a:p>
        </p:txBody>
      </p:sp>
      <p:sp>
        <p:nvSpPr>
          <p:cNvPr id="20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00784"/>
            <a:ext cx="3968496" cy="228600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4672584" y="1371600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unit: values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700784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display_price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18504" y="1700784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as a client sees it</a:t>
            </a:r>
            <a:endParaRPr lang="en-US" sz="950" dirty="0"/>
          </a:p>
        </p:txBody>
      </p:sp>
      <p:sp>
        <p:nvSpPr>
          <p:cNvPr id="24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984248"/>
            <a:ext cx="3968496" cy="28346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4800600" y="198424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18504" y="1984248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engine's integer price unit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267712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18504" y="2267712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</a:t>
            </a:r>
            <a:endParaRPr lang="en-US" sz="950" dirty="0"/>
          </a:p>
        </p:txBody>
      </p:sp>
      <p:sp>
        <p:nvSpPr>
          <p:cNvPr id="29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2551176"/>
            <a:ext cx="3968496" cy="28346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800600" y="2551176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epoch_seconds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18504" y="2551176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 seconds since epoch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834640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epoch_nanos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18504" y="2834640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integer nanoseconds since epoch</a:t>
            </a:r>
            <a:endParaRPr lang="en-US" sz="950" dirty="0"/>
          </a:p>
        </p:txBody>
      </p:sp>
      <p:sp>
        <p:nvSpPr>
          <p:cNvPr id="34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118104"/>
            <a:ext cx="3968496" cy="28346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4800600" y="3118104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18504" y="3118104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percentage value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3401568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18504" y="3401568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monetary amount that is not a price</a:t>
            </a:r>
            <a:endParaRPr lang="en-US" sz="950" dirty="0"/>
          </a:p>
        </p:txBody>
      </p:sp>
      <p:sp>
        <p:nvSpPr>
          <p:cNvPr id="39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3685032"/>
            <a:ext cx="3968496" cy="28346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4800600" y="3685032"/>
            <a:ext cx="1463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dimensionless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18504" y="3685032"/>
            <a:ext cx="21854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count or scalar with no unit</a:t>
            </a:r>
            <a:endParaRPr lang="en-US" sz="950" dirty="0"/>
          </a:p>
        </p:txBody>
      </p:sp>
      <p:sp>
        <p:nvSpPr>
          <p:cNvPr id="42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700784"/>
            <a:ext cx="3968496" cy="2267712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3968496" cy="74980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749808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758952" y="4242816"/>
            <a:ext cx="35112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fire only on set values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" y="478231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means "not set", so a bound on an absent nullable field does not fire.</a:t>
            </a:r>
            <a:endParaRPr lang="en-US" sz="1100" dirty="0"/>
          </a:p>
        </p:txBody>
      </p:sp>
      <p:sp>
        <p:nvSpPr>
          <p:cNvPr id="4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4114800"/>
            <a:ext cx="3968496" cy="749808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4114800"/>
            <a:ext cx="50292" cy="749808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9" name="Text 47"/>
          <p:cNvSpPr/>
          <p:nvPr/>
        </p:nvSpPr>
        <p:spPr>
          <a:xfrm>
            <a:off x="4928616" y="4242816"/>
            <a:ext cx="3511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5B3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never converts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928616" y="453542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reviewable documentation the generator can print — not a transformation.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presence cheat sheet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the regime by what the consumer must see.</a:t>
            </a:r>
            <a:endParaRPr lang="en-US" sz="1300" dirty="0"/>
          </a:p>
        </p:txBody>
      </p:sp>
      <p:sp>
        <p:nvSpPr>
          <p:cNvPr id="8" name="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402336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49224" y="14630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60904" y="146304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07024" y="14630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WIRE WHEN UNSET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9224" y="186537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— default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60904" y="18653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default: ""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07024" y="186537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present, value ""</a:t>
            </a:r>
            <a:endParaRPr lang="en-US" sz="1000" dirty="0"/>
          </a:p>
        </p:txBody>
      </p:sp>
      <p:sp>
        <p:nvSpPr>
          <p:cNvPr id="1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67712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49224" y="226771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— nullable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60904" y="226771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nullable: true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07024" y="2267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present, value null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" y="26700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— omit on none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60904" y="26700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nullable: true, omit_when_none: true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07024" y="26700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absent entirely</a:t>
            </a:r>
            <a:endParaRPr lang="en-US" sz="1000" dirty="0"/>
          </a:p>
        </p:txBody>
      </p:sp>
      <p:sp>
        <p:nvSpPr>
          <p:cNvPr id="22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2384"/>
            <a:ext cx="8138160" cy="402336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49224" y="30723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— omit on empty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60904" y="30723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required: false, omit_when_empty: true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07024" y="30723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absent (strings only)</a:t>
            </a:r>
            <a:endParaRPr lang="en-US" sz="1000" dirty="0"/>
          </a:p>
        </p:txBody>
      </p:sp>
      <p:sp>
        <p:nvSpPr>
          <p:cNvPr id="26" name="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2011680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8138160" cy="77724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50292" cy="777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58952" y="343814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choose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" y="373075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 the consumer requires. Where producers still differ, reproduce the bytes of the dominant one — producer disagreement is a real fork only when it changes what some reader sees.</a:t>
            </a:r>
            <a:endParaRPr lang="en-US" sz="11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78808"/>
            <a:ext cx="8138160" cy="73152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78808"/>
            <a:ext cx="50292" cy="73152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758952" y="430682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56C7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Illegal combinations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" y="45994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omit_when_empty with omit_when_none, or with default, are loader errors: a field omits on one condition or the other, and the empty string is the absence here.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records and their limits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0292" cy="34747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3716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family-level record declarations, emitted before the messages that embed them</a:t>
            </a:r>
            <a:endParaRPr lang="en-US" sz="100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73936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73936"/>
            <a:ext cx="50292" cy="34747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31520" y="1773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7739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 one record; with nullable + omit_when_none it means both-or-neither</a:t>
            </a:r>
            <a:endParaRPr lang="en-US" sz="1000" dirty="0"/>
          </a:p>
        </p:txBody>
      </p:sp>
      <p:sp>
        <p:nvSpPr>
          <p:cNvPr id="1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76272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76272"/>
            <a:ext cx="50292" cy="347472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31520" y="2176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17627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holds many records; takes min_items and max_items</a:t>
            </a:r>
            <a:endParaRPr lang="en-US" sz="1000" dirty="0"/>
          </a:p>
        </p:txBody>
      </p:sp>
      <p:sp>
        <p:nvSpPr>
          <p:cNvPr id="1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78608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78608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731520" y="25786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record in a record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257860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both generators non-recursive</a:t>
            </a:r>
            <a:endParaRPr lang="en-US" sz="1000" dirty="0"/>
          </a:p>
        </p:txBody>
      </p:sp>
      <p:sp>
        <p:nvSpPr>
          <p:cNvPr id="2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80944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80944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31520" y="2980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record on calf / balf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298094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record inside a key-value line or fixed frame is an unsolved layout question</a:t>
            </a:r>
            <a:endParaRPr lang="en-US" sz="1000" dirty="0"/>
          </a:p>
        </p:txBody>
      </p:sp>
      <p:sp>
        <p:nvSpPr>
          <p:cNvPr id="2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731520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nullable list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38328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empty list already says "nothing"</a:t>
            </a:r>
            <a:endParaRPr lang="en-US" sz="1000" dirty="0"/>
          </a:p>
        </p:txBody>
      </p:sp>
      <p:sp>
        <p:nvSpPr>
          <p:cNvPr id="3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85616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85616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731520" y="3785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unreferenced type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378561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would generate a class nothing constructs</a:t>
            </a:r>
            <a:endParaRPr lang="en-US" sz="1000" dirty="0"/>
          </a:p>
        </p:txBody>
      </p:sp>
      <p:sp>
        <p:nvSpPr>
          <p:cNvPr id="3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87952"/>
            <a:ext cx="8138160" cy="347472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87952"/>
            <a:ext cx="50292" cy="347472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731520" y="4187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maps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0" y="418795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spec that seems to need one is describing a list of records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5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containing a record or a list gets no make_*_unchecked: that builder is a dict literal, and a record has no literal form.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C error codes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generated C functions return. Print them with edu_msg_strerror.</a:t>
            </a:r>
            <a:endParaRPr lang="en-US" sz="1300" dirty="0"/>
          </a:p>
        </p:txBody>
      </p:sp>
      <p:sp>
        <p:nvSpPr>
          <p:cNvPr id="8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13232" y="14630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EDU_MSG_OK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14630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18470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1847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EDU_MSG_ERR_SHORT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18470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or line too short</a:t>
            </a:r>
            <a:endParaRPr lang="en-US" sz="1050" dirty="0"/>
          </a:p>
        </p:txBody>
      </p:sp>
      <p:sp>
        <p:nvSpPr>
          <p:cNvPr id="15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713232" y="22311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22311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EDU_MSG_ERR_MAGIC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22311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magic byte (binary only)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261518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6151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EDU_MSG_ERR_VERSION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80560" y="26151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unsupported version (binary only)</a:t>
            </a:r>
            <a:endParaRPr lang="en-US" sz="1050" dirty="0"/>
          </a:p>
        </p:txBody>
      </p:sp>
      <p:sp>
        <p:nvSpPr>
          <p:cNvPr id="22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99232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13232" y="299923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29992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EDU_MSG_ERR_MSGTYPE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0" y="29992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or unexpected msg_type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" y="33832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EDU_MSG_ERR_LENGTH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80560" y="3383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 mismatch (binary only)</a:t>
            </a:r>
            <a:endParaRPr lang="en-US" sz="1050" dirty="0"/>
          </a:p>
        </p:txBody>
      </p:sp>
      <p:sp>
        <p:nvSpPr>
          <p:cNvPr id="29" name="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67328"/>
            <a:ext cx="8138160" cy="329184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13232" y="37673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7673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EDU_MSG_ERR_FIELD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0" y="37673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missing, unparseable, or a rule failed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" y="41513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4151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EDU_MSG_ERR_OVERFLOW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80560" y="41513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exceeds a fixed-size buffer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46268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70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return code is a per-function contract, not a global registry — calf_parse_line returns -1..-6 with entirely different meanings.</a:t>
            </a:r>
            <a:endParaRPr lang="en-US" sz="10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adoption comparisons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Byte-identity is the right assertion in one direction and the wrong one in the other.</a:t>
            </a:r>
            <a:endParaRPr lang="en-US" sz="130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3968496" cy="25146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0292" cy="2514600"/>
          </a:xfrm>
          <a:prstGeom prst="rect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63040"/>
            <a:ext cx="3968496" cy="251460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72584" y="1463040"/>
            <a:ext cx="50292" cy="25146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31520" y="160934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27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ASSERT: EQUAL KEYS AND VALUES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184708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producer dict vs generated payload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249424"/>
            <a:ext cx="35112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objects are unordered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consumer reads with .get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order is not part of the contract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Asserting byte-identity would be stronger than the system promises — and would block a legitimate change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160934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ASSERT: BYTE-IDENTICAL FRAMES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84708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Hand-written factory vs generated make_*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01184" y="2249424"/>
            <a:ext cx="35112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derive from to_dict() over the same fields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excuse for a difference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make_* and make_*_unchecked must also be byte-identical for any input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identity is the only thing that makes the unchecked variant safe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2062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trade family shows why: the producer emits tick_decimals in the middle, the typed payload emits it last. Both are correct, and nothing on the wire can tell.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— glossary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02920" y="10149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term used in this deck.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137160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1371600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Definition Language — a small language describing data crossing a boundary</a:t>
            </a:r>
            <a:endParaRPr lang="en-US" sz="1000" dirty="0"/>
          </a:p>
        </p:txBody>
      </p:sp>
      <p:sp>
        <p:nvSpPr>
          <p:cNvPr id="1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73352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30936" y="1673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1673352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YAML file of related messages, e.g. trade, order, session, book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" y="197510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1975104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frame — the string subscribers filter on</a:t>
            </a:r>
            <a:endParaRPr lang="en-US" sz="1000" dirty="0"/>
          </a:p>
        </p:txBody>
      </p:sp>
      <p:sp>
        <p:nvSpPr>
          <p:cNvPr id="1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76856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630936" y="22768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2276856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second frame — the JSON body of fields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" y="257860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2578608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subset of a message's fields, renamed, as one transport carries it</a:t>
            </a:r>
            <a:endParaRPr lang="en-US" sz="1000" dirty="0"/>
          </a:p>
        </p:txBody>
      </p:sp>
      <p:sp>
        <p:nvSpPr>
          <p:cNvPr id="2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30936" y="288036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2880360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key-value client feed protocol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" y="318211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40280" y="3182112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post-trade protocol</a:t>
            </a:r>
            <a:endParaRPr lang="en-US" sz="1000" dirty="0"/>
          </a:p>
        </p:txBody>
      </p:sp>
      <p:sp>
        <p:nvSpPr>
          <p:cNvPr id="25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83864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30936" y="348386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40280" y="3483864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Fixed-size binary frame protocol, 8-byte header plus body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" y="378561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coercion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0280" y="3785616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 value into its declared type, without judging it</a:t>
            </a:r>
            <a:endParaRPr lang="en-US" sz="1000" dirty="0"/>
          </a:p>
        </p:txBody>
      </p:sp>
      <p:sp>
        <p:nvSpPr>
          <p:cNvPr id="30" name="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87368"/>
            <a:ext cx="8138160" cy="301752"/>
          </a:xfrm>
          <a:prstGeom prst="rect">
            <a:avLst/>
          </a:prstGeom>
          <a:solidFill>
            <a:srgbClr val="13171E"/>
          </a:solidFill>
          <a:ln w="12700">
            <a:solidFill>
              <a:srgbClr val="13171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30936" y="408736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40280" y="4087368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Asserting a value satisfies the declared rules — the only strictness gate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" y="438912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4389120"/>
            <a:ext cx="6263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descriptions of one thing that no longer agree</a:t>
            </a:r>
            <a:endParaRPr lang="en-US" sz="1000" dirty="0"/>
          </a:p>
        </p:txBody>
      </p:sp>
      <p:sp>
        <p:nvSpPr>
          <p:cNvPr id="35" name="tabl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8138160" cy="3319272"/>
          </a:xfrm>
          <a:prstGeom prst="rect">
            <a:avLst/>
          </a:prstGeom>
          <a:solidFill>
            <a:srgbClr val="0E1116">
              <a:alpha val="0"/>
            </a:srgbClr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161A21"/>
          </a:solidFill>
          <a:ln w="12700">
            <a:solidFill>
              <a:srgbClr val="161A21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01168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502920" y="2194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183880" y="2194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</a:t>
            </a:r>
            <a:endParaRPr lang="en-US" sz="9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5720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go next</a:t>
            </a:r>
            <a:endParaRPr lang="en-US" sz="230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16916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722376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2376" y="186537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user guide page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" y="2395728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Generator (pm-msgen) — commands, spec authoring, and worked examples for every binding.</a:t>
            </a:r>
            <a:endParaRPr lang="en-US" sz="10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81328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81328"/>
            <a:ext cx="50292" cy="1691640"/>
          </a:xfrm>
          <a:prstGeom prst="rect">
            <a:avLst/>
          </a:prstGeom>
          <a:solidFill>
            <a:srgbClr val="56C7E8"/>
          </a:solidFill>
          <a:ln w="12700">
            <a:solidFill>
              <a:srgbClr val="56C7E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3502152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6C7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02152" y="1865376"/>
            <a:ext cx="2167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design document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02152" y="2395728"/>
            <a:ext cx="2167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EduMatcher-Message-Generator.md, including the normative IDL in Appendix B.</a:t>
            </a:r>
            <a:endParaRPr lang="en-US" sz="1000" dirty="0"/>
          </a:p>
        </p:txBody>
      </p:sp>
      <p:sp>
        <p:nvSpPr>
          <p:cNvPr id="1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481328"/>
            <a:ext cx="2578608" cy="1691640"/>
          </a:xfrm>
          <a:prstGeom prst="rect">
            <a:avLst/>
          </a:prstGeom>
          <a:solidFill>
            <a:srgbClr val="161A21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62472" y="1481328"/>
            <a:ext cx="50292" cy="1691640"/>
          </a:xfrm>
          <a:prstGeom prst="rect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281928" y="164592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F5B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81928" y="1865376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edit loop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81928" y="2157984"/>
            <a:ext cx="216712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field to spec/messages/trade.yaml, run make msgen, and read the diff it produces.</a:t>
            </a:r>
            <a:endParaRPr lang="en-US" sz="100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1143000"/>
          </a:xfrm>
          <a:prstGeom prst="rect">
            <a:avLst/>
          </a:prstGeom>
          <a:solidFill>
            <a:srgbClr val="1C2129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50292" cy="1143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758952" y="35570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habit to take away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8952" y="3849624"/>
            <a:ext cx="7680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you need to change a message, change the spec — never the generated file, and never only one of the places that mention it. Then run make msgen and commit both. The build will tell you if you forgot.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6"/>
          </a:solidFill>
          <a:ln w="12700">
            <a:solidFill>
              <a:srgbClr val="0E111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" name="bottom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97196"/>
            <a:ext cx="9144000" cy="14630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" name="termin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371600"/>
            <a:ext cx="3703320" cy="2377440"/>
          </a:xfrm>
          <a:prstGeom prst="rect">
            <a:avLst/>
          </a:prstGeom>
          <a:solidFill>
            <a:srgbClr val="0B0E13"/>
          </a:solidFill>
          <a:ln w="12700">
            <a:solidFill>
              <a:srgbClr val="2A313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" name="termina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371600"/>
            <a:ext cx="3703320" cy="274320"/>
          </a:xfrm>
          <a:prstGeom prst="rect">
            <a:avLst/>
          </a:prstGeom>
          <a:solidFill>
            <a:srgbClr val="1C2129"/>
          </a:solidFill>
          <a:ln w="12700">
            <a:solidFill>
              <a:srgbClr val="1C212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5776" y="1467612"/>
            <a:ext cx="82296" cy="82296"/>
          </a:xfrm>
          <a:prstGeom prst="ellipse">
            <a:avLst/>
          </a:prstGeom>
          <a:solidFill>
            <a:srgbClr val="F2706D"/>
          </a:solidFill>
          <a:ln w="12700">
            <a:solidFill>
              <a:srgbClr val="F270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0" y="1467612"/>
            <a:ext cx="82296" cy="82296"/>
          </a:xfrm>
          <a:prstGeom prst="ellipse">
            <a:avLst/>
          </a:prstGeom>
          <a:solidFill>
            <a:srgbClr val="F5B342"/>
          </a:solidFill>
          <a:ln w="12700">
            <a:solidFill>
              <a:srgbClr val="F5B342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58384" y="1467612"/>
            <a:ext cx="82296" cy="822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559552" y="14264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edumatcher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38928" y="175564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msgen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38928" y="196138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D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regenerated 4 families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38928" y="216712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check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38928" y="237286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spec lint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38928" y="257860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generated bindings match spec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38928" y="278434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c / python wire round-trip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38928" y="299008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no topic literals in adopted modules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38928" y="3195828"/>
            <a:ext cx="33375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50" dirty="0"/>
          </a:p>
        </p:txBody>
      </p:sp>
      <p:sp>
        <p:nvSpPr>
          <p:cNvPr id="19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05840" y="212140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E7EC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3100" dirty="0"/>
          </a:p>
        </p:txBody>
      </p:sp>
      <p:sp>
        <p:nvSpPr>
          <p:cNvPr id="20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761488"/>
            <a:ext cx="164592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40080" y="2962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D97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spec. Every binding. No drift.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spec/messages/  →  python · c · docs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10329</Words>
  <Application>Microsoft Macintosh PowerPoint</Application>
  <PresentationFormat>On-screen Show (16:9)</PresentationFormat>
  <Paragraphs>1534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Calibri</vt:lpstr>
      <vt:lpstr>Consolas</vt:lpstr>
      <vt:lpstr>Segoe UI</vt:lpstr>
      <vt:lpstr>Office Theme</vt:lpstr>
      <vt:lpstr>One spec. Every binding. No drift.</vt:lpstr>
      <vt:lpstr>How to read this deck</vt:lpstr>
      <vt:lpstr>What we will cover</vt:lpstr>
      <vt:lpstr>Why do you need a message generator?</vt:lpstr>
      <vt:lpstr>First, what is a message here?</vt:lpstr>
      <vt:lpstr>The same message, described three times</vt:lpstr>
      <vt:lpstr>A rename, in slow motion</vt:lpstr>
      <vt:lpstr>How big is the problem? It was counted.</vt:lpstr>
      <vt:lpstr>Documentation drifts in both directions</vt:lpstr>
      <vt:lpstr>And C clients had no message types at all</vt:lpstr>
      <vt:lpstr>The shape of the answer</vt:lpstr>
      <vt:lpstr>What is an IDL?</vt:lpstr>
      <vt:lpstr>An IDL, in one picture</vt:lpstr>
      <vt:lpstr>An analogy you already know</vt:lpstr>
      <vt:lpstr>What an IDL file actually contains</vt:lpstr>
      <vt:lpstr>Reading that file line by line</vt:lpstr>
      <vt:lpstr>What an IDL is deliberately not</vt:lpstr>
      <vt:lpstr>Why our own IDL, and not an existing one?</vt:lpstr>
      <vt:lpstr>The candidates, and why each was rejected</vt:lpstr>
      <vt:lpstr>The real differentiator: projections</vt:lpstr>
      <vt:lpstr>The same trade, three ways</vt:lpstr>
      <vt:lpstr>So: own it, but keep it small</vt:lpstr>
      <vt:lpstr>The core principles of our IDL</vt:lpstr>
      <vt:lpstr>The seven principles at a glance</vt:lpstr>
      <vt:lpstr>Principle 1 — one source of truth</vt:lpstr>
      <vt:lpstr>Principle 2 — the loader is strict on purpose</vt:lpstr>
      <vt:lpstr>Principle 3 — presence: four regimes, stated explicitly</vt:lpstr>
      <vt:lpstr>Why omission is modelled at all</vt:lpstr>
      <vt:lpstr>Principle 4 — every number declares its unit</vt:lpstr>
      <vt:lpstr>Principle 5 — coercion and validation are different jobs</vt:lpstr>
      <vt:lpstr>The worked case: aggressor_side</vt:lpstr>
      <vt:lpstr>Principle 6 — records: declare once, embed anywhere</vt:lpstr>
      <vt:lpstr>Principle 7 — determinism is not optional</vt:lpstr>
      <vt:lpstr>Topics, transports and the registry</vt:lpstr>
      <vt:lpstr>Binary messages: BALF declares a byte layout</vt:lpstr>
      <vt:lpstr>The rules the binary loader enforces</vt:lpstr>
      <vt:lpstr>Generating the code, and using it</vt:lpstr>
      <vt:lpstr>The four commands</vt:lpstr>
      <vt:lpstr>The normal edit loop</vt:lpstr>
      <vt:lpstr>What one family gives you in Python</vt:lpstr>
      <vt:lpstr>Using it — publishing</vt:lpstr>
      <vt:lpstr>Using it — consuming</vt:lpstr>
      <vt:lpstr>Using it — subscribing without a topic literal</vt:lpstr>
      <vt:lpstr>Using it — the hot path</vt:lpstr>
      <vt:lpstr>Using it — the generated C struct</vt:lpstr>
      <vt:lpstr>Using it — reading a trade in C</vt:lpstr>
      <vt:lpstr>Using it — the binary path</vt:lpstr>
      <vt:lpstr>How the two bindings are kept honest</vt:lpstr>
      <vt:lpstr>Generating the message documentation</vt:lpstr>
      <vt:lpstr>What the generated appendix contains</vt:lpstr>
      <vt:lpstr>What stays hand-written, and why</vt:lpstr>
      <vt:lpstr>Runtime metadata: docs for tools, not just readers</vt:lpstr>
      <vt:lpstr>The class of bugs this prevents</vt:lpstr>
      <vt:lpstr>The failure class, named</vt:lpstr>
      <vt:lpstr>Four defects this repository actually produced</vt:lpstr>
      <vt:lpstr>The case study: a reference implementation that lied</vt:lpstr>
      <vt:lpstr>Why nothing caught it</vt:lpstr>
      <vt:lpstr>What the generator can and cannot promise</vt:lpstr>
      <vt:lpstr>Validating every build</vt:lpstr>
      <vt:lpstr>What pm-msgen check actually does</vt:lpstr>
      <vt:lpstr>Where the gate runs</vt:lpstr>
      <vt:lpstr>The wiring itself is tested</vt:lpstr>
      <vt:lpstr>Adopting a new family safely</vt:lpstr>
      <vt:lpstr>Where the guarantee stands today</vt:lpstr>
      <vt:lpstr>The whole idea, on one slide</vt:lpstr>
      <vt:lpstr>Technical reference</vt:lpstr>
      <vt:lpstr>Reference — field keys</vt:lpstr>
      <vt:lpstr>Reference — validation rules and units</vt:lpstr>
      <vt:lpstr>Reference — presence cheat sheet</vt:lpstr>
      <vt:lpstr>Reference — records and their limits</vt:lpstr>
      <vt:lpstr>Reference — C error codes</vt:lpstr>
      <vt:lpstr>Reference — adoption comparisons</vt:lpstr>
      <vt:lpstr>Reference — glossary</vt:lpstr>
      <vt:lpstr>Where to go next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Persson</dc:creator>
  <cp:lastModifiedBy>Johan Persson</cp:lastModifiedBy>
  <cp:revision>2</cp:revision>
  <dcterms:created xsi:type="dcterms:W3CDTF">2026-08-08T22:31:16Z</dcterms:created>
  <dcterms:modified xsi:type="dcterms:W3CDTF">2026-09-02T13:27:48Z</dcterms:modified>
</cp:coreProperties>
</file>