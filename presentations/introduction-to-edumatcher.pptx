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88" r:id="rId6"/>
    <p:sldId id="260" r:id="rId7"/>
    <p:sldId id="287" r:id="rId8"/>
    <p:sldId id="261" r:id="rId9"/>
    <p:sldId id="262" r:id="rId10"/>
    <p:sldId id="263" r:id="rId11"/>
    <p:sldId id="264" r:id="rId12"/>
    <p:sldId id="265" r:id="rId13"/>
    <p:sldId id="266" r:id="rId14"/>
    <p:sldId id="296" r:id="rId15"/>
    <p:sldId id="299" r:id="rId16"/>
    <p:sldId id="298" r:id="rId17"/>
    <p:sldId id="297" r:id="rId18"/>
    <p:sldId id="267" r:id="rId19"/>
    <p:sldId id="280" r:id="rId20"/>
    <p:sldId id="281" r:id="rId21"/>
    <p:sldId id="282" r:id="rId22"/>
    <p:sldId id="283" r:id="rId23"/>
    <p:sldId id="284" r:id="rId24"/>
    <p:sldId id="285" r:id="rId25"/>
    <p:sldId id="286" r:id="rId26"/>
    <p:sldId id="295" r:id="rId27"/>
    <p:sldId id="294" r:id="rId28"/>
    <p:sldId id="293" r:id="rId29"/>
    <p:sldId id="292" r:id="rId30"/>
    <p:sldId id="268" r:id="rId31"/>
    <p:sldId id="269" r:id="rId32"/>
    <p:sldId id="270" r:id="rId33"/>
    <p:sldId id="271" r:id="rId34"/>
    <p:sldId id="291" r:id="rId35"/>
    <p:sldId id="272" r:id="rId36"/>
    <p:sldId id="273" r:id="rId37"/>
    <p:sldId id="274" r:id="rId38"/>
    <p:sldId id="290" r:id="rId39"/>
    <p:sldId id="289" r:id="rId40"/>
    <p:sldId id="275" r:id="rId41"/>
    <p:sldId id="279" r:id="rId42"/>
    <p:sldId id="276" r:id="rId43"/>
    <p:sldId id="278" r:id="rId44"/>
    <p:sldId id="277" r:id="rId4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21"/>
    <p:restoredTop sz="81493"/>
  </p:normalViewPr>
  <p:slideViewPr>
    <p:cSldViewPr snapToGrid="0">
      <p:cViewPr varScale="1">
        <p:scale>
          <a:sx n="186" d="100"/>
          <a:sy n="186" d="100"/>
        </p:scale>
        <p:origin x="200" y="2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EduMatcher is a fully functional financial exchange matching engine built for education, research, and demonstration — it implements the same core mechanics that underpin real stock exchanges, but in code you can read and run.
Key framing for the audience: this is not a toy simulation. It has a real limit order book with strict price-time priority, opening and closing auctions with genuine equilibrium-price uncrossing, five layers of risk control, market-making and autonomous AI traders, and everything runs over a ZeroMQ message bus.
This deck has two parts: Part 1 is a system overview (what it is and how order flow works); Part 2 is a technical deep-dive into configuration, protocols, scheduling, persistence, analytics, and known limitations.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EduMatcher reproduces the core of a real exchange. The three headline numbers: 10 order types (MARKET, LIMIT, STOP, STOP_LIMIT, FOK, ICEBERG, COMBO, IOC, TRAILING_STOP, OCO), 20+ cooperating 'pm-' processes, and 5 risk controls.
How it fits together: participants connect through a gateway, type orders, and the single-writer matching engine (pm-engine) matches them by price-time priority. Every fill and book change is published over a ZeroMQ bus that all other processes subscribe to — orders flow IN on PULL port 5555, events flow OUT on PUB port 5556.
The capability chips on the right preview what's covered: a continuous order book, opening/closing auctions, market-maker quoting, price collars and circuit breakers, combo and OCO strategies, OHLCV/VWAP statistics, a drop-copy compliance feed, and autonomous AI traders.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lifecycle in four steps.
1. Participant: a trader types an order in ALF — 'Almost FIX' — a human-readable, pipe-delimited protocol (FIELD=VALUE|FIELD=VALUE). They use either pm-alf-console (an interactive REPL over stdin/stdout) or connect to pm-alf-gwy, the TCP gateway on default port 5565.
2. Gateway: the console/gateway validates the message, checks the gateway ID against the allowlist, and forwards it to the engine over a ZeroMQ PUSH socket into port 5555.
3. Matching engine: pm-engine is a single-writer engine that matches against the order book by strict price-time priority.
4. Event bus: acknowledgements, fills, and book updates are published on the ZMQ PUB socket, port 5556 — every downstream process (clearing, stats, viewers) subscribes.
The command chip shows the actual grammar: NEW opens an order; verbs also include AMEND, CANCEL, QUOTE, KILL, STATUS, ORDERS, POS.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communicates over ZeroMQ — there is no shared database in the hot path. pm-engine sits at the center as the single writer.
Three core sockets: engine PULL on 5555 (orders and commands in), engine PUB on 5556 (book snapshots, trades, and session events out), and a dedicated drop-copy PUB on 5557 (a per-participant fill feed for risk/compliance/back-office).
Around the engine: on the order-entry side, pm-alf-console, autonomous AI traders, and pm-admin (HALT/RESUME/STATUS) all push in. On the subscriber side, pm-clearing tracks trades and P&amp;L, pm-stats records OHLCV/VWAP, and the drop-copy feed serves compliance.
pm-scheduler sits above the engine and pushes session.transition messages at configured wall-clock times to drive the trading day.
Worth noting: the raw 5556 and 5557 feeds have no authentication — any process that can reach the port can subscribe. We'll revisit that in the limitations section.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CE5E9CC1-C706-0F49-92D6-E571CC5EEA8F}" type="slidenum">
              <a:rPr lang="en-US" smtClean="0"/>
              <a:t>5</a:t>
            </a:fld>
            <a:endParaRPr lang="en-US"/>
          </a:p>
        </p:txBody>
      </p:sp>
    </p:spTree>
    <p:extLst>
      <p:ext uri="{BB962C8B-B14F-4D97-AF65-F5344CB8AC3E}">
        <p14:creationId xmlns:p14="http://schemas.microsoft.com/office/powerpoint/2010/main" val="727023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EduMatcher is a family of 20+ small, single-purpose 'pm-' processes rather than one monolith. Grouped by role:
Core engine &amp; session: pm-engine (matching) and pm-scheduler (session phases).
Participant gateways: pm-alf-console and pm-alf-gwy (ALF text), pm-balf-gwy (BALF binary), pm-api-gwy (REST/WebSocket on 8080).
Market data &amp; post-trade: pm-md-gwy (CALF feed), pm-ralf-gwy (post-trade/reconciliation), pm-index (live cap-weighted index).
Autonomous bots: pm-ai-trader (single), pm-ai-swarm (multi-agent), pm-mm-bot (market maker).
Monitoring &amp; analytics: pm-stats, pm-clearing, and the spy clients pm-viewer / pm-board / pm-ticker, plus pm-audit (event log).
Admin &amp; tooling: pm-admin / pm-admin-cli, pm-cverifier (config checks), and the config-gui visual editor.
The design point: each process does one thing and communicates only over the bus, so you can run just the pieces you need.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order types, grouped by behavior.
Aggressive (take liquidity now): MARKET (immediate at best price), FOK (fill-or-kill, all-or-nothing), IOC (immediate-or-cancel, fill now and cancel the rest).
Passive (rest on the book): LIMIT (rests at a price), ICEBERG (large order with a small visible peak and a hidden reserve).
Conditional (trigger-based): STOP (triggers to a market order), STOP_LIMIT (triggers to a limit), TRAILING_STOP (follows the price by a fixed offset).
Multi-leg: COMBO (linked legs that cascade-cancel) and OCO (one-cancels-the-other).
Across all of them the engine supports AMEND on live orders, a full set of Time-in-Force codes (DAY, GTC, GTD, IOC, FOK, plus ATO/ATC for auctions), and self-match prevention. Every order can carry an SMP action to control what happens if it would trade against the same gateway.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trading day moves through five phases, driven by pm-scheduler: PRE_OPEN, OPENING_AUCTION, CONTINUOUS, CLOSING_AUCTION, CLOSED.
PRE_OPEN and the auction phases accumulate orders but do not match. CONTINUOUS is normal price-time matching. The engine starts in CLOSED when sessions are enabled.
The built-in default schedule: 09:00 PRE_OPEN, 09:25 OPENING_AUCTION, 09:30 CONTINUOUS, 16:00 CLOSING_AUCTION, 16:05 CLOSED. Setting sessions_enabled to false keeps the market permanently in CONTINUOUS.
Auction uncross (the callout): at the end of an auction the engine computes a single equilibrium price — the price that maximizes executed shares, with ties broken by smallest surplus then lowest price. All auction fills happen at that one price, with no slippage. ATO orders are only valid in the opening auction, ATC only in the closing auction; unfilled ATO/ATC orders expire at uncross. We go deeper on the algorithm in Part 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risk controls, organized by when they act.
On admission — before an order ever reaches the book:
- Instrument halt: an operator marks a symbol HALTED via pm-admin; it resumes on command.
- Price collar: the order's price is checked against static and dynamic bands; out-of-band orders are rejected (toggled by enforce_collars).
- Circuit breaker: a large move in the last trade price auto-halts the symbol, then resumes after a cooldown (toggled by enforce_circuit_breakers).
On resting orders — exposure already on the book:
- Kill switch: any gateway can instantly cancel ALL of its own resting orders (the KILL verb).
During matching — at the instant of a cross:
- Self-Match Prevention: stops a gateway from trading with itself. The SMP action can cancel the aggressor, the resting order, both, or allow the self-trade — and these cancellations are visible, not silent.
These are configurable per symbol via named collar and circuit-breaker profiles in the config file.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system overview. In one package EduMatcher gives you a real order book and auctions, five layers of risk control plus market making, analytics/clearing/compliance, and AI-driven order flow — all wired together over a ZeroMQ bus.
The teaching value is that every piece is a small, readable process you can run and inspect. Next, in Part 2, we go under the hood: configuration and reference data, the four external protocols, session scheduling, the auction algorithm, persistence, analytics, observability, combo orders, clearing math, and the known limitations.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divider opens Part 2. The agenda on the left previews the ten deep-dive topics: configuration and reference data, the four external protocols, session scheduling, the auction uncross algorithm, persistence, statistics/reporting, observability, combo orders, clearing and P&amp;L, and the known limitations.
The point of Part 2 is to show that EduMatcher is config-driven, protocol-rich, fully observable over the bus, and honest about what it does and doesn't do.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the engine knows about the market comes from one shared reference-data file, engine_config.yaml, read by pm-engine and pm-scheduler (auxiliary sections are read by the data, post-trade, API, and index gateways). You can point at a different file with --config or the EDUMATCHER_CONFIG environment variable.
Two sections are required when a file exists: symbols and gateways.alf. If no file is present at all, the engine starts in 'unrestricted' mode — no symbol allowlist, no gateway allowlist, no seed prices.
Per symbol you define tick_decimals (tick size as decimal places), a named collar 'level' profile, outstanding_shares (needed for index constituents), seed last_buy/last_sell prices, optional collar and circuit_breaker overrides, and market_maker_quotes (mandatory when a market-maker gateway exists).
Configs can be generated with pm-config-gen or the config-gui web app, and are validated by pm-cverifier — a read-only checker with four layers: YAML syntax (Y-codes), schema (S-codes), semantic (M-codes), and completeness (C-codes). It supports --strict and JSON output for CI.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Everything the engine knows about the market comes from one shared reference-data file, engine_config.yaml, read by pm-engine and pm-scheduler (auxiliary sections are read by the data, post-trade, API, and index gateways). You can point at a different file with --config or the EDUMATCHER_CONFIG environment variable.
Two sections are required when a file exists: symbols and gateways.alf. If no file is present at all, the engine starts in 'unrestricted' mode — no symbol allowlist, no gateway allowlist, no seed prices.
Per symbol you define tick_decimals (tick size as decimal places), a named collar 'level' profile, outstanding_shares (needed for index constituents), seed last_buy/last_sell prices, optional collar and circuit_breaker overrides, and market_maker_quotes (mandatory when a market-maker gateway exists).
Configs can be generated with pm-config-gen or the config-gui web app, and are validated by pm-cverifier — a read-only checker with four layers: YAML syntax (Y-codes), schema (S-codes), semantic (M-codes), and completeness (C-codes). It supports --strict and JSON output for CI.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Everything the engine knows about the market comes from one shared reference-data file, engine_config.yaml, read by pm-engine and pm-scheduler (auxiliary sections are read by the data, post-trade, API, and index gateways). You can point at a different file with --config or the EDUMATCHER_CONFIG environment variable.
Two sections are required when a file exists: symbols and gateways.alf. If no file is present at all, the engine starts in 'unrestricted' mode — no symbol allowlist, no gateway allowlist, no seed prices.
Per symbol you define tick_decimals (tick size as decimal places), a named collar 'level' profile, outstanding_shares (needed for index constituents), seed last_buy/last_sell prices, optional collar and circuit_breaker overrides, and market_maker_quotes (mandatory when a market-maker gateway exists).
Configs can be generated with pm-config-gen or the config-gui web app, and are validated by pm-cverifier — a read-only checker with four layers: YAML syntax (Y-codes), schema (S-codes), semantic (M-codes), and completeness (C-codes). It supports --strict and JSON output for CI.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EduMatcher exposes four external protocols, all named after ALF — 'Almost FIX' — its human-readable base protocol.
ALF: the active order-entry protocol, pipe-delimited text (FIELD=VALUE). Served interactively by pm-alf-console and over TCP by pm-alf-gwy on default port 5565. Verbs include NEW, AMEND, CANCEL, QUOTE, KILL, STATUS.
BALF — Binary ALF: the same order entry but as fixed-width binary frames with sequence numbers, for speed. Served by pm-balf-gwy (example port 5560). Version 1.0.0 is order-entry only — no OCO, no combos, no market data.
CALF — Channel ALF: the external market-data feed, served by pm-md-gwy (port 5570). Snapshot plus incremental updates with sequence-based gap detection, over seven channels: TOP, TRADE, STATE, INDEX, DEPTH, AUCTION, CB.
RALF — Reconciliation ALF: the post-trade feed, served by pm-ralf-gwy (port 5580). A replayable trade/audit stream with role-based entitlement across CLEARING, DROP_COPY, and AUDIT channels.
Underneath, everything rides the core ZeroMQ bus: engine PULL 5555, PUB 5556, drop-copy 5557, and the pm-index admin socket on 5559. pm-calf-spy and pm-ralf-spy let you watch the feeds.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trading day is driven by pm-scheduler, a standalone process that sends session.transition messages to the engine over a ZeroMQ PUSH socket at configured wall-clock times.
The timeline shows the built-in default schedule: 09:00 PRE_OPEN, 09:25 OPENING_AUCTION, 09:30 CONTINUOUS, 16:00 CLOSING_AUCTION, 16:05 CLOSED. These come from the 'schedule' section of the config — keys pre_open, opening_auction_start, continuous_start, closing_auction_start, and closing_auction_end, each an HH:MM local time.
Useful flags: --now fires all five transitions rapidly (great for demos), --daily repeats every day, --delay sets spacing. Setting sessions_enabled to false keeps the market permanently in CONTINUOUS and skips the auctions.
One gotcha: pm-scheduler falls back to the built-in schedule if the default config is missing, but it's a fatal error if you pass an explicit --config that doesn't exist.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Auctions don't match continuously — they collect orders and then compute one clearing price. The chart is the intuition: aggregate demand slopes down, aggregate supply slopes up, and they cross at the equilibrium price P*.
The algorithm, step by step: (1) during the auction phase orders rest without matching; (2) the engine builds cumulative buy quantity (bids sorted descending) and sell quantity (asks ascending) at each distinct price; (3) for every candidate price it computes executable volume = min(buy_qty, sell_qty) and picks P* = argmax of that — the price that trades the most shares; (4) ties are broken by the smallest surplus (|buy−sell|), then the lowest price; (5) the book uncrosses with a price-time sweep and every fill prints at that single P* — no price improvement, no slippage. It's O(N) in the number of distinct price levels.
Surplus orders stay on the book afterward; only unfilled ATO/ATC orders expire. The outcome is published on auction.result.{symbol} with the price, matched quantity, surplus, and imbalance side, and on the CALF AUCTION channel. If max executable volume is zero, there's no uncross.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Persistence in EduMatcher is deliberately simple and file-based — everything lives under the data directory (EDUMATCHER_DATA_DIR).
Two categories. First, engine state that's rewritten by pm-engine on a clean shutdown and reloaded at startup: gtc_orders.json holds resting Good-Till-Cancelled orders and restores them with their original price-time priority (original timestamps preserved); gtc_combos.json holds GTC combo parents and their child-leg links; book_stats.json seeds last_buy, last_sell, and prev_close per symbol, which feed the collar and circuit-breaker reference points.
Second, accumulating stores that grow across sessions: stats.db (pm-stats), clearing.db (pm-clearing), audit.log (pm-audit, rotates at 10 MB with 5 backups), and per-index history JSONL files (pm-index).
Robustness details worth mentioning: a clean Ctrl-C writes state and emits a system.eod snapshot, but a hard SIGKILL skips those writes. If a state file is malformed, the loader returns empty state and startup still succeeds — it never crashes on bad data. Order IDs are UUID4 and stable across restarts, and GTC orders for symbols that were removed from config are simply skipped.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Analytics splits into two pieces.
pm-stats is a subscriber that writes stats.db. It listens to trades, book updates, index levels, and private order-lifecycle events, and records daily OHLCV, 15-minute intraday price snapshots, a per-trade log, and order events. Its tables are daily_stats, price_snapshots, trade_log, order_events, index_daily_stats, and index_level_snapshots. You query it with pm-stats-cli — commands like daily, trades, order-lifecycle, and index-daily — with table, JSON, or CSV output.
pm-index computes and disseminates a real-time market index. It's capitalization-weighted: index_level equals aggregate market cap divided by a divisor. The divisor is initialised so the index starts at a chosen base_value, and it's adjusted for corporate actions — splits, dividends, share changes, additions, and delistings, applied via pm-index-admin-cli. Updates are throttled (about once a second by default), and the intraday OHLC resets at the opening auction / continuous open.
Note pm-index has its own admin PULL socket on port 5559 — which, like the drop-copy feed, has no authentication.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every state change is published on the ZeroMQ bus, observability is essentially free — you just subscribe.
The left column samples the event topics: order.ack, order.fill.{gateway}, trade.executed, book and depth updates, quote and combo status, session.state and session.transition, auction.result.{symbol}, circuit_breaker halt/resume, index.update, and system.eod at end of day. Topics are prefixes, so subscribers can filter to exactly what they care about.
On the right are the ready-made spy clients: pm-viewer (a live single-symbol book), pm-board (a multi-symbol board), pm-ticker (a scrolling tape with OHLCV), pm-orders (cross-gateway order status), pm-audit (captures the full event log to audit.log), and pm-calf-spy / pm-ralf-spy for the external feeds.
For risk and back-office there's a dedicated drop-copy feed on port 5557 that streams every fill per participant. Be aware it performs no authentication — any process that can reach the port sees every gateway's fills. That's by design for a teaching system, but it's a real limitation, which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COMBO is a multi-leg order that bundles two or more child orders across different symbols, submitted, tracked, and cancelled as a group. Importantly, it's a first-class order type in the engine — explicitly NOT a synthetic construct layered on top of regular orders.
The happy path runs PENDING → PARTIALLY_MATCHED → MATCHED. The branch states: FAILED means a leg was cancelled or expired, which triggers cascade cancellation — all the siblings' unfilled quantity is cancelled. CANCELLED is an explicit CANCEL by COMBO_ID. REJECTED is a validation failure up front.
Constraints: 2 to 10 legs, no duplicate symbols (each leg trades a different instrument), and today only COMBO_TYPE = AON (all-or-none); ANY and MIN are reserved for the future. Each leg rests on its own symbol's book as an ordinary LIMIT order — and notably it is NOT labelled as a combo leg on the book, a deliberate information-leakage tradeoff.
Critical semantics: cascade cancellation never unwinds already-executed fills — trades are irrevocable. GTC combos are persisted to gtc_combos.json. And a key limitation to flag: BALF 1.0.0 doesn't support combos — they're ALF and REST only.</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pm-clearing turns the fill stream into positions and running P&amp;L, writing clearing.db on every trade, on gateway connect/disconnect, and at end of day.
The four formulas are the heart of it. Average cost is a volume-weighted average (VWAP): when a fill increases your position, the new average cost is (old_avg × old_net + fill_price × fill_qty) divided by the new absolute net quantity.
Realized P&amp;L is booked when you reduce a position: closing a long via a SELL adds (fill_price − avg_cost) × closed_qty; closing a short via a BUY adds (avg_cost − fill_price) × closed_qty. Crossing through zero realizes the full close and then resets the average cost for the new side.
Unrealized P&amp;L is mark-to-market: net quantity × (mark_price − avg_cost).
clearing.db tables include trade_events, gateway_symbol_positions, gateway_daily_summary, session_events, and gateway_sessions. You inspect all of it with pm-clearing-cli — positions, pnl, exposure, daily, and reconcile.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EduMatcher is refreshingly honest about its boundaries — these are documented, deliberate scope choices, not bugs.
No implied or synthetic orders: COMBO is native rather than synthetic, and the engine derives no implied liquidity between related instruments.
BALF 1.0.0 is intentionally minimal: no OCO, no combos, no market-data broadcast, no sequence resend/recovery, and no protocol-level encryption.
No trade unwind: executed fills are irrevocable, so a failed combo cancels only unfilled legs. And a couple of teaching simplifications: Market-Maker Protection exists in the data model but isn't enforced by the engine, and it's one user per gateway.</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authentication or authorization on the core plumbing: the raw </a:t>
            </a:r>
            <a:r>
              <a:rPr lang="en-US" dirty="0" err="1"/>
              <a:t>ZeroMQ</a:t>
            </a:r>
            <a:r>
              <a:rPr lang="en-US" dirty="0"/>
              <a:t> bus and the side feeds (drop-copy on 5557, the pm-index admin socket on 5559, the command PUSH socket) have no auth — any process that can reach the port can subscribe or issue commands. There IS gateway-ID allowlisting on ALF and bearer tokens on the REST API, but the bus itself is open.
No combo-order book: combo legs are posted as ordinary orders onto each symbol's own book, so a combo spans multiple books — there's no dedicated spread/combo book.</a:t>
            </a:r>
            <a:endParaRPr lang="en-SE" dirty="0"/>
          </a:p>
        </p:txBody>
      </p:sp>
      <p:sp>
        <p:nvSpPr>
          <p:cNvPr id="4" name="Slide Number Placeholder 3"/>
          <p:cNvSpPr>
            <a:spLocks noGrp="1"/>
          </p:cNvSpPr>
          <p:nvPr>
            <p:ph type="sldNum" sz="quarter" idx="5"/>
          </p:nvPr>
        </p:nvSpPr>
        <p:spPr/>
        <p:txBody>
          <a:bodyPr/>
          <a:lstStyle/>
          <a:p>
            <a:fld id="{CE5E9CC1-C706-0F49-92D6-E571CC5EEA8F}" type="slidenum">
              <a:rPr lang="en-US" smtClean="0"/>
              <a:t>41</a:t>
            </a:fld>
            <a:endParaRPr lang="en-US"/>
          </a:p>
        </p:txBody>
      </p:sp>
    </p:spTree>
    <p:extLst>
      <p:ext uri="{BB962C8B-B14F-4D97-AF65-F5344CB8AC3E}">
        <p14:creationId xmlns:p14="http://schemas.microsoft.com/office/powerpoint/2010/main" val="9036999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standout point worth dwelling on: the level of learning support here is unusual for a free, open-source project.
There's a 700-page user guide — a complete reference manual, not a thin README. On top of that, a full 28-chapter training course with hands-on guided exercises that walk you through the system step by step. Each part comes with quizzes to check your understanding and self-study question sets so you can test yourself.
Crucially, the complete original design documentation is published too — so you can see not just how it works, but why it was built that way. And all of it — every line of source code and all the documentation — is free and open on GitHub at github.com/johan162/EduMatcher.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CE5E9CC1-C706-0F49-92D6-E571CC5EEA8F}" type="slidenum">
              <a:rPr lang="en-US" smtClean="0"/>
              <a:t>43</a:t>
            </a:fld>
            <a:endParaRPr lang="en-US"/>
          </a:p>
        </p:txBody>
      </p:sp>
    </p:spTree>
    <p:extLst>
      <p:ext uri="{BB962C8B-B14F-4D97-AF65-F5344CB8AC3E}">
        <p14:creationId xmlns:p14="http://schemas.microsoft.com/office/powerpoint/2010/main" val="738857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deep-dive: EduMatcher is config-driven — a single YAML file defines symbols, gateways, schedule, and risk. It's protocol-rich, with four purpose-built protocols (ALF, BALF, CALF, RALF) plus a REST/WebSocket API. It's fully observable, because every state change is a published bus event you can subscribe to or replay. And it's honest about its limits — no bus-level auth, no combo book, no implied orders, all documented.
The overall message: this is a genuine matching engine that's small enough to read end to end, run locally, and extend — which is exactly what makes it a good teaching platform. Good place to take questions or move into a live demo.</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B1B2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58368"/>
            <a:ext cx="8229600" cy="658368"/>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RO">
    <p:bg>
      <p:bgPr>
        <a:solidFill>
          <a:srgbClr val="1B1B2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2331720"/>
            <a:ext cx="6949440" cy="91440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64982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bstract matching engine hub with amber data streams converging from participants into a central order book"/>
          <p:cNvPicPr>
            <a:picLocks noChangeAspect="1"/>
          </p:cNvPicPr>
          <p:nvPr/>
        </p:nvPicPr>
        <p:blipFill>
          <a:blip r:embed="rId3"/>
          <a:srcRect t="1700" b="1700"/>
          <a:stretch/>
        </p:blipFill>
        <p:spPr>
          <a:xfrm>
            <a:off x="0" y="0"/>
            <a:ext cx="9144000" cy="5143500"/>
          </a:xfrm>
          <a:prstGeom prst="rect">
            <a:avLst/>
          </a:prstGeom>
        </p:spPr>
      </p:pic>
      <p:sp>
        <p:nvSpPr>
          <p:cNvPr id="3" name="scrim">
            <a:extLst>
              <a:ext uri="{C183D7F6-B498-43B3-948B-1728B52AA6E4}">
                <adec:decorative xmlns:adec="http://schemas.microsoft.com/office/drawing/2017/decorative" val="1"/>
              </a:ext>
            </a:extLst>
          </p:cNvPr>
          <p:cNvSpPr/>
          <p:nvPr/>
        </p:nvSpPr>
        <p:spPr>
          <a:xfrm>
            <a:off x="0" y="0"/>
            <a:ext cx="9144000" cy="5143500"/>
          </a:xfrm>
          <a:prstGeom prst="rect">
            <a:avLst/>
          </a:prstGeom>
          <a:solidFill>
            <a:srgbClr val="1B1B20">
              <a:alpha val="58000"/>
            </a:srgbClr>
          </a:solidFill>
          <a:ln/>
        </p:spPr>
        <p:txBody>
          <a:bodyPr/>
          <a:lstStyle/>
          <a:p>
            <a:r>
              <a:rPr lang="en-SE" dirty="0"/>
              <a:t>J</a:t>
            </a:r>
          </a:p>
        </p:txBody>
      </p:sp>
      <p:sp>
        <p:nvSpPr>
          <p:cNvPr id="4" name="Text 1"/>
          <p:cNvSpPr/>
          <p:nvPr/>
        </p:nvSpPr>
        <p:spPr>
          <a:xfrm>
            <a:off x="640080" y="1417320"/>
            <a:ext cx="5486400" cy="320040"/>
          </a:xfrm>
          <a:prstGeom prst="rect">
            <a:avLst/>
          </a:prstGeom>
          <a:noFill/>
          <a:ln/>
        </p:spPr>
        <p:txBody>
          <a:bodyPr wrap="square" lIns="0" tIns="0" rIns="0" bIns="0" rtlCol="0" anchor="ctr"/>
          <a:lstStyle/>
          <a:p>
            <a:pPr marL="0" indent="0">
              <a:buNone/>
            </a:pPr>
            <a:r>
              <a:rPr lang="en-US" sz="1300" b="1" kern="0" spc="400" dirty="0">
                <a:solidFill>
                  <a:srgbClr val="FF9E2C"/>
                </a:solidFill>
                <a:latin typeface="Courier New" pitchFamily="34" charset="0"/>
                <a:ea typeface="Courier New" pitchFamily="34" charset="-122"/>
                <a:cs typeface="Courier New" pitchFamily="34" charset="-120"/>
              </a:rPr>
              <a:t>SYSTEM OVERVIEW</a:t>
            </a:r>
            <a:endParaRPr lang="en-US" sz="1300" dirty="0"/>
          </a:p>
        </p:txBody>
      </p:sp>
      <p:sp>
        <p:nvSpPr>
          <p:cNvPr id="5" name="Text 0"/>
          <p:cNvSpPr>
            <a:spLocks noGrp="1"/>
          </p:cNvSpPr>
          <p:nvPr>
            <p:ph type="title" idx="100" hasCustomPrompt="1"/>
          </p:nvPr>
        </p:nvSpPr>
        <p:spPr>
          <a:xfrm>
            <a:off x="640080" y="2331720"/>
            <a:ext cx="6949440" cy="914400"/>
          </a:xfrm>
          <a:prstGeom prst="rect">
            <a:avLst/>
          </a:prstGeom>
          <a:noFill/>
          <a:ln/>
        </p:spPr>
        <p:txBody>
          <a:bodyPr wrap="square" lIns="0" tIns="0" rIns="0" bIns="0" rtlCol="0" anchor="ctr"/>
          <a:lstStyle/>
          <a:p>
            <a:pPr marL="0" indent="0" algn="l">
              <a:buNone/>
            </a:pPr>
            <a:r>
              <a:rPr lang="en-US" sz="5000" b="1" dirty="0">
                <a:solidFill>
                  <a:srgbClr val="ECECEC"/>
                </a:solidFill>
                <a:latin typeface="Arial" pitchFamily="34" charset="0"/>
                <a:ea typeface="Arial" pitchFamily="34" charset="-122"/>
                <a:cs typeface="Arial" pitchFamily="34" charset="-120"/>
              </a:rPr>
              <a:t>EduMatcher</a:t>
            </a:r>
            <a:endParaRPr lang="en-US" sz="5000" dirty="0"/>
          </a:p>
        </p:txBody>
      </p:sp>
      <p:sp>
        <p:nvSpPr>
          <p:cNvPr id="6" name="Text 3"/>
          <p:cNvSpPr/>
          <p:nvPr/>
        </p:nvSpPr>
        <p:spPr>
          <a:xfrm>
            <a:off x="640080" y="3200400"/>
            <a:ext cx="5852160" cy="457200"/>
          </a:xfrm>
          <a:prstGeom prst="rect">
            <a:avLst/>
          </a:prstGeom>
          <a:noFill/>
          <a:ln/>
        </p:spPr>
        <p:txBody>
          <a:bodyPr wrap="square" lIns="0" tIns="0" rIns="0" bIns="0" rtlCol="0" anchor="ctr"/>
          <a:lstStyle/>
          <a:p>
            <a:pPr marL="0" indent="0">
              <a:buNone/>
            </a:pPr>
            <a:r>
              <a:rPr lang="en-US" sz="1900" dirty="0">
                <a:solidFill>
                  <a:srgbClr val="C3CDD6"/>
                </a:solidFill>
                <a:latin typeface="Arial" pitchFamily="34" charset="0"/>
                <a:ea typeface="Arial" pitchFamily="34" charset="-122"/>
                <a:cs typeface="Arial" pitchFamily="34" charset="-120"/>
              </a:rPr>
              <a:t>An Educational Equity Trading System</a:t>
            </a:r>
            <a:endParaRPr lang="en-US" sz="1900" dirty="0"/>
          </a:p>
        </p:txBody>
      </p:sp>
      <p:sp>
        <p:nvSpPr>
          <p:cNvPr id="7" name="Text 4"/>
          <p:cNvSpPr/>
          <p:nvPr/>
        </p:nvSpPr>
        <p:spPr>
          <a:xfrm>
            <a:off x="640080" y="3767328"/>
            <a:ext cx="5212080" cy="914400"/>
          </a:xfrm>
          <a:prstGeom prst="rect">
            <a:avLst/>
          </a:prstGeom>
          <a:noFill/>
          <a:ln/>
        </p:spPr>
        <p:txBody>
          <a:bodyPr wrap="square" lIns="0" tIns="0" rIns="0" bIns="0" rtlCol="0" anchor="ctr"/>
          <a:lstStyle/>
          <a:p>
            <a:pPr marL="0" indent="0">
              <a:lnSpc>
                <a:spcPct val="105000"/>
              </a:lnSpc>
              <a:buNone/>
            </a:pPr>
            <a:r>
              <a:rPr lang="en-US" sz="1250" dirty="0">
                <a:solidFill>
                  <a:srgbClr val="B4B4BE"/>
                </a:solidFill>
                <a:latin typeface="Calibri" pitchFamily="34" charset="0"/>
                <a:ea typeface="Calibri" pitchFamily="34" charset="-122"/>
                <a:cs typeface="Calibri" pitchFamily="34" charset="-120"/>
              </a:rPr>
              <a:t>A fully functional exchange matching engine — built for learning, research, and demonstration. Real order-book mechanics, auctions, risk controls, and a ZeroMQ message bus.</a:t>
            </a:r>
            <a:endParaRPr lang="en-US" sz="1250" dirty="0"/>
          </a:p>
        </p:txBody>
      </p:sp>
      <p:sp>
        <p:nvSpPr>
          <p:cNvPr id="8" name="TextBox 7">
            <a:extLst>
              <a:ext uri="{FF2B5EF4-FFF2-40B4-BE49-F238E27FC236}">
                <a16:creationId xmlns:a16="http://schemas.microsoft.com/office/drawing/2014/main" id="{32C33A31-178C-01A0-34CC-415C91FF617F}"/>
              </a:ext>
            </a:extLst>
          </p:cNvPr>
          <p:cNvSpPr txBox="1"/>
          <p:nvPr/>
        </p:nvSpPr>
        <p:spPr>
          <a:xfrm>
            <a:off x="7342701" y="4752898"/>
            <a:ext cx="1718797" cy="307777"/>
          </a:xfrm>
          <a:prstGeom prst="rect">
            <a:avLst/>
          </a:prstGeom>
          <a:noFill/>
        </p:spPr>
        <p:txBody>
          <a:bodyPr wrap="square" rtlCol="0">
            <a:spAutoFit/>
          </a:bodyPr>
          <a:lstStyle/>
          <a:p>
            <a:pPr algn="r"/>
            <a:r>
              <a:rPr lang="en-SE" sz="1400" i="1" dirty="0">
                <a:solidFill>
                  <a:schemeClr val="bg1">
                    <a:lumMod val="50000"/>
                  </a:schemeClr>
                </a:solidFill>
              </a:rPr>
              <a:t>J. Persson,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01 · INTRODUCTION</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a:solidFill>
                  <a:srgbClr val="ECECEC"/>
                </a:solidFill>
                <a:latin typeface="Arial" pitchFamily="34" charset="0"/>
                <a:ea typeface="Arial" pitchFamily="34" charset="-122"/>
                <a:cs typeface="Arial" pitchFamily="34" charset="-120"/>
              </a:rPr>
              <a:t>What is EduMatcher?</a:t>
            </a:r>
            <a:endParaRPr lang="en-US" sz="2900" dirty="0"/>
          </a:p>
        </p:txBody>
      </p:sp>
      <p:sp>
        <p:nvSpPr>
          <p:cNvPr id="5" name="Text 3"/>
          <p:cNvSpPr/>
          <p:nvPr/>
        </p:nvSpPr>
        <p:spPr>
          <a:xfrm>
            <a:off x="566928" y="1470000"/>
            <a:ext cx="3977640" cy="1080000"/>
          </a:xfrm>
          <a:prstGeom prst="rect">
            <a:avLst/>
          </a:prstGeom>
          <a:noFill/>
          <a:ln/>
        </p:spPr>
        <p:txBody>
          <a:bodyPr wrap="square" lIns="0" tIns="0" rIns="0" bIns="0" rtlCol="0" anchor="t"/>
          <a:lstStyle/>
          <a:p>
            <a:pPr marL="0" indent="0" algn="l">
              <a:lnSpc>
                <a:spcPct val="112000"/>
              </a:lnSpc>
              <a:buNone/>
            </a:pPr>
            <a:r>
              <a:rPr lang="en-US" sz="1450" kern="0">
                <a:solidFill>
                  <a:srgbClr val="ECECEC"/>
                </a:solidFill>
                <a:latin typeface="Calibri" pitchFamily="34" charset="0"/>
                <a:ea typeface="Calibri" pitchFamily="34" charset="-122"/>
                <a:cs typeface="Calibri" pitchFamily="34" charset="-120"/>
              </a:rPr>
              <a:t>A fully functional financial exchange matching engine built for education, research, and demonstration — implementing the same core mechanics that underpin real stock exchanges.</a:t>
            </a:r>
            <a:endParaRPr lang="en-US"/>
          </a:p>
        </p:txBody>
      </p:sp>
      <p:sp>
        <p:nvSpPr>
          <p:cNvPr id="6" name="Text 4"/>
          <p:cNvSpPr/>
          <p:nvPr/>
        </p:nvSpPr>
        <p:spPr>
          <a:xfrm>
            <a:off x="566928" y="2620000"/>
            <a:ext cx="3977640" cy="760000"/>
          </a:xfrm>
          <a:prstGeom prst="rect">
            <a:avLst/>
          </a:prstGeom>
          <a:noFill/>
          <a:ln/>
        </p:spPr>
        <p:txBody>
          <a:bodyPr wrap="square" lIns="0" tIns="0" rIns="0" bIns="0" rtlCol="0" anchor="t"/>
          <a:lstStyle/>
          <a:p>
            <a:pPr marL="0" indent="0" algn="l">
              <a:lnSpc>
                <a:spcPct val="110000"/>
              </a:lnSpc>
              <a:buNone/>
            </a:pPr>
            <a:r>
              <a:rPr lang="en-US" sz="1250" kern="0">
                <a:solidFill>
                  <a:srgbClr val="B4B4BE"/>
                </a:solidFill>
                <a:latin typeface="Calibri" pitchFamily="34" charset="0"/>
                <a:ea typeface="Calibri" pitchFamily="34" charset="-122"/>
                <a:cs typeface="Calibri" pitchFamily="34" charset="-120"/>
              </a:rPr>
              <a:t>Participants connect through a gateway, type orders, and the engine matches them — publishing every fill over a ZeroMQ bus that all processes subscribe to.</a:t>
            </a:r>
            <a:endParaRPr lang="en-US"/>
          </a:p>
        </p:txBody>
      </p:sp>
      <p:sp>
        <p:nvSpPr>
          <p:cNvPr id="60" name="honesty note"/>
          <p:cNvSpPr/>
          <p:nvPr/>
        </p:nvSpPr>
        <p:spPr>
          <a:xfrm>
            <a:off x="566928" y="3400000"/>
            <a:ext cx="3977640" cy="360000"/>
          </a:xfrm>
          <a:prstGeom prst="rect">
            <a:avLst/>
          </a:prstGeom>
          <a:noFill/>
          <a:ln/>
        </p:spPr>
        <p:txBody>
          <a:bodyPr wrap="square" lIns="0" tIns="0" rIns="0" bIns="0" rtlCol="0" anchor="t"/>
          <a:lstStyle/>
          <a:p>
            <a:pPr marL="0" indent="0" algn="l">
              <a:lnSpc>
                <a:spcPct val="110000"/>
              </a:lnSpc>
              <a:buNone/>
            </a:pPr>
            <a:r>
              <a:rPr lang="en-US" sz="1250" b="1" kern="0">
                <a:solidFill>
                  <a:srgbClr val="FF9E2C"/>
                </a:solidFill>
                <a:latin typeface="Calibri" pitchFamily="34" charset="0"/>
                <a:ea typeface="Calibri" pitchFamily="34" charset="-122"/>
                <a:cs typeface="Calibri" pitchFamily="34" charset="-120"/>
              </a:rPr>
              <a:t>Honest by design — documented teaching simplifications, not hidden shortcuts.</a:t>
            </a:r>
            <a:endParaRPr lang="en-US"/>
          </a:p>
        </p:txBody>
      </p:sp>
      <p:sp>
        <p:nvSpPr>
          <p:cNvPr id="7" name="num 0"/>
          <p:cNvSpPr/>
          <p:nvPr/>
        </p:nvSpPr>
        <p:spPr>
          <a:xfrm>
            <a:off x="566928" y="3900000"/>
            <a:ext cx="1000000" cy="470000"/>
          </a:xfrm>
          <a:prstGeom prst="rect">
            <a:avLst/>
          </a:prstGeom>
          <a:noFill/>
          <a:ln/>
        </p:spPr>
        <p:txBody>
          <a:bodyPr wrap="square" lIns="0" tIns="0" rIns="0" bIns="0" rtlCol="0" anchor="ctr"/>
          <a:lstStyle/>
          <a:p>
            <a:pPr marL="0" indent="0" algn="l">
              <a:buNone/>
            </a:pPr>
            <a:r>
              <a:rPr lang="en-US" sz="3200" b="1" kern="0">
                <a:solidFill>
                  <a:srgbClr val="F2860D"/>
                </a:solidFill>
                <a:latin typeface="Arial" pitchFamily="34" charset="0"/>
                <a:ea typeface="Arial" pitchFamily="34" charset="-122"/>
                <a:cs typeface="Arial" pitchFamily="34" charset="-120"/>
              </a:rPr>
              <a:t>10</a:t>
            </a:r>
            <a:endParaRPr lang="en-US"/>
          </a:p>
        </p:txBody>
      </p:sp>
      <p:sp>
        <p:nvSpPr>
          <p:cNvPr id="8" name="num label 0"/>
          <p:cNvSpPr/>
          <p:nvPr/>
        </p:nvSpPr>
        <p:spPr>
          <a:xfrm>
            <a:off x="566928" y="4400000"/>
            <a:ext cx="1000000" cy="250000"/>
          </a:xfrm>
          <a:prstGeom prst="rect">
            <a:avLst/>
          </a:prstGeom>
          <a:noFill/>
          <a:ln/>
        </p:spPr>
        <p:txBody>
          <a:bodyPr wrap="square" lIns="0" tIns="0" rIns="0" bIns="0" rtlCol="0" anchor="ctr"/>
          <a:lstStyle/>
          <a:p>
            <a:pPr marL="0" indent="0" algn="l">
              <a:buNone/>
            </a:pPr>
            <a:r>
              <a:rPr lang="en-US" sz="1100" kern="0">
                <a:solidFill>
                  <a:srgbClr val="8FA0B0"/>
                </a:solidFill>
                <a:latin typeface="Calibri" pitchFamily="34" charset="0"/>
                <a:ea typeface="Calibri" pitchFamily="34" charset="-122"/>
                <a:cs typeface="Calibri" pitchFamily="34" charset="-120"/>
              </a:rPr>
              <a:t>Order types</a:t>
            </a:r>
            <a:endParaRPr lang="en-US"/>
          </a:p>
        </p:txBody>
      </p:sp>
      <p:sp>
        <p:nvSpPr>
          <p:cNvPr id="9" name="num 1"/>
          <p:cNvSpPr/>
          <p:nvPr/>
        </p:nvSpPr>
        <p:spPr>
          <a:xfrm>
            <a:off x="1632204" y="3900000"/>
            <a:ext cx="1000000" cy="470000"/>
          </a:xfrm>
          <a:prstGeom prst="rect">
            <a:avLst/>
          </a:prstGeom>
          <a:noFill/>
          <a:ln/>
        </p:spPr>
        <p:txBody>
          <a:bodyPr wrap="square" lIns="0" tIns="0" rIns="0" bIns="0" rtlCol="0" anchor="ctr"/>
          <a:lstStyle/>
          <a:p>
            <a:pPr marL="0" indent="0" algn="l">
              <a:buNone/>
            </a:pPr>
            <a:r>
              <a:rPr lang="en-US" sz="3200" b="1" kern="0">
                <a:solidFill>
                  <a:srgbClr val="F2860D"/>
                </a:solidFill>
                <a:latin typeface="Arial" pitchFamily="34" charset="0"/>
                <a:ea typeface="Arial" pitchFamily="34" charset="-122"/>
                <a:cs typeface="Arial" pitchFamily="34" charset="-120"/>
              </a:rPr>
              <a:t>20+</a:t>
            </a:r>
            <a:endParaRPr lang="en-US"/>
          </a:p>
        </p:txBody>
      </p:sp>
      <p:sp>
        <p:nvSpPr>
          <p:cNvPr id="10" name="num label 1"/>
          <p:cNvSpPr/>
          <p:nvPr/>
        </p:nvSpPr>
        <p:spPr>
          <a:xfrm>
            <a:off x="1632204" y="4400000"/>
            <a:ext cx="1000000" cy="250000"/>
          </a:xfrm>
          <a:prstGeom prst="rect">
            <a:avLst/>
          </a:prstGeom>
          <a:noFill/>
          <a:ln/>
        </p:spPr>
        <p:txBody>
          <a:bodyPr wrap="square" lIns="0" tIns="0" rIns="0" bIns="0" rtlCol="0" anchor="ctr"/>
          <a:lstStyle/>
          <a:p>
            <a:pPr marL="0" indent="0" algn="l">
              <a:buNone/>
            </a:pPr>
            <a:r>
              <a:rPr lang="en-US" sz="1100" kern="0">
                <a:solidFill>
                  <a:srgbClr val="8FA0B0"/>
                </a:solidFill>
                <a:latin typeface="Calibri" pitchFamily="34" charset="0"/>
                <a:ea typeface="Calibri" pitchFamily="34" charset="-122"/>
                <a:cs typeface="Calibri" pitchFamily="34" charset="-120"/>
              </a:rPr>
              <a:t>pm- processes</a:t>
            </a:r>
            <a:endParaRPr lang="en-US"/>
          </a:p>
        </p:txBody>
      </p:sp>
      <p:sp>
        <p:nvSpPr>
          <p:cNvPr id="11" name="num 2"/>
          <p:cNvSpPr/>
          <p:nvPr/>
        </p:nvSpPr>
        <p:spPr>
          <a:xfrm>
            <a:off x="2697480" y="3900000"/>
            <a:ext cx="1000000" cy="470000"/>
          </a:xfrm>
          <a:prstGeom prst="rect">
            <a:avLst/>
          </a:prstGeom>
          <a:noFill/>
          <a:ln/>
        </p:spPr>
        <p:txBody>
          <a:bodyPr wrap="square" lIns="0" tIns="0" rIns="0" bIns="0" rtlCol="0" anchor="ctr"/>
          <a:lstStyle/>
          <a:p>
            <a:pPr marL="0" indent="0" algn="l">
              <a:buNone/>
            </a:pPr>
            <a:r>
              <a:rPr lang="en-US" sz="3200" b="1" kern="0">
                <a:solidFill>
                  <a:srgbClr val="F2860D"/>
                </a:solidFill>
                <a:latin typeface="Arial" pitchFamily="34" charset="0"/>
                <a:ea typeface="Arial" pitchFamily="34" charset="-122"/>
                <a:cs typeface="Arial" pitchFamily="34" charset="-120"/>
              </a:rPr>
              <a:t>5</a:t>
            </a:r>
            <a:endParaRPr lang="en-US"/>
          </a:p>
        </p:txBody>
      </p:sp>
      <p:sp>
        <p:nvSpPr>
          <p:cNvPr id="12" name="num label 2"/>
          <p:cNvSpPr/>
          <p:nvPr/>
        </p:nvSpPr>
        <p:spPr>
          <a:xfrm>
            <a:off x="2697480" y="4400000"/>
            <a:ext cx="1000000" cy="250000"/>
          </a:xfrm>
          <a:prstGeom prst="rect">
            <a:avLst/>
          </a:prstGeom>
          <a:noFill/>
          <a:ln/>
        </p:spPr>
        <p:txBody>
          <a:bodyPr wrap="square" lIns="0" tIns="0" rIns="0" bIns="0" rtlCol="0" anchor="ctr"/>
          <a:lstStyle/>
          <a:p>
            <a:pPr marL="0" indent="0" algn="l">
              <a:buNone/>
            </a:pPr>
            <a:r>
              <a:rPr lang="en-US" sz="1100" kern="0">
                <a:solidFill>
                  <a:srgbClr val="8FA0B0"/>
                </a:solidFill>
                <a:latin typeface="Calibri" pitchFamily="34" charset="0"/>
                <a:ea typeface="Calibri" pitchFamily="34" charset="-122"/>
                <a:cs typeface="Calibri" pitchFamily="34" charset="-120"/>
              </a:rPr>
              <a:t>Risk controls</a:t>
            </a:r>
            <a:endParaRPr lang="en-US"/>
          </a:p>
        </p:txBody>
      </p:sp>
      <p:sp>
        <p:nvSpPr>
          <p:cNvPr id="13" name="num 3">
            <a:extLst>
              <a:ext uri="{C183D7F6-B498-43B3-948B-1728B52AA6E4}">
                <adec:decorative xmlns:adec="http://schemas.microsoft.com/office/drawing/2017/decorative" val="1"/>
              </a:ext>
            </a:extLst>
          </p:cNvPr>
          <p:cNvSpPr/>
          <p:nvPr/>
        </p:nvSpPr>
        <p:spPr>
          <a:xfrm>
            <a:off x="3762756" y="3900000"/>
            <a:ext cx="1000000" cy="470000"/>
          </a:xfrm>
          <a:prstGeom prst="rect">
            <a:avLst/>
          </a:prstGeom>
          <a:noFill/>
          <a:ln/>
        </p:spPr>
        <p:txBody>
          <a:bodyPr wrap="square" lIns="0" tIns="0" rIns="0" bIns="0" rtlCol="0" anchor="ctr"/>
          <a:lstStyle/>
          <a:p>
            <a:pPr marL="0" indent="0" algn="l">
              <a:buNone/>
            </a:pPr>
            <a:r>
              <a:rPr lang="en-US" sz="3200" b="1" kern="0">
                <a:solidFill>
                  <a:srgbClr val="F2860D"/>
                </a:solidFill>
                <a:latin typeface="Arial" pitchFamily="34" charset="0"/>
                <a:ea typeface="Arial" pitchFamily="34" charset="-122"/>
                <a:cs typeface="Arial" pitchFamily="34" charset="-120"/>
              </a:rPr>
              <a:t>4</a:t>
            </a:r>
            <a:endParaRPr lang="en-US"/>
          </a:p>
        </p:txBody>
      </p:sp>
      <p:sp>
        <p:nvSpPr>
          <p:cNvPr id="14" name="num label 3">
            <a:extLst>
              <a:ext uri="{C183D7F6-B498-43B3-948B-1728B52AA6E4}">
                <adec:decorative xmlns:adec="http://schemas.microsoft.com/office/drawing/2017/decorative" val="1"/>
              </a:ext>
            </a:extLst>
          </p:cNvPr>
          <p:cNvSpPr/>
          <p:nvPr/>
        </p:nvSpPr>
        <p:spPr>
          <a:xfrm>
            <a:off x="3762756" y="4400000"/>
            <a:ext cx="1000000" cy="250000"/>
          </a:xfrm>
          <a:prstGeom prst="rect">
            <a:avLst/>
          </a:prstGeom>
          <a:noFill/>
          <a:ln/>
        </p:spPr>
        <p:txBody>
          <a:bodyPr wrap="square" lIns="0" tIns="0" rIns="0" bIns="0" rtlCol="0" anchor="ctr"/>
          <a:lstStyle/>
          <a:p>
            <a:pPr marL="0" indent="0" algn="l">
              <a:buNone/>
            </a:pPr>
            <a:r>
              <a:rPr lang="en-US" sz="1100" kern="0">
                <a:solidFill>
                  <a:srgbClr val="8FA0B0"/>
                </a:solidFill>
                <a:latin typeface="Calibri" pitchFamily="34" charset="0"/>
                <a:ea typeface="Calibri" pitchFamily="34" charset="-122"/>
                <a:cs typeface="Calibri" pitchFamily="34" charset="-120"/>
              </a:rPr>
              <a:t>Protocols</a:t>
            </a:r>
            <a:endParaRPr lang="en-US"/>
          </a:p>
        </p:txBody>
      </p:sp>
      <p:sp>
        <p:nvSpPr>
          <p:cNvPr id="15" name="card">
            <a:extLst>
              <a:ext uri="{C183D7F6-B498-43B3-948B-1728B52AA6E4}">
                <adec:decorative xmlns:adec="http://schemas.microsoft.com/office/drawing/2017/decorative" val="1"/>
              </a:ext>
            </a:extLst>
          </p:cNvPr>
          <p:cNvSpPr/>
          <p:nvPr/>
        </p:nvSpPr>
        <p:spPr>
          <a:xfrm>
            <a:off x="4828032" y="1426464"/>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6" name="chip accent">
            <a:extLst>
              <a:ext uri="{C183D7F6-B498-43B3-948B-1728B52AA6E4}">
                <adec:decorative xmlns:adec="http://schemas.microsoft.com/office/drawing/2017/decorative" val="1"/>
              </a:ext>
            </a:extLst>
          </p:cNvPr>
          <p:cNvSpPr/>
          <p:nvPr/>
        </p:nvSpPr>
        <p:spPr>
          <a:xfrm>
            <a:off x="4828032" y="1426464"/>
            <a:ext cx="64008" cy="440000"/>
          </a:xfrm>
          <a:prstGeom prst="rect">
            <a:avLst/>
          </a:prstGeom>
          <a:solidFill>
            <a:srgbClr val="F2860D"/>
          </a:solidFill>
          <a:ln/>
        </p:spPr>
        <p:txBody>
          <a:bodyPr/>
          <a:lstStyle/>
          <a:p>
            <a:endParaRPr lang="en-SE"/>
          </a:p>
        </p:txBody>
      </p:sp>
      <p:sp>
        <p:nvSpPr>
          <p:cNvPr id="17" name="chip text">
            <a:extLst>
              <a:ext uri="{C183D7F6-B498-43B3-948B-1728B52AA6E4}">
                <adec:decorative xmlns:adec="http://schemas.microsoft.com/office/drawing/2017/decorative" val="1"/>
              </a:ext>
            </a:extLst>
          </p:cNvPr>
          <p:cNvSpPr/>
          <p:nvPr/>
        </p:nvSpPr>
        <p:spPr>
          <a:xfrm>
            <a:off x="5010912" y="1426464"/>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Continuous order book</a:t>
            </a:r>
            <a:endParaRPr lang="en-US"/>
          </a:p>
        </p:txBody>
      </p:sp>
      <p:sp>
        <p:nvSpPr>
          <p:cNvPr id="18" name="card">
            <a:extLst>
              <a:ext uri="{C183D7F6-B498-43B3-948B-1728B52AA6E4}">
                <adec:decorative xmlns:adec="http://schemas.microsoft.com/office/drawing/2017/decorative" val="1"/>
              </a:ext>
            </a:extLst>
          </p:cNvPr>
          <p:cNvSpPr/>
          <p:nvPr/>
        </p:nvSpPr>
        <p:spPr>
          <a:xfrm>
            <a:off x="6949440" y="1426464"/>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9" name="chip accent">
            <a:extLst>
              <a:ext uri="{C183D7F6-B498-43B3-948B-1728B52AA6E4}">
                <adec:decorative xmlns:adec="http://schemas.microsoft.com/office/drawing/2017/decorative" val="1"/>
              </a:ext>
            </a:extLst>
          </p:cNvPr>
          <p:cNvSpPr/>
          <p:nvPr/>
        </p:nvSpPr>
        <p:spPr>
          <a:xfrm>
            <a:off x="6949440" y="1426464"/>
            <a:ext cx="64008" cy="440000"/>
          </a:xfrm>
          <a:prstGeom prst="rect">
            <a:avLst/>
          </a:prstGeom>
          <a:solidFill>
            <a:srgbClr val="F2860D"/>
          </a:solidFill>
          <a:ln/>
        </p:spPr>
        <p:txBody>
          <a:bodyPr/>
          <a:lstStyle/>
          <a:p>
            <a:endParaRPr lang="en-SE"/>
          </a:p>
        </p:txBody>
      </p:sp>
      <p:sp>
        <p:nvSpPr>
          <p:cNvPr id="20" name="chip text">
            <a:extLst>
              <a:ext uri="{C183D7F6-B498-43B3-948B-1728B52AA6E4}">
                <adec:decorative xmlns:adec="http://schemas.microsoft.com/office/drawing/2017/decorative" val="1"/>
              </a:ext>
            </a:extLst>
          </p:cNvPr>
          <p:cNvSpPr/>
          <p:nvPr/>
        </p:nvSpPr>
        <p:spPr>
          <a:xfrm>
            <a:off x="7132320" y="1426464"/>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Opening &amp; closing auctions</a:t>
            </a:r>
            <a:endParaRPr lang="en-US"/>
          </a:p>
        </p:txBody>
      </p:sp>
      <p:sp>
        <p:nvSpPr>
          <p:cNvPr id="21" name="card">
            <a:extLst>
              <a:ext uri="{C183D7F6-B498-43B3-948B-1728B52AA6E4}">
                <adec:decorative xmlns:adec="http://schemas.microsoft.com/office/drawing/2017/decorative" val="1"/>
              </a:ext>
            </a:extLst>
          </p:cNvPr>
          <p:cNvSpPr/>
          <p:nvPr/>
        </p:nvSpPr>
        <p:spPr>
          <a:xfrm>
            <a:off x="4828032" y="1946148"/>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2" name="chip accent">
            <a:extLst>
              <a:ext uri="{C183D7F6-B498-43B3-948B-1728B52AA6E4}">
                <adec:decorative xmlns:adec="http://schemas.microsoft.com/office/drawing/2017/decorative" val="1"/>
              </a:ext>
            </a:extLst>
          </p:cNvPr>
          <p:cNvSpPr/>
          <p:nvPr/>
        </p:nvSpPr>
        <p:spPr>
          <a:xfrm>
            <a:off x="4828032" y="1946148"/>
            <a:ext cx="64008" cy="440000"/>
          </a:xfrm>
          <a:prstGeom prst="rect">
            <a:avLst/>
          </a:prstGeom>
          <a:solidFill>
            <a:srgbClr val="F2860D"/>
          </a:solidFill>
          <a:ln/>
        </p:spPr>
        <p:txBody>
          <a:bodyPr/>
          <a:lstStyle/>
          <a:p>
            <a:endParaRPr lang="en-SE"/>
          </a:p>
        </p:txBody>
      </p:sp>
      <p:sp>
        <p:nvSpPr>
          <p:cNvPr id="23" name="chip text">
            <a:extLst>
              <a:ext uri="{C183D7F6-B498-43B3-948B-1728B52AA6E4}">
                <adec:decorative xmlns:adec="http://schemas.microsoft.com/office/drawing/2017/decorative" val="1"/>
              </a:ext>
            </a:extLst>
          </p:cNvPr>
          <p:cNvSpPr/>
          <p:nvPr/>
        </p:nvSpPr>
        <p:spPr>
          <a:xfrm>
            <a:off x="5010912" y="1946148"/>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Market-maker quoting</a:t>
            </a:r>
            <a:endParaRPr lang="en-US"/>
          </a:p>
        </p:txBody>
      </p:sp>
      <p:sp>
        <p:nvSpPr>
          <p:cNvPr id="24" name="card">
            <a:extLst>
              <a:ext uri="{C183D7F6-B498-43B3-948B-1728B52AA6E4}">
                <adec:decorative xmlns:adec="http://schemas.microsoft.com/office/drawing/2017/decorative" val="1"/>
              </a:ext>
            </a:extLst>
          </p:cNvPr>
          <p:cNvSpPr/>
          <p:nvPr/>
        </p:nvSpPr>
        <p:spPr>
          <a:xfrm>
            <a:off x="6949440" y="1946148"/>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5" name="chip accent">
            <a:extLst>
              <a:ext uri="{C183D7F6-B498-43B3-948B-1728B52AA6E4}">
                <adec:decorative xmlns:adec="http://schemas.microsoft.com/office/drawing/2017/decorative" val="1"/>
              </a:ext>
            </a:extLst>
          </p:cNvPr>
          <p:cNvSpPr/>
          <p:nvPr/>
        </p:nvSpPr>
        <p:spPr>
          <a:xfrm>
            <a:off x="6949440" y="1946148"/>
            <a:ext cx="64008" cy="440000"/>
          </a:xfrm>
          <a:prstGeom prst="rect">
            <a:avLst/>
          </a:prstGeom>
          <a:solidFill>
            <a:srgbClr val="F2860D"/>
          </a:solidFill>
          <a:ln/>
        </p:spPr>
        <p:txBody>
          <a:bodyPr/>
          <a:lstStyle/>
          <a:p>
            <a:endParaRPr lang="en-SE"/>
          </a:p>
        </p:txBody>
      </p:sp>
      <p:sp>
        <p:nvSpPr>
          <p:cNvPr id="26" name="chip text">
            <a:extLst>
              <a:ext uri="{C183D7F6-B498-43B3-948B-1728B52AA6E4}">
                <adec:decorative xmlns:adec="http://schemas.microsoft.com/office/drawing/2017/decorative" val="1"/>
              </a:ext>
            </a:extLst>
          </p:cNvPr>
          <p:cNvSpPr/>
          <p:nvPr/>
        </p:nvSpPr>
        <p:spPr>
          <a:xfrm>
            <a:off x="7132320" y="1946148"/>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Price collars &amp; circuit breakers</a:t>
            </a:r>
            <a:endParaRPr lang="en-US"/>
          </a:p>
        </p:txBody>
      </p:sp>
      <p:sp>
        <p:nvSpPr>
          <p:cNvPr id="27" name="card">
            <a:extLst>
              <a:ext uri="{C183D7F6-B498-43B3-948B-1728B52AA6E4}">
                <adec:decorative xmlns:adec="http://schemas.microsoft.com/office/drawing/2017/decorative" val="1"/>
              </a:ext>
            </a:extLst>
          </p:cNvPr>
          <p:cNvSpPr/>
          <p:nvPr/>
        </p:nvSpPr>
        <p:spPr>
          <a:xfrm>
            <a:off x="4828032" y="2465832"/>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8" name="chip accent">
            <a:extLst>
              <a:ext uri="{C183D7F6-B498-43B3-948B-1728B52AA6E4}">
                <adec:decorative xmlns:adec="http://schemas.microsoft.com/office/drawing/2017/decorative" val="1"/>
              </a:ext>
            </a:extLst>
          </p:cNvPr>
          <p:cNvSpPr/>
          <p:nvPr/>
        </p:nvSpPr>
        <p:spPr>
          <a:xfrm>
            <a:off x="4828032" y="2465832"/>
            <a:ext cx="64008" cy="440000"/>
          </a:xfrm>
          <a:prstGeom prst="rect">
            <a:avLst/>
          </a:prstGeom>
          <a:solidFill>
            <a:srgbClr val="F2860D"/>
          </a:solidFill>
          <a:ln/>
        </p:spPr>
        <p:txBody>
          <a:bodyPr/>
          <a:lstStyle/>
          <a:p>
            <a:endParaRPr lang="en-SE"/>
          </a:p>
        </p:txBody>
      </p:sp>
      <p:sp>
        <p:nvSpPr>
          <p:cNvPr id="29" name="chip text">
            <a:extLst>
              <a:ext uri="{C183D7F6-B498-43B3-948B-1728B52AA6E4}">
                <adec:decorative xmlns:adec="http://schemas.microsoft.com/office/drawing/2017/decorative" val="1"/>
              </a:ext>
            </a:extLst>
          </p:cNvPr>
          <p:cNvSpPr/>
          <p:nvPr/>
        </p:nvSpPr>
        <p:spPr>
          <a:xfrm>
            <a:off x="5010912" y="2465832"/>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Combo &amp; OCO strategies</a:t>
            </a:r>
            <a:endParaRPr lang="en-US"/>
          </a:p>
        </p:txBody>
      </p:sp>
      <p:sp>
        <p:nvSpPr>
          <p:cNvPr id="30" name="card">
            <a:extLst>
              <a:ext uri="{C183D7F6-B498-43B3-948B-1728B52AA6E4}">
                <adec:decorative xmlns:adec="http://schemas.microsoft.com/office/drawing/2017/decorative" val="1"/>
              </a:ext>
            </a:extLst>
          </p:cNvPr>
          <p:cNvSpPr/>
          <p:nvPr/>
        </p:nvSpPr>
        <p:spPr>
          <a:xfrm>
            <a:off x="6949440" y="2465832"/>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1" name="chip accent">
            <a:extLst>
              <a:ext uri="{C183D7F6-B498-43B3-948B-1728B52AA6E4}">
                <adec:decorative xmlns:adec="http://schemas.microsoft.com/office/drawing/2017/decorative" val="1"/>
              </a:ext>
            </a:extLst>
          </p:cNvPr>
          <p:cNvSpPr/>
          <p:nvPr/>
        </p:nvSpPr>
        <p:spPr>
          <a:xfrm>
            <a:off x="6949440" y="2465832"/>
            <a:ext cx="64008" cy="440000"/>
          </a:xfrm>
          <a:prstGeom prst="rect">
            <a:avLst/>
          </a:prstGeom>
          <a:solidFill>
            <a:srgbClr val="F2860D"/>
          </a:solidFill>
          <a:ln/>
        </p:spPr>
        <p:txBody>
          <a:bodyPr/>
          <a:lstStyle/>
          <a:p>
            <a:endParaRPr lang="en-SE"/>
          </a:p>
        </p:txBody>
      </p:sp>
      <p:sp>
        <p:nvSpPr>
          <p:cNvPr id="32" name="chip text">
            <a:extLst>
              <a:ext uri="{C183D7F6-B498-43B3-948B-1728B52AA6E4}">
                <adec:decorative xmlns:adec="http://schemas.microsoft.com/office/drawing/2017/decorative" val="1"/>
              </a:ext>
            </a:extLst>
          </p:cNvPr>
          <p:cNvSpPr/>
          <p:nvPr/>
        </p:nvSpPr>
        <p:spPr>
          <a:xfrm>
            <a:off x="7132320" y="2465832"/>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OHLCV / VWAP statistics</a:t>
            </a:r>
            <a:endParaRPr lang="en-US"/>
          </a:p>
        </p:txBody>
      </p:sp>
      <p:sp>
        <p:nvSpPr>
          <p:cNvPr id="33" name="card">
            <a:extLst>
              <a:ext uri="{C183D7F6-B498-43B3-948B-1728B52AA6E4}">
                <adec:decorative xmlns:adec="http://schemas.microsoft.com/office/drawing/2017/decorative" val="1"/>
              </a:ext>
            </a:extLst>
          </p:cNvPr>
          <p:cNvSpPr/>
          <p:nvPr/>
        </p:nvSpPr>
        <p:spPr>
          <a:xfrm>
            <a:off x="4828032" y="2985516"/>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4" name="chip accent">
            <a:extLst>
              <a:ext uri="{C183D7F6-B498-43B3-948B-1728B52AA6E4}">
                <adec:decorative xmlns:adec="http://schemas.microsoft.com/office/drawing/2017/decorative" val="1"/>
              </a:ext>
            </a:extLst>
          </p:cNvPr>
          <p:cNvSpPr/>
          <p:nvPr/>
        </p:nvSpPr>
        <p:spPr>
          <a:xfrm>
            <a:off x="4828032" y="2985516"/>
            <a:ext cx="64008" cy="440000"/>
          </a:xfrm>
          <a:prstGeom prst="rect">
            <a:avLst/>
          </a:prstGeom>
          <a:solidFill>
            <a:srgbClr val="F2860D"/>
          </a:solidFill>
          <a:ln/>
        </p:spPr>
        <p:txBody>
          <a:bodyPr/>
          <a:lstStyle/>
          <a:p>
            <a:endParaRPr lang="en-SE"/>
          </a:p>
        </p:txBody>
      </p:sp>
      <p:sp>
        <p:nvSpPr>
          <p:cNvPr id="35" name="chip text">
            <a:extLst>
              <a:ext uri="{C183D7F6-B498-43B3-948B-1728B52AA6E4}">
                <adec:decorative xmlns:adec="http://schemas.microsoft.com/office/drawing/2017/decorative" val="1"/>
              </a:ext>
            </a:extLst>
          </p:cNvPr>
          <p:cNvSpPr/>
          <p:nvPr/>
        </p:nvSpPr>
        <p:spPr>
          <a:xfrm>
            <a:off x="5010912" y="2985516"/>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Drop-copy compliance feed</a:t>
            </a:r>
            <a:endParaRPr lang="en-US"/>
          </a:p>
        </p:txBody>
      </p:sp>
      <p:sp>
        <p:nvSpPr>
          <p:cNvPr id="36" name="card">
            <a:extLst>
              <a:ext uri="{C183D7F6-B498-43B3-948B-1728B52AA6E4}">
                <adec:decorative xmlns:adec="http://schemas.microsoft.com/office/drawing/2017/decorative" val="1"/>
              </a:ext>
            </a:extLst>
          </p:cNvPr>
          <p:cNvSpPr/>
          <p:nvPr/>
        </p:nvSpPr>
        <p:spPr>
          <a:xfrm>
            <a:off x="6949440" y="2985516"/>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7" name="chip accent">
            <a:extLst>
              <a:ext uri="{C183D7F6-B498-43B3-948B-1728B52AA6E4}">
                <adec:decorative xmlns:adec="http://schemas.microsoft.com/office/drawing/2017/decorative" val="1"/>
              </a:ext>
            </a:extLst>
          </p:cNvPr>
          <p:cNvSpPr/>
          <p:nvPr/>
        </p:nvSpPr>
        <p:spPr>
          <a:xfrm>
            <a:off x="6949440" y="2985516"/>
            <a:ext cx="64008" cy="440000"/>
          </a:xfrm>
          <a:prstGeom prst="rect">
            <a:avLst/>
          </a:prstGeom>
          <a:solidFill>
            <a:srgbClr val="F2860D"/>
          </a:solidFill>
          <a:ln/>
        </p:spPr>
        <p:txBody>
          <a:bodyPr/>
          <a:lstStyle/>
          <a:p>
            <a:endParaRPr lang="en-SE"/>
          </a:p>
        </p:txBody>
      </p:sp>
      <p:sp>
        <p:nvSpPr>
          <p:cNvPr id="38" name="chip text"/>
          <p:cNvSpPr/>
          <p:nvPr/>
        </p:nvSpPr>
        <p:spPr>
          <a:xfrm>
            <a:off x="7132320" y="2985516"/>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Autonomous AI traders</a:t>
            </a:r>
            <a:endParaRPr lang="en-US"/>
          </a:p>
        </p:txBody>
      </p:sp>
      <p:sp>
        <p:nvSpPr>
          <p:cNvPr id="39" name="card">
            <a:extLst>
              <a:ext uri="{C183D7F6-B498-43B3-948B-1728B52AA6E4}">
                <adec:decorative xmlns:adec="http://schemas.microsoft.com/office/drawing/2017/decorative" val="1"/>
              </a:ext>
            </a:extLst>
          </p:cNvPr>
          <p:cNvSpPr/>
          <p:nvPr/>
        </p:nvSpPr>
        <p:spPr>
          <a:xfrm>
            <a:off x="4828032" y="3505200"/>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40" name="chip accent">
            <a:extLst>
              <a:ext uri="{C183D7F6-B498-43B3-948B-1728B52AA6E4}">
                <adec:decorative xmlns:adec="http://schemas.microsoft.com/office/drawing/2017/decorative" val="1"/>
              </a:ext>
            </a:extLst>
          </p:cNvPr>
          <p:cNvSpPr/>
          <p:nvPr/>
        </p:nvSpPr>
        <p:spPr>
          <a:xfrm>
            <a:off x="4828032" y="3505200"/>
            <a:ext cx="64008" cy="440000"/>
          </a:xfrm>
          <a:prstGeom prst="rect">
            <a:avLst/>
          </a:prstGeom>
          <a:solidFill>
            <a:srgbClr val="F2860D"/>
          </a:solidFill>
          <a:ln/>
        </p:spPr>
        <p:txBody>
          <a:bodyPr/>
          <a:lstStyle/>
          <a:p>
            <a:endParaRPr lang="en-SE"/>
          </a:p>
        </p:txBody>
      </p:sp>
      <p:sp>
        <p:nvSpPr>
          <p:cNvPr id="41" name="chip text"/>
          <p:cNvSpPr/>
          <p:nvPr/>
        </p:nvSpPr>
        <p:spPr>
          <a:xfrm>
            <a:off x="5010912" y="3505200"/>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Real-time market data &amp; index</a:t>
            </a:r>
            <a:endParaRPr lang="en-US"/>
          </a:p>
        </p:txBody>
      </p:sp>
      <p:sp>
        <p:nvSpPr>
          <p:cNvPr id="42" name="card">
            <a:extLst>
              <a:ext uri="{C183D7F6-B498-43B3-948B-1728B52AA6E4}">
                <adec:decorative xmlns:adec="http://schemas.microsoft.com/office/drawing/2017/decorative" val="1"/>
              </a:ext>
            </a:extLst>
          </p:cNvPr>
          <p:cNvSpPr/>
          <p:nvPr/>
        </p:nvSpPr>
        <p:spPr>
          <a:xfrm>
            <a:off x="6949440" y="3505200"/>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43" name="chip accent">
            <a:extLst>
              <a:ext uri="{C183D7F6-B498-43B3-948B-1728B52AA6E4}">
                <adec:decorative xmlns:adec="http://schemas.microsoft.com/office/drawing/2017/decorative" val="1"/>
              </a:ext>
            </a:extLst>
          </p:cNvPr>
          <p:cNvSpPr/>
          <p:nvPr/>
        </p:nvSpPr>
        <p:spPr>
          <a:xfrm>
            <a:off x="6949440" y="3505200"/>
            <a:ext cx="64008" cy="440000"/>
          </a:xfrm>
          <a:prstGeom prst="rect">
            <a:avLst/>
          </a:prstGeom>
          <a:solidFill>
            <a:srgbClr val="F2860D"/>
          </a:solidFill>
          <a:ln/>
        </p:spPr>
        <p:txBody>
          <a:bodyPr/>
          <a:lstStyle/>
          <a:p>
            <a:endParaRPr lang="en-SE"/>
          </a:p>
        </p:txBody>
      </p:sp>
      <p:sp>
        <p:nvSpPr>
          <p:cNvPr id="44" name="chip text"/>
          <p:cNvSpPr/>
          <p:nvPr/>
        </p:nvSpPr>
        <p:spPr>
          <a:xfrm>
            <a:off x="7132320" y="3505200"/>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State persistence across restarts</a:t>
            </a:r>
            <a:endParaRPr lang="en-US"/>
          </a:p>
        </p:txBody>
      </p:sp>
      <p:sp>
        <p:nvSpPr>
          <p:cNvPr id="45" name="card">
            <a:extLst>
              <a:ext uri="{C183D7F6-B498-43B3-948B-1728B52AA6E4}">
                <adec:decorative xmlns:adec="http://schemas.microsoft.com/office/drawing/2017/decorative" val="1"/>
              </a:ext>
            </a:extLst>
          </p:cNvPr>
          <p:cNvSpPr/>
          <p:nvPr/>
        </p:nvSpPr>
        <p:spPr>
          <a:xfrm>
            <a:off x="4828032" y="4024884"/>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46" name="chip accent">
            <a:extLst>
              <a:ext uri="{C183D7F6-B498-43B3-948B-1728B52AA6E4}">
                <adec:decorative xmlns:adec="http://schemas.microsoft.com/office/drawing/2017/decorative" val="1"/>
              </a:ext>
            </a:extLst>
          </p:cNvPr>
          <p:cNvSpPr/>
          <p:nvPr/>
        </p:nvSpPr>
        <p:spPr>
          <a:xfrm>
            <a:off x="4828032" y="4024884"/>
            <a:ext cx="64008" cy="440000"/>
          </a:xfrm>
          <a:prstGeom prst="rect">
            <a:avLst/>
          </a:prstGeom>
          <a:solidFill>
            <a:srgbClr val="F2860D"/>
          </a:solidFill>
          <a:ln/>
        </p:spPr>
        <p:txBody>
          <a:bodyPr/>
          <a:lstStyle/>
          <a:p>
            <a:endParaRPr lang="en-SE"/>
          </a:p>
        </p:txBody>
      </p:sp>
      <p:sp>
        <p:nvSpPr>
          <p:cNvPr id="47" name="chip text"/>
          <p:cNvSpPr/>
          <p:nvPr/>
        </p:nvSpPr>
        <p:spPr>
          <a:xfrm>
            <a:off x="5010912" y="4024884"/>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Multi-protocol access</a:t>
            </a:r>
            <a:endParaRPr lang="en-US"/>
          </a:p>
        </p:txBody>
      </p:sp>
      <p:sp>
        <p:nvSpPr>
          <p:cNvPr id="48" name="card">
            <a:extLst>
              <a:ext uri="{C183D7F6-B498-43B3-948B-1728B52AA6E4}">
                <adec:decorative xmlns:adec="http://schemas.microsoft.com/office/drawing/2017/decorative" val="1"/>
              </a:ext>
            </a:extLst>
          </p:cNvPr>
          <p:cNvSpPr/>
          <p:nvPr/>
        </p:nvSpPr>
        <p:spPr>
          <a:xfrm>
            <a:off x="6949440" y="4024884"/>
            <a:ext cx="1975104" cy="44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49" name="chip accent">
            <a:extLst>
              <a:ext uri="{C183D7F6-B498-43B3-948B-1728B52AA6E4}">
                <adec:decorative xmlns:adec="http://schemas.microsoft.com/office/drawing/2017/decorative" val="1"/>
              </a:ext>
            </a:extLst>
          </p:cNvPr>
          <p:cNvSpPr/>
          <p:nvPr/>
        </p:nvSpPr>
        <p:spPr>
          <a:xfrm>
            <a:off x="6949440" y="4024884"/>
            <a:ext cx="64008" cy="440000"/>
          </a:xfrm>
          <a:prstGeom prst="rect">
            <a:avLst/>
          </a:prstGeom>
          <a:solidFill>
            <a:srgbClr val="F2860D"/>
          </a:solidFill>
          <a:ln/>
        </p:spPr>
        <p:txBody>
          <a:bodyPr/>
          <a:lstStyle/>
          <a:p>
            <a:endParaRPr lang="en-SE"/>
          </a:p>
        </p:txBody>
      </p:sp>
      <p:sp>
        <p:nvSpPr>
          <p:cNvPr id="50" name="chip text"/>
          <p:cNvSpPr/>
          <p:nvPr/>
        </p:nvSpPr>
        <p:spPr>
          <a:xfrm>
            <a:off x="7132320" y="4024884"/>
            <a:ext cx="1700784" cy="440000"/>
          </a:xfrm>
          <a:prstGeom prst="rect">
            <a:avLst/>
          </a:prstGeom>
          <a:noFill/>
          <a:ln/>
        </p:spPr>
        <p:txBody>
          <a:bodyPr wrap="square" lIns="0" tIns="0" rIns="0" bIns="0" rtlCol="0" anchor="ctr"/>
          <a:lstStyle/>
          <a:p>
            <a:pPr marL="0" indent="0" algn="l">
              <a:buNone/>
            </a:pPr>
            <a:r>
              <a:rPr lang="en-US" sz="1200" b="1" kern="0">
                <a:solidFill>
                  <a:srgbClr val="ECECEC"/>
                </a:solidFill>
                <a:latin typeface="Calibri" pitchFamily="34" charset="0"/>
                <a:ea typeface="Calibri" pitchFamily="34" charset="-122"/>
                <a:cs typeface="Calibri" pitchFamily="34" charset="-120"/>
              </a:rPr>
              <a:t>Config-driven reference data</a:t>
            </a:r>
            <a:endParaRPr lang="en-US"/>
          </a:p>
        </p:txBody>
      </p:sp>
      <p:sp>
        <p:nvSpPr>
          <p:cNvPr id="51"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52"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02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02 · HOW IT WORKS</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How an order flows through the system</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783080"/>
            <a:ext cx="1783080" cy="1737360"/>
          </a:xfrm>
          <a:prstGeom prst="roundRect">
            <a:avLst>
              <a:gd name="adj" fmla="val 315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Text 4"/>
          <p:cNvSpPr/>
          <p:nvPr/>
        </p:nvSpPr>
        <p:spPr>
          <a:xfrm>
            <a:off x="731520" y="1929384"/>
            <a:ext cx="914400" cy="365760"/>
          </a:xfrm>
          <a:prstGeom prst="rect">
            <a:avLst/>
          </a:prstGeom>
          <a:noFill/>
          <a:ln/>
        </p:spPr>
        <p:txBody>
          <a:bodyPr wrap="square" lIns="0" tIns="0" rIns="0" bIns="0" rtlCol="0" anchor="ctr"/>
          <a:lstStyle/>
          <a:p>
            <a:pPr marL="0" indent="0">
              <a:buNone/>
            </a:pPr>
            <a:r>
              <a:rPr lang="en-US" sz="1500" b="1" dirty="0">
                <a:solidFill>
                  <a:srgbClr val="F2860D"/>
                </a:solidFill>
                <a:latin typeface="Courier New" pitchFamily="34" charset="0"/>
                <a:ea typeface="Courier New" pitchFamily="34" charset="-122"/>
                <a:cs typeface="Courier New" pitchFamily="34" charset="-120"/>
              </a:rPr>
              <a:t>01</a:t>
            </a:r>
            <a:endParaRPr lang="en-US" sz="1500" dirty="0"/>
          </a:p>
        </p:txBody>
      </p:sp>
      <p:sp>
        <p:nvSpPr>
          <p:cNvPr id="7" name="Text 5"/>
          <p:cNvSpPr/>
          <p:nvPr/>
        </p:nvSpPr>
        <p:spPr>
          <a:xfrm>
            <a:off x="731520" y="2331720"/>
            <a:ext cx="1508760" cy="365760"/>
          </a:xfrm>
          <a:prstGeom prst="rect">
            <a:avLst/>
          </a:prstGeom>
          <a:noFill/>
          <a:ln/>
        </p:spPr>
        <p:txBody>
          <a:bodyPr wrap="square" lIns="0" tIns="0" rIns="0" bIns="0" rtlCol="0" anchor="ctr"/>
          <a:lstStyle/>
          <a:p>
            <a:pPr marL="0" indent="0">
              <a:buNone/>
            </a:pPr>
            <a:r>
              <a:rPr lang="en-US" sz="1300" b="1" dirty="0">
                <a:solidFill>
                  <a:srgbClr val="ECECEC"/>
                </a:solidFill>
                <a:latin typeface="Arial" pitchFamily="34" charset="0"/>
                <a:ea typeface="Arial" pitchFamily="34" charset="-122"/>
                <a:cs typeface="Arial" pitchFamily="34" charset="-120"/>
              </a:rPr>
              <a:t>Participant</a:t>
            </a:r>
            <a:endParaRPr lang="en-US" sz="1300" dirty="0"/>
          </a:p>
        </p:txBody>
      </p:sp>
      <p:sp>
        <p:nvSpPr>
          <p:cNvPr id="8" name="Text 6"/>
          <p:cNvSpPr/>
          <p:nvPr/>
        </p:nvSpPr>
        <p:spPr>
          <a:xfrm>
            <a:off x="731520" y="2715768"/>
            <a:ext cx="1472184" cy="731520"/>
          </a:xfrm>
          <a:prstGeom prst="rect">
            <a:avLst/>
          </a:prstGeom>
          <a:noFill/>
          <a:ln/>
        </p:spPr>
        <p:txBody>
          <a:bodyPr wrap="square" lIns="0" tIns="0" rIns="0" bIns="0" rtlCol="0" anchor="t"/>
          <a:lstStyle/>
          <a:p>
            <a:pPr marL="0" indent="0">
              <a:lnSpc>
                <a:spcPct val="105000"/>
              </a:lnSpc>
              <a:buNone/>
            </a:pPr>
            <a:r>
              <a:rPr lang="en-US" sz="1100" dirty="0">
                <a:solidFill>
                  <a:srgbClr val="B4B4BE"/>
                </a:solidFill>
                <a:latin typeface="Calibri" pitchFamily="34" charset="0"/>
                <a:ea typeface="Calibri" pitchFamily="34" charset="-122"/>
                <a:cs typeface="Calibri" pitchFamily="34" charset="-120"/>
              </a:rPr>
              <a:t>Types an ALF command at the gateway terminal to place an order.</a:t>
            </a:r>
            <a:endParaRPr lang="en-US" sz="1100" dirty="0"/>
          </a:p>
        </p:txBody>
      </p:sp>
      <p:sp>
        <p:nvSpPr>
          <p:cNvPr id="9" name="flow arrow">
            <a:extLst>
              <a:ext uri="{C183D7F6-B498-43B3-948B-1728B52AA6E4}">
                <adec:decorative xmlns:adec="http://schemas.microsoft.com/office/drawing/2017/decorative" val="1"/>
              </a:ext>
            </a:extLst>
          </p:cNvPr>
          <p:cNvSpPr/>
          <p:nvPr/>
        </p:nvSpPr>
        <p:spPr>
          <a:xfrm>
            <a:off x="2404872" y="2651760"/>
            <a:ext cx="182880" cy="0"/>
          </a:xfrm>
          <a:prstGeom prst="line">
            <a:avLst/>
          </a:prstGeom>
          <a:noFill/>
          <a:ln w="25400">
            <a:solidFill>
              <a:srgbClr val="F2860D"/>
            </a:solidFill>
            <a:prstDash val="solid"/>
            <a:tailEnd type="triangle"/>
          </a:ln>
        </p:spPr>
        <p:txBody>
          <a:bodyPr/>
          <a:lstStyle/>
          <a:p>
            <a:endParaRPr lang="en-SE"/>
          </a:p>
        </p:txBody>
      </p:sp>
      <p:sp>
        <p:nvSpPr>
          <p:cNvPr id="10" name="card">
            <a:extLst>
              <a:ext uri="{C183D7F6-B498-43B3-948B-1728B52AA6E4}">
                <adec:decorative xmlns:adec="http://schemas.microsoft.com/office/drawing/2017/decorative" val="1"/>
              </a:ext>
            </a:extLst>
          </p:cNvPr>
          <p:cNvSpPr/>
          <p:nvPr/>
        </p:nvSpPr>
        <p:spPr>
          <a:xfrm>
            <a:off x="2642616" y="1783080"/>
            <a:ext cx="1783080" cy="1737360"/>
          </a:xfrm>
          <a:prstGeom prst="roundRect">
            <a:avLst>
              <a:gd name="adj" fmla="val 315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Text 9"/>
          <p:cNvSpPr/>
          <p:nvPr/>
        </p:nvSpPr>
        <p:spPr>
          <a:xfrm>
            <a:off x="2807208" y="1929384"/>
            <a:ext cx="914400" cy="365760"/>
          </a:xfrm>
          <a:prstGeom prst="rect">
            <a:avLst/>
          </a:prstGeom>
          <a:noFill/>
          <a:ln/>
        </p:spPr>
        <p:txBody>
          <a:bodyPr wrap="square" lIns="0" tIns="0" rIns="0" bIns="0" rtlCol="0" anchor="ctr"/>
          <a:lstStyle/>
          <a:p>
            <a:pPr marL="0" indent="0">
              <a:buNone/>
            </a:pPr>
            <a:r>
              <a:rPr lang="en-US" sz="1500" b="1" dirty="0">
                <a:solidFill>
                  <a:srgbClr val="F2860D"/>
                </a:solidFill>
                <a:latin typeface="Courier New" pitchFamily="34" charset="0"/>
                <a:ea typeface="Courier New" pitchFamily="34" charset="-122"/>
                <a:cs typeface="Courier New" pitchFamily="34" charset="-120"/>
              </a:rPr>
              <a:t>02</a:t>
            </a:r>
            <a:endParaRPr lang="en-US" sz="1500" dirty="0"/>
          </a:p>
        </p:txBody>
      </p:sp>
      <p:sp>
        <p:nvSpPr>
          <p:cNvPr id="12" name="Text 10"/>
          <p:cNvSpPr/>
          <p:nvPr/>
        </p:nvSpPr>
        <p:spPr>
          <a:xfrm>
            <a:off x="2807208" y="2331720"/>
            <a:ext cx="1508760" cy="365760"/>
          </a:xfrm>
          <a:prstGeom prst="rect">
            <a:avLst/>
          </a:prstGeom>
          <a:noFill/>
          <a:ln/>
        </p:spPr>
        <p:txBody>
          <a:bodyPr wrap="square" lIns="0" tIns="0" rIns="0" bIns="0" rtlCol="0" anchor="ctr"/>
          <a:lstStyle/>
          <a:p>
            <a:pPr marL="0" indent="0">
              <a:buNone/>
            </a:pPr>
            <a:r>
              <a:rPr lang="en-US" sz="1300" b="1" dirty="0">
                <a:solidFill>
                  <a:srgbClr val="ECECEC"/>
                </a:solidFill>
                <a:latin typeface="Arial" pitchFamily="34" charset="0"/>
                <a:ea typeface="Arial" pitchFamily="34" charset="-122"/>
                <a:cs typeface="Arial" pitchFamily="34" charset="-120"/>
              </a:rPr>
              <a:t>Gateway</a:t>
            </a:r>
            <a:endParaRPr lang="en-US" sz="1300" dirty="0"/>
          </a:p>
        </p:txBody>
      </p:sp>
      <p:sp>
        <p:nvSpPr>
          <p:cNvPr id="13" name="Text 11"/>
          <p:cNvSpPr/>
          <p:nvPr/>
        </p:nvSpPr>
        <p:spPr>
          <a:xfrm>
            <a:off x="2807208" y="2715768"/>
            <a:ext cx="1472184" cy="731520"/>
          </a:xfrm>
          <a:prstGeom prst="rect">
            <a:avLst/>
          </a:prstGeom>
          <a:noFill/>
          <a:ln/>
        </p:spPr>
        <p:txBody>
          <a:bodyPr wrap="square" lIns="0" tIns="0" rIns="0" bIns="0" rtlCol="0" anchor="t"/>
          <a:lstStyle/>
          <a:p>
            <a:pPr marL="0" indent="0">
              <a:lnSpc>
                <a:spcPct val="105000"/>
              </a:lnSpc>
              <a:buNone/>
            </a:pPr>
            <a:r>
              <a:rPr lang="en-US" sz="1100" dirty="0">
                <a:solidFill>
                  <a:srgbClr val="B4B4BE"/>
                </a:solidFill>
                <a:latin typeface="Calibri" pitchFamily="34" charset="0"/>
                <a:ea typeface="Calibri" pitchFamily="34" charset="-122"/>
                <a:cs typeface="Calibri" pitchFamily="34" charset="-120"/>
              </a:rPr>
              <a:t>pm-alf-console validates and forwards it over ZMQ PUSH :5555.</a:t>
            </a:r>
            <a:endParaRPr lang="en-US" sz="1100" dirty="0"/>
          </a:p>
        </p:txBody>
      </p:sp>
      <p:sp>
        <p:nvSpPr>
          <p:cNvPr id="14" name="flow arrow">
            <a:extLst>
              <a:ext uri="{C183D7F6-B498-43B3-948B-1728B52AA6E4}">
                <adec:decorative xmlns:adec="http://schemas.microsoft.com/office/drawing/2017/decorative" val="1"/>
              </a:ext>
            </a:extLst>
          </p:cNvPr>
          <p:cNvSpPr/>
          <p:nvPr/>
        </p:nvSpPr>
        <p:spPr>
          <a:xfrm>
            <a:off x="4480560" y="2651760"/>
            <a:ext cx="182880" cy="0"/>
          </a:xfrm>
          <a:prstGeom prst="line">
            <a:avLst/>
          </a:prstGeom>
          <a:noFill/>
          <a:ln w="25400">
            <a:solidFill>
              <a:srgbClr val="F2860D"/>
            </a:solidFill>
            <a:prstDash val="solid"/>
            <a:tailEnd type="triangle"/>
          </a:ln>
        </p:spPr>
        <p:txBody>
          <a:bodyPr/>
          <a:lstStyle/>
          <a:p>
            <a:endParaRPr lang="en-SE"/>
          </a:p>
        </p:txBody>
      </p:sp>
      <p:sp>
        <p:nvSpPr>
          <p:cNvPr id="15" name="card">
            <a:extLst>
              <a:ext uri="{C183D7F6-B498-43B3-948B-1728B52AA6E4}">
                <adec:decorative xmlns:adec="http://schemas.microsoft.com/office/drawing/2017/decorative" val="1"/>
              </a:ext>
            </a:extLst>
          </p:cNvPr>
          <p:cNvSpPr/>
          <p:nvPr/>
        </p:nvSpPr>
        <p:spPr>
          <a:xfrm>
            <a:off x="4718304" y="1783080"/>
            <a:ext cx="1783080" cy="1737360"/>
          </a:xfrm>
          <a:prstGeom prst="roundRect">
            <a:avLst>
              <a:gd name="adj" fmla="val 3158"/>
            </a:avLst>
          </a:prstGeom>
          <a:solidFill>
            <a:srgbClr val="2E2E37"/>
          </a:solidFill>
          <a:ln w="19050">
            <a:solidFill>
              <a:srgbClr val="F2860D"/>
            </a:solidFill>
            <a:prstDash val="solid"/>
          </a:ln>
          <a:effectLst>
            <a:outerShdw blurRad="114300" dist="38100" dir="5400000" algn="bl" rotWithShape="0">
              <a:srgbClr val="000000">
                <a:alpha val="35000"/>
              </a:srgbClr>
            </a:outerShdw>
          </a:effectLst>
        </p:spPr>
        <p:txBody>
          <a:bodyPr/>
          <a:lstStyle/>
          <a:p>
            <a:endParaRPr lang="en-SE"/>
          </a:p>
        </p:txBody>
      </p:sp>
      <p:sp>
        <p:nvSpPr>
          <p:cNvPr id="16" name="Text 14"/>
          <p:cNvSpPr/>
          <p:nvPr/>
        </p:nvSpPr>
        <p:spPr>
          <a:xfrm>
            <a:off x="4882896" y="1929384"/>
            <a:ext cx="914400" cy="365760"/>
          </a:xfrm>
          <a:prstGeom prst="rect">
            <a:avLst/>
          </a:prstGeom>
          <a:noFill/>
          <a:ln/>
        </p:spPr>
        <p:txBody>
          <a:bodyPr wrap="square" lIns="0" tIns="0" rIns="0" bIns="0" rtlCol="0" anchor="ctr"/>
          <a:lstStyle/>
          <a:p>
            <a:pPr marL="0" indent="0">
              <a:buNone/>
            </a:pPr>
            <a:r>
              <a:rPr lang="en-US" sz="1500" b="1" dirty="0">
                <a:solidFill>
                  <a:srgbClr val="F2860D"/>
                </a:solidFill>
                <a:latin typeface="Courier New" pitchFamily="34" charset="0"/>
                <a:ea typeface="Courier New" pitchFamily="34" charset="-122"/>
                <a:cs typeface="Courier New" pitchFamily="34" charset="-120"/>
              </a:rPr>
              <a:t>03</a:t>
            </a:r>
            <a:endParaRPr lang="en-US" sz="1500" dirty="0"/>
          </a:p>
        </p:txBody>
      </p:sp>
      <p:sp>
        <p:nvSpPr>
          <p:cNvPr id="17" name="Text 15"/>
          <p:cNvSpPr/>
          <p:nvPr/>
        </p:nvSpPr>
        <p:spPr>
          <a:xfrm>
            <a:off x="4882896" y="2331720"/>
            <a:ext cx="1508760" cy="365760"/>
          </a:xfrm>
          <a:prstGeom prst="rect">
            <a:avLst/>
          </a:prstGeom>
          <a:noFill/>
          <a:ln/>
        </p:spPr>
        <p:txBody>
          <a:bodyPr wrap="square" lIns="0" tIns="0" rIns="0" bIns="0" rtlCol="0" anchor="ctr"/>
          <a:lstStyle/>
          <a:p>
            <a:pPr marL="0" indent="0">
              <a:buNone/>
            </a:pPr>
            <a:r>
              <a:rPr lang="en-US" sz="1300" b="1" dirty="0">
                <a:solidFill>
                  <a:srgbClr val="ECECEC"/>
                </a:solidFill>
                <a:latin typeface="Arial" pitchFamily="34" charset="0"/>
                <a:ea typeface="Arial" pitchFamily="34" charset="-122"/>
                <a:cs typeface="Arial" pitchFamily="34" charset="-120"/>
              </a:rPr>
              <a:t>Matching engine</a:t>
            </a:r>
            <a:endParaRPr lang="en-US" sz="1300" dirty="0"/>
          </a:p>
        </p:txBody>
      </p:sp>
      <p:sp>
        <p:nvSpPr>
          <p:cNvPr id="18" name="Text 16"/>
          <p:cNvSpPr/>
          <p:nvPr/>
        </p:nvSpPr>
        <p:spPr>
          <a:xfrm>
            <a:off x="4882896" y="2715768"/>
            <a:ext cx="1472184" cy="731520"/>
          </a:xfrm>
          <a:prstGeom prst="rect">
            <a:avLst/>
          </a:prstGeom>
          <a:noFill/>
          <a:ln/>
        </p:spPr>
        <p:txBody>
          <a:bodyPr wrap="square" lIns="0" tIns="0" rIns="0" bIns="0" rtlCol="0" anchor="t"/>
          <a:lstStyle/>
          <a:p>
            <a:pPr marL="0" indent="0">
              <a:lnSpc>
                <a:spcPct val="105000"/>
              </a:lnSpc>
              <a:buNone/>
            </a:pPr>
            <a:r>
              <a:rPr lang="en-US" sz="1100" dirty="0">
                <a:solidFill>
                  <a:srgbClr val="B4B4BE"/>
                </a:solidFill>
                <a:latin typeface="Calibri" pitchFamily="34" charset="0"/>
                <a:ea typeface="Calibri" pitchFamily="34" charset="-122"/>
                <a:cs typeface="Calibri" pitchFamily="34" charset="-120"/>
              </a:rPr>
              <a:t>pm-engine matches against the order book by price-time priority.</a:t>
            </a:r>
            <a:endParaRPr lang="en-US" sz="1100" dirty="0"/>
          </a:p>
        </p:txBody>
      </p:sp>
      <p:sp>
        <p:nvSpPr>
          <p:cNvPr id="19" name="flow arrow">
            <a:extLst>
              <a:ext uri="{C183D7F6-B498-43B3-948B-1728B52AA6E4}">
                <adec:decorative xmlns:adec="http://schemas.microsoft.com/office/drawing/2017/decorative" val="1"/>
              </a:ext>
            </a:extLst>
          </p:cNvPr>
          <p:cNvSpPr/>
          <p:nvPr/>
        </p:nvSpPr>
        <p:spPr>
          <a:xfrm>
            <a:off x="6556248" y="2651760"/>
            <a:ext cx="182880" cy="0"/>
          </a:xfrm>
          <a:prstGeom prst="line">
            <a:avLst/>
          </a:prstGeom>
          <a:noFill/>
          <a:ln w="25400">
            <a:solidFill>
              <a:srgbClr val="F2860D"/>
            </a:solidFill>
            <a:prstDash val="solid"/>
            <a:tailEnd type="triangle"/>
          </a:ln>
        </p:spPr>
        <p:txBody>
          <a:bodyPr/>
          <a:lstStyle/>
          <a:p>
            <a:endParaRPr lang="en-SE"/>
          </a:p>
        </p:txBody>
      </p:sp>
      <p:sp>
        <p:nvSpPr>
          <p:cNvPr id="20" name="card">
            <a:extLst>
              <a:ext uri="{C183D7F6-B498-43B3-948B-1728B52AA6E4}">
                <adec:decorative xmlns:adec="http://schemas.microsoft.com/office/drawing/2017/decorative" val="1"/>
              </a:ext>
            </a:extLst>
          </p:cNvPr>
          <p:cNvSpPr/>
          <p:nvPr/>
        </p:nvSpPr>
        <p:spPr>
          <a:xfrm>
            <a:off x="6793992" y="1783080"/>
            <a:ext cx="1783080" cy="1737360"/>
          </a:xfrm>
          <a:prstGeom prst="roundRect">
            <a:avLst>
              <a:gd name="adj" fmla="val 315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1" name="Text 19"/>
          <p:cNvSpPr/>
          <p:nvPr/>
        </p:nvSpPr>
        <p:spPr>
          <a:xfrm>
            <a:off x="6958584" y="1929384"/>
            <a:ext cx="914400" cy="365760"/>
          </a:xfrm>
          <a:prstGeom prst="rect">
            <a:avLst/>
          </a:prstGeom>
          <a:noFill/>
          <a:ln/>
        </p:spPr>
        <p:txBody>
          <a:bodyPr wrap="square" lIns="0" tIns="0" rIns="0" bIns="0" rtlCol="0" anchor="ctr"/>
          <a:lstStyle/>
          <a:p>
            <a:pPr marL="0" indent="0">
              <a:buNone/>
            </a:pPr>
            <a:r>
              <a:rPr lang="en-US" sz="1500" b="1" dirty="0">
                <a:solidFill>
                  <a:srgbClr val="F2860D"/>
                </a:solidFill>
                <a:latin typeface="Courier New" pitchFamily="34" charset="0"/>
                <a:ea typeface="Courier New" pitchFamily="34" charset="-122"/>
                <a:cs typeface="Courier New" pitchFamily="34" charset="-120"/>
              </a:rPr>
              <a:t>04</a:t>
            </a:r>
            <a:endParaRPr lang="en-US" sz="1500" dirty="0"/>
          </a:p>
        </p:txBody>
      </p:sp>
      <p:sp>
        <p:nvSpPr>
          <p:cNvPr id="22" name="Text 20"/>
          <p:cNvSpPr/>
          <p:nvPr/>
        </p:nvSpPr>
        <p:spPr>
          <a:xfrm>
            <a:off x="6958584" y="2331720"/>
            <a:ext cx="1508760" cy="365760"/>
          </a:xfrm>
          <a:prstGeom prst="rect">
            <a:avLst/>
          </a:prstGeom>
          <a:noFill/>
          <a:ln/>
        </p:spPr>
        <p:txBody>
          <a:bodyPr wrap="square" lIns="0" tIns="0" rIns="0" bIns="0" rtlCol="0" anchor="ctr"/>
          <a:lstStyle/>
          <a:p>
            <a:pPr marL="0" indent="0">
              <a:buNone/>
            </a:pPr>
            <a:r>
              <a:rPr lang="en-US" sz="1300" b="1" dirty="0">
                <a:solidFill>
                  <a:srgbClr val="ECECEC"/>
                </a:solidFill>
                <a:latin typeface="Arial" pitchFamily="34" charset="0"/>
                <a:ea typeface="Arial" pitchFamily="34" charset="-122"/>
                <a:cs typeface="Arial" pitchFamily="34" charset="-120"/>
              </a:rPr>
              <a:t>Event bus</a:t>
            </a:r>
            <a:endParaRPr lang="en-US" sz="1300" dirty="0"/>
          </a:p>
        </p:txBody>
      </p:sp>
      <p:sp>
        <p:nvSpPr>
          <p:cNvPr id="23" name="Text 21"/>
          <p:cNvSpPr/>
          <p:nvPr/>
        </p:nvSpPr>
        <p:spPr>
          <a:xfrm>
            <a:off x="6958584" y="2715768"/>
            <a:ext cx="1472184" cy="731520"/>
          </a:xfrm>
          <a:prstGeom prst="rect">
            <a:avLst/>
          </a:prstGeom>
          <a:noFill/>
          <a:ln/>
        </p:spPr>
        <p:txBody>
          <a:bodyPr wrap="square" lIns="0" tIns="0" rIns="0" bIns="0" rtlCol="0" anchor="t"/>
          <a:lstStyle/>
          <a:p>
            <a:pPr marL="0" indent="0">
              <a:lnSpc>
                <a:spcPct val="105000"/>
              </a:lnSpc>
              <a:buNone/>
            </a:pPr>
            <a:r>
              <a:rPr lang="en-US" sz="1100" dirty="0">
                <a:solidFill>
                  <a:srgbClr val="B4B4BE"/>
                </a:solidFill>
                <a:latin typeface="Calibri" pitchFamily="34" charset="0"/>
                <a:ea typeface="Calibri" pitchFamily="34" charset="-122"/>
                <a:cs typeface="Calibri" pitchFamily="34" charset="-120"/>
              </a:rPr>
              <a:t>Fills are published on ZMQ PUB :5556 — every process subscribes.</a:t>
            </a:r>
            <a:endParaRPr lang="en-US" sz="1100" dirty="0"/>
          </a:p>
        </p:txBody>
      </p:sp>
      <p:sp>
        <p:nvSpPr>
          <p:cNvPr id="24" name="card">
            <a:extLst>
              <a:ext uri="{C183D7F6-B498-43B3-948B-1728B52AA6E4}">
                <adec:decorative xmlns:adec="http://schemas.microsoft.com/office/drawing/2017/decorative" val="1"/>
              </a:ext>
            </a:extLst>
          </p:cNvPr>
          <p:cNvSpPr/>
          <p:nvPr/>
        </p:nvSpPr>
        <p:spPr>
          <a:xfrm>
            <a:off x="566928" y="3822192"/>
            <a:ext cx="8010144" cy="658368"/>
          </a:xfrm>
          <a:prstGeom prst="roundRect">
            <a:avLst>
              <a:gd name="adj" fmla="val 8333"/>
            </a:avLst>
          </a:prstGeom>
          <a:solidFill>
            <a:srgbClr val="15151A"/>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5" name="Text 23"/>
          <p:cNvSpPr/>
          <p:nvPr/>
        </p:nvSpPr>
        <p:spPr>
          <a:xfrm>
            <a:off x="822960" y="3822192"/>
            <a:ext cx="640080" cy="658368"/>
          </a:xfrm>
          <a:prstGeom prst="rect">
            <a:avLst/>
          </a:prstGeom>
          <a:noFill/>
          <a:ln/>
        </p:spPr>
        <p:txBody>
          <a:bodyPr wrap="square" lIns="0" tIns="0" rIns="0" bIns="0" rtlCol="0" anchor="ctr"/>
          <a:lstStyle/>
          <a:p>
            <a:pPr marL="0" indent="0" algn="l">
              <a:buNone/>
            </a:pPr>
            <a:r>
              <a:rPr lang="en-US" sz="1400" b="1" dirty="0">
                <a:solidFill>
                  <a:srgbClr val="F2860D"/>
                </a:solidFill>
                <a:latin typeface="Courier New" pitchFamily="34" charset="0"/>
                <a:ea typeface="Courier New" pitchFamily="34" charset="-122"/>
                <a:cs typeface="Courier New" pitchFamily="34" charset="-120"/>
              </a:rPr>
              <a:t>ALF</a:t>
            </a:r>
            <a:endParaRPr lang="en-US" sz="1400" dirty="0"/>
          </a:p>
        </p:txBody>
      </p:sp>
      <p:sp>
        <p:nvSpPr>
          <p:cNvPr id="26" name="Text 24"/>
          <p:cNvSpPr/>
          <p:nvPr/>
        </p:nvSpPr>
        <p:spPr>
          <a:xfrm>
            <a:off x="1481328" y="3822192"/>
            <a:ext cx="6858000" cy="658368"/>
          </a:xfrm>
          <a:prstGeom prst="rect">
            <a:avLst/>
          </a:prstGeom>
          <a:noFill/>
          <a:ln/>
        </p:spPr>
        <p:txBody>
          <a:bodyPr wrap="square" lIns="0" tIns="0" rIns="0" bIns="0" rtlCol="0" anchor="ctr"/>
          <a:lstStyle/>
          <a:p>
            <a:pPr marL="0" indent="0" algn="l">
              <a:buNone/>
            </a:pPr>
            <a:r>
              <a:rPr lang="en-US" sz="1400" dirty="0">
                <a:solidFill>
                  <a:srgbClr val="C3CDD6"/>
                </a:solidFill>
                <a:latin typeface="Courier New" pitchFamily="34" charset="0"/>
                <a:ea typeface="Courier New" pitchFamily="34" charset="-122"/>
                <a:cs typeface="Courier New" pitchFamily="34" charset="-120"/>
              </a:rPr>
              <a:t>NEW|SYM=AAPL|SIDE=BUY|TYPE=LIMIT|QTY=100|PRICE=150.00</a:t>
            </a:r>
            <a:endParaRPr lang="en-US" sz="1400" dirty="0"/>
          </a:p>
        </p:txBody>
      </p:sp>
      <p:sp>
        <p:nvSpPr>
          <p:cNvPr id="28" name="Text 25"/>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29" name="Text 26"/>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dirty="0">
                <a:solidFill>
                  <a:srgbClr val="F2860D"/>
                </a:solidFill>
                <a:latin typeface="Courier New" pitchFamily="34" charset="0"/>
                <a:ea typeface="Courier New" pitchFamily="34" charset="-122"/>
                <a:cs typeface="Courier New"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3405788"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03 · ARCHITECTURE</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The ZeroMQ message bus </a:t>
            </a:r>
            <a:endParaRPr lang="en-US" sz="2900" dirty="0"/>
          </a:p>
        </p:txBody>
      </p:sp>
      <p:sp>
        <p:nvSpPr>
          <p:cNvPr id="5" name="card">
            <a:extLst>
              <a:ext uri="{C183D7F6-B498-43B3-948B-1728B52AA6E4}">
                <adec:decorative xmlns:adec="http://schemas.microsoft.com/office/drawing/2017/decorative" val="1"/>
              </a:ext>
            </a:extLst>
          </p:cNvPr>
          <p:cNvSpPr/>
          <p:nvPr/>
        </p:nvSpPr>
        <p:spPr>
          <a:xfrm>
            <a:off x="3566160" y="1426464"/>
            <a:ext cx="2011680" cy="566928"/>
          </a:xfrm>
          <a:prstGeom prst="roundRect">
            <a:avLst>
              <a:gd name="adj" fmla="val 9677"/>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node accent">
            <a:extLst>
              <a:ext uri="{C183D7F6-B498-43B3-948B-1728B52AA6E4}">
                <adec:decorative xmlns:adec="http://schemas.microsoft.com/office/drawing/2017/decorative" val="1"/>
              </a:ext>
            </a:extLst>
          </p:cNvPr>
          <p:cNvSpPr/>
          <p:nvPr/>
        </p:nvSpPr>
        <p:spPr>
          <a:xfrm>
            <a:off x="3566160" y="1426464"/>
            <a:ext cx="2011680" cy="54864"/>
          </a:xfrm>
          <a:prstGeom prst="rect">
            <a:avLst/>
          </a:prstGeom>
          <a:solidFill>
            <a:srgbClr val="8FA0B0"/>
          </a:solidFill>
          <a:ln/>
        </p:spPr>
        <p:txBody>
          <a:bodyPr/>
          <a:lstStyle/>
          <a:p>
            <a:endParaRPr lang="en-SE"/>
          </a:p>
        </p:txBody>
      </p:sp>
      <p:sp>
        <p:nvSpPr>
          <p:cNvPr id="7" name="Text 5"/>
          <p:cNvSpPr/>
          <p:nvPr/>
        </p:nvSpPr>
        <p:spPr>
          <a:xfrm>
            <a:off x="3657600" y="1536192"/>
            <a:ext cx="1828800" cy="310896"/>
          </a:xfrm>
          <a:prstGeom prst="rect">
            <a:avLst/>
          </a:prstGeom>
          <a:noFill/>
          <a:ln/>
        </p:spPr>
        <p:txBody>
          <a:bodyPr wrap="square" lIns="0" tIns="0" rIns="0" bIns="0" rtlCol="0" anchor="ctr"/>
          <a:lstStyle/>
          <a:p>
            <a:pPr marL="0" indent="0" algn="ctr">
              <a:buNone/>
            </a:pPr>
            <a:r>
              <a:rPr lang="en-US" sz="1150" b="1" dirty="0">
                <a:solidFill>
                  <a:srgbClr val="ECECEC"/>
                </a:solidFill>
                <a:latin typeface="Courier New" pitchFamily="34" charset="0"/>
                <a:ea typeface="Courier New" pitchFamily="34" charset="-122"/>
                <a:cs typeface="Courier New" pitchFamily="34" charset="-120"/>
              </a:rPr>
              <a:t>pm-scheduler</a:t>
            </a:r>
            <a:endParaRPr lang="en-US" sz="1150" dirty="0"/>
          </a:p>
        </p:txBody>
      </p:sp>
      <p:sp>
        <p:nvSpPr>
          <p:cNvPr id="8" name="Text 6"/>
          <p:cNvSpPr/>
          <p:nvPr/>
        </p:nvSpPr>
        <p:spPr>
          <a:xfrm>
            <a:off x="3639312" y="1828800"/>
            <a:ext cx="1865376" cy="310896"/>
          </a:xfrm>
          <a:prstGeom prst="rect">
            <a:avLst/>
          </a:prstGeom>
          <a:noFill/>
          <a:ln/>
        </p:spPr>
        <p:txBody>
          <a:bodyPr wrap="square" lIns="0" tIns="0" rIns="0" bIns="0" rtlCol="0" anchor="t"/>
          <a:lstStyle/>
          <a:p>
            <a:pPr marL="0" indent="0" algn="ctr">
              <a:buNone/>
            </a:pPr>
            <a:r>
              <a:rPr lang="en-US" sz="900" dirty="0">
                <a:solidFill>
                  <a:srgbClr val="B4B4BE"/>
                </a:solidFill>
                <a:latin typeface="Calibri" pitchFamily="34" charset="0"/>
                <a:ea typeface="Calibri" pitchFamily="34" charset="-122"/>
                <a:cs typeface="Calibri" pitchFamily="34" charset="-120"/>
              </a:rPr>
              <a:t>Session phase state</a:t>
            </a:r>
            <a:endParaRPr lang="en-US" sz="900" dirty="0"/>
          </a:p>
        </p:txBody>
      </p:sp>
      <p:sp>
        <p:nvSpPr>
          <p:cNvPr id="9" name="bus link">
            <a:extLst>
              <a:ext uri="{C183D7F6-B498-43B3-948B-1728B52AA6E4}">
                <adec:decorative xmlns:adec="http://schemas.microsoft.com/office/drawing/2017/decorative" val="1"/>
              </a:ext>
            </a:extLst>
          </p:cNvPr>
          <p:cNvSpPr/>
          <p:nvPr/>
        </p:nvSpPr>
        <p:spPr>
          <a:xfrm>
            <a:off x="4572000" y="1993392"/>
            <a:ext cx="0" cy="338328"/>
          </a:xfrm>
          <a:prstGeom prst="line">
            <a:avLst/>
          </a:prstGeom>
          <a:noFill/>
          <a:ln w="22225">
            <a:solidFill>
              <a:srgbClr val="8FA0B0"/>
            </a:solidFill>
            <a:prstDash val="solid"/>
            <a:tailEnd type="triangle"/>
          </a:ln>
        </p:spPr>
        <p:txBody>
          <a:bodyPr/>
          <a:lstStyle/>
          <a:p>
            <a:endParaRPr lang="en-SE"/>
          </a:p>
        </p:txBody>
      </p:sp>
      <p:sp>
        <p:nvSpPr>
          <p:cNvPr id="10" name="Text 8"/>
          <p:cNvSpPr/>
          <p:nvPr/>
        </p:nvSpPr>
        <p:spPr>
          <a:xfrm>
            <a:off x="4626864" y="2029968"/>
            <a:ext cx="1097280" cy="219456"/>
          </a:xfrm>
          <a:prstGeom prst="rect">
            <a:avLst/>
          </a:prstGeom>
          <a:noFill/>
          <a:ln/>
        </p:spPr>
        <p:txBody>
          <a:bodyPr wrap="square" lIns="0" tIns="0" rIns="0" bIns="0" rtlCol="0" anchor="ctr"/>
          <a:lstStyle/>
          <a:p>
            <a:pPr marL="0" indent="0">
              <a:buNone/>
            </a:pPr>
            <a:r>
              <a:rPr lang="en-US" sz="850" dirty="0">
                <a:solidFill>
                  <a:srgbClr val="8FA0B0"/>
                </a:solidFill>
                <a:latin typeface="Courier New" pitchFamily="34" charset="0"/>
                <a:ea typeface="Courier New" pitchFamily="34" charset="-122"/>
                <a:cs typeface="Courier New" pitchFamily="34" charset="-120"/>
              </a:rPr>
              <a:t>session</a:t>
            </a:r>
            <a:endParaRPr lang="en-US" sz="850" dirty="0"/>
          </a:p>
        </p:txBody>
      </p:sp>
      <p:sp>
        <p:nvSpPr>
          <p:cNvPr id="11" name="card">
            <a:extLst>
              <a:ext uri="{C183D7F6-B498-43B3-948B-1728B52AA6E4}">
                <adec:decorative xmlns:adec="http://schemas.microsoft.com/office/drawing/2017/decorative" val="1"/>
              </a:ext>
            </a:extLst>
          </p:cNvPr>
          <p:cNvSpPr/>
          <p:nvPr/>
        </p:nvSpPr>
        <p:spPr>
          <a:xfrm>
            <a:off x="580996" y="1257651"/>
            <a:ext cx="1783080" cy="749808"/>
          </a:xfrm>
          <a:prstGeom prst="roundRect">
            <a:avLst>
              <a:gd name="adj" fmla="val 7317"/>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2" name="node accent">
            <a:extLst>
              <a:ext uri="{C183D7F6-B498-43B3-948B-1728B52AA6E4}">
                <adec:decorative xmlns:adec="http://schemas.microsoft.com/office/drawing/2017/decorative" val="1"/>
              </a:ext>
            </a:extLst>
          </p:cNvPr>
          <p:cNvSpPr/>
          <p:nvPr/>
        </p:nvSpPr>
        <p:spPr>
          <a:xfrm>
            <a:off x="580996" y="1257651"/>
            <a:ext cx="1783080" cy="54864"/>
          </a:xfrm>
          <a:prstGeom prst="rect">
            <a:avLst/>
          </a:prstGeom>
          <a:solidFill>
            <a:srgbClr val="F2860D"/>
          </a:solidFill>
          <a:ln/>
        </p:spPr>
        <p:txBody>
          <a:bodyPr/>
          <a:lstStyle/>
          <a:p>
            <a:endParaRPr lang="en-SE"/>
          </a:p>
        </p:txBody>
      </p:sp>
      <p:sp>
        <p:nvSpPr>
          <p:cNvPr id="13" name="Text 11"/>
          <p:cNvSpPr/>
          <p:nvPr/>
        </p:nvSpPr>
        <p:spPr>
          <a:xfrm>
            <a:off x="672436" y="1367379"/>
            <a:ext cx="1600200" cy="310896"/>
          </a:xfrm>
          <a:prstGeom prst="rect">
            <a:avLst/>
          </a:prstGeom>
          <a:noFill/>
          <a:ln/>
        </p:spPr>
        <p:txBody>
          <a:bodyPr wrap="square" lIns="0" tIns="0" rIns="0" bIns="0" rtlCol="0" anchor="ctr"/>
          <a:lstStyle/>
          <a:p>
            <a:pPr marL="0" indent="0" algn="ctr">
              <a:buNone/>
            </a:pPr>
            <a:r>
              <a:rPr lang="en-US" sz="1150" b="1" dirty="0">
                <a:solidFill>
                  <a:srgbClr val="ECECEC"/>
                </a:solidFill>
                <a:latin typeface="Courier New" pitchFamily="34" charset="0"/>
                <a:ea typeface="Courier New" pitchFamily="34" charset="-122"/>
                <a:cs typeface="Courier New" pitchFamily="34" charset="-120"/>
              </a:rPr>
              <a:t>pm-alf-console</a:t>
            </a:r>
            <a:endParaRPr lang="en-US" sz="1150" dirty="0"/>
          </a:p>
        </p:txBody>
      </p:sp>
      <p:sp>
        <p:nvSpPr>
          <p:cNvPr id="14" name="Text 12"/>
          <p:cNvSpPr/>
          <p:nvPr/>
        </p:nvSpPr>
        <p:spPr>
          <a:xfrm>
            <a:off x="654148" y="1659987"/>
            <a:ext cx="1636776" cy="310896"/>
          </a:xfrm>
          <a:prstGeom prst="rect">
            <a:avLst/>
          </a:prstGeom>
          <a:noFill/>
          <a:ln/>
        </p:spPr>
        <p:txBody>
          <a:bodyPr wrap="square" lIns="0" tIns="0" rIns="0" bIns="0" rtlCol="0" anchor="t"/>
          <a:lstStyle/>
          <a:p>
            <a:pPr marL="0" indent="0" algn="ctr">
              <a:buNone/>
            </a:pPr>
            <a:r>
              <a:rPr lang="en-US" sz="900" dirty="0">
                <a:solidFill>
                  <a:srgbClr val="B4B4BE"/>
                </a:solidFill>
                <a:latin typeface="Calibri" pitchFamily="34" charset="0"/>
                <a:ea typeface="Calibri" pitchFamily="34" charset="-122"/>
                <a:cs typeface="Calibri" pitchFamily="34" charset="-120"/>
              </a:rPr>
              <a:t>Participant order entry</a:t>
            </a:r>
            <a:endParaRPr lang="en-US" sz="900" dirty="0"/>
          </a:p>
        </p:txBody>
      </p:sp>
      <p:sp>
        <p:nvSpPr>
          <p:cNvPr id="15" name="bus link">
            <a:extLst>
              <a:ext uri="{C183D7F6-B498-43B3-948B-1728B52AA6E4}">
                <adec:decorative xmlns:adec="http://schemas.microsoft.com/office/drawing/2017/decorative" val="1"/>
              </a:ext>
            </a:extLst>
          </p:cNvPr>
          <p:cNvSpPr/>
          <p:nvPr/>
        </p:nvSpPr>
        <p:spPr>
          <a:xfrm>
            <a:off x="2364076" y="1632554"/>
            <a:ext cx="1159881" cy="1209119"/>
          </a:xfrm>
          <a:prstGeom prst="line">
            <a:avLst/>
          </a:prstGeom>
          <a:noFill/>
          <a:ln w="22225">
            <a:solidFill>
              <a:srgbClr val="F2860D"/>
            </a:solidFill>
            <a:prstDash val="solid"/>
            <a:tailEnd type="triangle"/>
          </a:ln>
        </p:spPr>
        <p:txBody>
          <a:bodyPr/>
          <a:lstStyle/>
          <a:p>
            <a:endParaRPr lang="en-SE"/>
          </a:p>
        </p:txBody>
      </p:sp>
      <p:sp>
        <p:nvSpPr>
          <p:cNvPr id="16" name="card">
            <a:extLst>
              <a:ext uri="{C183D7F6-B498-43B3-948B-1728B52AA6E4}">
                <adec:decorative xmlns:adec="http://schemas.microsoft.com/office/drawing/2017/decorative" val="1"/>
              </a:ext>
            </a:extLst>
          </p:cNvPr>
          <p:cNvSpPr/>
          <p:nvPr/>
        </p:nvSpPr>
        <p:spPr>
          <a:xfrm>
            <a:off x="580996" y="2226915"/>
            <a:ext cx="1783080" cy="749808"/>
          </a:xfrm>
          <a:prstGeom prst="roundRect">
            <a:avLst>
              <a:gd name="adj" fmla="val 7317"/>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7" name="node accent">
            <a:extLst>
              <a:ext uri="{C183D7F6-B498-43B3-948B-1728B52AA6E4}">
                <adec:decorative xmlns:adec="http://schemas.microsoft.com/office/drawing/2017/decorative" val="1"/>
              </a:ext>
            </a:extLst>
          </p:cNvPr>
          <p:cNvSpPr/>
          <p:nvPr/>
        </p:nvSpPr>
        <p:spPr>
          <a:xfrm>
            <a:off x="580996" y="2226915"/>
            <a:ext cx="1783080" cy="54864"/>
          </a:xfrm>
          <a:prstGeom prst="rect">
            <a:avLst/>
          </a:prstGeom>
          <a:solidFill>
            <a:srgbClr val="F2860D"/>
          </a:solidFill>
          <a:ln/>
        </p:spPr>
        <p:txBody>
          <a:bodyPr/>
          <a:lstStyle/>
          <a:p>
            <a:endParaRPr lang="en-SE"/>
          </a:p>
        </p:txBody>
      </p:sp>
      <p:sp>
        <p:nvSpPr>
          <p:cNvPr id="18" name="Text 16"/>
          <p:cNvSpPr/>
          <p:nvPr/>
        </p:nvSpPr>
        <p:spPr>
          <a:xfrm>
            <a:off x="672436" y="2336643"/>
            <a:ext cx="1600200" cy="310896"/>
          </a:xfrm>
          <a:prstGeom prst="rect">
            <a:avLst/>
          </a:prstGeom>
          <a:noFill/>
          <a:ln/>
        </p:spPr>
        <p:txBody>
          <a:bodyPr wrap="square" lIns="0" tIns="0" rIns="0" bIns="0" rtlCol="0" anchor="ctr"/>
          <a:lstStyle/>
          <a:p>
            <a:pPr marL="0" indent="0" algn="ctr">
              <a:buNone/>
            </a:pPr>
            <a:r>
              <a:rPr lang="en-US" sz="1150" b="1" dirty="0">
                <a:solidFill>
                  <a:srgbClr val="ECECEC"/>
                </a:solidFill>
                <a:latin typeface="Courier New" pitchFamily="34" charset="0"/>
                <a:ea typeface="Courier New" pitchFamily="34" charset="-122"/>
                <a:cs typeface="Courier New" pitchFamily="34" charset="-120"/>
              </a:rPr>
              <a:t>pm-ai-trader</a:t>
            </a:r>
            <a:endParaRPr lang="en-US" sz="1150" dirty="0"/>
          </a:p>
        </p:txBody>
      </p:sp>
      <p:sp>
        <p:nvSpPr>
          <p:cNvPr id="19" name="Text 17"/>
          <p:cNvSpPr/>
          <p:nvPr/>
        </p:nvSpPr>
        <p:spPr>
          <a:xfrm>
            <a:off x="654148" y="2629251"/>
            <a:ext cx="1636776" cy="310896"/>
          </a:xfrm>
          <a:prstGeom prst="rect">
            <a:avLst/>
          </a:prstGeom>
          <a:noFill/>
          <a:ln/>
        </p:spPr>
        <p:txBody>
          <a:bodyPr wrap="square" lIns="0" tIns="0" rIns="0" bIns="0" rtlCol="0" anchor="t"/>
          <a:lstStyle/>
          <a:p>
            <a:pPr marL="0" indent="0" algn="ctr">
              <a:buNone/>
            </a:pPr>
            <a:r>
              <a:rPr lang="en-US" sz="900" dirty="0">
                <a:solidFill>
                  <a:srgbClr val="B4B4BE"/>
                </a:solidFill>
                <a:latin typeface="Calibri" pitchFamily="34" charset="0"/>
                <a:ea typeface="Calibri" pitchFamily="34" charset="-122"/>
                <a:cs typeface="Calibri" pitchFamily="34" charset="-120"/>
              </a:rPr>
              <a:t>Autonomous order flow</a:t>
            </a:r>
            <a:endParaRPr lang="en-US" sz="900" dirty="0"/>
          </a:p>
        </p:txBody>
      </p:sp>
      <p:sp>
        <p:nvSpPr>
          <p:cNvPr id="20" name="bus link">
            <a:extLst>
              <a:ext uri="{C183D7F6-B498-43B3-948B-1728B52AA6E4}">
                <adec:decorative xmlns:adec="http://schemas.microsoft.com/office/drawing/2017/decorative" val="1"/>
              </a:ext>
            </a:extLst>
          </p:cNvPr>
          <p:cNvSpPr/>
          <p:nvPr/>
        </p:nvSpPr>
        <p:spPr>
          <a:xfrm>
            <a:off x="2364075" y="2601818"/>
            <a:ext cx="1173949" cy="275025"/>
          </a:xfrm>
          <a:prstGeom prst="line">
            <a:avLst/>
          </a:prstGeom>
          <a:noFill/>
          <a:ln w="22225">
            <a:solidFill>
              <a:srgbClr val="F2860D"/>
            </a:solidFill>
            <a:prstDash val="solid"/>
            <a:tailEnd type="triangle"/>
          </a:ln>
        </p:spPr>
        <p:txBody>
          <a:bodyPr/>
          <a:lstStyle/>
          <a:p>
            <a:endParaRPr lang="en-SE"/>
          </a:p>
        </p:txBody>
      </p:sp>
      <p:sp>
        <p:nvSpPr>
          <p:cNvPr id="21" name="card">
            <a:extLst>
              <a:ext uri="{C183D7F6-B498-43B3-948B-1728B52AA6E4}">
                <adec:decorative xmlns:adec="http://schemas.microsoft.com/office/drawing/2017/decorative" val="1"/>
              </a:ext>
            </a:extLst>
          </p:cNvPr>
          <p:cNvSpPr/>
          <p:nvPr/>
        </p:nvSpPr>
        <p:spPr>
          <a:xfrm>
            <a:off x="580996" y="3196179"/>
            <a:ext cx="1783080" cy="749808"/>
          </a:xfrm>
          <a:prstGeom prst="roundRect">
            <a:avLst>
              <a:gd name="adj" fmla="val 7317"/>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2" name="node accent">
            <a:extLst>
              <a:ext uri="{C183D7F6-B498-43B3-948B-1728B52AA6E4}">
                <adec:decorative xmlns:adec="http://schemas.microsoft.com/office/drawing/2017/decorative" val="1"/>
              </a:ext>
            </a:extLst>
          </p:cNvPr>
          <p:cNvSpPr/>
          <p:nvPr/>
        </p:nvSpPr>
        <p:spPr>
          <a:xfrm>
            <a:off x="580996" y="3196179"/>
            <a:ext cx="1783080" cy="54864"/>
          </a:xfrm>
          <a:prstGeom prst="rect">
            <a:avLst/>
          </a:prstGeom>
          <a:solidFill>
            <a:srgbClr val="F2860D"/>
          </a:solidFill>
          <a:ln/>
        </p:spPr>
        <p:txBody>
          <a:bodyPr/>
          <a:lstStyle/>
          <a:p>
            <a:endParaRPr lang="en-SE"/>
          </a:p>
        </p:txBody>
      </p:sp>
      <p:sp>
        <p:nvSpPr>
          <p:cNvPr id="23" name="Text 21"/>
          <p:cNvSpPr/>
          <p:nvPr/>
        </p:nvSpPr>
        <p:spPr>
          <a:xfrm>
            <a:off x="672436" y="3305907"/>
            <a:ext cx="1600200" cy="310896"/>
          </a:xfrm>
          <a:prstGeom prst="rect">
            <a:avLst/>
          </a:prstGeom>
          <a:noFill/>
          <a:ln/>
        </p:spPr>
        <p:txBody>
          <a:bodyPr wrap="square" lIns="0" tIns="0" rIns="0" bIns="0" rtlCol="0" anchor="ctr"/>
          <a:lstStyle/>
          <a:p>
            <a:pPr marL="0" indent="0" algn="ctr">
              <a:buNone/>
            </a:pPr>
            <a:r>
              <a:rPr lang="en-US" sz="1150" b="1" dirty="0">
                <a:solidFill>
                  <a:srgbClr val="ECECEC"/>
                </a:solidFill>
                <a:latin typeface="Courier New" pitchFamily="34" charset="0"/>
                <a:ea typeface="Courier New" pitchFamily="34" charset="-122"/>
                <a:cs typeface="Courier New" pitchFamily="34" charset="-120"/>
              </a:rPr>
              <a:t>pm-admin</a:t>
            </a:r>
            <a:endParaRPr lang="en-US" sz="1150" dirty="0"/>
          </a:p>
        </p:txBody>
      </p:sp>
      <p:sp>
        <p:nvSpPr>
          <p:cNvPr id="24" name="Text 22"/>
          <p:cNvSpPr/>
          <p:nvPr/>
        </p:nvSpPr>
        <p:spPr>
          <a:xfrm>
            <a:off x="654148" y="3598515"/>
            <a:ext cx="1636776" cy="310896"/>
          </a:xfrm>
          <a:prstGeom prst="rect">
            <a:avLst/>
          </a:prstGeom>
          <a:noFill/>
          <a:ln/>
        </p:spPr>
        <p:txBody>
          <a:bodyPr wrap="square" lIns="0" tIns="0" rIns="0" bIns="0" rtlCol="0" anchor="t"/>
          <a:lstStyle/>
          <a:p>
            <a:pPr marL="0" indent="0" algn="ctr">
              <a:buNone/>
            </a:pPr>
            <a:r>
              <a:rPr lang="en-US" sz="900" dirty="0">
                <a:solidFill>
                  <a:srgbClr val="B4B4BE"/>
                </a:solidFill>
                <a:latin typeface="Calibri" pitchFamily="34" charset="0"/>
                <a:ea typeface="Calibri" pitchFamily="34" charset="-122"/>
                <a:cs typeface="Calibri" pitchFamily="34" charset="-120"/>
              </a:rPr>
              <a:t>HALT / RESUME / STATUS</a:t>
            </a:r>
            <a:endParaRPr lang="en-US" sz="900" dirty="0"/>
          </a:p>
        </p:txBody>
      </p:sp>
      <p:sp>
        <p:nvSpPr>
          <p:cNvPr id="25" name="bus link">
            <a:extLst>
              <a:ext uri="{C183D7F6-B498-43B3-948B-1728B52AA6E4}">
                <adec:decorative xmlns:adec="http://schemas.microsoft.com/office/drawing/2017/decorative" val="1"/>
              </a:ext>
            </a:extLst>
          </p:cNvPr>
          <p:cNvSpPr/>
          <p:nvPr/>
        </p:nvSpPr>
        <p:spPr>
          <a:xfrm flipV="1">
            <a:off x="2364076" y="2883876"/>
            <a:ext cx="1180982" cy="687205"/>
          </a:xfrm>
          <a:prstGeom prst="line">
            <a:avLst/>
          </a:prstGeom>
          <a:noFill/>
          <a:ln w="22225">
            <a:solidFill>
              <a:srgbClr val="F2860D"/>
            </a:solidFill>
            <a:prstDash val="solid"/>
            <a:tailEnd type="triangle"/>
          </a:ln>
        </p:spPr>
        <p:txBody>
          <a:bodyPr/>
          <a:lstStyle/>
          <a:p>
            <a:endParaRPr lang="en-SE"/>
          </a:p>
        </p:txBody>
      </p:sp>
      <p:sp>
        <p:nvSpPr>
          <p:cNvPr id="26" name="card">
            <a:extLst>
              <a:ext uri="{C183D7F6-B498-43B3-948B-1728B52AA6E4}">
                <adec:decorative xmlns:adec="http://schemas.microsoft.com/office/drawing/2017/decorative" val="1"/>
              </a:ext>
            </a:extLst>
          </p:cNvPr>
          <p:cNvSpPr/>
          <p:nvPr/>
        </p:nvSpPr>
        <p:spPr>
          <a:xfrm>
            <a:off x="6793992" y="1517904"/>
            <a:ext cx="1783080" cy="749808"/>
          </a:xfrm>
          <a:prstGeom prst="roundRect">
            <a:avLst>
              <a:gd name="adj" fmla="val 7317"/>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7" name="node accent">
            <a:extLst>
              <a:ext uri="{C183D7F6-B498-43B3-948B-1728B52AA6E4}">
                <adec:decorative xmlns:adec="http://schemas.microsoft.com/office/drawing/2017/decorative" val="1"/>
              </a:ext>
            </a:extLst>
          </p:cNvPr>
          <p:cNvSpPr/>
          <p:nvPr/>
        </p:nvSpPr>
        <p:spPr>
          <a:xfrm>
            <a:off x="6793992" y="1517904"/>
            <a:ext cx="1783080" cy="54864"/>
          </a:xfrm>
          <a:prstGeom prst="rect">
            <a:avLst/>
          </a:prstGeom>
          <a:solidFill>
            <a:srgbClr val="4FB3CC"/>
          </a:solidFill>
          <a:ln/>
        </p:spPr>
        <p:txBody>
          <a:bodyPr/>
          <a:lstStyle/>
          <a:p>
            <a:endParaRPr lang="en-SE"/>
          </a:p>
        </p:txBody>
      </p:sp>
      <p:sp>
        <p:nvSpPr>
          <p:cNvPr id="28" name="Text 26"/>
          <p:cNvSpPr/>
          <p:nvPr/>
        </p:nvSpPr>
        <p:spPr>
          <a:xfrm>
            <a:off x="6885432" y="1627632"/>
            <a:ext cx="1600200" cy="310896"/>
          </a:xfrm>
          <a:prstGeom prst="rect">
            <a:avLst/>
          </a:prstGeom>
          <a:noFill/>
          <a:ln/>
        </p:spPr>
        <p:txBody>
          <a:bodyPr wrap="square" lIns="0" tIns="0" rIns="0" bIns="0" rtlCol="0" anchor="ctr"/>
          <a:lstStyle/>
          <a:p>
            <a:pPr marL="0" indent="0" algn="ctr">
              <a:buNone/>
            </a:pPr>
            <a:r>
              <a:rPr lang="en-US" sz="1150" b="1" dirty="0">
                <a:solidFill>
                  <a:srgbClr val="ECECEC"/>
                </a:solidFill>
                <a:latin typeface="Courier New" pitchFamily="34" charset="0"/>
                <a:ea typeface="Courier New" pitchFamily="34" charset="-122"/>
                <a:cs typeface="Courier New" pitchFamily="34" charset="-120"/>
              </a:rPr>
              <a:t>pm-clearing</a:t>
            </a:r>
            <a:endParaRPr lang="en-US" sz="1150" dirty="0"/>
          </a:p>
        </p:txBody>
      </p:sp>
      <p:sp>
        <p:nvSpPr>
          <p:cNvPr id="29" name="Text 27"/>
          <p:cNvSpPr/>
          <p:nvPr/>
        </p:nvSpPr>
        <p:spPr>
          <a:xfrm>
            <a:off x="6867144" y="1920240"/>
            <a:ext cx="1636776" cy="310896"/>
          </a:xfrm>
          <a:prstGeom prst="rect">
            <a:avLst/>
          </a:prstGeom>
          <a:noFill/>
          <a:ln/>
        </p:spPr>
        <p:txBody>
          <a:bodyPr wrap="square" lIns="0" tIns="0" rIns="0" bIns="0" rtlCol="0" anchor="t"/>
          <a:lstStyle/>
          <a:p>
            <a:pPr marL="0" indent="0" algn="ctr">
              <a:buNone/>
            </a:pPr>
            <a:r>
              <a:rPr lang="en-US" sz="900" dirty="0">
                <a:solidFill>
                  <a:srgbClr val="B4B4BE"/>
                </a:solidFill>
                <a:latin typeface="Calibri" pitchFamily="34" charset="0"/>
                <a:ea typeface="Calibri" pitchFamily="34" charset="-122"/>
                <a:cs typeface="Calibri" pitchFamily="34" charset="-120"/>
              </a:rPr>
              <a:t>Trade &amp; P&amp;L tracker</a:t>
            </a:r>
            <a:endParaRPr lang="en-US" sz="900" dirty="0"/>
          </a:p>
        </p:txBody>
      </p:sp>
      <p:sp>
        <p:nvSpPr>
          <p:cNvPr id="30" name="bus link">
            <a:extLst>
              <a:ext uri="{C183D7F6-B498-43B3-948B-1728B52AA6E4}">
                <adec:decorative xmlns:adec="http://schemas.microsoft.com/office/drawing/2017/decorative" val="1"/>
              </a:ext>
            </a:extLst>
          </p:cNvPr>
          <p:cNvSpPr/>
          <p:nvPr/>
        </p:nvSpPr>
        <p:spPr>
          <a:xfrm flipV="1">
            <a:off x="5623560" y="1892808"/>
            <a:ext cx="1170432" cy="964692"/>
          </a:xfrm>
          <a:prstGeom prst="line">
            <a:avLst/>
          </a:prstGeom>
          <a:noFill/>
          <a:ln w="22225">
            <a:solidFill>
              <a:srgbClr val="4FB3CC"/>
            </a:solidFill>
            <a:prstDash val="solid"/>
            <a:tailEnd type="triangle"/>
          </a:ln>
        </p:spPr>
        <p:txBody>
          <a:bodyPr/>
          <a:lstStyle/>
          <a:p>
            <a:endParaRPr lang="en-SE"/>
          </a:p>
        </p:txBody>
      </p:sp>
      <p:sp>
        <p:nvSpPr>
          <p:cNvPr id="31" name="card">
            <a:extLst>
              <a:ext uri="{C183D7F6-B498-43B3-948B-1728B52AA6E4}">
                <adec:decorative xmlns:adec="http://schemas.microsoft.com/office/drawing/2017/decorative" val="1"/>
              </a:ext>
            </a:extLst>
          </p:cNvPr>
          <p:cNvSpPr/>
          <p:nvPr/>
        </p:nvSpPr>
        <p:spPr>
          <a:xfrm>
            <a:off x="6793992" y="2487168"/>
            <a:ext cx="1783080" cy="749808"/>
          </a:xfrm>
          <a:prstGeom prst="roundRect">
            <a:avLst>
              <a:gd name="adj" fmla="val 7317"/>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2" name="node accent">
            <a:extLst>
              <a:ext uri="{C183D7F6-B498-43B3-948B-1728B52AA6E4}">
                <adec:decorative xmlns:adec="http://schemas.microsoft.com/office/drawing/2017/decorative" val="1"/>
              </a:ext>
            </a:extLst>
          </p:cNvPr>
          <p:cNvSpPr/>
          <p:nvPr/>
        </p:nvSpPr>
        <p:spPr>
          <a:xfrm>
            <a:off x="6793992" y="2487168"/>
            <a:ext cx="1783080" cy="54864"/>
          </a:xfrm>
          <a:prstGeom prst="rect">
            <a:avLst/>
          </a:prstGeom>
          <a:solidFill>
            <a:srgbClr val="4FB3CC"/>
          </a:solidFill>
          <a:ln/>
        </p:spPr>
        <p:txBody>
          <a:bodyPr/>
          <a:lstStyle/>
          <a:p>
            <a:endParaRPr lang="en-SE"/>
          </a:p>
        </p:txBody>
      </p:sp>
      <p:sp>
        <p:nvSpPr>
          <p:cNvPr id="33" name="Text 31"/>
          <p:cNvSpPr/>
          <p:nvPr/>
        </p:nvSpPr>
        <p:spPr>
          <a:xfrm>
            <a:off x="6885432" y="2596896"/>
            <a:ext cx="1600200" cy="310896"/>
          </a:xfrm>
          <a:prstGeom prst="rect">
            <a:avLst/>
          </a:prstGeom>
          <a:noFill/>
          <a:ln/>
        </p:spPr>
        <p:txBody>
          <a:bodyPr wrap="square" lIns="0" tIns="0" rIns="0" bIns="0" rtlCol="0" anchor="ctr"/>
          <a:lstStyle/>
          <a:p>
            <a:pPr marL="0" indent="0" algn="ctr">
              <a:buNone/>
            </a:pPr>
            <a:r>
              <a:rPr lang="en-US" sz="1150" b="1" dirty="0">
                <a:solidFill>
                  <a:srgbClr val="ECECEC"/>
                </a:solidFill>
                <a:latin typeface="Courier New" pitchFamily="34" charset="0"/>
                <a:ea typeface="Courier New" pitchFamily="34" charset="-122"/>
                <a:cs typeface="Courier New" pitchFamily="34" charset="-120"/>
              </a:rPr>
              <a:t>pm-stats</a:t>
            </a:r>
            <a:endParaRPr lang="en-US" sz="1150" dirty="0"/>
          </a:p>
        </p:txBody>
      </p:sp>
      <p:sp>
        <p:nvSpPr>
          <p:cNvPr id="34" name="Text 32"/>
          <p:cNvSpPr/>
          <p:nvPr/>
        </p:nvSpPr>
        <p:spPr>
          <a:xfrm>
            <a:off x="6867144" y="2889504"/>
            <a:ext cx="1636776" cy="310896"/>
          </a:xfrm>
          <a:prstGeom prst="rect">
            <a:avLst/>
          </a:prstGeom>
          <a:noFill/>
          <a:ln/>
        </p:spPr>
        <p:txBody>
          <a:bodyPr wrap="square" lIns="0" tIns="0" rIns="0" bIns="0" rtlCol="0" anchor="t"/>
          <a:lstStyle/>
          <a:p>
            <a:pPr marL="0" indent="0" algn="ctr">
              <a:buNone/>
            </a:pPr>
            <a:r>
              <a:rPr lang="en-US" sz="900" dirty="0">
                <a:solidFill>
                  <a:srgbClr val="B4B4BE"/>
                </a:solidFill>
                <a:latin typeface="Calibri" pitchFamily="34" charset="0"/>
                <a:ea typeface="Calibri" pitchFamily="34" charset="-122"/>
                <a:cs typeface="Calibri" pitchFamily="34" charset="-120"/>
              </a:rPr>
              <a:t>OHLCV / VWAP recorder</a:t>
            </a:r>
            <a:endParaRPr lang="en-US" sz="900" dirty="0"/>
          </a:p>
        </p:txBody>
      </p:sp>
      <p:sp>
        <p:nvSpPr>
          <p:cNvPr id="35" name="bus link">
            <a:extLst>
              <a:ext uri="{C183D7F6-B498-43B3-948B-1728B52AA6E4}">
                <adec:decorative xmlns:adec="http://schemas.microsoft.com/office/drawing/2017/decorative" val="1"/>
              </a:ext>
            </a:extLst>
          </p:cNvPr>
          <p:cNvSpPr/>
          <p:nvPr/>
        </p:nvSpPr>
        <p:spPr>
          <a:xfrm>
            <a:off x="5623560" y="2857500"/>
            <a:ext cx="1170432" cy="4572"/>
          </a:xfrm>
          <a:prstGeom prst="line">
            <a:avLst/>
          </a:prstGeom>
          <a:noFill/>
          <a:ln w="22225">
            <a:solidFill>
              <a:srgbClr val="4FB3CC"/>
            </a:solidFill>
            <a:prstDash val="solid"/>
            <a:tailEnd type="triangle"/>
          </a:ln>
        </p:spPr>
        <p:txBody>
          <a:bodyPr/>
          <a:lstStyle/>
          <a:p>
            <a:endParaRPr lang="en-SE"/>
          </a:p>
        </p:txBody>
      </p:sp>
      <p:sp>
        <p:nvSpPr>
          <p:cNvPr id="36" name="card">
            <a:extLst>
              <a:ext uri="{C183D7F6-B498-43B3-948B-1728B52AA6E4}">
                <adec:decorative xmlns:adec="http://schemas.microsoft.com/office/drawing/2017/decorative" val="1"/>
              </a:ext>
            </a:extLst>
          </p:cNvPr>
          <p:cNvSpPr/>
          <p:nvPr/>
        </p:nvSpPr>
        <p:spPr>
          <a:xfrm>
            <a:off x="6793992" y="3456432"/>
            <a:ext cx="1783080" cy="749808"/>
          </a:xfrm>
          <a:prstGeom prst="roundRect">
            <a:avLst>
              <a:gd name="adj" fmla="val 7317"/>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7" name="node accent">
            <a:extLst>
              <a:ext uri="{C183D7F6-B498-43B3-948B-1728B52AA6E4}">
                <adec:decorative xmlns:adec="http://schemas.microsoft.com/office/drawing/2017/decorative" val="1"/>
              </a:ext>
            </a:extLst>
          </p:cNvPr>
          <p:cNvSpPr/>
          <p:nvPr/>
        </p:nvSpPr>
        <p:spPr>
          <a:xfrm>
            <a:off x="6793992" y="3456432"/>
            <a:ext cx="1783080" cy="54864"/>
          </a:xfrm>
          <a:prstGeom prst="rect">
            <a:avLst/>
          </a:prstGeom>
          <a:solidFill>
            <a:srgbClr val="4FB3CC"/>
          </a:solidFill>
          <a:ln/>
        </p:spPr>
        <p:txBody>
          <a:bodyPr/>
          <a:lstStyle/>
          <a:p>
            <a:endParaRPr lang="en-SE"/>
          </a:p>
        </p:txBody>
      </p:sp>
      <p:sp>
        <p:nvSpPr>
          <p:cNvPr id="39" name="Text 37"/>
          <p:cNvSpPr/>
          <p:nvPr/>
        </p:nvSpPr>
        <p:spPr>
          <a:xfrm>
            <a:off x="6867144" y="3858768"/>
            <a:ext cx="1636776" cy="310896"/>
          </a:xfrm>
          <a:prstGeom prst="rect">
            <a:avLst/>
          </a:prstGeom>
          <a:noFill/>
          <a:ln/>
        </p:spPr>
        <p:txBody>
          <a:bodyPr wrap="square" lIns="0" tIns="0" rIns="0" bIns="0" rtlCol="0" anchor="t"/>
          <a:lstStyle/>
          <a:p>
            <a:pPr marL="0" indent="0" algn="ctr">
              <a:buNone/>
            </a:pPr>
            <a:r>
              <a:rPr lang="en-US" sz="900" dirty="0">
                <a:solidFill>
                  <a:srgbClr val="B4B4BE"/>
                </a:solidFill>
                <a:latin typeface="Calibri" pitchFamily="34" charset="0"/>
                <a:ea typeface="Calibri" pitchFamily="34" charset="-122"/>
                <a:cs typeface="Calibri" pitchFamily="34" charset="-120"/>
              </a:rPr>
              <a:t>Compliance feed</a:t>
            </a:r>
            <a:endParaRPr lang="en-US" sz="900" dirty="0"/>
          </a:p>
        </p:txBody>
      </p:sp>
      <p:sp>
        <p:nvSpPr>
          <p:cNvPr id="40" name="bus link">
            <a:extLst>
              <a:ext uri="{C183D7F6-B498-43B3-948B-1728B52AA6E4}">
                <adec:decorative xmlns:adec="http://schemas.microsoft.com/office/drawing/2017/decorative" val="1"/>
              </a:ext>
            </a:extLst>
          </p:cNvPr>
          <p:cNvSpPr/>
          <p:nvPr/>
        </p:nvSpPr>
        <p:spPr>
          <a:xfrm>
            <a:off x="5623560" y="2857500"/>
            <a:ext cx="1170432" cy="973836"/>
          </a:xfrm>
          <a:prstGeom prst="line">
            <a:avLst/>
          </a:prstGeom>
          <a:noFill/>
          <a:ln w="22225">
            <a:solidFill>
              <a:srgbClr val="4FB3CC"/>
            </a:solidFill>
            <a:prstDash val="solid"/>
            <a:tailEnd type="triangle"/>
          </a:ln>
        </p:spPr>
        <p:txBody>
          <a:bodyPr/>
          <a:lstStyle/>
          <a:p>
            <a:endParaRPr lang="en-SE"/>
          </a:p>
        </p:txBody>
      </p:sp>
      <p:sp>
        <p:nvSpPr>
          <p:cNvPr id="41" name="engine box">
            <a:extLst>
              <a:ext uri="{C183D7F6-B498-43B3-948B-1728B52AA6E4}">
                <adec:decorative xmlns:adec="http://schemas.microsoft.com/office/drawing/2017/decorative" val="1"/>
              </a:ext>
            </a:extLst>
          </p:cNvPr>
          <p:cNvSpPr/>
          <p:nvPr/>
        </p:nvSpPr>
        <p:spPr>
          <a:xfrm>
            <a:off x="3520440" y="2331720"/>
            <a:ext cx="2103120" cy="1051560"/>
          </a:xfrm>
          <a:prstGeom prst="roundRect">
            <a:avLst>
              <a:gd name="adj" fmla="val 6087"/>
            </a:avLst>
          </a:prstGeom>
          <a:solidFill>
            <a:srgbClr val="F2860D"/>
          </a:solidFill>
          <a:ln/>
          <a:effectLst>
            <a:glow rad="101600">
              <a:schemeClr val="accent4">
                <a:satMod val="175000"/>
                <a:alpha val="40000"/>
              </a:schemeClr>
            </a:glow>
            <a:outerShdw blurRad="114300" dist="38100" dir="5400000" algn="bl" rotWithShape="0">
              <a:srgbClr val="000000">
                <a:alpha val="35000"/>
              </a:srgbClr>
            </a:outerShdw>
          </a:effectLst>
        </p:spPr>
        <p:txBody>
          <a:bodyPr/>
          <a:lstStyle/>
          <a:p>
            <a:endParaRPr lang="en-SE"/>
          </a:p>
        </p:txBody>
      </p:sp>
      <p:sp>
        <p:nvSpPr>
          <p:cNvPr id="42" name="Text 40"/>
          <p:cNvSpPr/>
          <p:nvPr/>
        </p:nvSpPr>
        <p:spPr>
          <a:xfrm>
            <a:off x="3520440" y="2459736"/>
            <a:ext cx="2103120" cy="365760"/>
          </a:xfrm>
          <a:prstGeom prst="rect">
            <a:avLst/>
          </a:prstGeom>
          <a:noFill/>
          <a:ln/>
        </p:spPr>
        <p:txBody>
          <a:bodyPr wrap="square" lIns="0" tIns="0" rIns="0" bIns="0" rtlCol="0" anchor="ctr"/>
          <a:lstStyle/>
          <a:p>
            <a:pPr marL="0" indent="0" algn="ctr">
              <a:buNone/>
            </a:pPr>
            <a:r>
              <a:rPr lang="en-US" sz="1600" b="1" dirty="0">
                <a:solidFill>
                  <a:srgbClr val="1B1B20"/>
                </a:solidFill>
                <a:latin typeface="Arial" pitchFamily="34" charset="0"/>
                <a:ea typeface="Arial" pitchFamily="34" charset="-122"/>
                <a:cs typeface="Arial" pitchFamily="34" charset="-120"/>
              </a:rPr>
              <a:t>pm-engine</a:t>
            </a:r>
            <a:endParaRPr lang="en-US" sz="1600" dirty="0"/>
          </a:p>
        </p:txBody>
      </p:sp>
      <p:sp>
        <p:nvSpPr>
          <p:cNvPr id="43" name="Text 41"/>
          <p:cNvSpPr/>
          <p:nvPr/>
        </p:nvSpPr>
        <p:spPr>
          <a:xfrm>
            <a:off x="3520440" y="2788920"/>
            <a:ext cx="2103120" cy="237744"/>
          </a:xfrm>
          <a:prstGeom prst="rect">
            <a:avLst/>
          </a:prstGeom>
          <a:noFill/>
          <a:ln/>
        </p:spPr>
        <p:txBody>
          <a:bodyPr wrap="square" lIns="0" tIns="0" rIns="0" bIns="0" rtlCol="0" anchor="ctr"/>
          <a:lstStyle/>
          <a:p>
            <a:pPr marL="0" indent="0" algn="ctr">
              <a:buNone/>
            </a:pPr>
            <a:r>
              <a:rPr lang="en-US" sz="1050" dirty="0">
                <a:solidFill>
                  <a:srgbClr val="3A2404"/>
                </a:solidFill>
                <a:latin typeface="Calibri" pitchFamily="34" charset="0"/>
                <a:ea typeface="Calibri" pitchFamily="34" charset="-122"/>
                <a:cs typeface="Calibri" pitchFamily="34" charset="-120"/>
              </a:rPr>
              <a:t>Matching engine</a:t>
            </a:r>
            <a:endParaRPr lang="en-US" sz="1050" dirty="0"/>
          </a:p>
        </p:txBody>
      </p:sp>
      <p:sp>
        <p:nvSpPr>
          <p:cNvPr id="44" name="Text 42"/>
          <p:cNvSpPr/>
          <p:nvPr/>
        </p:nvSpPr>
        <p:spPr>
          <a:xfrm>
            <a:off x="3520440" y="3026664"/>
            <a:ext cx="2103120" cy="274320"/>
          </a:xfrm>
          <a:prstGeom prst="rect">
            <a:avLst/>
          </a:prstGeom>
          <a:noFill/>
          <a:ln/>
        </p:spPr>
        <p:txBody>
          <a:bodyPr wrap="square" lIns="0" tIns="0" rIns="0" bIns="0" rtlCol="0" anchor="ctr"/>
          <a:lstStyle/>
          <a:p>
            <a:pPr marL="0" indent="0" algn="ctr">
              <a:buNone/>
            </a:pPr>
            <a:r>
              <a:rPr lang="en-US" sz="1000" b="1" dirty="0">
                <a:solidFill>
                  <a:srgbClr val="1B1B20"/>
                </a:solidFill>
                <a:latin typeface="Courier New" pitchFamily="34" charset="0"/>
                <a:ea typeface="Courier New" pitchFamily="34" charset="-122"/>
                <a:cs typeface="Courier New" pitchFamily="34" charset="-120"/>
              </a:rPr>
              <a:t>PULL :5555  ·  PUB :5556</a:t>
            </a:r>
            <a:endParaRPr lang="en-US" sz="1000" dirty="0"/>
          </a:p>
        </p:txBody>
      </p:sp>
      <p:sp>
        <p:nvSpPr>
          <p:cNvPr id="45" name="legend swatch">
            <a:extLst>
              <a:ext uri="{C183D7F6-B498-43B3-948B-1728B52AA6E4}">
                <adec:decorative xmlns:adec="http://schemas.microsoft.com/office/drawing/2017/decorative" val="1"/>
              </a:ext>
            </a:extLst>
          </p:cNvPr>
          <p:cNvSpPr/>
          <p:nvPr/>
        </p:nvSpPr>
        <p:spPr>
          <a:xfrm>
            <a:off x="3387502" y="4221783"/>
            <a:ext cx="45719" cy="274320"/>
          </a:xfrm>
          <a:prstGeom prst="rect">
            <a:avLst/>
          </a:prstGeom>
          <a:solidFill>
            <a:srgbClr val="F2860D"/>
          </a:solidFill>
          <a:ln/>
        </p:spPr>
        <p:txBody>
          <a:bodyPr/>
          <a:lstStyle/>
          <a:p>
            <a:endParaRPr lang="en-SE"/>
          </a:p>
        </p:txBody>
      </p:sp>
      <p:sp>
        <p:nvSpPr>
          <p:cNvPr id="46" name="Text 44"/>
          <p:cNvSpPr/>
          <p:nvPr/>
        </p:nvSpPr>
        <p:spPr>
          <a:xfrm>
            <a:off x="2644728" y="3840480"/>
            <a:ext cx="572531" cy="822960"/>
          </a:xfrm>
          <a:prstGeom prst="rect">
            <a:avLst/>
          </a:prstGeom>
          <a:noFill/>
          <a:ln/>
        </p:spPr>
        <p:txBody>
          <a:bodyPr wrap="square" lIns="0" tIns="0" rIns="0" bIns="0" rtlCol="0" anchor="ctr"/>
          <a:lstStyle/>
          <a:p>
            <a:pPr marL="0" indent="0" algn="r">
              <a:buNone/>
            </a:pPr>
            <a:r>
              <a:rPr lang="en-US" sz="1050" dirty="0">
                <a:solidFill>
                  <a:srgbClr val="B4B4BE"/>
                </a:solidFill>
                <a:latin typeface="Calibri" pitchFamily="34" charset="0"/>
                <a:ea typeface="Calibri" pitchFamily="34" charset="-122"/>
                <a:cs typeface="Calibri" pitchFamily="34" charset="-120"/>
              </a:rPr>
              <a:t>order flow into engine</a:t>
            </a:r>
            <a:endParaRPr lang="en-US" sz="1050" dirty="0"/>
          </a:p>
        </p:txBody>
      </p:sp>
      <p:sp>
        <p:nvSpPr>
          <p:cNvPr id="47" name="legend swatch">
            <a:extLst>
              <a:ext uri="{C183D7F6-B498-43B3-948B-1728B52AA6E4}">
                <adec:decorative xmlns:adec="http://schemas.microsoft.com/office/drawing/2017/decorative" val="1"/>
              </a:ext>
            </a:extLst>
          </p:cNvPr>
          <p:cNvSpPr/>
          <p:nvPr/>
        </p:nvSpPr>
        <p:spPr>
          <a:xfrm>
            <a:off x="5604057" y="4183825"/>
            <a:ext cx="45719" cy="275634"/>
          </a:xfrm>
          <a:prstGeom prst="rect">
            <a:avLst/>
          </a:prstGeom>
          <a:solidFill>
            <a:srgbClr val="4FB3CC"/>
          </a:solidFill>
          <a:ln/>
        </p:spPr>
        <p:txBody>
          <a:bodyPr/>
          <a:lstStyle/>
          <a:p>
            <a:endParaRPr lang="en-SE"/>
          </a:p>
        </p:txBody>
      </p:sp>
      <p:sp>
        <p:nvSpPr>
          <p:cNvPr id="48" name="Text 46"/>
          <p:cNvSpPr/>
          <p:nvPr/>
        </p:nvSpPr>
        <p:spPr>
          <a:xfrm>
            <a:off x="5814369" y="4086661"/>
            <a:ext cx="945156" cy="534576"/>
          </a:xfrm>
          <a:prstGeom prst="rect">
            <a:avLst/>
          </a:prstGeom>
          <a:noFill/>
          <a:ln/>
        </p:spPr>
        <p:txBody>
          <a:bodyPr wrap="square" lIns="0" tIns="0" rIns="0" bIns="0" rtlCol="0" anchor="ctr"/>
          <a:lstStyle/>
          <a:p>
            <a:pPr marL="0" indent="0" algn="l">
              <a:buNone/>
            </a:pPr>
            <a:r>
              <a:rPr lang="en-US" sz="1050" dirty="0">
                <a:solidFill>
                  <a:srgbClr val="B4B4BE"/>
                </a:solidFill>
                <a:latin typeface="Calibri" pitchFamily="34" charset="0"/>
                <a:ea typeface="Calibri" pitchFamily="34" charset="-122"/>
                <a:cs typeface="Calibri" pitchFamily="34" charset="-120"/>
              </a:rPr>
              <a:t>event stream out (ZMQ PUB)</a:t>
            </a:r>
            <a:endParaRPr lang="en-US" sz="1050" dirty="0"/>
          </a:p>
        </p:txBody>
      </p:sp>
      <p:sp>
        <p:nvSpPr>
          <p:cNvPr id="50" name="Text 47"/>
          <p:cNvSpPr/>
          <p:nvPr/>
        </p:nvSpPr>
        <p:spPr>
          <a:xfrm>
            <a:off x="566928" y="4791456"/>
            <a:ext cx="256842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51" name="Text 48"/>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dirty="0">
                <a:solidFill>
                  <a:srgbClr val="F2860D"/>
                </a:solidFill>
                <a:latin typeface="Courier New" pitchFamily="34" charset="0"/>
                <a:ea typeface="Courier New" pitchFamily="34" charset="-122"/>
                <a:cs typeface="Courier New" pitchFamily="34" charset="-120"/>
              </a:rPr>
              <a:t>04</a:t>
            </a:r>
            <a:endParaRPr lang="en-US" sz="950" dirty="0"/>
          </a:p>
        </p:txBody>
      </p:sp>
      <p:sp>
        <p:nvSpPr>
          <p:cNvPr id="49" name="card">
            <a:extLst>
              <a:ext uri="{FF2B5EF4-FFF2-40B4-BE49-F238E27FC236}">
                <a16:creationId xmlns:a16="http://schemas.microsoft.com/office/drawing/2014/main" id="{50724C0F-E543-F134-BC81-D2BE3A0F686A}"/>
              </a:ext>
              <a:ext uri="{C183D7F6-B498-43B3-948B-1728B52AA6E4}">
                <adec:decorative xmlns:adec="http://schemas.microsoft.com/office/drawing/2017/decorative" val="1"/>
              </a:ext>
            </a:extLst>
          </p:cNvPr>
          <p:cNvSpPr/>
          <p:nvPr/>
        </p:nvSpPr>
        <p:spPr>
          <a:xfrm>
            <a:off x="3493008" y="3749187"/>
            <a:ext cx="2011680" cy="566928"/>
          </a:xfrm>
          <a:prstGeom prst="roundRect">
            <a:avLst>
              <a:gd name="adj" fmla="val 9677"/>
            </a:avLst>
          </a:prstGeom>
          <a:solidFill>
            <a:srgbClr val="C00000">
              <a:alpha val="32771"/>
            </a:srgbClr>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52" name="node accent">
            <a:extLst>
              <a:ext uri="{FF2B5EF4-FFF2-40B4-BE49-F238E27FC236}">
                <a16:creationId xmlns:a16="http://schemas.microsoft.com/office/drawing/2014/main" id="{46E07966-CE6F-0EC8-FFC4-59C440E3DDFA}"/>
              </a:ext>
              <a:ext uri="{C183D7F6-B498-43B3-948B-1728B52AA6E4}">
                <adec:decorative xmlns:adec="http://schemas.microsoft.com/office/drawing/2017/decorative" val="1"/>
              </a:ext>
            </a:extLst>
          </p:cNvPr>
          <p:cNvSpPr/>
          <p:nvPr/>
        </p:nvSpPr>
        <p:spPr>
          <a:xfrm>
            <a:off x="3493008" y="3749187"/>
            <a:ext cx="2011680" cy="54864"/>
          </a:xfrm>
          <a:prstGeom prst="rect">
            <a:avLst/>
          </a:prstGeom>
          <a:solidFill>
            <a:srgbClr val="8FA0B0"/>
          </a:solidFill>
          <a:ln/>
        </p:spPr>
        <p:txBody>
          <a:bodyPr/>
          <a:lstStyle/>
          <a:p>
            <a:endParaRPr lang="en-SE"/>
          </a:p>
        </p:txBody>
      </p:sp>
      <p:sp>
        <p:nvSpPr>
          <p:cNvPr id="53" name="Text 5">
            <a:extLst>
              <a:ext uri="{FF2B5EF4-FFF2-40B4-BE49-F238E27FC236}">
                <a16:creationId xmlns:a16="http://schemas.microsoft.com/office/drawing/2014/main" id="{A2C537A0-0595-1F01-78F8-7158E3F3274F}"/>
              </a:ext>
            </a:extLst>
          </p:cNvPr>
          <p:cNvSpPr/>
          <p:nvPr/>
        </p:nvSpPr>
        <p:spPr>
          <a:xfrm>
            <a:off x="3584448" y="3858915"/>
            <a:ext cx="1828800" cy="310896"/>
          </a:xfrm>
          <a:prstGeom prst="rect">
            <a:avLst/>
          </a:prstGeom>
          <a:noFill/>
          <a:ln/>
        </p:spPr>
        <p:txBody>
          <a:bodyPr wrap="square" lIns="0" tIns="0" rIns="0" bIns="0" rtlCol="0" anchor="ctr"/>
          <a:lstStyle/>
          <a:p>
            <a:pPr marL="0" indent="0" algn="ctr">
              <a:buNone/>
            </a:pPr>
            <a:r>
              <a:rPr lang="en-US" sz="1150" b="1" dirty="0">
                <a:solidFill>
                  <a:srgbClr val="ECECEC"/>
                </a:solidFill>
                <a:latin typeface="Courier New" pitchFamily="34" charset="0"/>
                <a:ea typeface="Courier New" pitchFamily="34" charset="-122"/>
                <a:cs typeface="Courier New" pitchFamily="34" charset="-120"/>
              </a:rPr>
              <a:t>pm-audit</a:t>
            </a:r>
            <a:endParaRPr lang="en-US" sz="1150" dirty="0"/>
          </a:p>
        </p:txBody>
      </p:sp>
      <p:sp>
        <p:nvSpPr>
          <p:cNvPr id="54" name="Text 6">
            <a:extLst>
              <a:ext uri="{FF2B5EF4-FFF2-40B4-BE49-F238E27FC236}">
                <a16:creationId xmlns:a16="http://schemas.microsoft.com/office/drawing/2014/main" id="{BFDB7D2C-F20C-E811-11FA-BBF68A3D4E58}"/>
              </a:ext>
            </a:extLst>
          </p:cNvPr>
          <p:cNvSpPr/>
          <p:nvPr/>
        </p:nvSpPr>
        <p:spPr>
          <a:xfrm>
            <a:off x="3566160" y="4151523"/>
            <a:ext cx="1865376" cy="310896"/>
          </a:xfrm>
          <a:prstGeom prst="rect">
            <a:avLst/>
          </a:prstGeom>
          <a:noFill/>
          <a:ln/>
        </p:spPr>
        <p:txBody>
          <a:bodyPr wrap="square" lIns="0" tIns="0" rIns="0" bIns="0" rtlCol="0" anchor="t"/>
          <a:lstStyle/>
          <a:p>
            <a:pPr marL="0" indent="0" algn="ctr">
              <a:buNone/>
            </a:pPr>
            <a:r>
              <a:rPr lang="en-US" sz="900" dirty="0">
                <a:solidFill>
                  <a:srgbClr val="B4B4BE"/>
                </a:solidFill>
                <a:latin typeface="Calibri" pitchFamily="34" charset="0"/>
                <a:ea typeface="Calibri" pitchFamily="34" charset="-122"/>
                <a:cs typeface="Calibri" pitchFamily="34" charset="-120"/>
              </a:rPr>
              <a:t>Record all market events</a:t>
            </a:r>
            <a:endParaRPr lang="en-US" sz="900" dirty="0"/>
          </a:p>
        </p:txBody>
      </p:sp>
      <p:sp>
        <p:nvSpPr>
          <p:cNvPr id="55" name="bus link">
            <a:extLst>
              <a:ext uri="{FF2B5EF4-FFF2-40B4-BE49-F238E27FC236}">
                <a16:creationId xmlns:a16="http://schemas.microsoft.com/office/drawing/2014/main" id="{41BDF49B-E5F5-0E39-E2E0-AE6FD70DA05D}"/>
              </a:ext>
              <a:ext uri="{C183D7F6-B498-43B3-948B-1728B52AA6E4}">
                <adec:decorative xmlns:adec="http://schemas.microsoft.com/office/drawing/2017/decorative" val="1"/>
              </a:ext>
            </a:extLst>
          </p:cNvPr>
          <p:cNvSpPr/>
          <p:nvPr/>
        </p:nvSpPr>
        <p:spPr>
          <a:xfrm>
            <a:off x="4553712" y="3383280"/>
            <a:ext cx="0" cy="338328"/>
          </a:xfrm>
          <a:prstGeom prst="line">
            <a:avLst/>
          </a:prstGeom>
          <a:noFill/>
          <a:ln w="22225">
            <a:solidFill>
              <a:srgbClr val="8FA0B0"/>
            </a:solidFill>
            <a:prstDash val="solid"/>
            <a:tailEnd type="triangle"/>
          </a:ln>
        </p:spPr>
        <p:txBody>
          <a:bodyPr/>
          <a:lstStyle/>
          <a:p>
            <a:endParaRPr lang="en-SE"/>
          </a:p>
        </p:txBody>
      </p:sp>
      <p:sp>
        <p:nvSpPr>
          <p:cNvPr id="57" name="Magnetic Disk 56">
            <a:extLst>
              <a:ext uri="{FF2B5EF4-FFF2-40B4-BE49-F238E27FC236}">
                <a16:creationId xmlns:a16="http://schemas.microsoft.com/office/drawing/2014/main" id="{D19C9F12-F80F-C1FC-A14F-8C6B732365EC}"/>
              </a:ext>
            </a:extLst>
          </p:cNvPr>
          <p:cNvSpPr/>
          <p:nvPr/>
        </p:nvSpPr>
        <p:spPr>
          <a:xfrm>
            <a:off x="3833116" y="4488587"/>
            <a:ext cx="1396731" cy="496234"/>
          </a:xfrm>
          <a:prstGeom prst="flowChartMagneticDisk">
            <a:avLst/>
          </a:prstGeom>
          <a:solidFill>
            <a:srgbClr val="C00000">
              <a:alpha val="39000"/>
            </a:srgbClr>
          </a:solidFill>
          <a:ln>
            <a:solidFill>
              <a:schemeClr val="bg1">
                <a:lumMod val="50000"/>
              </a:schemeClr>
            </a:solidFill>
          </a:ln>
          <a:effectLst>
            <a:reflection blurRad="6350" stA="50000" endA="300" endPos="385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A</a:t>
            </a:r>
            <a:r>
              <a:rPr lang="en-SE" sz="1400" dirty="0"/>
              <a:t>udit-db</a:t>
            </a:r>
          </a:p>
        </p:txBody>
      </p:sp>
      <p:sp>
        <p:nvSpPr>
          <p:cNvPr id="58" name="bus link">
            <a:extLst>
              <a:ext uri="{FF2B5EF4-FFF2-40B4-BE49-F238E27FC236}">
                <a16:creationId xmlns:a16="http://schemas.microsoft.com/office/drawing/2014/main" id="{A1F75F12-BC94-D38F-D064-BF9F0B46ACBC}"/>
              </a:ext>
              <a:ext uri="{C183D7F6-B498-43B3-948B-1728B52AA6E4}">
                <adec:decorative xmlns:adec="http://schemas.microsoft.com/office/drawing/2017/decorative" val="1"/>
              </a:ext>
            </a:extLst>
          </p:cNvPr>
          <p:cNvSpPr/>
          <p:nvPr/>
        </p:nvSpPr>
        <p:spPr>
          <a:xfrm>
            <a:off x="4553712" y="4306971"/>
            <a:ext cx="0" cy="301752"/>
          </a:xfrm>
          <a:prstGeom prst="line">
            <a:avLst/>
          </a:prstGeom>
          <a:noFill/>
          <a:ln w="50800">
            <a:solidFill>
              <a:srgbClr val="8FA0B0"/>
            </a:solidFill>
            <a:prstDash val="solid"/>
            <a:tailEnd type="triangle"/>
          </a:ln>
        </p:spPr>
        <p:txBody>
          <a:bodyPr/>
          <a:lstStyle/>
          <a:p>
            <a:endParaRPr lang="en-SE"/>
          </a:p>
        </p:txBody>
      </p:sp>
      <p:sp>
        <p:nvSpPr>
          <p:cNvPr id="56" name="Text 31">
            <a:extLst>
              <a:ext uri="{FF2B5EF4-FFF2-40B4-BE49-F238E27FC236}">
                <a16:creationId xmlns:a16="http://schemas.microsoft.com/office/drawing/2014/main" id="{80F22B7E-6D18-3503-FD7B-21AC11DDE148}"/>
              </a:ext>
            </a:extLst>
          </p:cNvPr>
          <p:cNvSpPr/>
          <p:nvPr/>
        </p:nvSpPr>
        <p:spPr>
          <a:xfrm>
            <a:off x="6858927" y="3537800"/>
            <a:ext cx="1600200" cy="310896"/>
          </a:xfrm>
          <a:prstGeom prst="rect">
            <a:avLst/>
          </a:prstGeom>
          <a:noFill/>
          <a:ln/>
        </p:spPr>
        <p:txBody>
          <a:bodyPr wrap="square" lIns="0" tIns="0" rIns="0" bIns="0" rtlCol="0" anchor="ctr"/>
          <a:lstStyle/>
          <a:p>
            <a:pPr marL="0" indent="0" algn="ctr">
              <a:buNone/>
            </a:pPr>
            <a:r>
              <a:rPr lang="en-US" sz="1150" b="1" dirty="0">
                <a:solidFill>
                  <a:srgbClr val="ECECEC"/>
                </a:solidFill>
                <a:latin typeface="Courier New" pitchFamily="34" charset="0"/>
                <a:ea typeface="Courier New" pitchFamily="34" charset="-122"/>
                <a:cs typeface="Courier New" pitchFamily="34" charset="-120"/>
              </a:rPr>
              <a:t>pm-dc-</a:t>
            </a:r>
            <a:r>
              <a:rPr lang="en-US" sz="1150" b="1" dirty="0" err="1">
                <a:solidFill>
                  <a:srgbClr val="ECECEC"/>
                </a:solidFill>
                <a:latin typeface="Courier New" pitchFamily="34" charset="0"/>
                <a:ea typeface="Courier New" pitchFamily="34" charset="-122"/>
                <a:cs typeface="Courier New" pitchFamily="34" charset="-120"/>
              </a:rPr>
              <a:t>gwy</a:t>
            </a:r>
            <a:endParaRPr lang="en-US" sz="1150" dirty="0"/>
          </a:p>
        </p:txBody>
      </p:sp>
      <p:sp>
        <p:nvSpPr>
          <p:cNvPr id="60" name="bus link">
            <a:extLst>
              <a:ext uri="{FF2B5EF4-FFF2-40B4-BE49-F238E27FC236}">
                <a16:creationId xmlns:a16="http://schemas.microsoft.com/office/drawing/2014/main" id="{6B2297DA-31BA-AF39-B2F9-642C45E77C58}"/>
              </a:ext>
              <a:ext uri="{C183D7F6-B498-43B3-948B-1728B52AA6E4}">
                <adec:decorative xmlns:adec="http://schemas.microsoft.com/office/drawing/2017/decorative" val="1"/>
              </a:ext>
            </a:extLst>
          </p:cNvPr>
          <p:cNvSpPr/>
          <p:nvPr/>
        </p:nvSpPr>
        <p:spPr>
          <a:xfrm flipV="1">
            <a:off x="5634111" y="954156"/>
            <a:ext cx="1124497" cy="1894551"/>
          </a:xfrm>
          <a:prstGeom prst="line">
            <a:avLst/>
          </a:prstGeom>
          <a:noFill/>
          <a:ln w="22225">
            <a:solidFill>
              <a:srgbClr val="4FB3CC"/>
            </a:solidFill>
            <a:prstDash val="solid"/>
            <a:tailEnd type="triangle"/>
          </a:ln>
        </p:spPr>
        <p:txBody>
          <a:bodyPr/>
          <a:lstStyle/>
          <a:p>
            <a:endParaRPr lang="en-SE"/>
          </a:p>
        </p:txBody>
      </p:sp>
      <p:sp>
        <p:nvSpPr>
          <p:cNvPr id="61" name="card">
            <a:extLst>
              <a:ext uri="{FF2B5EF4-FFF2-40B4-BE49-F238E27FC236}">
                <a16:creationId xmlns:a16="http://schemas.microsoft.com/office/drawing/2014/main" id="{B6DE629E-D10E-46F9-A93E-8FCA2733A80A}"/>
              </a:ext>
              <a:ext uri="{C183D7F6-B498-43B3-948B-1728B52AA6E4}">
                <adec:decorative xmlns:adec="http://schemas.microsoft.com/office/drawing/2017/decorative" val="1"/>
              </a:ext>
            </a:extLst>
          </p:cNvPr>
          <p:cNvSpPr/>
          <p:nvPr/>
        </p:nvSpPr>
        <p:spPr>
          <a:xfrm>
            <a:off x="6780740" y="537243"/>
            <a:ext cx="1783080" cy="749808"/>
          </a:xfrm>
          <a:prstGeom prst="roundRect">
            <a:avLst>
              <a:gd name="adj" fmla="val 7317"/>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2" name="node accent">
            <a:extLst>
              <a:ext uri="{FF2B5EF4-FFF2-40B4-BE49-F238E27FC236}">
                <a16:creationId xmlns:a16="http://schemas.microsoft.com/office/drawing/2014/main" id="{1E6C6139-D94B-739E-506C-F40A2F34CE3F}"/>
              </a:ext>
              <a:ext uri="{C183D7F6-B498-43B3-948B-1728B52AA6E4}">
                <adec:decorative xmlns:adec="http://schemas.microsoft.com/office/drawing/2017/decorative" val="1"/>
              </a:ext>
            </a:extLst>
          </p:cNvPr>
          <p:cNvSpPr/>
          <p:nvPr/>
        </p:nvSpPr>
        <p:spPr>
          <a:xfrm>
            <a:off x="6780740" y="537243"/>
            <a:ext cx="1783080" cy="54864"/>
          </a:xfrm>
          <a:prstGeom prst="rect">
            <a:avLst/>
          </a:prstGeom>
          <a:solidFill>
            <a:srgbClr val="4FB3CC"/>
          </a:solidFill>
          <a:ln/>
        </p:spPr>
        <p:txBody>
          <a:bodyPr/>
          <a:lstStyle/>
          <a:p>
            <a:endParaRPr lang="en-SE"/>
          </a:p>
        </p:txBody>
      </p:sp>
      <p:sp>
        <p:nvSpPr>
          <p:cNvPr id="63" name="Text 26">
            <a:extLst>
              <a:ext uri="{FF2B5EF4-FFF2-40B4-BE49-F238E27FC236}">
                <a16:creationId xmlns:a16="http://schemas.microsoft.com/office/drawing/2014/main" id="{01B0064F-1DC4-47EF-093F-23A0C7BC38EB}"/>
              </a:ext>
            </a:extLst>
          </p:cNvPr>
          <p:cNvSpPr/>
          <p:nvPr/>
        </p:nvSpPr>
        <p:spPr>
          <a:xfrm>
            <a:off x="6872180" y="646971"/>
            <a:ext cx="1600200" cy="310896"/>
          </a:xfrm>
          <a:prstGeom prst="rect">
            <a:avLst/>
          </a:prstGeom>
          <a:noFill/>
          <a:ln/>
        </p:spPr>
        <p:txBody>
          <a:bodyPr wrap="square" lIns="0" tIns="0" rIns="0" bIns="0" rtlCol="0" anchor="ctr"/>
          <a:lstStyle/>
          <a:p>
            <a:pPr marL="0" indent="0" algn="ctr">
              <a:buNone/>
            </a:pPr>
            <a:r>
              <a:rPr lang="en-US" sz="1150" b="1" dirty="0">
                <a:solidFill>
                  <a:srgbClr val="ECECEC"/>
                </a:solidFill>
                <a:latin typeface="Courier New" pitchFamily="34" charset="0"/>
                <a:ea typeface="Courier New" pitchFamily="34" charset="-122"/>
                <a:cs typeface="Courier New" pitchFamily="34" charset="-120"/>
              </a:rPr>
              <a:t>pm-md-</a:t>
            </a:r>
            <a:r>
              <a:rPr lang="en-US" sz="1150" b="1" dirty="0" err="1">
                <a:solidFill>
                  <a:srgbClr val="ECECEC"/>
                </a:solidFill>
                <a:latin typeface="Courier New" pitchFamily="34" charset="0"/>
                <a:ea typeface="Courier New" pitchFamily="34" charset="-122"/>
                <a:cs typeface="Courier New" pitchFamily="34" charset="-120"/>
              </a:rPr>
              <a:t>gwy</a:t>
            </a:r>
            <a:endParaRPr lang="en-US" sz="1150" dirty="0"/>
          </a:p>
        </p:txBody>
      </p:sp>
      <p:sp>
        <p:nvSpPr>
          <p:cNvPr id="64" name="Text 27">
            <a:extLst>
              <a:ext uri="{FF2B5EF4-FFF2-40B4-BE49-F238E27FC236}">
                <a16:creationId xmlns:a16="http://schemas.microsoft.com/office/drawing/2014/main" id="{3875E0D8-E2B8-B8D2-CEC2-106E6D1A659A}"/>
              </a:ext>
            </a:extLst>
          </p:cNvPr>
          <p:cNvSpPr/>
          <p:nvPr/>
        </p:nvSpPr>
        <p:spPr>
          <a:xfrm>
            <a:off x="6853892" y="939579"/>
            <a:ext cx="1636776" cy="310896"/>
          </a:xfrm>
          <a:prstGeom prst="rect">
            <a:avLst/>
          </a:prstGeom>
          <a:noFill/>
          <a:ln/>
        </p:spPr>
        <p:txBody>
          <a:bodyPr wrap="square" lIns="0" tIns="0" rIns="0" bIns="0" rtlCol="0" anchor="t"/>
          <a:lstStyle/>
          <a:p>
            <a:pPr marL="0" indent="0" algn="ctr">
              <a:buNone/>
            </a:pPr>
            <a:r>
              <a:rPr lang="en-US" sz="900" dirty="0">
                <a:solidFill>
                  <a:srgbClr val="B4B4BE"/>
                </a:solidFill>
                <a:latin typeface="Calibri" pitchFamily="34" charset="0"/>
                <a:ea typeface="Calibri" pitchFamily="34" charset="-122"/>
                <a:cs typeface="Calibri" pitchFamily="34" charset="-120"/>
              </a:rPr>
              <a:t>Trade &amp; P&amp;L tracker</a:t>
            </a:r>
            <a:endParaRPr lang="en-US" sz="900" dirty="0"/>
          </a:p>
        </p:txBody>
      </p:sp>
      <p:sp>
        <p:nvSpPr>
          <p:cNvPr id="65" name="bus link">
            <a:extLst>
              <a:ext uri="{FF2B5EF4-FFF2-40B4-BE49-F238E27FC236}">
                <a16:creationId xmlns:a16="http://schemas.microsoft.com/office/drawing/2014/main" id="{579C1F61-38BA-1890-F978-CD767368189F}"/>
              </a:ext>
              <a:ext uri="{C183D7F6-B498-43B3-948B-1728B52AA6E4}">
                <adec:decorative xmlns:adec="http://schemas.microsoft.com/office/drawing/2017/decorative" val="1"/>
              </a:ext>
            </a:extLst>
          </p:cNvPr>
          <p:cNvSpPr/>
          <p:nvPr/>
        </p:nvSpPr>
        <p:spPr>
          <a:xfrm flipH="1" flipV="1">
            <a:off x="7687993" y="126607"/>
            <a:ext cx="3921" cy="340491"/>
          </a:xfrm>
          <a:prstGeom prst="line">
            <a:avLst/>
          </a:prstGeom>
          <a:noFill/>
          <a:ln w="22225">
            <a:solidFill>
              <a:srgbClr val="4FB3CC"/>
            </a:solidFill>
            <a:prstDash val="sysDot"/>
            <a:tailEnd type="none"/>
          </a:ln>
        </p:spPr>
        <p:txBody>
          <a:bodyPr/>
          <a:lstStyle/>
          <a:p>
            <a:endParaRPr lang="en-SE"/>
          </a:p>
        </p:txBody>
      </p:sp>
      <p:sp>
        <p:nvSpPr>
          <p:cNvPr id="66" name="card">
            <a:extLst>
              <a:ext uri="{FF2B5EF4-FFF2-40B4-BE49-F238E27FC236}">
                <a16:creationId xmlns:a16="http://schemas.microsoft.com/office/drawing/2014/main" id="{24A7A83D-3722-C3DE-458A-9954D8BC6902}"/>
              </a:ext>
              <a:ext uri="{C183D7F6-B498-43B3-948B-1728B52AA6E4}">
                <adec:decorative xmlns:adec="http://schemas.microsoft.com/office/drawing/2017/decorative" val="1"/>
              </a:ext>
            </a:extLst>
          </p:cNvPr>
          <p:cNvSpPr/>
          <p:nvPr/>
        </p:nvSpPr>
        <p:spPr>
          <a:xfrm>
            <a:off x="578651" y="4133441"/>
            <a:ext cx="1783080" cy="749808"/>
          </a:xfrm>
          <a:prstGeom prst="roundRect">
            <a:avLst>
              <a:gd name="adj" fmla="val 7317"/>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7" name="node accent">
            <a:extLst>
              <a:ext uri="{FF2B5EF4-FFF2-40B4-BE49-F238E27FC236}">
                <a16:creationId xmlns:a16="http://schemas.microsoft.com/office/drawing/2014/main" id="{5D9EC73D-FBE5-178C-816A-7D7C473B8C08}"/>
              </a:ext>
              <a:ext uri="{C183D7F6-B498-43B3-948B-1728B52AA6E4}">
                <adec:decorative xmlns:adec="http://schemas.microsoft.com/office/drawing/2017/decorative" val="1"/>
              </a:ext>
            </a:extLst>
          </p:cNvPr>
          <p:cNvSpPr/>
          <p:nvPr/>
        </p:nvSpPr>
        <p:spPr>
          <a:xfrm>
            <a:off x="578651" y="4133441"/>
            <a:ext cx="1783080" cy="54864"/>
          </a:xfrm>
          <a:prstGeom prst="rect">
            <a:avLst/>
          </a:prstGeom>
          <a:solidFill>
            <a:srgbClr val="F2860D"/>
          </a:solidFill>
          <a:ln/>
        </p:spPr>
        <p:txBody>
          <a:bodyPr/>
          <a:lstStyle/>
          <a:p>
            <a:endParaRPr lang="en-SE"/>
          </a:p>
        </p:txBody>
      </p:sp>
      <p:sp>
        <p:nvSpPr>
          <p:cNvPr id="68" name="Text 21">
            <a:extLst>
              <a:ext uri="{FF2B5EF4-FFF2-40B4-BE49-F238E27FC236}">
                <a16:creationId xmlns:a16="http://schemas.microsoft.com/office/drawing/2014/main" id="{F9965C59-47EB-15C8-1F5F-F1A18CAB2AE4}"/>
              </a:ext>
            </a:extLst>
          </p:cNvPr>
          <p:cNvSpPr/>
          <p:nvPr/>
        </p:nvSpPr>
        <p:spPr>
          <a:xfrm>
            <a:off x="670091" y="4243169"/>
            <a:ext cx="1600200" cy="310896"/>
          </a:xfrm>
          <a:prstGeom prst="rect">
            <a:avLst/>
          </a:prstGeom>
          <a:noFill/>
          <a:ln/>
        </p:spPr>
        <p:txBody>
          <a:bodyPr wrap="square" lIns="0" tIns="0" rIns="0" bIns="0" rtlCol="0" anchor="ctr"/>
          <a:lstStyle/>
          <a:p>
            <a:pPr marL="0" indent="0" algn="ctr">
              <a:buNone/>
            </a:pPr>
            <a:r>
              <a:rPr lang="en-US" sz="1150" b="1" dirty="0">
                <a:solidFill>
                  <a:srgbClr val="ECECEC"/>
                </a:solidFill>
                <a:latin typeface="Courier New" pitchFamily="34" charset="0"/>
                <a:ea typeface="Courier New" pitchFamily="34" charset="-122"/>
                <a:cs typeface="Courier New" pitchFamily="34" charset="-120"/>
              </a:rPr>
              <a:t>pm-admin</a:t>
            </a:r>
            <a:endParaRPr lang="en-US" sz="1150" dirty="0"/>
          </a:p>
        </p:txBody>
      </p:sp>
      <p:sp>
        <p:nvSpPr>
          <p:cNvPr id="69" name="Text 22">
            <a:extLst>
              <a:ext uri="{FF2B5EF4-FFF2-40B4-BE49-F238E27FC236}">
                <a16:creationId xmlns:a16="http://schemas.microsoft.com/office/drawing/2014/main" id="{21FB61FB-63C3-4483-1B80-024A4B0D4174}"/>
              </a:ext>
            </a:extLst>
          </p:cNvPr>
          <p:cNvSpPr/>
          <p:nvPr/>
        </p:nvSpPr>
        <p:spPr>
          <a:xfrm>
            <a:off x="651803" y="4535777"/>
            <a:ext cx="1636776" cy="310896"/>
          </a:xfrm>
          <a:prstGeom prst="rect">
            <a:avLst/>
          </a:prstGeom>
          <a:noFill/>
          <a:ln/>
        </p:spPr>
        <p:txBody>
          <a:bodyPr wrap="square" lIns="0" tIns="0" rIns="0" bIns="0" rtlCol="0" anchor="t"/>
          <a:lstStyle/>
          <a:p>
            <a:pPr marL="0" indent="0" algn="ctr">
              <a:buNone/>
            </a:pPr>
            <a:r>
              <a:rPr lang="en-US" sz="900" dirty="0">
                <a:solidFill>
                  <a:srgbClr val="B4B4BE"/>
                </a:solidFill>
                <a:latin typeface="Calibri" pitchFamily="34" charset="0"/>
                <a:ea typeface="Calibri" pitchFamily="34" charset="-122"/>
                <a:cs typeface="Calibri" pitchFamily="34" charset="-120"/>
              </a:rPr>
              <a:t>HALT / RESUME / STATUS</a:t>
            </a:r>
            <a:endParaRPr lang="en-US" sz="900" dirty="0"/>
          </a:p>
        </p:txBody>
      </p:sp>
      <p:sp>
        <p:nvSpPr>
          <p:cNvPr id="70" name="bus link">
            <a:extLst>
              <a:ext uri="{FF2B5EF4-FFF2-40B4-BE49-F238E27FC236}">
                <a16:creationId xmlns:a16="http://schemas.microsoft.com/office/drawing/2014/main" id="{7877CFB5-52AA-F904-2A60-2B924710B2A3}"/>
              </a:ext>
              <a:ext uri="{C183D7F6-B498-43B3-948B-1728B52AA6E4}">
                <adec:decorative xmlns:adec="http://schemas.microsoft.com/office/drawing/2017/decorative" val="1"/>
              </a:ext>
            </a:extLst>
          </p:cNvPr>
          <p:cNvSpPr/>
          <p:nvPr/>
        </p:nvSpPr>
        <p:spPr>
          <a:xfrm flipV="1">
            <a:off x="2375799" y="2855742"/>
            <a:ext cx="1176293" cy="1669599"/>
          </a:xfrm>
          <a:prstGeom prst="line">
            <a:avLst/>
          </a:prstGeom>
          <a:noFill/>
          <a:ln w="22225">
            <a:solidFill>
              <a:srgbClr val="F2860D"/>
            </a:solidFill>
            <a:prstDash val="solid"/>
            <a:tailEnd type="triangle"/>
          </a:ln>
        </p:spPr>
        <p:txBody>
          <a:bodyPr/>
          <a:lstStyle/>
          <a:p>
            <a:endParaRPr lang="en-S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External View">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03 · ARCHITECTURE · PART 2</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dirty="0">
                <a:solidFill>
                  <a:srgbClr val="ECECEC"/>
                </a:solidFill>
                <a:latin typeface="Arial" pitchFamily="34" charset="0"/>
                <a:ea typeface="Arial" pitchFamily="34" charset="-122"/>
                <a:cs typeface="Arial" pitchFamily="34" charset="-120"/>
              </a:rPr>
              <a:t>The message bus - the external view</a:t>
            </a:r>
            <a:endParaRPr lang="en-US" sz="2900" dirty="0"/>
          </a:p>
        </p:txBody>
      </p:sp>
      <p:sp>
        <p:nvSpPr>
          <p:cNvPr id="5" name="hdr core"/>
          <p:cNvSpPr/>
          <p:nvPr/>
        </p:nvSpPr>
        <p:spPr>
          <a:xfrm>
            <a:off x="566928" y="1330000"/>
            <a:ext cx="1710000" cy="210000"/>
          </a:xfrm>
          <a:prstGeom prst="rect">
            <a:avLst/>
          </a:prstGeom>
          <a:noFill/>
          <a:ln/>
        </p:spPr>
        <p:txBody>
          <a:bodyPr wrap="square" lIns="0" tIns="0" rIns="0" bIns="0" rtlCol="0" anchor="ctr"/>
          <a:lstStyle/>
          <a:p>
            <a:pPr marL="0" indent="0" algn="ctr">
              <a:buNone/>
            </a:pPr>
            <a:r>
              <a:rPr lang="en-US" sz="900" b="1" kern="0" spc="150">
                <a:solidFill>
                  <a:srgbClr val="8FA0B0"/>
                </a:solidFill>
                <a:latin typeface="Courier New" pitchFamily="34" charset="0"/>
                <a:ea typeface="Courier New" pitchFamily="34" charset="-122"/>
                <a:cs typeface="Courier New" pitchFamily="34" charset="-120"/>
              </a:rPr>
              <a:t>SYSTEM CORE</a:t>
            </a:r>
            <a:endParaRPr lang="en-US"/>
          </a:p>
        </p:txBody>
      </p:sp>
      <p:sp>
        <p:nvSpPr>
          <p:cNvPr id="6" name="hdr gwy"/>
          <p:cNvSpPr/>
          <p:nvPr/>
        </p:nvSpPr>
        <p:spPr>
          <a:xfrm>
            <a:off x="3310000" y="1330000"/>
            <a:ext cx="2130000" cy="210000"/>
          </a:xfrm>
          <a:prstGeom prst="rect">
            <a:avLst/>
          </a:prstGeom>
          <a:noFill/>
          <a:ln/>
        </p:spPr>
        <p:txBody>
          <a:bodyPr wrap="square" lIns="0" tIns="0" rIns="0" bIns="0" rtlCol="0" anchor="ctr"/>
          <a:lstStyle/>
          <a:p>
            <a:pPr marL="0" indent="0" algn="ctr">
              <a:buNone/>
            </a:pPr>
            <a:r>
              <a:rPr lang="en-US" sz="900" b="1" kern="0" spc="150">
                <a:solidFill>
                  <a:srgbClr val="8FA0B0"/>
                </a:solidFill>
                <a:latin typeface="Courier New" pitchFamily="34" charset="0"/>
                <a:ea typeface="Courier New" pitchFamily="34" charset="-122"/>
                <a:cs typeface="Courier New" pitchFamily="34" charset="-120"/>
              </a:rPr>
              <a:t>TCP/IP GATEWAYS</a:t>
            </a:r>
            <a:endParaRPr lang="en-US"/>
          </a:p>
        </p:txBody>
      </p:sp>
      <p:sp>
        <p:nvSpPr>
          <p:cNvPr id="7" name="hdr ext"/>
          <p:cNvSpPr/>
          <p:nvPr/>
        </p:nvSpPr>
        <p:spPr>
          <a:xfrm>
            <a:off x="6360000" y="1330000"/>
            <a:ext cx="2217072" cy="210000"/>
          </a:xfrm>
          <a:prstGeom prst="rect">
            <a:avLst/>
          </a:prstGeom>
          <a:noFill/>
          <a:ln/>
        </p:spPr>
        <p:txBody>
          <a:bodyPr wrap="square" lIns="0" tIns="0" rIns="0" bIns="0" rtlCol="0" anchor="ctr"/>
          <a:lstStyle/>
          <a:p>
            <a:pPr marL="0" indent="0" algn="ctr">
              <a:buNone/>
            </a:pPr>
            <a:r>
              <a:rPr lang="en-US" sz="900" b="1" kern="0" spc="150">
                <a:solidFill>
                  <a:srgbClr val="8FA0B0"/>
                </a:solidFill>
                <a:latin typeface="Courier New" pitchFamily="34" charset="0"/>
                <a:ea typeface="Courier New" pitchFamily="34" charset="-122"/>
                <a:cs typeface="Courier New" pitchFamily="34" charset="-120"/>
              </a:rPr>
              <a:t>EXTERNAL CLIENTS</a:t>
            </a:r>
            <a:endParaRPr lang="en-US"/>
          </a:p>
        </p:txBody>
      </p:sp>
      <p:sp>
        <p:nvSpPr>
          <p:cNvPr id="8" name="card">
            <a:extLst>
              <a:ext uri="{C183D7F6-B498-43B3-948B-1728B52AA6E4}">
                <adec:decorative xmlns:adec="http://schemas.microsoft.com/office/drawing/2017/decorative" val="1"/>
              </a:ext>
            </a:extLst>
          </p:cNvPr>
          <p:cNvSpPr/>
          <p:nvPr/>
        </p:nvSpPr>
        <p:spPr>
          <a:xfrm>
            <a:off x="566928" y="1600000"/>
            <a:ext cx="1710000" cy="2285000"/>
          </a:xfrm>
          <a:prstGeom prst="roundRect">
            <a:avLst>
              <a:gd name="adj" fmla="val 42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9" name="node accent">
            <a:extLst>
              <a:ext uri="{C183D7F6-B498-43B3-948B-1728B52AA6E4}">
                <adec:decorative xmlns:adec="http://schemas.microsoft.com/office/drawing/2017/decorative" val="1"/>
              </a:ext>
            </a:extLst>
          </p:cNvPr>
          <p:cNvSpPr/>
          <p:nvPr/>
        </p:nvSpPr>
        <p:spPr>
          <a:xfrm>
            <a:off x="566928" y="1600000"/>
            <a:ext cx="1710000" cy="54864"/>
          </a:xfrm>
          <a:prstGeom prst="rect">
            <a:avLst/>
          </a:prstGeom>
          <a:solidFill>
            <a:srgbClr val="F2860D"/>
          </a:solidFill>
          <a:ln/>
        </p:spPr>
        <p:txBody>
          <a:bodyPr/>
          <a:lstStyle/>
          <a:p>
            <a:endParaRPr lang="en-SE"/>
          </a:p>
        </p:txBody>
      </p:sp>
      <p:sp>
        <p:nvSpPr>
          <p:cNvPr id="10" name="core text"/>
          <p:cNvSpPr/>
          <p:nvPr/>
        </p:nvSpPr>
        <p:spPr>
          <a:xfrm>
            <a:off x="656928" y="1600000"/>
            <a:ext cx="1530000" cy="2285000"/>
          </a:xfrm>
          <a:prstGeom prst="rect">
            <a:avLst/>
          </a:prstGeom>
          <a:noFill/>
          <a:ln/>
        </p:spPr>
        <p:txBody>
          <a:bodyPr wrap="square" lIns="0" tIns="0" rIns="0" bIns="0" rtlCol="0" anchor="ctr"/>
          <a:lstStyle/>
          <a:p>
            <a:pPr marL="0" indent="0" algn="ctr">
              <a:lnSpc>
                <a:spcPct val="150000"/>
              </a:lnSpc>
              <a:buNone/>
            </a:pPr>
            <a:r>
              <a:rPr lang="en-US" sz="1500" b="1" kern="0" dirty="0">
                <a:solidFill>
                  <a:srgbClr val="ECECEC"/>
                </a:solidFill>
                <a:latin typeface="Arial" pitchFamily="34" charset="0"/>
                <a:ea typeface="Arial" pitchFamily="34" charset="-122"/>
                <a:cs typeface="Arial" pitchFamily="34" charset="-120"/>
              </a:rPr>
              <a:t>pm-engine</a:t>
            </a:r>
            <a:endParaRPr lang="en-US" dirty="0"/>
          </a:p>
          <a:p>
            <a:pPr marL="0" indent="0" algn="ctr">
              <a:lnSpc>
                <a:spcPct val="150000"/>
              </a:lnSpc>
              <a:buNone/>
            </a:pPr>
            <a:r>
              <a:rPr lang="en-US" sz="950" kern="0" dirty="0">
                <a:solidFill>
                  <a:srgbClr val="B4B4BE"/>
                </a:solidFill>
                <a:latin typeface="Calibri" pitchFamily="34" charset="0"/>
                <a:ea typeface="Calibri" pitchFamily="34" charset="-122"/>
                <a:cs typeface="Calibri" pitchFamily="34" charset="-120"/>
              </a:rPr>
              <a:t>Matching engine</a:t>
            </a:r>
            <a:endParaRPr lang="en-US" dirty="0"/>
          </a:p>
          <a:p>
            <a:pPr marL="0" indent="0" algn="ctr">
              <a:lnSpc>
                <a:spcPct val="150000"/>
              </a:lnSpc>
              <a:buNone/>
            </a:pPr>
            <a:r>
              <a:rPr lang="en-US" sz="1050" b="1" kern="0" dirty="0" err="1">
                <a:solidFill>
                  <a:srgbClr val="F2860D"/>
                </a:solidFill>
                <a:latin typeface="Courier New" pitchFamily="34" charset="0"/>
                <a:ea typeface="Courier New" pitchFamily="34" charset="-122"/>
                <a:cs typeface="Courier New" pitchFamily="34" charset="-120"/>
              </a:rPr>
              <a:t>ZeroMQ</a:t>
            </a:r>
            <a:r>
              <a:rPr lang="en-US" sz="1050" b="1" kern="0" dirty="0">
                <a:solidFill>
                  <a:srgbClr val="F2860D"/>
                </a:solidFill>
                <a:latin typeface="Courier New" pitchFamily="34" charset="0"/>
                <a:ea typeface="Courier New" pitchFamily="34" charset="-122"/>
                <a:cs typeface="Courier New" pitchFamily="34" charset="-120"/>
              </a:rPr>
              <a:t> bus</a:t>
            </a:r>
            <a:endParaRPr lang="en-US" dirty="0"/>
          </a:p>
          <a:p>
            <a:pPr marL="0" indent="0" algn="ctr">
              <a:lnSpc>
                <a:spcPct val="150000"/>
              </a:lnSpc>
              <a:buNone/>
            </a:pPr>
            <a:r>
              <a:rPr lang="en-US" sz="800" kern="0" dirty="0">
                <a:solidFill>
                  <a:srgbClr val="8FA0B0"/>
                </a:solidFill>
                <a:latin typeface="Courier New" pitchFamily="34" charset="0"/>
                <a:ea typeface="Courier New" pitchFamily="34" charset="-122"/>
                <a:cs typeface="Courier New" pitchFamily="34" charset="-120"/>
              </a:rPr>
              <a:t>PUB :5556 · PULL :5555</a:t>
            </a:r>
            <a:endParaRPr lang="en-US" dirty="0"/>
          </a:p>
        </p:txBody>
      </p:sp>
      <p:sp>
        <p:nvSpPr>
          <p:cNvPr id="11" name="link">
            <a:extLst>
              <a:ext uri="{C183D7F6-B498-43B3-948B-1728B52AA6E4}">
                <adec:decorative xmlns:adec="http://schemas.microsoft.com/office/drawing/2017/decorative" val="1"/>
              </a:ext>
            </a:extLst>
          </p:cNvPr>
          <p:cNvSpPr/>
          <p:nvPr/>
        </p:nvSpPr>
        <p:spPr>
          <a:xfrm>
            <a:off x="2276928" y="1850000"/>
            <a:ext cx="1033072" cy="0"/>
          </a:xfrm>
          <a:prstGeom prst="line">
            <a:avLst/>
          </a:prstGeom>
          <a:noFill/>
          <a:ln w="19050">
            <a:solidFill>
              <a:srgbClr val="F2860D"/>
            </a:solidFill>
            <a:prstDash val="solid"/>
            <a:round/>
            <a:headEnd type="triangle"/>
            <a:tailEnd type="triangle"/>
          </a:ln>
        </p:spPr>
        <p:txBody>
          <a:bodyPr/>
          <a:lstStyle/>
          <a:p>
            <a:endParaRPr lang="en-SE"/>
          </a:p>
        </p:txBody>
      </p:sp>
      <p:sp>
        <p:nvSpPr>
          <p:cNvPr id="12" name="card">
            <a:extLst>
              <a:ext uri="{C183D7F6-B498-43B3-948B-1728B52AA6E4}">
                <adec:decorative xmlns:adec="http://schemas.microsoft.com/office/drawing/2017/decorative" val="1"/>
              </a:ext>
            </a:extLst>
          </p:cNvPr>
          <p:cNvSpPr/>
          <p:nvPr/>
        </p:nvSpPr>
        <p:spPr>
          <a:xfrm>
            <a:off x="3310000" y="1600000"/>
            <a:ext cx="2130000" cy="50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3" name="node accent">
            <a:extLst>
              <a:ext uri="{C183D7F6-B498-43B3-948B-1728B52AA6E4}">
                <adec:decorative xmlns:adec="http://schemas.microsoft.com/office/drawing/2017/decorative" val="1"/>
              </a:ext>
            </a:extLst>
          </p:cNvPr>
          <p:cNvSpPr/>
          <p:nvPr/>
        </p:nvSpPr>
        <p:spPr>
          <a:xfrm>
            <a:off x="3310000" y="1600000"/>
            <a:ext cx="2130000" cy="54864"/>
          </a:xfrm>
          <a:prstGeom prst="rect">
            <a:avLst/>
          </a:prstGeom>
          <a:solidFill>
            <a:srgbClr val="F2860D"/>
          </a:solidFill>
          <a:ln/>
        </p:spPr>
        <p:txBody>
          <a:bodyPr/>
          <a:lstStyle/>
          <a:p>
            <a:endParaRPr lang="en-SE"/>
          </a:p>
        </p:txBody>
      </p:sp>
      <p:sp>
        <p:nvSpPr>
          <p:cNvPr id="14" name="gwy text"/>
          <p:cNvSpPr/>
          <p:nvPr/>
        </p:nvSpPr>
        <p:spPr>
          <a:xfrm>
            <a:off x="3400000" y="1600000"/>
            <a:ext cx="1950000" cy="500000"/>
          </a:xfrm>
          <a:prstGeom prst="rect">
            <a:avLst/>
          </a:prstGeom>
          <a:noFill/>
          <a:ln/>
        </p:spPr>
        <p:txBody>
          <a:bodyPr wrap="square" lIns="0" tIns="0" rIns="0" bIns="0" rtlCol="0" anchor="ctr"/>
          <a:lstStyle/>
          <a:p>
            <a:pPr marL="0" indent="0" algn="ctr">
              <a:lnSpc>
                <a:spcPct val="118000"/>
              </a:lnSpc>
              <a:buNone/>
            </a:pPr>
            <a:r>
              <a:rPr lang="en-US" sz="1200" b="1" kern="0">
                <a:solidFill>
                  <a:srgbClr val="ECECEC"/>
                </a:solidFill>
                <a:latin typeface="Courier New" pitchFamily="34" charset="0"/>
                <a:ea typeface="Courier New" pitchFamily="34" charset="-122"/>
                <a:cs typeface="Courier New" pitchFamily="34" charset="-120"/>
              </a:rPr>
              <a:t>pm-alf-gwy</a:t>
            </a:r>
            <a:endParaRPr lang="en-US"/>
          </a:p>
          <a:p>
            <a:pPr marL="0" indent="0" algn="ctr">
              <a:lnSpc>
                <a:spcPct val="118000"/>
              </a:lnSpc>
              <a:buNone/>
            </a:pPr>
            <a:r>
              <a:rPr lang="en-US" sz="850" kern="0">
                <a:solidFill>
                  <a:srgbClr val="B4B4BE"/>
                </a:solidFill>
                <a:latin typeface="Calibri" pitchFamily="34" charset="0"/>
                <a:ea typeface="Calibri" pitchFamily="34" charset="-122"/>
                <a:cs typeface="Calibri" pitchFamily="34" charset="-120"/>
              </a:rPr>
              <a:t>Order entry · ALF / BALF</a:t>
            </a:r>
            <a:endParaRPr lang="en-US"/>
          </a:p>
        </p:txBody>
      </p:sp>
      <p:sp>
        <p:nvSpPr>
          <p:cNvPr id="15" name="link">
            <a:extLst>
              <a:ext uri="{C183D7F6-B498-43B3-948B-1728B52AA6E4}">
                <adec:decorative xmlns:adec="http://schemas.microsoft.com/office/drawing/2017/decorative" val="1"/>
              </a:ext>
            </a:extLst>
          </p:cNvPr>
          <p:cNvSpPr/>
          <p:nvPr/>
        </p:nvSpPr>
        <p:spPr>
          <a:xfrm>
            <a:off x="5440000" y="1850000"/>
            <a:ext cx="920000" cy="0"/>
          </a:xfrm>
          <a:prstGeom prst="line">
            <a:avLst/>
          </a:prstGeom>
          <a:noFill/>
          <a:ln w="19050">
            <a:solidFill>
              <a:srgbClr val="F2860D"/>
            </a:solidFill>
            <a:prstDash val="solid"/>
            <a:round/>
            <a:headEnd type="triangle"/>
            <a:tailEnd type="triangle"/>
          </a:ln>
        </p:spPr>
        <p:txBody>
          <a:bodyPr/>
          <a:lstStyle/>
          <a:p>
            <a:endParaRPr lang="en-SE"/>
          </a:p>
        </p:txBody>
      </p:sp>
      <p:sp>
        <p:nvSpPr>
          <p:cNvPr id="16" name="link tag"/>
          <p:cNvSpPr/>
          <p:nvPr/>
        </p:nvSpPr>
        <p:spPr>
          <a:xfrm>
            <a:off x="5440000" y="1655000"/>
            <a:ext cx="920000" cy="165000"/>
          </a:xfrm>
          <a:prstGeom prst="rect">
            <a:avLst/>
          </a:prstGeom>
          <a:noFill/>
          <a:ln/>
        </p:spPr>
        <p:txBody>
          <a:bodyPr wrap="square" lIns="0" tIns="0" rIns="0" bIns="0" rtlCol="0" anchor="ctr"/>
          <a:lstStyle/>
          <a:p>
            <a:pPr marL="0" indent="0" algn="ctr">
              <a:buNone/>
            </a:pPr>
            <a:r>
              <a:rPr lang="en-US" sz="800" kern="0">
                <a:solidFill>
                  <a:srgbClr val="AEB9C4"/>
                </a:solidFill>
                <a:latin typeface="Courier New" pitchFamily="34" charset="0"/>
                <a:ea typeface="Courier New" pitchFamily="34" charset="-122"/>
                <a:cs typeface="Courier New" pitchFamily="34" charset="-120"/>
              </a:rPr>
              <a:t>TCP · ALF/BALF</a:t>
            </a:r>
            <a:endParaRPr lang="en-US"/>
          </a:p>
        </p:txBody>
      </p:sp>
      <p:sp>
        <p:nvSpPr>
          <p:cNvPr id="17" name="card">
            <a:extLst>
              <a:ext uri="{C183D7F6-B498-43B3-948B-1728B52AA6E4}">
                <adec:decorative xmlns:adec="http://schemas.microsoft.com/office/drawing/2017/decorative" val="1"/>
              </a:ext>
            </a:extLst>
          </p:cNvPr>
          <p:cNvSpPr/>
          <p:nvPr/>
        </p:nvSpPr>
        <p:spPr>
          <a:xfrm>
            <a:off x="6360000" y="1600000"/>
            <a:ext cx="2217072" cy="50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8" name="node accent">
            <a:extLst>
              <a:ext uri="{C183D7F6-B498-43B3-948B-1728B52AA6E4}">
                <adec:decorative xmlns:adec="http://schemas.microsoft.com/office/drawing/2017/decorative" val="1"/>
              </a:ext>
            </a:extLst>
          </p:cNvPr>
          <p:cNvSpPr/>
          <p:nvPr/>
        </p:nvSpPr>
        <p:spPr>
          <a:xfrm>
            <a:off x="6360000" y="1600000"/>
            <a:ext cx="2217072" cy="54864"/>
          </a:xfrm>
          <a:prstGeom prst="rect">
            <a:avLst/>
          </a:prstGeom>
          <a:solidFill>
            <a:srgbClr val="F2860D"/>
          </a:solidFill>
          <a:ln/>
        </p:spPr>
        <p:txBody>
          <a:bodyPr/>
          <a:lstStyle/>
          <a:p>
            <a:endParaRPr lang="en-SE"/>
          </a:p>
        </p:txBody>
      </p:sp>
      <p:sp>
        <p:nvSpPr>
          <p:cNvPr id="19" name="ext text"/>
          <p:cNvSpPr/>
          <p:nvPr/>
        </p:nvSpPr>
        <p:spPr>
          <a:xfrm>
            <a:off x="6450000" y="1600000"/>
            <a:ext cx="2037072" cy="500000"/>
          </a:xfrm>
          <a:prstGeom prst="rect">
            <a:avLst/>
          </a:prstGeom>
          <a:noFill/>
          <a:ln/>
        </p:spPr>
        <p:txBody>
          <a:bodyPr wrap="square" lIns="0" tIns="0" rIns="0" bIns="0" rtlCol="0" anchor="ctr"/>
          <a:lstStyle/>
          <a:p>
            <a:pPr marL="0" indent="0" algn="ctr">
              <a:lnSpc>
                <a:spcPct val="118000"/>
              </a:lnSpc>
              <a:buNone/>
            </a:pPr>
            <a:r>
              <a:rPr lang="en-US" sz="1150" b="1" kern="0">
                <a:solidFill>
                  <a:srgbClr val="ECECEC"/>
                </a:solidFill>
                <a:latin typeface="Arial" pitchFamily="34" charset="0"/>
                <a:ea typeface="Arial" pitchFamily="34" charset="-122"/>
                <a:cs typeface="Arial" pitchFamily="34" charset="-120"/>
              </a:rPr>
              <a:t>Trade GUI terminals</a:t>
            </a:r>
            <a:endParaRPr lang="en-US"/>
          </a:p>
          <a:p>
            <a:pPr marL="0" indent="0" algn="ctr">
              <a:lnSpc>
                <a:spcPct val="118000"/>
              </a:lnSpc>
              <a:buNone/>
            </a:pPr>
            <a:r>
              <a:rPr lang="en-US" sz="850" kern="0">
                <a:solidFill>
                  <a:srgbClr val="B4B4BE"/>
                </a:solidFill>
                <a:latin typeface="Calibri" pitchFamily="34" charset="0"/>
                <a:ea typeface="Calibri" pitchFamily="34" charset="-122"/>
                <a:cs typeface="Calibri" pitchFamily="34" charset="-120"/>
              </a:rPr>
              <a:t>Order-entry consoles</a:t>
            </a:r>
            <a:endParaRPr lang="en-US"/>
          </a:p>
        </p:txBody>
      </p:sp>
      <p:sp>
        <p:nvSpPr>
          <p:cNvPr id="20" name="link">
            <a:extLst>
              <a:ext uri="{C183D7F6-B498-43B3-948B-1728B52AA6E4}">
                <adec:decorative xmlns:adec="http://schemas.microsoft.com/office/drawing/2017/decorative" val="1"/>
              </a:ext>
            </a:extLst>
          </p:cNvPr>
          <p:cNvSpPr/>
          <p:nvPr/>
        </p:nvSpPr>
        <p:spPr>
          <a:xfrm>
            <a:off x="2276928" y="2445000"/>
            <a:ext cx="1033072" cy="0"/>
          </a:xfrm>
          <a:prstGeom prst="line">
            <a:avLst/>
          </a:prstGeom>
          <a:noFill/>
          <a:ln w="19050">
            <a:solidFill>
              <a:srgbClr val="B98CE0"/>
            </a:solidFill>
            <a:prstDash val="solid"/>
            <a:round/>
            <a:headEnd type="triangle"/>
            <a:tailEnd type="triangle"/>
          </a:ln>
        </p:spPr>
        <p:txBody>
          <a:bodyPr/>
          <a:lstStyle/>
          <a:p>
            <a:endParaRPr lang="en-SE"/>
          </a:p>
        </p:txBody>
      </p:sp>
      <p:sp>
        <p:nvSpPr>
          <p:cNvPr id="21" name="card">
            <a:extLst>
              <a:ext uri="{C183D7F6-B498-43B3-948B-1728B52AA6E4}">
                <adec:decorative xmlns:adec="http://schemas.microsoft.com/office/drawing/2017/decorative" val="1"/>
              </a:ext>
            </a:extLst>
          </p:cNvPr>
          <p:cNvSpPr/>
          <p:nvPr/>
        </p:nvSpPr>
        <p:spPr>
          <a:xfrm>
            <a:off x="3310000" y="2195000"/>
            <a:ext cx="2130000" cy="50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2" name="node accent">
            <a:extLst>
              <a:ext uri="{C183D7F6-B498-43B3-948B-1728B52AA6E4}">
                <adec:decorative xmlns:adec="http://schemas.microsoft.com/office/drawing/2017/decorative" val="1"/>
              </a:ext>
            </a:extLst>
          </p:cNvPr>
          <p:cNvSpPr/>
          <p:nvPr/>
        </p:nvSpPr>
        <p:spPr>
          <a:xfrm>
            <a:off x="3310000" y="2195000"/>
            <a:ext cx="2130000" cy="54864"/>
          </a:xfrm>
          <a:prstGeom prst="rect">
            <a:avLst/>
          </a:prstGeom>
          <a:solidFill>
            <a:srgbClr val="B98CE0"/>
          </a:solidFill>
          <a:ln/>
        </p:spPr>
        <p:txBody>
          <a:bodyPr/>
          <a:lstStyle/>
          <a:p>
            <a:endParaRPr lang="en-SE"/>
          </a:p>
        </p:txBody>
      </p:sp>
      <p:sp>
        <p:nvSpPr>
          <p:cNvPr id="23" name="gwy text"/>
          <p:cNvSpPr/>
          <p:nvPr/>
        </p:nvSpPr>
        <p:spPr>
          <a:xfrm>
            <a:off x="3400000" y="2195000"/>
            <a:ext cx="1950000" cy="500000"/>
          </a:xfrm>
          <a:prstGeom prst="rect">
            <a:avLst/>
          </a:prstGeom>
          <a:noFill/>
          <a:ln/>
        </p:spPr>
        <p:txBody>
          <a:bodyPr wrap="square" lIns="0" tIns="0" rIns="0" bIns="0" rtlCol="0" anchor="ctr"/>
          <a:lstStyle/>
          <a:p>
            <a:pPr marL="0" indent="0" algn="ctr">
              <a:lnSpc>
                <a:spcPct val="118000"/>
              </a:lnSpc>
              <a:buNone/>
            </a:pPr>
            <a:r>
              <a:rPr lang="en-US" sz="1200" b="1" kern="0">
                <a:solidFill>
                  <a:srgbClr val="ECECEC"/>
                </a:solidFill>
                <a:latin typeface="Courier New" pitchFamily="34" charset="0"/>
                <a:ea typeface="Courier New" pitchFamily="34" charset="-122"/>
                <a:cs typeface="Courier New" pitchFamily="34" charset="-120"/>
              </a:rPr>
              <a:t>pm-md-gwy</a:t>
            </a:r>
            <a:endParaRPr lang="en-US"/>
          </a:p>
          <a:p>
            <a:pPr marL="0" indent="0" algn="ctr">
              <a:lnSpc>
                <a:spcPct val="118000"/>
              </a:lnSpc>
              <a:buNone/>
            </a:pPr>
            <a:r>
              <a:rPr lang="en-US" sz="850" kern="0">
                <a:solidFill>
                  <a:srgbClr val="B4B4BE"/>
                </a:solidFill>
                <a:latin typeface="Calibri" pitchFamily="34" charset="0"/>
                <a:ea typeface="Calibri" pitchFamily="34" charset="-122"/>
                <a:cs typeface="Calibri" pitchFamily="34" charset="-120"/>
              </a:rPr>
              <a:t>Market-data feed · CALF</a:t>
            </a:r>
            <a:endParaRPr lang="en-US"/>
          </a:p>
        </p:txBody>
      </p:sp>
      <p:sp>
        <p:nvSpPr>
          <p:cNvPr id="24" name="link">
            <a:extLst>
              <a:ext uri="{C183D7F6-B498-43B3-948B-1728B52AA6E4}">
                <adec:decorative xmlns:adec="http://schemas.microsoft.com/office/drawing/2017/decorative" val="1"/>
              </a:ext>
            </a:extLst>
          </p:cNvPr>
          <p:cNvSpPr/>
          <p:nvPr/>
        </p:nvSpPr>
        <p:spPr>
          <a:xfrm>
            <a:off x="5440000" y="2445000"/>
            <a:ext cx="920000" cy="0"/>
          </a:xfrm>
          <a:prstGeom prst="line">
            <a:avLst/>
          </a:prstGeom>
          <a:noFill/>
          <a:ln w="19050">
            <a:solidFill>
              <a:srgbClr val="B98CE0"/>
            </a:solidFill>
            <a:prstDash val="solid"/>
            <a:round/>
            <a:headEnd type="triangle"/>
            <a:tailEnd type="triangle"/>
          </a:ln>
        </p:spPr>
        <p:txBody>
          <a:bodyPr/>
          <a:lstStyle/>
          <a:p>
            <a:endParaRPr lang="en-SE"/>
          </a:p>
        </p:txBody>
      </p:sp>
      <p:sp>
        <p:nvSpPr>
          <p:cNvPr id="25" name="link tag"/>
          <p:cNvSpPr/>
          <p:nvPr/>
        </p:nvSpPr>
        <p:spPr>
          <a:xfrm>
            <a:off x="5440000" y="2250000"/>
            <a:ext cx="920000" cy="165000"/>
          </a:xfrm>
          <a:prstGeom prst="rect">
            <a:avLst/>
          </a:prstGeom>
          <a:noFill/>
          <a:ln/>
        </p:spPr>
        <p:txBody>
          <a:bodyPr wrap="square" lIns="0" tIns="0" rIns="0" bIns="0" rtlCol="0" anchor="ctr"/>
          <a:lstStyle/>
          <a:p>
            <a:pPr marL="0" indent="0" algn="ctr">
              <a:buNone/>
            </a:pPr>
            <a:r>
              <a:rPr lang="en-US" sz="800" kern="0" dirty="0">
                <a:solidFill>
                  <a:srgbClr val="AEB9C4"/>
                </a:solidFill>
                <a:latin typeface="Courier New" pitchFamily="34" charset="0"/>
                <a:ea typeface="Courier New" pitchFamily="34" charset="-122"/>
                <a:cs typeface="Courier New" pitchFamily="34" charset="-120"/>
              </a:rPr>
              <a:t>TCP · CALF</a:t>
            </a:r>
            <a:endParaRPr lang="en-US" dirty="0"/>
          </a:p>
        </p:txBody>
      </p:sp>
      <p:sp>
        <p:nvSpPr>
          <p:cNvPr id="26" name="card">
            <a:extLst>
              <a:ext uri="{C183D7F6-B498-43B3-948B-1728B52AA6E4}">
                <adec:decorative xmlns:adec="http://schemas.microsoft.com/office/drawing/2017/decorative" val="1"/>
              </a:ext>
            </a:extLst>
          </p:cNvPr>
          <p:cNvSpPr/>
          <p:nvPr/>
        </p:nvSpPr>
        <p:spPr>
          <a:xfrm>
            <a:off x="6360000" y="2195000"/>
            <a:ext cx="2217072" cy="50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7" name="node accent">
            <a:extLst>
              <a:ext uri="{C183D7F6-B498-43B3-948B-1728B52AA6E4}">
                <adec:decorative xmlns:adec="http://schemas.microsoft.com/office/drawing/2017/decorative" val="1"/>
              </a:ext>
            </a:extLst>
          </p:cNvPr>
          <p:cNvSpPr/>
          <p:nvPr/>
        </p:nvSpPr>
        <p:spPr>
          <a:xfrm>
            <a:off x="6360000" y="2195000"/>
            <a:ext cx="2217072" cy="54864"/>
          </a:xfrm>
          <a:prstGeom prst="rect">
            <a:avLst/>
          </a:prstGeom>
          <a:solidFill>
            <a:srgbClr val="B98CE0"/>
          </a:solidFill>
          <a:ln/>
        </p:spPr>
        <p:txBody>
          <a:bodyPr/>
          <a:lstStyle/>
          <a:p>
            <a:endParaRPr lang="en-SE"/>
          </a:p>
        </p:txBody>
      </p:sp>
      <p:sp>
        <p:nvSpPr>
          <p:cNvPr id="28" name="ext text"/>
          <p:cNvSpPr/>
          <p:nvPr/>
        </p:nvSpPr>
        <p:spPr>
          <a:xfrm>
            <a:off x="6450000" y="2195000"/>
            <a:ext cx="2037072" cy="500000"/>
          </a:xfrm>
          <a:prstGeom prst="rect">
            <a:avLst/>
          </a:prstGeom>
          <a:noFill/>
          <a:ln/>
        </p:spPr>
        <p:txBody>
          <a:bodyPr wrap="square" lIns="0" tIns="0" rIns="0" bIns="0" rtlCol="0" anchor="ctr"/>
          <a:lstStyle/>
          <a:p>
            <a:pPr marL="0" indent="0" algn="ctr">
              <a:lnSpc>
                <a:spcPct val="118000"/>
              </a:lnSpc>
              <a:buNone/>
            </a:pPr>
            <a:r>
              <a:rPr lang="en-US" sz="1150" b="1" kern="0">
                <a:solidFill>
                  <a:srgbClr val="ECECEC"/>
                </a:solidFill>
                <a:latin typeface="Arial" pitchFamily="34" charset="0"/>
                <a:ea typeface="Arial" pitchFamily="34" charset="-122"/>
                <a:cs typeface="Arial" pitchFamily="34" charset="-120"/>
              </a:rPr>
              <a:t>Market-data terminals</a:t>
            </a:r>
            <a:endParaRPr lang="en-US"/>
          </a:p>
          <a:p>
            <a:pPr marL="0" indent="0" algn="ctr">
              <a:lnSpc>
                <a:spcPct val="118000"/>
              </a:lnSpc>
              <a:buNone/>
            </a:pPr>
            <a:r>
              <a:rPr lang="en-US" sz="850" kern="0">
                <a:solidFill>
                  <a:srgbClr val="B4B4BE"/>
                </a:solidFill>
                <a:latin typeface="Calibri" pitchFamily="34" charset="0"/>
                <a:ea typeface="Calibri" pitchFamily="34" charset="-122"/>
                <a:cs typeface="Calibri" pitchFamily="34" charset="-120"/>
              </a:rPr>
              <a:t>Bloomberg-style dashboards</a:t>
            </a:r>
            <a:endParaRPr lang="en-US"/>
          </a:p>
        </p:txBody>
      </p:sp>
      <p:sp>
        <p:nvSpPr>
          <p:cNvPr id="29" name="link">
            <a:extLst>
              <a:ext uri="{C183D7F6-B498-43B3-948B-1728B52AA6E4}">
                <adec:decorative xmlns:adec="http://schemas.microsoft.com/office/drawing/2017/decorative" val="1"/>
              </a:ext>
            </a:extLst>
          </p:cNvPr>
          <p:cNvSpPr/>
          <p:nvPr/>
        </p:nvSpPr>
        <p:spPr>
          <a:xfrm>
            <a:off x="2276928" y="3040000"/>
            <a:ext cx="1033072" cy="0"/>
          </a:xfrm>
          <a:prstGeom prst="line">
            <a:avLst/>
          </a:prstGeom>
          <a:noFill/>
          <a:ln w="19050">
            <a:solidFill>
              <a:srgbClr val="5FC98E"/>
            </a:solidFill>
            <a:prstDash val="solid"/>
            <a:round/>
            <a:headEnd type="triangle"/>
            <a:tailEnd type="triangle"/>
          </a:ln>
        </p:spPr>
        <p:txBody>
          <a:bodyPr/>
          <a:lstStyle/>
          <a:p>
            <a:endParaRPr lang="en-SE"/>
          </a:p>
        </p:txBody>
      </p:sp>
      <p:sp>
        <p:nvSpPr>
          <p:cNvPr id="30" name="card">
            <a:extLst>
              <a:ext uri="{C183D7F6-B498-43B3-948B-1728B52AA6E4}">
                <adec:decorative xmlns:adec="http://schemas.microsoft.com/office/drawing/2017/decorative" val="1"/>
              </a:ext>
            </a:extLst>
          </p:cNvPr>
          <p:cNvSpPr/>
          <p:nvPr/>
        </p:nvSpPr>
        <p:spPr>
          <a:xfrm>
            <a:off x="3310000" y="2790000"/>
            <a:ext cx="2130000" cy="50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1" name="node accent">
            <a:extLst>
              <a:ext uri="{C183D7F6-B498-43B3-948B-1728B52AA6E4}">
                <adec:decorative xmlns:adec="http://schemas.microsoft.com/office/drawing/2017/decorative" val="1"/>
              </a:ext>
            </a:extLst>
          </p:cNvPr>
          <p:cNvSpPr/>
          <p:nvPr/>
        </p:nvSpPr>
        <p:spPr>
          <a:xfrm>
            <a:off x="3310000" y="2790000"/>
            <a:ext cx="2130000" cy="54864"/>
          </a:xfrm>
          <a:prstGeom prst="rect">
            <a:avLst/>
          </a:prstGeom>
          <a:solidFill>
            <a:srgbClr val="5FC98E"/>
          </a:solidFill>
          <a:ln/>
        </p:spPr>
        <p:txBody>
          <a:bodyPr/>
          <a:lstStyle/>
          <a:p>
            <a:endParaRPr lang="en-SE"/>
          </a:p>
        </p:txBody>
      </p:sp>
      <p:sp>
        <p:nvSpPr>
          <p:cNvPr id="32" name="gwy text"/>
          <p:cNvSpPr/>
          <p:nvPr/>
        </p:nvSpPr>
        <p:spPr>
          <a:xfrm>
            <a:off x="3400000" y="2790000"/>
            <a:ext cx="1950000" cy="500000"/>
          </a:xfrm>
          <a:prstGeom prst="rect">
            <a:avLst/>
          </a:prstGeom>
          <a:noFill/>
          <a:ln/>
        </p:spPr>
        <p:txBody>
          <a:bodyPr wrap="square" lIns="0" tIns="0" rIns="0" bIns="0" rtlCol="0" anchor="ctr"/>
          <a:lstStyle/>
          <a:p>
            <a:pPr marL="0" indent="0" algn="ctr">
              <a:lnSpc>
                <a:spcPct val="118000"/>
              </a:lnSpc>
              <a:buNone/>
            </a:pPr>
            <a:r>
              <a:rPr lang="en-US" sz="1200" b="1" kern="0">
                <a:solidFill>
                  <a:srgbClr val="ECECEC"/>
                </a:solidFill>
                <a:latin typeface="Courier New" pitchFamily="34" charset="0"/>
                <a:ea typeface="Courier New" pitchFamily="34" charset="-122"/>
                <a:cs typeface="Courier New" pitchFamily="34" charset="-120"/>
              </a:rPr>
              <a:t>pm-ralf-gwy</a:t>
            </a:r>
            <a:endParaRPr lang="en-US"/>
          </a:p>
          <a:p>
            <a:pPr marL="0" indent="0" algn="ctr">
              <a:lnSpc>
                <a:spcPct val="118000"/>
              </a:lnSpc>
              <a:buNone/>
            </a:pPr>
            <a:r>
              <a:rPr lang="en-US" sz="850" kern="0">
                <a:solidFill>
                  <a:srgbClr val="B4B4BE"/>
                </a:solidFill>
                <a:latin typeface="Calibri" pitchFamily="34" charset="0"/>
                <a:ea typeface="Calibri" pitchFamily="34" charset="-122"/>
                <a:cs typeface="Calibri" pitchFamily="34" charset="-120"/>
              </a:rPr>
              <a:t>Post-trade feed · RALF</a:t>
            </a:r>
            <a:endParaRPr lang="en-US"/>
          </a:p>
        </p:txBody>
      </p:sp>
      <p:sp>
        <p:nvSpPr>
          <p:cNvPr id="33" name="link">
            <a:extLst>
              <a:ext uri="{C183D7F6-B498-43B3-948B-1728B52AA6E4}">
                <adec:decorative xmlns:adec="http://schemas.microsoft.com/office/drawing/2017/decorative" val="1"/>
              </a:ext>
            </a:extLst>
          </p:cNvPr>
          <p:cNvSpPr/>
          <p:nvPr/>
        </p:nvSpPr>
        <p:spPr>
          <a:xfrm>
            <a:off x="5440000" y="3040000"/>
            <a:ext cx="920000" cy="0"/>
          </a:xfrm>
          <a:prstGeom prst="line">
            <a:avLst/>
          </a:prstGeom>
          <a:noFill/>
          <a:ln w="19050">
            <a:solidFill>
              <a:srgbClr val="5FC98E"/>
            </a:solidFill>
            <a:prstDash val="solid"/>
            <a:round/>
            <a:headEnd type="triangle"/>
            <a:tailEnd type="triangle"/>
          </a:ln>
        </p:spPr>
        <p:txBody>
          <a:bodyPr/>
          <a:lstStyle/>
          <a:p>
            <a:endParaRPr lang="en-SE"/>
          </a:p>
        </p:txBody>
      </p:sp>
      <p:sp>
        <p:nvSpPr>
          <p:cNvPr id="34" name="link tag"/>
          <p:cNvSpPr/>
          <p:nvPr/>
        </p:nvSpPr>
        <p:spPr>
          <a:xfrm>
            <a:off x="5440000" y="2845000"/>
            <a:ext cx="920000" cy="165000"/>
          </a:xfrm>
          <a:prstGeom prst="rect">
            <a:avLst/>
          </a:prstGeom>
          <a:noFill/>
          <a:ln/>
        </p:spPr>
        <p:txBody>
          <a:bodyPr wrap="square" lIns="0" tIns="0" rIns="0" bIns="0" rtlCol="0" anchor="ctr"/>
          <a:lstStyle/>
          <a:p>
            <a:pPr marL="0" indent="0" algn="ctr">
              <a:buNone/>
            </a:pPr>
            <a:r>
              <a:rPr lang="en-US" sz="800" kern="0">
                <a:solidFill>
                  <a:srgbClr val="AEB9C4"/>
                </a:solidFill>
                <a:latin typeface="Courier New" pitchFamily="34" charset="0"/>
                <a:ea typeface="Courier New" pitchFamily="34" charset="-122"/>
                <a:cs typeface="Courier New" pitchFamily="34" charset="-120"/>
              </a:rPr>
              <a:t>TCP · RALF</a:t>
            </a:r>
            <a:endParaRPr lang="en-US"/>
          </a:p>
        </p:txBody>
      </p:sp>
      <p:sp>
        <p:nvSpPr>
          <p:cNvPr id="35" name="card">
            <a:extLst>
              <a:ext uri="{C183D7F6-B498-43B3-948B-1728B52AA6E4}">
                <adec:decorative xmlns:adec="http://schemas.microsoft.com/office/drawing/2017/decorative" val="1"/>
              </a:ext>
            </a:extLst>
          </p:cNvPr>
          <p:cNvSpPr/>
          <p:nvPr/>
        </p:nvSpPr>
        <p:spPr>
          <a:xfrm>
            <a:off x="6360000" y="2790000"/>
            <a:ext cx="2217072" cy="50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6" name="node accent">
            <a:extLst>
              <a:ext uri="{C183D7F6-B498-43B3-948B-1728B52AA6E4}">
                <adec:decorative xmlns:adec="http://schemas.microsoft.com/office/drawing/2017/decorative" val="1"/>
              </a:ext>
            </a:extLst>
          </p:cNvPr>
          <p:cNvSpPr/>
          <p:nvPr/>
        </p:nvSpPr>
        <p:spPr>
          <a:xfrm>
            <a:off x="6360000" y="2790000"/>
            <a:ext cx="2217072" cy="54864"/>
          </a:xfrm>
          <a:prstGeom prst="rect">
            <a:avLst/>
          </a:prstGeom>
          <a:solidFill>
            <a:srgbClr val="5FC98E"/>
          </a:solidFill>
          <a:ln/>
        </p:spPr>
        <p:txBody>
          <a:bodyPr/>
          <a:lstStyle/>
          <a:p>
            <a:endParaRPr lang="en-SE"/>
          </a:p>
        </p:txBody>
      </p:sp>
      <p:sp>
        <p:nvSpPr>
          <p:cNvPr id="37" name="ext text"/>
          <p:cNvSpPr/>
          <p:nvPr/>
        </p:nvSpPr>
        <p:spPr>
          <a:xfrm>
            <a:off x="6450000" y="2790000"/>
            <a:ext cx="2037072" cy="500000"/>
          </a:xfrm>
          <a:prstGeom prst="rect">
            <a:avLst/>
          </a:prstGeom>
          <a:noFill/>
          <a:ln/>
        </p:spPr>
        <p:txBody>
          <a:bodyPr wrap="square" lIns="0" tIns="0" rIns="0" bIns="0" rtlCol="0" anchor="ctr"/>
          <a:lstStyle/>
          <a:p>
            <a:pPr marL="0" indent="0" algn="ctr">
              <a:lnSpc>
                <a:spcPct val="118000"/>
              </a:lnSpc>
              <a:buNone/>
            </a:pPr>
            <a:r>
              <a:rPr lang="en-US" sz="1150" b="1" kern="0">
                <a:solidFill>
                  <a:srgbClr val="ECECEC"/>
                </a:solidFill>
                <a:latin typeface="Arial" pitchFamily="34" charset="0"/>
                <a:ea typeface="Arial" pitchFamily="34" charset="-122"/>
                <a:cs typeface="Arial" pitchFamily="34" charset="-120"/>
              </a:rPr>
              <a:t>Back-office &amp; clearing</a:t>
            </a:r>
            <a:endParaRPr lang="en-US"/>
          </a:p>
          <a:p>
            <a:pPr marL="0" indent="0" algn="ctr">
              <a:lnSpc>
                <a:spcPct val="118000"/>
              </a:lnSpc>
              <a:buNone/>
            </a:pPr>
            <a:r>
              <a:rPr lang="en-US" sz="850" kern="0">
                <a:solidFill>
                  <a:srgbClr val="B4B4BE"/>
                </a:solidFill>
                <a:latin typeface="Calibri" pitchFamily="34" charset="0"/>
                <a:ea typeface="Calibri" pitchFamily="34" charset="-122"/>
                <a:cs typeface="Calibri" pitchFamily="34" charset="-120"/>
              </a:rPr>
              <a:t>Drop-copy / compliance</a:t>
            </a:r>
            <a:endParaRPr lang="en-US"/>
          </a:p>
        </p:txBody>
      </p:sp>
      <p:sp>
        <p:nvSpPr>
          <p:cNvPr id="38" name="link">
            <a:extLst>
              <a:ext uri="{C183D7F6-B498-43B3-948B-1728B52AA6E4}">
                <adec:decorative xmlns:adec="http://schemas.microsoft.com/office/drawing/2017/decorative" val="1"/>
              </a:ext>
            </a:extLst>
          </p:cNvPr>
          <p:cNvSpPr/>
          <p:nvPr/>
        </p:nvSpPr>
        <p:spPr>
          <a:xfrm>
            <a:off x="2276928" y="3635000"/>
            <a:ext cx="1033072" cy="0"/>
          </a:xfrm>
          <a:prstGeom prst="line">
            <a:avLst/>
          </a:prstGeom>
          <a:noFill/>
          <a:ln w="19050">
            <a:solidFill>
              <a:srgbClr val="5B9BF5"/>
            </a:solidFill>
            <a:prstDash val="solid"/>
            <a:round/>
            <a:headEnd type="triangle"/>
            <a:tailEnd type="triangle"/>
          </a:ln>
        </p:spPr>
        <p:txBody>
          <a:bodyPr/>
          <a:lstStyle/>
          <a:p>
            <a:endParaRPr lang="en-SE"/>
          </a:p>
        </p:txBody>
      </p:sp>
      <p:sp>
        <p:nvSpPr>
          <p:cNvPr id="39" name="card">
            <a:extLst>
              <a:ext uri="{C183D7F6-B498-43B3-948B-1728B52AA6E4}">
                <adec:decorative xmlns:adec="http://schemas.microsoft.com/office/drawing/2017/decorative" val="1"/>
              </a:ext>
            </a:extLst>
          </p:cNvPr>
          <p:cNvSpPr/>
          <p:nvPr/>
        </p:nvSpPr>
        <p:spPr>
          <a:xfrm>
            <a:off x="3310000" y="3385000"/>
            <a:ext cx="2130000" cy="50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40" name="node accent">
            <a:extLst>
              <a:ext uri="{C183D7F6-B498-43B3-948B-1728B52AA6E4}">
                <adec:decorative xmlns:adec="http://schemas.microsoft.com/office/drawing/2017/decorative" val="1"/>
              </a:ext>
            </a:extLst>
          </p:cNvPr>
          <p:cNvSpPr/>
          <p:nvPr/>
        </p:nvSpPr>
        <p:spPr>
          <a:xfrm>
            <a:off x="3310000" y="3385000"/>
            <a:ext cx="2130000" cy="54864"/>
          </a:xfrm>
          <a:prstGeom prst="rect">
            <a:avLst/>
          </a:prstGeom>
          <a:solidFill>
            <a:srgbClr val="5B9BF5"/>
          </a:solidFill>
          <a:ln/>
        </p:spPr>
        <p:txBody>
          <a:bodyPr/>
          <a:lstStyle/>
          <a:p>
            <a:endParaRPr lang="en-SE"/>
          </a:p>
        </p:txBody>
      </p:sp>
      <p:sp>
        <p:nvSpPr>
          <p:cNvPr id="41" name="gwy text"/>
          <p:cNvSpPr/>
          <p:nvPr/>
        </p:nvSpPr>
        <p:spPr>
          <a:xfrm>
            <a:off x="3400000" y="3385000"/>
            <a:ext cx="1950000" cy="500000"/>
          </a:xfrm>
          <a:prstGeom prst="rect">
            <a:avLst/>
          </a:prstGeom>
          <a:noFill/>
          <a:ln/>
        </p:spPr>
        <p:txBody>
          <a:bodyPr wrap="square" lIns="0" tIns="0" rIns="0" bIns="0" rtlCol="0" anchor="ctr"/>
          <a:lstStyle/>
          <a:p>
            <a:pPr marL="0" indent="0" algn="ctr">
              <a:lnSpc>
                <a:spcPct val="118000"/>
              </a:lnSpc>
              <a:buNone/>
            </a:pPr>
            <a:r>
              <a:rPr lang="en-US" sz="1200" b="1" kern="0">
                <a:solidFill>
                  <a:srgbClr val="ECECEC"/>
                </a:solidFill>
                <a:latin typeface="Courier New" pitchFamily="34" charset="0"/>
                <a:ea typeface="Courier New" pitchFamily="34" charset="-122"/>
                <a:cs typeface="Courier New" pitchFamily="34" charset="-120"/>
              </a:rPr>
              <a:t>pm-api-gwy</a:t>
            </a:r>
            <a:endParaRPr lang="en-US"/>
          </a:p>
          <a:p>
            <a:pPr marL="0" indent="0" algn="ctr">
              <a:lnSpc>
                <a:spcPct val="118000"/>
              </a:lnSpc>
              <a:buNone/>
            </a:pPr>
            <a:r>
              <a:rPr lang="en-US" sz="850" kern="0">
                <a:solidFill>
                  <a:srgbClr val="B4B4BE"/>
                </a:solidFill>
                <a:latin typeface="Calibri" pitchFamily="34" charset="0"/>
                <a:ea typeface="Calibri" pitchFamily="34" charset="-122"/>
                <a:cs typeface="Calibri" pitchFamily="34" charset="-120"/>
              </a:rPr>
              <a:t>Web gateway · REST + WS</a:t>
            </a:r>
            <a:endParaRPr lang="en-US"/>
          </a:p>
        </p:txBody>
      </p:sp>
      <p:sp>
        <p:nvSpPr>
          <p:cNvPr id="42" name="link">
            <a:extLst>
              <a:ext uri="{C183D7F6-B498-43B3-948B-1728B52AA6E4}">
                <adec:decorative xmlns:adec="http://schemas.microsoft.com/office/drawing/2017/decorative" val="1"/>
              </a:ext>
            </a:extLst>
          </p:cNvPr>
          <p:cNvSpPr/>
          <p:nvPr/>
        </p:nvSpPr>
        <p:spPr>
          <a:xfrm>
            <a:off x="5440000" y="3635000"/>
            <a:ext cx="920000" cy="0"/>
          </a:xfrm>
          <a:prstGeom prst="line">
            <a:avLst/>
          </a:prstGeom>
          <a:noFill/>
          <a:ln w="19050">
            <a:solidFill>
              <a:srgbClr val="5B9BF5"/>
            </a:solidFill>
            <a:prstDash val="solid"/>
            <a:round/>
            <a:headEnd type="triangle"/>
            <a:tailEnd type="triangle"/>
          </a:ln>
        </p:spPr>
        <p:txBody>
          <a:bodyPr/>
          <a:lstStyle/>
          <a:p>
            <a:endParaRPr lang="en-SE"/>
          </a:p>
        </p:txBody>
      </p:sp>
      <p:sp>
        <p:nvSpPr>
          <p:cNvPr id="43" name="link tag"/>
          <p:cNvSpPr/>
          <p:nvPr/>
        </p:nvSpPr>
        <p:spPr>
          <a:xfrm>
            <a:off x="5440000" y="3440000"/>
            <a:ext cx="920000" cy="165000"/>
          </a:xfrm>
          <a:prstGeom prst="rect">
            <a:avLst/>
          </a:prstGeom>
          <a:noFill/>
          <a:ln/>
        </p:spPr>
        <p:txBody>
          <a:bodyPr wrap="square" lIns="0" tIns="0" rIns="0" bIns="0" rtlCol="0" anchor="ctr"/>
          <a:lstStyle/>
          <a:p>
            <a:pPr marL="0" indent="0" algn="ctr">
              <a:buNone/>
            </a:pPr>
            <a:r>
              <a:rPr lang="en-US" sz="800" kern="0">
                <a:solidFill>
                  <a:srgbClr val="AEB9C4"/>
                </a:solidFill>
                <a:latin typeface="Courier New" pitchFamily="34" charset="0"/>
                <a:ea typeface="Courier New" pitchFamily="34" charset="-122"/>
                <a:cs typeface="Courier New" pitchFamily="34" charset="-120"/>
              </a:rPr>
              <a:t>HTTP · :8080</a:t>
            </a:r>
            <a:endParaRPr lang="en-US"/>
          </a:p>
        </p:txBody>
      </p:sp>
      <p:sp>
        <p:nvSpPr>
          <p:cNvPr id="44" name="card">
            <a:extLst>
              <a:ext uri="{C183D7F6-B498-43B3-948B-1728B52AA6E4}">
                <adec:decorative xmlns:adec="http://schemas.microsoft.com/office/drawing/2017/decorative" val="1"/>
              </a:ext>
            </a:extLst>
          </p:cNvPr>
          <p:cNvSpPr/>
          <p:nvPr/>
        </p:nvSpPr>
        <p:spPr>
          <a:xfrm>
            <a:off x="6360000" y="3385000"/>
            <a:ext cx="2217072" cy="500000"/>
          </a:xfrm>
          <a:prstGeom prst="roundRect">
            <a:avLst>
              <a:gd name="adj" fmla="val 810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45" name="node accent">
            <a:extLst>
              <a:ext uri="{C183D7F6-B498-43B3-948B-1728B52AA6E4}">
                <adec:decorative xmlns:adec="http://schemas.microsoft.com/office/drawing/2017/decorative" val="1"/>
              </a:ext>
            </a:extLst>
          </p:cNvPr>
          <p:cNvSpPr/>
          <p:nvPr/>
        </p:nvSpPr>
        <p:spPr>
          <a:xfrm>
            <a:off x="6360000" y="3385000"/>
            <a:ext cx="2217072" cy="54864"/>
          </a:xfrm>
          <a:prstGeom prst="rect">
            <a:avLst/>
          </a:prstGeom>
          <a:solidFill>
            <a:srgbClr val="5B9BF5"/>
          </a:solidFill>
          <a:ln/>
        </p:spPr>
        <p:txBody>
          <a:bodyPr/>
          <a:lstStyle/>
          <a:p>
            <a:endParaRPr lang="en-SE"/>
          </a:p>
        </p:txBody>
      </p:sp>
      <p:sp>
        <p:nvSpPr>
          <p:cNvPr id="46" name="ext text"/>
          <p:cNvSpPr/>
          <p:nvPr/>
        </p:nvSpPr>
        <p:spPr>
          <a:xfrm>
            <a:off x="6450000" y="3385000"/>
            <a:ext cx="2037072" cy="500000"/>
          </a:xfrm>
          <a:prstGeom prst="rect">
            <a:avLst/>
          </a:prstGeom>
          <a:noFill/>
          <a:ln/>
        </p:spPr>
        <p:txBody>
          <a:bodyPr wrap="square" lIns="0" tIns="0" rIns="0" bIns="0" rtlCol="0" anchor="ctr"/>
          <a:lstStyle/>
          <a:p>
            <a:pPr marL="0" indent="0" algn="ctr">
              <a:lnSpc>
                <a:spcPct val="118000"/>
              </a:lnSpc>
              <a:buNone/>
            </a:pPr>
            <a:r>
              <a:rPr lang="en-US" sz="1150" b="1" kern="0">
                <a:solidFill>
                  <a:srgbClr val="ECECEC"/>
                </a:solidFill>
                <a:latin typeface="Arial" pitchFamily="34" charset="0"/>
                <a:ea typeface="Arial" pitchFamily="34" charset="-122"/>
                <a:cs typeface="Arial" pitchFamily="34" charset="-120"/>
              </a:rPr>
              <a:t>Browser &amp; mobile apps</a:t>
            </a:r>
            <a:endParaRPr lang="en-US"/>
          </a:p>
          <a:p>
            <a:pPr marL="0" indent="0" algn="ctr">
              <a:lnSpc>
                <a:spcPct val="118000"/>
              </a:lnSpc>
              <a:buNone/>
            </a:pPr>
            <a:r>
              <a:rPr lang="en-US" sz="850" kern="0">
                <a:solidFill>
                  <a:srgbClr val="B4B4BE"/>
                </a:solidFill>
                <a:latin typeface="Calibri" pitchFamily="34" charset="0"/>
                <a:ea typeface="Calibri" pitchFamily="34" charset="-122"/>
                <a:cs typeface="Calibri" pitchFamily="34" charset="-120"/>
              </a:rPr>
              <a:t>Single-page trading UIs</a:t>
            </a:r>
            <a:endParaRPr lang="en-US"/>
          </a:p>
        </p:txBody>
      </p:sp>
      <p:sp>
        <p:nvSpPr>
          <p:cNvPr id="47" name="note band">
            <a:extLst>
              <a:ext uri="{C183D7F6-B498-43B3-948B-1728B52AA6E4}">
                <adec:decorative xmlns:adec="http://schemas.microsoft.com/office/drawing/2017/decorative" val="1"/>
              </a:ext>
            </a:extLst>
          </p:cNvPr>
          <p:cNvSpPr/>
          <p:nvPr/>
        </p:nvSpPr>
        <p:spPr>
          <a:xfrm>
            <a:off x="2186928" y="4513411"/>
            <a:ext cx="6042672" cy="540000"/>
          </a:xfrm>
          <a:prstGeom prst="roundRect">
            <a:avLst>
              <a:gd name="adj" fmla="val 11500"/>
            </a:avLst>
          </a:prstGeom>
          <a:solidFill>
            <a:srgbClr val="202027"/>
          </a:solidFill>
          <a:ln w="12700">
            <a:solidFill>
              <a:srgbClr val="F2860D"/>
            </a:solidFill>
            <a:prstDash val="solid"/>
          </a:ln>
        </p:spPr>
        <p:txBody>
          <a:bodyPr/>
          <a:lstStyle/>
          <a:p>
            <a:endParaRPr lang="en-SE"/>
          </a:p>
        </p:txBody>
      </p:sp>
      <p:sp>
        <p:nvSpPr>
          <p:cNvPr id="48" name="note text"/>
          <p:cNvSpPr/>
          <p:nvPr/>
        </p:nvSpPr>
        <p:spPr>
          <a:xfrm>
            <a:off x="2276928" y="4513411"/>
            <a:ext cx="5824656" cy="540000"/>
          </a:xfrm>
          <a:prstGeom prst="rect">
            <a:avLst/>
          </a:prstGeom>
          <a:noFill/>
          <a:ln/>
        </p:spPr>
        <p:txBody>
          <a:bodyPr wrap="square" lIns="0" tIns="0" rIns="0" bIns="0" rtlCol="0" anchor="ctr"/>
          <a:lstStyle/>
          <a:p>
            <a:pPr marL="0" indent="0" algn="l">
              <a:buNone/>
            </a:pPr>
            <a:r>
              <a:rPr lang="en-US" sz="1400" kern="0" dirty="0">
                <a:solidFill>
                  <a:srgbClr val="ECECEC"/>
                </a:solidFill>
                <a:latin typeface="Calibri" pitchFamily="34" charset="0"/>
                <a:ea typeface="Calibri" pitchFamily="34" charset="-122"/>
                <a:cs typeface="Calibri" pitchFamily="34" charset="-120"/>
              </a:rPr>
              <a:t>External terminals never touch the internal bus — each gateway is a separate TCP/IP listener that speaks its protocol and bridges to the </a:t>
            </a:r>
            <a:r>
              <a:rPr lang="en-US" sz="1400" b="1" kern="0" dirty="0" err="1">
                <a:solidFill>
                  <a:srgbClr val="ECECEC"/>
                </a:solidFill>
                <a:latin typeface="Calibri" pitchFamily="34" charset="0"/>
                <a:ea typeface="Calibri" pitchFamily="34" charset="-122"/>
                <a:cs typeface="Calibri" pitchFamily="34" charset="-120"/>
              </a:rPr>
              <a:t>ZeroMQ</a:t>
            </a:r>
            <a:r>
              <a:rPr lang="en-US" sz="1400" kern="0" dirty="0">
                <a:solidFill>
                  <a:srgbClr val="ECECEC"/>
                </a:solidFill>
                <a:latin typeface="Calibri" pitchFamily="34" charset="0"/>
                <a:ea typeface="Calibri" pitchFamily="34" charset="-122"/>
                <a:cs typeface="Calibri" pitchFamily="34" charset="-120"/>
              </a:rPr>
              <a:t> core.</a:t>
            </a:r>
            <a:endParaRPr lang="en-US" sz="3200" dirty="0"/>
          </a:p>
        </p:txBody>
      </p:sp>
      <p:sp>
        <p:nvSpPr>
          <p:cNvPr id="49"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50"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05</a:t>
            </a:r>
            <a:endParaRPr lang="en-US"/>
          </a:p>
        </p:txBody>
      </p:sp>
      <p:sp>
        <p:nvSpPr>
          <p:cNvPr id="51" name="Rounded Rectangle 50">
            <a:extLst>
              <a:ext uri="{FF2B5EF4-FFF2-40B4-BE49-F238E27FC236}">
                <a16:creationId xmlns:a16="http://schemas.microsoft.com/office/drawing/2014/main" id="{FCA1FE57-48BF-53E8-8E70-F88D78FA62E2}"/>
              </a:ext>
            </a:extLst>
          </p:cNvPr>
          <p:cNvSpPr/>
          <p:nvPr/>
        </p:nvSpPr>
        <p:spPr>
          <a:xfrm>
            <a:off x="408878" y="1316736"/>
            <a:ext cx="4021873" cy="2986291"/>
          </a:xfrm>
          <a:prstGeom prst="roundRect">
            <a:avLst>
              <a:gd name="adj" fmla="val 3715"/>
            </a:avLst>
          </a:prstGeom>
          <a:noFill/>
          <a:ln w="38100">
            <a:solidFill>
              <a:schemeClr val="accent2">
                <a:lumMod val="60000"/>
                <a:lumOff val="40000"/>
                <a:alpha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52" name="Rounded Rectangle 51">
            <a:extLst>
              <a:ext uri="{FF2B5EF4-FFF2-40B4-BE49-F238E27FC236}">
                <a16:creationId xmlns:a16="http://schemas.microsoft.com/office/drawing/2014/main" id="{9AFF41F7-4DD1-F56A-688E-9D03EF4A49F2}"/>
              </a:ext>
            </a:extLst>
          </p:cNvPr>
          <p:cNvSpPr/>
          <p:nvPr/>
        </p:nvSpPr>
        <p:spPr>
          <a:xfrm>
            <a:off x="4462135" y="1282444"/>
            <a:ext cx="4272987" cy="2986291"/>
          </a:xfrm>
          <a:prstGeom prst="roundRect">
            <a:avLst>
              <a:gd name="adj" fmla="val 3715"/>
            </a:avLst>
          </a:prstGeom>
          <a:noFill/>
          <a:ln w="38100">
            <a:solidFill>
              <a:schemeClr val="accent5">
                <a:lumMod val="60000"/>
                <a:lumOff val="40000"/>
                <a:alpha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53" name="TextBox 52">
            <a:extLst>
              <a:ext uri="{FF2B5EF4-FFF2-40B4-BE49-F238E27FC236}">
                <a16:creationId xmlns:a16="http://schemas.microsoft.com/office/drawing/2014/main" id="{84F7820C-801D-8920-3113-F92CAE069631}"/>
              </a:ext>
            </a:extLst>
          </p:cNvPr>
          <p:cNvSpPr txBox="1"/>
          <p:nvPr/>
        </p:nvSpPr>
        <p:spPr>
          <a:xfrm>
            <a:off x="6107150" y="3914736"/>
            <a:ext cx="1903141" cy="369332"/>
          </a:xfrm>
          <a:prstGeom prst="rect">
            <a:avLst/>
          </a:prstGeom>
          <a:noFill/>
        </p:spPr>
        <p:txBody>
          <a:bodyPr wrap="square" rtlCol="0">
            <a:spAutoFit/>
          </a:bodyPr>
          <a:lstStyle/>
          <a:p>
            <a:r>
              <a:rPr lang="en-SE" dirty="0">
                <a:solidFill>
                  <a:schemeClr val="accent5">
                    <a:lumMod val="40000"/>
                    <a:lumOff val="60000"/>
                  </a:schemeClr>
                </a:solidFill>
              </a:rPr>
              <a:t>TCP/IP</a:t>
            </a:r>
          </a:p>
        </p:txBody>
      </p:sp>
      <p:sp>
        <p:nvSpPr>
          <p:cNvPr id="54" name="TextBox 53">
            <a:extLst>
              <a:ext uri="{FF2B5EF4-FFF2-40B4-BE49-F238E27FC236}">
                <a16:creationId xmlns:a16="http://schemas.microsoft.com/office/drawing/2014/main" id="{5B5F499F-564A-C0A6-A98B-99D01F18CBEB}"/>
              </a:ext>
            </a:extLst>
          </p:cNvPr>
          <p:cNvSpPr txBox="1"/>
          <p:nvPr/>
        </p:nvSpPr>
        <p:spPr>
          <a:xfrm>
            <a:off x="1687551" y="3945000"/>
            <a:ext cx="1903141" cy="369332"/>
          </a:xfrm>
          <a:prstGeom prst="rect">
            <a:avLst/>
          </a:prstGeom>
          <a:noFill/>
        </p:spPr>
        <p:txBody>
          <a:bodyPr wrap="square" rtlCol="0">
            <a:spAutoFit/>
          </a:bodyPr>
          <a:lstStyle/>
          <a:p>
            <a:r>
              <a:rPr lang="en-SE" dirty="0">
                <a:solidFill>
                  <a:schemeClr val="accent2">
                    <a:lumMod val="60000"/>
                    <a:lumOff val="40000"/>
                  </a:schemeClr>
                </a:solidFill>
              </a:rPr>
              <a:t>ZeroMQ Bus</a:t>
            </a:r>
          </a:p>
        </p:txBody>
      </p:sp>
      <p:sp>
        <p:nvSpPr>
          <p:cNvPr id="55" name="link tag">
            <a:extLst>
              <a:ext uri="{FF2B5EF4-FFF2-40B4-BE49-F238E27FC236}">
                <a16:creationId xmlns:a16="http://schemas.microsoft.com/office/drawing/2014/main" id="{5F10AD34-E768-026E-E204-AACC0864DD8D}"/>
              </a:ext>
            </a:extLst>
          </p:cNvPr>
          <p:cNvSpPr/>
          <p:nvPr/>
        </p:nvSpPr>
        <p:spPr>
          <a:xfrm>
            <a:off x="2300000" y="3412432"/>
            <a:ext cx="920000" cy="165000"/>
          </a:xfrm>
          <a:prstGeom prst="rect">
            <a:avLst/>
          </a:prstGeom>
          <a:noFill/>
          <a:ln/>
        </p:spPr>
        <p:txBody>
          <a:bodyPr wrap="square" lIns="0" tIns="0" rIns="0" bIns="0" rtlCol="0" anchor="ctr"/>
          <a:lstStyle/>
          <a:p>
            <a:pPr marL="0" indent="0" algn="ctr">
              <a:buNone/>
            </a:pPr>
            <a:r>
              <a:rPr lang="en-US" sz="800" kern="0" dirty="0">
                <a:solidFill>
                  <a:srgbClr val="AEB9C4"/>
                </a:solidFill>
                <a:latin typeface="Courier New" pitchFamily="34" charset="0"/>
                <a:ea typeface="Courier New" pitchFamily="34" charset="-122"/>
                <a:cs typeface="Courier New" pitchFamily="34" charset="-120"/>
              </a:rPr>
              <a:t>messages</a:t>
            </a:r>
            <a:endParaRPr lang="en-US" dirty="0"/>
          </a:p>
        </p:txBody>
      </p:sp>
      <p:sp>
        <p:nvSpPr>
          <p:cNvPr id="56" name="link tag">
            <a:extLst>
              <a:ext uri="{FF2B5EF4-FFF2-40B4-BE49-F238E27FC236}">
                <a16:creationId xmlns:a16="http://schemas.microsoft.com/office/drawing/2014/main" id="{541D28D2-0479-512B-DA8F-6D0ED8C4215E}"/>
              </a:ext>
            </a:extLst>
          </p:cNvPr>
          <p:cNvSpPr/>
          <p:nvPr/>
        </p:nvSpPr>
        <p:spPr>
          <a:xfrm>
            <a:off x="2308312" y="2845000"/>
            <a:ext cx="920000" cy="165000"/>
          </a:xfrm>
          <a:prstGeom prst="rect">
            <a:avLst/>
          </a:prstGeom>
          <a:noFill/>
          <a:ln/>
        </p:spPr>
        <p:txBody>
          <a:bodyPr wrap="square" lIns="0" tIns="0" rIns="0" bIns="0" rtlCol="0" anchor="ctr"/>
          <a:lstStyle/>
          <a:p>
            <a:pPr marL="0" indent="0" algn="ctr">
              <a:buNone/>
            </a:pPr>
            <a:r>
              <a:rPr lang="en-US" sz="800" kern="0" dirty="0">
                <a:solidFill>
                  <a:srgbClr val="AEB9C4"/>
                </a:solidFill>
                <a:latin typeface="Courier New" pitchFamily="34" charset="0"/>
                <a:ea typeface="Courier New" pitchFamily="34" charset="-122"/>
                <a:cs typeface="Courier New" pitchFamily="34" charset="-120"/>
              </a:rPr>
              <a:t>messages</a:t>
            </a:r>
            <a:endParaRPr lang="en-US" dirty="0"/>
          </a:p>
        </p:txBody>
      </p:sp>
      <p:sp>
        <p:nvSpPr>
          <p:cNvPr id="57" name="link tag">
            <a:extLst>
              <a:ext uri="{FF2B5EF4-FFF2-40B4-BE49-F238E27FC236}">
                <a16:creationId xmlns:a16="http://schemas.microsoft.com/office/drawing/2014/main" id="{AEFFBA9B-DFDA-C0CB-BF26-5A91F3F85A6A}"/>
              </a:ext>
            </a:extLst>
          </p:cNvPr>
          <p:cNvSpPr/>
          <p:nvPr/>
        </p:nvSpPr>
        <p:spPr>
          <a:xfrm>
            <a:off x="2308312" y="2229370"/>
            <a:ext cx="920000" cy="165000"/>
          </a:xfrm>
          <a:prstGeom prst="rect">
            <a:avLst/>
          </a:prstGeom>
          <a:noFill/>
          <a:ln/>
        </p:spPr>
        <p:txBody>
          <a:bodyPr wrap="square" lIns="0" tIns="0" rIns="0" bIns="0" rtlCol="0" anchor="ctr"/>
          <a:lstStyle/>
          <a:p>
            <a:pPr marL="0" indent="0" algn="ctr">
              <a:buNone/>
            </a:pPr>
            <a:r>
              <a:rPr lang="en-US" sz="800" kern="0" dirty="0">
                <a:solidFill>
                  <a:srgbClr val="AEB9C4"/>
                </a:solidFill>
                <a:latin typeface="Courier New" pitchFamily="34" charset="0"/>
                <a:ea typeface="Courier New" pitchFamily="34" charset="-122"/>
                <a:cs typeface="Courier New" pitchFamily="34" charset="-120"/>
              </a:rPr>
              <a:t>messages</a:t>
            </a:r>
            <a:endParaRPr lang="en-US" dirty="0"/>
          </a:p>
        </p:txBody>
      </p:sp>
      <p:sp>
        <p:nvSpPr>
          <p:cNvPr id="58" name="link tag">
            <a:extLst>
              <a:ext uri="{FF2B5EF4-FFF2-40B4-BE49-F238E27FC236}">
                <a16:creationId xmlns:a16="http://schemas.microsoft.com/office/drawing/2014/main" id="{FF62C2FB-6AE7-EC28-84C1-233238A8F156}"/>
              </a:ext>
            </a:extLst>
          </p:cNvPr>
          <p:cNvSpPr/>
          <p:nvPr/>
        </p:nvSpPr>
        <p:spPr>
          <a:xfrm>
            <a:off x="2321950" y="1652686"/>
            <a:ext cx="920000" cy="165000"/>
          </a:xfrm>
          <a:prstGeom prst="rect">
            <a:avLst/>
          </a:prstGeom>
          <a:noFill/>
          <a:ln/>
        </p:spPr>
        <p:txBody>
          <a:bodyPr wrap="square" lIns="0" tIns="0" rIns="0" bIns="0" rtlCol="0" anchor="ctr"/>
          <a:lstStyle/>
          <a:p>
            <a:pPr marL="0" indent="0" algn="ctr">
              <a:buNone/>
            </a:pPr>
            <a:r>
              <a:rPr lang="en-US" sz="800" kern="0" dirty="0">
                <a:solidFill>
                  <a:srgbClr val="AEB9C4"/>
                </a:solidFill>
                <a:latin typeface="Courier New" pitchFamily="34" charset="0"/>
                <a:ea typeface="Courier New" pitchFamily="34" charset="-122"/>
                <a:cs typeface="Courier New" pitchFamily="34" charset="-120"/>
              </a:rPr>
              <a:t>messages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04 · COMPONENTS</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The pm- process family</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481328"/>
            <a:ext cx="2624328" cy="1481328"/>
          </a:xfrm>
          <a:prstGeom prst="roundRect">
            <a:avLst>
              <a:gd name="adj" fmla="val 3704"/>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group accent">
            <a:extLst>
              <a:ext uri="{C183D7F6-B498-43B3-948B-1728B52AA6E4}">
                <adec:decorative xmlns:adec="http://schemas.microsoft.com/office/drawing/2017/decorative" val="1"/>
              </a:ext>
            </a:extLst>
          </p:cNvPr>
          <p:cNvSpPr/>
          <p:nvPr/>
        </p:nvSpPr>
        <p:spPr>
          <a:xfrm>
            <a:off x="566928" y="1481328"/>
            <a:ext cx="2624328" cy="64008"/>
          </a:xfrm>
          <a:prstGeom prst="rect">
            <a:avLst/>
          </a:prstGeom>
          <a:solidFill>
            <a:srgbClr val="F2860D"/>
          </a:solidFill>
          <a:ln/>
        </p:spPr>
        <p:txBody>
          <a:bodyPr/>
          <a:lstStyle/>
          <a:p>
            <a:endParaRPr lang="en-SE"/>
          </a:p>
        </p:txBody>
      </p:sp>
      <p:sp>
        <p:nvSpPr>
          <p:cNvPr id="7" name="Text 5"/>
          <p:cNvSpPr/>
          <p:nvPr/>
        </p:nvSpPr>
        <p:spPr>
          <a:xfrm>
            <a:off x="749808" y="1627632"/>
            <a:ext cx="2258568" cy="329184"/>
          </a:xfrm>
          <a:prstGeom prst="rect">
            <a:avLst/>
          </a:prstGeom>
          <a:noFill/>
          <a:ln/>
        </p:spPr>
        <p:txBody>
          <a:bodyPr wrap="square" lIns="0" tIns="0" rIns="0" bIns="0" rtlCol="0" anchor="ctr"/>
          <a:lstStyle/>
          <a:p>
            <a:pPr marL="0" indent="0">
              <a:buNone/>
            </a:pPr>
            <a:r>
              <a:rPr lang="en-US" sz="1300" b="1" dirty="0">
                <a:solidFill>
                  <a:srgbClr val="F2860D"/>
                </a:solidFill>
                <a:latin typeface="Arial" pitchFamily="34" charset="0"/>
                <a:ea typeface="Arial" pitchFamily="34" charset="-122"/>
                <a:cs typeface="Arial" pitchFamily="34" charset="-120"/>
              </a:rPr>
              <a:t>Core engine &amp; session</a:t>
            </a:r>
            <a:endParaRPr lang="en-US" sz="1300" dirty="0"/>
          </a:p>
        </p:txBody>
      </p:sp>
      <p:sp>
        <p:nvSpPr>
          <p:cNvPr id="8" name="Text 6"/>
          <p:cNvSpPr/>
          <p:nvPr/>
        </p:nvSpPr>
        <p:spPr>
          <a:xfrm>
            <a:off x="749808" y="2011680"/>
            <a:ext cx="2295144" cy="841248"/>
          </a:xfrm>
          <a:prstGeom prst="rect">
            <a:avLst/>
          </a:prstGeom>
          <a:noFill/>
          <a:ln/>
        </p:spPr>
        <p:txBody>
          <a:bodyPr wrap="square" lIns="0" tIns="0" rIns="0" bIns="0" rtlCol="0" anchor="t"/>
          <a:lstStyle/>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pm-engine — matching engine</a:t>
            </a:r>
            <a:endParaRPr lang="en-US" sz="1080" dirty="0"/>
          </a:p>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pm-scheduler — session phases</a:t>
            </a:r>
            <a:endParaRPr lang="en-US" sz="1080" dirty="0"/>
          </a:p>
        </p:txBody>
      </p:sp>
      <p:sp>
        <p:nvSpPr>
          <p:cNvPr id="9" name="card">
            <a:extLst>
              <a:ext uri="{C183D7F6-B498-43B3-948B-1728B52AA6E4}">
                <adec:decorative xmlns:adec="http://schemas.microsoft.com/office/drawing/2017/decorative" val="1"/>
              </a:ext>
            </a:extLst>
          </p:cNvPr>
          <p:cNvSpPr/>
          <p:nvPr/>
        </p:nvSpPr>
        <p:spPr>
          <a:xfrm>
            <a:off x="3337560" y="1481328"/>
            <a:ext cx="2624328" cy="1481328"/>
          </a:xfrm>
          <a:prstGeom prst="roundRect">
            <a:avLst>
              <a:gd name="adj" fmla="val 3704"/>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0" name="group accent">
            <a:extLst>
              <a:ext uri="{C183D7F6-B498-43B3-948B-1728B52AA6E4}">
                <adec:decorative xmlns:adec="http://schemas.microsoft.com/office/drawing/2017/decorative" val="1"/>
              </a:ext>
            </a:extLst>
          </p:cNvPr>
          <p:cNvSpPr/>
          <p:nvPr/>
        </p:nvSpPr>
        <p:spPr>
          <a:xfrm>
            <a:off x="3337560" y="1481328"/>
            <a:ext cx="2624328" cy="64008"/>
          </a:xfrm>
          <a:prstGeom prst="rect">
            <a:avLst/>
          </a:prstGeom>
          <a:solidFill>
            <a:srgbClr val="4FB3CC"/>
          </a:solidFill>
          <a:ln/>
        </p:spPr>
        <p:txBody>
          <a:bodyPr/>
          <a:lstStyle/>
          <a:p>
            <a:endParaRPr lang="en-SE"/>
          </a:p>
        </p:txBody>
      </p:sp>
      <p:sp>
        <p:nvSpPr>
          <p:cNvPr id="11" name="Text 9"/>
          <p:cNvSpPr/>
          <p:nvPr/>
        </p:nvSpPr>
        <p:spPr>
          <a:xfrm>
            <a:off x="3520440" y="1627632"/>
            <a:ext cx="2258568" cy="329184"/>
          </a:xfrm>
          <a:prstGeom prst="rect">
            <a:avLst/>
          </a:prstGeom>
          <a:noFill/>
          <a:ln/>
        </p:spPr>
        <p:txBody>
          <a:bodyPr wrap="square" lIns="0" tIns="0" rIns="0" bIns="0" rtlCol="0" anchor="ctr"/>
          <a:lstStyle/>
          <a:p>
            <a:pPr marL="0" indent="0">
              <a:buNone/>
            </a:pPr>
            <a:r>
              <a:rPr lang="en-US" sz="1300" b="1" dirty="0">
                <a:solidFill>
                  <a:srgbClr val="4FB3CC"/>
                </a:solidFill>
                <a:latin typeface="Arial" pitchFamily="34" charset="0"/>
                <a:ea typeface="Arial" pitchFamily="34" charset="-122"/>
                <a:cs typeface="Arial" pitchFamily="34" charset="-120"/>
              </a:rPr>
              <a:t>Participant gateways</a:t>
            </a:r>
            <a:endParaRPr lang="en-US" sz="1300" dirty="0"/>
          </a:p>
        </p:txBody>
      </p:sp>
      <p:sp>
        <p:nvSpPr>
          <p:cNvPr id="12" name="Text 10"/>
          <p:cNvSpPr/>
          <p:nvPr/>
        </p:nvSpPr>
        <p:spPr>
          <a:xfrm>
            <a:off x="3520440" y="2011680"/>
            <a:ext cx="2295144" cy="841248"/>
          </a:xfrm>
          <a:prstGeom prst="rect">
            <a:avLst/>
          </a:prstGeom>
          <a:noFill/>
          <a:ln/>
        </p:spPr>
        <p:txBody>
          <a:bodyPr wrap="square" lIns="0" tIns="0" rIns="0" bIns="0" rtlCol="0" anchor="t"/>
          <a:lstStyle/>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pm-alf-console — local terminal</a:t>
            </a:r>
            <a:endParaRPr lang="en-US" sz="1080" dirty="0"/>
          </a:p>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pm-alf-gwy / balf-gwy — TCP</a:t>
            </a:r>
            <a:endParaRPr lang="en-US" sz="1080" dirty="0"/>
          </a:p>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pm-api-gwy — REST / WebSocket</a:t>
            </a:r>
            <a:endParaRPr lang="en-US" sz="1080" dirty="0"/>
          </a:p>
        </p:txBody>
      </p:sp>
      <p:sp>
        <p:nvSpPr>
          <p:cNvPr id="13" name="card">
            <a:extLst>
              <a:ext uri="{C183D7F6-B498-43B3-948B-1728B52AA6E4}">
                <adec:decorative xmlns:adec="http://schemas.microsoft.com/office/drawing/2017/decorative" val="1"/>
              </a:ext>
            </a:extLst>
          </p:cNvPr>
          <p:cNvSpPr/>
          <p:nvPr/>
        </p:nvSpPr>
        <p:spPr>
          <a:xfrm>
            <a:off x="6108192" y="1481328"/>
            <a:ext cx="2624328" cy="1481328"/>
          </a:xfrm>
          <a:prstGeom prst="roundRect">
            <a:avLst>
              <a:gd name="adj" fmla="val 3704"/>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4" name="group accent">
            <a:extLst>
              <a:ext uri="{C183D7F6-B498-43B3-948B-1728B52AA6E4}">
                <adec:decorative xmlns:adec="http://schemas.microsoft.com/office/drawing/2017/decorative" val="1"/>
              </a:ext>
            </a:extLst>
          </p:cNvPr>
          <p:cNvSpPr/>
          <p:nvPr/>
        </p:nvSpPr>
        <p:spPr>
          <a:xfrm>
            <a:off x="6108192" y="1481328"/>
            <a:ext cx="2624328" cy="64008"/>
          </a:xfrm>
          <a:prstGeom prst="rect">
            <a:avLst/>
          </a:prstGeom>
          <a:solidFill>
            <a:srgbClr val="B98CE0"/>
          </a:solidFill>
          <a:ln/>
        </p:spPr>
        <p:txBody>
          <a:bodyPr/>
          <a:lstStyle/>
          <a:p>
            <a:endParaRPr lang="en-SE"/>
          </a:p>
        </p:txBody>
      </p:sp>
      <p:sp>
        <p:nvSpPr>
          <p:cNvPr id="15" name="Text 13"/>
          <p:cNvSpPr/>
          <p:nvPr/>
        </p:nvSpPr>
        <p:spPr>
          <a:xfrm>
            <a:off x="6291072" y="1627632"/>
            <a:ext cx="2258568" cy="329184"/>
          </a:xfrm>
          <a:prstGeom prst="rect">
            <a:avLst/>
          </a:prstGeom>
          <a:noFill/>
          <a:ln/>
        </p:spPr>
        <p:txBody>
          <a:bodyPr wrap="square" lIns="0" tIns="0" rIns="0" bIns="0" rtlCol="0" anchor="ctr"/>
          <a:lstStyle/>
          <a:p>
            <a:pPr marL="0" indent="0">
              <a:buNone/>
            </a:pPr>
            <a:r>
              <a:rPr lang="en-US" sz="1300" b="1" dirty="0">
                <a:solidFill>
                  <a:srgbClr val="B98CE0"/>
                </a:solidFill>
                <a:latin typeface="Arial" pitchFamily="34" charset="0"/>
                <a:ea typeface="Arial" pitchFamily="34" charset="-122"/>
                <a:cs typeface="Arial" pitchFamily="34" charset="-120"/>
              </a:rPr>
              <a:t>Market data &amp; post-trade</a:t>
            </a:r>
            <a:endParaRPr lang="en-US" sz="1300" dirty="0"/>
          </a:p>
        </p:txBody>
      </p:sp>
      <p:sp>
        <p:nvSpPr>
          <p:cNvPr id="16" name="Text 14"/>
          <p:cNvSpPr/>
          <p:nvPr/>
        </p:nvSpPr>
        <p:spPr>
          <a:xfrm>
            <a:off x="6291072" y="1941340"/>
            <a:ext cx="2295144" cy="1012874"/>
          </a:xfrm>
          <a:prstGeom prst="rect">
            <a:avLst/>
          </a:prstGeom>
          <a:noFill/>
          <a:ln/>
        </p:spPr>
        <p:txBody>
          <a:bodyPr wrap="square" lIns="0" tIns="0" rIns="0" bIns="0" rtlCol="0" anchor="t"/>
          <a:lstStyle/>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pm-md-gwy — CALF feed</a:t>
            </a:r>
            <a:endParaRPr lang="en-US" sz="1080" dirty="0"/>
          </a:p>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pm-ralf-gwy — post-trade</a:t>
            </a:r>
            <a:endParaRPr lang="en-US" sz="1080" dirty="0"/>
          </a:p>
          <a:p>
            <a:pPr>
              <a:lnSpc>
                <a:spcPct val="102000"/>
              </a:lnSpc>
              <a:spcAft>
                <a:spcPts val="400"/>
              </a:spcAft>
            </a:pPr>
            <a:r>
              <a:rPr lang="en-US" sz="1080" dirty="0">
                <a:solidFill>
                  <a:srgbClr val="ECECEC"/>
                </a:solidFill>
                <a:latin typeface="Courier New" pitchFamily="34" charset="0"/>
                <a:ea typeface="Courier New" pitchFamily="34" charset="-122"/>
                <a:cs typeface="Courier New" pitchFamily="34" charset="-120"/>
              </a:rPr>
              <a:t>pm-index — live index</a:t>
            </a:r>
          </a:p>
          <a:p>
            <a:pPr>
              <a:lnSpc>
                <a:spcPct val="102000"/>
              </a:lnSpc>
              <a:spcAft>
                <a:spcPts val="400"/>
              </a:spcAft>
            </a:pPr>
            <a:r>
              <a:rPr lang="en-US" sz="1080" dirty="0">
                <a:solidFill>
                  <a:srgbClr val="ECECEC"/>
                </a:solidFill>
                <a:latin typeface="Courier New" pitchFamily="34" charset="0"/>
                <a:ea typeface="Courier New" pitchFamily="34" charset="-122"/>
                <a:cs typeface="Courier New" pitchFamily="34" charset="-120"/>
              </a:rPr>
              <a:t>pm-calf-spy — print CALF</a:t>
            </a:r>
          </a:p>
          <a:p>
            <a:pPr>
              <a:lnSpc>
                <a:spcPct val="102000"/>
              </a:lnSpc>
              <a:spcAft>
                <a:spcPts val="400"/>
              </a:spcAft>
            </a:pPr>
            <a:r>
              <a:rPr lang="en-US" sz="1080" dirty="0">
                <a:solidFill>
                  <a:srgbClr val="ECECEC"/>
                </a:solidFill>
                <a:latin typeface="Courier New" pitchFamily="34" charset="0"/>
                <a:cs typeface="Courier New" pitchFamily="34" charset="-120"/>
              </a:rPr>
              <a:t>pm-</a:t>
            </a:r>
            <a:r>
              <a:rPr lang="en-US" sz="1080" dirty="0" err="1">
                <a:solidFill>
                  <a:srgbClr val="ECECEC"/>
                </a:solidFill>
                <a:latin typeface="Courier New" pitchFamily="34" charset="0"/>
                <a:cs typeface="Courier New" pitchFamily="34" charset="-120"/>
              </a:rPr>
              <a:t>ralf</a:t>
            </a:r>
            <a:r>
              <a:rPr lang="en-US" sz="1080" dirty="0">
                <a:solidFill>
                  <a:srgbClr val="ECECEC"/>
                </a:solidFill>
                <a:latin typeface="Courier New" pitchFamily="34" charset="0"/>
                <a:cs typeface="Courier New" pitchFamily="34" charset="-120"/>
              </a:rPr>
              <a:t>-spy – print RALF</a:t>
            </a:r>
            <a:endParaRPr lang="en-US" sz="1080" dirty="0"/>
          </a:p>
        </p:txBody>
      </p:sp>
      <p:sp>
        <p:nvSpPr>
          <p:cNvPr id="17" name="card">
            <a:extLst>
              <a:ext uri="{C183D7F6-B498-43B3-948B-1728B52AA6E4}">
                <adec:decorative xmlns:adec="http://schemas.microsoft.com/office/drawing/2017/decorative" val="1"/>
              </a:ext>
            </a:extLst>
          </p:cNvPr>
          <p:cNvSpPr/>
          <p:nvPr/>
        </p:nvSpPr>
        <p:spPr>
          <a:xfrm>
            <a:off x="566928" y="3108960"/>
            <a:ext cx="2624328" cy="1481328"/>
          </a:xfrm>
          <a:prstGeom prst="roundRect">
            <a:avLst>
              <a:gd name="adj" fmla="val 3704"/>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8" name="group accent">
            <a:extLst>
              <a:ext uri="{C183D7F6-B498-43B3-948B-1728B52AA6E4}">
                <adec:decorative xmlns:adec="http://schemas.microsoft.com/office/drawing/2017/decorative" val="1"/>
              </a:ext>
            </a:extLst>
          </p:cNvPr>
          <p:cNvSpPr/>
          <p:nvPr/>
        </p:nvSpPr>
        <p:spPr>
          <a:xfrm>
            <a:off x="566928" y="3108960"/>
            <a:ext cx="2624328" cy="64008"/>
          </a:xfrm>
          <a:prstGeom prst="rect">
            <a:avLst/>
          </a:prstGeom>
          <a:solidFill>
            <a:srgbClr val="5FC98E"/>
          </a:solidFill>
          <a:ln/>
        </p:spPr>
        <p:txBody>
          <a:bodyPr/>
          <a:lstStyle/>
          <a:p>
            <a:endParaRPr lang="en-SE"/>
          </a:p>
        </p:txBody>
      </p:sp>
      <p:sp>
        <p:nvSpPr>
          <p:cNvPr id="19" name="Text 17"/>
          <p:cNvSpPr/>
          <p:nvPr/>
        </p:nvSpPr>
        <p:spPr>
          <a:xfrm>
            <a:off x="749808" y="3255264"/>
            <a:ext cx="2258568" cy="329184"/>
          </a:xfrm>
          <a:prstGeom prst="rect">
            <a:avLst/>
          </a:prstGeom>
          <a:noFill/>
          <a:ln/>
        </p:spPr>
        <p:txBody>
          <a:bodyPr wrap="square" lIns="0" tIns="0" rIns="0" bIns="0" rtlCol="0" anchor="ctr"/>
          <a:lstStyle/>
          <a:p>
            <a:pPr marL="0" indent="0">
              <a:buNone/>
            </a:pPr>
            <a:r>
              <a:rPr lang="en-US" sz="1300" b="1" dirty="0">
                <a:solidFill>
                  <a:srgbClr val="5FC98E"/>
                </a:solidFill>
                <a:latin typeface="Arial" pitchFamily="34" charset="0"/>
                <a:ea typeface="Arial" pitchFamily="34" charset="-122"/>
                <a:cs typeface="Arial" pitchFamily="34" charset="-120"/>
              </a:rPr>
              <a:t>Autonomous bots</a:t>
            </a:r>
            <a:endParaRPr lang="en-US" sz="1300" dirty="0"/>
          </a:p>
        </p:txBody>
      </p:sp>
      <p:sp>
        <p:nvSpPr>
          <p:cNvPr id="20" name="Text 18"/>
          <p:cNvSpPr/>
          <p:nvPr/>
        </p:nvSpPr>
        <p:spPr>
          <a:xfrm>
            <a:off x="749808" y="3639312"/>
            <a:ext cx="2295144" cy="841248"/>
          </a:xfrm>
          <a:prstGeom prst="rect">
            <a:avLst/>
          </a:prstGeom>
          <a:noFill/>
          <a:ln/>
        </p:spPr>
        <p:txBody>
          <a:bodyPr wrap="square" lIns="0" tIns="0" rIns="0" bIns="0" rtlCol="0" anchor="t"/>
          <a:lstStyle/>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pm-ai-trader — single bot</a:t>
            </a:r>
            <a:endParaRPr lang="en-US" sz="1080" dirty="0"/>
          </a:p>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pm-ai-swarm — multi-agent</a:t>
            </a:r>
            <a:endParaRPr lang="en-US" sz="1080" dirty="0"/>
          </a:p>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pm-mm-bot — market maker</a:t>
            </a:r>
            <a:endParaRPr lang="en-US" sz="1080" dirty="0"/>
          </a:p>
        </p:txBody>
      </p:sp>
      <p:sp>
        <p:nvSpPr>
          <p:cNvPr id="21" name="card">
            <a:extLst>
              <a:ext uri="{C183D7F6-B498-43B3-948B-1728B52AA6E4}">
                <adec:decorative xmlns:adec="http://schemas.microsoft.com/office/drawing/2017/decorative" val="1"/>
              </a:ext>
            </a:extLst>
          </p:cNvPr>
          <p:cNvSpPr/>
          <p:nvPr/>
        </p:nvSpPr>
        <p:spPr>
          <a:xfrm>
            <a:off x="3337560" y="3108960"/>
            <a:ext cx="2624328" cy="1481328"/>
          </a:xfrm>
          <a:prstGeom prst="roundRect">
            <a:avLst>
              <a:gd name="adj" fmla="val 3704"/>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2" name="group accent">
            <a:extLst>
              <a:ext uri="{C183D7F6-B498-43B3-948B-1728B52AA6E4}">
                <adec:decorative xmlns:adec="http://schemas.microsoft.com/office/drawing/2017/decorative" val="1"/>
              </a:ext>
            </a:extLst>
          </p:cNvPr>
          <p:cNvSpPr/>
          <p:nvPr/>
        </p:nvSpPr>
        <p:spPr>
          <a:xfrm>
            <a:off x="3337560" y="3108960"/>
            <a:ext cx="2624328" cy="64008"/>
          </a:xfrm>
          <a:prstGeom prst="rect">
            <a:avLst/>
          </a:prstGeom>
          <a:solidFill>
            <a:srgbClr val="8FA0B0"/>
          </a:solidFill>
          <a:ln/>
        </p:spPr>
        <p:txBody>
          <a:bodyPr/>
          <a:lstStyle/>
          <a:p>
            <a:endParaRPr lang="en-SE"/>
          </a:p>
        </p:txBody>
      </p:sp>
      <p:sp>
        <p:nvSpPr>
          <p:cNvPr id="23" name="Text 21"/>
          <p:cNvSpPr/>
          <p:nvPr/>
        </p:nvSpPr>
        <p:spPr>
          <a:xfrm>
            <a:off x="3520440" y="3255264"/>
            <a:ext cx="2258568" cy="329184"/>
          </a:xfrm>
          <a:prstGeom prst="rect">
            <a:avLst/>
          </a:prstGeom>
          <a:noFill/>
          <a:ln/>
        </p:spPr>
        <p:txBody>
          <a:bodyPr wrap="square" lIns="0" tIns="0" rIns="0" bIns="0" rtlCol="0" anchor="ctr"/>
          <a:lstStyle/>
          <a:p>
            <a:pPr marL="0" indent="0">
              <a:buNone/>
            </a:pPr>
            <a:r>
              <a:rPr lang="en-US" sz="1300" b="1" dirty="0">
                <a:solidFill>
                  <a:srgbClr val="8FA0B0"/>
                </a:solidFill>
                <a:latin typeface="Arial" pitchFamily="34" charset="0"/>
                <a:ea typeface="Arial" pitchFamily="34" charset="-122"/>
                <a:cs typeface="Arial" pitchFamily="34" charset="-120"/>
              </a:rPr>
              <a:t>Monitoring &amp; analytics</a:t>
            </a:r>
            <a:endParaRPr lang="en-US" sz="1300" dirty="0"/>
          </a:p>
        </p:txBody>
      </p:sp>
      <p:sp>
        <p:nvSpPr>
          <p:cNvPr id="24" name="Text 22"/>
          <p:cNvSpPr/>
          <p:nvPr/>
        </p:nvSpPr>
        <p:spPr>
          <a:xfrm>
            <a:off x="3520440" y="3547869"/>
            <a:ext cx="2295144" cy="1017095"/>
          </a:xfrm>
          <a:prstGeom prst="rect">
            <a:avLst/>
          </a:prstGeom>
          <a:noFill/>
          <a:ln/>
        </p:spPr>
        <p:txBody>
          <a:bodyPr wrap="square" lIns="0" tIns="0" rIns="0" bIns="0" rtlCol="0" anchor="t"/>
          <a:lstStyle/>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pm-stats · pm-clearing</a:t>
            </a:r>
            <a:endParaRPr lang="en-US" sz="1080" dirty="0"/>
          </a:p>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pm-viewer · pm-board · pm-ticker</a:t>
            </a:r>
            <a:endParaRPr lang="en-US" sz="1080" dirty="0"/>
          </a:p>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pm-audit — event log</a:t>
            </a:r>
          </a:p>
          <a:p>
            <a:pPr>
              <a:lnSpc>
                <a:spcPct val="102000"/>
              </a:lnSpc>
              <a:spcAft>
                <a:spcPts val="400"/>
              </a:spcAft>
            </a:pPr>
            <a:r>
              <a:rPr lang="en-US" sz="1080" dirty="0">
                <a:solidFill>
                  <a:srgbClr val="ECECEC"/>
                </a:solidFill>
                <a:latin typeface="Courier New" pitchFamily="34" charset="0"/>
                <a:cs typeface="Courier New" pitchFamily="34" charset="-120"/>
              </a:rPr>
              <a:t>pm-dc-</a:t>
            </a:r>
            <a:r>
              <a:rPr lang="en-US" sz="1080" dirty="0" err="1">
                <a:solidFill>
                  <a:srgbClr val="ECECEC"/>
                </a:solidFill>
                <a:latin typeface="Courier New" pitchFamily="34" charset="0"/>
                <a:cs typeface="Courier New" pitchFamily="34" charset="-120"/>
              </a:rPr>
              <a:t>gwy</a:t>
            </a:r>
            <a:r>
              <a:rPr lang="en-US" sz="1080" dirty="0">
                <a:solidFill>
                  <a:srgbClr val="ECECEC"/>
                </a:solidFill>
                <a:latin typeface="Courier New" pitchFamily="34" charset="0"/>
                <a:cs typeface="Courier New" pitchFamily="34" charset="-120"/>
              </a:rPr>
              <a:t> </a:t>
            </a:r>
            <a:r>
              <a:rPr lang="en-US" sz="1080" dirty="0">
                <a:solidFill>
                  <a:srgbClr val="ECECEC"/>
                </a:solidFill>
                <a:latin typeface="Courier New" pitchFamily="34" charset="0"/>
                <a:ea typeface="Courier New" pitchFamily="34" charset="-122"/>
                <a:cs typeface="Courier New" pitchFamily="34" charset="-120"/>
              </a:rPr>
              <a:t>— print DC</a:t>
            </a:r>
            <a:endParaRPr lang="en-US" sz="1080" dirty="0">
              <a:solidFill>
                <a:srgbClr val="ECECEC"/>
              </a:solidFill>
              <a:latin typeface="Courier New" pitchFamily="34" charset="0"/>
              <a:cs typeface="Courier New" pitchFamily="34" charset="-120"/>
            </a:endParaRPr>
          </a:p>
        </p:txBody>
      </p:sp>
      <p:sp>
        <p:nvSpPr>
          <p:cNvPr id="25" name="card">
            <a:extLst>
              <a:ext uri="{C183D7F6-B498-43B3-948B-1728B52AA6E4}">
                <adec:decorative xmlns:adec="http://schemas.microsoft.com/office/drawing/2017/decorative" val="1"/>
              </a:ext>
            </a:extLst>
          </p:cNvPr>
          <p:cNvSpPr/>
          <p:nvPr/>
        </p:nvSpPr>
        <p:spPr>
          <a:xfrm>
            <a:off x="6108192" y="3108960"/>
            <a:ext cx="2624328" cy="1481328"/>
          </a:xfrm>
          <a:prstGeom prst="roundRect">
            <a:avLst>
              <a:gd name="adj" fmla="val 3704"/>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6" name="group accent">
            <a:extLst>
              <a:ext uri="{C183D7F6-B498-43B3-948B-1728B52AA6E4}">
                <adec:decorative xmlns:adec="http://schemas.microsoft.com/office/drawing/2017/decorative" val="1"/>
              </a:ext>
            </a:extLst>
          </p:cNvPr>
          <p:cNvSpPr/>
          <p:nvPr/>
        </p:nvSpPr>
        <p:spPr>
          <a:xfrm>
            <a:off x="6108192" y="3108960"/>
            <a:ext cx="2624328" cy="64008"/>
          </a:xfrm>
          <a:prstGeom prst="rect">
            <a:avLst/>
          </a:prstGeom>
          <a:solidFill>
            <a:srgbClr val="E0A85B"/>
          </a:solidFill>
          <a:ln/>
        </p:spPr>
        <p:txBody>
          <a:bodyPr/>
          <a:lstStyle/>
          <a:p>
            <a:endParaRPr lang="en-SE"/>
          </a:p>
        </p:txBody>
      </p:sp>
      <p:sp>
        <p:nvSpPr>
          <p:cNvPr id="27" name="Text 25"/>
          <p:cNvSpPr/>
          <p:nvPr/>
        </p:nvSpPr>
        <p:spPr>
          <a:xfrm>
            <a:off x="6291072" y="3255264"/>
            <a:ext cx="2258568" cy="329184"/>
          </a:xfrm>
          <a:prstGeom prst="rect">
            <a:avLst/>
          </a:prstGeom>
          <a:noFill/>
          <a:ln/>
        </p:spPr>
        <p:txBody>
          <a:bodyPr wrap="square" lIns="0" tIns="0" rIns="0" bIns="0" rtlCol="0" anchor="ctr"/>
          <a:lstStyle/>
          <a:p>
            <a:pPr marL="0" indent="0">
              <a:buNone/>
            </a:pPr>
            <a:r>
              <a:rPr lang="en-US" sz="1300" b="1" dirty="0">
                <a:solidFill>
                  <a:srgbClr val="E0A85B"/>
                </a:solidFill>
                <a:latin typeface="Arial" pitchFamily="34" charset="0"/>
                <a:ea typeface="Arial" pitchFamily="34" charset="-122"/>
                <a:cs typeface="Arial" pitchFamily="34" charset="-120"/>
              </a:rPr>
              <a:t>Admin &amp; tooling</a:t>
            </a:r>
            <a:endParaRPr lang="en-US" sz="1300" dirty="0"/>
          </a:p>
        </p:txBody>
      </p:sp>
      <p:sp>
        <p:nvSpPr>
          <p:cNvPr id="28" name="Text 26"/>
          <p:cNvSpPr/>
          <p:nvPr/>
        </p:nvSpPr>
        <p:spPr>
          <a:xfrm>
            <a:off x="6291072" y="3639312"/>
            <a:ext cx="2295144" cy="841248"/>
          </a:xfrm>
          <a:prstGeom prst="rect">
            <a:avLst/>
          </a:prstGeom>
          <a:noFill/>
          <a:ln/>
        </p:spPr>
        <p:txBody>
          <a:bodyPr wrap="square" lIns="0" tIns="0" rIns="0" bIns="0" rtlCol="0" anchor="t"/>
          <a:lstStyle/>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pm-admin · pm-admin-cli</a:t>
            </a:r>
            <a:endParaRPr lang="en-US" sz="1080" dirty="0"/>
          </a:p>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pm-cverifier — config checks</a:t>
            </a:r>
            <a:endParaRPr lang="en-US" sz="1080" dirty="0"/>
          </a:p>
          <a:p>
            <a:pPr marL="0" indent="0">
              <a:lnSpc>
                <a:spcPct val="102000"/>
              </a:lnSpc>
              <a:spcAft>
                <a:spcPts val="400"/>
              </a:spcAft>
              <a:buNone/>
            </a:pPr>
            <a:r>
              <a:rPr lang="en-US" sz="1080" dirty="0">
                <a:solidFill>
                  <a:srgbClr val="ECECEC"/>
                </a:solidFill>
                <a:latin typeface="Courier New" pitchFamily="34" charset="0"/>
                <a:ea typeface="Courier New" pitchFamily="34" charset="-122"/>
                <a:cs typeface="Courier New" pitchFamily="34" charset="-120"/>
              </a:rPr>
              <a:t>config-gui — visual editor</a:t>
            </a:r>
            <a:endParaRPr lang="en-US" sz="1080" dirty="0"/>
          </a:p>
        </p:txBody>
      </p:sp>
      <p:sp>
        <p:nvSpPr>
          <p:cNvPr id="30" name="Text 27"/>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31" name="Text 28"/>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Market Maker">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04 · COMPONENTS · MARKET MAKER</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dirty="0">
                <a:solidFill>
                  <a:srgbClr val="ECECEC"/>
                </a:solidFill>
                <a:latin typeface="Arial" pitchFamily="34" charset="0"/>
                <a:ea typeface="Arial" pitchFamily="34" charset="-122"/>
                <a:cs typeface="Arial" pitchFamily="34" charset="-120"/>
              </a:rPr>
              <a:t>The market maker - continuous two-sided liquidity</a:t>
            </a:r>
            <a:endParaRPr lang="en-US" sz="2900" dirty="0"/>
          </a:p>
        </p:txBody>
      </p:sp>
      <p:sp>
        <p:nvSpPr>
          <p:cNvPr id="5" name="lead"/>
          <p:cNvSpPr/>
          <p:nvPr/>
        </p:nvSpPr>
        <p:spPr>
          <a:xfrm>
            <a:off x="566928" y="1419472"/>
            <a:ext cx="8165592" cy="300000"/>
          </a:xfrm>
          <a:prstGeom prst="rect">
            <a:avLst/>
          </a:prstGeom>
          <a:noFill/>
          <a:ln/>
        </p:spPr>
        <p:txBody>
          <a:bodyPr wrap="square" lIns="0" tIns="0" rIns="0" bIns="0" rtlCol="0" anchor="ctr"/>
          <a:lstStyle/>
          <a:p>
            <a:pPr marL="0" indent="0" algn="l">
              <a:buNone/>
            </a:pPr>
            <a:r>
              <a:rPr lang="en-US" sz="1150" kern="0" dirty="0">
                <a:solidFill>
                  <a:srgbClr val="C3CDD6"/>
                </a:solidFill>
                <a:latin typeface="Calibri" pitchFamily="34" charset="0"/>
                <a:ea typeface="Calibri" pitchFamily="34" charset="-122"/>
                <a:cs typeface="Calibri" pitchFamily="34" charset="-120"/>
              </a:rPr>
              <a:t>A market maker's job is to keep prices continuous — always showing both a bid and an ask so participants can trade at any time.</a:t>
            </a:r>
            <a:endParaRPr lang="en-US" dirty="0"/>
          </a:p>
        </p:txBody>
      </p:sp>
      <p:sp>
        <p:nvSpPr>
          <p:cNvPr id="10" name="card">
            <a:extLst>
              <a:ext uri="{C183D7F6-B498-43B3-948B-1728B52AA6E4}">
                <adec:decorative xmlns:adec="http://schemas.microsoft.com/office/drawing/2017/decorative" val="1"/>
              </a:ext>
            </a:extLst>
          </p:cNvPr>
          <p:cNvSpPr/>
          <p:nvPr/>
        </p:nvSpPr>
        <p:spPr>
          <a:xfrm>
            <a:off x="566928" y="1760000"/>
            <a:ext cx="2624328" cy="2120000"/>
          </a:xfrm>
          <a:prstGeom prst="roundRect">
            <a:avLst>
              <a:gd name="adj" fmla="val 3704"/>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card accent">
            <a:extLst>
              <a:ext uri="{C183D7F6-B498-43B3-948B-1728B52AA6E4}">
                <adec:decorative xmlns:adec="http://schemas.microsoft.com/office/drawing/2017/decorative" val="1"/>
              </a:ext>
            </a:extLst>
          </p:cNvPr>
          <p:cNvSpPr/>
          <p:nvPr/>
        </p:nvSpPr>
        <p:spPr>
          <a:xfrm>
            <a:off x="566928" y="1760000"/>
            <a:ext cx="2624328" cy="64008"/>
          </a:xfrm>
          <a:prstGeom prst="rect">
            <a:avLst/>
          </a:prstGeom>
          <a:solidFill>
            <a:srgbClr val="F2860D"/>
          </a:solidFill>
          <a:ln/>
        </p:spPr>
        <p:txBody>
          <a:bodyPr/>
          <a:lstStyle/>
          <a:p>
            <a:endParaRPr lang="en-SE"/>
          </a:p>
        </p:txBody>
      </p:sp>
      <p:sp>
        <p:nvSpPr>
          <p:cNvPr id="12" name="card kicker"/>
          <p:cNvSpPr/>
          <p:nvPr/>
        </p:nvSpPr>
        <p:spPr>
          <a:xfrm>
            <a:off x="749808" y="1948000"/>
            <a:ext cx="2258568" cy="240000"/>
          </a:xfrm>
          <a:prstGeom prst="rect">
            <a:avLst/>
          </a:prstGeom>
          <a:noFill/>
          <a:ln/>
        </p:spPr>
        <p:txBody>
          <a:bodyPr wrap="square" lIns="0" tIns="0" rIns="0" bIns="0" rtlCol="0" anchor="ctr"/>
          <a:lstStyle/>
          <a:p>
            <a:pPr marL="0" indent="0" algn="l">
              <a:buNone/>
            </a:pPr>
            <a:r>
              <a:rPr lang="en-US" sz="1400" b="1" kern="0" spc="150" dirty="0">
                <a:solidFill>
                  <a:srgbClr val="F2860D"/>
                </a:solidFill>
                <a:latin typeface="Courier New" pitchFamily="34" charset="0"/>
                <a:ea typeface="Courier New" pitchFamily="34" charset="-122"/>
                <a:cs typeface="Courier New" pitchFamily="34" charset="-120"/>
              </a:rPr>
              <a:t>ROLE</a:t>
            </a:r>
            <a:endParaRPr lang="en-US" sz="3200" dirty="0"/>
          </a:p>
        </p:txBody>
      </p:sp>
      <p:sp>
        <p:nvSpPr>
          <p:cNvPr id="13" name="card heading"/>
          <p:cNvSpPr/>
          <p:nvPr/>
        </p:nvSpPr>
        <p:spPr>
          <a:xfrm>
            <a:off x="749808" y="2230000"/>
            <a:ext cx="2258568" cy="380000"/>
          </a:xfrm>
          <a:prstGeom prst="rect">
            <a:avLst/>
          </a:prstGeom>
          <a:noFill/>
          <a:ln/>
        </p:spPr>
        <p:txBody>
          <a:bodyPr wrap="square" lIns="0" tIns="0" rIns="0" bIns="0" rtlCol="0" anchor="t"/>
          <a:lstStyle/>
          <a:p>
            <a:pPr marL="0" indent="0" algn="l">
              <a:buNone/>
            </a:pPr>
            <a:r>
              <a:rPr lang="en-US" sz="1350" b="1" kern="0" dirty="0">
                <a:solidFill>
                  <a:srgbClr val="ECECEC"/>
                </a:solidFill>
                <a:latin typeface="Arial" pitchFamily="34" charset="0"/>
                <a:ea typeface="Arial" pitchFamily="34" charset="-122"/>
                <a:cs typeface="Arial" pitchFamily="34" charset="-120"/>
              </a:rPr>
              <a:t>A dedicated role &amp; gateway</a:t>
            </a:r>
            <a:endParaRPr lang="en-US" dirty="0"/>
          </a:p>
        </p:txBody>
      </p:sp>
      <p:sp>
        <p:nvSpPr>
          <p:cNvPr id="14" name="card body"/>
          <p:cNvSpPr/>
          <p:nvPr/>
        </p:nvSpPr>
        <p:spPr>
          <a:xfrm>
            <a:off x="749808" y="2660000"/>
            <a:ext cx="2258568" cy="1080000"/>
          </a:xfrm>
          <a:prstGeom prst="rect">
            <a:avLst/>
          </a:prstGeom>
          <a:noFill/>
          <a:ln/>
        </p:spPr>
        <p:txBody>
          <a:bodyPr wrap="square" lIns="0" tIns="0" rIns="0" bIns="0" rtlCol="0" anchor="t"/>
          <a:lstStyle/>
          <a:p>
            <a:pPr marL="0" indent="0" algn="l">
              <a:lnSpc>
                <a:spcPct val="108000"/>
              </a:lnSpc>
              <a:buNone/>
            </a:pPr>
            <a:r>
              <a:rPr lang="en-US" sz="1100" kern="0" dirty="0">
                <a:solidFill>
                  <a:srgbClr val="C3CDD6"/>
                </a:solidFill>
                <a:latin typeface="Calibri" pitchFamily="34" charset="0"/>
                <a:ea typeface="Calibri" pitchFamily="34" charset="-122"/>
                <a:cs typeface="Calibri" pitchFamily="34" charset="-120"/>
              </a:rPr>
              <a:t>A dedicated participant that continuously quotes both sides of the book. pm-mm-bot runs the strategy through its own market-maker gateway, so its flow is tracked separately from ordinary traders.</a:t>
            </a:r>
            <a:endParaRPr lang="en-US" sz="2400" dirty="0"/>
          </a:p>
        </p:txBody>
      </p:sp>
      <p:sp>
        <p:nvSpPr>
          <p:cNvPr id="15" name="card">
            <a:extLst>
              <a:ext uri="{C183D7F6-B498-43B3-948B-1728B52AA6E4}">
                <adec:decorative xmlns:adec="http://schemas.microsoft.com/office/drawing/2017/decorative" val="1"/>
              </a:ext>
            </a:extLst>
          </p:cNvPr>
          <p:cNvSpPr/>
          <p:nvPr/>
        </p:nvSpPr>
        <p:spPr>
          <a:xfrm>
            <a:off x="3337560" y="1760000"/>
            <a:ext cx="2624328" cy="2120000"/>
          </a:xfrm>
          <a:prstGeom prst="roundRect">
            <a:avLst>
              <a:gd name="adj" fmla="val 3704"/>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6" name="card accent">
            <a:extLst>
              <a:ext uri="{C183D7F6-B498-43B3-948B-1728B52AA6E4}">
                <adec:decorative xmlns:adec="http://schemas.microsoft.com/office/drawing/2017/decorative" val="1"/>
              </a:ext>
            </a:extLst>
          </p:cNvPr>
          <p:cNvSpPr/>
          <p:nvPr/>
        </p:nvSpPr>
        <p:spPr>
          <a:xfrm>
            <a:off x="3337560" y="1760000"/>
            <a:ext cx="2624328" cy="64008"/>
          </a:xfrm>
          <a:prstGeom prst="rect">
            <a:avLst/>
          </a:prstGeom>
          <a:solidFill>
            <a:srgbClr val="4FB3CC"/>
          </a:solidFill>
          <a:ln/>
        </p:spPr>
        <p:txBody>
          <a:bodyPr/>
          <a:lstStyle/>
          <a:p>
            <a:endParaRPr lang="en-SE"/>
          </a:p>
        </p:txBody>
      </p:sp>
      <p:sp>
        <p:nvSpPr>
          <p:cNvPr id="17" name="card kicker"/>
          <p:cNvSpPr/>
          <p:nvPr/>
        </p:nvSpPr>
        <p:spPr>
          <a:xfrm>
            <a:off x="3520440" y="1948000"/>
            <a:ext cx="2258568" cy="240000"/>
          </a:xfrm>
          <a:prstGeom prst="rect">
            <a:avLst/>
          </a:prstGeom>
          <a:noFill/>
          <a:ln/>
        </p:spPr>
        <p:txBody>
          <a:bodyPr wrap="square" lIns="0" tIns="0" rIns="0" bIns="0" rtlCol="0" anchor="ctr"/>
          <a:lstStyle/>
          <a:p>
            <a:pPr marL="0" indent="0" algn="l">
              <a:buNone/>
            </a:pPr>
            <a:r>
              <a:rPr lang="en-US" sz="1400" b="1" kern="0" spc="150">
                <a:solidFill>
                  <a:srgbClr val="4FB3CC"/>
                </a:solidFill>
                <a:latin typeface="Courier New" pitchFamily="34" charset="0"/>
                <a:ea typeface="Courier New" pitchFamily="34" charset="-122"/>
                <a:cs typeface="Courier New" pitchFamily="34" charset="-120"/>
              </a:rPr>
              <a:t>QUOTE</a:t>
            </a:r>
            <a:endParaRPr lang="en-US" sz="3200"/>
          </a:p>
        </p:txBody>
      </p:sp>
      <p:sp>
        <p:nvSpPr>
          <p:cNvPr id="18" name="card heading"/>
          <p:cNvSpPr/>
          <p:nvPr/>
        </p:nvSpPr>
        <p:spPr>
          <a:xfrm>
            <a:off x="3520440" y="2230000"/>
            <a:ext cx="2258568" cy="380000"/>
          </a:xfrm>
          <a:prstGeom prst="rect">
            <a:avLst/>
          </a:prstGeom>
          <a:noFill/>
          <a:ln/>
        </p:spPr>
        <p:txBody>
          <a:bodyPr wrap="square" lIns="0" tIns="0" rIns="0" bIns="0" rtlCol="0" anchor="t"/>
          <a:lstStyle/>
          <a:p>
            <a:pPr marL="0" indent="0" algn="l">
              <a:buNone/>
            </a:pPr>
            <a:r>
              <a:rPr lang="en-US" sz="1350" b="1" kern="0">
                <a:solidFill>
                  <a:srgbClr val="ECECEC"/>
                </a:solidFill>
                <a:latin typeface="Arial" pitchFamily="34" charset="0"/>
                <a:ea typeface="Arial" pitchFamily="34" charset="-122"/>
                <a:cs typeface="Arial" pitchFamily="34" charset="-120"/>
              </a:rPr>
              <a:t>Double-sided quotes</a:t>
            </a:r>
            <a:endParaRPr lang="en-US"/>
          </a:p>
        </p:txBody>
      </p:sp>
      <p:sp>
        <p:nvSpPr>
          <p:cNvPr id="19" name="card body"/>
          <p:cNvSpPr/>
          <p:nvPr/>
        </p:nvSpPr>
        <p:spPr>
          <a:xfrm>
            <a:off x="3520440" y="2660000"/>
            <a:ext cx="2258568" cy="1080000"/>
          </a:xfrm>
          <a:prstGeom prst="rect">
            <a:avLst/>
          </a:prstGeom>
          <a:noFill/>
          <a:ln/>
        </p:spPr>
        <p:txBody>
          <a:bodyPr wrap="square" lIns="0" tIns="0" rIns="0" bIns="0" rtlCol="0" anchor="t"/>
          <a:lstStyle/>
          <a:p>
            <a:pPr marL="0" indent="0" algn="l">
              <a:lnSpc>
                <a:spcPct val="108000"/>
              </a:lnSpc>
              <a:buNone/>
            </a:pPr>
            <a:r>
              <a:rPr lang="en-US" sz="1100" kern="0" dirty="0">
                <a:solidFill>
                  <a:srgbClr val="C3CDD6"/>
                </a:solidFill>
                <a:latin typeface="Calibri" pitchFamily="34" charset="0"/>
                <a:ea typeface="Calibri" pitchFamily="34" charset="-122"/>
                <a:cs typeface="Calibri" pitchFamily="34" charset="-120"/>
              </a:rPr>
              <a:t>The </a:t>
            </a:r>
            <a:r>
              <a:rPr lang="en-US" sz="1100" b="1" kern="0" dirty="0">
                <a:solidFill>
                  <a:srgbClr val="C3CDD6"/>
                </a:solidFill>
                <a:latin typeface="Calibri" pitchFamily="34" charset="0"/>
                <a:ea typeface="Calibri" pitchFamily="34" charset="-122"/>
                <a:cs typeface="Calibri" pitchFamily="34" charset="-120"/>
              </a:rPr>
              <a:t>QUOTE</a:t>
            </a:r>
            <a:r>
              <a:rPr lang="en-US" sz="1100" kern="0" dirty="0">
                <a:solidFill>
                  <a:srgbClr val="C3CDD6"/>
                </a:solidFill>
                <a:latin typeface="Calibri" pitchFamily="34" charset="0"/>
                <a:ea typeface="Calibri" pitchFamily="34" charset="-122"/>
                <a:cs typeface="Calibri" pitchFamily="34" charset="-120"/>
              </a:rPr>
              <a:t> verb posts a bid and an ask together in one message and refreshes them as the market moves — maintaining a live two-sided price rather than firing one-off NEW orders.</a:t>
            </a:r>
            <a:endParaRPr lang="en-US" sz="2400" dirty="0"/>
          </a:p>
        </p:txBody>
      </p:sp>
      <p:sp>
        <p:nvSpPr>
          <p:cNvPr id="20" name="card">
            <a:extLst>
              <a:ext uri="{C183D7F6-B498-43B3-948B-1728B52AA6E4}">
                <adec:decorative xmlns:adec="http://schemas.microsoft.com/office/drawing/2017/decorative" val="1"/>
              </a:ext>
            </a:extLst>
          </p:cNvPr>
          <p:cNvSpPr/>
          <p:nvPr/>
        </p:nvSpPr>
        <p:spPr>
          <a:xfrm>
            <a:off x="6108192" y="1760000"/>
            <a:ext cx="2624328" cy="2120000"/>
          </a:xfrm>
          <a:prstGeom prst="roundRect">
            <a:avLst>
              <a:gd name="adj" fmla="val 3704"/>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1" name="card accent">
            <a:extLst>
              <a:ext uri="{C183D7F6-B498-43B3-948B-1728B52AA6E4}">
                <adec:decorative xmlns:adec="http://schemas.microsoft.com/office/drawing/2017/decorative" val="1"/>
              </a:ext>
            </a:extLst>
          </p:cNvPr>
          <p:cNvSpPr/>
          <p:nvPr/>
        </p:nvSpPr>
        <p:spPr>
          <a:xfrm>
            <a:off x="6108192" y="1760000"/>
            <a:ext cx="2624328" cy="64008"/>
          </a:xfrm>
          <a:prstGeom prst="rect">
            <a:avLst/>
          </a:prstGeom>
          <a:solidFill>
            <a:srgbClr val="B98CE0"/>
          </a:solidFill>
          <a:ln/>
        </p:spPr>
        <p:txBody>
          <a:bodyPr/>
          <a:lstStyle/>
          <a:p>
            <a:endParaRPr lang="en-SE"/>
          </a:p>
        </p:txBody>
      </p:sp>
      <p:sp>
        <p:nvSpPr>
          <p:cNvPr id="22" name="card kicker"/>
          <p:cNvSpPr/>
          <p:nvPr/>
        </p:nvSpPr>
        <p:spPr>
          <a:xfrm>
            <a:off x="6291072" y="1948000"/>
            <a:ext cx="2258568" cy="240000"/>
          </a:xfrm>
          <a:prstGeom prst="rect">
            <a:avLst/>
          </a:prstGeom>
          <a:noFill/>
          <a:ln/>
        </p:spPr>
        <p:txBody>
          <a:bodyPr wrap="square" lIns="0" tIns="0" rIns="0" bIns="0" rtlCol="0" anchor="ctr"/>
          <a:lstStyle/>
          <a:p>
            <a:pPr marL="0" indent="0" algn="l">
              <a:buNone/>
            </a:pPr>
            <a:r>
              <a:rPr lang="en-US" sz="1400" b="1" kern="0" spc="150">
                <a:solidFill>
                  <a:srgbClr val="B98CE0"/>
                </a:solidFill>
                <a:latin typeface="Courier New" pitchFamily="34" charset="0"/>
                <a:ea typeface="Courier New" pitchFamily="34" charset="-122"/>
                <a:cs typeface="Courier New" pitchFamily="34" charset="-120"/>
              </a:rPr>
              <a:t>CONFIG</a:t>
            </a:r>
            <a:endParaRPr lang="en-US" sz="3200"/>
          </a:p>
        </p:txBody>
      </p:sp>
      <p:sp>
        <p:nvSpPr>
          <p:cNvPr id="23" name="card heading"/>
          <p:cNvSpPr/>
          <p:nvPr/>
        </p:nvSpPr>
        <p:spPr>
          <a:xfrm>
            <a:off x="6291072" y="2230000"/>
            <a:ext cx="2258568" cy="380000"/>
          </a:xfrm>
          <a:prstGeom prst="rect">
            <a:avLst/>
          </a:prstGeom>
          <a:noFill/>
          <a:ln/>
        </p:spPr>
        <p:txBody>
          <a:bodyPr wrap="square" lIns="0" tIns="0" rIns="0" bIns="0" rtlCol="0" anchor="t"/>
          <a:lstStyle/>
          <a:p>
            <a:pPr marL="0" indent="0" algn="l">
              <a:buNone/>
            </a:pPr>
            <a:r>
              <a:rPr lang="en-US" sz="1350" b="1" kern="0">
                <a:solidFill>
                  <a:srgbClr val="ECECEC"/>
                </a:solidFill>
                <a:latin typeface="Arial" pitchFamily="34" charset="0"/>
                <a:ea typeface="Arial" pitchFamily="34" charset="-122"/>
                <a:cs typeface="Arial" pitchFamily="34" charset="-120"/>
              </a:rPr>
              <a:t>Set in the symbol spec</a:t>
            </a:r>
            <a:endParaRPr lang="en-US"/>
          </a:p>
        </p:txBody>
      </p:sp>
      <p:sp>
        <p:nvSpPr>
          <p:cNvPr id="24" name="card body"/>
          <p:cNvSpPr/>
          <p:nvPr/>
        </p:nvSpPr>
        <p:spPr>
          <a:xfrm>
            <a:off x="6291072" y="2660000"/>
            <a:ext cx="2258568" cy="1080000"/>
          </a:xfrm>
          <a:prstGeom prst="rect">
            <a:avLst/>
          </a:prstGeom>
          <a:noFill/>
          <a:ln/>
        </p:spPr>
        <p:txBody>
          <a:bodyPr wrap="square" lIns="0" tIns="0" rIns="0" bIns="0" rtlCol="0" anchor="t"/>
          <a:lstStyle/>
          <a:p>
            <a:pPr marL="0" indent="0" algn="l">
              <a:lnSpc>
                <a:spcPct val="108000"/>
              </a:lnSpc>
              <a:buNone/>
            </a:pPr>
            <a:r>
              <a:rPr lang="en-US" sz="1100" kern="0">
                <a:solidFill>
                  <a:srgbClr val="C3CDD6"/>
                </a:solidFill>
                <a:latin typeface="Calibri" pitchFamily="34" charset="0"/>
                <a:ea typeface="Calibri" pitchFamily="34" charset="-122"/>
                <a:cs typeface="Calibri" pitchFamily="34" charset="-120"/>
              </a:rPr>
              <a:t>Each symbol carries a market_maker_quotes block in engine_config.yaml. It is mandatory whenever a market-maker gateway exists, so every quoted instrument declares its MM obligation.</a:t>
            </a:r>
            <a:endParaRPr lang="en-US" sz="2400"/>
          </a:p>
        </p:txBody>
      </p:sp>
      <p:sp>
        <p:nvSpPr>
          <p:cNvPr id="25" name="note band">
            <a:extLst>
              <a:ext uri="{C183D7F6-B498-43B3-948B-1728B52AA6E4}">
                <adec:decorative xmlns:adec="http://schemas.microsoft.com/office/drawing/2017/decorative" val="1"/>
              </a:ext>
            </a:extLst>
          </p:cNvPr>
          <p:cNvSpPr/>
          <p:nvPr/>
        </p:nvSpPr>
        <p:spPr>
          <a:xfrm>
            <a:off x="566928" y="4040000"/>
            <a:ext cx="8165592" cy="560000"/>
          </a:xfrm>
          <a:prstGeom prst="roundRect">
            <a:avLst>
              <a:gd name="adj" fmla="val 11500"/>
            </a:avLst>
          </a:prstGeom>
          <a:solidFill>
            <a:srgbClr val="202027"/>
          </a:solidFill>
          <a:ln w="12700">
            <a:solidFill>
              <a:srgbClr val="F2860D"/>
            </a:solidFill>
            <a:prstDash val="solid"/>
          </a:ln>
          <a:effectLst>
            <a:glow rad="63500">
              <a:schemeClr val="accent2">
                <a:satMod val="175000"/>
                <a:alpha val="40000"/>
              </a:schemeClr>
            </a:glow>
          </a:effectLst>
        </p:spPr>
        <p:txBody>
          <a:bodyPr/>
          <a:lstStyle/>
          <a:p>
            <a:endParaRPr lang="en-SE"/>
          </a:p>
        </p:txBody>
      </p:sp>
      <p:sp>
        <p:nvSpPr>
          <p:cNvPr id="26" name="note text"/>
          <p:cNvSpPr/>
          <p:nvPr/>
        </p:nvSpPr>
        <p:spPr>
          <a:xfrm>
            <a:off x="786928" y="4040000"/>
            <a:ext cx="7725592" cy="560000"/>
          </a:xfrm>
          <a:prstGeom prst="rect">
            <a:avLst/>
          </a:prstGeom>
          <a:noFill/>
          <a:ln/>
        </p:spPr>
        <p:txBody>
          <a:bodyPr wrap="square" lIns="0" tIns="0" rIns="0" bIns="0" rtlCol="0" anchor="ctr"/>
          <a:lstStyle/>
          <a:p>
            <a:pPr marL="0" indent="0" algn="l">
              <a:buNone/>
            </a:pPr>
            <a:r>
              <a:rPr lang="en-US" sz="1200" b="1" kern="0" dirty="0">
                <a:solidFill>
                  <a:srgbClr val="ECECEC"/>
                </a:solidFill>
                <a:latin typeface="Calibri" pitchFamily="34" charset="0"/>
                <a:ea typeface="Calibri" pitchFamily="34" charset="-122"/>
                <a:cs typeface="Calibri" pitchFamily="34" charset="-120"/>
              </a:rPr>
              <a:t>Teaching simplification </a:t>
            </a:r>
            <a:r>
              <a:rPr lang="en-US" sz="1200" kern="0" dirty="0">
                <a:solidFill>
                  <a:srgbClr val="ECECEC"/>
                </a:solidFill>
                <a:latin typeface="Calibri" pitchFamily="34" charset="0"/>
                <a:ea typeface="Calibri" pitchFamily="34" charset="-122"/>
                <a:cs typeface="Calibri" pitchFamily="34" charset="-120"/>
              </a:rPr>
              <a:t>— Market-Maker Protection (MMP) exists in the data model but isn't enforced by the engine, and it's one user per gateway.</a:t>
            </a:r>
            <a:endParaRPr lang="en-US" sz="2800" dirty="0"/>
          </a:p>
        </p:txBody>
      </p:sp>
      <p:sp>
        <p:nvSpPr>
          <p:cNvPr id="9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9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07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05 · TRADING FUNCTIONS</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Order types the engine supports</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481328"/>
            <a:ext cx="1975104" cy="2331720"/>
          </a:xfrm>
          <a:prstGeom prst="roundRect">
            <a:avLst>
              <a:gd name="adj" fmla="val 277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col head">
            <a:extLst>
              <a:ext uri="{C183D7F6-B498-43B3-948B-1728B52AA6E4}">
                <adec:decorative xmlns:adec="http://schemas.microsoft.com/office/drawing/2017/decorative" val="1"/>
              </a:ext>
            </a:extLst>
          </p:cNvPr>
          <p:cNvSpPr/>
          <p:nvPr/>
        </p:nvSpPr>
        <p:spPr>
          <a:xfrm>
            <a:off x="566928" y="1481328"/>
            <a:ext cx="1975104" cy="457200"/>
          </a:xfrm>
          <a:prstGeom prst="rect">
            <a:avLst/>
          </a:prstGeom>
          <a:solidFill>
            <a:srgbClr val="F2860D"/>
          </a:solidFill>
          <a:ln/>
        </p:spPr>
        <p:txBody>
          <a:bodyPr/>
          <a:lstStyle/>
          <a:p>
            <a:endParaRPr lang="en-SE"/>
          </a:p>
        </p:txBody>
      </p:sp>
      <p:sp>
        <p:nvSpPr>
          <p:cNvPr id="7" name="Text 5"/>
          <p:cNvSpPr/>
          <p:nvPr/>
        </p:nvSpPr>
        <p:spPr>
          <a:xfrm>
            <a:off x="566928" y="1481328"/>
            <a:ext cx="1975104" cy="457200"/>
          </a:xfrm>
          <a:prstGeom prst="rect">
            <a:avLst/>
          </a:prstGeom>
          <a:noFill/>
          <a:ln/>
        </p:spPr>
        <p:txBody>
          <a:bodyPr wrap="square" lIns="0" tIns="0" rIns="0" bIns="0" rtlCol="0" anchor="ctr"/>
          <a:lstStyle/>
          <a:p>
            <a:pPr marL="0" indent="0" algn="ctr">
              <a:buNone/>
            </a:pPr>
            <a:r>
              <a:rPr lang="en-US" sz="1350" b="1" dirty="0">
                <a:solidFill>
                  <a:srgbClr val="161616"/>
                </a:solidFill>
                <a:latin typeface="Arial" pitchFamily="34" charset="0"/>
                <a:ea typeface="Arial" pitchFamily="34" charset="-122"/>
                <a:cs typeface="Arial" pitchFamily="34" charset="-120"/>
              </a:rPr>
              <a:t>Aggressive</a:t>
            </a:r>
            <a:endParaRPr lang="en-US" sz="1350" dirty="0"/>
          </a:p>
        </p:txBody>
      </p:sp>
      <p:sp>
        <p:nvSpPr>
          <p:cNvPr id="8" name="Text 6"/>
          <p:cNvSpPr/>
          <p:nvPr/>
        </p:nvSpPr>
        <p:spPr>
          <a:xfrm>
            <a:off x="713232" y="2084832"/>
            <a:ext cx="1700784" cy="256032"/>
          </a:xfrm>
          <a:prstGeom prst="rect">
            <a:avLst/>
          </a:prstGeom>
          <a:noFill/>
          <a:ln/>
        </p:spPr>
        <p:txBody>
          <a:bodyPr wrap="square" lIns="0" tIns="0" rIns="0" bIns="0" rtlCol="0" anchor="ctr"/>
          <a:lstStyle/>
          <a:p>
            <a:pPr marL="0" indent="0">
              <a:buNone/>
            </a:pPr>
            <a:r>
              <a:rPr lang="en-US" sz="1250" b="1" dirty="0">
                <a:solidFill>
                  <a:srgbClr val="ECECEC"/>
                </a:solidFill>
                <a:latin typeface="Courier New" pitchFamily="34" charset="0"/>
                <a:ea typeface="Courier New" pitchFamily="34" charset="-122"/>
                <a:cs typeface="Courier New" pitchFamily="34" charset="-120"/>
              </a:rPr>
              <a:t>MARKET</a:t>
            </a:r>
            <a:endParaRPr lang="en-US" sz="1250" dirty="0"/>
          </a:p>
        </p:txBody>
      </p:sp>
      <p:sp>
        <p:nvSpPr>
          <p:cNvPr id="9" name="Text 7"/>
          <p:cNvSpPr/>
          <p:nvPr/>
        </p:nvSpPr>
        <p:spPr>
          <a:xfrm>
            <a:off x="713232" y="2331720"/>
            <a:ext cx="1700784" cy="384048"/>
          </a:xfrm>
          <a:prstGeom prst="rect">
            <a:avLst/>
          </a:prstGeom>
          <a:noFill/>
          <a:ln/>
        </p:spPr>
        <p:txBody>
          <a:bodyPr wrap="square" lIns="0" tIns="0" rIns="0" bIns="0" rtlCol="0" anchor="t"/>
          <a:lstStyle/>
          <a:p>
            <a:pPr marL="0" indent="0">
              <a:lnSpc>
                <a:spcPct val="100000"/>
              </a:lnSpc>
              <a:buNone/>
            </a:pPr>
            <a:r>
              <a:rPr lang="en-US" sz="1000" dirty="0">
                <a:solidFill>
                  <a:srgbClr val="B4B4BE"/>
                </a:solidFill>
                <a:latin typeface="Calibri" pitchFamily="34" charset="0"/>
                <a:ea typeface="Calibri" pitchFamily="34" charset="-122"/>
                <a:cs typeface="Calibri" pitchFamily="34" charset="-120"/>
              </a:rPr>
              <a:t>Immediate at best price</a:t>
            </a:r>
            <a:endParaRPr lang="en-US" sz="1000" dirty="0"/>
          </a:p>
        </p:txBody>
      </p:sp>
      <p:sp>
        <p:nvSpPr>
          <p:cNvPr id="10" name="Text 8"/>
          <p:cNvSpPr/>
          <p:nvPr/>
        </p:nvSpPr>
        <p:spPr>
          <a:xfrm>
            <a:off x="713232" y="2660904"/>
            <a:ext cx="1700784" cy="256032"/>
          </a:xfrm>
          <a:prstGeom prst="rect">
            <a:avLst/>
          </a:prstGeom>
          <a:noFill/>
          <a:ln/>
        </p:spPr>
        <p:txBody>
          <a:bodyPr wrap="square" lIns="0" tIns="0" rIns="0" bIns="0" rtlCol="0" anchor="ctr"/>
          <a:lstStyle/>
          <a:p>
            <a:pPr marL="0" indent="0">
              <a:buNone/>
            </a:pPr>
            <a:r>
              <a:rPr lang="en-US" sz="1250" b="1" dirty="0">
                <a:solidFill>
                  <a:srgbClr val="ECECEC"/>
                </a:solidFill>
                <a:latin typeface="Courier New" pitchFamily="34" charset="0"/>
                <a:ea typeface="Courier New" pitchFamily="34" charset="-122"/>
                <a:cs typeface="Courier New" pitchFamily="34" charset="-120"/>
              </a:rPr>
              <a:t>FOK</a:t>
            </a:r>
            <a:endParaRPr lang="en-US" sz="1250" dirty="0"/>
          </a:p>
        </p:txBody>
      </p:sp>
      <p:sp>
        <p:nvSpPr>
          <p:cNvPr id="11" name="Text 9"/>
          <p:cNvSpPr/>
          <p:nvPr/>
        </p:nvSpPr>
        <p:spPr>
          <a:xfrm>
            <a:off x="713232" y="2907792"/>
            <a:ext cx="1700784" cy="384048"/>
          </a:xfrm>
          <a:prstGeom prst="rect">
            <a:avLst/>
          </a:prstGeom>
          <a:noFill/>
          <a:ln/>
        </p:spPr>
        <p:txBody>
          <a:bodyPr wrap="square" lIns="0" tIns="0" rIns="0" bIns="0" rtlCol="0" anchor="t"/>
          <a:lstStyle/>
          <a:p>
            <a:pPr marL="0" indent="0">
              <a:lnSpc>
                <a:spcPct val="100000"/>
              </a:lnSpc>
              <a:buNone/>
            </a:pPr>
            <a:r>
              <a:rPr lang="en-US" sz="1000" dirty="0">
                <a:solidFill>
                  <a:srgbClr val="B4B4BE"/>
                </a:solidFill>
                <a:latin typeface="Calibri" pitchFamily="34" charset="0"/>
                <a:ea typeface="Calibri" pitchFamily="34" charset="-122"/>
                <a:cs typeface="Calibri" pitchFamily="34" charset="-120"/>
              </a:rPr>
              <a:t>All-or-nothing fill</a:t>
            </a:r>
            <a:endParaRPr lang="en-US" sz="1000" dirty="0"/>
          </a:p>
        </p:txBody>
      </p:sp>
      <p:sp>
        <p:nvSpPr>
          <p:cNvPr id="12" name="Text 10"/>
          <p:cNvSpPr/>
          <p:nvPr/>
        </p:nvSpPr>
        <p:spPr>
          <a:xfrm>
            <a:off x="713232" y="3236976"/>
            <a:ext cx="1700784" cy="256032"/>
          </a:xfrm>
          <a:prstGeom prst="rect">
            <a:avLst/>
          </a:prstGeom>
          <a:noFill/>
          <a:ln/>
        </p:spPr>
        <p:txBody>
          <a:bodyPr wrap="square" lIns="0" tIns="0" rIns="0" bIns="0" rtlCol="0" anchor="ctr"/>
          <a:lstStyle/>
          <a:p>
            <a:pPr marL="0" indent="0">
              <a:buNone/>
            </a:pPr>
            <a:r>
              <a:rPr lang="en-US" sz="1250" b="1" dirty="0">
                <a:solidFill>
                  <a:srgbClr val="ECECEC"/>
                </a:solidFill>
                <a:latin typeface="Courier New" pitchFamily="34" charset="0"/>
                <a:ea typeface="Courier New" pitchFamily="34" charset="-122"/>
                <a:cs typeface="Courier New" pitchFamily="34" charset="-120"/>
              </a:rPr>
              <a:t>IOC</a:t>
            </a:r>
            <a:endParaRPr lang="en-US" sz="1250" dirty="0"/>
          </a:p>
        </p:txBody>
      </p:sp>
      <p:sp>
        <p:nvSpPr>
          <p:cNvPr id="13" name="Text 11"/>
          <p:cNvSpPr/>
          <p:nvPr/>
        </p:nvSpPr>
        <p:spPr>
          <a:xfrm>
            <a:off x="713232" y="3483864"/>
            <a:ext cx="1700784" cy="384048"/>
          </a:xfrm>
          <a:prstGeom prst="rect">
            <a:avLst/>
          </a:prstGeom>
          <a:noFill/>
          <a:ln/>
        </p:spPr>
        <p:txBody>
          <a:bodyPr wrap="square" lIns="0" tIns="0" rIns="0" bIns="0" rtlCol="0" anchor="t"/>
          <a:lstStyle/>
          <a:p>
            <a:pPr marL="0" indent="0">
              <a:lnSpc>
                <a:spcPct val="100000"/>
              </a:lnSpc>
              <a:buNone/>
            </a:pPr>
            <a:r>
              <a:rPr lang="en-US" sz="1000" dirty="0">
                <a:solidFill>
                  <a:srgbClr val="B4B4BE"/>
                </a:solidFill>
                <a:latin typeface="Calibri" pitchFamily="34" charset="0"/>
                <a:ea typeface="Calibri" pitchFamily="34" charset="-122"/>
                <a:cs typeface="Calibri" pitchFamily="34" charset="-120"/>
              </a:rPr>
              <a:t>Fill now, cancel rest</a:t>
            </a:r>
            <a:endParaRPr lang="en-US" sz="1000" dirty="0"/>
          </a:p>
        </p:txBody>
      </p:sp>
      <p:sp>
        <p:nvSpPr>
          <p:cNvPr id="14" name="card">
            <a:extLst>
              <a:ext uri="{C183D7F6-B498-43B3-948B-1728B52AA6E4}">
                <adec:decorative xmlns:adec="http://schemas.microsoft.com/office/drawing/2017/decorative" val="1"/>
              </a:ext>
            </a:extLst>
          </p:cNvPr>
          <p:cNvSpPr/>
          <p:nvPr/>
        </p:nvSpPr>
        <p:spPr>
          <a:xfrm>
            <a:off x="2688336" y="1481328"/>
            <a:ext cx="1975104" cy="2331720"/>
          </a:xfrm>
          <a:prstGeom prst="roundRect">
            <a:avLst>
              <a:gd name="adj" fmla="val 277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5" name="col head">
            <a:extLst>
              <a:ext uri="{C183D7F6-B498-43B3-948B-1728B52AA6E4}">
                <adec:decorative xmlns:adec="http://schemas.microsoft.com/office/drawing/2017/decorative" val="1"/>
              </a:ext>
            </a:extLst>
          </p:cNvPr>
          <p:cNvSpPr/>
          <p:nvPr/>
        </p:nvSpPr>
        <p:spPr>
          <a:xfrm>
            <a:off x="2688336" y="1481328"/>
            <a:ext cx="1975104" cy="457200"/>
          </a:xfrm>
          <a:prstGeom prst="rect">
            <a:avLst/>
          </a:prstGeom>
          <a:solidFill>
            <a:srgbClr val="4FB3CC"/>
          </a:solidFill>
          <a:ln/>
        </p:spPr>
        <p:txBody>
          <a:bodyPr/>
          <a:lstStyle/>
          <a:p>
            <a:endParaRPr lang="en-SE"/>
          </a:p>
        </p:txBody>
      </p:sp>
      <p:sp>
        <p:nvSpPr>
          <p:cNvPr id="16" name="Text 14"/>
          <p:cNvSpPr/>
          <p:nvPr/>
        </p:nvSpPr>
        <p:spPr>
          <a:xfrm>
            <a:off x="2688336" y="1481328"/>
            <a:ext cx="1975104" cy="457200"/>
          </a:xfrm>
          <a:prstGeom prst="rect">
            <a:avLst/>
          </a:prstGeom>
          <a:noFill/>
          <a:ln/>
        </p:spPr>
        <p:txBody>
          <a:bodyPr wrap="square" lIns="0" tIns="0" rIns="0" bIns="0" rtlCol="0" anchor="ctr"/>
          <a:lstStyle/>
          <a:p>
            <a:pPr marL="0" indent="0" algn="ctr">
              <a:buNone/>
            </a:pPr>
            <a:r>
              <a:rPr lang="en-US" sz="1350" b="1" dirty="0">
                <a:solidFill>
                  <a:srgbClr val="161616"/>
                </a:solidFill>
                <a:latin typeface="Arial" pitchFamily="34" charset="0"/>
                <a:ea typeface="Arial" pitchFamily="34" charset="-122"/>
                <a:cs typeface="Arial" pitchFamily="34" charset="-120"/>
              </a:rPr>
              <a:t>Passive</a:t>
            </a:r>
            <a:endParaRPr lang="en-US" sz="1350" dirty="0"/>
          </a:p>
        </p:txBody>
      </p:sp>
      <p:sp>
        <p:nvSpPr>
          <p:cNvPr id="17" name="Text 15"/>
          <p:cNvSpPr/>
          <p:nvPr/>
        </p:nvSpPr>
        <p:spPr>
          <a:xfrm>
            <a:off x="2834640" y="2084832"/>
            <a:ext cx="1700784" cy="256032"/>
          </a:xfrm>
          <a:prstGeom prst="rect">
            <a:avLst/>
          </a:prstGeom>
          <a:noFill/>
          <a:ln/>
        </p:spPr>
        <p:txBody>
          <a:bodyPr wrap="square" lIns="0" tIns="0" rIns="0" bIns="0" rtlCol="0" anchor="ctr"/>
          <a:lstStyle/>
          <a:p>
            <a:pPr marL="0" indent="0">
              <a:buNone/>
            </a:pPr>
            <a:r>
              <a:rPr lang="en-US" sz="1250" b="1" dirty="0">
                <a:solidFill>
                  <a:srgbClr val="ECECEC"/>
                </a:solidFill>
                <a:latin typeface="Courier New" pitchFamily="34" charset="0"/>
                <a:ea typeface="Courier New" pitchFamily="34" charset="-122"/>
                <a:cs typeface="Courier New" pitchFamily="34" charset="-120"/>
              </a:rPr>
              <a:t>LIMIT</a:t>
            </a:r>
            <a:endParaRPr lang="en-US" sz="1250" dirty="0"/>
          </a:p>
        </p:txBody>
      </p:sp>
      <p:sp>
        <p:nvSpPr>
          <p:cNvPr id="18" name="Text 16"/>
          <p:cNvSpPr/>
          <p:nvPr/>
        </p:nvSpPr>
        <p:spPr>
          <a:xfrm>
            <a:off x="2834640" y="2331720"/>
            <a:ext cx="1700784" cy="384048"/>
          </a:xfrm>
          <a:prstGeom prst="rect">
            <a:avLst/>
          </a:prstGeom>
          <a:noFill/>
          <a:ln/>
        </p:spPr>
        <p:txBody>
          <a:bodyPr wrap="square" lIns="0" tIns="0" rIns="0" bIns="0" rtlCol="0" anchor="t"/>
          <a:lstStyle/>
          <a:p>
            <a:pPr marL="0" indent="0">
              <a:lnSpc>
                <a:spcPct val="100000"/>
              </a:lnSpc>
              <a:buNone/>
            </a:pPr>
            <a:r>
              <a:rPr lang="en-US" sz="1000" dirty="0">
                <a:solidFill>
                  <a:srgbClr val="B4B4BE"/>
                </a:solidFill>
                <a:latin typeface="Calibri" pitchFamily="34" charset="0"/>
                <a:ea typeface="Calibri" pitchFamily="34" charset="-122"/>
                <a:cs typeface="Calibri" pitchFamily="34" charset="-120"/>
              </a:rPr>
              <a:t>Rests on book at price</a:t>
            </a:r>
            <a:endParaRPr lang="en-US" sz="1000" dirty="0"/>
          </a:p>
        </p:txBody>
      </p:sp>
      <p:sp>
        <p:nvSpPr>
          <p:cNvPr id="19" name="Text 17"/>
          <p:cNvSpPr/>
          <p:nvPr/>
        </p:nvSpPr>
        <p:spPr>
          <a:xfrm>
            <a:off x="2834640" y="2660904"/>
            <a:ext cx="1700784" cy="256032"/>
          </a:xfrm>
          <a:prstGeom prst="rect">
            <a:avLst/>
          </a:prstGeom>
          <a:noFill/>
          <a:ln/>
        </p:spPr>
        <p:txBody>
          <a:bodyPr wrap="square" lIns="0" tIns="0" rIns="0" bIns="0" rtlCol="0" anchor="ctr"/>
          <a:lstStyle/>
          <a:p>
            <a:pPr marL="0" indent="0">
              <a:buNone/>
            </a:pPr>
            <a:r>
              <a:rPr lang="en-US" sz="1250" b="1" dirty="0">
                <a:solidFill>
                  <a:srgbClr val="ECECEC"/>
                </a:solidFill>
                <a:latin typeface="Courier New" pitchFamily="34" charset="0"/>
                <a:ea typeface="Courier New" pitchFamily="34" charset="-122"/>
                <a:cs typeface="Courier New" pitchFamily="34" charset="-120"/>
              </a:rPr>
              <a:t>ICEBERG</a:t>
            </a:r>
            <a:endParaRPr lang="en-US" sz="1250" dirty="0"/>
          </a:p>
        </p:txBody>
      </p:sp>
      <p:sp>
        <p:nvSpPr>
          <p:cNvPr id="20" name="Text 18"/>
          <p:cNvSpPr/>
          <p:nvPr/>
        </p:nvSpPr>
        <p:spPr>
          <a:xfrm>
            <a:off x="2834640" y="2907792"/>
            <a:ext cx="1700784" cy="384048"/>
          </a:xfrm>
          <a:prstGeom prst="rect">
            <a:avLst/>
          </a:prstGeom>
          <a:noFill/>
          <a:ln/>
        </p:spPr>
        <p:txBody>
          <a:bodyPr wrap="square" lIns="0" tIns="0" rIns="0" bIns="0" rtlCol="0" anchor="t"/>
          <a:lstStyle/>
          <a:p>
            <a:pPr marL="0" indent="0">
              <a:lnSpc>
                <a:spcPct val="100000"/>
              </a:lnSpc>
              <a:buNone/>
            </a:pPr>
            <a:r>
              <a:rPr lang="en-US" sz="1000" dirty="0">
                <a:solidFill>
                  <a:srgbClr val="B4B4BE"/>
                </a:solidFill>
                <a:latin typeface="Calibri" pitchFamily="34" charset="0"/>
                <a:ea typeface="Calibri" pitchFamily="34" charset="-122"/>
                <a:cs typeface="Calibri" pitchFamily="34" charset="-120"/>
              </a:rPr>
              <a:t>Hidden reserve, visible peak</a:t>
            </a:r>
            <a:endParaRPr lang="en-US" sz="1000" dirty="0"/>
          </a:p>
        </p:txBody>
      </p:sp>
      <p:sp>
        <p:nvSpPr>
          <p:cNvPr id="21" name="card">
            <a:extLst>
              <a:ext uri="{C183D7F6-B498-43B3-948B-1728B52AA6E4}">
                <adec:decorative xmlns:adec="http://schemas.microsoft.com/office/drawing/2017/decorative" val="1"/>
              </a:ext>
            </a:extLst>
          </p:cNvPr>
          <p:cNvSpPr/>
          <p:nvPr/>
        </p:nvSpPr>
        <p:spPr>
          <a:xfrm>
            <a:off x="4809744" y="1481328"/>
            <a:ext cx="1975104" cy="2331720"/>
          </a:xfrm>
          <a:prstGeom prst="roundRect">
            <a:avLst>
              <a:gd name="adj" fmla="val 277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2" name="col head">
            <a:extLst>
              <a:ext uri="{C183D7F6-B498-43B3-948B-1728B52AA6E4}">
                <adec:decorative xmlns:adec="http://schemas.microsoft.com/office/drawing/2017/decorative" val="1"/>
              </a:ext>
            </a:extLst>
          </p:cNvPr>
          <p:cNvSpPr/>
          <p:nvPr/>
        </p:nvSpPr>
        <p:spPr>
          <a:xfrm>
            <a:off x="4809744" y="1481328"/>
            <a:ext cx="1975104" cy="457200"/>
          </a:xfrm>
          <a:prstGeom prst="rect">
            <a:avLst/>
          </a:prstGeom>
          <a:solidFill>
            <a:srgbClr val="B98CE0"/>
          </a:solidFill>
          <a:ln/>
        </p:spPr>
        <p:txBody>
          <a:bodyPr/>
          <a:lstStyle/>
          <a:p>
            <a:endParaRPr lang="en-SE"/>
          </a:p>
        </p:txBody>
      </p:sp>
      <p:sp>
        <p:nvSpPr>
          <p:cNvPr id="23" name="Text 21"/>
          <p:cNvSpPr/>
          <p:nvPr/>
        </p:nvSpPr>
        <p:spPr>
          <a:xfrm>
            <a:off x="4809744" y="1481328"/>
            <a:ext cx="1975104" cy="457200"/>
          </a:xfrm>
          <a:prstGeom prst="rect">
            <a:avLst/>
          </a:prstGeom>
          <a:noFill/>
          <a:ln/>
        </p:spPr>
        <p:txBody>
          <a:bodyPr wrap="square" lIns="0" tIns="0" rIns="0" bIns="0" rtlCol="0" anchor="ctr"/>
          <a:lstStyle/>
          <a:p>
            <a:pPr marL="0" indent="0" algn="ctr">
              <a:buNone/>
            </a:pPr>
            <a:r>
              <a:rPr lang="en-US" sz="1350" b="1" dirty="0">
                <a:solidFill>
                  <a:srgbClr val="161616"/>
                </a:solidFill>
                <a:latin typeface="Arial" pitchFamily="34" charset="0"/>
                <a:ea typeface="Arial" pitchFamily="34" charset="-122"/>
                <a:cs typeface="Arial" pitchFamily="34" charset="-120"/>
              </a:rPr>
              <a:t>Conditional</a:t>
            </a:r>
            <a:endParaRPr lang="en-US" sz="1350" dirty="0"/>
          </a:p>
        </p:txBody>
      </p:sp>
      <p:sp>
        <p:nvSpPr>
          <p:cNvPr id="24" name="Text 22"/>
          <p:cNvSpPr/>
          <p:nvPr/>
        </p:nvSpPr>
        <p:spPr>
          <a:xfrm>
            <a:off x="4956048" y="2084832"/>
            <a:ext cx="1700784" cy="256032"/>
          </a:xfrm>
          <a:prstGeom prst="rect">
            <a:avLst/>
          </a:prstGeom>
          <a:noFill/>
          <a:ln/>
        </p:spPr>
        <p:txBody>
          <a:bodyPr wrap="square" lIns="0" tIns="0" rIns="0" bIns="0" rtlCol="0" anchor="ctr"/>
          <a:lstStyle/>
          <a:p>
            <a:pPr marL="0" indent="0">
              <a:buNone/>
            </a:pPr>
            <a:r>
              <a:rPr lang="en-US" sz="1250" b="1" dirty="0">
                <a:solidFill>
                  <a:srgbClr val="ECECEC"/>
                </a:solidFill>
                <a:latin typeface="Courier New" pitchFamily="34" charset="0"/>
                <a:ea typeface="Courier New" pitchFamily="34" charset="-122"/>
                <a:cs typeface="Courier New" pitchFamily="34" charset="-120"/>
              </a:rPr>
              <a:t>STOP</a:t>
            </a:r>
            <a:endParaRPr lang="en-US" sz="1250" dirty="0"/>
          </a:p>
        </p:txBody>
      </p:sp>
      <p:sp>
        <p:nvSpPr>
          <p:cNvPr id="25" name="Text 23"/>
          <p:cNvSpPr/>
          <p:nvPr/>
        </p:nvSpPr>
        <p:spPr>
          <a:xfrm>
            <a:off x="4956048" y="2331720"/>
            <a:ext cx="1700784" cy="384048"/>
          </a:xfrm>
          <a:prstGeom prst="rect">
            <a:avLst/>
          </a:prstGeom>
          <a:noFill/>
          <a:ln/>
        </p:spPr>
        <p:txBody>
          <a:bodyPr wrap="square" lIns="0" tIns="0" rIns="0" bIns="0" rtlCol="0" anchor="t"/>
          <a:lstStyle/>
          <a:p>
            <a:pPr marL="0" indent="0">
              <a:lnSpc>
                <a:spcPct val="100000"/>
              </a:lnSpc>
              <a:buNone/>
            </a:pPr>
            <a:r>
              <a:rPr lang="en-US" sz="1000" dirty="0">
                <a:solidFill>
                  <a:srgbClr val="B4B4BE"/>
                </a:solidFill>
                <a:latin typeface="Calibri" pitchFamily="34" charset="0"/>
                <a:ea typeface="Calibri" pitchFamily="34" charset="-122"/>
                <a:cs typeface="Calibri" pitchFamily="34" charset="-120"/>
              </a:rPr>
              <a:t>Trigger → market</a:t>
            </a:r>
            <a:endParaRPr lang="en-US" sz="1000" dirty="0"/>
          </a:p>
        </p:txBody>
      </p:sp>
      <p:sp>
        <p:nvSpPr>
          <p:cNvPr id="26" name="Text 24"/>
          <p:cNvSpPr/>
          <p:nvPr/>
        </p:nvSpPr>
        <p:spPr>
          <a:xfrm>
            <a:off x="4956048" y="2660904"/>
            <a:ext cx="1700784" cy="256032"/>
          </a:xfrm>
          <a:prstGeom prst="rect">
            <a:avLst/>
          </a:prstGeom>
          <a:noFill/>
          <a:ln/>
        </p:spPr>
        <p:txBody>
          <a:bodyPr wrap="square" lIns="0" tIns="0" rIns="0" bIns="0" rtlCol="0" anchor="ctr"/>
          <a:lstStyle/>
          <a:p>
            <a:pPr marL="0" indent="0">
              <a:buNone/>
            </a:pPr>
            <a:r>
              <a:rPr lang="en-US" sz="1250" b="1" dirty="0">
                <a:solidFill>
                  <a:srgbClr val="ECECEC"/>
                </a:solidFill>
                <a:latin typeface="Courier New" pitchFamily="34" charset="0"/>
                <a:ea typeface="Courier New" pitchFamily="34" charset="-122"/>
                <a:cs typeface="Courier New" pitchFamily="34" charset="-120"/>
              </a:rPr>
              <a:t>STOP_LIMIT</a:t>
            </a:r>
            <a:endParaRPr lang="en-US" sz="1250" dirty="0"/>
          </a:p>
        </p:txBody>
      </p:sp>
      <p:sp>
        <p:nvSpPr>
          <p:cNvPr id="27" name="Text 25"/>
          <p:cNvSpPr/>
          <p:nvPr/>
        </p:nvSpPr>
        <p:spPr>
          <a:xfrm>
            <a:off x="4956048" y="2907792"/>
            <a:ext cx="1700784" cy="384048"/>
          </a:xfrm>
          <a:prstGeom prst="rect">
            <a:avLst/>
          </a:prstGeom>
          <a:noFill/>
          <a:ln/>
        </p:spPr>
        <p:txBody>
          <a:bodyPr wrap="square" lIns="0" tIns="0" rIns="0" bIns="0" rtlCol="0" anchor="t"/>
          <a:lstStyle/>
          <a:p>
            <a:pPr marL="0" indent="0">
              <a:lnSpc>
                <a:spcPct val="100000"/>
              </a:lnSpc>
              <a:buNone/>
            </a:pPr>
            <a:r>
              <a:rPr lang="en-US" sz="1000" dirty="0">
                <a:solidFill>
                  <a:srgbClr val="B4B4BE"/>
                </a:solidFill>
                <a:latin typeface="Calibri" pitchFamily="34" charset="0"/>
                <a:ea typeface="Calibri" pitchFamily="34" charset="-122"/>
                <a:cs typeface="Calibri" pitchFamily="34" charset="-120"/>
              </a:rPr>
              <a:t>Trigger → limit</a:t>
            </a:r>
            <a:endParaRPr lang="en-US" sz="1000" dirty="0"/>
          </a:p>
        </p:txBody>
      </p:sp>
      <p:sp>
        <p:nvSpPr>
          <p:cNvPr id="28" name="Text 26"/>
          <p:cNvSpPr/>
          <p:nvPr/>
        </p:nvSpPr>
        <p:spPr>
          <a:xfrm>
            <a:off x="4956048" y="3236976"/>
            <a:ext cx="1700784" cy="256032"/>
          </a:xfrm>
          <a:prstGeom prst="rect">
            <a:avLst/>
          </a:prstGeom>
          <a:noFill/>
          <a:ln/>
        </p:spPr>
        <p:txBody>
          <a:bodyPr wrap="square" lIns="0" tIns="0" rIns="0" bIns="0" rtlCol="0" anchor="ctr"/>
          <a:lstStyle/>
          <a:p>
            <a:pPr marL="0" indent="0">
              <a:buNone/>
            </a:pPr>
            <a:r>
              <a:rPr lang="en-US" sz="1250" b="1" dirty="0">
                <a:solidFill>
                  <a:srgbClr val="ECECEC"/>
                </a:solidFill>
                <a:latin typeface="Courier New" pitchFamily="34" charset="0"/>
                <a:ea typeface="Courier New" pitchFamily="34" charset="-122"/>
                <a:cs typeface="Courier New" pitchFamily="34" charset="-120"/>
              </a:rPr>
              <a:t>TRAILING_STOP</a:t>
            </a:r>
            <a:endParaRPr lang="en-US" sz="1250" dirty="0"/>
          </a:p>
        </p:txBody>
      </p:sp>
      <p:sp>
        <p:nvSpPr>
          <p:cNvPr id="29" name="Text 27"/>
          <p:cNvSpPr/>
          <p:nvPr/>
        </p:nvSpPr>
        <p:spPr>
          <a:xfrm>
            <a:off x="4956048" y="3483864"/>
            <a:ext cx="1700784" cy="384048"/>
          </a:xfrm>
          <a:prstGeom prst="rect">
            <a:avLst/>
          </a:prstGeom>
          <a:noFill/>
          <a:ln/>
        </p:spPr>
        <p:txBody>
          <a:bodyPr wrap="square" lIns="0" tIns="0" rIns="0" bIns="0" rtlCol="0" anchor="t"/>
          <a:lstStyle/>
          <a:p>
            <a:pPr marL="0" indent="0">
              <a:lnSpc>
                <a:spcPct val="100000"/>
              </a:lnSpc>
              <a:buNone/>
            </a:pPr>
            <a:r>
              <a:rPr lang="en-US" sz="1000" dirty="0">
                <a:solidFill>
                  <a:srgbClr val="B4B4BE"/>
                </a:solidFill>
                <a:latin typeface="Calibri" pitchFamily="34" charset="0"/>
                <a:ea typeface="Calibri" pitchFamily="34" charset="-122"/>
                <a:cs typeface="Calibri" pitchFamily="34" charset="-120"/>
              </a:rPr>
              <a:t>Follows price by offset</a:t>
            </a:r>
            <a:endParaRPr lang="en-US" sz="1000" dirty="0"/>
          </a:p>
        </p:txBody>
      </p:sp>
      <p:sp>
        <p:nvSpPr>
          <p:cNvPr id="30" name="card">
            <a:extLst>
              <a:ext uri="{C183D7F6-B498-43B3-948B-1728B52AA6E4}">
                <adec:decorative xmlns:adec="http://schemas.microsoft.com/office/drawing/2017/decorative" val="1"/>
              </a:ext>
            </a:extLst>
          </p:cNvPr>
          <p:cNvSpPr/>
          <p:nvPr/>
        </p:nvSpPr>
        <p:spPr>
          <a:xfrm>
            <a:off x="6931152" y="1481328"/>
            <a:ext cx="1975104" cy="2331720"/>
          </a:xfrm>
          <a:prstGeom prst="roundRect">
            <a:avLst>
              <a:gd name="adj" fmla="val 277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1" name="col head">
            <a:extLst>
              <a:ext uri="{C183D7F6-B498-43B3-948B-1728B52AA6E4}">
                <adec:decorative xmlns:adec="http://schemas.microsoft.com/office/drawing/2017/decorative" val="1"/>
              </a:ext>
            </a:extLst>
          </p:cNvPr>
          <p:cNvSpPr/>
          <p:nvPr/>
        </p:nvSpPr>
        <p:spPr>
          <a:xfrm>
            <a:off x="6931152" y="1481328"/>
            <a:ext cx="1975104" cy="457200"/>
          </a:xfrm>
          <a:prstGeom prst="rect">
            <a:avLst/>
          </a:prstGeom>
          <a:solidFill>
            <a:srgbClr val="5FC98E"/>
          </a:solidFill>
          <a:ln/>
        </p:spPr>
        <p:txBody>
          <a:bodyPr/>
          <a:lstStyle/>
          <a:p>
            <a:endParaRPr lang="en-SE"/>
          </a:p>
        </p:txBody>
      </p:sp>
      <p:sp>
        <p:nvSpPr>
          <p:cNvPr id="32" name="Text 30"/>
          <p:cNvSpPr/>
          <p:nvPr/>
        </p:nvSpPr>
        <p:spPr>
          <a:xfrm>
            <a:off x="6931152" y="1481328"/>
            <a:ext cx="1975104" cy="457200"/>
          </a:xfrm>
          <a:prstGeom prst="rect">
            <a:avLst/>
          </a:prstGeom>
          <a:noFill/>
          <a:ln/>
        </p:spPr>
        <p:txBody>
          <a:bodyPr wrap="square" lIns="0" tIns="0" rIns="0" bIns="0" rtlCol="0" anchor="ctr"/>
          <a:lstStyle/>
          <a:p>
            <a:pPr marL="0" indent="0" algn="ctr">
              <a:buNone/>
            </a:pPr>
            <a:r>
              <a:rPr lang="en-US" sz="1350" b="1" dirty="0">
                <a:solidFill>
                  <a:srgbClr val="161616"/>
                </a:solidFill>
                <a:latin typeface="Arial" pitchFamily="34" charset="0"/>
                <a:ea typeface="Arial" pitchFamily="34" charset="-122"/>
                <a:cs typeface="Arial" pitchFamily="34" charset="-120"/>
              </a:rPr>
              <a:t>Multi-leg</a:t>
            </a:r>
            <a:endParaRPr lang="en-US" sz="1350" dirty="0"/>
          </a:p>
        </p:txBody>
      </p:sp>
      <p:sp>
        <p:nvSpPr>
          <p:cNvPr id="33" name="Text 31"/>
          <p:cNvSpPr/>
          <p:nvPr/>
        </p:nvSpPr>
        <p:spPr>
          <a:xfrm>
            <a:off x="7077456" y="2084832"/>
            <a:ext cx="1700784" cy="256032"/>
          </a:xfrm>
          <a:prstGeom prst="rect">
            <a:avLst/>
          </a:prstGeom>
          <a:noFill/>
          <a:ln/>
        </p:spPr>
        <p:txBody>
          <a:bodyPr wrap="square" lIns="0" tIns="0" rIns="0" bIns="0" rtlCol="0" anchor="ctr"/>
          <a:lstStyle/>
          <a:p>
            <a:pPr marL="0" indent="0">
              <a:buNone/>
            </a:pPr>
            <a:r>
              <a:rPr lang="en-US" sz="1250" b="1" dirty="0">
                <a:solidFill>
                  <a:srgbClr val="ECECEC"/>
                </a:solidFill>
                <a:latin typeface="Courier New" pitchFamily="34" charset="0"/>
                <a:ea typeface="Courier New" pitchFamily="34" charset="-122"/>
                <a:cs typeface="Courier New" pitchFamily="34" charset="-120"/>
              </a:rPr>
              <a:t>COMBO</a:t>
            </a:r>
            <a:endParaRPr lang="en-US" sz="1250" dirty="0"/>
          </a:p>
        </p:txBody>
      </p:sp>
      <p:sp>
        <p:nvSpPr>
          <p:cNvPr id="34" name="Text 32"/>
          <p:cNvSpPr/>
          <p:nvPr/>
        </p:nvSpPr>
        <p:spPr>
          <a:xfrm>
            <a:off x="7077456" y="2331720"/>
            <a:ext cx="1700784" cy="384048"/>
          </a:xfrm>
          <a:prstGeom prst="rect">
            <a:avLst/>
          </a:prstGeom>
          <a:noFill/>
          <a:ln/>
        </p:spPr>
        <p:txBody>
          <a:bodyPr wrap="square" lIns="0" tIns="0" rIns="0" bIns="0" rtlCol="0" anchor="t"/>
          <a:lstStyle/>
          <a:p>
            <a:pPr marL="0" indent="0">
              <a:lnSpc>
                <a:spcPct val="100000"/>
              </a:lnSpc>
              <a:buNone/>
            </a:pPr>
            <a:r>
              <a:rPr lang="en-US" sz="1000" dirty="0">
                <a:solidFill>
                  <a:srgbClr val="B4B4BE"/>
                </a:solidFill>
                <a:latin typeface="Calibri" pitchFamily="34" charset="0"/>
                <a:ea typeface="Calibri" pitchFamily="34" charset="-122"/>
                <a:cs typeface="Calibri" pitchFamily="34" charset="-120"/>
              </a:rPr>
              <a:t>Linked legs, cascade cancel</a:t>
            </a:r>
            <a:endParaRPr lang="en-US" sz="1000" dirty="0"/>
          </a:p>
        </p:txBody>
      </p:sp>
      <p:sp>
        <p:nvSpPr>
          <p:cNvPr id="35" name="Text 33"/>
          <p:cNvSpPr/>
          <p:nvPr/>
        </p:nvSpPr>
        <p:spPr>
          <a:xfrm>
            <a:off x="7077456" y="2660904"/>
            <a:ext cx="1700784" cy="256032"/>
          </a:xfrm>
          <a:prstGeom prst="rect">
            <a:avLst/>
          </a:prstGeom>
          <a:noFill/>
          <a:ln/>
        </p:spPr>
        <p:txBody>
          <a:bodyPr wrap="square" lIns="0" tIns="0" rIns="0" bIns="0" rtlCol="0" anchor="ctr"/>
          <a:lstStyle/>
          <a:p>
            <a:pPr marL="0" indent="0">
              <a:buNone/>
            </a:pPr>
            <a:r>
              <a:rPr lang="en-US" sz="1250" b="1" dirty="0">
                <a:solidFill>
                  <a:srgbClr val="ECECEC"/>
                </a:solidFill>
                <a:latin typeface="Courier New" pitchFamily="34" charset="0"/>
                <a:ea typeface="Courier New" pitchFamily="34" charset="-122"/>
                <a:cs typeface="Courier New" pitchFamily="34" charset="-120"/>
              </a:rPr>
              <a:t>OCO</a:t>
            </a:r>
            <a:endParaRPr lang="en-US" sz="1250" dirty="0"/>
          </a:p>
        </p:txBody>
      </p:sp>
      <p:sp>
        <p:nvSpPr>
          <p:cNvPr id="36" name="Text 34"/>
          <p:cNvSpPr/>
          <p:nvPr/>
        </p:nvSpPr>
        <p:spPr>
          <a:xfrm>
            <a:off x="7077456" y="2907792"/>
            <a:ext cx="1700784" cy="384048"/>
          </a:xfrm>
          <a:prstGeom prst="rect">
            <a:avLst/>
          </a:prstGeom>
          <a:noFill/>
          <a:ln/>
        </p:spPr>
        <p:txBody>
          <a:bodyPr wrap="square" lIns="0" tIns="0" rIns="0" bIns="0" rtlCol="0" anchor="t"/>
          <a:lstStyle/>
          <a:p>
            <a:pPr marL="0" indent="0">
              <a:lnSpc>
                <a:spcPct val="100000"/>
              </a:lnSpc>
              <a:buNone/>
            </a:pPr>
            <a:r>
              <a:rPr lang="en-US" sz="1000" dirty="0">
                <a:solidFill>
                  <a:srgbClr val="B4B4BE"/>
                </a:solidFill>
                <a:latin typeface="Calibri" pitchFamily="34" charset="0"/>
                <a:ea typeface="Calibri" pitchFamily="34" charset="-122"/>
                <a:cs typeface="Calibri" pitchFamily="34" charset="-120"/>
              </a:rPr>
              <a:t>One cancels the other</a:t>
            </a:r>
            <a:endParaRPr lang="en-US" sz="1000" dirty="0"/>
          </a:p>
        </p:txBody>
      </p:sp>
      <p:sp>
        <p:nvSpPr>
          <p:cNvPr id="37" name="Text 35"/>
          <p:cNvSpPr/>
          <p:nvPr/>
        </p:nvSpPr>
        <p:spPr>
          <a:xfrm>
            <a:off x="566928" y="4041648"/>
            <a:ext cx="640080" cy="457200"/>
          </a:xfrm>
          <a:prstGeom prst="rect">
            <a:avLst/>
          </a:prstGeom>
          <a:noFill/>
          <a:ln/>
        </p:spPr>
        <p:txBody>
          <a:bodyPr wrap="square" lIns="0" tIns="0" rIns="0" bIns="0" rtlCol="0" anchor="ctr"/>
          <a:lstStyle/>
          <a:p>
            <a:pPr marL="0" indent="0" algn="l">
              <a:buNone/>
            </a:pPr>
            <a:r>
              <a:rPr lang="en-US" sz="1150" b="1" dirty="0">
                <a:solidFill>
                  <a:srgbClr val="F2860D"/>
                </a:solidFill>
                <a:latin typeface="Calibri" pitchFamily="34" charset="0"/>
                <a:ea typeface="Calibri" pitchFamily="34" charset="-122"/>
                <a:cs typeface="Calibri" pitchFamily="34" charset="-120"/>
              </a:rPr>
              <a:t>Also:</a:t>
            </a:r>
            <a:endParaRPr lang="en-US" sz="1150" dirty="0"/>
          </a:p>
        </p:txBody>
      </p:sp>
      <p:sp>
        <p:nvSpPr>
          <p:cNvPr id="38" name="Text 36"/>
          <p:cNvSpPr/>
          <p:nvPr/>
        </p:nvSpPr>
        <p:spPr>
          <a:xfrm>
            <a:off x="1170432" y="4041648"/>
            <a:ext cx="7406640" cy="457200"/>
          </a:xfrm>
          <a:prstGeom prst="rect">
            <a:avLst/>
          </a:prstGeom>
          <a:noFill/>
          <a:ln/>
        </p:spPr>
        <p:txBody>
          <a:bodyPr wrap="square" lIns="0" tIns="0" rIns="0" bIns="0" rtlCol="0" anchor="ctr"/>
          <a:lstStyle/>
          <a:p>
            <a:pPr marL="0" indent="0" algn="l">
              <a:buNone/>
            </a:pPr>
            <a:r>
              <a:rPr lang="en-US" sz="1150" dirty="0">
                <a:solidFill>
                  <a:srgbClr val="B4B4BE"/>
                </a:solidFill>
                <a:latin typeface="Calibri" pitchFamily="34" charset="0"/>
                <a:ea typeface="Calibri" pitchFamily="34" charset="-122"/>
                <a:cs typeface="Calibri" pitchFamily="34" charset="-120"/>
              </a:rPr>
              <a:t>AMEND live orders · Time-in-Force (DAY / GTC / GTD / IOC / FOK) · self-match prevention · combo cascade cancellation</a:t>
            </a:r>
            <a:endParaRPr lang="en-US" sz="1150" dirty="0"/>
          </a:p>
        </p:txBody>
      </p:sp>
      <p:sp>
        <p:nvSpPr>
          <p:cNvPr id="40" name="Text 37"/>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41" name="Text 38"/>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06 · SESSIONS &amp; AUCTIONS</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The trading session lifecycle</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783080"/>
            <a:ext cx="1411834" cy="13716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phase accent">
            <a:extLst>
              <a:ext uri="{C183D7F6-B498-43B3-948B-1728B52AA6E4}">
                <adec:decorative xmlns:adec="http://schemas.microsoft.com/office/drawing/2017/decorative" val="1"/>
              </a:ext>
            </a:extLst>
          </p:cNvPr>
          <p:cNvSpPr/>
          <p:nvPr/>
        </p:nvSpPr>
        <p:spPr>
          <a:xfrm>
            <a:off x="566928" y="1783080"/>
            <a:ext cx="1411834" cy="54864"/>
          </a:xfrm>
          <a:prstGeom prst="rect">
            <a:avLst/>
          </a:prstGeom>
          <a:solidFill>
            <a:srgbClr val="8FA0B0"/>
          </a:solidFill>
          <a:ln/>
        </p:spPr>
        <p:txBody>
          <a:bodyPr/>
          <a:lstStyle/>
          <a:p>
            <a:endParaRPr lang="en-SE"/>
          </a:p>
        </p:txBody>
      </p:sp>
      <p:sp>
        <p:nvSpPr>
          <p:cNvPr id="7" name="Text 5"/>
          <p:cNvSpPr/>
          <p:nvPr/>
        </p:nvSpPr>
        <p:spPr>
          <a:xfrm>
            <a:off x="594360" y="2002536"/>
            <a:ext cx="1356970" cy="402336"/>
          </a:xfrm>
          <a:prstGeom prst="rect">
            <a:avLst/>
          </a:prstGeom>
          <a:noFill/>
          <a:ln/>
        </p:spPr>
        <p:txBody>
          <a:bodyPr wrap="square" lIns="0" tIns="0" rIns="0" bIns="0" rtlCol="0" anchor="ctr"/>
          <a:lstStyle/>
          <a:p>
            <a:pPr marL="0" indent="0" algn="ctr">
              <a:buNone/>
            </a:pPr>
            <a:r>
              <a:rPr lang="en-US" sz="1100" b="1" dirty="0">
                <a:solidFill>
                  <a:srgbClr val="8FA0B0"/>
                </a:solidFill>
                <a:latin typeface="Courier New" pitchFamily="34" charset="0"/>
                <a:ea typeface="Courier New" pitchFamily="34" charset="-122"/>
                <a:cs typeface="Courier New" pitchFamily="34" charset="-120"/>
              </a:rPr>
              <a:t>PRE_OPEN</a:t>
            </a:r>
            <a:endParaRPr lang="en-US" sz="1100" dirty="0"/>
          </a:p>
        </p:txBody>
      </p:sp>
      <p:sp>
        <p:nvSpPr>
          <p:cNvPr id="8" name="Text 6"/>
          <p:cNvSpPr/>
          <p:nvPr/>
        </p:nvSpPr>
        <p:spPr>
          <a:xfrm>
            <a:off x="621792" y="2459736"/>
            <a:ext cx="1302106" cy="274320"/>
          </a:xfrm>
          <a:prstGeom prst="rect">
            <a:avLst/>
          </a:prstGeom>
          <a:noFill/>
          <a:ln/>
        </p:spPr>
        <p:txBody>
          <a:bodyPr wrap="square" lIns="0" tIns="0" rIns="0" bIns="0" rtlCol="0" anchor="ctr"/>
          <a:lstStyle/>
          <a:p>
            <a:pPr marL="0" indent="0" algn="ctr">
              <a:buNone/>
            </a:pPr>
            <a:r>
              <a:rPr lang="en-US" sz="1400" dirty="0">
                <a:solidFill>
                  <a:srgbClr val="ECECEC"/>
                </a:solidFill>
                <a:latin typeface="Calibri" pitchFamily="34" charset="0"/>
                <a:ea typeface="Calibri" pitchFamily="34" charset="-122"/>
                <a:cs typeface="Calibri" pitchFamily="34" charset="-120"/>
              </a:rPr>
              <a:t>Orders rest</a:t>
            </a:r>
            <a:endParaRPr lang="en-US" sz="1400" dirty="0"/>
          </a:p>
        </p:txBody>
      </p:sp>
      <p:sp>
        <p:nvSpPr>
          <p:cNvPr id="9" name="Text 7"/>
          <p:cNvSpPr/>
          <p:nvPr/>
        </p:nvSpPr>
        <p:spPr>
          <a:xfrm>
            <a:off x="621792" y="2752344"/>
            <a:ext cx="1302106" cy="274320"/>
          </a:xfrm>
          <a:prstGeom prst="rect">
            <a:avLst/>
          </a:prstGeom>
          <a:noFill/>
          <a:ln/>
        </p:spPr>
        <p:txBody>
          <a:bodyPr wrap="square" lIns="0" tIns="0" rIns="0" bIns="0" rtlCol="0" anchor="ctr"/>
          <a:lstStyle/>
          <a:p>
            <a:pPr marL="0" indent="0" algn="ctr">
              <a:buNone/>
            </a:pPr>
            <a:r>
              <a:rPr lang="en-US" sz="1100" i="1" dirty="0">
                <a:solidFill>
                  <a:srgbClr val="B4B4BE"/>
                </a:solidFill>
                <a:latin typeface="Calibri" pitchFamily="34" charset="0"/>
                <a:ea typeface="Calibri" pitchFamily="34" charset="-122"/>
                <a:cs typeface="Calibri" pitchFamily="34" charset="-120"/>
              </a:rPr>
              <a:t>No match</a:t>
            </a:r>
            <a:endParaRPr lang="en-US" sz="1100" dirty="0"/>
          </a:p>
        </p:txBody>
      </p:sp>
      <p:sp>
        <p:nvSpPr>
          <p:cNvPr id="10" name="phase arrow">
            <a:extLst>
              <a:ext uri="{C183D7F6-B498-43B3-948B-1728B52AA6E4}">
                <adec:decorative xmlns:adec="http://schemas.microsoft.com/office/drawing/2017/decorative" val="1"/>
              </a:ext>
            </a:extLst>
          </p:cNvPr>
          <p:cNvSpPr/>
          <p:nvPr/>
        </p:nvSpPr>
        <p:spPr>
          <a:xfrm>
            <a:off x="2006194" y="2468880"/>
            <a:ext cx="182880" cy="0"/>
          </a:xfrm>
          <a:prstGeom prst="line">
            <a:avLst/>
          </a:prstGeom>
          <a:noFill/>
          <a:ln w="25400">
            <a:solidFill>
              <a:srgbClr val="F2860D"/>
            </a:solidFill>
            <a:prstDash val="solid"/>
            <a:tailEnd type="triangle"/>
          </a:ln>
        </p:spPr>
        <p:txBody>
          <a:bodyPr/>
          <a:lstStyle/>
          <a:p>
            <a:endParaRPr lang="en-SE"/>
          </a:p>
        </p:txBody>
      </p:sp>
      <p:sp>
        <p:nvSpPr>
          <p:cNvPr id="11" name="card">
            <a:extLst>
              <a:ext uri="{C183D7F6-B498-43B3-948B-1728B52AA6E4}">
                <adec:decorative xmlns:adec="http://schemas.microsoft.com/office/drawing/2017/decorative" val="1"/>
              </a:ext>
            </a:extLst>
          </p:cNvPr>
          <p:cNvSpPr/>
          <p:nvPr/>
        </p:nvSpPr>
        <p:spPr>
          <a:xfrm>
            <a:off x="2216506" y="1783080"/>
            <a:ext cx="1411834" cy="13716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2" name="phase accent">
            <a:extLst>
              <a:ext uri="{C183D7F6-B498-43B3-948B-1728B52AA6E4}">
                <adec:decorative xmlns:adec="http://schemas.microsoft.com/office/drawing/2017/decorative" val="1"/>
              </a:ext>
            </a:extLst>
          </p:cNvPr>
          <p:cNvSpPr/>
          <p:nvPr/>
        </p:nvSpPr>
        <p:spPr>
          <a:xfrm>
            <a:off x="2216506" y="1783080"/>
            <a:ext cx="1411834" cy="54864"/>
          </a:xfrm>
          <a:prstGeom prst="rect">
            <a:avLst/>
          </a:prstGeom>
          <a:solidFill>
            <a:srgbClr val="B98CE0"/>
          </a:solidFill>
          <a:ln/>
        </p:spPr>
        <p:txBody>
          <a:bodyPr/>
          <a:lstStyle/>
          <a:p>
            <a:endParaRPr lang="en-SE"/>
          </a:p>
        </p:txBody>
      </p:sp>
      <p:sp>
        <p:nvSpPr>
          <p:cNvPr id="13" name="Text 11"/>
          <p:cNvSpPr/>
          <p:nvPr/>
        </p:nvSpPr>
        <p:spPr>
          <a:xfrm>
            <a:off x="2243938" y="2002536"/>
            <a:ext cx="1356970" cy="402336"/>
          </a:xfrm>
          <a:prstGeom prst="rect">
            <a:avLst/>
          </a:prstGeom>
          <a:noFill/>
          <a:ln/>
        </p:spPr>
        <p:txBody>
          <a:bodyPr wrap="square" lIns="0" tIns="0" rIns="0" bIns="0" rtlCol="0" anchor="ctr"/>
          <a:lstStyle/>
          <a:p>
            <a:pPr marL="0" indent="0" algn="ctr">
              <a:buNone/>
            </a:pPr>
            <a:r>
              <a:rPr lang="en-US" sz="1100" b="1" dirty="0">
                <a:solidFill>
                  <a:srgbClr val="B98CE0"/>
                </a:solidFill>
                <a:latin typeface="Courier New" pitchFamily="34" charset="0"/>
                <a:ea typeface="Courier New" pitchFamily="34" charset="-122"/>
                <a:cs typeface="Courier New" pitchFamily="34" charset="-120"/>
              </a:rPr>
              <a:t>OPENING_AUCTION</a:t>
            </a:r>
            <a:endParaRPr lang="en-US" sz="1100" dirty="0"/>
          </a:p>
        </p:txBody>
      </p:sp>
      <p:sp>
        <p:nvSpPr>
          <p:cNvPr id="14" name="Text 12"/>
          <p:cNvSpPr/>
          <p:nvPr/>
        </p:nvSpPr>
        <p:spPr>
          <a:xfrm>
            <a:off x="2271370" y="2459736"/>
            <a:ext cx="1302106" cy="274320"/>
          </a:xfrm>
          <a:prstGeom prst="rect">
            <a:avLst/>
          </a:prstGeom>
          <a:noFill/>
          <a:ln/>
        </p:spPr>
        <p:txBody>
          <a:bodyPr wrap="square" lIns="0" tIns="0" rIns="0" bIns="0" rtlCol="0" anchor="ctr"/>
          <a:lstStyle/>
          <a:p>
            <a:pPr marL="0" indent="0" algn="ctr">
              <a:buNone/>
            </a:pPr>
            <a:r>
              <a:rPr lang="en-US" sz="1400" dirty="0">
                <a:solidFill>
                  <a:srgbClr val="ECECEC"/>
                </a:solidFill>
                <a:latin typeface="Calibri" pitchFamily="34" charset="0"/>
                <a:ea typeface="Calibri" pitchFamily="34" charset="-122"/>
                <a:cs typeface="Calibri" pitchFamily="34" charset="-120"/>
              </a:rPr>
              <a:t>Accumulate · ATO</a:t>
            </a:r>
            <a:endParaRPr lang="en-US" sz="1400" dirty="0"/>
          </a:p>
        </p:txBody>
      </p:sp>
      <p:sp>
        <p:nvSpPr>
          <p:cNvPr id="15" name="Text 13"/>
          <p:cNvSpPr/>
          <p:nvPr/>
        </p:nvSpPr>
        <p:spPr>
          <a:xfrm>
            <a:off x="2271370" y="2752344"/>
            <a:ext cx="1302106" cy="274320"/>
          </a:xfrm>
          <a:prstGeom prst="rect">
            <a:avLst/>
          </a:prstGeom>
          <a:noFill/>
          <a:ln/>
        </p:spPr>
        <p:txBody>
          <a:bodyPr wrap="square" lIns="0" tIns="0" rIns="0" bIns="0" rtlCol="0" anchor="ctr"/>
          <a:lstStyle/>
          <a:p>
            <a:pPr marL="0" indent="0" algn="ctr">
              <a:buNone/>
            </a:pPr>
            <a:r>
              <a:rPr lang="en-US" sz="1100" i="1" dirty="0">
                <a:solidFill>
                  <a:srgbClr val="B4B4BE"/>
                </a:solidFill>
                <a:latin typeface="Calibri" pitchFamily="34" charset="0"/>
                <a:ea typeface="Calibri" pitchFamily="34" charset="-122"/>
                <a:cs typeface="Calibri" pitchFamily="34" charset="-120"/>
              </a:rPr>
              <a:t>Uncross</a:t>
            </a:r>
            <a:endParaRPr lang="en-US" sz="1100" dirty="0"/>
          </a:p>
        </p:txBody>
      </p:sp>
      <p:sp>
        <p:nvSpPr>
          <p:cNvPr id="16" name="phase arrow">
            <a:extLst>
              <a:ext uri="{C183D7F6-B498-43B3-948B-1728B52AA6E4}">
                <adec:decorative xmlns:adec="http://schemas.microsoft.com/office/drawing/2017/decorative" val="1"/>
              </a:ext>
            </a:extLst>
          </p:cNvPr>
          <p:cNvSpPr/>
          <p:nvPr/>
        </p:nvSpPr>
        <p:spPr>
          <a:xfrm>
            <a:off x="3655771" y="2468880"/>
            <a:ext cx="182880" cy="0"/>
          </a:xfrm>
          <a:prstGeom prst="line">
            <a:avLst/>
          </a:prstGeom>
          <a:noFill/>
          <a:ln w="25400">
            <a:solidFill>
              <a:srgbClr val="F2860D"/>
            </a:solidFill>
            <a:prstDash val="solid"/>
            <a:tailEnd type="triangle"/>
          </a:ln>
        </p:spPr>
        <p:txBody>
          <a:bodyPr/>
          <a:lstStyle/>
          <a:p>
            <a:endParaRPr lang="en-SE"/>
          </a:p>
        </p:txBody>
      </p:sp>
      <p:sp>
        <p:nvSpPr>
          <p:cNvPr id="17" name="card">
            <a:extLst>
              <a:ext uri="{C183D7F6-B498-43B3-948B-1728B52AA6E4}">
                <adec:decorative xmlns:adec="http://schemas.microsoft.com/office/drawing/2017/decorative" val="1"/>
              </a:ext>
            </a:extLst>
          </p:cNvPr>
          <p:cNvSpPr/>
          <p:nvPr/>
        </p:nvSpPr>
        <p:spPr>
          <a:xfrm>
            <a:off x="3866083" y="1783080"/>
            <a:ext cx="1411834" cy="1371600"/>
          </a:xfrm>
          <a:prstGeom prst="roundRect">
            <a:avLst>
              <a:gd name="adj" fmla="val 4000"/>
            </a:avLst>
          </a:prstGeom>
          <a:solidFill>
            <a:srgbClr val="2E2E37"/>
          </a:solidFill>
          <a:ln w="19050">
            <a:solidFill>
              <a:srgbClr val="F2860D"/>
            </a:solidFill>
            <a:prstDash val="solid"/>
          </a:ln>
          <a:effectLst>
            <a:outerShdw blurRad="114300" dist="38100" dir="5400000" algn="bl" rotWithShape="0">
              <a:srgbClr val="000000">
                <a:alpha val="35000"/>
              </a:srgbClr>
            </a:outerShdw>
          </a:effectLst>
        </p:spPr>
        <p:txBody>
          <a:bodyPr/>
          <a:lstStyle/>
          <a:p>
            <a:endParaRPr lang="en-SE"/>
          </a:p>
        </p:txBody>
      </p:sp>
      <p:sp>
        <p:nvSpPr>
          <p:cNvPr id="18" name="phase accent">
            <a:extLst>
              <a:ext uri="{C183D7F6-B498-43B3-948B-1728B52AA6E4}">
                <adec:decorative xmlns:adec="http://schemas.microsoft.com/office/drawing/2017/decorative" val="1"/>
              </a:ext>
            </a:extLst>
          </p:cNvPr>
          <p:cNvSpPr/>
          <p:nvPr/>
        </p:nvSpPr>
        <p:spPr>
          <a:xfrm>
            <a:off x="3866083" y="1783080"/>
            <a:ext cx="1411834" cy="54864"/>
          </a:xfrm>
          <a:prstGeom prst="rect">
            <a:avLst/>
          </a:prstGeom>
          <a:solidFill>
            <a:srgbClr val="F2860D"/>
          </a:solidFill>
          <a:ln/>
        </p:spPr>
        <p:txBody>
          <a:bodyPr/>
          <a:lstStyle/>
          <a:p>
            <a:endParaRPr lang="en-SE"/>
          </a:p>
        </p:txBody>
      </p:sp>
      <p:sp>
        <p:nvSpPr>
          <p:cNvPr id="19" name="Text 17"/>
          <p:cNvSpPr/>
          <p:nvPr/>
        </p:nvSpPr>
        <p:spPr>
          <a:xfrm>
            <a:off x="3893515" y="2002536"/>
            <a:ext cx="1356970" cy="402336"/>
          </a:xfrm>
          <a:prstGeom prst="rect">
            <a:avLst/>
          </a:prstGeom>
          <a:noFill/>
          <a:ln/>
        </p:spPr>
        <p:txBody>
          <a:bodyPr wrap="square" lIns="0" tIns="0" rIns="0" bIns="0" rtlCol="0" anchor="ctr"/>
          <a:lstStyle/>
          <a:p>
            <a:pPr marL="0" indent="0" algn="ctr">
              <a:buNone/>
            </a:pPr>
            <a:r>
              <a:rPr lang="en-US" sz="1100" b="1" dirty="0">
                <a:solidFill>
                  <a:srgbClr val="F2860D"/>
                </a:solidFill>
                <a:latin typeface="Courier New" pitchFamily="34" charset="0"/>
                <a:ea typeface="Courier New" pitchFamily="34" charset="-122"/>
                <a:cs typeface="Courier New" pitchFamily="34" charset="-120"/>
              </a:rPr>
              <a:t>CONTINUOUS</a:t>
            </a:r>
            <a:endParaRPr lang="en-US" sz="1100" dirty="0"/>
          </a:p>
        </p:txBody>
      </p:sp>
      <p:sp>
        <p:nvSpPr>
          <p:cNvPr id="20" name="Text 18"/>
          <p:cNvSpPr/>
          <p:nvPr/>
        </p:nvSpPr>
        <p:spPr>
          <a:xfrm>
            <a:off x="3920947" y="2459736"/>
            <a:ext cx="1302106" cy="274320"/>
          </a:xfrm>
          <a:prstGeom prst="rect">
            <a:avLst/>
          </a:prstGeom>
          <a:noFill/>
          <a:ln/>
        </p:spPr>
        <p:txBody>
          <a:bodyPr wrap="square" lIns="0" tIns="0" rIns="0" bIns="0" rtlCol="0" anchor="ctr"/>
          <a:lstStyle/>
          <a:p>
            <a:pPr marL="0" indent="0" algn="ctr">
              <a:buNone/>
            </a:pPr>
            <a:r>
              <a:rPr lang="en-US" sz="1400" dirty="0">
                <a:solidFill>
                  <a:srgbClr val="ECECEC"/>
                </a:solidFill>
                <a:latin typeface="Calibri" pitchFamily="34" charset="0"/>
                <a:ea typeface="Calibri" pitchFamily="34" charset="-122"/>
                <a:cs typeface="Calibri" pitchFamily="34" charset="-120"/>
              </a:rPr>
              <a:t>Price-time match</a:t>
            </a:r>
            <a:endParaRPr lang="en-US" sz="1400" dirty="0"/>
          </a:p>
        </p:txBody>
      </p:sp>
      <p:sp>
        <p:nvSpPr>
          <p:cNvPr id="21" name="Text 19"/>
          <p:cNvSpPr/>
          <p:nvPr/>
        </p:nvSpPr>
        <p:spPr>
          <a:xfrm>
            <a:off x="3920947" y="2752344"/>
            <a:ext cx="1302106" cy="274320"/>
          </a:xfrm>
          <a:prstGeom prst="rect">
            <a:avLst/>
          </a:prstGeom>
          <a:noFill/>
          <a:ln/>
        </p:spPr>
        <p:txBody>
          <a:bodyPr wrap="square" lIns="0" tIns="0" rIns="0" bIns="0" rtlCol="0" anchor="ctr"/>
          <a:lstStyle/>
          <a:p>
            <a:pPr marL="0" indent="0" algn="ctr">
              <a:buNone/>
            </a:pPr>
            <a:r>
              <a:rPr lang="en-US" sz="1100" i="1" dirty="0">
                <a:solidFill>
                  <a:srgbClr val="B4B4BE"/>
                </a:solidFill>
                <a:latin typeface="Calibri" pitchFamily="34" charset="0"/>
                <a:ea typeface="Calibri" pitchFamily="34" charset="-122"/>
                <a:cs typeface="Calibri" pitchFamily="34" charset="-120"/>
              </a:rPr>
              <a:t>Matching</a:t>
            </a:r>
            <a:endParaRPr lang="en-US" sz="1100" dirty="0"/>
          </a:p>
        </p:txBody>
      </p:sp>
      <p:sp>
        <p:nvSpPr>
          <p:cNvPr id="22" name="phase arrow">
            <a:extLst>
              <a:ext uri="{C183D7F6-B498-43B3-948B-1728B52AA6E4}">
                <adec:decorative xmlns:adec="http://schemas.microsoft.com/office/drawing/2017/decorative" val="1"/>
              </a:ext>
            </a:extLst>
          </p:cNvPr>
          <p:cNvSpPr/>
          <p:nvPr/>
        </p:nvSpPr>
        <p:spPr>
          <a:xfrm>
            <a:off x="5305349" y="2468880"/>
            <a:ext cx="182880" cy="0"/>
          </a:xfrm>
          <a:prstGeom prst="line">
            <a:avLst/>
          </a:prstGeom>
          <a:noFill/>
          <a:ln w="25400">
            <a:solidFill>
              <a:srgbClr val="F2860D"/>
            </a:solidFill>
            <a:prstDash val="solid"/>
            <a:tailEnd type="triangle"/>
          </a:ln>
        </p:spPr>
        <p:txBody>
          <a:bodyPr/>
          <a:lstStyle/>
          <a:p>
            <a:endParaRPr lang="en-SE"/>
          </a:p>
        </p:txBody>
      </p:sp>
      <p:sp>
        <p:nvSpPr>
          <p:cNvPr id="23" name="card">
            <a:extLst>
              <a:ext uri="{C183D7F6-B498-43B3-948B-1728B52AA6E4}">
                <adec:decorative xmlns:adec="http://schemas.microsoft.com/office/drawing/2017/decorative" val="1"/>
              </a:ext>
            </a:extLst>
          </p:cNvPr>
          <p:cNvSpPr/>
          <p:nvPr/>
        </p:nvSpPr>
        <p:spPr>
          <a:xfrm>
            <a:off x="5515661" y="1783080"/>
            <a:ext cx="1411834" cy="13716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4" name="phase accent">
            <a:extLst>
              <a:ext uri="{C183D7F6-B498-43B3-948B-1728B52AA6E4}">
                <adec:decorative xmlns:adec="http://schemas.microsoft.com/office/drawing/2017/decorative" val="1"/>
              </a:ext>
            </a:extLst>
          </p:cNvPr>
          <p:cNvSpPr/>
          <p:nvPr/>
        </p:nvSpPr>
        <p:spPr>
          <a:xfrm>
            <a:off x="5515661" y="1783080"/>
            <a:ext cx="1411834" cy="54864"/>
          </a:xfrm>
          <a:prstGeom prst="rect">
            <a:avLst/>
          </a:prstGeom>
          <a:solidFill>
            <a:srgbClr val="B98CE0"/>
          </a:solidFill>
          <a:ln/>
        </p:spPr>
        <p:txBody>
          <a:bodyPr/>
          <a:lstStyle/>
          <a:p>
            <a:endParaRPr lang="en-SE"/>
          </a:p>
        </p:txBody>
      </p:sp>
      <p:sp>
        <p:nvSpPr>
          <p:cNvPr id="25" name="Text 23"/>
          <p:cNvSpPr/>
          <p:nvPr/>
        </p:nvSpPr>
        <p:spPr>
          <a:xfrm>
            <a:off x="5543093" y="2002536"/>
            <a:ext cx="1356970" cy="402336"/>
          </a:xfrm>
          <a:prstGeom prst="rect">
            <a:avLst/>
          </a:prstGeom>
          <a:noFill/>
          <a:ln/>
        </p:spPr>
        <p:txBody>
          <a:bodyPr wrap="square" lIns="0" tIns="0" rIns="0" bIns="0" rtlCol="0" anchor="ctr"/>
          <a:lstStyle/>
          <a:p>
            <a:pPr marL="0" indent="0" algn="ctr">
              <a:buNone/>
            </a:pPr>
            <a:r>
              <a:rPr lang="en-US" sz="1100" b="1" dirty="0">
                <a:solidFill>
                  <a:srgbClr val="B98CE0"/>
                </a:solidFill>
                <a:latin typeface="Courier New" pitchFamily="34" charset="0"/>
                <a:ea typeface="Courier New" pitchFamily="34" charset="-122"/>
                <a:cs typeface="Courier New" pitchFamily="34" charset="-120"/>
              </a:rPr>
              <a:t>CLOSING_AUCTION</a:t>
            </a:r>
            <a:endParaRPr lang="en-US" sz="1100" dirty="0"/>
          </a:p>
        </p:txBody>
      </p:sp>
      <p:sp>
        <p:nvSpPr>
          <p:cNvPr id="26" name="Text 24"/>
          <p:cNvSpPr/>
          <p:nvPr/>
        </p:nvSpPr>
        <p:spPr>
          <a:xfrm>
            <a:off x="5570525" y="2459736"/>
            <a:ext cx="1302106" cy="274320"/>
          </a:xfrm>
          <a:prstGeom prst="rect">
            <a:avLst/>
          </a:prstGeom>
          <a:noFill/>
          <a:ln/>
        </p:spPr>
        <p:txBody>
          <a:bodyPr wrap="square" lIns="0" tIns="0" rIns="0" bIns="0" rtlCol="0" anchor="ctr"/>
          <a:lstStyle/>
          <a:p>
            <a:pPr marL="0" indent="0" algn="ctr">
              <a:buNone/>
            </a:pPr>
            <a:r>
              <a:rPr lang="en-US" sz="1400" dirty="0">
                <a:solidFill>
                  <a:srgbClr val="ECECEC"/>
                </a:solidFill>
                <a:latin typeface="Calibri" pitchFamily="34" charset="0"/>
                <a:ea typeface="Calibri" pitchFamily="34" charset="-122"/>
                <a:cs typeface="Calibri" pitchFamily="34" charset="-120"/>
              </a:rPr>
              <a:t>Accumulate · ATC</a:t>
            </a:r>
            <a:endParaRPr lang="en-US" sz="1400" dirty="0"/>
          </a:p>
        </p:txBody>
      </p:sp>
      <p:sp>
        <p:nvSpPr>
          <p:cNvPr id="27" name="Text 25"/>
          <p:cNvSpPr/>
          <p:nvPr/>
        </p:nvSpPr>
        <p:spPr>
          <a:xfrm>
            <a:off x="5570525" y="2752344"/>
            <a:ext cx="1302106" cy="274320"/>
          </a:xfrm>
          <a:prstGeom prst="rect">
            <a:avLst/>
          </a:prstGeom>
          <a:noFill/>
          <a:ln/>
        </p:spPr>
        <p:txBody>
          <a:bodyPr wrap="square" lIns="0" tIns="0" rIns="0" bIns="0" rtlCol="0" anchor="ctr"/>
          <a:lstStyle/>
          <a:p>
            <a:pPr marL="0" indent="0" algn="ctr">
              <a:buNone/>
            </a:pPr>
            <a:r>
              <a:rPr lang="en-US" sz="1100" i="1" dirty="0">
                <a:solidFill>
                  <a:srgbClr val="B4B4BE"/>
                </a:solidFill>
                <a:latin typeface="Calibri" pitchFamily="34" charset="0"/>
                <a:ea typeface="Calibri" pitchFamily="34" charset="-122"/>
                <a:cs typeface="Calibri" pitchFamily="34" charset="-120"/>
              </a:rPr>
              <a:t>Uncross</a:t>
            </a:r>
            <a:endParaRPr lang="en-US" sz="1100" dirty="0"/>
          </a:p>
        </p:txBody>
      </p:sp>
      <p:sp>
        <p:nvSpPr>
          <p:cNvPr id="28" name="phase arrow">
            <a:extLst>
              <a:ext uri="{C183D7F6-B498-43B3-948B-1728B52AA6E4}">
                <adec:decorative xmlns:adec="http://schemas.microsoft.com/office/drawing/2017/decorative" val="1"/>
              </a:ext>
            </a:extLst>
          </p:cNvPr>
          <p:cNvSpPr/>
          <p:nvPr/>
        </p:nvSpPr>
        <p:spPr>
          <a:xfrm>
            <a:off x="6954926" y="2468880"/>
            <a:ext cx="182880" cy="0"/>
          </a:xfrm>
          <a:prstGeom prst="line">
            <a:avLst/>
          </a:prstGeom>
          <a:noFill/>
          <a:ln w="25400">
            <a:solidFill>
              <a:srgbClr val="F2860D"/>
            </a:solidFill>
            <a:prstDash val="solid"/>
            <a:tailEnd type="triangle"/>
          </a:ln>
        </p:spPr>
        <p:txBody>
          <a:bodyPr/>
          <a:lstStyle/>
          <a:p>
            <a:endParaRPr lang="en-SE"/>
          </a:p>
        </p:txBody>
      </p:sp>
      <p:sp>
        <p:nvSpPr>
          <p:cNvPr id="29" name="card">
            <a:extLst>
              <a:ext uri="{C183D7F6-B498-43B3-948B-1728B52AA6E4}">
                <adec:decorative xmlns:adec="http://schemas.microsoft.com/office/drawing/2017/decorative" val="1"/>
              </a:ext>
            </a:extLst>
          </p:cNvPr>
          <p:cNvSpPr/>
          <p:nvPr/>
        </p:nvSpPr>
        <p:spPr>
          <a:xfrm>
            <a:off x="7165238" y="1783080"/>
            <a:ext cx="1411834" cy="13716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0" name="phase accent">
            <a:extLst>
              <a:ext uri="{C183D7F6-B498-43B3-948B-1728B52AA6E4}">
                <adec:decorative xmlns:adec="http://schemas.microsoft.com/office/drawing/2017/decorative" val="1"/>
              </a:ext>
            </a:extLst>
          </p:cNvPr>
          <p:cNvSpPr/>
          <p:nvPr/>
        </p:nvSpPr>
        <p:spPr>
          <a:xfrm>
            <a:off x="7165238" y="1783080"/>
            <a:ext cx="1411834" cy="54864"/>
          </a:xfrm>
          <a:prstGeom prst="rect">
            <a:avLst/>
          </a:prstGeom>
          <a:solidFill>
            <a:srgbClr val="8FA0B0"/>
          </a:solidFill>
          <a:ln/>
        </p:spPr>
        <p:txBody>
          <a:bodyPr/>
          <a:lstStyle/>
          <a:p>
            <a:endParaRPr lang="en-SE"/>
          </a:p>
        </p:txBody>
      </p:sp>
      <p:sp>
        <p:nvSpPr>
          <p:cNvPr id="31" name="Text 29"/>
          <p:cNvSpPr/>
          <p:nvPr/>
        </p:nvSpPr>
        <p:spPr>
          <a:xfrm>
            <a:off x="7192670" y="2002536"/>
            <a:ext cx="1356970" cy="402336"/>
          </a:xfrm>
          <a:prstGeom prst="rect">
            <a:avLst/>
          </a:prstGeom>
          <a:noFill/>
          <a:ln/>
        </p:spPr>
        <p:txBody>
          <a:bodyPr wrap="square" lIns="0" tIns="0" rIns="0" bIns="0" rtlCol="0" anchor="ctr"/>
          <a:lstStyle/>
          <a:p>
            <a:pPr marL="0" indent="0" algn="ctr">
              <a:buNone/>
            </a:pPr>
            <a:r>
              <a:rPr lang="en-US" sz="1100" b="1" dirty="0">
                <a:solidFill>
                  <a:srgbClr val="8FA0B0"/>
                </a:solidFill>
                <a:latin typeface="Courier New" pitchFamily="34" charset="0"/>
                <a:ea typeface="Courier New" pitchFamily="34" charset="-122"/>
                <a:cs typeface="Courier New" pitchFamily="34" charset="-120"/>
              </a:rPr>
              <a:t>CLOSED</a:t>
            </a:r>
            <a:endParaRPr lang="en-US" sz="1100" dirty="0"/>
          </a:p>
        </p:txBody>
      </p:sp>
      <p:sp>
        <p:nvSpPr>
          <p:cNvPr id="32" name="Text 30"/>
          <p:cNvSpPr/>
          <p:nvPr/>
        </p:nvSpPr>
        <p:spPr>
          <a:xfrm>
            <a:off x="7220102" y="2459736"/>
            <a:ext cx="1302106" cy="274320"/>
          </a:xfrm>
          <a:prstGeom prst="rect">
            <a:avLst/>
          </a:prstGeom>
          <a:noFill/>
          <a:ln/>
        </p:spPr>
        <p:txBody>
          <a:bodyPr wrap="square" lIns="0" tIns="0" rIns="0" bIns="0" rtlCol="0" anchor="ctr"/>
          <a:lstStyle/>
          <a:p>
            <a:pPr marL="0" indent="0" algn="ctr">
              <a:buNone/>
            </a:pPr>
            <a:r>
              <a:rPr lang="en-US" sz="1400" dirty="0">
                <a:solidFill>
                  <a:srgbClr val="ECECEC"/>
                </a:solidFill>
                <a:latin typeface="Calibri" pitchFamily="34" charset="0"/>
                <a:ea typeface="Calibri" pitchFamily="34" charset="-122"/>
                <a:cs typeface="Calibri" pitchFamily="34" charset="-120"/>
              </a:rPr>
              <a:t>Session ended</a:t>
            </a:r>
            <a:endParaRPr lang="en-US" sz="1400" dirty="0"/>
          </a:p>
        </p:txBody>
      </p:sp>
      <p:sp>
        <p:nvSpPr>
          <p:cNvPr id="33" name="Text 31"/>
          <p:cNvSpPr/>
          <p:nvPr/>
        </p:nvSpPr>
        <p:spPr>
          <a:xfrm>
            <a:off x="7220102" y="2752344"/>
            <a:ext cx="1302106" cy="274320"/>
          </a:xfrm>
          <a:prstGeom prst="rect">
            <a:avLst/>
          </a:prstGeom>
          <a:noFill/>
          <a:ln/>
        </p:spPr>
        <p:txBody>
          <a:bodyPr wrap="square" lIns="0" tIns="0" rIns="0" bIns="0" rtlCol="0" anchor="ctr"/>
          <a:lstStyle/>
          <a:p>
            <a:pPr marL="0" indent="0" algn="ctr">
              <a:buNone/>
            </a:pPr>
            <a:r>
              <a:rPr lang="en-US" sz="1100" i="1" dirty="0">
                <a:solidFill>
                  <a:srgbClr val="B4B4BE"/>
                </a:solidFill>
                <a:latin typeface="Calibri" pitchFamily="34" charset="0"/>
                <a:ea typeface="Calibri" pitchFamily="34" charset="-122"/>
                <a:cs typeface="Calibri" pitchFamily="34" charset="-120"/>
              </a:rPr>
              <a:t>No orders</a:t>
            </a:r>
            <a:endParaRPr lang="en-US" sz="1100" dirty="0"/>
          </a:p>
        </p:txBody>
      </p:sp>
      <p:sp>
        <p:nvSpPr>
          <p:cNvPr id="34" name="card">
            <a:extLst>
              <a:ext uri="{C183D7F6-B498-43B3-948B-1728B52AA6E4}">
                <adec:decorative xmlns:adec="http://schemas.microsoft.com/office/drawing/2017/decorative" val="1"/>
              </a:ext>
            </a:extLst>
          </p:cNvPr>
          <p:cNvSpPr/>
          <p:nvPr/>
        </p:nvSpPr>
        <p:spPr>
          <a:xfrm>
            <a:off x="566928" y="3584448"/>
            <a:ext cx="8010144" cy="914400"/>
          </a:xfrm>
          <a:prstGeom prst="roundRect">
            <a:avLst>
              <a:gd name="adj" fmla="val 6000"/>
            </a:avLst>
          </a:prstGeom>
          <a:solidFill>
            <a:srgbClr val="15151A"/>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5" name="Text 33"/>
          <p:cNvSpPr/>
          <p:nvPr/>
        </p:nvSpPr>
        <p:spPr>
          <a:xfrm>
            <a:off x="804672" y="3675888"/>
            <a:ext cx="7498080" cy="274320"/>
          </a:xfrm>
          <a:prstGeom prst="rect">
            <a:avLst/>
          </a:prstGeom>
          <a:noFill/>
          <a:ln/>
        </p:spPr>
        <p:txBody>
          <a:bodyPr wrap="square" lIns="0" tIns="0" rIns="0" bIns="0" rtlCol="0" anchor="ctr"/>
          <a:lstStyle/>
          <a:p>
            <a:pPr marL="0" indent="0" algn="l">
              <a:buNone/>
            </a:pPr>
            <a:r>
              <a:rPr lang="en-US" sz="1300" b="1" dirty="0">
                <a:solidFill>
                  <a:srgbClr val="F2860D"/>
                </a:solidFill>
                <a:latin typeface="Arial" pitchFamily="34" charset="0"/>
                <a:ea typeface="Arial" pitchFamily="34" charset="-122"/>
                <a:cs typeface="Arial" pitchFamily="34" charset="-120"/>
              </a:rPr>
              <a:t>Auction uncross</a:t>
            </a:r>
            <a:endParaRPr lang="en-US" sz="1300" dirty="0"/>
          </a:p>
        </p:txBody>
      </p:sp>
      <p:sp>
        <p:nvSpPr>
          <p:cNvPr id="36" name="Text 34"/>
          <p:cNvSpPr/>
          <p:nvPr/>
        </p:nvSpPr>
        <p:spPr>
          <a:xfrm>
            <a:off x="804672" y="3968496"/>
            <a:ext cx="7498080" cy="475488"/>
          </a:xfrm>
          <a:prstGeom prst="rect">
            <a:avLst/>
          </a:prstGeom>
          <a:noFill/>
          <a:ln/>
        </p:spPr>
        <p:txBody>
          <a:bodyPr wrap="square" lIns="0" tIns="0" rIns="0" bIns="0" rtlCol="0" anchor="t"/>
          <a:lstStyle/>
          <a:p>
            <a:pPr marL="0" indent="0" algn="l">
              <a:lnSpc>
                <a:spcPct val="105000"/>
              </a:lnSpc>
              <a:buNone/>
            </a:pPr>
            <a:r>
              <a:rPr lang="en-US" sz="1200" dirty="0">
                <a:solidFill>
                  <a:srgbClr val="C3CDD6"/>
                </a:solidFill>
                <a:latin typeface="Calibri" pitchFamily="34" charset="0"/>
                <a:ea typeface="Calibri" pitchFamily="34" charset="-122"/>
                <a:cs typeface="Calibri" pitchFamily="34" charset="-120"/>
              </a:rPr>
              <a:t>Opening and closing auctions accumulate orders without matching, then compute a single equilibrium price that maximizes matched volume — pm-scheduler drives every phase transition on a schedule.</a:t>
            </a:r>
            <a:endParaRPr lang="en-US" sz="1200" dirty="0"/>
          </a:p>
        </p:txBody>
      </p:sp>
      <p:sp>
        <p:nvSpPr>
          <p:cNvPr id="38" name="Text 35"/>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39" name="Text 36"/>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07 · RISK CONTROLS</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Five layers of market protection</a:t>
            </a:r>
            <a:endParaRPr lang="en-US" sz="2900" dirty="0"/>
          </a:p>
        </p:txBody>
      </p:sp>
      <p:sp>
        <p:nvSpPr>
          <p:cNvPr id="5" name="Text 3"/>
          <p:cNvSpPr/>
          <p:nvPr/>
        </p:nvSpPr>
        <p:spPr>
          <a:xfrm>
            <a:off x="585216" y="1481328"/>
            <a:ext cx="3566160" cy="256032"/>
          </a:xfrm>
          <a:prstGeom prst="rect">
            <a:avLst/>
          </a:prstGeom>
          <a:noFill/>
          <a:ln/>
        </p:spPr>
        <p:txBody>
          <a:bodyPr wrap="square" lIns="0" tIns="0" rIns="0" bIns="0" rtlCol="0" anchor="ctr"/>
          <a:lstStyle/>
          <a:p>
            <a:pPr marL="0" indent="0">
              <a:buNone/>
            </a:pPr>
            <a:r>
              <a:rPr lang="en-US" sz="1050" b="1" kern="0" spc="100" dirty="0">
                <a:solidFill>
                  <a:srgbClr val="F2860D"/>
                </a:solidFill>
                <a:latin typeface="Courier New" pitchFamily="34" charset="0"/>
                <a:ea typeface="Courier New" pitchFamily="34" charset="-122"/>
                <a:cs typeface="Courier New" pitchFamily="34" charset="-120"/>
              </a:rPr>
              <a:t>ON ADMISSION</a:t>
            </a:r>
            <a:endParaRPr lang="en-US" sz="1050" dirty="0"/>
          </a:p>
        </p:txBody>
      </p:sp>
      <p:sp>
        <p:nvSpPr>
          <p:cNvPr id="6" name="Text 4"/>
          <p:cNvSpPr/>
          <p:nvPr/>
        </p:nvSpPr>
        <p:spPr>
          <a:xfrm>
            <a:off x="585216" y="1737360"/>
            <a:ext cx="3566160" cy="256032"/>
          </a:xfrm>
          <a:prstGeom prst="rect">
            <a:avLst/>
          </a:prstGeom>
          <a:noFill/>
          <a:ln/>
        </p:spPr>
        <p:txBody>
          <a:bodyPr wrap="square" lIns="0" tIns="0" rIns="0" bIns="0" rtlCol="0" anchor="ctr"/>
          <a:lstStyle/>
          <a:p>
            <a:pPr marL="0" indent="0">
              <a:buNone/>
            </a:pPr>
            <a:r>
              <a:rPr lang="en-US" sz="950" i="1" dirty="0">
                <a:solidFill>
                  <a:srgbClr val="B4B4BE"/>
                </a:solidFill>
                <a:latin typeface="Calibri" pitchFamily="34" charset="0"/>
                <a:ea typeface="Calibri" pitchFamily="34" charset="-122"/>
                <a:cs typeface="Calibri" pitchFamily="34" charset="-120"/>
              </a:rPr>
              <a:t>Before an order enters the book</a:t>
            </a:r>
            <a:endParaRPr lang="en-US" sz="950" dirty="0"/>
          </a:p>
        </p:txBody>
      </p:sp>
      <p:sp>
        <p:nvSpPr>
          <p:cNvPr id="7" name="card">
            <a:extLst>
              <a:ext uri="{C183D7F6-B498-43B3-948B-1728B52AA6E4}">
                <adec:decorative xmlns:adec="http://schemas.microsoft.com/office/drawing/2017/decorative" val="1"/>
              </a:ext>
            </a:extLst>
          </p:cNvPr>
          <p:cNvSpPr/>
          <p:nvPr/>
        </p:nvSpPr>
        <p:spPr>
          <a:xfrm>
            <a:off x="566928" y="2066544"/>
            <a:ext cx="3566160" cy="731520"/>
          </a:xfrm>
          <a:prstGeom prst="roundRect">
            <a:avLst>
              <a:gd name="adj" fmla="val 75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8" name="lane accent">
            <a:extLst>
              <a:ext uri="{C183D7F6-B498-43B3-948B-1728B52AA6E4}">
                <adec:decorative xmlns:adec="http://schemas.microsoft.com/office/drawing/2017/decorative" val="1"/>
              </a:ext>
            </a:extLst>
          </p:cNvPr>
          <p:cNvSpPr/>
          <p:nvPr/>
        </p:nvSpPr>
        <p:spPr>
          <a:xfrm>
            <a:off x="566928" y="2066544"/>
            <a:ext cx="64008" cy="731520"/>
          </a:xfrm>
          <a:prstGeom prst="rect">
            <a:avLst/>
          </a:prstGeom>
          <a:solidFill>
            <a:srgbClr val="F2860D"/>
          </a:solidFill>
          <a:ln/>
        </p:spPr>
        <p:txBody>
          <a:bodyPr/>
          <a:lstStyle/>
          <a:p>
            <a:endParaRPr lang="en-SE"/>
          </a:p>
        </p:txBody>
      </p:sp>
      <p:sp>
        <p:nvSpPr>
          <p:cNvPr id="9" name="Text 7"/>
          <p:cNvSpPr/>
          <p:nvPr/>
        </p:nvSpPr>
        <p:spPr>
          <a:xfrm>
            <a:off x="749808" y="2194560"/>
            <a:ext cx="3255264" cy="274320"/>
          </a:xfrm>
          <a:prstGeom prst="rect">
            <a:avLst/>
          </a:prstGeom>
          <a:noFill/>
          <a:ln/>
        </p:spPr>
        <p:txBody>
          <a:bodyPr wrap="square" lIns="0" tIns="0" rIns="0" bIns="0" rtlCol="0" anchor="ctr"/>
          <a:lstStyle/>
          <a:p>
            <a:pPr marL="0" indent="0">
              <a:buNone/>
            </a:pPr>
            <a:r>
              <a:rPr lang="en-US" sz="1250" b="1" dirty="0">
                <a:solidFill>
                  <a:srgbClr val="ECECEC"/>
                </a:solidFill>
                <a:latin typeface="Arial" pitchFamily="34" charset="0"/>
                <a:ea typeface="Arial" pitchFamily="34" charset="-122"/>
                <a:cs typeface="Arial" pitchFamily="34" charset="-120"/>
              </a:rPr>
              <a:t>Instrument halt</a:t>
            </a:r>
            <a:endParaRPr lang="en-US" sz="1250" dirty="0"/>
          </a:p>
        </p:txBody>
      </p:sp>
      <p:sp>
        <p:nvSpPr>
          <p:cNvPr id="10" name="Text 8"/>
          <p:cNvSpPr/>
          <p:nvPr/>
        </p:nvSpPr>
        <p:spPr>
          <a:xfrm>
            <a:off x="749808" y="2487168"/>
            <a:ext cx="3255264" cy="237744"/>
          </a:xfrm>
          <a:prstGeom prst="rect">
            <a:avLst/>
          </a:prstGeom>
          <a:noFill/>
          <a:ln/>
        </p:spPr>
        <p:txBody>
          <a:bodyPr wrap="square" lIns="0" tIns="0" rIns="0" bIns="0" rtlCol="0" anchor="t"/>
          <a:lstStyle/>
          <a:p>
            <a:pPr marL="0" indent="0">
              <a:lnSpc>
                <a:spcPct val="110000"/>
              </a:lnSpc>
              <a:buNone/>
            </a:pPr>
            <a:r>
              <a:rPr lang="en-US" sz="1050" dirty="0">
                <a:solidFill>
                  <a:srgbClr val="C3CDD6"/>
                </a:solidFill>
                <a:latin typeface="Calibri" pitchFamily="34" charset="0"/>
                <a:ea typeface="Calibri" pitchFamily="34" charset="-122"/>
                <a:cs typeface="Calibri" pitchFamily="34" charset="-120"/>
              </a:rPr>
              <a:t>Symbol marked HALTED by operator; resumes on command</a:t>
            </a:r>
            <a:endParaRPr lang="en-US" sz="1050" dirty="0"/>
          </a:p>
        </p:txBody>
      </p:sp>
      <p:sp>
        <p:nvSpPr>
          <p:cNvPr id="11" name="card">
            <a:extLst>
              <a:ext uri="{C183D7F6-B498-43B3-948B-1728B52AA6E4}">
                <adec:decorative xmlns:adec="http://schemas.microsoft.com/office/drawing/2017/decorative" val="1"/>
              </a:ext>
            </a:extLst>
          </p:cNvPr>
          <p:cNvSpPr/>
          <p:nvPr/>
        </p:nvSpPr>
        <p:spPr>
          <a:xfrm>
            <a:off x="566928" y="2926080"/>
            <a:ext cx="3566160" cy="731520"/>
          </a:xfrm>
          <a:prstGeom prst="roundRect">
            <a:avLst>
              <a:gd name="adj" fmla="val 75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2" name="lane accent">
            <a:extLst>
              <a:ext uri="{C183D7F6-B498-43B3-948B-1728B52AA6E4}">
                <adec:decorative xmlns:adec="http://schemas.microsoft.com/office/drawing/2017/decorative" val="1"/>
              </a:ext>
            </a:extLst>
          </p:cNvPr>
          <p:cNvSpPr/>
          <p:nvPr/>
        </p:nvSpPr>
        <p:spPr>
          <a:xfrm>
            <a:off x="566928" y="2926080"/>
            <a:ext cx="64008" cy="731520"/>
          </a:xfrm>
          <a:prstGeom prst="rect">
            <a:avLst/>
          </a:prstGeom>
          <a:solidFill>
            <a:srgbClr val="F2860D"/>
          </a:solidFill>
          <a:ln/>
        </p:spPr>
        <p:txBody>
          <a:bodyPr/>
          <a:lstStyle/>
          <a:p>
            <a:endParaRPr lang="en-SE"/>
          </a:p>
        </p:txBody>
      </p:sp>
      <p:sp>
        <p:nvSpPr>
          <p:cNvPr id="13" name="Text 11"/>
          <p:cNvSpPr/>
          <p:nvPr/>
        </p:nvSpPr>
        <p:spPr>
          <a:xfrm>
            <a:off x="749808" y="3054096"/>
            <a:ext cx="3255264" cy="274320"/>
          </a:xfrm>
          <a:prstGeom prst="rect">
            <a:avLst/>
          </a:prstGeom>
          <a:noFill/>
          <a:ln/>
        </p:spPr>
        <p:txBody>
          <a:bodyPr wrap="square" lIns="0" tIns="0" rIns="0" bIns="0" rtlCol="0" anchor="ctr"/>
          <a:lstStyle/>
          <a:p>
            <a:pPr marL="0" indent="0">
              <a:buNone/>
            </a:pPr>
            <a:r>
              <a:rPr lang="en-US" sz="1250" b="1" dirty="0">
                <a:solidFill>
                  <a:srgbClr val="ECECEC"/>
                </a:solidFill>
                <a:latin typeface="Arial" pitchFamily="34" charset="0"/>
                <a:ea typeface="Arial" pitchFamily="34" charset="-122"/>
                <a:cs typeface="Arial" pitchFamily="34" charset="-120"/>
              </a:rPr>
              <a:t>Price collar</a:t>
            </a:r>
            <a:endParaRPr lang="en-US" sz="1250" dirty="0"/>
          </a:p>
        </p:txBody>
      </p:sp>
      <p:sp>
        <p:nvSpPr>
          <p:cNvPr id="14" name="Text 12"/>
          <p:cNvSpPr/>
          <p:nvPr/>
        </p:nvSpPr>
        <p:spPr>
          <a:xfrm>
            <a:off x="749808" y="3346704"/>
            <a:ext cx="3255264" cy="237744"/>
          </a:xfrm>
          <a:prstGeom prst="rect">
            <a:avLst/>
          </a:prstGeom>
          <a:noFill/>
          <a:ln/>
        </p:spPr>
        <p:txBody>
          <a:bodyPr wrap="square" lIns="0" tIns="0" rIns="0" bIns="0" rtlCol="0" anchor="t"/>
          <a:lstStyle/>
          <a:p>
            <a:pPr marL="0" indent="0">
              <a:lnSpc>
                <a:spcPct val="110000"/>
              </a:lnSpc>
              <a:buNone/>
            </a:pPr>
            <a:r>
              <a:rPr lang="en-US" sz="1050" dirty="0">
                <a:solidFill>
                  <a:srgbClr val="C3CDD6"/>
                </a:solidFill>
                <a:latin typeface="Calibri" pitchFamily="34" charset="0"/>
                <a:ea typeface="Calibri" pitchFamily="34" charset="-122"/>
                <a:cs typeface="Calibri" pitchFamily="34" charset="-120"/>
              </a:rPr>
              <a:t>Order price checked vs. static &amp; dynamic bands — else rejected</a:t>
            </a:r>
            <a:endParaRPr lang="en-US" sz="1050" dirty="0"/>
          </a:p>
        </p:txBody>
      </p:sp>
      <p:sp>
        <p:nvSpPr>
          <p:cNvPr id="15" name="card">
            <a:extLst>
              <a:ext uri="{C183D7F6-B498-43B3-948B-1728B52AA6E4}">
                <adec:decorative xmlns:adec="http://schemas.microsoft.com/office/drawing/2017/decorative" val="1"/>
              </a:ext>
            </a:extLst>
          </p:cNvPr>
          <p:cNvSpPr/>
          <p:nvPr/>
        </p:nvSpPr>
        <p:spPr>
          <a:xfrm>
            <a:off x="566928" y="3785616"/>
            <a:ext cx="3566160" cy="731520"/>
          </a:xfrm>
          <a:prstGeom prst="roundRect">
            <a:avLst>
              <a:gd name="adj" fmla="val 75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6" name="lane accent">
            <a:extLst>
              <a:ext uri="{C183D7F6-B498-43B3-948B-1728B52AA6E4}">
                <adec:decorative xmlns:adec="http://schemas.microsoft.com/office/drawing/2017/decorative" val="1"/>
              </a:ext>
            </a:extLst>
          </p:cNvPr>
          <p:cNvSpPr/>
          <p:nvPr/>
        </p:nvSpPr>
        <p:spPr>
          <a:xfrm>
            <a:off x="566928" y="3785616"/>
            <a:ext cx="64008" cy="731520"/>
          </a:xfrm>
          <a:prstGeom prst="rect">
            <a:avLst/>
          </a:prstGeom>
          <a:solidFill>
            <a:srgbClr val="F2860D"/>
          </a:solidFill>
          <a:ln/>
        </p:spPr>
        <p:txBody>
          <a:bodyPr/>
          <a:lstStyle/>
          <a:p>
            <a:endParaRPr lang="en-SE"/>
          </a:p>
        </p:txBody>
      </p:sp>
      <p:sp>
        <p:nvSpPr>
          <p:cNvPr id="17" name="Text 15"/>
          <p:cNvSpPr/>
          <p:nvPr/>
        </p:nvSpPr>
        <p:spPr>
          <a:xfrm>
            <a:off x="749808" y="3913632"/>
            <a:ext cx="3255264" cy="274320"/>
          </a:xfrm>
          <a:prstGeom prst="rect">
            <a:avLst/>
          </a:prstGeom>
          <a:noFill/>
          <a:ln/>
        </p:spPr>
        <p:txBody>
          <a:bodyPr wrap="square" lIns="0" tIns="0" rIns="0" bIns="0" rtlCol="0" anchor="ctr"/>
          <a:lstStyle/>
          <a:p>
            <a:pPr marL="0" indent="0">
              <a:buNone/>
            </a:pPr>
            <a:r>
              <a:rPr lang="en-US" sz="1250" b="1" dirty="0">
                <a:solidFill>
                  <a:srgbClr val="ECECEC"/>
                </a:solidFill>
                <a:latin typeface="Arial" pitchFamily="34" charset="0"/>
                <a:ea typeface="Arial" pitchFamily="34" charset="-122"/>
                <a:cs typeface="Arial" pitchFamily="34" charset="-120"/>
              </a:rPr>
              <a:t>Circuit breaker</a:t>
            </a:r>
            <a:endParaRPr lang="en-US" sz="1250" dirty="0"/>
          </a:p>
        </p:txBody>
      </p:sp>
      <p:sp>
        <p:nvSpPr>
          <p:cNvPr id="18" name="Text 16"/>
          <p:cNvSpPr/>
          <p:nvPr/>
        </p:nvSpPr>
        <p:spPr>
          <a:xfrm>
            <a:off x="749808" y="4206240"/>
            <a:ext cx="3255264" cy="237744"/>
          </a:xfrm>
          <a:prstGeom prst="rect">
            <a:avLst/>
          </a:prstGeom>
          <a:noFill/>
          <a:ln/>
        </p:spPr>
        <p:txBody>
          <a:bodyPr wrap="square" lIns="0" tIns="0" rIns="0" bIns="0" rtlCol="0" anchor="t"/>
          <a:lstStyle/>
          <a:p>
            <a:pPr marL="0" indent="0">
              <a:lnSpc>
                <a:spcPct val="110000"/>
              </a:lnSpc>
              <a:buNone/>
            </a:pPr>
            <a:r>
              <a:rPr lang="en-US" sz="1050" dirty="0">
                <a:solidFill>
                  <a:srgbClr val="C3CDD6"/>
                </a:solidFill>
                <a:latin typeface="Calibri" pitchFamily="34" charset="0"/>
                <a:ea typeface="Calibri" pitchFamily="34" charset="-122"/>
                <a:cs typeface="Calibri" pitchFamily="34" charset="-120"/>
              </a:rPr>
              <a:t>Big last-trade move auto-halts the symbol, then resumes</a:t>
            </a:r>
            <a:endParaRPr lang="en-US" sz="1050" dirty="0"/>
          </a:p>
        </p:txBody>
      </p:sp>
      <p:sp>
        <p:nvSpPr>
          <p:cNvPr id="19" name="Text 17"/>
          <p:cNvSpPr/>
          <p:nvPr/>
        </p:nvSpPr>
        <p:spPr>
          <a:xfrm>
            <a:off x="4297680" y="1481328"/>
            <a:ext cx="2103120" cy="256032"/>
          </a:xfrm>
          <a:prstGeom prst="rect">
            <a:avLst/>
          </a:prstGeom>
          <a:noFill/>
          <a:ln/>
        </p:spPr>
        <p:txBody>
          <a:bodyPr wrap="square" lIns="0" tIns="0" rIns="0" bIns="0" rtlCol="0" anchor="ctr"/>
          <a:lstStyle/>
          <a:p>
            <a:pPr marL="0" indent="0">
              <a:buNone/>
            </a:pPr>
            <a:r>
              <a:rPr lang="en-US" sz="1050" b="1" kern="0" spc="100" dirty="0">
                <a:solidFill>
                  <a:srgbClr val="4FB3CC"/>
                </a:solidFill>
                <a:latin typeface="Courier New" pitchFamily="34" charset="0"/>
                <a:ea typeface="Courier New" pitchFamily="34" charset="-122"/>
                <a:cs typeface="Courier New" pitchFamily="34" charset="-120"/>
              </a:rPr>
              <a:t>ON RESTING ORDERS</a:t>
            </a:r>
            <a:endParaRPr lang="en-US" sz="1050" dirty="0"/>
          </a:p>
        </p:txBody>
      </p:sp>
      <p:sp>
        <p:nvSpPr>
          <p:cNvPr id="20" name="Text 18"/>
          <p:cNvSpPr/>
          <p:nvPr/>
        </p:nvSpPr>
        <p:spPr>
          <a:xfrm>
            <a:off x="4297680" y="1737360"/>
            <a:ext cx="2103120" cy="256032"/>
          </a:xfrm>
          <a:prstGeom prst="rect">
            <a:avLst/>
          </a:prstGeom>
          <a:noFill/>
          <a:ln/>
        </p:spPr>
        <p:txBody>
          <a:bodyPr wrap="square" lIns="0" tIns="0" rIns="0" bIns="0" rtlCol="0" anchor="ctr"/>
          <a:lstStyle/>
          <a:p>
            <a:pPr marL="0" indent="0">
              <a:buNone/>
            </a:pPr>
            <a:r>
              <a:rPr lang="en-US" sz="950" i="1" dirty="0">
                <a:solidFill>
                  <a:srgbClr val="B4B4BE"/>
                </a:solidFill>
                <a:latin typeface="Calibri" pitchFamily="34" charset="0"/>
                <a:ea typeface="Calibri" pitchFamily="34" charset="-122"/>
                <a:cs typeface="Calibri" pitchFamily="34" charset="-120"/>
              </a:rPr>
              <a:t>Acts on exposure already on the book</a:t>
            </a:r>
            <a:endParaRPr lang="en-US" sz="950" dirty="0"/>
          </a:p>
        </p:txBody>
      </p:sp>
      <p:sp>
        <p:nvSpPr>
          <p:cNvPr id="21" name="card">
            <a:extLst>
              <a:ext uri="{C183D7F6-B498-43B3-948B-1728B52AA6E4}">
                <adec:decorative xmlns:adec="http://schemas.microsoft.com/office/drawing/2017/decorative" val="1"/>
              </a:ext>
            </a:extLst>
          </p:cNvPr>
          <p:cNvSpPr/>
          <p:nvPr/>
        </p:nvSpPr>
        <p:spPr>
          <a:xfrm>
            <a:off x="4279392" y="2066544"/>
            <a:ext cx="2103120" cy="2450592"/>
          </a:xfrm>
          <a:prstGeom prst="roundRect">
            <a:avLst>
              <a:gd name="adj" fmla="val 2609"/>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2" name="lane accent">
            <a:extLst>
              <a:ext uri="{C183D7F6-B498-43B3-948B-1728B52AA6E4}">
                <adec:decorative xmlns:adec="http://schemas.microsoft.com/office/drawing/2017/decorative" val="1"/>
              </a:ext>
            </a:extLst>
          </p:cNvPr>
          <p:cNvSpPr/>
          <p:nvPr/>
        </p:nvSpPr>
        <p:spPr>
          <a:xfrm>
            <a:off x="4279392" y="2066544"/>
            <a:ext cx="64008" cy="2450592"/>
          </a:xfrm>
          <a:prstGeom prst="rect">
            <a:avLst/>
          </a:prstGeom>
          <a:solidFill>
            <a:srgbClr val="4FB3CC"/>
          </a:solidFill>
          <a:ln/>
        </p:spPr>
        <p:txBody>
          <a:bodyPr/>
          <a:lstStyle/>
          <a:p>
            <a:endParaRPr lang="en-SE"/>
          </a:p>
        </p:txBody>
      </p:sp>
      <p:sp>
        <p:nvSpPr>
          <p:cNvPr id="23" name="Text 21"/>
          <p:cNvSpPr/>
          <p:nvPr/>
        </p:nvSpPr>
        <p:spPr>
          <a:xfrm>
            <a:off x="4462272" y="2194560"/>
            <a:ext cx="1792224" cy="274320"/>
          </a:xfrm>
          <a:prstGeom prst="rect">
            <a:avLst/>
          </a:prstGeom>
          <a:noFill/>
          <a:ln/>
        </p:spPr>
        <p:txBody>
          <a:bodyPr wrap="square" lIns="0" tIns="0" rIns="0" bIns="0" rtlCol="0" anchor="ctr"/>
          <a:lstStyle/>
          <a:p>
            <a:pPr marL="0" indent="0">
              <a:buNone/>
            </a:pPr>
            <a:r>
              <a:rPr lang="en-US" sz="1250" b="1" dirty="0">
                <a:solidFill>
                  <a:srgbClr val="ECECEC"/>
                </a:solidFill>
                <a:latin typeface="Arial" pitchFamily="34" charset="0"/>
                <a:ea typeface="Arial" pitchFamily="34" charset="-122"/>
                <a:cs typeface="Arial" pitchFamily="34" charset="-120"/>
              </a:rPr>
              <a:t>Kill switch</a:t>
            </a:r>
            <a:endParaRPr lang="en-US" sz="1250" dirty="0"/>
          </a:p>
        </p:txBody>
      </p:sp>
      <p:sp>
        <p:nvSpPr>
          <p:cNvPr id="24" name="Text 22"/>
          <p:cNvSpPr/>
          <p:nvPr/>
        </p:nvSpPr>
        <p:spPr>
          <a:xfrm>
            <a:off x="4462272" y="2487168"/>
            <a:ext cx="1792224" cy="914400"/>
          </a:xfrm>
          <a:prstGeom prst="rect">
            <a:avLst/>
          </a:prstGeom>
          <a:noFill/>
          <a:ln/>
        </p:spPr>
        <p:txBody>
          <a:bodyPr wrap="square" lIns="0" tIns="0" rIns="0" bIns="0" rtlCol="0" anchor="t"/>
          <a:lstStyle/>
          <a:p>
            <a:pPr marL="0" indent="0">
              <a:lnSpc>
                <a:spcPct val="110000"/>
              </a:lnSpc>
              <a:buNone/>
            </a:pPr>
            <a:r>
              <a:rPr lang="en-US" sz="1050" dirty="0">
                <a:solidFill>
                  <a:srgbClr val="C3CDD6"/>
                </a:solidFill>
                <a:latin typeface="Calibri" pitchFamily="34" charset="0"/>
                <a:ea typeface="Calibri" pitchFamily="34" charset="-122"/>
                <a:cs typeface="Calibri" pitchFamily="34" charset="-120"/>
              </a:rPr>
              <a:t>Any gateway can cancel all its own resting orders instantly</a:t>
            </a:r>
            <a:endParaRPr lang="en-US" sz="1050" dirty="0"/>
          </a:p>
        </p:txBody>
      </p:sp>
      <p:sp>
        <p:nvSpPr>
          <p:cNvPr id="25" name="Text 23"/>
          <p:cNvSpPr/>
          <p:nvPr/>
        </p:nvSpPr>
        <p:spPr>
          <a:xfrm>
            <a:off x="6547104" y="1481328"/>
            <a:ext cx="2103120" cy="256032"/>
          </a:xfrm>
          <a:prstGeom prst="rect">
            <a:avLst/>
          </a:prstGeom>
          <a:noFill/>
          <a:ln/>
        </p:spPr>
        <p:txBody>
          <a:bodyPr wrap="square" lIns="0" tIns="0" rIns="0" bIns="0" rtlCol="0" anchor="ctr"/>
          <a:lstStyle/>
          <a:p>
            <a:pPr marL="0" indent="0">
              <a:buNone/>
            </a:pPr>
            <a:r>
              <a:rPr lang="en-US" sz="1050" b="1" kern="0" spc="100" dirty="0">
                <a:solidFill>
                  <a:srgbClr val="B98CE0"/>
                </a:solidFill>
                <a:latin typeface="Courier New" pitchFamily="34" charset="0"/>
                <a:ea typeface="Courier New" pitchFamily="34" charset="-122"/>
                <a:cs typeface="Courier New" pitchFamily="34" charset="-120"/>
              </a:rPr>
              <a:t>DURING MATCHING</a:t>
            </a:r>
            <a:endParaRPr lang="en-US" sz="1050" dirty="0"/>
          </a:p>
        </p:txBody>
      </p:sp>
      <p:sp>
        <p:nvSpPr>
          <p:cNvPr id="26" name="Text 24"/>
          <p:cNvSpPr/>
          <p:nvPr/>
        </p:nvSpPr>
        <p:spPr>
          <a:xfrm>
            <a:off x="6547104" y="1737360"/>
            <a:ext cx="2103120" cy="256032"/>
          </a:xfrm>
          <a:prstGeom prst="rect">
            <a:avLst/>
          </a:prstGeom>
          <a:noFill/>
          <a:ln/>
        </p:spPr>
        <p:txBody>
          <a:bodyPr wrap="square" lIns="0" tIns="0" rIns="0" bIns="0" rtlCol="0" anchor="ctr"/>
          <a:lstStyle/>
          <a:p>
            <a:pPr marL="0" indent="0">
              <a:buNone/>
            </a:pPr>
            <a:r>
              <a:rPr lang="en-US" sz="950" i="1" dirty="0">
                <a:solidFill>
                  <a:srgbClr val="B4B4BE"/>
                </a:solidFill>
                <a:latin typeface="Calibri" pitchFamily="34" charset="0"/>
                <a:ea typeface="Calibri" pitchFamily="34" charset="-122"/>
                <a:cs typeface="Calibri" pitchFamily="34" charset="-120"/>
              </a:rPr>
              <a:t>At the instant of a cross</a:t>
            </a:r>
            <a:endParaRPr lang="en-US" sz="950" dirty="0"/>
          </a:p>
        </p:txBody>
      </p:sp>
      <p:sp>
        <p:nvSpPr>
          <p:cNvPr id="27" name="card">
            <a:extLst>
              <a:ext uri="{C183D7F6-B498-43B3-948B-1728B52AA6E4}">
                <adec:decorative xmlns:adec="http://schemas.microsoft.com/office/drawing/2017/decorative" val="1"/>
              </a:ext>
            </a:extLst>
          </p:cNvPr>
          <p:cNvSpPr/>
          <p:nvPr/>
        </p:nvSpPr>
        <p:spPr>
          <a:xfrm>
            <a:off x="6528816" y="2066544"/>
            <a:ext cx="2103120" cy="2450592"/>
          </a:xfrm>
          <a:prstGeom prst="roundRect">
            <a:avLst>
              <a:gd name="adj" fmla="val 2609"/>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8" name="lane accent">
            <a:extLst>
              <a:ext uri="{C183D7F6-B498-43B3-948B-1728B52AA6E4}">
                <adec:decorative xmlns:adec="http://schemas.microsoft.com/office/drawing/2017/decorative" val="1"/>
              </a:ext>
            </a:extLst>
          </p:cNvPr>
          <p:cNvSpPr/>
          <p:nvPr/>
        </p:nvSpPr>
        <p:spPr>
          <a:xfrm>
            <a:off x="6528816" y="2066544"/>
            <a:ext cx="64008" cy="2450592"/>
          </a:xfrm>
          <a:prstGeom prst="rect">
            <a:avLst/>
          </a:prstGeom>
          <a:solidFill>
            <a:srgbClr val="B98CE0"/>
          </a:solidFill>
          <a:ln/>
        </p:spPr>
        <p:txBody>
          <a:bodyPr/>
          <a:lstStyle/>
          <a:p>
            <a:endParaRPr lang="en-SE"/>
          </a:p>
        </p:txBody>
      </p:sp>
      <p:sp>
        <p:nvSpPr>
          <p:cNvPr id="29" name="Text 27"/>
          <p:cNvSpPr/>
          <p:nvPr/>
        </p:nvSpPr>
        <p:spPr>
          <a:xfrm>
            <a:off x="6711696" y="2194560"/>
            <a:ext cx="1792224" cy="274320"/>
          </a:xfrm>
          <a:prstGeom prst="rect">
            <a:avLst/>
          </a:prstGeom>
          <a:noFill/>
          <a:ln/>
        </p:spPr>
        <p:txBody>
          <a:bodyPr wrap="square" lIns="0" tIns="0" rIns="0" bIns="0" rtlCol="0" anchor="ctr"/>
          <a:lstStyle/>
          <a:p>
            <a:pPr marL="0" indent="0">
              <a:buNone/>
            </a:pPr>
            <a:r>
              <a:rPr lang="en-US" sz="1250" b="1" dirty="0">
                <a:solidFill>
                  <a:srgbClr val="ECECEC"/>
                </a:solidFill>
                <a:latin typeface="Arial" pitchFamily="34" charset="0"/>
                <a:ea typeface="Arial" pitchFamily="34" charset="-122"/>
                <a:cs typeface="Arial" pitchFamily="34" charset="-120"/>
              </a:rPr>
              <a:t>Self-Match Prevention</a:t>
            </a:r>
            <a:endParaRPr lang="en-US" sz="1250" dirty="0"/>
          </a:p>
        </p:txBody>
      </p:sp>
      <p:sp>
        <p:nvSpPr>
          <p:cNvPr id="30" name="Text 28"/>
          <p:cNvSpPr/>
          <p:nvPr/>
        </p:nvSpPr>
        <p:spPr>
          <a:xfrm>
            <a:off x="6711696" y="2487168"/>
            <a:ext cx="1792224" cy="914400"/>
          </a:xfrm>
          <a:prstGeom prst="rect">
            <a:avLst/>
          </a:prstGeom>
          <a:noFill/>
          <a:ln/>
        </p:spPr>
        <p:txBody>
          <a:bodyPr wrap="square" lIns="0" tIns="0" rIns="0" bIns="0" rtlCol="0" anchor="t"/>
          <a:lstStyle/>
          <a:p>
            <a:pPr marL="0" indent="0">
              <a:lnSpc>
                <a:spcPct val="110000"/>
              </a:lnSpc>
              <a:buNone/>
            </a:pPr>
            <a:r>
              <a:rPr lang="en-US" sz="1050" dirty="0">
                <a:solidFill>
                  <a:srgbClr val="C3CDD6"/>
                </a:solidFill>
                <a:latin typeface="Calibri" pitchFamily="34" charset="0"/>
                <a:ea typeface="Calibri" pitchFamily="34" charset="-122"/>
                <a:cs typeface="Calibri" pitchFamily="34" charset="-120"/>
              </a:rPr>
              <a:t>Stops a gateway trading with itself — cancel aggressor, resting, both, or allow</a:t>
            </a:r>
            <a:endParaRPr lang="en-US" sz="1050" dirty="0"/>
          </a:p>
        </p:txBody>
      </p:sp>
      <p:sp>
        <p:nvSpPr>
          <p:cNvPr id="32" name="Text 29"/>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33" name="Text 30"/>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1B1B20"/>
        </a:solidFill>
        <a:effectLst/>
      </p:bgPr>
    </p:bg>
    <p:spTree>
      <p:nvGrpSpPr>
        <p:cNvPr id="1" name=""/>
        <p:cNvGrpSpPr/>
        <p:nvPr/>
      </p:nvGrpSpPr>
      <p:grpSpPr>
        <a:xfrm>
          <a:off x="0" y="0"/>
          <a:ext cx="0" cy="0"/>
          <a:chOff x="0" y="0"/>
          <a:chExt cx="0" cy="0"/>
        </a:xfrm>
      </p:grpSpPr>
      <p:pic>
        <p:nvPicPr>
          <p:cNvPr id="2" name="Image 0" descr="Glowing amber network of connected nodes representing the message bus"/>
          <p:cNvPicPr>
            <a:picLocks noChangeAspect="1"/>
          </p:cNvPicPr>
          <p:nvPr/>
        </p:nvPicPr>
        <p:blipFill>
          <a:blip r:embed="rId3"/>
          <a:srcRect l="26237" r="26237"/>
          <a:stretch/>
        </p:blipFill>
        <p:spPr>
          <a:xfrm>
            <a:off x="4800600" y="0"/>
            <a:ext cx="4343400" cy="5143500"/>
          </a:xfrm>
          <a:prstGeom prst="rect">
            <a:avLst/>
          </a:prstGeom>
        </p:spPr>
      </p:pic>
      <p:sp>
        <p:nvSpPr>
          <p:cNvPr id="3" name="Text 0"/>
          <p:cNvSpPr/>
          <p:nvPr/>
        </p:nvSpPr>
        <p:spPr>
          <a:xfrm>
            <a:off x="640080" y="1234440"/>
            <a:ext cx="5486400" cy="320040"/>
          </a:xfrm>
          <a:prstGeom prst="rect">
            <a:avLst/>
          </a:prstGeom>
          <a:noFill/>
          <a:ln/>
        </p:spPr>
        <p:txBody>
          <a:bodyPr wrap="square" lIns="0" tIns="0" rIns="0" bIns="0" rtlCol="0" anchor="ctr"/>
          <a:lstStyle/>
          <a:p>
            <a:pPr marL="0" indent="0">
              <a:buNone/>
            </a:pPr>
            <a:r>
              <a:rPr lang="en-US" sz="1250" b="1" kern="0" spc="400" dirty="0">
                <a:solidFill>
                  <a:srgbClr val="FF9E2C"/>
                </a:solidFill>
                <a:latin typeface="Courier New" pitchFamily="34" charset="0"/>
                <a:ea typeface="Courier New" pitchFamily="34" charset="-122"/>
                <a:cs typeface="Courier New" pitchFamily="34" charset="-120"/>
              </a:rPr>
              <a:t>IN SUMMARY</a:t>
            </a:r>
            <a:endParaRPr lang="en-US" sz="1250" dirty="0"/>
          </a:p>
        </p:txBody>
      </p:sp>
      <p:sp>
        <p:nvSpPr>
          <p:cNvPr id="4" name="Text 0"/>
          <p:cNvSpPr>
            <a:spLocks noGrp="1"/>
          </p:cNvSpPr>
          <p:nvPr>
            <p:ph type="title" idx="100" hasCustomPrompt="1"/>
          </p:nvPr>
        </p:nvSpPr>
        <p:spPr>
          <a:xfrm>
            <a:off x="640080" y="2331720"/>
            <a:ext cx="6949440" cy="914400"/>
          </a:xfrm>
          <a:prstGeom prst="rect">
            <a:avLst/>
          </a:prstGeom>
          <a:noFill/>
          <a:ln/>
        </p:spPr>
        <p:txBody>
          <a:bodyPr wrap="square" lIns="0" tIns="0" rIns="0" bIns="0" rtlCol="0" anchor="ctr"/>
          <a:lstStyle/>
          <a:p>
            <a:pPr marL="0" indent="0" algn="l">
              <a:buNone/>
            </a:pPr>
            <a:r>
              <a:rPr lang="en-US" sz="3200" b="1" dirty="0">
                <a:solidFill>
                  <a:srgbClr val="ECECEC"/>
                </a:solidFill>
                <a:latin typeface="Arial" pitchFamily="34" charset="0"/>
                <a:ea typeface="Arial" pitchFamily="34" charset="-122"/>
                <a:cs typeface="Arial" pitchFamily="34" charset="-120"/>
              </a:rPr>
              <a:t>One system, the whole exchange</a:t>
            </a:r>
            <a:endParaRPr lang="en-US" sz="3200" dirty="0"/>
          </a:p>
        </p:txBody>
      </p:sp>
      <p:sp>
        <p:nvSpPr>
          <p:cNvPr id="5" name="Text 2"/>
          <p:cNvSpPr/>
          <p:nvPr/>
        </p:nvSpPr>
        <p:spPr>
          <a:xfrm>
            <a:off x="640080" y="3291840"/>
            <a:ext cx="4023360" cy="1188720"/>
          </a:xfrm>
          <a:prstGeom prst="rect">
            <a:avLst/>
          </a:prstGeom>
          <a:noFill/>
          <a:ln/>
        </p:spPr>
        <p:txBody>
          <a:bodyPr wrap="square" lIns="0" tIns="0" rIns="0" bIns="0" rtlCol="0" anchor="t"/>
          <a:lstStyle/>
          <a:p>
            <a:pPr marL="0" indent="0" algn="l">
              <a:spcAft>
                <a:spcPts val="500"/>
              </a:spcAft>
              <a:buNone/>
            </a:pPr>
            <a:r>
              <a:rPr lang="en-US" sz="1250" b="1" dirty="0">
                <a:solidFill>
                  <a:srgbClr val="ECECEC"/>
                </a:solidFill>
                <a:latin typeface="Calibri" pitchFamily="34" charset="0"/>
                <a:ea typeface="Calibri" pitchFamily="34" charset="-122"/>
                <a:cs typeface="Calibri" pitchFamily="34" charset="-120"/>
              </a:rPr>
              <a:t>Order book &amp; auctions</a:t>
            </a:r>
            <a:endParaRPr lang="en-US" sz="1250" dirty="0"/>
          </a:p>
          <a:p>
            <a:pPr marL="0" indent="0" algn="l">
              <a:spcAft>
                <a:spcPts val="500"/>
              </a:spcAft>
              <a:buNone/>
            </a:pPr>
            <a:r>
              <a:rPr lang="en-US" sz="1250" b="1" dirty="0">
                <a:solidFill>
                  <a:srgbClr val="ECECEC"/>
                </a:solidFill>
                <a:latin typeface="Calibri" pitchFamily="34" charset="0"/>
                <a:ea typeface="Calibri" pitchFamily="34" charset="-122"/>
                <a:cs typeface="Calibri" pitchFamily="34" charset="-120"/>
              </a:rPr>
              <a:t>Risk controls &amp; market making</a:t>
            </a:r>
            <a:endParaRPr lang="en-US" sz="1250" dirty="0"/>
          </a:p>
          <a:p>
            <a:pPr marL="0" indent="0" algn="l">
              <a:spcAft>
                <a:spcPts val="500"/>
              </a:spcAft>
              <a:buNone/>
            </a:pPr>
            <a:r>
              <a:rPr lang="en-US" sz="1250" b="1" dirty="0">
                <a:solidFill>
                  <a:srgbClr val="ECECEC"/>
                </a:solidFill>
                <a:latin typeface="Calibri" pitchFamily="34" charset="0"/>
                <a:ea typeface="Calibri" pitchFamily="34" charset="-122"/>
                <a:cs typeface="Calibri" pitchFamily="34" charset="-120"/>
              </a:rPr>
              <a:t>Analytics, clearing &amp; compliance</a:t>
            </a:r>
            <a:endParaRPr lang="en-US" sz="1250" dirty="0"/>
          </a:p>
          <a:p>
            <a:pPr marL="0" indent="0" algn="l">
              <a:buNone/>
            </a:pPr>
            <a:r>
              <a:rPr lang="en-US" sz="1250" b="1" dirty="0">
                <a:solidFill>
                  <a:srgbClr val="ECECEC"/>
                </a:solidFill>
                <a:latin typeface="Calibri" pitchFamily="34" charset="0"/>
                <a:ea typeface="Calibri" pitchFamily="34" charset="-122"/>
                <a:cs typeface="Calibri" pitchFamily="34" charset="-120"/>
              </a:rPr>
              <a:t>AI-driven order flow on a ZeroMQ bus</a:t>
            </a:r>
            <a:endParaRPr lang="en-US" sz="1250" dirty="0"/>
          </a:p>
        </p:txBody>
      </p:sp>
      <p:sp>
        <p:nvSpPr>
          <p:cNvPr id="6" name="Text 3"/>
          <p:cNvSpPr/>
          <p:nvPr/>
        </p:nvSpPr>
        <p:spPr>
          <a:xfrm>
            <a:off x="640080" y="4526280"/>
            <a:ext cx="4023360" cy="365760"/>
          </a:xfrm>
          <a:prstGeom prst="rect">
            <a:avLst/>
          </a:prstGeom>
          <a:noFill/>
          <a:ln/>
        </p:spPr>
        <p:txBody>
          <a:bodyPr wrap="square" lIns="0" tIns="0" rIns="0" bIns="0" rtlCol="0" anchor="ctr"/>
          <a:lstStyle/>
          <a:p>
            <a:pPr marL="0" indent="0">
              <a:buNone/>
            </a:pPr>
            <a:r>
              <a:rPr lang="en-US" sz="1200" i="1" dirty="0">
                <a:solidFill>
                  <a:srgbClr val="C3CDD6"/>
                </a:solidFill>
                <a:latin typeface="Calibri" pitchFamily="34" charset="0"/>
                <a:ea typeface="Calibri" pitchFamily="34" charset="-122"/>
                <a:cs typeface="Calibri" pitchFamily="34" charset="-120"/>
              </a:rPr>
              <a:t>A production-grade matching engine you can read, run, and learn from.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B1B20"/>
        </a:solidFill>
        <a:effectLst/>
      </p:bgPr>
    </p:bg>
    <p:spTree>
      <p:nvGrpSpPr>
        <p:cNvPr id="1" name=""/>
        <p:cNvGrpSpPr/>
        <p:nvPr/>
      </p:nvGrpSpPr>
      <p:grpSpPr>
        <a:xfrm>
          <a:off x="0" y="0"/>
          <a:ext cx="0" cy="0"/>
          <a:chOff x="0" y="0"/>
          <a:chExt cx="0" cy="0"/>
        </a:xfrm>
      </p:grpSpPr>
      <p:pic>
        <p:nvPicPr>
          <p:cNvPr id="2" name="Image 0" descr="Blueprint schematic of the matching engine with amber circuit lines on charcoal"/>
          <p:cNvPicPr>
            <a:picLocks noChangeAspect="1"/>
          </p:cNvPicPr>
          <p:nvPr/>
        </p:nvPicPr>
        <p:blipFill>
          <a:blip r:embed="rId3"/>
          <a:srcRect l="27687" r="27687"/>
          <a:stretch/>
        </p:blipFill>
        <p:spPr>
          <a:xfrm>
            <a:off x="5029200" y="0"/>
            <a:ext cx="4114800" cy="5143500"/>
          </a:xfrm>
          <a:prstGeom prst="rect">
            <a:avLst/>
          </a:prstGeom>
        </p:spPr>
      </p:pic>
      <p:sp>
        <p:nvSpPr>
          <p:cNvPr id="3" name="scrim">
            <a:extLst>
              <a:ext uri="{C183D7F6-B498-43B3-948B-1728B52AA6E4}">
                <adec:decorative xmlns:adec="http://schemas.microsoft.com/office/drawing/2017/decorative" val="1"/>
              </a:ext>
            </a:extLst>
          </p:cNvPr>
          <p:cNvSpPr/>
          <p:nvPr/>
        </p:nvSpPr>
        <p:spPr>
          <a:xfrm>
            <a:off x="0" y="0"/>
            <a:ext cx="5486400" cy="5143500"/>
          </a:xfrm>
          <a:prstGeom prst="rect">
            <a:avLst/>
          </a:prstGeom>
          <a:solidFill>
            <a:srgbClr val="1B1B20">
              <a:alpha val="88000"/>
            </a:srgbClr>
          </a:solidFill>
          <a:ln/>
        </p:spPr>
        <p:txBody>
          <a:bodyPr/>
          <a:lstStyle/>
          <a:p>
            <a:endParaRPr lang="en-SE"/>
          </a:p>
        </p:txBody>
      </p:sp>
      <p:sp>
        <p:nvSpPr>
          <p:cNvPr id="4" name="scrim fade">
            <a:extLst>
              <a:ext uri="{C183D7F6-B498-43B3-948B-1728B52AA6E4}">
                <adec:decorative xmlns:adec="http://schemas.microsoft.com/office/drawing/2017/decorative" val="1"/>
              </a:ext>
            </a:extLst>
          </p:cNvPr>
          <p:cNvSpPr/>
          <p:nvPr/>
        </p:nvSpPr>
        <p:spPr>
          <a:xfrm>
            <a:off x="4754880" y="0"/>
            <a:ext cx="1463040" cy="5143500"/>
          </a:xfrm>
          <a:prstGeom prst="rect">
            <a:avLst/>
          </a:prstGeom>
          <a:solidFill>
            <a:srgbClr val="1B1B20">
              <a:alpha val="45000"/>
            </a:srgbClr>
          </a:solidFill>
          <a:ln/>
        </p:spPr>
        <p:txBody>
          <a:bodyPr/>
          <a:lstStyle/>
          <a:p>
            <a:endParaRPr lang="en-SE"/>
          </a:p>
        </p:txBody>
      </p:sp>
      <p:sp>
        <p:nvSpPr>
          <p:cNvPr id="5" name="Text 2"/>
          <p:cNvSpPr/>
          <p:nvPr/>
        </p:nvSpPr>
        <p:spPr>
          <a:xfrm>
            <a:off x="640080" y="1170432"/>
            <a:ext cx="4572000" cy="320040"/>
          </a:xfrm>
          <a:prstGeom prst="rect">
            <a:avLst/>
          </a:prstGeom>
          <a:noFill/>
          <a:ln/>
        </p:spPr>
        <p:txBody>
          <a:bodyPr wrap="square" lIns="0" tIns="0" rIns="0" bIns="0" rtlCol="0" anchor="ctr"/>
          <a:lstStyle/>
          <a:p>
            <a:pPr marL="0" indent="0">
              <a:buNone/>
            </a:pPr>
            <a:r>
              <a:rPr lang="en-US" sz="1300" b="1" kern="0" spc="500" dirty="0">
                <a:solidFill>
                  <a:srgbClr val="FF9E2C"/>
                </a:solidFill>
                <a:latin typeface="Courier New" pitchFamily="34" charset="0"/>
                <a:ea typeface="Courier New" pitchFamily="34" charset="-122"/>
                <a:cs typeface="Courier New" pitchFamily="34" charset="-120"/>
              </a:rPr>
              <a:t>PART TWO</a:t>
            </a:r>
            <a:endParaRPr lang="en-US" sz="1300" dirty="0"/>
          </a:p>
        </p:txBody>
      </p:sp>
      <p:sp>
        <p:nvSpPr>
          <p:cNvPr id="6" name="Text 0"/>
          <p:cNvSpPr>
            <a:spLocks noGrp="1"/>
          </p:cNvSpPr>
          <p:nvPr>
            <p:ph type="title" idx="100" hasCustomPrompt="1"/>
          </p:nvPr>
        </p:nvSpPr>
        <p:spPr>
          <a:xfrm>
            <a:off x="640080" y="2331720"/>
            <a:ext cx="6949440" cy="914400"/>
          </a:xfrm>
          <a:prstGeom prst="rect">
            <a:avLst/>
          </a:prstGeom>
          <a:noFill/>
          <a:ln/>
        </p:spPr>
        <p:txBody>
          <a:bodyPr wrap="square" lIns="0" tIns="0" rIns="0" bIns="0" rtlCol="0" anchor="ctr"/>
          <a:lstStyle/>
          <a:p>
            <a:pPr marL="0" indent="0" algn="l">
              <a:buNone/>
            </a:pPr>
            <a:r>
              <a:rPr lang="en-US" sz="4400" b="1" dirty="0">
                <a:solidFill>
                  <a:srgbClr val="ECECEC"/>
                </a:solidFill>
                <a:latin typeface="Arial" pitchFamily="34" charset="0"/>
                <a:ea typeface="Arial" pitchFamily="34" charset="-122"/>
                <a:cs typeface="Arial" pitchFamily="34" charset="-120"/>
              </a:rPr>
              <a:t>Under the hood</a:t>
            </a:r>
            <a:endParaRPr lang="en-US" sz="4400" dirty="0"/>
          </a:p>
        </p:txBody>
      </p:sp>
      <p:sp>
        <p:nvSpPr>
          <p:cNvPr id="7" name="Text 4"/>
          <p:cNvSpPr/>
          <p:nvPr/>
        </p:nvSpPr>
        <p:spPr>
          <a:xfrm>
            <a:off x="640080" y="3063240"/>
            <a:ext cx="4663440" cy="457200"/>
          </a:xfrm>
          <a:prstGeom prst="rect">
            <a:avLst/>
          </a:prstGeom>
          <a:noFill/>
          <a:ln/>
        </p:spPr>
        <p:txBody>
          <a:bodyPr wrap="square" lIns="0" tIns="0" rIns="0" bIns="0" rtlCol="0" anchor="ctr"/>
          <a:lstStyle/>
          <a:p>
            <a:pPr marL="0" indent="0">
              <a:buNone/>
            </a:pPr>
            <a:r>
              <a:rPr lang="en-US" sz="1550" dirty="0">
                <a:solidFill>
                  <a:srgbClr val="C3CDD6"/>
                </a:solidFill>
                <a:latin typeface="Arial" pitchFamily="34" charset="0"/>
                <a:ea typeface="Arial" pitchFamily="34" charset="-122"/>
                <a:cs typeface="Arial" pitchFamily="34" charset="-120"/>
              </a:rPr>
              <a:t>A technical deep-dive into EduMatcher's internals</a:t>
            </a:r>
            <a:endParaRPr lang="en-US" sz="1550" dirty="0"/>
          </a:p>
        </p:txBody>
      </p:sp>
      <p:sp>
        <p:nvSpPr>
          <p:cNvPr id="8" name="Text 5"/>
          <p:cNvSpPr/>
          <p:nvPr/>
        </p:nvSpPr>
        <p:spPr>
          <a:xfrm>
            <a:off x="658368" y="3639312"/>
            <a:ext cx="2194560" cy="128016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ECECEC"/>
                </a:solidFill>
                <a:latin typeface="Calibri" pitchFamily="34" charset="0"/>
                <a:ea typeface="Calibri" pitchFamily="34" charset="-122"/>
                <a:cs typeface="Calibri" pitchFamily="34" charset="-120"/>
              </a:rPr>
              <a:t>Config &amp; reference data</a:t>
            </a:r>
            <a:endParaRPr lang="en-US" sz="1100" dirty="0"/>
          </a:p>
          <a:p>
            <a:pPr marL="152400" indent="-152400">
              <a:lnSpc>
                <a:spcPct val="100000"/>
              </a:lnSpc>
              <a:spcAft>
                <a:spcPts val="500"/>
              </a:spcAft>
              <a:buSzPct val="100000"/>
              <a:buChar char="–"/>
            </a:pPr>
            <a:r>
              <a:rPr lang="en-US" sz="1100" dirty="0">
                <a:solidFill>
                  <a:srgbClr val="ECECEC"/>
                </a:solidFill>
                <a:latin typeface="Calibri" pitchFamily="34" charset="0"/>
                <a:ea typeface="Calibri" pitchFamily="34" charset="-122"/>
                <a:cs typeface="Calibri" pitchFamily="34" charset="-120"/>
              </a:rPr>
              <a:t>External protocols</a:t>
            </a:r>
            <a:endParaRPr lang="en-US" sz="1100" dirty="0"/>
          </a:p>
          <a:p>
            <a:pPr marL="152400" indent="-152400">
              <a:lnSpc>
                <a:spcPct val="100000"/>
              </a:lnSpc>
              <a:spcAft>
                <a:spcPts val="500"/>
              </a:spcAft>
              <a:buSzPct val="100000"/>
              <a:buChar char="–"/>
            </a:pPr>
            <a:r>
              <a:rPr lang="en-US" sz="1100" dirty="0">
                <a:solidFill>
                  <a:srgbClr val="ECECEC"/>
                </a:solidFill>
                <a:latin typeface="Calibri" pitchFamily="34" charset="0"/>
                <a:ea typeface="Calibri" pitchFamily="34" charset="-122"/>
                <a:cs typeface="Calibri" pitchFamily="34" charset="-120"/>
              </a:rPr>
              <a:t>Session scheduling</a:t>
            </a:r>
            <a:endParaRPr lang="en-US" sz="1100" dirty="0"/>
          </a:p>
          <a:p>
            <a:pPr marL="152400" indent="-152400">
              <a:lnSpc>
                <a:spcPct val="100000"/>
              </a:lnSpc>
              <a:spcAft>
                <a:spcPts val="500"/>
              </a:spcAft>
              <a:buSzPct val="100000"/>
              <a:buChar char="–"/>
            </a:pPr>
            <a:r>
              <a:rPr lang="en-US" sz="1100" dirty="0">
                <a:solidFill>
                  <a:srgbClr val="ECECEC"/>
                </a:solidFill>
                <a:latin typeface="Calibri" pitchFamily="34" charset="0"/>
                <a:ea typeface="Calibri" pitchFamily="34" charset="-122"/>
                <a:cs typeface="Calibri" pitchFamily="34" charset="-120"/>
              </a:rPr>
              <a:t>Auction uncross</a:t>
            </a:r>
            <a:endParaRPr lang="en-US" sz="1100" dirty="0"/>
          </a:p>
        </p:txBody>
      </p:sp>
      <p:sp>
        <p:nvSpPr>
          <p:cNvPr id="9" name="Text 6"/>
          <p:cNvSpPr/>
          <p:nvPr/>
        </p:nvSpPr>
        <p:spPr>
          <a:xfrm>
            <a:off x="2907792" y="3639312"/>
            <a:ext cx="2103120" cy="128016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ECECEC"/>
                </a:solidFill>
                <a:latin typeface="Calibri" pitchFamily="34" charset="0"/>
                <a:ea typeface="Calibri" pitchFamily="34" charset="-122"/>
                <a:cs typeface="Calibri" pitchFamily="34" charset="-120"/>
              </a:rPr>
              <a:t>Persistence &amp; analytics</a:t>
            </a:r>
            <a:endParaRPr lang="en-US" sz="1100" dirty="0"/>
          </a:p>
          <a:p>
            <a:pPr marL="152400" indent="-152400">
              <a:lnSpc>
                <a:spcPct val="100000"/>
              </a:lnSpc>
              <a:spcAft>
                <a:spcPts val="500"/>
              </a:spcAft>
              <a:buSzPct val="100000"/>
              <a:buChar char="–"/>
            </a:pPr>
            <a:r>
              <a:rPr lang="en-US" sz="1100" dirty="0">
                <a:solidFill>
                  <a:srgbClr val="ECECEC"/>
                </a:solidFill>
                <a:latin typeface="Calibri" pitchFamily="34" charset="0"/>
                <a:ea typeface="Calibri" pitchFamily="34" charset="-122"/>
                <a:cs typeface="Calibri" pitchFamily="34" charset="-120"/>
              </a:rPr>
              <a:t>Observability &amp; clearing</a:t>
            </a:r>
            <a:endParaRPr lang="en-US" sz="1100" dirty="0"/>
          </a:p>
          <a:p>
            <a:pPr marL="152400" indent="-152400">
              <a:lnSpc>
                <a:spcPct val="100000"/>
              </a:lnSpc>
              <a:spcAft>
                <a:spcPts val="500"/>
              </a:spcAft>
              <a:buSzPct val="100000"/>
              <a:buChar char="–"/>
            </a:pPr>
            <a:r>
              <a:rPr lang="en-US" sz="1100" dirty="0">
                <a:solidFill>
                  <a:srgbClr val="ECECEC"/>
                </a:solidFill>
                <a:latin typeface="Calibri" pitchFamily="34" charset="0"/>
                <a:ea typeface="Calibri" pitchFamily="34" charset="-122"/>
                <a:cs typeface="Calibri" pitchFamily="34" charset="-120"/>
              </a:rPr>
              <a:t>Known limitations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08 · CONFIGURATION</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a:solidFill>
                  <a:srgbClr val="ECECEC"/>
                </a:solidFill>
                <a:latin typeface="Arial" pitchFamily="34" charset="0"/>
                <a:ea typeface="Arial" pitchFamily="34" charset="-122"/>
                <a:cs typeface="Arial" pitchFamily="34" charset="-120"/>
              </a:rPr>
              <a:t>The </a:t>
            </a:r>
            <a:r>
              <a:rPr lang="en-US" sz="2900" b="1" dirty="0">
                <a:solidFill>
                  <a:srgbClr val="ECECEC"/>
                </a:solidFill>
                <a:latin typeface="Arial" pitchFamily="34" charset="0"/>
                <a:ea typeface="Arial" pitchFamily="34" charset="-122"/>
                <a:cs typeface="Arial" pitchFamily="34" charset="-120"/>
              </a:rPr>
              <a:t>engine </a:t>
            </a:r>
            <a:r>
              <a:rPr lang="en-US" sz="2900" b="1">
                <a:solidFill>
                  <a:srgbClr val="ECECEC"/>
                </a:solidFill>
                <a:latin typeface="Arial" pitchFamily="34" charset="0"/>
                <a:ea typeface="Arial" pitchFamily="34" charset="-122"/>
                <a:cs typeface="Arial" pitchFamily="34" charset="-120"/>
              </a:rPr>
              <a:t>reads a compiled artifact</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481328"/>
            <a:ext cx="3977640" cy="2788920"/>
          </a:xfrm>
          <a:prstGeom prst="roundRect">
            <a:avLst>
              <a:gd name="adj" fmla="val 1967"/>
            </a:avLst>
          </a:prstGeom>
          <a:solidFill>
            <a:srgbClr val="15151A"/>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file bar">
            <a:extLst>
              <a:ext uri="{C183D7F6-B498-43B3-948B-1728B52AA6E4}">
                <adec:decorative xmlns:adec="http://schemas.microsoft.com/office/drawing/2017/decorative" val="1"/>
              </a:ext>
            </a:extLst>
          </p:cNvPr>
          <p:cNvSpPr/>
          <p:nvPr/>
        </p:nvSpPr>
        <p:spPr>
          <a:xfrm>
            <a:off x="566928" y="1481328"/>
            <a:ext cx="3977640" cy="402336"/>
          </a:xfrm>
          <a:prstGeom prst="rect">
            <a:avLst/>
          </a:prstGeom>
          <a:solidFill>
            <a:srgbClr val="2E2E37"/>
          </a:solidFill>
          <a:ln/>
        </p:spPr>
        <p:txBody>
          <a:bodyPr/>
          <a:lstStyle/>
          <a:p>
            <a:endParaRPr lang="en-SE"/>
          </a:p>
        </p:txBody>
      </p:sp>
      <p:sp>
        <p:nvSpPr>
          <p:cNvPr id="7" name="dot">
            <a:extLst>
              <a:ext uri="{C183D7F6-B498-43B3-948B-1728B52AA6E4}">
                <adec:decorative xmlns:adec="http://schemas.microsoft.com/office/drawing/2017/decorative" val="1"/>
              </a:ext>
            </a:extLst>
          </p:cNvPr>
          <p:cNvSpPr/>
          <p:nvPr/>
        </p:nvSpPr>
        <p:spPr>
          <a:xfrm>
            <a:off x="731520" y="1627632"/>
            <a:ext cx="109728" cy="109728"/>
          </a:xfrm>
          <a:prstGeom prst="ellipse">
            <a:avLst/>
          </a:prstGeom>
          <a:solidFill>
            <a:srgbClr val="F2860D"/>
          </a:solidFill>
          <a:ln/>
        </p:spPr>
        <p:txBody>
          <a:bodyPr/>
          <a:lstStyle/>
          <a:p>
            <a:endParaRPr lang="en-SE"/>
          </a:p>
        </p:txBody>
      </p:sp>
      <p:sp>
        <p:nvSpPr>
          <p:cNvPr id="8" name="Text 6"/>
          <p:cNvSpPr/>
          <p:nvPr/>
        </p:nvSpPr>
        <p:spPr>
          <a:xfrm>
            <a:off x="950976" y="1481328"/>
            <a:ext cx="3429000" cy="402336"/>
          </a:xfrm>
          <a:prstGeom prst="rect">
            <a:avLst/>
          </a:prstGeom>
          <a:noFill/>
          <a:ln/>
        </p:spPr>
        <p:txBody>
          <a:bodyPr wrap="square" lIns="0" tIns="0" rIns="0" bIns="0" rtlCol="0" anchor="ctr"/>
          <a:lstStyle/>
          <a:p>
            <a:pPr marL="0" indent="0">
              <a:buNone/>
            </a:pPr>
            <a:r>
              <a:rPr lang="en-US" sz="1200" b="1" dirty="0">
                <a:solidFill>
                  <a:srgbClr val="ECECEC"/>
                </a:solidFill>
                <a:latin typeface="Courier New" pitchFamily="34" charset="0"/>
                <a:ea typeface="Courier New" pitchFamily="34" charset="-122"/>
                <a:cs typeface="Courier New" pitchFamily="34" charset="-120"/>
              </a:rPr>
              <a:t>engine_config.</a:t>
            </a:r>
            <a:r>
              <a:rPr lang="en-US" sz="1200" b="1">
                <a:solidFill>
                  <a:srgbClr val="ECECEC"/>
                </a:solidFill>
                <a:latin typeface="Courier New" pitchFamily="34" charset="0"/>
                <a:ea typeface="Courier New" pitchFamily="34" charset="-122"/>
                <a:cs typeface="Courier New" pitchFamily="34" charset="-120"/>
              </a:rPr>
              <a:t>json</a:t>
            </a:r>
            <a:endParaRPr lang="en-US" sz="1200" dirty="0"/>
          </a:p>
        </p:txBody>
      </p:sp>
      <p:sp>
        <p:nvSpPr>
          <p:cNvPr id="9" name="Text 7"/>
          <p:cNvSpPr/>
          <p:nvPr/>
        </p:nvSpPr>
        <p:spPr>
          <a:xfrm>
            <a:off x="822960" y="2029968"/>
            <a:ext cx="3520440" cy="2103120"/>
          </a:xfrm>
          <a:prstGeom prst="rect">
            <a:avLst/>
          </a:prstGeom>
          <a:noFill/>
          <a:ln/>
        </p:spPr>
        <p:txBody>
          <a:bodyPr wrap="square" lIns="0" tIns="0" rIns="0" bIns="0" rtlCol="0" anchor="t"/>
          <a:lstStyle/>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meta.schema_version</a:t>
            </a:r>
            <a:r>
              <a:rPr lang="en-US" sz="1150" dirty="0">
                <a:solidFill>
                  <a:srgbClr val="C3CDD6"/>
                </a:solidFill>
                <a:latin typeface="Courier New" pitchFamily="34" charset="0"/>
                <a:ea typeface="Courier New" pitchFamily="34" charset="-122"/>
                <a:cs typeface="Courier New" pitchFamily="34" charset="-120"/>
              </a:rPr>
              <a:t>:</a:t>
            </a:r>
            <a:r>
              <a:rPr lang="en-US" sz="1150">
                <a:solidFill>
                  <a:srgbClr val="C3CDD6"/>
                </a:solidFill>
                <a:latin typeface="Courier New" pitchFamily="34" charset="0"/>
                <a:ea typeface="Courier New" pitchFamily="34" charset="-122"/>
                <a:cs typeface="Courier New" pitchFamily="34" charset="-120"/>
              </a:rPr>
              <a:t> 3</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a:t>
            </a:r>
            <a:r>
              <a:rPr lang="en-US" sz="1150" dirty="0">
                <a:solidFill>
                  <a:srgbClr val="C3CDD6"/>
                </a:solidFill>
                <a:latin typeface="Courier New" pitchFamily="34" charset="0"/>
                <a:ea typeface="Courier New" pitchFamily="34" charset="-122"/>
                <a:cs typeface="Courier New" pitchFamily="34" charset="-120"/>
              </a:rPr>
              <a:t>.</a:t>
            </a:r>
            <a:r>
              <a:rPr lang="en-US" sz="1150">
                <a:solidFill>
                  <a:srgbClr val="C3CDD6"/>
                </a:solidFill>
                <a:latin typeface="Courier New" pitchFamily="34" charset="0"/>
                <a:ea typeface="Courier New" pitchFamily="34" charset="-122"/>
                <a:cs typeface="Courier New" pitchFamily="34" charset="-120"/>
              </a:rPr>
              <a:t>compiler_version</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meta.compiled_at</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meta.source</a:t>
            </a:r>
            <a:r>
              <a:rPr lang="en-US" sz="1150" dirty="0">
                <a:solidFill>
                  <a:srgbClr val="C3CDD6"/>
                </a:solidFill>
                <a:latin typeface="Courier New" pitchFamily="34" charset="0"/>
                <a:ea typeface="Courier New" pitchFamily="34" charset="-122"/>
                <a:cs typeface="Courier New" pitchFamily="34" charset="-120"/>
              </a:rPr>
              <a:t>_</a:t>
            </a:r>
            <a:r>
              <a:rPr lang="en-US" sz="1150">
                <a:solidFill>
                  <a:srgbClr val="C3CDD6"/>
                </a:solidFill>
                <a:latin typeface="Courier New" pitchFamily="34" charset="0"/>
                <a:ea typeface="Courier New" pitchFamily="34" charset="-122"/>
                <a:cs typeface="Courier New" pitchFamily="34" charset="-120"/>
              </a:rPr>
              <a:t>path</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meta.source</a:t>
            </a:r>
            <a:r>
              <a:rPr lang="en-US" sz="1150" dirty="0">
                <a:solidFill>
                  <a:srgbClr val="C3CDD6"/>
                </a:solidFill>
                <a:latin typeface="Courier New" pitchFamily="34" charset="0"/>
                <a:ea typeface="Courier New" pitchFamily="34" charset="-122"/>
                <a:cs typeface="Courier New" pitchFamily="34" charset="-120"/>
              </a:rPr>
              <a:t>_</a:t>
            </a:r>
            <a:r>
              <a:rPr lang="en-US" sz="1150">
                <a:solidFill>
                  <a:srgbClr val="C3CDD6"/>
                </a:solidFill>
                <a:latin typeface="Courier New" pitchFamily="34" charset="0"/>
                <a:ea typeface="Courier New" pitchFamily="34" charset="-122"/>
                <a:cs typeface="Courier New" pitchFamily="34" charset="-120"/>
              </a:rPr>
              <a:t>sha256</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meta.content</a:t>
            </a:r>
            <a:r>
              <a:rPr lang="en-US" sz="1150" dirty="0">
                <a:solidFill>
                  <a:srgbClr val="C3CDD6"/>
                </a:solidFill>
                <a:latin typeface="Courier New" pitchFamily="34" charset="0"/>
                <a:ea typeface="Courier New" pitchFamily="34" charset="-122"/>
                <a:cs typeface="Courier New" pitchFamily="34" charset="-120"/>
              </a:rPr>
              <a:t>_</a:t>
            </a:r>
            <a:r>
              <a:rPr lang="en-US" sz="1150">
                <a:solidFill>
                  <a:srgbClr val="C3CDD6"/>
                </a:solidFill>
                <a:latin typeface="Courier New" pitchFamily="34" charset="0"/>
                <a:ea typeface="Courier New" pitchFamily="34" charset="-122"/>
                <a:cs typeface="Courier New" pitchFamily="34" charset="-120"/>
              </a:rPr>
              <a:t>sha256</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symbols</a:t>
            </a:r>
            <a:r>
              <a:rPr lang="en-US" sz="1150" dirty="0">
                <a:solidFill>
                  <a:srgbClr val="C3CDD6"/>
                </a:solidFill>
                <a:latin typeface="Courier New" pitchFamily="34" charset="0"/>
                <a:ea typeface="Courier New" pitchFamily="34" charset="-122"/>
                <a:cs typeface="Courier New" pitchFamily="34" charset="-120"/>
              </a:rPr>
              <a:t>:</a:t>
            </a:r>
            <a:endParaRPr lang="en-US" sz="1150">
              <a:solidFill>
                <a:srgbClr val="C3CDD6"/>
              </a:solidFill>
              <a:latin typeface="Courier New" pitchFamily="34" charset="0"/>
              <a:ea typeface="Courier New" pitchFamily="34" charset="-122"/>
              <a:cs typeface="Courier New" pitchFamily="34" charset="-120"/>
            </a:endParaRP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gateways.alf</a:t>
            </a:r>
            <a:r>
              <a:rPr lang="en-US" sz="1150" dirty="0">
                <a:solidFill>
                  <a:srgbClr val="C3CDD6"/>
                </a:solidFill>
                <a:latin typeface="Courier New" pitchFamily="34" charset="0"/>
                <a:ea typeface="Courier New" pitchFamily="34" charset="-122"/>
                <a:cs typeface="Courier New" pitchFamily="34" charset="-120"/>
              </a:rPr>
              <a:t>:</a:t>
            </a:r>
            <a:endParaRPr lang="en-US" sz="1150">
              <a:solidFill>
                <a:srgbClr val="C3CDD6"/>
              </a:solidFill>
              <a:latin typeface="Courier New" pitchFamily="34" charset="0"/>
              <a:ea typeface="Courier New" pitchFamily="34" charset="-122"/>
              <a:cs typeface="Courier New" pitchFamily="34" charset="-120"/>
            </a:endParaRP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risk</a:t>
            </a:r>
            <a:r>
              <a:rPr lang="en-US" sz="1150" dirty="0">
                <a:solidFill>
                  <a:srgbClr val="C3CDD6"/>
                </a:solidFill>
                <a:latin typeface="Courier New" pitchFamily="34" charset="0"/>
                <a:ea typeface="Courier New" pitchFamily="34" charset="-122"/>
                <a:cs typeface="Courier New" pitchFamily="34" charset="-120"/>
              </a:rPr>
              <a:t>_</a:t>
            </a:r>
            <a:r>
              <a:rPr lang="en-US" sz="1150">
                <a:solidFill>
                  <a:srgbClr val="C3CDD6"/>
                </a:solidFill>
                <a:latin typeface="Courier New" pitchFamily="34" charset="0"/>
                <a:ea typeface="Courier New" pitchFamily="34" charset="-122"/>
                <a:cs typeface="Courier New" pitchFamily="34" charset="-120"/>
              </a:rPr>
              <a:t>controls</a:t>
            </a:r>
            <a:r>
              <a:rPr lang="en-US" sz="1150" dirty="0">
                <a:solidFill>
                  <a:srgbClr val="C3CDD6"/>
                </a:solidFill>
                <a:latin typeface="Courier New" pitchFamily="34" charset="0"/>
                <a:ea typeface="Courier New" pitchFamily="34" charset="-122"/>
                <a:cs typeface="Courier New" pitchFamily="34" charset="-120"/>
              </a:rPr>
              <a:t>:</a:t>
            </a:r>
            <a:endParaRPr lang="en-US" sz="1150">
              <a:solidFill>
                <a:srgbClr val="C3CDD6"/>
              </a:solidFill>
              <a:latin typeface="Courier New" pitchFamily="34" charset="0"/>
              <a:ea typeface="Courier New" pitchFamily="34" charset="-122"/>
              <a:cs typeface="Courier New" pitchFamily="34" charset="-120"/>
            </a:endParaRP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 9 resolved sections</a:t>
            </a:r>
            <a:endParaRPr lang="en-US" sz="1150" dirty="0"/>
          </a:p>
        </p:txBody>
      </p:sp>
      <p:sp>
        <p:nvSpPr>
          <p:cNvPr id="10" name="Text 8"/>
          <p:cNvSpPr/>
          <p:nvPr/>
        </p:nvSpPr>
        <p:spPr>
          <a:xfrm>
            <a:off x="4828032" y="1463040"/>
            <a:ext cx="3749040" cy="274320"/>
          </a:xfrm>
          <a:prstGeom prst="rect">
            <a:avLst/>
          </a:prstGeom>
          <a:noFill/>
          <a:ln/>
        </p:spPr>
        <p:txBody>
          <a:bodyPr wrap="square" lIns="0" tIns="0" rIns="0" bIns="0" rtlCol="0" anchor="ctr"/>
          <a:lstStyle/>
          <a:p>
            <a:pPr marL="0" indent="0">
              <a:buNone/>
            </a:pPr>
            <a:r>
              <a:rPr lang="en-US" sz="1300" b="1">
                <a:solidFill>
                  <a:srgbClr val="F2860D"/>
                </a:solidFill>
                <a:latin typeface="Arial" pitchFamily="34" charset="0"/>
                <a:ea typeface="Arial" pitchFamily="34" charset="-122"/>
                <a:cs typeface="Arial" pitchFamily="34" charset="-120"/>
              </a:rPr>
              <a:t>Authored once, compiled once</a:t>
            </a:r>
            <a:endParaRPr lang="en-US" sz="1300" dirty="0"/>
          </a:p>
        </p:txBody>
      </p:sp>
      <p:sp>
        <p:nvSpPr>
          <p:cNvPr id="11" name="Text 9"/>
          <p:cNvSpPr/>
          <p:nvPr/>
        </p:nvSpPr>
        <p:spPr>
          <a:xfrm>
            <a:off x="4828032" y="1755648"/>
            <a:ext cx="3749040" cy="640080"/>
          </a:xfrm>
          <a:prstGeom prst="rect">
            <a:avLst/>
          </a:prstGeom>
          <a:noFill/>
          <a:ln/>
        </p:spPr>
        <p:txBody>
          <a:bodyPr wrap="square" lIns="0" tIns="0" rIns="0" bIns="0" rtlCol="0" anchor="t"/>
          <a:lstStyle/>
          <a:p>
            <a:pPr marL="0" indent="0">
              <a:lnSpc>
                <a:spcPct val="108000"/>
              </a:lnSpc>
              <a:buNone/>
            </a:pPr>
            <a:r>
              <a:rPr lang="en-US" sz="1100">
                <a:solidFill>
                  <a:srgbClr val="B4B4BE"/>
                </a:solidFill>
                <a:latin typeface="Calibri" pitchFamily="34" charset="0"/>
                <a:ea typeface="Calibri" pitchFamily="34" charset="-122"/>
                <a:cs typeface="Calibri" pitchFamily="34" charset="-120"/>
              </a:rPr>
              <a:t>You author engine</a:t>
            </a:r>
            <a:r>
              <a:rPr lang="en-US" sz="1100" dirty="0">
                <a:solidFill>
                  <a:srgbClr val="B4B4BE"/>
                </a:solidFill>
                <a:latin typeface="Calibri" pitchFamily="34" charset="0"/>
                <a:ea typeface="Calibri" pitchFamily="34" charset="-122"/>
                <a:cs typeface="Calibri" pitchFamily="34" charset="-120"/>
              </a:rPr>
              <a:t>_</a:t>
            </a:r>
            <a:r>
              <a:rPr lang="en-US" sz="1100">
                <a:solidFill>
                  <a:srgbClr val="B4B4BE"/>
                </a:solidFill>
                <a:latin typeface="Calibri" pitchFamily="34" charset="0"/>
                <a:ea typeface="Calibri" pitchFamily="34" charset="-122"/>
                <a:cs typeface="Calibri" pitchFamily="34" charset="-120"/>
              </a:rPr>
              <a:t>config.yaml; pm-config-deploy resolves every default once and installs /ref</a:t>
            </a:r>
            <a:r>
              <a:rPr lang="en-US" sz="1100" dirty="0">
                <a:solidFill>
                  <a:srgbClr val="B4B4BE"/>
                </a:solidFill>
                <a:latin typeface="Calibri" pitchFamily="34" charset="0"/>
                <a:ea typeface="Calibri" pitchFamily="34" charset="-122"/>
                <a:cs typeface="Calibri" pitchFamily="34" charset="-120"/>
              </a:rPr>
              <a:t>_</a:t>
            </a:r>
            <a:r>
              <a:rPr lang="en-US" sz="1100">
                <a:solidFill>
                  <a:srgbClr val="B4B4BE"/>
                </a:solidFill>
                <a:latin typeface="Calibri" pitchFamily="34" charset="0"/>
                <a:ea typeface="Calibri" pitchFamily="34" charset="-122"/>
                <a:cs typeface="Calibri" pitchFamily="34" charset="-120"/>
              </a:rPr>
              <a:t>data</a:t>
            </a:r>
            <a:r>
              <a:rPr lang="en-US" sz="1100" dirty="0">
                <a:solidFill>
                  <a:srgbClr val="B4B4BE"/>
                </a:solidFill>
                <a:latin typeface="Calibri" pitchFamily="34" charset="0"/>
                <a:ea typeface="Calibri" pitchFamily="34" charset="-122"/>
                <a:cs typeface="Calibri" pitchFamily="34" charset="-120"/>
              </a:rPr>
              <a:t>/</a:t>
            </a:r>
            <a:r>
              <a:rPr lang="en-US" sz="1100">
                <a:solidFill>
                  <a:srgbClr val="B4B4BE"/>
                </a:solidFill>
                <a:latin typeface="Calibri" pitchFamily="34" charset="0"/>
                <a:ea typeface="Calibri" pitchFamily="34" charset="-122"/>
                <a:cs typeface="Calibri" pitchFamily="34" charset="-120"/>
              </a:rPr>
              <a:t>engine</a:t>
            </a:r>
            <a:r>
              <a:rPr lang="en-US" sz="1100" dirty="0">
                <a:solidFill>
                  <a:srgbClr val="B4B4BE"/>
                </a:solidFill>
                <a:latin typeface="Calibri" pitchFamily="34" charset="0"/>
                <a:ea typeface="Calibri" pitchFamily="34" charset="-122"/>
                <a:cs typeface="Calibri" pitchFamily="34" charset="-120"/>
              </a:rPr>
              <a:t>_</a:t>
            </a:r>
            <a:r>
              <a:rPr lang="en-US" sz="1100">
                <a:solidFill>
                  <a:srgbClr val="B4B4BE"/>
                </a:solidFill>
                <a:latin typeface="Calibri" pitchFamily="34" charset="0"/>
                <a:ea typeface="Calibri" pitchFamily="34" charset="-122"/>
                <a:cs typeface="Calibri" pitchFamily="34" charset="-120"/>
              </a:rPr>
              <a:t>config.json — the only file a running process reads.</a:t>
            </a:r>
            <a:endParaRPr lang="en-US" sz="1100" dirty="0"/>
          </a:p>
        </p:txBody>
      </p:sp>
      <p:sp>
        <p:nvSpPr>
          <p:cNvPr id="12" name="Text 10"/>
          <p:cNvSpPr/>
          <p:nvPr/>
        </p:nvSpPr>
        <p:spPr>
          <a:xfrm>
            <a:off x="4828032" y="2487168"/>
            <a:ext cx="3749040" cy="274320"/>
          </a:xfrm>
          <a:prstGeom prst="rect">
            <a:avLst/>
          </a:prstGeom>
          <a:noFill/>
          <a:ln/>
        </p:spPr>
        <p:txBody>
          <a:bodyPr wrap="square" lIns="0" tIns="0" rIns="0" bIns="0" rtlCol="0" anchor="ctr"/>
          <a:lstStyle/>
          <a:p>
            <a:pPr marL="0" indent="0">
              <a:buNone/>
            </a:pPr>
            <a:r>
              <a:rPr lang="en-US" sz="1300" b="1">
                <a:solidFill>
                  <a:srgbClr val="C3CDD6"/>
                </a:solidFill>
                <a:latin typeface="Arial" pitchFamily="34" charset="0"/>
                <a:ea typeface="Arial" pitchFamily="34" charset="-122"/>
                <a:cs typeface="Arial" pitchFamily="34" charset="-120"/>
              </a:rPr>
              <a:t>Create → verify → deploy → load</a:t>
            </a:r>
            <a:endParaRPr lang="en-US" sz="1300" dirty="0"/>
          </a:p>
        </p:txBody>
      </p:sp>
      <p:sp>
        <p:nvSpPr>
          <p:cNvPr id="13" name="card">
            <a:extLst>
              <a:ext uri="{C183D7F6-B498-43B3-948B-1728B52AA6E4}">
                <adec:decorative xmlns:adec="http://schemas.microsoft.com/office/drawing/2017/decorative" val="1"/>
              </a:ext>
            </a:extLst>
          </p:cNvPr>
          <p:cNvSpPr/>
          <p:nvPr/>
        </p:nvSpPr>
        <p:spPr>
          <a:xfrm>
            <a:off x="4828032" y="279806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14" name="layer accent">
            <a:extLst>
              <a:ext uri="{C183D7F6-B498-43B3-948B-1728B52AA6E4}">
                <adec:decorative xmlns:adec="http://schemas.microsoft.com/office/drawing/2017/decorative" val="1"/>
              </a:ext>
            </a:extLst>
          </p:cNvPr>
          <p:cNvSpPr/>
          <p:nvPr/>
        </p:nvSpPr>
        <p:spPr>
          <a:xfrm>
            <a:off x="4828032" y="2798064"/>
            <a:ext cx="54864" cy="384048"/>
          </a:xfrm>
          <a:prstGeom prst="rect">
            <a:avLst/>
          </a:prstGeom>
          <a:solidFill>
            <a:srgbClr val="F2860D"/>
          </a:solidFill>
          <a:ln/>
        </p:spPr>
        <p:txBody>
          <a:bodyPr/>
          <a:lstStyle/>
          <a:p>
            <a:endParaRPr lang="en-SE"/>
          </a:p>
        </p:txBody>
      </p:sp>
      <p:sp>
        <p:nvSpPr>
          <p:cNvPr id="15" name="Text 13"/>
          <p:cNvSpPr/>
          <p:nvPr/>
        </p:nvSpPr>
        <p:spPr>
          <a:xfrm>
            <a:off x="5010912" y="279806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pm-config-gen</a:t>
            </a:r>
            <a:endParaRPr lang="en-US" sz="1100" dirty="0"/>
          </a:p>
        </p:txBody>
      </p:sp>
      <p:sp>
        <p:nvSpPr>
          <p:cNvPr id="16" name="Text 14"/>
          <p:cNvSpPr/>
          <p:nvPr/>
        </p:nvSpPr>
        <p:spPr>
          <a:xfrm>
            <a:off x="6890004" y="279806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1 · AUTHOR</a:t>
            </a:r>
            <a:endParaRPr lang="en-US" sz="1050" dirty="0"/>
          </a:p>
        </p:txBody>
      </p:sp>
      <p:sp>
        <p:nvSpPr>
          <p:cNvPr id="17" name="card">
            <a:extLst>
              <a:ext uri="{C183D7F6-B498-43B3-948B-1728B52AA6E4}">
                <adec:decorative xmlns:adec="http://schemas.microsoft.com/office/drawing/2017/decorative" val="1"/>
              </a:ext>
            </a:extLst>
          </p:cNvPr>
          <p:cNvSpPr/>
          <p:nvPr/>
        </p:nvSpPr>
        <p:spPr>
          <a:xfrm>
            <a:off x="4828032" y="319430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18" name="layer accent">
            <a:extLst>
              <a:ext uri="{C183D7F6-B498-43B3-948B-1728B52AA6E4}">
                <adec:decorative xmlns:adec="http://schemas.microsoft.com/office/drawing/2017/decorative" val="1"/>
              </a:ext>
            </a:extLst>
          </p:cNvPr>
          <p:cNvSpPr/>
          <p:nvPr/>
        </p:nvSpPr>
        <p:spPr>
          <a:xfrm>
            <a:off x="4828032" y="3194304"/>
            <a:ext cx="54864" cy="384048"/>
          </a:xfrm>
          <a:prstGeom prst="rect">
            <a:avLst/>
          </a:prstGeom>
          <a:solidFill>
            <a:srgbClr val="F2860D"/>
          </a:solidFill>
          <a:ln/>
        </p:spPr>
        <p:txBody>
          <a:bodyPr/>
          <a:lstStyle/>
          <a:p>
            <a:endParaRPr lang="en-SE"/>
          </a:p>
        </p:txBody>
      </p:sp>
      <p:sp>
        <p:nvSpPr>
          <p:cNvPr id="19" name="Text 17"/>
          <p:cNvSpPr/>
          <p:nvPr/>
        </p:nvSpPr>
        <p:spPr>
          <a:xfrm>
            <a:off x="5010912" y="319430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pm-cverifier</a:t>
            </a:r>
            <a:endParaRPr lang="en-US" sz="1100" dirty="0"/>
          </a:p>
        </p:txBody>
      </p:sp>
      <p:sp>
        <p:nvSpPr>
          <p:cNvPr id="20" name="Text 18"/>
          <p:cNvSpPr/>
          <p:nvPr/>
        </p:nvSpPr>
        <p:spPr>
          <a:xfrm>
            <a:off x="6890004" y="319430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2 · VERIFY</a:t>
            </a:r>
            <a:endParaRPr lang="en-US" sz="1050" dirty="0"/>
          </a:p>
        </p:txBody>
      </p:sp>
      <p:sp>
        <p:nvSpPr>
          <p:cNvPr id="21" name="card">
            <a:extLst>
              <a:ext uri="{C183D7F6-B498-43B3-948B-1728B52AA6E4}">
                <adec:decorative xmlns:adec="http://schemas.microsoft.com/office/drawing/2017/decorative" val="1"/>
              </a:ext>
            </a:extLst>
          </p:cNvPr>
          <p:cNvSpPr/>
          <p:nvPr/>
        </p:nvSpPr>
        <p:spPr>
          <a:xfrm>
            <a:off x="4828032" y="359054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22" name="layer accent">
            <a:extLst>
              <a:ext uri="{C183D7F6-B498-43B3-948B-1728B52AA6E4}">
                <adec:decorative xmlns:adec="http://schemas.microsoft.com/office/drawing/2017/decorative" val="1"/>
              </a:ext>
            </a:extLst>
          </p:cNvPr>
          <p:cNvSpPr/>
          <p:nvPr/>
        </p:nvSpPr>
        <p:spPr>
          <a:xfrm>
            <a:off x="4828032" y="3590544"/>
            <a:ext cx="54864" cy="384048"/>
          </a:xfrm>
          <a:prstGeom prst="rect">
            <a:avLst/>
          </a:prstGeom>
          <a:solidFill>
            <a:srgbClr val="F2860D"/>
          </a:solidFill>
          <a:ln/>
        </p:spPr>
        <p:txBody>
          <a:bodyPr/>
          <a:lstStyle/>
          <a:p>
            <a:endParaRPr lang="en-SE"/>
          </a:p>
        </p:txBody>
      </p:sp>
      <p:sp>
        <p:nvSpPr>
          <p:cNvPr id="23" name="Text 21"/>
          <p:cNvSpPr/>
          <p:nvPr/>
        </p:nvSpPr>
        <p:spPr>
          <a:xfrm>
            <a:off x="5010912" y="359054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pm-config-deploy</a:t>
            </a:r>
            <a:endParaRPr lang="en-US" sz="1100" dirty="0"/>
          </a:p>
        </p:txBody>
      </p:sp>
      <p:sp>
        <p:nvSpPr>
          <p:cNvPr id="24" name="Text 22"/>
          <p:cNvSpPr/>
          <p:nvPr/>
        </p:nvSpPr>
        <p:spPr>
          <a:xfrm>
            <a:off x="6890004" y="359054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3 · DEPLOY</a:t>
            </a:r>
            <a:endParaRPr lang="en-US" sz="1050" dirty="0"/>
          </a:p>
        </p:txBody>
      </p:sp>
      <p:sp>
        <p:nvSpPr>
          <p:cNvPr id="25" name="card">
            <a:extLst>
              <a:ext uri="{C183D7F6-B498-43B3-948B-1728B52AA6E4}">
                <adec:decorative xmlns:adec="http://schemas.microsoft.com/office/drawing/2017/decorative" val="1"/>
              </a:ext>
            </a:extLst>
          </p:cNvPr>
          <p:cNvSpPr/>
          <p:nvPr/>
        </p:nvSpPr>
        <p:spPr>
          <a:xfrm>
            <a:off x="4828032" y="398678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26" name="layer accent">
            <a:extLst>
              <a:ext uri="{C183D7F6-B498-43B3-948B-1728B52AA6E4}">
                <adec:decorative xmlns:adec="http://schemas.microsoft.com/office/drawing/2017/decorative" val="1"/>
              </a:ext>
            </a:extLst>
          </p:cNvPr>
          <p:cNvSpPr/>
          <p:nvPr/>
        </p:nvSpPr>
        <p:spPr>
          <a:xfrm>
            <a:off x="4828032" y="3986784"/>
            <a:ext cx="54864" cy="384048"/>
          </a:xfrm>
          <a:prstGeom prst="rect">
            <a:avLst/>
          </a:prstGeom>
          <a:solidFill>
            <a:srgbClr val="F2860D"/>
          </a:solidFill>
          <a:ln/>
        </p:spPr>
        <p:txBody>
          <a:bodyPr/>
          <a:lstStyle/>
          <a:p>
            <a:endParaRPr lang="en-SE"/>
          </a:p>
        </p:txBody>
      </p:sp>
      <p:sp>
        <p:nvSpPr>
          <p:cNvPr id="27" name="Text 25"/>
          <p:cNvSpPr/>
          <p:nvPr/>
        </p:nvSpPr>
        <p:spPr>
          <a:xfrm>
            <a:off x="5010912" y="398678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pm-engine + gateways</a:t>
            </a:r>
            <a:endParaRPr lang="en-US" sz="1100" dirty="0"/>
          </a:p>
        </p:txBody>
      </p:sp>
      <p:sp>
        <p:nvSpPr>
          <p:cNvPr id="28" name="Text 26"/>
          <p:cNvSpPr/>
          <p:nvPr/>
        </p:nvSpPr>
        <p:spPr>
          <a:xfrm>
            <a:off x="6890004" y="398678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4 · LOAD</a:t>
            </a:r>
            <a:endParaRPr lang="en-US" sz="1050" dirty="0"/>
          </a:p>
        </p:txBody>
      </p:sp>
      <p:sp>
        <p:nvSpPr>
          <p:cNvPr id="29" name="Text 27"/>
          <p:cNvSpPr/>
          <p:nvPr/>
        </p:nvSpPr>
        <p:spPr>
          <a:xfrm>
            <a:off x="566928" y="4407408"/>
            <a:ext cx="8010144" cy="274320"/>
          </a:xfrm>
          <a:prstGeom prst="rect">
            <a:avLst/>
          </a:prstGeom>
          <a:noFill/>
          <a:ln/>
        </p:spPr>
        <p:txBody>
          <a:bodyPr wrap="square" lIns="0" tIns="0" rIns="0" bIns="0" rtlCol="0" anchor="ctr"/>
          <a:lstStyle/>
          <a:p>
            <a:pPr marL="0" indent="0">
              <a:buNone/>
            </a:pPr>
            <a:r>
              <a:rPr lang="en-US" sz="1050" i="1" dirty="0">
                <a:solidFill>
                  <a:srgbClr val="B4B4BE"/>
                </a:solidFill>
                <a:latin typeface="Calibri" pitchFamily="34" charset="0"/>
                <a:ea typeface="Calibri" pitchFamily="34" charset="-122"/>
                <a:cs typeface="Calibri" pitchFamily="34" charset="-120"/>
              </a:rPr>
              <a:t>No </a:t>
            </a:r>
            <a:r>
              <a:rPr lang="en-US" sz="1050" i="1">
                <a:solidFill>
                  <a:srgbClr val="B4B4BE"/>
                </a:solidFill>
                <a:latin typeface="Calibri" pitchFamily="34" charset="0"/>
                <a:ea typeface="Calibri" pitchFamily="34" charset="-122"/>
                <a:cs typeface="Calibri" pitchFamily="34" charset="-120"/>
              </a:rPr>
              <a:t>artifact </a:t>
            </a:r>
            <a:r>
              <a:rPr lang="en-US" sz="1050" i="1" dirty="0">
                <a:solidFill>
                  <a:srgbClr val="B4B4BE"/>
                </a:solidFill>
                <a:latin typeface="Calibri" pitchFamily="34" charset="0"/>
                <a:ea typeface="Calibri" pitchFamily="34" charset="-122"/>
                <a:cs typeface="Calibri" pitchFamily="34" charset="-120"/>
              </a:rPr>
              <a:t>→ </a:t>
            </a:r>
            <a:r>
              <a:rPr lang="en-US" sz="1050" i="1">
                <a:solidFill>
                  <a:srgbClr val="B4B4BE"/>
                </a:solidFill>
                <a:latin typeface="Calibri" pitchFamily="34" charset="0"/>
                <a:ea typeface="Calibri" pitchFamily="34" charset="-122"/>
                <a:cs typeface="Calibri" pitchFamily="34" charset="-120"/>
              </a:rPr>
              <a:t>pm-engine starts </a:t>
            </a:r>
            <a:r>
              <a:rPr lang="en-US" sz="1050" i="1" dirty="0">
                <a:solidFill>
                  <a:srgbClr val="B4B4BE"/>
                </a:solidFill>
                <a:latin typeface="Calibri" pitchFamily="34" charset="0"/>
                <a:ea typeface="Calibri" pitchFamily="34" charset="-122"/>
                <a:cs typeface="Calibri" pitchFamily="34" charset="-120"/>
              </a:rPr>
              <a:t>unrestricted</a:t>
            </a:r>
            <a:r>
              <a:rPr lang="en-US" sz="1050" i="1">
                <a:solidFill>
                  <a:srgbClr val="B4B4BE"/>
                </a:solidFill>
                <a:latin typeface="Calibri" pitchFamily="34" charset="0"/>
                <a:ea typeface="Calibri" pitchFamily="34" charset="-122"/>
                <a:cs typeface="Calibri" pitchFamily="34" charset="-120"/>
              </a:rPr>
              <a:t>: no allowlists,</a:t>
            </a:r>
            <a:r>
              <a:rPr lang="en-US" sz="1050" i="1" dirty="0">
                <a:solidFill>
                  <a:srgbClr val="B4B4BE"/>
                </a:solidFill>
                <a:latin typeface="Calibri" pitchFamily="34" charset="0"/>
                <a:ea typeface="Calibri" pitchFamily="34" charset="-122"/>
                <a:cs typeface="Calibri" pitchFamily="34" charset="-120"/>
              </a:rPr>
              <a:t> no </a:t>
            </a:r>
            <a:r>
              <a:rPr lang="en-US" sz="1050" i="1">
                <a:solidFill>
                  <a:srgbClr val="B4B4BE"/>
                </a:solidFill>
                <a:latin typeface="Calibri" pitchFamily="34" charset="0"/>
                <a:ea typeface="Calibri" pitchFamily="34" charset="-122"/>
                <a:cs typeface="Calibri" pitchFamily="34" charset="-120"/>
              </a:rPr>
              <a:t>risk levels</a:t>
            </a:r>
            <a:r>
              <a:rPr lang="en-US" sz="1050" i="1" dirty="0">
                <a:solidFill>
                  <a:srgbClr val="B4B4BE"/>
                </a:solidFill>
                <a:latin typeface="Calibri" pitchFamily="34" charset="0"/>
                <a:ea typeface="Calibri" pitchFamily="34" charset="-122"/>
                <a:cs typeface="Calibri" pitchFamily="34" charset="-120"/>
              </a:rPr>
              <a:t>, no seeds</a:t>
            </a:r>
            <a:r>
              <a:rPr lang="en-US" sz="1050" i="1">
                <a:solidFill>
                  <a:srgbClr val="B4B4BE"/>
                </a:solidFill>
                <a:latin typeface="Calibri" pitchFamily="34" charset="0"/>
                <a:ea typeface="Calibri" pitchFamily="34" charset="-122"/>
                <a:cs typeface="Calibri" pitchFamily="34" charset="-120"/>
              </a:rPr>
              <a:t>.</a:t>
            </a:r>
            <a:endParaRPr lang="en-US" sz="1050" dirty="0"/>
          </a:p>
        </p:txBody>
      </p:sp>
      <p:sp>
        <p:nvSpPr>
          <p:cNvPr id="31" name="Text 28"/>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32" name="Text 29"/>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Config toolchain">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08 · CONFIGURATION · TOOLING</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a:solidFill>
                  <a:srgbClr val="ECECEC"/>
                </a:solidFill>
                <a:latin typeface="Arial" pitchFamily="34" charset="0"/>
                <a:ea typeface="Arial" pitchFamily="34" charset="-122"/>
                <a:cs typeface="Arial" pitchFamily="34" charset="-120"/>
              </a:rPr>
              <a:t>From authored file to deployed artifact</a:t>
            </a:r>
            <a:endParaRPr lang="en-US" sz="2900"/>
          </a:p>
        </p:txBody>
      </p:sp>
      <p:sp>
        <p:nvSpPr>
          <p:cNvPr id="5" name="subtitle"/>
          <p:cNvSpPr/>
          <p:nvPr/>
        </p:nvSpPr>
        <p:spPr>
          <a:xfrm>
            <a:off x="566928" y="1330000"/>
            <a:ext cx="8010144" cy="300000"/>
          </a:xfrm>
          <a:prstGeom prst="rect">
            <a:avLst/>
          </a:prstGeom>
          <a:noFill/>
          <a:ln/>
        </p:spPr>
        <p:txBody>
          <a:bodyPr wrap="square" lIns="0" tIns="0" rIns="0" bIns="0" rtlCol="0" anchor="t"/>
          <a:lstStyle/>
          <a:p>
            <a:pPr marL="0" indent="0" algn="l">
              <a:lnSpc>
                <a:spcPct val="108000"/>
              </a:lnSpc>
              <a:buNone/>
            </a:pPr>
            <a:r>
              <a:rPr lang="en-US" sz="1400" kern="0" dirty="0">
                <a:solidFill>
                  <a:srgbClr val="B4B4BE"/>
                </a:solidFill>
                <a:latin typeface="Calibri" pitchFamily="34" charset="0"/>
                <a:ea typeface="Calibri" pitchFamily="34" charset="-122"/>
                <a:cs typeface="Calibri" pitchFamily="34" charset="-120"/>
              </a:rPr>
              <a:t>Three stages turn intent into a running market — author the YAML, prove it is valid, then compile and install it.</a:t>
            </a:r>
            <a:endParaRPr lang="en-US" sz="2000" dirty="0"/>
          </a:p>
        </p:txBody>
      </p:sp>
      <p:sp>
        <p:nvSpPr>
          <p:cNvPr id="6" name="card">
            <a:extLst>
              <a:ext uri="{C183D7F6-B498-43B3-948B-1728B52AA6E4}">
                <adec:decorative xmlns:adec="http://schemas.microsoft.com/office/drawing/2017/decorative" val="1"/>
              </a:ext>
            </a:extLst>
          </p:cNvPr>
          <p:cNvSpPr/>
          <p:nvPr/>
        </p:nvSpPr>
        <p:spPr>
          <a:xfrm>
            <a:off x="566928"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accent">
            <a:extLst>
              <a:ext uri="{C183D7F6-B498-43B3-948B-1728B52AA6E4}">
                <adec:decorative xmlns:adec="http://schemas.microsoft.com/office/drawing/2017/decorative" val="1"/>
              </a:ext>
            </a:extLst>
          </p:cNvPr>
          <p:cNvSpPr/>
          <p:nvPr/>
        </p:nvSpPr>
        <p:spPr>
          <a:xfrm>
            <a:off x="566928" y="1690000"/>
            <a:ext cx="2543381" cy="54864"/>
          </a:xfrm>
          <a:prstGeom prst="rect">
            <a:avLst/>
          </a:prstGeom>
          <a:solidFill>
            <a:srgbClr val="F2860D"/>
          </a:solidFill>
          <a:ln/>
        </p:spPr>
        <p:txBody>
          <a:bodyPr/>
          <a:lstStyle/>
          <a:p>
            <a:endParaRPr lang="en-SE"/>
          </a:p>
        </p:txBody>
      </p:sp>
      <p:sp>
        <p:nvSpPr>
          <p:cNvPr id="8" name="panel head"/>
          <p:cNvSpPr/>
          <p:nvPr/>
        </p:nvSpPr>
        <p:spPr>
          <a:xfrm>
            <a:off x="716928" y="1810000"/>
            <a:ext cx="2243381" cy="240000"/>
          </a:xfrm>
          <a:prstGeom prst="rect">
            <a:avLst/>
          </a:prstGeom>
          <a:noFill/>
          <a:ln/>
        </p:spPr>
        <p:txBody>
          <a:bodyPr wrap="square" lIns="0" tIns="0" rIns="0" bIns="0" rtlCol="0" anchor="t"/>
          <a:lstStyle/>
          <a:p>
            <a:pPr marL="0" indent="0" algn="l">
              <a:buNone/>
            </a:pPr>
            <a:r>
              <a:rPr lang="en-US" sz="1400" b="1" kern="0" spc="100" dirty="0">
                <a:solidFill>
                  <a:srgbClr val="F2860D"/>
                </a:solidFill>
                <a:latin typeface="Courier New" pitchFamily="34" charset="0"/>
                <a:ea typeface="Courier New" pitchFamily="34" charset="-122"/>
                <a:cs typeface="Courier New" pitchFamily="34" charset="-120"/>
              </a:rPr>
              <a:t>1 · AUTHOR</a:t>
            </a:r>
            <a:endParaRPr lang="en-US" sz="3200" dirty="0"/>
          </a:p>
        </p:txBody>
      </p:sp>
      <p:sp>
        <p:nvSpPr>
          <p:cNvPr id="9" name="panel body"/>
          <p:cNvSpPr/>
          <p:nvPr/>
        </p:nvSpPr>
        <p:spPr>
          <a:xfrm>
            <a:off x="716928"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100" b="1" kern="0" dirty="0">
                <a:solidFill>
                  <a:srgbClr val="F2860D"/>
                </a:solidFill>
                <a:latin typeface="Courier New" pitchFamily="34" charset="0"/>
                <a:ea typeface="Courier New" pitchFamily="34" charset="-122"/>
                <a:cs typeface="Courier New" pitchFamily="34" charset="-120"/>
              </a:rPr>
              <a:t>config-</a:t>
            </a:r>
            <a:r>
              <a:rPr lang="en-US" sz="1100" b="1" kern="0" dirty="0" err="1">
                <a:solidFill>
                  <a:srgbClr val="F2860D"/>
                </a:solidFill>
                <a:latin typeface="Courier New" pitchFamily="34" charset="0"/>
                <a:ea typeface="Courier New" pitchFamily="34" charset="-122"/>
                <a:cs typeface="Courier New" pitchFamily="34" charset="-120"/>
              </a:rPr>
              <a:t>gui</a:t>
            </a:r>
            <a:endParaRPr lang="en-US" sz="2400" dirty="0"/>
          </a:p>
          <a:p>
            <a:pPr marL="0" indent="0" algn="l">
              <a:lnSpc>
                <a:spcPct val="124000"/>
              </a:lnSpc>
              <a:spcBef>
                <a:spcPts val="200"/>
              </a:spcBef>
              <a:buNone/>
            </a:pPr>
            <a:r>
              <a:rPr lang="en-US" sz="1100" kern="0" dirty="0">
                <a:solidFill>
                  <a:srgbClr val="ECECEC"/>
                </a:solidFill>
                <a:latin typeface="Calibri" pitchFamily="34" charset="0"/>
                <a:ea typeface="Calibri" pitchFamily="34" charset="-122"/>
                <a:cs typeface="Calibri" pitchFamily="34" charset="-120"/>
              </a:rPr>
              <a:t>Browser builder with live</a:t>
            </a:r>
            <a:endParaRPr lang="en-US" sz="2400" dirty="0"/>
          </a:p>
          <a:p>
            <a:pPr marL="0" indent="0" algn="l">
              <a:lnSpc>
                <a:spcPct val="124000"/>
              </a:lnSpc>
              <a:spcBef>
                <a:spcPts val="200"/>
              </a:spcBef>
              <a:buNone/>
            </a:pPr>
            <a:r>
              <a:rPr lang="en-US" sz="1100" kern="0" dirty="0">
                <a:solidFill>
                  <a:srgbClr val="ECECEC"/>
                </a:solidFill>
                <a:latin typeface="Calibri" pitchFamily="34" charset="0"/>
                <a:ea typeface="Calibri" pitchFamily="34" charset="-122"/>
                <a:cs typeface="Calibri" pitchFamily="34" charset="-120"/>
              </a:rPr>
              <a:t>cross-field validation</a:t>
            </a:r>
            <a:endParaRPr lang="en-US" sz="2400" dirty="0"/>
          </a:p>
          <a:p>
            <a:pPr marL="0" indent="0" algn="l">
              <a:lnSpc>
                <a:spcPct val="124000"/>
              </a:lnSpc>
              <a:spcBef>
                <a:spcPts val="200"/>
              </a:spcBef>
              <a:buNone/>
            </a:pPr>
            <a:endParaRPr lang="en-US" sz="2400" dirty="0"/>
          </a:p>
          <a:p>
            <a:pPr marL="0" indent="0" algn="l">
              <a:lnSpc>
                <a:spcPct val="124000"/>
              </a:lnSpc>
              <a:spcBef>
                <a:spcPts val="200"/>
              </a:spcBef>
              <a:buNone/>
            </a:pPr>
            <a:r>
              <a:rPr lang="en-US" sz="1100" b="1" kern="0" dirty="0">
                <a:solidFill>
                  <a:srgbClr val="F2860D"/>
                </a:solidFill>
                <a:latin typeface="Courier New" pitchFamily="34" charset="0"/>
                <a:ea typeface="Courier New" pitchFamily="34" charset="-122"/>
                <a:cs typeface="Courier New" pitchFamily="34" charset="-120"/>
              </a:rPr>
              <a:t>pm-config-gen</a:t>
            </a:r>
            <a:endParaRPr lang="en-US" sz="2400" dirty="0"/>
          </a:p>
          <a:p>
            <a:pPr marL="0" indent="0" algn="l">
              <a:lnSpc>
                <a:spcPct val="124000"/>
              </a:lnSpc>
              <a:spcBef>
                <a:spcPts val="200"/>
              </a:spcBef>
              <a:buNone/>
            </a:pPr>
            <a:r>
              <a:rPr lang="en-US" sz="1100" kern="0" dirty="0">
                <a:solidFill>
                  <a:srgbClr val="ECECEC"/>
                </a:solidFill>
                <a:latin typeface="Calibri" pitchFamily="34" charset="0"/>
                <a:ea typeface="Calibri" pitchFamily="34" charset="-122"/>
                <a:cs typeface="Calibri" pitchFamily="34" charset="-120"/>
              </a:rPr>
              <a:t>CLI generator — --symbols,</a:t>
            </a:r>
            <a:endParaRPr lang="en-US" sz="2400" dirty="0"/>
          </a:p>
          <a:p>
            <a:pPr marL="0" indent="0" algn="l">
              <a:lnSpc>
                <a:spcPct val="124000"/>
              </a:lnSpc>
              <a:spcBef>
                <a:spcPts val="200"/>
              </a:spcBef>
              <a:buNone/>
            </a:pPr>
            <a:r>
              <a:rPr lang="en-US" sz="1100" kern="0" dirty="0">
                <a:solidFill>
                  <a:srgbClr val="ECECEC"/>
                </a:solidFill>
                <a:latin typeface="Calibri" pitchFamily="34" charset="0"/>
                <a:ea typeface="Calibri" pitchFamily="34" charset="-122"/>
                <a:cs typeface="Calibri" pitchFamily="34" charset="-120"/>
              </a:rPr>
              <a:t>--gateways, --schedule</a:t>
            </a:r>
            <a:endParaRPr lang="en-US" sz="2400" dirty="0"/>
          </a:p>
        </p:txBody>
      </p:sp>
      <p:sp>
        <p:nvSpPr>
          <p:cNvPr id="10" name="card">
            <a:extLst>
              <a:ext uri="{C183D7F6-B498-43B3-948B-1728B52AA6E4}">
                <adec:decorative xmlns:adec="http://schemas.microsoft.com/office/drawing/2017/decorative" val="1"/>
              </a:ext>
            </a:extLst>
          </p:cNvPr>
          <p:cNvSpPr/>
          <p:nvPr/>
        </p:nvSpPr>
        <p:spPr>
          <a:xfrm>
            <a:off x="3300309"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a:extLst>
              <a:ext uri="{C183D7F6-B498-43B3-948B-1728B52AA6E4}">
                <adec:decorative xmlns:adec="http://schemas.microsoft.com/office/drawing/2017/decorative" val="1"/>
              </a:ext>
            </a:extLst>
          </p:cNvPr>
          <p:cNvSpPr/>
          <p:nvPr/>
        </p:nvSpPr>
        <p:spPr>
          <a:xfrm>
            <a:off x="3300309" y="1690000"/>
            <a:ext cx="2543381" cy="54864"/>
          </a:xfrm>
          <a:prstGeom prst="rect">
            <a:avLst/>
          </a:prstGeom>
          <a:solidFill>
            <a:srgbClr val="5B9BF5"/>
          </a:solidFill>
          <a:ln/>
        </p:spPr>
        <p:txBody>
          <a:bodyPr/>
          <a:lstStyle/>
          <a:p>
            <a:endParaRPr lang="en-SE"/>
          </a:p>
        </p:txBody>
      </p:sp>
      <p:sp>
        <p:nvSpPr>
          <p:cNvPr id="12" name="panel head"/>
          <p:cNvSpPr/>
          <p:nvPr/>
        </p:nvSpPr>
        <p:spPr>
          <a:xfrm>
            <a:off x="3450309" y="1810000"/>
            <a:ext cx="2243381" cy="240000"/>
          </a:xfrm>
          <a:prstGeom prst="rect">
            <a:avLst/>
          </a:prstGeom>
          <a:noFill/>
          <a:ln/>
        </p:spPr>
        <p:txBody>
          <a:bodyPr wrap="square" lIns="0" tIns="0" rIns="0" bIns="0" rtlCol="0" anchor="t"/>
          <a:lstStyle/>
          <a:p>
            <a:pPr marL="0" indent="0" algn="l">
              <a:buNone/>
            </a:pPr>
            <a:r>
              <a:rPr lang="en-US" sz="1400" b="1" kern="0" spc="100">
                <a:solidFill>
                  <a:srgbClr val="5B9BF5"/>
                </a:solidFill>
                <a:latin typeface="Courier New" pitchFamily="34" charset="0"/>
                <a:ea typeface="Courier New" pitchFamily="34" charset="-122"/>
                <a:cs typeface="Courier New" pitchFamily="34" charset="-120"/>
              </a:rPr>
              <a:t>2 · VERIFY</a:t>
            </a:r>
            <a:endParaRPr lang="en-US" sz="3200"/>
          </a:p>
        </p:txBody>
      </p:sp>
      <p:sp>
        <p:nvSpPr>
          <p:cNvPr id="13" name="panel body"/>
          <p:cNvSpPr/>
          <p:nvPr/>
        </p:nvSpPr>
        <p:spPr>
          <a:xfrm>
            <a:off x="3450309"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100" b="1" kern="0">
                <a:solidFill>
                  <a:srgbClr val="5B9BF5"/>
                </a:solidFill>
                <a:latin typeface="Courier New" pitchFamily="34" charset="0"/>
                <a:ea typeface="Courier New" pitchFamily="34" charset="-122"/>
                <a:cs typeface="Courier New" pitchFamily="34" charset="-120"/>
              </a:rPr>
              <a:t>pm-cverifier</a:t>
            </a:r>
            <a:endParaRPr lang="en-US" sz="2400"/>
          </a:p>
          <a:p>
            <a:pPr marL="0" indent="0" algn="l">
              <a:lnSpc>
                <a:spcPct val="124000"/>
              </a:lnSpc>
              <a:spcBef>
                <a:spcPts val="200"/>
              </a:spcBef>
              <a:buNone/>
            </a:pPr>
            <a:r>
              <a:rPr lang="en-US" sz="1100" kern="0">
                <a:solidFill>
                  <a:srgbClr val="ECECEC"/>
                </a:solidFill>
                <a:latin typeface="Calibri" pitchFamily="34" charset="0"/>
                <a:ea typeface="Calibri" pitchFamily="34" charset="-122"/>
                <a:cs typeface="Calibri" pitchFamily="34" charset="-120"/>
              </a:rPr>
              <a:t>Read-only config checker</a:t>
            </a:r>
            <a:endParaRPr lang="en-US" sz="2400"/>
          </a:p>
          <a:p>
            <a:pPr marL="0" indent="0" algn="l">
              <a:lnSpc>
                <a:spcPct val="124000"/>
              </a:lnSpc>
              <a:spcBef>
                <a:spcPts val="200"/>
              </a:spcBef>
              <a:buNone/>
            </a:pPr>
            <a:r>
              <a:rPr lang="en-US" sz="1100" kern="0">
                <a:solidFill>
                  <a:srgbClr val="B4B4BE"/>
                </a:solidFill>
                <a:latin typeface="Calibri" pitchFamily="34" charset="0"/>
                <a:ea typeface="Calibri" pitchFamily="34" charset="-122"/>
                <a:cs typeface="Calibri" pitchFamily="34" charset="-120"/>
              </a:rPr>
              <a:t>Verdict: OK / WARNING / ERROR</a:t>
            </a:r>
            <a:endParaRPr lang="en-US" sz="2400"/>
          </a:p>
          <a:p>
            <a:pPr marL="0" indent="0" algn="l">
              <a:lnSpc>
                <a:spcPct val="124000"/>
              </a:lnSpc>
              <a:spcBef>
                <a:spcPts val="200"/>
              </a:spcBef>
              <a:buNone/>
            </a:pPr>
            <a:endParaRPr lang="en-US" sz="2400"/>
          </a:p>
          <a:p>
            <a:pPr marL="0" indent="0" algn="l">
              <a:lnSpc>
                <a:spcPct val="124000"/>
              </a:lnSpc>
              <a:spcBef>
                <a:spcPts val="200"/>
              </a:spcBef>
              <a:buNone/>
            </a:pPr>
            <a:r>
              <a:rPr lang="en-US" sz="1100" kern="0">
                <a:solidFill>
                  <a:srgbClr val="ECECEC"/>
                </a:solidFill>
                <a:latin typeface="Calibri" pitchFamily="34" charset="0"/>
                <a:ea typeface="Calibri" pitchFamily="34" charset="-122"/>
                <a:cs typeface="Calibri" pitchFamily="34" charset="-120"/>
              </a:rPr>
              <a:t>--strict fails on warnings</a:t>
            </a:r>
            <a:endParaRPr lang="en-US" sz="2400"/>
          </a:p>
          <a:p>
            <a:pPr marL="0" indent="0" algn="l">
              <a:lnSpc>
                <a:spcPct val="124000"/>
              </a:lnSpc>
              <a:spcBef>
                <a:spcPts val="200"/>
              </a:spcBef>
              <a:buNone/>
            </a:pPr>
            <a:r>
              <a:rPr lang="en-US" sz="1100" kern="0">
                <a:solidFill>
                  <a:srgbClr val="ECECEC"/>
                </a:solidFill>
                <a:latin typeface="Calibri" pitchFamily="34" charset="0"/>
                <a:ea typeface="Calibri" pitchFamily="34" charset="-122"/>
                <a:cs typeface="Calibri" pitchFamily="34" charset="-120"/>
              </a:rPr>
              <a:t>--format json for CI gates</a:t>
            </a:r>
            <a:endParaRPr lang="en-US" sz="2400"/>
          </a:p>
          <a:p>
            <a:pPr marL="0" indent="0" algn="l">
              <a:lnSpc>
                <a:spcPct val="124000"/>
              </a:lnSpc>
              <a:spcBef>
                <a:spcPts val="200"/>
              </a:spcBef>
              <a:buNone/>
            </a:pPr>
            <a:r>
              <a:rPr lang="en-US" sz="1100" kern="0">
                <a:solidFill>
                  <a:srgbClr val="B4B4BE"/>
                </a:solidFill>
                <a:latin typeface="Calibri" pitchFamily="34" charset="0"/>
                <a:ea typeface="Calibri" pitchFamily="34" charset="-122"/>
                <a:cs typeface="Calibri" pitchFamily="34" charset="-120"/>
              </a:rPr>
              <a:t>Prints a Risk Summary</a:t>
            </a:r>
            <a:endParaRPr lang="en-US" sz="2400"/>
          </a:p>
        </p:txBody>
      </p:sp>
      <p:sp>
        <p:nvSpPr>
          <p:cNvPr id="14" name="card">
            <a:extLst>
              <a:ext uri="{C183D7F6-B498-43B3-948B-1728B52AA6E4}">
                <adec:decorative xmlns:adec="http://schemas.microsoft.com/office/drawing/2017/decorative" val="1"/>
              </a:ext>
            </a:extLst>
          </p:cNvPr>
          <p:cNvSpPr/>
          <p:nvPr/>
        </p:nvSpPr>
        <p:spPr>
          <a:xfrm>
            <a:off x="6033690"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5" name="accent">
            <a:extLst>
              <a:ext uri="{C183D7F6-B498-43B3-948B-1728B52AA6E4}">
                <adec:decorative xmlns:adec="http://schemas.microsoft.com/office/drawing/2017/decorative" val="1"/>
              </a:ext>
            </a:extLst>
          </p:cNvPr>
          <p:cNvSpPr/>
          <p:nvPr/>
        </p:nvSpPr>
        <p:spPr>
          <a:xfrm>
            <a:off x="6033690" y="1690000"/>
            <a:ext cx="2543381" cy="54864"/>
          </a:xfrm>
          <a:prstGeom prst="rect">
            <a:avLst/>
          </a:prstGeom>
          <a:solidFill>
            <a:srgbClr val="5FC98E"/>
          </a:solidFill>
          <a:ln/>
        </p:spPr>
        <p:txBody>
          <a:bodyPr/>
          <a:lstStyle/>
          <a:p>
            <a:endParaRPr lang="en-SE"/>
          </a:p>
        </p:txBody>
      </p:sp>
      <p:sp>
        <p:nvSpPr>
          <p:cNvPr id="16" name="panel head"/>
          <p:cNvSpPr/>
          <p:nvPr/>
        </p:nvSpPr>
        <p:spPr>
          <a:xfrm>
            <a:off x="6183690" y="1810000"/>
            <a:ext cx="2243381" cy="240000"/>
          </a:xfrm>
          <a:prstGeom prst="rect">
            <a:avLst/>
          </a:prstGeom>
          <a:noFill/>
          <a:ln/>
        </p:spPr>
        <p:txBody>
          <a:bodyPr wrap="square" lIns="0" tIns="0" rIns="0" bIns="0" rtlCol="0" anchor="t"/>
          <a:lstStyle/>
          <a:p>
            <a:pPr marL="0" indent="0" algn="l">
              <a:buNone/>
            </a:pPr>
            <a:r>
              <a:rPr lang="en-US" sz="1400" b="1" kern="0" spc="100">
                <a:solidFill>
                  <a:srgbClr val="5FC98E"/>
                </a:solidFill>
                <a:latin typeface="Courier New" pitchFamily="34" charset="0"/>
                <a:ea typeface="Courier New" pitchFamily="34" charset="-122"/>
                <a:cs typeface="Courier New" pitchFamily="34" charset="-120"/>
              </a:rPr>
              <a:t>3 · DEPLOY</a:t>
            </a:r>
            <a:endParaRPr lang="en-US" sz="3200"/>
          </a:p>
        </p:txBody>
      </p:sp>
      <p:sp>
        <p:nvSpPr>
          <p:cNvPr id="17" name="panel body"/>
          <p:cNvSpPr/>
          <p:nvPr/>
        </p:nvSpPr>
        <p:spPr>
          <a:xfrm>
            <a:off x="6183690"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100" b="1" kern="0">
                <a:solidFill>
                  <a:srgbClr val="5FC98E"/>
                </a:solidFill>
                <a:latin typeface="Courier New" pitchFamily="34" charset="0"/>
                <a:ea typeface="Courier New" pitchFamily="34" charset="-122"/>
                <a:cs typeface="Courier New" pitchFamily="34" charset="-120"/>
              </a:rPr>
              <a:t>pm-config-deploy</a:t>
            </a:r>
            <a:endParaRPr lang="en-US" sz="2400"/>
          </a:p>
          <a:p>
            <a:pPr marL="0" indent="0" algn="l">
              <a:lnSpc>
                <a:spcPct val="124000"/>
              </a:lnSpc>
              <a:spcBef>
                <a:spcPts val="200"/>
              </a:spcBef>
              <a:buNone/>
            </a:pPr>
            <a:r>
              <a:rPr lang="en-US" sz="1100" kern="0">
                <a:solidFill>
                  <a:srgbClr val="ECECEC"/>
                </a:solidFill>
                <a:latin typeface="Calibri" pitchFamily="34" charset="0"/>
                <a:ea typeface="Calibri" pitchFamily="34" charset="-122"/>
                <a:cs typeface="Calibri" pitchFamily="34" charset="-120"/>
              </a:rPr>
              <a:t>Validates, resolves every</a:t>
            </a:r>
            <a:endParaRPr lang="en-US" sz="2400"/>
          </a:p>
          <a:p>
            <a:pPr marL="0" indent="0" algn="l">
              <a:lnSpc>
                <a:spcPct val="124000"/>
              </a:lnSpc>
              <a:spcBef>
                <a:spcPts val="200"/>
              </a:spcBef>
              <a:buNone/>
            </a:pPr>
            <a:r>
              <a:rPr lang="en-US" sz="1100" kern="0">
                <a:solidFill>
                  <a:srgbClr val="ECECEC"/>
                </a:solidFill>
                <a:latin typeface="Calibri" pitchFamily="34" charset="0"/>
                <a:ea typeface="Calibri" pitchFamily="34" charset="-122"/>
                <a:cs typeface="Calibri" pitchFamily="34" charset="-120"/>
              </a:rPr>
              <a:t>default, then installs the</a:t>
            </a:r>
            <a:endParaRPr lang="en-US" sz="2400"/>
          </a:p>
          <a:p>
            <a:pPr marL="0" indent="0" algn="l">
              <a:lnSpc>
                <a:spcPct val="124000"/>
              </a:lnSpc>
              <a:spcBef>
                <a:spcPts val="200"/>
              </a:spcBef>
              <a:buNone/>
            </a:pPr>
            <a:r>
              <a:rPr lang="en-US" sz="1100" kern="0">
                <a:solidFill>
                  <a:srgbClr val="ECECEC"/>
                </a:solidFill>
                <a:latin typeface="Calibri" pitchFamily="34" charset="0"/>
                <a:ea typeface="Calibri" pitchFamily="34" charset="-122"/>
                <a:cs typeface="Calibri" pitchFamily="34" charset="-120"/>
              </a:rPr>
              <a:t>artifact atomically</a:t>
            </a:r>
            <a:endParaRPr lang="en-US" sz="2400"/>
          </a:p>
          <a:p>
            <a:pPr marL="0" indent="0" algn="l">
              <a:lnSpc>
                <a:spcPct val="124000"/>
              </a:lnSpc>
              <a:spcBef>
                <a:spcPts val="200"/>
              </a:spcBef>
              <a:buNone/>
            </a:pPr>
            <a:endParaRPr lang="en-US" sz="2400"/>
          </a:p>
          <a:p>
            <a:pPr marL="0" indent="0" algn="l">
              <a:lnSpc>
                <a:spcPct val="124000"/>
              </a:lnSpc>
              <a:spcBef>
                <a:spcPts val="200"/>
              </a:spcBef>
              <a:buNone/>
            </a:pPr>
            <a:r>
              <a:rPr lang="en-US" sz="1100" kern="0">
                <a:solidFill>
                  <a:srgbClr val="B4B4BE"/>
                </a:solidFill>
                <a:latin typeface="Calibri" pitchFamily="34" charset="0"/>
                <a:ea typeface="Calibri" pitchFamily="34" charset="-122"/>
                <a:cs typeface="Calibri" pitchFamily="34" charset="-120"/>
              </a:rPr>
              <a:t>Restart a process to</a:t>
            </a:r>
            <a:endParaRPr lang="en-US" sz="2400"/>
          </a:p>
          <a:p>
            <a:pPr marL="0" indent="0" algn="l">
              <a:lnSpc>
                <a:spcPct val="124000"/>
              </a:lnSpc>
              <a:spcBef>
                <a:spcPts val="200"/>
              </a:spcBef>
              <a:buNone/>
            </a:pPr>
            <a:r>
              <a:rPr lang="en-US" sz="1100" kern="0">
                <a:solidFill>
                  <a:srgbClr val="B4B4BE"/>
                </a:solidFill>
                <a:latin typeface="Calibri" pitchFamily="34" charset="0"/>
                <a:ea typeface="Calibri" pitchFamily="34" charset="-122"/>
                <a:cs typeface="Calibri" pitchFamily="34" charset="-120"/>
              </a:rPr>
              <a:t>pick up a new deploy</a:t>
            </a:r>
            <a:endParaRPr lang="en-US" sz="2400"/>
          </a:p>
        </p:txBody>
      </p:sp>
      <p:sp>
        <p:nvSpPr>
          <p:cNvPr id="18" name="arrow">
            <a:extLst>
              <a:ext uri="{C183D7F6-B498-43B3-948B-1728B52AA6E4}">
                <adec:decorative xmlns:adec="http://schemas.microsoft.com/office/drawing/2017/decorative" val="1"/>
              </a:ext>
            </a:extLst>
          </p:cNvPr>
          <p:cNvSpPr/>
          <p:nvPr/>
        </p:nvSpPr>
        <p:spPr>
          <a:xfrm>
            <a:off x="3128309" y="2952500"/>
            <a:ext cx="150000" cy="0"/>
          </a:xfrm>
          <a:prstGeom prst="line">
            <a:avLst/>
          </a:prstGeom>
          <a:noFill/>
          <a:ln w="28575">
            <a:solidFill>
              <a:srgbClr val="B4B4BE"/>
            </a:solidFill>
            <a:prstDash val="solid"/>
            <a:round/>
            <a:tailEnd type="triangle" w="lg" len="lg"/>
          </a:ln>
        </p:spPr>
        <p:txBody>
          <a:bodyPr/>
          <a:lstStyle/>
          <a:p>
            <a:endParaRPr lang="en-SE"/>
          </a:p>
        </p:txBody>
      </p:sp>
      <p:sp>
        <p:nvSpPr>
          <p:cNvPr id="19" name="arrow">
            <a:extLst>
              <a:ext uri="{C183D7F6-B498-43B3-948B-1728B52AA6E4}">
                <adec:decorative xmlns:adec="http://schemas.microsoft.com/office/drawing/2017/decorative" val="1"/>
              </a:ext>
            </a:extLst>
          </p:cNvPr>
          <p:cNvSpPr/>
          <p:nvPr/>
        </p:nvSpPr>
        <p:spPr>
          <a:xfrm>
            <a:off x="5861690" y="2952500"/>
            <a:ext cx="150000" cy="0"/>
          </a:xfrm>
          <a:prstGeom prst="line">
            <a:avLst/>
          </a:prstGeom>
          <a:noFill/>
          <a:ln w="28575">
            <a:solidFill>
              <a:srgbClr val="B4B4BE"/>
            </a:solidFill>
            <a:prstDash val="solid"/>
            <a:round/>
            <a:tailEnd type="triangle" w="lg" len="lg"/>
          </a:ln>
        </p:spPr>
        <p:txBody>
          <a:bodyPr/>
          <a:lstStyle/>
          <a:p>
            <a:endParaRPr lang="en-SE"/>
          </a:p>
        </p:txBody>
      </p:sp>
      <p:sp>
        <p:nvSpPr>
          <p:cNvPr id="20" name="note band">
            <a:extLst>
              <a:ext uri="{C183D7F6-B498-43B3-948B-1728B52AA6E4}">
                <adec:decorative xmlns:adec="http://schemas.microsoft.com/office/drawing/2017/decorative" val="1"/>
              </a:ext>
            </a:extLst>
          </p:cNvPr>
          <p:cNvSpPr/>
          <p:nvPr/>
        </p:nvSpPr>
        <p:spPr>
          <a:xfrm>
            <a:off x="566928" y="4300000"/>
            <a:ext cx="8010144" cy="450000"/>
          </a:xfrm>
          <a:prstGeom prst="roundRect">
            <a:avLst>
              <a:gd name="adj" fmla="val 9000"/>
            </a:avLst>
          </a:prstGeom>
          <a:solidFill>
            <a:srgbClr val="202027"/>
          </a:solidFill>
          <a:ln w="12700">
            <a:solidFill>
              <a:srgbClr val="F2860D"/>
            </a:solidFill>
            <a:prstDash val="solid"/>
          </a:ln>
        </p:spPr>
        <p:txBody>
          <a:bodyPr/>
          <a:lstStyle/>
          <a:p>
            <a:endParaRPr lang="en-SE"/>
          </a:p>
        </p:txBody>
      </p:sp>
      <p:sp>
        <p:nvSpPr>
          <p:cNvPr id="21" name="note text"/>
          <p:cNvSpPr/>
          <p:nvPr/>
        </p:nvSpPr>
        <p:spPr>
          <a:xfrm>
            <a:off x="580571" y="4300000"/>
            <a:ext cx="7975599" cy="450000"/>
          </a:xfrm>
          <a:prstGeom prst="rect">
            <a:avLst/>
          </a:prstGeom>
          <a:noFill/>
          <a:ln/>
        </p:spPr>
        <p:txBody>
          <a:bodyPr wrap="square" lIns="0" tIns="0" rIns="0" bIns="0" rtlCol="0" anchor="ctr"/>
          <a:lstStyle/>
          <a:p>
            <a:pPr marL="0" indent="0" algn="l">
              <a:lnSpc>
                <a:spcPct val="104000"/>
              </a:lnSpc>
              <a:buNone/>
            </a:pPr>
            <a:r>
              <a:rPr lang="en-US" sz="1200" kern="0" dirty="0">
                <a:solidFill>
                  <a:srgbClr val="ECECEC"/>
                </a:solidFill>
                <a:latin typeface="Calibri" pitchFamily="34" charset="0"/>
                <a:ea typeface="Calibri" pitchFamily="34" charset="-122"/>
                <a:cs typeface="Calibri" pitchFamily="34" charset="-120"/>
              </a:rPr>
              <a:t>A deploy replaces the configuration without disturbing live processes - each pm- process picks up the new artifact at its next startup.</a:t>
            </a:r>
            <a:endParaRPr lang="en-US" sz="2800" dirty="0"/>
          </a:p>
        </p:txBody>
      </p:sp>
      <p:sp>
        <p:nvSpPr>
          <p:cNvPr id="22"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23"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14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08 · CONFIGURATION · VERIFIER</a:t>
            </a:r>
            <a:endParaRPr lang="en-US" sz="115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pm-</a:t>
            </a:r>
            <a:r>
              <a:rPr lang="en-US" sz="2900" b="1" dirty="0" err="1">
                <a:solidFill>
                  <a:srgbClr val="ECECEC"/>
                </a:solidFill>
                <a:latin typeface="Arial" pitchFamily="34" charset="0"/>
                <a:ea typeface="Arial" pitchFamily="34" charset="-122"/>
                <a:cs typeface="Arial" pitchFamily="34" charset="-120"/>
              </a:rPr>
              <a:t>cverifier</a:t>
            </a:r>
            <a:r>
              <a:rPr lang="en-US" sz="2900" b="1" dirty="0">
                <a:solidFill>
                  <a:srgbClr val="ECECEC"/>
                </a:solidFill>
                <a:latin typeface="Arial" pitchFamily="34" charset="0"/>
                <a:ea typeface="Arial" pitchFamily="34" charset="-122"/>
                <a:cs typeface="Arial" pitchFamily="34" charset="-120"/>
              </a:rPr>
              <a:t> - four layers, one pass</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481328"/>
            <a:ext cx="3977640" cy="2788920"/>
          </a:xfrm>
          <a:prstGeom prst="roundRect">
            <a:avLst>
              <a:gd name="adj" fmla="val 1967"/>
            </a:avLst>
          </a:prstGeom>
          <a:solidFill>
            <a:srgbClr val="15151A"/>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file bar">
            <a:extLst>
              <a:ext uri="{C183D7F6-B498-43B3-948B-1728B52AA6E4}">
                <adec:decorative xmlns:adec="http://schemas.microsoft.com/office/drawing/2017/decorative" val="1"/>
              </a:ext>
            </a:extLst>
          </p:cNvPr>
          <p:cNvSpPr/>
          <p:nvPr/>
        </p:nvSpPr>
        <p:spPr>
          <a:xfrm>
            <a:off x="566928" y="1481328"/>
            <a:ext cx="3977640" cy="402336"/>
          </a:xfrm>
          <a:prstGeom prst="rect">
            <a:avLst/>
          </a:prstGeom>
          <a:solidFill>
            <a:srgbClr val="2E2E37"/>
          </a:solidFill>
          <a:ln/>
        </p:spPr>
        <p:txBody>
          <a:bodyPr/>
          <a:lstStyle/>
          <a:p>
            <a:endParaRPr lang="en-SE"/>
          </a:p>
        </p:txBody>
      </p:sp>
      <p:sp>
        <p:nvSpPr>
          <p:cNvPr id="7" name="dot">
            <a:extLst>
              <a:ext uri="{C183D7F6-B498-43B3-948B-1728B52AA6E4}">
                <adec:decorative xmlns:adec="http://schemas.microsoft.com/office/drawing/2017/decorative" val="1"/>
              </a:ext>
            </a:extLst>
          </p:cNvPr>
          <p:cNvSpPr/>
          <p:nvPr/>
        </p:nvSpPr>
        <p:spPr>
          <a:xfrm>
            <a:off x="731520" y="1627632"/>
            <a:ext cx="109728" cy="109728"/>
          </a:xfrm>
          <a:prstGeom prst="ellipse">
            <a:avLst/>
          </a:prstGeom>
          <a:solidFill>
            <a:srgbClr val="F2860D"/>
          </a:solidFill>
          <a:ln/>
        </p:spPr>
        <p:txBody>
          <a:bodyPr/>
          <a:lstStyle/>
          <a:p>
            <a:endParaRPr lang="en-SE"/>
          </a:p>
        </p:txBody>
      </p:sp>
      <p:sp>
        <p:nvSpPr>
          <p:cNvPr id="8" name="Text 6"/>
          <p:cNvSpPr/>
          <p:nvPr/>
        </p:nvSpPr>
        <p:spPr>
          <a:xfrm>
            <a:off x="950976" y="1481328"/>
            <a:ext cx="3429000" cy="402336"/>
          </a:xfrm>
          <a:prstGeom prst="rect">
            <a:avLst/>
          </a:prstGeom>
          <a:noFill/>
          <a:ln/>
        </p:spPr>
        <p:txBody>
          <a:bodyPr wrap="square" lIns="0" tIns="0" rIns="0" bIns="0" rtlCol="0" anchor="ctr"/>
          <a:lstStyle/>
          <a:p>
            <a:pPr marL="0" indent="0">
              <a:buNone/>
            </a:pPr>
            <a:r>
              <a:rPr lang="en-US" sz="1200" b="1">
                <a:solidFill>
                  <a:srgbClr val="ECECEC"/>
                </a:solidFill>
                <a:latin typeface="Courier New" pitchFamily="34" charset="0"/>
                <a:ea typeface="Courier New" pitchFamily="34" charset="-122"/>
                <a:cs typeface="Courier New" pitchFamily="34" charset="-120"/>
              </a:rPr>
              <a:t>pm-cverifier</a:t>
            </a:r>
            <a:endParaRPr lang="en-US" sz="1200"/>
          </a:p>
        </p:txBody>
      </p:sp>
      <p:sp>
        <p:nvSpPr>
          <p:cNvPr id="9" name="Text 7"/>
          <p:cNvSpPr/>
          <p:nvPr/>
        </p:nvSpPr>
        <p:spPr>
          <a:xfrm>
            <a:off x="822960" y="2029968"/>
            <a:ext cx="3520440" cy="2103120"/>
          </a:xfrm>
          <a:prstGeom prst="rect">
            <a:avLst/>
          </a:prstGeom>
          <a:noFill/>
          <a:ln/>
        </p:spPr>
        <p:txBody>
          <a:bodyPr wrap="square" lIns="0" tIns="0" rIns="0" bIns="0" rtlCol="0" anchor="t"/>
          <a:lstStyle/>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--format text | json</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--level info | warn | error</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--strict  warnings fail</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--no-color</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exit 0  clean</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exit 1  warnings only</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exit 2  errors</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CI: --strict --format json</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Risk Summary always shown</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Read-only — safe any time</a:t>
            </a:r>
            <a:endParaRPr lang="en-US" sz="1150"/>
          </a:p>
        </p:txBody>
      </p:sp>
      <p:sp>
        <p:nvSpPr>
          <p:cNvPr id="10" name="Text 8"/>
          <p:cNvSpPr/>
          <p:nvPr/>
        </p:nvSpPr>
        <p:spPr>
          <a:xfrm>
            <a:off x="4828032" y="1463040"/>
            <a:ext cx="3749040" cy="274320"/>
          </a:xfrm>
          <a:prstGeom prst="rect">
            <a:avLst/>
          </a:prstGeom>
          <a:noFill/>
          <a:ln/>
        </p:spPr>
        <p:txBody>
          <a:bodyPr wrap="square" lIns="0" tIns="0" rIns="0" bIns="0" rtlCol="0" anchor="ctr"/>
          <a:lstStyle/>
          <a:p>
            <a:pPr marL="0" indent="0">
              <a:buNone/>
            </a:pPr>
            <a:r>
              <a:rPr lang="en-US" sz="1300" b="1">
                <a:solidFill>
                  <a:srgbClr val="F2860D"/>
                </a:solidFill>
                <a:latin typeface="Arial" pitchFamily="34" charset="0"/>
                <a:ea typeface="Arial" pitchFamily="34" charset="-122"/>
                <a:cs typeface="Arial" pitchFamily="34" charset="-120"/>
              </a:rPr>
              <a:t>Every problem in one report</a:t>
            </a:r>
            <a:endParaRPr lang="en-US" sz="1300"/>
          </a:p>
        </p:txBody>
      </p:sp>
      <p:sp>
        <p:nvSpPr>
          <p:cNvPr id="11" name="Text 9"/>
          <p:cNvSpPr/>
          <p:nvPr/>
        </p:nvSpPr>
        <p:spPr>
          <a:xfrm>
            <a:off x="4828032" y="1755648"/>
            <a:ext cx="3749040" cy="640080"/>
          </a:xfrm>
          <a:prstGeom prst="rect">
            <a:avLst/>
          </a:prstGeom>
          <a:noFill/>
          <a:ln/>
        </p:spPr>
        <p:txBody>
          <a:bodyPr wrap="square" lIns="0" tIns="0" rIns="0" bIns="0" rtlCol="0" anchor="t"/>
          <a:lstStyle/>
          <a:p>
            <a:pPr marL="0" indent="0">
              <a:lnSpc>
                <a:spcPct val="108000"/>
              </a:lnSpc>
              <a:buNone/>
            </a:pPr>
            <a:r>
              <a:rPr lang="en-US" sz="1100">
                <a:solidFill>
                  <a:srgbClr val="B4B4BE"/>
                </a:solidFill>
                <a:latin typeface="Calibri" pitchFamily="34" charset="0"/>
                <a:ea typeface="Calibri" pitchFamily="34" charset="-122"/>
                <a:cs typeface="Calibri" pitchFamily="34" charset="-120"/>
              </a:rPr>
              <a:t>The engine loader aborts on the first hard error. pm-cverifier reports them all, plus advisory warnings and a plain-English Risk Summary.</a:t>
            </a:r>
            <a:endParaRPr lang="en-US" sz="1100"/>
          </a:p>
        </p:txBody>
      </p:sp>
      <p:sp>
        <p:nvSpPr>
          <p:cNvPr id="12" name="Text 10"/>
          <p:cNvSpPr/>
          <p:nvPr/>
        </p:nvSpPr>
        <p:spPr>
          <a:xfrm>
            <a:off x="4828032" y="2487168"/>
            <a:ext cx="3749040" cy="274320"/>
          </a:xfrm>
          <a:prstGeom prst="rect">
            <a:avLst/>
          </a:prstGeom>
          <a:noFill/>
          <a:ln/>
        </p:spPr>
        <p:txBody>
          <a:bodyPr wrap="square" lIns="0" tIns="0" rIns="0" bIns="0" rtlCol="0" anchor="ctr"/>
          <a:lstStyle/>
          <a:p>
            <a:pPr marL="0" indent="0">
              <a:buNone/>
            </a:pPr>
            <a:r>
              <a:rPr lang="en-US" sz="1300" b="1">
                <a:solidFill>
                  <a:srgbClr val="C3CDD6"/>
                </a:solidFill>
                <a:latin typeface="Arial" pitchFamily="34" charset="0"/>
                <a:ea typeface="Arial" pitchFamily="34" charset="-122"/>
                <a:cs typeface="Arial" pitchFamily="34" charset="-120"/>
              </a:rPr>
              <a:t>Four sequential layers</a:t>
            </a:r>
            <a:endParaRPr lang="en-US" sz="1300"/>
          </a:p>
        </p:txBody>
      </p:sp>
      <p:sp>
        <p:nvSpPr>
          <p:cNvPr id="13" name="card">
            <a:extLst>
              <a:ext uri="{C183D7F6-B498-43B3-948B-1728B52AA6E4}">
                <adec:decorative xmlns:adec="http://schemas.microsoft.com/office/drawing/2017/decorative" val="1"/>
              </a:ext>
            </a:extLst>
          </p:cNvPr>
          <p:cNvSpPr/>
          <p:nvPr/>
        </p:nvSpPr>
        <p:spPr>
          <a:xfrm>
            <a:off x="4828032" y="279806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14" name="layer accent">
            <a:extLst>
              <a:ext uri="{C183D7F6-B498-43B3-948B-1728B52AA6E4}">
                <adec:decorative xmlns:adec="http://schemas.microsoft.com/office/drawing/2017/decorative" val="1"/>
              </a:ext>
            </a:extLst>
          </p:cNvPr>
          <p:cNvSpPr/>
          <p:nvPr/>
        </p:nvSpPr>
        <p:spPr>
          <a:xfrm>
            <a:off x="4828032" y="2798064"/>
            <a:ext cx="54864" cy="384048"/>
          </a:xfrm>
          <a:prstGeom prst="rect">
            <a:avLst/>
          </a:prstGeom>
          <a:solidFill>
            <a:srgbClr val="F2860D"/>
          </a:solidFill>
          <a:ln/>
        </p:spPr>
        <p:txBody>
          <a:bodyPr/>
          <a:lstStyle/>
          <a:p>
            <a:endParaRPr lang="en-SE"/>
          </a:p>
        </p:txBody>
      </p:sp>
      <p:sp>
        <p:nvSpPr>
          <p:cNvPr id="15" name="Text 13"/>
          <p:cNvSpPr/>
          <p:nvPr/>
        </p:nvSpPr>
        <p:spPr>
          <a:xfrm>
            <a:off x="5010912" y="279806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L1  YAML syntax</a:t>
            </a:r>
            <a:endParaRPr lang="en-US" sz="1100"/>
          </a:p>
        </p:txBody>
      </p:sp>
      <p:sp>
        <p:nvSpPr>
          <p:cNvPr id="16" name="Text 14"/>
          <p:cNvSpPr/>
          <p:nvPr/>
        </p:nvSpPr>
        <p:spPr>
          <a:xfrm>
            <a:off x="6890004" y="279806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Y001–Y004</a:t>
            </a:r>
            <a:endParaRPr lang="en-US" sz="1050"/>
          </a:p>
        </p:txBody>
      </p:sp>
      <p:sp>
        <p:nvSpPr>
          <p:cNvPr id="17" name="card">
            <a:extLst>
              <a:ext uri="{C183D7F6-B498-43B3-948B-1728B52AA6E4}">
                <adec:decorative xmlns:adec="http://schemas.microsoft.com/office/drawing/2017/decorative" val="1"/>
              </a:ext>
            </a:extLst>
          </p:cNvPr>
          <p:cNvSpPr/>
          <p:nvPr/>
        </p:nvSpPr>
        <p:spPr>
          <a:xfrm>
            <a:off x="4828032" y="319430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18" name="layer accent">
            <a:extLst>
              <a:ext uri="{C183D7F6-B498-43B3-948B-1728B52AA6E4}">
                <adec:decorative xmlns:adec="http://schemas.microsoft.com/office/drawing/2017/decorative" val="1"/>
              </a:ext>
            </a:extLst>
          </p:cNvPr>
          <p:cNvSpPr/>
          <p:nvPr/>
        </p:nvSpPr>
        <p:spPr>
          <a:xfrm>
            <a:off x="4828032" y="3194304"/>
            <a:ext cx="54864" cy="384048"/>
          </a:xfrm>
          <a:prstGeom prst="rect">
            <a:avLst/>
          </a:prstGeom>
          <a:solidFill>
            <a:srgbClr val="F2860D"/>
          </a:solidFill>
          <a:ln/>
        </p:spPr>
        <p:txBody>
          <a:bodyPr/>
          <a:lstStyle/>
          <a:p>
            <a:endParaRPr lang="en-SE"/>
          </a:p>
        </p:txBody>
      </p:sp>
      <p:sp>
        <p:nvSpPr>
          <p:cNvPr id="19" name="Text 17"/>
          <p:cNvSpPr/>
          <p:nvPr/>
        </p:nvSpPr>
        <p:spPr>
          <a:xfrm>
            <a:off x="5010912" y="319430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L2  Schema</a:t>
            </a:r>
            <a:endParaRPr lang="en-US" sz="1100"/>
          </a:p>
        </p:txBody>
      </p:sp>
      <p:sp>
        <p:nvSpPr>
          <p:cNvPr id="20" name="Text 18"/>
          <p:cNvSpPr/>
          <p:nvPr/>
        </p:nvSpPr>
        <p:spPr>
          <a:xfrm>
            <a:off x="6890004" y="319430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S001–S112</a:t>
            </a:r>
            <a:endParaRPr lang="en-US" sz="1050"/>
          </a:p>
        </p:txBody>
      </p:sp>
      <p:sp>
        <p:nvSpPr>
          <p:cNvPr id="21" name="card">
            <a:extLst>
              <a:ext uri="{C183D7F6-B498-43B3-948B-1728B52AA6E4}">
                <adec:decorative xmlns:adec="http://schemas.microsoft.com/office/drawing/2017/decorative" val="1"/>
              </a:ext>
            </a:extLst>
          </p:cNvPr>
          <p:cNvSpPr/>
          <p:nvPr/>
        </p:nvSpPr>
        <p:spPr>
          <a:xfrm>
            <a:off x="4828032" y="359054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22" name="layer accent">
            <a:extLst>
              <a:ext uri="{C183D7F6-B498-43B3-948B-1728B52AA6E4}">
                <adec:decorative xmlns:adec="http://schemas.microsoft.com/office/drawing/2017/decorative" val="1"/>
              </a:ext>
            </a:extLst>
          </p:cNvPr>
          <p:cNvSpPr/>
          <p:nvPr/>
        </p:nvSpPr>
        <p:spPr>
          <a:xfrm>
            <a:off x="4828032" y="3590544"/>
            <a:ext cx="54864" cy="384048"/>
          </a:xfrm>
          <a:prstGeom prst="rect">
            <a:avLst/>
          </a:prstGeom>
          <a:solidFill>
            <a:srgbClr val="F2860D"/>
          </a:solidFill>
          <a:ln/>
        </p:spPr>
        <p:txBody>
          <a:bodyPr/>
          <a:lstStyle/>
          <a:p>
            <a:endParaRPr lang="en-SE"/>
          </a:p>
        </p:txBody>
      </p:sp>
      <p:sp>
        <p:nvSpPr>
          <p:cNvPr id="23" name="Text 21"/>
          <p:cNvSpPr/>
          <p:nvPr/>
        </p:nvSpPr>
        <p:spPr>
          <a:xfrm>
            <a:off x="5010912" y="359054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L3  Semantic</a:t>
            </a:r>
            <a:endParaRPr lang="en-US" sz="1100"/>
          </a:p>
        </p:txBody>
      </p:sp>
      <p:sp>
        <p:nvSpPr>
          <p:cNvPr id="24" name="Text 22"/>
          <p:cNvSpPr/>
          <p:nvPr/>
        </p:nvSpPr>
        <p:spPr>
          <a:xfrm>
            <a:off x="6890004" y="359054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M001–M025</a:t>
            </a:r>
            <a:endParaRPr lang="en-US" sz="1050"/>
          </a:p>
        </p:txBody>
      </p:sp>
      <p:sp>
        <p:nvSpPr>
          <p:cNvPr id="25" name="card">
            <a:extLst>
              <a:ext uri="{C183D7F6-B498-43B3-948B-1728B52AA6E4}">
                <adec:decorative xmlns:adec="http://schemas.microsoft.com/office/drawing/2017/decorative" val="1"/>
              </a:ext>
            </a:extLst>
          </p:cNvPr>
          <p:cNvSpPr/>
          <p:nvPr/>
        </p:nvSpPr>
        <p:spPr>
          <a:xfrm>
            <a:off x="4828032" y="398678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26" name="layer accent">
            <a:extLst>
              <a:ext uri="{C183D7F6-B498-43B3-948B-1728B52AA6E4}">
                <adec:decorative xmlns:adec="http://schemas.microsoft.com/office/drawing/2017/decorative" val="1"/>
              </a:ext>
            </a:extLst>
          </p:cNvPr>
          <p:cNvSpPr/>
          <p:nvPr/>
        </p:nvSpPr>
        <p:spPr>
          <a:xfrm>
            <a:off x="4828032" y="3986784"/>
            <a:ext cx="54864" cy="384048"/>
          </a:xfrm>
          <a:prstGeom prst="rect">
            <a:avLst/>
          </a:prstGeom>
          <a:solidFill>
            <a:srgbClr val="F2860D"/>
          </a:solidFill>
          <a:ln/>
        </p:spPr>
        <p:txBody>
          <a:bodyPr/>
          <a:lstStyle/>
          <a:p>
            <a:endParaRPr lang="en-SE"/>
          </a:p>
        </p:txBody>
      </p:sp>
      <p:sp>
        <p:nvSpPr>
          <p:cNvPr id="27" name="Text 25"/>
          <p:cNvSpPr/>
          <p:nvPr/>
        </p:nvSpPr>
        <p:spPr>
          <a:xfrm>
            <a:off x="5010912" y="398678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L4  Completeness</a:t>
            </a:r>
            <a:endParaRPr lang="en-US" sz="1100"/>
          </a:p>
        </p:txBody>
      </p:sp>
      <p:sp>
        <p:nvSpPr>
          <p:cNvPr id="28" name="Text 26"/>
          <p:cNvSpPr/>
          <p:nvPr/>
        </p:nvSpPr>
        <p:spPr>
          <a:xfrm>
            <a:off x="6890004" y="398678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C001–C013</a:t>
            </a:r>
            <a:endParaRPr lang="en-US" sz="1050"/>
          </a:p>
        </p:txBody>
      </p:sp>
      <p:sp>
        <p:nvSpPr>
          <p:cNvPr id="29" name="Text 27"/>
          <p:cNvSpPr/>
          <p:nvPr/>
        </p:nvSpPr>
        <p:spPr>
          <a:xfrm>
            <a:off x="566928" y="4407408"/>
            <a:ext cx="8010144" cy="274320"/>
          </a:xfrm>
          <a:prstGeom prst="rect">
            <a:avLst/>
          </a:prstGeom>
          <a:noFill/>
          <a:ln/>
        </p:spPr>
        <p:txBody>
          <a:bodyPr wrap="square" lIns="0" tIns="0" rIns="0" bIns="0" rtlCol="0" anchor="ctr"/>
          <a:lstStyle/>
          <a:p>
            <a:pPr marL="0" indent="0">
              <a:buNone/>
            </a:pPr>
            <a:r>
              <a:rPr lang="en-US" sz="1050" i="1">
                <a:solidFill>
                  <a:srgbClr val="B4B4BE"/>
                </a:solidFill>
                <a:latin typeface="Calibri" pitchFamily="34" charset="0"/>
                <a:ea typeface="Calibri" pitchFamily="34" charset="-122"/>
                <a:cs typeface="Calibri" pitchFamily="34" charset="-120"/>
              </a:rPr>
              <a:t>Hard errors in L1 or L2 stop the later layers — fix the schema first, then re-run.</a:t>
            </a:r>
            <a:endParaRPr lang="en-US" sz="1050"/>
          </a:p>
        </p:txBody>
      </p:sp>
      <p:sp>
        <p:nvSpPr>
          <p:cNvPr id="31" name="Text 28"/>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a:solidFill>
                  <a:srgbClr val="B4B4BE"/>
                </a:solidFill>
                <a:latin typeface="Calibri" pitchFamily="34" charset="0"/>
                <a:ea typeface="Calibri" pitchFamily="34" charset="-122"/>
                <a:cs typeface="Calibri" pitchFamily="34" charset="-120"/>
              </a:rPr>
              <a:t>EduMatcher  ·  System Overview</a:t>
            </a:r>
            <a:endParaRPr lang="en-US" sz="900"/>
          </a:p>
        </p:txBody>
      </p:sp>
      <p:sp>
        <p:nvSpPr>
          <p:cNvPr id="32" name="Text 29"/>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15</a:t>
            </a:r>
            <a:endParaRPr lang="en-US" sz="950"/>
          </a:p>
        </p:txBody>
      </p:sp>
    </p:spTree>
    <p:extLst>
      <p:ext uri="{BB962C8B-B14F-4D97-AF65-F5344CB8AC3E}">
        <p14:creationId xmlns:p14="http://schemas.microsoft.com/office/powerpoint/2010/main" val="2408022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08 · CONFIGURATION · DEPLOY</a:t>
            </a:r>
            <a:endParaRPr lang="en-US" sz="115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pm-config-deploy - compile and install</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481328"/>
            <a:ext cx="3977640" cy="2788920"/>
          </a:xfrm>
          <a:prstGeom prst="roundRect">
            <a:avLst>
              <a:gd name="adj" fmla="val 1967"/>
            </a:avLst>
          </a:prstGeom>
          <a:solidFill>
            <a:srgbClr val="15151A"/>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file bar">
            <a:extLst>
              <a:ext uri="{C183D7F6-B498-43B3-948B-1728B52AA6E4}">
                <adec:decorative xmlns:adec="http://schemas.microsoft.com/office/drawing/2017/decorative" val="1"/>
              </a:ext>
            </a:extLst>
          </p:cNvPr>
          <p:cNvSpPr/>
          <p:nvPr/>
        </p:nvSpPr>
        <p:spPr>
          <a:xfrm>
            <a:off x="566928" y="1481328"/>
            <a:ext cx="3977640" cy="402336"/>
          </a:xfrm>
          <a:prstGeom prst="rect">
            <a:avLst/>
          </a:prstGeom>
          <a:solidFill>
            <a:srgbClr val="2E2E37"/>
          </a:solidFill>
          <a:ln/>
        </p:spPr>
        <p:txBody>
          <a:bodyPr/>
          <a:lstStyle/>
          <a:p>
            <a:endParaRPr lang="en-SE"/>
          </a:p>
        </p:txBody>
      </p:sp>
      <p:sp>
        <p:nvSpPr>
          <p:cNvPr id="7" name="dot">
            <a:extLst>
              <a:ext uri="{C183D7F6-B498-43B3-948B-1728B52AA6E4}">
                <adec:decorative xmlns:adec="http://schemas.microsoft.com/office/drawing/2017/decorative" val="1"/>
              </a:ext>
            </a:extLst>
          </p:cNvPr>
          <p:cNvSpPr/>
          <p:nvPr/>
        </p:nvSpPr>
        <p:spPr>
          <a:xfrm>
            <a:off x="731520" y="1627632"/>
            <a:ext cx="109728" cy="109728"/>
          </a:xfrm>
          <a:prstGeom prst="ellipse">
            <a:avLst/>
          </a:prstGeom>
          <a:solidFill>
            <a:srgbClr val="F2860D"/>
          </a:solidFill>
          <a:ln/>
        </p:spPr>
        <p:txBody>
          <a:bodyPr/>
          <a:lstStyle/>
          <a:p>
            <a:endParaRPr lang="en-SE"/>
          </a:p>
        </p:txBody>
      </p:sp>
      <p:sp>
        <p:nvSpPr>
          <p:cNvPr id="8" name="Text 6"/>
          <p:cNvSpPr/>
          <p:nvPr/>
        </p:nvSpPr>
        <p:spPr>
          <a:xfrm>
            <a:off x="950976" y="1481328"/>
            <a:ext cx="3429000" cy="402336"/>
          </a:xfrm>
          <a:prstGeom prst="rect">
            <a:avLst/>
          </a:prstGeom>
          <a:noFill/>
          <a:ln/>
        </p:spPr>
        <p:txBody>
          <a:bodyPr wrap="square" lIns="0" tIns="0" rIns="0" bIns="0" rtlCol="0" anchor="ctr"/>
          <a:lstStyle/>
          <a:p>
            <a:pPr marL="0" indent="0">
              <a:buNone/>
            </a:pPr>
            <a:r>
              <a:rPr lang="en-US" sz="1200" b="1">
                <a:solidFill>
                  <a:srgbClr val="ECECEC"/>
                </a:solidFill>
                <a:latin typeface="Courier New" pitchFamily="34" charset="0"/>
                <a:ea typeface="Courier New" pitchFamily="34" charset="-122"/>
                <a:cs typeface="Courier New" pitchFamily="34" charset="-120"/>
              </a:rPr>
              <a:t>engine_config.json</a:t>
            </a:r>
            <a:endParaRPr lang="en-US" sz="1200"/>
          </a:p>
        </p:txBody>
      </p:sp>
      <p:sp>
        <p:nvSpPr>
          <p:cNvPr id="9" name="Text 7"/>
          <p:cNvSpPr/>
          <p:nvPr/>
        </p:nvSpPr>
        <p:spPr>
          <a:xfrm>
            <a:off x="822960" y="2029968"/>
            <a:ext cx="3520440" cy="2103120"/>
          </a:xfrm>
          <a:prstGeom prst="rect">
            <a:avLst/>
          </a:prstGeom>
          <a:noFill/>
          <a:ln/>
        </p:spPr>
        <p:txBody>
          <a:bodyPr wrap="square" lIns="0" tIns="0" rIns="0" bIns="0" rtlCol="0" anchor="t"/>
          <a:lstStyle/>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pm-config-deploy cfg.yaml</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--check   validate only</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--show    deployed location</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meta.schema_version: 3</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meta.compiler_version</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meta.compiled_at</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meta.source_path</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meta.source_sha256</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meta.content_sha256</a:t>
            </a:r>
          </a:p>
          <a:p>
            <a:pPr marL="0" indent="0">
              <a:lnSpc>
                <a:spcPct val="100000"/>
              </a:lnSpc>
              <a:spcAft>
                <a:spcPts val="300"/>
              </a:spcAft>
              <a:buNone/>
            </a:pPr>
            <a:r>
              <a:rPr lang="en-US" sz="1150">
                <a:solidFill>
                  <a:srgbClr val="C3CDD6"/>
                </a:solidFill>
                <a:latin typeface="Courier New" pitchFamily="34" charset="0"/>
                <a:ea typeface="Courier New" pitchFamily="34" charset="-122"/>
                <a:cs typeface="Courier New" pitchFamily="34" charset="-120"/>
              </a:rPr>
              <a:t>hand edits are refused</a:t>
            </a:r>
            <a:endParaRPr lang="en-US" sz="1150"/>
          </a:p>
        </p:txBody>
      </p:sp>
      <p:sp>
        <p:nvSpPr>
          <p:cNvPr id="10" name="Text 8"/>
          <p:cNvSpPr/>
          <p:nvPr/>
        </p:nvSpPr>
        <p:spPr>
          <a:xfrm>
            <a:off x="4828032" y="1463040"/>
            <a:ext cx="3749040" cy="274320"/>
          </a:xfrm>
          <a:prstGeom prst="rect">
            <a:avLst/>
          </a:prstGeom>
          <a:noFill/>
          <a:ln/>
        </p:spPr>
        <p:txBody>
          <a:bodyPr wrap="square" lIns="0" tIns="0" rIns="0" bIns="0" rtlCol="0" anchor="ctr"/>
          <a:lstStyle/>
          <a:p>
            <a:pPr marL="0" indent="0">
              <a:buNone/>
            </a:pPr>
            <a:r>
              <a:rPr lang="en-US" sz="1300" b="1">
                <a:solidFill>
                  <a:srgbClr val="F2860D"/>
                </a:solidFill>
                <a:latin typeface="Arial" pitchFamily="34" charset="0"/>
                <a:ea typeface="Arial" pitchFamily="34" charset="-122"/>
                <a:cs typeface="Arial" pitchFamily="34" charset="-120"/>
              </a:rPr>
              <a:t>What compiling buys you</a:t>
            </a:r>
            <a:endParaRPr lang="en-US" sz="1300"/>
          </a:p>
        </p:txBody>
      </p:sp>
      <p:sp>
        <p:nvSpPr>
          <p:cNvPr id="11" name="Text 9"/>
          <p:cNvSpPr/>
          <p:nvPr/>
        </p:nvSpPr>
        <p:spPr>
          <a:xfrm>
            <a:off x="4828032" y="1755648"/>
            <a:ext cx="3749040" cy="640080"/>
          </a:xfrm>
          <a:prstGeom prst="rect">
            <a:avLst/>
          </a:prstGeom>
          <a:noFill/>
          <a:ln/>
        </p:spPr>
        <p:txBody>
          <a:bodyPr wrap="square" lIns="0" tIns="0" rIns="0" bIns="0" rtlCol="0" anchor="t"/>
          <a:lstStyle/>
          <a:p>
            <a:pPr marL="0" indent="0">
              <a:lnSpc>
                <a:spcPct val="108000"/>
              </a:lnSpc>
              <a:buNone/>
            </a:pPr>
            <a:r>
              <a:rPr lang="en-US" sz="1100">
                <a:solidFill>
                  <a:srgbClr val="B4B4BE"/>
                </a:solidFill>
                <a:latin typeface="Calibri" pitchFamily="34" charset="0"/>
                <a:ea typeface="Calibri" pitchFamily="34" charset="-122"/>
                <a:cs typeface="Calibri" pitchFamily="34" charset="-120"/>
              </a:rPr>
              <a:t>Defaults resolve once instead of in eight loaders that could drift — a two-key source compiles into nine complete sections.</a:t>
            </a:r>
            <a:endParaRPr lang="en-US" sz="1100"/>
          </a:p>
        </p:txBody>
      </p:sp>
      <p:sp>
        <p:nvSpPr>
          <p:cNvPr id="12" name="Text 10"/>
          <p:cNvSpPr/>
          <p:nvPr/>
        </p:nvSpPr>
        <p:spPr>
          <a:xfrm>
            <a:off x="4828032" y="2487168"/>
            <a:ext cx="3749040" cy="274320"/>
          </a:xfrm>
          <a:prstGeom prst="rect">
            <a:avLst/>
          </a:prstGeom>
          <a:noFill/>
          <a:ln/>
        </p:spPr>
        <p:txBody>
          <a:bodyPr wrap="square" lIns="0" tIns="0" rIns="0" bIns="0" rtlCol="0" anchor="ctr"/>
          <a:lstStyle/>
          <a:p>
            <a:pPr marL="0" indent="0">
              <a:buNone/>
            </a:pPr>
            <a:r>
              <a:rPr lang="en-US" sz="1300" b="1">
                <a:solidFill>
                  <a:srgbClr val="C3CDD6"/>
                </a:solidFill>
                <a:latin typeface="Arial" pitchFamily="34" charset="0"/>
                <a:ea typeface="Arial" pitchFamily="34" charset="-122"/>
                <a:cs typeface="Arial" pitchFamily="34" charset="-120"/>
              </a:rPr>
              <a:t>Four guarantees on every deploy</a:t>
            </a:r>
            <a:endParaRPr lang="en-US" sz="1300"/>
          </a:p>
        </p:txBody>
      </p:sp>
      <p:sp>
        <p:nvSpPr>
          <p:cNvPr id="13" name="card">
            <a:extLst>
              <a:ext uri="{C183D7F6-B498-43B3-948B-1728B52AA6E4}">
                <adec:decorative xmlns:adec="http://schemas.microsoft.com/office/drawing/2017/decorative" val="1"/>
              </a:ext>
            </a:extLst>
          </p:cNvPr>
          <p:cNvSpPr/>
          <p:nvPr/>
        </p:nvSpPr>
        <p:spPr>
          <a:xfrm>
            <a:off x="4828032" y="279806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14" name="layer accent">
            <a:extLst>
              <a:ext uri="{C183D7F6-B498-43B3-948B-1728B52AA6E4}">
                <adec:decorative xmlns:adec="http://schemas.microsoft.com/office/drawing/2017/decorative" val="1"/>
              </a:ext>
            </a:extLst>
          </p:cNvPr>
          <p:cNvSpPr/>
          <p:nvPr/>
        </p:nvSpPr>
        <p:spPr>
          <a:xfrm>
            <a:off x="4828032" y="2798064"/>
            <a:ext cx="54864" cy="384048"/>
          </a:xfrm>
          <a:prstGeom prst="rect">
            <a:avLst/>
          </a:prstGeom>
          <a:solidFill>
            <a:srgbClr val="F2860D"/>
          </a:solidFill>
          <a:ln/>
        </p:spPr>
        <p:txBody>
          <a:bodyPr/>
          <a:lstStyle/>
          <a:p>
            <a:endParaRPr lang="en-SE"/>
          </a:p>
        </p:txBody>
      </p:sp>
      <p:sp>
        <p:nvSpPr>
          <p:cNvPr id="15" name="Text 13"/>
          <p:cNvSpPr/>
          <p:nvPr/>
        </p:nvSpPr>
        <p:spPr>
          <a:xfrm>
            <a:off x="5010912" y="279806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Validated first</a:t>
            </a:r>
            <a:endParaRPr lang="en-US" sz="1100"/>
          </a:p>
        </p:txBody>
      </p:sp>
      <p:sp>
        <p:nvSpPr>
          <p:cNvPr id="16" name="Text 14"/>
          <p:cNvSpPr/>
          <p:nvPr/>
        </p:nvSpPr>
        <p:spPr>
          <a:xfrm>
            <a:off x="6890004" y="279806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all 4 layers</a:t>
            </a:r>
            <a:endParaRPr lang="en-US" sz="1050"/>
          </a:p>
        </p:txBody>
      </p:sp>
      <p:sp>
        <p:nvSpPr>
          <p:cNvPr id="17" name="card">
            <a:extLst>
              <a:ext uri="{C183D7F6-B498-43B3-948B-1728B52AA6E4}">
                <adec:decorative xmlns:adec="http://schemas.microsoft.com/office/drawing/2017/decorative" val="1"/>
              </a:ext>
            </a:extLst>
          </p:cNvPr>
          <p:cNvSpPr/>
          <p:nvPr/>
        </p:nvSpPr>
        <p:spPr>
          <a:xfrm>
            <a:off x="4828032" y="319430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18" name="layer accent">
            <a:extLst>
              <a:ext uri="{C183D7F6-B498-43B3-948B-1728B52AA6E4}">
                <adec:decorative xmlns:adec="http://schemas.microsoft.com/office/drawing/2017/decorative" val="1"/>
              </a:ext>
            </a:extLst>
          </p:cNvPr>
          <p:cNvSpPr/>
          <p:nvPr/>
        </p:nvSpPr>
        <p:spPr>
          <a:xfrm>
            <a:off x="4828032" y="3194304"/>
            <a:ext cx="54864" cy="384048"/>
          </a:xfrm>
          <a:prstGeom prst="rect">
            <a:avLst/>
          </a:prstGeom>
          <a:solidFill>
            <a:srgbClr val="F2860D"/>
          </a:solidFill>
          <a:ln/>
        </p:spPr>
        <p:txBody>
          <a:bodyPr/>
          <a:lstStyle/>
          <a:p>
            <a:endParaRPr lang="en-SE"/>
          </a:p>
        </p:txBody>
      </p:sp>
      <p:sp>
        <p:nvSpPr>
          <p:cNvPr id="19" name="Text 17"/>
          <p:cNvSpPr/>
          <p:nvPr/>
        </p:nvSpPr>
        <p:spPr>
          <a:xfrm>
            <a:off x="5010912" y="319430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Defaults resolved once</a:t>
            </a:r>
            <a:endParaRPr lang="en-US" sz="1100"/>
          </a:p>
        </p:txBody>
      </p:sp>
      <p:sp>
        <p:nvSpPr>
          <p:cNvPr id="20" name="Text 18"/>
          <p:cNvSpPr/>
          <p:nvPr/>
        </p:nvSpPr>
        <p:spPr>
          <a:xfrm>
            <a:off x="6890004" y="319430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9 sections</a:t>
            </a:r>
            <a:endParaRPr lang="en-US" sz="1050"/>
          </a:p>
        </p:txBody>
      </p:sp>
      <p:sp>
        <p:nvSpPr>
          <p:cNvPr id="21" name="card">
            <a:extLst>
              <a:ext uri="{C183D7F6-B498-43B3-948B-1728B52AA6E4}">
                <adec:decorative xmlns:adec="http://schemas.microsoft.com/office/drawing/2017/decorative" val="1"/>
              </a:ext>
            </a:extLst>
          </p:cNvPr>
          <p:cNvSpPr/>
          <p:nvPr/>
        </p:nvSpPr>
        <p:spPr>
          <a:xfrm>
            <a:off x="4828032" y="359054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22" name="layer accent">
            <a:extLst>
              <a:ext uri="{C183D7F6-B498-43B3-948B-1728B52AA6E4}">
                <adec:decorative xmlns:adec="http://schemas.microsoft.com/office/drawing/2017/decorative" val="1"/>
              </a:ext>
            </a:extLst>
          </p:cNvPr>
          <p:cNvSpPr/>
          <p:nvPr/>
        </p:nvSpPr>
        <p:spPr>
          <a:xfrm>
            <a:off x="4828032" y="3590544"/>
            <a:ext cx="54864" cy="384048"/>
          </a:xfrm>
          <a:prstGeom prst="rect">
            <a:avLst/>
          </a:prstGeom>
          <a:solidFill>
            <a:srgbClr val="F2860D"/>
          </a:solidFill>
          <a:ln/>
        </p:spPr>
        <p:txBody>
          <a:bodyPr/>
          <a:lstStyle/>
          <a:p>
            <a:endParaRPr lang="en-SE"/>
          </a:p>
        </p:txBody>
      </p:sp>
      <p:sp>
        <p:nvSpPr>
          <p:cNvPr id="23" name="Text 21"/>
          <p:cNvSpPr/>
          <p:nvPr/>
        </p:nvSpPr>
        <p:spPr>
          <a:xfrm>
            <a:off x="5010912" y="359054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Atomic install</a:t>
            </a:r>
            <a:endParaRPr lang="en-US" sz="1100"/>
          </a:p>
        </p:txBody>
      </p:sp>
      <p:sp>
        <p:nvSpPr>
          <p:cNvPr id="24" name="Text 22"/>
          <p:cNvSpPr/>
          <p:nvPr/>
        </p:nvSpPr>
        <p:spPr>
          <a:xfrm>
            <a:off x="6890004" y="359054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 source copy</a:t>
            </a:r>
            <a:endParaRPr lang="en-US" sz="1050"/>
          </a:p>
        </p:txBody>
      </p:sp>
      <p:sp>
        <p:nvSpPr>
          <p:cNvPr id="25" name="card">
            <a:extLst>
              <a:ext uri="{C183D7F6-B498-43B3-948B-1728B52AA6E4}">
                <adec:decorative xmlns:adec="http://schemas.microsoft.com/office/drawing/2017/decorative" val="1"/>
              </a:ext>
            </a:extLst>
          </p:cNvPr>
          <p:cNvSpPr/>
          <p:nvPr/>
        </p:nvSpPr>
        <p:spPr>
          <a:xfrm>
            <a:off x="4828032" y="3986784"/>
            <a:ext cx="3749040" cy="384048"/>
          </a:xfrm>
          <a:prstGeom prst="roundRect">
            <a:avLst>
              <a:gd name="adj" fmla="val 14286"/>
            </a:avLst>
          </a:prstGeom>
          <a:solidFill>
            <a:srgbClr val="26262D"/>
          </a:solidFill>
          <a:ln w="12700">
            <a:solidFill>
              <a:srgbClr val="3B3B46"/>
            </a:solidFill>
            <a:prstDash val="solid"/>
          </a:ln>
        </p:spPr>
        <p:txBody>
          <a:bodyPr/>
          <a:lstStyle/>
          <a:p>
            <a:endParaRPr lang="en-SE"/>
          </a:p>
        </p:txBody>
      </p:sp>
      <p:sp>
        <p:nvSpPr>
          <p:cNvPr id="26" name="layer accent">
            <a:extLst>
              <a:ext uri="{C183D7F6-B498-43B3-948B-1728B52AA6E4}">
                <adec:decorative xmlns:adec="http://schemas.microsoft.com/office/drawing/2017/decorative" val="1"/>
              </a:ext>
            </a:extLst>
          </p:cNvPr>
          <p:cNvSpPr/>
          <p:nvPr/>
        </p:nvSpPr>
        <p:spPr>
          <a:xfrm>
            <a:off x="4828032" y="3986784"/>
            <a:ext cx="54864" cy="384048"/>
          </a:xfrm>
          <a:prstGeom prst="rect">
            <a:avLst/>
          </a:prstGeom>
          <a:solidFill>
            <a:srgbClr val="F2860D"/>
          </a:solidFill>
          <a:ln/>
        </p:spPr>
        <p:txBody>
          <a:bodyPr/>
          <a:lstStyle/>
          <a:p>
            <a:endParaRPr lang="en-SE"/>
          </a:p>
        </p:txBody>
      </p:sp>
      <p:sp>
        <p:nvSpPr>
          <p:cNvPr id="27" name="Text 25"/>
          <p:cNvSpPr/>
          <p:nvPr/>
        </p:nvSpPr>
        <p:spPr>
          <a:xfrm>
            <a:off x="5010912" y="3986784"/>
            <a:ext cx="2249424" cy="384048"/>
          </a:xfrm>
          <a:prstGeom prst="rect">
            <a:avLst/>
          </a:prstGeom>
          <a:noFill/>
          <a:ln/>
        </p:spPr>
        <p:txBody>
          <a:bodyPr wrap="square" lIns="0" tIns="0" rIns="0" bIns="0" rtlCol="0" anchor="ctr"/>
          <a:lstStyle/>
          <a:p>
            <a:pPr marL="0" indent="0">
              <a:buNone/>
            </a:pPr>
            <a:r>
              <a:rPr lang="en-US" sz="1100" b="1">
                <a:solidFill>
                  <a:srgbClr val="ECECEC"/>
                </a:solidFill>
                <a:latin typeface="Calibri" pitchFamily="34" charset="0"/>
                <a:ea typeface="Calibri" pitchFamily="34" charset="-122"/>
                <a:cs typeface="Calibri" pitchFamily="34" charset="-120"/>
              </a:rPr>
              <a:t>Integrity checked</a:t>
            </a:r>
            <a:endParaRPr lang="en-US" sz="1100"/>
          </a:p>
        </p:txBody>
      </p:sp>
      <p:sp>
        <p:nvSpPr>
          <p:cNvPr id="28" name="Text 26"/>
          <p:cNvSpPr/>
          <p:nvPr/>
        </p:nvSpPr>
        <p:spPr>
          <a:xfrm>
            <a:off x="6890004" y="3986784"/>
            <a:ext cx="1574597" cy="384048"/>
          </a:xfrm>
          <a:prstGeom prst="rect">
            <a:avLst/>
          </a:prstGeom>
          <a:noFill/>
          <a:ln/>
        </p:spPr>
        <p:txBody>
          <a:bodyPr wrap="square" lIns="0" tIns="0" rIns="0" bIns="0" rtlCol="0" anchor="ctr"/>
          <a:lstStyle/>
          <a:p>
            <a:pPr marL="0" indent="0" algn="r">
              <a:buNone/>
            </a:pPr>
            <a:r>
              <a:rPr lang="en-US" sz="1050">
                <a:solidFill>
                  <a:srgbClr val="FF9E2C"/>
                </a:solidFill>
                <a:latin typeface="Courier New" pitchFamily="34" charset="0"/>
                <a:ea typeface="Courier New" pitchFamily="34" charset="-122"/>
                <a:cs typeface="Courier New" pitchFamily="34" charset="-120"/>
              </a:rPr>
              <a:t>sha256</a:t>
            </a:r>
            <a:endParaRPr lang="en-US" sz="1050"/>
          </a:p>
        </p:txBody>
      </p:sp>
      <p:sp>
        <p:nvSpPr>
          <p:cNvPr id="29" name="Text 27"/>
          <p:cNvSpPr/>
          <p:nvPr/>
        </p:nvSpPr>
        <p:spPr>
          <a:xfrm>
            <a:off x="566928" y="4407408"/>
            <a:ext cx="8010144" cy="274320"/>
          </a:xfrm>
          <a:prstGeom prst="rect">
            <a:avLst/>
          </a:prstGeom>
          <a:noFill/>
          <a:ln/>
        </p:spPr>
        <p:txBody>
          <a:bodyPr wrap="square" lIns="0" tIns="0" rIns="0" bIns="0" rtlCol="0" anchor="ctr"/>
          <a:lstStyle/>
          <a:p>
            <a:pPr marL="0" indent="0">
              <a:buNone/>
            </a:pPr>
            <a:r>
              <a:rPr lang="en-US" sz="1050" i="1">
                <a:solidFill>
                  <a:srgbClr val="B4B4BE"/>
                </a:solidFill>
                <a:latin typeface="Calibri" pitchFamily="34" charset="0"/>
                <a:ea typeface="Calibri" pitchFamily="34" charset="-122"/>
                <a:cs typeface="Calibri" pitchFamily="34" charset="-120"/>
              </a:rPr>
              <a:t>content_sha256 is recomputed on every load; an unknown schema_version is refused.</a:t>
            </a:r>
            <a:endParaRPr lang="en-US" sz="1050"/>
          </a:p>
        </p:txBody>
      </p:sp>
      <p:sp>
        <p:nvSpPr>
          <p:cNvPr id="31" name="Text 28"/>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a:solidFill>
                  <a:srgbClr val="B4B4BE"/>
                </a:solidFill>
                <a:latin typeface="Calibri" pitchFamily="34" charset="0"/>
                <a:ea typeface="Calibri" pitchFamily="34" charset="-122"/>
                <a:cs typeface="Calibri" pitchFamily="34" charset="-120"/>
              </a:rPr>
              <a:t>EduMatcher  ·  System Overview</a:t>
            </a:r>
            <a:endParaRPr lang="en-US" sz="900"/>
          </a:p>
        </p:txBody>
      </p:sp>
      <p:sp>
        <p:nvSpPr>
          <p:cNvPr id="32" name="Text 29"/>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16</a:t>
            </a:r>
            <a:endParaRPr lang="en-US" sz="950"/>
          </a:p>
        </p:txBody>
      </p:sp>
    </p:spTree>
    <p:extLst>
      <p:ext uri="{BB962C8B-B14F-4D97-AF65-F5344CB8AC3E}">
        <p14:creationId xmlns:p14="http://schemas.microsoft.com/office/powerpoint/2010/main" val="278673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Config toolchain">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08 · CONFIGURATION · CONSUMERS</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dirty="0">
                <a:solidFill>
                  <a:srgbClr val="ECECEC"/>
                </a:solidFill>
                <a:latin typeface="Arial" pitchFamily="34" charset="0"/>
                <a:ea typeface="Arial" pitchFamily="34" charset="-122"/>
                <a:cs typeface="Arial" pitchFamily="34" charset="-120"/>
              </a:rPr>
              <a:t>Who reads the artifact - and when</a:t>
            </a:r>
            <a:endParaRPr lang="en-US" sz="2900" dirty="0"/>
          </a:p>
        </p:txBody>
      </p:sp>
      <p:sp>
        <p:nvSpPr>
          <p:cNvPr id="5" name="subtitle"/>
          <p:cNvSpPr/>
          <p:nvPr/>
        </p:nvSpPr>
        <p:spPr>
          <a:xfrm>
            <a:off x="566928" y="1330000"/>
            <a:ext cx="8010144" cy="300000"/>
          </a:xfrm>
          <a:prstGeom prst="rect">
            <a:avLst/>
          </a:prstGeom>
          <a:noFill/>
          <a:ln/>
        </p:spPr>
        <p:txBody>
          <a:bodyPr wrap="square" lIns="0" tIns="0" rIns="0" bIns="0" rtlCol="0" anchor="t"/>
          <a:lstStyle/>
          <a:p>
            <a:pPr marL="0" indent="0" algn="l">
              <a:lnSpc>
                <a:spcPct val="108000"/>
              </a:lnSpc>
              <a:buNone/>
            </a:pPr>
            <a:r>
              <a:rPr lang="en-US" sz="1250" kern="0">
                <a:solidFill>
                  <a:srgbClr val="B4B4BE"/>
                </a:solidFill>
                <a:latin typeface="Calibri" pitchFamily="34" charset="0"/>
                <a:ea typeface="Calibri" pitchFamily="34" charset="-122"/>
                <a:cs typeface="Calibri" pitchFamily="34" charset="-120"/>
              </a:rPr>
              <a:t>Every process opens the same ref-data file at its own startup and parses only its own sections.</a:t>
            </a:r>
            <a:endParaRPr lang="en-US"/>
          </a:p>
        </p:txBody>
      </p:sp>
      <p:sp>
        <p:nvSpPr>
          <p:cNvPr id="6" name="card">
            <a:extLst>
              <a:ext uri="{C183D7F6-B498-43B3-948B-1728B52AA6E4}">
                <adec:decorative xmlns:adec="http://schemas.microsoft.com/office/drawing/2017/decorative" val="1"/>
              </a:ext>
            </a:extLst>
          </p:cNvPr>
          <p:cNvSpPr/>
          <p:nvPr/>
        </p:nvSpPr>
        <p:spPr>
          <a:xfrm>
            <a:off x="566928"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accent">
            <a:extLst>
              <a:ext uri="{C183D7F6-B498-43B3-948B-1728B52AA6E4}">
                <adec:decorative xmlns:adec="http://schemas.microsoft.com/office/drawing/2017/decorative" val="1"/>
              </a:ext>
            </a:extLst>
          </p:cNvPr>
          <p:cNvSpPr/>
          <p:nvPr/>
        </p:nvSpPr>
        <p:spPr>
          <a:xfrm>
            <a:off x="566928" y="1690000"/>
            <a:ext cx="2543381" cy="54864"/>
          </a:xfrm>
          <a:prstGeom prst="rect">
            <a:avLst/>
          </a:prstGeom>
          <a:solidFill>
            <a:srgbClr val="F2860D"/>
          </a:solidFill>
          <a:ln/>
        </p:spPr>
        <p:txBody>
          <a:bodyPr/>
          <a:lstStyle/>
          <a:p>
            <a:endParaRPr lang="en-SE"/>
          </a:p>
        </p:txBody>
      </p:sp>
      <p:sp>
        <p:nvSpPr>
          <p:cNvPr id="8" name="panel head"/>
          <p:cNvSpPr/>
          <p:nvPr/>
        </p:nvSpPr>
        <p:spPr>
          <a:xfrm>
            <a:off x="716928" y="1810000"/>
            <a:ext cx="2243381" cy="240000"/>
          </a:xfrm>
          <a:prstGeom prst="rect">
            <a:avLst/>
          </a:prstGeom>
          <a:noFill/>
          <a:ln/>
        </p:spPr>
        <p:txBody>
          <a:bodyPr wrap="square" lIns="0" tIns="0" rIns="0" bIns="0" rtlCol="0" anchor="t"/>
          <a:lstStyle/>
          <a:p>
            <a:pPr marL="0" indent="0" algn="l">
              <a:buNone/>
            </a:pPr>
            <a:r>
              <a:rPr lang="en-US" sz="1000" b="1" kern="0" spc="100">
                <a:solidFill>
                  <a:srgbClr val="F2860D"/>
                </a:solidFill>
                <a:latin typeface="Courier New" pitchFamily="34" charset="0"/>
                <a:ea typeface="Courier New" pitchFamily="34" charset="-122"/>
                <a:cs typeface="Courier New" pitchFamily="34" charset="-120"/>
              </a:rPr>
              <a:t>1 · ENGINE</a:t>
            </a:r>
            <a:endParaRPr lang="en-US"/>
          </a:p>
        </p:txBody>
      </p:sp>
      <p:sp>
        <p:nvSpPr>
          <p:cNvPr id="9" name="panel body"/>
          <p:cNvSpPr/>
          <p:nvPr/>
        </p:nvSpPr>
        <p:spPr>
          <a:xfrm>
            <a:off x="716928"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000" b="1" kern="0">
                <a:solidFill>
                  <a:srgbClr val="F2860D"/>
                </a:solidFill>
                <a:latin typeface="Courier New" pitchFamily="34" charset="0"/>
                <a:ea typeface="Courier New" pitchFamily="34" charset="-122"/>
                <a:cs typeface="Courier New" pitchFamily="34" charset="-120"/>
              </a:rPr>
              <a:t>pm-engine</a:t>
            </a: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symbols · gateways.alf ·</a:t>
            </a: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risk_controls · schedule ·</a:t>
            </a: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indices · engine_tuning</a:t>
            </a:r>
            <a:endParaRPr lang="en-US"/>
          </a:p>
          <a:p>
            <a:pPr marL="0" indent="0" algn="l">
              <a:lnSpc>
                <a:spcPct val="124000"/>
              </a:lnSpc>
              <a:spcBef>
                <a:spcPts val="200"/>
              </a:spcBef>
              <a:buNone/>
            </a:pPr>
            <a:endParaRPr lang="en-US"/>
          </a:p>
          <a:p>
            <a:pPr marL="0" indent="0" algn="l">
              <a:lnSpc>
                <a:spcPct val="124000"/>
              </a:lnSpc>
              <a:spcBef>
                <a:spcPts val="200"/>
              </a:spcBef>
              <a:buNone/>
            </a:pPr>
            <a:r>
              <a:rPr lang="en-US" sz="1000" b="1" kern="0">
                <a:solidFill>
                  <a:srgbClr val="F2860D"/>
                </a:solidFill>
                <a:latin typeface="Courier New" pitchFamily="34" charset="0"/>
                <a:ea typeface="Courier New" pitchFamily="34" charset="-122"/>
                <a:cs typeface="Courier New" pitchFamily="34" charset="-120"/>
              </a:rPr>
              <a:t>pm-scheduler</a:t>
            </a: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schedule · country</a:t>
            </a:r>
            <a:endParaRPr lang="en-US"/>
          </a:p>
        </p:txBody>
      </p:sp>
      <p:sp>
        <p:nvSpPr>
          <p:cNvPr id="10" name="card">
            <a:extLst>
              <a:ext uri="{C183D7F6-B498-43B3-948B-1728B52AA6E4}">
                <adec:decorative xmlns:adec="http://schemas.microsoft.com/office/drawing/2017/decorative" val="1"/>
              </a:ext>
            </a:extLst>
          </p:cNvPr>
          <p:cNvSpPr/>
          <p:nvPr/>
        </p:nvSpPr>
        <p:spPr>
          <a:xfrm>
            <a:off x="3300309"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a:extLst>
              <a:ext uri="{C183D7F6-B498-43B3-948B-1728B52AA6E4}">
                <adec:decorative xmlns:adec="http://schemas.microsoft.com/office/drawing/2017/decorative" val="1"/>
              </a:ext>
            </a:extLst>
          </p:cNvPr>
          <p:cNvSpPr/>
          <p:nvPr/>
        </p:nvSpPr>
        <p:spPr>
          <a:xfrm>
            <a:off x="3300309" y="1690000"/>
            <a:ext cx="2543381" cy="54864"/>
          </a:xfrm>
          <a:prstGeom prst="rect">
            <a:avLst/>
          </a:prstGeom>
          <a:solidFill>
            <a:srgbClr val="5B9BF5"/>
          </a:solidFill>
          <a:ln/>
        </p:spPr>
        <p:txBody>
          <a:bodyPr/>
          <a:lstStyle/>
          <a:p>
            <a:endParaRPr lang="en-SE"/>
          </a:p>
        </p:txBody>
      </p:sp>
      <p:sp>
        <p:nvSpPr>
          <p:cNvPr id="12" name="panel head"/>
          <p:cNvSpPr/>
          <p:nvPr/>
        </p:nvSpPr>
        <p:spPr>
          <a:xfrm>
            <a:off x="3450309" y="1810000"/>
            <a:ext cx="2243381" cy="240000"/>
          </a:xfrm>
          <a:prstGeom prst="rect">
            <a:avLst/>
          </a:prstGeom>
          <a:noFill/>
          <a:ln/>
        </p:spPr>
        <p:txBody>
          <a:bodyPr wrap="square" lIns="0" tIns="0" rIns="0" bIns="0" rtlCol="0" anchor="t"/>
          <a:lstStyle/>
          <a:p>
            <a:pPr marL="0" indent="0" algn="l">
              <a:buNone/>
            </a:pPr>
            <a:r>
              <a:rPr lang="en-US" sz="1000" b="1" kern="0" spc="100">
                <a:solidFill>
                  <a:srgbClr val="5B9BF5"/>
                </a:solidFill>
                <a:latin typeface="Courier New" pitchFamily="34" charset="0"/>
                <a:ea typeface="Courier New" pitchFamily="34" charset="-122"/>
                <a:cs typeface="Courier New" pitchFamily="34" charset="-120"/>
              </a:rPr>
              <a:t>2 · GATEWAYS</a:t>
            </a:r>
            <a:endParaRPr lang="en-US"/>
          </a:p>
        </p:txBody>
      </p:sp>
      <p:sp>
        <p:nvSpPr>
          <p:cNvPr id="13" name="panel body"/>
          <p:cNvSpPr/>
          <p:nvPr/>
        </p:nvSpPr>
        <p:spPr>
          <a:xfrm>
            <a:off x="3450309"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000" b="1" kern="0">
                <a:solidFill>
                  <a:srgbClr val="5B9BF5"/>
                </a:solidFill>
                <a:latin typeface="Courier New" pitchFamily="34" charset="0"/>
                <a:ea typeface="Courier New" pitchFamily="34" charset="-122"/>
                <a:cs typeface="Courier New" pitchFamily="34" charset="-120"/>
              </a:rPr>
              <a:t>pm-alf-gwy · pm-balf-gwy</a:t>
            </a:r>
            <a:endParaRPr lang="en-US"/>
          </a:p>
          <a:p>
            <a:pPr marL="0" indent="0" algn="l">
              <a:lnSpc>
                <a:spcPct val="124000"/>
              </a:lnSpc>
              <a:spcBef>
                <a:spcPts val="200"/>
              </a:spcBef>
              <a:buNone/>
            </a:pPr>
            <a:r>
              <a:rPr lang="en-US" sz="1000" b="1" kern="0">
                <a:solidFill>
                  <a:srgbClr val="5B9BF5"/>
                </a:solidFill>
                <a:latin typeface="Courier New" pitchFamily="34" charset="0"/>
                <a:ea typeface="Courier New" pitchFamily="34" charset="-122"/>
                <a:cs typeface="Courier New" pitchFamily="34" charset="-120"/>
              </a:rPr>
              <a:t>pm-ralf-gwy · pm-md-gwy</a:t>
            </a:r>
            <a:endParaRPr lang="en-US"/>
          </a:p>
          <a:p>
            <a:pPr marL="0" indent="0" algn="l">
              <a:lnSpc>
                <a:spcPct val="124000"/>
              </a:lnSpc>
              <a:spcBef>
                <a:spcPts val="200"/>
              </a:spcBef>
              <a:buNone/>
            </a:pPr>
            <a:r>
              <a:rPr lang="en-US" sz="1000" b="1" kern="0">
                <a:solidFill>
                  <a:srgbClr val="5B9BF5"/>
                </a:solidFill>
                <a:latin typeface="Courier New" pitchFamily="34" charset="0"/>
                <a:ea typeface="Courier New" pitchFamily="34" charset="-122"/>
                <a:cs typeface="Courier New" pitchFamily="34" charset="-120"/>
              </a:rPr>
              <a:t>pm-dc-gwy · pm-log-srv</a:t>
            </a:r>
            <a:endParaRPr lang="en-US"/>
          </a:p>
          <a:p>
            <a:pPr marL="0" indent="0" algn="l">
              <a:lnSpc>
                <a:spcPct val="124000"/>
              </a:lnSpc>
              <a:spcBef>
                <a:spcPts val="200"/>
              </a:spcBef>
              <a:buNone/>
            </a:pPr>
            <a:r>
              <a:rPr lang="en-US" sz="1000" b="1" kern="0">
                <a:solidFill>
                  <a:srgbClr val="5B9BF5"/>
                </a:solidFill>
                <a:latin typeface="Courier New" pitchFamily="34" charset="0"/>
                <a:ea typeface="Courier New" pitchFamily="34" charset="-122"/>
                <a:cs typeface="Courier New" pitchFamily="34" charset="-120"/>
              </a:rPr>
              <a:t>pm-api-gwy · pm-index</a:t>
            </a:r>
            <a:endParaRPr lang="en-US"/>
          </a:p>
          <a:p>
            <a:pPr marL="0" indent="0" algn="l">
              <a:lnSpc>
                <a:spcPct val="124000"/>
              </a:lnSpc>
              <a:spcBef>
                <a:spcPts val="200"/>
              </a:spcBef>
              <a:buNone/>
            </a:pP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Each reads only its own</a:t>
            </a: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section — restart it alone</a:t>
            </a:r>
            <a:endParaRPr lang="en-US"/>
          </a:p>
        </p:txBody>
      </p:sp>
      <p:sp>
        <p:nvSpPr>
          <p:cNvPr id="14" name="card">
            <a:extLst>
              <a:ext uri="{C183D7F6-B498-43B3-948B-1728B52AA6E4}">
                <adec:decorative xmlns:adec="http://schemas.microsoft.com/office/drawing/2017/decorative" val="1"/>
              </a:ext>
            </a:extLst>
          </p:cNvPr>
          <p:cNvSpPr/>
          <p:nvPr/>
        </p:nvSpPr>
        <p:spPr>
          <a:xfrm>
            <a:off x="6033690"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5" name="accent">
            <a:extLst>
              <a:ext uri="{C183D7F6-B498-43B3-948B-1728B52AA6E4}">
                <adec:decorative xmlns:adec="http://schemas.microsoft.com/office/drawing/2017/decorative" val="1"/>
              </a:ext>
            </a:extLst>
          </p:cNvPr>
          <p:cNvSpPr/>
          <p:nvPr/>
        </p:nvSpPr>
        <p:spPr>
          <a:xfrm>
            <a:off x="6033690" y="1690000"/>
            <a:ext cx="2543381" cy="54864"/>
          </a:xfrm>
          <a:prstGeom prst="rect">
            <a:avLst/>
          </a:prstGeom>
          <a:solidFill>
            <a:srgbClr val="5FC98E"/>
          </a:solidFill>
          <a:ln/>
        </p:spPr>
        <p:txBody>
          <a:bodyPr/>
          <a:lstStyle/>
          <a:p>
            <a:endParaRPr lang="en-SE"/>
          </a:p>
        </p:txBody>
      </p:sp>
      <p:sp>
        <p:nvSpPr>
          <p:cNvPr id="16" name="panel head"/>
          <p:cNvSpPr/>
          <p:nvPr/>
        </p:nvSpPr>
        <p:spPr>
          <a:xfrm>
            <a:off x="6183690" y="1810000"/>
            <a:ext cx="2243381" cy="240000"/>
          </a:xfrm>
          <a:prstGeom prst="rect">
            <a:avLst/>
          </a:prstGeom>
          <a:noFill/>
          <a:ln/>
        </p:spPr>
        <p:txBody>
          <a:bodyPr wrap="square" lIns="0" tIns="0" rIns="0" bIns="0" rtlCol="0" anchor="t"/>
          <a:lstStyle/>
          <a:p>
            <a:pPr marL="0" indent="0" algn="l">
              <a:buNone/>
            </a:pPr>
            <a:r>
              <a:rPr lang="en-US" sz="1000" b="1" kern="0" spc="100">
                <a:solidFill>
                  <a:srgbClr val="5FC98E"/>
                </a:solidFill>
                <a:latin typeface="Courier New" pitchFamily="34" charset="0"/>
                <a:ea typeface="Courier New" pitchFamily="34" charset="-122"/>
                <a:cs typeface="Courier New" pitchFamily="34" charset="-120"/>
              </a:rPr>
              <a:t>3 · STARTUP</a:t>
            </a:r>
            <a:endParaRPr lang="en-US"/>
          </a:p>
        </p:txBody>
      </p:sp>
      <p:sp>
        <p:nvSpPr>
          <p:cNvPr id="17" name="panel body"/>
          <p:cNvSpPr/>
          <p:nvPr/>
        </p:nvSpPr>
        <p:spPr>
          <a:xfrm>
            <a:off x="6183690"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000" b="1" kern="0">
                <a:solidFill>
                  <a:srgbClr val="5FC98E"/>
                </a:solidFill>
                <a:latin typeface="Courier New" pitchFamily="34" charset="0"/>
                <a:ea typeface="Courier New" pitchFamily="34" charset="-122"/>
                <a:cs typeface="Courier New" pitchFamily="34" charset="-120"/>
              </a:rPr>
              <a:t>No process takes a path</a:t>
            </a: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The symbol universe is fixed</a:t>
            </a: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at startup — a new symbol</a:t>
            </a: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means a restart</a:t>
            </a:r>
            <a:endParaRPr lang="en-US"/>
          </a:p>
          <a:p>
            <a:pPr marL="0" indent="0" algn="l">
              <a:lnSpc>
                <a:spcPct val="124000"/>
              </a:lnSpc>
              <a:spcBef>
                <a:spcPts val="200"/>
              </a:spcBef>
              <a:buNone/>
            </a:pP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Persisted prices override</a:t>
            </a: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config seeds</a:t>
            </a:r>
            <a:endParaRPr lang="en-US"/>
          </a:p>
        </p:txBody>
      </p:sp>
      <p:sp>
        <p:nvSpPr>
          <p:cNvPr id="18" name="arrow">
            <a:extLst>
              <a:ext uri="{C183D7F6-B498-43B3-948B-1728B52AA6E4}">
                <adec:decorative xmlns:adec="http://schemas.microsoft.com/office/drawing/2017/decorative" val="1"/>
              </a:ext>
            </a:extLst>
          </p:cNvPr>
          <p:cNvSpPr/>
          <p:nvPr/>
        </p:nvSpPr>
        <p:spPr>
          <a:xfrm>
            <a:off x="3128309" y="2952500"/>
            <a:ext cx="150000" cy="0"/>
          </a:xfrm>
          <a:prstGeom prst="line">
            <a:avLst/>
          </a:prstGeom>
          <a:noFill/>
          <a:ln w="28575">
            <a:solidFill>
              <a:srgbClr val="B4B4BE"/>
            </a:solidFill>
            <a:prstDash val="solid"/>
            <a:round/>
            <a:tailEnd type="triangle" w="lg" len="lg"/>
          </a:ln>
        </p:spPr>
        <p:txBody>
          <a:bodyPr/>
          <a:lstStyle/>
          <a:p>
            <a:endParaRPr lang="en-SE"/>
          </a:p>
        </p:txBody>
      </p:sp>
      <p:sp>
        <p:nvSpPr>
          <p:cNvPr id="19" name="arrow">
            <a:extLst>
              <a:ext uri="{C183D7F6-B498-43B3-948B-1728B52AA6E4}">
                <adec:decorative xmlns:adec="http://schemas.microsoft.com/office/drawing/2017/decorative" val="1"/>
              </a:ext>
            </a:extLst>
          </p:cNvPr>
          <p:cNvSpPr/>
          <p:nvPr/>
        </p:nvSpPr>
        <p:spPr>
          <a:xfrm>
            <a:off x="5861690" y="2952500"/>
            <a:ext cx="150000" cy="0"/>
          </a:xfrm>
          <a:prstGeom prst="line">
            <a:avLst/>
          </a:prstGeom>
          <a:noFill/>
          <a:ln w="28575">
            <a:solidFill>
              <a:srgbClr val="B4B4BE"/>
            </a:solidFill>
            <a:prstDash val="solid"/>
            <a:round/>
            <a:tailEnd type="triangle" w="lg" len="lg"/>
          </a:ln>
        </p:spPr>
        <p:txBody>
          <a:bodyPr/>
          <a:lstStyle/>
          <a:p>
            <a:endParaRPr lang="en-SE"/>
          </a:p>
        </p:txBody>
      </p:sp>
      <p:sp>
        <p:nvSpPr>
          <p:cNvPr id="20" name="note band">
            <a:extLst>
              <a:ext uri="{C183D7F6-B498-43B3-948B-1728B52AA6E4}">
                <adec:decorative xmlns:adec="http://schemas.microsoft.com/office/drawing/2017/decorative" val="1"/>
              </a:ext>
            </a:extLst>
          </p:cNvPr>
          <p:cNvSpPr/>
          <p:nvPr/>
        </p:nvSpPr>
        <p:spPr>
          <a:xfrm>
            <a:off x="566928" y="4300000"/>
            <a:ext cx="8010144" cy="450000"/>
          </a:xfrm>
          <a:prstGeom prst="roundRect">
            <a:avLst>
              <a:gd name="adj" fmla="val 9000"/>
            </a:avLst>
          </a:prstGeom>
          <a:solidFill>
            <a:srgbClr val="202027"/>
          </a:solidFill>
          <a:ln w="12700">
            <a:solidFill>
              <a:srgbClr val="F2860D"/>
            </a:solidFill>
            <a:prstDash val="solid"/>
          </a:ln>
        </p:spPr>
        <p:txBody>
          <a:bodyPr/>
          <a:lstStyle/>
          <a:p>
            <a:endParaRPr lang="en-SE"/>
          </a:p>
        </p:txBody>
      </p:sp>
      <p:sp>
        <p:nvSpPr>
          <p:cNvPr id="21" name="note text"/>
          <p:cNvSpPr/>
          <p:nvPr/>
        </p:nvSpPr>
        <p:spPr>
          <a:xfrm>
            <a:off x="786928" y="4300000"/>
            <a:ext cx="7570144" cy="450000"/>
          </a:xfrm>
          <a:prstGeom prst="rect">
            <a:avLst/>
          </a:prstGeom>
          <a:noFill/>
          <a:ln/>
        </p:spPr>
        <p:txBody>
          <a:bodyPr wrap="square" lIns="0" tIns="0" rIns="0" bIns="0" rtlCol="0" anchor="ctr"/>
          <a:lstStyle/>
          <a:p>
            <a:pPr marL="0" indent="0" algn="l">
              <a:lnSpc>
                <a:spcPct val="104000"/>
              </a:lnSpc>
              <a:buNone/>
            </a:pPr>
            <a:r>
              <a:rPr lang="en-US" sz="1000" kern="0">
                <a:solidFill>
                  <a:srgbClr val="ECECEC"/>
                </a:solidFill>
                <a:latin typeface="Calibri" pitchFamily="34" charset="0"/>
                <a:ea typeface="Calibri" pitchFamily="34" charset="-122"/>
                <a:cs typeface="Calibri" pitchFamily="34" charset="-120"/>
              </a:rPr>
              <a:t>A typo in a section your process never reads is invisible to it — only the owning process or pm-cverifier will catch it.</a:t>
            </a:r>
            <a:endParaRPr lang="en-US"/>
          </a:p>
        </p:txBody>
      </p:sp>
      <p:sp>
        <p:nvSpPr>
          <p:cNvPr id="22"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23"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17</a:t>
            </a:r>
            <a:endParaRPr lang="en-US"/>
          </a:p>
        </p:txBody>
      </p:sp>
    </p:spTree>
    <p:extLst>
      <p:ext uri="{BB962C8B-B14F-4D97-AF65-F5344CB8AC3E}">
        <p14:creationId xmlns:p14="http://schemas.microsoft.com/office/powerpoint/2010/main" val="1557085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09 · PROTOCOLS</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Four protocols, four jobs</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481328"/>
            <a:ext cx="1975104" cy="2487168"/>
          </a:xfrm>
          <a:prstGeom prst="roundRect">
            <a:avLst>
              <a:gd name="adj" fmla="val 277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proto head">
            <a:extLst>
              <a:ext uri="{C183D7F6-B498-43B3-948B-1728B52AA6E4}">
                <adec:decorative xmlns:adec="http://schemas.microsoft.com/office/drawing/2017/decorative" val="1"/>
              </a:ext>
            </a:extLst>
          </p:cNvPr>
          <p:cNvSpPr/>
          <p:nvPr/>
        </p:nvSpPr>
        <p:spPr>
          <a:xfrm>
            <a:off x="566928" y="1481328"/>
            <a:ext cx="1975104" cy="566928"/>
          </a:xfrm>
          <a:prstGeom prst="rect">
            <a:avLst/>
          </a:prstGeom>
          <a:solidFill>
            <a:srgbClr val="F2860D"/>
          </a:solidFill>
          <a:ln/>
        </p:spPr>
        <p:txBody>
          <a:bodyPr/>
          <a:lstStyle/>
          <a:p>
            <a:endParaRPr lang="en-SE"/>
          </a:p>
        </p:txBody>
      </p:sp>
      <p:sp>
        <p:nvSpPr>
          <p:cNvPr id="7" name="Text 5"/>
          <p:cNvSpPr/>
          <p:nvPr/>
        </p:nvSpPr>
        <p:spPr>
          <a:xfrm>
            <a:off x="566928" y="1499616"/>
            <a:ext cx="1975104" cy="384048"/>
          </a:xfrm>
          <a:prstGeom prst="rect">
            <a:avLst/>
          </a:prstGeom>
          <a:noFill/>
          <a:ln/>
        </p:spPr>
        <p:txBody>
          <a:bodyPr wrap="square" lIns="0" tIns="0" rIns="0" bIns="0" rtlCol="0" anchor="ctr"/>
          <a:lstStyle/>
          <a:p>
            <a:pPr marL="0" indent="0" algn="ctr">
              <a:buNone/>
            </a:pPr>
            <a:r>
              <a:rPr lang="en-US" sz="1900" b="1" dirty="0">
                <a:solidFill>
                  <a:srgbClr val="161616"/>
                </a:solidFill>
                <a:latin typeface="Arial" pitchFamily="34" charset="0"/>
                <a:ea typeface="Arial" pitchFamily="34" charset="-122"/>
                <a:cs typeface="Arial" pitchFamily="34" charset="-120"/>
              </a:rPr>
              <a:t>ALF</a:t>
            </a:r>
            <a:endParaRPr lang="en-US" sz="1900" dirty="0"/>
          </a:p>
        </p:txBody>
      </p:sp>
      <p:sp>
        <p:nvSpPr>
          <p:cNvPr id="8" name="Text 6"/>
          <p:cNvSpPr/>
          <p:nvPr/>
        </p:nvSpPr>
        <p:spPr>
          <a:xfrm>
            <a:off x="566928" y="1847088"/>
            <a:ext cx="1975104" cy="201168"/>
          </a:xfrm>
          <a:prstGeom prst="rect">
            <a:avLst/>
          </a:prstGeom>
          <a:noFill/>
          <a:ln/>
        </p:spPr>
        <p:txBody>
          <a:bodyPr wrap="square" lIns="0" tIns="0" rIns="0" bIns="0" rtlCol="0" anchor="ctr"/>
          <a:lstStyle/>
          <a:p>
            <a:pPr marL="0" indent="0" algn="ctr">
              <a:buNone/>
            </a:pPr>
            <a:r>
              <a:rPr lang="en-US" sz="900" b="1" dirty="0">
                <a:solidFill>
                  <a:srgbClr val="161616"/>
                </a:solidFill>
                <a:latin typeface="Courier New" pitchFamily="34" charset="0"/>
                <a:ea typeface="Courier New" pitchFamily="34" charset="-122"/>
                <a:cs typeface="Courier New" pitchFamily="34" charset="-120"/>
              </a:rPr>
              <a:t>Almost FIX</a:t>
            </a:r>
            <a:endParaRPr lang="en-US" sz="900" dirty="0"/>
          </a:p>
        </p:txBody>
      </p:sp>
      <p:sp>
        <p:nvSpPr>
          <p:cNvPr id="9" name="Text 7"/>
          <p:cNvSpPr/>
          <p:nvPr/>
        </p:nvSpPr>
        <p:spPr>
          <a:xfrm>
            <a:off x="713232" y="2194560"/>
            <a:ext cx="1682496" cy="822960"/>
          </a:xfrm>
          <a:prstGeom prst="rect">
            <a:avLst/>
          </a:prstGeom>
          <a:noFill/>
          <a:ln/>
        </p:spPr>
        <p:txBody>
          <a:bodyPr wrap="square" lIns="0" tIns="0" rIns="0" bIns="0" rtlCol="0" anchor="t"/>
          <a:lstStyle/>
          <a:p>
            <a:pPr marL="0" indent="0" algn="l">
              <a:lnSpc>
                <a:spcPct val="106000"/>
              </a:lnSpc>
              <a:buNone/>
            </a:pPr>
            <a:r>
              <a:rPr lang="en-US" sz="1100" dirty="0">
                <a:solidFill>
                  <a:srgbClr val="ECECEC"/>
                </a:solidFill>
                <a:latin typeface="Calibri" pitchFamily="34" charset="0"/>
                <a:ea typeface="Calibri" pitchFamily="34" charset="-122"/>
                <a:cs typeface="Calibri" pitchFamily="34" charset="-120"/>
              </a:rPr>
              <a:t>Order entry — human-readable text</a:t>
            </a:r>
            <a:endParaRPr lang="en-US" sz="1100" dirty="0"/>
          </a:p>
        </p:txBody>
      </p:sp>
      <p:sp>
        <p:nvSpPr>
          <p:cNvPr id="10" name="Text 8"/>
          <p:cNvSpPr/>
          <p:nvPr/>
        </p:nvSpPr>
        <p:spPr>
          <a:xfrm>
            <a:off x="713232" y="3072384"/>
            <a:ext cx="1682496" cy="274320"/>
          </a:xfrm>
          <a:prstGeom prst="rect">
            <a:avLst/>
          </a:prstGeom>
          <a:noFill/>
          <a:ln/>
        </p:spPr>
        <p:txBody>
          <a:bodyPr wrap="square" lIns="0" tIns="0" rIns="0" bIns="0" rtlCol="0" anchor="ctr"/>
          <a:lstStyle/>
          <a:p>
            <a:pPr marL="0" indent="0" algn="l">
              <a:buNone/>
            </a:pPr>
            <a:r>
              <a:rPr lang="en-US" sz="1050" dirty="0">
                <a:solidFill>
                  <a:srgbClr val="C3CDD6"/>
                </a:solidFill>
                <a:latin typeface="Courier New" pitchFamily="34" charset="0"/>
                <a:ea typeface="Courier New" pitchFamily="34" charset="-122"/>
                <a:cs typeface="Courier New" pitchFamily="34" charset="-120"/>
              </a:rPr>
              <a:t>pm-alf-gwy</a:t>
            </a:r>
            <a:endParaRPr lang="en-US" sz="1050" dirty="0"/>
          </a:p>
        </p:txBody>
      </p:sp>
      <p:sp>
        <p:nvSpPr>
          <p:cNvPr id="11" name="card">
            <a:extLst>
              <a:ext uri="{C183D7F6-B498-43B3-948B-1728B52AA6E4}">
                <adec:decorative xmlns:adec="http://schemas.microsoft.com/office/drawing/2017/decorative" val="1"/>
              </a:ext>
            </a:extLst>
          </p:cNvPr>
          <p:cNvSpPr/>
          <p:nvPr/>
        </p:nvSpPr>
        <p:spPr>
          <a:xfrm>
            <a:off x="713232" y="3419856"/>
            <a:ext cx="1682496" cy="384048"/>
          </a:xfrm>
          <a:prstGeom prst="roundRect">
            <a:avLst>
              <a:gd name="adj" fmla="val 14286"/>
            </a:avLst>
          </a:prstGeom>
          <a:solidFill>
            <a:srgbClr val="202027"/>
          </a:solidFill>
          <a:ln w="12700">
            <a:solidFill>
              <a:srgbClr val="F2860D"/>
            </a:solidFill>
            <a:prstDash val="solid"/>
          </a:ln>
        </p:spPr>
        <p:txBody>
          <a:bodyPr/>
          <a:lstStyle/>
          <a:p>
            <a:endParaRPr lang="en-SE"/>
          </a:p>
        </p:txBody>
      </p:sp>
      <p:sp>
        <p:nvSpPr>
          <p:cNvPr id="12" name="Text 10"/>
          <p:cNvSpPr/>
          <p:nvPr/>
        </p:nvSpPr>
        <p:spPr>
          <a:xfrm>
            <a:off x="713232" y="3419856"/>
            <a:ext cx="1682496" cy="384048"/>
          </a:xfrm>
          <a:prstGeom prst="rect">
            <a:avLst/>
          </a:prstGeom>
          <a:noFill/>
          <a:ln/>
        </p:spPr>
        <p:txBody>
          <a:bodyPr wrap="square" lIns="0" tIns="0" rIns="0" bIns="0" rtlCol="0" anchor="ctr"/>
          <a:lstStyle/>
          <a:p>
            <a:pPr marL="0" indent="0" algn="ctr">
              <a:buNone/>
            </a:pPr>
            <a:r>
              <a:rPr lang="en-US" sz="1150" b="1" dirty="0">
                <a:solidFill>
                  <a:srgbClr val="F2860D"/>
                </a:solidFill>
                <a:latin typeface="Courier New" pitchFamily="34" charset="0"/>
                <a:ea typeface="Courier New" pitchFamily="34" charset="-122"/>
                <a:cs typeface="Courier New" pitchFamily="34" charset="-120"/>
              </a:rPr>
              <a:t>TCP 5565</a:t>
            </a:r>
            <a:endParaRPr lang="en-US" sz="1150" dirty="0"/>
          </a:p>
        </p:txBody>
      </p:sp>
      <p:sp>
        <p:nvSpPr>
          <p:cNvPr id="13" name="card">
            <a:extLst>
              <a:ext uri="{C183D7F6-B498-43B3-948B-1728B52AA6E4}">
                <adec:decorative xmlns:adec="http://schemas.microsoft.com/office/drawing/2017/decorative" val="1"/>
              </a:ext>
            </a:extLst>
          </p:cNvPr>
          <p:cNvSpPr/>
          <p:nvPr/>
        </p:nvSpPr>
        <p:spPr>
          <a:xfrm>
            <a:off x="2688336" y="1481328"/>
            <a:ext cx="1975104" cy="2487168"/>
          </a:xfrm>
          <a:prstGeom prst="roundRect">
            <a:avLst>
              <a:gd name="adj" fmla="val 277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4" name="proto head">
            <a:extLst>
              <a:ext uri="{C183D7F6-B498-43B3-948B-1728B52AA6E4}">
                <adec:decorative xmlns:adec="http://schemas.microsoft.com/office/drawing/2017/decorative" val="1"/>
              </a:ext>
            </a:extLst>
          </p:cNvPr>
          <p:cNvSpPr/>
          <p:nvPr/>
        </p:nvSpPr>
        <p:spPr>
          <a:xfrm>
            <a:off x="2688336" y="1481328"/>
            <a:ext cx="1975104" cy="566928"/>
          </a:xfrm>
          <a:prstGeom prst="rect">
            <a:avLst/>
          </a:prstGeom>
          <a:solidFill>
            <a:srgbClr val="4FB3CC"/>
          </a:solidFill>
          <a:ln/>
        </p:spPr>
        <p:txBody>
          <a:bodyPr/>
          <a:lstStyle/>
          <a:p>
            <a:endParaRPr lang="en-SE"/>
          </a:p>
        </p:txBody>
      </p:sp>
      <p:sp>
        <p:nvSpPr>
          <p:cNvPr id="15" name="Text 13"/>
          <p:cNvSpPr/>
          <p:nvPr/>
        </p:nvSpPr>
        <p:spPr>
          <a:xfrm>
            <a:off x="2688336" y="1499616"/>
            <a:ext cx="1975104" cy="384048"/>
          </a:xfrm>
          <a:prstGeom prst="rect">
            <a:avLst/>
          </a:prstGeom>
          <a:noFill/>
          <a:ln/>
        </p:spPr>
        <p:txBody>
          <a:bodyPr wrap="square" lIns="0" tIns="0" rIns="0" bIns="0" rtlCol="0" anchor="ctr"/>
          <a:lstStyle/>
          <a:p>
            <a:pPr marL="0" indent="0" algn="ctr">
              <a:buNone/>
            </a:pPr>
            <a:r>
              <a:rPr lang="en-US" sz="1900" b="1" dirty="0">
                <a:solidFill>
                  <a:srgbClr val="161616"/>
                </a:solidFill>
                <a:latin typeface="Arial" pitchFamily="34" charset="0"/>
                <a:ea typeface="Arial" pitchFamily="34" charset="-122"/>
                <a:cs typeface="Arial" pitchFamily="34" charset="-120"/>
              </a:rPr>
              <a:t>BALF</a:t>
            </a:r>
            <a:endParaRPr lang="en-US" sz="1900" dirty="0"/>
          </a:p>
        </p:txBody>
      </p:sp>
      <p:sp>
        <p:nvSpPr>
          <p:cNvPr id="16" name="Text 14"/>
          <p:cNvSpPr/>
          <p:nvPr/>
        </p:nvSpPr>
        <p:spPr>
          <a:xfrm>
            <a:off x="2688336" y="1847088"/>
            <a:ext cx="1975104" cy="201168"/>
          </a:xfrm>
          <a:prstGeom prst="rect">
            <a:avLst/>
          </a:prstGeom>
          <a:noFill/>
          <a:ln/>
        </p:spPr>
        <p:txBody>
          <a:bodyPr wrap="square" lIns="0" tIns="0" rIns="0" bIns="0" rtlCol="0" anchor="ctr"/>
          <a:lstStyle/>
          <a:p>
            <a:pPr marL="0" indent="0" algn="ctr">
              <a:buNone/>
            </a:pPr>
            <a:r>
              <a:rPr lang="en-US" sz="900" b="1" dirty="0">
                <a:solidFill>
                  <a:srgbClr val="161616"/>
                </a:solidFill>
                <a:latin typeface="Courier New" pitchFamily="34" charset="0"/>
                <a:ea typeface="Courier New" pitchFamily="34" charset="-122"/>
                <a:cs typeface="Courier New" pitchFamily="34" charset="-120"/>
              </a:rPr>
              <a:t>Binary ALF</a:t>
            </a:r>
            <a:endParaRPr lang="en-US" sz="900" dirty="0"/>
          </a:p>
        </p:txBody>
      </p:sp>
      <p:sp>
        <p:nvSpPr>
          <p:cNvPr id="17" name="Text 15"/>
          <p:cNvSpPr/>
          <p:nvPr/>
        </p:nvSpPr>
        <p:spPr>
          <a:xfrm>
            <a:off x="2834640" y="2194560"/>
            <a:ext cx="1682496" cy="822960"/>
          </a:xfrm>
          <a:prstGeom prst="rect">
            <a:avLst/>
          </a:prstGeom>
          <a:noFill/>
          <a:ln/>
        </p:spPr>
        <p:txBody>
          <a:bodyPr wrap="square" lIns="0" tIns="0" rIns="0" bIns="0" rtlCol="0" anchor="t"/>
          <a:lstStyle/>
          <a:p>
            <a:pPr marL="0" indent="0" algn="l">
              <a:lnSpc>
                <a:spcPct val="106000"/>
              </a:lnSpc>
              <a:buNone/>
            </a:pPr>
            <a:r>
              <a:rPr lang="en-US" sz="1100" dirty="0">
                <a:solidFill>
                  <a:srgbClr val="ECECEC"/>
                </a:solidFill>
                <a:latin typeface="Calibri" pitchFamily="34" charset="0"/>
                <a:ea typeface="Calibri" pitchFamily="34" charset="-122"/>
                <a:cs typeface="Calibri" pitchFamily="34" charset="-120"/>
              </a:rPr>
              <a:t>Order entry — fast binary frames</a:t>
            </a:r>
            <a:endParaRPr lang="en-US" sz="1100" dirty="0"/>
          </a:p>
        </p:txBody>
      </p:sp>
      <p:sp>
        <p:nvSpPr>
          <p:cNvPr id="18" name="Text 16"/>
          <p:cNvSpPr/>
          <p:nvPr/>
        </p:nvSpPr>
        <p:spPr>
          <a:xfrm>
            <a:off x="2834640" y="3072384"/>
            <a:ext cx="1682496" cy="274320"/>
          </a:xfrm>
          <a:prstGeom prst="rect">
            <a:avLst/>
          </a:prstGeom>
          <a:noFill/>
          <a:ln/>
        </p:spPr>
        <p:txBody>
          <a:bodyPr wrap="square" lIns="0" tIns="0" rIns="0" bIns="0" rtlCol="0" anchor="ctr"/>
          <a:lstStyle/>
          <a:p>
            <a:pPr marL="0" indent="0" algn="l">
              <a:buNone/>
            </a:pPr>
            <a:r>
              <a:rPr lang="en-US" sz="1050" dirty="0">
                <a:solidFill>
                  <a:srgbClr val="C3CDD6"/>
                </a:solidFill>
                <a:latin typeface="Courier New" pitchFamily="34" charset="0"/>
                <a:ea typeface="Courier New" pitchFamily="34" charset="-122"/>
                <a:cs typeface="Courier New" pitchFamily="34" charset="-120"/>
              </a:rPr>
              <a:t>pm-balf-gwy</a:t>
            </a:r>
            <a:endParaRPr lang="en-US" sz="1050" dirty="0"/>
          </a:p>
        </p:txBody>
      </p:sp>
      <p:sp>
        <p:nvSpPr>
          <p:cNvPr id="19" name="card">
            <a:extLst>
              <a:ext uri="{C183D7F6-B498-43B3-948B-1728B52AA6E4}">
                <adec:decorative xmlns:adec="http://schemas.microsoft.com/office/drawing/2017/decorative" val="1"/>
              </a:ext>
            </a:extLst>
          </p:cNvPr>
          <p:cNvSpPr/>
          <p:nvPr/>
        </p:nvSpPr>
        <p:spPr>
          <a:xfrm>
            <a:off x="2834640" y="3419856"/>
            <a:ext cx="1682496" cy="384048"/>
          </a:xfrm>
          <a:prstGeom prst="roundRect">
            <a:avLst>
              <a:gd name="adj" fmla="val 14286"/>
            </a:avLst>
          </a:prstGeom>
          <a:solidFill>
            <a:srgbClr val="202027"/>
          </a:solidFill>
          <a:ln w="12700">
            <a:solidFill>
              <a:srgbClr val="4FB3CC"/>
            </a:solidFill>
            <a:prstDash val="solid"/>
          </a:ln>
        </p:spPr>
        <p:txBody>
          <a:bodyPr/>
          <a:lstStyle/>
          <a:p>
            <a:endParaRPr lang="en-SE"/>
          </a:p>
        </p:txBody>
      </p:sp>
      <p:sp>
        <p:nvSpPr>
          <p:cNvPr id="20" name="Text 18"/>
          <p:cNvSpPr/>
          <p:nvPr/>
        </p:nvSpPr>
        <p:spPr>
          <a:xfrm>
            <a:off x="2834640" y="3419856"/>
            <a:ext cx="1682496" cy="384048"/>
          </a:xfrm>
          <a:prstGeom prst="rect">
            <a:avLst/>
          </a:prstGeom>
          <a:noFill/>
          <a:ln/>
        </p:spPr>
        <p:txBody>
          <a:bodyPr wrap="square" lIns="0" tIns="0" rIns="0" bIns="0" rtlCol="0" anchor="ctr"/>
          <a:lstStyle/>
          <a:p>
            <a:pPr marL="0" indent="0" algn="ctr">
              <a:buNone/>
            </a:pPr>
            <a:r>
              <a:rPr lang="en-US" sz="1150" b="1" dirty="0">
                <a:solidFill>
                  <a:srgbClr val="4FB3CC"/>
                </a:solidFill>
                <a:latin typeface="Courier New" pitchFamily="34" charset="0"/>
                <a:ea typeface="Courier New" pitchFamily="34" charset="-122"/>
                <a:cs typeface="Courier New" pitchFamily="34" charset="-120"/>
              </a:rPr>
              <a:t>TCP 5560</a:t>
            </a:r>
            <a:endParaRPr lang="en-US" sz="1150" dirty="0"/>
          </a:p>
        </p:txBody>
      </p:sp>
      <p:sp>
        <p:nvSpPr>
          <p:cNvPr id="21" name="card">
            <a:extLst>
              <a:ext uri="{C183D7F6-B498-43B3-948B-1728B52AA6E4}">
                <adec:decorative xmlns:adec="http://schemas.microsoft.com/office/drawing/2017/decorative" val="1"/>
              </a:ext>
            </a:extLst>
          </p:cNvPr>
          <p:cNvSpPr/>
          <p:nvPr/>
        </p:nvSpPr>
        <p:spPr>
          <a:xfrm>
            <a:off x="4809744" y="1481328"/>
            <a:ext cx="1975104" cy="2487168"/>
          </a:xfrm>
          <a:prstGeom prst="roundRect">
            <a:avLst>
              <a:gd name="adj" fmla="val 277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2" name="proto head">
            <a:extLst>
              <a:ext uri="{C183D7F6-B498-43B3-948B-1728B52AA6E4}">
                <adec:decorative xmlns:adec="http://schemas.microsoft.com/office/drawing/2017/decorative" val="1"/>
              </a:ext>
            </a:extLst>
          </p:cNvPr>
          <p:cNvSpPr/>
          <p:nvPr/>
        </p:nvSpPr>
        <p:spPr>
          <a:xfrm>
            <a:off x="4809744" y="1481328"/>
            <a:ext cx="1975104" cy="566928"/>
          </a:xfrm>
          <a:prstGeom prst="rect">
            <a:avLst/>
          </a:prstGeom>
          <a:solidFill>
            <a:srgbClr val="B98CE0"/>
          </a:solidFill>
          <a:ln/>
        </p:spPr>
        <p:txBody>
          <a:bodyPr/>
          <a:lstStyle/>
          <a:p>
            <a:endParaRPr lang="en-SE"/>
          </a:p>
        </p:txBody>
      </p:sp>
      <p:sp>
        <p:nvSpPr>
          <p:cNvPr id="23" name="Text 21"/>
          <p:cNvSpPr/>
          <p:nvPr/>
        </p:nvSpPr>
        <p:spPr>
          <a:xfrm>
            <a:off x="4809744" y="1499616"/>
            <a:ext cx="1975104" cy="384048"/>
          </a:xfrm>
          <a:prstGeom prst="rect">
            <a:avLst/>
          </a:prstGeom>
          <a:noFill/>
          <a:ln/>
        </p:spPr>
        <p:txBody>
          <a:bodyPr wrap="square" lIns="0" tIns="0" rIns="0" bIns="0" rtlCol="0" anchor="ctr"/>
          <a:lstStyle/>
          <a:p>
            <a:pPr marL="0" indent="0" algn="ctr">
              <a:buNone/>
            </a:pPr>
            <a:r>
              <a:rPr lang="en-US" sz="1900" b="1" dirty="0">
                <a:solidFill>
                  <a:srgbClr val="161616"/>
                </a:solidFill>
                <a:latin typeface="Arial" pitchFamily="34" charset="0"/>
                <a:ea typeface="Arial" pitchFamily="34" charset="-122"/>
                <a:cs typeface="Arial" pitchFamily="34" charset="-120"/>
              </a:rPr>
              <a:t>CALF</a:t>
            </a:r>
            <a:endParaRPr lang="en-US" sz="1900" dirty="0"/>
          </a:p>
        </p:txBody>
      </p:sp>
      <p:sp>
        <p:nvSpPr>
          <p:cNvPr id="24" name="Text 22"/>
          <p:cNvSpPr/>
          <p:nvPr/>
        </p:nvSpPr>
        <p:spPr>
          <a:xfrm>
            <a:off x="4809744" y="1847088"/>
            <a:ext cx="1975104" cy="201168"/>
          </a:xfrm>
          <a:prstGeom prst="rect">
            <a:avLst/>
          </a:prstGeom>
          <a:noFill/>
          <a:ln/>
        </p:spPr>
        <p:txBody>
          <a:bodyPr wrap="square" lIns="0" tIns="0" rIns="0" bIns="0" rtlCol="0" anchor="ctr"/>
          <a:lstStyle/>
          <a:p>
            <a:pPr marL="0" indent="0" algn="ctr">
              <a:buNone/>
            </a:pPr>
            <a:r>
              <a:rPr lang="en-US" sz="900" b="1" dirty="0">
                <a:solidFill>
                  <a:srgbClr val="161616"/>
                </a:solidFill>
                <a:latin typeface="Courier New" pitchFamily="34" charset="0"/>
                <a:ea typeface="Courier New" pitchFamily="34" charset="-122"/>
                <a:cs typeface="Courier New" pitchFamily="34" charset="-120"/>
              </a:rPr>
              <a:t>Channel ALF</a:t>
            </a:r>
            <a:endParaRPr lang="en-US" sz="900" dirty="0"/>
          </a:p>
        </p:txBody>
      </p:sp>
      <p:sp>
        <p:nvSpPr>
          <p:cNvPr id="25" name="Text 23"/>
          <p:cNvSpPr/>
          <p:nvPr/>
        </p:nvSpPr>
        <p:spPr>
          <a:xfrm>
            <a:off x="4956048" y="2194560"/>
            <a:ext cx="1682496" cy="822960"/>
          </a:xfrm>
          <a:prstGeom prst="rect">
            <a:avLst/>
          </a:prstGeom>
          <a:noFill/>
          <a:ln/>
        </p:spPr>
        <p:txBody>
          <a:bodyPr wrap="square" lIns="0" tIns="0" rIns="0" bIns="0" rtlCol="0" anchor="t"/>
          <a:lstStyle/>
          <a:p>
            <a:pPr marL="0" indent="0" algn="l">
              <a:lnSpc>
                <a:spcPct val="106000"/>
              </a:lnSpc>
              <a:buNone/>
            </a:pPr>
            <a:r>
              <a:rPr lang="en-US" sz="1100" dirty="0">
                <a:solidFill>
                  <a:srgbClr val="ECECEC"/>
                </a:solidFill>
                <a:latin typeface="Calibri" pitchFamily="34" charset="0"/>
                <a:ea typeface="Calibri" pitchFamily="34" charset="-122"/>
                <a:cs typeface="Calibri" pitchFamily="34" charset="-120"/>
              </a:rPr>
              <a:t>Market-data feed — 7 channels</a:t>
            </a:r>
            <a:endParaRPr lang="en-US" sz="1100" dirty="0"/>
          </a:p>
        </p:txBody>
      </p:sp>
      <p:sp>
        <p:nvSpPr>
          <p:cNvPr id="26" name="Text 24"/>
          <p:cNvSpPr/>
          <p:nvPr/>
        </p:nvSpPr>
        <p:spPr>
          <a:xfrm>
            <a:off x="4956048" y="3072384"/>
            <a:ext cx="1682496" cy="274320"/>
          </a:xfrm>
          <a:prstGeom prst="rect">
            <a:avLst/>
          </a:prstGeom>
          <a:noFill/>
          <a:ln/>
        </p:spPr>
        <p:txBody>
          <a:bodyPr wrap="square" lIns="0" tIns="0" rIns="0" bIns="0" rtlCol="0" anchor="ctr"/>
          <a:lstStyle/>
          <a:p>
            <a:pPr marL="0" indent="0" algn="l">
              <a:buNone/>
            </a:pPr>
            <a:r>
              <a:rPr lang="en-US" sz="1050" dirty="0">
                <a:solidFill>
                  <a:srgbClr val="C3CDD6"/>
                </a:solidFill>
                <a:latin typeface="Courier New" pitchFamily="34" charset="0"/>
                <a:ea typeface="Courier New" pitchFamily="34" charset="-122"/>
                <a:cs typeface="Courier New" pitchFamily="34" charset="-120"/>
              </a:rPr>
              <a:t>pm-md-gwy</a:t>
            </a:r>
            <a:endParaRPr lang="en-US" sz="1050" dirty="0"/>
          </a:p>
        </p:txBody>
      </p:sp>
      <p:sp>
        <p:nvSpPr>
          <p:cNvPr id="27" name="card">
            <a:extLst>
              <a:ext uri="{C183D7F6-B498-43B3-948B-1728B52AA6E4}">
                <adec:decorative xmlns:adec="http://schemas.microsoft.com/office/drawing/2017/decorative" val="1"/>
              </a:ext>
            </a:extLst>
          </p:cNvPr>
          <p:cNvSpPr/>
          <p:nvPr/>
        </p:nvSpPr>
        <p:spPr>
          <a:xfrm>
            <a:off x="4956048" y="3419856"/>
            <a:ext cx="1682496" cy="384048"/>
          </a:xfrm>
          <a:prstGeom prst="roundRect">
            <a:avLst>
              <a:gd name="adj" fmla="val 14286"/>
            </a:avLst>
          </a:prstGeom>
          <a:solidFill>
            <a:srgbClr val="202027"/>
          </a:solidFill>
          <a:ln w="12700">
            <a:solidFill>
              <a:srgbClr val="B98CE0"/>
            </a:solidFill>
            <a:prstDash val="solid"/>
          </a:ln>
        </p:spPr>
        <p:txBody>
          <a:bodyPr/>
          <a:lstStyle/>
          <a:p>
            <a:endParaRPr lang="en-SE"/>
          </a:p>
        </p:txBody>
      </p:sp>
      <p:sp>
        <p:nvSpPr>
          <p:cNvPr id="28" name="Text 26"/>
          <p:cNvSpPr/>
          <p:nvPr/>
        </p:nvSpPr>
        <p:spPr>
          <a:xfrm>
            <a:off x="4956048" y="3419856"/>
            <a:ext cx="1682496" cy="384048"/>
          </a:xfrm>
          <a:prstGeom prst="rect">
            <a:avLst/>
          </a:prstGeom>
          <a:noFill/>
          <a:ln/>
        </p:spPr>
        <p:txBody>
          <a:bodyPr wrap="square" lIns="0" tIns="0" rIns="0" bIns="0" rtlCol="0" anchor="ctr"/>
          <a:lstStyle/>
          <a:p>
            <a:pPr marL="0" indent="0" algn="ctr">
              <a:buNone/>
            </a:pPr>
            <a:r>
              <a:rPr lang="en-US" sz="1150" b="1" dirty="0">
                <a:solidFill>
                  <a:srgbClr val="B98CE0"/>
                </a:solidFill>
                <a:latin typeface="Courier New" pitchFamily="34" charset="0"/>
                <a:ea typeface="Courier New" pitchFamily="34" charset="-122"/>
                <a:cs typeface="Courier New" pitchFamily="34" charset="-120"/>
              </a:rPr>
              <a:t>TCP 5570</a:t>
            </a:r>
            <a:endParaRPr lang="en-US" sz="1150" dirty="0"/>
          </a:p>
        </p:txBody>
      </p:sp>
      <p:sp>
        <p:nvSpPr>
          <p:cNvPr id="29" name="card">
            <a:extLst>
              <a:ext uri="{C183D7F6-B498-43B3-948B-1728B52AA6E4}">
                <adec:decorative xmlns:adec="http://schemas.microsoft.com/office/drawing/2017/decorative" val="1"/>
              </a:ext>
            </a:extLst>
          </p:cNvPr>
          <p:cNvSpPr/>
          <p:nvPr/>
        </p:nvSpPr>
        <p:spPr>
          <a:xfrm>
            <a:off x="6931152" y="1481328"/>
            <a:ext cx="1975104" cy="2487168"/>
          </a:xfrm>
          <a:prstGeom prst="roundRect">
            <a:avLst>
              <a:gd name="adj" fmla="val 2778"/>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0" name="proto head">
            <a:extLst>
              <a:ext uri="{C183D7F6-B498-43B3-948B-1728B52AA6E4}">
                <adec:decorative xmlns:adec="http://schemas.microsoft.com/office/drawing/2017/decorative" val="1"/>
              </a:ext>
            </a:extLst>
          </p:cNvPr>
          <p:cNvSpPr/>
          <p:nvPr/>
        </p:nvSpPr>
        <p:spPr>
          <a:xfrm>
            <a:off x="6931152" y="1481328"/>
            <a:ext cx="1975104" cy="566928"/>
          </a:xfrm>
          <a:prstGeom prst="rect">
            <a:avLst/>
          </a:prstGeom>
          <a:solidFill>
            <a:srgbClr val="5FC98E"/>
          </a:solidFill>
          <a:ln/>
        </p:spPr>
        <p:txBody>
          <a:bodyPr/>
          <a:lstStyle/>
          <a:p>
            <a:endParaRPr lang="en-SE"/>
          </a:p>
        </p:txBody>
      </p:sp>
      <p:sp>
        <p:nvSpPr>
          <p:cNvPr id="31" name="Text 29"/>
          <p:cNvSpPr/>
          <p:nvPr/>
        </p:nvSpPr>
        <p:spPr>
          <a:xfrm>
            <a:off x="6931152" y="1499616"/>
            <a:ext cx="1975104" cy="384048"/>
          </a:xfrm>
          <a:prstGeom prst="rect">
            <a:avLst/>
          </a:prstGeom>
          <a:noFill/>
          <a:ln/>
        </p:spPr>
        <p:txBody>
          <a:bodyPr wrap="square" lIns="0" tIns="0" rIns="0" bIns="0" rtlCol="0" anchor="ctr"/>
          <a:lstStyle/>
          <a:p>
            <a:pPr marL="0" indent="0" algn="ctr">
              <a:buNone/>
            </a:pPr>
            <a:r>
              <a:rPr lang="en-US" sz="1900" b="1" dirty="0">
                <a:solidFill>
                  <a:srgbClr val="161616"/>
                </a:solidFill>
                <a:latin typeface="Arial" pitchFamily="34" charset="0"/>
                <a:ea typeface="Arial" pitchFamily="34" charset="-122"/>
                <a:cs typeface="Arial" pitchFamily="34" charset="-120"/>
              </a:rPr>
              <a:t>RALF</a:t>
            </a:r>
            <a:endParaRPr lang="en-US" sz="1900" dirty="0"/>
          </a:p>
        </p:txBody>
      </p:sp>
      <p:sp>
        <p:nvSpPr>
          <p:cNvPr id="32" name="Text 30"/>
          <p:cNvSpPr/>
          <p:nvPr/>
        </p:nvSpPr>
        <p:spPr>
          <a:xfrm>
            <a:off x="6931152" y="1847088"/>
            <a:ext cx="1975104" cy="201168"/>
          </a:xfrm>
          <a:prstGeom prst="rect">
            <a:avLst/>
          </a:prstGeom>
          <a:noFill/>
          <a:ln/>
        </p:spPr>
        <p:txBody>
          <a:bodyPr wrap="square" lIns="0" tIns="0" rIns="0" bIns="0" rtlCol="0" anchor="ctr"/>
          <a:lstStyle/>
          <a:p>
            <a:pPr marL="0" indent="0" algn="ctr">
              <a:buNone/>
            </a:pPr>
            <a:r>
              <a:rPr lang="en-US" sz="900" b="1" dirty="0">
                <a:solidFill>
                  <a:srgbClr val="161616"/>
                </a:solidFill>
                <a:latin typeface="Courier New" pitchFamily="34" charset="0"/>
                <a:ea typeface="Courier New" pitchFamily="34" charset="-122"/>
                <a:cs typeface="Courier New" pitchFamily="34" charset="-120"/>
              </a:rPr>
              <a:t>Reconciliation ALF</a:t>
            </a:r>
            <a:endParaRPr lang="en-US" sz="900" dirty="0"/>
          </a:p>
        </p:txBody>
      </p:sp>
      <p:sp>
        <p:nvSpPr>
          <p:cNvPr id="33" name="Text 31"/>
          <p:cNvSpPr/>
          <p:nvPr/>
        </p:nvSpPr>
        <p:spPr>
          <a:xfrm>
            <a:off x="7077456" y="2194560"/>
            <a:ext cx="1682496" cy="822960"/>
          </a:xfrm>
          <a:prstGeom prst="rect">
            <a:avLst/>
          </a:prstGeom>
          <a:noFill/>
          <a:ln/>
        </p:spPr>
        <p:txBody>
          <a:bodyPr wrap="square" lIns="0" tIns="0" rIns="0" bIns="0" rtlCol="0" anchor="t"/>
          <a:lstStyle/>
          <a:p>
            <a:pPr marL="0" indent="0" algn="l">
              <a:lnSpc>
                <a:spcPct val="106000"/>
              </a:lnSpc>
              <a:buNone/>
            </a:pPr>
            <a:r>
              <a:rPr lang="en-US" sz="1100" dirty="0">
                <a:solidFill>
                  <a:srgbClr val="ECECEC"/>
                </a:solidFill>
                <a:latin typeface="Calibri" pitchFamily="34" charset="0"/>
                <a:ea typeface="Calibri" pitchFamily="34" charset="-122"/>
                <a:cs typeface="Calibri" pitchFamily="34" charset="-120"/>
              </a:rPr>
              <a:t>Post-trade — clearing / drop-copy / audit</a:t>
            </a:r>
            <a:endParaRPr lang="en-US" sz="1100" dirty="0"/>
          </a:p>
        </p:txBody>
      </p:sp>
      <p:sp>
        <p:nvSpPr>
          <p:cNvPr id="34" name="Text 32"/>
          <p:cNvSpPr/>
          <p:nvPr/>
        </p:nvSpPr>
        <p:spPr>
          <a:xfrm>
            <a:off x="7077456" y="3072384"/>
            <a:ext cx="1682496" cy="274320"/>
          </a:xfrm>
          <a:prstGeom prst="rect">
            <a:avLst/>
          </a:prstGeom>
          <a:noFill/>
          <a:ln/>
        </p:spPr>
        <p:txBody>
          <a:bodyPr wrap="square" lIns="0" tIns="0" rIns="0" bIns="0" rtlCol="0" anchor="ctr"/>
          <a:lstStyle/>
          <a:p>
            <a:pPr marL="0" indent="0" algn="l">
              <a:buNone/>
            </a:pPr>
            <a:r>
              <a:rPr lang="en-US" sz="1050" dirty="0">
                <a:solidFill>
                  <a:srgbClr val="C3CDD6"/>
                </a:solidFill>
                <a:latin typeface="Courier New" pitchFamily="34" charset="0"/>
                <a:ea typeface="Courier New" pitchFamily="34" charset="-122"/>
                <a:cs typeface="Courier New" pitchFamily="34" charset="-120"/>
              </a:rPr>
              <a:t>pm-ralf-gwy</a:t>
            </a:r>
            <a:endParaRPr lang="en-US" sz="1050" dirty="0"/>
          </a:p>
        </p:txBody>
      </p:sp>
      <p:sp>
        <p:nvSpPr>
          <p:cNvPr id="35" name="card">
            <a:extLst>
              <a:ext uri="{C183D7F6-B498-43B3-948B-1728B52AA6E4}">
                <adec:decorative xmlns:adec="http://schemas.microsoft.com/office/drawing/2017/decorative" val="1"/>
              </a:ext>
            </a:extLst>
          </p:cNvPr>
          <p:cNvSpPr/>
          <p:nvPr/>
        </p:nvSpPr>
        <p:spPr>
          <a:xfrm>
            <a:off x="7077456" y="3419856"/>
            <a:ext cx="1682496" cy="384048"/>
          </a:xfrm>
          <a:prstGeom prst="roundRect">
            <a:avLst>
              <a:gd name="adj" fmla="val 14286"/>
            </a:avLst>
          </a:prstGeom>
          <a:solidFill>
            <a:srgbClr val="202027"/>
          </a:solidFill>
          <a:ln w="12700">
            <a:solidFill>
              <a:srgbClr val="5FC98E"/>
            </a:solidFill>
            <a:prstDash val="solid"/>
          </a:ln>
        </p:spPr>
        <p:txBody>
          <a:bodyPr/>
          <a:lstStyle/>
          <a:p>
            <a:endParaRPr lang="en-SE"/>
          </a:p>
        </p:txBody>
      </p:sp>
      <p:sp>
        <p:nvSpPr>
          <p:cNvPr id="36" name="Text 34"/>
          <p:cNvSpPr/>
          <p:nvPr/>
        </p:nvSpPr>
        <p:spPr>
          <a:xfrm>
            <a:off x="7077456" y="3419856"/>
            <a:ext cx="1682496" cy="384048"/>
          </a:xfrm>
          <a:prstGeom prst="rect">
            <a:avLst/>
          </a:prstGeom>
          <a:noFill/>
          <a:ln/>
        </p:spPr>
        <p:txBody>
          <a:bodyPr wrap="square" lIns="0" tIns="0" rIns="0" bIns="0" rtlCol="0" anchor="ctr"/>
          <a:lstStyle/>
          <a:p>
            <a:pPr marL="0" indent="0" algn="ctr">
              <a:buNone/>
            </a:pPr>
            <a:r>
              <a:rPr lang="en-US" sz="1150" b="1" dirty="0">
                <a:solidFill>
                  <a:srgbClr val="5FC98E"/>
                </a:solidFill>
                <a:latin typeface="Courier New" pitchFamily="34" charset="0"/>
                <a:ea typeface="Courier New" pitchFamily="34" charset="-122"/>
                <a:cs typeface="Courier New" pitchFamily="34" charset="-120"/>
              </a:rPr>
              <a:t>TCP 5580</a:t>
            </a:r>
            <a:endParaRPr lang="en-US" sz="1150" dirty="0"/>
          </a:p>
        </p:txBody>
      </p:sp>
      <p:sp>
        <p:nvSpPr>
          <p:cNvPr id="37" name="Text 35"/>
          <p:cNvSpPr/>
          <p:nvPr/>
        </p:nvSpPr>
        <p:spPr>
          <a:xfrm>
            <a:off x="566928" y="4114800"/>
            <a:ext cx="1463040" cy="292608"/>
          </a:xfrm>
          <a:prstGeom prst="rect">
            <a:avLst/>
          </a:prstGeom>
          <a:noFill/>
          <a:ln/>
        </p:spPr>
        <p:txBody>
          <a:bodyPr wrap="square" lIns="0" tIns="0" rIns="0" bIns="0" rtlCol="0" anchor="ctr"/>
          <a:lstStyle/>
          <a:p>
            <a:pPr marL="0" indent="0" algn="l">
              <a:buNone/>
            </a:pPr>
            <a:r>
              <a:rPr lang="en-US" sz="1100" b="1" dirty="0">
                <a:solidFill>
                  <a:srgbClr val="F2860D"/>
                </a:solidFill>
                <a:latin typeface="Calibri" pitchFamily="34" charset="0"/>
                <a:ea typeface="Calibri" pitchFamily="34" charset="-122"/>
                <a:cs typeface="Calibri" pitchFamily="34" charset="-120"/>
              </a:rPr>
              <a:t>Core ZMQ bus:</a:t>
            </a:r>
            <a:endParaRPr lang="en-US" sz="1100" dirty="0"/>
          </a:p>
        </p:txBody>
      </p:sp>
      <p:sp>
        <p:nvSpPr>
          <p:cNvPr id="38" name="Text 36"/>
          <p:cNvSpPr/>
          <p:nvPr/>
        </p:nvSpPr>
        <p:spPr>
          <a:xfrm>
            <a:off x="2011680" y="4114800"/>
            <a:ext cx="6492240" cy="292608"/>
          </a:xfrm>
          <a:prstGeom prst="rect">
            <a:avLst/>
          </a:prstGeom>
          <a:noFill/>
          <a:ln/>
        </p:spPr>
        <p:txBody>
          <a:bodyPr wrap="square" lIns="0" tIns="0" rIns="0" bIns="0" rtlCol="0" anchor="ctr"/>
          <a:lstStyle/>
          <a:p>
            <a:pPr marL="0" indent="0" algn="l">
              <a:buNone/>
            </a:pPr>
            <a:r>
              <a:rPr lang="en-US" sz="1050" dirty="0">
                <a:solidFill>
                  <a:srgbClr val="B4B4BE"/>
                </a:solidFill>
                <a:latin typeface="Courier New" pitchFamily="34" charset="0"/>
                <a:ea typeface="Courier New" pitchFamily="34" charset="-122"/>
                <a:cs typeface="Courier New" pitchFamily="34" charset="-120"/>
              </a:rPr>
              <a:t>engine PULL 5555  ·  PUB 5556  ·  drop-copy 5557  ·  pm-index 5559</a:t>
            </a:r>
            <a:endParaRPr lang="en-US" sz="1050" dirty="0"/>
          </a:p>
        </p:txBody>
      </p:sp>
      <p:sp>
        <p:nvSpPr>
          <p:cNvPr id="39" name="Text 37"/>
          <p:cNvSpPr/>
          <p:nvPr/>
        </p:nvSpPr>
        <p:spPr>
          <a:xfrm>
            <a:off x="566928" y="4443984"/>
            <a:ext cx="1463040" cy="292608"/>
          </a:xfrm>
          <a:prstGeom prst="rect">
            <a:avLst/>
          </a:prstGeom>
          <a:noFill/>
          <a:ln/>
        </p:spPr>
        <p:txBody>
          <a:bodyPr wrap="square" lIns="0" tIns="0" rIns="0" bIns="0" rtlCol="0" anchor="ctr"/>
          <a:lstStyle/>
          <a:p>
            <a:pPr marL="0" indent="0" algn="l">
              <a:buNone/>
            </a:pPr>
            <a:r>
              <a:rPr lang="en-US" sz="1100" b="1" dirty="0">
                <a:solidFill>
                  <a:srgbClr val="4FB3CC"/>
                </a:solidFill>
                <a:latin typeface="Calibri" pitchFamily="34" charset="0"/>
                <a:ea typeface="Calibri" pitchFamily="34" charset="-122"/>
                <a:cs typeface="Calibri" pitchFamily="34" charset="-120"/>
              </a:rPr>
              <a:t>Spy tools:</a:t>
            </a:r>
            <a:endParaRPr lang="en-US" sz="1100" dirty="0"/>
          </a:p>
        </p:txBody>
      </p:sp>
      <p:sp>
        <p:nvSpPr>
          <p:cNvPr id="40" name="Text 38"/>
          <p:cNvSpPr/>
          <p:nvPr/>
        </p:nvSpPr>
        <p:spPr>
          <a:xfrm>
            <a:off x="2011680" y="4443984"/>
            <a:ext cx="6492240" cy="292608"/>
          </a:xfrm>
          <a:prstGeom prst="rect">
            <a:avLst/>
          </a:prstGeom>
          <a:noFill/>
          <a:ln/>
        </p:spPr>
        <p:txBody>
          <a:bodyPr wrap="square" lIns="0" tIns="0" rIns="0" bIns="0" rtlCol="0" anchor="ctr"/>
          <a:lstStyle/>
          <a:p>
            <a:pPr marL="0" indent="0" algn="l">
              <a:buNone/>
            </a:pPr>
            <a:r>
              <a:rPr lang="en-US" sz="1050" dirty="0">
                <a:solidFill>
                  <a:srgbClr val="B4B4BE"/>
                </a:solidFill>
                <a:latin typeface="Courier New" pitchFamily="34" charset="0"/>
                <a:ea typeface="Courier New" pitchFamily="34" charset="-122"/>
                <a:cs typeface="Courier New" pitchFamily="34" charset="-120"/>
              </a:rPr>
              <a:t>pm-calf-spy  ·  pm-ralf-spy  —  live views of the CALF &amp; RALF feeds</a:t>
            </a:r>
            <a:endParaRPr lang="en-US" sz="1050" dirty="0"/>
          </a:p>
        </p:txBody>
      </p:sp>
      <p:sp>
        <p:nvSpPr>
          <p:cNvPr id="42" name="Text 39"/>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43" name="Text 40"/>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ALF Protocol">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09 · PROTOCOLS · ALF</a:t>
            </a:r>
            <a:endParaRPr lang="en-US"/>
          </a:p>
        </p:txBody>
      </p:sp>
      <p:sp>
        <p:nvSpPr>
          <p:cNvPr id="4" name="Title"/>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dirty="0">
                <a:solidFill>
                  <a:srgbClr val="ECECEC"/>
                </a:solidFill>
                <a:latin typeface="Arial" pitchFamily="34" charset="0"/>
                <a:ea typeface="Arial" pitchFamily="34" charset="-122"/>
                <a:cs typeface="Arial" pitchFamily="34" charset="-120"/>
              </a:rPr>
              <a:t>ALF - the order-entry language</a:t>
            </a:r>
            <a:endParaRPr lang="en-US" sz="2900" dirty="0"/>
          </a:p>
        </p:txBody>
      </p:sp>
      <p:sp>
        <p:nvSpPr>
          <p:cNvPr id="5" name="identity bar">
            <a:extLst>
              <a:ext uri="{C183D7F6-B498-43B3-948B-1728B52AA6E4}">
                <adec:decorative xmlns:adec="http://schemas.microsoft.com/office/drawing/2017/decorative" val="1"/>
              </a:ext>
            </a:extLst>
          </p:cNvPr>
          <p:cNvSpPr/>
          <p:nvPr/>
        </p:nvSpPr>
        <p:spPr>
          <a:xfrm>
            <a:off x="566928" y="1370000"/>
            <a:ext cx="8010144" cy="452000"/>
          </a:xfrm>
          <a:prstGeom prst="roundRect">
            <a:avLst>
              <a:gd name="adj" fmla="val 14286"/>
            </a:avLst>
          </a:prstGeom>
          <a:solidFill>
            <a:srgbClr val="202027"/>
          </a:solidFill>
          <a:ln w="12700">
            <a:solidFill>
              <a:srgbClr val="F2860D"/>
            </a:solidFill>
            <a:prstDash val="solid"/>
          </a:ln>
        </p:spPr>
        <p:txBody>
          <a:bodyPr/>
          <a:lstStyle/>
          <a:p>
            <a:endParaRPr lang="en-SE"/>
          </a:p>
        </p:txBody>
      </p:sp>
      <p:sp>
        <p:nvSpPr>
          <p:cNvPr id="6" name="identity text"/>
          <p:cNvSpPr/>
          <p:nvPr/>
        </p:nvSpPr>
        <p:spPr>
          <a:xfrm>
            <a:off x="746928" y="1370000"/>
            <a:ext cx="7650144" cy="452000"/>
          </a:xfrm>
          <a:prstGeom prst="rect">
            <a:avLst/>
          </a:prstGeom>
          <a:noFill/>
          <a:ln/>
        </p:spPr>
        <p:txBody>
          <a:bodyPr wrap="square" lIns="0" tIns="0" rIns="0" bIns="0" rtlCol="0" anchor="ctr"/>
          <a:lstStyle/>
          <a:p>
            <a:pPr marL="0" indent="0" algn="l">
              <a:buNone/>
            </a:pPr>
            <a:r>
              <a:rPr lang="en-US" sz="1150" b="1" kern="0">
                <a:solidFill>
                  <a:srgbClr val="F2860D"/>
                </a:solidFill>
                <a:latin typeface="Courier New" pitchFamily="34" charset="0"/>
                <a:ea typeface="Courier New" pitchFamily="34" charset="-122"/>
                <a:cs typeface="Courier New" pitchFamily="34" charset="-120"/>
              </a:rPr>
              <a:t>Almost FIX   ·   pm-alf-console / pm-alf-gwy   ·   TCP 5565</a:t>
            </a:r>
            <a:endParaRPr lang="en-US"/>
          </a:p>
        </p:txBody>
      </p:sp>
      <p:sp>
        <p:nvSpPr>
          <p:cNvPr id="10" name="label"/>
          <p:cNvSpPr/>
          <p:nvPr/>
        </p:nvSpPr>
        <p:spPr>
          <a:xfrm>
            <a:off x="566928" y="1980000"/>
            <a:ext cx="4200000" cy="210000"/>
          </a:xfrm>
          <a:prstGeom prst="rect">
            <a:avLst/>
          </a:prstGeom>
          <a:noFill/>
          <a:ln/>
        </p:spPr>
        <p:txBody>
          <a:bodyPr wrap="square" lIns="0" tIns="0" rIns="0" bIns="0" rtlCol="0" anchor="ctr"/>
          <a:lstStyle/>
          <a:p>
            <a:pPr marL="0" indent="0" algn="l">
              <a:buNone/>
            </a:pPr>
            <a:r>
              <a:rPr lang="en-US" sz="1000" b="1" kern="0" spc="150">
                <a:solidFill>
                  <a:srgbClr val="F2860D"/>
                </a:solidFill>
                <a:latin typeface="Courier New" pitchFamily="34" charset="0"/>
                <a:ea typeface="Courier New" pitchFamily="34" charset="-122"/>
                <a:cs typeface="Courier New" pitchFamily="34" charset="-120"/>
              </a:rPr>
              <a:t>PURPOSE</a:t>
            </a:r>
            <a:endParaRPr lang="en-US"/>
          </a:p>
        </p:txBody>
      </p:sp>
      <p:sp>
        <p:nvSpPr>
          <p:cNvPr id="11" name="purpose body"/>
          <p:cNvSpPr/>
          <p:nvPr/>
        </p:nvSpPr>
        <p:spPr>
          <a:xfrm>
            <a:off x="566928" y="2190000"/>
            <a:ext cx="3660000" cy="64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The active order-entry protocol — how participants place, amend and cancel orders. Human-readable and the base protocol every other one is named after.</a:t>
            </a:r>
            <a:endParaRPr lang="en-US"/>
          </a:p>
        </p:txBody>
      </p:sp>
      <p:sp>
        <p:nvSpPr>
          <p:cNvPr id="12" name="label"/>
          <p:cNvSpPr/>
          <p:nvPr/>
        </p:nvSpPr>
        <p:spPr>
          <a:xfrm>
            <a:off x="566928" y="2900000"/>
            <a:ext cx="4200000" cy="210000"/>
          </a:xfrm>
          <a:prstGeom prst="rect">
            <a:avLst/>
          </a:prstGeom>
          <a:noFill/>
          <a:ln/>
        </p:spPr>
        <p:txBody>
          <a:bodyPr wrap="square" lIns="0" tIns="0" rIns="0" bIns="0" rtlCol="0" anchor="ctr"/>
          <a:lstStyle/>
          <a:p>
            <a:pPr marL="0" indent="0" algn="l">
              <a:buNone/>
            </a:pPr>
            <a:r>
              <a:rPr lang="en-US" sz="1000" b="1" kern="0" spc="150">
                <a:solidFill>
                  <a:srgbClr val="F2860D"/>
                </a:solidFill>
                <a:latin typeface="Courier New" pitchFamily="34" charset="0"/>
                <a:ea typeface="Courier New" pitchFamily="34" charset="-122"/>
                <a:cs typeface="Courier New" pitchFamily="34" charset="-120"/>
              </a:rPr>
              <a:t>FORMAT / SYNTAX</a:t>
            </a:r>
            <a:endParaRPr lang="en-US"/>
          </a:p>
        </p:txBody>
      </p:sp>
      <p:sp>
        <p:nvSpPr>
          <p:cNvPr id="13" name="format body"/>
          <p:cNvSpPr/>
          <p:nvPr/>
        </p:nvSpPr>
        <p:spPr>
          <a:xfrm>
            <a:off x="566928" y="3110000"/>
            <a:ext cx="3660000" cy="560000"/>
          </a:xfrm>
          <a:prstGeom prst="rect">
            <a:avLst/>
          </a:prstGeom>
          <a:noFill/>
          <a:ln/>
        </p:spPr>
        <p:txBody>
          <a:bodyPr wrap="square" lIns="0" tIns="0" rIns="0" bIns="0" rtlCol="0" anchor="t"/>
          <a:lstStyle/>
          <a:p>
            <a:pPr marL="0" indent="0" algn="l">
              <a:lnSpc>
                <a:spcPct val="108000"/>
              </a:lnSpc>
              <a:buNone/>
            </a:pPr>
            <a:r>
              <a:rPr lang="en-US" sz="1050" kern="0">
                <a:solidFill>
                  <a:srgbClr val="C3CDD6"/>
                </a:solidFill>
                <a:latin typeface="Calibri" pitchFamily="34" charset="0"/>
                <a:ea typeface="Calibri" pitchFamily="34" charset="-122"/>
                <a:cs typeface="Calibri" pitchFamily="34" charset="-120"/>
              </a:rPr>
              <a:t>Pipe-delimited FIELD=VALUE text, one message per line. Verbs: NEW, AMEND, CANCEL, QUOTE, KILL, STATUS, ORDERS, POS.</a:t>
            </a:r>
            <a:endParaRPr lang="en-US"/>
          </a:p>
        </p:txBody>
      </p:sp>
      <p:sp>
        <p:nvSpPr>
          <p:cNvPr id="14" name="label"/>
          <p:cNvSpPr/>
          <p:nvPr/>
        </p:nvSpPr>
        <p:spPr>
          <a:xfrm>
            <a:off x="566928" y="3720000"/>
            <a:ext cx="4200000" cy="210000"/>
          </a:xfrm>
          <a:prstGeom prst="rect">
            <a:avLst/>
          </a:prstGeom>
          <a:noFill/>
          <a:ln/>
        </p:spPr>
        <p:txBody>
          <a:bodyPr wrap="square" lIns="0" tIns="0" rIns="0" bIns="0" rtlCol="0" anchor="ctr"/>
          <a:lstStyle/>
          <a:p>
            <a:pPr marL="0" indent="0" algn="l">
              <a:buNone/>
            </a:pPr>
            <a:r>
              <a:rPr lang="en-US" sz="1000" b="1" kern="0" spc="150">
                <a:solidFill>
                  <a:srgbClr val="F2860D"/>
                </a:solidFill>
                <a:latin typeface="Courier New" pitchFamily="34" charset="0"/>
                <a:ea typeface="Courier New" pitchFamily="34" charset="-122"/>
                <a:cs typeface="Courier New" pitchFamily="34" charset="-120"/>
              </a:rPr>
              <a:t>EXAMPLE</a:t>
            </a:r>
            <a:endParaRPr lang="en-US"/>
          </a:p>
        </p:txBody>
      </p:sp>
      <p:sp>
        <p:nvSpPr>
          <p:cNvPr id="15" name="example box">
            <a:extLst>
              <a:ext uri="{C183D7F6-B498-43B3-948B-1728B52AA6E4}">
                <adec:decorative xmlns:adec="http://schemas.microsoft.com/office/drawing/2017/decorative" val="1"/>
              </a:ext>
            </a:extLst>
          </p:cNvPr>
          <p:cNvSpPr/>
          <p:nvPr/>
        </p:nvSpPr>
        <p:spPr>
          <a:xfrm>
            <a:off x="566928" y="3930000"/>
            <a:ext cx="3660000" cy="620000"/>
          </a:xfrm>
          <a:prstGeom prst="roundRect">
            <a:avLst>
              <a:gd name="adj" fmla="val 8000"/>
            </a:avLst>
          </a:prstGeom>
          <a:solidFill>
            <a:srgbClr val="202027"/>
          </a:solidFill>
          <a:ln w="12700">
            <a:solidFill>
              <a:srgbClr val="F2860D"/>
            </a:solidFill>
            <a:prstDash val="solid"/>
          </a:ln>
        </p:spPr>
        <p:txBody>
          <a:bodyPr/>
          <a:lstStyle/>
          <a:p>
            <a:endParaRPr lang="en-SE"/>
          </a:p>
        </p:txBody>
      </p:sp>
      <p:sp>
        <p:nvSpPr>
          <p:cNvPr id="16" name="example text"/>
          <p:cNvSpPr/>
          <p:nvPr/>
        </p:nvSpPr>
        <p:spPr>
          <a:xfrm>
            <a:off x="696928" y="3930000"/>
            <a:ext cx="3400000" cy="620000"/>
          </a:xfrm>
          <a:prstGeom prst="rect">
            <a:avLst/>
          </a:prstGeom>
          <a:noFill/>
          <a:ln/>
        </p:spPr>
        <p:txBody>
          <a:bodyPr wrap="square" lIns="0" tIns="0" rIns="0" bIns="0" rtlCol="0" anchor="ctr"/>
          <a:lstStyle/>
          <a:p>
            <a:pPr marL="0" indent="0" algn="l">
              <a:lnSpc>
                <a:spcPct val="120000"/>
              </a:lnSpc>
              <a:buNone/>
            </a:pPr>
            <a:r>
              <a:rPr lang="en-US" sz="900" kern="0">
                <a:solidFill>
                  <a:srgbClr val="ECECEC"/>
                </a:solidFill>
                <a:latin typeface="Courier New" pitchFamily="34" charset="0"/>
                <a:ea typeface="Courier New" pitchFamily="34" charset="-122"/>
                <a:cs typeface="Courier New" pitchFamily="34" charset="-120"/>
              </a:rPr>
              <a:t>NEW|SYM=AAPL|SIDE=BUY|</a:t>
            </a:r>
            <a:endParaRPr lang="en-US"/>
          </a:p>
          <a:p>
            <a:pPr marL="0" indent="0" algn="l">
              <a:lnSpc>
                <a:spcPct val="120000"/>
              </a:lnSpc>
              <a:buNone/>
            </a:pPr>
            <a:r>
              <a:rPr lang="en-US" sz="900" kern="0">
                <a:solidFill>
                  <a:srgbClr val="ECECEC"/>
                </a:solidFill>
                <a:latin typeface="Courier New" pitchFamily="34" charset="0"/>
                <a:ea typeface="Courier New" pitchFamily="34" charset="-122"/>
                <a:cs typeface="Courier New" pitchFamily="34" charset="-120"/>
              </a:rPr>
              <a:t>TYPE=LIMIT|QTY=100|PRICE=150.00</a:t>
            </a:r>
            <a:endParaRPr lang="en-US"/>
          </a:p>
        </p:txBody>
      </p:sp>
      <p:sp>
        <p:nvSpPr>
          <p:cNvPr id="17" name="label"/>
          <p:cNvSpPr/>
          <p:nvPr/>
        </p:nvSpPr>
        <p:spPr>
          <a:xfrm>
            <a:off x="4470000" y="1980000"/>
            <a:ext cx="4200000" cy="210000"/>
          </a:xfrm>
          <a:prstGeom prst="rect">
            <a:avLst/>
          </a:prstGeom>
          <a:noFill/>
          <a:ln/>
        </p:spPr>
        <p:txBody>
          <a:bodyPr wrap="square" lIns="0" tIns="0" rIns="0" bIns="0" rtlCol="0" anchor="ctr"/>
          <a:lstStyle/>
          <a:p>
            <a:pPr marL="0" indent="0" algn="l">
              <a:buNone/>
            </a:pPr>
            <a:r>
              <a:rPr lang="en-US" sz="1000" b="1" kern="0" spc="150">
                <a:solidFill>
                  <a:srgbClr val="F2860D"/>
                </a:solidFill>
                <a:latin typeface="Courier New" pitchFamily="34" charset="0"/>
                <a:ea typeface="Courier New" pitchFamily="34" charset="-122"/>
                <a:cs typeface="Courier New" pitchFamily="34" charset="-120"/>
              </a:rPr>
              <a:t>TYPICAL CLIENTS</a:t>
            </a:r>
            <a:endParaRPr lang="en-US"/>
          </a:p>
        </p:txBody>
      </p:sp>
      <p:sp>
        <p:nvSpPr>
          <p:cNvPr id="18" name="clients body"/>
          <p:cNvSpPr/>
          <p:nvPr/>
        </p:nvSpPr>
        <p:spPr>
          <a:xfrm>
            <a:off x="4470000" y="2190000"/>
            <a:ext cx="4107072" cy="56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pm-alf-console (interactive REPL over stdin/stdout), the pm-alf-gwy TCP gateway, and the autonomous bots pm-ai-trader, pm-ai-swarm and pm-mm-bot.</a:t>
            </a:r>
            <a:endParaRPr lang="en-US"/>
          </a:p>
        </p:txBody>
      </p:sp>
      <p:sp>
        <p:nvSpPr>
          <p:cNvPr id="19" name="label"/>
          <p:cNvSpPr/>
          <p:nvPr/>
        </p:nvSpPr>
        <p:spPr>
          <a:xfrm>
            <a:off x="4470000" y="2800000"/>
            <a:ext cx="4200000" cy="210000"/>
          </a:xfrm>
          <a:prstGeom prst="rect">
            <a:avLst/>
          </a:prstGeom>
          <a:noFill/>
          <a:ln/>
        </p:spPr>
        <p:txBody>
          <a:bodyPr wrap="square" lIns="0" tIns="0" rIns="0" bIns="0" rtlCol="0" anchor="ctr"/>
          <a:lstStyle/>
          <a:p>
            <a:pPr marL="0" indent="0" algn="l">
              <a:buNone/>
            </a:pPr>
            <a:r>
              <a:rPr lang="en-US" sz="1000" b="1" kern="0" spc="150">
                <a:solidFill>
                  <a:srgbClr val="F2860D"/>
                </a:solidFill>
                <a:latin typeface="Courier New" pitchFamily="34" charset="0"/>
                <a:ea typeface="Courier New" pitchFamily="34" charset="-122"/>
                <a:cs typeface="Courier New" pitchFamily="34" charset="-120"/>
              </a:rPr>
              <a:t>WHERE IT'S USED</a:t>
            </a:r>
            <a:endParaRPr lang="en-US"/>
          </a:p>
        </p:txBody>
      </p:sp>
      <p:sp>
        <p:nvSpPr>
          <p:cNvPr id="20" name="where body"/>
          <p:cNvSpPr/>
          <p:nvPr/>
        </p:nvSpPr>
        <p:spPr>
          <a:xfrm>
            <a:off x="4470000" y="3010000"/>
            <a:ext cx="4107072" cy="540000"/>
          </a:xfrm>
          <a:prstGeom prst="rect">
            <a:avLst/>
          </a:prstGeom>
          <a:noFill/>
          <a:ln/>
        </p:spPr>
        <p:txBody>
          <a:bodyPr wrap="square" lIns="0" tIns="0" rIns="0" bIns="0" rtlCol="0" anchor="t"/>
          <a:lstStyle/>
          <a:p>
            <a:pPr marL="0" indent="0" algn="l">
              <a:lnSpc>
                <a:spcPct val="108000"/>
              </a:lnSpc>
              <a:buNone/>
            </a:pPr>
            <a:r>
              <a:rPr lang="en-US" sz="1050" kern="0">
                <a:solidFill>
                  <a:srgbClr val="C3CDD6"/>
                </a:solidFill>
                <a:latin typeface="Calibri" pitchFamily="34" charset="0"/>
                <a:ea typeface="Calibri" pitchFamily="34" charset="-122"/>
                <a:cs typeface="Calibri" pitchFamily="34" charset="-120"/>
              </a:rPr>
              <a:t>Primary order entry into pm-engine — validated, gateway-ID checked against the allowlist, then pushed over ZMQ PUSH :5555.</a:t>
            </a:r>
            <a:endParaRPr lang="en-US"/>
          </a:p>
        </p:txBody>
      </p:sp>
      <p:sp>
        <p:nvSpPr>
          <p:cNvPr id="21" name="label"/>
          <p:cNvSpPr/>
          <p:nvPr/>
        </p:nvSpPr>
        <p:spPr>
          <a:xfrm>
            <a:off x="4470000" y="3600000"/>
            <a:ext cx="4200000" cy="210000"/>
          </a:xfrm>
          <a:prstGeom prst="rect">
            <a:avLst/>
          </a:prstGeom>
          <a:noFill/>
          <a:ln/>
        </p:spPr>
        <p:txBody>
          <a:bodyPr wrap="square" lIns="0" tIns="0" rIns="0" bIns="0" rtlCol="0" anchor="ctr"/>
          <a:lstStyle/>
          <a:p>
            <a:pPr marL="0" indent="0" algn="l">
              <a:buNone/>
            </a:pPr>
            <a:r>
              <a:rPr lang="en-US" sz="1000" b="1" kern="0" spc="150">
                <a:solidFill>
                  <a:srgbClr val="F2860D"/>
                </a:solidFill>
                <a:latin typeface="Courier New" pitchFamily="34" charset="0"/>
                <a:ea typeface="Courier New" pitchFamily="34" charset="-122"/>
                <a:cs typeface="Courier New" pitchFamily="34" charset="-120"/>
              </a:rPr>
              <a:t>GOOD TO KNOW</a:t>
            </a:r>
            <a:endParaRPr lang="en-US"/>
          </a:p>
        </p:txBody>
      </p:sp>
      <p:sp>
        <p:nvSpPr>
          <p:cNvPr id="22" name="good body"/>
          <p:cNvSpPr/>
          <p:nvPr/>
        </p:nvSpPr>
        <p:spPr>
          <a:xfrm>
            <a:off x="4470000" y="3809999"/>
            <a:ext cx="4107072" cy="1048247"/>
          </a:xfrm>
          <a:prstGeom prst="rect">
            <a:avLst/>
          </a:prstGeom>
          <a:noFill/>
          <a:ln/>
        </p:spPr>
        <p:txBody>
          <a:bodyPr wrap="square" lIns="0" tIns="0" rIns="0" bIns="0" rtlCol="0" anchor="t"/>
          <a:lstStyle/>
          <a:p>
            <a:pPr marL="0" indent="0" algn="l">
              <a:lnSpc>
                <a:spcPct val="108000"/>
              </a:lnSpc>
              <a:buNone/>
            </a:pPr>
            <a:r>
              <a:rPr lang="en-US" sz="1050" kern="0" dirty="0">
                <a:solidFill>
                  <a:srgbClr val="ECECEC"/>
                </a:solidFill>
                <a:latin typeface="Calibri" pitchFamily="34" charset="0"/>
                <a:ea typeface="Calibri" pitchFamily="34" charset="-122"/>
                <a:cs typeface="Calibri" pitchFamily="34" charset="-120"/>
              </a:rPr>
              <a:t>Gateway-ID allowlisting is enforced. Supports the full order set including COMBO and OCO, all Time-in-Force codes (DAY / GTC / GTD / IOC / FOK + ATO / ATC) and self-match prevention.</a:t>
            </a:r>
            <a:br>
              <a:rPr lang="en-US" sz="1050" kern="0" dirty="0">
                <a:solidFill>
                  <a:srgbClr val="ECECEC"/>
                </a:solidFill>
                <a:latin typeface="Calibri" pitchFamily="34" charset="0"/>
                <a:ea typeface="Calibri" pitchFamily="34" charset="-122"/>
                <a:cs typeface="Calibri" pitchFamily="34" charset="-120"/>
              </a:rPr>
            </a:br>
            <a:r>
              <a:rPr lang="en-US" sz="1050" kern="0" dirty="0">
                <a:solidFill>
                  <a:srgbClr val="ECECEC"/>
                </a:solidFill>
                <a:latin typeface="Calibri" pitchFamily="34" charset="0"/>
                <a:ea typeface="Calibri" pitchFamily="34" charset="-122"/>
                <a:cs typeface="Calibri" pitchFamily="34" charset="-120"/>
              </a:rPr>
              <a:t>DC ON/OFF control whether a Drop-Copy (DC) is sent back after each fill</a:t>
            </a:r>
            <a:endParaRPr lang="en-US" dirty="0"/>
          </a:p>
        </p:txBody>
      </p:sp>
      <p:sp>
        <p:nvSpPr>
          <p:cNvPr id="9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9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19</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BALF Protocol">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09 · PROTOCOLS · BALF</a:t>
            </a:r>
            <a:endParaRPr lang="en-US"/>
          </a:p>
        </p:txBody>
      </p:sp>
      <p:sp>
        <p:nvSpPr>
          <p:cNvPr id="4" name="Title"/>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dirty="0">
                <a:solidFill>
                  <a:srgbClr val="ECECEC"/>
                </a:solidFill>
                <a:latin typeface="Arial" pitchFamily="34" charset="0"/>
                <a:ea typeface="Arial" pitchFamily="34" charset="-122"/>
                <a:cs typeface="Arial" pitchFamily="34" charset="-120"/>
              </a:rPr>
              <a:t>BALF - binary order entry</a:t>
            </a:r>
            <a:endParaRPr lang="en-US" sz="2900" dirty="0"/>
          </a:p>
        </p:txBody>
      </p:sp>
      <p:sp>
        <p:nvSpPr>
          <p:cNvPr id="5" name="identity bar">
            <a:extLst>
              <a:ext uri="{C183D7F6-B498-43B3-948B-1728B52AA6E4}">
                <adec:decorative xmlns:adec="http://schemas.microsoft.com/office/drawing/2017/decorative" val="1"/>
              </a:ext>
            </a:extLst>
          </p:cNvPr>
          <p:cNvSpPr/>
          <p:nvPr/>
        </p:nvSpPr>
        <p:spPr>
          <a:xfrm>
            <a:off x="566928" y="1370000"/>
            <a:ext cx="8010144" cy="452000"/>
          </a:xfrm>
          <a:prstGeom prst="roundRect">
            <a:avLst>
              <a:gd name="adj" fmla="val 14286"/>
            </a:avLst>
          </a:prstGeom>
          <a:solidFill>
            <a:srgbClr val="202027"/>
          </a:solidFill>
          <a:ln w="12700">
            <a:solidFill>
              <a:srgbClr val="4FB3CC"/>
            </a:solidFill>
            <a:prstDash val="solid"/>
          </a:ln>
        </p:spPr>
        <p:txBody>
          <a:bodyPr/>
          <a:lstStyle/>
          <a:p>
            <a:endParaRPr lang="en-SE"/>
          </a:p>
        </p:txBody>
      </p:sp>
      <p:sp>
        <p:nvSpPr>
          <p:cNvPr id="6" name="identity text"/>
          <p:cNvSpPr/>
          <p:nvPr/>
        </p:nvSpPr>
        <p:spPr>
          <a:xfrm>
            <a:off x="746928" y="1370000"/>
            <a:ext cx="7650144" cy="452000"/>
          </a:xfrm>
          <a:prstGeom prst="rect">
            <a:avLst/>
          </a:prstGeom>
          <a:noFill/>
          <a:ln/>
        </p:spPr>
        <p:txBody>
          <a:bodyPr wrap="square" lIns="0" tIns="0" rIns="0" bIns="0" rtlCol="0" anchor="ctr"/>
          <a:lstStyle/>
          <a:p>
            <a:pPr marL="0" indent="0" algn="l">
              <a:buNone/>
            </a:pPr>
            <a:r>
              <a:rPr lang="en-US" sz="1150" b="1" kern="0">
                <a:solidFill>
                  <a:srgbClr val="4FB3CC"/>
                </a:solidFill>
                <a:latin typeface="Courier New" pitchFamily="34" charset="0"/>
                <a:ea typeface="Courier New" pitchFamily="34" charset="-122"/>
                <a:cs typeface="Courier New" pitchFamily="34" charset="-120"/>
              </a:rPr>
              <a:t>Binary ALF   ·   pm-balf-gwy   ·   TCP 5560   ·   v1.0.0</a:t>
            </a:r>
            <a:endParaRPr lang="en-US"/>
          </a:p>
        </p:txBody>
      </p:sp>
      <p:sp>
        <p:nvSpPr>
          <p:cNvPr id="10" name="label"/>
          <p:cNvSpPr/>
          <p:nvPr/>
        </p:nvSpPr>
        <p:spPr>
          <a:xfrm>
            <a:off x="566928" y="1980000"/>
            <a:ext cx="4200000" cy="210000"/>
          </a:xfrm>
          <a:prstGeom prst="rect">
            <a:avLst/>
          </a:prstGeom>
          <a:noFill/>
          <a:ln/>
        </p:spPr>
        <p:txBody>
          <a:bodyPr wrap="square" lIns="0" tIns="0" rIns="0" bIns="0" rtlCol="0" anchor="ctr"/>
          <a:lstStyle/>
          <a:p>
            <a:pPr marL="0" indent="0" algn="l">
              <a:buNone/>
            </a:pPr>
            <a:r>
              <a:rPr lang="en-US" sz="1000" b="1" kern="0" spc="150">
                <a:solidFill>
                  <a:srgbClr val="4FB3CC"/>
                </a:solidFill>
                <a:latin typeface="Courier New" pitchFamily="34" charset="0"/>
                <a:ea typeface="Courier New" pitchFamily="34" charset="-122"/>
                <a:cs typeface="Courier New" pitchFamily="34" charset="-120"/>
              </a:rPr>
              <a:t>PURPOSE</a:t>
            </a:r>
            <a:endParaRPr lang="en-US"/>
          </a:p>
        </p:txBody>
      </p:sp>
      <p:sp>
        <p:nvSpPr>
          <p:cNvPr id="11" name="purpose body"/>
          <p:cNvSpPr/>
          <p:nvPr/>
        </p:nvSpPr>
        <p:spPr>
          <a:xfrm>
            <a:off x="566928" y="2190000"/>
            <a:ext cx="3660000" cy="64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The same order entry as ALF, but as fixed-width binary frames — a low-overhead path for latency-sensitive, programmatic clients.</a:t>
            </a:r>
            <a:endParaRPr lang="en-US"/>
          </a:p>
        </p:txBody>
      </p:sp>
      <p:sp>
        <p:nvSpPr>
          <p:cNvPr id="12" name="label"/>
          <p:cNvSpPr/>
          <p:nvPr/>
        </p:nvSpPr>
        <p:spPr>
          <a:xfrm>
            <a:off x="566928" y="2900000"/>
            <a:ext cx="4200000" cy="210000"/>
          </a:xfrm>
          <a:prstGeom prst="rect">
            <a:avLst/>
          </a:prstGeom>
          <a:noFill/>
          <a:ln/>
        </p:spPr>
        <p:txBody>
          <a:bodyPr wrap="square" lIns="0" tIns="0" rIns="0" bIns="0" rtlCol="0" anchor="ctr"/>
          <a:lstStyle/>
          <a:p>
            <a:pPr marL="0" indent="0" algn="l">
              <a:buNone/>
            </a:pPr>
            <a:r>
              <a:rPr lang="en-US" sz="1000" b="1" kern="0" spc="150">
                <a:solidFill>
                  <a:srgbClr val="4FB3CC"/>
                </a:solidFill>
                <a:latin typeface="Courier New" pitchFamily="34" charset="0"/>
                <a:ea typeface="Courier New" pitchFamily="34" charset="-122"/>
                <a:cs typeface="Courier New" pitchFamily="34" charset="-120"/>
              </a:rPr>
              <a:t>FORMAT / SYNTAX</a:t>
            </a:r>
            <a:endParaRPr lang="en-US"/>
          </a:p>
        </p:txBody>
      </p:sp>
      <p:sp>
        <p:nvSpPr>
          <p:cNvPr id="13" name="format body"/>
          <p:cNvSpPr/>
          <p:nvPr/>
        </p:nvSpPr>
        <p:spPr>
          <a:xfrm>
            <a:off x="566928" y="3110000"/>
            <a:ext cx="3660000" cy="560000"/>
          </a:xfrm>
          <a:prstGeom prst="rect">
            <a:avLst/>
          </a:prstGeom>
          <a:noFill/>
          <a:ln/>
        </p:spPr>
        <p:txBody>
          <a:bodyPr wrap="square" lIns="0" tIns="0" rIns="0" bIns="0" rtlCol="0" anchor="t"/>
          <a:lstStyle/>
          <a:p>
            <a:pPr marL="0" indent="0" algn="l">
              <a:lnSpc>
                <a:spcPct val="108000"/>
              </a:lnSpc>
              <a:buNone/>
            </a:pPr>
            <a:r>
              <a:rPr lang="en-US" sz="1050" kern="0">
                <a:solidFill>
                  <a:srgbClr val="C3CDD6"/>
                </a:solidFill>
                <a:latin typeface="Calibri" pitchFamily="34" charset="0"/>
                <a:ea typeface="Calibri" pitchFamily="34" charset="-122"/>
                <a:cs typeface="Calibri" pitchFamily="34" charset="-120"/>
              </a:rPr>
              <a:t>Fixed-width binary frames with a per-message sequence number for ordering and gap detection. Same order semantics as ALF, not human-readable.</a:t>
            </a:r>
            <a:endParaRPr lang="en-US"/>
          </a:p>
        </p:txBody>
      </p:sp>
      <p:sp>
        <p:nvSpPr>
          <p:cNvPr id="14" name="label"/>
          <p:cNvSpPr/>
          <p:nvPr/>
        </p:nvSpPr>
        <p:spPr>
          <a:xfrm>
            <a:off x="566928" y="3720000"/>
            <a:ext cx="4200000" cy="210000"/>
          </a:xfrm>
          <a:prstGeom prst="rect">
            <a:avLst/>
          </a:prstGeom>
          <a:noFill/>
          <a:ln/>
        </p:spPr>
        <p:txBody>
          <a:bodyPr wrap="square" lIns="0" tIns="0" rIns="0" bIns="0" rtlCol="0" anchor="ctr"/>
          <a:lstStyle/>
          <a:p>
            <a:pPr marL="0" indent="0" algn="l">
              <a:buNone/>
            </a:pPr>
            <a:r>
              <a:rPr lang="en-US" sz="1000" b="1" kern="0" spc="150">
                <a:solidFill>
                  <a:srgbClr val="4FB3CC"/>
                </a:solidFill>
                <a:latin typeface="Courier New" pitchFamily="34" charset="0"/>
                <a:ea typeface="Courier New" pitchFamily="34" charset="-122"/>
                <a:cs typeface="Courier New" pitchFamily="34" charset="-120"/>
              </a:rPr>
              <a:t>EXAMPLE</a:t>
            </a:r>
            <a:endParaRPr lang="en-US"/>
          </a:p>
        </p:txBody>
      </p:sp>
      <p:sp>
        <p:nvSpPr>
          <p:cNvPr id="15" name="example box">
            <a:extLst>
              <a:ext uri="{C183D7F6-B498-43B3-948B-1728B52AA6E4}">
                <adec:decorative xmlns:adec="http://schemas.microsoft.com/office/drawing/2017/decorative" val="1"/>
              </a:ext>
            </a:extLst>
          </p:cNvPr>
          <p:cNvSpPr/>
          <p:nvPr/>
        </p:nvSpPr>
        <p:spPr>
          <a:xfrm>
            <a:off x="566928" y="3930000"/>
            <a:ext cx="3660000" cy="620000"/>
          </a:xfrm>
          <a:prstGeom prst="roundRect">
            <a:avLst>
              <a:gd name="adj" fmla="val 8000"/>
            </a:avLst>
          </a:prstGeom>
          <a:solidFill>
            <a:srgbClr val="202027"/>
          </a:solidFill>
          <a:ln w="12700">
            <a:solidFill>
              <a:srgbClr val="4FB3CC"/>
            </a:solidFill>
            <a:prstDash val="solid"/>
          </a:ln>
        </p:spPr>
        <p:txBody>
          <a:bodyPr/>
          <a:lstStyle/>
          <a:p>
            <a:endParaRPr lang="en-SE"/>
          </a:p>
        </p:txBody>
      </p:sp>
      <p:sp>
        <p:nvSpPr>
          <p:cNvPr id="16" name="example text"/>
          <p:cNvSpPr/>
          <p:nvPr/>
        </p:nvSpPr>
        <p:spPr>
          <a:xfrm>
            <a:off x="696928" y="3930000"/>
            <a:ext cx="3400000" cy="620000"/>
          </a:xfrm>
          <a:prstGeom prst="rect">
            <a:avLst/>
          </a:prstGeom>
          <a:noFill/>
          <a:ln/>
        </p:spPr>
        <p:txBody>
          <a:bodyPr wrap="square" lIns="0" tIns="0" rIns="0" bIns="0" rtlCol="0" anchor="ctr"/>
          <a:lstStyle/>
          <a:p>
            <a:pPr marL="0" indent="0" algn="l">
              <a:lnSpc>
                <a:spcPct val="120000"/>
              </a:lnSpc>
              <a:buNone/>
            </a:pPr>
            <a:r>
              <a:rPr lang="en-US" sz="900" kern="0">
                <a:solidFill>
                  <a:srgbClr val="ECECEC"/>
                </a:solidFill>
                <a:latin typeface="Courier New" pitchFamily="34" charset="0"/>
                <a:ea typeface="Courier New" pitchFamily="34" charset="-122"/>
                <a:cs typeface="Courier New" pitchFamily="34" charset="-120"/>
              </a:rPr>
              <a:t>[SEQ u32][VERB u8][SYM 8]</a:t>
            </a:r>
            <a:endParaRPr lang="en-US"/>
          </a:p>
          <a:p>
            <a:pPr marL="0" indent="0" algn="l">
              <a:lnSpc>
                <a:spcPct val="120000"/>
              </a:lnSpc>
              <a:buNone/>
            </a:pPr>
            <a:r>
              <a:rPr lang="en-US" sz="900" kern="0">
                <a:solidFill>
                  <a:srgbClr val="ECECEC"/>
                </a:solidFill>
                <a:latin typeface="Courier New" pitchFamily="34" charset="0"/>
                <a:ea typeface="Courier New" pitchFamily="34" charset="-122"/>
                <a:cs typeface="Courier New" pitchFamily="34" charset="-120"/>
              </a:rPr>
              <a:t>[SIDE u8][QTY u32][PX i64]  (illustrative)</a:t>
            </a:r>
            <a:endParaRPr lang="en-US"/>
          </a:p>
        </p:txBody>
      </p:sp>
      <p:sp>
        <p:nvSpPr>
          <p:cNvPr id="17" name="label"/>
          <p:cNvSpPr/>
          <p:nvPr/>
        </p:nvSpPr>
        <p:spPr>
          <a:xfrm>
            <a:off x="4470000" y="1980000"/>
            <a:ext cx="4200000" cy="210000"/>
          </a:xfrm>
          <a:prstGeom prst="rect">
            <a:avLst/>
          </a:prstGeom>
          <a:noFill/>
          <a:ln/>
        </p:spPr>
        <p:txBody>
          <a:bodyPr wrap="square" lIns="0" tIns="0" rIns="0" bIns="0" rtlCol="0" anchor="ctr"/>
          <a:lstStyle/>
          <a:p>
            <a:pPr marL="0" indent="0" algn="l">
              <a:buNone/>
            </a:pPr>
            <a:r>
              <a:rPr lang="en-US" sz="1000" b="1" kern="0" spc="150">
                <a:solidFill>
                  <a:srgbClr val="4FB3CC"/>
                </a:solidFill>
                <a:latin typeface="Courier New" pitchFamily="34" charset="0"/>
                <a:ea typeface="Courier New" pitchFamily="34" charset="-122"/>
                <a:cs typeface="Courier New" pitchFamily="34" charset="-120"/>
              </a:rPr>
              <a:t>TYPICAL CLIENTS</a:t>
            </a:r>
            <a:endParaRPr lang="en-US"/>
          </a:p>
        </p:txBody>
      </p:sp>
      <p:sp>
        <p:nvSpPr>
          <p:cNvPr id="18" name="clients body"/>
          <p:cNvSpPr/>
          <p:nvPr/>
        </p:nvSpPr>
        <p:spPr>
          <a:xfrm>
            <a:off x="4470000" y="2190000"/>
            <a:ext cx="4107072" cy="56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Programmatic / latency-sensitive traders that need throughput over readability. Served exclusively by pm-balf-gwy.</a:t>
            </a:r>
            <a:endParaRPr lang="en-US"/>
          </a:p>
        </p:txBody>
      </p:sp>
      <p:sp>
        <p:nvSpPr>
          <p:cNvPr id="19" name="label"/>
          <p:cNvSpPr/>
          <p:nvPr/>
        </p:nvSpPr>
        <p:spPr>
          <a:xfrm>
            <a:off x="4470000" y="2800000"/>
            <a:ext cx="4200000" cy="210000"/>
          </a:xfrm>
          <a:prstGeom prst="rect">
            <a:avLst/>
          </a:prstGeom>
          <a:noFill/>
          <a:ln/>
        </p:spPr>
        <p:txBody>
          <a:bodyPr wrap="square" lIns="0" tIns="0" rIns="0" bIns="0" rtlCol="0" anchor="ctr"/>
          <a:lstStyle/>
          <a:p>
            <a:pPr marL="0" indent="0" algn="l">
              <a:buNone/>
            </a:pPr>
            <a:r>
              <a:rPr lang="en-US" sz="1000" b="1" kern="0" spc="150">
                <a:solidFill>
                  <a:srgbClr val="4FB3CC"/>
                </a:solidFill>
                <a:latin typeface="Courier New" pitchFamily="34" charset="0"/>
                <a:ea typeface="Courier New" pitchFamily="34" charset="-122"/>
                <a:cs typeface="Courier New" pitchFamily="34" charset="-120"/>
              </a:rPr>
              <a:t>WHERE IT'S USED</a:t>
            </a:r>
            <a:endParaRPr lang="en-US"/>
          </a:p>
        </p:txBody>
      </p:sp>
      <p:sp>
        <p:nvSpPr>
          <p:cNvPr id="20" name="where body"/>
          <p:cNvSpPr/>
          <p:nvPr/>
        </p:nvSpPr>
        <p:spPr>
          <a:xfrm>
            <a:off x="4470000" y="3010000"/>
            <a:ext cx="4107072" cy="540000"/>
          </a:xfrm>
          <a:prstGeom prst="rect">
            <a:avLst/>
          </a:prstGeom>
          <a:noFill/>
          <a:ln/>
        </p:spPr>
        <p:txBody>
          <a:bodyPr wrap="square" lIns="0" tIns="0" rIns="0" bIns="0" rtlCol="0" anchor="t"/>
          <a:lstStyle/>
          <a:p>
            <a:pPr marL="0" indent="0" algn="l">
              <a:lnSpc>
                <a:spcPct val="108000"/>
              </a:lnSpc>
              <a:buNone/>
            </a:pPr>
            <a:r>
              <a:rPr lang="en-US" sz="1050" kern="0">
                <a:solidFill>
                  <a:srgbClr val="C3CDD6"/>
                </a:solidFill>
                <a:latin typeface="Calibri" pitchFamily="34" charset="0"/>
                <a:ea typeface="Calibri" pitchFamily="34" charset="-122"/>
                <a:cs typeface="Calibri" pitchFamily="34" charset="-120"/>
              </a:rPr>
              <a:t>An alternative order-entry gateway into pm-engine, running alongside ALF on its own TCP port.</a:t>
            </a:r>
            <a:endParaRPr lang="en-US"/>
          </a:p>
        </p:txBody>
      </p:sp>
      <p:sp>
        <p:nvSpPr>
          <p:cNvPr id="21" name="label"/>
          <p:cNvSpPr/>
          <p:nvPr/>
        </p:nvSpPr>
        <p:spPr>
          <a:xfrm>
            <a:off x="4470000" y="3600000"/>
            <a:ext cx="4200000" cy="210000"/>
          </a:xfrm>
          <a:prstGeom prst="rect">
            <a:avLst/>
          </a:prstGeom>
          <a:noFill/>
          <a:ln/>
        </p:spPr>
        <p:txBody>
          <a:bodyPr wrap="square" lIns="0" tIns="0" rIns="0" bIns="0" rtlCol="0" anchor="ctr"/>
          <a:lstStyle/>
          <a:p>
            <a:pPr marL="0" indent="0" algn="l">
              <a:buNone/>
            </a:pPr>
            <a:r>
              <a:rPr lang="en-US" sz="1000" b="1" kern="0" spc="150">
                <a:solidFill>
                  <a:srgbClr val="4FB3CC"/>
                </a:solidFill>
                <a:latin typeface="Courier New" pitchFamily="34" charset="0"/>
                <a:ea typeface="Courier New" pitchFamily="34" charset="-122"/>
                <a:cs typeface="Courier New" pitchFamily="34" charset="-120"/>
              </a:rPr>
              <a:t>GOOD TO KNOW</a:t>
            </a:r>
            <a:endParaRPr lang="en-US"/>
          </a:p>
        </p:txBody>
      </p:sp>
      <p:sp>
        <p:nvSpPr>
          <p:cNvPr id="22" name="good body"/>
          <p:cNvSpPr/>
          <p:nvPr/>
        </p:nvSpPr>
        <p:spPr>
          <a:xfrm>
            <a:off x="4470000" y="3810000"/>
            <a:ext cx="4107072" cy="76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v1.0.0 is order-entry only: no OCO, no combos, no market-data broadcast, no sequence resend/recovery and no encryption. One user per gateway.</a:t>
            </a:r>
            <a:endParaRPr lang="en-US"/>
          </a:p>
        </p:txBody>
      </p:sp>
      <p:sp>
        <p:nvSpPr>
          <p:cNvPr id="9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9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CALF Protocol">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09 · PROTOCOLS · CALF</a:t>
            </a:r>
            <a:endParaRPr lang="en-US"/>
          </a:p>
        </p:txBody>
      </p:sp>
      <p:sp>
        <p:nvSpPr>
          <p:cNvPr id="4" name="Title"/>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dirty="0">
                <a:solidFill>
                  <a:srgbClr val="ECECEC"/>
                </a:solidFill>
                <a:latin typeface="Arial" pitchFamily="34" charset="0"/>
                <a:ea typeface="Arial" pitchFamily="34" charset="-122"/>
                <a:cs typeface="Arial" pitchFamily="34" charset="-120"/>
              </a:rPr>
              <a:t>CALF - the market-data feed</a:t>
            </a:r>
            <a:endParaRPr lang="en-US" sz="2900" dirty="0"/>
          </a:p>
        </p:txBody>
      </p:sp>
      <p:sp>
        <p:nvSpPr>
          <p:cNvPr id="5" name="identity bar">
            <a:extLst>
              <a:ext uri="{C183D7F6-B498-43B3-948B-1728B52AA6E4}">
                <adec:decorative xmlns:adec="http://schemas.microsoft.com/office/drawing/2017/decorative" val="1"/>
              </a:ext>
            </a:extLst>
          </p:cNvPr>
          <p:cNvSpPr/>
          <p:nvPr/>
        </p:nvSpPr>
        <p:spPr>
          <a:xfrm>
            <a:off x="566928" y="1370000"/>
            <a:ext cx="8010144" cy="452000"/>
          </a:xfrm>
          <a:prstGeom prst="roundRect">
            <a:avLst>
              <a:gd name="adj" fmla="val 14286"/>
            </a:avLst>
          </a:prstGeom>
          <a:solidFill>
            <a:srgbClr val="202027"/>
          </a:solidFill>
          <a:ln w="12700">
            <a:solidFill>
              <a:srgbClr val="B98CE0"/>
            </a:solidFill>
            <a:prstDash val="solid"/>
          </a:ln>
        </p:spPr>
        <p:txBody>
          <a:bodyPr/>
          <a:lstStyle/>
          <a:p>
            <a:endParaRPr lang="en-SE"/>
          </a:p>
        </p:txBody>
      </p:sp>
      <p:sp>
        <p:nvSpPr>
          <p:cNvPr id="6" name="identity text"/>
          <p:cNvSpPr/>
          <p:nvPr/>
        </p:nvSpPr>
        <p:spPr>
          <a:xfrm>
            <a:off x="746928" y="1370000"/>
            <a:ext cx="7650144" cy="452000"/>
          </a:xfrm>
          <a:prstGeom prst="rect">
            <a:avLst/>
          </a:prstGeom>
          <a:noFill/>
          <a:ln/>
        </p:spPr>
        <p:txBody>
          <a:bodyPr wrap="square" lIns="0" tIns="0" rIns="0" bIns="0" rtlCol="0" anchor="ctr"/>
          <a:lstStyle/>
          <a:p>
            <a:pPr marL="0" indent="0" algn="l">
              <a:buNone/>
            </a:pPr>
            <a:r>
              <a:rPr lang="en-US" sz="1150" b="1" kern="0">
                <a:solidFill>
                  <a:srgbClr val="B98CE0"/>
                </a:solidFill>
                <a:latin typeface="Courier New" pitchFamily="34" charset="0"/>
                <a:ea typeface="Courier New" pitchFamily="34" charset="-122"/>
                <a:cs typeface="Courier New" pitchFamily="34" charset="-120"/>
              </a:rPr>
              <a:t>Channel ALF   ·   pm-md-gwy   ·   TCP 5570   ·   7 channels</a:t>
            </a:r>
            <a:endParaRPr lang="en-US"/>
          </a:p>
        </p:txBody>
      </p:sp>
      <p:sp>
        <p:nvSpPr>
          <p:cNvPr id="10" name="label"/>
          <p:cNvSpPr/>
          <p:nvPr/>
        </p:nvSpPr>
        <p:spPr>
          <a:xfrm>
            <a:off x="566928" y="1980000"/>
            <a:ext cx="4200000" cy="210000"/>
          </a:xfrm>
          <a:prstGeom prst="rect">
            <a:avLst/>
          </a:prstGeom>
          <a:noFill/>
          <a:ln/>
        </p:spPr>
        <p:txBody>
          <a:bodyPr wrap="square" lIns="0" tIns="0" rIns="0" bIns="0" rtlCol="0" anchor="ctr"/>
          <a:lstStyle/>
          <a:p>
            <a:pPr marL="0" indent="0" algn="l">
              <a:buNone/>
            </a:pPr>
            <a:r>
              <a:rPr lang="en-US" sz="1000" b="1" kern="0" spc="150">
                <a:solidFill>
                  <a:srgbClr val="B98CE0"/>
                </a:solidFill>
                <a:latin typeface="Courier New" pitchFamily="34" charset="0"/>
                <a:ea typeface="Courier New" pitchFamily="34" charset="-122"/>
                <a:cs typeface="Courier New" pitchFamily="34" charset="-120"/>
              </a:rPr>
              <a:t>PURPOSE</a:t>
            </a:r>
            <a:endParaRPr lang="en-US"/>
          </a:p>
        </p:txBody>
      </p:sp>
      <p:sp>
        <p:nvSpPr>
          <p:cNvPr id="11" name="purpose body"/>
          <p:cNvSpPr/>
          <p:nvPr/>
        </p:nvSpPr>
        <p:spPr>
          <a:xfrm>
            <a:off x="566928" y="2190000"/>
            <a:ext cx="3660000" cy="64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The external market-data feed — disseminates book, trades, state, index and auction data to any downstream subscriber.</a:t>
            </a:r>
            <a:endParaRPr lang="en-US"/>
          </a:p>
        </p:txBody>
      </p:sp>
      <p:sp>
        <p:nvSpPr>
          <p:cNvPr id="12" name="label"/>
          <p:cNvSpPr/>
          <p:nvPr/>
        </p:nvSpPr>
        <p:spPr>
          <a:xfrm>
            <a:off x="566928" y="2900000"/>
            <a:ext cx="4200000" cy="210000"/>
          </a:xfrm>
          <a:prstGeom prst="rect">
            <a:avLst/>
          </a:prstGeom>
          <a:noFill/>
          <a:ln/>
        </p:spPr>
        <p:txBody>
          <a:bodyPr wrap="square" lIns="0" tIns="0" rIns="0" bIns="0" rtlCol="0" anchor="ctr"/>
          <a:lstStyle/>
          <a:p>
            <a:pPr marL="0" indent="0" algn="l">
              <a:buNone/>
            </a:pPr>
            <a:r>
              <a:rPr lang="en-US" sz="1000" b="1" kern="0" spc="150">
                <a:solidFill>
                  <a:srgbClr val="B98CE0"/>
                </a:solidFill>
                <a:latin typeface="Courier New" pitchFamily="34" charset="0"/>
                <a:ea typeface="Courier New" pitchFamily="34" charset="-122"/>
                <a:cs typeface="Courier New" pitchFamily="34" charset="-120"/>
              </a:rPr>
              <a:t>FORMAT / SYNTAX</a:t>
            </a:r>
            <a:endParaRPr lang="en-US"/>
          </a:p>
        </p:txBody>
      </p:sp>
      <p:sp>
        <p:nvSpPr>
          <p:cNvPr id="13" name="format body"/>
          <p:cNvSpPr/>
          <p:nvPr/>
        </p:nvSpPr>
        <p:spPr>
          <a:xfrm>
            <a:off x="566928" y="3110000"/>
            <a:ext cx="3660000" cy="560000"/>
          </a:xfrm>
          <a:prstGeom prst="rect">
            <a:avLst/>
          </a:prstGeom>
          <a:noFill/>
          <a:ln/>
        </p:spPr>
        <p:txBody>
          <a:bodyPr wrap="square" lIns="0" tIns="0" rIns="0" bIns="0" rtlCol="0" anchor="t"/>
          <a:lstStyle/>
          <a:p>
            <a:pPr marL="0" indent="0" algn="l">
              <a:lnSpc>
                <a:spcPct val="108000"/>
              </a:lnSpc>
              <a:buNone/>
            </a:pPr>
            <a:r>
              <a:rPr lang="en-US" sz="1050" kern="0">
                <a:solidFill>
                  <a:srgbClr val="C3CDD6"/>
                </a:solidFill>
                <a:latin typeface="Calibri" pitchFamily="34" charset="0"/>
                <a:ea typeface="Calibri" pitchFamily="34" charset="-122"/>
                <a:cs typeface="Calibri" pitchFamily="34" charset="-120"/>
              </a:rPr>
              <a:t>A snapshot followed by incremental updates, multiplexed across seven named channels, with sequence-based gap detection so clients can spot a miss and re-sync.</a:t>
            </a:r>
            <a:endParaRPr lang="en-US"/>
          </a:p>
        </p:txBody>
      </p:sp>
      <p:sp>
        <p:nvSpPr>
          <p:cNvPr id="14" name="label"/>
          <p:cNvSpPr/>
          <p:nvPr/>
        </p:nvSpPr>
        <p:spPr>
          <a:xfrm>
            <a:off x="566928" y="3720000"/>
            <a:ext cx="4200000" cy="210000"/>
          </a:xfrm>
          <a:prstGeom prst="rect">
            <a:avLst/>
          </a:prstGeom>
          <a:noFill/>
          <a:ln/>
        </p:spPr>
        <p:txBody>
          <a:bodyPr wrap="square" lIns="0" tIns="0" rIns="0" bIns="0" rtlCol="0" anchor="ctr"/>
          <a:lstStyle/>
          <a:p>
            <a:pPr marL="0" indent="0" algn="l">
              <a:buNone/>
            </a:pPr>
            <a:r>
              <a:rPr lang="en-US" sz="1000" b="1" kern="0" spc="150">
                <a:solidFill>
                  <a:srgbClr val="B98CE0"/>
                </a:solidFill>
                <a:latin typeface="Courier New" pitchFamily="34" charset="0"/>
                <a:ea typeface="Courier New" pitchFamily="34" charset="-122"/>
                <a:cs typeface="Courier New" pitchFamily="34" charset="-120"/>
              </a:rPr>
              <a:t>EXAMPLE</a:t>
            </a:r>
            <a:endParaRPr lang="en-US"/>
          </a:p>
        </p:txBody>
      </p:sp>
      <p:sp>
        <p:nvSpPr>
          <p:cNvPr id="15" name="example box">
            <a:extLst>
              <a:ext uri="{C183D7F6-B498-43B3-948B-1728B52AA6E4}">
                <adec:decorative xmlns:adec="http://schemas.microsoft.com/office/drawing/2017/decorative" val="1"/>
              </a:ext>
            </a:extLst>
          </p:cNvPr>
          <p:cNvSpPr/>
          <p:nvPr/>
        </p:nvSpPr>
        <p:spPr>
          <a:xfrm>
            <a:off x="566928" y="3930000"/>
            <a:ext cx="3660000" cy="620000"/>
          </a:xfrm>
          <a:prstGeom prst="roundRect">
            <a:avLst>
              <a:gd name="adj" fmla="val 8000"/>
            </a:avLst>
          </a:prstGeom>
          <a:solidFill>
            <a:srgbClr val="202027"/>
          </a:solidFill>
          <a:ln w="12700">
            <a:solidFill>
              <a:srgbClr val="B98CE0"/>
            </a:solidFill>
            <a:prstDash val="solid"/>
          </a:ln>
        </p:spPr>
        <p:txBody>
          <a:bodyPr/>
          <a:lstStyle/>
          <a:p>
            <a:endParaRPr lang="en-SE"/>
          </a:p>
        </p:txBody>
      </p:sp>
      <p:sp>
        <p:nvSpPr>
          <p:cNvPr id="16" name="example text"/>
          <p:cNvSpPr/>
          <p:nvPr/>
        </p:nvSpPr>
        <p:spPr>
          <a:xfrm>
            <a:off x="696928" y="3930000"/>
            <a:ext cx="3400000" cy="620000"/>
          </a:xfrm>
          <a:prstGeom prst="rect">
            <a:avLst/>
          </a:prstGeom>
          <a:noFill/>
          <a:ln/>
        </p:spPr>
        <p:txBody>
          <a:bodyPr wrap="square" lIns="0" tIns="0" rIns="0" bIns="0" rtlCol="0" anchor="ctr"/>
          <a:lstStyle/>
          <a:p>
            <a:pPr marL="0" indent="0" algn="l">
              <a:lnSpc>
                <a:spcPct val="120000"/>
              </a:lnSpc>
              <a:buNone/>
            </a:pPr>
            <a:r>
              <a:rPr lang="en-US" sz="900" kern="0">
                <a:solidFill>
                  <a:srgbClr val="ECECEC"/>
                </a:solidFill>
                <a:latin typeface="Courier New" pitchFamily="34" charset="0"/>
                <a:ea typeface="Courier New" pitchFamily="34" charset="-122"/>
                <a:cs typeface="Courier New" pitchFamily="34" charset="-120"/>
              </a:rPr>
              <a:t>SUB CALF|CH=TOP|SYM=AAPL</a:t>
            </a:r>
            <a:endParaRPr lang="en-US"/>
          </a:p>
          <a:p>
            <a:pPr marL="0" indent="0" algn="l">
              <a:lnSpc>
                <a:spcPct val="120000"/>
              </a:lnSpc>
              <a:buNone/>
            </a:pPr>
            <a:r>
              <a:rPr lang="en-US" sz="900" kern="0">
                <a:solidFill>
                  <a:srgbClr val="ECECEC"/>
                </a:solidFill>
                <a:latin typeface="Courier New" pitchFamily="34" charset="0"/>
                <a:ea typeface="Courier New" pitchFamily="34" charset="-122"/>
                <a:cs typeface="Courier New" pitchFamily="34" charset="-120"/>
              </a:rPr>
              <a:t>→ snapshot, then deltas  (illustrative)</a:t>
            </a:r>
            <a:endParaRPr lang="en-US"/>
          </a:p>
        </p:txBody>
      </p:sp>
      <p:sp>
        <p:nvSpPr>
          <p:cNvPr id="17" name="label"/>
          <p:cNvSpPr/>
          <p:nvPr/>
        </p:nvSpPr>
        <p:spPr>
          <a:xfrm>
            <a:off x="4470000" y="1980000"/>
            <a:ext cx="4200000" cy="210000"/>
          </a:xfrm>
          <a:prstGeom prst="rect">
            <a:avLst/>
          </a:prstGeom>
          <a:noFill/>
          <a:ln/>
        </p:spPr>
        <p:txBody>
          <a:bodyPr wrap="square" lIns="0" tIns="0" rIns="0" bIns="0" rtlCol="0" anchor="ctr"/>
          <a:lstStyle/>
          <a:p>
            <a:pPr marL="0" indent="0" algn="l">
              <a:buNone/>
            </a:pPr>
            <a:r>
              <a:rPr lang="en-US" sz="1000" b="1" kern="0" spc="150">
                <a:solidFill>
                  <a:srgbClr val="B98CE0"/>
                </a:solidFill>
                <a:latin typeface="Courier New" pitchFamily="34" charset="0"/>
                <a:ea typeface="Courier New" pitchFamily="34" charset="-122"/>
                <a:cs typeface="Courier New" pitchFamily="34" charset="-120"/>
              </a:rPr>
              <a:t>TYPICAL CLIENTS</a:t>
            </a:r>
            <a:endParaRPr lang="en-US"/>
          </a:p>
        </p:txBody>
      </p:sp>
      <p:sp>
        <p:nvSpPr>
          <p:cNvPr id="18" name="clients body"/>
          <p:cNvSpPr/>
          <p:nvPr/>
        </p:nvSpPr>
        <p:spPr>
          <a:xfrm>
            <a:off x="4470000" y="2190000"/>
            <a:ext cx="4107072" cy="56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Market-data consumers, dashboards and analytics. Watch any channel live with the pm-calf-spy client.</a:t>
            </a:r>
            <a:endParaRPr lang="en-US"/>
          </a:p>
        </p:txBody>
      </p:sp>
      <p:sp>
        <p:nvSpPr>
          <p:cNvPr id="19" name="label"/>
          <p:cNvSpPr/>
          <p:nvPr/>
        </p:nvSpPr>
        <p:spPr>
          <a:xfrm>
            <a:off x="4470000" y="2800000"/>
            <a:ext cx="4200000" cy="210000"/>
          </a:xfrm>
          <a:prstGeom prst="rect">
            <a:avLst/>
          </a:prstGeom>
          <a:noFill/>
          <a:ln/>
        </p:spPr>
        <p:txBody>
          <a:bodyPr wrap="square" lIns="0" tIns="0" rIns="0" bIns="0" rtlCol="0" anchor="ctr"/>
          <a:lstStyle/>
          <a:p>
            <a:pPr marL="0" indent="0" algn="l">
              <a:buNone/>
            </a:pPr>
            <a:r>
              <a:rPr lang="en-US" sz="1000" b="1" kern="0" spc="150">
                <a:solidFill>
                  <a:srgbClr val="B98CE0"/>
                </a:solidFill>
                <a:latin typeface="Courier New" pitchFamily="34" charset="0"/>
                <a:ea typeface="Courier New" pitchFamily="34" charset="-122"/>
                <a:cs typeface="Courier New" pitchFamily="34" charset="-120"/>
              </a:rPr>
              <a:t>WHERE IT'S USED</a:t>
            </a:r>
            <a:endParaRPr lang="en-US"/>
          </a:p>
        </p:txBody>
      </p:sp>
      <p:sp>
        <p:nvSpPr>
          <p:cNvPr id="20" name="where body"/>
          <p:cNvSpPr/>
          <p:nvPr/>
        </p:nvSpPr>
        <p:spPr>
          <a:xfrm>
            <a:off x="4470000" y="3010000"/>
            <a:ext cx="4107072" cy="540000"/>
          </a:xfrm>
          <a:prstGeom prst="rect">
            <a:avLst/>
          </a:prstGeom>
          <a:noFill/>
          <a:ln/>
        </p:spPr>
        <p:txBody>
          <a:bodyPr wrap="square" lIns="0" tIns="0" rIns="0" bIns="0" rtlCol="0" anchor="t"/>
          <a:lstStyle/>
          <a:p>
            <a:pPr marL="0" indent="0" algn="l">
              <a:lnSpc>
                <a:spcPct val="108000"/>
              </a:lnSpc>
              <a:buNone/>
            </a:pPr>
            <a:r>
              <a:rPr lang="en-US" sz="1050" kern="0">
                <a:solidFill>
                  <a:srgbClr val="C3CDD6"/>
                </a:solidFill>
                <a:latin typeface="Calibri" pitchFamily="34" charset="0"/>
                <a:ea typeface="Calibri" pitchFamily="34" charset="-122"/>
                <a:cs typeface="Calibri" pitchFamily="34" charset="-120"/>
              </a:rPr>
              <a:t>Read-only downstream distribution of everything happening in the book — subscribe to just the channels you care about.</a:t>
            </a:r>
            <a:endParaRPr lang="en-US"/>
          </a:p>
        </p:txBody>
      </p:sp>
      <p:sp>
        <p:nvSpPr>
          <p:cNvPr id="21" name="label"/>
          <p:cNvSpPr/>
          <p:nvPr/>
        </p:nvSpPr>
        <p:spPr>
          <a:xfrm>
            <a:off x="4470000" y="3600000"/>
            <a:ext cx="4200000" cy="210000"/>
          </a:xfrm>
          <a:prstGeom prst="rect">
            <a:avLst/>
          </a:prstGeom>
          <a:noFill/>
          <a:ln/>
        </p:spPr>
        <p:txBody>
          <a:bodyPr wrap="square" lIns="0" tIns="0" rIns="0" bIns="0" rtlCol="0" anchor="ctr"/>
          <a:lstStyle/>
          <a:p>
            <a:pPr marL="0" indent="0" algn="l">
              <a:buNone/>
            </a:pPr>
            <a:r>
              <a:rPr lang="en-US" sz="1000" b="1" kern="0" spc="150">
                <a:solidFill>
                  <a:srgbClr val="B98CE0"/>
                </a:solidFill>
                <a:latin typeface="Courier New" pitchFamily="34" charset="0"/>
                <a:ea typeface="Courier New" pitchFamily="34" charset="-122"/>
                <a:cs typeface="Courier New" pitchFamily="34" charset="-120"/>
              </a:rPr>
              <a:t>GOOD TO KNOW</a:t>
            </a:r>
            <a:endParaRPr lang="en-US"/>
          </a:p>
        </p:txBody>
      </p:sp>
      <p:sp>
        <p:nvSpPr>
          <p:cNvPr id="22" name="good body"/>
          <p:cNvSpPr/>
          <p:nvPr/>
        </p:nvSpPr>
        <p:spPr>
          <a:xfrm>
            <a:off x="4470000" y="3810000"/>
            <a:ext cx="4107072" cy="76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Sequence numbers per channel; on a detected gap the client re-snapshots (no resend in v1.0.0). Auction outcomes also print on the AUCTION channel.</a:t>
            </a:r>
            <a:endParaRPr lang="en-US"/>
          </a:p>
        </p:txBody>
      </p:sp>
      <p:sp>
        <p:nvSpPr>
          <p:cNvPr id="9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9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21</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CALF Channels">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09 · PROTOCOLS · CALF CHANNELS</a:t>
            </a:r>
            <a:endParaRPr lang="en-US"/>
          </a:p>
        </p:txBody>
      </p:sp>
      <p:sp>
        <p:nvSpPr>
          <p:cNvPr id="4" name="Title"/>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dirty="0">
                <a:solidFill>
                  <a:srgbClr val="ECECEC"/>
                </a:solidFill>
                <a:latin typeface="Arial" pitchFamily="34" charset="0"/>
                <a:ea typeface="Arial" pitchFamily="34" charset="-122"/>
                <a:cs typeface="Arial" pitchFamily="34" charset="-120"/>
              </a:rPr>
              <a:t>CALF - the seven market-data channels</a:t>
            </a:r>
            <a:endParaRPr lang="en-US" sz="2900" dirty="0"/>
          </a:p>
        </p:txBody>
      </p:sp>
      <p:sp>
        <p:nvSpPr>
          <p:cNvPr id="10" name="chan card">
            <a:extLst>
              <a:ext uri="{C183D7F6-B498-43B3-948B-1728B52AA6E4}">
                <adec:decorative xmlns:adec="http://schemas.microsoft.com/office/drawing/2017/decorative" val="1"/>
              </a:ext>
            </a:extLst>
          </p:cNvPr>
          <p:cNvSpPr/>
          <p:nvPr/>
        </p:nvSpPr>
        <p:spPr>
          <a:xfrm>
            <a:off x="566928" y="1620000"/>
            <a:ext cx="1875000" cy="137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chan accent">
            <a:extLst>
              <a:ext uri="{C183D7F6-B498-43B3-948B-1728B52AA6E4}">
                <adec:decorative xmlns:adec="http://schemas.microsoft.com/office/drawing/2017/decorative" val="1"/>
              </a:ext>
            </a:extLst>
          </p:cNvPr>
          <p:cNvSpPr/>
          <p:nvPr/>
        </p:nvSpPr>
        <p:spPr>
          <a:xfrm>
            <a:off x="566928" y="1620000"/>
            <a:ext cx="1875000" cy="56000"/>
          </a:xfrm>
          <a:prstGeom prst="rect">
            <a:avLst/>
          </a:prstGeom>
          <a:solidFill>
            <a:srgbClr val="B98CE0"/>
          </a:solidFill>
          <a:ln/>
        </p:spPr>
        <p:txBody>
          <a:bodyPr/>
          <a:lstStyle/>
          <a:p>
            <a:endParaRPr lang="en-SE"/>
          </a:p>
        </p:txBody>
      </p:sp>
      <p:sp>
        <p:nvSpPr>
          <p:cNvPr id="12" name="chan name"/>
          <p:cNvSpPr/>
          <p:nvPr/>
        </p:nvSpPr>
        <p:spPr>
          <a:xfrm>
            <a:off x="566928" y="1770000"/>
            <a:ext cx="1875000" cy="380000"/>
          </a:xfrm>
          <a:prstGeom prst="rect">
            <a:avLst/>
          </a:prstGeom>
          <a:noFill/>
          <a:ln/>
        </p:spPr>
        <p:txBody>
          <a:bodyPr wrap="square" lIns="0" tIns="0" rIns="0" bIns="0" rtlCol="0" anchor="ctr"/>
          <a:lstStyle/>
          <a:p>
            <a:pPr marL="0" indent="0" algn="ctr">
              <a:buNone/>
            </a:pPr>
            <a:r>
              <a:rPr lang="en-US" sz="1500" b="1" kern="0">
                <a:solidFill>
                  <a:srgbClr val="ECECEC"/>
                </a:solidFill>
                <a:latin typeface="Arial" pitchFamily="34" charset="0"/>
                <a:ea typeface="Arial" pitchFamily="34" charset="-122"/>
                <a:cs typeface="Arial" pitchFamily="34" charset="-120"/>
              </a:rPr>
              <a:t>TOP</a:t>
            </a:r>
            <a:endParaRPr lang="en-US"/>
          </a:p>
        </p:txBody>
      </p:sp>
      <p:sp>
        <p:nvSpPr>
          <p:cNvPr id="13" name="chan desc"/>
          <p:cNvSpPr/>
          <p:nvPr/>
        </p:nvSpPr>
        <p:spPr>
          <a:xfrm>
            <a:off x="686928" y="2180000"/>
            <a:ext cx="1635000" cy="700000"/>
          </a:xfrm>
          <a:prstGeom prst="rect">
            <a:avLst/>
          </a:prstGeom>
          <a:noFill/>
          <a:ln/>
        </p:spPr>
        <p:txBody>
          <a:bodyPr wrap="square" lIns="0" tIns="0" rIns="0" bIns="0" rtlCol="0" anchor="t"/>
          <a:lstStyle/>
          <a:p>
            <a:pPr marL="0" indent="0" algn="ctr">
              <a:lnSpc>
                <a:spcPct val="106000"/>
              </a:lnSpc>
              <a:buNone/>
            </a:pPr>
            <a:r>
              <a:rPr lang="en-US" sz="950" kern="0">
                <a:solidFill>
                  <a:srgbClr val="C3CDD6"/>
                </a:solidFill>
                <a:latin typeface="Calibri" pitchFamily="34" charset="0"/>
                <a:ea typeface="Calibri" pitchFamily="34" charset="-122"/>
                <a:cs typeface="Calibri" pitchFamily="34" charset="-120"/>
              </a:rPr>
              <a:t>Best bid / offer at the top of the book</a:t>
            </a:r>
            <a:endParaRPr lang="en-US"/>
          </a:p>
        </p:txBody>
      </p:sp>
      <p:sp>
        <p:nvSpPr>
          <p:cNvPr id="14" name="chan card">
            <a:extLst>
              <a:ext uri="{C183D7F6-B498-43B3-948B-1728B52AA6E4}">
                <adec:decorative xmlns:adec="http://schemas.microsoft.com/office/drawing/2017/decorative" val="1"/>
              </a:ext>
            </a:extLst>
          </p:cNvPr>
          <p:cNvSpPr/>
          <p:nvPr/>
        </p:nvSpPr>
        <p:spPr>
          <a:xfrm>
            <a:off x="2611976" y="1620000"/>
            <a:ext cx="1875000" cy="137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5" name="chan accent">
            <a:extLst>
              <a:ext uri="{C183D7F6-B498-43B3-948B-1728B52AA6E4}">
                <adec:decorative xmlns:adec="http://schemas.microsoft.com/office/drawing/2017/decorative" val="1"/>
              </a:ext>
            </a:extLst>
          </p:cNvPr>
          <p:cNvSpPr/>
          <p:nvPr/>
        </p:nvSpPr>
        <p:spPr>
          <a:xfrm>
            <a:off x="2611976" y="1620000"/>
            <a:ext cx="1875000" cy="56000"/>
          </a:xfrm>
          <a:prstGeom prst="rect">
            <a:avLst/>
          </a:prstGeom>
          <a:solidFill>
            <a:srgbClr val="B98CE0"/>
          </a:solidFill>
          <a:ln/>
        </p:spPr>
        <p:txBody>
          <a:bodyPr/>
          <a:lstStyle/>
          <a:p>
            <a:endParaRPr lang="en-SE"/>
          </a:p>
        </p:txBody>
      </p:sp>
      <p:sp>
        <p:nvSpPr>
          <p:cNvPr id="16" name="chan name"/>
          <p:cNvSpPr/>
          <p:nvPr/>
        </p:nvSpPr>
        <p:spPr>
          <a:xfrm>
            <a:off x="2611976" y="1770000"/>
            <a:ext cx="1875000" cy="380000"/>
          </a:xfrm>
          <a:prstGeom prst="rect">
            <a:avLst/>
          </a:prstGeom>
          <a:noFill/>
          <a:ln/>
        </p:spPr>
        <p:txBody>
          <a:bodyPr wrap="square" lIns="0" tIns="0" rIns="0" bIns="0" rtlCol="0" anchor="ctr"/>
          <a:lstStyle/>
          <a:p>
            <a:pPr marL="0" indent="0" algn="ctr">
              <a:buNone/>
            </a:pPr>
            <a:r>
              <a:rPr lang="en-US" sz="1500" b="1" kern="0">
                <a:solidFill>
                  <a:srgbClr val="ECECEC"/>
                </a:solidFill>
                <a:latin typeface="Arial" pitchFamily="34" charset="0"/>
                <a:ea typeface="Arial" pitchFamily="34" charset="-122"/>
                <a:cs typeface="Arial" pitchFamily="34" charset="-120"/>
              </a:rPr>
              <a:t>TRADE</a:t>
            </a:r>
            <a:endParaRPr lang="en-US"/>
          </a:p>
        </p:txBody>
      </p:sp>
      <p:sp>
        <p:nvSpPr>
          <p:cNvPr id="17" name="chan desc"/>
          <p:cNvSpPr/>
          <p:nvPr/>
        </p:nvSpPr>
        <p:spPr>
          <a:xfrm>
            <a:off x="2731976" y="2180000"/>
            <a:ext cx="1635000" cy="700000"/>
          </a:xfrm>
          <a:prstGeom prst="rect">
            <a:avLst/>
          </a:prstGeom>
          <a:noFill/>
          <a:ln/>
        </p:spPr>
        <p:txBody>
          <a:bodyPr wrap="square" lIns="0" tIns="0" rIns="0" bIns="0" rtlCol="0" anchor="t"/>
          <a:lstStyle/>
          <a:p>
            <a:pPr marL="0" indent="0" algn="ctr">
              <a:lnSpc>
                <a:spcPct val="106000"/>
              </a:lnSpc>
              <a:buNone/>
            </a:pPr>
            <a:r>
              <a:rPr lang="en-US" sz="950" kern="0">
                <a:solidFill>
                  <a:srgbClr val="C3CDD6"/>
                </a:solidFill>
                <a:latin typeface="Calibri" pitchFamily="34" charset="0"/>
                <a:ea typeface="Calibri" pitchFamily="34" charset="-122"/>
                <a:cs typeface="Calibri" pitchFamily="34" charset="-120"/>
              </a:rPr>
              <a:t>Executed trades — the printed tape</a:t>
            </a:r>
            <a:endParaRPr lang="en-US"/>
          </a:p>
        </p:txBody>
      </p:sp>
      <p:sp>
        <p:nvSpPr>
          <p:cNvPr id="18" name="chan card">
            <a:extLst>
              <a:ext uri="{C183D7F6-B498-43B3-948B-1728B52AA6E4}">
                <adec:decorative xmlns:adec="http://schemas.microsoft.com/office/drawing/2017/decorative" val="1"/>
              </a:ext>
            </a:extLst>
          </p:cNvPr>
          <p:cNvSpPr/>
          <p:nvPr/>
        </p:nvSpPr>
        <p:spPr>
          <a:xfrm>
            <a:off x="4657024" y="1620000"/>
            <a:ext cx="1875000" cy="137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9" name="chan accent">
            <a:extLst>
              <a:ext uri="{C183D7F6-B498-43B3-948B-1728B52AA6E4}">
                <adec:decorative xmlns:adec="http://schemas.microsoft.com/office/drawing/2017/decorative" val="1"/>
              </a:ext>
            </a:extLst>
          </p:cNvPr>
          <p:cNvSpPr/>
          <p:nvPr/>
        </p:nvSpPr>
        <p:spPr>
          <a:xfrm>
            <a:off x="4657024" y="1620000"/>
            <a:ext cx="1875000" cy="56000"/>
          </a:xfrm>
          <a:prstGeom prst="rect">
            <a:avLst/>
          </a:prstGeom>
          <a:solidFill>
            <a:srgbClr val="B98CE0"/>
          </a:solidFill>
          <a:ln/>
        </p:spPr>
        <p:txBody>
          <a:bodyPr/>
          <a:lstStyle/>
          <a:p>
            <a:endParaRPr lang="en-SE"/>
          </a:p>
        </p:txBody>
      </p:sp>
      <p:sp>
        <p:nvSpPr>
          <p:cNvPr id="20" name="chan name"/>
          <p:cNvSpPr/>
          <p:nvPr/>
        </p:nvSpPr>
        <p:spPr>
          <a:xfrm>
            <a:off x="4657024" y="1770000"/>
            <a:ext cx="1875000" cy="380000"/>
          </a:xfrm>
          <a:prstGeom prst="rect">
            <a:avLst/>
          </a:prstGeom>
          <a:noFill/>
          <a:ln/>
        </p:spPr>
        <p:txBody>
          <a:bodyPr wrap="square" lIns="0" tIns="0" rIns="0" bIns="0" rtlCol="0" anchor="ctr"/>
          <a:lstStyle/>
          <a:p>
            <a:pPr marL="0" indent="0" algn="ctr">
              <a:buNone/>
            </a:pPr>
            <a:r>
              <a:rPr lang="en-US" sz="1500" b="1" kern="0">
                <a:solidFill>
                  <a:srgbClr val="ECECEC"/>
                </a:solidFill>
                <a:latin typeface="Arial" pitchFamily="34" charset="0"/>
                <a:ea typeface="Arial" pitchFamily="34" charset="-122"/>
                <a:cs typeface="Arial" pitchFamily="34" charset="-120"/>
              </a:rPr>
              <a:t>STATE</a:t>
            </a:r>
            <a:endParaRPr lang="en-US"/>
          </a:p>
        </p:txBody>
      </p:sp>
      <p:sp>
        <p:nvSpPr>
          <p:cNvPr id="21" name="chan desc"/>
          <p:cNvSpPr/>
          <p:nvPr/>
        </p:nvSpPr>
        <p:spPr>
          <a:xfrm>
            <a:off x="4777024" y="2180000"/>
            <a:ext cx="1635000" cy="700000"/>
          </a:xfrm>
          <a:prstGeom prst="rect">
            <a:avLst/>
          </a:prstGeom>
          <a:noFill/>
          <a:ln/>
        </p:spPr>
        <p:txBody>
          <a:bodyPr wrap="square" lIns="0" tIns="0" rIns="0" bIns="0" rtlCol="0" anchor="t"/>
          <a:lstStyle/>
          <a:p>
            <a:pPr marL="0" indent="0" algn="ctr">
              <a:lnSpc>
                <a:spcPct val="106000"/>
              </a:lnSpc>
              <a:buNone/>
            </a:pPr>
            <a:r>
              <a:rPr lang="en-US" sz="950" kern="0">
                <a:solidFill>
                  <a:srgbClr val="C3CDD6"/>
                </a:solidFill>
                <a:latin typeface="Calibri" pitchFamily="34" charset="0"/>
                <a:ea typeface="Calibri" pitchFamily="34" charset="-122"/>
                <a:cs typeface="Calibri" pitchFamily="34" charset="-120"/>
              </a:rPr>
              <a:t>Session phase &amp; instrument state</a:t>
            </a:r>
            <a:endParaRPr lang="en-US"/>
          </a:p>
        </p:txBody>
      </p:sp>
      <p:sp>
        <p:nvSpPr>
          <p:cNvPr id="22" name="chan card">
            <a:extLst>
              <a:ext uri="{C183D7F6-B498-43B3-948B-1728B52AA6E4}">
                <adec:decorative xmlns:adec="http://schemas.microsoft.com/office/drawing/2017/decorative" val="1"/>
              </a:ext>
            </a:extLst>
          </p:cNvPr>
          <p:cNvSpPr/>
          <p:nvPr/>
        </p:nvSpPr>
        <p:spPr>
          <a:xfrm>
            <a:off x="6702072" y="1620000"/>
            <a:ext cx="1875000" cy="137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3" name="chan accent">
            <a:extLst>
              <a:ext uri="{C183D7F6-B498-43B3-948B-1728B52AA6E4}">
                <adec:decorative xmlns:adec="http://schemas.microsoft.com/office/drawing/2017/decorative" val="1"/>
              </a:ext>
            </a:extLst>
          </p:cNvPr>
          <p:cNvSpPr/>
          <p:nvPr/>
        </p:nvSpPr>
        <p:spPr>
          <a:xfrm>
            <a:off x="6702072" y="1620000"/>
            <a:ext cx="1875000" cy="56000"/>
          </a:xfrm>
          <a:prstGeom prst="rect">
            <a:avLst/>
          </a:prstGeom>
          <a:solidFill>
            <a:srgbClr val="B98CE0"/>
          </a:solidFill>
          <a:ln/>
        </p:spPr>
        <p:txBody>
          <a:bodyPr/>
          <a:lstStyle/>
          <a:p>
            <a:endParaRPr lang="en-SE"/>
          </a:p>
        </p:txBody>
      </p:sp>
      <p:sp>
        <p:nvSpPr>
          <p:cNvPr id="24" name="chan name"/>
          <p:cNvSpPr/>
          <p:nvPr/>
        </p:nvSpPr>
        <p:spPr>
          <a:xfrm>
            <a:off x="6702072" y="1770000"/>
            <a:ext cx="1875000" cy="380000"/>
          </a:xfrm>
          <a:prstGeom prst="rect">
            <a:avLst/>
          </a:prstGeom>
          <a:noFill/>
          <a:ln/>
        </p:spPr>
        <p:txBody>
          <a:bodyPr wrap="square" lIns="0" tIns="0" rIns="0" bIns="0" rtlCol="0" anchor="ctr"/>
          <a:lstStyle/>
          <a:p>
            <a:pPr marL="0" indent="0" algn="ctr">
              <a:buNone/>
            </a:pPr>
            <a:r>
              <a:rPr lang="en-US" sz="1500" b="1" kern="0">
                <a:solidFill>
                  <a:srgbClr val="ECECEC"/>
                </a:solidFill>
                <a:latin typeface="Arial" pitchFamily="34" charset="0"/>
                <a:ea typeface="Arial" pitchFamily="34" charset="-122"/>
                <a:cs typeface="Arial" pitchFamily="34" charset="-120"/>
              </a:rPr>
              <a:t>INDEX</a:t>
            </a:r>
            <a:endParaRPr lang="en-US"/>
          </a:p>
        </p:txBody>
      </p:sp>
      <p:sp>
        <p:nvSpPr>
          <p:cNvPr id="25" name="chan desc"/>
          <p:cNvSpPr/>
          <p:nvPr/>
        </p:nvSpPr>
        <p:spPr>
          <a:xfrm>
            <a:off x="6822072" y="2180000"/>
            <a:ext cx="1635000" cy="700000"/>
          </a:xfrm>
          <a:prstGeom prst="rect">
            <a:avLst/>
          </a:prstGeom>
          <a:noFill/>
          <a:ln/>
        </p:spPr>
        <p:txBody>
          <a:bodyPr wrap="square" lIns="0" tIns="0" rIns="0" bIns="0" rtlCol="0" anchor="t"/>
          <a:lstStyle/>
          <a:p>
            <a:pPr marL="0" indent="0" algn="ctr">
              <a:lnSpc>
                <a:spcPct val="106000"/>
              </a:lnSpc>
              <a:buNone/>
            </a:pPr>
            <a:r>
              <a:rPr lang="en-US" sz="950" kern="0">
                <a:solidFill>
                  <a:srgbClr val="C3CDD6"/>
                </a:solidFill>
                <a:latin typeface="Calibri" pitchFamily="34" charset="0"/>
                <a:ea typeface="Calibri" pitchFamily="34" charset="-122"/>
                <a:cs typeface="Calibri" pitchFamily="34" charset="-120"/>
              </a:rPr>
              <a:t>Live cap-weighted index levels</a:t>
            </a:r>
            <a:endParaRPr lang="en-US"/>
          </a:p>
        </p:txBody>
      </p:sp>
      <p:sp>
        <p:nvSpPr>
          <p:cNvPr id="26" name="chan card">
            <a:extLst>
              <a:ext uri="{C183D7F6-B498-43B3-948B-1728B52AA6E4}">
                <adec:decorative xmlns:adec="http://schemas.microsoft.com/office/drawing/2017/decorative" val="1"/>
              </a:ext>
            </a:extLst>
          </p:cNvPr>
          <p:cNvSpPr/>
          <p:nvPr/>
        </p:nvSpPr>
        <p:spPr>
          <a:xfrm>
            <a:off x="566928" y="3170000"/>
            <a:ext cx="1875000" cy="137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7" name="chan accent">
            <a:extLst>
              <a:ext uri="{C183D7F6-B498-43B3-948B-1728B52AA6E4}">
                <adec:decorative xmlns:adec="http://schemas.microsoft.com/office/drawing/2017/decorative" val="1"/>
              </a:ext>
            </a:extLst>
          </p:cNvPr>
          <p:cNvSpPr/>
          <p:nvPr/>
        </p:nvSpPr>
        <p:spPr>
          <a:xfrm>
            <a:off x="566928" y="3170000"/>
            <a:ext cx="1875000" cy="56000"/>
          </a:xfrm>
          <a:prstGeom prst="rect">
            <a:avLst/>
          </a:prstGeom>
          <a:solidFill>
            <a:srgbClr val="B98CE0"/>
          </a:solidFill>
          <a:ln/>
        </p:spPr>
        <p:txBody>
          <a:bodyPr/>
          <a:lstStyle/>
          <a:p>
            <a:endParaRPr lang="en-SE"/>
          </a:p>
        </p:txBody>
      </p:sp>
      <p:sp>
        <p:nvSpPr>
          <p:cNvPr id="28" name="chan name"/>
          <p:cNvSpPr/>
          <p:nvPr/>
        </p:nvSpPr>
        <p:spPr>
          <a:xfrm>
            <a:off x="566928" y="3320000"/>
            <a:ext cx="1875000" cy="380000"/>
          </a:xfrm>
          <a:prstGeom prst="rect">
            <a:avLst/>
          </a:prstGeom>
          <a:noFill/>
          <a:ln/>
        </p:spPr>
        <p:txBody>
          <a:bodyPr wrap="square" lIns="0" tIns="0" rIns="0" bIns="0" rtlCol="0" anchor="ctr"/>
          <a:lstStyle/>
          <a:p>
            <a:pPr marL="0" indent="0" algn="ctr">
              <a:buNone/>
            </a:pPr>
            <a:r>
              <a:rPr lang="en-US" sz="1500" b="1" kern="0">
                <a:solidFill>
                  <a:srgbClr val="ECECEC"/>
                </a:solidFill>
                <a:latin typeface="Arial" pitchFamily="34" charset="0"/>
                <a:ea typeface="Arial" pitchFamily="34" charset="-122"/>
                <a:cs typeface="Arial" pitchFamily="34" charset="-120"/>
              </a:rPr>
              <a:t>DEPTH</a:t>
            </a:r>
            <a:endParaRPr lang="en-US"/>
          </a:p>
        </p:txBody>
      </p:sp>
      <p:sp>
        <p:nvSpPr>
          <p:cNvPr id="29" name="chan desc"/>
          <p:cNvSpPr/>
          <p:nvPr/>
        </p:nvSpPr>
        <p:spPr>
          <a:xfrm>
            <a:off x="686928" y="3730000"/>
            <a:ext cx="1635000" cy="700000"/>
          </a:xfrm>
          <a:prstGeom prst="rect">
            <a:avLst/>
          </a:prstGeom>
          <a:noFill/>
          <a:ln/>
        </p:spPr>
        <p:txBody>
          <a:bodyPr wrap="square" lIns="0" tIns="0" rIns="0" bIns="0" rtlCol="0" anchor="t"/>
          <a:lstStyle/>
          <a:p>
            <a:pPr marL="0" indent="0" algn="ctr">
              <a:lnSpc>
                <a:spcPct val="106000"/>
              </a:lnSpc>
              <a:buNone/>
            </a:pPr>
            <a:r>
              <a:rPr lang="en-US" sz="950" kern="0">
                <a:solidFill>
                  <a:srgbClr val="C3CDD6"/>
                </a:solidFill>
                <a:latin typeface="Calibri" pitchFamily="34" charset="0"/>
                <a:ea typeface="Calibri" pitchFamily="34" charset="-122"/>
                <a:cs typeface="Calibri" pitchFamily="34" charset="-120"/>
              </a:rPr>
              <a:t>Full order-book depth by price level</a:t>
            </a:r>
            <a:endParaRPr lang="en-US"/>
          </a:p>
        </p:txBody>
      </p:sp>
      <p:sp>
        <p:nvSpPr>
          <p:cNvPr id="30" name="chan card">
            <a:extLst>
              <a:ext uri="{C183D7F6-B498-43B3-948B-1728B52AA6E4}">
                <adec:decorative xmlns:adec="http://schemas.microsoft.com/office/drawing/2017/decorative" val="1"/>
              </a:ext>
            </a:extLst>
          </p:cNvPr>
          <p:cNvSpPr/>
          <p:nvPr/>
        </p:nvSpPr>
        <p:spPr>
          <a:xfrm>
            <a:off x="2611976" y="3170000"/>
            <a:ext cx="1875000" cy="137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1" name="chan accent">
            <a:extLst>
              <a:ext uri="{C183D7F6-B498-43B3-948B-1728B52AA6E4}">
                <adec:decorative xmlns:adec="http://schemas.microsoft.com/office/drawing/2017/decorative" val="1"/>
              </a:ext>
            </a:extLst>
          </p:cNvPr>
          <p:cNvSpPr/>
          <p:nvPr/>
        </p:nvSpPr>
        <p:spPr>
          <a:xfrm>
            <a:off x="2611976" y="3170000"/>
            <a:ext cx="1875000" cy="56000"/>
          </a:xfrm>
          <a:prstGeom prst="rect">
            <a:avLst/>
          </a:prstGeom>
          <a:solidFill>
            <a:srgbClr val="B98CE0"/>
          </a:solidFill>
          <a:ln/>
        </p:spPr>
        <p:txBody>
          <a:bodyPr/>
          <a:lstStyle/>
          <a:p>
            <a:endParaRPr lang="en-SE"/>
          </a:p>
        </p:txBody>
      </p:sp>
      <p:sp>
        <p:nvSpPr>
          <p:cNvPr id="32" name="chan name"/>
          <p:cNvSpPr/>
          <p:nvPr/>
        </p:nvSpPr>
        <p:spPr>
          <a:xfrm>
            <a:off x="2611976" y="3320000"/>
            <a:ext cx="1875000" cy="380000"/>
          </a:xfrm>
          <a:prstGeom prst="rect">
            <a:avLst/>
          </a:prstGeom>
          <a:noFill/>
          <a:ln/>
        </p:spPr>
        <p:txBody>
          <a:bodyPr wrap="square" lIns="0" tIns="0" rIns="0" bIns="0" rtlCol="0" anchor="ctr"/>
          <a:lstStyle/>
          <a:p>
            <a:pPr marL="0" indent="0" algn="ctr">
              <a:buNone/>
            </a:pPr>
            <a:r>
              <a:rPr lang="en-US" sz="1500" b="1" kern="0">
                <a:solidFill>
                  <a:srgbClr val="ECECEC"/>
                </a:solidFill>
                <a:latin typeface="Arial" pitchFamily="34" charset="0"/>
                <a:ea typeface="Arial" pitchFamily="34" charset="-122"/>
                <a:cs typeface="Arial" pitchFamily="34" charset="-120"/>
              </a:rPr>
              <a:t>AUCTION</a:t>
            </a:r>
            <a:endParaRPr lang="en-US"/>
          </a:p>
        </p:txBody>
      </p:sp>
      <p:sp>
        <p:nvSpPr>
          <p:cNvPr id="33" name="chan desc"/>
          <p:cNvSpPr/>
          <p:nvPr/>
        </p:nvSpPr>
        <p:spPr>
          <a:xfrm>
            <a:off x="2731976" y="3730000"/>
            <a:ext cx="1635000" cy="700000"/>
          </a:xfrm>
          <a:prstGeom prst="rect">
            <a:avLst/>
          </a:prstGeom>
          <a:noFill/>
          <a:ln/>
        </p:spPr>
        <p:txBody>
          <a:bodyPr wrap="square" lIns="0" tIns="0" rIns="0" bIns="0" rtlCol="0" anchor="t"/>
          <a:lstStyle/>
          <a:p>
            <a:pPr marL="0" indent="0" algn="ctr">
              <a:lnSpc>
                <a:spcPct val="106000"/>
              </a:lnSpc>
              <a:buNone/>
            </a:pPr>
            <a:r>
              <a:rPr lang="en-US" sz="950" kern="0">
                <a:solidFill>
                  <a:srgbClr val="C3CDD6"/>
                </a:solidFill>
                <a:latin typeface="Calibri" pitchFamily="34" charset="0"/>
                <a:ea typeface="Calibri" pitchFamily="34" charset="-122"/>
                <a:cs typeface="Calibri" pitchFamily="34" charset="-120"/>
              </a:rPr>
              <a:t>Indicative &amp; final uncross results</a:t>
            </a:r>
            <a:endParaRPr lang="en-US"/>
          </a:p>
        </p:txBody>
      </p:sp>
      <p:sp>
        <p:nvSpPr>
          <p:cNvPr id="34" name="chan card">
            <a:extLst>
              <a:ext uri="{C183D7F6-B498-43B3-948B-1728B52AA6E4}">
                <adec:decorative xmlns:adec="http://schemas.microsoft.com/office/drawing/2017/decorative" val="1"/>
              </a:ext>
            </a:extLst>
          </p:cNvPr>
          <p:cNvSpPr/>
          <p:nvPr/>
        </p:nvSpPr>
        <p:spPr>
          <a:xfrm>
            <a:off x="4657024" y="3170000"/>
            <a:ext cx="1875000" cy="137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5" name="chan accent">
            <a:extLst>
              <a:ext uri="{C183D7F6-B498-43B3-948B-1728B52AA6E4}">
                <adec:decorative xmlns:adec="http://schemas.microsoft.com/office/drawing/2017/decorative" val="1"/>
              </a:ext>
            </a:extLst>
          </p:cNvPr>
          <p:cNvSpPr/>
          <p:nvPr/>
        </p:nvSpPr>
        <p:spPr>
          <a:xfrm>
            <a:off x="4657024" y="3170000"/>
            <a:ext cx="1875000" cy="56000"/>
          </a:xfrm>
          <a:prstGeom prst="rect">
            <a:avLst/>
          </a:prstGeom>
          <a:solidFill>
            <a:srgbClr val="B98CE0"/>
          </a:solidFill>
          <a:ln/>
        </p:spPr>
        <p:txBody>
          <a:bodyPr/>
          <a:lstStyle/>
          <a:p>
            <a:endParaRPr lang="en-SE"/>
          </a:p>
        </p:txBody>
      </p:sp>
      <p:sp>
        <p:nvSpPr>
          <p:cNvPr id="36" name="chan name"/>
          <p:cNvSpPr/>
          <p:nvPr/>
        </p:nvSpPr>
        <p:spPr>
          <a:xfrm>
            <a:off x="4657024" y="3320000"/>
            <a:ext cx="1875000" cy="380000"/>
          </a:xfrm>
          <a:prstGeom prst="rect">
            <a:avLst/>
          </a:prstGeom>
          <a:noFill/>
          <a:ln/>
        </p:spPr>
        <p:txBody>
          <a:bodyPr wrap="square" lIns="0" tIns="0" rIns="0" bIns="0" rtlCol="0" anchor="ctr"/>
          <a:lstStyle/>
          <a:p>
            <a:pPr marL="0" indent="0" algn="ctr">
              <a:buNone/>
            </a:pPr>
            <a:r>
              <a:rPr lang="en-US" sz="1500" b="1" kern="0">
                <a:solidFill>
                  <a:srgbClr val="ECECEC"/>
                </a:solidFill>
                <a:latin typeface="Arial" pitchFamily="34" charset="0"/>
                <a:ea typeface="Arial" pitchFamily="34" charset="-122"/>
                <a:cs typeface="Arial" pitchFamily="34" charset="-120"/>
              </a:rPr>
              <a:t>CB</a:t>
            </a:r>
            <a:endParaRPr lang="en-US"/>
          </a:p>
        </p:txBody>
      </p:sp>
      <p:sp>
        <p:nvSpPr>
          <p:cNvPr id="37" name="chan desc"/>
          <p:cNvSpPr/>
          <p:nvPr/>
        </p:nvSpPr>
        <p:spPr>
          <a:xfrm>
            <a:off x="4777024" y="3730000"/>
            <a:ext cx="1635000" cy="700000"/>
          </a:xfrm>
          <a:prstGeom prst="rect">
            <a:avLst/>
          </a:prstGeom>
          <a:noFill/>
          <a:ln/>
        </p:spPr>
        <p:txBody>
          <a:bodyPr wrap="square" lIns="0" tIns="0" rIns="0" bIns="0" rtlCol="0" anchor="t"/>
          <a:lstStyle/>
          <a:p>
            <a:pPr marL="0" indent="0" algn="ctr">
              <a:lnSpc>
                <a:spcPct val="106000"/>
              </a:lnSpc>
              <a:buNone/>
            </a:pPr>
            <a:r>
              <a:rPr lang="en-US" sz="950" kern="0">
                <a:solidFill>
                  <a:srgbClr val="C3CDD6"/>
                </a:solidFill>
                <a:latin typeface="Calibri" pitchFamily="34" charset="0"/>
                <a:ea typeface="Calibri" pitchFamily="34" charset="-122"/>
                <a:cs typeface="Calibri" pitchFamily="34" charset="-120"/>
              </a:rPr>
              <a:t>Circuit-breaker halt / resume events</a:t>
            </a:r>
            <a:endParaRPr lang="en-US"/>
          </a:p>
        </p:txBody>
      </p:sp>
      <p:sp>
        <p:nvSpPr>
          <p:cNvPr id="38" name="note card">
            <a:extLst>
              <a:ext uri="{C183D7F6-B498-43B3-948B-1728B52AA6E4}">
                <adec:decorative xmlns:adec="http://schemas.microsoft.com/office/drawing/2017/decorative" val="1"/>
              </a:ext>
            </a:extLst>
          </p:cNvPr>
          <p:cNvSpPr/>
          <p:nvPr/>
        </p:nvSpPr>
        <p:spPr>
          <a:xfrm>
            <a:off x="6702072" y="3170000"/>
            <a:ext cx="1875000" cy="1370000"/>
          </a:xfrm>
          <a:prstGeom prst="roundRect">
            <a:avLst>
              <a:gd name="adj" fmla="val 4000"/>
            </a:avLst>
          </a:prstGeom>
          <a:solidFill>
            <a:srgbClr val="202027"/>
          </a:solidFill>
          <a:ln w="12700">
            <a:solidFill>
              <a:srgbClr val="B98CE0"/>
            </a:solidFill>
            <a:prstDash val="solid"/>
          </a:ln>
          <a:effectLst>
            <a:outerShdw blurRad="114300" dist="38100" dir="5400000" algn="bl" rotWithShape="0">
              <a:srgbClr val="000000">
                <a:alpha val="35000"/>
              </a:srgbClr>
            </a:outerShdw>
          </a:effectLst>
        </p:spPr>
        <p:txBody>
          <a:bodyPr/>
          <a:lstStyle/>
          <a:p>
            <a:endParaRPr lang="en-SE"/>
          </a:p>
        </p:txBody>
      </p:sp>
      <p:sp>
        <p:nvSpPr>
          <p:cNvPr id="39" name="note text"/>
          <p:cNvSpPr/>
          <p:nvPr/>
        </p:nvSpPr>
        <p:spPr>
          <a:xfrm>
            <a:off x="6852072" y="3320000"/>
            <a:ext cx="1575000" cy="1070000"/>
          </a:xfrm>
          <a:prstGeom prst="rect">
            <a:avLst/>
          </a:prstGeom>
          <a:noFill/>
          <a:ln/>
        </p:spPr>
        <p:txBody>
          <a:bodyPr wrap="square" lIns="0" tIns="0" rIns="0" bIns="0" rtlCol="0" anchor="ctr"/>
          <a:lstStyle/>
          <a:p>
            <a:pPr marL="0" indent="0" algn="l">
              <a:lnSpc>
                <a:spcPct val="110000"/>
              </a:lnSpc>
              <a:buNone/>
            </a:pPr>
            <a:r>
              <a:rPr lang="en-US" sz="950" b="1" kern="0">
                <a:solidFill>
                  <a:srgbClr val="B98CE0"/>
                </a:solidFill>
                <a:latin typeface="Courier New" pitchFamily="34" charset="0"/>
                <a:ea typeface="Courier New" pitchFamily="34" charset="-122"/>
                <a:cs typeface="Courier New" pitchFamily="34" charset="-120"/>
              </a:rPr>
              <a:t>Snapshot + incremental</a:t>
            </a:r>
            <a:endParaRPr lang="en-US"/>
          </a:p>
          <a:p>
            <a:pPr marL="0" indent="0" algn="l">
              <a:lnSpc>
                <a:spcPct val="110000"/>
              </a:lnSpc>
              <a:buNone/>
            </a:pPr>
            <a:r>
              <a:rPr lang="en-US" sz="950" kern="0">
                <a:solidFill>
                  <a:srgbClr val="C3CDD6"/>
                </a:solidFill>
                <a:latin typeface="Calibri" pitchFamily="34" charset="0"/>
                <a:ea typeface="Calibri" pitchFamily="34" charset="-122"/>
                <a:cs typeface="Calibri" pitchFamily="34" charset="-120"/>
              </a:rPr>
              <a:t>Per-channel sequence numbers; on a gap the client re-snapshots (no resend in v1.0.0).</a:t>
            </a:r>
            <a:endParaRPr lang="en-US"/>
          </a:p>
        </p:txBody>
      </p:sp>
      <p:sp>
        <p:nvSpPr>
          <p:cNvPr id="9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9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22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RALF Protocol">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09 · PROTOCOLS · RALF</a:t>
            </a:r>
            <a:endParaRPr lang="en-US"/>
          </a:p>
        </p:txBody>
      </p:sp>
      <p:sp>
        <p:nvSpPr>
          <p:cNvPr id="4" name="Title"/>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dirty="0">
                <a:solidFill>
                  <a:srgbClr val="ECECEC"/>
                </a:solidFill>
                <a:latin typeface="Arial" pitchFamily="34" charset="0"/>
                <a:ea typeface="Arial" pitchFamily="34" charset="-122"/>
                <a:cs typeface="Arial" pitchFamily="34" charset="-120"/>
              </a:rPr>
              <a:t>RALF - the post-trade feed</a:t>
            </a:r>
            <a:endParaRPr lang="en-US" sz="2900" dirty="0"/>
          </a:p>
        </p:txBody>
      </p:sp>
      <p:sp>
        <p:nvSpPr>
          <p:cNvPr id="5" name="identity bar">
            <a:extLst>
              <a:ext uri="{C183D7F6-B498-43B3-948B-1728B52AA6E4}">
                <adec:decorative xmlns:adec="http://schemas.microsoft.com/office/drawing/2017/decorative" val="1"/>
              </a:ext>
            </a:extLst>
          </p:cNvPr>
          <p:cNvSpPr/>
          <p:nvPr/>
        </p:nvSpPr>
        <p:spPr>
          <a:xfrm>
            <a:off x="566928" y="1370000"/>
            <a:ext cx="8010144" cy="452000"/>
          </a:xfrm>
          <a:prstGeom prst="roundRect">
            <a:avLst>
              <a:gd name="adj" fmla="val 14286"/>
            </a:avLst>
          </a:prstGeom>
          <a:solidFill>
            <a:srgbClr val="202027"/>
          </a:solidFill>
          <a:ln w="12700">
            <a:solidFill>
              <a:srgbClr val="5FC98E"/>
            </a:solidFill>
            <a:prstDash val="solid"/>
          </a:ln>
          <a:effectLst>
            <a:glow rad="63500">
              <a:schemeClr val="accent6">
                <a:satMod val="175000"/>
                <a:alpha val="40000"/>
              </a:schemeClr>
            </a:glow>
          </a:effectLst>
        </p:spPr>
        <p:txBody>
          <a:bodyPr/>
          <a:lstStyle/>
          <a:p>
            <a:endParaRPr lang="en-SE"/>
          </a:p>
        </p:txBody>
      </p:sp>
      <p:sp>
        <p:nvSpPr>
          <p:cNvPr id="6" name="identity text"/>
          <p:cNvSpPr/>
          <p:nvPr/>
        </p:nvSpPr>
        <p:spPr>
          <a:xfrm>
            <a:off x="746928" y="1370000"/>
            <a:ext cx="7650144" cy="452000"/>
          </a:xfrm>
          <a:prstGeom prst="rect">
            <a:avLst/>
          </a:prstGeom>
          <a:noFill/>
          <a:ln/>
        </p:spPr>
        <p:txBody>
          <a:bodyPr wrap="square" lIns="0" tIns="0" rIns="0" bIns="0" rtlCol="0" anchor="ctr"/>
          <a:lstStyle/>
          <a:p>
            <a:pPr marL="0" indent="0" algn="l">
              <a:buNone/>
            </a:pPr>
            <a:r>
              <a:rPr lang="en-US" sz="1400" b="1" kern="0" dirty="0">
                <a:solidFill>
                  <a:srgbClr val="5FC98E"/>
                </a:solidFill>
                <a:latin typeface="Courier New" pitchFamily="34" charset="0"/>
                <a:ea typeface="Courier New" pitchFamily="34" charset="-122"/>
                <a:cs typeface="Courier New" pitchFamily="34" charset="-120"/>
              </a:rPr>
              <a:t>Reconciliation ALF   ·   pm-</a:t>
            </a:r>
            <a:r>
              <a:rPr lang="en-US" sz="1400" b="1" kern="0" dirty="0" err="1">
                <a:solidFill>
                  <a:srgbClr val="5FC98E"/>
                </a:solidFill>
                <a:latin typeface="Courier New" pitchFamily="34" charset="0"/>
                <a:ea typeface="Courier New" pitchFamily="34" charset="-122"/>
                <a:cs typeface="Courier New" pitchFamily="34" charset="-120"/>
              </a:rPr>
              <a:t>ralf</a:t>
            </a:r>
            <a:r>
              <a:rPr lang="en-US" sz="1400" b="1" kern="0" dirty="0">
                <a:solidFill>
                  <a:srgbClr val="5FC98E"/>
                </a:solidFill>
                <a:latin typeface="Courier New" pitchFamily="34" charset="0"/>
                <a:ea typeface="Courier New" pitchFamily="34" charset="-122"/>
                <a:cs typeface="Courier New" pitchFamily="34" charset="-120"/>
              </a:rPr>
              <a:t>-</a:t>
            </a:r>
            <a:r>
              <a:rPr lang="en-US" sz="1400" b="1" kern="0" dirty="0" err="1">
                <a:solidFill>
                  <a:srgbClr val="5FC98E"/>
                </a:solidFill>
                <a:latin typeface="Courier New" pitchFamily="34" charset="0"/>
                <a:ea typeface="Courier New" pitchFamily="34" charset="-122"/>
                <a:cs typeface="Courier New" pitchFamily="34" charset="-120"/>
              </a:rPr>
              <a:t>gwy</a:t>
            </a:r>
            <a:r>
              <a:rPr lang="en-US" sz="1400" b="1" kern="0" dirty="0">
                <a:solidFill>
                  <a:srgbClr val="5FC98E"/>
                </a:solidFill>
                <a:latin typeface="Courier New" pitchFamily="34" charset="0"/>
                <a:ea typeface="Courier New" pitchFamily="34" charset="-122"/>
                <a:cs typeface="Courier New" pitchFamily="34" charset="-120"/>
              </a:rPr>
              <a:t>   ·   TCP 5580   ·   3 channels</a:t>
            </a:r>
            <a:endParaRPr lang="en-US" sz="2400" dirty="0"/>
          </a:p>
        </p:txBody>
      </p:sp>
      <p:sp>
        <p:nvSpPr>
          <p:cNvPr id="10" name="label"/>
          <p:cNvSpPr/>
          <p:nvPr/>
        </p:nvSpPr>
        <p:spPr>
          <a:xfrm>
            <a:off x="566928" y="1980000"/>
            <a:ext cx="4200000" cy="210000"/>
          </a:xfrm>
          <a:prstGeom prst="rect">
            <a:avLst/>
          </a:prstGeom>
          <a:noFill/>
          <a:ln/>
        </p:spPr>
        <p:txBody>
          <a:bodyPr wrap="square" lIns="0" tIns="0" rIns="0" bIns="0" rtlCol="0" anchor="ctr"/>
          <a:lstStyle/>
          <a:p>
            <a:pPr marL="0" indent="0" algn="l">
              <a:buNone/>
            </a:pPr>
            <a:r>
              <a:rPr lang="en-US" sz="1100" b="1" kern="0" spc="150" dirty="0">
                <a:solidFill>
                  <a:srgbClr val="5FC98E"/>
                </a:solidFill>
                <a:latin typeface="Courier New" pitchFamily="34" charset="0"/>
                <a:ea typeface="Courier New" pitchFamily="34" charset="-122"/>
                <a:cs typeface="Courier New" pitchFamily="34" charset="-120"/>
              </a:rPr>
              <a:t>PURPOSE</a:t>
            </a:r>
            <a:endParaRPr lang="en-US" sz="2400" dirty="0"/>
          </a:p>
        </p:txBody>
      </p:sp>
      <p:sp>
        <p:nvSpPr>
          <p:cNvPr id="11" name="purpose body"/>
          <p:cNvSpPr/>
          <p:nvPr/>
        </p:nvSpPr>
        <p:spPr>
          <a:xfrm>
            <a:off x="566928" y="2190000"/>
            <a:ext cx="3660000" cy="64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The post-trade feed — a replayable trade and audit stream for clearing, drop-copy and audit consumers.</a:t>
            </a:r>
            <a:endParaRPr lang="en-US"/>
          </a:p>
        </p:txBody>
      </p:sp>
      <p:sp>
        <p:nvSpPr>
          <p:cNvPr id="12" name="label"/>
          <p:cNvSpPr/>
          <p:nvPr/>
        </p:nvSpPr>
        <p:spPr>
          <a:xfrm>
            <a:off x="566928" y="2900000"/>
            <a:ext cx="4200000" cy="210000"/>
          </a:xfrm>
          <a:prstGeom prst="rect">
            <a:avLst/>
          </a:prstGeom>
          <a:noFill/>
          <a:ln/>
        </p:spPr>
        <p:txBody>
          <a:bodyPr wrap="square" lIns="0" tIns="0" rIns="0" bIns="0" rtlCol="0" anchor="ctr"/>
          <a:lstStyle/>
          <a:p>
            <a:pPr marL="0" indent="0" algn="l">
              <a:buNone/>
            </a:pPr>
            <a:r>
              <a:rPr lang="en-US" sz="1100" b="1" kern="0" spc="150">
                <a:solidFill>
                  <a:srgbClr val="5FC98E"/>
                </a:solidFill>
                <a:latin typeface="Courier New" pitchFamily="34" charset="0"/>
                <a:ea typeface="Courier New" pitchFamily="34" charset="-122"/>
                <a:cs typeface="Courier New" pitchFamily="34" charset="-120"/>
              </a:rPr>
              <a:t>FORMAT / SYNTAX</a:t>
            </a:r>
            <a:endParaRPr lang="en-US" sz="2400"/>
          </a:p>
        </p:txBody>
      </p:sp>
      <p:sp>
        <p:nvSpPr>
          <p:cNvPr id="13" name="format body"/>
          <p:cNvSpPr/>
          <p:nvPr/>
        </p:nvSpPr>
        <p:spPr>
          <a:xfrm>
            <a:off x="566928" y="3110000"/>
            <a:ext cx="3660000" cy="560000"/>
          </a:xfrm>
          <a:prstGeom prst="rect">
            <a:avLst/>
          </a:prstGeom>
          <a:noFill/>
          <a:ln/>
        </p:spPr>
        <p:txBody>
          <a:bodyPr wrap="square" lIns="0" tIns="0" rIns="0" bIns="0" rtlCol="0" anchor="t"/>
          <a:lstStyle/>
          <a:p>
            <a:pPr marL="0" indent="0" algn="l">
              <a:lnSpc>
                <a:spcPct val="108000"/>
              </a:lnSpc>
              <a:buNone/>
            </a:pPr>
            <a:r>
              <a:rPr lang="en-US" sz="1050" kern="0">
                <a:solidFill>
                  <a:srgbClr val="C3CDD6"/>
                </a:solidFill>
                <a:latin typeface="Calibri" pitchFamily="34" charset="0"/>
                <a:ea typeface="Calibri" pitchFamily="34" charset="-122"/>
                <a:cs typeface="Calibri" pitchFamily="34" charset="-120"/>
              </a:rPr>
              <a:t>A replayable stream across three role-based channels — CLEARING, DROP_COPY and AUDIT — with role-based entitlement governing what each consumer receives.</a:t>
            </a:r>
            <a:endParaRPr lang="en-US"/>
          </a:p>
        </p:txBody>
      </p:sp>
      <p:sp>
        <p:nvSpPr>
          <p:cNvPr id="14" name="label"/>
          <p:cNvSpPr/>
          <p:nvPr/>
        </p:nvSpPr>
        <p:spPr>
          <a:xfrm>
            <a:off x="566928" y="3720000"/>
            <a:ext cx="4200000" cy="210000"/>
          </a:xfrm>
          <a:prstGeom prst="rect">
            <a:avLst/>
          </a:prstGeom>
          <a:noFill/>
          <a:ln/>
        </p:spPr>
        <p:txBody>
          <a:bodyPr wrap="square" lIns="0" tIns="0" rIns="0" bIns="0" rtlCol="0" anchor="ctr"/>
          <a:lstStyle/>
          <a:p>
            <a:pPr marL="0" indent="0" algn="l">
              <a:buNone/>
            </a:pPr>
            <a:r>
              <a:rPr lang="en-US" sz="1100" b="1" kern="0" spc="150">
                <a:solidFill>
                  <a:srgbClr val="5FC98E"/>
                </a:solidFill>
                <a:latin typeface="Courier New" pitchFamily="34" charset="0"/>
                <a:ea typeface="Courier New" pitchFamily="34" charset="-122"/>
                <a:cs typeface="Courier New" pitchFamily="34" charset="-120"/>
              </a:rPr>
              <a:t>EXAMPLE</a:t>
            </a:r>
            <a:endParaRPr lang="en-US" sz="2400"/>
          </a:p>
        </p:txBody>
      </p:sp>
      <p:sp>
        <p:nvSpPr>
          <p:cNvPr id="15" name="example box">
            <a:extLst>
              <a:ext uri="{C183D7F6-B498-43B3-948B-1728B52AA6E4}">
                <adec:decorative xmlns:adec="http://schemas.microsoft.com/office/drawing/2017/decorative" val="1"/>
              </a:ext>
            </a:extLst>
          </p:cNvPr>
          <p:cNvSpPr/>
          <p:nvPr/>
        </p:nvSpPr>
        <p:spPr>
          <a:xfrm>
            <a:off x="566928" y="3930000"/>
            <a:ext cx="3660000" cy="620000"/>
          </a:xfrm>
          <a:prstGeom prst="roundRect">
            <a:avLst>
              <a:gd name="adj" fmla="val 8000"/>
            </a:avLst>
          </a:prstGeom>
          <a:solidFill>
            <a:srgbClr val="202027"/>
          </a:solidFill>
          <a:ln w="12700">
            <a:solidFill>
              <a:srgbClr val="5FC98E"/>
            </a:solidFill>
            <a:prstDash val="solid"/>
          </a:ln>
        </p:spPr>
        <p:txBody>
          <a:bodyPr/>
          <a:lstStyle/>
          <a:p>
            <a:endParaRPr lang="en-SE"/>
          </a:p>
        </p:txBody>
      </p:sp>
      <p:sp>
        <p:nvSpPr>
          <p:cNvPr id="16" name="example text"/>
          <p:cNvSpPr/>
          <p:nvPr/>
        </p:nvSpPr>
        <p:spPr>
          <a:xfrm>
            <a:off x="696928" y="3930000"/>
            <a:ext cx="3400000" cy="620000"/>
          </a:xfrm>
          <a:prstGeom prst="rect">
            <a:avLst/>
          </a:prstGeom>
          <a:noFill/>
          <a:ln/>
        </p:spPr>
        <p:txBody>
          <a:bodyPr wrap="square" lIns="0" tIns="0" rIns="0" bIns="0" rtlCol="0" anchor="ctr"/>
          <a:lstStyle/>
          <a:p>
            <a:pPr marL="0" indent="0" algn="l">
              <a:lnSpc>
                <a:spcPct val="120000"/>
              </a:lnSpc>
              <a:buNone/>
            </a:pPr>
            <a:r>
              <a:rPr lang="en-US" sz="1000" kern="0" dirty="0">
                <a:solidFill>
                  <a:srgbClr val="ECECEC"/>
                </a:solidFill>
                <a:latin typeface="Courier New" pitchFamily="34" charset="0"/>
                <a:ea typeface="Courier New" pitchFamily="34" charset="-122"/>
                <a:cs typeface="Courier New" pitchFamily="34" charset="-120"/>
              </a:rPr>
              <a:t>SUB RALF|CH=CLEARING</a:t>
            </a:r>
            <a:endParaRPr lang="en-US" sz="2000" dirty="0"/>
          </a:p>
          <a:p>
            <a:pPr marL="0" indent="0" algn="l">
              <a:lnSpc>
                <a:spcPct val="120000"/>
              </a:lnSpc>
              <a:buNone/>
            </a:pPr>
            <a:r>
              <a:rPr lang="en-US" sz="1000" kern="0" dirty="0">
                <a:solidFill>
                  <a:srgbClr val="ECECEC"/>
                </a:solidFill>
                <a:latin typeface="Courier New" pitchFamily="34" charset="0"/>
                <a:ea typeface="Courier New" pitchFamily="34" charset="-122"/>
                <a:cs typeface="Courier New" pitchFamily="34" charset="-120"/>
              </a:rPr>
              <a:t>→ </a:t>
            </a:r>
            <a:r>
              <a:rPr lang="en-US" sz="1000" kern="0" dirty="0" err="1">
                <a:solidFill>
                  <a:srgbClr val="ECECEC"/>
                </a:solidFill>
                <a:latin typeface="Courier New" pitchFamily="34" charset="0"/>
                <a:ea typeface="Courier New" pitchFamily="34" charset="-122"/>
                <a:cs typeface="Courier New" pitchFamily="34" charset="-120"/>
              </a:rPr>
              <a:t>replayable</a:t>
            </a:r>
            <a:r>
              <a:rPr lang="en-US" sz="1000" kern="0" dirty="0">
                <a:solidFill>
                  <a:srgbClr val="ECECEC"/>
                </a:solidFill>
                <a:latin typeface="Courier New" pitchFamily="34" charset="0"/>
                <a:ea typeface="Courier New" pitchFamily="34" charset="-122"/>
                <a:cs typeface="Courier New" pitchFamily="34" charset="-120"/>
              </a:rPr>
              <a:t> trade stream  (illustrative)</a:t>
            </a:r>
            <a:endParaRPr lang="en-US" sz="2000" dirty="0"/>
          </a:p>
        </p:txBody>
      </p:sp>
      <p:sp>
        <p:nvSpPr>
          <p:cNvPr id="17" name="label"/>
          <p:cNvSpPr/>
          <p:nvPr/>
        </p:nvSpPr>
        <p:spPr>
          <a:xfrm>
            <a:off x="4470000" y="1980000"/>
            <a:ext cx="4200000" cy="210000"/>
          </a:xfrm>
          <a:prstGeom prst="rect">
            <a:avLst/>
          </a:prstGeom>
          <a:noFill/>
          <a:ln/>
        </p:spPr>
        <p:txBody>
          <a:bodyPr wrap="square" lIns="0" tIns="0" rIns="0" bIns="0" rtlCol="0" anchor="ctr"/>
          <a:lstStyle/>
          <a:p>
            <a:pPr marL="0" indent="0" algn="l">
              <a:buNone/>
            </a:pPr>
            <a:r>
              <a:rPr lang="en-US" sz="1100" b="1" kern="0" spc="150">
                <a:solidFill>
                  <a:srgbClr val="5FC98E"/>
                </a:solidFill>
                <a:latin typeface="Courier New" pitchFamily="34" charset="0"/>
                <a:ea typeface="Courier New" pitchFamily="34" charset="-122"/>
                <a:cs typeface="Courier New" pitchFamily="34" charset="-120"/>
              </a:rPr>
              <a:t>TYPICAL CLIENTS</a:t>
            </a:r>
            <a:endParaRPr lang="en-US" sz="2400"/>
          </a:p>
        </p:txBody>
      </p:sp>
      <p:sp>
        <p:nvSpPr>
          <p:cNvPr id="18" name="clients body"/>
          <p:cNvSpPr/>
          <p:nvPr/>
        </p:nvSpPr>
        <p:spPr>
          <a:xfrm>
            <a:off x="4470000" y="2190000"/>
            <a:ext cx="4107072" cy="56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Back-office &amp; clearing (pm-clearing), compliance / risk drop-copy consumers, and audit capture. Watch live with pm-ralf-spy.</a:t>
            </a:r>
            <a:endParaRPr lang="en-US"/>
          </a:p>
        </p:txBody>
      </p:sp>
      <p:sp>
        <p:nvSpPr>
          <p:cNvPr id="19" name="label"/>
          <p:cNvSpPr/>
          <p:nvPr/>
        </p:nvSpPr>
        <p:spPr>
          <a:xfrm>
            <a:off x="4470000" y="2800000"/>
            <a:ext cx="4200000" cy="210000"/>
          </a:xfrm>
          <a:prstGeom prst="rect">
            <a:avLst/>
          </a:prstGeom>
          <a:noFill/>
          <a:ln/>
        </p:spPr>
        <p:txBody>
          <a:bodyPr wrap="square" lIns="0" tIns="0" rIns="0" bIns="0" rtlCol="0" anchor="ctr"/>
          <a:lstStyle/>
          <a:p>
            <a:pPr marL="0" indent="0" algn="l">
              <a:buNone/>
            </a:pPr>
            <a:r>
              <a:rPr lang="en-US" sz="1100" b="1" kern="0" spc="150">
                <a:solidFill>
                  <a:srgbClr val="5FC98E"/>
                </a:solidFill>
                <a:latin typeface="Courier New" pitchFamily="34" charset="0"/>
                <a:ea typeface="Courier New" pitchFamily="34" charset="-122"/>
                <a:cs typeface="Courier New" pitchFamily="34" charset="-120"/>
              </a:rPr>
              <a:t>WHERE IT'S USED</a:t>
            </a:r>
            <a:endParaRPr lang="en-US" sz="2400"/>
          </a:p>
        </p:txBody>
      </p:sp>
      <p:sp>
        <p:nvSpPr>
          <p:cNvPr id="20" name="where body"/>
          <p:cNvSpPr/>
          <p:nvPr/>
        </p:nvSpPr>
        <p:spPr>
          <a:xfrm>
            <a:off x="4470000" y="3010000"/>
            <a:ext cx="4107072" cy="540000"/>
          </a:xfrm>
          <a:prstGeom prst="rect">
            <a:avLst/>
          </a:prstGeom>
          <a:noFill/>
          <a:ln/>
        </p:spPr>
        <p:txBody>
          <a:bodyPr wrap="square" lIns="0" tIns="0" rIns="0" bIns="0" rtlCol="0" anchor="t"/>
          <a:lstStyle/>
          <a:p>
            <a:pPr marL="0" indent="0" algn="l">
              <a:lnSpc>
                <a:spcPct val="108000"/>
              </a:lnSpc>
              <a:buNone/>
            </a:pPr>
            <a:r>
              <a:rPr lang="en-US" sz="1050" kern="0">
                <a:solidFill>
                  <a:srgbClr val="C3CDD6"/>
                </a:solidFill>
                <a:latin typeface="Calibri" pitchFamily="34" charset="0"/>
                <a:ea typeface="Calibri" pitchFamily="34" charset="-122"/>
                <a:cs typeface="Calibri" pitchFamily="34" charset="-120"/>
              </a:rPr>
              <a:t>Post-trade reconciliation and compliance, downstream of the engine's fills — complementing the raw drop-copy on :5557.</a:t>
            </a:r>
            <a:endParaRPr lang="en-US"/>
          </a:p>
        </p:txBody>
      </p:sp>
      <p:sp>
        <p:nvSpPr>
          <p:cNvPr id="21" name="label"/>
          <p:cNvSpPr/>
          <p:nvPr/>
        </p:nvSpPr>
        <p:spPr>
          <a:xfrm>
            <a:off x="4470000" y="3600000"/>
            <a:ext cx="4200000" cy="210000"/>
          </a:xfrm>
          <a:prstGeom prst="rect">
            <a:avLst/>
          </a:prstGeom>
          <a:noFill/>
          <a:ln/>
        </p:spPr>
        <p:txBody>
          <a:bodyPr wrap="square" lIns="0" tIns="0" rIns="0" bIns="0" rtlCol="0" anchor="ctr"/>
          <a:lstStyle/>
          <a:p>
            <a:pPr marL="0" indent="0" algn="l">
              <a:buNone/>
            </a:pPr>
            <a:r>
              <a:rPr lang="en-US" sz="1100" b="1" kern="0" spc="150">
                <a:solidFill>
                  <a:srgbClr val="5FC98E"/>
                </a:solidFill>
                <a:latin typeface="Courier New" pitchFamily="34" charset="0"/>
                <a:ea typeface="Courier New" pitchFamily="34" charset="-122"/>
                <a:cs typeface="Courier New" pitchFamily="34" charset="-120"/>
              </a:rPr>
              <a:t>GOOD TO KNOW</a:t>
            </a:r>
            <a:endParaRPr lang="en-US" sz="2400"/>
          </a:p>
        </p:txBody>
      </p:sp>
      <p:sp>
        <p:nvSpPr>
          <p:cNvPr id="22" name="good body"/>
          <p:cNvSpPr/>
          <p:nvPr/>
        </p:nvSpPr>
        <p:spPr>
          <a:xfrm>
            <a:off x="4470000" y="3810000"/>
            <a:ext cx="4107072" cy="76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The stream is replayable, so a consumer can re-request and reconcile. Entitlement is role-based across the three channels.</a:t>
            </a:r>
            <a:endParaRPr lang="en-US"/>
          </a:p>
        </p:txBody>
      </p:sp>
      <p:sp>
        <p:nvSpPr>
          <p:cNvPr id="9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9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23</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REST API Gateway">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5B9BF5"/>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5B9BF5"/>
                </a:solidFill>
                <a:latin typeface="Courier New" pitchFamily="34" charset="0"/>
                <a:ea typeface="Courier New" pitchFamily="34" charset="-122"/>
                <a:cs typeface="Courier New" pitchFamily="34" charset="-120"/>
              </a:rPr>
              <a:t>09 · PROTOCOLS · REST API</a:t>
            </a:r>
            <a:endParaRPr lang="en-US"/>
          </a:p>
        </p:txBody>
      </p:sp>
      <p:sp>
        <p:nvSpPr>
          <p:cNvPr id="4" name="Title"/>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dirty="0">
                <a:solidFill>
                  <a:srgbClr val="ECECEC"/>
                </a:solidFill>
                <a:latin typeface="Arial" pitchFamily="34" charset="0"/>
                <a:ea typeface="Arial" pitchFamily="34" charset="-122"/>
                <a:cs typeface="Arial" pitchFamily="34" charset="-120"/>
              </a:rPr>
              <a:t>REST API - the web gateway</a:t>
            </a:r>
            <a:endParaRPr lang="en-US" sz="2900" dirty="0"/>
          </a:p>
        </p:txBody>
      </p:sp>
      <p:sp>
        <p:nvSpPr>
          <p:cNvPr id="5" name="identity bar">
            <a:extLst>
              <a:ext uri="{C183D7F6-B498-43B3-948B-1728B52AA6E4}">
                <adec:decorative xmlns:adec="http://schemas.microsoft.com/office/drawing/2017/decorative" val="1"/>
              </a:ext>
            </a:extLst>
          </p:cNvPr>
          <p:cNvSpPr/>
          <p:nvPr/>
        </p:nvSpPr>
        <p:spPr>
          <a:xfrm>
            <a:off x="566928" y="1370000"/>
            <a:ext cx="8010144" cy="452000"/>
          </a:xfrm>
          <a:prstGeom prst="roundRect">
            <a:avLst>
              <a:gd name="adj" fmla="val 14286"/>
            </a:avLst>
          </a:prstGeom>
          <a:solidFill>
            <a:srgbClr val="202027"/>
          </a:solidFill>
          <a:ln w="12700">
            <a:solidFill>
              <a:srgbClr val="5B9BF5"/>
            </a:solidFill>
            <a:prstDash val="solid"/>
          </a:ln>
          <a:effectLst>
            <a:glow rad="63500">
              <a:schemeClr val="accent5">
                <a:satMod val="175000"/>
                <a:alpha val="40000"/>
              </a:schemeClr>
            </a:glow>
          </a:effectLst>
        </p:spPr>
        <p:txBody>
          <a:bodyPr/>
          <a:lstStyle/>
          <a:p>
            <a:endParaRPr lang="en-SE"/>
          </a:p>
        </p:txBody>
      </p:sp>
      <p:sp>
        <p:nvSpPr>
          <p:cNvPr id="6" name="identity text"/>
          <p:cNvSpPr/>
          <p:nvPr/>
        </p:nvSpPr>
        <p:spPr>
          <a:xfrm>
            <a:off x="746928" y="1370000"/>
            <a:ext cx="7650144" cy="452000"/>
          </a:xfrm>
          <a:prstGeom prst="rect">
            <a:avLst/>
          </a:prstGeom>
          <a:noFill/>
          <a:ln/>
        </p:spPr>
        <p:txBody>
          <a:bodyPr wrap="square" lIns="0" tIns="0" rIns="0" bIns="0" rtlCol="0" anchor="ctr"/>
          <a:lstStyle/>
          <a:p>
            <a:pPr marL="0" indent="0" algn="l">
              <a:buNone/>
            </a:pPr>
            <a:r>
              <a:rPr lang="en-US" sz="1600" b="1" kern="0" dirty="0">
                <a:solidFill>
                  <a:srgbClr val="5B9BF5"/>
                </a:solidFill>
                <a:latin typeface="Courier New" pitchFamily="34" charset="0"/>
                <a:ea typeface="Courier New" pitchFamily="34" charset="-122"/>
                <a:cs typeface="Courier New" pitchFamily="34" charset="-120"/>
              </a:rPr>
              <a:t>REST + WebSocket   ·   pm-</a:t>
            </a:r>
            <a:r>
              <a:rPr lang="en-US" sz="1600" b="1" kern="0" dirty="0" err="1">
                <a:solidFill>
                  <a:srgbClr val="5B9BF5"/>
                </a:solidFill>
                <a:latin typeface="Courier New" pitchFamily="34" charset="0"/>
                <a:ea typeface="Courier New" pitchFamily="34" charset="-122"/>
                <a:cs typeface="Courier New" pitchFamily="34" charset="-120"/>
              </a:rPr>
              <a:t>api</a:t>
            </a:r>
            <a:r>
              <a:rPr lang="en-US" sz="1600" b="1" kern="0" dirty="0">
                <a:solidFill>
                  <a:srgbClr val="5B9BF5"/>
                </a:solidFill>
                <a:latin typeface="Courier New" pitchFamily="34" charset="0"/>
                <a:ea typeface="Courier New" pitchFamily="34" charset="-122"/>
                <a:cs typeface="Courier New" pitchFamily="34" charset="-120"/>
              </a:rPr>
              <a:t>-</a:t>
            </a:r>
            <a:r>
              <a:rPr lang="en-US" sz="1600" b="1" kern="0" dirty="0" err="1">
                <a:solidFill>
                  <a:srgbClr val="5B9BF5"/>
                </a:solidFill>
                <a:latin typeface="Courier New" pitchFamily="34" charset="0"/>
                <a:ea typeface="Courier New" pitchFamily="34" charset="-122"/>
                <a:cs typeface="Courier New" pitchFamily="34" charset="-120"/>
              </a:rPr>
              <a:t>gwy</a:t>
            </a:r>
            <a:r>
              <a:rPr lang="en-US" sz="1600" b="1" kern="0" dirty="0">
                <a:solidFill>
                  <a:srgbClr val="5B9BF5"/>
                </a:solidFill>
                <a:latin typeface="Courier New" pitchFamily="34" charset="0"/>
                <a:ea typeface="Courier New" pitchFamily="34" charset="-122"/>
                <a:cs typeface="Courier New" pitchFamily="34" charset="-120"/>
              </a:rPr>
              <a:t>   ·   HTTP 8080</a:t>
            </a:r>
            <a:endParaRPr lang="en-US" sz="2800" dirty="0"/>
          </a:p>
        </p:txBody>
      </p:sp>
      <p:sp>
        <p:nvSpPr>
          <p:cNvPr id="10" name="label"/>
          <p:cNvSpPr/>
          <p:nvPr/>
        </p:nvSpPr>
        <p:spPr>
          <a:xfrm>
            <a:off x="566928" y="1980000"/>
            <a:ext cx="3660000" cy="210000"/>
          </a:xfrm>
          <a:prstGeom prst="rect">
            <a:avLst/>
          </a:prstGeom>
          <a:noFill/>
          <a:ln/>
        </p:spPr>
        <p:txBody>
          <a:bodyPr wrap="square" lIns="0" tIns="0" rIns="0" bIns="0" rtlCol="0" anchor="ctr"/>
          <a:lstStyle/>
          <a:p>
            <a:pPr marL="0" indent="0" algn="l">
              <a:buNone/>
            </a:pPr>
            <a:r>
              <a:rPr lang="en-US" sz="1200" b="1" kern="0" spc="150" dirty="0">
                <a:solidFill>
                  <a:srgbClr val="5B9BF5"/>
                </a:solidFill>
                <a:latin typeface="Courier New" pitchFamily="34" charset="0"/>
                <a:ea typeface="Courier New" pitchFamily="34" charset="-122"/>
                <a:cs typeface="Courier New" pitchFamily="34" charset="-120"/>
              </a:rPr>
              <a:t>PURPOSE</a:t>
            </a:r>
            <a:endParaRPr lang="en-US" sz="2800" dirty="0"/>
          </a:p>
        </p:txBody>
      </p:sp>
      <p:sp>
        <p:nvSpPr>
          <p:cNvPr id="11" name="purpose body"/>
          <p:cNvSpPr/>
          <p:nvPr/>
        </p:nvSpPr>
        <p:spPr>
          <a:xfrm>
            <a:off x="566928" y="2190000"/>
            <a:ext cx="3660000" cy="66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The browser-facing gateway — exposes the engine over ordinary HTTP so modern, interactive web apps can trade and stream live data without speaking the raw TCP protocols.</a:t>
            </a:r>
            <a:endParaRPr lang="en-US"/>
          </a:p>
        </p:txBody>
      </p:sp>
      <p:sp>
        <p:nvSpPr>
          <p:cNvPr id="12" name="label"/>
          <p:cNvSpPr/>
          <p:nvPr/>
        </p:nvSpPr>
        <p:spPr>
          <a:xfrm>
            <a:off x="566928" y="2920000"/>
            <a:ext cx="3660000" cy="210000"/>
          </a:xfrm>
          <a:prstGeom prst="rect">
            <a:avLst/>
          </a:prstGeom>
          <a:noFill/>
          <a:ln/>
        </p:spPr>
        <p:txBody>
          <a:bodyPr wrap="square" lIns="0" tIns="0" rIns="0" bIns="0" rtlCol="0" anchor="ctr"/>
          <a:lstStyle/>
          <a:p>
            <a:pPr marL="0" indent="0" algn="l">
              <a:buNone/>
            </a:pPr>
            <a:r>
              <a:rPr lang="en-US" sz="1200" b="1" kern="0" spc="150">
                <a:solidFill>
                  <a:srgbClr val="5B9BF5"/>
                </a:solidFill>
                <a:latin typeface="Courier New" pitchFamily="34" charset="0"/>
                <a:ea typeface="Courier New" pitchFamily="34" charset="-122"/>
                <a:cs typeface="Courier New" pitchFamily="34" charset="-120"/>
              </a:rPr>
              <a:t>FORMAT / SYNTAX</a:t>
            </a:r>
            <a:endParaRPr lang="en-US" sz="2800"/>
          </a:p>
        </p:txBody>
      </p:sp>
      <p:sp>
        <p:nvSpPr>
          <p:cNvPr id="13" name="format body"/>
          <p:cNvSpPr/>
          <p:nvPr/>
        </p:nvSpPr>
        <p:spPr>
          <a:xfrm>
            <a:off x="566928" y="3130000"/>
            <a:ext cx="3660000" cy="560000"/>
          </a:xfrm>
          <a:prstGeom prst="rect">
            <a:avLst/>
          </a:prstGeom>
          <a:noFill/>
          <a:ln/>
        </p:spPr>
        <p:txBody>
          <a:bodyPr wrap="square" lIns="0" tIns="0" rIns="0" bIns="0" rtlCol="0" anchor="t"/>
          <a:lstStyle/>
          <a:p>
            <a:pPr marL="0" indent="0" algn="l">
              <a:lnSpc>
                <a:spcPct val="108000"/>
              </a:lnSpc>
              <a:buNone/>
            </a:pPr>
            <a:r>
              <a:rPr lang="en-US" sz="1050" kern="0">
                <a:solidFill>
                  <a:srgbClr val="C3CDD6"/>
                </a:solidFill>
                <a:latin typeface="Calibri" pitchFamily="34" charset="0"/>
                <a:ea typeface="Calibri" pitchFamily="34" charset="-122"/>
                <a:cs typeface="Calibri" pitchFamily="34" charset="-120"/>
              </a:rPr>
              <a:t>JSON over HTTP. REST endpoints for request/response actions; a WebSocket channel for a persistent, real-time push of book, trade and state updates.</a:t>
            </a:r>
            <a:endParaRPr lang="en-US"/>
          </a:p>
        </p:txBody>
      </p:sp>
      <p:sp>
        <p:nvSpPr>
          <p:cNvPr id="14" name="label"/>
          <p:cNvSpPr/>
          <p:nvPr/>
        </p:nvSpPr>
        <p:spPr>
          <a:xfrm>
            <a:off x="566928" y="3760000"/>
            <a:ext cx="3660000" cy="210000"/>
          </a:xfrm>
          <a:prstGeom prst="rect">
            <a:avLst/>
          </a:prstGeom>
          <a:noFill/>
          <a:ln/>
        </p:spPr>
        <p:txBody>
          <a:bodyPr wrap="square" lIns="0" tIns="0" rIns="0" bIns="0" rtlCol="0" anchor="ctr"/>
          <a:lstStyle/>
          <a:p>
            <a:pPr marL="0" indent="0" algn="l">
              <a:buNone/>
            </a:pPr>
            <a:r>
              <a:rPr lang="en-US" sz="1200" b="1" kern="0" spc="150">
                <a:solidFill>
                  <a:srgbClr val="5B9BF5"/>
                </a:solidFill>
                <a:latin typeface="Courier New" pitchFamily="34" charset="0"/>
                <a:ea typeface="Courier New" pitchFamily="34" charset="-122"/>
                <a:cs typeface="Courier New" pitchFamily="34" charset="-120"/>
              </a:rPr>
              <a:t>EXAMPLE</a:t>
            </a:r>
            <a:endParaRPr lang="en-US" sz="2800"/>
          </a:p>
        </p:txBody>
      </p:sp>
      <p:sp>
        <p:nvSpPr>
          <p:cNvPr id="15" name="example box">
            <a:extLst>
              <a:ext uri="{C183D7F6-B498-43B3-948B-1728B52AA6E4}">
                <adec:decorative xmlns:adec="http://schemas.microsoft.com/office/drawing/2017/decorative" val="1"/>
              </a:ext>
            </a:extLst>
          </p:cNvPr>
          <p:cNvSpPr/>
          <p:nvPr/>
        </p:nvSpPr>
        <p:spPr>
          <a:xfrm>
            <a:off x="566928" y="3970000"/>
            <a:ext cx="3660000" cy="600000"/>
          </a:xfrm>
          <a:prstGeom prst="roundRect">
            <a:avLst>
              <a:gd name="adj" fmla="val 8000"/>
            </a:avLst>
          </a:prstGeom>
          <a:solidFill>
            <a:srgbClr val="202027"/>
          </a:solidFill>
          <a:ln w="12700">
            <a:solidFill>
              <a:srgbClr val="5B9BF5"/>
            </a:solidFill>
            <a:prstDash val="solid"/>
          </a:ln>
        </p:spPr>
        <p:txBody>
          <a:bodyPr/>
          <a:lstStyle/>
          <a:p>
            <a:endParaRPr lang="en-SE"/>
          </a:p>
        </p:txBody>
      </p:sp>
      <p:sp>
        <p:nvSpPr>
          <p:cNvPr id="16" name="example text"/>
          <p:cNvSpPr/>
          <p:nvPr/>
        </p:nvSpPr>
        <p:spPr>
          <a:xfrm>
            <a:off x="696928" y="3970000"/>
            <a:ext cx="3400000" cy="600000"/>
          </a:xfrm>
          <a:prstGeom prst="rect">
            <a:avLst/>
          </a:prstGeom>
          <a:noFill/>
          <a:ln/>
        </p:spPr>
        <p:txBody>
          <a:bodyPr wrap="square" lIns="0" tIns="0" rIns="0" bIns="0" rtlCol="0" anchor="ctr"/>
          <a:lstStyle/>
          <a:p>
            <a:pPr marL="0" indent="0" algn="l">
              <a:lnSpc>
                <a:spcPct val="120000"/>
              </a:lnSpc>
              <a:buNone/>
            </a:pPr>
            <a:r>
              <a:rPr lang="en-US" sz="900" kern="0">
                <a:solidFill>
                  <a:srgbClr val="ECECEC"/>
                </a:solidFill>
                <a:latin typeface="Courier New" pitchFamily="34" charset="0"/>
                <a:ea typeface="Courier New" pitchFamily="34" charset="-122"/>
                <a:cs typeface="Courier New" pitchFamily="34" charset="-120"/>
              </a:rPr>
              <a:t>POST /orders {"sym":"AAPL"...}</a:t>
            </a:r>
            <a:endParaRPr lang="en-US"/>
          </a:p>
          <a:p>
            <a:pPr marL="0" indent="0" algn="l">
              <a:lnSpc>
                <a:spcPct val="120000"/>
              </a:lnSpc>
              <a:buNone/>
            </a:pPr>
            <a:r>
              <a:rPr lang="en-US" sz="900" kern="0">
                <a:solidFill>
                  <a:srgbClr val="ECECEC"/>
                </a:solidFill>
                <a:latin typeface="Courier New" pitchFamily="34" charset="0"/>
                <a:ea typeface="Courier New" pitchFamily="34" charset="-122"/>
                <a:cs typeface="Courier New" pitchFamily="34" charset="-120"/>
              </a:rPr>
              <a:t>WS /stream → live book  (illustrative)</a:t>
            </a:r>
            <a:endParaRPr lang="en-US"/>
          </a:p>
        </p:txBody>
      </p:sp>
      <p:sp>
        <p:nvSpPr>
          <p:cNvPr id="17" name="label"/>
          <p:cNvSpPr/>
          <p:nvPr/>
        </p:nvSpPr>
        <p:spPr>
          <a:xfrm>
            <a:off x="4470000" y="1980000"/>
            <a:ext cx="3660000" cy="210000"/>
          </a:xfrm>
          <a:prstGeom prst="rect">
            <a:avLst/>
          </a:prstGeom>
          <a:noFill/>
          <a:ln/>
        </p:spPr>
        <p:txBody>
          <a:bodyPr wrap="square" lIns="0" tIns="0" rIns="0" bIns="0" rtlCol="0" anchor="ctr"/>
          <a:lstStyle/>
          <a:p>
            <a:pPr marL="0" indent="0" algn="l">
              <a:buNone/>
            </a:pPr>
            <a:r>
              <a:rPr lang="en-US" sz="1200" b="1" kern="0" spc="150" dirty="0">
                <a:solidFill>
                  <a:srgbClr val="5B9BF5"/>
                </a:solidFill>
                <a:latin typeface="Courier New" pitchFamily="34" charset="0"/>
                <a:ea typeface="Courier New" pitchFamily="34" charset="-122"/>
                <a:cs typeface="Courier New" pitchFamily="34" charset="-120"/>
              </a:rPr>
              <a:t>TYPICAL CLIENTS</a:t>
            </a:r>
            <a:endParaRPr lang="en-US" sz="2800" dirty="0"/>
          </a:p>
        </p:txBody>
      </p:sp>
      <p:sp>
        <p:nvSpPr>
          <p:cNvPr id="18" name="clients body"/>
          <p:cNvSpPr/>
          <p:nvPr/>
        </p:nvSpPr>
        <p:spPr>
          <a:xfrm>
            <a:off x="4470000" y="2190000"/>
            <a:ext cx="4107072" cy="56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Browser dashboards and single-page trading UIs, the config-gui web app, and any HTTP/JSON client — no custom protocol library required.</a:t>
            </a:r>
            <a:endParaRPr lang="en-US"/>
          </a:p>
        </p:txBody>
      </p:sp>
      <p:sp>
        <p:nvSpPr>
          <p:cNvPr id="19" name="label"/>
          <p:cNvSpPr/>
          <p:nvPr/>
        </p:nvSpPr>
        <p:spPr>
          <a:xfrm>
            <a:off x="4470000" y="2920000"/>
            <a:ext cx="3660000" cy="210000"/>
          </a:xfrm>
          <a:prstGeom prst="rect">
            <a:avLst/>
          </a:prstGeom>
          <a:noFill/>
          <a:ln/>
        </p:spPr>
        <p:txBody>
          <a:bodyPr wrap="square" lIns="0" tIns="0" rIns="0" bIns="0" rtlCol="0" anchor="ctr"/>
          <a:lstStyle/>
          <a:p>
            <a:pPr marL="0" indent="0" algn="l">
              <a:buNone/>
            </a:pPr>
            <a:r>
              <a:rPr lang="en-US" sz="1200" b="1" kern="0" spc="150">
                <a:solidFill>
                  <a:srgbClr val="5B9BF5"/>
                </a:solidFill>
                <a:latin typeface="Courier New" pitchFamily="34" charset="0"/>
                <a:ea typeface="Courier New" pitchFamily="34" charset="-122"/>
                <a:cs typeface="Courier New" pitchFamily="34" charset="-120"/>
              </a:rPr>
              <a:t>WHERE IT'S USED</a:t>
            </a:r>
            <a:endParaRPr lang="en-US" sz="2800"/>
          </a:p>
        </p:txBody>
      </p:sp>
      <p:sp>
        <p:nvSpPr>
          <p:cNvPr id="20" name="where body"/>
          <p:cNvSpPr/>
          <p:nvPr/>
        </p:nvSpPr>
        <p:spPr>
          <a:xfrm>
            <a:off x="4470000" y="3130000"/>
            <a:ext cx="4107072" cy="560000"/>
          </a:xfrm>
          <a:prstGeom prst="rect">
            <a:avLst/>
          </a:prstGeom>
          <a:noFill/>
          <a:ln/>
        </p:spPr>
        <p:txBody>
          <a:bodyPr wrap="square" lIns="0" tIns="0" rIns="0" bIns="0" rtlCol="0" anchor="t"/>
          <a:lstStyle/>
          <a:p>
            <a:pPr marL="0" indent="0" algn="l">
              <a:lnSpc>
                <a:spcPct val="108000"/>
              </a:lnSpc>
              <a:buNone/>
            </a:pPr>
            <a:r>
              <a:rPr lang="en-US" sz="1050" kern="0">
                <a:solidFill>
                  <a:srgbClr val="C3CDD6"/>
                </a:solidFill>
                <a:latin typeface="Calibri" pitchFamily="34" charset="0"/>
                <a:ea typeface="Calibri" pitchFamily="34" charset="-122"/>
                <a:cs typeface="Calibri" pitchFamily="34" charset="-120"/>
              </a:rPr>
              <a:t>A participant gateway into pm-engine alongside the TCP gateways, configured under the api_gateways section of engine_config.yaml.</a:t>
            </a:r>
            <a:endParaRPr lang="en-US"/>
          </a:p>
        </p:txBody>
      </p:sp>
      <p:sp>
        <p:nvSpPr>
          <p:cNvPr id="21" name="label"/>
          <p:cNvSpPr/>
          <p:nvPr/>
        </p:nvSpPr>
        <p:spPr>
          <a:xfrm>
            <a:off x="4470000" y="3760000"/>
            <a:ext cx="3660000" cy="210000"/>
          </a:xfrm>
          <a:prstGeom prst="rect">
            <a:avLst/>
          </a:prstGeom>
          <a:noFill/>
          <a:ln/>
        </p:spPr>
        <p:txBody>
          <a:bodyPr wrap="square" lIns="0" tIns="0" rIns="0" bIns="0" rtlCol="0" anchor="ctr"/>
          <a:lstStyle/>
          <a:p>
            <a:pPr marL="0" indent="0" algn="l">
              <a:buNone/>
            </a:pPr>
            <a:r>
              <a:rPr lang="en-US" sz="1200" b="1" kern="0" spc="150">
                <a:solidFill>
                  <a:srgbClr val="5B9BF5"/>
                </a:solidFill>
                <a:latin typeface="Courier New" pitchFamily="34" charset="0"/>
                <a:ea typeface="Courier New" pitchFamily="34" charset="-122"/>
                <a:cs typeface="Courier New" pitchFamily="34" charset="-120"/>
              </a:rPr>
              <a:t>GOOD TO KNOW</a:t>
            </a:r>
            <a:endParaRPr lang="en-US" sz="2800"/>
          </a:p>
        </p:txBody>
      </p:sp>
      <p:sp>
        <p:nvSpPr>
          <p:cNvPr id="22" name="good body"/>
          <p:cNvSpPr/>
          <p:nvPr/>
        </p:nvSpPr>
        <p:spPr>
          <a:xfrm>
            <a:off x="4470000" y="3970000"/>
            <a:ext cx="4107072" cy="760000"/>
          </a:xfrm>
          <a:prstGeom prst="rect">
            <a:avLst/>
          </a:prstGeom>
          <a:noFill/>
          <a:ln/>
        </p:spPr>
        <p:txBody>
          <a:bodyPr wrap="square" lIns="0" tIns="0" rIns="0" bIns="0" rtlCol="0" anchor="t"/>
          <a:lstStyle/>
          <a:p>
            <a:pPr marL="0" indent="0" algn="l">
              <a:lnSpc>
                <a:spcPct val="108000"/>
              </a:lnSpc>
              <a:buNone/>
            </a:pPr>
            <a:r>
              <a:rPr lang="en-US" sz="1050" kern="0">
                <a:solidFill>
                  <a:srgbClr val="ECECEC"/>
                </a:solidFill>
                <a:latin typeface="Calibri" pitchFamily="34" charset="0"/>
                <a:ea typeface="Calibri" pitchFamily="34" charset="-122"/>
                <a:cs typeface="Calibri" pitchFamily="34" charset="-120"/>
              </a:rPr>
              <a:t>REST maps order actions to HTTP verbs; the WebSocket feed bridges CALF-style market data to the browser so pages update live. Same allowlist model as the other gateways.</a:t>
            </a:r>
            <a:endParaRPr lang="en-US"/>
          </a:p>
        </p:txBody>
      </p:sp>
      <p:sp>
        <p:nvSpPr>
          <p:cNvPr id="9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9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24</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Modern Web Apps">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5B9BF5"/>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5B9BF5"/>
                </a:solidFill>
                <a:latin typeface="Courier New" pitchFamily="34" charset="0"/>
                <a:ea typeface="Courier New" pitchFamily="34" charset="-122"/>
                <a:cs typeface="Courier New" pitchFamily="34" charset="-120"/>
              </a:rPr>
              <a:t>09 · PROTOCOLS · REST API · WEB APPS</a:t>
            </a:r>
            <a:endParaRPr lang="en-US"/>
          </a:p>
        </p:txBody>
      </p:sp>
      <p:sp>
        <p:nvSpPr>
          <p:cNvPr id="4" name="Title"/>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a:solidFill>
                  <a:srgbClr val="ECECEC"/>
                </a:solidFill>
                <a:latin typeface="Arial" pitchFamily="34" charset="0"/>
                <a:ea typeface="Arial" pitchFamily="34" charset="-122"/>
                <a:cs typeface="Arial" pitchFamily="34" charset="-120"/>
              </a:rPr>
              <a:t>Building modern, interactive web apps</a:t>
            </a:r>
            <a:endParaRPr lang="en-US" sz="2900"/>
          </a:p>
        </p:txBody>
      </p:sp>
      <p:sp>
        <p:nvSpPr>
          <p:cNvPr id="10" name="app card">
            <a:extLst>
              <a:ext uri="{C183D7F6-B498-43B3-948B-1728B52AA6E4}">
                <adec:decorative xmlns:adec="http://schemas.microsoft.com/office/drawing/2017/decorative" val="1"/>
              </a:ext>
            </a:extLst>
          </p:cNvPr>
          <p:cNvSpPr/>
          <p:nvPr/>
        </p:nvSpPr>
        <p:spPr>
          <a:xfrm>
            <a:off x="566928" y="1620000"/>
            <a:ext cx="2510000" cy="228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card accent">
            <a:extLst>
              <a:ext uri="{C183D7F6-B498-43B3-948B-1728B52AA6E4}">
                <adec:decorative xmlns:adec="http://schemas.microsoft.com/office/drawing/2017/decorative" val="1"/>
              </a:ext>
            </a:extLst>
          </p:cNvPr>
          <p:cNvSpPr/>
          <p:nvPr/>
        </p:nvSpPr>
        <p:spPr>
          <a:xfrm>
            <a:off x="566928" y="1620000"/>
            <a:ext cx="2510000" cy="56000"/>
          </a:xfrm>
          <a:prstGeom prst="rect">
            <a:avLst/>
          </a:prstGeom>
          <a:solidFill>
            <a:srgbClr val="5B9BF5"/>
          </a:solidFill>
          <a:ln/>
        </p:spPr>
        <p:txBody>
          <a:bodyPr/>
          <a:lstStyle/>
          <a:p>
            <a:endParaRPr lang="en-SE"/>
          </a:p>
        </p:txBody>
      </p:sp>
      <p:sp>
        <p:nvSpPr>
          <p:cNvPr id="13" name="card title"/>
          <p:cNvSpPr/>
          <p:nvPr/>
        </p:nvSpPr>
        <p:spPr>
          <a:xfrm>
            <a:off x="736928" y="2180000"/>
            <a:ext cx="2170000" cy="400000"/>
          </a:xfrm>
          <a:prstGeom prst="rect">
            <a:avLst/>
          </a:prstGeom>
          <a:noFill/>
          <a:ln/>
        </p:spPr>
        <p:txBody>
          <a:bodyPr wrap="square" lIns="0" tIns="0" rIns="0" bIns="0" rtlCol="0" anchor="ctr"/>
          <a:lstStyle/>
          <a:p>
            <a:pPr marL="0" indent="0" algn="l">
              <a:buNone/>
            </a:pPr>
            <a:r>
              <a:rPr lang="en-US" sz="1400" b="1" kern="0">
                <a:solidFill>
                  <a:srgbClr val="ECECEC"/>
                </a:solidFill>
                <a:latin typeface="Arial" pitchFamily="34" charset="0"/>
                <a:ea typeface="Arial" pitchFamily="34" charset="-122"/>
                <a:cs typeface="Arial" pitchFamily="34" charset="-120"/>
              </a:rPr>
              <a:t>REST · actions</a:t>
            </a:r>
            <a:endParaRPr lang="en-US"/>
          </a:p>
        </p:txBody>
      </p:sp>
      <p:sp>
        <p:nvSpPr>
          <p:cNvPr id="14" name="card body"/>
          <p:cNvSpPr/>
          <p:nvPr/>
        </p:nvSpPr>
        <p:spPr>
          <a:xfrm>
            <a:off x="736928" y="2630000"/>
            <a:ext cx="2170000" cy="1100000"/>
          </a:xfrm>
          <a:prstGeom prst="rect">
            <a:avLst/>
          </a:prstGeom>
          <a:noFill/>
          <a:ln/>
        </p:spPr>
        <p:txBody>
          <a:bodyPr wrap="square" lIns="0" tIns="0" rIns="0" bIns="0" rtlCol="0" anchor="t"/>
          <a:lstStyle/>
          <a:p>
            <a:pPr marL="0" indent="0" algn="l">
              <a:lnSpc>
                <a:spcPct val="112000"/>
              </a:lnSpc>
              <a:buNone/>
            </a:pPr>
            <a:r>
              <a:rPr lang="en-US" sz="1050" kern="0">
                <a:solidFill>
                  <a:srgbClr val="C3CDD6"/>
                </a:solidFill>
                <a:latin typeface="Calibri" pitchFamily="34" charset="0"/>
                <a:ea typeface="Calibri" pitchFamily="34" charset="-122"/>
                <a:cs typeface="Calibri" pitchFamily="34" charset="-120"/>
              </a:rPr>
              <a:t>Place, amend, cancel and query over stateless HTTP request/response — one call, one JSON reply.</a:t>
            </a:r>
            <a:endParaRPr lang="en-US"/>
          </a:p>
        </p:txBody>
      </p:sp>
      <p:sp>
        <p:nvSpPr>
          <p:cNvPr id="15" name="app card">
            <a:extLst>
              <a:ext uri="{C183D7F6-B498-43B3-948B-1728B52AA6E4}">
                <adec:decorative xmlns:adec="http://schemas.microsoft.com/office/drawing/2017/decorative" val="1"/>
              </a:ext>
            </a:extLst>
          </p:cNvPr>
          <p:cNvSpPr/>
          <p:nvPr/>
        </p:nvSpPr>
        <p:spPr>
          <a:xfrm>
            <a:off x="3317000" y="1620000"/>
            <a:ext cx="2510000" cy="228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6" name="card accent">
            <a:extLst>
              <a:ext uri="{C183D7F6-B498-43B3-948B-1728B52AA6E4}">
                <adec:decorative xmlns:adec="http://schemas.microsoft.com/office/drawing/2017/decorative" val="1"/>
              </a:ext>
            </a:extLst>
          </p:cNvPr>
          <p:cNvSpPr/>
          <p:nvPr/>
        </p:nvSpPr>
        <p:spPr>
          <a:xfrm>
            <a:off x="3317000" y="1620000"/>
            <a:ext cx="2510000" cy="56000"/>
          </a:xfrm>
          <a:prstGeom prst="rect">
            <a:avLst/>
          </a:prstGeom>
          <a:solidFill>
            <a:srgbClr val="5B9BF5"/>
          </a:solidFill>
          <a:ln/>
        </p:spPr>
        <p:txBody>
          <a:bodyPr/>
          <a:lstStyle/>
          <a:p>
            <a:endParaRPr lang="en-SE"/>
          </a:p>
        </p:txBody>
      </p:sp>
      <p:sp>
        <p:nvSpPr>
          <p:cNvPr id="18" name="card title"/>
          <p:cNvSpPr/>
          <p:nvPr/>
        </p:nvSpPr>
        <p:spPr>
          <a:xfrm>
            <a:off x="3487000" y="2180000"/>
            <a:ext cx="2170000" cy="400000"/>
          </a:xfrm>
          <a:prstGeom prst="rect">
            <a:avLst/>
          </a:prstGeom>
          <a:noFill/>
          <a:ln/>
        </p:spPr>
        <p:txBody>
          <a:bodyPr wrap="square" lIns="0" tIns="0" rIns="0" bIns="0" rtlCol="0" anchor="ctr"/>
          <a:lstStyle/>
          <a:p>
            <a:pPr marL="0" indent="0" algn="l">
              <a:buNone/>
            </a:pPr>
            <a:r>
              <a:rPr lang="en-US" sz="1400" b="1" kern="0">
                <a:solidFill>
                  <a:srgbClr val="ECECEC"/>
                </a:solidFill>
                <a:latin typeface="Arial" pitchFamily="34" charset="0"/>
                <a:ea typeface="Arial" pitchFamily="34" charset="-122"/>
                <a:cs typeface="Arial" pitchFamily="34" charset="-120"/>
              </a:rPr>
              <a:t>WebSocket · live stream</a:t>
            </a:r>
            <a:endParaRPr lang="en-US"/>
          </a:p>
        </p:txBody>
      </p:sp>
      <p:sp>
        <p:nvSpPr>
          <p:cNvPr id="19" name="card body"/>
          <p:cNvSpPr/>
          <p:nvPr/>
        </p:nvSpPr>
        <p:spPr>
          <a:xfrm>
            <a:off x="3487000" y="2630000"/>
            <a:ext cx="2170000" cy="1100000"/>
          </a:xfrm>
          <a:prstGeom prst="rect">
            <a:avLst/>
          </a:prstGeom>
          <a:noFill/>
          <a:ln/>
        </p:spPr>
        <p:txBody>
          <a:bodyPr wrap="square" lIns="0" tIns="0" rIns="0" bIns="0" rtlCol="0" anchor="t"/>
          <a:lstStyle/>
          <a:p>
            <a:pPr marL="0" indent="0" algn="l">
              <a:lnSpc>
                <a:spcPct val="112000"/>
              </a:lnSpc>
              <a:buNone/>
            </a:pPr>
            <a:r>
              <a:rPr lang="en-US" sz="1050" kern="0">
                <a:solidFill>
                  <a:srgbClr val="C3CDD6"/>
                </a:solidFill>
                <a:latin typeface="Calibri" pitchFamily="34" charset="0"/>
                <a:ea typeface="Calibri" pitchFamily="34" charset="-122"/>
                <a:cs typeface="Calibri" pitchFamily="34" charset="-120"/>
              </a:rPr>
              <a:t>A persistent connection pushes fills, book and state changes the instant they happen — no polling.</a:t>
            </a:r>
            <a:endParaRPr lang="en-US"/>
          </a:p>
        </p:txBody>
      </p:sp>
      <p:sp>
        <p:nvSpPr>
          <p:cNvPr id="20" name="app card">
            <a:extLst>
              <a:ext uri="{C183D7F6-B498-43B3-948B-1728B52AA6E4}">
                <adec:decorative xmlns:adec="http://schemas.microsoft.com/office/drawing/2017/decorative" val="1"/>
              </a:ext>
            </a:extLst>
          </p:cNvPr>
          <p:cNvSpPr/>
          <p:nvPr/>
        </p:nvSpPr>
        <p:spPr>
          <a:xfrm>
            <a:off x="6067072" y="1620000"/>
            <a:ext cx="2510000" cy="228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1" name="card accent">
            <a:extLst>
              <a:ext uri="{C183D7F6-B498-43B3-948B-1728B52AA6E4}">
                <adec:decorative xmlns:adec="http://schemas.microsoft.com/office/drawing/2017/decorative" val="1"/>
              </a:ext>
            </a:extLst>
          </p:cNvPr>
          <p:cNvSpPr/>
          <p:nvPr/>
        </p:nvSpPr>
        <p:spPr>
          <a:xfrm>
            <a:off x="6067072" y="1620000"/>
            <a:ext cx="2510000" cy="56000"/>
          </a:xfrm>
          <a:prstGeom prst="rect">
            <a:avLst/>
          </a:prstGeom>
          <a:solidFill>
            <a:srgbClr val="5B9BF5"/>
          </a:solidFill>
          <a:ln/>
        </p:spPr>
        <p:txBody>
          <a:bodyPr/>
          <a:lstStyle/>
          <a:p>
            <a:endParaRPr lang="en-SE"/>
          </a:p>
        </p:txBody>
      </p:sp>
      <p:sp>
        <p:nvSpPr>
          <p:cNvPr id="23" name="card title"/>
          <p:cNvSpPr/>
          <p:nvPr/>
        </p:nvSpPr>
        <p:spPr>
          <a:xfrm>
            <a:off x="6237072" y="2180000"/>
            <a:ext cx="2170000" cy="400000"/>
          </a:xfrm>
          <a:prstGeom prst="rect">
            <a:avLst/>
          </a:prstGeom>
          <a:noFill/>
          <a:ln/>
        </p:spPr>
        <p:txBody>
          <a:bodyPr wrap="square" lIns="0" tIns="0" rIns="0" bIns="0" rtlCol="0" anchor="ctr"/>
          <a:lstStyle/>
          <a:p>
            <a:pPr marL="0" indent="0" algn="l">
              <a:buNone/>
            </a:pPr>
            <a:r>
              <a:rPr lang="en-US" sz="1400" b="1" kern="0">
                <a:solidFill>
                  <a:srgbClr val="ECECEC"/>
                </a:solidFill>
                <a:latin typeface="Arial" pitchFamily="34" charset="0"/>
                <a:ea typeface="Arial" pitchFamily="34" charset="-122"/>
                <a:cs typeface="Arial" pitchFamily="34" charset="-120"/>
              </a:rPr>
              <a:t>In the browser</a:t>
            </a:r>
            <a:endParaRPr lang="en-US"/>
          </a:p>
        </p:txBody>
      </p:sp>
      <p:sp>
        <p:nvSpPr>
          <p:cNvPr id="24" name="card body"/>
          <p:cNvSpPr/>
          <p:nvPr/>
        </p:nvSpPr>
        <p:spPr>
          <a:xfrm>
            <a:off x="6237072" y="2630000"/>
            <a:ext cx="2170000" cy="1100000"/>
          </a:xfrm>
          <a:prstGeom prst="rect">
            <a:avLst/>
          </a:prstGeom>
          <a:noFill/>
          <a:ln/>
        </p:spPr>
        <p:txBody>
          <a:bodyPr wrap="square" lIns="0" tIns="0" rIns="0" bIns="0" rtlCol="0" anchor="t"/>
          <a:lstStyle/>
          <a:p>
            <a:pPr marL="0" indent="0" algn="l">
              <a:lnSpc>
                <a:spcPct val="112000"/>
              </a:lnSpc>
              <a:buNone/>
            </a:pPr>
            <a:r>
              <a:rPr lang="en-US" sz="1050" kern="0">
                <a:solidFill>
                  <a:srgbClr val="C3CDD6"/>
                </a:solidFill>
                <a:latin typeface="Calibri" pitchFamily="34" charset="0"/>
                <a:ea typeface="Calibri" pitchFamily="34" charset="-122"/>
                <a:cs typeface="Calibri" pitchFamily="34" charset="-120"/>
              </a:rPr>
              <a:t>Together they drive single-page apps — live blotters, depth ladders and dashboards built with standard web tooling.</a:t>
            </a:r>
            <a:endParaRPr lang="en-US"/>
          </a:p>
        </p:txBody>
      </p:sp>
      <p:sp>
        <p:nvSpPr>
          <p:cNvPr id="25" name="note band">
            <a:extLst>
              <a:ext uri="{C183D7F6-B498-43B3-948B-1728B52AA6E4}">
                <adec:decorative xmlns:adec="http://schemas.microsoft.com/office/drawing/2017/decorative" val="1"/>
              </a:ext>
            </a:extLst>
          </p:cNvPr>
          <p:cNvSpPr/>
          <p:nvPr/>
        </p:nvSpPr>
        <p:spPr>
          <a:xfrm>
            <a:off x="566928" y="4090000"/>
            <a:ext cx="8010144" cy="560000"/>
          </a:xfrm>
          <a:prstGeom prst="roundRect">
            <a:avLst>
              <a:gd name="adj" fmla="val 14286"/>
            </a:avLst>
          </a:prstGeom>
          <a:solidFill>
            <a:srgbClr val="202027"/>
          </a:solidFill>
          <a:ln w="12700">
            <a:solidFill>
              <a:srgbClr val="5B9BF5"/>
            </a:solidFill>
            <a:prstDash val="solid"/>
          </a:ln>
          <a:effectLst>
            <a:glow rad="63500">
              <a:schemeClr val="accent5">
                <a:satMod val="175000"/>
                <a:alpha val="40000"/>
              </a:schemeClr>
            </a:glow>
          </a:effectLst>
        </p:spPr>
        <p:txBody>
          <a:bodyPr/>
          <a:lstStyle/>
          <a:p>
            <a:endParaRPr lang="en-SE"/>
          </a:p>
        </p:txBody>
      </p:sp>
      <p:sp>
        <p:nvSpPr>
          <p:cNvPr id="26" name="note text"/>
          <p:cNvSpPr/>
          <p:nvPr/>
        </p:nvSpPr>
        <p:spPr>
          <a:xfrm>
            <a:off x="684889" y="4090000"/>
            <a:ext cx="7804905" cy="560000"/>
          </a:xfrm>
          <a:prstGeom prst="rect">
            <a:avLst/>
          </a:prstGeom>
          <a:noFill/>
          <a:ln/>
        </p:spPr>
        <p:txBody>
          <a:bodyPr wrap="square" lIns="0" tIns="0" rIns="0" bIns="0" rtlCol="0" anchor="ctr"/>
          <a:lstStyle/>
          <a:p>
            <a:pPr marL="0" indent="0" algn="l">
              <a:buNone/>
            </a:pPr>
            <a:r>
              <a:rPr lang="en-US" sz="1100" kern="0" dirty="0">
                <a:solidFill>
                  <a:srgbClr val="ECECEC"/>
                </a:solidFill>
                <a:latin typeface="Calibri" pitchFamily="34" charset="0"/>
                <a:ea typeface="Calibri" pitchFamily="34" charset="-122"/>
                <a:cs typeface="Calibri" pitchFamily="34" charset="-120"/>
              </a:rPr>
              <a:t>Just HTTP and JSON on port 8080 — any browser or web framework can drive the engine, no native library or raw TCP required.</a:t>
            </a:r>
            <a:endParaRPr lang="en-US" sz="2000" dirty="0"/>
          </a:p>
        </p:txBody>
      </p:sp>
      <p:sp>
        <p:nvSpPr>
          <p:cNvPr id="9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9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25</a:t>
            </a:r>
            <a:endParaRPr lang="en-US"/>
          </a:p>
        </p:txBody>
      </p:sp>
      <p:sp>
        <p:nvSpPr>
          <p:cNvPr id="5" name="Oval 4">
            <a:extLst>
              <a:ext uri="{FF2B5EF4-FFF2-40B4-BE49-F238E27FC236}">
                <a16:creationId xmlns:a16="http://schemas.microsoft.com/office/drawing/2014/main" id="{CFFCDE41-78B3-1C79-9A56-E1A1D76B9D59}"/>
              </a:ext>
            </a:extLst>
          </p:cNvPr>
          <p:cNvSpPr/>
          <p:nvPr/>
        </p:nvSpPr>
        <p:spPr>
          <a:xfrm>
            <a:off x="684889" y="1717958"/>
            <a:ext cx="473852" cy="473852"/>
          </a:xfrm>
          <a:prstGeom prst="ellipse">
            <a:avLst/>
          </a:prstGeom>
          <a:solidFill>
            <a:schemeClr val="accent2">
              <a:lumMod val="75000"/>
            </a:schemeClr>
          </a:solidFill>
          <a:ln w="2222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6" name="Oval 5">
            <a:extLst>
              <a:ext uri="{FF2B5EF4-FFF2-40B4-BE49-F238E27FC236}">
                <a16:creationId xmlns:a16="http://schemas.microsoft.com/office/drawing/2014/main" id="{4594CAFD-196F-A6ED-0C27-7C557E25C5DA}"/>
              </a:ext>
            </a:extLst>
          </p:cNvPr>
          <p:cNvSpPr/>
          <p:nvPr/>
        </p:nvSpPr>
        <p:spPr>
          <a:xfrm>
            <a:off x="3433412" y="1717958"/>
            <a:ext cx="473852" cy="473852"/>
          </a:xfrm>
          <a:prstGeom prst="ellipse">
            <a:avLst/>
          </a:prstGeom>
          <a:solidFill>
            <a:schemeClr val="accent2">
              <a:lumMod val="75000"/>
            </a:schemeClr>
          </a:solidFill>
          <a:ln w="2222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7" name="Oval 6">
            <a:extLst>
              <a:ext uri="{FF2B5EF4-FFF2-40B4-BE49-F238E27FC236}">
                <a16:creationId xmlns:a16="http://schemas.microsoft.com/office/drawing/2014/main" id="{1F2DDB3C-B0ED-50BF-4C3D-CCD102FB4BEE}"/>
              </a:ext>
            </a:extLst>
          </p:cNvPr>
          <p:cNvSpPr/>
          <p:nvPr/>
        </p:nvSpPr>
        <p:spPr>
          <a:xfrm>
            <a:off x="6168544" y="1711132"/>
            <a:ext cx="473852" cy="473852"/>
          </a:xfrm>
          <a:prstGeom prst="ellipse">
            <a:avLst/>
          </a:prstGeom>
          <a:solidFill>
            <a:schemeClr val="accent2">
              <a:lumMod val="75000"/>
            </a:schemeClr>
          </a:solidFill>
          <a:ln w="2222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12" name="card num"/>
          <p:cNvSpPr/>
          <p:nvPr/>
        </p:nvSpPr>
        <p:spPr>
          <a:xfrm>
            <a:off x="736928" y="1810000"/>
            <a:ext cx="900000" cy="320000"/>
          </a:xfrm>
          <a:prstGeom prst="rect">
            <a:avLst/>
          </a:prstGeom>
          <a:noFill/>
          <a:ln/>
        </p:spPr>
        <p:txBody>
          <a:bodyPr wrap="square" lIns="0" tIns="0" rIns="0" bIns="0" rtlCol="0" anchor="ctr"/>
          <a:lstStyle/>
          <a:p>
            <a:pPr marL="0" indent="0" algn="l">
              <a:buNone/>
            </a:pPr>
            <a:r>
              <a:rPr lang="en-US" sz="2400" b="1" kern="0" dirty="0">
                <a:solidFill>
                  <a:schemeClr val="bg2">
                    <a:lumMod val="10000"/>
                  </a:schemeClr>
                </a:solidFill>
                <a:latin typeface="Courier New" pitchFamily="34" charset="0"/>
                <a:ea typeface="Courier New" pitchFamily="34" charset="-122"/>
                <a:cs typeface="Courier New" pitchFamily="34" charset="-120"/>
              </a:rPr>
              <a:t>01</a:t>
            </a:r>
            <a:endParaRPr lang="en-US" sz="3200" dirty="0">
              <a:solidFill>
                <a:schemeClr val="bg2">
                  <a:lumMod val="10000"/>
                </a:schemeClr>
              </a:solidFill>
            </a:endParaRPr>
          </a:p>
        </p:txBody>
      </p:sp>
      <p:sp>
        <p:nvSpPr>
          <p:cNvPr id="17" name="card num"/>
          <p:cNvSpPr/>
          <p:nvPr/>
        </p:nvSpPr>
        <p:spPr>
          <a:xfrm>
            <a:off x="3487000" y="1810000"/>
            <a:ext cx="900000" cy="320000"/>
          </a:xfrm>
          <a:prstGeom prst="rect">
            <a:avLst/>
          </a:prstGeom>
          <a:noFill/>
          <a:ln/>
        </p:spPr>
        <p:txBody>
          <a:bodyPr wrap="square" lIns="0" tIns="0" rIns="0" bIns="0" rtlCol="0" anchor="ctr"/>
          <a:lstStyle/>
          <a:p>
            <a:pPr marL="0" indent="0" algn="l">
              <a:buNone/>
            </a:pPr>
            <a:r>
              <a:rPr lang="en-US" sz="2400" b="1" kern="0" dirty="0">
                <a:solidFill>
                  <a:schemeClr val="bg2">
                    <a:lumMod val="10000"/>
                  </a:schemeClr>
                </a:solidFill>
                <a:latin typeface="Courier New" pitchFamily="34" charset="0"/>
                <a:ea typeface="Courier New" pitchFamily="34" charset="-122"/>
                <a:cs typeface="Courier New" pitchFamily="34" charset="-120"/>
              </a:rPr>
              <a:t>02</a:t>
            </a:r>
            <a:endParaRPr lang="en-US" sz="3200" dirty="0">
              <a:solidFill>
                <a:schemeClr val="bg2">
                  <a:lumMod val="10000"/>
                </a:schemeClr>
              </a:solidFill>
            </a:endParaRPr>
          </a:p>
        </p:txBody>
      </p:sp>
      <p:sp>
        <p:nvSpPr>
          <p:cNvPr id="22" name="card num"/>
          <p:cNvSpPr/>
          <p:nvPr/>
        </p:nvSpPr>
        <p:spPr>
          <a:xfrm>
            <a:off x="6237072" y="1810000"/>
            <a:ext cx="900000" cy="320000"/>
          </a:xfrm>
          <a:prstGeom prst="rect">
            <a:avLst/>
          </a:prstGeom>
          <a:noFill/>
          <a:ln/>
        </p:spPr>
        <p:txBody>
          <a:bodyPr wrap="square" lIns="0" tIns="0" rIns="0" bIns="0" rtlCol="0" anchor="ctr"/>
          <a:lstStyle/>
          <a:p>
            <a:pPr marL="0" indent="0" algn="l">
              <a:buNone/>
            </a:pPr>
            <a:r>
              <a:rPr lang="en-US" sz="2400" b="1" kern="0">
                <a:solidFill>
                  <a:schemeClr val="bg2">
                    <a:lumMod val="10000"/>
                  </a:schemeClr>
                </a:solidFill>
                <a:latin typeface="Courier New" pitchFamily="34" charset="0"/>
                <a:ea typeface="Courier New" pitchFamily="34" charset="-122"/>
                <a:cs typeface="Courier New" pitchFamily="34" charset="-120"/>
              </a:rPr>
              <a:t>03</a:t>
            </a:r>
            <a:endParaRPr lang="en-US" sz="3200">
              <a:solidFill>
                <a:schemeClr val="bg2">
                  <a:lumMod val="10000"/>
                </a:schemeClr>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Message reference">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04 · MESSAGE BUS · REFERENCE</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a:solidFill>
                  <a:srgbClr val="ECECEC"/>
                </a:solidFill>
                <a:latin typeface="Arial" pitchFamily="34" charset="0"/>
                <a:ea typeface="Arial" pitchFamily="34" charset="-122"/>
                <a:cs typeface="Arial" pitchFamily="34" charset="-120"/>
              </a:rPr>
              <a:t>Every message on the bus</a:t>
            </a:r>
            <a:endParaRPr lang="en-US" sz="2900"/>
          </a:p>
        </p:txBody>
      </p:sp>
      <p:sp>
        <p:nvSpPr>
          <p:cNvPr id="5" name="subtitle"/>
          <p:cNvSpPr/>
          <p:nvPr/>
        </p:nvSpPr>
        <p:spPr>
          <a:xfrm>
            <a:off x="566928" y="1242916"/>
            <a:ext cx="8010144" cy="300000"/>
          </a:xfrm>
          <a:prstGeom prst="rect">
            <a:avLst/>
          </a:prstGeom>
          <a:noFill/>
          <a:ln/>
        </p:spPr>
        <p:txBody>
          <a:bodyPr wrap="square" lIns="0" tIns="0" rIns="0" bIns="0" rtlCol="0" anchor="t"/>
          <a:lstStyle/>
          <a:p>
            <a:pPr marL="0" indent="0" algn="l">
              <a:lnSpc>
                <a:spcPct val="108000"/>
              </a:lnSpc>
              <a:buNone/>
            </a:pPr>
            <a:r>
              <a:rPr lang="en-US" sz="1250" kern="0" dirty="0">
                <a:solidFill>
                  <a:srgbClr val="B4B4BE"/>
                </a:solidFill>
                <a:latin typeface="Calibri" pitchFamily="34" charset="0"/>
                <a:ea typeface="Calibri" pitchFamily="34" charset="-122"/>
                <a:cs typeface="Calibri" pitchFamily="34" charset="-120"/>
              </a:rPr>
              <a:t>Two frames per message: frame[0] = </a:t>
            </a:r>
            <a:r>
              <a:rPr lang="en-US" sz="1250" kern="0" dirty="0" err="1">
                <a:solidFill>
                  <a:srgbClr val="B4B4BE"/>
                </a:solidFill>
                <a:latin typeface="Calibri" pitchFamily="34" charset="0"/>
                <a:ea typeface="Calibri" pitchFamily="34" charset="-122"/>
                <a:cs typeface="Calibri" pitchFamily="34" charset="-120"/>
              </a:rPr>
              <a:t>b"topic</a:t>
            </a:r>
            <a:r>
              <a:rPr lang="en-US" sz="1250" kern="0" dirty="0">
                <a:solidFill>
                  <a:srgbClr val="B4B4BE"/>
                </a:solidFill>
                <a:latin typeface="Calibri" pitchFamily="34" charset="0"/>
                <a:ea typeface="Calibri" pitchFamily="34" charset="-122"/>
                <a:cs typeface="Calibri" pitchFamily="34" charset="-120"/>
              </a:rPr>
              <a:t>", frame[1] = JSON payload. Dotted topic names with {GW} / {SYMBOL} suffixes let each subscriber filter to exactly what it needs.</a:t>
            </a:r>
            <a:endParaRPr lang="en-US" dirty="0"/>
          </a:p>
        </p:txBody>
      </p:sp>
      <p:sp>
        <p:nvSpPr>
          <p:cNvPr id="6" name="card">
            <a:extLst>
              <a:ext uri="{C183D7F6-B498-43B3-948B-1728B52AA6E4}">
                <adec:decorative xmlns:adec="http://schemas.microsoft.com/office/drawing/2017/decorative" val="1"/>
              </a:ext>
            </a:extLst>
          </p:cNvPr>
          <p:cNvSpPr/>
          <p:nvPr/>
        </p:nvSpPr>
        <p:spPr>
          <a:xfrm>
            <a:off x="566928"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accent">
            <a:extLst>
              <a:ext uri="{C183D7F6-B498-43B3-948B-1728B52AA6E4}">
                <adec:decorative xmlns:adec="http://schemas.microsoft.com/office/drawing/2017/decorative" val="1"/>
              </a:ext>
            </a:extLst>
          </p:cNvPr>
          <p:cNvSpPr/>
          <p:nvPr/>
        </p:nvSpPr>
        <p:spPr>
          <a:xfrm>
            <a:off x="566928" y="1690000"/>
            <a:ext cx="2543381" cy="54864"/>
          </a:xfrm>
          <a:prstGeom prst="rect">
            <a:avLst/>
          </a:prstGeom>
          <a:solidFill>
            <a:srgbClr val="F2860D"/>
          </a:solidFill>
          <a:ln/>
        </p:spPr>
        <p:txBody>
          <a:bodyPr/>
          <a:lstStyle/>
          <a:p>
            <a:endParaRPr lang="en-SE"/>
          </a:p>
        </p:txBody>
      </p:sp>
      <p:sp>
        <p:nvSpPr>
          <p:cNvPr id="8" name="panel head"/>
          <p:cNvSpPr/>
          <p:nvPr/>
        </p:nvSpPr>
        <p:spPr>
          <a:xfrm>
            <a:off x="716928" y="1810000"/>
            <a:ext cx="2243381" cy="240000"/>
          </a:xfrm>
          <a:prstGeom prst="rect">
            <a:avLst/>
          </a:prstGeom>
          <a:noFill/>
          <a:ln/>
        </p:spPr>
        <p:txBody>
          <a:bodyPr wrap="square" lIns="0" tIns="0" rIns="0" bIns="0" rtlCol="0" anchor="t"/>
          <a:lstStyle/>
          <a:p>
            <a:pPr marL="0" indent="0" algn="l">
              <a:buNone/>
            </a:pPr>
            <a:r>
              <a:rPr lang="en-US" sz="1000" b="1" kern="0" spc="100">
                <a:solidFill>
                  <a:srgbClr val="F2860D"/>
                </a:solidFill>
                <a:latin typeface="Courier New" pitchFamily="34" charset="0"/>
                <a:ea typeface="Courier New" pitchFamily="34" charset="-122"/>
                <a:cs typeface="Courier New" pitchFamily="34" charset="-120"/>
              </a:rPr>
              <a:t>INBOUND  →  PULL :5555</a:t>
            </a:r>
            <a:endParaRPr lang="en-US"/>
          </a:p>
        </p:txBody>
      </p:sp>
      <p:sp>
        <p:nvSpPr>
          <p:cNvPr id="9" name="panel body"/>
          <p:cNvSpPr/>
          <p:nvPr/>
        </p:nvSpPr>
        <p:spPr>
          <a:xfrm>
            <a:off x="716928"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system.gateway_connect</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order.new</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order.amend</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order.cancel</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order.combo</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order.oco</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risk.* (admin cmds)</a:t>
            </a:r>
            <a:endParaRPr lang="en-US"/>
          </a:p>
        </p:txBody>
      </p:sp>
      <p:sp>
        <p:nvSpPr>
          <p:cNvPr id="10" name="card">
            <a:extLst>
              <a:ext uri="{C183D7F6-B498-43B3-948B-1728B52AA6E4}">
                <adec:decorative xmlns:adec="http://schemas.microsoft.com/office/drawing/2017/decorative" val="1"/>
              </a:ext>
            </a:extLst>
          </p:cNvPr>
          <p:cNvSpPr/>
          <p:nvPr/>
        </p:nvSpPr>
        <p:spPr>
          <a:xfrm>
            <a:off x="3300309"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a:extLst>
              <a:ext uri="{C183D7F6-B498-43B3-948B-1728B52AA6E4}">
                <adec:decorative xmlns:adec="http://schemas.microsoft.com/office/drawing/2017/decorative" val="1"/>
              </a:ext>
            </a:extLst>
          </p:cNvPr>
          <p:cNvSpPr/>
          <p:nvPr/>
        </p:nvSpPr>
        <p:spPr>
          <a:xfrm>
            <a:off x="3300309" y="1690000"/>
            <a:ext cx="2543381" cy="54864"/>
          </a:xfrm>
          <a:prstGeom prst="rect">
            <a:avLst/>
          </a:prstGeom>
          <a:solidFill>
            <a:srgbClr val="5B9BF5"/>
          </a:solidFill>
          <a:ln/>
        </p:spPr>
        <p:txBody>
          <a:bodyPr/>
          <a:lstStyle/>
          <a:p>
            <a:endParaRPr lang="en-SE"/>
          </a:p>
        </p:txBody>
      </p:sp>
      <p:sp>
        <p:nvSpPr>
          <p:cNvPr id="12" name="panel head"/>
          <p:cNvSpPr/>
          <p:nvPr/>
        </p:nvSpPr>
        <p:spPr>
          <a:xfrm>
            <a:off x="3450309" y="1810000"/>
            <a:ext cx="2243381" cy="240000"/>
          </a:xfrm>
          <a:prstGeom prst="rect">
            <a:avLst/>
          </a:prstGeom>
          <a:noFill/>
          <a:ln/>
        </p:spPr>
        <p:txBody>
          <a:bodyPr wrap="square" lIns="0" tIns="0" rIns="0" bIns="0" rtlCol="0" anchor="t"/>
          <a:lstStyle/>
          <a:p>
            <a:pPr marL="0" indent="0" algn="l">
              <a:buNone/>
            </a:pPr>
            <a:r>
              <a:rPr lang="en-US" sz="1000" b="1" kern="0" spc="100">
                <a:solidFill>
                  <a:srgbClr val="5B9BF5"/>
                </a:solidFill>
                <a:latin typeface="Courier New" pitchFamily="34" charset="0"/>
                <a:ea typeface="Courier New" pitchFamily="34" charset="-122"/>
                <a:cs typeface="Courier New" pitchFamily="34" charset="-120"/>
              </a:rPr>
              <a:t>OUTBOUND  ←  PUB :5556</a:t>
            </a:r>
            <a:endParaRPr lang="en-US"/>
          </a:p>
        </p:txBody>
      </p:sp>
      <p:sp>
        <p:nvSpPr>
          <p:cNvPr id="13" name="panel body"/>
          <p:cNvSpPr/>
          <p:nvPr/>
        </p:nvSpPr>
        <p:spPr>
          <a:xfrm>
            <a:off x="3450309"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order.ack.{GW}</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order.fill.{GW}</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order.cancelled.{GW}</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order.expired.{GW}</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trade.executed</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book.{SYMBOL}</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system.session / .symbols</a:t>
            </a:r>
            <a:endParaRPr lang="en-US"/>
          </a:p>
        </p:txBody>
      </p:sp>
      <p:sp>
        <p:nvSpPr>
          <p:cNvPr id="14" name="card">
            <a:extLst>
              <a:ext uri="{C183D7F6-B498-43B3-948B-1728B52AA6E4}">
                <adec:decorative xmlns:adec="http://schemas.microsoft.com/office/drawing/2017/decorative" val="1"/>
              </a:ext>
            </a:extLst>
          </p:cNvPr>
          <p:cNvSpPr/>
          <p:nvPr/>
        </p:nvSpPr>
        <p:spPr>
          <a:xfrm>
            <a:off x="6033690"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5" name="accent">
            <a:extLst>
              <a:ext uri="{C183D7F6-B498-43B3-948B-1728B52AA6E4}">
                <adec:decorative xmlns:adec="http://schemas.microsoft.com/office/drawing/2017/decorative" val="1"/>
              </a:ext>
            </a:extLst>
          </p:cNvPr>
          <p:cNvSpPr/>
          <p:nvPr/>
        </p:nvSpPr>
        <p:spPr>
          <a:xfrm>
            <a:off x="6033690" y="1690000"/>
            <a:ext cx="2543381" cy="54864"/>
          </a:xfrm>
          <a:prstGeom prst="rect">
            <a:avLst/>
          </a:prstGeom>
          <a:solidFill>
            <a:srgbClr val="5FC98E"/>
          </a:solidFill>
          <a:ln/>
        </p:spPr>
        <p:txBody>
          <a:bodyPr/>
          <a:lstStyle/>
          <a:p>
            <a:endParaRPr lang="en-SE"/>
          </a:p>
        </p:txBody>
      </p:sp>
      <p:sp>
        <p:nvSpPr>
          <p:cNvPr id="16" name="panel head"/>
          <p:cNvSpPr/>
          <p:nvPr/>
        </p:nvSpPr>
        <p:spPr>
          <a:xfrm>
            <a:off x="6183690" y="1810000"/>
            <a:ext cx="2243381" cy="240000"/>
          </a:xfrm>
          <a:prstGeom prst="rect">
            <a:avLst/>
          </a:prstGeom>
          <a:noFill/>
          <a:ln/>
        </p:spPr>
        <p:txBody>
          <a:bodyPr wrap="square" lIns="0" tIns="0" rIns="0" bIns="0" rtlCol="0" anchor="t"/>
          <a:lstStyle/>
          <a:p>
            <a:pPr marL="0" indent="0" algn="l">
              <a:buNone/>
            </a:pPr>
            <a:r>
              <a:rPr lang="en-US" sz="1000" b="1" kern="0" spc="100">
                <a:solidFill>
                  <a:srgbClr val="5FC98E"/>
                </a:solidFill>
                <a:latin typeface="Courier New" pitchFamily="34" charset="0"/>
                <a:ea typeface="Courier New" pitchFamily="34" charset="-122"/>
                <a:cs typeface="Courier New" pitchFamily="34" charset="-120"/>
              </a:rPr>
              <a:t>SIDE CHANNELS</a:t>
            </a:r>
            <a:endParaRPr lang="en-US"/>
          </a:p>
        </p:txBody>
      </p:sp>
      <p:sp>
        <p:nvSpPr>
          <p:cNvPr id="17" name="panel body"/>
          <p:cNvSpPr/>
          <p:nvPr/>
        </p:nvSpPr>
        <p:spPr>
          <a:xfrm>
            <a:off x="6183690"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drop-copy fills</a:t>
            </a:r>
            <a:endParaRPr lang="en-US"/>
          </a:p>
          <a:p>
            <a:pPr marL="0" indent="0" algn="l">
              <a:lnSpc>
                <a:spcPct val="124000"/>
              </a:lnSpc>
              <a:spcBef>
                <a:spcPts val="200"/>
              </a:spcBef>
              <a:buNone/>
            </a:pPr>
            <a:r>
              <a:rPr lang="en-US" sz="1000" kern="0">
                <a:solidFill>
                  <a:srgbClr val="B4B4BE"/>
                </a:solidFill>
                <a:latin typeface="Courier New" pitchFamily="34" charset="0"/>
                <a:ea typeface="Courier New" pitchFamily="34" charset="-122"/>
                <a:cs typeface="Courier New" pitchFamily="34" charset="-120"/>
              </a:rPr>
              <a:t>   PUB :5557</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index.update</a:t>
            </a:r>
            <a:endParaRPr lang="en-US"/>
          </a:p>
          <a:p>
            <a:pPr marL="0" indent="0" algn="l">
              <a:lnSpc>
                <a:spcPct val="124000"/>
              </a:lnSpc>
              <a:spcBef>
                <a:spcPts val="200"/>
              </a:spcBef>
              <a:buNone/>
            </a:pPr>
            <a:r>
              <a:rPr lang="en-US" sz="1000" kern="0">
                <a:solidFill>
                  <a:srgbClr val="B4B4BE"/>
                </a:solidFill>
                <a:latin typeface="Courier New" pitchFamily="34" charset="0"/>
                <a:ea typeface="Courier New" pitchFamily="34" charset="-122"/>
                <a:cs typeface="Courier New" pitchFamily="34" charset="-120"/>
              </a:rPr>
              <a:t>   PUB :5558</a:t>
            </a:r>
            <a:endParaRPr lang="en-US"/>
          </a:p>
          <a:p>
            <a:pPr marL="0" indent="0" algn="l">
              <a:lnSpc>
                <a:spcPct val="124000"/>
              </a:lnSpc>
              <a:spcBef>
                <a:spcPts val="200"/>
              </a:spcBef>
              <a:buNone/>
            </a:pPr>
            <a:r>
              <a:rPr lang="en-US" sz="1000" kern="0">
                <a:solidFill>
                  <a:srgbClr val="ECECEC"/>
                </a:solidFill>
                <a:latin typeface="Courier New" pitchFamily="34" charset="0"/>
                <a:ea typeface="Courier New" pitchFamily="34" charset="-122"/>
                <a:cs typeface="Courier New" pitchFamily="34" charset="-120"/>
              </a:rPr>
              <a:t>audit log — every topic</a:t>
            </a:r>
            <a:endParaRPr lang="en-US"/>
          </a:p>
          <a:p>
            <a:pPr marL="0" indent="0" algn="l">
              <a:lnSpc>
                <a:spcPct val="124000"/>
              </a:lnSpc>
              <a:spcBef>
                <a:spcPts val="200"/>
              </a:spcBef>
              <a:buNone/>
            </a:pPr>
            <a:r>
              <a:rPr lang="en-US" sz="1000" kern="0">
                <a:solidFill>
                  <a:srgbClr val="B4B4BE"/>
                </a:solidFill>
                <a:latin typeface="Courier New" pitchFamily="34" charset="0"/>
                <a:ea typeface="Courier New" pitchFamily="34" charset="-122"/>
                <a:cs typeface="Courier New" pitchFamily="34" charset="-120"/>
              </a:rPr>
              <a:t>   pm-audit → audit.log</a:t>
            </a:r>
            <a:endParaRPr lang="en-US"/>
          </a:p>
        </p:txBody>
      </p:sp>
      <p:sp>
        <p:nvSpPr>
          <p:cNvPr id="18" name="note band">
            <a:extLst>
              <a:ext uri="{C183D7F6-B498-43B3-948B-1728B52AA6E4}">
                <adec:decorative xmlns:adec="http://schemas.microsoft.com/office/drawing/2017/decorative" val="1"/>
              </a:ext>
            </a:extLst>
          </p:cNvPr>
          <p:cNvSpPr/>
          <p:nvPr/>
        </p:nvSpPr>
        <p:spPr>
          <a:xfrm>
            <a:off x="566928" y="4300000"/>
            <a:ext cx="8010144" cy="450000"/>
          </a:xfrm>
          <a:prstGeom prst="roundRect">
            <a:avLst>
              <a:gd name="adj" fmla="val 9000"/>
            </a:avLst>
          </a:prstGeom>
          <a:solidFill>
            <a:srgbClr val="202027"/>
          </a:solidFill>
          <a:ln w="12700">
            <a:solidFill>
              <a:srgbClr val="F2860D"/>
            </a:solidFill>
            <a:prstDash val="solid"/>
          </a:ln>
        </p:spPr>
        <p:txBody>
          <a:bodyPr/>
          <a:lstStyle/>
          <a:p>
            <a:endParaRPr lang="en-SE"/>
          </a:p>
        </p:txBody>
      </p:sp>
      <p:sp>
        <p:nvSpPr>
          <p:cNvPr id="19" name="note text"/>
          <p:cNvSpPr/>
          <p:nvPr/>
        </p:nvSpPr>
        <p:spPr>
          <a:xfrm>
            <a:off x="786928" y="4300000"/>
            <a:ext cx="7570144" cy="450000"/>
          </a:xfrm>
          <a:prstGeom prst="rect">
            <a:avLst/>
          </a:prstGeom>
          <a:noFill/>
          <a:ln/>
        </p:spPr>
        <p:txBody>
          <a:bodyPr wrap="square" lIns="0" tIns="0" rIns="0" bIns="0" rtlCol="0" anchor="ctr"/>
          <a:lstStyle/>
          <a:p>
            <a:pPr marL="0" indent="0" algn="l">
              <a:lnSpc>
                <a:spcPct val="104000"/>
              </a:lnSpc>
              <a:buNone/>
            </a:pPr>
            <a:r>
              <a:rPr lang="en-US" sz="1000" kern="0">
                <a:solidFill>
                  <a:srgbClr val="ECECEC"/>
                </a:solidFill>
                <a:latin typeface="Calibri" pitchFamily="34" charset="0"/>
                <a:ea typeface="Calibri" pitchFamily="34" charset="-122"/>
                <a:cs typeface="Calibri" pitchFamily="34" charset="-120"/>
              </a:rPr>
              <a:t>Topics are hierarchical, so a client subscribes to a prefix — book.AAPL, order.fill.TRADER01 — and the bus delivers only the matching frames.</a:t>
            </a:r>
            <a:endParaRPr lang="en-US"/>
          </a:p>
        </p:txBody>
      </p:sp>
      <p:sp>
        <p:nvSpPr>
          <p:cNvPr id="2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2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26</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Port map">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06 · INFRASTRUCTURE · PORT MAP</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a:solidFill>
                  <a:srgbClr val="ECECEC"/>
                </a:solidFill>
                <a:latin typeface="Arial" pitchFamily="34" charset="0"/>
                <a:ea typeface="Arial" pitchFamily="34" charset="-122"/>
                <a:cs typeface="Arial" pitchFamily="34" charset="-120"/>
              </a:rPr>
              <a:t>The socket &amp; port map at a glance</a:t>
            </a:r>
            <a:endParaRPr lang="en-US" sz="2900"/>
          </a:p>
        </p:txBody>
      </p:sp>
      <p:sp>
        <p:nvSpPr>
          <p:cNvPr id="5" name="subtitle"/>
          <p:cNvSpPr/>
          <p:nvPr/>
        </p:nvSpPr>
        <p:spPr>
          <a:xfrm>
            <a:off x="566928" y="1257430"/>
            <a:ext cx="8010144" cy="300000"/>
          </a:xfrm>
          <a:prstGeom prst="rect">
            <a:avLst/>
          </a:prstGeom>
          <a:noFill/>
          <a:ln/>
        </p:spPr>
        <p:txBody>
          <a:bodyPr wrap="square" lIns="0" tIns="0" rIns="0" bIns="0" rtlCol="0" anchor="t"/>
          <a:lstStyle/>
          <a:p>
            <a:pPr marL="0" indent="0" algn="l">
              <a:lnSpc>
                <a:spcPct val="108000"/>
              </a:lnSpc>
              <a:buNone/>
            </a:pPr>
            <a:r>
              <a:rPr lang="en-US" sz="1250" kern="0" dirty="0">
                <a:solidFill>
                  <a:srgbClr val="B4B4BE"/>
                </a:solidFill>
                <a:latin typeface="Calibri" pitchFamily="34" charset="0"/>
                <a:ea typeface="Calibri" pitchFamily="34" charset="-122"/>
                <a:cs typeface="Calibri" pitchFamily="34" charset="-120"/>
              </a:rPr>
              <a:t>Internal </a:t>
            </a:r>
            <a:r>
              <a:rPr lang="en-US" sz="1250" kern="0" dirty="0" err="1">
                <a:solidFill>
                  <a:srgbClr val="B4B4BE"/>
                </a:solidFill>
                <a:latin typeface="Calibri" pitchFamily="34" charset="0"/>
                <a:ea typeface="Calibri" pitchFamily="34" charset="-122"/>
                <a:cs typeface="Calibri" pitchFamily="34" charset="-120"/>
              </a:rPr>
              <a:t>ZeroMQ</a:t>
            </a:r>
            <a:r>
              <a:rPr lang="en-US" sz="1250" kern="0" dirty="0">
                <a:solidFill>
                  <a:srgbClr val="B4B4BE"/>
                </a:solidFill>
                <a:latin typeface="Calibri" pitchFamily="34" charset="0"/>
                <a:ea typeface="Calibri" pitchFamily="34" charset="-122"/>
                <a:cs typeface="Calibri" pitchFamily="34" charset="-120"/>
              </a:rPr>
              <a:t> sockets bind to localhost; the five TCP gateways are the only externally reachable listeners — the boundary between the core and the outside world.</a:t>
            </a:r>
            <a:endParaRPr lang="en-US" dirty="0"/>
          </a:p>
        </p:txBody>
      </p:sp>
      <p:sp>
        <p:nvSpPr>
          <p:cNvPr id="6" name="card">
            <a:extLst>
              <a:ext uri="{C183D7F6-B498-43B3-948B-1728B52AA6E4}">
                <adec:decorative xmlns:adec="http://schemas.microsoft.com/office/drawing/2017/decorative" val="1"/>
              </a:ext>
            </a:extLst>
          </p:cNvPr>
          <p:cNvSpPr/>
          <p:nvPr/>
        </p:nvSpPr>
        <p:spPr>
          <a:xfrm>
            <a:off x="566928" y="1690000"/>
            <a:ext cx="3865072"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accent">
            <a:extLst>
              <a:ext uri="{C183D7F6-B498-43B3-948B-1728B52AA6E4}">
                <adec:decorative xmlns:adec="http://schemas.microsoft.com/office/drawing/2017/decorative" val="1"/>
              </a:ext>
            </a:extLst>
          </p:cNvPr>
          <p:cNvSpPr/>
          <p:nvPr/>
        </p:nvSpPr>
        <p:spPr>
          <a:xfrm>
            <a:off x="566928" y="1690000"/>
            <a:ext cx="3865072" cy="54864"/>
          </a:xfrm>
          <a:prstGeom prst="rect">
            <a:avLst/>
          </a:prstGeom>
          <a:solidFill>
            <a:srgbClr val="5B9BF5"/>
          </a:solidFill>
          <a:ln/>
        </p:spPr>
        <p:txBody>
          <a:bodyPr/>
          <a:lstStyle/>
          <a:p>
            <a:endParaRPr lang="en-SE"/>
          </a:p>
        </p:txBody>
      </p:sp>
      <p:sp>
        <p:nvSpPr>
          <p:cNvPr id="8" name="ph"/>
          <p:cNvSpPr/>
          <p:nvPr/>
        </p:nvSpPr>
        <p:spPr>
          <a:xfrm>
            <a:off x="716928" y="1810000"/>
            <a:ext cx="3565072" cy="240000"/>
          </a:xfrm>
          <a:prstGeom prst="rect">
            <a:avLst/>
          </a:prstGeom>
          <a:noFill/>
          <a:ln/>
        </p:spPr>
        <p:txBody>
          <a:bodyPr wrap="square" lIns="0" tIns="0" rIns="0" bIns="0" rtlCol="0" anchor="t"/>
          <a:lstStyle/>
          <a:p>
            <a:pPr marL="0" indent="0" algn="l">
              <a:buNone/>
            </a:pPr>
            <a:r>
              <a:rPr lang="en-US" sz="1000" b="1" kern="0" spc="100">
                <a:solidFill>
                  <a:srgbClr val="5B9BF5"/>
                </a:solidFill>
                <a:latin typeface="Courier New" pitchFamily="34" charset="0"/>
                <a:ea typeface="Courier New" pitchFamily="34" charset="-122"/>
                <a:cs typeface="Courier New" pitchFamily="34" charset="-120"/>
              </a:rPr>
              <a:t>CORE ZMQ SOCKETS (localhost)</a:t>
            </a:r>
            <a:endParaRPr lang="en-US"/>
          </a:p>
        </p:txBody>
      </p:sp>
      <p:sp>
        <p:nvSpPr>
          <p:cNvPr id="9" name="pb"/>
          <p:cNvSpPr/>
          <p:nvPr/>
        </p:nvSpPr>
        <p:spPr>
          <a:xfrm>
            <a:off x="716928" y="2210000"/>
            <a:ext cx="3565072" cy="1915000"/>
          </a:xfrm>
          <a:prstGeom prst="rect">
            <a:avLst/>
          </a:prstGeom>
          <a:noFill/>
          <a:ln/>
        </p:spPr>
        <p:txBody>
          <a:bodyPr wrap="square" lIns="0" tIns="0" rIns="0" bIns="0" rtlCol="0" anchor="ctr"/>
          <a:lstStyle/>
          <a:p>
            <a:pPr marL="0" indent="0" algn="l">
              <a:lnSpc>
                <a:spcPct val="200000"/>
              </a:lnSpc>
              <a:spcBef>
                <a:spcPts val="800"/>
              </a:spcBef>
              <a:buNone/>
            </a:pPr>
            <a:r>
              <a:rPr lang="en-US" sz="1050" b="1" kern="0" dirty="0">
                <a:solidFill>
                  <a:srgbClr val="F2860D"/>
                </a:solidFill>
                <a:latin typeface="Courier New" pitchFamily="34" charset="0"/>
                <a:ea typeface="Courier New" pitchFamily="34" charset="-122"/>
                <a:cs typeface="Courier New" pitchFamily="34" charset="-120"/>
              </a:rPr>
              <a:t>PULL :5555   </a:t>
            </a:r>
            <a:r>
              <a:rPr lang="en-US" sz="1000" kern="0" dirty="0">
                <a:solidFill>
                  <a:srgbClr val="B4B4BE"/>
                </a:solidFill>
                <a:latin typeface="Calibri" pitchFamily="34" charset="0"/>
                <a:ea typeface="Calibri" pitchFamily="34" charset="-122"/>
                <a:cs typeface="Calibri" pitchFamily="34" charset="-120"/>
              </a:rPr>
              <a:t>orders in</a:t>
            </a:r>
            <a:endParaRPr lang="en-US" dirty="0"/>
          </a:p>
          <a:p>
            <a:pPr marL="0" indent="0" algn="l">
              <a:lnSpc>
                <a:spcPct val="200000"/>
              </a:lnSpc>
              <a:spcBef>
                <a:spcPts val="800"/>
              </a:spcBef>
              <a:buNone/>
            </a:pPr>
            <a:r>
              <a:rPr lang="en-US" sz="1050" b="1" kern="0" dirty="0">
                <a:solidFill>
                  <a:srgbClr val="5B9BF5"/>
                </a:solidFill>
                <a:latin typeface="Courier New" pitchFamily="34" charset="0"/>
                <a:ea typeface="Courier New" pitchFamily="34" charset="-122"/>
                <a:cs typeface="Courier New" pitchFamily="34" charset="-120"/>
              </a:rPr>
              <a:t>PUB  :5556   </a:t>
            </a:r>
            <a:r>
              <a:rPr lang="en-US" sz="1000" kern="0" dirty="0">
                <a:solidFill>
                  <a:srgbClr val="B4B4BE"/>
                </a:solidFill>
                <a:latin typeface="Calibri" pitchFamily="34" charset="0"/>
                <a:ea typeface="Calibri" pitchFamily="34" charset="-122"/>
                <a:cs typeface="Calibri" pitchFamily="34" charset="-120"/>
              </a:rPr>
              <a:t>events out</a:t>
            </a:r>
            <a:endParaRPr lang="en-US" dirty="0"/>
          </a:p>
          <a:p>
            <a:pPr marL="0" indent="0" algn="l">
              <a:lnSpc>
                <a:spcPct val="200000"/>
              </a:lnSpc>
              <a:spcBef>
                <a:spcPts val="800"/>
              </a:spcBef>
              <a:buNone/>
            </a:pPr>
            <a:r>
              <a:rPr lang="en-US" sz="1050" b="1" kern="0" dirty="0">
                <a:solidFill>
                  <a:srgbClr val="5FC98E"/>
                </a:solidFill>
                <a:latin typeface="Courier New" pitchFamily="34" charset="0"/>
                <a:ea typeface="Courier New" pitchFamily="34" charset="-122"/>
                <a:cs typeface="Courier New" pitchFamily="34" charset="-120"/>
              </a:rPr>
              <a:t>PUB  :5557   </a:t>
            </a:r>
            <a:r>
              <a:rPr lang="en-US" sz="1000" kern="0" dirty="0">
                <a:solidFill>
                  <a:srgbClr val="B4B4BE"/>
                </a:solidFill>
                <a:latin typeface="Calibri" pitchFamily="34" charset="0"/>
                <a:ea typeface="Calibri" pitchFamily="34" charset="-122"/>
                <a:cs typeface="Calibri" pitchFamily="34" charset="-120"/>
              </a:rPr>
              <a:t>drop copy</a:t>
            </a:r>
            <a:endParaRPr lang="en-US" dirty="0"/>
          </a:p>
          <a:p>
            <a:pPr marL="0" indent="0" algn="l">
              <a:lnSpc>
                <a:spcPct val="200000"/>
              </a:lnSpc>
              <a:spcBef>
                <a:spcPts val="800"/>
              </a:spcBef>
              <a:buNone/>
            </a:pPr>
            <a:r>
              <a:rPr lang="en-US" sz="1050" b="1" kern="0" dirty="0">
                <a:solidFill>
                  <a:srgbClr val="B98CE0"/>
                </a:solidFill>
                <a:latin typeface="Courier New" pitchFamily="34" charset="0"/>
                <a:ea typeface="Courier New" pitchFamily="34" charset="-122"/>
                <a:cs typeface="Courier New" pitchFamily="34" charset="-120"/>
              </a:rPr>
              <a:t>PUB  :5558   </a:t>
            </a:r>
            <a:r>
              <a:rPr lang="en-US" sz="1000" kern="0" dirty="0">
                <a:solidFill>
                  <a:srgbClr val="B4B4BE"/>
                </a:solidFill>
                <a:latin typeface="Calibri" pitchFamily="34" charset="0"/>
                <a:ea typeface="Calibri" pitchFamily="34" charset="-122"/>
                <a:cs typeface="Calibri" pitchFamily="34" charset="-120"/>
              </a:rPr>
              <a:t>index publish</a:t>
            </a:r>
            <a:endParaRPr lang="en-US" dirty="0"/>
          </a:p>
          <a:p>
            <a:pPr marL="0" indent="0" algn="l">
              <a:lnSpc>
                <a:spcPct val="200000"/>
              </a:lnSpc>
              <a:spcBef>
                <a:spcPts val="800"/>
              </a:spcBef>
              <a:buNone/>
            </a:pPr>
            <a:r>
              <a:rPr lang="en-US" sz="1050" b="1" kern="0" dirty="0">
                <a:solidFill>
                  <a:srgbClr val="B98CE0"/>
                </a:solidFill>
                <a:latin typeface="Courier New" pitchFamily="34" charset="0"/>
                <a:ea typeface="Courier New" pitchFamily="34" charset="-122"/>
                <a:cs typeface="Courier New" pitchFamily="34" charset="-120"/>
              </a:rPr>
              <a:t>PULL :5559   </a:t>
            </a:r>
            <a:r>
              <a:rPr lang="en-US" sz="1000" kern="0" dirty="0">
                <a:solidFill>
                  <a:srgbClr val="B4B4BE"/>
                </a:solidFill>
                <a:latin typeface="Calibri" pitchFamily="34" charset="0"/>
                <a:ea typeface="Calibri" pitchFamily="34" charset="-122"/>
                <a:cs typeface="Calibri" pitchFamily="34" charset="-120"/>
              </a:rPr>
              <a:t>index admin</a:t>
            </a:r>
            <a:endParaRPr lang="en-US" dirty="0"/>
          </a:p>
        </p:txBody>
      </p:sp>
      <p:sp>
        <p:nvSpPr>
          <p:cNvPr id="10" name="card">
            <a:extLst>
              <a:ext uri="{C183D7F6-B498-43B3-948B-1728B52AA6E4}">
                <adec:decorative xmlns:adec="http://schemas.microsoft.com/office/drawing/2017/decorative" val="1"/>
              </a:ext>
            </a:extLst>
          </p:cNvPr>
          <p:cNvSpPr/>
          <p:nvPr/>
        </p:nvSpPr>
        <p:spPr>
          <a:xfrm>
            <a:off x="4712000" y="1690000"/>
            <a:ext cx="3865072"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a:extLst>
              <a:ext uri="{C183D7F6-B498-43B3-948B-1728B52AA6E4}">
                <adec:decorative xmlns:adec="http://schemas.microsoft.com/office/drawing/2017/decorative" val="1"/>
              </a:ext>
            </a:extLst>
          </p:cNvPr>
          <p:cNvSpPr/>
          <p:nvPr/>
        </p:nvSpPr>
        <p:spPr>
          <a:xfrm>
            <a:off x="4712000" y="1690000"/>
            <a:ext cx="3865072" cy="54864"/>
          </a:xfrm>
          <a:prstGeom prst="rect">
            <a:avLst/>
          </a:prstGeom>
          <a:solidFill>
            <a:srgbClr val="F2860D"/>
          </a:solidFill>
          <a:ln/>
        </p:spPr>
        <p:txBody>
          <a:bodyPr/>
          <a:lstStyle/>
          <a:p>
            <a:endParaRPr lang="en-SE"/>
          </a:p>
        </p:txBody>
      </p:sp>
      <p:sp>
        <p:nvSpPr>
          <p:cNvPr id="12" name="ph"/>
          <p:cNvSpPr/>
          <p:nvPr/>
        </p:nvSpPr>
        <p:spPr>
          <a:xfrm>
            <a:off x="4862000" y="1810000"/>
            <a:ext cx="3565072" cy="240000"/>
          </a:xfrm>
          <a:prstGeom prst="rect">
            <a:avLst/>
          </a:prstGeom>
          <a:noFill/>
          <a:ln/>
        </p:spPr>
        <p:txBody>
          <a:bodyPr wrap="square" lIns="0" tIns="0" rIns="0" bIns="0" rtlCol="0" anchor="t"/>
          <a:lstStyle/>
          <a:p>
            <a:pPr marL="0" indent="0" algn="l">
              <a:buNone/>
            </a:pPr>
            <a:r>
              <a:rPr lang="en-US" sz="1000" b="1" kern="0" spc="100">
                <a:solidFill>
                  <a:srgbClr val="F2860D"/>
                </a:solidFill>
                <a:latin typeface="Courier New" pitchFamily="34" charset="0"/>
                <a:ea typeface="Courier New" pitchFamily="34" charset="-122"/>
                <a:cs typeface="Courier New" pitchFamily="34" charset="-120"/>
              </a:rPr>
              <a:t>TCP GATEWAYS (external)</a:t>
            </a:r>
            <a:endParaRPr lang="en-US"/>
          </a:p>
        </p:txBody>
      </p:sp>
      <p:sp>
        <p:nvSpPr>
          <p:cNvPr id="13" name="pb"/>
          <p:cNvSpPr/>
          <p:nvPr/>
        </p:nvSpPr>
        <p:spPr>
          <a:xfrm>
            <a:off x="4862000" y="2210000"/>
            <a:ext cx="3565072" cy="1915000"/>
          </a:xfrm>
          <a:prstGeom prst="rect">
            <a:avLst/>
          </a:prstGeom>
          <a:noFill/>
          <a:ln/>
        </p:spPr>
        <p:txBody>
          <a:bodyPr wrap="square" lIns="0" tIns="0" rIns="0" bIns="0" rtlCol="0" anchor="ctr"/>
          <a:lstStyle/>
          <a:p>
            <a:pPr marL="0" indent="0" algn="l">
              <a:lnSpc>
                <a:spcPct val="200000"/>
              </a:lnSpc>
              <a:spcBef>
                <a:spcPts val="800"/>
              </a:spcBef>
              <a:buNone/>
            </a:pPr>
            <a:r>
              <a:rPr lang="en-US" sz="1050" b="1" kern="0">
                <a:solidFill>
                  <a:srgbClr val="F2860D"/>
                </a:solidFill>
                <a:latin typeface="Courier New" pitchFamily="34" charset="0"/>
                <a:ea typeface="Courier New" pitchFamily="34" charset="-122"/>
                <a:cs typeface="Courier New" pitchFamily="34" charset="-120"/>
              </a:rPr>
              <a:t>pm-alf-gwy   :5565   </a:t>
            </a:r>
            <a:r>
              <a:rPr lang="en-US" sz="1000" kern="0">
                <a:solidFill>
                  <a:srgbClr val="B4B4BE"/>
                </a:solidFill>
                <a:latin typeface="Calibri" pitchFamily="34" charset="0"/>
                <a:ea typeface="Calibri" pitchFamily="34" charset="-122"/>
                <a:cs typeface="Calibri" pitchFamily="34" charset="-120"/>
              </a:rPr>
              <a:t>ALF text order entry</a:t>
            </a:r>
            <a:endParaRPr lang="en-US"/>
          </a:p>
          <a:p>
            <a:pPr marL="0" indent="0" algn="l">
              <a:lnSpc>
                <a:spcPct val="200000"/>
              </a:lnSpc>
              <a:spcBef>
                <a:spcPts val="800"/>
              </a:spcBef>
              <a:buNone/>
            </a:pPr>
            <a:r>
              <a:rPr lang="en-US" sz="1050" b="1" kern="0">
                <a:solidFill>
                  <a:srgbClr val="F2860D"/>
                </a:solidFill>
                <a:latin typeface="Courier New" pitchFamily="34" charset="0"/>
                <a:ea typeface="Courier New" pitchFamily="34" charset="-122"/>
                <a:cs typeface="Courier New" pitchFamily="34" charset="-120"/>
              </a:rPr>
              <a:t>pm-balf-gwy  :5560   </a:t>
            </a:r>
            <a:r>
              <a:rPr lang="en-US" sz="1000" kern="0">
                <a:solidFill>
                  <a:srgbClr val="B4B4BE"/>
                </a:solidFill>
                <a:latin typeface="Calibri" pitchFamily="34" charset="0"/>
                <a:ea typeface="Calibri" pitchFamily="34" charset="-122"/>
                <a:cs typeface="Calibri" pitchFamily="34" charset="-120"/>
              </a:rPr>
              <a:t>BALF binary order entry</a:t>
            </a:r>
            <a:endParaRPr lang="en-US"/>
          </a:p>
          <a:p>
            <a:pPr marL="0" indent="0" algn="l">
              <a:lnSpc>
                <a:spcPct val="200000"/>
              </a:lnSpc>
              <a:spcBef>
                <a:spcPts val="800"/>
              </a:spcBef>
              <a:buNone/>
            </a:pPr>
            <a:r>
              <a:rPr lang="en-US" sz="1050" b="1" kern="0">
                <a:solidFill>
                  <a:srgbClr val="4FB3CC"/>
                </a:solidFill>
                <a:latin typeface="Courier New" pitchFamily="34" charset="0"/>
                <a:ea typeface="Courier New" pitchFamily="34" charset="-122"/>
                <a:cs typeface="Courier New" pitchFamily="34" charset="-120"/>
              </a:rPr>
              <a:t>pm-md-gwy    :5570   </a:t>
            </a:r>
            <a:r>
              <a:rPr lang="en-US" sz="1000" kern="0">
                <a:solidFill>
                  <a:srgbClr val="B4B4BE"/>
                </a:solidFill>
                <a:latin typeface="Calibri" pitchFamily="34" charset="0"/>
                <a:ea typeface="Calibri" pitchFamily="34" charset="-122"/>
                <a:cs typeface="Calibri" pitchFamily="34" charset="-120"/>
              </a:rPr>
              <a:t>CALF market data</a:t>
            </a:r>
            <a:endParaRPr lang="en-US"/>
          </a:p>
          <a:p>
            <a:pPr marL="0" indent="0" algn="l">
              <a:lnSpc>
                <a:spcPct val="200000"/>
              </a:lnSpc>
              <a:spcBef>
                <a:spcPts val="800"/>
              </a:spcBef>
              <a:buNone/>
            </a:pPr>
            <a:r>
              <a:rPr lang="en-US" sz="1050" b="1" kern="0">
                <a:solidFill>
                  <a:srgbClr val="5FC98E"/>
                </a:solidFill>
                <a:latin typeface="Courier New" pitchFamily="34" charset="0"/>
                <a:ea typeface="Courier New" pitchFamily="34" charset="-122"/>
                <a:cs typeface="Courier New" pitchFamily="34" charset="-120"/>
              </a:rPr>
              <a:t>pm-ralf-gwy  :5580   </a:t>
            </a:r>
            <a:r>
              <a:rPr lang="en-US" sz="1000" kern="0">
                <a:solidFill>
                  <a:srgbClr val="B4B4BE"/>
                </a:solidFill>
                <a:latin typeface="Calibri" pitchFamily="34" charset="0"/>
                <a:ea typeface="Calibri" pitchFamily="34" charset="-122"/>
                <a:cs typeface="Calibri" pitchFamily="34" charset="-120"/>
              </a:rPr>
              <a:t>RALF post-trade</a:t>
            </a:r>
            <a:endParaRPr lang="en-US"/>
          </a:p>
          <a:p>
            <a:pPr marL="0" indent="0" algn="l">
              <a:lnSpc>
                <a:spcPct val="200000"/>
              </a:lnSpc>
              <a:spcBef>
                <a:spcPts val="800"/>
              </a:spcBef>
              <a:buNone/>
            </a:pPr>
            <a:r>
              <a:rPr lang="en-US" sz="1050" b="1" kern="0">
                <a:solidFill>
                  <a:srgbClr val="5B9BF5"/>
                </a:solidFill>
                <a:latin typeface="Courier New" pitchFamily="34" charset="0"/>
                <a:ea typeface="Courier New" pitchFamily="34" charset="-122"/>
                <a:cs typeface="Courier New" pitchFamily="34" charset="-120"/>
              </a:rPr>
              <a:t>pm-api-gwy   :8080   </a:t>
            </a:r>
            <a:r>
              <a:rPr lang="en-US" sz="1000" kern="0">
                <a:solidFill>
                  <a:srgbClr val="B4B4BE"/>
                </a:solidFill>
                <a:latin typeface="Calibri" pitchFamily="34" charset="0"/>
                <a:ea typeface="Calibri" pitchFamily="34" charset="-122"/>
                <a:cs typeface="Calibri" pitchFamily="34" charset="-120"/>
              </a:rPr>
              <a:t>REST + WebSocket</a:t>
            </a:r>
            <a:endParaRPr lang="en-US"/>
          </a:p>
        </p:txBody>
      </p:sp>
      <p:sp>
        <p:nvSpPr>
          <p:cNvPr id="14" name="note band">
            <a:extLst>
              <a:ext uri="{C183D7F6-B498-43B3-948B-1728B52AA6E4}">
                <adec:decorative xmlns:adec="http://schemas.microsoft.com/office/drawing/2017/decorative" val="1"/>
              </a:ext>
            </a:extLst>
          </p:cNvPr>
          <p:cNvSpPr/>
          <p:nvPr/>
        </p:nvSpPr>
        <p:spPr>
          <a:xfrm>
            <a:off x="566928" y="4300000"/>
            <a:ext cx="8010144" cy="450000"/>
          </a:xfrm>
          <a:prstGeom prst="roundRect">
            <a:avLst>
              <a:gd name="adj" fmla="val 9000"/>
            </a:avLst>
          </a:prstGeom>
          <a:solidFill>
            <a:srgbClr val="202027"/>
          </a:solidFill>
          <a:ln w="12700">
            <a:solidFill>
              <a:srgbClr val="F2860D"/>
            </a:solidFill>
            <a:prstDash val="solid"/>
          </a:ln>
        </p:spPr>
        <p:txBody>
          <a:bodyPr/>
          <a:lstStyle/>
          <a:p>
            <a:endParaRPr lang="en-SE"/>
          </a:p>
        </p:txBody>
      </p:sp>
      <p:sp>
        <p:nvSpPr>
          <p:cNvPr id="15" name="note text"/>
          <p:cNvSpPr/>
          <p:nvPr/>
        </p:nvSpPr>
        <p:spPr>
          <a:xfrm>
            <a:off x="786928" y="4300000"/>
            <a:ext cx="7570144" cy="450000"/>
          </a:xfrm>
          <a:prstGeom prst="rect">
            <a:avLst/>
          </a:prstGeom>
          <a:noFill/>
          <a:ln/>
        </p:spPr>
        <p:txBody>
          <a:bodyPr wrap="square" lIns="0" tIns="0" rIns="0" bIns="0" rtlCol="0" anchor="ctr"/>
          <a:lstStyle/>
          <a:p>
            <a:pPr marL="0" indent="0" algn="l">
              <a:lnSpc>
                <a:spcPct val="104000"/>
              </a:lnSpc>
              <a:buNone/>
            </a:pPr>
            <a:r>
              <a:rPr lang="en-US" sz="1100" kern="0" dirty="0">
                <a:solidFill>
                  <a:srgbClr val="ECECEC"/>
                </a:solidFill>
                <a:latin typeface="Calibri" pitchFamily="34" charset="0"/>
                <a:ea typeface="Calibri" pitchFamily="34" charset="-122"/>
                <a:cs typeface="Calibri" pitchFamily="34" charset="-120"/>
              </a:rPr>
              <a:t>pm-engine is the single writer on :5555/:5556/:5557; pm-index adds :5558/:5559. Each gateway translates one external protocol onto that internal bus.</a:t>
            </a:r>
            <a:endParaRPr lang="en-US" sz="2400" dirty="0"/>
          </a:p>
        </p:txBody>
      </p:sp>
      <p:sp>
        <p:nvSpPr>
          <p:cNvPr id="16"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17"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27</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py tools">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05 · OBSERVABILITY · SPY TOOLS</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a:solidFill>
                  <a:srgbClr val="ECECEC"/>
                </a:solidFill>
                <a:latin typeface="Arial" pitchFamily="34" charset="0"/>
                <a:ea typeface="Arial" pitchFamily="34" charset="-122"/>
                <a:cs typeface="Arial" pitchFamily="34" charset="-120"/>
              </a:rPr>
              <a:t>Reading the wire with the spy tools</a:t>
            </a:r>
            <a:endParaRPr lang="en-US" sz="2900"/>
          </a:p>
        </p:txBody>
      </p:sp>
      <p:sp>
        <p:nvSpPr>
          <p:cNvPr id="5" name="subtitle"/>
          <p:cNvSpPr/>
          <p:nvPr/>
        </p:nvSpPr>
        <p:spPr>
          <a:xfrm>
            <a:off x="566928" y="1235659"/>
            <a:ext cx="8010144" cy="300000"/>
          </a:xfrm>
          <a:prstGeom prst="rect">
            <a:avLst/>
          </a:prstGeom>
          <a:noFill/>
          <a:ln/>
        </p:spPr>
        <p:txBody>
          <a:bodyPr wrap="square" lIns="0" tIns="0" rIns="0" bIns="0" rtlCol="0" anchor="t"/>
          <a:lstStyle/>
          <a:p>
            <a:pPr marL="0" indent="0" algn="l">
              <a:lnSpc>
                <a:spcPct val="108000"/>
              </a:lnSpc>
              <a:buNone/>
            </a:pPr>
            <a:r>
              <a:rPr lang="en-US" sz="1250" kern="0" dirty="0">
                <a:solidFill>
                  <a:srgbClr val="B4B4BE"/>
                </a:solidFill>
                <a:latin typeface="Calibri" pitchFamily="34" charset="0"/>
                <a:ea typeface="Calibri" pitchFamily="34" charset="-122"/>
                <a:cs typeface="Calibri" pitchFamily="34" charset="-120"/>
              </a:rPr>
              <a:t>Passive, read-only taps connect exactly like a real client and print every decoded frame — so you can learn or debug a protocol without standing up a full terminal.</a:t>
            </a:r>
            <a:endParaRPr lang="en-US" dirty="0"/>
          </a:p>
        </p:txBody>
      </p:sp>
      <p:sp>
        <p:nvSpPr>
          <p:cNvPr id="6" name="card">
            <a:extLst>
              <a:ext uri="{C183D7F6-B498-43B3-948B-1728B52AA6E4}">
                <adec:decorative xmlns:adec="http://schemas.microsoft.com/office/drawing/2017/decorative" val="1"/>
              </a:ext>
            </a:extLst>
          </p:cNvPr>
          <p:cNvSpPr/>
          <p:nvPr/>
        </p:nvSpPr>
        <p:spPr>
          <a:xfrm>
            <a:off x="566928" y="1690000"/>
            <a:ext cx="3865072"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accent">
            <a:extLst>
              <a:ext uri="{C183D7F6-B498-43B3-948B-1728B52AA6E4}">
                <adec:decorative xmlns:adec="http://schemas.microsoft.com/office/drawing/2017/decorative" val="1"/>
              </a:ext>
            </a:extLst>
          </p:cNvPr>
          <p:cNvSpPr/>
          <p:nvPr/>
        </p:nvSpPr>
        <p:spPr>
          <a:xfrm>
            <a:off x="566928" y="1690000"/>
            <a:ext cx="3865072" cy="54864"/>
          </a:xfrm>
          <a:prstGeom prst="rect">
            <a:avLst/>
          </a:prstGeom>
          <a:solidFill>
            <a:srgbClr val="4FB3CC"/>
          </a:solidFill>
          <a:ln/>
        </p:spPr>
        <p:txBody>
          <a:bodyPr/>
          <a:lstStyle/>
          <a:p>
            <a:endParaRPr lang="en-SE"/>
          </a:p>
        </p:txBody>
      </p:sp>
      <p:sp>
        <p:nvSpPr>
          <p:cNvPr id="8" name="panel head"/>
          <p:cNvSpPr/>
          <p:nvPr/>
        </p:nvSpPr>
        <p:spPr>
          <a:xfrm>
            <a:off x="716928" y="1810000"/>
            <a:ext cx="3565072" cy="240000"/>
          </a:xfrm>
          <a:prstGeom prst="rect">
            <a:avLst/>
          </a:prstGeom>
          <a:noFill/>
          <a:ln/>
        </p:spPr>
        <p:txBody>
          <a:bodyPr wrap="square" lIns="0" tIns="0" rIns="0" bIns="0" rtlCol="0" anchor="t"/>
          <a:lstStyle/>
          <a:p>
            <a:pPr marL="0" indent="0" algn="l">
              <a:buNone/>
            </a:pPr>
            <a:r>
              <a:rPr lang="en-US" sz="1000" b="1" kern="0" spc="100">
                <a:solidFill>
                  <a:srgbClr val="4FB3CC"/>
                </a:solidFill>
                <a:latin typeface="Courier New" pitchFamily="34" charset="0"/>
                <a:ea typeface="Courier New" pitchFamily="34" charset="-122"/>
                <a:cs typeface="Courier New" pitchFamily="34" charset="-120"/>
              </a:rPr>
              <a:t>pm-calf-spy</a:t>
            </a:r>
            <a:endParaRPr lang="en-US"/>
          </a:p>
        </p:txBody>
      </p:sp>
      <p:sp>
        <p:nvSpPr>
          <p:cNvPr id="9" name="panel body"/>
          <p:cNvSpPr/>
          <p:nvPr/>
        </p:nvSpPr>
        <p:spPr>
          <a:xfrm>
            <a:off x="716928" y="2160000"/>
            <a:ext cx="3565072" cy="1965000"/>
          </a:xfrm>
          <a:prstGeom prst="rect">
            <a:avLst/>
          </a:prstGeom>
          <a:noFill/>
          <a:ln/>
        </p:spPr>
        <p:txBody>
          <a:bodyPr wrap="square" lIns="0" tIns="0" rIns="0" bIns="0" rtlCol="0" anchor="t"/>
          <a:lstStyle/>
          <a:p>
            <a:pPr marL="0" indent="0" algn="l">
              <a:lnSpc>
                <a:spcPct val="124000"/>
              </a:lnSpc>
              <a:spcBef>
                <a:spcPts val="200"/>
              </a:spcBef>
              <a:buNone/>
            </a:pPr>
            <a:r>
              <a:rPr lang="en-US" sz="1050" kern="0">
                <a:solidFill>
                  <a:srgbClr val="B4B4BE"/>
                </a:solidFill>
                <a:latin typeface="Calibri" pitchFamily="34" charset="0"/>
                <a:ea typeface="Calibri" pitchFamily="34" charset="-122"/>
                <a:cs typeface="Calibri" pitchFamily="34" charset="-120"/>
              </a:rPr>
              <a:t>Taps the CALF market-data feed</a:t>
            </a:r>
            <a:endParaRPr lang="en-US"/>
          </a:p>
          <a:p>
            <a:pPr marL="0" indent="0" algn="l">
              <a:lnSpc>
                <a:spcPct val="124000"/>
              </a:lnSpc>
              <a:spcBef>
                <a:spcPts val="200"/>
              </a:spcBef>
              <a:buNone/>
            </a:pPr>
            <a:r>
              <a:rPr lang="en-US" sz="1050" b="1" kern="0">
                <a:solidFill>
                  <a:srgbClr val="4FB3CC"/>
                </a:solidFill>
                <a:latin typeface="Courier New" pitchFamily="34" charset="0"/>
                <a:ea typeface="Courier New" pitchFamily="34" charset="-122"/>
                <a:cs typeface="Courier New" pitchFamily="34" charset="-120"/>
              </a:rPr>
              <a:t>pm-md-gwy  ·  TCP :5570</a:t>
            </a:r>
            <a:endParaRPr lang="en-US"/>
          </a:p>
          <a:p>
            <a:pPr marL="0" indent="0" algn="l">
              <a:lnSpc>
                <a:spcPct val="124000"/>
              </a:lnSpc>
              <a:spcBef>
                <a:spcPts val="200"/>
              </a:spcBef>
              <a:buNone/>
            </a:pPr>
            <a:endParaRPr lang="en-US"/>
          </a:p>
          <a:p>
            <a:pPr marL="0" indent="0" algn="l">
              <a:lnSpc>
                <a:spcPct val="124000"/>
              </a:lnSpc>
              <a:spcBef>
                <a:spcPts val="200"/>
              </a:spcBef>
              <a:buNone/>
            </a:pPr>
            <a:r>
              <a:rPr lang="en-US" sz="1050" kern="0">
                <a:solidFill>
                  <a:srgbClr val="B4B4BE"/>
                </a:solidFill>
                <a:latin typeface="Calibri" pitchFamily="34" charset="0"/>
                <a:ea typeface="Calibri" pitchFamily="34" charset="-122"/>
                <a:cs typeface="Calibri" pitchFamily="34" charset="-120"/>
              </a:rPr>
              <a:t>Decoded frame types</a:t>
            </a:r>
            <a:endParaRPr lang="en-US"/>
          </a:p>
          <a:p>
            <a:pPr marL="0" indent="0" algn="l">
              <a:lnSpc>
                <a:spcPct val="124000"/>
              </a:lnSpc>
              <a:spcBef>
                <a:spcPts val="200"/>
              </a:spcBef>
              <a:buNone/>
            </a:pPr>
            <a:r>
              <a:rPr lang="en-US" sz="1050" kern="0">
                <a:solidFill>
                  <a:srgbClr val="ECECEC"/>
                </a:solidFill>
                <a:latin typeface="Courier New" pitchFamily="34" charset="0"/>
                <a:ea typeface="Courier New" pitchFamily="34" charset="-122"/>
                <a:cs typeface="Courier New" pitchFamily="34" charset="-120"/>
              </a:rPr>
              <a:t>WELCOME · SNAP · MD · TRADE</a:t>
            </a:r>
            <a:endParaRPr lang="en-US"/>
          </a:p>
          <a:p>
            <a:pPr marL="0" indent="0" algn="l">
              <a:lnSpc>
                <a:spcPct val="124000"/>
              </a:lnSpc>
              <a:spcBef>
                <a:spcPts val="200"/>
              </a:spcBef>
              <a:buNone/>
            </a:pPr>
            <a:r>
              <a:rPr lang="en-US" sz="1050" kern="0">
                <a:solidFill>
                  <a:srgbClr val="ECECEC"/>
                </a:solidFill>
                <a:latin typeface="Courier New" pitchFamily="34" charset="0"/>
                <a:ea typeface="Courier New" pitchFamily="34" charset="-122"/>
                <a:cs typeface="Courier New" pitchFamily="34" charset="-120"/>
              </a:rPr>
              <a:t>STATE · IDX · DEPTH · AUCTION</a:t>
            </a:r>
            <a:endParaRPr lang="en-US"/>
          </a:p>
          <a:p>
            <a:pPr marL="0" indent="0" algn="l">
              <a:lnSpc>
                <a:spcPct val="124000"/>
              </a:lnSpc>
              <a:spcBef>
                <a:spcPts val="200"/>
              </a:spcBef>
              <a:buNone/>
            </a:pPr>
            <a:r>
              <a:rPr lang="en-US" sz="1050" kern="0">
                <a:solidFill>
                  <a:srgbClr val="ECECEC"/>
                </a:solidFill>
                <a:latin typeface="Courier New" pitchFamily="34" charset="0"/>
                <a:ea typeface="Courier New" pitchFamily="34" charset="-122"/>
                <a:cs typeface="Courier New" pitchFamily="34" charset="-120"/>
              </a:rPr>
              <a:t>CB · HB · ERR</a:t>
            </a:r>
            <a:endParaRPr lang="en-US"/>
          </a:p>
        </p:txBody>
      </p:sp>
      <p:sp>
        <p:nvSpPr>
          <p:cNvPr id="10" name="card">
            <a:extLst>
              <a:ext uri="{C183D7F6-B498-43B3-948B-1728B52AA6E4}">
                <adec:decorative xmlns:adec="http://schemas.microsoft.com/office/drawing/2017/decorative" val="1"/>
              </a:ext>
            </a:extLst>
          </p:cNvPr>
          <p:cNvSpPr/>
          <p:nvPr/>
        </p:nvSpPr>
        <p:spPr>
          <a:xfrm>
            <a:off x="4712000" y="1690000"/>
            <a:ext cx="3865072"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a:extLst>
              <a:ext uri="{C183D7F6-B498-43B3-948B-1728B52AA6E4}">
                <adec:decorative xmlns:adec="http://schemas.microsoft.com/office/drawing/2017/decorative" val="1"/>
              </a:ext>
            </a:extLst>
          </p:cNvPr>
          <p:cNvSpPr/>
          <p:nvPr/>
        </p:nvSpPr>
        <p:spPr>
          <a:xfrm>
            <a:off x="4712000" y="1690000"/>
            <a:ext cx="3865072" cy="54864"/>
          </a:xfrm>
          <a:prstGeom prst="rect">
            <a:avLst/>
          </a:prstGeom>
          <a:solidFill>
            <a:srgbClr val="5FC98E"/>
          </a:solidFill>
          <a:ln/>
        </p:spPr>
        <p:txBody>
          <a:bodyPr/>
          <a:lstStyle/>
          <a:p>
            <a:endParaRPr lang="en-SE"/>
          </a:p>
        </p:txBody>
      </p:sp>
      <p:sp>
        <p:nvSpPr>
          <p:cNvPr id="12" name="panel head"/>
          <p:cNvSpPr/>
          <p:nvPr/>
        </p:nvSpPr>
        <p:spPr>
          <a:xfrm>
            <a:off x="4862000" y="1810000"/>
            <a:ext cx="3565072" cy="240000"/>
          </a:xfrm>
          <a:prstGeom prst="rect">
            <a:avLst/>
          </a:prstGeom>
          <a:noFill/>
          <a:ln/>
        </p:spPr>
        <p:txBody>
          <a:bodyPr wrap="square" lIns="0" tIns="0" rIns="0" bIns="0" rtlCol="0" anchor="t"/>
          <a:lstStyle/>
          <a:p>
            <a:pPr marL="0" indent="0" algn="l">
              <a:buNone/>
            </a:pPr>
            <a:r>
              <a:rPr lang="en-US" sz="1000" b="1" kern="0" spc="100">
                <a:solidFill>
                  <a:srgbClr val="5FC98E"/>
                </a:solidFill>
                <a:latin typeface="Courier New" pitchFamily="34" charset="0"/>
                <a:ea typeface="Courier New" pitchFamily="34" charset="-122"/>
                <a:cs typeface="Courier New" pitchFamily="34" charset="-120"/>
              </a:rPr>
              <a:t>pm-ralf-spy</a:t>
            </a:r>
            <a:endParaRPr lang="en-US"/>
          </a:p>
        </p:txBody>
      </p:sp>
      <p:sp>
        <p:nvSpPr>
          <p:cNvPr id="13" name="panel body"/>
          <p:cNvSpPr/>
          <p:nvPr/>
        </p:nvSpPr>
        <p:spPr>
          <a:xfrm>
            <a:off x="4862000" y="2160000"/>
            <a:ext cx="3565072" cy="1965000"/>
          </a:xfrm>
          <a:prstGeom prst="rect">
            <a:avLst/>
          </a:prstGeom>
          <a:noFill/>
          <a:ln/>
        </p:spPr>
        <p:txBody>
          <a:bodyPr wrap="square" lIns="0" tIns="0" rIns="0" bIns="0" rtlCol="0" anchor="t"/>
          <a:lstStyle/>
          <a:p>
            <a:pPr marL="0" indent="0" algn="l">
              <a:lnSpc>
                <a:spcPct val="124000"/>
              </a:lnSpc>
              <a:spcBef>
                <a:spcPts val="200"/>
              </a:spcBef>
              <a:buNone/>
            </a:pPr>
            <a:r>
              <a:rPr lang="en-US" sz="1050" kern="0">
                <a:solidFill>
                  <a:srgbClr val="B4B4BE"/>
                </a:solidFill>
                <a:latin typeface="Calibri" pitchFamily="34" charset="0"/>
                <a:ea typeface="Calibri" pitchFamily="34" charset="-122"/>
                <a:cs typeface="Calibri" pitchFamily="34" charset="-120"/>
              </a:rPr>
              <a:t>Taps the RALF post-trade feed</a:t>
            </a:r>
            <a:endParaRPr lang="en-US"/>
          </a:p>
          <a:p>
            <a:pPr marL="0" indent="0" algn="l">
              <a:lnSpc>
                <a:spcPct val="124000"/>
              </a:lnSpc>
              <a:spcBef>
                <a:spcPts val="200"/>
              </a:spcBef>
              <a:buNone/>
            </a:pPr>
            <a:r>
              <a:rPr lang="en-US" sz="1050" b="1" kern="0">
                <a:solidFill>
                  <a:srgbClr val="5FC98E"/>
                </a:solidFill>
                <a:latin typeface="Courier New" pitchFamily="34" charset="0"/>
                <a:ea typeface="Courier New" pitchFamily="34" charset="-122"/>
                <a:cs typeface="Courier New" pitchFamily="34" charset="-120"/>
              </a:rPr>
              <a:t>pm-ralf-gwy  ·  TCP :5580</a:t>
            </a:r>
            <a:endParaRPr lang="en-US"/>
          </a:p>
          <a:p>
            <a:pPr marL="0" indent="0" algn="l">
              <a:lnSpc>
                <a:spcPct val="124000"/>
              </a:lnSpc>
              <a:spcBef>
                <a:spcPts val="200"/>
              </a:spcBef>
              <a:buNone/>
            </a:pPr>
            <a:r>
              <a:rPr lang="en-US" sz="1050" kern="0">
                <a:solidFill>
                  <a:srgbClr val="B4B4BE"/>
                </a:solidFill>
                <a:latin typeface="Calibri" pitchFamily="34" charset="0"/>
                <a:ea typeface="Calibri" pitchFamily="34" charset="-122"/>
                <a:cs typeface="Calibri" pitchFamily="34" charset="-120"/>
              </a:rPr>
              <a:t>Roles: CLEARING / DROP_COPY / AUDIT</a:t>
            </a:r>
            <a:endParaRPr lang="en-US"/>
          </a:p>
          <a:p>
            <a:pPr marL="0" indent="0" algn="l">
              <a:lnSpc>
                <a:spcPct val="124000"/>
              </a:lnSpc>
              <a:spcBef>
                <a:spcPts val="200"/>
              </a:spcBef>
              <a:buNone/>
            </a:pPr>
            <a:endParaRPr lang="en-US"/>
          </a:p>
          <a:p>
            <a:pPr marL="0" indent="0" algn="l">
              <a:lnSpc>
                <a:spcPct val="124000"/>
              </a:lnSpc>
              <a:spcBef>
                <a:spcPts val="200"/>
              </a:spcBef>
              <a:buNone/>
            </a:pPr>
            <a:r>
              <a:rPr lang="en-US" sz="1050" kern="0">
                <a:solidFill>
                  <a:srgbClr val="B4B4BE"/>
                </a:solidFill>
                <a:latin typeface="Calibri" pitchFamily="34" charset="0"/>
                <a:ea typeface="Calibri" pitchFamily="34" charset="-122"/>
                <a:cs typeface="Calibri" pitchFamily="34" charset="-120"/>
              </a:rPr>
              <a:t>Decoded frame types</a:t>
            </a:r>
            <a:endParaRPr lang="en-US"/>
          </a:p>
          <a:p>
            <a:pPr marL="0" indent="0" algn="l">
              <a:lnSpc>
                <a:spcPct val="124000"/>
              </a:lnSpc>
              <a:spcBef>
                <a:spcPts val="200"/>
              </a:spcBef>
              <a:buNone/>
            </a:pPr>
            <a:r>
              <a:rPr lang="en-US" sz="1050" kern="0">
                <a:solidFill>
                  <a:srgbClr val="ECECEC"/>
                </a:solidFill>
                <a:latin typeface="Courier New" pitchFamily="34" charset="0"/>
                <a:ea typeface="Courier New" pitchFamily="34" charset="-122"/>
                <a:cs typeface="Courier New" pitchFamily="34" charset="-120"/>
              </a:rPr>
              <a:t>WELCOME · SNAP · EXEC · EOD</a:t>
            </a:r>
            <a:endParaRPr lang="en-US"/>
          </a:p>
          <a:p>
            <a:pPr marL="0" indent="0" algn="l">
              <a:lnSpc>
                <a:spcPct val="124000"/>
              </a:lnSpc>
              <a:spcBef>
                <a:spcPts val="200"/>
              </a:spcBef>
              <a:buNone/>
            </a:pPr>
            <a:r>
              <a:rPr lang="en-US" sz="1050" kern="0">
                <a:solidFill>
                  <a:srgbClr val="ECECEC"/>
                </a:solidFill>
                <a:latin typeface="Courier New" pitchFamily="34" charset="0"/>
                <a:ea typeface="Courier New" pitchFamily="34" charset="-122"/>
                <a:cs typeface="Courier New" pitchFamily="34" charset="-120"/>
              </a:rPr>
              <a:t>HB · EXIT · ERR</a:t>
            </a:r>
            <a:endParaRPr lang="en-US"/>
          </a:p>
        </p:txBody>
      </p:sp>
      <p:sp>
        <p:nvSpPr>
          <p:cNvPr id="14" name="note band">
            <a:extLst>
              <a:ext uri="{C183D7F6-B498-43B3-948B-1728B52AA6E4}">
                <adec:decorative xmlns:adec="http://schemas.microsoft.com/office/drawing/2017/decorative" val="1"/>
              </a:ext>
            </a:extLst>
          </p:cNvPr>
          <p:cNvSpPr/>
          <p:nvPr/>
        </p:nvSpPr>
        <p:spPr>
          <a:xfrm>
            <a:off x="566928" y="4300000"/>
            <a:ext cx="8010144" cy="450000"/>
          </a:xfrm>
          <a:prstGeom prst="roundRect">
            <a:avLst>
              <a:gd name="adj" fmla="val 9000"/>
            </a:avLst>
          </a:prstGeom>
          <a:solidFill>
            <a:srgbClr val="202027"/>
          </a:solidFill>
          <a:ln w="12700">
            <a:solidFill>
              <a:srgbClr val="F2860D"/>
            </a:solidFill>
            <a:prstDash val="solid"/>
          </a:ln>
        </p:spPr>
        <p:txBody>
          <a:bodyPr/>
          <a:lstStyle/>
          <a:p>
            <a:endParaRPr lang="en-SE"/>
          </a:p>
        </p:txBody>
      </p:sp>
      <p:sp>
        <p:nvSpPr>
          <p:cNvPr id="15" name="note text"/>
          <p:cNvSpPr/>
          <p:nvPr/>
        </p:nvSpPr>
        <p:spPr>
          <a:xfrm>
            <a:off x="786928" y="4300000"/>
            <a:ext cx="7570144" cy="450000"/>
          </a:xfrm>
          <a:prstGeom prst="rect">
            <a:avLst/>
          </a:prstGeom>
          <a:noFill/>
          <a:ln/>
        </p:spPr>
        <p:txBody>
          <a:bodyPr wrap="square" lIns="0" tIns="0" rIns="0" bIns="0" rtlCol="0" anchor="ctr"/>
          <a:lstStyle/>
          <a:p>
            <a:pPr marL="0" indent="0" algn="l">
              <a:lnSpc>
                <a:spcPct val="104000"/>
              </a:lnSpc>
              <a:buNone/>
            </a:pPr>
            <a:r>
              <a:rPr lang="en-US" sz="1000" kern="0">
                <a:solidFill>
                  <a:srgbClr val="ECECEC"/>
                </a:solidFill>
                <a:latin typeface="Calibri" pitchFamily="34" charset="0"/>
                <a:ea typeface="Calibri" pitchFamily="34" charset="-122"/>
                <a:cs typeface="Calibri" pitchFamily="34" charset="-120"/>
              </a:rPr>
              <a:t>Because the spies speak the real wire protocol, whatever they print is exactly what a Trade-GUI or market-data terminal would receive — the ground truth for protocol work.</a:t>
            </a:r>
            <a:endParaRPr lang="en-US"/>
          </a:p>
        </p:txBody>
      </p:sp>
      <p:sp>
        <p:nvSpPr>
          <p:cNvPr id="16"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17"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28</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Compliance plane">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05 · POST-TRADE · COMPLIANCE</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a:solidFill>
                  <a:srgbClr val="ECECEC"/>
                </a:solidFill>
                <a:latin typeface="Arial" pitchFamily="34" charset="0"/>
                <a:ea typeface="Arial" pitchFamily="34" charset="-122"/>
                <a:cs typeface="Arial" pitchFamily="34" charset="-120"/>
              </a:rPr>
              <a:t>The compliance &amp; audit plane</a:t>
            </a:r>
            <a:endParaRPr lang="en-US" sz="2900"/>
          </a:p>
        </p:txBody>
      </p:sp>
      <p:sp>
        <p:nvSpPr>
          <p:cNvPr id="5" name="subtitle"/>
          <p:cNvSpPr/>
          <p:nvPr/>
        </p:nvSpPr>
        <p:spPr>
          <a:xfrm>
            <a:off x="566928" y="1226634"/>
            <a:ext cx="8010144" cy="300000"/>
          </a:xfrm>
          <a:prstGeom prst="rect">
            <a:avLst/>
          </a:prstGeom>
          <a:noFill/>
          <a:ln/>
        </p:spPr>
        <p:txBody>
          <a:bodyPr wrap="square" lIns="0" tIns="0" rIns="0" bIns="0" rtlCol="0" anchor="t"/>
          <a:lstStyle/>
          <a:p>
            <a:pPr marL="0" indent="0" algn="l">
              <a:lnSpc>
                <a:spcPct val="108000"/>
              </a:lnSpc>
              <a:buNone/>
            </a:pPr>
            <a:r>
              <a:rPr lang="en-US" sz="1250" kern="0" dirty="0">
                <a:solidFill>
                  <a:srgbClr val="B4B4BE"/>
                </a:solidFill>
                <a:latin typeface="Calibri" pitchFamily="34" charset="0"/>
                <a:ea typeface="Calibri" pitchFamily="34" charset="-122"/>
                <a:cs typeface="Calibri" pitchFamily="34" charset="-120"/>
              </a:rPr>
              <a:t>Three independent consumers ride the same PUB :5556 event stream — RALF exposes them as CLEARING / DROP_COPY / AUDIT roles — giving the exchange a </a:t>
            </a:r>
            <a:r>
              <a:rPr lang="en-US" sz="1250" kern="0" dirty="0" err="1">
                <a:solidFill>
                  <a:srgbClr val="B4B4BE"/>
                </a:solidFill>
                <a:latin typeface="Calibri" pitchFamily="34" charset="0"/>
                <a:ea typeface="Calibri" pitchFamily="34" charset="-122"/>
                <a:cs typeface="Calibri" pitchFamily="34" charset="-120"/>
              </a:rPr>
              <a:t>replayable</a:t>
            </a:r>
            <a:r>
              <a:rPr lang="en-US" sz="1250" kern="0" dirty="0">
                <a:solidFill>
                  <a:srgbClr val="B4B4BE"/>
                </a:solidFill>
                <a:latin typeface="Calibri" pitchFamily="34" charset="0"/>
                <a:ea typeface="Calibri" pitchFamily="34" charset="-122"/>
                <a:cs typeface="Calibri" pitchFamily="34" charset="-120"/>
              </a:rPr>
              <a:t> system of record.</a:t>
            </a:r>
            <a:endParaRPr lang="en-US" dirty="0"/>
          </a:p>
        </p:txBody>
      </p:sp>
      <p:sp>
        <p:nvSpPr>
          <p:cNvPr id="6" name="card">
            <a:extLst>
              <a:ext uri="{C183D7F6-B498-43B3-948B-1728B52AA6E4}">
                <adec:decorative xmlns:adec="http://schemas.microsoft.com/office/drawing/2017/decorative" val="1"/>
              </a:ext>
            </a:extLst>
          </p:cNvPr>
          <p:cNvSpPr/>
          <p:nvPr/>
        </p:nvSpPr>
        <p:spPr>
          <a:xfrm>
            <a:off x="566928"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accent">
            <a:extLst>
              <a:ext uri="{C183D7F6-B498-43B3-948B-1728B52AA6E4}">
                <adec:decorative xmlns:adec="http://schemas.microsoft.com/office/drawing/2017/decorative" val="1"/>
              </a:ext>
            </a:extLst>
          </p:cNvPr>
          <p:cNvSpPr/>
          <p:nvPr/>
        </p:nvSpPr>
        <p:spPr>
          <a:xfrm>
            <a:off x="566928" y="1690000"/>
            <a:ext cx="2543381" cy="54864"/>
          </a:xfrm>
          <a:prstGeom prst="rect">
            <a:avLst/>
          </a:prstGeom>
          <a:solidFill>
            <a:srgbClr val="5FC98E"/>
          </a:solidFill>
          <a:ln/>
        </p:spPr>
        <p:txBody>
          <a:bodyPr/>
          <a:lstStyle/>
          <a:p>
            <a:endParaRPr lang="en-SE"/>
          </a:p>
        </p:txBody>
      </p:sp>
      <p:sp>
        <p:nvSpPr>
          <p:cNvPr id="8" name="panel head"/>
          <p:cNvSpPr/>
          <p:nvPr/>
        </p:nvSpPr>
        <p:spPr>
          <a:xfrm>
            <a:off x="716928" y="1810000"/>
            <a:ext cx="2243381" cy="240000"/>
          </a:xfrm>
          <a:prstGeom prst="rect">
            <a:avLst/>
          </a:prstGeom>
          <a:noFill/>
          <a:ln/>
        </p:spPr>
        <p:txBody>
          <a:bodyPr wrap="square" lIns="0" tIns="0" rIns="0" bIns="0" rtlCol="0" anchor="t"/>
          <a:lstStyle/>
          <a:p>
            <a:pPr marL="0" indent="0" algn="l">
              <a:buNone/>
            </a:pPr>
            <a:r>
              <a:rPr lang="en-US" sz="1400" b="1" kern="0" spc="100" dirty="0">
                <a:solidFill>
                  <a:srgbClr val="5FC98E"/>
                </a:solidFill>
                <a:latin typeface="Courier New" pitchFamily="34" charset="0"/>
                <a:ea typeface="Courier New" pitchFamily="34" charset="-122"/>
                <a:cs typeface="Courier New" pitchFamily="34" charset="-120"/>
              </a:rPr>
              <a:t>DROP COPY</a:t>
            </a:r>
            <a:endParaRPr lang="en-US" sz="3200" dirty="0"/>
          </a:p>
        </p:txBody>
      </p:sp>
      <p:sp>
        <p:nvSpPr>
          <p:cNvPr id="9" name="panel body"/>
          <p:cNvSpPr/>
          <p:nvPr/>
        </p:nvSpPr>
        <p:spPr>
          <a:xfrm>
            <a:off x="716928"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200" b="1" kern="0" dirty="0">
                <a:solidFill>
                  <a:srgbClr val="5FC98E"/>
                </a:solidFill>
                <a:latin typeface="Courier New" pitchFamily="34" charset="0"/>
                <a:ea typeface="Courier New" pitchFamily="34" charset="-122"/>
                <a:cs typeface="Courier New" pitchFamily="34" charset="-120"/>
              </a:rPr>
              <a:t>Engine PUB :5557</a:t>
            </a:r>
            <a:endParaRPr lang="en-US" sz="2800" dirty="0"/>
          </a:p>
          <a:p>
            <a:pPr marL="0" indent="0" algn="l">
              <a:lnSpc>
                <a:spcPct val="124000"/>
              </a:lnSpc>
              <a:spcBef>
                <a:spcPts val="200"/>
              </a:spcBef>
              <a:buNone/>
            </a:pPr>
            <a:r>
              <a:rPr lang="en-US" sz="1100" kern="0" dirty="0">
                <a:solidFill>
                  <a:srgbClr val="ECECEC"/>
                </a:solidFill>
                <a:latin typeface="Calibri" pitchFamily="34" charset="0"/>
                <a:ea typeface="Calibri" pitchFamily="34" charset="-122"/>
                <a:cs typeface="Calibri" pitchFamily="34" charset="-120"/>
              </a:rPr>
              <a:t>Per-participant fill stream</a:t>
            </a:r>
            <a:endParaRPr lang="en-US" sz="2400" dirty="0"/>
          </a:p>
          <a:p>
            <a:pPr marL="0" indent="0" algn="l">
              <a:lnSpc>
                <a:spcPct val="124000"/>
              </a:lnSpc>
              <a:spcBef>
                <a:spcPts val="200"/>
              </a:spcBef>
              <a:buNone/>
            </a:pPr>
            <a:r>
              <a:rPr lang="en-US" sz="1050" kern="0" dirty="0">
                <a:solidFill>
                  <a:srgbClr val="B4B4BE"/>
                </a:solidFill>
                <a:latin typeface="Calibri" pitchFamily="34" charset="0"/>
                <a:ea typeface="Calibri" pitchFamily="34" charset="-122"/>
                <a:cs typeface="Calibri" pitchFamily="34" charset="-120"/>
              </a:rPr>
              <a:t>Sequence numbers + gap replay</a:t>
            </a:r>
            <a:endParaRPr lang="en-US" sz="2000" dirty="0"/>
          </a:p>
          <a:p>
            <a:pPr marL="0" indent="0" algn="l">
              <a:lnSpc>
                <a:spcPct val="124000"/>
              </a:lnSpc>
              <a:spcBef>
                <a:spcPts val="200"/>
              </a:spcBef>
              <a:buNone/>
            </a:pPr>
            <a:r>
              <a:rPr lang="en-US" sz="1050" kern="0" dirty="0">
                <a:solidFill>
                  <a:srgbClr val="ECECEC"/>
                </a:solidFill>
                <a:latin typeface="Calibri" pitchFamily="34" charset="0"/>
                <a:ea typeface="Calibri" pitchFamily="34" charset="-122"/>
                <a:cs typeface="Calibri" pitchFamily="34" charset="-120"/>
              </a:rPr>
              <a:t>so a client can detect and</a:t>
            </a:r>
            <a:endParaRPr lang="en-US" sz="2000" dirty="0"/>
          </a:p>
          <a:p>
            <a:pPr marL="0" indent="0" algn="l">
              <a:lnSpc>
                <a:spcPct val="124000"/>
              </a:lnSpc>
              <a:spcBef>
                <a:spcPts val="200"/>
              </a:spcBef>
              <a:buNone/>
            </a:pPr>
            <a:r>
              <a:rPr lang="en-US" sz="1050" kern="0" dirty="0">
                <a:solidFill>
                  <a:srgbClr val="ECECEC"/>
                </a:solidFill>
                <a:latin typeface="Calibri" pitchFamily="34" charset="0"/>
                <a:ea typeface="Calibri" pitchFamily="34" charset="-122"/>
                <a:cs typeface="Calibri" pitchFamily="34" charset="-120"/>
              </a:rPr>
              <a:t>re-request any missed fill</a:t>
            </a:r>
            <a:endParaRPr lang="en-US" sz="2000" dirty="0"/>
          </a:p>
          <a:p>
            <a:pPr marL="0" indent="0" algn="l">
              <a:lnSpc>
                <a:spcPct val="124000"/>
              </a:lnSpc>
              <a:spcBef>
                <a:spcPts val="200"/>
              </a:spcBef>
              <a:buNone/>
            </a:pPr>
            <a:endParaRPr lang="en-US" sz="2000" dirty="0"/>
          </a:p>
          <a:p>
            <a:pPr marL="0" indent="0" algn="l">
              <a:lnSpc>
                <a:spcPct val="124000"/>
              </a:lnSpc>
              <a:spcBef>
                <a:spcPts val="200"/>
              </a:spcBef>
              <a:buNone/>
            </a:pPr>
            <a:r>
              <a:rPr lang="en-US" sz="1050" kern="0" dirty="0">
                <a:solidFill>
                  <a:srgbClr val="B4B4BE"/>
                </a:solidFill>
                <a:latin typeface="Calibri" pitchFamily="34" charset="0"/>
                <a:ea typeface="Calibri" pitchFamily="34" charset="-122"/>
                <a:cs typeface="Calibri" pitchFamily="34" charset="-120"/>
              </a:rPr>
              <a:t>Bound lazily at engine start</a:t>
            </a:r>
            <a:endParaRPr lang="en-US" sz="2000" dirty="0"/>
          </a:p>
        </p:txBody>
      </p:sp>
      <p:sp>
        <p:nvSpPr>
          <p:cNvPr id="10" name="card">
            <a:extLst>
              <a:ext uri="{C183D7F6-B498-43B3-948B-1728B52AA6E4}">
                <adec:decorative xmlns:adec="http://schemas.microsoft.com/office/drawing/2017/decorative" val="1"/>
              </a:ext>
            </a:extLst>
          </p:cNvPr>
          <p:cNvSpPr/>
          <p:nvPr/>
        </p:nvSpPr>
        <p:spPr>
          <a:xfrm>
            <a:off x="3300309"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a:extLst>
              <a:ext uri="{C183D7F6-B498-43B3-948B-1728B52AA6E4}">
                <adec:decorative xmlns:adec="http://schemas.microsoft.com/office/drawing/2017/decorative" val="1"/>
              </a:ext>
            </a:extLst>
          </p:cNvPr>
          <p:cNvSpPr/>
          <p:nvPr/>
        </p:nvSpPr>
        <p:spPr>
          <a:xfrm>
            <a:off x="3300309" y="1690000"/>
            <a:ext cx="2543381" cy="54864"/>
          </a:xfrm>
          <a:prstGeom prst="rect">
            <a:avLst/>
          </a:prstGeom>
          <a:solidFill>
            <a:srgbClr val="F2860D"/>
          </a:solidFill>
          <a:ln/>
        </p:spPr>
        <p:txBody>
          <a:bodyPr/>
          <a:lstStyle/>
          <a:p>
            <a:endParaRPr lang="en-SE"/>
          </a:p>
        </p:txBody>
      </p:sp>
      <p:sp>
        <p:nvSpPr>
          <p:cNvPr id="12" name="panel head"/>
          <p:cNvSpPr/>
          <p:nvPr/>
        </p:nvSpPr>
        <p:spPr>
          <a:xfrm>
            <a:off x="3450309" y="1810000"/>
            <a:ext cx="2243381" cy="240000"/>
          </a:xfrm>
          <a:prstGeom prst="rect">
            <a:avLst/>
          </a:prstGeom>
          <a:noFill/>
          <a:ln/>
        </p:spPr>
        <p:txBody>
          <a:bodyPr wrap="square" lIns="0" tIns="0" rIns="0" bIns="0" rtlCol="0" anchor="t"/>
          <a:lstStyle/>
          <a:p>
            <a:pPr marL="0" indent="0" algn="l">
              <a:buNone/>
            </a:pPr>
            <a:r>
              <a:rPr lang="en-US" sz="1400" b="1" kern="0" spc="100">
                <a:solidFill>
                  <a:srgbClr val="F2860D"/>
                </a:solidFill>
                <a:latin typeface="Courier New" pitchFamily="34" charset="0"/>
                <a:ea typeface="Courier New" pitchFamily="34" charset="-122"/>
                <a:cs typeface="Courier New" pitchFamily="34" charset="-120"/>
              </a:rPr>
              <a:t>AUDIT TRAIL</a:t>
            </a:r>
            <a:endParaRPr lang="en-US" sz="3200"/>
          </a:p>
        </p:txBody>
      </p:sp>
      <p:sp>
        <p:nvSpPr>
          <p:cNvPr id="13" name="panel body"/>
          <p:cNvSpPr/>
          <p:nvPr/>
        </p:nvSpPr>
        <p:spPr>
          <a:xfrm>
            <a:off x="3450309"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200" b="1" kern="0" dirty="0">
                <a:solidFill>
                  <a:srgbClr val="F2860D"/>
                </a:solidFill>
                <a:latin typeface="Courier New" pitchFamily="34" charset="0"/>
                <a:ea typeface="Courier New" pitchFamily="34" charset="-122"/>
                <a:cs typeface="Courier New" pitchFamily="34" charset="-120"/>
              </a:rPr>
              <a:t>pm-audit  ·  SUB :5556</a:t>
            </a:r>
            <a:endParaRPr lang="en-US" sz="2800" dirty="0"/>
          </a:p>
          <a:p>
            <a:pPr marL="0" indent="0" algn="l">
              <a:lnSpc>
                <a:spcPct val="124000"/>
              </a:lnSpc>
              <a:spcBef>
                <a:spcPts val="200"/>
              </a:spcBef>
              <a:buNone/>
            </a:pPr>
            <a:r>
              <a:rPr lang="en-US" sz="1100" kern="0" dirty="0">
                <a:solidFill>
                  <a:srgbClr val="ECECEC"/>
                </a:solidFill>
                <a:latin typeface="Calibri" pitchFamily="34" charset="0"/>
                <a:ea typeface="Calibri" pitchFamily="34" charset="-122"/>
                <a:cs typeface="Calibri" pitchFamily="34" charset="-120"/>
              </a:rPr>
              <a:t>Passive logger of every</a:t>
            </a:r>
            <a:endParaRPr lang="en-US" sz="2400" dirty="0"/>
          </a:p>
          <a:p>
            <a:pPr marL="0" indent="0" algn="l">
              <a:lnSpc>
                <a:spcPct val="124000"/>
              </a:lnSpc>
              <a:spcBef>
                <a:spcPts val="200"/>
              </a:spcBef>
              <a:buNone/>
            </a:pPr>
            <a:r>
              <a:rPr lang="en-US" sz="1100" kern="0" dirty="0">
                <a:solidFill>
                  <a:srgbClr val="ECECEC"/>
                </a:solidFill>
                <a:latin typeface="Calibri" pitchFamily="34" charset="0"/>
                <a:ea typeface="Calibri" pitchFamily="34" charset="-122"/>
                <a:cs typeface="Calibri" pitchFamily="34" charset="-120"/>
              </a:rPr>
              <a:t>topic and payload</a:t>
            </a:r>
            <a:endParaRPr lang="en-US" sz="2400" dirty="0"/>
          </a:p>
          <a:p>
            <a:pPr marL="0" indent="0" algn="l">
              <a:lnSpc>
                <a:spcPct val="124000"/>
              </a:lnSpc>
              <a:spcBef>
                <a:spcPts val="200"/>
              </a:spcBef>
              <a:buNone/>
            </a:pPr>
            <a:r>
              <a:rPr lang="en-US" sz="1050" kern="0" dirty="0">
                <a:solidFill>
                  <a:srgbClr val="B4B4BE"/>
                </a:solidFill>
                <a:latin typeface="Courier New" pitchFamily="34" charset="0"/>
                <a:ea typeface="Courier New" pitchFamily="34" charset="-122"/>
                <a:cs typeface="Courier New" pitchFamily="34" charset="-120"/>
              </a:rPr>
              <a:t>data/</a:t>
            </a:r>
            <a:r>
              <a:rPr lang="en-US" sz="1050" kern="0" dirty="0" err="1">
                <a:solidFill>
                  <a:srgbClr val="B4B4BE"/>
                </a:solidFill>
                <a:latin typeface="Courier New" pitchFamily="34" charset="0"/>
                <a:ea typeface="Courier New" pitchFamily="34" charset="-122"/>
                <a:cs typeface="Courier New" pitchFamily="34" charset="-120"/>
              </a:rPr>
              <a:t>audit.log</a:t>
            </a:r>
            <a:endParaRPr lang="en-US" sz="2000" dirty="0"/>
          </a:p>
          <a:p>
            <a:pPr marL="0" indent="0" algn="l">
              <a:lnSpc>
                <a:spcPct val="124000"/>
              </a:lnSpc>
              <a:spcBef>
                <a:spcPts val="200"/>
              </a:spcBef>
              <a:buNone/>
            </a:pPr>
            <a:r>
              <a:rPr lang="en-US" sz="1050" kern="0" dirty="0">
                <a:solidFill>
                  <a:srgbClr val="B4B4BE"/>
                </a:solidFill>
                <a:latin typeface="Courier New" pitchFamily="34" charset="0"/>
                <a:ea typeface="Courier New" pitchFamily="34" charset="-122"/>
                <a:cs typeface="Courier New" pitchFamily="34" charset="-120"/>
              </a:rPr>
              <a:t>[TS] [TOPIC] {JSON}</a:t>
            </a:r>
            <a:endParaRPr lang="en-US" sz="2000" dirty="0"/>
          </a:p>
          <a:p>
            <a:pPr marL="0" indent="0" algn="l">
              <a:lnSpc>
                <a:spcPct val="124000"/>
              </a:lnSpc>
              <a:spcBef>
                <a:spcPts val="200"/>
              </a:spcBef>
              <a:buNone/>
            </a:pPr>
            <a:endParaRPr lang="en-US" sz="2000" dirty="0"/>
          </a:p>
          <a:p>
            <a:pPr marL="0" indent="0" algn="l">
              <a:lnSpc>
                <a:spcPct val="124000"/>
              </a:lnSpc>
              <a:spcBef>
                <a:spcPts val="200"/>
              </a:spcBef>
              <a:buNone/>
            </a:pPr>
            <a:r>
              <a:rPr lang="en-US" sz="1050" kern="0" dirty="0">
                <a:solidFill>
                  <a:srgbClr val="B4B4BE"/>
                </a:solidFill>
                <a:latin typeface="Calibri" pitchFamily="34" charset="0"/>
                <a:ea typeface="Calibri" pitchFamily="34" charset="-122"/>
                <a:cs typeface="Calibri" pitchFamily="34" charset="-120"/>
              </a:rPr>
              <a:t>Authoritative, </a:t>
            </a:r>
            <a:r>
              <a:rPr lang="en-US" sz="1050" kern="0" dirty="0" err="1">
                <a:solidFill>
                  <a:srgbClr val="B4B4BE"/>
                </a:solidFill>
                <a:latin typeface="Calibri" pitchFamily="34" charset="0"/>
                <a:ea typeface="Calibri" pitchFamily="34" charset="-122"/>
                <a:cs typeface="Calibri" pitchFamily="34" charset="-120"/>
              </a:rPr>
              <a:t>replayable</a:t>
            </a:r>
            <a:r>
              <a:rPr lang="en-US" sz="1050" kern="0" dirty="0">
                <a:solidFill>
                  <a:srgbClr val="B4B4BE"/>
                </a:solidFill>
                <a:latin typeface="Calibri" pitchFamily="34" charset="0"/>
                <a:ea typeface="Calibri" pitchFamily="34" charset="-122"/>
                <a:cs typeface="Calibri" pitchFamily="34" charset="-120"/>
              </a:rPr>
              <a:t> record</a:t>
            </a:r>
            <a:endParaRPr lang="en-US" sz="2000" dirty="0"/>
          </a:p>
        </p:txBody>
      </p:sp>
      <p:sp>
        <p:nvSpPr>
          <p:cNvPr id="14" name="card">
            <a:extLst>
              <a:ext uri="{C183D7F6-B498-43B3-948B-1728B52AA6E4}">
                <adec:decorative xmlns:adec="http://schemas.microsoft.com/office/drawing/2017/decorative" val="1"/>
              </a:ext>
            </a:extLst>
          </p:cNvPr>
          <p:cNvSpPr/>
          <p:nvPr/>
        </p:nvSpPr>
        <p:spPr>
          <a:xfrm>
            <a:off x="6033690"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5" name="accent">
            <a:extLst>
              <a:ext uri="{C183D7F6-B498-43B3-948B-1728B52AA6E4}">
                <adec:decorative xmlns:adec="http://schemas.microsoft.com/office/drawing/2017/decorative" val="1"/>
              </a:ext>
            </a:extLst>
          </p:cNvPr>
          <p:cNvSpPr/>
          <p:nvPr/>
        </p:nvSpPr>
        <p:spPr>
          <a:xfrm>
            <a:off x="6033690" y="1690000"/>
            <a:ext cx="2543381" cy="54864"/>
          </a:xfrm>
          <a:prstGeom prst="rect">
            <a:avLst/>
          </a:prstGeom>
          <a:solidFill>
            <a:srgbClr val="5B9BF5"/>
          </a:solidFill>
          <a:ln/>
        </p:spPr>
        <p:txBody>
          <a:bodyPr/>
          <a:lstStyle/>
          <a:p>
            <a:endParaRPr lang="en-SE"/>
          </a:p>
        </p:txBody>
      </p:sp>
      <p:sp>
        <p:nvSpPr>
          <p:cNvPr id="16" name="panel head"/>
          <p:cNvSpPr/>
          <p:nvPr/>
        </p:nvSpPr>
        <p:spPr>
          <a:xfrm>
            <a:off x="6183690" y="1810000"/>
            <a:ext cx="2243381" cy="240000"/>
          </a:xfrm>
          <a:prstGeom prst="rect">
            <a:avLst/>
          </a:prstGeom>
          <a:noFill/>
          <a:ln/>
        </p:spPr>
        <p:txBody>
          <a:bodyPr wrap="square" lIns="0" tIns="0" rIns="0" bIns="0" rtlCol="0" anchor="t"/>
          <a:lstStyle/>
          <a:p>
            <a:pPr marL="0" indent="0" algn="l">
              <a:buNone/>
            </a:pPr>
            <a:r>
              <a:rPr lang="en-US" sz="1400" b="1" kern="0" spc="100">
                <a:solidFill>
                  <a:srgbClr val="5B9BF5"/>
                </a:solidFill>
                <a:latin typeface="Courier New" pitchFamily="34" charset="0"/>
                <a:ea typeface="Courier New" pitchFamily="34" charset="-122"/>
                <a:cs typeface="Courier New" pitchFamily="34" charset="-120"/>
              </a:rPr>
              <a:t>CLEARING</a:t>
            </a:r>
            <a:endParaRPr lang="en-US" sz="3200"/>
          </a:p>
        </p:txBody>
      </p:sp>
      <p:sp>
        <p:nvSpPr>
          <p:cNvPr id="17" name="panel body"/>
          <p:cNvSpPr/>
          <p:nvPr/>
        </p:nvSpPr>
        <p:spPr>
          <a:xfrm>
            <a:off x="6183690" y="2160000"/>
            <a:ext cx="2403719" cy="1965000"/>
          </a:xfrm>
          <a:prstGeom prst="rect">
            <a:avLst/>
          </a:prstGeom>
          <a:noFill/>
          <a:ln/>
        </p:spPr>
        <p:txBody>
          <a:bodyPr wrap="square" lIns="0" tIns="0" rIns="0" bIns="0" rtlCol="0" anchor="t"/>
          <a:lstStyle/>
          <a:p>
            <a:pPr marL="0" indent="0" algn="l">
              <a:lnSpc>
                <a:spcPct val="124000"/>
              </a:lnSpc>
              <a:spcBef>
                <a:spcPts val="200"/>
              </a:spcBef>
              <a:buNone/>
            </a:pPr>
            <a:r>
              <a:rPr lang="en-US" sz="1200" b="1" kern="0" dirty="0">
                <a:solidFill>
                  <a:srgbClr val="5B9BF5"/>
                </a:solidFill>
                <a:latin typeface="Courier New" pitchFamily="34" charset="0"/>
                <a:ea typeface="Courier New" pitchFamily="34" charset="-122"/>
                <a:cs typeface="Courier New" pitchFamily="34" charset="-120"/>
              </a:rPr>
              <a:t>pm-clearing  ·  SUB :5556</a:t>
            </a:r>
            <a:endParaRPr lang="en-US" sz="2800" dirty="0"/>
          </a:p>
          <a:p>
            <a:pPr marL="0" indent="0" algn="l">
              <a:lnSpc>
                <a:spcPct val="124000"/>
              </a:lnSpc>
              <a:spcBef>
                <a:spcPts val="200"/>
              </a:spcBef>
              <a:buNone/>
            </a:pPr>
            <a:r>
              <a:rPr lang="en-US" sz="1100" kern="0" dirty="0">
                <a:solidFill>
                  <a:srgbClr val="ECECEC"/>
                </a:solidFill>
                <a:latin typeface="Calibri" pitchFamily="34" charset="0"/>
                <a:ea typeface="Calibri" pitchFamily="34" charset="-122"/>
                <a:cs typeface="Calibri" pitchFamily="34" charset="-120"/>
              </a:rPr>
              <a:t>Settlement + VWAP P&amp;L</a:t>
            </a:r>
            <a:endParaRPr lang="en-US" sz="2400" dirty="0"/>
          </a:p>
          <a:p>
            <a:pPr marL="0" indent="0" algn="l">
              <a:lnSpc>
                <a:spcPct val="124000"/>
              </a:lnSpc>
              <a:spcBef>
                <a:spcPts val="200"/>
              </a:spcBef>
              <a:buNone/>
            </a:pPr>
            <a:r>
              <a:rPr lang="en-US" sz="1100" kern="0" dirty="0">
                <a:solidFill>
                  <a:srgbClr val="ECECEC"/>
                </a:solidFill>
                <a:latin typeface="Calibri" pitchFamily="34" charset="0"/>
                <a:ea typeface="Calibri" pitchFamily="34" charset="-122"/>
                <a:cs typeface="Calibri" pitchFamily="34" charset="-120"/>
              </a:rPr>
              <a:t>per gateway</a:t>
            </a:r>
            <a:endParaRPr lang="en-US" sz="2400" dirty="0"/>
          </a:p>
          <a:p>
            <a:pPr marL="0" indent="0" algn="l">
              <a:lnSpc>
                <a:spcPct val="124000"/>
              </a:lnSpc>
              <a:spcBef>
                <a:spcPts val="200"/>
              </a:spcBef>
              <a:buNone/>
            </a:pPr>
            <a:r>
              <a:rPr lang="en-US" sz="1050" kern="0" dirty="0">
                <a:solidFill>
                  <a:srgbClr val="B4B4BE"/>
                </a:solidFill>
                <a:latin typeface="Courier New" pitchFamily="34" charset="0"/>
                <a:ea typeface="Courier New" pitchFamily="34" charset="-122"/>
                <a:cs typeface="Courier New" pitchFamily="34" charset="-120"/>
              </a:rPr>
              <a:t>data/</a:t>
            </a:r>
            <a:r>
              <a:rPr lang="en-US" sz="1050" kern="0" dirty="0" err="1">
                <a:solidFill>
                  <a:srgbClr val="B4B4BE"/>
                </a:solidFill>
                <a:latin typeface="Courier New" pitchFamily="34" charset="0"/>
                <a:ea typeface="Courier New" pitchFamily="34" charset="-122"/>
                <a:cs typeface="Courier New" pitchFamily="34" charset="-120"/>
              </a:rPr>
              <a:t>clearing.db</a:t>
            </a:r>
            <a:endParaRPr lang="en-US" sz="2000" dirty="0"/>
          </a:p>
          <a:p>
            <a:pPr marL="0" indent="0" algn="l">
              <a:lnSpc>
                <a:spcPct val="124000"/>
              </a:lnSpc>
              <a:spcBef>
                <a:spcPts val="200"/>
              </a:spcBef>
              <a:buNone/>
            </a:pPr>
            <a:endParaRPr lang="en-US" sz="2000" dirty="0"/>
          </a:p>
          <a:p>
            <a:pPr marL="0" indent="0" algn="l">
              <a:lnSpc>
                <a:spcPct val="124000"/>
              </a:lnSpc>
              <a:spcBef>
                <a:spcPts val="200"/>
              </a:spcBef>
              <a:buNone/>
            </a:pPr>
            <a:r>
              <a:rPr lang="en-US" sz="1050" kern="0" dirty="0">
                <a:solidFill>
                  <a:srgbClr val="B4B4BE"/>
                </a:solidFill>
                <a:latin typeface="Calibri" pitchFamily="34" charset="0"/>
                <a:ea typeface="Calibri" pitchFamily="34" charset="-122"/>
                <a:cs typeface="Calibri" pitchFamily="34" charset="-120"/>
              </a:rPr>
              <a:t>Realized &amp; unrealized</a:t>
            </a:r>
            <a:r>
              <a:rPr lang="en-US" sz="2000" dirty="0"/>
              <a:t> </a:t>
            </a:r>
            <a:r>
              <a:rPr lang="en-US" sz="1050" kern="0" dirty="0">
                <a:solidFill>
                  <a:srgbClr val="B4B4BE"/>
                </a:solidFill>
                <a:latin typeface="Calibri" pitchFamily="34" charset="0"/>
                <a:ea typeface="Calibri" pitchFamily="34" charset="-122"/>
                <a:cs typeface="Calibri" pitchFamily="34" charset="-120"/>
              </a:rPr>
              <a:t>positions persisted</a:t>
            </a:r>
            <a:endParaRPr lang="en-US" sz="2000" dirty="0"/>
          </a:p>
        </p:txBody>
      </p:sp>
      <p:sp>
        <p:nvSpPr>
          <p:cNvPr id="18" name="note band">
            <a:extLst>
              <a:ext uri="{C183D7F6-B498-43B3-948B-1728B52AA6E4}">
                <adec:decorative xmlns:adec="http://schemas.microsoft.com/office/drawing/2017/decorative" val="1"/>
              </a:ext>
            </a:extLst>
          </p:cNvPr>
          <p:cNvSpPr/>
          <p:nvPr/>
        </p:nvSpPr>
        <p:spPr>
          <a:xfrm>
            <a:off x="566928" y="4300000"/>
            <a:ext cx="8010144" cy="450000"/>
          </a:xfrm>
          <a:prstGeom prst="roundRect">
            <a:avLst>
              <a:gd name="adj" fmla="val 9000"/>
            </a:avLst>
          </a:prstGeom>
          <a:solidFill>
            <a:srgbClr val="202027"/>
          </a:solidFill>
          <a:ln w="12700">
            <a:solidFill>
              <a:srgbClr val="F2860D"/>
            </a:solidFill>
            <a:prstDash val="solid"/>
          </a:ln>
          <a:effectLst>
            <a:glow rad="63500">
              <a:schemeClr val="accent4">
                <a:satMod val="175000"/>
                <a:alpha val="40000"/>
              </a:schemeClr>
            </a:glow>
          </a:effectLst>
        </p:spPr>
        <p:txBody>
          <a:bodyPr/>
          <a:lstStyle/>
          <a:p>
            <a:endParaRPr lang="en-SE"/>
          </a:p>
        </p:txBody>
      </p:sp>
      <p:sp>
        <p:nvSpPr>
          <p:cNvPr id="19" name="note text"/>
          <p:cNvSpPr/>
          <p:nvPr/>
        </p:nvSpPr>
        <p:spPr>
          <a:xfrm>
            <a:off x="786928" y="4300000"/>
            <a:ext cx="7570144" cy="450000"/>
          </a:xfrm>
          <a:prstGeom prst="rect">
            <a:avLst/>
          </a:prstGeom>
          <a:noFill/>
          <a:ln/>
        </p:spPr>
        <p:txBody>
          <a:bodyPr wrap="square" lIns="0" tIns="0" rIns="0" bIns="0" rtlCol="0" anchor="ctr"/>
          <a:lstStyle/>
          <a:p>
            <a:pPr marL="0" indent="0" algn="l">
              <a:lnSpc>
                <a:spcPct val="104000"/>
              </a:lnSpc>
              <a:buNone/>
            </a:pPr>
            <a:r>
              <a:rPr lang="en-US" sz="1200" kern="0" dirty="0">
                <a:solidFill>
                  <a:srgbClr val="ECECEC"/>
                </a:solidFill>
                <a:latin typeface="Calibri" pitchFamily="34" charset="0"/>
                <a:ea typeface="Calibri" pitchFamily="34" charset="-122"/>
                <a:cs typeface="Calibri" pitchFamily="34" charset="-120"/>
              </a:rPr>
              <a:t>None of these can alter the book — they only subscribe. The audit log is the single source of truth for reconstructing exactly what happened in a session.</a:t>
            </a:r>
            <a:endParaRPr lang="en-US" sz="2800" dirty="0"/>
          </a:p>
        </p:txBody>
      </p:sp>
      <p:sp>
        <p:nvSpPr>
          <p:cNvPr id="20" name="Footer left"/>
          <p:cNvSpPr/>
          <p:nvPr/>
        </p:nvSpPr>
        <p:spPr>
          <a:xfrm>
            <a:off x="566928" y="4791456"/>
            <a:ext cx="2820328"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2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29</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10 · SCHEDULING</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Scheduling the trading day</a:t>
            </a:r>
            <a:endParaRPr lang="en-US" sz="2900" dirty="0"/>
          </a:p>
        </p:txBody>
      </p:sp>
      <p:sp>
        <p:nvSpPr>
          <p:cNvPr id="5" name="timeline">
            <a:extLst>
              <a:ext uri="{C183D7F6-B498-43B3-948B-1728B52AA6E4}">
                <adec:decorative xmlns:adec="http://schemas.microsoft.com/office/drawing/2017/decorative" val="1"/>
              </a:ext>
            </a:extLst>
          </p:cNvPr>
          <p:cNvSpPr/>
          <p:nvPr/>
        </p:nvSpPr>
        <p:spPr>
          <a:xfrm>
            <a:off x="1234440" y="2450592"/>
            <a:ext cx="6675120" cy="0"/>
          </a:xfrm>
          <a:prstGeom prst="line">
            <a:avLst/>
          </a:prstGeom>
          <a:noFill/>
          <a:ln w="25400">
            <a:solidFill>
              <a:srgbClr val="3B3B46"/>
            </a:solidFill>
            <a:prstDash val="solid"/>
          </a:ln>
        </p:spPr>
        <p:txBody>
          <a:bodyPr/>
          <a:lstStyle/>
          <a:p>
            <a:endParaRPr lang="en-SE"/>
          </a:p>
        </p:txBody>
      </p:sp>
      <p:sp>
        <p:nvSpPr>
          <p:cNvPr id="6" name="Text 4"/>
          <p:cNvSpPr/>
          <p:nvPr/>
        </p:nvSpPr>
        <p:spPr>
          <a:xfrm>
            <a:off x="594360" y="1975104"/>
            <a:ext cx="1280160" cy="274320"/>
          </a:xfrm>
          <a:prstGeom prst="rect">
            <a:avLst/>
          </a:prstGeom>
          <a:noFill/>
          <a:ln/>
        </p:spPr>
        <p:txBody>
          <a:bodyPr wrap="square" lIns="0" tIns="0" rIns="0" bIns="0" rtlCol="0" anchor="ctr"/>
          <a:lstStyle/>
          <a:p>
            <a:pPr marL="0" indent="0" algn="ctr">
              <a:buNone/>
            </a:pPr>
            <a:r>
              <a:rPr lang="en-US" sz="1250" b="1" dirty="0">
                <a:solidFill>
                  <a:srgbClr val="FF9E2C"/>
                </a:solidFill>
                <a:latin typeface="Courier New" pitchFamily="34" charset="0"/>
                <a:ea typeface="Courier New" pitchFamily="34" charset="-122"/>
                <a:cs typeface="Courier New" pitchFamily="34" charset="-120"/>
              </a:rPr>
              <a:t>09:00</a:t>
            </a:r>
            <a:endParaRPr lang="en-US" sz="1250" dirty="0"/>
          </a:p>
        </p:txBody>
      </p:sp>
      <p:sp>
        <p:nvSpPr>
          <p:cNvPr id="7" name="node">
            <a:extLst>
              <a:ext uri="{C183D7F6-B498-43B3-948B-1728B52AA6E4}">
                <adec:decorative xmlns:adec="http://schemas.microsoft.com/office/drawing/2017/decorative" val="1"/>
              </a:ext>
            </a:extLst>
          </p:cNvPr>
          <p:cNvSpPr/>
          <p:nvPr/>
        </p:nvSpPr>
        <p:spPr>
          <a:xfrm>
            <a:off x="1161288" y="2377440"/>
            <a:ext cx="146304" cy="146304"/>
          </a:xfrm>
          <a:prstGeom prst="ellipse">
            <a:avLst/>
          </a:prstGeom>
          <a:solidFill>
            <a:srgbClr val="8FA0B0"/>
          </a:solidFill>
          <a:ln w="19050">
            <a:solidFill>
              <a:srgbClr val="1B1B20"/>
            </a:solidFill>
            <a:prstDash val="solid"/>
          </a:ln>
        </p:spPr>
        <p:txBody>
          <a:bodyPr/>
          <a:lstStyle/>
          <a:p>
            <a:endParaRPr lang="en-SE"/>
          </a:p>
        </p:txBody>
      </p:sp>
      <p:sp>
        <p:nvSpPr>
          <p:cNvPr id="8" name="card">
            <a:extLst>
              <a:ext uri="{C183D7F6-B498-43B3-948B-1728B52AA6E4}">
                <adec:decorative xmlns:adec="http://schemas.microsoft.com/office/drawing/2017/decorative" val="1"/>
              </a:ext>
            </a:extLst>
          </p:cNvPr>
          <p:cNvSpPr/>
          <p:nvPr/>
        </p:nvSpPr>
        <p:spPr>
          <a:xfrm>
            <a:off x="484632" y="2670048"/>
            <a:ext cx="1499616" cy="603504"/>
          </a:xfrm>
          <a:prstGeom prst="roundRect">
            <a:avLst>
              <a:gd name="adj" fmla="val 9091"/>
            </a:avLst>
          </a:prstGeom>
          <a:solidFill>
            <a:srgbClr val="26262D"/>
          </a:solidFill>
          <a:ln w="12700">
            <a:solidFill>
              <a:srgbClr val="3B3B46"/>
            </a:solidFill>
            <a:prstDash val="solid"/>
          </a:ln>
        </p:spPr>
        <p:txBody>
          <a:bodyPr/>
          <a:lstStyle/>
          <a:p>
            <a:endParaRPr lang="en-SE"/>
          </a:p>
        </p:txBody>
      </p:sp>
      <p:sp>
        <p:nvSpPr>
          <p:cNvPr id="9" name="node accent">
            <a:extLst>
              <a:ext uri="{C183D7F6-B498-43B3-948B-1728B52AA6E4}">
                <adec:decorative xmlns:adec="http://schemas.microsoft.com/office/drawing/2017/decorative" val="1"/>
              </a:ext>
            </a:extLst>
          </p:cNvPr>
          <p:cNvSpPr/>
          <p:nvPr/>
        </p:nvSpPr>
        <p:spPr>
          <a:xfrm>
            <a:off x="484632" y="2670048"/>
            <a:ext cx="1499616" cy="45720"/>
          </a:xfrm>
          <a:prstGeom prst="rect">
            <a:avLst/>
          </a:prstGeom>
          <a:solidFill>
            <a:srgbClr val="8FA0B0"/>
          </a:solidFill>
          <a:ln/>
        </p:spPr>
        <p:txBody>
          <a:bodyPr/>
          <a:lstStyle/>
          <a:p>
            <a:endParaRPr lang="en-SE"/>
          </a:p>
        </p:txBody>
      </p:sp>
      <p:sp>
        <p:nvSpPr>
          <p:cNvPr id="10" name="Text 8"/>
          <p:cNvSpPr/>
          <p:nvPr/>
        </p:nvSpPr>
        <p:spPr>
          <a:xfrm>
            <a:off x="502920" y="2724912"/>
            <a:ext cx="1463040" cy="512064"/>
          </a:xfrm>
          <a:prstGeom prst="rect">
            <a:avLst/>
          </a:prstGeom>
          <a:noFill/>
          <a:ln/>
        </p:spPr>
        <p:txBody>
          <a:bodyPr wrap="square" lIns="0" tIns="0" rIns="0" bIns="0" rtlCol="0" anchor="ctr"/>
          <a:lstStyle/>
          <a:p>
            <a:pPr marL="0" indent="0" algn="ctr">
              <a:lnSpc>
                <a:spcPct val="95000"/>
              </a:lnSpc>
              <a:buNone/>
            </a:pPr>
            <a:r>
              <a:rPr lang="en-US" sz="850" b="1" dirty="0">
                <a:solidFill>
                  <a:srgbClr val="8FA0B0"/>
                </a:solidFill>
                <a:latin typeface="Courier New" pitchFamily="34" charset="0"/>
                <a:ea typeface="Courier New" pitchFamily="34" charset="-122"/>
                <a:cs typeface="Courier New" pitchFamily="34" charset="-120"/>
              </a:rPr>
              <a:t>PRE_OPEN</a:t>
            </a:r>
            <a:endParaRPr lang="en-US" sz="850" dirty="0"/>
          </a:p>
        </p:txBody>
      </p:sp>
      <p:sp>
        <p:nvSpPr>
          <p:cNvPr id="11" name="Text 9"/>
          <p:cNvSpPr/>
          <p:nvPr/>
        </p:nvSpPr>
        <p:spPr>
          <a:xfrm>
            <a:off x="2263140" y="1975104"/>
            <a:ext cx="1280160" cy="274320"/>
          </a:xfrm>
          <a:prstGeom prst="rect">
            <a:avLst/>
          </a:prstGeom>
          <a:noFill/>
          <a:ln/>
        </p:spPr>
        <p:txBody>
          <a:bodyPr wrap="square" lIns="0" tIns="0" rIns="0" bIns="0" rtlCol="0" anchor="ctr"/>
          <a:lstStyle/>
          <a:p>
            <a:pPr marL="0" indent="0" algn="ctr">
              <a:buNone/>
            </a:pPr>
            <a:r>
              <a:rPr lang="en-US" sz="1250" b="1" dirty="0">
                <a:solidFill>
                  <a:srgbClr val="FF9E2C"/>
                </a:solidFill>
                <a:latin typeface="Courier New" pitchFamily="34" charset="0"/>
                <a:ea typeface="Courier New" pitchFamily="34" charset="-122"/>
                <a:cs typeface="Courier New" pitchFamily="34" charset="-120"/>
              </a:rPr>
              <a:t>09:25</a:t>
            </a:r>
            <a:endParaRPr lang="en-US" sz="1250" dirty="0"/>
          </a:p>
        </p:txBody>
      </p:sp>
      <p:sp>
        <p:nvSpPr>
          <p:cNvPr id="12" name="node">
            <a:extLst>
              <a:ext uri="{C183D7F6-B498-43B3-948B-1728B52AA6E4}">
                <adec:decorative xmlns:adec="http://schemas.microsoft.com/office/drawing/2017/decorative" val="1"/>
              </a:ext>
            </a:extLst>
          </p:cNvPr>
          <p:cNvSpPr/>
          <p:nvPr/>
        </p:nvSpPr>
        <p:spPr>
          <a:xfrm>
            <a:off x="2830068" y="2377440"/>
            <a:ext cx="146304" cy="146304"/>
          </a:xfrm>
          <a:prstGeom prst="ellipse">
            <a:avLst/>
          </a:prstGeom>
          <a:solidFill>
            <a:srgbClr val="B98CE0"/>
          </a:solidFill>
          <a:ln w="19050">
            <a:solidFill>
              <a:srgbClr val="1B1B20"/>
            </a:solidFill>
            <a:prstDash val="solid"/>
          </a:ln>
        </p:spPr>
        <p:txBody>
          <a:bodyPr/>
          <a:lstStyle/>
          <a:p>
            <a:endParaRPr lang="en-SE"/>
          </a:p>
        </p:txBody>
      </p:sp>
      <p:sp>
        <p:nvSpPr>
          <p:cNvPr id="13" name="card">
            <a:extLst>
              <a:ext uri="{C183D7F6-B498-43B3-948B-1728B52AA6E4}">
                <adec:decorative xmlns:adec="http://schemas.microsoft.com/office/drawing/2017/decorative" val="1"/>
              </a:ext>
            </a:extLst>
          </p:cNvPr>
          <p:cNvSpPr/>
          <p:nvPr/>
        </p:nvSpPr>
        <p:spPr>
          <a:xfrm>
            <a:off x="2153412" y="2670048"/>
            <a:ext cx="1499616" cy="603504"/>
          </a:xfrm>
          <a:prstGeom prst="roundRect">
            <a:avLst>
              <a:gd name="adj" fmla="val 9091"/>
            </a:avLst>
          </a:prstGeom>
          <a:solidFill>
            <a:srgbClr val="26262D"/>
          </a:solidFill>
          <a:ln w="12700">
            <a:solidFill>
              <a:srgbClr val="3B3B46"/>
            </a:solidFill>
            <a:prstDash val="solid"/>
          </a:ln>
        </p:spPr>
        <p:txBody>
          <a:bodyPr/>
          <a:lstStyle/>
          <a:p>
            <a:endParaRPr lang="en-SE"/>
          </a:p>
        </p:txBody>
      </p:sp>
      <p:sp>
        <p:nvSpPr>
          <p:cNvPr id="14" name="node accent">
            <a:extLst>
              <a:ext uri="{C183D7F6-B498-43B3-948B-1728B52AA6E4}">
                <adec:decorative xmlns:adec="http://schemas.microsoft.com/office/drawing/2017/decorative" val="1"/>
              </a:ext>
            </a:extLst>
          </p:cNvPr>
          <p:cNvSpPr/>
          <p:nvPr/>
        </p:nvSpPr>
        <p:spPr>
          <a:xfrm>
            <a:off x="2153412" y="2670048"/>
            <a:ext cx="1499616" cy="45720"/>
          </a:xfrm>
          <a:prstGeom prst="rect">
            <a:avLst/>
          </a:prstGeom>
          <a:solidFill>
            <a:srgbClr val="B98CE0"/>
          </a:solidFill>
          <a:ln/>
        </p:spPr>
        <p:txBody>
          <a:bodyPr/>
          <a:lstStyle/>
          <a:p>
            <a:endParaRPr lang="en-SE"/>
          </a:p>
        </p:txBody>
      </p:sp>
      <p:sp>
        <p:nvSpPr>
          <p:cNvPr id="15" name="Text 13"/>
          <p:cNvSpPr/>
          <p:nvPr/>
        </p:nvSpPr>
        <p:spPr>
          <a:xfrm>
            <a:off x="2171700" y="2724912"/>
            <a:ext cx="1463040" cy="512064"/>
          </a:xfrm>
          <a:prstGeom prst="rect">
            <a:avLst/>
          </a:prstGeom>
          <a:noFill/>
          <a:ln/>
        </p:spPr>
        <p:txBody>
          <a:bodyPr wrap="square" lIns="0" tIns="0" rIns="0" bIns="0" rtlCol="0" anchor="ctr"/>
          <a:lstStyle/>
          <a:p>
            <a:pPr marL="0" indent="0" algn="ctr">
              <a:lnSpc>
                <a:spcPct val="95000"/>
              </a:lnSpc>
              <a:buNone/>
            </a:pPr>
            <a:r>
              <a:rPr lang="en-US" sz="850" b="1" dirty="0">
                <a:solidFill>
                  <a:srgbClr val="B98CE0"/>
                </a:solidFill>
                <a:latin typeface="Courier New" pitchFamily="34" charset="0"/>
                <a:ea typeface="Courier New" pitchFamily="34" charset="-122"/>
                <a:cs typeface="Courier New" pitchFamily="34" charset="-120"/>
              </a:rPr>
              <a:t>OPENING</a:t>
            </a:r>
            <a:endParaRPr lang="en-US" sz="850" dirty="0"/>
          </a:p>
          <a:p>
            <a:pPr marL="0" indent="0" algn="ctr">
              <a:lnSpc>
                <a:spcPct val="95000"/>
              </a:lnSpc>
              <a:buNone/>
            </a:pPr>
            <a:r>
              <a:rPr lang="en-US" sz="850" b="1" dirty="0">
                <a:solidFill>
                  <a:srgbClr val="B98CE0"/>
                </a:solidFill>
                <a:latin typeface="Courier New" pitchFamily="34" charset="0"/>
                <a:ea typeface="Courier New" pitchFamily="34" charset="-122"/>
                <a:cs typeface="Courier New" pitchFamily="34" charset="-120"/>
              </a:rPr>
              <a:t>AUCTION</a:t>
            </a:r>
            <a:endParaRPr lang="en-US" sz="850" dirty="0"/>
          </a:p>
        </p:txBody>
      </p:sp>
      <p:sp>
        <p:nvSpPr>
          <p:cNvPr id="16" name="Text 14"/>
          <p:cNvSpPr/>
          <p:nvPr/>
        </p:nvSpPr>
        <p:spPr>
          <a:xfrm>
            <a:off x="3931920" y="1975104"/>
            <a:ext cx="1280160" cy="274320"/>
          </a:xfrm>
          <a:prstGeom prst="rect">
            <a:avLst/>
          </a:prstGeom>
          <a:noFill/>
          <a:ln/>
        </p:spPr>
        <p:txBody>
          <a:bodyPr wrap="square" lIns="0" tIns="0" rIns="0" bIns="0" rtlCol="0" anchor="ctr"/>
          <a:lstStyle/>
          <a:p>
            <a:pPr marL="0" indent="0" algn="ctr">
              <a:buNone/>
            </a:pPr>
            <a:r>
              <a:rPr lang="en-US" sz="1250" b="1" dirty="0">
                <a:solidFill>
                  <a:srgbClr val="FF9E2C"/>
                </a:solidFill>
                <a:latin typeface="Courier New" pitchFamily="34" charset="0"/>
                <a:ea typeface="Courier New" pitchFamily="34" charset="-122"/>
                <a:cs typeface="Courier New" pitchFamily="34" charset="-120"/>
              </a:rPr>
              <a:t>09:30</a:t>
            </a:r>
            <a:endParaRPr lang="en-US" sz="1250" dirty="0"/>
          </a:p>
        </p:txBody>
      </p:sp>
      <p:sp>
        <p:nvSpPr>
          <p:cNvPr id="17" name="node">
            <a:extLst>
              <a:ext uri="{C183D7F6-B498-43B3-948B-1728B52AA6E4}">
                <adec:decorative xmlns:adec="http://schemas.microsoft.com/office/drawing/2017/decorative" val="1"/>
              </a:ext>
            </a:extLst>
          </p:cNvPr>
          <p:cNvSpPr/>
          <p:nvPr/>
        </p:nvSpPr>
        <p:spPr>
          <a:xfrm>
            <a:off x="4498848" y="2377440"/>
            <a:ext cx="146304" cy="146304"/>
          </a:xfrm>
          <a:prstGeom prst="ellipse">
            <a:avLst/>
          </a:prstGeom>
          <a:solidFill>
            <a:srgbClr val="F2860D"/>
          </a:solidFill>
          <a:ln w="19050">
            <a:solidFill>
              <a:srgbClr val="1B1B20"/>
            </a:solidFill>
            <a:prstDash val="solid"/>
          </a:ln>
        </p:spPr>
        <p:txBody>
          <a:bodyPr/>
          <a:lstStyle/>
          <a:p>
            <a:endParaRPr lang="en-SE"/>
          </a:p>
        </p:txBody>
      </p:sp>
      <p:sp>
        <p:nvSpPr>
          <p:cNvPr id="18" name="card">
            <a:extLst>
              <a:ext uri="{C183D7F6-B498-43B3-948B-1728B52AA6E4}">
                <adec:decorative xmlns:adec="http://schemas.microsoft.com/office/drawing/2017/decorative" val="1"/>
              </a:ext>
            </a:extLst>
          </p:cNvPr>
          <p:cNvSpPr/>
          <p:nvPr/>
        </p:nvSpPr>
        <p:spPr>
          <a:xfrm>
            <a:off x="3822192" y="2670048"/>
            <a:ext cx="1499616" cy="603504"/>
          </a:xfrm>
          <a:prstGeom prst="roundRect">
            <a:avLst>
              <a:gd name="adj" fmla="val 9091"/>
            </a:avLst>
          </a:prstGeom>
          <a:solidFill>
            <a:srgbClr val="26262D"/>
          </a:solidFill>
          <a:ln w="12700">
            <a:solidFill>
              <a:srgbClr val="3B3B46"/>
            </a:solidFill>
            <a:prstDash val="solid"/>
          </a:ln>
        </p:spPr>
        <p:txBody>
          <a:bodyPr/>
          <a:lstStyle/>
          <a:p>
            <a:endParaRPr lang="en-SE"/>
          </a:p>
        </p:txBody>
      </p:sp>
      <p:sp>
        <p:nvSpPr>
          <p:cNvPr id="19" name="node accent">
            <a:extLst>
              <a:ext uri="{C183D7F6-B498-43B3-948B-1728B52AA6E4}">
                <adec:decorative xmlns:adec="http://schemas.microsoft.com/office/drawing/2017/decorative" val="1"/>
              </a:ext>
            </a:extLst>
          </p:cNvPr>
          <p:cNvSpPr/>
          <p:nvPr/>
        </p:nvSpPr>
        <p:spPr>
          <a:xfrm>
            <a:off x="3822192" y="2670048"/>
            <a:ext cx="1499616" cy="45720"/>
          </a:xfrm>
          <a:prstGeom prst="rect">
            <a:avLst/>
          </a:prstGeom>
          <a:solidFill>
            <a:srgbClr val="F2860D"/>
          </a:solidFill>
          <a:ln/>
        </p:spPr>
        <p:txBody>
          <a:bodyPr/>
          <a:lstStyle/>
          <a:p>
            <a:endParaRPr lang="en-SE"/>
          </a:p>
        </p:txBody>
      </p:sp>
      <p:sp>
        <p:nvSpPr>
          <p:cNvPr id="20" name="Text 18"/>
          <p:cNvSpPr/>
          <p:nvPr/>
        </p:nvSpPr>
        <p:spPr>
          <a:xfrm>
            <a:off x="3840480" y="2724912"/>
            <a:ext cx="1463040" cy="512064"/>
          </a:xfrm>
          <a:prstGeom prst="rect">
            <a:avLst/>
          </a:prstGeom>
          <a:noFill/>
          <a:ln/>
        </p:spPr>
        <p:txBody>
          <a:bodyPr wrap="square" lIns="0" tIns="0" rIns="0" bIns="0" rtlCol="0" anchor="ctr"/>
          <a:lstStyle/>
          <a:p>
            <a:pPr marL="0" indent="0" algn="ctr">
              <a:lnSpc>
                <a:spcPct val="95000"/>
              </a:lnSpc>
              <a:buNone/>
            </a:pPr>
            <a:r>
              <a:rPr lang="en-US" sz="850" b="1" dirty="0">
                <a:solidFill>
                  <a:srgbClr val="F2860D"/>
                </a:solidFill>
                <a:latin typeface="Courier New" pitchFamily="34" charset="0"/>
                <a:ea typeface="Courier New" pitchFamily="34" charset="-122"/>
                <a:cs typeface="Courier New" pitchFamily="34" charset="-120"/>
              </a:rPr>
              <a:t>CONTINUOUS</a:t>
            </a:r>
            <a:endParaRPr lang="en-US" sz="850" dirty="0"/>
          </a:p>
        </p:txBody>
      </p:sp>
      <p:sp>
        <p:nvSpPr>
          <p:cNvPr id="21" name="Text 19"/>
          <p:cNvSpPr/>
          <p:nvPr/>
        </p:nvSpPr>
        <p:spPr>
          <a:xfrm>
            <a:off x="5600700" y="1975104"/>
            <a:ext cx="1280160" cy="274320"/>
          </a:xfrm>
          <a:prstGeom prst="rect">
            <a:avLst/>
          </a:prstGeom>
          <a:noFill/>
          <a:ln/>
        </p:spPr>
        <p:txBody>
          <a:bodyPr wrap="square" lIns="0" tIns="0" rIns="0" bIns="0" rtlCol="0" anchor="ctr"/>
          <a:lstStyle/>
          <a:p>
            <a:pPr marL="0" indent="0" algn="ctr">
              <a:buNone/>
            </a:pPr>
            <a:r>
              <a:rPr lang="en-US" sz="1250" b="1" dirty="0">
                <a:solidFill>
                  <a:srgbClr val="FF9E2C"/>
                </a:solidFill>
                <a:latin typeface="Courier New" pitchFamily="34" charset="0"/>
                <a:ea typeface="Courier New" pitchFamily="34" charset="-122"/>
                <a:cs typeface="Courier New" pitchFamily="34" charset="-120"/>
              </a:rPr>
              <a:t>16:00</a:t>
            </a:r>
            <a:endParaRPr lang="en-US" sz="1250" dirty="0"/>
          </a:p>
        </p:txBody>
      </p:sp>
      <p:sp>
        <p:nvSpPr>
          <p:cNvPr id="22" name="node">
            <a:extLst>
              <a:ext uri="{C183D7F6-B498-43B3-948B-1728B52AA6E4}">
                <adec:decorative xmlns:adec="http://schemas.microsoft.com/office/drawing/2017/decorative" val="1"/>
              </a:ext>
            </a:extLst>
          </p:cNvPr>
          <p:cNvSpPr/>
          <p:nvPr/>
        </p:nvSpPr>
        <p:spPr>
          <a:xfrm>
            <a:off x="6167628" y="2377440"/>
            <a:ext cx="146304" cy="146304"/>
          </a:xfrm>
          <a:prstGeom prst="ellipse">
            <a:avLst/>
          </a:prstGeom>
          <a:solidFill>
            <a:srgbClr val="B98CE0"/>
          </a:solidFill>
          <a:ln w="19050">
            <a:solidFill>
              <a:srgbClr val="1B1B20"/>
            </a:solidFill>
            <a:prstDash val="solid"/>
          </a:ln>
        </p:spPr>
        <p:txBody>
          <a:bodyPr/>
          <a:lstStyle/>
          <a:p>
            <a:endParaRPr lang="en-SE"/>
          </a:p>
        </p:txBody>
      </p:sp>
      <p:sp>
        <p:nvSpPr>
          <p:cNvPr id="23" name="card">
            <a:extLst>
              <a:ext uri="{C183D7F6-B498-43B3-948B-1728B52AA6E4}">
                <adec:decorative xmlns:adec="http://schemas.microsoft.com/office/drawing/2017/decorative" val="1"/>
              </a:ext>
            </a:extLst>
          </p:cNvPr>
          <p:cNvSpPr/>
          <p:nvPr/>
        </p:nvSpPr>
        <p:spPr>
          <a:xfrm>
            <a:off x="5490972" y="2670048"/>
            <a:ext cx="1499616" cy="603504"/>
          </a:xfrm>
          <a:prstGeom prst="roundRect">
            <a:avLst>
              <a:gd name="adj" fmla="val 9091"/>
            </a:avLst>
          </a:prstGeom>
          <a:solidFill>
            <a:srgbClr val="26262D"/>
          </a:solidFill>
          <a:ln w="12700">
            <a:solidFill>
              <a:srgbClr val="3B3B46"/>
            </a:solidFill>
            <a:prstDash val="solid"/>
          </a:ln>
        </p:spPr>
        <p:txBody>
          <a:bodyPr/>
          <a:lstStyle/>
          <a:p>
            <a:endParaRPr lang="en-SE"/>
          </a:p>
        </p:txBody>
      </p:sp>
      <p:sp>
        <p:nvSpPr>
          <p:cNvPr id="24" name="node accent">
            <a:extLst>
              <a:ext uri="{C183D7F6-B498-43B3-948B-1728B52AA6E4}">
                <adec:decorative xmlns:adec="http://schemas.microsoft.com/office/drawing/2017/decorative" val="1"/>
              </a:ext>
            </a:extLst>
          </p:cNvPr>
          <p:cNvSpPr/>
          <p:nvPr/>
        </p:nvSpPr>
        <p:spPr>
          <a:xfrm>
            <a:off x="5490972" y="2670048"/>
            <a:ext cx="1499616" cy="45720"/>
          </a:xfrm>
          <a:prstGeom prst="rect">
            <a:avLst/>
          </a:prstGeom>
          <a:solidFill>
            <a:srgbClr val="B98CE0"/>
          </a:solidFill>
          <a:ln/>
        </p:spPr>
        <p:txBody>
          <a:bodyPr/>
          <a:lstStyle/>
          <a:p>
            <a:endParaRPr lang="en-SE"/>
          </a:p>
        </p:txBody>
      </p:sp>
      <p:sp>
        <p:nvSpPr>
          <p:cNvPr id="25" name="Text 23"/>
          <p:cNvSpPr/>
          <p:nvPr/>
        </p:nvSpPr>
        <p:spPr>
          <a:xfrm>
            <a:off x="5509260" y="2724912"/>
            <a:ext cx="1463040" cy="512064"/>
          </a:xfrm>
          <a:prstGeom prst="rect">
            <a:avLst/>
          </a:prstGeom>
          <a:noFill/>
          <a:ln/>
        </p:spPr>
        <p:txBody>
          <a:bodyPr wrap="square" lIns="0" tIns="0" rIns="0" bIns="0" rtlCol="0" anchor="ctr"/>
          <a:lstStyle/>
          <a:p>
            <a:pPr marL="0" indent="0" algn="ctr">
              <a:lnSpc>
                <a:spcPct val="95000"/>
              </a:lnSpc>
              <a:buNone/>
            </a:pPr>
            <a:r>
              <a:rPr lang="en-US" sz="850" b="1" dirty="0">
                <a:solidFill>
                  <a:srgbClr val="B98CE0"/>
                </a:solidFill>
                <a:latin typeface="Courier New" pitchFamily="34" charset="0"/>
                <a:ea typeface="Courier New" pitchFamily="34" charset="-122"/>
                <a:cs typeface="Courier New" pitchFamily="34" charset="-120"/>
              </a:rPr>
              <a:t>CLOSING</a:t>
            </a:r>
            <a:endParaRPr lang="en-US" sz="850" dirty="0"/>
          </a:p>
          <a:p>
            <a:pPr marL="0" indent="0" algn="ctr">
              <a:lnSpc>
                <a:spcPct val="95000"/>
              </a:lnSpc>
              <a:buNone/>
            </a:pPr>
            <a:r>
              <a:rPr lang="en-US" sz="850" b="1" dirty="0">
                <a:solidFill>
                  <a:srgbClr val="B98CE0"/>
                </a:solidFill>
                <a:latin typeface="Courier New" pitchFamily="34" charset="0"/>
                <a:ea typeface="Courier New" pitchFamily="34" charset="-122"/>
                <a:cs typeface="Courier New" pitchFamily="34" charset="-120"/>
              </a:rPr>
              <a:t>AUCTION</a:t>
            </a:r>
            <a:endParaRPr lang="en-US" sz="850" dirty="0"/>
          </a:p>
        </p:txBody>
      </p:sp>
      <p:sp>
        <p:nvSpPr>
          <p:cNvPr id="26" name="Text 24"/>
          <p:cNvSpPr/>
          <p:nvPr/>
        </p:nvSpPr>
        <p:spPr>
          <a:xfrm>
            <a:off x="7269480" y="1975104"/>
            <a:ext cx="1280160" cy="274320"/>
          </a:xfrm>
          <a:prstGeom prst="rect">
            <a:avLst/>
          </a:prstGeom>
          <a:noFill/>
          <a:ln/>
        </p:spPr>
        <p:txBody>
          <a:bodyPr wrap="square" lIns="0" tIns="0" rIns="0" bIns="0" rtlCol="0" anchor="ctr"/>
          <a:lstStyle/>
          <a:p>
            <a:pPr marL="0" indent="0" algn="ctr">
              <a:buNone/>
            </a:pPr>
            <a:r>
              <a:rPr lang="en-US" sz="1250" b="1" dirty="0">
                <a:solidFill>
                  <a:srgbClr val="FF9E2C"/>
                </a:solidFill>
                <a:latin typeface="Courier New" pitchFamily="34" charset="0"/>
                <a:ea typeface="Courier New" pitchFamily="34" charset="-122"/>
                <a:cs typeface="Courier New" pitchFamily="34" charset="-120"/>
              </a:rPr>
              <a:t>16:05</a:t>
            </a:r>
            <a:endParaRPr lang="en-US" sz="1250" dirty="0"/>
          </a:p>
        </p:txBody>
      </p:sp>
      <p:sp>
        <p:nvSpPr>
          <p:cNvPr id="27" name="node">
            <a:extLst>
              <a:ext uri="{C183D7F6-B498-43B3-948B-1728B52AA6E4}">
                <adec:decorative xmlns:adec="http://schemas.microsoft.com/office/drawing/2017/decorative" val="1"/>
              </a:ext>
            </a:extLst>
          </p:cNvPr>
          <p:cNvSpPr/>
          <p:nvPr/>
        </p:nvSpPr>
        <p:spPr>
          <a:xfrm>
            <a:off x="7836408" y="2377440"/>
            <a:ext cx="146304" cy="146304"/>
          </a:xfrm>
          <a:prstGeom prst="ellipse">
            <a:avLst/>
          </a:prstGeom>
          <a:solidFill>
            <a:srgbClr val="8FA0B0"/>
          </a:solidFill>
          <a:ln w="19050">
            <a:solidFill>
              <a:srgbClr val="1B1B20"/>
            </a:solidFill>
            <a:prstDash val="solid"/>
          </a:ln>
        </p:spPr>
        <p:txBody>
          <a:bodyPr/>
          <a:lstStyle/>
          <a:p>
            <a:endParaRPr lang="en-SE"/>
          </a:p>
        </p:txBody>
      </p:sp>
      <p:sp>
        <p:nvSpPr>
          <p:cNvPr id="28" name="card">
            <a:extLst>
              <a:ext uri="{C183D7F6-B498-43B3-948B-1728B52AA6E4}">
                <adec:decorative xmlns:adec="http://schemas.microsoft.com/office/drawing/2017/decorative" val="1"/>
              </a:ext>
            </a:extLst>
          </p:cNvPr>
          <p:cNvSpPr/>
          <p:nvPr/>
        </p:nvSpPr>
        <p:spPr>
          <a:xfrm>
            <a:off x="7159752" y="2670048"/>
            <a:ext cx="1499616" cy="603504"/>
          </a:xfrm>
          <a:prstGeom prst="roundRect">
            <a:avLst>
              <a:gd name="adj" fmla="val 9091"/>
            </a:avLst>
          </a:prstGeom>
          <a:solidFill>
            <a:srgbClr val="26262D"/>
          </a:solidFill>
          <a:ln w="12700">
            <a:solidFill>
              <a:srgbClr val="3B3B46"/>
            </a:solidFill>
            <a:prstDash val="solid"/>
          </a:ln>
        </p:spPr>
        <p:txBody>
          <a:bodyPr/>
          <a:lstStyle/>
          <a:p>
            <a:endParaRPr lang="en-SE"/>
          </a:p>
        </p:txBody>
      </p:sp>
      <p:sp>
        <p:nvSpPr>
          <p:cNvPr id="29" name="node accent">
            <a:extLst>
              <a:ext uri="{C183D7F6-B498-43B3-948B-1728B52AA6E4}">
                <adec:decorative xmlns:adec="http://schemas.microsoft.com/office/drawing/2017/decorative" val="1"/>
              </a:ext>
            </a:extLst>
          </p:cNvPr>
          <p:cNvSpPr/>
          <p:nvPr/>
        </p:nvSpPr>
        <p:spPr>
          <a:xfrm>
            <a:off x="7159752" y="2670048"/>
            <a:ext cx="1499616" cy="45720"/>
          </a:xfrm>
          <a:prstGeom prst="rect">
            <a:avLst/>
          </a:prstGeom>
          <a:solidFill>
            <a:srgbClr val="8FA0B0"/>
          </a:solidFill>
          <a:ln/>
        </p:spPr>
        <p:txBody>
          <a:bodyPr/>
          <a:lstStyle/>
          <a:p>
            <a:endParaRPr lang="en-SE"/>
          </a:p>
        </p:txBody>
      </p:sp>
      <p:sp>
        <p:nvSpPr>
          <p:cNvPr id="30" name="Text 28"/>
          <p:cNvSpPr/>
          <p:nvPr/>
        </p:nvSpPr>
        <p:spPr>
          <a:xfrm>
            <a:off x="7178040" y="2724912"/>
            <a:ext cx="1463040" cy="512064"/>
          </a:xfrm>
          <a:prstGeom prst="rect">
            <a:avLst/>
          </a:prstGeom>
          <a:noFill/>
          <a:ln/>
        </p:spPr>
        <p:txBody>
          <a:bodyPr wrap="square" lIns="0" tIns="0" rIns="0" bIns="0" rtlCol="0" anchor="ctr"/>
          <a:lstStyle/>
          <a:p>
            <a:pPr marL="0" indent="0" algn="ctr">
              <a:lnSpc>
                <a:spcPct val="95000"/>
              </a:lnSpc>
              <a:buNone/>
            </a:pPr>
            <a:r>
              <a:rPr lang="en-US" sz="850" b="1" dirty="0">
                <a:solidFill>
                  <a:srgbClr val="8FA0B0"/>
                </a:solidFill>
                <a:latin typeface="Courier New" pitchFamily="34" charset="0"/>
                <a:ea typeface="Courier New" pitchFamily="34" charset="-122"/>
                <a:cs typeface="Courier New" pitchFamily="34" charset="-120"/>
              </a:rPr>
              <a:t>CLOSED</a:t>
            </a:r>
            <a:endParaRPr lang="en-US" sz="850" dirty="0"/>
          </a:p>
        </p:txBody>
      </p:sp>
      <p:sp>
        <p:nvSpPr>
          <p:cNvPr id="31" name="card">
            <a:extLst>
              <a:ext uri="{C183D7F6-B498-43B3-948B-1728B52AA6E4}">
                <adec:decorative xmlns:adec="http://schemas.microsoft.com/office/drawing/2017/decorative" val="1"/>
              </a:ext>
            </a:extLst>
          </p:cNvPr>
          <p:cNvSpPr/>
          <p:nvPr/>
        </p:nvSpPr>
        <p:spPr>
          <a:xfrm>
            <a:off x="566928" y="3584448"/>
            <a:ext cx="8010144" cy="914400"/>
          </a:xfrm>
          <a:prstGeom prst="roundRect">
            <a:avLst>
              <a:gd name="adj" fmla="val 6000"/>
            </a:avLst>
          </a:prstGeom>
          <a:solidFill>
            <a:srgbClr val="15151A"/>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2" name="Text 30"/>
          <p:cNvSpPr/>
          <p:nvPr/>
        </p:nvSpPr>
        <p:spPr>
          <a:xfrm>
            <a:off x="804672" y="3675888"/>
            <a:ext cx="2011680" cy="274320"/>
          </a:xfrm>
          <a:prstGeom prst="rect">
            <a:avLst/>
          </a:prstGeom>
          <a:noFill/>
          <a:ln/>
        </p:spPr>
        <p:txBody>
          <a:bodyPr wrap="square" lIns="0" tIns="0" rIns="0" bIns="0" rtlCol="0" anchor="ctr"/>
          <a:lstStyle/>
          <a:p>
            <a:pPr marL="0" indent="0" algn="l">
              <a:buNone/>
            </a:pPr>
            <a:r>
              <a:rPr lang="en-US" sz="1300" b="1" dirty="0">
                <a:solidFill>
                  <a:srgbClr val="F2860D"/>
                </a:solidFill>
                <a:latin typeface="Arial" pitchFamily="34" charset="0"/>
                <a:ea typeface="Arial" pitchFamily="34" charset="-122"/>
                <a:cs typeface="Arial" pitchFamily="34" charset="-120"/>
              </a:rPr>
              <a:t>pm-scheduler</a:t>
            </a:r>
            <a:endParaRPr lang="en-US" sz="1300" dirty="0"/>
          </a:p>
        </p:txBody>
      </p:sp>
      <p:sp>
        <p:nvSpPr>
          <p:cNvPr id="33" name="Text 31"/>
          <p:cNvSpPr/>
          <p:nvPr/>
        </p:nvSpPr>
        <p:spPr>
          <a:xfrm>
            <a:off x="804672" y="3968496"/>
            <a:ext cx="7498080" cy="512064"/>
          </a:xfrm>
          <a:prstGeom prst="rect">
            <a:avLst/>
          </a:prstGeom>
          <a:noFill/>
          <a:ln/>
        </p:spPr>
        <p:txBody>
          <a:bodyPr wrap="square" lIns="0" tIns="0" rIns="0" bIns="0" rtlCol="0" anchor="t"/>
          <a:lstStyle/>
          <a:p>
            <a:pPr marL="0" indent="0" algn="l">
              <a:lnSpc>
                <a:spcPct val="106000"/>
              </a:lnSpc>
              <a:buNone/>
            </a:pPr>
            <a:r>
              <a:rPr lang="en-US" sz="1100" dirty="0">
                <a:solidFill>
                  <a:srgbClr val="C3CDD6"/>
                </a:solidFill>
                <a:latin typeface="Calibri" pitchFamily="34" charset="0"/>
                <a:ea typeface="Calibri" pitchFamily="34" charset="-122"/>
                <a:cs typeface="Calibri" pitchFamily="34" charset="-120"/>
              </a:rPr>
              <a:t>pushes session.transition over a ZMQ PUSH socket at each wall-clock time. Config keys: pre_open · opening_auction_start · continuous_start · closing_auction_start · closing_auction_end.  Flags: --now (fire all), --daily, --delay.  sessions_enabled=false pins the market to CONTINUOUS.</a:t>
            </a:r>
            <a:endParaRPr lang="en-US" sz="1100" dirty="0"/>
          </a:p>
        </p:txBody>
      </p:sp>
      <p:sp>
        <p:nvSpPr>
          <p:cNvPr id="35" name="Text 32"/>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36" name="Text 33"/>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30</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11 · AUCTIONS</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How an auction uncrosses</a:t>
            </a:r>
            <a:endParaRPr lang="en-US" sz="2900" dirty="0"/>
          </a:p>
        </p:txBody>
      </p:sp>
      <p:sp>
        <p:nvSpPr>
          <p:cNvPr id="5" name="y-axis">
            <a:extLst>
              <a:ext uri="{C183D7F6-B498-43B3-948B-1728B52AA6E4}">
                <adec:decorative xmlns:adec="http://schemas.microsoft.com/office/drawing/2017/decorative" val="1"/>
              </a:ext>
            </a:extLst>
          </p:cNvPr>
          <p:cNvSpPr/>
          <p:nvPr/>
        </p:nvSpPr>
        <p:spPr>
          <a:xfrm>
            <a:off x="822960" y="1828800"/>
            <a:ext cx="0" cy="2286000"/>
          </a:xfrm>
          <a:prstGeom prst="line">
            <a:avLst/>
          </a:prstGeom>
          <a:noFill/>
          <a:ln w="19050">
            <a:solidFill>
              <a:srgbClr val="3B3B46"/>
            </a:solidFill>
            <a:prstDash val="solid"/>
          </a:ln>
        </p:spPr>
        <p:txBody>
          <a:bodyPr/>
          <a:lstStyle/>
          <a:p>
            <a:endParaRPr lang="en-SE"/>
          </a:p>
        </p:txBody>
      </p:sp>
      <p:sp>
        <p:nvSpPr>
          <p:cNvPr id="6" name="x-axis">
            <a:extLst>
              <a:ext uri="{C183D7F6-B498-43B3-948B-1728B52AA6E4}">
                <adec:decorative xmlns:adec="http://schemas.microsoft.com/office/drawing/2017/decorative" val="1"/>
              </a:ext>
            </a:extLst>
          </p:cNvPr>
          <p:cNvSpPr/>
          <p:nvPr/>
        </p:nvSpPr>
        <p:spPr>
          <a:xfrm>
            <a:off x="822960" y="4114800"/>
            <a:ext cx="3200400" cy="0"/>
          </a:xfrm>
          <a:prstGeom prst="line">
            <a:avLst/>
          </a:prstGeom>
          <a:noFill/>
          <a:ln w="19050">
            <a:solidFill>
              <a:srgbClr val="3B3B46"/>
            </a:solidFill>
            <a:prstDash val="solid"/>
          </a:ln>
        </p:spPr>
        <p:txBody>
          <a:bodyPr/>
          <a:lstStyle/>
          <a:p>
            <a:endParaRPr lang="en-SE"/>
          </a:p>
        </p:txBody>
      </p:sp>
      <p:sp>
        <p:nvSpPr>
          <p:cNvPr id="7" name="bus link">
            <a:extLst>
              <a:ext uri="{C183D7F6-B498-43B3-948B-1728B52AA6E4}">
                <adec:decorative xmlns:adec="http://schemas.microsoft.com/office/drawing/2017/decorative" val="1"/>
              </a:ext>
            </a:extLst>
          </p:cNvPr>
          <p:cNvSpPr/>
          <p:nvPr/>
        </p:nvSpPr>
        <p:spPr>
          <a:xfrm>
            <a:off x="1005840" y="2057400"/>
            <a:ext cx="2880360" cy="1783080"/>
          </a:xfrm>
          <a:prstGeom prst="line">
            <a:avLst/>
          </a:prstGeom>
          <a:noFill/>
          <a:ln w="22225">
            <a:solidFill>
              <a:srgbClr val="4FB3CC"/>
            </a:solidFill>
            <a:prstDash val="solid"/>
            <a:tailEnd type="triangle"/>
          </a:ln>
        </p:spPr>
        <p:txBody>
          <a:bodyPr/>
          <a:lstStyle/>
          <a:p>
            <a:endParaRPr lang="en-SE"/>
          </a:p>
        </p:txBody>
      </p:sp>
      <p:sp>
        <p:nvSpPr>
          <p:cNvPr id="8" name="bus link">
            <a:extLst>
              <a:ext uri="{C183D7F6-B498-43B3-948B-1728B52AA6E4}">
                <adec:decorative xmlns:adec="http://schemas.microsoft.com/office/drawing/2017/decorative" val="1"/>
              </a:ext>
            </a:extLst>
          </p:cNvPr>
          <p:cNvSpPr/>
          <p:nvPr/>
        </p:nvSpPr>
        <p:spPr>
          <a:xfrm flipV="1">
            <a:off x="1005840" y="2057400"/>
            <a:ext cx="2880360" cy="1783080"/>
          </a:xfrm>
          <a:prstGeom prst="line">
            <a:avLst/>
          </a:prstGeom>
          <a:noFill/>
          <a:ln w="22225">
            <a:solidFill>
              <a:srgbClr val="F2860D"/>
            </a:solidFill>
            <a:prstDash val="solid"/>
            <a:tailEnd type="triangle"/>
          </a:ln>
        </p:spPr>
        <p:txBody>
          <a:bodyPr/>
          <a:lstStyle/>
          <a:p>
            <a:endParaRPr lang="en-SE"/>
          </a:p>
        </p:txBody>
      </p:sp>
      <p:sp>
        <p:nvSpPr>
          <p:cNvPr id="9" name="eq guide">
            <a:extLst>
              <a:ext uri="{C183D7F6-B498-43B3-948B-1728B52AA6E4}">
                <adec:decorative xmlns:adec="http://schemas.microsoft.com/office/drawing/2017/decorative" val="1"/>
              </a:ext>
            </a:extLst>
          </p:cNvPr>
          <p:cNvSpPr/>
          <p:nvPr/>
        </p:nvSpPr>
        <p:spPr>
          <a:xfrm>
            <a:off x="2446020" y="2948940"/>
            <a:ext cx="0" cy="1165860"/>
          </a:xfrm>
          <a:prstGeom prst="line">
            <a:avLst/>
          </a:prstGeom>
          <a:noFill/>
          <a:ln w="12700">
            <a:solidFill>
              <a:srgbClr val="FF9E2C"/>
            </a:solidFill>
            <a:prstDash val="dash"/>
          </a:ln>
        </p:spPr>
        <p:txBody>
          <a:bodyPr/>
          <a:lstStyle/>
          <a:p>
            <a:endParaRPr lang="en-SE"/>
          </a:p>
        </p:txBody>
      </p:sp>
      <p:sp>
        <p:nvSpPr>
          <p:cNvPr id="10" name="equilibrium">
            <a:extLst>
              <a:ext uri="{C183D7F6-B498-43B3-948B-1728B52AA6E4}">
                <adec:decorative xmlns:adec="http://schemas.microsoft.com/office/drawing/2017/decorative" val="1"/>
              </a:ext>
            </a:extLst>
          </p:cNvPr>
          <p:cNvSpPr/>
          <p:nvPr/>
        </p:nvSpPr>
        <p:spPr>
          <a:xfrm>
            <a:off x="2363724" y="2866644"/>
            <a:ext cx="164592" cy="164592"/>
          </a:xfrm>
          <a:prstGeom prst="ellipse">
            <a:avLst/>
          </a:prstGeom>
          <a:solidFill>
            <a:srgbClr val="FF9E2C"/>
          </a:solidFill>
          <a:ln w="19050">
            <a:solidFill>
              <a:srgbClr val="1B1B20"/>
            </a:solidFill>
            <a:prstDash val="solid"/>
          </a:ln>
        </p:spPr>
        <p:txBody>
          <a:bodyPr/>
          <a:lstStyle/>
          <a:p>
            <a:endParaRPr lang="en-SE"/>
          </a:p>
        </p:txBody>
      </p:sp>
      <p:sp>
        <p:nvSpPr>
          <p:cNvPr id="11" name="Text 9"/>
          <p:cNvSpPr/>
          <p:nvPr/>
        </p:nvSpPr>
        <p:spPr>
          <a:xfrm>
            <a:off x="2217420" y="4151376"/>
            <a:ext cx="457200" cy="219456"/>
          </a:xfrm>
          <a:prstGeom prst="rect">
            <a:avLst/>
          </a:prstGeom>
          <a:noFill/>
          <a:ln/>
        </p:spPr>
        <p:txBody>
          <a:bodyPr wrap="square" lIns="0" tIns="0" rIns="0" bIns="0" rtlCol="0" anchor="ctr"/>
          <a:lstStyle/>
          <a:p>
            <a:pPr marL="0" indent="0" algn="ctr">
              <a:buNone/>
            </a:pPr>
            <a:r>
              <a:rPr lang="en-US" sz="1100" b="1" dirty="0">
                <a:solidFill>
                  <a:srgbClr val="FF9E2C"/>
                </a:solidFill>
                <a:latin typeface="Courier New" pitchFamily="34" charset="0"/>
                <a:ea typeface="Courier New" pitchFamily="34" charset="-122"/>
                <a:cs typeface="Courier New" pitchFamily="34" charset="-120"/>
              </a:rPr>
              <a:t>P*</a:t>
            </a:r>
            <a:endParaRPr lang="en-US" sz="1100" dirty="0"/>
          </a:p>
        </p:txBody>
      </p:sp>
      <p:sp>
        <p:nvSpPr>
          <p:cNvPr id="12" name="Text 10"/>
          <p:cNvSpPr/>
          <p:nvPr/>
        </p:nvSpPr>
        <p:spPr>
          <a:xfrm>
            <a:off x="868680" y="1874520"/>
            <a:ext cx="640080" cy="201168"/>
          </a:xfrm>
          <a:prstGeom prst="rect">
            <a:avLst/>
          </a:prstGeom>
          <a:noFill/>
          <a:ln/>
        </p:spPr>
        <p:txBody>
          <a:bodyPr wrap="square" lIns="0" tIns="0" rIns="0" bIns="0" rtlCol="0" anchor="ctr"/>
          <a:lstStyle/>
          <a:p>
            <a:pPr marL="0" indent="0">
              <a:buNone/>
            </a:pPr>
            <a:r>
              <a:rPr lang="en-US" sz="950" dirty="0">
                <a:solidFill>
                  <a:srgbClr val="4FB3CC"/>
                </a:solidFill>
                <a:latin typeface="Calibri" pitchFamily="34" charset="0"/>
                <a:ea typeface="Calibri" pitchFamily="34" charset="-122"/>
                <a:cs typeface="Calibri" pitchFamily="34" charset="-120"/>
              </a:rPr>
              <a:t>Buy</a:t>
            </a:r>
            <a:endParaRPr lang="en-US" sz="950" dirty="0"/>
          </a:p>
        </p:txBody>
      </p:sp>
      <p:sp>
        <p:nvSpPr>
          <p:cNvPr id="13" name="Text 11"/>
          <p:cNvSpPr/>
          <p:nvPr/>
        </p:nvSpPr>
        <p:spPr>
          <a:xfrm>
            <a:off x="3337560" y="1874520"/>
            <a:ext cx="640080" cy="201168"/>
          </a:xfrm>
          <a:prstGeom prst="rect">
            <a:avLst/>
          </a:prstGeom>
          <a:noFill/>
          <a:ln/>
        </p:spPr>
        <p:txBody>
          <a:bodyPr wrap="square" lIns="0" tIns="0" rIns="0" bIns="0" rtlCol="0" anchor="ctr"/>
          <a:lstStyle/>
          <a:p>
            <a:pPr marL="0" indent="0" algn="r">
              <a:buNone/>
            </a:pPr>
            <a:r>
              <a:rPr lang="en-US" sz="950" dirty="0">
                <a:solidFill>
                  <a:srgbClr val="F2860D"/>
                </a:solidFill>
                <a:latin typeface="Calibri" pitchFamily="34" charset="0"/>
                <a:ea typeface="Calibri" pitchFamily="34" charset="-122"/>
                <a:cs typeface="Calibri" pitchFamily="34" charset="-120"/>
              </a:rPr>
              <a:t>Sell</a:t>
            </a:r>
            <a:endParaRPr lang="en-US" sz="950" dirty="0"/>
          </a:p>
        </p:txBody>
      </p:sp>
      <p:sp>
        <p:nvSpPr>
          <p:cNvPr id="14" name="Text 12"/>
          <p:cNvSpPr/>
          <p:nvPr/>
        </p:nvSpPr>
        <p:spPr>
          <a:xfrm>
            <a:off x="822960" y="4370832"/>
            <a:ext cx="3200400" cy="201168"/>
          </a:xfrm>
          <a:prstGeom prst="rect">
            <a:avLst/>
          </a:prstGeom>
          <a:noFill/>
          <a:ln/>
        </p:spPr>
        <p:txBody>
          <a:bodyPr wrap="square" lIns="0" tIns="0" rIns="0" bIns="0" rtlCol="0" anchor="ctr"/>
          <a:lstStyle/>
          <a:p>
            <a:pPr marL="0" indent="0" algn="ctr">
              <a:buNone/>
            </a:pPr>
            <a:r>
              <a:rPr lang="en-US" sz="900" i="1" dirty="0">
                <a:solidFill>
                  <a:srgbClr val="B4B4BE"/>
                </a:solidFill>
                <a:latin typeface="Calibri" pitchFamily="34" charset="0"/>
                <a:ea typeface="Calibri" pitchFamily="34" charset="-122"/>
                <a:cs typeface="Calibri" pitchFamily="34" charset="-120"/>
              </a:rPr>
              <a:t>price →</a:t>
            </a:r>
            <a:endParaRPr lang="en-US" sz="900" dirty="0"/>
          </a:p>
        </p:txBody>
      </p:sp>
      <p:sp>
        <p:nvSpPr>
          <p:cNvPr id="15" name="card">
            <a:extLst>
              <a:ext uri="{C183D7F6-B498-43B3-948B-1728B52AA6E4}">
                <adec:decorative xmlns:adec="http://schemas.microsoft.com/office/drawing/2017/decorative" val="1"/>
              </a:ext>
            </a:extLst>
          </p:cNvPr>
          <p:cNvSpPr/>
          <p:nvPr/>
        </p:nvSpPr>
        <p:spPr>
          <a:xfrm>
            <a:off x="4572000" y="1517904"/>
            <a:ext cx="4023360" cy="512064"/>
          </a:xfrm>
          <a:prstGeom prst="roundRect">
            <a:avLst>
              <a:gd name="adj" fmla="val 10714"/>
            </a:avLst>
          </a:prstGeom>
          <a:solidFill>
            <a:srgbClr val="26262D"/>
          </a:solidFill>
          <a:ln w="12700">
            <a:solidFill>
              <a:srgbClr val="3B3B46"/>
            </a:solidFill>
            <a:prstDash val="solid"/>
          </a:ln>
        </p:spPr>
        <p:txBody>
          <a:bodyPr/>
          <a:lstStyle/>
          <a:p>
            <a:endParaRPr lang="en-SE"/>
          </a:p>
        </p:txBody>
      </p:sp>
      <p:sp>
        <p:nvSpPr>
          <p:cNvPr id="16" name="step num">
            <a:extLst>
              <a:ext uri="{C183D7F6-B498-43B3-948B-1728B52AA6E4}">
                <adec:decorative xmlns:adec="http://schemas.microsoft.com/office/drawing/2017/decorative" val="1"/>
              </a:ext>
            </a:extLst>
          </p:cNvPr>
          <p:cNvSpPr/>
          <p:nvPr/>
        </p:nvSpPr>
        <p:spPr>
          <a:xfrm>
            <a:off x="4700016" y="1636776"/>
            <a:ext cx="274320" cy="274320"/>
          </a:xfrm>
          <a:prstGeom prst="ellipse">
            <a:avLst/>
          </a:prstGeom>
          <a:solidFill>
            <a:srgbClr val="F2860D"/>
          </a:solidFill>
          <a:ln/>
        </p:spPr>
        <p:txBody>
          <a:bodyPr/>
          <a:lstStyle/>
          <a:p>
            <a:endParaRPr lang="en-SE"/>
          </a:p>
        </p:txBody>
      </p:sp>
      <p:sp>
        <p:nvSpPr>
          <p:cNvPr id="17" name="Text 15"/>
          <p:cNvSpPr/>
          <p:nvPr/>
        </p:nvSpPr>
        <p:spPr>
          <a:xfrm>
            <a:off x="4700016" y="1636776"/>
            <a:ext cx="274320" cy="274320"/>
          </a:xfrm>
          <a:prstGeom prst="rect">
            <a:avLst/>
          </a:prstGeom>
          <a:noFill/>
          <a:ln/>
        </p:spPr>
        <p:txBody>
          <a:bodyPr wrap="square" lIns="0" tIns="0" rIns="0" bIns="0" rtlCol="0" anchor="ctr"/>
          <a:lstStyle/>
          <a:p>
            <a:pPr marL="0" indent="0" algn="ctr">
              <a:buNone/>
            </a:pPr>
            <a:r>
              <a:rPr lang="en-US" sz="1200" b="1" dirty="0">
                <a:solidFill>
                  <a:srgbClr val="1B1B20"/>
                </a:solidFill>
                <a:latin typeface="Arial" pitchFamily="34" charset="0"/>
                <a:ea typeface="Arial" pitchFamily="34" charset="-122"/>
                <a:cs typeface="Arial" pitchFamily="34" charset="-120"/>
              </a:rPr>
              <a:t>1</a:t>
            </a:r>
            <a:endParaRPr lang="en-US" sz="1200" dirty="0"/>
          </a:p>
        </p:txBody>
      </p:sp>
      <p:sp>
        <p:nvSpPr>
          <p:cNvPr id="18" name="Text 16"/>
          <p:cNvSpPr/>
          <p:nvPr/>
        </p:nvSpPr>
        <p:spPr>
          <a:xfrm>
            <a:off x="5084064" y="1563624"/>
            <a:ext cx="1371600" cy="420624"/>
          </a:xfrm>
          <a:prstGeom prst="rect">
            <a:avLst/>
          </a:prstGeom>
          <a:noFill/>
          <a:ln/>
        </p:spPr>
        <p:txBody>
          <a:bodyPr wrap="square" lIns="0" tIns="0" rIns="0" bIns="0" rtlCol="0" anchor="ctr"/>
          <a:lstStyle/>
          <a:p>
            <a:pPr marL="0" indent="0">
              <a:buNone/>
            </a:pPr>
            <a:r>
              <a:rPr lang="en-US" sz="1150" b="1" dirty="0">
                <a:solidFill>
                  <a:srgbClr val="ECECEC"/>
                </a:solidFill>
                <a:latin typeface="Arial" pitchFamily="34" charset="0"/>
                <a:ea typeface="Arial" pitchFamily="34" charset="-122"/>
                <a:cs typeface="Arial" pitchFamily="34" charset="-120"/>
              </a:rPr>
              <a:t>Accumulate</a:t>
            </a:r>
            <a:endParaRPr lang="en-US" sz="1150" dirty="0"/>
          </a:p>
        </p:txBody>
      </p:sp>
      <p:sp>
        <p:nvSpPr>
          <p:cNvPr id="19" name="Text 17"/>
          <p:cNvSpPr/>
          <p:nvPr/>
        </p:nvSpPr>
        <p:spPr>
          <a:xfrm>
            <a:off x="6309360" y="1563624"/>
            <a:ext cx="2194560" cy="420624"/>
          </a:xfrm>
          <a:prstGeom prst="rect">
            <a:avLst/>
          </a:prstGeom>
          <a:noFill/>
          <a:ln/>
        </p:spPr>
        <p:txBody>
          <a:bodyPr wrap="square" lIns="0" tIns="0" rIns="0" bIns="0" rtlCol="0" anchor="ctr"/>
          <a:lstStyle/>
          <a:p>
            <a:pPr marL="0" indent="0">
              <a:lnSpc>
                <a:spcPct val="100000"/>
              </a:lnSpc>
              <a:buNone/>
            </a:pPr>
            <a:r>
              <a:rPr lang="en-US" sz="980" dirty="0">
                <a:solidFill>
                  <a:srgbClr val="B4B4BE"/>
                </a:solidFill>
                <a:latin typeface="Calibri" pitchFamily="34" charset="0"/>
                <a:ea typeface="Calibri" pitchFamily="34" charset="-122"/>
                <a:cs typeface="Calibri" pitchFamily="34" charset="-120"/>
              </a:rPr>
              <a:t>Auction phases rest orders — no matching yet.</a:t>
            </a:r>
            <a:endParaRPr lang="en-US" sz="980" dirty="0"/>
          </a:p>
        </p:txBody>
      </p:sp>
      <p:sp>
        <p:nvSpPr>
          <p:cNvPr id="20" name="card">
            <a:extLst>
              <a:ext uri="{C183D7F6-B498-43B3-948B-1728B52AA6E4}">
                <adec:decorative xmlns:adec="http://schemas.microsoft.com/office/drawing/2017/decorative" val="1"/>
              </a:ext>
            </a:extLst>
          </p:cNvPr>
          <p:cNvSpPr/>
          <p:nvPr/>
        </p:nvSpPr>
        <p:spPr>
          <a:xfrm>
            <a:off x="4572000" y="2103120"/>
            <a:ext cx="4023360" cy="512064"/>
          </a:xfrm>
          <a:prstGeom prst="roundRect">
            <a:avLst>
              <a:gd name="adj" fmla="val 10714"/>
            </a:avLst>
          </a:prstGeom>
          <a:solidFill>
            <a:srgbClr val="26262D"/>
          </a:solidFill>
          <a:ln w="12700">
            <a:solidFill>
              <a:srgbClr val="3B3B46"/>
            </a:solidFill>
            <a:prstDash val="solid"/>
          </a:ln>
        </p:spPr>
        <p:txBody>
          <a:bodyPr/>
          <a:lstStyle/>
          <a:p>
            <a:endParaRPr lang="en-SE"/>
          </a:p>
        </p:txBody>
      </p:sp>
      <p:sp>
        <p:nvSpPr>
          <p:cNvPr id="21" name="step num">
            <a:extLst>
              <a:ext uri="{C183D7F6-B498-43B3-948B-1728B52AA6E4}">
                <adec:decorative xmlns:adec="http://schemas.microsoft.com/office/drawing/2017/decorative" val="1"/>
              </a:ext>
            </a:extLst>
          </p:cNvPr>
          <p:cNvSpPr/>
          <p:nvPr/>
        </p:nvSpPr>
        <p:spPr>
          <a:xfrm>
            <a:off x="4700016" y="2221992"/>
            <a:ext cx="274320" cy="274320"/>
          </a:xfrm>
          <a:prstGeom prst="ellipse">
            <a:avLst/>
          </a:prstGeom>
          <a:solidFill>
            <a:srgbClr val="F2860D"/>
          </a:solidFill>
          <a:ln/>
        </p:spPr>
        <p:txBody>
          <a:bodyPr/>
          <a:lstStyle/>
          <a:p>
            <a:endParaRPr lang="en-SE"/>
          </a:p>
        </p:txBody>
      </p:sp>
      <p:sp>
        <p:nvSpPr>
          <p:cNvPr id="22" name="Text 20"/>
          <p:cNvSpPr/>
          <p:nvPr/>
        </p:nvSpPr>
        <p:spPr>
          <a:xfrm>
            <a:off x="4700016" y="2221992"/>
            <a:ext cx="274320" cy="274320"/>
          </a:xfrm>
          <a:prstGeom prst="rect">
            <a:avLst/>
          </a:prstGeom>
          <a:noFill/>
          <a:ln/>
        </p:spPr>
        <p:txBody>
          <a:bodyPr wrap="square" lIns="0" tIns="0" rIns="0" bIns="0" rtlCol="0" anchor="ctr"/>
          <a:lstStyle/>
          <a:p>
            <a:pPr marL="0" indent="0" algn="ctr">
              <a:buNone/>
            </a:pPr>
            <a:r>
              <a:rPr lang="en-US" sz="1200" b="1" dirty="0">
                <a:solidFill>
                  <a:srgbClr val="1B1B20"/>
                </a:solidFill>
                <a:latin typeface="Arial" pitchFamily="34" charset="0"/>
                <a:ea typeface="Arial" pitchFamily="34" charset="-122"/>
                <a:cs typeface="Arial" pitchFamily="34" charset="-120"/>
              </a:rPr>
              <a:t>2</a:t>
            </a:r>
            <a:endParaRPr lang="en-US" sz="1200" dirty="0"/>
          </a:p>
        </p:txBody>
      </p:sp>
      <p:sp>
        <p:nvSpPr>
          <p:cNvPr id="23" name="Text 21"/>
          <p:cNvSpPr/>
          <p:nvPr/>
        </p:nvSpPr>
        <p:spPr>
          <a:xfrm>
            <a:off x="5084064" y="2148840"/>
            <a:ext cx="1371600" cy="420624"/>
          </a:xfrm>
          <a:prstGeom prst="rect">
            <a:avLst/>
          </a:prstGeom>
          <a:noFill/>
          <a:ln/>
        </p:spPr>
        <p:txBody>
          <a:bodyPr wrap="square" lIns="0" tIns="0" rIns="0" bIns="0" rtlCol="0" anchor="ctr"/>
          <a:lstStyle/>
          <a:p>
            <a:pPr marL="0" indent="0">
              <a:buNone/>
            </a:pPr>
            <a:r>
              <a:rPr lang="en-US" sz="1150" b="1" dirty="0">
                <a:solidFill>
                  <a:srgbClr val="ECECEC"/>
                </a:solidFill>
                <a:latin typeface="Arial" pitchFamily="34" charset="0"/>
                <a:ea typeface="Arial" pitchFamily="34" charset="-122"/>
                <a:cs typeface="Arial" pitchFamily="34" charset="-120"/>
              </a:rPr>
              <a:t>Build curves</a:t>
            </a:r>
            <a:endParaRPr lang="en-US" sz="1150" dirty="0"/>
          </a:p>
        </p:txBody>
      </p:sp>
      <p:sp>
        <p:nvSpPr>
          <p:cNvPr id="24" name="Text 22"/>
          <p:cNvSpPr/>
          <p:nvPr/>
        </p:nvSpPr>
        <p:spPr>
          <a:xfrm>
            <a:off x="6309360" y="2148840"/>
            <a:ext cx="2194560" cy="420624"/>
          </a:xfrm>
          <a:prstGeom prst="rect">
            <a:avLst/>
          </a:prstGeom>
          <a:noFill/>
          <a:ln/>
        </p:spPr>
        <p:txBody>
          <a:bodyPr wrap="square" lIns="0" tIns="0" rIns="0" bIns="0" rtlCol="0" anchor="ctr"/>
          <a:lstStyle/>
          <a:p>
            <a:pPr marL="0" indent="0">
              <a:lnSpc>
                <a:spcPct val="100000"/>
              </a:lnSpc>
              <a:buNone/>
            </a:pPr>
            <a:r>
              <a:rPr lang="en-US" sz="980" dirty="0">
                <a:solidFill>
                  <a:srgbClr val="B4B4BE"/>
                </a:solidFill>
                <a:latin typeface="Calibri" pitchFamily="34" charset="0"/>
                <a:ea typeface="Calibri" pitchFamily="34" charset="-122"/>
                <a:cs typeface="Calibri" pitchFamily="34" charset="-120"/>
              </a:rPr>
              <a:t>Cumulative buy (desc) &amp; sell (asc) quantity per price.</a:t>
            </a:r>
            <a:endParaRPr lang="en-US" sz="980" dirty="0"/>
          </a:p>
        </p:txBody>
      </p:sp>
      <p:sp>
        <p:nvSpPr>
          <p:cNvPr id="25" name="card">
            <a:extLst>
              <a:ext uri="{C183D7F6-B498-43B3-948B-1728B52AA6E4}">
                <adec:decorative xmlns:adec="http://schemas.microsoft.com/office/drawing/2017/decorative" val="1"/>
              </a:ext>
            </a:extLst>
          </p:cNvPr>
          <p:cNvSpPr/>
          <p:nvPr/>
        </p:nvSpPr>
        <p:spPr>
          <a:xfrm>
            <a:off x="4572000" y="2688336"/>
            <a:ext cx="4023360" cy="512064"/>
          </a:xfrm>
          <a:prstGeom prst="roundRect">
            <a:avLst>
              <a:gd name="adj" fmla="val 10714"/>
            </a:avLst>
          </a:prstGeom>
          <a:solidFill>
            <a:srgbClr val="26262D"/>
          </a:solidFill>
          <a:ln w="12700">
            <a:solidFill>
              <a:srgbClr val="3B3B46"/>
            </a:solidFill>
            <a:prstDash val="solid"/>
          </a:ln>
        </p:spPr>
        <p:txBody>
          <a:bodyPr/>
          <a:lstStyle/>
          <a:p>
            <a:endParaRPr lang="en-SE"/>
          </a:p>
        </p:txBody>
      </p:sp>
      <p:sp>
        <p:nvSpPr>
          <p:cNvPr id="26" name="step num">
            <a:extLst>
              <a:ext uri="{C183D7F6-B498-43B3-948B-1728B52AA6E4}">
                <adec:decorative xmlns:adec="http://schemas.microsoft.com/office/drawing/2017/decorative" val="1"/>
              </a:ext>
            </a:extLst>
          </p:cNvPr>
          <p:cNvSpPr/>
          <p:nvPr/>
        </p:nvSpPr>
        <p:spPr>
          <a:xfrm>
            <a:off x="4700016" y="2807208"/>
            <a:ext cx="274320" cy="274320"/>
          </a:xfrm>
          <a:prstGeom prst="ellipse">
            <a:avLst/>
          </a:prstGeom>
          <a:solidFill>
            <a:srgbClr val="F2860D"/>
          </a:solidFill>
          <a:ln/>
        </p:spPr>
        <p:txBody>
          <a:bodyPr/>
          <a:lstStyle/>
          <a:p>
            <a:endParaRPr lang="en-SE"/>
          </a:p>
        </p:txBody>
      </p:sp>
      <p:sp>
        <p:nvSpPr>
          <p:cNvPr id="27" name="Text 25"/>
          <p:cNvSpPr/>
          <p:nvPr/>
        </p:nvSpPr>
        <p:spPr>
          <a:xfrm>
            <a:off x="4700016" y="2807208"/>
            <a:ext cx="274320" cy="274320"/>
          </a:xfrm>
          <a:prstGeom prst="rect">
            <a:avLst/>
          </a:prstGeom>
          <a:noFill/>
          <a:ln/>
        </p:spPr>
        <p:txBody>
          <a:bodyPr wrap="square" lIns="0" tIns="0" rIns="0" bIns="0" rtlCol="0" anchor="ctr"/>
          <a:lstStyle/>
          <a:p>
            <a:pPr marL="0" indent="0" algn="ctr">
              <a:buNone/>
            </a:pPr>
            <a:r>
              <a:rPr lang="en-US" sz="1200" b="1" dirty="0">
                <a:solidFill>
                  <a:srgbClr val="1B1B20"/>
                </a:solidFill>
                <a:latin typeface="Arial" pitchFamily="34" charset="0"/>
                <a:ea typeface="Arial" pitchFamily="34" charset="-122"/>
                <a:cs typeface="Arial" pitchFamily="34" charset="-120"/>
              </a:rPr>
              <a:t>3</a:t>
            </a:r>
            <a:endParaRPr lang="en-US" sz="1200" dirty="0"/>
          </a:p>
        </p:txBody>
      </p:sp>
      <p:sp>
        <p:nvSpPr>
          <p:cNvPr id="28" name="Text 26"/>
          <p:cNvSpPr/>
          <p:nvPr/>
        </p:nvSpPr>
        <p:spPr>
          <a:xfrm>
            <a:off x="5084064" y="2734056"/>
            <a:ext cx="1371600" cy="420624"/>
          </a:xfrm>
          <a:prstGeom prst="rect">
            <a:avLst/>
          </a:prstGeom>
          <a:noFill/>
          <a:ln/>
        </p:spPr>
        <p:txBody>
          <a:bodyPr wrap="square" lIns="0" tIns="0" rIns="0" bIns="0" rtlCol="0" anchor="ctr"/>
          <a:lstStyle/>
          <a:p>
            <a:pPr marL="0" indent="0">
              <a:buNone/>
            </a:pPr>
            <a:r>
              <a:rPr lang="en-US" sz="1150" b="1" dirty="0">
                <a:solidFill>
                  <a:srgbClr val="ECECEC"/>
                </a:solidFill>
                <a:latin typeface="Arial" pitchFamily="34" charset="0"/>
                <a:ea typeface="Arial" pitchFamily="34" charset="-122"/>
                <a:cs typeface="Arial" pitchFamily="34" charset="-120"/>
              </a:rPr>
              <a:t>Maximize</a:t>
            </a:r>
            <a:endParaRPr lang="en-US" sz="1150" dirty="0"/>
          </a:p>
        </p:txBody>
      </p:sp>
      <p:sp>
        <p:nvSpPr>
          <p:cNvPr id="29" name="Text 27"/>
          <p:cNvSpPr/>
          <p:nvPr/>
        </p:nvSpPr>
        <p:spPr>
          <a:xfrm>
            <a:off x="6309360" y="2734056"/>
            <a:ext cx="2194560" cy="420624"/>
          </a:xfrm>
          <a:prstGeom prst="rect">
            <a:avLst/>
          </a:prstGeom>
          <a:noFill/>
          <a:ln/>
        </p:spPr>
        <p:txBody>
          <a:bodyPr wrap="square" lIns="0" tIns="0" rIns="0" bIns="0" rtlCol="0" anchor="ctr"/>
          <a:lstStyle/>
          <a:p>
            <a:pPr marL="0" indent="0">
              <a:lnSpc>
                <a:spcPct val="100000"/>
              </a:lnSpc>
              <a:buNone/>
            </a:pPr>
            <a:r>
              <a:rPr lang="en-US" sz="980" dirty="0">
                <a:solidFill>
                  <a:srgbClr val="B4B4BE"/>
                </a:solidFill>
                <a:latin typeface="Calibri" pitchFamily="34" charset="0"/>
                <a:ea typeface="Calibri" pitchFamily="34" charset="-122"/>
                <a:cs typeface="Calibri" pitchFamily="34" charset="-120"/>
              </a:rPr>
              <a:t>P* = argmax executable = min(buy, sell) at each price.</a:t>
            </a:r>
            <a:endParaRPr lang="en-US" sz="980" dirty="0"/>
          </a:p>
        </p:txBody>
      </p:sp>
      <p:sp>
        <p:nvSpPr>
          <p:cNvPr id="30" name="card">
            <a:extLst>
              <a:ext uri="{C183D7F6-B498-43B3-948B-1728B52AA6E4}">
                <adec:decorative xmlns:adec="http://schemas.microsoft.com/office/drawing/2017/decorative" val="1"/>
              </a:ext>
            </a:extLst>
          </p:cNvPr>
          <p:cNvSpPr/>
          <p:nvPr/>
        </p:nvSpPr>
        <p:spPr>
          <a:xfrm>
            <a:off x="4572000" y="3273552"/>
            <a:ext cx="4023360" cy="512064"/>
          </a:xfrm>
          <a:prstGeom prst="roundRect">
            <a:avLst>
              <a:gd name="adj" fmla="val 10714"/>
            </a:avLst>
          </a:prstGeom>
          <a:solidFill>
            <a:srgbClr val="26262D"/>
          </a:solidFill>
          <a:ln w="12700">
            <a:solidFill>
              <a:srgbClr val="3B3B46"/>
            </a:solidFill>
            <a:prstDash val="solid"/>
          </a:ln>
        </p:spPr>
        <p:txBody>
          <a:bodyPr/>
          <a:lstStyle/>
          <a:p>
            <a:endParaRPr lang="en-SE"/>
          </a:p>
        </p:txBody>
      </p:sp>
      <p:sp>
        <p:nvSpPr>
          <p:cNvPr id="31" name="step num">
            <a:extLst>
              <a:ext uri="{C183D7F6-B498-43B3-948B-1728B52AA6E4}">
                <adec:decorative xmlns:adec="http://schemas.microsoft.com/office/drawing/2017/decorative" val="1"/>
              </a:ext>
            </a:extLst>
          </p:cNvPr>
          <p:cNvSpPr/>
          <p:nvPr/>
        </p:nvSpPr>
        <p:spPr>
          <a:xfrm>
            <a:off x="4700016" y="3392424"/>
            <a:ext cx="274320" cy="274320"/>
          </a:xfrm>
          <a:prstGeom prst="ellipse">
            <a:avLst/>
          </a:prstGeom>
          <a:solidFill>
            <a:srgbClr val="F2860D"/>
          </a:solidFill>
          <a:ln/>
        </p:spPr>
        <p:txBody>
          <a:bodyPr/>
          <a:lstStyle/>
          <a:p>
            <a:endParaRPr lang="en-SE"/>
          </a:p>
        </p:txBody>
      </p:sp>
      <p:sp>
        <p:nvSpPr>
          <p:cNvPr id="32" name="Text 30"/>
          <p:cNvSpPr/>
          <p:nvPr/>
        </p:nvSpPr>
        <p:spPr>
          <a:xfrm>
            <a:off x="4700016" y="3392424"/>
            <a:ext cx="274320" cy="274320"/>
          </a:xfrm>
          <a:prstGeom prst="rect">
            <a:avLst/>
          </a:prstGeom>
          <a:noFill/>
          <a:ln/>
        </p:spPr>
        <p:txBody>
          <a:bodyPr wrap="square" lIns="0" tIns="0" rIns="0" bIns="0" rtlCol="0" anchor="ctr"/>
          <a:lstStyle/>
          <a:p>
            <a:pPr marL="0" indent="0" algn="ctr">
              <a:buNone/>
            </a:pPr>
            <a:r>
              <a:rPr lang="en-US" sz="1200" b="1" dirty="0">
                <a:solidFill>
                  <a:srgbClr val="1B1B20"/>
                </a:solidFill>
                <a:latin typeface="Arial" pitchFamily="34" charset="0"/>
                <a:ea typeface="Arial" pitchFamily="34" charset="-122"/>
                <a:cs typeface="Arial" pitchFamily="34" charset="-120"/>
              </a:rPr>
              <a:t>4</a:t>
            </a:r>
            <a:endParaRPr lang="en-US" sz="1200" dirty="0"/>
          </a:p>
        </p:txBody>
      </p:sp>
      <p:sp>
        <p:nvSpPr>
          <p:cNvPr id="33" name="Text 31"/>
          <p:cNvSpPr/>
          <p:nvPr/>
        </p:nvSpPr>
        <p:spPr>
          <a:xfrm>
            <a:off x="5084064" y="3319272"/>
            <a:ext cx="1371600" cy="420624"/>
          </a:xfrm>
          <a:prstGeom prst="rect">
            <a:avLst/>
          </a:prstGeom>
          <a:noFill/>
          <a:ln/>
        </p:spPr>
        <p:txBody>
          <a:bodyPr wrap="square" lIns="0" tIns="0" rIns="0" bIns="0" rtlCol="0" anchor="ctr"/>
          <a:lstStyle/>
          <a:p>
            <a:pPr marL="0" indent="0">
              <a:buNone/>
            </a:pPr>
            <a:r>
              <a:rPr lang="en-US" sz="1150" b="1" dirty="0">
                <a:solidFill>
                  <a:srgbClr val="ECECEC"/>
                </a:solidFill>
                <a:latin typeface="Arial" pitchFamily="34" charset="0"/>
                <a:ea typeface="Arial" pitchFamily="34" charset="-122"/>
                <a:cs typeface="Arial" pitchFamily="34" charset="-120"/>
              </a:rPr>
              <a:t>Tie-break</a:t>
            </a:r>
            <a:endParaRPr lang="en-US" sz="1150" dirty="0"/>
          </a:p>
        </p:txBody>
      </p:sp>
      <p:sp>
        <p:nvSpPr>
          <p:cNvPr id="34" name="Text 32"/>
          <p:cNvSpPr/>
          <p:nvPr/>
        </p:nvSpPr>
        <p:spPr>
          <a:xfrm>
            <a:off x="6309360" y="3319272"/>
            <a:ext cx="2194560" cy="420624"/>
          </a:xfrm>
          <a:prstGeom prst="rect">
            <a:avLst/>
          </a:prstGeom>
          <a:noFill/>
          <a:ln/>
        </p:spPr>
        <p:txBody>
          <a:bodyPr wrap="square" lIns="0" tIns="0" rIns="0" bIns="0" rtlCol="0" anchor="ctr"/>
          <a:lstStyle/>
          <a:p>
            <a:pPr marL="0" indent="0">
              <a:lnSpc>
                <a:spcPct val="100000"/>
              </a:lnSpc>
              <a:buNone/>
            </a:pPr>
            <a:r>
              <a:rPr lang="en-US" sz="980" dirty="0">
                <a:solidFill>
                  <a:srgbClr val="B4B4BE"/>
                </a:solidFill>
                <a:latin typeface="Calibri" pitchFamily="34" charset="0"/>
                <a:ea typeface="Calibri" pitchFamily="34" charset="-122"/>
                <a:cs typeface="Calibri" pitchFamily="34" charset="-120"/>
              </a:rPr>
              <a:t>Smallest surplus, then lowest price.</a:t>
            </a:r>
            <a:endParaRPr lang="en-US" sz="980" dirty="0"/>
          </a:p>
        </p:txBody>
      </p:sp>
      <p:sp>
        <p:nvSpPr>
          <p:cNvPr id="35" name="card">
            <a:extLst>
              <a:ext uri="{C183D7F6-B498-43B3-948B-1728B52AA6E4}">
                <adec:decorative xmlns:adec="http://schemas.microsoft.com/office/drawing/2017/decorative" val="1"/>
              </a:ext>
            </a:extLst>
          </p:cNvPr>
          <p:cNvSpPr/>
          <p:nvPr/>
        </p:nvSpPr>
        <p:spPr>
          <a:xfrm>
            <a:off x="4572000" y="3858768"/>
            <a:ext cx="4023360" cy="512064"/>
          </a:xfrm>
          <a:prstGeom prst="roundRect">
            <a:avLst>
              <a:gd name="adj" fmla="val 10714"/>
            </a:avLst>
          </a:prstGeom>
          <a:solidFill>
            <a:srgbClr val="26262D"/>
          </a:solidFill>
          <a:ln w="12700">
            <a:solidFill>
              <a:srgbClr val="3B3B46"/>
            </a:solidFill>
            <a:prstDash val="solid"/>
          </a:ln>
        </p:spPr>
        <p:txBody>
          <a:bodyPr/>
          <a:lstStyle/>
          <a:p>
            <a:endParaRPr lang="en-SE"/>
          </a:p>
        </p:txBody>
      </p:sp>
      <p:sp>
        <p:nvSpPr>
          <p:cNvPr id="36" name="step num">
            <a:extLst>
              <a:ext uri="{C183D7F6-B498-43B3-948B-1728B52AA6E4}">
                <adec:decorative xmlns:adec="http://schemas.microsoft.com/office/drawing/2017/decorative" val="1"/>
              </a:ext>
            </a:extLst>
          </p:cNvPr>
          <p:cNvSpPr/>
          <p:nvPr/>
        </p:nvSpPr>
        <p:spPr>
          <a:xfrm>
            <a:off x="4700016" y="3977640"/>
            <a:ext cx="274320" cy="274320"/>
          </a:xfrm>
          <a:prstGeom prst="ellipse">
            <a:avLst/>
          </a:prstGeom>
          <a:solidFill>
            <a:srgbClr val="F2860D"/>
          </a:solidFill>
          <a:ln/>
        </p:spPr>
        <p:txBody>
          <a:bodyPr/>
          <a:lstStyle/>
          <a:p>
            <a:endParaRPr lang="en-SE"/>
          </a:p>
        </p:txBody>
      </p:sp>
      <p:sp>
        <p:nvSpPr>
          <p:cNvPr id="37" name="Text 35"/>
          <p:cNvSpPr/>
          <p:nvPr/>
        </p:nvSpPr>
        <p:spPr>
          <a:xfrm>
            <a:off x="4700016" y="3977640"/>
            <a:ext cx="274320" cy="274320"/>
          </a:xfrm>
          <a:prstGeom prst="rect">
            <a:avLst/>
          </a:prstGeom>
          <a:noFill/>
          <a:ln/>
        </p:spPr>
        <p:txBody>
          <a:bodyPr wrap="square" lIns="0" tIns="0" rIns="0" bIns="0" rtlCol="0" anchor="ctr"/>
          <a:lstStyle/>
          <a:p>
            <a:pPr marL="0" indent="0" algn="ctr">
              <a:buNone/>
            </a:pPr>
            <a:r>
              <a:rPr lang="en-US" sz="1200" b="1" dirty="0">
                <a:solidFill>
                  <a:srgbClr val="1B1B20"/>
                </a:solidFill>
                <a:latin typeface="Arial" pitchFamily="34" charset="0"/>
                <a:ea typeface="Arial" pitchFamily="34" charset="-122"/>
                <a:cs typeface="Arial" pitchFamily="34" charset="-120"/>
              </a:rPr>
              <a:t>5</a:t>
            </a:r>
            <a:endParaRPr lang="en-US" sz="1200" dirty="0"/>
          </a:p>
        </p:txBody>
      </p:sp>
      <p:sp>
        <p:nvSpPr>
          <p:cNvPr id="38" name="Text 36"/>
          <p:cNvSpPr/>
          <p:nvPr/>
        </p:nvSpPr>
        <p:spPr>
          <a:xfrm>
            <a:off x="5084064" y="3904488"/>
            <a:ext cx="1371600" cy="420624"/>
          </a:xfrm>
          <a:prstGeom prst="rect">
            <a:avLst/>
          </a:prstGeom>
          <a:noFill/>
          <a:ln/>
        </p:spPr>
        <p:txBody>
          <a:bodyPr wrap="square" lIns="0" tIns="0" rIns="0" bIns="0" rtlCol="0" anchor="ctr"/>
          <a:lstStyle/>
          <a:p>
            <a:pPr marL="0" indent="0">
              <a:buNone/>
            </a:pPr>
            <a:r>
              <a:rPr lang="en-US" sz="1150" b="1" dirty="0">
                <a:solidFill>
                  <a:srgbClr val="ECECEC"/>
                </a:solidFill>
                <a:latin typeface="Arial" pitchFamily="34" charset="0"/>
                <a:ea typeface="Arial" pitchFamily="34" charset="-122"/>
                <a:cs typeface="Arial" pitchFamily="34" charset="-120"/>
              </a:rPr>
              <a:t>Uncross</a:t>
            </a:r>
            <a:endParaRPr lang="en-US" sz="1150" dirty="0"/>
          </a:p>
        </p:txBody>
      </p:sp>
      <p:sp>
        <p:nvSpPr>
          <p:cNvPr id="39" name="Text 37"/>
          <p:cNvSpPr/>
          <p:nvPr/>
        </p:nvSpPr>
        <p:spPr>
          <a:xfrm>
            <a:off x="6309360" y="3904488"/>
            <a:ext cx="2194560" cy="420624"/>
          </a:xfrm>
          <a:prstGeom prst="rect">
            <a:avLst/>
          </a:prstGeom>
          <a:noFill/>
          <a:ln/>
        </p:spPr>
        <p:txBody>
          <a:bodyPr wrap="square" lIns="0" tIns="0" rIns="0" bIns="0" rtlCol="0" anchor="ctr"/>
          <a:lstStyle/>
          <a:p>
            <a:pPr marL="0" indent="0">
              <a:lnSpc>
                <a:spcPct val="100000"/>
              </a:lnSpc>
              <a:buNone/>
            </a:pPr>
            <a:r>
              <a:rPr lang="en-US" sz="980" dirty="0">
                <a:solidFill>
                  <a:srgbClr val="B4B4BE"/>
                </a:solidFill>
                <a:latin typeface="Calibri" pitchFamily="34" charset="0"/>
                <a:ea typeface="Calibri" pitchFamily="34" charset="-122"/>
                <a:cs typeface="Calibri" pitchFamily="34" charset="-120"/>
              </a:rPr>
              <a:t>All fills at the single P* — no slippage.</a:t>
            </a:r>
            <a:endParaRPr lang="en-US" sz="980" dirty="0"/>
          </a:p>
        </p:txBody>
      </p:sp>
      <p:sp>
        <p:nvSpPr>
          <p:cNvPr id="40" name="Text 38"/>
          <p:cNvSpPr/>
          <p:nvPr/>
        </p:nvSpPr>
        <p:spPr>
          <a:xfrm>
            <a:off x="566928" y="4498848"/>
            <a:ext cx="8010144" cy="274320"/>
          </a:xfrm>
          <a:prstGeom prst="rect">
            <a:avLst/>
          </a:prstGeom>
          <a:noFill/>
          <a:ln/>
        </p:spPr>
        <p:txBody>
          <a:bodyPr wrap="square" lIns="0" tIns="0" rIns="0" bIns="0" rtlCol="0" anchor="ctr"/>
          <a:lstStyle/>
          <a:p>
            <a:pPr marL="0" indent="0">
              <a:buNone/>
            </a:pPr>
            <a:r>
              <a:rPr lang="en-US" sz="1050" i="1" dirty="0">
                <a:solidFill>
                  <a:srgbClr val="C3CDD6"/>
                </a:solidFill>
                <a:latin typeface="Calibri" pitchFamily="34" charset="0"/>
                <a:ea typeface="Calibri" pitchFamily="34" charset="-122"/>
                <a:cs typeface="Calibri" pitchFamily="34" charset="-120"/>
              </a:rPr>
              <a:t>Result published on auction.result.{symbol} — price, matched qty, surplus &amp; imbalance side.</a:t>
            </a:r>
            <a:endParaRPr lang="en-US" sz="1050" dirty="0"/>
          </a:p>
        </p:txBody>
      </p:sp>
      <p:sp>
        <p:nvSpPr>
          <p:cNvPr id="42" name="Text 39"/>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43" name="Text 40"/>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31</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12 · PERSISTENCE</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What survives a restart</a:t>
            </a:r>
            <a:endParaRPr lang="en-US" sz="2900" dirty="0"/>
          </a:p>
        </p:txBody>
      </p:sp>
      <p:sp>
        <p:nvSpPr>
          <p:cNvPr id="5" name="Text 3"/>
          <p:cNvSpPr/>
          <p:nvPr/>
        </p:nvSpPr>
        <p:spPr>
          <a:xfrm>
            <a:off x="566928" y="1463040"/>
            <a:ext cx="8010144" cy="256032"/>
          </a:xfrm>
          <a:prstGeom prst="rect">
            <a:avLst/>
          </a:prstGeom>
          <a:noFill/>
          <a:ln/>
        </p:spPr>
        <p:txBody>
          <a:bodyPr wrap="square" lIns="0" tIns="0" rIns="0" bIns="0" rtlCol="0" anchor="ctr"/>
          <a:lstStyle/>
          <a:p>
            <a:pPr marL="0" indent="0">
              <a:buNone/>
            </a:pPr>
            <a:r>
              <a:rPr lang="en-US" sz="1250" b="1" dirty="0">
                <a:solidFill>
                  <a:srgbClr val="F2860D"/>
                </a:solidFill>
                <a:latin typeface="Arial" pitchFamily="34" charset="0"/>
                <a:ea typeface="Arial" pitchFamily="34" charset="-122"/>
                <a:cs typeface="Arial" pitchFamily="34" charset="-120"/>
              </a:rPr>
              <a:t>Engine state — rewritten on clean shutdown, reloaded at startup</a:t>
            </a:r>
            <a:endParaRPr lang="en-US" sz="1250" dirty="0"/>
          </a:p>
        </p:txBody>
      </p:sp>
      <p:sp>
        <p:nvSpPr>
          <p:cNvPr id="6" name="card">
            <a:extLst>
              <a:ext uri="{C183D7F6-B498-43B3-948B-1728B52AA6E4}">
                <adec:decorative xmlns:adec="http://schemas.microsoft.com/office/drawing/2017/decorative" val="1"/>
              </a:ext>
            </a:extLst>
          </p:cNvPr>
          <p:cNvSpPr/>
          <p:nvPr/>
        </p:nvSpPr>
        <p:spPr>
          <a:xfrm>
            <a:off x="566928" y="1792224"/>
            <a:ext cx="2624328" cy="969264"/>
          </a:xfrm>
          <a:prstGeom prst="roundRect">
            <a:avLst>
              <a:gd name="adj" fmla="val 566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file accent">
            <a:extLst>
              <a:ext uri="{C183D7F6-B498-43B3-948B-1728B52AA6E4}">
                <adec:decorative xmlns:adec="http://schemas.microsoft.com/office/drawing/2017/decorative" val="1"/>
              </a:ext>
            </a:extLst>
          </p:cNvPr>
          <p:cNvSpPr/>
          <p:nvPr/>
        </p:nvSpPr>
        <p:spPr>
          <a:xfrm>
            <a:off x="566928" y="1792224"/>
            <a:ext cx="2624328" cy="54864"/>
          </a:xfrm>
          <a:prstGeom prst="rect">
            <a:avLst/>
          </a:prstGeom>
          <a:solidFill>
            <a:srgbClr val="F2860D"/>
          </a:solidFill>
          <a:ln/>
        </p:spPr>
        <p:txBody>
          <a:bodyPr/>
          <a:lstStyle/>
          <a:p>
            <a:endParaRPr lang="en-SE"/>
          </a:p>
        </p:txBody>
      </p:sp>
      <p:sp>
        <p:nvSpPr>
          <p:cNvPr id="8" name="Text 6"/>
          <p:cNvSpPr/>
          <p:nvPr/>
        </p:nvSpPr>
        <p:spPr>
          <a:xfrm>
            <a:off x="731520" y="1938528"/>
            <a:ext cx="2350008" cy="274320"/>
          </a:xfrm>
          <a:prstGeom prst="rect">
            <a:avLst/>
          </a:prstGeom>
          <a:noFill/>
          <a:ln/>
        </p:spPr>
        <p:txBody>
          <a:bodyPr wrap="square" lIns="0" tIns="0" rIns="0" bIns="0" rtlCol="0" anchor="ctr"/>
          <a:lstStyle/>
          <a:p>
            <a:pPr marL="0" indent="0">
              <a:buNone/>
            </a:pPr>
            <a:r>
              <a:rPr lang="en-US" sz="1200" b="1" dirty="0">
                <a:solidFill>
                  <a:srgbClr val="ECECEC"/>
                </a:solidFill>
                <a:latin typeface="Courier New" pitchFamily="34" charset="0"/>
                <a:ea typeface="Courier New" pitchFamily="34" charset="-122"/>
                <a:cs typeface="Courier New" pitchFamily="34" charset="-120"/>
              </a:rPr>
              <a:t>gtc_orders.json</a:t>
            </a:r>
            <a:endParaRPr lang="en-US" sz="1200" dirty="0"/>
          </a:p>
        </p:txBody>
      </p:sp>
      <p:sp>
        <p:nvSpPr>
          <p:cNvPr id="9" name="Text 7"/>
          <p:cNvSpPr/>
          <p:nvPr/>
        </p:nvSpPr>
        <p:spPr>
          <a:xfrm>
            <a:off x="731520" y="2249424"/>
            <a:ext cx="2313432" cy="457200"/>
          </a:xfrm>
          <a:prstGeom prst="rect">
            <a:avLst/>
          </a:prstGeom>
          <a:noFill/>
          <a:ln/>
        </p:spPr>
        <p:txBody>
          <a:bodyPr wrap="square" lIns="0" tIns="0" rIns="0" bIns="0" rtlCol="0" anchor="t"/>
          <a:lstStyle/>
          <a:p>
            <a:pPr marL="0" indent="0">
              <a:lnSpc>
                <a:spcPct val="105000"/>
              </a:lnSpc>
              <a:buNone/>
            </a:pPr>
            <a:r>
              <a:rPr lang="en-US" sz="1000" dirty="0">
                <a:solidFill>
                  <a:srgbClr val="B4B4BE"/>
                </a:solidFill>
                <a:latin typeface="Calibri" pitchFamily="34" charset="0"/>
                <a:ea typeface="Calibri" pitchFamily="34" charset="-122"/>
                <a:cs typeface="Calibri" pitchFamily="34" charset="-120"/>
              </a:rPr>
              <a:t>Resting GTC orders — original price-time priority preserved</a:t>
            </a:r>
            <a:endParaRPr lang="en-US" sz="1000" dirty="0"/>
          </a:p>
        </p:txBody>
      </p:sp>
      <p:sp>
        <p:nvSpPr>
          <p:cNvPr id="10" name="card">
            <a:extLst>
              <a:ext uri="{C183D7F6-B498-43B3-948B-1728B52AA6E4}">
                <adec:decorative xmlns:adec="http://schemas.microsoft.com/office/drawing/2017/decorative" val="1"/>
              </a:ext>
            </a:extLst>
          </p:cNvPr>
          <p:cNvSpPr/>
          <p:nvPr/>
        </p:nvSpPr>
        <p:spPr>
          <a:xfrm>
            <a:off x="3337560" y="1792224"/>
            <a:ext cx="2624328" cy="969264"/>
          </a:xfrm>
          <a:prstGeom prst="roundRect">
            <a:avLst>
              <a:gd name="adj" fmla="val 566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file accent">
            <a:extLst>
              <a:ext uri="{C183D7F6-B498-43B3-948B-1728B52AA6E4}">
                <adec:decorative xmlns:adec="http://schemas.microsoft.com/office/drawing/2017/decorative" val="1"/>
              </a:ext>
            </a:extLst>
          </p:cNvPr>
          <p:cNvSpPr/>
          <p:nvPr/>
        </p:nvSpPr>
        <p:spPr>
          <a:xfrm>
            <a:off x="3337560" y="1792224"/>
            <a:ext cx="2624328" cy="54864"/>
          </a:xfrm>
          <a:prstGeom prst="rect">
            <a:avLst/>
          </a:prstGeom>
          <a:solidFill>
            <a:srgbClr val="F2860D"/>
          </a:solidFill>
          <a:ln/>
        </p:spPr>
        <p:txBody>
          <a:bodyPr/>
          <a:lstStyle/>
          <a:p>
            <a:endParaRPr lang="en-SE"/>
          </a:p>
        </p:txBody>
      </p:sp>
      <p:sp>
        <p:nvSpPr>
          <p:cNvPr id="12" name="Text 10"/>
          <p:cNvSpPr/>
          <p:nvPr/>
        </p:nvSpPr>
        <p:spPr>
          <a:xfrm>
            <a:off x="3502152" y="1938528"/>
            <a:ext cx="2350008" cy="274320"/>
          </a:xfrm>
          <a:prstGeom prst="rect">
            <a:avLst/>
          </a:prstGeom>
          <a:noFill/>
          <a:ln/>
        </p:spPr>
        <p:txBody>
          <a:bodyPr wrap="square" lIns="0" tIns="0" rIns="0" bIns="0" rtlCol="0" anchor="ctr"/>
          <a:lstStyle/>
          <a:p>
            <a:pPr marL="0" indent="0">
              <a:buNone/>
            </a:pPr>
            <a:r>
              <a:rPr lang="en-US" sz="1200" b="1" dirty="0">
                <a:solidFill>
                  <a:srgbClr val="ECECEC"/>
                </a:solidFill>
                <a:latin typeface="Courier New" pitchFamily="34" charset="0"/>
                <a:ea typeface="Courier New" pitchFamily="34" charset="-122"/>
                <a:cs typeface="Courier New" pitchFamily="34" charset="-120"/>
              </a:rPr>
              <a:t>gtc_combos.json</a:t>
            </a:r>
            <a:endParaRPr lang="en-US" sz="1200" dirty="0"/>
          </a:p>
        </p:txBody>
      </p:sp>
      <p:sp>
        <p:nvSpPr>
          <p:cNvPr id="13" name="Text 11"/>
          <p:cNvSpPr/>
          <p:nvPr/>
        </p:nvSpPr>
        <p:spPr>
          <a:xfrm>
            <a:off x="3502152" y="2249424"/>
            <a:ext cx="2313432" cy="457200"/>
          </a:xfrm>
          <a:prstGeom prst="rect">
            <a:avLst/>
          </a:prstGeom>
          <a:noFill/>
          <a:ln/>
        </p:spPr>
        <p:txBody>
          <a:bodyPr wrap="square" lIns="0" tIns="0" rIns="0" bIns="0" rtlCol="0" anchor="t"/>
          <a:lstStyle/>
          <a:p>
            <a:pPr marL="0" indent="0">
              <a:lnSpc>
                <a:spcPct val="105000"/>
              </a:lnSpc>
              <a:buNone/>
            </a:pPr>
            <a:r>
              <a:rPr lang="en-US" sz="1000" dirty="0">
                <a:solidFill>
                  <a:srgbClr val="B4B4BE"/>
                </a:solidFill>
                <a:latin typeface="Calibri" pitchFamily="34" charset="0"/>
                <a:ea typeface="Calibri" pitchFamily="34" charset="-122"/>
                <a:cs typeface="Calibri" pitchFamily="34" charset="-120"/>
              </a:rPr>
              <a:t>GTC combo parents &amp; child-leg links</a:t>
            </a:r>
            <a:endParaRPr lang="en-US" sz="1000" dirty="0"/>
          </a:p>
        </p:txBody>
      </p:sp>
      <p:sp>
        <p:nvSpPr>
          <p:cNvPr id="14" name="card">
            <a:extLst>
              <a:ext uri="{C183D7F6-B498-43B3-948B-1728B52AA6E4}">
                <adec:decorative xmlns:adec="http://schemas.microsoft.com/office/drawing/2017/decorative" val="1"/>
              </a:ext>
            </a:extLst>
          </p:cNvPr>
          <p:cNvSpPr/>
          <p:nvPr/>
        </p:nvSpPr>
        <p:spPr>
          <a:xfrm>
            <a:off x="6108192" y="1792224"/>
            <a:ext cx="2624328" cy="969264"/>
          </a:xfrm>
          <a:prstGeom prst="roundRect">
            <a:avLst>
              <a:gd name="adj" fmla="val 566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5" name="file accent">
            <a:extLst>
              <a:ext uri="{C183D7F6-B498-43B3-948B-1728B52AA6E4}">
                <adec:decorative xmlns:adec="http://schemas.microsoft.com/office/drawing/2017/decorative" val="1"/>
              </a:ext>
            </a:extLst>
          </p:cNvPr>
          <p:cNvSpPr/>
          <p:nvPr/>
        </p:nvSpPr>
        <p:spPr>
          <a:xfrm>
            <a:off x="6108192" y="1792224"/>
            <a:ext cx="2624328" cy="54864"/>
          </a:xfrm>
          <a:prstGeom prst="rect">
            <a:avLst/>
          </a:prstGeom>
          <a:solidFill>
            <a:srgbClr val="F2860D"/>
          </a:solidFill>
          <a:ln/>
        </p:spPr>
        <p:txBody>
          <a:bodyPr/>
          <a:lstStyle/>
          <a:p>
            <a:endParaRPr lang="en-SE"/>
          </a:p>
        </p:txBody>
      </p:sp>
      <p:sp>
        <p:nvSpPr>
          <p:cNvPr id="16" name="Text 14"/>
          <p:cNvSpPr/>
          <p:nvPr/>
        </p:nvSpPr>
        <p:spPr>
          <a:xfrm>
            <a:off x="6272784" y="1938528"/>
            <a:ext cx="2350008" cy="274320"/>
          </a:xfrm>
          <a:prstGeom prst="rect">
            <a:avLst/>
          </a:prstGeom>
          <a:noFill/>
          <a:ln/>
        </p:spPr>
        <p:txBody>
          <a:bodyPr wrap="square" lIns="0" tIns="0" rIns="0" bIns="0" rtlCol="0" anchor="ctr"/>
          <a:lstStyle/>
          <a:p>
            <a:pPr marL="0" indent="0">
              <a:buNone/>
            </a:pPr>
            <a:r>
              <a:rPr lang="en-US" sz="1200" b="1" dirty="0">
                <a:solidFill>
                  <a:srgbClr val="ECECEC"/>
                </a:solidFill>
                <a:latin typeface="Courier New" pitchFamily="34" charset="0"/>
                <a:ea typeface="Courier New" pitchFamily="34" charset="-122"/>
                <a:cs typeface="Courier New" pitchFamily="34" charset="-120"/>
              </a:rPr>
              <a:t>book_stats.json</a:t>
            </a:r>
            <a:endParaRPr lang="en-US" sz="1200" dirty="0"/>
          </a:p>
        </p:txBody>
      </p:sp>
      <p:sp>
        <p:nvSpPr>
          <p:cNvPr id="17" name="Text 15"/>
          <p:cNvSpPr/>
          <p:nvPr/>
        </p:nvSpPr>
        <p:spPr>
          <a:xfrm>
            <a:off x="6272784" y="2249424"/>
            <a:ext cx="2313432" cy="457200"/>
          </a:xfrm>
          <a:prstGeom prst="rect">
            <a:avLst/>
          </a:prstGeom>
          <a:noFill/>
          <a:ln/>
        </p:spPr>
        <p:txBody>
          <a:bodyPr wrap="square" lIns="0" tIns="0" rIns="0" bIns="0" rtlCol="0" anchor="t"/>
          <a:lstStyle/>
          <a:p>
            <a:pPr marL="0" indent="0">
              <a:lnSpc>
                <a:spcPct val="105000"/>
              </a:lnSpc>
              <a:buNone/>
            </a:pPr>
            <a:r>
              <a:rPr lang="en-US" sz="1000" dirty="0">
                <a:solidFill>
                  <a:srgbClr val="B4B4BE"/>
                </a:solidFill>
                <a:latin typeface="Calibri" pitchFamily="34" charset="0"/>
                <a:ea typeface="Calibri" pitchFamily="34" charset="-122"/>
                <a:cs typeface="Calibri" pitchFamily="34" charset="-120"/>
              </a:rPr>
              <a:t>last_buy / last_sell / prev_close per symbol</a:t>
            </a:r>
            <a:endParaRPr lang="en-US" sz="1000" dirty="0"/>
          </a:p>
        </p:txBody>
      </p:sp>
      <p:sp>
        <p:nvSpPr>
          <p:cNvPr id="18" name="Text 16"/>
          <p:cNvSpPr/>
          <p:nvPr/>
        </p:nvSpPr>
        <p:spPr>
          <a:xfrm>
            <a:off x="566928" y="2980944"/>
            <a:ext cx="8010144" cy="256032"/>
          </a:xfrm>
          <a:prstGeom prst="rect">
            <a:avLst/>
          </a:prstGeom>
          <a:noFill/>
          <a:ln/>
        </p:spPr>
        <p:txBody>
          <a:bodyPr wrap="square" lIns="0" tIns="0" rIns="0" bIns="0" rtlCol="0" anchor="ctr"/>
          <a:lstStyle/>
          <a:p>
            <a:pPr marL="0" indent="0">
              <a:buNone/>
            </a:pPr>
            <a:r>
              <a:rPr lang="en-US" sz="1250" b="1" dirty="0">
                <a:solidFill>
                  <a:srgbClr val="C3CDD6"/>
                </a:solidFill>
                <a:latin typeface="Arial" pitchFamily="34" charset="0"/>
                <a:ea typeface="Arial" pitchFamily="34" charset="-122"/>
                <a:cs typeface="Arial" pitchFamily="34" charset="-120"/>
              </a:rPr>
              <a:t>Accumulating stores — grow across sessions</a:t>
            </a:r>
            <a:endParaRPr lang="en-US" sz="1250" dirty="0"/>
          </a:p>
        </p:txBody>
      </p:sp>
      <p:sp>
        <p:nvSpPr>
          <p:cNvPr id="19" name="card">
            <a:extLst>
              <a:ext uri="{C183D7F6-B498-43B3-948B-1728B52AA6E4}">
                <adec:decorative xmlns:adec="http://schemas.microsoft.com/office/drawing/2017/decorative" val="1"/>
              </a:ext>
            </a:extLst>
          </p:cNvPr>
          <p:cNvSpPr/>
          <p:nvPr/>
        </p:nvSpPr>
        <p:spPr>
          <a:xfrm>
            <a:off x="566928" y="3310128"/>
            <a:ext cx="1938528" cy="731520"/>
          </a:xfrm>
          <a:prstGeom prst="roundRect">
            <a:avLst>
              <a:gd name="adj" fmla="val 7500"/>
            </a:avLst>
          </a:prstGeom>
          <a:solidFill>
            <a:srgbClr val="2E2E37"/>
          </a:solidFill>
          <a:ln w="12700">
            <a:solidFill>
              <a:srgbClr val="3B3B46"/>
            </a:solidFill>
            <a:prstDash val="solid"/>
          </a:ln>
        </p:spPr>
        <p:txBody>
          <a:bodyPr/>
          <a:lstStyle/>
          <a:p>
            <a:endParaRPr lang="en-SE"/>
          </a:p>
        </p:txBody>
      </p:sp>
      <p:sp>
        <p:nvSpPr>
          <p:cNvPr id="20" name="Text 18"/>
          <p:cNvSpPr/>
          <p:nvPr/>
        </p:nvSpPr>
        <p:spPr>
          <a:xfrm>
            <a:off x="713232" y="3419856"/>
            <a:ext cx="1682496" cy="274320"/>
          </a:xfrm>
          <a:prstGeom prst="rect">
            <a:avLst/>
          </a:prstGeom>
          <a:noFill/>
          <a:ln/>
        </p:spPr>
        <p:txBody>
          <a:bodyPr wrap="square" lIns="0" tIns="0" rIns="0" bIns="0" rtlCol="0" anchor="ctr"/>
          <a:lstStyle/>
          <a:p>
            <a:pPr marL="0" indent="0">
              <a:buNone/>
            </a:pPr>
            <a:r>
              <a:rPr lang="en-US" sz="1100" b="1" dirty="0">
                <a:solidFill>
                  <a:srgbClr val="C3CDD6"/>
                </a:solidFill>
                <a:latin typeface="Courier New" pitchFamily="34" charset="0"/>
                <a:ea typeface="Courier New" pitchFamily="34" charset="-122"/>
                <a:cs typeface="Courier New" pitchFamily="34" charset="-120"/>
              </a:rPr>
              <a:t>stats.db</a:t>
            </a:r>
            <a:endParaRPr lang="en-US" sz="1100" dirty="0"/>
          </a:p>
        </p:txBody>
      </p:sp>
      <p:sp>
        <p:nvSpPr>
          <p:cNvPr id="21" name="Text 19"/>
          <p:cNvSpPr/>
          <p:nvPr/>
        </p:nvSpPr>
        <p:spPr>
          <a:xfrm>
            <a:off x="713232" y="3712464"/>
            <a:ext cx="1682496" cy="274320"/>
          </a:xfrm>
          <a:prstGeom prst="rect">
            <a:avLst/>
          </a:prstGeom>
          <a:noFill/>
          <a:ln/>
        </p:spPr>
        <p:txBody>
          <a:bodyPr wrap="square" lIns="0" tIns="0" rIns="0" bIns="0" rtlCol="0" anchor="ctr"/>
          <a:lstStyle/>
          <a:p>
            <a:pPr marL="0" indent="0">
              <a:buNone/>
            </a:pPr>
            <a:r>
              <a:rPr lang="en-US" sz="950" dirty="0">
                <a:solidFill>
                  <a:srgbClr val="B4B4BE"/>
                </a:solidFill>
                <a:latin typeface="Calibri" pitchFamily="34" charset="0"/>
                <a:ea typeface="Calibri" pitchFamily="34" charset="-122"/>
                <a:cs typeface="Calibri" pitchFamily="34" charset="-120"/>
              </a:rPr>
              <a:t>OHLCV · snapshots</a:t>
            </a:r>
            <a:endParaRPr lang="en-US" sz="950" dirty="0"/>
          </a:p>
        </p:txBody>
      </p:sp>
      <p:sp>
        <p:nvSpPr>
          <p:cNvPr id="22" name="card">
            <a:extLst>
              <a:ext uri="{C183D7F6-B498-43B3-948B-1728B52AA6E4}">
                <adec:decorative xmlns:adec="http://schemas.microsoft.com/office/drawing/2017/decorative" val="1"/>
              </a:ext>
            </a:extLst>
          </p:cNvPr>
          <p:cNvSpPr/>
          <p:nvPr/>
        </p:nvSpPr>
        <p:spPr>
          <a:xfrm>
            <a:off x="2651760" y="3310128"/>
            <a:ext cx="1938528" cy="731520"/>
          </a:xfrm>
          <a:prstGeom prst="roundRect">
            <a:avLst>
              <a:gd name="adj" fmla="val 7500"/>
            </a:avLst>
          </a:prstGeom>
          <a:solidFill>
            <a:srgbClr val="2E2E37"/>
          </a:solidFill>
          <a:ln w="12700">
            <a:solidFill>
              <a:srgbClr val="3B3B46"/>
            </a:solidFill>
            <a:prstDash val="solid"/>
          </a:ln>
        </p:spPr>
        <p:txBody>
          <a:bodyPr/>
          <a:lstStyle/>
          <a:p>
            <a:endParaRPr lang="en-SE"/>
          </a:p>
        </p:txBody>
      </p:sp>
      <p:sp>
        <p:nvSpPr>
          <p:cNvPr id="23" name="Text 21"/>
          <p:cNvSpPr/>
          <p:nvPr/>
        </p:nvSpPr>
        <p:spPr>
          <a:xfrm>
            <a:off x="2798064" y="3419856"/>
            <a:ext cx="1682496" cy="274320"/>
          </a:xfrm>
          <a:prstGeom prst="rect">
            <a:avLst/>
          </a:prstGeom>
          <a:noFill/>
          <a:ln/>
        </p:spPr>
        <p:txBody>
          <a:bodyPr wrap="square" lIns="0" tIns="0" rIns="0" bIns="0" rtlCol="0" anchor="ctr"/>
          <a:lstStyle/>
          <a:p>
            <a:pPr marL="0" indent="0">
              <a:buNone/>
            </a:pPr>
            <a:r>
              <a:rPr lang="en-US" sz="1100" b="1" dirty="0">
                <a:solidFill>
                  <a:srgbClr val="C3CDD6"/>
                </a:solidFill>
                <a:latin typeface="Courier New" pitchFamily="34" charset="0"/>
                <a:ea typeface="Courier New" pitchFamily="34" charset="-122"/>
                <a:cs typeface="Courier New" pitchFamily="34" charset="-120"/>
              </a:rPr>
              <a:t>clearing.db</a:t>
            </a:r>
            <a:endParaRPr lang="en-US" sz="1100" dirty="0"/>
          </a:p>
        </p:txBody>
      </p:sp>
      <p:sp>
        <p:nvSpPr>
          <p:cNvPr id="24" name="Text 22"/>
          <p:cNvSpPr/>
          <p:nvPr/>
        </p:nvSpPr>
        <p:spPr>
          <a:xfrm>
            <a:off x="2798064" y="3712464"/>
            <a:ext cx="1682496" cy="274320"/>
          </a:xfrm>
          <a:prstGeom prst="rect">
            <a:avLst/>
          </a:prstGeom>
          <a:noFill/>
          <a:ln/>
        </p:spPr>
        <p:txBody>
          <a:bodyPr wrap="square" lIns="0" tIns="0" rIns="0" bIns="0" rtlCol="0" anchor="ctr"/>
          <a:lstStyle/>
          <a:p>
            <a:pPr marL="0" indent="0">
              <a:buNone/>
            </a:pPr>
            <a:r>
              <a:rPr lang="en-US" sz="950" dirty="0">
                <a:solidFill>
                  <a:srgbClr val="B4B4BE"/>
                </a:solidFill>
                <a:latin typeface="Calibri" pitchFamily="34" charset="0"/>
                <a:ea typeface="Calibri" pitchFamily="34" charset="-122"/>
                <a:cs typeface="Calibri" pitchFamily="34" charset="-120"/>
              </a:rPr>
              <a:t>positions · P&amp;L</a:t>
            </a:r>
            <a:endParaRPr lang="en-US" sz="950" dirty="0"/>
          </a:p>
        </p:txBody>
      </p:sp>
      <p:sp>
        <p:nvSpPr>
          <p:cNvPr id="25" name="card">
            <a:extLst>
              <a:ext uri="{C183D7F6-B498-43B3-948B-1728B52AA6E4}">
                <adec:decorative xmlns:adec="http://schemas.microsoft.com/office/drawing/2017/decorative" val="1"/>
              </a:ext>
            </a:extLst>
          </p:cNvPr>
          <p:cNvSpPr/>
          <p:nvPr/>
        </p:nvSpPr>
        <p:spPr>
          <a:xfrm>
            <a:off x="4736592" y="3310128"/>
            <a:ext cx="1938528" cy="731520"/>
          </a:xfrm>
          <a:prstGeom prst="roundRect">
            <a:avLst>
              <a:gd name="adj" fmla="val 7500"/>
            </a:avLst>
          </a:prstGeom>
          <a:solidFill>
            <a:srgbClr val="2E2E37"/>
          </a:solidFill>
          <a:ln w="12700">
            <a:solidFill>
              <a:srgbClr val="3B3B46"/>
            </a:solidFill>
            <a:prstDash val="solid"/>
          </a:ln>
        </p:spPr>
        <p:txBody>
          <a:bodyPr/>
          <a:lstStyle/>
          <a:p>
            <a:endParaRPr lang="en-SE"/>
          </a:p>
        </p:txBody>
      </p:sp>
      <p:sp>
        <p:nvSpPr>
          <p:cNvPr id="26" name="Text 24"/>
          <p:cNvSpPr/>
          <p:nvPr/>
        </p:nvSpPr>
        <p:spPr>
          <a:xfrm>
            <a:off x="4882896" y="3419856"/>
            <a:ext cx="1682496" cy="274320"/>
          </a:xfrm>
          <a:prstGeom prst="rect">
            <a:avLst/>
          </a:prstGeom>
          <a:noFill/>
          <a:ln/>
        </p:spPr>
        <p:txBody>
          <a:bodyPr wrap="square" lIns="0" tIns="0" rIns="0" bIns="0" rtlCol="0" anchor="ctr"/>
          <a:lstStyle/>
          <a:p>
            <a:pPr marL="0" indent="0">
              <a:buNone/>
            </a:pPr>
            <a:r>
              <a:rPr lang="en-US" sz="1100" b="1" dirty="0">
                <a:solidFill>
                  <a:srgbClr val="C3CDD6"/>
                </a:solidFill>
                <a:latin typeface="Courier New" pitchFamily="34" charset="0"/>
                <a:ea typeface="Courier New" pitchFamily="34" charset="-122"/>
                <a:cs typeface="Courier New" pitchFamily="34" charset="-120"/>
              </a:rPr>
              <a:t>audit.log</a:t>
            </a:r>
            <a:endParaRPr lang="en-US" sz="1100" dirty="0"/>
          </a:p>
        </p:txBody>
      </p:sp>
      <p:sp>
        <p:nvSpPr>
          <p:cNvPr id="27" name="Text 25"/>
          <p:cNvSpPr/>
          <p:nvPr/>
        </p:nvSpPr>
        <p:spPr>
          <a:xfrm>
            <a:off x="4882896" y="3712464"/>
            <a:ext cx="1682496" cy="274320"/>
          </a:xfrm>
          <a:prstGeom prst="rect">
            <a:avLst/>
          </a:prstGeom>
          <a:noFill/>
          <a:ln/>
        </p:spPr>
        <p:txBody>
          <a:bodyPr wrap="square" lIns="0" tIns="0" rIns="0" bIns="0" rtlCol="0" anchor="ctr"/>
          <a:lstStyle/>
          <a:p>
            <a:pPr marL="0" indent="0">
              <a:buNone/>
            </a:pPr>
            <a:r>
              <a:rPr lang="en-US" sz="950" dirty="0">
                <a:solidFill>
                  <a:srgbClr val="B4B4BE"/>
                </a:solidFill>
                <a:latin typeface="Calibri" pitchFamily="34" charset="0"/>
                <a:ea typeface="Calibri" pitchFamily="34" charset="-122"/>
                <a:cs typeface="Calibri" pitchFamily="34" charset="-120"/>
              </a:rPr>
              <a:t>full event log · 10 MB × 5</a:t>
            </a:r>
            <a:endParaRPr lang="en-US" sz="950" dirty="0"/>
          </a:p>
        </p:txBody>
      </p:sp>
      <p:sp>
        <p:nvSpPr>
          <p:cNvPr id="28" name="card">
            <a:extLst>
              <a:ext uri="{C183D7F6-B498-43B3-948B-1728B52AA6E4}">
                <adec:decorative xmlns:adec="http://schemas.microsoft.com/office/drawing/2017/decorative" val="1"/>
              </a:ext>
            </a:extLst>
          </p:cNvPr>
          <p:cNvSpPr/>
          <p:nvPr/>
        </p:nvSpPr>
        <p:spPr>
          <a:xfrm>
            <a:off x="6821424" y="3310128"/>
            <a:ext cx="1938528" cy="731520"/>
          </a:xfrm>
          <a:prstGeom prst="roundRect">
            <a:avLst>
              <a:gd name="adj" fmla="val 7500"/>
            </a:avLst>
          </a:prstGeom>
          <a:solidFill>
            <a:srgbClr val="2E2E37"/>
          </a:solidFill>
          <a:ln w="12700">
            <a:solidFill>
              <a:srgbClr val="3B3B46"/>
            </a:solidFill>
            <a:prstDash val="solid"/>
          </a:ln>
        </p:spPr>
        <p:txBody>
          <a:bodyPr/>
          <a:lstStyle/>
          <a:p>
            <a:endParaRPr lang="en-SE"/>
          </a:p>
        </p:txBody>
      </p:sp>
      <p:sp>
        <p:nvSpPr>
          <p:cNvPr id="29" name="Text 27"/>
          <p:cNvSpPr/>
          <p:nvPr/>
        </p:nvSpPr>
        <p:spPr>
          <a:xfrm>
            <a:off x="6967728" y="3419856"/>
            <a:ext cx="1682496" cy="274320"/>
          </a:xfrm>
          <a:prstGeom prst="rect">
            <a:avLst/>
          </a:prstGeom>
          <a:noFill/>
          <a:ln/>
        </p:spPr>
        <p:txBody>
          <a:bodyPr wrap="square" lIns="0" tIns="0" rIns="0" bIns="0" rtlCol="0" anchor="ctr"/>
          <a:lstStyle/>
          <a:p>
            <a:pPr marL="0" indent="0">
              <a:buNone/>
            </a:pPr>
            <a:r>
              <a:rPr lang="en-US" sz="1100" b="1" dirty="0">
                <a:solidFill>
                  <a:srgbClr val="C3CDD6"/>
                </a:solidFill>
                <a:latin typeface="Courier New" pitchFamily="34" charset="0"/>
                <a:ea typeface="Courier New" pitchFamily="34" charset="-122"/>
                <a:cs typeface="Courier New" pitchFamily="34" charset="-120"/>
              </a:rPr>
              <a:t>indexes/*.jsonl</a:t>
            </a:r>
            <a:endParaRPr lang="en-US" sz="1100" dirty="0"/>
          </a:p>
        </p:txBody>
      </p:sp>
      <p:sp>
        <p:nvSpPr>
          <p:cNvPr id="30" name="Text 28"/>
          <p:cNvSpPr/>
          <p:nvPr/>
        </p:nvSpPr>
        <p:spPr>
          <a:xfrm>
            <a:off x="6967728" y="3712464"/>
            <a:ext cx="1682496" cy="274320"/>
          </a:xfrm>
          <a:prstGeom prst="rect">
            <a:avLst/>
          </a:prstGeom>
          <a:noFill/>
          <a:ln/>
        </p:spPr>
        <p:txBody>
          <a:bodyPr wrap="square" lIns="0" tIns="0" rIns="0" bIns="0" rtlCol="0" anchor="ctr"/>
          <a:lstStyle/>
          <a:p>
            <a:pPr marL="0" indent="0">
              <a:buNone/>
            </a:pPr>
            <a:r>
              <a:rPr lang="en-US" sz="950" dirty="0">
                <a:solidFill>
                  <a:srgbClr val="B4B4BE"/>
                </a:solidFill>
                <a:latin typeface="Calibri" pitchFamily="34" charset="0"/>
                <a:ea typeface="Calibri" pitchFamily="34" charset="-122"/>
                <a:cs typeface="Calibri" pitchFamily="34" charset="-120"/>
              </a:rPr>
              <a:t>index history</a:t>
            </a:r>
            <a:endParaRPr lang="en-US" sz="950" dirty="0"/>
          </a:p>
        </p:txBody>
      </p:sp>
      <p:sp>
        <p:nvSpPr>
          <p:cNvPr id="31" name="Text 29"/>
          <p:cNvSpPr/>
          <p:nvPr/>
        </p:nvSpPr>
        <p:spPr>
          <a:xfrm>
            <a:off x="566928" y="4224528"/>
            <a:ext cx="8010144" cy="457200"/>
          </a:xfrm>
          <a:prstGeom prst="rect">
            <a:avLst/>
          </a:prstGeom>
          <a:noFill/>
          <a:ln/>
        </p:spPr>
        <p:txBody>
          <a:bodyPr wrap="square" lIns="0" tIns="0" rIns="0" bIns="0" rtlCol="0" anchor="t"/>
          <a:lstStyle/>
          <a:p>
            <a:pPr marL="0" indent="0">
              <a:lnSpc>
                <a:spcPct val="105000"/>
              </a:lnSpc>
              <a:buNone/>
            </a:pPr>
            <a:r>
              <a:rPr lang="en-US" sz="1050" i="1" dirty="0">
                <a:solidFill>
                  <a:srgbClr val="B4B4BE"/>
                </a:solidFill>
                <a:latin typeface="Calibri" pitchFamily="34" charset="0"/>
                <a:ea typeface="Calibri" pitchFamily="34" charset="-122"/>
                <a:cs typeface="Calibri" pitchFamily="34" charset="-120"/>
              </a:rPr>
              <a:t>Ctrl-C writes state and emits system.eod; SIGKILL skips it. Malformed JSON → empty state, startup never fails. Order IDs are UUID4, stable across restarts.</a:t>
            </a:r>
            <a:endParaRPr lang="en-US" sz="1050" dirty="0"/>
          </a:p>
        </p:txBody>
      </p:sp>
      <p:sp>
        <p:nvSpPr>
          <p:cNvPr id="33" name="Text 30"/>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34" name="Text 31"/>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32</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13 · ANALYTICS</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Statistics, reporting &amp; the index</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481328"/>
            <a:ext cx="3977640" cy="2926080"/>
          </a:xfrm>
          <a:prstGeom prst="roundRect">
            <a:avLst>
              <a:gd name="adj" fmla="val 1875"/>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accent">
            <a:extLst>
              <a:ext uri="{C183D7F6-B498-43B3-948B-1728B52AA6E4}">
                <adec:decorative xmlns:adec="http://schemas.microsoft.com/office/drawing/2017/decorative" val="1"/>
              </a:ext>
            </a:extLst>
          </p:cNvPr>
          <p:cNvSpPr/>
          <p:nvPr/>
        </p:nvSpPr>
        <p:spPr>
          <a:xfrm>
            <a:off x="566928" y="1481328"/>
            <a:ext cx="3977640" cy="54864"/>
          </a:xfrm>
          <a:prstGeom prst="rect">
            <a:avLst/>
          </a:prstGeom>
          <a:solidFill>
            <a:srgbClr val="4FB3CC"/>
          </a:solidFill>
          <a:ln/>
        </p:spPr>
        <p:txBody>
          <a:bodyPr/>
          <a:lstStyle/>
          <a:p>
            <a:endParaRPr lang="en-SE"/>
          </a:p>
        </p:txBody>
      </p:sp>
      <p:sp>
        <p:nvSpPr>
          <p:cNvPr id="7" name="Text 5"/>
          <p:cNvSpPr/>
          <p:nvPr/>
        </p:nvSpPr>
        <p:spPr>
          <a:xfrm>
            <a:off x="768096" y="1627632"/>
            <a:ext cx="3611880" cy="292608"/>
          </a:xfrm>
          <a:prstGeom prst="rect">
            <a:avLst/>
          </a:prstGeom>
          <a:noFill/>
          <a:ln/>
        </p:spPr>
        <p:txBody>
          <a:bodyPr wrap="square" lIns="0" tIns="0" rIns="0" bIns="0" rtlCol="0" anchor="ctr"/>
          <a:lstStyle/>
          <a:p>
            <a:pPr marL="0" indent="0">
              <a:buNone/>
            </a:pPr>
            <a:r>
              <a:rPr lang="en-US" sz="1400" b="1" dirty="0">
                <a:solidFill>
                  <a:srgbClr val="4FB3CC"/>
                </a:solidFill>
                <a:latin typeface="Arial" pitchFamily="34" charset="0"/>
                <a:ea typeface="Arial" pitchFamily="34" charset="-122"/>
                <a:cs typeface="Arial" pitchFamily="34" charset="-120"/>
              </a:rPr>
              <a:t>pm-stats  →  stats.db</a:t>
            </a:r>
            <a:endParaRPr lang="en-US" sz="1400" dirty="0"/>
          </a:p>
        </p:txBody>
      </p:sp>
      <p:sp>
        <p:nvSpPr>
          <p:cNvPr id="8" name="Text 6"/>
          <p:cNvSpPr/>
          <p:nvPr/>
        </p:nvSpPr>
        <p:spPr>
          <a:xfrm>
            <a:off x="768096" y="1975104"/>
            <a:ext cx="3575304" cy="548640"/>
          </a:xfrm>
          <a:prstGeom prst="rect">
            <a:avLst/>
          </a:prstGeom>
          <a:noFill/>
          <a:ln/>
        </p:spPr>
        <p:txBody>
          <a:bodyPr wrap="square" lIns="0" tIns="0" rIns="0" bIns="0" rtlCol="0" anchor="t"/>
          <a:lstStyle/>
          <a:p>
            <a:pPr marL="0" indent="0">
              <a:lnSpc>
                <a:spcPct val="108000"/>
              </a:lnSpc>
              <a:buNone/>
            </a:pPr>
            <a:r>
              <a:rPr lang="en-US" sz="1100" dirty="0">
                <a:solidFill>
                  <a:srgbClr val="B4B4BE"/>
                </a:solidFill>
                <a:latin typeface="Calibri" pitchFamily="34" charset="0"/>
                <a:ea typeface="Calibri" pitchFamily="34" charset="-122"/>
                <a:cs typeface="Calibri" pitchFamily="34" charset="-120"/>
              </a:rPr>
              <a:t>Subscribes to trades, book &amp; index updates. Records OHLCV daily stats and 15-min intraday snapshots.</a:t>
            </a:r>
            <a:endParaRPr lang="en-US" sz="1100" dirty="0"/>
          </a:p>
        </p:txBody>
      </p:sp>
      <p:sp>
        <p:nvSpPr>
          <p:cNvPr id="9" name="Text 7"/>
          <p:cNvSpPr/>
          <p:nvPr/>
        </p:nvSpPr>
        <p:spPr>
          <a:xfrm>
            <a:off x="768096" y="2578608"/>
            <a:ext cx="3575304" cy="237744"/>
          </a:xfrm>
          <a:prstGeom prst="rect">
            <a:avLst/>
          </a:prstGeom>
          <a:noFill/>
          <a:ln/>
        </p:spPr>
        <p:txBody>
          <a:bodyPr wrap="square" lIns="0" tIns="0" rIns="0" bIns="0" rtlCol="0" anchor="ctr"/>
          <a:lstStyle/>
          <a:p>
            <a:pPr marL="0" indent="0">
              <a:buNone/>
            </a:pPr>
            <a:r>
              <a:rPr lang="en-US" sz="1100" b="1" dirty="0">
                <a:solidFill>
                  <a:srgbClr val="ECECEC"/>
                </a:solidFill>
                <a:latin typeface="Arial" pitchFamily="34" charset="0"/>
                <a:ea typeface="Arial" pitchFamily="34" charset="-122"/>
                <a:cs typeface="Arial" pitchFamily="34" charset="-120"/>
              </a:rPr>
              <a:t>Tables</a:t>
            </a:r>
            <a:endParaRPr lang="en-US" sz="1100" dirty="0"/>
          </a:p>
        </p:txBody>
      </p:sp>
      <p:sp>
        <p:nvSpPr>
          <p:cNvPr id="10" name="Text 8"/>
          <p:cNvSpPr/>
          <p:nvPr/>
        </p:nvSpPr>
        <p:spPr>
          <a:xfrm>
            <a:off x="768096" y="2834640"/>
            <a:ext cx="3575304" cy="1005840"/>
          </a:xfrm>
          <a:prstGeom prst="rect">
            <a:avLst/>
          </a:prstGeom>
          <a:noFill/>
          <a:ln/>
        </p:spPr>
        <p:txBody>
          <a:bodyPr wrap="square" lIns="0" tIns="0" rIns="0" bIns="0" rtlCol="0" anchor="t"/>
          <a:lstStyle/>
          <a:p>
            <a:pPr marL="0" indent="0">
              <a:lnSpc>
                <a:spcPct val="100000"/>
              </a:lnSpc>
              <a:spcAft>
                <a:spcPts val="200"/>
              </a:spcAft>
              <a:buNone/>
            </a:pPr>
            <a:r>
              <a:rPr lang="en-US" sz="1050" dirty="0">
                <a:solidFill>
                  <a:srgbClr val="C3CDD6"/>
                </a:solidFill>
                <a:latin typeface="Courier New" pitchFamily="34" charset="0"/>
                <a:ea typeface="Courier New" pitchFamily="34" charset="-122"/>
                <a:cs typeface="Courier New" pitchFamily="34" charset="-120"/>
              </a:rPr>
              <a:t>daily_stats</a:t>
            </a:r>
            <a:endParaRPr lang="en-US" sz="1050" dirty="0"/>
          </a:p>
          <a:p>
            <a:pPr marL="0" indent="0">
              <a:lnSpc>
                <a:spcPct val="100000"/>
              </a:lnSpc>
              <a:spcAft>
                <a:spcPts val="200"/>
              </a:spcAft>
              <a:buNone/>
            </a:pPr>
            <a:r>
              <a:rPr lang="en-US" sz="1050" dirty="0">
                <a:solidFill>
                  <a:srgbClr val="C3CDD6"/>
                </a:solidFill>
                <a:latin typeface="Courier New" pitchFamily="34" charset="0"/>
                <a:ea typeface="Courier New" pitchFamily="34" charset="-122"/>
                <a:cs typeface="Courier New" pitchFamily="34" charset="-120"/>
              </a:rPr>
              <a:t>price_snapshots</a:t>
            </a:r>
            <a:endParaRPr lang="en-US" sz="1050" dirty="0"/>
          </a:p>
          <a:p>
            <a:pPr marL="0" indent="0">
              <a:lnSpc>
                <a:spcPct val="100000"/>
              </a:lnSpc>
              <a:spcAft>
                <a:spcPts val="200"/>
              </a:spcAft>
              <a:buNone/>
            </a:pPr>
            <a:r>
              <a:rPr lang="en-US" sz="1050" dirty="0">
                <a:solidFill>
                  <a:srgbClr val="C3CDD6"/>
                </a:solidFill>
                <a:latin typeface="Courier New" pitchFamily="34" charset="0"/>
                <a:ea typeface="Courier New" pitchFamily="34" charset="-122"/>
                <a:cs typeface="Courier New" pitchFamily="34" charset="-120"/>
              </a:rPr>
              <a:t>trade_log</a:t>
            </a:r>
            <a:endParaRPr lang="en-US" sz="1050" dirty="0"/>
          </a:p>
          <a:p>
            <a:pPr marL="0" indent="0">
              <a:lnSpc>
                <a:spcPct val="100000"/>
              </a:lnSpc>
              <a:spcAft>
                <a:spcPts val="200"/>
              </a:spcAft>
              <a:buNone/>
            </a:pPr>
            <a:r>
              <a:rPr lang="en-US" sz="1050" dirty="0">
                <a:solidFill>
                  <a:srgbClr val="C3CDD6"/>
                </a:solidFill>
                <a:latin typeface="Courier New" pitchFamily="34" charset="0"/>
                <a:ea typeface="Courier New" pitchFamily="34" charset="-122"/>
                <a:cs typeface="Courier New" pitchFamily="34" charset="-120"/>
              </a:rPr>
              <a:t>order_events</a:t>
            </a:r>
            <a:endParaRPr lang="en-US" sz="1050" dirty="0"/>
          </a:p>
          <a:p>
            <a:pPr marL="0" indent="0">
              <a:lnSpc>
                <a:spcPct val="100000"/>
              </a:lnSpc>
              <a:spcAft>
                <a:spcPts val="200"/>
              </a:spcAft>
              <a:buNone/>
            </a:pPr>
            <a:r>
              <a:rPr lang="en-US" sz="1050" dirty="0">
                <a:solidFill>
                  <a:srgbClr val="C3CDD6"/>
                </a:solidFill>
                <a:latin typeface="Courier New" pitchFamily="34" charset="0"/>
                <a:ea typeface="Courier New" pitchFamily="34" charset="-122"/>
                <a:cs typeface="Courier New" pitchFamily="34" charset="-120"/>
              </a:rPr>
              <a:t>index_daily_stats</a:t>
            </a:r>
            <a:endParaRPr lang="en-US" sz="1050" dirty="0"/>
          </a:p>
          <a:p>
            <a:pPr marL="0" indent="0">
              <a:lnSpc>
                <a:spcPct val="100000"/>
              </a:lnSpc>
              <a:spcAft>
                <a:spcPts val="200"/>
              </a:spcAft>
              <a:buNone/>
            </a:pPr>
            <a:r>
              <a:rPr lang="en-US" sz="1050" dirty="0">
                <a:solidFill>
                  <a:srgbClr val="C3CDD6"/>
                </a:solidFill>
                <a:latin typeface="Courier New" pitchFamily="34" charset="0"/>
                <a:ea typeface="Courier New" pitchFamily="34" charset="-122"/>
                <a:cs typeface="Courier New" pitchFamily="34" charset="-120"/>
              </a:rPr>
              <a:t>index_level_snapshots</a:t>
            </a:r>
            <a:endParaRPr lang="en-US" sz="1050" dirty="0"/>
          </a:p>
        </p:txBody>
      </p:sp>
      <p:sp>
        <p:nvSpPr>
          <p:cNvPr id="11" name="Text 9"/>
          <p:cNvSpPr/>
          <p:nvPr/>
        </p:nvSpPr>
        <p:spPr>
          <a:xfrm>
            <a:off x="768096" y="4059936"/>
            <a:ext cx="3575304" cy="310896"/>
          </a:xfrm>
          <a:prstGeom prst="rect">
            <a:avLst/>
          </a:prstGeom>
          <a:noFill/>
          <a:ln/>
        </p:spPr>
        <p:txBody>
          <a:bodyPr wrap="square" lIns="0" tIns="0" rIns="0" bIns="0" rtlCol="0" anchor="t"/>
          <a:lstStyle/>
          <a:p>
            <a:pPr marL="0" indent="0">
              <a:buNone/>
            </a:pPr>
            <a:r>
              <a:rPr lang="en-US" sz="980" i="1" dirty="0">
                <a:solidFill>
                  <a:srgbClr val="B4B4BE"/>
                </a:solidFill>
                <a:latin typeface="Calibri" pitchFamily="34" charset="0"/>
                <a:ea typeface="Calibri" pitchFamily="34" charset="-122"/>
                <a:cs typeface="Calibri" pitchFamily="34" charset="-120"/>
              </a:rPr>
              <a:t>pm-stats-cli: daily · trades · order-lifecycle · index-daily (table / JSON / CSV)</a:t>
            </a:r>
            <a:endParaRPr lang="en-US" sz="980" dirty="0"/>
          </a:p>
        </p:txBody>
      </p:sp>
      <p:sp>
        <p:nvSpPr>
          <p:cNvPr id="12" name="card">
            <a:extLst>
              <a:ext uri="{C183D7F6-B498-43B3-948B-1728B52AA6E4}">
                <adec:decorative xmlns:adec="http://schemas.microsoft.com/office/drawing/2017/decorative" val="1"/>
              </a:ext>
            </a:extLst>
          </p:cNvPr>
          <p:cNvSpPr/>
          <p:nvPr/>
        </p:nvSpPr>
        <p:spPr>
          <a:xfrm>
            <a:off x="4828032" y="1481328"/>
            <a:ext cx="3749040" cy="2926080"/>
          </a:xfrm>
          <a:prstGeom prst="roundRect">
            <a:avLst>
              <a:gd name="adj" fmla="val 1875"/>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3" name="accent">
            <a:extLst>
              <a:ext uri="{C183D7F6-B498-43B3-948B-1728B52AA6E4}">
                <adec:decorative xmlns:adec="http://schemas.microsoft.com/office/drawing/2017/decorative" val="1"/>
              </a:ext>
            </a:extLst>
          </p:cNvPr>
          <p:cNvSpPr/>
          <p:nvPr/>
        </p:nvSpPr>
        <p:spPr>
          <a:xfrm>
            <a:off x="4828032" y="1481328"/>
            <a:ext cx="3749040" cy="54864"/>
          </a:xfrm>
          <a:prstGeom prst="rect">
            <a:avLst/>
          </a:prstGeom>
          <a:solidFill>
            <a:srgbClr val="F2860D"/>
          </a:solidFill>
          <a:ln/>
        </p:spPr>
        <p:txBody>
          <a:bodyPr/>
          <a:lstStyle/>
          <a:p>
            <a:endParaRPr lang="en-SE"/>
          </a:p>
        </p:txBody>
      </p:sp>
      <p:sp>
        <p:nvSpPr>
          <p:cNvPr id="14" name="Text 12"/>
          <p:cNvSpPr/>
          <p:nvPr/>
        </p:nvSpPr>
        <p:spPr>
          <a:xfrm>
            <a:off x="5029200" y="1627632"/>
            <a:ext cx="3383280" cy="292608"/>
          </a:xfrm>
          <a:prstGeom prst="rect">
            <a:avLst/>
          </a:prstGeom>
          <a:noFill/>
          <a:ln/>
        </p:spPr>
        <p:txBody>
          <a:bodyPr wrap="square" lIns="0" tIns="0" rIns="0" bIns="0" rtlCol="0" anchor="ctr"/>
          <a:lstStyle/>
          <a:p>
            <a:pPr marL="0" indent="0">
              <a:buNone/>
            </a:pPr>
            <a:r>
              <a:rPr lang="en-US" sz="1400" b="1" dirty="0">
                <a:solidFill>
                  <a:srgbClr val="F2860D"/>
                </a:solidFill>
                <a:latin typeface="Arial" pitchFamily="34" charset="0"/>
                <a:ea typeface="Arial" pitchFamily="34" charset="-122"/>
                <a:cs typeface="Arial" pitchFamily="34" charset="-120"/>
              </a:rPr>
              <a:t>pm-index  ·  live market index</a:t>
            </a:r>
            <a:endParaRPr lang="en-US" sz="1400" dirty="0"/>
          </a:p>
        </p:txBody>
      </p:sp>
      <p:sp>
        <p:nvSpPr>
          <p:cNvPr id="15" name="card">
            <a:extLst>
              <a:ext uri="{C183D7F6-B498-43B3-948B-1728B52AA6E4}">
                <adec:decorative xmlns:adec="http://schemas.microsoft.com/office/drawing/2017/decorative" val="1"/>
              </a:ext>
            </a:extLst>
          </p:cNvPr>
          <p:cNvSpPr/>
          <p:nvPr/>
        </p:nvSpPr>
        <p:spPr>
          <a:xfrm>
            <a:off x="5029200" y="2029968"/>
            <a:ext cx="3346704" cy="603504"/>
          </a:xfrm>
          <a:prstGeom prst="roundRect">
            <a:avLst>
              <a:gd name="adj" fmla="val 9091"/>
            </a:avLst>
          </a:prstGeom>
          <a:solidFill>
            <a:srgbClr val="15151A"/>
          </a:solidFill>
          <a:ln w="12700">
            <a:solidFill>
              <a:srgbClr val="3B3B46"/>
            </a:solidFill>
            <a:prstDash val="solid"/>
          </a:ln>
        </p:spPr>
        <p:txBody>
          <a:bodyPr/>
          <a:lstStyle/>
          <a:p>
            <a:endParaRPr lang="en-SE"/>
          </a:p>
        </p:txBody>
      </p:sp>
      <p:sp>
        <p:nvSpPr>
          <p:cNvPr id="16" name="Text 14"/>
          <p:cNvSpPr/>
          <p:nvPr/>
        </p:nvSpPr>
        <p:spPr>
          <a:xfrm>
            <a:off x="5029200" y="2029968"/>
            <a:ext cx="3346704" cy="603504"/>
          </a:xfrm>
          <a:prstGeom prst="rect">
            <a:avLst/>
          </a:prstGeom>
          <a:noFill/>
          <a:ln/>
        </p:spPr>
        <p:txBody>
          <a:bodyPr wrap="square" lIns="0" tIns="0" rIns="0" bIns="0" rtlCol="0" anchor="ctr"/>
          <a:lstStyle/>
          <a:p>
            <a:pPr marL="0" indent="0" algn="ctr">
              <a:buNone/>
            </a:pPr>
            <a:r>
              <a:rPr lang="en-US" sz="1050" b="1" dirty="0">
                <a:solidFill>
                  <a:srgbClr val="FF9E2C"/>
                </a:solidFill>
                <a:latin typeface="Courier New" pitchFamily="34" charset="0"/>
                <a:ea typeface="Courier New" pitchFamily="34" charset="-122"/>
                <a:cs typeface="Courier New" pitchFamily="34" charset="-120"/>
              </a:rPr>
              <a:t>index_level = aggregate_cap / divisor</a:t>
            </a:r>
            <a:endParaRPr lang="en-US" sz="1050" dirty="0"/>
          </a:p>
        </p:txBody>
      </p:sp>
      <p:sp>
        <p:nvSpPr>
          <p:cNvPr id="17" name="Text 15"/>
          <p:cNvSpPr/>
          <p:nvPr/>
        </p:nvSpPr>
        <p:spPr>
          <a:xfrm>
            <a:off x="5047488" y="2761488"/>
            <a:ext cx="3310128" cy="1554480"/>
          </a:xfrm>
          <a:prstGeom prst="rect">
            <a:avLst/>
          </a:prstGeom>
          <a:noFill/>
          <a:ln/>
        </p:spPr>
        <p:txBody>
          <a:bodyPr wrap="square" lIns="0" tIns="0" rIns="0" bIns="0" rtlCol="0" anchor="t"/>
          <a:lstStyle/>
          <a:p>
            <a:pPr marL="152400" indent="-152400">
              <a:lnSpc>
                <a:spcPct val="105000"/>
              </a:lnSpc>
              <a:spcAft>
                <a:spcPts val="500"/>
              </a:spcAft>
              <a:buSzPct val="100000"/>
              <a:buChar char="–"/>
            </a:pPr>
            <a:r>
              <a:rPr lang="en-US" sz="1080" dirty="0">
                <a:solidFill>
                  <a:srgbClr val="ECECEC"/>
                </a:solidFill>
                <a:latin typeface="Calibri" pitchFamily="34" charset="0"/>
                <a:ea typeface="Calibri" pitchFamily="34" charset="-122"/>
                <a:cs typeface="Calibri" pitchFamily="34" charset="-120"/>
              </a:rPr>
              <a:t>Cap-weighted across constituents</a:t>
            </a:r>
            <a:endParaRPr lang="en-US" sz="1080" dirty="0"/>
          </a:p>
          <a:p>
            <a:pPr marL="152400" indent="-152400">
              <a:lnSpc>
                <a:spcPct val="105000"/>
              </a:lnSpc>
              <a:spcAft>
                <a:spcPts val="500"/>
              </a:spcAft>
              <a:buSzPct val="100000"/>
              <a:buChar char="–"/>
            </a:pPr>
            <a:r>
              <a:rPr lang="en-US" sz="1080" dirty="0">
                <a:solidFill>
                  <a:srgbClr val="ECECEC"/>
                </a:solidFill>
                <a:latin typeface="Calibri" pitchFamily="34" charset="0"/>
                <a:ea typeface="Calibri" pitchFamily="34" charset="-122"/>
                <a:cs typeface="Calibri" pitchFamily="34" charset="-120"/>
              </a:rPr>
              <a:t>Corporate actions: split · dividend · shares · add · delist</a:t>
            </a:r>
            <a:endParaRPr lang="en-US" sz="1080" dirty="0"/>
          </a:p>
          <a:p>
            <a:pPr marL="152400" indent="-152400">
              <a:lnSpc>
                <a:spcPct val="105000"/>
              </a:lnSpc>
              <a:spcAft>
                <a:spcPts val="500"/>
              </a:spcAft>
              <a:buSzPct val="100000"/>
              <a:buChar char="–"/>
            </a:pPr>
            <a:r>
              <a:rPr lang="en-US" sz="1080" dirty="0">
                <a:solidFill>
                  <a:srgbClr val="ECECEC"/>
                </a:solidFill>
                <a:latin typeface="Calibri" pitchFamily="34" charset="0"/>
                <a:ea typeface="Calibri" pitchFamily="34" charset="-122"/>
                <a:cs typeface="Calibri" pitchFamily="34" charset="-120"/>
              </a:rPr>
              <a:t>Divisor initialised to base_value</a:t>
            </a:r>
            <a:endParaRPr lang="en-US" sz="1080" dirty="0"/>
          </a:p>
          <a:p>
            <a:pPr marL="152400" indent="-152400">
              <a:lnSpc>
                <a:spcPct val="105000"/>
              </a:lnSpc>
              <a:spcAft>
                <a:spcPts val="500"/>
              </a:spcAft>
              <a:buSzPct val="100000"/>
              <a:buChar char="–"/>
            </a:pPr>
            <a:r>
              <a:rPr lang="en-US" sz="1080" dirty="0">
                <a:solidFill>
                  <a:srgbClr val="ECECEC"/>
                </a:solidFill>
                <a:latin typeface="Calibri" pitchFamily="34" charset="0"/>
                <a:ea typeface="Calibri" pitchFamily="34" charset="-122"/>
                <a:cs typeface="Calibri" pitchFamily="34" charset="-120"/>
              </a:rPr>
              <a:t>Publish throttle ~1s · intraday OHLC reset at open</a:t>
            </a:r>
            <a:endParaRPr lang="en-US" sz="1080" dirty="0"/>
          </a:p>
        </p:txBody>
      </p:sp>
      <p:sp>
        <p:nvSpPr>
          <p:cNvPr id="19" name="Text 16"/>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20" name="Text 17"/>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33</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Index methodology">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07 · STATISTICS · INDEX</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a:solidFill>
                  <a:srgbClr val="ECECEC"/>
                </a:solidFill>
                <a:latin typeface="Arial" pitchFamily="34" charset="0"/>
                <a:ea typeface="Arial" pitchFamily="34" charset="-122"/>
                <a:cs typeface="Arial" pitchFamily="34" charset="-120"/>
              </a:rPr>
              <a:t>How the market index is built</a:t>
            </a:r>
            <a:endParaRPr lang="en-US" sz="2900"/>
          </a:p>
        </p:txBody>
      </p:sp>
      <p:sp>
        <p:nvSpPr>
          <p:cNvPr id="5" name="subtitle"/>
          <p:cNvSpPr/>
          <p:nvPr/>
        </p:nvSpPr>
        <p:spPr>
          <a:xfrm>
            <a:off x="566928" y="1330000"/>
            <a:ext cx="8010144" cy="300000"/>
          </a:xfrm>
          <a:prstGeom prst="rect">
            <a:avLst/>
          </a:prstGeom>
          <a:noFill/>
          <a:ln/>
        </p:spPr>
        <p:txBody>
          <a:bodyPr wrap="square" lIns="0" tIns="0" rIns="0" bIns="0" rtlCol="0" anchor="t"/>
          <a:lstStyle/>
          <a:p>
            <a:pPr marL="0" indent="0" algn="l">
              <a:lnSpc>
                <a:spcPct val="108000"/>
              </a:lnSpc>
              <a:buNone/>
            </a:pPr>
            <a:r>
              <a:rPr lang="en-US" sz="1250" kern="0">
                <a:solidFill>
                  <a:srgbClr val="B4B4BE"/>
                </a:solidFill>
                <a:latin typeface="Calibri" pitchFamily="34" charset="0"/>
                <a:ea typeface="Calibri" pitchFamily="34" charset="-122"/>
                <a:cs typeface="Calibri" pitchFamily="34" charset="-120"/>
              </a:rPr>
              <a:t>pm-index is a standalone process that turns the trade stream into a live, divisor-based index and republishes it for market-data clients.</a:t>
            </a:r>
            <a:endParaRPr lang="en-US"/>
          </a:p>
        </p:txBody>
      </p:sp>
      <p:sp>
        <p:nvSpPr>
          <p:cNvPr id="6" name="card">
            <a:extLst>
              <a:ext uri="{C183D7F6-B498-43B3-948B-1728B52AA6E4}">
                <adec:decorative xmlns:adec="http://schemas.microsoft.com/office/drawing/2017/decorative" val="1"/>
              </a:ext>
            </a:extLst>
          </p:cNvPr>
          <p:cNvSpPr/>
          <p:nvPr/>
        </p:nvSpPr>
        <p:spPr>
          <a:xfrm>
            <a:off x="566928"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accent">
            <a:extLst>
              <a:ext uri="{C183D7F6-B498-43B3-948B-1728B52AA6E4}">
                <adec:decorative xmlns:adec="http://schemas.microsoft.com/office/drawing/2017/decorative" val="1"/>
              </a:ext>
            </a:extLst>
          </p:cNvPr>
          <p:cNvSpPr/>
          <p:nvPr/>
        </p:nvSpPr>
        <p:spPr>
          <a:xfrm>
            <a:off x="566928" y="1690000"/>
            <a:ext cx="2543381" cy="54864"/>
          </a:xfrm>
          <a:prstGeom prst="rect">
            <a:avLst/>
          </a:prstGeom>
          <a:solidFill>
            <a:srgbClr val="B98CE0"/>
          </a:solidFill>
          <a:ln/>
        </p:spPr>
        <p:txBody>
          <a:bodyPr/>
          <a:lstStyle/>
          <a:p>
            <a:endParaRPr lang="en-SE"/>
          </a:p>
        </p:txBody>
      </p:sp>
      <p:sp>
        <p:nvSpPr>
          <p:cNvPr id="8" name="panel head"/>
          <p:cNvSpPr/>
          <p:nvPr/>
        </p:nvSpPr>
        <p:spPr>
          <a:xfrm>
            <a:off x="716928" y="1810000"/>
            <a:ext cx="2243381" cy="240000"/>
          </a:xfrm>
          <a:prstGeom prst="rect">
            <a:avLst/>
          </a:prstGeom>
          <a:noFill/>
          <a:ln/>
        </p:spPr>
        <p:txBody>
          <a:bodyPr wrap="square" lIns="0" tIns="0" rIns="0" bIns="0" rtlCol="0" anchor="t"/>
          <a:lstStyle/>
          <a:p>
            <a:pPr marL="0" indent="0" algn="l">
              <a:buNone/>
            </a:pPr>
            <a:r>
              <a:rPr lang="en-US" sz="1000" b="1" kern="0" spc="100">
                <a:solidFill>
                  <a:srgbClr val="B98CE0"/>
                </a:solidFill>
                <a:latin typeface="Courier New" pitchFamily="34" charset="0"/>
                <a:ea typeface="Courier New" pitchFamily="34" charset="-122"/>
                <a:cs typeface="Courier New" pitchFamily="34" charset="-120"/>
              </a:rPr>
              <a:t>METHODOLOGY</a:t>
            </a:r>
            <a:endParaRPr lang="en-US"/>
          </a:p>
        </p:txBody>
      </p:sp>
      <p:sp>
        <p:nvSpPr>
          <p:cNvPr id="9" name="panel body"/>
          <p:cNvSpPr/>
          <p:nvPr/>
        </p:nvSpPr>
        <p:spPr>
          <a:xfrm>
            <a:off x="716928"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Market-cap weighted, using</a:t>
            </a:r>
            <a:endParaRPr lang="en-US"/>
          </a:p>
          <a:p>
            <a:pPr marL="0" indent="0" algn="l">
              <a:lnSpc>
                <a:spcPct val="124000"/>
              </a:lnSpc>
              <a:spcBef>
                <a:spcPts val="200"/>
              </a:spcBef>
              <a:buNone/>
            </a:pPr>
            <a:r>
              <a:rPr lang="en-US" sz="1000" b="1" kern="0">
                <a:solidFill>
                  <a:srgbClr val="B98CE0"/>
                </a:solidFill>
                <a:latin typeface="Courier New" pitchFamily="34" charset="0"/>
                <a:ea typeface="Courier New" pitchFamily="34" charset="-122"/>
                <a:cs typeface="Courier New" pitchFamily="34" charset="-120"/>
              </a:rPr>
              <a:t>a divisor · base_value 1000.0</a:t>
            </a:r>
            <a:endParaRPr lang="en-US"/>
          </a:p>
          <a:p>
            <a:pPr marL="0" indent="0" algn="l">
              <a:lnSpc>
                <a:spcPct val="124000"/>
              </a:lnSpc>
              <a:spcBef>
                <a:spcPts val="200"/>
              </a:spcBef>
              <a:buNone/>
            </a:pP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Each constituent carries</a:t>
            </a:r>
            <a:endParaRPr lang="en-US"/>
          </a:p>
          <a:p>
            <a:pPr marL="0" indent="0" algn="l">
              <a:lnSpc>
                <a:spcPct val="124000"/>
              </a:lnSpc>
              <a:spcBef>
                <a:spcPts val="200"/>
              </a:spcBef>
              <a:buNone/>
            </a:pPr>
            <a:r>
              <a:rPr lang="en-US" sz="1000" kern="0">
                <a:solidFill>
                  <a:srgbClr val="B4B4BE"/>
                </a:solidFill>
                <a:latin typeface="Courier New" pitchFamily="34" charset="0"/>
                <a:ea typeface="Courier New" pitchFamily="34" charset="-122"/>
                <a:cs typeface="Courier New" pitchFamily="34" charset="-120"/>
              </a:rPr>
              <a:t>outstanding_shares</a:t>
            </a:r>
            <a:endParaRPr lang="en-US"/>
          </a:p>
          <a:p>
            <a:pPr marL="0" indent="0" algn="l">
              <a:lnSpc>
                <a:spcPct val="124000"/>
              </a:lnSpc>
              <a:spcBef>
                <a:spcPts val="200"/>
              </a:spcBef>
              <a:buNone/>
            </a:pP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Falls back to config</a:t>
            </a: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reference prices if it misses</a:t>
            </a: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early trades</a:t>
            </a:r>
            <a:endParaRPr lang="en-US"/>
          </a:p>
        </p:txBody>
      </p:sp>
      <p:sp>
        <p:nvSpPr>
          <p:cNvPr id="10" name="card">
            <a:extLst>
              <a:ext uri="{C183D7F6-B498-43B3-948B-1728B52AA6E4}">
                <adec:decorative xmlns:adec="http://schemas.microsoft.com/office/drawing/2017/decorative" val="1"/>
              </a:ext>
            </a:extLst>
          </p:cNvPr>
          <p:cNvSpPr/>
          <p:nvPr/>
        </p:nvSpPr>
        <p:spPr>
          <a:xfrm>
            <a:off x="3300309"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a:extLst>
              <a:ext uri="{C183D7F6-B498-43B3-948B-1728B52AA6E4}">
                <adec:decorative xmlns:adec="http://schemas.microsoft.com/office/drawing/2017/decorative" val="1"/>
              </a:ext>
            </a:extLst>
          </p:cNvPr>
          <p:cNvSpPr/>
          <p:nvPr/>
        </p:nvSpPr>
        <p:spPr>
          <a:xfrm>
            <a:off x="3300309" y="1690000"/>
            <a:ext cx="2543381" cy="54864"/>
          </a:xfrm>
          <a:prstGeom prst="rect">
            <a:avLst/>
          </a:prstGeom>
          <a:solidFill>
            <a:srgbClr val="5B9BF5"/>
          </a:solidFill>
          <a:ln/>
        </p:spPr>
        <p:txBody>
          <a:bodyPr/>
          <a:lstStyle/>
          <a:p>
            <a:endParaRPr lang="en-SE"/>
          </a:p>
        </p:txBody>
      </p:sp>
      <p:sp>
        <p:nvSpPr>
          <p:cNvPr id="12" name="panel head"/>
          <p:cNvSpPr/>
          <p:nvPr/>
        </p:nvSpPr>
        <p:spPr>
          <a:xfrm>
            <a:off x="3450309" y="1810000"/>
            <a:ext cx="2243381" cy="240000"/>
          </a:xfrm>
          <a:prstGeom prst="rect">
            <a:avLst/>
          </a:prstGeom>
          <a:noFill/>
          <a:ln/>
        </p:spPr>
        <p:txBody>
          <a:bodyPr wrap="square" lIns="0" tIns="0" rIns="0" bIns="0" rtlCol="0" anchor="t"/>
          <a:lstStyle/>
          <a:p>
            <a:pPr marL="0" indent="0" algn="l">
              <a:buNone/>
            </a:pPr>
            <a:r>
              <a:rPr lang="en-US" sz="1000" b="1" kern="0" spc="100">
                <a:solidFill>
                  <a:srgbClr val="5B9BF5"/>
                </a:solidFill>
                <a:latin typeface="Courier New" pitchFamily="34" charset="0"/>
                <a:ea typeface="Courier New" pitchFamily="34" charset="-122"/>
                <a:cs typeface="Courier New" pitchFamily="34" charset="-120"/>
              </a:rPr>
              <a:t>DATA FLOW</a:t>
            </a:r>
            <a:endParaRPr lang="en-US"/>
          </a:p>
        </p:txBody>
      </p:sp>
      <p:sp>
        <p:nvSpPr>
          <p:cNvPr id="13" name="panel body"/>
          <p:cNvSpPr/>
          <p:nvPr/>
        </p:nvSpPr>
        <p:spPr>
          <a:xfrm>
            <a:off x="3450309"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000" b="1" kern="0">
                <a:solidFill>
                  <a:srgbClr val="5B9BF5"/>
                </a:solidFill>
                <a:latin typeface="Courier New" pitchFamily="34" charset="0"/>
                <a:ea typeface="Courier New" pitchFamily="34" charset="-122"/>
                <a:cs typeface="Courier New" pitchFamily="34" charset="-120"/>
              </a:rPr>
              <a:t>In  ← engine PUB :5556</a:t>
            </a: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trade.executed,</a:t>
            </a: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session.state, system.eod</a:t>
            </a:r>
            <a:endParaRPr lang="en-US"/>
          </a:p>
          <a:p>
            <a:pPr marL="0" indent="0" algn="l">
              <a:lnSpc>
                <a:spcPct val="124000"/>
              </a:lnSpc>
              <a:spcBef>
                <a:spcPts val="200"/>
              </a:spcBef>
              <a:buNone/>
            </a:pPr>
            <a:endParaRPr lang="en-US"/>
          </a:p>
          <a:p>
            <a:pPr marL="0" indent="0" algn="l">
              <a:lnSpc>
                <a:spcPct val="124000"/>
              </a:lnSpc>
              <a:spcBef>
                <a:spcPts val="200"/>
              </a:spcBef>
              <a:buNone/>
            </a:pPr>
            <a:r>
              <a:rPr lang="en-US" sz="1000" b="1" kern="0">
                <a:solidFill>
                  <a:srgbClr val="5B9BF5"/>
                </a:solidFill>
                <a:latin typeface="Courier New" pitchFamily="34" charset="0"/>
                <a:ea typeface="Courier New" pitchFamily="34" charset="-122"/>
                <a:cs typeface="Courier New" pitchFamily="34" charset="-120"/>
              </a:rPr>
              <a:t>Out → PUB :5558</a:t>
            </a: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index.update → CALF INDEX</a:t>
            </a: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channel via pm-md-gwy</a:t>
            </a:r>
            <a:endParaRPr lang="en-US"/>
          </a:p>
          <a:p>
            <a:pPr marL="0" indent="0" algn="l">
              <a:lnSpc>
                <a:spcPct val="124000"/>
              </a:lnSpc>
              <a:spcBef>
                <a:spcPts val="200"/>
              </a:spcBef>
              <a:buNone/>
            </a:pPr>
            <a:r>
              <a:rPr lang="en-US" sz="1000" b="1" kern="0">
                <a:solidFill>
                  <a:srgbClr val="5B9BF5"/>
                </a:solidFill>
                <a:latin typeface="Courier New" pitchFamily="34" charset="0"/>
                <a:ea typeface="Courier New" pitchFamily="34" charset="-122"/>
                <a:cs typeface="Courier New" pitchFamily="34" charset="-120"/>
              </a:rPr>
              <a:t>Admin ← PULL :5559</a:t>
            </a:r>
            <a:endParaRPr lang="en-US"/>
          </a:p>
        </p:txBody>
      </p:sp>
      <p:sp>
        <p:nvSpPr>
          <p:cNvPr id="14" name="card">
            <a:extLst>
              <a:ext uri="{C183D7F6-B498-43B3-948B-1728B52AA6E4}">
                <adec:decorative xmlns:adec="http://schemas.microsoft.com/office/drawing/2017/decorative" val="1"/>
              </a:ext>
            </a:extLst>
          </p:cNvPr>
          <p:cNvSpPr/>
          <p:nvPr/>
        </p:nvSpPr>
        <p:spPr>
          <a:xfrm>
            <a:off x="6033690"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5" name="accent">
            <a:extLst>
              <a:ext uri="{C183D7F6-B498-43B3-948B-1728B52AA6E4}">
                <adec:decorative xmlns:adec="http://schemas.microsoft.com/office/drawing/2017/decorative" val="1"/>
              </a:ext>
            </a:extLst>
          </p:cNvPr>
          <p:cNvSpPr/>
          <p:nvPr/>
        </p:nvSpPr>
        <p:spPr>
          <a:xfrm>
            <a:off x="6033690" y="1690000"/>
            <a:ext cx="2543381" cy="54864"/>
          </a:xfrm>
          <a:prstGeom prst="rect">
            <a:avLst/>
          </a:prstGeom>
          <a:solidFill>
            <a:srgbClr val="5FC98E"/>
          </a:solidFill>
          <a:ln/>
        </p:spPr>
        <p:txBody>
          <a:bodyPr/>
          <a:lstStyle/>
          <a:p>
            <a:endParaRPr lang="en-SE"/>
          </a:p>
        </p:txBody>
      </p:sp>
      <p:sp>
        <p:nvSpPr>
          <p:cNvPr id="16" name="panel head"/>
          <p:cNvSpPr/>
          <p:nvPr/>
        </p:nvSpPr>
        <p:spPr>
          <a:xfrm>
            <a:off x="6183690" y="1810000"/>
            <a:ext cx="2243381" cy="240000"/>
          </a:xfrm>
          <a:prstGeom prst="rect">
            <a:avLst/>
          </a:prstGeom>
          <a:noFill/>
          <a:ln/>
        </p:spPr>
        <p:txBody>
          <a:bodyPr wrap="square" lIns="0" tIns="0" rIns="0" bIns="0" rtlCol="0" anchor="t"/>
          <a:lstStyle/>
          <a:p>
            <a:pPr marL="0" indent="0" algn="l">
              <a:buNone/>
            </a:pPr>
            <a:r>
              <a:rPr lang="en-US" sz="1000" b="1" kern="0" spc="100">
                <a:solidFill>
                  <a:srgbClr val="5FC98E"/>
                </a:solidFill>
                <a:latin typeface="Courier New" pitchFamily="34" charset="0"/>
                <a:ea typeface="Courier New" pitchFamily="34" charset="-122"/>
                <a:cs typeface="Courier New" pitchFamily="34" charset="-120"/>
              </a:rPr>
              <a:t>CORPORATE ACTIONS</a:t>
            </a:r>
            <a:endParaRPr lang="en-US"/>
          </a:p>
        </p:txBody>
      </p:sp>
      <p:sp>
        <p:nvSpPr>
          <p:cNvPr id="17" name="panel body"/>
          <p:cNvSpPr/>
          <p:nvPr/>
        </p:nvSpPr>
        <p:spPr>
          <a:xfrm>
            <a:off x="6183690"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000" b="1" kern="0">
                <a:solidFill>
                  <a:srgbClr val="5FC98E"/>
                </a:solidFill>
                <a:latin typeface="Courier New" pitchFamily="34" charset="0"/>
                <a:ea typeface="Courier New" pitchFamily="34" charset="-122"/>
                <a:cs typeface="Courier New" pitchFamily="34" charset="-120"/>
              </a:rPr>
              <a:t>pm-index-admin-cli</a:t>
            </a: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Splits, dividends, issuance,</a:t>
            </a:r>
            <a:endParaRPr lang="en-US"/>
          </a:p>
          <a:p>
            <a:pPr marL="0" indent="0" algn="l">
              <a:lnSpc>
                <a:spcPct val="124000"/>
              </a:lnSpc>
              <a:spcBef>
                <a:spcPts val="200"/>
              </a:spcBef>
              <a:buNone/>
            </a:pPr>
            <a:r>
              <a:rPr lang="en-US" sz="1000" kern="0">
                <a:solidFill>
                  <a:srgbClr val="ECECEC"/>
                </a:solidFill>
                <a:latin typeface="Calibri" pitchFamily="34" charset="0"/>
                <a:ea typeface="Calibri" pitchFamily="34" charset="-122"/>
                <a:cs typeface="Calibri" pitchFamily="34" charset="-120"/>
              </a:rPr>
              <a:t>buy-backs; add / delist</a:t>
            </a: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--dry-run + confirm prompt</a:t>
            </a:r>
            <a:endParaRPr lang="en-US"/>
          </a:p>
          <a:p>
            <a:pPr marL="0" indent="0" algn="l">
              <a:lnSpc>
                <a:spcPct val="124000"/>
              </a:lnSpc>
              <a:spcBef>
                <a:spcPts val="200"/>
              </a:spcBef>
              <a:buNone/>
            </a:pPr>
            <a:endParaRPr lang="en-US"/>
          </a:p>
          <a:p>
            <a:pPr marL="0" indent="0" algn="l">
              <a:lnSpc>
                <a:spcPct val="124000"/>
              </a:lnSpc>
              <a:spcBef>
                <a:spcPts val="200"/>
              </a:spcBef>
              <a:buNone/>
            </a:pPr>
            <a:r>
              <a:rPr lang="en-US" sz="1000" b="1" kern="0">
                <a:solidFill>
                  <a:srgbClr val="5FC98E"/>
                </a:solidFill>
                <a:latin typeface="Courier New" pitchFamily="34" charset="0"/>
                <a:ea typeface="Courier New" pitchFamily="34" charset="-122"/>
                <a:cs typeface="Courier New" pitchFamily="34" charset="-120"/>
              </a:rPr>
              <a:t>pm-index-cli</a:t>
            </a:r>
            <a:endParaRPr lang="en-US"/>
          </a:p>
          <a:p>
            <a:pPr marL="0" indent="0" algn="l">
              <a:lnSpc>
                <a:spcPct val="124000"/>
              </a:lnSpc>
              <a:spcBef>
                <a:spcPts val="200"/>
              </a:spcBef>
              <a:buNone/>
            </a:pPr>
            <a:r>
              <a:rPr lang="en-US" sz="1000" kern="0">
                <a:solidFill>
                  <a:srgbClr val="B4B4BE"/>
                </a:solidFill>
                <a:latin typeface="Calibri" pitchFamily="34" charset="0"/>
                <a:ea typeface="Calibri" pitchFamily="34" charset="-122"/>
                <a:cs typeface="Calibri" pitchFamily="34" charset="-120"/>
              </a:rPr>
              <a:t>Read-only history queries</a:t>
            </a:r>
            <a:endParaRPr lang="en-US"/>
          </a:p>
        </p:txBody>
      </p:sp>
      <p:sp>
        <p:nvSpPr>
          <p:cNvPr id="18" name="note band">
            <a:extLst>
              <a:ext uri="{C183D7F6-B498-43B3-948B-1728B52AA6E4}">
                <adec:decorative xmlns:adec="http://schemas.microsoft.com/office/drawing/2017/decorative" val="1"/>
              </a:ext>
            </a:extLst>
          </p:cNvPr>
          <p:cNvSpPr/>
          <p:nvPr/>
        </p:nvSpPr>
        <p:spPr>
          <a:xfrm>
            <a:off x="566928" y="4300000"/>
            <a:ext cx="8010144" cy="450000"/>
          </a:xfrm>
          <a:prstGeom prst="roundRect">
            <a:avLst>
              <a:gd name="adj" fmla="val 9000"/>
            </a:avLst>
          </a:prstGeom>
          <a:solidFill>
            <a:srgbClr val="202027"/>
          </a:solidFill>
          <a:ln w="12700">
            <a:solidFill>
              <a:srgbClr val="B98CE0"/>
            </a:solidFill>
            <a:prstDash val="solid"/>
          </a:ln>
        </p:spPr>
        <p:txBody>
          <a:bodyPr/>
          <a:lstStyle/>
          <a:p>
            <a:endParaRPr lang="en-SE"/>
          </a:p>
        </p:txBody>
      </p:sp>
      <p:sp>
        <p:nvSpPr>
          <p:cNvPr id="19" name="note text"/>
          <p:cNvSpPr/>
          <p:nvPr/>
        </p:nvSpPr>
        <p:spPr>
          <a:xfrm>
            <a:off x="786928" y="4300000"/>
            <a:ext cx="7570144" cy="450000"/>
          </a:xfrm>
          <a:prstGeom prst="rect">
            <a:avLst/>
          </a:prstGeom>
          <a:noFill/>
          <a:ln/>
        </p:spPr>
        <p:txBody>
          <a:bodyPr wrap="square" lIns="0" tIns="0" rIns="0" bIns="0" rtlCol="0" anchor="ctr"/>
          <a:lstStyle/>
          <a:p>
            <a:pPr marL="0" indent="0" algn="l">
              <a:lnSpc>
                <a:spcPct val="104000"/>
              </a:lnSpc>
              <a:buNone/>
            </a:pPr>
            <a:r>
              <a:rPr lang="en-US" sz="1000" kern="0">
                <a:solidFill>
                  <a:srgbClr val="ECECEC"/>
                </a:solidFill>
                <a:latin typeface="Calibri" pitchFamily="34" charset="0"/>
                <a:ea typeface="Calibri" pitchFamily="34" charset="-122"/>
                <a:cs typeface="Calibri" pitchFamily="34" charset="-120"/>
              </a:rPr>
              <a:t>pm-index never writes to the engine — it only listens and republishes. --reset clears the divisor and last prices to rebaseline cleanly from config reference prices.</a:t>
            </a:r>
            <a:endParaRPr lang="en-US"/>
          </a:p>
        </p:txBody>
      </p:sp>
      <p:sp>
        <p:nvSpPr>
          <p:cNvPr id="2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2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34</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14 · OBSERVABILITY</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Watching the market in real time</a:t>
            </a:r>
            <a:endParaRPr lang="en-US" sz="2900" dirty="0"/>
          </a:p>
        </p:txBody>
      </p:sp>
      <p:sp>
        <p:nvSpPr>
          <p:cNvPr id="5" name="Text 3"/>
          <p:cNvSpPr/>
          <p:nvPr/>
        </p:nvSpPr>
        <p:spPr>
          <a:xfrm>
            <a:off x="566928" y="1463040"/>
            <a:ext cx="3977640" cy="274320"/>
          </a:xfrm>
          <a:prstGeom prst="rect">
            <a:avLst/>
          </a:prstGeom>
          <a:noFill/>
          <a:ln/>
        </p:spPr>
        <p:txBody>
          <a:bodyPr wrap="square" lIns="0" tIns="0" rIns="0" bIns="0" rtlCol="0" anchor="ctr"/>
          <a:lstStyle/>
          <a:p>
            <a:pPr marL="0" indent="0">
              <a:buNone/>
            </a:pPr>
            <a:r>
              <a:rPr lang="en-US" sz="1300" b="1" dirty="0">
                <a:solidFill>
                  <a:srgbClr val="F2860D"/>
                </a:solidFill>
                <a:latin typeface="Arial" pitchFamily="34" charset="0"/>
                <a:ea typeface="Arial" pitchFamily="34" charset="-122"/>
                <a:cs typeface="Arial" pitchFamily="34" charset="-120"/>
              </a:rPr>
              <a:t>Everything is a published event</a:t>
            </a:r>
            <a:endParaRPr lang="en-US" sz="1300" dirty="0"/>
          </a:p>
        </p:txBody>
      </p:sp>
      <p:sp>
        <p:nvSpPr>
          <p:cNvPr id="6" name="card">
            <a:extLst>
              <a:ext uri="{C183D7F6-B498-43B3-948B-1728B52AA6E4}">
                <adec:decorative xmlns:adec="http://schemas.microsoft.com/office/drawing/2017/decorative" val="1"/>
              </a:ext>
            </a:extLst>
          </p:cNvPr>
          <p:cNvSpPr/>
          <p:nvPr/>
        </p:nvSpPr>
        <p:spPr>
          <a:xfrm>
            <a:off x="566928" y="1792224"/>
            <a:ext cx="3977640" cy="2651760"/>
          </a:xfrm>
          <a:prstGeom prst="roundRect">
            <a:avLst>
              <a:gd name="adj" fmla="val 2069"/>
            </a:avLst>
          </a:prstGeom>
          <a:solidFill>
            <a:srgbClr val="15151A"/>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Text 5"/>
          <p:cNvSpPr/>
          <p:nvPr/>
        </p:nvSpPr>
        <p:spPr>
          <a:xfrm>
            <a:off x="804672" y="1956816"/>
            <a:ext cx="3520440" cy="2331720"/>
          </a:xfrm>
          <a:prstGeom prst="rect">
            <a:avLst/>
          </a:prstGeom>
          <a:noFill/>
          <a:ln/>
        </p:spPr>
        <p:txBody>
          <a:bodyPr wrap="square" lIns="0" tIns="0" rIns="0" bIns="0" rtlCol="0" anchor="t"/>
          <a:lstStyle/>
          <a:p>
            <a:pPr marL="0" indent="0">
              <a:lnSpc>
                <a:spcPct val="100000"/>
              </a:lnSpc>
              <a:spcAft>
                <a:spcPts val="300"/>
              </a:spcAft>
              <a:buNone/>
            </a:pPr>
            <a:r>
              <a:rPr lang="en-US" sz="1100" dirty="0">
                <a:solidFill>
                  <a:srgbClr val="C3CDD6"/>
                </a:solidFill>
                <a:latin typeface="Courier New" pitchFamily="34" charset="0"/>
                <a:ea typeface="Courier New" pitchFamily="34" charset="-122"/>
                <a:cs typeface="Courier New" pitchFamily="34" charset="-120"/>
              </a:rPr>
              <a:t>order.ack.*</a:t>
            </a:r>
            <a:endParaRPr lang="en-US" sz="1100" dirty="0"/>
          </a:p>
          <a:p>
            <a:pPr marL="0" indent="0">
              <a:lnSpc>
                <a:spcPct val="100000"/>
              </a:lnSpc>
              <a:spcAft>
                <a:spcPts val="300"/>
              </a:spcAft>
              <a:buNone/>
            </a:pPr>
            <a:r>
              <a:rPr lang="en-US" sz="1100" dirty="0">
                <a:solidFill>
                  <a:srgbClr val="C3CDD6"/>
                </a:solidFill>
                <a:latin typeface="Courier New" pitchFamily="34" charset="0"/>
                <a:ea typeface="Courier New" pitchFamily="34" charset="-122"/>
                <a:cs typeface="Courier New" pitchFamily="34" charset="-120"/>
              </a:rPr>
              <a:t>order.fill.{gateway}</a:t>
            </a:r>
            <a:endParaRPr lang="en-US" sz="1100" dirty="0"/>
          </a:p>
          <a:p>
            <a:pPr marL="0" indent="0">
              <a:lnSpc>
                <a:spcPct val="100000"/>
              </a:lnSpc>
              <a:spcAft>
                <a:spcPts val="300"/>
              </a:spcAft>
              <a:buNone/>
            </a:pPr>
            <a:r>
              <a:rPr lang="en-US" sz="1100" dirty="0">
                <a:solidFill>
                  <a:srgbClr val="C3CDD6"/>
                </a:solidFill>
                <a:latin typeface="Courier New" pitchFamily="34" charset="0"/>
                <a:ea typeface="Courier New" pitchFamily="34" charset="-122"/>
                <a:cs typeface="Courier New" pitchFamily="34" charset="-120"/>
              </a:rPr>
              <a:t>trade.executed</a:t>
            </a:r>
            <a:endParaRPr lang="en-US" sz="1100" dirty="0"/>
          </a:p>
          <a:p>
            <a:pPr marL="0" indent="0">
              <a:lnSpc>
                <a:spcPct val="100000"/>
              </a:lnSpc>
              <a:spcAft>
                <a:spcPts val="300"/>
              </a:spcAft>
              <a:buNone/>
            </a:pPr>
            <a:r>
              <a:rPr lang="en-US" sz="1100" dirty="0">
                <a:solidFill>
                  <a:srgbClr val="C3CDD6"/>
                </a:solidFill>
                <a:latin typeface="Courier New" pitchFamily="34" charset="0"/>
                <a:ea typeface="Courier New" pitchFamily="34" charset="-122"/>
                <a:cs typeface="Courier New" pitchFamily="34" charset="-120"/>
              </a:rPr>
              <a:t>book.* · depth.*</a:t>
            </a:r>
            <a:endParaRPr lang="en-US" sz="1100" dirty="0"/>
          </a:p>
          <a:p>
            <a:pPr marL="0" indent="0">
              <a:lnSpc>
                <a:spcPct val="100000"/>
              </a:lnSpc>
              <a:spcAft>
                <a:spcPts val="300"/>
              </a:spcAft>
              <a:buNone/>
            </a:pPr>
            <a:r>
              <a:rPr lang="en-US" sz="1100" dirty="0">
                <a:solidFill>
                  <a:srgbClr val="C3CDD6"/>
                </a:solidFill>
                <a:latin typeface="Courier New" pitchFamily="34" charset="0"/>
                <a:ea typeface="Courier New" pitchFamily="34" charset="-122"/>
                <a:cs typeface="Courier New" pitchFamily="34" charset="-120"/>
              </a:rPr>
              <a:t>quote.* · combo.status.*</a:t>
            </a:r>
            <a:endParaRPr lang="en-US" sz="1100" dirty="0"/>
          </a:p>
          <a:p>
            <a:pPr marL="0" indent="0">
              <a:lnSpc>
                <a:spcPct val="100000"/>
              </a:lnSpc>
              <a:spcAft>
                <a:spcPts val="300"/>
              </a:spcAft>
              <a:buNone/>
            </a:pPr>
            <a:r>
              <a:rPr lang="en-US" sz="1100" dirty="0">
                <a:solidFill>
                  <a:srgbClr val="C3CDD6"/>
                </a:solidFill>
                <a:latin typeface="Courier New" pitchFamily="34" charset="0"/>
                <a:ea typeface="Courier New" pitchFamily="34" charset="-122"/>
                <a:cs typeface="Courier New" pitchFamily="34" charset="-120"/>
              </a:rPr>
              <a:t>session.state · session.transition</a:t>
            </a:r>
            <a:endParaRPr lang="en-US" sz="1100" dirty="0"/>
          </a:p>
          <a:p>
            <a:pPr marL="0" indent="0">
              <a:lnSpc>
                <a:spcPct val="100000"/>
              </a:lnSpc>
              <a:spcAft>
                <a:spcPts val="300"/>
              </a:spcAft>
              <a:buNone/>
            </a:pPr>
            <a:r>
              <a:rPr lang="en-US" sz="1100" dirty="0">
                <a:solidFill>
                  <a:srgbClr val="C3CDD6"/>
                </a:solidFill>
                <a:latin typeface="Courier New" pitchFamily="34" charset="0"/>
                <a:ea typeface="Courier New" pitchFamily="34" charset="-122"/>
                <a:cs typeface="Courier New" pitchFamily="34" charset="-120"/>
              </a:rPr>
              <a:t>auction.result.{symbol}</a:t>
            </a:r>
            <a:endParaRPr lang="en-US" sz="1100" dirty="0"/>
          </a:p>
          <a:p>
            <a:pPr marL="0" indent="0">
              <a:lnSpc>
                <a:spcPct val="100000"/>
              </a:lnSpc>
              <a:spcAft>
                <a:spcPts val="300"/>
              </a:spcAft>
              <a:buNone/>
            </a:pPr>
            <a:r>
              <a:rPr lang="en-US" sz="1100" dirty="0">
                <a:solidFill>
                  <a:srgbClr val="C3CDD6"/>
                </a:solidFill>
                <a:latin typeface="Courier New" pitchFamily="34" charset="0"/>
                <a:ea typeface="Courier New" pitchFamily="34" charset="-122"/>
                <a:cs typeface="Courier New" pitchFamily="34" charset="-120"/>
              </a:rPr>
              <a:t>circuit_breaker.halt/resume.*</a:t>
            </a:r>
            <a:endParaRPr lang="en-US" sz="1100" dirty="0"/>
          </a:p>
          <a:p>
            <a:pPr marL="0" indent="0">
              <a:lnSpc>
                <a:spcPct val="100000"/>
              </a:lnSpc>
              <a:spcAft>
                <a:spcPts val="300"/>
              </a:spcAft>
              <a:buNone/>
            </a:pPr>
            <a:r>
              <a:rPr lang="en-US" sz="1100" dirty="0">
                <a:solidFill>
                  <a:srgbClr val="C3CDD6"/>
                </a:solidFill>
                <a:latin typeface="Courier New" pitchFamily="34" charset="0"/>
                <a:ea typeface="Courier New" pitchFamily="34" charset="-122"/>
                <a:cs typeface="Courier New" pitchFamily="34" charset="-120"/>
              </a:rPr>
              <a:t>index.update · system.eod</a:t>
            </a:r>
            <a:endParaRPr lang="en-US" sz="1100" dirty="0"/>
          </a:p>
        </p:txBody>
      </p:sp>
      <p:sp>
        <p:nvSpPr>
          <p:cNvPr id="8" name="Text 6"/>
          <p:cNvSpPr/>
          <p:nvPr/>
        </p:nvSpPr>
        <p:spPr>
          <a:xfrm>
            <a:off x="4828032" y="1463040"/>
            <a:ext cx="3749040" cy="274320"/>
          </a:xfrm>
          <a:prstGeom prst="rect">
            <a:avLst/>
          </a:prstGeom>
          <a:noFill/>
          <a:ln/>
        </p:spPr>
        <p:txBody>
          <a:bodyPr wrap="square" lIns="0" tIns="0" rIns="0" bIns="0" rtlCol="0" anchor="ctr"/>
          <a:lstStyle/>
          <a:p>
            <a:pPr marL="0" indent="0">
              <a:buNone/>
            </a:pPr>
            <a:r>
              <a:rPr lang="en-US" sz="1300" b="1" dirty="0">
                <a:solidFill>
                  <a:srgbClr val="4FB3CC"/>
                </a:solidFill>
                <a:latin typeface="Arial" pitchFamily="34" charset="0"/>
                <a:ea typeface="Arial" pitchFamily="34" charset="-122"/>
                <a:cs typeface="Arial" pitchFamily="34" charset="-120"/>
              </a:rPr>
              <a:t>Spy &amp; monitor clients</a:t>
            </a:r>
            <a:endParaRPr lang="en-US" sz="1300" dirty="0"/>
          </a:p>
        </p:txBody>
      </p:sp>
      <p:sp>
        <p:nvSpPr>
          <p:cNvPr id="9" name="card">
            <a:extLst>
              <a:ext uri="{C183D7F6-B498-43B3-948B-1728B52AA6E4}">
                <adec:decorative xmlns:adec="http://schemas.microsoft.com/office/drawing/2017/decorative" val="1"/>
              </a:ext>
            </a:extLst>
          </p:cNvPr>
          <p:cNvSpPr/>
          <p:nvPr/>
        </p:nvSpPr>
        <p:spPr>
          <a:xfrm>
            <a:off x="4828032" y="1792224"/>
            <a:ext cx="1801368" cy="640080"/>
          </a:xfrm>
          <a:prstGeom prst="roundRect">
            <a:avLst>
              <a:gd name="adj" fmla="val 8571"/>
            </a:avLst>
          </a:prstGeom>
          <a:solidFill>
            <a:srgbClr val="26262D"/>
          </a:solidFill>
          <a:ln w="12700">
            <a:solidFill>
              <a:srgbClr val="3B3B46"/>
            </a:solidFill>
            <a:prstDash val="solid"/>
          </a:ln>
        </p:spPr>
        <p:txBody>
          <a:bodyPr/>
          <a:lstStyle/>
          <a:p>
            <a:endParaRPr lang="en-SE"/>
          </a:p>
        </p:txBody>
      </p:sp>
      <p:sp>
        <p:nvSpPr>
          <p:cNvPr id="10" name="spy accent">
            <a:extLst>
              <a:ext uri="{C183D7F6-B498-43B3-948B-1728B52AA6E4}">
                <adec:decorative xmlns:adec="http://schemas.microsoft.com/office/drawing/2017/decorative" val="1"/>
              </a:ext>
            </a:extLst>
          </p:cNvPr>
          <p:cNvSpPr/>
          <p:nvPr/>
        </p:nvSpPr>
        <p:spPr>
          <a:xfrm>
            <a:off x="4828032" y="1792224"/>
            <a:ext cx="54864" cy="640080"/>
          </a:xfrm>
          <a:prstGeom prst="rect">
            <a:avLst/>
          </a:prstGeom>
          <a:solidFill>
            <a:srgbClr val="4FB3CC"/>
          </a:solidFill>
          <a:ln/>
        </p:spPr>
        <p:txBody>
          <a:bodyPr/>
          <a:lstStyle/>
          <a:p>
            <a:endParaRPr lang="en-SE"/>
          </a:p>
        </p:txBody>
      </p:sp>
      <p:sp>
        <p:nvSpPr>
          <p:cNvPr id="11" name="Text 9"/>
          <p:cNvSpPr/>
          <p:nvPr/>
        </p:nvSpPr>
        <p:spPr>
          <a:xfrm>
            <a:off x="4992624" y="1883664"/>
            <a:ext cx="1545336" cy="256032"/>
          </a:xfrm>
          <a:prstGeom prst="rect">
            <a:avLst/>
          </a:prstGeom>
          <a:noFill/>
          <a:ln/>
        </p:spPr>
        <p:txBody>
          <a:bodyPr wrap="square" lIns="0" tIns="0" rIns="0" bIns="0" rtlCol="0" anchor="ctr"/>
          <a:lstStyle/>
          <a:p>
            <a:pPr marL="0" indent="0">
              <a:buNone/>
            </a:pPr>
            <a:r>
              <a:rPr lang="en-US" sz="1100" b="1" dirty="0">
                <a:solidFill>
                  <a:srgbClr val="ECECEC"/>
                </a:solidFill>
                <a:latin typeface="Courier New" pitchFamily="34" charset="0"/>
                <a:ea typeface="Courier New" pitchFamily="34" charset="-122"/>
                <a:cs typeface="Courier New" pitchFamily="34" charset="-120"/>
              </a:rPr>
              <a:t>pm-viewer</a:t>
            </a:r>
            <a:endParaRPr lang="en-US" sz="1100" dirty="0"/>
          </a:p>
        </p:txBody>
      </p:sp>
      <p:sp>
        <p:nvSpPr>
          <p:cNvPr id="12" name="Text 10"/>
          <p:cNvSpPr/>
          <p:nvPr/>
        </p:nvSpPr>
        <p:spPr>
          <a:xfrm>
            <a:off x="4992624" y="2139696"/>
            <a:ext cx="1545336" cy="237744"/>
          </a:xfrm>
          <a:prstGeom prst="rect">
            <a:avLst/>
          </a:prstGeom>
          <a:noFill/>
          <a:ln/>
        </p:spPr>
        <p:txBody>
          <a:bodyPr wrap="square" lIns="0" tIns="0" rIns="0" bIns="0" rtlCol="0" anchor="ctr"/>
          <a:lstStyle/>
          <a:p>
            <a:pPr marL="0" indent="0">
              <a:buNone/>
            </a:pPr>
            <a:r>
              <a:rPr lang="en-US" sz="950" dirty="0">
                <a:solidFill>
                  <a:srgbClr val="B4B4BE"/>
                </a:solidFill>
                <a:latin typeface="Calibri" pitchFamily="34" charset="0"/>
                <a:ea typeface="Calibri" pitchFamily="34" charset="-122"/>
                <a:cs typeface="Calibri" pitchFamily="34" charset="-120"/>
              </a:rPr>
              <a:t>single-symbol book</a:t>
            </a:r>
            <a:endParaRPr lang="en-US" sz="950" dirty="0"/>
          </a:p>
        </p:txBody>
      </p:sp>
      <p:sp>
        <p:nvSpPr>
          <p:cNvPr id="13" name="card">
            <a:extLst>
              <a:ext uri="{C183D7F6-B498-43B3-948B-1728B52AA6E4}">
                <adec:decorative xmlns:adec="http://schemas.microsoft.com/office/drawing/2017/decorative" val="1"/>
              </a:ext>
            </a:extLst>
          </p:cNvPr>
          <p:cNvSpPr/>
          <p:nvPr/>
        </p:nvSpPr>
        <p:spPr>
          <a:xfrm>
            <a:off x="6775704" y="1792224"/>
            <a:ext cx="1801368" cy="640080"/>
          </a:xfrm>
          <a:prstGeom prst="roundRect">
            <a:avLst>
              <a:gd name="adj" fmla="val 8571"/>
            </a:avLst>
          </a:prstGeom>
          <a:solidFill>
            <a:srgbClr val="26262D"/>
          </a:solidFill>
          <a:ln w="12700">
            <a:solidFill>
              <a:srgbClr val="3B3B46"/>
            </a:solidFill>
            <a:prstDash val="solid"/>
          </a:ln>
        </p:spPr>
        <p:txBody>
          <a:bodyPr/>
          <a:lstStyle/>
          <a:p>
            <a:endParaRPr lang="en-SE"/>
          </a:p>
        </p:txBody>
      </p:sp>
      <p:sp>
        <p:nvSpPr>
          <p:cNvPr id="14" name="spy accent">
            <a:extLst>
              <a:ext uri="{C183D7F6-B498-43B3-948B-1728B52AA6E4}">
                <adec:decorative xmlns:adec="http://schemas.microsoft.com/office/drawing/2017/decorative" val="1"/>
              </a:ext>
            </a:extLst>
          </p:cNvPr>
          <p:cNvSpPr/>
          <p:nvPr/>
        </p:nvSpPr>
        <p:spPr>
          <a:xfrm>
            <a:off x="6775704" y="1792224"/>
            <a:ext cx="54864" cy="640080"/>
          </a:xfrm>
          <a:prstGeom prst="rect">
            <a:avLst/>
          </a:prstGeom>
          <a:solidFill>
            <a:srgbClr val="4FB3CC"/>
          </a:solidFill>
          <a:ln/>
        </p:spPr>
        <p:txBody>
          <a:bodyPr/>
          <a:lstStyle/>
          <a:p>
            <a:endParaRPr lang="en-SE"/>
          </a:p>
        </p:txBody>
      </p:sp>
      <p:sp>
        <p:nvSpPr>
          <p:cNvPr id="15" name="Text 13"/>
          <p:cNvSpPr/>
          <p:nvPr/>
        </p:nvSpPr>
        <p:spPr>
          <a:xfrm>
            <a:off x="6940296" y="1883664"/>
            <a:ext cx="1545336" cy="256032"/>
          </a:xfrm>
          <a:prstGeom prst="rect">
            <a:avLst/>
          </a:prstGeom>
          <a:noFill/>
          <a:ln/>
        </p:spPr>
        <p:txBody>
          <a:bodyPr wrap="square" lIns="0" tIns="0" rIns="0" bIns="0" rtlCol="0" anchor="ctr"/>
          <a:lstStyle/>
          <a:p>
            <a:pPr marL="0" indent="0">
              <a:buNone/>
            </a:pPr>
            <a:r>
              <a:rPr lang="en-US" sz="1100" b="1" dirty="0">
                <a:solidFill>
                  <a:srgbClr val="ECECEC"/>
                </a:solidFill>
                <a:latin typeface="Courier New" pitchFamily="34" charset="0"/>
                <a:ea typeface="Courier New" pitchFamily="34" charset="-122"/>
                <a:cs typeface="Courier New" pitchFamily="34" charset="-120"/>
              </a:rPr>
              <a:t>pm-board</a:t>
            </a:r>
            <a:endParaRPr lang="en-US" sz="1100" dirty="0"/>
          </a:p>
        </p:txBody>
      </p:sp>
      <p:sp>
        <p:nvSpPr>
          <p:cNvPr id="16" name="Text 14"/>
          <p:cNvSpPr/>
          <p:nvPr/>
        </p:nvSpPr>
        <p:spPr>
          <a:xfrm>
            <a:off x="6940296" y="2139696"/>
            <a:ext cx="1545336" cy="237744"/>
          </a:xfrm>
          <a:prstGeom prst="rect">
            <a:avLst/>
          </a:prstGeom>
          <a:noFill/>
          <a:ln/>
        </p:spPr>
        <p:txBody>
          <a:bodyPr wrap="square" lIns="0" tIns="0" rIns="0" bIns="0" rtlCol="0" anchor="ctr"/>
          <a:lstStyle/>
          <a:p>
            <a:pPr marL="0" indent="0">
              <a:buNone/>
            </a:pPr>
            <a:r>
              <a:rPr lang="en-US" sz="950" dirty="0">
                <a:solidFill>
                  <a:srgbClr val="B4B4BE"/>
                </a:solidFill>
                <a:latin typeface="Calibri" pitchFamily="34" charset="0"/>
                <a:ea typeface="Calibri" pitchFamily="34" charset="-122"/>
                <a:cs typeface="Calibri" pitchFamily="34" charset="-120"/>
              </a:rPr>
              <a:t>multi-symbol board</a:t>
            </a:r>
            <a:endParaRPr lang="en-US" sz="950" dirty="0"/>
          </a:p>
        </p:txBody>
      </p:sp>
      <p:sp>
        <p:nvSpPr>
          <p:cNvPr id="17" name="card">
            <a:extLst>
              <a:ext uri="{C183D7F6-B498-43B3-948B-1728B52AA6E4}">
                <adec:decorative xmlns:adec="http://schemas.microsoft.com/office/drawing/2017/decorative" val="1"/>
              </a:ext>
            </a:extLst>
          </p:cNvPr>
          <p:cNvSpPr/>
          <p:nvPr/>
        </p:nvSpPr>
        <p:spPr>
          <a:xfrm>
            <a:off x="4828032" y="2560320"/>
            <a:ext cx="1801368" cy="640080"/>
          </a:xfrm>
          <a:prstGeom prst="roundRect">
            <a:avLst>
              <a:gd name="adj" fmla="val 8571"/>
            </a:avLst>
          </a:prstGeom>
          <a:solidFill>
            <a:srgbClr val="26262D"/>
          </a:solidFill>
          <a:ln w="12700">
            <a:solidFill>
              <a:srgbClr val="3B3B46"/>
            </a:solidFill>
            <a:prstDash val="solid"/>
          </a:ln>
        </p:spPr>
        <p:txBody>
          <a:bodyPr/>
          <a:lstStyle/>
          <a:p>
            <a:endParaRPr lang="en-SE"/>
          </a:p>
        </p:txBody>
      </p:sp>
      <p:sp>
        <p:nvSpPr>
          <p:cNvPr id="18" name="spy accent">
            <a:extLst>
              <a:ext uri="{C183D7F6-B498-43B3-948B-1728B52AA6E4}">
                <adec:decorative xmlns:adec="http://schemas.microsoft.com/office/drawing/2017/decorative" val="1"/>
              </a:ext>
            </a:extLst>
          </p:cNvPr>
          <p:cNvSpPr/>
          <p:nvPr/>
        </p:nvSpPr>
        <p:spPr>
          <a:xfrm>
            <a:off x="4828032" y="2560320"/>
            <a:ext cx="54864" cy="640080"/>
          </a:xfrm>
          <a:prstGeom prst="rect">
            <a:avLst/>
          </a:prstGeom>
          <a:solidFill>
            <a:srgbClr val="4FB3CC"/>
          </a:solidFill>
          <a:ln/>
        </p:spPr>
        <p:txBody>
          <a:bodyPr/>
          <a:lstStyle/>
          <a:p>
            <a:endParaRPr lang="en-SE"/>
          </a:p>
        </p:txBody>
      </p:sp>
      <p:sp>
        <p:nvSpPr>
          <p:cNvPr id="19" name="Text 17"/>
          <p:cNvSpPr/>
          <p:nvPr/>
        </p:nvSpPr>
        <p:spPr>
          <a:xfrm>
            <a:off x="4992624" y="2651760"/>
            <a:ext cx="1545336" cy="256032"/>
          </a:xfrm>
          <a:prstGeom prst="rect">
            <a:avLst/>
          </a:prstGeom>
          <a:noFill/>
          <a:ln/>
        </p:spPr>
        <p:txBody>
          <a:bodyPr wrap="square" lIns="0" tIns="0" rIns="0" bIns="0" rtlCol="0" anchor="ctr"/>
          <a:lstStyle/>
          <a:p>
            <a:pPr marL="0" indent="0">
              <a:buNone/>
            </a:pPr>
            <a:r>
              <a:rPr lang="en-US" sz="1100" b="1" dirty="0">
                <a:solidFill>
                  <a:srgbClr val="ECECEC"/>
                </a:solidFill>
                <a:latin typeface="Courier New" pitchFamily="34" charset="0"/>
                <a:ea typeface="Courier New" pitchFamily="34" charset="-122"/>
                <a:cs typeface="Courier New" pitchFamily="34" charset="-120"/>
              </a:rPr>
              <a:t>pm-ticker</a:t>
            </a:r>
            <a:endParaRPr lang="en-US" sz="1100" dirty="0"/>
          </a:p>
        </p:txBody>
      </p:sp>
      <p:sp>
        <p:nvSpPr>
          <p:cNvPr id="20" name="Text 18"/>
          <p:cNvSpPr/>
          <p:nvPr/>
        </p:nvSpPr>
        <p:spPr>
          <a:xfrm>
            <a:off x="4992624" y="2907792"/>
            <a:ext cx="1545336" cy="237744"/>
          </a:xfrm>
          <a:prstGeom prst="rect">
            <a:avLst/>
          </a:prstGeom>
          <a:noFill/>
          <a:ln/>
        </p:spPr>
        <p:txBody>
          <a:bodyPr wrap="square" lIns="0" tIns="0" rIns="0" bIns="0" rtlCol="0" anchor="ctr"/>
          <a:lstStyle/>
          <a:p>
            <a:pPr marL="0" indent="0">
              <a:buNone/>
            </a:pPr>
            <a:r>
              <a:rPr lang="en-US" sz="950" dirty="0">
                <a:solidFill>
                  <a:srgbClr val="B4B4BE"/>
                </a:solidFill>
                <a:latin typeface="Calibri" pitchFamily="34" charset="0"/>
                <a:ea typeface="Calibri" pitchFamily="34" charset="-122"/>
                <a:cs typeface="Calibri" pitchFamily="34" charset="-120"/>
              </a:rPr>
              <a:t>tape + OHLCV</a:t>
            </a:r>
            <a:endParaRPr lang="en-US" sz="950" dirty="0"/>
          </a:p>
        </p:txBody>
      </p:sp>
      <p:sp>
        <p:nvSpPr>
          <p:cNvPr id="21" name="card">
            <a:extLst>
              <a:ext uri="{C183D7F6-B498-43B3-948B-1728B52AA6E4}">
                <adec:decorative xmlns:adec="http://schemas.microsoft.com/office/drawing/2017/decorative" val="1"/>
              </a:ext>
            </a:extLst>
          </p:cNvPr>
          <p:cNvSpPr/>
          <p:nvPr/>
        </p:nvSpPr>
        <p:spPr>
          <a:xfrm>
            <a:off x="6775704" y="2560320"/>
            <a:ext cx="1801368" cy="640080"/>
          </a:xfrm>
          <a:prstGeom prst="roundRect">
            <a:avLst>
              <a:gd name="adj" fmla="val 8571"/>
            </a:avLst>
          </a:prstGeom>
          <a:solidFill>
            <a:srgbClr val="26262D"/>
          </a:solidFill>
          <a:ln w="12700">
            <a:solidFill>
              <a:srgbClr val="3B3B46"/>
            </a:solidFill>
            <a:prstDash val="solid"/>
          </a:ln>
        </p:spPr>
        <p:txBody>
          <a:bodyPr/>
          <a:lstStyle/>
          <a:p>
            <a:endParaRPr lang="en-SE"/>
          </a:p>
        </p:txBody>
      </p:sp>
      <p:sp>
        <p:nvSpPr>
          <p:cNvPr id="22" name="spy accent">
            <a:extLst>
              <a:ext uri="{C183D7F6-B498-43B3-948B-1728B52AA6E4}">
                <adec:decorative xmlns:adec="http://schemas.microsoft.com/office/drawing/2017/decorative" val="1"/>
              </a:ext>
            </a:extLst>
          </p:cNvPr>
          <p:cNvSpPr/>
          <p:nvPr/>
        </p:nvSpPr>
        <p:spPr>
          <a:xfrm>
            <a:off x="6775704" y="2560320"/>
            <a:ext cx="54864" cy="640080"/>
          </a:xfrm>
          <a:prstGeom prst="rect">
            <a:avLst/>
          </a:prstGeom>
          <a:solidFill>
            <a:srgbClr val="4FB3CC"/>
          </a:solidFill>
          <a:ln/>
        </p:spPr>
        <p:txBody>
          <a:bodyPr/>
          <a:lstStyle/>
          <a:p>
            <a:endParaRPr lang="en-SE"/>
          </a:p>
        </p:txBody>
      </p:sp>
      <p:sp>
        <p:nvSpPr>
          <p:cNvPr id="23" name="Text 21"/>
          <p:cNvSpPr/>
          <p:nvPr/>
        </p:nvSpPr>
        <p:spPr>
          <a:xfrm>
            <a:off x="6940296" y="2651760"/>
            <a:ext cx="1545336" cy="256032"/>
          </a:xfrm>
          <a:prstGeom prst="rect">
            <a:avLst/>
          </a:prstGeom>
          <a:noFill/>
          <a:ln/>
        </p:spPr>
        <p:txBody>
          <a:bodyPr wrap="square" lIns="0" tIns="0" rIns="0" bIns="0" rtlCol="0" anchor="ctr"/>
          <a:lstStyle/>
          <a:p>
            <a:pPr marL="0" indent="0">
              <a:buNone/>
            </a:pPr>
            <a:r>
              <a:rPr lang="en-US" sz="1100" b="1" dirty="0">
                <a:solidFill>
                  <a:srgbClr val="ECECEC"/>
                </a:solidFill>
                <a:latin typeface="Courier New" pitchFamily="34" charset="0"/>
                <a:ea typeface="Courier New" pitchFamily="34" charset="-122"/>
                <a:cs typeface="Courier New" pitchFamily="34" charset="-120"/>
              </a:rPr>
              <a:t>pm-orders</a:t>
            </a:r>
            <a:endParaRPr lang="en-US" sz="1100" dirty="0"/>
          </a:p>
        </p:txBody>
      </p:sp>
      <p:sp>
        <p:nvSpPr>
          <p:cNvPr id="24" name="Text 22"/>
          <p:cNvSpPr/>
          <p:nvPr/>
        </p:nvSpPr>
        <p:spPr>
          <a:xfrm>
            <a:off x="6940296" y="2907792"/>
            <a:ext cx="1545336" cy="237744"/>
          </a:xfrm>
          <a:prstGeom prst="rect">
            <a:avLst/>
          </a:prstGeom>
          <a:noFill/>
          <a:ln/>
        </p:spPr>
        <p:txBody>
          <a:bodyPr wrap="square" lIns="0" tIns="0" rIns="0" bIns="0" rtlCol="0" anchor="ctr"/>
          <a:lstStyle/>
          <a:p>
            <a:pPr marL="0" indent="0">
              <a:buNone/>
            </a:pPr>
            <a:r>
              <a:rPr lang="en-US" sz="950" dirty="0">
                <a:solidFill>
                  <a:srgbClr val="B4B4BE"/>
                </a:solidFill>
                <a:latin typeface="Calibri" pitchFamily="34" charset="0"/>
                <a:ea typeface="Calibri" pitchFamily="34" charset="-122"/>
                <a:cs typeface="Calibri" pitchFamily="34" charset="-120"/>
              </a:rPr>
              <a:t>cross-gateway status</a:t>
            </a:r>
            <a:endParaRPr lang="en-US" sz="950" dirty="0"/>
          </a:p>
        </p:txBody>
      </p:sp>
      <p:sp>
        <p:nvSpPr>
          <p:cNvPr id="25" name="card">
            <a:extLst>
              <a:ext uri="{C183D7F6-B498-43B3-948B-1728B52AA6E4}">
                <adec:decorative xmlns:adec="http://schemas.microsoft.com/office/drawing/2017/decorative" val="1"/>
              </a:ext>
            </a:extLst>
          </p:cNvPr>
          <p:cNvSpPr/>
          <p:nvPr/>
        </p:nvSpPr>
        <p:spPr>
          <a:xfrm>
            <a:off x="4828032" y="3328416"/>
            <a:ext cx="1801368" cy="640080"/>
          </a:xfrm>
          <a:prstGeom prst="roundRect">
            <a:avLst>
              <a:gd name="adj" fmla="val 8571"/>
            </a:avLst>
          </a:prstGeom>
          <a:solidFill>
            <a:srgbClr val="26262D"/>
          </a:solidFill>
          <a:ln w="12700">
            <a:solidFill>
              <a:srgbClr val="3B3B46"/>
            </a:solidFill>
            <a:prstDash val="solid"/>
          </a:ln>
        </p:spPr>
        <p:txBody>
          <a:bodyPr/>
          <a:lstStyle/>
          <a:p>
            <a:endParaRPr lang="en-SE"/>
          </a:p>
        </p:txBody>
      </p:sp>
      <p:sp>
        <p:nvSpPr>
          <p:cNvPr id="26" name="spy accent">
            <a:extLst>
              <a:ext uri="{C183D7F6-B498-43B3-948B-1728B52AA6E4}">
                <adec:decorative xmlns:adec="http://schemas.microsoft.com/office/drawing/2017/decorative" val="1"/>
              </a:ext>
            </a:extLst>
          </p:cNvPr>
          <p:cNvSpPr/>
          <p:nvPr/>
        </p:nvSpPr>
        <p:spPr>
          <a:xfrm>
            <a:off x="4828032" y="3328416"/>
            <a:ext cx="54864" cy="640080"/>
          </a:xfrm>
          <a:prstGeom prst="rect">
            <a:avLst/>
          </a:prstGeom>
          <a:solidFill>
            <a:srgbClr val="4FB3CC"/>
          </a:solidFill>
          <a:ln/>
        </p:spPr>
        <p:txBody>
          <a:bodyPr/>
          <a:lstStyle/>
          <a:p>
            <a:endParaRPr lang="en-SE"/>
          </a:p>
        </p:txBody>
      </p:sp>
      <p:sp>
        <p:nvSpPr>
          <p:cNvPr id="27" name="Text 25"/>
          <p:cNvSpPr/>
          <p:nvPr/>
        </p:nvSpPr>
        <p:spPr>
          <a:xfrm>
            <a:off x="4992624" y="3419856"/>
            <a:ext cx="1545336" cy="256032"/>
          </a:xfrm>
          <a:prstGeom prst="rect">
            <a:avLst/>
          </a:prstGeom>
          <a:noFill/>
          <a:ln/>
        </p:spPr>
        <p:txBody>
          <a:bodyPr wrap="square" lIns="0" tIns="0" rIns="0" bIns="0" rtlCol="0" anchor="ctr"/>
          <a:lstStyle/>
          <a:p>
            <a:pPr marL="0" indent="0">
              <a:buNone/>
            </a:pPr>
            <a:r>
              <a:rPr lang="en-US" sz="1100" b="1" dirty="0">
                <a:solidFill>
                  <a:srgbClr val="ECECEC"/>
                </a:solidFill>
                <a:latin typeface="Courier New" pitchFamily="34" charset="0"/>
                <a:ea typeface="Courier New" pitchFamily="34" charset="-122"/>
                <a:cs typeface="Courier New" pitchFamily="34" charset="-120"/>
              </a:rPr>
              <a:t>pm-audit</a:t>
            </a:r>
            <a:endParaRPr lang="en-US" sz="1100" dirty="0"/>
          </a:p>
        </p:txBody>
      </p:sp>
      <p:sp>
        <p:nvSpPr>
          <p:cNvPr id="28" name="Text 26"/>
          <p:cNvSpPr/>
          <p:nvPr/>
        </p:nvSpPr>
        <p:spPr>
          <a:xfrm>
            <a:off x="4992624" y="3675888"/>
            <a:ext cx="1545336" cy="237744"/>
          </a:xfrm>
          <a:prstGeom prst="rect">
            <a:avLst/>
          </a:prstGeom>
          <a:noFill/>
          <a:ln/>
        </p:spPr>
        <p:txBody>
          <a:bodyPr wrap="square" lIns="0" tIns="0" rIns="0" bIns="0" rtlCol="0" anchor="ctr"/>
          <a:lstStyle/>
          <a:p>
            <a:pPr marL="0" indent="0">
              <a:buNone/>
            </a:pPr>
            <a:r>
              <a:rPr lang="en-US" sz="950" dirty="0">
                <a:solidFill>
                  <a:srgbClr val="B4B4BE"/>
                </a:solidFill>
                <a:latin typeface="Calibri" pitchFamily="34" charset="0"/>
                <a:ea typeface="Calibri" pitchFamily="34" charset="-122"/>
                <a:cs typeface="Calibri" pitchFamily="34" charset="-120"/>
              </a:rPr>
              <a:t>full event capture</a:t>
            </a:r>
            <a:endParaRPr lang="en-US" sz="950" dirty="0"/>
          </a:p>
        </p:txBody>
      </p:sp>
      <p:sp>
        <p:nvSpPr>
          <p:cNvPr id="29" name="card">
            <a:extLst>
              <a:ext uri="{C183D7F6-B498-43B3-948B-1728B52AA6E4}">
                <adec:decorative xmlns:adec="http://schemas.microsoft.com/office/drawing/2017/decorative" val="1"/>
              </a:ext>
            </a:extLst>
          </p:cNvPr>
          <p:cNvSpPr/>
          <p:nvPr/>
        </p:nvSpPr>
        <p:spPr>
          <a:xfrm>
            <a:off x="6775704" y="3328416"/>
            <a:ext cx="1801368" cy="640080"/>
          </a:xfrm>
          <a:prstGeom prst="roundRect">
            <a:avLst>
              <a:gd name="adj" fmla="val 8571"/>
            </a:avLst>
          </a:prstGeom>
          <a:solidFill>
            <a:srgbClr val="26262D"/>
          </a:solidFill>
          <a:ln w="12700">
            <a:solidFill>
              <a:srgbClr val="3B3B46"/>
            </a:solidFill>
            <a:prstDash val="solid"/>
          </a:ln>
        </p:spPr>
        <p:txBody>
          <a:bodyPr/>
          <a:lstStyle/>
          <a:p>
            <a:endParaRPr lang="en-SE"/>
          </a:p>
        </p:txBody>
      </p:sp>
      <p:sp>
        <p:nvSpPr>
          <p:cNvPr id="30" name="spy accent">
            <a:extLst>
              <a:ext uri="{C183D7F6-B498-43B3-948B-1728B52AA6E4}">
                <adec:decorative xmlns:adec="http://schemas.microsoft.com/office/drawing/2017/decorative" val="1"/>
              </a:ext>
            </a:extLst>
          </p:cNvPr>
          <p:cNvSpPr/>
          <p:nvPr/>
        </p:nvSpPr>
        <p:spPr>
          <a:xfrm>
            <a:off x="6775704" y="3328416"/>
            <a:ext cx="54864" cy="640080"/>
          </a:xfrm>
          <a:prstGeom prst="rect">
            <a:avLst/>
          </a:prstGeom>
          <a:solidFill>
            <a:srgbClr val="4FB3CC"/>
          </a:solidFill>
          <a:ln/>
        </p:spPr>
        <p:txBody>
          <a:bodyPr/>
          <a:lstStyle/>
          <a:p>
            <a:endParaRPr lang="en-SE"/>
          </a:p>
        </p:txBody>
      </p:sp>
      <p:sp>
        <p:nvSpPr>
          <p:cNvPr id="31" name="Text 29"/>
          <p:cNvSpPr/>
          <p:nvPr/>
        </p:nvSpPr>
        <p:spPr>
          <a:xfrm>
            <a:off x="6940296" y="3419856"/>
            <a:ext cx="1545336" cy="256032"/>
          </a:xfrm>
          <a:prstGeom prst="rect">
            <a:avLst/>
          </a:prstGeom>
          <a:noFill/>
          <a:ln/>
        </p:spPr>
        <p:txBody>
          <a:bodyPr wrap="square" lIns="0" tIns="0" rIns="0" bIns="0" rtlCol="0" anchor="ctr"/>
          <a:lstStyle/>
          <a:p>
            <a:pPr marL="0" indent="0">
              <a:buNone/>
            </a:pPr>
            <a:r>
              <a:rPr lang="en-US" sz="1100" b="1" dirty="0">
                <a:solidFill>
                  <a:srgbClr val="ECECEC"/>
                </a:solidFill>
                <a:latin typeface="Courier New" pitchFamily="34" charset="0"/>
                <a:ea typeface="Courier New" pitchFamily="34" charset="-122"/>
                <a:cs typeface="Courier New" pitchFamily="34" charset="-120"/>
              </a:rPr>
              <a:t>pm-calf-spy</a:t>
            </a:r>
            <a:endParaRPr lang="en-US" sz="1100" dirty="0"/>
          </a:p>
        </p:txBody>
      </p:sp>
      <p:sp>
        <p:nvSpPr>
          <p:cNvPr id="32" name="Text 30"/>
          <p:cNvSpPr/>
          <p:nvPr/>
        </p:nvSpPr>
        <p:spPr>
          <a:xfrm>
            <a:off x="6940296" y="3675888"/>
            <a:ext cx="1545336" cy="237744"/>
          </a:xfrm>
          <a:prstGeom prst="rect">
            <a:avLst/>
          </a:prstGeom>
          <a:noFill/>
          <a:ln/>
        </p:spPr>
        <p:txBody>
          <a:bodyPr wrap="square" lIns="0" tIns="0" rIns="0" bIns="0" rtlCol="0" anchor="ctr"/>
          <a:lstStyle/>
          <a:p>
            <a:pPr marL="0" indent="0">
              <a:buNone/>
            </a:pPr>
            <a:r>
              <a:rPr lang="en-US" sz="950" dirty="0">
                <a:solidFill>
                  <a:srgbClr val="B4B4BE"/>
                </a:solidFill>
                <a:latin typeface="Calibri" pitchFamily="34" charset="0"/>
                <a:ea typeface="Calibri" pitchFamily="34" charset="-122"/>
                <a:cs typeface="Calibri" pitchFamily="34" charset="-120"/>
              </a:rPr>
              <a:t>market-data feed</a:t>
            </a:r>
            <a:endParaRPr lang="en-US" sz="950" dirty="0"/>
          </a:p>
        </p:txBody>
      </p:sp>
      <p:sp>
        <p:nvSpPr>
          <p:cNvPr id="33" name="Text 31"/>
          <p:cNvSpPr/>
          <p:nvPr/>
        </p:nvSpPr>
        <p:spPr>
          <a:xfrm>
            <a:off x="4828032" y="4224528"/>
            <a:ext cx="3749040" cy="365760"/>
          </a:xfrm>
          <a:prstGeom prst="rect">
            <a:avLst/>
          </a:prstGeom>
          <a:noFill/>
          <a:ln/>
        </p:spPr>
        <p:txBody>
          <a:bodyPr wrap="square" lIns="0" tIns="0" rIns="0" bIns="0" rtlCol="0" anchor="t"/>
          <a:lstStyle/>
          <a:p>
            <a:pPr marL="0" indent="0">
              <a:lnSpc>
                <a:spcPct val="105000"/>
              </a:lnSpc>
              <a:buNone/>
            </a:pPr>
            <a:r>
              <a:rPr lang="en-US" sz="1000" i="1" dirty="0">
                <a:solidFill>
                  <a:srgbClr val="B4B4BE"/>
                </a:solidFill>
                <a:latin typeface="Calibri" pitchFamily="34" charset="0"/>
                <a:ea typeface="Calibri" pitchFamily="34" charset="-122"/>
                <a:cs typeface="Calibri" pitchFamily="34" charset="-120"/>
              </a:rPr>
              <a:t>Drop-copy on :5557 streams every fill for risk &amp; back-office (no auth).</a:t>
            </a:r>
            <a:endParaRPr lang="en-US" sz="1000" dirty="0"/>
          </a:p>
        </p:txBody>
      </p:sp>
      <p:sp>
        <p:nvSpPr>
          <p:cNvPr id="35" name="Text 32"/>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36" name="Text 33"/>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35</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15 · COMBO ORDERS</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Multi-leg combo orders</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627632"/>
            <a:ext cx="2286000" cy="658368"/>
          </a:xfrm>
          <a:prstGeom prst="roundRect">
            <a:avLst>
              <a:gd name="adj" fmla="val 8333"/>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state accent">
            <a:extLst>
              <a:ext uri="{C183D7F6-B498-43B3-948B-1728B52AA6E4}">
                <adec:decorative xmlns:adec="http://schemas.microsoft.com/office/drawing/2017/decorative" val="1"/>
              </a:ext>
            </a:extLst>
          </p:cNvPr>
          <p:cNvSpPr/>
          <p:nvPr/>
        </p:nvSpPr>
        <p:spPr>
          <a:xfrm>
            <a:off x="566928" y="1627632"/>
            <a:ext cx="54864" cy="658368"/>
          </a:xfrm>
          <a:prstGeom prst="rect">
            <a:avLst/>
          </a:prstGeom>
          <a:solidFill>
            <a:srgbClr val="8FA0B0"/>
          </a:solidFill>
          <a:ln/>
        </p:spPr>
        <p:txBody>
          <a:bodyPr/>
          <a:lstStyle/>
          <a:p>
            <a:endParaRPr lang="en-SE"/>
          </a:p>
        </p:txBody>
      </p:sp>
      <p:sp>
        <p:nvSpPr>
          <p:cNvPr id="7" name="Text 5"/>
          <p:cNvSpPr/>
          <p:nvPr/>
        </p:nvSpPr>
        <p:spPr>
          <a:xfrm>
            <a:off x="694944" y="1627632"/>
            <a:ext cx="2066544" cy="658368"/>
          </a:xfrm>
          <a:prstGeom prst="rect">
            <a:avLst/>
          </a:prstGeom>
          <a:noFill/>
          <a:ln/>
        </p:spPr>
        <p:txBody>
          <a:bodyPr wrap="square" lIns="0" tIns="0" rIns="0" bIns="0" rtlCol="0" anchor="ctr"/>
          <a:lstStyle/>
          <a:p>
            <a:pPr marL="0" indent="0" algn="ctr">
              <a:buNone/>
            </a:pPr>
            <a:r>
              <a:rPr lang="en-US" sz="1200" b="1" dirty="0">
                <a:solidFill>
                  <a:srgbClr val="ECECEC"/>
                </a:solidFill>
                <a:latin typeface="Courier New" pitchFamily="34" charset="0"/>
                <a:ea typeface="Courier New" pitchFamily="34" charset="-122"/>
                <a:cs typeface="Courier New" pitchFamily="34" charset="-120"/>
              </a:rPr>
              <a:t>PENDING</a:t>
            </a:r>
            <a:endParaRPr lang="en-US" sz="1200" dirty="0"/>
          </a:p>
        </p:txBody>
      </p:sp>
      <p:sp>
        <p:nvSpPr>
          <p:cNvPr id="8" name="flow arrow">
            <a:extLst>
              <a:ext uri="{C183D7F6-B498-43B3-948B-1728B52AA6E4}">
                <adec:decorative xmlns:adec="http://schemas.microsoft.com/office/drawing/2017/decorative" val="1"/>
              </a:ext>
            </a:extLst>
          </p:cNvPr>
          <p:cNvSpPr/>
          <p:nvPr/>
        </p:nvSpPr>
        <p:spPr>
          <a:xfrm>
            <a:off x="2926080" y="1956816"/>
            <a:ext cx="356616" cy="0"/>
          </a:xfrm>
          <a:prstGeom prst="line">
            <a:avLst/>
          </a:prstGeom>
          <a:noFill/>
          <a:ln w="25400">
            <a:solidFill>
              <a:srgbClr val="F2860D"/>
            </a:solidFill>
            <a:prstDash val="solid"/>
            <a:tailEnd type="triangle"/>
          </a:ln>
        </p:spPr>
        <p:txBody>
          <a:bodyPr/>
          <a:lstStyle/>
          <a:p>
            <a:endParaRPr lang="en-SE"/>
          </a:p>
        </p:txBody>
      </p:sp>
      <p:sp>
        <p:nvSpPr>
          <p:cNvPr id="9" name="card">
            <a:extLst>
              <a:ext uri="{C183D7F6-B498-43B3-948B-1728B52AA6E4}">
                <adec:decorative xmlns:adec="http://schemas.microsoft.com/office/drawing/2017/decorative" val="1"/>
              </a:ext>
            </a:extLst>
          </p:cNvPr>
          <p:cNvSpPr/>
          <p:nvPr/>
        </p:nvSpPr>
        <p:spPr>
          <a:xfrm>
            <a:off x="3355848" y="1627632"/>
            <a:ext cx="2286000" cy="658368"/>
          </a:xfrm>
          <a:prstGeom prst="roundRect">
            <a:avLst>
              <a:gd name="adj" fmla="val 8333"/>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0" name="state accent">
            <a:extLst>
              <a:ext uri="{C183D7F6-B498-43B3-948B-1728B52AA6E4}">
                <adec:decorative xmlns:adec="http://schemas.microsoft.com/office/drawing/2017/decorative" val="1"/>
              </a:ext>
            </a:extLst>
          </p:cNvPr>
          <p:cNvSpPr/>
          <p:nvPr/>
        </p:nvSpPr>
        <p:spPr>
          <a:xfrm>
            <a:off x="3355848" y="1627632"/>
            <a:ext cx="54864" cy="658368"/>
          </a:xfrm>
          <a:prstGeom prst="rect">
            <a:avLst/>
          </a:prstGeom>
          <a:solidFill>
            <a:srgbClr val="4FB3CC"/>
          </a:solidFill>
          <a:ln/>
        </p:spPr>
        <p:txBody>
          <a:bodyPr/>
          <a:lstStyle/>
          <a:p>
            <a:endParaRPr lang="en-SE"/>
          </a:p>
        </p:txBody>
      </p:sp>
      <p:sp>
        <p:nvSpPr>
          <p:cNvPr id="11" name="Text 9"/>
          <p:cNvSpPr/>
          <p:nvPr/>
        </p:nvSpPr>
        <p:spPr>
          <a:xfrm>
            <a:off x="3483864" y="1627632"/>
            <a:ext cx="2066544" cy="658368"/>
          </a:xfrm>
          <a:prstGeom prst="rect">
            <a:avLst/>
          </a:prstGeom>
          <a:noFill/>
          <a:ln/>
        </p:spPr>
        <p:txBody>
          <a:bodyPr wrap="square" lIns="0" tIns="0" rIns="0" bIns="0" rtlCol="0" anchor="ctr"/>
          <a:lstStyle/>
          <a:p>
            <a:pPr marL="0" indent="0" algn="ctr">
              <a:buNone/>
            </a:pPr>
            <a:r>
              <a:rPr lang="en-US" sz="1200" b="1" dirty="0">
                <a:solidFill>
                  <a:srgbClr val="ECECEC"/>
                </a:solidFill>
                <a:latin typeface="Courier New" pitchFamily="34" charset="0"/>
                <a:ea typeface="Courier New" pitchFamily="34" charset="-122"/>
                <a:cs typeface="Courier New" pitchFamily="34" charset="-120"/>
              </a:rPr>
              <a:t>PARTIALLY_MATCHED</a:t>
            </a:r>
            <a:endParaRPr lang="en-US" sz="1200" dirty="0"/>
          </a:p>
        </p:txBody>
      </p:sp>
      <p:sp>
        <p:nvSpPr>
          <p:cNvPr id="12" name="flow arrow">
            <a:extLst>
              <a:ext uri="{C183D7F6-B498-43B3-948B-1728B52AA6E4}">
                <adec:decorative xmlns:adec="http://schemas.microsoft.com/office/drawing/2017/decorative" val="1"/>
              </a:ext>
            </a:extLst>
          </p:cNvPr>
          <p:cNvSpPr/>
          <p:nvPr/>
        </p:nvSpPr>
        <p:spPr>
          <a:xfrm>
            <a:off x="5715000" y="1956816"/>
            <a:ext cx="356616" cy="0"/>
          </a:xfrm>
          <a:prstGeom prst="line">
            <a:avLst/>
          </a:prstGeom>
          <a:noFill/>
          <a:ln w="25400">
            <a:solidFill>
              <a:srgbClr val="F2860D"/>
            </a:solidFill>
            <a:prstDash val="solid"/>
            <a:tailEnd type="triangle"/>
          </a:ln>
        </p:spPr>
        <p:txBody>
          <a:bodyPr/>
          <a:lstStyle/>
          <a:p>
            <a:endParaRPr lang="en-SE"/>
          </a:p>
        </p:txBody>
      </p:sp>
      <p:sp>
        <p:nvSpPr>
          <p:cNvPr id="13" name="card">
            <a:extLst>
              <a:ext uri="{C183D7F6-B498-43B3-948B-1728B52AA6E4}">
                <adec:decorative xmlns:adec="http://schemas.microsoft.com/office/drawing/2017/decorative" val="1"/>
              </a:ext>
            </a:extLst>
          </p:cNvPr>
          <p:cNvSpPr/>
          <p:nvPr/>
        </p:nvSpPr>
        <p:spPr>
          <a:xfrm>
            <a:off x="6144768" y="1627632"/>
            <a:ext cx="2286000" cy="658368"/>
          </a:xfrm>
          <a:prstGeom prst="roundRect">
            <a:avLst>
              <a:gd name="adj" fmla="val 8333"/>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4" name="state accent">
            <a:extLst>
              <a:ext uri="{C183D7F6-B498-43B3-948B-1728B52AA6E4}">
                <adec:decorative xmlns:adec="http://schemas.microsoft.com/office/drawing/2017/decorative" val="1"/>
              </a:ext>
            </a:extLst>
          </p:cNvPr>
          <p:cNvSpPr/>
          <p:nvPr/>
        </p:nvSpPr>
        <p:spPr>
          <a:xfrm>
            <a:off x="6144768" y="1627632"/>
            <a:ext cx="54864" cy="658368"/>
          </a:xfrm>
          <a:prstGeom prst="rect">
            <a:avLst/>
          </a:prstGeom>
          <a:solidFill>
            <a:srgbClr val="5FC98E"/>
          </a:solidFill>
          <a:ln/>
        </p:spPr>
        <p:txBody>
          <a:bodyPr/>
          <a:lstStyle/>
          <a:p>
            <a:endParaRPr lang="en-SE"/>
          </a:p>
        </p:txBody>
      </p:sp>
      <p:sp>
        <p:nvSpPr>
          <p:cNvPr id="15" name="Text 13"/>
          <p:cNvSpPr/>
          <p:nvPr/>
        </p:nvSpPr>
        <p:spPr>
          <a:xfrm>
            <a:off x="6272784" y="1627632"/>
            <a:ext cx="2066544" cy="658368"/>
          </a:xfrm>
          <a:prstGeom prst="rect">
            <a:avLst/>
          </a:prstGeom>
          <a:noFill/>
          <a:ln/>
        </p:spPr>
        <p:txBody>
          <a:bodyPr wrap="square" lIns="0" tIns="0" rIns="0" bIns="0" rtlCol="0" anchor="ctr"/>
          <a:lstStyle/>
          <a:p>
            <a:pPr marL="0" indent="0" algn="ctr">
              <a:buNone/>
            </a:pPr>
            <a:r>
              <a:rPr lang="en-US" sz="1200" b="1" dirty="0">
                <a:solidFill>
                  <a:srgbClr val="ECECEC"/>
                </a:solidFill>
                <a:latin typeface="Courier New" pitchFamily="34" charset="0"/>
                <a:ea typeface="Courier New" pitchFamily="34" charset="-122"/>
                <a:cs typeface="Courier New" pitchFamily="34" charset="-120"/>
              </a:rPr>
              <a:t>MATCHED</a:t>
            </a:r>
            <a:endParaRPr lang="en-US" sz="1200" dirty="0"/>
          </a:p>
        </p:txBody>
      </p:sp>
      <p:sp>
        <p:nvSpPr>
          <p:cNvPr id="16" name="card">
            <a:extLst>
              <a:ext uri="{C183D7F6-B498-43B3-948B-1728B52AA6E4}">
                <adec:decorative xmlns:adec="http://schemas.microsoft.com/office/drawing/2017/decorative" val="1"/>
              </a:ext>
            </a:extLst>
          </p:cNvPr>
          <p:cNvSpPr/>
          <p:nvPr/>
        </p:nvSpPr>
        <p:spPr>
          <a:xfrm>
            <a:off x="566928" y="2505456"/>
            <a:ext cx="2624328" cy="822960"/>
          </a:xfrm>
          <a:prstGeom prst="roundRect">
            <a:avLst>
              <a:gd name="adj" fmla="val 6667"/>
            </a:avLst>
          </a:prstGeom>
          <a:solidFill>
            <a:srgbClr val="2E2E37"/>
          </a:solidFill>
          <a:ln w="12700">
            <a:solidFill>
              <a:srgbClr val="3B3B46"/>
            </a:solidFill>
            <a:prstDash val="solid"/>
          </a:ln>
        </p:spPr>
        <p:txBody>
          <a:bodyPr/>
          <a:lstStyle/>
          <a:p>
            <a:endParaRPr lang="en-SE"/>
          </a:p>
        </p:txBody>
      </p:sp>
      <p:sp>
        <p:nvSpPr>
          <p:cNvPr id="17" name="Text 15"/>
          <p:cNvSpPr/>
          <p:nvPr/>
        </p:nvSpPr>
        <p:spPr>
          <a:xfrm>
            <a:off x="731520" y="2596896"/>
            <a:ext cx="2350008" cy="274320"/>
          </a:xfrm>
          <a:prstGeom prst="rect">
            <a:avLst/>
          </a:prstGeom>
          <a:noFill/>
          <a:ln/>
        </p:spPr>
        <p:txBody>
          <a:bodyPr wrap="square" lIns="0" tIns="0" rIns="0" bIns="0" rtlCol="0" anchor="ctr"/>
          <a:lstStyle/>
          <a:p>
            <a:pPr marL="0" indent="0">
              <a:buNone/>
            </a:pPr>
            <a:r>
              <a:rPr lang="en-US" sz="1150" b="1" dirty="0">
                <a:solidFill>
                  <a:srgbClr val="F2860D"/>
                </a:solidFill>
                <a:latin typeface="Courier New" pitchFamily="34" charset="0"/>
                <a:ea typeface="Courier New" pitchFamily="34" charset="-122"/>
                <a:cs typeface="Courier New" pitchFamily="34" charset="-120"/>
              </a:rPr>
              <a:t>FAILED</a:t>
            </a:r>
            <a:endParaRPr lang="en-US" sz="1150" dirty="0"/>
          </a:p>
        </p:txBody>
      </p:sp>
      <p:sp>
        <p:nvSpPr>
          <p:cNvPr id="18" name="Text 16"/>
          <p:cNvSpPr/>
          <p:nvPr/>
        </p:nvSpPr>
        <p:spPr>
          <a:xfrm>
            <a:off x="731520" y="2889504"/>
            <a:ext cx="2313432" cy="365760"/>
          </a:xfrm>
          <a:prstGeom prst="rect">
            <a:avLst/>
          </a:prstGeom>
          <a:noFill/>
          <a:ln/>
        </p:spPr>
        <p:txBody>
          <a:bodyPr wrap="square" lIns="0" tIns="0" rIns="0" bIns="0" rtlCol="0" anchor="t"/>
          <a:lstStyle/>
          <a:p>
            <a:pPr marL="0" indent="0">
              <a:lnSpc>
                <a:spcPct val="105000"/>
              </a:lnSpc>
              <a:buNone/>
            </a:pPr>
            <a:r>
              <a:rPr lang="en-US" sz="1000" dirty="0">
                <a:solidFill>
                  <a:srgbClr val="B4B4BE"/>
                </a:solidFill>
                <a:latin typeface="Calibri" pitchFamily="34" charset="0"/>
                <a:ea typeface="Calibri" pitchFamily="34" charset="-122"/>
                <a:cs typeface="Calibri" pitchFamily="34" charset="-120"/>
              </a:rPr>
              <a:t>Leg cancelled/expired → cascade-cancel siblings</a:t>
            </a:r>
            <a:endParaRPr lang="en-US" sz="1000" dirty="0"/>
          </a:p>
        </p:txBody>
      </p:sp>
      <p:sp>
        <p:nvSpPr>
          <p:cNvPr id="19" name="card">
            <a:extLst>
              <a:ext uri="{C183D7F6-B498-43B3-948B-1728B52AA6E4}">
                <adec:decorative xmlns:adec="http://schemas.microsoft.com/office/drawing/2017/decorative" val="1"/>
              </a:ext>
            </a:extLst>
          </p:cNvPr>
          <p:cNvSpPr/>
          <p:nvPr/>
        </p:nvSpPr>
        <p:spPr>
          <a:xfrm>
            <a:off x="3337560" y="2505456"/>
            <a:ext cx="2624328" cy="822960"/>
          </a:xfrm>
          <a:prstGeom prst="roundRect">
            <a:avLst>
              <a:gd name="adj" fmla="val 6667"/>
            </a:avLst>
          </a:prstGeom>
          <a:solidFill>
            <a:srgbClr val="2E2E37"/>
          </a:solidFill>
          <a:ln w="12700">
            <a:solidFill>
              <a:srgbClr val="3B3B46"/>
            </a:solidFill>
            <a:prstDash val="solid"/>
          </a:ln>
        </p:spPr>
        <p:txBody>
          <a:bodyPr/>
          <a:lstStyle/>
          <a:p>
            <a:endParaRPr lang="en-SE"/>
          </a:p>
        </p:txBody>
      </p:sp>
      <p:sp>
        <p:nvSpPr>
          <p:cNvPr id="20" name="Text 18"/>
          <p:cNvSpPr/>
          <p:nvPr/>
        </p:nvSpPr>
        <p:spPr>
          <a:xfrm>
            <a:off x="3502152" y="2596896"/>
            <a:ext cx="2350008" cy="274320"/>
          </a:xfrm>
          <a:prstGeom prst="rect">
            <a:avLst/>
          </a:prstGeom>
          <a:noFill/>
          <a:ln/>
        </p:spPr>
        <p:txBody>
          <a:bodyPr wrap="square" lIns="0" tIns="0" rIns="0" bIns="0" rtlCol="0" anchor="ctr"/>
          <a:lstStyle/>
          <a:p>
            <a:pPr marL="0" indent="0">
              <a:buNone/>
            </a:pPr>
            <a:r>
              <a:rPr lang="en-US" sz="1150" b="1" dirty="0">
                <a:solidFill>
                  <a:srgbClr val="8FA0B0"/>
                </a:solidFill>
                <a:latin typeface="Courier New" pitchFamily="34" charset="0"/>
                <a:ea typeface="Courier New" pitchFamily="34" charset="-122"/>
                <a:cs typeface="Courier New" pitchFamily="34" charset="-120"/>
              </a:rPr>
              <a:t>CANCELLED</a:t>
            </a:r>
            <a:endParaRPr lang="en-US" sz="1150" dirty="0"/>
          </a:p>
        </p:txBody>
      </p:sp>
      <p:sp>
        <p:nvSpPr>
          <p:cNvPr id="21" name="Text 19"/>
          <p:cNvSpPr/>
          <p:nvPr/>
        </p:nvSpPr>
        <p:spPr>
          <a:xfrm>
            <a:off x="3502152" y="2889504"/>
            <a:ext cx="2313432" cy="365760"/>
          </a:xfrm>
          <a:prstGeom prst="rect">
            <a:avLst/>
          </a:prstGeom>
          <a:noFill/>
          <a:ln/>
        </p:spPr>
        <p:txBody>
          <a:bodyPr wrap="square" lIns="0" tIns="0" rIns="0" bIns="0" rtlCol="0" anchor="t"/>
          <a:lstStyle/>
          <a:p>
            <a:pPr marL="0" indent="0">
              <a:lnSpc>
                <a:spcPct val="105000"/>
              </a:lnSpc>
              <a:buNone/>
            </a:pPr>
            <a:r>
              <a:rPr lang="en-US" sz="1000" dirty="0">
                <a:solidFill>
                  <a:srgbClr val="B4B4BE"/>
                </a:solidFill>
                <a:latin typeface="Calibri" pitchFamily="34" charset="0"/>
                <a:ea typeface="Calibri" pitchFamily="34" charset="-122"/>
                <a:cs typeface="Calibri" pitchFamily="34" charset="-120"/>
              </a:rPr>
              <a:t>Explicit CANCEL|COMBO_ID=</a:t>
            </a:r>
            <a:endParaRPr lang="en-US" sz="1000" dirty="0"/>
          </a:p>
        </p:txBody>
      </p:sp>
      <p:sp>
        <p:nvSpPr>
          <p:cNvPr id="22" name="card">
            <a:extLst>
              <a:ext uri="{C183D7F6-B498-43B3-948B-1728B52AA6E4}">
                <adec:decorative xmlns:adec="http://schemas.microsoft.com/office/drawing/2017/decorative" val="1"/>
              </a:ext>
            </a:extLst>
          </p:cNvPr>
          <p:cNvSpPr/>
          <p:nvPr/>
        </p:nvSpPr>
        <p:spPr>
          <a:xfrm>
            <a:off x="6108192" y="2505456"/>
            <a:ext cx="2624328" cy="822960"/>
          </a:xfrm>
          <a:prstGeom prst="roundRect">
            <a:avLst>
              <a:gd name="adj" fmla="val 6667"/>
            </a:avLst>
          </a:prstGeom>
          <a:solidFill>
            <a:srgbClr val="2E2E37"/>
          </a:solidFill>
          <a:ln w="12700">
            <a:solidFill>
              <a:srgbClr val="3B3B46"/>
            </a:solidFill>
            <a:prstDash val="solid"/>
          </a:ln>
        </p:spPr>
        <p:txBody>
          <a:bodyPr/>
          <a:lstStyle/>
          <a:p>
            <a:endParaRPr lang="en-SE"/>
          </a:p>
        </p:txBody>
      </p:sp>
      <p:sp>
        <p:nvSpPr>
          <p:cNvPr id="23" name="Text 21"/>
          <p:cNvSpPr/>
          <p:nvPr/>
        </p:nvSpPr>
        <p:spPr>
          <a:xfrm>
            <a:off x="6272784" y="2596896"/>
            <a:ext cx="2350008" cy="274320"/>
          </a:xfrm>
          <a:prstGeom prst="rect">
            <a:avLst/>
          </a:prstGeom>
          <a:noFill/>
          <a:ln/>
        </p:spPr>
        <p:txBody>
          <a:bodyPr wrap="square" lIns="0" tIns="0" rIns="0" bIns="0" rtlCol="0" anchor="ctr"/>
          <a:lstStyle/>
          <a:p>
            <a:pPr marL="0" indent="0">
              <a:buNone/>
            </a:pPr>
            <a:r>
              <a:rPr lang="en-US" sz="1150" b="1" dirty="0">
                <a:solidFill>
                  <a:srgbClr val="B4B4BE"/>
                </a:solidFill>
                <a:latin typeface="Courier New" pitchFamily="34" charset="0"/>
                <a:ea typeface="Courier New" pitchFamily="34" charset="-122"/>
                <a:cs typeface="Courier New" pitchFamily="34" charset="-120"/>
              </a:rPr>
              <a:t>REJECTED</a:t>
            </a:r>
            <a:endParaRPr lang="en-US" sz="1150" dirty="0"/>
          </a:p>
        </p:txBody>
      </p:sp>
      <p:sp>
        <p:nvSpPr>
          <p:cNvPr id="24" name="Text 22"/>
          <p:cNvSpPr/>
          <p:nvPr/>
        </p:nvSpPr>
        <p:spPr>
          <a:xfrm>
            <a:off x="6272784" y="2889504"/>
            <a:ext cx="2313432" cy="365760"/>
          </a:xfrm>
          <a:prstGeom prst="rect">
            <a:avLst/>
          </a:prstGeom>
          <a:noFill/>
          <a:ln/>
        </p:spPr>
        <p:txBody>
          <a:bodyPr wrap="square" lIns="0" tIns="0" rIns="0" bIns="0" rtlCol="0" anchor="t"/>
          <a:lstStyle/>
          <a:p>
            <a:pPr marL="0" indent="0">
              <a:lnSpc>
                <a:spcPct val="105000"/>
              </a:lnSpc>
              <a:buNone/>
            </a:pPr>
            <a:r>
              <a:rPr lang="en-US" sz="1000" dirty="0">
                <a:solidFill>
                  <a:srgbClr val="B4B4BE"/>
                </a:solidFill>
                <a:latin typeface="Calibri" pitchFamily="34" charset="0"/>
                <a:ea typeface="Calibri" pitchFamily="34" charset="-122"/>
                <a:cs typeface="Calibri" pitchFamily="34" charset="-120"/>
              </a:rPr>
              <a:t>Validation failure</a:t>
            </a:r>
            <a:endParaRPr lang="en-US" sz="1000" dirty="0"/>
          </a:p>
        </p:txBody>
      </p:sp>
      <p:sp>
        <p:nvSpPr>
          <p:cNvPr id="25" name="card">
            <a:extLst>
              <a:ext uri="{C183D7F6-B498-43B3-948B-1728B52AA6E4}">
                <adec:decorative xmlns:adec="http://schemas.microsoft.com/office/drawing/2017/decorative" val="1"/>
              </a:ext>
            </a:extLst>
          </p:cNvPr>
          <p:cNvSpPr/>
          <p:nvPr/>
        </p:nvSpPr>
        <p:spPr>
          <a:xfrm>
            <a:off x="566928" y="3584448"/>
            <a:ext cx="8010144" cy="914400"/>
          </a:xfrm>
          <a:prstGeom prst="roundRect">
            <a:avLst>
              <a:gd name="adj" fmla="val 6000"/>
            </a:avLst>
          </a:prstGeom>
          <a:solidFill>
            <a:srgbClr val="15151A"/>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6" name="Text 24"/>
          <p:cNvSpPr/>
          <p:nvPr/>
        </p:nvSpPr>
        <p:spPr>
          <a:xfrm>
            <a:off x="804672" y="3675888"/>
            <a:ext cx="7498080" cy="274320"/>
          </a:xfrm>
          <a:prstGeom prst="rect">
            <a:avLst/>
          </a:prstGeom>
          <a:noFill/>
          <a:ln/>
        </p:spPr>
        <p:txBody>
          <a:bodyPr wrap="square" lIns="0" tIns="0" rIns="0" bIns="0" rtlCol="0" anchor="ctr"/>
          <a:lstStyle/>
          <a:p>
            <a:pPr marL="0" indent="0">
              <a:buNone/>
            </a:pPr>
            <a:r>
              <a:rPr lang="en-US" sz="1250" b="1" dirty="0">
                <a:solidFill>
                  <a:srgbClr val="F2860D"/>
                </a:solidFill>
                <a:latin typeface="Arial" pitchFamily="34" charset="0"/>
                <a:ea typeface="Arial" pitchFamily="34" charset="-122"/>
                <a:cs typeface="Arial" pitchFamily="34" charset="-120"/>
              </a:rPr>
              <a:t>First-class, not synthetic</a:t>
            </a:r>
            <a:endParaRPr lang="en-US" sz="1250" dirty="0"/>
          </a:p>
        </p:txBody>
      </p:sp>
      <p:sp>
        <p:nvSpPr>
          <p:cNvPr id="27" name="Text 25"/>
          <p:cNvSpPr/>
          <p:nvPr/>
        </p:nvSpPr>
        <p:spPr>
          <a:xfrm>
            <a:off x="804672" y="3968496"/>
            <a:ext cx="7498080" cy="512064"/>
          </a:xfrm>
          <a:prstGeom prst="rect">
            <a:avLst/>
          </a:prstGeom>
          <a:noFill/>
          <a:ln/>
        </p:spPr>
        <p:txBody>
          <a:bodyPr wrap="square" lIns="0" tIns="0" rIns="0" bIns="0" rtlCol="0" anchor="t"/>
          <a:lstStyle/>
          <a:p>
            <a:pPr marL="0" indent="0">
              <a:lnSpc>
                <a:spcPct val="106000"/>
              </a:lnSpc>
              <a:buNone/>
            </a:pPr>
            <a:r>
              <a:rPr lang="en-US" sz="1100" dirty="0">
                <a:solidFill>
                  <a:srgbClr val="C3CDD6"/>
                </a:solidFill>
                <a:latin typeface="Calibri" pitchFamily="34" charset="0"/>
                <a:ea typeface="Calibri" pitchFamily="34" charset="-122"/>
                <a:cs typeface="Calibri" pitchFamily="34" charset="-120"/>
              </a:rPr>
              <a:t>2–10 legs · each a different symbol · AON only (ANY / MIN reserved) · legs rest as normal LIMIT orders on their own books · executed fills are never unwound · GTC combos persist to gtc_combos.json.</a:t>
            </a:r>
            <a:endParaRPr lang="en-US" sz="1100" dirty="0"/>
          </a:p>
        </p:txBody>
      </p:sp>
      <p:sp>
        <p:nvSpPr>
          <p:cNvPr id="29" name="Text 26"/>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30" name="Text 27"/>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36</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16 · CLEARING &amp; P&amp;L</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dirty="0">
                <a:solidFill>
                  <a:srgbClr val="ECECEC"/>
                </a:solidFill>
                <a:latin typeface="Arial" pitchFamily="34" charset="0"/>
                <a:ea typeface="Arial" pitchFamily="34" charset="-122"/>
                <a:cs typeface="Arial" pitchFamily="34" charset="-120"/>
              </a:rPr>
              <a:t>Positions, VWAP &amp; P&amp;L</a:t>
            </a:r>
            <a:endParaRPr lang="en-US" sz="2900" dirty="0"/>
          </a:p>
        </p:txBody>
      </p:sp>
      <p:sp>
        <p:nvSpPr>
          <p:cNvPr id="5" name="card">
            <a:extLst>
              <a:ext uri="{C183D7F6-B498-43B3-948B-1728B52AA6E4}">
                <adec:decorative xmlns:adec="http://schemas.microsoft.com/office/drawing/2017/decorative" val="1"/>
              </a:ext>
            </a:extLst>
          </p:cNvPr>
          <p:cNvSpPr/>
          <p:nvPr/>
        </p:nvSpPr>
        <p:spPr>
          <a:xfrm>
            <a:off x="566928" y="1481328"/>
            <a:ext cx="3977640" cy="1133856"/>
          </a:xfrm>
          <a:prstGeom prst="roundRect">
            <a:avLst>
              <a:gd name="adj" fmla="val 4839"/>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6" name="pnl accent">
            <a:extLst>
              <a:ext uri="{C183D7F6-B498-43B3-948B-1728B52AA6E4}">
                <adec:decorative xmlns:adec="http://schemas.microsoft.com/office/drawing/2017/decorative" val="1"/>
              </a:ext>
            </a:extLst>
          </p:cNvPr>
          <p:cNvSpPr/>
          <p:nvPr/>
        </p:nvSpPr>
        <p:spPr>
          <a:xfrm>
            <a:off x="566928" y="1481328"/>
            <a:ext cx="64008" cy="1133856"/>
          </a:xfrm>
          <a:prstGeom prst="rect">
            <a:avLst/>
          </a:prstGeom>
          <a:solidFill>
            <a:srgbClr val="4FB3CC"/>
          </a:solidFill>
          <a:ln/>
        </p:spPr>
        <p:txBody>
          <a:bodyPr/>
          <a:lstStyle/>
          <a:p>
            <a:endParaRPr lang="en-SE"/>
          </a:p>
        </p:txBody>
      </p:sp>
      <p:sp>
        <p:nvSpPr>
          <p:cNvPr id="7" name="Text 5"/>
          <p:cNvSpPr/>
          <p:nvPr/>
        </p:nvSpPr>
        <p:spPr>
          <a:xfrm>
            <a:off x="768096" y="1609344"/>
            <a:ext cx="3611880" cy="274320"/>
          </a:xfrm>
          <a:prstGeom prst="rect">
            <a:avLst/>
          </a:prstGeom>
          <a:noFill/>
          <a:ln/>
        </p:spPr>
        <p:txBody>
          <a:bodyPr wrap="square" lIns="0" tIns="0" rIns="0" bIns="0" rtlCol="0" anchor="ctr"/>
          <a:lstStyle/>
          <a:p>
            <a:pPr marL="0" indent="0">
              <a:buNone/>
            </a:pPr>
            <a:r>
              <a:rPr lang="en-US" sz="1250" b="1" dirty="0">
                <a:solidFill>
                  <a:srgbClr val="ECECEC"/>
                </a:solidFill>
                <a:latin typeface="Arial" pitchFamily="34" charset="0"/>
                <a:ea typeface="Arial" pitchFamily="34" charset="-122"/>
                <a:cs typeface="Arial" pitchFamily="34" charset="-120"/>
              </a:rPr>
              <a:t>Average cost (VWAP)</a:t>
            </a:r>
            <a:endParaRPr lang="en-US" sz="1250" dirty="0"/>
          </a:p>
        </p:txBody>
      </p:sp>
      <p:sp>
        <p:nvSpPr>
          <p:cNvPr id="8" name="Text 6"/>
          <p:cNvSpPr/>
          <p:nvPr/>
        </p:nvSpPr>
        <p:spPr>
          <a:xfrm>
            <a:off x="768096" y="1920240"/>
            <a:ext cx="3575304" cy="329184"/>
          </a:xfrm>
          <a:prstGeom prst="rect">
            <a:avLst/>
          </a:prstGeom>
          <a:noFill/>
          <a:ln/>
        </p:spPr>
        <p:txBody>
          <a:bodyPr wrap="square" lIns="0" tIns="0" rIns="0" bIns="0" rtlCol="0" anchor="ctr"/>
          <a:lstStyle/>
          <a:p>
            <a:pPr marL="0" indent="0">
              <a:buNone/>
            </a:pPr>
            <a:r>
              <a:rPr lang="en-US" sz="1250" b="1" dirty="0">
                <a:solidFill>
                  <a:srgbClr val="4FB3CC"/>
                </a:solidFill>
                <a:latin typeface="Courier New" pitchFamily="34" charset="0"/>
                <a:ea typeface="Courier New" pitchFamily="34" charset="-122"/>
                <a:cs typeface="Courier New" pitchFamily="34" charset="-120"/>
              </a:rPr>
              <a:t>(avg·|net| + price·qty) / |net'|</a:t>
            </a:r>
            <a:endParaRPr lang="en-US" sz="1250" dirty="0"/>
          </a:p>
        </p:txBody>
      </p:sp>
      <p:sp>
        <p:nvSpPr>
          <p:cNvPr id="9" name="Text 7"/>
          <p:cNvSpPr/>
          <p:nvPr/>
        </p:nvSpPr>
        <p:spPr>
          <a:xfrm>
            <a:off x="768096" y="2267712"/>
            <a:ext cx="3575304" cy="274320"/>
          </a:xfrm>
          <a:prstGeom prst="rect">
            <a:avLst/>
          </a:prstGeom>
          <a:noFill/>
          <a:ln/>
        </p:spPr>
        <p:txBody>
          <a:bodyPr wrap="square" lIns="0" tIns="0" rIns="0" bIns="0" rtlCol="0" anchor="ctr"/>
          <a:lstStyle/>
          <a:p>
            <a:pPr marL="0" indent="0">
              <a:buNone/>
            </a:pPr>
            <a:r>
              <a:rPr lang="en-US" sz="980" i="1" dirty="0">
                <a:solidFill>
                  <a:srgbClr val="B4B4BE"/>
                </a:solidFill>
                <a:latin typeface="Calibri" pitchFamily="34" charset="0"/>
                <a:ea typeface="Calibri" pitchFamily="34" charset="-122"/>
                <a:cs typeface="Calibri" pitchFamily="34" charset="-120"/>
              </a:rPr>
              <a:t>On every position-increasing fill</a:t>
            </a:r>
            <a:endParaRPr lang="en-US" sz="980" dirty="0"/>
          </a:p>
        </p:txBody>
      </p:sp>
      <p:sp>
        <p:nvSpPr>
          <p:cNvPr id="10" name="card">
            <a:extLst>
              <a:ext uri="{C183D7F6-B498-43B3-948B-1728B52AA6E4}">
                <adec:decorative xmlns:adec="http://schemas.microsoft.com/office/drawing/2017/decorative" val="1"/>
              </a:ext>
            </a:extLst>
          </p:cNvPr>
          <p:cNvSpPr/>
          <p:nvPr/>
        </p:nvSpPr>
        <p:spPr>
          <a:xfrm>
            <a:off x="4690872" y="1481328"/>
            <a:ext cx="3977640" cy="1133856"/>
          </a:xfrm>
          <a:prstGeom prst="roundRect">
            <a:avLst>
              <a:gd name="adj" fmla="val 4839"/>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pnl accent">
            <a:extLst>
              <a:ext uri="{C183D7F6-B498-43B3-948B-1728B52AA6E4}">
                <adec:decorative xmlns:adec="http://schemas.microsoft.com/office/drawing/2017/decorative" val="1"/>
              </a:ext>
            </a:extLst>
          </p:cNvPr>
          <p:cNvSpPr/>
          <p:nvPr/>
        </p:nvSpPr>
        <p:spPr>
          <a:xfrm>
            <a:off x="4690872" y="1481328"/>
            <a:ext cx="64008" cy="1133856"/>
          </a:xfrm>
          <a:prstGeom prst="rect">
            <a:avLst/>
          </a:prstGeom>
          <a:solidFill>
            <a:srgbClr val="5FC98E"/>
          </a:solidFill>
          <a:ln/>
        </p:spPr>
        <p:txBody>
          <a:bodyPr/>
          <a:lstStyle/>
          <a:p>
            <a:endParaRPr lang="en-SE"/>
          </a:p>
        </p:txBody>
      </p:sp>
      <p:sp>
        <p:nvSpPr>
          <p:cNvPr id="12" name="Text 10"/>
          <p:cNvSpPr/>
          <p:nvPr/>
        </p:nvSpPr>
        <p:spPr>
          <a:xfrm>
            <a:off x="4892040" y="1609344"/>
            <a:ext cx="3611880" cy="274320"/>
          </a:xfrm>
          <a:prstGeom prst="rect">
            <a:avLst/>
          </a:prstGeom>
          <a:noFill/>
          <a:ln/>
        </p:spPr>
        <p:txBody>
          <a:bodyPr wrap="square" lIns="0" tIns="0" rIns="0" bIns="0" rtlCol="0" anchor="ctr"/>
          <a:lstStyle/>
          <a:p>
            <a:pPr marL="0" indent="0">
              <a:buNone/>
            </a:pPr>
            <a:r>
              <a:rPr lang="en-US" sz="1250" b="1" dirty="0">
                <a:solidFill>
                  <a:srgbClr val="ECECEC"/>
                </a:solidFill>
                <a:latin typeface="Arial" pitchFamily="34" charset="0"/>
                <a:ea typeface="Arial" pitchFamily="34" charset="-122"/>
                <a:cs typeface="Arial" pitchFamily="34" charset="-120"/>
              </a:rPr>
              <a:t>Realized — long close</a:t>
            </a:r>
            <a:endParaRPr lang="en-US" sz="1250" dirty="0"/>
          </a:p>
        </p:txBody>
      </p:sp>
      <p:sp>
        <p:nvSpPr>
          <p:cNvPr id="13" name="Text 11"/>
          <p:cNvSpPr/>
          <p:nvPr/>
        </p:nvSpPr>
        <p:spPr>
          <a:xfrm>
            <a:off x="4892040" y="1920240"/>
            <a:ext cx="3575304" cy="329184"/>
          </a:xfrm>
          <a:prstGeom prst="rect">
            <a:avLst/>
          </a:prstGeom>
          <a:noFill/>
          <a:ln/>
        </p:spPr>
        <p:txBody>
          <a:bodyPr wrap="square" lIns="0" tIns="0" rIns="0" bIns="0" rtlCol="0" anchor="ctr"/>
          <a:lstStyle/>
          <a:p>
            <a:pPr marL="0" indent="0">
              <a:buNone/>
            </a:pPr>
            <a:r>
              <a:rPr lang="en-US" sz="1250" b="1" dirty="0">
                <a:solidFill>
                  <a:srgbClr val="5FC98E"/>
                </a:solidFill>
                <a:latin typeface="Courier New" pitchFamily="34" charset="0"/>
                <a:ea typeface="Courier New" pitchFamily="34" charset="-122"/>
                <a:cs typeface="Courier New" pitchFamily="34" charset="-120"/>
              </a:rPr>
              <a:t>+= (price − avg_cost) · qty</a:t>
            </a:r>
            <a:endParaRPr lang="en-US" sz="1250" dirty="0"/>
          </a:p>
        </p:txBody>
      </p:sp>
      <p:sp>
        <p:nvSpPr>
          <p:cNvPr id="14" name="Text 12"/>
          <p:cNvSpPr/>
          <p:nvPr/>
        </p:nvSpPr>
        <p:spPr>
          <a:xfrm>
            <a:off x="4892040" y="2267712"/>
            <a:ext cx="3575304" cy="274320"/>
          </a:xfrm>
          <a:prstGeom prst="rect">
            <a:avLst/>
          </a:prstGeom>
          <a:noFill/>
          <a:ln/>
        </p:spPr>
        <p:txBody>
          <a:bodyPr wrap="square" lIns="0" tIns="0" rIns="0" bIns="0" rtlCol="0" anchor="ctr"/>
          <a:lstStyle/>
          <a:p>
            <a:pPr marL="0" indent="0">
              <a:buNone/>
            </a:pPr>
            <a:r>
              <a:rPr lang="en-US" sz="980" i="1" dirty="0">
                <a:solidFill>
                  <a:srgbClr val="B4B4BE"/>
                </a:solidFill>
                <a:latin typeface="Calibri" pitchFamily="34" charset="0"/>
                <a:ea typeface="Calibri" pitchFamily="34" charset="-122"/>
                <a:cs typeface="Calibri" pitchFamily="34" charset="-120"/>
              </a:rPr>
              <a:t>SELL that reduces a long</a:t>
            </a:r>
            <a:endParaRPr lang="en-US" sz="980" dirty="0"/>
          </a:p>
        </p:txBody>
      </p:sp>
      <p:sp>
        <p:nvSpPr>
          <p:cNvPr id="15" name="card">
            <a:extLst>
              <a:ext uri="{C183D7F6-B498-43B3-948B-1728B52AA6E4}">
                <adec:decorative xmlns:adec="http://schemas.microsoft.com/office/drawing/2017/decorative" val="1"/>
              </a:ext>
            </a:extLst>
          </p:cNvPr>
          <p:cNvSpPr/>
          <p:nvPr/>
        </p:nvSpPr>
        <p:spPr>
          <a:xfrm>
            <a:off x="566928" y="2761488"/>
            <a:ext cx="3977640" cy="1133856"/>
          </a:xfrm>
          <a:prstGeom prst="roundRect">
            <a:avLst>
              <a:gd name="adj" fmla="val 4839"/>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6" name="pnl accent">
            <a:extLst>
              <a:ext uri="{C183D7F6-B498-43B3-948B-1728B52AA6E4}">
                <adec:decorative xmlns:adec="http://schemas.microsoft.com/office/drawing/2017/decorative" val="1"/>
              </a:ext>
            </a:extLst>
          </p:cNvPr>
          <p:cNvSpPr/>
          <p:nvPr/>
        </p:nvSpPr>
        <p:spPr>
          <a:xfrm>
            <a:off x="566928" y="2761488"/>
            <a:ext cx="64008" cy="1133856"/>
          </a:xfrm>
          <a:prstGeom prst="rect">
            <a:avLst/>
          </a:prstGeom>
          <a:solidFill>
            <a:srgbClr val="F2860D"/>
          </a:solidFill>
          <a:ln/>
        </p:spPr>
        <p:txBody>
          <a:bodyPr/>
          <a:lstStyle/>
          <a:p>
            <a:endParaRPr lang="en-SE"/>
          </a:p>
        </p:txBody>
      </p:sp>
      <p:sp>
        <p:nvSpPr>
          <p:cNvPr id="17" name="Text 15"/>
          <p:cNvSpPr/>
          <p:nvPr/>
        </p:nvSpPr>
        <p:spPr>
          <a:xfrm>
            <a:off x="768096" y="2889504"/>
            <a:ext cx="3611880" cy="274320"/>
          </a:xfrm>
          <a:prstGeom prst="rect">
            <a:avLst/>
          </a:prstGeom>
          <a:noFill/>
          <a:ln/>
        </p:spPr>
        <p:txBody>
          <a:bodyPr wrap="square" lIns="0" tIns="0" rIns="0" bIns="0" rtlCol="0" anchor="ctr"/>
          <a:lstStyle/>
          <a:p>
            <a:pPr marL="0" indent="0">
              <a:buNone/>
            </a:pPr>
            <a:r>
              <a:rPr lang="en-US" sz="1250" b="1" dirty="0">
                <a:solidFill>
                  <a:srgbClr val="ECECEC"/>
                </a:solidFill>
                <a:latin typeface="Arial" pitchFamily="34" charset="0"/>
                <a:ea typeface="Arial" pitchFamily="34" charset="-122"/>
                <a:cs typeface="Arial" pitchFamily="34" charset="-120"/>
              </a:rPr>
              <a:t>Realized — short close</a:t>
            </a:r>
            <a:endParaRPr lang="en-US" sz="1250" dirty="0"/>
          </a:p>
        </p:txBody>
      </p:sp>
      <p:sp>
        <p:nvSpPr>
          <p:cNvPr id="18" name="Text 16"/>
          <p:cNvSpPr/>
          <p:nvPr/>
        </p:nvSpPr>
        <p:spPr>
          <a:xfrm>
            <a:off x="768096" y="3200400"/>
            <a:ext cx="3575304" cy="329184"/>
          </a:xfrm>
          <a:prstGeom prst="rect">
            <a:avLst/>
          </a:prstGeom>
          <a:noFill/>
          <a:ln/>
        </p:spPr>
        <p:txBody>
          <a:bodyPr wrap="square" lIns="0" tIns="0" rIns="0" bIns="0" rtlCol="0" anchor="ctr"/>
          <a:lstStyle/>
          <a:p>
            <a:pPr marL="0" indent="0">
              <a:buNone/>
            </a:pPr>
            <a:r>
              <a:rPr lang="en-US" sz="1250" b="1" dirty="0">
                <a:solidFill>
                  <a:srgbClr val="F2860D"/>
                </a:solidFill>
                <a:latin typeface="Courier New" pitchFamily="34" charset="0"/>
                <a:ea typeface="Courier New" pitchFamily="34" charset="-122"/>
                <a:cs typeface="Courier New" pitchFamily="34" charset="-120"/>
              </a:rPr>
              <a:t>+= (avg_cost − price) · qty</a:t>
            </a:r>
            <a:endParaRPr lang="en-US" sz="1250" dirty="0"/>
          </a:p>
        </p:txBody>
      </p:sp>
      <p:sp>
        <p:nvSpPr>
          <p:cNvPr id="19" name="Text 17"/>
          <p:cNvSpPr/>
          <p:nvPr/>
        </p:nvSpPr>
        <p:spPr>
          <a:xfrm>
            <a:off x="768096" y="3547872"/>
            <a:ext cx="3575304" cy="274320"/>
          </a:xfrm>
          <a:prstGeom prst="rect">
            <a:avLst/>
          </a:prstGeom>
          <a:noFill/>
          <a:ln/>
        </p:spPr>
        <p:txBody>
          <a:bodyPr wrap="square" lIns="0" tIns="0" rIns="0" bIns="0" rtlCol="0" anchor="ctr"/>
          <a:lstStyle/>
          <a:p>
            <a:pPr marL="0" indent="0">
              <a:buNone/>
            </a:pPr>
            <a:r>
              <a:rPr lang="en-US" sz="980" i="1" dirty="0">
                <a:solidFill>
                  <a:srgbClr val="B4B4BE"/>
                </a:solidFill>
                <a:latin typeface="Calibri" pitchFamily="34" charset="0"/>
                <a:ea typeface="Calibri" pitchFamily="34" charset="-122"/>
                <a:cs typeface="Calibri" pitchFamily="34" charset="-120"/>
              </a:rPr>
              <a:t>BUY that reduces a short</a:t>
            </a:r>
            <a:endParaRPr lang="en-US" sz="980" dirty="0"/>
          </a:p>
        </p:txBody>
      </p:sp>
      <p:sp>
        <p:nvSpPr>
          <p:cNvPr id="20" name="card">
            <a:extLst>
              <a:ext uri="{C183D7F6-B498-43B3-948B-1728B52AA6E4}">
                <adec:decorative xmlns:adec="http://schemas.microsoft.com/office/drawing/2017/decorative" val="1"/>
              </a:ext>
            </a:extLst>
          </p:cNvPr>
          <p:cNvSpPr/>
          <p:nvPr/>
        </p:nvSpPr>
        <p:spPr>
          <a:xfrm>
            <a:off x="4690872" y="2761488"/>
            <a:ext cx="3977640" cy="1133856"/>
          </a:xfrm>
          <a:prstGeom prst="roundRect">
            <a:avLst>
              <a:gd name="adj" fmla="val 4839"/>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1" name="pnl accent">
            <a:extLst>
              <a:ext uri="{C183D7F6-B498-43B3-948B-1728B52AA6E4}">
                <adec:decorative xmlns:adec="http://schemas.microsoft.com/office/drawing/2017/decorative" val="1"/>
              </a:ext>
            </a:extLst>
          </p:cNvPr>
          <p:cNvSpPr/>
          <p:nvPr/>
        </p:nvSpPr>
        <p:spPr>
          <a:xfrm>
            <a:off x="4690872" y="2761488"/>
            <a:ext cx="64008" cy="1133856"/>
          </a:xfrm>
          <a:prstGeom prst="rect">
            <a:avLst/>
          </a:prstGeom>
          <a:solidFill>
            <a:srgbClr val="B98CE0"/>
          </a:solidFill>
          <a:ln/>
        </p:spPr>
        <p:txBody>
          <a:bodyPr/>
          <a:lstStyle/>
          <a:p>
            <a:endParaRPr lang="en-SE"/>
          </a:p>
        </p:txBody>
      </p:sp>
      <p:sp>
        <p:nvSpPr>
          <p:cNvPr id="22" name="Text 20"/>
          <p:cNvSpPr/>
          <p:nvPr/>
        </p:nvSpPr>
        <p:spPr>
          <a:xfrm>
            <a:off x="4892040" y="2889504"/>
            <a:ext cx="3611880" cy="274320"/>
          </a:xfrm>
          <a:prstGeom prst="rect">
            <a:avLst/>
          </a:prstGeom>
          <a:noFill/>
          <a:ln/>
        </p:spPr>
        <p:txBody>
          <a:bodyPr wrap="square" lIns="0" tIns="0" rIns="0" bIns="0" rtlCol="0" anchor="ctr"/>
          <a:lstStyle/>
          <a:p>
            <a:pPr marL="0" indent="0">
              <a:buNone/>
            </a:pPr>
            <a:r>
              <a:rPr lang="en-US" sz="1250" b="1" dirty="0">
                <a:solidFill>
                  <a:srgbClr val="ECECEC"/>
                </a:solidFill>
                <a:latin typeface="Arial" pitchFamily="34" charset="0"/>
                <a:ea typeface="Arial" pitchFamily="34" charset="-122"/>
                <a:cs typeface="Arial" pitchFamily="34" charset="-120"/>
              </a:rPr>
              <a:t>Unrealized (mark-to-market)</a:t>
            </a:r>
            <a:endParaRPr lang="en-US" sz="1250" dirty="0"/>
          </a:p>
        </p:txBody>
      </p:sp>
      <p:sp>
        <p:nvSpPr>
          <p:cNvPr id="23" name="Text 21"/>
          <p:cNvSpPr/>
          <p:nvPr/>
        </p:nvSpPr>
        <p:spPr>
          <a:xfrm>
            <a:off x="4892040" y="3200400"/>
            <a:ext cx="3575304" cy="329184"/>
          </a:xfrm>
          <a:prstGeom prst="rect">
            <a:avLst/>
          </a:prstGeom>
          <a:noFill/>
          <a:ln/>
        </p:spPr>
        <p:txBody>
          <a:bodyPr wrap="square" lIns="0" tIns="0" rIns="0" bIns="0" rtlCol="0" anchor="ctr"/>
          <a:lstStyle/>
          <a:p>
            <a:pPr marL="0" indent="0">
              <a:buNone/>
            </a:pPr>
            <a:r>
              <a:rPr lang="en-US" sz="1250" b="1" dirty="0">
                <a:solidFill>
                  <a:srgbClr val="B98CE0"/>
                </a:solidFill>
                <a:latin typeface="Courier New" pitchFamily="34" charset="0"/>
                <a:ea typeface="Courier New" pitchFamily="34" charset="-122"/>
                <a:cs typeface="Courier New" pitchFamily="34" charset="-120"/>
              </a:rPr>
              <a:t>net_qty · (mark − avg_cost)</a:t>
            </a:r>
            <a:endParaRPr lang="en-US" sz="1250" dirty="0"/>
          </a:p>
        </p:txBody>
      </p:sp>
      <p:sp>
        <p:nvSpPr>
          <p:cNvPr id="24" name="Text 22"/>
          <p:cNvSpPr/>
          <p:nvPr/>
        </p:nvSpPr>
        <p:spPr>
          <a:xfrm>
            <a:off x="4892040" y="3547872"/>
            <a:ext cx="3575304" cy="274320"/>
          </a:xfrm>
          <a:prstGeom prst="rect">
            <a:avLst/>
          </a:prstGeom>
          <a:noFill/>
          <a:ln/>
        </p:spPr>
        <p:txBody>
          <a:bodyPr wrap="square" lIns="0" tIns="0" rIns="0" bIns="0" rtlCol="0" anchor="ctr"/>
          <a:lstStyle/>
          <a:p>
            <a:pPr marL="0" indent="0">
              <a:buNone/>
            </a:pPr>
            <a:r>
              <a:rPr lang="en-US" sz="980" i="1" dirty="0">
                <a:solidFill>
                  <a:srgbClr val="B4B4BE"/>
                </a:solidFill>
                <a:latin typeface="Calibri" pitchFamily="34" charset="0"/>
                <a:ea typeface="Calibri" pitchFamily="34" charset="-122"/>
                <a:cs typeface="Calibri" pitchFamily="34" charset="-120"/>
              </a:rPr>
              <a:t>Live exposure at mark price</a:t>
            </a:r>
            <a:endParaRPr lang="en-US" sz="980" dirty="0"/>
          </a:p>
        </p:txBody>
      </p:sp>
      <p:sp>
        <p:nvSpPr>
          <p:cNvPr id="25" name="Text 23"/>
          <p:cNvSpPr/>
          <p:nvPr/>
        </p:nvSpPr>
        <p:spPr>
          <a:xfrm>
            <a:off x="566928" y="4114800"/>
            <a:ext cx="1554480" cy="365760"/>
          </a:xfrm>
          <a:prstGeom prst="rect">
            <a:avLst/>
          </a:prstGeom>
          <a:noFill/>
          <a:ln/>
        </p:spPr>
        <p:txBody>
          <a:bodyPr wrap="square" lIns="0" tIns="0" rIns="0" bIns="0" rtlCol="0" anchor="ctr"/>
          <a:lstStyle/>
          <a:p>
            <a:pPr marL="0" indent="0">
              <a:buNone/>
            </a:pPr>
            <a:r>
              <a:rPr lang="en-US" sz="1250" b="1" dirty="0">
                <a:solidFill>
                  <a:srgbClr val="F2860D"/>
                </a:solidFill>
                <a:latin typeface="Arial" pitchFamily="34" charset="0"/>
                <a:ea typeface="Arial" pitchFamily="34" charset="-122"/>
                <a:cs typeface="Arial" pitchFamily="34" charset="-120"/>
              </a:rPr>
              <a:t>pm-clearing</a:t>
            </a:r>
            <a:endParaRPr lang="en-US" sz="1250" dirty="0"/>
          </a:p>
        </p:txBody>
      </p:sp>
      <p:sp>
        <p:nvSpPr>
          <p:cNvPr id="26" name="Text 24"/>
          <p:cNvSpPr/>
          <p:nvPr/>
        </p:nvSpPr>
        <p:spPr>
          <a:xfrm>
            <a:off x="1874520" y="4114800"/>
            <a:ext cx="6675120" cy="457200"/>
          </a:xfrm>
          <a:prstGeom prst="rect">
            <a:avLst/>
          </a:prstGeom>
          <a:noFill/>
          <a:ln/>
        </p:spPr>
        <p:txBody>
          <a:bodyPr wrap="square" lIns="0" tIns="0" rIns="0" bIns="0" rtlCol="0" anchor="ctr"/>
          <a:lstStyle/>
          <a:p>
            <a:pPr marL="0" indent="0">
              <a:lnSpc>
                <a:spcPct val="105000"/>
              </a:lnSpc>
              <a:buNone/>
            </a:pPr>
            <a:r>
              <a:rPr lang="en-US" sz="1050" dirty="0">
                <a:solidFill>
                  <a:srgbClr val="B4B4BE"/>
                </a:solidFill>
                <a:latin typeface="Calibri" pitchFamily="34" charset="0"/>
                <a:ea typeface="Calibri" pitchFamily="34" charset="-122"/>
                <a:cs typeface="Calibri" pitchFamily="34" charset="-120"/>
              </a:rPr>
              <a:t>writes clearing.db per trade — trade_events · gateway_symbol_positions · gateway_daily_summary.  Query: pm-clearing-cli positions · pnl · exposure · reconcile.</a:t>
            </a:r>
            <a:endParaRPr lang="en-US" sz="1050" dirty="0"/>
          </a:p>
        </p:txBody>
      </p:sp>
      <p:sp>
        <p:nvSpPr>
          <p:cNvPr id="28" name="Text 25"/>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29" name="Text 26"/>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37</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Admin control plane">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06 · OPERATIONS · CONTROL PLANE</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dirty="0">
                <a:solidFill>
                  <a:srgbClr val="ECECEC"/>
                </a:solidFill>
                <a:latin typeface="Arial" pitchFamily="34" charset="0"/>
                <a:ea typeface="Arial" pitchFamily="34" charset="-122"/>
                <a:cs typeface="Arial" pitchFamily="34" charset="-120"/>
              </a:rPr>
              <a:t>Operating the exchange</a:t>
            </a:r>
            <a:endParaRPr lang="en-US" sz="2900" dirty="0"/>
          </a:p>
        </p:txBody>
      </p:sp>
      <p:sp>
        <p:nvSpPr>
          <p:cNvPr id="5" name="subtitle"/>
          <p:cNvSpPr/>
          <p:nvPr/>
        </p:nvSpPr>
        <p:spPr>
          <a:xfrm>
            <a:off x="585216" y="1194262"/>
            <a:ext cx="8010144" cy="429540"/>
          </a:xfrm>
          <a:prstGeom prst="rect">
            <a:avLst/>
          </a:prstGeom>
          <a:noFill/>
          <a:ln/>
        </p:spPr>
        <p:txBody>
          <a:bodyPr wrap="square" lIns="0" tIns="0" rIns="0" bIns="0" rtlCol="0" anchor="t"/>
          <a:lstStyle/>
          <a:p>
            <a:pPr marL="0" indent="0" algn="l">
              <a:lnSpc>
                <a:spcPct val="108000"/>
              </a:lnSpc>
              <a:buNone/>
            </a:pPr>
            <a:r>
              <a:rPr lang="en-US" sz="1250" kern="0" dirty="0">
                <a:solidFill>
                  <a:srgbClr val="B4B4BE"/>
                </a:solidFill>
                <a:latin typeface="Calibri" pitchFamily="34" charset="0"/>
                <a:ea typeface="Calibri" pitchFamily="34" charset="-122"/>
                <a:cs typeface="Calibri" pitchFamily="34" charset="-120"/>
              </a:rPr>
              <a:t>Every operator action is a two-frame </a:t>
            </a:r>
            <a:r>
              <a:rPr lang="en-US" sz="1250" kern="0" dirty="0" err="1">
                <a:solidFill>
                  <a:srgbClr val="B4B4BE"/>
                </a:solidFill>
                <a:latin typeface="Calibri" pitchFamily="34" charset="0"/>
                <a:ea typeface="Calibri" pitchFamily="34" charset="-122"/>
                <a:cs typeface="Calibri" pitchFamily="34" charset="-120"/>
              </a:rPr>
              <a:t>ZeroMQ</a:t>
            </a:r>
            <a:r>
              <a:rPr lang="en-US" sz="1250" kern="0" dirty="0">
                <a:solidFill>
                  <a:srgbClr val="B4B4BE"/>
                </a:solidFill>
                <a:latin typeface="Calibri" pitchFamily="34" charset="0"/>
                <a:ea typeface="Calibri" pitchFamily="34" charset="-122"/>
                <a:cs typeface="Calibri" pitchFamily="34" charset="-120"/>
              </a:rPr>
              <a:t> command — </a:t>
            </a:r>
            <a:r>
              <a:rPr lang="en-US" sz="1250" kern="0" dirty="0" err="1">
                <a:solidFill>
                  <a:srgbClr val="B4B4BE"/>
                </a:solidFill>
                <a:latin typeface="Calibri" pitchFamily="34" charset="0"/>
                <a:ea typeface="Calibri" pitchFamily="34" charset="-122"/>
                <a:cs typeface="Calibri" pitchFamily="34" charset="-120"/>
              </a:rPr>
              <a:t>b"topic</a:t>
            </a:r>
            <a:r>
              <a:rPr lang="en-US" sz="1250" kern="0" dirty="0">
                <a:solidFill>
                  <a:srgbClr val="B4B4BE"/>
                </a:solidFill>
                <a:latin typeface="Calibri" pitchFamily="34" charset="0"/>
                <a:ea typeface="Calibri" pitchFamily="34" charset="-122"/>
                <a:cs typeface="Calibri" pitchFamily="34" charset="-120"/>
              </a:rPr>
              <a:t>" + JSON over PUSH :5555, with acks on SUB :5556 — wrapped by one shared execute command core.</a:t>
            </a:r>
            <a:endParaRPr lang="en-US" dirty="0"/>
          </a:p>
        </p:txBody>
      </p:sp>
      <p:sp>
        <p:nvSpPr>
          <p:cNvPr id="6" name="card">
            <a:extLst>
              <a:ext uri="{C183D7F6-B498-43B3-948B-1728B52AA6E4}">
                <adec:decorative xmlns:adec="http://schemas.microsoft.com/office/drawing/2017/decorative" val="1"/>
              </a:ext>
            </a:extLst>
          </p:cNvPr>
          <p:cNvSpPr/>
          <p:nvPr/>
        </p:nvSpPr>
        <p:spPr>
          <a:xfrm>
            <a:off x="566928" y="1690000"/>
            <a:ext cx="3865072"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accent">
            <a:extLst>
              <a:ext uri="{C183D7F6-B498-43B3-948B-1728B52AA6E4}">
                <adec:decorative xmlns:adec="http://schemas.microsoft.com/office/drawing/2017/decorative" val="1"/>
              </a:ext>
            </a:extLst>
          </p:cNvPr>
          <p:cNvSpPr/>
          <p:nvPr/>
        </p:nvSpPr>
        <p:spPr>
          <a:xfrm>
            <a:off x="566928" y="1690000"/>
            <a:ext cx="3865072" cy="54864"/>
          </a:xfrm>
          <a:prstGeom prst="rect">
            <a:avLst/>
          </a:prstGeom>
          <a:solidFill>
            <a:srgbClr val="F2860D"/>
          </a:solidFill>
          <a:ln/>
        </p:spPr>
        <p:txBody>
          <a:bodyPr/>
          <a:lstStyle/>
          <a:p>
            <a:endParaRPr lang="en-SE"/>
          </a:p>
        </p:txBody>
      </p:sp>
      <p:sp>
        <p:nvSpPr>
          <p:cNvPr id="8" name="panel head"/>
          <p:cNvSpPr/>
          <p:nvPr/>
        </p:nvSpPr>
        <p:spPr>
          <a:xfrm>
            <a:off x="716928" y="1810000"/>
            <a:ext cx="3565072" cy="240000"/>
          </a:xfrm>
          <a:prstGeom prst="rect">
            <a:avLst/>
          </a:prstGeom>
          <a:noFill/>
          <a:ln/>
        </p:spPr>
        <p:txBody>
          <a:bodyPr wrap="square" lIns="0" tIns="0" rIns="0" bIns="0" rtlCol="0" anchor="t"/>
          <a:lstStyle/>
          <a:p>
            <a:pPr marL="0" indent="0" algn="l">
              <a:buNone/>
            </a:pPr>
            <a:r>
              <a:rPr lang="en-US" sz="1400" b="1" kern="0" spc="100" dirty="0">
                <a:solidFill>
                  <a:srgbClr val="F2860D"/>
                </a:solidFill>
                <a:latin typeface="Courier New" pitchFamily="34" charset="0"/>
                <a:ea typeface="Courier New" pitchFamily="34" charset="-122"/>
                <a:cs typeface="Courier New" pitchFamily="34" charset="-120"/>
              </a:rPr>
              <a:t>THREE ENTRY POINTS</a:t>
            </a:r>
            <a:endParaRPr lang="en-US" sz="3200" dirty="0"/>
          </a:p>
        </p:txBody>
      </p:sp>
      <p:sp>
        <p:nvSpPr>
          <p:cNvPr id="9" name="panel body"/>
          <p:cNvSpPr/>
          <p:nvPr/>
        </p:nvSpPr>
        <p:spPr>
          <a:xfrm>
            <a:off x="716928" y="2160000"/>
            <a:ext cx="3565072" cy="1965000"/>
          </a:xfrm>
          <a:prstGeom prst="rect">
            <a:avLst/>
          </a:prstGeom>
          <a:noFill/>
          <a:ln/>
        </p:spPr>
        <p:txBody>
          <a:bodyPr wrap="square" lIns="0" tIns="0" rIns="0" bIns="0" rtlCol="0" anchor="t"/>
          <a:lstStyle/>
          <a:p>
            <a:pPr marL="0" indent="0" algn="l">
              <a:lnSpc>
                <a:spcPct val="124000"/>
              </a:lnSpc>
              <a:spcBef>
                <a:spcPts val="200"/>
              </a:spcBef>
              <a:buNone/>
            </a:pPr>
            <a:r>
              <a:rPr lang="en-US" sz="1050" b="1" kern="0" dirty="0">
                <a:solidFill>
                  <a:srgbClr val="F2860D"/>
                </a:solidFill>
                <a:latin typeface="Courier New" pitchFamily="34" charset="0"/>
                <a:ea typeface="Courier New" pitchFamily="34" charset="-122"/>
                <a:cs typeface="Courier New" pitchFamily="34" charset="-120"/>
              </a:rPr>
              <a:t>pm-admin</a:t>
            </a:r>
            <a:endParaRPr lang="en-US" dirty="0"/>
          </a:p>
          <a:p>
            <a:pPr marL="0" indent="0" algn="l">
              <a:lnSpc>
                <a:spcPct val="124000"/>
              </a:lnSpc>
              <a:spcBef>
                <a:spcPts val="200"/>
              </a:spcBef>
              <a:buNone/>
            </a:pPr>
            <a:r>
              <a:rPr lang="en-US" sz="1050" kern="0" dirty="0">
                <a:solidFill>
                  <a:srgbClr val="B4B4BE"/>
                </a:solidFill>
                <a:latin typeface="Calibri" pitchFamily="34" charset="0"/>
                <a:ea typeface="Calibri" pitchFamily="34" charset="-122"/>
                <a:cs typeface="Calibri" pitchFamily="34" charset="-120"/>
              </a:rPr>
              <a:t>Interactive ADMIN console</a:t>
            </a:r>
            <a:endParaRPr lang="en-US" dirty="0"/>
          </a:p>
          <a:p>
            <a:pPr marL="0" indent="0" algn="l">
              <a:lnSpc>
                <a:spcPct val="124000"/>
              </a:lnSpc>
              <a:spcBef>
                <a:spcPts val="200"/>
              </a:spcBef>
              <a:buNone/>
            </a:pPr>
            <a:br>
              <a:rPr lang="en-US" sz="1050" b="1" kern="0" dirty="0">
                <a:solidFill>
                  <a:srgbClr val="F2860D"/>
                </a:solidFill>
                <a:latin typeface="Courier New" pitchFamily="34" charset="0"/>
                <a:ea typeface="Courier New" pitchFamily="34" charset="-122"/>
                <a:cs typeface="Courier New" pitchFamily="34" charset="-120"/>
              </a:rPr>
            </a:br>
            <a:r>
              <a:rPr lang="en-US" sz="1050" b="1" kern="0" dirty="0">
                <a:solidFill>
                  <a:srgbClr val="F2860D"/>
                </a:solidFill>
                <a:latin typeface="Courier New" pitchFamily="34" charset="0"/>
                <a:ea typeface="Courier New" pitchFamily="34" charset="-122"/>
                <a:cs typeface="Courier New" pitchFamily="34" charset="-120"/>
              </a:rPr>
              <a:t>pm-admin-cli</a:t>
            </a:r>
            <a:endParaRPr lang="en-US" dirty="0"/>
          </a:p>
          <a:p>
            <a:pPr marL="0" indent="0" algn="l">
              <a:lnSpc>
                <a:spcPct val="124000"/>
              </a:lnSpc>
              <a:spcBef>
                <a:spcPts val="200"/>
              </a:spcBef>
              <a:buNone/>
            </a:pPr>
            <a:r>
              <a:rPr lang="en-US" sz="1050" kern="0" dirty="0">
                <a:solidFill>
                  <a:srgbClr val="B4B4BE"/>
                </a:solidFill>
                <a:latin typeface="Calibri" pitchFamily="34" charset="0"/>
                <a:ea typeface="Calibri" pitchFamily="34" charset="-122"/>
                <a:cs typeface="Calibri" pitchFamily="34" charset="-120"/>
              </a:rPr>
              <a:t>One-shot command, exit 0/1</a:t>
            </a:r>
            <a:endParaRPr lang="en-US" dirty="0"/>
          </a:p>
          <a:p>
            <a:pPr marL="0" indent="0" algn="l">
              <a:lnSpc>
                <a:spcPct val="124000"/>
              </a:lnSpc>
              <a:spcBef>
                <a:spcPts val="200"/>
              </a:spcBef>
              <a:buNone/>
            </a:pPr>
            <a:br>
              <a:rPr lang="en-US" sz="1050" b="1" kern="0" dirty="0">
                <a:solidFill>
                  <a:srgbClr val="F2860D"/>
                </a:solidFill>
                <a:latin typeface="Courier New" pitchFamily="34" charset="0"/>
                <a:ea typeface="Courier New" pitchFamily="34" charset="-122"/>
                <a:cs typeface="Courier New" pitchFamily="34" charset="-120"/>
              </a:rPr>
            </a:br>
            <a:r>
              <a:rPr lang="en-US" sz="1050" b="1" kern="0" dirty="0" err="1">
                <a:solidFill>
                  <a:srgbClr val="F2860D"/>
                </a:solidFill>
                <a:latin typeface="Courier New" pitchFamily="34" charset="0"/>
                <a:ea typeface="Courier New" pitchFamily="34" charset="-122"/>
                <a:cs typeface="Courier New" pitchFamily="34" charset="-120"/>
              </a:rPr>
              <a:t>ExchangeCommandClient</a:t>
            </a:r>
            <a:endParaRPr lang="en-US" dirty="0"/>
          </a:p>
          <a:p>
            <a:pPr marL="0" indent="0" algn="l">
              <a:lnSpc>
                <a:spcPct val="124000"/>
              </a:lnSpc>
              <a:spcBef>
                <a:spcPts val="200"/>
              </a:spcBef>
              <a:buNone/>
            </a:pPr>
            <a:r>
              <a:rPr lang="en-US" sz="1050" kern="0" dirty="0">
                <a:solidFill>
                  <a:srgbClr val="B4B4BE"/>
                </a:solidFill>
                <a:latin typeface="Calibri" pitchFamily="34" charset="0"/>
                <a:ea typeface="Calibri" pitchFamily="34" charset="-122"/>
                <a:cs typeface="Calibri" pitchFamily="34" charset="-120"/>
              </a:rPr>
              <a:t>Python library for scripts</a:t>
            </a:r>
            <a:endParaRPr lang="en-US" dirty="0"/>
          </a:p>
        </p:txBody>
      </p:sp>
      <p:sp>
        <p:nvSpPr>
          <p:cNvPr id="10" name="card">
            <a:extLst>
              <a:ext uri="{C183D7F6-B498-43B3-948B-1728B52AA6E4}">
                <adec:decorative xmlns:adec="http://schemas.microsoft.com/office/drawing/2017/decorative" val="1"/>
              </a:ext>
            </a:extLst>
          </p:cNvPr>
          <p:cNvSpPr/>
          <p:nvPr/>
        </p:nvSpPr>
        <p:spPr>
          <a:xfrm>
            <a:off x="4712000" y="1690000"/>
            <a:ext cx="3865072"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a:extLst>
              <a:ext uri="{C183D7F6-B498-43B3-948B-1728B52AA6E4}">
                <adec:decorative xmlns:adec="http://schemas.microsoft.com/office/drawing/2017/decorative" val="1"/>
              </a:ext>
            </a:extLst>
          </p:cNvPr>
          <p:cNvSpPr/>
          <p:nvPr/>
        </p:nvSpPr>
        <p:spPr>
          <a:xfrm>
            <a:off x="4712000" y="1690000"/>
            <a:ext cx="3865072" cy="54864"/>
          </a:xfrm>
          <a:prstGeom prst="rect">
            <a:avLst/>
          </a:prstGeom>
          <a:solidFill>
            <a:srgbClr val="5B9BF5"/>
          </a:solidFill>
          <a:ln/>
        </p:spPr>
        <p:txBody>
          <a:bodyPr/>
          <a:lstStyle/>
          <a:p>
            <a:endParaRPr lang="en-SE"/>
          </a:p>
        </p:txBody>
      </p:sp>
      <p:sp>
        <p:nvSpPr>
          <p:cNvPr id="12" name="panel head"/>
          <p:cNvSpPr/>
          <p:nvPr/>
        </p:nvSpPr>
        <p:spPr>
          <a:xfrm>
            <a:off x="4862000" y="1810000"/>
            <a:ext cx="3565072" cy="240000"/>
          </a:xfrm>
          <a:prstGeom prst="rect">
            <a:avLst/>
          </a:prstGeom>
          <a:noFill/>
          <a:ln/>
        </p:spPr>
        <p:txBody>
          <a:bodyPr wrap="square" lIns="0" tIns="0" rIns="0" bIns="0" rtlCol="0" anchor="t"/>
          <a:lstStyle/>
          <a:p>
            <a:pPr marL="0" indent="0" algn="l">
              <a:buNone/>
            </a:pPr>
            <a:r>
              <a:rPr lang="en-US" sz="1400" b="1" kern="0" spc="100">
                <a:solidFill>
                  <a:srgbClr val="5B9BF5"/>
                </a:solidFill>
                <a:latin typeface="Courier New" pitchFamily="34" charset="0"/>
                <a:ea typeface="Courier New" pitchFamily="34" charset="-122"/>
                <a:cs typeface="Courier New" pitchFamily="34" charset="-120"/>
              </a:rPr>
              <a:t>THE COMMAND SET</a:t>
            </a:r>
            <a:endParaRPr lang="en-US" sz="3200"/>
          </a:p>
        </p:txBody>
      </p:sp>
      <p:sp>
        <p:nvSpPr>
          <p:cNvPr id="13" name="panel body"/>
          <p:cNvSpPr/>
          <p:nvPr/>
        </p:nvSpPr>
        <p:spPr>
          <a:xfrm>
            <a:off x="4862000" y="2160000"/>
            <a:ext cx="3565072" cy="1965000"/>
          </a:xfrm>
          <a:prstGeom prst="rect">
            <a:avLst/>
          </a:prstGeom>
          <a:noFill/>
          <a:ln/>
        </p:spPr>
        <p:txBody>
          <a:bodyPr wrap="square" lIns="0" tIns="0" rIns="0" bIns="0" rtlCol="0" anchor="t"/>
          <a:lstStyle/>
          <a:p>
            <a:pPr marL="0" indent="0" algn="ctr">
              <a:lnSpc>
                <a:spcPct val="124000"/>
              </a:lnSpc>
              <a:spcBef>
                <a:spcPts val="200"/>
              </a:spcBef>
              <a:buNone/>
            </a:pPr>
            <a:r>
              <a:rPr lang="en-US" sz="1050" kern="0" dirty="0">
                <a:solidFill>
                  <a:srgbClr val="ECECEC"/>
                </a:solidFill>
                <a:latin typeface="Courier New" pitchFamily="34" charset="0"/>
                <a:ea typeface="Courier New" pitchFamily="34" charset="-122"/>
                <a:cs typeface="Courier New" pitchFamily="34" charset="-120"/>
              </a:rPr>
              <a:t>HALT  ·  RESUME</a:t>
            </a:r>
            <a:endParaRPr lang="en-US" dirty="0"/>
          </a:p>
          <a:p>
            <a:pPr marL="0" indent="0" algn="ctr">
              <a:lnSpc>
                <a:spcPct val="124000"/>
              </a:lnSpc>
              <a:spcBef>
                <a:spcPts val="200"/>
              </a:spcBef>
              <a:buNone/>
            </a:pPr>
            <a:r>
              <a:rPr lang="en-US" sz="1050" kern="0" dirty="0">
                <a:solidFill>
                  <a:srgbClr val="ECECEC"/>
                </a:solidFill>
                <a:latin typeface="Courier New" pitchFamily="34" charset="0"/>
                <a:ea typeface="Courier New" pitchFamily="34" charset="-122"/>
                <a:cs typeface="Courier New" pitchFamily="34" charset="-120"/>
              </a:rPr>
              <a:t>HALT_SYM  ·  RESUME_SYM</a:t>
            </a:r>
            <a:endParaRPr lang="en-US" dirty="0"/>
          </a:p>
          <a:p>
            <a:pPr marL="0" indent="0" algn="ctr">
              <a:lnSpc>
                <a:spcPct val="124000"/>
              </a:lnSpc>
              <a:spcBef>
                <a:spcPts val="200"/>
              </a:spcBef>
              <a:buNone/>
            </a:pPr>
            <a:r>
              <a:rPr lang="en-US" sz="1050" kern="0" dirty="0">
                <a:solidFill>
                  <a:srgbClr val="ECECEC"/>
                </a:solidFill>
                <a:latin typeface="Courier New" pitchFamily="34" charset="0"/>
                <a:ea typeface="Courier New" pitchFamily="34" charset="-122"/>
                <a:cs typeface="Courier New" pitchFamily="34" charset="-120"/>
              </a:rPr>
              <a:t>CANCEL_SYM  ·  KILL|GW=</a:t>
            </a:r>
            <a:endParaRPr lang="en-US" dirty="0"/>
          </a:p>
          <a:p>
            <a:pPr marL="0" indent="0" algn="ctr">
              <a:lnSpc>
                <a:spcPct val="124000"/>
              </a:lnSpc>
              <a:spcBef>
                <a:spcPts val="200"/>
              </a:spcBef>
              <a:buNone/>
            </a:pPr>
            <a:r>
              <a:rPr lang="en-US" sz="1050" kern="0" dirty="0">
                <a:solidFill>
                  <a:srgbClr val="ECECEC"/>
                </a:solidFill>
                <a:latin typeface="Courier New" pitchFamily="34" charset="0"/>
                <a:ea typeface="Courier New" pitchFamily="34" charset="-122"/>
                <a:cs typeface="Courier New" pitchFamily="34" charset="-120"/>
              </a:rPr>
              <a:t>QCANCEL  ·  ORDERS  ·  BOOK</a:t>
            </a:r>
            <a:endParaRPr lang="en-US" dirty="0"/>
          </a:p>
          <a:p>
            <a:pPr marL="0" indent="0" algn="ctr">
              <a:lnSpc>
                <a:spcPct val="124000"/>
              </a:lnSpc>
              <a:spcBef>
                <a:spcPts val="200"/>
              </a:spcBef>
              <a:buNone/>
            </a:pPr>
            <a:r>
              <a:rPr lang="en-US" sz="1050" kern="0" dirty="0">
                <a:solidFill>
                  <a:srgbClr val="ECECEC"/>
                </a:solidFill>
                <a:latin typeface="Courier New" pitchFamily="34" charset="0"/>
                <a:ea typeface="Courier New" pitchFamily="34" charset="-122"/>
                <a:cs typeface="Courier New" pitchFamily="34" charset="-120"/>
              </a:rPr>
              <a:t>SESSION|STATE=  ·  SCHEDULE</a:t>
            </a:r>
            <a:endParaRPr lang="en-US" dirty="0"/>
          </a:p>
          <a:p>
            <a:pPr marL="0" indent="0" algn="ctr">
              <a:lnSpc>
                <a:spcPct val="124000"/>
              </a:lnSpc>
              <a:spcBef>
                <a:spcPts val="200"/>
              </a:spcBef>
              <a:buNone/>
            </a:pPr>
            <a:r>
              <a:rPr lang="en-US" sz="1050" kern="0" dirty="0">
                <a:solidFill>
                  <a:srgbClr val="ECECEC"/>
                </a:solidFill>
                <a:latin typeface="Courier New" pitchFamily="34" charset="0"/>
                <a:ea typeface="Courier New" pitchFamily="34" charset="-122"/>
                <a:cs typeface="Courier New" pitchFamily="34" charset="-120"/>
              </a:rPr>
              <a:t>SESSION_STATUS  ·  HELP</a:t>
            </a:r>
            <a:endParaRPr lang="en-US" dirty="0"/>
          </a:p>
          <a:p>
            <a:pPr marL="0" indent="0" algn="l">
              <a:lnSpc>
                <a:spcPct val="124000"/>
              </a:lnSpc>
              <a:spcBef>
                <a:spcPts val="200"/>
              </a:spcBef>
              <a:buNone/>
            </a:pPr>
            <a:endParaRPr lang="en-US" dirty="0"/>
          </a:p>
          <a:p>
            <a:pPr marL="0" indent="0" algn="l">
              <a:lnSpc>
                <a:spcPct val="124000"/>
              </a:lnSpc>
              <a:spcBef>
                <a:spcPts val="200"/>
              </a:spcBef>
              <a:buNone/>
            </a:pPr>
            <a:r>
              <a:rPr lang="en-US" sz="1050" kern="0" dirty="0">
                <a:solidFill>
                  <a:srgbClr val="B4B4BE"/>
                </a:solidFill>
                <a:latin typeface="Calibri" pitchFamily="34" charset="0"/>
                <a:ea typeface="Calibri" pitchFamily="34" charset="-122"/>
                <a:cs typeface="Calibri" pitchFamily="34" charset="-120"/>
              </a:rPr>
              <a:t>ADMIN role required to mutate state</a:t>
            </a:r>
            <a:endParaRPr lang="en-US" dirty="0"/>
          </a:p>
        </p:txBody>
      </p:sp>
      <p:sp>
        <p:nvSpPr>
          <p:cNvPr id="14" name="note band">
            <a:extLst>
              <a:ext uri="{C183D7F6-B498-43B3-948B-1728B52AA6E4}">
                <adec:decorative xmlns:adec="http://schemas.microsoft.com/office/drawing/2017/decorative" val="1"/>
              </a:ext>
            </a:extLst>
          </p:cNvPr>
          <p:cNvSpPr/>
          <p:nvPr/>
        </p:nvSpPr>
        <p:spPr>
          <a:xfrm>
            <a:off x="566928" y="4300000"/>
            <a:ext cx="8010144" cy="450000"/>
          </a:xfrm>
          <a:prstGeom prst="roundRect">
            <a:avLst>
              <a:gd name="adj" fmla="val 9000"/>
            </a:avLst>
          </a:prstGeom>
          <a:solidFill>
            <a:srgbClr val="202027"/>
          </a:solidFill>
          <a:ln w="12700">
            <a:solidFill>
              <a:srgbClr val="F2860D"/>
            </a:solidFill>
            <a:prstDash val="solid"/>
          </a:ln>
        </p:spPr>
        <p:txBody>
          <a:bodyPr/>
          <a:lstStyle/>
          <a:p>
            <a:endParaRPr lang="en-SE"/>
          </a:p>
        </p:txBody>
      </p:sp>
      <p:sp>
        <p:nvSpPr>
          <p:cNvPr id="15" name="note text"/>
          <p:cNvSpPr/>
          <p:nvPr/>
        </p:nvSpPr>
        <p:spPr>
          <a:xfrm>
            <a:off x="786928" y="4300000"/>
            <a:ext cx="7570144" cy="450000"/>
          </a:xfrm>
          <a:prstGeom prst="rect">
            <a:avLst/>
          </a:prstGeom>
          <a:noFill/>
          <a:ln/>
        </p:spPr>
        <p:txBody>
          <a:bodyPr wrap="square" lIns="0" tIns="0" rIns="0" bIns="0" rtlCol="0" anchor="ctr"/>
          <a:lstStyle/>
          <a:p>
            <a:pPr marL="0" indent="0" algn="l">
              <a:lnSpc>
                <a:spcPct val="104000"/>
              </a:lnSpc>
              <a:buNone/>
            </a:pPr>
            <a:r>
              <a:rPr lang="en-US" sz="1200" kern="0" dirty="0">
                <a:solidFill>
                  <a:srgbClr val="ECECEC"/>
                </a:solidFill>
                <a:latin typeface="Calibri" pitchFamily="34" charset="0"/>
                <a:ea typeface="Calibri" pitchFamily="34" charset="-122"/>
                <a:cs typeface="Calibri" pitchFamily="34" charset="-120"/>
              </a:rPr>
              <a:t>The PUSH command socket has no authentication — </a:t>
            </a:r>
            <a:r>
              <a:rPr lang="en-US" sz="1200" kern="0" dirty="0">
                <a:solidFill>
                  <a:schemeClr val="accent4">
                    <a:lumMod val="60000"/>
                    <a:lumOff val="40000"/>
                  </a:schemeClr>
                </a:solidFill>
                <a:latin typeface="Calibri" pitchFamily="34" charset="0"/>
                <a:ea typeface="Calibri" pitchFamily="34" charset="-122"/>
                <a:cs typeface="Calibri" pitchFamily="34" charset="-120"/>
              </a:rPr>
              <a:t>--id </a:t>
            </a:r>
            <a:r>
              <a:rPr lang="en-US" sz="1200" kern="0" dirty="0">
                <a:solidFill>
                  <a:srgbClr val="ECECEC"/>
                </a:solidFill>
                <a:latin typeface="Calibri" pitchFamily="34" charset="0"/>
                <a:ea typeface="Calibri" pitchFamily="34" charset="-122"/>
                <a:cs typeface="Calibri" pitchFamily="34" charset="-120"/>
              </a:rPr>
              <a:t>is a label, not a credential — so real access control lives at the network boundary, not in the protocol.</a:t>
            </a:r>
            <a:endParaRPr lang="en-US" sz="2800" dirty="0"/>
          </a:p>
        </p:txBody>
      </p:sp>
      <p:sp>
        <p:nvSpPr>
          <p:cNvPr id="16"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17"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38</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Autonomous participants">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eyebrow"/>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07 · SIMULATION · AUTONOMOUS AGENTS</a:t>
            </a:r>
            <a:endParaRPr lang="en-US"/>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kern="0">
                <a:solidFill>
                  <a:srgbClr val="ECECEC"/>
                </a:solidFill>
                <a:latin typeface="Arial" pitchFamily="34" charset="0"/>
                <a:ea typeface="Arial" pitchFamily="34" charset="-122"/>
                <a:cs typeface="Arial" pitchFamily="34" charset="-120"/>
              </a:rPr>
              <a:t>Filling the book without humans</a:t>
            </a:r>
            <a:endParaRPr lang="en-US" sz="2900"/>
          </a:p>
        </p:txBody>
      </p:sp>
      <p:sp>
        <p:nvSpPr>
          <p:cNvPr id="5" name="subtitle"/>
          <p:cNvSpPr/>
          <p:nvPr/>
        </p:nvSpPr>
        <p:spPr>
          <a:xfrm>
            <a:off x="585216" y="1227598"/>
            <a:ext cx="8010144" cy="300000"/>
          </a:xfrm>
          <a:prstGeom prst="rect">
            <a:avLst/>
          </a:prstGeom>
          <a:noFill/>
          <a:ln/>
        </p:spPr>
        <p:txBody>
          <a:bodyPr wrap="square" lIns="0" tIns="0" rIns="0" bIns="0" rtlCol="0" anchor="t"/>
          <a:lstStyle/>
          <a:p>
            <a:pPr marL="0" indent="0" algn="l">
              <a:lnSpc>
                <a:spcPct val="108000"/>
              </a:lnSpc>
              <a:buNone/>
            </a:pPr>
            <a:r>
              <a:rPr lang="en-US" sz="1250" kern="0" dirty="0">
                <a:solidFill>
                  <a:srgbClr val="B4B4BE"/>
                </a:solidFill>
                <a:latin typeface="Calibri" pitchFamily="34" charset="0"/>
                <a:ea typeface="Calibri" pitchFamily="34" charset="-122"/>
                <a:cs typeface="Calibri" pitchFamily="34" charset="-120"/>
              </a:rPr>
              <a:t>Autonomous processes connect as ordinary gateways over PUSH :5555 / SUB :5556 — the order book cannot tell a bot from a person.</a:t>
            </a:r>
            <a:endParaRPr lang="en-US" dirty="0"/>
          </a:p>
        </p:txBody>
      </p:sp>
      <p:sp>
        <p:nvSpPr>
          <p:cNvPr id="6" name="card">
            <a:extLst>
              <a:ext uri="{C183D7F6-B498-43B3-948B-1728B52AA6E4}">
                <adec:decorative xmlns:adec="http://schemas.microsoft.com/office/drawing/2017/decorative" val="1"/>
              </a:ext>
            </a:extLst>
          </p:cNvPr>
          <p:cNvSpPr/>
          <p:nvPr/>
        </p:nvSpPr>
        <p:spPr>
          <a:xfrm>
            <a:off x="566928"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7" name="accent">
            <a:extLst>
              <a:ext uri="{C183D7F6-B498-43B3-948B-1728B52AA6E4}">
                <adec:decorative xmlns:adec="http://schemas.microsoft.com/office/drawing/2017/decorative" val="1"/>
              </a:ext>
            </a:extLst>
          </p:cNvPr>
          <p:cNvSpPr/>
          <p:nvPr/>
        </p:nvSpPr>
        <p:spPr>
          <a:xfrm>
            <a:off x="566928" y="1690000"/>
            <a:ext cx="2543381" cy="54864"/>
          </a:xfrm>
          <a:prstGeom prst="rect">
            <a:avLst/>
          </a:prstGeom>
          <a:solidFill>
            <a:srgbClr val="F2860D"/>
          </a:solidFill>
          <a:ln/>
        </p:spPr>
        <p:txBody>
          <a:bodyPr/>
          <a:lstStyle/>
          <a:p>
            <a:endParaRPr lang="en-SE"/>
          </a:p>
        </p:txBody>
      </p:sp>
      <p:sp>
        <p:nvSpPr>
          <p:cNvPr id="8" name="panel head"/>
          <p:cNvSpPr/>
          <p:nvPr/>
        </p:nvSpPr>
        <p:spPr>
          <a:xfrm>
            <a:off x="716928" y="1810000"/>
            <a:ext cx="2243381" cy="240000"/>
          </a:xfrm>
          <a:prstGeom prst="rect">
            <a:avLst/>
          </a:prstGeom>
          <a:noFill/>
          <a:ln/>
        </p:spPr>
        <p:txBody>
          <a:bodyPr wrap="square" lIns="0" tIns="0" rIns="0" bIns="0" rtlCol="0" anchor="t"/>
          <a:lstStyle/>
          <a:p>
            <a:pPr marL="0" indent="0" algn="l">
              <a:buNone/>
            </a:pPr>
            <a:r>
              <a:rPr lang="en-US" sz="1600" b="1" kern="0" spc="100" dirty="0">
                <a:solidFill>
                  <a:srgbClr val="F2860D"/>
                </a:solidFill>
                <a:latin typeface="Courier New" pitchFamily="34" charset="0"/>
                <a:ea typeface="Courier New" pitchFamily="34" charset="-122"/>
                <a:cs typeface="Courier New" pitchFamily="34" charset="-120"/>
              </a:rPr>
              <a:t>pm-mm-bot</a:t>
            </a:r>
            <a:endParaRPr lang="en-US" sz="3600" dirty="0"/>
          </a:p>
        </p:txBody>
      </p:sp>
      <p:sp>
        <p:nvSpPr>
          <p:cNvPr id="9" name="panel body"/>
          <p:cNvSpPr/>
          <p:nvPr/>
        </p:nvSpPr>
        <p:spPr>
          <a:xfrm>
            <a:off x="716928"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100" kern="0" dirty="0">
                <a:solidFill>
                  <a:srgbClr val="B4B4BE"/>
                </a:solidFill>
                <a:latin typeface="Calibri" pitchFamily="34" charset="0"/>
                <a:ea typeface="Calibri" pitchFamily="34" charset="-122"/>
                <a:cs typeface="Calibri" pitchFamily="34" charset="-120"/>
              </a:rPr>
              <a:t>Autonomous MARKET_MAKER</a:t>
            </a:r>
            <a:endParaRPr lang="en-US" sz="2400" dirty="0"/>
          </a:p>
          <a:p>
            <a:pPr marL="0" indent="0" algn="l">
              <a:lnSpc>
                <a:spcPct val="124000"/>
              </a:lnSpc>
              <a:spcBef>
                <a:spcPts val="200"/>
              </a:spcBef>
              <a:buNone/>
            </a:pPr>
            <a:r>
              <a:rPr lang="en-US" sz="1000" kern="0" dirty="0">
                <a:solidFill>
                  <a:srgbClr val="ECECEC"/>
                </a:solidFill>
                <a:latin typeface="Calibri" pitchFamily="34" charset="0"/>
                <a:ea typeface="Calibri" pitchFamily="34" charset="-122"/>
                <a:cs typeface="Calibri" pitchFamily="34" charset="-120"/>
              </a:rPr>
              <a:t>Posts a two-sided quote and</a:t>
            </a:r>
            <a:endParaRPr lang="en-US" dirty="0"/>
          </a:p>
          <a:p>
            <a:pPr marL="0" indent="0" algn="l">
              <a:lnSpc>
                <a:spcPct val="124000"/>
              </a:lnSpc>
              <a:spcBef>
                <a:spcPts val="200"/>
              </a:spcBef>
              <a:buNone/>
            </a:pPr>
            <a:r>
              <a:rPr lang="en-US" sz="1000" kern="0" dirty="0">
                <a:solidFill>
                  <a:srgbClr val="ECECEC"/>
                </a:solidFill>
                <a:latin typeface="Calibri" pitchFamily="34" charset="0"/>
                <a:ea typeface="Calibri" pitchFamily="34" charset="-122"/>
                <a:cs typeface="Calibri" pitchFamily="34" charset="-120"/>
              </a:rPr>
              <a:t>auto-reprices on:</a:t>
            </a:r>
            <a:endParaRPr lang="en-US" dirty="0"/>
          </a:p>
          <a:p>
            <a:pPr marL="0" indent="0" algn="l">
              <a:lnSpc>
                <a:spcPct val="124000"/>
              </a:lnSpc>
              <a:spcBef>
                <a:spcPts val="200"/>
              </a:spcBef>
              <a:buNone/>
            </a:pPr>
            <a:r>
              <a:rPr lang="en-US" sz="1000" kern="0" dirty="0">
                <a:solidFill>
                  <a:srgbClr val="ECECEC"/>
                </a:solidFill>
                <a:latin typeface="Calibri" pitchFamily="34" charset="0"/>
                <a:ea typeface="Calibri" pitchFamily="34" charset="-122"/>
                <a:cs typeface="Calibri" pitchFamily="34" charset="-120"/>
              </a:rPr>
              <a:t>• a fill on either side</a:t>
            </a:r>
            <a:endParaRPr lang="en-US" dirty="0"/>
          </a:p>
          <a:p>
            <a:pPr marL="0" indent="0" algn="l">
              <a:lnSpc>
                <a:spcPct val="124000"/>
              </a:lnSpc>
              <a:spcBef>
                <a:spcPts val="200"/>
              </a:spcBef>
              <a:buNone/>
            </a:pPr>
            <a:r>
              <a:rPr lang="en-US" sz="1000" kern="0" dirty="0">
                <a:solidFill>
                  <a:srgbClr val="ECECEC"/>
                </a:solidFill>
                <a:latin typeface="Calibri" pitchFamily="34" charset="0"/>
                <a:ea typeface="Calibri" pitchFamily="34" charset="-122"/>
                <a:cs typeface="Calibri" pitchFamily="34" charset="-120"/>
              </a:rPr>
              <a:t>• mid-price drift</a:t>
            </a:r>
            <a:endParaRPr lang="en-US" dirty="0"/>
          </a:p>
          <a:p>
            <a:pPr marL="0" indent="0" algn="l">
              <a:lnSpc>
                <a:spcPct val="124000"/>
              </a:lnSpc>
              <a:spcBef>
                <a:spcPts val="200"/>
              </a:spcBef>
              <a:buNone/>
            </a:pPr>
            <a:r>
              <a:rPr lang="en-US" sz="1000" kern="0" dirty="0">
                <a:solidFill>
                  <a:srgbClr val="ECECEC"/>
                </a:solidFill>
                <a:latin typeface="Calibri" pitchFamily="34" charset="0"/>
                <a:ea typeface="Calibri" pitchFamily="34" charset="-122"/>
                <a:cs typeface="Calibri" pitchFamily="34" charset="-120"/>
              </a:rPr>
              <a:t>• session-state change</a:t>
            </a:r>
            <a:endParaRPr lang="en-US" dirty="0"/>
          </a:p>
          <a:p>
            <a:pPr marL="0" indent="0" algn="l">
              <a:lnSpc>
                <a:spcPct val="124000"/>
              </a:lnSpc>
              <a:spcBef>
                <a:spcPts val="200"/>
              </a:spcBef>
              <a:buNone/>
            </a:pPr>
            <a:endParaRPr lang="en-US" dirty="0"/>
          </a:p>
          <a:p>
            <a:pPr marL="0" indent="0" algn="l">
              <a:lnSpc>
                <a:spcPct val="124000"/>
              </a:lnSpc>
              <a:spcBef>
                <a:spcPts val="200"/>
              </a:spcBef>
              <a:buNone/>
            </a:pPr>
            <a:r>
              <a:rPr lang="en-US" sz="1000" kern="0" dirty="0">
                <a:solidFill>
                  <a:srgbClr val="B4B4BE"/>
                </a:solidFill>
                <a:latin typeface="Calibri" pitchFamily="34" charset="0"/>
                <a:ea typeface="Calibri" pitchFamily="34" charset="-122"/>
                <a:cs typeface="Calibri" pitchFamily="34" charset="-120"/>
              </a:rPr>
              <a:t>One symbol per instance</a:t>
            </a:r>
            <a:endParaRPr lang="en-US" dirty="0"/>
          </a:p>
        </p:txBody>
      </p:sp>
      <p:sp>
        <p:nvSpPr>
          <p:cNvPr id="10" name="card">
            <a:extLst>
              <a:ext uri="{C183D7F6-B498-43B3-948B-1728B52AA6E4}">
                <adec:decorative xmlns:adec="http://schemas.microsoft.com/office/drawing/2017/decorative" val="1"/>
              </a:ext>
            </a:extLst>
          </p:cNvPr>
          <p:cNvSpPr/>
          <p:nvPr/>
        </p:nvSpPr>
        <p:spPr>
          <a:xfrm>
            <a:off x="3300309"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a:extLst>
              <a:ext uri="{C183D7F6-B498-43B3-948B-1728B52AA6E4}">
                <adec:decorative xmlns:adec="http://schemas.microsoft.com/office/drawing/2017/decorative" val="1"/>
              </a:ext>
            </a:extLst>
          </p:cNvPr>
          <p:cNvSpPr/>
          <p:nvPr/>
        </p:nvSpPr>
        <p:spPr>
          <a:xfrm>
            <a:off x="3300309" y="1690000"/>
            <a:ext cx="2543381" cy="54864"/>
          </a:xfrm>
          <a:prstGeom prst="rect">
            <a:avLst/>
          </a:prstGeom>
          <a:solidFill>
            <a:srgbClr val="5B9BF5"/>
          </a:solidFill>
          <a:ln/>
        </p:spPr>
        <p:txBody>
          <a:bodyPr/>
          <a:lstStyle/>
          <a:p>
            <a:endParaRPr lang="en-SE"/>
          </a:p>
        </p:txBody>
      </p:sp>
      <p:sp>
        <p:nvSpPr>
          <p:cNvPr id="12" name="panel head"/>
          <p:cNvSpPr/>
          <p:nvPr/>
        </p:nvSpPr>
        <p:spPr>
          <a:xfrm>
            <a:off x="3450309" y="1810000"/>
            <a:ext cx="2243381" cy="240000"/>
          </a:xfrm>
          <a:prstGeom prst="rect">
            <a:avLst/>
          </a:prstGeom>
          <a:noFill/>
          <a:ln/>
        </p:spPr>
        <p:txBody>
          <a:bodyPr wrap="square" lIns="0" tIns="0" rIns="0" bIns="0" rtlCol="0" anchor="t"/>
          <a:lstStyle/>
          <a:p>
            <a:pPr marL="0" indent="0" algn="l">
              <a:buNone/>
            </a:pPr>
            <a:r>
              <a:rPr lang="en-US" sz="1600" b="1" kern="0" spc="100">
                <a:solidFill>
                  <a:srgbClr val="5B9BF5"/>
                </a:solidFill>
                <a:latin typeface="Courier New" pitchFamily="34" charset="0"/>
                <a:ea typeface="Courier New" pitchFamily="34" charset="-122"/>
                <a:cs typeface="Courier New" pitchFamily="34" charset="-120"/>
              </a:rPr>
              <a:t>pm-ai-trader</a:t>
            </a:r>
            <a:endParaRPr lang="en-US" sz="3600"/>
          </a:p>
        </p:txBody>
      </p:sp>
      <p:sp>
        <p:nvSpPr>
          <p:cNvPr id="13" name="panel body"/>
          <p:cNvSpPr/>
          <p:nvPr/>
        </p:nvSpPr>
        <p:spPr>
          <a:xfrm>
            <a:off x="3450309"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100" kern="0" dirty="0">
                <a:solidFill>
                  <a:srgbClr val="B4B4BE"/>
                </a:solidFill>
                <a:latin typeface="Calibri" pitchFamily="34" charset="0"/>
                <a:ea typeface="Calibri" pitchFamily="34" charset="-122"/>
                <a:cs typeface="Calibri" pitchFamily="34" charset="-120"/>
              </a:rPr>
              <a:t>Single autonomous trader</a:t>
            </a:r>
            <a:endParaRPr lang="en-US" sz="2400" dirty="0"/>
          </a:p>
          <a:p>
            <a:pPr marL="0" indent="0" algn="l">
              <a:lnSpc>
                <a:spcPct val="124000"/>
              </a:lnSpc>
              <a:spcBef>
                <a:spcPts val="200"/>
              </a:spcBef>
              <a:buNone/>
            </a:pPr>
            <a:r>
              <a:rPr lang="en-US" sz="1000" kern="0" dirty="0">
                <a:solidFill>
                  <a:srgbClr val="ECECEC"/>
                </a:solidFill>
                <a:latin typeface="Calibri" pitchFamily="34" charset="0"/>
                <a:ea typeface="Calibri" pitchFamily="34" charset="-122"/>
                <a:cs typeface="Calibri" pitchFamily="34" charset="-120"/>
              </a:rPr>
              <a:t>Loop: risk-pause → freshness</a:t>
            </a:r>
            <a:endParaRPr lang="en-US" dirty="0"/>
          </a:p>
          <a:p>
            <a:pPr marL="0" indent="0" algn="l">
              <a:lnSpc>
                <a:spcPct val="124000"/>
              </a:lnSpc>
              <a:spcBef>
                <a:spcPts val="200"/>
              </a:spcBef>
              <a:buNone/>
            </a:pPr>
            <a:r>
              <a:rPr lang="en-US" sz="1000" kern="0" dirty="0">
                <a:solidFill>
                  <a:srgbClr val="ECECEC"/>
                </a:solidFill>
                <a:latin typeface="Calibri" pitchFamily="34" charset="0"/>
                <a:ea typeface="Calibri" pitchFamily="34" charset="-122"/>
                <a:cs typeface="Calibri" pitchFamily="34" charset="-120"/>
              </a:rPr>
              <a:t>→ pick → price → side → submit</a:t>
            </a:r>
            <a:endParaRPr lang="en-US" dirty="0"/>
          </a:p>
          <a:p>
            <a:pPr marL="0" indent="0" algn="l">
              <a:lnSpc>
                <a:spcPct val="124000"/>
              </a:lnSpc>
              <a:spcBef>
                <a:spcPts val="200"/>
              </a:spcBef>
              <a:buNone/>
            </a:pPr>
            <a:endParaRPr lang="en-US" dirty="0"/>
          </a:p>
          <a:p>
            <a:pPr marL="0" indent="0" algn="l">
              <a:lnSpc>
                <a:spcPct val="124000"/>
              </a:lnSpc>
              <a:spcBef>
                <a:spcPts val="200"/>
              </a:spcBef>
              <a:buNone/>
            </a:pPr>
            <a:r>
              <a:rPr lang="en-US" sz="1000" b="1" kern="0" dirty="0">
                <a:solidFill>
                  <a:srgbClr val="5B9BF5"/>
                </a:solidFill>
                <a:latin typeface="Courier New" pitchFamily="34" charset="0"/>
                <a:ea typeface="Courier New" pitchFamily="34" charset="-122"/>
                <a:cs typeface="Courier New" pitchFamily="34" charset="-120"/>
              </a:rPr>
              <a:t>Resting limit orders only</a:t>
            </a:r>
            <a:endParaRPr lang="en-US" dirty="0"/>
          </a:p>
          <a:p>
            <a:pPr marL="0" indent="0" algn="l">
              <a:lnSpc>
                <a:spcPct val="124000"/>
              </a:lnSpc>
              <a:spcBef>
                <a:spcPts val="200"/>
              </a:spcBef>
              <a:buNone/>
            </a:pPr>
            <a:r>
              <a:rPr lang="en-US" sz="1000" kern="0" dirty="0">
                <a:solidFill>
                  <a:srgbClr val="B4B4BE"/>
                </a:solidFill>
                <a:latin typeface="Calibri" pitchFamily="34" charset="0"/>
                <a:ea typeface="Calibri" pitchFamily="34" charset="-122"/>
                <a:cs typeface="Calibri" pitchFamily="34" charset="-120"/>
              </a:rPr>
              <a:t>never market, FOK or IOC</a:t>
            </a:r>
            <a:endParaRPr lang="en-US" dirty="0"/>
          </a:p>
        </p:txBody>
      </p:sp>
      <p:sp>
        <p:nvSpPr>
          <p:cNvPr id="14" name="card">
            <a:extLst>
              <a:ext uri="{C183D7F6-B498-43B3-948B-1728B52AA6E4}">
                <adec:decorative xmlns:adec="http://schemas.microsoft.com/office/drawing/2017/decorative" val="1"/>
              </a:ext>
            </a:extLst>
          </p:cNvPr>
          <p:cNvSpPr/>
          <p:nvPr/>
        </p:nvSpPr>
        <p:spPr>
          <a:xfrm>
            <a:off x="6033690" y="1690000"/>
            <a:ext cx="2543381" cy="2525000"/>
          </a:xfrm>
          <a:prstGeom prst="roundRect">
            <a:avLst>
              <a:gd name="adj" fmla="val 6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5" name="accent">
            <a:extLst>
              <a:ext uri="{C183D7F6-B498-43B3-948B-1728B52AA6E4}">
                <adec:decorative xmlns:adec="http://schemas.microsoft.com/office/drawing/2017/decorative" val="1"/>
              </a:ext>
            </a:extLst>
          </p:cNvPr>
          <p:cNvSpPr/>
          <p:nvPr/>
        </p:nvSpPr>
        <p:spPr>
          <a:xfrm>
            <a:off x="6033690" y="1690000"/>
            <a:ext cx="2543381" cy="54864"/>
          </a:xfrm>
          <a:prstGeom prst="rect">
            <a:avLst/>
          </a:prstGeom>
          <a:solidFill>
            <a:srgbClr val="5FC98E"/>
          </a:solidFill>
          <a:ln/>
        </p:spPr>
        <p:txBody>
          <a:bodyPr/>
          <a:lstStyle/>
          <a:p>
            <a:endParaRPr lang="en-SE"/>
          </a:p>
        </p:txBody>
      </p:sp>
      <p:sp>
        <p:nvSpPr>
          <p:cNvPr id="16" name="panel head"/>
          <p:cNvSpPr/>
          <p:nvPr/>
        </p:nvSpPr>
        <p:spPr>
          <a:xfrm>
            <a:off x="6183690" y="1810000"/>
            <a:ext cx="2243381" cy="240000"/>
          </a:xfrm>
          <a:prstGeom prst="rect">
            <a:avLst/>
          </a:prstGeom>
          <a:noFill/>
          <a:ln/>
        </p:spPr>
        <p:txBody>
          <a:bodyPr wrap="square" lIns="0" tIns="0" rIns="0" bIns="0" rtlCol="0" anchor="t"/>
          <a:lstStyle/>
          <a:p>
            <a:pPr marL="0" indent="0" algn="l">
              <a:buNone/>
            </a:pPr>
            <a:r>
              <a:rPr lang="en-US" sz="1600" b="1" kern="0" spc="100">
                <a:solidFill>
                  <a:srgbClr val="5FC98E"/>
                </a:solidFill>
                <a:latin typeface="Courier New" pitchFamily="34" charset="0"/>
                <a:ea typeface="Courier New" pitchFamily="34" charset="-122"/>
                <a:cs typeface="Courier New" pitchFamily="34" charset="-120"/>
              </a:rPr>
              <a:t>pm-ai-swarm</a:t>
            </a:r>
            <a:endParaRPr lang="en-US" sz="3600"/>
          </a:p>
        </p:txBody>
      </p:sp>
      <p:sp>
        <p:nvSpPr>
          <p:cNvPr id="17" name="panel body"/>
          <p:cNvSpPr/>
          <p:nvPr/>
        </p:nvSpPr>
        <p:spPr>
          <a:xfrm>
            <a:off x="6183690" y="2160000"/>
            <a:ext cx="2243381" cy="1965000"/>
          </a:xfrm>
          <a:prstGeom prst="rect">
            <a:avLst/>
          </a:prstGeom>
          <a:noFill/>
          <a:ln/>
        </p:spPr>
        <p:txBody>
          <a:bodyPr wrap="square" lIns="0" tIns="0" rIns="0" bIns="0" rtlCol="0" anchor="t"/>
          <a:lstStyle/>
          <a:p>
            <a:pPr marL="0" indent="0" algn="l">
              <a:lnSpc>
                <a:spcPct val="124000"/>
              </a:lnSpc>
              <a:spcBef>
                <a:spcPts val="200"/>
              </a:spcBef>
              <a:buNone/>
            </a:pPr>
            <a:r>
              <a:rPr lang="en-US" sz="1100" kern="0" dirty="0">
                <a:solidFill>
                  <a:srgbClr val="B4B4BE"/>
                </a:solidFill>
                <a:latin typeface="Calibri" pitchFamily="34" charset="0"/>
                <a:ea typeface="Calibri" pitchFamily="34" charset="-122"/>
                <a:cs typeface="Calibri" pitchFamily="34" charset="-120"/>
              </a:rPr>
              <a:t>Swarm launcher — spawns N</a:t>
            </a:r>
            <a:endParaRPr lang="en-US" sz="2400" dirty="0"/>
          </a:p>
          <a:p>
            <a:pPr marL="0" indent="0" algn="l">
              <a:lnSpc>
                <a:spcPct val="124000"/>
              </a:lnSpc>
              <a:spcBef>
                <a:spcPts val="200"/>
              </a:spcBef>
              <a:buNone/>
            </a:pPr>
            <a:r>
              <a:rPr lang="en-US" sz="1000" kern="0" dirty="0">
                <a:solidFill>
                  <a:srgbClr val="ECECEC"/>
                </a:solidFill>
                <a:latin typeface="Calibri" pitchFamily="34" charset="0"/>
                <a:ea typeface="Calibri" pitchFamily="34" charset="-122"/>
                <a:cs typeface="Calibri" pitchFamily="34" charset="-120"/>
              </a:rPr>
              <a:t>bots in one command,</a:t>
            </a:r>
            <a:endParaRPr lang="en-US" dirty="0"/>
          </a:p>
          <a:p>
            <a:pPr marL="0" indent="0" algn="l">
              <a:lnSpc>
                <a:spcPct val="124000"/>
              </a:lnSpc>
              <a:spcBef>
                <a:spcPts val="200"/>
              </a:spcBef>
              <a:buNone/>
            </a:pPr>
            <a:r>
              <a:rPr lang="en-US" sz="1000" kern="0" dirty="0">
                <a:solidFill>
                  <a:srgbClr val="ECECEC"/>
                </a:solidFill>
                <a:latin typeface="Calibri" pitchFamily="34" charset="0"/>
                <a:ea typeface="Calibri" pitchFamily="34" charset="-122"/>
                <a:cs typeface="Calibri" pitchFamily="34" charset="-120"/>
              </a:rPr>
              <a:t>distributing profiles + symbols</a:t>
            </a:r>
            <a:endParaRPr lang="en-US" dirty="0"/>
          </a:p>
          <a:p>
            <a:pPr marL="0" indent="0" algn="l">
              <a:lnSpc>
                <a:spcPct val="124000"/>
              </a:lnSpc>
              <a:spcBef>
                <a:spcPts val="200"/>
              </a:spcBef>
              <a:buNone/>
            </a:pPr>
            <a:endParaRPr lang="en-US" dirty="0"/>
          </a:p>
          <a:p>
            <a:pPr marL="0" indent="0" algn="l">
              <a:lnSpc>
                <a:spcPct val="124000"/>
              </a:lnSpc>
              <a:spcBef>
                <a:spcPts val="200"/>
              </a:spcBef>
              <a:buNone/>
            </a:pPr>
            <a:r>
              <a:rPr lang="en-US" sz="1000" b="1" kern="0" dirty="0">
                <a:solidFill>
                  <a:srgbClr val="5FC98E"/>
                </a:solidFill>
                <a:latin typeface="Courier New" pitchFamily="34" charset="0"/>
                <a:ea typeface="Courier New" pitchFamily="34" charset="-122"/>
                <a:cs typeface="Courier New" pitchFamily="34" charset="-120"/>
              </a:rPr>
              <a:t>Profiles</a:t>
            </a:r>
            <a:endParaRPr lang="en-US" dirty="0"/>
          </a:p>
          <a:p>
            <a:pPr marL="0" indent="0" algn="l">
              <a:lnSpc>
                <a:spcPct val="124000"/>
              </a:lnSpc>
              <a:spcBef>
                <a:spcPts val="200"/>
              </a:spcBef>
              <a:buNone/>
            </a:pPr>
            <a:r>
              <a:rPr lang="en-US" sz="1000" kern="0" dirty="0">
                <a:solidFill>
                  <a:srgbClr val="B4B4BE"/>
                </a:solidFill>
                <a:latin typeface="Calibri" pitchFamily="34" charset="0"/>
                <a:ea typeface="Calibri" pitchFamily="34" charset="-122"/>
                <a:cs typeface="Calibri" pitchFamily="34" charset="-120"/>
              </a:rPr>
              <a:t>aggressive · balanced · passive</a:t>
            </a:r>
            <a:endParaRPr lang="en-US" dirty="0"/>
          </a:p>
        </p:txBody>
      </p:sp>
      <p:sp>
        <p:nvSpPr>
          <p:cNvPr id="18" name="note band">
            <a:extLst>
              <a:ext uri="{C183D7F6-B498-43B3-948B-1728B52AA6E4}">
                <adec:decorative xmlns:adec="http://schemas.microsoft.com/office/drawing/2017/decorative" val="1"/>
              </a:ext>
            </a:extLst>
          </p:cNvPr>
          <p:cNvSpPr/>
          <p:nvPr/>
        </p:nvSpPr>
        <p:spPr>
          <a:xfrm>
            <a:off x="566928" y="4300000"/>
            <a:ext cx="8010144" cy="450000"/>
          </a:xfrm>
          <a:prstGeom prst="roundRect">
            <a:avLst>
              <a:gd name="adj" fmla="val 9000"/>
            </a:avLst>
          </a:prstGeom>
          <a:solidFill>
            <a:srgbClr val="202027"/>
          </a:solidFill>
          <a:ln w="12700">
            <a:solidFill>
              <a:srgbClr val="5FC98E"/>
            </a:solidFill>
            <a:prstDash val="solid"/>
          </a:ln>
        </p:spPr>
        <p:txBody>
          <a:bodyPr/>
          <a:lstStyle/>
          <a:p>
            <a:endParaRPr lang="en-SE"/>
          </a:p>
        </p:txBody>
      </p:sp>
      <p:sp>
        <p:nvSpPr>
          <p:cNvPr id="19" name="note text"/>
          <p:cNvSpPr/>
          <p:nvPr/>
        </p:nvSpPr>
        <p:spPr>
          <a:xfrm>
            <a:off x="786928" y="4300000"/>
            <a:ext cx="7570144" cy="450000"/>
          </a:xfrm>
          <a:prstGeom prst="rect">
            <a:avLst/>
          </a:prstGeom>
          <a:noFill/>
          <a:ln/>
        </p:spPr>
        <p:txBody>
          <a:bodyPr wrap="square" lIns="0" tIns="0" rIns="0" bIns="0" rtlCol="0" anchor="ctr"/>
          <a:lstStyle/>
          <a:p>
            <a:pPr marL="0" indent="0" algn="l">
              <a:lnSpc>
                <a:spcPct val="104000"/>
              </a:lnSpc>
              <a:buNone/>
            </a:pPr>
            <a:r>
              <a:rPr lang="en-US" sz="1050" kern="0" dirty="0">
                <a:solidFill>
                  <a:srgbClr val="ECECEC"/>
                </a:solidFill>
                <a:latin typeface="Calibri" pitchFamily="34" charset="0"/>
                <a:ea typeface="Calibri" pitchFamily="34" charset="-122"/>
                <a:cs typeface="Calibri" pitchFamily="34" charset="-120"/>
              </a:rPr>
              <a:t>Run one pm-mm-bot per symbol (or several competing with --id-suffix) and a swarm of AI traders to generate a realistic, continuously moving book for testing and demos.</a:t>
            </a:r>
            <a:endParaRPr lang="en-US" sz="2000" dirty="0"/>
          </a:p>
        </p:txBody>
      </p:sp>
      <p:sp>
        <p:nvSpPr>
          <p:cNvPr id="20"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kern="0">
                <a:solidFill>
                  <a:srgbClr val="B4B4BE"/>
                </a:solidFill>
                <a:latin typeface="Calibri" pitchFamily="34" charset="0"/>
                <a:ea typeface="Calibri" pitchFamily="34" charset="-122"/>
                <a:cs typeface="Calibri" pitchFamily="34" charset="-120"/>
              </a:rPr>
              <a:t>EduMatcher  ·  System Overview</a:t>
            </a:r>
            <a:endParaRPr lang="en-US"/>
          </a:p>
        </p:txBody>
      </p:sp>
      <p:sp>
        <p:nvSpPr>
          <p:cNvPr id="21"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kern="0">
                <a:solidFill>
                  <a:srgbClr val="F2860D"/>
                </a:solidFill>
                <a:latin typeface="Courier New" pitchFamily="34" charset="0"/>
                <a:ea typeface="Courier New" pitchFamily="34" charset="-122"/>
                <a:cs typeface="Courier New" pitchFamily="34" charset="-120"/>
              </a:rPr>
              <a:t>39</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Limitations Major">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17 · LIMITATIONS</a:t>
            </a:r>
            <a:r>
              <a:rPr lang="en-US" sz="1150" b="1" kern="0" spc="200">
                <a:solidFill>
                  <a:srgbClr val="FF9E2C"/>
                </a:solidFill>
                <a:latin typeface="Courier New" pitchFamily="34" charset="0"/>
                <a:ea typeface="Courier New" pitchFamily="34" charset="-122"/>
                <a:cs typeface="Courier New" pitchFamily="34" charset="-120"/>
              </a:rPr>
              <a:t> · 1 / 2</a:t>
            </a:r>
            <a:endParaRPr lang="en-US" sz="1150" dirty="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a:solidFill>
                  <a:srgbClr val="ECECEC"/>
                </a:solidFill>
                <a:latin typeface="Arial" pitchFamily="34" charset="0"/>
                <a:ea typeface="Arial" pitchFamily="34" charset="-122"/>
                <a:cs typeface="Arial" pitchFamily="34" charset="-120"/>
              </a:rPr>
              <a:t>Limitations that matter most</a:t>
            </a:r>
            <a:endParaRPr lang="en-US" sz="2900" dirty="0"/>
          </a:p>
        </p:txBody>
      </p:sp>
      <p:sp>
        <p:nvSpPr>
          <p:cNvPr id="5" name="Lead">
            <a:extLst>
              <a:ext uri="{C183D7F6-B498-43B3-948B-1728B52AA6E4}">
                <adec:decorative xmlns:adec="http://schemas.microsoft.com/office/drawing/2017/decorative" val="1"/>
              </a:ext>
            </a:extLst>
          </p:cNvPr>
          <p:cNvSpPr/>
          <p:nvPr/>
        </p:nvSpPr>
        <p:spPr>
          <a:xfrm>
            <a:off x="566928" y="1394460"/>
            <a:ext cx="8010144" cy="288000"/>
          </a:xfrm>
          <a:prstGeom prst="rect">
            <a:avLst/>
          </a:prstGeom>
          <a:noFill/>
          <a:ln/>
        </p:spPr>
        <p:txBody>
          <a:bodyPr wrap="square" lIns="0" tIns="0" rIns="0" bIns="0" rtlCol="0" anchor="t"/>
          <a:lstStyle/>
          <a:p>
            <a:pPr marL="0" indent="0" algn="l">
              <a:buNone/>
            </a:pPr>
            <a:r>
              <a:rPr lang="en-US" sz="1150">
                <a:solidFill>
                  <a:srgbClr val="C3CDD6"/>
                </a:solidFill>
                <a:latin typeface="Calibri" pitchFamily="34" charset="0"/>
                <a:ea typeface="Calibri" pitchFamily="34" charset="-122"/>
                <a:cs typeface="Calibri" pitchFamily="34" charset="-120"/>
              </a:rPr>
              <a:t>The constraints most likely to change what you can actually do — know these before you rely on it.</a:t>
            </a:r>
            <a:endParaRPr lang="en-US" sz="1150"/>
          </a:p>
        </p:txBody>
      </p:sp>
      <p:sp>
        <p:nvSpPr>
          <p:cNvPr id="10" name="card 1">
            <a:extLst>
              <a:ext uri="{C183D7F6-B498-43B3-948B-1728B52AA6E4}">
                <adec:decorative xmlns:adec="http://schemas.microsoft.com/office/drawing/2017/decorative" val="1"/>
              </a:ext>
            </a:extLst>
          </p:cNvPr>
          <p:cNvSpPr/>
          <p:nvPr/>
        </p:nvSpPr>
        <p:spPr>
          <a:xfrm>
            <a:off x="566928" y="1740000"/>
            <a:ext cx="2532888" cy="276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1">
            <a:extLst>
              <a:ext uri="{C183D7F6-B498-43B3-948B-1728B52AA6E4}">
                <adec:decorative xmlns:adec="http://schemas.microsoft.com/office/drawing/2017/decorative" val="1"/>
              </a:ext>
            </a:extLst>
          </p:cNvPr>
          <p:cNvSpPr/>
          <p:nvPr/>
        </p:nvSpPr>
        <p:spPr>
          <a:xfrm>
            <a:off x="566928" y="1740000"/>
            <a:ext cx="2532888" cy="64008"/>
          </a:xfrm>
          <a:prstGeom prst="rect">
            <a:avLst/>
          </a:prstGeom>
          <a:solidFill>
            <a:srgbClr val="F2860D"/>
          </a:solidFill>
          <a:ln/>
        </p:spPr>
        <p:txBody>
          <a:bodyPr/>
          <a:lstStyle/>
          <a:p>
            <a:endParaRPr lang="en-SE"/>
          </a:p>
        </p:txBody>
      </p:sp>
      <p:sp>
        <p:nvSpPr>
          <p:cNvPr id="12" name="icon 1">
            <a:extLst>
              <a:ext uri="{C183D7F6-B498-43B3-948B-1728B52AA6E4}">
                <adec:decorative xmlns:adec="http://schemas.microsoft.com/office/drawing/2017/decorative" val="1"/>
              </a:ext>
            </a:extLst>
          </p:cNvPr>
          <p:cNvSpPr/>
          <p:nvPr/>
        </p:nvSpPr>
        <p:spPr>
          <a:xfrm>
            <a:off x="1403372" y="1910000"/>
            <a:ext cx="860000" cy="860000"/>
          </a:xfrm>
          <a:prstGeom prst="noSmoking">
            <a:avLst>
              <a:gd name="adj" fmla="val 14000"/>
            </a:avLst>
          </a:prstGeom>
          <a:solidFill>
            <a:srgbClr val="F2860D"/>
          </a:solidFill>
          <a:ln/>
        </p:spPr>
        <p:txBody>
          <a:bodyPr/>
          <a:lstStyle/>
          <a:p>
            <a:endParaRPr lang="en-SE"/>
          </a:p>
        </p:txBody>
      </p:sp>
      <p:sp>
        <p:nvSpPr>
          <p:cNvPr id="13" name="tag 1">
            <a:extLst>
              <a:ext uri="{C183D7F6-B498-43B3-948B-1728B52AA6E4}">
                <adec:decorative xmlns:adec="http://schemas.microsoft.com/office/drawing/2017/decorative" val="1"/>
              </a:ext>
            </a:extLst>
          </p:cNvPr>
          <p:cNvSpPr/>
          <p:nvPr/>
        </p:nvSpPr>
        <p:spPr>
          <a:xfrm>
            <a:off x="716928" y="2860000"/>
            <a:ext cx="2232888" cy="200000"/>
          </a:xfrm>
          <a:prstGeom prst="rect">
            <a:avLst/>
          </a:prstGeom>
          <a:noFill/>
          <a:ln/>
        </p:spPr>
        <p:txBody>
          <a:bodyPr wrap="square" lIns="0" tIns="0" rIns="0" bIns="0" rtlCol="0" anchor="ctr"/>
          <a:lstStyle/>
          <a:p>
            <a:pPr marL="0" indent="0" algn="ctr">
              <a:buNone/>
            </a:pPr>
            <a:r>
              <a:rPr lang="en-US" sz="900" b="1" kern="0" spc="200">
                <a:solidFill>
                  <a:srgbClr val="F2860D"/>
                </a:solidFill>
                <a:latin typeface="Courier New" pitchFamily="34" charset="0"/>
                <a:ea typeface="Courier New" pitchFamily="34" charset="-122"/>
                <a:cs typeface="Courier New" pitchFamily="34" charset="-120"/>
              </a:rPr>
              <a:t>HIGH IMPACT</a:t>
            </a:r>
            <a:endParaRPr lang="en-US" sz="900"/>
          </a:p>
        </p:txBody>
      </p:sp>
      <p:sp>
        <p:nvSpPr>
          <p:cNvPr id="14" name="title 1">
            <a:extLst>
              <a:ext uri="{C183D7F6-B498-43B3-948B-1728B52AA6E4}">
                <adec:decorative xmlns:adec="http://schemas.microsoft.com/office/drawing/2017/decorative" val="1"/>
              </a:ext>
            </a:extLst>
          </p:cNvPr>
          <p:cNvSpPr/>
          <p:nvPr/>
        </p:nvSpPr>
        <p:spPr>
          <a:xfrm>
            <a:off x="716928" y="3100000"/>
            <a:ext cx="2232888" cy="500000"/>
          </a:xfrm>
          <a:prstGeom prst="rect">
            <a:avLst/>
          </a:prstGeom>
          <a:noFill/>
          <a:ln/>
        </p:spPr>
        <p:txBody>
          <a:bodyPr wrap="square" lIns="0" tIns="0" rIns="0" bIns="0" rtlCol="0" anchor="ctr"/>
          <a:lstStyle/>
          <a:p>
            <a:pPr marL="0" indent="0" algn="ctr">
              <a:buNone/>
            </a:pPr>
            <a:r>
              <a:rPr lang="en-US" sz="1500" b="1">
                <a:solidFill>
                  <a:srgbClr val="ECECEC"/>
                </a:solidFill>
                <a:latin typeface="Arial" pitchFamily="34" charset="0"/>
                <a:ea typeface="Arial" pitchFamily="34" charset="-122"/>
                <a:cs typeface="Arial" pitchFamily="34" charset="-120"/>
              </a:rPr>
              <a:t>BALF 1.0.0 gaps</a:t>
            </a:r>
            <a:endParaRPr lang="en-US" sz="1500"/>
          </a:p>
        </p:txBody>
      </p:sp>
      <p:sp>
        <p:nvSpPr>
          <p:cNvPr id="15" name="body 1"/>
          <p:cNvSpPr/>
          <p:nvPr/>
        </p:nvSpPr>
        <p:spPr>
          <a:xfrm>
            <a:off x="716928" y="3640000"/>
            <a:ext cx="2232888" cy="820000"/>
          </a:xfrm>
          <a:prstGeom prst="rect">
            <a:avLst/>
          </a:prstGeom>
          <a:noFill/>
          <a:ln/>
        </p:spPr>
        <p:txBody>
          <a:bodyPr wrap="square" lIns="0" tIns="0" rIns="0" bIns="0" rtlCol="0" anchor="t"/>
          <a:lstStyle/>
          <a:p>
            <a:pPr marL="0" indent="0" algn="ctr">
              <a:lnSpc>
                <a:spcPct val="105000"/>
              </a:lnSpc>
              <a:buNone/>
            </a:pPr>
            <a:r>
              <a:rPr lang="en-US" sz="1000">
                <a:solidFill>
                  <a:srgbClr val="C3CDD6"/>
                </a:solidFill>
                <a:latin typeface="Calibri" pitchFamily="34" charset="0"/>
                <a:ea typeface="Calibri" pitchFamily="34" charset="-122"/>
                <a:cs typeface="Calibri" pitchFamily="34" charset="-120"/>
              </a:rPr>
              <a:t>No OCO, no combos, no market-data broadcast, no sequence resend, no encryption.</a:t>
            </a:r>
            <a:endParaRPr lang="en-US" sz="1000"/>
          </a:p>
        </p:txBody>
      </p:sp>
      <p:sp>
        <p:nvSpPr>
          <p:cNvPr id="16" name="card 2">
            <a:extLst>
              <a:ext uri="{C183D7F6-B498-43B3-948B-1728B52AA6E4}">
                <adec:decorative xmlns:adec="http://schemas.microsoft.com/office/drawing/2017/decorative" val="1"/>
              </a:ext>
            </a:extLst>
          </p:cNvPr>
          <p:cNvSpPr/>
          <p:nvPr/>
        </p:nvSpPr>
        <p:spPr>
          <a:xfrm>
            <a:off x="3305556" y="1740000"/>
            <a:ext cx="2532888" cy="276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7" name="accent 2">
            <a:extLst>
              <a:ext uri="{C183D7F6-B498-43B3-948B-1728B52AA6E4}">
                <adec:decorative xmlns:adec="http://schemas.microsoft.com/office/drawing/2017/decorative" val="1"/>
              </a:ext>
            </a:extLst>
          </p:cNvPr>
          <p:cNvSpPr/>
          <p:nvPr/>
        </p:nvSpPr>
        <p:spPr>
          <a:xfrm>
            <a:off x="3305556" y="1740000"/>
            <a:ext cx="2532888" cy="64008"/>
          </a:xfrm>
          <a:prstGeom prst="rect">
            <a:avLst/>
          </a:prstGeom>
          <a:solidFill>
            <a:srgbClr val="F2860D"/>
          </a:solidFill>
          <a:ln/>
        </p:spPr>
        <p:txBody>
          <a:bodyPr/>
          <a:lstStyle/>
          <a:p>
            <a:endParaRPr lang="en-SE"/>
          </a:p>
        </p:txBody>
      </p:sp>
      <p:sp>
        <p:nvSpPr>
          <p:cNvPr id="18" name="icon 2">
            <a:extLst>
              <a:ext uri="{C183D7F6-B498-43B3-948B-1728B52AA6E4}">
                <adec:decorative xmlns:adec="http://schemas.microsoft.com/office/drawing/2017/decorative" val="1"/>
              </a:ext>
            </a:extLst>
          </p:cNvPr>
          <p:cNvSpPr/>
          <p:nvPr/>
        </p:nvSpPr>
        <p:spPr>
          <a:xfrm>
            <a:off x="4142000" y="1910000"/>
            <a:ext cx="860000" cy="860000"/>
          </a:xfrm>
          <a:prstGeom prst="noSmoking">
            <a:avLst>
              <a:gd name="adj" fmla="val 14000"/>
            </a:avLst>
          </a:prstGeom>
          <a:solidFill>
            <a:srgbClr val="F2860D"/>
          </a:solidFill>
          <a:ln/>
        </p:spPr>
        <p:txBody>
          <a:bodyPr/>
          <a:lstStyle/>
          <a:p>
            <a:endParaRPr lang="en-SE"/>
          </a:p>
        </p:txBody>
      </p:sp>
      <p:sp>
        <p:nvSpPr>
          <p:cNvPr id="19" name="tag 2"/>
          <p:cNvSpPr/>
          <p:nvPr/>
        </p:nvSpPr>
        <p:spPr>
          <a:xfrm>
            <a:off x="3455556" y="2860000"/>
            <a:ext cx="2232888" cy="200000"/>
          </a:xfrm>
          <a:prstGeom prst="rect">
            <a:avLst/>
          </a:prstGeom>
          <a:noFill/>
          <a:ln/>
        </p:spPr>
        <p:txBody>
          <a:bodyPr wrap="square" lIns="0" tIns="0" rIns="0" bIns="0" rtlCol="0" anchor="ctr"/>
          <a:lstStyle/>
          <a:p>
            <a:pPr marL="0" indent="0" algn="ctr">
              <a:buNone/>
            </a:pPr>
            <a:r>
              <a:rPr lang="en-US" sz="900" b="1" kern="0" spc="200">
                <a:solidFill>
                  <a:srgbClr val="F2860D"/>
                </a:solidFill>
                <a:latin typeface="Courier New" pitchFamily="34" charset="0"/>
                <a:ea typeface="Courier New" pitchFamily="34" charset="-122"/>
                <a:cs typeface="Courier New" pitchFamily="34" charset="-120"/>
              </a:rPr>
              <a:t>HIGH IMPACT</a:t>
            </a:r>
            <a:endParaRPr lang="en-US" sz="900"/>
          </a:p>
        </p:txBody>
      </p:sp>
      <p:sp>
        <p:nvSpPr>
          <p:cNvPr id="20" name="title 2"/>
          <p:cNvSpPr/>
          <p:nvPr/>
        </p:nvSpPr>
        <p:spPr>
          <a:xfrm>
            <a:off x="3455556" y="3100000"/>
            <a:ext cx="2232888" cy="500000"/>
          </a:xfrm>
          <a:prstGeom prst="rect">
            <a:avLst/>
          </a:prstGeom>
          <a:noFill/>
          <a:ln/>
        </p:spPr>
        <p:txBody>
          <a:bodyPr wrap="square" lIns="0" tIns="0" rIns="0" bIns="0" rtlCol="0" anchor="ctr"/>
          <a:lstStyle/>
          <a:p>
            <a:pPr marL="0" indent="0" algn="ctr">
              <a:buNone/>
            </a:pPr>
            <a:r>
              <a:rPr lang="en-US" sz="1500" b="1">
                <a:solidFill>
                  <a:srgbClr val="ECECEC"/>
                </a:solidFill>
                <a:latin typeface="Arial" pitchFamily="34" charset="0"/>
                <a:ea typeface="Arial" pitchFamily="34" charset="-122"/>
                <a:cs typeface="Arial" pitchFamily="34" charset="-120"/>
              </a:rPr>
              <a:t>No trade unwind</a:t>
            </a:r>
            <a:endParaRPr lang="en-US" sz="1500"/>
          </a:p>
        </p:txBody>
      </p:sp>
      <p:sp>
        <p:nvSpPr>
          <p:cNvPr id="21" name="body 2">
            <a:extLst>
              <a:ext uri="{C183D7F6-B498-43B3-948B-1728B52AA6E4}">
                <adec:decorative xmlns:adec="http://schemas.microsoft.com/office/drawing/2017/decorative" val="1"/>
              </a:ext>
            </a:extLst>
          </p:cNvPr>
          <p:cNvSpPr/>
          <p:nvPr/>
        </p:nvSpPr>
        <p:spPr>
          <a:xfrm>
            <a:off x="3455556" y="3640000"/>
            <a:ext cx="2232888" cy="820000"/>
          </a:xfrm>
          <a:prstGeom prst="rect">
            <a:avLst/>
          </a:prstGeom>
          <a:noFill/>
          <a:ln/>
        </p:spPr>
        <p:txBody>
          <a:bodyPr wrap="square" lIns="0" tIns="0" rIns="0" bIns="0" rtlCol="0" anchor="t"/>
          <a:lstStyle/>
          <a:p>
            <a:pPr marL="0" indent="0" algn="ctr">
              <a:lnSpc>
                <a:spcPct val="105000"/>
              </a:lnSpc>
              <a:buNone/>
            </a:pPr>
            <a:r>
              <a:rPr lang="en-US" sz="1000">
                <a:solidFill>
                  <a:srgbClr val="C3CDD6"/>
                </a:solidFill>
                <a:latin typeface="Calibri" pitchFamily="34" charset="0"/>
                <a:ea typeface="Calibri" pitchFamily="34" charset="-122"/>
                <a:cs typeface="Calibri" pitchFamily="34" charset="-120"/>
              </a:rPr>
              <a:t>Fills are irrevocable — a failed combo cancels unfilled legs but never reverses executed trades.</a:t>
            </a:r>
            <a:endParaRPr lang="en-US" sz="1000"/>
          </a:p>
        </p:txBody>
      </p:sp>
      <p:sp>
        <p:nvSpPr>
          <p:cNvPr id="22" name="card 3">
            <a:extLst>
              <a:ext uri="{C183D7F6-B498-43B3-948B-1728B52AA6E4}">
                <adec:decorative xmlns:adec="http://schemas.microsoft.com/office/drawing/2017/decorative" val="1"/>
              </a:ext>
            </a:extLst>
          </p:cNvPr>
          <p:cNvSpPr/>
          <p:nvPr/>
        </p:nvSpPr>
        <p:spPr>
          <a:xfrm>
            <a:off x="6044184" y="1740000"/>
            <a:ext cx="2532888" cy="276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3" name="accent 3">
            <a:extLst>
              <a:ext uri="{C183D7F6-B498-43B3-948B-1728B52AA6E4}">
                <adec:decorative xmlns:adec="http://schemas.microsoft.com/office/drawing/2017/decorative" val="1"/>
              </a:ext>
            </a:extLst>
          </p:cNvPr>
          <p:cNvSpPr/>
          <p:nvPr/>
        </p:nvSpPr>
        <p:spPr>
          <a:xfrm>
            <a:off x="6044184" y="1740000"/>
            <a:ext cx="2532888" cy="64008"/>
          </a:xfrm>
          <a:prstGeom prst="rect">
            <a:avLst/>
          </a:prstGeom>
          <a:solidFill>
            <a:srgbClr val="F2860D"/>
          </a:solidFill>
          <a:ln/>
        </p:spPr>
        <p:txBody>
          <a:bodyPr/>
          <a:lstStyle/>
          <a:p>
            <a:endParaRPr lang="en-SE"/>
          </a:p>
        </p:txBody>
      </p:sp>
      <p:sp>
        <p:nvSpPr>
          <p:cNvPr id="24" name="icon 3">
            <a:extLst>
              <a:ext uri="{C183D7F6-B498-43B3-948B-1728B52AA6E4}">
                <adec:decorative xmlns:adec="http://schemas.microsoft.com/office/drawing/2017/decorative" val="1"/>
              </a:ext>
            </a:extLst>
          </p:cNvPr>
          <p:cNvSpPr/>
          <p:nvPr/>
        </p:nvSpPr>
        <p:spPr>
          <a:xfrm>
            <a:off x="6880628" y="1910000"/>
            <a:ext cx="860000" cy="860000"/>
          </a:xfrm>
          <a:prstGeom prst="noSmoking">
            <a:avLst>
              <a:gd name="adj" fmla="val 14000"/>
            </a:avLst>
          </a:prstGeom>
          <a:solidFill>
            <a:srgbClr val="F2860D"/>
          </a:solidFill>
          <a:ln/>
        </p:spPr>
        <p:txBody>
          <a:bodyPr/>
          <a:lstStyle/>
          <a:p>
            <a:endParaRPr lang="en-SE"/>
          </a:p>
        </p:txBody>
      </p:sp>
      <p:sp>
        <p:nvSpPr>
          <p:cNvPr id="25" name="tag 3">
            <a:extLst>
              <a:ext uri="{C183D7F6-B498-43B3-948B-1728B52AA6E4}">
                <adec:decorative xmlns:adec="http://schemas.microsoft.com/office/drawing/2017/decorative" val="1"/>
              </a:ext>
            </a:extLst>
          </p:cNvPr>
          <p:cNvSpPr/>
          <p:nvPr/>
        </p:nvSpPr>
        <p:spPr>
          <a:xfrm>
            <a:off x="6194184" y="2860000"/>
            <a:ext cx="2232888" cy="200000"/>
          </a:xfrm>
          <a:prstGeom prst="rect">
            <a:avLst/>
          </a:prstGeom>
          <a:noFill/>
          <a:ln/>
        </p:spPr>
        <p:txBody>
          <a:bodyPr wrap="square" lIns="0" tIns="0" rIns="0" bIns="0" rtlCol="0" anchor="ctr"/>
          <a:lstStyle/>
          <a:p>
            <a:pPr marL="0" indent="0" algn="ctr">
              <a:buNone/>
            </a:pPr>
            <a:r>
              <a:rPr lang="en-US" sz="900" b="1" kern="0" spc="200">
                <a:solidFill>
                  <a:srgbClr val="F2860D"/>
                </a:solidFill>
                <a:latin typeface="Courier New" pitchFamily="34" charset="0"/>
                <a:ea typeface="Courier New" pitchFamily="34" charset="-122"/>
                <a:cs typeface="Courier New" pitchFamily="34" charset="-120"/>
              </a:rPr>
              <a:t>HIGH IMPACT</a:t>
            </a:r>
            <a:endParaRPr lang="en-US" sz="900"/>
          </a:p>
        </p:txBody>
      </p:sp>
      <p:sp>
        <p:nvSpPr>
          <p:cNvPr id="26" name="title 3">
            <a:extLst>
              <a:ext uri="{C183D7F6-B498-43B3-948B-1728B52AA6E4}">
                <adec:decorative xmlns:adec="http://schemas.microsoft.com/office/drawing/2017/decorative" val="1"/>
              </a:ext>
            </a:extLst>
          </p:cNvPr>
          <p:cNvSpPr/>
          <p:nvPr/>
        </p:nvSpPr>
        <p:spPr>
          <a:xfrm>
            <a:off x="6194184" y="3100000"/>
            <a:ext cx="2232888" cy="500000"/>
          </a:xfrm>
          <a:prstGeom prst="rect">
            <a:avLst/>
          </a:prstGeom>
          <a:noFill/>
          <a:ln/>
        </p:spPr>
        <p:txBody>
          <a:bodyPr wrap="square" lIns="0" tIns="0" rIns="0" bIns="0" rtlCol="0" anchor="ctr"/>
          <a:lstStyle/>
          <a:p>
            <a:pPr marL="0" indent="0" algn="ctr">
              <a:buNone/>
            </a:pPr>
            <a:r>
              <a:rPr lang="en-US" sz="1500" b="1">
                <a:solidFill>
                  <a:srgbClr val="ECECEC"/>
                </a:solidFill>
                <a:latin typeface="Arial" pitchFamily="34" charset="0"/>
                <a:ea typeface="Arial" pitchFamily="34" charset="-122"/>
                <a:cs typeface="Arial" pitchFamily="34" charset="-120"/>
              </a:rPr>
              <a:t>No implied orders</a:t>
            </a:r>
            <a:endParaRPr lang="en-US" sz="1500"/>
          </a:p>
        </p:txBody>
      </p:sp>
      <p:sp>
        <p:nvSpPr>
          <p:cNvPr id="27" name="body 3"/>
          <p:cNvSpPr/>
          <p:nvPr/>
        </p:nvSpPr>
        <p:spPr>
          <a:xfrm>
            <a:off x="6194184" y="3640000"/>
            <a:ext cx="2232888" cy="820000"/>
          </a:xfrm>
          <a:prstGeom prst="rect">
            <a:avLst/>
          </a:prstGeom>
          <a:noFill/>
          <a:ln/>
        </p:spPr>
        <p:txBody>
          <a:bodyPr wrap="square" lIns="0" tIns="0" rIns="0" bIns="0" rtlCol="0" anchor="t"/>
          <a:lstStyle/>
          <a:p>
            <a:pPr marL="0" indent="0" algn="ctr">
              <a:lnSpc>
                <a:spcPct val="105000"/>
              </a:lnSpc>
              <a:buNone/>
            </a:pPr>
            <a:r>
              <a:rPr lang="en-US" sz="1000">
                <a:solidFill>
                  <a:srgbClr val="C3CDD6"/>
                </a:solidFill>
                <a:latin typeface="Calibri" pitchFamily="34" charset="0"/>
                <a:ea typeface="Calibri" pitchFamily="34" charset="-122"/>
                <a:cs typeface="Calibri" pitchFamily="34" charset="-120"/>
              </a:rPr>
              <a:t>COMBO is native, not synthetic — the engine derives no implied liquidity.</a:t>
            </a:r>
            <a:endParaRPr lang="en-US" sz="1000"/>
          </a:p>
        </p:txBody>
      </p:sp>
      <p:sp>
        <p:nvSpPr>
          <p:cNvPr id="31"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32"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40</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Limitations Minor">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17 · LIMITATIONS · 2 / 2</a:t>
            </a:r>
            <a:endParaRPr lang="en-US" sz="115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a:solidFill>
                  <a:srgbClr val="ECECEC"/>
                </a:solidFill>
                <a:latin typeface="Arial" pitchFamily="34" charset="0"/>
                <a:ea typeface="Arial" pitchFamily="34" charset="-122"/>
                <a:cs typeface="Arial" pitchFamily="34" charset="-120"/>
              </a:rPr>
              <a:t>Minor limits &amp; teaching scope</a:t>
            </a:r>
            <a:endParaRPr lang="en-US" sz="2900"/>
          </a:p>
        </p:txBody>
      </p:sp>
      <p:sp>
        <p:nvSpPr>
          <p:cNvPr id="5" name="Lead"/>
          <p:cNvSpPr/>
          <p:nvPr/>
        </p:nvSpPr>
        <p:spPr>
          <a:xfrm>
            <a:off x="566928" y="1394460"/>
            <a:ext cx="8010144" cy="288000"/>
          </a:xfrm>
          <a:prstGeom prst="rect">
            <a:avLst/>
          </a:prstGeom>
          <a:noFill/>
          <a:ln/>
        </p:spPr>
        <p:txBody>
          <a:bodyPr wrap="square" lIns="0" tIns="0" rIns="0" bIns="0" rtlCol="0" anchor="t"/>
          <a:lstStyle/>
          <a:p>
            <a:pPr marL="0" indent="0" algn="l">
              <a:buNone/>
            </a:pPr>
            <a:r>
              <a:rPr lang="en-US" sz="1150">
                <a:solidFill>
                  <a:srgbClr val="C3CDD6"/>
                </a:solidFill>
                <a:latin typeface="Calibri" pitchFamily="34" charset="0"/>
                <a:ea typeface="Calibri" pitchFamily="34" charset="-122"/>
                <a:cs typeface="Calibri" pitchFamily="34" charset="-120"/>
              </a:rPr>
              <a:t>Deliberate scope choices for a readable teaching engine — documented, not accidental, and easy to add later.</a:t>
            </a:r>
            <a:endParaRPr lang="en-US" sz="1150"/>
          </a:p>
        </p:txBody>
      </p:sp>
      <p:sp>
        <p:nvSpPr>
          <p:cNvPr id="10" name="card 1">
            <a:extLst>
              <a:ext uri="{C183D7F6-B498-43B3-948B-1728B52AA6E4}">
                <adec:decorative xmlns:adec="http://schemas.microsoft.com/office/drawing/2017/decorative" val="1"/>
              </a:ext>
            </a:extLst>
          </p:cNvPr>
          <p:cNvSpPr/>
          <p:nvPr/>
        </p:nvSpPr>
        <p:spPr>
          <a:xfrm>
            <a:off x="566928" y="1740000"/>
            <a:ext cx="2532888" cy="276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accent 1">
            <a:extLst>
              <a:ext uri="{C183D7F6-B498-43B3-948B-1728B52AA6E4}">
                <adec:decorative xmlns:adec="http://schemas.microsoft.com/office/drawing/2017/decorative" val="1"/>
              </a:ext>
            </a:extLst>
          </p:cNvPr>
          <p:cNvSpPr/>
          <p:nvPr/>
        </p:nvSpPr>
        <p:spPr>
          <a:xfrm>
            <a:off x="566928" y="1740000"/>
            <a:ext cx="2532888" cy="64008"/>
          </a:xfrm>
          <a:prstGeom prst="rect">
            <a:avLst/>
          </a:prstGeom>
          <a:solidFill>
            <a:srgbClr val="6B6B78"/>
          </a:solidFill>
          <a:ln/>
        </p:spPr>
        <p:txBody>
          <a:bodyPr/>
          <a:lstStyle/>
          <a:p>
            <a:endParaRPr lang="en-SE"/>
          </a:p>
        </p:txBody>
      </p:sp>
      <p:sp>
        <p:nvSpPr>
          <p:cNvPr id="12" name="icon 1">
            <a:extLst>
              <a:ext uri="{C183D7F6-B498-43B3-948B-1728B52AA6E4}">
                <adec:decorative xmlns:adec="http://schemas.microsoft.com/office/drawing/2017/decorative" val="1"/>
              </a:ext>
            </a:extLst>
          </p:cNvPr>
          <p:cNvSpPr/>
          <p:nvPr/>
        </p:nvSpPr>
        <p:spPr>
          <a:xfrm>
            <a:off x="1403372" y="1910000"/>
            <a:ext cx="860000" cy="860000"/>
          </a:xfrm>
          <a:prstGeom prst="noSmoking">
            <a:avLst>
              <a:gd name="adj" fmla="val 14000"/>
            </a:avLst>
          </a:prstGeom>
          <a:solidFill>
            <a:srgbClr val="A7A7B2"/>
          </a:solidFill>
          <a:ln/>
        </p:spPr>
        <p:txBody>
          <a:bodyPr/>
          <a:lstStyle/>
          <a:p>
            <a:endParaRPr lang="en-SE"/>
          </a:p>
        </p:txBody>
      </p:sp>
      <p:sp>
        <p:nvSpPr>
          <p:cNvPr id="13" name="tag 1"/>
          <p:cNvSpPr/>
          <p:nvPr/>
        </p:nvSpPr>
        <p:spPr>
          <a:xfrm>
            <a:off x="716928" y="2860000"/>
            <a:ext cx="2232888" cy="200000"/>
          </a:xfrm>
          <a:prstGeom prst="rect">
            <a:avLst/>
          </a:prstGeom>
          <a:noFill/>
          <a:ln/>
        </p:spPr>
        <p:txBody>
          <a:bodyPr wrap="square" lIns="0" tIns="0" rIns="0" bIns="0" rtlCol="0" anchor="ctr"/>
          <a:lstStyle/>
          <a:p>
            <a:pPr marL="0" indent="0" algn="ctr">
              <a:buNone/>
            </a:pPr>
            <a:r>
              <a:rPr lang="en-US" sz="900" b="1" kern="0" spc="200">
                <a:solidFill>
                  <a:srgbClr val="B0B6BE"/>
                </a:solidFill>
                <a:latin typeface="Courier New" pitchFamily="34" charset="0"/>
                <a:ea typeface="Courier New" pitchFamily="34" charset="-122"/>
                <a:cs typeface="Courier New" pitchFamily="34" charset="-120"/>
              </a:rPr>
              <a:t>LOW IMPACT</a:t>
            </a:r>
            <a:endParaRPr lang="en-US" sz="900"/>
          </a:p>
        </p:txBody>
      </p:sp>
      <p:sp>
        <p:nvSpPr>
          <p:cNvPr id="14" name="title 1"/>
          <p:cNvSpPr/>
          <p:nvPr/>
        </p:nvSpPr>
        <p:spPr>
          <a:xfrm>
            <a:off x="716928" y="3100000"/>
            <a:ext cx="2232888" cy="500000"/>
          </a:xfrm>
          <a:prstGeom prst="rect">
            <a:avLst/>
          </a:prstGeom>
          <a:noFill/>
          <a:ln/>
        </p:spPr>
        <p:txBody>
          <a:bodyPr wrap="square" lIns="0" tIns="0" rIns="0" bIns="0" rtlCol="0" anchor="ctr"/>
          <a:lstStyle/>
          <a:p>
            <a:pPr marL="0" indent="0" algn="ctr">
              <a:buNone/>
            </a:pPr>
            <a:r>
              <a:rPr lang="en-US" sz="1500" b="1">
                <a:solidFill>
                  <a:srgbClr val="ECECEC"/>
                </a:solidFill>
                <a:latin typeface="Arial" pitchFamily="34" charset="0"/>
                <a:ea typeface="Arial" pitchFamily="34" charset="-122"/>
                <a:cs typeface="Arial" pitchFamily="34" charset="-120"/>
              </a:rPr>
              <a:t>No auth / authz</a:t>
            </a:r>
            <a:endParaRPr lang="en-US" sz="1500"/>
          </a:p>
        </p:txBody>
      </p:sp>
      <p:sp>
        <p:nvSpPr>
          <p:cNvPr id="15" name="body 1"/>
          <p:cNvSpPr/>
          <p:nvPr/>
        </p:nvSpPr>
        <p:spPr>
          <a:xfrm>
            <a:off x="716928" y="3640000"/>
            <a:ext cx="2232888" cy="820000"/>
          </a:xfrm>
          <a:prstGeom prst="rect">
            <a:avLst/>
          </a:prstGeom>
          <a:noFill/>
          <a:ln/>
        </p:spPr>
        <p:txBody>
          <a:bodyPr wrap="square" lIns="0" tIns="0" rIns="0" bIns="0" rtlCol="0" anchor="t"/>
          <a:lstStyle/>
          <a:p>
            <a:pPr marL="0" indent="0" algn="ctr">
              <a:lnSpc>
                <a:spcPct val="105000"/>
              </a:lnSpc>
              <a:buNone/>
            </a:pPr>
            <a:r>
              <a:rPr lang="en-US" sz="1000">
                <a:solidFill>
                  <a:srgbClr val="C3CDD6"/>
                </a:solidFill>
                <a:latin typeface="Calibri" pitchFamily="34" charset="0"/>
                <a:ea typeface="Calibri" pitchFamily="34" charset="-122"/>
                <a:cs typeface="Calibri" pitchFamily="34" charset="-120"/>
              </a:rPr>
              <a:t>Raw ZMQ bus &amp; side feeds (5557, 5559) are open — fine on a local teaching box, not for shared use.</a:t>
            </a:r>
            <a:endParaRPr lang="en-US" sz="1000"/>
          </a:p>
        </p:txBody>
      </p:sp>
      <p:sp>
        <p:nvSpPr>
          <p:cNvPr id="16" name="card 2">
            <a:extLst>
              <a:ext uri="{C183D7F6-B498-43B3-948B-1728B52AA6E4}">
                <adec:decorative xmlns:adec="http://schemas.microsoft.com/office/drawing/2017/decorative" val="1"/>
              </a:ext>
            </a:extLst>
          </p:cNvPr>
          <p:cNvSpPr/>
          <p:nvPr/>
        </p:nvSpPr>
        <p:spPr>
          <a:xfrm>
            <a:off x="3305556" y="1740000"/>
            <a:ext cx="2532888" cy="276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7" name="accent 2">
            <a:extLst>
              <a:ext uri="{C183D7F6-B498-43B3-948B-1728B52AA6E4}">
                <adec:decorative xmlns:adec="http://schemas.microsoft.com/office/drawing/2017/decorative" val="1"/>
              </a:ext>
            </a:extLst>
          </p:cNvPr>
          <p:cNvSpPr/>
          <p:nvPr/>
        </p:nvSpPr>
        <p:spPr>
          <a:xfrm>
            <a:off x="3305556" y="1740000"/>
            <a:ext cx="2532888" cy="64008"/>
          </a:xfrm>
          <a:prstGeom prst="rect">
            <a:avLst/>
          </a:prstGeom>
          <a:solidFill>
            <a:srgbClr val="6B6B78"/>
          </a:solidFill>
          <a:ln/>
        </p:spPr>
        <p:txBody>
          <a:bodyPr/>
          <a:lstStyle/>
          <a:p>
            <a:endParaRPr lang="en-SE"/>
          </a:p>
        </p:txBody>
      </p:sp>
      <p:sp>
        <p:nvSpPr>
          <p:cNvPr id="18" name="icon 2">
            <a:extLst>
              <a:ext uri="{C183D7F6-B498-43B3-948B-1728B52AA6E4}">
                <adec:decorative xmlns:adec="http://schemas.microsoft.com/office/drawing/2017/decorative" val="1"/>
              </a:ext>
            </a:extLst>
          </p:cNvPr>
          <p:cNvSpPr/>
          <p:nvPr/>
        </p:nvSpPr>
        <p:spPr>
          <a:xfrm>
            <a:off x="4142000" y="1910000"/>
            <a:ext cx="860000" cy="860000"/>
          </a:xfrm>
          <a:prstGeom prst="noSmoking">
            <a:avLst>
              <a:gd name="adj" fmla="val 14000"/>
            </a:avLst>
          </a:prstGeom>
          <a:solidFill>
            <a:srgbClr val="A7A7B2"/>
          </a:solidFill>
          <a:ln/>
        </p:spPr>
        <p:txBody>
          <a:bodyPr/>
          <a:lstStyle/>
          <a:p>
            <a:endParaRPr lang="en-SE"/>
          </a:p>
        </p:txBody>
      </p:sp>
      <p:sp>
        <p:nvSpPr>
          <p:cNvPr id="19" name="tag 2"/>
          <p:cNvSpPr/>
          <p:nvPr/>
        </p:nvSpPr>
        <p:spPr>
          <a:xfrm>
            <a:off x="3455556" y="2860000"/>
            <a:ext cx="2232888" cy="200000"/>
          </a:xfrm>
          <a:prstGeom prst="rect">
            <a:avLst/>
          </a:prstGeom>
          <a:noFill/>
          <a:ln/>
        </p:spPr>
        <p:txBody>
          <a:bodyPr wrap="square" lIns="0" tIns="0" rIns="0" bIns="0" rtlCol="0" anchor="ctr"/>
          <a:lstStyle/>
          <a:p>
            <a:pPr marL="0" indent="0" algn="ctr">
              <a:buNone/>
            </a:pPr>
            <a:r>
              <a:rPr lang="en-US" sz="900" b="1" kern="0" spc="200">
                <a:solidFill>
                  <a:srgbClr val="B0B6BE"/>
                </a:solidFill>
                <a:latin typeface="Courier New" pitchFamily="34" charset="0"/>
                <a:ea typeface="Courier New" pitchFamily="34" charset="-122"/>
                <a:cs typeface="Courier New" pitchFamily="34" charset="-120"/>
              </a:rPr>
              <a:t>LOW IMPACT</a:t>
            </a:r>
            <a:endParaRPr lang="en-US" sz="900"/>
          </a:p>
        </p:txBody>
      </p:sp>
      <p:sp>
        <p:nvSpPr>
          <p:cNvPr id="20" name="title 2"/>
          <p:cNvSpPr/>
          <p:nvPr/>
        </p:nvSpPr>
        <p:spPr>
          <a:xfrm>
            <a:off x="3455556" y="3100000"/>
            <a:ext cx="2232888" cy="500000"/>
          </a:xfrm>
          <a:prstGeom prst="rect">
            <a:avLst/>
          </a:prstGeom>
          <a:noFill/>
          <a:ln/>
        </p:spPr>
        <p:txBody>
          <a:bodyPr wrap="square" lIns="0" tIns="0" rIns="0" bIns="0" rtlCol="0" anchor="ctr"/>
          <a:lstStyle/>
          <a:p>
            <a:pPr marL="0" indent="0" algn="ctr">
              <a:buNone/>
            </a:pPr>
            <a:r>
              <a:rPr lang="en-US" sz="1500" b="1">
                <a:solidFill>
                  <a:srgbClr val="ECECEC"/>
                </a:solidFill>
                <a:latin typeface="Arial" pitchFamily="34" charset="0"/>
                <a:ea typeface="Arial" pitchFamily="34" charset="-122"/>
                <a:cs typeface="Arial" pitchFamily="34" charset="-120"/>
              </a:rPr>
              <a:t>No combo-order book</a:t>
            </a:r>
            <a:endParaRPr lang="en-US" sz="1500"/>
          </a:p>
        </p:txBody>
      </p:sp>
      <p:sp>
        <p:nvSpPr>
          <p:cNvPr id="21" name="body 2"/>
          <p:cNvSpPr/>
          <p:nvPr/>
        </p:nvSpPr>
        <p:spPr>
          <a:xfrm>
            <a:off x="3455556" y="3640000"/>
            <a:ext cx="2232888" cy="820000"/>
          </a:xfrm>
          <a:prstGeom prst="rect">
            <a:avLst/>
          </a:prstGeom>
          <a:noFill/>
          <a:ln/>
        </p:spPr>
        <p:txBody>
          <a:bodyPr wrap="square" lIns="0" tIns="0" rIns="0" bIns="0" rtlCol="0" anchor="t"/>
          <a:lstStyle/>
          <a:p>
            <a:pPr marL="0" indent="0" algn="ctr">
              <a:lnSpc>
                <a:spcPct val="105000"/>
              </a:lnSpc>
              <a:buNone/>
            </a:pPr>
            <a:r>
              <a:rPr lang="en-US" sz="1000">
                <a:solidFill>
                  <a:srgbClr val="C3CDD6"/>
                </a:solidFill>
                <a:latin typeface="Calibri" pitchFamily="34" charset="0"/>
                <a:ea typeface="Calibri" pitchFamily="34" charset="-122"/>
                <a:cs typeface="Calibri" pitchFamily="34" charset="-120"/>
              </a:rPr>
              <a:t>Combo legs post to each symbol’s own book; there is no dedicated spread book across them.</a:t>
            </a:r>
            <a:endParaRPr lang="en-US" sz="1000"/>
          </a:p>
        </p:txBody>
      </p:sp>
      <p:sp>
        <p:nvSpPr>
          <p:cNvPr id="22" name="card 3">
            <a:extLst>
              <a:ext uri="{C183D7F6-B498-43B3-948B-1728B52AA6E4}">
                <adec:decorative xmlns:adec="http://schemas.microsoft.com/office/drawing/2017/decorative" val="1"/>
              </a:ext>
            </a:extLst>
          </p:cNvPr>
          <p:cNvSpPr/>
          <p:nvPr/>
        </p:nvSpPr>
        <p:spPr>
          <a:xfrm>
            <a:off x="6044184" y="1740000"/>
            <a:ext cx="2532888" cy="2760000"/>
          </a:xfrm>
          <a:prstGeom prst="roundRect">
            <a:avLst>
              <a:gd name="adj" fmla="val 4000"/>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3" name="accent 3">
            <a:extLst>
              <a:ext uri="{C183D7F6-B498-43B3-948B-1728B52AA6E4}">
                <adec:decorative xmlns:adec="http://schemas.microsoft.com/office/drawing/2017/decorative" val="1"/>
              </a:ext>
            </a:extLst>
          </p:cNvPr>
          <p:cNvSpPr/>
          <p:nvPr/>
        </p:nvSpPr>
        <p:spPr>
          <a:xfrm>
            <a:off x="6044184" y="1740000"/>
            <a:ext cx="2532888" cy="64008"/>
          </a:xfrm>
          <a:prstGeom prst="rect">
            <a:avLst/>
          </a:prstGeom>
          <a:solidFill>
            <a:srgbClr val="6B6B78"/>
          </a:solidFill>
          <a:ln/>
        </p:spPr>
        <p:txBody>
          <a:bodyPr/>
          <a:lstStyle/>
          <a:p>
            <a:endParaRPr lang="en-SE"/>
          </a:p>
        </p:txBody>
      </p:sp>
      <p:sp>
        <p:nvSpPr>
          <p:cNvPr id="24" name="icon 3">
            <a:extLst>
              <a:ext uri="{C183D7F6-B498-43B3-948B-1728B52AA6E4}">
                <adec:decorative xmlns:adec="http://schemas.microsoft.com/office/drawing/2017/decorative" val="1"/>
              </a:ext>
            </a:extLst>
          </p:cNvPr>
          <p:cNvSpPr/>
          <p:nvPr/>
        </p:nvSpPr>
        <p:spPr>
          <a:xfrm>
            <a:off x="6880628" y="1910000"/>
            <a:ext cx="860000" cy="860000"/>
          </a:xfrm>
          <a:prstGeom prst="noSmoking">
            <a:avLst>
              <a:gd name="adj" fmla="val 14000"/>
            </a:avLst>
          </a:prstGeom>
          <a:solidFill>
            <a:srgbClr val="A7A7B2"/>
          </a:solidFill>
          <a:ln/>
        </p:spPr>
        <p:txBody>
          <a:bodyPr/>
          <a:lstStyle/>
          <a:p>
            <a:endParaRPr lang="en-SE"/>
          </a:p>
        </p:txBody>
      </p:sp>
      <p:sp>
        <p:nvSpPr>
          <p:cNvPr id="25" name="tag 3"/>
          <p:cNvSpPr/>
          <p:nvPr/>
        </p:nvSpPr>
        <p:spPr>
          <a:xfrm>
            <a:off x="6194184" y="2860000"/>
            <a:ext cx="2232888" cy="200000"/>
          </a:xfrm>
          <a:prstGeom prst="rect">
            <a:avLst/>
          </a:prstGeom>
          <a:noFill/>
          <a:ln/>
        </p:spPr>
        <p:txBody>
          <a:bodyPr wrap="square" lIns="0" tIns="0" rIns="0" bIns="0" rtlCol="0" anchor="ctr"/>
          <a:lstStyle/>
          <a:p>
            <a:pPr marL="0" indent="0" algn="ctr">
              <a:buNone/>
            </a:pPr>
            <a:r>
              <a:rPr lang="en-US" sz="900" b="1" kern="0" spc="200">
                <a:solidFill>
                  <a:srgbClr val="B0B6BE"/>
                </a:solidFill>
                <a:latin typeface="Courier New" pitchFamily="34" charset="0"/>
                <a:ea typeface="Courier New" pitchFamily="34" charset="-122"/>
                <a:cs typeface="Courier New" pitchFamily="34" charset="-120"/>
              </a:rPr>
              <a:t>LOW IMPACT</a:t>
            </a:r>
            <a:endParaRPr lang="en-US" sz="900"/>
          </a:p>
        </p:txBody>
      </p:sp>
      <p:sp>
        <p:nvSpPr>
          <p:cNvPr id="26" name="title 3"/>
          <p:cNvSpPr/>
          <p:nvPr/>
        </p:nvSpPr>
        <p:spPr>
          <a:xfrm>
            <a:off x="6194184" y="3100000"/>
            <a:ext cx="2232888" cy="500000"/>
          </a:xfrm>
          <a:prstGeom prst="rect">
            <a:avLst/>
          </a:prstGeom>
          <a:noFill/>
          <a:ln/>
        </p:spPr>
        <p:txBody>
          <a:bodyPr wrap="square" lIns="0" tIns="0" rIns="0" bIns="0" rtlCol="0" anchor="ctr"/>
          <a:lstStyle/>
          <a:p>
            <a:pPr marL="0" indent="0" algn="ctr">
              <a:buNone/>
            </a:pPr>
            <a:r>
              <a:rPr lang="en-US" sz="1500" b="1">
                <a:solidFill>
                  <a:srgbClr val="ECECEC"/>
                </a:solidFill>
                <a:latin typeface="Arial" pitchFamily="34" charset="0"/>
                <a:ea typeface="Arial" pitchFamily="34" charset="-122"/>
                <a:cs typeface="Arial" pitchFamily="34" charset="-120"/>
              </a:rPr>
              <a:t>Teaching simplifications</a:t>
            </a:r>
            <a:endParaRPr lang="en-US" sz="1500"/>
          </a:p>
        </p:txBody>
      </p:sp>
      <p:sp>
        <p:nvSpPr>
          <p:cNvPr id="27" name="body 3"/>
          <p:cNvSpPr/>
          <p:nvPr/>
        </p:nvSpPr>
        <p:spPr>
          <a:xfrm>
            <a:off x="6194184" y="3640000"/>
            <a:ext cx="2232888" cy="820000"/>
          </a:xfrm>
          <a:prstGeom prst="rect">
            <a:avLst/>
          </a:prstGeom>
          <a:noFill/>
          <a:ln/>
        </p:spPr>
        <p:txBody>
          <a:bodyPr wrap="square" lIns="0" tIns="0" rIns="0" bIns="0" rtlCol="0" anchor="t"/>
          <a:lstStyle/>
          <a:p>
            <a:pPr marL="0" indent="0" algn="ctr">
              <a:lnSpc>
                <a:spcPct val="105000"/>
              </a:lnSpc>
              <a:buNone/>
            </a:pPr>
            <a:r>
              <a:rPr lang="en-US" sz="1000">
                <a:solidFill>
                  <a:srgbClr val="C3CDD6"/>
                </a:solidFill>
                <a:latin typeface="Calibri" pitchFamily="34" charset="0"/>
                <a:ea typeface="Calibri" pitchFamily="34" charset="-122"/>
                <a:cs typeface="Calibri" pitchFamily="34" charset="-120"/>
              </a:rPr>
              <a:t>MMP is data-model only (not enforced); one user per gateway.</a:t>
            </a:r>
            <a:endParaRPr lang="en-US" sz="1000"/>
          </a:p>
        </p:txBody>
      </p:sp>
      <p:sp>
        <p:nvSpPr>
          <p:cNvPr id="31"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a:solidFill>
                  <a:srgbClr val="B4B4BE"/>
                </a:solidFill>
                <a:latin typeface="Calibri" pitchFamily="34" charset="0"/>
                <a:ea typeface="Calibri" pitchFamily="34" charset="-122"/>
                <a:cs typeface="Calibri" pitchFamily="34" charset="-120"/>
              </a:rPr>
              <a:t>EduMatcher  ·  System Overview</a:t>
            </a:r>
            <a:endParaRPr lang="en-US" sz="900"/>
          </a:p>
        </p:txBody>
      </p:sp>
      <p:sp>
        <p:nvSpPr>
          <p:cNvPr id="32"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41</a:t>
            </a:r>
            <a:endParaRPr lang="en-US" sz="95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50" name="Background">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0" y="0"/>
            <a:ext cx="9144000" cy="5143500"/>
          </a:xfrm>
          <a:prstGeom prst="rect">
            <a:avLst/>
          </a:prstGeom>
        </p:spPr>
      </p:pic>
      <p:pic>
        <p:nvPicPr>
          <p:cNvPr id="36" name="Image 0" descr="Glowing amber network of connected nodes representing the message bus">
            <a:extLst>
              <a:ext uri="{FF2B5EF4-FFF2-40B4-BE49-F238E27FC236}">
                <a16:creationId xmlns:a16="http://schemas.microsoft.com/office/drawing/2014/main" id="{FB5AD40F-E83E-E372-8D86-EBB4953452E5}"/>
              </a:ext>
            </a:extLst>
          </p:cNvPr>
          <p:cNvPicPr>
            <a:picLocks noChangeAspect="1"/>
          </p:cNvPicPr>
          <p:nvPr/>
        </p:nvPicPr>
        <p:blipFill>
          <a:blip r:embed="rId4"/>
          <a:srcRect l="26237" r="26237"/>
          <a:stretch/>
        </p:blipFill>
        <p:spPr>
          <a:xfrm>
            <a:off x="4745736" y="0"/>
            <a:ext cx="4343400" cy="5143500"/>
          </a:xfrm>
          <a:prstGeom prst="rect">
            <a:avLst/>
          </a:prstGeom>
        </p:spPr>
      </p:pic>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700" b="1" dirty="0">
                <a:solidFill>
                  <a:srgbClr val="ECECEC"/>
                </a:solidFill>
                <a:latin typeface="Arial" pitchFamily="34" charset="0"/>
                <a:ea typeface="Arial" pitchFamily="34" charset="-122"/>
                <a:cs typeface="Arial" pitchFamily="34" charset="-120"/>
              </a:rPr>
              <a:t>Exceptionally well-supported</a:t>
            </a:r>
            <a:endParaRPr lang="en-US" sz="2700" dirty="0"/>
          </a:p>
        </p:txBody>
      </p:sp>
      <p:sp>
        <p:nvSpPr>
          <p:cNvPr id="7" name="card">
            <a:extLst>
              <a:ext uri="{C183D7F6-B498-43B3-948B-1728B52AA6E4}">
                <adec:decorative xmlns:adec="http://schemas.microsoft.com/office/drawing/2017/decorative" val="1"/>
              </a:ext>
            </a:extLst>
          </p:cNvPr>
          <p:cNvSpPr/>
          <p:nvPr/>
        </p:nvSpPr>
        <p:spPr>
          <a:xfrm>
            <a:off x="566928" y="1481328"/>
            <a:ext cx="3977640" cy="1207008"/>
          </a:xfrm>
          <a:prstGeom prst="roundRect">
            <a:avLst>
              <a:gd name="adj" fmla="val 4545"/>
            </a:avLst>
          </a:prstGeom>
          <a:solidFill>
            <a:srgbClr val="2E2E37">
              <a:alpha val="61682"/>
            </a:srgbClr>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8" name="stat accent">
            <a:extLst>
              <a:ext uri="{C183D7F6-B498-43B3-948B-1728B52AA6E4}">
                <adec:decorative xmlns:adec="http://schemas.microsoft.com/office/drawing/2017/decorative" val="1"/>
              </a:ext>
            </a:extLst>
          </p:cNvPr>
          <p:cNvSpPr/>
          <p:nvPr/>
        </p:nvSpPr>
        <p:spPr>
          <a:xfrm>
            <a:off x="566928" y="1481328"/>
            <a:ext cx="82296" cy="1207008"/>
          </a:xfrm>
          <a:prstGeom prst="rect">
            <a:avLst/>
          </a:prstGeom>
          <a:solidFill>
            <a:srgbClr val="F2860D"/>
          </a:solidFill>
          <a:ln/>
        </p:spPr>
        <p:txBody>
          <a:bodyPr/>
          <a:lstStyle/>
          <a:p>
            <a:endParaRPr lang="en-SE"/>
          </a:p>
        </p:txBody>
      </p:sp>
      <p:sp>
        <p:nvSpPr>
          <p:cNvPr id="9" name="Text 7"/>
          <p:cNvSpPr/>
          <p:nvPr/>
        </p:nvSpPr>
        <p:spPr>
          <a:xfrm>
            <a:off x="731520" y="1609344"/>
            <a:ext cx="1463040" cy="713232"/>
          </a:xfrm>
          <a:prstGeom prst="rect">
            <a:avLst/>
          </a:prstGeom>
          <a:noFill/>
          <a:ln/>
        </p:spPr>
        <p:txBody>
          <a:bodyPr wrap="square" lIns="0" tIns="0" rIns="0" bIns="0" rtlCol="0" anchor="ctr"/>
          <a:lstStyle/>
          <a:p>
            <a:pPr marL="0" indent="0" algn="r">
              <a:buNone/>
            </a:pPr>
            <a:r>
              <a:rPr lang="en-US" sz="4600" b="1" dirty="0">
                <a:solidFill>
                  <a:srgbClr val="F2860D"/>
                </a:solidFill>
                <a:latin typeface="Arial" pitchFamily="34" charset="0"/>
                <a:ea typeface="Arial" pitchFamily="34" charset="-122"/>
                <a:cs typeface="Arial" pitchFamily="34" charset="-120"/>
              </a:rPr>
              <a:t>800</a:t>
            </a:r>
            <a:endParaRPr lang="en-US" sz="4600" dirty="0"/>
          </a:p>
        </p:txBody>
      </p:sp>
      <p:sp>
        <p:nvSpPr>
          <p:cNvPr id="10" name="Text 8"/>
          <p:cNvSpPr/>
          <p:nvPr/>
        </p:nvSpPr>
        <p:spPr>
          <a:xfrm>
            <a:off x="2267712" y="1609344"/>
            <a:ext cx="2194560" cy="713232"/>
          </a:xfrm>
          <a:prstGeom prst="rect">
            <a:avLst/>
          </a:prstGeom>
          <a:noFill/>
          <a:ln/>
        </p:spPr>
        <p:txBody>
          <a:bodyPr wrap="square" lIns="0" tIns="0" rIns="0" bIns="0" rtlCol="0" anchor="ctr"/>
          <a:lstStyle/>
          <a:p>
            <a:pPr marL="0" indent="0" algn="l">
              <a:buNone/>
            </a:pPr>
            <a:r>
              <a:rPr lang="en-US" sz="1500" b="1" dirty="0">
                <a:solidFill>
                  <a:srgbClr val="C3CDD6"/>
                </a:solidFill>
                <a:latin typeface="Arial" pitchFamily="34" charset="0"/>
                <a:ea typeface="Arial" pitchFamily="34" charset="-122"/>
                <a:cs typeface="Arial" pitchFamily="34" charset="-120"/>
              </a:rPr>
              <a:t>pages</a:t>
            </a:r>
            <a:endParaRPr lang="en-US" sz="1500" dirty="0"/>
          </a:p>
        </p:txBody>
      </p:sp>
      <p:sp>
        <p:nvSpPr>
          <p:cNvPr id="11" name="Text 9"/>
          <p:cNvSpPr/>
          <p:nvPr/>
        </p:nvSpPr>
        <p:spPr>
          <a:xfrm>
            <a:off x="841248" y="2304288"/>
            <a:ext cx="3520440" cy="329184"/>
          </a:xfrm>
          <a:prstGeom prst="rect">
            <a:avLst/>
          </a:prstGeom>
          <a:noFill/>
          <a:ln/>
        </p:spPr>
        <p:txBody>
          <a:bodyPr wrap="square" lIns="0" tIns="0" rIns="0" bIns="0" rtlCol="0" anchor="t"/>
          <a:lstStyle/>
          <a:p>
            <a:pPr marL="0" indent="0" algn="l">
              <a:lnSpc>
                <a:spcPct val="100000"/>
              </a:lnSpc>
              <a:buNone/>
            </a:pPr>
            <a:r>
              <a:rPr lang="en-US" sz="1200" dirty="0">
                <a:solidFill>
                  <a:srgbClr val="ECECEC"/>
                </a:solidFill>
                <a:latin typeface="Calibri" pitchFamily="34" charset="0"/>
                <a:ea typeface="Calibri" pitchFamily="34" charset="-122"/>
                <a:cs typeface="Calibri" pitchFamily="34" charset="-120"/>
              </a:rPr>
              <a:t>User guide — the complete reference manual</a:t>
            </a:r>
            <a:endParaRPr lang="en-US" sz="1200" dirty="0"/>
          </a:p>
        </p:txBody>
      </p:sp>
      <p:sp>
        <p:nvSpPr>
          <p:cNvPr id="12" name="card">
            <a:extLst>
              <a:ext uri="{C183D7F6-B498-43B3-948B-1728B52AA6E4}">
                <adec:decorative xmlns:adec="http://schemas.microsoft.com/office/drawing/2017/decorative" val="1"/>
              </a:ext>
            </a:extLst>
          </p:cNvPr>
          <p:cNvSpPr/>
          <p:nvPr/>
        </p:nvSpPr>
        <p:spPr>
          <a:xfrm>
            <a:off x="566928" y="2798064"/>
            <a:ext cx="3977640" cy="1207008"/>
          </a:xfrm>
          <a:prstGeom prst="roundRect">
            <a:avLst>
              <a:gd name="adj" fmla="val 4545"/>
            </a:avLst>
          </a:prstGeom>
          <a:solidFill>
            <a:srgbClr val="2E2E37">
              <a:alpha val="61682"/>
            </a:srgbClr>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3" name="stat accent">
            <a:extLst>
              <a:ext uri="{C183D7F6-B498-43B3-948B-1728B52AA6E4}">
                <adec:decorative xmlns:adec="http://schemas.microsoft.com/office/drawing/2017/decorative" val="1"/>
              </a:ext>
            </a:extLst>
          </p:cNvPr>
          <p:cNvSpPr/>
          <p:nvPr/>
        </p:nvSpPr>
        <p:spPr>
          <a:xfrm>
            <a:off x="566928" y="2798064"/>
            <a:ext cx="82296" cy="1207008"/>
          </a:xfrm>
          <a:prstGeom prst="rect">
            <a:avLst/>
          </a:prstGeom>
          <a:solidFill>
            <a:srgbClr val="F2860D"/>
          </a:solidFill>
          <a:ln/>
        </p:spPr>
        <p:txBody>
          <a:bodyPr/>
          <a:lstStyle/>
          <a:p>
            <a:endParaRPr lang="en-SE"/>
          </a:p>
        </p:txBody>
      </p:sp>
      <p:sp>
        <p:nvSpPr>
          <p:cNvPr id="14" name="Text 12"/>
          <p:cNvSpPr/>
          <p:nvPr/>
        </p:nvSpPr>
        <p:spPr>
          <a:xfrm>
            <a:off x="731520" y="2926080"/>
            <a:ext cx="1463040" cy="713232"/>
          </a:xfrm>
          <a:prstGeom prst="rect">
            <a:avLst/>
          </a:prstGeom>
          <a:noFill/>
          <a:ln/>
        </p:spPr>
        <p:txBody>
          <a:bodyPr wrap="square" lIns="0" tIns="0" rIns="0" bIns="0" rtlCol="0" anchor="ctr"/>
          <a:lstStyle/>
          <a:p>
            <a:pPr marL="0" indent="0" algn="r">
              <a:buNone/>
            </a:pPr>
            <a:r>
              <a:rPr lang="en-US" sz="4600" b="1" dirty="0">
                <a:solidFill>
                  <a:srgbClr val="F2860D"/>
                </a:solidFill>
                <a:latin typeface="Arial" pitchFamily="34" charset="0"/>
                <a:ea typeface="Arial" pitchFamily="34" charset="-122"/>
                <a:cs typeface="Arial" pitchFamily="34" charset="-120"/>
              </a:rPr>
              <a:t>45</a:t>
            </a:r>
            <a:endParaRPr lang="en-US" sz="4600" dirty="0"/>
          </a:p>
        </p:txBody>
      </p:sp>
      <p:sp>
        <p:nvSpPr>
          <p:cNvPr id="15" name="Text 13"/>
          <p:cNvSpPr/>
          <p:nvPr/>
        </p:nvSpPr>
        <p:spPr>
          <a:xfrm>
            <a:off x="2267712" y="2926080"/>
            <a:ext cx="2194560" cy="713232"/>
          </a:xfrm>
          <a:prstGeom prst="rect">
            <a:avLst/>
          </a:prstGeom>
          <a:noFill/>
          <a:ln/>
        </p:spPr>
        <p:txBody>
          <a:bodyPr wrap="square" lIns="0" tIns="0" rIns="0" bIns="0" rtlCol="0" anchor="ctr"/>
          <a:lstStyle/>
          <a:p>
            <a:pPr marL="0" indent="0" algn="l">
              <a:buNone/>
            </a:pPr>
            <a:r>
              <a:rPr lang="en-US" sz="1500" b="1" dirty="0">
                <a:solidFill>
                  <a:srgbClr val="C3CDD6"/>
                </a:solidFill>
                <a:latin typeface="Arial" pitchFamily="34" charset="0"/>
                <a:ea typeface="Arial" pitchFamily="34" charset="-122"/>
                <a:cs typeface="Arial" pitchFamily="34" charset="-120"/>
              </a:rPr>
              <a:t>chapters</a:t>
            </a:r>
            <a:endParaRPr lang="en-US" sz="1500" dirty="0"/>
          </a:p>
        </p:txBody>
      </p:sp>
      <p:sp>
        <p:nvSpPr>
          <p:cNvPr id="16" name="Text 14"/>
          <p:cNvSpPr/>
          <p:nvPr/>
        </p:nvSpPr>
        <p:spPr>
          <a:xfrm>
            <a:off x="841248" y="3621024"/>
            <a:ext cx="3520440" cy="329184"/>
          </a:xfrm>
          <a:prstGeom prst="rect">
            <a:avLst/>
          </a:prstGeom>
          <a:noFill/>
          <a:ln/>
        </p:spPr>
        <p:txBody>
          <a:bodyPr wrap="square" lIns="0" tIns="0" rIns="0" bIns="0" rtlCol="0" anchor="t"/>
          <a:lstStyle/>
          <a:p>
            <a:pPr marL="0" indent="0" algn="l">
              <a:lnSpc>
                <a:spcPct val="100000"/>
              </a:lnSpc>
              <a:buNone/>
            </a:pPr>
            <a:r>
              <a:rPr lang="en-US" sz="1200" dirty="0">
                <a:solidFill>
                  <a:srgbClr val="ECECEC"/>
                </a:solidFill>
                <a:latin typeface="Calibri" pitchFamily="34" charset="0"/>
                <a:ea typeface="Calibri" pitchFamily="34" charset="-122"/>
                <a:cs typeface="Calibri" pitchFamily="34" charset="-120"/>
              </a:rPr>
              <a:t>Training course with hands-on guided exercises</a:t>
            </a:r>
            <a:endParaRPr lang="en-US" sz="1200" dirty="0"/>
          </a:p>
        </p:txBody>
      </p:sp>
      <p:sp>
        <p:nvSpPr>
          <p:cNvPr id="34" name="Text 32"/>
          <p:cNvSpPr/>
          <p:nvPr/>
        </p:nvSpPr>
        <p:spPr>
          <a:xfrm>
            <a:off x="804672" y="4224528"/>
            <a:ext cx="2286000" cy="566928"/>
          </a:xfrm>
          <a:prstGeom prst="rect">
            <a:avLst/>
          </a:prstGeom>
          <a:noFill/>
          <a:ln/>
        </p:spPr>
        <p:txBody>
          <a:bodyPr wrap="square" lIns="0" tIns="0" rIns="0" bIns="0" rtlCol="0" anchor="ctr"/>
          <a:lstStyle/>
          <a:p>
            <a:pPr marL="0" indent="0" algn="l">
              <a:buNone/>
            </a:pPr>
            <a:r>
              <a:rPr lang="en-US" sz="1250" b="1" dirty="0">
                <a:solidFill>
                  <a:srgbClr val="F2860D"/>
                </a:solidFill>
                <a:latin typeface="Arial" pitchFamily="34" charset="0"/>
                <a:ea typeface="Arial" pitchFamily="34" charset="-122"/>
                <a:cs typeface="Arial" pitchFamily="34" charset="-120"/>
              </a:rPr>
              <a:t>Everything on GitHub</a:t>
            </a:r>
            <a:endParaRPr lang="en-US" sz="1250" dirty="0"/>
          </a:p>
        </p:txBody>
      </p:sp>
      <p:sp>
        <p:nvSpPr>
          <p:cNvPr id="37" name="Text 34"/>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dirty="0">
                <a:solidFill>
                  <a:srgbClr val="B4B4BE"/>
                </a:solidFill>
                <a:latin typeface="Calibri" pitchFamily="34" charset="0"/>
                <a:ea typeface="Calibri" pitchFamily="34" charset="-122"/>
                <a:cs typeface="Calibri" pitchFamily="34" charset="-120"/>
              </a:rPr>
              <a:t>EduMatcher  ·  System Overview</a:t>
            </a:r>
            <a:endParaRPr lang="en-US" sz="900" dirty="0"/>
          </a:p>
        </p:txBody>
      </p:sp>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a:extLst>
              <a:ext uri="{C183D7F6-B498-43B3-948B-1728B52AA6E4}">
                <adec:decorative xmlns:adec="http://schemas.microsoft.com/office/drawing/2017/decorative" val="1"/>
              </a:ext>
            </a:extLst>
          </p:cNvPr>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dirty="0">
                <a:solidFill>
                  <a:srgbClr val="FF9E2C"/>
                </a:solidFill>
                <a:latin typeface="Courier New" pitchFamily="34" charset="0"/>
                <a:ea typeface="Courier New" pitchFamily="34" charset="-122"/>
                <a:cs typeface="Courier New" pitchFamily="34" charset="-120"/>
              </a:rPr>
              <a:t>18 · LEARNING RESOURCES</a:t>
            </a:r>
            <a:endParaRPr lang="en-US" sz="1150" dirty="0"/>
          </a:p>
        </p:txBody>
      </p:sp>
      <p:sp>
        <p:nvSpPr>
          <p:cNvPr id="17" name="card">
            <a:extLst>
              <a:ext uri="{C183D7F6-B498-43B3-948B-1728B52AA6E4}">
                <adec:decorative xmlns:adec="http://schemas.microsoft.com/office/drawing/2017/decorative" val="1"/>
              </a:ext>
            </a:extLst>
          </p:cNvPr>
          <p:cNvSpPr/>
          <p:nvPr/>
        </p:nvSpPr>
        <p:spPr>
          <a:xfrm>
            <a:off x="4828032" y="1481328"/>
            <a:ext cx="1874520" cy="1207008"/>
          </a:xfrm>
          <a:prstGeom prst="roundRect">
            <a:avLst>
              <a:gd name="adj" fmla="val 4545"/>
            </a:avLst>
          </a:prstGeom>
          <a:solidFill>
            <a:srgbClr val="26262D">
              <a:alpha val="61682"/>
            </a:srgbClr>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8" name="feat accent">
            <a:extLst>
              <a:ext uri="{C183D7F6-B498-43B3-948B-1728B52AA6E4}">
                <adec:decorative xmlns:adec="http://schemas.microsoft.com/office/drawing/2017/decorative" val="1"/>
              </a:ext>
            </a:extLst>
          </p:cNvPr>
          <p:cNvSpPr/>
          <p:nvPr/>
        </p:nvSpPr>
        <p:spPr>
          <a:xfrm>
            <a:off x="4828032" y="1481328"/>
            <a:ext cx="1874520" cy="54864"/>
          </a:xfrm>
          <a:prstGeom prst="rect">
            <a:avLst/>
          </a:prstGeom>
          <a:solidFill>
            <a:srgbClr val="F2860D"/>
          </a:solidFill>
          <a:ln/>
        </p:spPr>
        <p:txBody>
          <a:bodyPr/>
          <a:lstStyle/>
          <a:p>
            <a:endParaRPr lang="en-SE"/>
          </a:p>
        </p:txBody>
      </p:sp>
      <p:sp>
        <p:nvSpPr>
          <p:cNvPr id="19" name="Text 17"/>
          <p:cNvSpPr/>
          <p:nvPr/>
        </p:nvSpPr>
        <p:spPr>
          <a:xfrm>
            <a:off x="4974336" y="1627632"/>
            <a:ext cx="365760" cy="365760"/>
          </a:xfrm>
          <a:prstGeom prst="rect">
            <a:avLst/>
          </a:prstGeom>
          <a:noFill/>
          <a:ln/>
        </p:spPr>
        <p:txBody>
          <a:bodyPr wrap="square" lIns="0" tIns="0" rIns="0" bIns="0" rtlCol="0" anchor="ctr"/>
          <a:lstStyle/>
          <a:p>
            <a:pPr marL="0" indent="0" algn="l">
              <a:buNone/>
            </a:pPr>
            <a:r>
              <a:rPr lang="en-US" sz="1800" b="1" dirty="0">
                <a:solidFill>
                  <a:srgbClr val="F2860D"/>
                </a:solidFill>
                <a:latin typeface="Arial" pitchFamily="34" charset="0"/>
                <a:ea typeface="Arial" pitchFamily="34" charset="-122"/>
                <a:cs typeface="Arial" pitchFamily="34" charset="-120"/>
              </a:rPr>
              <a:t>✓</a:t>
            </a:r>
            <a:endParaRPr lang="en-US" sz="1800" dirty="0"/>
          </a:p>
        </p:txBody>
      </p:sp>
      <p:sp>
        <p:nvSpPr>
          <p:cNvPr id="20" name="Text 18"/>
          <p:cNvSpPr/>
          <p:nvPr/>
        </p:nvSpPr>
        <p:spPr>
          <a:xfrm>
            <a:off x="4974336" y="1993392"/>
            <a:ext cx="1600200" cy="640080"/>
          </a:xfrm>
          <a:prstGeom prst="rect">
            <a:avLst/>
          </a:prstGeom>
          <a:noFill/>
          <a:ln/>
        </p:spPr>
        <p:txBody>
          <a:bodyPr wrap="square" lIns="0" tIns="0" rIns="0" bIns="0" rtlCol="0" anchor="t"/>
          <a:lstStyle/>
          <a:p>
            <a:pPr marL="0" indent="0" algn="l">
              <a:lnSpc>
                <a:spcPct val="105000"/>
              </a:lnSpc>
              <a:buNone/>
            </a:pPr>
            <a:r>
              <a:rPr lang="en-US" sz="1200" b="1" dirty="0">
                <a:solidFill>
                  <a:srgbClr val="ECECEC"/>
                </a:solidFill>
                <a:latin typeface="Calibri" pitchFamily="34" charset="0"/>
                <a:ea typeface="Calibri" pitchFamily="34" charset="-122"/>
                <a:cs typeface="Calibri" pitchFamily="34" charset="-120"/>
              </a:rPr>
              <a:t>Quizzes to check your knowledge</a:t>
            </a:r>
            <a:endParaRPr lang="en-US" sz="1200" dirty="0"/>
          </a:p>
        </p:txBody>
      </p:sp>
      <p:sp>
        <p:nvSpPr>
          <p:cNvPr id="21" name="card">
            <a:extLst>
              <a:ext uri="{C183D7F6-B498-43B3-948B-1728B52AA6E4}">
                <adec:decorative xmlns:adec="http://schemas.microsoft.com/office/drawing/2017/decorative" val="1"/>
              </a:ext>
            </a:extLst>
          </p:cNvPr>
          <p:cNvSpPr/>
          <p:nvPr/>
        </p:nvSpPr>
        <p:spPr>
          <a:xfrm>
            <a:off x="6848856" y="1481328"/>
            <a:ext cx="1874520" cy="1207008"/>
          </a:xfrm>
          <a:prstGeom prst="roundRect">
            <a:avLst>
              <a:gd name="adj" fmla="val 4545"/>
            </a:avLst>
          </a:prstGeom>
          <a:solidFill>
            <a:srgbClr val="26262D">
              <a:alpha val="61682"/>
            </a:srgbClr>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2" name="feat accent">
            <a:extLst>
              <a:ext uri="{C183D7F6-B498-43B3-948B-1728B52AA6E4}">
                <adec:decorative xmlns:adec="http://schemas.microsoft.com/office/drawing/2017/decorative" val="1"/>
              </a:ext>
            </a:extLst>
          </p:cNvPr>
          <p:cNvSpPr/>
          <p:nvPr/>
        </p:nvSpPr>
        <p:spPr>
          <a:xfrm>
            <a:off x="6848856" y="1481328"/>
            <a:ext cx="1874520" cy="54864"/>
          </a:xfrm>
          <a:prstGeom prst="rect">
            <a:avLst/>
          </a:prstGeom>
          <a:solidFill>
            <a:srgbClr val="F2860D"/>
          </a:solidFill>
          <a:ln/>
        </p:spPr>
        <p:txBody>
          <a:bodyPr/>
          <a:lstStyle/>
          <a:p>
            <a:endParaRPr lang="en-SE"/>
          </a:p>
        </p:txBody>
      </p:sp>
      <p:sp>
        <p:nvSpPr>
          <p:cNvPr id="23" name="Text 21"/>
          <p:cNvSpPr/>
          <p:nvPr/>
        </p:nvSpPr>
        <p:spPr>
          <a:xfrm>
            <a:off x="6995160" y="1627632"/>
            <a:ext cx="365760" cy="365760"/>
          </a:xfrm>
          <a:prstGeom prst="rect">
            <a:avLst/>
          </a:prstGeom>
          <a:noFill/>
          <a:ln/>
        </p:spPr>
        <p:txBody>
          <a:bodyPr wrap="square" lIns="0" tIns="0" rIns="0" bIns="0" rtlCol="0" anchor="ctr"/>
          <a:lstStyle/>
          <a:p>
            <a:pPr marL="0" indent="0" algn="l">
              <a:buNone/>
            </a:pPr>
            <a:r>
              <a:rPr lang="en-US" sz="1800" b="1" dirty="0">
                <a:solidFill>
                  <a:srgbClr val="F2860D"/>
                </a:solidFill>
                <a:latin typeface="Arial" pitchFamily="34" charset="0"/>
                <a:ea typeface="Arial" pitchFamily="34" charset="-122"/>
                <a:cs typeface="Arial" pitchFamily="34" charset="-120"/>
              </a:rPr>
              <a:t>✓</a:t>
            </a:r>
            <a:endParaRPr lang="en-US" sz="1800" dirty="0"/>
          </a:p>
        </p:txBody>
      </p:sp>
      <p:sp>
        <p:nvSpPr>
          <p:cNvPr id="24" name="Text 22"/>
          <p:cNvSpPr/>
          <p:nvPr/>
        </p:nvSpPr>
        <p:spPr>
          <a:xfrm>
            <a:off x="6995160" y="1993392"/>
            <a:ext cx="1600200" cy="640080"/>
          </a:xfrm>
          <a:prstGeom prst="rect">
            <a:avLst/>
          </a:prstGeom>
          <a:noFill/>
          <a:ln/>
        </p:spPr>
        <p:txBody>
          <a:bodyPr wrap="square" lIns="0" tIns="0" rIns="0" bIns="0" rtlCol="0" anchor="t"/>
          <a:lstStyle/>
          <a:p>
            <a:pPr marL="0" indent="0" algn="l">
              <a:lnSpc>
                <a:spcPct val="105000"/>
              </a:lnSpc>
              <a:buNone/>
            </a:pPr>
            <a:r>
              <a:rPr lang="en-US" sz="1200" b="1" dirty="0">
                <a:solidFill>
                  <a:srgbClr val="ECECEC"/>
                </a:solidFill>
                <a:latin typeface="Calibri" pitchFamily="34" charset="0"/>
                <a:ea typeface="Calibri" pitchFamily="34" charset="-122"/>
                <a:cs typeface="Calibri" pitchFamily="34" charset="-120"/>
              </a:rPr>
              <a:t>Self-study question sets</a:t>
            </a:r>
            <a:endParaRPr lang="en-US" sz="1200" dirty="0"/>
          </a:p>
        </p:txBody>
      </p:sp>
      <p:sp>
        <p:nvSpPr>
          <p:cNvPr id="25" name="card">
            <a:extLst>
              <a:ext uri="{C183D7F6-B498-43B3-948B-1728B52AA6E4}">
                <adec:decorative xmlns:adec="http://schemas.microsoft.com/office/drawing/2017/decorative" val="1"/>
              </a:ext>
            </a:extLst>
          </p:cNvPr>
          <p:cNvSpPr/>
          <p:nvPr/>
        </p:nvSpPr>
        <p:spPr>
          <a:xfrm>
            <a:off x="4828032" y="2825496"/>
            <a:ext cx="1874520" cy="1207008"/>
          </a:xfrm>
          <a:prstGeom prst="roundRect">
            <a:avLst>
              <a:gd name="adj" fmla="val 4545"/>
            </a:avLst>
          </a:prstGeom>
          <a:solidFill>
            <a:srgbClr val="26262D">
              <a:alpha val="61682"/>
            </a:srgbClr>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26" name="feat accent">
            <a:extLst>
              <a:ext uri="{C183D7F6-B498-43B3-948B-1728B52AA6E4}">
                <adec:decorative xmlns:adec="http://schemas.microsoft.com/office/drawing/2017/decorative" val="1"/>
              </a:ext>
            </a:extLst>
          </p:cNvPr>
          <p:cNvSpPr/>
          <p:nvPr/>
        </p:nvSpPr>
        <p:spPr>
          <a:xfrm>
            <a:off x="4828032" y="2825496"/>
            <a:ext cx="1874520" cy="54864"/>
          </a:xfrm>
          <a:prstGeom prst="rect">
            <a:avLst/>
          </a:prstGeom>
          <a:solidFill>
            <a:srgbClr val="F2860D"/>
          </a:solidFill>
          <a:ln/>
        </p:spPr>
        <p:txBody>
          <a:bodyPr/>
          <a:lstStyle/>
          <a:p>
            <a:endParaRPr lang="en-SE"/>
          </a:p>
        </p:txBody>
      </p:sp>
      <p:sp>
        <p:nvSpPr>
          <p:cNvPr id="27" name="Text 25"/>
          <p:cNvSpPr/>
          <p:nvPr/>
        </p:nvSpPr>
        <p:spPr>
          <a:xfrm>
            <a:off x="4974336" y="2971800"/>
            <a:ext cx="365760" cy="365760"/>
          </a:xfrm>
          <a:prstGeom prst="rect">
            <a:avLst/>
          </a:prstGeom>
          <a:noFill/>
          <a:ln/>
        </p:spPr>
        <p:txBody>
          <a:bodyPr wrap="square" lIns="0" tIns="0" rIns="0" bIns="0" rtlCol="0" anchor="ctr"/>
          <a:lstStyle/>
          <a:p>
            <a:pPr marL="0" indent="0" algn="l">
              <a:buNone/>
            </a:pPr>
            <a:r>
              <a:rPr lang="en-US" sz="1800" b="1" dirty="0">
                <a:solidFill>
                  <a:srgbClr val="F2860D"/>
                </a:solidFill>
                <a:latin typeface="Arial" pitchFamily="34" charset="0"/>
                <a:ea typeface="Arial" pitchFamily="34" charset="-122"/>
                <a:cs typeface="Arial" pitchFamily="34" charset="-120"/>
              </a:rPr>
              <a:t>✓</a:t>
            </a:r>
            <a:endParaRPr lang="en-US" sz="1800" dirty="0"/>
          </a:p>
        </p:txBody>
      </p:sp>
      <p:sp>
        <p:nvSpPr>
          <p:cNvPr id="28" name="Text 26"/>
          <p:cNvSpPr/>
          <p:nvPr/>
        </p:nvSpPr>
        <p:spPr>
          <a:xfrm>
            <a:off x="4974336" y="3337560"/>
            <a:ext cx="1600200" cy="640080"/>
          </a:xfrm>
          <a:prstGeom prst="rect">
            <a:avLst/>
          </a:prstGeom>
          <a:noFill/>
          <a:ln/>
        </p:spPr>
        <p:txBody>
          <a:bodyPr wrap="square" lIns="0" tIns="0" rIns="0" bIns="0" rtlCol="0" anchor="t"/>
          <a:lstStyle/>
          <a:p>
            <a:pPr marL="0" indent="0" algn="l">
              <a:lnSpc>
                <a:spcPct val="105000"/>
              </a:lnSpc>
              <a:buNone/>
            </a:pPr>
            <a:r>
              <a:rPr lang="en-US" sz="1200" b="1" dirty="0">
                <a:solidFill>
                  <a:srgbClr val="ECECEC"/>
                </a:solidFill>
                <a:latin typeface="Calibri" pitchFamily="34" charset="0"/>
                <a:ea typeface="Calibri" pitchFamily="34" charset="-122"/>
                <a:cs typeface="Calibri" pitchFamily="34" charset="-120"/>
              </a:rPr>
              <a:t>Full original design documentation</a:t>
            </a:r>
            <a:endParaRPr lang="en-US" sz="1200" dirty="0"/>
          </a:p>
        </p:txBody>
      </p:sp>
      <p:sp>
        <p:nvSpPr>
          <p:cNvPr id="29" name="card">
            <a:extLst>
              <a:ext uri="{C183D7F6-B498-43B3-948B-1728B52AA6E4}">
                <adec:decorative xmlns:adec="http://schemas.microsoft.com/office/drawing/2017/decorative" val="1"/>
              </a:ext>
            </a:extLst>
          </p:cNvPr>
          <p:cNvSpPr/>
          <p:nvPr/>
        </p:nvSpPr>
        <p:spPr>
          <a:xfrm>
            <a:off x="6848856" y="2825496"/>
            <a:ext cx="1874520" cy="1207008"/>
          </a:xfrm>
          <a:prstGeom prst="roundRect">
            <a:avLst>
              <a:gd name="adj" fmla="val 4545"/>
            </a:avLst>
          </a:prstGeom>
          <a:solidFill>
            <a:srgbClr val="26262D">
              <a:alpha val="61682"/>
            </a:srgbClr>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30" name="feat accent">
            <a:extLst>
              <a:ext uri="{C183D7F6-B498-43B3-948B-1728B52AA6E4}">
                <adec:decorative xmlns:adec="http://schemas.microsoft.com/office/drawing/2017/decorative" val="1"/>
              </a:ext>
            </a:extLst>
          </p:cNvPr>
          <p:cNvSpPr/>
          <p:nvPr/>
        </p:nvSpPr>
        <p:spPr>
          <a:xfrm>
            <a:off x="6848856" y="2825496"/>
            <a:ext cx="1874520" cy="54864"/>
          </a:xfrm>
          <a:prstGeom prst="rect">
            <a:avLst/>
          </a:prstGeom>
          <a:solidFill>
            <a:srgbClr val="F2860D"/>
          </a:solidFill>
          <a:ln/>
        </p:spPr>
        <p:txBody>
          <a:bodyPr/>
          <a:lstStyle/>
          <a:p>
            <a:endParaRPr lang="en-SE"/>
          </a:p>
        </p:txBody>
      </p:sp>
      <p:sp>
        <p:nvSpPr>
          <p:cNvPr id="31" name="Text 29"/>
          <p:cNvSpPr/>
          <p:nvPr/>
        </p:nvSpPr>
        <p:spPr>
          <a:xfrm>
            <a:off x="6995160" y="2971800"/>
            <a:ext cx="365760" cy="365760"/>
          </a:xfrm>
          <a:prstGeom prst="rect">
            <a:avLst/>
          </a:prstGeom>
          <a:noFill/>
          <a:ln/>
        </p:spPr>
        <p:txBody>
          <a:bodyPr wrap="square" lIns="0" tIns="0" rIns="0" bIns="0" rtlCol="0" anchor="ctr"/>
          <a:lstStyle/>
          <a:p>
            <a:pPr marL="0" indent="0" algn="l">
              <a:buNone/>
            </a:pPr>
            <a:r>
              <a:rPr lang="en-US" sz="1800" b="1" dirty="0">
                <a:solidFill>
                  <a:srgbClr val="F2860D"/>
                </a:solidFill>
                <a:latin typeface="Arial" pitchFamily="34" charset="0"/>
                <a:ea typeface="Arial" pitchFamily="34" charset="-122"/>
                <a:cs typeface="Arial" pitchFamily="34" charset="-120"/>
              </a:rPr>
              <a:t>✓</a:t>
            </a:r>
            <a:endParaRPr lang="en-US" sz="1800" dirty="0"/>
          </a:p>
        </p:txBody>
      </p:sp>
      <p:sp>
        <p:nvSpPr>
          <p:cNvPr id="32" name="Text 30"/>
          <p:cNvSpPr/>
          <p:nvPr/>
        </p:nvSpPr>
        <p:spPr>
          <a:xfrm>
            <a:off x="6995160" y="3337560"/>
            <a:ext cx="1600200" cy="640080"/>
          </a:xfrm>
          <a:prstGeom prst="rect">
            <a:avLst/>
          </a:prstGeom>
          <a:noFill/>
          <a:ln/>
        </p:spPr>
        <p:txBody>
          <a:bodyPr wrap="square" lIns="0" tIns="0" rIns="0" bIns="0" rtlCol="0" anchor="t"/>
          <a:lstStyle/>
          <a:p>
            <a:pPr marL="0" indent="0" algn="l">
              <a:lnSpc>
                <a:spcPct val="105000"/>
              </a:lnSpc>
              <a:buNone/>
            </a:pPr>
            <a:r>
              <a:rPr lang="en-US" sz="1200" b="1" dirty="0">
                <a:solidFill>
                  <a:srgbClr val="ECECEC"/>
                </a:solidFill>
                <a:latin typeface="Calibri" pitchFamily="34" charset="0"/>
                <a:ea typeface="Calibri" pitchFamily="34" charset="-122"/>
                <a:cs typeface="Calibri" pitchFamily="34" charset="-120"/>
              </a:rPr>
              <a:t>All source code, free to use</a:t>
            </a:r>
            <a:endParaRPr lang="en-US" sz="1200" dirty="0"/>
          </a:p>
        </p:txBody>
      </p:sp>
      <p:sp>
        <p:nvSpPr>
          <p:cNvPr id="33" name="card">
            <a:extLst>
              <a:ext uri="{C183D7F6-B498-43B3-948B-1728B52AA6E4}">
                <adec:decorative xmlns:adec="http://schemas.microsoft.com/office/drawing/2017/decorative" val="1"/>
              </a:ext>
            </a:extLst>
          </p:cNvPr>
          <p:cNvSpPr/>
          <p:nvPr/>
        </p:nvSpPr>
        <p:spPr>
          <a:xfrm>
            <a:off x="566928" y="4224528"/>
            <a:ext cx="8010144" cy="566928"/>
          </a:xfrm>
          <a:prstGeom prst="roundRect">
            <a:avLst>
              <a:gd name="adj" fmla="val 9677"/>
            </a:avLst>
          </a:prstGeom>
          <a:solidFill>
            <a:srgbClr val="15151A"/>
          </a:solidFill>
          <a:ln w="19050">
            <a:solidFill>
              <a:srgbClr val="F2860D"/>
            </a:solidFill>
            <a:prstDash val="solid"/>
          </a:ln>
          <a:effectLst>
            <a:glow rad="63500">
              <a:schemeClr val="accent2">
                <a:satMod val="175000"/>
                <a:alpha val="40000"/>
              </a:schemeClr>
            </a:glow>
          </a:effectLst>
        </p:spPr>
        <p:txBody>
          <a:bodyPr/>
          <a:lstStyle/>
          <a:p>
            <a:endParaRPr lang="en-SE"/>
          </a:p>
        </p:txBody>
      </p:sp>
      <p:sp>
        <p:nvSpPr>
          <p:cNvPr id="35" name="Text 33"/>
          <p:cNvSpPr/>
          <p:nvPr/>
        </p:nvSpPr>
        <p:spPr>
          <a:xfrm>
            <a:off x="2880360" y="4224528"/>
            <a:ext cx="5577840" cy="566928"/>
          </a:xfrm>
          <a:prstGeom prst="rect">
            <a:avLst/>
          </a:prstGeom>
          <a:noFill/>
          <a:ln/>
        </p:spPr>
        <p:txBody>
          <a:bodyPr wrap="square" lIns="0" tIns="0" rIns="0" bIns="0" rtlCol="0" anchor="ctr"/>
          <a:lstStyle/>
          <a:p>
            <a:pPr marL="0" indent="0" algn="l">
              <a:buNone/>
            </a:pPr>
            <a:r>
              <a:rPr lang="en-US" sz="1400" b="1" dirty="0">
                <a:solidFill>
                  <a:srgbClr val="C3CDD6"/>
                </a:solidFill>
                <a:latin typeface="Courier New" pitchFamily="34" charset="0"/>
                <a:ea typeface="Courier New" pitchFamily="34" charset="-122"/>
                <a:cs typeface="Courier New" pitchFamily="34" charset="-120"/>
              </a:rPr>
              <a:t>github.com/johan162/EduMatcher</a:t>
            </a:r>
            <a:endParaRPr lang="en-US" sz="1400" dirty="0"/>
          </a:p>
        </p:txBody>
      </p:sp>
      <p:sp>
        <p:nvSpPr>
          <p:cNvPr id="38" name="Text 35"/>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42</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Try It Yourself">
    <p:spTree>
      <p:nvGrpSpPr>
        <p:cNvPr id="1" name=""/>
        <p:cNvGrpSpPr/>
        <p:nvPr/>
      </p:nvGrpSpPr>
      <p:grpSpPr>
        <a:xfrm>
          <a:off x="0" y="0"/>
          <a:ext cx="0" cy="0"/>
          <a:chOff x="0" y="0"/>
          <a:chExt cx="0" cy="0"/>
        </a:xfrm>
      </p:grpSpPr>
      <p:sp>
        <p:nvSpPr>
          <p:cNvPr id="2" name="index dot">
            <a:extLst>
              <a:ext uri="{C183D7F6-B498-43B3-948B-1728B52AA6E4}">
                <adec:decorative xmlns:adec="http://schemas.microsoft.com/office/drawing/2017/decorative" val="1"/>
              </a:ext>
            </a:extLst>
          </p:cNvPr>
          <p:cNvSpPr/>
          <p:nvPr/>
        </p:nvSpPr>
        <p:spPr>
          <a:xfrm>
            <a:off x="566928" y="402336"/>
            <a:ext cx="128016" cy="128016"/>
          </a:xfrm>
          <a:prstGeom prst="rect">
            <a:avLst/>
          </a:prstGeom>
          <a:solidFill>
            <a:srgbClr val="F2860D"/>
          </a:solidFill>
          <a:ln/>
        </p:spPr>
        <p:txBody>
          <a:bodyPr/>
          <a:lstStyle/>
          <a:p>
            <a:endParaRPr lang="en-SE"/>
          </a:p>
        </p:txBody>
      </p:sp>
      <p:sp>
        <p:nvSpPr>
          <p:cNvPr id="3" name="Text 1"/>
          <p:cNvSpPr/>
          <p:nvPr/>
        </p:nvSpPr>
        <p:spPr>
          <a:xfrm>
            <a:off x="786384" y="329184"/>
            <a:ext cx="7315200" cy="274320"/>
          </a:xfrm>
          <a:prstGeom prst="rect">
            <a:avLst/>
          </a:prstGeom>
          <a:noFill/>
          <a:ln/>
        </p:spPr>
        <p:txBody>
          <a:bodyPr wrap="square" lIns="0" tIns="0" rIns="0" bIns="0" rtlCol="0" anchor="ctr"/>
          <a:lstStyle/>
          <a:p>
            <a:pPr marL="0" indent="0" algn="l">
              <a:buNone/>
            </a:pPr>
            <a:r>
              <a:rPr lang="en-US" sz="1150" b="1" kern="0" spc="200">
                <a:solidFill>
                  <a:srgbClr val="FF9E2C"/>
                </a:solidFill>
                <a:latin typeface="Courier New" pitchFamily="34" charset="0"/>
                <a:ea typeface="Courier New" pitchFamily="34" charset="-122"/>
                <a:cs typeface="Courier New" pitchFamily="34" charset="-120"/>
              </a:rPr>
              <a:t>19 · TRY IT YOURSELF</a:t>
            </a:r>
            <a:endParaRPr lang="en-US" sz="1150"/>
          </a:p>
        </p:txBody>
      </p:sp>
      <p:sp>
        <p:nvSpPr>
          <p:cNvPr id="4" name="Text 0"/>
          <p:cNvSpPr>
            <a:spLocks noGrp="1"/>
          </p:cNvSpPr>
          <p:nvPr>
            <p:ph type="title" idx="100" hasCustomPrompt="1"/>
          </p:nvPr>
        </p:nvSpPr>
        <p:spPr>
          <a:xfrm>
            <a:off x="548640" y="658368"/>
            <a:ext cx="8229600" cy="658368"/>
          </a:xfrm>
          <a:prstGeom prst="rect">
            <a:avLst/>
          </a:prstGeom>
          <a:noFill/>
          <a:ln/>
        </p:spPr>
        <p:txBody>
          <a:bodyPr wrap="square" lIns="0" tIns="0" rIns="0" bIns="0" rtlCol="0" anchor="ctr"/>
          <a:lstStyle/>
          <a:p>
            <a:pPr marL="0" indent="0" algn="l">
              <a:buNone/>
            </a:pPr>
            <a:r>
              <a:rPr lang="en-US" sz="2900" b="1">
                <a:solidFill>
                  <a:srgbClr val="ECECEC"/>
                </a:solidFill>
                <a:latin typeface="Arial" pitchFamily="34" charset="0"/>
                <a:ea typeface="Arial" pitchFamily="34" charset="-122"/>
                <a:cs typeface="Arial" pitchFamily="34" charset="-120"/>
              </a:rPr>
              <a:t>Try it yourself in a Linux VM</a:t>
            </a:r>
            <a:endParaRPr lang="en-US" sz="2900"/>
          </a:p>
        </p:txBody>
      </p:sp>
      <p:sp>
        <p:nvSpPr>
          <p:cNvPr id="5" name="Lead"/>
          <p:cNvSpPr/>
          <p:nvPr/>
        </p:nvSpPr>
        <p:spPr>
          <a:xfrm>
            <a:off x="566928" y="1394460"/>
            <a:ext cx="8010144" cy="411480"/>
          </a:xfrm>
          <a:prstGeom prst="rect">
            <a:avLst/>
          </a:prstGeom>
          <a:noFill/>
          <a:ln/>
        </p:spPr>
        <p:txBody>
          <a:bodyPr wrap="square" lIns="0" tIns="0" rIns="0" bIns="0" rtlCol="0" anchor="t"/>
          <a:lstStyle/>
          <a:p>
            <a:pPr marL="0" indent="0" algn="l">
              <a:lnSpc>
                <a:spcPct val="108000"/>
              </a:lnSpc>
              <a:buNone/>
            </a:pPr>
            <a:r>
              <a:rPr lang="en-US" sz="1150">
                <a:solidFill>
                  <a:srgbClr val="C3CDD6"/>
                </a:solidFill>
                <a:latin typeface="Calibri" pitchFamily="34" charset="0"/>
                <a:ea typeface="Calibri" pitchFamily="34" charset="-122"/>
                <a:cs typeface="Calibri" pitchFamily="34" charset="-120"/>
              </a:rPr>
              <a:t>We ship a prepared Multipass image of EduMatcher — spin up the whole pre-configured system in a fresh Linux VM and start exploring in minutes, with no manual install.</a:t>
            </a:r>
            <a:endParaRPr lang="en-US" sz="1150"/>
          </a:p>
        </p:txBody>
      </p:sp>
      <p:sp>
        <p:nvSpPr>
          <p:cNvPr id="6" name="cmd card">
            <a:extLst>
              <a:ext uri="{C183D7F6-B498-43B3-948B-1728B52AA6E4}">
                <adec:decorative xmlns:adec="http://schemas.microsoft.com/office/drawing/2017/decorative" val="1"/>
              </a:ext>
            </a:extLst>
          </p:cNvPr>
          <p:cNvSpPr/>
          <p:nvPr/>
        </p:nvSpPr>
        <p:spPr>
          <a:xfrm>
            <a:off x="566928" y="1938528"/>
            <a:ext cx="8010144" cy="1069848"/>
          </a:xfrm>
          <a:prstGeom prst="roundRect">
            <a:avLst>
              <a:gd name="adj" fmla="val 6000"/>
            </a:avLst>
          </a:prstGeom>
          <a:solidFill>
            <a:srgbClr val="15151A"/>
          </a:solidFill>
          <a:ln w="19050">
            <a:solidFill>
              <a:srgbClr val="F2860D"/>
            </a:solidFill>
            <a:prstDash val="solid"/>
          </a:ln>
          <a:effectLst>
            <a:glow rad="63500">
              <a:schemeClr val="accent2">
                <a:satMod val="175000"/>
                <a:alpha val="40000"/>
              </a:schemeClr>
            </a:glow>
            <a:outerShdw blurRad="114300" dist="38100" dir="5400000" algn="bl" rotWithShape="0">
              <a:srgbClr val="000000">
                <a:alpha val="35000"/>
              </a:srgbClr>
            </a:outerShdw>
          </a:effectLst>
        </p:spPr>
        <p:txBody>
          <a:bodyPr/>
          <a:lstStyle/>
          <a:p>
            <a:endParaRPr lang="en-SE"/>
          </a:p>
        </p:txBody>
      </p:sp>
      <p:sp>
        <p:nvSpPr>
          <p:cNvPr id="7" name="cmd label"/>
          <p:cNvSpPr/>
          <p:nvPr/>
        </p:nvSpPr>
        <p:spPr>
          <a:xfrm>
            <a:off x="804672" y="2075688"/>
            <a:ext cx="7534656" cy="228600"/>
          </a:xfrm>
          <a:prstGeom prst="rect">
            <a:avLst/>
          </a:prstGeom>
          <a:noFill/>
          <a:ln/>
        </p:spPr>
        <p:txBody>
          <a:bodyPr wrap="square" lIns="0" tIns="0" rIns="0" bIns="0" rtlCol="0" anchor="ctr"/>
          <a:lstStyle/>
          <a:p>
            <a:pPr marL="0" indent="0" algn="l">
              <a:buNone/>
            </a:pPr>
            <a:r>
              <a:rPr lang="en-US" sz="1000" b="1" kern="0" spc="150">
                <a:solidFill>
                  <a:srgbClr val="B4B4BE"/>
                </a:solidFill>
                <a:latin typeface="Courier New" pitchFamily="34" charset="0"/>
                <a:ea typeface="Courier New" pitchFamily="34" charset="-122"/>
                <a:cs typeface="Courier New" pitchFamily="34" charset="-120"/>
              </a:rPr>
              <a:t>GET STARTED — TWO COMMANDS</a:t>
            </a:r>
            <a:endParaRPr lang="en-US" sz="1000"/>
          </a:p>
        </p:txBody>
      </p:sp>
      <p:sp>
        <p:nvSpPr>
          <p:cNvPr id="8" name="cmd line 1"/>
          <p:cNvSpPr/>
          <p:nvPr/>
        </p:nvSpPr>
        <p:spPr>
          <a:xfrm>
            <a:off x="804672" y="2377440"/>
            <a:ext cx="7534656" cy="292608"/>
          </a:xfrm>
          <a:prstGeom prst="rect">
            <a:avLst/>
          </a:prstGeom>
          <a:noFill/>
          <a:ln/>
        </p:spPr>
        <p:txBody>
          <a:bodyPr wrap="square" lIns="0" tIns="0" rIns="0" bIns="0" rtlCol="0" anchor="ctr"/>
          <a:lstStyle/>
          <a:p>
            <a:pPr marL="0" indent="0" algn="l">
              <a:buNone/>
            </a:pPr>
            <a:r>
              <a:rPr lang="en-US" sz="1400" b="1">
                <a:solidFill>
                  <a:srgbClr val="F2860D"/>
                </a:solidFill>
                <a:latin typeface="Courier New" pitchFamily="34" charset="0"/>
                <a:ea typeface="Courier New" pitchFamily="34" charset="-122"/>
                <a:cs typeface="Courier New" pitchFamily="34" charset="-120"/>
              </a:rPr>
              <a:t>$ </a:t>
            </a:r>
            <a:r>
              <a:rPr lang="en-US" sz="1400">
                <a:solidFill>
                  <a:srgbClr val="ECECEC"/>
                </a:solidFill>
                <a:latin typeface="Courier New" pitchFamily="34" charset="0"/>
                <a:ea typeface="Courier New" pitchFamily="34" charset="-122"/>
                <a:cs typeface="Courier New" pitchFamily="34" charset="-120"/>
              </a:rPr>
              <a:t>multipass launch edumatcher --name edu</a:t>
            </a:r>
            <a:endParaRPr lang="en-US" sz="1400"/>
          </a:p>
        </p:txBody>
      </p:sp>
      <p:sp>
        <p:nvSpPr>
          <p:cNvPr id="9" name="cmd line 2"/>
          <p:cNvSpPr/>
          <p:nvPr/>
        </p:nvSpPr>
        <p:spPr>
          <a:xfrm>
            <a:off x="804672" y="2670048"/>
            <a:ext cx="7534656" cy="292608"/>
          </a:xfrm>
          <a:prstGeom prst="rect">
            <a:avLst/>
          </a:prstGeom>
          <a:noFill/>
          <a:ln/>
        </p:spPr>
        <p:txBody>
          <a:bodyPr wrap="square" lIns="0" tIns="0" rIns="0" bIns="0" rtlCol="0" anchor="ctr"/>
          <a:lstStyle/>
          <a:p>
            <a:pPr marL="0" indent="0" algn="l">
              <a:buNone/>
            </a:pPr>
            <a:r>
              <a:rPr lang="en-US" sz="1400" b="1">
                <a:solidFill>
                  <a:srgbClr val="F2860D"/>
                </a:solidFill>
                <a:latin typeface="Courier New" pitchFamily="34" charset="0"/>
                <a:ea typeface="Courier New" pitchFamily="34" charset="-122"/>
                <a:cs typeface="Courier New" pitchFamily="34" charset="-120"/>
              </a:rPr>
              <a:t>$ </a:t>
            </a:r>
            <a:r>
              <a:rPr lang="en-US" sz="1400">
                <a:solidFill>
                  <a:srgbClr val="ECECEC"/>
                </a:solidFill>
                <a:latin typeface="Courier New" pitchFamily="34" charset="0"/>
                <a:ea typeface="Courier New" pitchFamily="34" charset="-122"/>
                <a:cs typeface="Courier New" pitchFamily="34" charset="-120"/>
              </a:rPr>
              <a:t>multipass shell edu</a:t>
            </a:r>
            <a:endParaRPr lang="en-US" sz="1400"/>
          </a:p>
        </p:txBody>
      </p:sp>
      <p:sp>
        <p:nvSpPr>
          <p:cNvPr id="10" name="card 1">
            <a:extLst>
              <a:ext uri="{C183D7F6-B498-43B3-948B-1728B52AA6E4}">
                <adec:decorative xmlns:adec="http://schemas.microsoft.com/office/drawing/2017/decorative" val="1"/>
              </a:ext>
            </a:extLst>
          </p:cNvPr>
          <p:cNvSpPr/>
          <p:nvPr/>
        </p:nvSpPr>
        <p:spPr>
          <a:xfrm>
            <a:off x="566928" y="3200400"/>
            <a:ext cx="2532888" cy="1237488"/>
          </a:xfrm>
          <a:prstGeom prst="roundRect">
            <a:avLst>
              <a:gd name="adj" fmla="val 4545"/>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1" name="feat accent 1">
            <a:extLst>
              <a:ext uri="{C183D7F6-B498-43B3-948B-1728B52AA6E4}">
                <adec:decorative xmlns:adec="http://schemas.microsoft.com/office/drawing/2017/decorative" val="1"/>
              </a:ext>
            </a:extLst>
          </p:cNvPr>
          <p:cNvSpPr/>
          <p:nvPr/>
        </p:nvSpPr>
        <p:spPr>
          <a:xfrm>
            <a:off x="566928" y="3200400"/>
            <a:ext cx="2532888" cy="54864"/>
          </a:xfrm>
          <a:prstGeom prst="rect">
            <a:avLst/>
          </a:prstGeom>
          <a:solidFill>
            <a:srgbClr val="F2860D"/>
          </a:solidFill>
          <a:ln/>
        </p:spPr>
        <p:txBody>
          <a:bodyPr/>
          <a:lstStyle/>
          <a:p>
            <a:endParaRPr lang="en-SE"/>
          </a:p>
        </p:txBody>
      </p:sp>
      <p:sp>
        <p:nvSpPr>
          <p:cNvPr id="12" name="card 1 title"/>
          <p:cNvSpPr/>
          <p:nvPr/>
        </p:nvSpPr>
        <p:spPr>
          <a:xfrm>
            <a:off x="731520" y="3383280"/>
            <a:ext cx="2203704" cy="274320"/>
          </a:xfrm>
          <a:prstGeom prst="rect">
            <a:avLst/>
          </a:prstGeom>
          <a:noFill/>
          <a:ln/>
        </p:spPr>
        <p:txBody>
          <a:bodyPr wrap="square" lIns="0" tIns="0" rIns="0" bIns="0" rtlCol="0" anchor="ctr"/>
          <a:lstStyle/>
          <a:p>
            <a:pPr marL="0" indent="0" algn="l">
              <a:buNone/>
            </a:pPr>
            <a:r>
              <a:rPr lang="en-US" sz="1250" b="1">
                <a:solidFill>
                  <a:srgbClr val="FF9E2C"/>
                </a:solidFill>
                <a:latin typeface="Arial" pitchFamily="34" charset="0"/>
                <a:ea typeface="Arial" pitchFamily="34" charset="-122"/>
                <a:cs typeface="Arial" pitchFamily="34" charset="-120"/>
              </a:rPr>
              <a:t>Pre-configured</a:t>
            </a:r>
            <a:endParaRPr lang="en-US" sz="1250"/>
          </a:p>
        </p:txBody>
      </p:sp>
      <p:sp>
        <p:nvSpPr>
          <p:cNvPr id="13" name="card 1 body"/>
          <p:cNvSpPr/>
          <p:nvPr/>
        </p:nvSpPr>
        <p:spPr>
          <a:xfrm>
            <a:off x="731520" y="3703320"/>
            <a:ext cx="2203704" cy="640080"/>
          </a:xfrm>
          <a:prstGeom prst="rect">
            <a:avLst/>
          </a:prstGeom>
          <a:noFill/>
          <a:ln/>
        </p:spPr>
        <p:txBody>
          <a:bodyPr wrap="square" lIns="0" tIns="0" rIns="0" bIns="0" rtlCol="0" anchor="t"/>
          <a:lstStyle/>
          <a:p>
            <a:pPr marL="0" indent="0" algn="l">
              <a:lnSpc>
                <a:spcPct val="105000"/>
              </a:lnSpc>
              <a:buNone/>
            </a:pPr>
            <a:r>
              <a:rPr lang="en-US" sz="1000">
                <a:solidFill>
                  <a:srgbClr val="C3CDD6"/>
                </a:solidFill>
                <a:latin typeface="Calibri" pitchFamily="34" charset="0"/>
                <a:ea typeface="Calibri" pitchFamily="34" charset="-122"/>
                <a:cs typeface="Calibri" pitchFamily="34" charset="-120"/>
              </a:rPr>
              <a:t>The whole system already set up — services, config and sample data baked in via cloud-init.</a:t>
            </a:r>
            <a:endParaRPr lang="en-US" sz="1000"/>
          </a:p>
        </p:txBody>
      </p:sp>
      <p:sp>
        <p:nvSpPr>
          <p:cNvPr id="14" name="card 2">
            <a:extLst>
              <a:ext uri="{C183D7F6-B498-43B3-948B-1728B52AA6E4}">
                <adec:decorative xmlns:adec="http://schemas.microsoft.com/office/drawing/2017/decorative" val="1"/>
              </a:ext>
            </a:extLst>
          </p:cNvPr>
          <p:cNvSpPr/>
          <p:nvPr/>
        </p:nvSpPr>
        <p:spPr>
          <a:xfrm>
            <a:off x="3305556" y="3200400"/>
            <a:ext cx="2532888" cy="1237488"/>
          </a:xfrm>
          <a:prstGeom prst="roundRect">
            <a:avLst>
              <a:gd name="adj" fmla="val 4545"/>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5" name="feat accent 2">
            <a:extLst>
              <a:ext uri="{C183D7F6-B498-43B3-948B-1728B52AA6E4}">
                <adec:decorative xmlns:adec="http://schemas.microsoft.com/office/drawing/2017/decorative" val="1"/>
              </a:ext>
            </a:extLst>
          </p:cNvPr>
          <p:cNvSpPr/>
          <p:nvPr/>
        </p:nvSpPr>
        <p:spPr>
          <a:xfrm>
            <a:off x="3305556" y="3200400"/>
            <a:ext cx="2532888" cy="54864"/>
          </a:xfrm>
          <a:prstGeom prst="rect">
            <a:avLst/>
          </a:prstGeom>
          <a:solidFill>
            <a:srgbClr val="F2860D"/>
          </a:solidFill>
          <a:ln/>
        </p:spPr>
        <p:txBody>
          <a:bodyPr/>
          <a:lstStyle/>
          <a:p>
            <a:endParaRPr lang="en-SE"/>
          </a:p>
        </p:txBody>
      </p:sp>
      <p:sp>
        <p:nvSpPr>
          <p:cNvPr id="16" name="card 2 title"/>
          <p:cNvSpPr/>
          <p:nvPr/>
        </p:nvSpPr>
        <p:spPr>
          <a:xfrm>
            <a:off x="3470148" y="3383280"/>
            <a:ext cx="2203704" cy="274320"/>
          </a:xfrm>
          <a:prstGeom prst="rect">
            <a:avLst/>
          </a:prstGeom>
          <a:noFill/>
          <a:ln/>
        </p:spPr>
        <p:txBody>
          <a:bodyPr wrap="square" lIns="0" tIns="0" rIns="0" bIns="0" rtlCol="0" anchor="ctr"/>
          <a:lstStyle/>
          <a:p>
            <a:pPr marL="0" indent="0" algn="l">
              <a:buNone/>
            </a:pPr>
            <a:r>
              <a:rPr lang="en-US" sz="1250" b="1">
                <a:solidFill>
                  <a:srgbClr val="FF9E2C"/>
                </a:solidFill>
                <a:latin typeface="Arial" pitchFamily="34" charset="0"/>
                <a:ea typeface="Arial" pitchFamily="34" charset="-122"/>
                <a:cs typeface="Arial" pitchFamily="34" charset="-120"/>
              </a:rPr>
              <a:t>Any OS</a:t>
            </a:r>
            <a:endParaRPr lang="en-US" sz="1250"/>
          </a:p>
        </p:txBody>
      </p:sp>
      <p:sp>
        <p:nvSpPr>
          <p:cNvPr id="17" name="card 2 body"/>
          <p:cNvSpPr/>
          <p:nvPr/>
        </p:nvSpPr>
        <p:spPr>
          <a:xfrm>
            <a:off x="3470148" y="3703320"/>
            <a:ext cx="2203704" cy="640080"/>
          </a:xfrm>
          <a:prstGeom prst="rect">
            <a:avLst/>
          </a:prstGeom>
          <a:noFill/>
          <a:ln/>
        </p:spPr>
        <p:txBody>
          <a:bodyPr wrap="square" lIns="0" tIns="0" rIns="0" bIns="0" rtlCol="0" anchor="t"/>
          <a:lstStyle/>
          <a:p>
            <a:pPr marL="0" indent="0" algn="l">
              <a:lnSpc>
                <a:spcPct val="105000"/>
              </a:lnSpc>
              <a:buNone/>
            </a:pPr>
            <a:r>
              <a:rPr lang="en-US" sz="1000">
                <a:solidFill>
                  <a:srgbClr val="C3CDD6"/>
                </a:solidFill>
                <a:latin typeface="Calibri" pitchFamily="34" charset="0"/>
                <a:ea typeface="Calibri" pitchFamily="34" charset="-122"/>
                <a:cs typeface="Calibri" pitchFamily="34" charset="-120"/>
              </a:rPr>
              <a:t>Runs on Windows, macOS and Linux using each platform's native hypervisor (Hyper-V, QEMU).</a:t>
            </a:r>
            <a:endParaRPr lang="en-US" sz="1000"/>
          </a:p>
        </p:txBody>
      </p:sp>
      <p:sp>
        <p:nvSpPr>
          <p:cNvPr id="18" name="card 3">
            <a:extLst>
              <a:ext uri="{C183D7F6-B498-43B3-948B-1728B52AA6E4}">
                <adec:decorative xmlns:adec="http://schemas.microsoft.com/office/drawing/2017/decorative" val="1"/>
              </a:ext>
            </a:extLst>
          </p:cNvPr>
          <p:cNvSpPr/>
          <p:nvPr/>
        </p:nvSpPr>
        <p:spPr>
          <a:xfrm>
            <a:off x="6044184" y="3200400"/>
            <a:ext cx="2532888" cy="1237488"/>
          </a:xfrm>
          <a:prstGeom prst="roundRect">
            <a:avLst>
              <a:gd name="adj" fmla="val 4545"/>
            </a:avLst>
          </a:prstGeom>
          <a:solidFill>
            <a:srgbClr val="26262D"/>
          </a:solidFill>
          <a:ln w="12700">
            <a:solidFill>
              <a:srgbClr val="3B3B46"/>
            </a:solidFill>
            <a:prstDash val="solid"/>
          </a:ln>
          <a:effectLst>
            <a:outerShdw blurRad="114300" dist="38100" dir="5400000" algn="bl" rotWithShape="0">
              <a:srgbClr val="000000">
                <a:alpha val="35000"/>
              </a:srgbClr>
            </a:outerShdw>
          </a:effectLst>
        </p:spPr>
        <p:txBody>
          <a:bodyPr/>
          <a:lstStyle/>
          <a:p>
            <a:endParaRPr lang="en-SE"/>
          </a:p>
        </p:txBody>
      </p:sp>
      <p:sp>
        <p:nvSpPr>
          <p:cNvPr id="19" name="feat accent 3">
            <a:extLst>
              <a:ext uri="{C183D7F6-B498-43B3-948B-1728B52AA6E4}">
                <adec:decorative xmlns:adec="http://schemas.microsoft.com/office/drawing/2017/decorative" val="1"/>
              </a:ext>
            </a:extLst>
          </p:cNvPr>
          <p:cNvSpPr/>
          <p:nvPr/>
        </p:nvSpPr>
        <p:spPr>
          <a:xfrm>
            <a:off x="6044184" y="3200400"/>
            <a:ext cx="2532888" cy="54864"/>
          </a:xfrm>
          <a:prstGeom prst="rect">
            <a:avLst/>
          </a:prstGeom>
          <a:solidFill>
            <a:srgbClr val="F2860D"/>
          </a:solidFill>
          <a:ln/>
        </p:spPr>
        <p:txBody>
          <a:bodyPr/>
          <a:lstStyle/>
          <a:p>
            <a:endParaRPr lang="en-SE"/>
          </a:p>
        </p:txBody>
      </p:sp>
      <p:sp>
        <p:nvSpPr>
          <p:cNvPr id="20" name="card 3 title"/>
          <p:cNvSpPr/>
          <p:nvPr/>
        </p:nvSpPr>
        <p:spPr>
          <a:xfrm>
            <a:off x="6208776" y="3383280"/>
            <a:ext cx="2203704" cy="274320"/>
          </a:xfrm>
          <a:prstGeom prst="rect">
            <a:avLst/>
          </a:prstGeom>
          <a:noFill/>
          <a:ln/>
        </p:spPr>
        <p:txBody>
          <a:bodyPr wrap="square" lIns="0" tIns="0" rIns="0" bIns="0" rtlCol="0" anchor="ctr"/>
          <a:lstStyle/>
          <a:p>
            <a:pPr marL="0" indent="0" algn="l">
              <a:buNone/>
            </a:pPr>
            <a:r>
              <a:rPr lang="en-US" sz="1250" b="1">
                <a:solidFill>
                  <a:srgbClr val="FF9E2C"/>
                </a:solidFill>
                <a:latin typeface="Arial" pitchFamily="34" charset="0"/>
                <a:ea typeface="Arial" pitchFamily="34" charset="-122"/>
                <a:cs typeface="Arial" pitchFamily="34" charset="-120"/>
              </a:rPr>
              <a:t>Requires Multipass</a:t>
            </a:r>
            <a:endParaRPr lang="en-US" sz="1250"/>
          </a:p>
        </p:txBody>
      </p:sp>
      <p:sp>
        <p:nvSpPr>
          <p:cNvPr id="21" name="card 3 body"/>
          <p:cNvSpPr/>
          <p:nvPr/>
        </p:nvSpPr>
        <p:spPr>
          <a:xfrm>
            <a:off x="6208776" y="3703320"/>
            <a:ext cx="2203704" cy="640080"/>
          </a:xfrm>
          <a:prstGeom prst="rect">
            <a:avLst/>
          </a:prstGeom>
          <a:noFill/>
          <a:ln/>
        </p:spPr>
        <p:txBody>
          <a:bodyPr wrap="square" lIns="0" tIns="0" rIns="0" bIns="0" rtlCol="0" anchor="t"/>
          <a:lstStyle/>
          <a:p>
            <a:pPr marL="0" indent="0" algn="l">
              <a:lnSpc>
                <a:spcPct val="105000"/>
              </a:lnSpc>
              <a:buNone/>
            </a:pPr>
            <a:r>
              <a:rPr lang="en-US" sz="1000">
                <a:solidFill>
                  <a:srgbClr val="C3CDD6"/>
                </a:solidFill>
                <a:latin typeface="Calibri" pitchFamily="34" charset="0"/>
                <a:ea typeface="Calibri" pitchFamily="34" charset="-122"/>
                <a:cs typeface="Calibri" pitchFamily="34" charset="-120"/>
              </a:rPr>
              <a:t>Install Canonical Multipass first (e.g. snap install multipass), then launch — nothing else to set up.</a:t>
            </a:r>
            <a:endParaRPr lang="en-US" sz="1000"/>
          </a:p>
        </p:txBody>
      </p:sp>
      <p:sp>
        <p:nvSpPr>
          <p:cNvPr id="31" name="Footer left"/>
          <p:cNvSpPr/>
          <p:nvPr/>
        </p:nvSpPr>
        <p:spPr>
          <a:xfrm>
            <a:off x="566928" y="4791456"/>
            <a:ext cx="5486400" cy="256032"/>
          </a:xfrm>
          <a:prstGeom prst="rect">
            <a:avLst/>
          </a:prstGeom>
          <a:noFill/>
          <a:ln/>
        </p:spPr>
        <p:txBody>
          <a:bodyPr wrap="square" lIns="0" tIns="0" rIns="0" bIns="0" rtlCol="0" anchor="ctr"/>
          <a:lstStyle/>
          <a:p>
            <a:pPr marL="0" indent="0" algn="l">
              <a:buNone/>
            </a:pPr>
            <a:r>
              <a:rPr lang="en-US" sz="900">
                <a:solidFill>
                  <a:srgbClr val="B4B4BE"/>
                </a:solidFill>
                <a:latin typeface="Calibri" pitchFamily="34" charset="0"/>
                <a:ea typeface="Calibri" pitchFamily="34" charset="-122"/>
                <a:cs typeface="Calibri" pitchFamily="34" charset="-120"/>
              </a:rPr>
              <a:t>EduMatcher  ·  System Overview</a:t>
            </a:r>
            <a:endParaRPr lang="en-US" sz="900"/>
          </a:p>
        </p:txBody>
      </p:sp>
      <p:sp>
        <p:nvSpPr>
          <p:cNvPr id="32" name="Footer page"/>
          <p:cNvSpPr/>
          <p:nvPr/>
        </p:nvSpPr>
        <p:spPr>
          <a:xfrm>
            <a:off x="8229600" y="4791456"/>
            <a:ext cx="365760" cy="256032"/>
          </a:xfrm>
          <a:prstGeom prst="rect">
            <a:avLst/>
          </a:prstGeom>
          <a:noFill/>
          <a:ln/>
        </p:spPr>
        <p:txBody>
          <a:bodyPr wrap="square" lIns="0" tIns="0" rIns="0" bIns="0" rtlCol="0" anchor="ctr"/>
          <a:lstStyle/>
          <a:p>
            <a:pPr marL="0" indent="0" algn="r">
              <a:buNone/>
            </a:pPr>
            <a:r>
              <a:rPr lang="en-US" sz="950">
                <a:solidFill>
                  <a:srgbClr val="F2860D"/>
                </a:solidFill>
                <a:latin typeface="Courier New" pitchFamily="34" charset="0"/>
                <a:ea typeface="Courier New" pitchFamily="34" charset="-122"/>
                <a:cs typeface="Courier New" pitchFamily="34" charset="-120"/>
              </a:rPr>
              <a:t>43</a:t>
            </a:r>
            <a:endParaRPr lang="en-US" sz="95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2">
    <p:bg>
      <p:bgPr>
        <a:solidFill>
          <a:srgbClr val="1B1B20"/>
        </a:solidFill>
        <a:effectLst/>
      </p:bgPr>
    </p:bg>
    <p:spTree>
      <p:nvGrpSpPr>
        <p:cNvPr id="1" name=""/>
        <p:cNvGrpSpPr/>
        <p:nvPr/>
      </p:nvGrpSpPr>
      <p:grpSpPr>
        <a:xfrm>
          <a:off x="0" y="0"/>
          <a:ext cx="0" cy="0"/>
          <a:chOff x="0" y="0"/>
          <a:chExt cx="0" cy="0"/>
        </a:xfrm>
      </p:grpSpPr>
      <p:pic>
        <p:nvPicPr>
          <p:cNvPr id="2" name="Image 0" descr="Amber blueprint schematic of interconnected engine processes"/>
          <p:cNvPicPr>
            <a:picLocks noChangeAspect="1"/>
          </p:cNvPicPr>
          <p:nvPr/>
        </p:nvPicPr>
        <p:blipFill>
          <a:blip r:embed="rId3"/>
          <a:srcRect l="26943" r="26943"/>
          <a:stretch/>
        </p:blipFill>
        <p:spPr>
          <a:xfrm>
            <a:off x="4892040" y="0"/>
            <a:ext cx="4251960" cy="5143500"/>
          </a:xfrm>
          <a:prstGeom prst="rect">
            <a:avLst/>
          </a:prstGeom>
        </p:spPr>
      </p:pic>
      <p:sp>
        <p:nvSpPr>
          <p:cNvPr id="3" name="scrim fade">
            <a:extLst>
              <a:ext uri="{C183D7F6-B498-43B3-948B-1728B52AA6E4}">
                <adec:decorative xmlns:adec="http://schemas.microsoft.com/office/drawing/2017/decorative" val="1"/>
              </a:ext>
            </a:extLst>
          </p:cNvPr>
          <p:cNvSpPr/>
          <p:nvPr/>
        </p:nvSpPr>
        <p:spPr>
          <a:xfrm>
            <a:off x="4572000" y="0"/>
            <a:ext cx="1280160" cy="5143500"/>
          </a:xfrm>
          <a:prstGeom prst="rect">
            <a:avLst/>
          </a:prstGeom>
          <a:solidFill>
            <a:srgbClr val="1B1B20">
              <a:alpha val="55000"/>
            </a:srgbClr>
          </a:solidFill>
          <a:ln/>
        </p:spPr>
        <p:txBody>
          <a:bodyPr/>
          <a:lstStyle/>
          <a:p>
            <a:endParaRPr lang="en-SE"/>
          </a:p>
        </p:txBody>
      </p:sp>
      <p:sp>
        <p:nvSpPr>
          <p:cNvPr id="4" name="Text 1"/>
          <p:cNvSpPr/>
          <p:nvPr/>
        </p:nvSpPr>
        <p:spPr>
          <a:xfrm>
            <a:off x="640080" y="1234440"/>
            <a:ext cx="4572000" cy="320040"/>
          </a:xfrm>
          <a:prstGeom prst="rect">
            <a:avLst/>
          </a:prstGeom>
          <a:noFill/>
          <a:ln/>
        </p:spPr>
        <p:txBody>
          <a:bodyPr wrap="square" lIns="0" tIns="0" rIns="0" bIns="0" rtlCol="0" anchor="ctr"/>
          <a:lstStyle/>
          <a:p>
            <a:pPr marL="0" indent="0">
              <a:buNone/>
            </a:pPr>
            <a:r>
              <a:rPr lang="en-US" sz="1250" b="1" kern="0" spc="400" dirty="0">
                <a:solidFill>
                  <a:srgbClr val="FF9E2C"/>
                </a:solidFill>
                <a:latin typeface="Courier New" pitchFamily="34" charset="0"/>
                <a:ea typeface="Courier New" pitchFamily="34" charset="-122"/>
                <a:cs typeface="Courier New" pitchFamily="34" charset="-120"/>
              </a:rPr>
              <a:t>THE TAKEAWAY</a:t>
            </a:r>
            <a:endParaRPr lang="en-US" sz="1250" dirty="0"/>
          </a:p>
        </p:txBody>
      </p:sp>
      <p:sp>
        <p:nvSpPr>
          <p:cNvPr id="5" name="Text 0"/>
          <p:cNvSpPr>
            <a:spLocks noGrp="1"/>
          </p:cNvSpPr>
          <p:nvPr>
            <p:ph type="title" idx="100" hasCustomPrompt="1"/>
          </p:nvPr>
        </p:nvSpPr>
        <p:spPr>
          <a:xfrm>
            <a:off x="640080" y="2331720"/>
            <a:ext cx="6949440" cy="914400"/>
          </a:xfrm>
          <a:prstGeom prst="rect">
            <a:avLst/>
          </a:prstGeom>
          <a:noFill/>
          <a:ln/>
        </p:spPr>
        <p:txBody>
          <a:bodyPr wrap="square" lIns="0" tIns="0" rIns="0" bIns="0" rtlCol="0" anchor="ctr"/>
          <a:lstStyle/>
          <a:p>
            <a:pPr marL="0" indent="0" algn="l">
              <a:buNone/>
            </a:pPr>
            <a:r>
              <a:rPr lang="en-US" sz="3000" b="1" dirty="0">
                <a:solidFill>
                  <a:srgbClr val="ECECEC"/>
                </a:solidFill>
                <a:latin typeface="Arial" pitchFamily="34" charset="0"/>
                <a:ea typeface="Arial" pitchFamily="34" charset="-122"/>
                <a:cs typeface="Arial" pitchFamily="34" charset="-120"/>
              </a:rPr>
              <a:t>Read it. Run it. Extend it.</a:t>
            </a:r>
            <a:endParaRPr lang="en-US" sz="3000" dirty="0"/>
          </a:p>
        </p:txBody>
      </p:sp>
      <p:sp>
        <p:nvSpPr>
          <p:cNvPr id="6" name="Text 3"/>
          <p:cNvSpPr/>
          <p:nvPr/>
        </p:nvSpPr>
        <p:spPr>
          <a:xfrm>
            <a:off x="640080" y="3063240"/>
            <a:ext cx="4114800" cy="1371600"/>
          </a:xfrm>
          <a:prstGeom prst="rect">
            <a:avLst/>
          </a:prstGeom>
          <a:noFill/>
          <a:ln/>
        </p:spPr>
        <p:txBody>
          <a:bodyPr wrap="square" lIns="0" tIns="0" rIns="0" bIns="0" rtlCol="0" anchor="t"/>
          <a:lstStyle/>
          <a:p>
            <a:pPr marL="0" indent="0" algn="l">
              <a:spcAft>
                <a:spcPts val="600"/>
              </a:spcAft>
              <a:buNone/>
            </a:pPr>
            <a:r>
              <a:rPr lang="en-US" sz="1200" b="1" dirty="0">
                <a:solidFill>
                  <a:srgbClr val="ECECEC"/>
                </a:solidFill>
                <a:latin typeface="Calibri" pitchFamily="34" charset="0"/>
                <a:ea typeface="Calibri" pitchFamily="34" charset="-122"/>
                <a:cs typeface="Calibri" pitchFamily="34" charset="-120"/>
              </a:rPr>
              <a:t>Config-driven — one YAML defines the whole market</a:t>
            </a:r>
            <a:endParaRPr lang="en-US" sz="1200" dirty="0"/>
          </a:p>
          <a:p>
            <a:pPr marL="0" indent="0" algn="l">
              <a:spcAft>
                <a:spcPts val="600"/>
              </a:spcAft>
              <a:buNone/>
            </a:pPr>
            <a:r>
              <a:rPr lang="en-US" sz="1200" b="1" dirty="0">
                <a:solidFill>
                  <a:srgbClr val="ECECEC"/>
                </a:solidFill>
                <a:latin typeface="Calibri" pitchFamily="34" charset="0"/>
                <a:ea typeface="Calibri" pitchFamily="34" charset="-122"/>
                <a:cs typeface="Calibri" pitchFamily="34" charset="-120"/>
              </a:rPr>
              <a:t>Protocol-rich — ALF, BALF, CALF, RALF + REST/WS</a:t>
            </a:r>
            <a:endParaRPr lang="en-US" sz="1200" dirty="0"/>
          </a:p>
          <a:p>
            <a:pPr marL="0" indent="0" algn="l">
              <a:spcAft>
                <a:spcPts val="600"/>
              </a:spcAft>
              <a:buNone/>
            </a:pPr>
            <a:r>
              <a:rPr lang="en-US" sz="1200" b="1" dirty="0">
                <a:solidFill>
                  <a:srgbClr val="ECECEC"/>
                </a:solidFill>
                <a:latin typeface="Calibri" pitchFamily="34" charset="0"/>
                <a:ea typeface="Calibri" pitchFamily="34" charset="-122"/>
                <a:cs typeface="Calibri" pitchFamily="34" charset="-120"/>
              </a:rPr>
              <a:t>Fully observable — every change is a bus event</a:t>
            </a:r>
            <a:endParaRPr lang="en-US" sz="1200" dirty="0"/>
          </a:p>
          <a:p>
            <a:pPr marL="0" indent="0" algn="l">
              <a:buNone/>
            </a:pPr>
            <a:r>
              <a:rPr lang="en-US" sz="1200" b="1" dirty="0">
                <a:solidFill>
                  <a:srgbClr val="ECECEC"/>
                </a:solidFill>
                <a:latin typeface="Calibri" pitchFamily="34" charset="0"/>
                <a:ea typeface="Calibri" pitchFamily="34" charset="-122"/>
                <a:cs typeface="Calibri" pitchFamily="34" charset="-120"/>
              </a:rPr>
              <a:t>Honest about its limits — documented scope</a:t>
            </a:r>
            <a:endParaRPr lang="en-US" sz="1200" dirty="0"/>
          </a:p>
        </p:txBody>
      </p:sp>
      <p:sp>
        <p:nvSpPr>
          <p:cNvPr id="7" name="Text 4"/>
          <p:cNvSpPr/>
          <p:nvPr/>
        </p:nvSpPr>
        <p:spPr>
          <a:xfrm>
            <a:off x="640080" y="4526280"/>
            <a:ext cx="4114800" cy="365760"/>
          </a:xfrm>
          <a:prstGeom prst="rect">
            <a:avLst/>
          </a:prstGeom>
          <a:noFill/>
          <a:ln/>
        </p:spPr>
        <p:txBody>
          <a:bodyPr wrap="square" lIns="0" tIns="0" rIns="0" bIns="0" rtlCol="0" anchor="ctr"/>
          <a:lstStyle/>
          <a:p>
            <a:pPr marL="0" indent="0">
              <a:buNone/>
            </a:pPr>
            <a:r>
              <a:rPr lang="en-US" sz="1150" i="1" dirty="0">
                <a:solidFill>
                  <a:srgbClr val="C3CDD6"/>
                </a:solidFill>
                <a:latin typeface="Calibri" pitchFamily="34" charset="0"/>
                <a:ea typeface="Calibri" pitchFamily="34" charset="-122"/>
                <a:cs typeface="Calibri" pitchFamily="34" charset="-120"/>
              </a:rPr>
              <a:t>A real matching engine, small enough to read end to end.</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e63fdbc-9223-49ac-a12c-b8ae101f8b2d}" enabled="1" method="Standard" siteId="{d0b75e95-684a-45e3-8d2d-53fa2a6a513f}" contentBits="2" removed="0"/>
</clbl:labelList>
</file>

<file path=docProps/app.xml><?xml version="1.0" encoding="utf-8"?>
<Properties xmlns="http://schemas.openxmlformats.org/officeDocument/2006/extended-properties" xmlns:vt="http://schemas.openxmlformats.org/officeDocument/2006/docPropsVTypes">
  <TotalTime>471</TotalTime>
  <Words>10016</Words>
  <Application>Microsoft Macintosh PowerPoint</Application>
  <PresentationFormat>On-screen Show (16:9)</PresentationFormat>
  <Paragraphs>993</Paragraphs>
  <Slides>44</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Courier New</vt:lpstr>
      <vt:lpstr>Office Theme</vt:lpstr>
      <vt:lpstr>EduMatcher</vt:lpstr>
      <vt:lpstr>What is EduMatcher?</vt:lpstr>
      <vt:lpstr>How an order flows through the system</vt:lpstr>
      <vt:lpstr>The ZeroMQ message bus </vt:lpstr>
      <vt:lpstr>The message bus - the external view</vt:lpstr>
      <vt:lpstr>The pm- process family</vt:lpstr>
      <vt:lpstr>The market maker - continuous two-sided liquidity</vt:lpstr>
      <vt:lpstr>Order types the engine supports</vt:lpstr>
      <vt:lpstr>The trading session lifecycle</vt:lpstr>
      <vt:lpstr>Five layers of market protection</vt:lpstr>
      <vt:lpstr>One system, the whole exchange</vt:lpstr>
      <vt:lpstr>Under the hood</vt:lpstr>
      <vt:lpstr>The engine reads a compiled artifact</vt:lpstr>
      <vt:lpstr>From authored file to deployed artifact</vt:lpstr>
      <vt:lpstr>pm-cverifier - four layers, one pass</vt:lpstr>
      <vt:lpstr>pm-config-deploy - compile and install</vt:lpstr>
      <vt:lpstr>Who reads the artifact - and when</vt:lpstr>
      <vt:lpstr>Four protocols, four jobs</vt:lpstr>
      <vt:lpstr>ALF - the order-entry language</vt:lpstr>
      <vt:lpstr>BALF - binary order entry</vt:lpstr>
      <vt:lpstr>CALF - the market-data feed</vt:lpstr>
      <vt:lpstr>CALF - the seven market-data channels</vt:lpstr>
      <vt:lpstr>RALF - the post-trade feed</vt:lpstr>
      <vt:lpstr>REST API - the web gateway</vt:lpstr>
      <vt:lpstr>Building modern, interactive web apps</vt:lpstr>
      <vt:lpstr>Every message on the bus</vt:lpstr>
      <vt:lpstr>The socket &amp; port map at a glance</vt:lpstr>
      <vt:lpstr>Reading the wire with the spy tools</vt:lpstr>
      <vt:lpstr>The compliance &amp; audit plane</vt:lpstr>
      <vt:lpstr>Scheduling the trading day</vt:lpstr>
      <vt:lpstr>How an auction uncrosses</vt:lpstr>
      <vt:lpstr>What survives a restart</vt:lpstr>
      <vt:lpstr>Statistics, reporting &amp; the index</vt:lpstr>
      <vt:lpstr>How the market index is built</vt:lpstr>
      <vt:lpstr>Watching the market in real time</vt:lpstr>
      <vt:lpstr>Multi-leg combo orders</vt:lpstr>
      <vt:lpstr>Positions, VWAP &amp; P&amp;L</vt:lpstr>
      <vt:lpstr>Operating the exchange</vt:lpstr>
      <vt:lpstr>Filling the book without humans</vt:lpstr>
      <vt:lpstr>Limitations that matter most</vt:lpstr>
      <vt:lpstr>Minor limits &amp; teaching scope</vt:lpstr>
      <vt:lpstr>Exceptionally well-supported</vt:lpstr>
      <vt:lpstr>Try it yourself in a Linux VM</vt:lpstr>
      <vt:lpstr>Read it. Run it. Extend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Johan Persson</dc:creator>
  <cp:lastModifiedBy>Johan Persson</cp:lastModifiedBy>
  <cp:revision>21</cp:revision>
  <dcterms:created xsi:type="dcterms:W3CDTF">2026-07-22T07:37:55Z</dcterms:created>
  <dcterms:modified xsi:type="dcterms:W3CDTF">2026-08-07T06:08:57Z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Nasdaq - Internal Use: Distribution limited to Nasdaq personnel and authorized third parties subject to confidentiality obligations</vt:lpwstr>
  </property>
</Properties>
</file>