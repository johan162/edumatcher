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7" r:id="rId3"/>
    <p:sldId id="301" r:id="rId4"/>
    <p:sldId id="302" r:id="rId5"/>
    <p:sldId id="306" r:id="rId6"/>
    <p:sldId id="307" r:id="rId7"/>
    <p:sldId id="303" r:id="rId8"/>
    <p:sldId id="304" r:id="rId9"/>
    <p:sldId id="305"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85B8F0-1EB1-5040-AE33-68BEA5969BA7}" v="6" dt="2026-08-07T05:43:53.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932"/>
  </p:normalViewPr>
  <p:slideViewPr>
    <p:cSldViewPr snapToGrid="0">
      <p:cViewPr varScale="1">
        <p:scale>
          <a:sx n="107" d="100"/>
          <a:sy n="107" d="100"/>
        </p:scale>
        <p:origin x="1280" y="168"/>
      </p:cViewPr>
      <p:guideLst/>
    </p:cSldViewPr>
  </p:slideViewPr>
  <p:notesTextViewPr>
    <p:cViewPr>
      <p:scale>
        <a:sx n="114" d="100"/>
        <a:sy n="114"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Welcome. This deck teaches one thing well: how to buy a spread with futures, using a single running example — the WTI Crude March–June spread — from the first order to the final cash. The hook on the slide is deliberately provocative: a negative price you pay nothing for. By the end that sentence will feel obvious rather than impossible.</a:t>
            </a:r>
          </a:p>
          <a:p>
            <a:r>
              <a:rPr lang="en-US" dirty="0"/>
              <a:t>DEFINITIONS. Combo order: a single order that trades two or more futures contracts (“legs”) together as one unit. Futures: a binding agreement to buy or sell something at a fixed price on a future date. Spread: the price difference between two related contracts, traded as its own instrument. Two-legged combo: a combo with exactly two legs. Atomic execution: both legs fill together or neither does. Crude Mar–Jun: the March and June WTI crude oil contracts, traded as one spread.</a:t>
            </a:r>
          </a:p>
          <a:p>
            <a:r>
              <a:rPr lang="en-US" dirty="0"/>
              <a:t>VERBAL EXPLANATION. Say to the audience: ‘Today we’re not betting on whether oil goes up or down. We’re going to buy a relationship between two months, we’ll pay nothing up front, and yet we’ll walk away with 700 dollars. Everything that sounds paradoxical about that will be dismantled one slide at a time.’ It runs about 45 minutes and assumes no finance background — just comfort with basic arithmetic.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Set expectations for how the deck is built. There is exactly one worked example, and we reuse it end to end so nothing ever appears from nowhere. Every step is shown in real dollars, not abstractions, and each slide uses a purpose-built diagram rather than a wall of bullets.</a:t>
            </a:r>
          </a:p>
          <a:p>
            <a:r>
              <a:rPr lang="en-US" dirty="0"/>
              <a:t>DEFINITIONS. WTI Crude: West Texas Intermediate, the benchmark grade of US crude oil that these futures are priced on. Leg: one of the individual contracts inside a combo. Fill: when an order is matched and becomes an actual position. Atomic (here): both legs are guaranteed to fill together.</a:t>
            </a:r>
          </a:p>
          <a:p>
            <a:r>
              <a:rPr lang="en-US" dirty="0"/>
              <a:t>VERBAL EXPLANATION. Tell them the one assumption that makes everything work: ‘Assume the platform guarantees both legs fill together. That single promise is what turns a risky pair of orders into one safe instrument — and the first section shows exactly why we need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IDEA. Start with the motivation, not the mechanics. Sometimes your view isn't that the market goes up or down — it's about the GAP between two related prices. A combined buy-and-sell lets you bet purely on that relationship while the shared market move cancels out, so you stay neutral on direction.</a:t>
            </a:r>
          </a:p>
          <a:p>
            <a:r>
              <a:rPr lang="en-US"/>
              <a:t>DEFINITIONS. Leg: one of the two contracts in the combo. Spread / gap: the difference between the two prices you care about. Market-neutral: a position whose value doesn't depend on the overall market rising or falling, only on how the two legs move relative to each other.</a:t>
            </a:r>
          </a:p>
          <a:p>
            <a:r>
              <a:rPr lang="en-US"/>
              <a:t>VERBAL EXPLANATION. Say it plainly: ‘Predicting the whole market is hard and I may have no view on it. But I might still believe two related prices are too far apart or too close. Buying one and selling the other lets me trade exactly that opinion — the common move nets out, and only the gap is left.’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idea isn't unique to futures — equity investors pair-trade all the time (long one stock, short another). The difference is friction: in futures, selling is exactly as easy as buying, so combos feel natural. In equities the sell side is clunky because you must borrow the share to short it.</a:t>
            </a:r>
          </a:p>
          <a:p>
            <a:r>
              <a:rPr lang="en-US" dirty="0"/>
              <a:t>DEFINITIONS. Pairs trade: going long one instrument and short a related one to bet on their relative move. Short: a position that profits when the price falls. Borrow / locate: to short a share you first find a lender, pay a fee, and may be forced to return it early (a recall).</a:t>
            </a:r>
          </a:p>
          <a:p>
            <a:r>
              <a:rPr lang="en-US" dirty="0"/>
              <a:t>VERBAL EXPLANATION. Answer the equities question head-on: ‘Yes, this happens with ordinary shares too. But shorting a share means borrowing it first — fees, lenders, recalls. A futures contract is symmetric: opening a short is as simple as opening a long. That symmetry is why combined orders are really a futures 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IDEA. Beginners stumble on the word ‘symmetric’ because they picture a future as a thing you own, like a barrel or a share. It isn't. A futures contract is a PROMISE made today to trade a fixed amount at a fixed price on a set future date. No oil and no money move now — you're only locking in the terms of a trade that settles later.</a:t>
            </a:r>
          </a:p>
          <a:p>
            <a:r>
              <a:rPr lang="en-US"/>
              <a:t>DEFINITIONS. Futures contract: a standardized, exchange-traded agreement to buy or sell a set quantity at an agreed price on a future date. Standardized: amount, grade, and delivery date are fixed by the exchange, so contracts are interchangeable. Long / short: the two obligations inside every contract — one side delivers, the other receives. Settlement: what happens at the date — physical delivery or cash.</a:t>
            </a:r>
          </a:p>
          <a:p>
            <a:r>
              <a:rPr lang="en-US"/>
              <a:t>VERBAL EXPLANATION. Slow it right down: ‘Forget barrels for a second. A future is just a written promise: on this date, at this price, for this amount, we will trade. Nobody owns anything yet, nobody has paid anything yet. Because it's only a promise, you can just as easily promise to deliver as promise to receive — and that's the symmetry we're about to unpack.’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IDEA. Now cash in the definition. Since a future is only an agreement, ‘buying’ and ‘selling’ aren't opposites in difficulty — they're mirror images. Going long is a promise to receive and pay; going short is a promise to deliver and be paid. Neither side owns anything up front, so opening a short is exactly as easy as opening a long.</a:t>
            </a:r>
          </a:p>
          <a:p>
            <a:r>
              <a:rPr lang="en-US"/>
              <a:t>DEFINITIONS. Going long (buying): agreeing to take delivery and pay the fixed price; you profit if the market rises above it. Going short (selling): agreeing to deliver and collect the fixed price; you profit if the market falls below it. Mirror positions: the two sides are equal and opposite — every long is matched by a short.</a:t>
            </a:r>
          </a:p>
          <a:p>
            <a:r>
              <a:rPr lang="en-US"/>
              <a:t>VERBAL EXPLANATION. Point at the two panels: ‘Left, I promise to receive and pay — I win if prices rise. Right, I promise to deliver and get paid — I win if prices fall. Same kind of promise, opposite direction. With a share, owning is the natural state and shorting is the awkward exception you must borrow for. With a future, neither side is privileged — which is exactly why selling needs no oil and no lender.’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IDEA. The most common beginner worry: ‘If I SELL a June future, don't I need to own one first?’ No. Selling a future OPENS A SHORT — an obligation to deliver later, not something you owned beforehand. The agreement creates both sides' positions at the moment of the trade; neither party held a contract in advance.</a:t>
            </a:r>
          </a:p>
          <a:p>
            <a:r>
              <a:rPr lang="en-US"/>
              <a:t>DEFINITIONS. Short position (−1): an obligation created by selling a contract you didn't previously hold. Long position (+1): the buyer's side. Open / close: you open by selling, and later close by buying the same contract back. Counterparty: whoever takes the opposite side of your trade.</a:t>
            </a:r>
          </a:p>
          <a:p>
            <a:r>
              <a:rPr lang="en-US"/>
              <a:t>VERBAL EXPLANATION. Walk the diagram: ‘I sell one June, so I'm now short minus-one. Someone else buys it and is long plus-one. Neither of us owned a June future beforehand — the trade itself created both positions out of thin air. That's the surprise, and it's the whole reason selling first is allowed.’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IDEA. Natural follow-up: ‘If I sold and never bought any oil, won't I be forced to hand over barrels at expiry?’ Only if you hold the contract all the way to delivery — which almost no traders do. In practice you close early by doing the opposite trade; the two positions cancel and no barrels ever change hands.</a:t>
            </a:r>
          </a:p>
          <a:p>
            <a:r>
              <a:rPr lang="en-US"/>
              <a:t>DEFINITIONS. Expiry / delivery date: when a still-open contract must settle, physically (real barrels) or in cash. Close (offset): buying back the contract you sold so your net position is zero. Physical vs cash settlement: whether the contract delivers actual barrels or just the cash difference.</a:t>
            </a:r>
          </a:p>
          <a:p>
            <a:r>
              <a:rPr lang="en-US"/>
              <a:t>VERBAL EXPLANATION. Reassure them: ‘If you truly held to expiry, yes — delivery is real. But a spread trader just buys the June back before that date. The obligation vanishes, and you never source, store, or deliver a single barrel. Expiry is an exit you choose to avoid, not a trap you fall into.’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IDEA. Two different questions hide inside ‘am I guaranteed to be able to sell?’ What IS guaranteed: the clearing house stands between buyer and seller, so the agreed price will be honoured — no default risk. What is NOT guaranteed: getting OUT whenever you want at the price you want; that still needs a willing buyer.</a:t>
            </a:r>
          </a:p>
          <a:p>
            <a:r>
              <a:rPr lang="en-US"/>
              <a:t>DEFINITIONS. Clearing house: the central counterparty that guarantees both sides perform, removing default risk. Resting / limit order: sits at your chosen price and fills only if someone meets it. Market order: fills immediately but at whatever price is available. Liquidity: whether willing counterparties are actually there.</a:t>
            </a:r>
          </a:p>
          <a:p>
            <a:r>
              <a:rPr lang="en-US"/>
              <a:t>VERBAL EXPLANATION. Draw the line clearly: ‘The guarantee is about performance, not convenience. The clearing house makes sure the agreed price is honoured and nobody walks away. But it does not promise you can exit on demand at your price — a limit order fills only if a buyer appears, and a market order fills now at whatever price the market gives. That gap is what the rest of the deck is about.’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This is the roadmap: six stages. The problem (why two separate contracts is dangerous), the combo (one instrument, two legs, filled atomically), negative cost (how a price drops below zero), the money (margin and daily cash), the profit (selling a negative spread back for real dollars), and what’s next (the liquidity gap implied orders solve). Point out that the destination is Stage 5 — earning cash on a spread bought below zero.</a:t>
            </a:r>
          </a:p>
          <a:p>
            <a:r>
              <a:rPr lang="en-US" dirty="0"/>
              <a:t>DEFINITIONS. Atomically: as a single indivisible action — all or nothing. Margin: money set aside with the clearing house to back a futures position. Liquidity: how easily you can trade without moving the price. Implied orders: a mechanism that builds a spread trade out of the individual month markets (covered only briefly, in a later deck).</a:t>
            </a:r>
          </a:p>
          <a:p>
            <a:r>
              <a:rPr lang="en-US" dirty="0"/>
              <a:t>VERBAL EXPLANATION. ‘Keep the map in mind. If you ever feel lost, ask which of these six stages we’re in. Everything builds toward stage five, where a spread we paid less than nothing for turns into 700 dollars of real cash.’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Section 1 opener — the problem. Before combo orders existed, wanting two contracts at the same time was a gamble. This section shows exactly what went wrong and why it needed a structural fix, not just better luck or faster typing.</a:t>
            </a:r>
          </a:p>
          <a:p>
            <a:r>
              <a:rPr lang="en-US" dirty="0"/>
              <a:t>DEFINITIONS. Combo order: a single order that ties multiple legs together. Contract: one standardized futures agreement.</a:t>
            </a:r>
          </a:p>
          <a:p>
            <a:r>
              <a:rPr lang="en-US" dirty="0"/>
              <a:t>VERBAL EXPLANATION. ‘Let’s go back to the world before combo orders. You want two positions at once. You send two orders. What could go wrong? As we’ll see — quite a lot, and it costs real money.’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Futures in 30 seconds. A futures contract is a binding agreement to buy or sell something at a fixed price on a future date. Crucially, you don’t pay the value up front — you commit to the price. The number to burn into memory: one crude contract is 1,000 barrels, so every $1.00 move in price is worth $1,000.</a:t>
            </a:r>
          </a:p>
          <a:p>
            <a:r>
              <a:rPr lang="en-US" dirty="0"/>
              <a:t>DEFINITIONS. Underlying: the actual thing the contract is on — here, WTI crude oil. Contract size (multiplier): 1,000 barrels per contract. Quoted in: US dollars per barrel. Delivery month: the month the contract settles or delivers, e.g. March 2026. $1/barrel move = $1,000 per contract, because 1,000 barrels × $1.</a:t>
            </a:r>
          </a:p>
          <a:p>
            <a:r>
              <a:rPr lang="en-US" dirty="0"/>
              <a:t>VERBAL EXPLANATION. ‘Unlike a stock, buying a future doesn’t mean handing over the full value today. You’re locking a price for later. And because each contract controls a thousand barrels, small per-barrel moves become big dollar amounts — remember 1,000, we use it on almost every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trade we actually want is not a direction. Many traders have no view on whether oil rises or falls; their view is about the gap between two delivery months — March versus June. A directional bet (‘oil will rise’) exposes you to the whole market: wars, OPEC cuts, recessions. A relationship bet (‘March will gain on June’) only cares about the gap between the two.</a:t>
            </a:r>
          </a:p>
          <a:p>
            <a:r>
              <a:rPr lang="en-US" dirty="0"/>
              <a:t>DEFINITIONS. Directional bet: a position that profits if the outright price moves one way. Relationship / spread bet: a position that profits if the difference between two contracts changes, regardless of overall direction. P/L: profit and loss. OPEC: the group of oil-producing nations whose supply decisions move crude prices.</a:t>
            </a:r>
          </a:p>
          <a:p>
            <a:r>
              <a:rPr lang="en-US" dirty="0"/>
              <a:t>VERBAL EXPLANATION. ‘If both months jump 5 dollars, a spread trader barely reacts — the gap didn’t change. That’s the whole point: we want exposure to the relationship between March and June, and nothing else. That is what a spread lets us isolate.’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naive approach — two separate orders. To get ‘long March, short June,’ you could send two independent orders and hope both fill at your targets: buy March at $80.00, sell June at $80.50, for a spread of exactly −$0.50. The hope is both fill in the same instant. The reality is they are independent events — nothing ties them together in time or price.</a:t>
            </a:r>
          </a:p>
          <a:p>
            <a:r>
              <a:rPr lang="en-US" dirty="0"/>
              <a:t>DEFINITIONS. Long: you own it / you’ve bought it, and profit if it rises. Short: you’ve sold it (without owning it first) and profit if it falls. Independent orders: separate orders that match on their own, with no link between them. Target price: the price you’re aiming to fill at.</a:t>
            </a:r>
          </a:p>
          <a:p>
            <a:r>
              <a:rPr lang="en-US" dirty="0"/>
              <a:t>VERBAL EXPLANATION. ‘Here’s the plan a beginner would try: two tickets, two clicks. It looks fine on paper. But the market doesn’t promise these two orders fill together — and the next slide shows what the clock does to that hope.’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Leg risk, worked out. You send both orders at 10:00:00. Order A (buy March at $80.00) fills instantly. Order B (sell June) lands 400 milliseconds later — and in that sliver, June ticks down from $80.50 to $80.10. You wanted a −$0.50 spread; you got −$0.10. That’s $0.40 worse per barrel, or $400 per spread, purely from the timing gap.</a:t>
            </a:r>
          </a:p>
          <a:p>
            <a:r>
              <a:rPr lang="en-US" dirty="0"/>
              <a:t>DEFINITIONS. Leg risk: the risk that the two legs fill at different times or prices, so you don’t get the spread you intended. Millisecond: one thousandth of a second. Slippage: the difference between the price you wanted and the price you got. Spread you wanted vs spread you got: −80.50 = −$0.50 intended; 80.00 − 80.10 = −$0.10 actual.</a:t>
            </a:r>
          </a:p>
          <a:p>
            <a:r>
              <a:rPr lang="en-US" dirty="0"/>
              <a:t>VERBAL EXPLANATION. ‘Watch the timeline. In less than half a second the second leg moved against us. Nobody made a mistake — the market simply ticked. That tiny delay cost 400 dollars, and it came entirely from the fact that the two legs weren’t bound together.’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That slippage is real money and it scales. $0.40 sounds trivial, but multiply by the contract size (1,000 barrels) and the number of spreads (say 10) and you’ve lost $4,000 before the trade even starts. And this assumes the second leg fills at all — sometimes it doesn’t, which is far worse.</a:t>
            </a:r>
          </a:p>
          <a:p>
            <a:r>
              <a:rPr lang="en-US" dirty="0"/>
              <a:t>DEFINITIONS. Contract size: 1,000 barrels per contract. Position size: how many spreads you trade. Recurring tax: a cost you pay on every trade, not just once. $0.40 × 1,000 × 10 = $4,000.</a:t>
            </a:r>
          </a:p>
          <a:p>
            <a:r>
              <a:rPr lang="en-US" dirty="0"/>
              <a:t>VERBAL EXPLANATION. ‘Scale it up. What looked like pocket change becomes four thousand dollars gone before you’ve made a cent — and it happens on every trade. Leg risk is the difference between a good idea and a losing one once your size is real.’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worst case — a naked leg. Imagine Order B never fills: no seller appears at your price. You’re left holding only March — a raw, one-sided bet on the entire oil market. The intended hedged position (long March, short June) has its risks cancel; the actual naked long does not. If oil drops $3 overnight, that’s −$3,000 per contract of exposure you never wanted.</a:t>
            </a:r>
          </a:p>
          <a:p>
            <a:r>
              <a:rPr lang="en-US" dirty="0"/>
              <a:t>DEFINITIONS. Naked leg / naked position: one leg of an intended spread left unhedged, so you carry full market exposure. Hedged: the two opposite positions offset each other’s market risk. Outright: a plain one-sided position on a single contract. Overnight risk: exposure to price moves while markets are closed.</a:t>
            </a:r>
          </a:p>
          <a:p>
            <a:r>
              <a:rPr lang="en-US" dirty="0"/>
              <a:t>VERBAL EXPLANATION. ‘This is the nightmare. You wanted a low-risk spread and instead you’re sitting on a giant directional bet you never intended. A half-filled spread isn’t a spread — it’s an accident waiting for the market to move.’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fix, in one word: atomicity. Every problem so far comes from the two legs being separate. The cure is to make them inseparable — one order that fills completely or not at all. Both legs fill together at one agreed spread, or the platform fills neither and you’re never left half-exposed.</a:t>
            </a:r>
          </a:p>
          <a:p>
            <a:r>
              <a:rPr lang="en-US" dirty="0"/>
              <a:t>DEFINITIONS. Atomicity / atomic execution: the guarantee that both legs fill together or neither does — no partial fills. All-or-none: same idea, expressed as an order type. Half-exposed: holding one leg without the other.</a:t>
            </a:r>
          </a:p>
          <a:p>
            <a:r>
              <a:rPr lang="en-US" dirty="0"/>
              <a:t>VERBAL EXPLANATION. ‘One word solves everything we just saw: atomicity. Either you get the exact position you asked for, or you get nothing and try again. There is no in-between state to be caught in. That single guarantee removes leg risk completely.’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Section 2 opener — anatomy of a two-legged combo. One order, two legs, a single price. We start with two legs because it’s the simplest place to watch the whole machine work.</a:t>
            </a:r>
          </a:p>
          <a:p>
            <a:r>
              <a:rPr lang="en-US" dirty="0"/>
              <a:t>DEFINITIONS. Two-legged combo: a combo with exactly two contracts. Single price: the one number — the spread — that you agree on, instead of two separate leg prices.</a:t>
            </a:r>
          </a:p>
          <a:p>
            <a:r>
              <a:rPr lang="en-US" dirty="0"/>
              <a:t>VERBAL EXPLANATION. ‘Now we build the thing that saves us. We’ll take it apart piece by piece: what a combo instrument actually is, how it’s priced, and what promise the platform makes when you trade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A combo order is one instrument made of legs. Instead of two order tickets, you place a single order for a purpose-built instrument — the spread. It bundles the legs, and the platform quotes it as one price. Leg 1 is the near leg: buy March, +1. Leg 2 is the far leg: sell June, −1.</a:t>
            </a:r>
          </a:p>
          <a:p>
            <a:r>
              <a:rPr lang="en-US" dirty="0"/>
              <a:t>DEFINITIONS. Instrument: something you can trade as a single product. Near leg: the leg on the earlier-delivery month. Far leg: the leg on the later-delivery month. +1 / −1: buy one / sell one. Purpose-built instrument: the exchange defines the spread as its own tradable product.</a:t>
            </a:r>
          </a:p>
          <a:p>
            <a:r>
              <a:rPr lang="en-US" dirty="0"/>
              <a:t>VERBAL EXPLANATION. ‘Think of the spread as a product on the shelf, like a combo meal. You order the one item; the burger and fries come together automatically. You trade the spread; the two legs come along atomically, in the exact ratio you asked for.’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Our example — the Crude March–June calendar spread. A calendar spread pairs two delivery months of the same commodity. Same oil, same 1,000-barrel size — only the delivery date differs. March is the near (front) month; June is the far (back) month, three months later.</a:t>
            </a:r>
          </a:p>
          <a:p>
            <a:r>
              <a:rPr lang="en-US" dirty="0"/>
              <a:t>DEFINITIONS. Calendar spread (time spread): a spread between two delivery months of the same underlying. Front month: the nearer delivery month. Back month: the later delivery month. Underlying: WTI crude oil, identical for both legs.</a:t>
            </a:r>
          </a:p>
          <a:p>
            <a:r>
              <a:rPr lang="en-US" dirty="0"/>
              <a:t>VERBAL EXPLANATION. ‘Don’t let the jargon scare anyone. “Crude Mar–Jun” simply means these two months traded as one spread. Same barrel of oil, same contract size — the only thing that differs is when it delivers. That’s the entire vocabulary.’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Convention: ‘buy the spread’ = buy the near leg. Memorize this once. Buying a calendar spread means buying the near month and selling the far month (+1 March, −1 June). Selling the spread is the exact mirror: sell the near, buy the far.</a:t>
            </a:r>
          </a:p>
          <a:p>
            <a:r>
              <a:rPr lang="en-US" dirty="0"/>
              <a:t>DEFINITIONS. Buy the spread: long the near leg, short the far leg. Sell the spread: short the near, long the far. Mirror: the opposite position, leg for leg.</a:t>
            </a:r>
          </a:p>
          <a:p>
            <a:r>
              <a:rPr lang="en-US" dirty="0"/>
              <a:t>VERBAL EXPLANATION. ‘This convention trips up everyone at first, so let’s nail it now. When I say “buy the Mar–Jun spread,” I mean buy March and sell June. Whenever you hear “buy the spread,” translate it in your head to “long the near, short the far.”’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spread’s price = Near − Far. The spread has its own single price, defined as the near-month price minus the far-month price. If near is greater than far, the spread is positive (backwardation). If near is less than far, the spread is negative (contango — our case). One subtraction defines everything that follows, and a negative result is normal, not an error.</a:t>
            </a:r>
          </a:p>
          <a:p>
            <a:r>
              <a:rPr lang="en-US" dirty="0"/>
              <a:t>DEFINITIONS. Spread price: Price(near) − Price(far). Backwardation: near month priced higher than far — positive spread. Contango: near month priced lower than far — negative spread. These describe the shape of the forward curve.</a:t>
            </a:r>
          </a:p>
          <a:p>
            <a:r>
              <a:rPr lang="en-US" dirty="0"/>
              <a:t>VERBAL EXPLANATION. ‘Everything from here rests on one subtraction: near minus far. If that comes out negative, don’t panic — it just means later oil is more expensive than nearer oil, which is a completely normal market condition called contango.’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Worked example — quoting our spread. Plug in today’s prices: March $80.00, June $80.50. Spread = 80.00 − 80.50 = −$0.50. That’s our quote for the rest of the deck — a contango spread of negative fifty cents.</a:t>
            </a:r>
          </a:p>
          <a:p>
            <a:r>
              <a:rPr lang="en-US" dirty="0"/>
              <a:t>DEFINITIONS. Quote: the current tradable price of the spread. Negative fifty cents: −$0.50 per barrel. Contango spread: a negative calendar spread, near cheaper than far.</a:t>
            </a:r>
          </a:p>
          <a:p>
            <a:r>
              <a:rPr lang="en-US" dirty="0"/>
              <a:t>VERBAL EXPLANATION. ‘Let’s make it concrete. March eighty, June eighty-fifty, subtract, and you get minus fifty cents. Hold onto that number. Next we confront the question everyone is thinking — what on earth does a negative price actually mean?’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atomicity guarantee, stated precisely. Three promises: (1) Single price — you agree on one number, the spread (−$0.50), not two leg prices. (2) Both or neither — the fill creates both legs at once or creates nothing; no partial states. (3) Guaranteed ratio — exactly +1 March against −1 June, so the hedge can never come out lopsided.</a:t>
            </a:r>
          </a:p>
          <a:p>
            <a:r>
              <a:rPr lang="en-US" dirty="0"/>
              <a:t>DEFINITIONS. Guaranteed ratio: the fixed proportion of legs (here 1:1) the platform always honors. Partial state: an in-between where only one leg filled — which cannot happen here. Lopsided hedge: unequal legs that leave residual market risk.</a:t>
            </a:r>
          </a:p>
          <a:p>
            <a:r>
              <a:rPr lang="en-US" dirty="0"/>
              <a:t>VERBAL EXPLANATION. ‘These three promises are the contract the platform makes with us. From now on we lean on them completely. One price, both-or-neither, fixed ratio — that’s what makes a spread a single, safe thing to trade instead of two hopeful orders.’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Placing the order — a walkthrough. The single ticket: instrument Crude Mar–Jun, action BUY the spread, quantity 1, limit price −$0.50, order type all-or-none (atomic). What the platform does: finds a counterparty for the whole spread at −$0.50; in one atomic action books +1 March and −1 June; no premium changes hands — only a margin deposit is set aside.</a:t>
            </a:r>
          </a:p>
          <a:p>
            <a:r>
              <a:rPr lang="en-US" dirty="0"/>
              <a:t>DEFINITIONS. Order ticket: the form specifying what you want to trade. Limit price: the worst price you’ll accept. All-or-none: fill everything or nothing. Counterparty: whoever takes the other side of your trade. Premium: an up-front payment for a position — here, zero. Margin deposit: reserved good-faith money (next section).</a:t>
            </a:r>
          </a:p>
          <a:p>
            <a:r>
              <a:rPr lang="en-US" dirty="0"/>
              <a:t>VERBAL EXPLANATION. ‘Here’s the whole action in one ticket. You set the spread you’ll accept, you mark it all-or-none, and you send it. The platform matches it, books both legs at once, and — notice — no purchase money leaves your account. You now hold the spread at minus fifty cents.’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Section 3 opener — the negative-cost puzzle. −$0.50 is a price you ‘pay’ by receiving. This section’s job is to make that sentence feel obvious instead of impossible.</a:t>
            </a:r>
          </a:p>
          <a:p>
            <a:r>
              <a:rPr lang="en-US" dirty="0"/>
              <a:t>DEFINITIONS. Negative cost: a spread whose price is below zero. Puzzle (here): the intuitive discomfort of ‘buying’ at a negative number.</a:t>
            </a:r>
          </a:p>
          <a:p>
            <a:r>
              <a:rPr lang="en-US" dirty="0"/>
              <a:t>VERBAL EXPLANATION. ‘This is the part of the talk people came for. How can you buy something for less than nothing? Give me the next few slides and the paradox will simply dissolve — because it rests on one hidden, wrong assumption.’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Why a spread can be negative. The sign just reflects the shape of the forward curve. In contango (our case) the near month is cheaper than the far, so Near − Far is negative. In backwardation the near is pricier than the far, so it’s positive. It’s a market condition, not a mistake.</a:t>
            </a:r>
          </a:p>
          <a:p>
            <a:r>
              <a:rPr lang="en-US" dirty="0"/>
              <a:t>DEFINITIONS. Forward curve: prices of the same commodity plotted across delivery months. Contango: upward-sloping curve, later oil more expensive. Backwardation: downward-sloping curve, later oil cheaper. Sign: whether the spread is + or −.</a:t>
            </a:r>
          </a:p>
          <a:p>
            <a:r>
              <a:rPr lang="en-US" dirty="0"/>
              <a:t>VERBAL EXPLANATION. ‘The negative sign isn’t a glitch — it’s a snapshot of the market’s shape. When storing oil for later costs money, later oil trades higher, the curve slopes up, and our near-minus-far spread comes out negative. That’s contango, and it’s extremely common.’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Reading the forward curve (illustrative). A stylized Crude curve where each dot is one delivery month’s price. Our spread is just the vertical gap between the March dot ($80.00) and the June dot ($80.50) — a gap of −$0.50. Trading the spread is a bet on how the slope of that slice will change.</a:t>
            </a:r>
          </a:p>
          <a:p>
            <a:r>
              <a:rPr lang="en-US" dirty="0"/>
              <a:t>DEFINITIONS. Illustrative / stylized: simplified for teaching, not exact market data. Vertical gap: the price difference between two months on the curve. Slope: how steeply prices rise or fall across months.</a:t>
            </a:r>
          </a:p>
          <a:p>
            <a:r>
              <a:rPr lang="en-US" dirty="0"/>
              <a:t>VERBAL EXPLANATION. ‘Picture the curve as a row of dots, one per month. Our whole trade is just two of those dots and the gap between them. When we buy the spread, we’re betting that this little slice of the curve will tilt — that March will climb toward and past June.’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Reading a negative spread price on a number line. Zero means the two months are equal; left of zero is contango, right is backwardation. Our position sits at −$0.50. The move that pays us is the marker sliding rightward — from −$0.50 toward zero and beyond.</a:t>
            </a:r>
          </a:p>
          <a:p>
            <a:r>
              <a:rPr lang="en-US" dirty="0"/>
              <a:t>DEFINITIONS. Number line: a scale from negative through zero to positive spread values. Zero: the two months priced equally. Rightward move: the spread rising (becoming less negative, then positive).</a:t>
            </a:r>
          </a:p>
          <a:p>
            <a:r>
              <a:rPr lang="en-US" dirty="0"/>
              <a:t>VERBAL EXPLANATION. ‘Put our spread on a ruler. We’re standing at minus fifty cents on the left, in contango. To make money, we need the marker to walk to the right — toward zero, and ideally past it into positive territory. Direction of travel is the whole game.’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‘Buying at a negative price?!’ With stocks, buying always costs money, so a negative price feels impossible. The confusion comes from a hidden assumption: that price equals cash paid up front. With a stock, buying one share at $80 means $80 leaves your pocket. With futures, you pay nothing up front — the price is the level you’re locking in, not cash you hand over. Drop the assumption and −$0.50 stops being paradoxical.</a:t>
            </a:r>
          </a:p>
          <a:p>
            <a:r>
              <a:rPr lang="en-US" dirty="0"/>
              <a:t>DEFINITIONS. Up-front payment: cash paid at the moment of purchase. Locking in a level: agreeing the reference price you’ll be measured against. Hidden assumption: the unstated belief ‘price = money paid now,’ true for stocks but not futures.</a:t>
            </a:r>
          </a:p>
          <a:p>
            <a:r>
              <a:rPr lang="en-US" dirty="0"/>
              <a:t>VERBAL EXPLANATION. ‘Here’s the trick your brain is playing. With shares, price and cash-out-of-pocket are the same thing, so “negative price” sounds like being paid to take something. But a futures price isn’t a payment at all — it’s just the agreed level. Once you see that, minus fifty cents is no stranger than any other number.’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Futures have no purchase price — the single most important reframing in the deck. A stock has three cash moments: buy (−$80 leaves), hold (value moves on paper), sell (cash returns). A futures spread has: enter ($0 premium, just post margin), hold (cash flows daily via variation margin), exit (close the spread). There is no up-front payment to be negative about.</a:t>
            </a:r>
          </a:p>
          <a:p>
            <a:r>
              <a:rPr lang="en-US" dirty="0"/>
              <a:t>DEFINITIONS. Premium: an up-front cost to acquire a position — zero for futures. Post margin: set aside a refundable deposit. Variation margin: the daily cash settlement of gains and losses. On paper: unrealized, not yet cash.</a:t>
            </a:r>
          </a:p>
          <a:p>
            <a:r>
              <a:rPr lang="en-US" dirty="0"/>
              <a:t>VERBAL EXPLANATION. ‘Compare the two timelines side by side. The stock demands eighty dollars on day one. The futures spread demands nothing but a refundable deposit. Since no money is paid to enter, the negative price can’t be a cost — it only sets the level you’ll be measured from.’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At entry, what actually changes hands? Be concrete about day one of buying the spread at −$0.50. Premium / purchase price: $0 — nothing is paid for the position itself. Initial margin: about $1,000 — a refundable good-faith deposit held by the clearing house; still your money. Money you ‘lose’: $0 — posting margin is not a cost; you get it back when you close.</a:t>
            </a:r>
          </a:p>
          <a:p>
            <a:r>
              <a:rPr lang="en-US" dirty="0"/>
              <a:t>DEFINITIONS. Clearing house: the neutral institution that stands between buyer and seller and guarantees the trade. Good-faith deposit: money reserved to prove you can cover losses. Refundable: returned to you when the position is closed. Ring-fenced/reserved: set aside, not spent.</a:t>
            </a:r>
          </a:p>
          <a:p>
            <a:r>
              <a:rPr lang="en-US" dirty="0"/>
              <a:t>VERBAL EXPLANATION. ‘Let’s follow every dollar on day one. Purchase price? Zero. The only money that moves is a thousand-dollar deposit — and that’s not spent, it’s parked with the clearing house and comes back to you at the end. Entering this spread genuinely costs you nothing.’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Worked example — entering the −$0.50 spread. Account before: cash $25,000, margin held $0, available $25,000, no position. After the fill: cash still $25,000, margin held $1,000, available $24,000, position +Mar / −Jun. The cash balance is unchanged — $1,000 simply moved from ‘available’ to ‘reserved.’</a:t>
            </a:r>
          </a:p>
          <a:p>
            <a:r>
              <a:rPr lang="en-US" dirty="0"/>
              <a:t>DEFINITIONS. Cash balance: total money in the account. Held as margin / reserved: money locked to back the position. Available: cash you can still use for other trades. Position: the contracts you now hold.</a:t>
            </a:r>
          </a:p>
          <a:p>
            <a:r>
              <a:rPr lang="en-US" dirty="0"/>
              <a:t>VERBAL EXPLANATION. ‘Look at the before-and-after. Your total cash didn’t drop by a cent. All that happened is a thousand dollars moved from the “available” column to the “reserved” column — and in exchange you now hold the spread. Nothing was spent.’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Section 4 opener — follow the money. If nothing is paid up front, where does profit or loss actually live? In a daily cash flow called variation margin. This section makes that mechanism concrete.</a:t>
            </a:r>
          </a:p>
          <a:p>
            <a:r>
              <a:rPr lang="en-US" dirty="0"/>
              <a:t>DEFINITIONS. Variation margin: the cash credited or debited each day as your position’s value changes. Cash flow: money actually moving in or out of your account.</a:t>
            </a:r>
          </a:p>
          <a:p>
            <a:r>
              <a:rPr lang="en-US" dirty="0"/>
              <a:t>VERBAL EXPLANATION. ‘We’ve established that entering costs nothing. So a fair question is: then where does the profit come from? The answer is a daily settlement called variation margin — and that’s exactly where your real money lands.’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Two kinds of cash in a futures account. Initial margin is a deposit: paid once when you open, refundable when you close, sized to cover a bad day, not to be spent — like a security deposit on a rental. Variation margin is the daily settling: cash moves every day, follows the spread’s daily change, credited on good days and debited on bad. Variation margin is where your real profit lands.</a:t>
            </a:r>
          </a:p>
          <a:p>
            <a:r>
              <a:rPr lang="en-US" dirty="0"/>
              <a:t>DEFINITIONS. Initial margin: the one-time refundable deposit to open a position. Variation margin: the daily cash settlement of gains/losses. Debit: money taken out. Credit: money paid in. P/L: profit and loss.</a:t>
            </a:r>
          </a:p>
          <a:p>
            <a:r>
              <a:rPr lang="en-US" dirty="0"/>
              <a:t>VERBAL EXPLANATION. ‘Keep these two completely separate in your head. One is a deposit you park and get back — think rental security deposit. The other is a daily cash flow that is literally your profit and loss, arriving one day at a time. Confuse them and nothing else makes sense; separate them and it all clicks.’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multiplier — turning $/bbl into dollars. Spread prices are quoted in dollars per barrel; multiply the price change by the 1,000-barrel contract size to get account dollars. $0.01 (one tick) = $10; $0.20 = $200; $0.70 (our full trade) = $700.</a:t>
            </a:r>
          </a:p>
          <a:p>
            <a:r>
              <a:rPr lang="en-US" dirty="0"/>
              <a:t>DEFINITIONS. Multiplier / contract size: 1,000 barrels per contract. Tick: the smallest price increment, here $0.01, worth $10. $/bbl: dollars per barrel, the quoting unit. Account dollars: the actual cash effect.</a:t>
            </a:r>
          </a:p>
          <a:p>
            <a:r>
              <a:rPr lang="en-US" dirty="0"/>
              <a:t>VERBAL EXPLANATION. ‘This is the currency converter for the whole trade. Any move in the spread, times a thousand, equals dollars in your account. One penny is ten dollars. Our entire trade is a seventy-cent move — which, times a thousand, is seven hundred dollars.’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Variation margin — settled every day. Each evening the clearing house re-prices your spread and moves cash so your paper gain or loss becomes real that day — no waiting until you close. The loop: day starts (spread at yesterday’s value), spread moves (near and far reprice), day settles (change × 1,000 = today’s cash), cash moves (credited or debited overnight). Repeat every trading day until you exit.</a:t>
            </a:r>
          </a:p>
          <a:p>
            <a:r>
              <a:rPr lang="en-US" dirty="0"/>
              <a:t>DEFINITIONS. Settle / settlement: the daily reconciling of gains and losses into cash. Re-price / mark: value the position at the day’s closing prices. Overnight: between the close of one session and the next. Mark-to-market: the practice of revaluing daily.</a:t>
            </a:r>
          </a:p>
          <a:p>
            <a:r>
              <a:rPr lang="en-US" dirty="0"/>
              <a:t>VERBAL EXPLANATION. ‘Every evening the clearing house looks at where your spread closed, works out the change since yesterday, and moves that cash in or out of your account. Your profit doesn’t sit as an IOU until you exit — it becomes real money, a little each day.’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Day-by-day cash flow of our spread. Enter at −$0.50; the spread drifts up over three days: to −$0.30 (+$0.20 = +$200), to $0.00 (+$0.30 = +$300), to +$0.20 (+$0.20 = +$200). No cash at entry; then $200 + $300 + $200 = $700 collected over three days of settling. The spread rose $0.70 total; at $1,000 per point that’s $700, delivered as daily cash rather than a lump sum.</a:t>
            </a:r>
          </a:p>
          <a:p>
            <a:r>
              <a:rPr lang="en-US" dirty="0"/>
              <a:t>DEFINITIONS. Daily change: today’s spread value minus yesterday’s. Cash collected: the running total of variation-margin credits. Per point: per $1.00 of spread move = $1,000. Lump sum: a single payment at the end (which is not how this works).</a:t>
            </a:r>
          </a:p>
          <a:p>
            <a:r>
              <a:rPr lang="en-US" dirty="0"/>
              <a:t>VERBAL EXPLANATION. ‘Follow the ladder. Each day the spread ticks up, and that day’s change turns into cash overnight — two hundred, then three hundred, then two hundred. Add them and you’ve collected seven hundred dollars, without ever having closed the trade. The profit arrived in daily installments.’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Section 5 opener — making money on a negative spread. The payoff. We bought at −$0.50, we sell back higher, and we trace every dollar that lands in the account.</a:t>
            </a:r>
          </a:p>
          <a:p>
            <a:r>
              <a:rPr lang="en-US" dirty="0"/>
              <a:t>DEFINITIONS. Payoff: the net profit or loss from the trade. Sell back / close: exit the position by doing the opposite trade.</a:t>
            </a:r>
          </a:p>
          <a:p>
            <a:r>
              <a:rPr lang="en-US" dirty="0"/>
              <a:t>VERBAL EXPLANATION. ‘This is stage five — the destination from our roadmap. We’re going to take that spread we bought for less than nothing and sell it back higher, and I’ll show you exactly where the money comes from and lands.’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plan — buy low, sell high, even below zero. Profit doesn’t care about the sign of the price; it cares only about the distance between where you bought and where you sold. Buy at −$0.50, sell at +$0.20, distance = $0.70 → profit. ‘Buy low, sell high’ works perfectly well entirely below zero.</a:t>
            </a:r>
          </a:p>
          <a:p>
            <a:r>
              <a:rPr lang="en-US" dirty="0"/>
              <a:t>DEFINITIONS. Distance / travel: the change in the spread from entry to exit. Sign: whether prices are positive or negative — irrelevant to profit. Buy low, sell high: profit from an upward move regardless of the absolute level.</a:t>
            </a:r>
          </a:p>
          <a:p>
            <a:r>
              <a:rPr lang="en-US" dirty="0"/>
              <a:t>VERBAL EXPLANATION. ‘Forget the minus signs for a second. All that matters is: did the spread rise from where I bought to where I sold? Minus fifty up to plus twenty is a seventy-cent climb. Buy-low-sell-high doesn’t need positive numbers — it works fine deep in negative territory.’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What has to happen — the curve shifts. For the spread to rise, March must gain on June: the curve tilts from contango toward backwardation. Before (entry): Mar $80.00, Jun $80.50, spread −$0.50. After (exit): Mar $81.40, Jun $81.20, spread +$0.20. March overtook June — exactly the move we were positioned for.</a:t>
            </a:r>
          </a:p>
          <a:p>
            <a:r>
              <a:rPr lang="en-US" dirty="0"/>
              <a:t>DEFINITIONS. Gain on / overtake: the near month rising more (or falling less) than the far. Tilt / shift: a change in the curve’s slope. From contango toward backwardation: the near month going from cheaper to more expensive than the far.</a:t>
            </a:r>
          </a:p>
          <a:p>
            <a:r>
              <a:rPr lang="en-US" dirty="0"/>
              <a:t>VERBAL EXPLANATION. ‘Notice both months actually rose — but that’s not what mattered. What mattered is March rose more than June, flipping the gap from minus fifty to plus twenty. The overall market direction was irrelevant; the relationship moved our way. That’s a spread trade doing exactly its job.’</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Closing — sell the spread back. To exit you do the mirror of the entry: one atomic order that sells the spread and flattens both legs at once. You hold +1 March, −1 June (bought as a spread at −$0.50); you SELL 1 spread at +$0.20, which sells March and buys back June atomically. Result: flat, no position, market risk zero again, and the $1,000 margin deposit is released back to ‘available.’</a:t>
            </a:r>
          </a:p>
          <a:p>
            <a:r>
              <a:rPr lang="en-US" dirty="0"/>
              <a:t>DEFINITIONS. Close / flatten: reduce your position to zero. Flat: holding no position. Mirror image: the exact opposite trade. Release margin: return the reserved deposit to available cash.</a:t>
            </a:r>
          </a:p>
          <a:p>
            <a:r>
              <a:rPr lang="en-US" dirty="0"/>
              <a:t>VERBAL EXPLANATION. ‘Exiting is just entry in reverse, and it’s protected by the very same atomicity guarantee. One order sells the spread, both legs vanish together, and your deposit is freed. You’re flat, your risk is gone, and — as the next slide shows — the profit is already yours.’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Total P/L in one line. The whole trade collapses to one calculation: how far the spread travelled, times the contract size. (+$0.20 − (−$0.50)) × 1,000 = +$700. Subtracting a negative entry adds it back — that’s why the gap is a full $0.70 and the profit is $700.</a:t>
            </a:r>
          </a:p>
          <a:p>
            <a:r>
              <a:rPr lang="en-US" dirty="0"/>
              <a:t>DEFINITIONS. P/L: profit and loss. Exit minus entry: the spread’s total travel. Subtracting a negative: −(−0.50) = +0.50, the arithmetic that makes the gap larger. Contract size: 1,000 barrels.</a:t>
            </a:r>
          </a:p>
          <a:p>
            <a:r>
              <a:rPr lang="en-US" dirty="0"/>
              <a:t>VERBAL EXPLANATION. ‘Here’s the one bit of arithmetic to be careful with. Exit plus twenty, minus an entry of minus fifty — and subtracting a negative flips it to a plus. So the gap is a full seventy cents, not twenty. Times a thousand barrels: seven hundred dollars.’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physical money, start to finish. The complete cash trail: at entry, post initial margin −$1,000 (held, not spent). Day 1 variation margin +$200, Day 2 +$300, Day 3 +$200 (all cash in). At exit, initial margin released +$1,000 (returned). The deposit in and out cancels, leaving a net cash profit of +$700.</a:t>
            </a:r>
          </a:p>
          <a:p>
            <a:r>
              <a:rPr lang="en-US" dirty="0"/>
              <a:t>DEFINITIONS. Physical / actual cash: real money moving through the account. Held: reserved, expected back. Released: the deposit returned at close. Net cash profit: the total after the deposit cancels out.</a:t>
            </a:r>
          </a:p>
          <a:p>
            <a:r>
              <a:rPr lang="en-US" dirty="0"/>
              <a:t>VERBAL EXPLANATION. ‘This is the receipt for the whole trade, and every figure adds up. The thousand-dollar deposit goes out and comes back — it cancels. What remains is the three days of variation margin: two hundred, three hundred, two hundred. Seven hundred dollars of genuine, banked profit.’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Being honest — the losing case. The same mechanics run in reverse. If the spread falls instead of rises, variation margin flows out of your account. Buy at −$0.50, exit at −$0.90: (−$0.90 − (−$0.50)) × 1,000 = −$400. Negative-cost does not mean risk-free — the spread can widen against you, and that cash really leaves.</a:t>
            </a:r>
          </a:p>
          <a:p>
            <a:r>
              <a:rPr lang="en-US" dirty="0"/>
              <a:t>DEFINITIONS. Losing case: the scenario where the spread moves against you. Widen (a contango spread): become more negative. Forced/chosen exit: closing either by decision or because losses require it. Downside risk: the possibility of loss.</a:t>
            </a:r>
          </a:p>
          <a:p>
            <a:r>
              <a:rPr lang="en-US" dirty="0"/>
              <a:t>VERBAL EXPLANATION. ‘Let’s be honest, not just optimistic. If the spread widens instead of narrowing, the daily settlement runs the other way and real cash leaves your account — here, four hundred dollars. “Costs nothing to enter” is not the same as “no risk.” The variation-margin mechanism cuts both ways.’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full lifecycle, end to end. Every idea on one timeline: (1) Place combo — buy Mar–Jun at −$0.50, atomically. (2) Post margin — $1,000 reserved, $0 premium. (3) Hold and settle — daily variation margin, +$700 total. (4) Sell to close — exit at +$0.20, both legs flat. (5) Cash out — margin released, +$700 profit kept.</a:t>
            </a:r>
          </a:p>
          <a:p>
            <a:r>
              <a:rPr lang="en-US" dirty="0"/>
              <a:t>DEFINITIONS. Lifecycle: the full sequence from opening to closing a position. Flat: no remaining position. Settle: daily cash reconciliation. Profit kept: net cash after the deposit is returned.</a:t>
            </a:r>
          </a:p>
          <a:p>
            <a:r>
              <a:rPr lang="en-US" dirty="0"/>
              <a:t>VERBAL EXPLANATION. ‘Here is the entire deck on a single line. One atomic buy, a refundable deposit, a few days of daily cash, one atomic sell, and the deposit back. A spread that cost less than nothing became seven hundred dollars of profit. That’s the whole machine, working.’</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Section 6 opener — where this goes next. You now understand a two-legged combo completely. One practical problem remains, and it points to the next presentation: what happens when nobody is quoting the spread directly.</a:t>
            </a:r>
          </a:p>
          <a:p>
            <a:r>
              <a:rPr lang="en-US" dirty="0"/>
              <a:t>DEFINITIONS. Practical problem: a real-world gap between our clean example and live markets. Next presentation: the follow-up deck on implied orders.</a:t>
            </a:r>
          </a:p>
          <a:p>
            <a:r>
              <a:rPr lang="en-US" dirty="0"/>
              <a:t>VERBAL EXPLANATION. ‘You’ve earned a victory lap — you genuinely understand this now. But before we finish, let me plant one seed of doubt, a problem we quietly assumed away, because it’s the doorway to the next topic.’</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What you can now explain to someone else. Five sentences that should now feel obvious: why trading two legs separately is dangerous (leg risk and naked exposure); how atomic execution fixes it (both legs at one spread price, or neither); why a spread’s price can be negative and why that’s not a paradox; that entering costs $0 up front, only a refundable margin deposit; and how daily variation margin turns a $0.70 move into $700 of real cash.</a:t>
            </a:r>
          </a:p>
          <a:p>
            <a:r>
              <a:rPr lang="en-US" dirty="0"/>
              <a:t>DEFINITIONS. Leg risk: mismatched fills between legs. Naked exposure: an unhedged leftover leg. Atomic execution: both-or-neither fills. Refundable deposit: the returnable initial margin. Variation margin: daily cash settlement.</a:t>
            </a:r>
          </a:p>
          <a:p>
            <a:r>
              <a:rPr lang="en-US" dirty="0"/>
              <a:t>VERBAL EXPLANATION. ‘Here’s your comprehension check. If you can say these five sentences to a colleague and have them land, the deck did its job. Teaching it back is the real test — try it on someone this week.’</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one problem we left open. Our whole story assumed a counterparty was waiting to trade the exact spread we wanted. Often nobody quotes the spread directly — only the individual months trade. We assumed the Mar–Jun spread book was liquid; what often happens is the spread book is empty while March and June each trade actively on their own.</a:t>
            </a:r>
          </a:p>
          <a:p>
            <a:r>
              <a:rPr lang="en-US" dirty="0"/>
              <a:t>DEFINITIONS. Counterparty: whoever takes the other side of your trade. Order book: the list of resting buy and sell orders for an instrument. Liquid: plenty of orders to trade against. Outright months: the individual month contracts, traded on their own.</a:t>
            </a:r>
          </a:p>
          <a:p>
            <a:r>
              <a:rPr lang="en-US" dirty="0"/>
              <a:t>VERBAL EXPLANATION. ‘Here’s the crack in our clean story. We assumed someone was always ready to trade the spread as one unit. In reality, the spread’s order book is often empty — yet March and June are each buzzing with activity. So how does our atomic combo fill against nothing? That’s the open question.’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The next chapter — implied orders. Implied orders are how an exchange builds a spread trade out of the separate month markets (and vice versa), so your atomic combo can fill even with an empty spread book. The exchange synthesises a spread quote from the two outright books — no direct spread trader required. That’s a whole topic of its own, covered in a dedicated follow-up.</a:t>
            </a:r>
          </a:p>
          <a:p>
            <a:r>
              <a:rPr lang="en-US" dirty="0"/>
              <a:t>DEFINITIONS. Implied order: a synthetic order the exchange derives by combining prices from related markets. Synthesise: construct a quote from other quotes. Outright books: the order books for the individual months. Matching engine: the exchange system that pairs buyers and sellers.</a:t>
            </a:r>
          </a:p>
          <a:p>
            <a:r>
              <a:rPr lang="en-US" dirty="0"/>
              <a:t>VERBAL EXPLANATION. ‘And here’s the resolution — but only a teaser. The exchange can manufacture a spread quote out of the two month markets, so your combo fills even when no one is trading the spread directly. How that implied pricing and matching actually works is a rich topic, and it’s exactly where the next presentation begins.’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Closing. You can now trade a spread — and explain why it works. We bought at less than nothing and sold for $700: two legs, one atomic order, and a clear-eyed view of every dollar that moved. Next up: implied orders — filling a spread from the legs.</a:t>
            </a:r>
          </a:p>
          <a:p>
            <a:r>
              <a:rPr lang="en-US" dirty="0"/>
              <a:t>DEFINITIONS. Recap of the core terms: spread (near minus far), atomic order (both legs or neither), initial margin (refundable deposit), variation margin (daily cash that is your profit).</a:t>
            </a:r>
          </a:p>
          <a:p>
            <a:r>
              <a:rPr lang="en-US" dirty="0"/>
              <a:t>VERBAL EXPLANATION. ‘Let’s land it. You started this session thinking a negative price was impossible; you’re leaving able to trade one and explain every dollar behind it. Bought below zero, sold for seven hundred. When you’re ready, the implied-orders deck shows how the exchange makes that fill possible in the first place. Thank you.’</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171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005840" y="2468880"/>
            <a:ext cx="10149840" cy="155448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91D2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80160" y="2926080"/>
            <a:ext cx="9601200" cy="12801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14171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70026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op bar">
            <a:extLst>
              <a:ext uri="{C183D7F6-B498-43B3-948B-1728B52AA6E4}">
                <adec:decorative xmlns:adec="http://schemas.microsoft.com/office/drawing/2017/decorative" val="1"/>
              </a:ext>
            </a:extLst>
          </p:cNvPr>
          <p:cNvSpPr/>
          <p:nvPr/>
        </p:nvSpPr>
        <p:spPr>
          <a:xfrm>
            <a:off x="0" y="0"/>
            <a:ext cx="12191695" cy="128016"/>
          </a:xfrm>
          <a:prstGeom prst="rect">
            <a:avLst/>
          </a:prstGeom>
          <a:solidFill>
            <a:srgbClr val="34D399"/>
          </a:solidFill>
          <a:ln/>
        </p:spPr>
        <p:txBody>
          <a:bodyPr/>
          <a:lstStyle/>
          <a:p>
            <a:endParaRPr lang="en-SE"/>
          </a:p>
        </p:txBody>
      </p:sp>
      <p:sp>
        <p:nvSpPr>
          <p:cNvPr id="3" name="connector">
            <a:extLst>
              <a:ext uri="{C183D7F6-B498-43B3-948B-1728B52AA6E4}">
                <adec:decorative xmlns:adec="http://schemas.microsoft.com/office/drawing/2017/decorative" val="1"/>
              </a:ext>
            </a:extLst>
          </p:cNvPr>
          <p:cNvSpPr/>
          <p:nvPr/>
        </p:nvSpPr>
        <p:spPr>
          <a:xfrm>
            <a:off x="1005840" y="1920240"/>
            <a:ext cx="10149840" cy="0"/>
          </a:xfrm>
          <a:prstGeom prst="line">
            <a:avLst/>
          </a:prstGeom>
          <a:noFill/>
          <a:ln w="25400">
            <a:solidFill>
              <a:srgbClr val="262E38"/>
            </a:solidFill>
            <a:prstDash val="solid"/>
            <a:headEnd type="none"/>
            <a:tailEnd type="none"/>
          </a:ln>
        </p:spPr>
        <p:txBody>
          <a:bodyPr/>
          <a:lstStyle/>
          <a:p>
            <a:endParaRPr lang="en-SE"/>
          </a:p>
        </p:txBody>
      </p:sp>
      <p:sp>
        <p:nvSpPr>
          <p:cNvPr id="4" name="dot">
            <a:extLst>
              <a:ext uri="{C183D7F6-B498-43B3-948B-1728B52AA6E4}">
                <adec:decorative xmlns:adec="http://schemas.microsoft.com/office/drawing/2017/decorative" val="1"/>
              </a:ext>
            </a:extLst>
          </p:cNvPr>
          <p:cNvSpPr/>
          <p:nvPr/>
        </p:nvSpPr>
        <p:spPr>
          <a:xfrm>
            <a:off x="3026664" y="1837944"/>
            <a:ext cx="164592" cy="164592"/>
          </a:xfrm>
          <a:prstGeom prst="ellipse">
            <a:avLst/>
          </a:prstGeom>
          <a:solidFill>
            <a:srgbClr val="6EA8E6"/>
          </a:solidFill>
          <a:ln/>
        </p:spPr>
        <p:txBody>
          <a:bodyPr/>
          <a:lstStyle/>
          <a:p>
            <a:endParaRPr lang="en-SE"/>
          </a:p>
        </p:txBody>
      </p:sp>
      <p:sp>
        <p:nvSpPr>
          <p:cNvPr id="5" name="dot">
            <a:extLst>
              <a:ext uri="{C183D7F6-B498-43B3-948B-1728B52AA6E4}">
                <adec:decorative xmlns:adec="http://schemas.microsoft.com/office/drawing/2017/decorative" val="1"/>
              </a:ext>
            </a:extLst>
          </p:cNvPr>
          <p:cNvSpPr/>
          <p:nvPr/>
        </p:nvSpPr>
        <p:spPr>
          <a:xfrm>
            <a:off x="8860536" y="1819656"/>
            <a:ext cx="201168" cy="201168"/>
          </a:xfrm>
          <a:prstGeom prst="ellipse">
            <a:avLst/>
          </a:prstGeom>
          <a:solidFill>
            <a:srgbClr val="34D399"/>
          </a:solidFill>
          <a:ln/>
        </p:spPr>
        <p:txBody>
          <a:bodyPr/>
          <a:lstStyle/>
          <a:p>
            <a:endParaRPr lang="en-SE"/>
          </a:p>
        </p:txBody>
      </p:sp>
      <p:sp>
        <p:nvSpPr>
          <p:cNvPr id="6" name="Text 4"/>
          <p:cNvSpPr/>
          <p:nvPr/>
        </p:nvSpPr>
        <p:spPr>
          <a:xfrm>
            <a:off x="1024128" y="1371600"/>
            <a:ext cx="10058400" cy="320040"/>
          </a:xfrm>
          <a:prstGeom prst="rect">
            <a:avLst/>
          </a:prstGeom>
          <a:noFill/>
          <a:ln/>
        </p:spPr>
        <p:txBody>
          <a:bodyPr wrap="square" lIns="0" tIns="0" rIns="0" bIns="0" rtlCol="0" anchor="ctr"/>
          <a:lstStyle/>
          <a:p>
            <a:pPr marL="0" indent="0">
              <a:buNone/>
            </a:pPr>
            <a:r>
              <a:rPr lang="en-US" sz="1300" b="1" kern="0" spc="300" dirty="0">
                <a:solidFill>
                  <a:srgbClr val="34D399"/>
                </a:solidFill>
                <a:latin typeface="Trebuchet MS" pitchFamily="34" charset="0"/>
                <a:ea typeface="Trebuchet MS" pitchFamily="34" charset="-122"/>
                <a:cs typeface="Trebuchet MS" pitchFamily="34" charset="-120"/>
              </a:rPr>
              <a:t>A NEGATIVE PRICE YOU PAY NOTHING FOR</a:t>
            </a:r>
            <a:endParaRPr lang="en-US" sz="1300" dirty="0"/>
          </a:p>
        </p:txBody>
      </p:sp>
      <p:sp>
        <p:nvSpPr>
          <p:cNvPr id="7" name="Text 0"/>
          <p:cNvSpPr>
            <a:spLocks noGrp="1"/>
          </p:cNvSpPr>
          <p:nvPr>
            <p:ph type="title" idx="100" hasCustomPrompt="1"/>
          </p:nvPr>
        </p:nvSpPr>
        <p:spPr>
          <a:xfrm>
            <a:off x="1005840" y="2468880"/>
            <a:ext cx="10149840" cy="1554480"/>
          </a:xfrm>
          <a:prstGeom prst="rect">
            <a:avLst/>
          </a:prstGeom>
          <a:noFill/>
          <a:ln/>
        </p:spPr>
        <p:txBody>
          <a:bodyPr wrap="square" lIns="0" tIns="0" rIns="0" bIns="0" rtlCol="0"/>
          <a:lstStyle/>
          <a:p>
            <a:pPr marL="0" indent="0">
              <a:buNone/>
            </a:pPr>
            <a:r>
              <a:rPr lang="en-US" sz="4600" b="1" dirty="0">
                <a:solidFill>
                  <a:srgbClr val="E7EBF0"/>
                </a:solidFill>
                <a:latin typeface="Trebuchet MS" pitchFamily="34" charset="0"/>
                <a:ea typeface="Trebuchet MS" pitchFamily="34" charset="-122"/>
                <a:cs typeface="Trebuchet MS" pitchFamily="34" charset="-120"/>
              </a:rPr>
              <a:t>Combo Orders with Futures</a:t>
            </a:r>
            <a:endParaRPr lang="en-US" sz="4600" dirty="0"/>
          </a:p>
          <a:p>
            <a:pPr marL="0" indent="0">
              <a:buNone/>
            </a:pPr>
            <a:r>
              <a:rPr lang="en-US" sz="2600" b="1" dirty="0">
                <a:solidFill>
                  <a:srgbClr val="AAB2BD"/>
                </a:solidFill>
                <a:latin typeface="Trebuchet MS" pitchFamily="34" charset="0"/>
                <a:ea typeface="Trebuchet MS" pitchFamily="34" charset="-122"/>
                <a:cs typeface="Trebuchet MS" pitchFamily="34" charset="-120"/>
              </a:rPr>
              <a:t>Buying a spread, step by step</a:t>
            </a:r>
            <a:endParaRPr lang="en-US" sz="4600" dirty="0"/>
          </a:p>
        </p:txBody>
      </p:sp>
      <p:sp>
        <p:nvSpPr>
          <p:cNvPr id="8" name="Text 6"/>
          <p:cNvSpPr/>
          <p:nvPr/>
        </p:nvSpPr>
        <p:spPr>
          <a:xfrm>
            <a:off x="1024128" y="4434840"/>
            <a:ext cx="9692640" cy="914400"/>
          </a:xfrm>
          <a:prstGeom prst="rect">
            <a:avLst/>
          </a:prstGeom>
          <a:noFill/>
          <a:ln/>
        </p:spPr>
        <p:txBody>
          <a:bodyPr wrap="square" lIns="0" tIns="0" rIns="0" bIns="0" rtlCol="0" anchor="ctr"/>
          <a:lstStyle/>
          <a:p>
            <a:pPr marL="0" indent="0">
              <a:lnSpc>
                <a:spcPct val="115000"/>
              </a:lnSpc>
              <a:buNone/>
            </a:pPr>
            <a:r>
              <a:rPr lang="en-US" dirty="0">
                <a:solidFill>
                  <a:srgbClr val="AAB2BD"/>
                </a:solidFill>
                <a:latin typeface="Calibri" pitchFamily="34" charset="0"/>
                <a:ea typeface="Calibri" pitchFamily="34" charset="-122"/>
                <a:cs typeface="Calibri" pitchFamily="34" charset="-120"/>
              </a:rPr>
              <a:t>An engineer's and product-builder's guide to two-legged combos, atomic execution, and how a spread that costs less than nothing still makes money.</a:t>
            </a:r>
            <a:endParaRPr lang="en-US" dirty="0"/>
          </a:p>
        </p:txBody>
      </p:sp>
      <p:sp>
        <p:nvSpPr>
          <p:cNvPr id="9" name="chip">
            <a:extLst>
              <a:ext uri="{C183D7F6-B498-43B3-948B-1728B52AA6E4}">
                <adec:decorative xmlns:adec="http://schemas.microsoft.com/office/drawing/2017/decorative" val="1"/>
              </a:ext>
            </a:extLst>
          </p:cNvPr>
          <p:cNvSpPr/>
          <p:nvPr/>
        </p:nvSpPr>
        <p:spPr>
          <a:xfrm>
            <a:off x="1024128" y="5623560"/>
            <a:ext cx="2651760" cy="457200"/>
          </a:xfrm>
          <a:prstGeom prst="roundRect">
            <a:avLst>
              <a:gd name="adj" fmla="val 14000"/>
            </a:avLst>
          </a:prstGeom>
          <a:solidFill>
            <a:srgbClr val="1F252D"/>
          </a:solidFill>
          <a:ln/>
        </p:spPr>
        <p:txBody>
          <a:bodyPr/>
          <a:lstStyle/>
          <a:p>
            <a:endParaRPr lang="en-SE" sz="2800"/>
          </a:p>
        </p:txBody>
      </p:sp>
      <p:sp>
        <p:nvSpPr>
          <p:cNvPr id="10" name="Text 8"/>
          <p:cNvSpPr/>
          <p:nvPr/>
        </p:nvSpPr>
        <p:spPr>
          <a:xfrm>
            <a:off x="1024128" y="5623560"/>
            <a:ext cx="2651760" cy="457200"/>
          </a:xfrm>
          <a:prstGeom prst="rect">
            <a:avLst/>
          </a:prstGeom>
          <a:noFill/>
          <a:ln/>
        </p:spPr>
        <p:txBody>
          <a:bodyPr wrap="square" lIns="762" tIns="762" rIns="762" bIns="762" rtlCol="0" anchor="ctr"/>
          <a:lstStyle/>
          <a:p>
            <a:pPr marL="0" indent="0" algn="ctr">
              <a:buNone/>
            </a:pPr>
            <a:r>
              <a:rPr lang="en-US" b="1" dirty="0">
                <a:solidFill>
                  <a:srgbClr val="E7EBF0"/>
                </a:solidFill>
                <a:latin typeface="Calibri" pitchFamily="34" charset="0"/>
                <a:ea typeface="Calibri" pitchFamily="34" charset="-122"/>
                <a:cs typeface="Calibri" pitchFamily="34" charset="-120"/>
              </a:rPr>
              <a:t>Level: Beginner</a:t>
            </a:r>
            <a:endParaRPr lang="en-US" dirty="0"/>
          </a:p>
        </p:txBody>
      </p:sp>
      <p:sp>
        <p:nvSpPr>
          <p:cNvPr id="11" name="chip">
            <a:extLst>
              <a:ext uri="{C183D7F6-B498-43B3-948B-1728B52AA6E4}">
                <adec:decorative xmlns:adec="http://schemas.microsoft.com/office/drawing/2017/decorative" val="1"/>
              </a:ext>
            </a:extLst>
          </p:cNvPr>
          <p:cNvSpPr/>
          <p:nvPr/>
        </p:nvSpPr>
        <p:spPr>
          <a:xfrm>
            <a:off x="3794760" y="5623560"/>
            <a:ext cx="3383280" cy="457200"/>
          </a:xfrm>
          <a:prstGeom prst="roundRect">
            <a:avLst>
              <a:gd name="adj" fmla="val 14000"/>
            </a:avLst>
          </a:prstGeom>
          <a:solidFill>
            <a:srgbClr val="1F252D"/>
          </a:solidFill>
          <a:ln/>
        </p:spPr>
        <p:txBody>
          <a:bodyPr/>
          <a:lstStyle/>
          <a:p>
            <a:endParaRPr lang="en-SE" sz="2800"/>
          </a:p>
        </p:txBody>
      </p:sp>
      <p:sp>
        <p:nvSpPr>
          <p:cNvPr id="12" name="Text 10"/>
          <p:cNvSpPr/>
          <p:nvPr/>
        </p:nvSpPr>
        <p:spPr>
          <a:xfrm>
            <a:off x="3794760" y="5623560"/>
            <a:ext cx="3383280" cy="457200"/>
          </a:xfrm>
          <a:prstGeom prst="rect">
            <a:avLst/>
          </a:prstGeom>
          <a:noFill/>
          <a:ln/>
        </p:spPr>
        <p:txBody>
          <a:bodyPr wrap="square" lIns="762" tIns="762" rIns="762" bIns="762" rtlCol="0" anchor="ctr"/>
          <a:lstStyle/>
          <a:p>
            <a:pPr marL="0" indent="0" algn="ctr">
              <a:buNone/>
            </a:pPr>
            <a:r>
              <a:rPr lang="en-US" sz="1600" b="1" dirty="0">
                <a:solidFill>
                  <a:srgbClr val="34D399"/>
                </a:solidFill>
                <a:latin typeface="Calibri" pitchFamily="34" charset="0"/>
                <a:ea typeface="Calibri" pitchFamily="34" charset="-122"/>
                <a:cs typeface="Calibri" pitchFamily="34" charset="-120"/>
              </a:rPr>
              <a:t>Worked example: Crude Mar–Jun</a:t>
            </a:r>
            <a:endParaRPr lang="en-US" sz="1600" dirty="0"/>
          </a:p>
        </p:txBody>
      </p:sp>
      <p:sp>
        <p:nvSpPr>
          <p:cNvPr id="13" name="chip">
            <a:extLst>
              <a:ext uri="{C183D7F6-B498-43B3-948B-1728B52AA6E4}">
                <adec:decorative xmlns:adec="http://schemas.microsoft.com/office/drawing/2017/decorative" val="1"/>
              </a:ext>
            </a:extLst>
          </p:cNvPr>
          <p:cNvSpPr/>
          <p:nvPr/>
        </p:nvSpPr>
        <p:spPr>
          <a:xfrm>
            <a:off x="7315200" y="5623560"/>
            <a:ext cx="2377440" cy="457200"/>
          </a:xfrm>
          <a:prstGeom prst="roundRect">
            <a:avLst>
              <a:gd name="adj" fmla="val 14000"/>
            </a:avLst>
          </a:prstGeom>
          <a:solidFill>
            <a:srgbClr val="1F252D"/>
          </a:solidFill>
          <a:ln/>
        </p:spPr>
        <p:txBody>
          <a:bodyPr/>
          <a:lstStyle/>
          <a:p>
            <a:endParaRPr lang="en-SE" sz="2800"/>
          </a:p>
        </p:txBody>
      </p:sp>
      <p:sp>
        <p:nvSpPr>
          <p:cNvPr id="14" name="Text 12"/>
          <p:cNvSpPr/>
          <p:nvPr/>
        </p:nvSpPr>
        <p:spPr>
          <a:xfrm>
            <a:off x="7315200" y="5623560"/>
            <a:ext cx="2377440" cy="457200"/>
          </a:xfrm>
          <a:prstGeom prst="rect">
            <a:avLst/>
          </a:prstGeom>
          <a:noFill/>
          <a:ln/>
        </p:spPr>
        <p:txBody>
          <a:bodyPr wrap="square" lIns="762" tIns="762" rIns="762" bIns="762" rtlCol="0" anchor="ctr"/>
          <a:lstStyle/>
          <a:p>
            <a:pPr marL="0" indent="0" algn="ctr">
              <a:buNone/>
            </a:pPr>
            <a:r>
              <a:rPr lang="en-US" b="1" dirty="0">
                <a:solidFill>
                  <a:srgbClr val="E7EBF0"/>
                </a:solidFill>
                <a:latin typeface="Calibri" pitchFamily="34" charset="0"/>
                <a:ea typeface="Calibri" pitchFamily="34" charset="-122"/>
                <a:cs typeface="Calibri" pitchFamily="34" charset="-120"/>
              </a:rPr>
              <a:t>~45 minutes</a:t>
            </a:r>
            <a:endParaRPr lang="en-US" dirty="0"/>
          </a:p>
        </p:txBody>
      </p:sp>
      <p:sp>
        <p:nvSpPr>
          <p:cNvPr id="15" name="TextBox 14">
            <a:extLst>
              <a:ext uri="{FF2B5EF4-FFF2-40B4-BE49-F238E27FC236}">
                <a16:creationId xmlns:a16="http://schemas.microsoft.com/office/drawing/2014/main" id="{FC1B28B8-3F48-67EC-0327-04FEC08B8778}"/>
              </a:ext>
            </a:extLst>
          </p:cNvPr>
          <p:cNvSpPr txBox="1"/>
          <p:nvPr/>
        </p:nvSpPr>
        <p:spPr>
          <a:xfrm>
            <a:off x="10315851" y="6294268"/>
            <a:ext cx="1704513" cy="369332"/>
          </a:xfrm>
          <a:prstGeom prst="rect">
            <a:avLst/>
          </a:prstGeom>
          <a:noFill/>
        </p:spPr>
        <p:txBody>
          <a:bodyPr wrap="square" rtlCol="0">
            <a:spAutoFit/>
          </a:bodyPr>
          <a:lstStyle/>
          <a:p>
            <a:r>
              <a:rPr lang="en-SE" i="1" dirty="0">
                <a:solidFill>
                  <a:schemeClr val="bg1">
                    <a:lumMod val="50000"/>
                  </a:schemeClr>
                </a:solidFill>
              </a:rPr>
              <a:t>J. Persson,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How to read this deck">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How to read this deck</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ORIENTATION</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dirty="0">
                <a:solidFill>
                  <a:srgbClr val="737D8A"/>
                </a:solidFill>
                <a:latin typeface="Consolas" pitchFamily="34" charset="0"/>
                <a:ea typeface="Consolas" pitchFamily="34" charset="-122"/>
                <a:cs typeface="Consolas" pitchFamily="34" charset="-120"/>
              </a:rPr>
              <a:t>2</a:t>
            </a:r>
            <a:endParaRPr lang="en-US" sz="1000" dirty="0"/>
          </a:p>
        </p:txBody>
      </p:sp>
      <p:sp>
        <p:nvSpPr>
          <p:cNvPr id="7" name="Text 5"/>
          <p:cNvSpPr/>
          <p:nvPr/>
        </p:nvSpPr>
        <p:spPr>
          <a:xfrm>
            <a:off x="640080" y="1417320"/>
            <a:ext cx="10881360" cy="457200"/>
          </a:xfrm>
          <a:prstGeom prst="rect">
            <a:avLst/>
          </a:prstGeom>
          <a:noFill/>
          <a:ln/>
        </p:spPr>
        <p:txBody>
          <a:bodyPr wrap="square" lIns="0" tIns="0" rIns="0" bIns="0" rtlCol="0" anchor="ctr"/>
          <a:lstStyle/>
          <a:p>
            <a:pPr marL="0" indent="0">
              <a:buNone/>
            </a:pPr>
            <a:r>
              <a:rPr lang="en-US" sz="1500" dirty="0">
                <a:solidFill>
                  <a:srgbClr val="AAB2BD"/>
                </a:solidFill>
                <a:latin typeface="Calibri" pitchFamily="34" charset="0"/>
                <a:ea typeface="Calibri" pitchFamily="34" charset="-122"/>
                <a:cs typeface="Calibri" pitchFamily="34" charset="-120"/>
              </a:rPr>
              <a:t>We build one idea at a time and keep re-using a single running example so nothing appears from nowhere.</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057400"/>
            <a:ext cx="5367528" cy="1645920"/>
          </a:xfrm>
          <a:prstGeom prst="roundRect">
            <a:avLst>
              <a:gd name="adj" fmla="val 50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9" name="bullet">
            <a:extLst>
              <a:ext uri="{C183D7F6-B498-43B3-948B-1728B52AA6E4}">
                <adec:decorative xmlns:adec="http://schemas.microsoft.com/office/drawing/2017/decorative" val="1"/>
              </a:ext>
            </a:extLst>
          </p:cNvPr>
          <p:cNvSpPr/>
          <p:nvPr/>
        </p:nvSpPr>
        <p:spPr>
          <a:xfrm>
            <a:off x="941832" y="2404872"/>
            <a:ext cx="402336" cy="402336"/>
          </a:xfrm>
          <a:prstGeom prst="ellipse">
            <a:avLst/>
          </a:prstGeom>
          <a:solidFill>
            <a:srgbClr val="34D399"/>
          </a:solidFill>
          <a:ln/>
        </p:spPr>
        <p:txBody>
          <a:bodyPr/>
          <a:lstStyle/>
          <a:p>
            <a:endParaRPr lang="en-SE"/>
          </a:p>
        </p:txBody>
      </p:sp>
      <p:sp>
        <p:nvSpPr>
          <p:cNvPr id="10" name="Text 8"/>
          <p:cNvSpPr/>
          <p:nvPr/>
        </p:nvSpPr>
        <p:spPr>
          <a:xfrm>
            <a:off x="941832" y="2404872"/>
            <a:ext cx="402336" cy="402336"/>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1</a:t>
            </a:r>
            <a:endParaRPr lang="en-US" sz="1400" dirty="0"/>
          </a:p>
        </p:txBody>
      </p:sp>
      <p:sp>
        <p:nvSpPr>
          <p:cNvPr id="11" name="Text 9"/>
          <p:cNvSpPr/>
          <p:nvPr/>
        </p:nvSpPr>
        <p:spPr>
          <a:xfrm>
            <a:off x="1554480" y="2313432"/>
            <a:ext cx="4297680" cy="457200"/>
          </a:xfrm>
          <a:prstGeom prst="rect">
            <a:avLst/>
          </a:prstGeom>
          <a:noFill/>
          <a:ln/>
        </p:spPr>
        <p:txBody>
          <a:bodyPr wrap="square" lIns="0" tIns="0" rIns="0" bIns="0" rtlCol="0" anchor="ctr"/>
          <a:lstStyle/>
          <a:p>
            <a:pPr marL="0" indent="0">
              <a:buNone/>
            </a:pPr>
            <a:r>
              <a:rPr lang="en-US" sz="1550" b="1" dirty="0">
                <a:solidFill>
                  <a:srgbClr val="E7EBF0"/>
                </a:solidFill>
                <a:latin typeface="Trebuchet MS" pitchFamily="34" charset="0"/>
                <a:ea typeface="Trebuchet MS" pitchFamily="34" charset="-122"/>
                <a:cs typeface="Trebuchet MS" pitchFamily="34" charset="-120"/>
              </a:rPr>
              <a:t>One example, all the way</a:t>
            </a:r>
            <a:endParaRPr lang="en-US" sz="1550" dirty="0"/>
          </a:p>
        </p:txBody>
      </p:sp>
      <p:sp>
        <p:nvSpPr>
          <p:cNvPr id="12" name="Text 10"/>
          <p:cNvSpPr/>
          <p:nvPr/>
        </p:nvSpPr>
        <p:spPr>
          <a:xfrm>
            <a:off x="1554480" y="2807208"/>
            <a:ext cx="4297680" cy="777240"/>
          </a:xfrm>
          <a:prstGeom prst="rect">
            <a:avLst/>
          </a:prstGeom>
          <a:noFill/>
          <a:ln/>
        </p:spPr>
        <p:txBody>
          <a:bodyPr wrap="square" lIns="0" tIns="0" rIns="0" bIns="0" rtlCol="0" anchor="ctr"/>
          <a:lstStyle/>
          <a:p>
            <a:pPr marL="0" indent="0">
              <a:lnSpc>
                <a:spcPct val="108000"/>
              </a:lnSpc>
              <a:buNone/>
            </a:pPr>
            <a:r>
              <a:rPr lang="en-US" sz="1250" dirty="0">
                <a:solidFill>
                  <a:srgbClr val="AAB2BD"/>
                </a:solidFill>
                <a:latin typeface="Calibri" pitchFamily="34" charset="0"/>
                <a:ea typeface="Calibri" pitchFamily="34" charset="-122"/>
                <a:cs typeface="Calibri" pitchFamily="34" charset="-120"/>
              </a:rPr>
              <a:t>A WTI Crude March–June spread carries every idea — from first order to final cash.</a:t>
            </a:r>
            <a:endParaRPr lang="en-US" sz="1250" dirty="0"/>
          </a:p>
        </p:txBody>
      </p:sp>
      <p:sp>
        <p:nvSpPr>
          <p:cNvPr id="13" name="panel">
            <a:extLst>
              <a:ext uri="{C183D7F6-B498-43B3-948B-1728B52AA6E4}">
                <adec:decorative xmlns:adec="http://schemas.microsoft.com/office/drawing/2017/decorative" val="1"/>
              </a:ext>
            </a:extLst>
          </p:cNvPr>
          <p:cNvSpPr/>
          <p:nvPr/>
        </p:nvSpPr>
        <p:spPr>
          <a:xfrm>
            <a:off x="6181344" y="2057400"/>
            <a:ext cx="5367528" cy="1645920"/>
          </a:xfrm>
          <a:prstGeom prst="roundRect">
            <a:avLst>
              <a:gd name="adj" fmla="val 50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14" name="bullet">
            <a:extLst>
              <a:ext uri="{C183D7F6-B498-43B3-948B-1728B52AA6E4}">
                <adec:decorative xmlns:adec="http://schemas.microsoft.com/office/drawing/2017/decorative" val="1"/>
              </a:ext>
            </a:extLst>
          </p:cNvPr>
          <p:cNvSpPr/>
          <p:nvPr/>
        </p:nvSpPr>
        <p:spPr>
          <a:xfrm>
            <a:off x="6483096" y="2404872"/>
            <a:ext cx="402336" cy="402336"/>
          </a:xfrm>
          <a:prstGeom prst="ellipse">
            <a:avLst/>
          </a:prstGeom>
          <a:solidFill>
            <a:srgbClr val="6EA8E6"/>
          </a:solidFill>
          <a:ln/>
        </p:spPr>
        <p:txBody>
          <a:bodyPr/>
          <a:lstStyle/>
          <a:p>
            <a:endParaRPr lang="en-SE"/>
          </a:p>
        </p:txBody>
      </p:sp>
      <p:sp>
        <p:nvSpPr>
          <p:cNvPr id="15" name="Text 13"/>
          <p:cNvSpPr/>
          <p:nvPr/>
        </p:nvSpPr>
        <p:spPr>
          <a:xfrm>
            <a:off x="6483096" y="2404872"/>
            <a:ext cx="402336" cy="402336"/>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2</a:t>
            </a:r>
            <a:endParaRPr lang="en-US" sz="1400" dirty="0"/>
          </a:p>
        </p:txBody>
      </p:sp>
      <p:sp>
        <p:nvSpPr>
          <p:cNvPr id="16" name="Text 14"/>
          <p:cNvSpPr/>
          <p:nvPr/>
        </p:nvSpPr>
        <p:spPr>
          <a:xfrm>
            <a:off x="7095744" y="2313432"/>
            <a:ext cx="4297680" cy="457200"/>
          </a:xfrm>
          <a:prstGeom prst="rect">
            <a:avLst/>
          </a:prstGeom>
          <a:noFill/>
          <a:ln/>
        </p:spPr>
        <p:txBody>
          <a:bodyPr wrap="square" lIns="0" tIns="0" rIns="0" bIns="0" rtlCol="0" anchor="ctr"/>
          <a:lstStyle/>
          <a:p>
            <a:pPr marL="0" indent="0">
              <a:buNone/>
            </a:pPr>
            <a:r>
              <a:rPr lang="en-US" sz="1550" b="1" dirty="0">
                <a:solidFill>
                  <a:srgbClr val="E7EBF0"/>
                </a:solidFill>
                <a:latin typeface="Trebuchet MS" pitchFamily="34" charset="0"/>
                <a:ea typeface="Trebuchet MS" pitchFamily="34" charset="-122"/>
                <a:cs typeface="Trebuchet MS" pitchFamily="34" charset="-120"/>
              </a:rPr>
              <a:t>Cash, not abstraction</a:t>
            </a:r>
            <a:endParaRPr lang="en-US" sz="1550" dirty="0"/>
          </a:p>
        </p:txBody>
      </p:sp>
      <p:sp>
        <p:nvSpPr>
          <p:cNvPr id="17" name="Text 15"/>
          <p:cNvSpPr/>
          <p:nvPr/>
        </p:nvSpPr>
        <p:spPr>
          <a:xfrm>
            <a:off x="7095744" y="2807208"/>
            <a:ext cx="4297680" cy="777240"/>
          </a:xfrm>
          <a:prstGeom prst="rect">
            <a:avLst/>
          </a:prstGeom>
          <a:noFill/>
          <a:ln/>
        </p:spPr>
        <p:txBody>
          <a:bodyPr wrap="square" lIns="0" tIns="0" rIns="0" bIns="0" rtlCol="0" anchor="ctr"/>
          <a:lstStyle/>
          <a:p>
            <a:pPr marL="0" indent="0">
              <a:lnSpc>
                <a:spcPct val="108000"/>
              </a:lnSpc>
              <a:buNone/>
            </a:pPr>
            <a:r>
              <a:rPr lang="en-US" sz="1250" dirty="0">
                <a:solidFill>
                  <a:srgbClr val="AAB2BD"/>
                </a:solidFill>
                <a:latin typeface="Calibri" pitchFamily="34" charset="0"/>
                <a:ea typeface="Calibri" pitchFamily="34" charset="-122"/>
                <a:cs typeface="Calibri" pitchFamily="34" charset="-120"/>
              </a:rPr>
              <a:t>For each step we show the actual dollars that move in and out of your account.</a:t>
            </a:r>
            <a:endParaRPr lang="en-US" sz="1250" dirty="0"/>
          </a:p>
        </p:txBody>
      </p:sp>
      <p:sp>
        <p:nvSpPr>
          <p:cNvPr id="18" name="panel">
            <a:extLst>
              <a:ext uri="{C183D7F6-B498-43B3-948B-1728B52AA6E4}">
                <adec:decorative xmlns:adec="http://schemas.microsoft.com/office/drawing/2017/decorative" val="1"/>
              </a:ext>
            </a:extLst>
          </p:cNvPr>
          <p:cNvSpPr/>
          <p:nvPr/>
        </p:nvSpPr>
        <p:spPr>
          <a:xfrm>
            <a:off x="640080" y="3886200"/>
            <a:ext cx="5367528" cy="1645920"/>
          </a:xfrm>
          <a:prstGeom prst="roundRect">
            <a:avLst>
              <a:gd name="adj" fmla="val 50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19" name="bullet">
            <a:extLst>
              <a:ext uri="{C183D7F6-B498-43B3-948B-1728B52AA6E4}">
                <adec:decorative xmlns:adec="http://schemas.microsoft.com/office/drawing/2017/decorative" val="1"/>
              </a:ext>
            </a:extLst>
          </p:cNvPr>
          <p:cNvSpPr/>
          <p:nvPr/>
        </p:nvSpPr>
        <p:spPr>
          <a:xfrm>
            <a:off x="941832" y="4233672"/>
            <a:ext cx="402336" cy="402336"/>
          </a:xfrm>
          <a:prstGeom prst="ellipse">
            <a:avLst/>
          </a:prstGeom>
          <a:solidFill>
            <a:srgbClr val="F5B759"/>
          </a:solidFill>
          <a:ln/>
        </p:spPr>
        <p:txBody>
          <a:bodyPr/>
          <a:lstStyle/>
          <a:p>
            <a:endParaRPr lang="en-SE"/>
          </a:p>
        </p:txBody>
      </p:sp>
      <p:sp>
        <p:nvSpPr>
          <p:cNvPr id="20" name="Text 18"/>
          <p:cNvSpPr/>
          <p:nvPr/>
        </p:nvSpPr>
        <p:spPr>
          <a:xfrm>
            <a:off x="941832" y="4233672"/>
            <a:ext cx="402336" cy="402336"/>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3</a:t>
            </a:r>
            <a:endParaRPr lang="en-US" sz="1400" dirty="0"/>
          </a:p>
        </p:txBody>
      </p:sp>
      <p:sp>
        <p:nvSpPr>
          <p:cNvPr id="21" name="Text 19"/>
          <p:cNvSpPr/>
          <p:nvPr/>
        </p:nvSpPr>
        <p:spPr>
          <a:xfrm>
            <a:off x="1554480" y="4142232"/>
            <a:ext cx="4297680" cy="457200"/>
          </a:xfrm>
          <a:prstGeom prst="rect">
            <a:avLst/>
          </a:prstGeom>
          <a:noFill/>
          <a:ln/>
        </p:spPr>
        <p:txBody>
          <a:bodyPr wrap="square" lIns="0" tIns="0" rIns="0" bIns="0" rtlCol="0" anchor="ctr"/>
          <a:lstStyle/>
          <a:p>
            <a:pPr marL="0" indent="0">
              <a:buNone/>
            </a:pPr>
            <a:r>
              <a:rPr lang="en-US" sz="1550" b="1" dirty="0">
                <a:solidFill>
                  <a:srgbClr val="E7EBF0"/>
                </a:solidFill>
                <a:latin typeface="Trebuchet MS" pitchFamily="34" charset="0"/>
                <a:ea typeface="Trebuchet MS" pitchFamily="34" charset="-122"/>
                <a:cs typeface="Trebuchet MS" pitchFamily="34" charset="-120"/>
              </a:rPr>
              <a:t>Few words, more pictures</a:t>
            </a:r>
            <a:endParaRPr lang="en-US" sz="1550" dirty="0"/>
          </a:p>
        </p:txBody>
      </p:sp>
      <p:sp>
        <p:nvSpPr>
          <p:cNvPr id="22" name="Text 20"/>
          <p:cNvSpPr/>
          <p:nvPr/>
        </p:nvSpPr>
        <p:spPr>
          <a:xfrm>
            <a:off x="1554480" y="4636008"/>
            <a:ext cx="4297680" cy="777240"/>
          </a:xfrm>
          <a:prstGeom prst="rect">
            <a:avLst/>
          </a:prstGeom>
          <a:noFill/>
          <a:ln/>
        </p:spPr>
        <p:txBody>
          <a:bodyPr wrap="square" lIns="0" tIns="0" rIns="0" bIns="0" rtlCol="0" anchor="ctr"/>
          <a:lstStyle/>
          <a:p>
            <a:pPr marL="0" indent="0">
              <a:lnSpc>
                <a:spcPct val="108000"/>
              </a:lnSpc>
              <a:buNone/>
            </a:pPr>
            <a:r>
              <a:rPr lang="en-US" sz="1250" dirty="0">
                <a:solidFill>
                  <a:srgbClr val="AAB2BD"/>
                </a:solidFill>
                <a:latin typeface="Calibri" pitchFamily="34" charset="0"/>
                <a:ea typeface="Calibri" pitchFamily="34" charset="-122"/>
                <a:cs typeface="Calibri" pitchFamily="34" charset="-120"/>
              </a:rPr>
              <a:t>Each slide has a purpose-built diagram instead of a wall of bullet points.</a:t>
            </a:r>
            <a:endParaRPr lang="en-US" sz="1250" dirty="0"/>
          </a:p>
        </p:txBody>
      </p:sp>
      <p:sp>
        <p:nvSpPr>
          <p:cNvPr id="23" name="panel">
            <a:extLst>
              <a:ext uri="{C183D7F6-B498-43B3-948B-1728B52AA6E4}">
                <adec:decorative xmlns:adec="http://schemas.microsoft.com/office/drawing/2017/decorative" val="1"/>
              </a:ext>
            </a:extLst>
          </p:cNvPr>
          <p:cNvSpPr/>
          <p:nvPr/>
        </p:nvSpPr>
        <p:spPr>
          <a:xfrm>
            <a:off x="6181344" y="3886200"/>
            <a:ext cx="5367528" cy="1645920"/>
          </a:xfrm>
          <a:prstGeom prst="roundRect">
            <a:avLst>
              <a:gd name="adj" fmla="val 50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24" name="bullet">
            <a:extLst>
              <a:ext uri="{C183D7F6-B498-43B3-948B-1728B52AA6E4}">
                <adec:decorative xmlns:adec="http://schemas.microsoft.com/office/drawing/2017/decorative" val="1"/>
              </a:ext>
            </a:extLst>
          </p:cNvPr>
          <p:cNvSpPr/>
          <p:nvPr/>
        </p:nvSpPr>
        <p:spPr>
          <a:xfrm>
            <a:off x="6483096" y="4233672"/>
            <a:ext cx="402336" cy="402336"/>
          </a:xfrm>
          <a:prstGeom prst="ellipse">
            <a:avLst/>
          </a:prstGeom>
          <a:solidFill>
            <a:srgbClr val="34D399"/>
          </a:solidFill>
          <a:ln/>
        </p:spPr>
        <p:txBody>
          <a:bodyPr/>
          <a:lstStyle/>
          <a:p>
            <a:endParaRPr lang="en-SE"/>
          </a:p>
        </p:txBody>
      </p:sp>
      <p:sp>
        <p:nvSpPr>
          <p:cNvPr id="25" name="Text 23"/>
          <p:cNvSpPr/>
          <p:nvPr/>
        </p:nvSpPr>
        <p:spPr>
          <a:xfrm>
            <a:off x="6483096" y="4233672"/>
            <a:ext cx="402336" cy="402336"/>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4</a:t>
            </a:r>
            <a:endParaRPr lang="en-US" sz="1400" dirty="0"/>
          </a:p>
        </p:txBody>
      </p:sp>
      <p:sp>
        <p:nvSpPr>
          <p:cNvPr id="26" name="Text 24"/>
          <p:cNvSpPr/>
          <p:nvPr/>
        </p:nvSpPr>
        <p:spPr>
          <a:xfrm>
            <a:off x="7095744" y="4142232"/>
            <a:ext cx="4297680" cy="457200"/>
          </a:xfrm>
          <a:prstGeom prst="rect">
            <a:avLst/>
          </a:prstGeom>
          <a:noFill/>
          <a:ln/>
        </p:spPr>
        <p:txBody>
          <a:bodyPr wrap="square" lIns="0" tIns="0" rIns="0" bIns="0" rtlCol="0" anchor="ctr"/>
          <a:lstStyle/>
          <a:p>
            <a:pPr marL="0" indent="0">
              <a:buNone/>
            </a:pPr>
            <a:r>
              <a:rPr lang="en-US" sz="1550" b="1" dirty="0">
                <a:solidFill>
                  <a:srgbClr val="E7EBF0"/>
                </a:solidFill>
                <a:latin typeface="Trebuchet MS" pitchFamily="34" charset="0"/>
                <a:ea typeface="Trebuchet MS" pitchFamily="34" charset="-122"/>
                <a:cs typeface="Trebuchet MS" pitchFamily="34" charset="-120"/>
              </a:rPr>
              <a:t>Beginner assumptions</a:t>
            </a:r>
            <a:endParaRPr lang="en-US" sz="1550" dirty="0"/>
          </a:p>
        </p:txBody>
      </p:sp>
      <p:sp>
        <p:nvSpPr>
          <p:cNvPr id="27" name="Text 25"/>
          <p:cNvSpPr/>
          <p:nvPr/>
        </p:nvSpPr>
        <p:spPr>
          <a:xfrm>
            <a:off x="7095744" y="4636008"/>
            <a:ext cx="4297680" cy="777240"/>
          </a:xfrm>
          <a:prstGeom prst="rect">
            <a:avLst/>
          </a:prstGeom>
          <a:noFill/>
          <a:ln/>
        </p:spPr>
        <p:txBody>
          <a:bodyPr wrap="square" lIns="0" tIns="0" rIns="0" bIns="0" rtlCol="0" anchor="ctr"/>
          <a:lstStyle/>
          <a:p>
            <a:pPr marL="0" indent="0">
              <a:lnSpc>
                <a:spcPct val="108000"/>
              </a:lnSpc>
              <a:buNone/>
            </a:pPr>
            <a:r>
              <a:rPr lang="en-US" sz="1250" dirty="0">
                <a:solidFill>
                  <a:srgbClr val="AAB2BD"/>
                </a:solidFill>
                <a:latin typeface="Calibri" pitchFamily="34" charset="0"/>
                <a:ea typeface="Calibri" pitchFamily="34" charset="-122"/>
                <a:cs typeface="Calibri" pitchFamily="34" charset="-120"/>
              </a:rPr>
              <a:t>We assume the platform guarantees both legs fill together. Why that matters comes first.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Why buy and sell at the same time?">
    <p:spTree>
      <p:nvGrpSpPr>
        <p:cNvPr id="1" name=""/>
        <p:cNvGrpSpPr/>
        <p:nvPr/>
      </p:nvGrpSpPr>
      <p:grpSpPr>
        <a:xfrm>
          <a:off x="0" y="0"/>
          <a:ext cx="0" cy="0"/>
          <a:chOff x="0" y="0"/>
          <a:chExt cx="0" cy="0"/>
        </a:xfrm>
      </p:grpSpPr>
      <p:sp>
        <p:nvSpPr>
          <p:cNvPr id="2" name="tag"/>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a:solidFill>
                  <a:srgbClr val="34D399"/>
                </a:solidFill>
                <a:latin typeface="Trebuchet MS" pitchFamily="34" charset="0"/>
                <a:ea typeface="Trebuchet MS" pitchFamily="34" charset="-122"/>
                <a:cs typeface="Trebuchet MS" pitchFamily="34" charset="-120"/>
              </a:rPr>
              <a:t>FIRST PRINCIPLES</a:t>
            </a:r>
            <a:endParaRPr lang="en-US"/>
          </a:p>
        </p:txBody>
      </p:sp>
      <p:sp>
        <p:nvSpPr>
          <p:cNvPr id="3"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4" name="footer"/>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a:solidFill>
                  <a:srgbClr val="737D8A"/>
                </a:solidFill>
                <a:latin typeface="Trebuchet MS" pitchFamily="34" charset="0"/>
                <a:ea typeface="Trebuchet MS" pitchFamily="34" charset="-122"/>
                <a:cs typeface="Trebuchet MS" pitchFamily="34" charset="-120"/>
              </a:rPr>
              <a:t>Combo Orders with Futures</a:t>
            </a:r>
            <a:endParaRPr lang="en-US"/>
          </a:p>
        </p:txBody>
      </p:sp>
      <p:sp>
        <p:nvSpPr>
          <p:cNvPr id="5" name="pagenum"/>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a:t>
            </a:r>
            <a:endParaRPr lang="en-US"/>
          </a:p>
        </p:txBody>
      </p:sp>
      <p:sp>
        <p:nvSpPr>
          <p:cNvPr id="6" name="title"/>
          <p:cNvSpPr/>
          <p:nvPr/>
        </p:nvSpPr>
        <p:spPr>
          <a:xfrm>
            <a:off x="640080" y="603504"/>
            <a:ext cx="10972800" cy="822960"/>
          </a:xfrm>
          <a:prstGeom prst="rect">
            <a:avLst/>
          </a:prstGeom>
          <a:noFill/>
          <a:ln/>
        </p:spPr>
        <p:txBody>
          <a:bodyPr wrap="square" lIns="0" tIns="0" rIns="0" bIns="0" rtlCol="0" anchor="ctr"/>
          <a:lstStyle/>
          <a:p>
            <a:pPr marL="0" indent="0">
              <a:buNone/>
            </a:pPr>
            <a:r>
              <a:rPr lang="en-US" sz="2500" b="1">
                <a:solidFill>
                  <a:srgbClr val="E7EBF0"/>
                </a:solidFill>
                <a:latin typeface="Trebuchet MS" pitchFamily="34" charset="0"/>
                <a:ea typeface="Trebuchet MS" pitchFamily="34" charset="-122"/>
                <a:cs typeface="Trebuchet MS" pitchFamily="34" charset="-120"/>
              </a:rPr>
              <a:t>Why buy and sell at the same time?</a:t>
            </a:r>
            <a:endParaRPr lang="en-US"/>
          </a:p>
        </p:txBody>
      </p:sp>
      <p:sp>
        <p:nvSpPr>
          <p:cNvPr id="7" name="intro"/>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dirty="0">
                <a:solidFill>
                  <a:srgbClr val="AAB2BD"/>
                </a:solidFill>
                <a:latin typeface="Calibri" pitchFamily="34" charset="0"/>
                <a:ea typeface="Calibri" pitchFamily="34" charset="-122"/>
                <a:cs typeface="Calibri" pitchFamily="34" charset="-120"/>
              </a:rPr>
              <a:t>Before any mechanics, the obvious question: </a:t>
            </a:r>
            <a:r>
              <a:rPr lang="en-US" i="1" dirty="0">
                <a:solidFill>
                  <a:srgbClr val="AAB2BD"/>
                </a:solidFill>
                <a:latin typeface="Calibri" pitchFamily="34" charset="0"/>
                <a:ea typeface="Calibri" pitchFamily="34" charset="-122"/>
                <a:cs typeface="Calibri" pitchFamily="34" charset="-120"/>
              </a:rPr>
              <a:t>why would anyone deliberately buy one thing and sell another at the very same moment? Because sometimes your view isn't ‘up’ or ‘down.’</a:t>
            </a:r>
            <a:endParaRPr lang="en-US" sz="2400" i="1" dirty="0"/>
          </a:p>
        </p:txBody>
      </p:sp>
      <p:grpSp>
        <p:nvGrpSpPr>
          <p:cNvPr id="23" name="Group 22">
            <a:extLst>
              <a:ext uri="{FF2B5EF4-FFF2-40B4-BE49-F238E27FC236}">
                <a16:creationId xmlns:a16="http://schemas.microsoft.com/office/drawing/2014/main" id="{E3113B1B-83AA-BECB-9F2E-56FF461DDAE3}"/>
              </a:ext>
            </a:extLst>
          </p:cNvPr>
          <p:cNvGrpSpPr/>
          <p:nvPr/>
        </p:nvGrpSpPr>
        <p:grpSpPr>
          <a:xfrm>
            <a:off x="640080" y="2130000"/>
            <a:ext cx="10908792" cy="1150000"/>
            <a:chOff x="640080" y="2130000"/>
            <a:chExt cx="10908792" cy="1150000"/>
          </a:xfrm>
        </p:grpSpPr>
        <p:sp>
          <p:nvSpPr>
            <p:cNvPr id="8" name="panel">
              <a:extLst>
                <a:ext uri="{C183D7F6-B498-43B3-948B-1728B52AA6E4}">
                  <adec:decorative xmlns:adec="http://schemas.microsoft.com/office/drawing/2017/decorative" val="1"/>
                </a:ext>
              </a:extLst>
            </p:cNvPr>
            <p:cNvSpPr/>
            <p:nvPr/>
          </p:nvSpPr>
          <p:spPr>
            <a:xfrm>
              <a:off x="640080" y="2130000"/>
              <a:ext cx="10908792" cy="1150000"/>
            </a:xfrm>
            <a:prstGeom prst="roundRect">
              <a:avLst>
                <a:gd name="adj" fmla="val 2951"/>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p:cNvSpPr/>
            <p:nvPr/>
          </p:nvSpPr>
          <p:spPr>
            <a:xfrm>
              <a:off x="868680" y="2250000"/>
              <a:ext cx="10400000" cy="520000"/>
            </a:xfrm>
            <a:prstGeom prst="rect">
              <a:avLst/>
            </a:prstGeom>
            <a:noFill/>
            <a:ln/>
          </p:spPr>
          <p:txBody>
            <a:bodyPr wrap="square" lIns="0" tIns="0" rIns="0" bIns="0" rtlCol="0" anchor="ctr"/>
            <a:lstStyle/>
            <a:p>
              <a:pPr marL="0" indent="0">
                <a:buNone/>
              </a:pPr>
              <a:r>
                <a:rPr lang="en-US" sz="2000" b="1">
                  <a:solidFill>
                    <a:srgbClr val="E7EBF0"/>
                  </a:solidFill>
                  <a:latin typeface="Trebuchet MS" pitchFamily="34" charset="0"/>
                  <a:ea typeface="Trebuchet MS" pitchFamily="34" charset="-122"/>
                  <a:cs typeface="Trebuchet MS" pitchFamily="34" charset="-120"/>
                </a:rPr>
                <a:t>Your bet is on the gap between two prices — not on the market's direction.</a:t>
              </a:r>
              <a:endParaRPr lang="en-US"/>
            </a:p>
          </p:txBody>
        </p:sp>
        <p:sp>
          <p:nvSpPr>
            <p:cNvPr id="10" name="Text"/>
            <p:cNvSpPr/>
            <p:nvPr/>
          </p:nvSpPr>
          <p:spPr>
            <a:xfrm>
              <a:off x="868680" y="2790000"/>
              <a:ext cx="10400000" cy="380000"/>
            </a:xfrm>
            <a:prstGeom prst="rect">
              <a:avLst/>
            </a:prstGeom>
            <a:noFill/>
            <a:ln/>
          </p:spPr>
          <p:txBody>
            <a:bodyPr wrap="square" lIns="0" tIns="0" rIns="0" bIns="0" rtlCol="0" anchor="ctr"/>
            <a:lstStyle/>
            <a:p>
              <a:pPr marL="0" indent="0">
                <a:buNone/>
              </a:pPr>
              <a:r>
                <a:rPr lang="en-US" sz="1600" dirty="0">
                  <a:solidFill>
                    <a:srgbClr val="AAB2BD"/>
                  </a:solidFill>
                  <a:latin typeface="Calibri" pitchFamily="34" charset="0"/>
                  <a:ea typeface="Calibri" pitchFamily="34" charset="-122"/>
                  <a:cs typeface="Calibri" pitchFamily="34" charset="-120"/>
                </a:rPr>
                <a:t>Buy one contract and sell a related one, and the shared market move cancels out — leaving only the relationship you actually care about.</a:t>
              </a:r>
              <a:endParaRPr lang="en-US" sz="2400" dirty="0"/>
            </a:p>
          </p:txBody>
        </p:sp>
      </p:grpSp>
      <p:grpSp>
        <p:nvGrpSpPr>
          <p:cNvPr id="24" name="Group 23">
            <a:extLst>
              <a:ext uri="{FF2B5EF4-FFF2-40B4-BE49-F238E27FC236}">
                <a16:creationId xmlns:a16="http://schemas.microsoft.com/office/drawing/2014/main" id="{2B7B8F40-3A3E-40D8-4D86-FE144236C7BA}"/>
              </a:ext>
            </a:extLst>
          </p:cNvPr>
          <p:cNvGrpSpPr/>
          <p:nvPr/>
        </p:nvGrpSpPr>
        <p:grpSpPr>
          <a:xfrm>
            <a:off x="640080" y="3560000"/>
            <a:ext cx="3474720" cy="1500000"/>
            <a:chOff x="640080" y="3560000"/>
            <a:chExt cx="3474720" cy="1500000"/>
          </a:xfrm>
        </p:grpSpPr>
        <p:sp>
          <p:nvSpPr>
            <p:cNvPr id="11" name="panel">
              <a:extLst>
                <a:ext uri="{C183D7F6-B498-43B3-948B-1728B52AA6E4}">
                  <adec:decorative xmlns:adec="http://schemas.microsoft.com/office/drawing/2017/decorative" val="1"/>
                </a:ext>
              </a:extLst>
            </p:cNvPr>
            <p:cNvSpPr/>
            <p:nvPr/>
          </p:nvSpPr>
          <p:spPr>
            <a:xfrm>
              <a:off x="640080" y="3560000"/>
              <a:ext cx="3474720" cy="1500000"/>
            </a:xfrm>
            <a:prstGeom prst="roundRect">
              <a:avLst>
                <a:gd name="adj" fmla="val 4390"/>
              </a:avLst>
            </a:prstGeom>
            <a:solidFill>
              <a:srgbClr val="1F252D"/>
            </a:solidFill>
            <a:ln w="12700">
              <a:solidFill>
                <a:srgbClr val="343E4A"/>
              </a:solidFill>
              <a:prstDash val="solid"/>
            </a:ln>
          </p:spPr>
          <p:txBody>
            <a:bodyPr/>
            <a:lstStyle/>
            <a:p>
              <a:endParaRPr lang="en-SE"/>
            </a:p>
          </p:txBody>
        </p:sp>
        <p:sp>
          <p:nvSpPr>
            <p:cNvPr id="12" name="Text"/>
            <p:cNvSpPr/>
            <p:nvPr/>
          </p:nvSpPr>
          <p:spPr>
            <a:xfrm>
              <a:off x="868680" y="3740000"/>
              <a:ext cx="3017520" cy="300000"/>
            </a:xfrm>
            <a:prstGeom prst="rect">
              <a:avLst/>
            </a:prstGeom>
            <a:noFill/>
            <a:ln/>
          </p:spPr>
          <p:txBody>
            <a:bodyPr wrap="square" lIns="0" tIns="0" rIns="0" bIns="0" rtlCol="0" anchor="ctr"/>
            <a:lstStyle/>
            <a:p>
              <a:pPr marL="0" indent="0">
                <a:buNone/>
              </a:pPr>
              <a:r>
                <a:rPr lang="en-US" sz="1400" b="1" kern="0" spc="100" dirty="0">
                  <a:solidFill>
                    <a:srgbClr val="34D399"/>
                  </a:solidFill>
                  <a:latin typeface="Trebuchet MS" pitchFamily="34" charset="0"/>
                  <a:ea typeface="Trebuchet MS" pitchFamily="34" charset="-122"/>
                  <a:cs typeface="Trebuchet MS" pitchFamily="34" charset="-120"/>
                </a:rPr>
                <a:t>NO CRYSTAL BALL</a:t>
              </a:r>
              <a:endParaRPr lang="en-US" sz="2400" dirty="0"/>
            </a:p>
          </p:txBody>
        </p:sp>
        <p:sp>
          <p:nvSpPr>
            <p:cNvPr id="13" name="Text"/>
            <p:cNvSpPr/>
            <p:nvPr/>
          </p:nvSpPr>
          <p:spPr>
            <a:xfrm>
              <a:off x="868680" y="4090000"/>
              <a:ext cx="3017520" cy="900000"/>
            </a:xfrm>
            <a:prstGeom prst="rect">
              <a:avLst/>
            </a:prstGeom>
            <a:noFill/>
            <a:ln/>
          </p:spPr>
          <p:txBody>
            <a:bodyPr wrap="square" lIns="0" tIns="0" rIns="0" bIns="0" rtlCol="0" anchor="ctr"/>
            <a:lstStyle/>
            <a:p>
              <a:pPr marL="0" indent="0">
                <a:lnSpc>
                  <a:spcPct val="115000"/>
                </a:lnSpc>
                <a:buNone/>
              </a:pPr>
              <a:r>
                <a:rPr lang="en-US" sz="1400" dirty="0">
                  <a:solidFill>
                    <a:srgbClr val="AAB2BD"/>
                  </a:solidFill>
                  <a:latin typeface="Calibri" pitchFamily="34" charset="0"/>
                  <a:ea typeface="Calibri" pitchFamily="34" charset="-122"/>
                  <a:cs typeface="Calibri" pitchFamily="34" charset="-120"/>
                </a:rPr>
                <a:t>You don't have to predict whether the whole market rises or falls.</a:t>
              </a:r>
              <a:endParaRPr lang="en-US" sz="2000" dirty="0"/>
            </a:p>
          </p:txBody>
        </p:sp>
      </p:grpSp>
      <p:grpSp>
        <p:nvGrpSpPr>
          <p:cNvPr id="25" name="Group 24">
            <a:extLst>
              <a:ext uri="{FF2B5EF4-FFF2-40B4-BE49-F238E27FC236}">
                <a16:creationId xmlns:a16="http://schemas.microsoft.com/office/drawing/2014/main" id="{C37D3632-7B2B-29D2-8ADA-7073279689DF}"/>
              </a:ext>
            </a:extLst>
          </p:cNvPr>
          <p:cNvGrpSpPr/>
          <p:nvPr/>
        </p:nvGrpSpPr>
        <p:grpSpPr>
          <a:xfrm>
            <a:off x="4343400" y="3560000"/>
            <a:ext cx="3474720" cy="1500000"/>
            <a:chOff x="4343400" y="3560000"/>
            <a:chExt cx="3474720" cy="1500000"/>
          </a:xfrm>
        </p:grpSpPr>
        <p:sp>
          <p:nvSpPr>
            <p:cNvPr id="14" name="panel">
              <a:extLst>
                <a:ext uri="{C183D7F6-B498-43B3-948B-1728B52AA6E4}">
                  <adec:decorative xmlns:adec="http://schemas.microsoft.com/office/drawing/2017/decorative" val="1"/>
                </a:ext>
              </a:extLst>
            </p:cNvPr>
            <p:cNvSpPr/>
            <p:nvPr/>
          </p:nvSpPr>
          <p:spPr>
            <a:xfrm>
              <a:off x="4343400" y="3560000"/>
              <a:ext cx="3474720" cy="1500000"/>
            </a:xfrm>
            <a:prstGeom prst="roundRect">
              <a:avLst>
                <a:gd name="adj" fmla="val 4390"/>
              </a:avLst>
            </a:prstGeom>
            <a:solidFill>
              <a:srgbClr val="1F252D"/>
            </a:solidFill>
            <a:ln w="12700">
              <a:solidFill>
                <a:srgbClr val="343E4A"/>
              </a:solidFill>
              <a:prstDash val="solid"/>
            </a:ln>
          </p:spPr>
          <p:txBody>
            <a:bodyPr/>
            <a:lstStyle/>
            <a:p>
              <a:endParaRPr lang="en-SE"/>
            </a:p>
          </p:txBody>
        </p:sp>
        <p:sp>
          <p:nvSpPr>
            <p:cNvPr id="15" name="Text"/>
            <p:cNvSpPr/>
            <p:nvPr/>
          </p:nvSpPr>
          <p:spPr>
            <a:xfrm>
              <a:off x="4572000" y="3740000"/>
              <a:ext cx="3017520" cy="300000"/>
            </a:xfrm>
            <a:prstGeom prst="rect">
              <a:avLst/>
            </a:prstGeom>
            <a:noFill/>
            <a:ln/>
          </p:spPr>
          <p:txBody>
            <a:bodyPr wrap="square" lIns="0" tIns="0" rIns="0" bIns="0" rtlCol="0" anchor="ctr"/>
            <a:lstStyle/>
            <a:p>
              <a:pPr marL="0" indent="0">
                <a:buNone/>
              </a:pPr>
              <a:r>
                <a:rPr lang="en-US" sz="1400" b="1" kern="0" spc="100">
                  <a:solidFill>
                    <a:srgbClr val="34D399"/>
                  </a:solidFill>
                  <a:latin typeface="Trebuchet MS" pitchFamily="34" charset="0"/>
                  <a:ea typeface="Trebuchet MS" pitchFamily="34" charset="-122"/>
                  <a:cs typeface="Trebuchet MS" pitchFamily="34" charset="-120"/>
                </a:rPr>
                <a:t>RISKS CANCEL</a:t>
              </a:r>
              <a:endParaRPr lang="en-US" sz="2400"/>
            </a:p>
          </p:txBody>
        </p:sp>
        <p:sp>
          <p:nvSpPr>
            <p:cNvPr id="16" name="Text"/>
            <p:cNvSpPr/>
            <p:nvPr/>
          </p:nvSpPr>
          <p:spPr>
            <a:xfrm>
              <a:off x="4572000" y="4090000"/>
              <a:ext cx="3017520" cy="900000"/>
            </a:xfrm>
            <a:prstGeom prst="rect">
              <a:avLst/>
            </a:prstGeom>
            <a:noFill/>
            <a:ln/>
          </p:spPr>
          <p:txBody>
            <a:bodyPr wrap="square" lIns="0" tIns="0" rIns="0" bIns="0" rtlCol="0" anchor="ctr"/>
            <a:lstStyle/>
            <a:p>
              <a:pPr marL="0" indent="0">
                <a:lnSpc>
                  <a:spcPct val="115000"/>
                </a:lnSpc>
                <a:buNone/>
              </a:pPr>
              <a:r>
                <a:rPr lang="en-US" sz="1400">
                  <a:solidFill>
                    <a:srgbClr val="AAB2BD"/>
                  </a:solidFill>
                  <a:latin typeface="Calibri" pitchFamily="34" charset="0"/>
                  <a:ea typeface="Calibri" pitchFamily="34" charset="-122"/>
                  <a:cs typeface="Calibri" pitchFamily="34" charset="-120"/>
                </a:rPr>
                <a:t>If both legs move together, the shared part nets to roughly zero.</a:t>
              </a:r>
              <a:endParaRPr lang="en-US" sz="2000"/>
            </a:p>
          </p:txBody>
        </p:sp>
      </p:grpSp>
      <p:grpSp>
        <p:nvGrpSpPr>
          <p:cNvPr id="26" name="Group 25">
            <a:extLst>
              <a:ext uri="{FF2B5EF4-FFF2-40B4-BE49-F238E27FC236}">
                <a16:creationId xmlns:a16="http://schemas.microsoft.com/office/drawing/2014/main" id="{BDBC81BD-2B56-DA0F-F55D-8915B99E066E}"/>
              </a:ext>
            </a:extLst>
          </p:cNvPr>
          <p:cNvGrpSpPr/>
          <p:nvPr/>
        </p:nvGrpSpPr>
        <p:grpSpPr>
          <a:xfrm>
            <a:off x="8046720" y="3560000"/>
            <a:ext cx="3474720" cy="1500000"/>
            <a:chOff x="8046720" y="3560000"/>
            <a:chExt cx="3474720" cy="1500000"/>
          </a:xfrm>
        </p:grpSpPr>
        <p:sp>
          <p:nvSpPr>
            <p:cNvPr id="17" name="panel">
              <a:extLst>
                <a:ext uri="{C183D7F6-B498-43B3-948B-1728B52AA6E4}">
                  <adec:decorative xmlns:adec="http://schemas.microsoft.com/office/drawing/2017/decorative" val="1"/>
                </a:ext>
              </a:extLst>
            </p:cNvPr>
            <p:cNvSpPr/>
            <p:nvPr/>
          </p:nvSpPr>
          <p:spPr>
            <a:xfrm>
              <a:off x="8046720" y="3560000"/>
              <a:ext cx="3474720" cy="1500000"/>
            </a:xfrm>
            <a:prstGeom prst="roundRect">
              <a:avLst>
                <a:gd name="adj" fmla="val 4390"/>
              </a:avLst>
            </a:prstGeom>
            <a:solidFill>
              <a:srgbClr val="1F252D"/>
            </a:solidFill>
            <a:ln w="12700">
              <a:solidFill>
                <a:srgbClr val="343E4A"/>
              </a:solidFill>
              <a:prstDash val="solid"/>
            </a:ln>
          </p:spPr>
          <p:txBody>
            <a:bodyPr/>
            <a:lstStyle/>
            <a:p>
              <a:endParaRPr lang="en-SE"/>
            </a:p>
          </p:txBody>
        </p:sp>
        <p:sp>
          <p:nvSpPr>
            <p:cNvPr id="18" name="Text"/>
            <p:cNvSpPr/>
            <p:nvPr/>
          </p:nvSpPr>
          <p:spPr>
            <a:xfrm>
              <a:off x="8275320" y="3740000"/>
              <a:ext cx="3017520" cy="300000"/>
            </a:xfrm>
            <a:prstGeom prst="rect">
              <a:avLst/>
            </a:prstGeom>
            <a:noFill/>
            <a:ln/>
          </p:spPr>
          <p:txBody>
            <a:bodyPr wrap="square" lIns="0" tIns="0" rIns="0" bIns="0" rtlCol="0" anchor="ctr"/>
            <a:lstStyle/>
            <a:p>
              <a:pPr marL="0" indent="0">
                <a:buNone/>
              </a:pPr>
              <a:r>
                <a:rPr lang="en-US" sz="1400" b="1" kern="0" spc="100">
                  <a:solidFill>
                    <a:srgbClr val="34D399"/>
                  </a:solidFill>
                  <a:latin typeface="Trebuchet MS" pitchFamily="34" charset="0"/>
                  <a:ea typeface="Trebuchet MS" pitchFamily="34" charset="-122"/>
                  <a:cs typeface="Trebuchet MS" pitchFamily="34" charset="-120"/>
                </a:rPr>
                <a:t>ONLY THE GAP</a:t>
              </a:r>
              <a:endParaRPr lang="en-US" sz="2400"/>
            </a:p>
          </p:txBody>
        </p:sp>
        <p:sp>
          <p:nvSpPr>
            <p:cNvPr id="19" name="Text"/>
            <p:cNvSpPr/>
            <p:nvPr/>
          </p:nvSpPr>
          <p:spPr>
            <a:xfrm>
              <a:off x="8275320" y="4090000"/>
              <a:ext cx="3017520" cy="900000"/>
            </a:xfrm>
            <a:prstGeom prst="rect">
              <a:avLst/>
            </a:prstGeom>
            <a:noFill/>
            <a:ln/>
          </p:spPr>
          <p:txBody>
            <a:bodyPr wrap="square" lIns="0" tIns="0" rIns="0" bIns="0" rtlCol="0" anchor="ctr"/>
            <a:lstStyle/>
            <a:p>
              <a:pPr marL="0" indent="0">
                <a:lnSpc>
                  <a:spcPct val="115000"/>
                </a:lnSpc>
                <a:buNone/>
              </a:pPr>
              <a:r>
                <a:rPr lang="en-US" sz="1400">
                  <a:solidFill>
                    <a:srgbClr val="AAB2BD"/>
                  </a:solidFill>
                  <a:latin typeface="Calibri" pitchFamily="34" charset="0"/>
                  <a:ea typeface="Calibri" pitchFamily="34" charset="-122"/>
                  <a:cs typeface="Calibri" pitchFamily="34" charset="-120"/>
                </a:rPr>
                <a:t>Your profit depends purely on how the two prices move relative to each other.</a:t>
              </a:r>
              <a:endParaRPr lang="en-US" sz="2000"/>
            </a:p>
          </p:txBody>
        </p:sp>
      </p:grpSp>
      <p:grpSp>
        <p:nvGrpSpPr>
          <p:cNvPr id="27" name="Group 26">
            <a:extLst>
              <a:ext uri="{FF2B5EF4-FFF2-40B4-BE49-F238E27FC236}">
                <a16:creationId xmlns:a16="http://schemas.microsoft.com/office/drawing/2014/main" id="{4A03EA27-3436-3197-193B-BA9BCE8478CB}"/>
              </a:ext>
            </a:extLst>
          </p:cNvPr>
          <p:cNvGrpSpPr/>
          <p:nvPr/>
        </p:nvGrpSpPr>
        <p:grpSpPr>
          <a:xfrm>
            <a:off x="385555" y="5729043"/>
            <a:ext cx="11643047" cy="457200"/>
            <a:chOff x="385555" y="5870448"/>
            <a:chExt cx="11643047" cy="457200"/>
          </a:xfrm>
        </p:grpSpPr>
        <p:sp>
          <p:nvSpPr>
            <p:cNvPr id="20" name="panel">
              <a:extLst>
                <a:ext uri="{C183D7F6-B498-43B3-948B-1728B52AA6E4}">
                  <adec:decorative xmlns:adec="http://schemas.microsoft.com/office/drawing/2017/decorative" val="1"/>
                </a:ext>
              </a:extLst>
            </p:cNvPr>
            <p:cNvSpPr/>
            <p:nvPr/>
          </p:nvSpPr>
          <p:spPr>
            <a:xfrm>
              <a:off x="385555" y="5870448"/>
              <a:ext cx="11643047"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1" name="key accent">
              <a:extLst>
                <a:ext uri="{C183D7F6-B498-43B3-948B-1728B52AA6E4}">
                  <adec:decorative xmlns:adec="http://schemas.microsoft.com/office/drawing/2017/decorative" val="1"/>
                </a:ext>
              </a:extLst>
            </p:cNvPr>
            <p:cNvSpPr/>
            <p:nvPr/>
          </p:nvSpPr>
          <p:spPr>
            <a:xfrm>
              <a:off x="385556" y="5870448"/>
              <a:ext cx="82296" cy="457200"/>
            </a:xfrm>
            <a:prstGeom prst="rect">
              <a:avLst/>
            </a:prstGeom>
            <a:solidFill>
              <a:srgbClr val="34D399"/>
            </a:solidFill>
            <a:ln/>
          </p:spPr>
          <p:txBody>
            <a:bodyPr/>
            <a:lstStyle/>
            <a:p>
              <a:endParaRPr lang="en-SE"/>
            </a:p>
          </p:txBody>
        </p:sp>
        <p:sp>
          <p:nvSpPr>
            <p:cNvPr id="22" name="Text"/>
            <p:cNvSpPr/>
            <p:nvPr/>
          </p:nvSpPr>
          <p:spPr>
            <a:xfrm>
              <a:off x="527900" y="5870448"/>
              <a:ext cx="11312166" cy="457200"/>
            </a:xfrm>
            <a:prstGeom prst="rect">
              <a:avLst/>
            </a:prstGeom>
            <a:noFill/>
            <a:ln/>
          </p:spPr>
          <p:txBody>
            <a:bodyPr wrap="square" lIns="0" tIns="0" rIns="0" bIns="0" rtlCol="0" anchor="ctr"/>
            <a:lstStyle/>
            <a:p>
              <a:pPr marL="0" indent="0">
                <a:buNone/>
              </a:pPr>
              <a:r>
                <a:rPr lang="en-US" sz="1100" b="1" kern="0" spc="200" dirty="0">
                  <a:solidFill>
                    <a:srgbClr val="34D399"/>
                  </a:solidFill>
                  <a:latin typeface="Trebuchet MS" pitchFamily="34" charset="0"/>
                  <a:ea typeface="Trebuchet MS" pitchFamily="34" charset="-122"/>
                  <a:cs typeface="Trebuchet MS" pitchFamily="34" charset="-120"/>
                </a:rPr>
                <a:t>KEY IDEA   </a:t>
              </a:r>
              <a:r>
                <a:rPr lang="en-US" sz="1600" dirty="0">
                  <a:solidFill>
                    <a:srgbClr val="E7EBF0"/>
                  </a:solidFill>
                  <a:latin typeface="Calibri" pitchFamily="34" charset="0"/>
                  <a:ea typeface="Calibri" pitchFamily="34" charset="-122"/>
                  <a:cs typeface="Calibri" pitchFamily="34" charset="-120"/>
                </a:rPr>
                <a:t>A combined buy-and-sell lets you bet on the relationship between two prices while staying neutral on the </a:t>
              </a:r>
              <a:r>
                <a:rPr lang="en-US" sz="1600" b="1" dirty="0">
                  <a:solidFill>
                    <a:srgbClr val="E7EBF0"/>
                  </a:solidFill>
                  <a:latin typeface="Calibri" pitchFamily="34" charset="0"/>
                  <a:ea typeface="Calibri" pitchFamily="34" charset="-122"/>
                  <a:cs typeface="Calibri" pitchFamily="34" charset="-120"/>
                </a:rPr>
                <a:t>market as a whole</a:t>
              </a:r>
              <a:r>
                <a:rPr lang="en-US" sz="1600" dirty="0">
                  <a:solidFill>
                    <a:srgbClr val="E7EBF0"/>
                  </a:solidFill>
                  <a:latin typeface="Calibri" pitchFamily="34" charset="0"/>
                  <a:ea typeface="Calibri" pitchFamily="34" charset="-122"/>
                  <a:cs typeface="Calibri" pitchFamily="34" charset="-120"/>
                </a:rPr>
                <a:t>.</a:t>
              </a:r>
              <a:endParaRPr lang="en-US" sz="24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dissolv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dissolv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Does this happen with ordinary shares too?">
    <p:spTree>
      <p:nvGrpSpPr>
        <p:cNvPr id="1" name=""/>
        <p:cNvGrpSpPr/>
        <p:nvPr/>
      </p:nvGrpSpPr>
      <p:grpSpPr>
        <a:xfrm>
          <a:off x="0" y="0"/>
          <a:ext cx="0" cy="0"/>
          <a:chOff x="0" y="0"/>
          <a:chExt cx="0" cy="0"/>
        </a:xfrm>
      </p:grpSpPr>
      <p:sp>
        <p:nvSpPr>
          <p:cNvPr id="2" name="tag"/>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a:solidFill>
                  <a:srgbClr val="34D399"/>
                </a:solidFill>
                <a:latin typeface="Trebuchet MS" pitchFamily="34" charset="0"/>
                <a:ea typeface="Trebuchet MS" pitchFamily="34" charset="-122"/>
                <a:cs typeface="Trebuchet MS" pitchFamily="34" charset="-120"/>
              </a:rPr>
              <a:t>FIRST PRINCIPLES</a:t>
            </a:r>
            <a:endParaRPr lang="en-US"/>
          </a:p>
        </p:txBody>
      </p:sp>
      <p:sp>
        <p:nvSpPr>
          <p:cNvPr id="3"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4" name="footer"/>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a:solidFill>
                  <a:srgbClr val="737D8A"/>
                </a:solidFill>
                <a:latin typeface="Trebuchet MS" pitchFamily="34" charset="0"/>
                <a:ea typeface="Trebuchet MS" pitchFamily="34" charset="-122"/>
                <a:cs typeface="Trebuchet MS" pitchFamily="34" charset="-120"/>
              </a:rPr>
              <a:t>Combo Orders with Futures</a:t>
            </a:r>
            <a:endParaRPr lang="en-US"/>
          </a:p>
        </p:txBody>
      </p:sp>
      <p:sp>
        <p:nvSpPr>
          <p:cNvPr id="5" name="pagenum"/>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4</a:t>
            </a:r>
            <a:endParaRPr lang="en-US"/>
          </a:p>
        </p:txBody>
      </p:sp>
      <p:sp>
        <p:nvSpPr>
          <p:cNvPr id="6" name="title"/>
          <p:cNvSpPr/>
          <p:nvPr/>
        </p:nvSpPr>
        <p:spPr>
          <a:xfrm>
            <a:off x="640080" y="603504"/>
            <a:ext cx="10972800" cy="822960"/>
          </a:xfrm>
          <a:prstGeom prst="rect">
            <a:avLst/>
          </a:prstGeom>
          <a:noFill/>
          <a:ln/>
        </p:spPr>
        <p:txBody>
          <a:bodyPr wrap="square" lIns="0" tIns="0" rIns="0" bIns="0" rtlCol="0" anchor="ctr"/>
          <a:lstStyle/>
          <a:p>
            <a:pPr marL="0" indent="0">
              <a:buNone/>
            </a:pPr>
            <a:r>
              <a:rPr lang="en-US" sz="2500" b="1">
                <a:solidFill>
                  <a:srgbClr val="E7EBF0"/>
                </a:solidFill>
                <a:latin typeface="Trebuchet MS" pitchFamily="34" charset="0"/>
                <a:ea typeface="Trebuchet MS" pitchFamily="34" charset="-122"/>
                <a:cs typeface="Trebuchet MS" pitchFamily="34" charset="-120"/>
              </a:rPr>
              <a:t>Does this happen with ordinary shares too?</a:t>
            </a:r>
            <a:endParaRPr lang="en-US"/>
          </a:p>
        </p:txBody>
      </p:sp>
      <p:sp>
        <p:nvSpPr>
          <p:cNvPr id="7" name="intro"/>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a:solidFill>
                  <a:srgbClr val="AAB2BD"/>
                </a:solidFill>
                <a:latin typeface="Calibri" pitchFamily="34" charset="0"/>
                <a:ea typeface="Calibri" pitchFamily="34" charset="-122"/>
                <a:cs typeface="Calibri" pitchFamily="34" charset="-120"/>
              </a:rPr>
              <a:t>The idea isn't unique to oil, or even to futures — investors pair trades in stocks all the time. But futures are where it feels natural, because selling is just as easy as buying.</a:t>
            </a:r>
            <a:endParaRPr lang="en-US"/>
          </a:p>
        </p:txBody>
      </p:sp>
      <p:sp>
        <p:nvSpPr>
          <p:cNvPr id="8" name="panel">
            <a:extLst>
              <a:ext uri="{C183D7F6-B498-43B3-948B-1728B52AA6E4}">
                <adec:decorative xmlns:adec="http://schemas.microsoft.com/office/drawing/2017/decorative" val="1"/>
              </a:ext>
            </a:extLst>
          </p:cNvPr>
          <p:cNvSpPr/>
          <p:nvPr/>
        </p:nvSpPr>
        <p:spPr>
          <a:xfrm>
            <a:off x="640080" y="2194560"/>
            <a:ext cx="5303520" cy="2788920"/>
          </a:xfrm>
          <a:prstGeom prst="roundRect">
            <a:avLst>
              <a:gd name="adj" fmla="val 2951"/>
            </a:avLst>
          </a:prstGeom>
          <a:solidFill>
            <a:srgbClr val="1F252D"/>
          </a:solidFill>
          <a:ln w="12700">
            <a:solidFill>
              <a:srgbClr val="343E4A"/>
            </a:solidFill>
            <a:prstDash val="solid"/>
          </a:ln>
        </p:spPr>
        <p:txBody>
          <a:bodyPr/>
          <a:lstStyle/>
          <a:p>
            <a:endParaRPr lang="en-SE"/>
          </a:p>
        </p:txBody>
      </p:sp>
      <p:sp>
        <p:nvSpPr>
          <p:cNvPr id="9" name="Text"/>
          <p:cNvSpPr/>
          <p:nvPr/>
        </p:nvSpPr>
        <p:spPr>
          <a:xfrm>
            <a:off x="868680" y="2377440"/>
            <a:ext cx="4846320" cy="274320"/>
          </a:xfrm>
          <a:prstGeom prst="rect">
            <a:avLst/>
          </a:prstGeom>
          <a:noFill/>
          <a:ln/>
        </p:spPr>
        <p:txBody>
          <a:bodyPr wrap="square" lIns="0" tIns="0" rIns="0" bIns="0" rtlCol="0" anchor="ctr"/>
          <a:lstStyle/>
          <a:p>
            <a:pPr marL="0" indent="0">
              <a:buNone/>
            </a:pPr>
            <a:r>
              <a:rPr lang="en-US" sz="1200" b="1" kern="0" spc="100">
                <a:solidFill>
                  <a:srgbClr val="6EA8E6"/>
                </a:solidFill>
                <a:latin typeface="Trebuchet MS" pitchFamily="34" charset="0"/>
                <a:ea typeface="Trebuchet MS" pitchFamily="34" charset="-122"/>
                <a:cs typeface="Trebuchet MS" pitchFamily="34" charset="-120"/>
              </a:rPr>
              <a:t>ORDINARY SHARES</a:t>
            </a:r>
            <a:endParaRPr lang="en-US"/>
          </a:p>
        </p:txBody>
      </p:sp>
      <p:sp>
        <p:nvSpPr>
          <p:cNvPr id="10" name="Text"/>
          <p:cNvSpPr/>
          <p:nvPr/>
        </p:nvSpPr>
        <p:spPr>
          <a:xfrm>
            <a:off x="868680" y="2697480"/>
            <a:ext cx="4846320" cy="41148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Yes, but it's clunky</a:t>
            </a:r>
            <a:endParaRPr lang="en-US"/>
          </a:p>
        </p:txBody>
      </p:sp>
      <p:sp>
        <p:nvSpPr>
          <p:cNvPr id="11" name="Text"/>
          <p:cNvSpPr/>
          <p:nvPr/>
        </p:nvSpPr>
        <p:spPr>
          <a:xfrm>
            <a:off x="868680" y="3200400"/>
            <a:ext cx="4846320" cy="731520"/>
          </a:xfrm>
          <a:prstGeom prst="rect">
            <a:avLst/>
          </a:prstGeom>
          <a:noFill/>
          <a:ln/>
        </p:spPr>
        <p:txBody>
          <a:bodyPr wrap="square" lIns="0" tIns="0" rIns="0" bIns="0" rtlCol="0" anchor="ctr"/>
          <a:lstStyle/>
          <a:p>
            <a:pPr marL="0" indent="0">
              <a:lnSpc>
                <a:spcPct val="115000"/>
              </a:lnSpc>
              <a:buNone/>
            </a:pPr>
            <a:r>
              <a:rPr lang="en-US" sz="1600" dirty="0">
                <a:solidFill>
                  <a:srgbClr val="AAB2BD"/>
                </a:solidFill>
                <a:latin typeface="Calibri" pitchFamily="34" charset="0"/>
                <a:ea typeface="Calibri" pitchFamily="34" charset="-122"/>
                <a:cs typeface="Calibri" pitchFamily="34" charset="-120"/>
              </a:rPr>
              <a:t>Investors do buy one stock and short another — ‘pairs trading.’ But to short a share you must first borrow it: find a lender, pay a fee, and risk being forced to return it early.</a:t>
            </a:r>
            <a:endParaRPr lang="en-US" sz="2400" dirty="0"/>
          </a:p>
        </p:txBody>
      </p:sp>
      <p:sp>
        <p:nvSpPr>
          <p:cNvPr id="12" name="Text"/>
          <p:cNvSpPr/>
          <p:nvPr/>
        </p:nvSpPr>
        <p:spPr>
          <a:xfrm>
            <a:off x="868680" y="4160520"/>
            <a:ext cx="4846320" cy="640080"/>
          </a:xfrm>
          <a:prstGeom prst="rect">
            <a:avLst/>
          </a:prstGeom>
          <a:noFill/>
          <a:ln/>
        </p:spPr>
        <p:txBody>
          <a:bodyPr wrap="square" lIns="0" tIns="0" rIns="0" bIns="0" rtlCol="0" anchor="ctr"/>
          <a:lstStyle/>
          <a:p>
            <a:pPr marL="0" indent="0">
              <a:lnSpc>
                <a:spcPct val="110000"/>
              </a:lnSpc>
              <a:buNone/>
            </a:pPr>
            <a:r>
              <a:rPr lang="en-US" i="1" dirty="0">
                <a:solidFill>
                  <a:srgbClr val="F5B759"/>
                </a:solidFill>
                <a:latin typeface="Calibri" pitchFamily="34" charset="0"/>
                <a:ea typeface="Calibri" pitchFamily="34" charset="-122"/>
                <a:cs typeface="Calibri" pitchFamily="34" charset="-120"/>
              </a:rPr>
              <a:t>Selling is harder than buying.</a:t>
            </a:r>
            <a:endParaRPr lang="en-US" sz="2800" dirty="0"/>
          </a:p>
        </p:txBody>
      </p:sp>
      <p:sp>
        <p:nvSpPr>
          <p:cNvPr id="13" name="panel">
            <a:extLst>
              <a:ext uri="{C183D7F6-B498-43B3-948B-1728B52AA6E4}">
                <adec:decorative xmlns:adec="http://schemas.microsoft.com/office/drawing/2017/decorative" val="1"/>
              </a:ext>
            </a:extLst>
          </p:cNvPr>
          <p:cNvSpPr/>
          <p:nvPr/>
        </p:nvSpPr>
        <p:spPr>
          <a:xfrm>
            <a:off x="6245352" y="2194560"/>
            <a:ext cx="5303520" cy="2788920"/>
          </a:xfrm>
          <a:prstGeom prst="roundRect">
            <a:avLst>
              <a:gd name="adj" fmla="val 2951"/>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14" name="Text"/>
          <p:cNvSpPr/>
          <p:nvPr/>
        </p:nvSpPr>
        <p:spPr>
          <a:xfrm>
            <a:off x="6473952" y="2377440"/>
            <a:ext cx="4846320" cy="274320"/>
          </a:xfrm>
          <a:prstGeom prst="rect">
            <a:avLst/>
          </a:prstGeom>
          <a:noFill/>
          <a:ln/>
        </p:spPr>
        <p:txBody>
          <a:bodyPr wrap="square" lIns="0" tIns="0" rIns="0" bIns="0" rtlCol="0" anchor="ctr"/>
          <a:lstStyle/>
          <a:p>
            <a:pPr marL="0" indent="0">
              <a:buNone/>
            </a:pPr>
            <a:r>
              <a:rPr lang="en-US" sz="1200" b="1" kern="0" spc="100">
                <a:solidFill>
                  <a:srgbClr val="34D399"/>
                </a:solidFill>
                <a:latin typeface="Trebuchet MS" pitchFamily="34" charset="0"/>
                <a:ea typeface="Trebuchet MS" pitchFamily="34" charset="-122"/>
                <a:cs typeface="Trebuchet MS" pitchFamily="34" charset="-120"/>
              </a:rPr>
              <a:t>FUTURES</a:t>
            </a:r>
            <a:endParaRPr lang="en-US"/>
          </a:p>
        </p:txBody>
      </p:sp>
      <p:sp>
        <p:nvSpPr>
          <p:cNvPr id="15" name="Text"/>
          <p:cNvSpPr/>
          <p:nvPr/>
        </p:nvSpPr>
        <p:spPr>
          <a:xfrm>
            <a:off x="6473952" y="2697480"/>
            <a:ext cx="4846320" cy="41148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As easy as buying</a:t>
            </a:r>
            <a:endParaRPr lang="en-US"/>
          </a:p>
        </p:txBody>
      </p:sp>
      <p:sp>
        <p:nvSpPr>
          <p:cNvPr id="16" name="Text"/>
          <p:cNvSpPr/>
          <p:nvPr/>
        </p:nvSpPr>
        <p:spPr>
          <a:xfrm>
            <a:off x="6473952" y="3200400"/>
            <a:ext cx="4846320" cy="731520"/>
          </a:xfrm>
          <a:prstGeom prst="rect">
            <a:avLst/>
          </a:prstGeom>
          <a:noFill/>
          <a:ln/>
        </p:spPr>
        <p:txBody>
          <a:bodyPr wrap="square" lIns="0" tIns="0" rIns="0" bIns="0" rtlCol="0" anchor="ctr"/>
          <a:lstStyle/>
          <a:p>
            <a:pPr marL="0" indent="0">
              <a:lnSpc>
                <a:spcPct val="115000"/>
              </a:lnSpc>
              <a:buNone/>
            </a:pPr>
            <a:r>
              <a:rPr lang="en-US" sz="1600" dirty="0">
                <a:solidFill>
                  <a:srgbClr val="AAB2BD"/>
                </a:solidFill>
                <a:latin typeface="Calibri" pitchFamily="34" charset="0"/>
                <a:ea typeface="Calibri" pitchFamily="34" charset="-122"/>
                <a:cs typeface="Calibri" pitchFamily="34" charset="-120"/>
              </a:rPr>
              <a:t>A futures contract is symmetric. Opening a short is exactly as easy as opening a long — no borrowing, no lender, nothing to locate first.</a:t>
            </a:r>
            <a:endParaRPr lang="en-US" sz="2400" dirty="0"/>
          </a:p>
        </p:txBody>
      </p:sp>
      <p:sp>
        <p:nvSpPr>
          <p:cNvPr id="17" name="Text"/>
          <p:cNvSpPr/>
          <p:nvPr/>
        </p:nvSpPr>
        <p:spPr>
          <a:xfrm>
            <a:off x="6473952" y="4160520"/>
            <a:ext cx="4846320" cy="640080"/>
          </a:xfrm>
          <a:prstGeom prst="rect">
            <a:avLst/>
          </a:prstGeom>
          <a:noFill/>
          <a:ln/>
        </p:spPr>
        <p:txBody>
          <a:bodyPr wrap="square" lIns="0" tIns="0" rIns="0" bIns="0" rtlCol="0" anchor="ctr"/>
          <a:lstStyle/>
          <a:p>
            <a:pPr marL="0" indent="0">
              <a:lnSpc>
                <a:spcPct val="110000"/>
              </a:lnSpc>
              <a:buNone/>
            </a:pPr>
            <a:r>
              <a:rPr lang="en-US" i="1" dirty="0">
                <a:solidFill>
                  <a:srgbClr val="34D399"/>
                </a:solidFill>
                <a:latin typeface="Calibri" pitchFamily="34" charset="0"/>
                <a:ea typeface="Calibri" pitchFamily="34" charset="-122"/>
                <a:cs typeface="Calibri" pitchFamily="34" charset="-120"/>
              </a:rPr>
              <a:t>That symmetry is why combos are a futures thing.</a:t>
            </a:r>
            <a:endParaRPr lang="en-US" sz="2800" dirty="0"/>
          </a:p>
        </p:txBody>
      </p:sp>
      <p:sp>
        <p:nvSpPr>
          <p:cNvPr id="18"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19"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0" name="Text"/>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a:solidFill>
                  <a:srgbClr val="34D399"/>
                </a:solidFill>
                <a:latin typeface="Trebuchet MS" pitchFamily="34" charset="0"/>
                <a:ea typeface="Trebuchet MS" pitchFamily="34" charset="-122"/>
                <a:cs typeface="Trebuchet MS" pitchFamily="34" charset="-120"/>
              </a:rPr>
              <a:t>KEY IDEA   </a:t>
            </a:r>
            <a:r>
              <a:rPr lang="en-US" sz="1300">
                <a:solidFill>
                  <a:srgbClr val="E7EBF0"/>
                </a:solidFill>
                <a:latin typeface="Calibri" pitchFamily="34" charset="0"/>
                <a:ea typeface="Calibri" pitchFamily="34" charset="-122"/>
                <a:cs typeface="Calibri" pitchFamily="34" charset="-120"/>
              </a:rPr>
              <a:t>The concept exists in equities too — but futures make the sell side effortless, which is why combined orders belong to futures.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irst — what actually is a futures contract?">
    <p:spTree>
      <p:nvGrpSpPr>
        <p:cNvPr id="1" name=""/>
        <p:cNvGrpSpPr/>
        <p:nvPr/>
      </p:nvGrpSpPr>
      <p:grpSpPr>
        <a:xfrm>
          <a:off x="0" y="0"/>
          <a:ext cx="0" cy="0"/>
          <a:chOff x="0" y="0"/>
          <a:chExt cx="0" cy="0"/>
        </a:xfrm>
      </p:grpSpPr>
      <p:sp>
        <p:nvSpPr>
          <p:cNvPr id="2" name="tag"/>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a:solidFill>
                  <a:srgbClr val="34D399"/>
                </a:solidFill>
                <a:latin typeface="Trebuchet MS" pitchFamily="34" charset="0"/>
                <a:ea typeface="Trebuchet MS" pitchFamily="34" charset="-122"/>
                <a:cs typeface="Trebuchet MS" pitchFamily="34" charset="-120"/>
              </a:rPr>
              <a:t>FIRST PRINCIPLES</a:t>
            </a:r>
            <a:endParaRPr lang="en-US"/>
          </a:p>
        </p:txBody>
      </p:sp>
      <p:sp>
        <p:nvSpPr>
          <p:cNvPr id="3"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4" name="footer"/>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a:solidFill>
                  <a:srgbClr val="737D8A"/>
                </a:solidFill>
                <a:latin typeface="Trebuchet MS" pitchFamily="34" charset="0"/>
                <a:ea typeface="Trebuchet MS" pitchFamily="34" charset="-122"/>
                <a:cs typeface="Trebuchet MS" pitchFamily="34" charset="-120"/>
              </a:rPr>
              <a:t>Combo Orders with Futures</a:t>
            </a:r>
            <a:endParaRPr lang="en-US"/>
          </a:p>
        </p:txBody>
      </p:sp>
      <p:sp>
        <p:nvSpPr>
          <p:cNvPr id="5" name="pagenum"/>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5</a:t>
            </a:r>
            <a:endParaRPr lang="en-US"/>
          </a:p>
        </p:txBody>
      </p:sp>
      <p:sp>
        <p:nvSpPr>
          <p:cNvPr id="6" name="title"/>
          <p:cNvSpPr/>
          <p:nvPr/>
        </p:nvSpPr>
        <p:spPr>
          <a:xfrm>
            <a:off x="640080" y="603504"/>
            <a:ext cx="10972800" cy="822960"/>
          </a:xfrm>
          <a:prstGeom prst="rect">
            <a:avLst/>
          </a:prstGeom>
          <a:noFill/>
          <a:ln/>
        </p:spPr>
        <p:txBody>
          <a:bodyPr wrap="square" lIns="0" tIns="0" rIns="0" bIns="0" rtlCol="0" anchor="ctr"/>
          <a:lstStyle/>
          <a:p>
            <a:pPr marL="0" indent="0">
              <a:buNone/>
            </a:pPr>
            <a:r>
              <a:rPr lang="en-US" sz="2500" b="1">
                <a:solidFill>
                  <a:srgbClr val="E7EBF0"/>
                </a:solidFill>
                <a:latin typeface="Trebuchet MS" pitchFamily="34" charset="0"/>
                <a:ea typeface="Trebuchet MS" pitchFamily="34" charset="-122"/>
                <a:cs typeface="Trebuchet MS" pitchFamily="34" charset="-120"/>
              </a:rPr>
              <a:t>First — what actually is a futures contract?</a:t>
            </a:r>
            <a:endParaRPr lang="en-US"/>
          </a:p>
        </p:txBody>
      </p:sp>
      <p:sp>
        <p:nvSpPr>
          <p:cNvPr id="7" name="intro"/>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a:solidFill>
                  <a:srgbClr val="AAB2BD"/>
                </a:solidFill>
                <a:latin typeface="Calibri" pitchFamily="34" charset="0"/>
                <a:ea typeface="Calibri" pitchFamily="34" charset="-122"/>
                <a:cs typeface="Calibri" pitchFamily="34" charset="-120"/>
              </a:rPr>
              <a:t>We just said a future is ‘symmetric.’ But that only makes sense once you see what a future really is — and it isn't a barrel of oil, or a thing you own at all.</a:t>
            </a:r>
            <a:endParaRPr lang="en-US"/>
          </a:p>
        </p:txBody>
      </p:sp>
      <p:sp>
        <p:nvSpPr>
          <p:cNvPr id="8" name="panel">
            <a:extLst>
              <a:ext uri="{C183D7F6-B498-43B3-948B-1728B52AA6E4}">
                <adec:decorative xmlns:adec="http://schemas.microsoft.com/office/drawing/2017/decorative" val="1"/>
              </a:ext>
            </a:extLst>
          </p:cNvPr>
          <p:cNvSpPr/>
          <p:nvPr/>
        </p:nvSpPr>
        <p:spPr>
          <a:xfrm>
            <a:off x="640080" y="2130000"/>
            <a:ext cx="10908792" cy="1150000"/>
          </a:xfrm>
          <a:prstGeom prst="roundRect">
            <a:avLst>
              <a:gd name="adj" fmla="val 2951"/>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p:cNvSpPr/>
          <p:nvPr/>
        </p:nvSpPr>
        <p:spPr>
          <a:xfrm>
            <a:off x="868680" y="2250000"/>
            <a:ext cx="10400000" cy="520000"/>
          </a:xfrm>
          <a:prstGeom prst="rect">
            <a:avLst/>
          </a:prstGeom>
          <a:noFill/>
          <a:ln/>
        </p:spPr>
        <p:txBody>
          <a:bodyPr wrap="square" lIns="0" tIns="0" rIns="0" bIns="0" rtlCol="0" anchor="ctr"/>
          <a:lstStyle/>
          <a:p>
            <a:pPr marL="0" indent="0">
              <a:buNone/>
            </a:pPr>
            <a:r>
              <a:rPr lang="en-US" sz="2000" b="1">
                <a:solidFill>
                  <a:srgbClr val="E7EBF0"/>
                </a:solidFill>
                <a:latin typeface="Trebuchet MS" pitchFamily="34" charset="0"/>
                <a:ea typeface="Trebuchet MS" pitchFamily="34" charset="-122"/>
                <a:cs typeface="Trebuchet MS" pitchFamily="34" charset="-120"/>
              </a:rPr>
              <a:t>A futures contract is a promise: agree today to trade a fixed amount at a fixed price on a set future date.</a:t>
            </a:r>
            <a:endParaRPr lang="en-US"/>
          </a:p>
        </p:txBody>
      </p:sp>
      <p:sp>
        <p:nvSpPr>
          <p:cNvPr id="10" name="Text"/>
          <p:cNvSpPr/>
          <p:nvPr/>
        </p:nvSpPr>
        <p:spPr>
          <a:xfrm>
            <a:off x="868680" y="2790000"/>
            <a:ext cx="10400000" cy="380000"/>
          </a:xfrm>
          <a:prstGeom prst="rect">
            <a:avLst/>
          </a:prstGeom>
          <a:noFill/>
          <a:ln/>
        </p:spPr>
        <p:txBody>
          <a:bodyPr wrap="square" lIns="0" tIns="0" rIns="0" bIns="0" rtlCol="0" anchor="ctr"/>
          <a:lstStyle/>
          <a:p>
            <a:pPr marL="0" indent="0">
              <a:buNone/>
            </a:pPr>
            <a:r>
              <a:rPr lang="en-US" sz="1350">
                <a:solidFill>
                  <a:srgbClr val="AAB2BD"/>
                </a:solidFill>
                <a:latin typeface="Calibri" pitchFamily="34" charset="0"/>
                <a:ea typeface="Calibri" pitchFamily="34" charset="-122"/>
                <a:cs typeface="Calibri" pitchFamily="34" charset="-120"/>
              </a:rPr>
              <a:t>No money and no oil change hands now — you are only locking in the terms of a trade that settles later.</a:t>
            </a:r>
            <a:endParaRPr lang="en-US"/>
          </a:p>
        </p:txBody>
      </p:sp>
      <p:sp>
        <p:nvSpPr>
          <p:cNvPr id="11" name="panel">
            <a:extLst>
              <a:ext uri="{C183D7F6-B498-43B3-948B-1728B52AA6E4}">
                <adec:decorative xmlns:adec="http://schemas.microsoft.com/office/drawing/2017/decorative" val="1"/>
              </a:ext>
            </a:extLst>
          </p:cNvPr>
          <p:cNvSpPr/>
          <p:nvPr/>
        </p:nvSpPr>
        <p:spPr>
          <a:xfrm>
            <a:off x="640080" y="3560000"/>
            <a:ext cx="3474720" cy="1500000"/>
          </a:xfrm>
          <a:prstGeom prst="roundRect">
            <a:avLst>
              <a:gd name="adj" fmla="val 4390"/>
            </a:avLst>
          </a:prstGeom>
          <a:solidFill>
            <a:srgbClr val="1F252D"/>
          </a:solidFill>
          <a:ln w="12700">
            <a:solidFill>
              <a:srgbClr val="343E4A"/>
            </a:solidFill>
            <a:prstDash val="solid"/>
          </a:ln>
        </p:spPr>
        <p:txBody>
          <a:bodyPr/>
          <a:lstStyle/>
          <a:p>
            <a:endParaRPr lang="en-SE"/>
          </a:p>
        </p:txBody>
      </p:sp>
      <p:sp>
        <p:nvSpPr>
          <p:cNvPr id="12" name="Text"/>
          <p:cNvSpPr/>
          <p:nvPr/>
        </p:nvSpPr>
        <p:spPr>
          <a:xfrm>
            <a:off x="868680" y="3740000"/>
            <a:ext cx="3017520" cy="300000"/>
          </a:xfrm>
          <a:prstGeom prst="rect">
            <a:avLst/>
          </a:prstGeom>
          <a:noFill/>
          <a:ln/>
        </p:spPr>
        <p:txBody>
          <a:bodyPr wrap="square" lIns="0" tIns="0" rIns="0" bIns="0" rtlCol="0" anchor="ctr"/>
          <a:lstStyle/>
          <a:p>
            <a:pPr marL="0" indent="0">
              <a:buNone/>
            </a:pPr>
            <a:r>
              <a:rPr lang="en-US" sz="1150" b="1" kern="0" spc="100">
                <a:solidFill>
                  <a:srgbClr val="34D399"/>
                </a:solidFill>
                <a:latin typeface="Trebuchet MS" pitchFamily="34" charset="0"/>
                <a:ea typeface="Trebuchet MS" pitchFamily="34" charset="-122"/>
                <a:cs typeface="Trebuchet MS" pitchFamily="34" charset="-120"/>
              </a:rPr>
              <a:t>JUST A PROMISE</a:t>
            </a:r>
            <a:endParaRPr lang="en-US"/>
          </a:p>
        </p:txBody>
      </p:sp>
      <p:sp>
        <p:nvSpPr>
          <p:cNvPr id="13" name="Text"/>
          <p:cNvSpPr/>
          <p:nvPr/>
        </p:nvSpPr>
        <p:spPr>
          <a:xfrm>
            <a:off x="868680" y="4090000"/>
            <a:ext cx="3017520" cy="900000"/>
          </a:xfrm>
          <a:prstGeom prst="rect">
            <a:avLst/>
          </a:prstGeom>
          <a:noFill/>
          <a:ln/>
        </p:spPr>
        <p:txBody>
          <a:bodyPr wrap="square" lIns="0" tIns="0" rIns="0" bIns="0" rtlCol="0" anchor="ctr"/>
          <a:lstStyle/>
          <a:p>
            <a:pPr marL="0" indent="0">
              <a:lnSpc>
                <a:spcPct val="115000"/>
              </a:lnSpc>
              <a:buNone/>
            </a:pPr>
            <a:r>
              <a:rPr lang="en-US" sz="1300">
                <a:solidFill>
                  <a:srgbClr val="AAB2BD"/>
                </a:solidFill>
                <a:latin typeface="Calibri" pitchFamily="34" charset="0"/>
                <a:ea typeface="Calibri" pitchFamily="34" charset="-122"/>
                <a:cs typeface="Calibri" pitchFamily="34" charset="-120"/>
              </a:rPr>
              <a:t>Nothing is owned or delivered today. You are only agreeing terms now for a date down the road.</a:t>
            </a:r>
            <a:endParaRPr lang="en-US"/>
          </a:p>
        </p:txBody>
      </p:sp>
      <p:sp>
        <p:nvSpPr>
          <p:cNvPr id="14" name="panel">
            <a:extLst>
              <a:ext uri="{C183D7F6-B498-43B3-948B-1728B52AA6E4}">
                <adec:decorative xmlns:adec="http://schemas.microsoft.com/office/drawing/2017/decorative" val="1"/>
              </a:ext>
            </a:extLst>
          </p:cNvPr>
          <p:cNvSpPr/>
          <p:nvPr/>
        </p:nvSpPr>
        <p:spPr>
          <a:xfrm>
            <a:off x="4343400" y="3560000"/>
            <a:ext cx="3474720" cy="1500000"/>
          </a:xfrm>
          <a:prstGeom prst="roundRect">
            <a:avLst>
              <a:gd name="adj" fmla="val 4390"/>
            </a:avLst>
          </a:prstGeom>
          <a:solidFill>
            <a:srgbClr val="1F252D"/>
          </a:solidFill>
          <a:ln w="12700">
            <a:solidFill>
              <a:srgbClr val="343E4A"/>
            </a:solidFill>
            <a:prstDash val="solid"/>
          </a:ln>
        </p:spPr>
        <p:txBody>
          <a:bodyPr/>
          <a:lstStyle/>
          <a:p>
            <a:endParaRPr lang="en-SE"/>
          </a:p>
        </p:txBody>
      </p:sp>
      <p:sp>
        <p:nvSpPr>
          <p:cNvPr id="15" name="Text"/>
          <p:cNvSpPr/>
          <p:nvPr/>
        </p:nvSpPr>
        <p:spPr>
          <a:xfrm>
            <a:off x="4572000" y="3740000"/>
            <a:ext cx="3017520" cy="300000"/>
          </a:xfrm>
          <a:prstGeom prst="rect">
            <a:avLst/>
          </a:prstGeom>
          <a:noFill/>
          <a:ln/>
        </p:spPr>
        <p:txBody>
          <a:bodyPr wrap="square" lIns="0" tIns="0" rIns="0" bIns="0" rtlCol="0" anchor="ctr"/>
          <a:lstStyle/>
          <a:p>
            <a:pPr marL="0" indent="0">
              <a:buNone/>
            </a:pPr>
            <a:r>
              <a:rPr lang="en-US" sz="1150" b="1" kern="0" spc="100">
                <a:solidFill>
                  <a:srgbClr val="34D399"/>
                </a:solidFill>
                <a:latin typeface="Trebuchet MS" pitchFamily="34" charset="0"/>
                <a:ea typeface="Trebuchet MS" pitchFamily="34" charset="-122"/>
                <a:cs typeface="Trebuchet MS" pitchFamily="34" charset="-120"/>
              </a:rPr>
              <a:t>STANDARDISED</a:t>
            </a:r>
            <a:endParaRPr lang="en-US"/>
          </a:p>
        </p:txBody>
      </p:sp>
      <p:sp>
        <p:nvSpPr>
          <p:cNvPr id="16" name="Text"/>
          <p:cNvSpPr/>
          <p:nvPr/>
        </p:nvSpPr>
        <p:spPr>
          <a:xfrm>
            <a:off x="4572000" y="4090000"/>
            <a:ext cx="3017520" cy="900000"/>
          </a:xfrm>
          <a:prstGeom prst="rect">
            <a:avLst/>
          </a:prstGeom>
          <a:noFill/>
          <a:ln/>
        </p:spPr>
        <p:txBody>
          <a:bodyPr wrap="square" lIns="0" tIns="0" rIns="0" bIns="0" rtlCol="0" anchor="ctr"/>
          <a:lstStyle/>
          <a:p>
            <a:pPr marL="0" indent="0">
              <a:lnSpc>
                <a:spcPct val="115000"/>
              </a:lnSpc>
              <a:buNone/>
            </a:pPr>
            <a:r>
              <a:rPr lang="en-US" sz="1300">
                <a:solidFill>
                  <a:srgbClr val="AAB2BD"/>
                </a:solidFill>
                <a:latin typeface="Calibri" pitchFamily="34" charset="0"/>
                <a:ea typeface="Calibri" pitchFamily="34" charset="-122"/>
                <a:cs typeface="Calibri" pitchFamily="34" charset="-120"/>
              </a:rPr>
              <a:t>The amount, grade and delivery date are fixed by the exchange, so every contract is interchangeable.</a:t>
            </a:r>
            <a:endParaRPr lang="en-US"/>
          </a:p>
        </p:txBody>
      </p:sp>
      <p:sp>
        <p:nvSpPr>
          <p:cNvPr id="17" name="panel">
            <a:extLst>
              <a:ext uri="{C183D7F6-B498-43B3-948B-1728B52AA6E4}">
                <adec:decorative xmlns:adec="http://schemas.microsoft.com/office/drawing/2017/decorative" val="1"/>
              </a:ext>
            </a:extLst>
          </p:cNvPr>
          <p:cNvSpPr/>
          <p:nvPr/>
        </p:nvSpPr>
        <p:spPr>
          <a:xfrm>
            <a:off x="8046720" y="3560000"/>
            <a:ext cx="3474720" cy="1500000"/>
          </a:xfrm>
          <a:prstGeom prst="roundRect">
            <a:avLst>
              <a:gd name="adj" fmla="val 4390"/>
            </a:avLst>
          </a:prstGeom>
          <a:solidFill>
            <a:srgbClr val="1F252D"/>
          </a:solidFill>
          <a:ln w="12700">
            <a:solidFill>
              <a:srgbClr val="343E4A"/>
            </a:solidFill>
            <a:prstDash val="solid"/>
          </a:ln>
        </p:spPr>
        <p:txBody>
          <a:bodyPr/>
          <a:lstStyle/>
          <a:p>
            <a:endParaRPr lang="en-SE"/>
          </a:p>
        </p:txBody>
      </p:sp>
      <p:sp>
        <p:nvSpPr>
          <p:cNvPr id="18" name="Text"/>
          <p:cNvSpPr/>
          <p:nvPr/>
        </p:nvSpPr>
        <p:spPr>
          <a:xfrm>
            <a:off x="8275320" y="3740000"/>
            <a:ext cx="3017520" cy="300000"/>
          </a:xfrm>
          <a:prstGeom prst="rect">
            <a:avLst/>
          </a:prstGeom>
          <a:noFill/>
          <a:ln/>
        </p:spPr>
        <p:txBody>
          <a:bodyPr wrap="square" lIns="0" tIns="0" rIns="0" bIns="0" rtlCol="0" anchor="ctr"/>
          <a:lstStyle/>
          <a:p>
            <a:pPr marL="0" indent="0">
              <a:buNone/>
            </a:pPr>
            <a:r>
              <a:rPr lang="en-US" sz="1150" b="1" kern="0" spc="100">
                <a:solidFill>
                  <a:srgbClr val="34D399"/>
                </a:solidFill>
                <a:latin typeface="Trebuchet MS" pitchFamily="34" charset="0"/>
                <a:ea typeface="Trebuchet MS" pitchFamily="34" charset="-122"/>
                <a:cs typeface="Trebuchet MS" pitchFamily="34" charset="-120"/>
              </a:rPr>
              <a:t>TWO OBLIGATIONS</a:t>
            </a:r>
            <a:endParaRPr lang="en-US"/>
          </a:p>
        </p:txBody>
      </p:sp>
      <p:sp>
        <p:nvSpPr>
          <p:cNvPr id="19" name="Text"/>
          <p:cNvSpPr/>
          <p:nvPr/>
        </p:nvSpPr>
        <p:spPr>
          <a:xfrm>
            <a:off x="8275320" y="4090000"/>
            <a:ext cx="3017520" cy="900000"/>
          </a:xfrm>
          <a:prstGeom prst="rect">
            <a:avLst/>
          </a:prstGeom>
          <a:noFill/>
          <a:ln/>
        </p:spPr>
        <p:txBody>
          <a:bodyPr wrap="square" lIns="0" tIns="0" rIns="0" bIns="0" rtlCol="0" anchor="ctr"/>
          <a:lstStyle/>
          <a:p>
            <a:pPr marL="0" indent="0">
              <a:lnSpc>
                <a:spcPct val="115000"/>
              </a:lnSpc>
              <a:buNone/>
            </a:pPr>
            <a:r>
              <a:rPr lang="en-US" sz="1300">
                <a:solidFill>
                  <a:srgbClr val="AAB2BD"/>
                </a:solidFill>
                <a:latin typeface="Calibri" pitchFamily="34" charset="0"/>
                <a:ea typeface="Calibri" pitchFamily="34" charset="-122"/>
                <a:cs typeface="Calibri" pitchFamily="34" charset="-120"/>
              </a:rPr>
              <a:t>One side must deliver and be paid; the other must receive and pay. Every contract carries both.</a:t>
            </a:r>
            <a:endParaRPr lang="en-US"/>
          </a:p>
        </p:txBody>
      </p:sp>
      <p:sp>
        <p:nvSpPr>
          <p:cNvPr id="20"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1"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2" name="Text"/>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a:solidFill>
                  <a:srgbClr val="34D399"/>
                </a:solidFill>
                <a:latin typeface="Trebuchet MS" pitchFamily="34" charset="0"/>
                <a:ea typeface="Trebuchet MS" pitchFamily="34" charset="-122"/>
                <a:cs typeface="Trebuchet MS" pitchFamily="34" charset="-120"/>
              </a:rPr>
              <a:t>KEY IDEA   </a:t>
            </a:r>
            <a:r>
              <a:rPr lang="en-US" sz="1300">
                <a:solidFill>
                  <a:srgbClr val="E7EBF0"/>
                </a:solidFill>
                <a:latin typeface="Calibri" pitchFamily="34" charset="0"/>
                <a:ea typeface="Calibri" pitchFamily="34" charset="-122"/>
                <a:cs typeface="Calibri" pitchFamily="34" charset="-120"/>
              </a:rPr>
              <a:t>A future is a contract, not a possession — an agreement to trade later. That is why you can commit to either side of it without owning anything today.</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o buying and selling are two halves of one promise">
    <p:spTree>
      <p:nvGrpSpPr>
        <p:cNvPr id="1" name=""/>
        <p:cNvGrpSpPr/>
        <p:nvPr/>
      </p:nvGrpSpPr>
      <p:grpSpPr>
        <a:xfrm>
          <a:off x="0" y="0"/>
          <a:ext cx="0" cy="0"/>
          <a:chOff x="0" y="0"/>
          <a:chExt cx="0" cy="0"/>
        </a:xfrm>
      </p:grpSpPr>
      <p:sp>
        <p:nvSpPr>
          <p:cNvPr id="2" name="tag"/>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a:solidFill>
                  <a:srgbClr val="34D399"/>
                </a:solidFill>
                <a:latin typeface="Trebuchet MS" pitchFamily="34" charset="0"/>
                <a:ea typeface="Trebuchet MS" pitchFamily="34" charset="-122"/>
                <a:cs typeface="Trebuchet MS" pitchFamily="34" charset="-120"/>
              </a:rPr>
              <a:t>FIRST PRINCIPLES</a:t>
            </a:r>
            <a:endParaRPr lang="en-US"/>
          </a:p>
        </p:txBody>
      </p:sp>
      <p:sp>
        <p:nvSpPr>
          <p:cNvPr id="3"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4" name="footer"/>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a:solidFill>
                  <a:srgbClr val="737D8A"/>
                </a:solidFill>
                <a:latin typeface="Trebuchet MS" pitchFamily="34" charset="0"/>
                <a:ea typeface="Trebuchet MS" pitchFamily="34" charset="-122"/>
                <a:cs typeface="Trebuchet MS" pitchFamily="34" charset="-120"/>
              </a:rPr>
              <a:t>Combo Orders with Futures</a:t>
            </a:r>
            <a:endParaRPr lang="en-US"/>
          </a:p>
        </p:txBody>
      </p:sp>
      <p:sp>
        <p:nvSpPr>
          <p:cNvPr id="5" name="pagenum"/>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6</a:t>
            </a:r>
            <a:endParaRPr lang="en-US"/>
          </a:p>
        </p:txBody>
      </p:sp>
      <p:sp>
        <p:nvSpPr>
          <p:cNvPr id="6" name="title"/>
          <p:cNvSpPr/>
          <p:nvPr/>
        </p:nvSpPr>
        <p:spPr>
          <a:xfrm>
            <a:off x="640080" y="603504"/>
            <a:ext cx="10972800" cy="822960"/>
          </a:xfrm>
          <a:prstGeom prst="rect">
            <a:avLst/>
          </a:prstGeom>
          <a:noFill/>
          <a:ln/>
        </p:spPr>
        <p:txBody>
          <a:bodyPr wrap="square" lIns="0" tIns="0" rIns="0" bIns="0" rtlCol="0" anchor="ctr"/>
          <a:lstStyle/>
          <a:p>
            <a:pPr marL="0" indent="0">
              <a:buNone/>
            </a:pPr>
            <a:r>
              <a:rPr lang="en-US" sz="2500" b="1">
                <a:solidFill>
                  <a:srgbClr val="E7EBF0"/>
                </a:solidFill>
                <a:latin typeface="Trebuchet MS" pitchFamily="34" charset="0"/>
                <a:ea typeface="Trebuchet MS" pitchFamily="34" charset="-122"/>
                <a:cs typeface="Trebuchet MS" pitchFamily="34" charset="-120"/>
              </a:rPr>
              <a:t>So buying and selling are two halves of one promise</a:t>
            </a:r>
            <a:endParaRPr lang="en-US"/>
          </a:p>
        </p:txBody>
      </p:sp>
      <p:sp>
        <p:nvSpPr>
          <p:cNvPr id="7" name="intro"/>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a:solidFill>
                  <a:srgbClr val="AAB2BD"/>
                </a:solidFill>
                <a:latin typeface="Calibri" pitchFamily="34" charset="0"/>
                <a:ea typeface="Calibri" pitchFamily="34" charset="-122"/>
                <a:cs typeface="Calibri" pitchFamily="34" charset="-120"/>
              </a:rPr>
              <a:t>Because a future is only an agreement, taking either side is the same kind of act. You aren't buying or selling a thing — you're choosing which promise to make.</a:t>
            </a:r>
            <a:endParaRPr lang="en-US"/>
          </a:p>
        </p:txBody>
      </p:sp>
      <p:sp>
        <p:nvSpPr>
          <p:cNvPr id="8" name="panel">
            <a:extLst>
              <a:ext uri="{C183D7F6-B498-43B3-948B-1728B52AA6E4}">
                <adec:decorative xmlns:adec="http://schemas.microsoft.com/office/drawing/2017/decorative" val="1"/>
              </a:ext>
            </a:extLst>
          </p:cNvPr>
          <p:cNvSpPr/>
          <p:nvPr/>
        </p:nvSpPr>
        <p:spPr>
          <a:xfrm>
            <a:off x="640080" y="2194560"/>
            <a:ext cx="5303520" cy="2788920"/>
          </a:xfrm>
          <a:prstGeom prst="roundRect">
            <a:avLst>
              <a:gd name="adj" fmla="val 2951"/>
            </a:avLst>
          </a:prstGeom>
          <a:solidFill>
            <a:srgbClr val="1F252D"/>
          </a:solidFill>
          <a:ln w="12700">
            <a:solidFill>
              <a:srgbClr val="343E4A"/>
            </a:solidFill>
            <a:prstDash val="solid"/>
          </a:ln>
        </p:spPr>
        <p:txBody>
          <a:bodyPr/>
          <a:lstStyle/>
          <a:p>
            <a:endParaRPr lang="en-SE"/>
          </a:p>
        </p:txBody>
      </p:sp>
      <p:sp>
        <p:nvSpPr>
          <p:cNvPr id="9" name="Text"/>
          <p:cNvSpPr/>
          <p:nvPr/>
        </p:nvSpPr>
        <p:spPr>
          <a:xfrm>
            <a:off x="868680" y="2377440"/>
            <a:ext cx="4846320" cy="274320"/>
          </a:xfrm>
          <a:prstGeom prst="rect">
            <a:avLst/>
          </a:prstGeom>
          <a:noFill/>
          <a:ln/>
        </p:spPr>
        <p:txBody>
          <a:bodyPr wrap="square" lIns="0" tIns="0" rIns="0" bIns="0" rtlCol="0" anchor="ctr"/>
          <a:lstStyle/>
          <a:p>
            <a:pPr marL="0" indent="0">
              <a:buNone/>
            </a:pPr>
            <a:r>
              <a:rPr lang="en-US" sz="1200" b="1" kern="0" spc="100">
                <a:solidFill>
                  <a:srgbClr val="6EA8E6"/>
                </a:solidFill>
                <a:latin typeface="Trebuchet MS" pitchFamily="34" charset="0"/>
                <a:ea typeface="Trebuchet MS" pitchFamily="34" charset="-122"/>
                <a:cs typeface="Trebuchet MS" pitchFamily="34" charset="-120"/>
              </a:rPr>
              <a:t>GOING LONG  (BUY)</a:t>
            </a:r>
            <a:endParaRPr lang="en-US"/>
          </a:p>
        </p:txBody>
      </p:sp>
      <p:sp>
        <p:nvSpPr>
          <p:cNvPr id="10" name="Text"/>
          <p:cNvSpPr/>
          <p:nvPr/>
        </p:nvSpPr>
        <p:spPr>
          <a:xfrm>
            <a:off x="868680" y="2697480"/>
            <a:ext cx="4846320" cy="41148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Promise to receive</a:t>
            </a:r>
            <a:endParaRPr lang="en-US"/>
          </a:p>
        </p:txBody>
      </p:sp>
      <p:sp>
        <p:nvSpPr>
          <p:cNvPr id="11" name="Text"/>
          <p:cNvSpPr/>
          <p:nvPr/>
        </p:nvSpPr>
        <p:spPr>
          <a:xfrm>
            <a:off x="868680" y="3200400"/>
            <a:ext cx="4846320" cy="731520"/>
          </a:xfrm>
          <a:prstGeom prst="rect">
            <a:avLst/>
          </a:prstGeom>
          <a:noFill/>
          <a:ln/>
        </p:spPr>
        <p:txBody>
          <a:bodyPr wrap="square" lIns="0" tIns="0" rIns="0" bIns="0" rtlCol="0" anchor="ctr"/>
          <a:lstStyle/>
          <a:p>
            <a:pPr marL="0" indent="0">
              <a:lnSpc>
                <a:spcPct val="115000"/>
              </a:lnSpc>
              <a:buNone/>
            </a:pPr>
            <a:r>
              <a:rPr lang="en-US" sz="1350">
                <a:solidFill>
                  <a:srgbClr val="AAB2BD"/>
                </a:solidFill>
                <a:latin typeface="Calibri" pitchFamily="34" charset="0"/>
                <a:ea typeface="Calibri" pitchFamily="34" charset="-122"/>
                <a:cs typeface="Calibri" pitchFamily="34" charset="-120"/>
              </a:rPr>
              <a:t>You agree to take delivery and pay the fixed price on the date. You gain if the market price ends up above it, and lose if it ends up below.</a:t>
            </a:r>
            <a:endParaRPr lang="en-US"/>
          </a:p>
        </p:txBody>
      </p:sp>
      <p:sp>
        <p:nvSpPr>
          <p:cNvPr id="12" name="Text"/>
          <p:cNvSpPr/>
          <p:nvPr/>
        </p:nvSpPr>
        <p:spPr>
          <a:xfrm>
            <a:off x="868680" y="4160520"/>
            <a:ext cx="4846320" cy="640080"/>
          </a:xfrm>
          <a:prstGeom prst="rect">
            <a:avLst/>
          </a:prstGeom>
          <a:noFill/>
          <a:ln/>
        </p:spPr>
        <p:txBody>
          <a:bodyPr wrap="square" lIns="0" tIns="0" rIns="0" bIns="0" rtlCol="0" anchor="ctr"/>
          <a:lstStyle/>
          <a:p>
            <a:pPr marL="0" indent="0">
              <a:lnSpc>
                <a:spcPct val="110000"/>
              </a:lnSpc>
              <a:buNone/>
            </a:pPr>
            <a:r>
              <a:rPr lang="en-US" sz="1300" i="1">
                <a:solidFill>
                  <a:srgbClr val="6EA8E6"/>
                </a:solidFill>
                <a:latin typeface="Calibri" pitchFamily="34" charset="0"/>
                <a:ea typeface="Calibri" pitchFamily="34" charset="-122"/>
                <a:cs typeface="Calibri" pitchFamily="34" charset="-120"/>
              </a:rPr>
              <a:t>Nothing to own first — just a promise to pay later.</a:t>
            </a:r>
            <a:endParaRPr lang="en-US"/>
          </a:p>
        </p:txBody>
      </p:sp>
      <p:sp>
        <p:nvSpPr>
          <p:cNvPr id="13" name="panel">
            <a:extLst>
              <a:ext uri="{C183D7F6-B498-43B3-948B-1728B52AA6E4}">
                <adec:decorative xmlns:adec="http://schemas.microsoft.com/office/drawing/2017/decorative" val="1"/>
              </a:ext>
            </a:extLst>
          </p:cNvPr>
          <p:cNvSpPr/>
          <p:nvPr/>
        </p:nvSpPr>
        <p:spPr>
          <a:xfrm>
            <a:off x="6245352" y="2194560"/>
            <a:ext cx="5303520" cy="2788920"/>
          </a:xfrm>
          <a:prstGeom prst="roundRect">
            <a:avLst>
              <a:gd name="adj" fmla="val 2951"/>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14" name="Text"/>
          <p:cNvSpPr/>
          <p:nvPr/>
        </p:nvSpPr>
        <p:spPr>
          <a:xfrm>
            <a:off x="6473952" y="2377440"/>
            <a:ext cx="4846320" cy="274320"/>
          </a:xfrm>
          <a:prstGeom prst="rect">
            <a:avLst/>
          </a:prstGeom>
          <a:noFill/>
          <a:ln/>
        </p:spPr>
        <p:txBody>
          <a:bodyPr wrap="square" lIns="0" tIns="0" rIns="0" bIns="0" rtlCol="0" anchor="ctr"/>
          <a:lstStyle/>
          <a:p>
            <a:pPr marL="0" indent="0">
              <a:buNone/>
            </a:pPr>
            <a:r>
              <a:rPr lang="en-US" sz="1200" b="1" kern="0" spc="100">
                <a:solidFill>
                  <a:srgbClr val="34D399"/>
                </a:solidFill>
                <a:latin typeface="Trebuchet MS" pitchFamily="34" charset="0"/>
                <a:ea typeface="Trebuchet MS" pitchFamily="34" charset="-122"/>
                <a:cs typeface="Trebuchet MS" pitchFamily="34" charset="-120"/>
              </a:rPr>
              <a:t>GOING SHORT  (SELL)</a:t>
            </a:r>
            <a:endParaRPr lang="en-US"/>
          </a:p>
        </p:txBody>
      </p:sp>
      <p:sp>
        <p:nvSpPr>
          <p:cNvPr id="15" name="Text"/>
          <p:cNvSpPr/>
          <p:nvPr/>
        </p:nvSpPr>
        <p:spPr>
          <a:xfrm>
            <a:off x="6473952" y="2697480"/>
            <a:ext cx="4846320" cy="41148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Promise to deliver</a:t>
            </a:r>
            <a:endParaRPr lang="en-US"/>
          </a:p>
        </p:txBody>
      </p:sp>
      <p:sp>
        <p:nvSpPr>
          <p:cNvPr id="16" name="Text"/>
          <p:cNvSpPr/>
          <p:nvPr/>
        </p:nvSpPr>
        <p:spPr>
          <a:xfrm>
            <a:off x="6473952" y="3200400"/>
            <a:ext cx="4846320" cy="731520"/>
          </a:xfrm>
          <a:prstGeom prst="rect">
            <a:avLst/>
          </a:prstGeom>
          <a:noFill/>
          <a:ln/>
        </p:spPr>
        <p:txBody>
          <a:bodyPr wrap="square" lIns="0" tIns="0" rIns="0" bIns="0" rtlCol="0" anchor="ctr"/>
          <a:lstStyle/>
          <a:p>
            <a:pPr marL="0" indent="0">
              <a:lnSpc>
                <a:spcPct val="115000"/>
              </a:lnSpc>
              <a:buNone/>
            </a:pPr>
            <a:r>
              <a:rPr lang="en-US" sz="1350">
                <a:solidFill>
                  <a:srgbClr val="AAB2BD"/>
                </a:solidFill>
                <a:latin typeface="Calibri" pitchFamily="34" charset="0"/>
                <a:ea typeface="Calibri" pitchFamily="34" charset="-122"/>
                <a:cs typeface="Calibri" pitchFamily="34" charset="-120"/>
              </a:rPr>
              <a:t>You agree to deliver and collect the fixed price on the date. You gain if the market price ends up below it, and lose if it ends up above.</a:t>
            </a:r>
            <a:endParaRPr lang="en-US"/>
          </a:p>
        </p:txBody>
      </p:sp>
      <p:sp>
        <p:nvSpPr>
          <p:cNvPr id="17" name="Text"/>
          <p:cNvSpPr/>
          <p:nvPr/>
        </p:nvSpPr>
        <p:spPr>
          <a:xfrm>
            <a:off x="6473952" y="4160520"/>
            <a:ext cx="4846320" cy="640080"/>
          </a:xfrm>
          <a:prstGeom prst="rect">
            <a:avLst/>
          </a:prstGeom>
          <a:noFill/>
          <a:ln/>
        </p:spPr>
        <p:txBody>
          <a:bodyPr wrap="square" lIns="0" tIns="0" rIns="0" bIns="0" rtlCol="0" anchor="ctr"/>
          <a:lstStyle/>
          <a:p>
            <a:pPr marL="0" indent="0">
              <a:lnSpc>
                <a:spcPct val="110000"/>
              </a:lnSpc>
              <a:buNone/>
            </a:pPr>
            <a:r>
              <a:rPr lang="en-US" sz="1300" i="1">
                <a:solidFill>
                  <a:srgbClr val="34D399"/>
                </a:solidFill>
                <a:latin typeface="Calibri" pitchFamily="34" charset="0"/>
                <a:ea typeface="Calibri" pitchFamily="34" charset="-122"/>
                <a:cs typeface="Calibri" pitchFamily="34" charset="-120"/>
              </a:rPr>
              <a:t>Equally just a promise — no share to borrow, no oil to hold.</a:t>
            </a:r>
            <a:endParaRPr lang="en-US"/>
          </a:p>
        </p:txBody>
      </p:sp>
      <p:sp>
        <p:nvSpPr>
          <p:cNvPr id="18"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19"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0" name="Text"/>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a:solidFill>
                  <a:srgbClr val="34D399"/>
                </a:solidFill>
                <a:latin typeface="Trebuchet MS" pitchFamily="34" charset="0"/>
                <a:ea typeface="Trebuchet MS" pitchFamily="34" charset="-122"/>
                <a:cs typeface="Trebuchet MS" pitchFamily="34" charset="-120"/>
              </a:rPr>
              <a:t>KEY IDEA   </a:t>
            </a:r>
            <a:r>
              <a:rPr lang="en-US" sz="1300">
                <a:solidFill>
                  <a:srgbClr val="E7EBF0"/>
                </a:solidFill>
                <a:latin typeface="Calibri" pitchFamily="34" charset="0"/>
                <a:ea typeface="Calibri" pitchFamily="34" charset="-122"/>
                <a:cs typeface="Calibri" pitchFamily="34" charset="-120"/>
              </a:rPr>
              <a:t>Buying and selling a future are mirror images — two equal promises. ‘Selling’ needs no oil and no borrowing because it is simply the other half of the very same contract.</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o you need to own a June future to sell one?">
    <p:spTree>
      <p:nvGrpSpPr>
        <p:cNvPr id="1" name=""/>
        <p:cNvGrpSpPr/>
        <p:nvPr/>
      </p:nvGrpSpPr>
      <p:grpSpPr>
        <a:xfrm>
          <a:off x="0" y="0"/>
          <a:ext cx="0" cy="0"/>
          <a:chOff x="0" y="0"/>
          <a:chExt cx="0" cy="0"/>
        </a:xfrm>
      </p:grpSpPr>
      <p:sp>
        <p:nvSpPr>
          <p:cNvPr id="2" name="tag"/>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a:solidFill>
                  <a:srgbClr val="34D399"/>
                </a:solidFill>
                <a:latin typeface="Trebuchet MS" pitchFamily="34" charset="0"/>
                <a:ea typeface="Trebuchet MS" pitchFamily="34" charset="-122"/>
                <a:cs typeface="Trebuchet MS" pitchFamily="34" charset="-120"/>
              </a:rPr>
              <a:t>FIRST PRINCIPLES</a:t>
            </a:r>
            <a:endParaRPr lang="en-US"/>
          </a:p>
        </p:txBody>
      </p:sp>
      <p:sp>
        <p:nvSpPr>
          <p:cNvPr id="3"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4" name="footer"/>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a:solidFill>
                  <a:srgbClr val="737D8A"/>
                </a:solidFill>
                <a:latin typeface="Trebuchet MS" pitchFamily="34" charset="0"/>
                <a:ea typeface="Trebuchet MS" pitchFamily="34" charset="-122"/>
                <a:cs typeface="Trebuchet MS" pitchFamily="34" charset="-120"/>
              </a:rPr>
              <a:t>Combo Orders with Futures</a:t>
            </a:r>
            <a:endParaRPr lang="en-US"/>
          </a:p>
        </p:txBody>
      </p:sp>
      <p:sp>
        <p:nvSpPr>
          <p:cNvPr id="5" name="pagenum"/>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7</a:t>
            </a:r>
            <a:endParaRPr lang="en-US"/>
          </a:p>
        </p:txBody>
      </p:sp>
      <p:sp>
        <p:nvSpPr>
          <p:cNvPr id="6" name="title"/>
          <p:cNvSpPr/>
          <p:nvPr/>
        </p:nvSpPr>
        <p:spPr>
          <a:xfrm>
            <a:off x="640080" y="603504"/>
            <a:ext cx="10972800" cy="822960"/>
          </a:xfrm>
          <a:prstGeom prst="rect">
            <a:avLst/>
          </a:prstGeom>
          <a:noFill/>
          <a:ln/>
        </p:spPr>
        <p:txBody>
          <a:bodyPr wrap="square" lIns="0" tIns="0" rIns="0" bIns="0" rtlCol="0" anchor="ctr"/>
          <a:lstStyle/>
          <a:p>
            <a:pPr marL="0" indent="0">
              <a:buNone/>
            </a:pPr>
            <a:r>
              <a:rPr lang="en-US" sz="2500" b="1">
                <a:solidFill>
                  <a:srgbClr val="E7EBF0"/>
                </a:solidFill>
                <a:latin typeface="Trebuchet MS" pitchFamily="34" charset="0"/>
                <a:ea typeface="Trebuchet MS" pitchFamily="34" charset="-122"/>
                <a:cs typeface="Trebuchet MS" pitchFamily="34" charset="-120"/>
              </a:rPr>
              <a:t>Do you need to own a June future to sell one?</a:t>
            </a:r>
            <a:endParaRPr lang="en-US"/>
          </a:p>
        </p:txBody>
      </p:sp>
      <p:sp>
        <p:nvSpPr>
          <p:cNvPr id="7" name="intro"/>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a:solidFill>
                  <a:srgbClr val="AAB2BD"/>
                </a:solidFill>
                <a:latin typeface="Calibri" pitchFamily="34" charset="0"/>
                <a:ea typeface="Calibri" pitchFamily="34" charset="-122"/>
                <a:cs typeface="Calibri" pitchFamily="34" charset="-120"/>
              </a:rPr>
              <a:t>The single most common beginner question. If you ‘sell’ a June future, surely you must own one first? Here is the surprise.</a:t>
            </a:r>
            <a:endParaRPr lang="en-US"/>
          </a:p>
        </p:txBody>
      </p:sp>
      <p:sp>
        <p:nvSpPr>
          <p:cNvPr id="8" name="panel">
            <a:extLst>
              <a:ext uri="{C183D7F6-B498-43B3-948B-1728B52AA6E4}">
                <adec:decorative xmlns:adec="http://schemas.microsoft.com/office/drawing/2017/decorative" val="1"/>
              </a:ext>
            </a:extLst>
          </p:cNvPr>
          <p:cNvSpPr/>
          <p:nvPr/>
        </p:nvSpPr>
        <p:spPr>
          <a:xfrm>
            <a:off x="640080" y="2130000"/>
            <a:ext cx="10908792" cy="1180000"/>
          </a:xfrm>
          <a:prstGeom prst="roundRect">
            <a:avLst>
              <a:gd name="adj" fmla="val 2951"/>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p:cNvSpPr/>
          <p:nvPr/>
        </p:nvSpPr>
        <p:spPr>
          <a:xfrm>
            <a:off x="868680" y="2250000"/>
            <a:ext cx="10400000" cy="520000"/>
          </a:xfrm>
          <a:prstGeom prst="rect">
            <a:avLst/>
          </a:prstGeom>
          <a:noFill/>
          <a:ln/>
        </p:spPr>
        <p:txBody>
          <a:bodyPr wrap="square" lIns="0" tIns="0" rIns="0" bIns="0" rtlCol="0" anchor="ctr"/>
          <a:lstStyle/>
          <a:p>
            <a:pPr marL="0" indent="0">
              <a:buNone/>
            </a:pPr>
            <a:r>
              <a:rPr lang="en-US" sz="2400" b="1">
                <a:solidFill>
                  <a:srgbClr val="E7EBF0"/>
                </a:solidFill>
                <a:latin typeface="Trebuchet MS" pitchFamily="34" charset="0"/>
                <a:ea typeface="Trebuchet MS" pitchFamily="34" charset="-122"/>
                <a:cs typeface="Trebuchet MS" pitchFamily="34" charset="-120"/>
              </a:rPr>
              <a:t>No. Selling a future opens a short position.</a:t>
            </a:r>
            <a:endParaRPr lang="en-US"/>
          </a:p>
        </p:txBody>
      </p:sp>
      <p:sp>
        <p:nvSpPr>
          <p:cNvPr id="10" name="Text"/>
          <p:cNvSpPr/>
          <p:nvPr/>
        </p:nvSpPr>
        <p:spPr>
          <a:xfrm>
            <a:off x="868680" y="2800000"/>
            <a:ext cx="10400000" cy="380000"/>
          </a:xfrm>
          <a:prstGeom prst="rect">
            <a:avLst/>
          </a:prstGeom>
          <a:noFill/>
          <a:ln/>
        </p:spPr>
        <p:txBody>
          <a:bodyPr wrap="square" lIns="0" tIns="0" rIns="0" bIns="0" rtlCol="0" anchor="ctr"/>
          <a:lstStyle/>
          <a:p>
            <a:pPr marL="0" indent="0">
              <a:buNone/>
            </a:pPr>
            <a:r>
              <a:rPr lang="en-US" sz="1350">
                <a:solidFill>
                  <a:srgbClr val="AAB2BD"/>
                </a:solidFill>
                <a:latin typeface="Calibri" pitchFamily="34" charset="0"/>
                <a:ea typeface="Calibri" pitchFamily="34" charset="-122"/>
                <a:cs typeface="Calibri" pitchFamily="34" charset="-120"/>
              </a:rPr>
              <a:t>A short is simply an obligation to deliver later — not something you had to own beforehand.</a:t>
            </a:r>
            <a:endParaRPr lang="en-US"/>
          </a:p>
        </p:txBody>
      </p:sp>
      <p:sp>
        <p:nvSpPr>
          <p:cNvPr id="11" name="panel">
            <a:extLst>
              <a:ext uri="{C183D7F6-B498-43B3-948B-1728B52AA6E4}">
                <adec:decorative xmlns:adec="http://schemas.microsoft.com/office/drawing/2017/decorative" val="1"/>
              </a:ext>
            </a:extLst>
          </p:cNvPr>
          <p:cNvSpPr/>
          <p:nvPr/>
        </p:nvSpPr>
        <p:spPr>
          <a:xfrm>
            <a:off x="1097280" y="3620000"/>
            <a:ext cx="3931920" cy="1150000"/>
          </a:xfrm>
          <a:prstGeom prst="roundRect">
            <a:avLst>
              <a:gd name="adj" fmla="val 4390"/>
            </a:avLst>
          </a:prstGeom>
          <a:solidFill>
            <a:srgbClr val="1F252D"/>
          </a:solidFill>
          <a:ln w="12700">
            <a:solidFill>
              <a:srgbClr val="343E4A"/>
            </a:solidFill>
            <a:prstDash val="solid"/>
          </a:ln>
        </p:spPr>
        <p:txBody>
          <a:bodyPr/>
          <a:lstStyle/>
          <a:p>
            <a:endParaRPr lang="en-SE"/>
          </a:p>
        </p:txBody>
      </p:sp>
      <p:sp>
        <p:nvSpPr>
          <p:cNvPr id="12" name="Text"/>
          <p:cNvSpPr/>
          <p:nvPr/>
        </p:nvSpPr>
        <p:spPr>
          <a:xfrm>
            <a:off x="1325880" y="3770000"/>
            <a:ext cx="3474720" cy="274320"/>
          </a:xfrm>
          <a:prstGeom prst="rect">
            <a:avLst/>
          </a:prstGeom>
          <a:noFill/>
          <a:ln/>
        </p:spPr>
        <p:txBody>
          <a:bodyPr wrap="square" lIns="0" tIns="0" rIns="0" bIns="0" rtlCol="0" anchor="ctr"/>
          <a:lstStyle/>
          <a:p>
            <a:pPr marL="0" indent="0">
              <a:buNone/>
            </a:pPr>
            <a:r>
              <a:rPr lang="en-US" sz="1150" b="1" kern="0" spc="100">
                <a:solidFill>
                  <a:srgbClr val="34D399"/>
                </a:solidFill>
                <a:latin typeface="Trebuchet MS" pitchFamily="34" charset="0"/>
                <a:ea typeface="Trebuchet MS" pitchFamily="34" charset="-122"/>
                <a:cs typeface="Trebuchet MS" pitchFamily="34" charset="-120"/>
              </a:rPr>
              <a:t>YOU</a:t>
            </a:r>
            <a:endParaRPr lang="en-US"/>
          </a:p>
        </p:txBody>
      </p:sp>
      <p:sp>
        <p:nvSpPr>
          <p:cNvPr id="13" name="Text"/>
          <p:cNvSpPr/>
          <p:nvPr/>
        </p:nvSpPr>
        <p:spPr>
          <a:xfrm>
            <a:off x="1325880" y="4050000"/>
            <a:ext cx="3474720" cy="38000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SELL 1 June</a:t>
            </a:r>
            <a:endParaRPr lang="en-US"/>
          </a:p>
        </p:txBody>
      </p:sp>
      <p:sp>
        <p:nvSpPr>
          <p:cNvPr id="14" name="Text"/>
          <p:cNvSpPr/>
          <p:nvPr/>
        </p:nvSpPr>
        <p:spPr>
          <a:xfrm>
            <a:off x="1325880" y="4400000"/>
            <a:ext cx="3474720" cy="320000"/>
          </a:xfrm>
          <a:prstGeom prst="rect">
            <a:avLst/>
          </a:prstGeom>
          <a:noFill/>
          <a:ln/>
        </p:spPr>
        <p:txBody>
          <a:bodyPr wrap="square" lIns="0" tIns="0" rIns="0" bIns="0" rtlCol="0" anchor="ctr"/>
          <a:lstStyle/>
          <a:p>
            <a:pPr marL="0" indent="0">
              <a:buNone/>
            </a:pPr>
            <a:r>
              <a:rPr lang="en-US" sz="1300">
                <a:solidFill>
                  <a:srgbClr val="F2726B"/>
                </a:solidFill>
                <a:latin typeface="Consolas" pitchFamily="34" charset="0"/>
                <a:ea typeface="Consolas" pitchFamily="34" charset="-122"/>
                <a:cs typeface="Consolas" pitchFamily="34" charset="-120"/>
              </a:rPr>
              <a:t>now short  −1</a:t>
            </a:r>
            <a:endParaRPr lang="en-US"/>
          </a:p>
        </p:txBody>
      </p:sp>
      <p:sp>
        <p:nvSpPr>
          <p:cNvPr id="15" name="flow arrow">
            <a:extLst>
              <a:ext uri="{C183D7F6-B498-43B3-948B-1728B52AA6E4}">
                <adec:decorative xmlns:adec="http://schemas.microsoft.com/office/drawing/2017/decorative" val="1"/>
              </a:ext>
            </a:extLst>
          </p:cNvPr>
          <p:cNvSpPr/>
          <p:nvPr/>
        </p:nvSpPr>
        <p:spPr>
          <a:xfrm>
            <a:off x="5486400" y="4020000"/>
            <a:ext cx="419100" cy="320000"/>
          </a:xfrm>
          <a:prstGeom prst="rightArrow">
            <a:avLst/>
          </a:prstGeom>
          <a:solidFill>
            <a:srgbClr val="343E4A"/>
          </a:solidFill>
          <a:ln/>
        </p:spPr>
        <p:txBody>
          <a:bodyPr/>
          <a:lstStyle/>
          <a:p>
            <a:endParaRPr lang="en-SE"/>
          </a:p>
        </p:txBody>
      </p:sp>
      <p:sp>
        <p:nvSpPr>
          <p:cNvPr id="16" name="panel">
            <a:extLst>
              <a:ext uri="{C183D7F6-B498-43B3-948B-1728B52AA6E4}">
                <adec:decorative xmlns:adec="http://schemas.microsoft.com/office/drawing/2017/decorative" val="1"/>
              </a:ext>
            </a:extLst>
          </p:cNvPr>
          <p:cNvSpPr/>
          <p:nvPr/>
        </p:nvSpPr>
        <p:spPr>
          <a:xfrm>
            <a:off x="7162800" y="3620000"/>
            <a:ext cx="3931920" cy="1150000"/>
          </a:xfrm>
          <a:prstGeom prst="roundRect">
            <a:avLst>
              <a:gd name="adj" fmla="val 4390"/>
            </a:avLst>
          </a:prstGeom>
          <a:solidFill>
            <a:srgbClr val="1F252D"/>
          </a:solidFill>
          <a:ln w="12700">
            <a:solidFill>
              <a:srgbClr val="343E4A"/>
            </a:solidFill>
            <a:prstDash val="solid"/>
          </a:ln>
        </p:spPr>
        <p:txBody>
          <a:bodyPr/>
          <a:lstStyle/>
          <a:p>
            <a:endParaRPr lang="en-SE"/>
          </a:p>
        </p:txBody>
      </p:sp>
      <p:sp>
        <p:nvSpPr>
          <p:cNvPr id="17" name="Text"/>
          <p:cNvSpPr/>
          <p:nvPr/>
        </p:nvSpPr>
        <p:spPr>
          <a:xfrm>
            <a:off x="7391400" y="3770000"/>
            <a:ext cx="3474720" cy="274320"/>
          </a:xfrm>
          <a:prstGeom prst="rect">
            <a:avLst/>
          </a:prstGeom>
          <a:noFill/>
          <a:ln/>
        </p:spPr>
        <p:txBody>
          <a:bodyPr wrap="square" lIns="0" tIns="0" rIns="0" bIns="0" rtlCol="0" anchor="ctr"/>
          <a:lstStyle/>
          <a:p>
            <a:pPr marL="0" indent="0">
              <a:buNone/>
            </a:pPr>
            <a:r>
              <a:rPr lang="en-US" sz="1150" b="1" kern="0" spc="100">
                <a:solidFill>
                  <a:srgbClr val="6EA8E6"/>
                </a:solidFill>
                <a:latin typeface="Trebuchet MS" pitchFamily="34" charset="0"/>
                <a:ea typeface="Trebuchet MS" pitchFamily="34" charset="-122"/>
                <a:cs typeface="Trebuchet MS" pitchFamily="34" charset="-120"/>
              </a:rPr>
              <a:t>COUNTERPARTY</a:t>
            </a:r>
            <a:endParaRPr lang="en-US"/>
          </a:p>
        </p:txBody>
      </p:sp>
      <p:sp>
        <p:nvSpPr>
          <p:cNvPr id="18" name="Text"/>
          <p:cNvSpPr/>
          <p:nvPr/>
        </p:nvSpPr>
        <p:spPr>
          <a:xfrm>
            <a:off x="7391400" y="4050000"/>
            <a:ext cx="3474720" cy="38000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BUY 1 June</a:t>
            </a:r>
            <a:endParaRPr lang="en-US"/>
          </a:p>
        </p:txBody>
      </p:sp>
      <p:sp>
        <p:nvSpPr>
          <p:cNvPr id="19" name="Text"/>
          <p:cNvSpPr/>
          <p:nvPr/>
        </p:nvSpPr>
        <p:spPr>
          <a:xfrm>
            <a:off x="7391400" y="4400000"/>
            <a:ext cx="3474720" cy="320000"/>
          </a:xfrm>
          <a:prstGeom prst="rect">
            <a:avLst/>
          </a:prstGeom>
          <a:noFill/>
          <a:ln/>
        </p:spPr>
        <p:txBody>
          <a:bodyPr wrap="square" lIns="0" tIns="0" rIns="0" bIns="0" rtlCol="0" anchor="ctr"/>
          <a:lstStyle/>
          <a:p>
            <a:pPr marL="0" indent="0">
              <a:buNone/>
            </a:pPr>
            <a:r>
              <a:rPr lang="en-US" sz="1300">
                <a:solidFill>
                  <a:srgbClr val="34D399"/>
                </a:solidFill>
                <a:latin typeface="Consolas" pitchFamily="34" charset="0"/>
                <a:ea typeface="Consolas" pitchFamily="34" charset="-122"/>
                <a:cs typeface="Consolas" pitchFamily="34" charset="-120"/>
              </a:rPr>
              <a:t>now long  +1</a:t>
            </a:r>
            <a:endParaRPr lang="en-US"/>
          </a:p>
        </p:txBody>
      </p:sp>
      <p:sp>
        <p:nvSpPr>
          <p:cNvPr id="20" name="Text"/>
          <p:cNvSpPr/>
          <p:nvPr/>
        </p:nvSpPr>
        <p:spPr>
          <a:xfrm>
            <a:off x="640080" y="4930000"/>
            <a:ext cx="10908792" cy="360000"/>
          </a:xfrm>
          <a:prstGeom prst="rect">
            <a:avLst/>
          </a:prstGeom>
          <a:noFill/>
          <a:ln/>
        </p:spPr>
        <p:txBody>
          <a:bodyPr wrap="square" lIns="0" tIns="0" rIns="0" bIns="0" rtlCol="0" anchor="ctr"/>
          <a:lstStyle/>
          <a:p>
            <a:pPr marL="0" indent="0" algn="ctr">
              <a:buNone/>
            </a:pPr>
            <a:r>
              <a:rPr lang="en-US" sz="1300" i="1">
                <a:solidFill>
                  <a:srgbClr val="AAB2BD"/>
                </a:solidFill>
                <a:latin typeface="Calibri" pitchFamily="34" charset="0"/>
                <a:ea typeface="Calibri" pitchFamily="34" charset="-122"/>
                <a:cs typeface="Calibri" pitchFamily="34" charset="-120"/>
              </a:rPr>
              <a:t>Neither side owned a June future beforehand — the agreement creates both positions at once.</a:t>
            </a:r>
            <a:endParaRPr lang="en-US"/>
          </a:p>
        </p:txBody>
      </p:sp>
      <p:sp>
        <p:nvSpPr>
          <p:cNvPr id="21"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2"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3" name="Text"/>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a:solidFill>
                  <a:srgbClr val="34D399"/>
                </a:solidFill>
                <a:latin typeface="Trebuchet MS" pitchFamily="34" charset="0"/>
                <a:ea typeface="Trebuchet MS" pitchFamily="34" charset="-122"/>
                <a:cs typeface="Trebuchet MS" pitchFamily="34" charset="-120"/>
              </a:rPr>
              <a:t>KEY IDEA   </a:t>
            </a:r>
            <a:r>
              <a:rPr lang="en-US" sz="1300">
                <a:solidFill>
                  <a:srgbClr val="E7EBF0"/>
                </a:solidFill>
                <a:latin typeface="Calibri" pitchFamily="34" charset="0"/>
                <a:ea typeface="Calibri" pitchFamily="34" charset="-122"/>
                <a:cs typeface="Calibri" pitchFamily="34" charset="-120"/>
              </a:rPr>
              <a:t>Selling a future doesn't require owning one. It opens a short — an obligation you can later close by buying it back.</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But then who delivers the oil?">
    <p:spTree>
      <p:nvGrpSpPr>
        <p:cNvPr id="1" name=""/>
        <p:cNvGrpSpPr/>
        <p:nvPr/>
      </p:nvGrpSpPr>
      <p:grpSpPr>
        <a:xfrm>
          <a:off x="0" y="0"/>
          <a:ext cx="0" cy="0"/>
          <a:chOff x="0" y="0"/>
          <a:chExt cx="0" cy="0"/>
        </a:xfrm>
      </p:grpSpPr>
      <p:sp>
        <p:nvSpPr>
          <p:cNvPr id="2" name="tag"/>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a:solidFill>
                  <a:srgbClr val="34D399"/>
                </a:solidFill>
                <a:latin typeface="Trebuchet MS" pitchFamily="34" charset="0"/>
                <a:ea typeface="Trebuchet MS" pitchFamily="34" charset="-122"/>
                <a:cs typeface="Trebuchet MS" pitchFamily="34" charset="-120"/>
              </a:rPr>
              <a:t>FIRST PRINCIPLES</a:t>
            </a:r>
            <a:endParaRPr lang="en-US"/>
          </a:p>
        </p:txBody>
      </p:sp>
      <p:sp>
        <p:nvSpPr>
          <p:cNvPr id="3"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4" name="footer"/>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a:solidFill>
                  <a:srgbClr val="737D8A"/>
                </a:solidFill>
                <a:latin typeface="Trebuchet MS" pitchFamily="34" charset="0"/>
                <a:ea typeface="Trebuchet MS" pitchFamily="34" charset="-122"/>
                <a:cs typeface="Trebuchet MS" pitchFamily="34" charset="-120"/>
              </a:rPr>
              <a:t>Combo Orders with Futures</a:t>
            </a:r>
            <a:endParaRPr lang="en-US"/>
          </a:p>
        </p:txBody>
      </p:sp>
      <p:sp>
        <p:nvSpPr>
          <p:cNvPr id="5" name="pagenum"/>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8</a:t>
            </a:r>
            <a:endParaRPr lang="en-US"/>
          </a:p>
        </p:txBody>
      </p:sp>
      <p:sp>
        <p:nvSpPr>
          <p:cNvPr id="6" name="title"/>
          <p:cNvSpPr/>
          <p:nvPr/>
        </p:nvSpPr>
        <p:spPr>
          <a:xfrm>
            <a:off x="640080" y="603504"/>
            <a:ext cx="10972800" cy="822960"/>
          </a:xfrm>
          <a:prstGeom prst="rect">
            <a:avLst/>
          </a:prstGeom>
          <a:noFill/>
          <a:ln/>
        </p:spPr>
        <p:txBody>
          <a:bodyPr wrap="square" lIns="0" tIns="0" rIns="0" bIns="0" rtlCol="0" anchor="ctr"/>
          <a:lstStyle/>
          <a:p>
            <a:pPr marL="0" indent="0">
              <a:buNone/>
            </a:pPr>
            <a:r>
              <a:rPr lang="en-US" sz="2500" b="1">
                <a:solidFill>
                  <a:srgbClr val="E7EBF0"/>
                </a:solidFill>
                <a:latin typeface="Trebuchet MS" pitchFamily="34" charset="0"/>
                <a:ea typeface="Trebuchet MS" pitchFamily="34" charset="-122"/>
                <a:cs typeface="Trebuchet MS" pitchFamily="34" charset="-120"/>
              </a:rPr>
              <a:t>But then who delivers the oil?</a:t>
            </a:r>
            <a:endParaRPr lang="en-US"/>
          </a:p>
        </p:txBody>
      </p:sp>
      <p:sp>
        <p:nvSpPr>
          <p:cNvPr id="7" name="intro"/>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a:solidFill>
                  <a:srgbClr val="AAB2BD"/>
                </a:solidFill>
                <a:latin typeface="Calibri" pitchFamily="34" charset="0"/>
                <a:ea typeface="Calibri" pitchFamily="34" charset="-122"/>
                <a:cs typeface="Calibri" pitchFamily="34" charset="-120"/>
              </a:rPr>
              <a:t>If you sold a June contract and never bought any oil, wouldn't you be forced to hand over 1,000 barrels at expiry? Where would they even come from?</a:t>
            </a:r>
            <a:endParaRPr lang="en-US"/>
          </a:p>
        </p:txBody>
      </p:sp>
      <p:sp>
        <p:nvSpPr>
          <p:cNvPr id="8" name="panel">
            <a:extLst>
              <a:ext uri="{C183D7F6-B498-43B3-948B-1728B52AA6E4}">
                <adec:decorative xmlns:adec="http://schemas.microsoft.com/office/drawing/2017/decorative" val="1"/>
              </a:ext>
            </a:extLst>
          </p:cNvPr>
          <p:cNvSpPr/>
          <p:nvPr/>
        </p:nvSpPr>
        <p:spPr>
          <a:xfrm>
            <a:off x="640080" y="2194560"/>
            <a:ext cx="5303520" cy="2788920"/>
          </a:xfrm>
          <a:prstGeom prst="roundRect">
            <a:avLst>
              <a:gd name="adj" fmla="val 2951"/>
            </a:avLst>
          </a:prstGeom>
          <a:solidFill>
            <a:srgbClr val="1F252D"/>
          </a:solidFill>
          <a:ln w="12700">
            <a:solidFill>
              <a:srgbClr val="343E4A"/>
            </a:solidFill>
            <a:prstDash val="solid"/>
          </a:ln>
        </p:spPr>
        <p:txBody>
          <a:bodyPr/>
          <a:lstStyle/>
          <a:p>
            <a:endParaRPr lang="en-SE"/>
          </a:p>
        </p:txBody>
      </p:sp>
      <p:sp>
        <p:nvSpPr>
          <p:cNvPr id="9" name="Text"/>
          <p:cNvSpPr/>
          <p:nvPr/>
        </p:nvSpPr>
        <p:spPr>
          <a:xfrm>
            <a:off x="868680" y="2377440"/>
            <a:ext cx="4846320" cy="274320"/>
          </a:xfrm>
          <a:prstGeom prst="rect">
            <a:avLst/>
          </a:prstGeom>
          <a:noFill/>
          <a:ln/>
        </p:spPr>
        <p:txBody>
          <a:bodyPr wrap="square" lIns="0" tIns="0" rIns="0" bIns="0" rtlCol="0" anchor="ctr"/>
          <a:lstStyle/>
          <a:p>
            <a:pPr marL="0" indent="0">
              <a:buNone/>
            </a:pPr>
            <a:r>
              <a:rPr lang="en-US" sz="1200" b="1" kern="0" spc="100">
                <a:solidFill>
                  <a:srgbClr val="F5B759"/>
                </a:solidFill>
                <a:latin typeface="Trebuchet MS" pitchFamily="34" charset="0"/>
                <a:ea typeface="Trebuchet MS" pitchFamily="34" charset="-122"/>
                <a:cs typeface="Trebuchet MS" pitchFamily="34" charset="-120"/>
              </a:rPr>
              <a:t>IF YOU HELD TO EXPIRY</a:t>
            </a:r>
            <a:endParaRPr lang="en-US"/>
          </a:p>
        </p:txBody>
      </p:sp>
      <p:sp>
        <p:nvSpPr>
          <p:cNvPr id="10" name="Text"/>
          <p:cNvSpPr/>
          <p:nvPr/>
        </p:nvSpPr>
        <p:spPr>
          <a:xfrm>
            <a:off x="868680" y="2697480"/>
            <a:ext cx="4846320" cy="41148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Delivery is real</a:t>
            </a:r>
            <a:endParaRPr lang="en-US"/>
          </a:p>
        </p:txBody>
      </p:sp>
      <p:sp>
        <p:nvSpPr>
          <p:cNvPr id="11" name="Text"/>
          <p:cNvSpPr/>
          <p:nvPr/>
        </p:nvSpPr>
        <p:spPr>
          <a:xfrm>
            <a:off x="868680" y="3200400"/>
            <a:ext cx="4846320" cy="731520"/>
          </a:xfrm>
          <a:prstGeom prst="rect">
            <a:avLst/>
          </a:prstGeom>
          <a:noFill/>
          <a:ln/>
        </p:spPr>
        <p:txBody>
          <a:bodyPr wrap="square" lIns="0" tIns="0" rIns="0" bIns="0" rtlCol="0" anchor="ctr"/>
          <a:lstStyle/>
          <a:p>
            <a:pPr marL="0" indent="0">
              <a:lnSpc>
                <a:spcPct val="115000"/>
              </a:lnSpc>
              <a:buNone/>
            </a:pPr>
            <a:r>
              <a:rPr lang="en-US" sz="1350">
                <a:solidFill>
                  <a:srgbClr val="AAB2BD"/>
                </a:solidFill>
                <a:latin typeface="Calibri" pitchFamily="34" charset="0"/>
                <a:ea typeface="Calibri" pitchFamily="34" charset="-122"/>
                <a:cs typeface="Calibri" pitchFamily="34" charset="-120"/>
              </a:rPr>
              <a:t>A contract carried all the way to its delivery date does settle — physically (actual barrels) or in cash, depending on the contract.</a:t>
            </a:r>
            <a:endParaRPr lang="en-US"/>
          </a:p>
        </p:txBody>
      </p:sp>
      <p:sp>
        <p:nvSpPr>
          <p:cNvPr id="12" name="Text"/>
          <p:cNvSpPr/>
          <p:nvPr/>
        </p:nvSpPr>
        <p:spPr>
          <a:xfrm>
            <a:off x="868680" y="4160520"/>
            <a:ext cx="4846320" cy="640080"/>
          </a:xfrm>
          <a:prstGeom prst="rect">
            <a:avLst/>
          </a:prstGeom>
          <a:noFill/>
          <a:ln/>
        </p:spPr>
        <p:txBody>
          <a:bodyPr wrap="square" lIns="0" tIns="0" rIns="0" bIns="0" rtlCol="0" anchor="ctr"/>
          <a:lstStyle/>
          <a:p>
            <a:pPr marL="0" indent="0">
              <a:lnSpc>
                <a:spcPct val="110000"/>
              </a:lnSpc>
              <a:buNone/>
            </a:pPr>
            <a:r>
              <a:rPr lang="en-US" sz="1300" i="1">
                <a:solidFill>
                  <a:srgbClr val="F5B759"/>
                </a:solidFill>
                <a:latin typeface="Calibri" pitchFamily="34" charset="0"/>
                <a:ea typeface="Calibri" pitchFamily="34" charset="-122"/>
                <a:cs typeface="Calibri" pitchFamily="34" charset="-120"/>
              </a:rPr>
              <a:t>Very few traders ever go this far.</a:t>
            </a:r>
            <a:endParaRPr lang="en-US"/>
          </a:p>
        </p:txBody>
      </p:sp>
      <p:sp>
        <p:nvSpPr>
          <p:cNvPr id="13" name="panel">
            <a:extLst>
              <a:ext uri="{C183D7F6-B498-43B3-948B-1728B52AA6E4}">
                <adec:decorative xmlns:adec="http://schemas.microsoft.com/office/drawing/2017/decorative" val="1"/>
              </a:ext>
            </a:extLst>
          </p:cNvPr>
          <p:cNvSpPr/>
          <p:nvPr/>
        </p:nvSpPr>
        <p:spPr>
          <a:xfrm>
            <a:off x="6245352" y="2194560"/>
            <a:ext cx="5303520" cy="2788920"/>
          </a:xfrm>
          <a:prstGeom prst="roundRect">
            <a:avLst>
              <a:gd name="adj" fmla="val 2951"/>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14" name="Text"/>
          <p:cNvSpPr/>
          <p:nvPr/>
        </p:nvSpPr>
        <p:spPr>
          <a:xfrm>
            <a:off x="6473952" y="2377440"/>
            <a:ext cx="4846320" cy="274320"/>
          </a:xfrm>
          <a:prstGeom prst="rect">
            <a:avLst/>
          </a:prstGeom>
          <a:noFill/>
          <a:ln/>
        </p:spPr>
        <p:txBody>
          <a:bodyPr wrap="square" lIns="0" tIns="0" rIns="0" bIns="0" rtlCol="0" anchor="ctr"/>
          <a:lstStyle/>
          <a:p>
            <a:pPr marL="0" indent="0">
              <a:buNone/>
            </a:pPr>
            <a:r>
              <a:rPr lang="en-US" sz="1200" b="1" kern="0" spc="100">
                <a:solidFill>
                  <a:srgbClr val="34D399"/>
                </a:solidFill>
                <a:latin typeface="Trebuchet MS" pitchFamily="34" charset="0"/>
                <a:ea typeface="Trebuchet MS" pitchFamily="34" charset="-122"/>
                <a:cs typeface="Trebuchet MS" pitchFamily="34" charset="-120"/>
              </a:rPr>
              <a:t>WHAT TRADERS ACTUALLY DO</a:t>
            </a:r>
            <a:endParaRPr lang="en-US"/>
          </a:p>
        </p:txBody>
      </p:sp>
      <p:sp>
        <p:nvSpPr>
          <p:cNvPr id="15" name="Text"/>
          <p:cNvSpPr/>
          <p:nvPr/>
        </p:nvSpPr>
        <p:spPr>
          <a:xfrm>
            <a:off x="6473952" y="2697480"/>
            <a:ext cx="4846320" cy="41148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Just close early</a:t>
            </a:r>
            <a:endParaRPr lang="en-US"/>
          </a:p>
        </p:txBody>
      </p:sp>
      <p:sp>
        <p:nvSpPr>
          <p:cNvPr id="16" name="Text"/>
          <p:cNvSpPr/>
          <p:nvPr/>
        </p:nvSpPr>
        <p:spPr>
          <a:xfrm>
            <a:off x="6473952" y="3200400"/>
            <a:ext cx="4846320" cy="731520"/>
          </a:xfrm>
          <a:prstGeom prst="rect">
            <a:avLst/>
          </a:prstGeom>
          <a:noFill/>
          <a:ln/>
        </p:spPr>
        <p:txBody>
          <a:bodyPr wrap="square" lIns="0" tIns="0" rIns="0" bIns="0" rtlCol="0" anchor="ctr"/>
          <a:lstStyle/>
          <a:p>
            <a:pPr marL="0" indent="0">
              <a:lnSpc>
                <a:spcPct val="115000"/>
              </a:lnSpc>
              <a:buNone/>
            </a:pPr>
            <a:r>
              <a:rPr lang="en-US" sz="1350">
                <a:solidFill>
                  <a:srgbClr val="AAB2BD"/>
                </a:solidFill>
                <a:latin typeface="Calibri" pitchFamily="34" charset="0"/>
                <a:ea typeface="Calibri" pitchFamily="34" charset="-122"/>
                <a:cs typeface="Calibri" pitchFamily="34" charset="-120"/>
              </a:rPr>
              <a:t>Before expiry you do the opposite trade — buy back the June you sold. The two cancel, the obligation vanishes, and no barrels change hands.</a:t>
            </a:r>
            <a:endParaRPr lang="en-US"/>
          </a:p>
        </p:txBody>
      </p:sp>
      <p:sp>
        <p:nvSpPr>
          <p:cNvPr id="17" name="Text"/>
          <p:cNvSpPr/>
          <p:nvPr/>
        </p:nvSpPr>
        <p:spPr>
          <a:xfrm>
            <a:off x="6473952" y="4160520"/>
            <a:ext cx="4846320" cy="640080"/>
          </a:xfrm>
          <a:prstGeom prst="rect">
            <a:avLst/>
          </a:prstGeom>
          <a:noFill/>
          <a:ln/>
        </p:spPr>
        <p:txBody>
          <a:bodyPr wrap="square" lIns="0" tIns="0" rIns="0" bIns="0" rtlCol="0" anchor="ctr"/>
          <a:lstStyle/>
          <a:p>
            <a:pPr marL="0" indent="0">
              <a:lnSpc>
                <a:spcPct val="110000"/>
              </a:lnSpc>
              <a:buNone/>
            </a:pPr>
            <a:r>
              <a:rPr lang="en-US" sz="1300" i="1">
                <a:solidFill>
                  <a:srgbClr val="34D399"/>
                </a:solidFill>
                <a:latin typeface="Calibri" pitchFamily="34" charset="0"/>
                <a:ea typeface="Calibri" pitchFamily="34" charset="-122"/>
                <a:cs typeface="Calibri" pitchFamily="34" charset="-120"/>
              </a:rPr>
              <a:t>You source nothing; you just buy the contract back.</a:t>
            </a:r>
            <a:endParaRPr lang="en-US"/>
          </a:p>
        </p:txBody>
      </p:sp>
      <p:sp>
        <p:nvSpPr>
          <p:cNvPr id="18"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19"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0" name="Text"/>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a:solidFill>
                  <a:srgbClr val="34D399"/>
                </a:solidFill>
                <a:latin typeface="Trebuchet MS" pitchFamily="34" charset="0"/>
                <a:ea typeface="Trebuchet MS" pitchFamily="34" charset="-122"/>
                <a:cs typeface="Trebuchet MS" pitchFamily="34" charset="-120"/>
              </a:rPr>
              <a:t>KEY IDEA   </a:t>
            </a:r>
            <a:r>
              <a:rPr lang="en-US" sz="1300">
                <a:solidFill>
                  <a:srgbClr val="E7EBF0"/>
                </a:solidFill>
                <a:latin typeface="Calibri" pitchFamily="34" charset="0"/>
                <a:ea typeface="Calibri" pitchFamily="34" charset="-122"/>
                <a:cs typeface="Calibri" pitchFamily="34" charset="-120"/>
              </a:rPr>
              <a:t>You exit by buying the contract back before delivery — so a spread trader never has to find, store, or deliver a single barrel.</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Are you guaranteed to be able to sell?">
    <p:spTree>
      <p:nvGrpSpPr>
        <p:cNvPr id="1" name=""/>
        <p:cNvGrpSpPr/>
        <p:nvPr/>
      </p:nvGrpSpPr>
      <p:grpSpPr>
        <a:xfrm>
          <a:off x="0" y="0"/>
          <a:ext cx="0" cy="0"/>
          <a:chOff x="0" y="0"/>
          <a:chExt cx="0" cy="0"/>
        </a:xfrm>
      </p:grpSpPr>
      <p:sp>
        <p:nvSpPr>
          <p:cNvPr id="2" name="tag"/>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a:solidFill>
                  <a:srgbClr val="34D399"/>
                </a:solidFill>
                <a:latin typeface="Trebuchet MS" pitchFamily="34" charset="0"/>
                <a:ea typeface="Trebuchet MS" pitchFamily="34" charset="-122"/>
                <a:cs typeface="Trebuchet MS" pitchFamily="34" charset="-120"/>
              </a:rPr>
              <a:t>FIRST PRINCIPLES</a:t>
            </a:r>
            <a:endParaRPr lang="en-US"/>
          </a:p>
        </p:txBody>
      </p:sp>
      <p:sp>
        <p:nvSpPr>
          <p:cNvPr id="3"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4" name="footer"/>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a:solidFill>
                  <a:srgbClr val="737D8A"/>
                </a:solidFill>
                <a:latin typeface="Trebuchet MS" pitchFamily="34" charset="0"/>
                <a:ea typeface="Trebuchet MS" pitchFamily="34" charset="-122"/>
                <a:cs typeface="Trebuchet MS" pitchFamily="34" charset="-120"/>
              </a:rPr>
              <a:t>Combo Orders with Futures</a:t>
            </a:r>
            <a:endParaRPr lang="en-US"/>
          </a:p>
        </p:txBody>
      </p:sp>
      <p:sp>
        <p:nvSpPr>
          <p:cNvPr id="5" name="pagenum"/>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9</a:t>
            </a:r>
            <a:endParaRPr lang="en-US"/>
          </a:p>
        </p:txBody>
      </p:sp>
      <p:sp>
        <p:nvSpPr>
          <p:cNvPr id="6" name="title"/>
          <p:cNvSpPr/>
          <p:nvPr/>
        </p:nvSpPr>
        <p:spPr>
          <a:xfrm>
            <a:off x="640080" y="603504"/>
            <a:ext cx="10972800" cy="822960"/>
          </a:xfrm>
          <a:prstGeom prst="rect">
            <a:avLst/>
          </a:prstGeom>
          <a:noFill/>
          <a:ln/>
        </p:spPr>
        <p:txBody>
          <a:bodyPr wrap="square" lIns="0" tIns="0" rIns="0" bIns="0" rtlCol="0" anchor="ctr"/>
          <a:lstStyle/>
          <a:p>
            <a:pPr marL="0" indent="0">
              <a:buNone/>
            </a:pPr>
            <a:r>
              <a:rPr lang="en-US" sz="2500" b="1">
                <a:solidFill>
                  <a:srgbClr val="E7EBF0"/>
                </a:solidFill>
                <a:latin typeface="Trebuchet MS" pitchFamily="34" charset="0"/>
                <a:ea typeface="Trebuchet MS" pitchFamily="34" charset="-122"/>
                <a:cs typeface="Trebuchet MS" pitchFamily="34" charset="-120"/>
              </a:rPr>
              <a:t>Are you guaranteed to be able to sell?</a:t>
            </a:r>
            <a:endParaRPr lang="en-US"/>
          </a:p>
        </p:txBody>
      </p:sp>
      <p:sp>
        <p:nvSpPr>
          <p:cNvPr id="7" name="intro"/>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a:solidFill>
                  <a:srgbClr val="AAB2BD"/>
                </a:solidFill>
                <a:latin typeface="Calibri" pitchFamily="34" charset="0"/>
                <a:ea typeface="Calibri" pitchFamily="34" charset="-122"/>
                <a:cs typeface="Calibri" pitchFamily="34" charset="-120"/>
              </a:rPr>
              <a:t>So if you can sell without owning, are you also guaranteed to sell whenever you want, at the price you want? Two different things hide inside that one question.</a:t>
            </a:r>
            <a:endParaRPr lang="en-US"/>
          </a:p>
        </p:txBody>
      </p:sp>
      <p:sp>
        <p:nvSpPr>
          <p:cNvPr id="8" name="panel">
            <a:extLst>
              <a:ext uri="{C183D7F6-B498-43B3-948B-1728B52AA6E4}">
                <adec:decorative xmlns:adec="http://schemas.microsoft.com/office/drawing/2017/decorative" val="1"/>
              </a:ext>
            </a:extLst>
          </p:cNvPr>
          <p:cNvSpPr/>
          <p:nvPr/>
        </p:nvSpPr>
        <p:spPr>
          <a:xfrm>
            <a:off x="640080" y="2194560"/>
            <a:ext cx="5303520" cy="2788920"/>
          </a:xfrm>
          <a:prstGeom prst="roundRect">
            <a:avLst>
              <a:gd name="adj" fmla="val 2951"/>
            </a:avLst>
          </a:prstGeom>
          <a:solidFill>
            <a:srgbClr val="1F252D"/>
          </a:solidFill>
          <a:ln w="12700">
            <a:solidFill>
              <a:srgbClr val="343E4A"/>
            </a:solidFill>
            <a:prstDash val="solid"/>
          </a:ln>
        </p:spPr>
        <p:txBody>
          <a:bodyPr/>
          <a:lstStyle/>
          <a:p>
            <a:endParaRPr lang="en-SE"/>
          </a:p>
        </p:txBody>
      </p:sp>
      <p:sp>
        <p:nvSpPr>
          <p:cNvPr id="9" name="Text"/>
          <p:cNvSpPr/>
          <p:nvPr/>
        </p:nvSpPr>
        <p:spPr>
          <a:xfrm>
            <a:off x="868680" y="2377440"/>
            <a:ext cx="4846320" cy="274320"/>
          </a:xfrm>
          <a:prstGeom prst="rect">
            <a:avLst/>
          </a:prstGeom>
          <a:noFill/>
          <a:ln/>
        </p:spPr>
        <p:txBody>
          <a:bodyPr wrap="square" lIns="0" tIns="0" rIns="0" bIns="0" rtlCol="0" anchor="ctr"/>
          <a:lstStyle/>
          <a:p>
            <a:pPr marL="0" indent="0">
              <a:buNone/>
            </a:pPr>
            <a:r>
              <a:rPr lang="en-US" sz="1200" b="1" kern="0" spc="100">
                <a:solidFill>
                  <a:srgbClr val="34D399"/>
                </a:solidFill>
                <a:latin typeface="Trebuchet MS" pitchFamily="34" charset="0"/>
                <a:ea typeface="Trebuchet MS" pitchFamily="34" charset="-122"/>
                <a:cs typeface="Trebuchet MS" pitchFamily="34" charset="-120"/>
              </a:rPr>
              <a:t>WHAT IS GUARANTEED</a:t>
            </a:r>
            <a:endParaRPr lang="en-US"/>
          </a:p>
        </p:txBody>
      </p:sp>
      <p:sp>
        <p:nvSpPr>
          <p:cNvPr id="10" name="Text"/>
          <p:cNvSpPr/>
          <p:nvPr/>
        </p:nvSpPr>
        <p:spPr>
          <a:xfrm>
            <a:off x="868680" y="2697480"/>
            <a:ext cx="4846320" cy="41148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The price holds</a:t>
            </a:r>
            <a:endParaRPr lang="en-US"/>
          </a:p>
        </p:txBody>
      </p:sp>
      <p:sp>
        <p:nvSpPr>
          <p:cNvPr id="11" name="Text"/>
          <p:cNvSpPr/>
          <p:nvPr/>
        </p:nvSpPr>
        <p:spPr>
          <a:xfrm>
            <a:off x="868680" y="3200400"/>
            <a:ext cx="4846320" cy="731520"/>
          </a:xfrm>
          <a:prstGeom prst="rect">
            <a:avLst/>
          </a:prstGeom>
          <a:noFill/>
          <a:ln/>
        </p:spPr>
        <p:txBody>
          <a:bodyPr wrap="square" lIns="0" tIns="0" rIns="0" bIns="0" rtlCol="0" anchor="ctr"/>
          <a:lstStyle/>
          <a:p>
            <a:pPr marL="0" indent="0">
              <a:lnSpc>
                <a:spcPct val="115000"/>
              </a:lnSpc>
              <a:buNone/>
            </a:pPr>
            <a:r>
              <a:rPr lang="en-US" sz="1350">
                <a:solidFill>
                  <a:srgbClr val="AAB2BD"/>
                </a:solidFill>
                <a:latin typeface="Calibri" pitchFamily="34" charset="0"/>
                <a:ea typeface="Calibri" pitchFamily="34" charset="-122"/>
                <a:cs typeface="Calibri" pitchFamily="34" charset="-120"/>
              </a:rPr>
              <a:t>A clearing house stands between buyer and seller and guarantees the contract is honoured. Your counterparty cannot simply walk away from the agreed price.</a:t>
            </a:r>
            <a:endParaRPr lang="en-US"/>
          </a:p>
        </p:txBody>
      </p:sp>
      <p:sp>
        <p:nvSpPr>
          <p:cNvPr id="12" name="Text"/>
          <p:cNvSpPr/>
          <p:nvPr/>
        </p:nvSpPr>
        <p:spPr>
          <a:xfrm>
            <a:off x="868680" y="4160520"/>
            <a:ext cx="4846320" cy="640080"/>
          </a:xfrm>
          <a:prstGeom prst="rect">
            <a:avLst/>
          </a:prstGeom>
          <a:noFill/>
          <a:ln/>
        </p:spPr>
        <p:txBody>
          <a:bodyPr wrap="square" lIns="0" tIns="0" rIns="0" bIns="0" rtlCol="0" anchor="ctr"/>
          <a:lstStyle/>
          <a:p>
            <a:pPr marL="0" indent="0">
              <a:lnSpc>
                <a:spcPct val="110000"/>
              </a:lnSpc>
              <a:buNone/>
            </a:pPr>
            <a:r>
              <a:rPr lang="en-US" sz="1300" i="1">
                <a:solidFill>
                  <a:srgbClr val="34D399"/>
                </a:solidFill>
                <a:latin typeface="Calibri" pitchFamily="34" charset="0"/>
                <a:ea typeface="Calibri" pitchFamily="34" charset="-122"/>
                <a:cs typeface="Calibri" pitchFamily="34" charset="-120"/>
              </a:rPr>
              <a:t>No default risk on the price you locked.</a:t>
            </a:r>
            <a:endParaRPr lang="en-US"/>
          </a:p>
        </p:txBody>
      </p:sp>
      <p:sp>
        <p:nvSpPr>
          <p:cNvPr id="13" name="panel">
            <a:extLst>
              <a:ext uri="{C183D7F6-B498-43B3-948B-1728B52AA6E4}">
                <adec:decorative xmlns:adec="http://schemas.microsoft.com/office/drawing/2017/decorative" val="1"/>
              </a:ext>
            </a:extLst>
          </p:cNvPr>
          <p:cNvSpPr/>
          <p:nvPr/>
        </p:nvSpPr>
        <p:spPr>
          <a:xfrm>
            <a:off x="6245352" y="2194560"/>
            <a:ext cx="5303520" cy="2788920"/>
          </a:xfrm>
          <a:prstGeom prst="roundRect">
            <a:avLst>
              <a:gd name="adj" fmla="val 2951"/>
            </a:avLst>
          </a:prstGeom>
          <a:solidFill>
            <a:srgbClr val="262E38"/>
          </a:solidFill>
          <a:ln w="19050">
            <a:solidFill>
              <a:srgbClr val="F5B759"/>
            </a:solidFill>
            <a:prstDash val="solid"/>
          </a:ln>
          <a:effectLst>
            <a:outerShdw blurRad="127000" dist="38100" dir="5400000" algn="bl" rotWithShape="0">
              <a:srgbClr val="000000">
                <a:alpha val="35000"/>
              </a:srgbClr>
            </a:outerShdw>
          </a:effectLst>
        </p:spPr>
        <p:txBody>
          <a:bodyPr/>
          <a:lstStyle/>
          <a:p>
            <a:endParaRPr lang="en-SE"/>
          </a:p>
        </p:txBody>
      </p:sp>
      <p:sp>
        <p:nvSpPr>
          <p:cNvPr id="14" name="Text"/>
          <p:cNvSpPr/>
          <p:nvPr/>
        </p:nvSpPr>
        <p:spPr>
          <a:xfrm>
            <a:off x="6473952" y="2377440"/>
            <a:ext cx="4846320" cy="274320"/>
          </a:xfrm>
          <a:prstGeom prst="rect">
            <a:avLst/>
          </a:prstGeom>
          <a:noFill/>
          <a:ln/>
        </p:spPr>
        <p:txBody>
          <a:bodyPr wrap="square" lIns="0" tIns="0" rIns="0" bIns="0" rtlCol="0" anchor="ctr"/>
          <a:lstStyle/>
          <a:p>
            <a:pPr marL="0" indent="0">
              <a:buNone/>
            </a:pPr>
            <a:r>
              <a:rPr lang="en-US" sz="1200" b="1" kern="0" spc="100">
                <a:solidFill>
                  <a:srgbClr val="F5B759"/>
                </a:solidFill>
                <a:latin typeface="Trebuchet MS" pitchFamily="34" charset="0"/>
                <a:ea typeface="Trebuchet MS" pitchFamily="34" charset="-122"/>
                <a:cs typeface="Trebuchet MS" pitchFamily="34" charset="-120"/>
              </a:rPr>
              <a:t>WHAT IS NOT</a:t>
            </a:r>
            <a:endParaRPr lang="en-US"/>
          </a:p>
        </p:txBody>
      </p:sp>
      <p:sp>
        <p:nvSpPr>
          <p:cNvPr id="15" name="Text"/>
          <p:cNvSpPr/>
          <p:nvPr/>
        </p:nvSpPr>
        <p:spPr>
          <a:xfrm>
            <a:off x="6473952" y="2697480"/>
            <a:ext cx="4846320" cy="411480"/>
          </a:xfrm>
          <a:prstGeom prst="rect">
            <a:avLst/>
          </a:prstGeom>
          <a:noFill/>
          <a:ln/>
        </p:spPr>
        <p:txBody>
          <a:bodyPr wrap="square" lIns="0" tIns="0" rIns="0" bIns="0" rtlCol="0" anchor="ctr"/>
          <a:lstStyle/>
          <a:p>
            <a:pPr marL="0" indent="0">
              <a:buNone/>
            </a:pPr>
            <a:r>
              <a:rPr lang="en-US" sz="1700" b="1">
                <a:solidFill>
                  <a:srgbClr val="E7EBF0"/>
                </a:solidFill>
                <a:latin typeface="Trebuchet MS" pitchFamily="34" charset="0"/>
                <a:ea typeface="Trebuchet MS" pitchFamily="34" charset="-122"/>
                <a:cs typeface="Trebuchet MS" pitchFamily="34" charset="-120"/>
              </a:rPr>
              <a:t>Exiting on demand</a:t>
            </a:r>
            <a:endParaRPr lang="en-US"/>
          </a:p>
        </p:txBody>
      </p:sp>
      <p:sp>
        <p:nvSpPr>
          <p:cNvPr id="16" name="Text"/>
          <p:cNvSpPr/>
          <p:nvPr/>
        </p:nvSpPr>
        <p:spPr>
          <a:xfrm>
            <a:off x="6473952" y="3200400"/>
            <a:ext cx="4846320" cy="731520"/>
          </a:xfrm>
          <a:prstGeom prst="rect">
            <a:avLst/>
          </a:prstGeom>
          <a:noFill/>
          <a:ln/>
        </p:spPr>
        <p:txBody>
          <a:bodyPr wrap="square" lIns="0" tIns="0" rIns="0" bIns="0" rtlCol="0" anchor="ctr"/>
          <a:lstStyle/>
          <a:p>
            <a:pPr marL="0" indent="0">
              <a:lnSpc>
                <a:spcPct val="115000"/>
              </a:lnSpc>
              <a:buNone/>
            </a:pPr>
            <a:r>
              <a:rPr lang="en-US" sz="1350">
                <a:solidFill>
                  <a:srgbClr val="AAB2BD"/>
                </a:solidFill>
                <a:latin typeface="Calibri" pitchFamily="34" charset="0"/>
                <a:ea typeface="Calibri" pitchFamily="34" charset="-122"/>
                <a:cs typeface="Calibri" pitchFamily="34" charset="-120"/>
              </a:rPr>
              <a:t>A resting order to sell at your price only fills if a buyer meets it. A market order fills now — but at whatever price the market offers, not one you choose.</a:t>
            </a:r>
            <a:endParaRPr lang="en-US"/>
          </a:p>
        </p:txBody>
      </p:sp>
      <p:sp>
        <p:nvSpPr>
          <p:cNvPr id="17" name="Text"/>
          <p:cNvSpPr/>
          <p:nvPr/>
        </p:nvSpPr>
        <p:spPr>
          <a:xfrm>
            <a:off x="6473952" y="4160520"/>
            <a:ext cx="4846320" cy="640080"/>
          </a:xfrm>
          <a:prstGeom prst="rect">
            <a:avLst/>
          </a:prstGeom>
          <a:noFill/>
          <a:ln/>
        </p:spPr>
        <p:txBody>
          <a:bodyPr wrap="square" lIns="0" tIns="0" rIns="0" bIns="0" rtlCol="0" anchor="ctr"/>
          <a:lstStyle/>
          <a:p>
            <a:pPr marL="0" indent="0">
              <a:lnSpc>
                <a:spcPct val="110000"/>
              </a:lnSpc>
              <a:buNone/>
            </a:pPr>
            <a:r>
              <a:rPr lang="en-US" sz="1300" i="1">
                <a:solidFill>
                  <a:srgbClr val="F5B759"/>
                </a:solidFill>
                <a:latin typeface="Calibri" pitchFamily="34" charset="0"/>
                <a:ea typeface="Calibri" pitchFamily="34" charset="-122"/>
                <a:cs typeface="Calibri" pitchFamily="34" charset="-120"/>
              </a:rPr>
              <a:t>Getting out at your price is never promised.</a:t>
            </a:r>
            <a:endParaRPr lang="en-US"/>
          </a:p>
        </p:txBody>
      </p:sp>
      <p:sp>
        <p:nvSpPr>
          <p:cNvPr id="18"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19"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0" name="Text"/>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a:solidFill>
                  <a:srgbClr val="34D399"/>
                </a:solidFill>
                <a:latin typeface="Trebuchet MS" pitchFamily="34" charset="0"/>
                <a:ea typeface="Trebuchet MS" pitchFamily="34" charset="-122"/>
                <a:cs typeface="Trebuchet MS" pitchFamily="34" charset="-120"/>
              </a:rPr>
              <a:t>KEY IDEA   </a:t>
            </a:r>
            <a:r>
              <a:rPr lang="en-US" sz="1300">
                <a:solidFill>
                  <a:srgbClr val="E7EBF0"/>
                </a:solidFill>
                <a:latin typeface="Calibri" pitchFamily="34" charset="0"/>
                <a:ea typeface="Calibri" pitchFamily="34" charset="-122"/>
                <a:cs typeface="Calibri" pitchFamily="34" charset="-120"/>
              </a:rPr>
              <a:t>The guarantee is that the agreed price will be honoured — not that you can exit whenever, at whatever price. That gap is what the rest of this deck is about.</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he journey — six stages">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journey — six stages</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ORIENTATION</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10</a:t>
            </a:r>
            <a:endParaRPr lang="en-US" sz="1000" dirty="0"/>
          </a:p>
        </p:txBody>
      </p:sp>
      <p:sp>
        <p:nvSpPr>
          <p:cNvPr id="7" name="panel">
            <a:extLst>
              <a:ext uri="{C183D7F6-B498-43B3-948B-1728B52AA6E4}">
                <adec:decorative xmlns:adec="http://schemas.microsoft.com/office/drawing/2017/decorative" val="1"/>
              </a:ext>
            </a:extLst>
          </p:cNvPr>
          <p:cNvSpPr/>
          <p:nvPr/>
        </p:nvSpPr>
        <p:spPr>
          <a:xfrm>
            <a:off x="640080" y="1737360"/>
            <a:ext cx="3474720" cy="1874520"/>
          </a:xfrm>
          <a:prstGeom prst="roundRect">
            <a:avLst>
              <a:gd name="adj" fmla="val 439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8" name="Text 6"/>
          <p:cNvSpPr/>
          <p:nvPr/>
        </p:nvSpPr>
        <p:spPr>
          <a:xfrm>
            <a:off x="896112" y="1956816"/>
            <a:ext cx="1463040" cy="640080"/>
          </a:xfrm>
          <a:prstGeom prst="rect">
            <a:avLst/>
          </a:prstGeom>
          <a:noFill/>
          <a:ln/>
        </p:spPr>
        <p:txBody>
          <a:bodyPr wrap="square" lIns="0" tIns="0" rIns="0" bIns="0" rtlCol="0" anchor="ctr"/>
          <a:lstStyle/>
          <a:p>
            <a:pPr marL="0" indent="0">
              <a:buNone/>
            </a:pPr>
            <a:r>
              <a:rPr lang="en-US" sz="3000" b="1" dirty="0">
                <a:solidFill>
                  <a:srgbClr val="F2726B"/>
                </a:solidFill>
                <a:latin typeface="Trebuchet MS" pitchFamily="34" charset="0"/>
                <a:ea typeface="Trebuchet MS" pitchFamily="34" charset="-122"/>
                <a:cs typeface="Trebuchet MS" pitchFamily="34" charset="-120"/>
              </a:rPr>
              <a:t>01</a:t>
            </a:r>
            <a:endParaRPr lang="en-US" sz="3000" dirty="0"/>
          </a:p>
        </p:txBody>
      </p:sp>
      <p:sp>
        <p:nvSpPr>
          <p:cNvPr id="9" name="rule">
            <a:extLst>
              <a:ext uri="{C183D7F6-B498-43B3-948B-1728B52AA6E4}">
                <adec:decorative xmlns:adec="http://schemas.microsoft.com/office/drawing/2017/decorative" val="1"/>
              </a:ext>
            </a:extLst>
          </p:cNvPr>
          <p:cNvSpPr/>
          <p:nvPr/>
        </p:nvSpPr>
        <p:spPr>
          <a:xfrm>
            <a:off x="914400" y="2651760"/>
            <a:ext cx="384048" cy="54864"/>
          </a:xfrm>
          <a:prstGeom prst="rect">
            <a:avLst/>
          </a:prstGeom>
          <a:solidFill>
            <a:srgbClr val="F2726B"/>
          </a:solidFill>
          <a:ln/>
        </p:spPr>
        <p:txBody>
          <a:bodyPr/>
          <a:lstStyle/>
          <a:p>
            <a:endParaRPr lang="en-SE"/>
          </a:p>
        </p:txBody>
      </p:sp>
      <p:sp>
        <p:nvSpPr>
          <p:cNvPr id="10" name="Text 8"/>
          <p:cNvSpPr/>
          <p:nvPr/>
        </p:nvSpPr>
        <p:spPr>
          <a:xfrm>
            <a:off x="896112" y="2743200"/>
            <a:ext cx="3017520" cy="365760"/>
          </a:xfrm>
          <a:prstGeom prst="rect">
            <a:avLst/>
          </a:prstGeom>
          <a:noFill/>
          <a:ln/>
        </p:spPr>
        <p:txBody>
          <a:bodyPr wrap="square" lIns="0" tIns="0" rIns="0" bIns="0" rtlCol="0" anchor="ctr"/>
          <a:lstStyle/>
          <a:p>
            <a:pPr marL="0" indent="0">
              <a:buNone/>
            </a:pPr>
            <a:r>
              <a:rPr lang="en-US" sz="1600" b="1" dirty="0">
                <a:solidFill>
                  <a:srgbClr val="E7EBF0"/>
                </a:solidFill>
                <a:latin typeface="Trebuchet MS" pitchFamily="34" charset="0"/>
                <a:ea typeface="Trebuchet MS" pitchFamily="34" charset="-122"/>
                <a:cs typeface="Trebuchet MS" pitchFamily="34" charset="-120"/>
              </a:rPr>
              <a:t>The problem</a:t>
            </a:r>
            <a:endParaRPr lang="en-US" sz="1600" dirty="0"/>
          </a:p>
        </p:txBody>
      </p:sp>
      <p:sp>
        <p:nvSpPr>
          <p:cNvPr id="11" name="Text 9"/>
          <p:cNvSpPr/>
          <p:nvPr/>
        </p:nvSpPr>
        <p:spPr>
          <a:xfrm>
            <a:off x="896112" y="3127248"/>
            <a:ext cx="2999232" cy="411480"/>
          </a:xfrm>
          <a:prstGeom prst="rect">
            <a:avLst/>
          </a:prstGeom>
          <a:noFill/>
          <a:ln/>
        </p:spPr>
        <p:txBody>
          <a:bodyPr wrap="square" lIns="0" tIns="0" rIns="0" bIns="0" rtlCol="0" anchor="ctr"/>
          <a:lstStyle/>
          <a:p>
            <a:pPr marL="0" indent="0">
              <a:lnSpc>
                <a:spcPct val="105000"/>
              </a:lnSpc>
              <a:buNone/>
            </a:pPr>
            <a:r>
              <a:rPr lang="en-US" sz="1150" dirty="0">
                <a:solidFill>
                  <a:srgbClr val="AAB2BD"/>
                </a:solidFill>
                <a:latin typeface="Calibri" pitchFamily="34" charset="0"/>
                <a:ea typeface="Calibri" pitchFamily="34" charset="-122"/>
                <a:cs typeface="Calibri" pitchFamily="34" charset="-120"/>
              </a:rPr>
              <a:t>Why trading two contracts separately is dangerous</a:t>
            </a:r>
            <a:endParaRPr lang="en-US" sz="1150" dirty="0"/>
          </a:p>
        </p:txBody>
      </p:sp>
      <p:sp>
        <p:nvSpPr>
          <p:cNvPr id="12" name="flow arrow">
            <a:extLst>
              <a:ext uri="{C183D7F6-B498-43B3-948B-1728B52AA6E4}">
                <adec:decorative xmlns:adec="http://schemas.microsoft.com/office/drawing/2017/decorative" val="1"/>
              </a:ext>
            </a:extLst>
          </p:cNvPr>
          <p:cNvSpPr/>
          <p:nvPr/>
        </p:nvSpPr>
        <p:spPr>
          <a:xfrm>
            <a:off x="4133088" y="2560320"/>
            <a:ext cx="182880" cy="329184"/>
          </a:xfrm>
          <a:prstGeom prst="rightArrow">
            <a:avLst/>
          </a:prstGeom>
          <a:solidFill>
            <a:srgbClr val="343E4A"/>
          </a:solidFill>
          <a:ln/>
        </p:spPr>
        <p:txBody>
          <a:bodyPr/>
          <a:lstStyle/>
          <a:p>
            <a:endParaRPr lang="en-SE"/>
          </a:p>
        </p:txBody>
      </p:sp>
      <p:sp>
        <p:nvSpPr>
          <p:cNvPr id="13" name="panel">
            <a:extLst>
              <a:ext uri="{C183D7F6-B498-43B3-948B-1728B52AA6E4}">
                <adec:decorative xmlns:adec="http://schemas.microsoft.com/office/drawing/2017/decorative" val="1"/>
              </a:ext>
            </a:extLst>
          </p:cNvPr>
          <p:cNvSpPr/>
          <p:nvPr/>
        </p:nvSpPr>
        <p:spPr>
          <a:xfrm>
            <a:off x="4343400" y="1737360"/>
            <a:ext cx="3474720" cy="1874520"/>
          </a:xfrm>
          <a:prstGeom prst="roundRect">
            <a:avLst>
              <a:gd name="adj" fmla="val 439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14" name="Text 12"/>
          <p:cNvSpPr/>
          <p:nvPr/>
        </p:nvSpPr>
        <p:spPr>
          <a:xfrm>
            <a:off x="4599432" y="1956816"/>
            <a:ext cx="1463040" cy="640080"/>
          </a:xfrm>
          <a:prstGeom prst="rect">
            <a:avLst/>
          </a:prstGeom>
          <a:noFill/>
          <a:ln/>
        </p:spPr>
        <p:txBody>
          <a:bodyPr wrap="square" lIns="0" tIns="0" rIns="0" bIns="0" rtlCol="0" anchor="ctr"/>
          <a:lstStyle/>
          <a:p>
            <a:pPr marL="0" indent="0">
              <a:buNone/>
            </a:pPr>
            <a:r>
              <a:rPr lang="en-US" sz="3000" b="1" dirty="0">
                <a:solidFill>
                  <a:srgbClr val="34D399"/>
                </a:solidFill>
                <a:latin typeface="Trebuchet MS" pitchFamily="34" charset="0"/>
                <a:ea typeface="Trebuchet MS" pitchFamily="34" charset="-122"/>
                <a:cs typeface="Trebuchet MS" pitchFamily="34" charset="-120"/>
              </a:rPr>
              <a:t>02</a:t>
            </a:r>
            <a:endParaRPr lang="en-US" sz="3000" dirty="0"/>
          </a:p>
        </p:txBody>
      </p:sp>
      <p:sp>
        <p:nvSpPr>
          <p:cNvPr id="15" name="rule">
            <a:extLst>
              <a:ext uri="{C183D7F6-B498-43B3-948B-1728B52AA6E4}">
                <adec:decorative xmlns:adec="http://schemas.microsoft.com/office/drawing/2017/decorative" val="1"/>
              </a:ext>
            </a:extLst>
          </p:cNvPr>
          <p:cNvSpPr/>
          <p:nvPr/>
        </p:nvSpPr>
        <p:spPr>
          <a:xfrm>
            <a:off x="4617720" y="2651760"/>
            <a:ext cx="384048" cy="54864"/>
          </a:xfrm>
          <a:prstGeom prst="rect">
            <a:avLst/>
          </a:prstGeom>
          <a:solidFill>
            <a:srgbClr val="34D399"/>
          </a:solidFill>
          <a:ln/>
        </p:spPr>
        <p:txBody>
          <a:bodyPr/>
          <a:lstStyle/>
          <a:p>
            <a:endParaRPr lang="en-SE"/>
          </a:p>
        </p:txBody>
      </p:sp>
      <p:sp>
        <p:nvSpPr>
          <p:cNvPr id="16" name="Text 14"/>
          <p:cNvSpPr/>
          <p:nvPr/>
        </p:nvSpPr>
        <p:spPr>
          <a:xfrm>
            <a:off x="4599432" y="2743200"/>
            <a:ext cx="3017520" cy="365760"/>
          </a:xfrm>
          <a:prstGeom prst="rect">
            <a:avLst/>
          </a:prstGeom>
          <a:noFill/>
          <a:ln/>
        </p:spPr>
        <p:txBody>
          <a:bodyPr wrap="square" lIns="0" tIns="0" rIns="0" bIns="0" rtlCol="0" anchor="ctr"/>
          <a:lstStyle/>
          <a:p>
            <a:pPr marL="0" indent="0">
              <a:buNone/>
            </a:pPr>
            <a:r>
              <a:rPr lang="en-US" sz="1600" b="1" dirty="0">
                <a:solidFill>
                  <a:srgbClr val="E7EBF0"/>
                </a:solidFill>
                <a:latin typeface="Trebuchet MS" pitchFamily="34" charset="0"/>
                <a:ea typeface="Trebuchet MS" pitchFamily="34" charset="-122"/>
                <a:cs typeface="Trebuchet MS" pitchFamily="34" charset="-120"/>
              </a:rPr>
              <a:t>The combo</a:t>
            </a:r>
            <a:endParaRPr lang="en-US" sz="1600" dirty="0"/>
          </a:p>
        </p:txBody>
      </p:sp>
      <p:sp>
        <p:nvSpPr>
          <p:cNvPr id="17" name="Text 15"/>
          <p:cNvSpPr/>
          <p:nvPr/>
        </p:nvSpPr>
        <p:spPr>
          <a:xfrm>
            <a:off x="4599432" y="3127248"/>
            <a:ext cx="2999232" cy="411480"/>
          </a:xfrm>
          <a:prstGeom prst="rect">
            <a:avLst/>
          </a:prstGeom>
          <a:noFill/>
          <a:ln/>
        </p:spPr>
        <p:txBody>
          <a:bodyPr wrap="square" lIns="0" tIns="0" rIns="0" bIns="0" rtlCol="0" anchor="ctr"/>
          <a:lstStyle/>
          <a:p>
            <a:pPr marL="0" indent="0">
              <a:lnSpc>
                <a:spcPct val="105000"/>
              </a:lnSpc>
              <a:buNone/>
            </a:pPr>
            <a:r>
              <a:rPr lang="en-US" sz="1150" dirty="0">
                <a:solidFill>
                  <a:srgbClr val="AAB2BD"/>
                </a:solidFill>
                <a:latin typeface="Calibri" pitchFamily="34" charset="0"/>
                <a:ea typeface="Calibri" pitchFamily="34" charset="-122"/>
                <a:cs typeface="Calibri" pitchFamily="34" charset="-120"/>
              </a:rPr>
              <a:t>One instrument, two legs, filled atomically</a:t>
            </a:r>
            <a:endParaRPr lang="en-US" sz="1150" dirty="0"/>
          </a:p>
        </p:txBody>
      </p:sp>
      <p:sp>
        <p:nvSpPr>
          <p:cNvPr id="18" name="flow arrow">
            <a:extLst>
              <a:ext uri="{C183D7F6-B498-43B3-948B-1728B52AA6E4}">
                <adec:decorative xmlns:adec="http://schemas.microsoft.com/office/drawing/2017/decorative" val="1"/>
              </a:ext>
            </a:extLst>
          </p:cNvPr>
          <p:cNvSpPr/>
          <p:nvPr/>
        </p:nvSpPr>
        <p:spPr>
          <a:xfrm>
            <a:off x="7836408" y="2560320"/>
            <a:ext cx="182880" cy="329184"/>
          </a:xfrm>
          <a:prstGeom prst="rightArrow">
            <a:avLst/>
          </a:prstGeom>
          <a:solidFill>
            <a:srgbClr val="343E4A"/>
          </a:solidFill>
          <a:ln/>
        </p:spPr>
        <p:txBody>
          <a:bodyPr/>
          <a:lstStyle/>
          <a:p>
            <a:endParaRPr lang="en-SE"/>
          </a:p>
        </p:txBody>
      </p:sp>
      <p:sp>
        <p:nvSpPr>
          <p:cNvPr id="19" name="panel">
            <a:extLst>
              <a:ext uri="{C183D7F6-B498-43B3-948B-1728B52AA6E4}">
                <adec:decorative xmlns:adec="http://schemas.microsoft.com/office/drawing/2017/decorative" val="1"/>
              </a:ext>
            </a:extLst>
          </p:cNvPr>
          <p:cNvSpPr/>
          <p:nvPr/>
        </p:nvSpPr>
        <p:spPr>
          <a:xfrm>
            <a:off x="8046720" y="1737360"/>
            <a:ext cx="3474720" cy="1874520"/>
          </a:xfrm>
          <a:prstGeom prst="roundRect">
            <a:avLst>
              <a:gd name="adj" fmla="val 439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20" name="Text 18"/>
          <p:cNvSpPr/>
          <p:nvPr/>
        </p:nvSpPr>
        <p:spPr>
          <a:xfrm>
            <a:off x="8302752" y="1956816"/>
            <a:ext cx="1463040" cy="640080"/>
          </a:xfrm>
          <a:prstGeom prst="rect">
            <a:avLst/>
          </a:prstGeom>
          <a:noFill/>
          <a:ln/>
        </p:spPr>
        <p:txBody>
          <a:bodyPr wrap="square" lIns="0" tIns="0" rIns="0" bIns="0" rtlCol="0" anchor="ctr"/>
          <a:lstStyle/>
          <a:p>
            <a:pPr marL="0" indent="0">
              <a:buNone/>
            </a:pPr>
            <a:r>
              <a:rPr lang="en-US" sz="3000" b="1" dirty="0">
                <a:solidFill>
                  <a:srgbClr val="F5B759"/>
                </a:solidFill>
                <a:latin typeface="Trebuchet MS" pitchFamily="34" charset="0"/>
                <a:ea typeface="Trebuchet MS" pitchFamily="34" charset="-122"/>
                <a:cs typeface="Trebuchet MS" pitchFamily="34" charset="-120"/>
              </a:rPr>
              <a:t>03</a:t>
            </a:r>
            <a:endParaRPr lang="en-US" sz="3000" dirty="0"/>
          </a:p>
        </p:txBody>
      </p:sp>
      <p:sp>
        <p:nvSpPr>
          <p:cNvPr id="21" name="rule">
            <a:extLst>
              <a:ext uri="{C183D7F6-B498-43B3-948B-1728B52AA6E4}">
                <adec:decorative xmlns:adec="http://schemas.microsoft.com/office/drawing/2017/decorative" val="1"/>
              </a:ext>
            </a:extLst>
          </p:cNvPr>
          <p:cNvSpPr/>
          <p:nvPr/>
        </p:nvSpPr>
        <p:spPr>
          <a:xfrm>
            <a:off x="8321040" y="2651760"/>
            <a:ext cx="384048" cy="54864"/>
          </a:xfrm>
          <a:prstGeom prst="rect">
            <a:avLst/>
          </a:prstGeom>
          <a:solidFill>
            <a:srgbClr val="F5B759"/>
          </a:solidFill>
          <a:ln/>
        </p:spPr>
        <p:txBody>
          <a:bodyPr/>
          <a:lstStyle/>
          <a:p>
            <a:endParaRPr lang="en-SE"/>
          </a:p>
        </p:txBody>
      </p:sp>
      <p:sp>
        <p:nvSpPr>
          <p:cNvPr id="22" name="Text 20"/>
          <p:cNvSpPr/>
          <p:nvPr/>
        </p:nvSpPr>
        <p:spPr>
          <a:xfrm>
            <a:off x="8302752" y="2743200"/>
            <a:ext cx="3017520" cy="365760"/>
          </a:xfrm>
          <a:prstGeom prst="rect">
            <a:avLst/>
          </a:prstGeom>
          <a:noFill/>
          <a:ln/>
        </p:spPr>
        <p:txBody>
          <a:bodyPr wrap="square" lIns="0" tIns="0" rIns="0" bIns="0" rtlCol="0" anchor="ctr"/>
          <a:lstStyle/>
          <a:p>
            <a:pPr marL="0" indent="0">
              <a:buNone/>
            </a:pPr>
            <a:r>
              <a:rPr lang="en-US" sz="1600" b="1" dirty="0">
                <a:solidFill>
                  <a:srgbClr val="E7EBF0"/>
                </a:solidFill>
                <a:latin typeface="Trebuchet MS" pitchFamily="34" charset="0"/>
                <a:ea typeface="Trebuchet MS" pitchFamily="34" charset="-122"/>
                <a:cs typeface="Trebuchet MS" pitchFamily="34" charset="-120"/>
              </a:rPr>
              <a:t>Negative cost</a:t>
            </a:r>
            <a:endParaRPr lang="en-US" sz="1600" dirty="0"/>
          </a:p>
        </p:txBody>
      </p:sp>
      <p:sp>
        <p:nvSpPr>
          <p:cNvPr id="23" name="Text 21"/>
          <p:cNvSpPr/>
          <p:nvPr/>
        </p:nvSpPr>
        <p:spPr>
          <a:xfrm>
            <a:off x="8302752" y="3127248"/>
            <a:ext cx="2999232" cy="411480"/>
          </a:xfrm>
          <a:prstGeom prst="rect">
            <a:avLst/>
          </a:prstGeom>
          <a:noFill/>
          <a:ln/>
        </p:spPr>
        <p:txBody>
          <a:bodyPr wrap="square" lIns="0" tIns="0" rIns="0" bIns="0" rtlCol="0" anchor="ctr"/>
          <a:lstStyle/>
          <a:p>
            <a:pPr marL="0" indent="0">
              <a:lnSpc>
                <a:spcPct val="105000"/>
              </a:lnSpc>
              <a:buNone/>
            </a:pPr>
            <a:r>
              <a:rPr lang="en-US" sz="1150" dirty="0">
                <a:solidFill>
                  <a:srgbClr val="AAB2BD"/>
                </a:solidFill>
                <a:latin typeface="Calibri" pitchFamily="34" charset="0"/>
                <a:ea typeface="Calibri" pitchFamily="34" charset="-122"/>
                <a:cs typeface="Calibri" pitchFamily="34" charset="-120"/>
              </a:rPr>
              <a:t>How a spread's price can drop below zero</a:t>
            </a:r>
            <a:endParaRPr lang="en-US" sz="1150" dirty="0"/>
          </a:p>
        </p:txBody>
      </p:sp>
      <p:sp>
        <p:nvSpPr>
          <p:cNvPr id="24" name="panel">
            <a:extLst>
              <a:ext uri="{C183D7F6-B498-43B3-948B-1728B52AA6E4}">
                <adec:decorative xmlns:adec="http://schemas.microsoft.com/office/drawing/2017/decorative" val="1"/>
              </a:ext>
            </a:extLst>
          </p:cNvPr>
          <p:cNvSpPr/>
          <p:nvPr/>
        </p:nvSpPr>
        <p:spPr>
          <a:xfrm>
            <a:off x="640080" y="3886200"/>
            <a:ext cx="3474720" cy="1874520"/>
          </a:xfrm>
          <a:prstGeom prst="roundRect">
            <a:avLst>
              <a:gd name="adj" fmla="val 439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25" name="Text 23"/>
          <p:cNvSpPr/>
          <p:nvPr/>
        </p:nvSpPr>
        <p:spPr>
          <a:xfrm>
            <a:off x="896112" y="4105656"/>
            <a:ext cx="1463040" cy="640080"/>
          </a:xfrm>
          <a:prstGeom prst="rect">
            <a:avLst/>
          </a:prstGeom>
          <a:noFill/>
          <a:ln/>
        </p:spPr>
        <p:txBody>
          <a:bodyPr wrap="square" lIns="0" tIns="0" rIns="0" bIns="0" rtlCol="0" anchor="ctr"/>
          <a:lstStyle/>
          <a:p>
            <a:pPr marL="0" indent="0">
              <a:buNone/>
            </a:pPr>
            <a:r>
              <a:rPr lang="en-US" sz="3000" b="1" dirty="0">
                <a:solidFill>
                  <a:srgbClr val="6EA8E6"/>
                </a:solidFill>
                <a:latin typeface="Trebuchet MS" pitchFamily="34" charset="0"/>
                <a:ea typeface="Trebuchet MS" pitchFamily="34" charset="-122"/>
                <a:cs typeface="Trebuchet MS" pitchFamily="34" charset="-120"/>
              </a:rPr>
              <a:t>04</a:t>
            </a:r>
            <a:endParaRPr lang="en-US" sz="3000" dirty="0"/>
          </a:p>
        </p:txBody>
      </p:sp>
      <p:sp>
        <p:nvSpPr>
          <p:cNvPr id="26" name="rule">
            <a:extLst>
              <a:ext uri="{C183D7F6-B498-43B3-948B-1728B52AA6E4}">
                <adec:decorative xmlns:adec="http://schemas.microsoft.com/office/drawing/2017/decorative" val="1"/>
              </a:ext>
            </a:extLst>
          </p:cNvPr>
          <p:cNvSpPr/>
          <p:nvPr/>
        </p:nvSpPr>
        <p:spPr>
          <a:xfrm>
            <a:off x="914400" y="4800600"/>
            <a:ext cx="384048" cy="54864"/>
          </a:xfrm>
          <a:prstGeom prst="rect">
            <a:avLst/>
          </a:prstGeom>
          <a:solidFill>
            <a:srgbClr val="6EA8E6"/>
          </a:solidFill>
          <a:ln/>
        </p:spPr>
        <p:txBody>
          <a:bodyPr/>
          <a:lstStyle/>
          <a:p>
            <a:endParaRPr lang="en-SE"/>
          </a:p>
        </p:txBody>
      </p:sp>
      <p:sp>
        <p:nvSpPr>
          <p:cNvPr id="27" name="Text 25"/>
          <p:cNvSpPr/>
          <p:nvPr/>
        </p:nvSpPr>
        <p:spPr>
          <a:xfrm>
            <a:off x="896112" y="4892040"/>
            <a:ext cx="3017520" cy="365760"/>
          </a:xfrm>
          <a:prstGeom prst="rect">
            <a:avLst/>
          </a:prstGeom>
          <a:noFill/>
          <a:ln/>
        </p:spPr>
        <p:txBody>
          <a:bodyPr wrap="square" lIns="0" tIns="0" rIns="0" bIns="0" rtlCol="0" anchor="ctr"/>
          <a:lstStyle/>
          <a:p>
            <a:pPr marL="0" indent="0">
              <a:buNone/>
            </a:pPr>
            <a:r>
              <a:rPr lang="en-US" sz="1600" b="1" dirty="0">
                <a:solidFill>
                  <a:srgbClr val="E7EBF0"/>
                </a:solidFill>
                <a:latin typeface="Trebuchet MS" pitchFamily="34" charset="0"/>
                <a:ea typeface="Trebuchet MS" pitchFamily="34" charset="-122"/>
                <a:cs typeface="Trebuchet MS" pitchFamily="34" charset="-120"/>
              </a:rPr>
              <a:t>The money</a:t>
            </a:r>
            <a:endParaRPr lang="en-US" sz="1600" dirty="0"/>
          </a:p>
        </p:txBody>
      </p:sp>
      <p:sp>
        <p:nvSpPr>
          <p:cNvPr id="28" name="Text 26"/>
          <p:cNvSpPr/>
          <p:nvPr/>
        </p:nvSpPr>
        <p:spPr>
          <a:xfrm>
            <a:off x="896112" y="5276088"/>
            <a:ext cx="2999232" cy="411480"/>
          </a:xfrm>
          <a:prstGeom prst="rect">
            <a:avLst/>
          </a:prstGeom>
          <a:noFill/>
          <a:ln/>
        </p:spPr>
        <p:txBody>
          <a:bodyPr wrap="square" lIns="0" tIns="0" rIns="0" bIns="0" rtlCol="0" anchor="ctr"/>
          <a:lstStyle/>
          <a:p>
            <a:pPr marL="0" indent="0">
              <a:lnSpc>
                <a:spcPct val="105000"/>
              </a:lnSpc>
              <a:buNone/>
            </a:pPr>
            <a:r>
              <a:rPr lang="en-US" sz="1150" dirty="0">
                <a:solidFill>
                  <a:srgbClr val="AAB2BD"/>
                </a:solidFill>
                <a:latin typeface="Calibri" pitchFamily="34" charset="0"/>
                <a:ea typeface="Calibri" pitchFamily="34" charset="-122"/>
                <a:cs typeface="Calibri" pitchFamily="34" charset="-120"/>
              </a:rPr>
              <a:t>Margin and the daily cash that changes hands</a:t>
            </a:r>
            <a:endParaRPr lang="en-US" sz="1150" dirty="0"/>
          </a:p>
        </p:txBody>
      </p:sp>
      <p:sp>
        <p:nvSpPr>
          <p:cNvPr id="29" name="flow arrow">
            <a:extLst>
              <a:ext uri="{C183D7F6-B498-43B3-948B-1728B52AA6E4}">
                <adec:decorative xmlns:adec="http://schemas.microsoft.com/office/drawing/2017/decorative" val="1"/>
              </a:ext>
            </a:extLst>
          </p:cNvPr>
          <p:cNvSpPr/>
          <p:nvPr/>
        </p:nvSpPr>
        <p:spPr>
          <a:xfrm>
            <a:off x="4133088" y="4709160"/>
            <a:ext cx="182880" cy="329184"/>
          </a:xfrm>
          <a:prstGeom prst="rightArrow">
            <a:avLst/>
          </a:prstGeom>
          <a:solidFill>
            <a:srgbClr val="343E4A"/>
          </a:solidFill>
          <a:ln/>
        </p:spPr>
        <p:txBody>
          <a:bodyPr/>
          <a:lstStyle/>
          <a:p>
            <a:endParaRPr lang="en-SE"/>
          </a:p>
        </p:txBody>
      </p:sp>
      <p:sp>
        <p:nvSpPr>
          <p:cNvPr id="30" name="panel">
            <a:extLst>
              <a:ext uri="{C183D7F6-B498-43B3-948B-1728B52AA6E4}">
                <adec:decorative xmlns:adec="http://schemas.microsoft.com/office/drawing/2017/decorative" val="1"/>
              </a:ext>
            </a:extLst>
          </p:cNvPr>
          <p:cNvSpPr/>
          <p:nvPr/>
        </p:nvSpPr>
        <p:spPr>
          <a:xfrm>
            <a:off x="4343400" y="3886200"/>
            <a:ext cx="3474720" cy="1874520"/>
          </a:xfrm>
          <a:prstGeom prst="roundRect">
            <a:avLst>
              <a:gd name="adj" fmla="val 439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31" name="Text 29"/>
          <p:cNvSpPr/>
          <p:nvPr/>
        </p:nvSpPr>
        <p:spPr>
          <a:xfrm>
            <a:off x="4599432" y="4105656"/>
            <a:ext cx="1463040" cy="640080"/>
          </a:xfrm>
          <a:prstGeom prst="rect">
            <a:avLst/>
          </a:prstGeom>
          <a:noFill/>
          <a:ln/>
        </p:spPr>
        <p:txBody>
          <a:bodyPr wrap="square" lIns="0" tIns="0" rIns="0" bIns="0" rtlCol="0" anchor="ctr"/>
          <a:lstStyle/>
          <a:p>
            <a:pPr marL="0" indent="0">
              <a:buNone/>
            </a:pPr>
            <a:r>
              <a:rPr lang="en-US" sz="3000" b="1" dirty="0">
                <a:solidFill>
                  <a:srgbClr val="34D399"/>
                </a:solidFill>
                <a:latin typeface="Trebuchet MS" pitchFamily="34" charset="0"/>
                <a:ea typeface="Trebuchet MS" pitchFamily="34" charset="-122"/>
                <a:cs typeface="Trebuchet MS" pitchFamily="34" charset="-120"/>
              </a:rPr>
              <a:t>05</a:t>
            </a:r>
            <a:endParaRPr lang="en-US" sz="3000" dirty="0"/>
          </a:p>
        </p:txBody>
      </p:sp>
      <p:sp>
        <p:nvSpPr>
          <p:cNvPr id="32" name="rule">
            <a:extLst>
              <a:ext uri="{C183D7F6-B498-43B3-948B-1728B52AA6E4}">
                <adec:decorative xmlns:adec="http://schemas.microsoft.com/office/drawing/2017/decorative" val="1"/>
              </a:ext>
            </a:extLst>
          </p:cNvPr>
          <p:cNvSpPr/>
          <p:nvPr/>
        </p:nvSpPr>
        <p:spPr>
          <a:xfrm>
            <a:off x="4617720" y="4800600"/>
            <a:ext cx="384048" cy="54864"/>
          </a:xfrm>
          <a:prstGeom prst="rect">
            <a:avLst/>
          </a:prstGeom>
          <a:solidFill>
            <a:srgbClr val="34D399"/>
          </a:solidFill>
          <a:ln/>
        </p:spPr>
        <p:txBody>
          <a:bodyPr/>
          <a:lstStyle/>
          <a:p>
            <a:endParaRPr lang="en-SE"/>
          </a:p>
        </p:txBody>
      </p:sp>
      <p:sp>
        <p:nvSpPr>
          <p:cNvPr id="33" name="Text 31"/>
          <p:cNvSpPr/>
          <p:nvPr/>
        </p:nvSpPr>
        <p:spPr>
          <a:xfrm>
            <a:off x="4599432" y="4892040"/>
            <a:ext cx="3017520" cy="365760"/>
          </a:xfrm>
          <a:prstGeom prst="rect">
            <a:avLst/>
          </a:prstGeom>
          <a:noFill/>
          <a:ln/>
        </p:spPr>
        <p:txBody>
          <a:bodyPr wrap="square" lIns="0" tIns="0" rIns="0" bIns="0" rtlCol="0" anchor="ctr"/>
          <a:lstStyle/>
          <a:p>
            <a:pPr marL="0" indent="0">
              <a:buNone/>
            </a:pPr>
            <a:r>
              <a:rPr lang="en-US" sz="1600" b="1" dirty="0">
                <a:solidFill>
                  <a:srgbClr val="E7EBF0"/>
                </a:solidFill>
                <a:latin typeface="Trebuchet MS" pitchFamily="34" charset="0"/>
                <a:ea typeface="Trebuchet MS" pitchFamily="34" charset="-122"/>
                <a:cs typeface="Trebuchet MS" pitchFamily="34" charset="-120"/>
              </a:rPr>
              <a:t>The profit</a:t>
            </a:r>
            <a:endParaRPr lang="en-US" sz="1600" dirty="0"/>
          </a:p>
        </p:txBody>
      </p:sp>
      <p:sp>
        <p:nvSpPr>
          <p:cNvPr id="34" name="Text 32"/>
          <p:cNvSpPr/>
          <p:nvPr/>
        </p:nvSpPr>
        <p:spPr>
          <a:xfrm>
            <a:off x="4599432" y="5276088"/>
            <a:ext cx="2999232" cy="411480"/>
          </a:xfrm>
          <a:prstGeom prst="rect">
            <a:avLst/>
          </a:prstGeom>
          <a:noFill/>
          <a:ln/>
        </p:spPr>
        <p:txBody>
          <a:bodyPr wrap="square" lIns="0" tIns="0" rIns="0" bIns="0" rtlCol="0" anchor="ctr"/>
          <a:lstStyle/>
          <a:p>
            <a:pPr marL="0" indent="0">
              <a:lnSpc>
                <a:spcPct val="105000"/>
              </a:lnSpc>
              <a:buNone/>
            </a:pPr>
            <a:r>
              <a:rPr lang="en-US" sz="1150" dirty="0">
                <a:solidFill>
                  <a:srgbClr val="AAB2BD"/>
                </a:solidFill>
                <a:latin typeface="Calibri" pitchFamily="34" charset="0"/>
                <a:ea typeface="Calibri" pitchFamily="34" charset="-122"/>
                <a:cs typeface="Calibri" pitchFamily="34" charset="-120"/>
              </a:rPr>
              <a:t>Selling a negative spread back for real dollars</a:t>
            </a:r>
            <a:endParaRPr lang="en-US" sz="1150" dirty="0"/>
          </a:p>
        </p:txBody>
      </p:sp>
      <p:sp>
        <p:nvSpPr>
          <p:cNvPr id="35" name="flow arrow">
            <a:extLst>
              <a:ext uri="{C183D7F6-B498-43B3-948B-1728B52AA6E4}">
                <adec:decorative xmlns:adec="http://schemas.microsoft.com/office/drawing/2017/decorative" val="1"/>
              </a:ext>
            </a:extLst>
          </p:cNvPr>
          <p:cNvSpPr/>
          <p:nvPr/>
        </p:nvSpPr>
        <p:spPr>
          <a:xfrm>
            <a:off x="7836408" y="4709160"/>
            <a:ext cx="182880" cy="329184"/>
          </a:xfrm>
          <a:prstGeom prst="rightArrow">
            <a:avLst/>
          </a:prstGeom>
          <a:solidFill>
            <a:srgbClr val="343E4A"/>
          </a:solidFill>
          <a:ln/>
        </p:spPr>
        <p:txBody>
          <a:bodyPr/>
          <a:lstStyle/>
          <a:p>
            <a:endParaRPr lang="en-SE"/>
          </a:p>
        </p:txBody>
      </p:sp>
      <p:sp>
        <p:nvSpPr>
          <p:cNvPr id="36" name="panel">
            <a:extLst>
              <a:ext uri="{C183D7F6-B498-43B3-948B-1728B52AA6E4}">
                <adec:decorative xmlns:adec="http://schemas.microsoft.com/office/drawing/2017/decorative" val="1"/>
              </a:ext>
            </a:extLst>
          </p:cNvPr>
          <p:cNvSpPr/>
          <p:nvPr/>
        </p:nvSpPr>
        <p:spPr>
          <a:xfrm>
            <a:off x="8046720" y="3886200"/>
            <a:ext cx="3474720" cy="1874520"/>
          </a:xfrm>
          <a:prstGeom prst="roundRect">
            <a:avLst>
              <a:gd name="adj" fmla="val 439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37" name="Text 35"/>
          <p:cNvSpPr/>
          <p:nvPr/>
        </p:nvSpPr>
        <p:spPr>
          <a:xfrm>
            <a:off x="8302752" y="4105656"/>
            <a:ext cx="1463040" cy="640080"/>
          </a:xfrm>
          <a:prstGeom prst="rect">
            <a:avLst/>
          </a:prstGeom>
          <a:noFill/>
          <a:ln/>
        </p:spPr>
        <p:txBody>
          <a:bodyPr wrap="square" lIns="0" tIns="0" rIns="0" bIns="0" rtlCol="0" anchor="ctr"/>
          <a:lstStyle/>
          <a:p>
            <a:pPr marL="0" indent="0">
              <a:buNone/>
            </a:pPr>
            <a:r>
              <a:rPr lang="en-US" sz="3000" b="1" dirty="0">
                <a:solidFill>
                  <a:srgbClr val="AAB2BD"/>
                </a:solidFill>
                <a:latin typeface="Trebuchet MS" pitchFamily="34" charset="0"/>
                <a:ea typeface="Trebuchet MS" pitchFamily="34" charset="-122"/>
                <a:cs typeface="Trebuchet MS" pitchFamily="34" charset="-120"/>
              </a:rPr>
              <a:t>06</a:t>
            </a:r>
            <a:endParaRPr lang="en-US" sz="3000" dirty="0"/>
          </a:p>
        </p:txBody>
      </p:sp>
      <p:sp>
        <p:nvSpPr>
          <p:cNvPr id="38" name="rule">
            <a:extLst>
              <a:ext uri="{C183D7F6-B498-43B3-948B-1728B52AA6E4}">
                <adec:decorative xmlns:adec="http://schemas.microsoft.com/office/drawing/2017/decorative" val="1"/>
              </a:ext>
            </a:extLst>
          </p:cNvPr>
          <p:cNvSpPr/>
          <p:nvPr/>
        </p:nvSpPr>
        <p:spPr>
          <a:xfrm>
            <a:off x="8321040" y="4800600"/>
            <a:ext cx="384048" cy="54864"/>
          </a:xfrm>
          <a:prstGeom prst="rect">
            <a:avLst/>
          </a:prstGeom>
          <a:solidFill>
            <a:srgbClr val="AAB2BD"/>
          </a:solidFill>
          <a:ln/>
        </p:spPr>
        <p:txBody>
          <a:bodyPr/>
          <a:lstStyle/>
          <a:p>
            <a:endParaRPr lang="en-SE"/>
          </a:p>
        </p:txBody>
      </p:sp>
      <p:sp>
        <p:nvSpPr>
          <p:cNvPr id="39" name="Text 37"/>
          <p:cNvSpPr/>
          <p:nvPr/>
        </p:nvSpPr>
        <p:spPr>
          <a:xfrm>
            <a:off x="8302752" y="4892040"/>
            <a:ext cx="3017520" cy="365760"/>
          </a:xfrm>
          <a:prstGeom prst="rect">
            <a:avLst/>
          </a:prstGeom>
          <a:noFill/>
          <a:ln/>
        </p:spPr>
        <p:txBody>
          <a:bodyPr wrap="square" lIns="0" tIns="0" rIns="0" bIns="0" rtlCol="0" anchor="ctr"/>
          <a:lstStyle/>
          <a:p>
            <a:pPr marL="0" indent="0">
              <a:buNone/>
            </a:pPr>
            <a:r>
              <a:rPr lang="en-US" sz="1600" b="1" dirty="0">
                <a:solidFill>
                  <a:srgbClr val="E7EBF0"/>
                </a:solidFill>
                <a:latin typeface="Trebuchet MS" pitchFamily="34" charset="0"/>
                <a:ea typeface="Trebuchet MS" pitchFamily="34" charset="-122"/>
                <a:cs typeface="Trebuchet MS" pitchFamily="34" charset="-120"/>
              </a:rPr>
              <a:t>What's next</a:t>
            </a:r>
            <a:endParaRPr lang="en-US" sz="1600" dirty="0"/>
          </a:p>
        </p:txBody>
      </p:sp>
      <p:sp>
        <p:nvSpPr>
          <p:cNvPr id="40" name="Text 38"/>
          <p:cNvSpPr/>
          <p:nvPr/>
        </p:nvSpPr>
        <p:spPr>
          <a:xfrm>
            <a:off x="8302752" y="5276088"/>
            <a:ext cx="2999232" cy="411480"/>
          </a:xfrm>
          <a:prstGeom prst="rect">
            <a:avLst/>
          </a:prstGeom>
          <a:noFill/>
          <a:ln/>
        </p:spPr>
        <p:txBody>
          <a:bodyPr wrap="square" lIns="0" tIns="0" rIns="0" bIns="0" rtlCol="0" anchor="ctr"/>
          <a:lstStyle/>
          <a:p>
            <a:pPr marL="0" indent="0">
              <a:lnSpc>
                <a:spcPct val="105000"/>
              </a:lnSpc>
              <a:buNone/>
            </a:pPr>
            <a:r>
              <a:rPr lang="en-US" sz="1150" dirty="0">
                <a:solidFill>
                  <a:srgbClr val="AAB2BD"/>
                </a:solidFill>
                <a:latin typeface="Calibri" pitchFamily="34" charset="0"/>
                <a:ea typeface="Calibri" pitchFamily="34" charset="-122"/>
                <a:cs typeface="Calibri" pitchFamily="34" charset="-120"/>
              </a:rPr>
              <a:t>The liquidity gap that implied orders solve</a:t>
            </a:r>
            <a:endParaRPr lang="en-US" sz="1150" dirty="0"/>
          </a:p>
        </p:txBody>
      </p:sp>
      <p:sp>
        <p:nvSpPr>
          <p:cNvPr id="41"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42"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43" name="Text 41"/>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You are here to reach Stage 05 — earning cash on a spread you bought below zero.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he Problem">
    <p:spTree>
      <p:nvGrpSpPr>
        <p:cNvPr id="1" name=""/>
        <p:cNvGrpSpPr/>
        <p:nvPr/>
      </p:nvGrpSpPr>
      <p:grpSpPr>
        <a:xfrm>
          <a:off x="0" y="0"/>
          <a:ext cx="0" cy="0"/>
          <a:chOff x="0" y="0"/>
          <a:chExt cx="0" cy="0"/>
        </a:xfrm>
      </p:grpSpPr>
      <p:sp>
        <p:nvSpPr>
          <p:cNvPr id="2" name="Text 0"/>
          <p:cNvSpPr/>
          <p:nvPr/>
        </p:nvSpPr>
        <p:spPr>
          <a:xfrm>
            <a:off x="777240" y="502920"/>
            <a:ext cx="5486400" cy="2377440"/>
          </a:xfrm>
          <a:prstGeom prst="rect">
            <a:avLst/>
          </a:prstGeom>
          <a:noFill/>
          <a:ln/>
        </p:spPr>
        <p:txBody>
          <a:bodyPr wrap="square" lIns="0" tIns="0" rIns="0" bIns="0" rtlCol="0" anchor="ctr"/>
          <a:lstStyle/>
          <a:p>
            <a:pPr marL="0" indent="0">
              <a:buNone/>
            </a:pPr>
            <a:r>
              <a:rPr lang="en-US" sz="15000" b="1" dirty="0">
                <a:solidFill>
                  <a:srgbClr val="262E38"/>
                </a:solidFill>
                <a:latin typeface="Trebuchet MS" pitchFamily="34" charset="0"/>
                <a:ea typeface="Trebuchet MS" pitchFamily="34" charset="-122"/>
                <a:cs typeface="Trebuchet MS" pitchFamily="34" charset="-120"/>
              </a:rPr>
              <a:t>01</a:t>
            </a:r>
            <a:endParaRPr lang="en-US" sz="15000" dirty="0"/>
          </a:p>
        </p:txBody>
      </p:sp>
      <p:sp>
        <p:nvSpPr>
          <p:cNvPr id="3" name="accent">
            <a:extLst>
              <a:ext uri="{C183D7F6-B498-43B3-948B-1728B52AA6E4}">
                <adec:decorative xmlns:adec="http://schemas.microsoft.com/office/drawing/2017/decorative" val="1"/>
              </a:ext>
            </a:extLst>
          </p:cNvPr>
          <p:cNvSpPr/>
          <p:nvPr/>
        </p:nvSpPr>
        <p:spPr>
          <a:xfrm>
            <a:off x="1325880" y="3072384"/>
            <a:ext cx="457200" cy="100584"/>
          </a:xfrm>
          <a:prstGeom prst="rect">
            <a:avLst/>
          </a:prstGeom>
          <a:solidFill>
            <a:srgbClr val="34D399"/>
          </a:solidFill>
          <a:ln/>
        </p:spPr>
        <p:txBody>
          <a:bodyPr/>
          <a:lstStyle/>
          <a:p>
            <a:endParaRPr lang="en-SE"/>
          </a:p>
        </p:txBody>
      </p:sp>
      <p:sp>
        <p:nvSpPr>
          <p:cNvPr id="4" name="Text 2"/>
          <p:cNvSpPr/>
          <p:nvPr/>
        </p:nvSpPr>
        <p:spPr>
          <a:xfrm>
            <a:off x="1325880" y="2697480"/>
            <a:ext cx="7315200" cy="320040"/>
          </a:xfrm>
          <a:prstGeom prst="rect">
            <a:avLst/>
          </a:prstGeom>
          <a:noFill/>
          <a:ln/>
        </p:spPr>
        <p:txBody>
          <a:bodyPr wrap="square" lIns="0" tIns="0" rIns="0" bIns="0" rtlCol="0" anchor="ctr"/>
          <a:lstStyle/>
          <a:p>
            <a:pPr marL="0" indent="0">
              <a:buNone/>
            </a:pPr>
            <a:r>
              <a:rPr lang="en-US" sz="1300" b="1" kern="0" spc="400" dirty="0">
                <a:solidFill>
                  <a:srgbClr val="34D399"/>
                </a:solidFill>
                <a:latin typeface="Trebuchet MS" pitchFamily="34" charset="0"/>
                <a:ea typeface="Trebuchet MS" pitchFamily="34" charset="-122"/>
                <a:cs typeface="Trebuchet MS" pitchFamily="34" charset="-120"/>
              </a:rPr>
              <a:t>SECTION 01</a:t>
            </a:r>
            <a:endParaRPr lang="en-US" sz="1300" dirty="0"/>
          </a:p>
        </p:txBody>
      </p:sp>
      <p:sp>
        <p:nvSpPr>
          <p:cNvPr id="5" name="Text 0"/>
          <p:cNvSpPr>
            <a:spLocks noGrp="1"/>
          </p:cNvSpPr>
          <p:nvPr>
            <p:ph type="title" idx="100" hasCustomPrompt="1"/>
          </p:nvPr>
        </p:nvSpPr>
        <p:spPr>
          <a:xfrm>
            <a:off x="1280160" y="2926080"/>
            <a:ext cx="9601200" cy="1280160"/>
          </a:xfrm>
          <a:prstGeom prst="rect">
            <a:avLst/>
          </a:prstGeom>
          <a:noFill/>
          <a:ln/>
        </p:spPr>
        <p:txBody>
          <a:bodyPr wrap="square" lIns="0" tIns="0" rIns="0" bIns="0" rtlCol="0"/>
          <a:lstStyle/>
          <a:p>
            <a:pPr marL="0" indent="0">
              <a:buNone/>
            </a:pPr>
            <a:r>
              <a:rPr lang="en-US" sz="3300" b="1" dirty="0">
                <a:solidFill>
                  <a:srgbClr val="E7EBF0"/>
                </a:solidFill>
                <a:latin typeface="Trebuchet MS" pitchFamily="34" charset="0"/>
                <a:ea typeface="Trebuchet MS" pitchFamily="34" charset="-122"/>
                <a:cs typeface="Trebuchet MS" pitchFamily="34" charset="-120"/>
              </a:rPr>
              <a:t>The Problem</a:t>
            </a:r>
            <a:endParaRPr lang="en-US" sz="3300" dirty="0"/>
          </a:p>
        </p:txBody>
      </p:sp>
      <p:sp>
        <p:nvSpPr>
          <p:cNvPr id="6" name="Text 4"/>
          <p:cNvSpPr/>
          <p:nvPr/>
        </p:nvSpPr>
        <p:spPr>
          <a:xfrm>
            <a:off x="1325880" y="4160520"/>
            <a:ext cx="9326880" cy="822960"/>
          </a:xfrm>
          <a:prstGeom prst="rect">
            <a:avLst/>
          </a:prstGeom>
          <a:noFill/>
          <a:ln/>
        </p:spPr>
        <p:txBody>
          <a:bodyPr wrap="square" lIns="0" tIns="0" rIns="0" bIns="0" rtlCol="0" anchor="ctr"/>
          <a:lstStyle/>
          <a:p>
            <a:pPr marL="0" indent="0">
              <a:lnSpc>
                <a:spcPct val="110000"/>
              </a:lnSpc>
              <a:buNone/>
            </a:pPr>
            <a:r>
              <a:rPr lang="en-US" sz="2000" dirty="0">
                <a:solidFill>
                  <a:srgbClr val="AAB2BD"/>
                </a:solidFill>
                <a:latin typeface="Calibri" pitchFamily="34" charset="0"/>
                <a:ea typeface="Calibri" pitchFamily="34" charset="-122"/>
                <a:cs typeface="Calibri" pitchFamily="34" charset="-120"/>
              </a:rPr>
              <a:t>Before combos existed, wanting two contracts at once was a gamble. Here is exactly what went wrong — and why it needed fixing.</a:t>
            </a:r>
            <a:endParaRPr lang="en-US" sz="2000" dirty="0"/>
          </a:p>
        </p:txBody>
      </p:sp>
      <p:sp>
        <p:nvSpPr>
          <p:cNvPr id="7" name="mark">
            <a:extLst>
              <a:ext uri="{C183D7F6-B498-43B3-948B-1728B52AA6E4}">
                <adec:decorative xmlns:adec="http://schemas.microsoft.com/office/drawing/2017/decorative" val="1"/>
              </a:ext>
            </a:extLst>
          </p:cNvPr>
          <p:cNvSpPr/>
          <p:nvPr/>
        </p:nvSpPr>
        <p:spPr>
          <a:xfrm>
            <a:off x="1325880" y="6126480"/>
            <a:ext cx="128016" cy="128016"/>
          </a:xfrm>
          <a:prstGeom prst="rect">
            <a:avLst/>
          </a:prstGeom>
          <a:solidFill>
            <a:srgbClr val="34D399"/>
          </a:solidFill>
          <a:ln/>
        </p:spPr>
        <p:txBody>
          <a:bodyPr/>
          <a:lstStyle/>
          <a:p>
            <a:endParaRPr lang="en-SE"/>
          </a:p>
        </p:txBody>
      </p:sp>
      <p:sp>
        <p:nvSpPr>
          <p:cNvPr id="8" name="Text 6"/>
          <p:cNvSpPr/>
          <p:nvPr/>
        </p:nvSpPr>
        <p:spPr>
          <a:xfrm>
            <a:off x="1527048" y="6080760"/>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utures in 30 seconds">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Futures in 30 seconds</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01 · THE PROBLEM</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12</a:t>
            </a:r>
            <a:endParaRPr lang="en-US" sz="1000" dirty="0"/>
          </a:p>
        </p:txBody>
      </p:sp>
      <p:sp>
        <p:nvSpPr>
          <p:cNvPr id="7" name="Text 5"/>
          <p:cNvSpPr/>
          <p:nvPr/>
        </p:nvSpPr>
        <p:spPr>
          <a:xfrm>
            <a:off x="640080" y="1371600"/>
            <a:ext cx="10851194" cy="914400"/>
          </a:xfrm>
          <a:prstGeom prst="rect">
            <a:avLst/>
          </a:prstGeom>
          <a:noFill/>
          <a:ln/>
        </p:spPr>
        <p:txBody>
          <a:bodyPr wrap="square" lIns="0" tIns="0" rIns="0" bIns="0" rtlCol="0" anchor="ctr"/>
          <a:lstStyle/>
          <a:p>
            <a:pPr marL="0" indent="0">
              <a:lnSpc>
                <a:spcPct val="115000"/>
              </a:lnSpc>
              <a:buNone/>
            </a:pPr>
            <a:r>
              <a:rPr lang="en-US" dirty="0">
                <a:solidFill>
                  <a:srgbClr val="AAB2BD"/>
                </a:solidFill>
                <a:latin typeface="Calibri" pitchFamily="34" charset="0"/>
                <a:ea typeface="Calibri" pitchFamily="34" charset="-122"/>
                <a:cs typeface="Calibri" pitchFamily="34" charset="-120"/>
              </a:rPr>
              <a:t>A futures contract is a binding agreement to buy or sell something at a fixed price on a future date. You don't pay the value up front — you commit to the price.</a:t>
            </a:r>
            <a:endParaRPr lang="en-US" dirty="0"/>
          </a:p>
        </p:txBody>
      </p:sp>
      <p:sp>
        <p:nvSpPr>
          <p:cNvPr id="8" name="panel">
            <a:extLst>
              <a:ext uri="{C183D7F6-B498-43B3-948B-1728B52AA6E4}">
                <adec:decorative xmlns:adec="http://schemas.microsoft.com/office/drawing/2017/decorative" val="1"/>
              </a:ext>
            </a:extLst>
          </p:cNvPr>
          <p:cNvSpPr/>
          <p:nvPr/>
        </p:nvSpPr>
        <p:spPr>
          <a:xfrm>
            <a:off x="640080" y="2423160"/>
            <a:ext cx="6675120" cy="548640"/>
          </a:xfrm>
          <a:prstGeom prst="roundRect">
            <a:avLst>
              <a:gd name="adj" fmla="val 15000"/>
            </a:avLst>
          </a:prstGeom>
          <a:solidFill>
            <a:srgbClr val="1F252D"/>
          </a:solidFill>
          <a:ln w="12700">
            <a:solidFill>
              <a:srgbClr val="343E4A"/>
            </a:solidFill>
            <a:prstDash val="solid"/>
          </a:ln>
        </p:spPr>
        <p:txBody>
          <a:bodyPr/>
          <a:lstStyle/>
          <a:p>
            <a:endParaRPr lang="en-SE"/>
          </a:p>
        </p:txBody>
      </p:sp>
      <p:sp>
        <p:nvSpPr>
          <p:cNvPr id="9" name="Text 7"/>
          <p:cNvSpPr/>
          <p:nvPr/>
        </p:nvSpPr>
        <p:spPr>
          <a:xfrm>
            <a:off x="841248" y="2423160"/>
            <a:ext cx="2926080" cy="548640"/>
          </a:xfrm>
          <a:prstGeom prst="rect">
            <a:avLst/>
          </a:prstGeom>
          <a:noFill/>
          <a:ln/>
        </p:spPr>
        <p:txBody>
          <a:bodyPr wrap="square" lIns="0" tIns="0" rIns="0" bIns="0" rtlCol="0" anchor="ctr"/>
          <a:lstStyle/>
          <a:p>
            <a:pPr marL="0" indent="0">
              <a:buNone/>
            </a:pPr>
            <a:r>
              <a:rPr lang="en-US" sz="1350" dirty="0">
                <a:solidFill>
                  <a:srgbClr val="AAB2BD"/>
                </a:solidFill>
                <a:latin typeface="Calibri" pitchFamily="34" charset="0"/>
                <a:ea typeface="Calibri" pitchFamily="34" charset="-122"/>
                <a:cs typeface="Calibri" pitchFamily="34" charset="-120"/>
              </a:rPr>
              <a:t>Underlying</a:t>
            </a:r>
            <a:endParaRPr lang="en-US" sz="1350" dirty="0"/>
          </a:p>
        </p:txBody>
      </p:sp>
      <p:sp>
        <p:nvSpPr>
          <p:cNvPr id="10" name="Text 8"/>
          <p:cNvSpPr/>
          <p:nvPr/>
        </p:nvSpPr>
        <p:spPr>
          <a:xfrm>
            <a:off x="3657600" y="2423160"/>
            <a:ext cx="3474720" cy="548640"/>
          </a:xfrm>
          <a:prstGeom prst="rect">
            <a:avLst/>
          </a:prstGeom>
          <a:noFill/>
          <a:ln/>
        </p:spPr>
        <p:txBody>
          <a:bodyPr wrap="square" lIns="0" tIns="0" rIns="0" bIns="0" rtlCol="0" anchor="ctr"/>
          <a:lstStyle/>
          <a:p>
            <a:pPr marL="0" indent="0">
              <a:buNone/>
            </a:pPr>
            <a:r>
              <a:rPr lang="en-US" b="1" dirty="0">
                <a:solidFill>
                  <a:srgbClr val="34D399"/>
                </a:solidFill>
                <a:latin typeface="Consolas" pitchFamily="34" charset="0"/>
                <a:ea typeface="Consolas" pitchFamily="34" charset="-122"/>
                <a:cs typeface="Consolas" pitchFamily="34" charset="-120"/>
              </a:rPr>
              <a:t>WTI Crude Oil</a:t>
            </a:r>
            <a:endParaRPr lang="en-US" dirty="0"/>
          </a:p>
        </p:txBody>
      </p:sp>
      <p:sp>
        <p:nvSpPr>
          <p:cNvPr id="11" name="panel">
            <a:extLst>
              <a:ext uri="{C183D7F6-B498-43B3-948B-1728B52AA6E4}">
                <adec:decorative xmlns:adec="http://schemas.microsoft.com/office/drawing/2017/decorative" val="1"/>
              </a:ext>
            </a:extLst>
          </p:cNvPr>
          <p:cNvSpPr/>
          <p:nvPr/>
        </p:nvSpPr>
        <p:spPr>
          <a:xfrm>
            <a:off x="640080" y="3081528"/>
            <a:ext cx="6675120" cy="548640"/>
          </a:xfrm>
          <a:prstGeom prst="roundRect">
            <a:avLst>
              <a:gd name="adj" fmla="val 15000"/>
            </a:avLst>
          </a:prstGeom>
          <a:solidFill>
            <a:srgbClr val="1F252D"/>
          </a:solidFill>
          <a:ln w="12700">
            <a:solidFill>
              <a:srgbClr val="343E4A"/>
            </a:solidFill>
            <a:prstDash val="solid"/>
          </a:ln>
        </p:spPr>
        <p:txBody>
          <a:bodyPr/>
          <a:lstStyle/>
          <a:p>
            <a:endParaRPr lang="en-SE"/>
          </a:p>
        </p:txBody>
      </p:sp>
      <p:sp>
        <p:nvSpPr>
          <p:cNvPr id="12" name="Text 10"/>
          <p:cNvSpPr/>
          <p:nvPr/>
        </p:nvSpPr>
        <p:spPr>
          <a:xfrm>
            <a:off x="841248" y="3081528"/>
            <a:ext cx="2926080" cy="548640"/>
          </a:xfrm>
          <a:prstGeom prst="rect">
            <a:avLst/>
          </a:prstGeom>
          <a:noFill/>
          <a:ln/>
        </p:spPr>
        <p:txBody>
          <a:bodyPr wrap="square" lIns="0" tIns="0" rIns="0" bIns="0" rtlCol="0" anchor="ctr"/>
          <a:lstStyle/>
          <a:p>
            <a:pPr marL="0" indent="0">
              <a:buNone/>
            </a:pPr>
            <a:r>
              <a:rPr lang="en-US" sz="1350" dirty="0">
                <a:solidFill>
                  <a:srgbClr val="AAB2BD"/>
                </a:solidFill>
                <a:latin typeface="Calibri" pitchFamily="34" charset="0"/>
                <a:ea typeface="Calibri" pitchFamily="34" charset="-122"/>
                <a:cs typeface="Calibri" pitchFamily="34" charset="-120"/>
              </a:rPr>
              <a:t>Contract size</a:t>
            </a:r>
            <a:endParaRPr lang="en-US" sz="1350" dirty="0"/>
          </a:p>
        </p:txBody>
      </p:sp>
      <p:sp>
        <p:nvSpPr>
          <p:cNvPr id="13" name="Text 11"/>
          <p:cNvSpPr/>
          <p:nvPr/>
        </p:nvSpPr>
        <p:spPr>
          <a:xfrm>
            <a:off x="3657600" y="3081528"/>
            <a:ext cx="3474720" cy="548640"/>
          </a:xfrm>
          <a:prstGeom prst="rect">
            <a:avLst/>
          </a:prstGeom>
          <a:noFill/>
          <a:ln/>
        </p:spPr>
        <p:txBody>
          <a:bodyPr wrap="square" lIns="0" tIns="0" rIns="0" bIns="0" rtlCol="0" anchor="ctr"/>
          <a:lstStyle/>
          <a:p>
            <a:pPr marL="0" indent="0">
              <a:buNone/>
            </a:pPr>
            <a:r>
              <a:rPr lang="en-US" b="1" dirty="0">
                <a:solidFill>
                  <a:srgbClr val="34D399"/>
                </a:solidFill>
                <a:latin typeface="Consolas" pitchFamily="34" charset="0"/>
                <a:ea typeface="Consolas" pitchFamily="34" charset="-122"/>
                <a:cs typeface="Consolas" pitchFamily="34" charset="-120"/>
              </a:rPr>
              <a:t>1,000 barrels</a:t>
            </a:r>
            <a:endParaRPr lang="en-US" dirty="0"/>
          </a:p>
        </p:txBody>
      </p:sp>
      <p:sp>
        <p:nvSpPr>
          <p:cNvPr id="14" name="panel">
            <a:extLst>
              <a:ext uri="{C183D7F6-B498-43B3-948B-1728B52AA6E4}">
                <adec:decorative xmlns:adec="http://schemas.microsoft.com/office/drawing/2017/decorative" val="1"/>
              </a:ext>
            </a:extLst>
          </p:cNvPr>
          <p:cNvSpPr/>
          <p:nvPr/>
        </p:nvSpPr>
        <p:spPr>
          <a:xfrm>
            <a:off x="640080" y="3739896"/>
            <a:ext cx="6675120" cy="548640"/>
          </a:xfrm>
          <a:prstGeom prst="roundRect">
            <a:avLst>
              <a:gd name="adj" fmla="val 15000"/>
            </a:avLst>
          </a:prstGeom>
          <a:solidFill>
            <a:srgbClr val="1F252D"/>
          </a:solidFill>
          <a:ln w="12700">
            <a:solidFill>
              <a:srgbClr val="343E4A"/>
            </a:solidFill>
            <a:prstDash val="solid"/>
          </a:ln>
        </p:spPr>
        <p:txBody>
          <a:bodyPr/>
          <a:lstStyle/>
          <a:p>
            <a:endParaRPr lang="en-SE"/>
          </a:p>
        </p:txBody>
      </p:sp>
      <p:sp>
        <p:nvSpPr>
          <p:cNvPr id="15" name="Text 13"/>
          <p:cNvSpPr/>
          <p:nvPr/>
        </p:nvSpPr>
        <p:spPr>
          <a:xfrm>
            <a:off x="841248" y="3739896"/>
            <a:ext cx="2926080" cy="548640"/>
          </a:xfrm>
          <a:prstGeom prst="rect">
            <a:avLst/>
          </a:prstGeom>
          <a:noFill/>
          <a:ln/>
        </p:spPr>
        <p:txBody>
          <a:bodyPr wrap="square" lIns="0" tIns="0" rIns="0" bIns="0" rtlCol="0" anchor="ctr"/>
          <a:lstStyle/>
          <a:p>
            <a:pPr marL="0" indent="0">
              <a:buNone/>
            </a:pPr>
            <a:r>
              <a:rPr lang="en-US" sz="1350" dirty="0">
                <a:solidFill>
                  <a:srgbClr val="AAB2BD"/>
                </a:solidFill>
                <a:latin typeface="Calibri" pitchFamily="34" charset="0"/>
                <a:ea typeface="Calibri" pitchFamily="34" charset="-122"/>
                <a:cs typeface="Calibri" pitchFamily="34" charset="-120"/>
              </a:rPr>
              <a:t>Quoted in</a:t>
            </a:r>
            <a:endParaRPr lang="en-US" sz="1350" dirty="0"/>
          </a:p>
        </p:txBody>
      </p:sp>
      <p:sp>
        <p:nvSpPr>
          <p:cNvPr id="16" name="Text 14"/>
          <p:cNvSpPr/>
          <p:nvPr/>
        </p:nvSpPr>
        <p:spPr>
          <a:xfrm>
            <a:off x="3657600" y="3739896"/>
            <a:ext cx="3474720" cy="548640"/>
          </a:xfrm>
          <a:prstGeom prst="rect">
            <a:avLst/>
          </a:prstGeom>
          <a:noFill/>
          <a:ln/>
        </p:spPr>
        <p:txBody>
          <a:bodyPr wrap="square" lIns="0" tIns="0" rIns="0" bIns="0" rtlCol="0" anchor="ctr"/>
          <a:lstStyle/>
          <a:p>
            <a:pPr marL="0" indent="0">
              <a:buNone/>
            </a:pPr>
            <a:r>
              <a:rPr lang="en-US" b="1" dirty="0">
                <a:solidFill>
                  <a:srgbClr val="34D399"/>
                </a:solidFill>
                <a:latin typeface="Consolas" pitchFamily="34" charset="0"/>
                <a:ea typeface="Consolas" pitchFamily="34" charset="-122"/>
                <a:cs typeface="Consolas" pitchFamily="34" charset="-120"/>
              </a:rPr>
              <a:t>US$ per barrel</a:t>
            </a:r>
            <a:endParaRPr lang="en-US" dirty="0"/>
          </a:p>
        </p:txBody>
      </p:sp>
      <p:sp>
        <p:nvSpPr>
          <p:cNvPr id="17" name="panel">
            <a:extLst>
              <a:ext uri="{C183D7F6-B498-43B3-948B-1728B52AA6E4}">
                <adec:decorative xmlns:adec="http://schemas.microsoft.com/office/drawing/2017/decorative" val="1"/>
              </a:ext>
            </a:extLst>
          </p:cNvPr>
          <p:cNvSpPr/>
          <p:nvPr/>
        </p:nvSpPr>
        <p:spPr>
          <a:xfrm>
            <a:off x="640080" y="4398264"/>
            <a:ext cx="6675120" cy="548640"/>
          </a:xfrm>
          <a:prstGeom prst="roundRect">
            <a:avLst>
              <a:gd name="adj" fmla="val 15000"/>
            </a:avLst>
          </a:prstGeom>
          <a:solidFill>
            <a:srgbClr val="1F252D"/>
          </a:solidFill>
          <a:ln w="12700">
            <a:solidFill>
              <a:srgbClr val="343E4A"/>
            </a:solidFill>
            <a:prstDash val="solid"/>
          </a:ln>
        </p:spPr>
        <p:txBody>
          <a:bodyPr/>
          <a:lstStyle/>
          <a:p>
            <a:endParaRPr lang="en-SE"/>
          </a:p>
        </p:txBody>
      </p:sp>
      <p:sp>
        <p:nvSpPr>
          <p:cNvPr id="18" name="Text 16"/>
          <p:cNvSpPr/>
          <p:nvPr/>
        </p:nvSpPr>
        <p:spPr>
          <a:xfrm>
            <a:off x="841248" y="4398264"/>
            <a:ext cx="2926080" cy="548640"/>
          </a:xfrm>
          <a:prstGeom prst="rect">
            <a:avLst/>
          </a:prstGeom>
          <a:noFill/>
          <a:ln/>
        </p:spPr>
        <p:txBody>
          <a:bodyPr wrap="square" lIns="0" tIns="0" rIns="0" bIns="0" rtlCol="0" anchor="ctr"/>
          <a:lstStyle/>
          <a:p>
            <a:pPr marL="0" indent="0">
              <a:buNone/>
            </a:pPr>
            <a:r>
              <a:rPr lang="en-US" sz="1350" dirty="0">
                <a:solidFill>
                  <a:srgbClr val="AAB2BD"/>
                </a:solidFill>
                <a:latin typeface="Calibri" pitchFamily="34" charset="0"/>
                <a:ea typeface="Calibri" pitchFamily="34" charset="-122"/>
                <a:cs typeface="Calibri" pitchFamily="34" charset="-120"/>
              </a:rPr>
              <a:t>Delivery month</a:t>
            </a:r>
            <a:endParaRPr lang="en-US" sz="1350" dirty="0"/>
          </a:p>
        </p:txBody>
      </p:sp>
      <p:sp>
        <p:nvSpPr>
          <p:cNvPr id="19" name="Text 17"/>
          <p:cNvSpPr/>
          <p:nvPr/>
        </p:nvSpPr>
        <p:spPr>
          <a:xfrm>
            <a:off x="3657600" y="4398264"/>
            <a:ext cx="3474720" cy="548640"/>
          </a:xfrm>
          <a:prstGeom prst="rect">
            <a:avLst/>
          </a:prstGeom>
          <a:noFill/>
          <a:ln/>
        </p:spPr>
        <p:txBody>
          <a:bodyPr wrap="square" lIns="0" tIns="0" rIns="0" bIns="0" rtlCol="0" anchor="ctr"/>
          <a:lstStyle/>
          <a:p>
            <a:pPr marL="0" indent="0">
              <a:buNone/>
            </a:pPr>
            <a:r>
              <a:rPr lang="en-US" b="1" dirty="0">
                <a:solidFill>
                  <a:srgbClr val="34D399"/>
                </a:solidFill>
                <a:latin typeface="Consolas" pitchFamily="34" charset="0"/>
                <a:ea typeface="Consolas" pitchFamily="34" charset="-122"/>
                <a:cs typeface="Consolas" pitchFamily="34" charset="-120"/>
              </a:rPr>
              <a:t>e.g. March 2026</a:t>
            </a:r>
            <a:endParaRPr lang="en-US" dirty="0"/>
          </a:p>
        </p:txBody>
      </p:sp>
      <p:sp>
        <p:nvSpPr>
          <p:cNvPr id="20" name="panel">
            <a:extLst>
              <a:ext uri="{C183D7F6-B498-43B3-948B-1728B52AA6E4}">
                <adec:decorative xmlns:adec="http://schemas.microsoft.com/office/drawing/2017/decorative" val="1"/>
              </a:ext>
            </a:extLst>
          </p:cNvPr>
          <p:cNvSpPr/>
          <p:nvPr/>
        </p:nvSpPr>
        <p:spPr>
          <a:xfrm>
            <a:off x="7589520" y="2423160"/>
            <a:ext cx="3959352" cy="2624328"/>
          </a:xfrm>
          <a:prstGeom prst="roundRect">
            <a:avLst>
              <a:gd name="adj" fmla="val 3136"/>
            </a:avLst>
          </a:prstGeom>
          <a:solidFill>
            <a:srgbClr val="262E38"/>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21" name="Text 19"/>
          <p:cNvSpPr/>
          <p:nvPr/>
        </p:nvSpPr>
        <p:spPr>
          <a:xfrm>
            <a:off x="7818120" y="2606040"/>
            <a:ext cx="3566160" cy="274320"/>
          </a:xfrm>
          <a:prstGeom prst="rect">
            <a:avLst/>
          </a:prstGeom>
          <a:noFill/>
          <a:ln/>
        </p:spPr>
        <p:txBody>
          <a:bodyPr wrap="square" lIns="0" tIns="0" rIns="0" bIns="0" rtlCol="0" anchor="ctr"/>
          <a:lstStyle/>
          <a:p>
            <a:pPr marL="0" indent="0">
              <a:buNone/>
            </a:pPr>
            <a:r>
              <a:rPr lang="en-US" sz="1100" b="1" kern="0" spc="200" dirty="0">
                <a:solidFill>
                  <a:srgbClr val="34D399"/>
                </a:solidFill>
                <a:latin typeface="Trebuchet MS" pitchFamily="34" charset="0"/>
                <a:ea typeface="Trebuchet MS" pitchFamily="34" charset="-122"/>
                <a:cs typeface="Trebuchet MS" pitchFamily="34" charset="-120"/>
              </a:rPr>
              <a:t>WHY SIZE MATTERS</a:t>
            </a:r>
            <a:endParaRPr lang="en-US" sz="1100" dirty="0"/>
          </a:p>
        </p:txBody>
      </p:sp>
      <p:sp>
        <p:nvSpPr>
          <p:cNvPr id="22" name="Text 20"/>
          <p:cNvSpPr/>
          <p:nvPr/>
        </p:nvSpPr>
        <p:spPr>
          <a:xfrm>
            <a:off x="7818120" y="2926080"/>
            <a:ext cx="3566160" cy="640080"/>
          </a:xfrm>
          <a:prstGeom prst="rect">
            <a:avLst/>
          </a:prstGeom>
          <a:noFill/>
          <a:ln/>
        </p:spPr>
        <p:txBody>
          <a:bodyPr wrap="square" lIns="0" tIns="0" rIns="0" bIns="0" rtlCol="0" anchor="ctr"/>
          <a:lstStyle/>
          <a:p>
            <a:pPr marL="0" indent="0">
              <a:buNone/>
            </a:pPr>
            <a:r>
              <a:rPr lang="en-US" sz="4000" b="1" dirty="0">
                <a:solidFill>
                  <a:srgbClr val="E7EBF0"/>
                </a:solidFill>
                <a:latin typeface="Consolas" pitchFamily="34" charset="0"/>
                <a:ea typeface="Consolas" pitchFamily="34" charset="-122"/>
                <a:cs typeface="Consolas" pitchFamily="34" charset="-120"/>
              </a:rPr>
              <a:t>$1</a:t>
            </a:r>
            <a:r>
              <a:rPr lang="en-US" sz="1500" dirty="0">
                <a:solidFill>
                  <a:srgbClr val="AAB2BD"/>
                </a:solidFill>
                <a:latin typeface="Calibri" pitchFamily="34" charset="0"/>
                <a:ea typeface="Calibri" pitchFamily="34" charset="-122"/>
                <a:cs typeface="Calibri" pitchFamily="34" charset="-120"/>
              </a:rPr>
              <a:t> / barrel move</a:t>
            </a:r>
            <a:endParaRPr lang="en-US" sz="4000" dirty="0"/>
          </a:p>
        </p:txBody>
      </p:sp>
      <p:sp>
        <p:nvSpPr>
          <p:cNvPr id="23" name="equals">
            <a:extLst>
              <a:ext uri="{C183D7F6-B498-43B3-948B-1728B52AA6E4}">
                <adec:decorative xmlns:adec="http://schemas.microsoft.com/office/drawing/2017/decorative" val="1"/>
              </a:ext>
            </a:extLst>
          </p:cNvPr>
          <p:cNvSpPr/>
          <p:nvPr/>
        </p:nvSpPr>
        <p:spPr>
          <a:xfrm>
            <a:off x="7818120" y="3703320"/>
            <a:ext cx="914400" cy="292608"/>
          </a:xfrm>
          <a:prstGeom prst="rightArrow">
            <a:avLst/>
          </a:prstGeom>
          <a:solidFill>
            <a:srgbClr val="10B981"/>
          </a:solidFill>
          <a:ln/>
        </p:spPr>
        <p:txBody>
          <a:bodyPr/>
          <a:lstStyle/>
          <a:p>
            <a:endParaRPr lang="en-SE"/>
          </a:p>
        </p:txBody>
      </p:sp>
      <p:sp>
        <p:nvSpPr>
          <p:cNvPr id="24" name="Text 22"/>
          <p:cNvSpPr/>
          <p:nvPr/>
        </p:nvSpPr>
        <p:spPr>
          <a:xfrm>
            <a:off x="7818120" y="4114800"/>
            <a:ext cx="3566160" cy="640080"/>
          </a:xfrm>
          <a:prstGeom prst="rect">
            <a:avLst/>
          </a:prstGeom>
          <a:noFill/>
          <a:ln/>
        </p:spPr>
        <p:txBody>
          <a:bodyPr wrap="square" lIns="0" tIns="0" rIns="0" bIns="0" rtlCol="0" anchor="ctr"/>
          <a:lstStyle/>
          <a:p>
            <a:pPr marL="0" indent="0">
              <a:buNone/>
            </a:pPr>
            <a:r>
              <a:rPr lang="en-US" sz="4000" b="1" dirty="0">
                <a:solidFill>
                  <a:srgbClr val="34D399"/>
                </a:solidFill>
                <a:latin typeface="Consolas" pitchFamily="34" charset="0"/>
                <a:ea typeface="Consolas" pitchFamily="34" charset="-122"/>
                <a:cs typeface="Consolas" pitchFamily="34" charset="-120"/>
              </a:rPr>
              <a:t>$1,000</a:t>
            </a:r>
            <a:r>
              <a:rPr lang="en-US" sz="1500" dirty="0">
                <a:solidFill>
                  <a:srgbClr val="AAB2BD"/>
                </a:solidFill>
                <a:latin typeface="Calibri" pitchFamily="34" charset="0"/>
                <a:ea typeface="Calibri" pitchFamily="34" charset="-122"/>
                <a:cs typeface="Calibri" pitchFamily="34" charset="-120"/>
              </a:rPr>
              <a:t> per contract</a:t>
            </a:r>
            <a:endParaRPr lang="en-US" sz="4000" dirty="0"/>
          </a:p>
        </p:txBody>
      </p:sp>
      <p:sp>
        <p:nvSpPr>
          <p:cNvPr id="25"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6"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sz="2400"/>
          </a:p>
        </p:txBody>
      </p:sp>
      <p:sp>
        <p:nvSpPr>
          <p:cNvPr id="27" name="Text 25"/>
          <p:cNvSpPr/>
          <p:nvPr/>
        </p:nvSpPr>
        <p:spPr>
          <a:xfrm>
            <a:off x="914400" y="5870448"/>
            <a:ext cx="10515600" cy="457200"/>
          </a:xfrm>
          <a:prstGeom prst="rect">
            <a:avLst/>
          </a:prstGeom>
          <a:noFill/>
          <a:ln/>
        </p:spPr>
        <p:txBody>
          <a:bodyPr wrap="square" lIns="0" tIns="0" rIns="0" bIns="0" rtlCol="0" anchor="ctr"/>
          <a:lstStyle/>
          <a:p>
            <a:pPr marL="0" indent="0">
              <a:buNone/>
            </a:pPr>
            <a:r>
              <a:rPr lang="en-US" sz="1100" b="1" kern="0" spc="200" dirty="0">
                <a:solidFill>
                  <a:srgbClr val="34D399"/>
                </a:solidFill>
                <a:latin typeface="Trebuchet MS" pitchFamily="34" charset="0"/>
                <a:ea typeface="Trebuchet MS" pitchFamily="34" charset="-122"/>
                <a:cs typeface="Trebuchet MS" pitchFamily="34" charset="-120"/>
              </a:rPr>
              <a:t>KEY IDEA   </a:t>
            </a:r>
            <a:r>
              <a:rPr lang="en-US" sz="1600" dirty="0">
                <a:solidFill>
                  <a:srgbClr val="E7EBF0"/>
                </a:solidFill>
                <a:latin typeface="Calibri" pitchFamily="34" charset="0"/>
                <a:ea typeface="Calibri" pitchFamily="34" charset="-122"/>
                <a:cs typeface="Calibri" pitchFamily="34" charset="-120"/>
              </a:rPr>
              <a:t>1 contract = 1,000 barrels, so every $1.00 price move is worth $1,000. Hold this number — we use it constantly.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The trade you actually want isn't a direction">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trade you actually want isn't a direction</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01 · THE PROBLEM</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13</a:t>
            </a:r>
            <a:endParaRPr lang="en-US" sz="1000" dirty="0"/>
          </a:p>
        </p:txBody>
      </p:sp>
      <p:sp>
        <p:nvSpPr>
          <p:cNvPr id="7" name="Text 5"/>
          <p:cNvSpPr/>
          <p:nvPr/>
        </p:nvSpPr>
        <p:spPr>
          <a:xfrm>
            <a:off x="640080" y="1371600"/>
            <a:ext cx="10881360" cy="640080"/>
          </a:xfrm>
          <a:prstGeom prst="rect">
            <a:avLst/>
          </a:prstGeom>
          <a:noFill/>
          <a:ln/>
        </p:spPr>
        <p:txBody>
          <a:bodyPr wrap="square" lIns="0" tIns="0" rIns="0" bIns="0" rtlCol="0" anchor="ctr"/>
          <a:lstStyle/>
          <a:p>
            <a:pPr marL="0" indent="0">
              <a:lnSpc>
                <a:spcPct val="110000"/>
              </a:lnSpc>
              <a:buNone/>
            </a:pPr>
            <a:r>
              <a:rPr lang="en-US" sz="1600" dirty="0">
                <a:solidFill>
                  <a:srgbClr val="AAB2BD"/>
                </a:solidFill>
                <a:latin typeface="Calibri" pitchFamily="34" charset="0"/>
                <a:ea typeface="Calibri" pitchFamily="34" charset="-122"/>
                <a:cs typeface="Calibri" pitchFamily="34" charset="-120"/>
              </a:rPr>
              <a:t>Many traders have no view on whether oil goes up or down. Their view is about the gap between two delivery months — March versus June.</a:t>
            </a:r>
            <a:endParaRPr lang="en-US" sz="1600" dirty="0"/>
          </a:p>
        </p:txBody>
      </p:sp>
      <p:sp>
        <p:nvSpPr>
          <p:cNvPr id="8" name="panel">
            <a:extLst>
              <a:ext uri="{C183D7F6-B498-43B3-948B-1728B52AA6E4}">
                <adec:decorative xmlns:adec="http://schemas.microsoft.com/office/drawing/2017/decorative" val="1"/>
              </a:ext>
            </a:extLst>
          </p:cNvPr>
          <p:cNvSpPr/>
          <p:nvPr/>
        </p:nvSpPr>
        <p:spPr>
          <a:xfrm>
            <a:off x="640080" y="2148840"/>
            <a:ext cx="5303520" cy="2743200"/>
          </a:xfrm>
          <a:prstGeom prst="roundRect">
            <a:avLst>
              <a:gd name="adj" fmla="val 30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868680" y="2331720"/>
            <a:ext cx="4846320" cy="274320"/>
          </a:xfrm>
          <a:prstGeom prst="rect">
            <a:avLst/>
          </a:prstGeom>
          <a:noFill/>
          <a:ln/>
        </p:spPr>
        <p:txBody>
          <a:bodyPr wrap="square" lIns="0" tIns="0" rIns="0" bIns="0" rtlCol="0" anchor="ctr"/>
          <a:lstStyle/>
          <a:p>
            <a:pPr marL="0" indent="0">
              <a:buNone/>
            </a:pPr>
            <a:r>
              <a:rPr lang="en-US" sz="1200" b="1" kern="0" spc="200" dirty="0">
                <a:solidFill>
                  <a:srgbClr val="6EA8E6"/>
                </a:solidFill>
                <a:latin typeface="Trebuchet MS" pitchFamily="34" charset="0"/>
                <a:ea typeface="Trebuchet MS" pitchFamily="34" charset="-122"/>
                <a:cs typeface="Trebuchet MS" pitchFamily="34" charset="-120"/>
              </a:rPr>
              <a:t>A DIRECTIONAL BET</a:t>
            </a:r>
            <a:endParaRPr lang="en-US" sz="1200" dirty="0"/>
          </a:p>
        </p:txBody>
      </p:sp>
      <p:sp>
        <p:nvSpPr>
          <p:cNvPr id="10" name="Text 8"/>
          <p:cNvSpPr/>
          <p:nvPr/>
        </p:nvSpPr>
        <p:spPr>
          <a:xfrm>
            <a:off x="868680" y="2606040"/>
            <a:ext cx="4846320" cy="411480"/>
          </a:xfrm>
          <a:prstGeom prst="rect">
            <a:avLst/>
          </a:prstGeom>
          <a:noFill/>
          <a:ln/>
        </p:spPr>
        <p:txBody>
          <a:bodyPr wrap="square" lIns="0" tIns="0" rIns="0" bIns="0" rtlCol="0" anchor="ctr"/>
          <a:lstStyle/>
          <a:p>
            <a:pPr marL="0" indent="0">
              <a:buNone/>
            </a:pPr>
            <a:r>
              <a:rPr lang="en-US" sz="1800" b="1" dirty="0">
                <a:solidFill>
                  <a:srgbClr val="E7EBF0"/>
                </a:solidFill>
                <a:latin typeface="Trebuchet MS" pitchFamily="34" charset="0"/>
                <a:ea typeface="Trebuchet MS" pitchFamily="34" charset="-122"/>
                <a:cs typeface="Trebuchet MS" pitchFamily="34" charset="-120"/>
              </a:rPr>
              <a:t>“Oil will rise.”</a:t>
            </a:r>
            <a:endParaRPr lang="en-US" sz="1800" dirty="0"/>
          </a:p>
        </p:txBody>
      </p:sp>
      <p:sp>
        <p:nvSpPr>
          <p:cNvPr id="11" name="connector">
            <a:extLst>
              <a:ext uri="{C183D7F6-B498-43B3-948B-1728B52AA6E4}">
                <adec:decorative xmlns:adec="http://schemas.microsoft.com/office/drawing/2017/decorative" val="1"/>
              </a:ext>
            </a:extLst>
          </p:cNvPr>
          <p:cNvSpPr/>
          <p:nvPr/>
        </p:nvSpPr>
        <p:spPr>
          <a:xfrm flipV="1">
            <a:off x="1097280" y="3291840"/>
            <a:ext cx="4297680" cy="1188720"/>
          </a:xfrm>
          <a:prstGeom prst="line">
            <a:avLst/>
          </a:prstGeom>
          <a:noFill/>
          <a:ln w="38100">
            <a:solidFill>
              <a:srgbClr val="6EA8E6"/>
            </a:solidFill>
            <a:prstDash val="solid"/>
            <a:headEnd type="none"/>
            <a:tailEnd type="triangle"/>
          </a:ln>
        </p:spPr>
        <p:txBody>
          <a:bodyPr/>
          <a:lstStyle/>
          <a:p>
            <a:endParaRPr lang="en-SE"/>
          </a:p>
        </p:txBody>
      </p:sp>
      <p:sp>
        <p:nvSpPr>
          <p:cNvPr id="12" name="Text 10"/>
          <p:cNvSpPr/>
          <p:nvPr/>
        </p:nvSpPr>
        <p:spPr>
          <a:xfrm>
            <a:off x="868680" y="4526280"/>
            <a:ext cx="4846320" cy="320040"/>
          </a:xfrm>
          <a:prstGeom prst="rect">
            <a:avLst/>
          </a:prstGeom>
          <a:noFill/>
          <a:ln/>
        </p:spPr>
        <p:txBody>
          <a:bodyPr wrap="square" lIns="0" tIns="0" rIns="0" bIns="0" rtlCol="0" anchor="ctr"/>
          <a:lstStyle/>
          <a:p>
            <a:pPr marL="0" indent="0">
              <a:buNone/>
            </a:pPr>
            <a:r>
              <a:rPr lang="en-US" sz="1400" i="1" dirty="0">
                <a:solidFill>
                  <a:srgbClr val="AAB2BD"/>
                </a:solidFill>
                <a:latin typeface="Calibri" pitchFamily="34" charset="0"/>
                <a:ea typeface="Calibri" pitchFamily="34" charset="-122"/>
                <a:cs typeface="Calibri" pitchFamily="34" charset="-120"/>
              </a:rPr>
              <a:t>Exposed to the whole market. A war, an OPEC cut, a recession — anything moves your P/L.</a:t>
            </a:r>
            <a:endParaRPr lang="en-US" sz="1400" dirty="0"/>
          </a:p>
        </p:txBody>
      </p:sp>
      <p:sp>
        <p:nvSpPr>
          <p:cNvPr id="13" name="panel">
            <a:extLst>
              <a:ext uri="{C183D7F6-B498-43B3-948B-1728B52AA6E4}">
                <adec:decorative xmlns:adec="http://schemas.microsoft.com/office/drawing/2017/decorative" val="1"/>
              </a:ext>
            </a:extLst>
          </p:cNvPr>
          <p:cNvSpPr/>
          <p:nvPr/>
        </p:nvSpPr>
        <p:spPr>
          <a:xfrm>
            <a:off x="6245352" y="2148840"/>
            <a:ext cx="5303520" cy="2743200"/>
          </a:xfrm>
          <a:prstGeom prst="roundRect">
            <a:avLst>
              <a:gd name="adj" fmla="val 3000"/>
            </a:avLst>
          </a:prstGeom>
          <a:solidFill>
            <a:srgbClr val="262E38"/>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14" name="Text 12"/>
          <p:cNvSpPr/>
          <p:nvPr/>
        </p:nvSpPr>
        <p:spPr>
          <a:xfrm>
            <a:off x="6473952" y="2331720"/>
            <a:ext cx="4846320" cy="274320"/>
          </a:xfrm>
          <a:prstGeom prst="rect">
            <a:avLst/>
          </a:prstGeom>
          <a:noFill/>
          <a:ln/>
        </p:spPr>
        <p:txBody>
          <a:bodyPr wrap="square" lIns="0" tIns="0" rIns="0" bIns="0" rtlCol="0" anchor="ctr"/>
          <a:lstStyle/>
          <a:p>
            <a:pPr marL="0" indent="0">
              <a:buNone/>
            </a:pPr>
            <a:r>
              <a:rPr lang="en-US" sz="1200" b="1" kern="0" spc="200" dirty="0">
                <a:solidFill>
                  <a:srgbClr val="34D399"/>
                </a:solidFill>
                <a:latin typeface="Trebuchet MS" pitchFamily="34" charset="0"/>
                <a:ea typeface="Trebuchet MS" pitchFamily="34" charset="-122"/>
                <a:cs typeface="Trebuchet MS" pitchFamily="34" charset="-120"/>
              </a:rPr>
              <a:t>A RELATIONSHIP BET  (our focus)</a:t>
            </a:r>
            <a:endParaRPr lang="en-US" sz="1200" dirty="0"/>
          </a:p>
        </p:txBody>
      </p:sp>
      <p:sp>
        <p:nvSpPr>
          <p:cNvPr id="15" name="Text 13"/>
          <p:cNvSpPr/>
          <p:nvPr/>
        </p:nvSpPr>
        <p:spPr>
          <a:xfrm>
            <a:off x="6473952" y="2606040"/>
            <a:ext cx="4846320" cy="411480"/>
          </a:xfrm>
          <a:prstGeom prst="rect">
            <a:avLst/>
          </a:prstGeom>
          <a:noFill/>
          <a:ln/>
        </p:spPr>
        <p:txBody>
          <a:bodyPr wrap="square" lIns="0" tIns="0" rIns="0" bIns="0" rtlCol="0" anchor="ctr"/>
          <a:lstStyle/>
          <a:p>
            <a:pPr marL="0" indent="0">
              <a:buNone/>
            </a:pPr>
            <a:r>
              <a:rPr lang="en-US" sz="1800" b="1" dirty="0">
                <a:solidFill>
                  <a:srgbClr val="E7EBF0"/>
                </a:solidFill>
                <a:latin typeface="Trebuchet MS" pitchFamily="34" charset="0"/>
                <a:ea typeface="Trebuchet MS" pitchFamily="34" charset="-122"/>
                <a:cs typeface="Trebuchet MS" pitchFamily="34" charset="-120"/>
              </a:rPr>
              <a:t>“March will gain on June.”</a:t>
            </a:r>
            <a:endParaRPr lang="en-US" sz="1800" dirty="0"/>
          </a:p>
        </p:txBody>
      </p:sp>
      <p:sp>
        <p:nvSpPr>
          <p:cNvPr id="16" name="dot">
            <a:extLst>
              <a:ext uri="{C183D7F6-B498-43B3-948B-1728B52AA6E4}">
                <adec:decorative xmlns:adec="http://schemas.microsoft.com/office/drawing/2017/decorative" val="1"/>
              </a:ext>
            </a:extLst>
          </p:cNvPr>
          <p:cNvSpPr/>
          <p:nvPr/>
        </p:nvSpPr>
        <p:spPr>
          <a:xfrm>
            <a:off x="6839712" y="4050792"/>
            <a:ext cx="219456" cy="219456"/>
          </a:xfrm>
          <a:prstGeom prst="ellipse">
            <a:avLst/>
          </a:prstGeom>
          <a:solidFill>
            <a:srgbClr val="34D399"/>
          </a:solidFill>
          <a:ln/>
        </p:spPr>
        <p:txBody>
          <a:bodyPr/>
          <a:lstStyle/>
          <a:p>
            <a:endParaRPr lang="en-SE"/>
          </a:p>
        </p:txBody>
      </p:sp>
      <p:sp>
        <p:nvSpPr>
          <p:cNvPr id="17" name="dot">
            <a:extLst>
              <a:ext uri="{C183D7F6-B498-43B3-948B-1728B52AA6E4}">
                <adec:decorative xmlns:adec="http://schemas.microsoft.com/office/drawing/2017/decorative" val="1"/>
              </a:ext>
            </a:extLst>
          </p:cNvPr>
          <p:cNvSpPr/>
          <p:nvPr/>
        </p:nvSpPr>
        <p:spPr>
          <a:xfrm>
            <a:off x="8394192" y="3867912"/>
            <a:ext cx="219456" cy="219456"/>
          </a:xfrm>
          <a:prstGeom prst="ellipse">
            <a:avLst/>
          </a:prstGeom>
          <a:solidFill>
            <a:srgbClr val="6EA8E6"/>
          </a:solidFill>
          <a:ln/>
        </p:spPr>
        <p:txBody>
          <a:bodyPr/>
          <a:lstStyle/>
          <a:p>
            <a:endParaRPr lang="en-SE"/>
          </a:p>
        </p:txBody>
      </p:sp>
      <p:sp>
        <p:nvSpPr>
          <p:cNvPr id="18" name="connector">
            <a:extLst>
              <a:ext uri="{C183D7F6-B498-43B3-948B-1728B52AA6E4}">
                <adec:decorative xmlns:adec="http://schemas.microsoft.com/office/drawing/2017/decorative" val="1"/>
              </a:ext>
            </a:extLst>
          </p:cNvPr>
          <p:cNvSpPr/>
          <p:nvPr/>
        </p:nvSpPr>
        <p:spPr>
          <a:xfrm flipV="1">
            <a:off x="6949440" y="3977640"/>
            <a:ext cx="1554480" cy="182880"/>
          </a:xfrm>
          <a:prstGeom prst="line">
            <a:avLst/>
          </a:prstGeom>
          <a:noFill/>
          <a:ln w="19050">
            <a:solidFill>
              <a:srgbClr val="343E4A"/>
            </a:solidFill>
            <a:prstDash val="dash"/>
            <a:headEnd type="none"/>
            <a:tailEnd type="none"/>
          </a:ln>
        </p:spPr>
        <p:txBody>
          <a:bodyPr/>
          <a:lstStyle/>
          <a:p>
            <a:endParaRPr lang="en-SE"/>
          </a:p>
        </p:txBody>
      </p:sp>
      <p:sp>
        <p:nvSpPr>
          <p:cNvPr id="19" name="Text 17"/>
          <p:cNvSpPr/>
          <p:nvPr/>
        </p:nvSpPr>
        <p:spPr>
          <a:xfrm>
            <a:off x="6583680" y="4297680"/>
            <a:ext cx="731520" cy="274320"/>
          </a:xfrm>
          <a:prstGeom prst="rect">
            <a:avLst/>
          </a:prstGeom>
          <a:noFill/>
          <a:ln/>
        </p:spPr>
        <p:txBody>
          <a:bodyPr wrap="square" lIns="0" tIns="0" rIns="0" bIns="0" rtlCol="0" anchor="ctr"/>
          <a:lstStyle/>
          <a:p>
            <a:pPr marL="0" indent="0" algn="ctr">
              <a:buNone/>
            </a:pPr>
            <a:r>
              <a:rPr lang="en-US" sz="1100" dirty="0">
                <a:solidFill>
                  <a:srgbClr val="34D399"/>
                </a:solidFill>
                <a:latin typeface="Consolas" pitchFamily="34" charset="0"/>
                <a:ea typeface="Consolas" pitchFamily="34" charset="-122"/>
                <a:cs typeface="Consolas" pitchFamily="34" charset="-120"/>
              </a:rPr>
              <a:t>Mar</a:t>
            </a:r>
            <a:endParaRPr lang="en-US" sz="1100" dirty="0"/>
          </a:p>
        </p:txBody>
      </p:sp>
      <p:sp>
        <p:nvSpPr>
          <p:cNvPr id="20" name="Text 18"/>
          <p:cNvSpPr/>
          <p:nvPr/>
        </p:nvSpPr>
        <p:spPr>
          <a:xfrm>
            <a:off x="8138160" y="4114800"/>
            <a:ext cx="731520" cy="274320"/>
          </a:xfrm>
          <a:prstGeom prst="rect">
            <a:avLst/>
          </a:prstGeom>
          <a:noFill/>
          <a:ln/>
        </p:spPr>
        <p:txBody>
          <a:bodyPr wrap="square" lIns="0" tIns="0" rIns="0" bIns="0" rtlCol="0" anchor="ctr"/>
          <a:lstStyle/>
          <a:p>
            <a:pPr marL="0" indent="0" algn="ctr">
              <a:buNone/>
            </a:pPr>
            <a:r>
              <a:rPr lang="en-US" sz="1100" dirty="0">
                <a:solidFill>
                  <a:srgbClr val="6EA8E6"/>
                </a:solidFill>
                <a:latin typeface="Consolas" pitchFamily="34" charset="0"/>
                <a:ea typeface="Consolas" pitchFamily="34" charset="-122"/>
                <a:cs typeface="Consolas" pitchFamily="34" charset="-120"/>
              </a:rPr>
              <a:t>Jun</a:t>
            </a:r>
            <a:endParaRPr lang="en-US" sz="1100" dirty="0"/>
          </a:p>
        </p:txBody>
      </p:sp>
      <p:sp>
        <p:nvSpPr>
          <p:cNvPr id="21" name="Text 19"/>
          <p:cNvSpPr/>
          <p:nvPr/>
        </p:nvSpPr>
        <p:spPr>
          <a:xfrm>
            <a:off x="9052560" y="3840480"/>
            <a:ext cx="2286000" cy="914400"/>
          </a:xfrm>
          <a:prstGeom prst="rect">
            <a:avLst/>
          </a:prstGeom>
          <a:noFill/>
          <a:ln/>
        </p:spPr>
        <p:txBody>
          <a:bodyPr wrap="square" lIns="0" tIns="0" rIns="0" bIns="0" rtlCol="0" anchor="ctr"/>
          <a:lstStyle/>
          <a:p>
            <a:pPr marL="0" indent="0">
              <a:lnSpc>
                <a:spcPct val="105000"/>
              </a:lnSpc>
              <a:buNone/>
            </a:pPr>
            <a:r>
              <a:rPr lang="en-US" sz="1400" i="1" dirty="0">
                <a:solidFill>
                  <a:srgbClr val="AAB2BD"/>
                </a:solidFill>
                <a:latin typeface="Calibri" pitchFamily="34" charset="0"/>
                <a:ea typeface="Calibri" pitchFamily="34" charset="-122"/>
                <a:cs typeface="Calibri" pitchFamily="34" charset="-120"/>
              </a:rPr>
              <a:t>If both rise $5, you barely care. You only care that the gap between them changes.</a:t>
            </a:r>
            <a:endParaRPr lang="en-US" sz="1400" dirty="0"/>
          </a:p>
        </p:txBody>
      </p:sp>
      <p:sp>
        <p:nvSpPr>
          <p:cNvPr id="22"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sz="2400"/>
          </a:p>
        </p:txBody>
      </p:sp>
      <p:sp>
        <p:nvSpPr>
          <p:cNvPr id="23"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sz="2400"/>
          </a:p>
        </p:txBody>
      </p:sp>
      <p:sp>
        <p:nvSpPr>
          <p:cNvPr id="24" name="Text 22"/>
          <p:cNvSpPr/>
          <p:nvPr/>
        </p:nvSpPr>
        <p:spPr>
          <a:xfrm>
            <a:off x="914400" y="5870448"/>
            <a:ext cx="10515600" cy="457200"/>
          </a:xfrm>
          <a:prstGeom prst="rect">
            <a:avLst/>
          </a:prstGeom>
          <a:noFill/>
          <a:ln/>
        </p:spPr>
        <p:txBody>
          <a:bodyPr wrap="square" lIns="0" tIns="0" rIns="0" bIns="0" rtlCol="0" anchor="ctr"/>
          <a:lstStyle/>
          <a:p>
            <a:pPr marL="0" indent="0">
              <a:buNone/>
            </a:pPr>
            <a:r>
              <a:rPr lang="en-US" sz="1100" b="1" kern="0" spc="200" dirty="0">
                <a:solidFill>
                  <a:srgbClr val="34D399"/>
                </a:solidFill>
                <a:latin typeface="Trebuchet MS" pitchFamily="34" charset="0"/>
                <a:ea typeface="Trebuchet MS" pitchFamily="34" charset="-122"/>
                <a:cs typeface="Trebuchet MS" pitchFamily="34" charset="-120"/>
              </a:rPr>
              <a:t>KEY IDEA   </a:t>
            </a:r>
            <a:r>
              <a:rPr lang="en-US" sz="1600" dirty="0">
                <a:solidFill>
                  <a:srgbClr val="E7EBF0"/>
                </a:solidFill>
                <a:latin typeface="Calibri" pitchFamily="34" charset="0"/>
                <a:ea typeface="Calibri" pitchFamily="34" charset="-122"/>
                <a:cs typeface="Calibri" pitchFamily="34" charset="-120"/>
              </a:rPr>
              <a:t>A spread trade bets on the relationship between two contracts — not on the market's direction.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e naive approach: two separate orders">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800" b="1" dirty="0">
                <a:solidFill>
                  <a:srgbClr val="E7EBF0"/>
                </a:solidFill>
                <a:latin typeface="Trebuchet MS" pitchFamily="34" charset="0"/>
                <a:ea typeface="Trebuchet MS" pitchFamily="34" charset="-122"/>
                <a:cs typeface="Trebuchet MS" pitchFamily="34" charset="-120"/>
              </a:rPr>
              <a:t>The naive approach: two separate orders</a:t>
            </a:r>
            <a:endParaRPr lang="en-US" sz="28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01 · THE PROBLEM</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14</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To get “long March, short June,” you could just send two independent orders and hope they both fill. Watch what the clock does to that plan.</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94560"/>
            <a:ext cx="4023360" cy="1371600"/>
          </a:xfrm>
          <a:prstGeom prst="roundRect">
            <a:avLst>
              <a:gd name="adj" fmla="val 6000"/>
            </a:avLst>
          </a:prstGeom>
          <a:solidFill>
            <a:srgbClr val="1F252D"/>
          </a:solidFill>
          <a:ln w="19050">
            <a:solidFill>
              <a:srgbClr val="34D399"/>
            </a:solidFill>
            <a:prstDash val="solid"/>
          </a:ln>
        </p:spPr>
        <p:txBody>
          <a:bodyPr/>
          <a:lstStyle/>
          <a:p>
            <a:endParaRPr lang="en-SE"/>
          </a:p>
        </p:txBody>
      </p:sp>
      <p:sp>
        <p:nvSpPr>
          <p:cNvPr id="9" name="side tag">
            <a:extLst>
              <a:ext uri="{C183D7F6-B498-43B3-948B-1728B52AA6E4}">
                <adec:decorative xmlns:adec="http://schemas.microsoft.com/office/drawing/2017/decorative" val="1"/>
              </a:ext>
            </a:extLst>
          </p:cNvPr>
          <p:cNvSpPr/>
          <p:nvPr/>
        </p:nvSpPr>
        <p:spPr>
          <a:xfrm>
            <a:off x="841248" y="2395728"/>
            <a:ext cx="1051560" cy="384048"/>
          </a:xfrm>
          <a:prstGeom prst="roundRect">
            <a:avLst>
              <a:gd name="adj" fmla="val 14286"/>
            </a:avLst>
          </a:prstGeom>
          <a:solidFill>
            <a:srgbClr val="34D399"/>
          </a:solidFill>
          <a:ln/>
        </p:spPr>
        <p:txBody>
          <a:bodyPr/>
          <a:lstStyle/>
          <a:p>
            <a:endParaRPr lang="en-SE"/>
          </a:p>
        </p:txBody>
      </p:sp>
      <p:sp>
        <p:nvSpPr>
          <p:cNvPr id="10" name="Text 8"/>
          <p:cNvSpPr/>
          <p:nvPr/>
        </p:nvSpPr>
        <p:spPr>
          <a:xfrm>
            <a:off x="841248" y="2395728"/>
            <a:ext cx="1051560" cy="384048"/>
          </a:xfrm>
          <a:prstGeom prst="rect">
            <a:avLst/>
          </a:prstGeom>
          <a:noFill/>
          <a:ln/>
        </p:spPr>
        <p:txBody>
          <a:bodyPr wrap="square" lIns="0" tIns="0" rIns="0" bIns="0" rtlCol="0" anchor="ctr"/>
          <a:lstStyle/>
          <a:p>
            <a:pPr marL="0" indent="0" algn="ctr">
              <a:buNone/>
            </a:pPr>
            <a:r>
              <a:rPr lang="en-US" sz="1200" b="1" kern="0" spc="100" dirty="0">
                <a:solidFill>
                  <a:srgbClr val="14171C"/>
                </a:solidFill>
                <a:latin typeface="Trebuchet MS" pitchFamily="34" charset="0"/>
                <a:ea typeface="Trebuchet MS" pitchFamily="34" charset="-122"/>
                <a:cs typeface="Trebuchet MS" pitchFamily="34" charset="-120"/>
              </a:rPr>
              <a:t>BUY</a:t>
            </a:r>
            <a:endParaRPr lang="en-US" sz="1200" dirty="0"/>
          </a:p>
        </p:txBody>
      </p:sp>
      <p:sp>
        <p:nvSpPr>
          <p:cNvPr id="11" name="Text 9"/>
          <p:cNvSpPr/>
          <p:nvPr/>
        </p:nvSpPr>
        <p:spPr>
          <a:xfrm>
            <a:off x="2011680" y="2377440"/>
            <a:ext cx="2468880" cy="420624"/>
          </a:xfrm>
          <a:prstGeom prst="rect">
            <a:avLst/>
          </a:prstGeom>
          <a:noFill/>
          <a:ln/>
        </p:spPr>
        <p:txBody>
          <a:bodyPr wrap="square" lIns="0" tIns="0" rIns="0" bIns="0" rtlCol="0" anchor="ctr"/>
          <a:lstStyle/>
          <a:p>
            <a:pPr marL="0" indent="0">
              <a:buNone/>
            </a:pPr>
            <a:r>
              <a:rPr lang="en-US" sz="1500" b="1" dirty="0">
                <a:solidFill>
                  <a:srgbClr val="E7EBF0"/>
                </a:solidFill>
                <a:latin typeface="Trebuchet MS" pitchFamily="34" charset="0"/>
                <a:ea typeface="Trebuchet MS" pitchFamily="34" charset="-122"/>
                <a:cs typeface="Trebuchet MS" pitchFamily="34" charset="-120"/>
              </a:rPr>
              <a:t>March Crude</a:t>
            </a:r>
            <a:endParaRPr lang="en-US" sz="1500" dirty="0"/>
          </a:p>
        </p:txBody>
      </p:sp>
      <p:sp>
        <p:nvSpPr>
          <p:cNvPr id="12" name="Text 10"/>
          <p:cNvSpPr/>
          <p:nvPr/>
        </p:nvSpPr>
        <p:spPr>
          <a:xfrm>
            <a:off x="859536" y="2907792"/>
            <a:ext cx="3657600" cy="457200"/>
          </a:xfrm>
          <a:prstGeom prst="rect">
            <a:avLst/>
          </a:prstGeom>
          <a:noFill/>
          <a:ln/>
        </p:spPr>
        <p:txBody>
          <a:bodyPr wrap="square" lIns="0" tIns="0" rIns="0" bIns="0" rtlCol="0" anchor="ctr"/>
          <a:lstStyle/>
          <a:p>
            <a:pPr marL="0" indent="0">
              <a:buNone/>
            </a:pPr>
            <a:r>
              <a:rPr lang="en-US" sz="1200" dirty="0">
                <a:solidFill>
                  <a:srgbClr val="AAB2BD"/>
                </a:solidFill>
                <a:latin typeface="Calibri" pitchFamily="34" charset="0"/>
                <a:ea typeface="Calibri" pitchFamily="34" charset="-122"/>
                <a:cs typeface="Calibri" pitchFamily="34" charset="-120"/>
              </a:rPr>
              <a:t>target  </a:t>
            </a:r>
            <a:r>
              <a:rPr lang="en-US" sz="2000" b="1" dirty="0">
                <a:solidFill>
                  <a:srgbClr val="34D399"/>
                </a:solidFill>
                <a:latin typeface="Consolas" pitchFamily="34" charset="0"/>
                <a:ea typeface="Consolas" pitchFamily="34" charset="-122"/>
                <a:cs typeface="Consolas" pitchFamily="34" charset="-120"/>
              </a:rPr>
              <a:t>$80.00</a:t>
            </a:r>
            <a:endParaRPr lang="en-US" sz="1200" dirty="0"/>
          </a:p>
        </p:txBody>
      </p:sp>
      <p:sp>
        <p:nvSpPr>
          <p:cNvPr id="13" name="Text 11"/>
          <p:cNvSpPr/>
          <p:nvPr/>
        </p:nvSpPr>
        <p:spPr>
          <a:xfrm>
            <a:off x="859536" y="3156661"/>
            <a:ext cx="3621024" cy="384048"/>
          </a:xfrm>
          <a:prstGeom prst="rect">
            <a:avLst/>
          </a:prstGeom>
          <a:noFill/>
          <a:ln/>
        </p:spPr>
        <p:txBody>
          <a:bodyPr wrap="square" lIns="0" tIns="0" rIns="0" bIns="0" rtlCol="0" anchor="ctr"/>
          <a:lstStyle/>
          <a:p>
            <a:pPr marL="0" indent="0">
              <a:buNone/>
            </a:pPr>
            <a:r>
              <a:rPr lang="en-US" sz="1050" i="1" dirty="0">
                <a:solidFill>
                  <a:srgbClr val="AAB2BD"/>
                </a:solidFill>
                <a:latin typeface="Calibri" pitchFamily="34" charset="0"/>
                <a:ea typeface="Calibri" pitchFamily="34" charset="-122"/>
                <a:cs typeface="Calibri" pitchFamily="34" charset="-120"/>
              </a:rPr>
              <a:t>Order A — sent to the market</a:t>
            </a:r>
            <a:endParaRPr lang="en-US" sz="1050" dirty="0"/>
          </a:p>
        </p:txBody>
      </p:sp>
      <p:sp>
        <p:nvSpPr>
          <p:cNvPr id="14" name="panel">
            <a:extLst>
              <a:ext uri="{C183D7F6-B498-43B3-948B-1728B52AA6E4}">
                <adec:decorative xmlns:adec="http://schemas.microsoft.com/office/drawing/2017/decorative" val="1"/>
              </a:ext>
            </a:extLst>
          </p:cNvPr>
          <p:cNvSpPr/>
          <p:nvPr/>
        </p:nvSpPr>
        <p:spPr>
          <a:xfrm>
            <a:off x="640080" y="3703320"/>
            <a:ext cx="4023360" cy="1371600"/>
          </a:xfrm>
          <a:prstGeom prst="roundRect">
            <a:avLst>
              <a:gd name="adj" fmla="val 6000"/>
            </a:avLst>
          </a:prstGeom>
          <a:solidFill>
            <a:srgbClr val="1F252D"/>
          </a:solidFill>
          <a:ln w="19050">
            <a:solidFill>
              <a:srgbClr val="6EA8E6"/>
            </a:solidFill>
            <a:prstDash val="solid"/>
          </a:ln>
        </p:spPr>
        <p:txBody>
          <a:bodyPr/>
          <a:lstStyle/>
          <a:p>
            <a:endParaRPr lang="en-SE"/>
          </a:p>
        </p:txBody>
      </p:sp>
      <p:sp>
        <p:nvSpPr>
          <p:cNvPr id="15" name="side tag">
            <a:extLst>
              <a:ext uri="{C183D7F6-B498-43B3-948B-1728B52AA6E4}">
                <adec:decorative xmlns:adec="http://schemas.microsoft.com/office/drawing/2017/decorative" val="1"/>
              </a:ext>
            </a:extLst>
          </p:cNvPr>
          <p:cNvSpPr/>
          <p:nvPr/>
        </p:nvSpPr>
        <p:spPr>
          <a:xfrm>
            <a:off x="841248" y="3904488"/>
            <a:ext cx="1051560" cy="384048"/>
          </a:xfrm>
          <a:prstGeom prst="roundRect">
            <a:avLst>
              <a:gd name="adj" fmla="val 14286"/>
            </a:avLst>
          </a:prstGeom>
          <a:solidFill>
            <a:srgbClr val="6EA8E6"/>
          </a:solidFill>
          <a:ln/>
        </p:spPr>
        <p:txBody>
          <a:bodyPr/>
          <a:lstStyle/>
          <a:p>
            <a:endParaRPr lang="en-SE"/>
          </a:p>
        </p:txBody>
      </p:sp>
      <p:sp>
        <p:nvSpPr>
          <p:cNvPr id="16" name="Text 14"/>
          <p:cNvSpPr/>
          <p:nvPr/>
        </p:nvSpPr>
        <p:spPr>
          <a:xfrm>
            <a:off x="841248" y="3904488"/>
            <a:ext cx="1051560" cy="384048"/>
          </a:xfrm>
          <a:prstGeom prst="rect">
            <a:avLst/>
          </a:prstGeom>
          <a:noFill/>
          <a:ln/>
        </p:spPr>
        <p:txBody>
          <a:bodyPr wrap="square" lIns="0" tIns="0" rIns="0" bIns="0" rtlCol="0" anchor="ctr"/>
          <a:lstStyle/>
          <a:p>
            <a:pPr marL="0" indent="0" algn="ctr">
              <a:buNone/>
            </a:pPr>
            <a:r>
              <a:rPr lang="en-US" sz="1200" b="1" kern="0" spc="100" dirty="0">
                <a:solidFill>
                  <a:srgbClr val="14171C"/>
                </a:solidFill>
                <a:latin typeface="Trebuchet MS" pitchFamily="34" charset="0"/>
                <a:ea typeface="Trebuchet MS" pitchFamily="34" charset="-122"/>
                <a:cs typeface="Trebuchet MS" pitchFamily="34" charset="-120"/>
              </a:rPr>
              <a:t>SELL</a:t>
            </a:r>
            <a:endParaRPr lang="en-US" sz="1200" dirty="0"/>
          </a:p>
        </p:txBody>
      </p:sp>
      <p:sp>
        <p:nvSpPr>
          <p:cNvPr id="17" name="Text 15"/>
          <p:cNvSpPr/>
          <p:nvPr/>
        </p:nvSpPr>
        <p:spPr>
          <a:xfrm>
            <a:off x="2011680" y="3886200"/>
            <a:ext cx="2468880" cy="420624"/>
          </a:xfrm>
          <a:prstGeom prst="rect">
            <a:avLst/>
          </a:prstGeom>
          <a:noFill/>
          <a:ln/>
        </p:spPr>
        <p:txBody>
          <a:bodyPr wrap="square" lIns="0" tIns="0" rIns="0" bIns="0" rtlCol="0" anchor="ctr"/>
          <a:lstStyle/>
          <a:p>
            <a:pPr marL="0" indent="0">
              <a:buNone/>
            </a:pPr>
            <a:r>
              <a:rPr lang="en-US" sz="1500" b="1" dirty="0">
                <a:solidFill>
                  <a:srgbClr val="E7EBF0"/>
                </a:solidFill>
                <a:latin typeface="Trebuchet MS" pitchFamily="34" charset="0"/>
                <a:ea typeface="Trebuchet MS" pitchFamily="34" charset="-122"/>
                <a:cs typeface="Trebuchet MS" pitchFamily="34" charset="-120"/>
              </a:rPr>
              <a:t>June Crude</a:t>
            </a:r>
            <a:endParaRPr lang="en-US" sz="1500" dirty="0"/>
          </a:p>
        </p:txBody>
      </p:sp>
      <p:sp>
        <p:nvSpPr>
          <p:cNvPr id="18" name="Text 16"/>
          <p:cNvSpPr/>
          <p:nvPr/>
        </p:nvSpPr>
        <p:spPr>
          <a:xfrm>
            <a:off x="859536" y="4416552"/>
            <a:ext cx="3657600" cy="457200"/>
          </a:xfrm>
          <a:prstGeom prst="rect">
            <a:avLst/>
          </a:prstGeom>
          <a:noFill/>
          <a:ln/>
        </p:spPr>
        <p:txBody>
          <a:bodyPr wrap="square" lIns="0" tIns="0" rIns="0" bIns="0" rtlCol="0" anchor="ctr"/>
          <a:lstStyle/>
          <a:p>
            <a:pPr marL="0" indent="0">
              <a:buNone/>
            </a:pPr>
            <a:r>
              <a:rPr lang="en-US" sz="1200" dirty="0">
                <a:solidFill>
                  <a:srgbClr val="AAB2BD"/>
                </a:solidFill>
                <a:latin typeface="Calibri" pitchFamily="34" charset="0"/>
                <a:ea typeface="Calibri" pitchFamily="34" charset="-122"/>
                <a:cs typeface="Calibri" pitchFamily="34" charset="-120"/>
              </a:rPr>
              <a:t>target  </a:t>
            </a:r>
            <a:r>
              <a:rPr lang="en-US" sz="2000" b="1" dirty="0">
                <a:solidFill>
                  <a:srgbClr val="6EA8E6"/>
                </a:solidFill>
                <a:latin typeface="Consolas" pitchFamily="34" charset="0"/>
                <a:ea typeface="Consolas" pitchFamily="34" charset="-122"/>
                <a:cs typeface="Consolas" pitchFamily="34" charset="-120"/>
              </a:rPr>
              <a:t>$80.50</a:t>
            </a:r>
            <a:endParaRPr lang="en-US" sz="1200" dirty="0"/>
          </a:p>
        </p:txBody>
      </p:sp>
      <p:sp>
        <p:nvSpPr>
          <p:cNvPr id="19" name="Text 17"/>
          <p:cNvSpPr/>
          <p:nvPr/>
        </p:nvSpPr>
        <p:spPr>
          <a:xfrm>
            <a:off x="859536" y="4655994"/>
            <a:ext cx="3621024" cy="384048"/>
          </a:xfrm>
          <a:prstGeom prst="rect">
            <a:avLst/>
          </a:prstGeom>
          <a:noFill/>
          <a:ln/>
        </p:spPr>
        <p:txBody>
          <a:bodyPr wrap="square" lIns="0" tIns="0" rIns="0" bIns="0" rtlCol="0" anchor="ctr"/>
          <a:lstStyle/>
          <a:p>
            <a:pPr marL="0" indent="0">
              <a:buNone/>
            </a:pPr>
            <a:r>
              <a:rPr lang="en-US" sz="1050" i="1" dirty="0">
                <a:solidFill>
                  <a:srgbClr val="AAB2BD"/>
                </a:solidFill>
                <a:latin typeface="Calibri" pitchFamily="34" charset="0"/>
                <a:ea typeface="Calibri" pitchFamily="34" charset="-122"/>
                <a:cs typeface="Calibri" pitchFamily="34" charset="-120"/>
              </a:rPr>
              <a:t>Order B — sent separately</a:t>
            </a:r>
            <a:endParaRPr lang="en-US" sz="1050" dirty="0"/>
          </a:p>
        </p:txBody>
      </p:sp>
      <p:sp>
        <p:nvSpPr>
          <p:cNvPr id="20" name="brace">
            <a:extLst>
              <a:ext uri="{C183D7F6-B498-43B3-948B-1728B52AA6E4}">
                <adec:decorative xmlns:adec="http://schemas.microsoft.com/office/drawing/2017/decorative" val="1"/>
              </a:ext>
            </a:extLst>
          </p:cNvPr>
          <p:cNvSpPr/>
          <p:nvPr/>
        </p:nvSpPr>
        <p:spPr>
          <a:xfrm>
            <a:off x="4800600" y="2286000"/>
            <a:ext cx="365760" cy="2651760"/>
          </a:xfrm>
          <a:prstGeom prst="rightBrace">
            <a:avLst/>
          </a:prstGeom>
          <a:ln w="25400">
            <a:solidFill>
              <a:srgbClr val="343E4A"/>
            </a:solidFill>
            <a:prstDash val="solid"/>
          </a:ln>
        </p:spPr>
        <p:txBody>
          <a:bodyPr/>
          <a:lstStyle/>
          <a:p>
            <a:endParaRPr lang="en-SE"/>
          </a:p>
        </p:txBody>
      </p:sp>
      <p:sp>
        <p:nvSpPr>
          <p:cNvPr id="21" name="panel">
            <a:extLst>
              <a:ext uri="{C183D7F6-B498-43B3-948B-1728B52AA6E4}">
                <adec:decorative xmlns:adec="http://schemas.microsoft.com/office/drawing/2017/decorative" val="1"/>
              </a:ext>
            </a:extLst>
          </p:cNvPr>
          <p:cNvSpPr/>
          <p:nvPr/>
        </p:nvSpPr>
        <p:spPr>
          <a:xfrm>
            <a:off x="5486400" y="2651760"/>
            <a:ext cx="6035040" cy="1920240"/>
          </a:xfrm>
          <a:prstGeom prst="roundRect">
            <a:avLst>
              <a:gd name="adj" fmla="val 4286"/>
            </a:avLst>
          </a:prstGeom>
          <a:solidFill>
            <a:srgbClr val="1F252D"/>
          </a:solidFill>
          <a:ln w="12700">
            <a:solidFill>
              <a:srgbClr val="F5B759"/>
            </a:solidFill>
            <a:prstDash val="solid"/>
          </a:ln>
          <a:effectLst>
            <a:outerShdw blurRad="127000" dist="38100" dir="5400000" algn="bl" rotWithShape="0">
              <a:srgbClr val="000000">
                <a:alpha val="35000"/>
              </a:srgbClr>
            </a:outerShdw>
          </a:effectLst>
        </p:spPr>
        <p:txBody>
          <a:bodyPr/>
          <a:lstStyle/>
          <a:p>
            <a:endParaRPr lang="en-SE"/>
          </a:p>
        </p:txBody>
      </p:sp>
      <p:sp>
        <p:nvSpPr>
          <p:cNvPr id="22" name="Text 20"/>
          <p:cNvSpPr/>
          <p:nvPr/>
        </p:nvSpPr>
        <p:spPr>
          <a:xfrm>
            <a:off x="5715000" y="2834640"/>
            <a:ext cx="5486400" cy="274320"/>
          </a:xfrm>
          <a:prstGeom prst="rect">
            <a:avLst/>
          </a:prstGeom>
          <a:noFill/>
          <a:ln/>
        </p:spPr>
        <p:txBody>
          <a:bodyPr wrap="square" lIns="0" tIns="0" rIns="0" bIns="0" rtlCol="0" anchor="ctr"/>
          <a:lstStyle/>
          <a:p>
            <a:pPr marL="0" indent="0">
              <a:buNone/>
            </a:pPr>
            <a:r>
              <a:rPr lang="en-US" sz="1100" b="1" kern="0" spc="200" dirty="0">
                <a:solidFill>
                  <a:srgbClr val="F5B759"/>
                </a:solidFill>
                <a:latin typeface="Trebuchet MS" pitchFamily="34" charset="0"/>
                <a:ea typeface="Trebuchet MS" pitchFamily="34" charset="-122"/>
                <a:cs typeface="Trebuchet MS" pitchFamily="34" charset="-120"/>
              </a:rPr>
              <a:t>THE HOPE</a:t>
            </a:r>
            <a:endParaRPr lang="en-US" sz="1100" dirty="0"/>
          </a:p>
        </p:txBody>
      </p:sp>
      <p:sp>
        <p:nvSpPr>
          <p:cNvPr id="23" name="Text 21"/>
          <p:cNvSpPr/>
          <p:nvPr/>
        </p:nvSpPr>
        <p:spPr>
          <a:xfrm>
            <a:off x="5715000" y="3127248"/>
            <a:ext cx="5577840" cy="822960"/>
          </a:xfrm>
          <a:prstGeom prst="rect">
            <a:avLst/>
          </a:prstGeom>
          <a:noFill/>
          <a:ln/>
        </p:spPr>
        <p:txBody>
          <a:bodyPr wrap="square" lIns="0" tIns="0" rIns="0" bIns="0" rtlCol="0" anchor="ctr"/>
          <a:lstStyle/>
          <a:p>
            <a:pPr marL="0" indent="0">
              <a:lnSpc>
                <a:spcPct val="115000"/>
              </a:lnSpc>
              <a:buNone/>
            </a:pPr>
            <a:r>
              <a:rPr lang="en-US" sz="1500" dirty="0">
                <a:solidFill>
                  <a:srgbClr val="E7EBF0"/>
                </a:solidFill>
                <a:latin typeface="Calibri" pitchFamily="34" charset="0"/>
                <a:ea typeface="Calibri" pitchFamily="34" charset="-122"/>
                <a:cs typeface="Calibri" pitchFamily="34" charset="-120"/>
              </a:rPr>
              <a:t>Both fill in the same instant at the prices you wanted, giving a spread of exactly −$0.50.</a:t>
            </a:r>
            <a:endParaRPr lang="en-US" sz="1500" dirty="0"/>
          </a:p>
        </p:txBody>
      </p:sp>
      <p:sp>
        <p:nvSpPr>
          <p:cNvPr id="24" name="Text 22"/>
          <p:cNvSpPr/>
          <p:nvPr/>
        </p:nvSpPr>
        <p:spPr>
          <a:xfrm>
            <a:off x="5715000" y="3977640"/>
            <a:ext cx="5577840" cy="548640"/>
          </a:xfrm>
          <a:prstGeom prst="rect">
            <a:avLst/>
          </a:prstGeom>
          <a:noFill/>
          <a:ln/>
        </p:spPr>
        <p:txBody>
          <a:bodyPr wrap="square" lIns="0" tIns="0" rIns="0" bIns="0" rtlCol="0" anchor="ctr"/>
          <a:lstStyle/>
          <a:p>
            <a:pPr marL="0" indent="0">
              <a:lnSpc>
                <a:spcPct val="105000"/>
              </a:lnSpc>
              <a:buNone/>
            </a:pPr>
            <a:r>
              <a:rPr lang="en-US" sz="1400" i="1" dirty="0">
                <a:solidFill>
                  <a:srgbClr val="AAB2BD"/>
                </a:solidFill>
                <a:latin typeface="Calibri" pitchFamily="34" charset="0"/>
                <a:ea typeface="Calibri" pitchFamily="34" charset="-122"/>
                <a:cs typeface="Calibri" pitchFamily="34" charset="-120"/>
              </a:rPr>
              <a:t>The reality: the two orders are independent events. Nothing ties them together in time or price.</a:t>
            </a:r>
            <a:endParaRPr lang="en-US" sz="1400" dirty="0"/>
          </a:p>
        </p:txBody>
      </p:sp>
      <p:sp>
        <p:nvSpPr>
          <p:cNvPr id="25"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6"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5B759"/>
          </a:solidFill>
          <a:ln/>
        </p:spPr>
        <p:txBody>
          <a:bodyPr/>
          <a:lstStyle/>
          <a:p>
            <a:endParaRPr lang="en-SE"/>
          </a:p>
        </p:txBody>
      </p:sp>
      <p:sp>
        <p:nvSpPr>
          <p:cNvPr id="27" name="Text 25"/>
          <p:cNvSpPr/>
          <p:nvPr/>
        </p:nvSpPr>
        <p:spPr>
          <a:xfrm>
            <a:off x="914400" y="5870448"/>
            <a:ext cx="10515600" cy="457200"/>
          </a:xfrm>
          <a:prstGeom prst="rect">
            <a:avLst/>
          </a:prstGeom>
          <a:noFill/>
          <a:ln/>
        </p:spPr>
        <p:txBody>
          <a:bodyPr wrap="square" lIns="0" tIns="0" rIns="0" bIns="0" rtlCol="0" anchor="ctr"/>
          <a:lstStyle/>
          <a:p>
            <a:pPr marL="0" indent="0">
              <a:buNone/>
            </a:pPr>
            <a:r>
              <a:rPr lang="en-US" sz="1100" b="1" kern="0" spc="200" dirty="0">
                <a:solidFill>
                  <a:srgbClr val="F5B759"/>
                </a:solidFill>
                <a:latin typeface="Trebuchet MS" pitchFamily="34" charset="0"/>
                <a:ea typeface="Trebuchet MS" pitchFamily="34" charset="-122"/>
                <a:cs typeface="Trebuchet MS" pitchFamily="34" charset="-120"/>
              </a:rPr>
              <a:t>KEY IDEA   </a:t>
            </a:r>
            <a:r>
              <a:rPr lang="en-US" sz="1600" dirty="0">
                <a:solidFill>
                  <a:srgbClr val="E7EBF0"/>
                </a:solidFill>
                <a:latin typeface="Calibri" pitchFamily="34" charset="0"/>
                <a:ea typeface="Calibri" pitchFamily="34" charset="-122"/>
                <a:cs typeface="Calibri" pitchFamily="34" charset="-120"/>
              </a:rPr>
              <a:t>Two independent orders can fill at different moments — and the market never waits for you.</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Leg risk: a worked example">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Leg risk: a worked example</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01 · THE PROBLEM</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15</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You send both orders at 10:00:00. Order A fills instantly. Order B lands 400 milliseconds later — and in that sliver of time, June ticks down.</a:t>
            </a:r>
            <a:endParaRPr lang="en-US" sz="1500" dirty="0"/>
          </a:p>
        </p:txBody>
      </p:sp>
      <p:sp>
        <p:nvSpPr>
          <p:cNvPr id="8" name="connector">
            <a:extLst>
              <a:ext uri="{C183D7F6-B498-43B3-948B-1728B52AA6E4}">
                <adec:decorative xmlns:adec="http://schemas.microsoft.com/office/drawing/2017/decorative" val="1"/>
              </a:ext>
            </a:extLst>
          </p:cNvPr>
          <p:cNvSpPr/>
          <p:nvPr/>
        </p:nvSpPr>
        <p:spPr>
          <a:xfrm>
            <a:off x="1005840" y="3246120"/>
            <a:ext cx="10241280" cy="0"/>
          </a:xfrm>
          <a:prstGeom prst="line">
            <a:avLst/>
          </a:prstGeom>
          <a:noFill/>
          <a:ln w="25400">
            <a:solidFill>
              <a:srgbClr val="343E4A"/>
            </a:solidFill>
            <a:prstDash val="solid"/>
            <a:headEnd type="none"/>
            <a:tailEnd type="none"/>
          </a:ln>
        </p:spPr>
        <p:txBody>
          <a:bodyPr/>
          <a:lstStyle/>
          <a:p>
            <a:endParaRPr lang="en-SE"/>
          </a:p>
        </p:txBody>
      </p:sp>
      <p:sp>
        <p:nvSpPr>
          <p:cNvPr id="9" name="dot">
            <a:extLst>
              <a:ext uri="{C183D7F6-B498-43B3-948B-1728B52AA6E4}">
                <adec:decorative xmlns:adec="http://schemas.microsoft.com/office/drawing/2017/decorative" val="1"/>
              </a:ext>
            </a:extLst>
          </p:cNvPr>
          <p:cNvSpPr/>
          <p:nvPr/>
        </p:nvSpPr>
        <p:spPr>
          <a:xfrm>
            <a:off x="1519733" y="3145536"/>
            <a:ext cx="201168" cy="201168"/>
          </a:xfrm>
          <a:prstGeom prst="ellipse">
            <a:avLst/>
          </a:prstGeom>
          <a:solidFill>
            <a:srgbClr val="34D399"/>
          </a:solidFill>
          <a:ln/>
        </p:spPr>
        <p:txBody>
          <a:bodyPr/>
          <a:lstStyle/>
          <a:p>
            <a:endParaRPr lang="en-SE"/>
          </a:p>
        </p:txBody>
      </p:sp>
      <p:sp>
        <p:nvSpPr>
          <p:cNvPr id="10" name="connector">
            <a:extLst>
              <a:ext uri="{C183D7F6-B498-43B3-948B-1728B52AA6E4}">
                <adec:decorative xmlns:adec="http://schemas.microsoft.com/office/drawing/2017/decorative" val="1"/>
              </a:ext>
            </a:extLst>
          </p:cNvPr>
          <p:cNvSpPr/>
          <p:nvPr/>
        </p:nvSpPr>
        <p:spPr>
          <a:xfrm>
            <a:off x="1620317" y="2743200"/>
            <a:ext cx="0" cy="411480"/>
          </a:xfrm>
          <a:prstGeom prst="line">
            <a:avLst/>
          </a:prstGeom>
          <a:noFill/>
          <a:ln w="19050">
            <a:solidFill>
              <a:srgbClr val="34D399"/>
            </a:solidFill>
            <a:prstDash val="solid"/>
            <a:headEnd type="none"/>
            <a:tailEnd type="none"/>
          </a:ln>
        </p:spPr>
        <p:txBody>
          <a:bodyPr/>
          <a:lstStyle/>
          <a:p>
            <a:endParaRPr lang="en-SE"/>
          </a:p>
        </p:txBody>
      </p:sp>
      <p:sp>
        <p:nvSpPr>
          <p:cNvPr id="11" name="Text 9"/>
          <p:cNvSpPr/>
          <p:nvPr/>
        </p:nvSpPr>
        <p:spPr>
          <a:xfrm>
            <a:off x="340157" y="2377440"/>
            <a:ext cx="2560320" cy="274320"/>
          </a:xfrm>
          <a:prstGeom prst="rect">
            <a:avLst/>
          </a:prstGeom>
          <a:noFill/>
          <a:ln/>
        </p:spPr>
        <p:txBody>
          <a:bodyPr wrap="square" lIns="0" tIns="0" rIns="0" bIns="0" rtlCol="0" anchor="ctr"/>
          <a:lstStyle/>
          <a:p>
            <a:pPr marL="0" indent="0" algn="ctr">
              <a:buNone/>
            </a:pPr>
            <a:r>
              <a:rPr lang="en-US" sz="1300" b="1" dirty="0">
                <a:solidFill>
                  <a:srgbClr val="34D399"/>
                </a:solidFill>
                <a:latin typeface="Trebuchet MS" pitchFamily="34" charset="0"/>
                <a:ea typeface="Trebuchet MS" pitchFamily="34" charset="-122"/>
                <a:cs typeface="Trebuchet MS" pitchFamily="34" charset="-120"/>
              </a:rPr>
              <a:t>Order A fills</a:t>
            </a:r>
            <a:endParaRPr lang="en-US" sz="1300" dirty="0"/>
          </a:p>
        </p:txBody>
      </p:sp>
      <p:sp>
        <p:nvSpPr>
          <p:cNvPr id="12" name="Text 10"/>
          <p:cNvSpPr/>
          <p:nvPr/>
        </p:nvSpPr>
        <p:spPr>
          <a:xfrm>
            <a:off x="340157" y="2130552"/>
            <a:ext cx="2560320" cy="237744"/>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10:00:00.000</a:t>
            </a:r>
            <a:endParaRPr lang="en-US" sz="1000" dirty="0"/>
          </a:p>
        </p:txBody>
      </p:sp>
      <p:sp>
        <p:nvSpPr>
          <p:cNvPr id="13" name="Text 11"/>
          <p:cNvSpPr/>
          <p:nvPr/>
        </p:nvSpPr>
        <p:spPr>
          <a:xfrm>
            <a:off x="340157" y="3410712"/>
            <a:ext cx="2560320" cy="274320"/>
          </a:xfrm>
          <a:prstGeom prst="rect">
            <a:avLst/>
          </a:prstGeom>
          <a:noFill/>
          <a:ln/>
        </p:spPr>
        <p:txBody>
          <a:bodyPr wrap="square" lIns="0" tIns="0" rIns="0" bIns="0" rtlCol="0" anchor="ctr"/>
          <a:lstStyle/>
          <a:p>
            <a:pPr marL="0" indent="0" algn="ctr">
              <a:buNone/>
            </a:pPr>
            <a:r>
              <a:rPr lang="en-US" sz="1150" dirty="0">
                <a:solidFill>
                  <a:srgbClr val="AAB2BD"/>
                </a:solidFill>
                <a:latin typeface="Calibri" pitchFamily="34" charset="0"/>
                <a:ea typeface="Calibri" pitchFamily="34" charset="-122"/>
                <a:cs typeface="Calibri" pitchFamily="34" charset="-120"/>
              </a:rPr>
              <a:t>+1 March @ $80.00</a:t>
            </a:r>
            <a:endParaRPr lang="en-US" sz="1150" dirty="0"/>
          </a:p>
        </p:txBody>
      </p:sp>
      <p:sp>
        <p:nvSpPr>
          <p:cNvPr id="14" name="dot">
            <a:extLst>
              <a:ext uri="{C183D7F6-B498-43B3-948B-1728B52AA6E4}">
                <adec:decorative xmlns:adec="http://schemas.microsoft.com/office/drawing/2017/decorative" val="1"/>
              </a:ext>
            </a:extLst>
          </p:cNvPr>
          <p:cNvSpPr/>
          <p:nvPr/>
        </p:nvSpPr>
        <p:spPr>
          <a:xfrm>
            <a:off x="6025896" y="3145536"/>
            <a:ext cx="201168" cy="201168"/>
          </a:xfrm>
          <a:prstGeom prst="ellipse">
            <a:avLst/>
          </a:prstGeom>
          <a:solidFill>
            <a:srgbClr val="F5B759"/>
          </a:solidFill>
          <a:ln/>
        </p:spPr>
        <p:txBody>
          <a:bodyPr/>
          <a:lstStyle/>
          <a:p>
            <a:endParaRPr lang="en-SE"/>
          </a:p>
        </p:txBody>
      </p:sp>
      <p:sp>
        <p:nvSpPr>
          <p:cNvPr id="15" name="connector">
            <a:extLst>
              <a:ext uri="{C183D7F6-B498-43B3-948B-1728B52AA6E4}">
                <adec:decorative xmlns:adec="http://schemas.microsoft.com/office/drawing/2017/decorative" val="1"/>
              </a:ext>
            </a:extLst>
          </p:cNvPr>
          <p:cNvSpPr/>
          <p:nvPr/>
        </p:nvSpPr>
        <p:spPr>
          <a:xfrm>
            <a:off x="6126480" y="2743200"/>
            <a:ext cx="0" cy="411480"/>
          </a:xfrm>
          <a:prstGeom prst="line">
            <a:avLst/>
          </a:prstGeom>
          <a:noFill/>
          <a:ln w="19050">
            <a:solidFill>
              <a:srgbClr val="F5B759"/>
            </a:solidFill>
            <a:prstDash val="solid"/>
            <a:headEnd type="none"/>
            <a:tailEnd type="none"/>
          </a:ln>
        </p:spPr>
        <p:txBody>
          <a:bodyPr/>
          <a:lstStyle/>
          <a:p>
            <a:endParaRPr lang="en-SE"/>
          </a:p>
        </p:txBody>
      </p:sp>
      <p:sp>
        <p:nvSpPr>
          <p:cNvPr id="16" name="Text 14"/>
          <p:cNvSpPr/>
          <p:nvPr/>
        </p:nvSpPr>
        <p:spPr>
          <a:xfrm>
            <a:off x="4846320" y="2377440"/>
            <a:ext cx="2560320" cy="274320"/>
          </a:xfrm>
          <a:prstGeom prst="rect">
            <a:avLst/>
          </a:prstGeom>
          <a:noFill/>
          <a:ln/>
        </p:spPr>
        <p:txBody>
          <a:bodyPr wrap="square" lIns="0" tIns="0" rIns="0" bIns="0" rtlCol="0" anchor="ctr"/>
          <a:lstStyle/>
          <a:p>
            <a:pPr marL="0" indent="0" algn="ctr">
              <a:buNone/>
            </a:pPr>
            <a:r>
              <a:rPr lang="en-US" sz="1300" b="1" dirty="0">
                <a:solidFill>
                  <a:srgbClr val="F5B759"/>
                </a:solidFill>
                <a:latin typeface="Trebuchet MS" pitchFamily="34" charset="0"/>
                <a:ea typeface="Trebuchet MS" pitchFamily="34" charset="-122"/>
                <a:cs typeface="Trebuchet MS" pitchFamily="34" charset="-120"/>
              </a:rPr>
              <a:t>June slips down</a:t>
            </a:r>
            <a:endParaRPr lang="en-US" sz="1300" dirty="0"/>
          </a:p>
        </p:txBody>
      </p:sp>
      <p:sp>
        <p:nvSpPr>
          <p:cNvPr id="17" name="Text 15"/>
          <p:cNvSpPr/>
          <p:nvPr/>
        </p:nvSpPr>
        <p:spPr>
          <a:xfrm>
            <a:off x="4846320" y="2130552"/>
            <a:ext cx="2560320" cy="237744"/>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10:00:00.180</a:t>
            </a:r>
            <a:endParaRPr lang="en-US" sz="1000" dirty="0"/>
          </a:p>
        </p:txBody>
      </p:sp>
      <p:sp>
        <p:nvSpPr>
          <p:cNvPr id="18" name="Text 16"/>
          <p:cNvSpPr/>
          <p:nvPr/>
        </p:nvSpPr>
        <p:spPr>
          <a:xfrm>
            <a:off x="4846320" y="3410712"/>
            <a:ext cx="2560320" cy="274320"/>
          </a:xfrm>
          <a:prstGeom prst="rect">
            <a:avLst/>
          </a:prstGeom>
          <a:noFill/>
          <a:ln/>
        </p:spPr>
        <p:txBody>
          <a:bodyPr wrap="square" lIns="0" tIns="0" rIns="0" bIns="0" rtlCol="0" anchor="ctr"/>
          <a:lstStyle/>
          <a:p>
            <a:pPr marL="0" indent="0" algn="ctr">
              <a:buNone/>
            </a:pPr>
            <a:r>
              <a:rPr lang="en-US" sz="1150" dirty="0">
                <a:solidFill>
                  <a:srgbClr val="AAB2BD"/>
                </a:solidFill>
                <a:latin typeface="Calibri" pitchFamily="34" charset="0"/>
                <a:ea typeface="Calibri" pitchFamily="34" charset="-122"/>
                <a:cs typeface="Calibri" pitchFamily="34" charset="-120"/>
              </a:rPr>
              <a:t>market moves against you</a:t>
            </a:r>
            <a:endParaRPr lang="en-US" sz="1150" dirty="0"/>
          </a:p>
        </p:txBody>
      </p:sp>
      <p:sp>
        <p:nvSpPr>
          <p:cNvPr id="19" name="dot">
            <a:extLst>
              <a:ext uri="{C183D7F6-B498-43B3-948B-1728B52AA6E4}">
                <adec:decorative xmlns:adec="http://schemas.microsoft.com/office/drawing/2017/decorative" val="1"/>
              </a:ext>
            </a:extLst>
          </p:cNvPr>
          <p:cNvSpPr/>
          <p:nvPr/>
        </p:nvSpPr>
        <p:spPr>
          <a:xfrm>
            <a:off x="10429646" y="3145536"/>
            <a:ext cx="201168" cy="201168"/>
          </a:xfrm>
          <a:prstGeom prst="ellipse">
            <a:avLst/>
          </a:prstGeom>
          <a:solidFill>
            <a:srgbClr val="F2726B"/>
          </a:solidFill>
          <a:ln/>
        </p:spPr>
        <p:txBody>
          <a:bodyPr/>
          <a:lstStyle/>
          <a:p>
            <a:endParaRPr lang="en-SE"/>
          </a:p>
        </p:txBody>
      </p:sp>
      <p:sp>
        <p:nvSpPr>
          <p:cNvPr id="20" name="connector">
            <a:extLst>
              <a:ext uri="{C183D7F6-B498-43B3-948B-1728B52AA6E4}">
                <adec:decorative xmlns:adec="http://schemas.microsoft.com/office/drawing/2017/decorative" val="1"/>
              </a:ext>
            </a:extLst>
          </p:cNvPr>
          <p:cNvSpPr/>
          <p:nvPr/>
        </p:nvSpPr>
        <p:spPr>
          <a:xfrm>
            <a:off x="10530230" y="2743200"/>
            <a:ext cx="0" cy="411480"/>
          </a:xfrm>
          <a:prstGeom prst="line">
            <a:avLst/>
          </a:prstGeom>
          <a:noFill/>
          <a:ln w="19050">
            <a:solidFill>
              <a:srgbClr val="F2726B"/>
            </a:solidFill>
            <a:prstDash val="solid"/>
            <a:headEnd type="none"/>
            <a:tailEnd type="none"/>
          </a:ln>
        </p:spPr>
        <p:txBody>
          <a:bodyPr/>
          <a:lstStyle/>
          <a:p>
            <a:endParaRPr lang="en-SE"/>
          </a:p>
        </p:txBody>
      </p:sp>
      <p:sp>
        <p:nvSpPr>
          <p:cNvPr id="21" name="Text 19"/>
          <p:cNvSpPr/>
          <p:nvPr/>
        </p:nvSpPr>
        <p:spPr>
          <a:xfrm>
            <a:off x="9250070" y="2377440"/>
            <a:ext cx="2560320" cy="274320"/>
          </a:xfrm>
          <a:prstGeom prst="rect">
            <a:avLst/>
          </a:prstGeom>
          <a:noFill/>
          <a:ln/>
        </p:spPr>
        <p:txBody>
          <a:bodyPr wrap="square" lIns="0" tIns="0" rIns="0" bIns="0" rtlCol="0" anchor="ctr"/>
          <a:lstStyle/>
          <a:p>
            <a:pPr marL="0" indent="0" algn="ctr">
              <a:buNone/>
            </a:pPr>
            <a:r>
              <a:rPr lang="en-US" sz="1300" b="1" dirty="0">
                <a:solidFill>
                  <a:srgbClr val="F2726B"/>
                </a:solidFill>
                <a:latin typeface="Trebuchet MS" pitchFamily="34" charset="0"/>
                <a:ea typeface="Trebuchet MS" pitchFamily="34" charset="-122"/>
                <a:cs typeface="Trebuchet MS" pitchFamily="34" charset="-120"/>
              </a:rPr>
              <a:t>Order B fills</a:t>
            </a:r>
            <a:endParaRPr lang="en-US" sz="1300" dirty="0"/>
          </a:p>
        </p:txBody>
      </p:sp>
      <p:sp>
        <p:nvSpPr>
          <p:cNvPr id="22" name="Text 20"/>
          <p:cNvSpPr/>
          <p:nvPr/>
        </p:nvSpPr>
        <p:spPr>
          <a:xfrm>
            <a:off x="9250070" y="2130552"/>
            <a:ext cx="2560320" cy="237744"/>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10:00:00.400</a:t>
            </a:r>
            <a:endParaRPr lang="en-US" sz="1000" dirty="0"/>
          </a:p>
        </p:txBody>
      </p:sp>
      <p:sp>
        <p:nvSpPr>
          <p:cNvPr id="23" name="Text 21"/>
          <p:cNvSpPr/>
          <p:nvPr/>
        </p:nvSpPr>
        <p:spPr>
          <a:xfrm>
            <a:off x="9250070" y="3410712"/>
            <a:ext cx="2560320" cy="274320"/>
          </a:xfrm>
          <a:prstGeom prst="rect">
            <a:avLst/>
          </a:prstGeom>
          <a:noFill/>
          <a:ln/>
        </p:spPr>
        <p:txBody>
          <a:bodyPr wrap="square" lIns="0" tIns="0" rIns="0" bIns="0" rtlCol="0" anchor="ctr"/>
          <a:lstStyle/>
          <a:p>
            <a:pPr marL="0" indent="0" algn="ctr">
              <a:buNone/>
            </a:pPr>
            <a:r>
              <a:rPr lang="en-US" sz="1150" dirty="0">
                <a:solidFill>
                  <a:srgbClr val="AAB2BD"/>
                </a:solidFill>
                <a:latin typeface="Calibri" pitchFamily="34" charset="0"/>
                <a:ea typeface="Calibri" pitchFamily="34" charset="-122"/>
                <a:cs typeface="Calibri" pitchFamily="34" charset="-120"/>
              </a:rPr>
              <a:t>−1 June @ $80.10</a:t>
            </a:r>
            <a:endParaRPr lang="en-US" sz="1150" dirty="0"/>
          </a:p>
        </p:txBody>
      </p:sp>
      <p:sp>
        <p:nvSpPr>
          <p:cNvPr id="24" name="panel">
            <a:extLst>
              <a:ext uri="{C183D7F6-B498-43B3-948B-1728B52AA6E4}">
                <adec:decorative xmlns:adec="http://schemas.microsoft.com/office/drawing/2017/decorative" val="1"/>
              </a:ext>
            </a:extLst>
          </p:cNvPr>
          <p:cNvSpPr/>
          <p:nvPr/>
        </p:nvSpPr>
        <p:spPr>
          <a:xfrm>
            <a:off x="1005840" y="3794760"/>
            <a:ext cx="4846320" cy="1417320"/>
          </a:xfrm>
          <a:prstGeom prst="roundRect">
            <a:avLst>
              <a:gd name="adj" fmla="val 5806"/>
            </a:avLst>
          </a:prstGeom>
          <a:solidFill>
            <a:srgbClr val="1F252D"/>
          </a:solidFill>
          <a:ln w="12700">
            <a:solidFill>
              <a:srgbClr val="343E4A"/>
            </a:solidFill>
            <a:prstDash val="solid"/>
          </a:ln>
        </p:spPr>
        <p:txBody>
          <a:bodyPr/>
          <a:lstStyle/>
          <a:p>
            <a:endParaRPr lang="en-SE"/>
          </a:p>
        </p:txBody>
      </p:sp>
      <p:sp>
        <p:nvSpPr>
          <p:cNvPr id="25" name="Text 23"/>
          <p:cNvSpPr/>
          <p:nvPr/>
        </p:nvSpPr>
        <p:spPr>
          <a:xfrm>
            <a:off x="1234440" y="3950208"/>
            <a:ext cx="4389120" cy="274320"/>
          </a:xfrm>
          <a:prstGeom prst="rect">
            <a:avLst/>
          </a:prstGeom>
          <a:noFill/>
          <a:ln/>
        </p:spPr>
        <p:txBody>
          <a:bodyPr wrap="square" lIns="0" tIns="0" rIns="0" bIns="0" rtlCol="0" anchor="ctr"/>
          <a:lstStyle/>
          <a:p>
            <a:pPr marL="0" indent="0">
              <a:buNone/>
            </a:pPr>
            <a:r>
              <a:rPr lang="en-US" sz="1100" b="1" kern="0" spc="100" dirty="0">
                <a:solidFill>
                  <a:srgbClr val="AAB2BD"/>
                </a:solidFill>
                <a:latin typeface="Trebuchet MS" pitchFamily="34" charset="0"/>
                <a:ea typeface="Trebuchet MS" pitchFamily="34" charset="-122"/>
                <a:cs typeface="Trebuchet MS" pitchFamily="34" charset="-120"/>
              </a:rPr>
              <a:t>SPREAD YOU WANTED</a:t>
            </a:r>
            <a:endParaRPr lang="en-US" sz="1100" dirty="0"/>
          </a:p>
        </p:txBody>
      </p:sp>
      <p:sp>
        <p:nvSpPr>
          <p:cNvPr id="26" name="Text 24"/>
          <p:cNvSpPr/>
          <p:nvPr/>
        </p:nvSpPr>
        <p:spPr>
          <a:xfrm>
            <a:off x="1234440" y="4297680"/>
            <a:ext cx="4480560" cy="777240"/>
          </a:xfrm>
          <a:prstGeom prst="rect">
            <a:avLst/>
          </a:prstGeom>
          <a:noFill/>
          <a:ln/>
        </p:spPr>
        <p:txBody>
          <a:bodyPr wrap="square" lIns="0" tIns="0" rIns="0" bIns="0" rtlCol="0" anchor="ctr"/>
          <a:lstStyle/>
          <a:p>
            <a:pPr marL="0" indent="0">
              <a:buNone/>
            </a:pPr>
            <a:r>
              <a:rPr lang="en-US" sz="1600" dirty="0">
                <a:solidFill>
                  <a:srgbClr val="AAB2BD"/>
                </a:solidFill>
                <a:latin typeface="Consolas" pitchFamily="34" charset="0"/>
                <a:ea typeface="Consolas" pitchFamily="34" charset="-122"/>
                <a:cs typeface="Consolas" pitchFamily="34" charset="-120"/>
              </a:rPr>
              <a:t>80.00 − 80.50 = </a:t>
            </a:r>
            <a:r>
              <a:rPr lang="en-US" sz="2000" b="1" dirty="0">
                <a:solidFill>
                  <a:srgbClr val="34D399"/>
                </a:solidFill>
                <a:latin typeface="Consolas" pitchFamily="34" charset="0"/>
                <a:ea typeface="Consolas" pitchFamily="34" charset="-122"/>
                <a:cs typeface="Consolas" pitchFamily="34" charset="-120"/>
              </a:rPr>
              <a:t>−$0.50</a:t>
            </a:r>
            <a:endParaRPr lang="en-US" sz="1600" dirty="0"/>
          </a:p>
        </p:txBody>
      </p:sp>
      <p:sp>
        <p:nvSpPr>
          <p:cNvPr id="27" name="panel">
            <a:extLst>
              <a:ext uri="{C183D7F6-B498-43B3-948B-1728B52AA6E4}">
                <adec:decorative xmlns:adec="http://schemas.microsoft.com/office/drawing/2017/decorative" val="1"/>
              </a:ext>
            </a:extLst>
          </p:cNvPr>
          <p:cNvSpPr/>
          <p:nvPr/>
        </p:nvSpPr>
        <p:spPr>
          <a:xfrm>
            <a:off x="6126480" y="3794760"/>
            <a:ext cx="5120640" cy="1417320"/>
          </a:xfrm>
          <a:prstGeom prst="roundRect">
            <a:avLst>
              <a:gd name="adj" fmla="val 5806"/>
            </a:avLst>
          </a:prstGeom>
          <a:solidFill>
            <a:srgbClr val="262E38"/>
          </a:solidFill>
          <a:ln w="12700">
            <a:solidFill>
              <a:srgbClr val="F2726B"/>
            </a:solidFill>
            <a:prstDash val="solid"/>
          </a:ln>
        </p:spPr>
        <p:txBody>
          <a:bodyPr/>
          <a:lstStyle/>
          <a:p>
            <a:endParaRPr lang="en-SE"/>
          </a:p>
        </p:txBody>
      </p:sp>
      <p:sp>
        <p:nvSpPr>
          <p:cNvPr id="28" name="Text 26"/>
          <p:cNvSpPr/>
          <p:nvPr/>
        </p:nvSpPr>
        <p:spPr>
          <a:xfrm>
            <a:off x="6355080" y="3950208"/>
            <a:ext cx="4572000" cy="274320"/>
          </a:xfrm>
          <a:prstGeom prst="rect">
            <a:avLst/>
          </a:prstGeom>
          <a:noFill/>
          <a:ln/>
        </p:spPr>
        <p:txBody>
          <a:bodyPr wrap="square" lIns="0" tIns="0" rIns="0" bIns="0" rtlCol="0" anchor="ctr"/>
          <a:lstStyle/>
          <a:p>
            <a:pPr marL="0" indent="0">
              <a:buNone/>
            </a:pPr>
            <a:r>
              <a:rPr lang="en-US" sz="1100" b="1" kern="0" spc="100" dirty="0">
                <a:solidFill>
                  <a:srgbClr val="F2726B"/>
                </a:solidFill>
                <a:latin typeface="Trebuchet MS" pitchFamily="34" charset="0"/>
                <a:ea typeface="Trebuchet MS" pitchFamily="34" charset="-122"/>
                <a:cs typeface="Trebuchet MS" pitchFamily="34" charset="-120"/>
              </a:rPr>
              <a:t>SPREAD YOU GOT</a:t>
            </a:r>
            <a:endParaRPr lang="en-US" sz="1100" dirty="0"/>
          </a:p>
        </p:txBody>
      </p:sp>
      <p:sp>
        <p:nvSpPr>
          <p:cNvPr id="29" name="Text 27"/>
          <p:cNvSpPr/>
          <p:nvPr/>
        </p:nvSpPr>
        <p:spPr>
          <a:xfrm>
            <a:off x="6355080" y="4297680"/>
            <a:ext cx="4754880" cy="777240"/>
          </a:xfrm>
          <a:prstGeom prst="rect">
            <a:avLst/>
          </a:prstGeom>
          <a:noFill/>
          <a:ln/>
        </p:spPr>
        <p:txBody>
          <a:bodyPr wrap="square" lIns="0" tIns="0" rIns="0" bIns="0" rtlCol="0" anchor="ctr"/>
          <a:lstStyle/>
          <a:p>
            <a:pPr marL="0" indent="0">
              <a:buNone/>
            </a:pPr>
            <a:r>
              <a:rPr lang="en-US" sz="1600" dirty="0">
                <a:solidFill>
                  <a:srgbClr val="AAB2BD"/>
                </a:solidFill>
                <a:latin typeface="Consolas" pitchFamily="34" charset="0"/>
                <a:ea typeface="Consolas" pitchFamily="34" charset="-122"/>
                <a:cs typeface="Consolas" pitchFamily="34" charset="-120"/>
              </a:rPr>
              <a:t>80.00 − 80.10 = </a:t>
            </a:r>
            <a:r>
              <a:rPr lang="en-US" sz="2000" b="1" dirty="0">
                <a:solidFill>
                  <a:srgbClr val="F2726B"/>
                </a:solidFill>
                <a:latin typeface="Consolas" pitchFamily="34" charset="0"/>
                <a:ea typeface="Consolas" pitchFamily="34" charset="-122"/>
                <a:cs typeface="Consolas" pitchFamily="34" charset="-120"/>
              </a:rPr>
              <a:t>−$0.10</a:t>
            </a:r>
            <a:endParaRPr lang="en-US" sz="1600" dirty="0"/>
          </a:p>
        </p:txBody>
      </p:sp>
      <p:sp>
        <p:nvSpPr>
          <p:cNvPr id="30"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31"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2726B"/>
          </a:solidFill>
          <a:ln/>
        </p:spPr>
        <p:txBody>
          <a:bodyPr/>
          <a:lstStyle/>
          <a:p>
            <a:endParaRPr lang="en-SE"/>
          </a:p>
        </p:txBody>
      </p:sp>
      <p:sp>
        <p:nvSpPr>
          <p:cNvPr id="32" name="Text 30"/>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F2726B"/>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You paid $0.40 more than planned — $400 per spread — purely from the gap between the two fills.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That slippage is real money">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That slippage is real money</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01 · THE PROBLEM</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16</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$0.40 sounds tiny. Multiply by the contract size and the number of spreads, and leg risk becomes a serious, recurring tax on every trade.</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286000"/>
            <a:ext cx="2560320" cy="1828800"/>
          </a:xfrm>
          <a:prstGeom prst="roundRect">
            <a:avLst>
              <a:gd name="adj" fmla="val 4500"/>
            </a:avLst>
          </a:prstGeom>
          <a:solidFill>
            <a:srgbClr val="1F252D"/>
          </a:solidFill>
          <a:ln w="12700">
            <a:solidFill>
              <a:srgbClr val="343E4A"/>
            </a:solidFill>
            <a:prstDash val="solid"/>
          </a:ln>
        </p:spPr>
        <p:txBody>
          <a:bodyPr/>
          <a:lstStyle/>
          <a:p>
            <a:endParaRPr lang="en-SE"/>
          </a:p>
        </p:txBody>
      </p:sp>
      <p:sp>
        <p:nvSpPr>
          <p:cNvPr id="9" name="Text 7"/>
          <p:cNvSpPr/>
          <p:nvPr/>
        </p:nvSpPr>
        <p:spPr>
          <a:xfrm>
            <a:off x="777240" y="2606040"/>
            <a:ext cx="2286000" cy="777240"/>
          </a:xfrm>
          <a:prstGeom prst="rect">
            <a:avLst/>
          </a:prstGeom>
          <a:noFill/>
          <a:ln/>
        </p:spPr>
        <p:txBody>
          <a:bodyPr wrap="square" lIns="0" tIns="0" rIns="0" bIns="0" rtlCol="0" anchor="ctr"/>
          <a:lstStyle/>
          <a:p>
            <a:pPr marL="0" indent="0" algn="ctr">
              <a:buNone/>
            </a:pPr>
            <a:r>
              <a:rPr lang="en-US" sz="3000" b="1" dirty="0">
                <a:solidFill>
                  <a:srgbClr val="F2726B"/>
                </a:solidFill>
                <a:latin typeface="Consolas" pitchFamily="34" charset="0"/>
                <a:ea typeface="Consolas" pitchFamily="34" charset="-122"/>
                <a:cs typeface="Consolas" pitchFamily="34" charset="-120"/>
              </a:rPr>
              <a:t>$0.40</a:t>
            </a:r>
            <a:endParaRPr lang="en-US" sz="3000" dirty="0"/>
          </a:p>
        </p:txBody>
      </p:sp>
      <p:sp>
        <p:nvSpPr>
          <p:cNvPr id="10" name="Text 8"/>
          <p:cNvSpPr/>
          <p:nvPr/>
        </p:nvSpPr>
        <p:spPr>
          <a:xfrm>
            <a:off x="777240" y="3383280"/>
            <a:ext cx="2286000" cy="594360"/>
          </a:xfrm>
          <a:prstGeom prst="rect">
            <a:avLst/>
          </a:prstGeom>
          <a:noFill/>
          <a:ln/>
        </p:spPr>
        <p:txBody>
          <a:bodyPr wrap="square" lIns="0" tIns="0" rIns="0" bIns="0" rtlCol="0" anchor="ctr"/>
          <a:lstStyle/>
          <a:p>
            <a:pPr marL="0" indent="0" algn="ctr">
              <a:lnSpc>
                <a:spcPct val="105000"/>
              </a:lnSpc>
              <a:buNone/>
            </a:pPr>
            <a:r>
              <a:rPr lang="en-US" sz="1250" dirty="0">
                <a:solidFill>
                  <a:srgbClr val="AAB2BD"/>
                </a:solidFill>
                <a:latin typeface="Calibri" pitchFamily="34" charset="0"/>
                <a:ea typeface="Calibri" pitchFamily="34" charset="-122"/>
                <a:cs typeface="Calibri" pitchFamily="34" charset="-120"/>
              </a:rPr>
              <a:t>worse per barrel</a:t>
            </a:r>
            <a:endParaRPr lang="en-US" sz="1250" dirty="0"/>
          </a:p>
        </p:txBody>
      </p:sp>
      <p:sp>
        <p:nvSpPr>
          <p:cNvPr id="11" name="Text 9"/>
          <p:cNvSpPr/>
          <p:nvPr/>
        </p:nvSpPr>
        <p:spPr>
          <a:xfrm>
            <a:off x="3200400" y="2286000"/>
            <a:ext cx="237744" cy="1828800"/>
          </a:xfrm>
          <a:prstGeom prst="rect">
            <a:avLst/>
          </a:prstGeom>
          <a:noFill/>
          <a:ln/>
        </p:spPr>
        <p:txBody>
          <a:bodyPr wrap="square" lIns="0" tIns="0" rIns="0" bIns="0" rtlCol="0" anchor="ctr"/>
          <a:lstStyle/>
          <a:p>
            <a:pPr marL="0" indent="0" algn="ctr">
              <a:buNone/>
            </a:pPr>
            <a:r>
              <a:rPr lang="en-US" sz="2200" b="1" dirty="0">
                <a:solidFill>
                  <a:srgbClr val="737D8A"/>
                </a:solidFill>
                <a:latin typeface="Trebuchet MS" pitchFamily="34" charset="0"/>
                <a:ea typeface="Trebuchet MS" pitchFamily="34" charset="-122"/>
                <a:cs typeface="Trebuchet MS" pitchFamily="34" charset="-120"/>
              </a:rPr>
              <a:t>×</a:t>
            </a:r>
            <a:endParaRPr lang="en-US" sz="2200" dirty="0"/>
          </a:p>
        </p:txBody>
      </p:sp>
      <p:sp>
        <p:nvSpPr>
          <p:cNvPr id="12" name="panel">
            <a:extLst>
              <a:ext uri="{C183D7F6-B498-43B3-948B-1728B52AA6E4}">
                <adec:decorative xmlns:adec="http://schemas.microsoft.com/office/drawing/2017/decorative" val="1"/>
              </a:ext>
            </a:extLst>
          </p:cNvPr>
          <p:cNvSpPr/>
          <p:nvPr/>
        </p:nvSpPr>
        <p:spPr>
          <a:xfrm>
            <a:off x="3438144" y="2286000"/>
            <a:ext cx="2560320" cy="1828800"/>
          </a:xfrm>
          <a:prstGeom prst="roundRect">
            <a:avLst>
              <a:gd name="adj" fmla="val 4500"/>
            </a:avLst>
          </a:prstGeom>
          <a:solidFill>
            <a:srgbClr val="1F252D"/>
          </a:solidFill>
          <a:ln w="12700">
            <a:solidFill>
              <a:srgbClr val="343E4A"/>
            </a:solidFill>
            <a:prstDash val="solid"/>
          </a:ln>
        </p:spPr>
        <p:txBody>
          <a:bodyPr/>
          <a:lstStyle/>
          <a:p>
            <a:endParaRPr lang="en-SE"/>
          </a:p>
        </p:txBody>
      </p:sp>
      <p:sp>
        <p:nvSpPr>
          <p:cNvPr id="13" name="Text 11"/>
          <p:cNvSpPr/>
          <p:nvPr/>
        </p:nvSpPr>
        <p:spPr>
          <a:xfrm>
            <a:off x="3575304" y="2606040"/>
            <a:ext cx="2286000" cy="777240"/>
          </a:xfrm>
          <a:prstGeom prst="rect">
            <a:avLst/>
          </a:prstGeom>
          <a:noFill/>
          <a:ln/>
        </p:spPr>
        <p:txBody>
          <a:bodyPr wrap="square" lIns="0" tIns="0" rIns="0" bIns="0" rtlCol="0" anchor="ctr"/>
          <a:lstStyle/>
          <a:p>
            <a:pPr marL="0" indent="0" algn="ctr">
              <a:buNone/>
            </a:pPr>
            <a:r>
              <a:rPr lang="en-US" sz="3000" b="1" dirty="0">
                <a:solidFill>
                  <a:srgbClr val="AAB2BD"/>
                </a:solidFill>
                <a:latin typeface="Consolas" pitchFamily="34" charset="0"/>
                <a:ea typeface="Consolas" pitchFamily="34" charset="-122"/>
                <a:cs typeface="Consolas" pitchFamily="34" charset="-120"/>
              </a:rPr>
              <a:t>× 1,000</a:t>
            </a:r>
            <a:endParaRPr lang="en-US" sz="3000" dirty="0"/>
          </a:p>
        </p:txBody>
      </p:sp>
      <p:sp>
        <p:nvSpPr>
          <p:cNvPr id="14" name="Text 12"/>
          <p:cNvSpPr/>
          <p:nvPr/>
        </p:nvSpPr>
        <p:spPr>
          <a:xfrm>
            <a:off x="3575304" y="3383280"/>
            <a:ext cx="2286000" cy="594360"/>
          </a:xfrm>
          <a:prstGeom prst="rect">
            <a:avLst/>
          </a:prstGeom>
          <a:noFill/>
          <a:ln/>
        </p:spPr>
        <p:txBody>
          <a:bodyPr wrap="square" lIns="0" tIns="0" rIns="0" bIns="0" rtlCol="0" anchor="ctr"/>
          <a:lstStyle/>
          <a:p>
            <a:pPr marL="0" indent="0" algn="ctr">
              <a:lnSpc>
                <a:spcPct val="105000"/>
              </a:lnSpc>
              <a:buNone/>
            </a:pPr>
            <a:r>
              <a:rPr lang="en-US" sz="1250" dirty="0">
                <a:solidFill>
                  <a:srgbClr val="AAB2BD"/>
                </a:solidFill>
                <a:latin typeface="Calibri" pitchFamily="34" charset="0"/>
                <a:ea typeface="Calibri" pitchFamily="34" charset="-122"/>
                <a:cs typeface="Calibri" pitchFamily="34" charset="-120"/>
              </a:rPr>
              <a:t>barrels per contract</a:t>
            </a:r>
            <a:endParaRPr lang="en-US" sz="1250" dirty="0"/>
          </a:p>
        </p:txBody>
      </p:sp>
      <p:sp>
        <p:nvSpPr>
          <p:cNvPr id="15" name="Text 13"/>
          <p:cNvSpPr/>
          <p:nvPr/>
        </p:nvSpPr>
        <p:spPr>
          <a:xfrm>
            <a:off x="5998464" y="2286000"/>
            <a:ext cx="237744" cy="1828800"/>
          </a:xfrm>
          <a:prstGeom prst="rect">
            <a:avLst/>
          </a:prstGeom>
          <a:noFill/>
          <a:ln/>
        </p:spPr>
        <p:txBody>
          <a:bodyPr wrap="square" lIns="0" tIns="0" rIns="0" bIns="0" rtlCol="0" anchor="ctr"/>
          <a:lstStyle/>
          <a:p>
            <a:pPr marL="0" indent="0" algn="ctr">
              <a:buNone/>
            </a:pPr>
            <a:r>
              <a:rPr lang="en-US" sz="2200" b="1" dirty="0">
                <a:solidFill>
                  <a:srgbClr val="737D8A"/>
                </a:solidFill>
                <a:latin typeface="Trebuchet MS" pitchFamily="34" charset="0"/>
                <a:ea typeface="Trebuchet MS" pitchFamily="34" charset="-122"/>
                <a:cs typeface="Trebuchet MS" pitchFamily="34" charset="-120"/>
              </a:rPr>
              <a:t>×</a:t>
            </a:r>
            <a:endParaRPr lang="en-US" sz="2200" dirty="0"/>
          </a:p>
        </p:txBody>
      </p:sp>
      <p:sp>
        <p:nvSpPr>
          <p:cNvPr id="16" name="panel">
            <a:extLst>
              <a:ext uri="{C183D7F6-B498-43B3-948B-1728B52AA6E4}">
                <adec:decorative xmlns:adec="http://schemas.microsoft.com/office/drawing/2017/decorative" val="1"/>
              </a:ext>
            </a:extLst>
          </p:cNvPr>
          <p:cNvSpPr/>
          <p:nvPr/>
        </p:nvSpPr>
        <p:spPr>
          <a:xfrm>
            <a:off x="6236208" y="2286000"/>
            <a:ext cx="2560320" cy="1828800"/>
          </a:xfrm>
          <a:prstGeom prst="roundRect">
            <a:avLst>
              <a:gd name="adj" fmla="val 4500"/>
            </a:avLst>
          </a:prstGeom>
          <a:solidFill>
            <a:srgbClr val="1F252D"/>
          </a:solidFill>
          <a:ln w="12700">
            <a:solidFill>
              <a:srgbClr val="343E4A"/>
            </a:solidFill>
            <a:prstDash val="solid"/>
          </a:ln>
        </p:spPr>
        <p:txBody>
          <a:bodyPr/>
          <a:lstStyle/>
          <a:p>
            <a:endParaRPr lang="en-SE"/>
          </a:p>
        </p:txBody>
      </p:sp>
      <p:sp>
        <p:nvSpPr>
          <p:cNvPr id="17" name="Text 15"/>
          <p:cNvSpPr/>
          <p:nvPr/>
        </p:nvSpPr>
        <p:spPr>
          <a:xfrm>
            <a:off x="6373368" y="2606040"/>
            <a:ext cx="2286000" cy="777240"/>
          </a:xfrm>
          <a:prstGeom prst="rect">
            <a:avLst/>
          </a:prstGeom>
          <a:noFill/>
          <a:ln/>
        </p:spPr>
        <p:txBody>
          <a:bodyPr wrap="square" lIns="0" tIns="0" rIns="0" bIns="0" rtlCol="0" anchor="ctr"/>
          <a:lstStyle/>
          <a:p>
            <a:pPr marL="0" indent="0" algn="ctr">
              <a:buNone/>
            </a:pPr>
            <a:r>
              <a:rPr lang="en-US" sz="3000" b="1" dirty="0">
                <a:solidFill>
                  <a:srgbClr val="AAB2BD"/>
                </a:solidFill>
                <a:latin typeface="Consolas" pitchFamily="34" charset="0"/>
                <a:ea typeface="Consolas" pitchFamily="34" charset="-122"/>
                <a:cs typeface="Consolas" pitchFamily="34" charset="-120"/>
              </a:rPr>
              <a:t>× 10</a:t>
            </a:r>
            <a:endParaRPr lang="en-US" sz="3000" dirty="0"/>
          </a:p>
        </p:txBody>
      </p:sp>
      <p:sp>
        <p:nvSpPr>
          <p:cNvPr id="18" name="Text 16"/>
          <p:cNvSpPr/>
          <p:nvPr/>
        </p:nvSpPr>
        <p:spPr>
          <a:xfrm>
            <a:off x="6373368" y="3383280"/>
            <a:ext cx="2286000" cy="594360"/>
          </a:xfrm>
          <a:prstGeom prst="rect">
            <a:avLst/>
          </a:prstGeom>
          <a:noFill/>
          <a:ln/>
        </p:spPr>
        <p:txBody>
          <a:bodyPr wrap="square" lIns="0" tIns="0" rIns="0" bIns="0" rtlCol="0" anchor="ctr"/>
          <a:lstStyle/>
          <a:p>
            <a:pPr marL="0" indent="0" algn="ctr">
              <a:lnSpc>
                <a:spcPct val="105000"/>
              </a:lnSpc>
              <a:buNone/>
            </a:pPr>
            <a:r>
              <a:rPr lang="en-US" sz="1250" dirty="0">
                <a:solidFill>
                  <a:srgbClr val="AAB2BD"/>
                </a:solidFill>
                <a:latin typeface="Calibri" pitchFamily="34" charset="0"/>
                <a:ea typeface="Calibri" pitchFamily="34" charset="-122"/>
                <a:cs typeface="Calibri" pitchFamily="34" charset="-120"/>
              </a:rPr>
              <a:t>spreads in the trade</a:t>
            </a:r>
            <a:endParaRPr lang="en-US" sz="1250" dirty="0"/>
          </a:p>
        </p:txBody>
      </p:sp>
      <p:sp>
        <p:nvSpPr>
          <p:cNvPr id="19" name="Text 17"/>
          <p:cNvSpPr/>
          <p:nvPr/>
        </p:nvSpPr>
        <p:spPr>
          <a:xfrm>
            <a:off x="8796528" y="2286000"/>
            <a:ext cx="237744" cy="1828800"/>
          </a:xfrm>
          <a:prstGeom prst="rect">
            <a:avLst/>
          </a:prstGeom>
          <a:noFill/>
          <a:ln/>
        </p:spPr>
        <p:txBody>
          <a:bodyPr wrap="square" lIns="0" tIns="0" rIns="0" bIns="0" rtlCol="0" anchor="ctr"/>
          <a:lstStyle/>
          <a:p>
            <a:pPr marL="0" indent="0" algn="ctr">
              <a:buNone/>
            </a:pPr>
            <a:r>
              <a:rPr lang="en-US" sz="2200" b="1" dirty="0">
                <a:solidFill>
                  <a:srgbClr val="737D8A"/>
                </a:solidFill>
                <a:latin typeface="Trebuchet MS" pitchFamily="34" charset="0"/>
                <a:ea typeface="Trebuchet MS" pitchFamily="34" charset="-122"/>
                <a:cs typeface="Trebuchet MS" pitchFamily="34" charset="-120"/>
              </a:rPr>
              <a:t>=</a:t>
            </a:r>
            <a:endParaRPr lang="en-US" sz="2200" dirty="0"/>
          </a:p>
        </p:txBody>
      </p:sp>
      <p:sp>
        <p:nvSpPr>
          <p:cNvPr id="20" name="panel">
            <a:extLst>
              <a:ext uri="{C183D7F6-B498-43B3-948B-1728B52AA6E4}">
                <adec:decorative xmlns:adec="http://schemas.microsoft.com/office/drawing/2017/decorative" val="1"/>
              </a:ext>
            </a:extLst>
          </p:cNvPr>
          <p:cNvSpPr/>
          <p:nvPr/>
        </p:nvSpPr>
        <p:spPr>
          <a:xfrm>
            <a:off x="9034272" y="2286000"/>
            <a:ext cx="2560320" cy="1828800"/>
          </a:xfrm>
          <a:prstGeom prst="roundRect">
            <a:avLst>
              <a:gd name="adj" fmla="val 4500"/>
            </a:avLst>
          </a:prstGeom>
          <a:solidFill>
            <a:srgbClr val="262E38"/>
          </a:solidFill>
          <a:ln w="12700">
            <a:solidFill>
              <a:srgbClr val="F2726B"/>
            </a:solidFill>
            <a:prstDash val="solid"/>
          </a:ln>
          <a:effectLst>
            <a:outerShdw blurRad="127000" dist="38100" dir="5400000" algn="bl" rotWithShape="0">
              <a:srgbClr val="000000">
                <a:alpha val="35000"/>
              </a:srgbClr>
            </a:outerShdw>
          </a:effectLst>
        </p:spPr>
        <p:txBody>
          <a:bodyPr/>
          <a:lstStyle/>
          <a:p>
            <a:endParaRPr lang="en-SE"/>
          </a:p>
        </p:txBody>
      </p:sp>
      <p:sp>
        <p:nvSpPr>
          <p:cNvPr id="21" name="Text 19"/>
          <p:cNvSpPr/>
          <p:nvPr/>
        </p:nvSpPr>
        <p:spPr>
          <a:xfrm>
            <a:off x="9171432" y="2606040"/>
            <a:ext cx="2286000" cy="777240"/>
          </a:xfrm>
          <a:prstGeom prst="rect">
            <a:avLst/>
          </a:prstGeom>
          <a:noFill/>
          <a:ln/>
        </p:spPr>
        <p:txBody>
          <a:bodyPr wrap="square" lIns="0" tIns="0" rIns="0" bIns="0" rtlCol="0" anchor="ctr"/>
          <a:lstStyle/>
          <a:p>
            <a:pPr marL="0" indent="0" algn="ctr">
              <a:buNone/>
            </a:pPr>
            <a:r>
              <a:rPr lang="en-US" sz="3000" b="1" dirty="0">
                <a:solidFill>
                  <a:srgbClr val="F2726B"/>
                </a:solidFill>
                <a:latin typeface="Consolas" pitchFamily="34" charset="0"/>
                <a:ea typeface="Consolas" pitchFamily="34" charset="-122"/>
                <a:cs typeface="Consolas" pitchFamily="34" charset="-120"/>
              </a:rPr>
              <a:t>$4,000</a:t>
            </a:r>
            <a:endParaRPr lang="en-US" sz="3000" dirty="0"/>
          </a:p>
        </p:txBody>
      </p:sp>
      <p:sp>
        <p:nvSpPr>
          <p:cNvPr id="22" name="Text 20"/>
          <p:cNvSpPr/>
          <p:nvPr/>
        </p:nvSpPr>
        <p:spPr>
          <a:xfrm>
            <a:off x="9171432" y="3383280"/>
            <a:ext cx="2286000" cy="594360"/>
          </a:xfrm>
          <a:prstGeom prst="rect">
            <a:avLst/>
          </a:prstGeom>
          <a:noFill/>
          <a:ln/>
        </p:spPr>
        <p:txBody>
          <a:bodyPr wrap="square" lIns="0" tIns="0" rIns="0" bIns="0" rtlCol="0" anchor="ctr"/>
          <a:lstStyle/>
          <a:p>
            <a:pPr marL="0" indent="0" algn="ctr">
              <a:lnSpc>
                <a:spcPct val="105000"/>
              </a:lnSpc>
              <a:buNone/>
            </a:pPr>
            <a:r>
              <a:rPr lang="en-US" sz="1250" dirty="0">
                <a:solidFill>
                  <a:srgbClr val="AAB2BD"/>
                </a:solidFill>
                <a:latin typeface="Calibri" pitchFamily="34" charset="0"/>
                <a:ea typeface="Calibri" pitchFamily="34" charset="-122"/>
                <a:cs typeface="Calibri" pitchFamily="34" charset="-120"/>
              </a:rPr>
              <a:t>gone before you start</a:t>
            </a:r>
            <a:endParaRPr lang="en-US" sz="1250" dirty="0"/>
          </a:p>
        </p:txBody>
      </p:sp>
      <p:sp>
        <p:nvSpPr>
          <p:cNvPr id="23" name="Text 21"/>
          <p:cNvSpPr/>
          <p:nvPr/>
        </p:nvSpPr>
        <p:spPr>
          <a:xfrm>
            <a:off x="640080" y="4389120"/>
            <a:ext cx="10881360" cy="457200"/>
          </a:xfrm>
          <a:prstGeom prst="rect">
            <a:avLst/>
          </a:prstGeom>
          <a:noFill/>
          <a:ln/>
        </p:spPr>
        <p:txBody>
          <a:bodyPr wrap="square" lIns="0" tIns="0" rIns="0" bIns="0" rtlCol="0" anchor="ctr"/>
          <a:lstStyle/>
          <a:p>
            <a:pPr marL="0" indent="0" algn="ctr">
              <a:buNone/>
            </a:pPr>
            <a:r>
              <a:rPr lang="en-US" sz="1400" i="1" dirty="0">
                <a:solidFill>
                  <a:srgbClr val="AAB2BD"/>
                </a:solidFill>
                <a:latin typeface="Calibri" pitchFamily="34" charset="0"/>
                <a:ea typeface="Calibri" pitchFamily="34" charset="-122"/>
                <a:cs typeface="Calibri" pitchFamily="34" charset="-120"/>
              </a:rPr>
              <a:t>And that assumes the second leg fills at all. Sometimes it doesn't — which is far worse.</a:t>
            </a:r>
            <a:endParaRPr lang="en-US" sz="1400" dirty="0"/>
          </a:p>
        </p:txBody>
      </p:sp>
      <p:sp>
        <p:nvSpPr>
          <p:cNvPr id="24"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5"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2726B"/>
          </a:solidFill>
          <a:ln/>
        </p:spPr>
        <p:txBody>
          <a:bodyPr/>
          <a:lstStyle/>
          <a:p>
            <a:endParaRPr lang="en-SE"/>
          </a:p>
        </p:txBody>
      </p:sp>
      <p:sp>
        <p:nvSpPr>
          <p:cNvPr id="26" name="Text 24"/>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F2726B"/>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Leg risk scales with size. On a real position it is the difference between a good idea and a losing one.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The worst case: a naked le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worst case: a naked leg</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01 · THE PROBLEM</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17</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Now imagine Order B never fills — no seller shows up at your price. You are left holding only March: a raw, one-sided bet on the whole oil market.</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94560"/>
            <a:ext cx="5303520" cy="2788920"/>
          </a:xfrm>
          <a:prstGeom prst="roundRect">
            <a:avLst>
              <a:gd name="adj" fmla="val 2951"/>
            </a:avLst>
          </a:prstGeom>
          <a:solidFill>
            <a:srgbClr val="1F252D"/>
          </a:solidFill>
          <a:ln w="12700">
            <a:solidFill>
              <a:srgbClr val="0B5C43"/>
            </a:solidFill>
            <a:prstDash val="solid"/>
          </a:ln>
        </p:spPr>
        <p:txBody>
          <a:bodyPr/>
          <a:lstStyle/>
          <a:p>
            <a:endParaRPr lang="en-SE"/>
          </a:p>
        </p:txBody>
      </p:sp>
      <p:sp>
        <p:nvSpPr>
          <p:cNvPr id="9" name="Text 7"/>
          <p:cNvSpPr/>
          <p:nvPr/>
        </p:nvSpPr>
        <p:spPr>
          <a:xfrm>
            <a:off x="868680" y="2377440"/>
            <a:ext cx="4846320" cy="274320"/>
          </a:xfrm>
          <a:prstGeom prst="rect">
            <a:avLst/>
          </a:prstGeom>
          <a:noFill/>
          <a:ln/>
        </p:spPr>
        <p:txBody>
          <a:bodyPr wrap="square" lIns="0" tIns="0" rIns="0" bIns="0" rtlCol="0" anchor="ctr"/>
          <a:lstStyle/>
          <a:p>
            <a:pPr marL="0" indent="0">
              <a:buNone/>
            </a:pPr>
            <a:r>
              <a:rPr lang="en-US" sz="1200" b="1" kern="0" spc="200" dirty="0">
                <a:solidFill>
                  <a:srgbClr val="34D399"/>
                </a:solidFill>
                <a:latin typeface="Trebuchet MS" pitchFamily="34" charset="0"/>
                <a:ea typeface="Trebuchet MS" pitchFamily="34" charset="-122"/>
                <a:cs typeface="Trebuchet MS" pitchFamily="34" charset="-120"/>
              </a:rPr>
              <a:t>INTENDED: HEDGED</a:t>
            </a:r>
            <a:endParaRPr lang="en-US" sz="1200" dirty="0"/>
          </a:p>
        </p:txBody>
      </p:sp>
      <p:sp>
        <p:nvSpPr>
          <p:cNvPr id="10" name="long bar">
            <a:extLst>
              <a:ext uri="{C183D7F6-B498-43B3-948B-1728B52AA6E4}">
                <adec:decorative xmlns:adec="http://schemas.microsoft.com/office/drawing/2017/decorative" val="1"/>
              </a:ext>
            </a:extLst>
          </p:cNvPr>
          <p:cNvSpPr/>
          <p:nvPr/>
        </p:nvSpPr>
        <p:spPr>
          <a:xfrm>
            <a:off x="1280160" y="2834640"/>
            <a:ext cx="1463040" cy="1371600"/>
          </a:xfrm>
          <a:prstGeom prst="rect">
            <a:avLst/>
          </a:prstGeom>
          <a:solidFill>
            <a:srgbClr val="34D399"/>
          </a:solidFill>
          <a:ln/>
        </p:spPr>
        <p:txBody>
          <a:bodyPr/>
          <a:lstStyle/>
          <a:p>
            <a:endParaRPr lang="en-SE"/>
          </a:p>
        </p:txBody>
      </p:sp>
      <p:sp>
        <p:nvSpPr>
          <p:cNvPr id="11" name="short bar">
            <a:extLst>
              <a:ext uri="{C183D7F6-B498-43B3-948B-1728B52AA6E4}">
                <adec:decorative xmlns:adec="http://schemas.microsoft.com/office/drawing/2017/decorative" val="1"/>
              </a:ext>
            </a:extLst>
          </p:cNvPr>
          <p:cNvSpPr/>
          <p:nvPr/>
        </p:nvSpPr>
        <p:spPr>
          <a:xfrm>
            <a:off x="3566160" y="2834640"/>
            <a:ext cx="1463040" cy="1371600"/>
          </a:xfrm>
          <a:prstGeom prst="rect">
            <a:avLst/>
          </a:prstGeom>
          <a:solidFill>
            <a:srgbClr val="6EA8E6"/>
          </a:solidFill>
          <a:ln/>
        </p:spPr>
        <p:txBody>
          <a:bodyPr/>
          <a:lstStyle/>
          <a:p>
            <a:endParaRPr lang="en-SE"/>
          </a:p>
        </p:txBody>
      </p:sp>
      <p:sp>
        <p:nvSpPr>
          <p:cNvPr id="12" name="Text 10"/>
          <p:cNvSpPr/>
          <p:nvPr/>
        </p:nvSpPr>
        <p:spPr>
          <a:xfrm>
            <a:off x="1280160" y="4224528"/>
            <a:ext cx="1463040" cy="274320"/>
          </a:xfrm>
          <a:prstGeom prst="rect">
            <a:avLst/>
          </a:prstGeom>
          <a:noFill/>
          <a:ln/>
        </p:spPr>
        <p:txBody>
          <a:bodyPr wrap="square" lIns="0" tIns="0" rIns="0" bIns="0" rtlCol="0" anchor="ctr"/>
          <a:lstStyle/>
          <a:p>
            <a:pPr marL="0" indent="0" algn="ctr">
              <a:buNone/>
            </a:pPr>
            <a:r>
              <a:rPr lang="en-US" sz="1200" dirty="0">
                <a:solidFill>
                  <a:srgbClr val="34D399"/>
                </a:solidFill>
                <a:latin typeface="Consolas" pitchFamily="34" charset="0"/>
                <a:ea typeface="Consolas" pitchFamily="34" charset="-122"/>
                <a:cs typeface="Consolas" pitchFamily="34" charset="-120"/>
              </a:rPr>
              <a:t>+March</a:t>
            </a:r>
            <a:endParaRPr lang="en-US" sz="1200" dirty="0"/>
          </a:p>
        </p:txBody>
      </p:sp>
      <p:sp>
        <p:nvSpPr>
          <p:cNvPr id="13" name="Text 11"/>
          <p:cNvSpPr/>
          <p:nvPr/>
        </p:nvSpPr>
        <p:spPr>
          <a:xfrm>
            <a:off x="3566160" y="4224528"/>
            <a:ext cx="1463040" cy="274320"/>
          </a:xfrm>
          <a:prstGeom prst="rect">
            <a:avLst/>
          </a:prstGeom>
          <a:noFill/>
          <a:ln/>
        </p:spPr>
        <p:txBody>
          <a:bodyPr wrap="square" lIns="0" tIns="0" rIns="0" bIns="0" rtlCol="0" anchor="ctr"/>
          <a:lstStyle/>
          <a:p>
            <a:pPr marL="0" indent="0" algn="ctr">
              <a:buNone/>
            </a:pPr>
            <a:r>
              <a:rPr lang="en-US" sz="1200" dirty="0">
                <a:solidFill>
                  <a:srgbClr val="6EA8E6"/>
                </a:solidFill>
                <a:latin typeface="Consolas" pitchFamily="34" charset="0"/>
                <a:ea typeface="Consolas" pitchFamily="34" charset="-122"/>
                <a:cs typeface="Consolas" pitchFamily="34" charset="-120"/>
              </a:rPr>
              <a:t>−June</a:t>
            </a:r>
            <a:endParaRPr lang="en-US" sz="1200" dirty="0"/>
          </a:p>
        </p:txBody>
      </p:sp>
      <p:sp>
        <p:nvSpPr>
          <p:cNvPr id="14" name="Text 12"/>
          <p:cNvSpPr/>
          <p:nvPr/>
        </p:nvSpPr>
        <p:spPr>
          <a:xfrm>
            <a:off x="868680" y="4553712"/>
            <a:ext cx="4846320" cy="365760"/>
          </a:xfrm>
          <a:prstGeom prst="rect">
            <a:avLst/>
          </a:prstGeom>
          <a:noFill/>
          <a:ln/>
        </p:spPr>
        <p:txBody>
          <a:bodyPr wrap="square" lIns="0" tIns="0" rIns="0" bIns="0" rtlCol="0" anchor="ctr"/>
          <a:lstStyle/>
          <a:p>
            <a:pPr marL="0" indent="0" algn="ctr">
              <a:buNone/>
            </a:pPr>
            <a:r>
              <a:rPr lang="en-US" sz="1200" i="1" dirty="0">
                <a:solidFill>
                  <a:srgbClr val="AAB2BD"/>
                </a:solidFill>
                <a:latin typeface="Calibri" pitchFamily="34" charset="0"/>
                <a:ea typeface="Calibri" pitchFamily="34" charset="-122"/>
                <a:cs typeface="Calibri" pitchFamily="34" charset="-120"/>
              </a:rPr>
              <a:t>Risks cancel. A market-wide move barely dents you.</a:t>
            </a:r>
            <a:endParaRPr lang="en-US" sz="1200" dirty="0"/>
          </a:p>
        </p:txBody>
      </p:sp>
      <p:sp>
        <p:nvSpPr>
          <p:cNvPr id="15" name="panel">
            <a:extLst>
              <a:ext uri="{C183D7F6-B498-43B3-948B-1728B52AA6E4}">
                <adec:decorative xmlns:adec="http://schemas.microsoft.com/office/drawing/2017/decorative" val="1"/>
              </a:ext>
            </a:extLst>
          </p:cNvPr>
          <p:cNvSpPr/>
          <p:nvPr/>
        </p:nvSpPr>
        <p:spPr>
          <a:xfrm>
            <a:off x="6245352" y="2194560"/>
            <a:ext cx="5303520" cy="2788920"/>
          </a:xfrm>
          <a:prstGeom prst="roundRect">
            <a:avLst>
              <a:gd name="adj" fmla="val 2951"/>
            </a:avLst>
          </a:prstGeom>
          <a:solidFill>
            <a:srgbClr val="262E38"/>
          </a:solidFill>
          <a:ln w="12700">
            <a:solidFill>
              <a:srgbClr val="F2726B"/>
            </a:solidFill>
            <a:prstDash val="solid"/>
          </a:ln>
          <a:effectLst>
            <a:outerShdw blurRad="127000" dist="38100" dir="5400000" algn="bl" rotWithShape="0">
              <a:srgbClr val="000000">
                <a:alpha val="35000"/>
              </a:srgbClr>
            </a:outerShdw>
          </a:effectLst>
        </p:spPr>
        <p:txBody>
          <a:bodyPr/>
          <a:lstStyle/>
          <a:p>
            <a:endParaRPr lang="en-SE"/>
          </a:p>
        </p:txBody>
      </p:sp>
      <p:sp>
        <p:nvSpPr>
          <p:cNvPr id="16" name="Text 14"/>
          <p:cNvSpPr/>
          <p:nvPr/>
        </p:nvSpPr>
        <p:spPr>
          <a:xfrm>
            <a:off x="6473952" y="2377440"/>
            <a:ext cx="4846320" cy="274320"/>
          </a:xfrm>
          <a:prstGeom prst="rect">
            <a:avLst/>
          </a:prstGeom>
          <a:noFill/>
          <a:ln/>
        </p:spPr>
        <p:txBody>
          <a:bodyPr wrap="square" lIns="0" tIns="0" rIns="0" bIns="0" rtlCol="0" anchor="ctr"/>
          <a:lstStyle/>
          <a:p>
            <a:pPr marL="0" indent="0">
              <a:buNone/>
            </a:pPr>
            <a:r>
              <a:rPr lang="en-US" sz="1200" b="1" kern="0" spc="200" dirty="0">
                <a:solidFill>
                  <a:srgbClr val="F2726B"/>
                </a:solidFill>
                <a:latin typeface="Trebuchet MS" pitchFamily="34" charset="0"/>
                <a:ea typeface="Trebuchet MS" pitchFamily="34" charset="-122"/>
                <a:cs typeface="Trebuchet MS" pitchFamily="34" charset="-120"/>
              </a:rPr>
              <a:t>ACTUAL: NAKED LONG</a:t>
            </a:r>
            <a:endParaRPr lang="en-US" sz="1200" dirty="0"/>
          </a:p>
        </p:txBody>
      </p:sp>
      <p:sp>
        <p:nvSpPr>
          <p:cNvPr id="17" name="long bar only">
            <a:extLst>
              <a:ext uri="{C183D7F6-B498-43B3-948B-1728B52AA6E4}">
                <adec:decorative xmlns:adec="http://schemas.microsoft.com/office/drawing/2017/decorative" val="1"/>
              </a:ext>
            </a:extLst>
          </p:cNvPr>
          <p:cNvSpPr/>
          <p:nvPr/>
        </p:nvSpPr>
        <p:spPr>
          <a:xfrm>
            <a:off x="6949440" y="2834640"/>
            <a:ext cx="1463040" cy="1371600"/>
          </a:xfrm>
          <a:prstGeom prst="rect">
            <a:avLst/>
          </a:prstGeom>
          <a:solidFill>
            <a:srgbClr val="34D399"/>
          </a:solidFill>
          <a:ln/>
        </p:spPr>
        <p:txBody>
          <a:bodyPr/>
          <a:lstStyle/>
          <a:p>
            <a:endParaRPr lang="en-SE"/>
          </a:p>
        </p:txBody>
      </p:sp>
      <p:sp>
        <p:nvSpPr>
          <p:cNvPr id="18" name="missing leg">
            <a:extLst>
              <a:ext uri="{C183D7F6-B498-43B3-948B-1728B52AA6E4}">
                <adec:decorative xmlns:adec="http://schemas.microsoft.com/office/drawing/2017/decorative" val="1"/>
              </a:ext>
            </a:extLst>
          </p:cNvPr>
          <p:cNvSpPr/>
          <p:nvPr/>
        </p:nvSpPr>
        <p:spPr>
          <a:xfrm>
            <a:off x="9235440" y="2834640"/>
            <a:ext cx="1463040" cy="1371600"/>
          </a:xfrm>
          <a:prstGeom prst="rect">
            <a:avLst/>
          </a:prstGeom>
          <a:ln w="19050">
            <a:solidFill>
              <a:srgbClr val="737D8A"/>
            </a:solidFill>
            <a:prstDash val="dash"/>
          </a:ln>
        </p:spPr>
        <p:txBody>
          <a:bodyPr/>
          <a:lstStyle/>
          <a:p>
            <a:endParaRPr lang="en-SE"/>
          </a:p>
        </p:txBody>
      </p:sp>
      <p:sp>
        <p:nvSpPr>
          <p:cNvPr id="19" name="Text 17"/>
          <p:cNvSpPr/>
          <p:nvPr/>
        </p:nvSpPr>
        <p:spPr>
          <a:xfrm>
            <a:off x="6949440" y="4224528"/>
            <a:ext cx="1463040" cy="274320"/>
          </a:xfrm>
          <a:prstGeom prst="rect">
            <a:avLst/>
          </a:prstGeom>
          <a:noFill/>
          <a:ln/>
        </p:spPr>
        <p:txBody>
          <a:bodyPr wrap="square" lIns="0" tIns="0" rIns="0" bIns="0" rtlCol="0" anchor="ctr"/>
          <a:lstStyle/>
          <a:p>
            <a:pPr marL="0" indent="0" algn="ctr">
              <a:buNone/>
            </a:pPr>
            <a:r>
              <a:rPr lang="en-US" sz="1200" dirty="0">
                <a:solidFill>
                  <a:srgbClr val="34D399"/>
                </a:solidFill>
                <a:latin typeface="Consolas" pitchFamily="34" charset="0"/>
                <a:ea typeface="Consolas" pitchFamily="34" charset="-122"/>
                <a:cs typeface="Consolas" pitchFamily="34" charset="-120"/>
              </a:rPr>
              <a:t>+March</a:t>
            </a:r>
            <a:endParaRPr lang="en-US" sz="1200" dirty="0"/>
          </a:p>
        </p:txBody>
      </p:sp>
      <p:sp>
        <p:nvSpPr>
          <p:cNvPr id="20" name="Text 18"/>
          <p:cNvSpPr/>
          <p:nvPr/>
        </p:nvSpPr>
        <p:spPr>
          <a:xfrm>
            <a:off x="9235440" y="4224528"/>
            <a:ext cx="1463040" cy="274320"/>
          </a:xfrm>
          <a:prstGeom prst="rect">
            <a:avLst/>
          </a:prstGeom>
          <a:noFill/>
          <a:ln/>
        </p:spPr>
        <p:txBody>
          <a:bodyPr wrap="square" lIns="0" tIns="0" rIns="0" bIns="0" rtlCol="0" anchor="ctr"/>
          <a:lstStyle/>
          <a:p>
            <a:pPr marL="0" indent="0" algn="ctr">
              <a:buNone/>
            </a:pPr>
            <a:r>
              <a:rPr lang="en-US" sz="1200" dirty="0">
                <a:solidFill>
                  <a:srgbClr val="737D8A"/>
                </a:solidFill>
                <a:latin typeface="Consolas" pitchFamily="34" charset="0"/>
                <a:ea typeface="Consolas" pitchFamily="34" charset="-122"/>
                <a:cs typeface="Consolas" pitchFamily="34" charset="-120"/>
              </a:rPr>
              <a:t>(no June)</a:t>
            </a:r>
            <a:endParaRPr lang="en-US" sz="1200" dirty="0"/>
          </a:p>
        </p:txBody>
      </p:sp>
      <p:sp>
        <p:nvSpPr>
          <p:cNvPr id="21" name="Text 19"/>
          <p:cNvSpPr/>
          <p:nvPr/>
        </p:nvSpPr>
        <p:spPr>
          <a:xfrm>
            <a:off x="6473952" y="4553712"/>
            <a:ext cx="4846320" cy="365760"/>
          </a:xfrm>
          <a:prstGeom prst="rect">
            <a:avLst/>
          </a:prstGeom>
          <a:noFill/>
          <a:ln/>
        </p:spPr>
        <p:txBody>
          <a:bodyPr wrap="square" lIns="0" tIns="0" rIns="0" bIns="0" rtlCol="0" anchor="ctr"/>
          <a:lstStyle/>
          <a:p>
            <a:pPr marL="0" indent="0" algn="ctr">
              <a:buNone/>
            </a:pPr>
            <a:r>
              <a:rPr lang="en-US" sz="1200" i="1" dirty="0">
                <a:solidFill>
                  <a:srgbClr val="F2726B"/>
                </a:solidFill>
                <a:latin typeface="Calibri" pitchFamily="34" charset="0"/>
                <a:ea typeface="Calibri" pitchFamily="34" charset="-122"/>
                <a:cs typeface="Calibri" pitchFamily="34" charset="-120"/>
              </a:rPr>
              <a:t>If oil drops $3 overnight, that's −$3,000 per contract of pure, unwanted exposure.</a:t>
            </a:r>
            <a:endParaRPr lang="en-US" sz="1200" dirty="0"/>
          </a:p>
        </p:txBody>
      </p:sp>
      <p:sp>
        <p:nvSpPr>
          <p:cNvPr id="22"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3"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2726B"/>
          </a:solidFill>
          <a:ln/>
        </p:spPr>
        <p:txBody>
          <a:bodyPr/>
          <a:lstStyle/>
          <a:p>
            <a:endParaRPr lang="en-SE"/>
          </a:p>
        </p:txBody>
      </p:sp>
      <p:sp>
        <p:nvSpPr>
          <p:cNvPr id="24" name="Text 22"/>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F2726B"/>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A half-filled spread isn't a spread — it's an accidental outright position you never meant to hold.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The fix, in one word: atomicity">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fix, in one word: atomicity</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01 · THE PROBLEM</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18</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Every problem so far comes from the two legs being separate. The cure is to make them inseparable — one order that fills completely or not at all.</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240280"/>
            <a:ext cx="5303520" cy="2743200"/>
          </a:xfrm>
          <a:prstGeom prst="roundRect">
            <a:avLst>
              <a:gd name="adj" fmla="val 3000"/>
            </a:avLst>
          </a:prstGeom>
          <a:solidFill>
            <a:srgbClr val="262E38"/>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868680" y="2377440"/>
            <a:ext cx="4846320" cy="320040"/>
          </a:xfrm>
          <a:prstGeom prst="rect">
            <a:avLst/>
          </a:prstGeom>
          <a:noFill/>
          <a:ln/>
        </p:spPr>
        <p:txBody>
          <a:bodyPr wrap="square" lIns="0" tIns="0" rIns="0" bIns="0" rtlCol="0" anchor="ctr"/>
          <a:lstStyle/>
          <a:p>
            <a:pPr marL="0" indent="0">
              <a:buNone/>
            </a:pPr>
            <a:r>
              <a:rPr lang="en-US" sz="1300" b="1" kern="0" spc="300" dirty="0">
                <a:solidFill>
                  <a:srgbClr val="34D399"/>
                </a:solidFill>
                <a:latin typeface="Trebuchet MS" pitchFamily="34" charset="0"/>
                <a:ea typeface="Trebuchet MS" pitchFamily="34" charset="-122"/>
                <a:cs typeface="Trebuchet MS" pitchFamily="34" charset="-120"/>
              </a:rPr>
              <a:t>ALL</a:t>
            </a:r>
            <a:endParaRPr lang="en-US" sz="1300" dirty="0"/>
          </a:p>
        </p:txBody>
      </p:sp>
      <p:sp>
        <p:nvSpPr>
          <p:cNvPr id="10" name="dot">
            <a:extLst>
              <a:ext uri="{C183D7F6-B498-43B3-948B-1728B52AA6E4}">
                <adec:decorative xmlns:adec="http://schemas.microsoft.com/office/drawing/2017/decorative" val="1"/>
              </a:ext>
            </a:extLst>
          </p:cNvPr>
          <p:cNvSpPr/>
          <p:nvPr/>
        </p:nvSpPr>
        <p:spPr>
          <a:xfrm>
            <a:off x="1481328" y="3172968"/>
            <a:ext cx="512064" cy="512064"/>
          </a:xfrm>
          <a:prstGeom prst="ellipse">
            <a:avLst/>
          </a:prstGeom>
          <a:solidFill>
            <a:srgbClr val="34D399"/>
          </a:solidFill>
          <a:ln/>
        </p:spPr>
        <p:txBody>
          <a:bodyPr/>
          <a:lstStyle/>
          <a:p>
            <a:endParaRPr lang="en-SE"/>
          </a:p>
        </p:txBody>
      </p:sp>
      <p:sp>
        <p:nvSpPr>
          <p:cNvPr id="11" name="Text 9"/>
          <p:cNvSpPr/>
          <p:nvPr/>
        </p:nvSpPr>
        <p:spPr>
          <a:xfrm>
            <a:off x="1417320" y="3127248"/>
            <a:ext cx="640080" cy="603504"/>
          </a:xfrm>
          <a:prstGeom prst="rect">
            <a:avLst/>
          </a:prstGeom>
          <a:noFill/>
          <a:ln/>
        </p:spPr>
        <p:txBody>
          <a:bodyPr wrap="square" lIns="0" tIns="0" rIns="0" bIns="0" rtlCol="0" anchor="ctr"/>
          <a:lstStyle/>
          <a:p>
            <a:pPr marL="0" indent="0" algn="ctr">
              <a:buNone/>
            </a:pPr>
            <a:r>
              <a:rPr lang="en-US" sz="2200" b="1" dirty="0">
                <a:solidFill>
                  <a:srgbClr val="14171C"/>
                </a:solidFill>
                <a:latin typeface="Trebuchet MS" pitchFamily="34" charset="0"/>
                <a:ea typeface="Trebuchet MS" pitchFamily="34" charset="-122"/>
                <a:cs typeface="Trebuchet MS" pitchFamily="34" charset="-120"/>
              </a:rPr>
              <a:t>✓</a:t>
            </a:r>
            <a:endParaRPr lang="en-US" sz="2200" dirty="0"/>
          </a:p>
        </p:txBody>
      </p:sp>
      <p:sp>
        <p:nvSpPr>
          <p:cNvPr id="12" name="dot">
            <a:extLst>
              <a:ext uri="{C183D7F6-B498-43B3-948B-1728B52AA6E4}">
                <adec:decorative xmlns:adec="http://schemas.microsoft.com/office/drawing/2017/decorative" val="1"/>
              </a:ext>
            </a:extLst>
          </p:cNvPr>
          <p:cNvSpPr/>
          <p:nvPr/>
        </p:nvSpPr>
        <p:spPr>
          <a:xfrm>
            <a:off x="2487168" y="3172968"/>
            <a:ext cx="512064" cy="512064"/>
          </a:xfrm>
          <a:prstGeom prst="ellipse">
            <a:avLst/>
          </a:prstGeom>
          <a:solidFill>
            <a:srgbClr val="34D399"/>
          </a:solidFill>
          <a:ln/>
        </p:spPr>
        <p:txBody>
          <a:bodyPr/>
          <a:lstStyle/>
          <a:p>
            <a:endParaRPr lang="en-SE"/>
          </a:p>
        </p:txBody>
      </p:sp>
      <p:sp>
        <p:nvSpPr>
          <p:cNvPr id="13" name="Text 11"/>
          <p:cNvSpPr/>
          <p:nvPr/>
        </p:nvSpPr>
        <p:spPr>
          <a:xfrm>
            <a:off x="2423160" y="3127248"/>
            <a:ext cx="640080" cy="603504"/>
          </a:xfrm>
          <a:prstGeom prst="rect">
            <a:avLst/>
          </a:prstGeom>
          <a:noFill/>
          <a:ln/>
        </p:spPr>
        <p:txBody>
          <a:bodyPr wrap="square" lIns="0" tIns="0" rIns="0" bIns="0" rtlCol="0" anchor="ctr"/>
          <a:lstStyle/>
          <a:p>
            <a:pPr marL="0" indent="0" algn="ctr">
              <a:buNone/>
            </a:pPr>
            <a:r>
              <a:rPr lang="en-US" sz="2200" b="1" dirty="0">
                <a:solidFill>
                  <a:srgbClr val="14171C"/>
                </a:solidFill>
                <a:latin typeface="Trebuchet MS" pitchFamily="34" charset="0"/>
                <a:ea typeface="Trebuchet MS" pitchFamily="34" charset="-122"/>
                <a:cs typeface="Trebuchet MS" pitchFamily="34" charset="-120"/>
              </a:rPr>
              <a:t>✓</a:t>
            </a:r>
            <a:endParaRPr lang="en-US" sz="2200" dirty="0"/>
          </a:p>
        </p:txBody>
      </p:sp>
      <p:sp>
        <p:nvSpPr>
          <p:cNvPr id="14" name="Text 12"/>
          <p:cNvSpPr/>
          <p:nvPr/>
        </p:nvSpPr>
        <p:spPr>
          <a:xfrm>
            <a:off x="868680" y="3931920"/>
            <a:ext cx="4846320" cy="822960"/>
          </a:xfrm>
          <a:prstGeom prst="rect">
            <a:avLst/>
          </a:prstGeom>
          <a:noFill/>
          <a:ln/>
        </p:spPr>
        <p:txBody>
          <a:bodyPr wrap="square" lIns="0" tIns="0" rIns="0" bIns="0" rtlCol="0" anchor="ctr"/>
          <a:lstStyle/>
          <a:p>
            <a:pPr marL="0" indent="0">
              <a:lnSpc>
                <a:spcPct val="115000"/>
              </a:lnSpc>
              <a:buNone/>
            </a:pPr>
            <a:r>
              <a:rPr lang="en-US" sz="1350" dirty="0">
                <a:solidFill>
                  <a:srgbClr val="E7EBF0"/>
                </a:solidFill>
                <a:latin typeface="Calibri" pitchFamily="34" charset="0"/>
                <a:ea typeface="Calibri" pitchFamily="34" charset="-122"/>
                <a:cs typeface="Calibri" pitchFamily="34" charset="-120"/>
              </a:rPr>
              <a:t>Both legs fill together, at one agreed spread. You get exactly the position you asked for.</a:t>
            </a:r>
            <a:endParaRPr lang="en-US" sz="1350" dirty="0"/>
          </a:p>
        </p:txBody>
      </p:sp>
      <p:sp>
        <p:nvSpPr>
          <p:cNvPr id="15" name="Text 13"/>
          <p:cNvSpPr/>
          <p:nvPr/>
        </p:nvSpPr>
        <p:spPr>
          <a:xfrm>
            <a:off x="5943600" y="3291840"/>
            <a:ext cx="758952" cy="640080"/>
          </a:xfrm>
          <a:prstGeom prst="rect">
            <a:avLst/>
          </a:prstGeom>
          <a:noFill/>
          <a:ln/>
        </p:spPr>
        <p:txBody>
          <a:bodyPr wrap="square" lIns="0" tIns="0" rIns="0" bIns="0" rtlCol="0" anchor="ctr"/>
          <a:lstStyle/>
          <a:p>
            <a:pPr marL="0" indent="0" algn="ctr">
              <a:buNone/>
            </a:pPr>
            <a:r>
              <a:rPr lang="en-US" sz="2000" b="1" dirty="0">
                <a:solidFill>
                  <a:srgbClr val="737D8A"/>
                </a:solidFill>
                <a:latin typeface="Trebuchet MS" pitchFamily="34" charset="0"/>
                <a:ea typeface="Trebuchet MS" pitchFamily="34" charset="-122"/>
                <a:cs typeface="Trebuchet MS" pitchFamily="34" charset="-120"/>
              </a:rPr>
              <a:t>OR</a:t>
            </a:r>
            <a:endParaRPr lang="en-US" sz="2000" dirty="0"/>
          </a:p>
        </p:txBody>
      </p:sp>
      <p:sp>
        <p:nvSpPr>
          <p:cNvPr id="16" name="panel">
            <a:extLst>
              <a:ext uri="{C183D7F6-B498-43B3-948B-1728B52AA6E4}">
                <adec:decorative xmlns:adec="http://schemas.microsoft.com/office/drawing/2017/decorative" val="1"/>
              </a:ext>
            </a:extLst>
          </p:cNvPr>
          <p:cNvSpPr/>
          <p:nvPr/>
        </p:nvSpPr>
        <p:spPr>
          <a:xfrm>
            <a:off x="6245352" y="2240280"/>
            <a:ext cx="5303520" cy="2743200"/>
          </a:xfrm>
          <a:prstGeom prst="roundRect">
            <a:avLst>
              <a:gd name="adj" fmla="val 3000"/>
            </a:avLst>
          </a:prstGeom>
          <a:solidFill>
            <a:srgbClr val="1F252D"/>
          </a:solidFill>
          <a:ln w="12700">
            <a:solidFill>
              <a:srgbClr val="343E4A"/>
            </a:solidFill>
            <a:prstDash val="solid"/>
          </a:ln>
        </p:spPr>
        <p:txBody>
          <a:bodyPr/>
          <a:lstStyle/>
          <a:p>
            <a:endParaRPr lang="en-SE"/>
          </a:p>
        </p:txBody>
      </p:sp>
      <p:sp>
        <p:nvSpPr>
          <p:cNvPr id="17" name="Text 15"/>
          <p:cNvSpPr/>
          <p:nvPr/>
        </p:nvSpPr>
        <p:spPr>
          <a:xfrm>
            <a:off x="6473952" y="2377440"/>
            <a:ext cx="4846320" cy="320040"/>
          </a:xfrm>
          <a:prstGeom prst="rect">
            <a:avLst/>
          </a:prstGeom>
          <a:noFill/>
          <a:ln/>
        </p:spPr>
        <p:txBody>
          <a:bodyPr wrap="square" lIns="0" tIns="0" rIns="0" bIns="0" rtlCol="0" anchor="ctr"/>
          <a:lstStyle/>
          <a:p>
            <a:pPr marL="0" indent="0">
              <a:buNone/>
            </a:pPr>
            <a:r>
              <a:rPr lang="en-US" sz="1300" b="1" kern="0" spc="300" dirty="0">
                <a:solidFill>
                  <a:srgbClr val="AAB2BD"/>
                </a:solidFill>
                <a:latin typeface="Trebuchet MS" pitchFamily="34" charset="0"/>
                <a:ea typeface="Trebuchet MS" pitchFamily="34" charset="-122"/>
                <a:cs typeface="Trebuchet MS" pitchFamily="34" charset="-120"/>
              </a:rPr>
              <a:t>NOTHING</a:t>
            </a:r>
            <a:endParaRPr lang="en-US" sz="1300" dirty="0"/>
          </a:p>
        </p:txBody>
      </p:sp>
      <p:sp>
        <p:nvSpPr>
          <p:cNvPr id="18" name="dot">
            <a:extLst>
              <a:ext uri="{C183D7F6-B498-43B3-948B-1728B52AA6E4}">
                <adec:decorative xmlns:adec="http://schemas.microsoft.com/office/drawing/2017/decorative" val="1"/>
              </a:ext>
            </a:extLst>
          </p:cNvPr>
          <p:cNvSpPr/>
          <p:nvPr/>
        </p:nvSpPr>
        <p:spPr>
          <a:xfrm>
            <a:off x="7086600" y="3172968"/>
            <a:ext cx="512064" cy="512064"/>
          </a:xfrm>
          <a:prstGeom prst="ellipse">
            <a:avLst/>
          </a:prstGeom>
          <a:solidFill>
            <a:srgbClr val="1F252D"/>
          </a:solidFill>
          <a:ln/>
        </p:spPr>
        <p:txBody>
          <a:bodyPr/>
          <a:lstStyle/>
          <a:p>
            <a:endParaRPr lang="en-SE"/>
          </a:p>
        </p:txBody>
      </p:sp>
      <p:sp>
        <p:nvSpPr>
          <p:cNvPr id="19" name="empty">
            <a:extLst>
              <a:ext uri="{C183D7F6-B498-43B3-948B-1728B52AA6E4}">
                <adec:decorative xmlns:adec="http://schemas.microsoft.com/office/drawing/2017/decorative" val="1"/>
              </a:ext>
            </a:extLst>
          </p:cNvPr>
          <p:cNvSpPr/>
          <p:nvPr/>
        </p:nvSpPr>
        <p:spPr>
          <a:xfrm>
            <a:off x="7086600" y="3172968"/>
            <a:ext cx="512064" cy="512064"/>
          </a:xfrm>
          <a:prstGeom prst="ellipse">
            <a:avLst/>
          </a:prstGeom>
          <a:ln w="25400">
            <a:solidFill>
              <a:srgbClr val="737D8A"/>
            </a:solidFill>
            <a:prstDash val="solid"/>
          </a:ln>
        </p:spPr>
        <p:txBody>
          <a:bodyPr/>
          <a:lstStyle/>
          <a:p>
            <a:endParaRPr lang="en-SE"/>
          </a:p>
        </p:txBody>
      </p:sp>
      <p:sp>
        <p:nvSpPr>
          <p:cNvPr id="20" name="dot">
            <a:extLst>
              <a:ext uri="{C183D7F6-B498-43B3-948B-1728B52AA6E4}">
                <adec:decorative xmlns:adec="http://schemas.microsoft.com/office/drawing/2017/decorative" val="1"/>
              </a:ext>
            </a:extLst>
          </p:cNvPr>
          <p:cNvSpPr/>
          <p:nvPr/>
        </p:nvSpPr>
        <p:spPr>
          <a:xfrm>
            <a:off x="8092440" y="3172968"/>
            <a:ext cx="512064" cy="512064"/>
          </a:xfrm>
          <a:prstGeom prst="ellipse">
            <a:avLst/>
          </a:prstGeom>
          <a:solidFill>
            <a:srgbClr val="1F252D"/>
          </a:solidFill>
          <a:ln/>
        </p:spPr>
        <p:txBody>
          <a:bodyPr/>
          <a:lstStyle/>
          <a:p>
            <a:endParaRPr lang="en-SE"/>
          </a:p>
        </p:txBody>
      </p:sp>
      <p:sp>
        <p:nvSpPr>
          <p:cNvPr id="21" name="empty">
            <a:extLst>
              <a:ext uri="{C183D7F6-B498-43B3-948B-1728B52AA6E4}">
                <adec:decorative xmlns:adec="http://schemas.microsoft.com/office/drawing/2017/decorative" val="1"/>
              </a:ext>
            </a:extLst>
          </p:cNvPr>
          <p:cNvSpPr/>
          <p:nvPr/>
        </p:nvSpPr>
        <p:spPr>
          <a:xfrm>
            <a:off x="8092440" y="3172968"/>
            <a:ext cx="512064" cy="512064"/>
          </a:xfrm>
          <a:prstGeom prst="ellipse">
            <a:avLst/>
          </a:prstGeom>
          <a:ln w="25400">
            <a:solidFill>
              <a:srgbClr val="737D8A"/>
            </a:solidFill>
            <a:prstDash val="solid"/>
          </a:ln>
        </p:spPr>
        <p:txBody>
          <a:bodyPr/>
          <a:lstStyle/>
          <a:p>
            <a:endParaRPr lang="en-SE"/>
          </a:p>
        </p:txBody>
      </p:sp>
      <p:sp>
        <p:nvSpPr>
          <p:cNvPr id="22" name="Text 20"/>
          <p:cNvSpPr/>
          <p:nvPr/>
        </p:nvSpPr>
        <p:spPr>
          <a:xfrm>
            <a:off x="6473952" y="3931920"/>
            <a:ext cx="4846320" cy="822960"/>
          </a:xfrm>
          <a:prstGeom prst="rect">
            <a:avLst/>
          </a:prstGeom>
          <a:noFill/>
          <a:ln/>
        </p:spPr>
        <p:txBody>
          <a:bodyPr wrap="square" lIns="0" tIns="0" rIns="0" bIns="0" rtlCol="0" anchor="ctr"/>
          <a:lstStyle/>
          <a:p>
            <a:pPr marL="0" indent="0">
              <a:lnSpc>
                <a:spcPct val="115000"/>
              </a:lnSpc>
              <a:buNone/>
            </a:pPr>
            <a:r>
              <a:rPr lang="en-US" sz="1350" dirty="0">
                <a:solidFill>
                  <a:srgbClr val="E7EBF0"/>
                </a:solidFill>
                <a:latin typeface="Calibri" pitchFamily="34" charset="0"/>
                <a:ea typeface="Calibri" pitchFamily="34" charset="-122"/>
                <a:cs typeface="Calibri" pitchFamily="34" charset="-120"/>
              </a:rPr>
              <a:t>If the platform can't fill both at once, it fills neither. You are never left half-exposed.</a:t>
            </a:r>
            <a:endParaRPr lang="en-US" sz="1350" dirty="0"/>
          </a:p>
        </p:txBody>
      </p:sp>
      <p:sp>
        <p:nvSpPr>
          <p:cNvPr id="23"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4"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5" name="Text 23"/>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Atomic execution = both legs or neither. This single guarantee removes leg risk entirely.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Anatomy of a Two-Legged Combo">
    <p:spTree>
      <p:nvGrpSpPr>
        <p:cNvPr id="1" name=""/>
        <p:cNvGrpSpPr/>
        <p:nvPr/>
      </p:nvGrpSpPr>
      <p:grpSpPr>
        <a:xfrm>
          <a:off x="0" y="0"/>
          <a:ext cx="0" cy="0"/>
          <a:chOff x="0" y="0"/>
          <a:chExt cx="0" cy="0"/>
        </a:xfrm>
      </p:grpSpPr>
      <p:sp>
        <p:nvSpPr>
          <p:cNvPr id="2" name="Text 0"/>
          <p:cNvSpPr/>
          <p:nvPr/>
        </p:nvSpPr>
        <p:spPr>
          <a:xfrm>
            <a:off x="777240" y="502920"/>
            <a:ext cx="5486400" cy="2377440"/>
          </a:xfrm>
          <a:prstGeom prst="rect">
            <a:avLst/>
          </a:prstGeom>
          <a:noFill/>
          <a:ln/>
        </p:spPr>
        <p:txBody>
          <a:bodyPr wrap="square" lIns="0" tIns="0" rIns="0" bIns="0" rtlCol="0" anchor="ctr"/>
          <a:lstStyle/>
          <a:p>
            <a:pPr marL="0" indent="0">
              <a:buNone/>
            </a:pPr>
            <a:r>
              <a:rPr lang="en-US" sz="15000" b="1" dirty="0">
                <a:solidFill>
                  <a:srgbClr val="262E38"/>
                </a:solidFill>
                <a:latin typeface="Trebuchet MS" pitchFamily="34" charset="0"/>
                <a:ea typeface="Trebuchet MS" pitchFamily="34" charset="-122"/>
                <a:cs typeface="Trebuchet MS" pitchFamily="34" charset="-120"/>
              </a:rPr>
              <a:t>02</a:t>
            </a:r>
            <a:endParaRPr lang="en-US" sz="15000" dirty="0"/>
          </a:p>
        </p:txBody>
      </p:sp>
      <p:sp>
        <p:nvSpPr>
          <p:cNvPr id="3" name="accent">
            <a:extLst>
              <a:ext uri="{C183D7F6-B498-43B3-948B-1728B52AA6E4}">
                <adec:decorative xmlns:adec="http://schemas.microsoft.com/office/drawing/2017/decorative" val="1"/>
              </a:ext>
            </a:extLst>
          </p:cNvPr>
          <p:cNvSpPr/>
          <p:nvPr/>
        </p:nvSpPr>
        <p:spPr>
          <a:xfrm>
            <a:off x="1325880" y="3072384"/>
            <a:ext cx="457200" cy="100584"/>
          </a:xfrm>
          <a:prstGeom prst="rect">
            <a:avLst/>
          </a:prstGeom>
          <a:solidFill>
            <a:srgbClr val="34D399"/>
          </a:solidFill>
          <a:ln/>
        </p:spPr>
        <p:txBody>
          <a:bodyPr/>
          <a:lstStyle/>
          <a:p>
            <a:endParaRPr lang="en-SE"/>
          </a:p>
        </p:txBody>
      </p:sp>
      <p:sp>
        <p:nvSpPr>
          <p:cNvPr id="4" name="Text 2"/>
          <p:cNvSpPr/>
          <p:nvPr/>
        </p:nvSpPr>
        <p:spPr>
          <a:xfrm>
            <a:off x="1325880" y="2697480"/>
            <a:ext cx="7315200" cy="320040"/>
          </a:xfrm>
          <a:prstGeom prst="rect">
            <a:avLst/>
          </a:prstGeom>
          <a:noFill/>
          <a:ln/>
        </p:spPr>
        <p:txBody>
          <a:bodyPr wrap="square" lIns="0" tIns="0" rIns="0" bIns="0" rtlCol="0" anchor="ctr"/>
          <a:lstStyle/>
          <a:p>
            <a:pPr marL="0" indent="0">
              <a:buNone/>
            </a:pPr>
            <a:r>
              <a:rPr lang="en-US" sz="1300" b="1" kern="0" spc="400" dirty="0">
                <a:solidFill>
                  <a:srgbClr val="34D399"/>
                </a:solidFill>
                <a:latin typeface="Trebuchet MS" pitchFamily="34" charset="0"/>
                <a:ea typeface="Trebuchet MS" pitchFamily="34" charset="-122"/>
                <a:cs typeface="Trebuchet MS" pitchFamily="34" charset="-120"/>
              </a:rPr>
              <a:t>SECTION 02</a:t>
            </a:r>
            <a:endParaRPr lang="en-US" sz="1300" dirty="0"/>
          </a:p>
        </p:txBody>
      </p:sp>
      <p:sp>
        <p:nvSpPr>
          <p:cNvPr id="5" name="Text 0"/>
          <p:cNvSpPr>
            <a:spLocks noGrp="1"/>
          </p:cNvSpPr>
          <p:nvPr>
            <p:ph type="title" idx="100" hasCustomPrompt="1"/>
          </p:nvPr>
        </p:nvSpPr>
        <p:spPr>
          <a:xfrm>
            <a:off x="1280160" y="2926080"/>
            <a:ext cx="9601200" cy="1280160"/>
          </a:xfrm>
          <a:prstGeom prst="rect">
            <a:avLst/>
          </a:prstGeom>
          <a:noFill/>
          <a:ln/>
        </p:spPr>
        <p:txBody>
          <a:bodyPr wrap="square" lIns="0" tIns="0" rIns="0" bIns="0" rtlCol="0"/>
          <a:lstStyle/>
          <a:p>
            <a:pPr marL="0" indent="0">
              <a:buNone/>
            </a:pPr>
            <a:r>
              <a:rPr lang="en-US" sz="3300" b="1" dirty="0">
                <a:solidFill>
                  <a:srgbClr val="E7EBF0"/>
                </a:solidFill>
                <a:latin typeface="Trebuchet MS" pitchFamily="34" charset="0"/>
                <a:ea typeface="Trebuchet MS" pitchFamily="34" charset="-122"/>
                <a:cs typeface="Trebuchet MS" pitchFamily="34" charset="-120"/>
              </a:rPr>
              <a:t>Anatomy of a Two-Legged Combo</a:t>
            </a:r>
            <a:endParaRPr lang="en-US" sz="3300" dirty="0"/>
          </a:p>
        </p:txBody>
      </p:sp>
      <p:sp>
        <p:nvSpPr>
          <p:cNvPr id="6" name="Text 4"/>
          <p:cNvSpPr/>
          <p:nvPr/>
        </p:nvSpPr>
        <p:spPr>
          <a:xfrm>
            <a:off x="1325880" y="4160520"/>
            <a:ext cx="9326880" cy="8229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One order, two legs, a single price. We start with two legs because it is the simplest place to see the whole machine working.</a:t>
            </a:r>
            <a:endParaRPr lang="en-US" sz="1500" dirty="0"/>
          </a:p>
        </p:txBody>
      </p:sp>
      <p:sp>
        <p:nvSpPr>
          <p:cNvPr id="7" name="mark">
            <a:extLst>
              <a:ext uri="{C183D7F6-B498-43B3-948B-1728B52AA6E4}">
                <adec:decorative xmlns:adec="http://schemas.microsoft.com/office/drawing/2017/decorative" val="1"/>
              </a:ext>
            </a:extLst>
          </p:cNvPr>
          <p:cNvSpPr/>
          <p:nvPr/>
        </p:nvSpPr>
        <p:spPr>
          <a:xfrm>
            <a:off x="1325880" y="6126480"/>
            <a:ext cx="128016" cy="128016"/>
          </a:xfrm>
          <a:prstGeom prst="rect">
            <a:avLst/>
          </a:prstGeom>
          <a:solidFill>
            <a:srgbClr val="34D399"/>
          </a:solidFill>
          <a:ln/>
        </p:spPr>
        <p:txBody>
          <a:bodyPr/>
          <a:lstStyle/>
          <a:p>
            <a:endParaRPr lang="en-SE"/>
          </a:p>
        </p:txBody>
      </p:sp>
      <p:sp>
        <p:nvSpPr>
          <p:cNvPr id="8" name="Text 6"/>
          <p:cNvSpPr/>
          <p:nvPr/>
        </p:nvSpPr>
        <p:spPr>
          <a:xfrm>
            <a:off x="1527048" y="6080760"/>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A combo order is one instrument made of legs">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A combo order is one instrument made of legs</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02 · THE COMBO</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20</a:t>
            </a:r>
            <a:endParaRPr lang="en-US" sz="1000" dirty="0"/>
          </a:p>
        </p:txBody>
      </p:sp>
      <p:sp>
        <p:nvSpPr>
          <p:cNvPr id="7" name="Text 5"/>
          <p:cNvSpPr/>
          <p:nvPr/>
        </p:nvSpPr>
        <p:spPr>
          <a:xfrm>
            <a:off x="640080" y="1371600"/>
            <a:ext cx="10881360" cy="64008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Instead of two order tickets, you place a single order for a purpose-built instrument: the spread. It bundles the legs and the platform quotes it as one price.</a:t>
            </a:r>
            <a:endParaRPr lang="en-US" sz="1500" dirty="0"/>
          </a:p>
        </p:txBody>
      </p:sp>
      <p:sp>
        <p:nvSpPr>
          <p:cNvPr id="8" name="panel">
            <a:extLst>
              <a:ext uri="{C183D7F6-B498-43B3-948B-1728B52AA6E4}">
                <adec:decorative xmlns:adec="http://schemas.microsoft.com/office/drawing/2017/decorative" val="1"/>
              </a:ext>
            </a:extLst>
          </p:cNvPr>
          <p:cNvSpPr/>
          <p:nvPr/>
        </p:nvSpPr>
        <p:spPr>
          <a:xfrm>
            <a:off x="2743200" y="2286000"/>
            <a:ext cx="6702552" cy="2834640"/>
          </a:xfrm>
          <a:prstGeom prst="roundRect">
            <a:avLst>
              <a:gd name="adj" fmla="val 2903"/>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2971800" y="2450592"/>
            <a:ext cx="6217920" cy="292608"/>
          </a:xfrm>
          <a:prstGeom prst="rect">
            <a:avLst/>
          </a:prstGeom>
          <a:noFill/>
          <a:ln/>
        </p:spPr>
        <p:txBody>
          <a:bodyPr wrap="square" lIns="0" tIns="0" rIns="0" bIns="0" rtlCol="0" anchor="ctr"/>
          <a:lstStyle/>
          <a:p>
            <a:pPr marL="0" indent="0">
              <a:buNone/>
            </a:pPr>
            <a:r>
              <a:rPr lang="en-US" sz="1200" b="1" kern="0" spc="100" dirty="0">
                <a:solidFill>
                  <a:srgbClr val="34D399"/>
                </a:solidFill>
                <a:latin typeface="Trebuchet MS" pitchFamily="34" charset="0"/>
                <a:ea typeface="Trebuchet MS" pitchFamily="34" charset="-122"/>
                <a:cs typeface="Trebuchet MS" pitchFamily="34" charset="-120"/>
              </a:rPr>
              <a:t>THE SPREAD  ·  one tradable instrument</a:t>
            </a:r>
            <a:endParaRPr lang="en-US" sz="1200" dirty="0"/>
          </a:p>
        </p:txBody>
      </p:sp>
      <p:sp>
        <p:nvSpPr>
          <p:cNvPr id="10" name="panel">
            <a:extLst>
              <a:ext uri="{C183D7F6-B498-43B3-948B-1728B52AA6E4}">
                <adec:decorative xmlns:adec="http://schemas.microsoft.com/office/drawing/2017/decorative" val="1"/>
              </a:ext>
            </a:extLst>
          </p:cNvPr>
          <p:cNvSpPr/>
          <p:nvPr/>
        </p:nvSpPr>
        <p:spPr>
          <a:xfrm>
            <a:off x="3017520" y="2880360"/>
            <a:ext cx="6126480" cy="960120"/>
          </a:xfrm>
          <a:prstGeom prst="roundRect">
            <a:avLst>
              <a:gd name="adj" fmla="val 8571"/>
            </a:avLst>
          </a:prstGeom>
          <a:solidFill>
            <a:srgbClr val="1F252D"/>
          </a:solidFill>
          <a:ln w="19050">
            <a:solidFill>
              <a:srgbClr val="34D399"/>
            </a:solidFill>
            <a:prstDash val="solid"/>
          </a:ln>
        </p:spPr>
        <p:txBody>
          <a:bodyPr/>
          <a:lstStyle/>
          <a:p>
            <a:endParaRPr lang="en-SE"/>
          </a:p>
        </p:txBody>
      </p:sp>
      <p:sp>
        <p:nvSpPr>
          <p:cNvPr id="11" name="side tag">
            <a:extLst>
              <a:ext uri="{C183D7F6-B498-43B3-948B-1728B52AA6E4}">
                <adec:decorative xmlns:adec="http://schemas.microsoft.com/office/drawing/2017/decorative" val="1"/>
              </a:ext>
            </a:extLst>
          </p:cNvPr>
          <p:cNvSpPr/>
          <p:nvPr/>
        </p:nvSpPr>
        <p:spPr>
          <a:xfrm>
            <a:off x="3218688" y="3081528"/>
            <a:ext cx="1051560" cy="384048"/>
          </a:xfrm>
          <a:prstGeom prst="roundRect">
            <a:avLst>
              <a:gd name="adj" fmla="val 14286"/>
            </a:avLst>
          </a:prstGeom>
          <a:solidFill>
            <a:srgbClr val="34D399"/>
          </a:solidFill>
          <a:ln/>
        </p:spPr>
        <p:txBody>
          <a:bodyPr/>
          <a:lstStyle/>
          <a:p>
            <a:endParaRPr lang="en-SE"/>
          </a:p>
        </p:txBody>
      </p:sp>
      <p:sp>
        <p:nvSpPr>
          <p:cNvPr id="12" name="Text 10"/>
          <p:cNvSpPr/>
          <p:nvPr/>
        </p:nvSpPr>
        <p:spPr>
          <a:xfrm>
            <a:off x="3218688" y="3081528"/>
            <a:ext cx="1051560" cy="384048"/>
          </a:xfrm>
          <a:prstGeom prst="rect">
            <a:avLst/>
          </a:prstGeom>
          <a:noFill/>
          <a:ln/>
        </p:spPr>
        <p:txBody>
          <a:bodyPr wrap="square" lIns="0" tIns="0" rIns="0" bIns="0" rtlCol="0" anchor="ctr"/>
          <a:lstStyle/>
          <a:p>
            <a:pPr marL="0" indent="0" algn="ctr">
              <a:buNone/>
            </a:pPr>
            <a:r>
              <a:rPr lang="en-US" sz="1200" b="1" kern="0" spc="100" dirty="0">
                <a:solidFill>
                  <a:srgbClr val="14171C"/>
                </a:solidFill>
                <a:latin typeface="Trebuchet MS" pitchFamily="34" charset="0"/>
                <a:ea typeface="Trebuchet MS" pitchFamily="34" charset="-122"/>
                <a:cs typeface="Trebuchet MS" pitchFamily="34" charset="-120"/>
              </a:rPr>
              <a:t>LEG 1</a:t>
            </a:r>
            <a:endParaRPr lang="en-US" sz="1200" dirty="0"/>
          </a:p>
        </p:txBody>
      </p:sp>
      <p:sp>
        <p:nvSpPr>
          <p:cNvPr id="13" name="Text 11"/>
          <p:cNvSpPr/>
          <p:nvPr/>
        </p:nvSpPr>
        <p:spPr>
          <a:xfrm>
            <a:off x="4389120" y="3063240"/>
            <a:ext cx="4572000" cy="420624"/>
          </a:xfrm>
          <a:prstGeom prst="rect">
            <a:avLst/>
          </a:prstGeom>
          <a:noFill/>
          <a:ln/>
        </p:spPr>
        <p:txBody>
          <a:bodyPr wrap="square" lIns="0" tIns="0" rIns="0" bIns="0" rtlCol="0" anchor="ctr"/>
          <a:lstStyle/>
          <a:p>
            <a:pPr marL="0" indent="0">
              <a:buNone/>
            </a:pPr>
            <a:r>
              <a:rPr lang="en-US" sz="1500" b="1" dirty="0">
                <a:solidFill>
                  <a:srgbClr val="E7EBF0"/>
                </a:solidFill>
                <a:latin typeface="Trebuchet MS" pitchFamily="34" charset="0"/>
                <a:ea typeface="Trebuchet MS" pitchFamily="34" charset="-122"/>
                <a:cs typeface="Trebuchet MS" pitchFamily="34" charset="-120"/>
              </a:rPr>
              <a:t>Buy March Crude</a:t>
            </a:r>
            <a:endParaRPr lang="en-US" sz="1500" dirty="0"/>
          </a:p>
        </p:txBody>
      </p:sp>
      <p:sp>
        <p:nvSpPr>
          <p:cNvPr id="14" name="Text 12"/>
          <p:cNvSpPr/>
          <p:nvPr/>
        </p:nvSpPr>
        <p:spPr>
          <a:xfrm>
            <a:off x="3236976" y="3593592"/>
            <a:ext cx="5760720" cy="457200"/>
          </a:xfrm>
          <a:prstGeom prst="rect">
            <a:avLst/>
          </a:prstGeom>
          <a:noFill/>
          <a:ln/>
        </p:spPr>
        <p:txBody>
          <a:bodyPr wrap="square" lIns="0" tIns="0" rIns="0" bIns="0" rtlCol="0" anchor="ctr"/>
          <a:lstStyle/>
          <a:p>
            <a:pPr marL="0" indent="0">
              <a:buNone/>
            </a:pPr>
            <a:r>
              <a:rPr lang="en-US" sz="1200" dirty="0">
                <a:solidFill>
                  <a:srgbClr val="AAB2BD"/>
                </a:solidFill>
                <a:latin typeface="Calibri" pitchFamily="34" charset="0"/>
                <a:ea typeface="Calibri" pitchFamily="34" charset="-122"/>
                <a:cs typeface="Calibri" pitchFamily="34" charset="-120"/>
              </a:rPr>
              <a:t>the near leg  </a:t>
            </a:r>
            <a:r>
              <a:rPr lang="en-US" sz="2000" b="1" dirty="0">
                <a:solidFill>
                  <a:srgbClr val="34D399"/>
                </a:solidFill>
                <a:latin typeface="Consolas" pitchFamily="34" charset="0"/>
                <a:ea typeface="Consolas" pitchFamily="34" charset="-122"/>
                <a:cs typeface="Consolas" pitchFamily="34" charset="-120"/>
              </a:rPr>
              <a:t>+1</a:t>
            </a:r>
            <a:endParaRPr lang="en-US" sz="1200" dirty="0"/>
          </a:p>
        </p:txBody>
      </p:sp>
      <p:sp>
        <p:nvSpPr>
          <p:cNvPr id="15" name="panel">
            <a:extLst>
              <a:ext uri="{C183D7F6-B498-43B3-948B-1728B52AA6E4}">
                <adec:decorative xmlns:adec="http://schemas.microsoft.com/office/drawing/2017/decorative" val="1"/>
              </a:ext>
            </a:extLst>
          </p:cNvPr>
          <p:cNvSpPr/>
          <p:nvPr/>
        </p:nvSpPr>
        <p:spPr>
          <a:xfrm>
            <a:off x="3017520" y="3977640"/>
            <a:ext cx="6126480" cy="960120"/>
          </a:xfrm>
          <a:prstGeom prst="roundRect">
            <a:avLst>
              <a:gd name="adj" fmla="val 8571"/>
            </a:avLst>
          </a:prstGeom>
          <a:solidFill>
            <a:srgbClr val="1F252D"/>
          </a:solidFill>
          <a:ln w="19050">
            <a:solidFill>
              <a:srgbClr val="6EA8E6"/>
            </a:solidFill>
            <a:prstDash val="solid"/>
          </a:ln>
        </p:spPr>
        <p:txBody>
          <a:bodyPr/>
          <a:lstStyle/>
          <a:p>
            <a:endParaRPr lang="en-SE"/>
          </a:p>
        </p:txBody>
      </p:sp>
      <p:sp>
        <p:nvSpPr>
          <p:cNvPr id="16" name="side tag">
            <a:extLst>
              <a:ext uri="{C183D7F6-B498-43B3-948B-1728B52AA6E4}">
                <adec:decorative xmlns:adec="http://schemas.microsoft.com/office/drawing/2017/decorative" val="1"/>
              </a:ext>
            </a:extLst>
          </p:cNvPr>
          <p:cNvSpPr/>
          <p:nvPr/>
        </p:nvSpPr>
        <p:spPr>
          <a:xfrm>
            <a:off x="3218688" y="4178808"/>
            <a:ext cx="1051560" cy="384048"/>
          </a:xfrm>
          <a:prstGeom prst="roundRect">
            <a:avLst>
              <a:gd name="adj" fmla="val 14286"/>
            </a:avLst>
          </a:prstGeom>
          <a:solidFill>
            <a:srgbClr val="6EA8E6"/>
          </a:solidFill>
          <a:ln/>
        </p:spPr>
        <p:txBody>
          <a:bodyPr/>
          <a:lstStyle/>
          <a:p>
            <a:endParaRPr lang="en-SE"/>
          </a:p>
        </p:txBody>
      </p:sp>
      <p:sp>
        <p:nvSpPr>
          <p:cNvPr id="17" name="Text 15"/>
          <p:cNvSpPr/>
          <p:nvPr/>
        </p:nvSpPr>
        <p:spPr>
          <a:xfrm>
            <a:off x="3218688" y="4178808"/>
            <a:ext cx="1051560" cy="384048"/>
          </a:xfrm>
          <a:prstGeom prst="rect">
            <a:avLst/>
          </a:prstGeom>
          <a:noFill/>
          <a:ln/>
        </p:spPr>
        <p:txBody>
          <a:bodyPr wrap="square" lIns="0" tIns="0" rIns="0" bIns="0" rtlCol="0" anchor="ctr"/>
          <a:lstStyle/>
          <a:p>
            <a:pPr marL="0" indent="0" algn="ctr">
              <a:buNone/>
            </a:pPr>
            <a:r>
              <a:rPr lang="en-US" sz="1200" b="1" kern="0" spc="100" dirty="0">
                <a:solidFill>
                  <a:srgbClr val="14171C"/>
                </a:solidFill>
                <a:latin typeface="Trebuchet MS" pitchFamily="34" charset="0"/>
                <a:ea typeface="Trebuchet MS" pitchFamily="34" charset="-122"/>
                <a:cs typeface="Trebuchet MS" pitchFamily="34" charset="-120"/>
              </a:rPr>
              <a:t>LEG 2</a:t>
            </a:r>
            <a:endParaRPr lang="en-US" sz="1200" dirty="0"/>
          </a:p>
        </p:txBody>
      </p:sp>
      <p:sp>
        <p:nvSpPr>
          <p:cNvPr id="18" name="Text 16"/>
          <p:cNvSpPr/>
          <p:nvPr/>
        </p:nvSpPr>
        <p:spPr>
          <a:xfrm>
            <a:off x="4389120" y="4160520"/>
            <a:ext cx="4572000" cy="420624"/>
          </a:xfrm>
          <a:prstGeom prst="rect">
            <a:avLst/>
          </a:prstGeom>
          <a:noFill/>
          <a:ln/>
        </p:spPr>
        <p:txBody>
          <a:bodyPr wrap="square" lIns="0" tIns="0" rIns="0" bIns="0" rtlCol="0" anchor="ctr"/>
          <a:lstStyle/>
          <a:p>
            <a:pPr marL="0" indent="0">
              <a:buNone/>
            </a:pPr>
            <a:r>
              <a:rPr lang="en-US" sz="1500" b="1" dirty="0">
                <a:solidFill>
                  <a:srgbClr val="E7EBF0"/>
                </a:solidFill>
                <a:latin typeface="Trebuchet MS" pitchFamily="34" charset="0"/>
                <a:ea typeface="Trebuchet MS" pitchFamily="34" charset="-122"/>
                <a:cs typeface="Trebuchet MS" pitchFamily="34" charset="-120"/>
              </a:rPr>
              <a:t>Sell June Crude</a:t>
            </a:r>
            <a:endParaRPr lang="en-US" sz="1500" dirty="0"/>
          </a:p>
        </p:txBody>
      </p:sp>
      <p:sp>
        <p:nvSpPr>
          <p:cNvPr id="19" name="Text 17"/>
          <p:cNvSpPr/>
          <p:nvPr/>
        </p:nvSpPr>
        <p:spPr>
          <a:xfrm>
            <a:off x="3236976" y="4690872"/>
            <a:ext cx="5760720" cy="457200"/>
          </a:xfrm>
          <a:prstGeom prst="rect">
            <a:avLst/>
          </a:prstGeom>
          <a:noFill/>
          <a:ln/>
        </p:spPr>
        <p:txBody>
          <a:bodyPr wrap="square" lIns="0" tIns="0" rIns="0" bIns="0" rtlCol="0" anchor="ctr"/>
          <a:lstStyle/>
          <a:p>
            <a:pPr marL="0" indent="0">
              <a:buNone/>
            </a:pPr>
            <a:r>
              <a:rPr lang="en-US" sz="1200" dirty="0">
                <a:solidFill>
                  <a:srgbClr val="AAB2BD"/>
                </a:solidFill>
                <a:latin typeface="Calibri" pitchFamily="34" charset="0"/>
                <a:ea typeface="Calibri" pitchFamily="34" charset="-122"/>
                <a:cs typeface="Calibri" pitchFamily="34" charset="-120"/>
              </a:rPr>
              <a:t>the far leg  </a:t>
            </a:r>
            <a:r>
              <a:rPr lang="en-US" sz="2000" b="1" dirty="0">
                <a:solidFill>
                  <a:srgbClr val="6EA8E6"/>
                </a:solidFill>
                <a:latin typeface="Consolas" pitchFamily="34" charset="0"/>
                <a:ea typeface="Consolas" pitchFamily="34" charset="-122"/>
                <a:cs typeface="Consolas" pitchFamily="34" charset="-120"/>
              </a:rPr>
              <a:t>−1</a:t>
            </a:r>
            <a:endParaRPr lang="en-US" sz="1200" dirty="0"/>
          </a:p>
        </p:txBody>
      </p:sp>
      <p:sp>
        <p:nvSpPr>
          <p:cNvPr id="20" name="panel">
            <a:extLst>
              <a:ext uri="{C183D7F6-B498-43B3-948B-1728B52AA6E4}">
                <adec:decorative xmlns:adec="http://schemas.microsoft.com/office/drawing/2017/decorative" val="1"/>
              </a:ext>
            </a:extLst>
          </p:cNvPr>
          <p:cNvSpPr/>
          <p:nvPr/>
        </p:nvSpPr>
        <p:spPr>
          <a:xfrm>
            <a:off x="640080" y="3200400"/>
            <a:ext cx="1737360" cy="1280160"/>
          </a:xfrm>
          <a:prstGeom prst="roundRect">
            <a:avLst>
              <a:gd name="adj" fmla="val 6429"/>
            </a:avLst>
          </a:prstGeom>
          <a:solidFill>
            <a:srgbClr val="1F252D"/>
          </a:solidFill>
          <a:ln w="12700">
            <a:solidFill>
              <a:srgbClr val="343E4A"/>
            </a:solidFill>
            <a:prstDash val="solid"/>
          </a:ln>
        </p:spPr>
        <p:txBody>
          <a:bodyPr/>
          <a:lstStyle/>
          <a:p>
            <a:endParaRPr lang="en-SE"/>
          </a:p>
        </p:txBody>
      </p:sp>
      <p:sp>
        <p:nvSpPr>
          <p:cNvPr id="21" name="Text 19"/>
          <p:cNvSpPr/>
          <p:nvPr/>
        </p:nvSpPr>
        <p:spPr>
          <a:xfrm>
            <a:off x="640080" y="3200400"/>
            <a:ext cx="1737360" cy="1280160"/>
          </a:xfrm>
          <a:prstGeom prst="rect">
            <a:avLst/>
          </a:prstGeom>
          <a:noFill/>
          <a:ln/>
        </p:spPr>
        <p:txBody>
          <a:bodyPr wrap="square" lIns="0" tIns="0" rIns="0" bIns="0" rtlCol="0" anchor="ctr"/>
          <a:lstStyle/>
          <a:p>
            <a:pPr marL="0" indent="0" algn="ctr">
              <a:buNone/>
            </a:pPr>
            <a:r>
              <a:rPr lang="en-US" sz="1600" b="1" dirty="0">
                <a:solidFill>
                  <a:srgbClr val="E7EBF0"/>
                </a:solidFill>
                <a:latin typeface="Trebuchet MS" pitchFamily="34" charset="0"/>
                <a:ea typeface="Trebuchet MS" pitchFamily="34" charset="-122"/>
                <a:cs typeface="Trebuchet MS" pitchFamily="34" charset="-120"/>
              </a:rPr>
              <a:t>ONE</a:t>
            </a:r>
            <a:endParaRPr lang="en-US" sz="1600" dirty="0"/>
          </a:p>
          <a:p>
            <a:pPr marL="0" indent="0" algn="ctr">
              <a:buNone/>
            </a:pPr>
            <a:r>
              <a:rPr lang="en-US" sz="1600" b="1" dirty="0">
                <a:solidFill>
                  <a:srgbClr val="E7EBF0"/>
                </a:solidFill>
                <a:latin typeface="Trebuchet MS" pitchFamily="34" charset="0"/>
                <a:ea typeface="Trebuchet MS" pitchFamily="34" charset="-122"/>
                <a:cs typeface="Trebuchet MS" pitchFamily="34" charset="-120"/>
              </a:rPr>
              <a:t>ORDER</a:t>
            </a:r>
            <a:endParaRPr lang="en-US" sz="1600" dirty="0"/>
          </a:p>
        </p:txBody>
      </p:sp>
      <p:sp>
        <p:nvSpPr>
          <p:cNvPr id="22" name="flow arrow">
            <a:extLst>
              <a:ext uri="{C183D7F6-B498-43B3-948B-1728B52AA6E4}">
                <adec:decorative xmlns:adec="http://schemas.microsoft.com/office/drawing/2017/decorative" val="1"/>
              </a:ext>
            </a:extLst>
          </p:cNvPr>
          <p:cNvSpPr/>
          <p:nvPr/>
        </p:nvSpPr>
        <p:spPr>
          <a:xfrm>
            <a:off x="2423160" y="3675888"/>
            <a:ext cx="274320" cy="329184"/>
          </a:xfrm>
          <a:prstGeom prst="rightArrow">
            <a:avLst/>
          </a:prstGeom>
          <a:solidFill>
            <a:srgbClr val="10B981"/>
          </a:solidFill>
          <a:ln/>
        </p:spPr>
        <p:txBody>
          <a:bodyPr/>
          <a:lstStyle/>
          <a:p>
            <a:endParaRPr lang="en-SE"/>
          </a:p>
        </p:txBody>
      </p:sp>
      <p:sp>
        <p:nvSpPr>
          <p:cNvPr id="23"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4"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5" name="Text 23"/>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You trade the spread as if it were a single product. The legs come along automatically and atomically.</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Our example: the Crude March–June sprea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Our example: the Crude March–June spread</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02 · THE COMBO</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21</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A calendar spread pairs two delivery months of the same commodity. Same oil, same contract size — only the delivery date differs.</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94560"/>
            <a:ext cx="5303520" cy="2788920"/>
          </a:xfrm>
          <a:prstGeom prst="roundRect">
            <a:avLst>
              <a:gd name="adj" fmla="val 2951"/>
            </a:avLst>
          </a:prstGeom>
          <a:solidFill>
            <a:srgbClr val="1F252D"/>
          </a:solidFill>
          <a:ln w="12700">
            <a:solidFill>
              <a:srgbClr val="0B5C43"/>
            </a:solidFill>
            <a:prstDash val="solid"/>
          </a:ln>
        </p:spPr>
        <p:txBody>
          <a:bodyPr/>
          <a:lstStyle/>
          <a:p>
            <a:endParaRPr lang="en-SE"/>
          </a:p>
        </p:txBody>
      </p:sp>
      <p:sp>
        <p:nvSpPr>
          <p:cNvPr id="9" name="Text 7"/>
          <p:cNvSpPr/>
          <p:nvPr/>
        </p:nvSpPr>
        <p:spPr>
          <a:xfrm>
            <a:off x="868680" y="2395728"/>
            <a:ext cx="4846320" cy="274320"/>
          </a:xfrm>
          <a:prstGeom prst="rect">
            <a:avLst/>
          </a:prstGeom>
          <a:noFill/>
          <a:ln/>
        </p:spPr>
        <p:txBody>
          <a:bodyPr wrap="square" lIns="0" tIns="0" rIns="0" bIns="0" rtlCol="0" anchor="ctr"/>
          <a:lstStyle/>
          <a:p>
            <a:pPr marL="0" indent="0">
              <a:buNone/>
            </a:pPr>
            <a:r>
              <a:rPr lang="en-US" sz="1100" b="1" kern="0" spc="200" dirty="0">
                <a:solidFill>
                  <a:srgbClr val="34D399"/>
                </a:solidFill>
                <a:latin typeface="Trebuchet MS" pitchFamily="34" charset="0"/>
                <a:ea typeface="Trebuchet MS" pitchFamily="34" charset="-122"/>
                <a:cs typeface="Trebuchet MS" pitchFamily="34" charset="-120"/>
              </a:rPr>
              <a:t>NEAR LEG</a:t>
            </a:r>
            <a:endParaRPr lang="en-US" sz="1100" dirty="0"/>
          </a:p>
        </p:txBody>
      </p:sp>
      <p:sp>
        <p:nvSpPr>
          <p:cNvPr id="10" name="Text 8"/>
          <p:cNvSpPr/>
          <p:nvPr/>
        </p:nvSpPr>
        <p:spPr>
          <a:xfrm>
            <a:off x="868680" y="2670048"/>
            <a:ext cx="4846320" cy="502920"/>
          </a:xfrm>
          <a:prstGeom prst="rect">
            <a:avLst/>
          </a:prstGeom>
          <a:noFill/>
          <a:ln/>
        </p:spPr>
        <p:txBody>
          <a:bodyPr wrap="square" lIns="0" tIns="0" rIns="0" bIns="0" rtlCol="0" anchor="ctr"/>
          <a:lstStyle/>
          <a:p>
            <a:pPr marL="0" indent="0">
              <a:buNone/>
            </a:pPr>
            <a:r>
              <a:rPr lang="en-US" sz="2400" b="1" dirty="0">
                <a:solidFill>
                  <a:srgbClr val="E7EBF0"/>
                </a:solidFill>
                <a:latin typeface="Trebuchet MS" pitchFamily="34" charset="0"/>
                <a:ea typeface="Trebuchet MS" pitchFamily="34" charset="-122"/>
                <a:cs typeface="Trebuchet MS" pitchFamily="34" charset="-120"/>
              </a:rPr>
              <a:t>March Crude</a:t>
            </a:r>
            <a:endParaRPr lang="en-US" sz="2400" dirty="0"/>
          </a:p>
        </p:txBody>
      </p:sp>
      <p:sp>
        <p:nvSpPr>
          <p:cNvPr id="11" name="Text 9"/>
          <p:cNvSpPr/>
          <p:nvPr/>
        </p:nvSpPr>
        <p:spPr>
          <a:xfrm>
            <a:off x="868680" y="3200400"/>
            <a:ext cx="4846320" cy="32004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Delivers first — the “front” month</a:t>
            </a:r>
            <a:endParaRPr lang="en-US" sz="1300" dirty="0"/>
          </a:p>
        </p:txBody>
      </p:sp>
      <p:sp>
        <p:nvSpPr>
          <p:cNvPr id="12" name="Text 10"/>
          <p:cNvSpPr/>
          <p:nvPr/>
        </p:nvSpPr>
        <p:spPr>
          <a:xfrm>
            <a:off x="1097280" y="3657600"/>
            <a:ext cx="4572000" cy="320040"/>
          </a:xfrm>
          <a:prstGeom prst="rect">
            <a:avLst/>
          </a:prstGeom>
          <a:noFill/>
          <a:ln/>
        </p:spPr>
        <p:txBody>
          <a:bodyPr wrap="square" lIns="0" tIns="0" rIns="0" bIns="0" rtlCol="0" anchor="ctr"/>
          <a:lstStyle/>
          <a:p>
            <a:pPr marL="152400" indent="-152400">
              <a:buSzPct val="100000"/>
              <a:buChar char="•"/>
            </a:pPr>
            <a:r>
              <a:rPr lang="en-US" sz="1300" dirty="0">
                <a:solidFill>
                  <a:srgbClr val="E7EBF0"/>
                </a:solidFill>
                <a:latin typeface="Calibri" pitchFamily="34" charset="0"/>
                <a:ea typeface="Calibri" pitchFamily="34" charset="-122"/>
                <a:cs typeface="Calibri" pitchFamily="34" charset="-120"/>
              </a:rPr>
              <a:t>Same underlying: WTI Crude</a:t>
            </a:r>
            <a:endParaRPr lang="en-US" sz="1300" dirty="0"/>
          </a:p>
        </p:txBody>
      </p:sp>
      <p:sp>
        <p:nvSpPr>
          <p:cNvPr id="13" name="Text 11"/>
          <p:cNvSpPr/>
          <p:nvPr/>
        </p:nvSpPr>
        <p:spPr>
          <a:xfrm>
            <a:off x="1097280" y="4041648"/>
            <a:ext cx="4572000" cy="320040"/>
          </a:xfrm>
          <a:prstGeom prst="rect">
            <a:avLst/>
          </a:prstGeom>
          <a:noFill/>
          <a:ln/>
        </p:spPr>
        <p:txBody>
          <a:bodyPr wrap="square" lIns="0" tIns="0" rIns="0" bIns="0" rtlCol="0" anchor="ctr"/>
          <a:lstStyle/>
          <a:p>
            <a:pPr marL="152400" indent="-152400">
              <a:buSzPct val="100000"/>
              <a:buChar char="•"/>
            </a:pPr>
            <a:r>
              <a:rPr lang="en-US" sz="1300" dirty="0">
                <a:solidFill>
                  <a:srgbClr val="E7EBF0"/>
                </a:solidFill>
                <a:latin typeface="Calibri" pitchFamily="34" charset="0"/>
                <a:ea typeface="Calibri" pitchFamily="34" charset="-122"/>
                <a:cs typeface="Calibri" pitchFamily="34" charset="-120"/>
              </a:rPr>
              <a:t>Same size: 1,000 barrels</a:t>
            </a:r>
            <a:endParaRPr lang="en-US" sz="1300" dirty="0"/>
          </a:p>
        </p:txBody>
      </p:sp>
      <p:sp>
        <p:nvSpPr>
          <p:cNvPr id="14" name="Text 12"/>
          <p:cNvSpPr/>
          <p:nvPr/>
        </p:nvSpPr>
        <p:spPr>
          <a:xfrm>
            <a:off x="1097280" y="4425696"/>
            <a:ext cx="4572000" cy="320040"/>
          </a:xfrm>
          <a:prstGeom prst="rect">
            <a:avLst/>
          </a:prstGeom>
          <a:noFill/>
          <a:ln/>
        </p:spPr>
        <p:txBody>
          <a:bodyPr wrap="square" lIns="0" tIns="0" rIns="0" bIns="0" rtlCol="0" anchor="ctr"/>
          <a:lstStyle/>
          <a:p>
            <a:pPr marL="152400" indent="-152400">
              <a:buSzPct val="100000"/>
              <a:buChar char="•"/>
            </a:pPr>
            <a:r>
              <a:rPr lang="en-US" sz="1300" dirty="0">
                <a:solidFill>
                  <a:srgbClr val="E7EBF0"/>
                </a:solidFill>
                <a:latin typeface="Calibri" pitchFamily="34" charset="0"/>
                <a:ea typeface="Calibri" pitchFamily="34" charset="-122"/>
                <a:cs typeface="Calibri" pitchFamily="34" charset="-120"/>
              </a:rPr>
              <a:t>Earlier delivery date</a:t>
            </a:r>
            <a:endParaRPr lang="en-US" sz="1300" dirty="0"/>
          </a:p>
        </p:txBody>
      </p:sp>
      <p:sp>
        <p:nvSpPr>
          <p:cNvPr id="15" name="panel">
            <a:extLst>
              <a:ext uri="{C183D7F6-B498-43B3-948B-1728B52AA6E4}">
                <adec:decorative xmlns:adec="http://schemas.microsoft.com/office/drawing/2017/decorative" val="1"/>
              </a:ext>
            </a:extLst>
          </p:cNvPr>
          <p:cNvSpPr/>
          <p:nvPr/>
        </p:nvSpPr>
        <p:spPr>
          <a:xfrm>
            <a:off x="6245352" y="2194560"/>
            <a:ext cx="5303520" cy="2788920"/>
          </a:xfrm>
          <a:prstGeom prst="roundRect">
            <a:avLst>
              <a:gd name="adj" fmla="val 2951"/>
            </a:avLst>
          </a:prstGeom>
          <a:solidFill>
            <a:srgbClr val="1F252D"/>
          </a:solidFill>
          <a:ln w="12700">
            <a:solidFill>
              <a:srgbClr val="343E4A"/>
            </a:solidFill>
            <a:prstDash val="solid"/>
          </a:ln>
        </p:spPr>
        <p:txBody>
          <a:bodyPr/>
          <a:lstStyle/>
          <a:p>
            <a:endParaRPr lang="en-SE"/>
          </a:p>
        </p:txBody>
      </p:sp>
      <p:sp>
        <p:nvSpPr>
          <p:cNvPr id="16" name="Text 14"/>
          <p:cNvSpPr/>
          <p:nvPr/>
        </p:nvSpPr>
        <p:spPr>
          <a:xfrm>
            <a:off x="6473952" y="2395728"/>
            <a:ext cx="4846320" cy="274320"/>
          </a:xfrm>
          <a:prstGeom prst="rect">
            <a:avLst/>
          </a:prstGeom>
          <a:noFill/>
          <a:ln/>
        </p:spPr>
        <p:txBody>
          <a:bodyPr wrap="square" lIns="0" tIns="0" rIns="0" bIns="0" rtlCol="0" anchor="ctr"/>
          <a:lstStyle/>
          <a:p>
            <a:pPr marL="0" indent="0">
              <a:buNone/>
            </a:pPr>
            <a:r>
              <a:rPr lang="en-US" sz="1100" b="1" kern="0" spc="200" dirty="0">
                <a:solidFill>
                  <a:srgbClr val="6EA8E6"/>
                </a:solidFill>
                <a:latin typeface="Trebuchet MS" pitchFamily="34" charset="0"/>
                <a:ea typeface="Trebuchet MS" pitchFamily="34" charset="-122"/>
                <a:cs typeface="Trebuchet MS" pitchFamily="34" charset="-120"/>
              </a:rPr>
              <a:t>FAR LEG</a:t>
            </a:r>
            <a:endParaRPr lang="en-US" sz="1100" dirty="0"/>
          </a:p>
        </p:txBody>
      </p:sp>
      <p:sp>
        <p:nvSpPr>
          <p:cNvPr id="17" name="Text 15"/>
          <p:cNvSpPr/>
          <p:nvPr/>
        </p:nvSpPr>
        <p:spPr>
          <a:xfrm>
            <a:off x="6473952" y="2670048"/>
            <a:ext cx="4846320" cy="502920"/>
          </a:xfrm>
          <a:prstGeom prst="rect">
            <a:avLst/>
          </a:prstGeom>
          <a:noFill/>
          <a:ln/>
        </p:spPr>
        <p:txBody>
          <a:bodyPr wrap="square" lIns="0" tIns="0" rIns="0" bIns="0" rtlCol="0" anchor="ctr"/>
          <a:lstStyle/>
          <a:p>
            <a:pPr marL="0" indent="0">
              <a:buNone/>
            </a:pPr>
            <a:r>
              <a:rPr lang="en-US" sz="2400" b="1" dirty="0">
                <a:solidFill>
                  <a:srgbClr val="E7EBF0"/>
                </a:solidFill>
                <a:latin typeface="Trebuchet MS" pitchFamily="34" charset="0"/>
                <a:ea typeface="Trebuchet MS" pitchFamily="34" charset="-122"/>
                <a:cs typeface="Trebuchet MS" pitchFamily="34" charset="-120"/>
              </a:rPr>
              <a:t>June Crude</a:t>
            </a:r>
            <a:endParaRPr lang="en-US" sz="2400" dirty="0"/>
          </a:p>
        </p:txBody>
      </p:sp>
      <p:sp>
        <p:nvSpPr>
          <p:cNvPr id="18" name="Text 16"/>
          <p:cNvSpPr/>
          <p:nvPr/>
        </p:nvSpPr>
        <p:spPr>
          <a:xfrm>
            <a:off x="6473952" y="3200400"/>
            <a:ext cx="4846320" cy="32004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Delivers later — the “back” month</a:t>
            </a:r>
            <a:endParaRPr lang="en-US" sz="1300" dirty="0"/>
          </a:p>
        </p:txBody>
      </p:sp>
      <p:sp>
        <p:nvSpPr>
          <p:cNvPr id="19" name="Text 17"/>
          <p:cNvSpPr/>
          <p:nvPr/>
        </p:nvSpPr>
        <p:spPr>
          <a:xfrm>
            <a:off x="6702552" y="3657600"/>
            <a:ext cx="4572000" cy="320040"/>
          </a:xfrm>
          <a:prstGeom prst="rect">
            <a:avLst/>
          </a:prstGeom>
          <a:noFill/>
          <a:ln/>
        </p:spPr>
        <p:txBody>
          <a:bodyPr wrap="square" lIns="0" tIns="0" rIns="0" bIns="0" rtlCol="0" anchor="ctr"/>
          <a:lstStyle/>
          <a:p>
            <a:pPr marL="152400" indent="-152400">
              <a:buSzPct val="100000"/>
              <a:buChar char="•"/>
            </a:pPr>
            <a:r>
              <a:rPr lang="en-US" sz="1300" dirty="0">
                <a:solidFill>
                  <a:srgbClr val="E7EBF0"/>
                </a:solidFill>
                <a:latin typeface="Calibri" pitchFamily="34" charset="0"/>
                <a:ea typeface="Calibri" pitchFamily="34" charset="-122"/>
                <a:cs typeface="Calibri" pitchFamily="34" charset="-120"/>
              </a:rPr>
              <a:t>Same underlying: WTI Crude</a:t>
            </a:r>
            <a:endParaRPr lang="en-US" sz="1300" dirty="0"/>
          </a:p>
        </p:txBody>
      </p:sp>
      <p:sp>
        <p:nvSpPr>
          <p:cNvPr id="20" name="Text 18"/>
          <p:cNvSpPr/>
          <p:nvPr/>
        </p:nvSpPr>
        <p:spPr>
          <a:xfrm>
            <a:off x="6702552" y="4041648"/>
            <a:ext cx="4572000" cy="320040"/>
          </a:xfrm>
          <a:prstGeom prst="rect">
            <a:avLst/>
          </a:prstGeom>
          <a:noFill/>
          <a:ln/>
        </p:spPr>
        <p:txBody>
          <a:bodyPr wrap="square" lIns="0" tIns="0" rIns="0" bIns="0" rtlCol="0" anchor="ctr"/>
          <a:lstStyle/>
          <a:p>
            <a:pPr marL="152400" indent="-152400">
              <a:buSzPct val="100000"/>
              <a:buChar char="•"/>
            </a:pPr>
            <a:r>
              <a:rPr lang="en-US" sz="1300" dirty="0">
                <a:solidFill>
                  <a:srgbClr val="E7EBF0"/>
                </a:solidFill>
                <a:latin typeface="Calibri" pitchFamily="34" charset="0"/>
                <a:ea typeface="Calibri" pitchFamily="34" charset="-122"/>
                <a:cs typeface="Calibri" pitchFamily="34" charset="-120"/>
              </a:rPr>
              <a:t>Same size: 1,000 barrels</a:t>
            </a:r>
            <a:endParaRPr lang="en-US" sz="1300" dirty="0"/>
          </a:p>
        </p:txBody>
      </p:sp>
      <p:sp>
        <p:nvSpPr>
          <p:cNvPr id="21" name="Text 19"/>
          <p:cNvSpPr/>
          <p:nvPr/>
        </p:nvSpPr>
        <p:spPr>
          <a:xfrm>
            <a:off x="6702552" y="4425696"/>
            <a:ext cx="4572000" cy="320040"/>
          </a:xfrm>
          <a:prstGeom prst="rect">
            <a:avLst/>
          </a:prstGeom>
          <a:noFill/>
          <a:ln/>
        </p:spPr>
        <p:txBody>
          <a:bodyPr wrap="square" lIns="0" tIns="0" rIns="0" bIns="0" rtlCol="0" anchor="ctr"/>
          <a:lstStyle/>
          <a:p>
            <a:pPr marL="152400" indent="-152400">
              <a:buSzPct val="100000"/>
              <a:buChar char="•"/>
            </a:pPr>
            <a:r>
              <a:rPr lang="en-US" sz="1300" dirty="0">
                <a:solidFill>
                  <a:srgbClr val="E7EBF0"/>
                </a:solidFill>
                <a:latin typeface="Calibri" pitchFamily="34" charset="0"/>
                <a:ea typeface="Calibri" pitchFamily="34" charset="-122"/>
                <a:cs typeface="Calibri" pitchFamily="34" charset="-120"/>
              </a:rPr>
              <a:t>Three months later</a:t>
            </a:r>
            <a:endParaRPr lang="en-US" sz="1300" dirty="0"/>
          </a:p>
        </p:txBody>
      </p:sp>
      <p:sp>
        <p:nvSpPr>
          <p:cNvPr id="22"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3"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4" name="Text 22"/>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“Crude Mar–Jun” just means these two months, traded as one spread. That's the whole vocabulary.</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Convention: “buy the spread” = buy the near le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Convention: “buy the spread” = buy the near leg</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02 · THE COMBO</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22</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This trips up everyone at first, so memorise it once: buying a calendar spread means buying the near month and selling the far month.</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94560"/>
            <a:ext cx="10908792" cy="1417320"/>
          </a:xfrm>
          <a:prstGeom prst="roundRect">
            <a:avLst>
              <a:gd name="adj" fmla="val 5806"/>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914400" y="2395728"/>
            <a:ext cx="3840480" cy="1005840"/>
          </a:xfrm>
          <a:prstGeom prst="rect">
            <a:avLst/>
          </a:prstGeom>
          <a:noFill/>
          <a:ln/>
        </p:spPr>
        <p:txBody>
          <a:bodyPr wrap="square" lIns="0" tIns="0" rIns="0" bIns="0" rtlCol="0" anchor="ctr"/>
          <a:lstStyle/>
          <a:p>
            <a:pPr marL="0" indent="0">
              <a:buNone/>
            </a:pPr>
            <a:r>
              <a:rPr lang="en-US" sz="1900" b="1" dirty="0">
                <a:solidFill>
                  <a:srgbClr val="34D399"/>
                </a:solidFill>
                <a:latin typeface="Trebuchet MS" pitchFamily="34" charset="0"/>
                <a:ea typeface="Trebuchet MS" pitchFamily="34" charset="-122"/>
                <a:cs typeface="Trebuchet MS" pitchFamily="34" charset="-120"/>
              </a:rPr>
              <a:t>BUY the Mar–Jun spread</a:t>
            </a:r>
            <a:endParaRPr lang="en-US" sz="1900" dirty="0"/>
          </a:p>
        </p:txBody>
      </p:sp>
      <p:sp>
        <p:nvSpPr>
          <p:cNvPr id="10" name="means">
            <a:extLst>
              <a:ext uri="{C183D7F6-B498-43B3-948B-1728B52AA6E4}">
                <adec:decorative xmlns:adec="http://schemas.microsoft.com/office/drawing/2017/decorative" val="1"/>
              </a:ext>
            </a:extLst>
          </p:cNvPr>
          <p:cNvSpPr/>
          <p:nvPr/>
        </p:nvSpPr>
        <p:spPr>
          <a:xfrm>
            <a:off x="4480560" y="2743200"/>
            <a:ext cx="640080" cy="310896"/>
          </a:xfrm>
          <a:prstGeom prst="rightArrow">
            <a:avLst/>
          </a:prstGeom>
          <a:solidFill>
            <a:srgbClr val="10B981"/>
          </a:solidFill>
          <a:ln/>
        </p:spPr>
        <p:txBody>
          <a:bodyPr/>
          <a:lstStyle/>
          <a:p>
            <a:endParaRPr lang="en-SE"/>
          </a:p>
        </p:txBody>
      </p:sp>
      <p:sp>
        <p:nvSpPr>
          <p:cNvPr id="11" name="chip">
            <a:extLst>
              <a:ext uri="{C183D7F6-B498-43B3-948B-1728B52AA6E4}">
                <adec:decorative xmlns:adec="http://schemas.microsoft.com/office/drawing/2017/decorative" val="1"/>
              </a:ext>
            </a:extLst>
          </p:cNvPr>
          <p:cNvSpPr/>
          <p:nvPr/>
        </p:nvSpPr>
        <p:spPr>
          <a:xfrm>
            <a:off x="5349240" y="2514600"/>
            <a:ext cx="2834640" cy="777240"/>
          </a:xfrm>
          <a:prstGeom prst="roundRect">
            <a:avLst>
              <a:gd name="adj" fmla="val 8235"/>
            </a:avLst>
          </a:prstGeom>
          <a:solidFill>
            <a:srgbClr val="1F252D"/>
          </a:solidFill>
          <a:ln/>
        </p:spPr>
        <p:txBody>
          <a:bodyPr/>
          <a:lstStyle/>
          <a:p>
            <a:endParaRPr lang="en-SE"/>
          </a:p>
        </p:txBody>
      </p:sp>
      <p:sp>
        <p:nvSpPr>
          <p:cNvPr id="12" name="Text 10"/>
          <p:cNvSpPr/>
          <p:nvPr/>
        </p:nvSpPr>
        <p:spPr>
          <a:xfrm>
            <a:off x="5349240" y="2514600"/>
            <a:ext cx="2834640" cy="777240"/>
          </a:xfrm>
          <a:prstGeom prst="rect">
            <a:avLst/>
          </a:prstGeom>
          <a:noFill/>
          <a:ln/>
        </p:spPr>
        <p:txBody>
          <a:bodyPr wrap="square" lIns="762" tIns="762" rIns="762" bIns="762" rtlCol="0" anchor="ctr"/>
          <a:lstStyle/>
          <a:p>
            <a:pPr marL="0" indent="0" algn="ctr">
              <a:buNone/>
            </a:pPr>
            <a:r>
              <a:rPr lang="en-US" sz="1500" b="1" dirty="0">
                <a:solidFill>
                  <a:srgbClr val="34D399"/>
                </a:solidFill>
                <a:latin typeface="Calibri" pitchFamily="34" charset="0"/>
                <a:ea typeface="Calibri" pitchFamily="34" charset="-122"/>
                <a:cs typeface="Calibri" pitchFamily="34" charset="-120"/>
              </a:rPr>
              <a:t>BUY  +1 March</a:t>
            </a:r>
            <a:endParaRPr lang="en-US" sz="1500" dirty="0"/>
          </a:p>
        </p:txBody>
      </p:sp>
      <p:sp>
        <p:nvSpPr>
          <p:cNvPr id="13" name="Text 11"/>
          <p:cNvSpPr/>
          <p:nvPr/>
        </p:nvSpPr>
        <p:spPr>
          <a:xfrm>
            <a:off x="8229600" y="2514600"/>
            <a:ext cx="640080" cy="777240"/>
          </a:xfrm>
          <a:prstGeom prst="rect">
            <a:avLst/>
          </a:prstGeom>
          <a:noFill/>
          <a:ln/>
        </p:spPr>
        <p:txBody>
          <a:bodyPr wrap="square" lIns="0" tIns="0" rIns="0" bIns="0" rtlCol="0" anchor="ctr"/>
          <a:lstStyle/>
          <a:p>
            <a:pPr marL="0" indent="0" algn="ctr">
              <a:buNone/>
            </a:pPr>
            <a:r>
              <a:rPr lang="en-US" sz="1300" dirty="0">
                <a:solidFill>
                  <a:srgbClr val="AAB2BD"/>
                </a:solidFill>
                <a:latin typeface="Calibri" pitchFamily="34" charset="0"/>
                <a:ea typeface="Calibri" pitchFamily="34" charset="-122"/>
                <a:cs typeface="Calibri" pitchFamily="34" charset="-120"/>
              </a:rPr>
              <a:t>and</a:t>
            </a:r>
            <a:endParaRPr lang="en-US" sz="1300" dirty="0"/>
          </a:p>
        </p:txBody>
      </p:sp>
      <p:sp>
        <p:nvSpPr>
          <p:cNvPr id="14" name="chip">
            <a:extLst>
              <a:ext uri="{C183D7F6-B498-43B3-948B-1728B52AA6E4}">
                <adec:decorative xmlns:adec="http://schemas.microsoft.com/office/drawing/2017/decorative" val="1"/>
              </a:ext>
            </a:extLst>
          </p:cNvPr>
          <p:cNvSpPr/>
          <p:nvPr/>
        </p:nvSpPr>
        <p:spPr>
          <a:xfrm>
            <a:off x="8778240" y="2514600"/>
            <a:ext cx="2743200" cy="777240"/>
          </a:xfrm>
          <a:prstGeom prst="roundRect">
            <a:avLst>
              <a:gd name="adj" fmla="val 8235"/>
            </a:avLst>
          </a:prstGeom>
          <a:solidFill>
            <a:srgbClr val="1F252D"/>
          </a:solidFill>
          <a:ln/>
        </p:spPr>
        <p:txBody>
          <a:bodyPr/>
          <a:lstStyle/>
          <a:p>
            <a:endParaRPr lang="en-SE"/>
          </a:p>
        </p:txBody>
      </p:sp>
      <p:sp>
        <p:nvSpPr>
          <p:cNvPr id="15" name="Text 13"/>
          <p:cNvSpPr/>
          <p:nvPr/>
        </p:nvSpPr>
        <p:spPr>
          <a:xfrm>
            <a:off x="8778240" y="2514600"/>
            <a:ext cx="2743200" cy="777240"/>
          </a:xfrm>
          <a:prstGeom prst="rect">
            <a:avLst/>
          </a:prstGeom>
          <a:noFill/>
          <a:ln/>
        </p:spPr>
        <p:txBody>
          <a:bodyPr wrap="square" lIns="762" tIns="762" rIns="762" bIns="762" rtlCol="0" anchor="ctr"/>
          <a:lstStyle/>
          <a:p>
            <a:pPr marL="0" indent="0" algn="ctr">
              <a:buNone/>
            </a:pPr>
            <a:r>
              <a:rPr lang="en-US" sz="1500" b="1" dirty="0">
                <a:solidFill>
                  <a:srgbClr val="6EA8E6"/>
                </a:solidFill>
                <a:latin typeface="Calibri" pitchFamily="34" charset="0"/>
                <a:ea typeface="Calibri" pitchFamily="34" charset="-122"/>
                <a:cs typeface="Calibri" pitchFamily="34" charset="-120"/>
              </a:rPr>
              <a:t>SELL  −1 June</a:t>
            </a:r>
            <a:endParaRPr lang="en-US" sz="1500" dirty="0"/>
          </a:p>
        </p:txBody>
      </p:sp>
      <p:sp>
        <p:nvSpPr>
          <p:cNvPr id="16" name="panel">
            <a:extLst>
              <a:ext uri="{C183D7F6-B498-43B3-948B-1728B52AA6E4}">
                <adec:decorative xmlns:adec="http://schemas.microsoft.com/office/drawing/2017/decorative" val="1"/>
              </a:ext>
            </a:extLst>
          </p:cNvPr>
          <p:cNvSpPr/>
          <p:nvPr/>
        </p:nvSpPr>
        <p:spPr>
          <a:xfrm>
            <a:off x="640080" y="3794760"/>
            <a:ext cx="10908792" cy="1188720"/>
          </a:xfrm>
          <a:prstGeom prst="roundRect">
            <a:avLst>
              <a:gd name="adj" fmla="val 6923"/>
            </a:avLst>
          </a:prstGeom>
          <a:solidFill>
            <a:srgbClr val="1F252D"/>
          </a:solidFill>
          <a:ln w="12700">
            <a:solidFill>
              <a:srgbClr val="343E4A"/>
            </a:solidFill>
            <a:prstDash val="solid"/>
          </a:ln>
        </p:spPr>
        <p:txBody>
          <a:bodyPr/>
          <a:lstStyle/>
          <a:p>
            <a:endParaRPr lang="en-SE"/>
          </a:p>
        </p:txBody>
      </p:sp>
      <p:sp>
        <p:nvSpPr>
          <p:cNvPr id="17" name="Text 15"/>
          <p:cNvSpPr/>
          <p:nvPr/>
        </p:nvSpPr>
        <p:spPr>
          <a:xfrm>
            <a:off x="914400" y="3794760"/>
            <a:ext cx="3840480" cy="1188720"/>
          </a:xfrm>
          <a:prstGeom prst="rect">
            <a:avLst/>
          </a:prstGeom>
          <a:noFill/>
          <a:ln/>
        </p:spPr>
        <p:txBody>
          <a:bodyPr wrap="square" lIns="0" tIns="0" rIns="0" bIns="0" rtlCol="0" anchor="ctr"/>
          <a:lstStyle/>
          <a:p>
            <a:pPr marL="0" indent="0">
              <a:buNone/>
            </a:pPr>
            <a:r>
              <a:rPr lang="en-US" sz="1900" b="1" dirty="0">
                <a:solidFill>
                  <a:srgbClr val="6EA8E6"/>
                </a:solidFill>
                <a:latin typeface="Trebuchet MS" pitchFamily="34" charset="0"/>
                <a:ea typeface="Trebuchet MS" pitchFamily="34" charset="-122"/>
                <a:cs typeface="Trebuchet MS" pitchFamily="34" charset="-120"/>
              </a:rPr>
              <a:t>SELL the Mar–Jun spread</a:t>
            </a:r>
            <a:endParaRPr lang="en-US" sz="1900" dirty="0"/>
          </a:p>
        </p:txBody>
      </p:sp>
      <p:sp>
        <p:nvSpPr>
          <p:cNvPr id="18" name="means2">
            <a:extLst>
              <a:ext uri="{C183D7F6-B498-43B3-948B-1728B52AA6E4}">
                <adec:decorative xmlns:adec="http://schemas.microsoft.com/office/drawing/2017/decorative" val="1"/>
              </a:ext>
            </a:extLst>
          </p:cNvPr>
          <p:cNvSpPr/>
          <p:nvPr/>
        </p:nvSpPr>
        <p:spPr>
          <a:xfrm>
            <a:off x="4480560" y="4233672"/>
            <a:ext cx="640080" cy="310896"/>
          </a:xfrm>
          <a:prstGeom prst="rightArrow">
            <a:avLst/>
          </a:prstGeom>
          <a:solidFill>
            <a:srgbClr val="343E4A"/>
          </a:solidFill>
          <a:ln/>
        </p:spPr>
        <p:txBody>
          <a:bodyPr/>
          <a:lstStyle/>
          <a:p>
            <a:endParaRPr lang="en-SE"/>
          </a:p>
        </p:txBody>
      </p:sp>
      <p:sp>
        <p:nvSpPr>
          <p:cNvPr id="19" name="chip">
            <a:extLst>
              <a:ext uri="{C183D7F6-B498-43B3-948B-1728B52AA6E4}">
                <adec:decorative xmlns:adec="http://schemas.microsoft.com/office/drawing/2017/decorative" val="1"/>
              </a:ext>
            </a:extLst>
          </p:cNvPr>
          <p:cNvSpPr/>
          <p:nvPr/>
        </p:nvSpPr>
        <p:spPr>
          <a:xfrm>
            <a:off x="5349240" y="4023360"/>
            <a:ext cx="2834640" cy="731520"/>
          </a:xfrm>
          <a:prstGeom prst="roundRect">
            <a:avLst>
              <a:gd name="adj" fmla="val 8750"/>
            </a:avLst>
          </a:prstGeom>
          <a:solidFill>
            <a:srgbClr val="262E38"/>
          </a:solidFill>
          <a:ln/>
        </p:spPr>
        <p:txBody>
          <a:bodyPr/>
          <a:lstStyle/>
          <a:p>
            <a:endParaRPr lang="en-SE"/>
          </a:p>
        </p:txBody>
      </p:sp>
      <p:sp>
        <p:nvSpPr>
          <p:cNvPr id="20" name="Text 18"/>
          <p:cNvSpPr/>
          <p:nvPr/>
        </p:nvSpPr>
        <p:spPr>
          <a:xfrm>
            <a:off x="5349240" y="4023360"/>
            <a:ext cx="2834640" cy="731520"/>
          </a:xfrm>
          <a:prstGeom prst="rect">
            <a:avLst/>
          </a:prstGeom>
          <a:noFill/>
          <a:ln/>
        </p:spPr>
        <p:txBody>
          <a:bodyPr wrap="square" lIns="762" tIns="762" rIns="762" bIns="762" rtlCol="0" anchor="ctr"/>
          <a:lstStyle/>
          <a:p>
            <a:pPr marL="0" indent="0" algn="ctr">
              <a:buNone/>
            </a:pPr>
            <a:r>
              <a:rPr lang="en-US" sz="1500" b="1" dirty="0">
                <a:solidFill>
                  <a:srgbClr val="6EA8E6"/>
                </a:solidFill>
                <a:latin typeface="Calibri" pitchFamily="34" charset="0"/>
                <a:ea typeface="Calibri" pitchFamily="34" charset="-122"/>
                <a:cs typeface="Calibri" pitchFamily="34" charset="-120"/>
              </a:rPr>
              <a:t>SELL  −1 March</a:t>
            </a:r>
            <a:endParaRPr lang="en-US" sz="1500" dirty="0"/>
          </a:p>
        </p:txBody>
      </p:sp>
      <p:sp>
        <p:nvSpPr>
          <p:cNvPr id="21" name="Text 19"/>
          <p:cNvSpPr/>
          <p:nvPr/>
        </p:nvSpPr>
        <p:spPr>
          <a:xfrm>
            <a:off x="8229600" y="4023360"/>
            <a:ext cx="640080" cy="731520"/>
          </a:xfrm>
          <a:prstGeom prst="rect">
            <a:avLst/>
          </a:prstGeom>
          <a:noFill/>
          <a:ln/>
        </p:spPr>
        <p:txBody>
          <a:bodyPr wrap="square" lIns="0" tIns="0" rIns="0" bIns="0" rtlCol="0" anchor="ctr"/>
          <a:lstStyle/>
          <a:p>
            <a:pPr marL="0" indent="0" algn="ctr">
              <a:buNone/>
            </a:pPr>
            <a:r>
              <a:rPr lang="en-US" sz="1300" dirty="0">
                <a:solidFill>
                  <a:srgbClr val="AAB2BD"/>
                </a:solidFill>
                <a:latin typeface="Calibri" pitchFamily="34" charset="0"/>
                <a:ea typeface="Calibri" pitchFamily="34" charset="-122"/>
                <a:cs typeface="Calibri" pitchFamily="34" charset="-120"/>
              </a:rPr>
              <a:t>and</a:t>
            </a:r>
            <a:endParaRPr lang="en-US" sz="1300" dirty="0"/>
          </a:p>
        </p:txBody>
      </p:sp>
      <p:sp>
        <p:nvSpPr>
          <p:cNvPr id="22" name="chip">
            <a:extLst>
              <a:ext uri="{C183D7F6-B498-43B3-948B-1728B52AA6E4}">
                <adec:decorative xmlns:adec="http://schemas.microsoft.com/office/drawing/2017/decorative" val="1"/>
              </a:ext>
            </a:extLst>
          </p:cNvPr>
          <p:cNvSpPr/>
          <p:nvPr/>
        </p:nvSpPr>
        <p:spPr>
          <a:xfrm>
            <a:off x="8778240" y="4023360"/>
            <a:ext cx="2743200" cy="731520"/>
          </a:xfrm>
          <a:prstGeom prst="roundRect">
            <a:avLst>
              <a:gd name="adj" fmla="val 8750"/>
            </a:avLst>
          </a:prstGeom>
          <a:solidFill>
            <a:srgbClr val="262E38"/>
          </a:solidFill>
          <a:ln/>
        </p:spPr>
        <p:txBody>
          <a:bodyPr/>
          <a:lstStyle/>
          <a:p>
            <a:endParaRPr lang="en-SE"/>
          </a:p>
        </p:txBody>
      </p:sp>
      <p:sp>
        <p:nvSpPr>
          <p:cNvPr id="23" name="Text 21"/>
          <p:cNvSpPr/>
          <p:nvPr/>
        </p:nvSpPr>
        <p:spPr>
          <a:xfrm>
            <a:off x="8778240" y="4023360"/>
            <a:ext cx="2743200" cy="731520"/>
          </a:xfrm>
          <a:prstGeom prst="rect">
            <a:avLst/>
          </a:prstGeom>
          <a:noFill/>
          <a:ln/>
        </p:spPr>
        <p:txBody>
          <a:bodyPr wrap="square" lIns="762" tIns="762" rIns="762" bIns="762" rtlCol="0" anchor="ctr"/>
          <a:lstStyle/>
          <a:p>
            <a:pPr marL="0" indent="0" algn="ctr">
              <a:buNone/>
            </a:pPr>
            <a:r>
              <a:rPr lang="en-US" sz="1500" b="1" dirty="0">
                <a:solidFill>
                  <a:srgbClr val="34D399"/>
                </a:solidFill>
                <a:latin typeface="Calibri" pitchFamily="34" charset="0"/>
                <a:ea typeface="Calibri" pitchFamily="34" charset="-122"/>
                <a:cs typeface="Calibri" pitchFamily="34" charset="-120"/>
              </a:rPr>
              <a:t>BUY  +1 June</a:t>
            </a:r>
            <a:endParaRPr lang="en-US" sz="1500" dirty="0"/>
          </a:p>
        </p:txBody>
      </p:sp>
      <p:sp>
        <p:nvSpPr>
          <p:cNvPr id="24"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5"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6" name="Text 24"/>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Buy the spread = long the near, short the far. Selling it is the exact mirror.</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The spread's price = Near − Far">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spread's price = Near − Far</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02 · THE COMBO</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23</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The spread has its own single price, and it is defined simply as the near-month price minus the far-month price.</a:t>
            </a:r>
            <a:endParaRPr lang="en-US" sz="1500" dirty="0"/>
          </a:p>
        </p:txBody>
      </p:sp>
      <p:sp>
        <p:nvSpPr>
          <p:cNvPr id="8" name="panel">
            <a:extLst>
              <a:ext uri="{C183D7F6-B498-43B3-948B-1728B52AA6E4}">
                <adec:decorative xmlns:adec="http://schemas.microsoft.com/office/drawing/2017/decorative" val="1"/>
              </a:ext>
            </a:extLst>
          </p:cNvPr>
          <p:cNvSpPr/>
          <p:nvPr/>
        </p:nvSpPr>
        <p:spPr>
          <a:xfrm>
            <a:off x="1554480" y="2331720"/>
            <a:ext cx="9079992" cy="1600200"/>
          </a:xfrm>
          <a:prstGeom prst="roundRect">
            <a:avLst>
              <a:gd name="adj" fmla="val 5143"/>
            </a:avLst>
          </a:prstGeom>
          <a:solidFill>
            <a:srgbClr val="262E38"/>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1554480" y="2331720"/>
            <a:ext cx="9079992" cy="1600200"/>
          </a:xfrm>
          <a:prstGeom prst="rect">
            <a:avLst/>
          </a:prstGeom>
          <a:noFill/>
          <a:ln/>
        </p:spPr>
        <p:txBody>
          <a:bodyPr wrap="square" lIns="0" tIns="0" rIns="0" bIns="0" rtlCol="0" anchor="ctr"/>
          <a:lstStyle/>
          <a:p>
            <a:pPr marL="0" indent="0" algn="ctr">
              <a:buNone/>
            </a:pPr>
            <a:r>
              <a:rPr lang="en-US" sz="3000" b="1" dirty="0">
                <a:solidFill>
                  <a:srgbClr val="34D399"/>
                </a:solidFill>
                <a:latin typeface="Consolas" pitchFamily="34" charset="0"/>
                <a:ea typeface="Consolas" pitchFamily="34" charset="-122"/>
                <a:cs typeface="Consolas" pitchFamily="34" charset="-120"/>
              </a:rPr>
              <a:t>Spread</a:t>
            </a:r>
            <a:r>
              <a:rPr lang="en-US" sz="3000" dirty="0">
                <a:solidFill>
                  <a:srgbClr val="AAB2BD"/>
                </a:solidFill>
                <a:latin typeface="Consolas" pitchFamily="34" charset="0"/>
                <a:ea typeface="Consolas" pitchFamily="34" charset="-122"/>
                <a:cs typeface="Consolas" pitchFamily="34" charset="-120"/>
              </a:rPr>
              <a:t>  =  </a:t>
            </a:r>
            <a:r>
              <a:rPr lang="en-US" sz="3000" b="1" dirty="0">
                <a:solidFill>
                  <a:srgbClr val="E7EBF0"/>
                </a:solidFill>
                <a:latin typeface="Consolas" pitchFamily="34" charset="0"/>
                <a:ea typeface="Consolas" pitchFamily="34" charset="-122"/>
                <a:cs typeface="Consolas" pitchFamily="34" charset="-120"/>
              </a:rPr>
              <a:t>Price</a:t>
            </a:r>
            <a:r>
              <a:rPr lang="en-US" sz="1600" dirty="0">
                <a:solidFill>
                  <a:srgbClr val="34D399"/>
                </a:solidFill>
                <a:latin typeface="Consolas" pitchFamily="34" charset="0"/>
                <a:ea typeface="Consolas" pitchFamily="34" charset="-122"/>
                <a:cs typeface="Consolas" pitchFamily="34" charset="-120"/>
              </a:rPr>
              <a:t>March</a:t>
            </a:r>
            <a:r>
              <a:rPr lang="en-US" sz="3000" dirty="0">
                <a:solidFill>
                  <a:srgbClr val="AAB2BD"/>
                </a:solidFill>
                <a:latin typeface="Consolas" pitchFamily="34" charset="0"/>
                <a:ea typeface="Consolas" pitchFamily="34" charset="-122"/>
                <a:cs typeface="Consolas" pitchFamily="34" charset="-120"/>
              </a:rPr>
              <a:t>  −  </a:t>
            </a:r>
            <a:r>
              <a:rPr lang="en-US" sz="3000" b="1" dirty="0">
                <a:solidFill>
                  <a:srgbClr val="E7EBF0"/>
                </a:solidFill>
                <a:latin typeface="Consolas" pitchFamily="34" charset="0"/>
                <a:ea typeface="Consolas" pitchFamily="34" charset="-122"/>
                <a:cs typeface="Consolas" pitchFamily="34" charset="-120"/>
              </a:rPr>
              <a:t>Price</a:t>
            </a:r>
            <a:r>
              <a:rPr lang="en-US" sz="1600" dirty="0">
                <a:solidFill>
                  <a:srgbClr val="6EA8E6"/>
                </a:solidFill>
                <a:latin typeface="Consolas" pitchFamily="34" charset="0"/>
                <a:ea typeface="Consolas" pitchFamily="34" charset="-122"/>
                <a:cs typeface="Consolas" pitchFamily="34" charset="-120"/>
              </a:rPr>
              <a:t>June</a:t>
            </a:r>
            <a:endParaRPr lang="en-US" sz="3000" dirty="0"/>
          </a:p>
        </p:txBody>
      </p:sp>
      <p:sp>
        <p:nvSpPr>
          <p:cNvPr id="10" name="panel">
            <a:extLst>
              <a:ext uri="{C183D7F6-B498-43B3-948B-1728B52AA6E4}">
                <adec:decorative xmlns:adec="http://schemas.microsoft.com/office/drawing/2017/decorative" val="1"/>
              </a:ext>
            </a:extLst>
          </p:cNvPr>
          <p:cNvSpPr/>
          <p:nvPr/>
        </p:nvSpPr>
        <p:spPr>
          <a:xfrm>
            <a:off x="1554480" y="4206240"/>
            <a:ext cx="4434840" cy="1371600"/>
          </a:xfrm>
          <a:prstGeom prst="roundRect">
            <a:avLst>
              <a:gd name="adj" fmla="val 6000"/>
            </a:avLst>
          </a:prstGeom>
          <a:solidFill>
            <a:srgbClr val="1F252D"/>
          </a:solidFill>
          <a:ln w="12700">
            <a:solidFill>
              <a:srgbClr val="343E4A"/>
            </a:solidFill>
            <a:prstDash val="solid"/>
          </a:ln>
        </p:spPr>
        <p:txBody>
          <a:bodyPr/>
          <a:lstStyle/>
          <a:p>
            <a:endParaRPr lang="en-SE"/>
          </a:p>
        </p:txBody>
      </p:sp>
      <p:sp>
        <p:nvSpPr>
          <p:cNvPr id="11" name="Text 9"/>
          <p:cNvSpPr/>
          <p:nvPr/>
        </p:nvSpPr>
        <p:spPr>
          <a:xfrm>
            <a:off x="1783080" y="4370832"/>
            <a:ext cx="4023360" cy="320040"/>
          </a:xfrm>
          <a:prstGeom prst="rect">
            <a:avLst/>
          </a:prstGeom>
          <a:noFill/>
          <a:ln/>
        </p:spPr>
        <p:txBody>
          <a:bodyPr wrap="square" lIns="0" tIns="0" rIns="0" bIns="0" rtlCol="0" anchor="ctr"/>
          <a:lstStyle/>
          <a:p>
            <a:pPr marL="0" indent="0">
              <a:buNone/>
            </a:pPr>
            <a:r>
              <a:rPr lang="en-US" sz="1300" b="1" dirty="0">
                <a:solidFill>
                  <a:srgbClr val="E7EBF0"/>
                </a:solidFill>
                <a:latin typeface="Trebuchet MS" pitchFamily="34" charset="0"/>
                <a:ea typeface="Trebuchet MS" pitchFamily="34" charset="-122"/>
                <a:cs typeface="Trebuchet MS" pitchFamily="34" charset="-120"/>
              </a:rPr>
              <a:t>When Near &gt; Far</a:t>
            </a:r>
            <a:endParaRPr lang="en-US" sz="1300" dirty="0"/>
          </a:p>
        </p:txBody>
      </p:sp>
      <p:sp>
        <p:nvSpPr>
          <p:cNvPr id="12" name="Text 10"/>
          <p:cNvSpPr/>
          <p:nvPr/>
        </p:nvSpPr>
        <p:spPr>
          <a:xfrm>
            <a:off x="1783080" y="4736592"/>
            <a:ext cx="4023360" cy="365760"/>
          </a:xfrm>
          <a:prstGeom prst="rect">
            <a:avLst/>
          </a:prstGeom>
          <a:noFill/>
          <a:ln/>
        </p:spPr>
        <p:txBody>
          <a:bodyPr wrap="square" lIns="0" tIns="0" rIns="0" bIns="0" rtlCol="0" anchor="ctr"/>
          <a:lstStyle/>
          <a:p>
            <a:pPr marL="0" indent="0">
              <a:buNone/>
            </a:pPr>
            <a:r>
              <a:rPr lang="en-US" sz="1400" dirty="0">
                <a:solidFill>
                  <a:srgbClr val="AAB2BD"/>
                </a:solidFill>
                <a:latin typeface="Calibri" pitchFamily="34" charset="0"/>
                <a:ea typeface="Calibri" pitchFamily="34" charset="-122"/>
                <a:cs typeface="Calibri" pitchFamily="34" charset="-120"/>
              </a:rPr>
              <a:t>Spread is </a:t>
            </a:r>
            <a:r>
              <a:rPr lang="en-US" sz="1500" b="1" dirty="0">
                <a:solidFill>
                  <a:srgbClr val="34D399"/>
                </a:solidFill>
                <a:latin typeface="Trebuchet MS" pitchFamily="34" charset="0"/>
                <a:ea typeface="Trebuchet MS" pitchFamily="34" charset="-122"/>
                <a:cs typeface="Trebuchet MS" pitchFamily="34" charset="-120"/>
              </a:rPr>
              <a:t>positive (+)</a:t>
            </a:r>
            <a:endParaRPr lang="en-US" sz="1400" dirty="0"/>
          </a:p>
        </p:txBody>
      </p:sp>
      <p:sp>
        <p:nvSpPr>
          <p:cNvPr id="13" name="Text 11"/>
          <p:cNvSpPr/>
          <p:nvPr/>
        </p:nvSpPr>
        <p:spPr>
          <a:xfrm>
            <a:off x="1783080" y="5102352"/>
            <a:ext cx="4023360" cy="320040"/>
          </a:xfrm>
          <a:prstGeom prst="rect">
            <a:avLst/>
          </a:prstGeom>
          <a:noFill/>
          <a:ln/>
        </p:spPr>
        <p:txBody>
          <a:bodyPr wrap="square" lIns="0" tIns="0" rIns="0" bIns="0" rtlCol="0" anchor="ctr"/>
          <a:lstStyle/>
          <a:p>
            <a:pPr marL="0" indent="0">
              <a:buNone/>
            </a:pPr>
            <a:r>
              <a:rPr lang="en-US" sz="1200" i="1" dirty="0">
                <a:solidFill>
                  <a:srgbClr val="737D8A"/>
                </a:solidFill>
                <a:latin typeface="Calibri" pitchFamily="34" charset="0"/>
                <a:ea typeface="Calibri" pitchFamily="34" charset="-122"/>
                <a:cs typeface="Calibri" pitchFamily="34" charset="-120"/>
              </a:rPr>
              <a:t>The market is in backwardation.</a:t>
            </a:r>
            <a:endParaRPr lang="en-US" sz="1200" dirty="0"/>
          </a:p>
        </p:txBody>
      </p:sp>
      <p:sp>
        <p:nvSpPr>
          <p:cNvPr id="14" name="panel">
            <a:extLst>
              <a:ext uri="{C183D7F6-B498-43B3-948B-1728B52AA6E4}">
                <adec:decorative xmlns:adec="http://schemas.microsoft.com/office/drawing/2017/decorative" val="1"/>
              </a:ext>
            </a:extLst>
          </p:cNvPr>
          <p:cNvSpPr/>
          <p:nvPr/>
        </p:nvSpPr>
        <p:spPr>
          <a:xfrm>
            <a:off x="6199632" y="4206240"/>
            <a:ext cx="4434840" cy="1371600"/>
          </a:xfrm>
          <a:prstGeom prst="roundRect">
            <a:avLst>
              <a:gd name="adj" fmla="val 6000"/>
            </a:avLst>
          </a:prstGeom>
          <a:solidFill>
            <a:srgbClr val="1F252D"/>
          </a:solidFill>
          <a:ln w="12700">
            <a:solidFill>
              <a:srgbClr val="343E4A"/>
            </a:solidFill>
            <a:prstDash val="solid"/>
          </a:ln>
        </p:spPr>
        <p:txBody>
          <a:bodyPr/>
          <a:lstStyle/>
          <a:p>
            <a:endParaRPr lang="en-SE"/>
          </a:p>
        </p:txBody>
      </p:sp>
      <p:sp>
        <p:nvSpPr>
          <p:cNvPr id="15" name="Text 13"/>
          <p:cNvSpPr/>
          <p:nvPr/>
        </p:nvSpPr>
        <p:spPr>
          <a:xfrm>
            <a:off x="6428232" y="4370832"/>
            <a:ext cx="4023360" cy="320040"/>
          </a:xfrm>
          <a:prstGeom prst="rect">
            <a:avLst/>
          </a:prstGeom>
          <a:noFill/>
          <a:ln/>
        </p:spPr>
        <p:txBody>
          <a:bodyPr wrap="square" lIns="0" tIns="0" rIns="0" bIns="0" rtlCol="0" anchor="ctr"/>
          <a:lstStyle/>
          <a:p>
            <a:pPr marL="0" indent="0">
              <a:buNone/>
            </a:pPr>
            <a:r>
              <a:rPr lang="en-US" sz="1300" b="1" dirty="0">
                <a:solidFill>
                  <a:srgbClr val="E7EBF0"/>
                </a:solidFill>
                <a:latin typeface="Trebuchet MS" pitchFamily="34" charset="0"/>
                <a:ea typeface="Trebuchet MS" pitchFamily="34" charset="-122"/>
                <a:cs typeface="Trebuchet MS" pitchFamily="34" charset="-120"/>
              </a:rPr>
              <a:t>When Near &lt; Far</a:t>
            </a:r>
            <a:endParaRPr lang="en-US" sz="1300" dirty="0"/>
          </a:p>
        </p:txBody>
      </p:sp>
      <p:sp>
        <p:nvSpPr>
          <p:cNvPr id="16" name="Text 14"/>
          <p:cNvSpPr/>
          <p:nvPr/>
        </p:nvSpPr>
        <p:spPr>
          <a:xfrm>
            <a:off x="6428232" y="4736592"/>
            <a:ext cx="4023360" cy="365760"/>
          </a:xfrm>
          <a:prstGeom prst="rect">
            <a:avLst/>
          </a:prstGeom>
          <a:noFill/>
          <a:ln/>
        </p:spPr>
        <p:txBody>
          <a:bodyPr wrap="square" lIns="0" tIns="0" rIns="0" bIns="0" rtlCol="0" anchor="ctr"/>
          <a:lstStyle/>
          <a:p>
            <a:pPr marL="0" indent="0">
              <a:buNone/>
            </a:pPr>
            <a:r>
              <a:rPr lang="en-US" sz="1400" dirty="0">
                <a:solidFill>
                  <a:srgbClr val="AAB2BD"/>
                </a:solidFill>
                <a:latin typeface="Calibri" pitchFamily="34" charset="0"/>
                <a:ea typeface="Calibri" pitchFamily="34" charset="-122"/>
                <a:cs typeface="Calibri" pitchFamily="34" charset="-120"/>
              </a:rPr>
              <a:t>Spread is </a:t>
            </a:r>
            <a:r>
              <a:rPr lang="en-US" sz="1500" b="1" dirty="0">
                <a:solidFill>
                  <a:srgbClr val="F5B759"/>
                </a:solidFill>
                <a:latin typeface="Trebuchet MS" pitchFamily="34" charset="0"/>
                <a:ea typeface="Trebuchet MS" pitchFamily="34" charset="-122"/>
                <a:cs typeface="Trebuchet MS" pitchFamily="34" charset="-120"/>
              </a:rPr>
              <a:t>negative (−)</a:t>
            </a:r>
            <a:endParaRPr lang="en-US" sz="1400" dirty="0"/>
          </a:p>
        </p:txBody>
      </p:sp>
      <p:sp>
        <p:nvSpPr>
          <p:cNvPr id="17" name="Text 15"/>
          <p:cNvSpPr/>
          <p:nvPr/>
        </p:nvSpPr>
        <p:spPr>
          <a:xfrm>
            <a:off x="6428232" y="5102352"/>
            <a:ext cx="4023360" cy="320040"/>
          </a:xfrm>
          <a:prstGeom prst="rect">
            <a:avLst/>
          </a:prstGeom>
          <a:noFill/>
          <a:ln/>
        </p:spPr>
        <p:txBody>
          <a:bodyPr wrap="square" lIns="0" tIns="0" rIns="0" bIns="0" rtlCol="0" anchor="ctr"/>
          <a:lstStyle/>
          <a:p>
            <a:pPr marL="0" indent="0">
              <a:buNone/>
            </a:pPr>
            <a:r>
              <a:rPr lang="en-US" sz="1200" i="1" dirty="0">
                <a:solidFill>
                  <a:srgbClr val="737D8A"/>
                </a:solidFill>
                <a:latin typeface="Calibri" pitchFamily="34" charset="0"/>
                <a:ea typeface="Calibri" pitchFamily="34" charset="-122"/>
                <a:cs typeface="Calibri" pitchFamily="34" charset="-120"/>
              </a:rPr>
              <a:t>The market is in contango — our case.</a:t>
            </a:r>
            <a:endParaRPr lang="en-US" sz="1200" dirty="0"/>
          </a:p>
        </p:txBody>
      </p:sp>
      <p:sp>
        <p:nvSpPr>
          <p:cNvPr id="18"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19"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0" name="Text 18"/>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One subtraction defines everything that follows. A negative result is normal, not an error.</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Worked example: quoting our sprea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Worked example: quoting our spread</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02 · THE COMBO</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24</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Plug in today's prices. March trades at $80.00, June at $80.50. The spread price falls straight out of the formula.</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48840"/>
            <a:ext cx="4572000" cy="1371600"/>
          </a:xfrm>
          <a:prstGeom prst="roundRect">
            <a:avLst>
              <a:gd name="adj" fmla="val 6000"/>
            </a:avLst>
          </a:prstGeom>
          <a:solidFill>
            <a:srgbClr val="1F252D"/>
          </a:solidFill>
          <a:ln w="19050">
            <a:solidFill>
              <a:srgbClr val="34D399"/>
            </a:solidFill>
            <a:prstDash val="solid"/>
          </a:ln>
        </p:spPr>
        <p:txBody>
          <a:bodyPr/>
          <a:lstStyle/>
          <a:p>
            <a:endParaRPr lang="en-SE"/>
          </a:p>
        </p:txBody>
      </p:sp>
      <p:sp>
        <p:nvSpPr>
          <p:cNvPr id="9" name="side tag">
            <a:extLst>
              <a:ext uri="{C183D7F6-B498-43B3-948B-1728B52AA6E4}">
                <adec:decorative xmlns:adec="http://schemas.microsoft.com/office/drawing/2017/decorative" val="1"/>
              </a:ext>
            </a:extLst>
          </p:cNvPr>
          <p:cNvSpPr/>
          <p:nvPr/>
        </p:nvSpPr>
        <p:spPr>
          <a:xfrm>
            <a:off x="841248" y="2350008"/>
            <a:ext cx="1051560" cy="384048"/>
          </a:xfrm>
          <a:prstGeom prst="roundRect">
            <a:avLst>
              <a:gd name="adj" fmla="val 14286"/>
            </a:avLst>
          </a:prstGeom>
          <a:solidFill>
            <a:srgbClr val="34D399"/>
          </a:solidFill>
          <a:ln/>
        </p:spPr>
        <p:txBody>
          <a:bodyPr/>
          <a:lstStyle/>
          <a:p>
            <a:endParaRPr lang="en-SE"/>
          </a:p>
        </p:txBody>
      </p:sp>
      <p:sp>
        <p:nvSpPr>
          <p:cNvPr id="10" name="Text 8"/>
          <p:cNvSpPr/>
          <p:nvPr/>
        </p:nvSpPr>
        <p:spPr>
          <a:xfrm>
            <a:off x="841248" y="2350008"/>
            <a:ext cx="1051560" cy="384048"/>
          </a:xfrm>
          <a:prstGeom prst="rect">
            <a:avLst/>
          </a:prstGeom>
          <a:noFill/>
          <a:ln/>
        </p:spPr>
        <p:txBody>
          <a:bodyPr wrap="square" lIns="0" tIns="0" rIns="0" bIns="0" rtlCol="0" anchor="ctr"/>
          <a:lstStyle/>
          <a:p>
            <a:pPr marL="0" indent="0" algn="ctr">
              <a:buNone/>
            </a:pPr>
            <a:r>
              <a:rPr lang="en-US" sz="1200" b="1" kern="0" spc="100" dirty="0">
                <a:solidFill>
                  <a:srgbClr val="14171C"/>
                </a:solidFill>
                <a:latin typeface="Trebuchet MS" pitchFamily="34" charset="0"/>
                <a:ea typeface="Trebuchet MS" pitchFamily="34" charset="-122"/>
                <a:cs typeface="Trebuchet MS" pitchFamily="34" charset="-120"/>
              </a:rPr>
              <a:t>NEAR</a:t>
            </a:r>
            <a:endParaRPr lang="en-US" sz="1200" dirty="0"/>
          </a:p>
        </p:txBody>
      </p:sp>
      <p:sp>
        <p:nvSpPr>
          <p:cNvPr id="11" name="Text 9"/>
          <p:cNvSpPr/>
          <p:nvPr/>
        </p:nvSpPr>
        <p:spPr>
          <a:xfrm>
            <a:off x="2011680" y="2331720"/>
            <a:ext cx="3017520" cy="420624"/>
          </a:xfrm>
          <a:prstGeom prst="rect">
            <a:avLst/>
          </a:prstGeom>
          <a:noFill/>
          <a:ln/>
        </p:spPr>
        <p:txBody>
          <a:bodyPr wrap="square" lIns="0" tIns="0" rIns="0" bIns="0" rtlCol="0" anchor="ctr"/>
          <a:lstStyle/>
          <a:p>
            <a:pPr marL="0" indent="0">
              <a:buNone/>
            </a:pPr>
            <a:r>
              <a:rPr lang="en-US" sz="1500" b="1" dirty="0">
                <a:solidFill>
                  <a:srgbClr val="E7EBF0"/>
                </a:solidFill>
                <a:latin typeface="Trebuchet MS" pitchFamily="34" charset="0"/>
                <a:ea typeface="Trebuchet MS" pitchFamily="34" charset="-122"/>
                <a:cs typeface="Trebuchet MS" pitchFamily="34" charset="-120"/>
              </a:rPr>
              <a:t>March Crude</a:t>
            </a:r>
            <a:endParaRPr lang="en-US" sz="1500" dirty="0"/>
          </a:p>
        </p:txBody>
      </p:sp>
      <p:sp>
        <p:nvSpPr>
          <p:cNvPr id="12" name="Text 10"/>
          <p:cNvSpPr/>
          <p:nvPr/>
        </p:nvSpPr>
        <p:spPr>
          <a:xfrm>
            <a:off x="859536" y="2862072"/>
            <a:ext cx="4206240" cy="457200"/>
          </a:xfrm>
          <a:prstGeom prst="rect">
            <a:avLst/>
          </a:prstGeom>
          <a:noFill/>
          <a:ln/>
        </p:spPr>
        <p:txBody>
          <a:bodyPr wrap="square" lIns="0" tIns="0" rIns="0" bIns="0" rtlCol="0" anchor="ctr"/>
          <a:lstStyle/>
          <a:p>
            <a:pPr marL="0" indent="0">
              <a:buNone/>
            </a:pPr>
            <a:r>
              <a:rPr lang="en-US" sz="1200" dirty="0">
                <a:solidFill>
                  <a:srgbClr val="AAB2BD"/>
                </a:solidFill>
                <a:latin typeface="Calibri" pitchFamily="34" charset="0"/>
                <a:ea typeface="Calibri" pitchFamily="34" charset="-122"/>
                <a:cs typeface="Calibri" pitchFamily="34" charset="-120"/>
              </a:rPr>
              <a:t>trading at  </a:t>
            </a:r>
            <a:r>
              <a:rPr lang="en-US" sz="2000" b="1" dirty="0">
                <a:solidFill>
                  <a:srgbClr val="34D399"/>
                </a:solidFill>
                <a:latin typeface="Consolas" pitchFamily="34" charset="0"/>
                <a:ea typeface="Consolas" pitchFamily="34" charset="-122"/>
                <a:cs typeface="Consolas" pitchFamily="34" charset="-120"/>
              </a:rPr>
              <a:t>$80.00</a:t>
            </a:r>
            <a:endParaRPr lang="en-US" sz="1200" dirty="0"/>
          </a:p>
        </p:txBody>
      </p:sp>
      <p:sp>
        <p:nvSpPr>
          <p:cNvPr id="13" name="panel">
            <a:extLst>
              <a:ext uri="{C183D7F6-B498-43B3-948B-1728B52AA6E4}">
                <adec:decorative xmlns:adec="http://schemas.microsoft.com/office/drawing/2017/decorative" val="1"/>
              </a:ext>
            </a:extLst>
          </p:cNvPr>
          <p:cNvSpPr/>
          <p:nvPr/>
        </p:nvSpPr>
        <p:spPr>
          <a:xfrm>
            <a:off x="640080" y="3657600"/>
            <a:ext cx="4572000" cy="1371600"/>
          </a:xfrm>
          <a:prstGeom prst="roundRect">
            <a:avLst>
              <a:gd name="adj" fmla="val 6000"/>
            </a:avLst>
          </a:prstGeom>
          <a:solidFill>
            <a:srgbClr val="1F252D"/>
          </a:solidFill>
          <a:ln w="19050">
            <a:solidFill>
              <a:srgbClr val="6EA8E6"/>
            </a:solidFill>
            <a:prstDash val="solid"/>
          </a:ln>
        </p:spPr>
        <p:txBody>
          <a:bodyPr/>
          <a:lstStyle/>
          <a:p>
            <a:endParaRPr lang="en-SE"/>
          </a:p>
        </p:txBody>
      </p:sp>
      <p:sp>
        <p:nvSpPr>
          <p:cNvPr id="14" name="side tag">
            <a:extLst>
              <a:ext uri="{C183D7F6-B498-43B3-948B-1728B52AA6E4}">
                <adec:decorative xmlns:adec="http://schemas.microsoft.com/office/drawing/2017/decorative" val="1"/>
              </a:ext>
            </a:extLst>
          </p:cNvPr>
          <p:cNvSpPr/>
          <p:nvPr/>
        </p:nvSpPr>
        <p:spPr>
          <a:xfrm>
            <a:off x="841248" y="3858768"/>
            <a:ext cx="1051560" cy="384048"/>
          </a:xfrm>
          <a:prstGeom prst="roundRect">
            <a:avLst>
              <a:gd name="adj" fmla="val 14286"/>
            </a:avLst>
          </a:prstGeom>
          <a:solidFill>
            <a:srgbClr val="6EA8E6"/>
          </a:solidFill>
          <a:ln/>
        </p:spPr>
        <p:txBody>
          <a:bodyPr/>
          <a:lstStyle/>
          <a:p>
            <a:endParaRPr lang="en-SE"/>
          </a:p>
        </p:txBody>
      </p:sp>
      <p:sp>
        <p:nvSpPr>
          <p:cNvPr id="15" name="Text 13"/>
          <p:cNvSpPr/>
          <p:nvPr/>
        </p:nvSpPr>
        <p:spPr>
          <a:xfrm>
            <a:off x="841248" y="3858768"/>
            <a:ext cx="1051560" cy="384048"/>
          </a:xfrm>
          <a:prstGeom prst="rect">
            <a:avLst/>
          </a:prstGeom>
          <a:noFill/>
          <a:ln/>
        </p:spPr>
        <p:txBody>
          <a:bodyPr wrap="square" lIns="0" tIns="0" rIns="0" bIns="0" rtlCol="0" anchor="ctr"/>
          <a:lstStyle/>
          <a:p>
            <a:pPr marL="0" indent="0" algn="ctr">
              <a:buNone/>
            </a:pPr>
            <a:r>
              <a:rPr lang="en-US" sz="1200" b="1" kern="0" spc="100" dirty="0">
                <a:solidFill>
                  <a:srgbClr val="14171C"/>
                </a:solidFill>
                <a:latin typeface="Trebuchet MS" pitchFamily="34" charset="0"/>
                <a:ea typeface="Trebuchet MS" pitchFamily="34" charset="-122"/>
                <a:cs typeface="Trebuchet MS" pitchFamily="34" charset="-120"/>
              </a:rPr>
              <a:t>FAR</a:t>
            </a:r>
            <a:endParaRPr lang="en-US" sz="1200" dirty="0"/>
          </a:p>
        </p:txBody>
      </p:sp>
      <p:sp>
        <p:nvSpPr>
          <p:cNvPr id="16" name="Text 14"/>
          <p:cNvSpPr/>
          <p:nvPr/>
        </p:nvSpPr>
        <p:spPr>
          <a:xfrm>
            <a:off x="2011680" y="3840480"/>
            <a:ext cx="3017520" cy="420624"/>
          </a:xfrm>
          <a:prstGeom prst="rect">
            <a:avLst/>
          </a:prstGeom>
          <a:noFill/>
          <a:ln/>
        </p:spPr>
        <p:txBody>
          <a:bodyPr wrap="square" lIns="0" tIns="0" rIns="0" bIns="0" rtlCol="0" anchor="ctr"/>
          <a:lstStyle/>
          <a:p>
            <a:pPr marL="0" indent="0">
              <a:buNone/>
            </a:pPr>
            <a:r>
              <a:rPr lang="en-US" sz="1500" b="1" dirty="0">
                <a:solidFill>
                  <a:srgbClr val="E7EBF0"/>
                </a:solidFill>
                <a:latin typeface="Trebuchet MS" pitchFamily="34" charset="0"/>
                <a:ea typeface="Trebuchet MS" pitchFamily="34" charset="-122"/>
                <a:cs typeface="Trebuchet MS" pitchFamily="34" charset="-120"/>
              </a:rPr>
              <a:t>June Crude</a:t>
            </a:r>
            <a:endParaRPr lang="en-US" sz="1500" dirty="0"/>
          </a:p>
        </p:txBody>
      </p:sp>
      <p:sp>
        <p:nvSpPr>
          <p:cNvPr id="17" name="Text 15"/>
          <p:cNvSpPr/>
          <p:nvPr/>
        </p:nvSpPr>
        <p:spPr>
          <a:xfrm>
            <a:off x="859536" y="4370832"/>
            <a:ext cx="4206240" cy="457200"/>
          </a:xfrm>
          <a:prstGeom prst="rect">
            <a:avLst/>
          </a:prstGeom>
          <a:noFill/>
          <a:ln/>
        </p:spPr>
        <p:txBody>
          <a:bodyPr wrap="square" lIns="0" tIns="0" rIns="0" bIns="0" rtlCol="0" anchor="ctr"/>
          <a:lstStyle/>
          <a:p>
            <a:pPr marL="0" indent="0">
              <a:buNone/>
            </a:pPr>
            <a:r>
              <a:rPr lang="en-US" sz="1200" dirty="0">
                <a:solidFill>
                  <a:srgbClr val="AAB2BD"/>
                </a:solidFill>
                <a:latin typeface="Calibri" pitchFamily="34" charset="0"/>
                <a:ea typeface="Calibri" pitchFamily="34" charset="-122"/>
                <a:cs typeface="Calibri" pitchFamily="34" charset="-120"/>
              </a:rPr>
              <a:t>trading at  </a:t>
            </a:r>
            <a:r>
              <a:rPr lang="en-US" sz="2000" b="1" dirty="0">
                <a:solidFill>
                  <a:srgbClr val="6EA8E6"/>
                </a:solidFill>
                <a:latin typeface="Consolas" pitchFamily="34" charset="0"/>
                <a:ea typeface="Consolas" pitchFamily="34" charset="-122"/>
                <a:cs typeface="Consolas" pitchFamily="34" charset="-120"/>
              </a:rPr>
              <a:t>$80.50</a:t>
            </a:r>
            <a:endParaRPr lang="en-US" sz="1200" dirty="0"/>
          </a:p>
        </p:txBody>
      </p:sp>
      <p:sp>
        <p:nvSpPr>
          <p:cNvPr id="18" name="gives">
            <a:extLst>
              <a:ext uri="{C183D7F6-B498-43B3-948B-1728B52AA6E4}">
                <adec:decorative xmlns:adec="http://schemas.microsoft.com/office/drawing/2017/decorative" val="1"/>
              </a:ext>
            </a:extLst>
          </p:cNvPr>
          <p:cNvSpPr/>
          <p:nvPr/>
        </p:nvSpPr>
        <p:spPr>
          <a:xfrm>
            <a:off x="5349240" y="3246120"/>
            <a:ext cx="640080" cy="365760"/>
          </a:xfrm>
          <a:prstGeom prst="rightArrow">
            <a:avLst/>
          </a:prstGeom>
          <a:solidFill>
            <a:srgbClr val="10B981"/>
          </a:solidFill>
          <a:ln/>
        </p:spPr>
        <p:txBody>
          <a:bodyPr/>
          <a:lstStyle/>
          <a:p>
            <a:endParaRPr lang="en-SE"/>
          </a:p>
        </p:txBody>
      </p:sp>
      <p:sp>
        <p:nvSpPr>
          <p:cNvPr id="19" name="panel">
            <a:extLst>
              <a:ext uri="{C183D7F6-B498-43B3-948B-1728B52AA6E4}">
                <adec:decorative xmlns:adec="http://schemas.microsoft.com/office/drawing/2017/decorative" val="1"/>
              </a:ext>
            </a:extLst>
          </p:cNvPr>
          <p:cNvSpPr/>
          <p:nvPr/>
        </p:nvSpPr>
        <p:spPr>
          <a:xfrm>
            <a:off x="6172200" y="2331720"/>
            <a:ext cx="5376672" cy="2697480"/>
          </a:xfrm>
          <a:prstGeom prst="roundRect">
            <a:avLst>
              <a:gd name="adj" fmla="val 3051"/>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20" name="Text 18"/>
          <p:cNvSpPr/>
          <p:nvPr/>
        </p:nvSpPr>
        <p:spPr>
          <a:xfrm>
            <a:off x="6400800" y="2542032"/>
            <a:ext cx="4937760" cy="274320"/>
          </a:xfrm>
          <a:prstGeom prst="rect">
            <a:avLst/>
          </a:prstGeom>
          <a:noFill/>
          <a:ln/>
        </p:spPr>
        <p:txBody>
          <a:bodyPr wrap="square" lIns="0" tIns="0" rIns="0" bIns="0" rtlCol="0" anchor="ctr"/>
          <a:lstStyle/>
          <a:p>
            <a:pPr marL="0" indent="0">
              <a:buNone/>
            </a:pPr>
            <a:r>
              <a:rPr lang="en-US" sz="1100" b="1" kern="0" spc="200" dirty="0">
                <a:solidFill>
                  <a:srgbClr val="34D399"/>
                </a:solidFill>
                <a:latin typeface="Trebuchet MS" pitchFamily="34" charset="0"/>
                <a:ea typeface="Trebuchet MS" pitchFamily="34" charset="-122"/>
                <a:cs typeface="Trebuchet MS" pitchFamily="34" charset="-120"/>
              </a:rPr>
              <a:t>THE SPREAD PRICE</a:t>
            </a:r>
            <a:endParaRPr lang="en-US" sz="1100" dirty="0"/>
          </a:p>
        </p:txBody>
      </p:sp>
      <p:sp>
        <p:nvSpPr>
          <p:cNvPr id="21" name="Text 19"/>
          <p:cNvSpPr/>
          <p:nvPr/>
        </p:nvSpPr>
        <p:spPr>
          <a:xfrm>
            <a:off x="6400800" y="2926080"/>
            <a:ext cx="4937760" cy="457200"/>
          </a:xfrm>
          <a:prstGeom prst="rect">
            <a:avLst/>
          </a:prstGeom>
          <a:noFill/>
          <a:ln/>
        </p:spPr>
        <p:txBody>
          <a:bodyPr wrap="square" lIns="0" tIns="0" rIns="0" bIns="0" rtlCol="0" anchor="ctr"/>
          <a:lstStyle/>
          <a:p>
            <a:pPr marL="0" indent="0" algn="ctr">
              <a:buNone/>
            </a:pPr>
            <a:r>
              <a:rPr lang="en-US" sz="2200" dirty="0">
                <a:solidFill>
                  <a:srgbClr val="E7EBF0"/>
                </a:solidFill>
                <a:latin typeface="Consolas" pitchFamily="34" charset="0"/>
                <a:ea typeface="Consolas" pitchFamily="34" charset="-122"/>
                <a:cs typeface="Consolas" pitchFamily="34" charset="-120"/>
              </a:rPr>
              <a:t>$80.00 − $80.50</a:t>
            </a:r>
            <a:endParaRPr lang="en-US" sz="2200" dirty="0"/>
          </a:p>
        </p:txBody>
      </p:sp>
      <p:sp>
        <p:nvSpPr>
          <p:cNvPr id="22" name="connector">
            <a:extLst>
              <a:ext uri="{C183D7F6-B498-43B3-948B-1728B52AA6E4}">
                <adec:decorative xmlns:adec="http://schemas.microsoft.com/office/drawing/2017/decorative" val="1"/>
              </a:ext>
            </a:extLst>
          </p:cNvPr>
          <p:cNvSpPr/>
          <p:nvPr/>
        </p:nvSpPr>
        <p:spPr>
          <a:xfrm>
            <a:off x="6675120" y="3520440"/>
            <a:ext cx="4389120" cy="0"/>
          </a:xfrm>
          <a:prstGeom prst="line">
            <a:avLst/>
          </a:prstGeom>
          <a:noFill/>
          <a:ln w="12700">
            <a:solidFill>
              <a:srgbClr val="343E4A"/>
            </a:solidFill>
            <a:prstDash val="solid"/>
            <a:headEnd type="none"/>
            <a:tailEnd type="none"/>
          </a:ln>
        </p:spPr>
        <p:txBody>
          <a:bodyPr/>
          <a:lstStyle/>
          <a:p>
            <a:endParaRPr lang="en-SE"/>
          </a:p>
        </p:txBody>
      </p:sp>
      <p:sp>
        <p:nvSpPr>
          <p:cNvPr id="23" name="Text 21"/>
          <p:cNvSpPr/>
          <p:nvPr/>
        </p:nvSpPr>
        <p:spPr>
          <a:xfrm>
            <a:off x="6400800" y="3611880"/>
            <a:ext cx="4937760" cy="822960"/>
          </a:xfrm>
          <a:prstGeom prst="rect">
            <a:avLst/>
          </a:prstGeom>
          <a:noFill/>
          <a:ln/>
        </p:spPr>
        <p:txBody>
          <a:bodyPr wrap="square" lIns="0" tIns="0" rIns="0" bIns="0" rtlCol="0" anchor="ctr"/>
          <a:lstStyle/>
          <a:p>
            <a:pPr marL="0" indent="0" algn="ctr">
              <a:buNone/>
            </a:pPr>
            <a:r>
              <a:rPr lang="en-US" sz="4600" b="1" dirty="0">
                <a:solidFill>
                  <a:srgbClr val="F5B759"/>
                </a:solidFill>
                <a:latin typeface="Consolas" pitchFamily="34" charset="0"/>
                <a:ea typeface="Consolas" pitchFamily="34" charset="-122"/>
                <a:cs typeface="Consolas" pitchFamily="34" charset="-120"/>
              </a:rPr>
              <a:t>−$0.50</a:t>
            </a:r>
            <a:endParaRPr lang="en-US" sz="4600" dirty="0"/>
          </a:p>
        </p:txBody>
      </p:sp>
      <p:sp>
        <p:nvSpPr>
          <p:cNvPr id="24" name="Text 22"/>
          <p:cNvSpPr/>
          <p:nvPr/>
        </p:nvSpPr>
        <p:spPr>
          <a:xfrm>
            <a:off x="6400800" y="4526280"/>
            <a:ext cx="4937760" cy="320040"/>
          </a:xfrm>
          <a:prstGeom prst="rect">
            <a:avLst/>
          </a:prstGeom>
          <a:noFill/>
          <a:ln/>
        </p:spPr>
        <p:txBody>
          <a:bodyPr wrap="square" lIns="0" tIns="0" rIns="0" bIns="0" rtlCol="0" anchor="ctr"/>
          <a:lstStyle/>
          <a:p>
            <a:pPr marL="0" indent="0" algn="ctr">
              <a:buNone/>
            </a:pPr>
            <a:r>
              <a:rPr lang="en-US" sz="1250" i="1" dirty="0">
                <a:solidFill>
                  <a:srgbClr val="AAB2BD"/>
                </a:solidFill>
                <a:latin typeface="Calibri" pitchFamily="34" charset="0"/>
                <a:ea typeface="Calibri" pitchFamily="34" charset="-122"/>
                <a:cs typeface="Calibri" pitchFamily="34" charset="-120"/>
              </a:rPr>
              <a:t>negative fifty cents — a contango spread</a:t>
            </a:r>
            <a:endParaRPr lang="en-US" sz="1250" dirty="0"/>
          </a:p>
        </p:txBody>
      </p:sp>
      <p:sp>
        <p:nvSpPr>
          <p:cNvPr id="25"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6"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5B759"/>
          </a:solidFill>
          <a:ln/>
        </p:spPr>
        <p:txBody>
          <a:bodyPr/>
          <a:lstStyle/>
          <a:p>
            <a:endParaRPr lang="en-SE"/>
          </a:p>
        </p:txBody>
      </p:sp>
      <p:sp>
        <p:nvSpPr>
          <p:cNvPr id="27" name="Text 25"/>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F5B75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Our spread is quoted at −$0.50. Next we confront what a negative price actually means.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The atomicity guarantee, stated precisely">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atomicity guarantee, stated precisely</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02 · THE COMBO</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25</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This is the promise we assume the platform makes. It is what turns two risky orders into one safe instrument.</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94560"/>
            <a:ext cx="3474720" cy="2743200"/>
          </a:xfrm>
          <a:prstGeom prst="roundRect">
            <a:avLst>
              <a:gd name="adj" fmla="val 30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9" name="node">
            <a:extLst>
              <a:ext uri="{C183D7F6-B498-43B3-948B-1728B52AA6E4}">
                <adec:decorative xmlns:adec="http://schemas.microsoft.com/office/drawing/2017/decorative" val="1"/>
              </a:ext>
            </a:extLst>
          </p:cNvPr>
          <p:cNvSpPr/>
          <p:nvPr/>
        </p:nvSpPr>
        <p:spPr>
          <a:xfrm>
            <a:off x="896112" y="2450592"/>
            <a:ext cx="585216" cy="585216"/>
          </a:xfrm>
          <a:prstGeom prst="ellipse">
            <a:avLst/>
          </a:prstGeom>
          <a:solidFill>
            <a:srgbClr val="34D399"/>
          </a:solidFill>
          <a:ln/>
        </p:spPr>
        <p:txBody>
          <a:bodyPr/>
          <a:lstStyle/>
          <a:p>
            <a:endParaRPr lang="en-SE"/>
          </a:p>
        </p:txBody>
      </p:sp>
      <p:sp>
        <p:nvSpPr>
          <p:cNvPr id="10" name="Text 8"/>
          <p:cNvSpPr/>
          <p:nvPr/>
        </p:nvSpPr>
        <p:spPr>
          <a:xfrm>
            <a:off x="896112" y="2450592"/>
            <a:ext cx="585216" cy="585216"/>
          </a:xfrm>
          <a:prstGeom prst="rect">
            <a:avLst/>
          </a:prstGeom>
          <a:noFill/>
          <a:ln/>
        </p:spPr>
        <p:txBody>
          <a:bodyPr wrap="square" lIns="0" tIns="0" rIns="0" bIns="0" rtlCol="0" anchor="ctr"/>
          <a:lstStyle/>
          <a:p>
            <a:pPr marL="0" indent="0" algn="ctr">
              <a:buNone/>
            </a:pPr>
            <a:r>
              <a:rPr lang="en-US" sz="1800" b="1" dirty="0">
                <a:solidFill>
                  <a:srgbClr val="14171C"/>
                </a:solidFill>
                <a:latin typeface="Trebuchet MS" pitchFamily="34" charset="0"/>
                <a:ea typeface="Trebuchet MS" pitchFamily="34" charset="-122"/>
                <a:cs typeface="Trebuchet MS" pitchFamily="34" charset="-120"/>
              </a:rPr>
              <a:t>1</a:t>
            </a:r>
            <a:endParaRPr lang="en-US" sz="1800" dirty="0"/>
          </a:p>
        </p:txBody>
      </p:sp>
      <p:sp>
        <p:nvSpPr>
          <p:cNvPr id="11" name="Text 9"/>
          <p:cNvSpPr/>
          <p:nvPr/>
        </p:nvSpPr>
        <p:spPr>
          <a:xfrm>
            <a:off x="1645920" y="2487168"/>
            <a:ext cx="2377440" cy="548640"/>
          </a:xfrm>
          <a:prstGeom prst="rect">
            <a:avLst/>
          </a:prstGeom>
          <a:noFill/>
          <a:ln/>
        </p:spPr>
        <p:txBody>
          <a:bodyPr wrap="square" lIns="0" tIns="0" rIns="0" bIns="0" rtlCol="0" anchor="ctr"/>
          <a:lstStyle/>
          <a:p>
            <a:pPr marL="0" indent="0">
              <a:buNone/>
            </a:pPr>
            <a:r>
              <a:rPr lang="en-US" sz="1600" b="1" dirty="0">
                <a:solidFill>
                  <a:srgbClr val="E7EBF0"/>
                </a:solidFill>
                <a:latin typeface="Trebuchet MS" pitchFamily="34" charset="0"/>
                <a:ea typeface="Trebuchet MS" pitchFamily="34" charset="-122"/>
                <a:cs typeface="Trebuchet MS" pitchFamily="34" charset="-120"/>
              </a:rPr>
              <a:t>Single price</a:t>
            </a:r>
            <a:endParaRPr lang="en-US" sz="1600" dirty="0"/>
          </a:p>
        </p:txBody>
      </p:sp>
      <p:sp>
        <p:nvSpPr>
          <p:cNvPr id="12" name="Text 10"/>
          <p:cNvSpPr/>
          <p:nvPr/>
        </p:nvSpPr>
        <p:spPr>
          <a:xfrm>
            <a:off x="914400" y="3246120"/>
            <a:ext cx="2926080" cy="1554480"/>
          </a:xfrm>
          <a:prstGeom prst="rect">
            <a:avLst/>
          </a:prstGeom>
          <a:noFill/>
          <a:ln/>
        </p:spPr>
        <p:txBody>
          <a:bodyPr wrap="square" lIns="0" tIns="0" rIns="0" bIns="0" rtlCol="0" anchor="ctr"/>
          <a:lstStyle/>
          <a:p>
            <a:pPr marL="0" indent="0">
              <a:lnSpc>
                <a:spcPct val="120000"/>
              </a:lnSpc>
              <a:buNone/>
            </a:pPr>
            <a:r>
              <a:rPr lang="en-US" sz="1350" dirty="0">
                <a:solidFill>
                  <a:srgbClr val="AAB2BD"/>
                </a:solidFill>
                <a:latin typeface="Calibri" pitchFamily="34" charset="0"/>
                <a:ea typeface="Calibri" pitchFamily="34" charset="-122"/>
                <a:cs typeface="Calibri" pitchFamily="34" charset="-120"/>
              </a:rPr>
              <a:t>You agree on one number — the spread — not two leg prices. Here, −$0.50.</a:t>
            </a:r>
            <a:endParaRPr lang="en-US" sz="1350" dirty="0"/>
          </a:p>
        </p:txBody>
      </p:sp>
      <p:sp>
        <p:nvSpPr>
          <p:cNvPr id="13" name="panel">
            <a:extLst>
              <a:ext uri="{C183D7F6-B498-43B3-948B-1728B52AA6E4}">
                <adec:decorative xmlns:adec="http://schemas.microsoft.com/office/drawing/2017/decorative" val="1"/>
              </a:ext>
            </a:extLst>
          </p:cNvPr>
          <p:cNvSpPr/>
          <p:nvPr/>
        </p:nvSpPr>
        <p:spPr>
          <a:xfrm>
            <a:off x="4343400" y="2194560"/>
            <a:ext cx="3474720" cy="2743200"/>
          </a:xfrm>
          <a:prstGeom prst="roundRect">
            <a:avLst>
              <a:gd name="adj" fmla="val 30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14" name="node">
            <a:extLst>
              <a:ext uri="{C183D7F6-B498-43B3-948B-1728B52AA6E4}">
                <adec:decorative xmlns:adec="http://schemas.microsoft.com/office/drawing/2017/decorative" val="1"/>
              </a:ext>
            </a:extLst>
          </p:cNvPr>
          <p:cNvSpPr/>
          <p:nvPr/>
        </p:nvSpPr>
        <p:spPr>
          <a:xfrm>
            <a:off x="4599432" y="2450592"/>
            <a:ext cx="585216" cy="585216"/>
          </a:xfrm>
          <a:prstGeom prst="ellipse">
            <a:avLst/>
          </a:prstGeom>
          <a:solidFill>
            <a:srgbClr val="6EA8E6"/>
          </a:solidFill>
          <a:ln/>
        </p:spPr>
        <p:txBody>
          <a:bodyPr/>
          <a:lstStyle/>
          <a:p>
            <a:endParaRPr lang="en-SE"/>
          </a:p>
        </p:txBody>
      </p:sp>
      <p:sp>
        <p:nvSpPr>
          <p:cNvPr id="15" name="Text 13"/>
          <p:cNvSpPr/>
          <p:nvPr/>
        </p:nvSpPr>
        <p:spPr>
          <a:xfrm>
            <a:off x="4599432" y="2450592"/>
            <a:ext cx="585216" cy="585216"/>
          </a:xfrm>
          <a:prstGeom prst="rect">
            <a:avLst/>
          </a:prstGeom>
          <a:noFill/>
          <a:ln/>
        </p:spPr>
        <p:txBody>
          <a:bodyPr wrap="square" lIns="0" tIns="0" rIns="0" bIns="0" rtlCol="0" anchor="ctr"/>
          <a:lstStyle/>
          <a:p>
            <a:pPr marL="0" indent="0" algn="ctr">
              <a:buNone/>
            </a:pPr>
            <a:r>
              <a:rPr lang="en-US" sz="1800" b="1" dirty="0">
                <a:solidFill>
                  <a:srgbClr val="14171C"/>
                </a:solidFill>
                <a:latin typeface="Trebuchet MS" pitchFamily="34" charset="0"/>
                <a:ea typeface="Trebuchet MS" pitchFamily="34" charset="-122"/>
                <a:cs typeface="Trebuchet MS" pitchFamily="34" charset="-120"/>
              </a:rPr>
              <a:t>2</a:t>
            </a:r>
            <a:endParaRPr lang="en-US" sz="1800" dirty="0"/>
          </a:p>
        </p:txBody>
      </p:sp>
      <p:sp>
        <p:nvSpPr>
          <p:cNvPr id="16" name="Text 14"/>
          <p:cNvSpPr/>
          <p:nvPr/>
        </p:nvSpPr>
        <p:spPr>
          <a:xfrm>
            <a:off x="5349240" y="2487168"/>
            <a:ext cx="2377440" cy="548640"/>
          </a:xfrm>
          <a:prstGeom prst="rect">
            <a:avLst/>
          </a:prstGeom>
          <a:noFill/>
          <a:ln/>
        </p:spPr>
        <p:txBody>
          <a:bodyPr wrap="square" lIns="0" tIns="0" rIns="0" bIns="0" rtlCol="0" anchor="ctr"/>
          <a:lstStyle/>
          <a:p>
            <a:pPr marL="0" indent="0">
              <a:buNone/>
            </a:pPr>
            <a:r>
              <a:rPr lang="en-US" sz="1600" b="1" dirty="0">
                <a:solidFill>
                  <a:srgbClr val="E7EBF0"/>
                </a:solidFill>
                <a:latin typeface="Trebuchet MS" pitchFamily="34" charset="0"/>
                <a:ea typeface="Trebuchet MS" pitchFamily="34" charset="-122"/>
                <a:cs typeface="Trebuchet MS" pitchFamily="34" charset="-120"/>
              </a:rPr>
              <a:t>Both or neither</a:t>
            </a:r>
            <a:endParaRPr lang="en-US" sz="1600" dirty="0"/>
          </a:p>
        </p:txBody>
      </p:sp>
      <p:sp>
        <p:nvSpPr>
          <p:cNvPr id="17" name="Text 15"/>
          <p:cNvSpPr/>
          <p:nvPr/>
        </p:nvSpPr>
        <p:spPr>
          <a:xfrm>
            <a:off x="4617720" y="3246120"/>
            <a:ext cx="2926080" cy="1554480"/>
          </a:xfrm>
          <a:prstGeom prst="rect">
            <a:avLst/>
          </a:prstGeom>
          <a:noFill/>
          <a:ln/>
        </p:spPr>
        <p:txBody>
          <a:bodyPr wrap="square" lIns="0" tIns="0" rIns="0" bIns="0" rtlCol="0" anchor="ctr"/>
          <a:lstStyle/>
          <a:p>
            <a:pPr marL="0" indent="0">
              <a:lnSpc>
                <a:spcPct val="120000"/>
              </a:lnSpc>
              <a:buNone/>
            </a:pPr>
            <a:r>
              <a:rPr lang="en-US" sz="1350" dirty="0">
                <a:solidFill>
                  <a:srgbClr val="AAB2BD"/>
                </a:solidFill>
                <a:latin typeface="Calibri" pitchFamily="34" charset="0"/>
                <a:ea typeface="Calibri" pitchFamily="34" charset="-122"/>
                <a:cs typeface="Calibri" pitchFamily="34" charset="-120"/>
              </a:rPr>
              <a:t>The fill creates both legs at once, or creates nothing. No partial states exist.</a:t>
            </a:r>
            <a:endParaRPr lang="en-US" sz="1350" dirty="0"/>
          </a:p>
        </p:txBody>
      </p:sp>
      <p:sp>
        <p:nvSpPr>
          <p:cNvPr id="18" name="panel">
            <a:extLst>
              <a:ext uri="{C183D7F6-B498-43B3-948B-1728B52AA6E4}">
                <adec:decorative xmlns:adec="http://schemas.microsoft.com/office/drawing/2017/decorative" val="1"/>
              </a:ext>
            </a:extLst>
          </p:cNvPr>
          <p:cNvSpPr/>
          <p:nvPr/>
        </p:nvSpPr>
        <p:spPr>
          <a:xfrm>
            <a:off x="8046720" y="2194560"/>
            <a:ext cx="3474720" cy="2743200"/>
          </a:xfrm>
          <a:prstGeom prst="roundRect">
            <a:avLst>
              <a:gd name="adj" fmla="val 30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19" name="node">
            <a:extLst>
              <a:ext uri="{C183D7F6-B498-43B3-948B-1728B52AA6E4}">
                <adec:decorative xmlns:adec="http://schemas.microsoft.com/office/drawing/2017/decorative" val="1"/>
              </a:ext>
            </a:extLst>
          </p:cNvPr>
          <p:cNvSpPr/>
          <p:nvPr/>
        </p:nvSpPr>
        <p:spPr>
          <a:xfrm>
            <a:off x="8302752" y="2450592"/>
            <a:ext cx="585216" cy="585216"/>
          </a:xfrm>
          <a:prstGeom prst="ellipse">
            <a:avLst/>
          </a:prstGeom>
          <a:solidFill>
            <a:srgbClr val="F5B759"/>
          </a:solidFill>
          <a:ln/>
        </p:spPr>
        <p:txBody>
          <a:bodyPr/>
          <a:lstStyle/>
          <a:p>
            <a:endParaRPr lang="en-SE"/>
          </a:p>
        </p:txBody>
      </p:sp>
      <p:sp>
        <p:nvSpPr>
          <p:cNvPr id="20" name="Text 18"/>
          <p:cNvSpPr/>
          <p:nvPr/>
        </p:nvSpPr>
        <p:spPr>
          <a:xfrm>
            <a:off x="8302752" y="2450592"/>
            <a:ext cx="585216" cy="585216"/>
          </a:xfrm>
          <a:prstGeom prst="rect">
            <a:avLst/>
          </a:prstGeom>
          <a:noFill/>
          <a:ln/>
        </p:spPr>
        <p:txBody>
          <a:bodyPr wrap="square" lIns="0" tIns="0" rIns="0" bIns="0" rtlCol="0" anchor="ctr"/>
          <a:lstStyle/>
          <a:p>
            <a:pPr marL="0" indent="0" algn="ctr">
              <a:buNone/>
            </a:pPr>
            <a:r>
              <a:rPr lang="en-US" sz="1800" b="1" dirty="0">
                <a:solidFill>
                  <a:srgbClr val="14171C"/>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9052560" y="2487168"/>
            <a:ext cx="2377440" cy="548640"/>
          </a:xfrm>
          <a:prstGeom prst="rect">
            <a:avLst/>
          </a:prstGeom>
          <a:noFill/>
          <a:ln/>
        </p:spPr>
        <p:txBody>
          <a:bodyPr wrap="square" lIns="0" tIns="0" rIns="0" bIns="0" rtlCol="0" anchor="ctr"/>
          <a:lstStyle/>
          <a:p>
            <a:pPr marL="0" indent="0">
              <a:buNone/>
            </a:pPr>
            <a:r>
              <a:rPr lang="en-US" sz="1600" b="1" dirty="0">
                <a:solidFill>
                  <a:srgbClr val="E7EBF0"/>
                </a:solidFill>
                <a:latin typeface="Trebuchet MS" pitchFamily="34" charset="0"/>
                <a:ea typeface="Trebuchet MS" pitchFamily="34" charset="-122"/>
                <a:cs typeface="Trebuchet MS" pitchFamily="34" charset="-120"/>
              </a:rPr>
              <a:t>Guaranteed ratio</a:t>
            </a:r>
            <a:endParaRPr lang="en-US" sz="1600" dirty="0"/>
          </a:p>
        </p:txBody>
      </p:sp>
      <p:sp>
        <p:nvSpPr>
          <p:cNvPr id="22" name="Text 20"/>
          <p:cNvSpPr/>
          <p:nvPr/>
        </p:nvSpPr>
        <p:spPr>
          <a:xfrm>
            <a:off x="8321040" y="3246120"/>
            <a:ext cx="2926080" cy="1554480"/>
          </a:xfrm>
          <a:prstGeom prst="rect">
            <a:avLst/>
          </a:prstGeom>
          <a:noFill/>
          <a:ln/>
        </p:spPr>
        <p:txBody>
          <a:bodyPr wrap="square" lIns="0" tIns="0" rIns="0" bIns="0" rtlCol="0" anchor="ctr"/>
          <a:lstStyle/>
          <a:p>
            <a:pPr marL="0" indent="0">
              <a:lnSpc>
                <a:spcPct val="120000"/>
              </a:lnSpc>
              <a:buNone/>
            </a:pPr>
            <a:r>
              <a:rPr lang="en-US" sz="1350" dirty="0">
                <a:solidFill>
                  <a:srgbClr val="AAB2BD"/>
                </a:solidFill>
                <a:latin typeface="Calibri" pitchFamily="34" charset="0"/>
                <a:ea typeface="Calibri" pitchFamily="34" charset="-122"/>
                <a:cs typeface="Calibri" pitchFamily="34" charset="-120"/>
              </a:rPr>
              <a:t>Exactly +1 March against −1 June. The hedge can never come out lopsided.</a:t>
            </a:r>
            <a:endParaRPr lang="en-US" sz="1350" dirty="0"/>
          </a:p>
        </p:txBody>
      </p:sp>
      <p:sp>
        <p:nvSpPr>
          <p:cNvPr id="23"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4"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5" name="Text 23"/>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From now on we lean on this guarantee completely — it is what makes a spread a single, safe thing to trade.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Placing the order: a walkthrough">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Placing the order: a walkthrough</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02 · THE COMBO</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26</a:t>
            </a:r>
            <a:endParaRPr lang="en-US" sz="1000" dirty="0"/>
          </a:p>
        </p:txBody>
      </p:sp>
      <p:sp>
        <p:nvSpPr>
          <p:cNvPr id="7" name="Text 5"/>
          <p:cNvSpPr/>
          <p:nvPr/>
        </p:nvSpPr>
        <p:spPr>
          <a:xfrm>
            <a:off x="640080" y="1371600"/>
            <a:ext cx="10881360" cy="502920"/>
          </a:xfrm>
          <a:prstGeom prst="rect">
            <a:avLst/>
          </a:prstGeom>
          <a:noFill/>
          <a:ln/>
        </p:spPr>
        <p:txBody>
          <a:bodyPr wrap="square" lIns="0" tIns="0" rIns="0" bIns="0" rtlCol="0" anchor="ctr"/>
          <a:lstStyle/>
          <a:p>
            <a:pPr marL="0" indent="0">
              <a:buNone/>
            </a:pPr>
            <a:r>
              <a:rPr lang="en-US" sz="1500" dirty="0">
                <a:solidFill>
                  <a:srgbClr val="AAB2BD"/>
                </a:solidFill>
                <a:latin typeface="Calibri" pitchFamily="34" charset="0"/>
                <a:ea typeface="Calibri" pitchFamily="34" charset="-122"/>
                <a:cs typeface="Calibri" pitchFamily="34" charset="-120"/>
              </a:rPr>
              <a:t>Putting it together, here is the single ticket you send and exactly what the platform does with it.</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057400"/>
            <a:ext cx="4663440" cy="2971800"/>
          </a:xfrm>
          <a:prstGeom prst="roundRect">
            <a:avLst>
              <a:gd name="adj" fmla="val 2769"/>
            </a:avLst>
          </a:prstGeom>
          <a:solidFill>
            <a:srgbClr val="262E38"/>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868680" y="2240280"/>
            <a:ext cx="4206240" cy="292608"/>
          </a:xfrm>
          <a:prstGeom prst="rect">
            <a:avLst/>
          </a:prstGeom>
          <a:noFill/>
          <a:ln/>
        </p:spPr>
        <p:txBody>
          <a:bodyPr wrap="square" lIns="0" tIns="0" rIns="0" bIns="0" rtlCol="0" anchor="ctr"/>
          <a:lstStyle/>
          <a:p>
            <a:pPr marL="0" indent="0">
              <a:buNone/>
            </a:pPr>
            <a:r>
              <a:rPr lang="en-US" sz="1200" b="1" kern="0" spc="200" dirty="0">
                <a:solidFill>
                  <a:srgbClr val="34D399"/>
                </a:solidFill>
                <a:latin typeface="Trebuchet MS" pitchFamily="34" charset="0"/>
                <a:ea typeface="Trebuchet MS" pitchFamily="34" charset="-122"/>
                <a:cs typeface="Trebuchet MS" pitchFamily="34" charset="-120"/>
              </a:rPr>
              <a:t>ORDER TICKET</a:t>
            </a:r>
            <a:endParaRPr lang="en-US" sz="1200" dirty="0"/>
          </a:p>
        </p:txBody>
      </p:sp>
      <p:sp>
        <p:nvSpPr>
          <p:cNvPr id="10" name="Text 8"/>
          <p:cNvSpPr/>
          <p:nvPr/>
        </p:nvSpPr>
        <p:spPr>
          <a:xfrm>
            <a:off x="868680" y="2651760"/>
            <a:ext cx="1920240" cy="41148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Instrument</a:t>
            </a:r>
            <a:endParaRPr lang="en-US" sz="1300" dirty="0"/>
          </a:p>
        </p:txBody>
      </p:sp>
      <p:sp>
        <p:nvSpPr>
          <p:cNvPr id="11" name="Text 9"/>
          <p:cNvSpPr/>
          <p:nvPr/>
        </p:nvSpPr>
        <p:spPr>
          <a:xfrm>
            <a:off x="2743200" y="2651760"/>
            <a:ext cx="2468880" cy="411480"/>
          </a:xfrm>
          <a:prstGeom prst="rect">
            <a:avLst/>
          </a:prstGeom>
          <a:noFill/>
          <a:ln/>
        </p:spPr>
        <p:txBody>
          <a:bodyPr wrap="square" lIns="0" tIns="0" rIns="0" bIns="0" rtlCol="0" anchor="ctr"/>
          <a:lstStyle/>
          <a:p>
            <a:pPr marL="0" indent="0">
              <a:buNone/>
            </a:pPr>
            <a:r>
              <a:rPr lang="en-US" sz="1350" b="1" dirty="0">
                <a:solidFill>
                  <a:srgbClr val="E7EBF0"/>
                </a:solidFill>
                <a:latin typeface="Consolas" pitchFamily="34" charset="0"/>
                <a:ea typeface="Consolas" pitchFamily="34" charset="-122"/>
                <a:cs typeface="Consolas" pitchFamily="34" charset="-120"/>
              </a:rPr>
              <a:t>Crude Mar–Jun</a:t>
            </a:r>
            <a:endParaRPr lang="en-US" sz="1350" dirty="0"/>
          </a:p>
        </p:txBody>
      </p:sp>
      <p:sp>
        <p:nvSpPr>
          <p:cNvPr id="12" name="Text 10"/>
          <p:cNvSpPr/>
          <p:nvPr/>
        </p:nvSpPr>
        <p:spPr>
          <a:xfrm>
            <a:off x="868680" y="3108960"/>
            <a:ext cx="1920240" cy="41148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Action</a:t>
            </a:r>
            <a:endParaRPr lang="en-US" sz="1300" dirty="0"/>
          </a:p>
        </p:txBody>
      </p:sp>
      <p:sp>
        <p:nvSpPr>
          <p:cNvPr id="13" name="Text 11"/>
          <p:cNvSpPr/>
          <p:nvPr/>
        </p:nvSpPr>
        <p:spPr>
          <a:xfrm>
            <a:off x="2743200" y="3108960"/>
            <a:ext cx="2468880" cy="411480"/>
          </a:xfrm>
          <a:prstGeom prst="rect">
            <a:avLst/>
          </a:prstGeom>
          <a:noFill/>
          <a:ln/>
        </p:spPr>
        <p:txBody>
          <a:bodyPr wrap="square" lIns="0" tIns="0" rIns="0" bIns="0" rtlCol="0" anchor="ctr"/>
          <a:lstStyle/>
          <a:p>
            <a:pPr marL="0" indent="0">
              <a:buNone/>
            </a:pPr>
            <a:r>
              <a:rPr lang="en-US" sz="1350" b="1" dirty="0">
                <a:solidFill>
                  <a:srgbClr val="E7EBF0"/>
                </a:solidFill>
                <a:latin typeface="Consolas" pitchFamily="34" charset="0"/>
                <a:ea typeface="Consolas" pitchFamily="34" charset="-122"/>
                <a:cs typeface="Consolas" pitchFamily="34" charset="-120"/>
              </a:rPr>
              <a:t>BUY the spread</a:t>
            </a:r>
            <a:endParaRPr lang="en-US" sz="1350" dirty="0"/>
          </a:p>
        </p:txBody>
      </p:sp>
      <p:sp>
        <p:nvSpPr>
          <p:cNvPr id="14" name="Text 12"/>
          <p:cNvSpPr/>
          <p:nvPr/>
        </p:nvSpPr>
        <p:spPr>
          <a:xfrm>
            <a:off x="868680" y="3566160"/>
            <a:ext cx="1920240" cy="41148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Quantity</a:t>
            </a:r>
            <a:endParaRPr lang="en-US" sz="1300" dirty="0"/>
          </a:p>
        </p:txBody>
      </p:sp>
      <p:sp>
        <p:nvSpPr>
          <p:cNvPr id="15" name="Text 13"/>
          <p:cNvSpPr/>
          <p:nvPr/>
        </p:nvSpPr>
        <p:spPr>
          <a:xfrm>
            <a:off x="2743200" y="3566160"/>
            <a:ext cx="2468880" cy="411480"/>
          </a:xfrm>
          <a:prstGeom prst="rect">
            <a:avLst/>
          </a:prstGeom>
          <a:noFill/>
          <a:ln/>
        </p:spPr>
        <p:txBody>
          <a:bodyPr wrap="square" lIns="0" tIns="0" rIns="0" bIns="0" rtlCol="0" anchor="ctr"/>
          <a:lstStyle/>
          <a:p>
            <a:pPr marL="0" indent="0">
              <a:buNone/>
            </a:pPr>
            <a:r>
              <a:rPr lang="en-US" sz="1350" b="1" dirty="0">
                <a:solidFill>
                  <a:srgbClr val="E7EBF0"/>
                </a:solidFill>
                <a:latin typeface="Consolas" pitchFamily="34" charset="0"/>
                <a:ea typeface="Consolas" pitchFamily="34" charset="-122"/>
                <a:cs typeface="Consolas" pitchFamily="34" charset="-120"/>
              </a:rPr>
              <a:t>1 spread</a:t>
            </a:r>
            <a:endParaRPr lang="en-US" sz="1350" dirty="0"/>
          </a:p>
        </p:txBody>
      </p:sp>
      <p:sp>
        <p:nvSpPr>
          <p:cNvPr id="16" name="Text 14"/>
          <p:cNvSpPr/>
          <p:nvPr/>
        </p:nvSpPr>
        <p:spPr>
          <a:xfrm>
            <a:off x="868680" y="4023360"/>
            <a:ext cx="1920240" cy="41148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Limit price</a:t>
            </a:r>
            <a:endParaRPr lang="en-US" sz="1300" dirty="0"/>
          </a:p>
        </p:txBody>
      </p:sp>
      <p:sp>
        <p:nvSpPr>
          <p:cNvPr id="17" name="Text 15"/>
          <p:cNvSpPr/>
          <p:nvPr/>
        </p:nvSpPr>
        <p:spPr>
          <a:xfrm>
            <a:off x="2743200" y="4023360"/>
            <a:ext cx="2468880" cy="411480"/>
          </a:xfrm>
          <a:prstGeom prst="rect">
            <a:avLst/>
          </a:prstGeom>
          <a:noFill/>
          <a:ln/>
        </p:spPr>
        <p:txBody>
          <a:bodyPr wrap="square" lIns="0" tIns="0" rIns="0" bIns="0" rtlCol="0" anchor="ctr"/>
          <a:lstStyle/>
          <a:p>
            <a:pPr marL="0" indent="0">
              <a:buNone/>
            </a:pPr>
            <a:r>
              <a:rPr lang="en-US" sz="1350" b="1" dirty="0">
                <a:solidFill>
                  <a:srgbClr val="F5B759"/>
                </a:solidFill>
                <a:latin typeface="Consolas" pitchFamily="34" charset="0"/>
                <a:ea typeface="Consolas" pitchFamily="34" charset="-122"/>
                <a:cs typeface="Consolas" pitchFamily="34" charset="-120"/>
              </a:rPr>
              <a:t>−$0.50</a:t>
            </a:r>
            <a:endParaRPr lang="en-US" sz="1350" dirty="0"/>
          </a:p>
        </p:txBody>
      </p:sp>
      <p:sp>
        <p:nvSpPr>
          <p:cNvPr id="18" name="Text 16"/>
          <p:cNvSpPr/>
          <p:nvPr/>
        </p:nvSpPr>
        <p:spPr>
          <a:xfrm>
            <a:off x="868680" y="4480560"/>
            <a:ext cx="1920240" cy="41148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Order type</a:t>
            </a:r>
            <a:endParaRPr lang="en-US" sz="1300" dirty="0"/>
          </a:p>
        </p:txBody>
      </p:sp>
      <p:sp>
        <p:nvSpPr>
          <p:cNvPr id="19" name="Text 17"/>
          <p:cNvSpPr/>
          <p:nvPr/>
        </p:nvSpPr>
        <p:spPr>
          <a:xfrm>
            <a:off x="2743200" y="4480560"/>
            <a:ext cx="2468880" cy="411480"/>
          </a:xfrm>
          <a:prstGeom prst="rect">
            <a:avLst/>
          </a:prstGeom>
          <a:noFill/>
          <a:ln/>
        </p:spPr>
        <p:txBody>
          <a:bodyPr wrap="square" lIns="0" tIns="0" rIns="0" bIns="0" rtlCol="0" anchor="ctr"/>
          <a:lstStyle/>
          <a:p>
            <a:pPr marL="0" indent="0">
              <a:buNone/>
            </a:pPr>
            <a:r>
              <a:rPr lang="en-US" sz="1350" b="1" dirty="0">
                <a:solidFill>
                  <a:srgbClr val="E7EBF0"/>
                </a:solidFill>
                <a:latin typeface="Consolas" pitchFamily="34" charset="0"/>
                <a:ea typeface="Consolas" pitchFamily="34" charset="-122"/>
                <a:cs typeface="Consolas" pitchFamily="34" charset="-120"/>
              </a:rPr>
              <a:t>All-or-none (atomic)</a:t>
            </a:r>
            <a:endParaRPr lang="en-US" sz="1350" dirty="0"/>
          </a:p>
        </p:txBody>
      </p:sp>
      <p:sp>
        <p:nvSpPr>
          <p:cNvPr id="20" name="flow arrow">
            <a:extLst>
              <a:ext uri="{C183D7F6-B498-43B3-948B-1728B52AA6E4}">
                <adec:decorative xmlns:adec="http://schemas.microsoft.com/office/drawing/2017/decorative" val="1"/>
              </a:ext>
            </a:extLst>
          </p:cNvPr>
          <p:cNvSpPr/>
          <p:nvPr/>
        </p:nvSpPr>
        <p:spPr>
          <a:xfrm>
            <a:off x="5440680" y="3383280"/>
            <a:ext cx="365760" cy="329184"/>
          </a:xfrm>
          <a:prstGeom prst="rightArrow">
            <a:avLst/>
          </a:prstGeom>
          <a:solidFill>
            <a:srgbClr val="10B981"/>
          </a:solidFill>
          <a:ln/>
        </p:spPr>
        <p:txBody>
          <a:bodyPr/>
          <a:lstStyle/>
          <a:p>
            <a:endParaRPr lang="en-SE"/>
          </a:p>
        </p:txBody>
      </p:sp>
      <p:sp>
        <p:nvSpPr>
          <p:cNvPr id="21" name="panel">
            <a:extLst>
              <a:ext uri="{C183D7F6-B498-43B3-948B-1728B52AA6E4}">
                <adec:decorative xmlns:adec="http://schemas.microsoft.com/office/drawing/2017/decorative" val="1"/>
              </a:ext>
            </a:extLst>
          </p:cNvPr>
          <p:cNvSpPr/>
          <p:nvPr/>
        </p:nvSpPr>
        <p:spPr>
          <a:xfrm>
            <a:off x="6035040" y="2057400"/>
            <a:ext cx="5513832" cy="2971800"/>
          </a:xfrm>
          <a:prstGeom prst="roundRect">
            <a:avLst>
              <a:gd name="adj" fmla="val 2769"/>
            </a:avLst>
          </a:prstGeom>
          <a:solidFill>
            <a:srgbClr val="1F252D"/>
          </a:solidFill>
          <a:ln w="12700">
            <a:solidFill>
              <a:srgbClr val="343E4A"/>
            </a:solidFill>
            <a:prstDash val="solid"/>
          </a:ln>
        </p:spPr>
        <p:txBody>
          <a:bodyPr/>
          <a:lstStyle/>
          <a:p>
            <a:endParaRPr lang="en-SE"/>
          </a:p>
        </p:txBody>
      </p:sp>
      <p:sp>
        <p:nvSpPr>
          <p:cNvPr id="22" name="Text 20"/>
          <p:cNvSpPr/>
          <p:nvPr/>
        </p:nvSpPr>
        <p:spPr>
          <a:xfrm>
            <a:off x="6263640" y="2240280"/>
            <a:ext cx="5029200" cy="292608"/>
          </a:xfrm>
          <a:prstGeom prst="rect">
            <a:avLst/>
          </a:prstGeom>
          <a:noFill/>
          <a:ln/>
        </p:spPr>
        <p:txBody>
          <a:bodyPr wrap="square" lIns="0" tIns="0" rIns="0" bIns="0" rtlCol="0" anchor="ctr"/>
          <a:lstStyle/>
          <a:p>
            <a:pPr marL="0" indent="0">
              <a:buNone/>
            </a:pPr>
            <a:r>
              <a:rPr lang="en-US" sz="1200" b="1" kern="0" spc="100" dirty="0">
                <a:solidFill>
                  <a:srgbClr val="E7EBF0"/>
                </a:solidFill>
                <a:latin typeface="Trebuchet MS" pitchFamily="34" charset="0"/>
                <a:ea typeface="Trebuchet MS" pitchFamily="34" charset="-122"/>
                <a:cs typeface="Trebuchet MS" pitchFamily="34" charset="-120"/>
              </a:rPr>
              <a:t>WHAT THE PLATFORM DOES</a:t>
            </a:r>
            <a:endParaRPr lang="en-US" sz="1200" dirty="0"/>
          </a:p>
        </p:txBody>
      </p:sp>
      <p:sp>
        <p:nvSpPr>
          <p:cNvPr id="23" name="dot">
            <a:extLst>
              <a:ext uri="{C183D7F6-B498-43B3-948B-1728B52AA6E4}">
                <adec:decorative xmlns:adec="http://schemas.microsoft.com/office/drawing/2017/decorative" val="1"/>
              </a:ext>
            </a:extLst>
          </p:cNvPr>
          <p:cNvSpPr/>
          <p:nvPr/>
        </p:nvSpPr>
        <p:spPr>
          <a:xfrm>
            <a:off x="6336792" y="2770632"/>
            <a:ext cx="219456" cy="219456"/>
          </a:xfrm>
          <a:prstGeom prst="ellipse">
            <a:avLst/>
          </a:prstGeom>
          <a:solidFill>
            <a:srgbClr val="34D399"/>
          </a:solidFill>
          <a:ln/>
        </p:spPr>
        <p:txBody>
          <a:bodyPr/>
          <a:lstStyle/>
          <a:p>
            <a:endParaRPr lang="en-SE"/>
          </a:p>
        </p:txBody>
      </p:sp>
      <p:sp>
        <p:nvSpPr>
          <p:cNvPr id="24" name="Text 22"/>
          <p:cNvSpPr/>
          <p:nvPr/>
        </p:nvSpPr>
        <p:spPr>
          <a:xfrm>
            <a:off x="6309360" y="2715768"/>
            <a:ext cx="292608" cy="329184"/>
          </a:xfrm>
          <a:prstGeom prst="rect">
            <a:avLst/>
          </a:prstGeom>
          <a:noFill/>
          <a:ln/>
        </p:spPr>
        <p:txBody>
          <a:bodyPr wrap="square" lIns="0" tIns="0" rIns="0" bIns="0" rtlCol="0" anchor="ctr"/>
          <a:lstStyle/>
          <a:p>
            <a:pPr marL="0" indent="0" algn="ctr">
              <a:buNone/>
            </a:pPr>
            <a:r>
              <a:rPr lang="en-US" sz="1100" b="1" dirty="0">
                <a:solidFill>
                  <a:srgbClr val="14171C"/>
                </a:solidFill>
                <a:latin typeface="Trebuchet MS" pitchFamily="34" charset="0"/>
                <a:ea typeface="Trebuchet MS" pitchFamily="34" charset="-122"/>
                <a:cs typeface="Trebuchet MS" pitchFamily="34" charset="-120"/>
              </a:rPr>
              <a:t>1</a:t>
            </a:r>
            <a:endParaRPr lang="en-US" sz="1100" dirty="0"/>
          </a:p>
        </p:txBody>
      </p:sp>
      <p:sp>
        <p:nvSpPr>
          <p:cNvPr id="25" name="Text 23"/>
          <p:cNvSpPr/>
          <p:nvPr/>
        </p:nvSpPr>
        <p:spPr>
          <a:xfrm>
            <a:off x="6720840" y="2697480"/>
            <a:ext cx="4663440" cy="713232"/>
          </a:xfrm>
          <a:prstGeom prst="rect">
            <a:avLst/>
          </a:prstGeom>
          <a:noFill/>
          <a:ln/>
        </p:spPr>
        <p:txBody>
          <a:bodyPr wrap="square" lIns="0" tIns="0" rIns="0" bIns="0" rtlCol="0" anchor="ctr"/>
          <a:lstStyle/>
          <a:p>
            <a:pPr marL="0" indent="0">
              <a:lnSpc>
                <a:spcPct val="110000"/>
              </a:lnSpc>
              <a:buNone/>
            </a:pPr>
            <a:r>
              <a:rPr lang="en-US" sz="1300" dirty="0">
                <a:solidFill>
                  <a:srgbClr val="AAB2BD"/>
                </a:solidFill>
                <a:latin typeface="Calibri" pitchFamily="34" charset="0"/>
                <a:ea typeface="Calibri" pitchFamily="34" charset="-122"/>
                <a:cs typeface="Calibri" pitchFamily="34" charset="-120"/>
              </a:rPr>
              <a:t>Finds a counterparty willing to take the other side of the whole spread at −$0.50.</a:t>
            </a:r>
            <a:endParaRPr lang="en-US" sz="1300" dirty="0"/>
          </a:p>
        </p:txBody>
      </p:sp>
      <p:sp>
        <p:nvSpPr>
          <p:cNvPr id="26" name="dot">
            <a:extLst>
              <a:ext uri="{C183D7F6-B498-43B3-948B-1728B52AA6E4}">
                <adec:decorative xmlns:adec="http://schemas.microsoft.com/office/drawing/2017/decorative" val="1"/>
              </a:ext>
            </a:extLst>
          </p:cNvPr>
          <p:cNvSpPr/>
          <p:nvPr/>
        </p:nvSpPr>
        <p:spPr>
          <a:xfrm>
            <a:off x="6336792" y="3520440"/>
            <a:ext cx="219456" cy="219456"/>
          </a:xfrm>
          <a:prstGeom prst="ellipse">
            <a:avLst/>
          </a:prstGeom>
          <a:solidFill>
            <a:srgbClr val="34D399"/>
          </a:solidFill>
          <a:ln/>
        </p:spPr>
        <p:txBody>
          <a:bodyPr/>
          <a:lstStyle/>
          <a:p>
            <a:endParaRPr lang="en-SE"/>
          </a:p>
        </p:txBody>
      </p:sp>
      <p:sp>
        <p:nvSpPr>
          <p:cNvPr id="27" name="Text 25"/>
          <p:cNvSpPr/>
          <p:nvPr/>
        </p:nvSpPr>
        <p:spPr>
          <a:xfrm>
            <a:off x="6309360" y="3465576"/>
            <a:ext cx="292608" cy="329184"/>
          </a:xfrm>
          <a:prstGeom prst="rect">
            <a:avLst/>
          </a:prstGeom>
          <a:noFill/>
          <a:ln/>
        </p:spPr>
        <p:txBody>
          <a:bodyPr wrap="square" lIns="0" tIns="0" rIns="0" bIns="0" rtlCol="0" anchor="ctr"/>
          <a:lstStyle/>
          <a:p>
            <a:pPr marL="0" indent="0" algn="ctr">
              <a:buNone/>
            </a:pPr>
            <a:r>
              <a:rPr lang="en-US" sz="1100" b="1" dirty="0">
                <a:solidFill>
                  <a:srgbClr val="14171C"/>
                </a:solidFill>
                <a:latin typeface="Trebuchet MS" pitchFamily="34" charset="0"/>
                <a:ea typeface="Trebuchet MS" pitchFamily="34" charset="-122"/>
                <a:cs typeface="Trebuchet MS" pitchFamily="34" charset="-120"/>
              </a:rPr>
              <a:t>2</a:t>
            </a:r>
            <a:endParaRPr lang="en-US" sz="1100" dirty="0"/>
          </a:p>
        </p:txBody>
      </p:sp>
      <p:sp>
        <p:nvSpPr>
          <p:cNvPr id="28" name="Text 26"/>
          <p:cNvSpPr/>
          <p:nvPr/>
        </p:nvSpPr>
        <p:spPr>
          <a:xfrm>
            <a:off x="6720840" y="3447288"/>
            <a:ext cx="4663440" cy="713232"/>
          </a:xfrm>
          <a:prstGeom prst="rect">
            <a:avLst/>
          </a:prstGeom>
          <a:noFill/>
          <a:ln/>
        </p:spPr>
        <p:txBody>
          <a:bodyPr wrap="square" lIns="0" tIns="0" rIns="0" bIns="0" rtlCol="0" anchor="ctr"/>
          <a:lstStyle/>
          <a:p>
            <a:pPr marL="0" indent="0">
              <a:lnSpc>
                <a:spcPct val="110000"/>
              </a:lnSpc>
              <a:buNone/>
            </a:pPr>
            <a:r>
              <a:rPr lang="en-US" sz="1300" dirty="0">
                <a:solidFill>
                  <a:srgbClr val="AAB2BD"/>
                </a:solidFill>
                <a:latin typeface="Calibri" pitchFamily="34" charset="0"/>
                <a:ea typeface="Calibri" pitchFamily="34" charset="-122"/>
                <a:cs typeface="Calibri" pitchFamily="34" charset="-120"/>
              </a:rPr>
              <a:t>In one atomic action, books +1 March and −1 June to your account.</a:t>
            </a:r>
            <a:endParaRPr lang="en-US" sz="1300" dirty="0"/>
          </a:p>
        </p:txBody>
      </p:sp>
      <p:sp>
        <p:nvSpPr>
          <p:cNvPr id="29" name="dot">
            <a:extLst>
              <a:ext uri="{C183D7F6-B498-43B3-948B-1728B52AA6E4}">
                <adec:decorative xmlns:adec="http://schemas.microsoft.com/office/drawing/2017/decorative" val="1"/>
              </a:ext>
            </a:extLst>
          </p:cNvPr>
          <p:cNvSpPr/>
          <p:nvPr/>
        </p:nvSpPr>
        <p:spPr>
          <a:xfrm>
            <a:off x="6336792" y="4270248"/>
            <a:ext cx="219456" cy="219456"/>
          </a:xfrm>
          <a:prstGeom prst="ellipse">
            <a:avLst/>
          </a:prstGeom>
          <a:solidFill>
            <a:srgbClr val="34D399"/>
          </a:solidFill>
          <a:ln/>
        </p:spPr>
        <p:txBody>
          <a:bodyPr/>
          <a:lstStyle/>
          <a:p>
            <a:endParaRPr lang="en-SE"/>
          </a:p>
        </p:txBody>
      </p:sp>
      <p:sp>
        <p:nvSpPr>
          <p:cNvPr id="30" name="Text 28"/>
          <p:cNvSpPr/>
          <p:nvPr/>
        </p:nvSpPr>
        <p:spPr>
          <a:xfrm>
            <a:off x="6309360" y="4215384"/>
            <a:ext cx="292608" cy="329184"/>
          </a:xfrm>
          <a:prstGeom prst="rect">
            <a:avLst/>
          </a:prstGeom>
          <a:noFill/>
          <a:ln/>
        </p:spPr>
        <p:txBody>
          <a:bodyPr wrap="square" lIns="0" tIns="0" rIns="0" bIns="0" rtlCol="0" anchor="ctr"/>
          <a:lstStyle/>
          <a:p>
            <a:pPr marL="0" indent="0" algn="ctr">
              <a:buNone/>
            </a:pPr>
            <a:r>
              <a:rPr lang="en-US" sz="1100" b="1" dirty="0">
                <a:solidFill>
                  <a:srgbClr val="14171C"/>
                </a:solidFill>
                <a:latin typeface="Trebuchet MS" pitchFamily="34" charset="0"/>
                <a:ea typeface="Trebuchet MS" pitchFamily="34" charset="-122"/>
                <a:cs typeface="Trebuchet MS" pitchFamily="34" charset="-120"/>
              </a:rPr>
              <a:t>3</a:t>
            </a:r>
            <a:endParaRPr lang="en-US" sz="1100" dirty="0"/>
          </a:p>
        </p:txBody>
      </p:sp>
      <p:sp>
        <p:nvSpPr>
          <p:cNvPr id="31" name="Text 29"/>
          <p:cNvSpPr/>
          <p:nvPr/>
        </p:nvSpPr>
        <p:spPr>
          <a:xfrm>
            <a:off x="6720840" y="4197096"/>
            <a:ext cx="4663440" cy="713232"/>
          </a:xfrm>
          <a:prstGeom prst="rect">
            <a:avLst/>
          </a:prstGeom>
          <a:noFill/>
          <a:ln/>
        </p:spPr>
        <p:txBody>
          <a:bodyPr wrap="square" lIns="0" tIns="0" rIns="0" bIns="0" rtlCol="0" anchor="ctr"/>
          <a:lstStyle/>
          <a:p>
            <a:pPr marL="0" indent="0">
              <a:lnSpc>
                <a:spcPct val="110000"/>
              </a:lnSpc>
              <a:buNone/>
            </a:pPr>
            <a:r>
              <a:rPr lang="en-US" sz="1300" dirty="0">
                <a:solidFill>
                  <a:srgbClr val="AAB2BD"/>
                </a:solidFill>
                <a:latin typeface="Calibri" pitchFamily="34" charset="0"/>
                <a:ea typeface="Calibri" pitchFamily="34" charset="-122"/>
                <a:cs typeface="Calibri" pitchFamily="34" charset="-120"/>
              </a:rPr>
              <a:t>No premium changes hands — only a margin deposit is set aside (next section).</a:t>
            </a:r>
            <a:endParaRPr lang="en-US" sz="1300" dirty="0"/>
          </a:p>
        </p:txBody>
      </p:sp>
      <p:sp>
        <p:nvSpPr>
          <p:cNvPr id="32"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33"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34" name="Text 32"/>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One ticket, one price, one atomic fill. You now hold the spread at −$0.50.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The Negative-Cost Puzzle">
    <p:spTree>
      <p:nvGrpSpPr>
        <p:cNvPr id="1" name=""/>
        <p:cNvGrpSpPr/>
        <p:nvPr/>
      </p:nvGrpSpPr>
      <p:grpSpPr>
        <a:xfrm>
          <a:off x="0" y="0"/>
          <a:ext cx="0" cy="0"/>
          <a:chOff x="0" y="0"/>
          <a:chExt cx="0" cy="0"/>
        </a:xfrm>
      </p:grpSpPr>
      <p:sp>
        <p:nvSpPr>
          <p:cNvPr id="2" name="Text 0"/>
          <p:cNvSpPr/>
          <p:nvPr/>
        </p:nvSpPr>
        <p:spPr>
          <a:xfrm>
            <a:off x="777240" y="502920"/>
            <a:ext cx="5486400" cy="2377440"/>
          </a:xfrm>
          <a:prstGeom prst="rect">
            <a:avLst/>
          </a:prstGeom>
          <a:noFill/>
          <a:ln/>
        </p:spPr>
        <p:txBody>
          <a:bodyPr wrap="square" lIns="0" tIns="0" rIns="0" bIns="0" rtlCol="0" anchor="ctr"/>
          <a:lstStyle/>
          <a:p>
            <a:pPr marL="0" indent="0">
              <a:buNone/>
            </a:pPr>
            <a:r>
              <a:rPr lang="en-US" sz="15000" b="1" dirty="0">
                <a:solidFill>
                  <a:srgbClr val="262E38"/>
                </a:solidFill>
                <a:latin typeface="Trebuchet MS" pitchFamily="34" charset="0"/>
                <a:ea typeface="Trebuchet MS" pitchFamily="34" charset="-122"/>
                <a:cs typeface="Trebuchet MS" pitchFamily="34" charset="-120"/>
              </a:rPr>
              <a:t>03</a:t>
            </a:r>
            <a:endParaRPr lang="en-US" sz="15000" dirty="0"/>
          </a:p>
        </p:txBody>
      </p:sp>
      <p:sp>
        <p:nvSpPr>
          <p:cNvPr id="3" name="accent">
            <a:extLst>
              <a:ext uri="{C183D7F6-B498-43B3-948B-1728B52AA6E4}">
                <adec:decorative xmlns:adec="http://schemas.microsoft.com/office/drawing/2017/decorative" val="1"/>
              </a:ext>
            </a:extLst>
          </p:cNvPr>
          <p:cNvSpPr/>
          <p:nvPr/>
        </p:nvSpPr>
        <p:spPr>
          <a:xfrm>
            <a:off x="1325880" y="3072384"/>
            <a:ext cx="457200" cy="100584"/>
          </a:xfrm>
          <a:prstGeom prst="rect">
            <a:avLst/>
          </a:prstGeom>
          <a:solidFill>
            <a:srgbClr val="34D399"/>
          </a:solidFill>
          <a:ln/>
        </p:spPr>
        <p:txBody>
          <a:bodyPr/>
          <a:lstStyle/>
          <a:p>
            <a:endParaRPr lang="en-SE"/>
          </a:p>
        </p:txBody>
      </p:sp>
      <p:sp>
        <p:nvSpPr>
          <p:cNvPr id="4" name="Text 2"/>
          <p:cNvSpPr/>
          <p:nvPr/>
        </p:nvSpPr>
        <p:spPr>
          <a:xfrm>
            <a:off x="1325880" y="2697480"/>
            <a:ext cx="7315200" cy="320040"/>
          </a:xfrm>
          <a:prstGeom prst="rect">
            <a:avLst/>
          </a:prstGeom>
          <a:noFill/>
          <a:ln/>
        </p:spPr>
        <p:txBody>
          <a:bodyPr wrap="square" lIns="0" tIns="0" rIns="0" bIns="0" rtlCol="0" anchor="ctr"/>
          <a:lstStyle/>
          <a:p>
            <a:pPr marL="0" indent="0">
              <a:buNone/>
            </a:pPr>
            <a:r>
              <a:rPr lang="en-US" sz="1300" b="1" kern="0" spc="400" dirty="0">
                <a:solidFill>
                  <a:srgbClr val="34D399"/>
                </a:solidFill>
                <a:latin typeface="Trebuchet MS" pitchFamily="34" charset="0"/>
                <a:ea typeface="Trebuchet MS" pitchFamily="34" charset="-122"/>
                <a:cs typeface="Trebuchet MS" pitchFamily="34" charset="-120"/>
              </a:rPr>
              <a:t>SECTION 03</a:t>
            </a:r>
            <a:endParaRPr lang="en-US" sz="1300" dirty="0"/>
          </a:p>
        </p:txBody>
      </p:sp>
      <p:sp>
        <p:nvSpPr>
          <p:cNvPr id="5" name="Text 0"/>
          <p:cNvSpPr>
            <a:spLocks noGrp="1"/>
          </p:cNvSpPr>
          <p:nvPr>
            <p:ph type="title" idx="100" hasCustomPrompt="1"/>
          </p:nvPr>
        </p:nvSpPr>
        <p:spPr>
          <a:xfrm>
            <a:off x="1280160" y="2926080"/>
            <a:ext cx="9601200" cy="1280160"/>
          </a:xfrm>
          <a:prstGeom prst="rect">
            <a:avLst/>
          </a:prstGeom>
          <a:noFill/>
          <a:ln/>
        </p:spPr>
        <p:txBody>
          <a:bodyPr wrap="square" lIns="0" tIns="0" rIns="0" bIns="0" rtlCol="0"/>
          <a:lstStyle/>
          <a:p>
            <a:pPr marL="0" indent="0">
              <a:buNone/>
            </a:pPr>
            <a:r>
              <a:rPr lang="en-US" sz="3300" b="1" dirty="0">
                <a:solidFill>
                  <a:srgbClr val="E7EBF0"/>
                </a:solidFill>
                <a:latin typeface="Trebuchet MS" pitchFamily="34" charset="0"/>
                <a:ea typeface="Trebuchet MS" pitchFamily="34" charset="-122"/>
                <a:cs typeface="Trebuchet MS" pitchFamily="34" charset="-120"/>
              </a:rPr>
              <a:t>The Negative-Cost Puzzle</a:t>
            </a:r>
            <a:endParaRPr lang="en-US" sz="3300" dirty="0"/>
          </a:p>
        </p:txBody>
      </p:sp>
      <p:sp>
        <p:nvSpPr>
          <p:cNvPr id="6" name="Text 4"/>
          <p:cNvSpPr/>
          <p:nvPr/>
        </p:nvSpPr>
        <p:spPr>
          <a:xfrm>
            <a:off x="1325880" y="4160520"/>
            <a:ext cx="9326880" cy="8229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−$0.50 is a price you pay by receiving. This section makes that sentence feel obvious instead of impossible.</a:t>
            </a:r>
            <a:endParaRPr lang="en-US" sz="1500" dirty="0"/>
          </a:p>
        </p:txBody>
      </p:sp>
      <p:sp>
        <p:nvSpPr>
          <p:cNvPr id="7" name="mark">
            <a:extLst>
              <a:ext uri="{C183D7F6-B498-43B3-948B-1728B52AA6E4}">
                <adec:decorative xmlns:adec="http://schemas.microsoft.com/office/drawing/2017/decorative" val="1"/>
              </a:ext>
            </a:extLst>
          </p:cNvPr>
          <p:cNvSpPr/>
          <p:nvPr/>
        </p:nvSpPr>
        <p:spPr>
          <a:xfrm>
            <a:off x="1325880" y="6126480"/>
            <a:ext cx="128016" cy="128016"/>
          </a:xfrm>
          <a:prstGeom prst="rect">
            <a:avLst/>
          </a:prstGeom>
          <a:solidFill>
            <a:srgbClr val="34D399"/>
          </a:solidFill>
          <a:ln/>
        </p:spPr>
        <p:txBody>
          <a:bodyPr/>
          <a:lstStyle/>
          <a:p>
            <a:endParaRPr lang="en-SE"/>
          </a:p>
        </p:txBody>
      </p:sp>
      <p:sp>
        <p:nvSpPr>
          <p:cNvPr id="8" name="Text 6"/>
          <p:cNvSpPr/>
          <p:nvPr/>
        </p:nvSpPr>
        <p:spPr>
          <a:xfrm>
            <a:off x="1527048" y="6080760"/>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Why a spread can be negative">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Why a spread can be negative</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03 · NEGATIVE COST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28</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The sign of the spread just reflects the shape of the forward curve — whether later oil is more or less expensive than nearer oil.</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48840"/>
            <a:ext cx="5303520" cy="2834640"/>
          </a:xfrm>
          <a:prstGeom prst="roundRect">
            <a:avLst>
              <a:gd name="adj" fmla="val 2903"/>
            </a:avLst>
          </a:prstGeom>
          <a:solidFill>
            <a:srgbClr val="262E38"/>
          </a:solidFill>
          <a:ln w="12700">
            <a:solidFill>
              <a:srgbClr val="F5B759"/>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868680" y="2304288"/>
            <a:ext cx="4846320" cy="274320"/>
          </a:xfrm>
          <a:prstGeom prst="rect">
            <a:avLst/>
          </a:prstGeom>
          <a:noFill/>
          <a:ln/>
        </p:spPr>
        <p:txBody>
          <a:bodyPr wrap="square" lIns="0" tIns="0" rIns="0" bIns="0" rtlCol="0" anchor="ctr"/>
          <a:lstStyle/>
          <a:p>
            <a:pPr marL="0" indent="0">
              <a:buNone/>
            </a:pPr>
            <a:r>
              <a:rPr lang="en-US" sz="1200" b="1" kern="0" spc="100" dirty="0">
                <a:solidFill>
                  <a:srgbClr val="F5B759"/>
                </a:solidFill>
                <a:latin typeface="Trebuchet MS" pitchFamily="34" charset="0"/>
                <a:ea typeface="Trebuchet MS" pitchFamily="34" charset="-122"/>
                <a:cs typeface="Trebuchet MS" pitchFamily="34" charset="-120"/>
              </a:rPr>
              <a:t>CONTANGO  (our case)</a:t>
            </a:r>
            <a:endParaRPr lang="en-US" sz="1200" dirty="0"/>
          </a:p>
        </p:txBody>
      </p:sp>
      <p:sp>
        <p:nvSpPr>
          <p:cNvPr id="10" name="connector">
            <a:extLst>
              <a:ext uri="{C183D7F6-B498-43B3-948B-1728B52AA6E4}">
                <adec:decorative xmlns:adec="http://schemas.microsoft.com/office/drawing/2017/decorative" val="1"/>
              </a:ext>
            </a:extLst>
          </p:cNvPr>
          <p:cNvSpPr/>
          <p:nvPr/>
        </p:nvSpPr>
        <p:spPr>
          <a:xfrm flipV="1">
            <a:off x="1097280" y="3977640"/>
            <a:ext cx="1371600" cy="320040"/>
          </a:xfrm>
          <a:prstGeom prst="line">
            <a:avLst/>
          </a:prstGeom>
          <a:noFill/>
          <a:ln w="38100">
            <a:solidFill>
              <a:srgbClr val="F5B759"/>
            </a:solidFill>
            <a:prstDash val="solid"/>
            <a:headEnd type="none"/>
            <a:tailEnd type="none"/>
          </a:ln>
        </p:spPr>
        <p:txBody>
          <a:bodyPr/>
          <a:lstStyle/>
          <a:p>
            <a:endParaRPr lang="en-SE"/>
          </a:p>
        </p:txBody>
      </p:sp>
      <p:sp>
        <p:nvSpPr>
          <p:cNvPr id="11" name="connector">
            <a:extLst>
              <a:ext uri="{C183D7F6-B498-43B3-948B-1728B52AA6E4}">
                <adec:decorative xmlns:adec="http://schemas.microsoft.com/office/drawing/2017/decorative" val="1"/>
              </a:ext>
            </a:extLst>
          </p:cNvPr>
          <p:cNvSpPr/>
          <p:nvPr/>
        </p:nvSpPr>
        <p:spPr>
          <a:xfrm flipV="1">
            <a:off x="2468880" y="3703320"/>
            <a:ext cx="1371600" cy="274320"/>
          </a:xfrm>
          <a:prstGeom prst="line">
            <a:avLst/>
          </a:prstGeom>
          <a:noFill/>
          <a:ln w="38100">
            <a:solidFill>
              <a:srgbClr val="F5B759"/>
            </a:solidFill>
            <a:prstDash val="solid"/>
            <a:headEnd type="none"/>
            <a:tailEnd type="none"/>
          </a:ln>
        </p:spPr>
        <p:txBody>
          <a:bodyPr/>
          <a:lstStyle/>
          <a:p>
            <a:endParaRPr lang="en-SE"/>
          </a:p>
        </p:txBody>
      </p:sp>
      <p:sp>
        <p:nvSpPr>
          <p:cNvPr id="12" name="connector">
            <a:extLst>
              <a:ext uri="{C183D7F6-B498-43B3-948B-1728B52AA6E4}">
                <adec:decorative xmlns:adec="http://schemas.microsoft.com/office/drawing/2017/decorative" val="1"/>
              </a:ext>
            </a:extLst>
          </p:cNvPr>
          <p:cNvSpPr/>
          <p:nvPr/>
        </p:nvSpPr>
        <p:spPr>
          <a:xfrm flipV="1">
            <a:off x="3840480" y="3520440"/>
            <a:ext cx="1371600" cy="182880"/>
          </a:xfrm>
          <a:prstGeom prst="line">
            <a:avLst/>
          </a:prstGeom>
          <a:noFill/>
          <a:ln w="38100">
            <a:solidFill>
              <a:srgbClr val="F5B759"/>
            </a:solidFill>
            <a:prstDash val="solid"/>
            <a:headEnd type="none"/>
            <a:tailEnd type="none"/>
          </a:ln>
        </p:spPr>
        <p:txBody>
          <a:bodyPr/>
          <a:lstStyle/>
          <a:p>
            <a:endParaRPr lang="en-SE"/>
          </a:p>
        </p:txBody>
      </p:sp>
      <p:sp>
        <p:nvSpPr>
          <p:cNvPr id="13" name="dot">
            <a:extLst>
              <a:ext uri="{C183D7F6-B498-43B3-948B-1728B52AA6E4}">
                <adec:decorative xmlns:adec="http://schemas.microsoft.com/office/drawing/2017/decorative" val="1"/>
              </a:ext>
            </a:extLst>
          </p:cNvPr>
          <p:cNvSpPr/>
          <p:nvPr/>
        </p:nvSpPr>
        <p:spPr>
          <a:xfrm>
            <a:off x="1024128" y="4224528"/>
            <a:ext cx="146304" cy="146304"/>
          </a:xfrm>
          <a:prstGeom prst="ellipse">
            <a:avLst/>
          </a:prstGeom>
          <a:solidFill>
            <a:srgbClr val="34D399"/>
          </a:solidFill>
          <a:ln/>
        </p:spPr>
        <p:txBody>
          <a:bodyPr/>
          <a:lstStyle/>
          <a:p>
            <a:endParaRPr lang="en-SE"/>
          </a:p>
        </p:txBody>
      </p:sp>
      <p:sp>
        <p:nvSpPr>
          <p:cNvPr id="14" name="dot">
            <a:extLst>
              <a:ext uri="{C183D7F6-B498-43B3-948B-1728B52AA6E4}">
                <adec:decorative xmlns:adec="http://schemas.microsoft.com/office/drawing/2017/decorative" val="1"/>
              </a:ext>
            </a:extLst>
          </p:cNvPr>
          <p:cNvSpPr/>
          <p:nvPr/>
        </p:nvSpPr>
        <p:spPr>
          <a:xfrm>
            <a:off x="5138928" y="3447288"/>
            <a:ext cx="146304" cy="146304"/>
          </a:xfrm>
          <a:prstGeom prst="ellipse">
            <a:avLst/>
          </a:prstGeom>
          <a:solidFill>
            <a:srgbClr val="6EA8E6"/>
          </a:solidFill>
          <a:ln/>
        </p:spPr>
        <p:txBody>
          <a:bodyPr/>
          <a:lstStyle/>
          <a:p>
            <a:endParaRPr lang="en-SE"/>
          </a:p>
        </p:txBody>
      </p:sp>
      <p:sp>
        <p:nvSpPr>
          <p:cNvPr id="15" name="Text 13"/>
          <p:cNvSpPr/>
          <p:nvPr/>
        </p:nvSpPr>
        <p:spPr>
          <a:xfrm>
            <a:off x="731520" y="4407408"/>
            <a:ext cx="731520" cy="228600"/>
          </a:xfrm>
          <a:prstGeom prst="rect">
            <a:avLst/>
          </a:prstGeom>
          <a:noFill/>
          <a:ln/>
        </p:spPr>
        <p:txBody>
          <a:bodyPr wrap="square" lIns="0" tIns="0" rIns="0" bIns="0" rtlCol="0" anchor="ctr"/>
          <a:lstStyle/>
          <a:p>
            <a:pPr marL="0" indent="0" algn="ctr">
              <a:buNone/>
            </a:pPr>
            <a:r>
              <a:rPr lang="en-US" sz="1000" dirty="0">
                <a:solidFill>
                  <a:srgbClr val="34D399"/>
                </a:solidFill>
                <a:latin typeface="Consolas" pitchFamily="34" charset="0"/>
                <a:ea typeface="Consolas" pitchFamily="34" charset="-122"/>
                <a:cs typeface="Consolas" pitchFamily="34" charset="-120"/>
              </a:rPr>
              <a:t>Mar</a:t>
            </a:r>
            <a:endParaRPr lang="en-US" sz="1000" dirty="0"/>
          </a:p>
        </p:txBody>
      </p:sp>
      <p:sp>
        <p:nvSpPr>
          <p:cNvPr id="16" name="Text 14"/>
          <p:cNvSpPr/>
          <p:nvPr/>
        </p:nvSpPr>
        <p:spPr>
          <a:xfrm>
            <a:off x="4846320" y="3227832"/>
            <a:ext cx="731520" cy="228600"/>
          </a:xfrm>
          <a:prstGeom prst="rect">
            <a:avLst/>
          </a:prstGeom>
          <a:noFill/>
          <a:ln/>
        </p:spPr>
        <p:txBody>
          <a:bodyPr wrap="square" lIns="0" tIns="0" rIns="0" bIns="0" rtlCol="0" anchor="ctr"/>
          <a:lstStyle/>
          <a:p>
            <a:pPr marL="0" indent="0" algn="ctr">
              <a:buNone/>
            </a:pPr>
            <a:r>
              <a:rPr lang="en-US" sz="1000" dirty="0">
                <a:solidFill>
                  <a:srgbClr val="6EA8E6"/>
                </a:solidFill>
                <a:latin typeface="Consolas" pitchFamily="34" charset="0"/>
                <a:ea typeface="Consolas" pitchFamily="34" charset="-122"/>
                <a:cs typeface="Consolas" pitchFamily="34" charset="-120"/>
              </a:rPr>
              <a:t>Jun</a:t>
            </a:r>
            <a:endParaRPr lang="en-US" sz="1000" dirty="0"/>
          </a:p>
        </p:txBody>
      </p:sp>
      <p:sp>
        <p:nvSpPr>
          <p:cNvPr id="17" name="Text 15"/>
          <p:cNvSpPr/>
          <p:nvPr/>
        </p:nvSpPr>
        <p:spPr>
          <a:xfrm>
            <a:off x="868680" y="4572000"/>
            <a:ext cx="4846320" cy="320040"/>
          </a:xfrm>
          <a:prstGeom prst="rect">
            <a:avLst/>
          </a:prstGeom>
          <a:noFill/>
          <a:ln/>
        </p:spPr>
        <p:txBody>
          <a:bodyPr wrap="square" lIns="0" tIns="0" rIns="0" bIns="0" rtlCol="0" anchor="ctr"/>
          <a:lstStyle/>
          <a:p>
            <a:pPr marL="0" indent="0">
              <a:buNone/>
            </a:pPr>
            <a:r>
              <a:rPr lang="en-US" sz="1250" dirty="0">
                <a:solidFill>
                  <a:srgbClr val="E7EBF0"/>
                </a:solidFill>
                <a:latin typeface="Calibri" pitchFamily="34" charset="0"/>
                <a:ea typeface="Calibri" pitchFamily="34" charset="-122"/>
                <a:cs typeface="Calibri" pitchFamily="34" charset="-120"/>
              </a:rPr>
              <a:t>Near cheaper than far → Near − Far is negative.</a:t>
            </a:r>
            <a:endParaRPr lang="en-US" sz="1250" dirty="0"/>
          </a:p>
        </p:txBody>
      </p:sp>
      <p:sp>
        <p:nvSpPr>
          <p:cNvPr id="18" name="panel">
            <a:extLst>
              <a:ext uri="{C183D7F6-B498-43B3-948B-1728B52AA6E4}">
                <adec:decorative xmlns:adec="http://schemas.microsoft.com/office/drawing/2017/decorative" val="1"/>
              </a:ext>
            </a:extLst>
          </p:cNvPr>
          <p:cNvSpPr/>
          <p:nvPr/>
        </p:nvSpPr>
        <p:spPr>
          <a:xfrm>
            <a:off x="6245352" y="2148840"/>
            <a:ext cx="5303520" cy="2834640"/>
          </a:xfrm>
          <a:prstGeom prst="roundRect">
            <a:avLst>
              <a:gd name="adj" fmla="val 2903"/>
            </a:avLst>
          </a:prstGeom>
          <a:solidFill>
            <a:srgbClr val="1F252D"/>
          </a:solidFill>
          <a:ln w="12700">
            <a:solidFill>
              <a:srgbClr val="343E4A"/>
            </a:solidFill>
            <a:prstDash val="solid"/>
          </a:ln>
        </p:spPr>
        <p:txBody>
          <a:bodyPr/>
          <a:lstStyle/>
          <a:p>
            <a:endParaRPr lang="en-SE"/>
          </a:p>
        </p:txBody>
      </p:sp>
      <p:sp>
        <p:nvSpPr>
          <p:cNvPr id="19" name="Text 17"/>
          <p:cNvSpPr/>
          <p:nvPr/>
        </p:nvSpPr>
        <p:spPr>
          <a:xfrm>
            <a:off x="6473952" y="2304288"/>
            <a:ext cx="4846320" cy="274320"/>
          </a:xfrm>
          <a:prstGeom prst="rect">
            <a:avLst/>
          </a:prstGeom>
          <a:noFill/>
          <a:ln/>
        </p:spPr>
        <p:txBody>
          <a:bodyPr wrap="square" lIns="0" tIns="0" rIns="0" bIns="0" rtlCol="0" anchor="ctr"/>
          <a:lstStyle/>
          <a:p>
            <a:pPr marL="0" indent="0">
              <a:buNone/>
            </a:pPr>
            <a:r>
              <a:rPr lang="en-US" sz="1200" b="1" kern="0" spc="100" dirty="0">
                <a:solidFill>
                  <a:srgbClr val="34D399"/>
                </a:solidFill>
                <a:latin typeface="Trebuchet MS" pitchFamily="34" charset="0"/>
                <a:ea typeface="Trebuchet MS" pitchFamily="34" charset="-122"/>
                <a:cs typeface="Trebuchet MS" pitchFamily="34" charset="-120"/>
              </a:rPr>
              <a:t>BACKWARDATION</a:t>
            </a:r>
            <a:endParaRPr lang="en-US" sz="1200" dirty="0"/>
          </a:p>
        </p:txBody>
      </p:sp>
      <p:sp>
        <p:nvSpPr>
          <p:cNvPr id="20" name="connector">
            <a:extLst>
              <a:ext uri="{C183D7F6-B498-43B3-948B-1728B52AA6E4}">
                <adec:decorative xmlns:adec="http://schemas.microsoft.com/office/drawing/2017/decorative" val="1"/>
              </a:ext>
            </a:extLst>
          </p:cNvPr>
          <p:cNvSpPr/>
          <p:nvPr/>
        </p:nvSpPr>
        <p:spPr>
          <a:xfrm>
            <a:off x="6675120" y="3520440"/>
            <a:ext cx="1371600" cy="182880"/>
          </a:xfrm>
          <a:prstGeom prst="line">
            <a:avLst/>
          </a:prstGeom>
          <a:noFill/>
          <a:ln w="38100">
            <a:solidFill>
              <a:srgbClr val="34D399"/>
            </a:solidFill>
            <a:prstDash val="solid"/>
            <a:headEnd type="none"/>
            <a:tailEnd type="none"/>
          </a:ln>
        </p:spPr>
        <p:txBody>
          <a:bodyPr/>
          <a:lstStyle/>
          <a:p>
            <a:endParaRPr lang="en-SE"/>
          </a:p>
        </p:txBody>
      </p:sp>
      <p:sp>
        <p:nvSpPr>
          <p:cNvPr id="21" name="connector">
            <a:extLst>
              <a:ext uri="{C183D7F6-B498-43B3-948B-1728B52AA6E4}">
                <adec:decorative xmlns:adec="http://schemas.microsoft.com/office/drawing/2017/decorative" val="1"/>
              </a:ext>
            </a:extLst>
          </p:cNvPr>
          <p:cNvSpPr/>
          <p:nvPr/>
        </p:nvSpPr>
        <p:spPr>
          <a:xfrm>
            <a:off x="8046720" y="3703320"/>
            <a:ext cx="1371600" cy="274320"/>
          </a:xfrm>
          <a:prstGeom prst="line">
            <a:avLst/>
          </a:prstGeom>
          <a:noFill/>
          <a:ln w="38100">
            <a:solidFill>
              <a:srgbClr val="34D399"/>
            </a:solidFill>
            <a:prstDash val="solid"/>
            <a:headEnd type="none"/>
            <a:tailEnd type="none"/>
          </a:ln>
        </p:spPr>
        <p:txBody>
          <a:bodyPr/>
          <a:lstStyle/>
          <a:p>
            <a:endParaRPr lang="en-SE"/>
          </a:p>
        </p:txBody>
      </p:sp>
      <p:sp>
        <p:nvSpPr>
          <p:cNvPr id="22" name="connector">
            <a:extLst>
              <a:ext uri="{C183D7F6-B498-43B3-948B-1728B52AA6E4}">
                <adec:decorative xmlns:adec="http://schemas.microsoft.com/office/drawing/2017/decorative" val="1"/>
              </a:ext>
            </a:extLst>
          </p:cNvPr>
          <p:cNvSpPr/>
          <p:nvPr/>
        </p:nvSpPr>
        <p:spPr>
          <a:xfrm>
            <a:off x="9418320" y="3977640"/>
            <a:ext cx="1371600" cy="320040"/>
          </a:xfrm>
          <a:prstGeom prst="line">
            <a:avLst/>
          </a:prstGeom>
          <a:noFill/>
          <a:ln w="38100">
            <a:solidFill>
              <a:srgbClr val="34D399"/>
            </a:solidFill>
            <a:prstDash val="solid"/>
            <a:headEnd type="none"/>
            <a:tailEnd type="none"/>
          </a:ln>
        </p:spPr>
        <p:txBody>
          <a:bodyPr/>
          <a:lstStyle/>
          <a:p>
            <a:endParaRPr lang="en-SE"/>
          </a:p>
        </p:txBody>
      </p:sp>
      <p:sp>
        <p:nvSpPr>
          <p:cNvPr id="23" name="dot">
            <a:extLst>
              <a:ext uri="{C183D7F6-B498-43B3-948B-1728B52AA6E4}">
                <adec:decorative xmlns:adec="http://schemas.microsoft.com/office/drawing/2017/decorative" val="1"/>
              </a:ext>
            </a:extLst>
          </p:cNvPr>
          <p:cNvSpPr/>
          <p:nvPr/>
        </p:nvSpPr>
        <p:spPr>
          <a:xfrm>
            <a:off x="6601968" y="3447288"/>
            <a:ext cx="146304" cy="146304"/>
          </a:xfrm>
          <a:prstGeom prst="ellipse">
            <a:avLst/>
          </a:prstGeom>
          <a:solidFill>
            <a:srgbClr val="34D399"/>
          </a:solidFill>
          <a:ln/>
        </p:spPr>
        <p:txBody>
          <a:bodyPr/>
          <a:lstStyle/>
          <a:p>
            <a:endParaRPr lang="en-SE"/>
          </a:p>
        </p:txBody>
      </p:sp>
      <p:sp>
        <p:nvSpPr>
          <p:cNvPr id="24" name="dot">
            <a:extLst>
              <a:ext uri="{C183D7F6-B498-43B3-948B-1728B52AA6E4}">
                <adec:decorative xmlns:adec="http://schemas.microsoft.com/office/drawing/2017/decorative" val="1"/>
              </a:ext>
            </a:extLst>
          </p:cNvPr>
          <p:cNvSpPr/>
          <p:nvPr/>
        </p:nvSpPr>
        <p:spPr>
          <a:xfrm>
            <a:off x="10716768" y="4224528"/>
            <a:ext cx="146304" cy="146304"/>
          </a:xfrm>
          <a:prstGeom prst="ellipse">
            <a:avLst/>
          </a:prstGeom>
          <a:solidFill>
            <a:srgbClr val="6EA8E6"/>
          </a:solidFill>
          <a:ln/>
        </p:spPr>
        <p:txBody>
          <a:bodyPr/>
          <a:lstStyle/>
          <a:p>
            <a:endParaRPr lang="en-SE"/>
          </a:p>
        </p:txBody>
      </p:sp>
      <p:sp>
        <p:nvSpPr>
          <p:cNvPr id="25" name="Text 23"/>
          <p:cNvSpPr/>
          <p:nvPr/>
        </p:nvSpPr>
        <p:spPr>
          <a:xfrm>
            <a:off x="6309360" y="3227832"/>
            <a:ext cx="731520" cy="228600"/>
          </a:xfrm>
          <a:prstGeom prst="rect">
            <a:avLst/>
          </a:prstGeom>
          <a:noFill/>
          <a:ln/>
        </p:spPr>
        <p:txBody>
          <a:bodyPr wrap="square" lIns="0" tIns="0" rIns="0" bIns="0" rtlCol="0" anchor="ctr"/>
          <a:lstStyle/>
          <a:p>
            <a:pPr marL="0" indent="0" algn="ctr">
              <a:buNone/>
            </a:pPr>
            <a:r>
              <a:rPr lang="en-US" sz="1000" dirty="0">
                <a:solidFill>
                  <a:srgbClr val="34D399"/>
                </a:solidFill>
                <a:latin typeface="Consolas" pitchFamily="34" charset="0"/>
                <a:ea typeface="Consolas" pitchFamily="34" charset="-122"/>
                <a:cs typeface="Consolas" pitchFamily="34" charset="-120"/>
              </a:rPr>
              <a:t>Mar</a:t>
            </a:r>
            <a:endParaRPr lang="en-US" sz="1000" dirty="0"/>
          </a:p>
        </p:txBody>
      </p:sp>
      <p:sp>
        <p:nvSpPr>
          <p:cNvPr id="26" name="Text 24"/>
          <p:cNvSpPr/>
          <p:nvPr/>
        </p:nvSpPr>
        <p:spPr>
          <a:xfrm>
            <a:off x="10424160" y="4407408"/>
            <a:ext cx="731520" cy="228600"/>
          </a:xfrm>
          <a:prstGeom prst="rect">
            <a:avLst/>
          </a:prstGeom>
          <a:noFill/>
          <a:ln/>
        </p:spPr>
        <p:txBody>
          <a:bodyPr wrap="square" lIns="0" tIns="0" rIns="0" bIns="0" rtlCol="0" anchor="ctr"/>
          <a:lstStyle/>
          <a:p>
            <a:pPr marL="0" indent="0" algn="ctr">
              <a:buNone/>
            </a:pPr>
            <a:r>
              <a:rPr lang="en-US" sz="1000" dirty="0">
                <a:solidFill>
                  <a:srgbClr val="6EA8E6"/>
                </a:solidFill>
                <a:latin typeface="Consolas" pitchFamily="34" charset="0"/>
                <a:ea typeface="Consolas" pitchFamily="34" charset="-122"/>
                <a:cs typeface="Consolas" pitchFamily="34" charset="-120"/>
              </a:rPr>
              <a:t>Jun</a:t>
            </a:r>
            <a:endParaRPr lang="en-US" sz="1000" dirty="0"/>
          </a:p>
        </p:txBody>
      </p:sp>
      <p:sp>
        <p:nvSpPr>
          <p:cNvPr id="27" name="Text 25"/>
          <p:cNvSpPr/>
          <p:nvPr/>
        </p:nvSpPr>
        <p:spPr>
          <a:xfrm>
            <a:off x="6473952" y="4572000"/>
            <a:ext cx="4846320" cy="320040"/>
          </a:xfrm>
          <a:prstGeom prst="rect">
            <a:avLst/>
          </a:prstGeom>
          <a:noFill/>
          <a:ln/>
        </p:spPr>
        <p:txBody>
          <a:bodyPr wrap="square" lIns="0" tIns="0" rIns="0" bIns="0" rtlCol="0" anchor="ctr"/>
          <a:lstStyle/>
          <a:p>
            <a:pPr marL="0" indent="0">
              <a:buNone/>
            </a:pPr>
            <a:r>
              <a:rPr lang="en-US" sz="1250" dirty="0">
                <a:solidFill>
                  <a:srgbClr val="E7EBF0"/>
                </a:solidFill>
                <a:latin typeface="Calibri" pitchFamily="34" charset="0"/>
                <a:ea typeface="Calibri" pitchFamily="34" charset="-122"/>
                <a:cs typeface="Calibri" pitchFamily="34" charset="-120"/>
              </a:rPr>
              <a:t>Near pricier than far → Near − Far is positive.</a:t>
            </a:r>
            <a:endParaRPr lang="en-US" sz="1250" dirty="0"/>
          </a:p>
        </p:txBody>
      </p:sp>
      <p:sp>
        <p:nvSpPr>
          <p:cNvPr id="28"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9"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5B759"/>
          </a:solidFill>
          <a:ln/>
        </p:spPr>
        <p:txBody>
          <a:bodyPr/>
          <a:lstStyle/>
          <a:p>
            <a:endParaRPr lang="en-SE"/>
          </a:p>
        </p:txBody>
      </p:sp>
      <p:sp>
        <p:nvSpPr>
          <p:cNvPr id="30" name="Text 28"/>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F5B75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Contango (rising curve) makes our spread negative. It's a market condition, not a mistake.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Reading the forward curve (illustrative)">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Reading the forward curve (illustrative)</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03 · NEGATIVE COST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29</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Here is a stylised Crude curve. Each dot is one delivery month's price. Our spread is just the vertical gap between the March and June dots.</a:t>
            </a:r>
            <a:endParaRPr lang="en-US" sz="1500" dirty="0"/>
          </a:p>
        </p:txBody>
      </p:sp>
      <p:sp>
        <p:nvSpPr>
          <p:cNvPr id="8" name="connector">
            <a:extLst>
              <a:ext uri="{C183D7F6-B498-43B3-948B-1728B52AA6E4}">
                <adec:decorative xmlns:adec="http://schemas.microsoft.com/office/drawing/2017/decorative" val="1"/>
              </a:ext>
            </a:extLst>
          </p:cNvPr>
          <p:cNvSpPr/>
          <p:nvPr/>
        </p:nvSpPr>
        <p:spPr>
          <a:xfrm>
            <a:off x="1188720" y="2286000"/>
            <a:ext cx="0" cy="2743200"/>
          </a:xfrm>
          <a:prstGeom prst="line">
            <a:avLst/>
          </a:prstGeom>
          <a:noFill/>
          <a:ln w="19050">
            <a:solidFill>
              <a:srgbClr val="343E4A"/>
            </a:solidFill>
            <a:prstDash val="solid"/>
            <a:headEnd type="none"/>
            <a:tailEnd type="none"/>
          </a:ln>
        </p:spPr>
        <p:txBody>
          <a:bodyPr/>
          <a:lstStyle/>
          <a:p>
            <a:endParaRPr lang="en-SE"/>
          </a:p>
        </p:txBody>
      </p:sp>
      <p:sp>
        <p:nvSpPr>
          <p:cNvPr id="9" name="connector">
            <a:extLst>
              <a:ext uri="{C183D7F6-B498-43B3-948B-1728B52AA6E4}">
                <adec:decorative xmlns:adec="http://schemas.microsoft.com/office/drawing/2017/decorative" val="1"/>
              </a:ext>
            </a:extLst>
          </p:cNvPr>
          <p:cNvSpPr/>
          <p:nvPr/>
        </p:nvSpPr>
        <p:spPr>
          <a:xfrm>
            <a:off x="1188720" y="5029200"/>
            <a:ext cx="9692640" cy="0"/>
          </a:xfrm>
          <a:prstGeom prst="line">
            <a:avLst/>
          </a:prstGeom>
          <a:noFill/>
          <a:ln w="19050">
            <a:solidFill>
              <a:srgbClr val="343E4A"/>
            </a:solidFill>
            <a:prstDash val="solid"/>
            <a:headEnd type="none"/>
            <a:tailEnd type="none"/>
          </a:ln>
        </p:spPr>
        <p:txBody>
          <a:bodyPr/>
          <a:lstStyle/>
          <a:p>
            <a:endParaRPr lang="en-SE"/>
          </a:p>
        </p:txBody>
      </p:sp>
      <p:sp>
        <p:nvSpPr>
          <p:cNvPr id="10" name="Text 8"/>
          <p:cNvSpPr/>
          <p:nvPr/>
        </p:nvSpPr>
        <p:spPr>
          <a:xfrm>
            <a:off x="1097280" y="1965960"/>
            <a:ext cx="1828800" cy="274320"/>
          </a:xfrm>
          <a:prstGeom prst="rect">
            <a:avLst/>
          </a:prstGeom>
          <a:noFill/>
          <a:ln/>
        </p:spPr>
        <p:txBody>
          <a:bodyPr wrap="square" lIns="0" tIns="0" rIns="0" bIns="0" rtlCol="0" anchor="ctr"/>
          <a:lstStyle/>
          <a:p>
            <a:pPr marL="0" indent="0">
              <a:buNone/>
            </a:pPr>
            <a:r>
              <a:rPr lang="en-US" sz="1100" dirty="0">
                <a:solidFill>
                  <a:srgbClr val="737D8A"/>
                </a:solidFill>
                <a:latin typeface="Calibri" pitchFamily="34" charset="0"/>
                <a:ea typeface="Calibri" pitchFamily="34" charset="-122"/>
                <a:cs typeface="Calibri" pitchFamily="34" charset="-120"/>
              </a:rPr>
              <a:t>Price / bbl</a:t>
            </a:r>
            <a:endParaRPr lang="en-US" sz="1100" dirty="0"/>
          </a:p>
        </p:txBody>
      </p:sp>
      <p:sp>
        <p:nvSpPr>
          <p:cNvPr id="11" name="connector">
            <a:extLst>
              <a:ext uri="{C183D7F6-B498-43B3-948B-1728B52AA6E4}">
                <adec:decorative xmlns:adec="http://schemas.microsoft.com/office/drawing/2017/decorative" val="1"/>
              </a:ext>
            </a:extLst>
          </p:cNvPr>
          <p:cNvSpPr/>
          <p:nvPr/>
        </p:nvSpPr>
        <p:spPr>
          <a:xfrm flipV="1">
            <a:off x="1645920" y="4014216"/>
            <a:ext cx="1254034" cy="356616"/>
          </a:xfrm>
          <a:prstGeom prst="line">
            <a:avLst/>
          </a:prstGeom>
          <a:noFill/>
          <a:ln w="31750">
            <a:solidFill>
              <a:srgbClr val="262E38"/>
            </a:solidFill>
            <a:prstDash val="solid"/>
            <a:headEnd type="none"/>
            <a:tailEnd type="none"/>
          </a:ln>
        </p:spPr>
        <p:txBody>
          <a:bodyPr/>
          <a:lstStyle/>
          <a:p>
            <a:endParaRPr lang="en-SE"/>
          </a:p>
        </p:txBody>
      </p:sp>
      <p:sp>
        <p:nvSpPr>
          <p:cNvPr id="12" name="connector">
            <a:extLst>
              <a:ext uri="{C183D7F6-B498-43B3-948B-1728B52AA6E4}">
                <adec:decorative xmlns:adec="http://schemas.microsoft.com/office/drawing/2017/decorative" val="1"/>
              </a:ext>
            </a:extLst>
          </p:cNvPr>
          <p:cNvSpPr/>
          <p:nvPr/>
        </p:nvSpPr>
        <p:spPr>
          <a:xfrm flipV="1">
            <a:off x="2899954" y="3657600"/>
            <a:ext cx="1254034" cy="356616"/>
          </a:xfrm>
          <a:prstGeom prst="line">
            <a:avLst/>
          </a:prstGeom>
          <a:noFill/>
          <a:ln w="31750">
            <a:solidFill>
              <a:srgbClr val="262E38"/>
            </a:solidFill>
            <a:prstDash val="solid"/>
            <a:headEnd type="none"/>
            <a:tailEnd type="none"/>
          </a:ln>
        </p:spPr>
        <p:txBody>
          <a:bodyPr/>
          <a:lstStyle/>
          <a:p>
            <a:endParaRPr lang="en-SE"/>
          </a:p>
        </p:txBody>
      </p:sp>
      <p:sp>
        <p:nvSpPr>
          <p:cNvPr id="13" name="connector">
            <a:extLst>
              <a:ext uri="{C183D7F6-B498-43B3-948B-1728B52AA6E4}">
                <adec:decorative xmlns:adec="http://schemas.microsoft.com/office/drawing/2017/decorative" val="1"/>
              </a:ext>
            </a:extLst>
          </p:cNvPr>
          <p:cNvSpPr/>
          <p:nvPr/>
        </p:nvSpPr>
        <p:spPr>
          <a:xfrm flipV="1">
            <a:off x="4153989" y="3419856"/>
            <a:ext cx="1254034" cy="237744"/>
          </a:xfrm>
          <a:prstGeom prst="line">
            <a:avLst/>
          </a:prstGeom>
          <a:noFill/>
          <a:ln w="31750">
            <a:solidFill>
              <a:srgbClr val="262E38"/>
            </a:solidFill>
            <a:prstDash val="solid"/>
            <a:headEnd type="none"/>
            <a:tailEnd type="none"/>
          </a:ln>
        </p:spPr>
        <p:txBody>
          <a:bodyPr/>
          <a:lstStyle/>
          <a:p>
            <a:endParaRPr lang="en-SE"/>
          </a:p>
        </p:txBody>
      </p:sp>
      <p:sp>
        <p:nvSpPr>
          <p:cNvPr id="14" name="connector">
            <a:extLst>
              <a:ext uri="{C183D7F6-B498-43B3-948B-1728B52AA6E4}">
                <adec:decorative xmlns:adec="http://schemas.microsoft.com/office/drawing/2017/decorative" val="1"/>
              </a:ext>
            </a:extLst>
          </p:cNvPr>
          <p:cNvSpPr/>
          <p:nvPr/>
        </p:nvSpPr>
        <p:spPr>
          <a:xfrm flipV="1">
            <a:off x="5408023" y="3241548"/>
            <a:ext cx="1254034" cy="178308"/>
          </a:xfrm>
          <a:prstGeom prst="line">
            <a:avLst/>
          </a:prstGeom>
          <a:noFill/>
          <a:ln w="31750">
            <a:solidFill>
              <a:srgbClr val="262E38"/>
            </a:solidFill>
            <a:prstDash val="solid"/>
            <a:headEnd type="none"/>
            <a:tailEnd type="none"/>
          </a:ln>
        </p:spPr>
        <p:txBody>
          <a:bodyPr/>
          <a:lstStyle/>
          <a:p>
            <a:endParaRPr lang="en-SE"/>
          </a:p>
        </p:txBody>
      </p:sp>
      <p:sp>
        <p:nvSpPr>
          <p:cNvPr id="15" name="connector">
            <a:extLst>
              <a:ext uri="{C183D7F6-B498-43B3-948B-1728B52AA6E4}">
                <adec:decorative xmlns:adec="http://schemas.microsoft.com/office/drawing/2017/decorative" val="1"/>
              </a:ext>
            </a:extLst>
          </p:cNvPr>
          <p:cNvSpPr/>
          <p:nvPr/>
        </p:nvSpPr>
        <p:spPr>
          <a:xfrm flipV="1">
            <a:off x="6662057" y="3063240"/>
            <a:ext cx="1254034" cy="178308"/>
          </a:xfrm>
          <a:prstGeom prst="line">
            <a:avLst/>
          </a:prstGeom>
          <a:noFill/>
          <a:ln w="31750">
            <a:solidFill>
              <a:srgbClr val="262E38"/>
            </a:solidFill>
            <a:prstDash val="solid"/>
            <a:headEnd type="none"/>
            <a:tailEnd type="none"/>
          </a:ln>
        </p:spPr>
        <p:txBody>
          <a:bodyPr/>
          <a:lstStyle/>
          <a:p>
            <a:endParaRPr lang="en-SE"/>
          </a:p>
        </p:txBody>
      </p:sp>
      <p:sp>
        <p:nvSpPr>
          <p:cNvPr id="16" name="connector">
            <a:extLst>
              <a:ext uri="{C183D7F6-B498-43B3-948B-1728B52AA6E4}">
                <adec:decorative xmlns:adec="http://schemas.microsoft.com/office/drawing/2017/decorative" val="1"/>
              </a:ext>
            </a:extLst>
          </p:cNvPr>
          <p:cNvSpPr/>
          <p:nvPr/>
        </p:nvSpPr>
        <p:spPr>
          <a:xfrm flipV="1">
            <a:off x="7916091" y="2920594"/>
            <a:ext cx="1254034" cy="142646"/>
          </a:xfrm>
          <a:prstGeom prst="line">
            <a:avLst/>
          </a:prstGeom>
          <a:noFill/>
          <a:ln w="31750">
            <a:solidFill>
              <a:srgbClr val="262E38"/>
            </a:solidFill>
            <a:prstDash val="solid"/>
            <a:headEnd type="none"/>
            <a:tailEnd type="none"/>
          </a:ln>
        </p:spPr>
        <p:txBody>
          <a:bodyPr/>
          <a:lstStyle/>
          <a:p>
            <a:endParaRPr lang="en-SE"/>
          </a:p>
        </p:txBody>
      </p:sp>
      <p:sp>
        <p:nvSpPr>
          <p:cNvPr id="17" name="connector">
            <a:extLst>
              <a:ext uri="{C183D7F6-B498-43B3-948B-1728B52AA6E4}">
                <adec:decorative xmlns:adec="http://schemas.microsoft.com/office/drawing/2017/decorative" val="1"/>
              </a:ext>
            </a:extLst>
          </p:cNvPr>
          <p:cNvSpPr/>
          <p:nvPr/>
        </p:nvSpPr>
        <p:spPr>
          <a:xfrm flipV="1">
            <a:off x="9170126" y="2825496"/>
            <a:ext cx="1254034" cy="95098"/>
          </a:xfrm>
          <a:prstGeom prst="line">
            <a:avLst/>
          </a:prstGeom>
          <a:noFill/>
          <a:ln w="31750">
            <a:solidFill>
              <a:srgbClr val="262E38"/>
            </a:solidFill>
            <a:prstDash val="solid"/>
            <a:headEnd type="none"/>
            <a:tailEnd type="none"/>
          </a:ln>
        </p:spPr>
        <p:txBody>
          <a:bodyPr/>
          <a:lstStyle/>
          <a:p>
            <a:endParaRPr lang="en-SE"/>
          </a:p>
        </p:txBody>
      </p:sp>
      <p:sp>
        <p:nvSpPr>
          <p:cNvPr id="18" name="dot">
            <a:extLst>
              <a:ext uri="{C183D7F6-B498-43B3-948B-1728B52AA6E4}">
                <adec:decorative xmlns:adec="http://schemas.microsoft.com/office/drawing/2017/decorative" val="1"/>
              </a:ext>
            </a:extLst>
          </p:cNvPr>
          <p:cNvSpPr/>
          <p:nvPr/>
        </p:nvSpPr>
        <p:spPr>
          <a:xfrm>
            <a:off x="1591056" y="4315968"/>
            <a:ext cx="109728" cy="109728"/>
          </a:xfrm>
          <a:prstGeom prst="ellipse">
            <a:avLst/>
          </a:prstGeom>
          <a:solidFill>
            <a:srgbClr val="737D8A"/>
          </a:solidFill>
          <a:ln/>
        </p:spPr>
        <p:txBody>
          <a:bodyPr/>
          <a:lstStyle/>
          <a:p>
            <a:endParaRPr lang="en-SE"/>
          </a:p>
        </p:txBody>
      </p:sp>
      <p:sp>
        <p:nvSpPr>
          <p:cNvPr id="19" name="Text 17"/>
          <p:cNvSpPr/>
          <p:nvPr/>
        </p:nvSpPr>
        <p:spPr>
          <a:xfrm>
            <a:off x="1280160" y="5102352"/>
            <a:ext cx="731520" cy="22860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Jan</a:t>
            </a:r>
            <a:endParaRPr lang="en-US" sz="1000" dirty="0"/>
          </a:p>
        </p:txBody>
      </p:sp>
      <p:sp>
        <p:nvSpPr>
          <p:cNvPr id="20" name="dot">
            <a:extLst>
              <a:ext uri="{C183D7F6-B498-43B3-948B-1728B52AA6E4}">
                <adec:decorative xmlns:adec="http://schemas.microsoft.com/office/drawing/2017/decorative" val="1"/>
              </a:ext>
            </a:extLst>
          </p:cNvPr>
          <p:cNvSpPr/>
          <p:nvPr/>
        </p:nvSpPr>
        <p:spPr>
          <a:xfrm>
            <a:off x="2845090" y="3959352"/>
            <a:ext cx="109728" cy="109728"/>
          </a:xfrm>
          <a:prstGeom prst="ellipse">
            <a:avLst/>
          </a:prstGeom>
          <a:solidFill>
            <a:srgbClr val="737D8A"/>
          </a:solidFill>
          <a:ln/>
        </p:spPr>
        <p:txBody>
          <a:bodyPr/>
          <a:lstStyle/>
          <a:p>
            <a:endParaRPr lang="en-SE"/>
          </a:p>
        </p:txBody>
      </p:sp>
      <p:sp>
        <p:nvSpPr>
          <p:cNvPr id="21" name="Text 19"/>
          <p:cNvSpPr/>
          <p:nvPr/>
        </p:nvSpPr>
        <p:spPr>
          <a:xfrm>
            <a:off x="2534194" y="5102352"/>
            <a:ext cx="731520" cy="22860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Feb</a:t>
            </a:r>
            <a:endParaRPr lang="en-US" sz="1000" dirty="0"/>
          </a:p>
        </p:txBody>
      </p:sp>
      <p:sp>
        <p:nvSpPr>
          <p:cNvPr id="22" name="dot">
            <a:extLst>
              <a:ext uri="{C183D7F6-B498-43B3-948B-1728B52AA6E4}">
                <adec:decorative xmlns:adec="http://schemas.microsoft.com/office/drawing/2017/decorative" val="1"/>
              </a:ext>
            </a:extLst>
          </p:cNvPr>
          <p:cNvSpPr/>
          <p:nvPr/>
        </p:nvSpPr>
        <p:spPr>
          <a:xfrm>
            <a:off x="4062549" y="3566160"/>
            <a:ext cx="182880" cy="182880"/>
          </a:xfrm>
          <a:prstGeom prst="ellipse">
            <a:avLst/>
          </a:prstGeom>
          <a:solidFill>
            <a:srgbClr val="34D399"/>
          </a:solidFill>
          <a:ln/>
        </p:spPr>
        <p:txBody>
          <a:bodyPr/>
          <a:lstStyle/>
          <a:p>
            <a:endParaRPr lang="en-SE"/>
          </a:p>
        </p:txBody>
      </p:sp>
      <p:sp>
        <p:nvSpPr>
          <p:cNvPr id="23" name="Text 21"/>
          <p:cNvSpPr/>
          <p:nvPr/>
        </p:nvSpPr>
        <p:spPr>
          <a:xfrm>
            <a:off x="3788229" y="5102352"/>
            <a:ext cx="731520" cy="228600"/>
          </a:xfrm>
          <a:prstGeom prst="rect">
            <a:avLst/>
          </a:prstGeom>
          <a:noFill/>
          <a:ln/>
        </p:spPr>
        <p:txBody>
          <a:bodyPr wrap="square" lIns="0" tIns="0" rIns="0" bIns="0" rtlCol="0" anchor="ctr"/>
          <a:lstStyle/>
          <a:p>
            <a:pPr marL="0" indent="0" algn="ctr">
              <a:buNone/>
            </a:pPr>
            <a:r>
              <a:rPr lang="en-US" sz="1000" dirty="0">
                <a:solidFill>
                  <a:srgbClr val="34D399"/>
                </a:solidFill>
                <a:latin typeface="Consolas" pitchFamily="34" charset="0"/>
                <a:ea typeface="Consolas" pitchFamily="34" charset="-122"/>
                <a:cs typeface="Consolas" pitchFamily="34" charset="-120"/>
              </a:rPr>
              <a:t>Mar</a:t>
            </a:r>
            <a:endParaRPr lang="en-US" sz="1000" dirty="0"/>
          </a:p>
        </p:txBody>
      </p:sp>
      <p:sp>
        <p:nvSpPr>
          <p:cNvPr id="24" name="Text 22"/>
          <p:cNvSpPr/>
          <p:nvPr/>
        </p:nvSpPr>
        <p:spPr>
          <a:xfrm>
            <a:off x="3605349" y="3273552"/>
            <a:ext cx="1097280" cy="228600"/>
          </a:xfrm>
          <a:prstGeom prst="rect">
            <a:avLst/>
          </a:prstGeom>
          <a:noFill/>
          <a:ln/>
        </p:spPr>
        <p:txBody>
          <a:bodyPr wrap="square" lIns="0" tIns="0" rIns="0" bIns="0" rtlCol="0" anchor="ctr"/>
          <a:lstStyle/>
          <a:p>
            <a:pPr marL="0" indent="0" algn="ctr">
              <a:buNone/>
            </a:pPr>
            <a:r>
              <a:rPr lang="en-US" sz="1000" b="1" dirty="0">
                <a:solidFill>
                  <a:srgbClr val="34D399"/>
                </a:solidFill>
                <a:latin typeface="Consolas" pitchFamily="34" charset="0"/>
                <a:ea typeface="Consolas" pitchFamily="34" charset="-122"/>
                <a:cs typeface="Consolas" pitchFamily="34" charset="-120"/>
              </a:rPr>
              <a:t>$80.00</a:t>
            </a:r>
            <a:endParaRPr lang="en-US" sz="1000" dirty="0"/>
          </a:p>
        </p:txBody>
      </p:sp>
      <p:sp>
        <p:nvSpPr>
          <p:cNvPr id="25" name="dot">
            <a:extLst>
              <a:ext uri="{C183D7F6-B498-43B3-948B-1728B52AA6E4}">
                <adec:decorative xmlns:adec="http://schemas.microsoft.com/office/drawing/2017/decorative" val="1"/>
              </a:ext>
            </a:extLst>
          </p:cNvPr>
          <p:cNvSpPr/>
          <p:nvPr/>
        </p:nvSpPr>
        <p:spPr>
          <a:xfrm>
            <a:off x="5353159" y="3364992"/>
            <a:ext cx="109728" cy="109728"/>
          </a:xfrm>
          <a:prstGeom prst="ellipse">
            <a:avLst/>
          </a:prstGeom>
          <a:solidFill>
            <a:srgbClr val="737D8A"/>
          </a:solidFill>
          <a:ln/>
        </p:spPr>
        <p:txBody>
          <a:bodyPr/>
          <a:lstStyle/>
          <a:p>
            <a:endParaRPr lang="en-SE"/>
          </a:p>
        </p:txBody>
      </p:sp>
      <p:sp>
        <p:nvSpPr>
          <p:cNvPr id="26" name="Text 24"/>
          <p:cNvSpPr/>
          <p:nvPr/>
        </p:nvSpPr>
        <p:spPr>
          <a:xfrm>
            <a:off x="5042263" y="5102352"/>
            <a:ext cx="731520" cy="22860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Apr</a:t>
            </a:r>
            <a:endParaRPr lang="en-US" sz="1000" dirty="0"/>
          </a:p>
        </p:txBody>
      </p:sp>
      <p:sp>
        <p:nvSpPr>
          <p:cNvPr id="27" name="dot">
            <a:extLst>
              <a:ext uri="{C183D7F6-B498-43B3-948B-1728B52AA6E4}">
                <adec:decorative xmlns:adec="http://schemas.microsoft.com/office/drawing/2017/decorative" val="1"/>
              </a:ext>
            </a:extLst>
          </p:cNvPr>
          <p:cNvSpPr/>
          <p:nvPr/>
        </p:nvSpPr>
        <p:spPr>
          <a:xfrm>
            <a:off x="6607193" y="3186684"/>
            <a:ext cx="109728" cy="109728"/>
          </a:xfrm>
          <a:prstGeom prst="ellipse">
            <a:avLst/>
          </a:prstGeom>
          <a:solidFill>
            <a:srgbClr val="737D8A"/>
          </a:solidFill>
          <a:ln/>
        </p:spPr>
        <p:txBody>
          <a:bodyPr/>
          <a:lstStyle/>
          <a:p>
            <a:endParaRPr lang="en-SE"/>
          </a:p>
        </p:txBody>
      </p:sp>
      <p:sp>
        <p:nvSpPr>
          <p:cNvPr id="28" name="Text 26"/>
          <p:cNvSpPr/>
          <p:nvPr/>
        </p:nvSpPr>
        <p:spPr>
          <a:xfrm>
            <a:off x="6296297" y="5102352"/>
            <a:ext cx="731520" cy="22860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May</a:t>
            </a:r>
            <a:endParaRPr lang="en-US" sz="1000" dirty="0"/>
          </a:p>
        </p:txBody>
      </p:sp>
      <p:sp>
        <p:nvSpPr>
          <p:cNvPr id="29" name="dot">
            <a:extLst>
              <a:ext uri="{C183D7F6-B498-43B3-948B-1728B52AA6E4}">
                <adec:decorative xmlns:adec="http://schemas.microsoft.com/office/drawing/2017/decorative" val="1"/>
              </a:ext>
            </a:extLst>
          </p:cNvPr>
          <p:cNvSpPr/>
          <p:nvPr/>
        </p:nvSpPr>
        <p:spPr>
          <a:xfrm>
            <a:off x="7824651" y="2971800"/>
            <a:ext cx="182880" cy="182880"/>
          </a:xfrm>
          <a:prstGeom prst="ellipse">
            <a:avLst/>
          </a:prstGeom>
          <a:solidFill>
            <a:srgbClr val="6EA8E6"/>
          </a:solidFill>
          <a:ln/>
        </p:spPr>
        <p:txBody>
          <a:bodyPr/>
          <a:lstStyle/>
          <a:p>
            <a:endParaRPr lang="en-SE"/>
          </a:p>
        </p:txBody>
      </p:sp>
      <p:sp>
        <p:nvSpPr>
          <p:cNvPr id="30" name="Text 28"/>
          <p:cNvSpPr/>
          <p:nvPr/>
        </p:nvSpPr>
        <p:spPr>
          <a:xfrm>
            <a:off x="7550331" y="5102352"/>
            <a:ext cx="731520" cy="228600"/>
          </a:xfrm>
          <a:prstGeom prst="rect">
            <a:avLst/>
          </a:prstGeom>
          <a:noFill/>
          <a:ln/>
        </p:spPr>
        <p:txBody>
          <a:bodyPr wrap="square" lIns="0" tIns="0" rIns="0" bIns="0" rtlCol="0" anchor="ctr"/>
          <a:lstStyle/>
          <a:p>
            <a:pPr marL="0" indent="0" algn="ctr">
              <a:buNone/>
            </a:pPr>
            <a:r>
              <a:rPr lang="en-US" sz="1000" dirty="0">
                <a:solidFill>
                  <a:srgbClr val="6EA8E6"/>
                </a:solidFill>
                <a:latin typeface="Consolas" pitchFamily="34" charset="0"/>
                <a:ea typeface="Consolas" pitchFamily="34" charset="-122"/>
                <a:cs typeface="Consolas" pitchFamily="34" charset="-120"/>
              </a:rPr>
              <a:t>Jun</a:t>
            </a:r>
            <a:endParaRPr lang="en-US" sz="1000" dirty="0"/>
          </a:p>
        </p:txBody>
      </p:sp>
      <p:sp>
        <p:nvSpPr>
          <p:cNvPr id="31" name="Text 29"/>
          <p:cNvSpPr/>
          <p:nvPr/>
        </p:nvSpPr>
        <p:spPr>
          <a:xfrm>
            <a:off x="7367451" y="2679192"/>
            <a:ext cx="1097280" cy="228600"/>
          </a:xfrm>
          <a:prstGeom prst="rect">
            <a:avLst/>
          </a:prstGeom>
          <a:noFill/>
          <a:ln/>
        </p:spPr>
        <p:txBody>
          <a:bodyPr wrap="square" lIns="0" tIns="0" rIns="0" bIns="0" rtlCol="0" anchor="ctr"/>
          <a:lstStyle/>
          <a:p>
            <a:pPr marL="0" indent="0" algn="ctr">
              <a:buNone/>
            </a:pPr>
            <a:r>
              <a:rPr lang="en-US" sz="1000" b="1" dirty="0">
                <a:solidFill>
                  <a:srgbClr val="6EA8E6"/>
                </a:solidFill>
                <a:latin typeface="Consolas" pitchFamily="34" charset="0"/>
                <a:ea typeface="Consolas" pitchFamily="34" charset="-122"/>
                <a:cs typeface="Consolas" pitchFamily="34" charset="-120"/>
              </a:rPr>
              <a:t>$80.50</a:t>
            </a:r>
            <a:endParaRPr lang="en-US" sz="1000" dirty="0"/>
          </a:p>
        </p:txBody>
      </p:sp>
      <p:sp>
        <p:nvSpPr>
          <p:cNvPr id="32" name="dot">
            <a:extLst>
              <a:ext uri="{C183D7F6-B498-43B3-948B-1728B52AA6E4}">
                <adec:decorative xmlns:adec="http://schemas.microsoft.com/office/drawing/2017/decorative" val="1"/>
              </a:ext>
            </a:extLst>
          </p:cNvPr>
          <p:cNvSpPr/>
          <p:nvPr/>
        </p:nvSpPr>
        <p:spPr>
          <a:xfrm>
            <a:off x="9115262" y="2865730"/>
            <a:ext cx="109728" cy="109728"/>
          </a:xfrm>
          <a:prstGeom prst="ellipse">
            <a:avLst/>
          </a:prstGeom>
          <a:solidFill>
            <a:srgbClr val="737D8A"/>
          </a:solidFill>
          <a:ln/>
        </p:spPr>
        <p:txBody>
          <a:bodyPr/>
          <a:lstStyle/>
          <a:p>
            <a:endParaRPr lang="en-SE"/>
          </a:p>
        </p:txBody>
      </p:sp>
      <p:sp>
        <p:nvSpPr>
          <p:cNvPr id="33" name="Text 31"/>
          <p:cNvSpPr/>
          <p:nvPr/>
        </p:nvSpPr>
        <p:spPr>
          <a:xfrm>
            <a:off x="8804366" y="5102352"/>
            <a:ext cx="731520" cy="22860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Jul</a:t>
            </a:r>
            <a:endParaRPr lang="en-US" sz="1000" dirty="0"/>
          </a:p>
        </p:txBody>
      </p:sp>
      <p:sp>
        <p:nvSpPr>
          <p:cNvPr id="34" name="dot">
            <a:extLst>
              <a:ext uri="{C183D7F6-B498-43B3-948B-1728B52AA6E4}">
                <adec:decorative xmlns:adec="http://schemas.microsoft.com/office/drawing/2017/decorative" val="1"/>
              </a:ext>
            </a:extLst>
          </p:cNvPr>
          <p:cNvSpPr/>
          <p:nvPr/>
        </p:nvSpPr>
        <p:spPr>
          <a:xfrm>
            <a:off x="10369296" y="2770632"/>
            <a:ext cx="109728" cy="109728"/>
          </a:xfrm>
          <a:prstGeom prst="ellipse">
            <a:avLst/>
          </a:prstGeom>
          <a:solidFill>
            <a:srgbClr val="737D8A"/>
          </a:solidFill>
          <a:ln/>
        </p:spPr>
        <p:txBody>
          <a:bodyPr/>
          <a:lstStyle/>
          <a:p>
            <a:endParaRPr lang="en-SE"/>
          </a:p>
        </p:txBody>
      </p:sp>
      <p:sp>
        <p:nvSpPr>
          <p:cNvPr id="35" name="Text 33"/>
          <p:cNvSpPr/>
          <p:nvPr/>
        </p:nvSpPr>
        <p:spPr>
          <a:xfrm>
            <a:off x="10058400" y="5102352"/>
            <a:ext cx="731520" cy="22860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Aug</a:t>
            </a:r>
            <a:endParaRPr lang="en-US" sz="1000" dirty="0"/>
          </a:p>
        </p:txBody>
      </p:sp>
      <p:sp>
        <p:nvSpPr>
          <p:cNvPr id="36" name="connector">
            <a:extLst>
              <a:ext uri="{C183D7F6-B498-43B3-948B-1728B52AA6E4}">
                <adec:decorative xmlns:adec="http://schemas.microsoft.com/office/drawing/2017/decorative" val="1"/>
              </a:ext>
            </a:extLst>
          </p:cNvPr>
          <p:cNvSpPr/>
          <p:nvPr/>
        </p:nvSpPr>
        <p:spPr>
          <a:xfrm>
            <a:off x="4153989" y="3063240"/>
            <a:ext cx="0" cy="594360"/>
          </a:xfrm>
          <a:prstGeom prst="line">
            <a:avLst/>
          </a:prstGeom>
          <a:noFill/>
          <a:ln w="12700">
            <a:solidFill>
              <a:srgbClr val="F5B759"/>
            </a:solidFill>
            <a:prstDash val="dash"/>
            <a:headEnd type="none"/>
            <a:tailEnd type="none"/>
          </a:ln>
        </p:spPr>
        <p:txBody>
          <a:bodyPr/>
          <a:lstStyle/>
          <a:p>
            <a:endParaRPr lang="en-SE"/>
          </a:p>
        </p:txBody>
      </p:sp>
      <p:sp>
        <p:nvSpPr>
          <p:cNvPr id="37" name="connector">
            <a:extLst>
              <a:ext uri="{C183D7F6-B498-43B3-948B-1728B52AA6E4}">
                <adec:decorative xmlns:adec="http://schemas.microsoft.com/office/drawing/2017/decorative" val="1"/>
              </a:ext>
            </a:extLst>
          </p:cNvPr>
          <p:cNvSpPr/>
          <p:nvPr/>
        </p:nvSpPr>
        <p:spPr>
          <a:xfrm>
            <a:off x="4153989" y="3063240"/>
            <a:ext cx="3762103" cy="0"/>
          </a:xfrm>
          <a:prstGeom prst="line">
            <a:avLst/>
          </a:prstGeom>
          <a:noFill/>
          <a:ln w="12700">
            <a:solidFill>
              <a:srgbClr val="F5B759"/>
            </a:solidFill>
            <a:prstDash val="dash"/>
            <a:headEnd type="none"/>
            <a:tailEnd type="none"/>
          </a:ln>
        </p:spPr>
        <p:txBody>
          <a:bodyPr/>
          <a:lstStyle/>
          <a:p>
            <a:endParaRPr lang="en-SE"/>
          </a:p>
        </p:txBody>
      </p:sp>
      <p:sp>
        <p:nvSpPr>
          <p:cNvPr id="38" name="Text 36"/>
          <p:cNvSpPr/>
          <p:nvPr/>
        </p:nvSpPr>
        <p:spPr>
          <a:xfrm>
            <a:off x="5166360" y="3191256"/>
            <a:ext cx="1737360" cy="274320"/>
          </a:xfrm>
          <a:prstGeom prst="rect">
            <a:avLst/>
          </a:prstGeom>
          <a:noFill/>
          <a:ln/>
        </p:spPr>
        <p:txBody>
          <a:bodyPr wrap="square" lIns="0" tIns="0" rIns="0" bIns="0" rtlCol="0" anchor="ctr"/>
          <a:lstStyle/>
          <a:p>
            <a:pPr marL="0" indent="0" algn="ctr">
              <a:buNone/>
            </a:pPr>
            <a:r>
              <a:rPr lang="en-US" sz="1100" b="1" dirty="0">
                <a:solidFill>
                  <a:srgbClr val="F5B759"/>
                </a:solidFill>
                <a:latin typeface="Consolas" pitchFamily="34" charset="0"/>
                <a:ea typeface="Consolas" pitchFamily="34" charset="-122"/>
                <a:cs typeface="Consolas" pitchFamily="34" charset="-120"/>
              </a:rPr>
              <a:t>gap = −$0.50</a:t>
            </a:r>
            <a:endParaRPr lang="en-US" sz="1100" dirty="0"/>
          </a:p>
        </p:txBody>
      </p:sp>
      <p:sp>
        <p:nvSpPr>
          <p:cNvPr id="39"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40"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5B759"/>
          </a:solidFill>
          <a:ln/>
        </p:spPr>
        <p:txBody>
          <a:bodyPr/>
          <a:lstStyle/>
          <a:p>
            <a:endParaRPr lang="en-SE"/>
          </a:p>
        </p:txBody>
      </p:sp>
      <p:sp>
        <p:nvSpPr>
          <p:cNvPr id="41" name="Text 39"/>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F5B75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The spread is one slice of the curve. Trading it is a bet on how that slice's slope will change.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Reading a negative spread price">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Reading a negative spread price</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03 · NEGATIVE COST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30</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Put the spread on a number line. Zero means the two months are equal; left of zero is contango, right is backwardation.</a:t>
            </a:r>
            <a:endParaRPr lang="en-US" sz="1500" dirty="0"/>
          </a:p>
        </p:txBody>
      </p:sp>
      <p:sp>
        <p:nvSpPr>
          <p:cNvPr id="8" name="connector">
            <a:extLst>
              <a:ext uri="{C183D7F6-B498-43B3-948B-1728B52AA6E4}">
                <adec:decorative xmlns:adec="http://schemas.microsoft.com/office/drawing/2017/decorative" val="1"/>
              </a:ext>
            </a:extLst>
          </p:cNvPr>
          <p:cNvSpPr/>
          <p:nvPr/>
        </p:nvSpPr>
        <p:spPr>
          <a:xfrm>
            <a:off x="1463040" y="3429000"/>
            <a:ext cx="9235440" cy="0"/>
          </a:xfrm>
          <a:prstGeom prst="line">
            <a:avLst/>
          </a:prstGeom>
          <a:noFill/>
          <a:ln w="25400">
            <a:solidFill>
              <a:srgbClr val="343E4A"/>
            </a:solidFill>
            <a:prstDash val="solid"/>
            <a:headEnd type="none"/>
            <a:tailEnd type="none"/>
          </a:ln>
        </p:spPr>
        <p:txBody>
          <a:bodyPr/>
          <a:lstStyle/>
          <a:p>
            <a:endParaRPr lang="en-SE"/>
          </a:p>
        </p:txBody>
      </p:sp>
      <p:sp>
        <p:nvSpPr>
          <p:cNvPr id="9" name="connector">
            <a:extLst>
              <a:ext uri="{C183D7F6-B498-43B3-948B-1728B52AA6E4}">
                <adec:decorative xmlns:adec="http://schemas.microsoft.com/office/drawing/2017/decorative" val="1"/>
              </a:ext>
            </a:extLst>
          </p:cNvPr>
          <p:cNvSpPr/>
          <p:nvPr/>
        </p:nvSpPr>
        <p:spPr>
          <a:xfrm>
            <a:off x="1463040" y="3346704"/>
            <a:ext cx="0" cy="164592"/>
          </a:xfrm>
          <a:prstGeom prst="line">
            <a:avLst/>
          </a:prstGeom>
          <a:noFill/>
          <a:ln w="12700">
            <a:solidFill>
              <a:srgbClr val="737D8A"/>
            </a:solidFill>
            <a:prstDash val="solid"/>
            <a:headEnd type="none"/>
            <a:tailEnd type="none"/>
          </a:ln>
        </p:spPr>
        <p:txBody>
          <a:bodyPr/>
          <a:lstStyle/>
          <a:p>
            <a:endParaRPr lang="en-SE"/>
          </a:p>
        </p:txBody>
      </p:sp>
      <p:sp>
        <p:nvSpPr>
          <p:cNvPr id="10" name="Text 8"/>
          <p:cNvSpPr/>
          <p:nvPr/>
        </p:nvSpPr>
        <p:spPr>
          <a:xfrm>
            <a:off x="822960" y="3557016"/>
            <a:ext cx="1280160" cy="27432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−$1.00</a:t>
            </a:r>
            <a:endParaRPr lang="en-US" sz="1000" dirty="0"/>
          </a:p>
        </p:txBody>
      </p:sp>
      <p:sp>
        <p:nvSpPr>
          <p:cNvPr id="11" name="connector">
            <a:extLst>
              <a:ext uri="{C183D7F6-B498-43B3-948B-1728B52AA6E4}">
                <adec:decorative xmlns:adec="http://schemas.microsoft.com/office/drawing/2017/decorative" val="1"/>
              </a:ext>
            </a:extLst>
          </p:cNvPr>
          <p:cNvSpPr/>
          <p:nvPr/>
        </p:nvSpPr>
        <p:spPr>
          <a:xfrm>
            <a:off x="3771900" y="3346704"/>
            <a:ext cx="0" cy="164592"/>
          </a:xfrm>
          <a:prstGeom prst="line">
            <a:avLst/>
          </a:prstGeom>
          <a:noFill/>
          <a:ln w="12700">
            <a:solidFill>
              <a:srgbClr val="737D8A"/>
            </a:solidFill>
            <a:prstDash val="solid"/>
            <a:headEnd type="none"/>
            <a:tailEnd type="none"/>
          </a:ln>
        </p:spPr>
        <p:txBody>
          <a:bodyPr/>
          <a:lstStyle/>
          <a:p>
            <a:endParaRPr lang="en-SE"/>
          </a:p>
        </p:txBody>
      </p:sp>
      <p:sp>
        <p:nvSpPr>
          <p:cNvPr id="12" name="Text 10"/>
          <p:cNvSpPr/>
          <p:nvPr/>
        </p:nvSpPr>
        <p:spPr>
          <a:xfrm>
            <a:off x="3131820" y="3557016"/>
            <a:ext cx="1280160" cy="27432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−$0.50</a:t>
            </a:r>
            <a:endParaRPr lang="en-US" sz="1000" dirty="0"/>
          </a:p>
        </p:txBody>
      </p:sp>
      <p:sp>
        <p:nvSpPr>
          <p:cNvPr id="13" name="connector">
            <a:extLst>
              <a:ext uri="{C183D7F6-B498-43B3-948B-1728B52AA6E4}">
                <adec:decorative xmlns:adec="http://schemas.microsoft.com/office/drawing/2017/decorative" val="1"/>
              </a:ext>
            </a:extLst>
          </p:cNvPr>
          <p:cNvSpPr/>
          <p:nvPr/>
        </p:nvSpPr>
        <p:spPr>
          <a:xfrm>
            <a:off x="6080760" y="3346704"/>
            <a:ext cx="0" cy="164592"/>
          </a:xfrm>
          <a:prstGeom prst="line">
            <a:avLst/>
          </a:prstGeom>
          <a:noFill/>
          <a:ln w="25400">
            <a:solidFill>
              <a:srgbClr val="AAB2BD"/>
            </a:solidFill>
            <a:prstDash val="solid"/>
            <a:headEnd type="none"/>
            <a:tailEnd type="none"/>
          </a:ln>
        </p:spPr>
        <p:txBody>
          <a:bodyPr/>
          <a:lstStyle/>
          <a:p>
            <a:endParaRPr lang="en-SE"/>
          </a:p>
        </p:txBody>
      </p:sp>
      <p:sp>
        <p:nvSpPr>
          <p:cNvPr id="14" name="Text 12"/>
          <p:cNvSpPr/>
          <p:nvPr/>
        </p:nvSpPr>
        <p:spPr>
          <a:xfrm>
            <a:off x="5440680" y="3557016"/>
            <a:ext cx="1280160" cy="274320"/>
          </a:xfrm>
          <a:prstGeom prst="rect">
            <a:avLst/>
          </a:prstGeom>
          <a:noFill/>
          <a:ln/>
        </p:spPr>
        <p:txBody>
          <a:bodyPr wrap="square" lIns="0" tIns="0" rIns="0" bIns="0" rtlCol="0" anchor="ctr"/>
          <a:lstStyle/>
          <a:p>
            <a:pPr marL="0" indent="0" algn="ctr">
              <a:buNone/>
            </a:pPr>
            <a:r>
              <a:rPr lang="en-US" sz="1000" dirty="0">
                <a:solidFill>
                  <a:srgbClr val="AAB2BD"/>
                </a:solidFill>
                <a:latin typeface="Consolas" pitchFamily="34" charset="0"/>
                <a:ea typeface="Consolas" pitchFamily="34" charset="-122"/>
                <a:cs typeface="Consolas" pitchFamily="34" charset="-120"/>
              </a:rPr>
              <a:t>$0.00</a:t>
            </a:r>
            <a:endParaRPr lang="en-US" sz="1000" dirty="0"/>
          </a:p>
        </p:txBody>
      </p:sp>
      <p:sp>
        <p:nvSpPr>
          <p:cNvPr id="15" name="connector">
            <a:extLst>
              <a:ext uri="{C183D7F6-B498-43B3-948B-1728B52AA6E4}">
                <adec:decorative xmlns:adec="http://schemas.microsoft.com/office/drawing/2017/decorative" val="1"/>
              </a:ext>
            </a:extLst>
          </p:cNvPr>
          <p:cNvSpPr/>
          <p:nvPr/>
        </p:nvSpPr>
        <p:spPr>
          <a:xfrm>
            <a:off x="8389620" y="3346704"/>
            <a:ext cx="0" cy="164592"/>
          </a:xfrm>
          <a:prstGeom prst="line">
            <a:avLst/>
          </a:prstGeom>
          <a:noFill/>
          <a:ln w="12700">
            <a:solidFill>
              <a:srgbClr val="737D8A"/>
            </a:solidFill>
            <a:prstDash val="solid"/>
            <a:headEnd type="none"/>
            <a:tailEnd type="none"/>
          </a:ln>
        </p:spPr>
        <p:txBody>
          <a:bodyPr/>
          <a:lstStyle/>
          <a:p>
            <a:endParaRPr lang="en-SE"/>
          </a:p>
        </p:txBody>
      </p:sp>
      <p:sp>
        <p:nvSpPr>
          <p:cNvPr id="16" name="Text 14"/>
          <p:cNvSpPr/>
          <p:nvPr/>
        </p:nvSpPr>
        <p:spPr>
          <a:xfrm>
            <a:off x="7749540" y="3557016"/>
            <a:ext cx="1280160" cy="27432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+$0.50</a:t>
            </a:r>
            <a:endParaRPr lang="en-US" sz="1000" dirty="0"/>
          </a:p>
        </p:txBody>
      </p:sp>
      <p:sp>
        <p:nvSpPr>
          <p:cNvPr id="17" name="connector">
            <a:extLst>
              <a:ext uri="{C183D7F6-B498-43B3-948B-1728B52AA6E4}">
                <adec:decorative xmlns:adec="http://schemas.microsoft.com/office/drawing/2017/decorative" val="1"/>
              </a:ext>
            </a:extLst>
          </p:cNvPr>
          <p:cNvSpPr/>
          <p:nvPr/>
        </p:nvSpPr>
        <p:spPr>
          <a:xfrm>
            <a:off x="10698480" y="3346704"/>
            <a:ext cx="0" cy="164592"/>
          </a:xfrm>
          <a:prstGeom prst="line">
            <a:avLst/>
          </a:prstGeom>
          <a:noFill/>
          <a:ln w="12700">
            <a:solidFill>
              <a:srgbClr val="737D8A"/>
            </a:solidFill>
            <a:prstDash val="solid"/>
            <a:headEnd type="none"/>
            <a:tailEnd type="none"/>
          </a:ln>
        </p:spPr>
        <p:txBody>
          <a:bodyPr/>
          <a:lstStyle/>
          <a:p>
            <a:endParaRPr lang="en-SE"/>
          </a:p>
        </p:txBody>
      </p:sp>
      <p:sp>
        <p:nvSpPr>
          <p:cNvPr id="18" name="Text 16"/>
          <p:cNvSpPr/>
          <p:nvPr/>
        </p:nvSpPr>
        <p:spPr>
          <a:xfrm>
            <a:off x="10058400" y="3557016"/>
            <a:ext cx="1280160" cy="27432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+$1.00</a:t>
            </a:r>
            <a:endParaRPr lang="en-US" sz="1000" dirty="0"/>
          </a:p>
        </p:txBody>
      </p:sp>
      <p:sp>
        <p:nvSpPr>
          <p:cNvPr id="19" name="marker">
            <a:extLst>
              <a:ext uri="{C183D7F6-B498-43B3-948B-1728B52AA6E4}">
                <adec:decorative xmlns:adec="http://schemas.microsoft.com/office/drawing/2017/decorative" val="1"/>
              </a:ext>
            </a:extLst>
          </p:cNvPr>
          <p:cNvSpPr/>
          <p:nvPr/>
        </p:nvSpPr>
        <p:spPr>
          <a:xfrm>
            <a:off x="3680460" y="3337560"/>
            <a:ext cx="182880" cy="182880"/>
          </a:xfrm>
          <a:prstGeom prst="ellipse">
            <a:avLst/>
          </a:prstGeom>
          <a:solidFill>
            <a:srgbClr val="F5B759"/>
          </a:solidFill>
          <a:ln/>
        </p:spPr>
        <p:txBody>
          <a:bodyPr/>
          <a:lstStyle/>
          <a:p>
            <a:endParaRPr lang="en-SE"/>
          </a:p>
        </p:txBody>
      </p:sp>
      <p:sp>
        <p:nvSpPr>
          <p:cNvPr id="20" name="connector">
            <a:extLst>
              <a:ext uri="{C183D7F6-B498-43B3-948B-1728B52AA6E4}">
                <adec:decorative xmlns:adec="http://schemas.microsoft.com/office/drawing/2017/decorative" val="1"/>
              </a:ext>
            </a:extLst>
          </p:cNvPr>
          <p:cNvSpPr/>
          <p:nvPr/>
        </p:nvSpPr>
        <p:spPr>
          <a:xfrm>
            <a:off x="3771900" y="3099816"/>
            <a:ext cx="0" cy="237744"/>
          </a:xfrm>
          <a:prstGeom prst="line">
            <a:avLst/>
          </a:prstGeom>
          <a:noFill/>
          <a:ln w="19050">
            <a:solidFill>
              <a:srgbClr val="F5B759"/>
            </a:solidFill>
            <a:prstDash val="solid"/>
            <a:headEnd type="none"/>
            <a:tailEnd type="none"/>
          </a:ln>
        </p:spPr>
        <p:txBody>
          <a:bodyPr/>
          <a:lstStyle/>
          <a:p>
            <a:endParaRPr lang="en-SE"/>
          </a:p>
        </p:txBody>
      </p:sp>
      <p:sp>
        <p:nvSpPr>
          <p:cNvPr id="21" name="Text 19"/>
          <p:cNvSpPr/>
          <p:nvPr/>
        </p:nvSpPr>
        <p:spPr>
          <a:xfrm>
            <a:off x="2583180" y="2770632"/>
            <a:ext cx="2377440" cy="310896"/>
          </a:xfrm>
          <a:prstGeom prst="rect">
            <a:avLst/>
          </a:prstGeom>
          <a:noFill/>
          <a:ln/>
        </p:spPr>
        <p:txBody>
          <a:bodyPr wrap="square" lIns="0" tIns="0" rIns="0" bIns="0" rtlCol="0" anchor="ctr"/>
          <a:lstStyle/>
          <a:p>
            <a:pPr marL="0" indent="0" algn="ctr">
              <a:buNone/>
            </a:pPr>
            <a:r>
              <a:rPr lang="en-US" sz="1200" b="1" dirty="0">
                <a:solidFill>
                  <a:srgbClr val="F5B759"/>
                </a:solidFill>
                <a:latin typeface="Trebuchet MS" pitchFamily="34" charset="0"/>
                <a:ea typeface="Trebuchet MS" pitchFamily="34" charset="-122"/>
                <a:cs typeface="Trebuchet MS" pitchFamily="34" charset="-120"/>
              </a:rPr>
              <a:t>our spread</a:t>
            </a:r>
            <a:endParaRPr lang="en-US" sz="1200" dirty="0"/>
          </a:p>
        </p:txBody>
      </p:sp>
      <p:sp>
        <p:nvSpPr>
          <p:cNvPr id="22" name="Text 20"/>
          <p:cNvSpPr/>
          <p:nvPr/>
        </p:nvSpPr>
        <p:spPr>
          <a:xfrm>
            <a:off x="2583180" y="2496312"/>
            <a:ext cx="2377440" cy="256032"/>
          </a:xfrm>
          <a:prstGeom prst="rect">
            <a:avLst/>
          </a:prstGeom>
          <a:noFill/>
          <a:ln/>
        </p:spPr>
        <p:txBody>
          <a:bodyPr wrap="square" lIns="0" tIns="0" rIns="0" bIns="0" rtlCol="0" anchor="ctr"/>
          <a:lstStyle/>
          <a:p>
            <a:pPr marL="0" indent="0" algn="ctr">
              <a:buNone/>
            </a:pPr>
            <a:r>
              <a:rPr lang="en-US" sz="1000" dirty="0">
                <a:solidFill>
                  <a:srgbClr val="AAB2BD"/>
                </a:solidFill>
                <a:latin typeface="Consolas" pitchFamily="34" charset="0"/>
                <a:ea typeface="Consolas" pitchFamily="34" charset="-122"/>
                <a:cs typeface="Consolas" pitchFamily="34" charset="-120"/>
              </a:rPr>
              <a:t>−$0.50</a:t>
            </a:r>
            <a:endParaRPr lang="en-US" sz="1000" dirty="0"/>
          </a:p>
        </p:txBody>
      </p:sp>
      <p:sp>
        <p:nvSpPr>
          <p:cNvPr id="23" name="Text 21"/>
          <p:cNvSpPr/>
          <p:nvPr/>
        </p:nvSpPr>
        <p:spPr>
          <a:xfrm>
            <a:off x="1463040" y="4160520"/>
            <a:ext cx="4206240" cy="274320"/>
          </a:xfrm>
          <a:prstGeom prst="rect">
            <a:avLst/>
          </a:prstGeom>
          <a:noFill/>
          <a:ln/>
        </p:spPr>
        <p:txBody>
          <a:bodyPr wrap="square" lIns="0" tIns="0" rIns="0" bIns="0" rtlCol="0" anchor="ctr"/>
          <a:lstStyle/>
          <a:p>
            <a:pPr marL="0" indent="0">
              <a:buNone/>
            </a:pPr>
            <a:r>
              <a:rPr lang="en-US" sz="1100" b="1" kern="0" spc="100" dirty="0">
                <a:solidFill>
                  <a:srgbClr val="F5B759"/>
                </a:solidFill>
                <a:latin typeface="Trebuchet MS" pitchFamily="34" charset="0"/>
                <a:ea typeface="Trebuchet MS" pitchFamily="34" charset="-122"/>
                <a:cs typeface="Trebuchet MS" pitchFamily="34" charset="-120"/>
              </a:rPr>
              <a:t>CONTANGO  ←  near cheaper</a:t>
            </a:r>
            <a:endParaRPr lang="en-US" sz="1100" dirty="0"/>
          </a:p>
        </p:txBody>
      </p:sp>
      <p:sp>
        <p:nvSpPr>
          <p:cNvPr id="24" name="Text 22"/>
          <p:cNvSpPr/>
          <p:nvPr/>
        </p:nvSpPr>
        <p:spPr>
          <a:xfrm>
            <a:off x="6492240" y="4160520"/>
            <a:ext cx="4206240" cy="274320"/>
          </a:xfrm>
          <a:prstGeom prst="rect">
            <a:avLst/>
          </a:prstGeom>
          <a:noFill/>
          <a:ln/>
        </p:spPr>
        <p:txBody>
          <a:bodyPr wrap="square" lIns="0" tIns="0" rIns="0" bIns="0" rtlCol="0" anchor="ctr"/>
          <a:lstStyle/>
          <a:p>
            <a:pPr marL="0" indent="0" algn="r">
              <a:buNone/>
            </a:pPr>
            <a:r>
              <a:rPr lang="en-US" sz="1100" b="1" kern="0" spc="100" dirty="0">
                <a:solidFill>
                  <a:srgbClr val="34D399"/>
                </a:solidFill>
                <a:latin typeface="Trebuchet MS" pitchFamily="34" charset="0"/>
                <a:ea typeface="Trebuchet MS" pitchFamily="34" charset="-122"/>
                <a:cs typeface="Trebuchet MS" pitchFamily="34" charset="-120"/>
              </a:rPr>
              <a:t>near pricier  →  BACKWARDATION</a:t>
            </a:r>
            <a:endParaRPr lang="en-US" sz="1100" dirty="0"/>
          </a:p>
        </p:txBody>
      </p:sp>
      <p:sp>
        <p:nvSpPr>
          <p:cNvPr id="25" name="panel">
            <a:extLst>
              <a:ext uri="{C183D7F6-B498-43B3-948B-1728B52AA6E4}">
                <adec:decorative xmlns:adec="http://schemas.microsoft.com/office/drawing/2017/decorative" val="1"/>
              </a:ext>
            </a:extLst>
          </p:cNvPr>
          <p:cNvSpPr/>
          <p:nvPr/>
        </p:nvSpPr>
        <p:spPr>
          <a:xfrm>
            <a:off x="1463040" y="4709160"/>
            <a:ext cx="9235440" cy="914400"/>
          </a:xfrm>
          <a:prstGeom prst="roundRect">
            <a:avLst>
              <a:gd name="adj" fmla="val 9000"/>
            </a:avLst>
          </a:prstGeom>
          <a:solidFill>
            <a:srgbClr val="1F252D"/>
          </a:solidFill>
          <a:ln w="12700">
            <a:solidFill>
              <a:srgbClr val="343E4A"/>
            </a:solidFill>
            <a:prstDash val="solid"/>
          </a:ln>
        </p:spPr>
        <p:txBody>
          <a:bodyPr/>
          <a:lstStyle/>
          <a:p>
            <a:endParaRPr lang="en-SE"/>
          </a:p>
        </p:txBody>
      </p:sp>
      <p:sp>
        <p:nvSpPr>
          <p:cNvPr id="26" name="Text 24"/>
          <p:cNvSpPr/>
          <p:nvPr/>
        </p:nvSpPr>
        <p:spPr>
          <a:xfrm>
            <a:off x="1691640" y="4709160"/>
            <a:ext cx="8778240" cy="914400"/>
          </a:xfrm>
          <a:prstGeom prst="rect">
            <a:avLst/>
          </a:prstGeom>
          <a:noFill/>
          <a:ln/>
        </p:spPr>
        <p:txBody>
          <a:bodyPr wrap="square" lIns="0" tIns="0" rIns="0" bIns="0" rtlCol="0" anchor="ctr"/>
          <a:lstStyle/>
          <a:p>
            <a:pPr marL="0" indent="0">
              <a:lnSpc>
                <a:spcPct val="110000"/>
              </a:lnSpc>
              <a:buNone/>
            </a:pPr>
            <a:r>
              <a:rPr lang="en-US" sz="1400" dirty="0">
                <a:solidFill>
                  <a:srgbClr val="AAB2BD"/>
                </a:solidFill>
                <a:latin typeface="Calibri" pitchFamily="34" charset="0"/>
                <a:ea typeface="Calibri" pitchFamily="34" charset="-122"/>
                <a:cs typeface="Calibri" pitchFamily="34" charset="-120"/>
              </a:rPr>
              <a:t>The move that pays us:  </a:t>
            </a:r>
            <a:r>
              <a:rPr lang="en-US" sz="1400" b="1" dirty="0">
                <a:solidFill>
                  <a:srgbClr val="34D399"/>
                </a:solidFill>
                <a:latin typeface="Trebuchet MS" pitchFamily="34" charset="0"/>
                <a:ea typeface="Trebuchet MS" pitchFamily="34" charset="-122"/>
                <a:cs typeface="Trebuchet MS" pitchFamily="34" charset="-120"/>
              </a:rPr>
              <a:t>the marker slides right</a:t>
            </a:r>
            <a:r>
              <a:rPr lang="en-US" sz="1400" dirty="0">
                <a:solidFill>
                  <a:srgbClr val="AAB2BD"/>
                </a:solidFill>
                <a:latin typeface="Calibri" pitchFamily="34" charset="0"/>
                <a:ea typeface="Calibri" pitchFamily="34" charset="-122"/>
                <a:cs typeface="Calibri" pitchFamily="34" charset="-120"/>
              </a:rPr>
              <a:t>  — from −$0.50 toward zero and beyond.</a:t>
            </a:r>
            <a:endParaRPr lang="en-US" sz="1400" dirty="0"/>
          </a:p>
        </p:txBody>
      </p:sp>
      <p:sp>
        <p:nvSpPr>
          <p:cNvPr id="27"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8"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5B759"/>
          </a:solidFill>
          <a:ln/>
        </p:spPr>
        <p:txBody>
          <a:bodyPr/>
          <a:lstStyle/>
          <a:p>
            <a:endParaRPr lang="en-SE"/>
          </a:p>
        </p:txBody>
      </p:sp>
      <p:sp>
        <p:nvSpPr>
          <p:cNvPr id="29" name="Text 27"/>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F5B75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Our position lives at −$0.50. We profit if it travels rightward along this line.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Buying at a negative price?!”">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“Buying at a negative price?!”</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03 · NEGATIVE COST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31</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With stocks, buying always costs money. So a negative price feels impossible. The confusion comes from a hidden assumption — let's expose it.</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94560"/>
            <a:ext cx="5303520" cy="2788920"/>
          </a:xfrm>
          <a:prstGeom prst="roundRect">
            <a:avLst>
              <a:gd name="adj" fmla="val 2951"/>
            </a:avLst>
          </a:prstGeom>
          <a:solidFill>
            <a:srgbClr val="1F252D"/>
          </a:solidFill>
          <a:ln w="12700">
            <a:solidFill>
              <a:srgbClr val="343E4A"/>
            </a:solidFill>
            <a:prstDash val="solid"/>
          </a:ln>
        </p:spPr>
        <p:txBody>
          <a:bodyPr/>
          <a:lstStyle/>
          <a:p>
            <a:endParaRPr lang="en-SE"/>
          </a:p>
        </p:txBody>
      </p:sp>
      <p:sp>
        <p:nvSpPr>
          <p:cNvPr id="9" name="Text 7"/>
          <p:cNvSpPr/>
          <p:nvPr/>
        </p:nvSpPr>
        <p:spPr>
          <a:xfrm>
            <a:off x="868680" y="2377440"/>
            <a:ext cx="4846320" cy="274320"/>
          </a:xfrm>
          <a:prstGeom prst="rect">
            <a:avLst/>
          </a:prstGeom>
          <a:noFill/>
          <a:ln/>
        </p:spPr>
        <p:txBody>
          <a:bodyPr wrap="square" lIns="0" tIns="0" rIns="0" bIns="0" rtlCol="0" anchor="ctr"/>
          <a:lstStyle/>
          <a:p>
            <a:pPr marL="0" indent="0">
              <a:buNone/>
            </a:pPr>
            <a:r>
              <a:rPr lang="en-US" sz="1200" b="1" kern="0" spc="100" dirty="0">
                <a:solidFill>
                  <a:srgbClr val="6EA8E6"/>
                </a:solidFill>
                <a:latin typeface="Trebuchet MS" pitchFamily="34" charset="0"/>
                <a:ea typeface="Trebuchet MS" pitchFamily="34" charset="-122"/>
                <a:cs typeface="Trebuchet MS" pitchFamily="34" charset="-120"/>
              </a:rPr>
              <a:t>THE STOCK INTUITION</a:t>
            </a:r>
            <a:endParaRPr lang="en-US" sz="1200" dirty="0"/>
          </a:p>
        </p:txBody>
      </p:sp>
      <p:sp>
        <p:nvSpPr>
          <p:cNvPr id="10" name="Text 8"/>
          <p:cNvSpPr/>
          <p:nvPr/>
        </p:nvSpPr>
        <p:spPr>
          <a:xfrm>
            <a:off x="868680" y="2697480"/>
            <a:ext cx="4846320" cy="411480"/>
          </a:xfrm>
          <a:prstGeom prst="rect">
            <a:avLst/>
          </a:prstGeom>
          <a:noFill/>
          <a:ln/>
        </p:spPr>
        <p:txBody>
          <a:bodyPr wrap="square" lIns="0" tIns="0" rIns="0" bIns="0" rtlCol="0" anchor="ctr"/>
          <a:lstStyle/>
          <a:p>
            <a:pPr marL="0" indent="0">
              <a:buNone/>
            </a:pPr>
            <a:r>
              <a:rPr lang="en-US" sz="1700" b="1" dirty="0">
                <a:solidFill>
                  <a:srgbClr val="E7EBF0"/>
                </a:solidFill>
                <a:latin typeface="Trebuchet MS" pitchFamily="34" charset="0"/>
                <a:ea typeface="Trebuchet MS" pitchFamily="34" charset="-122"/>
                <a:cs typeface="Trebuchet MS" pitchFamily="34" charset="-120"/>
              </a:rPr>
              <a:t>“Buy 1 share at $80”</a:t>
            </a:r>
            <a:endParaRPr lang="en-US" sz="1700" dirty="0"/>
          </a:p>
        </p:txBody>
      </p:sp>
      <p:sp>
        <p:nvSpPr>
          <p:cNvPr id="11" name="Text 9"/>
          <p:cNvSpPr/>
          <p:nvPr/>
        </p:nvSpPr>
        <p:spPr>
          <a:xfrm>
            <a:off x="868680" y="3200400"/>
            <a:ext cx="4846320" cy="731520"/>
          </a:xfrm>
          <a:prstGeom prst="rect">
            <a:avLst/>
          </a:prstGeom>
          <a:noFill/>
          <a:ln/>
        </p:spPr>
        <p:txBody>
          <a:bodyPr wrap="square" lIns="0" tIns="0" rIns="0" bIns="0" rtlCol="0" anchor="ctr"/>
          <a:lstStyle/>
          <a:p>
            <a:pPr marL="0" indent="0">
              <a:lnSpc>
                <a:spcPct val="115000"/>
              </a:lnSpc>
              <a:buNone/>
            </a:pPr>
            <a:r>
              <a:rPr lang="en-US" sz="1350" dirty="0">
                <a:solidFill>
                  <a:srgbClr val="AAB2BD"/>
                </a:solidFill>
                <a:latin typeface="Calibri" pitchFamily="34" charset="0"/>
                <a:ea typeface="Calibri" pitchFamily="34" charset="-122"/>
                <a:cs typeface="Calibri" pitchFamily="34" charset="-120"/>
              </a:rPr>
              <a:t>You hand over $80 today and own an asset. Price = cash out of your pocket, always positive.</a:t>
            </a:r>
            <a:endParaRPr lang="en-US" sz="1350" dirty="0"/>
          </a:p>
        </p:txBody>
      </p:sp>
      <p:sp>
        <p:nvSpPr>
          <p:cNvPr id="12" name="Text 10"/>
          <p:cNvSpPr/>
          <p:nvPr/>
        </p:nvSpPr>
        <p:spPr>
          <a:xfrm>
            <a:off x="868680" y="4160520"/>
            <a:ext cx="4846320" cy="640080"/>
          </a:xfrm>
          <a:prstGeom prst="rect">
            <a:avLst/>
          </a:prstGeom>
          <a:noFill/>
          <a:ln/>
        </p:spPr>
        <p:txBody>
          <a:bodyPr wrap="square" lIns="0" tIns="0" rIns="0" bIns="0" rtlCol="0" anchor="ctr"/>
          <a:lstStyle/>
          <a:p>
            <a:pPr marL="0" indent="0">
              <a:lnSpc>
                <a:spcPct val="110000"/>
              </a:lnSpc>
              <a:buNone/>
            </a:pPr>
            <a:r>
              <a:rPr lang="en-US" sz="1300" i="1" dirty="0">
                <a:solidFill>
                  <a:srgbClr val="F5B759"/>
                </a:solidFill>
                <a:latin typeface="Calibri" pitchFamily="34" charset="0"/>
                <a:ea typeface="Calibri" pitchFamily="34" charset="-122"/>
                <a:cs typeface="Calibri" pitchFamily="34" charset="-120"/>
              </a:rPr>
              <a:t>Hidden assumption: price = money paid up front.</a:t>
            </a:r>
            <a:endParaRPr lang="en-US" sz="1300" dirty="0"/>
          </a:p>
        </p:txBody>
      </p:sp>
      <p:sp>
        <p:nvSpPr>
          <p:cNvPr id="13" name="panel">
            <a:extLst>
              <a:ext uri="{C183D7F6-B498-43B3-948B-1728B52AA6E4}">
                <adec:decorative xmlns:adec="http://schemas.microsoft.com/office/drawing/2017/decorative" val="1"/>
              </a:ext>
            </a:extLst>
          </p:cNvPr>
          <p:cNvSpPr/>
          <p:nvPr/>
        </p:nvSpPr>
        <p:spPr>
          <a:xfrm>
            <a:off x="6245352" y="2194560"/>
            <a:ext cx="5303520" cy="2788920"/>
          </a:xfrm>
          <a:prstGeom prst="roundRect">
            <a:avLst>
              <a:gd name="adj" fmla="val 2951"/>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14" name="Text 12"/>
          <p:cNvSpPr/>
          <p:nvPr/>
        </p:nvSpPr>
        <p:spPr>
          <a:xfrm>
            <a:off x="6473952" y="2377440"/>
            <a:ext cx="4846320" cy="274320"/>
          </a:xfrm>
          <a:prstGeom prst="rect">
            <a:avLst/>
          </a:prstGeom>
          <a:noFill/>
          <a:ln/>
        </p:spPr>
        <p:txBody>
          <a:bodyPr wrap="square" lIns="0" tIns="0" rIns="0" bIns="0" rtlCol="0" anchor="ctr"/>
          <a:lstStyle/>
          <a:p>
            <a:pPr marL="0" indent="0">
              <a:buNone/>
            </a:pPr>
            <a:r>
              <a:rPr lang="en-US" sz="1200" b="1" kern="0" spc="100" dirty="0">
                <a:solidFill>
                  <a:srgbClr val="34D399"/>
                </a:solidFill>
                <a:latin typeface="Trebuchet MS" pitchFamily="34" charset="0"/>
                <a:ea typeface="Trebuchet MS" pitchFamily="34" charset="-122"/>
                <a:cs typeface="Trebuchet MS" pitchFamily="34" charset="-120"/>
              </a:rPr>
              <a:t>THE FUTURES REALITY</a:t>
            </a:r>
            <a:endParaRPr lang="en-US" sz="1200" dirty="0"/>
          </a:p>
        </p:txBody>
      </p:sp>
      <p:sp>
        <p:nvSpPr>
          <p:cNvPr id="15" name="Text 13"/>
          <p:cNvSpPr/>
          <p:nvPr/>
        </p:nvSpPr>
        <p:spPr>
          <a:xfrm>
            <a:off x="6473952" y="2697480"/>
            <a:ext cx="4846320" cy="411480"/>
          </a:xfrm>
          <a:prstGeom prst="rect">
            <a:avLst/>
          </a:prstGeom>
          <a:noFill/>
          <a:ln/>
        </p:spPr>
        <p:txBody>
          <a:bodyPr wrap="square" lIns="0" tIns="0" rIns="0" bIns="0" rtlCol="0" anchor="ctr"/>
          <a:lstStyle/>
          <a:p>
            <a:pPr marL="0" indent="0">
              <a:buNone/>
            </a:pPr>
            <a:r>
              <a:rPr lang="en-US" sz="1700" b="1" dirty="0">
                <a:solidFill>
                  <a:srgbClr val="E7EBF0"/>
                </a:solidFill>
                <a:latin typeface="Trebuchet MS" pitchFamily="34" charset="0"/>
                <a:ea typeface="Trebuchet MS" pitchFamily="34" charset="-122"/>
                <a:cs typeface="Trebuchet MS" pitchFamily="34" charset="-120"/>
              </a:rPr>
              <a:t>“Buy the spread at −$0.50”</a:t>
            </a:r>
            <a:endParaRPr lang="en-US" sz="1700" dirty="0"/>
          </a:p>
        </p:txBody>
      </p:sp>
      <p:sp>
        <p:nvSpPr>
          <p:cNvPr id="16" name="Text 14"/>
          <p:cNvSpPr/>
          <p:nvPr/>
        </p:nvSpPr>
        <p:spPr>
          <a:xfrm>
            <a:off x="6473952" y="3200400"/>
            <a:ext cx="4846320" cy="731520"/>
          </a:xfrm>
          <a:prstGeom prst="rect">
            <a:avLst/>
          </a:prstGeom>
          <a:noFill/>
          <a:ln/>
        </p:spPr>
        <p:txBody>
          <a:bodyPr wrap="square" lIns="0" tIns="0" rIns="0" bIns="0" rtlCol="0" anchor="ctr"/>
          <a:lstStyle/>
          <a:p>
            <a:pPr marL="0" indent="0">
              <a:lnSpc>
                <a:spcPct val="115000"/>
              </a:lnSpc>
              <a:buNone/>
            </a:pPr>
            <a:r>
              <a:rPr lang="en-US" sz="1350" dirty="0">
                <a:solidFill>
                  <a:srgbClr val="AAB2BD"/>
                </a:solidFill>
                <a:latin typeface="Calibri" pitchFamily="34" charset="0"/>
                <a:ea typeface="Calibri" pitchFamily="34" charset="-122"/>
                <a:cs typeface="Calibri" pitchFamily="34" charset="-120"/>
              </a:rPr>
              <a:t>You pay nothing up front. The price is the level you're locking in, not cash you hand over.</a:t>
            </a:r>
            <a:endParaRPr lang="en-US" sz="1350" dirty="0"/>
          </a:p>
        </p:txBody>
      </p:sp>
      <p:sp>
        <p:nvSpPr>
          <p:cNvPr id="17" name="Text 15"/>
          <p:cNvSpPr/>
          <p:nvPr/>
        </p:nvSpPr>
        <p:spPr>
          <a:xfrm>
            <a:off x="6473952" y="4160520"/>
            <a:ext cx="4846320" cy="640080"/>
          </a:xfrm>
          <a:prstGeom prst="rect">
            <a:avLst/>
          </a:prstGeom>
          <a:noFill/>
          <a:ln/>
        </p:spPr>
        <p:txBody>
          <a:bodyPr wrap="square" lIns="0" tIns="0" rIns="0" bIns="0" rtlCol="0" anchor="ctr"/>
          <a:lstStyle/>
          <a:p>
            <a:pPr marL="0" indent="0">
              <a:lnSpc>
                <a:spcPct val="110000"/>
              </a:lnSpc>
              <a:buNone/>
            </a:pPr>
            <a:r>
              <a:rPr lang="en-US" sz="1300" i="1" dirty="0">
                <a:solidFill>
                  <a:srgbClr val="34D399"/>
                </a:solidFill>
                <a:latin typeface="Calibri" pitchFamily="34" charset="0"/>
                <a:ea typeface="Calibri" pitchFamily="34" charset="-122"/>
                <a:cs typeface="Calibri" pitchFamily="34" charset="-120"/>
              </a:rPr>
              <a:t>Drop the assumption and −$0.50 stops being paradoxical.</a:t>
            </a:r>
            <a:endParaRPr lang="en-US" sz="1300" dirty="0"/>
          </a:p>
        </p:txBody>
      </p:sp>
      <p:sp>
        <p:nvSpPr>
          <p:cNvPr id="18"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19"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0" name="Text 18"/>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A futures price isn't cash paid — it's the agreed level. That's why it can sit below zero.</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Futures have no purchase price">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Futures have no purchase price</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03 · NEGATIVE COST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32</a:t>
            </a:r>
            <a:endParaRPr lang="en-US" sz="1000" dirty="0"/>
          </a:p>
        </p:txBody>
      </p:sp>
      <p:sp>
        <p:nvSpPr>
          <p:cNvPr id="7" name="Text 5"/>
          <p:cNvSpPr/>
          <p:nvPr/>
        </p:nvSpPr>
        <p:spPr>
          <a:xfrm>
            <a:off x="640080" y="1371600"/>
            <a:ext cx="10881360" cy="502920"/>
          </a:xfrm>
          <a:prstGeom prst="rect">
            <a:avLst/>
          </a:prstGeom>
          <a:noFill/>
          <a:ln/>
        </p:spPr>
        <p:txBody>
          <a:bodyPr wrap="square" lIns="0" tIns="0" rIns="0" bIns="0" rtlCol="0" anchor="ctr"/>
          <a:lstStyle/>
          <a:p>
            <a:pPr marL="0" indent="0">
              <a:buNone/>
            </a:pPr>
            <a:r>
              <a:rPr lang="en-US" sz="1500" dirty="0">
                <a:solidFill>
                  <a:srgbClr val="AAB2BD"/>
                </a:solidFill>
                <a:latin typeface="Calibri" pitchFamily="34" charset="0"/>
                <a:ea typeface="Calibri" pitchFamily="34" charset="-122"/>
                <a:cs typeface="Calibri" pitchFamily="34" charset="-120"/>
              </a:rPr>
              <a:t>Compare the two cash timelines. This is the single most important reframing in the whole deck.</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03120"/>
            <a:ext cx="10908792" cy="1325880"/>
          </a:xfrm>
          <a:prstGeom prst="roundRect">
            <a:avLst>
              <a:gd name="adj" fmla="val 6207"/>
            </a:avLst>
          </a:prstGeom>
          <a:solidFill>
            <a:srgbClr val="1F252D"/>
          </a:solidFill>
          <a:ln w="12700">
            <a:solidFill>
              <a:srgbClr val="343E4A"/>
            </a:solidFill>
            <a:prstDash val="solid"/>
          </a:ln>
        </p:spPr>
        <p:txBody>
          <a:bodyPr/>
          <a:lstStyle/>
          <a:p>
            <a:endParaRPr lang="en-SE"/>
          </a:p>
        </p:txBody>
      </p:sp>
      <p:sp>
        <p:nvSpPr>
          <p:cNvPr id="9" name="Text 7"/>
          <p:cNvSpPr/>
          <p:nvPr/>
        </p:nvSpPr>
        <p:spPr>
          <a:xfrm>
            <a:off x="868680" y="2103120"/>
            <a:ext cx="1463040" cy="1325880"/>
          </a:xfrm>
          <a:prstGeom prst="rect">
            <a:avLst/>
          </a:prstGeom>
          <a:noFill/>
          <a:ln/>
        </p:spPr>
        <p:txBody>
          <a:bodyPr wrap="square" lIns="0" tIns="0" rIns="0" bIns="0" rtlCol="0" anchor="ctr"/>
          <a:lstStyle/>
          <a:p>
            <a:pPr marL="0" indent="0">
              <a:buNone/>
            </a:pPr>
            <a:r>
              <a:rPr lang="en-US" sz="1400" b="1" dirty="0">
                <a:solidFill>
                  <a:srgbClr val="6EA8E6"/>
                </a:solidFill>
                <a:latin typeface="Trebuchet MS" pitchFamily="34" charset="0"/>
                <a:ea typeface="Trebuchet MS" pitchFamily="34" charset="-122"/>
                <a:cs typeface="Trebuchet MS" pitchFamily="34" charset="-120"/>
              </a:rPr>
              <a:t>STOCK</a:t>
            </a:r>
            <a:endParaRPr lang="en-US" sz="1400" dirty="0"/>
          </a:p>
        </p:txBody>
      </p:sp>
      <p:sp>
        <p:nvSpPr>
          <p:cNvPr id="10" name="chip">
            <a:extLst>
              <a:ext uri="{C183D7F6-B498-43B3-948B-1728B52AA6E4}">
                <adec:decorative xmlns:adec="http://schemas.microsoft.com/office/drawing/2017/decorative" val="1"/>
              </a:ext>
            </a:extLst>
          </p:cNvPr>
          <p:cNvSpPr/>
          <p:nvPr/>
        </p:nvSpPr>
        <p:spPr>
          <a:xfrm>
            <a:off x="2377440" y="2331720"/>
            <a:ext cx="2743200" cy="868680"/>
          </a:xfrm>
          <a:prstGeom prst="roundRect">
            <a:avLst>
              <a:gd name="adj" fmla="val 7368"/>
            </a:avLst>
          </a:prstGeom>
          <a:solidFill>
            <a:srgbClr val="262E38"/>
          </a:solidFill>
          <a:ln/>
        </p:spPr>
        <p:txBody>
          <a:bodyPr/>
          <a:lstStyle/>
          <a:p>
            <a:endParaRPr lang="en-SE"/>
          </a:p>
        </p:txBody>
      </p:sp>
      <p:sp>
        <p:nvSpPr>
          <p:cNvPr id="11" name="Text 9"/>
          <p:cNvSpPr/>
          <p:nvPr/>
        </p:nvSpPr>
        <p:spPr>
          <a:xfrm>
            <a:off x="2377440" y="2331720"/>
            <a:ext cx="2743200" cy="868680"/>
          </a:xfrm>
          <a:prstGeom prst="rect">
            <a:avLst/>
          </a:prstGeom>
          <a:noFill/>
          <a:ln/>
        </p:spPr>
        <p:txBody>
          <a:bodyPr wrap="square" lIns="762" tIns="762" rIns="762" bIns="762" rtlCol="0" anchor="ctr"/>
          <a:lstStyle/>
          <a:p>
            <a:pPr marL="0" indent="0" algn="ctr">
              <a:buNone/>
            </a:pPr>
            <a:r>
              <a:rPr lang="en-US" sz="1200" b="1" dirty="0">
                <a:solidFill>
                  <a:srgbClr val="F2726B"/>
                </a:solidFill>
                <a:latin typeface="Calibri" pitchFamily="34" charset="0"/>
                <a:ea typeface="Calibri" pitchFamily="34" charset="-122"/>
                <a:cs typeface="Calibri" pitchFamily="34" charset="-120"/>
              </a:rPr>
              <a:t>Buy</a:t>
            </a:r>
            <a:endParaRPr lang="en-US" sz="1200" dirty="0"/>
          </a:p>
          <a:p>
            <a:pPr marL="0" indent="0" algn="ctr">
              <a:buNone/>
            </a:pPr>
            <a:r>
              <a:rPr lang="en-US" sz="1200" b="1" dirty="0">
                <a:solidFill>
                  <a:srgbClr val="F2726B"/>
                </a:solidFill>
                <a:latin typeface="Calibri" pitchFamily="34" charset="0"/>
                <a:ea typeface="Calibri" pitchFamily="34" charset="-122"/>
                <a:cs typeface="Calibri" pitchFamily="34" charset="-120"/>
              </a:rPr>
              <a:t>−$80 leaves account</a:t>
            </a:r>
            <a:endParaRPr lang="en-US" sz="1200" dirty="0"/>
          </a:p>
        </p:txBody>
      </p:sp>
      <p:sp>
        <p:nvSpPr>
          <p:cNvPr id="12" name="flow arrow">
            <a:extLst>
              <a:ext uri="{C183D7F6-B498-43B3-948B-1728B52AA6E4}">
                <adec:decorative xmlns:adec="http://schemas.microsoft.com/office/drawing/2017/decorative" val="1"/>
              </a:ext>
            </a:extLst>
          </p:cNvPr>
          <p:cNvSpPr/>
          <p:nvPr/>
        </p:nvSpPr>
        <p:spPr>
          <a:xfrm>
            <a:off x="5257800" y="2606040"/>
            <a:ext cx="457200" cy="329184"/>
          </a:xfrm>
          <a:prstGeom prst="rightArrow">
            <a:avLst/>
          </a:prstGeom>
          <a:solidFill>
            <a:srgbClr val="343E4A"/>
          </a:solidFill>
          <a:ln/>
        </p:spPr>
        <p:txBody>
          <a:bodyPr/>
          <a:lstStyle/>
          <a:p>
            <a:endParaRPr lang="en-SE"/>
          </a:p>
        </p:txBody>
      </p:sp>
      <p:sp>
        <p:nvSpPr>
          <p:cNvPr id="13" name="chip">
            <a:extLst>
              <a:ext uri="{C183D7F6-B498-43B3-948B-1728B52AA6E4}">
                <adec:decorative xmlns:adec="http://schemas.microsoft.com/office/drawing/2017/decorative" val="1"/>
              </a:ext>
            </a:extLst>
          </p:cNvPr>
          <p:cNvSpPr/>
          <p:nvPr/>
        </p:nvSpPr>
        <p:spPr>
          <a:xfrm>
            <a:off x="5852160" y="2331720"/>
            <a:ext cx="2743200" cy="868680"/>
          </a:xfrm>
          <a:prstGeom prst="roundRect">
            <a:avLst>
              <a:gd name="adj" fmla="val 7368"/>
            </a:avLst>
          </a:prstGeom>
          <a:solidFill>
            <a:srgbClr val="262E38"/>
          </a:solidFill>
          <a:ln/>
        </p:spPr>
        <p:txBody>
          <a:bodyPr/>
          <a:lstStyle/>
          <a:p>
            <a:endParaRPr lang="en-SE"/>
          </a:p>
        </p:txBody>
      </p:sp>
      <p:sp>
        <p:nvSpPr>
          <p:cNvPr id="14" name="Text 12"/>
          <p:cNvSpPr/>
          <p:nvPr/>
        </p:nvSpPr>
        <p:spPr>
          <a:xfrm>
            <a:off x="5852160" y="2331720"/>
            <a:ext cx="2743200" cy="868680"/>
          </a:xfrm>
          <a:prstGeom prst="rect">
            <a:avLst/>
          </a:prstGeom>
          <a:noFill/>
          <a:ln/>
        </p:spPr>
        <p:txBody>
          <a:bodyPr wrap="square" lIns="762" tIns="762" rIns="762" bIns="762" rtlCol="0" anchor="ctr"/>
          <a:lstStyle/>
          <a:p>
            <a:pPr marL="0" indent="0" algn="ctr">
              <a:buNone/>
            </a:pPr>
            <a:r>
              <a:rPr lang="en-US" sz="1200" dirty="0">
                <a:solidFill>
                  <a:srgbClr val="AAB2BD"/>
                </a:solidFill>
                <a:latin typeface="Calibri" pitchFamily="34" charset="0"/>
                <a:ea typeface="Calibri" pitchFamily="34" charset="-122"/>
                <a:cs typeface="Calibri" pitchFamily="34" charset="-120"/>
              </a:rPr>
              <a:t>Hold</a:t>
            </a:r>
            <a:endParaRPr lang="en-US" sz="1200" dirty="0"/>
          </a:p>
          <a:p>
            <a:pPr marL="0" indent="0" algn="ctr">
              <a:buNone/>
            </a:pPr>
            <a:r>
              <a:rPr lang="en-US" sz="1200" dirty="0">
                <a:solidFill>
                  <a:srgbClr val="AAB2BD"/>
                </a:solidFill>
                <a:latin typeface="Calibri" pitchFamily="34" charset="0"/>
                <a:ea typeface="Calibri" pitchFamily="34" charset="-122"/>
                <a:cs typeface="Calibri" pitchFamily="34" charset="-120"/>
              </a:rPr>
              <a:t>value moves on paper</a:t>
            </a:r>
            <a:endParaRPr lang="en-US" sz="1200" dirty="0"/>
          </a:p>
        </p:txBody>
      </p:sp>
      <p:sp>
        <p:nvSpPr>
          <p:cNvPr id="15" name="flow arrow">
            <a:extLst>
              <a:ext uri="{C183D7F6-B498-43B3-948B-1728B52AA6E4}">
                <adec:decorative xmlns:adec="http://schemas.microsoft.com/office/drawing/2017/decorative" val="1"/>
              </a:ext>
            </a:extLst>
          </p:cNvPr>
          <p:cNvSpPr/>
          <p:nvPr/>
        </p:nvSpPr>
        <p:spPr>
          <a:xfrm>
            <a:off x="8732520" y="2606040"/>
            <a:ext cx="457200" cy="329184"/>
          </a:xfrm>
          <a:prstGeom prst="rightArrow">
            <a:avLst/>
          </a:prstGeom>
          <a:solidFill>
            <a:srgbClr val="343E4A"/>
          </a:solidFill>
          <a:ln/>
        </p:spPr>
        <p:txBody>
          <a:bodyPr/>
          <a:lstStyle/>
          <a:p>
            <a:endParaRPr lang="en-SE"/>
          </a:p>
        </p:txBody>
      </p:sp>
      <p:sp>
        <p:nvSpPr>
          <p:cNvPr id="16" name="chip">
            <a:extLst>
              <a:ext uri="{C183D7F6-B498-43B3-948B-1728B52AA6E4}">
                <adec:decorative xmlns:adec="http://schemas.microsoft.com/office/drawing/2017/decorative" val="1"/>
              </a:ext>
            </a:extLst>
          </p:cNvPr>
          <p:cNvSpPr/>
          <p:nvPr/>
        </p:nvSpPr>
        <p:spPr>
          <a:xfrm>
            <a:off x="9326880" y="2331720"/>
            <a:ext cx="2057400" cy="868680"/>
          </a:xfrm>
          <a:prstGeom prst="roundRect">
            <a:avLst>
              <a:gd name="adj" fmla="val 7368"/>
            </a:avLst>
          </a:prstGeom>
          <a:solidFill>
            <a:srgbClr val="262E38"/>
          </a:solidFill>
          <a:ln/>
        </p:spPr>
        <p:txBody>
          <a:bodyPr/>
          <a:lstStyle/>
          <a:p>
            <a:endParaRPr lang="en-SE"/>
          </a:p>
        </p:txBody>
      </p:sp>
      <p:sp>
        <p:nvSpPr>
          <p:cNvPr id="17" name="Text 15"/>
          <p:cNvSpPr/>
          <p:nvPr/>
        </p:nvSpPr>
        <p:spPr>
          <a:xfrm>
            <a:off x="9326880" y="2331720"/>
            <a:ext cx="2057400" cy="868680"/>
          </a:xfrm>
          <a:prstGeom prst="rect">
            <a:avLst/>
          </a:prstGeom>
          <a:noFill/>
          <a:ln/>
        </p:spPr>
        <p:txBody>
          <a:bodyPr wrap="square" lIns="762" tIns="762" rIns="762" bIns="762" rtlCol="0" anchor="ctr"/>
          <a:lstStyle/>
          <a:p>
            <a:pPr marL="0" indent="0" algn="ctr">
              <a:buNone/>
            </a:pPr>
            <a:r>
              <a:rPr lang="en-US" sz="1200" b="1" dirty="0">
                <a:solidFill>
                  <a:srgbClr val="34D399"/>
                </a:solidFill>
                <a:latin typeface="Calibri" pitchFamily="34" charset="0"/>
                <a:ea typeface="Calibri" pitchFamily="34" charset="-122"/>
                <a:cs typeface="Calibri" pitchFamily="34" charset="-120"/>
              </a:rPr>
              <a:t>Sell</a:t>
            </a:r>
            <a:endParaRPr lang="en-US" sz="1200" dirty="0"/>
          </a:p>
          <a:p>
            <a:pPr marL="0" indent="0" algn="ctr">
              <a:buNone/>
            </a:pPr>
            <a:r>
              <a:rPr lang="en-US" sz="1200" b="1" dirty="0">
                <a:solidFill>
                  <a:srgbClr val="34D399"/>
                </a:solidFill>
                <a:latin typeface="Calibri" pitchFamily="34" charset="0"/>
                <a:ea typeface="Calibri" pitchFamily="34" charset="-122"/>
                <a:cs typeface="Calibri" pitchFamily="34" charset="-120"/>
              </a:rPr>
              <a:t>cash returns</a:t>
            </a:r>
            <a:endParaRPr lang="en-US" sz="1200" dirty="0"/>
          </a:p>
        </p:txBody>
      </p:sp>
      <p:sp>
        <p:nvSpPr>
          <p:cNvPr id="18" name="panel">
            <a:extLst>
              <a:ext uri="{C183D7F6-B498-43B3-948B-1728B52AA6E4}">
                <adec:decorative xmlns:adec="http://schemas.microsoft.com/office/drawing/2017/decorative" val="1"/>
              </a:ext>
            </a:extLst>
          </p:cNvPr>
          <p:cNvSpPr/>
          <p:nvPr/>
        </p:nvSpPr>
        <p:spPr>
          <a:xfrm>
            <a:off x="640080" y="3611880"/>
            <a:ext cx="10908792" cy="1737360"/>
          </a:xfrm>
          <a:prstGeom prst="roundRect">
            <a:avLst>
              <a:gd name="adj" fmla="val 4737"/>
            </a:avLst>
          </a:prstGeom>
          <a:solidFill>
            <a:srgbClr val="262E38"/>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19" name="Text 17"/>
          <p:cNvSpPr/>
          <p:nvPr/>
        </p:nvSpPr>
        <p:spPr>
          <a:xfrm>
            <a:off x="868680" y="3611880"/>
            <a:ext cx="1463040" cy="1737360"/>
          </a:xfrm>
          <a:prstGeom prst="rect">
            <a:avLst/>
          </a:prstGeom>
          <a:noFill/>
          <a:ln/>
        </p:spPr>
        <p:txBody>
          <a:bodyPr wrap="square" lIns="0" tIns="0" rIns="0" bIns="0" rtlCol="0" anchor="ctr"/>
          <a:lstStyle/>
          <a:p>
            <a:pPr marL="0" indent="0">
              <a:buNone/>
            </a:pPr>
            <a:r>
              <a:rPr lang="en-US" sz="1400" b="1" dirty="0">
                <a:solidFill>
                  <a:srgbClr val="34D399"/>
                </a:solidFill>
                <a:latin typeface="Trebuchet MS" pitchFamily="34" charset="0"/>
                <a:ea typeface="Trebuchet MS" pitchFamily="34" charset="-122"/>
                <a:cs typeface="Trebuchet MS" pitchFamily="34" charset="-120"/>
              </a:rPr>
              <a:t>FUTURES</a:t>
            </a:r>
            <a:endParaRPr lang="en-US" sz="1400" dirty="0"/>
          </a:p>
          <a:p>
            <a:pPr marL="0" indent="0">
              <a:buNone/>
            </a:pPr>
            <a:r>
              <a:rPr lang="en-US" sz="1400" b="1" dirty="0">
                <a:solidFill>
                  <a:srgbClr val="34D399"/>
                </a:solidFill>
                <a:latin typeface="Trebuchet MS" pitchFamily="34" charset="0"/>
                <a:ea typeface="Trebuchet MS" pitchFamily="34" charset="-122"/>
                <a:cs typeface="Trebuchet MS" pitchFamily="34" charset="-120"/>
              </a:rPr>
              <a:t>SPREAD</a:t>
            </a:r>
            <a:endParaRPr lang="en-US" sz="1400" dirty="0"/>
          </a:p>
        </p:txBody>
      </p:sp>
      <p:sp>
        <p:nvSpPr>
          <p:cNvPr id="20" name="chip">
            <a:extLst>
              <a:ext uri="{C183D7F6-B498-43B3-948B-1728B52AA6E4}">
                <adec:decorative xmlns:adec="http://schemas.microsoft.com/office/drawing/2017/decorative" val="1"/>
              </a:ext>
            </a:extLst>
          </p:cNvPr>
          <p:cNvSpPr/>
          <p:nvPr/>
        </p:nvSpPr>
        <p:spPr>
          <a:xfrm>
            <a:off x="2377440" y="3977640"/>
            <a:ext cx="2743200" cy="1005840"/>
          </a:xfrm>
          <a:prstGeom prst="roundRect">
            <a:avLst>
              <a:gd name="adj" fmla="val 6364"/>
            </a:avLst>
          </a:prstGeom>
          <a:solidFill>
            <a:srgbClr val="1F252D"/>
          </a:solidFill>
          <a:ln/>
        </p:spPr>
        <p:txBody>
          <a:bodyPr/>
          <a:lstStyle/>
          <a:p>
            <a:endParaRPr lang="en-SE"/>
          </a:p>
        </p:txBody>
      </p:sp>
      <p:sp>
        <p:nvSpPr>
          <p:cNvPr id="21" name="Text 19"/>
          <p:cNvSpPr/>
          <p:nvPr/>
        </p:nvSpPr>
        <p:spPr>
          <a:xfrm>
            <a:off x="2377440" y="3977640"/>
            <a:ext cx="2743200" cy="1005840"/>
          </a:xfrm>
          <a:prstGeom prst="rect">
            <a:avLst/>
          </a:prstGeom>
          <a:noFill/>
          <a:ln/>
        </p:spPr>
        <p:txBody>
          <a:bodyPr wrap="square" lIns="762" tIns="762" rIns="762" bIns="762" rtlCol="0" anchor="ctr"/>
          <a:lstStyle/>
          <a:p>
            <a:pPr marL="0" indent="0" algn="ctr">
              <a:buNone/>
            </a:pPr>
            <a:r>
              <a:rPr lang="en-US" sz="1200" b="1" dirty="0">
                <a:solidFill>
                  <a:srgbClr val="34D399"/>
                </a:solidFill>
                <a:latin typeface="Calibri" pitchFamily="34" charset="0"/>
                <a:ea typeface="Calibri" pitchFamily="34" charset="-122"/>
                <a:cs typeface="Calibri" pitchFamily="34" charset="-120"/>
              </a:rPr>
              <a:t>Enter</a:t>
            </a:r>
            <a:endParaRPr lang="en-US" sz="1200" dirty="0"/>
          </a:p>
          <a:p>
            <a:pPr marL="0" indent="0" algn="ctr">
              <a:buNone/>
            </a:pPr>
            <a:r>
              <a:rPr lang="en-US" sz="1200" b="1" dirty="0">
                <a:solidFill>
                  <a:srgbClr val="34D399"/>
                </a:solidFill>
                <a:latin typeface="Calibri" pitchFamily="34" charset="0"/>
                <a:ea typeface="Calibri" pitchFamily="34" charset="-122"/>
                <a:cs typeface="Calibri" pitchFamily="34" charset="-120"/>
              </a:rPr>
              <a:t>$0 premium</a:t>
            </a:r>
            <a:endParaRPr lang="en-US" sz="1200" dirty="0"/>
          </a:p>
          <a:p>
            <a:pPr marL="0" indent="0" algn="ctr">
              <a:buNone/>
            </a:pPr>
            <a:r>
              <a:rPr lang="en-US" sz="1200" b="1" dirty="0">
                <a:solidFill>
                  <a:srgbClr val="34D399"/>
                </a:solidFill>
                <a:latin typeface="Calibri" pitchFamily="34" charset="0"/>
                <a:ea typeface="Calibri" pitchFamily="34" charset="-122"/>
                <a:cs typeface="Calibri" pitchFamily="34" charset="-120"/>
              </a:rPr>
              <a:t>(just post margin)</a:t>
            </a:r>
            <a:endParaRPr lang="en-US" sz="1200" dirty="0"/>
          </a:p>
        </p:txBody>
      </p:sp>
      <p:sp>
        <p:nvSpPr>
          <p:cNvPr id="22" name="flow arrow">
            <a:extLst>
              <a:ext uri="{C183D7F6-B498-43B3-948B-1728B52AA6E4}">
                <adec:decorative xmlns:adec="http://schemas.microsoft.com/office/drawing/2017/decorative" val="1"/>
              </a:ext>
            </a:extLst>
          </p:cNvPr>
          <p:cNvSpPr/>
          <p:nvPr/>
        </p:nvSpPr>
        <p:spPr>
          <a:xfrm>
            <a:off x="5257800" y="4315968"/>
            <a:ext cx="457200" cy="329184"/>
          </a:xfrm>
          <a:prstGeom prst="rightArrow">
            <a:avLst/>
          </a:prstGeom>
          <a:solidFill>
            <a:srgbClr val="10B981"/>
          </a:solidFill>
          <a:ln/>
        </p:spPr>
        <p:txBody>
          <a:bodyPr/>
          <a:lstStyle/>
          <a:p>
            <a:endParaRPr lang="en-SE"/>
          </a:p>
        </p:txBody>
      </p:sp>
      <p:sp>
        <p:nvSpPr>
          <p:cNvPr id="23" name="chip">
            <a:extLst>
              <a:ext uri="{C183D7F6-B498-43B3-948B-1728B52AA6E4}">
                <adec:decorative xmlns:adec="http://schemas.microsoft.com/office/drawing/2017/decorative" val="1"/>
              </a:ext>
            </a:extLst>
          </p:cNvPr>
          <p:cNvSpPr/>
          <p:nvPr/>
        </p:nvSpPr>
        <p:spPr>
          <a:xfrm>
            <a:off x="5852160" y="3977640"/>
            <a:ext cx="2743200" cy="1005840"/>
          </a:xfrm>
          <a:prstGeom prst="roundRect">
            <a:avLst>
              <a:gd name="adj" fmla="val 6364"/>
            </a:avLst>
          </a:prstGeom>
          <a:solidFill>
            <a:srgbClr val="1F252D"/>
          </a:solidFill>
          <a:ln/>
        </p:spPr>
        <p:txBody>
          <a:bodyPr/>
          <a:lstStyle/>
          <a:p>
            <a:endParaRPr lang="en-SE"/>
          </a:p>
        </p:txBody>
      </p:sp>
      <p:sp>
        <p:nvSpPr>
          <p:cNvPr id="24" name="Text 22"/>
          <p:cNvSpPr/>
          <p:nvPr/>
        </p:nvSpPr>
        <p:spPr>
          <a:xfrm>
            <a:off x="5852160" y="3977640"/>
            <a:ext cx="2743200" cy="1005840"/>
          </a:xfrm>
          <a:prstGeom prst="rect">
            <a:avLst/>
          </a:prstGeom>
          <a:noFill/>
          <a:ln/>
        </p:spPr>
        <p:txBody>
          <a:bodyPr wrap="square" lIns="762" tIns="762" rIns="762" bIns="762" rtlCol="0" anchor="ctr"/>
          <a:lstStyle/>
          <a:p>
            <a:pPr marL="0" indent="0" algn="ctr">
              <a:buNone/>
            </a:pPr>
            <a:r>
              <a:rPr lang="en-US" sz="1200" dirty="0">
                <a:solidFill>
                  <a:srgbClr val="F5B759"/>
                </a:solidFill>
                <a:latin typeface="Calibri" pitchFamily="34" charset="0"/>
                <a:ea typeface="Calibri" pitchFamily="34" charset="-122"/>
                <a:cs typeface="Calibri" pitchFamily="34" charset="-120"/>
              </a:rPr>
              <a:t>Hold</a:t>
            </a:r>
            <a:endParaRPr lang="en-US" sz="1200" dirty="0"/>
          </a:p>
          <a:p>
            <a:pPr marL="0" indent="0" algn="ctr">
              <a:buNone/>
            </a:pPr>
            <a:r>
              <a:rPr lang="en-US" sz="1200" dirty="0">
                <a:solidFill>
                  <a:srgbClr val="F5B759"/>
                </a:solidFill>
                <a:latin typeface="Calibri" pitchFamily="34" charset="0"/>
                <a:ea typeface="Calibri" pitchFamily="34" charset="-122"/>
                <a:cs typeface="Calibri" pitchFamily="34" charset="-120"/>
              </a:rPr>
              <a:t>cash flows daily</a:t>
            </a:r>
            <a:endParaRPr lang="en-US" sz="1200" dirty="0"/>
          </a:p>
          <a:p>
            <a:pPr marL="0" indent="0" algn="ctr">
              <a:buNone/>
            </a:pPr>
            <a:r>
              <a:rPr lang="en-US" sz="1200" dirty="0">
                <a:solidFill>
                  <a:srgbClr val="F5B759"/>
                </a:solidFill>
                <a:latin typeface="Calibri" pitchFamily="34" charset="0"/>
                <a:ea typeface="Calibri" pitchFamily="34" charset="-122"/>
                <a:cs typeface="Calibri" pitchFamily="34" charset="-120"/>
              </a:rPr>
              <a:t>(variation margin)</a:t>
            </a:r>
            <a:endParaRPr lang="en-US" sz="1200" dirty="0"/>
          </a:p>
        </p:txBody>
      </p:sp>
      <p:sp>
        <p:nvSpPr>
          <p:cNvPr id="25" name="flow arrow">
            <a:extLst>
              <a:ext uri="{C183D7F6-B498-43B3-948B-1728B52AA6E4}">
                <adec:decorative xmlns:adec="http://schemas.microsoft.com/office/drawing/2017/decorative" val="1"/>
              </a:ext>
            </a:extLst>
          </p:cNvPr>
          <p:cNvSpPr/>
          <p:nvPr/>
        </p:nvSpPr>
        <p:spPr>
          <a:xfrm>
            <a:off x="8732520" y="4315968"/>
            <a:ext cx="457200" cy="329184"/>
          </a:xfrm>
          <a:prstGeom prst="rightArrow">
            <a:avLst/>
          </a:prstGeom>
          <a:solidFill>
            <a:srgbClr val="10B981"/>
          </a:solidFill>
          <a:ln/>
        </p:spPr>
        <p:txBody>
          <a:bodyPr/>
          <a:lstStyle/>
          <a:p>
            <a:endParaRPr lang="en-SE"/>
          </a:p>
        </p:txBody>
      </p:sp>
      <p:sp>
        <p:nvSpPr>
          <p:cNvPr id="26" name="chip">
            <a:extLst>
              <a:ext uri="{C183D7F6-B498-43B3-948B-1728B52AA6E4}">
                <adec:decorative xmlns:adec="http://schemas.microsoft.com/office/drawing/2017/decorative" val="1"/>
              </a:ext>
            </a:extLst>
          </p:cNvPr>
          <p:cNvSpPr/>
          <p:nvPr/>
        </p:nvSpPr>
        <p:spPr>
          <a:xfrm>
            <a:off x="9326880" y="3977640"/>
            <a:ext cx="2057400" cy="1005840"/>
          </a:xfrm>
          <a:prstGeom prst="roundRect">
            <a:avLst>
              <a:gd name="adj" fmla="val 6364"/>
            </a:avLst>
          </a:prstGeom>
          <a:solidFill>
            <a:srgbClr val="1F252D"/>
          </a:solidFill>
          <a:ln/>
        </p:spPr>
        <p:txBody>
          <a:bodyPr/>
          <a:lstStyle/>
          <a:p>
            <a:endParaRPr lang="en-SE"/>
          </a:p>
        </p:txBody>
      </p:sp>
      <p:sp>
        <p:nvSpPr>
          <p:cNvPr id="27" name="Text 25"/>
          <p:cNvSpPr/>
          <p:nvPr/>
        </p:nvSpPr>
        <p:spPr>
          <a:xfrm>
            <a:off x="9326880" y="3977640"/>
            <a:ext cx="2057400" cy="1005840"/>
          </a:xfrm>
          <a:prstGeom prst="rect">
            <a:avLst/>
          </a:prstGeom>
          <a:noFill/>
          <a:ln/>
        </p:spPr>
        <p:txBody>
          <a:bodyPr wrap="square" lIns="762" tIns="762" rIns="762" bIns="762" rtlCol="0" anchor="ctr"/>
          <a:lstStyle/>
          <a:p>
            <a:pPr marL="0" indent="0" algn="ctr">
              <a:buNone/>
            </a:pPr>
            <a:r>
              <a:rPr lang="en-US" sz="1200" b="1" dirty="0">
                <a:solidFill>
                  <a:srgbClr val="34D399"/>
                </a:solidFill>
                <a:latin typeface="Calibri" pitchFamily="34" charset="0"/>
                <a:ea typeface="Calibri" pitchFamily="34" charset="-122"/>
                <a:cs typeface="Calibri" pitchFamily="34" charset="-120"/>
              </a:rPr>
              <a:t>Exit</a:t>
            </a:r>
            <a:endParaRPr lang="en-US" sz="1200" dirty="0"/>
          </a:p>
          <a:p>
            <a:pPr marL="0" indent="0" algn="ctr">
              <a:buNone/>
            </a:pPr>
            <a:r>
              <a:rPr lang="en-US" sz="1200" b="1" dirty="0">
                <a:solidFill>
                  <a:srgbClr val="34D399"/>
                </a:solidFill>
                <a:latin typeface="Calibri" pitchFamily="34" charset="0"/>
                <a:ea typeface="Calibri" pitchFamily="34" charset="-122"/>
                <a:cs typeface="Calibri" pitchFamily="34" charset="-120"/>
              </a:rPr>
              <a:t>close the</a:t>
            </a:r>
            <a:endParaRPr lang="en-US" sz="1200" dirty="0"/>
          </a:p>
          <a:p>
            <a:pPr marL="0" indent="0" algn="ctr">
              <a:buNone/>
            </a:pPr>
            <a:r>
              <a:rPr lang="en-US" sz="1200" b="1" dirty="0">
                <a:solidFill>
                  <a:srgbClr val="34D399"/>
                </a:solidFill>
                <a:latin typeface="Calibri" pitchFamily="34" charset="0"/>
                <a:ea typeface="Calibri" pitchFamily="34" charset="-122"/>
                <a:cs typeface="Calibri" pitchFamily="34" charset="-120"/>
              </a:rPr>
              <a:t>spread</a:t>
            </a:r>
            <a:endParaRPr lang="en-US" sz="1200" dirty="0"/>
          </a:p>
        </p:txBody>
      </p:sp>
      <p:sp>
        <p:nvSpPr>
          <p:cNvPr id="28"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9"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30" name="Text 28"/>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There is no up-front payment to be negative about. −$0.50 only sets the level you'll be measured from.</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At entry, what actually changes hands?">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At entry, what actually changes hands?</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03 · NEGATIVE COST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33</a:t>
            </a:r>
            <a:endParaRPr lang="en-US" sz="1000" dirty="0"/>
          </a:p>
        </p:txBody>
      </p:sp>
      <p:sp>
        <p:nvSpPr>
          <p:cNvPr id="7" name="Text 5"/>
          <p:cNvSpPr/>
          <p:nvPr/>
        </p:nvSpPr>
        <p:spPr>
          <a:xfrm>
            <a:off x="640080" y="1371600"/>
            <a:ext cx="10881360" cy="502920"/>
          </a:xfrm>
          <a:prstGeom prst="rect">
            <a:avLst/>
          </a:prstGeom>
          <a:noFill/>
          <a:ln/>
        </p:spPr>
        <p:txBody>
          <a:bodyPr wrap="square" lIns="0" tIns="0" rIns="0" bIns="0" rtlCol="0" anchor="ctr"/>
          <a:lstStyle/>
          <a:p>
            <a:pPr marL="0" indent="0">
              <a:buNone/>
            </a:pPr>
            <a:r>
              <a:rPr lang="en-US" sz="1500" dirty="0">
                <a:solidFill>
                  <a:srgbClr val="AAB2BD"/>
                </a:solidFill>
                <a:latin typeface="Calibri" pitchFamily="34" charset="0"/>
                <a:ea typeface="Calibri" pitchFamily="34" charset="-122"/>
                <a:cs typeface="Calibri" pitchFamily="34" charset="-120"/>
              </a:rPr>
              <a:t>Let's be concrete about day one. You buy the spread at −$0.50. Here is every dollar that moves.</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48840"/>
            <a:ext cx="3474720" cy="2788920"/>
          </a:xfrm>
          <a:prstGeom prst="roundRect">
            <a:avLst>
              <a:gd name="adj" fmla="val 2951"/>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896112" y="2359152"/>
            <a:ext cx="3017520" cy="548640"/>
          </a:xfrm>
          <a:prstGeom prst="rect">
            <a:avLst/>
          </a:prstGeom>
          <a:noFill/>
          <a:ln/>
        </p:spPr>
        <p:txBody>
          <a:bodyPr wrap="square" lIns="0" tIns="0" rIns="0" bIns="0" rtlCol="0" anchor="ctr"/>
          <a:lstStyle/>
          <a:p>
            <a:pPr marL="0" indent="0">
              <a:buNone/>
            </a:pPr>
            <a:r>
              <a:rPr lang="en-US" sz="1400" b="1" dirty="0">
                <a:solidFill>
                  <a:srgbClr val="E7EBF0"/>
                </a:solidFill>
                <a:latin typeface="Trebuchet MS" pitchFamily="34" charset="0"/>
                <a:ea typeface="Trebuchet MS" pitchFamily="34" charset="-122"/>
                <a:cs typeface="Trebuchet MS" pitchFamily="34" charset="-120"/>
              </a:rPr>
              <a:t>Premium / purchase price</a:t>
            </a:r>
            <a:endParaRPr lang="en-US" sz="1400" dirty="0"/>
          </a:p>
        </p:txBody>
      </p:sp>
      <p:sp>
        <p:nvSpPr>
          <p:cNvPr id="10" name="Text 8"/>
          <p:cNvSpPr/>
          <p:nvPr/>
        </p:nvSpPr>
        <p:spPr>
          <a:xfrm>
            <a:off x="896112" y="2971800"/>
            <a:ext cx="3017520" cy="914400"/>
          </a:xfrm>
          <a:prstGeom prst="rect">
            <a:avLst/>
          </a:prstGeom>
          <a:noFill/>
          <a:ln/>
        </p:spPr>
        <p:txBody>
          <a:bodyPr wrap="square" lIns="0" tIns="0" rIns="0" bIns="0" rtlCol="0" anchor="ctr"/>
          <a:lstStyle/>
          <a:p>
            <a:pPr marL="0" indent="0" algn="ctr">
              <a:buNone/>
            </a:pPr>
            <a:r>
              <a:rPr lang="en-US" sz="3400" b="1" dirty="0">
                <a:solidFill>
                  <a:srgbClr val="34D399"/>
                </a:solidFill>
                <a:latin typeface="Consolas" pitchFamily="34" charset="0"/>
                <a:ea typeface="Consolas" pitchFamily="34" charset="-122"/>
                <a:cs typeface="Consolas" pitchFamily="34" charset="-120"/>
              </a:rPr>
              <a:t>$0</a:t>
            </a:r>
            <a:endParaRPr lang="en-US" sz="3400" dirty="0"/>
          </a:p>
        </p:txBody>
      </p:sp>
      <p:sp>
        <p:nvSpPr>
          <p:cNvPr id="11" name="Text 9"/>
          <p:cNvSpPr/>
          <p:nvPr/>
        </p:nvSpPr>
        <p:spPr>
          <a:xfrm>
            <a:off x="896112" y="3977640"/>
            <a:ext cx="2999232" cy="868680"/>
          </a:xfrm>
          <a:prstGeom prst="rect">
            <a:avLst/>
          </a:prstGeom>
          <a:noFill/>
          <a:ln/>
        </p:spPr>
        <p:txBody>
          <a:bodyPr wrap="square" lIns="0" tIns="0" rIns="0" bIns="0" rtlCol="0" anchor="ctr"/>
          <a:lstStyle/>
          <a:p>
            <a:pPr marL="0" indent="0">
              <a:lnSpc>
                <a:spcPct val="115000"/>
              </a:lnSpc>
              <a:buNone/>
            </a:pPr>
            <a:r>
              <a:rPr lang="en-US" sz="1250" dirty="0">
                <a:solidFill>
                  <a:srgbClr val="AAB2BD"/>
                </a:solidFill>
                <a:latin typeface="Calibri" pitchFamily="34" charset="0"/>
                <a:ea typeface="Calibri" pitchFamily="34" charset="-122"/>
                <a:cs typeface="Calibri" pitchFamily="34" charset="-120"/>
              </a:rPr>
              <a:t>Unlike a stock or an option, nothing is paid for the position itself.</a:t>
            </a:r>
            <a:endParaRPr lang="en-US" sz="1250" dirty="0"/>
          </a:p>
        </p:txBody>
      </p:sp>
      <p:sp>
        <p:nvSpPr>
          <p:cNvPr id="12" name="panel">
            <a:extLst>
              <a:ext uri="{C183D7F6-B498-43B3-948B-1728B52AA6E4}">
                <adec:decorative xmlns:adec="http://schemas.microsoft.com/office/drawing/2017/decorative" val="1"/>
              </a:ext>
            </a:extLst>
          </p:cNvPr>
          <p:cNvSpPr/>
          <p:nvPr/>
        </p:nvSpPr>
        <p:spPr>
          <a:xfrm>
            <a:off x="4343400" y="2148840"/>
            <a:ext cx="3474720" cy="2788920"/>
          </a:xfrm>
          <a:prstGeom prst="roundRect">
            <a:avLst>
              <a:gd name="adj" fmla="val 2951"/>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13" name="Text 11"/>
          <p:cNvSpPr/>
          <p:nvPr/>
        </p:nvSpPr>
        <p:spPr>
          <a:xfrm>
            <a:off x="4599432" y="2359152"/>
            <a:ext cx="3017520" cy="548640"/>
          </a:xfrm>
          <a:prstGeom prst="rect">
            <a:avLst/>
          </a:prstGeom>
          <a:noFill/>
          <a:ln/>
        </p:spPr>
        <p:txBody>
          <a:bodyPr wrap="square" lIns="0" tIns="0" rIns="0" bIns="0" rtlCol="0" anchor="ctr"/>
          <a:lstStyle/>
          <a:p>
            <a:pPr marL="0" indent="0">
              <a:buNone/>
            </a:pPr>
            <a:r>
              <a:rPr lang="en-US" sz="1400" b="1" dirty="0">
                <a:solidFill>
                  <a:srgbClr val="E7EBF0"/>
                </a:solidFill>
                <a:latin typeface="Trebuchet MS" pitchFamily="34" charset="0"/>
                <a:ea typeface="Trebuchet MS" pitchFamily="34" charset="-122"/>
                <a:cs typeface="Trebuchet MS" pitchFamily="34" charset="-120"/>
              </a:rPr>
              <a:t>Initial margin</a:t>
            </a:r>
            <a:endParaRPr lang="en-US" sz="1400" dirty="0"/>
          </a:p>
        </p:txBody>
      </p:sp>
      <p:sp>
        <p:nvSpPr>
          <p:cNvPr id="14" name="Text 12"/>
          <p:cNvSpPr/>
          <p:nvPr/>
        </p:nvSpPr>
        <p:spPr>
          <a:xfrm>
            <a:off x="4599432" y="2971800"/>
            <a:ext cx="3017520" cy="914400"/>
          </a:xfrm>
          <a:prstGeom prst="rect">
            <a:avLst/>
          </a:prstGeom>
          <a:noFill/>
          <a:ln/>
        </p:spPr>
        <p:txBody>
          <a:bodyPr wrap="square" lIns="0" tIns="0" rIns="0" bIns="0" rtlCol="0" anchor="ctr"/>
          <a:lstStyle/>
          <a:p>
            <a:pPr marL="0" indent="0" algn="ctr">
              <a:buNone/>
            </a:pPr>
            <a:r>
              <a:rPr lang="en-US" sz="3400" b="1" dirty="0">
                <a:solidFill>
                  <a:srgbClr val="F5B759"/>
                </a:solidFill>
                <a:latin typeface="Consolas" pitchFamily="34" charset="0"/>
                <a:ea typeface="Consolas" pitchFamily="34" charset="-122"/>
                <a:cs typeface="Consolas" pitchFamily="34" charset="-120"/>
              </a:rPr>
              <a:t>≈ $1,000</a:t>
            </a:r>
            <a:endParaRPr lang="en-US" sz="3400" dirty="0"/>
          </a:p>
        </p:txBody>
      </p:sp>
      <p:sp>
        <p:nvSpPr>
          <p:cNvPr id="15" name="Text 13"/>
          <p:cNvSpPr/>
          <p:nvPr/>
        </p:nvSpPr>
        <p:spPr>
          <a:xfrm>
            <a:off x="4599432" y="3977640"/>
            <a:ext cx="2999232" cy="868680"/>
          </a:xfrm>
          <a:prstGeom prst="rect">
            <a:avLst/>
          </a:prstGeom>
          <a:noFill/>
          <a:ln/>
        </p:spPr>
        <p:txBody>
          <a:bodyPr wrap="square" lIns="0" tIns="0" rIns="0" bIns="0" rtlCol="0" anchor="ctr"/>
          <a:lstStyle/>
          <a:p>
            <a:pPr marL="0" indent="0">
              <a:lnSpc>
                <a:spcPct val="115000"/>
              </a:lnSpc>
              <a:buNone/>
            </a:pPr>
            <a:r>
              <a:rPr lang="en-US" sz="1250" dirty="0">
                <a:solidFill>
                  <a:srgbClr val="AAB2BD"/>
                </a:solidFill>
                <a:latin typeface="Calibri" pitchFamily="34" charset="0"/>
                <a:ea typeface="Calibri" pitchFamily="34" charset="-122"/>
                <a:cs typeface="Calibri" pitchFamily="34" charset="-120"/>
              </a:rPr>
              <a:t>A refundable good-faith deposit, held by the clearing house. Still your money.</a:t>
            </a:r>
            <a:endParaRPr lang="en-US" sz="1250" dirty="0"/>
          </a:p>
        </p:txBody>
      </p:sp>
      <p:sp>
        <p:nvSpPr>
          <p:cNvPr id="16" name="panel">
            <a:extLst>
              <a:ext uri="{C183D7F6-B498-43B3-948B-1728B52AA6E4}">
                <adec:decorative xmlns:adec="http://schemas.microsoft.com/office/drawing/2017/decorative" val="1"/>
              </a:ext>
            </a:extLst>
          </p:cNvPr>
          <p:cNvSpPr/>
          <p:nvPr/>
        </p:nvSpPr>
        <p:spPr>
          <a:xfrm>
            <a:off x="8046720" y="2148840"/>
            <a:ext cx="3474720" cy="2788920"/>
          </a:xfrm>
          <a:prstGeom prst="roundRect">
            <a:avLst>
              <a:gd name="adj" fmla="val 2951"/>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17" name="Text 15"/>
          <p:cNvSpPr/>
          <p:nvPr/>
        </p:nvSpPr>
        <p:spPr>
          <a:xfrm>
            <a:off x="8302752" y="2359152"/>
            <a:ext cx="3017520" cy="548640"/>
          </a:xfrm>
          <a:prstGeom prst="rect">
            <a:avLst/>
          </a:prstGeom>
          <a:noFill/>
          <a:ln/>
        </p:spPr>
        <p:txBody>
          <a:bodyPr wrap="square" lIns="0" tIns="0" rIns="0" bIns="0" rtlCol="0" anchor="ctr"/>
          <a:lstStyle/>
          <a:p>
            <a:pPr marL="0" indent="0">
              <a:buNone/>
            </a:pPr>
            <a:r>
              <a:rPr lang="en-US" sz="1400" b="1" dirty="0">
                <a:solidFill>
                  <a:srgbClr val="E7EBF0"/>
                </a:solidFill>
                <a:latin typeface="Trebuchet MS" pitchFamily="34" charset="0"/>
                <a:ea typeface="Trebuchet MS" pitchFamily="34" charset="-122"/>
                <a:cs typeface="Trebuchet MS" pitchFamily="34" charset="-120"/>
              </a:rPr>
              <a:t>Money you ‘lose’</a:t>
            </a:r>
            <a:endParaRPr lang="en-US" sz="1400" dirty="0"/>
          </a:p>
        </p:txBody>
      </p:sp>
      <p:sp>
        <p:nvSpPr>
          <p:cNvPr id="18" name="Text 16"/>
          <p:cNvSpPr/>
          <p:nvPr/>
        </p:nvSpPr>
        <p:spPr>
          <a:xfrm>
            <a:off x="8302752" y="2971800"/>
            <a:ext cx="3017520" cy="914400"/>
          </a:xfrm>
          <a:prstGeom prst="rect">
            <a:avLst/>
          </a:prstGeom>
          <a:noFill/>
          <a:ln/>
        </p:spPr>
        <p:txBody>
          <a:bodyPr wrap="square" lIns="0" tIns="0" rIns="0" bIns="0" rtlCol="0" anchor="ctr"/>
          <a:lstStyle/>
          <a:p>
            <a:pPr marL="0" indent="0" algn="ctr">
              <a:buNone/>
            </a:pPr>
            <a:r>
              <a:rPr lang="en-US" sz="3400" b="1" dirty="0">
                <a:solidFill>
                  <a:srgbClr val="34D399"/>
                </a:solidFill>
                <a:latin typeface="Consolas" pitchFamily="34" charset="0"/>
                <a:ea typeface="Consolas" pitchFamily="34" charset="-122"/>
                <a:cs typeface="Consolas" pitchFamily="34" charset="-120"/>
              </a:rPr>
              <a:t>$0</a:t>
            </a:r>
            <a:endParaRPr lang="en-US" sz="3400" dirty="0"/>
          </a:p>
        </p:txBody>
      </p:sp>
      <p:sp>
        <p:nvSpPr>
          <p:cNvPr id="19" name="Text 17"/>
          <p:cNvSpPr/>
          <p:nvPr/>
        </p:nvSpPr>
        <p:spPr>
          <a:xfrm>
            <a:off x="8302752" y="3977640"/>
            <a:ext cx="2999232" cy="868680"/>
          </a:xfrm>
          <a:prstGeom prst="rect">
            <a:avLst/>
          </a:prstGeom>
          <a:noFill/>
          <a:ln/>
        </p:spPr>
        <p:txBody>
          <a:bodyPr wrap="square" lIns="0" tIns="0" rIns="0" bIns="0" rtlCol="0" anchor="ctr"/>
          <a:lstStyle/>
          <a:p>
            <a:pPr marL="0" indent="0">
              <a:lnSpc>
                <a:spcPct val="115000"/>
              </a:lnSpc>
              <a:buNone/>
            </a:pPr>
            <a:r>
              <a:rPr lang="en-US" sz="1250" dirty="0">
                <a:solidFill>
                  <a:srgbClr val="AAB2BD"/>
                </a:solidFill>
                <a:latin typeface="Calibri" pitchFamily="34" charset="0"/>
                <a:ea typeface="Calibri" pitchFamily="34" charset="-122"/>
                <a:cs typeface="Calibri" pitchFamily="34" charset="-120"/>
              </a:rPr>
              <a:t>Posting margin is not a cost — you get it back when you close.</a:t>
            </a:r>
            <a:endParaRPr lang="en-US" sz="1250" dirty="0"/>
          </a:p>
        </p:txBody>
      </p:sp>
      <p:sp>
        <p:nvSpPr>
          <p:cNvPr id="20"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1"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2" name="Text 20"/>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Entering a −$0.50 spread costs you nothing but a deposit you'll get back. Truly.</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Worked example: entering the −$0.50 sprea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Worked example: entering the −$0.50 spread</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03 · NEGATIVE COST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34</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Your account before and after the fill. Notice the balance barely changes — the margin is ring-fenced, not spent.</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48840"/>
            <a:ext cx="5303520" cy="2788920"/>
          </a:xfrm>
          <a:prstGeom prst="roundRect">
            <a:avLst>
              <a:gd name="adj" fmla="val 2951"/>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868680" y="2331720"/>
            <a:ext cx="4846320" cy="320040"/>
          </a:xfrm>
          <a:prstGeom prst="rect">
            <a:avLst/>
          </a:prstGeom>
          <a:noFill/>
          <a:ln/>
        </p:spPr>
        <p:txBody>
          <a:bodyPr wrap="square" lIns="0" tIns="0" rIns="0" bIns="0" rtlCol="0" anchor="ctr"/>
          <a:lstStyle/>
          <a:p>
            <a:pPr marL="0" indent="0">
              <a:buNone/>
            </a:pPr>
            <a:r>
              <a:rPr lang="en-US" sz="1300" b="1" kern="0" spc="100" dirty="0">
                <a:solidFill>
                  <a:srgbClr val="343E4A"/>
                </a:solidFill>
                <a:latin typeface="Trebuchet MS" pitchFamily="34" charset="0"/>
                <a:ea typeface="Trebuchet MS" pitchFamily="34" charset="-122"/>
                <a:cs typeface="Trebuchet MS" pitchFamily="34" charset="-120"/>
              </a:rPr>
              <a:t>BEFORE THE FILL</a:t>
            </a:r>
            <a:endParaRPr lang="en-US" sz="1300" dirty="0"/>
          </a:p>
        </p:txBody>
      </p:sp>
      <p:sp>
        <p:nvSpPr>
          <p:cNvPr id="10" name="Text 8"/>
          <p:cNvSpPr/>
          <p:nvPr/>
        </p:nvSpPr>
        <p:spPr>
          <a:xfrm>
            <a:off x="1005840" y="2788920"/>
            <a:ext cx="3017520" cy="45720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Cash balance</a:t>
            </a:r>
            <a:endParaRPr lang="en-US" sz="1300" dirty="0"/>
          </a:p>
        </p:txBody>
      </p:sp>
      <p:sp>
        <p:nvSpPr>
          <p:cNvPr id="11" name="Text 9"/>
          <p:cNvSpPr/>
          <p:nvPr/>
        </p:nvSpPr>
        <p:spPr>
          <a:xfrm>
            <a:off x="3840480" y="2788920"/>
            <a:ext cx="1920240" cy="457200"/>
          </a:xfrm>
          <a:prstGeom prst="rect">
            <a:avLst/>
          </a:prstGeom>
          <a:noFill/>
          <a:ln/>
        </p:spPr>
        <p:txBody>
          <a:bodyPr wrap="square" lIns="0" tIns="0" rIns="0" bIns="0" rtlCol="0" anchor="ctr"/>
          <a:lstStyle/>
          <a:p>
            <a:pPr marL="0" indent="0" algn="r">
              <a:buNone/>
            </a:pPr>
            <a:r>
              <a:rPr lang="en-US" sz="1400" b="1" dirty="0">
                <a:solidFill>
                  <a:srgbClr val="E7EBF0"/>
                </a:solidFill>
                <a:latin typeface="Consolas" pitchFamily="34" charset="0"/>
                <a:ea typeface="Consolas" pitchFamily="34" charset="-122"/>
                <a:cs typeface="Consolas" pitchFamily="34" charset="-120"/>
              </a:rPr>
              <a:t>$25,000</a:t>
            </a:r>
            <a:endParaRPr lang="en-US" sz="1400" dirty="0"/>
          </a:p>
        </p:txBody>
      </p:sp>
      <p:sp>
        <p:nvSpPr>
          <p:cNvPr id="12" name="Text 10"/>
          <p:cNvSpPr/>
          <p:nvPr/>
        </p:nvSpPr>
        <p:spPr>
          <a:xfrm>
            <a:off x="1005840" y="3355848"/>
            <a:ext cx="3017520" cy="45720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Held as margin</a:t>
            </a:r>
            <a:endParaRPr lang="en-US" sz="1300" dirty="0"/>
          </a:p>
        </p:txBody>
      </p:sp>
      <p:sp>
        <p:nvSpPr>
          <p:cNvPr id="13" name="Text 11"/>
          <p:cNvSpPr/>
          <p:nvPr/>
        </p:nvSpPr>
        <p:spPr>
          <a:xfrm>
            <a:off x="3840480" y="3355848"/>
            <a:ext cx="1920240" cy="457200"/>
          </a:xfrm>
          <a:prstGeom prst="rect">
            <a:avLst/>
          </a:prstGeom>
          <a:noFill/>
          <a:ln/>
        </p:spPr>
        <p:txBody>
          <a:bodyPr wrap="square" lIns="0" tIns="0" rIns="0" bIns="0" rtlCol="0" anchor="ctr"/>
          <a:lstStyle/>
          <a:p>
            <a:pPr marL="0" indent="0" algn="r">
              <a:buNone/>
            </a:pPr>
            <a:r>
              <a:rPr lang="en-US" sz="1400" b="1" dirty="0">
                <a:solidFill>
                  <a:srgbClr val="E7EBF0"/>
                </a:solidFill>
                <a:latin typeface="Consolas" pitchFamily="34" charset="0"/>
                <a:ea typeface="Consolas" pitchFamily="34" charset="-122"/>
                <a:cs typeface="Consolas" pitchFamily="34" charset="-120"/>
              </a:rPr>
              <a:t>$0</a:t>
            </a:r>
            <a:endParaRPr lang="en-US" sz="1400" dirty="0"/>
          </a:p>
        </p:txBody>
      </p:sp>
      <p:sp>
        <p:nvSpPr>
          <p:cNvPr id="14" name="panel">
            <a:extLst>
              <a:ext uri="{C183D7F6-B498-43B3-948B-1728B52AA6E4}">
                <adec:decorative xmlns:adec="http://schemas.microsoft.com/office/drawing/2017/decorative" val="1"/>
              </a:ext>
            </a:extLst>
          </p:cNvPr>
          <p:cNvSpPr/>
          <p:nvPr/>
        </p:nvSpPr>
        <p:spPr>
          <a:xfrm>
            <a:off x="868680" y="3895344"/>
            <a:ext cx="4846320" cy="512064"/>
          </a:xfrm>
          <a:prstGeom prst="roundRect">
            <a:avLst>
              <a:gd name="adj" fmla="val 16071"/>
            </a:avLst>
          </a:prstGeom>
          <a:solidFill>
            <a:srgbClr val="262E38"/>
          </a:solidFill>
          <a:ln/>
        </p:spPr>
        <p:txBody>
          <a:bodyPr/>
          <a:lstStyle/>
          <a:p>
            <a:endParaRPr lang="en-SE"/>
          </a:p>
        </p:txBody>
      </p:sp>
      <p:sp>
        <p:nvSpPr>
          <p:cNvPr id="15" name="Text 13"/>
          <p:cNvSpPr/>
          <p:nvPr/>
        </p:nvSpPr>
        <p:spPr>
          <a:xfrm>
            <a:off x="1005840" y="3922776"/>
            <a:ext cx="3017520" cy="45720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Available</a:t>
            </a:r>
            <a:endParaRPr lang="en-US" sz="1300" dirty="0"/>
          </a:p>
        </p:txBody>
      </p:sp>
      <p:sp>
        <p:nvSpPr>
          <p:cNvPr id="16" name="Text 14"/>
          <p:cNvSpPr/>
          <p:nvPr/>
        </p:nvSpPr>
        <p:spPr>
          <a:xfrm>
            <a:off x="3840480" y="3922776"/>
            <a:ext cx="1920240" cy="457200"/>
          </a:xfrm>
          <a:prstGeom prst="rect">
            <a:avLst/>
          </a:prstGeom>
          <a:noFill/>
          <a:ln/>
        </p:spPr>
        <p:txBody>
          <a:bodyPr wrap="square" lIns="0" tIns="0" rIns="0" bIns="0" rtlCol="0" anchor="ctr"/>
          <a:lstStyle/>
          <a:p>
            <a:pPr marL="0" indent="0" algn="r">
              <a:buNone/>
            </a:pPr>
            <a:r>
              <a:rPr lang="en-US" sz="1400" b="1" dirty="0">
                <a:solidFill>
                  <a:srgbClr val="34D399"/>
                </a:solidFill>
                <a:latin typeface="Consolas" pitchFamily="34" charset="0"/>
                <a:ea typeface="Consolas" pitchFamily="34" charset="-122"/>
                <a:cs typeface="Consolas" pitchFamily="34" charset="-120"/>
              </a:rPr>
              <a:t>$25,000</a:t>
            </a:r>
            <a:endParaRPr lang="en-US" sz="1400" dirty="0"/>
          </a:p>
        </p:txBody>
      </p:sp>
      <p:sp>
        <p:nvSpPr>
          <p:cNvPr id="17" name="Text 15"/>
          <p:cNvSpPr/>
          <p:nvPr/>
        </p:nvSpPr>
        <p:spPr>
          <a:xfrm>
            <a:off x="1005840" y="4489704"/>
            <a:ext cx="3017520" cy="45720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Position</a:t>
            </a:r>
            <a:endParaRPr lang="en-US" sz="1300" dirty="0"/>
          </a:p>
        </p:txBody>
      </p:sp>
      <p:sp>
        <p:nvSpPr>
          <p:cNvPr id="18" name="Text 16"/>
          <p:cNvSpPr/>
          <p:nvPr/>
        </p:nvSpPr>
        <p:spPr>
          <a:xfrm>
            <a:off x="3840480" y="4489704"/>
            <a:ext cx="1920240" cy="457200"/>
          </a:xfrm>
          <a:prstGeom prst="rect">
            <a:avLst/>
          </a:prstGeom>
          <a:noFill/>
          <a:ln/>
        </p:spPr>
        <p:txBody>
          <a:bodyPr wrap="square" lIns="0" tIns="0" rIns="0" bIns="0" rtlCol="0" anchor="ctr"/>
          <a:lstStyle/>
          <a:p>
            <a:pPr marL="0" indent="0" algn="r">
              <a:buNone/>
            </a:pPr>
            <a:r>
              <a:rPr lang="en-US" sz="1400" b="1" dirty="0">
                <a:solidFill>
                  <a:srgbClr val="E7EBF0"/>
                </a:solidFill>
                <a:latin typeface="Consolas" pitchFamily="34" charset="0"/>
                <a:ea typeface="Consolas" pitchFamily="34" charset="-122"/>
                <a:cs typeface="Consolas" pitchFamily="34" charset="-120"/>
              </a:rPr>
              <a:t>none</a:t>
            </a:r>
            <a:endParaRPr lang="en-US" sz="1400" dirty="0"/>
          </a:p>
        </p:txBody>
      </p:sp>
      <p:sp>
        <p:nvSpPr>
          <p:cNvPr id="19" name="panel">
            <a:extLst>
              <a:ext uri="{C183D7F6-B498-43B3-948B-1728B52AA6E4}">
                <adec:decorative xmlns:adec="http://schemas.microsoft.com/office/drawing/2017/decorative" val="1"/>
              </a:ext>
            </a:extLst>
          </p:cNvPr>
          <p:cNvSpPr/>
          <p:nvPr/>
        </p:nvSpPr>
        <p:spPr>
          <a:xfrm>
            <a:off x="6245352" y="2148840"/>
            <a:ext cx="5303520" cy="2788920"/>
          </a:xfrm>
          <a:prstGeom prst="roundRect">
            <a:avLst>
              <a:gd name="adj" fmla="val 2951"/>
            </a:avLst>
          </a:prstGeom>
          <a:solidFill>
            <a:srgbClr val="1F252D"/>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20" name="Text 18"/>
          <p:cNvSpPr/>
          <p:nvPr/>
        </p:nvSpPr>
        <p:spPr>
          <a:xfrm>
            <a:off x="6473952" y="2331720"/>
            <a:ext cx="4846320" cy="320040"/>
          </a:xfrm>
          <a:prstGeom prst="rect">
            <a:avLst/>
          </a:prstGeom>
          <a:noFill/>
          <a:ln/>
        </p:spPr>
        <p:txBody>
          <a:bodyPr wrap="square" lIns="0" tIns="0" rIns="0" bIns="0" rtlCol="0" anchor="ctr"/>
          <a:lstStyle/>
          <a:p>
            <a:pPr marL="0" indent="0">
              <a:buNone/>
            </a:pPr>
            <a:r>
              <a:rPr lang="en-US" sz="1300" b="1" kern="0" spc="100" dirty="0">
                <a:solidFill>
                  <a:srgbClr val="0B5C43"/>
                </a:solidFill>
                <a:latin typeface="Trebuchet MS" pitchFamily="34" charset="0"/>
                <a:ea typeface="Trebuchet MS" pitchFamily="34" charset="-122"/>
                <a:cs typeface="Trebuchet MS" pitchFamily="34" charset="-120"/>
              </a:rPr>
              <a:t>AFTER THE FILL</a:t>
            </a:r>
            <a:endParaRPr lang="en-US" sz="1300" dirty="0"/>
          </a:p>
        </p:txBody>
      </p:sp>
      <p:sp>
        <p:nvSpPr>
          <p:cNvPr id="21" name="Text 19"/>
          <p:cNvSpPr/>
          <p:nvPr/>
        </p:nvSpPr>
        <p:spPr>
          <a:xfrm>
            <a:off x="6611112" y="2788920"/>
            <a:ext cx="3017520" cy="45720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Cash balance</a:t>
            </a:r>
            <a:endParaRPr lang="en-US" sz="1300" dirty="0"/>
          </a:p>
        </p:txBody>
      </p:sp>
      <p:sp>
        <p:nvSpPr>
          <p:cNvPr id="22" name="Text 20"/>
          <p:cNvSpPr/>
          <p:nvPr/>
        </p:nvSpPr>
        <p:spPr>
          <a:xfrm>
            <a:off x="9445752" y="2788920"/>
            <a:ext cx="1920240" cy="457200"/>
          </a:xfrm>
          <a:prstGeom prst="rect">
            <a:avLst/>
          </a:prstGeom>
          <a:noFill/>
          <a:ln/>
        </p:spPr>
        <p:txBody>
          <a:bodyPr wrap="square" lIns="0" tIns="0" rIns="0" bIns="0" rtlCol="0" anchor="ctr"/>
          <a:lstStyle/>
          <a:p>
            <a:pPr marL="0" indent="0" algn="r">
              <a:buNone/>
            </a:pPr>
            <a:r>
              <a:rPr lang="en-US" sz="1400" b="1" dirty="0">
                <a:solidFill>
                  <a:srgbClr val="E7EBF0"/>
                </a:solidFill>
                <a:latin typeface="Consolas" pitchFamily="34" charset="0"/>
                <a:ea typeface="Consolas" pitchFamily="34" charset="-122"/>
                <a:cs typeface="Consolas" pitchFamily="34" charset="-120"/>
              </a:rPr>
              <a:t>$25,000</a:t>
            </a:r>
            <a:endParaRPr lang="en-US" sz="1400" dirty="0"/>
          </a:p>
        </p:txBody>
      </p:sp>
      <p:sp>
        <p:nvSpPr>
          <p:cNvPr id="23" name="Text 21"/>
          <p:cNvSpPr/>
          <p:nvPr/>
        </p:nvSpPr>
        <p:spPr>
          <a:xfrm>
            <a:off x="6611112" y="3355848"/>
            <a:ext cx="3017520" cy="45720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Held as margin</a:t>
            </a:r>
            <a:endParaRPr lang="en-US" sz="1300" dirty="0"/>
          </a:p>
        </p:txBody>
      </p:sp>
      <p:sp>
        <p:nvSpPr>
          <p:cNvPr id="24" name="Text 22"/>
          <p:cNvSpPr/>
          <p:nvPr/>
        </p:nvSpPr>
        <p:spPr>
          <a:xfrm>
            <a:off x="9445752" y="3355848"/>
            <a:ext cx="1920240" cy="457200"/>
          </a:xfrm>
          <a:prstGeom prst="rect">
            <a:avLst/>
          </a:prstGeom>
          <a:noFill/>
          <a:ln/>
        </p:spPr>
        <p:txBody>
          <a:bodyPr wrap="square" lIns="0" tIns="0" rIns="0" bIns="0" rtlCol="0" anchor="ctr"/>
          <a:lstStyle/>
          <a:p>
            <a:pPr marL="0" indent="0" algn="r">
              <a:buNone/>
            </a:pPr>
            <a:r>
              <a:rPr lang="en-US" sz="1400" b="1" dirty="0">
                <a:solidFill>
                  <a:srgbClr val="F5B759"/>
                </a:solidFill>
                <a:latin typeface="Consolas" pitchFamily="34" charset="0"/>
                <a:ea typeface="Consolas" pitchFamily="34" charset="-122"/>
                <a:cs typeface="Consolas" pitchFamily="34" charset="-120"/>
              </a:rPr>
              <a:t>$1,000</a:t>
            </a:r>
            <a:endParaRPr lang="en-US" sz="1400" dirty="0"/>
          </a:p>
        </p:txBody>
      </p:sp>
      <p:sp>
        <p:nvSpPr>
          <p:cNvPr id="25" name="panel">
            <a:extLst>
              <a:ext uri="{C183D7F6-B498-43B3-948B-1728B52AA6E4}">
                <adec:decorative xmlns:adec="http://schemas.microsoft.com/office/drawing/2017/decorative" val="1"/>
              </a:ext>
            </a:extLst>
          </p:cNvPr>
          <p:cNvSpPr/>
          <p:nvPr/>
        </p:nvSpPr>
        <p:spPr>
          <a:xfrm>
            <a:off x="6473952" y="3895344"/>
            <a:ext cx="4846320" cy="512064"/>
          </a:xfrm>
          <a:prstGeom prst="roundRect">
            <a:avLst>
              <a:gd name="adj" fmla="val 16071"/>
            </a:avLst>
          </a:prstGeom>
          <a:solidFill>
            <a:srgbClr val="262E38"/>
          </a:solidFill>
          <a:ln/>
        </p:spPr>
        <p:txBody>
          <a:bodyPr/>
          <a:lstStyle/>
          <a:p>
            <a:endParaRPr lang="en-SE"/>
          </a:p>
        </p:txBody>
      </p:sp>
      <p:sp>
        <p:nvSpPr>
          <p:cNvPr id="26" name="Text 24"/>
          <p:cNvSpPr/>
          <p:nvPr/>
        </p:nvSpPr>
        <p:spPr>
          <a:xfrm>
            <a:off x="6611112" y="3922776"/>
            <a:ext cx="3017520" cy="45720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Available</a:t>
            </a:r>
            <a:endParaRPr lang="en-US" sz="1300" dirty="0"/>
          </a:p>
        </p:txBody>
      </p:sp>
      <p:sp>
        <p:nvSpPr>
          <p:cNvPr id="27" name="Text 25"/>
          <p:cNvSpPr/>
          <p:nvPr/>
        </p:nvSpPr>
        <p:spPr>
          <a:xfrm>
            <a:off x="9445752" y="3922776"/>
            <a:ext cx="1920240" cy="457200"/>
          </a:xfrm>
          <a:prstGeom prst="rect">
            <a:avLst/>
          </a:prstGeom>
          <a:noFill/>
          <a:ln/>
        </p:spPr>
        <p:txBody>
          <a:bodyPr wrap="square" lIns="0" tIns="0" rIns="0" bIns="0" rtlCol="0" anchor="ctr"/>
          <a:lstStyle/>
          <a:p>
            <a:pPr marL="0" indent="0" algn="r">
              <a:buNone/>
            </a:pPr>
            <a:r>
              <a:rPr lang="en-US" sz="1400" b="1" dirty="0">
                <a:solidFill>
                  <a:srgbClr val="E7EBF0"/>
                </a:solidFill>
                <a:latin typeface="Consolas" pitchFamily="34" charset="0"/>
                <a:ea typeface="Consolas" pitchFamily="34" charset="-122"/>
                <a:cs typeface="Consolas" pitchFamily="34" charset="-120"/>
              </a:rPr>
              <a:t>$24,000</a:t>
            </a:r>
            <a:endParaRPr lang="en-US" sz="1400" dirty="0"/>
          </a:p>
        </p:txBody>
      </p:sp>
      <p:sp>
        <p:nvSpPr>
          <p:cNvPr id="28" name="Text 26"/>
          <p:cNvSpPr/>
          <p:nvPr/>
        </p:nvSpPr>
        <p:spPr>
          <a:xfrm>
            <a:off x="6611112" y="4489704"/>
            <a:ext cx="3017520" cy="457200"/>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Position</a:t>
            </a:r>
            <a:endParaRPr lang="en-US" sz="1300" dirty="0"/>
          </a:p>
        </p:txBody>
      </p:sp>
      <p:sp>
        <p:nvSpPr>
          <p:cNvPr id="29" name="Text 27"/>
          <p:cNvSpPr/>
          <p:nvPr/>
        </p:nvSpPr>
        <p:spPr>
          <a:xfrm>
            <a:off x="9445752" y="4489704"/>
            <a:ext cx="1920240" cy="457200"/>
          </a:xfrm>
          <a:prstGeom prst="rect">
            <a:avLst/>
          </a:prstGeom>
          <a:noFill/>
          <a:ln/>
        </p:spPr>
        <p:txBody>
          <a:bodyPr wrap="square" lIns="0" tIns="0" rIns="0" bIns="0" rtlCol="0" anchor="ctr"/>
          <a:lstStyle/>
          <a:p>
            <a:pPr marL="0" indent="0" algn="r">
              <a:buNone/>
            </a:pPr>
            <a:r>
              <a:rPr lang="en-US" sz="1400" b="1" dirty="0">
                <a:solidFill>
                  <a:srgbClr val="34D399"/>
                </a:solidFill>
                <a:latin typeface="Consolas" pitchFamily="34" charset="0"/>
                <a:ea typeface="Consolas" pitchFamily="34" charset="-122"/>
                <a:cs typeface="Consolas" pitchFamily="34" charset="-120"/>
              </a:rPr>
              <a:t>+Mar / −Jun</a:t>
            </a:r>
            <a:endParaRPr lang="en-US" sz="1400" dirty="0"/>
          </a:p>
        </p:txBody>
      </p:sp>
      <p:sp>
        <p:nvSpPr>
          <p:cNvPr id="30" name="transition">
            <a:extLst>
              <a:ext uri="{C183D7F6-B498-43B3-948B-1728B52AA6E4}">
                <adec:decorative xmlns:adec="http://schemas.microsoft.com/office/drawing/2017/decorative" val="1"/>
              </a:ext>
            </a:extLst>
          </p:cNvPr>
          <p:cNvSpPr/>
          <p:nvPr/>
        </p:nvSpPr>
        <p:spPr>
          <a:xfrm>
            <a:off x="5742432" y="3383280"/>
            <a:ext cx="411480" cy="365760"/>
          </a:xfrm>
          <a:prstGeom prst="rightArrow">
            <a:avLst/>
          </a:prstGeom>
          <a:solidFill>
            <a:srgbClr val="10B981"/>
          </a:solidFill>
          <a:ln/>
        </p:spPr>
        <p:txBody>
          <a:bodyPr/>
          <a:lstStyle/>
          <a:p>
            <a:endParaRPr lang="en-SE"/>
          </a:p>
        </p:txBody>
      </p:sp>
      <p:sp>
        <p:nvSpPr>
          <p:cNvPr id="31"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32"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33" name="Text 31"/>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Cash balance is unchanged. $1,000 simply moved from ‘available’ to ‘reserved’ — and you now hold the spread.</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Follow the Money">
    <p:spTree>
      <p:nvGrpSpPr>
        <p:cNvPr id="1" name=""/>
        <p:cNvGrpSpPr/>
        <p:nvPr/>
      </p:nvGrpSpPr>
      <p:grpSpPr>
        <a:xfrm>
          <a:off x="0" y="0"/>
          <a:ext cx="0" cy="0"/>
          <a:chOff x="0" y="0"/>
          <a:chExt cx="0" cy="0"/>
        </a:xfrm>
      </p:grpSpPr>
      <p:sp>
        <p:nvSpPr>
          <p:cNvPr id="2" name="Text 0"/>
          <p:cNvSpPr/>
          <p:nvPr/>
        </p:nvSpPr>
        <p:spPr>
          <a:xfrm>
            <a:off x="777240" y="502920"/>
            <a:ext cx="5486400" cy="2377440"/>
          </a:xfrm>
          <a:prstGeom prst="rect">
            <a:avLst/>
          </a:prstGeom>
          <a:noFill/>
          <a:ln/>
        </p:spPr>
        <p:txBody>
          <a:bodyPr wrap="square" lIns="0" tIns="0" rIns="0" bIns="0" rtlCol="0" anchor="ctr"/>
          <a:lstStyle/>
          <a:p>
            <a:pPr marL="0" indent="0">
              <a:buNone/>
            </a:pPr>
            <a:r>
              <a:rPr lang="en-US" sz="15000" b="1" dirty="0">
                <a:solidFill>
                  <a:srgbClr val="262E38"/>
                </a:solidFill>
                <a:latin typeface="Trebuchet MS" pitchFamily="34" charset="0"/>
                <a:ea typeface="Trebuchet MS" pitchFamily="34" charset="-122"/>
                <a:cs typeface="Trebuchet MS" pitchFamily="34" charset="-120"/>
              </a:rPr>
              <a:t>04</a:t>
            </a:r>
            <a:endParaRPr lang="en-US" sz="15000" dirty="0"/>
          </a:p>
        </p:txBody>
      </p:sp>
      <p:sp>
        <p:nvSpPr>
          <p:cNvPr id="3" name="accent">
            <a:extLst>
              <a:ext uri="{C183D7F6-B498-43B3-948B-1728B52AA6E4}">
                <adec:decorative xmlns:adec="http://schemas.microsoft.com/office/drawing/2017/decorative" val="1"/>
              </a:ext>
            </a:extLst>
          </p:cNvPr>
          <p:cNvSpPr/>
          <p:nvPr/>
        </p:nvSpPr>
        <p:spPr>
          <a:xfrm>
            <a:off x="1325880" y="3072384"/>
            <a:ext cx="457200" cy="100584"/>
          </a:xfrm>
          <a:prstGeom prst="rect">
            <a:avLst/>
          </a:prstGeom>
          <a:solidFill>
            <a:srgbClr val="34D399"/>
          </a:solidFill>
          <a:ln/>
        </p:spPr>
        <p:txBody>
          <a:bodyPr/>
          <a:lstStyle/>
          <a:p>
            <a:endParaRPr lang="en-SE"/>
          </a:p>
        </p:txBody>
      </p:sp>
      <p:sp>
        <p:nvSpPr>
          <p:cNvPr id="4" name="Text 2"/>
          <p:cNvSpPr/>
          <p:nvPr/>
        </p:nvSpPr>
        <p:spPr>
          <a:xfrm>
            <a:off x="1325880" y="2697480"/>
            <a:ext cx="7315200" cy="320040"/>
          </a:xfrm>
          <a:prstGeom prst="rect">
            <a:avLst/>
          </a:prstGeom>
          <a:noFill/>
          <a:ln/>
        </p:spPr>
        <p:txBody>
          <a:bodyPr wrap="square" lIns="0" tIns="0" rIns="0" bIns="0" rtlCol="0" anchor="ctr"/>
          <a:lstStyle/>
          <a:p>
            <a:pPr marL="0" indent="0">
              <a:buNone/>
            </a:pPr>
            <a:r>
              <a:rPr lang="en-US" sz="1300" b="1" kern="0" spc="400" dirty="0">
                <a:solidFill>
                  <a:srgbClr val="34D399"/>
                </a:solidFill>
                <a:latin typeface="Trebuchet MS" pitchFamily="34" charset="0"/>
                <a:ea typeface="Trebuchet MS" pitchFamily="34" charset="-122"/>
                <a:cs typeface="Trebuchet MS" pitchFamily="34" charset="-120"/>
              </a:rPr>
              <a:t>SECTION 04</a:t>
            </a:r>
            <a:endParaRPr lang="en-US" sz="1300" dirty="0"/>
          </a:p>
        </p:txBody>
      </p:sp>
      <p:sp>
        <p:nvSpPr>
          <p:cNvPr id="5" name="Text 0"/>
          <p:cNvSpPr>
            <a:spLocks noGrp="1"/>
          </p:cNvSpPr>
          <p:nvPr>
            <p:ph type="title" idx="100" hasCustomPrompt="1"/>
          </p:nvPr>
        </p:nvSpPr>
        <p:spPr>
          <a:xfrm>
            <a:off x="1280160" y="2926080"/>
            <a:ext cx="9601200" cy="1280160"/>
          </a:xfrm>
          <a:prstGeom prst="rect">
            <a:avLst/>
          </a:prstGeom>
          <a:noFill/>
          <a:ln/>
        </p:spPr>
        <p:txBody>
          <a:bodyPr wrap="square" lIns="0" tIns="0" rIns="0" bIns="0" rtlCol="0"/>
          <a:lstStyle/>
          <a:p>
            <a:pPr marL="0" indent="0">
              <a:buNone/>
            </a:pPr>
            <a:r>
              <a:rPr lang="en-US" sz="3300" b="1" dirty="0">
                <a:solidFill>
                  <a:srgbClr val="E7EBF0"/>
                </a:solidFill>
                <a:latin typeface="Trebuchet MS" pitchFamily="34" charset="0"/>
                <a:ea typeface="Trebuchet MS" pitchFamily="34" charset="-122"/>
                <a:cs typeface="Trebuchet MS" pitchFamily="34" charset="-120"/>
              </a:rPr>
              <a:t>Follow the Money</a:t>
            </a:r>
            <a:endParaRPr lang="en-US" sz="3300" dirty="0"/>
          </a:p>
        </p:txBody>
      </p:sp>
      <p:sp>
        <p:nvSpPr>
          <p:cNvPr id="6" name="Text 4"/>
          <p:cNvSpPr/>
          <p:nvPr/>
        </p:nvSpPr>
        <p:spPr>
          <a:xfrm>
            <a:off x="1325880" y="4160520"/>
            <a:ext cx="9326880" cy="8229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If nothing is paid up front, where does profit or loss actually live? In a daily cash flow called variation margin.</a:t>
            </a:r>
            <a:endParaRPr lang="en-US" sz="1500" dirty="0"/>
          </a:p>
        </p:txBody>
      </p:sp>
      <p:sp>
        <p:nvSpPr>
          <p:cNvPr id="7" name="mark">
            <a:extLst>
              <a:ext uri="{C183D7F6-B498-43B3-948B-1728B52AA6E4}">
                <adec:decorative xmlns:adec="http://schemas.microsoft.com/office/drawing/2017/decorative" val="1"/>
              </a:ext>
            </a:extLst>
          </p:cNvPr>
          <p:cNvSpPr/>
          <p:nvPr/>
        </p:nvSpPr>
        <p:spPr>
          <a:xfrm>
            <a:off x="1325880" y="6126480"/>
            <a:ext cx="128016" cy="128016"/>
          </a:xfrm>
          <a:prstGeom prst="rect">
            <a:avLst/>
          </a:prstGeom>
          <a:solidFill>
            <a:srgbClr val="34D399"/>
          </a:solidFill>
          <a:ln/>
        </p:spPr>
        <p:txBody>
          <a:bodyPr/>
          <a:lstStyle/>
          <a:p>
            <a:endParaRPr lang="en-SE"/>
          </a:p>
        </p:txBody>
      </p:sp>
      <p:sp>
        <p:nvSpPr>
          <p:cNvPr id="8" name="Text 6"/>
          <p:cNvSpPr/>
          <p:nvPr/>
        </p:nvSpPr>
        <p:spPr>
          <a:xfrm>
            <a:off x="1527048" y="6080760"/>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Two kinds of cash in a futures accou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Two kinds of cash in a futures account</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04 · THE MONEY</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36</a:t>
            </a:r>
            <a:endParaRPr lang="en-US" sz="1000" dirty="0"/>
          </a:p>
        </p:txBody>
      </p:sp>
      <p:sp>
        <p:nvSpPr>
          <p:cNvPr id="7" name="Text 5"/>
          <p:cNvSpPr/>
          <p:nvPr/>
        </p:nvSpPr>
        <p:spPr>
          <a:xfrm>
            <a:off x="640080" y="1371600"/>
            <a:ext cx="10881360" cy="502920"/>
          </a:xfrm>
          <a:prstGeom prst="rect">
            <a:avLst/>
          </a:prstGeom>
          <a:noFill/>
          <a:ln/>
        </p:spPr>
        <p:txBody>
          <a:bodyPr wrap="square" lIns="0" tIns="0" rIns="0" bIns="0" rtlCol="0" anchor="ctr"/>
          <a:lstStyle/>
          <a:p>
            <a:pPr marL="0" indent="0">
              <a:buNone/>
            </a:pPr>
            <a:r>
              <a:rPr lang="en-US" sz="1500" dirty="0">
                <a:solidFill>
                  <a:srgbClr val="AAB2BD"/>
                </a:solidFill>
                <a:latin typeface="Calibri" pitchFamily="34" charset="0"/>
                <a:ea typeface="Calibri" pitchFamily="34" charset="-122"/>
                <a:cs typeface="Calibri" pitchFamily="34" charset="-120"/>
              </a:rPr>
              <a:t>Only two money mechanisms matter for us. Keep them separate in your head and everything else follows.</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48840"/>
            <a:ext cx="5303520" cy="2834640"/>
          </a:xfrm>
          <a:prstGeom prst="roundRect">
            <a:avLst>
              <a:gd name="adj" fmla="val 2903"/>
            </a:avLst>
          </a:prstGeom>
          <a:solidFill>
            <a:srgbClr val="1F252D"/>
          </a:solidFill>
          <a:ln w="12700">
            <a:solidFill>
              <a:srgbClr val="F5B759"/>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868680" y="2331720"/>
            <a:ext cx="4846320" cy="292608"/>
          </a:xfrm>
          <a:prstGeom prst="rect">
            <a:avLst/>
          </a:prstGeom>
          <a:noFill/>
          <a:ln/>
        </p:spPr>
        <p:txBody>
          <a:bodyPr wrap="square" lIns="0" tIns="0" rIns="0" bIns="0" rtlCol="0" anchor="ctr"/>
          <a:lstStyle/>
          <a:p>
            <a:pPr marL="0" indent="0">
              <a:buNone/>
            </a:pPr>
            <a:r>
              <a:rPr lang="en-US" sz="1300" b="1" kern="0" spc="200" dirty="0">
                <a:solidFill>
                  <a:srgbClr val="F5B759"/>
                </a:solidFill>
                <a:latin typeface="Trebuchet MS" pitchFamily="34" charset="0"/>
                <a:ea typeface="Trebuchet MS" pitchFamily="34" charset="-122"/>
                <a:cs typeface="Trebuchet MS" pitchFamily="34" charset="-120"/>
              </a:rPr>
              <a:t>INITIAL MARGIN</a:t>
            </a:r>
            <a:endParaRPr lang="en-US" sz="1300" dirty="0"/>
          </a:p>
        </p:txBody>
      </p:sp>
      <p:sp>
        <p:nvSpPr>
          <p:cNvPr id="10" name="Text 8"/>
          <p:cNvSpPr/>
          <p:nvPr/>
        </p:nvSpPr>
        <p:spPr>
          <a:xfrm>
            <a:off x="868680" y="2651760"/>
            <a:ext cx="4846320" cy="457200"/>
          </a:xfrm>
          <a:prstGeom prst="rect">
            <a:avLst/>
          </a:prstGeom>
          <a:noFill/>
          <a:ln/>
        </p:spPr>
        <p:txBody>
          <a:bodyPr wrap="square" lIns="0" tIns="0" rIns="0" bIns="0" rtlCol="0" anchor="ctr"/>
          <a:lstStyle/>
          <a:p>
            <a:pPr marL="0" indent="0">
              <a:buNone/>
            </a:pPr>
            <a:r>
              <a:rPr lang="en-US" sz="2200" b="1" dirty="0">
                <a:solidFill>
                  <a:srgbClr val="E7EBF0"/>
                </a:solidFill>
                <a:latin typeface="Trebuchet MS" pitchFamily="34" charset="0"/>
                <a:ea typeface="Trebuchet MS" pitchFamily="34" charset="-122"/>
                <a:cs typeface="Trebuchet MS" pitchFamily="34" charset="-120"/>
              </a:rPr>
              <a:t>A deposit</a:t>
            </a:r>
            <a:endParaRPr lang="en-US" sz="2200" dirty="0"/>
          </a:p>
        </p:txBody>
      </p:sp>
      <p:sp>
        <p:nvSpPr>
          <p:cNvPr id="11" name="Text 9"/>
          <p:cNvSpPr/>
          <p:nvPr/>
        </p:nvSpPr>
        <p:spPr>
          <a:xfrm>
            <a:off x="1051560" y="3246120"/>
            <a:ext cx="4663440" cy="365760"/>
          </a:xfrm>
          <a:prstGeom prst="rect">
            <a:avLst/>
          </a:prstGeom>
          <a:noFill/>
          <a:ln/>
        </p:spPr>
        <p:txBody>
          <a:bodyPr wrap="square" lIns="0" tIns="0" rIns="0" bIns="0" rtlCol="0" anchor="ctr"/>
          <a:lstStyle/>
          <a:p>
            <a:pPr marL="152400" indent="-152400">
              <a:buSzPct val="100000"/>
              <a:buChar char="•"/>
            </a:pPr>
            <a:r>
              <a:rPr lang="en-US" sz="1300" dirty="0">
                <a:solidFill>
                  <a:srgbClr val="AAB2BD"/>
                </a:solidFill>
                <a:latin typeface="Calibri" pitchFamily="34" charset="0"/>
                <a:ea typeface="Calibri" pitchFamily="34" charset="-122"/>
                <a:cs typeface="Calibri" pitchFamily="34" charset="-120"/>
              </a:rPr>
              <a:t>Paid once, when you open the position</a:t>
            </a:r>
            <a:endParaRPr lang="en-US" sz="1300" dirty="0"/>
          </a:p>
        </p:txBody>
      </p:sp>
      <p:sp>
        <p:nvSpPr>
          <p:cNvPr id="12" name="Text 10"/>
          <p:cNvSpPr/>
          <p:nvPr/>
        </p:nvSpPr>
        <p:spPr>
          <a:xfrm>
            <a:off x="1051560" y="3657600"/>
            <a:ext cx="4663440" cy="365760"/>
          </a:xfrm>
          <a:prstGeom prst="rect">
            <a:avLst/>
          </a:prstGeom>
          <a:noFill/>
          <a:ln/>
        </p:spPr>
        <p:txBody>
          <a:bodyPr wrap="square" lIns="0" tIns="0" rIns="0" bIns="0" rtlCol="0" anchor="ctr"/>
          <a:lstStyle/>
          <a:p>
            <a:pPr marL="152400" indent="-152400">
              <a:buSzPct val="100000"/>
              <a:buChar char="•"/>
            </a:pPr>
            <a:r>
              <a:rPr lang="en-US" sz="1300" dirty="0">
                <a:solidFill>
                  <a:srgbClr val="AAB2BD"/>
                </a:solidFill>
                <a:latin typeface="Calibri" pitchFamily="34" charset="0"/>
                <a:ea typeface="Calibri" pitchFamily="34" charset="-122"/>
                <a:cs typeface="Calibri" pitchFamily="34" charset="-120"/>
              </a:rPr>
              <a:t>Refundable — returned when you close</a:t>
            </a:r>
            <a:endParaRPr lang="en-US" sz="1300" dirty="0"/>
          </a:p>
        </p:txBody>
      </p:sp>
      <p:sp>
        <p:nvSpPr>
          <p:cNvPr id="13" name="Text 11"/>
          <p:cNvSpPr/>
          <p:nvPr/>
        </p:nvSpPr>
        <p:spPr>
          <a:xfrm>
            <a:off x="1051560" y="4069080"/>
            <a:ext cx="4663440" cy="365760"/>
          </a:xfrm>
          <a:prstGeom prst="rect">
            <a:avLst/>
          </a:prstGeom>
          <a:noFill/>
          <a:ln/>
        </p:spPr>
        <p:txBody>
          <a:bodyPr wrap="square" lIns="0" tIns="0" rIns="0" bIns="0" rtlCol="0" anchor="ctr"/>
          <a:lstStyle/>
          <a:p>
            <a:pPr marL="152400" indent="-152400">
              <a:buSzPct val="100000"/>
              <a:buChar char="•"/>
            </a:pPr>
            <a:r>
              <a:rPr lang="en-US" sz="1300" dirty="0">
                <a:solidFill>
                  <a:srgbClr val="AAB2BD"/>
                </a:solidFill>
                <a:latin typeface="Calibri" pitchFamily="34" charset="0"/>
                <a:ea typeface="Calibri" pitchFamily="34" charset="-122"/>
                <a:cs typeface="Calibri" pitchFamily="34" charset="-120"/>
              </a:rPr>
              <a:t>Sized to cover a bad day, not to be spent</a:t>
            </a:r>
            <a:endParaRPr lang="en-US" sz="1300" dirty="0"/>
          </a:p>
        </p:txBody>
      </p:sp>
      <p:sp>
        <p:nvSpPr>
          <p:cNvPr id="14" name="Text 12"/>
          <p:cNvSpPr/>
          <p:nvPr/>
        </p:nvSpPr>
        <p:spPr>
          <a:xfrm>
            <a:off x="1051560" y="4480560"/>
            <a:ext cx="4663440" cy="365760"/>
          </a:xfrm>
          <a:prstGeom prst="rect">
            <a:avLst/>
          </a:prstGeom>
          <a:noFill/>
          <a:ln/>
        </p:spPr>
        <p:txBody>
          <a:bodyPr wrap="square" lIns="0" tIns="0" rIns="0" bIns="0" rtlCol="0" anchor="ctr"/>
          <a:lstStyle/>
          <a:p>
            <a:pPr marL="152400" indent="-152400">
              <a:buSzPct val="100000"/>
              <a:buChar char="•"/>
            </a:pPr>
            <a:r>
              <a:rPr lang="en-US" sz="1300" dirty="0">
                <a:solidFill>
                  <a:srgbClr val="AAB2BD"/>
                </a:solidFill>
                <a:latin typeface="Calibri" pitchFamily="34" charset="0"/>
                <a:ea typeface="Calibri" pitchFamily="34" charset="-122"/>
                <a:cs typeface="Calibri" pitchFamily="34" charset="-120"/>
              </a:rPr>
              <a:t>Think: a security deposit on a rental</a:t>
            </a:r>
            <a:endParaRPr lang="en-US" sz="1300" dirty="0"/>
          </a:p>
        </p:txBody>
      </p:sp>
      <p:sp>
        <p:nvSpPr>
          <p:cNvPr id="15" name="panel">
            <a:extLst>
              <a:ext uri="{C183D7F6-B498-43B3-948B-1728B52AA6E4}">
                <adec:decorative xmlns:adec="http://schemas.microsoft.com/office/drawing/2017/decorative" val="1"/>
              </a:ext>
            </a:extLst>
          </p:cNvPr>
          <p:cNvSpPr/>
          <p:nvPr/>
        </p:nvSpPr>
        <p:spPr>
          <a:xfrm>
            <a:off x="6245352" y="2148840"/>
            <a:ext cx="5303520" cy="2834640"/>
          </a:xfrm>
          <a:prstGeom prst="roundRect">
            <a:avLst>
              <a:gd name="adj" fmla="val 2903"/>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16" name="Text 14"/>
          <p:cNvSpPr/>
          <p:nvPr/>
        </p:nvSpPr>
        <p:spPr>
          <a:xfrm>
            <a:off x="6473952" y="2331720"/>
            <a:ext cx="4846320" cy="292608"/>
          </a:xfrm>
          <a:prstGeom prst="rect">
            <a:avLst/>
          </a:prstGeom>
          <a:noFill/>
          <a:ln/>
        </p:spPr>
        <p:txBody>
          <a:bodyPr wrap="square" lIns="0" tIns="0" rIns="0" bIns="0" rtlCol="0" anchor="ctr"/>
          <a:lstStyle/>
          <a:p>
            <a:pPr marL="0" indent="0">
              <a:buNone/>
            </a:pPr>
            <a:r>
              <a:rPr lang="en-US" sz="1300" b="1" kern="0" spc="200" dirty="0">
                <a:solidFill>
                  <a:srgbClr val="34D399"/>
                </a:solidFill>
                <a:latin typeface="Trebuchet MS" pitchFamily="34" charset="0"/>
                <a:ea typeface="Trebuchet MS" pitchFamily="34" charset="-122"/>
                <a:cs typeface="Trebuchet MS" pitchFamily="34" charset="-120"/>
              </a:rPr>
              <a:t>VARIATION MARGIN</a:t>
            </a:r>
            <a:endParaRPr lang="en-US" sz="1300" dirty="0"/>
          </a:p>
        </p:txBody>
      </p:sp>
      <p:sp>
        <p:nvSpPr>
          <p:cNvPr id="17" name="Text 15"/>
          <p:cNvSpPr/>
          <p:nvPr/>
        </p:nvSpPr>
        <p:spPr>
          <a:xfrm>
            <a:off x="6473952" y="2651760"/>
            <a:ext cx="4846320" cy="457200"/>
          </a:xfrm>
          <a:prstGeom prst="rect">
            <a:avLst/>
          </a:prstGeom>
          <a:noFill/>
          <a:ln/>
        </p:spPr>
        <p:txBody>
          <a:bodyPr wrap="square" lIns="0" tIns="0" rIns="0" bIns="0" rtlCol="0" anchor="ctr"/>
          <a:lstStyle/>
          <a:p>
            <a:pPr marL="0" indent="0">
              <a:buNone/>
            </a:pPr>
            <a:r>
              <a:rPr lang="en-US" sz="2200" b="1" dirty="0">
                <a:solidFill>
                  <a:srgbClr val="E7EBF0"/>
                </a:solidFill>
                <a:latin typeface="Trebuchet MS" pitchFamily="34" charset="0"/>
                <a:ea typeface="Trebuchet MS" pitchFamily="34" charset="-122"/>
                <a:cs typeface="Trebuchet MS" pitchFamily="34" charset="-120"/>
              </a:rPr>
              <a:t>The daily settling</a:t>
            </a:r>
            <a:endParaRPr lang="en-US" sz="2200" dirty="0"/>
          </a:p>
        </p:txBody>
      </p:sp>
      <p:sp>
        <p:nvSpPr>
          <p:cNvPr id="18" name="Text 16"/>
          <p:cNvSpPr/>
          <p:nvPr/>
        </p:nvSpPr>
        <p:spPr>
          <a:xfrm>
            <a:off x="6656832" y="3246120"/>
            <a:ext cx="4663440" cy="365760"/>
          </a:xfrm>
          <a:prstGeom prst="rect">
            <a:avLst/>
          </a:prstGeom>
          <a:noFill/>
          <a:ln/>
        </p:spPr>
        <p:txBody>
          <a:bodyPr wrap="square" lIns="0" tIns="0" rIns="0" bIns="0" rtlCol="0" anchor="ctr"/>
          <a:lstStyle/>
          <a:p>
            <a:pPr marL="152400" indent="-152400">
              <a:buSzPct val="100000"/>
              <a:buChar char="•"/>
            </a:pPr>
            <a:r>
              <a:rPr lang="en-US" sz="1300" dirty="0">
                <a:solidFill>
                  <a:srgbClr val="AAB2BD"/>
                </a:solidFill>
                <a:latin typeface="Calibri" pitchFamily="34" charset="0"/>
                <a:ea typeface="Calibri" pitchFamily="34" charset="-122"/>
                <a:cs typeface="Calibri" pitchFamily="34" charset="-120"/>
              </a:rPr>
              <a:t>Cash moves every single day</a:t>
            </a:r>
            <a:endParaRPr lang="en-US" sz="1300" dirty="0"/>
          </a:p>
        </p:txBody>
      </p:sp>
      <p:sp>
        <p:nvSpPr>
          <p:cNvPr id="19" name="Text 17"/>
          <p:cNvSpPr/>
          <p:nvPr/>
        </p:nvSpPr>
        <p:spPr>
          <a:xfrm>
            <a:off x="6656832" y="3657600"/>
            <a:ext cx="4663440" cy="365760"/>
          </a:xfrm>
          <a:prstGeom prst="rect">
            <a:avLst/>
          </a:prstGeom>
          <a:noFill/>
          <a:ln/>
        </p:spPr>
        <p:txBody>
          <a:bodyPr wrap="square" lIns="0" tIns="0" rIns="0" bIns="0" rtlCol="0" anchor="ctr"/>
          <a:lstStyle/>
          <a:p>
            <a:pPr marL="152400" indent="-152400">
              <a:buSzPct val="100000"/>
              <a:buChar char="•"/>
            </a:pPr>
            <a:r>
              <a:rPr lang="en-US" sz="1300" dirty="0">
                <a:solidFill>
                  <a:srgbClr val="AAB2BD"/>
                </a:solidFill>
                <a:latin typeface="Calibri" pitchFamily="34" charset="0"/>
                <a:ea typeface="Calibri" pitchFamily="34" charset="-122"/>
                <a:cs typeface="Calibri" pitchFamily="34" charset="-120"/>
              </a:rPr>
              <a:t>Follows the spread's daily change</a:t>
            </a:r>
            <a:endParaRPr lang="en-US" sz="1300" dirty="0"/>
          </a:p>
        </p:txBody>
      </p:sp>
      <p:sp>
        <p:nvSpPr>
          <p:cNvPr id="20" name="Text 18"/>
          <p:cNvSpPr/>
          <p:nvPr/>
        </p:nvSpPr>
        <p:spPr>
          <a:xfrm>
            <a:off x="6656832" y="4069080"/>
            <a:ext cx="4663440" cy="365760"/>
          </a:xfrm>
          <a:prstGeom prst="rect">
            <a:avLst/>
          </a:prstGeom>
          <a:noFill/>
          <a:ln/>
        </p:spPr>
        <p:txBody>
          <a:bodyPr wrap="square" lIns="0" tIns="0" rIns="0" bIns="0" rtlCol="0" anchor="ctr"/>
          <a:lstStyle/>
          <a:p>
            <a:pPr marL="152400" indent="-152400">
              <a:buSzPct val="100000"/>
              <a:buChar char="•"/>
            </a:pPr>
            <a:r>
              <a:rPr lang="en-US" sz="1300" dirty="0">
                <a:solidFill>
                  <a:srgbClr val="AAB2BD"/>
                </a:solidFill>
                <a:latin typeface="Calibri" pitchFamily="34" charset="0"/>
                <a:ea typeface="Calibri" pitchFamily="34" charset="-122"/>
                <a:cs typeface="Calibri" pitchFamily="34" charset="-120"/>
              </a:rPr>
              <a:t>Credited to you on good days, debited on bad</a:t>
            </a:r>
            <a:endParaRPr lang="en-US" sz="1300" dirty="0"/>
          </a:p>
        </p:txBody>
      </p:sp>
      <p:sp>
        <p:nvSpPr>
          <p:cNvPr id="21" name="Text 19"/>
          <p:cNvSpPr/>
          <p:nvPr/>
        </p:nvSpPr>
        <p:spPr>
          <a:xfrm>
            <a:off x="6656832" y="4480560"/>
            <a:ext cx="4663440" cy="365760"/>
          </a:xfrm>
          <a:prstGeom prst="rect">
            <a:avLst/>
          </a:prstGeom>
          <a:noFill/>
          <a:ln/>
        </p:spPr>
        <p:txBody>
          <a:bodyPr wrap="square" lIns="0" tIns="0" rIns="0" bIns="0" rtlCol="0" anchor="ctr"/>
          <a:lstStyle/>
          <a:p>
            <a:pPr marL="152400" indent="-152400">
              <a:buSzPct val="100000"/>
              <a:buChar char="•"/>
            </a:pPr>
            <a:r>
              <a:rPr lang="en-US" sz="1300" dirty="0">
                <a:solidFill>
                  <a:srgbClr val="AAB2BD"/>
                </a:solidFill>
                <a:latin typeface="Calibri" pitchFamily="34" charset="0"/>
                <a:ea typeface="Calibri" pitchFamily="34" charset="-122"/>
                <a:cs typeface="Calibri" pitchFamily="34" charset="-120"/>
              </a:rPr>
              <a:t>This is where your real profit lands</a:t>
            </a:r>
            <a:endParaRPr lang="en-US" sz="1300" dirty="0"/>
          </a:p>
        </p:txBody>
      </p:sp>
      <p:sp>
        <p:nvSpPr>
          <p:cNvPr id="22"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3"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4" name="Text 22"/>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Initial margin is a deposit you park. Variation margin is the daily cash that actually is your P/L.</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The multiplier: turning $/bbl into dollars">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multiplier: turning $/bbl into dollars</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04 · THE MONEY</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37</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Spread prices are quoted in dollars per barrel. To get account dollars, multiply the price change by the contract size.</a:t>
            </a:r>
            <a:endParaRPr lang="en-US" sz="1500" dirty="0"/>
          </a:p>
        </p:txBody>
      </p:sp>
      <p:sp>
        <p:nvSpPr>
          <p:cNvPr id="8" name="panel">
            <a:extLst>
              <a:ext uri="{C183D7F6-B498-43B3-948B-1728B52AA6E4}">
                <adec:decorative xmlns:adec="http://schemas.microsoft.com/office/drawing/2017/decorative" val="1"/>
              </a:ext>
            </a:extLst>
          </p:cNvPr>
          <p:cNvSpPr/>
          <p:nvPr/>
        </p:nvSpPr>
        <p:spPr>
          <a:xfrm>
            <a:off x="1280160" y="2286000"/>
            <a:ext cx="9601200" cy="1371600"/>
          </a:xfrm>
          <a:prstGeom prst="roundRect">
            <a:avLst>
              <a:gd name="adj" fmla="val 6000"/>
            </a:avLst>
          </a:prstGeom>
          <a:solidFill>
            <a:srgbClr val="262E38"/>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1280160" y="2286000"/>
            <a:ext cx="9601200" cy="1371600"/>
          </a:xfrm>
          <a:prstGeom prst="rect">
            <a:avLst/>
          </a:prstGeom>
          <a:noFill/>
          <a:ln/>
        </p:spPr>
        <p:txBody>
          <a:bodyPr wrap="square" lIns="0" tIns="0" rIns="0" bIns="0" rtlCol="0" anchor="ctr"/>
          <a:lstStyle/>
          <a:p>
            <a:pPr marL="0" indent="0" algn="ctr">
              <a:buNone/>
            </a:pPr>
            <a:r>
              <a:rPr lang="en-US" sz="1500" dirty="0">
                <a:solidFill>
                  <a:srgbClr val="AAB2BD"/>
                </a:solidFill>
                <a:latin typeface="Calibri" pitchFamily="34" charset="0"/>
                <a:ea typeface="Calibri" pitchFamily="34" charset="-122"/>
                <a:cs typeface="Calibri" pitchFamily="34" charset="-120"/>
              </a:rPr>
              <a:t>spread change ($/bbl)</a:t>
            </a:r>
            <a:r>
              <a:rPr lang="en-US" sz="2200" dirty="0">
                <a:solidFill>
                  <a:srgbClr val="E7EBF0"/>
                </a:solidFill>
                <a:latin typeface="Consolas" pitchFamily="34" charset="0"/>
                <a:ea typeface="Consolas" pitchFamily="34" charset="-122"/>
                <a:cs typeface="Consolas" pitchFamily="34" charset="-120"/>
              </a:rPr>
              <a:t>  ×  </a:t>
            </a:r>
            <a:r>
              <a:rPr lang="en-US" sz="2000" b="1" dirty="0">
                <a:solidFill>
                  <a:srgbClr val="6EA8E6"/>
                </a:solidFill>
                <a:latin typeface="Consolas" pitchFamily="34" charset="0"/>
                <a:ea typeface="Consolas" pitchFamily="34" charset="-122"/>
                <a:cs typeface="Consolas" pitchFamily="34" charset="-120"/>
              </a:rPr>
              <a:t>1,000 bbl</a:t>
            </a:r>
            <a:r>
              <a:rPr lang="en-US" sz="2200" dirty="0">
                <a:solidFill>
                  <a:srgbClr val="E7EBF0"/>
                </a:solidFill>
                <a:latin typeface="Consolas" pitchFamily="34" charset="0"/>
                <a:ea typeface="Consolas" pitchFamily="34" charset="-122"/>
                <a:cs typeface="Consolas" pitchFamily="34" charset="-120"/>
              </a:rPr>
              <a:t>  =  </a:t>
            </a:r>
            <a:r>
              <a:rPr lang="en-US" sz="1800" b="1" dirty="0">
                <a:solidFill>
                  <a:srgbClr val="34D399"/>
                </a:solidFill>
                <a:latin typeface="Trebuchet MS" pitchFamily="34" charset="0"/>
                <a:ea typeface="Trebuchet MS" pitchFamily="34" charset="-122"/>
                <a:cs typeface="Trebuchet MS" pitchFamily="34" charset="-120"/>
              </a:rPr>
              <a:t>account dollars</a:t>
            </a:r>
            <a:endParaRPr lang="en-US" sz="1500" dirty="0"/>
          </a:p>
        </p:txBody>
      </p:sp>
      <p:sp>
        <p:nvSpPr>
          <p:cNvPr id="10" name="panel">
            <a:extLst>
              <a:ext uri="{C183D7F6-B498-43B3-948B-1728B52AA6E4}">
                <adec:decorative xmlns:adec="http://schemas.microsoft.com/office/drawing/2017/decorative" val="1"/>
              </a:ext>
            </a:extLst>
          </p:cNvPr>
          <p:cNvSpPr/>
          <p:nvPr/>
        </p:nvSpPr>
        <p:spPr>
          <a:xfrm>
            <a:off x="1280160" y="3931920"/>
            <a:ext cx="3017520" cy="1417320"/>
          </a:xfrm>
          <a:prstGeom prst="roundRect">
            <a:avLst>
              <a:gd name="adj" fmla="val 5806"/>
            </a:avLst>
          </a:prstGeom>
          <a:solidFill>
            <a:srgbClr val="1F252D"/>
          </a:solidFill>
          <a:ln w="12700">
            <a:solidFill>
              <a:srgbClr val="343E4A"/>
            </a:solidFill>
            <a:prstDash val="solid"/>
          </a:ln>
        </p:spPr>
        <p:txBody>
          <a:bodyPr/>
          <a:lstStyle/>
          <a:p>
            <a:endParaRPr lang="en-SE"/>
          </a:p>
        </p:txBody>
      </p:sp>
      <p:sp>
        <p:nvSpPr>
          <p:cNvPr id="11" name="Text 9"/>
          <p:cNvSpPr/>
          <p:nvPr/>
        </p:nvSpPr>
        <p:spPr>
          <a:xfrm>
            <a:off x="1463040" y="4069080"/>
            <a:ext cx="2651760" cy="502920"/>
          </a:xfrm>
          <a:prstGeom prst="rect">
            <a:avLst/>
          </a:prstGeom>
          <a:noFill/>
          <a:ln/>
        </p:spPr>
        <p:txBody>
          <a:bodyPr wrap="square" lIns="0" tIns="0" rIns="0" bIns="0" rtlCol="0" anchor="ctr"/>
          <a:lstStyle/>
          <a:p>
            <a:pPr marL="0" indent="0" algn="ctr">
              <a:buNone/>
            </a:pPr>
            <a:r>
              <a:rPr lang="en-US" sz="2400" b="1" dirty="0">
                <a:solidFill>
                  <a:srgbClr val="E7EBF0"/>
                </a:solidFill>
                <a:latin typeface="Consolas" pitchFamily="34" charset="0"/>
                <a:ea typeface="Consolas" pitchFamily="34" charset="-122"/>
                <a:cs typeface="Consolas" pitchFamily="34" charset="-120"/>
              </a:rPr>
              <a:t>$0.01</a:t>
            </a:r>
            <a:endParaRPr lang="en-US" sz="2400" dirty="0"/>
          </a:p>
        </p:txBody>
      </p:sp>
      <p:sp>
        <p:nvSpPr>
          <p:cNvPr id="12" name="Text 10"/>
          <p:cNvSpPr/>
          <p:nvPr/>
        </p:nvSpPr>
        <p:spPr>
          <a:xfrm>
            <a:off x="1463040" y="4572000"/>
            <a:ext cx="2651760" cy="274320"/>
          </a:xfrm>
          <a:prstGeom prst="rect">
            <a:avLst/>
          </a:prstGeom>
          <a:noFill/>
          <a:ln/>
        </p:spPr>
        <p:txBody>
          <a:bodyPr wrap="square" lIns="0" tIns="0" rIns="0" bIns="0" rtlCol="0" anchor="ctr"/>
          <a:lstStyle/>
          <a:p>
            <a:pPr marL="0" indent="0" algn="ctr">
              <a:buNone/>
            </a:pPr>
            <a:r>
              <a:rPr lang="en-US" sz="1150" i="1" dirty="0">
                <a:solidFill>
                  <a:srgbClr val="AAB2BD"/>
                </a:solidFill>
                <a:latin typeface="Calibri" pitchFamily="34" charset="0"/>
                <a:ea typeface="Calibri" pitchFamily="34" charset="-122"/>
                <a:cs typeface="Calibri" pitchFamily="34" charset="-120"/>
              </a:rPr>
              <a:t>1 tick</a:t>
            </a:r>
            <a:endParaRPr lang="en-US" sz="1150" dirty="0"/>
          </a:p>
        </p:txBody>
      </p:sp>
      <p:sp>
        <p:nvSpPr>
          <p:cNvPr id="13" name="Text 11"/>
          <p:cNvSpPr/>
          <p:nvPr/>
        </p:nvSpPr>
        <p:spPr>
          <a:xfrm>
            <a:off x="1463040" y="4864608"/>
            <a:ext cx="2651760" cy="365760"/>
          </a:xfrm>
          <a:prstGeom prst="rect">
            <a:avLst/>
          </a:prstGeom>
          <a:noFill/>
          <a:ln/>
        </p:spPr>
        <p:txBody>
          <a:bodyPr wrap="square" lIns="0" tIns="0" rIns="0" bIns="0" rtlCol="0" anchor="ctr"/>
          <a:lstStyle/>
          <a:p>
            <a:pPr marL="0" indent="0" algn="ctr">
              <a:buNone/>
            </a:pPr>
            <a:r>
              <a:rPr lang="en-US" sz="2000" b="1" dirty="0">
                <a:solidFill>
                  <a:srgbClr val="6EA8E6"/>
                </a:solidFill>
                <a:latin typeface="Consolas" pitchFamily="34" charset="0"/>
                <a:ea typeface="Consolas" pitchFamily="34" charset="-122"/>
                <a:cs typeface="Consolas" pitchFamily="34" charset="-120"/>
              </a:rPr>
              <a:t>= $10</a:t>
            </a:r>
            <a:endParaRPr lang="en-US" sz="2000" dirty="0"/>
          </a:p>
        </p:txBody>
      </p:sp>
      <p:sp>
        <p:nvSpPr>
          <p:cNvPr id="14" name="panel">
            <a:extLst>
              <a:ext uri="{C183D7F6-B498-43B3-948B-1728B52AA6E4}">
                <adec:decorative xmlns:adec="http://schemas.microsoft.com/office/drawing/2017/decorative" val="1"/>
              </a:ext>
            </a:extLst>
          </p:cNvPr>
          <p:cNvSpPr/>
          <p:nvPr/>
        </p:nvSpPr>
        <p:spPr>
          <a:xfrm>
            <a:off x="4526280" y="3931920"/>
            <a:ext cx="3017520" cy="1417320"/>
          </a:xfrm>
          <a:prstGeom prst="roundRect">
            <a:avLst>
              <a:gd name="adj" fmla="val 5806"/>
            </a:avLst>
          </a:prstGeom>
          <a:solidFill>
            <a:srgbClr val="1F252D"/>
          </a:solidFill>
          <a:ln w="12700">
            <a:solidFill>
              <a:srgbClr val="343E4A"/>
            </a:solidFill>
            <a:prstDash val="solid"/>
          </a:ln>
        </p:spPr>
        <p:txBody>
          <a:bodyPr/>
          <a:lstStyle/>
          <a:p>
            <a:endParaRPr lang="en-SE"/>
          </a:p>
        </p:txBody>
      </p:sp>
      <p:sp>
        <p:nvSpPr>
          <p:cNvPr id="15" name="Text 13"/>
          <p:cNvSpPr/>
          <p:nvPr/>
        </p:nvSpPr>
        <p:spPr>
          <a:xfrm>
            <a:off x="4709160" y="4069080"/>
            <a:ext cx="2651760" cy="502920"/>
          </a:xfrm>
          <a:prstGeom prst="rect">
            <a:avLst/>
          </a:prstGeom>
          <a:noFill/>
          <a:ln/>
        </p:spPr>
        <p:txBody>
          <a:bodyPr wrap="square" lIns="0" tIns="0" rIns="0" bIns="0" rtlCol="0" anchor="ctr"/>
          <a:lstStyle/>
          <a:p>
            <a:pPr marL="0" indent="0" algn="ctr">
              <a:buNone/>
            </a:pPr>
            <a:r>
              <a:rPr lang="en-US" sz="2400" b="1" dirty="0">
                <a:solidFill>
                  <a:srgbClr val="E7EBF0"/>
                </a:solidFill>
                <a:latin typeface="Consolas" pitchFamily="34" charset="0"/>
                <a:ea typeface="Consolas" pitchFamily="34" charset="-122"/>
                <a:cs typeface="Consolas" pitchFamily="34" charset="-120"/>
              </a:rPr>
              <a:t>$0.20</a:t>
            </a:r>
            <a:endParaRPr lang="en-US" sz="2400" dirty="0"/>
          </a:p>
        </p:txBody>
      </p:sp>
      <p:sp>
        <p:nvSpPr>
          <p:cNvPr id="16" name="Text 14"/>
          <p:cNvSpPr/>
          <p:nvPr/>
        </p:nvSpPr>
        <p:spPr>
          <a:xfrm>
            <a:off x="4709160" y="4572000"/>
            <a:ext cx="2651760" cy="274320"/>
          </a:xfrm>
          <a:prstGeom prst="rect">
            <a:avLst/>
          </a:prstGeom>
          <a:noFill/>
          <a:ln/>
        </p:spPr>
        <p:txBody>
          <a:bodyPr wrap="square" lIns="0" tIns="0" rIns="0" bIns="0" rtlCol="0" anchor="ctr"/>
          <a:lstStyle/>
          <a:p>
            <a:pPr marL="0" indent="0" algn="ctr">
              <a:buNone/>
            </a:pPr>
            <a:r>
              <a:rPr lang="en-US" sz="1150" i="1" dirty="0">
                <a:solidFill>
                  <a:srgbClr val="AAB2BD"/>
                </a:solidFill>
                <a:latin typeface="Calibri" pitchFamily="34" charset="0"/>
                <a:ea typeface="Calibri" pitchFamily="34" charset="-122"/>
                <a:cs typeface="Calibri" pitchFamily="34" charset="-120"/>
              </a:rPr>
              <a:t>a small move</a:t>
            </a:r>
            <a:endParaRPr lang="en-US" sz="1150" dirty="0"/>
          </a:p>
        </p:txBody>
      </p:sp>
      <p:sp>
        <p:nvSpPr>
          <p:cNvPr id="17" name="Text 15"/>
          <p:cNvSpPr/>
          <p:nvPr/>
        </p:nvSpPr>
        <p:spPr>
          <a:xfrm>
            <a:off x="4709160" y="4864608"/>
            <a:ext cx="2651760" cy="365760"/>
          </a:xfrm>
          <a:prstGeom prst="rect">
            <a:avLst/>
          </a:prstGeom>
          <a:noFill/>
          <a:ln/>
        </p:spPr>
        <p:txBody>
          <a:bodyPr wrap="square" lIns="0" tIns="0" rIns="0" bIns="0" rtlCol="0" anchor="ctr"/>
          <a:lstStyle/>
          <a:p>
            <a:pPr marL="0" indent="0" algn="ctr">
              <a:buNone/>
            </a:pPr>
            <a:r>
              <a:rPr lang="en-US" sz="2000" b="1" dirty="0">
                <a:solidFill>
                  <a:srgbClr val="6EA8E6"/>
                </a:solidFill>
                <a:latin typeface="Consolas" pitchFamily="34" charset="0"/>
                <a:ea typeface="Consolas" pitchFamily="34" charset="-122"/>
                <a:cs typeface="Consolas" pitchFamily="34" charset="-120"/>
              </a:rPr>
              <a:t>= $200</a:t>
            </a:r>
            <a:endParaRPr lang="en-US" sz="2000" dirty="0"/>
          </a:p>
        </p:txBody>
      </p:sp>
      <p:sp>
        <p:nvSpPr>
          <p:cNvPr id="18" name="panel">
            <a:extLst>
              <a:ext uri="{C183D7F6-B498-43B3-948B-1728B52AA6E4}">
                <adec:decorative xmlns:adec="http://schemas.microsoft.com/office/drawing/2017/decorative" val="1"/>
              </a:ext>
            </a:extLst>
          </p:cNvPr>
          <p:cNvSpPr/>
          <p:nvPr/>
        </p:nvSpPr>
        <p:spPr>
          <a:xfrm>
            <a:off x="7772400" y="3931920"/>
            <a:ext cx="3017520" cy="1417320"/>
          </a:xfrm>
          <a:prstGeom prst="roundRect">
            <a:avLst>
              <a:gd name="adj" fmla="val 5806"/>
            </a:avLst>
          </a:prstGeom>
          <a:solidFill>
            <a:srgbClr val="1F252D"/>
          </a:solidFill>
          <a:ln w="1270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19" name="Text 17"/>
          <p:cNvSpPr/>
          <p:nvPr/>
        </p:nvSpPr>
        <p:spPr>
          <a:xfrm>
            <a:off x="7955280" y="4069080"/>
            <a:ext cx="2651760" cy="502920"/>
          </a:xfrm>
          <a:prstGeom prst="rect">
            <a:avLst/>
          </a:prstGeom>
          <a:noFill/>
          <a:ln/>
        </p:spPr>
        <p:txBody>
          <a:bodyPr wrap="square" lIns="0" tIns="0" rIns="0" bIns="0" rtlCol="0" anchor="ctr"/>
          <a:lstStyle/>
          <a:p>
            <a:pPr marL="0" indent="0" algn="ctr">
              <a:buNone/>
            </a:pPr>
            <a:r>
              <a:rPr lang="en-US" sz="2400" b="1" dirty="0">
                <a:solidFill>
                  <a:srgbClr val="E7EBF0"/>
                </a:solidFill>
                <a:latin typeface="Consolas" pitchFamily="34" charset="0"/>
                <a:ea typeface="Consolas" pitchFamily="34" charset="-122"/>
                <a:cs typeface="Consolas" pitchFamily="34" charset="-120"/>
              </a:rPr>
              <a:t>$0.70</a:t>
            </a:r>
            <a:endParaRPr lang="en-US" sz="2400" dirty="0"/>
          </a:p>
        </p:txBody>
      </p:sp>
      <p:sp>
        <p:nvSpPr>
          <p:cNvPr id="20" name="Text 18"/>
          <p:cNvSpPr/>
          <p:nvPr/>
        </p:nvSpPr>
        <p:spPr>
          <a:xfrm>
            <a:off x="7955280" y="4572000"/>
            <a:ext cx="2651760" cy="274320"/>
          </a:xfrm>
          <a:prstGeom prst="rect">
            <a:avLst/>
          </a:prstGeom>
          <a:noFill/>
          <a:ln/>
        </p:spPr>
        <p:txBody>
          <a:bodyPr wrap="square" lIns="0" tIns="0" rIns="0" bIns="0" rtlCol="0" anchor="ctr"/>
          <a:lstStyle/>
          <a:p>
            <a:pPr marL="0" indent="0" algn="ctr">
              <a:buNone/>
            </a:pPr>
            <a:r>
              <a:rPr lang="en-US" sz="1150" i="1" dirty="0">
                <a:solidFill>
                  <a:srgbClr val="AAB2BD"/>
                </a:solidFill>
                <a:latin typeface="Calibri" pitchFamily="34" charset="0"/>
                <a:ea typeface="Calibri" pitchFamily="34" charset="-122"/>
                <a:cs typeface="Calibri" pitchFamily="34" charset="-120"/>
              </a:rPr>
              <a:t>our full trade</a:t>
            </a:r>
            <a:endParaRPr lang="en-US" sz="1150" dirty="0"/>
          </a:p>
        </p:txBody>
      </p:sp>
      <p:sp>
        <p:nvSpPr>
          <p:cNvPr id="21" name="Text 19"/>
          <p:cNvSpPr/>
          <p:nvPr/>
        </p:nvSpPr>
        <p:spPr>
          <a:xfrm>
            <a:off x="7955280" y="4864608"/>
            <a:ext cx="2651760" cy="365760"/>
          </a:xfrm>
          <a:prstGeom prst="rect">
            <a:avLst/>
          </a:prstGeom>
          <a:noFill/>
          <a:ln/>
        </p:spPr>
        <p:txBody>
          <a:bodyPr wrap="square" lIns="0" tIns="0" rIns="0" bIns="0" rtlCol="0" anchor="ctr"/>
          <a:lstStyle/>
          <a:p>
            <a:pPr marL="0" indent="0" algn="ctr">
              <a:buNone/>
            </a:pPr>
            <a:r>
              <a:rPr lang="en-US" sz="2000" b="1" dirty="0">
                <a:solidFill>
                  <a:srgbClr val="34D399"/>
                </a:solidFill>
                <a:latin typeface="Consolas" pitchFamily="34" charset="0"/>
                <a:ea typeface="Consolas" pitchFamily="34" charset="-122"/>
                <a:cs typeface="Consolas" pitchFamily="34" charset="-120"/>
              </a:rPr>
              <a:t>= $700</a:t>
            </a:r>
            <a:endParaRPr lang="en-US" sz="2000" dirty="0"/>
          </a:p>
        </p:txBody>
      </p:sp>
      <p:sp>
        <p:nvSpPr>
          <p:cNvPr id="22"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3"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4" name="Text 22"/>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Every $0.01 of spread movement is $10. Our whole trade will hinge on a $0.70 move = $700.</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Variation margin: settled every day">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Variation margin: settled every day</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04 · THE MONEY</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38</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Each evening the clearing house re-prices your spread and moves cash so your paper gain or loss becomes real that day. No waiting until you close.</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377440"/>
            <a:ext cx="2560320" cy="1828800"/>
          </a:xfrm>
          <a:prstGeom prst="roundRect">
            <a:avLst>
              <a:gd name="adj" fmla="val 45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9" name="step">
            <a:extLst>
              <a:ext uri="{C183D7F6-B498-43B3-948B-1728B52AA6E4}">
                <adec:decorative xmlns:adec="http://schemas.microsoft.com/office/drawing/2017/decorative" val="1"/>
              </a:ext>
            </a:extLst>
          </p:cNvPr>
          <p:cNvSpPr/>
          <p:nvPr/>
        </p:nvSpPr>
        <p:spPr>
          <a:xfrm>
            <a:off x="923544" y="2660904"/>
            <a:ext cx="438912" cy="438912"/>
          </a:xfrm>
          <a:prstGeom prst="ellipse">
            <a:avLst/>
          </a:prstGeom>
          <a:solidFill>
            <a:srgbClr val="6EA8E6"/>
          </a:solidFill>
          <a:ln/>
        </p:spPr>
        <p:txBody>
          <a:bodyPr/>
          <a:lstStyle/>
          <a:p>
            <a:endParaRPr lang="en-SE"/>
          </a:p>
        </p:txBody>
      </p:sp>
      <p:sp>
        <p:nvSpPr>
          <p:cNvPr id="10" name="Text 8"/>
          <p:cNvSpPr/>
          <p:nvPr/>
        </p:nvSpPr>
        <p:spPr>
          <a:xfrm>
            <a:off x="923544" y="2660904"/>
            <a:ext cx="438912" cy="438912"/>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1</a:t>
            </a:r>
            <a:endParaRPr lang="en-US" sz="1400" dirty="0"/>
          </a:p>
        </p:txBody>
      </p:sp>
      <p:sp>
        <p:nvSpPr>
          <p:cNvPr id="11" name="Text 9"/>
          <p:cNvSpPr/>
          <p:nvPr/>
        </p:nvSpPr>
        <p:spPr>
          <a:xfrm>
            <a:off x="1508760" y="2697480"/>
            <a:ext cx="1600200" cy="457200"/>
          </a:xfrm>
          <a:prstGeom prst="rect">
            <a:avLst/>
          </a:prstGeom>
          <a:noFill/>
          <a:ln/>
        </p:spPr>
        <p:txBody>
          <a:bodyPr wrap="square" lIns="0" tIns="0" rIns="0" bIns="0" rtlCol="0" anchor="ctr"/>
          <a:lstStyle/>
          <a:p>
            <a:pPr marL="0" indent="0">
              <a:buNone/>
            </a:pPr>
            <a:r>
              <a:rPr lang="en-US" sz="1350" b="1" dirty="0">
                <a:solidFill>
                  <a:srgbClr val="E7EBF0"/>
                </a:solidFill>
                <a:latin typeface="Trebuchet MS" pitchFamily="34" charset="0"/>
                <a:ea typeface="Trebuchet MS" pitchFamily="34" charset="-122"/>
                <a:cs typeface="Trebuchet MS" pitchFamily="34" charset="-120"/>
              </a:rPr>
              <a:t>Day starts</a:t>
            </a:r>
            <a:endParaRPr lang="en-US" sz="1350" dirty="0"/>
          </a:p>
        </p:txBody>
      </p:sp>
      <p:sp>
        <p:nvSpPr>
          <p:cNvPr id="12" name="Text 10"/>
          <p:cNvSpPr/>
          <p:nvPr/>
        </p:nvSpPr>
        <p:spPr>
          <a:xfrm>
            <a:off x="868680" y="3246120"/>
            <a:ext cx="2148840" cy="822960"/>
          </a:xfrm>
          <a:prstGeom prst="rect">
            <a:avLst/>
          </a:prstGeom>
          <a:noFill/>
          <a:ln/>
        </p:spPr>
        <p:txBody>
          <a:bodyPr wrap="square" lIns="0" tIns="0" rIns="0" bIns="0" rtlCol="0" anchor="ctr"/>
          <a:lstStyle/>
          <a:p>
            <a:pPr marL="0" indent="0">
              <a:lnSpc>
                <a:spcPct val="110000"/>
              </a:lnSpc>
              <a:buNone/>
            </a:pPr>
            <a:r>
              <a:rPr lang="en-US" sz="1200" dirty="0">
                <a:solidFill>
                  <a:srgbClr val="AAB2BD"/>
                </a:solidFill>
                <a:latin typeface="Calibri" pitchFamily="34" charset="0"/>
                <a:ea typeface="Calibri" pitchFamily="34" charset="-122"/>
                <a:cs typeface="Calibri" pitchFamily="34" charset="-120"/>
              </a:rPr>
              <a:t>Spread has yesterday's value</a:t>
            </a:r>
            <a:endParaRPr lang="en-US" sz="1200" dirty="0"/>
          </a:p>
        </p:txBody>
      </p:sp>
      <p:sp>
        <p:nvSpPr>
          <p:cNvPr id="13" name="flow arrow">
            <a:extLst>
              <a:ext uri="{C183D7F6-B498-43B3-948B-1728B52AA6E4}">
                <adec:decorative xmlns:adec="http://schemas.microsoft.com/office/drawing/2017/decorative" val="1"/>
              </a:ext>
            </a:extLst>
          </p:cNvPr>
          <p:cNvSpPr/>
          <p:nvPr/>
        </p:nvSpPr>
        <p:spPr>
          <a:xfrm>
            <a:off x="3218688" y="3127248"/>
            <a:ext cx="164592" cy="329184"/>
          </a:xfrm>
          <a:prstGeom prst="rightArrow">
            <a:avLst/>
          </a:prstGeom>
          <a:solidFill>
            <a:srgbClr val="343E4A"/>
          </a:solidFill>
          <a:ln/>
        </p:spPr>
        <p:txBody>
          <a:bodyPr/>
          <a:lstStyle/>
          <a:p>
            <a:endParaRPr lang="en-SE"/>
          </a:p>
        </p:txBody>
      </p:sp>
      <p:sp>
        <p:nvSpPr>
          <p:cNvPr id="14" name="panel">
            <a:extLst>
              <a:ext uri="{C183D7F6-B498-43B3-948B-1728B52AA6E4}">
                <adec:decorative xmlns:adec="http://schemas.microsoft.com/office/drawing/2017/decorative" val="1"/>
              </a:ext>
            </a:extLst>
          </p:cNvPr>
          <p:cNvSpPr/>
          <p:nvPr/>
        </p:nvSpPr>
        <p:spPr>
          <a:xfrm>
            <a:off x="3438144" y="2377440"/>
            <a:ext cx="2560320" cy="1828800"/>
          </a:xfrm>
          <a:prstGeom prst="roundRect">
            <a:avLst>
              <a:gd name="adj" fmla="val 45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15" name="step">
            <a:extLst>
              <a:ext uri="{C183D7F6-B498-43B3-948B-1728B52AA6E4}">
                <adec:decorative xmlns:adec="http://schemas.microsoft.com/office/drawing/2017/decorative" val="1"/>
              </a:ext>
            </a:extLst>
          </p:cNvPr>
          <p:cNvSpPr/>
          <p:nvPr/>
        </p:nvSpPr>
        <p:spPr>
          <a:xfrm>
            <a:off x="3721608" y="2660904"/>
            <a:ext cx="438912" cy="438912"/>
          </a:xfrm>
          <a:prstGeom prst="ellipse">
            <a:avLst/>
          </a:prstGeom>
          <a:solidFill>
            <a:srgbClr val="F5B759"/>
          </a:solidFill>
          <a:ln/>
        </p:spPr>
        <p:txBody>
          <a:bodyPr/>
          <a:lstStyle/>
          <a:p>
            <a:endParaRPr lang="en-SE"/>
          </a:p>
        </p:txBody>
      </p:sp>
      <p:sp>
        <p:nvSpPr>
          <p:cNvPr id="16" name="Text 14"/>
          <p:cNvSpPr/>
          <p:nvPr/>
        </p:nvSpPr>
        <p:spPr>
          <a:xfrm>
            <a:off x="3721608" y="2660904"/>
            <a:ext cx="438912" cy="438912"/>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2</a:t>
            </a:r>
            <a:endParaRPr lang="en-US" sz="1400" dirty="0"/>
          </a:p>
        </p:txBody>
      </p:sp>
      <p:sp>
        <p:nvSpPr>
          <p:cNvPr id="17" name="Text 15"/>
          <p:cNvSpPr/>
          <p:nvPr/>
        </p:nvSpPr>
        <p:spPr>
          <a:xfrm>
            <a:off x="4306824" y="2697480"/>
            <a:ext cx="1600200" cy="457200"/>
          </a:xfrm>
          <a:prstGeom prst="rect">
            <a:avLst/>
          </a:prstGeom>
          <a:noFill/>
          <a:ln/>
        </p:spPr>
        <p:txBody>
          <a:bodyPr wrap="square" lIns="0" tIns="0" rIns="0" bIns="0" rtlCol="0" anchor="ctr"/>
          <a:lstStyle/>
          <a:p>
            <a:pPr marL="0" indent="0">
              <a:buNone/>
            </a:pPr>
            <a:r>
              <a:rPr lang="en-US" sz="1350" b="1" dirty="0">
                <a:solidFill>
                  <a:srgbClr val="E7EBF0"/>
                </a:solidFill>
                <a:latin typeface="Trebuchet MS" pitchFamily="34" charset="0"/>
                <a:ea typeface="Trebuchet MS" pitchFamily="34" charset="-122"/>
                <a:cs typeface="Trebuchet MS" pitchFamily="34" charset="-120"/>
              </a:rPr>
              <a:t>Spread moves</a:t>
            </a:r>
            <a:endParaRPr lang="en-US" sz="1350" dirty="0"/>
          </a:p>
        </p:txBody>
      </p:sp>
      <p:sp>
        <p:nvSpPr>
          <p:cNvPr id="18" name="Text 16"/>
          <p:cNvSpPr/>
          <p:nvPr/>
        </p:nvSpPr>
        <p:spPr>
          <a:xfrm>
            <a:off x="3666744" y="3246120"/>
            <a:ext cx="2148840" cy="822960"/>
          </a:xfrm>
          <a:prstGeom prst="rect">
            <a:avLst/>
          </a:prstGeom>
          <a:noFill/>
          <a:ln/>
        </p:spPr>
        <p:txBody>
          <a:bodyPr wrap="square" lIns="0" tIns="0" rIns="0" bIns="0" rtlCol="0" anchor="ctr"/>
          <a:lstStyle/>
          <a:p>
            <a:pPr marL="0" indent="0">
              <a:lnSpc>
                <a:spcPct val="110000"/>
              </a:lnSpc>
              <a:buNone/>
            </a:pPr>
            <a:r>
              <a:rPr lang="en-US" sz="1200" dirty="0">
                <a:solidFill>
                  <a:srgbClr val="AAB2BD"/>
                </a:solidFill>
                <a:latin typeface="Calibri" pitchFamily="34" charset="0"/>
                <a:ea typeface="Calibri" pitchFamily="34" charset="-122"/>
                <a:cs typeface="Calibri" pitchFamily="34" charset="-120"/>
              </a:rPr>
              <a:t>Near and far reprice through the day</a:t>
            </a:r>
            <a:endParaRPr lang="en-US" sz="1200" dirty="0"/>
          </a:p>
        </p:txBody>
      </p:sp>
      <p:sp>
        <p:nvSpPr>
          <p:cNvPr id="19" name="flow arrow">
            <a:extLst>
              <a:ext uri="{C183D7F6-B498-43B3-948B-1728B52AA6E4}">
                <adec:decorative xmlns:adec="http://schemas.microsoft.com/office/drawing/2017/decorative" val="1"/>
              </a:ext>
            </a:extLst>
          </p:cNvPr>
          <p:cNvSpPr/>
          <p:nvPr/>
        </p:nvSpPr>
        <p:spPr>
          <a:xfrm>
            <a:off x="6016752" y="3127248"/>
            <a:ext cx="164592" cy="329184"/>
          </a:xfrm>
          <a:prstGeom prst="rightArrow">
            <a:avLst/>
          </a:prstGeom>
          <a:solidFill>
            <a:srgbClr val="343E4A"/>
          </a:solidFill>
          <a:ln/>
        </p:spPr>
        <p:txBody>
          <a:bodyPr/>
          <a:lstStyle/>
          <a:p>
            <a:endParaRPr lang="en-SE"/>
          </a:p>
        </p:txBody>
      </p:sp>
      <p:sp>
        <p:nvSpPr>
          <p:cNvPr id="20" name="panel">
            <a:extLst>
              <a:ext uri="{C183D7F6-B498-43B3-948B-1728B52AA6E4}">
                <adec:decorative xmlns:adec="http://schemas.microsoft.com/office/drawing/2017/decorative" val="1"/>
              </a:ext>
            </a:extLst>
          </p:cNvPr>
          <p:cNvSpPr/>
          <p:nvPr/>
        </p:nvSpPr>
        <p:spPr>
          <a:xfrm>
            <a:off x="6236208" y="2377440"/>
            <a:ext cx="2560320" cy="1828800"/>
          </a:xfrm>
          <a:prstGeom prst="roundRect">
            <a:avLst>
              <a:gd name="adj" fmla="val 45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21" name="step">
            <a:extLst>
              <a:ext uri="{C183D7F6-B498-43B3-948B-1728B52AA6E4}">
                <adec:decorative xmlns:adec="http://schemas.microsoft.com/office/drawing/2017/decorative" val="1"/>
              </a:ext>
            </a:extLst>
          </p:cNvPr>
          <p:cNvSpPr/>
          <p:nvPr/>
        </p:nvSpPr>
        <p:spPr>
          <a:xfrm>
            <a:off x="6519672" y="2660904"/>
            <a:ext cx="438912" cy="438912"/>
          </a:xfrm>
          <a:prstGeom prst="ellipse">
            <a:avLst/>
          </a:prstGeom>
          <a:solidFill>
            <a:srgbClr val="34D399"/>
          </a:solidFill>
          <a:ln/>
        </p:spPr>
        <p:txBody>
          <a:bodyPr/>
          <a:lstStyle/>
          <a:p>
            <a:endParaRPr lang="en-SE"/>
          </a:p>
        </p:txBody>
      </p:sp>
      <p:sp>
        <p:nvSpPr>
          <p:cNvPr id="22" name="Text 20"/>
          <p:cNvSpPr/>
          <p:nvPr/>
        </p:nvSpPr>
        <p:spPr>
          <a:xfrm>
            <a:off x="6519672" y="2660904"/>
            <a:ext cx="438912" cy="438912"/>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3</a:t>
            </a:r>
            <a:endParaRPr lang="en-US" sz="1400" dirty="0"/>
          </a:p>
        </p:txBody>
      </p:sp>
      <p:sp>
        <p:nvSpPr>
          <p:cNvPr id="23" name="Text 21"/>
          <p:cNvSpPr/>
          <p:nvPr/>
        </p:nvSpPr>
        <p:spPr>
          <a:xfrm>
            <a:off x="7104888" y="2697480"/>
            <a:ext cx="1600200" cy="457200"/>
          </a:xfrm>
          <a:prstGeom prst="rect">
            <a:avLst/>
          </a:prstGeom>
          <a:noFill/>
          <a:ln/>
        </p:spPr>
        <p:txBody>
          <a:bodyPr wrap="square" lIns="0" tIns="0" rIns="0" bIns="0" rtlCol="0" anchor="ctr"/>
          <a:lstStyle/>
          <a:p>
            <a:pPr marL="0" indent="0">
              <a:buNone/>
            </a:pPr>
            <a:r>
              <a:rPr lang="en-US" sz="1350" b="1" dirty="0">
                <a:solidFill>
                  <a:srgbClr val="E7EBF0"/>
                </a:solidFill>
                <a:latin typeface="Trebuchet MS" pitchFamily="34" charset="0"/>
                <a:ea typeface="Trebuchet MS" pitchFamily="34" charset="-122"/>
                <a:cs typeface="Trebuchet MS" pitchFamily="34" charset="-120"/>
              </a:rPr>
              <a:t>Day settles</a:t>
            </a:r>
            <a:endParaRPr lang="en-US" sz="1350" dirty="0"/>
          </a:p>
        </p:txBody>
      </p:sp>
      <p:sp>
        <p:nvSpPr>
          <p:cNvPr id="24" name="Text 22"/>
          <p:cNvSpPr/>
          <p:nvPr/>
        </p:nvSpPr>
        <p:spPr>
          <a:xfrm>
            <a:off x="6464808" y="3246120"/>
            <a:ext cx="2148840" cy="822960"/>
          </a:xfrm>
          <a:prstGeom prst="rect">
            <a:avLst/>
          </a:prstGeom>
          <a:noFill/>
          <a:ln/>
        </p:spPr>
        <p:txBody>
          <a:bodyPr wrap="square" lIns="0" tIns="0" rIns="0" bIns="0" rtlCol="0" anchor="ctr"/>
          <a:lstStyle/>
          <a:p>
            <a:pPr marL="0" indent="0">
              <a:lnSpc>
                <a:spcPct val="110000"/>
              </a:lnSpc>
              <a:buNone/>
            </a:pPr>
            <a:r>
              <a:rPr lang="en-US" sz="1200" dirty="0">
                <a:solidFill>
                  <a:srgbClr val="AAB2BD"/>
                </a:solidFill>
                <a:latin typeface="Calibri" pitchFamily="34" charset="0"/>
                <a:ea typeface="Calibri" pitchFamily="34" charset="-122"/>
                <a:cs typeface="Calibri" pitchFamily="34" charset="-120"/>
              </a:rPr>
              <a:t>Change × 1,000 = today's cash</a:t>
            </a:r>
            <a:endParaRPr lang="en-US" sz="1200" dirty="0"/>
          </a:p>
        </p:txBody>
      </p:sp>
      <p:sp>
        <p:nvSpPr>
          <p:cNvPr id="25" name="flow arrow">
            <a:extLst>
              <a:ext uri="{C183D7F6-B498-43B3-948B-1728B52AA6E4}">
                <adec:decorative xmlns:adec="http://schemas.microsoft.com/office/drawing/2017/decorative" val="1"/>
              </a:ext>
            </a:extLst>
          </p:cNvPr>
          <p:cNvSpPr/>
          <p:nvPr/>
        </p:nvSpPr>
        <p:spPr>
          <a:xfrm>
            <a:off x="8814816" y="3127248"/>
            <a:ext cx="164592" cy="329184"/>
          </a:xfrm>
          <a:prstGeom prst="rightArrow">
            <a:avLst/>
          </a:prstGeom>
          <a:solidFill>
            <a:srgbClr val="343E4A"/>
          </a:solidFill>
          <a:ln/>
        </p:spPr>
        <p:txBody>
          <a:bodyPr/>
          <a:lstStyle/>
          <a:p>
            <a:endParaRPr lang="en-SE"/>
          </a:p>
        </p:txBody>
      </p:sp>
      <p:sp>
        <p:nvSpPr>
          <p:cNvPr id="26" name="panel">
            <a:extLst>
              <a:ext uri="{C183D7F6-B498-43B3-948B-1728B52AA6E4}">
                <adec:decorative xmlns:adec="http://schemas.microsoft.com/office/drawing/2017/decorative" val="1"/>
              </a:ext>
            </a:extLst>
          </p:cNvPr>
          <p:cNvSpPr/>
          <p:nvPr/>
        </p:nvSpPr>
        <p:spPr>
          <a:xfrm>
            <a:off x="9034272" y="2377440"/>
            <a:ext cx="2560320" cy="1828800"/>
          </a:xfrm>
          <a:prstGeom prst="roundRect">
            <a:avLst>
              <a:gd name="adj" fmla="val 4500"/>
            </a:avLst>
          </a:prstGeom>
          <a:solidFill>
            <a:srgbClr val="1F252D"/>
          </a:solidFill>
          <a:ln w="12700">
            <a:solidFill>
              <a:srgbClr val="343E4A"/>
            </a:solidFill>
            <a:prstDash val="solid"/>
          </a:ln>
          <a:effectLst>
            <a:outerShdw blurRad="127000" dist="38100" dir="5400000" algn="bl" rotWithShape="0">
              <a:srgbClr val="000000">
                <a:alpha val="35000"/>
              </a:srgbClr>
            </a:outerShdw>
          </a:effectLst>
        </p:spPr>
        <p:txBody>
          <a:bodyPr/>
          <a:lstStyle/>
          <a:p>
            <a:endParaRPr lang="en-SE"/>
          </a:p>
        </p:txBody>
      </p:sp>
      <p:sp>
        <p:nvSpPr>
          <p:cNvPr id="27" name="step">
            <a:extLst>
              <a:ext uri="{C183D7F6-B498-43B3-948B-1728B52AA6E4}">
                <adec:decorative xmlns:adec="http://schemas.microsoft.com/office/drawing/2017/decorative" val="1"/>
              </a:ext>
            </a:extLst>
          </p:cNvPr>
          <p:cNvSpPr/>
          <p:nvPr/>
        </p:nvSpPr>
        <p:spPr>
          <a:xfrm>
            <a:off x="9317736" y="2660904"/>
            <a:ext cx="438912" cy="438912"/>
          </a:xfrm>
          <a:prstGeom prst="ellipse">
            <a:avLst/>
          </a:prstGeom>
          <a:solidFill>
            <a:srgbClr val="34D399"/>
          </a:solidFill>
          <a:ln/>
        </p:spPr>
        <p:txBody>
          <a:bodyPr/>
          <a:lstStyle/>
          <a:p>
            <a:endParaRPr lang="en-SE"/>
          </a:p>
        </p:txBody>
      </p:sp>
      <p:sp>
        <p:nvSpPr>
          <p:cNvPr id="28" name="Text 26"/>
          <p:cNvSpPr/>
          <p:nvPr/>
        </p:nvSpPr>
        <p:spPr>
          <a:xfrm>
            <a:off x="9317736" y="2660904"/>
            <a:ext cx="438912" cy="438912"/>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4</a:t>
            </a:r>
            <a:endParaRPr lang="en-US" sz="1400" dirty="0"/>
          </a:p>
        </p:txBody>
      </p:sp>
      <p:sp>
        <p:nvSpPr>
          <p:cNvPr id="29" name="Text 27"/>
          <p:cNvSpPr/>
          <p:nvPr/>
        </p:nvSpPr>
        <p:spPr>
          <a:xfrm>
            <a:off x="9902952" y="2697480"/>
            <a:ext cx="1600200" cy="457200"/>
          </a:xfrm>
          <a:prstGeom prst="rect">
            <a:avLst/>
          </a:prstGeom>
          <a:noFill/>
          <a:ln/>
        </p:spPr>
        <p:txBody>
          <a:bodyPr wrap="square" lIns="0" tIns="0" rIns="0" bIns="0" rtlCol="0" anchor="ctr"/>
          <a:lstStyle/>
          <a:p>
            <a:pPr marL="0" indent="0">
              <a:buNone/>
            </a:pPr>
            <a:r>
              <a:rPr lang="en-US" sz="1350" b="1" dirty="0">
                <a:solidFill>
                  <a:srgbClr val="E7EBF0"/>
                </a:solidFill>
                <a:latin typeface="Trebuchet MS" pitchFamily="34" charset="0"/>
                <a:ea typeface="Trebuchet MS" pitchFamily="34" charset="-122"/>
                <a:cs typeface="Trebuchet MS" pitchFamily="34" charset="-120"/>
              </a:rPr>
              <a:t>Cash moves</a:t>
            </a:r>
            <a:endParaRPr lang="en-US" sz="1350" dirty="0"/>
          </a:p>
        </p:txBody>
      </p:sp>
      <p:sp>
        <p:nvSpPr>
          <p:cNvPr id="30" name="Text 28"/>
          <p:cNvSpPr/>
          <p:nvPr/>
        </p:nvSpPr>
        <p:spPr>
          <a:xfrm>
            <a:off x="9262872" y="3246120"/>
            <a:ext cx="2148840" cy="822960"/>
          </a:xfrm>
          <a:prstGeom prst="rect">
            <a:avLst/>
          </a:prstGeom>
          <a:noFill/>
          <a:ln/>
        </p:spPr>
        <p:txBody>
          <a:bodyPr wrap="square" lIns="0" tIns="0" rIns="0" bIns="0" rtlCol="0" anchor="ctr"/>
          <a:lstStyle/>
          <a:p>
            <a:pPr marL="0" indent="0">
              <a:lnSpc>
                <a:spcPct val="110000"/>
              </a:lnSpc>
              <a:buNone/>
            </a:pPr>
            <a:r>
              <a:rPr lang="en-US" sz="1200" dirty="0">
                <a:solidFill>
                  <a:srgbClr val="AAB2BD"/>
                </a:solidFill>
                <a:latin typeface="Calibri" pitchFamily="34" charset="0"/>
                <a:ea typeface="Calibri" pitchFamily="34" charset="-122"/>
                <a:cs typeface="Calibri" pitchFamily="34" charset="-120"/>
              </a:rPr>
              <a:t>Credited or debited overnight</a:t>
            </a:r>
            <a:endParaRPr lang="en-US" sz="1200" dirty="0"/>
          </a:p>
        </p:txBody>
      </p:sp>
      <p:sp>
        <p:nvSpPr>
          <p:cNvPr id="31" name="Text 29"/>
          <p:cNvSpPr/>
          <p:nvPr/>
        </p:nvSpPr>
        <p:spPr>
          <a:xfrm>
            <a:off x="640080" y="4434840"/>
            <a:ext cx="10881360" cy="365760"/>
          </a:xfrm>
          <a:prstGeom prst="rect">
            <a:avLst/>
          </a:prstGeom>
          <a:noFill/>
          <a:ln/>
        </p:spPr>
        <p:txBody>
          <a:bodyPr wrap="square" lIns="0" tIns="0" rIns="0" bIns="0" rtlCol="0" anchor="ctr"/>
          <a:lstStyle/>
          <a:p>
            <a:pPr marL="0" indent="0" algn="ctr">
              <a:buNone/>
            </a:pPr>
            <a:r>
              <a:rPr lang="en-US" sz="1300" i="1" dirty="0">
                <a:solidFill>
                  <a:srgbClr val="AAB2BD"/>
                </a:solidFill>
                <a:latin typeface="Calibri" pitchFamily="34" charset="0"/>
                <a:ea typeface="Calibri" pitchFamily="34" charset="-122"/>
                <a:cs typeface="Calibri" pitchFamily="34" charset="-120"/>
              </a:rPr>
              <a:t>↺  and the loop repeats every trading day until you exit</a:t>
            </a:r>
            <a:endParaRPr lang="en-US" sz="1300" dirty="0"/>
          </a:p>
        </p:txBody>
      </p:sp>
      <p:sp>
        <p:nvSpPr>
          <p:cNvPr id="32"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33"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34" name="Text 32"/>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Your profit doesn't wait for the exit — it trickles in (or out) as cash, one day at a time.</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Day-by-day cash flow of our sprea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Day-by-day cash flow of our spread</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04 · THE MONEY</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39</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We enter at −$0.50 and the spread drifts up over three days. Watch the daily cash pile up via variation margin.</a:t>
            </a:r>
            <a:endParaRPr lang="en-US" sz="1500" dirty="0"/>
          </a:p>
        </p:txBody>
      </p:sp>
      <p:sp>
        <p:nvSpPr>
          <p:cNvPr id="8" name="panel">
            <a:extLst>
              <a:ext uri="{C183D7F6-B498-43B3-948B-1728B52AA6E4}">
                <adec:decorative xmlns:adec="http://schemas.microsoft.com/office/drawing/2017/decorative" val="1"/>
              </a:ext>
            </a:extLst>
          </p:cNvPr>
          <p:cNvSpPr/>
          <p:nvPr/>
        </p:nvSpPr>
        <p:spPr>
          <a:xfrm>
            <a:off x="914400" y="2148840"/>
            <a:ext cx="1371600" cy="2331720"/>
          </a:xfrm>
          <a:prstGeom prst="roundRect">
            <a:avLst>
              <a:gd name="adj" fmla="val 6000"/>
            </a:avLst>
          </a:prstGeom>
          <a:solidFill>
            <a:srgbClr val="1F252D"/>
          </a:solidFill>
          <a:ln w="12700">
            <a:solidFill>
              <a:srgbClr val="343E4A"/>
            </a:solidFill>
            <a:prstDash val="solid"/>
          </a:ln>
        </p:spPr>
        <p:txBody>
          <a:bodyPr/>
          <a:lstStyle/>
          <a:p>
            <a:endParaRPr lang="en-SE"/>
          </a:p>
        </p:txBody>
      </p:sp>
      <p:sp>
        <p:nvSpPr>
          <p:cNvPr id="9" name="Text 7"/>
          <p:cNvSpPr/>
          <p:nvPr/>
        </p:nvSpPr>
        <p:spPr>
          <a:xfrm>
            <a:off x="914400" y="2258568"/>
            <a:ext cx="1371600" cy="274320"/>
          </a:xfrm>
          <a:prstGeom prst="rect">
            <a:avLst/>
          </a:prstGeom>
          <a:noFill/>
          <a:ln/>
        </p:spPr>
        <p:txBody>
          <a:bodyPr wrap="square" lIns="0" tIns="0" rIns="0" bIns="0" rtlCol="0" anchor="ctr"/>
          <a:lstStyle/>
          <a:p>
            <a:pPr marL="0" indent="0" algn="ctr">
              <a:buNone/>
            </a:pPr>
            <a:r>
              <a:rPr lang="en-US" sz="1200" b="1" dirty="0">
                <a:solidFill>
                  <a:srgbClr val="E7EBF0"/>
                </a:solidFill>
                <a:latin typeface="Trebuchet MS" pitchFamily="34" charset="0"/>
                <a:ea typeface="Trebuchet MS" pitchFamily="34" charset="-122"/>
                <a:cs typeface="Trebuchet MS" pitchFamily="34" charset="-120"/>
              </a:rPr>
              <a:t>Entry</a:t>
            </a:r>
            <a:endParaRPr lang="en-US" sz="1200" dirty="0"/>
          </a:p>
        </p:txBody>
      </p:sp>
      <p:sp>
        <p:nvSpPr>
          <p:cNvPr id="10" name="Text 8"/>
          <p:cNvSpPr/>
          <p:nvPr/>
        </p:nvSpPr>
        <p:spPr>
          <a:xfrm>
            <a:off x="914400" y="2532888"/>
            <a:ext cx="1371600" cy="320040"/>
          </a:xfrm>
          <a:prstGeom prst="rect">
            <a:avLst/>
          </a:prstGeom>
          <a:noFill/>
          <a:ln/>
        </p:spPr>
        <p:txBody>
          <a:bodyPr wrap="square" lIns="0" tIns="0" rIns="0" bIns="0" rtlCol="0" anchor="ctr"/>
          <a:lstStyle/>
          <a:p>
            <a:pPr marL="0" indent="0" algn="ctr">
              <a:buNone/>
            </a:pPr>
            <a:r>
              <a:rPr lang="en-US" sz="1500" b="1" dirty="0">
                <a:solidFill>
                  <a:srgbClr val="AAB2BD"/>
                </a:solidFill>
                <a:latin typeface="Consolas" pitchFamily="34" charset="0"/>
                <a:ea typeface="Consolas" pitchFamily="34" charset="-122"/>
                <a:cs typeface="Consolas" pitchFamily="34" charset="-120"/>
              </a:rPr>
              <a:t>−$0.50</a:t>
            </a:r>
            <a:endParaRPr lang="en-US" sz="1500" dirty="0"/>
          </a:p>
        </p:txBody>
      </p:sp>
      <p:sp>
        <p:nvSpPr>
          <p:cNvPr id="11" name="Text 9"/>
          <p:cNvSpPr/>
          <p:nvPr/>
        </p:nvSpPr>
        <p:spPr>
          <a:xfrm>
            <a:off x="914400" y="3840480"/>
            <a:ext cx="1371600" cy="274320"/>
          </a:xfrm>
          <a:prstGeom prst="rect">
            <a:avLst/>
          </a:prstGeom>
          <a:noFill/>
          <a:ln/>
        </p:spPr>
        <p:txBody>
          <a:bodyPr wrap="square" lIns="0" tIns="0" rIns="0" bIns="0" rtlCol="0" anchor="ctr"/>
          <a:lstStyle/>
          <a:p>
            <a:pPr marL="0" indent="0" algn="ctr">
              <a:buNone/>
            </a:pPr>
            <a:r>
              <a:rPr lang="en-US" sz="1100" i="1" dirty="0">
                <a:solidFill>
                  <a:srgbClr val="737D8A"/>
                </a:solidFill>
                <a:latin typeface="Calibri" pitchFamily="34" charset="0"/>
                <a:ea typeface="Calibri" pitchFamily="34" charset="-122"/>
                <a:cs typeface="Calibri" pitchFamily="34" charset="-120"/>
              </a:rPr>
              <a:t>no cash yet</a:t>
            </a:r>
            <a:endParaRPr lang="en-US" sz="1100" dirty="0"/>
          </a:p>
        </p:txBody>
      </p:sp>
      <p:sp>
        <p:nvSpPr>
          <p:cNvPr id="12" name="panel">
            <a:extLst>
              <a:ext uri="{C183D7F6-B498-43B3-948B-1728B52AA6E4}">
                <adec:decorative xmlns:adec="http://schemas.microsoft.com/office/drawing/2017/decorative" val="1"/>
              </a:ext>
            </a:extLst>
          </p:cNvPr>
          <p:cNvSpPr/>
          <p:nvPr/>
        </p:nvSpPr>
        <p:spPr>
          <a:xfrm>
            <a:off x="2697480" y="2148840"/>
            <a:ext cx="1371600" cy="2331720"/>
          </a:xfrm>
          <a:prstGeom prst="roundRect">
            <a:avLst>
              <a:gd name="adj" fmla="val 6000"/>
            </a:avLst>
          </a:prstGeom>
          <a:solidFill>
            <a:srgbClr val="262E38"/>
          </a:solidFill>
          <a:ln w="12700">
            <a:solidFill>
              <a:srgbClr val="0B5C43"/>
            </a:solidFill>
            <a:prstDash val="solid"/>
          </a:ln>
        </p:spPr>
        <p:txBody>
          <a:bodyPr/>
          <a:lstStyle/>
          <a:p>
            <a:endParaRPr lang="en-SE"/>
          </a:p>
        </p:txBody>
      </p:sp>
      <p:sp>
        <p:nvSpPr>
          <p:cNvPr id="13" name="Text 11"/>
          <p:cNvSpPr/>
          <p:nvPr/>
        </p:nvSpPr>
        <p:spPr>
          <a:xfrm>
            <a:off x="2697480" y="2258568"/>
            <a:ext cx="1371600" cy="274320"/>
          </a:xfrm>
          <a:prstGeom prst="rect">
            <a:avLst/>
          </a:prstGeom>
          <a:noFill/>
          <a:ln/>
        </p:spPr>
        <p:txBody>
          <a:bodyPr wrap="square" lIns="0" tIns="0" rIns="0" bIns="0" rtlCol="0" anchor="ctr"/>
          <a:lstStyle/>
          <a:p>
            <a:pPr marL="0" indent="0" algn="ctr">
              <a:buNone/>
            </a:pPr>
            <a:r>
              <a:rPr lang="en-US" sz="1200" b="1" dirty="0">
                <a:solidFill>
                  <a:srgbClr val="E7EBF0"/>
                </a:solidFill>
                <a:latin typeface="Trebuchet MS" pitchFamily="34" charset="0"/>
                <a:ea typeface="Trebuchet MS" pitchFamily="34" charset="-122"/>
                <a:cs typeface="Trebuchet MS" pitchFamily="34" charset="-120"/>
              </a:rPr>
              <a:t>Day 1</a:t>
            </a:r>
            <a:endParaRPr lang="en-US" sz="1200" dirty="0"/>
          </a:p>
        </p:txBody>
      </p:sp>
      <p:sp>
        <p:nvSpPr>
          <p:cNvPr id="14" name="Text 12"/>
          <p:cNvSpPr/>
          <p:nvPr/>
        </p:nvSpPr>
        <p:spPr>
          <a:xfrm>
            <a:off x="2697480" y="2532888"/>
            <a:ext cx="1371600" cy="320040"/>
          </a:xfrm>
          <a:prstGeom prst="rect">
            <a:avLst/>
          </a:prstGeom>
          <a:noFill/>
          <a:ln/>
        </p:spPr>
        <p:txBody>
          <a:bodyPr wrap="square" lIns="0" tIns="0" rIns="0" bIns="0" rtlCol="0" anchor="ctr"/>
          <a:lstStyle/>
          <a:p>
            <a:pPr marL="0" indent="0" algn="ctr">
              <a:buNone/>
            </a:pPr>
            <a:r>
              <a:rPr lang="en-US" sz="1500" b="1" dirty="0">
                <a:solidFill>
                  <a:srgbClr val="AAB2BD"/>
                </a:solidFill>
                <a:latin typeface="Consolas" pitchFamily="34" charset="0"/>
                <a:ea typeface="Consolas" pitchFamily="34" charset="-122"/>
                <a:cs typeface="Consolas" pitchFamily="34" charset="-120"/>
              </a:rPr>
              <a:t>−$0.30</a:t>
            </a:r>
            <a:endParaRPr lang="en-US" sz="1500" dirty="0"/>
          </a:p>
        </p:txBody>
      </p:sp>
      <p:sp>
        <p:nvSpPr>
          <p:cNvPr id="15" name="cash bar">
            <a:extLst>
              <a:ext uri="{C183D7F6-B498-43B3-948B-1728B52AA6E4}">
                <adec:decorative xmlns:adec="http://schemas.microsoft.com/office/drawing/2017/decorative" val="1"/>
              </a:ext>
            </a:extLst>
          </p:cNvPr>
          <p:cNvSpPr/>
          <p:nvPr/>
        </p:nvSpPr>
        <p:spPr>
          <a:xfrm>
            <a:off x="2971800" y="3413760"/>
            <a:ext cx="822960" cy="883920"/>
          </a:xfrm>
          <a:prstGeom prst="rect">
            <a:avLst/>
          </a:prstGeom>
          <a:solidFill>
            <a:srgbClr val="34D399"/>
          </a:solidFill>
          <a:ln/>
        </p:spPr>
        <p:txBody>
          <a:bodyPr/>
          <a:lstStyle/>
          <a:p>
            <a:endParaRPr lang="en-SE"/>
          </a:p>
        </p:txBody>
      </p:sp>
      <p:sp>
        <p:nvSpPr>
          <p:cNvPr id="16" name="Text 14"/>
          <p:cNvSpPr/>
          <p:nvPr/>
        </p:nvSpPr>
        <p:spPr>
          <a:xfrm>
            <a:off x="2697480" y="3121152"/>
            <a:ext cx="1371600" cy="274320"/>
          </a:xfrm>
          <a:prstGeom prst="rect">
            <a:avLst/>
          </a:prstGeom>
          <a:noFill/>
          <a:ln/>
        </p:spPr>
        <p:txBody>
          <a:bodyPr wrap="square" lIns="0" tIns="0" rIns="0" bIns="0" rtlCol="0" anchor="ctr"/>
          <a:lstStyle/>
          <a:p>
            <a:pPr marL="0" indent="0" algn="ctr">
              <a:buNone/>
            </a:pPr>
            <a:r>
              <a:rPr lang="en-US" sz="1300" b="1" dirty="0">
                <a:solidFill>
                  <a:srgbClr val="34D399"/>
                </a:solidFill>
                <a:latin typeface="Consolas" pitchFamily="34" charset="0"/>
                <a:ea typeface="Consolas" pitchFamily="34" charset="-122"/>
                <a:cs typeface="Consolas" pitchFamily="34" charset="-120"/>
              </a:rPr>
              <a:t>+$200</a:t>
            </a:r>
            <a:endParaRPr lang="en-US" sz="1300" dirty="0"/>
          </a:p>
        </p:txBody>
      </p:sp>
      <p:sp>
        <p:nvSpPr>
          <p:cNvPr id="17" name="Text 15"/>
          <p:cNvSpPr/>
          <p:nvPr/>
        </p:nvSpPr>
        <p:spPr>
          <a:xfrm>
            <a:off x="2697480" y="4343400"/>
            <a:ext cx="1371600" cy="256032"/>
          </a:xfrm>
          <a:prstGeom prst="rect">
            <a:avLst/>
          </a:prstGeom>
          <a:noFill/>
          <a:ln/>
        </p:spPr>
        <p:txBody>
          <a:bodyPr wrap="square" lIns="0" tIns="0" rIns="0" bIns="0" rtlCol="0" anchor="ctr"/>
          <a:lstStyle/>
          <a:p>
            <a:pPr marL="0" indent="0" algn="ctr">
              <a:buNone/>
            </a:pPr>
            <a:r>
              <a:rPr lang="en-US" sz="1100" dirty="0">
                <a:solidFill>
                  <a:srgbClr val="AAB2BD"/>
                </a:solidFill>
                <a:latin typeface="Consolas" pitchFamily="34" charset="0"/>
                <a:ea typeface="Consolas" pitchFamily="34" charset="-122"/>
                <a:cs typeface="Consolas" pitchFamily="34" charset="-120"/>
              </a:rPr>
              <a:t>+$0.20</a:t>
            </a:r>
            <a:endParaRPr lang="en-US" sz="1100" dirty="0"/>
          </a:p>
        </p:txBody>
      </p:sp>
      <p:sp>
        <p:nvSpPr>
          <p:cNvPr id="18" name="panel">
            <a:extLst>
              <a:ext uri="{C183D7F6-B498-43B3-948B-1728B52AA6E4}">
                <adec:decorative xmlns:adec="http://schemas.microsoft.com/office/drawing/2017/decorative" val="1"/>
              </a:ext>
            </a:extLst>
          </p:cNvPr>
          <p:cNvSpPr/>
          <p:nvPr/>
        </p:nvSpPr>
        <p:spPr>
          <a:xfrm>
            <a:off x="4480560" y="2148840"/>
            <a:ext cx="1371600" cy="2331720"/>
          </a:xfrm>
          <a:prstGeom prst="roundRect">
            <a:avLst>
              <a:gd name="adj" fmla="val 6000"/>
            </a:avLst>
          </a:prstGeom>
          <a:solidFill>
            <a:srgbClr val="262E38"/>
          </a:solidFill>
          <a:ln w="12700">
            <a:solidFill>
              <a:srgbClr val="0B5C43"/>
            </a:solidFill>
            <a:prstDash val="solid"/>
          </a:ln>
        </p:spPr>
        <p:txBody>
          <a:bodyPr/>
          <a:lstStyle/>
          <a:p>
            <a:endParaRPr lang="en-SE"/>
          </a:p>
        </p:txBody>
      </p:sp>
      <p:sp>
        <p:nvSpPr>
          <p:cNvPr id="19" name="Text 17"/>
          <p:cNvSpPr/>
          <p:nvPr/>
        </p:nvSpPr>
        <p:spPr>
          <a:xfrm>
            <a:off x="4480560" y="2258568"/>
            <a:ext cx="1371600" cy="274320"/>
          </a:xfrm>
          <a:prstGeom prst="rect">
            <a:avLst/>
          </a:prstGeom>
          <a:noFill/>
          <a:ln/>
        </p:spPr>
        <p:txBody>
          <a:bodyPr wrap="square" lIns="0" tIns="0" rIns="0" bIns="0" rtlCol="0" anchor="ctr"/>
          <a:lstStyle/>
          <a:p>
            <a:pPr marL="0" indent="0" algn="ctr">
              <a:buNone/>
            </a:pPr>
            <a:r>
              <a:rPr lang="en-US" sz="1200" b="1" dirty="0">
                <a:solidFill>
                  <a:srgbClr val="E7EBF0"/>
                </a:solidFill>
                <a:latin typeface="Trebuchet MS" pitchFamily="34" charset="0"/>
                <a:ea typeface="Trebuchet MS" pitchFamily="34" charset="-122"/>
                <a:cs typeface="Trebuchet MS" pitchFamily="34" charset="-120"/>
              </a:rPr>
              <a:t>Day 2</a:t>
            </a:r>
            <a:endParaRPr lang="en-US" sz="1200" dirty="0"/>
          </a:p>
        </p:txBody>
      </p:sp>
      <p:sp>
        <p:nvSpPr>
          <p:cNvPr id="20" name="Text 18"/>
          <p:cNvSpPr/>
          <p:nvPr/>
        </p:nvSpPr>
        <p:spPr>
          <a:xfrm>
            <a:off x="4480560" y="2532888"/>
            <a:ext cx="1371600" cy="320040"/>
          </a:xfrm>
          <a:prstGeom prst="rect">
            <a:avLst/>
          </a:prstGeom>
          <a:noFill/>
          <a:ln/>
        </p:spPr>
        <p:txBody>
          <a:bodyPr wrap="square" lIns="0" tIns="0" rIns="0" bIns="0" rtlCol="0" anchor="ctr"/>
          <a:lstStyle/>
          <a:p>
            <a:pPr marL="0" indent="0" algn="ctr">
              <a:buNone/>
            </a:pPr>
            <a:r>
              <a:rPr lang="en-US" sz="1500" b="1" dirty="0">
                <a:solidFill>
                  <a:srgbClr val="AAB2BD"/>
                </a:solidFill>
                <a:latin typeface="Consolas" pitchFamily="34" charset="0"/>
                <a:ea typeface="Consolas" pitchFamily="34" charset="-122"/>
                <a:cs typeface="Consolas" pitchFamily="34" charset="-120"/>
              </a:rPr>
              <a:t>$0.00</a:t>
            </a:r>
            <a:endParaRPr lang="en-US" sz="1500" dirty="0"/>
          </a:p>
        </p:txBody>
      </p:sp>
      <p:sp>
        <p:nvSpPr>
          <p:cNvPr id="21" name="cash bar">
            <a:extLst>
              <a:ext uri="{C183D7F6-B498-43B3-948B-1728B52AA6E4}">
                <adec:decorative xmlns:adec="http://schemas.microsoft.com/office/drawing/2017/decorative" val="1"/>
              </a:ext>
            </a:extLst>
          </p:cNvPr>
          <p:cNvSpPr/>
          <p:nvPr/>
        </p:nvSpPr>
        <p:spPr>
          <a:xfrm>
            <a:off x="4754880" y="3063240"/>
            <a:ext cx="822960" cy="1234440"/>
          </a:xfrm>
          <a:prstGeom prst="rect">
            <a:avLst/>
          </a:prstGeom>
          <a:solidFill>
            <a:srgbClr val="34D399"/>
          </a:solidFill>
          <a:ln/>
        </p:spPr>
        <p:txBody>
          <a:bodyPr/>
          <a:lstStyle/>
          <a:p>
            <a:endParaRPr lang="en-SE"/>
          </a:p>
        </p:txBody>
      </p:sp>
      <p:sp>
        <p:nvSpPr>
          <p:cNvPr id="22" name="Text 20"/>
          <p:cNvSpPr/>
          <p:nvPr/>
        </p:nvSpPr>
        <p:spPr>
          <a:xfrm>
            <a:off x="4480560" y="2770632"/>
            <a:ext cx="1371600" cy="274320"/>
          </a:xfrm>
          <a:prstGeom prst="rect">
            <a:avLst/>
          </a:prstGeom>
          <a:noFill/>
          <a:ln/>
        </p:spPr>
        <p:txBody>
          <a:bodyPr wrap="square" lIns="0" tIns="0" rIns="0" bIns="0" rtlCol="0" anchor="ctr"/>
          <a:lstStyle/>
          <a:p>
            <a:pPr marL="0" indent="0" algn="ctr">
              <a:buNone/>
            </a:pPr>
            <a:r>
              <a:rPr lang="en-US" sz="1300" b="1" dirty="0">
                <a:solidFill>
                  <a:srgbClr val="34D399"/>
                </a:solidFill>
                <a:latin typeface="Consolas" pitchFamily="34" charset="0"/>
                <a:ea typeface="Consolas" pitchFamily="34" charset="-122"/>
                <a:cs typeface="Consolas" pitchFamily="34" charset="-120"/>
              </a:rPr>
              <a:t>+$300</a:t>
            </a:r>
            <a:endParaRPr lang="en-US" sz="1300" dirty="0"/>
          </a:p>
        </p:txBody>
      </p:sp>
      <p:sp>
        <p:nvSpPr>
          <p:cNvPr id="23" name="Text 21"/>
          <p:cNvSpPr/>
          <p:nvPr/>
        </p:nvSpPr>
        <p:spPr>
          <a:xfrm>
            <a:off x="4480560" y="4343400"/>
            <a:ext cx="1371600" cy="256032"/>
          </a:xfrm>
          <a:prstGeom prst="rect">
            <a:avLst/>
          </a:prstGeom>
          <a:noFill/>
          <a:ln/>
        </p:spPr>
        <p:txBody>
          <a:bodyPr wrap="square" lIns="0" tIns="0" rIns="0" bIns="0" rtlCol="0" anchor="ctr"/>
          <a:lstStyle/>
          <a:p>
            <a:pPr marL="0" indent="0" algn="ctr">
              <a:buNone/>
            </a:pPr>
            <a:r>
              <a:rPr lang="en-US" sz="1100" dirty="0">
                <a:solidFill>
                  <a:srgbClr val="AAB2BD"/>
                </a:solidFill>
                <a:latin typeface="Consolas" pitchFamily="34" charset="0"/>
                <a:ea typeface="Consolas" pitchFamily="34" charset="-122"/>
                <a:cs typeface="Consolas" pitchFamily="34" charset="-120"/>
              </a:rPr>
              <a:t>+$0.30</a:t>
            </a:r>
            <a:endParaRPr lang="en-US" sz="1100" dirty="0"/>
          </a:p>
        </p:txBody>
      </p:sp>
      <p:sp>
        <p:nvSpPr>
          <p:cNvPr id="24" name="panel">
            <a:extLst>
              <a:ext uri="{C183D7F6-B498-43B3-948B-1728B52AA6E4}">
                <adec:decorative xmlns:adec="http://schemas.microsoft.com/office/drawing/2017/decorative" val="1"/>
              </a:ext>
            </a:extLst>
          </p:cNvPr>
          <p:cNvSpPr/>
          <p:nvPr/>
        </p:nvSpPr>
        <p:spPr>
          <a:xfrm>
            <a:off x="6263640" y="2148840"/>
            <a:ext cx="1371600" cy="2331720"/>
          </a:xfrm>
          <a:prstGeom prst="roundRect">
            <a:avLst>
              <a:gd name="adj" fmla="val 6000"/>
            </a:avLst>
          </a:prstGeom>
          <a:solidFill>
            <a:srgbClr val="262E38"/>
          </a:solidFill>
          <a:ln w="12700">
            <a:solidFill>
              <a:srgbClr val="0B5C43"/>
            </a:solidFill>
            <a:prstDash val="solid"/>
          </a:ln>
        </p:spPr>
        <p:txBody>
          <a:bodyPr/>
          <a:lstStyle/>
          <a:p>
            <a:endParaRPr lang="en-SE"/>
          </a:p>
        </p:txBody>
      </p:sp>
      <p:sp>
        <p:nvSpPr>
          <p:cNvPr id="25" name="Text 23"/>
          <p:cNvSpPr/>
          <p:nvPr/>
        </p:nvSpPr>
        <p:spPr>
          <a:xfrm>
            <a:off x="6263640" y="2258568"/>
            <a:ext cx="1371600" cy="274320"/>
          </a:xfrm>
          <a:prstGeom prst="rect">
            <a:avLst/>
          </a:prstGeom>
          <a:noFill/>
          <a:ln/>
        </p:spPr>
        <p:txBody>
          <a:bodyPr wrap="square" lIns="0" tIns="0" rIns="0" bIns="0" rtlCol="0" anchor="ctr"/>
          <a:lstStyle/>
          <a:p>
            <a:pPr marL="0" indent="0" algn="ctr">
              <a:buNone/>
            </a:pPr>
            <a:r>
              <a:rPr lang="en-US" sz="1200" b="1" dirty="0">
                <a:solidFill>
                  <a:srgbClr val="E7EBF0"/>
                </a:solidFill>
                <a:latin typeface="Trebuchet MS" pitchFamily="34" charset="0"/>
                <a:ea typeface="Trebuchet MS" pitchFamily="34" charset="-122"/>
                <a:cs typeface="Trebuchet MS" pitchFamily="34" charset="-120"/>
              </a:rPr>
              <a:t>Day 3</a:t>
            </a:r>
            <a:endParaRPr lang="en-US" sz="1200" dirty="0"/>
          </a:p>
        </p:txBody>
      </p:sp>
      <p:sp>
        <p:nvSpPr>
          <p:cNvPr id="26" name="Text 24"/>
          <p:cNvSpPr/>
          <p:nvPr/>
        </p:nvSpPr>
        <p:spPr>
          <a:xfrm>
            <a:off x="6263640" y="2532888"/>
            <a:ext cx="1371600" cy="320040"/>
          </a:xfrm>
          <a:prstGeom prst="rect">
            <a:avLst/>
          </a:prstGeom>
          <a:noFill/>
          <a:ln/>
        </p:spPr>
        <p:txBody>
          <a:bodyPr wrap="square" lIns="0" tIns="0" rIns="0" bIns="0" rtlCol="0" anchor="ctr"/>
          <a:lstStyle/>
          <a:p>
            <a:pPr marL="0" indent="0" algn="ctr">
              <a:buNone/>
            </a:pPr>
            <a:r>
              <a:rPr lang="en-US" sz="1500" b="1" dirty="0">
                <a:solidFill>
                  <a:srgbClr val="34D399"/>
                </a:solidFill>
                <a:latin typeface="Consolas" pitchFamily="34" charset="0"/>
                <a:ea typeface="Consolas" pitchFamily="34" charset="-122"/>
                <a:cs typeface="Consolas" pitchFamily="34" charset="-120"/>
              </a:rPr>
              <a:t>+$0.20</a:t>
            </a:r>
            <a:endParaRPr lang="en-US" sz="1500" dirty="0"/>
          </a:p>
        </p:txBody>
      </p:sp>
      <p:sp>
        <p:nvSpPr>
          <p:cNvPr id="27" name="cash bar">
            <a:extLst>
              <a:ext uri="{C183D7F6-B498-43B3-948B-1728B52AA6E4}">
                <adec:decorative xmlns:adec="http://schemas.microsoft.com/office/drawing/2017/decorative" val="1"/>
              </a:ext>
            </a:extLst>
          </p:cNvPr>
          <p:cNvSpPr/>
          <p:nvPr/>
        </p:nvSpPr>
        <p:spPr>
          <a:xfrm>
            <a:off x="6537960" y="3413760"/>
            <a:ext cx="822960" cy="883920"/>
          </a:xfrm>
          <a:prstGeom prst="rect">
            <a:avLst/>
          </a:prstGeom>
          <a:solidFill>
            <a:srgbClr val="34D399"/>
          </a:solidFill>
          <a:ln/>
        </p:spPr>
        <p:txBody>
          <a:bodyPr/>
          <a:lstStyle/>
          <a:p>
            <a:endParaRPr lang="en-SE"/>
          </a:p>
        </p:txBody>
      </p:sp>
      <p:sp>
        <p:nvSpPr>
          <p:cNvPr id="28" name="Text 26"/>
          <p:cNvSpPr/>
          <p:nvPr/>
        </p:nvSpPr>
        <p:spPr>
          <a:xfrm>
            <a:off x="6263640" y="3121152"/>
            <a:ext cx="1371600" cy="274320"/>
          </a:xfrm>
          <a:prstGeom prst="rect">
            <a:avLst/>
          </a:prstGeom>
          <a:noFill/>
          <a:ln/>
        </p:spPr>
        <p:txBody>
          <a:bodyPr wrap="square" lIns="0" tIns="0" rIns="0" bIns="0" rtlCol="0" anchor="ctr"/>
          <a:lstStyle/>
          <a:p>
            <a:pPr marL="0" indent="0" algn="ctr">
              <a:buNone/>
            </a:pPr>
            <a:r>
              <a:rPr lang="en-US" sz="1300" b="1" dirty="0">
                <a:solidFill>
                  <a:srgbClr val="34D399"/>
                </a:solidFill>
                <a:latin typeface="Consolas" pitchFamily="34" charset="0"/>
                <a:ea typeface="Consolas" pitchFamily="34" charset="-122"/>
                <a:cs typeface="Consolas" pitchFamily="34" charset="-120"/>
              </a:rPr>
              <a:t>+$200</a:t>
            </a:r>
            <a:endParaRPr lang="en-US" sz="1300" dirty="0"/>
          </a:p>
        </p:txBody>
      </p:sp>
      <p:sp>
        <p:nvSpPr>
          <p:cNvPr id="29" name="Text 27"/>
          <p:cNvSpPr/>
          <p:nvPr/>
        </p:nvSpPr>
        <p:spPr>
          <a:xfrm>
            <a:off x="6263640" y="4343400"/>
            <a:ext cx="1371600" cy="256032"/>
          </a:xfrm>
          <a:prstGeom prst="rect">
            <a:avLst/>
          </a:prstGeom>
          <a:noFill/>
          <a:ln/>
        </p:spPr>
        <p:txBody>
          <a:bodyPr wrap="square" lIns="0" tIns="0" rIns="0" bIns="0" rtlCol="0" anchor="ctr"/>
          <a:lstStyle/>
          <a:p>
            <a:pPr marL="0" indent="0" algn="ctr">
              <a:buNone/>
            </a:pPr>
            <a:r>
              <a:rPr lang="en-US" sz="1100" dirty="0">
                <a:solidFill>
                  <a:srgbClr val="AAB2BD"/>
                </a:solidFill>
                <a:latin typeface="Consolas" pitchFamily="34" charset="0"/>
                <a:ea typeface="Consolas" pitchFamily="34" charset="-122"/>
                <a:cs typeface="Consolas" pitchFamily="34" charset="-120"/>
              </a:rPr>
              <a:t>+$0.20</a:t>
            </a:r>
            <a:endParaRPr lang="en-US" sz="1100" dirty="0"/>
          </a:p>
        </p:txBody>
      </p:sp>
      <p:sp>
        <p:nvSpPr>
          <p:cNvPr id="30" name="connector">
            <a:extLst>
              <a:ext uri="{C183D7F6-B498-43B3-948B-1728B52AA6E4}">
                <adec:decorative xmlns:adec="http://schemas.microsoft.com/office/drawing/2017/decorative" val="1"/>
              </a:ext>
            </a:extLst>
          </p:cNvPr>
          <p:cNvSpPr/>
          <p:nvPr/>
        </p:nvSpPr>
        <p:spPr>
          <a:xfrm>
            <a:off x="914400" y="4297680"/>
            <a:ext cx="6720840" cy="0"/>
          </a:xfrm>
          <a:prstGeom prst="line">
            <a:avLst/>
          </a:prstGeom>
          <a:noFill/>
          <a:ln w="19050">
            <a:solidFill>
              <a:srgbClr val="343E4A"/>
            </a:solidFill>
            <a:prstDash val="solid"/>
            <a:headEnd type="none"/>
            <a:tailEnd type="none"/>
          </a:ln>
        </p:spPr>
        <p:txBody>
          <a:bodyPr/>
          <a:lstStyle/>
          <a:p>
            <a:endParaRPr lang="en-SE"/>
          </a:p>
        </p:txBody>
      </p:sp>
      <p:sp>
        <p:nvSpPr>
          <p:cNvPr id="31" name="panel">
            <a:extLst>
              <a:ext uri="{C183D7F6-B498-43B3-948B-1728B52AA6E4}">
                <adec:decorative xmlns:adec="http://schemas.microsoft.com/office/drawing/2017/decorative" val="1"/>
              </a:ext>
            </a:extLst>
          </p:cNvPr>
          <p:cNvSpPr/>
          <p:nvPr/>
        </p:nvSpPr>
        <p:spPr>
          <a:xfrm>
            <a:off x="8686800" y="2148840"/>
            <a:ext cx="2862072" cy="2331720"/>
          </a:xfrm>
          <a:prstGeom prst="roundRect">
            <a:avLst>
              <a:gd name="adj" fmla="val 3529"/>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32" name="Text 30"/>
          <p:cNvSpPr/>
          <p:nvPr/>
        </p:nvSpPr>
        <p:spPr>
          <a:xfrm>
            <a:off x="8869680" y="2377440"/>
            <a:ext cx="2514600" cy="274320"/>
          </a:xfrm>
          <a:prstGeom prst="rect">
            <a:avLst/>
          </a:prstGeom>
          <a:noFill/>
          <a:ln/>
        </p:spPr>
        <p:txBody>
          <a:bodyPr wrap="square" lIns="0" tIns="0" rIns="0" bIns="0" rtlCol="0" anchor="ctr"/>
          <a:lstStyle/>
          <a:p>
            <a:pPr marL="0" indent="0">
              <a:buNone/>
            </a:pPr>
            <a:r>
              <a:rPr lang="en-US" sz="1100" b="1" kern="0" spc="100" dirty="0">
                <a:solidFill>
                  <a:srgbClr val="34D399"/>
                </a:solidFill>
                <a:latin typeface="Trebuchet MS" pitchFamily="34" charset="0"/>
                <a:ea typeface="Trebuchet MS" pitchFamily="34" charset="-122"/>
                <a:cs typeface="Trebuchet MS" pitchFamily="34" charset="-120"/>
              </a:rPr>
              <a:t>CASH COLLECTED</a:t>
            </a:r>
            <a:endParaRPr lang="en-US" sz="1100" dirty="0"/>
          </a:p>
        </p:txBody>
      </p:sp>
      <p:sp>
        <p:nvSpPr>
          <p:cNvPr id="33" name="Text 31"/>
          <p:cNvSpPr/>
          <p:nvPr/>
        </p:nvSpPr>
        <p:spPr>
          <a:xfrm>
            <a:off x="8869680" y="2834640"/>
            <a:ext cx="2514600" cy="914400"/>
          </a:xfrm>
          <a:prstGeom prst="rect">
            <a:avLst/>
          </a:prstGeom>
          <a:noFill/>
          <a:ln/>
        </p:spPr>
        <p:txBody>
          <a:bodyPr wrap="square" lIns="0" tIns="0" rIns="0" bIns="0" rtlCol="0" anchor="ctr"/>
          <a:lstStyle/>
          <a:p>
            <a:pPr marL="0" indent="0" algn="ctr">
              <a:buNone/>
            </a:pPr>
            <a:r>
              <a:rPr lang="en-US" sz="4600" b="1" dirty="0">
                <a:solidFill>
                  <a:srgbClr val="34D399"/>
                </a:solidFill>
                <a:latin typeface="Consolas" pitchFamily="34" charset="0"/>
                <a:ea typeface="Consolas" pitchFamily="34" charset="-122"/>
                <a:cs typeface="Consolas" pitchFamily="34" charset="-120"/>
              </a:rPr>
              <a:t>$700</a:t>
            </a:r>
            <a:endParaRPr lang="en-US" sz="4600" dirty="0"/>
          </a:p>
        </p:txBody>
      </p:sp>
      <p:sp>
        <p:nvSpPr>
          <p:cNvPr id="34" name="Text 32"/>
          <p:cNvSpPr/>
          <p:nvPr/>
        </p:nvSpPr>
        <p:spPr>
          <a:xfrm>
            <a:off x="8869680" y="3794760"/>
            <a:ext cx="2514600" cy="594360"/>
          </a:xfrm>
          <a:prstGeom prst="rect">
            <a:avLst/>
          </a:prstGeom>
          <a:noFill/>
          <a:ln/>
        </p:spPr>
        <p:txBody>
          <a:bodyPr wrap="square" lIns="0" tIns="0" rIns="0" bIns="0" rtlCol="0" anchor="ctr"/>
          <a:lstStyle/>
          <a:p>
            <a:pPr marL="0" indent="0" algn="ctr">
              <a:lnSpc>
                <a:spcPct val="110000"/>
              </a:lnSpc>
              <a:buNone/>
            </a:pPr>
            <a:r>
              <a:rPr lang="en-US" sz="1150" dirty="0">
                <a:solidFill>
                  <a:srgbClr val="AAB2BD"/>
                </a:solidFill>
                <a:latin typeface="Calibri" pitchFamily="34" charset="0"/>
                <a:ea typeface="Calibri" pitchFamily="34" charset="-122"/>
                <a:cs typeface="Calibri" pitchFamily="34" charset="-120"/>
              </a:rPr>
              <a:t>$200 + $300 + $200</a:t>
            </a:r>
            <a:endParaRPr lang="en-US" sz="1150" dirty="0"/>
          </a:p>
          <a:p>
            <a:pPr marL="0" indent="0" algn="ctr">
              <a:lnSpc>
                <a:spcPct val="110000"/>
              </a:lnSpc>
              <a:buNone/>
            </a:pPr>
            <a:r>
              <a:rPr lang="en-US" sz="1150" dirty="0">
                <a:solidFill>
                  <a:srgbClr val="AAB2BD"/>
                </a:solidFill>
                <a:latin typeface="Calibri" pitchFamily="34" charset="0"/>
                <a:ea typeface="Calibri" pitchFamily="34" charset="-122"/>
                <a:cs typeface="Calibri" pitchFamily="34" charset="-120"/>
              </a:rPr>
              <a:t>from three days of settling</a:t>
            </a:r>
            <a:endParaRPr lang="en-US" sz="1150" dirty="0"/>
          </a:p>
        </p:txBody>
      </p:sp>
      <p:sp>
        <p:nvSpPr>
          <p:cNvPr id="35"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36"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37" name="Text 35"/>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The spread rose $0.70 in total. At $1,000 per point, that's $700 — delivered as daily cash, not a lump sum.</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Making Money on a Negative Spread">
    <p:spTree>
      <p:nvGrpSpPr>
        <p:cNvPr id="1" name=""/>
        <p:cNvGrpSpPr/>
        <p:nvPr/>
      </p:nvGrpSpPr>
      <p:grpSpPr>
        <a:xfrm>
          <a:off x="0" y="0"/>
          <a:ext cx="0" cy="0"/>
          <a:chOff x="0" y="0"/>
          <a:chExt cx="0" cy="0"/>
        </a:xfrm>
      </p:grpSpPr>
      <p:sp>
        <p:nvSpPr>
          <p:cNvPr id="2" name="Text 0"/>
          <p:cNvSpPr/>
          <p:nvPr/>
        </p:nvSpPr>
        <p:spPr>
          <a:xfrm>
            <a:off x="777240" y="502920"/>
            <a:ext cx="5486400" cy="2377440"/>
          </a:xfrm>
          <a:prstGeom prst="rect">
            <a:avLst/>
          </a:prstGeom>
          <a:noFill/>
          <a:ln/>
        </p:spPr>
        <p:txBody>
          <a:bodyPr wrap="square" lIns="0" tIns="0" rIns="0" bIns="0" rtlCol="0" anchor="ctr"/>
          <a:lstStyle/>
          <a:p>
            <a:pPr marL="0" indent="0">
              <a:buNone/>
            </a:pPr>
            <a:r>
              <a:rPr lang="en-US" sz="15000" b="1" dirty="0">
                <a:solidFill>
                  <a:srgbClr val="262E38"/>
                </a:solidFill>
                <a:latin typeface="Trebuchet MS" pitchFamily="34" charset="0"/>
                <a:ea typeface="Trebuchet MS" pitchFamily="34" charset="-122"/>
                <a:cs typeface="Trebuchet MS" pitchFamily="34" charset="-120"/>
              </a:rPr>
              <a:t>05</a:t>
            </a:r>
            <a:endParaRPr lang="en-US" sz="15000" dirty="0"/>
          </a:p>
        </p:txBody>
      </p:sp>
      <p:sp>
        <p:nvSpPr>
          <p:cNvPr id="3" name="accent">
            <a:extLst>
              <a:ext uri="{C183D7F6-B498-43B3-948B-1728B52AA6E4}">
                <adec:decorative xmlns:adec="http://schemas.microsoft.com/office/drawing/2017/decorative" val="1"/>
              </a:ext>
            </a:extLst>
          </p:cNvPr>
          <p:cNvSpPr/>
          <p:nvPr/>
        </p:nvSpPr>
        <p:spPr>
          <a:xfrm>
            <a:off x="1325880" y="3072384"/>
            <a:ext cx="457200" cy="100584"/>
          </a:xfrm>
          <a:prstGeom prst="rect">
            <a:avLst/>
          </a:prstGeom>
          <a:solidFill>
            <a:srgbClr val="34D399"/>
          </a:solidFill>
          <a:ln/>
        </p:spPr>
        <p:txBody>
          <a:bodyPr/>
          <a:lstStyle/>
          <a:p>
            <a:endParaRPr lang="en-SE"/>
          </a:p>
        </p:txBody>
      </p:sp>
      <p:sp>
        <p:nvSpPr>
          <p:cNvPr id="4" name="Text 2"/>
          <p:cNvSpPr/>
          <p:nvPr/>
        </p:nvSpPr>
        <p:spPr>
          <a:xfrm>
            <a:off x="1325880" y="2697480"/>
            <a:ext cx="7315200" cy="320040"/>
          </a:xfrm>
          <a:prstGeom prst="rect">
            <a:avLst/>
          </a:prstGeom>
          <a:noFill/>
          <a:ln/>
        </p:spPr>
        <p:txBody>
          <a:bodyPr wrap="square" lIns="0" tIns="0" rIns="0" bIns="0" rtlCol="0" anchor="ctr"/>
          <a:lstStyle/>
          <a:p>
            <a:pPr marL="0" indent="0">
              <a:buNone/>
            </a:pPr>
            <a:r>
              <a:rPr lang="en-US" sz="1300" b="1" kern="0" spc="400" dirty="0">
                <a:solidFill>
                  <a:srgbClr val="34D399"/>
                </a:solidFill>
                <a:latin typeface="Trebuchet MS" pitchFamily="34" charset="0"/>
                <a:ea typeface="Trebuchet MS" pitchFamily="34" charset="-122"/>
                <a:cs typeface="Trebuchet MS" pitchFamily="34" charset="-120"/>
              </a:rPr>
              <a:t>SECTION 05</a:t>
            </a:r>
            <a:endParaRPr lang="en-US" sz="1300" dirty="0"/>
          </a:p>
        </p:txBody>
      </p:sp>
      <p:sp>
        <p:nvSpPr>
          <p:cNvPr id="5" name="Text 0"/>
          <p:cNvSpPr>
            <a:spLocks noGrp="1"/>
          </p:cNvSpPr>
          <p:nvPr>
            <p:ph type="title" idx="100" hasCustomPrompt="1"/>
          </p:nvPr>
        </p:nvSpPr>
        <p:spPr>
          <a:xfrm>
            <a:off x="1280160" y="2926080"/>
            <a:ext cx="9601200" cy="1280160"/>
          </a:xfrm>
          <a:prstGeom prst="rect">
            <a:avLst/>
          </a:prstGeom>
          <a:noFill/>
          <a:ln/>
        </p:spPr>
        <p:txBody>
          <a:bodyPr wrap="square" lIns="0" tIns="0" rIns="0" bIns="0" rtlCol="0"/>
          <a:lstStyle/>
          <a:p>
            <a:pPr marL="0" indent="0">
              <a:buNone/>
            </a:pPr>
            <a:r>
              <a:rPr lang="en-US" sz="3300" b="1" dirty="0">
                <a:solidFill>
                  <a:srgbClr val="E7EBF0"/>
                </a:solidFill>
                <a:latin typeface="Trebuchet MS" pitchFamily="34" charset="0"/>
                <a:ea typeface="Trebuchet MS" pitchFamily="34" charset="-122"/>
                <a:cs typeface="Trebuchet MS" pitchFamily="34" charset="-120"/>
              </a:rPr>
              <a:t>Making Money on a Negative Spread</a:t>
            </a:r>
            <a:endParaRPr lang="en-US" sz="3300" dirty="0"/>
          </a:p>
        </p:txBody>
      </p:sp>
      <p:sp>
        <p:nvSpPr>
          <p:cNvPr id="6" name="Text 4"/>
          <p:cNvSpPr/>
          <p:nvPr/>
        </p:nvSpPr>
        <p:spPr>
          <a:xfrm>
            <a:off x="1325880" y="4160520"/>
            <a:ext cx="9326880" cy="8229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Now the payoff. We bought at −$0.50, we sell back higher, and we trace every dollar that lands in the account.</a:t>
            </a:r>
            <a:endParaRPr lang="en-US" sz="1500" dirty="0"/>
          </a:p>
        </p:txBody>
      </p:sp>
      <p:sp>
        <p:nvSpPr>
          <p:cNvPr id="7" name="mark">
            <a:extLst>
              <a:ext uri="{C183D7F6-B498-43B3-948B-1728B52AA6E4}">
                <adec:decorative xmlns:adec="http://schemas.microsoft.com/office/drawing/2017/decorative" val="1"/>
              </a:ext>
            </a:extLst>
          </p:cNvPr>
          <p:cNvSpPr/>
          <p:nvPr/>
        </p:nvSpPr>
        <p:spPr>
          <a:xfrm>
            <a:off x="1325880" y="6126480"/>
            <a:ext cx="128016" cy="128016"/>
          </a:xfrm>
          <a:prstGeom prst="rect">
            <a:avLst/>
          </a:prstGeom>
          <a:solidFill>
            <a:srgbClr val="34D399"/>
          </a:solidFill>
          <a:ln/>
        </p:spPr>
        <p:txBody>
          <a:bodyPr/>
          <a:lstStyle/>
          <a:p>
            <a:endParaRPr lang="en-SE"/>
          </a:p>
        </p:txBody>
      </p:sp>
      <p:sp>
        <p:nvSpPr>
          <p:cNvPr id="8" name="Text 6"/>
          <p:cNvSpPr/>
          <p:nvPr/>
        </p:nvSpPr>
        <p:spPr>
          <a:xfrm>
            <a:off x="1527048" y="6080760"/>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The plan: buy low, sell high — even below zero">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plan: buy low, sell high — even below zero</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05 · THE PROFIT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41</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Profit doesn't care about the sign of the price. It only cares about the distance between where you bought and where you sold.</a:t>
            </a:r>
            <a:endParaRPr lang="en-US" sz="1500" dirty="0"/>
          </a:p>
        </p:txBody>
      </p:sp>
      <p:sp>
        <p:nvSpPr>
          <p:cNvPr id="8" name="connector">
            <a:extLst>
              <a:ext uri="{C183D7F6-B498-43B3-948B-1728B52AA6E4}">
                <adec:decorative xmlns:adec="http://schemas.microsoft.com/office/drawing/2017/decorative" val="1"/>
              </a:ext>
            </a:extLst>
          </p:cNvPr>
          <p:cNvSpPr/>
          <p:nvPr/>
        </p:nvSpPr>
        <p:spPr>
          <a:xfrm>
            <a:off x="1463040" y="3566160"/>
            <a:ext cx="9235440" cy="0"/>
          </a:xfrm>
          <a:prstGeom prst="line">
            <a:avLst/>
          </a:prstGeom>
          <a:noFill/>
          <a:ln w="25400">
            <a:solidFill>
              <a:srgbClr val="343E4A"/>
            </a:solidFill>
            <a:prstDash val="solid"/>
            <a:headEnd type="none"/>
            <a:tailEnd type="none"/>
          </a:ln>
        </p:spPr>
        <p:txBody>
          <a:bodyPr/>
          <a:lstStyle/>
          <a:p>
            <a:endParaRPr lang="en-SE"/>
          </a:p>
        </p:txBody>
      </p:sp>
      <p:sp>
        <p:nvSpPr>
          <p:cNvPr id="9" name="connector">
            <a:extLst>
              <a:ext uri="{C183D7F6-B498-43B3-948B-1728B52AA6E4}">
                <adec:decorative xmlns:adec="http://schemas.microsoft.com/office/drawing/2017/decorative" val="1"/>
              </a:ext>
            </a:extLst>
          </p:cNvPr>
          <p:cNvSpPr/>
          <p:nvPr/>
        </p:nvSpPr>
        <p:spPr>
          <a:xfrm>
            <a:off x="1463040" y="3483864"/>
            <a:ext cx="0" cy="164592"/>
          </a:xfrm>
          <a:prstGeom prst="line">
            <a:avLst/>
          </a:prstGeom>
          <a:noFill/>
          <a:ln w="12700">
            <a:solidFill>
              <a:srgbClr val="737D8A"/>
            </a:solidFill>
            <a:prstDash val="solid"/>
            <a:headEnd type="none"/>
            <a:tailEnd type="none"/>
          </a:ln>
        </p:spPr>
        <p:txBody>
          <a:bodyPr/>
          <a:lstStyle/>
          <a:p>
            <a:endParaRPr lang="en-SE"/>
          </a:p>
        </p:txBody>
      </p:sp>
      <p:sp>
        <p:nvSpPr>
          <p:cNvPr id="10" name="Text 8"/>
          <p:cNvSpPr/>
          <p:nvPr/>
        </p:nvSpPr>
        <p:spPr>
          <a:xfrm>
            <a:off x="822960" y="3694176"/>
            <a:ext cx="1280160" cy="27432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−$1.00</a:t>
            </a:r>
            <a:endParaRPr lang="en-US" sz="1000" dirty="0"/>
          </a:p>
        </p:txBody>
      </p:sp>
      <p:sp>
        <p:nvSpPr>
          <p:cNvPr id="11" name="connector">
            <a:extLst>
              <a:ext uri="{C183D7F6-B498-43B3-948B-1728B52AA6E4}">
                <adec:decorative xmlns:adec="http://schemas.microsoft.com/office/drawing/2017/decorative" val="1"/>
              </a:ext>
            </a:extLst>
          </p:cNvPr>
          <p:cNvSpPr/>
          <p:nvPr/>
        </p:nvSpPr>
        <p:spPr>
          <a:xfrm>
            <a:off x="3771900" y="3483864"/>
            <a:ext cx="0" cy="164592"/>
          </a:xfrm>
          <a:prstGeom prst="line">
            <a:avLst/>
          </a:prstGeom>
          <a:noFill/>
          <a:ln w="12700">
            <a:solidFill>
              <a:srgbClr val="737D8A"/>
            </a:solidFill>
            <a:prstDash val="solid"/>
            <a:headEnd type="none"/>
            <a:tailEnd type="none"/>
          </a:ln>
        </p:spPr>
        <p:txBody>
          <a:bodyPr/>
          <a:lstStyle/>
          <a:p>
            <a:endParaRPr lang="en-SE"/>
          </a:p>
        </p:txBody>
      </p:sp>
      <p:sp>
        <p:nvSpPr>
          <p:cNvPr id="12" name="Text 10"/>
          <p:cNvSpPr/>
          <p:nvPr/>
        </p:nvSpPr>
        <p:spPr>
          <a:xfrm>
            <a:off x="3131820" y="3694176"/>
            <a:ext cx="1280160" cy="274320"/>
          </a:xfrm>
          <a:prstGeom prst="rect">
            <a:avLst/>
          </a:prstGeom>
          <a:noFill/>
          <a:ln/>
        </p:spPr>
        <p:txBody>
          <a:bodyPr wrap="square" lIns="0" tIns="0" rIns="0" bIns="0" rtlCol="0" anchor="ctr"/>
          <a:lstStyle/>
          <a:p>
            <a:pPr marL="0" indent="0" algn="ctr">
              <a:buNone/>
            </a:pPr>
            <a:endParaRPr lang="en-US" sz="1000" dirty="0"/>
          </a:p>
        </p:txBody>
      </p:sp>
      <p:sp>
        <p:nvSpPr>
          <p:cNvPr id="13" name="connector">
            <a:extLst>
              <a:ext uri="{C183D7F6-B498-43B3-948B-1728B52AA6E4}">
                <adec:decorative xmlns:adec="http://schemas.microsoft.com/office/drawing/2017/decorative" val="1"/>
              </a:ext>
            </a:extLst>
          </p:cNvPr>
          <p:cNvSpPr/>
          <p:nvPr/>
        </p:nvSpPr>
        <p:spPr>
          <a:xfrm>
            <a:off x="6080760" y="3483864"/>
            <a:ext cx="0" cy="164592"/>
          </a:xfrm>
          <a:prstGeom prst="line">
            <a:avLst/>
          </a:prstGeom>
          <a:noFill/>
          <a:ln w="25400">
            <a:solidFill>
              <a:srgbClr val="AAB2BD"/>
            </a:solidFill>
            <a:prstDash val="solid"/>
            <a:headEnd type="none"/>
            <a:tailEnd type="none"/>
          </a:ln>
        </p:spPr>
        <p:txBody>
          <a:bodyPr/>
          <a:lstStyle/>
          <a:p>
            <a:endParaRPr lang="en-SE"/>
          </a:p>
        </p:txBody>
      </p:sp>
      <p:sp>
        <p:nvSpPr>
          <p:cNvPr id="14" name="Text 12"/>
          <p:cNvSpPr/>
          <p:nvPr/>
        </p:nvSpPr>
        <p:spPr>
          <a:xfrm>
            <a:off x="5440680" y="3694176"/>
            <a:ext cx="1280160" cy="274320"/>
          </a:xfrm>
          <a:prstGeom prst="rect">
            <a:avLst/>
          </a:prstGeom>
          <a:noFill/>
          <a:ln/>
        </p:spPr>
        <p:txBody>
          <a:bodyPr wrap="square" lIns="0" tIns="0" rIns="0" bIns="0" rtlCol="0" anchor="ctr"/>
          <a:lstStyle/>
          <a:p>
            <a:pPr marL="0" indent="0" algn="ctr">
              <a:buNone/>
            </a:pPr>
            <a:r>
              <a:rPr lang="en-US" sz="1000" dirty="0">
                <a:solidFill>
                  <a:srgbClr val="AAB2BD"/>
                </a:solidFill>
                <a:latin typeface="Consolas" pitchFamily="34" charset="0"/>
                <a:ea typeface="Consolas" pitchFamily="34" charset="-122"/>
                <a:cs typeface="Consolas" pitchFamily="34" charset="-120"/>
              </a:rPr>
              <a:t>$0.00</a:t>
            </a:r>
            <a:endParaRPr lang="en-US" sz="1000" dirty="0"/>
          </a:p>
        </p:txBody>
      </p:sp>
      <p:sp>
        <p:nvSpPr>
          <p:cNvPr id="15" name="connector">
            <a:extLst>
              <a:ext uri="{C183D7F6-B498-43B3-948B-1728B52AA6E4}">
                <adec:decorative xmlns:adec="http://schemas.microsoft.com/office/drawing/2017/decorative" val="1"/>
              </a:ext>
            </a:extLst>
          </p:cNvPr>
          <p:cNvSpPr/>
          <p:nvPr/>
        </p:nvSpPr>
        <p:spPr>
          <a:xfrm>
            <a:off x="8389620" y="3483864"/>
            <a:ext cx="0" cy="164592"/>
          </a:xfrm>
          <a:prstGeom prst="line">
            <a:avLst/>
          </a:prstGeom>
          <a:noFill/>
          <a:ln w="12700">
            <a:solidFill>
              <a:srgbClr val="737D8A"/>
            </a:solidFill>
            <a:prstDash val="solid"/>
            <a:headEnd type="none"/>
            <a:tailEnd type="none"/>
          </a:ln>
        </p:spPr>
        <p:txBody>
          <a:bodyPr/>
          <a:lstStyle/>
          <a:p>
            <a:endParaRPr lang="en-SE"/>
          </a:p>
        </p:txBody>
      </p:sp>
      <p:sp>
        <p:nvSpPr>
          <p:cNvPr id="16" name="Text 14"/>
          <p:cNvSpPr/>
          <p:nvPr/>
        </p:nvSpPr>
        <p:spPr>
          <a:xfrm>
            <a:off x="7749540" y="3694176"/>
            <a:ext cx="1280160" cy="274320"/>
          </a:xfrm>
          <a:prstGeom prst="rect">
            <a:avLst/>
          </a:prstGeom>
          <a:noFill/>
          <a:ln/>
        </p:spPr>
        <p:txBody>
          <a:bodyPr wrap="square" lIns="0" tIns="0" rIns="0" bIns="0" rtlCol="0" anchor="ctr"/>
          <a:lstStyle/>
          <a:p>
            <a:pPr marL="0" indent="0" algn="ctr">
              <a:buNone/>
            </a:pPr>
            <a:endParaRPr lang="en-US" sz="1000" dirty="0"/>
          </a:p>
        </p:txBody>
      </p:sp>
      <p:sp>
        <p:nvSpPr>
          <p:cNvPr id="17" name="connector">
            <a:extLst>
              <a:ext uri="{C183D7F6-B498-43B3-948B-1728B52AA6E4}">
                <adec:decorative xmlns:adec="http://schemas.microsoft.com/office/drawing/2017/decorative" val="1"/>
              </a:ext>
            </a:extLst>
          </p:cNvPr>
          <p:cNvSpPr/>
          <p:nvPr/>
        </p:nvSpPr>
        <p:spPr>
          <a:xfrm>
            <a:off x="10698480" y="3483864"/>
            <a:ext cx="0" cy="164592"/>
          </a:xfrm>
          <a:prstGeom prst="line">
            <a:avLst/>
          </a:prstGeom>
          <a:noFill/>
          <a:ln w="12700">
            <a:solidFill>
              <a:srgbClr val="737D8A"/>
            </a:solidFill>
            <a:prstDash val="solid"/>
            <a:headEnd type="none"/>
            <a:tailEnd type="none"/>
          </a:ln>
        </p:spPr>
        <p:txBody>
          <a:bodyPr/>
          <a:lstStyle/>
          <a:p>
            <a:endParaRPr lang="en-SE"/>
          </a:p>
        </p:txBody>
      </p:sp>
      <p:sp>
        <p:nvSpPr>
          <p:cNvPr id="18" name="Text 16"/>
          <p:cNvSpPr/>
          <p:nvPr/>
        </p:nvSpPr>
        <p:spPr>
          <a:xfrm>
            <a:off x="10058400" y="3694176"/>
            <a:ext cx="1280160" cy="27432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+$1.00</a:t>
            </a:r>
            <a:endParaRPr lang="en-US" sz="1000" dirty="0"/>
          </a:p>
        </p:txBody>
      </p:sp>
      <p:sp>
        <p:nvSpPr>
          <p:cNvPr id="19" name="marker">
            <a:extLst>
              <a:ext uri="{C183D7F6-B498-43B3-948B-1728B52AA6E4}">
                <adec:decorative xmlns:adec="http://schemas.microsoft.com/office/drawing/2017/decorative" val="1"/>
              </a:ext>
            </a:extLst>
          </p:cNvPr>
          <p:cNvSpPr/>
          <p:nvPr/>
        </p:nvSpPr>
        <p:spPr>
          <a:xfrm>
            <a:off x="3680460" y="3474720"/>
            <a:ext cx="182880" cy="182880"/>
          </a:xfrm>
          <a:prstGeom prst="ellipse">
            <a:avLst/>
          </a:prstGeom>
          <a:solidFill>
            <a:srgbClr val="F5B759"/>
          </a:solidFill>
          <a:ln/>
        </p:spPr>
        <p:txBody>
          <a:bodyPr/>
          <a:lstStyle/>
          <a:p>
            <a:endParaRPr lang="en-SE"/>
          </a:p>
        </p:txBody>
      </p:sp>
      <p:sp>
        <p:nvSpPr>
          <p:cNvPr id="20" name="connector">
            <a:extLst>
              <a:ext uri="{C183D7F6-B498-43B3-948B-1728B52AA6E4}">
                <adec:decorative xmlns:adec="http://schemas.microsoft.com/office/drawing/2017/decorative" val="1"/>
              </a:ext>
            </a:extLst>
          </p:cNvPr>
          <p:cNvSpPr/>
          <p:nvPr/>
        </p:nvSpPr>
        <p:spPr>
          <a:xfrm>
            <a:off x="3771900" y="3236976"/>
            <a:ext cx="0" cy="237744"/>
          </a:xfrm>
          <a:prstGeom prst="line">
            <a:avLst/>
          </a:prstGeom>
          <a:noFill/>
          <a:ln w="19050">
            <a:solidFill>
              <a:srgbClr val="F5B759"/>
            </a:solidFill>
            <a:prstDash val="solid"/>
            <a:headEnd type="none"/>
            <a:tailEnd type="none"/>
          </a:ln>
        </p:spPr>
        <p:txBody>
          <a:bodyPr/>
          <a:lstStyle/>
          <a:p>
            <a:endParaRPr lang="en-SE"/>
          </a:p>
        </p:txBody>
      </p:sp>
      <p:sp>
        <p:nvSpPr>
          <p:cNvPr id="21" name="Text 19"/>
          <p:cNvSpPr/>
          <p:nvPr/>
        </p:nvSpPr>
        <p:spPr>
          <a:xfrm>
            <a:off x="2583180" y="2907792"/>
            <a:ext cx="2377440" cy="310896"/>
          </a:xfrm>
          <a:prstGeom prst="rect">
            <a:avLst/>
          </a:prstGeom>
          <a:noFill/>
          <a:ln/>
        </p:spPr>
        <p:txBody>
          <a:bodyPr wrap="square" lIns="0" tIns="0" rIns="0" bIns="0" rtlCol="0" anchor="ctr"/>
          <a:lstStyle/>
          <a:p>
            <a:pPr marL="0" indent="0" algn="ctr">
              <a:buNone/>
            </a:pPr>
            <a:r>
              <a:rPr lang="en-US" sz="1200" b="1" dirty="0">
                <a:solidFill>
                  <a:srgbClr val="F5B759"/>
                </a:solidFill>
                <a:latin typeface="Trebuchet MS" pitchFamily="34" charset="0"/>
                <a:ea typeface="Trebuchet MS" pitchFamily="34" charset="-122"/>
                <a:cs typeface="Trebuchet MS" pitchFamily="34" charset="-120"/>
              </a:rPr>
              <a:t>BUY here</a:t>
            </a:r>
            <a:endParaRPr lang="en-US" sz="1200" dirty="0"/>
          </a:p>
        </p:txBody>
      </p:sp>
      <p:sp>
        <p:nvSpPr>
          <p:cNvPr id="22" name="Text 20"/>
          <p:cNvSpPr/>
          <p:nvPr/>
        </p:nvSpPr>
        <p:spPr>
          <a:xfrm>
            <a:off x="2583180" y="2633472"/>
            <a:ext cx="2377440" cy="256032"/>
          </a:xfrm>
          <a:prstGeom prst="rect">
            <a:avLst/>
          </a:prstGeom>
          <a:noFill/>
          <a:ln/>
        </p:spPr>
        <p:txBody>
          <a:bodyPr wrap="square" lIns="0" tIns="0" rIns="0" bIns="0" rtlCol="0" anchor="ctr"/>
          <a:lstStyle/>
          <a:p>
            <a:pPr marL="0" indent="0" algn="ctr">
              <a:buNone/>
            </a:pPr>
            <a:r>
              <a:rPr lang="en-US" sz="1000" dirty="0">
                <a:solidFill>
                  <a:srgbClr val="AAB2BD"/>
                </a:solidFill>
                <a:latin typeface="Consolas" pitchFamily="34" charset="0"/>
                <a:ea typeface="Consolas" pitchFamily="34" charset="-122"/>
                <a:cs typeface="Consolas" pitchFamily="34" charset="-120"/>
              </a:rPr>
              <a:t>−$0.50</a:t>
            </a:r>
            <a:endParaRPr lang="en-US" sz="1000" dirty="0"/>
          </a:p>
        </p:txBody>
      </p:sp>
      <p:sp>
        <p:nvSpPr>
          <p:cNvPr id="23" name="marker">
            <a:extLst>
              <a:ext uri="{C183D7F6-B498-43B3-948B-1728B52AA6E4}">
                <adec:decorative xmlns:adec="http://schemas.microsoft.com/office/drawing/2017/decorative" val="1"/>
              </a:ext>
            </a:extLst>
          </p:cNvPr>
          <p:cNvSpPr/>
          <p:nvPr/>
        </p:nvSpPr>
        <p:spPr>
          <a:xfrm>
            <a:off x="6912864" y="3474720"/>
            <a:ext cx="182880" cy="182880"/>
          </a:xfrm>
          <a:prstGeom prst="ellipse">
            <a:avLst/>
          </a:prstGeom>
          <a:solidFill>
            <a:srgbClr val="34D399"/>
          </a:solidFill>
          <a:ln/>
        </p:spPr>
        <p:txBody>
          <a:bodyPr/>
          <a:lstStyle/>
          <a:p>
            <a:endParaRPr lang="en-SE"/>
          </a:p>
        </p:txBody>
      </p:sp>
      <p:sp>
        <p:nvSpPr>
          <p:cNvPr id="24" name="connector">
            <a:extLst>
              <a:ext uri="{C183D7F6-B498-43B3-948B-1728B52AA6E4}">
                <adec:decorative xmlns:adec="http://schemas.microsoft.com/office/drawing/2017/decorative" val="1"/>
              </a:ext>
            </a:extLst>
          </p:cNvPr>
          <p:cNvSpPr/>
          <p:nvPr/>
        </p:nvSpPr>
        <p:spPr>
          <a:xfrm>
            <a:off x="7004304" y="3657600"/>
            <a:ext cx="0" cy="237744"/>
          </a:xfrm>
          <a:prstGeom prst="line">
            <a:avLst/>
          </a:prstGeom>
          <a:noFill/>
          <a:ln w="19050">
            <a:solidFill>
              <a:srgbClr val="34D399"/>
            </a:solidFill>
            <a:prstDash val="solid"/>
            <a:headEnd type="none"/>
            <a:tailEnd type="none"/>
          </a:ln>
        </p:spPr>
        <p:txBody>
          <a:bodyPr/>
          <a:lstStyle/>
          <a:p>
            <a:endParaRPr lang="en-SE"/>
          </a:p>
        </p:txBody>
      </p:sp>
      <p:sp>
        <p:nvSpPr>
          <p:cNvPr id="25" name="Text 23"/>
          <p:cNvSpPr/>
          <p:nvPr/>
        </p:nvSpPr>
        <p:spPr>
          <a:xfrm>
            <a:off x="5815584" y="3950208"/>
            <a:ext cx="2377440" cy="310896"/>
          </a:xfrm>
          <a:prstGeom prst="rect">
            <a:avLst/>
          </a:prstGeom>
          <a:noFill/>
          <a:ln/>
        </p:spPr>
        <p:txBody>
          <a:bodyPr wrap="square" lIns="0" tIns="0" rIns="0" bIns="0" rtlCol="0" anchor="ctr"/>
          <a:lstStyle/>
          <a:p>
            <a:pPr marL="0" indent="0" algn="ctr">
              <a:buNone/>
            </a:pPr>
            <a:r>
              <a:rPr lang="en-US" sz="1200" b="1" dirty="0">
                <a:solidFill>
                  <a:srgbClr val="34D399"/>
                </a:solidFill>
                <a:latin typeface="Trebuchet MS" pitchFamily="34" charset="0"/>
                <a:ea typeface="Trebuchet MS" pitchFamily="34" charset="-122"/>
                <a:cs typeface="Trebuchet MS" pitchFamily="34" charset="-120"/>
              </a:rPr>
              <a:t>SELL here</a:t>
            </a:r>
            <a:endParaRPr lang="en-US" sz="1200" dirty="0"/>
          </a:p>
        </p:txBody>
      </p:sp>
      <p:sp>
        <p:nvSpPr>
          <p:cNvPr id="26" name="Text 24"/>
          <p:cNvSpPr/>
          <p:nvPr/>
        </p:nvSpPr>
        <p:spPr>
          <a:xfrm>
            <a:off x="5815584" y="4242816"/>
            <a:ext cx="2377440" cy="256032"/>
          </a:xfrm>
          <a:prstGeom prst="rect">
            <a:avLst/>
          </a:prstGeom>
          <a:noFill/>
          <a:ln/>
        </p:spPr>
        <p:txBody>
          <a:bodyPr wrap="square" lIns="0" tIns="0" rIns="0" bIns="0" rtlCol="0" anchor="ctr"/>
          <a:lstStyle/>
          <a:p>
            <a:pPr marL="0" indent="0" algn="ctr">
              <a:buNone/>
            </a:pPr>
            <a:r>
              <a:rPr lang="en-US" sz="1000" dirty="0">
                <a:solidFill>
                  <a:srgbClr val="AAB2BD"/>
                </a:solidFill>
                <a:latin typeface="Consolas" pitchFamily="34" charset="0"/>
                <a:ea typeface="Consolas" pitchFamily="34" charset="-122"/>
                <a:cs typeface="Consolas" pitchFamily="34" charset="-120"/>
              </a:rPr>
              <a:t>+$0.20</a:t>
            </a:r>
            <a:endParaRPr lang="en-US" sz="1000" dirty="0"/>
          </a:p>
        </p:txBody>
      </p:sp>
      <p:sp>
        <p:nvSpPr>
          <p:cNvPr id="27" name="profit span">
            <a:extLst>
              <a:ext uri="{C183D7F6-B498-43B3-948B-1728B52AA6E4}">
                <adec:decorative xmlns:adec="http://schemas.microsoft.com/office/drawing/2017/decorative" val="1"/>
              </a:ext>
            </a:extLst>
          </p:cNvPr>
          <p:cNvSpPr/>
          <p:nvPr/>
        </p:nvSpPr>
        <p:spPr>
          <a:xfrm>
            <a:off x="3771900" y="4434840"/>
            <a:ext cx="3232404" cy="128016"/>
          </a:xfrm>
          <a:prstGeom prst="rect">
            <a:avLst/>
          </a:prstGeom>
          <a:solidFill>
            <a:srgbClr val="34D399"/>
          </a:solidFill>
          <a:ln/>
        </p:spPr>
        <p:txBody>
          <a:bodyPr/>
          <a:lstStyle/>
          <a:p>
            <a:endParaRPr lang="en-SE"/>
          </a:p>
        </p:txBody>
      </p:sp>
      <p:sp>
        <p:nvSpPr>
          <p:cNvPr id="28" name="Text 26"/>
          <p:cNvSpPr/>
          <p:nvPr/>
        </p:nvSpPr>
        <p:spPr>
          <a:xfrm>
            <a:off x="3314700" y="4617720"/>
            <a:ext cx="4146804" cy="320040"/>
          </a:xfrm>
          <a:prstGeom prst="rect">
            <a:avLst/>
          </a:prstGeom>
          <a:noFill/>
          <a:ln/>
        </p:spPr>
        <p:txBody>
          <a:bodyPr wrap="square" lIns="0" tIns="0" rIns="0" bIns="0" rtlCol="0" anchor="ctr"/>
          <a:lstStyle/>
          <a:p>
            <a:pPr marL="0" indent="0" algn="ctr">
              <a:buNone/>
            </a:pPr>
            <a:r>
              <a:rPr lang="en-US" sz="1400" b="1" dirty="0">
                <a:solidFill>
                  <a:srgbClr val="34D399"/>
                </a:solidFill>
                <a:latin typeface="Trebuchet MS" pitchFamily="34" charset="0"/>
                <a:ea typeface="Trebuchet MS" pitchFamily="34" charset="-122"/>
                <a:cs typeface="Trebuchet MS" pitchFamily="34" charset="-120"/>
              </a:rPr>
              <a:t>distance = $0.70  →  profit</a:t>
            </a:r>
            <a:endParaRPr lang="en-US" sz="1400" dirty="0"/>
          </a:p>
        </p:txBody>
      </p:sp>
      <p:sp>
        <p:nvSpPr>
          <p:cNvPr id="29"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30"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31" name="Text 29"/>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−$0.50 up to +$0.20 is a $0.70 gain. ‘Buy low, sell high’ works perfectly well entirely below zero.</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What has to happen: the curve shifts">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What has to happen: the curve shifts</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05 · THE PROFIT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42</a:t>
            </a:r>
            <a:endParaRPr lang="en-US" sz="1000" dirty="0"/>
          </a:p>
        </p:txBody>
      </p:sp>
      <p:sp>
        <p:nvSpPr>
          <p:cNvPr id="7" name="Text 5"/>
          <p:cNvSpPr/>
          <p:nvPr/>
        </p:nvSpPr>
        <p:spPr>
          <a:xfrm>
            <a:off x="640080" y="1371600"/>
            <a:ext cx="10881360" cy="5943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For the spread to rise, March must gain on June — the curve tilts from contango toward backwardation. Here's the before and after.</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94560"/>
            <a:ext cx="5303520" cy="2788920"/>
          </a:xfrm>
          <a:prstGeom prst="roundRect">
            <a:avLst>
              <a:gd name="adj" fmla="val 2951"/>
            </a:avLst>
          </a:prstGeom>
          <a:solidFill>
            <a:srgbClr val="1F252D"/>
          </a:solidFill>
          <a:ln w="12700">
            <a:solidFill>
              <a:srgbClr val="F5B759"/>
            </a:solidFill>
            <a:prstDash val="solid"/>
          </a:ln>
        </p:spPr>
        <p:txBody>
          <a:bodyPr/>
          <a:lstStyle/>
          <a:p>
            <a:endParaRPr lang="en-SE"/>
          </a:p>
        </p:txBody>
      </p:sp>
      <p:sp>
        <p:nvSpPr>
          <p:cNvPr id="9" name="Text 7"/>
          <p:cNvSpPr/>
          <p:nvPr/>
        </p:nvSpPr>
        <p:spPr>
          <a:xfrm>
            <a:off x="868680" y="2331720"/>
            <a:ext cx="4846320" cy="274320"/>
          </a:xfrm>
          <a:prstGeom prst="rect">
            <a:avLst/>
          </a:prstGeom>
          <a:noFill/>
          <a:ln/>
        </p:spPr>
        <p:txBody>
          <a:bodyPr wrap="square" lIns="0" tIns="0" rIns="0" bIns="0" rtlCol="0" anchor="ctr"/>
          <a:lstStyle/>
          <a:p>
            <a:pPr marL="0" indent="0">
              <a:buNone/>
            </a:pPr>
            <a:r>
              <a:rPr lang="en-US" sz="1200" b="1" kern="0" spc="100" dirty="0">
                <a:solidFill>
                  <a:srgbClr val="F5B759"/>
                </a:solidFill>
                <a:latin typeface="Trebuchet MS" pitchFamily="34" charset="0"/>
                <a:ea typeface="Trebuchet MS" pitchFamily="34" charset="-122"/>
                <a:cs typeface="Trebuchet MS" pitchFamily="34" charset="-120"/>
              </a:rPr>
              <a:t>BEFORE — at entry</a:t>
            </a:r>
            <a:endParaRPr lang="en-US" sz="1200" dirty="0"/>
          </a:p>
        </p:txBody>
      </p:sp>
      <p:sp>
        <p:nvSpPr>
          <p:cNvPr id="10" name="dot">
            <a:extLst>
              <a:ext uri="{C183D7F6-B498-43B3-948B-1728B52AA6E4}">
                <adec:decorative xmlns:adec="http://schemas.microsoft.com/office/drawing/2017/decorative" val="1"/>
              </a:ext>
            </a:extLst>
          </p:cNvPr>
          <p:cNvSpPr/>
          <p:nvPr/>
        </p:nvSpPr>
        <p:spPr>
          <a:xfrm>
            <a:off x="1728216" y="4059936"/>
            <a:ext cx="201168" cy="201168"/>
          </a:xfrm>
          <a:prstGeom prst="ellipse">
            <a:avLst/>
          </a:prstGeom>
          <a:solidFill>
            <a:srgbClr val="34D399"/>
          </a:solidFill>
          <a:ln/>
        </p:spPr>
        <p:txBody>
          <a:bodyPr/>
          <a:lstStyle/>
          <a:p>
            <a:endParaRPr lang="en-SE"/>
          </a:p>
        </p:txBody>
      </p:sp>
      <p:sp>
        <p:nvSpPr>
          <p:cNvPr id="11" name="dot">
            <a:extLst>
              <a:ext uri="{C183D7F6-B498-43B3-948B-1728B52AA6E4}">
                <adec:decorative xmlns:adec="http://schemas.microsoft.com/office/drawing/2017/decorative" val="1"/>
              </a:ext>
            </a:extLst>
          </p:cNvPr>
          <p:cNvSpPr/>
          <p:nvPr/>
        </p:nvSpPr>
        <p:spPr>
          <a:xfrm>
            <a:off x="4471416" y="3191256"/>
            <a:ext cx="201168" cy="201168"/>
          </a:xfrm>
          <a:prstGeom prst="ellipse">
            <a:avLst/>
          </a:prstGeom>
          <a:solidFill>
            <a:srgbClr val="6EA8E6"/>
          </a:solidFill>
          <a:ln/>
        </p:spPr>
        <p:txBody>
          <a:bodyPr/>
          <a:lstStyle/>
          <a:p>
            <a:endParaRPr lang="en-SE"/>
          </a:p>
        </p:txBody>
      </p:sp>
      <p:sp>
        <p:nvSpPr>
          <p:cNvPr id="12" name="connector">
            <a:extLst>
              <a:ext uri="{C183D7F6-B498-43B3-948B-1728B52AA6E4}">
                <adec:decorative xmlns:adec="http://schemas.microsoft.com/office/drawing/2017/decorative" val="1"/>
              </a:ext>
            </a:extLst>
          </p:cNvPr>
          <p:cNvSpPr/>
          <p:nvPr/>
        </p:nvSpPr>
        <p:spPr>
          <a:xfrm flipV="1">
            <a:off x="1828800" y="3291840"/>
            <a:ext cx="2743200" cy="868680"/>
          </a:xfrm>
          <a:prstGeom prst="line">
            <a:avLst/>
          </a:prstGeom>
          <a:noFill/>
          <a:ln w="25400">
            <a:solidFill>
              <a:srgbClr val="343E4A"/>
            </a:solidFill>
            <a:prstDash val="dash"/>
            <a:headEnd type="none"/>
            <a:tailEnd type="none"/>
          </a:ln>
        </p:spPr>
        <p:txBody>
          <a:bodyPr/>
          <a:lstStyle/>
          <a:p>
            <a:endParaRPr lang="en-SE"/>
          </a:p>
        </p:txBody>
      </p:sp>
      <p:sp>
        <p:nvSpPr>
          <p:cNvPr id="13" name="Text 11"/>
          <p:cNvSpPr/>
          <p:nvPr/>
        </p:nvSpPr>
        <p:spPr>
          <a:xfrm>
            <a:off x="1188720" y="4297680"/>
            <a:ext cx="1737360" cy="274320"/>
          </a:xfrm>
          <a:prstGeom prst="rect">
            <a:avLst/>
          </a:prstGeom>
          <a:noFill/>
          <a:ln/>
        </p:spPr>
        <p:txBody>
          <a:bodyPr wrap="square" lIns="0" tIns="0" rIns="0" bIns="0" rtlCol="0" anchor="ctr"/>
          <a:lstStyle/>
          <a:p>
            <a:pPr marL="0" indent="0" algn="ctr">
              <a:buNone/>
            </a:pPr>
            <a:r>
              <a:rPr lang="en-US" sz="1200" dirty="0">
                <a:solidFill>
                  <a:srgbClr val="34D399"/>
                </a:solidFill>
                <a:latin typeface="Consolas" pitchFamily="34" charset="0"/>
                <a:ea typeface="Consolas" pitchFamily="34" charset="-122"/>
                <a:cs typeface="Consolas" pitchFamily="34" charset="-120"/>
              </a:rPr>
              <a:t>Mar $80.00</a:t>
            </a:r>
            <a:endParaRPr lang="en-US" sz="1200" dirty="0"/>
          </a:p>
        </p:txBody>
      </p:sp>
      <p:sp>
        <p:nvSpPr>
          <p:cNvPr id="14" name="Text 12"/>
          <p:cNvSpPr/>
          <p:nvPr/>
        </p:nvSpPr>
        <p:spPr>
          <a:xfrm>
            <a:off x="3657600" y="2971800"/>
            <a:ext cx="1737360" cy="274320"/>
          </a:xfrm>
          <a:prstGeom prst="rect">
            <a:avLst/>
          </a:prstGeom>
          <a:noFill/>
          <a:ln/>
        </p:spPr>
        <p:txBody>
          <a:bodyPr wrap="square" lIns="0" tIns="0" rIns="0" bIns="0" rtlCol="0" anchor="ctr"/>
          <a:lstStyle/>
          <a:p>
            <a:pPr marL="0" indent="0" algn="ctr">
              <a:buNone/>
            </a:pPr>
            <a:r>
              <a:rPr lang="en-US" sz="1200" dirty="0">
                <a:solidFill>
                  <a:srgbClr val="6EA8E6"/>
                </a:solidFill>
                <a:latin typeface="Consolas" pitchFamily="34" charset="0"/>
                <a:ea typeface="Consolas" pitchFamily="34" charset="-122"/>
                <a:cs typeface="Consolas" pitchFamily="34" charset="-120"/>
              </a:rPr>
              <a:t>Jun $80.50</a:t>
            </a:r>
            <a:endParaRPr lang="en-US" sz="1200" dirty="0"/>
          </a:p>
        </p:txBody>
      </p:sp>
      <p:sp>
        <p:nvSpPr>
          <p:cNvPr id="15" name="Text 13"/>
          <p:cNvSpPr/>
          <p:nvPr/>
        </p:nvSpPr>
        <p:spPr>
          <a:xfrm>
            <a:off x="868680" y="4526280"/>
            <a:ext cx="4846320" cy="365760"/>
          </a:xfrm>
          <a:prstGeom prst="rect">
            <a:avLst/>
          </a:prstGeom>
          <a:noFill/>
          <a:ln/>
        </p:spPr>
        <p:txBody>
          <a:bodyPr wrap="square" lIns="0" tIns="0" rIns="0" bIns="0" rtlCol="0" anchor="ctr"/>
          <a:lstStyle/>
          <a:p>
            <a:pPr marL="0" indent="0" algn="ctr">
              <a:buNone/>
            </a:pPr>
            <a:r>
              <a:rPr lang="en-US" sz="1300" dirty="0">
                <a:solidFill>
                  <a:srgbClr val="AAB2BD"/>
                </a:solidFill>
                <a:latin typeface="Calibri" pitchFamily="34" charset="0"/>
                <a:ea typeface="Calibri" pitchFamily="34" charset="-122"/>
                <a:cs typeface="Calibri" pitchFamily="34" charset="-120"/>
              </a:rPr>
              <a:t>spread </a:t>
            </a:r>
            <a:r>
              <a:rPr lang="en-US" sz="1700" b="1" dirty="0">
                <a:solidFill>
                  <a:srgbClr val="F5B759"/>
                </a:solidFill>
                <a:latin typeface="Consolas" pitchFamily="34" charset="0"/>
                <a:ea typeface="Consolas" pitchFamily="34" charset="-122"/>
                <a:cs typeface="Consolas" pitchFamily="34" charset="-120"/>
              </a:rPr>
              <a:t>−$0.50</a:t>
            </a:r>
            <a:endParaRPr lang="en-US" sz="1300" dirty="0"/>
          </a:p>
        </p:txBody>
      </p:sp>
      <p:sp>
        <p:nvSpPr>
          <p:cNvPr id="16" name="panel">
            <a:extLst>
              <a:ext uri="{C183D7F6-B498-43B3-948B-1728B52AA6E4}">
                <adec:decorative xmlns:adec="http://schemas.microsoft.com/office/drawing/2017/decorative" val="1"/>
              </a:ext>
            </a:extLst>
          </p:cNvPr>
          <p:cNvSpPr/>
          <p:nvPr/>
        </p:nvSpPr>
        <p:spPr>
          <a:xfrm>
            <a:off x="6245352" y="2194560"/>
            <a:ext cx="5303520" cy="2788920"/>
          </a:xfrm>
          <a:prstGeom prst="roundRect">
            <a:avLst>
              <a:gd name="adj" fmla="val 2951"/>
            </a:avLst>
          </a:prstGeom>
          <a:solidFill>
            <a:srgbClr val="1F252D"/>
          </a:solidFill>
          <a:ln w="1270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17" name="Text 15"/>
          <p:cNvSpPr/>
          <p:nvPr/>
        </p:nvSpPr>
        <p:spPr>
          <a:xfrm>
            <a:off x="6473952" y="2331720"/>
            <a:ext cx="4846320" cy="274320"/>
          </a:xfrm>
          <a:prstGeom prst="rect">
            <a:avLst/>
          </a:prstGeom>
          <a:noFill/>
          <a:ln/>
        </p:spPr>
        <p:txBody>
          <a:bodyPr wrap="square" lIns="0" tIns="0" rIns="0" bIns="0" rtlCol="0" anchor="ctr"/>
          <a:lstStyle/>
          <a:p>
            <a:pPr marL="0" indent="0">
              <a:buNone/>
            </a:pPr>
            <a:r>
              <a:rPr lang="en-US" sz="1200" b="1" kern="0" spc="100" dirty="0">
                <a:solidFill>
                  <a:srgbClr val="34D399"/>
                </a:solidFill>
                <a:latin typeface="Trebuchet MS" pitchFamily="34" charset="0"/>
                <a:ea typeface="Trebuchet MS" pitchFamily="34" charset="-122"/>
                <a:cs typeface="Trebuchet MS" pitchFamily="34" charset="-120"/>
              </a:rPr>
              <a:t>AFTER — at exit</a:t>
            </a:r>
            <a:endParaRPr lang="en-US" sz="1200" dirty="0"/>
          </a:p>
        </p:txBody>
      </p:sp>
      <p:sp>
        <p:nvSpPr>
          <p:cNvPr id="18" name="dot">
            <a:extLst>
              <a:ext uri="{C183D7F6-B498-43B3-948B-1728B52AA6E4}">
                <adec:decorative xmlns:adec="http://schemas.microsoft.com/office/drawing/2017/decorative" val="1"/>
              </a:ext>
            </a:extLst>
          </p:cNvPr>
          <p:cNvSpPr/>
          <p:nvPr/>
        </p:nvSpPr>
        <p:spPr>
          <a:xfrm>
            <a:off x="7333488" y="3831336"/>
            <a:ext cx="201168" cy="201168"/>
          </a:xfrm>
          <a:prstGeom prst="ellipse">
            <a:avLst/>
          </a:prstGeom>
          <a:solidFill>
            <a:srgbClr val="34D399"/>
          </a:solidFill>
          <a:ln/>
        </p:spPr>
        <p:txBody>
          <a:bodyPr/>
          <a:lstStyle/>
          <a:p>
            <a:endParaRPr lang="en-SE"/>
          </a:p>
        </p:txBody>
      </p:sp>
      <p:sp>
        <p:nvSpPr>
          <p:cNvPr id="19" name="dot">
            <a:extLst>
              <a:ext uri="{C183D7F6-B498-43B3-948B-1728B52AA6E4}">
                <adec:decorative xmlns:adec="http://schemas.microsoft.com/office/drawing/2017/decorative" val="1"/>
              </a:ext>
            </a:extLst>
          </p:cNvPr>
          <p:cNvSpPr/>
          <p:nvPr/>
        </p:nvSpPr>
        <p:spPr>
          <a:xfrm>
            <a:off x="10076688" y="3099816"/>
            <a:ext cx="201168" cy="201168"/>
          </a:xfrm>
          <a:prstGeom prst="ellipse">
            <a:avLst/>
          </a:prstGeom>
          <a:solidFill>
            <a:srgbClr val="6EA8E6"/>
          </a:solidFill>
          <a:ln/>
        </p:spPr>
        <p:txBody>
          <a:bodyPr/>
          <a:lstStyle/>
          <a:p>
            <a:endParaRPr lang="en-SE"/>
          </a:p>
        </p:txBody>
      </p:sp>
      <p:sp>
        <p:nvSpPr>
          <p:cNvPr id="20" name="connector">
            <a:extLst>
              <a:ext uri="{C183D7F6-B498-43B3-948B-1728B52AA6E4}">
                <adec:decorative xmlns:adec="http://schemas.microsoft.com/office/drawing/2017/decorative" val="1"/>
              </a:ext>
            </a:extLst>
          </p:cNvPr>
          <p:cNvSpPr/>
          <p:nvPr/>
        </p:nvSpPr>
        <p:spPr>
          <a:xfrm flipV="1">
            <a:off x="7434072" y="3200400"/>
            <a:ext cx="2743200" cy="731520"/>
          </a:xfrm>
          <a:prstGeom prst="line">
            <a:avLst/>
          </a:prstGeom>
          <a:noFill/>
          <a:ln w="25400">
            <a:solidFill>
              <a:srgbClr val="343E4A"/>
            </a:solidFill>
            <a:prstDash val="dash"/>
            <a:headEnd type="none"/>
            <a:tailEnd type="none"/>
          </a:ln>
        </p:spPr>
        <p:txBody>
          <a:bodyPr/>
          <a:lstStyle/>
          <a:p>
            <a:endParaRPr lang="en-SE"/>
          </a:p>
        </p:txBody>
      </p:sp>
      <p:sp>
        <p:nvSpPr>
          <p:cNvPr id="21" name="Text 19"/>
          <p:cNvSpPr/>
          <p:nvPr/>
        </p:nvSpPr>
        <p:spPr>
          <a:xfrm>
            <a:off x="6793992" y="4069080"/>
            <a:ext cx="1737360" cy="274320"/>
          </a:xfrm>
          <a:prstGeom prst="rect">
            <a:avLst/>
          </a:prstGeom>
          <a:noFill/>
          <a:ln/>
        </p:spPr>
        <p:txBody>
          <a:bodyPr wrap="square" lIns="0" tIns="0" rIns="0" bIns="0" rtlCol="0" anchor="ctr"/>
          <a:lstStyle/>
          <a:p>
            <a:pPr marL="0" indent="0" algn="ctr">
              <a:buNone/>
            </a:pPr>
            <a:r>
              <a:rPr lang="en-US" sz="1200" dirty="0">
                <a:solidFill>
                  <a:srgbClr val="34D399"/>
                </a:solidFill>
                <a:latin typeface="Consolas" pitchFamily="34" charset="0"/>
                <a:ea typeface="Consolas" pitchFamily="34" charset="-122"/>
                <a:cs typeface="Consolas" pitchFamily="34" charset="-120"/>
              </a:rPr>
              <a:t>Mar $81.40</a:t>
            </a:r>
            <a:endParaRPr lang="en-US" sz="1200" dirty="0"/>
          </a:p>
        </p:txBody>
      </p:sp>
      <p:sp>
        <p:nvSpPr>
          <p:cNvPr id="22" name="Text 20"/>
          <p:cNvSpPr/>
          <p:nvPr/>
        </p:nvSpPr>
        <p:spPr>
          <a:xfrm>
            <a:off x="9262872" y="2880360"/>
            <a:ext cx="1737360" cy="274320"/>
          </a:xfrm>
          <a:prstGeom prst="rect">
            <a:avLst/>
          </a:prstGeom>
          <a:noFill/>
          <a:ln/>
        </p:spPr>
        <p:txBody>
          <a:bodyPr wrap="square" lIns="0" tIns="0" rIns="0" bIns="0" rtlCol="0" anchor="ctr"/>
          <a:lstStyle/>
          <a:p>
            <a:pPr marL="0" indent="0" algn="ctr">
              <a:buNone/>
            </a:pPr>
            <a:r>
              <a:rPr lang="en-US" sz="1200" dirty="0">
                <a:solidFill>
                  <a:srgbClr val="6EA8E6"/>
                </a:solidFill>
                <a:latin typeface="Consolas" pitchFamily="34" charset="0"/>
                <a:ea typeface="Consolas" pitchFamily="34" charset="-122"/>
                <a:cs typeface="Consolas" pitchFamily="34" charset="-120"/>
              </a:rPr>
              <a:t>Jun $81.20</a:t>
            </a:r>
            <a:endParaRPr lang="en-US" sz="1200" dirty="0"/>
          </a:p>
        </p:txBody>
      </p:sp>
      <p:sp>
        <p:nvSpPr>
          <p:cNvPr id="23" name="Text 21"/>
          <p:cNvSpPr/>
          <p:nvPr/>
        </p:nvSpPr>
        <p:spPr>
          <a:xfrm>
            <a:off x="6473952" y="4526280"/>
            <a:ext cx="4846320" cy="365760"/>
          </a:xfrm>
          <a:prstGeom prst="rect">
            <a:avLst/>
          </a:prstGeom>
          <a:noFill/>
          <a:ln/>
        </p:spPr>
        <p:txBody>
          <a:bodyPr wrap="square" lIns="0" tIns="0" rIns="0" bIns="0" rtlCol="0" anchor="ctr"/>
          <a:lstStyle/>
          <a:p>
            <a:pPr marL="0" indent="0" algn="ctr">
              <a:buNone/>
            </a:pPr>
            <a:r>
              <a:rPr lang="en-US" sz="1300" dirty="0">
                <a:solidFill>
                  <a:srgbClr val="AAB2BD"/>
                </a:solidFill>
                <a:latin typeface="Calibri" pitchFamily="34" charset="0"/>
                <a:ea typeface="Calibri" pitchFamily="34" charset="-122"/>
                <a:cs typeface="Calibri" pitchFamily="34" charset="-120"/>
              </a:rPr>
              <a:t>spread </a:t>
            </a:r>
            <a:r>
              <a:rPr lang="en-US" sz="1700" b="1" dirty="0">
                <a:solidFill>
                  <a:srgbClr val="34D399"/>
                </a:solidFill>
                <a:latin typeface="Consolas" pitchFamily="34" charset="0"/>
                <a:ea typeface="Consolas" pitchFamily="34" charset="-122"/>
                <a:cs typeface="Consolas" pitchFamily="34" charset="-120"/>
              </a:rPr>
              <a:t>+$0.20</a:t>
            </a:r>
            <a:endParaRPr lang="en-US" sz="1300" dirty="0"/>
          </a:p>
        </p:txBody>
      </p:sp>
      <p:sp>
        <p:nvSpPr>
          <p:cNvPr id="24" name="shift">
            <a:extLst>
              <a:ext uri="{C183D7F6-B498-43B3-948B-1728B52AA6E4}">
                <adec:decorative xmlns:adec="http://schemas.microsoft.com/office/drawing/2017/decorative" val="1"/>
              </a:ext>
            </a:extLst>
          </p:cNvPr>
          <p:cNvSpPr/>
          <p:nvPr/>
        </p:nvSpPr>
        <p:spPr>
          <a:xfrm>
            <a:off x="5742432" y="3429000"/>
            <a:ext cx="411480" cy="365760"/>
          </a:xfrm>
          <a:prstGeom prst="rightArrow">
            <a:avLst/>
          </a:prstGeom>
          <a:solidFill>
            <a:srgbClr val="10B981"/>
          </a:solidFill>
          <a:ln/>
        </p:spPr>
        <p:txBody>
          <a:bodyPr/>
          <a:lstStyle/>
          <a:p>
            <a:endParaRPr lang="en-SE"/>
          </a:p>
        </p:txBody>
      </p:sp>
      <p:sp>
        <p:nvSpPr>
          <p:cNvPr id="25"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6"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7" name="Text 25"/>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March overtook June. The gap flipped from −$0.50 to +$0.20 — exactly the move we were positioned for.</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Closing: sell the spread back">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Closing: sell the spread back</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05 · THE PROFIT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43</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To exit, you do the mirror image of the entry — one atomic order that sells the spread and flattens both legs at once.</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194560"/>
            <a:ext cx="5303520" cy="2788920"/>
          </a:xfrm>
          <a:prstGeom prst="roundRect">
            <a:avLst>
              <a:gd name="adj" fmla="val 2951"/>
            </a:avLst>
          </a:prstGeom>
          <a:solidFill>
            <a:srgbClr val="1F252D"/>
          </a:solidFill>
          <a:ln w="12700">
            <a:solidFill>
              <a:srgbClr val="343E4A"/>
            </a:solidFill>
            <a:prstDash val="solid"/>
          </a:ln>
        </p:spPr>
        <p:txBody>
          <a:bodyPr/>
          <a:lstStyle/>
          <a:p>
            <a:endParaRPr lang="en-SE"/>
          </a:p>
        </p:txBody>
      </p:sp>
      <p:sp>
        <p:nvSpPr>
          <p:cNvPr id="9" name="Text 7"/>
          <p:cNvSpPr/>
          <p:nvPr/>
        </p:nvSpPr>
        <p:spPr>
          <a:xfrm>
            <a:off x="868680" y="2377440"/>
            <a:ext cx="4846320" cy="274320"/>
          </a:xfrm>
          <a:prstGeom prst="rect">
            <a:avLst/>
          </a:prstGeom>
          <a:noFill/>
          <a:ln/>
        </p:spPr>
        <p:txBody>
          <a:bodyPr wrap="square" lIns="0" tIns="0" rIns="0" bIns="0" rtlCol="0" anchor="ctr"/>
          <a:lstStyle/>
          <a:p>
            <a:pPr marL="0" indent="0">
              <a:buNone/>
            </a:pPr>
            <a:r>
              <a:rPr lang="en-US" sz="1200" b="1" kern="0" spc="200" dirty="0">
                <a:solidFill>
                  <a:srgbClr val="AAB2BD"/>
                </a:solidFill>
                <a:latin typeface="Trebuchet MS" pitchFamily="34" charset="0"/>
                <a:ea typeface="Trebuchet MS" pitchFamily="34" charset="-122"/>
                <a:cs typeface="Trebuchet MS" pitchFamily="34" charset="-120"/>
              </a:rPr>
              <a:t>YOU HOLD</a:t>
            </a:r>
            <a:endParaRPr lang="en-US" sz="1200" dirty="0"/>
          </a:p>
        </p:txBody>
      </p:sp>
      <p:sp>
        <p:nvSpPr>
          <p:cNvPr id="10" name="chip">
            <a:extLst>
              <a:ext uri="{C183D7F6-B498-43B3-948B-1728B52AA6E4}">
                <adec:decorative xmlns:adec="http://schemas.microsoft.com/office/drawing/2017/decorative" val="1"/>
              </a:ext>
            </a:extLst>
          </p:cNvPr>
          <p:cNvSpPr/>
          <p:nvPr/>
        </p:nvSpPr>
        <p:spPr>
          <a:xfrm>
            <a:off x="868680" y="2788920"/>
            <a:ext cx="4846320" cy="640080"/>
          </a:xfrm>
          <a:prstGeom prst="roundRect">
            <a:avLst>
              <a:gd name="adj" fmla="val 10000"/>
            </a:avLst>
          </a:prstGeom>
          <a:solidFill>
            <a:srgbClr val="262E38"/>
          </a:solidFill>
          <a:ln/>
        </p:spPr>
        <p:txBody>
          <a:bodyPr/>
          <a:lstStyle/>
          <a:p>
            <a:endParaRPr lang="en-SE"/>
          </a:p>
        </p:txBody>
      </p:sp>
      <p:sp>
        <p:nvSpPr>
          <p:cNvPr id="11" name="Text 9"/>
          <p:cNvSpPr/>
          <p:nvPr/>
        </p:nvSpPr>
        <p:spPr>
          <a:xfrm>
            <a:off x="868680" y="2788920"/>
            <a:ext cx="4846320" cy="640080"/>
          </a:xfrm>
          <a:prstGeom prst="rect">
            <a:avLst/>
          </a:prstGeom>
          <a:noFill/>
          <a:ln/>
        </p:spPr>
        <p:txBody>
          <a:bodyPr wrap="square" lIns="762" tIns="762" rIns="762" bIns="762" rtlCol="0" anchor="ctr"/>
          <a:lstStyle/>
          <a:p>
            <a:pPr marL="0" indent="0" algn="ctr">
              <a:buNone/>
            </a:pPr>
            <a:r>
              <a:rPr lang="en-US" sz="1600" b="1" dirty="0">
                <a:solidFill>
                  <a:srgbClr val="E7EBF0"/>
                </a:solidFill>
                <a:latin typeface="Consolas" pitchFamily="34" charset="0"/>
                <a:ea typeface="Consolas" pitchFamily="34" charset="-122"/>
                <a:cs typeface="Consolas" pitchFamily="34" charset="-120"/>
              </a:rPr>
              <a:t>+1 March    −1 June</a:t>
            </a:r>
            <a:endParaRPr lang="en-US" sz="1600" dirty="0"/>
          </a:p>
        </p:txBody>
      </p:sp>
      <p:sp>
        <p:nvSpPr>
          <p:cNvPr id="12" name="Text 10"/>
          <p:cNvSpPr/>
          <p:nvPr/>
        </p:nvSpPr>
        <p:spPr>
          <a:xfrm>
            <a:off x="868680" y="3520440"/>
            <a:ext cx="4846320" cy="320040"/>
          </a:xfrm>
          <a:prstGeom prst="rect">
            <a:avLst/>
          </a:prstGeom>
          <a:noFill/>
          <a:ln/>
        </p:spPr>
        <p:txBody>
          <a:bodyPr wrap="square" lIns="0" tIns="0" rIns="0" bIns="0" rtlCol="0" anchor="ctr"/>
          <a:lstStyle/>
          <a:p>
            <a:pPr marL="0" indent="0" algn="ctr">
              <a:buNone/>
            </a:pPr>
            <a:r>
              <a:rPr lang="en-US" sz="1250" i="1" dirty="0">
                <a:solidFill>
                  <a:srgbClr val="AAB2BD"/>
                </a:solidFill>
                <a:latin typeface="Calibri" pitchFamily="34" charset="0"/>
                <a:ea typeface="Calibri" pitchFamily="34" charset="-122"/>
                <a:cs typeface="Calibri" pitchFamily="34" charset="-120"/>
              </a:rPr>
              <a:t>bought as a spread at −$0.50</a:t>
            </a:r>
            <a:endParaRPr lang="en-US" sz="1250" dirty="0"/>
          </a:p>
        </p:txBody>
      </p:sp>
      <p:sp>
        <p:nvSpPr>
          <p:cNvPr id="13" name="Text 11"/>
          <p:cNvSpPr/>
          <p:nvPr/>
        </p:nvSpPr>
        <p:spPr>
          <a:xfrm>
            <a:off x="868680" y="4069080"/>
            <a:ext cx="4846320" cy="411480"/>
          </a:xfrm>
          <a:prstGeom prst="rect">
            <a:avLst/>
          </a:prstGeom>
          <a:noFill/>
          <a:ln/>
        </p:spPr>
        <p:txBody>
          <a:bodyPr wrap="square" lIns="0" tIns="0" rIns="0" bIns="0" rtlCol="0" anchor="ctr"/>
          <a:lstStyle/>
          <a:p>
            <a:pPr marL="0" indent="0" algn="ctr">
              <a:buNone/>
            </a:pPr>
            <a:r>
              <a:rPr lang="en-US" sz="1600" b="1" dirty="0">
                <a:solidFill>
                  <a:srgbClr val="34D399"/>
                </a:solidFill>
                <a:latin typeface="Trebuchet MS" pitchFamily="34" charset="0"/>
                <a:ea typeface="Trebuchet MS" pitchFamily="34" charset="-122"/>
                <a:cs typeface="Trebuchet MS" pitchFamily="34" charset="-120"/>
              </a:rPr>
              <a:t>SELL 1 spread @ +$0.20</a:t>
            </a:r>
            <a:endParaRPr lang="en-US" sz="1600" dirty="0"/>
          </a:p>
        </p:txBody>
      </p:sp>
      <p:sp>
        <p:nvSpPr>
          <p:cNvPr id="14" name="Text 12"/>
          <p:cNvSpPr/>
          <p:nvPr/>
        </p:nvSpPr>
        <p:spPr>
          <a:xfrm>
            <a:off x="868680" y="4498848"/>
            <a:ext cx="4846320" cy="320040"/>
          </a:xfrm>
          <a:prstGeom prst="rect">
            <a:avLst/>
          </a:prstGeom>
          <a:noFill/>
          <a:ln/>
        </p:spPr>
        <p:txBody>
          <a:bodyPr wrap="square" lIns="0" tIns="0" rIns="0" bIns="0" rtlCol="0" anchor="ctr"/>
          <a:lstStyle/>
          <a:p>
            <a:pPr marL="0" indent="0" algn="ctr">
              <a:buNone/>
            </a:pPr>
            <a:r>
              <a:rPr lang="en-US" sz="1200" dirty="0">
                <a:solidFill>
                  <a:srgbClr val="AAB2BD"/>
                </a:solidFill>
                <a:latin typeface="Calibri" pitchFamily="34" charset="0"/>
                <a:ea typeface="Calibri" pitchFamily="34" charset="-122"/>
                <a:cs typeface="Calibri" pitchFamily="34" charset="-120"/>
              </a:rPr>
              <a:t>→ sells March, buys back June, atomically</a:t>
            </a:r>
            <a:endParaRPr lang="en-US" sz="1200" dirty="0"/>
          </a:p>
        </p:txBody>
      </p:sp>
      <p:sp>
        <p:nvSpPr>
          <p:cNvPr id="15" name="flow arrow">
            <a:extLst>
              <a:ext uri="{C183D7F6-B498-43B3-948B-1728B52AA6E4}">
                <adec:decorative xmlns:adec="http://schemas.microsoft.com/office/drawing/2017/decorative" val="1"/>
              </a:ext>
            </a:extLst>
          </p:cNvPr>
          <p:cNvSpPr/>
          <p:nvPr/>
        </p:nvSpPr>
        <p:spPr>
          <a:xfrm>
            <a:off x="5989320" y="3429000"/>
            <a:ext cx="411480" cy="329184"/>
          </a:xfrm>
          <a:prstGeom prst="rightArrow">
            <a:avLst/>
          </a:prstGeom>
          <a:solidFill>
            <a:srgbClr val="10B981"/>
          </a:solidFill>
          <a:ln/>
        </p:spPr>
        <p:txBody>
          <a:bodyPr/>
          <a:lstStyle/>
          <a:p>
            <a:endParaRPr lang="en-SE"/>
          </a:p>
        </p:txBody>
      </p:sp>
      <p:sp>
        <p:nvSpPr>
          <p:cNvPr id="16" name="panel">
            <a:extLst>
              <a:ext uri="{C183D7F6-B498-43B3-948B-1728B52AA6E4}">
                <adec:decorative xmlns:adec="http://schemas.microsoft.com/office/drawing/2017/decorative" val="1"/>
              </a:ext>
            </a:extLst>
          </p:cNvPr>
          <p:cNvSpPr/>
          <p:nvPr/>
        </p:nvSpPr>
        <p:spPr>
          <a:xfrm>
            <a:off x="6245352" y="2194560"/>
            <a:ext cx="5303520" cy="2788920"/>
          </a:xfrm>
          <a:prstGeom prst="roundRect">
            <a:avLst>
              <a:gd name="adj" fmla="val 2951"/>
            </a:avLst>
          </a:prstGeom>
          <a:solidFill>
            <a:srgbClr val="262E38"/>
          </a:solidFill>
          <a:ln w="1905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17" name="Text 15"/>
          <p:cNvSpPr/>
          <p:nvPr/>
        </p:nvSpPr>
        <p:spPr>
          <a:xfrm>
            <a:off x="6473952" y="2377440"/>
            <a:ext cx="4846320" cy="274320"/>
          </a:xfrm>
          <a:prstGeom prst="rect">
            <a:avLst/>
          </a:prstGeom>
          <a:noFill/>
          <a:ln/>
        </p:spPr>
        <p:txBody>
          <a:bodyPr wrap="square" lIns="0" tIns="0" rIns="0" bIns="0" rtlCol="0" anchor="ctr"/>
          <a:lstStyle/>
          <a:p>
            <a:pPr marL="0" indent="0">
              <a:buNone/>
            </a:pPr>
            <a:r>
              <a:rPr lang="en-US" sz="1200" b="1" kern="0" spc="200" dirty="0">
                <a:solidFill>
                  <a:srgbClr val="34D399"/>
                </a:solidFill>
                <a:latin typeface="Trebuchet MS" pitchFamily="34" charset="0"/>
                <a:ea typeface="Trebuchet MS" pitchFamily="34" charset="-122"/>
                <a:cs typeface="Trebuchet MS" pitchFamily="34" charset="-120"/>
              </a:rPr>
              <a:t>RESULT</a:t>
            </a:r>
            <a:endParaRPr lang="en-US" sz="1200" dirty="0"/>
          </a:p>
        </p:txBody>
      </p:sp>
      <p:sp>
        <p:nvSpPr>
          <p:cNvPr id="18" name="chip">
            <a:extLst>
              <a:ext uri="{C183D7F6-B498-43B3-948B-1728B52AA6E4}">
                <adec:decorative xmlns:adec="http://schemas.microsoft.com/office/drawing/2017/decorative" val="1"/>
              </a:ext>
            </a:extLst>
          </p:cNvPr>
          <p:cNvSpPr/>
          <p:nvPr/>
        </p:nvSpPr>
        <p:spPr>
          <a:xfrm>
            <a:off x="6473952" y="2788920"/>
            <a:ext cx="4846320" cy="640080"/>
          </a:xfrm>
          <a:prstGeom prst="roundRect">
            <a:avLst>
              <a:gd name="adj" fmla="val 10000"/>
            </a:avLst>
          </a:prstGeom>
          <a:solidFill>
            <a:srgbClr val="1F252D"/>
          </a:solidFill>
          <a:ln/>
        </p:spPr>
        <p:txBody>
          <a:bodyPr/>
          <a:lstStyle/>
          <a:p>
            <a:endParaRPr lang="en-SE"/>
          </a:p>
        </p:txBody>
      </p:sp>
      <p:sp>
        <p:nvSpPr>
          <p:cNvPr id="19" name="Text 17"/>
          <p:cNvSpPr/>
          <p:nvPr/>
        </p:nvSpPr>
        <p:spPr>
          <a:xfrm>
            <a:off x="6473952" y="2788920"/>
            <a:ext cx="4846320" cy="640080"/>
          </a:xfrm>
          <a:prstGeom prst="rect">
            <a:avLst/>
          </a:prstGeom>
          <a:noFill/>
          <a:ln/>
        </p:spPr>
        <p:txBody>
          <a:bodyPr wrap="square" lIns="762" tIns="762" rIns="762" bIns="762" rtlCol="0" anchor="ctr"/>
          <a:lstStyle/>
          <a:p>
            <a:pPr marL="0" indent="0" algn="ctr">
              <a:buNone/>
            </a:pPr>
            <a:r>
              <a:rPr lang="en-US" sz="1500" b="1" dirty="0">
                <a:solidFill>
                  <a:srgbClr val="E7EBF0"/>
                </a:solidFill>
                <a:latin typeface="Calibri" pitchFamily="34" charset="0"/>
                <a:ea typeface="Calibri" pitchFamily="34" charset="-122"/>
                <a:cs typeface="Calibri" pitchFamily="34" charset="-120"/>
              </a:rPr>
              <a:t>flat  ·  no position</a:t>
            </a:r>
            <a:endParaRPr lang="en-US" sz="1500" dirty="0"/>
          </a:p>
        </p:txBody>
      </p:sp>
      <p:sp>
        <p:nvSpPr>
          <p:cNvPr id="20" name="Text 18"/>
          <p:cNvSpPr/>
          <p:nvPr/>
        </p:nvSpPr>
        <p:spPr>
          <a:xfrm>
            <a:off x="6473952" y="3520440"/>
            <a:ext cx="4846320" cy="365760"/>
          </a:xfrm>
          <a:prstGeom prst="rect">
            <a:avLst/>
          </a:prstGeom>
          <a:noFill/>
          <a:ln/>
        </p:spPr>
        <p:txBody>
          <a:bodyPr wrap="square" lIns="0" tIns="0" rIns="0" bIns="0" rtlCol="0" anchor="ctr"/>
          <a:lstStyle/>
          <a:p>
            <a:pPr marL="0" indent="0" algn="ctr">
              <a:buNone/>
            </a:pPr>
            <a:r>
              <a:rPr lang="en-US" sz="1300" dirty="0">
                <a:solidFill>
                  <a:srgbClr val="AAB2BD"/>
                </a:solidFill>
                <a:latin typeface="Calibri" pitchFamily="34" charset="0"/>
                <a:ea typeface="Calibri" pitchFamily="34" charset="-122"/>
                <a:cs typeface="Calibri" pitchFamily="34" charset="-120"/>
              </a:rPr>
              <a:t>Both legs are gone. Your market risk is zero again.</a:t>
            </a:r>
            <a:endParaRPr lang="en-US" sz="1300" dirty="0"/>
          </a:p>
        </p:txBody>
      </p:sp>
      <p:sp>
        <p:nvSpPr>
          <p:cNvPr id="21" name="Text 19"/>
          <p:cNvSpPr/>
          <p:nvPr/>
        </p:nvSpPr>
        <p:spPr>
          <a:xfrm>
            <a:off x="6473952" y="3977640"/>
            <a:ext cx="4846320" cy="457200"/>
          </a:xfrm>
          <a:prstGeom prst="rect">
            <a:avLst/>
          </a:prstGeom>
          <a:noFill/>
          <a:ln/>
        </p:spPr>
        <p:txBody>
          <a:bodyPr wrap="square" lIns="0" tIns="0" rIns="0" bIns="0" rtlCol="0" anchor="ctr"/>
          <a:lstStyle/>
          <a:p>
            <a:pPr marL="0" indent="0" algn="ctr">
              <a:lnSpc>
                <a:spcPct val="110000"/>
              </a:lnSpc>
              <a:buNone/>
            </a:pPr>
            <a:r>
              <a:rPr lang="en-US" sz="1300" dirty="0">
                <a:solidFill>
                  <a:srgbClr val="F5B759"/>
                </a:solidFill>
                <a:latin typeface="Calibri" pitchFamily="34" charset="0"/>
                <a:ea typeface="Calibri" pitchFamily="34" charset="-122"/>
                <a:cs typeface="Calibri" pitchFamily="34" charset="-120"/>
              </a:rPr>
              <a:t>The $1,000 margin deposit is released back to ‘available’.</a:t>
            </a:r>
            <a:endParaRPr lang="en-US" sz="1300" dirty="0"/>
          </a:p>
        </p:txBody>
      </p:sp>
      <p:sp>
        <p:nvSpPr>
          <p:cNvPr id="22"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3"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4" name="Text 22"/>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Selling the spread closes both legs atomically — the same guarantee that protected you on the way in.</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Total P/L in one line">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Total P/L in one line</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05 · THE PROFIT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44</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The whole trade collapses to a single calculation: how far the spread travelled, times the contract size.</a:t>
            </a:r>
            <a:endParaRPr lang="en-US" sz="1500" dirty="0"/>
          </a:p>
        </p:txBody>
      </p:sp>
      <p:sp>
        <p:nvSpPr>
          <p:cNvPr id="8" name="panel">
            <a:extLst>
              <a:ext uri="{C183D7F6-B498-43B3-948B-1728B52AA6E4}">
                <adec:decorative xmlns:adec="http://schemas.microsoft.com/office/drawing/2017/decorative" val="1"/>
              </a:ext>
            </a:extLst>
          </p:cNvPr>
          <p:cNvSpPr/>
          <p:nvPr/>
        </p:nvSpPr>
        <p:spPr>
          <a:xfrm>
            <a:off x="1005840" y="2331720"/>
            <a:ext cx="10177272" cy="1371600"/>
          </a:xfrm>
          <a:prstGeom prst="roundRect">
            <a:avLst>
              <a:gd name="adj" fmla="val 6000"/>
            </a:avLst>
          </a:prstGeom>
          <a:solidFill>
            <a:srgbClr val="262E38"/>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9" name="Text 7"/>
          <p:cNvSpPr/>
          <p:nvPr/>
        </p:nvSpPr>
        <p:spPr>
          <a:xfrm>
            <a:off x="1005840" y="2331720"/>
            <a:ext cx="10177272" cy="1371600"/>
          </a:xfrm>
          <a:prstGeom prst="rect">
            <a:avLst/>
          </a:prstGeom>
          <a:noFill/>
          <a:ln/>
        </p:spPr>
        <p:txBody>
          <a:bodyPr wrap="square" lIns="0" tIns="0" rIns="0" bIns="0" rtlCol="0" anchor="ctr"/>
          <a:lstStyle/>
          <a:p>
            <a:pPr marL="0" indent="0" algn="ctr">
              <a:buNone/>
            </a:pPr>
            <a:r>
              <a:rPr lang="en-US" sz="2200" b="1" dirty="0">
                <a:solidFill>
                  <a:srgbClr val="34D399"/>
                </a:solidFill>
                <a:latin typeface="Consolas" pitchFamily="34" charset="0"/>
                <a:ea typeface="Consolas" pitchFamily="34" charset="-122"/>
                <a:cs typeface="Consolas" pitchFamily="34" charset="-120"/>
              </a:rPr>
              <a:t>( +$0.20 </a:t>
            </a:r>
            <a:r>
              <a:rPr lang="en-US" sz="2200" dirty="0">
                <a:solidFill>
                  <a:srgbClr val="AAB2BD"/>
                </a:solidFill>
                <a:latin typeface="Consolas" pitchFamily="34" charset="0"/>
                <a:ea typeface="Consolas" pitchFamily="34" charset="-122"/>
                <a:cs typeface="Consolas" pitchFamily="34" charset="-120"/>
              </a:rPr>
              <a:t>− </a:t>
            </a:r>
            <a:r>
              <a:rPr lang="en-US" sz="2200" b="1" dirty="0">
                <a:solidFill>
                  <a:srgbClr val="F5B759"/>
                </a:solidFill>
                <a:latin typeface="Consolas" pitchFamily="34" charset="0"/>
                <a:ea typeface="Consolas" pitchFamily="34" charset="-122"/>
                <a:cs typeface="Consolas" pitchFamily="34" charset="-120"/>
              </a:rPr>
              <a:t>(−$0.50) ) </a:t>
            </a:r>
            <a:r>
              <a:rPr lang="en-US" sz="2200" dirty="0">
                <a:solidFill>
                  <a:srgbClr val="AAB2BD"/>
                </a:solidFill>
                <a:latin typeface="Consolas" pitchFamily="34" charset="0"/>
                <a:ea typeface="Consolas" pitchFamily="34" charset="-122"/>
                <a:cs typeface="Consolas" pitchFamily="34" charset="-120"/>
              </a:rPr>
              <a:t>× </a:t>
            </a:r>
            <a:r>
              <a:rPr lang="en-US" sz="2200" b="1" dirty="0">
                <a:solidFill>
                  <a:srgbClr val="6EA8E6"/>
                </a:solidFill>
                <a:latin typeface="Consolas" pitchFamily="34" charset="0"/>
                <a:ea typeface="Consolas" pitchFamily="34" charset="-122"/>
                <a:cs typeface="Consolas" pitchFamily="34" charset="-120"/>
              </a:rPr>
              <a:t>1,000</a:t>
            </a:r>
            <a:r>
              <a:rPr lang="en-US" sz="2200" dirty="0">
                <a:solidFill>
                  <a:srgbClr val="AAB2BD"/>
                </a:solidFill>
                <a:latin typeface="Consolas" pitchFamily="34" charset="0"/>
                <a:ea typeface="Consolas" pitchFamily="34" charset="-122"/>
                <a:cs typeface="Consolas" pitchFamily="34" charset="-120"/>
              </a:rPr>
              <a:t>  =  </a:t>
            </a:r>
            <a:r>
              <a:rPr lang="en-US" sz="3000" b="1" dirty="0">
                <a:solidFill>
                  <a:srgbClr val="34D399"/>
                </a:solidFill>
                <a:latin typeface="Consolas" pitchFamily="34" charset="0"/>
                <a:ea typeface="Consolas" pitchFamily="34" charset="-122"/>
                <a:cs typeface="Consolas" pitchFamily="34" charset="-120"/>
              </a:rPr>
              <a:t>+$700</a:t>
            </a:r>
            <a:endParaRPr lang="en-US" sz="2200" dirty="0"/>
          </a:p>
        </p:txBody>
      </p:sp>
      <p:sp>
        <p:nvSpPr>
          <p:cNvPr id="10" name="panel">
            <a:extLst>
              <a:ext uri="{C183D7F6-B498-43B3-948B-1728B52AA6E4}">
                <adec:decorative xmlns:adec="http://schemas.microsoft.com/office/drawing/2017/decorative" val="1"/>
              </a:ext>
            </a:extLst>
          </p:cNvPr>
          <p:cNvSpPr/>
          <p:nvPr/>
        </p:nvSpPr>
        <p:spPr>
          <a:xfrm>
            <a:off x="1005840" y="3977640"/>
            <a:ext cx="2377440" cy="1234440"/>
          </a:xfrm>
          <a:prstGeom prst="roundRect">
            <a:avLst>
              <a:gd name="adj" fmla="val 6667"/>
            </a:avLst>
          </a:prstGeom>
          <a:solidFill>
            <a:srgbClr val="1F252D"/>
          </a:solidFill>
          <a:ln w="12700">
            <a:solidFill>
              <a:srgbClr val="343E4A"/>
            </a:solidFill>
            <a:prstDash val="solid"/>
          </a:ln>
        </p:spPr>
        <p:txBody>
          <a:bodyPr/>
          <a:lstStyle/>
          <a:p>
            <a:endParaRPr lang="en-SE"/>
          </a:p>
        </p:txBody>
      </p:sp>
      <p:sp>
        <p:nvSpPr>
          <p:cNvPr id="11" name="Text 9"/>
          <p:cNvSpPr/>
          <p:nvPr/>
        </p:nvSpPr>
        <p:spPr>
          <a:xfrm>
            <a:off x="1097280" y="4114800"/>
            <a:ext cx="2194560" cy="320040"/>
          </a:xfrm>
          <a:prstGeom prst="rect">
            <a:avLst/>
          </a:prstGeom>
          <a:noFill/>
          <a:ln/>
        </p:spPr>
        <p:txBody>
          <a:bodyPr wrap="square" lIns="0" tIns="0" rIns="0" bIns="0" rtlCol="0" anchor="ctr"/>
          <a:lstStyle/>
          <a:p>
            <a:pPr marL="0" indent="0" algn="ctr">
              <a:buNone/>
            </a:pPr>
            <a:r>
              <a:rPr lang="en-US" sz="1200" dirty="0">
                <a:solidFill>
                  <a:srgbClr val="AAB2BD"/>
                </a:solidFill>
                <a:latin typeface="Calibri" pitchFamily="34" charset="0"/>
                <a:ea typeface="Calibri" pitchFamily="34" charset="-122"/>
                <a:cs typeface="Calibri" pitchFamily="34" charset="-120"/>
              </a:rPr>
              <a:t>exit price</a:t>
            </a:r>
            <a:endParaRPr lang="en-US" sz="1200" dirty="0"/>
          </a:p>
        </p:txBody>
      </p:sp>
      <p:sp>
        <p:nvSpPr>
          <p:cNvPr id="12" name="Text 10"/>
          <p:cNvSpPr/>
          <p:nvPr/>
        </p:nvSpPr>
        <p:spPr>
          <a:xfrm>
            <a:off x="1097280" y="4480560"/>
            <a:ext cx="2194560" cy="594360"/>
          </a:xfrm>
          <a:prstGeom prst="rect">
            <a:avLst/>
          </a:prstGeom>
          <a:noFill/>
          <a:ln/>
        </p:spPr>
        <p:txBody>
          <a:bodyPr wrap="square" lIns="0" tIns="0" rIns="0" bIns="0" rtlCol="0" anchor="ctr"/>
          <a:lstStyle/>
          <a:p>
            <a:pPr marL="0" indent="0" algn="ctr">
              <a:buNone/>
            </a:pPr>
            <a:r>
              <a:rPr lang="en-US" sz="2000" b="1" dirty="0">
                <a:solidFill>
                  <a:srgbClr val="E7EBF0"/>
                </a:solidFill>
                <a:latin typeface="Consolas" pitchFamily="34" charset="0"/>
                <a:ea typeface="Consolas" pitchFamily="34" charset="-122"/>
                <a:cs typeface="Consolas" pitchFamily="34" charset="-120"/>
              </a:rPr>
              <a:t>+$0.20</a:t>
            </a:r>
            <a:endParaRPr lang="en-US" sz="2000" dirty="0"/>
          </a:p>
        </p:txBody>
      </p:sp>
      <p:sp>
        <p:nvSpPr>
          <p:cNvPr id="13" name="Text 11"/>
          <p:cNvSpPr/>
          <p:nvPr/>
        </p:nvSpPr>
        <p:spPr>
          <a:xfrm>
            <a:off x="3383280" y="3977640"/>
            <a:ext cx="210312" cy="1234440"/>
          </a:xfrm>
          <a:prstGeom prst="rect">
            <a:avLst/>
          </a:prstGeom>
          <a:noFill/>
          <a:ln/>
        </p:spPr>
        <p:txBody>
          <a:bodyPr wrap="square" lIns="0" tIns="0" rIns="0" bIns="0" rtlCol="0" anchor="ctr"/>
          <a:lstStyle/>
          <a:p>
            <a:pPr marL="0" indent="0" algn="ctr">
              <a:buNone/>
            </a:pPr>
            <a:r>
              <a:rPr lang="en-US" sz="1800" b="1" dirty="0">
                <a:solidFill>
                  <a:srgbClr val="737D8A"/>
                </a:solidFill>
                <a:latin typeface="Trebuchet MS" pitchFamily="34" charset="0"/>
                <a:ea typeface="Trebuchet MS" pitchFamily="34" charset="-122"/>
                <a:cs typeface="Trebuchet MS" pitchFamily="34" charset="-120"/>
              </a:rPr>
              <a:t>→</a:t>
            </a:r>
            <a:endParaRPr lang="en-US" sz="1800" dirty="0"/>
          </a:p>
        </p:txBody>
      </p:sp>
      <p:sp>
        <p:nvSpPr>
          <p:cNvPr id="14" name="panel">
            <a:extLst>
              <a:ext uri="{C183D7F6-B498-43B3-948B-1728B52AA6E4}">
                <adec:decorative xmlns:adec="http://schemas.microsoft.com/office/drawing/2017/decorative" val="1"/>
              </a:ext>
            </a:extLst>
          </p:cNvPr>
          <p:cNvSpPr/>
          <p:nvPr/>
        </p:nvSpPr>
        <p:spPr>
          <a:xfrm>
            <a:off x="3593592" y="3977640"/>
            <a:ext cx="2377440" cy="1234440"/>
          </a:xfrm>
          <a:prstGeom prst="roundRect">
            <a:avLst>
              <a:gd name="adj" fmla="val 6667"/>
            </a:avLst>
          </a:prstGeom>
          <a:solidFill>
            <a:srgbClr val="1F252D"/>
          </a:solidFill>
          <a:ln w="12700">
            <a:solidFill>
              <a:srgbClr val="343E4A"/>
            </a:solidFill>
            <a:prstDash val="solid"/>
          </a:ln>
        </p:spPr>
        <p:txBody>
          <a:bodyPr/>
          <a:lstStyle/>
          <a:p>
            <a:endParaRPr lang="en-SE"/>
          </a:p>
        </p:txBody>
      </p:sp>
      <p:sp>
        <p:nvSpPr>
          <p:cNvPr id="15" name="Text 13"/>
          <p:cNvSpPr/>
          <p:nvPr/>
        </p:nvSpPr>
        <p:spPr>
          <a:xfrm>
            <a:off x="3685032" y="4114800"/>
            <a:ext cx="2194560" cy="320040"/>
          </a:xfrm>
          <a:prstGeom prst="rect">
            <a:avLst/>
          </a:prstGeom>
          <a:noFill/>
          <a:ln/>
        </p:spPr>
        <p:txBody>
          <a:bodyPr wrap="square" lIns="0" tIns="0" rIns="0" bIns="0" rtlCol="0" anchor="ctr"/>
          <a:lstStyle/>
          <a:p>
            <a:pPr marL="0" indent="0" algn="ctr">
              <a:buNone/>
            </a:pPr>
            <a:r>
              <a:rPr lang="en-US" sz="1200" dirty="0">
                <a:solidFill>
                  <a:srgbClr val="AAB2BD"/>
                </a:solidFill>
                <a:latin typeface="Calibri" pitchFamily="34" charset="0"/>
                <a:ea typeface="Calibri" pitchFamily="34" charset="-122"/>
                <a:cs typeface="Calibri" pitchFamily="34" charset="-120"/>
              </a:rPr>
              <a:t>minus entry</a:t>
            </a:r>
            <a:endParaRPr lang="en-US" sz="1200" dirty="0"/>
          </a:p>
        </p:txBody>
      </p:sp>
      <p:sp>
        <p:nvSpPr>
          <p:cNvPr id="16" name="Text 14"/>
          <p:cNvSpPr/>
          <p:nvPr/>
        </p:nvSpPr>
        <p:spPr>
          <a:xfrm>
            <a:off x="3685032" y="4480560"/>
            <a:ext cx="2194560" cy="594360"/>
          </a:xfrm>
          <a:prstGeom prst="rect">
            <a:avLst/>
          </a:prstGeom>
          <a:noFill/>
          <a:ln/>
        </p:spPr>
        <p:txBody>
          <a:bodyPr wrap="square" lIns="0" tIns="0" rIns="0" bIns="0" rtlCol="0" anchor="ctr"/>
          <a:lstStyle/>
          <a:p>
            <a:pPr marL="0" indent="0" algn="ctr">
              <a:buNone/>
            </a:pPr>
            <a:r>
              <a:rPr lang="en-US" sz="2000" b="1" dirty="0">
                <a:solidFill>
                  <a:srgbClr val="E7EBF0"/>
                </a:solidFill>
                <a:latin typeface="Consolas" pitchFamily="34" charset="0"/>
                <a:ea typeface="Consolas" pitchFamily="34" charset="-122"/>
                <a:cs typeface="Consolas" pitchFamily="34" charset="-120"/>
              </a:rPr>
              <a:t>−(−0.50)</a:t>
            </a:r>
            <a:endParaRPr lang="en-US" sz="2000" dirty="0"/>
          </a:p>
        </p:txBody>
      </p:sp>
      <p:sp>
        <p:nvSpPr>
          <p:cNvPr id="17" name="Text 15"/>
          <p:cNvSpPr/>
          <p:nvPr/>
        </p:nvSpPr>
        <p:spPr>
          <a:xfrm>
            <a:off x="5971032" y="3977640"/>
            <a:ext cx="210312" cy="1234440"/>
          </a:xfrm>
          <a:prstGeom prst="rect">
            <a:avLst/>
          </a:prstGeom>
          <a:noFill/>
          <a:ln/>
        </p:spPr>
        <p:txBody>
          <a:bodyPr wrap="square" lIns="0" tIns="0" rIns="0" bIns="0" rtlCol="0" anchor="ctr"/>
          <a:lstStyle/>
          <a:p>
            <a:pPr marL="0" indent="0" algn="ctr">
              <a:buNone/>
            </a:pPr>
            <a:r>
              <a:rPr lang="en-US" sz="1800" b="1" dirty="0">
                <a:solidFill>
                  <a:srgbClr val="737D8A"/>
                </a:solidFill>
                <a:latin typeface="Trebuchet MS" pitchFamily="34" charset="0"/>
                <a:ea typeface="Trebuchet MS" pitchFamily="34" charset="-122"/>
                <a:cs typeface="Trebuchet MS" pitchFamily="34" charset="-120"/>
              </a:rPr>
              <a:t>→</a:t>
            </a:r>
            <a:endParaRPr lang="en-US" sz="1800" dirty="0"/>
          </a:p>
        </p:txBody>
      </p:sp>
      <p:sp>
        <p:nvSpPr>
          <p:cNvPr id="18" name="panel">
            <a:extLst>
              <a:ext uri="{C183D7F6-B498-43B3-948B-1728B52AA6E4}">
                <adec:decorative xmlns:adec="http://schemas.microsoft.com/office/drawing/2017/decorative" val="1"/>
              </a:ext>
            </a:extLst>
          </p:cNvPr>
          <p:cNvSpPr/>
          <p:nvPr/>
        </p:nvSpPr>
        <p:spPr>
          <a:xfrm>
            <a:off x="6181344" y="3977640"/>
            <a:ext cx="2377440" cy="1234440"/>
          </a:xfrm>
          <a:prstGeom prst="roundRect">
            <a:avLst>
              <a:gd name="adj" fmla="val 6667"/>
            </a:avLst>
          </a:prstGeom>
          <a:solidFill>
            <a:srgbClr val="1F252D"/>
          </a:solidFill>
          <a:ln w="12700">
            <a:solidFill>
              <a:srgbClr val="343E4A"/>
            </a:solidFill>
            <a:prstDash val="solid"/>
          </a:ln>
        </p:spPr>
        <p:txBody>
          <a:bodyPr/>
          <a:lstStyle/>
          <a:p>
            <a:endParaRPr lang="en-SE"/>
          </a:p>
        </p:txBody>
      </p:sp>
      <p:sp>
        <p:nvSpPr>
          <p:cNvPr id="19" name="Text 17"/>
          <p:cNvSpPr/>
          <p:nvPr/>
        </p:nvSpPr>
        <p:spPr>
          <a:xfrm>
            <a:off x="6272784" y="4114800"/>
            <a:ext cx="2194560" cy="320040"/>
          </a:xfrm>
          <a:prstGeom prst="rect">
            <a:avLst/>
          </a:prstGeom>
          <a:noFill/>
          <a:ln/>
        </p:spPr>
        <p:txBody>
          <a:bodyPr wrap="square" lIns="0" tIns="0" rIns="0" bIns="0" rtlCol="0" anchor="ctr"/>
          <a:lstStyle/>
          <a:p>
            <a:pPr marL="0" indent="0" algn="ctr">
              <a:buNone/>
            </a:pPr>
            <a:r>
              <a:rPr lang="en-US" sz="1200" dirty="0">
                <a:solidFill>
                  <a:srgbClr val="AAB2BD"/>
                </a:solidFill>
                <a:latin typeface="Calibri" pitchFamily="34" charset="0"/>
                <a:ea typeface="Calibri" pitchFamily="34" charset="-122"/>
                <a:cs typeface="Calibri" pitchFamily="34" charset="-120"/>
              </a:rPr>
              <a:t>= move</a:t>
            </a:r>
            <a:endParaRPr lang="en-US" sz="1200" dirty="0"/>
          </a:p>
        </p:txBody>
      </p:sp>
      <p:sp>
        <p:nvSpPr>
          <p:cNvPr id="20" name="Text 18"/>
          <p:cNvSpPr/>
          <p:nvPr/>
        </p:nvSpPr>
        <p:spPr>
          <a:xfrm>
            <a:off x="6272784" y="4480560"/>
            <a:ext cx="2194560" cy="594360"/>
          </a:xfrm>
          <a:prstGeom prst="rect">
            <a:avLst/>
          </a:prstGeom>
          <a:noFill/>
          <a:ln/>
        </p:spPr>
        <p:txBody>
          <a:bodyPr wrap="square" lIns="0" tIns="0" rIns="0" bIns="0" rtlCol="0" anchor="ctr"/>
          <a:lstStyle/>
          <a:p>
            <a:pPr marL="0" indent="0" algn="ctr">
              <a:buNone/>
            </a:pPr>
            <a:r>
              <a:rPr lang="en-US" sz="2000" b="1" dirty="0">
                <a:solidFill>
                  <a:srgbClr val="E7EBF0"/>
                </a:solidFill>
                <a:latin typeface="Consolas" pitchFamily="34" charset="0"/>
                <a:ea typeface="Consolas" pitchFamily="34" charset="-122"/>
                <a:cs typeface="Consolas" pitchFamily="34" charset="-120"/>
              </a:rPr>
              <a:t>+$0.70</a:t>
            </a:r>
            <a:endParaRPr lang="en-US" sz="2000" dirty="0"/>
          </a:p>
        </p:txBody>
      </p:sp>
      <p:sp>
        <p:nvSpPr>
          <p:cNvPr id="21" name="Text 19"/>
          <p:cNvSpPr/>
          <p:nvPr/>
        </p:nvSpPr>
        <p:spPr>
          <a:xfrm>
            <a:off x="8558784" y="3977640"/>
            <a:ext cx="210312" cy="1234440"/>
          </a:xfrm>
          <a:prstGeom prst="rect">
            <a:avLst/>
          </a:prstGeom>
          <a:noFill/>
          <a:ln/>
        </p:spPr>
        <p:txBody>
          <a:bodyPr wrap="square" lIns="0" tIns="0" rIns="0" bIns="0" rtlCol="0" anchor="ctr"/>
          <a:lstStyle/>
          <a:p>
            <a:pPr marL="0" indent="0" algn="ctr">
              <a:buNone/>
            </a:pPr>
            <a:r>
              <a:rPr lang="en-US" sz="1800" b="1" dirty="0">
                <a:solidFill>
                  <a:srgbClr val="737D8A"/>
                </a:solidFill>
                <a:latin typeface="Trebuchet MS" pitchFamily="34" charset="0"/>
                <a:ea typeface="Trebuchet MS" pitchFamily="34" charset="-122"/>
                <a:cs typeface="Trebuchet MS" pitchFamily="34" charset="-120"/>
              </a:rPr>
              <a:t>→</a:t>
            </a:r>
            <a:endParaRPr lang="en-US" sz="1800" dirty="0"/>
          </a:p>
        </p:txBody>
      </p:sp>
      <p:sp>
        <p:nvSpPr>
          <p:cNvPr id="22" name="panel">
            <a:extLst>
              <a:ext uri="{C183D7F6-B498-43B3-948B-1728B52AA6E4}">
                <adec:decorative xmlns:adec="http://schemas.microsoft.com/office/drawing/2017/decorative" val="1"/>
              </a:ext>
            </a:extLst>
          </p:cNvPr>
          <p:cNvSpPr/>
          <p:nvPr/>
        </p:nvSpPr>
        <p:spPr>
          <a:xfrm>
            <a:off x="8769096" y="3977640"/>
            <a:ext cx="2377440" cy="1234440"/>
          </a:xfrm>
          <a:prstGeom prst="roundRect">
            <a:avLst>
              <a:gd name="adj" fmla="val 6667"/>
            </a:avLst>
          </a:prstGeom>
          <a:solidFill>
            <a:srgbClr val="1F252D"/>
          </a:solidFill>
          <a:ln w="12700">
            <a:solidFill>
              <a:srgbClr val="34D399"/>
            </a:solidFill>
            <a:prstDash val="solid"/>
          </a:ln>
          <a:effectLst>
            <a:outerShdw blurRad="127000" dist="38100" dir="5400000" algn="bl" rotWithShape="0">
              <a:srgbClr val="000000">
                <a:alpha val="35000"/>
              </a:srgbClr>
            </a:outerShdw>
          </a:effectLst>
        </p:spPr>
        <p:txBody>
          <a:bodyPr/>
          <a:lstStyle/>
          <a:p>
            <a:endParaRPr lang="en-SE"/>
          </a:p>
        </p:txBody>
      </p:sp>
      <p:sp>
        <p:nvSpPr>
          <p:cNvPr id="23" name="Text 21"/>
          <p:cNvSpPr/>
          <p:nvPr/>
        </p:nvSpPr>
        <p:spPr>
          <a:xfrm>
            <a:off x="8860536" y="4114800"/>
            <a:ext cx="2194560" cy="320040"/>
          </a:xfrm>
          <a:prstGeom prst="rect">
            <a:avLst/>
          </a:prstGeom>
          <a:noFill/>
          <a:ln/>
        </p:spPr>
        <p:txBody>
          <a:bodyPr wrap="square" lIns="0" tIns="0" rIns="0" bIns="0" rtlCol="0" anchor="ctr"/>
          <a:lstStyle/>
          <a:p>
            <a:pPr marL="0" indent="0" algn="ctr">
              <a:buNone/>
            </a:pPr>
            <a:r>
              <a:rPr lang="en-US" sz="1200" dirty="0">
                <a:solidFill>
                  <a:srgbClr val="AAB2BD"/>
                </a:solidFill>
                <a:latin typeface="Calibri" pitchFamily="34" charset="0"/>
                <a:ea typeface="Calibri" pitchFamily="34" charset="-122"/>
                <a:cs typeface="Calibri" pitchFamily="34" charset="-120"/>
              </a:rPr>
              <a:t>× 1,000 bbl</a:t>
            </a:r>
            <a:endParaRPr lang="en-US" sz="1200" dirty="0"/>
          </a:p>
        </p:txBody>
      </p:sp>
      <p:sp>
        <p:nvSpPr>
          <p:cNvPr id="24" name="Text 22"/>
          <p:cNvSpPr/>
          <p:nvPr/>
        </p:nvSpPr>
        <p:spPr>
          <a:xfrm>
            <a:off x="8860536" y="4480560"/>
            <a:ext cx="2194560" cy="594360"/>
          </a:xfrm>
          <a:prstGeom prst="rect">
            <a:avLst/>
          </a:prstGeom>
          <a:noFill/>
          <a:ln/>
        </p:spPr>
        <p:txBody>
          <a:bodyPr wrap="square" lIns="0" tIns="0" rIns="0" bIns="0" rtlCol="0" anchor="ctr"/>
          <a:lstStyle/>
          <a:p>
            <a:pPr marL="0" indent="0" algn="ctr">
              <a:buNone/>
            </a:pPr>
            <a:r>
              <a:rPr lang="en-US" sz="2000" b="1" dirty="0">
                <a:solidFill>
                  <a:srgbClr val="34D399"/>
                </a:solidFill>
                <a:latin typeface="Consolas" pitchFamily="34" charset="0"/>
                <a:ea typeface="Consolas" pitchFamily="34" charset="-122"/>
                <a:cs typeface="Consolas" pitchFamily="34" charset="-120"/>
              </a:rPr>
              <a:t>+$700</a:t>
            </a:r>
            <a:endParaRPr lang="en-US" sz="2000" dirty="0"/>
          </a:p>
        </p:txBody>
      </p:sp>
      <p:sp>
        <p:nvSpPr>
          <p:cNvPr id="25"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6"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7" name="Text 25"/>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Subtracting a negative entry adds it back — that's why the gap is a full $0.70, and the profit is $700.</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The physical money, from start to finish">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physical money, from start to finish</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05 · THE PROFIT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45</a:t>
            </a:r>
            <a:endParaRPr lang="en-US" sz="1000" dirty="0"/>
          </a:p>
        </p:txBody>
      </p:sp>
      <p:sp>
        <p:nvSpPr>
          <p:cNvPr id="7" name="Text 5"/>
          <p:cNvSpPr/>
          <p:nvPr/>
        </p:nvSpPr>
        <p:spPr>
          <a:xfrm>
            <a:off x="640080" y="1371600"/>
            <a:ext cx="10881360" cy="502920"/>
          </a:xfrm>
          <a:prstGeom prst="rect">
            <a:avLst/>
          </a:prstGeom>
          <a:noFill/>
          <a:ln/>
        </p:spPr>
        <p:txBody>
          <a:bodyPr wrap="square" lIns="0" tIns="0" rIns="0" bIns="0" rtlCol="0" anchor="ctr"/>
          <a:lstStyle/>
          <a:p>
            <a:pPr marL="0" indent="0">
              <a:buNone/>
            </a:pPr>
            <a:r>
              <a:rPr lang="en-US" sz="1500" dirty="0">
                <a:solidFill>
                  <a:srgbClr val="AAB2BD"/>
                </a:solidFill>
                <a:latin typeface="Calibri" pitchFamily="34" charset="0"/>
                <a:ea typeface="Calibri" pitchFamily="34" charset="-122"/>
                <a:cs typeface="Calibri" pitchFamily="34" charset="-120"/>
              </a:rPr>
              <a:t>Here is the complete cash trail through your account — nothing hidden, every figure adds up.</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057400"/>
            <a:ext cx="10908792" cy="411480"/>
          </a:xfrm>
          <a:prstGeom prst="roundRect">
            <a:avLst>
              <a:gd name="adj" fmla="val 20000"/>
            </a:avLst>
          </a:prstGeom>
          <a:solidFill>
            <a:srgbClr val="262E38"/>
          </a:solidFill>
          <a:ln/>
        </p:spPr>
        <p:txBody>
          <a:bodyPr/>
          <a:lstStyle/>
          <a:p>
            <a:endParaRPr lang="en-SE"/>
          </a:p>
        </p:txBody>
      </p:sp>
      <p:sp>
        <p:nvSpPr>
          <p:cNvPr id="9" name="Text 7"/>
          <p:cNvSpPr/>
          <p:nvPr/>
        </p:nvSpPr>
        <p:spPr>
          <a:xfrm>
            <a:off x="822960" y="2057400"/>
            <a:ext cx="1645920" cy="411480"/>
          </a:xfrm>
          <a:prstGeom prst="rect">
            <a:avLst/>
          </a:prstGeom>
          <a:noFill/>
          <a:ln/>
        </p:spPr>
        <p:txBody>
          <a:bodyPr wrap="square" lIns="0" tIns="0" rIns="0" bIns="0" rtlCol="0" anchor="ctr"/>
          <a:lstStyle/>
          <a:p>
            <a:pPr marL="0" indent="0" algn="l">
              <a:buNone/>
            </a:pPr>
            <a:r>
              <a:rPr lang="en-US" sz="1100" b="1" kern="0" spc="100" dirty="0">
                <a:solidFill>
                  <a:srgbClr val="737D8A"/>
                </a:solidFill>
                <a:latin typeface="Trebuchet MS" pitchFamily="34" charset="0"/>
                <a:ea typeface="Trebuchet MS" pitchFamily="34" charset="-122"/>
                <a:cs typeface="Trebuchet MS" pitchFamily="34" charset="-120"/>
              </a:rPr>
              <a:t>WHEN</a:t>
            </a:r>
            <a:endParaRPr lang="en-US" sz="1100" dirty="0"/>
          </a:p>
        </p:txBody>
      </p:sp>
      <p:sp>
        <p:nvSpPr>
          <p:cNvPr id="10" name="Text 8"/>
          <p:cNvSpPr/>
          <p:nvPr/>
        </p:nvSpPr>
        <p:spPr>
          <a:xfrm>
            <a:off x="2468880" y="2057400"/>
            <a:ext cx="5029200" cy="411480"/>
          </a:xfrm>
          <a:prstGeom prst="rect">
            <a:avLst/>
          </a:prstGeom>
          <a:noFill/>
          <a:ln/>
        </p:spPr>
        <p:txBody>
          <a:bodyPr wrap="square" lIns="0" tIns="0" rIns="0" bIns="0" rtlCol="0" anchor="ctr"/>
          <a:lstStyle/>
          <a:p>
            <a:pPr marL="0" indent="0" algn="l">
              <a:buNone/>
            </a:pPr>
            <a:r>
              <a:rPr lang="en-US" sz="1100" b="1" kern="0" spc="100" dirty="0">
                <a:solidFill>
                  <a:srgbClr val="737D8A"/>
                </a:solidFill>
                <a:latin typeface="Trebuchet MS" pitchFamily="34" charset="0"/>
                <a:ea typeface="Trebuchet MS" pitchFamily="34" charset="-122"/>
                <a:cs typeface="Trebuchet MS" pitchFamily="34" charset="-120"/>
              </a:rPr>
              <a:t>WHAT HAPPENS</a:t>
            </a:r>
            <a:endParaRPr lang="en-US" sz="1100" dirty="0"/>
          </a:p>
        </p:txBody>
      </p:sp>
      <p:sp>
        <p:nvSpPr>
          <p:cNvPr id="11" name="Text 9"/>
          <p:cNvSpPr/>
          <p:nvPr/>
        </p:nvSpPr>
        <p:spPr>
          <a:xfrm>
            <a:off x="7589520" y="2057400"/>
            <a:ext cx="1828800" cy="411480"/>
          </a:xfrm>
          <a:prstGeom prst="rect">
            <a:avLst/>
          </a:prstGeom>
          <a:noFill/>
          <a:ln/>
        </p:spPr>
        <p:txBody>
          <a:bodyPr wrap="square" lIns="0" tIns="0" rIns="0" bIns="0" rtlCol="0" anchor="ctr"/>
          <a:lstStyle/>
          <a:p>
            <a:pPr marL="0" indent="0" algn="r">
              <a:buNone/>
            </a:pPr>
            <a:r>
              <a:rPr lang="en-US" sz="1100" b="1" kern="0" spc="100" dirty="0">
                <a:solidFill>
                  <a:srgbClr val="737D8A"/>
                </a:solidFill>
                <a:latin typeface="Trebuchet MS" pitchFamily="34" charset="0"/>
                <a:ea typeface="Trebuchet MS" pitchFamily="34" charset="-122"/>
                <a:cs typeface="Trebuchet MS" pitchFamily="34" charset="-120"/>
              </a:rPr>
              <a:t>CASH</a:t>
            </a:r>
            <a:endParaRPr lang="en-US" sz="1100" dirty="0"/>
          </a:p>
        </p:txBody>
      </p:sp>
      <p:sp>
        <p:nvSpPr>
          <p:cNvPr id="12" name="Text 10"/>
          <p:cNvSpPr/>
          <p:nvPr/>
        </p:nvSpPr>
        <p:spPr>
          <a:xfrm>
            <a:off x="9509760" y="2057400"/>
            <a:ext cx="1828800" cy="411480"/>
          </a:xfrm>
          <a:prstGeom prst="rect">
            <a:avLst/>
          </a:prstGeom>
          <a:noFill/>
          <a:ln/>
        </p:spPr>
        <p:txBody>
          <a:bodyPr wrap="square" lIns="0" tIns="0" rIns="0" bIns="0" rtlCol="0" anchor="ctr"/>
          <a:lstStyle/>
          <a:p>
            <a:pPr marL="0" indent="0" algn="l">
              <a:buNone/>
            </a:pPr>
            <a:r>
              <a:rPr lang="en-US" sz="1100" b="1" kern="0" spc="100" dirty="0">
                <a:solidFill>
                  <a:srgbClr val="737D8A"/>
                </a:solidFill>
                <a:latin typeface="Trebuchet MS" pitchFamily="34" charset="0"/>
                <a:ea typeface="Trebuchet MS" pitchFamily="34" charset="-122"/>
                <a:cs typeface="Trebuchet MS" pitchFamily="34" charset="-120"/>
              </a:rPr>
              <a:t>NOTE</a:t>
            </a:r>
            <a:endParaRPr lang="en-US" sz="1100" dirty="0"/>
          </a:p>
        </p:txBody>
      </p:sp>
      <p:sp>
        <p:nvSpPr>
          <p:cNvPr id="13" name="panel">
            <a:extLst>
              <a:ext uri="{C183D7F6-B498-43B3-948B-1728B52AA6E4}">
                <adec:decorative xmlns:adec="http://schemas.microsoft.com/office/drawing/2017/decorative" val="1"/>
              </a:ext>
            </a:extLst>
          </p:cNvPr>
          <p:cNvSpPr/>
          <p:nvPr/>
        </p:nvSpPr>
        <p:spPr>
          <a:xfrm>
            <a:off x="640080" y="2514600"/>
            <a:ext cx="10908792" cy="475488"/>
          </a:xfrm>
          <a:prstGeom prst="roundRect">
            <a:avLst>
              <a:gd name="adj" fmla="val 17308"/>
            </a:avLst>
          </a:prstGeom>
          <a:solidFill>
            <a:srgbClr val="1F252D"/>
          </a:solidFill>
          <a:ln/>
        </p:spPr>
        <p:txBody>
          <a:bodyPr/>
          <a:lstStyle/>
          <a:p>
            <a:endParaRPr lang="en-SE"/>
          </a:p>
        </p:txBody>
      </p:sp>
      <p:sp>
        <p:nvSpPr>
          <p:cNvPr id="14" name="Text 12"/>
          <p:cNvSpPr/>
          <p:nvPr/>
        </p:nvSpPr>
        <p:spPr>
          <a:xfrm>
            <a:off x="822960" y="2514600"/>
            <a:ext cx="1645920" cy="475488"/>
          </a:xfrm>
          <a:prstGeom prst="rect">
            <a:avLst/>
          </a:prstGeom>
          <a:noFill/>
          <a:ln/>
        </p:spPr>
        <p:txBody>
          <a:bodyPr wrap="square" lIns="0" tIns="0" rIns="0" bIns="0" rtlCol="0" anchor="ctr"/>
          <a:lstStyle/>
          <a:p>
            <a:pPr marL="0" indent="0">
              <a:buNone/>
            </a:pPr>
            <a:r>
              <a:rPr lang="en-US" sz="1300" b="1" dirty="0">
                <a:solidFill>
                  <a:srgbClr val="E7EBF0"/>
                </a:solidFill>
                <a:latin typeface="Trebuchet MS" pitchFamily="34" charset="0"/>
                <a:ea typeface="Trebuchet MS" pitchFamily="34" charset="-122"/>
                <a:cs typeface="Trebuchet MS" pitchFamily="34" charset="-120"/>
              </a:rPr>
              <a:t>At entry</a:t>
            </a:r>
            <a:endParaRPr lang="en-US" sz="1300" dirty="0"/>
          </a:p>
        </p:txBody>
      </p:sp>
      <p:sp>
        <p:nvSpPr>
          <p:cNvPr id="15" name="Text 13"/>
          <p:cNvSpPr/>
          <p:nvPr/>
        </p:nvSpPr>
        <p:spPr>
          <a:xfrm>
            <a:off x="2468880" y="2514600"/>
            <a:ext cx="5029200" cy="475488"/>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Post initial margin (reserved, not spent)</a:t>
            </a:r>
            <a:endParaRPr lang="en-US" sz="1300" dirty="0"/>
          </a:p>
        </p:txBody>
      </p:sp>
      <p:sp>
        <p:nvSpPr>
          <p:cNvPr id="16" name="Text 14"/>
          <p:cNvSpPr/>
          <p:nvPr/>
        </p:nvSpPr>
        <p:spPr>
          <a:xfrm>
            <a:off x="7589520" y="2514600"/>
            <a:ext cx="1828800" cy="475488"/>
          </a:xfrm>
          <a:prstGeom prst="rect">
            <a:avLst/>
          </a:prstGeom>
          <a:noFill/>
          <a:ln/>
        </p:spPr>
        <p:txBody>
          <a:bodyPr wrap="square" lIns="0" tIns="0" rIns="0" bIns="0" rtlCol="0" anchor="ctr"/>
          <a:lstStyle/>
          <a:p>
            <a:pPr marL="0" indent="0" algn="r">
              <a:buNone/>
            </a:pPr>
            <a:r>
              <a:rPr lang="en-US" sz="1500" b="1" dirty="0">
                <a:solidFill>
                  <a:srgbClr val="F5B759"/>
                </a:solidFill>
                <a:latin typeface="Consolas" pitchFamily="34" charset="0"/>
                <a:ea typeface="Consolas" pitchFamily="34" charset="-122"/>
                <a:cs typeface="Consolas" pitchFamily="34" charset="-120"/>
              </a:rPr>
              <a:t>−$1,000</a:t>
            </a:r>
            <a:endParaRPr lang="en-US" sz="1500" dirty="0"/>
          </a:p>
        </p:txBody>
      </p:sp>
      <p:sp>
        <p:nvSpPr>
          <p:cNvPr id="17" name="Text 15"/>
          <p:cNvSpPr/>
          <p:nvPr/>
        </p:nvSpPr>
        <p:spPr>
          <a:xfrm>
            <a:off x="9509760" y="2514600"/>
            <a:ext cx="1828800" cy="475488"/>
          </a:xfrm>
          <a:prstGeom prst="rect">
            <a:avLst/>
          </a:prstGeom>
          <a:noFill/>
          <a:ln/>
        </p:spPr>
        <p:txBody>
          <a:bodyPr wrap="square" lIns="0" tIns="0" rIns="0" bIns="0" rtlCol="0" anchor="ctr"/>
          <a:lstStyle/>
          <a:p>
            <a:pPr marL="0" indent="0">
              <a:buNone/>
            </a:pPr>
            <a:r>
              <a:rPr lang="en-US" sz="1150" i="1" dirty="0">
                <a:solidFill>
                  <a:srgbClr val="737D8A"/>
                </a:solidFill>
                <a:latin typeface="Calibri" pitchFamily="34" charset="0"/>
                <a:ea typeface="Calibri" pitchFamily="34" charset="-122"/>
                <a:cs typeface="Calibri" pitchFamily="34" charset="-120"/>
              </a:rPr>
              <a:t>held</a:t>
            </a:r>
            <a:endParaRPr lang="en-US" sz="1150" dirty="0"/>
          </a:p>
        </p:txBody>
      </p:sp>
      <p:sp>
        <p:nvSpPr>
          <p:cNvPr id="18" name="panel">
            <a:extLst>
              <a:ext uri="{C183D7F6-B498-43B3-948B-1728B52AA6E4}">
                <adec:decorative xmlns:adec="http://schemas.microsoft.com/office/drawing/2017/decorative" val="1"/>
              </a:ext>
            </a:extLst>
          </p:cNvPr>
          <p:cNvSpPr/>
          <p:nvPr/>
        </p:nvSpPr>
        <p:spPr>
          <a:xfrm>
            <a:off x="640080" y="3026664"/>
            <a:ext cx="10908792" cy="475488"/>
          </a:xfrm>
          <a:prstGeom prst="roundRect">
            <a:avLst>
              <a:gd name="adj" fmla="val 17308"/>
            </a:avLst>
          </a:prstGeom>
          <a:solidFill>
            <a:srgbClr val="191D23"/>
          </a:solidFill>
          <a:ln/>
        </p:spPr>
        <p:txBody>
          <a:bodyPr/>
          <a:lstStyle/>
          <a:p>
            <a:endParaRPr lang="en-SE"/>
          </a:p>
        </p:txBody>
      </p:sp>
      <p:sp>
        <p:nvSpPr>
          <p:cNvPr id="19" name="Text 17"/>
          <p:cNvSpPr/>
          <p:nvPr/>
        </p:nvSpPr>
        <p:spPr>
          <a:xfrm>
            <a:off x="822960" y="3026664"/>
            <a:ext cx="1645920" cy="475488"/>
          </a:xfrm>
          <a:prstGeom prst="rect">
            <a:avLst/>
          </a:prstGeom>
          <a:noFill/>
          <a:ln/>
        </p:spPr>
        <p:txBody>
          <a:bodyPr wrap="square" lIns="0" tIns="0" rIns="0" bIns="0" rtlCol="0" anchor="ctr"/>
          <a:lstStyle/>
          <a:p>
            <a:pPr marL="0" indent="0">
              <a:buNone/>
            </a:pPr>
            <a:r>
              <a:rPr lang="en-US" sz="1300" b="1" dirty="0">
                <a:solidFill>
                  <a:srgbClr val="E7EBF0"/>
                </a:solidFill>
                <a:latin typeface="Trebuchet MS" pitchFamily="34" charset="0"/>
                <a:ea typeface="Trebuchet MS" pitchFamily="34" charset="-122"/>
                <a:cs typeface="Trebuchet MS" pitchFamily="34" charset="-120"/>
              </a:rPr>
              <a:t>Day 1</a:t>
            </a:r>
            <a:endParaRPr lang="en-US" sz="1300" dirty="0"/>
          </a:p>
        </p:txBody>
      </p:sp>
      <p:sp>
        <p:nvSpPr>
          <p:cNvPr id="20" name="Text 18"/>
          <p:cNvSpPr/>
          <p:nvPr/>
        </p:nvSpPr>
        <p:spPr>
          <a:xfrm>
            <a:off x="2468880" y="3026664"/>
            <a:ext cx="5029200" cy="475488"/>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Variation margin credited</a:t>
            </a:r>
            <a:endParaRPr lang="en-US" sz="1300" dirty="0"/>
          </a:p>
        </p:txBody>
      </p:sp>
      <p:sp>
        <p:nvSpPr>
          <p:cNvPr id="21" name="Text 19"/>
          <p:cNvSpPr/>
          <p:nvPr/>
        </p:nvSpPr>
        <p:spPr>
          <a:xfrm>
            <a:off x="7589520" y="3026664"/>
            <a:ext cx="1828800" cy="475488"/>
          </a:xfrm>
          <a:prstGeom prst="rect">
            <a:avLst/>
          </a:prstGeom>
          <a:noFill/>
          <a:ln/>
        </p:spPr>
        <p:txBody>
          <a:bodyPr wrap="square" lIns="0" tIns="0" rIns="0" bIns="0" rtlCol="0" anchor="ctr"/>
          <a:lstStyle/>
          <a:p>
            <a:pPr marL="0" indent="0" algn="r">
              <a:buNone/>
            </a:pPr>
            <a:r>
              <a:rPr lang="en-US" sz="1500" b="1" dirty="0">
                <a:solidFill>
                  <a:srgbClr val="34D399"/>
                </a:solidFill>
                <a:latin typeface="Consolas" pitchFamily="34" charset="0"/>
                <a:ea typeface="Consolas" pitchFamily="34" charset="-122"/>
                <a:cs typeface="Consolas" pitchFamily="34" charset="-120"/>
              </a:rPr>
              <a:t>+$200</a:t>
            </a:r>
            <a:endParaRPr lang="en-US" sz="1500" dirty="0"/>
          </a:p>
        </p:txBody>
      </p:sp>
      <p:sp>
        <p:nvSpPr>
          <p:cNvPr id="22" name="Text 20"/>
          <p:cNvSpPr/>
          <p:nvPr/>
        </p:nvSpPr>
        <p:spPr>
          <a:xfrm>
            <a:off x="9509760" y="3026664"/>
            <a:ext cx="1828800" cy="475488"/>
          </a:xfrm>
          <a:prstGeom prst="rect">
            <a:avLst/>
          </a:prstGeom>
          <a:noFill/>
          <a:ln/>
        </p:spPr>
        <p:txBody>
          <a:bodyPr wrap="square" lIns="0" tIns="0" rIns="0" bIns="0" rtlCol="0" anchor="ctr"/>
          <a:lstStyle/>
          <a:p>
            <a:pPr marL="0" indent="0">
              <a:buNone/>
            </a:pPr>
            <a:r>
              <a:rPr lang="en-US" sz="1150" i="1" dirty="0">
                <a:solidFill>
                  <a:srgbClr val="737D8A"/>
                </a:solidFill>
                <a:latin typeface="Calibri" pitchFamily="34" charset="0"/>
                <a:ea typeface="Calibri" pitchFamily="34" charset="-122"/>
                <a:cs typeface="Calibri" pitchFamily="34" charset="-120"/>
              </a:rPr>
              <a:t>cash in</a:t>
            </a:r>
            <a:endParaRPr lang="en-US" sz="1150" dirty="0"/>
          </a:p>
        </p:txBody>
      </p:sp>
      <p:sp>
        <p:nvSpPr>
          <p:cNvPr id="23" name="panel">
            <a:extLst>
              <a:ext uri="{C183D7F6-B498-43B3-948B-1728B52AA6E4}">
                <adec:decorative xmlns:adec="http://schemas.microsoft.com/office/drawing/2017/decorative" val="1"/>
              </a:ext>
            </a:extLst>
          </p:cNvPr>
          <p:cNvSpPr/>
          <p:nvPr/>
        </p:nvSpPr>
        <p:spPr>
          <a:xfrm>
            <a:off x="640080" y="3538728"/>
            <a:ext cx="10908792" cy="475488"/>
          </a:xfrm>
          <a:prstGeom prst="roundRect">
            <a:avLst>
              <a:gd name="adj" fmla="val 17308"/>
            </a:avLst>
          </a:prstGeom>
          <a:solidFill>
            <a:srgbClr val="1F252D"/>
          </a:solidFill>
          <a:ln/>
        </p:spPr>
        <p:txBody>
          <a:bodyPr/>
          <a:lstStyle/>
          <a:p>
            <a:endParaRPr lang="en-SE"/>
          </a:p>
        </p:txBody>
      </p:sp>
      <p:sp>
        <p:nvSpPr>
          <p:cNvPr id="24" name="Text 22"/>
          <p:cNvSpPr/>
          <p:nvPr/>
        </p:nvSpPr>
        <p:spPr>
          <a:xfrm>
            <a:off x="822960" y="3538728"/>
            <a:ext cx="1645920" cy="475488"/>
          </a:xfrm>
          <a:prstGeom prst="rect">
            <a:avLst/>
          </a:prstGeom>
          <a:noFill/>
          <a:ln/>
        </p:spPr>
        <p:txBody>
          <a:bodyPr wrap="square" lIns="0" tIns="0" rIns="0" bIns="0" rtlCol="0" anchor="ctr"/>
          <a:lstStyle/>
          <a:p>
            <a:pPr marL="0" indent="0">
              <a:buNone/>
            </a:pPr>
            <a:r>
              <a:rPr lang="en-US" sz="1300" b="1" dirty="0">
                <a:solidFill>
                  <a:srgbClr val="E7EBF0"/>
                </a:solidFill>
                <a:latin typeface="Trebuchet MS" pitchFamily="34" charset="0"/>
                <a:ea typeface="Trebuchet MS" pitchFamily="34" charset="-122"/>
                <a:cs typeface="Trebuchet MS" pitchFamily="34" charset="-120"/>
              </a:rPr>
              <a:t>Day 2</a:t>
            </a:r>
            <a:endParaRPr lang="en-US" sz="1300" dirty="0"/>
          </a:p>
        </p:txBody>
      </p:sp>
      <p:sp>
        <p:nvSpPr>
          <p:cNvPr id="25" name="Text 23"/>
          <p:cNvSpPr/>
          <p:nvPr/>
        </p:nvSpPr>
        <p:spPr>
          <a:xfrm>
            <a:off x="2468880" y="3538728"/>
            <a:ext cx="5029200" cy="475488"/>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Variation margin credited</a:t>
            </a:r>
            <a:endParaRPr lang="en-US" sz="1300" dirty="0"/>
          </a:p>
        </p:txBody>
      </p:sp>
      <p:sp>
        <p:nvSpPr>
          <p:cNvPr id="26" name="Text 24"/>
          <p:cNvSpPr/>
          <p:nvPr/>
        </p:nvSpPr>
        <p:spPr>
          <a:xfrm>
            <a:off x="7589520" y="3538728"/>
            <a:ext cx="1828800" cy="475488"/>
          </a:xfrm>
          <a:prstGeom prst="rect">
            <a:avLst/>
          </a:prstGeom>
          <a:noFill/>
          <a:ln/>
        </p:spPr>
        <p:txBody>
          <a:bodyPr wrap="square" lIns="0" tIns="0" rIns="0" bIns="0" rtlCol="0" anchor="ctr"/>
          <a:lstStyle/>
          <a:p>
            <a:pPr marL="0" indent="0" algn="r">
              <a:buNone/>
            </a:pPr>
            <a:r>
              <a:rPr lang="en-US" sz="1500" b="1" dirty="0">
                <a:solidFill>
                  <a:srgbClr val="34D399"/>
                </a:solidFill>
                <a:latin typeface="Consolas" pitchFamily="34" charset="0"/>
                <a:ea typeface="Consolas" pitchFamily="34" charset="-122"/>
                <a:cs typeface="Consolas" pitchFamily="34" charset="-120"/>
              </a:rPr>
              <a:t>+$300</a:t>
            </a:r>
            <a:endParaRPr lang="en-US" sz="1500" dirty="0"/>
          </a:p>
        </p:txBody>
      </p:sp>
      <p:sp>
        <p:nvSpPr>
          <p:cNvPr id="27" name="Text 25"/>
          <p:cNvSpPr/>
          <p:nvPr/>
        </p:nvSpPr>
        <p:spPr>
          <a:xfrm>
            <a:off x="9509760" y="3538728"/>
            <a:ext cx="1828800" cy="475488"/>
          </a:xfrm>
          <a:prstGeom prst="rect">
            <a:avLst/>
          </a:prstGeom>
          <a:noFill/>
          <a:ln/>
        </p:spPr>
        <p:txBody>
          <a:bodyPr wrap="square" lIns="0" tIns="0" rIns="0" bIns="0" rtlCol="0" anchor="ctr"/>
          <a:lstStyle/>
          <a:p>
            <a:pPr marL="0" indent="0">
              <a:buNone/>
            </a:pPr>
            <a:r>
              <a:rPr lang="en-US" sz="1150" i="1" dirty="0">
                <a:solidFill>
                  <a:srgbClr val="737D8A"/>
                </a:solidFill>
                <a:latin typeface="Calibri" pitchFamily="34" charset="0"/>
                <a:ea typeface="Calibri" pitchFamily="34" charset="-122"/>
                <a:cs typeface="Calibri" pitchFamily="34" charset="-120"/>
              </a:rPr>
              <a:t>cash in</a:t>
            </a:r>
            <a:endParaRPr lang="en-US" sz="1150" dirty="0"/>
          </a:p>
        </p:txBody>
      </p:sp>
      <p:sp>
        <p:nvSpPr>
          <p:cNvPr id="28" name="panel">
            <a:extLst>
              <a:ext uri="{C183D7F6-B498-43B3-948B-1728B52AA6E4}">
                <adec:decorative xmlns:adec="http://schemas.microsoft.com/office/drawing/2017/decorative" val="1"/>
              </a:ext>
            </a:extLst>
          </p:cNvPr>
          <p:cNvSpPr/>
          <p:nvPr/>
        </p:nvSpPr>
        <p:spPr>
          <a:xfrm>
            <a:off x="640080" y="4050792"/>
            <a:ext cx="10908792" cy="475488"/>
          </a:xfrm>
          <a:prstGeom prst="roundRect">
            <a:avLst>
              <a:gd name="adj" fmla="val 17308"/>
            </a:avLst>
          </a:prstGeom>
          <a:solidFill>
            <a:srgbClr val="191D23"/>
          </a:solidFill>
          <a:ln/>
        </p:spPr>
        <p:txBody>
          <a:bodyPr/>
          <a:lstStyle/>
          <a:p>
            <a:endParaRPr lang="en-SE"/>
          </a:p>
        </p:txBody>
      </p:sp>
      <p:sp>
        <p:nvSpPr>
          <p:cNvPr id="29" name="Text 27"/>
          <p:cNvSpPr/>
          <p:nvPr/>
        </p:nvSpPr>
        <p:spPr>
          <a:xfrm>
            <a:off x="822960" y="4050792"/>
            <a:ext cx="1645920" cy="475488"/>
          </a:xfrm>
          <a:prstGeom prst="rect">
            <a:avLst/>
          </a:prstGeom>
          <a:noFill/>
          <a:ln/>
        </p:spPr>
        <p:txBody>
          <a:bodyPr wrap="square" lIns="0" tIns="0" rIns="0" bIns="0" rtlCol="0" anchor="ctr"/>
          <a:lstStyle/>
          <a:p>
            <a:pPr marL="0" indent="0">
              <a:buNone/>
            </a:pPr>
            <a:r>
              <a:rPr lang="en-US" sz="1300" b="1" dirty="0">
                <a:solidFill>
                  <a:srgbClr val="E7EBF0"/>
                </a:solidFill>
                <a:latin typeface="Trebuchet MS" pitchFamily="34" charset="0"/>
                <a:ea typeface="Trebuchet MS" pitchFamily="34" charset="-122"/>
                <a:cs typeface="Trebuchet MS" pitchFamily="34" charset="-120"/>
              </a:rPr>
              <a:t>Day 3</a:t>
            </a:r>
            <a:endParaRPr lang="en-US" sz="1300" dirty="0"/>
          </a:p>
        </p:txBody>
      </p:sp>
      <p:sp>
        <p:nvSpPr>
          <p:cNvPr id="30" name="Text 28"/>
          <p:cNvSpPr/>
          <p:nvPr/>
        </p:nvSpPr>
        <p:spPr>
          <a:xfrm>
            <a:off x="2468880" y="4050792"/>
            <a:ext cx="5029200" cy="475488"/>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Variation margin credited</a:t>
            </a:r>
            <a:endParaRPr lang="en-US" sz="1300" dirty="0"/>
          </a:p>
        </p:txBody>
      </p:sp>
      <p:sp>
        <p:nvSpPr>
          <p:cNvPr id="31" name="Text 29"/>
          <p:cNvSpPr/>
          <p:nvPr/>
        </p:nvSpPr>
        <p:spPr>
          <a:xfrm>
            <a:off x="7589520" y="4050792"/>
            <a:ext cx="1828800" cy="475488"/>
          </a:xfrm>
          <a:prstGeom prst="rect">
            <a:avLst/>
          </a:prstGeom>
          <a:noFill/>
          <a:ln/>
        </p:spPr>
        <p:txBody>
          <a:bodyPr wrap="square" lIns="0" tIns="0" rIns="0" bIns="0" rtlCol="0" anchor="ctr"/>
          <a:lstStyle/>
          <a:p>
            <a:pPr marL="0" indent="0" algn="r">
              <a:buNone/>
            </a:pPr>
            <a:r>
              <a:rPr lang="en-US" sz="1500" b="1" dirty="0">
                <a:solidFill>
                  <a:srgbClr val="34D399"/>
                </a:solidFill>
                <a:latin typeface="Consolas" pitchFamily="34" charset="0"/>
                <a:ea typeface="Consolas" pitchFamily="34" charset="-122"/>
                <a:cs typeface="Consolas" pitchFamily="34" charset="-120"/>
              </a:rPr>
              <a:t>+$200</a:t>
            </a:r>
            <a:endParaRPr lang="en-US" sz="1500" dirty="0"/>
          </a:p>
        </p:txBody>
      </p:sp>
      <p:sp>
        <p:nvSpPr>
          <p:cNvPr id="32" name="Text 30"/>
          <p:cNvSpPr/>
          <p:nvPr/>
        </p:nvSpPr>
        <p:spPr>
          <a:xfrm>
            <a:off x="9509760" y="4050792"/>
            <a:ext cx="1828800" cy="475488"/>
          </a:xfrm>
          <a:prstGeom prst="rect">
            <a:avLst/>
          </a:prstGeom>
          <a:noFill/>
          <a:ln/>
        </p:spPr>
        <p:txBody>
          <a:bodyPr wrap="square" lIns="0" tIns="0" rIns="0" bIns="0" rtlCol="0" anchor="ctr"/>
          <a:lstStyle/>
          <a:p>
            <a:pPr marL="0" indent="0">
              <a:buNone/>
            </a:pPr>
            <a:r>
              <a:rPr lang="en-US" sz="1150" i="1" dirty="0">
                <a:solidFill>
                  <a:srgbClr val="737D8A"/>
                </a:solidFill>
                <a:latin typeface="Calibri" pitchFamily="34" charset="0"/>
                <a:ea typeface="Calibri" pitchFamily="34" charset="-122"/>
                <a:cs typeface="Calibri" pitchFamily="34" charset="-120"/>
              </a:rPr>
              <a:t>cash in</a:t>
            </a:r>
            <a:endParaRPr lang="en-US" sz="1150" dirty="0"/>
          </a:p>
        </p:txBody>
      </p:sp>
      <p:sp>
        <p:nvSpPr>
          <p:cNvPr id="33" name="panel">
            <a:extLst>
              <a:ext uri="{C183D7F6-B498-43B3-948B-1728B52AA6E4}">
                <adec:decorative xmlns:adec="http://schemas.microsoft.com/office/drawing/2017/decorative" val="1"/>
              </a:ext>
            </a:extLst>
          </p:cNvPr>
          <p:cNvSpPr/>
          <p:nvPr/>
        </p:nvSpPr>
        <p:spPr>
          <a:xfrm>
            <a:off x="640080" y="4562856"/>
            <a:ext cx="10908792" cy="475488"/>
          </a:xfrm>
          <a:prstGeom prst="roundRect">
            <a:avLst>
              <a:gd name="adj" fmla="val 17308"/>
            </a:avLst>
          </a:prstGeom>
          <a:solidFill>
            <a:srgbClr val="1F252D"/>
          </a:solidFill>
          <a:ln/>
        </p:spPr>
        <p:txBody>
          <a:bodyPr/>
          <a:lstStyle/>
          <a:p>
            <a:endParaRPr lang="en-SE"/>
          </a:p>
        </p:txBody>
      </p:sp>
      <p:sp>
        <p:nvSpPr>
          <p:cNvPr id="34" name="Text 32"/>
          <p:cNvSpPr/>
          <p:nvPr/>
        </p:nvSpPr>
        <p:spPr>
          <a:xfrm>
            <a:off x="822960" y="4562856"/>
            <a:ext cx="1645920" cy="475488"/>
          </a:xfrm>
          <a:prstGeom prst="rect">
            <a:avLst/>
          </a:prstGeom>
          <a:noFill/>
          <a:ln/>
        </p:spPr>
        <p:txBody>
          <a:bodyPr wrap="square" lIns="0" tIns="0" rIns="0" bIns="0" rtlCol="0" anchor="ctr"/>
          <a:lstStyle/>
          <a:p>
            <a:pPr marL="0" indent="0">
              <a:buNone/>
            </a:pPr>
            <a:r>
              <a:rPr lang="en-US" sz="1300" b="1" dirty="0">
                <a:solidFill>
                  <a:srgbClr val="E7EBF0"/>
                </a:solidFill>
                <a:latin typeface="Trebuchet MS" pitchFamily="34" charset="0"/>
                <a:ea typeface="Trebuchet MS" pitchFamily="34" charset="-122"/>
                <a:cs typeface="Trebuchet MS" pitchFamily="34" charset="-120"/>
              </a:rPr>
              <a:t>At exit</a:t>
            </a:r>
            <a:endParaRPr lang="en-US" sz="1300" dirty="0"/>
          </a:p>
        </p:txBody>
      </p:sp>
      <p:sp>
        <p:nvSpPr>
          <p:cNvPr id="35" name="Text 33"/>
          <p:cNvSpPr/>
          <p:nvPr/>
        </p:nvSpPr>
        <p:spPr>
          <a:xfrm>
            <a:off x="2468880" y="4562856"/>
            <a:ext cx="5029200" cy="475488"/>
          </a:xfrm>
          <a:prstGeom prst="rect">
            <a:avLst/>
          </a:prstGeom>
          <a:noFill/>
          <a:ln/>
        </p:spPr>
        <p:txBody>
          <a:bodyPr wrap="square" lIns="0" tIns="0" rIns="0" bIns="0" rtlCol="0" anchor="ctr"/>
          <a:lstStyle/>
          <a:p>
            <a:pPr marL="0" indent="0">
              <a:buNone/>
            </a:pPr>
            <a:r>
              <a:rPr lang="en-US" sz="1300" dirty="0">
                <a:solidFill>
                  <a:srgbClr val="AAB2BD"/>
                </a:solidFill>
                <a:latin typeface="Calibri" pitchFamily="34" charset="0"/>
                <a:ea typeface="Calibri" pitchFamily="34" charset="-122"/>
                <a:cs typeface="Calibri" pitchFamily="34" charset="-120"/>
              </a:rPr>
              <a:t>Initial margin released back</a:t>
            </a:r>
            <a:endParaRPr lang="en-US" sz="1300" dirty="0"/>
          </a:p>
        </p:txBody>
      </p:sp>
      <p:sp>
        <p:nvSpPr>
          <p:cNvPr id="36" name="Text 34"/>
          <p:cNvSpPr/>
          <p:nvPr/>
        </p:nvSpPr>
        <p:spPr>
          <a:xfrm>
            <a:off x="7589520" y="4562856"/>
            <a:ext cx="1828800" cy="475488"/>
          </a:xfrm>
          <a:prstGeom prst="rect">
            <a:avLst/>
          </a:prstGeom>
          <a:noFill/>
          <a:ln/>
        </p:spPr>
        <p:txBody>
          <a:bodyPr wrap="square" lIns="0" tIns="0" rIns="0" bIns="0" rtlCol="0" anchor="ctr"/>
          <a:lstStyle/>
          <a:p>
            <a:pPr marL="0" indent="0" algn="r">
              <a:buNone/>
            </a:pPr>
            <a:r>
              <a:rPr lang="en-US" sz="1500" b="1" dirty="0">
                <a:solidFill>
                  <a:srgbClr val="F5B759"/>
                </a:solidFill>
                <a:latin typeface="Consolas" pitchFamily="34" charset="0"/>
                <a:ea typeface="Consolas" pitchFamily="34" charset="-122"/>
                <a:cs typeface="Consolas" pitchFamily="34" charset="-120"/>
              </a:rPr>
              <a:t>+$1,000</a:t>
            </a:r>
            <a:endParaRPr lang="en-US" sz="1500" dirty="0"/>
          </a:p>
        </p:txBody>
      </p:sp>
      <p:sp>
        <p:nvSpPr>
          <p:cNvPr id="37" name="Text 35"/>
          <p:cNvSpPr/>
          <p:nvPr/>
        </p:nvSpPr>
        <p:spPr>
          <a:xfrm>
            <a:off x="9509760" y="4562856"/>
            <a:ext cx="1828800" cy="475488"/>
          </a:xfrm>
          <a:prstGeom prst="rect">
            <a:avLst/>
          </a:prstGeom>
          <a:noFill/>
          <a:ln/>
        </p:spPr>
        <p:txBody>
          <a:bodyPr wrap="square" lIns="0" tIns="0" rIns="0" bIns="0" rtlCol="0" anchor="ctr"/>
          <a:lstStyle/>
          <a:p>
            <a:pPr marL="0" indent="0">
              <a:buNone/>
            </a:pPr>
            <a:r>
              <a:rPr lang="en-US" sz="1150" i="1" dirty="0">
                <a:solidFill>
                  <a:srgbClr val="737D8A"/>
                </a:solidFill>
                <a:latin typeface="Calibri" pitchFamily="34" charset="0"/>
                <a:ea typeface="Calibri" pitchFamily="34" charset="-122"/>
                <a:cs typeface="Calibri" pitchFamily="34" charset="-120"/>
              </a:rPr>
              <a:t>returned</a:t>
            </a:r>
            <a:endParaRPr lang="en-US" sz="1150" dirty="0"/>
          </a:p>
        </p:txBody>
      </p:sp>
      <p:sp>
        <p:nvSpPr>
          <p:cNvPr id="38" name="panel">
            <a:extLst>
              <a:ext uri="{C183D7F6-B498-43B3-948B-1728B52AA6E4}">
                <adec:decorative xmlns:adec="http://schemas.microsoft.com/office/drawing/2017/decorative" val="1"/>
              </a:ext>
            </a:extLst>
          </p:cNvPr>
          <p:cNvSpPr/>
          <p:nvPr/>
        </p:nvSpPr>
        <p:spPr>
          <a:xfrm>
            <a:off x="640080" y="5120640"/>
            <a:ext cx="10908792" cy="566928"/>
          </a:xfrm>
          <a:prstGeom prst="roundRect">
            <a:avLst>
              <a:gd name="adj" fmla="val 14516"/>
            </a:avLst>
          </a:prstGeom>
          <a:solidFill>
            <a:srgbClr val="262E38"/>
          </a:solidFill>
          <a:ln w="19050">
            <a:solidFill>
              <a:srgbClr val="34D399"/>
            </a:solidFill>
            <a:prstDash val="solid"/>
          </a:ln>
        </p:spPr>
        <p:txBody>
          <a:bodyPr/>
          <a:lstStyle/>
          <a:p>
            <a:endParaRPr lang="en-SE"/>
          </a:p>
        </p:txBody>
      </p:sp>
      <p:sp>
        <p:nvSpPr>
          <p:cNvPr id="39" name="Text 37"/>
          <p:cNvSpPr/>
          <p:nvPr/>
        </p:nvSpPr>
        <p:spPr>
          <a:xfrm>
            <a:off x="822960" y="5120640"/>
            <a:ext cx="7315200" cy="566928"/>
          </a:xfrm>
          <a:prstGeom prst="rect">
            <a:avLst/>
          </a:prstGeom>
          <a:noFill/>
          <a:ln/>
        </p:spPr>
        <p:txBody>
          <a:bodyPr wrap="square" lIns="0" tIns="0" rIns="0" bIns="0" rtlCol="0" anchor="ctr"/>
          <a:lstStyle/>
          <a:p>
            <a:pPr marL="0" indent="0">
              <a:buNone/>
            </a:pPr>
            <a:r>
              <a:rPr lang="en-US" sz="1300" b="1" dirty="0">
                <a:solidFill>
                  <a:srgbClr val="E7EBF0"/>
                </a:solidFill>
                <a:latin typeface="Trebuchet MS" pitchFamily="34" charset="0"/>
                <a:ea typeface="Trebuchet MS" pitchFamily="34" charset="-122"/>
                <a:cs typeface="Trebuchet MS" pitchFamily="34" charset="-120"/>
              </a:rPr>
              <a:t>NET CASH PROFIT  (deposit in and out cancels)</a:t>
            </a:r>
            <a:endParaRPr lang="en-US" sz="1300" dirty="0"/>
          </a:p>
        </p:txBody>
      </p:sp>
      <p:sp>
        <p:nvSpPr>
          <p:cNvPr id="40" name="Text 38"/>
          <p:cNvSpPr/>
          <p:nvPr/>
        </p:nvSpPr>
        <p:spPr>
          <a:xfrm>
            <a:off x="7589520" y="5120640"/>
            <a:ext cx="3749040" cy="566928"/>
          </a:xfrm>
          <a:prstGeom prst="rect">
            <a:avLst/>
          </a:prstGeom>
          <a:noFill/>
          <a:ln/>
        </p:spPr>
        <p:txBody>
          <a:bodyPr wrap="square" lIns="0" tIns="0" rIns="0" bIns="0" rtlCol="0" anchor="ctr"/>
          <a:lstStyle/>
          <a:p>
            <a:pPr marL="0" indent="0" algn="r">
              <a:buNone/>
            </a:pPr>
            <a:r>
              <a:rPr lang="en-US" sz="2200" b="1" dirty="0">
                <a:solidFill>
                  <a:srgbClr val="34D399"/>
                </a:solidFill>
                <a:latin typeface="Consolas" pitchFamily="34" charset="0"/>
                <a:ea typeface="Consolas" pitchFamily="34" charset="-122"/>
                <a:cs typeface="Consolas" pitchFamily="34" charset="-120"/>
              </a:rPr>
              <a:t>+$700</a:t>
            </a:r>
            <a:endParaRPr lang="en-US" sz="2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Being honest: the losing case">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Being honest: the losing case</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05 · THE PROFIT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46</a:t>
            </a:r>
            <a:endParaRPr lang="en-US" sz="1000" dirty="0"/>
          </a:p>
        </p:txBody>
      </p:sp>
      <p:sp>
        <p:nvSpPr>
          <p:cNvPr id="7" name="Text 5"/>
          <p:cNvSpPr/>
          <p:nvPr/>
        </p:nvSpPr>
        <p:spPr>
          <a:xfrm>
            <a:off x="640080" y="1371600"/>
            <a:ext cx="10881360" cy="54864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The same mechanics run in reverse. If the spread falls instead of rises, variation margin flows out of your account.</a:t>
            </a:r>
            <a:endParaRPr lang="en-US" sz="1500" dirty="0"/>
          </a:p>
        </p:txBody>
      </p:sp>
      <p:sp>
        <p:nvSpPr>
          <p:cNvPr id="8" name="connector">
            <a:extLst>
              <a:ext uri="{C183D7F6-B498-43B3-948B-1728B52AA6E4}">
                <adec:decorative xmlns:adec="http://schemas.microsoft.com/office/drawing/2017/decorative" val="1"/>
              </a:ext>
            </a:extLst>
          </p:cNvPr>
          <p:cNvSpPr/>
          <p:nvPr/>
        </p:nvSpPr>
        <p:spPr>
          <a:xfrm>
            <a:off x="1463040" y="3246120"/>
            <a:ext cx="9235440" cy="0"/>
          </a:xfrm>
          <a:prstGeom prst="line">
            <a:avLst/>
          </a:prstGeom>
          <a:noFill/>
          <a:ln w="25400">
            <a:solidFill>
              <a:srgbClr val="343E4A"/>
            </a:solidFill>
            <a:prstDash val="solid"/>
            <a:headEnd type="none"/>
            <a:tailEnd type="none"/>
          </a:ln>
        </p:spPr>
        <p:txBody>
          <a:bodyPr/>
          <a:lstStyle/>
          <a:p>
            <a:endParaRPr lang="en-SE"/>
          </a:p>
        </p:txBody>
      </p:sp>
      <p:sp>
        <p:nvSpPr>
          <p:cNvPr id="9" name="connector">
            <a:extLst>
              <a:ext uri="{C183D7F6-B498-43B3-948B-1728B52AA6E4}">
                <adec:decorative xmlns:adec="http://schemas.microsoft.com/office/drawing/2017/decorative" val="1"/>
              </a:ext>
            </a:extLst>
          </p:cNvPr>
          <p:cNvSpPr/>
          <p:nvPr/>
        </p:nvSpPr>
        <p:spPr>
          <a:xfrm>
            <a:off x="1463040" y="3163824"/>
            <a:ext cx="0" cy="164592"/>
          </a:xfrm>
          <a:prstGeom prst="line">
            <a:avLst/>
          </a:prstGeom>
          <a:noFill/>
          <a:ln w="12700">
            <a:solidFill>
              <a:srgbClr val="737D8A"/>
            </a:solidFill>
            <a:prstDash val="solid"/>
            <a:headEnd type="none"/>
            <a:tailEnd type="none"/>
          </a:ln>
        </p:spPr>
        <p:txBody>
          <a:bodyPr/>
          <a:lstStyle/>
          <a:p>
            <a:endParaRPr lang="en-SE"/>
          </a:p>
        </p:txBody>
      </p:sp>
      <p:sp>
        <p:nvSpPr>
          <p:cNvPr id="10" name="Text 8"/>
          <p:cNvSpPr/>
          <p:nvPr/>
        </p:nvSpPr>
        <p:spPr>
          <a:xfrm>
            <a:off x="822960" y="3374136"/>
            <a:ext cx="1280160" cy="27432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−$1.20</a:t>
            </a:r>
            <a:endParaRPr lang="en-US" sz="1000" dirty="0"/>
          </a:p>
        </p:txBody>
      </p:sp>
      <p:sp>
        <p:nvSpPr>
          <p:cNvPr id="11" name="connector">
            <a:extLst>
              <a:ext uri="{C183D7F6-B498-43B3-948B-1728B52AA6E4}">
                <adec:decorative xmlns:adec="http://schemas.microsoft.com/office/drawing/2017/decorative" val="1"/>
              </a:ext>
            </a:extLst>
          </p:cNvPr>
          <p:cNvSpPr/>
          <p:nvPr/>
        </p:nvSpPr>
        <p:spPr>
          <a:xfrm>
            <a:off x="8389620" y="3163824"/>
            <a:ext cx="0" cy="164592"/>
          </a:xfrm>
          <a:prstGeom prst="line">
            <a:avLst/>
          </a:prstGeom>
          <a:noFill/>
          <a:ln w="25400">
            <a:solidFill>
              <a:srgbClr val="AAB2BD"/>
            </a:solidFill>
            <a:prstDash val="solid"/>
            <a:headEnd type="none"/>
            <a:tailEnd type="none"/>
          </a:ln>
        </p:spPr>
        <p:txBody>
          <a:bodyPr/>
          <a:lstStyle/>
          <a:p>
            <a:endParaRPr lang="en-SE"/>
          </a:p>
        </p:txBody>
      </p:sp>
      <p:sp>
        <p:nvSpPr>
          <p:cNvPr id="12" name="Text 10"/>
          <p:cNvSpPr/>
          <p:nvPr/>
        </p:nvSpPr>
        <p:spPr>
          <a:xfrm>
            <a:off x="7749540" y="3374136"/>
            <a:ext cx="1280160" cy="274320"/>
          </a:xfrm>
          <a:prstGeom prst="rect">
            <a:avLst/>
          </a:prstGeom>
          <a:noFill/>
          <a:ln/>
        </p:spPr>
        <p:txBody>
          <a:bodyPr wrap="square" lIns="0" tIns="0" rIns="0" bIns="0" rtlCol="0" anchor="ctr"/>
          <a:lstStyle/>
          <a:p>
            <a:pPr marL="0" indent="0" algn="ctr">
              <a:buNone/>
            </a:pPr>
            <a:r>
              <a:rPr lang="en-US" sz="1000" dirty="0">
                <a:solidFill>
                  <a:srgbClr val="AAB2BD"/>
                </a:solidFill>
                <a:latin typeface="Consolas" pitchFamily="34" charset="0"/>
                <a:ea typeface="Consolas" pitchFamily="34" charset="-122"/>
                <a:cs typeface="Consolas" pitchFamily="34" charset="-120"/>
              </a:rPr>
              <a:t>$0.00</a:t>
            </a:r>
            <a:endParaRPr lang="en-US" sz="1000" dirty="0"/>
          </a:p>
        </p:txBody>
      </p:sp>
      <p:sp>
        <p:nvSpPr>
          <p:cNvPr id="13" name="connector">
            <a:extLst>
              <a:ext uri="{C183D7F6-B498-43B3-948B-1728B52AA6E4}">
                <adec:decorative xmlns:adec="http://schemas.microsoft.com/office/drawing/2017/decorative" val="1"/>
              </a:ext>
            </a:extLst>
          </p:cNvPr>
          <p:cNvSpPr/>
          <p:nvPr/>
        </p:nvSpPr>
        <p:spPr>
          <a:xfrm>
            <a:off x="10698480" y="3163824"/>
            <a:ext cx="0" cy="164592"/>
          </a:xfrm>
          <a:prstGeom prst="line">
            <a:avLst/>
          </a:prstGeom>
          <a:noFill/>
          <a:ln w="12700">
            <a:solidFill>
              <a:srgbClr val="737D8A"/>
            </a:solidFill>
            <a:prstDash val="solid"/>
            <a:headEnd type="none"/>
            <a:tailEnd type="none"/>
          </a:ln>
        </p:spPr>
        <p:txBody>
          <a:bodyPr/>
          <a:lstStyle/>
          <a:p>
            <a:endParaRPr lang="en-SE"/>
          </a:p>
        </p:txBody>
      </p:sp>
      <p:sp>
        <p:nvSpPr>
          <p:cNvPr id="14" name="Text 12"/>
          <p:cNvSpPr/>
          <p:nvPr/>
        </p:nvSpPr>
        <p:spPr>
          <a:xfrm>
            <a:off x="10058400" y="3374136"/>
            <a:ext cx="1280160" cy="274320"/>
          </a:xfrm>
          <a:prstGeom prst="rect">
            <a:avLst/>
          </a:prstGeom>
          <a:noFill/>
          <a:ln/>
        </p:spPr>
        <p:txBody>
          <a:bodyPr wrap="square" lIns="0" tIns="0" rIns="0" bIns="0" rtlCol="0" anchor="ctr"/>
          <a:lstStyle/>
          <a:p>
            <a:pPr marL="0" indent="0" algn="ctr">
              <a:buNone/>
            </a:pPr>
            <a:r>
              <a:rPr lang="en-US" sz="1000" dirty="0">
                <a:solidFill>
                  <a:srgbClr val="737D8A"/>
                </a:solidFill>
                <a:latin typeface="Consolas" pitchFamily="34" charset="0"/>
                <a:ea typeface="Consolas" pitchFamily="34" charset="-122"/>
                <a:cs typeface="Consolas" pitchFamily="34" charset="-120"/>
              </a:rPr>
              <a:t>+$0.40</a:t>
            </a:r>
            <a:endParaRPr lang="en-US" sz="1000" dirty="0"/>
          </a:p>
        </p:txBody>
      </p:sp>
      <p:sp>
        <p:nvSpPr>
          <p:cNvPr id="15" name="marker">
            <a:extLst>
              <a:ext uri="{C183D7F6-B498-43B3-948B-1728B52AA6E4}">
                <adec:decorative xmlns:adec="http://schemas.microsoft.com/office/drawing/2017/decorative" val="1"/>
              </a:ext>
            </a:extLst>
          </p:cNvPr>
          <p:cNvSpPr/>
          <p:nvPr/>
        </p:nvSpPr>
        <p:spPr>
          <a:xfrm>
            <a:off x="5412105" y="3154680"/>
            <a:ext cx="182880" cy="182880"/>
          </a:xfrm>
          <a:prstGeom prst="ellipse">
            <a:avLst/>
          </a:prstGeom>
          <a:solidFill>
            <a:srgbClr val="F5B759"/>
          </a:solidFill>
          <a:ln/>
        </p:spPr>
        <p:txBody>
          <a:bodyPr/>
          <a:lstStyle/>
          <a:p>
            <a:endParaRPr lang="en-SE"/>
          </a:p>
        </p:txBody>
      </p:sp>
      <p:sp>
        <p:nvSpPr>
          <p:cNvPr id="16" name="connector">
            <a:extLst>
              <a:ext uri="{C183D7F6-B498-43B3-948B-1728B52AA6E4}">
                <adec:decorative xmlns:adec="http://schemas.microsoft.com/office/drawing/2017/decorative" val="1"/>
              </a:ext>
            </a:extLst>
          </p:cNvPr>
          <p:cNvSpPr/>
          <p:nvPr/>
        </p:nvSpPr>
        <p:spPr>
          <a:xfrm>
            <a:off x="5503545" y="2916936"/>
            <a:ext cx="0" cy="237744"/>
          </a:xfrm>
          <a:prstGeom prst="line">
            <a:avLst/>
          </a:prstGeom>
          <a:noFill/>
          <a:ln w="19050">
            <a:solidFill>
              <a:srgbClr val="F5B759"/>
            </a:solidFill>
            <a:prstDash val="solid"/>
            <a:headEnd type="none"/>
            <a:tailEnd type="none"/>
          </a:ln>
        </p:spPr>
        <p:txBody>
          <a:bodyPr/>
          <a:lstStyle/>
          <a:p>
            <a:endParaRPr lang="en-SE"/>
          </a:p>
        </p:txBody>
      </p:sp>
      <p:sp>
        <p:nvSpPr>
          <p:cNvPr id="17" name="Text 15"/>
          <p:cNvSpPr/>
          <p:nvPr/>
        </p:nvSpPr>
        <p:spPr>
          <a:xfrm>
            <a:off x="4314825" y="2587752"/>
            <a:ext cx="2377440" cy="310896"/>
          </a:xfrm>
          <a:prstGeom prst="rect">
            <a:avLst/>
          </a:prstGeom>
          <a:noFill/>
          <a:ln/>
        </p:spPr>
        <p:txBody>
          <a:bodyPr wrap="square" lIns="0" tIns="0" rIns="0" bIns="0" rtlCol="0" anchor="ctr"/>
          <a:lstStyle/>
          <a:p>
            <a:pPr marL="0" indent="0" algn="ctr">
              <a:buNone/>
            </a:pPr>
            <a:r>
              <a:rPr lang="en-US" sz="1200" b="1" dirty="0">
                <a:solidFill>
                  <a:srgbClr val="F5B759"/>
                </a:solidFill>
                <a:latin typeface="Trebuchet MS" pitchFamily="34" charset="0"/>
                <a:ea typeface="Trebuchet MS" pitchFamily="34" charset="-122"/>
                <a:cs typeface="Trebuchet MS" pitchFamily="34" charset="-120"/>
              </a:rPr>
              <a:t>BUY</a:t>
            </a:r>
            <a:endParaRPr lang="en-US" sz="1200" dirty="0"/>
          </a:p>
        </p:txBody>
      </p:sp>
      <p:sp>
        <p:nvSpPr>
          <p:cNvPr id="18" name="Text 16"/>
          <p:cNvSpPr/>
          <p:nvPr/>
        </p:nvSpPr>
        <p:spPr>
          <a:xfrm>
            <a:off x="4314825" y="2313432"/>
            <a:ext cx="2377440" cy="256032"/>
          </a:xfrm>
          <a:prstGeom prst="rect">
            <a:avLst/>
          </a:prstGeom>
          <a:noFill/>
          <a:ln/>
        </p:spPr>
        <p:txBody>
          <a:bodyPr wrap="square" lIns="0" tIns="0" rIns="0" bIns="0" rtlCol="0" anchor="ctr"/>
          <a:lstStyle/>
          <a:p>
            <a:pPr marL="0" indent="0" algn="ctr">
              <a:buNone/>
            </a:pPr>
            <a:r>
              <a:rPr lang="en-US" sz="1000" dirty="0">
                <a:solidFill>
                  <a:srgbClr val="AAB2BD"/>
                </a:solidFill>
                <a:latin typeface="Consolas" pitchFamily="34" charset="0"/>
                <a:ea typeface="Consolas" pitchFamily="34" charset="-122"/>
                <a:cs typeface="Consolas" pitchFamily="34" charset="-120"/>
              </a:rPr>
              <a:t>−$0.50</a:t>
            </a:r>
            <a:endParaRPr lang="en-US" sz="1000" dirty="0"/>
          </a:p>
        </p:txBody>
      </p:sp>
      <p:sp>
        <p:nvSpPr>
          <p:cNvPr id="19" name="marker">
            <a:extLst>
              <a:ext uri="{C183D7F6-B498-43B3-948B-1728B52AA6E4}">
                <adec:decorative xmlns:adec="http://schemas.microsoft.com/office/drawing/2017/decorative" val="1"/>
              </a:ext>
            </a:extLst>
          </p:cNvPr>
          <p:cNvSpPr/>
          <p:nvPr/>
        </p:nvSpPr>
        <p:spPr>
          <a:xfrm>
            <a:off x="3103245" y="3154680"/>
            <a:ext cx="182880" cy="182880"/>
          </a:xfrm>
          <a:prstGeom prst="ellipse">
            <a:avLst/>
          </a:prstGeom>
          <a:solidFill>
            <a:srgbClr val="F2726B"/>
          </a:solidFill>
          <a:ln/>
        </p:spPr>
        <p:txBody>
          <a:bodyPr/>
          <a:lstStyle/>
          <a:p>
            <a:endParaRPr lang="en-SE"/>
          </a:p>
        </p:txBody>
      </p:sp>
      <p:sp>
        <p:nvSpPr>
          <p:cNvPr id="20" name="connector">
            <a:extLst>
              <a:ext uri="{C183D7F6-B498-43B3-948B-1728B52AA6E4}">
                <adec:decorative xmlns:adec="http://schemas.microsoft.com/office/drawing/2017/decorative" val="1"/>
              </a:ext>
            </a:extLst>
          </p:cNvPr>
          <p:cNvSpPr/>
          <p:nvPr/>
        </p:nvSpPr>
        <p:spPr>
          <a:xfrm>
            <a:off x="3194685" y="3337560"/>
            <a:ext cx="0" cy="237744"/>
          </a:xfrm>
          <a:prstGeom prst="line">
            <a:avLst/>
          </a:prstGeom>
          <a:noFill/>
          <a:ln w="19050">
            <a:solidFill>
              <a:srgbClr val="F2726B"/>
            </a:solidFill>
            <a:prstDash val="solid"/>
            <a:headEnd type="none"/>
            <a:tailEnd type="none"/>
          </a:ln>
        </p:spPr>
        <p:txBody>
          <a:bodyPr/>
          <a:lstStyle/>
          <a:p>
            <a:endParaRPr lang="en-SE"/>
          </a:p>
        </p:txBody>
      </p:sp>
      <p:sp>
        <p:nvSpPr>
          <p:cNvPr id="21" name="Text 19"/>
          <p:cNvSpPr/>
          <p:nvPr/>
        </p:nvSpPr>
        <p:spPr>
          <a:xfrm>
            <a:off x="2005965" y="3630168"/>
            <a:ext cx="2377440" cy="310896"/>
          </a:xfrm>
          <a:prstGeom prst="rect">
            <a:avLst/>
          </a:prstGeom>
          <a:noFill/>
          <a:ln/>
        </p:spPr>
        <p:txBody>
          <a:bodyPr wrap="square" lIns="0" tIns="0" rIns="0" bIns="0" rtlCol="0" anchor="ctr"/>
          <a:lstStyle/>
          <a:p>
            <a:pPr marL="0" indent="0" algn="ctr">
              <a:buNone/>
            </a:pPr>
            <a:r>
              <a:rPr lang="en-US" sz="1200" b="1" dirty="0">
                <a:solidFill>
                  <a:srgbClr val="F2726B"/>
                </a:solidFill>
                <a:latin typeface="Trebuchet MS" pitchFamily="34" charset="0"/>
                <a:ea typeface="Trebuchet MS" pitchFamily="34" charset="-122"/>
                <a:cs typeface="Trebuchet MS" pitchFamily="34" charset="-120"/>
              </a:rPr>
              <a:t>forced/chosen exit</a:t>
            </a:r>
            <a:endParaRPr lang="en-US" sz="1200" dirty="0"/>
          </a:p>
        </p:txBody>
      </p:sp>
      <p:sp>
        <p:nvSpPr>
          <p:cNvPr id="22" name="Text 20"/>
          <p:cNvSpPr/>
          <p:nvPr/>
        </p:nvSpPr>
        <p:spPr>
          <a:xfrm>
            <a:off x="2005965" y="3922776"/>
            <a:ext cx="2377440" cy="256032"/>
          </a:xfrm>
          <a:prstGeom prst="rect">
            <a:avLst/>
          </a:prstGeom>
          <a:noFill/>
          <a:ln/>
        </p:spPr>
        <p:txBody>
          <a:bodyPr wrap="square" lIns="0" tIns="0" rIns="0" bIns="0" rtlCol="0" anchor="ctr"/>
          <a:lstStyle/>
          <a:p>
            <a:pPr marL="0" indent="0" algn="ctr">
              <a:buNone/>
            </a:pPr>
            <a:r>
              <a:rPr lang="en-US" sz="1000" dirty="0">
                <a:solidFill>
                  <a:srgbClr val="AAB2BD"/>
                </a:solidFill>
                <a:latin typeface="Consolas" pitchFamily="34" charset="0"/>
                <a:ea typeface="Consolas" pitchFamily="34" charset="-122"/>
                <a:cs typeface="Consolas" pitchFamily="34" charset="-120"/>
              </a:rPr>
              <a:t>−$0.90</a:t>
            </a:r>
            <a:endParaRPr lang="en-US" sz="1000" dirty="0"/>
          </a:p>
        </p:txBody>
      </p:sp>
      <p:sp>
        <p:nvSpPr>
          <p:cNvPr id="23" name="panel">
            <a:extLst>
              <a:ext uri="{C183D7F6-B498-43B3-948B-1728B52AA6E4}">
                <adec:decorative xmlns:adec="http://schemas.microsoft.com/office/drawing/2017/decorative" val="1"/>
              </a:ext>
            </a:extLst>
          </p:cNvPr>
          <p:cNvSpPr/>
          <p:nvPr/>
        </p:nvSpPr>
        <p:spPr>
          <a:xfrm>
            <a:off x="1463040" y="4160520"/>
            <a:ext cx="9235440" cy="960120"/>
          </a:xfrm>
          <a:prstGeom prst="roundRect">
            <a:avLst>
              <a:gd name="adj" fmla="val 8571"/>
            </a:avLst>
          </a:prstGeom>
          <a:solidFill>
            <a:srgbClr val="262E38"/>
          </a:solidFill>
          <a:ln w="12700">
            <a:solidFill>
              <a:srgbClr val="F2726B"/>
            </a:solidFill>
            <a:prstDash val="solid"/>
          </a:ln>
        </p:spPr>
        <p:txBody>
          <a:bodyPr/>
          <a:lstStyle/>
          <a:p>
            <a:endParaRPr lang="en-SE"/>
          </a:p>
        </p:txBody>
      </p:sp>
      <p:sp>
        <p:nvSpPr>
          <p:cNvPr id="24" name="Text 22"/>
          <p:cNvSpPr/>
          <p:nvPr/>
        </p:nvSpPr>
        <p:spPr>
          <a:xfrm>
            <a:off x="1463040" y="4160520"/>
            <a:ext cx="9235440" cy="960120"/>
          </a:xfrm>
          <a:prstGeom prst="rect">
            <a:avLst/>
          </a:prstGeom>
          <a:noFill/>
          <a:ln/>
        </p:spPr>
        <p:txBody>
          <a:bodyPr wrap="square" lIns="0" tIns="0" rIns="0" bIns="0" rtlCol="0" anchor="ctr"/>
          <a:lstStyle/>
          <a:p>
            <a:pPr marL="0" indent="0" algn="ctr">
              <a:buNone/>
            </a:pPr>
            <a:r>
              <a:rPr lang="en-US" sz="1800" dirty="0">
                <a:solidFill>
                  <a:srgbClr val="E7EBF0"/>
                </a:solidFill>
                <a:latin typeface="Consolas" pitchFamily="34" charset="0"/>
                <a:ea typeface="Consolas" pitchFamily="34" charset="-122"/>
                <a:cs typeface="Consolas" pitchFamily="34" charset="-120"/>
              </a:rPr>
              <a:t>( −$0.90 − (−$0.50) ) × 1,000  =  </a:t>
            </a:r>
            <a:r>
              <a:rPr lang="en-US" sz="2600" b="1" dirty="0">
                <a:solidFill>
                  <a:srgbClr val="F2726B"/>
                </a:solidFill>
                <a:latin typeface="Consolas" pitchFamily="34" charset="0"/>
                <a:ea typeface="Consolas" pitchFamily="34" charset="-122"/>
                <a:cs typeface="Consolas" pitchFamily="34" charset="-120"/>
              </a:rPr>
              <a:t>−$400</a:t>
            </a:r>
            <a:endParaRPr lang="en-US" sz="1800" dirty="0"/>
          </a:p>
        </p:txBody>
      </p:sp>
      <p:sp>
        <p:nvSpPr>
          <p:cNvPr id="25"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6"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2726B"/>
          </a:solidFill>
          <a:ln/>
        </p:spPr>
        <p:txBody>
          <a:bodyPr/>
          <a:lstStyle/>
          <a:p>
            <a:endParaRPr lang="en-SE"/>
          </a:p>
        </p:txBody>
      </p:sp>
      <p:sp>
        <p:nvSpPr>
          <p:cNvPr id="27" name="Text 25"/>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F2726B"/>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Negative-cost doesn't mean risk-free. The spread can widen against you, and that cash really leaves.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The full lifecycle, end to en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full lifecycle, end to end</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05 · THE PROFIT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47</a:t>
            </a:r>
            <a:endParaRPr lang="en-US" sz="1000" dirty="0"/>
          </a:p>
        </p:txBody>
      </p:sp>
      <p:sp>
        <p:nvSpPr>
          <p:cNvPr id="7" name="Text 5"/>
          <p:cNvSpPr/>
          <p:nvPr/>
        </p:nvSpPr>
        <p:spPr>
          <a:xfrm>
            <a:off x="640080" y="1371600"/>
            <a:ext cx="10881360" cy="502920"/>
          </a:xfrm>
          <a:prstGeom prst="rect">
            <a:avLst/>
          </a:prstGeom>
          <a:noFill/>
          <a:ln/>
        </p:spPr>
        <p:txBody>
          <a:bodyPr wrap="square" lIns="0" tIns="0" rIns="0" bIns="0" rtlCol="0" anchor="ctr"/>
          <a:lstStyle/>
          <a:p>
            <a:pPr marL="0" indent="0">
              <a:buNone/>
            </a:pPr>
            <a:r>
              <a:rPr lang="en-US" sz="1500" dirty="0">
                <a:solidFill>
                  <a:srgbClr val="AAB2BD"/>
                </a:solidFill>
                <a:latin typeface="Calibri" pitchFamily="34" charset="0"/>
                <a:ea typeface="Calibri" pitchFamily="34" charset="-122"/>
                <a:cs typeface="Calibri" pitchFamily="34" charset="-120"/>
              </a:rPr>
              <a:t>Every idea in the deck, on one timeline — from the order ticket to the cash in your account.</a:t>
            </a:r>
            <a:endParaRPr lang="en-US" sz="1500" dirty="0"/>
          </a:p>
        </p:txBody>
      </p:sp>
      <p:sp>
        <p:nvSpPr>
          <p:cNvPr id="8" name="connector">
            <a:extLst>
              <a:ext uri="{C183D7F6-B498-43B3-948B-1728B52AA6E4}">
                <adec:decorative xmlns:adec="http://schemas.microsoft.com/office/drawing/2017/decorative" val="1"/>
              </a:ext>
            </a:extLst>
          </p:cNvPr>
          <p:cNvSpPr/>
          <p:nvPr/>
        </p:nvSpPr>
        <p:spPr>
          <a:xfrm>
            <a:off x="1188720" y="3063240"/>
            <a:ext cx="9784080" cy="0"/>
          </a:xfrm>
          <a:prstGeom prst="line">
            <a:avLst/>
          </a:prstGeom>
          <a:noFill/>
          <a:ln w="25400">
            <a:solidFill>
              <a:srgbClr val="343E4A"/>
            </a:solidFill>
            <a:prstDash val="solid"/>
            <a:headEnd type="none"/>
            <a:tailEnd type="none"/>
          </a:ln>
        </p:spPr>
        <p:txBody>
          <a:bodyPr/>
          <a:lstStyle/>
          <a:p>
            <a:endParaRPr lang="en-SE"/>
          </a:p>
        </p:txBody>
      </p:sp>
      <p:sp>
        <p:nvSpPr>
          <p:cNvPr id="9" name="dot">
            <a:extLst>
              <a:ext uri="{C183D7F6-B498-43B3-948B-1728B52AA6E4}">
                <adec:decorative xmlns:adec="http://schemas.microsoft.com/office/drawing/2017/decorative" val="1"/>
              </a:ext>
            </a:extLst>
          </p:cNvPr>
          <p:cNvSpPr/>
          <p:nvPr/>
        </p:nvSpPr>
        <p:spPr>
          <a:xfrm>
            <a:off x="1060704" y="2935224"/>
            <a:ext cx="256032" cy="256032"/>
          </a:xfrm>
          <a:prstGeom prst="ellipse">
            <a:avLst/>
          </a:prstGeom>
          <a:solidFill>
            <a:srgbClr val="34D399"/>
          </a:solidFill>
          <a:ln/>
        </p:spPr>
        <p:txBody>
          <a:bodyPr/>
          <a:lstStyle/>
          <a:p>
            <a:endParaRPr lang="en-SE"/>
          </a:p>
        </p:txBody>
      </p:sp>
      <p:sp>
        <p:nvSpPr>
          <p:cNvPr id="10" name="Text 8"/>
          <p:cNvSpPr/>
          <p:nvPr/>
        </p:nvSpPr>
        <p:spPr>
          <a:xfrm>
            <a:off x="1060704" y="2935224"/>
            <a:ext cx="256032" cy="256032"/>
          </a:xfrm>
          <a:prstGeom prst="rect">
            <a:avLst/>
          </a:prstGeom>
          <a:noFill/>
          <a:ln/>
        </p:spPr>
        <p:txBody>
          <a:bodyPr wrap="square" lIns="0" tIns="0" rIns="0" bIns="0" rtlCol="0" anchor="ctr"/>
          <a:lstStyle/>
          <a:p>
            <a:pPr marL="0" indent="0" algn="ctr">
              <a:buNone/>
            </a:pPr>
            <a:r>
              <a:rPr lang="en-US" sz="1100" b="1" dirty="0">
                <a:solidFill>
                  <a:srgbClr val="14171C"/>
                </a:solidFill>
                <a:latin typeface="Trebuchet MS" pitchFamily="34" charset="0"/>
                <a:ea typeface="Trebuchet MS" pitchFamily="34" charset="-122"/>
                <a:cs typeface="Trebuchet MS" pitchFamily="34" charset="-120"/>
              </a:rPr>
              <a:t>1</a:t>
            </a:r>
            <a:endParaRPr lang="en-US" sz="1100" dirty="0"/>
          </a:p>
        </p:txBody>
      </p:sp>
      <p:sp>
        <p:nvSpPr>
          <p:cNvPr id="11" name="panel">
            <a:extLst>
              <a:ext uri="{C183D7F6-B498-43B3-948B-1728B52AA6E4}">
                <adec:decorative xmlns:adec="http://schemas.microsoft.com/office/drawing/2017/decorative" val="1"/>
              </a:ext>
            </a:extLst>
          </p:cNvPr>
          <p:cNvSpPr/>
          <p:nvPr/>
        </p:nvSpPr>
        <p:spPr>
          <a:xfrm>
            <a:off x="137160" y="1828800"/>
            <a:ext cx="2103120" cy="960120"/>
          </a:xfrm>
          <a:prstGeom prst="roundRect">
            <a:avLst>
              <a:gd name="adj" fmla="val 8571"/>
            </a:avLst>
          </a:prstGeom>
          <a:solidFill>
            <a:srgbClr val="1F252D"/>
          </a:solidFill>
          <a:ln w="12700">
            <a:solidFill>
              <a:srgbClr val="343E4A"/>
            </a:solidFill>
            <a:prstDash val="solid"/>
          </a:ln>
        </p:spPr>
        <p:txBody>
          <a:bodyPr/>
          <a:lstStyle/>
          <a:p>
            <a:endParaRPr lang="en-SE"/>
          </a:p>
        </p:txBody>
      </p:sp>
      <p:sp>
        <p:nvSpPr>
          <p:cNvPr id="12" name="Text 10"/>
          <p:cNvSpPr/>
          <p:nvPr/>
        </p:nvSpPr>
        <p:spPr>
          <a:xfrm>
            <a:off x="228600" y="1920240"/>
            <a:ext cx="1920240" cy="320040"/>
          </a:xfrm>
          <a:prstGeom prst="rect">
            <a:avLst/>
          </a:prstGeom>
          <a:noFill/>
          <a:ln/>
        </p:spPr>
        <p:txBody>
          <a:bodyPr wrap="square" lIns="0" tIns="0" rIns="0" bIns="0" rtlCol="0" anchor="ctr"/>
          <a:lstStyle/>
          <a:p>
            <a:pPr marL="0" indent="0">
              <a:buNone/>
            </a:pPr>
            <a:r>
              <a:rPr lang="en-US" sz="1300" b="1" dirty="0">
                <a:solidFill>
                  <a:srgbClr val="34D399"/>
                </a:solidFill>
                <a:latin typeface="Trebuchet MS" pitchFamily="34" charset="0"/>
                <a:ea typeface="Trebuchet MS" pitchFamily="34" charset="-122"/>
                <a:cs typeface="Trebuchet MS" pitchFamily="34" charset="-120"/>
              </a:rPr>
              <a:t>Place combo</a:t>
            </a:r>
            <a:endParaRPr lang="en-US" sz="1300" dirty="0"/>
          </a:p>
        </p:txBody>
      </p:sp>
      <p:sp>
        <p:nvSpPr>
          <p:cNvPr id="13" name="Text 11"/>
          <p:cNvSpPr/>
          <p:nvPr/>
        </p:nvSpPr>
        <p:spPr>
          <a:xfrm>
            <a:off x="228600" y="2231136"/>
            <a:ext cx="1920240" cy="502920"/>
          </a:xfrm>
          <a:prstGeom prst="rect">
            <a:avLst/>
          </a:prstGeom>
          <a:noFill/>
          <a:ln/>
        </p:spPr>
        <p:txBody>
          <a:bodyPr wrap="square" lIns="0" tIns="0" rIns="0" bIns="0" rtlCol="0" anchor="ctr"/>
          <a:lstStyle/>
          <a:p>
            <a:pPr marL="0" indent="0">
              <a:lnSpc>
                <a:spcPct val="105000"/>
              </a:lnSpc>
              <a:buNone/>
            </a:pPr>
            <a:r>
              <a:rPr lang="en-US" sz="1100" dirty="0">
                <a:solidFill>
                  <a:srgbClr val="AAB2BD"/>
                </a:solidFill>
                <a:latin typeface="Calibri" pitchFamily="34" charset="0"/>
                <a:ea typeface="Calibri" pitchFamily="34" charset="-122"/>
                <a:cs typeface="Calibri" pitchFamily="34" charset="-120"/>
              </a:rPr>
              <a:t>Buy Mar–Jun at −$0.50, atomically</a:t>
            </a:r>
            <a:endParaRPr lang="en-US" sz="1100" dirty="0"/>
          </a:p>
        </p:txBody>
      </p:sp>
      <p:sp>
        <p:nvSpPr>
          <p:cNvPr id="14" name="connector">
            <a:extLst>
              <a:ext uri="{C183D7F6-B498-43B3-948B-1728B52AA6E4}">
                <adec:decorative xmlns:adec="http://schemas.microsoft.com/office/drawing/2017/decorative" val="1"/>
              </a:ext>
            </a:extLst>
          </p:cNvPr>
          <p:cNvSpPr/>
          <p:nvPr/>
        </p:nvSpPr>
        <p:spPr>
          <a:xfrm>
            <a:off x="1188720" y="2788920"/>
            <a:ext cx="0" cy="146304"/>
          </a:xfrm>
          <a:prstGeom prst="line">
            <a:avLst/>
          </a:prstGeom>
          <a:noFill/>
          <a:ln w="12700">
            <a:solidFill>
              <a:srgbClr val="343E4A"/>
            </a:solidFill>
            <a:prstDash val="solid"/>
            <a:headEnd type="none"/>
            <a:tailEnd type="none"/>
          </a:ln>
        </p:spPr>
        <p:txBody>
          <a:bodyPr/>
          <a:lstStyle/>
          <a:p>
            <a:endParaRPr lang="en-SE"/>
          </a:p>
        </p:txBody>
      </p:sp>
      <p:sp>
        <p:nvSpPr>
          <p:cNvPr id="15" name="dot">
            <a:extLst>
              <a:ext uri="{C183D7F6-B498-43B3-948B-1728B52AA6E4}">
                <adec:decorative xmlns:adec="http://schemas.microsoft.com/office/drawing/2017/decorative" val="1"/>
              </a:ext>
            </a:extLst>
          </p:cNvPr>
          <p:cNvSpPr/>
          <p:nvPr/>
        </p:nvSpPr>
        <p:spPr>
          <a:xfrm>
            <a:off x="3506724" y="2935224"/>
            <a:ext cx="256032" cy="256032"/>
          </a:xfrm>
          <a:prstGeom prst="ellipse">
            <a:avLst/>
          </a:prstGeom>
          <a:solidFill>
            <a:srgbClr val="F5B759"/>
          </a:solidFill>
          <a:ln/>
        </p:spPr>
        <p:txBody>
          <a:bodyPr/>
          <a:lstStyle/>
          <a:p>
            <a:endParaRPr lang="en-SE"/>
          </a:p>
        </p:txBody>
      </p:sp>
      <p:sp>
        <p:nvSpPr>
          <p:cNvPr id="16" name="Text 14"/>
          <p:cNvSpPr/>
          <p:nvPr/>
        </p:nvSpPr>
        <p:spPr>
          <a:xfrm>
            <a:off x="3506724" y="2935224"/>
            <a:ext cx="256032" cy="256032"/>
          </a:xfrm>
          <a:prstGeom prst="rect">
            <a:avLst/>
          </a:prstGeom>
          <a:noFill/>
          <a:ln/>
        </p:spPr>
        <p:txBody>
          <a:bodyPr wrap="square" lIns="0" tIns="0" rIns="0" bIns="0" rtlCol="0" anchor="ctr"/>
          <a:lstStyle/>
          <a:p>
            <a:pPr marL="0" indent="0" algn="ctr">
              <a:buNone/>
            </a:pPr>
            <a:r>
              <a:rPr lang="en-US" sz="1100" b="1" dirty="0">
                <a:solidFill>
                  <a:srgbClr val="14171C"/>
                </a:solidFill>
                <a:latin typeface="Trebuchet MS" pitchFamily="34" charset="0"/>
                <a:ea typeface="Trebuchet MS" pitchFamily="34" charset="-122"/>
                <a:cs typeface="Trebuchet MS" pitchFamily="34" charset="-120"/>
              </a:rPr>
              <a:t>2</a:t>
            </a:r>
            <a:endParaRPr lang="en-US" sz="1100" dirty="0"/>
          </a:p>
        </p:txBody>
      </p:sp>
      <p:sp>
        <p:nvSpPr>
          <p:cNvPr id="17" name="panel">
            <a:extLst>
              <a:ext uri="{C183D7F6-B498-43B3-948B-1728B52AA6E4}">
                <adec:decorative xmlns:adec="http://schemas.microsoft.com/office/drawing/2017/decorative" val="1"/>
              </a:ext>
            </a:extLst>
          </p:cNvPr>
          <p:cNvSpPr/>
          <p:nvPr/>
        </p:nvSpPr>
        <p:spPr>
          <a:xfrm>
            <a:off x="2583180" y="3337560"/>
            <a:ext cx="2103120" cy="960120"/>
          </a:xfrm>
          <a:prstGeom prst="roundRect">
            <a:avLst>
              <a:gd name="adj" fmla="val 8571"/>
            </a:avLst>
          </a:prstGeom>
          <a:solidFill>
            <a:srgbClr val="1F252D"/>
          </a:solidFill>
          <a:ln w="12700">
            <a:solidFill>
              <a:srgbClr val="343E4A"/>
            </a:solidFill>
            <a:prstDash val="solid"/>
          </a:ln>
        </p:spPr>
        <p:txBody>
          <a:bodyPr/>
          <a:lstStyle/>
          <a:p>
            <a:endParaRPr lang="en-SE"/>
          </a:p>
        </p:txBody>
      </p:sp>
      <p:sp>
        <p:nvSpPr>
          <p:cNvPr id="18" name="Text 16"/>
          <p:cNvSpPr/>
          <p:nvPr/>
        </p:nvSpPr>
        <p:spPr>
          <a:xfrm>
            <a:off x="2674620" y="3429000"/>
            <a:ext cx="1920240" cy="320040"/>
          </a:xfrm>
          <a:prstGeom prst="rect">
            <a:avLst/>
          </a:prstGeom>
          <a:noFill/>
          <a:ln/>
        </p:spPr>
        <p:txBody>
          <a:bodyPr wrap="square" lIns="0" tIns="0" rIns="0" bIns="0" rtlCol="0" anchor="ctr"/>
          <a:lstStyle/>
          <a:p>
            <a:pPr marL="0" indent="0">
              <a:buNone/>
            </a:pPr>
            <a:r>
              <a:rPr lang="en-US" sz="1300" b="1" dirty="0">
                <a:solidFill>
                  <a:srgbClr val="F5B759"/>
                </a:solidFill>
                <a:latin typeface="Trebuchet MS" pitchFamily="34" charset="0"/>
                <a:ea typeface="Trebuchet MS" pitchFamily="34" charset="-122"/>
                <a:cs typeface="Trebuchet MS" pitchFamily="34" charset="-120"/>
              </a:rPr>
              <a:t>Post margin</a:t>
            </a:r>
            <a:endParaRPr lang="en-US" sz="1300" dirty="0"/>
          </a:p>
        </p:txBody>
      </p:sp>
      <p:sp>
        <p:nvSpPr>
          <p:cNvPr id="19" name="Text 17"/>
          <p:cNvSpPr/>
          <p:nvPr/>
        </p:nvSpPr>
        <p:spPr>
          <a:xfrm>
            <a:off x="2674620" y="3739896"/>
            <a:ext cx="1920240" cy="502920"/>
          </a:xfrm>
          <a:prstGeom prst="rect">
            <a:avLst/>
          </a:prstGeom>
          <a:noFill/>
          <a:ln/>
        </p:spPr>
        <p:txBody>
          <a:bodyPr wrap="square" lIns="0" tIns="0" rIns="0" bIns="0" rtlCol="0" anchor="ctr"/>
          <a:lstStyle/>
          <a:p>
            <a:pPr marL="0" indent="0">
              <a:lnSpc>
                <a:spcPct val="105000"/>
              </a:lnSpc>
              <a:buNone/>
            </a:pPr>
            <a:r>
              <a:rPr lang="en-US" sz="1100" dirty="0">
                <a:solidFill>
                  <a:srgbClr val="AAB2BD"/>
                </a:solidFill>
                <a:latin typeface="Calibri" pitchFamily="34" charset="0"/>
                <a:ea typeface="Calibri" pitchFamily="34" charset="-122"/>
                <a:cs typeface="Calibri" pitchFamily="34" charset="-120"/>
              </a:rPr>
              <a:t>$1,000 reserved, $0 premium</a:t>
            </a:r>
            <a:endParaRPr lang="en-US" sz="1100" dirty="0"/>
          </a:p>
        </p:txBody>
      </p:sp>
      <p:sp>
        <p:nvSpPr>
          <p:cNvPr id="20" name="connector">
            <a:extLst>
              <a:ext uri="{C183D7F6-B498-43B3-948B-1728B52AA6E4}">
                <adec:decorative xmlns:adec="http://schemas.microsoft.com/office/drawing/2017/decorative" val="1"/>
              </a:ext>
            </a:extLst>
          </p:cNvPr>
          <p:cNvSpPr/>
          <p:nvPr/>
        </p:nvSpPr>
        <p:spPr>
          <a:xfrm>
            <a:off x="3634740" y="3191256"/>
            <a:ext cx="0" cy="146304"/>
          </a:xfrm>
          <a:prstGeom prst="line">
            <a:avLst/>
          </a:prstGeom>
          <a:noFill/>
          <a:ln w="12700">
            <a:solidFill>
              <a:srgbClr val="343E4A"/>
            </a:solidFill>
            <a:prstDash val="solid"/>
            <a:headEnd type="none"/>
            <a:tailEnd type="none"/>
          </a:ln>
        </p:spPr>
        <p:txBody>
          <a:bodyPr/>
          <a:lstStyle/>
          <a:p>
            <a:endParaRPr lang="en-SE"/>
          </a:p>
        </p:txBody>
      </p:sp>
      <p:sp>
        <p:nvSpPr>
          <p:cNvPr id="21" name="dot">
            <a:extLst>
              <a:ext uri="{C183D7F6-B498-43B3-948B-1728B52AA6E4}">
                <adec:decorative xmlns:adec="http://schemas.microsoft.com/office/drawing/2017/decorative" val="1"/>
              </a:ext>
            </a:extLst>
          </p:cNvPr>
          <p:cNvSpPr/>
          <p:nvPr/>
        </p:nvSpPr>
        <p:spPr>
          <a:xfrm>
            <a:off x="5952744" y="2935224"/>
            <a:ext cx="256032" cy="256032"/>
          </a:xfrm>
          <a:prstGeom prst="ellipse">
            <a:avLst/>
          </a:prstGeom>
          <a:solidFill>
            <a:srgbClr val="34D399"/>
          </a:solidFill>
          <a:ln/>
        </p:spPr>
        <p:txBody>
          <a:bodyPr/>
          <a:lstStyle/>
          <a:p>
            <a:endParaRPr lang="en-SE"/>
          </a:p>
        </p:txBody>
      </p:sp>
      <p:sp>
        <p:nvSpPr>
          <p:cNvPr id="22" name="Text 20"/>
          <p:cNvSpPr/>
          <p:nvPr/>
        </p:nvSpPr>
        <p:spPr>
          <a:xfrm>
            <a:off x="5952744" y="2935224"/>
            <a:ext cx="256032" cy="256032"/>
          </a:xfrm>
          <a:prstGeom prst="rect">
            <a:avLst/>
          </a:prstGeom>
          <a:noFill/>
          <a:ln/>
        </p:spPr>
        <p:txBody>
          <a:bodyPr wrap="square" lIns="0" tIns="0" rIns="0" bIns="0" rtlCol="0" anchor="ctr"/>
          <a:lstStyle/>
          <a:p>
            <a:pPr marL="0" indent="0" algn="ctr">
              <a:buNone/>
            </a:pPr>
            <a:r>
              <a:rPr lang="en-US" sz="1100" b="1" dirty="0">
                <a:solidFill>
                  <a:srgbClr val="14171C"/>
                </a:solidFill>
                <a:latin typeface="Trebuchet MS" pitchFamily="34" charset="0"/>
                <a:ea typeface="Trebuchet MS" pitchFamily="34" charset="-122"/>
                <a:cs typeface="Trebuchet MS" pitchFamily="34" charset="-120"/>
              </a:rPr>
              <a:t>3</a:t>
            </a:r>
            <a:endParaRPr lang="en-US" sz="1100" dirty="0"/>
          </a:p>
        </p:txBody>
      </p:sp>
      <p:sp>
        <p:nvSpPr>
          <p:cNvPr id="23" name="panel">
            <a:extLst>
              <a:ext uri="{C183D7F6-B498-43B3-948B-1728B52AA6E4}">
                <adec:decorative xmlns:adec="http://schemas.microsoft.com/office/drawing/2017/decorative" val="1"/>
              </a:ext>
            </a:extLst>
          </p:cNvPr>
          <p:cNvSpPr/>
          <p:nvPr/>
        </p:nvSpPr>
        <p:spPr>
          <a:xfrm>
            <a:off x="5029200" y="1828800"/>
            <a:ext cx="2103120" cy="960120"/>
          </a:xfrm>
          <a:prstGeom prst="roundRect">
            <a:avLst>
              <a:gd name="adj" fmla="val 8571"/>
            </a:avLst>
          </a:prstGeom>
          <a:solidFill>
            <a:srgbClr val="1F252D"/>
          </a:solidFill>
          <a:ln w="12700">
            <a:solidFill>
              <a:srgbClr val="343E4A"/>
            </a:solidFill>
            <a:prstDash val="solid"/>
          </a:ln>
        </p:spPr>
        <p:txBody>
          <a:bodyPr/>
          <a:lstStyle/>
          <a:p>
            <a:endParaRPr lang="en-SE"/>
          </a:p>
        </p:txBody>
      </p:sp>
      <p:sp>
        <p:nvSpPr>
          <p:cNvPr id="24" name="Text 22"/>
          <p:cNvSpPr/>
          <p:nvPr/>
        </p:nvSpPr>
        <p:spPr>
          <a:xfrm>
            <a:off x="5120640" y="1920240"/>
            <a:ext cx="1920240" cy="320040"/>
          </a:xfrm>
          <a:prstGeom prst="rect">
            <a:avLst/>
          </a:prstGeom>
          <a:noFill/>
          <a:ln/>
        </p:spPr>
        <p:txBody>
          <a:bodyPr wrap="square" lIns="0" tIns="0" rIns="0" bIns="0" rtlCol="0" anchor="ctr"/>
          <a:lstStyle/>
          <a:p>
            <a:pPr marL="0" indent="0">
              <a:buNone/>
            </a:pPr>
            <a:r>
              <a:rPr lang="en-US" sz="1300" b="1" dirty="0">
                <a:solidFill>
                  <a:srgbClr val="34D399"/>
                </a:solidFill>
                <a:latin typeface="Trebuchet MS" pitchFamily="34" charset="0"/>
                <a:ea typeface="Trebuchet MS" pitchFamily="34" charset="-122"/>
                <a:cs typeface="Trebuchet MS" pitchFamily="34" charset="-120"/>
              </a:rPr>
              <a:t>Hold and settle</a:t>
            </a:r>
            <a:endParaRPr lang="en-US" sz="1300" dirty="0"/>
          </a:p>
        </p:txBody>
      </p:sp>
      <p:sp>
        <p:nvSpPr>
          <p:cNvPr id="25" name="Text 23"/>
          <p:cNvSpPr/>
          <p:nvPr/>
        </p:nvSpPr>
        <p:spPr>
          <a:xfrm>
            <a:off x="5120640" y="2231136"/>
            <a:ext cx="1920240" cy="502920"/>
          </a:xfrm>
          <a:prstGeom prst="rect">
            <a:avLst/>
          </a:prstGeom>
          <a:noFill/>
          <a:ln/>
        </p:spPr>
        <p:txBody>
          <a:bodyPr wrap="square" lIns="0" tIns="0" rIns="0" bIns="0" rtlCol="0" anchor="ctr"/>
          <a:lstStyle/>
          <a:p>
            <a:pPr marL="0" indent="0">
              <a:lnSpc>
                <a:spcPct val="105000"/>
              </a:lnSpc>
              <a:buNone/>
            </a:pPr>
            <a:r>
              <a:rPr lang="en-US" sz="1100" dirty="0">
                <a:solidFill>
                  <a:srgbClr val="AAB2BD"/>
                </a:solidFill>
                <a:latin typeface="Calibri" pitchFamily="34" charset="0"/>
                <a:ea typeface="Calibri" pitchFamily="34" charset="-122"/>
                <a:cs typeface="Calibri" pitchFamily="34" charset="-120"/>
              </a:rPr>
              <a:t>Daily variation margin, +$700 total</a:t>
            </a:r>
            <a:endParaRPr lang="en-US" sz="1100" dirty="0"/>
          </a:p>
        </p:txBody>
      </p:sp>
      <p:sp>
        <p:nvSpPr>
          <p:cNvPr id="26" name="connector">
            <a:extLst>
              <a:ext uri="{C183D7F6-B498-43B3-948B-1728B52AA6E4}">
                <adec:decorative xmlns:adec="http://schemas.microsoft.com/office/drawing/2017/decorative" val="1"/>
              </a:ext>
            </a:extLst>
          </p:cNvPr>
          <p:cNvSpPr/>
          <p:nvPr/>
        </p:nvSpPr>
        <p:spPr>
          <a:xfrm>
            <a:off x="6080760" y="2788920"/>
            <a:ext cx="0" cy="146304"/>
          </a:xfrm>
          <a:prstGeom prst="line">
            <a:avLst/>
          </a:prstGeom>
          <a:noFill/>
          <a:ln w="12700">
            <a:solidFill>
              <a:srgbClr val="343E4A"/>
            </a:solidFill>
            <a:prstDash val="solid"/>
            <a:headEnd type="none"/>
            <a:tailEnd type="none"/>
          </a:ln>
        </p:spPr>
        <p:txBody>
          <a:bodyPr/>
          <a:lstStyle/>
          <a:p>
            <a:endParaRPr lang="en-SE"/>
          </a:p>
        </p:txBody>
      </p:sp>
      <p:sp>
        <p:nvSpPr>
          <p:cNvPr id="27" name="dot">
            <a:extLst>
              <a:ext uri="{C183D7F6-B498-43B3-948B-1728B52AA6E4}">
                <adec:decorative xmlns:adec="http://schemas.microsoft.com/office/drawing/2017/decorative" val="1"/>
              </a:ext>
            </a:extLst>
          </p:cNvPr>
          <p:cNvSpPr/>
          <p:nvPr/>
        </p:nvSpPr>
        <p:spPr>
          <a:xfrm>
            <a:off x="8398764" y="2935224"/>
            <a:ext cx="256032" cy="256032"/>
          </a:xfrm>
          <a:prstGeom prst="ellipse">
            <a:avLst/>
          </a:prstGeom>
          <a:solidFill>
            <a:srgbClr val="34D399"/>
          </a:solidFill>
          <a:ln/>
        </p:spPr>
        <p:txBody>
          <a:bodyPr/>
          <a:lstStyle/>
          <a:p>
            <a:endParaRPr lang="en-SE"/>
          </a:p>
        </p:txBody>
      </p:sp>
      <p:sp>
        <p:nvSpPr>
          <p:cNvPr id="28" name="Text 26"/>
          <p:cNvSpPr/>
          <p:nvPr/>
        </p:nvSpPr>
        <p:spPr>
          <a:xfrm>
            <a:off x="8398764" y="2935224"/>
            <a:ext cx="256032" cy="256032"/>
          </a:xfrm>
          <a:prstGeom prst="rect">
            <a:avLst/>
          </a:prstGeom>
          <a:noFill/>
          <a:ln/>
        </p:spPr>
        <p:txBody>
          <a:bodyPr wrap="square" lIns="0" tIns="0" rIns="0" bIns="0" rtlCol="0" anchor="ctr"/>
          <a:lstStyle/>
          <a:p>
            <a:pPr marL="0" indent="0" algn="ctr">
              <a:buNone/>
            </a:pPr>
            <a:r>
              <a:rPr lang="en-US" sz="1100" b="1" dirty="0">
                <a:solidFill>
                  <a:srgbClr val="14171C"/>
                </a:solidFill>
                <a:latin typeface="Trebuchet MS" pitchFamily="34" charset="0"/>
                <a:ea typeface="Trebuchet MS" pitchFamily="34" charset="-122"/>
                <a:cs typeface="Trebuchet MS" pitchFamily="34" charset="-120"/>
              </a:rPr>
              <a:t>4</a:t>
            </a:r>
            <a:endParaRPr lang="en-US" sz="1100" dirty="0"/>
          </a:p>
        </p:txBody>
      </p:sp>
      <p:sp>
        <p:nvSpPr>
          <p:cNvPr id="29" name="panel">
            <a:extLst>
              <a:ext uri="{C183D7F6-B498-43B3-948B-1728B52AA6E4}">
                <adec:decorative xmlns:adec="http://schemas.microsoft.com/office/drawing/2017/decorative" val="1"/>
              </a:ext>
            </a:extLst>
          </p:cNvPr>
          <p:cNvSpPr/>
          <p:nvPr/>
        </p:nvSpPr>
        <p:spPr>
          <a:xfrm>
            <a:off x="7475220" y="3337560"/>
            <a:ext cx="2103120" cy="960120"/>
          </a:xfrm>
          <a:prstGeom prst="roundRect">
            <a:avLst>
              <a:gd name="adj" fmla="val 8571"/>
            </a:avLst>
          </a:prstGeom>
          <a:solidFill>
            <a:srgbClr val="1F252D"/>
          </a:solidFill>
          <a:ln w="12700">
            <a:solidFill>
              <a:srgbClr val="343E4A"/>
            </a:solidFill>
            <a:prstDash val="solid"/>
          </a:ln>
        </p:spPr>
        <p:txBody>
          <a:bodyPr/>
          <a:lstStyle/>
          <a:p>
            <a:endParaRPr lang="en-SE"/>
          </a:p>
        </p:txBody>
      </p:sp>
      <p:sp>
        <p:nvSpPr>
          <p:cNvPr id="30" name="Text 28"/>
          <p:cNvSpPr/>
          <p:nvPr/>
        </p:nvSpPr>
        <p:spPr>
          <a:xfrm>
            <a:off x="7566660" y="3429000"/>
            <a:ext cx="1920240" cy="320040"/>
          </a:xfrm>
          <a:prstGeom prst="rect">
            <a:avLst/>
          </a:prstGeom>
          <a:noFill/>
          <a:ln/>
        </p:spPr>
        <p:txBody>
          <a:bodyPr wrap="square" lIns="0" tIns="0" rIns="0" bIns="0" rtlCol="0" anchor="ctr"/>
          <a:lstStyle/>
          <a:p>
            <a:pPr marL="0" indent="0">
              <a:buNone/>
            </a:pPr>
            <a:r>
              <a:rPr lang="en-US" sz="1300" b="1" dirty="0">
                <a:solidFill>
                  <a:srgbClr val="34D399"/>
                </a:solidFill>
                <a:latin typeface="Trebuchet MS" pitchFamily="34" charset="0"/>
                <a:ea typeface="Trebuchet MS" pitchFamily="34" charset="-122"/>
                <a:cs typeface="Trebuchet MS" pitchFamily="34" charset="-120"/>
              </a:rPr>
              <a:t>Sell to close</a:t>
            </a:r>
            <a:endParaRPr lang="en-US" sz="1300" dirty="0"/>
          </a:p>
        </p:txBody>
      </p:sp>
      <p:sp>
        <p:nvSpPr>
          <p:cNvPr id="31" name="Text 29"/>
          <p:cNvSpPr/>
          <p:nvPr/>
        </p:nvSpPr>
        <p:spPr>
          <a:xfrm>
            <a:off x="7566660" y="3739896"/>
            <a:ext cx="1920240" cy="502920"/>
          </a:xfrm>
          <a:prstGeom prst="rect">
            <a:avLst/>
          </a:prstGeom>
          <a:noFill/>
          <a:ln/>
        </p:spPr>
        <p:txBody>
          <a:bodyPr wrap="square" lIns="0" tIns="0" rIns="0" bIns="0" rtlCol="0" anchor="ctr"/>
          <a:lstStyle/>
          <a:p>
            <a:pPr marL="0" indent="0">
              <a:lnSpc>
                <a:spcPct val="105000"/>
              </a:lnSpc>
              <a:buNone/>
            </a:pPr>
            <a:r>
              <a:rPr lang="en-US" sz="1100" dirty="0">
                <a:solidFill>
                  <a:srgbClr val="AAB2BD"/>
                </a:solidFill>
                <a:latin typeface="Calibri" pitchFamily="34" charset="0"/>
                <a:ea typeface="Calibri" pitchFamily="34" charset="-122"/>
                <a:cs typeface="Calibri" pitchFamily="34" charset="-120"/>
              </a:rPr>
              <a:t>Exit at +$0.20, both legs flat</a:t>
            </a:r>
            <a:endParaRPr lang="en-US" sz="1100" dirty="0"/>
          </a:p>
        </p:txBody>
      </p:sp>
      <p:sp>
        <p:nvSpPr>
          <p:cNvPr id="32" name="connector">
            <a:extLst>
              <a:ext uri="{C183D7F6-B498-43B3-948B-1728B52AA6E4}">
                <adec:decorative xmlns:adec="http://schemas.microsoft.com/office/drawing/2017/decorative" val="1"/>
              </a:ext>
            </a:extLst>
          </p:cNvPr>
          <p:cNvSpPr/>
          <p:nvPr/>
        </p:nvSpPr>
        <p:spPr>
          <a:xfrm>
            <a:off x="8526780" y="3191256"/>
            <a:ext cx="0" cy="146304"/>
          </a:xfrm>
          <a:prstGeom prst="line">
            <a:avLst/>
          </a:prstGeom>
          <a:noFill/>
          <a:ln w="12700">
            <a:solidFill>
              <a:srgbClr val="343E4A"/>
            </a:solidFill>
            <a:prstDash val="solid"/>
            <a:headEnd type="none"/>
            <a:tailEnd type="none"/>
          </a:ln>
        </p:spPr>
        <p:txBody>
          <a:bodyPr/>
          <a:lstStyle/>
          <a:p>
            <a:endParaRPr lang="en-SE"/>
          </a:p>
        </p:txBody>
      </p:sp>
      <p:sp>
        <p:nvSpPr>
          <p:cNvPr id="33" name="dot">
            <a:extLst>
              <a:ext uri="{C183D7F6-B498-43B3-948B-1728B52AA6E4}">
                <adec:decorative xmlns:adec="http://schemas.microsoft.com/office/drawing/2017/decorative" val="1"/>
              </a:ext>
            </a:extLst>
          </p:cNvPr>
          <p:cNvSpPr/>
          <p:nvPr/>
        </p:nvSpPr>
        <p:spPr>
          <a:xfrm>
            <a:off x="10844784" y="2935224"/>
            <a:ext cx="256032" cy="256032"/>
          </a:xfrm>
          <a:prstGeom prst="ellipse">
            <a:avLst/>
          </a:prstGeom>
          <a:solidFill>
            <a:srgbClr val="34D399"/>
          </a:solidFill>
          <a:ln/>
        </p:spPr>
        <p:txBody>
          <a:bodyPr/>
          <a:lstStyle/>
          <a:p>
            <a:endParaRPr lang="en-SE"/>
          </a:p>
        </p:txBody>
      </p:sp>
      <p:sp>
        <p:nvSpPr>
          <p:cNvPr id="34" name="Text 32"/>
          <p:cNvSpPr/>
          <p:nvPr/>
        </p:nvSpPr>
        <p:spPr>
          <a:xfrm>
            <a:off x="10844784" y="2935224"/>
            <a:ext cx="256032" cy="256032"/>
          </a:xfrm>
          <a:prstGeom prst="rect">
            <a:avLst/>
          </a:prstGeom>
          <a:noFill/>
          <a:ln/>
        </p:spPr>
        <p:txBody>
          <a:bodyPr wrap="square" lIns="0" tIns="0" rIns="0" bIns="0" rtlCol="0" anchor="ctr"/>
          <a:lstStyle/>
          <a:p>
            <a:pPr marL="0" indent="0" algn="ctr">
              <a:buNone/>
            </a:pPr>
            <a:r>
              <a:rPr lang="en-US" sz="1100" b="1" dirty="0">
                <a:solidFill>
                  <a:srgbClr val="14171C"/>
                </a:solidFill>
                <a:latin typeface="Trebuchet MS" pitchFamily="34" charset="0"/>
                <a:ea typeface="Trebuchet MS" pitchFamily="34" charset="-122"/>
                <a:cs typeface="Trebuchet MS" pitchFamily="34" charset="-120"/>
              </a:rPr>
              <a:t>5</a:t>
            </a:r>
            <a:endParaRPr lang="en-US" sz="1100" dirty="0"/>
          </a:p>
        </p:txBody>
      </p:sp>
      <p:sp>
        <p:nvSpPr>
          <p:cNvPr id="35" name="panel">
            <a:extLst>
              <a:ext uri="{C183D7F6-B498-43B3-948B-1728B52AA6E4}">
                <adec:decorative xmlns:adec="http://schemas.microsoft.com/office/drawing/2017/decorative" val="1"/>
              </a:ext>
            </a:extLst>
          </p:cNvPr>
          <p:cNvSpPr/>
          <p:nvPr/>
        </p:nvSpPr>
        <p:spPr>
          <a:xfrm>
            <a:off x="9921240" y="1828800"/>
            <a:ext cx="2103120" cy="960120"/>
          </a:xfrm>
          <a:prstGeom prst="roundRect">
            <a:avLst>
              <a:gd name="adj" fmla="val 8571"/>
            </a:avLst>
          </a:prstGeom>
          <a:solidFill>
            <a:srgbClr val="1F252D"/>
          </a:solidFill>
          <a:ln w="12700">
            <a:solidFill>
              <a:srgbClr val="343E4A"/>
            </a:solidFill>
            <a:prstDash val="solid"/>
          </a:ln>
        </p:spPr>
        <p:txBody>
          <a:bodyPr/>
          <a:lstStyle/>
          <a:p>
            <a:endParaRPr lang="en-SE"/>
          </a:p>
        </p:txBody>
      </p:sp>
      <p:sp>
        <p:nvSpPr>
          <p:cNvPr id="36" name="Text 34"/>
          <p:cNvSpPr/>
          <p:nvPr/>
        </p:nvSpPr>
        <p:spPr>
          <a:xfrm>
            <a:off x="10012680" y="1920240"/>
            <a:ext cx="1920240" cy="320040"/>
          </a:xfrm>
          <a:prstGeom prst="rect">
            <a:avLst/>
          </a:prstGeom>
          <a:noFill/>
          <a:ln/>
        </p:spPr>
        <p:txBody>
          <a:bodyPr wrap="square" lIns="0" tIns="0" rIns="0" bIns="0" rtlCol="0" anchor="ctr"/>
          <a:lstStyle/>
          <a:p>
            <a:pPr marL="0" indent="0">
              <a:buNone/>
            </a:pPr>
            <a:r>
              <a:rPr lang="en-US" sz="1300" b="1" dirty="0">
                <a:solidFill>
                  <a:srgbClr val="34D399"/>
                </a:solidFill>
                <a:latin typeface="Trebuchet MS" pitchFamily="34" charset="0"/>
                <a:ea typeface="Trebuchet MS" pitchFamily="34" charset="-122"/>
                <a:cs typeface="Trebuchet MS" pitchFamily="34" charset="-120"/>
              </a:rPr>
              <a:t>Cash out</a:t>
            </a:r>
            <a:endParaRPr lang="en-US" sz="1300" dirty="0"/>
          </a:p>
        </p:txBody>
      </p:sp>
      <p:sp>
        <p:nvSpPr>
          <p:cNvPr id="37" name="Text 35"/>
          <p:cNvSpPr/>
          <p:nvPr/>
        </p:nvSpPr>
        <p:spPr>
          <a:xfrm>
            <a:off x="10012680" y="2231136"/>
            <a:ext cx="1920240" cy="502920"/>
          </a:xfrm>
          <a:prstGeom prst="rect">
            <a:avLst/>
          </a:prstGeom>
          <a:noFill/>
          <a:ln/>
        </p:spPr>
        <p:txBody>
          <a:bodyPr wrap="square" lIns="0" tIns="0" rIns="0" bIns="0" rtlCol="0" anchor="ctr"/>
          <a:lstStyle/>
          <a:p>
            <a:pPr marL="0" indent="0">
              <a:lnSpc>
                <a:spcPct val="105000"/>
              </a:lnSpc>
              <a:buNone/>
            </a:pPr>
            <a:r>
              <a:rPr lang="en-US" sz="1100" dirty="0">
                <a:solidFill>
                  <a:srgbClr val="AAB2BD"/>
                </a:solidFill>
                <a:latin typeface="Calibri" pitchFamily="34" charset="0"/>
                <a:ea typeface="Calibri" pitchFamily="34" charset="-122"/>
                <a:cs typeface="Calibri" pitchFamily="34" charset="-120"/>
              </a:rPr>
              <a:t>Margin released, +$700 profit kept</a:t>
            </a:r>
            <a:endParaRPr lang="en-US" sz="1100" dirty="0"/>
          </a:p>
        </p:txBody>
      </p:sp>
      <p:sp>
        <p:nvSpPr>
          <p:cNvPr id="38" name="connector">
            <a:extLst>
              <a:ext uri="{C183D7F6-B498-43B3-948B-1728B52AA6E4}">
                <adec:decorative xmlns:adec="http://schemas.microsoft.com/office/drawing/2017/decorative" val="1"/>
              </a:ext>
            </a:extLst>
          </p:cNvPr>
          <p:cNvSpPr/>
          <p:nvPr/>
        </p:nvSpPr>
        <p:spPr>
          <a:xfrm>
            <a:off x="10972800" y="2788920"/>
            <a:ext cx="0" cy="146304"/>
          </a:xfrm>
          <a:prstGeom prst="line">
            <a:avLst/>
          </a:prstGeom>
          <a:noFill/>
          <a:ln w="12700">
            <a:solidFill>
              <a:srgbClr val="343E4A"/>
            </a:solidFill>
            <a:prstDash val="solid"/>
            <a:headEnd type="none"/>
            <a:tailEnd type="none"/>
          </a:ln>
        </p:spPr>
        <p:txBody>
          <a:bodyPr/>
          <a:lstStyle/>
          <a:p>
            <a:endParaRPr lang="en-SE"/>
          </a:p>
        </p:txBody>
      </p:sp>
      <p:sp>
        <p:nvSpPr>
          <p:cNvPr id="39"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40"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41" name="Text 39"/>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One atomic buy, a few days of daily cash, one atomic sell — and a negative-cost spread became +$700.</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Where This Goes Next">
    <p:spTree>
      <p:nvGrpSpPr>
        <p:cNvPr id="1" name=""/>
        <p:cNvGrpSpPr/>
        <p:nvPr/>
      </p:nvGrpSpPr>
      <p:grpSpPr>
        <a:xfrm>
          <a:off x="0" y="0"/>
          <a:ext cx="0" cy="0"/>
          <a:chOff x="0" y="0"/>
          <a:chExt cx="0" cy="0"/>
        </a:xfrm>
      </p:grpSpPr>
      <p:sp>
        <p:nvSpPr>
          <p:cNvPr id="2" name="Text 0"/>
          <p:cNvSpPr/>
          <p:nvPr/>
        </p:nvSpPr>
        <p:spPr>
          <a:xfrm>
            <a:off x="777240" y="502920"/>
            <a:ext cx="5486400" cy="2377440"/>
          </a:xfrm>
          <a:prstGeom prst="rect">
            <a:avLst/>
          </a:prstGeom>
          <a:noFill/>
          <a:ln/>
        </p:spPr>
        <p:txBody>
          <a:bodyPr wrap="square" lIns="0" tIns="0" rIns="0" bIns="0" rtlCol="0" anchor="ctr"/>
          <a:lstStyle/>
          <a:p>
            <a:pPr marL="0" indent="0">
              <a:buNone/>
            </a:pPr>
            <a:r>
              <a:rPr lang="en-US" sz="15000" b="1" dirty="0">
                <a:solidFill>
                  <a:srgbClr val="262E38"/>
                </a:solidFill>
                <a:latin typeface="Trebuchet MS" pitchFamily="34" charset="0"/>
                <a:ea typeface="Trebuchet MS" pitchFamily="34" charset="-122"/>
                <a:cs typeface="Trebuchet MS" pitchFamily="34" charset="-120"/>
              </a:rPr>
              <a:t>06</a:t>
            </a:r>
            <a:endParaRPr lang="en-US" sz="15000" dirty="0"/>
          </a:p>
        </p:txBody>
      </p:sp>
      <p:sp>
        <p:nvSpPr>
          <p:cNvPr id="3" name="accent">
            <a:extLst>
              <a:ext uri="{C183D7F6-B498-43B3-948B-1728B52AA6E4}">
                <adec:decorative xmlns:adec="http://schemas.microsoft.com/office/drawing/2017/decorative" val="1"/>
              </a:ext>
            </a:extLst>
          </p:cNvPr>
          <p:cNvSpPr/>
          <p:nvPr/>
        </p:nvSpPr>
        <p:spPr>
          <a:xfrm>
            <a:off x="1325880" y="3072384"/>
            <a:ext cx="457200" cy="100584"/>
          </a:xfrm>
          <a:prstGeom prst="rect">
            <a:avLst/>
          </a:prstGeom>
          <a:solidFill>
            <a:srgbClr val="34D399"/>
          </a:solidFill>
          <a:ln/>
        </p:spPr>
        <p:txBody>
          <a:bodyPr/>
          <a:lstStyle/>
          <a:p>
            <a:endParaRPr lang="en-SE"/>
          </a:p>
        </p:txBody>
      </p:sp>
      <p:sp>
        <p:nvSpPr>
          <p:cNvPr id="4" name="Text 2"/>
          <p:cNvSpPr/>
          <p:nvPr/>
        </p:nvSpPr>
        <p:spPr>
          <a:xfrm>
            <a:off x="1325880" y="2697480"/>
            <a:ext cx="7315200" cy="320040"/>
          </a:xfrm>
          <a:prstGeom prst="rect">
            <a:avLst/>
          </a:prstGeom>
          <a:noFill/>
          <a:ln/>
        </p:spPr>
        <p:txBody>
          <a:bodyPr wrap="square" lIns="0" tIns="0" rIns="0" bIns="0" rtlCol="0" anchor="ctr"/>
          <a:lstStyle/>
          <a:p>
            <a:pPr marL="0" indent="0">
              <a:buNone/>
            </a:pPr>
            <a:r>
              <a:rPr lang="en-US" sz="1300" b="1" kern="0" spc="400" dirty="0">
                <a:solidFill>
                  <a:srgbClr val="34D399"/>
                </a:solidFill>
                <a:latin typeface="Trebuchet MS" pitchFamily="34" charset="0"/>
                <a:ea typeface="Trebuchet MS" pitchFamily="34" charset="-122"/>
                <a:cs typeface="Trebuchet MS" pitchFamily="34" charset="-120"/>
              </a:rPr>
              <a:t>SECTION 06</a:t>
            </a:r>
            <a:endParaRPr lang="en-US" sz="1300" dirty="0"/>
          </a:p>
        </p:txBody>
      </p:sp>
      <p:sp>
        <p:nvSpPr>
          <p:cNvPr id="5" name="Text 0"/>
          <p:cNvSpPr>
            <a:spLocks noGrp="1"/>
          </p:cNvSpPr>
          <p:nvPr>
            <p:ph type="title" idx="100" hasCustomPrompt="1"/>
          </p:nvPr>
        </p:nvSpPr>
        <p:spPr>
          <a:xfrm>
            <a:off x="1280160" y="2926080"/>
            <a:ext cx="9601200" cy="1280160"/>
          </a:xfrm>
          <a:prstGeom prst="rect">
            <a:avLst/>
          </a:prstGeom>
          <a:noFill/>
          <a:ln/>
        </p:spPr>
        <p:txBody>
          <a:bodyPr wrap="square" lIns="0" tIns="0" rIns="0" bIns="0" rtlCol="0"/>
          <a:lstStyle/>
          <a:p>
            <a:pPr marL="0" indent="0">
              <a:buNone/>
            </a:pPr>
            <a:r>
              <a:rPr lang="en-US" sz="3300" b="1" dirty="0">
                <a:solidFill>
                  <a:srgbClr val="E7EBF0"/>
                </a:solidFill>
                <a:latin typeface="Trebuchet MS" pitchFamily="34" charset="0"/>
                <a:ea typeface="Trebuchet MS" pitchFamily="34" charset="-122"/>
                <a:cs typeface="Trebuchet MS" pitchFamily="34" charset="-120"/>
              </a:rPr>
              <a:t>Where This Goes Next</a:t>
            </a:r>
            <a:endParaRPr lang="en-US" sz="3300" dirty="0"/>
          </a:p>
        </p:txBody>
      </p:sp>
      <p:sp>
        <p:nvSpPr>
          <p:cNvPr id="6" name="Text 4"/>
          <p:cNvSpPr/>
          <p:nvPr/>
        </p:nvSpPr>
        <p:spPr>
          <a:xfrm>
            <a:off x="1325880" y="4160520"/>
            <a:ext cx="9326880" cy="822960"/>
          </a:xfrm>
          <a:prstGeom prst="rect">
            <a:avLst/>
          </a:prstGeom>
          <a:noFill/>
          <a:ln/>
        </p:spPr>
        <p:txBody>
          <a:bodyPr wrap="square" lIns="0" tIns="0" rIns="0" bIns="0" rtlCol="0" anchor="ctr"/>
          <a:lstStyle/>
          <a:p>
            <a:pPr marL="0" indent="0">
              <a:lnSpc>
                <a:spcPct val="110000"/>
              </a:lnSpc>
              <a:buNone/>
            </a:pPr>
            <a:r>
              <a:rPr lang="en-US" sz="1500" dirty="0">
                <a:solidFill>
                  <a:srgbClr val="AAB2BD"/>
                </a:solidFill>
                <a:latin typeface="Calibri" pitchFamily="34" charset="0"/>
                <a:ea typeface="Calibri" pitchFamily="34" charset="-122"/>
                <a:cs typeface="Calibri" pitchFamily="34" charset="-120"/>
              </a:rPr>
              <a:t>You now understand a two-legged combo completely. One practical problem remains — and it points to the next presentation.</a:t>
            </a:r>
            <a:endParaRPr lang="en-US" sz="1500" dirty="0"/>
          </a:p>
        </p:txBody>
      </p:sp>
      <p:sp>
        <p:nvSpPr>
          <p:cNvPr id="7" name="mark">
            <a:extLst>
              <a:ext uri="{C183D7F6-B498-43B3-948B-1728B52AA6E4}">
                <adec:decorative xmlns:adec="http://schemas.microsoft.com/office/drawing/2017/decorative" val="1"/>
              </a:ext>
            </a:extLst>
          </p:cNvPr>
          <p:cNvSpPr/>
          <p:nvPr/>
        </p:nvSpPr>
        <p:spPr>
          <a:xfrm>
            <a:off x="1325880" y="6126480"/>
            <a:ext cx="128016" cy="128016"/>
          </a:xfrm>
          <a:prstGeom prst="rect">
            <a:avLst/>
          </a:prstGeom>
          <a:solidFill>
            <a:srgbClr val="34D399"/>
          </a:solidFill>
          <a:ln/>
        </p:spPr>
        <p:txBody>
          <a:bodyPr/>
          <a:lstStyle/>
          <a:p>
            <a:endParaRPr lang="en-SE"/>
          </a:p>
        </p:txBody>
      </p:sp>
      <p:sp>
        <p:nvSpPr>
          <p:cNvPr id="8" name="Text 6"/>
          <p:cNvSpPr/>
          <p:nvPr/>
        </p:nvSpPr>
        <p:spPr>
          <a:xfrm>
            <a:off x="1527048" y="6080760"/>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What you can now explain to someone else">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What you can now explain to someone else</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06 · WHAT'S NEXT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49</a:t>
            </a:r>
            <a:endParaRPr lang="en-US" sz="1000" dirty="0"/>
          </a:p>
        </p:txBody>
      </p:sp>
      <p:sp>
        <p:nvSpPr>
          <p:cNvPr id="7" name="Text 5"/>
          <p:cNvSpPr/>
          <p:nvPr/>
        </p:nvSpPr>
        <p:spPr>
          <a:xfrm>
            <a:off x="640080" y="1371600"/>
            <a:ext cx="10881360" cy="457200"/>
          </a:xfrm>
          <a:prstGeom prst="rect">
            <a:avLst/>
          </a:prstGeom>
          <a:noFill/>
          <a:ln/>
        </p:spPr>
        <p:txBody>
          <a:bodyPr wrap="square" lIns="0" tIns="0" rIns="0" bIns="0" rtlCol="0" anchor="ctr"/>
          <a:lstStyle/>
          <a:p>
            <a:pPr marL="0" indent="0">
              <a:buNone/>
            </a:pPr>
            <a:r>
              <a:rPr lang="en-US" sz="1500" dirty="0">
                <a:solidFill>
                  <a:srgbClr val="AAB2BD"/>
                </a:solidFill>
                <a:latin typeface="Calibri" pitchFamily="34" charset="0"/>
                <a:ea typeface="Calibri" pitchFamily="34" charset="-122"/>
                <a:cs typeface="Calibri" pitchFamily="34" charset="-120"/>
              </a:rPr>
              <a:t>If these five sentences feel obvious, the deck did its job.</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011680"/>
            <a:ext cx="10908792" cy="658368"/>
          </a:xfrm>
          <a:prstGeom prst="roundRect">
            <a:avLst>
              <a:gd name="adj" fmla="val 12500"/>
            </a:avLst>
          </a:prstGeom>
          <a:solidFill>
            <a:srgbClr val="1F252D"/>
          </a:solidFill>
          <a:ln w="12700">
            <a:solidFill>
              <a:srgbClr val="343E4A"/>
            </a:solidFill>
            <a:prstDash val="solid"/>
          </a:ln>
        </p:spPr>
        <p:txBody>
          <a:bodyPr/>
          <a:lstStyle/>
          <a:p>
            <a:endParaRPr lang="en-SE"/>
          </a:p>
        </p:txBody>
      </p:sp>
      <p:sp>
        <p:nvSpPr>
          <p:cNvPr id="9" name="dot">
            <a:extLst>
              <a:ext uri="{C183D7F6-B498-43B3-948B-1728B52AA6E4}">
                <adec:decorative xmlns:adec="http://schemas.microsoft.com/office/drawing/2017/decorative" val="1"/>
              </a:ext>
            </a:extLst>
          </p:cNvPr>
          <p:cNvSpPr/>
          <p:nvPr/>
        </p:nvSpPr>
        <p:spPr>
          <a:xfrm>
            <a:off x="886968" y="2176272"/>
            <a:ext cx="329184" cy="329184"/>
          </a:xfrm>
          <a:prstGeom prst="ellipse">
            <a:avLst/>
          </a:prstGeom>
          <a:solidFill>
            <a:srgbClr val="34D399"/>
          </a:solidFill>
          <a:ln/>
        </p:spPr>
        <p:txBody>
          <a:bodyPr/>
          <a:lstStyle/>
          <a:p>
            <a:endParaRPr lang="en-SE"/>
          </a:p>
        </p:txBody>
      </p:sp>
      <p:sp>
        <p:nvSpPr>
          <p:cNvPr id="10" name="Text 8"/>
          <p:cNvSpPr/>
          <p:nvPr/>
        </p:nvSpPr>
        <p:spPr>
          <a:xfrm>
            <a:off x="886968" y="2176272"/>
            <a:ext cx="329184" cy="329184"/>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a:t>
            </a:r>
            <a:endParaRPr lang="en-US" sz="1400" dirty="0"/>
          </a:p>
        </p:txBody>
      </p:sp>
      <p:sp>
        <p:nvSpPr>
          <p:cNvPr id="11" name="Text 9"/>
          <p:cNvSpPr/>
          <p:nvPr/>
        </p:nvSpPr>
        <p:spPr>
          <a:xfrm>
            <a:off x="1417320" y="2011680"/>
            <a:ext cx="9966960" cy="658368"/>
          </a:xfrm>
          <a:prstGeom prst="rect">
            <a:avLst/>
          </a:prstGeom>
          <a:noFill/>
          <a:ln/>
        </p:spPr>
        <p:txBody>
          <a:bodyPr wrap="square" lIns="0" tIns="0" rIns="0" bIns="0" rtlCol="0" anchor="ctr"/>
          <a:lstStyle/>
          <a:p>
            <a:pPr marL="0" indent="0">
              <a:buNone/>
            </a:pPr>
            <a:r>
              <a:rPr lang="en-US" sz="1400" dirty="0">
                <a:solidFill>
                  <a:srgbClr val="E7EBF0"/>
                </a:solidFill>
                <a:latin typeface="Calibri" pitchFamily="34" charset="0"/>
                <a:ea typeface="Calibri" pitchFamily="34" charset="-122"/>
                <a:cs typeface="Calibri" pitchFamily="34" charset="-120"/>
              </a:rPr>
              <a:t>Why trading two legs separately is dangerous — leg risk and naked exposure.</a:t>
            </a:r>
            <a:endParaRPr lang="en-US" sz="1400" dirty="0"/>
          </a:p>
        </p:txBody>
      </p:sp>
      <p:sp>
        <p:nvSpPr>
          <p:cNvPr id="12" name="panel">
            <a:extLst>
              <a:ext uri="{C183D7F6-B498-43B3-948B-1728B52AA6E4}">
                <adec:decorative xmlns:adec="http://schemas.microsoft.com/office/drawing/2017/decorative" val="1"/>
              </a:ext>
            </a:extLst>
          </p:cNvPr>
          <p:cNvSpPr/>
          <p:nvPr/>
        </p:nvSpPr>
        <p:spPr>
          <a:xfrm>
            <a:off x="640080" y="2761488"/>
            <a:ext cx="10908792" cy="658368"/>
          </a:xfrm>
          <a:prstGeom prst="roundRect">
            <a:avLst>
              <a:gd name="adj" fmla="val 12500"/>
            </a:avLst>
          </a:prstGeom>
          <a:solidFill>
            <a:srgbClr val="191D23"/>
          </a:solidFill>
          <a:ln w="12700">
            <a:solidFill>
              <a:srgbClr val="343E4A"/>
            </a:solidFill>
            <a:prstDash val="solid"/>
          </a:ln>
        </p:spPr>
        <p:txBody>
          <a:bodyPr/>
          <a:lstStyle/>
          <a:p>
            <a:endParaRPr lang="en-SE"/>
          </a:p>
        </p:txBody>
      </p:sp>
      <p:sp>
        <p:nvSpPr>
          <p:cNvPr id="13" name="dot">
            <a:extLst>
              <a:ext uri="{C183D7F6-B498-43B3-948B-1728B52AA6E4}">
                <adec:decorative xmlns:adec="http://schemas.microsoft.com/office/drawing/2017/decorative" val="1"/>
              </a:ext>
            </a:extLst>
          </p:cNvPr>
          <p:cNvSpPr/>
          <p:nvPr/>
        </p:nvSpPr>
        <p:spPr>
          <a:xfrm>
            <a:off x="886968" y="2926080"/>
            <a:ext cx="329184" cy="329184"/>
          </a:xfrm>
          <a:prstGeom prst="ellipse">
            <a:avLst/>
          </a:prstGeom>
          <a:solidFill>
            <a:srgbClr val="34D399"/>
          </a:solidFill>
          <a:ln/>
        </p:spPr>
        <p:txBody>
          <a:bodyPr/>
          <a:lstStyle/>
          <a:p>
            <a:endParaRPr lang="en-SE"/>
          </a:p>
        </p:txBody>
      </p:sp>
      <p:sp>
        <p:nvSpPr>
          <p:cNvPr id="14" name="Text 12"/>
          <p:cNvSpPr/>
          <p:nvPr/>
        </p:nvSpPr>
        <p:spPr>
          <a:xfrm>
            <a:off x="886968" y="2926080"/>
            <a:ext cx="329184" cy="329184"/>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a:t>
            </a:r>
            <a:endParaRPr lang="en-US" sz="1400" dirty="0"/>
          </a:p>
        </p:txBody>
      </p:sp>
      <p:sp>
        <p:nvSpPr>
          <p:cNvPr id="15" name="Text 13"/>
          <p:cNvSpPr/>
          <p:nvPr/>
        </p:nvSpPr>
        <p:spPr>
          <a:xfrm>
            <a:off x="1417320" y="2761488"/>
            <a:ext cx="9966960" cy="658368"/>
          </a:xfrm>
          <a:prstGeom prst="rect">
            <a:avLst/>
          </a:prstGeom>
          <a:noFill/>
          <a:ln/>
        </p:spPr>
        <p:txBody>
          <a:bodyPr wrap="square" lIns="0" tIns="0" rIns="0" bIns="0" rtlCol="0" anchor="ctr"/>
          <a:lstStyle/>
          <a:p>
            <a:pPr marL="0" indent="0">
              <a:buNone/>
            </a:pPr>
            <a:r>
              <a:rPr lang="en-US" sz="1400" dirty="0">
                <a:solidFill>
                  <a:srgbClr val="E7EBF0"/>
                </a:solidFill>
                <a:latin typeface="Calibri" pitchFamily="34" charset="0"/>
                <a:ea typeface="Calibri" pitchFamily="34" charset="-122"/>
                <a:cs typeface="Calibri" pitchFamily="34" charset="-120"/>
              </a:rPr>
              <a:t>How atomic execution fixes it: both legs at one spread price, or neither.</a:t>
            </a:r>
            <a:endParaRPr lang="en-US" sz="1400" dirty="0"/>
          </a:p>
        </p:txBody>
      </p:sp>
      <p:sp>
        <p:nvSpPr>
          <p:cNvPr id="16" name="panel">
            <a:extLst>
              <a:ext uri="{C183D7F6-B498-43B3-948B-1728B52AA6E4}">
                <adec:decorative xmlns:adec="http://schemas.microsoft.com/office/drawing/2017/decorative" val="1"/>
              </a:ext>
            </a:extLst>
          </p:cNvPr>
          <p:cNvSpPr/>
          <p:nvPr/>
        </p:nvSpPr>
        <p:spPr>
          <a:xfrm>
            <a:off x="640080" y="3511296"/>
            <a:ext cx="10908792" cy="658368"/>
          </a:xfrm>
          <a:prstGeom prst="roundRect">
            <a:avLst>
              <a:gd name="adj" fmla="val 12500"/>
            </a:avLst>
          </a:prstGeom>
          <a:solidFill>
            <a:srgbClr val="1F252D"/>
          </a:solidFill>
          <a:ln w="12700">
            <a:solidFill>
              <a:srgbClr val="343E4A"/>
            </a:solidFill>
            <a:prstDash val="solid"/>
          </a:ln>
        </p:spPr>
        <p:txBody>
          <a:bodyPr/>
          <a:lstStyle/>
          <a:p>
            <a:endParaRPr lang="en-SE"/>
          </a:p>
        </p:txBody>
      </p:sp>
      <p:sp>
        <p:nvSpPr>
          <p:cNvPr id="17" name="dot">
            <a:extLst>
              <a:ext uri="{C183D7F6-B498-43B3-948B-1728B52AA6E4}">
                <adec:decorative xmlns:adec="http://schemas.microsoft.com/office/drawing/2017/decorative" val="1"/>
              </a:ext>
            </a:extLst>
          </p:cNvPr>
          <p:cNvSpPr/>
          <p:nvPr/>
        </p:nvSpPr>
        <p:spPr>
          <a:xfrm>
            <a:off x="886968" y="3675888"/>
            <a:ext cx="329184" cy="329184"/>
          </a:xfrm>
          <a:prstGeom prst="ellipse">
            <a:avLst/>
          </a:prstGeom>
          <a:solidFill>
            <a:srgbClr val="34D399"/>
          </a:solidFill>
          <a:ln/>
        </p:spPr>
        <p:txBody>
          <a:bodyPr/>
          <a:lstStyle/>
          <a:p>
            <a:endParaRPr lang="en-SE"/>
          </a:p>
        </p:txBody>
      </p:sp>
      <p:sp>
        <p:nvSpPr>
          <p:cNvPr id="18" name="Text 16"/>
          <p:cNvSpPr/>
          <p:nvPr/>
        </p:nvSpPr>
        <p:spPr>
          <a:xfrm>
            <a:off x="886968" y="3675888"/>
            <a:ext cx="329184" cy="329184"/>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a:t>
            </a:r>
            <a:endParaRPr lang="en-US" sz="1400" dirty="0"/>
          </a:p>
        </p:txBody>
      </p:sp>
      <p:sp>
        <p:nvSpPr>
          <p:cNvPr id="19" name="Text 17"/>
          <p:cNvSpPr/>
          <p:nvPr/>
        </p:nvSpPr>
        <p:spPr>
          <a:xfrm>
            <a:off x="1417320" y="3511296"/>
            <a:ext cx="9966960" cy="658368"/>
          </a:xfrm>
          <a:prstGeom prst="rect">
            <a:avLst/>
          </a:prstGeom>
          <a:noFill/>
          <a:ln/>
        </p:spPr>
        <p:txBody>
          <a:bodyPr wrap="square" lIns="0" tIns="0" rIns="0" bIns="0" rtlCol="0" anchor="ctr"/>
          <a:lstStyle/>
          <a:p>
            <a:pPr marL="0" indent="0">
              <a:buNone/>
            </a:pPr>
            <a:r>
              <a:rPr lang="en-US" sz="1400" dirty="0">
                <a:solidFill>
                  <a:srgbClr val="E7EBF0"/>
                </a:solidFill>
                <a:latin typeface="Calibri" pitchFamily="34" charset="0"/>
                <a:ea typeface="Calibri" pitchFamily="34" charset="-122"/>
                <a:cs typeface="Calibri" pitchFamily="34" charset="-120"/>
              </a:rPr>
              <a:t>Why a spread's price can be negative, and why that is not a paradox.</a:t>
            </a:r>
            <a:endParaRPr lang="en-US" sz="1400" dirty="0"/>
          </a:p>
        </p:txBody>
      </p:sp>
      <p:sp>
        <p:nvSpPr>
          <p:cNvPr id="20" name="panel">
            <a:extLst>
              <a:ext uri="{C183D7F6-B498-43B3-948B-1728B52AA6E4}">
                <adec:decorative xmlns:adec="http://schemas.microsoft.com/office/drawing/2017/decorative" val="1"/>
              </a:ext>
            </a:extLst>
          </p:cNvPr>
          <p:cNvSpPr/>
          <p:nvPr/>
        </p:nvSpPr>
        <p:spPr>
          <a:xfrm>
            <a:off x="640080" y="4261104"/>
            <a:ext cx="10908792" cy="658368"/>
          </a:xfrm>
          <a:prstGeom prst="roundRect">
            <a:avLst>
              <a:gd name="adj" fmla="val 12500"/>
            </a:avLst>
          </a:prstGeom>
          <a:solidFill>
            <a:srgbClr val="191D23"/>
          </a:solidFill>
          <a:ln w="12700">
            <a:solidFill>
              <a:srgbClr val="343E4A"/>
            </a:solidFill>
            <a:prstDash val="solid"/>
          </a:ln>
        </p:spPr>
        <p:txBody>
          <a:bodyPr/>
          <a:lstStyle/>
          <a:p>
            <a:endParaRPr lang="en-SE"/>
          </a:p>
        </p:txBody>
      </p:sp>
      <p:sp>
        <p:nvSpPr>
          <p:cNvPr id="21" name="dot">
            <a:extLst>
              <a:ext uri="{C183D7F6-B498-43B3-948B-1728B52AA6E4}">
                <adec:decorative xmlns:adec="http://schemas.microsoft.com/office/drawing/2017/decorative" val="1"/>
              </a:ext>
            </a:extLst>
          </p:cNvPr>
          <p:cNvSpPr/>
          <p:nvPr/>
        </p:nvSpPr>
        <p:spPr>
          <a:xfrm>
            <a:off x="886968" y="4425696"/>
            <a:ext cx="329184" cy="329184"/>
          </a:xfrm>
          <a:prstGeom prst="ellipse">
            <a:avLst/>
          </a:prstGeom>
          <a:solidFill>
            <a:srgbClr val="34D399"/>
          </a:solidFill>
          <a:ln/>
        </p:spPr>
        <p:txBody>
          <a:bodyPr/>
          <a:lstStyle/>
          <a:p>
            <a:endParaRPr lang="en-SE"/>
          </a:p>
        </p:txBody>
      </p:sp>
      <p:sp>
        <p:nvSpPr>
          <p:cNvPr id="22" name="Text 20"/>
          <p:cNvSpPr/>
          <p:nvPr/>
        </p:nvSpPr>
        <p:spPr>
          <a:xfrm>
            <a:off x="886968" y="4425696"/>
            <a:ext cx="329184" cy="329184"/>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a:t>
            </a:r>
            <a:endParaRPr lang="en-US" sz="1400" dirty="0"/>
          </a:p>
        </p:txBody>
      </p:sp>
      <p:sp>
        <p:nvSpPr>
          <p:cNvPr id="23" name="Text 21"/>
          <p:cNvSpPr/>
          <p:nvPr/>
        </p:nvSpPr>
        <p:spPr>
          <a:xfrm>
            <a:off x="1417320" y="4261104"/>
            <a:ext cx="9966960" cy="658368"/>
          </a:xfrm>
          <a:prstGeom prst="rect">
            <a:avLst/>
          </a:prstGeom>
          <a:noFill/>
          <a:ln/>
        </p:spPr>
        <p:txBody>
          <a:bodyPr wrap="square" lIns="0" tIns="0" rIns="0" bIns="0" rtlCol="0" anchor="ctr"/>
          <a:lstStyle/>
          <a:p>
            <a:pPr marL="0" indent="0">
              <a:buNone/>
            </a:pPr>
            <a:r>
              <a:rPr lang="en-US" sz="1400" dirty="0">
                <a:solidFill>
                  <a:srgbClr val="E7EBF0"/>
                </a:solidFill>
                <a:latin typeface="Calibri" pitchFamily="34" charset="0"/>
                <a:ea typeface="Calibri" pitchFamily="34" charset="-122"/>
                <a:cs typeface="Calibri" pitchFamily="34" charset="-120"/>
              </a:rPr>
              <a:t>That entering costs $0 up front — only a refundable margin deposit.</a:t>
            </a:r>
            <a:endParaRPr lang="en-US" sz="1400" dirty="0"/>
          </a:p>
        </p:txBody>
      </p:sp>
      <p:sp>
        <p:nvSpPr>
          <p:cNvPr id="24" name="panel">
            <a:extLst>
              <a:ext uri="{C183D7F6-B498-43B3-948B-1728B52AA6E4}">
                <adec:decorative xmlns:adec="http://schemas.microsoft.com/office/drawing/2017/decorative" val="1"/>
              </a:ext>
            </a:extLst>
          </p:cNvPr>
          <p:cNvSpPr/>
          <p:nvPr/>
        </p:nvSpPr>
        <p:spPr>
          <a:xfrm>
            <a:off x="640080" y="5010912"/>
            <a:ext cx="10908792" cy="658368"/>
          </a:xfrm>
          <a:prstGeom prst="roundRect">
            <a:avLst>
              <a:gd name="adj" fmla="val 12500"/>
            </a:avLst>
          </a:prstGeom>
          <a:solidFill>
            <a:srgbClr val="1F252D"/>
          </a:solidFill>
          <a:ln w="12700">
            <a:solidFill>
              <a:srgbClr val="343E4A"/>
            </a:solidFill>
            <a:prstDash val="solid"/>
          </a:ln>
        </p:spPr>
        <p:txBody>
          <a:bodyPr/>
          <a:lstStyle/>
          <a:p>
            <a:endParaRPr lang="en-SE"/>
          </a:p>
        </p:txBody>
      </p:sp>
      <p:sp>
        <p:nvSpPr>
          <p:cNvPr id="25" name="dot">
            <a:extLst>
              <a:ext uri="{C183D7F6-B498-43B3-948B-1728B52AA6E4}">
                <adec:decorative xmlns:adec="http://schemas.microsoft.com/office/drawing/2017/decorative" val="1"/>
              </a:ext>
            </a:extLst>
          </p:cNvPr>
          <p:cNvSpPr/>
          <p:nvPr/>
        </p:nvSpPr>
        <p:spPr>
          <a:xfrm>
            <a:off x="886968" y="5175504"/>
            <a:ext cx="329184" cy="329184"/>
          </a:xfrm>
          <a:prstGeom prst="ellipse">
            <a:avLst/>
          </a:prstGeom>
          <a:solidFill>
            <a:srgbClr val="34D399"/>
          </a:solidFill>
          <a:ln/>
        </p:spPr>
        <p:txBody>
          <a:bodyPr/>
          <a:lstStyle/>
          <a:p>
            <a:endParaRPr lang="en-SE"/>
          </a:p>
        </p:txBody>
      </p:sp>
      <p:sp>
        <p:nvSpPr>
          <p:cNvPr id="26" name="Text 24"/>
          <p:cNvSpPr/>
          <p:nvPr/>
        </p:nvSpPr>
        <p:spPr>
          <a:xfrm>
            <a:off x="886968" y="5175504"/>
            <a:ext cx="329184" cy="329184"/>
          </a:xfrm>
          <a:prstGeom prst="rect">
            <a:avLst/>
          </a:prstGeom>
          <a:noFill/>
          <a:ln/>
        </p:spPr>
        <p:txBody>
          <a:bodyPr wrap="square" lIns="0" tIns="0" rIns="0" bIns="0" rtlCol="0" anchor="ctr"/>
          <a:lstStyle/>
          <a:p>
            <a:pPr marL="0" indent="0" algn="ctr">
              <a:buNone/>
            </a:pPr>
            <a:r>
              <a:rPr lang="en-US" sz="1400" b="1" dirty="0">
                <a:solidFill>
                  <a:srgbClr val="14171C"/>
                </a:solidFill>
                <a:latin typeface="Trebuchet MS" pitchFamily="34" charset="0"/>
                <a:ea typeface="Trebuchet MS" pitchFamily="34" charset="-122"/>
                <a:cs typeface="Trebuchet MS" pitchFamily="34" charset="-120"/>
              </a:rPr>
              <a:t>✓</a:t>
            </a:r>
            <a:endParaRPr lang="en-US" sz="1400" dirty="0"/>
          </a:p>
        </p:txBody>
      </p:sp>
      <p:sp>
        <p:nvSpPr>
          <p:cNvPr id="27" name="Text 25"/>
          <p:cNvSpPr/>
          <p:nvPr/>
        </p:nvSpPr>
        <p:spPr>
          <a:xfrm>
            <a:off x="1417320" y="5010912"/>
            <a:ext cx="9966960" cy="658368"/>
          </a:xfrm>
          <a:prstGeom prst="rect">
            <a:avLst/>
          </a:prstGeom>
          <a:noFill/>
          <a:ln/>
        </p:spPr>
        <p:txBody>
          <a:bodyPr wrap="square" lIns="0" tIns="0" rIns="0" bIns="0" rtlCol="0" anchor="ctr"/>
          <a:lstStyle/>
          <a:p>
            <a:pPr marL="0" indent="0">
              <a:buNone/>
            </a:pPr>
            <a:r>
              <a:rPr lang="en-US" sz="1400" dirty="0">
                <a:solidFill>
                  <a:srgbClr val="E7EBF0"/>
                </a:solidFill>
                <a:latin typeface="Calibri" pitchFamily="34" charset="0"/>
                <a:ea typeface="Calibri" pitchFamily="34" charset="-122"/>
                <a:cs typeface="Calibri" pitchFamily="34" charset="-120"/>
              </a:rPr>
              <a:t>How daily variation margin turns a $0.70 move into $700 of real cash.</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The one problem we left open">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one problem we left open</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06 · WHAT'S NEXT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50</a:t>
            </a:r>
            <a:endParaRPr lang="en-US" sz="1000" dirty="0"/>
          </a:p>
        </p:txBody>
      </p:sp>
      <p:sp>
        <p:nvSpPr>
          <p:cNvPr id="7" name="Text 5"/>
          <p:cNvSpPr/>
          <p:nvPr/>
        </p:nvSpPr>
        <p:spPr>
          <a:xfrm>
            <a:off x="640080" y="1371600"/>
            <a:ext cx="10881360" cy="731520"/>
          </a:xfrm>
          <a:prstGeom prst="rect">
            <a:avLst/>
          </a:prstGeom>
          <a:noFill/>
          <a:ln/>
        </p:spPr>
        <p:txBody>
          <a:bodyPr wrap="square" lIns="0" tIns="0" rIns="0" bIns="0" rtlCol="0" anchor="ctr"/>
          <a:lstStyle/>
          <a:p>
            <a:pPr marL="0" indent="0">
              <a:lnSpc>
                <a:spcPct val="115000"/>
              </a:lnSpc>
              <a:buNone/>
            </a:pPr>
            <a:r>
              <a:rPr lang="en-US" sz="1500" dirty="0">
                <a:solidFill>
                  <a:srgbClr val="AAB2BD"/>
                </a:solidFill>
                <a:latin typeface="Calibri" pitchFamily="34" charset="0"/>
                <a:ea typeface="Calibri" pitchFamily="34" charset="-122"/>
                <a:cs typeface="Calibri" pitchFamily="34" charset="-120"/>
              </a:rPr>
              <a:t>Our whole story assumed a counterparty was waiting to take the exact spread we wanted. Often, nobody is quoting the spread directly — only the individual months trade.</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331720"/>
            <a:ext cx="5303520" cy="2651760"/>
          </a:xfrm>
          <a:prstGeom prst="roundRect">
            <a:avLst>
              <a:gd name="adj" fmla="val 3103"/>
            </a:avLst>
          </a:prstGeom>
          <a:solidFill>
            <a:srgbClr val="1F252D"/>
          </a:solidFill>
          <a:ln w="12700">
            <a:solidFill>
              <a:srgbClr val="343E4A"/>
            </a:solidFill>
            <a:prstDash val="solid"/>
          </a:ln>
        </p:spPr>
        <p:txBody>
          <a:bodyPr/>
          <a:lstStyle/>
          <a:p>
            <a:endParaRPr lang="en-SE"/>
          </a:p>
        </p:txBody>
      </p:sp>
      <p:sp>
        <p:nvSpPr>
          <p:cNvPr id="9" name="Text 7"/>
          <p:cNvSpPr/>
          <p:nvPr/>
        </p:nvSpPr>
        <p:spPr>
          <a:xfrm>
            <a:off x="868680" y="2514600"/>
            <a:ext cx="4846320" cy="274320"/>
          </a:xfrm>
          <a:prstGeom prst="rect">
            <a:avLst/>
          </a:prstGeom>
          <a:noFill/>
          <a:ln/>
        </p:spPr>
        <p:txBody>
          <a:bodyPr wrap="square" lIns="0" tIns="0" rIns="0" bIns="0" rtlCol="0" anchor="ctr"/>
          <a:lstStyle/>
          <a:p>
            <a:pPr marL="0" indent="0">
              <a:buNone/>
            </a:pPr>
            <a:r>
              <a:rPr lang="en-US" sz="1200" b="1" kern="0" spc="100" dirty="0">
                <a:solidFill>
                  <a:srgbClr val="34D399"/>
                </a:solidFill>
                <a:latin typeface="Trebuchet MS" pitchFamily="34" charset="0"/>
                <a:ea typeface="Trebuchet MS" pitchFamily="34" charset="-122"/>
                <a:cs typeface="Trebuchet MS" pitchFamily="34" charset="-120"/>
              </a:rPr>
              <a:t>WHAT WE ASSUMED</a:t>
            </a:r>
            <a:endParaRPr lang="en-US" sz="1200" dirty="0"/>
          </a:p>
        </p:txBody>
      </p:sp>
      <p:sp>
        <p:nvSpPr>
          <p:cNvPr id="10" name="Text 8"/>
          <p:cNvSpPr/>
          <p:nvPr/>
        </p:nvSpPr>
        <p:spPr>
          <a:xfrm>
            <a:off x="868680" y="2834640"/>
            <a:ext cx="4846320" cy="914400"/>
          </a:xfrm>
          <a:prstGeom prst="rect">
            <a:avLst/>
          </a:prstGeom>
          <a:noFill/>
          <a:ln/>
        </p:spPr>
        <p:txBody>
          <a:bodyPr wrap="square" lIns="0" tIns="0" rIns="0" bIns="0" rtlCol="0" anchor="ctr"/>
          <a:lstStyle/>
          <a:p>
            <a:pPr marL="0" indent="0">
              <a:lnSpc>
                <a:spcPct val="120000"/>
              </a:lnSpc>
              <a:buNone/>
            </a:pPr>
            <a:r>
              <a:rPr lang="en-US" sz="1400" dirty="0">
                <a:solidFill>
                  <a:srgbClr val="E7EBF0"/>
                </a:solidFill>
                <a:latin typeface="Calibri" pitchFamily="34" charset="0"/>
                <a:ea typeface="Calibri" pitchFamily="34" charset="-122"/>
                <a:cs typeface="Calibri" pitchFamily="34" charset="-120"/>
              </a:rPr>
              <a:t>Someone is quoting Mar–Jun at −$0.50, ready to trade the spread as one unit.</a:t>
            </a:r>
            <a:endParaRPr lang="en-US" sz="1400" dirty="0"/>
          </a:p>
        </p:txBody>
      </p:sp>
      <p:sp>
        <p:nvSpPr>
          <p:cNvPr id="11" name="chip">
            <a:extLst>
              <a:ext uri="{C183D7F6-B498-43B3-948B-1728B52AA6E4}">
                <adec:decorative xmlns:adec="http://schemas.microsoft.com/office/drawing/2017/decorative" val="1"/>
              </a:ext>
            </a:extLst>
          </p:cNvPr>
          <p:cNvSpPr/>
          <p:nvPr/>
        </p:nvSpPr>
        <p:spPr>
          <a:xfrm>
            <a:off x="868680" y="3977640"/>
            <a:ext cx="4846320" cy="685800"/>
          </a:xfrm>
          <a:prstGeom prst="roundRect">
            <a:avLst>
              <a:gd name="adj" fmla="val 9333"/>
            </a:avLst>
          </a:prstGeom>
          <a:solidFill>
            <a:srgbClr val="262E38"/>
          </a:solidFill>
          <a:ln/>
        </p:spPr>
        <p:txBody>
          <a:bodyPr/>
          <a:lstStyle/>
          <a:p>
            <a:endParaRPr lang="en-SE"/>
          </a:p>
        </p:txBody>
      </p:sp>
      <p:sp>
        <p:nvSpPr>
          <p:cNvPr id="12" name="Text 10"/>
          <p:cNvSpPr/>
          <p:nvPr/>
        </p:nvSpPr>
        <p:spPr>
          <a:xfrm>
            <a:off x="868680" y="3977640"/>
            <a:ext cx="4846320" cy="685800"/>
          </a:xfrm>
          <a:prstGeom prst="rect">
            <a:avLst/>
          </a:prstGeom>
          <a:noFill/>
          <a:ln/>
        </p:spPr>
        <p:txBody>
          <a:bodyPr wrap="square" lIns="762" tIns="762" rIns="762" bIns="762" rtlCol="0" anchor="ctr"/>
          <a:lstStyle/>
          <a:p>
            <a:pPr marL="0" indent="0" algn="ctr">
              <a:buNone/>
            </a:pPr>
            <a:r>
              <a:rPr lang="en-US" sz="1300" b="1" dirty="0">
                <a:solidFill>
                  <a:srgbClr val="34D399"/>
                </a:solidFill>
                <a:latin typeface="Calibri" pitchFamily="34" charset="0"/>
                <a:ea typeface="Calibri" pitchFamily="34" charset="-122"/>
                <a:cs typeface="Calibri" pitchFamily="34" charset="-120"/>
              </a:rPr>
              <a:t>Mar–Jun spread book:  liquid</a:t>
            </a:r>
            <a:endParaRPr lang="en-US" sz="1300" dirty="0"/>
          </a:p>
        </p:txBody>
      </p:sp>
      <p:sp>
        <p:nvSpPr>
          <p:cNvPr id="13" name="panel">
            <a:extLst>
              <a:ext uri="{C183D7F6-B498-43B3-948B-1728B52AA6E4}">
                <adec:decorative xmlns:adec="http://schemas.microsoft.com/office/drawing/2017/decorative" val="1"/>
              </a:ext>
            </a:extLst>
          </p:cNvPr>
          <p:cNvSpPr/>
          <p:nvPr/>
        </p:nvSpPr>
        <p:spPr>
          <a:xfrm>
            <a:off x="6245352" y="2331720"/>
            <a:ext cx="5303520" cy="2651760"/>
          </a:xfrm>
          <a:prstGeom prst="roundRect">
            <a:avLst>
              <a:gd name="adj" fmla="val 3103"/>
            </a:avLst>
          </a:prstGeom>
          <a:solidFill>
            <a:srgbClr val="262E38"/>
          </a:solidFill>
          <a:ln w="12700">
            <a:solidFill>
              <a:srgbClr val="F5B759"/>
            </a:solidFill>
            <a:prstDash val="solid"/>
          </a:ln>
          <a:effectLst>
            <a:outerShdw blurRad="127000" dist="38100" dir="5400000" algn="bl" rotWithShape="0">
              <a:srgbClr val="000000">
                <a:alpha val="35000"/>
              </a:srgbClr>
            </a:outerShdw>
          </a:effectLst>
        </p:spPr>
        <p:txBody>
          <a:bodyPr/>
          <a:lstStyle/>
          <a:p>
            <a:endParaRPr lang="en-SE"/>
          </a:p>
        </p:txBody>
      </p:sp>
      <p:sp>
        <p:nvSpPr>
          <p:cNvPr id="14" name="Text 12"/>
          <p:cNvSpPr/>
          <p:nvPr/>
        </p:nvSpPr>
        <p:spPr>
          <a:xfrm>
            <a:off x="6473952" y="2514600"/>
            <a:ext cx="4846320" cy="274320"/>
          </a:xfrm>
          <a:prstGeom prst="rect">
            <a:avLst/>
          </a:prstGeom>
          <a:noFill/>
          <a:ln/>
        </p:spPr>
        <p:txBody>
          <a:bodyPr wrap="square" lIns="0" tIns="0" rIns="0" bIns="0" rtlCol="0" anchor="ctr"/>
          <a:lstStyle/>
          <a:p>
            <a:pPr marL="0" indent="0">
              <a:buNone/>
            </a:pPr>
            <a:r>
              <a:rPr lang="en-US" sz="1200" b="1" kern="0" spc="100" dirty="0">
                <a:solidFill>
                  <a:srgbClr val="F5B759"/>
                </a:solidFill>
                <a:latin typeface="Trebuchet MS" pitchFamily="34" charset="0"/>
                <a:ea typeface="Trebuchet MS" pitchFamily="34" charset="-122"/>
                <a:cs typeface="Trebuchet MS" pitchFamily="34" charset="-120"/>
              </a:rPr>
              <a:t>WHAT OFTEN HAPPENS</a:t>
            </a:r>
            <a:endParaRPr lang="en-US" sz="1200" dirty="0"/>
          </a:p>
        </p:txBody>
      </p:sp>
      <p:sp>
        <p:nvSpPr>
          <p:cNvPr id="15" name="Text 13"/>
          <p:cNvSpPr/>
          <p:nvPr/>
        </p:nvSpPr>
        <p:spPr>
          <a:xfrm>
            <a:off x="6473952" y="2834640"/>
            <a:ext cx="4846320" cy="914400"/>
          </a:xfrm>
          <a:prstGeom prst="rect">
            <a:avLst/>
          </a:prstGeom>
          <a:noFill/>
          <a:ln/>
        </p:spPr>
        <p:txBody>
          <a:bodyPr wrap="square" lIns="0" tIns="0" rIns="0" bIns="0" rtlCol="0" anchor="ctr"/>
          <a:lstStyle/>
          <a:p>
            <a:pPr marL="0" indent="0">
              <a:lnSpc>
                <a:spcPct val="120000"/>
              </a:lnSpc>
              <a:buNone/>
            </a:pPr>
            <a:r>
              <a:rPr lang="en-US" sz="1400" dirty="0">
                <a:solidFill>
                  <a:srgbClr val="E7EBF0"/>
                </a:solidFill>
                <a:latin typeface="Calibri" pitchFamily="34" charset="0"/>
                <a:ea typeface="Calibri" pitchFamily="34" charset="-122"/>
                <a:cs typeface="Calibri" pitchFamily="34" charset="-120"/>
              </a:rPr>
              <a:t>The spread book is empty — but March and June each trade actively on their own.</a:t>
            </a:r>
            <a:endParaRPr lang="en-US" sz="1400" dirty="0"/>
          </a:p>
        </p:txBody>
      </p:sp>
      <p:sp>
        <p:nvSpPr>
          <p:cNvPr id="16" name="chip">
            <a:extLst>
              <a:ext uri="{C183D7F6-B498-43B3-948B-1728B52AA6E4}">
                <adec:decorative xmlns:adec="http://schemas.microsoft.com/office/drawing/2017/decorative" val="1"/>
              </a:ext>
            </a:extLst>
          </p:cNvPr>
          <p:cNvSpPr/>
          <p:nvPr/>
        </p:nvSpPr>
        <p:spPr>
          <a:xfrm>
            <a:off x="6473952" y="3977640"/>
            <a:ext cx="2331720" cy="685800"/>
          </a:xfrm>
          <a:prstGeom prst="roundRect">
            <a:avLst>
              <a:gd name="adj" fmla="val 9333"/>
            </a:avLst>
          </a:prstGeom>
          <a:solidFill>
            <a:srgbClr val="1F252D"/>
          </a:solidFill>
          <a:ln/>
        </p:spPr>
        <p:txBody>
          <a:bodyPr/>
          <a:lstStyle/>
          <a:p>
            <a:endParaRPr lang="en-SE"/>
          </a:p>
        </p:txBody>
      </p:sp>
      <p:sp>
        <p:nvSpPr>
          <p:cNvPr id="17" name="Text 15"/>
          <p:cNvSpPr/>
          <p:nvPr/>
        </p:nvSpPr>
        <p:spPr>
          <a:xfrm>
            <a:off x="6473952" y="3977640"/>
            <a:ext cx="2331720" cy="685800"/>
          </a:xfrm>
          <a:prstGeom prst="rect">
            <a:avLst/>
          </a:prstGeom>
          <a:noFill/>
          <a:ln/>
        </p:spPr>
        <p:txBody>
          <a:bodyPr wrap="square" lIns="762" tIns="762" rIns="762" bIns="762" rtlCol="0" anchor="ctr"/>
          <a:lstStyle/>
          <a:p>
            <a:pPr marL="0" indent="0" algn="ctr">
              <a:buNone/>
            </a:pPr>
            <a:r>
              <a:rPr lang="en-US" sz="1200" b="1" dirty="0">
                <a:solidFill>
                  <a:srgbClr val="F2726B"/>
                </a:solidFill>
                <a:latin typeface="Calibri" pitchFamily="34" charset="0"/>
                <a:ea typeface="Calibri" pitchFamily="34" charset="-122"/>
                <a:cs typeface="Calibri" pitchFamily="34" charset="-120"/>
              </a:rPr>
              <a:t>Spread book:</a:t>
            </a:r>
            <a:endParaRPr lang="en-US" sz="1200" dirty="0"/>
          </a:p>
          <a:p>
            <a:pPr marL="0" indent="0" algn="ctr">
              <a:buNone/>
            </a:pPr>
            <a:r>
              <a:rPr lang="en-US" sz="1200" b="1" dirty="0">
                <a:solidFill>
                  <a:srgbClr val="F2726B"/>
                </a:solidFill>
                <a:latin typeface="Calibri" pitchFamily="34" charset="0"/>
                <a:ea typeface="Calibri" pitchFamily="34" charset="-122"/>
                <a:cs typeface="Calibri" pitchFamily="34" charset="-120"/>
              </a:rPr>
              <a:t>empty</a:t>
            </a:r>
            <a:endParaRPr lang="en-US" sz="1200" dirty="0"/>
          </a:p>
        </p:txBody>
      </p:sp>
      <p:sp>
        <p:nvSpPr>
          <p:cNvPr id="18" name="chip">
            <a:extLst>
              <a:ext uri="{C183D7F6-B498-43B3-948B-1728B52AA6E4}">
                <adec:decorative xmlns:adec="http://schemas.microsoft.com/office/drawing/2017/decorative" val="1"/>
              </a:ext>
            </a:extLst>
          </p:cNvPr>
          <p:cNvSpPr/>
          <p:nvPr/>
        </p:nvSpPr>
        <p:spPr>
          <a:xfrm>
            <a:off x="8988552" y="3977640"/>
            <a:ext cx="2331720" cy="685800"/>
          </a:xfrm>
          <a:prstGeom prst="roundRect">
            <a:avLst>
              <a:gd name="adj" fmla="val 9333"/>
            </a:avLst>
          </a:prstGeom>
          <a:solidFill>
            <a:srgbClr val="1F252D"/>
          </a:solidFill>
          <a:ln/>
        </p:spPr>
        <p:txBody>
          <a:bodyPr/>
          <a:lstStyle/>
          <a:p>
            <a:endParaRPr lang="en-SE"/>
          </a:p>
        </p:txBody>
      </p:sp>
      <p:sp>
        <p:nvSpPr>
          <p:cNvPr id="19" name="Text 17"/>
          <p:cNvSpPr/>
          <p:nvPr/>
        </p:nvSpPr>
        <p:spPr>
          <a:xfrm>
            <a:off x="8988552" y="3977640"/>
            <a:ext cx="2331720" cy="685800"/>
          </a:xfrm>
          <a:prstGeom prst="rect">
            <a:avLst/>
          </a:prstGeom>
          <a:noFill/>
          <a:ln/>
        </p:spPr>
        <p:txBody>
          <a:bodyPr wrap="square" lIns="762" tIns="762" rIns="762" bIns="762" rtlCol="0" anchor="ctr"/>
          <a:lstStyle/>
          <a:p>
            <a:pPr marL="0" indent="0" algn="ctr">
              <a:buNone/>
            </a:pPr>
            <a:r>
              <a:rPr lang="en-US" sz="1200" b="1" dirty="0">
                <a:solidFill>
                  <a:srgbClr val="34D399"/>
                </a:solidFill>
                <a:latin typeface="Calibri" pitchFamily="34" charset="0"/>
                <a:ea typeface="Calibri" pitchFamily="34" charset="-122"/>
                <a:cs typeface="Calibri" pitchFamily="34" charset="-120"/>
              </a:rPr>
              <a:t>Outright months:</a:t>
            </a:r>
            <a:endParaRPr lang="en-US" sz="1200" dirty="0"/>
          </a:p>
          <a:p>
            <a:pPr marL="0" indent="0" algn="ctr">
              <a:buNone/>
            </a:pPr>
            <a:r>
              <a:rPr lang="en-US" sz="1200" b="1" dirty="0">
                <a:solidFill>
                  <a:srgbClr val="34D399"/>
                </a:solidFill>
                <a:latin typeface="Calibri" pitchFamily="34" charset="0"/>
                <a:ea typeface="Calibri" pitchFamily="34" charset="-122"/>
                <a:cs typeface="Calibri" pitchFamily="34" charset="-120"/>
              </a:rPr>
              <a:t>liquid</a:t>
            </a:r>
            <a:endParaRPr lang="en-US" sz="1200" dirty="0"/>
          </a:p>
        </p:txBody>
      </p:sp>
      <p:sp>
        <p:nvSpPr>
          <p:cNvPr id="20"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1"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F5B759"/>
          </a:solidFill>
          <a:ln/>
        </p:spPr>
        <p:txBody>
          <a:bodyPr/>
          <a:lstStyle/>
          <a:p>
            <a:endParaRPr lang="en-SE"/>
          </a:p>
        </p:txBody>
      </p:sp>
      <p:sp>
        <p:nvSpPr>
          <p:cNvPr id="22" name="Text 20"/>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F5B75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The atomic combo is only useful if someone will trade the spread. Sometimes the liquidity is in the legs instead.</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The next chapter: implied orders">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10972800" cy="822960"/>
          </a:xfrm>
          <a:prstGeom prst="rect">
            <a:avLst/>
          </a:prstGeom>
          <a:noFill/>
          <a:ln/>
        </p:spPr>
        <p:txBody>
          <a:bodyPr wrap="square" lIns="0" tIns="0" rIns="0" bIns="0" rtlCol="0" anchor="ctr"/>
          <a:lstStyle/>
          <a:p>
            <a:pPr marL="0" indent="0">
              <a:buNone/>
            </a:pPr>
            <a:r>
              <a:rPr lang="en-US" sz="2500" b="1" dirty="0">
                <a:solidFill>
                  <a:srgbClr val="E7EBF0"/>
                </a:solidFill>
                <a:latin typeface="Trebuchet MS" pitchFamily="34" charset="0"/>
                <a:ea typeface="Trebuchet MS" pitchFamily="34" charset="-122"/>
                <a:cs typeface="Trebuchet MS" pitchFamily="34" charset="-120"/>
              </a:rPr>
              <a:t>The next chapter: implied orders</a:t>
            </a:r>
            <a:endParaRPr lang="en-US" sz="2500" dirty="0"/>
          </a:p>
        </p:txBody>
      </p:sp>
      <p:sp>
        <p:nvSpPr>
          <p:cNvPr id="3" name="Text 1"/>
          <p:cNvSpPr/>
          <p:nvPr/>
        </p:nvSpPr>
        <p:spPr>
          <a:xfrm>
            <a:off x="658368" y="310896"/>
            <a:ext cx="9144000" cy="274320"/>
          </a:xfrm>
          <a:prstGeom prst="rect">
            <a:avLst/>
          </a:prstGeom>
          <a:noFill/>
          <a:ln/>
        </p:spPr>
        <p:txBody>
          <a:bodyPr wrap="square" lIns="0" tIns="0" rIns="0" bIns="0" rtlCol="0" anchor="ctr"/>
          <a:lstStyle/>
          <a:p>
            <a:pPr marL="0" indent="0">
              <a:buNone/>
            </a:pPr>
            <a:r>
              <a:rPr lang="en-US" sz="1100" b="1" kern="0" spc="300" dirty="0">
                <a:solidFill>
                  <a:srgbClr val="34D399"/>
                </a:solidFill>
                <a:latin typeface="Trebuchet MS" pitchFamily="34" charset="0"/>
                <a:ea typeface="Trebuchet MS" pitchFamily="34" charset="-122"/>
                <a:cs typeface="Trebuchet MS" pitchFamily="34" charset="-120"/>
              </a:rPr>
              <a:t>06 · WHAT'S NEXT</a:t>
            </a:r>
            <a:endParaRPr lang="en-US" sz="1100" dirty="0"/>
          </a:p>
        </p:txBody>
      </p:sp>
      <p:sp>
        <p:nvSpPr>
          <p:cNvPr id="4" name="footer mark">
            <a:extLst>
              <a:ext uri="{C183D7F6-B498-43B3-948B-1728B52AA6E4}">
                <adec:decorative xmlns:adec="http://schemas.microsoft.com/office/drawing/2017/decorative" val="1"/>
              </a:ext>
            </a:extLst>
          </p:cNvPr>
          <p:cNvSpPr/>
          <p:nvPr/>
        </p:nvSpPr>
        <p:spPr>
          <a:xfrm>
            <a:off x="658368" y="6510528"/>
            <a:ext cx="146304" cy="146304"/>
          </a:xfrm>
          <a:prstGeom prst="rect">
            <a:avLst/>
          </a:prstGeom>
          <a:solidFill>
            <a:srgbClr val="34D399"/>
          </a:solidFill>
          <a:ln/>
        </p:spPr>
        <p:txBody>
          <a:bodyPr/>
          <a:lstStyle/>
          <a:p>
            <a:endParaRPr lang="en-SE"/>
          </a:p>
        </p:txBody>
      </p:sp>
      <p:sp>
        <p:nvSpPr>
          <p:cNvPr id="5" name="Text 3"/>
          <p:cNvSpPr/>
          <p:nvPr/>
        </p:nvSpPr>
        <p:spPr>
          <a:xfrm>
            <a:off x="896112" y="6455664"/>
            <a:ext cx="5486400" cy="274320"/>
          </a:xfrm>
          <a:prstGeom prst="rect">
            <a:avLst/>
          </a:prstGeom>
          <a:noFill/>
          <a:ln/>
        </p:spPr>
        <p:txBody>
          <a:bodyPr wrap="square" lIns="0" tIns="0" rIns="0" bIns="0" rtlCol="0" anchor="ctr"/>
          <a:lstStyle/>
          <a:p>
            <a:pPr marL="0" indent="0">
              <a:buNone/>
            </a:pPr>
            <a:r>
              <a:rPr lang="en-US" sz="900" kern="0" spc="100" dirty="0">
                <a:solidFill>
                  <a:srgbClr val="737D8A"/>
                </a:solidFill>
                <a:latin typeface="Trebuchet MS" pitchFamily="34" charset="0"/>
                <a:ea typeface="Trebuchet MS" pitchFamily="34" charset="-122"/>
                <a:cs typeface="Trebuchet MS" pitchFamily="34" charset="-120"/>
              </a:rPr>
              <a:t>Combo Orders with Futures</a:t>
            </a:r>
            <a:endParaRPr lang="en-US" sz="900" dirty="0"/>
          </a:p>
        </p:txBody>
      </p:sp>
      <p:sp>
        <p:nvSpPr>
          <p:cNvPr id="6" name="Text 4"/>
          <p:cNvSpPr/>
          <p:nvPr/>
        </p:nvSpPr>
        <p:spPr>
          <a:xfrm>
            <a:off x="11155680" y="6455664"/>
            <a:ext cx="822960" cy="274320"/>
          </a:xfrm>
          <a:prstGeom prst="rect">
            <a:avLst/>
          </a:prstGeom>
          <a:noFill/>
          <a:ln/>
        </p:spPr>
        <p:txBody>
          <a:bodyPr wrap="square" lIns="0" tIns="0" rIns="0" bIns="0" rtlCol="0" anchor="ctr"/>
          <a:lstStyle/>
          <a:p>
            <a:pPr marL="0" indent="0" algn="r">
              <a:buNone/>
            </a:pPr>
            <a:r>
              <a:rPr lang="en-US" sz="1000">
                <a:solidFill>
                  <a:srgbClr val="737D8A"/>
                </a:solidFill>
                <a:latin typeface="Consolas" pitchFamily="34" charset="0"/>
                <a:ea typeface="Consolas" pitchFamily="34" charset="-122"/>
                <a:cs typeface="Consolas" pitchFamily="34" charset="-120"/>
              </a:rPr>
              <a:t>51</a:t>
            </a:r>
            <a:endParaRPr lang="en-US" sz="1000" dirty="0"/>
          </a:p>
        </p:txBody>
      </p:sp>
      <p:sp>
        <p:nvSpPr>
          <p:cNvPr id="7" name="Text 5"/>
          <p:cNvSpPr/>
          <p:nvPr/>
        </p:nvSpPr>
        <p:spPr>
          <a:xfrm>
            <a:off x="640080" y="1371600"/>
            <a:ext cx="10881360" cy="777240"/>
          </a:xfrm>
          <a:prstGeom prst="rect">
            <a:avLst/>
          </a:prstGeom>
          <a:noFill/>
          <a:ln/>
        </p:spPr>
        <p:txBody>
          <a:bodyPr wrap="square" lIns="0" tIns="0" rIns="0" bIns="0" rtlCol="0" anchor="ctr"/>
          <a:lstStyle/>
          <a:p>
            <a:pPr marL="0" indent="0">
              <a:lnSpc>
                <a:spcPct val="115000"/>
              </a:lnSpc>
              <a:buNone/>
            </a:pPr>
            <a:r>
              <a:rPr lang="en-US" sz="1500" dirty="0">
                <a:solidFill>
                  <a:srgbClr val="AAB2BD"/>
                </a:solidFill>
                <a:latin typeface="Calibri" pitchFamily="34" charset="0"/>
                <a:ea typeface="Calibri" pitchFamily="34" charset="-122"/>
                <a:cs typeface="Calibri" pitchFamily="34" charset="-120"/>
              </a:rPr>
              <a:t>Implied orders are how an exchange builds a spread trade out of the separate month markets — and vice-versa — so your atomic combo can fill even with an empty spread book.</a:t>
            </a:r>
            <a:endParaRPr lang="en-US" sz="1500" dirty="0"/>
          </a:p>
        </p:txBody>
      </p:sp>
      <p:sp>
        <p:nvSpPr>
          <p:cNvPr id="8" name="panel">
            <a:extLst>
              <a:ext uri="{C183D7F6-B498-43B3-948B-1728B52AA6E4}">
                <adec:decorative xmlns:adec="http://schemas.microsoft.com/office/drawing/2017/decorative" val="1"/>
              </a:ext>
            </a:extLst>
          </p:cNvPr>
          <p:cNvSpPr/>
          <p:nvPr/>
        </p:nvSpPr>
        <p:spPr>
          <a:xfrm>
            <a:off x="640080" y="2377440"/>
            <a:ext cx="10908792" cy="1691640"/>
          </a:xfrm>
          <a:prstGeom prst="roundRect">
            <a:avLst>
              <a:gd name="adj" fmla="val 4865"/>
            </a:avLst>
          </a:prstGeom>
          <a:solidFill>
            <a:srgbClr val="262E38"/>
          </a:solidFill>
          <a:ln w="12700">
            <a:solidFill>
              <a:srgbClr val="0B5C43"/>
            </a:solidFill>
            <a:prstDash val="solid"/>
          </a:ln>
          <a:effectLst>
            <a:outerShdw blurRad="127000" dist="38100" dir="5400000" algn="bl" rotWithShape="0">
              <a:srgbClr val="000000">
                <a:alpha val="35000"/>
              </a:srgbClr>
            </a:outerShdw>
          </a:effectLst>
        </p:spPr>
        <p:txBody>
          <a:bodyPr/>
          <a:lstStyle/>
          <a:p>
            <a:endParaRPr lang="en-SE"/>
          </a:p>
        </p:txBody>
      </p:sp>
      <p:sp>
        <p:nvSpPr>
          <p:cNvPr id="9" name="chip">
            <a:extLst>
              <a:ext uri="{C183D7F6-B498-43B3-948B-1728B52AA6E4}">
                <adec:decorative xmlns:adec="http://schemas.microsoft.com/office/drawing/2017/decorative" val="1"/>
              </a:ext>
            </a:extLst>
          </p:cNvPr>
          <p:cNvSpPr/>
          <p:nvPr/>
        </p:nvSpPr>
        <p:spPr>
          <a:xfrm>
            <a:off x="914400" y="2788920"/>
            <a:ext cx="2468880" cy="868680"/>
          </a:xfrm>
          <a:prstGeom prst="roundRect">
            <a:avLst>
              <a:gd name="adj" fmla="val 7368"/>
            </a:avLst>
          </a:prstGeom>
          <a:solidFill>
            <a:srgbClr val="1F252D"/>
          </a:solidFill>
          <a:ln/>
        </p:spPr>
        <p:txBody>
          <a:bodyPr/>
          <a:lstStyle/>
          <a:p>
            <a:endParaRPr lang="en-SE"/>
          </a:p>
        </p:txBody>
      </p:sp>
      <p:sp>
        <p:nvSpPr>
          <p:cNvPr id="10" name="Text 8"/>
          <p:cNvSpPr/>
          <p:nvPr/>
        </p:nvSpPr>
        <p:spPr>
          <a:xfrm>
            <a:off x="914400" y="2788920"/>
            <a:ext cx="2468880" cy="868680"/>
          </a:xfrm>
          <a:prstGeom prst="rect">
            <a:avLst/>
          </a:prstGeom>
          <a:noFill/>
          <a:ln/>
        </p:spPr>
        <p:txBody>
          <a:bodyPr wrap="square" lIns="762" tIns="762" rIns="762" bIns="762" rtlCol="0" anchor="ctr"/>
          <a:lstStyle/>
          <a:p>
            <a:pPr marL="0" indent="0" algn="ctr">
              <a:buNone/>
            </a:pPr>
            <a:r>
              <a:rPr lang="en-US" sz="1300" b="1" dirty="0">
                <a:solidFill>
                  <a:srgbClr val="34D399"/>
                </a:solidFill>
                <a:latin typeface="Calibri" pitchFamily="34" charset="0"/>
                <a:ea typeface="Calibri" pitchFamily="34" charset="-122"/>
                <a:cs typeface="Calibri" pitchFamily="34" charset="-120"/>
              </a:rPr>
              <a:t>March</a:t>
            </a:r>
            <a:endParaRPr lang="en-US" sz="1300" dirty="0"/>
          </a:p>
          <a:p>
            <a:pPr marL="0" indent="0" algn="ctr">
              <a:buNone/>
            </a:pPr>
            <a:r>
              <a:rPr lang="en-US" sz="1300" b="1" dirty="0">
                <a:solidFill>
                  <a:srgbClr val="34D399"/>
                </a:solidFill>
                <a:latin typeface="Calibri" pitchFamily="34" charset="0"/>
                <a:ea typeface="Calibri" pitchFamily="34" charset="-122"/>
                <a:cs typeface="Calibri" pitchFamily="34" charset="-120"/>
              </a:rPr>
              <a:t>market</a:t>
            </a:r>
            <a:endParaRPr lang="en-US" sz="1300" dirty="0"/>
          </a:p>
        </p:txBody>
      </p:sp>
      <p:sp>
        <p:nvSpPr>
          <p:cNvPr id="11" name="Text 9"/>
          <p:cNvSpPr/>
          <p:nvPr/>
        </p:nvSpPr>
        <p:spPr>
          <a:xfrm>
            <a:off x="3429000" y="2788920"/>
            <a:ext cx="457200" cy="868680"/>
          </a:xfrm>
          <a:prstGeom prst="rect">
            <a:avLst/>
          </a:prstGeom>
          <a:noFill/>
          <a:ln/>
        </p:spPr>
        <p:txBody>
          <a:bodyPr wrap="square" lIns="0" tIns="0" rIns="0" bIns="0" rtlCol="0" anchor="ctr"/>
          <a:lstStyle/>
          <a:p>
            <a:pPr marL="0" indent="0" algn="ctr">
              <a:buNone/>
            </a:pPr>
            <a:r>
              <a:rPr lang="en-US" sz="2200" b="1" dirty="0">
                <a:solidFill>
                  <a:srgbClr val="737D8A"/>
                </a:solidFill>
                <a:latin typeface="Trebuchet MS" pitchFamily="34" charset="0"/>
                <a:ea typeface="Trebuchet MS" pitchFamily="34" charset="-122"/>
                <a:cs typeface="Trebuchet MS" pitchFamily="34" charset="-120"/>
              </a:rPr>
              <a:t>+</a:t>
            </a:r>
            <a:endParaRPr lang="en-US" sz="2200" dirty="0"/>
          </a:p>
        </p:txBody>
      </p:sp>
      <p:sp>
        <p:nvSpPr>
          <p:cNvPr id="12" name="chip">
            <a:extLst>
              <a:ext uri="{C183D7F6-B498-43B3-948B-1728B52AA6E4}">
                <adec:decorative xmlns:adec="http://schemas.microsoft.com/office/drawing/2017/decorative" val="1"/>
              </a:ext>
            </a:extLst>
          </p:cNvPr>
          <p:cNvSpPr/>
          <p:nvPr/>
        </p:nvSpPr>
        <p:spPr>
          <a:xfrm>
            <a:off x="3931920" y="2788920"/>
            <a:ext cx="2468880" cy="868680"/>
          </a:xfrm>
          <a:prstGeom prst="roundRect">
            <a:avLst>
              <a:gd name="adj" fmla="val 7368"/>
            </a:avLst>
          </a:prstGeom>
          <a:solidFill>
            <a:srgbClr val="1F252D"/>
          </a:solidFill>
          <a:ln/>
        </p:spPr>
        <p:txBody>
          <a:bodyPr/>
          <a:lstStyle/>
          <a:p>
            <a:endParaRPr lang="en-SE"/>
          </a:p>
        </p:txBody>
      </p:sp>
      <p:sp>
        <p:nvSpPr>
          <p:cNvPr id="13" name="Text 11"/>
          <p:cNvSpPr/>
          <p:nvPr/>
        </p:nvSpPr>
        <p:spPr>
          <a:xfrm>
            <a:off x="3931920" y="2788920"/>
            <a:ext cx="2468880" cy="868680"/>
          </a:xfrm>
          <a:prstGeom prst="rect">
            <a:avLst/>
          </a:prstGeom>
          <a:noFill/>
          <a:ln/>
        </p:spPr>
        <p:txBody>
          <a:bodyPr wrap="square" lIns="762" tIns="762" rIns="762" bIns="762" rtlCol="0" anchor="ctr"/>
          <a:lstStyle/>
          <a:p>
            <a:pPr marL="0" indent="0" algn="ctr">
              <a:buNone/>
            </a:pPr>
            <a:r>
              <a:rPr lang="en-US" sz="1300" b="1" dirty="0">
                <a:solidFill>
                  <a:srgbClr val="6EA8E6"/>
                </a:solidFill>
                <a:latin typeface="Calibri" pitchFamily="34" charset="0"/>
                <a:ea typeface="Calibri" pitchFamily="34" charset="-122"/>
                <a:cs typeface="Calibri" pitchFamily="34" charset="-120"/>
              </a:rPr>
              <a:t>June</a:t>
            </a:r>
            <a:endParaRPr lang="en-US" sz="1300" dirty="0"/>
          </a:p>
          <a:p>
            <a:pPr marL="0" indent="0" algn="ctr">
              <a:buNone/>
            </a:pPr>
            <a:r>
              <a:rPr lang="en-US" sz="1300" b="1" dirty="0">
                <a:solidFill>
                  <a:srgbClr val="6EA8E6"/>
                </a:solidFill>
                <a:latin typeface="Calibri" pitchFamily="34" charset="0"/>
                <a:ea typeface="Calibri" pitchFamily="34" charset="-122"/>
                <a:cs typeface="Calibri" pitchFamily="34" charset="-120"/>
              </a:rPr>
              <a:t>market</a:t>
            </a:r>
            <a:endParaRPr lang="en-US" sz="1300" dirty="0"/>
          </a:p>
        </p:txBody>
      </p:sp>
      <p:sp>
        <p:nvSpPr>
          <p:cNvPr id="14" name="implies">
            <a:extLst>
              <a:ext uri="{C183D7F6-B498-43B3-948B-1728B52AA6E4}">
                <adec:decorative xmlns:adec="http://schemas.microsoft.com/office/drawing/2017/decorative" val="1"/>
              </a:ext>
            </a:extLst>
          </p:cNvPr>
          <p:cNvSpPr/>
          <p:nvPr/>
        </p:nvSpPr>
        <p:spPr>
          <a:xfrm>
            <a:off x="6537960" y="3063240"/>
            <a:ext cx="731520" cy="329184"/>
          </a:xfrm>
          <a:prstGeom prst="rightArrow">
            <a:avLst/>
          </a:prstGeom>
          <a:solidFill>
            <a:srgbClr val="10B981"/>
          </a:solidFill>
          <a:ln/>
        </p:spPr>
        <p:txBody>
          <a:bodyPr/>
          <a:lstStyle/>
          <a:p>
            <a:endParaRPr lang="en-SE"/>
          </a:p>
        </p:txBody>
      </p:sp>
      <p:sp>
        <p:nvSpPr>
          <p:cNvPr id="15" name="chip">
            <a:extLst>
              <a:ext uri="{C183D7F6-B498-43B3-948B-1728B52AA6E4}">
                <adec:decorative xmlns:adec="http://schemas.microsoft.com/office/drawing/2017/decorative" val="1"/>
              </a:ext>
            </a:extLst>
          </p:cNvPr>
          <p:cNvSpPr/>
          <p:nvPr/>
        </p:nvSpPr>
        <p:spPr>
          <a:xfrm>
            <a:off x="7452360" y="2788920"/>
            <a:ext cx="3246120" cy="868680"/>
          </a:xfrm>
          <a:prstGeom prst="roundRect">
            <a:avLst>
              <a:gd name="adj" fmla="val 7368"/>
            </a:avLst>
          </a:prstGeom>
          <a:solidFill>
            <a:srgbClr val="1F252D"/>
          </a:solidFill>
          <a:ln/>
        </p:spPr>
        <p:txBody>
          <a:bodyPr/>
          <a:lstStyle/>
          <a:p>
            <a:endParaRPr lang="en-SE"/>
          </a:p>
        </p:txBody>
      </p:sp>
      <p:sp>
        <p:nvSpPr>
          <p:cNvPr id="16" name="Text 14"/>
          <p:cNvSpPr/>
          <p:nvPr/>
        </p:nvSpPr>
        <p:spPr>
          <a:xfrm>
            <a:off x="7452360" y="2788920"/>
            <a:ext cx="3246120" cy="868680"/>
          </a:xfrm>
          <a:prstGeom prst="rect">
            <a:avLst/>
          </a:prstGeom>
          <a:noFill/>
          <a:ln/>
        </p:spPr>
        <p:txBody>
          <a:bodyPr wrap="square" lIns="762" tIns="762" rIns="762" bIns="762" rtlCol="0" anchor="ctr"/>
          <a:lstStyle/>
          <a:p>
            <a:pPr marL="0" indent="0" algn="ctr">
              <a:buNone/>
            </a:pPr>
            <a:r>
              <a:rPr lang="en-US" sz="1300" b="1" dirty="0">
                <a:solidFill>
                  <a:srgbClr val="34D399"/>
                </a:solidFill>
                <a:latin typeface="Calibri" pitchFamily="34" charset="0"/>
                <a:ea typeface="Calibri" pitchFamily="34" charset="-122"/>
                <a:cs typeface="Calibri" pitchFamily="34" charset="-120"/>
              </a:rPr>
              <a:t>an IMPLIED Mar–Jun spread</a:t>
            </a:r>
            <a:endParaRPr lang="en-US" sz="1300" dirty="0"/>
          </a:p>
        </p:txBody>
      </p:sp>
      <p:sp>
        <p:nvSpPr>
          <p:cNvPr id="17" name="Text 15"/>
          <p:cNvSpPr/>
          <p:nvPr/>
        </p:nvSpPr>
        <p:spPr>
          <a:xfrm>
            <a:off x="914400" y="3703320"/>
            <a:ext cx="9784080" cy="320040"/>
          </a:xfrm>
          <a:prstGeom prst="rect">
            <a:avLst/>
          </a:prstGeom>
          <a:noFill/>
          <a:ln/>
        </p:spPr>
        <p:txBody>
          <a:bodyPr wrap="square" lIns="0" tIns="0" rIns="0" bIns="0" rtlCol="0" anchor="ctr"/>
          <a:lstStyle/>
          <a:p>
            <a:pPr marL="0" indent="0" algn="ctr">
              <a:buNone/>
            </a:pPr>
            <a:r>
              <a:rPr lang="en-US" sz="1250" i="1" dirty="0">
                <a:solidFill>
                  <a:srgbClr val="AAB2BD"/>
                </a:solidFill>
                <a:latin typeface="Calibri" pitchFamily="34" charset="0"/>
                <a:ea typeface="Calibri" pitchFamily="34" charset="-122"/>
                <a:cs typeface="Calibri" pitchFamily="34" charset="-120"/>
              </a:rPr>
              <a:t>The exchange synthesises a spread quote from the two outright books — no direct spread trader required.</a:t>
            </a:r>
            <a:endParaRPr lang="en-US" sz="1250" dirty="0"/>
          </a:p>
        </p:txBody>
      </p:sp>
      <p:sp>
        <p:nvSpPr>
          <p:cNvPr id="18" name="panel">
            <a:extLst>
              <a:ext uri="{C183D7F6-B498-43B3-948B-1728B52AA6E4}">
                <adec:decorative xmlns:adec="http://schemas.microsoft.com/office/drawing/2017/decorative" val="1"/>
              </a:ext>
            </a:extLst>
          </p:cNvPr>
          <p:cNvSpPr/>
          <p:nvPr/>
        </p:nvSpPr>
        <p:spPr>
          <a:xfrm>
            <a:off x="640080" y="4251960"/>
            <a:ext cx="10908792" cy="868680"/>
          </a:xfrm>
          <a:prstGeom prst="roundRect">
            <a:avLst>
              <a:gd name="adj" fmla="val 9474"/>
            </a:avLst>
          </a:prstGeom>
          <a:solidFill>
            <a:srgbClr val="1F252D"/>
          </a:solidFill>
          <a:ln w="12700">
            <a:solidFill>
              <a:srgbClr val="343E4A"/>
            </a:solidFill>
            <a:prstDash val="solid"/>
          </a:ln>
        </p:spPr>
        <p:txBody>
          <a:bodyPr/>
          <a:lstStyle/>
          <a:p>
            <a:endParaRPr lang="en-SE"/>
          </a:p>
        </p:txBody>
      </p:sp>
      <p:sp>
        <p:nvSpPr>
          <p:cNvPr id="19" name="Text 17"/>
          <p:cNvSpPr/>
          <p:nvPr/>
        </p:nvSpPr>
        <p:spPr>
          <a:xfrm>
            <a:off x="914400" y="4251960"/>
            <a:ext cx="10332720" cy="868680"/>
          </a:xfrm>
          <a:prstGeom prst="rect">
            <a:avLst/>
          </a:prstGeom>
          <a:noFill/>
          <a:ln/>
        </p:spPr>
        <p:txBody>
          <a:bodyPr wrap="square" lIns="0" tIns="0" rIns="0" bIns="0" rtlCol="0" anchor="ctr"/>
          <a:lstStyle/>
          <a:p>
            <a:pPr marL="0" indent="0">
              <a:lnSpc>
                <a:spcPct val="110000"/>
              </a:lnSpc>
              <a:buNone/>
            </a:pPr>
            <a:r>
              <a:rPr lang="en-US" sz="1400" b="1" dirty="0">
                <a:solidFill>
                  <a:srgbClr val="E7EBF0"/>
                </a:solidFill>
                <a:latin typeface="Trebuchet MS" pitchFamily="34" charset="0"/>
                <a:ea typeface="Trebuchet MS" pitchFamily="34" charset="-122"/>
                <a:cs typeface="Trebuchet MS" pitchFamily="34" charset="-120"/>
              </a:rPr>
              <a:t>That's a whole topic of its own. </a:t>
            </a:r>
            <a:r>
              <a:rPr lang="en-US" sz="1400" dirty="0">
                <a:solidFill>
                  <a:srgbClr val="AAB2BD"/>
                </a:solidFill>
                <a:latin typeface="Calibri" pitchFamily="34" charset="0"/>
                <a:ea typeface="Calibri" pitchFamily="34" charset="-122"/>
                <a:cs typeface="Calibri" pitchFamily="34" charset="-120"/>
              </a:rPr>
              <a:t>We'll cover how implied pricing and matching work in a dedicated follow-up presentation.</a:t>
            </a:r>
            <a:endParaRPr lang="en-US" sz="1400" dirty="0"/>
          </a:p>
        </p:txBody>
      </p:sp>
      <p:sp>
        <p:nvSpPr>
          <p:cNvPr id="20" name="panel">
            <a:extLst>
              <a:ext uri="{C183D7F6-B498-43B3-948B-1728B52AA6E4}">
                <adec:decorative xmlns:adec="http://schemas.microsoft.com/office/drawing/2017/decorative" val="1"/>
              </a:ext>
            </a:extLst>
          </p:cNvPr>
          <p:cNvSpPr/>
          <p:nvPr/>
        </p:nvSpPr>
        <p:spPr>
          <a:xfrm>
            <a:off x="640080" y="5870448"/>
            <a:ext cx="10908792" cy="457200"/>
          </a:xfrm>
          <a:prstGeom prst="roundRect">
            <a:avLst>
              <a:gd name="adj" fmla="val 18000"/>
            </a:avLst>
          </a:prstGeom>
          <a:solidFill>
            <a:srgbClr val="1F252D"/>
          </a:solidFill>
          <a:ln w="12700">
            <a:solidFill>
              <a:srgbClr val="343E4A"/>
            </a:solidFill>
            <a:prstDash val="solid"/>
          </a:ln>
        </p:spPr>
        <p:txBody>
          <a:bodyPr/>
          <a:lstStyle/>
          <a:p>
            <a:endParaRPr lang="en-SE"/>
          </a:p>
        </p:txBody>
      </p:sp>
      <p:sp>
        <p:nvSpPr>
          <p:cNvPr id="21" name="key accent">
            <a:extLst>
              <a:ext uri="{C183D7F6-B498-43B3-948B-1728B52AA6E4}">
                <adec:decorative xmlns:adec="http://schemas.microsoft.com/office/drawing/2017/decorative" val="1"/>
              </a:ext>
            </a:extLst>
          </p:cNvPr>
          <p:cNvSpPr/>
          <p:nvPr/>
        </p:nvSpPr>
        <p:spPr>
          <a:xfrm>
            <a:off x="640080" y="5870448"/>
            <a:ext cx="82296" cy="457200"/>
          </a:xfrm>
          <a:prstGeom prst="rect">
            <a:avLst/>
          </a:prstGeom>
          <a:solidFill>
            <a:srgbClr val="34D399"/>
          </a:solidFill>
          <a:ln/>
        </p:spPr>
        <p:txBody>
          <a:bodyPr/>
          <a:lstStyle/>
          <a:p>
            <a:endParaRPr lang="en-SE"/>
          </a:p>
        </p:txBody>
      </p:sp>
      <p:sp>
        <p:nvSpPr>
          <p:cNvPr id="22" name="Text 20"/>
          <p:cNvSpPr/>
          <p:nvPr/>
        </p:nvSpPr>
        <p:spPr>
          <a:xfrm>
            <a:off x="914400" y="5870448"/>
            <a:ext cx="10515600" cy="457200"/>
          </a:xfrm>
          <a:prstGeom prst="rect">
            <a:avLst/>
          </a:prstGeom>
          <a:noFill/>
          <a:ln/>
        </p:spPr>
        <p:txBody>
          <a:bodyPr wrap="square" lIns="0" tIns="0" rIns="0" bIns="0" rtlCol="0" anchor="ctr"/>
          <a:lstStyle/>
          <a:p>
            <a:pPr marL="0" indent="0">
              <a:buNone/>
            </a:pPr>
            <a:r>
              <a:rPr lang="en-US" sz="1000" b="1" kern="0" spc="200" dirty="0">
                <a:solidFill>
                  <a:srgbClr val="34D399"/>
                </a:solidFill>
                <a:latin typeface="Trebuchet MS" pitchFamily="34" charset="0"/>
                <a:ea typeface="Trebuchet MS" pitchFamily="34" charset="-122"/>
                <a:cs typeface="Trebuchet MS" pitchFamily="34" charset="-120"/>
              </a:rPr>
              <a:t>KEY IDEA   </a:t>
            </a:r>
            <a:r>
              <a:rPr lang="en-US" sz="1300" dirty="0">
                <a:solidFill>
                  <a:srgbClr val="E7EBF0"/>
                </a:solidFill>
                <a:latin typeface="Calibri" pitchFamily="34" charset="0"/>
                <a:ea typeface="Calibri" pitchFamily="34" charset="-122"/>
                <a:cs typeface="Calibri" pitchFamily="34" charset="-120"/>
              </a:rPr>
              <a:t>Implied orders bridge the legs and the spread. That's where the next deck begins.</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Closing">
    <p:spTree>
      <p:nvGrpSpPr>
        <p:cNvPr id="1" name=""/>
        <p:cNvGrpSpPr/>
        <p:nvPr/>
      </p:nvGrpSpPr>
      <p:grpSpPr>
        <a:xfrm>
          <a:off x="0" y="0"/>
          <a:ext cx="0" cy="0"/>
          <a:chOff x="0" y="0"/>
          <a:chExt cx="0" cy="0"/>
        </a:xfrm>
      </p:grpSpPr>
      <p:sp>
        <p:nvSpPr>
          <p:cNvPr id="2" name="top bar">
            <a:extLst>
              <a:ext uri="{C183D7F6-B498-43B3-948B-1728B52AA6E4}">
                <adec:decorative xmlns:adec="http://schemas.microsoft.com/office/drawing/2017/decorative" val="1"/>
              </a:ext>
            </a:extLst>
          </p:cNvPr>
          <p:cNvSpPr/>
          <p:nvPr/>
        </p:nvSpPr>
        <p:spPr>
          <a:xfrm>
            <a:off x="0" y="0"/>
            <a:ext cx="12191695" cy="128016"/>
          </a:xfrm>
          <a:prstGeom prst="rect">
            <a:avLst/>
          </a:prstGeom>
          <a:solidFill>
            <a:srgbClr val="34D399"/>
          </a:solidFill>
          <a:ln/>
        </p:spPr>
        <p:txBody>
          <a:bodyPr/>
          <a:lstStyle/>
          <a:p>
            <a:endParaRPr lang="en-SE"/>
          </a:p>
        </p:txBody>
      </p:sp>
      <p:sp>
        <p:nvSpPr>
          <p:cNvPr id="3" name="Text 1"/>
          <p:cNvSpPr/>
          <p:nvPr/>
        </p:nvSpPr>
        <p:spPr>
          <a:xfrm>
            <a:off x="1005840" y="1920240"/>
            <a:ext cx="10058400" cy="320040"/>
          </a:xfrm>
          <a:prstGeom prst="rect">
            <a:avLst/>
          </a:prstGeom>
          <a:noFill/>
          <a:ln/>
        </p:spPr>
        <p:txBody>
          <a:bodyPr wrap="square" lIns="0" tIns="0" rIns="0" bIns="0" rtlCol="0" anchor="ctr"/>
          <a:lstStyle/>
          <a:p>
            <a:pPr marL="0" indent="0">
              <a:buNone/>
            </a:pPr>
            <a:r>
              <a:rPr lang="en-US" sz="1300" b="1" kern="0" spc="200" dirty="0">
                <a:solidFill>
                  <a:srgbClr val="34D399"/>
                </a:solidFill>
                <a:latin typeface="Trebuchet MS" pitchFamily="34" charset="0"/>
                <a:ea typeface="Trebuchet MS" pitchFamily="34" charset="-122"/>
                <a:cs typeface="Trebuchet MS" pitchFamily="34" charset="-120"/>
              </a:rPr>
              <a:t>YOU CAN NOW TRADE A SPREAD — AND EXPLAIN WHY IT WORKS</a:t>
            </a:r>
            <a:endParaRPr lang="en-US" sz="1300" dirty="0"/>
          </a:p>
        </p:txBody>
      </p:sp>
      <p:sp>
        <p:nvSpPr>
          <p:cNvPr id="4" name="Text 0"/>
          <p:cNvSpPr>
            <a:spLocks noGrp="1"/>
          </p:cNvSpPr>
          <p:nvPr>
            <p:ph type="title" idx="100" hasCustomPrompt="1"/>
          </p:nvPr>
        </p:nvSpPr>
        <p:spPr>
          <a:xfrm>
            <a:off x="1005840" y="2468880"/>
            <a:ext cx="10149840" cy="1554480"/>
          </a:xfrm>
          <a:prstGeom prst="rect">
            <a:avLst/>
          </a:prstGeom>
          <a:noFill/>
          <a:ln/>
        </p:spPr>
        <p:txBody>
          <a:bodyPr wrap="square" lIns="0" tIns="0" rIns="0" bIns="0" rtlCol="0"/>
          <a:lstStyle/>
          <a:p>
            <a:pPr marL="0" indent="0">
              <a:buNone/>
            </a:pPr>
            <a:r>
              <a:rPr lang="en-US" sz="4400" b="1" dirty="0">
                <a:solidFill>
                  <a:srgbClr val="E7EBF0"/>
                </a:solidFill>
                <a:latin typeface="Trebuchet MS" pitchFamily="34" charset="0"/>
                <a:ea typeface="Trebuchet MS" pitchFamily="34" charset="-122"/>
                <a:cs typeface="Trebuchet MS" pitchFamily="34" charset="-120"/>
              </a:rPr>
              <a:t>Bought at less than nothing.</a:t>
            </a:r>
            <a:endParaRPr lang="en-US" sz="4400" dirty="0"/>
          </a:p>
          <a:p>
            <a:pPr marL="0" indent="0">
              <a:buNone/>
            </a:pPr>
            <a:r>
              <a:rPr lang="en-US" sz="4400" b="1" dirty="0">
                <a:solidFill>
                  <a:srgbClr val="34D399"/>
                </a:solidFill>
                <a:latin typeface="Trebuchet MS" pitchFamily="34" charset="0"/>
                <a:ea typeface="Trebuchet MS" pitchFamily="34" charset="-122"/>
                <a:cs typeface="Trebuchet MS" pitchFamily="34" charset="-120"/>
              </a:rPr>
              <a:t>Sold for $700.</a:t>
            </a:r>
            <a:endParaRPr lang="en-US" sz="4400" dirty="0"/>
          </a:p>
        </p:txBody>
      </p:sp>
      <p:sp>
        <p:nvSpPr>
          <p:cNvPr id="5" name="Text 3"/>
          <p:cNvSpPr/>
          <p:nvPr/>
        </p:nvSpPr>
        <p:spPr>
          <a:xfrm>
            <a:off x="1005840" y="4297680"/>
            <a:ext cx="9601200" cy="548640"/>
          </a:xfrm>
          <a:prstGeom prst="rect">
            <a:avLst/>
          </a:prstGeom>
          <a:noFill/>
          <a:ln/>
        </p:spPr>
        <p:txBody>
          <a:bodyPr wrap="square" lIns="0" tIns="0" rIns="0" bIns="0" rtlCol="0" anchor="ctr"/>
          <a:lstStyle/>
          <a:p>
            <a:pPr marL="0" indent="0">
              <a:buNone/>
            </a:pPr>
            <a:r>
              <a:rPr lang="en-US" sz="1600" dirty="0">
                <a:solidFill>
                  <a:srgbClr val="AAB2BD"/>
                </a:solidFill>
                <a:latin typeface="Calibri" pitchFamily="34" charset="0"/>
                <a:ea typeface="Calibri" pitchFamily="34" charset="-122"/>
                <a:cs typeface="Calibri" pitchFamily="34" charset="-120"/>
              </a:rPr>
              <a:t>Two legs, one atomic order, and a clear-eyed view of every dollar that moved.</a:t>
            </a:r>
            <a:endParaRPr lang="en-US" sz="1600" dirty="0"/>
          </a:p>
        </p:txBody>
      </p:sp>
      <p:sp>
        <p:nvSpPr>
          <p:cNvPr id="6" name="mark">
            <a:extLst>
              <a:ext uri="{C183D7F6-B498-43B3-948B-1728B52AA6E4}">
                <adec:decorative xmlns:adec="http://schemas.microsoft.com/office/drawing/2017/decorative" val="1"/>
              </a:ext>
            </a:extLst>
          </p:cNvPr>
          <p:cNvSpPr/>
          <p:nvPr/>
        </p:nvSpPr>
        <p:spPr>
          <a:xfrm>
            <a:off x="1024128" y="5486400"/>
            <a:ext cx="146304" cy="146304"/>
          </a:xfrm>
          <a:prstGeom prst="rect">
            <a:avLst/>
          </a:prstGeom>
          <a:solidFill>
            <a:srgbClr val="34D399"/>
          </a:solidFill>
          <a:ln/>
        </p:spPr>
        <p:txBody>
          <a:bodyPr/>
          <a:lstStyle/>
          <a:p>
            <a:endParaRPr lang="en-SE"/>
          </a:p>
        </p:txBody>
      </p:sp>
      <p:sp>
        <p:nvSpPr>
          <p:cNvPr id="7" name="Text 5"/>
          <p:cNvSpPr/>
          <p:nvPr/>
        </p:nvSpPr>
        <p:spPr>
          <a:xfrm>
            <a:off x="1280160" y="5394960"/>
            <a:ext cx="9144000" cy="320040"/>
          </a:xfrm>
          <a:prstGeom prst="rect">
            <a:avLst/>
          </a:prstGeom>
          <a:noFill/>
          <a:ln/>
        </p:spPr>
        <p:txBody>
          <a:bodyPr wrap="square" lIns="0" tIns="0" rIns="0" bIns="0" rtlCol="0" anchor="ctr"/>
          <a:lstStyle/>
          <a:p>
            <a:pPr marL="0" indent="0">
              <a:buNone/>
            </a:pPr>
            <a:r>
              <a:rPr lang="en-US" sz="1300" kern="0" spc="100" dirty="0">
                <a:solidFill>
                  <a:srgbClr val="AAB2BD"/>
                </a:solidFill>
                <a:latin typeface="Trebuchet MS" pitchFamily="34" charset="0"/>
                <a:ea typeface="Trebuchet MS" pitchFamily="34" charset="-122"/>
                <a:cs typeface="Trebuchet MS" pitchFamily="34" charset="-120"/>
              </a:rPr>
              <a:t>Next up: Implied Orders — filling a spread from the legs.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638</TotalTime>
  <Words>14916</Words>
  <Application>Microsoft Macintosh PowerPoint</Application>
  <PresentationFormat>Widescreen</PresentationFormat>
  <Paragraphs>991</Paragraphs>
  <Slides>52</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Consolas</vt:lpstr>
      <vt:lpstr>Trebuchet MS</vt:lpstr>
      <vt:lpstr>Office Theme</vt:lpstr>
      <vt:lpstr>Combo Orders with Futures Buying a spread, step by step</vt:lpstr>
      <vt:lpstr>How to read this deck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journey — six stages</vt:lpstr>
      <vt:lpstr>The Problem</vt:lpstr>
      <vt:lpstr>Futures in 30 seconds</vt:lpstr>
      <vt:lpstr>The trade you actually want isn't a direction</vt:lpstr>
      <vt:lpstr>The naive approach: two separate orders</vt:lpstr>
      <vt:lpstr>Leg risk: a worked example</vt:lpstr>
      <vt:lpstr>That slippage is real money</vt:lpstr>
      <vt:lpstr>The worst case: a naked leg</vt:lpstr>
      <vt:lpstr>The fix, in one word: atomicity</vt:lpstr>
      <vt:lpstr>Anatomy of a Two-Legged Combo</vt:lpstr>
      <vt:lpstr>A combo order is one instrument made of legs</vt:lpstr>
      <vt:lpstr>Our example: the Crude March–June spread</vt:lpstr>
      <vt:lpstr>Convention: “buy the spread” = buy the near leg</vt:lpstr>
      <vt:lpstr>The spread's price = Near − Far</vt:lpstr>
      <vt:lpstr>Worked example: quoting our spread</vt:lpstr>
      <vt:lpstr>The atomicity guarantee, stated precisely</vt:lpstr>
      <vt:lpstr>Placing the order: a walkthrough</vt:lpstr>
      <vt:lpstr>The Negative-Cost Puzzle</vt:lpstr>
      <vt:lpstr>Why a spread can be negative</vt:lpstr>
      <vt:lpstr>Reading the forward curve (illustrative)</vt:lpstr>
      <vt:lpstr>Reading a negative spread price</vt:lpstr>
      <vt:lpstr>“Buying at a negative price?!”</vt:lpstr>
      <vt:lpstr>Futures have no purchase price</vt:lpstr>
      <vt:lpstr>At entry, what actually changes hands?</vt:lpstr>
      <vt:lpstr>Worked example: entering the −$0.50 spread</vt:lpstr>
      <vt:lpstr>Follow the Money</vt:lpstr>
      <vt:lpstr>Two kinds of cash in a futures account</vt:lpstr>
      <vt:lpstr>The multiplier: turning $/bbl into dollars</vt:lpstr>
      <vt:lpstr>Variation margin: settled every day</vt:lpstr>
      <vt:lpstr>Day-by-day cash flow of our spread</vt:lpstr>
      <vt:lpstr>Making Money on a Negative Spread</vt:lpstr>
      <vt:lpstr>The plan: buy low, sell high — even below zero</vt:lpstr>
      <vt:lpstr>What has to happen: the curve shifts</vt:lpstr>
      <vt:lpstr>Closing: sell the spread back</vt:lpstr>
      <vt:lpstr>Total P/L in one line</vt:lpstr>
      <vt:lpstr>The physical money, from start to finish</vt:lpstr>
      <vt:lpstr>Being honest: the losing case</vt:lpstr>
      <vt:lpstr>The full lifecycle, end to end</vt:lpstr>
      <vt:lpstr>Where This Goes Next</vt:lpstr>
      <vt:lpstr>What you can now explain to someone else</vt:lpstr>
      <vt:lpstr>The one problem we left open</vt:lpstr>
      <vt:lpstr>The next chapter: implied orders</vt:lpstr>
      <vt:lpstr>Bought at less than nothing. Sold for $700.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2</cp:revision>
  <dcterms:created xsi:type="dcterms:W3CDTF">2026-07-29T21:04:46Z</dcterms:created>
  <dcterms:modified xsi:type="dcterms:W3CDTF">2026-08-07T05:51:50Z</dcterms:modified>
</cp:coreProperties>
</file>